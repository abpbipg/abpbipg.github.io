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slides/slide112.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79.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5.xml" ContentType="application/vnd.openxmlformats-officedocument.presentationml.slide+xml"/>
  <Override PartName="/ppt/slides/slide51.xml" ContentType="application/vnd.openxmlformats-officedocument.presentationml.slide+xml"/>
  <Override PartName="/ppt/slides/slide57.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94.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4.xml" ContentType="application/vnd.openxmlformats-officedocument.presentationml.slide+xml"/>
  <Override PartName="/ppt/slides/slide103.xml" ContentType="application/vnd.openxmlformats-officedocument.presentationml.slide+xml"/>
  <Override PartName="/ppt/slides/slide102.xml" ContentType="application/vnd.openxmlformats-officedocument.presentationml.slide+xml"/>
  <Override PartName="/ppt/slides/slide56.xml" ContentType="application/vnd.openxmlformats-officedocument.presentationml.slide+xml"/>
  <Override PartName="/ppt/slides/slide93.xml" ContentType="application/vnd.openxmlformats-officedocument.presentationml.slide+xml"/>
  <Override PartName="/ppt/slides/slide92.xml" ContentType="application/vnd.openxmlformats-officedocument.presentationml.slide+xml"/>
  <Override PartName="/ppt/slides/slide91.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0.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105.xml" ContentType="application/vnd.openxmlformats-officedocument.presentationml.slide+xml"/>
  <Override PartName="/ppt/slides/slide101.xml" ContentType="application/vnd.openxmlformats-officedocument.presentationml.slide+xml"/>
  <Override PartName="/ppt/slides/slide107.xml" ContentType="application/vnd.openxmlformats-officedocument.presentationml.slide+xml"/>
  <Override PartName="/ppt/slides/slide106.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9.xml" ContentType="application/vnd.openxmlformats-officedocument.presentationml.slide+xml"/>
  <Override PartName="/ppt/slides/slide65.xml" ContentType="application/vnd.openxmlformats-officedocument.presentationml.slide+xml"/>
  <Override PartName="/ppt/slides/slide71.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109.xml" ContentType="application/vnd.openxmlformats-officedocument.presentationml.slide+xml"/>
  <Override PartName="/ppt/slides/slide70.xml" ContentType="application/vnd.openxmlformats-officedocument.presentationml.slide+xml"/>
  <Override PartName="/ppt/slides/slide76.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111.xml" ContentType="application/vnd.openxmlformats-officedocument.presentationml.slide+xml"/>
  <Override PartName="/ppt/slides/slide74.xml" ContentType="application/vnd.openxmlformats-officedocument.presentationml.slide+xml"/>
  <Override PartName="/ppt/slideMasters/slideMaster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1.xml" ContentType="application/vnd.openxmlformats-officedocument.presentationml.notesSlide+xml"/>
  <Override PartName="/ppt/notesSlides/notesSlide90.xml" ContentType="application/vnd.openxmlformats-officedocument.presentationml.notesSlide+xml"/>
  <Override PartName="/ppt/notesSlides/notesSlide89.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08.xml" ContentType="application/vnd.openxmlformats-officedocument.presentationml.notesSlide+xml"/>
  <Override PartName="/ppt/notesSlides/notesSlide107.xml" ContentType="application/vnd.openxmlformats-officedocument.presentationml.notesSlide+xml"/>
  <Override PartName="/ppt/notesSlides/notesSlide106.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82.xml" ContentType="application/vnd.openxmlformats-officedocument.presentationml.notesSlide+xml"/>
  <Override PartName="/ppt/notesSlides/notesSlide52.xml" ContentType="application/vnd.openxmlformats-officedocument.presentationml.notesSlide+xml"/>
  <Override PartName="/ppt/notesSlides/notesSlide72.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1.xml" ContentType="application/vnd.openxmlformats-officedocument.presentationml.notesSlide+xml"/>
  <Override PartName="/ppt/notesSlides/notesSlide70.xml" ContentType="application/vnd.openxmlformats-officedocument.presentationml.notesSlide+xml"/>
  <Override PartName="/ppt/notesSlides/notesSlide69.xml" ContentType="application/vnd.openxmlformats-officedocument.presentationml.notesSlide+xml"/>
  <Override PartName="/ppt/notesSlides/notesSlide68.xml" ContentType="application/vnd.openxmlformats-officedocument.presentationml.notesSlide+xml"/>
  <Override PartName="/ppt/notesSlides/notesSlide67.xml" ContentType="application/vnd.openxmlformats-officedocument.presentationml.notesSlide+xml"/>
  <Override PartName="/ppt/notesSlides/notesSlide66.xml" ContentType="application/vnd.openxmlformats-officedocument.presentationml.notesSlide+xml"/>
  <Override PartName="/ppt/notesSlides/notesSlide58.xml" ContentType="application/vnd.openxmlformats-officedocument.presentationml.notesSlide+xml"/>
  <Override PartName="/ppt/notesSlides/notesSlide61.xml" ContentType="application/vnd.openxmlformats-officedocument.presentationml.notesSlide+xml"/>
  <Override PartName="/ppt/notesSlides/notesSlide56.xml" ContentType="application/vnd.openxmlformats-officedocument.presentationml.notesSlide+xml"/>
  <Override PartName="/ppt/notesSlides/notesSlide81.xml" ContentType="application/vnd.openxmlformats-officedocument.presentationml.notesSlide+xml"/>
  <Override PartName="/ppt/notesSlides/notesSlide77.xml" ContentType="application/vnd.openxmlformats-officedocument.presentationml.notesSlide+xml"/>
  <Override PartName="/ppt/notesSlides/notesSlide76.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57.xml" ContentType="application/vnd.openxmlformats-officedocument.presentationml.notesSlide+xml"/>
  <Override PartName="/ppt/notesSlides/notesSlide78.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2.xml" ContentType="application/vnd.openxmlformats-officedocument.presentationml.tags+xml"/>
  <Override PartName="/docProps/app.xml" ContentType="application/vnd.openxmlformats-officedocument.extended-properties+xml"/>
  <Override PartName="/docProps/core.xml" ContentType="application/vnd.openxmlformats-package.core-properties+xml"/>
  <Override PartName="/ppt/tags/tag1.xml" ContentType="application/vnd.openxmlformats-officedocument.presentationml.tag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52" r:id="rId1"/>
    <p:sldMasterId id="2147483871" r:id="rId2"/>
    <p:sldMasterId id="2147483878" r:id="rId3"/>
    <p:sldMasterId id="2147483885" r:id="rId4"/>
  </p:sldMasterIdLst>
  <p:notesMasterIdLst>
    <p:notesMasterId r:id="rId117"/>
  </p:notesMasterIdLst>
  <p:handoutMasterIdLst>
    <p:handoutMasterId r:id="rId118"/>
  </p:handoutMasterIdLst>
  <p:sldIdLst>
    <p:sldId id="256" r:id="rId5"/>
    <p:sldId id="257" r:id="rId6"/>
    <p:sldId id="358" r:id="rId7"/>
    <p:sldId id="259" r:id="rId8"/>
    <p:sldId id="367" r:id="rId9"/>
    <p:sldId id="368" r:id="rId10"/>
    <p:sldId id="369" r:id="rId11"/>
    <p:sldId id="370" r:id="rId12"/>
    <p:sldId id="371" r:id="rId13"/>
    <p:sldId id="372" r:id="rId14"/>
    <p:sldId id="373" r:id="rId15"/>
    <p:sldId id="289" r:id="rId16"/>
    <p:sldId id="375" r:id="rId17"/>
    <p:sldId id="263" r:id="rId18"/>
    <p:sldId id="376" r:id="rId19"/>
    <p:sldId id="377" r:id="rId20"/>
    <p:sldId id="378" r:id="rId21"/>
    <p:sldId id="379" r:id="rId22"/>
    <p:sldId id="380" r:id="rId23"/>
    <p:sldId id="451" r:id="rId24"/>
    <p:sldId id="381" r:id="rId25"/>
    <p:sldId id="382" r:id="rId26"/>
    <p:sldId id="383" r:id="rId27"/>
    <p:sldId id="452" r:id="rId28"/>
    <p:sldId id="453" r:id="rId29"/>
    <p:sldId id="454" r:id="rId30"/>
    <p:sldId id="455" r:id="rId31"/>
    <p:sldId id="457" r:id="rId32"/>
    <p:sldId id="387" r:id="rId33"/>
    <p:sldId id="388" r:id="rId34"/>
    <p:sldId id="389" r:id="rId35"/>
    <p:sldId id="390" r:id="rId36"/>
    <p:sldId id="479" r:id="rId37"/>
    <p:sldId id="391" r:id="rId38"/>
    <p:sldId id="392" r:id="rId39"/>
    <p:sldId id="393" r:id="rId40"/>
    <p:sldId id="480" r:id="rId41"/>
    <p:sldId id="394" r:id="rId42"/>
    <p:sldId id="395" r:id="rId43"/>
    <p:sldId id="396" r:id="rId44"/>
    <p:sldId id="481" r:id="rId45"/>
    <p:sldId id="458" r:id="rId46"/>
    <p:sldId id="398" r:id="rId47"/>
    <p:sldId id="399" r:id="rId48"/>
    <p:sldId id="400" r:id="rId49"/>
    <p:sldId id="401" r:id="rId50"/>
    <p:sldId id="402" r:id="rId51"/>
    <p:sldId id="403" r:id="rId52"/>
    <p:sldId id="404" r:id="rId53"/>
    <p:sldId id="405" r:id="rId54"/>
    <p:sldId id="406" r:id="rId55"/>
    <p:sldId id="407" r:id="rId56"/>
    <p:sldId id="409" r:id="rId57"/>
    <p:sldId id="410" r:id="rId58"/>
    <p:sldId id="412" r:id="rId59"/>
    <p:sldId id="277" r:id="rId60"/>
    <p:sldId id="280" r:id="rId61"/>
    <p:sldId id="408" r:id="rId62"/>
    <p:sldId id="413" r:id="rId63"/>
    <p:sldId id="414" r:id="rId64"/>
    <p:sldId id="416" r:id="rId65"/>
    <p:sldId id="417" r:id="rId66"/>
    <p:sldId id="418" r:id="rId67"/>
    <p:sldId id="437" r:id="rId68"/>
    <p:sldId id="420" r:id="rId69"/>
    <p:sldId id="421" r:id="rId70"/>
    <p:sldId id="422" r:id="rId71"/>
    <p:sldId id="456" r:id="rId72"/>
    <p:sldId id="423" r:id="rId73"/>
    <p:sldId id="459" r:id="rId74"/>
    <p:sldId id="425" r:id="rId75"/>
    <p:sldId id="426" r:id="rId76"/>
    <p:sldId id="427" r:id="rId77"/>
    <p:sldId id="428" r:id="rId78"/>
    <p:sldId id="430" r:id="rId79"/>
    <p:sldId id="431" r:id="rId80"/>
    <p:sldId id="484" r:id="rId81"/>
    <p:sldId id="433" r:id="rId82"/>
    <p:sldId id="434" r:id="rId83"/>
    <p:sldId id="435" r:id="rId84"/>
    <p:sldId id="436" r:id="rId85"/>
    <p:sldId id="439" r:id="rId86"/>
    <p:sldId id="440" r:id="rId87"/>
    <p:sldId id="482" r:id="rId88"/>
    <p:sldId id="460" r:id="rId89"/>
    <p:sldId id="442" r:id="rId90"/>
    <p:sldId id="443" r:id="rId91"/>
    <p:sldId id="444" r:id="rId92"/>
    <p:sldId id="445" r:id="rId93"/>
    <p:sldId id="446" r:id="rId94"/>
    <p:sldId id="447" r:id="rId95"/>
    <p:sldId id="448" r:id="rId96"/>
    <p:sldId id="449" r:id="rId97"/>
    <p:sldId id="461" r:id="rId98"/>
    <p:sldId id="462" r:id="rId99"/>
    <p:sldId id="464" r:id="rId100"/>
    <p:sldId id="463" r:id="rId101"/>
    <p:sldId id="467" r:id="rId102"/>
    <p:sldId id="468" r:id="rId103"/>
    <p:sldId id="469" r:id="rId104"/>
    <p:sldId id="470" r:id="rId105"/>
    <p:sldId id="471" r:id="rId106"/>
    <p:sldId id="472" r:id="rId107"/>
    <p:sldId id="473" r:id="rId108"/>
    <p:sldId id="474" r:id="rId109"/>
    <p:sldId id="475" r:id="rId110"/>
    <p:sldId id="476" r:id="rId111"/>
    <p:sldId id="478" r:id="rId112"/>
    <p:sldId id="477" r:id="rId113"/>
    <p:sldId id="265" r:id="rId114"/>
    <p:sldId id="483" r:id="rId115"/>
    <p:sldId id="270" r:id="rId116"/>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orient="horz" pos="2341" userDrawn="1">
          <p15:clr>
            <a:srgbClr val="A4A3A4"/>
          </p15:clr>
        </p15:guide>
        <p15:guide id="7" pos="3840"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31" clrIdx="0">
    <p:extLst>
      <p:ext uri="{19B8F6BF-5375-455C-9EA6-DF929625EA0E}">
        <p15:presenceInfo xmlns:p15="http://schemas.microsoft.com/office/powerpoint/2012/main" userId="S-1-5-21-147214757-305610072-1517763936-5682676" providerId="AD"/>
      </p:ext>
    </p:extLst>
  </p:cmAuthor>
  <p:cmAuthor id="2" name="Zhangjisheng (Jason)" initials="Z(" lastIdx="2" clrIdx="1">
    <p:extLst>
      <p:ext uri="{19B8F6BF-5375-455C-9EA6-DF929625EA0E}">
        <p15:presenceInfo xmlns:p15="http://schemas.microsoft.com/office/powerpoint/2012/main" userId="S-1-5-21-147214757-305610072-1517763936-344871" providerId="AD"/>
      </p:ext>
    </p:extLst>
  </p:cmAuthor>
  <p:cmAuthor id="3" name="Wu Monk" initials="WM" lastIdx="5" clrIdx="2">
    <p:extLst>
      <p:ext uri="{19B8F6BF-5375-455C-9EA6-DF929625EA0E}">
        <p15:presenceInfo xmlns:p15="http://schemas.microsoft.com/office/powerpoint/2012/main" userId="cd7b699acb0cb86b" providerId="Windows Live"/>
      </p:ext>
    </p:extLst>
  </p:cmAuthor>
  <p:cmAuthor id="4" name="Wuyuezjhw (Monk)" initials="W(" lastIdx="138" clrIdx="3">
    <p:extLst>
      <p:ext uri="{19B8F6BF-5375-455C-9EA6-DF929625EA0E}">
        <p15:presenceInfo xmlns:p15="http://schemas.microsoft.com/office/powerpoint/2012/main" userId="S-1-5-21-147214757-305610072-1517763936-3193612" providerId="AD"/>
      </p:ext>
    </p:extLst>
  </p:cmAuthor>
  <p:cmAuthor id="5" name="luyueyuezjhw" initials="l" lastIdx="127" clrIdx="4">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0B"/>
    <a:srgbClr val="56C4D2"/>
    <a:srgbClr val="BEE9EE"/>
    <a:srgbClr val="F28944"/>
    <a:srgbClr val="AFD89C"/>
    <a:srgbClr val="EEB3B8"/>
    <a:srgbClr val="E28189"/>
    <a:srgbClr val="94DAE2"/>
    <a:srgbClr val="81C15F"/>
    <a:srgbClr val="30B5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62" autoAdjust="0"/>
    <p:restoredTop sz="87774" autoAdjust="0"/>
  </p:normalViewPr>
  <p:slideViewPr>
    <p:cSldViewPr snapToGrid="0" snapToObjects="1">
      <p:cViewPr varScale="1">
        <p:scale>
          <a:sx n="95" d="100"/>
          <a:sy n="95" d="100"/>
        </p:scale>
        <p:origin x="66" y="78"/>
      </p:cViewPr>
      <p:guideLst>
        <p:guide orient="horz" pos="234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75" d="100"/>
          <a:sy n="75" d="100"/>
        </p:scale>
        <p:origin x="5634" y="276"/>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notesMaster" Target="notesMasters/notes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customXml" Target="../customXml/item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commentAuthors" Target="commentAuthor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presProps" Target="presProps.xml"/><Relationship Id="rId125" Type="http://schemas.openxmlformats.org/officeDocument/2006/relationships/customXml" Target="../customXml/item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customXml" Target="../customXml/item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10/14/2021</a:t>
            </a:fld>
            <a:endParaRPr lang="en-US" dirty="0"/>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dirty="0"/>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23900" y="723900"/>
            <a:ext cx="5600700" cy="3150911"/>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23900" y="4305300"/>
            <a:ext cx="5600700" cy="5399497"/>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hf sldNum="0" hdr="0" ftr="0" dt="0"/>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12" userDrawn="1">
          <p15:clr>
            <a:srgbClr val="F26B43"/>
          </p15:clr>
        </p15:guide>
        <p15:guide id="3" orient="horz" pos="456" userDrawn="1">
          <p15:clr>
            <a:srgbClr val="F26B43"/>
          </p15:clr>
        </p15:guide>
        <p15:guide id="4" orient="horz" pos="2424" userDrawn="1">
          <p15:clr>
            <a:srgbClr val="F26B43"/>
          </p15:clr>
        </p15:guide>
        <p15:guide id="6" pos="456" userDrawn="1">
          <p15:clr>
            <a:srgbClr val="F26B43"/>
          </p15:clr>
        </p15:guide>
        <p15:guide id="7" pos="3984"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988461D9-5969-4A89-AD23-80A31509D45F}"/>
              </a:ext>
            </a:extLst>
          </p:cNvPr>
          <p:cNvSpPr>
            <a:spLocks noGrp="1" noRot="1" noChangeAspect="1"/>
          </p:cNvSpPr>
          <p:nvPr>
            <p:ph type="sldImg"/>
          </p:nvPr>
        </p:nvSpPr>
        <p:spPr>
          <a:xfrm>
            <a:off x="723900" y="723900"/>
            <a:ext cx="5600700" cy="3151188"/>
          </a:xfrm>
        </p:spPr>
      </p:sp>
      <p:sp>
        <p:nvSpPr>
          <p:cNvPr id="4" name="Notes Placeholder 3">
            <a:extLst>
              <a:ext uri="{FF2B5EF4-FFF2-40B4-BE49-F238E27FC236}">
                <a16:creationId xmlns="" xmlns:a16="http://schemas.microsoft.com/office/drawing/2014/main" id="{0A2D7B80-C94C-4C14-BC02-471FD531F7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298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 xmlns:a16="http://schemas.microsoft.com/office/drawing/2014/main" id="{76CA7ACB-D395-43D0-B656-4E3FB18AA78E}"/>
              </a:ext>
            </a:extLst>
          </p:cNvPr>
          <p:cNvSpPr>
            <a:spLocks noGrp="1" noRot="1" noChangeAspect="1"/>
          </p:cNvSpPr>
          <p:nvPr>
            <p:ph type="sldImg"/>
          </p:nvPr>
        </p:nvSpPr>
        <p:spPr>
          <a:xfrm>
            <a:off x="723900" y="723900"/>
            <a:ext cx="5600700" cy="3151188"/>
          </a:xfrm>
        </p:spPr>
      </p:sp>
      <p:sp>
        <p:nvSpPr>
          <p:cNvPr id="5" name="Notes Placeholder 4">
            <a:extLst>
              <a:ext uri="{FF2B5EF4-FFF2-40B4-BE49-F238E27FC236}">
                <a16:creationId xmlns="" xmlns:a16="http://schemas.microsoft.com/office/drawing/2014/main" id="{6C1A2DA9-F3E8-4F3C-AE3D-176DD648E54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597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本课程基于华为云广域网络解决方案进行介绍。</a:t>
            </a:r>
          </a:p>
        </p:txBody>
      </p:sp>
      <p:sp>
        <p:nvSpPr>
          <p:cNvPr id="5" name="Slide Image Placeholder 4">
            <a:extLst>
              <a:ext uri="{FF2B5EF4-FFF2-40B4-BE49-F238E27FC236}">
                <a16:creationId xmlns="" xmlns:a16="http://schemas.microsoft.com/office/drawing/2014/main" id="{FFD4E194-A8C8-4136-B708-B06156E8315D}"/>
              </a:ext>
            </a:extLst>
          </p:cNvPr>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1586598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 xmlns:a16="http://schemas.microsoft.com/office/drawing/2014/main" id="{4AAE4EF1-483C-4C2C-8BA0-125CC12D18F9}"/>
              </a:ext>
            </a:extLst>
          </p:cNvPr>
          <p:cNvSpPr>
            <a:spLocks noGrp="1" noRot="1" noChangeAspect="1"/>
          </p:cNvSpPr>
          <p:nvPr>
            <p:ph type="sldImg"/>
          </p:nvPr>
        </p:nvSpPr>
        <p:spPr>
          <a:xfrm>
            <a:off x="723900" y="723900"/>
            <a:ext cx="5600700" cy="3151188"/>
          </a:xfrm>
        </p:spPr>
      </p:sp>
      <p:sp>
        <p:nvSpPr>
          <p:cNvPr id="5" name="Notes Placeholder 4">
            <a:extLst>
              <a:ext uri="{FF2B5EF4-FFF2-40B4-BE49-F238E27FC236}">
                <a16:creationId xmlns="" xmlns:a16="http://schemas.microsoft.com/office/drawing/2014/main" id="{B96158B4-3C29-4ACD-9F9F-77850858187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1393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598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本课程所说的广域承载网指的主要是广域</a:t>
            </a:r>
            <a:r>
              <a:rPr lang="en-US" altLang="zh-CN" dirty="0"/>
              <a:t>IP</a:t>
            </a:r>
            <a:r>
              <a:rPr lang="zh-CN" altLang="en-US" dirty="0"/>
              <a:t>承载网。</a:t>
            </a:r>
            <a:endParaRPr lang="en-US" dirty="0"/>
          </a:p>
        </p:txBody>
      </p:sp>
    </p:spTree>
    <p:extLst>
      <p:ext uri="{BB962C8B-B14F-4D97-AF65-F5344CB8AC3E}">
        <p14:creationId xmlns:p14="http://schemas.microsoft.com/office/powerpoint/2010/main" val="609191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56201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多网融合：</a:t>
            </a:r>
            <a:endParaRPr lang="en-US" altLang="zh-CN" dirty="0"/>
          </a:p>
          <a:p>
            <a:pPr lvl="1"/>
            <a:r>
              <a:rPr lang="zh-CN" altLang="en-US" dirty="0"/>
              <a:t>承载网采用一张物理网络，融合承载生产、办公等业务。通过</a:t>
            </a:r>
            <a:r>
              <a:rPr lang="en-US" altLang="zh-CN" dirty="0"/>
              <a:t>BGP</a:t>
            </a:r>
            <a:r>
              <a:rPr lang="zh-CN" altLang="en-US" dirty="0"/>
              <a:t>强大的路由策略对承载网流量进行控制，根据不同的业务属性部署相应的分流策略，让生产、办公等不同类型的业务按照制定的策略运行在不同的路径上。</a:t>
            </a:r>
            <a:endParaRPr lang="en-US" altLang="zh-CN" dirty="0"/>
          </a:p>
          <a:p>
            <a:pPr lvl="0"/>
            <a:r>
              <a:rPr lang="zh-CN" altLang="en-US" dirty="0"/>
              <a:t>多业务灵活承载：</a:t>
            </a:r>
            <a:endParaRPr lang="en-US" altLang="zh-CN" dirty="0"/>
          </a:p>
          <a:p>
            <a:pPr lvl="1"/>
            <a:r>
              <a:rPr lang="zh-CN" altLang="en-US" dirty="0"/>
              <a:t>随着多业务上云以及多网融合，网络资源使用率低，网络流量不均衡的现象愈发严重。通过</a:t>
            </a:r>
            <a:r>
              <a:rPr lang="en-US" altLang="zh-CN" dirty="0"/>
              <a:t>Segment Routing</a:t>
            </a:r>
            <a:r>
              <a:rPr lang="zh-CN" altLang="en-US" dirty="0"/>
              <a:t>技术可以灵活规划路径承载流量，提高网络的利用率。</a:t>
            </a:r>
            <a:endParaRPr lang="en-US" altLang="zh-CN" dirty="0"/>
          </a:p>
          <a:p>
            <a:pPr lvl="0"/>
            <a:r>
              <a:rPr lang="zh-CN" altLang="en-US" dirty="0"/>
              <a:t>高可靠：</a:t>
            </a:r>
            <a:endParaRPr lang="en-US" altLang="zh-CN" dirty="0"/>
          </a:p>
          <a:p>
            <a:pPr lvl="1"/>
            <a:r>
              <a:rPr lang="zh-CN" altLang="en-US" dirty="0"/>
              <a:t>可靠性可以分为网络可靠性与业务可靠性。</a:t>
            </a:r>
            <a:endParaRPr lang="en-US" altLang="zh-CN" dirty="0"/>
          </a:p>
          <a:p>
            <a:pPr lvl="1"/>
            <a:r>
              <a:rPr lang="zh-CN" altLang="en-US" dirty="0"/>
              <a:t>网络可靠性需要从网络架构、网络稳定性等方面进行考虑。</a:t>
            </a:r>
            <a:endParaRPr lang="en-US" altLang="zh-CN" dirty="0"/>
          </a:p>
          <a:p>
            <a:pPr lvl="1"/>
            <a:r>
              <a:rPr lang="zh-CN" altLang="en-US" dirty="0"/>
              <a:t>业务可靠性主要基于业务的诉求，针对网络带宽、时延、丢包率等方面做出优化。</a:t>
            </a:r>
            <a:endParaRPr lang="en-US" altLang="zh-CN" dirty="0"/>
          </a:p>
          <a:p>
            <a:pPr lvl="0"/>
            <a:r>
              <a:rPr lang="zh-CN" altLang="en-US" dirty="0"/>
              <a:t>简便运维：</a:t>
            </a:r>
            <a:endParaRPr lang="en-US" altLang="zh-CN" dirty="0"/>
          </a:p>
          <a:p>
            <a:pPr lvl="1"/>
            <a:r>
              <a:rPr lang="zh-CN" altLang="en-US" dirty="0"/>
              <a:t>对拓扑、事件、配置、业务发放、链路质量等统一管理。</a:t>
            </a:r>
          </a:p>
          <a:p>
            <a:pPr lvl="1"/>
            <a:r>
              <a:rPr lang="zh-CN" altLang="en-US" dirty="0"/>
              <a:t>对流量入隧道、隧道带宽、路径、节点流量等动态控制。</a:t>
            </a:r>
          </a:p>
          <a:p>
            <a:pPr lvl="1"/>
            <a:r>
              <a:rPr lang="zh-CN" altLang="en-US" dirty="0"/>
              <a:t>应用数据流可视、可分析、可预测。</a:t>
            </a:r>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735572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多业务隔离：</a:t>
            </a:r>
            <a:endParaRPr lang="en-US" altLang="zh-CN" dirty="0"/>
          </a:p>
          <a:p>
            <a:pPr lvl="1"/>
            <a:r>
              <a:rPr lang="zh-CN" altLang="en-US" dirty="0"/>
              <a:t>由于多网融合导致原来物理隔离的生产与办公网络现在被承载于一张网络上。在一张网络上隔离业务对于部分企业来说使用</a:t>
            </a:r>
            <a:r>
              <a:rPr lang="en-US" altLang="zh-CN" dirty="0"/>
              <a:t>VPN</a:t>
            </a:r>
            <a:r>
              <a:rPr lang="zh-CN" altLang="en-US" dirty="0"/>
              <a:t>技术就可以满足需求，但是对于另一部分企业来说，就需要通过硬管道的方式来隔离业务。</a:t>
            </a:r>
            <a:endParaRPr lang="en-US" altLang="zh-CN" dirty="0"/>
          </a:p>
          <a:p>
            <a:pPr lvl="0"/>
            <a:r>
              <a:rPr lang="zh-CN" altLang="en-US" dirty="0"/>
              <a:t>网络资源规划，流量路径规划：</a:t>
            </a:r>
            <a:endParaRPr lang="en-US" altLang="zh-CN" dirty="0"/>
          </a:p>
          <a:p>
            <a:pPr lvl="1"/>
            <a:r>
              <a:rPr lang="zh-CN" altLang="en-US" dirty="0"/>
              <a:t>为了充分利用网络资源（主要是带宽），网络的流量需要被规划。传统的流量工程（主要指</a:t>
            </a:r>
            <a:r>
              <a:rPr lang="en-US" altLang="zh-CN" dirty="0"/>
              <a:t>MPLS-TE</a:t>
            </a:r>
            <a:r>
              <a:rPr lang="zh-CN" altLang="en-US" dirty="0"/>
              <a:t>）存在较多弊端，比如配置复杂，算路机制存在缺陷等，无法有效解决多业务承载面临的问题。</a:t>
            </a:r>
            <a:endParaRPr lang="en-US" altLang="zh-CN" dirty="0"/>
          </a:p>
          <a:p>
            <a:pPr lvl="0"/>
            <a:r>
              <a:rPr lang="zh-CN" altLang="en-US" dirty="0"/>
              <a:t>网络快速收敛，业务</a:t>
            </a:r>
            <a:r>
              <a:rPr lang="en-US" altLang="zh-CN" dirty="0"/>
              <a:t>SLA</a:t>
            </a:r>
            <a:r>
              <a:rPr lang="zh-CN" altLang="en-US" dirty="0"/>
              <a:t>保障：</a:t>
            </a:r>
            <a:endParaRPr lang="en-US" altLang="zh-CN" dirty="0"/>
          </a:p>
          <a:p>
            <a:pPr lvl="1"/>
            <a:r>
              <a:rPr lang="zh-CN" altLang="en-US" dirty="0"/>
              <a:t>传统网络为了缩短收敛时间一般会采用</a:t>
            </a:r>
            <a:r>
              <a:rPr lang="en-US" altLang="zh-CN" dirty="0"/>
              <a:t>FRR</a:t>
            </a:r>
            <a:r>
              <a:rPr lang="zh-CN" altLang="en-US" dirty="0"/>
              <a:t>技术，但是基于</a:t>
            </a:r>
            <a:r>
              <a:rPr lang="en-US" altLang="zh-CN" dirty="0"/>
              <a:t>LFA</a:t>
            </a:r>
            <a:r>
              <a:rPr lang="zh-CN" altLang="en-US" dirty="0"/>
              <a:t>或</a:t>
            </a:r>
            <a:r>
              <a:rPr lang="en-US" altLang="zh-CN" dirty="0"/>
              <a:t>RLFA</a:t>
            </a:r>
            <a:r>
              <a:rPr lang="zh-CN" altLang="en-US" dirty="0"/>
              <a:t>算法的</a:t>
            </a:r>
            <a:r>
              <a:rPr lang="en-US" altLang="zh-CN" dirty="0"/>
              <a:t>FRR</a:t>
            </a:r>
            <a:r>
              <a:rPr lang="zh-CN" altLang="en-US" dirty="0"/>
              <a:t>存在使用场景限制，在面对高可靠性需求的网络时有可能存在无法提供高可靠特性的情况。</a:t>
            </a:r>
            <a:endParaRPr lang="en-US" altLang="zh-CN" dirty="0"/>
          </a:p>
          <a:p>
            <a:pPr lvl="0"/>
            <a:r>
              <a:rPr lang="zh-CN" altLang="en-US" dirty="0"/>
              <a:t>流量路径调优，可视化运维：</a:t>
            </a:r>
            <a:endParaRPr lang="en-US" altLang="zh-CN" dirty="0"/>
          </a:p>
          <a:p>
            <a:pPr lvl="1"/>
            <a:r>
              <a:rPr lang="zh-CN" altLang="en-US" dirty="0"/>
              <a:t>传统企业广域网在测量网络质量时主要使用</a:t>
            </a:r>
            <a:r>
              <a:rPr lang="en-US" altLang="zh-CN" dirty="0"/>
              <a:t>NQA</a:t>
            </a:r>
            <a:r>
              <a:rPr lang="zh-CN" altLang="en-US" dirty="0"/>
              <a:t>技术，但是</a:t>
            </a:r>
            <a:r>
              <a:rPr lang="en-US" altLang="zh-CN" dirty="0"/>
              <a:t>NQA</a:t>
            </a:r>
            <a:r>
              <a:rPr lang="zh-CN" altLang="en-US" dirty="0"/>
              <a:t>在测量网络时存在精度不足的问题无法反映网络的真实情况，导致无法有效地进行流量路径调优。</a:t>
            </a:r>
            <a:endParaRPr lang="en-US" altLang="zh-CN" dirty="0"/>
          </a:p>
          <a:p>
            <a:pPr lvl="1"/>
            <a:r>
              <a:rPr lang="zh-CN" altLang="en-US" dirty="0"/>
              <a:t>传统的网管软件无法基于业务进行端到端的流量监控，对于流量无法做到可视化运维。</a:t>
            </a:r>
            <a:endParaRPr lang="en-US" dirty="0"/>
          </a:p>
        </p:txBody>
      </p:sp>
    </p:spTree>
    <p:extLst>
      <p:ext uri="{BB962C8B-B14F-4D97-AF65-F5344CB8AC3E}">
        <p14:creationId xmlns:p14="http://schemas.microsoft.com/office/powerpoint/2010/main" val="1080821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226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9958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TI-LFA</a:t>
            </a:r>
            <a:r>
              <a:rPr lang="zh-CN" altLang="en-US" dirty="0"/>
              <a:t>：</a:t>
            </a:r>
            <a:r>
              <a:rPr lang="en-US" altLang="zh-CN" dirty="0"/>
              <a:t>Topology-Independent Loop-free Alternate</a:t>
            </a:r>
            <a:r>
              <a:rPr lang="zh-CN" altLang="en-US" dirty="0"/>
              <a:t>，拓扑无关的无环替换路径</a:t>
            </a:r>
            <a:endParaRPr lang="en-US" altLang="zh-CN" dirty="0"/>
          </a:p>
          <a:p>
            <a:r>
              <a:rPr lang="en-US" altLang="zh-CN" dirty="0"/>
              <a:t>BNG</a:t>
            </a:r>
            <a:r>
              <a:rPr lang="zh-CN" altLang="en-US" dirty="0"/>
              <a:t>：</a:t>
            </a:r>
            <a:r>
              <a:rPr lang="en-US" altLang="zh-CN" dirty="0"/>
              <a:t>Broadband Network Gateway</a:t>
            </a:r>
            <a:r>
              <a:rPr lang="zh-CN" altLang="en-US" dirty="0"/>
              <a:t>，宽带网络业务网关</a:t>
            </a:r>
            <a:endParaRPr lang="en-US" altLang="zh-CN" dirty="0"/>
          </a:p>
          <a:p>
            <a:r>
              <a:rPr lang="en-US" altLang="zh-CN" dirty="0"/>
              <a:t>TTM</a:t>
            </a:r>
            <a:r>
              <a:rPr lang="zh-CN" altLang="en-US" dirty="0"/>
              <a:t>：</a:t>
            </a:r>
            <a:r>
              <a:rPr lang="en-US" altLang="zh-CN" dirty="0"/>
              <a:t>Time To Market</a:t>
            </a:r>
            <a:r>
              <a:rPr lang="zh-CN" altLang="en-US" dirty="0"/>
              <a:t>，上市时间</a:t>
            </a:r>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1204275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a:t>iMaster NCE-IP</a:t>
            </a:r>
            <a:r>
              <a:rPr lang="zh-CN" altLang="en-US"/>
              <a:t>基于云化平台实现服务化和组件化，包括网络管理、网络控制、网络分析三大逻辑模块和面向场景的多种应用，可针对客户需求实现灵活的模块化部署。</a:t>
            </a:r>
            <a:endParaRPr lang="en-US" altLang="zh-CN"/>
          </a:p>
          <a:p>
            <a:endParaRPr lang="en-US" dirty="0"/>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1245501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华为具备全场景</a:t>
            </a:r>
            <a:r>
              <a:rPr lang="en-US" altLang="zh-CN"/>
              <a:t>SRv6</a:t>
            </a:r>
            <a:r>
              <a:rPr lang="zh-CN" altLang="en-US"/>
              <a:t>产品能力，包括运营商和企业的接入网、城域网和骨干网路由器。</a:t>
            </a:r>
            <a:endParaRPr lang="zh-CN" altLang="en-US" dirty="0"/>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4214218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9293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altLang="zh-CN" dirty="0"/>
              <a:t>BGP-LS</a:t>
            </a:r>
            <a:r>
              <a:rPr lang="zh-CN" altLang="en-US" dirty="0"/>
              <a:t>是收集网络拓扑的一种新的方式，可以使拓扑收集更加简单高效。使用</a:t>
            </a:r>
            <a:r>
              <a:rPr lang="en-US" altLang="zh-CN" dirty="0"/>
              <a:t>BGP-LS</a:t>
            </a:r>
            <a:r>
              <a:rPr lang="zh-CN" altLang="en-US" dirty="0"/>
              <a:t>上报拓扑信息有如下优势：</a:t>
            </a:r>
            <a:endParaRPr lang="en-US" altLang="zh-CN" dirty="0"/>
          </a:p>
          <a:p>
            <a:pPr lvl="1"/>
            <a:r>
              <a:rPr lang="zh-CN" altLang="en-US" dirty="0"/>
              <a:t>降低对上层控制器计算能力的要求，且不再对控制器的</a:t>
            </a:r>
            <a:r>
              <a:rPr lang="en-US" altLang="zh-CN" dirty="0"/>
              <a:t>IGP</a:t>
            </a:r>
            <a:r>
              <a:rPr lang="zh-CN" altLang="en-US" dirty="0"/>
              <a:t>能力有要求；</a:t>
            </a:r>
          </a:p>
          <a:p>
            <a:pPr lvl="1"/>
            <a:r>
              <a:rPr lang="en-US" altLang="zh-CN" dirty="0"/>
              <a:t>BGP</a:t>
            </a:r>
            <a:r>
              <a:rPr lang="zh-CN" altLang="en-US" dirty="0"/>
              <a:t>协议将各个进程或各个</a:t>
            </a:r>
            <a:r>
              <a:rPr lang="en-US" altLang="zh-CN" dirty="0"/>
              <a:t>AS</a:t>
            </a:r>
            <a:r>
              <a:rPr lang="zh-CN" altLang="en-US" dirty="0"/>
              <a:t>的拓扑信息做汇总，直接将完整的拓扑信息上送给控制器，有利于路径选择和计算；</a:t>
            </a:r>
          </a:p>
          <a:p>
            <a:pPr lvl="1"/>
            <a:r>
              <a:rPr lang="zh-CN" altLang="en-US" dirty="0"/>
              <a:t>网络中所有拓扑信息均通过</a:t>
            </a:r>
            <a:r>
              <a:rPr lang="en-US" altLang="zh-CN" dirty="0"/>
              <a:t>BGP</a:t>
            </a:r>
            <a:r>
              <a:rPr lang="zh-CN" altLang="en-US" dirty="0"/>
              <a:t>协议上送控制器，使拓扑上送协议归一化。</a:t>
            </a:r>
            <a:endParaRPr lang="en-US" altLang="zh-CN" dirty="0"/>
          </a:p>
          <a:p>
            <a:pPr lvl="0"/>
            <a:r>
              <a:rPr lang="en-US" dirty="0"/>
              <a:t>BGP SR-P</a:t>
            </a:r>
            <a:r>
              <a:rPr lang="en-US" altLang="zh-CN" dirty="0"/>
              <a:t>olicy</a:t>
            </a:r>
            <a:r>
              <a:rPr lang="zh-CN" altLang="en-US" dirty="0"/>
              <a:t>将数据转发路径信息通过</a:t>
            </a:r>
            <a:r>
              <a:rPr lang="en-US" altLang="zh-CN" dirty="0"/>
              <a:t>BGP</a:t>
            </a:r>
            <a:r>
              <a:rPr lang="zh-CN" altLang="en-US" dirty="0"/>
              <a:t>路由下发给头端设备，流量由头端节点引导进入特定</a:t>
            </a:r>
            <a:r>
              <a:rPr lang="en-US" altLang="zh-CN" dirty="0"/>
              <a:t>SR-Policy</a:t>
            </a:r>
            <a:r>
              <a:rPr lang="zh-CN" altLang="en-US" dirty="0"/>
              <a:t>中。</a:t>
            </a:r>
            <a:r>
              <a:rPr lang="en-US" altLang="zh-CN" dirty="0"/>
              <a:t>SR-Policy</a:t>
            </a:r>
            <a:r>
              <a:rPr lang="zh-CN" altLang="en-US" dirty="0"/>
              <a:t>中的段列表被用于指导流量转发。段列表由一系列的优化目标（</a:t>
            </a:r>
            <a:r>
              <a:rPr lang="en-US" altLang="zh-CN" dirty="0"/>
              <a:t>optimization objective</a:t>
            </a:r>
            <a:r>
              <a:rPr lang="zh-CN" altLang="en-US" dirty="0"/>
              <a:t>）和限制（</a:t>
            </a:r>
            <a:r>
              <a:rPr lang="en-US" altLang="zh-CN" dirty="0"/>
              <a:t>constraints </a:t>
            </a:r>
            <a:r>
              <a:rPr lang="zh-CN" altLang="en-US" dirty="0"/>
              <a:t>，例如时延、亲和性和</a:t>
            </a:r>
            <a:r>
              <a:rPr lang="en-US" altLang="zh-CN" dirty="0"/>
              <a:t>SRLG</a:t>
            </a:r>
            <a:r>
              <a:rPr lang="zh-CN" altLang="en-US" dirty="0"/>
              <a:t>等）综合计算得到。</a:t>
            </a:r>
            <a:endParaRPr lang="en-US" altLang="zh-CN" dirty="0"/>
          </a:p>
          <a:p>
            <a:pPr lvl="0"/>
            <a:r>
              <a:rPr lang="en-US" altLang="zh-CN" dirty="0"/>
              <a:t>SR Policy</a:t>
            </a:r>
            <a:r>
              <a:rPr lang="zh-CN" altLang="en-US" dirty="0"/>
              <a:t>是当前最主流的实现</a:t>
            </a:r>
            <a:r>
              <a:rPr lang="en-US" altLang="zh-CN" dirty="0"/>
              <a:t>SR</a:t>
            </a:r>
            <a:r>
              <a:rPr lang="zh-CN" altLang="en-US" dirty="0"/>
              <a:t>的方式。</a:t>
            </a:r>
            <a:endParaRPr lang="en-US" dirty="0"/>
          </a:p>
        </p:txBody>
      </p:sp>
    </p:spTree>
    <p:extLst>
      <p:ext uri="{BB962C8B-B14F-4D97-AF65-F5344CB8AC3E}">
        <p14:creationId xmlns:p14="http://schemas.microsoft.com/office/powerpoint/2010/main" val="413271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altLang="zh-CN" dirty="0"/>
              <a:t>TWAMP</a:t>
            </a:r>
            <a:r>
              <a:rPr lang="zh-CN" altLang="en-US" dirty="0"/>
              <a:t>是标准协议，能够部署在</a:t>
            </a:r>
            <a:r>
              <a:rPr lang="en-US" altLang="zh-CN" dirty="0"/>
              <a:t>IP</a:t>
            </a:r>
            <a:r>
              <a:rPr lang="zh-CN" altLang="en-US" dirty="0"/>
              <a:t>、</a:t>
            </a:r>
            <a:r>
              <a:rPr lang="en-US" altLang="zh-CN" dirty="0"/>
              <a:t>MPLS</a:t>
            </a:r>
            <a:r>
              <a:rPr lang="zh-CN" altLang="en-US" dirty="0"/>
              <a:t>、</a:t>
            </a:r>
            <a:r>
              <a:rPr lang="en-US" altLang="zh-CN" dirty="0"/>
              <a:t>L3VPN</a:t>
            </a:r>
            <a:r>
              <a:rPr lang="zh-CN" altLang="en-US" dirty="0"/>
              <a:t>等网络中。</a:t>
            </a:r>
            <a:r>
              <a:rPr lang="en-US" altLang="zh-CN" dirty="0"/>
              <a:t>TWAMP</a:t>
            </a:r>
            <a:r>
              <a:rPr lang="zh-CN" altLang="en-US" dirty="0"/>
              <a:t>可获得性、可部署性较强，无需时钟同步。</a:t>
            </a:r>
          </a:p>
          <a:p>
            <a:r>
              <a:rPr lang="en-US" altLang="zh-CN" dirty="0"/>
              <a:t>IFIT</a:t>
            </a:r>
            <a:r>
              <a:rPr lang="zh-CN" altLang="en-US" dirty="0"/>
              <a:t>是一种直接对业务报文进行测量，从而得到</a:t>
            </a:r>
            <a:r>
              <a:rPr lang="en-US" altLang="zh-CN" dirty="0"/>
              <a:t>IP</a:t>
            </a:r>
            <a:r>
              <a:rPr lang="zh-CN" altLang="en-US" dirty="0"/>
              <a:t>网络的真实丢包率、时延等性能指标的检测方式，具有部署方便、统计精度高等突出优点。</a:t>
            </a:r>
            <a:endParaRPr lang="en-US" dirty="0"/>
          </a:p>
        </p:txBody>
      </p:sp>
    </p:spTree>
    <p:extLst>
      <p:ext uri="{BB962C8B-B14F-4D97-AF65-F5344CB8AC3E}">
        <p14:creationId xmlns:p14="http://schemas.microsoft.com/office/powerpoint/2010/main" val="3647781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信道化子接口有一种能够隔离不同类型业务的机制。不同业务流量可以归属到不同的</a:t>
            </a:r>
            <a:r>
              <a:rPr lang="en-US" altLang="zh-CN" dirty="0"/>
              <a:t>Dot1q</a:t>
            </a:r>
            <a:r>
              <a:rPr lang="zh-CN" altLang="en-US" dirty="0"/>
              <a:t>封装方式的</a:t>
            </a:r>
            <a:r>
              <a:rPr lang="en-US" altLang="zh-CN" dirty="0"/>
              <a:t>VLAN</a:t>
            </a:r>
            <a:r>
              <a:rPr lang="zh-CN" altLang="en-US" dirty="0"/>
              <a:t>信道化子接口上，每个信道化子接口可以实现独立的</a:t>
            </a:r>
            <a:r>
              <a:rPr lang="en-US" altLang="zh-CN" dirty="0" err="1"/>
              <a:t>HQoS</a:t>
            </a:r>
            <a:r>
              <a:rPr lang="zh-CN" altLang="en-US" dirty="0"/>
              <a:t>调度，从而实现不同类型业务之间的隔离。</a:t>
            </a:r>
            <a:endParaRPr lang="en-US" altLang="zh-CN" dirty="0"/>
          </a:p>
          <a:p>
            <a:r>
              <a:rPr lang="en-US" altLang="zh-CN" dirty="0" err="1"/>
              <a:t>FlexE</a:t>
            </a:r>
            <a:r>
              <a:rPr lang="zh-CN" altLang="en-US" dirty="0"/>
              <a:t>技术是一种基于以太网的多速率子接口在多</a:t>
            </a:r>
            <a:r>
              <a:rPr lang="en-US" altLang="zh-CN" dirty="0"/>
              <a:t>PHY</a:t>
            </a:r>
            <a:r>
              <a:rPr lang="zh-CN" altLang="en-US" dirty="0"/>
              <a:t>链路上的承载技术，支持捆绑、通道化和子速率。</a:t>
            </a:r>
            <a:endParaRPr lang="en-US" altLang="zh-CN" dirty="0"/>
          </a:p>
          <a:p>
            <a:r>
              <a:rPr lang="en-US" dirty="0"/>
              <a:t>SQ</a:t>
            </a:r>
            <a:r>
              <a:rPr lang="zh-CN" altLang="en-US" dirty="0"/>
              <a:t>：</a:t>
            </a:r>
            <a:r>
              <a:rPr lang="en-US" altLang="zh-CN" dirty="0"/>
              <a:t>Subscriber Queue</a:t>
            </a:r>
            <a:r>
              <a:rPr lang="zh-CN" altLang="en-US" dirty="0"/>
              <a:t>，用户队列</a:t>
            </a:r>
            <a:endParaRPr lang="en-US" altLang="zh-CN" dirty="0"/>
          </a:p>
          <a:p>
            <a:r>
              <a:rPr lang="en-US" dirty="0"/>
              <a:t>GQ</a:t>
            </a:r>
            <a:r>
              <a:rPr lang="zh-CN" altLang="en-US" dirty="0"/>
              <a:t>：</a:t>
            </a:r>
            <a:r>
              <a:rPr lang="en-US" altLang="zh-CN" dirty="0"/>
              <a:t>Group Queue</a:t>
            </a:r>
            <a:r>
              <a:rPr lang="zh-CN" altLang="en-US" dirty="0"/>
              <a:t>，组队列</a:t>
            </a:r>
            <a:endParaRPr lang="en-US" altLang="zh-CN" dirty="0"/>
          </a:p>
          <a:p>
            <a:r>
              <a:rPr lang="en-US" dirty="0"/>
              <a:t>VI</a:t>
            </a:r>
            <a:r>
              <a:rPr lang="zh-CN" altLang="en-US" dirty="0"/>
              <a:t>：</a:t>
            </a:r>
            <a:r>
              <a:rPr lang="en-US" altLang="zh-CN" dirty="0"/>
              <a:t>Virtual Interface</a:t>
            </a:r>
            <a:r>
              <a:rPr lang="zh-CN" altLang="en-US" dirty="0"/>
              <a:t>，虚拟接口</a:t>
            </a:r>
            <a:endParaRPr lang="en-US" altLang="zh-CN" dirty="0"/>
          </a:p>
          <a:p>
            <a:r>
              <a:rPr lang="en-US" dirty="0"/>
              <a:t>DP</a:t>
            </a:r>
            <a:r>
              <a:rPr lang="zh-CN" altLang="en-US" dirty="0"/>
              <a:t>：</a:t>
            </a:r>
            <a:r>
              <a:rPr lang="en-US" altLang="zh-CN" dirty="0"/>
              <a:t>Data Plane</a:t>
            </a:r>
            <a:r>
              <a:rPr lang="zh-CN" altLang="en-US" dirty="0"/>
              <a:t>，数据平面</a:t>
            </a:r>
            <a:endParaRPr lang="en-US" dirty="0"/>
          </a:p>
          <a:p>
            <a:r>
              <a:rPr lang="en-US" dirty="0"/>
              <a:t>TM</a:t>
            </a:r>
            <a:r>
              <a:rPr lang="zh-CN" altLang="en-US" dirty="0"/>
              <a:t>：</a:t>
            </a:r>
            <a:r>
              <a:rPr lang="en-US" altLang="zh-CN" dirty="0"/>
              <a:t>Traffic Manager</a:t>
            </a:r>
            <a:r>
              <a:rPr lang="zh-CN" altLang="en-US" dirty="0"/>
              <a:t>，流量管理</a:t>
            </a:r>
            <a:endParaRPr lang="en-US" altLang="zh-CN" dirty="0"/>
          </a:p>
          <a:p>
            <a:r>
              <a:rPr lang="en-US" dirty="0"/>
              <a:t>PIC</a:t>
            </a:r>
            <a:r>
              <a:rPr lang="zh-CN" altLang="en-US" dirty="0"/>
              <a:t>：</a:t>
            </a:r>
            <a:r>
              <a:rPr lang="en-US" altLang="zh-CN" dirty="0"/>
              <a:t>Physical Interface Card</a:t>
            </a:r>
            <a:r>
              <a:rPr lang="zh-CN" altLang="en-US" dirty="0"/>
              <a:t>，物理接口卡</a:t>
            </a:r>
            <a:endParaRPr lang="en-US" dirty="0"/>
          </a:p>
        </p:txBody>
      </p:sp>
    </p:spTree>
    <p:extLst>
      <p:ext uri="{BB962C8B-B14F-4D97-AF65-F5344CB8AC3E}">
        <p14:creationId xmlns:p14="http://schemas.microsoft.com/office/powerpoint/2010/main" val="20263282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69737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95680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7844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837843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59239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业务量涉及两个方面：第一是业务流向，即最终业务都汇聚到哪里，第二是业务量的大小，这两者相辅相成。一般来说汇集越集中的地方，业务量也会越大。核心节点须选择业务流向集中并且业务量大的节点。</a:t>
            </a:r>
            <a:endParaRPr lang="en-US" altLang="zh-CN" dirty="0"/>
          </a:p>
          <a:p>
            <a:r>
              <a:rPr lang="zh-CN" altLang="en-US" dirty="0"/>
              <a:t>核心节点同城之间通过波分互连，异地之间通过跨省或城域的运营商专线互连。需要综合考虑核心节点数量，且核心节点数量不宜过多</a:t>
            </a:r>
            <a:r>
              <a:rPr lang="zh-CN" altLang="en-US" dirty="0" smtClean="0"/>
              <a:t>。</a:t>
            </a:r>
            <a:endParaRPr lang="en-US" dirty="0"/>
          </a:p>
        </p:txBody>
      </p:sp>
    </p:spTree>
    <p:extLst>
      <p:ext uri="{BB962C8B-B14F-4D97-AF65-F5344CB8AC3E}">
        <p14:creationId xmlns:p14="http://schemas.microsoft.com/office/powerpoint/2010/main" val="40748825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47670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38910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925008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370906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445257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76969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24604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523995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128155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统一性原则：全网的所有</a:t>
            </a:r>
            <a:r>
              <a:rPr lang="en-US" altLang="zh-CN" dirty="0"/>
              <a:t>IP</a:t>
            </a:r>
            <a:r>
              <a:rPr lang="zh-CN" altLang="en-US" dirty="0"/>
              <a:t>地址统一规划，包括业务地址、平台地址、网络地址等。</a:t>
            </a:r>
          </a:p>
          <a:p>
            <a:r>
              <a:rPr lang="zh-CN" altLang="en-US" dirty="0"/>
              <a:t>唯一性原则：每个地址全网唯一。</a:t>
            </a:r>
          </a:p>
          <a:p>
            <a:r>
              <a:rPr lang="zh-CN" altLang="en-US" dirty="0"/>
              <a:t>层次化原则：</a:t>
            </a:r>
            <a:r>
              <a:rPr lang="en-US" altLang="zh-CN" dirty="0"/>
              <a:t>IPv6</a:t>
            </a:r>
            <a:r>
              <a:rPr lang="zh-CN" altLang="en-US" dirty="0"/>
              <a:t>海量地址空间对路由聚合能力提出了更高的要求，</a:t>
            </a:r>
            <a:r>
              <a:rPr lang="en-US" altLang="zh-CN" dirty="0"/>
              <a:t>IPv6</a:t>
            </a:r>
            <a:r>
              <a:rPr lang="zh-CN" altLang="en-US" dirty="0"/>
              <a:t>地址规划首要任务在于减少网络地址碎片，增强路由聚合能力，提高网络路由效率。</a:t>
            </a:r>
          </a:p>
          <a:p>
            <a:r>
              <a:rPr lang="zh-CN" altLang="en-US" dirty="0"/>
              <a:t>安全性原则：相同业务属性具有相同的安全要求，业务之间的互访需要进行安全控制，同一种业务属性划分到同一段地址空间，有利于安全设计和策略管理。</a:t>
            </a:r>
          </a:p>
          <a:p>
            <a:r>
              <a:rPr lang="zh-CN" altLang="en-US" dirty="0"/>
              <a:t>连续性原则：</a:t>
            </a:r>
            <a:r>
              <a:rPr lang="en-US" altLang="zh-CN" dirty="0"/>
              <a:t>IPv6</a:t>
            </a:r>
            <a:r>
              <a:rPr lang="zh-CN" altLang="en-US" dirty="0"/>
              <a:t>地址段与段之间，段内地址尽量保持连续，连续的</a:t>
            </a:r>
            <a:r>
              <a:rPr lang="en-US" altLang="zh-CN" dirty="0"/>
              <a:t>IP</a:t>
            </a:r>
            <a:r>
              <a:rPr lang="zh-CN" altLang="en-US" dirty="0"/>
              <a:t>地址避免地址浪费。</a:t>
            </a:r>
          </a:p>
          <a:p>
            <a:r>
              <a:rPr lang="zh-CN" altLang="en-US" dirty="0"/>
              <a:t>可扩展性原则：</a:t>
            </a:r>
            <a:r>
              <a:rPr lang="en-US" altLang="zh-CN" dirty="0"/>
              <a:t>IP</a:t>
            </a:r>
            <a:r>
              <a:rPr lang="zh-CN" altLang="en-US" dirty="0"/>
              <a:t>地址的规划与划分应该考虑到网络的发展要求，为未来扩容预留空间，少量子网的增加不需要大规模架构和策略调整。</a:t>
            </a:r>
            <a:endParaRPr lang="en-US" dirty="0"/>
          </a:p>
        </p:txBody>
      </p:sp>
    </p:spTree>
    <p:extLst>
      <p:ext uri="{BB962C8B-B14F-4D97-AF65-F5344CB8AC3E}">
        <p14:creationId xmlns:p14="http://schemas.microsoft.com/office/powerpoint/2010/main" val="3416504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0878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31362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771374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Locator</a:t>
            </a:r>
            <a:r>
              <a:rPr lang="zh-CN" altLang="en-US" dirty="0"/>
              <a:t>本身是一个</a:t>
            </a:r>
            <a:r>
              <a:rPr lang="en-US" dirty="0"/>
              <a:t>IPv6</a:t>
            </a:r>
            <a:r>
              <a:rPr lang="zh-CN" altLang="en-US" dirty="0"/>
              <a:t>网段，该网段下的所有</a:t>
            </a:r>
            <a:r>
              <a:rPr lang="en-US" dirty="0"/>
              <a:t>IPv6</a:t>
            </a:r>
            <a:r>
              <a:rPr lang="zh-CN" altLang="en-US" dirty="0"/>
              <a:t>地址都可以作为</a:t>
            </a:r>
            <a:r>
              <a:rPr lang="en-US" dirty="0"/>
              <a:t>SRv6 SID</a:t>
            </a:r>
            <a:r>
              <a:rPr lang="zh-CN" altLang="en-US" dirty="0"/>
              <a:t>分配。节点配置</a:t>
            </a:r>
            <a:r>
              <a:rPr lang="en-US" dirty="0"/>
              <a:t>Locator</a:t>
            </a:r>
            <a:r>
              <a:rPr lang="zh-CN" altLang="en-US" dirty="0"/>
              <a:t>之后，系统会生成一条</a:t>
            </a:r>
            <a:r>
              <a:rPr lang="en-US" dirty="0"/>
              <a:t>Locator</a:t>
            </a:r>
            <a:r>
              <a:rPr lang="zh-CN" altLang="en-US" dirty="0"/>
              <a:t>网段路由，通过</a:t>
            </a:r>
            <a:r>
              <a:rPr lang="en-US" dirty="0"/>
              <a:t>Locator</a:t>
            </a:r>
            <a:r>
              <a:rPr lang="zh-CN" altLang="en-US" dirty="0"/>
              <a:t>网段路由就可以定位到本节点，同时本节点发布的所有</a:t>
            </a:r>
            <a:r>
              <a:rPr lang="en-US" dirty="0"/>
              <a:t>SID</a:t>
            </a:r>
            <a:r>
              <a:rPr lang="zh-CN" altLang="en-US" dirty="0"/>
              <a:t>也都可以通过该条</a:t>
            </a:r>
            <a:r>
              <a:rPr lang="en-US" dirty="0"/>
              <a:t>Locator</a:t>
            </a:r>
            <a:r>
              <a:rPr lang="zh-CN" altLang="en-US" dirty="0"/>
              <a:t>网段路由到达。</a:t>
            </a:r>
          </a:p>
          <a:p>
            <a:r>
              <a:rPr lang="en-US" dirty="0"/>
              <a:t>Function</a:t>
            </a:r>
            <a:r>
              <a:rPr lang="zh-CN" altLang="en-US" dirty="0"/>
              <a:t>字段也称为</a:t>
            </a:r>
            <a:r>
              <a:rPr lang="en-US" dirty="0"/>
              <a:t>Opcode，</a:t>
            </a:r>
            <a:r>
              <a:rPr lang="zh-CN" altLang="en-US" dirty="0"/>
              <a:t>可以通过</a:t>
            </a:r>
            <a:r>
              <a:rPr lang="en-US" dirty="0"/>
              <a:t>IGP</a:t>
            </a:r>
            <a:r>
              <a:rPr lang="zh-CN" altLang="en-US" dirty="0"/>
              <a:t>协议动态分配，也可以通过</a:t>
            </a:r>
            <a:r>
              <a:rPr lang="en-US" b="1" dirty="0"/>
              <a:t>opcode</a:t>
            </a:r>
            <a:r>
              <a:rPr lang="zh-CN" altLang="en-US" dirty="0"/>
              <a:t>命令静态配置。配置</a:t>
            </a:r>
            <a:r>
              <a:rPr lang="en-US" dirty="0"/>
              <a:t>Locator</a:t>
            </a:r>
            <a:r>
              <a:rPr lang="zh-CN" altLang="en-US" dirty="0"/>
              <a:t>时可以通过</a:t>
            </a:r>
            <a:r>
              <a:rPr lang="en-US" b="1" dirty="0"/>
              <a:t>static</a:t>
            </a:r>
            <a:r>
              <a:rPr lang="en-US" dirty="0"/>
              <a:t> </a:t>
            </a:r>
            <a:r>
              <a:rPr lang="en-US" i="1" dirty="0"/>
              <a:t>static-length</a:t>
            </a:r>
            <a:r>
              <a:rPr lang="zh-CN" altLang="en-US" dirty="0"/>
              <a:t>参数指定静态段长度，静态段长度决定能够在该</a:t>
            </a:r>
            <a:r>
              <a:rPr lang="en-US" dirty="0"/>
              <a:t>Locator</a:t>
            </a:r>
            <a:r>
              <a:rPr lang="zh-CN" altLang="en-US" dirty="0"/>
              <a:t>下配置多少静态</a:t>
            </a:r>
            <a:r>
              <a:rPr lang="en-US" dirty="0" err="1"/>
              <a:t>Opcode，IGP</a:t>
            </a:r>
            <a:r>
              <a:rPr lang="zh-CN" altLang="en-US" dirty="0"/>
              <a:t>协议动态分配</a:t>
            </a:r>
            <a:r>
              <a:rPr lang="en-US" dirty="0"/>
              <a:t>Opcode</a:t>
            </a:r>
            <a:r>
              <a:rPr lang="zh-CN" altLang="en-US" dirty="0"/>
              <a:t>时会在静态段范围外申请，确保最终构成的</a:t>
            </a:r>
            <a:r>
              <a:rPr lang="en-US" dirty="0"/>
              <a:t>SRv6 SID</a:t>
            </a:r>
            <a:r>
              <a:rPr lang="zh-CN" altLang="en-US" dirty="0"/>
              <a:t>不会冲突。</a:t>
            </a:r>
          </a:p>
          <a:p>
            <a:r>
              <a:rPr lang="en-US" dirty="0" err="1"/>
              <a:t>Args</a:t>
            </a:r>
            <a:r>
              <a:rPr lang="zh-CN" altLang="en-US" dirty="0"/>
              <a:t>字段由</a:t>
            </a:r>
            <a:r>
              <a:rPr lang="en-US" b="1" dirty="0" err="1"/>
              <a:t>args</a:t>
            </a:r>
            <a:r>
              <a:rPr lang="en-US" dirty="0"/>
              <a:t> </a:t>
            </a:r>
            <a:r>
              <a:rPr lang="en-US" i="1" dirty="0" err="1"/>
              <a:t>args</a:t>
            </a:r>
            <a:r>
              <a:rPr lang="en-US" i="1" dirty="0"/>
              <a:t>-length</a:t>
            </a:r>
            <a:r>
              <a:rPr lang="zh-CN" altLang="en-US" dirty="0"/>
              <a:t>参数决定，</a:t>
            </a:r>
            <a:r>
              <a:rPr lang="en-US" dirty="0" err="1"/>
              <a:t>Args</a:t>
            </a:r>
            <a:r>
              <a:rPr lang="zh-CN" altLang="en-US" dirty="0"/>
              <a:t>字段在</a:t>
            </a:r>
            <a:r>
              <a:rPr lang="en-US" dirty="0"/>
              <a:t>SRv6 SID</a:t>
            </a:r>
            <a:r>
              <a:rPr lang="zh-CN" altLang="en-US" dirty="0"/>
              <a:t>里是可选的，由命令配置决定。</a:t>
            </a:r>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8722752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13473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b="0" i="0" dirty="0" err="1">
                <a:solidFill>
                  <a:srgbClr val="333333"/>
                </a:solidFill>
                <a:effectLst/>
                <a:latin typeface="Microsoft Yahei" panose="020B0503020204020204" pitchFamily="34" charset="-122"/>
                <a:ea typeface="Microsoft Yahei" panose="020B0503020204020204" pitchFamily="34" charset="-122"/>
              </a:rPr>
              <a:t>End.DT</a:t>
            </a:r>
            <a:r>
              <a:rPr lang="zh-CN" altLang="en-US" b="0" i="0" dirty="0">
                <a:solidFill>
                  <a:srgbClr val="333333"/>
                </a:solidFill>
                <a:effectLst/>
                <a:latin typeface="Microsoft Yahei" panose="020B0503020204020204" pitchFamily="34" charset="-122"/>
                <a:ea typeface="Microsoft Yahei" panose="020B0503020204020204" pitchFamily="34" charset="-122"/>
              </a:rPr>
              <a:t>有</a:t>
            </a:r>
            <a:r>
              <a:rPr lang="en-US" altLang="zh-CN" b="0" i="0" dirty="0">
                <a:solidFill>
                  <a:srgbClr val="333333"/>
                </a:solidFill>
                <a:effectLst/>
                <a:latin typeface="Microsoft Yahei" panose="020B0503020204020204" pitchFamily="34" charset="-122"/>
                <a:ea typeface="Microsoft Yahei" panose="020B0503020204020204" pitchFamily="34" charset="-122"/>
              </a:rPr>
              <a:t>End.DT4</a:t>
            </a:r>
            <a:r>
              <a:rPr lang="zh-CN" altLang="en-US" b="0" i="0" dirty="0">
                <a:solidFill>
                  <a:srgbClr val="333333"/>
                </a:solidFill>
                <a:effectLst/>
                <a:latin typeface="Microsoft Yahei" panose="020B0503020204020204" pitchFamily="34" charset="-122"/>
                <a:ea typeface="Microsoft Yahei" panose="020B0503020204020204" pitchFamily="34" charset="-122"/>
              </a:rPr>
              <a:t>与</a:t>
            </a:r>
            <a:r>
              <a:rPr lang="en-US" altLang="zh-CN" b="0" i="0" dirty="0">
                <a:solidFill>
                  <a:srgbClr val="333333"/>
                </a:solidFill>
                <a:effectLst/>
                <a:latin typeface="Microsoft Yahei" panose="020B0503020204020204" pitchFamily="34" charset="-122"/>
                <a:ea typeface="Microsoft Yahei" panose="020B0503020204020204" pitchFamily="34" charset="-122"/>
              </a:rPr>
              <a:t>End.DT6</a:t>
            </a:r>
          </a:p>
          <a:p>
            <a:pPr lvl="1"/>
            <a:r>
              <a:rPr lang="en-US" b="0" i="0" dirty="0">
                <a:solidFill>
                  <a:srgbClr val="333333"/>
                </a:solidFill>
                <a:effectLst/>
                <a:latin typeface="Microsoft Yahei" panose="020B0503020204020204" pitchFamily="34" charset="-122"/>
                <a:ea typeface="Microsoft Yahei" panose="020B0503020204020204" pitchFamily="34" charset="-122"/>
              </a:rPr>
              <a:t>End.DT4 SID</a:t>
            </a:r>
            <a:r>
              <a:rPr lang="zh-CN" altLang="en-US" b="0" i="0" dirty="0">
                <a:solidFill>
                  <a:srgbClr val="333333"/>
                </a:solidFill>
                <a:effectLst/>
                <a:latin typeface="Microsoft Yahei" panose="020B0503020204020204" pitchFamily="34" charset="-122"/>
                <a:ea typeface="Microsoft Yahei" panose="020B0503020204020204" pitchFamily="34" charset="-122"/>
              </a:rPr>
              <a:t>表示</a:t>
            </a:r>
            <a:r>
              <a:rPr lang="en-US" b="0" i="0" dirty="0">
                <a:solidFill>
                  <a:srgbClr val="333333"/>
                </a:solidFill>
                <a:effectLst/>
                <a:latin typeface="Microsoft Yahei" panose="020B0503020204020204" pitchFamily="34" charset="-122"/>
                <a:ea typeface="Microsoft Yahei" panose="020B0503020204020204" pitchFamily="34" charset="-122"/>
              </a:rPr>
              <a:t>PE</a:t>
            </a:r>
            <a:r>
              <a:rPr lang="zh-CN" altLang="en-US" b="0" i="0" dirty="0">
                <a:solidFill>
                  <a:srgbClr val="333333"/>
                </a:solidFill>
                <a:effectLst/>
                <a:latin typeface="Microsoft Yahei" panose="020B0503020204020204" pitchFamily="34" charset="-122"/>
                <a:ea typeface="Microsoft Yahei" panose="020B0503020204020204" pitchFamily="34" charset="-122"/>
              </a:rPr>
              <a:t>类型的</a:t>
            </a:r>
            <a:r>
              <a:rPr lang="en-US" b="0" i="0" dirty="0">
                <a:solidFill>
                  <a:srgbClr val="333333"/>
                </a:solidFill>
                <a:effectLst/>
                <a:latin typeface="Microsoft Yahei" panose="020B0503020204020204" pitchFamily="34" charset="-122"/>
                <a:ea typeface="Microsoft Yahei" panose="020B0503020204020204" pitchFamily="34" charset="-122"/>
              </a:rPr>
              <a:t>Endpoint SID，</a:t>
            </a:r>
            <a:r>
              <a:rPr lang="zh-CN" altLang="en-US" b="0" i="0" dirty="0">
                <a:solidFill>
                  <a:srgbClr val="333333"/>
                </a:solidFill>
                <a:effectLst/>
                <a:latin typeface="Microsoft Yahei" panose="020B0503020204020204" pitchFamily="34" charset="-122"/>
                <a:ea typeface="Microsoft Yahei" panose="020B0503020204020204" pitchFamily="34" charset="-122"/>
              </a:rPr>
              <a:t>用于标识网络中的某个</a:t>
            </a:r>
            <a:r>
              <a:rPr lang="en-US" b="0" i="0" dirty="0">
                <a:solidFill>
                  <a:srgbClr val="333333"/>
                </a:solidFill>
                <a:effectLst/>
                <a:latin typeface="Microsoft Yahei" panose="020B0503020204020204" pitchFamily="34" charset="-122"/>
                <a:ea typeface="Microsoft Yahei" panose="020B0503020204020204" pitchFamily="34" charset="-122"/>
              </a:rPr>
              <a:t>IPv4 VPN</a:t>
            </a:r>
            <a:r>
              <a:rPr lang="zh-CN" altLang="en-US" b="0" i="0" dirty="0">
                <a:solidFill>
                  <a:srgbClr val="333333"/>
                </a:solidFill>
                <a:effectLst/>
                <a:latin typeface="Microsoft Yahei" panose="020B0503020204020204" pitchFamily="34" charset="-122"/>
                <a:ea typeface="Microsoft Yahei" panose="020B0503020204020204" pitchFamily="34" charset="-122"/>
              </a:rPr>
              <a:t>实例。</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lvl="1"/>
            <a:r>
              <a:rPr lang="en-US" dirty="0"/>
              <a:t>End.DT6 SID</a:t>
            </a:r>
            <a:r>
              <a:rPr lang="zh-CN" altLang="en-US" dirty="0"/>
              <a:t>表示</a:t>
            </a:r>
            <a:r>
              <a:rPr lang="en-US" dirty="0"/>
              <a:t>PE</a:t>
            </a:r>
            <a:r>
              <a:rPr lang="zh-CN" altLang="en-US" dirty="0"/>
              <a:t>类型的</a:t>
            </a:r>
            <a:r>
              <a:rPr lang="en-US" dirty="0"/>
              <a:t>Endpoint SID，</a:t>
            </a:r>
            <a:r>
              <a:rPr lang="zh-CN" altLang="en-US" dirty="0"/>
              <a:t>用于标识网络中的某个</a:t>
            </a:r>
            <a:r>
              <a:rPr lang="en-US" dirty="0"/>
              <a:t>IPv6 VPN</a:t>
            </a:r>
            <a:r>
              <a:rPr lang="zh-CN" altLang="en-US" dirty="0"/>
              <a:t>实例。</a:t>
            </a:r>
            <a:endParaRPr lang="en-US" altLang="zh-CN" dirty="0"/>
          </a:p>
          <a:p>
            <a:pPr lvl="0"/>
            <a:r>
              <a:rPr lang="en-US" dirty="0"/>
              <a:t>SRv6</a:t>
            </a:r>
            <a:r>
              <a:rPr lang="zh-CN" altLang="en-US" dirty="0"/>
              <a:t>中主要通过</a:t>
            </a:r>
            <a:r>
              <a:rPr lang="en-US" altLang="zh-CN" dirty="0" err="1"/>
              <a:t>End.OP</a:t>
            </a:r>
            <a:r>
              <a:rPr lang="zh-CN" altLang="en-US" dirty="0"/>
              <a:t>实现</a:t>
            </a:r>
            <a:r>
              <a:rPr lang="en-US" altLang="zh-CN" dirty="0"/>
              <a:t>OAM</a:t>
            </a:r>
            <a:r>
              <a:rPr lang="zh-CN" altLang="en-US" dirty="0"/>
              <a:t>（</a:t>
            </a:r>
            <a:r>
              <a:rPr lang="en-US" altLang="zh-CN" dirty="0"/>
              <a:t>operation, administration and maintenance</a:t>
            </a:r>
            <a:r>
              <a:rPr lang="zh-CN" altLang="en-US" dirty="0"/>
              <a:t>，操作、管理和维护）</a:t>
            </a:r>
            <a:endParaRPr lang="en-US" altLang="zh-CN" dirty="0"/>
          </a:p>
          <a:p>
            <a:pPr lvl="1"/>
            <a:r>
              <a:rPr lang="en-US" dirty="0" err="1"/>
              <a:t>End.OP</a:t>
            </a:r>
            <a:r>
              <a:rPr lang="en-US" dirty="0"/>
              <a:t> SID</a:t>
            </a:r>
            <a:r>
              <a:rPr lang="zh-CN" altLang="en-US" dirty="0"/>
              <a:t>主要用于</a:t>
            </a:r>
            <a:r>
              <a:rPr lang="en-US" dirty="0"/>
              <a:t>Ping/Tracert</a:t>
            </a:r>
            <a:r>
              <a:rPr lang="zh-CN" altLang="en-US" dirty="0"/>
              <a:t>场景。</a:t>
            </a:r>
            <a:endParaRPr lang="en-US" dirty="0"/>
          </a:p>
        </p:txBody>
      </p:sp>
    </p:spTree>
    <p:extLst>
      <p:ext uri="{BB962C8B-B14F-4D97-AF65-F5344CB8AC3E}">
        <p14:creationId xmlns:p14="http://schemas.microsoft.com/office/powerpoint/2010/main" val="34184687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693578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11781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591972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088314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altLang="zh-CN" dirty="0"/>
              <a:t>IGP</a:t>
            </a:r>
            <a:r>
              <a:rPr lang="zh-CN" altLang="en-US" dirty="0"/>
              <a:t>的部分参数建议如下：</a:t>
            </a:r>
          </a:p>
          <a:p>
            <a:pPr lvl="1"/>
            <a:r>
              <a:rPr lang="en-US" altLang="zh-CN" dirty="0"/>
              <a:t>IGP</a:t>
            </a:r>
            <a:r>
              <a:rPr lang="zh-CN" altLang="en-US" dirty="0"/>
              <a:t>进程号：建议骨干网设备</a:t>
            </a:r>
            <a:r>
              <a:rPr lang="en-US" altLang="zh-CN" dirty="0"/>
              <a:t>IS-IS</a:t>
            </a:r>
            <a:r>
              <a:rPr lang="zh-CN" altLang="en-US" dirty="0"/>
              <a:t>或</a:t>
            </a:r>
            <a:r>
              <a:rPr lang="en-US" altLang="zh-CN" dirty="0"/>
              <a:t>OSPF</a:t>
            </a:r>
            <a:r>
              <a:rPr lang="zh-CN" altLang="en-US" dirty="0"/>
              <a:t>进程号采用与</a:t>
            </a:r>
            <a:r>
              <a:rPr lang="en-US" altLang="zh-CN" dirty="0"/>
              <a:t>BGP</a:t>
            </a:r>
            <a:r>
              <a:rPr lang="zh-CN" altLang="en-US" dirty="0"/>
              <a:t>的</a:t>
            </a:r>
            <a:r>
              <a:rPr lang="en-US" altLang="zh-CN" dirty="0"/>
              <a:t>AS</a:t>
            </a:r>
            <a:r>
              <a:rPr lang="zh-CN" altLang="en-US" dirty="0"/>
              <a:t>号一致。</a:t>
            </a:r>
          </a:p>
          <a:p>
            <a:pPr lvl="1"/>
            <a:r>
              <a:rPr lang="en-US" altLang="zh-CN" dirty="0"/>
              <a:t>IS-IS NET</a:t>
            </a:r>
            <a:r>
              <a:rPr lang="zh-CN" altLang="en-US" dirty="0"/>
              <a:t>号：建议格式为</a:t>
            </a:r>
            <a:r>
              <a:rPr lang="en-US" altLang="zh-CN" dirty="0"/>
              <a:t>aa.bbbb.cccc.dddd.00</a:t>
            </a:r>
            <a:r>
              <a:rPr lang="zh-CN" altLang="en-US" dirty="0"/>
              <a:t>。采用设备的</a:t>
            </a:r>
            <a:r>
              <a:rPr lang="en-US" altLang="zh-CN" dirty="0"/>
              <a:t>Loopback0</a:t>
            </a:r>
            <a:r>
              <a:rPr lang="zh-CN" altLang="en-US" dirty="0"/>
              <a:t>地址进行映射，比如</a:t>
            </a:r>
            <a:r>
              <a:rPr lang="en-US" altLang="zh-CN" dirty="0"/>
              <a:t>Loopback0</a:t>
            </a:r>
            <a:r>
              <a:rPr lang="zh-CN" altLang="en-US" dirty="0"/>
              <a:t>地址为</a:t>
            </a:r>
            <a:r>
              <a:rPr lang="en-US" altLang="zh-CN" dirty="0"/>
              <a:t>21.231.232.1</a:t>
            </a:r>
            <a:r>
              <a:rPr lang="zh-CN" altLang="en-US" dirty="0"/>
              <a:t>，则转换</a:t>
            </a:r>
            <a:r>
              <a:rPr lang="en-US" altLang="zh-CN" dirty="0"/>
              <a:t>NET</a:t>
            </a:r>
            <a:r>
              <a:rPr lang="zh-CN" altLang="en-US" dirty="0"/>
              <a:t>号为</a:t>
            </a:r>
            <a:r>
              <a:rPr lang="en-US" altLang="zh-CN" dirty="0"/>
              <a:t>21.0231.0232.0001.00</a:t>
            </a:r>
            <a:r>
              <a:rPr lang="zh-CN" altLang="en-US" dirty="0"/>
              <a:t>。</a:t>
            </a:r>
          </a:p>
          <a:p>
            <a:pPr lvl="1"/>
            <a:r>
              <a:rPr lang="en-US" altLang="zh-CN" dirty="0"/>
              <a:t>OSPF Router ID</a:t>
            </a:r>
            <a:r>
              <a:rPr lang="zh-CN" altLang="en-US" dirty="0"/>
              <a:t>：采用全局</a:t>
            </a:r>
            <a:r>
              <a:rPr lang="en-US" altLang="zh-CN" dirty="0"/>
              <a:t>Router ID</a:t>
            </a:r>
            <a:r>
              <a:rPr lang="zh-CN" altLang="en-US" dirty="0"/>
              <a:t>，</a:t>
            </a:r>
            <a:r>
              <a:rPr lang="en-US" altLang="zh-CN" dirty="0"/>
              <a:t>Router ID</a:t>
            </a:r>
            <a:r>
              <a:rPr lang="zh-CN" altLang="en-US" dirty="0"/>
              <a:t>一般与</a:t>
            </a:r>
            <a:r>
              <a:rPr lang="en-US" altLang="zh-CN" dirty="0"/>
              <a:t>Loopback0</a:t>
            </a:r>
            <a:r>
              <a:rPr lang="zh-CN" altLang="en-US" dirty="0"/>
              <a:t>地址一致。</a:t>
            </a:r>
          </a:p>
          <a:p>
            <a:pPr lvl="1"/>
            <a:r>
              <a:rPr lang="zh-CN" altLang="en-US" dirty="0"/>
              <a:t>接口类型：为了加速收敛，所有接口使用</a:t>
            </a:r>
            <a:r>
              <a:rPr lang="en-US" altLang="zh-CN" dirty="0"/>
              <a:t>P2P</a:t>
            </a:r>
            <a:r>
              <a:rPr lang="zh-CN" altLang="en-US" dirty="0"/>
              <a:t>类型。</a:t>
            </a:r>
          </a:p>
          <a:p>
            <a:pPr lvl="1"/>
            <a:r>
              <a:rPr lang="zh-CN" altLang="en-US" dirty="0"/>
              <a:t>路由发布：</a:t>
            </a:r>
            <a:r>
              <a:rPr lang="en-US" altLang="zh-CN" dirty="0"/>
              <a:t>IGP</a:t>
            </a:r>
            <a:r>
              <a:rPr lang="zh-CN" altLang="en-US" dirty="0"/>
              <a:t>主要是解决广域网内部地址可达性问题，所以</a:t>
            </a:r>
            <a:r>
              <a:rPr lang="en-US" altLang="zh-CN" dirty="0"/>
              <a:t>IGP</a:t>
            </a:r>
            <a:r>
              <a:rPr lang="zh-CN" altLang="en-US" dirty="0"/>
              <a:t>只发布互联接口地址和设备管理地址。</a:t>
            </a:r>
          </a:p>
        </p:txBody>
      </p:sp>
    </p:spTree>
    <p:extLst>
      <p:ext uri="{BB962C8B-B14F-4D97-AF65-F5344CB8AC3E}">
        <p14:creationId xmlns:p14="http://schemas.microsoft.com/office/powerpoint/2010/main" val="9166988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416626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16221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altLang="zh-CN" dirty="0"/>
              <a:t>BGP</a:t>
            </a:r>
            <a:r>
              <a:rPr lang="zh-CN" altLang="en-US" dirty="0"/>
              <a:t>关系建立中，</a:t>
            </a:r>
            <a:r>
              <a:rPr lang="en-US" altLang="zh-CN" dirty="0"/>
              <a:t>IBGP</a:t>
            </a:r>
            <a:r>
              <a:rPr lang="zh-CN" altLang="en-US" dirty="0"/>
              <a:t>统一采用</a:t>
            </a:r>
            <a:r>
              <a:rPr lang="en-US" altLang="zh-CN" dirty="0"/>
              <a:t>Loopback0</a:t>
            </a:r>
            <a:r>
              <a:rPr lang="zh-CN" altLang="en-US" dirty="0"/>
              <a:t>地址建立</a:t>
            </a:r>
            <a:r>
              <a:rPr lang="en-US" altLang="zh-CN" dirty="0"/>
              <a:t>peer</a:t>
            </a:r>
            <a:r>
              <a:rPr lang="zh-CN" altLang="en-US" dirty="0"/>
              <a:t>，</a:t>
            </a:r>
            <a:r>
              <a:rPr lang="en-US" altLang="zh-CN" dirty="0"/>
              <a:t>EBGP</a:t>
            </a:r>
            <a:r>
              <a:rPr lang="zh-CN" altLang="en-US" dirty="0"/>
              <a:t>采用接口地址建立</a:t>
            </a:r>
            <a:r>
              <a:rPr lang="en-US" altLang="zh-CN" dirty="0"/>
              <a:t>peer</a:t>
            </a:r>
            <a:r>
              <a:rPr lang="zh-CN" altLang="en-US" dirty="0"/>
              <a:t>。</a:t>
            </a:r>
          </a:p>
          <a:p>
            <a:r>
              <a:rPr lang="en-US" altLang="zh-CN" dirty="0"/>
              <a:t>AS</a:t>
            </a:r>
            <a:r>
              <a:rPr lang="zh-CN" altLang="en-US" dirty="0"/>
              <a:t>：广域承载网络可以划为一个独立</a:t>
            </a:r>
            <a:r>
              <a:rPr lang="en-US" altLang="zh-CN" dirty="0"/>
              <a:t>AS</a:t>
            </a:r>
            <a:r>
              <a:rPr lang="zh-CN" altLang="en-US" dirty="0"/>
              <a:t>域。</a:t>
            </a:r>
          </a:p>
          <a:p>
            <a:r>
              <a:rPr lang="en-US" altLang="zh-CN" dirty="0"/>
              <a:t>IBGP</a:t>
            </a:r>
            <a:r>
              <a:rPr lang="zh-CN" altLang="en-US" dirty="0"/>
              <a:t>：</a:t>
            </a:r>
            <a:r>
              <a:rPr lang="en-US" altLang="zh-CN" dirty="0"/>
              <a:t>PE</a:t>
            </a:r>
            <a:r>
              <a:rPr lang="zh-CN" altLang="en-US" dirty="0"/>
              <a:t>之间采用</a:t>
            </a:r>
            <a:r>
              <a:rPr lang="en-US" altLang="zh-CN" dirty="0"/>
              <a:t>Loopback</a:t>
            </a:r>
            <a:r>
              <a:rPr lang="zh-CN" altLang="en-US" dirty="0"/>
              <a:t>接口地址和所有</a:t>
            </a:r>
            <a:r>
              <a:rPr lang="en-US" altLang="zh-CN" dirty="0"/>
              <a:t>RR</a:t>
            </a:r>
            <a:r>
              <a:rPr lang="zh-CN" altLang="en-US" dirty="0"/>
              <a:t>建立</a:t>
            </a:r>
            <a:r>
              <a:rPr lang="en-US" altLang="zh-CN" dirty="0"/>
              <a:t>IBGP</a:t>
            </a:r>
            <a:r>
              <a:rPr lang="zh-CN" altLang="en-US" dirty="0"/>
              <a:t>邻居，需采用</a:t>
            </a:r>
            <a:r>
              <a:rPr lang="en-US" altLang="zh-CN" dirty="0"/>
              <a:t>MP-IBGP</a:t>
            </a:r>
            <a:r>
              <a:rPr lang="zh-CN" altLang="en-US" dirty="0"/>
              <a:t>协议进行</a:t>
            </a:r>
            <a:r>
              <a:rPr lang="en-US" altLang="zh-CN" dirty="0"/>
              <a:t>VPN</a:t>
            </a:r>
            <a:r>
              <a:rPr lang="zh-CN" altLang="en-US" dirty="0"/>
              <a:t>私网路由的交换。</a:t>
            </a:r>
          </a:p>
          <a:p>
            <a:r>
              <a:rPr lang="en-US" altLang="zh-CN" dirty="0"/>
              <a:t>EBGP</a:t>
            </a:r>
            <a:r>
              <a:rPr lang="zh-CN" altLang="en-US" dirty="0"/>
              <a:t>：</a:t>
            </a:r>
            <a:r>
              <a:rPr lang="en-US" altLang="zh-CN" dirty="0"/>
              <a:t>PE</a:t>
            </a:r>
            <a:r>
              <a:rPr lang="zh-CN" altLang="en-US" dirty="0"/>
              <a:t>用接口</a:t>
            </a:r>
            <a:r>
              <a:rPr lang="en-US" altLang="zh-CN" dirty="0"/>
              <a:t>IP</a:t>
            </a:r>
            <a:r>
              <a:rPr lang="zh-CN" altLang="en-US" dirty="0"/>
              <a:t>和对应</a:t>
            </a:r>
            <a:r>
              <a:rPr lang="en-US" altLang="zh-CN" dirty="0"/>
              <a:t>CE</a:t>
            </a:r>
            <a:r>
              <a:rPr lang="zh-CN" altLang="en-US" dirty="0"/>
              <a:t>设备建立</a:t>
            </a:r>
            <a:r>
              <a:rPr lang="en-US" altLang="zh-CN" dirty="0"/>
              <a:t>EBGP</a:t>
            </a:r>
            <a:r>
              <a:rPr lang="zh-CN" altLang="en-US" dirty="0"/>
              <a:t>邻居，对于域间</a:t>
            </a:r>
            <a:r>
              <a:rPr lang="en-US" altLang="zh-CN" dirty="0"/>
              <a:t>VPN</a:t>
            </a:r>
            <a:r>
              <a:rPr lang="zh-CN" altLang="en-US" dirty="0"/>
              <a:t>路由交换场景一般采用</a:t>
            </a:r>
            <a:r>
              <a:rPr lang="en-US" altLang="zh-CN" dirty="0"/>
              <a:t>Option A</a:t>
            </a:r>
            <a:r>
              <a:rPr lang="zh-CN" altLang="en-US" dirty="0"/>
              <a:t>方式。</a:t>
            </a:r>
          </a:p>
          <a:p>
            <a:r>
              <a:rPr lang="en-US" altLang="zh-CN" dirty="0"/>
              <a:t>BGP-LS</a:t>
            </a:r>
            <a:r>
              <a:rPr lang="zh-CN" altLang="en-US" dirty="0"/>
              <a:t>：控制器和所有</a:t>
            </a:r>
            <a:r>
              <a:rPr lang="en-US" altLang="zh-CN" dirty="0"/>
              <a:t>RR</a:t>
            </a:r>
            <a:r>
              <a:rPr lang="zh-CN" altLang="en-US" dirty="0"/>
              <a:t>建立</a:t>
            </a:r>
            <a:r>
              <a:rPr lang="en-US" altLang="zh-CN" dirty="0"/>
              <a:t>BGP-LS</a:t>
            </a:r>
            <a:r>
              <a:rPr lang="zh-CN" altLang="en-US" dirty="0"/>
              <a:t>，收集骨干网内逻辑拓扑。</a:t>
            </a:r>
          </a:p>
          <a:p>
            <a:r>
              <a:rPr lang="zh-CN" altLang="en-US" dirty="0"/>
              <a:t>部署独立</a:t>
            </a:r>
            <a:r>
              <a:rPr lang="en-US" altLang="zh-CN" dirty="0"/>
              <a:t>RR</a:t>
            </a:r>
            <a:r>
              <a:rPr lang="zh-CN" altLang="en-US" dirty="0"/>
              <a:t>，建立骨干网内部的</a:t>
            </a:r>
            <a:r>
              <a:rPr lang="en-US" altLang="zh-CN" dirty="0"/>
              <a:t>IBGP</a:t>
            </a:r>
            <a:r>
              <a:rPr lang="zh-CN" altLang="en-US" dirty="0"/>
              <a:t>邻居关系。</a:t>
            </a:r>
          </a:p>
          <a:p>
            <a:r>
              <a:rPr lang="zh-CN" altLang="en-US" dirty="0"/>
              <a:t>承载网</a:t>
            </a:r>
            <a:r>
              <a:rPr lang="en-US" altLang="zh-CN" dirty="0"/>
              <a:t>PE</a:t>
            </a:r>
            <a:r>
              <a:rPr lang="zh-CN" altLang="en-US" dirty="0"/>
              <a:t>和</a:t>
            </a:r>
            <a:r>
              <a:rPr lang="en-US" altLang="zh-CN" dirty="0"/>
              <a:t>CE</a:t>
            </a:r>
            <a:r>
              <a:rPr lang="zh-CN" altLang="en-US" dirty="0"/>
              <a:t>之间除了可以采用</a:t>
            </a:r>
            <a:r>
              <a:rPr lang="en-US" altLang="zh-CN" dirty="0"/>
              <a:t>EBGP</a:t>
            </a:r>
            <a:r>
              <a:rPr lang="zh-CN" altLang="en-US" dirty="0"/>
              <a:t>协议外，还可以采用</a:t>
            </a:r>
            <a:r>
              <a:rPr lang="en-US" altLang="zh-CN" dirty="0"/>
              <a:t>OSPF</a:t>
            </a:r>
            <a:r>
              <a:rPr lang="zh-CN" altLang="en-US" dirty="0"/>
              <a:t>、</a:t>
            </a:r>
            <a:r>
              <a:rPr lang="en-US" altLang="zh-CN" dirty="0"/>
              <a:t>IS-IS</a:t>
            </a:r>
            <a:r>
              <a:rPr lang="zh-CN" altLang="en-US" dirty="0"/>
              <a:t>、</a:t>
            </a:r>
            <a:r>
              <a:rPr lang="en-US" altLang="zh-CN" dirty="0"/>
              <a:t>RIP</a:t>
            </a:r>
            <a:r>
              <a:rPr lang="zh-CN" altLang="en-US" dirty="0"/>
              <a:t>等</a:t>
            </a:r>
            <a:r>
              <a:rPr lang="en-US" altLang="zh-CN" dirty="0"/>
              <a:t>IGP</a:t>
            </a:r>
            <a:r>
              <a:rPr lang="zh-CN" altLang="en-US" dirty="0"/>
              <a:t>路由协议，也可以采用静态路由，来满足多种场景的灵活接入。</a:t>
            </a:r>
          </a:p>
        </p:txBody>
      </p:sp>
    </p:spTree>
    <p:extLst>
      <p:ext uri="{BB962C8B-B14F-4D97-AF65-F5344CB8AC3E}">
        <p14:creationId xmlns:p14="http://schemas.microsoft.com/office/powerpoint/2010/main" val="21880604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96990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altLang="zh-CN" dirty="0"/>
              <a:t>PE3</a:t>
            </a:r>
            <a:r>
              <a:rPr lang="zh-CN" altLang="en-US" dirty="0"/>
              <a:t>对于下一跳是</a:t>
            </a:r>
            <a:r>
              <a:rPr lang="en-US" altLang="zh-CN" dirty="0"/>
              <a:t>PE1</a:t>
            </a:r>
            <a:r>
              <a:rPr lang="zh-CN" altLang="en-US" dirty="0"/>
              <a:t>（即同平面</a:t>
            </a:r>
            <a:r>
              <a:rPr lang="en-US" altLang="zh-CN" dirty="0"/>
              <a:t>PE</a:t>
            </a:r>
            <a:r>
              <a:rPr lang="zh-CN" altLang="en-US" dirty="0"/>
              <a:t>）的路由</a:t>
            </a:r>
            <a:r>
              <a:rPr lang="en-US" altLang="zh-CN" dirty="0"/>
              <a:t>MED</a:t>
            </a:r>
            <a:r>
              <a:rPr lang="zh-CN" altLang="en-US" dirty="0"/>
              <a:t>值修改为</a:t>
            </a:r>
            <a:r>
              <a:rPr lang="en-US" altLang="zh-CN" dirty="0"/>
              <a:t>100</a:t>
            </a:r>
            <a:r>
              <a:rPr lang="zh-CN" altLang="en-US" dirty="0"/>
              <a:t>，</a:t>
            </a:r>
            <a:r>
              <a:rPr lang="en-US" altLang="zh-CN" dirty="0"/>
              <a:t>PE3</a:t>
            </a:r>
            <a:r>
              <a:rPr lang="zh-CN" altLang="en-US" dirty="0"/>
              <a:t>对于下一跳是</a:t>
            </a:r>
            <a:r>
              <a:rPr lang="en-US" altLang="zh-CN" dirty="0"/>
              <a:t>PE2</a:t>
            </a:r>
            <a:r>
              <a:rPr lang="zh-CN" altLang="en-US" dirty="0"/>
              <a:t>（即异平面</a:t>
            </a:r>
            <a:r>
              <a:rPr lang="en-US" altLang="zh-CN" dirty="0"/>
              <a:t>PE</a:t>
            </a:r>
            <a:r>
              <a:rPr lang="zh-CN" altLang="en-US" dirty="0"/>
              <a:t>）的路由</a:t>
            </a:r>
            <a:r>
              <a:rPr lang="en-US" altLang="zh-CN" dirty="0"/>
              <a:t>MED</a:t>
            </a:r>
            <a:r>
              <a:rPr lang="zh-CN" altLang="en-US" dirty="0"/>
              <a:t>值修改为</a:t>
            </a:r>
            <a:r>
              <a:rPr lang="en-US" altLang="zh-CN" dirty="0"/>
              <a:t>200</a:t>
            </a:r>
            <a:r>
              <a:rPr lang="zh-CN" altLang="en-US" dirty="0"/>
              <a:t>。</a:t>
            </a:r>
            <a:endParaRPr lang="en-US" altLang="zh-CN" dirty="0"/>
          </a:p>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PE4</a:t>
            </a:r>
            <a:r>
              <a:rPr lang="zh-CN" altLang="en-US" dirty="0"/>
              <a:t>对于下一跳是</a:t>
            </a:r>
            <a:r>
              <a:rPr lang="en-US" altLang="zh-CN" dirty="0"/>
              <a:t>PE2</a:t>
            </a:r>
            <a:r>
              <a:rPr lang="zh-CN" altLang="en-US" dirty="0"/>
              <a:t>（即同平面</a:t>
            </a:r>
            <a:r>
              <a:rPr lang="en-US" altLang="zh-CN" dirty="0"/>
              <a:t>PE</a:t>
            </a:r>
            <a:r>
              <a:rPr lang="zh-CN" altLang="en-US" dirty="0"/>
              <a:t>）的路由</a:t>
            </a:r>
            <a:r>
              <a:rPr lang="en-US" altLang="zh-CN" dirty="0"/>
              <a:t>MED</a:t>
            </a:r>
            <a:r>
              <a:rPr lang="zh-CN" altLang="en-US" dirty="0"/>
              <a:t>值修改为</a:t>
            </a:r>
            <a:r>
              <a:rPr lang="en-US" altLang="zh-CN" dirty="0"/>
              <a:t>100</a:t>
            </a:r>
            <a:r>
              <a:rPr lang="zh-CN" altLang="en-US" dirty="0"/>
              <a:t>，</a:t>
            </a:r>
            <a:r>
              <a:rPr lang="en-US" altLang="zh-CN" dirty="0"/>
              <a:t>PE4</a:t>
            </a:r>
            <a:r>
              <a:rPr lang="zh-CN" altLang="en-US" dirty="0"/>
              <a:t>对于下一跳是</a:t>
            </a:r>
            <a:r>
              <a:rPr lang="en-US" altLang="zh-CN" dirty="0"/>
              <a:t>PE1</a:t>
            </a:r>
            <a:r>
              <a:rPr lang="zh-CN" altLang="en-US" dirty="0"/>
              <a:t>（即异平面</a:t>
            </a:r>
            <a:r>
              <a:rPr lang="en-US" altLang="zh-CN" dirty="0"/>
              <a:t>PE</a:t>
            </a:r>
            <a:r>
              <a:rPr lang="zh-CN" altLang="en-US" dirty="0"/>
              <a:t>）的路由</a:t>
            </a:r>
            <a:r>
              <a:rPr lang="en-US" altLang="zh-CN" dirty="0"/>
              <a:t>MED</a:t>
            </a:r>
            <a:r>
              <a:rPr lang="zh-CN" altLang="en-US" dirty="0"/>
              <a:t>值修改为</a:t>
            </a:r>
            <a:r>
              <a:rPr lang="en-US" altLang="zh-CN" dirty="0"/>
              <a:t>200</a:t>
            </a:r>
            <a:r>
              <a:rPr lang="zh-CN" altLang="en-US" dirty="0"/>
              <a:t>。</a:t>
            </a:r>
            <a:endParaRPr lang="en-US" altLang="zh-CN" dirty="0"/>
          </a:p>
          <a:p>
            <a:r>
              <a:rPr lang="zh-CN" altLang="en-US" dirty="0"/>
              <a:t>如果左侧</a:t>
            </a:r>
            <a:r>
              <a:rPr lang="en-US" altLang="zh-CN" dirty="0"/>
              <a:t>PE1/PE2</a:t>
            </a:r>
            <a:r>
              <a:rPr lang="zh-CN" altLang="en-US" dirty="0"/>
              <a:t>学习到了同样的</a:t>
            </a:r>
            <a:r>
              <a:rPr lang="en-US" altLang="zh-CN" dirty="0"/>
              <a:t>VPN</a:t>
            </a:r>
            <a:r>
              <a:rPr lang="zh-CN" altLang="en-US" dirty="0"/>
              <a:t>路由，通过</a:t>
            </a:r>
            <a:r>
              <a:rPr lang="en-US" altLang="zh-CN" dirty="0"/>
              <a:t>RR</a:t>
            </a:r>
            <a:r>
              <a:rPr lang="zh-CN" altLang="en-US" dirty="0"/>
              <a:t>传递到右侧</a:t>
            </a:r>
            <a:r>
              <a:rPr lang="en-US" altLang="zh-CN" dirty="0"/>
              <a:t>PE3/PE4</a:t>
            </a:r>
            <a:r>
              <a:rPr lang="zh-CN" altLang="en-US" dirty="0"/>
              <a:t>后，右侧</a:t>
            </a:r>
            <a:r>
              <a:rPr lang="en-US" altLang="zh-CN" dirty="0"/>
              <a:t>PE3/PE4</a:t>
            </a:r>
            <a:r>
              <a:rPr lang="zh-CN" altLang="en-US" dirty="0"/>
              <a:t>会优选同平面的</a:t>
            </a:r>
            <a:r>
              <a:rPr lang="en-US" altLang="zh-CN" dirty="0"/>
              <a:t>VPN</a:t>
            </a:r>
            <a:r>
              <a:rPr lang="zh-CN" altLang="en-US" dirty="0"/>
              <a:t>路由。再传递给</a:t>
            </a:r>
            <a:r>
              <a:rPr lang="en-US" altLang="zh-CN" dirty="0"/>
              <a:t>CE</a:t>
            </a:r>
            <a:r>
              <a:rPr lang="zh-CN" altLang="en-US" dirty="0"/>
              <a:t>时，因为</a:t>
            </a:r>
            <a:r>
              <a:rPr lang="en-US" altLang="zh-CN" dirty="0"/>
              <a:t>PE3</a:t>
            </a:r>
            <a:r>
              <a:rPr lang="zh-CN" altLang="en-US" dirty="0"/>
              <a:t>传递的路由</a:t>
            </a:r>
            <a:r>
              <a:rPr lang="en-US" altLang="zh-CN" dirty="0"/>
              <a:t>MED+10</a:t>
            </a:r>
            <a:r>
              <a:rPr lang="zh-CN" altLang="en-US" dirty="0"/>
              <a:t>更优，</a:t>
            </a:r>
            <a:r>
              <a:rPr lang="en-US" altLang="zh-CN" dirty="0"/>
              <a:t>CE</a:t>
            </a:r>
            <a:r>
              <a:rPr lang="zh-CN" altLang="en-US" dirty="0"/>
              <a:t>的流量通过</a:t>
            </a:r>
            <a:r>
              <a:rPr lang="en-US" altLang="zh-CN" dirty="0"/>
              <a:t>MED</a:t>
            </a:r>
            <a:r>
              <a:rPr lang="zh-CN" altLang="en-US" dirty="0"/>
              <a:t>比较优选</a:t>
            </a:r>
            <a:r>
              <a:rPr lang="en-US" altLang="zh-CN" dirty="0"/>
              <a:t>PE3</a:t>
            </a:r>
            <a:r>
              <a:rPr lang="zh-CN" altLang="en-US" dirty="0"/>
              <a:t>。</a:t>
            </a:r>
            <a:endParaRPr lang="en-US" dirty="0"/>
          </a:p>
        </p:txBody>
      </p:sp>
    </p:spTree>
    <p:extLst>
      <p:ext uri="{BB962C8B-B14F-4D97-AF65-F5344CB8AC3E}">
        <p14:creationId xmlns:p14="http://schemas.microsoft.com/office/powerpoint/2010/main" val="32582912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518502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76126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660789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122252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49475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本质上</a:t>
            </a:r>
            <a:r>
              <a:rPr lang="en-US" altLang="zh-CN"/>
              <a:t>MPLS</a:t>
            </a:r>
            <a:r>
              <a:rPr lang="zh-CN" altLang="en-US"/>
              <a:t>仅是指导数据转发的隧道技术，有完整的隧道创建、隧道管理和维护机制。以上机制都是由网络运营和管理角度驱动的需求，不是由应用角度驱动网络的需求。</a:t>
            </a:r>
          </a:p>
          <a:p>
            <a:endParaRPr lang="zh-CN" altLang="en-US" dirty="0"/>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12801332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23900" y="723900"/>
            <a:ext cx="5600700" cy="31511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1753409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1442546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基于</a:t>
            </a:r>
            <a:r>
              <a:rPr lang="en-US" altLang="zh-CN" dirty="0"/>
              <a:t>SR-MPLS BE</a:t>
            </a:r>
            <a:r>
              <a:rPr lang="zh-CN" altLang="en-US" dirty="0"/>
              <a:t>承载</a:t>
            </a:r>
            <a:r>
              <a:rPr lang="en-US" altLang="zh-CN" dirty="0"/>
              <a:t>VPN</a:t>
            </a:r>
            <a:r>
              <a:rPr lang="zh-CN" altLang="en-US" dirty="0"/>
              <a:t>流量时，转发过程与基于</a:t>
            </a:r>
            <a:r>
              <a:rPr lang="en-US" altLang="zh-CN" dirty="0"/>
              <a:t>LDP</a:t>
            </a:r>
            <a:r>
              <a:rPr lang="zh-CN" altLang="en-US" dirty="0"/>
              <a:t>的</a:t>
            </a:r>
            <a:r>
              <a:rPr lang="en-US" altLang="zh-CN" dirty="0"/>
              <a:t>BGP/MPLS IP VPN</a:t>
            </a:r>
            <a:r>
              <a:rPr lang="zh-CN" altLang="en-US" dirty="0"/>
              <a:t>数据转发类似。</a:t>
            </a:r>
            <a:endParaRPr lang="en-US" altLang="zh-CN" dirty="0"/>
          </a:p>
          <a:p>
            <a:pPr lvl="1"/>
            <a:r>
              <a:rPr lang="en-US" dirty="0"/>
              <a:t>PE1</a:t>
            </a:r>
            <a:r>
              <a:rPr lang="zh-CN" altLang="en-US" dirty="0"/>
              <a:t>收到</a:t>
            </a:r>
            <a:r>
              <a:rPr lang="en-US" altLang="zh-CN" dirty="0"/>
              <a:t>CE1</a:t>
            </a:r>
            <a:r>
              <a:rPr lang="zh-CN" altLang="en-US" dirty="0"/>
              <a:t>发来的</a:t>
            </a:r>
            <a:r>
              <a:rPr lang="en-US" altLang="zh-CN" dirty="0"/>
              <a:t>VPN</a:t>
            </a:r>
            <a:r>
              <a:rPr lang="zh-CN" altLang="en-US" dirty="0"/>
              <a:t>数据后，</a:t>
            </a:r>
            <a:r>
              <a:rPr lang="en-US" altLang="zh-CN" dirty="0"/>
              <a:t>PE1</a:t>
            </a:r>
            <a:r>
              <a:rPr lang="zh-CN" altLang="en-US" dirty="0"/>
              <a:t>查表并</a:t>
            </a:r>
            <a:r>
              <a:rPr lang="en-US" altLang="zh-CN" dirty="0"/>
              <a:t>Push</a:t>
            </a:r>
            <a:r>
              <a:rPr lang="zh-CN" altLang="en-US" dirty="0"/>
              <a:t>上两层标签，外层为公网标签，内层为私网标签。</a:t>
            </a:r>
            <a:endParaRPr lang="en-US" altLang="zh-CN" dirty="0"/>
          </a:p>
          <a:p>
            <a:pPr lvl="1"/>
            <a:r>
              <a:rPr lang="en-US" dirty="0"/>
              <a:t>PE1</a:t>
            </a:r>
            <a:r>
              <a:rPr lang="zh-CN" altLang="en-US" dirty="0"/>
              <a:t>将数据发往</a:t>
            </a:r>
            <a:r>
              <a:rPr lang="en-US" altLang="zh-CN" dirty="0"/>
              <a:t>P1</a:t>
            </a:r>
            <a:r>
              <a:rPr lang="zh-CN" altLang="en-US" dirty="0"/>
              <a:t>，</a:t>
            </a:r>
            <a:r>
              <a:rPr lang="en-US" altLang="zh-CN" dirty="0"/>
              <a:t>P1</a:t>
            </a:r>
            <a:r>
              <a:rPr lang="zh-CN" altLang="en-US" dirty="0"/>
              <a:t>基于</a:t>
            </a:r>
            <a:r>
              <a:rPr lang="en-US" altLang="zh-CN" dirty="0"/>
              <a:t>SR-MPLS BE</a:t>
            </a:r>
            <a:r>
              <a:rPr lang="zh-CN" altLang="en-US" dirty="0"/>
              <a:t>形成的隧道表项</a:t>
            </a:r>
            <a:r>
              <a:rPr lang="en-US" altLang="zh-CN" dirty="0"/>
              <a:t>Swap</a:t>
            </a:r>
            <a:r>
              <a:rPr lang="zh-CN" altLang="en-US" dirty="0"/>
              <a:t>外层标签，并发往</a:t>
            </a:r>
            <a:r>
              <a:rPr lang="en-US" altLang="zh-CN" dirty="0"/>
              <a:t>P2</a:t>
            </a:r>
            <a:r>
              <a:rPr lang="zh-CN" altLang="en-US" dirty="0"/>
              <a:t>，</a:t>
            </a:r>
            <a:r>
              <a:rPr lang="en-US" altLang="zh-CN" dirty="0"/>
              <a:t>P2</a:t>
            </a:r>
            <a:r>
              <a:rPr lang="zh-CN" altLang="en-US" dirty="0"/>
              <a:t>处理流程类似。</a:t>
            </a:r>
            <a:endParaRPr lang="en-US" altLang="zh-CN" dirty="0"/>
          </a:p>
          <a:p>
            <a:pPr lvl="1"/>
            <a:r>
              <a:rPr lang="en-US" dirty="0"/>
              <a:t>PE2</a:t>
            </a:r>
            <a:r>
              <a:rPr lang="zh-CN" altLang="en-US" dirty="0"/>
              <a:t>收到数据后（不考虑</a:t>
            </a:r>
            <a:r>
              <a:rPr lang="en-US" altLang="zh-CN" dirty="0"/>
              <a:t>PHP</a:t>
            </a:r>
            <a:r>
              <a:rPr lang="zh-CN" altLang="en-US" dirty="0"/>
              <a:t>），根据内层标签将</a:t>
            </a:r>
            <a:r>
              <a:rPr lang="en-US" altLang="zh-CN" dirty="0"/>
              <a:t>VPN</a:t>
            </a:r>
            <a:r>
              <a:rPr lang="zh-CN" altLang="en-US" dirty="0"/>
              <a:t>数据发往特定的</a:t>
            </a:r>
            <a:r>
              <a:rPr lang="en-US" altLang="zh-CN" dirty="0"/>
              <a:t>VPN</a:t>
            </a:r>
            <a:r>
              <a:rPr lang="zh-CN" altLang="en-US" dirty="0"/>
              <a:t>站点。</a:t>
            </a:r>
            <a:endParaRPr lang="en-US" altLang="zh-CN" dirty="0"/>
          </a:p>
          <a:p>
            <a:r>
              <a:rPr lang="zh-CN" altLang="en-US" dirty="0"/>
              <a:t>基于</a:t>
            </a:r>
            <a:r>
              <a:rPr lang="en-US" altLang="zh-CN" dirty="0"/>
              <a:t>SR-MPLS Policy</a:t>
            </a:r>
            <a:r>
              <a:rPr lang="zh-CN" altLang="en-US" dirty="0"/>
              <a:t>承载</a:t>
            </a:r>
            <a:r>
              <a:rPr lang="en-US" altLang="zh-CN" dirty="0"/>
              <a:t>VPN</a:t>
            </a:r>
            <a:r>
              <a:rPr lang="zh-CN" altLang="en-US" dirty="0"/>
              <a:t>流量时，需要预先计算好转发路径，并将转发路径（</a:t>
            </a:r>
            <a:r>
              <a:rPr lang="en-US" altLang="zh-CN" dirty="0"/>
              <a:t>Segment List</a:t>
            </a:r>
            <a:r>
              <a:rPr lang="zh-CN" altLang="en-US" dirty="0"/>
              <a:t>）下发给头节点（</a:t>
            </a:r>
            <a:r>
              <a:rPr lang="en-US" altLang="zh-CN" dirty="0"/>
              <a:t>PE1</a:t>
            </a:r>
            <a:r>
              <a:rPr lang="zh-CN" altLang="en-US" dirty="0"/>
              <a:t>）。</a:t>
            </a:r>
            <a:endParaRPr lang="en-US" altLang="zh-CN" dirty="0"/>
          </a:p>
          <a:p>
            <a:pPr lvl="1"/>
            <a:r>
              <a:rPr lang="en-US" dirty="0"/>
              <a:t>PE1</a:t>
            </a:r>
            <a:r>
              <a:rPr lang="zh-CN" altLang="en-US" dirty="0"/>
              <a:t>收到</a:t>
            </a:r>
            <a:r>
              <a:rPr lang="en-US" altLang="zh-CN" dirty="0"/>
              <a:t>CE1</a:t>
            </a:r>
            <a:r>
              <a:rPr lang="zh-CN" altLang="en-US" dirty="0"/>
              <a:t>发来的</a:t>
            </a:r>
            <a:r>
              <a:rPr lang="en-US" altLang="zh-CN" dirty="0"/>
              <a:t>VPN</a:t>
            </a:r>
            <a:r>
              <a:rPr lang="zh-CN" altLang="en-US" dirty="0"/>
              <a:t>数据后，</a:t>
            </a:r>
            <a:r>
              <a:rPr lang="en-US" altLang="zh-CN" dirty="0"/>
              <a:t>PE1</a:t>
            </a:r>
            <a:r>
              <a:rPr lang="zh-CN" altLang="en-US" dirty="0"/>
              <a:t>查表并</a:t>
            </a:r>
            <a:r>
              <a:rPr lang="en-US" altLang="zh-CN" dirty="0"/>
              <a:t>PUSH</a:t>
            </a:r>
            <a:r>
              <a:rPr lang="zh-CN" altLang="en-US" dirty="0"/>
              <a:t>上对应的</a:t>
            </a:r>
            <a:r>
              <a:rPr lang="en-US" altLang="zh-CN" dirty="0"/>
              <a:t>Segment List</a:t>
            </a:r>
            <a:r>
              <a:rPr lang="zh-CN" altLang="en-US" dirty="0"/>
              <a:t>。</a:t>
            </a:r>
            <a:endParaRPr lang="en-US" altLang="zh-CN" dirty="0"/>
          </a:p>
          <a:p>
            <a:pPr lvl="1"/>
            <a:r>
              <a:rPr lang="en-US" dirty="0"/>
              <a:t>PE1</a:t>
            </a:r>
            <a:r>
              <a:rPr lang="zh-CN" altLang="en-US" dirty="0"/>
              <a:t>将数据发往</a:t>
            </a:r>
            <a:r>
              <a:rPr lang="en-US" altLang="zh-CN" dirty="0"/>
              <a:t>P1</a:t>
            </a:r>
            <a:r>
              <a:rPr lang="zh-CN" altLang="en-US" dirty="0"/>
              <a:t>，</a:t>
            </a:r>
            <a:r>
              <a:rPr lang="en-US" altLang="zh-CN" dirty="0"/>
              <a:t>P1</a:t>
            </a:r>
            <a:r>
              <a:rPr lang="zh-CN" altLang="en-US" dirty="0"/>
              <a:t>根据最外层标签决定转发路径，</a:t>
            </a:r>
            <a:r>
              <a:rPr lang="en-US" altLang="zh-CN" dirty="0"/>
              <a:t>Pop</a:t>
            </a:r>
            <a:r>
              <a:rPr lang="zh-CN" altLang="en-US" dirty="0"/>
              <a:t>最外层标签并发往</a:t>
            </a:r>
            <a:r>
              <a:rPr lang="en-US" altLang="zh-CN" dirty="0"/>
              <a:t>P2</a:t>
            </a:r>
            <a:r>
              <a:rPr lang="zh-CN" altLang="en-US" dirty="0"/>
              <a:t>。</a:t>
            </a:r>
            <a:endParaRPr lang="en-US" altLang="zh-CN" dirty="0"/>
          </a:p>
          <a:p>
            <a:pPr lvl="1"/>
            <a:r>
              <a:rPr lang="en-US" dirty="0"/>
              <a:t>P2</a:t>
            </a:r>
            <a:r>
              <a:rPr lang="zh-CN" altLang="en-US" dirty="0"/>
              <a:t>收到数据后，</a:t>
            </a:r>
            <a:r>
              <a:rPr lang="en-US" altLang="zh-CN" dirty="0"/>
              <a:t>P2</a:t>
            </a:r>
            <a:r>
              <a:rPr lang="zh-CN" altLang="en-US" dirty="0"/>
              <a:t>根据最外层标签决定转发路径，</a:t>
            </a:r>
            <a:r>
              <a:rPr lang="en-US" altLang="zh-CN" dirty="0"/>
              <a:t>Pop</a:t>
            </a:r>
            <a:r>
              <a:rPr lang="zh-CN" altLang="en-US" dirty="0"/>
              <a:t>最外层标签并发往</a:t>
            </a:r>
            <a:r>
              <a:rPr lang="en-US" altLang="zh-CN" dirty="0"/>
              <a:t>PE2</a:t>
            </a:r>
            <a:r>
              <a:rPr lang="zh-CN" altLang="en-US" dirty="0"/>
              <a:t>。</a:t>
            </a:r>
            <a:endParaRPr lang="en-US" altLang="zh-CN" dirty="0"/>
          </a:p>
          <a:p>
            <a:pPr lvl="1"/>
            <a:r>
              <a:rPr lang="en-US" dirty="0"/>
              <a:t>PE2</a:t>
            </a:r>
            <a:r>
              <a:rPr lang="zh-CN" altLang="en-US" dirty="0"/>
              <a:t>根据最内层标签将</a:t>
            </a:r>
            <a:r>
              <a:rPr lang="en-US" altLang="zh-CN" dirty="0"/>
              <a:t>VPN</a:t>
            </a:r>
            <a:r>
              <a:rPr lang="zh-CN" altLang="en-US" dirty="0"/>
              <a:t>数据发往特定的</a:t>
            </a:r>
            <a:r>
              <a:rPr lang="en-US" altLang="zh-CN" dirty="0"/>
              <a:t>VPN</a:t>
            </a:r>
            <a:r>
              <a:rPr lang="zh-CN" altLang="en-US" dirty="0"/>
              <a:t>站点。</a:t>
            </a:r>
            <a:endParaRPr lang="en-US" dirty="0"/>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17529284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37662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基于</a:t>
            </a:r>
            <a:r>
              <a:rPr lang="en-US" altLang="zh-CN" dirty="0"/>
              <a:t>SRv6 BE</a:t>
            </a:r>
            <a:r>
              <a:rPr lang="zh-CN" altLang="en-US" dirty="0"/>
              <a:t>承载</a:t>
            </a:r>
            <a:r>
              <a:rPr lang="en-US" altLang="zh-CN" dirty="0"/>
              <a:t>VPN</a:t>
            </a:r>
            <a:r>
              <a:rPr lang="zh-CN" altLang="en-US" dirty="0"/>
              <a:t>流量时，数据携带两层</a:t>
            </a:r>
            <a:r>
              <a:rPr lang="en-US" altLang="zh-CN" dirty="0"/>
              <a:t>IPv6</a:t>
            </a:r>
            <a:r>
              <a:rPr lang="zh-CN" altLang="en-US" dirty="0"/>
              <a:t>头部，外部</a:t>
            </a:r>
            <a:r>
              <a:rPr lang="en-US" altLang="zh-CN" dirty="0"/>
              <a:t>IPv6</a:t>
            </a:r>
            <a:r>
              <a:rPr lang="zh-CN" altLang="en-US" dirty="0"/>
              <a:t>头部地址作用是标识数据所属</a:t>
            </a:r>
            <a:r>
              <a:rPr lang="en-US" altLang="zh-CN" dirty="0"/>
              <a:t>VPN</a:t>
            </a:r>
            <a:r>
              <a:rPr lang="zh-CN" altLang="en-US" dirty="0"/>
              <a:t>，内部</a:t>
            </a:r>
            <a:r>
              <a:rPr lang="en-US" altLang="zh-CN" dirty="0"/>
              <a:t>IPv6</a:t>
            </a:r>
            <a:r>
              <a:rPr lang="zh-CN" altLang="en-US" dirty="0"/>
              <a:t>头部标识数据真正的目的地址。</a:t>
            </a:r>
            <a:endParaRPr lang="en-US" altLang="zh-CN" dirty="0"/>
          </a:p>
          <a:p>
            <a:pPr lvl="1"/>
            <a:r>
              <a:rPr lang="zh-CN" altLang="en-US" dirty="0"/>
              <a:t>外部</a:t>
            </a:r>
            <a:r>
              <a:rPr lang="en-US" altLang="zh-CN" dirty="0"/>
              <a:t>IPv6</a:t>
            </a:r>
            <a:r>
              <a:rPr lang="zh-CN" altLang="en-US" dirty="0"/>
              <a:t>地址由</a:t>
            </a:r>
            <a:r>
              <a:rPr lang="en-US" altLang="zh-CN" dirty="0"/>
              <a:t>PE2</a:t>
            </a:r>
            <a:r>
              <a:rPr lang="zh-CN" altLang="en-US" dirty="0"/>
              <a:t>的</a:t>
            </a:r>
            <a:r>
              <a:rPr lang="en-US" altLang="zh-CN" dirty="0"/>
              <a:t>Locator</a:t>
            </a:r>
            <a:r>
              <a:rPr lang="zh-CN" altLang="en-US" dirty="0"/>
              <a:t>产生，并通过</a:t>
            </a:r>
            <a:r>
              <a:rPr lang="en-US" altLang="zh-CN" dirty="0"/>
              <a:t>BGP</a:t>
            </a:r>
            <a:r>
              <a:rPr lang="zh-CN" altLang="en-US" dirty="0"/>
              <a:t>告知</a:t>
            </a:r>
            <a:r>
              <a:rPr lang="en-US" altLang="zh-CN" dirty="0"/>
              <a:t>PE1</a:t>
            </a:r>
            <a:r>
              <a:rPr lang="zh-CN" altLang="en-US" dirty="0"/>
              <a:t>，同时</a:t>
            </a:r>
            <a:r>
              <a:rPr lang="en-US" altLang="zh-CN" dirty="0"/>
              <a:t>PE2</a:t>
            </a:r>
            <a:r>
              <a:rPr lang="zh-CN" altLang="en-US" dirty="0"/>
              <a:t>会将该</a:t>
            </a:r>
            <a:r>
              <a:rPr lang="en-US" altLang="zh-CN" dirty="0"/>
              <a:t>Locator</a:t>
            </a:r>
            <a:r>
              <a:rPr lang="zh-CN" altLang="en-US" dirty="0"/>
              <a:t>以路由的形式发布给别的设备。</a:t>
            </a:r>
            <a:endParaRPr lang="en-US" altLang="zh-CN" dirty="0"/>
          </a:p>
          <a:p>
            <a:pPr lvl="1"/>
            <a:r>
              <a:rPr lang="en-US" dirty="0"/>
              <a:t>PE1</a:t>
            </a:r>
            <a:r>
              <a:rPr lang="zh-CN" altLang="en-US" dirty="0"/>
              <a:t>收到去往目标网段（</a:t>
            </a:r>
            <a:r>
              <a:rPr lang="en-US" altLang="zh-CN" dirty="0"/>
              <a:t>2001:: 64</a:t>
            </a:r>
            <a:r>
              <a:rPr lang="zh-CN" altLang="en-US" dirty="0"/>
              <a:t>）的数据会被封装上外部</a:t>
            </a:r>
            <a:r>
              <a:rPr lang="en-US" altLang="zh-CN" dirty="0"/>
              <a:t>IPv6</a:t>
            </a:r>
            <a:r>
              <a:rPr lang="zh-CN" altLang="en-US" dirty="0"/>
              <a:t>头部，并查表转发。</a:t>
            </a:r>
            <a:endParaRPr lang="en-US" altLang="zh-CN" dirty="0"/>
          </a:p>
          <a:p>
            <a:pPr lvl="1"/>
            <a:r>
              <a:rPr lang="en-US" dirty="0"/>
              <a:t>P</a:t>
            </a:r>
            <a:r>
              <a:rPr lang="zh-CN" altLang="en-US" dirty="0"/>
              <a:t>设备（</a:t>
            </a:r>
            <a:r>
              <a:rPr lang="en-US" altLang="zh-CN" dirty="0"/>
              <a:t>P1</a:t>
            </a:r>
            <a:r>
              <a:rPr lang="zh-CN" altLang="en-US" dirty="0"/>
              <a:t>，</a:t>
            </a:r>
            <a:r>
              <a:rPr lang="en-US" altLang="zh-CN" dirty="0"/>
              <a:t>P2</a:t>
            </a:r>
            <a:r>
              <a:rPr lang="zh-CN" altLang="en-US" dirty="0"/>
              <a:t>）根据外部</a:t>
            </a:r>
            <a:r>
              <a:rPr lang="en-US" altLang="zh-CN" dirty="0"/>
              <a:t>IPv6</a:t>
            </a:r>
            <a:r>
              <a:rPr lang="zh-CN" altLang="en-US" dirty="0"/>
              <a:t>头部转发数据。</a:t>
            </a:r>
            <a:endParaRPr lang="en-US" altLang="zh-CN" dirty="0"/>
          </a:p>
          <a:p>
            <a:pPr lvl="1"/>
            <a:r>
              <a:rPr lang="en-US" dirty="0"/>
              <a:t>PE2</a:t>
            </a:r>
            <a:r>
              <a:rPr lang="zh-CN" altLang="en-US" dirty="0"/>
              <a:t>收到数据后根据外部</a:t>
            </a:r>
            <a:r>
              <a:rPr lang="en-US" altLang="zh-CN" dirty="0"/>
              <a:t>IPv6</a:t>
            </a:r>
            <a:r>
              <a:rPr lang="zh-CN" altLang="en-US" dirty="0"/>
              <a:t>头部匹配对应的</a:t>
            </a:r>
            <a:r>
              <a:rPr lang="en-US" altLang="zh-CN" dirty="0"/>
              <a:t>VPN</a:t>
            </a:r>
            <a:r>
              <a:rPr lang="zh-CN" altLang="en-US" dirty="0"/>
              <a:t>实例，并查表转发。</a:t>
            </a:r>
            <a:endParaRPr lang="en-US" altLang="zh-CN" dirty="0"/>
          </a:p>
          <a:p>
            <a:r>
              <a:rPr lang="zh-CN" altLang="en-US" dirty="0"/>
              <a:t>基于</a:t>
            </a:r>
            <a:r>
              <a:rPr lang="en-US" altLang="zh-CN" dirty="0"/>
              <a:t>SRv6 Policy</a:t>
            </a:r>
            <a:r>
              <a:rPr lang="zh-CN" altLang="en-US" dirty="0"/>
              <a:t>承载</a:t>
            </a:r>
            <a:r>
              <a:rPr lang="en-US" altLang="zh-CN" dirty="0"/>
              <a:t>VPN</a:t>
            </a:r>
            <a:r>
              <a:rPr lang="zh-CN" altLang="en-US" dirty="0"/>
              <a:t>流量时，数据携带两层</a:t>
            </a:r>
            <a:r>
              <a:rPr lang="en-US" altLang="zh-CN" dirty="0"/>
              <a:t>IPv6</a:t>
            </a:r>
            <a:r>
              <a:rPr lang="zh-CN" altLang="en-US" dirty="0"/>
              <a:t>头部，外部</a:t>
            </a:r>
            <a:r>
              <a:rPr lang="en-US" altLang="zh-CN" dirty="0"/>
              <a:t>IPv6</a:t>
            </a:r>
            <a:r>
              <a:rPr lang="zh-CN" altLang="en-US" dirty="0"/>
              <a:t>头部地址会基于</a:t>
            </a:r>
            <a:r>
              <a:rPr lang="en-US" altLang="zh-CN" dirty="0"/>
              <a:t>SRH</a:t>
            </a:r>
            <a:r>
              <a:rPr lang="zh-CN" altLang="en-US" dirty="0"/>
              <a:t>信息每过一跳替换，内部</a:t>
            </a:r>
            <a:r>
              <a:rPr lang="en-US" altLang="zh-CN" dirty="0"/>
              <a:t>IPv6</a:t>
            </a:r>
            <a:r>
              <a:rPr lang="zh-CN" altLang="en-US" dirty="0"/>
              <a:t>头部标识数据真正的目标地址。</a:t>
            </a:r>
            <a:endParaRPr lang="en-US" altLang="zh-CN" dirty="0"/>
          </a:p>
          <a:p>
            <a:pPr lvl="1"/>
            <a:r>
              <a:rPr lang="en-US" altLang="zh-CN" dirty="0"/>
              <a:t>PE1</a:t>
            </a:r>
            <a:r>
              <a:rPr lang="zh-CN" altLang="en-US" dirty="0"/>
              <a:t>收到去往特定地址（</a:t>
            </a:r>
            <a:r>
              <a:rPr lang="en-US" altLang="zh-CN" dirty="0"/>
              <a:t>2001:: 64</a:t>
            </a:r>
            <a:r>
              <a:rPr lang="zh-CN" altLang="en-US" dirty="0"/>
              <a:t>）的的数据后，查表打上外部</a:t>
            </a:r>
            <a:r>
              <a:rPr lang="en-US" altLang="zh-CN" dirty="0"/>
              <a:t>IPv6</a:t>
            </a:r>
            <a:r>
              <a:rPr lang="zh-CN" altLang="en-US" dirty="0"/>
              <a:t>头部（包含</a:t>
            </a:r>
            <a:r>
              <a:rPr lang="en-US" altLang="zh-CN" dirty="0"/>
              <a:t>SRH</a:t>
            </a:r>
            <a:r>
              <a:rPr lang="zh-CN" altLang="en-US" dirty="0"/>
              <a:t>），并根据头部发往下一跳。</a:t>
            </a:r>
            <a:endParaRPr lang="en-US" altLang="zh-CN" dirty="0"/>
          </a:p>
          <a:p>
            <a:pPr lvl="1"/>
            <a:r>
              <a:rPr lang="en-US" altLang="zh-CN" dirty="0"/>
              <a:t>P1</a:t>
            </a:r>
            <a:r>
              <a:rPr lang="zh-CN" altLang="en-US" dirty="0"/>
              <a:t>收到后会根据</a:t>
            </a:r>
            <a:r>
              <a:rPr lang="en-US" altLang="zh-CN" dirty="0"/>
              <a:t>SRH</a:t>
            </a:r>
            <a:r>
              <a:rPr lang="zh-CN" altLang="en-US" dirty="0"/>
              <a:t>信息替换外部</a:t>
            </a:r>
            <a:r>
              <a:rPr lang="en-US" altLang="zh-CN" dirty="0"/>
              <a:t>IPv6</a:t>
            </a:r>
            <a:r>
              <a:rPr lang="zh-CN" altLang="en-US" dirty="0"/>
              <a:t>头部，并继续转发，</a:t>
            </a:r>
            <a:r>
              <a:rPr lang="en-US" altLang="zh-CN" dirty="0"/>
              <a:t>P2</a:t>
            </a:r>
            <a:r>
              <a:rPr lang="zh-CN" altLang="en-US" dirty="0"/>
              <a:t>处理方式类似。</a:t>
            </a:r>
            <a:endParaRPr lang="en-US" altLang="zh-CN" dirty="0"/>
          </a:p>
          <a:p>
            <a:pPr lvl="1"/>
            <a:r>
              <a:rPr lang="en-US" altLang="zh-CN" dirty="0"/>
              <a:t>PE2</a:t>
            </a:r>
            <a:r>
              <a:rPr lang="zh-CN" altLang="en-US" dirty="0"/>
              <a:t>收到数据后根据最外层</a:t>
            </a:r>
            <a:r>
              <a:rPr lang="en-US" altLang="zh-CN" dirty="0"/>
              <a:t>IPv6</a:t>
            </a:r>
            <a:r>
              <a:rPr lang="zh-CN" altLang="en-US" dirty="0"/>
              <a:t>头部决定数据属于哪个</a:t>
            </a:r>
            <a:r>
              <a:rPr lang="en-US" altLang="zh-CN" dirty="0"/>
              <a:t>VPN</a:t>
            </a:r>
            <a:r>
              <a:rPr lang="zh-CN" altLang="en-US" dirty="0"/>
              <a:t>，并查表转发。</a:t>
            </a:r>
            <a:endParaRPr lang="en-US" altLang="zh-CN" dirty="0"/>
          </a:p>
        </p:txBody>
      </p:sp>
    </p:spTree>
    <p:extLst>
      <p:ext uri="{BB962C8B-B14F-4D97-AF65-F5344CB8AC3E}">
        <p14:creationId xmlns:p14="http://schemas.microsoft.com/office/powerpoint/2010/main" val="23463941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dirty="0"/>
              <a:t>SR-MPLS BE</a:t>
            </a:r>
            <a:r>
              <a:rPr lang="zh-CN" altLang="en-US" dirty="0"/>
              <a:t>隧道与</a:t>
            </a:r>
            <a:r>
              <a:rPr lang="en-US" altLang="zh-CN" dirty="0"/>
              <a:t>LDP</a:t>
            </a:r>
            <a:r>
              <a:rPr lang="zh-CN" altLang="en-US" dirty="0"/>
              <a:t>类似，隧道建立依赖</a:t>
            </a:r>
            <a:r>
              <a:rPr lang="en-US" altLang="zh-CN" dirty="0"/>
              <a:t>IGP</a:t>
            </a:r>
            <a:r>
              <a:rPr lang="zh-CN" altLang="en-US" dirty="0"/>
              <a:t>，因此</a:t>
            </a:r>
            <a:r>
              <a:rPr lang="en-US" altLang="zh-CN" dirty="0"/>
              <a:t>IGP</a:t>
            </a:r>
            <a:r>
              <a:rPr lang="zh-CN" altLang="en-US" dirty="0"/>
              <a:t>设计完成后，</a:t>
            </a:r>
            <a:r>
              <a:rPr lang="en-US" altLang="zh-CN" dirty="0"/>
              <a:t>SR-MPLS BE</a:t>
            </a:r>
            <a:r>
              <a:rPr lang="zh-CN" altLang="en-US" dirty="0"/>
              <a:t>的设计就已经完成。</a:t>
            </a:r>
            <a:endParaRPr lang="en-US" altLang="zh-CN" dirty="0"/>
          </a:p>
          <a:p>
            <a:r>
              <a:rPr lang="zh-CN" altLang="en-US" dirty="0"/>
              <a:t>本章节主要考虑</a:t>
            </a:r>
            <a:r>
              <a:rPr lang="en-US" altLang="zh-CN" dirty="0"/>
              <a:t>SR-MPLS Policy</a:t>
            </a:r>
            <a:r>
              <a:rPr lang="zh-CN" altLang="en-US" dirty="0"/>
              <a:t>的设计方式。</a:t>
            </a:r>
            <a:endParaRPr lang="en-US" altLang="zh-CN" dirty="0"/>
          </a:p>
        </p:txBody>
      </p:sp>
    </p:spTree>
    <p:extLst>
      <p:ext uri="{BB962C8B-B14F-4D97-AF65-F5344CB8AC3E}">
        <p14:creationId xmlns:p14="http://schemas.microsoft.com/office/powerpoint/2010/main" val="4165031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端到端部署的特点：</a:t>
            </a:r>
          </a:p>
          <a:p>
            <a:pPr lvl="1"/>
            <a:r>
              <a:rPr lang="zh-CN" altLang="en-US" dirty="0"/>
              <a:t>路径控制力强，可以规划端到端的路径（尤其是显式路径的控制上）。</a:t>
            </a:r>
          </a:p>
          <a:p>
            <a:pPr lvl="1"/>
            <a:r>
              <a:rPr lang="zh-CN" altLang="en-US" dirty="0"/>
              <a:t>路径可视化相对比较好。</a:t>
            </a:r>
          </a:p>
          <a:p>
            <a:pPr lvl="1"/>
            <a:r>
              <a:rPr lang="zh-CN" altLang="en-US" dirty="0"/>
              <a:t>隧道数量多，在网络规模比较大时（如有多个数据中心和几十家分支的情况），需要的</a:t>
            </a:r>
            <a:r>
              <a:rPr lang="en-US" altLang="zh-CN" dirty="0"/>
              <a:t>TE</a:t>
            </a:r>
            <a:r>
              <a:rPr lang="zh-CN" altLang="en-US" dirty="0"/>
              <a:t>隧道数量</a:t>
            </a:r>
            <a:r>
              <a:rPr lang="en-US" altLang="zh-CN" dirty="0"/>
              <a:t>5~10K</a:t>
            </a:r>
            <a:r>
              <a:rPr lang="zh-CN" altLang="en-US" dirty="0"/>
              <a:t>，维护工作量大。</a:t>
            </a:r>
          </a:p>
          <a:p>
            <a:pPr lvl="1"/>
            <a:r>
              <a:rPr lang="zh-CN" altLang="en-US" dirty="0"/>
              <a:t>扩展性一般，如果新增数据中心或分支时，需要增加大量的端到端隧道。</a:t>
            </a:r>
          </a:p>
          <a:p>
            <a:endParaRPr lang="en-US" dirty="0"/>
          </a:p>
        </p:txBody>
      </p:sp>
    </p:spTree>
    <p:extLst>
      <p:ext uri="{BB962C8B-B14F-4D97-AF65-F5344CB8AC3E}">
        <p14:creationId xmlns:p14="http://schemas.microsoft.com/office/powerpoint/2010/main" val="25789949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如果使用</a:t>
            </a:r>
            <a:r>
              <a:rPr lang="en-US" altLang="zh-CN" dirty="0"/>
              <a:t>IFIT</a:t>
            </a:r>
            <a:r>
              <a:rPr lang="zh-CN" altLang="en-US" dirty="0"/>
              <a:t>技术探测网络时延，则需要全网开启</a:t>
            </a:r>
            <a:r>
              <a:rPr lang="en-US" altLang="zh-CN" dirty="0"/>
              <a:t>1588v2</a:t>
            </a:r>
            <a:r>
              <a:rPr lang="zh-CN" altLang="en-US" dirty="0"/>
              <a:t>技术，因此在使用场景上有所限制。</a:t>
            </a:r>
            <a:endParaRPr lang="en-US" altLang="zh-CN" dirty="0"/>
          </a:p>
          <a:p>
            <a:r>
              <a:rPr lang="en-US" altLang="zh-CN" dirty="0"/>
              <a:t>TWAMP</a:t>
            </a:r>
            <a:r>
              <a:rPr lang="zh-CN" altLang="en-US" dirty="0"/>
              <a:t>只需要使用</a:t>
            </a:r>
            <a:r>
              <a:rPr lang="en-US" altLang="zh-CN" dirty="0"/>
              <a:t>NTP</a:t>
            </a:r>
            <a:r>
              <a:rPr lang="zh-CN" altLang="en-US" dirty="0"/>
              <a:t>即可探测网络时延。</a:t>
            </a:r>
            <a:endParaRPr lang="en-US" altLang="zh-CN" dirty="0"/>
          </a:p>
          <a:p>
            <a:r>
              <a:rPr lang="zh-CN" altLang="en-US" dirty="0"/>
              <a:t>基于带宽规划隧道时，下发的隧道无法在设备上限制隧道内实际的流量大小，入口需要限制隧道内的流量大小并配合使用</a:t>
            </a:r>
            <a:r>
              <a:rPr lang="en-US" altLang="zh-CN" dirty="0"/>
              <a:t>QoS</a:t>
            </a:r>
            <a:r>
              <a:rPr lang="zh-CN" altLang="en-US" dirty="0"/>
              <a:t>或网络切片技术。</a:t>
            </a:r>
            <a:endParaRPr lang="en-US" altLang="zh-CN" dirty="0"/>
          </a:p>
        </p:txBody>
      </p:sp>
    </p:spTree>
    <p:extLst>
      <p:ext uri="{BB962C8B-B14F-4D97-AF65-F5344CB8AC3E}">
        <p14:creationId xmlns:p14="http://schemas.microsoft.com/office/powerpoint/2010/main" val="39280493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基于</a:t>
            </a:r>
            <a:r>
              <a:rPr lang="en-US" altLang="zh-CN" dirty="0"/>
              <a:t>Color</a:t>
            </a:r>
            <a:r>
              <a:rPr lang="zh-CN" altLang="en-US" dirty="0"/>
              <a:t>的引流方式只能根据</a:t>
            </a:r>
            <a:r>
              <a:rPr lang="en-US" altLang="zh-CN" dirty="0"/>
              <a:t>Endpoint</a:t>
            </a:r>
            <a:r>
              <a:rPr lang="zh-CN" altLang="en-US" dirty="0"/>
              <a:t>选择不同隧道（包括主备隧道），如果有去往同一个目的地的不同业务流量（</a:t>
            </a:r>
            <a:r>
              <a:rPr lang="en-US" altLang="zh-CN" dirty="0"/>
              <a:t>HTTP</a:t>
            </a:r>
            <a:r>
              <a:rPr lang="zh-CN" altLang="en-US" dirty="0"/>
              <a:t>，</a:t>
            </a:r>
            <a:r>
              <a:rPr lang="en-US" altLang="zh-CN" dirty="0"/>
              <a:t>FTP</a:t>
            </a:r>
            <a:r>
              <a:rPr lang="zh-CN" altLang="en-US" dirty="0"/>
              <a:t>等），那么基于</a:t>
            </a:r>
            <a:r>
              <a:rPr lang="en-US" altLang="zh-CN" dirty="0"/>
              <a:t>Color</a:t>
            </a:r>
            <a:r>
              <a:rPr lang="zh-CN" altLang="en-US" dirty="0"/>
              <a:t>的引流方式会将这些流量导入同一个隧道，导致部分业务的质量下降。</a:t>
            </a:r>
            <a:endParaRPr lang="en-US" altLang="zh-CN" dirty="0"/>
          </a:p>
          <a:p>
            <a:r>
              <a:rPr lang="zh-CN" altLang="en-US" dirty="0"/>
              <a:t>基于</a:t>
            </a:r>
            <a:r>
              <a:rPr lang="en-US" altLang="zh-CN" dirty="0"/>
              <a:t>DSCP</a:t>
            </a:r>
            <a:r>
              <a:rPr lang="zh-CN" altLang="en-US" dirty="0"/>
              <a:t>的引流方式可以根据</a:t>
            </a:r>
            <a:r>
              <a:rPr lang="en-US" altLang="zh-CN" dirty="0" err="1"/>
              <a:t>Endpoint+DSCP</a:t>
            </a:r>
            <a:r>
              <a:rPr lang="zh-CN" altLang="en-US" dirty="0"/>
              <a:t>的方式选择不同的隧道，如果有去往同一个目的地址的不同业务流量（</a:t>
            </a:r>
            <a:r>
              <a:rPr lang="en-US" altLang="zh-CN" dirty="0"/>
              <a:t>HTTP</a:t>
            </a:r>
            <a:r>
              <a:rPr lang="zh-CN" altLang="en-US" dirty="0"/>
              <a:t>，</a:t>
            </a:r>
            <a:r>
              <a:rPr lang="en-US" altLang="zh-CN" dirty="0"/>
              <a:t>FTP</a:t>
            </a:r>
            <a:r>
              <a:rPr lang="zh-CN" altLang="en-US" dirty="0"/>
              <a:t>等），那么基于</a:t>
            </a:r>
            <a:r>
              <a:rPr lang="en-US" altLang="zh-CN" dirty="0"/>
              <a:t>DSCP</a:t>
            </a:r>
            <a:r>
              <a:rPr lang="zh-CN" altLang="en-US" dirty="0"/>
              <a:t>的引流方式会根据配置将不同业务承载在不同的隧道之上，能较好地保证业务质量。</a:t>
            </a:r>
          </a:p>
        </p:txBody>
      </p:sp>
    </p:spTree>
    <p:extLst>
      <p:ext uri="{BB962C8B-B14F-4D97-AF65-F5344CB8AC3E}">
        <p14:creationId xmlns:p14="http://schemas.microsoft.com/office/powerpoint/2010/main" val="33367033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一个</a:t>
            </a:r>
            <a:r>
              <a:rPr lang="en-US" altLang="zh-CN" dirty="0"/>
              <a:t>SR-MPLS Policy</a:t>
            </a:r>
            <a:r>
              <a:rPr lang="zh-CN" altLang="en-US" dirty="0"/>
              <a:t>可以有多个候选路径，如</a:t>
            </a:r>
            <a:r>
              <a:rPr lang="en-US" altLang="zh-CN" dirty="0"/>
              <a:t>CP1</a:t>
            </a:r>
            <a:r>
              <a:rPr lang="zh-CN" altLang="en-US" dirty="0"/>
              <a:t>，</a:t>
            </a:r>
            <a:r>
              <a:rPr lang="en-US" altLang="zh-CN" dirty="0"/>
              <a:t>CP2</a:t>
            </a:r>
            <a:r>
              <a:rPr lang="zh-CN" altLang="en-US" dirty="0"/>
              <a:t>，每个路径由三元组 </a:t>
            </a:r>
            <a:r>
              <a:rPr lang="en-US" altLang="zh-CN" dirty="0"/>
              <a:t>&lt;protocol, origin, discriminator&gt;</a:t>
            </a:r>
            <a:r>
              <a:rPr lang="zh-CN" altLang="en-US" dirty="0"/>
              <a:t>唯一确定。</a:t>
            </a:r>
          </a:p>
          <a:p>
            <a:r>
              <a:rPr lang="en-US" altLang="zh-CN" dirty="0"/>
              <a:t>CP1</a:t>
            </a:r>
            <a:r>
              <a:rPr lang="zh-CN" altLang="en-US" dirty="0"/>
              <a:t>是激活路径 </a:t>
            </a:r>
            <a:r>
              <a:rPr lang="en-US" altLang="zh-CN" dirty="0"/>
              <a:t>(</a:t>
            </a:r>
            <a:r>
              <a:rPr lang="zh-CN" altLang="en-US" dirty="0"/>
              <a:t>原因是合法且优先级高</a:t>
            </a:r>
            <a:r>
              <a:rPr lang="en-US" altLang="zh-CN" dirty="0"/>
              <a:t>)</a:t>
            </a:r>
            <a:r>
              <a:rPr lang="zh-CN" altLang="en-US" dirty="0"/>
              <a:t>。</a:t>
            </a:r>
            <a:r>
              <a:rPr lang="en-US" altLang="zh-CN" dirty="0"/>
              <a:t>CP1</a:t>
            </a:r>
            <a:r>
              <a:rPr lang="zh-CN" altLang="en-US" dirty="0"/>
              <a:t>的两个</a:t>
            </a:r>
            <a:r>
              <a:rPr lang="en-US" altLang="zh-CN" dirty="0"/>
              <a:t>SID-list</a:t>
            </a:r>
            <a:r>
              <a:rPr lang="zh-CN" altLang="en-US" dirty="0"/>
              <a:t>会被下发到转发器，并且流量转发时会在两个隧道路径上基于权重负载分担，如</a:t>
            </a:r>
            <a:r>
              <a:rPr lang="en-US" altLang="zh-CN" dirty="0"/>
              <a:t>SID-List &lt;SID11</a:t>
            </a:r>
            <a:r>
              <a:rPr lang="zh-CN" altLang="en-US" dirty="0"/>
              <a:t>，</a:t>
            </a:r>
            <a:r>
              <a:rPr lang="en-US" altLang="zh-CN" dirty="0"/>
              <a:t>SID12&gt;</a:t>
            </a:r>
            <a:r>
              <a:rPr lang="zh-CN" altLang="en-US" dirty="0"/>
              <a:t>按</a:t>
            </a:r>
            <a:r>
              <a:rPr lang="en-US" altLang="zh-CN" dirty="0"/>
              <a:t>W1/(W1+W2)</a:t>
            </a:r>
            <a:r>
              <a:rPr lang="zh-CN" altLang="en-US" dirty="0"/>
              <a:t>比例分担。当前主流实现上一个候选路径只有一个</a:t>
            </a:r>
            <a:r>
              <a:rPr lang="en-US" altLang="zh-CN" dirty="0"/>
              <a:t>Segment List</a:t>
            </a:r>
            <a:r>
              <a:rPr lang="zh-CN" altLang="en-US" dirty="0"/>
              <a:t>。</a:t>
            </a:r>
            <a:endParaRPr lang="en-US" altLang="zh-CN" dirty="0"/>
          </a:p>
          <a:p>
            <a:r>
              <a:rPr lang="zh-CN" altLang="en-US" dirty="0"/>
              <a:t>如果使用控制器生产</a:t>
            </a:r>
            <a:r>
              <a:rPr lang="en-US" altLang="zh-CN" dirty="0"/>
              <a:t>SR-MPLS Policy</a:t>
            </a:r>
            <a:r>
              <a:rPr lang="zh-CN" altLang="en-US" dirty="0"/>
              <a:t>则只能实现主备隧道，在主隧道中不能做负载分担。</a:t>
            </a:r>
            <a:endParaRPr lang="en-US" altLang="zh-CN" dirty="0"/>
          </a:p>
        </p:txBody>
      </p:sp>
    </p:spTree>
    <p:extLst>
      <p:ext uri="{BB962C8B-B14F-4D97-AF65-F5344CB8AC3E}">
        <p14:creationId xmlns:p14="http://schemas.microsoft.com/office/powerpoint/2010/main" val="38516207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altLang="zh-CN" dirty="0"/>
              <a:t>SRv6 BE</a:t>
            </a:r>
            <a:r>
              <a:rPr lang="zh-CN" altLang="en-US" dirty="0"/>
              <a:t>类似</a:t>
            </a:r>
            <a:r>
              <a:rPr lang="en-US" altLang="zh-CN" dirty="0"/>
              <a:t>LDP</a:t>
            </a:r>
            <a:r>
              <a:rPr lang="zh-CN" altLang="en-US" dirty="0"/>
              <a:t>隧道，是基于</a:t>
            </a:r>
            <a:r>
              <a:rPr lang="en-US" altLang="zh-CN" dirty="0"/>
              <a:t>IGP/BGP</a:t>
            </a:r>
            <a:r>
              <a:rPr lang="zh-CN" altLang="en-US" dirty="0"/>
              <a:t>最优路径计算出来的。</a:t>
            </a:r>
            <a:r>
              <a:rPr lang="en-US" altLang="zh-CN" dirty="0"/>
              <a:t>SRv6 BE</a:t>
            </a:r>
            <a:r>
              <a:rPr lang="zh-CN" altLang="en-US" dirty="0"/>
              <a:t>不同于</a:t>
            </a:r>
            <a:r>
              <a:rPr lang="en-US" altLang="zh-CN" dirty="0"/>
              <a:t>MPLS</a:t>
            </a:r>
            <a:r>
              <a:rPr lang="zh-CN" altLang="en-US" dirty="0"/>
              <a:t>标签，</a:t>
            </a:r>
            <a:r>
              <a:rPr lang="en-US" altLang="zh-CN" dirty="0"/>
              <a:t>IGP</a:t>
            </a:r>
            <a:r>
              <a:rPr lang="zh-CN" altLang="en-US" dirty="0"/>
              <a:t>域内基于</a:t>
            </a:r>
            <a:r>
              <a:rPr lang="en-US" altLang="zh-CN" dirty="0"/>
              <a:t>SRv6 SID</a:t>
            </a:r>
            <a:r>
              <a:rPr lang="zh-CN" altLang="en-US" dirty="0"/>
              <a:t>的转发路径是由</a:t>
            </a:r>
            <a:r>
              <a:rPr lang="en-US" altLang="zh-CN" dirty="0"/>
              <a:t>IGP</a:t>
            </a:r>
            <a:r>
              <a:rPr lang="zh-CN" altLang="en-US" dirty="0"/>
              <a:t>通过最短路径算法（</a:t>
            </a:r>
            <a:r>
              <a:rPr lang="en-US" altLang="zh-CN" dirty="0"/>
              <a:t>SPF</a:t>
            </a:r>
            <a:r>
              <a:rPr lang="zh-CN" altLang="en-US" dirty="0"/>
              <a:t>）计算而来的，</a:t>
            </a:r>
            <a:r>
              <a:rPr lang="en-US" altLang="zh-CN" dirty="0"/>
              <a:t>SRv6 BE</a:t>
            </a:r>
            <a:r>
              <a:rPr lang="zh-CN" altLang="en-US" dirty="0"/>
              <a:t>只需要一个</a:t>
            </a:r>
            <a:r>
              <a:rPr lang="en-US" altLang="zh-CN" dirty="0"/>
              <a:t>Segment</a:t>
            </a:r>
            <a:r>
              <a:rPr lang="zh-CN" altLang="en-US" dirty="0"/>
              <a:t>就可以标识转发路径和承载的业务。路径转发依赖于</a:t>
            </a:r>
            <a:r>
              <a:rPr lang="en-US" altLang="zh-CN" dirty="0"/>
              <a:t>Cost</a:t>
            </a:r>
            <a:r>
              <a:rPr lang="zh-CN" altLang="en-US" dirty="0"/>
              <a:t>的规划，基于路由</a:t>
            </a:r>
            <a:r>
              <a:rPr lang="en-US" altLang="zh-CN" dirty="0"/>
              <a:t>Cost</a:t>
            </a:r>
            <a:r>
              <a:rPr lang="zh-CN" altLang="en-US" dirty="0"/>
              <a:t>最优进行转发。</a:t>
            </a:r>
            <a:endParaRPr lang="en-US" altLang="zh-CN" dirty="0"/>
          </a:p>
          <a:p>
            <a:r>
              <a:rPr lang="zh-CN" altLang="en-US" dirty="0"/>
              <a:t>本章节主要介绍</a:t>
            </a:r>
            <a:r>
              <a:rPr lang="en-US" altLang="zh-CN" dirty="0"/>
              <a:t>SRv6 Policy</a:t>
            </a:r>
            <a:r>
              <a:rPr lang="zh-CN" altLang="en-US" dirty="0"/>
              <a:t>隧道设计。</a:t>
            </a:r>
          </a:p>
        </p:txBody>
      </p:sp>
    </p:spTree>
    <p:extLst>
      <p:ext uri="{BB962C8B-B14F-4D97-AF65-F5344CB8AC3E}">
        <p14:creationId xmlns:p14="http://schemas.microsoft.com/office/powerpoint/2010/main" val="8651076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如果使用</a:t>
            </a:r>
            <a:r>
              <a:rPr lang="en-US" altLang="zh-CN" dirty="0"/>
              <a:t>IFIT</a:t>
            </a:r>
            <a:r>
              <a:rPr lang="zh-CN" altLang="en-US" dirty="0"/>
              <a:t>技术探测网络时延，则需要全网开启</a:t>
            </a:r>
            <a:r>
              <a:rPr lang="en-US" altLang="zh-CN" dirty="0"/>
              <a:t>1588v2</a:t>
            </a:r>
            <a:r>
              <a:rPr lang="zh-CN" altLang="en-US" dirty="0"/>
              <a:t>技术，因此在使用场景上有所限制。</a:t>
            </a:r>
            <a:endParaRPr lang="en-US" altLang="zh-CN" dirty="0"/>
          </a:p>
          <a:p>
            <a:r>
              <a:rPr lang="en-US" altLang="zh-CN" dirty="0"/>
              <a:t>TWAMP</a:t>
            </a:r>
            <a:r>
              <a:rPr lang="zh-CN" altLang="en-US" dirty="0"/>
              <a:t>只需要使用</a:t>
            </a:r>
            <a:r>
              <a:rPr lang="en-US" altLang="zh-CN" dirty="0"/>
              <a:t>NTP</a:t>
            </a:r>
            <a:r>
              <a:rPr lang="zh-CN" altLang="en-US" dirty="0"/>
              <a:t>即可探测网络时延。</a:t>
            </a:r>
            <a:endParaRPr lang="en-US" altLang="zh-CN" dirty="0"/>
          </a:p>
          <a:p>
            <a:r>
              <a:rPr lang="zh-CN" altLang="en-US" dirty="0"/>
              <a:t>基于带宽规划隧道时，下发的隧道无法在设备上限制隧道内实际的流量大小，入口需要限制隧道内的流量大小并配合使用</a:t>
            </a:r>
            <a:r>
              <a:rPr lang="en-US" altLang="zh-CN" dirty="0"/>
              <a:t>QoS</a:t>
            </a:r>
            <a:r>
              <a:rPr lang="zh-CN" altLang="en-US" dirty="0"/>
              <a:t>或网络切片技术。</a:t>
            </a:r>
            <a:endParaRPr lang="en-US" altLang="zh-CN" dirty="0"/>
          </a:p>
        </p:txBody>
      </p:sp>
    </p:spTree>
    <p:extLst>
      <p:ext uri="{BB962C8B-B14F-4D97-AF65-F5344CB8AC3E}">
        <p14:creationId xmlns:p14="http://schemas.microsoft.com/office/powerpoint/2010/main" val="17930723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537646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642083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834733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4001807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9602367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81308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0336937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106449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976609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003055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45452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75889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4721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5929243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65932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086736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65809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r>
              <a:rPr lang="en-US" altLang="zh-CN" dirty="0"/>
              <a:t>RPO</a:t>
            </a:r>
            <a:r>
              <a:rPr lang="zh-CN" altLang="en-US" dirty="0"/>
              <a:t>：</a:t>
            </a:r>
            <a:r>
              <a:rPr lang="en-US" altLang="zh-CN" dirty="0"/>
              <a:t>Recovery Point Objective</a:t>
            </a:r>
            <a:r>
              <a:rPr lang="zh-CN" altLang="en-US" dirty="0"/>
              <a:t>，复原点目标</a:t>
            </a:r>
            <a:endParaRPr lang="en-US" altLang="zh-CN" dirty="0"/>
          </a:p>
          <a:p>
            <a:r>
              <a:rPr lang="en-US" altLang="zh-CN" dirty="0"/>
              <a:t>RTO</a:t>
            </a:r>
            <a:r>
              <a:rPr lang="zh-CN" altLang="en-US" dirty="0"/>
              <a:t>：</a:t>
            </a:r>
            <a:r>
              <a:rPr lang="en-US" altLang="zh-CN" dirty="0"/>
              <a:t>Recovery Time Objective</a:t>
            </a:r>
            <a:r>
              <a:rPr lang="zh-CN" altLang="en-US" dirty="0"/>
              <a:t>，复原时间目标</a:t>
            </a:r>
          </a:p>
        </p:txBody>
      </p:sp>
    </p:spTree>
    <p:extLst>
      <p:ext uri="{BB962C8B-B14F-4D97-AF65-F5344CB8AC3E}">
        <p14:creationId xmlns:p14="http://schemas.microsoft.com/office/powerpoint/2010/main" val="8968314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容灾系统使用过程中，通过心跳链路监控主、备站点的关联状态，并通过复制链路进行数据同步。若主备站点间心跳、复制链路异常，控制器将产生对应告警提醒用户手动或者仲裁服务自动处理异常。</a:t>
            </a:r>
            <a:endParaRPr lang="en-US" altLang="zh-CN" dirty="0"/>
          </a:p>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sz="1100" dirty="0" err="1">
                <a:latin typeface="Huawei Sans" panose="020C0503030203020204" pitchFamily="34" charset="0"/>
                <a:ea typeface="方正兰亭黑简体" panose="02000000000000000000" pitchFamily="2" charset="-122"/>
                <a:cs typeface="Arial" panose="020B0604020202020204" pitchFamily="34" charset="0"/>
                <a:sym typeface="Arial" panose="020B0604020202020204" pitchFamily="34" charset="0"/>
              </a:rPr>
              <a:t>DRMgr</a:t>
            </a:r>
            <a:r>
              <a:rPr lang="zh-CN" altLang="en-US" sz="1100" dirty="0">
                <a:latin typeface="Huawei Sans" panose="020C0503030203020204" pitchFamily="34" charset="0"/>
                <a:ea typeface="方正兰亭黑简体" panose="02000000000000000000" pitchFamily="2" charset="-122"/>
                <a:cs typeface="Arial" panose="020B0604020202020204" pitchFamily="34" charset="0"/>
                <a:sym typeface="Arial" panose="020B0604020202020204" pitchFamily="34" charset="0"/>
              </a:rPr>
              <a:t>服务由华为自研，客户不需要额外购买第三方的</a:t>
            </a:r>
            <a:r>
              <a:rPr lang="en-US" altLang="zh-CN" sz="1100" dirty="0">
                <a:latin typeface="Huawei Sans" panose="020C0503030203020204" pitchFamily="34" charset="0"/>
                <a:ea typeface="方正兰亭黑简体" panose="02000000000000000000" pitchFamily="2" charset="-122"/>
                <a:cs typeface="Arial" panose="020B0604020202020204" pitchFamily="34" charset="0"/>
                <a:sym typeface="Arial" panose="020B0604020202020204" pitchFamily="34" charset="0"/>
              </a:rPr>
              <a:t>HA</a:t>
            </a:r>
            <a:r>
              <a:rPr lang="zh-CN" altLang="en-US" sz="1100" dirty="0">
                <a:latin typeface="Huawei Sans" panose="020C0503030203020204" pitchFamily="34" charset="0"/>
                <a:ea typeface="方正兰亭黑简体" panose="02000000000000000000" pitchFamily="2" charset="-122"/>
                <a:cs typeface="Arial" panose="020B0604020202020204" pitchFamily="34" charset="0"/>
                <a:sym typeface="Arial" panose="020B0604020202020204" pitchFamily="34" charset="0"/>
              </a:rPr>
              <a:t>管理软件。</a:t>
            </a:r>
            <a:endParaRPr lang="en-US" dirty="0"/>
          </a:p>
        </p:txBody>
      </p:sp>
    </p:spTree>
    <p:extLst>
      <p:ext uri="{BB962C8B-B14F-4D97-AF65-F5344CB8AC3E}">
        <p14:creationId xmlns:p14="http://schemas.microsoft.com/office/powerpoint/2010/main" val="40018213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目前</a:t>
            </a:r>
            <a:r>
              <a:rPr lang="en-US" altLang="zh-CN" dirty="0" err="1"/>
              <a:t>iMaster</a:t>
            </a:r>
            <a:r>
              <a:rPr lang="en-US" altLang="zh-CN" dirty="0"/>
              <a:t> NCE-IP</a:t>
            </a:r>
            <a:r>
              <a:rPr lang="zh-CN" altLang="en-US" dirty="0"/>
              <a:t>主备倒换时间一般可以在</a:t>
            </a:r>
            <a:r>
              <a:rPr lang="en-US" altLang="zh-CN" dirty="0"/>
              <a:t>10</a:t>
            </a:r>
            <a:r>
              <a:rPr lang="zh-CN" altLang="en-US" dirty="0"/>
              <a:t>分钟内完成，因此</a:t>
            </a:r>
            <a:r>
              <a:rPr lang="en-US" altLang="zh-CN" dirty="0"/>
              <a:t>GR</a:t>
            </a:r>
            <a:r>
              <a:rPr lang="zh-CN" altLang="en-US" dirty="0"/>
              <a:t>时间最小不能小于</a:t>
            </a:r>
            <a:r>
              <a:rPr lang="en-US" altLang="zh-CN" dirty="0"/>
              <a:t>20</a:t>
            </a:r>
            <a:r>
              <a:rPr lang="zh-CN" altLang="en-US" dirty="0"/>
              <a:t>分钟。</a:t>
            </a:r>
            <a:endParaRPr lang="en-US" altLang="zh-CN" dirty="0"/>
          </a:p>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dirty="0"/>
              <a:t>GR</a:t>
            </a:r>
            <a:r>
              <a:rPr lang="zh-CN" altLang="en-US" dirty="0"/>
              <a:t>：</a:t>
            </a:r>
            <a:r>
              <a:rPr lang="en-US" altLang="zh-CN" dirty="0"/>
              <a:t>Graceful Restart</a:t>
            </a:r>
            <a:r>
              <a:rPr lang="zh-CN" altLang="en-US" dirty="0"/>
              <a:t>，</a:t>
            </a:r>
            <a:r>
              <a:rPr lang="zh-CN" altLang="en-US" b="0" i="0" dirty="0">
                <a:solidFill>
                  <a:srgbClr val="333333"/>
                </a:solidFill>
                <a:effectLst/>
                <a:latin typeface="inherit"/>
              </a:rPr>
              <a:t>优雅重启</a:t>
            </a:r>
            <a:endParaRPr lang="en-US" altLang="zh-CN" dirty="0"/>
          </a:p>
          <a:p>
            <a:endParaRPr lang="en-US" altLang="zh-CN" dirty="0"/>
          </a:p>
          <a:p>
            <a:endParaRPr lang="en-US" dirty="0"/>
          </a:p>
        </p:txBody>
      </p:sp>
    </p:spTree>
    <p:extLst>
      <p:ext uri="{BB962C8B-B14F-4D97-AF65-F5344CB8AC3E}">
        <p14:creationId xmlns:p14="http://schemas.microsoft.com/office/powerpoint/2010/main" val="1744623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en-US" dirty="0"/>
              <a:t>NSR</a:t>
            </a:r>
            <a:r>
              <a:rPr lang="zh-CN" altLang="en-US" dirty="0"/>
              <a:t>：</a:t>
            </a:r>
            <a:r>
              <a:rPr lang="en-US" altLang="zh-CN" dirty="0"/>
              <a:t>Non-Stop Routing</a:t>
            </a:r>
            <a:r>
              <a:rPr lang="zh-CN" altLang="en-US" dirty="0"/>
              <a:t>，不间断路由</a:t>
            </a:r>
            <a:endParaRPr lang="en-US" altLang="zh-CN" dirty="0"/>
          </a:p>
        </p:txBody>
      </p:sp>
    </p:spTree>
    <p:extLst>
      <p:ext uri="{BB962C8B-B14F-4D97-AF65-F5344CB8AC3E}">
        <p14:creationId xmlns:p14="http://schemas.microsoft.com/office/powerpoint/2010/main" val="389139262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963542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080150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r>
              <a:rPr lang="zh-CN" altLang="en-US" dirty="0"/>
              <a:t>中间网络可能会由于带宽不足或时延过大等问题导致网络无法满足业务需求，为了感知网络的带宽或时延情况，需要部署</a:t>
            </a:r>
            <a:r>
              <a:rPr lang="en-US" altLang="zh-CN" dirty="0"/>
              <a:t>TWAMP</a:t>
            </a:r>
            <a:r>
              <a:rPr lang="zh-CN" altLang="en-US" dirty="0"/>
              <a:t>或</a:t>
            </a:r>
            <a:r>
              <a:rPr lang="en-US" altLang="zh-CN" dirty="0"/>
              <a:t>IFIT</a:t>
            </a:r>
            <a:r>
              <a:rPr lang="zh-CN" altLang="en-US" dirty="0"/>
              <a:t>等网络质量检测技术。</a:t>
            </a:r>
            <a:endParaRPr lang="en-US" dirty="0"/>
          </a:p>
        </p:txBody>
      </p:sp>
    </p:spTree>
    <p:extLst>
      <p:ext uri="{BB962C8B-B14F-4D97-AF65-F5344CB8AC3E}">
        <p14:creationId xmlns:p14="http://schemas.microsoft.com/office/powerpoint/2010/main" val="310517875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5193887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769808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2549527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678084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594747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0989660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6475624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9314047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8446405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自动调优：</a:t>
            </a:r>
            <a:endParaRPr lang="en-US" altLang="zh-CN" dirty="0"/>
          </a:p>
          <a:p>
            <a:pPr lvl="1"/>
            <a:r>
              <a:rPr lang="zh-CN" altLang="en-US" dirty="0"/>
              <a:t>定时优化：用户可以设置每</a:t>
            </a:r>
            <a:r>
              <a:rPr lang="en-US" altLang="zh-CN" dirty="0"/>
              <a:t>5</a:t>
            </a:r>
            <a:r>
              <a:rPr lang="zh-CN" altLang="en-US" dirty="0"/>
              <a:t>分钟或更多时间自动进行一次网络路径优化，保证当前业务路径都是最优的。</a:t>
            </a:r>
          </a:p>
          <a:p>
            <a:pPr lvl="1"/>
            <a:r>
              <a:rPr lang="zh-CN" altLang="en-US" dirty="0"/>
              <a:t>带宽越限时自动调优：用户可以设置“链路触发阈值”，当某条链路带宽利用率超过阈值后，系统自动将越限链路上的隧道加入算路队列，等调优周期到达后进行调优。</a:t>
            </a:r>
          </a:p>
          <a:p>
            <a:pPr lvl="1"/>
            <a:r>
              <a:rPr lang="zh-CN" altLang="en-US" dirty="0"/>
              <a:t>维护窗口触发调优：用户可以维护某个节点或某个链路，维护期间，该节点</a:t>
            </a:r>
            <a:r>
              <a:rPr lang="en-US" altLang="zh-CN" dirty="0"/>
              <a:t>/</a:t>
            </a:r>
            <a:r>
              <a:rPr lang="zh-CN" altLang="en-US" dirty="0"/>
              <a:t>链路处于不可用状态，维护开始</a:t>
            </a:r>
            <a:r>
              <a:rPr lang="en-US" altLang="zh-CN" dirty="0"/>
              <a:t>/</a:t>
            </a:r>
            <a:r>
              <a:rPr lang="zh-CN" altLang="en-US" dirty="0"/>
              <a:t>完毕后，会自动对经过该节点</a:t>
            </a:r>
            <a:r>
              <a:rPr lang="en-US" altLang="zh-CN" dirty="0"/>
              <a:t>/</a:t>
            </a:r>
            <a:r>
              <a:rPr lang="zh-CN" altLang="en-US" dirty="0"/>
              <a:t>链路上的隧道重新算路。</a:t>
            </a:r>
            <a:endParaRPr lang="en-US" altLang="zh-CN" dirty="0"/>
          </a:p>
          <a:p>
            <a:pPr lvl="1"/>
            <a:r>
              <a:rPr lang="zh-CN" altLang="en-US" dirty="0"/>
              <a:t>自动调优周期是</a:t>
            </a:r>
            <a:r>
              <a:rPr lang="en-US" altLang="zh-CN" dirty="0"/>
              <a:t>5</a:t>
            </a:r>
            <a:r>
              <a:rPr lang="zh-CN" altLang="en-US" dirty="0"/>
              <a:t>分钟的整数倍，如</a:t>
            </a:r>
            <a:r>
              <a:rPr lang="en-US" altLang="zh-CN" dirty="0"/>
              <a:t>10</a:t>
            </a:r>
            <a:r>
              <a:rPr lang="zh-CN" altLang="en-US" dirty="0"/>
              <a:t>分钟、</a:t>
            </a:r>
            <a:r>
              <a:rPr lang="en-US" altLang="zh-CN" dirty="0"/>
              <a:t>15</a:t>
            </a:r>
            <a:r>
              <a:rPr lang="zh-CN" altLang="en-US" dirty="0"/>
              <a:t>分钟。</a:t>
            </a:r>
            <a:endParaRPr lang="en-US" altLang="zh-CN" dirty="0"/>
          </a:p>
          <a:p>
            <a:r>
              <a:rPr lang="zh-CN" altLang="en-US" dirty="0"/>
              <a:t>调优策略：</a:t>
            </a:r>
            <a:endParaRPr lang="en-US" altLang="zh-CN" dirty="0"/>
          </a:p>
          <a:p>
            <a:pPr lvl="1"/>
            <a:r>
              <a:rPr lang="zh-CN" altLang="en-US" dirty="0"/>
              <a:t>流量：调优方式选“流量“时，必须设置链路触发阈值，当带宽利用率大于阈值时，触发对越限链路的调优，根据越限链路的数量确定是全局调优还是局部调优。</a:t>
            </a:r>
            <a:endParaRPr lang="en-US" altLang="zh-CN" dirty="0"/>
          </a:p>
          <a:p>
            <a:pPr lvl="1"/>
            <a:r>
              <a:rPr lang="zh-CN" altLang="en-US" dirty="0"/>
              <a:t>时延：调优方式选“时延“时，先遍历比较所有隧道的配置时延和转发器采集的累加时延，对累加时延超过配置值的所有隧道进行局部调优。</a:t>
            </a:r>
            <a:endParaRPr lang="en-US" altLang="zh-CN" dirty="0"/>
          </a:p>
          <a:p>
            <a:pPr lvl="1"/>
            <a:r>
              <a:rPr lang="zh-CN" altLang="en-US" dirty="0"/>
              <a:t>时延</a:t>
            </a:r>
            <a:r>
              <a:rPr lang="en-US" altLang="zh-CN" dirty="0"/>
              <a:t>+</a:t>
            </a:r>
            <a:r>
              <a:rPr lang="zh-CN" altLang="en-US" dirty="0"/>
              <a:t>流量：此时，上述两个触发条件为”或”的方式，满足之一即可进行调优。</a:t>
            </a:r>
            <a:endParaRPr lang="en-US" dirty="0"/>
          </a:p>
        </p:txBody>
      </p:sp>
      <p:sp>
        <p:nvSpPr>
          <p:cNvPr id="5" name="幻灯片图像占位符 4"/>
          <p:cNvSpPr>
            <a:spLocks noGrp="1" noRot="1" noChangeAspect="1"/>
          </p:cNvSpPr>
          <p:nvPr>
            <p:ph type="sldImg"/>
          </p:nvPr>
        </p:nvSpPr>
        <p:spPr>
          <a:xfrm>
            <a:off x="723900" y="723900"/>
            <a:ext cx="5600700" cy="3151188"/>
          </a:xfrm>
        </p:spPr>
      </p:sp>
    </p:spTree>
    <p:extLst>
      <p:ext uri="{BB962C8B-B14F-4D97-AF65-F5344CB8AC3E}">
        <p14:creationId xmlns:p14="http://schemas.microsoft.com/office/powerpoint/2010/main" val="281231174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23900" y="723900"/>
            <a:ext cx="5600700" cy="31511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9985249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6916450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419261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3900" y="723900"/>
            <a:ext cx="5600700" cy="31511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3708614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3398354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9715125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978519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ABCD</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32420644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23900" y="723900"/>
            <a:ext cx="5600700" cy="31511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2872766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 xmlns:a16="http://schemas.microsoft.com/office/drawing/2014/main" id="{C4FCFBAA-FF13-4907-8D18-299AA236C20D}"/>
              </a:ext>
            </a:extLst>
          </p:cNvPr>
          <p:cNvSpPr>
            <a:spLocks noGrp="1" noRot="1" noChangeAspect="1"/>
          </p:cNvSpPr>
          <p:nvPr>
            <p:ph type="sldImg"/>
          </p:nvPr>
        </p:nvSpPr>
        <p:spPr>
          <a:xfrm>
            <a:off x="723900" y="723900"/>
            <a:ext cx="5600700" cy="3151188"/>
          </a:xfrm>
        </p:spPr>
      </p:sp>
      <p:sp>
        <p:nvSpPr>
          <p:cNvPr id="5" name="Notes Placeholder 4">
            <a:extLst>
              <a:ext uri="{FF2B5EF4-FFF2-40B4-BE49-F238E27FC236}">
                <a16:creationId xmlns="" xmlns:a16="http://schemas.microsoft.com/office/drawing/2014/main" id="{09CC02C5-2808-47F0-90C8-FA9F2A3EADD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804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303847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defTabSz="1001223" eaLnBrk="0" fontAlgn="ctr" hangingPunct="0">
              <a:spcBef>
                <a:spcPct val="0"/>
              </a:spcBef>
              <a:spcAft>
                <a:spcPct val="0"/>
              </a:spcAft>
            </a:pPr>
            <a:r>
              <a:rPr lang="zh-CN" altLang="en-US" sz="3499" dirty="0">
                <a:solidFill>
                  <a:prstClr val="black">
                    <a:lumMod val="75000"/>
                    <a:lumOff val="25000"/>
                  </a:prstClr>
                </a:solidFill>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dirty="0">
                <a:solidFill>
                  <a:srgbClr val="404040"/>
                </a:solidFill>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10375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dirty="0">
                <a:solidFill>
                  <a:srgbClr val="404040"/>
                </a:solidFill>
                <a:cs typeface="Microsoft YaHei" charset="-122"/>
              </a:rPr>
              <a:t>前言</a:t>
            </a:r>
          </a:p>
        </p:txBody>
      </p:sp>
    </p:spTree>
    <p:extLst>
      <p:ext uri="{BB962C8B-B14F-4D97-AF65-F5344CB8AC3E}">
        <p14:creationId xmlns:p14="http://schemas.microsoft.com/office/powerpoint/2010/main" val="2236544970"/>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dirty="0">
                <a:solidFill>
                  <a:srgbClr val="404040"/>
                </a:solidFill>
                <a:cs typeface="Huawei Sans" panose="020C0503030203020204" pitchFamily="34" charset="0"/>
              </a:rPr>
              <a:t>目标</a:t>
            </a:r>
            <a:endParaRPr lang="en-US" altLang="zh-CN" sz="3640" dirty="0">
              <a:solidFill>
                <a:srgbClr val="404040"/>
              </a:solidFill>
              <a:cs typeface="Huawei Sans" panose="020C0503030203020204" pitchFamily="34" charset="0"/>
            </a:endParaRPr>
          </a:p>
        </p:txBody>
      </p:sp>
    </p:spTree>
    <p:extLst>
      <p:ext uri="{BB962C8B-B14F-4D97-AF65-F5344CB8AC3E}">
        <p14:creationId xmlns:p14="http://schemas.microsoft.com/office/powerpoint/2010/main" val="515932469"/>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solidFill>
                  <a:srgbClr val="404040"/>
                </a:solidFill>
              </a:rPr>
              <a:t>目录</a:t>
            </a:r>
          </a:p>
        </p:txBody>
      </p:sp>
    </p:spTree>
    <p:extLst>
      <p:ext uri="{BB962C8B-B14F-4D97-AF65-F5344CB8AC3E}">
        <p14:creationId xmlns:p14="http://schemas.microsoft.com/office/powerpoint/2010/main" val="66724947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dirty="0">
                <a:solidFill>
                  <a:srgbClr val="404040"/>
                </a:solidFill>
                <a:cs typeface="Huawei Sans" panose="020C0503030203020204" pitchFamily="34" charset="0"/>
              </a:rPr>
              <a:t>本节概述和学习目标</a:t>
            </a:r>
          </a:p>
        </p:txBody>
      </p:sp>
    </p:spTree>
    <p:extLst>
      <p:ext uri="{BB962C8B-B14F-4D97-AF65-F5344CB8AC3E}">
        <p14:creationId xmlns:p14="http://schemas.microsoft.com/office/powerpoint/2010/main" val="324518951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dirty="0">
                <a:solidFill>
                  <a:srgbClr val="404040"/>
                </a:solidFill>
                <a:cs typeface="Microsoft YaHei" charset="-122"/>
              </a:rPr>
              <a:t>思考题</a:t>
            </a:r>
          </a:p>
        </p:txBody>
      </p:sp>
    </p:spTree>
    <p:extLst>
      <p:ext uri="{BB962C8B-B14F-4D97-AF65-F5344CB8AC3E}">
        <p14:creationId xmlns:p14="http://schemas.microsoft.com/office/powerpoint/2010/main" val="4178506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dirty="0">
                <a:solidFill>
                  <a:srgbClr val="404040"/>
                </a:solidFill>
                <a:cs typeface="Microsoft YaHei" charset="-122"/>
              </a:rPr>
              <a:t>本节小结</a:t>
            </a:r>
          </a:p>
        </p:txBody>
      </p:sp>
    </p:spTree>
    <p:extLst>
      <p:ext uri="{BB962C8B-B14F-4D97-AF65-F5344CB8AC3E}">
        <p14:creationId xmlns:p14="http://schemas.microsoft.com/office/powerpoint/2010/main" val="191736879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dirty="0">
                <a:solidFill>
                  <a:srgbClr val="404040"/>
                </a:solidFill>
                <a:cs typeface="Microsoft YaHei" charset="-122"/>
              </a:rPr>
              <a:t>本章总结</a:t>
            </a:r>
          </a:p>
        </p:txBody>
      </p:sp>
    </p:spTree>
    <p:extLst>
      <p:ext uri="{BB962C8B-B14F-4D97-AF65-F5344CB8AC3E}">
        <p14:creationId xmlns:p14="http://schemas.microsoft.com/office/powerpoint/2010/main" val="2234992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dirty="0">
                <a:solidFill>
                  <a:srgbClr val="404040"/>
                </a:solidFill>
                <a:cs typeface="Microsoft YaHei" charset="-122"/>
              </a:rPr>
              <a:t>更多信息</a:t>
            </a:r>
          </a:p>
        </p:txBody>
      </p:sp>
    </p:spTree>
    <p:extLst>
      <p:ext uri="{BB962C8B-B14F-4D97-AF65-F5344CB8AC3E}">
        <p14:creationId xmlns:p14="http://schemas.microsoft.com/office/powerpoint/2010/main" val="3300553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dirty="0">
                <a:solidFill>
                  <a:srgbClr val="404040"/>
                </a:solidFill>
                <a:cs typeface="Microsoft YaHei" charset="-122"/>
              </a:rPr>
              <a:t>学习推荐</a:t>
            </a:r>
          </a:p>
        </p:txBody>
      </p:sp>
    </p:spTree>
    <p:extLst>
      <p:ext uri="{BB962C8B-B14F-4D97-AF65-F5344CB8AC3E}">
        <p14:creationId xmlns:p14="http://schemas.microsoft.com/office/powerpoint/2010/main" val="2848527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r>
              <a:rPr lang="en-US" sz="4940" dirty="0">
                <a:solidFill>
                  <a:srgbClr val="1D1D1A"/>
                </a:solidFill>
              </a:rPr>
              <a:t>Thank you.</a:t>
            </a:r>
          </a:p>
        </p:txBody>
      </p:sp>
    </p:spTree>
    <p:extLst>
      <p:ext uri="{BB962C8B-B14F-4D97-AF65-F5344CB8AC3E}">
        <p14:creationId xmlns:p14="http://schemas.microsoft.com/office/powerpoint/2010/main" val="2265428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943459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4235871679"/>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1670496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2095618232"/>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85033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3510385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dirty="0">
                <a:solidFill>
                  <a:srgbClr val="1D1D1B"/>
                </a:solidFill>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defTabSz="890849">
              <a:defRPr/>
            </a:pPr>
            <a:fld id="{C3837181-38C6-AD4F-B8BA-B444770388BB}" type="slidenum">
              <a:rPr lang="en-US" sz="974" smtClean="0">
                <a:solidFill>
                  <a:srgbClr val="1D1D1B"/>
                </a:solidFill>
                <a:cs typeface="Huawei Sans" panose="020C0503030203020204" pitchFamily="34" charset="0"/>
              </a:rPr>
              <a:pPr defTabSz="890849">
                <a:defRPr/>
              </a:pPr>
              <a:t>‹#›</a:t>
            </a:fld>
            <a:endParaRPr lang="en-US" sz="974" dirty="0">
              <a:solidFill>
                <a:srgbClr val="1D1D1B"/>
              </a:solidFill>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44546A"/>
                  </a:solidFill>
                  <a:latin typeface="Arial" charset="0"/>
                  <a:ea typeface="Arial" charset="0"/>
                  <a:cs typeface="Arial" charset="0"/>
                </a:rPr>
                <a:t>RGB</a:t>
              </a:r>
              <a:br>
                <a:rPr kumimoji="1" lang="en-US" altLang="zh-CN" sz="500" b="1" dirty="0">
                  <a:solidFill>
                    <a:srgbClr val="44546A"/>
                  </a:solidFill>
                  <a:latin typeface="Arial" charset="0"/>
                  <a:ea typeface="Arial" charset="0"/>
                  <a:cs typeface="Arial" charset="0"/>
                </a:rPr>
              </a:br>
              <a:r>
                <a:rPr kumimoji="1" lang="en-US" altLang="zh-CN" sz="500" b="1" dirty="0">
                  <a:solidFill>
                    <a:srgbClr val="44546A"/>
                  </a:solidFill>
                  <a:latin typeface="Arial" charset="0"/>
                  <a:ea typeface="Arial" charset="0"/>
                  <a:cs typeface="Arial"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prstClr val="black"/>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44546A"/>
                  </a:solidFill>
                  <a:latin typeface="Arial" charset="0"/>
                  <a:ea typeface="Arial" charset="0"/>
                  <a:cs typeface="Arial" charset="0"/>
                </a:rPr>
                <a:t>PANTONE 185C</a:t>
              </a:r>
            </a:p>
            <a:p>
              <a:pPr algn="ctr">
                <a:lnSpc>
                  <a:spcPts val="620"/>
                </a:lnSpc>
              </a:pPr>
              <a:r>
                <a:rPr kumimoji="1" lang="en-US" altLang="zh-CN" sz="500" b="1" dirty="0">
                  <a:solidFill>
                    <a:srgbClr val="44546A"/>
                  </a:solidFill>
                  <a:latin typeface="Arial" charset="0"/>
                  <a:ea typeface="Arial" charset="0"/>
                  <a:cs typeface="Arial" charset="0"/>
                </a:rPr>
                <a:t>RGB </a:t>
              </a:r>
              <a:br>
                <a:rPr kumimoji="1" lang="en-US" altLang="zh-CN" sz="500" b="1" dirty="0">
                  <a:solidFill>
                    <a:srgbClr val="44546A"/>
                  </a:solidFill>
                  <a:latin typeface="Arial" charset="0"/>
                  <a:ea typeface="Arial" charset="0"/>
                  <a:cs typeface="Arial" charset="0"/>
                </a:rPr>
              </a:br>
              <a:r>
                <a:rPr kumimoji="1" lang="en-US" altLang="zh-CN" sz="500" b="1" dirty="0">
                  <a:solidFill>
                    <a:srgbClr val="44546A"/>
                  </a:solidFill>
                  <a:latin typeface="Arial" charset="0"/>
                  <a:ea typeface="Arial" charset="0"/>
                  <a:cs typeface="Arial"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prstClr val="black"/>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44546A"/>
                  </a:solidFill>
                  <a:latin typeface="Arial" charset="0"/>
                  <a:ea typeface="Arial" charset="0"/>
                  <a:cs typeface="Arial" charset="0"/>
                </a:rPr>
                <a:t>PANTONE 186C</a:t>
              </a:r>
            </a:p>
            <a:p>
              <a:pPr algn="ctr">
                <a:lnSpc>
                  <a:spcPts val="620"/>
                </a:lnSpc>
              </a:pPr>
              <a:r>
                <a:rPr kumimoji="1" lang="en-US" altLang="zh-CN" sz="500" b="1" dirty="0">
                  <a:solidFill>
                    <a:srgbClr val="44546A"/>
                  </a:solidFill>
                  <a:latin typeface="Arial" charset="0"/>
                  <a:ea typeface="Arial" charset="0"/>
                  <a:cs typeface="Arial" charset="0"/>
                </a:rPr>
                <a:t>RGB</a:t>
              </a:r>
              <a:br>
                <a:rPr kumimoji="1" lang="en-US" altLang="zh-CN" sz="500" b="1" dirty="0">
                  <a:solidFill>
                    <a:srgbClr val="44546A"/>
                  </a:solidFill>
                  <a:latin typeface="Arial" charset="0"/>
                  <a:ea typeface="Arial" charset="0"/>
                  <a:cs typeface="Arial" charset="0"/>
                </a:rPr>
              </a:br>
              <a:r>
                <a:rPr kumimoji="1" lang="en-US" altLang="zh-CN" sz="500" b="1" dirty="0">
                  <a:solidFill>
                    <a:srgbClr val="44546A"/>
                  </a:solidFill>
                  <a:latin typeface="Arial" charset="0"/>
                  <a:ea typeface="Arial" charset="0"/>
                  <a:cs typeface="Arial"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360493818"/>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3" orient="horz" pos="2341">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242/137/68</a:t>
              </a:r>
              <a:endParaRPr kumimoji="1" lang="mr-IN" altLang="zh-CN" sz="500" b="1" dirty="0">
                <a:solidFill>
                  <a:srgbClr val="FFFFFF"/>
                </a:solidFill>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PANTONE 185C</a:t>
              </a:r>
            </a:p>
            <a:p>
              <a:pPr algn="ctr">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PANTONE 186C</a:t>
              </a:r>
            </a:p>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253/211/81</a:t>
              </a:r>
            </a:p>
          </p:txBody>
        </p:sp>
        <p:sp>
          <p:nvSpPr>
            <p:cNvPr id="4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86/196/210</a:t>
              </a:r>
            </a:p>
          </p:txBody>
        </p:sp>
        <p:sp>
          <p:nvSpPr>
            <p:cNvPr id="4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211/57/65</a:t>
              </a:r>
            </a:p>
          </p:txBody>
        </p:sp>
        <p:sp>
          <p:nvSpPr>
            <p:cNvPr id="4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p>
            <a:p>
              <a:pPr algn="ctr">
                <a:lnSpc>
                  <a:spcPts val="620"/>
                </a:lnSpc>
              </a:pPr>
              <a:r>
                <a:rPr kumimoji="1" lang="en-US" altLang="zh-CN" sz="500" b="1" dirty="0">
                  <a:solidFill>
                    <a:srgbClr val="FFFFFF"/>
                  </a:solidFill>
                  <a:ea typeface="Arial" charset="0"/>
                  <a:cs typeface="Arial" charset="0"/>
                </a:rPr>
                <a:t>211/56/89</a:t>
              </a:r>
            </a:p>
          </p:txBody>
        </p:sp>
        <p:sp>
          <p:nvSpPr>
            <p:cNvPr id="4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221/128/170</a:t>
              </a:r>
            </a:p>
          </p:txBody>
        </p:sp>
        <p:sp>
          <p:nvSpPr>
            <p:cNvPr id="4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charset="0"/>
                  <a:cs typeface="Arial" charset="0"/>
                </a:rPr>
                <a:t>RGB 191/128/130</a:t>
              </a:r>
            </a:p>
          </p:txBody>
        </p:sp>
        <p:sp>
          <p:nvSpPr>
            <p:cNvPr id="5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246/183/140</a:t>
              </a:r>
              <a:endParaRPr kumimoji="1" lang="mr-IN" altLang="zh-CN" sz="500" b="1" dirty="0">
                <a:solidFill>
                  <a:srgbClr val="595757"/>
                </a:solidFill>
                <a:ea typeface="Arial" charset="0"/>
                <a:cs typeface="Arial" charset="0"/>
              </a:endParaRPr>
            </a:p>
          </p:txBody>
        </p:sp>
        <p:sp>
          <p:nvSpPr>
            <p:cNvPr id="5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176/216/156</a:t>
              </a:r>
            </a:p>
          </p:txBody>
        </p:sp>
        <p:sp>
          <p:nvSpPr>
            <p:cNvPr id="5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253/227/181</a:t>
              </a:r>
            </a:p>
          </p:txBody>
        </p:sp>
        <p:sp>
          <p:nvSpPr>
            <p:cNvPr id="5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148/218/226</a:t>
              </a:r>
            </a:p>
          </p:txBody>
        </p:sp>
        <p:sp>
          <p:nvSpPr>
            <p:cNvPr id="5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226/129/137</a:t>
              </a:r>
            </a:p>
          </p:txBody>
        </p:sp>
        <p:sp>
          <p:nvSpPr>
            <p:cNvPr id="5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226/129/152</a:t>
              </a:r>
            </a:p>
          </p:txBody>
        </p:sp>
        <p:sp>
          <p:nvSpPr>
            <p:cNvPr id="5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235/179/204</a:t>
              </a:r>
            </a:p>
          </p:txBody>
        </p:sp>
        <p:sp>
          <p:nvSpPr>
            <p:cNvPr id="5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charset="0"/>
                  <a:cs typeface="Arial" charset="0"/>
                </a:rPr>
                <a:t>RGB 216/179/179</a:t>
              </a:r>
            </a:p>
          </p:txBody>
        </p:sp>
        <p:sp>
          <p:nvSpPr>
            <p:cNvPr id="5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250/211/187</a:t>
              </a:r>
              <a:endParaRPr kumimoji="1" lang="mr-IN" altLang="zh-CN" sz="500" b="1" dirty="0">
                <a:solidFill>
                  <a:srgbClr val="595757"/>
                </a:solidFill>
                <a:ea typeface="Arial" charset="0"/>
                <a:cs typeface="Arial" charset="0"/>
              </a:endParaRPr>
            </a:p>
          </p:txBody>
        </p:sp>
        <p:sp>
          <p:nvSpPr>
            <p:cNvPr id="5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208/232/196</a:t>
              </a:r>
            </a:p>
          </p:txBody>
        </p:sp>
        <p:sp>
          <p:nvSpPr>
            <p:cNvPr id="6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254/238/193</a:t>
              </a:r>
            </a:p>
          </p:txBody>
        </p:sp>
        <p:sp>
          <p:nvSpPr>
            <p:cNvPr id="6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a:t>
              </a:r>
              <a:br>
                <a:rPr kumimoji="1" lang="en-US" altLang="zh-CN" sz="500" b="1" dirty="0">
                  <a:solidFill>
                    <a:srgbClr val="595757"/>
                  </a:solidFill>
                  <a:ea typeface="Arial" charset="0"/>
                  <a:cs typeface="Arial" charset="0"/>
                </a:rPr>
              </a:br>
              <a:r>
                <a:rPr kumimoji="1" lang="en-US" altLang="zh-CN" sz="500" b="1" dirty="0">
                  <a:solidFill>
                    <a:srgbClr val="595757"/>
                  </a:solidFill>
                  <a:ea typeface="Arial" charset="0"/>
                  <a:cs typeface="Arial" charset="0"/>
                </a:rPr>
                <a:t>190/23/238</a:t>
              </a:r>
            </a:p>
          </p:txBody>
        </p:sp>
        <p:sp>
          <p:nvSpPr>
            <p:cNvPr id="6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239/178/184</a:t>
              </a:r>
            </a:p>
          </p:txBody>
        </p:sp>
        <p:sp>
          <p:nvSpPr>
            <p:cNvPr id="6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238/179/193</a:t>
              </a:r>
            </a:p>
          </p:txBody>
        </p:sp>
        <p:sp>
          <p:nvSpPr>
            <p:cNvPr id="6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35/24/21</a:t>
              </a:r>
            </a:p>
          </p:txBody>
        </p:sp>
        <p:sp>
          <p:nvSpPr>
            <p:cNvPr id="6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 </a:t>
              </a:r>
            </a:p>
            <a:p>
              <a:pPr algn="ctr">
                <a:lnSpc>
                  <a:spcPts val="620"/>
                </a:lnSpc>
              </a:pPr>
              <a:r>
                <a:rPr kumimoji="1" lang="en-US" altLang="zh-CN" sz="500" b="1" dirty="0">
                  <a:solidFill>
                    <a:srgbClr val="FFFFFF"/>
                  </a:solidFill>
                  <a:ea typeface="Arial" charset="0"/>
                  <a:cs typeface="Arial" charset="0"/>
                </a:rPr>
                <a:t>89/87/87</a:t>
              </a:r>
            </a:p>
          </p:txBody>
        </p:sp>
        <p:sp>
          <p:nvSpPr>
            <p:cNvPr id="6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p>
            <a:p>
              <a:pPr algn="ctr">
                <a:lnSpc>
                  <a:spcPts val="620"/>
                </a:lnSpc>
              </a:pPr>
              <a:r>
                <a:rPr kumimoji="1" lang="en-US" altLang="zh-CN" sz="500" b="1" dirty="0">
                  <a:solidFill>
                    <a:srgbClr val="FFFFFF"/>
                  </a:solidFill>
                  <a:ea typeface="Arial" charset="0"/>
                  <a:cs typeface="Arial" charset="0"/>
                </a:rPr>
                <a:t>137/137/</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137</a:t>
              </a:r>
            </a:p>
          </p:txBody>
        </p:sp>
        <p:sp>
          <p:nvSpPr>
            <p:cNvPr id="6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charset="0"/>
                  <a:cs typeface="Arial" charset="0"/>
                </a:rPr>
                <a:t>RGB</a:t>
              </a:r>
            </a:p>
            <a:p>
              <a:pPr algn="ctr">
                <a:lnSpc>
                  <a:spcPts val="620"/>
                </a:lnSpc>
              </a:pPr>
              <a:r>
                <a:rPr kumimoji="1" lang="en-US" altLang="zh-CN" sz="500" b="1" dirty="0">
                  <a:solidFill>
                    <a:srgbClr val="FFFFFF"/>
                  </a:solidFill>
                  <a:ea typeface="Arial" charset="0"/>
                  <a:cs typeface="Arial" charset="0"/>
                </a:rPr>
                <a:t>181/181/</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181</a:t>
              </a:r>
            </a:p>
          </p:txBody>
        </p:sp>
        <p:sp>
          <p:nvSpPr>
            <p:cNvPr id="6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 221/221/</a:t>
              </a:r>
              <a:br>
                <a:rPr kumimoji="1" lang="en-US" altLang="zh-CN" sz="500" b="1" dirty="0">
                  <a:solidFill>
                    <a:srgbClr val="595757"/>
                  </a:solidFill>
                  <a:ea typeface="Arial" charset="0"/>
                  <a:cs typeface="Arial" charset="0"/>
                </a:rPr>
              </a:br>
              <a:r>
                <a:rPr kumimoji="1" lang="en-US" altLang="zh-CN" sz="500" b="1" dirty="0">
                  <a:solidFill>
                    <a:srgbClr val="595757"/>
                  </a:solidFill>
                  <a:ea typeface="Arial" charset="0"/>
                  <a:cs typeface="Arial" charset="0"/>
                </a:rPr>
                <a:t>221</a:t>
              </a:r>
            </a:p>
          </p:txBody>
        </p:sp>
        <p:sp>
          <p:nvSpPr>
            <p:cNvPr id="6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charset="0"/>
                  <a:cs typeface="Arial" charset="0"/>
                </a:rPr>
                <a:t>RGB</a:t>
              </a:r>
            </a:p>
            <a:p>
              <a:pPr algn="ctr">
                <a:lnSpc>
                  <a:spcPts val="620"/>
                </a:lnSpc>
              </a:pPr>
              <a:r>
                <a:rPr kumimoji="1" lang="en-US" altLang="zh-CN" sz="500" b="1" dirty="0">
                  <a:solidFill>
                    <a:srgbClr val="595757"/>
                  </a:solidFill>
                  <a:ea typeface="Arial" charset="0"/>
                  <a:cs typeface="Arial" charset="0"/>
                </a:rPr>
                <a:t>255/255/</a:t>
              </a:r>
              <a:br>
                <a:rPr kumimoji="1" lang="en-US" altLang="zh-CN" sz="500" b="1" dirty="0">
                  <a:solidFill>
                    <a:srgbClr val="595757"/>
                  </a:solidFill>
                  <a:ea typeface="Arial" charset="0"/>
                  <a:cs typeface="Arial" charset="0"/>
                </a:rPr>
              </a:br>
              <a:r>
                <a:rPr kumimoji="1" lang="en-US" altLang="zh-CN" sz="500" b="1" dirty="0">
                  <a:solidFill>
                    <a:srgbClr val="595757"/>
                  </a:solidFill>
                  <a:ea typeface="Arial" charset="0"/>
                  <a:cs typeface="Arial" charset="0"/>
                </a:rPr>
                <a:t>255</a:t>
              </a:r>
            </a:p>
          </p:txBody>
        </p:sp>
      </p:grpSp>
      <p:sp>
        <p:nvSpPr>
          <p:cNvPr id="70" name="Title Placeholder 1">
            <a:extLst>
              <a:ext uri="{FF2B5EF4-FFF2-40B4-BE49-F238E27FC236}">
                <a16:creationId xmlns=""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dirty="0">
                <a:solidFill>
                  <a:srgbClr val="1D1D1B"/>
                </a:solidFill>
                <a:latin typeface="Arial" panose="020B0604020202020204"/>
              </a:rPr>
              <a:t>Copyright©2021 Huawei Technologies Co., Ltd.</a:t>
            </a:r>
            <a:br>
              <a:rPr kumimoji="1" lang="en-US" altLang="zh-CN" sz="850" b="1" dirty="0">
                <a:solidFill>
                  <a:srgbClr val="1D1D1B"/>
                </a:solidFill>
                <a:latin typeface="Arial" panose="020B0604020202020204"/>
              </a:rPr>
            </a:br>
            <a:r>
              <a:rPr kumimoji="1" lang="en-US" altLang="zh-CN" sz="850" b="1" dirty="0">
                <a:solidFill>
                  <a:srgbClr val="1D1D1B"/>
                </a:solidFill>
                <a:latin typeface="Arial" panose="020B0604020202020204"/>
              </a:rPr>
              <a:t>All Rights Reserved.</a:t>
            </a:r>
            <a:r>
              <a:rPr kumimoji="1" lang="en-US" altLang="zh-CN" sz="779" dirty="0">
                <a:solidFill>
                  <a:srgbClr val="1D1D1B"/>
                </a:solidFill>
                <a:latin typeface="Arial" panose="020B0604020202020204"/>
              </a:rPr>
              <a:t/>
            </a:r>
            <a:br>
              <a:rPr kumimoji="1" lang="en-US" altLang="zh-CN" sz="779" dirty="0">
                <a:solidFill>
                  <a:srgbClr val="1D1D1B"/>
                </a:solidFill>
                <a:latin typeface="Arial" panose="020B0604020202020204"/>
              </a:rPr>
            </a:br>
            <a:r>
              <a:rPr kumimoji="1" lang="en-US" altLang="zh-CN" sz="779" dirty="0">
                <a:solidFill>
                  <a:srgbClr val="1D1D1B"/>
                </a:solidFill>
                <a:latin typeface="Arial" panose="020B0604020202020204"/>
              </a:rPr>
              <a:t/>
            </a:r>
            <a:br>
              <a:rPr kumimoji="1" lang="en-US" altLang="zh-CN" sz="779" dirty="0">
                <a:solidFill>
                  <a:srgbClr val="1D1D1B"/>
                </a:solidFill>
                <a:latin typeface="Arial" panose="020B0604020202020204"/>
              </a:rPr>
            </a:br>
            <a:r>
              <a:rPr kumimoji="1" lang="en-US" altLang="zh-CN" sz="850" dirty="0">
                <a:solidFill>
                  <a:srgbClr val="1D1D1B"/>
                </a:solidFill>
                <a:latin typeface="Arial" panose="020B0604020202020204"/>
                <a:cs typeface="Arial" panose="020B0604020202020204" pitchFamily="34" charset="0"/>
              </a:rPr>
              <a:t>The information in this document may contain predictive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statements including, without limitation, statements regarding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the future financial and operating results, future product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portfolio, new technology, etc. There are a number of factors that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could cause actual results and developments to differ materially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from those expressed or implied in the predictive statements.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Therefore, such information is provided for reference purpose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only and constitutes neither an offer nor an acceptance. Huawei </a:t>
            </a:r>
            <a:br>
              <a:rPr kumimoji="1" lang="en-US" altLang="zh-CN" sz="850" dirty="0">
                <a:solidFill>
                  <a:srgbClr val="1D1D1B"/>
                </a:solidFill>
                <a:latin typeface="Arial" panose="020B0604020202020204"/>
                <a:cs typeface="Arial" panose="020B0604020202020204" pitchFamily="34" charset="0"/>
              </a:rPr>
            </a:br>
            <a:r>
              <a:rPr kumimoji="1" lang="en-US" altLang="zh-CN" sz="850" dirty="0">
                <a:solidFill>
                  <a:srgbClr val="1D1D1B"/>
                </a:solidFill>
                <a:latin typeface="Arial" panose="020B0604020202020204"/>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Arial" panose="020B0604020202020204"/>
            </a:endParaRPr>
          </a:p>
        </p:txBody>
      </p:sp>
      <p:sp>
        <p:nvSpPr>
          <p:cNvPr id="72" name="Subtitle 6">
            <a:extLst>
              <a:ext uri="{FF2B5EF4-FFF2-40B4-BE49-F238E27FC236}">
                <a16:creationId xmlns=""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Arial" panose="020B0604020202020204"/>
                <a:cs typeface="Arial" panose="020B0604020202020204" pitchFamily="34" charset="0"/>
              </a:rPr>
              <a:t>Bring digital to every person, home, and </a:t>
            </a:r>
            <a:br>
              <a:rPr kumimoji="1" lang="en-US" altLang="zh-CN" sz="1200" dirty="0">
                <a:solidFill>
                  <a:srgbClr val="1D1D1B"/>
                </a:solidFill>
                <a:latin typeface="Arial" panose="020B0604020202020204"/>
                <a:cs typeface="Arial" panose="020B0604020202020204" pitchFamily="34" charset="0"/>
              </a:rPr>
            </a:br>
            <a:r>
              <a:rPr kumimoji="1" lang="en-US" altLang="zh-CN" sz="1200" dirty="0">
                <a:solidFill>
                  <a:srgbClr val="1D1D1B"/>
                </a:solidFill>
                <a:latin typeface="Arial" panose="020B0604020202020204"/>
                <a:cs typeface="Arial" panose="020B0604020202020204" pitchFamily="34" charset="0"/>
              </a:rPr>
              <a:t>organization for a fully connected, </a:t>
            </a:r>
            <a:br>
              <a:rPr kumimoji="1" lang="en-US" altLang="zh-CN" sz="1200" dirty="0">
                <a:solidFill>
                  <a:srgbClr val="1D1D1B"/>
                </a:solidFill>
                <a:latin typeface="Arial" panose="020B0604020202020204"/>
                <a:cs typeface="Arial" panose="020B0604020202020204" pitchFamily="34" charset="0"/>
              </a:rPr>
            </a:br>
            <a:r>
              <a:rPr kumimoji="1" lang="en-US" altLang="zh-CN" sz="1200" dirty="0">
                <a:solidFill>
                  <a:srgbClr val="1D1D1B"/>
                </a:solidFill>
                <a:latin typeface="Arial" panose="020B0604020202020204"/>
                <a:cs typeface="Arial" panose="020B0604020202020204" pitchFamily="34" charset="0"/>
              </a:rPr>
              <a:t>intelligent world.</a:t>
            </a:r>
            <a:endParaRPr kumimoji="1" lang="zh-CN" altLang="en-US" sz="1200" dirty="0">
              <a:solidFill>
                <a:srgbClr val="1D1D1B"/>
              </a:solidFill>
              <a:latin typeface="Arial" panose="020B0604020202020204"/>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317273741"/>
      </p:ext>
    </p:extLst>
  </p:cSld>
  <p:clrMap bg1="lt1" tx1="dk1" bg2="lt2" tx2="dk2" accent1="accent1" accent2="accent2" accent3="accent3" accent4="accent4" accent5="accent5" accent6="accent6" hlink="hlink" folHlink="folHlink"/>
  <p:sldLayoutIdLst>
    <p:sldLayoutId id="214748387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chemeClr val="tx2"/>
                  </a:solidFill>
                  <a:latin typeface="Huawei Sans" panose="020C0503030203020204" pitchFamily="34" charset="0"/>
                  <a:ea typeface="Arial"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a:p>
              <a:pPr algn="ctr">
                <a:lnSpc>
                  <a:spcPts val="620"/>
                </a:lnSpc>
                <a:spcBef>
                  <a:spcPts val="0"/>
                </a:spcBef>
              </a:pPr>
              <a:r>
                <a:rPr kumimoji="1" lang="en-US" altLang="zh-CN" sz="500" b="1">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a:solidFill>
                    <a:schemeClr val="tx2"/>
                  </a:solidFill>
                  <a:latin typeface="Huawei Sans" panose="020C0503030203020204" pitchFamily="34" charset="0"/>
                  <a:ea typeface="Arial" charset="0"/>
                  <a:cs typeface="Huawei Sans" panose="020C0503030203020204" pitchFamily="34" charset="0"/>
                </a:rPr>
              </a:br>
              <a:r>
                <a:rPr kumimoji="1" lang="en-US" altLang="zh-CN" sz="500" b="1">
                  <a:solidFill>
                    <a:schemeClr val="tx2"/>
                  </a:solidFill>
                  <a:latin typeface="Huawei Sans" panose="020C0503030203020204" pitchFamily="34" charset="0"/>
                  <a:ea typeface="Arial"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chemeClr val="tx2"/>
                  </a:solidFill>
                  <a:latin typeface="Huawei Sans" panose="020C0503030203020204" pitchFamily="34" charset="0"/>
                  <a:ea typeface="Arial"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r>
                <a:rPr kumimoji="1" lang="en-US" altLang="zh-CN" sz="500" b="1">
                  <a:solidFill>
                    <a:schemeClr val="tx2"/>
                  </a:solidFill>
                  <a:latin typeface="Huawei Sans" panose="020C0503030203020204" pitchFamily="34" charset="0"/>
                  <a:ea typeface="Arial" charset="0"/>
                  <a:cs typeface="Huawei Sans" panose="020C0503030203020204" pitchFamily="34" charset="0"/>
                </a:rPr>
                <a:t/>
              </a:r>
              <a:br>
                <a:rPr kumimoji="1" lang="en-US" altLang="zh-CN" sz="500" b="1">
                  <a:solidFill>
                    <a:schemeClr val="tx2"/>
                  </a:solidFill>
                  <a:latin typeface="Huawei Sans" panose="020C0503030203020204" pitchFamily="34" charset="0"/>
                  <a:ea typeface="Arial" charset="0"/>
                  <a:cs typeface="Huawei Sans" panose="020C0503030203020204" pitchFamily="34" charset="0"/>
                </a:rPr>
              </a:br>
              <a:r>
                <a:rPr kumimoji="1" lang="en-US" altLang="zh-CN" sz="500" b="1">
                  <a:solidFill>
                    <a:schemeClr val="tx2"/>
                  </a:solidFill>
                  <a:latin typeface="Huawei Sans" panose="020C0503030203020204" pitchFamily="34" charset="0"/>
                  <a:ea typeface="Arial"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221/221</a:t>
              </a: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712020813"/>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guide id="9" orient="horz" pos="36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chemeClr val="tx2"/>
                  </a:solidFill>
                  <a:latin typeface="Huawei Sans" panose="020C0503030203020204" pitchFamily="34" charset="0"/>
                  <a:ea typeface="Arial"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a:p>
              <a:pPr algn="ctr">
                <a:lnSpc>
                  <a:spcPts val="620"/>
                </a:lnSpc>
                <a:spcBef>
                  <a:spcPts val="0"/>
                </a:spcBef>
              </a:pPr>
              <a:r>
                <a:rPr kumimoji="1" lang="en-US" altLang="zh-CN" sz="500" b="1">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a:solidFill>
                    <a:schemeClr val="tx2"/>
                  </a:solidFill>
                  <a:latin typeface="Huawei Sans" panose="020C0503030203020204" pitchFamily="34" charset="0"/>
                  <a:ea typeface="Arial" charset="0"/>
                  <a:cs typeface="Huawei Sans" panose="020C0503030203020204" pitchFamily="34" charset="0"/>
                </a:rPr>
              </a:br>
              <a:r>
                <a:rPr kumimoji="1" lang="en-US" altLang="zh-CN" sz="500" b="1">
                  <a:solidFill>
                    <a:schemeClr val="tx2"/>
                  </a:solidFill>
                  <a:latin typeface="Huawei Sans" panose="020C0503030203020204" pitchFamily="34" charset="0"/>
                  <a:ea typeface="Arial"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chemeClr val="tx2"/>
                  </a:solidFill>
                  <a:latin typeface="Huawei Sans" panose="020C0503030203020204" pitchFamily="34" charset="0"/>
                  <a:ea typeface="Arial"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r>
                <a:rPr kumimoji="1" lang="en-US" altLang="zh-CN" sz="500" b="1">
                  <a:solidFill>
                    <a:schemeClr val="tx2"/>
                  </a:solidFill>
                  <a:latin typeface="Huawei Sans" panose="020C0503030203020204" pitchFamily="34" charset="0"/>
                  <a:ea typeface="Arial" charset="0"/>
                  <a:cs typeface="Huawei Sans" panose="020C0503030203020204" pitchFamily="34" charset="0"/>
                </a:rPr>
                <a:t/>
              </a:r>
              <a:br>
                <a:rPr kumimoji="1" lang="en-US" altLang="zh-CN" sz="500" b="1">
                  <a:solidFill>
                    <a:schemeClr val="tx2"/>
                  </a:solidFill>
                  <a:latin typeface="Huawei Sans" panose="020C0503030203020204" pitchFamily="34" charset="0"/>
                  <a:ea typeface="Arial" charset="0"/>
                  <a:cs typeface="Huawei Sans" panose="020C0503030203020204" pitchFamily="34" charset="0"/>
                </a:rPr>
              </a:br>
              <a:r>
                <a:rPr kumimoji="1" lang="en-US" altLang="zh-CN" sz="500" b="1">
                  <a:solidFill>
                    <a:schemeClr val="tx2"/>
                  </a:solidFill>
                  <a:latin typeface="Huawei Sans" panose="020C0503030203020204" pitchFamily="34" charset="0"/>
                  <a:ea typeface="Arial"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charset="0"/>
                <a:cs typeface="Huawei Sans" panose="020C0503030203020204" pitchFamily="34" charset="0"/>
              </a:endParaRP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charset="0"/>
                <a:cs typeface="Huawei Sans" panose="020C0503030203020204" pitchFamily="34" charset="0"/>
              </a:endParaRP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FFFFFF"/>
                  </a:solidFill>
                  <a:latin typeface="Huawei Sans" panose="020C0503030203020204" pitchFamily="34" charset="0"/>
                  <a:ea typeface="Arial"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a:solidFill>
                    <a:srgbClr val="595757"/>
                  </a:solidFill>
                  <a:latin typeface="Huawei Sans" panose="020C0503030203020204" pitchFamily="34" charset="0"/>
                  <a:ea typeface="Arial" charset="0"/>
                  <a:cs typeface="Huawei Sans" panose="020C0503030203020204" pitchFamily="34" charset="0"/>
                </a:rPr>
                <a:t>RGB 221/221</a:t>
              </a: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2768244408"/>
      </p:ext>
    </p:extLst>
  </p:cSld>
  <p:clrMap bg1="lt1" tx1="dk1" bg2="lt2" tx2="dk2" accent1="accent1" accent2="accent2" accent3="accent3" accent4="accent4" accent5="accent5" accent6="accent6" hlink="hlink" folHlink="folHlink"/>
  <p:sldLayoutIdLst>
    <p:sldLayoutId id="214748388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guide id="7" orient="horz" pos="36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2.png"/><Relationship Id="rId21" Type="http://schemas.openxmlformats.org/officeDocument/2006/relationships/image" Target="../media/image28.jpeg"/><Relationship Id="rId7" Type="http://schemas.openxmlformats.org/officeDocument/2006/relationships/image" Target="../media/image16.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12.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13.xml"/><Relationship Id="rId6" Type="http://schemas.openxmlformats.org/officeDocument/2006/relationships/image" Target="../media/image15.png"/><Relationship Id="rId11" Type="http://schemas.microsoft.com/office/2007/relationships/hdphoto" Target="../media/hdphoto2.wdp"/><Relationship Id="rId24" Type="http://schemas.openxmlformats.org/officeDocument/2006/relationships/image" Target="../media/image31.png"/><Relationship Id="rId5" Type="http://schemas.openxmlformats.org/officeDocument/2006/relationships/image" Target="../media/image14.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8.png"/><Relationship Id="rId19" Type="http://schemas.openxmlformats.org/officeDocument/2006/relationships/image" Target="../media/image26.png"/><Relationship Id="rId4" Type="http://schemas.openxmlformats.org/officeDocument/2006/relationships/image" Target="../media/image13.png"/><Relationship Id="rId9" Type="http://schemas.microsoft.com/office/2007/relationships/hdphoto" Target="../media/hdphoto1.wdp"/><Relationship Id="rId14" Type="http://schemas.openxmlformats.org/officeDocument/2006/relationships/image" Target="../media/image21.png"/><Relationship Id="rId22"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9.png"/><Relationship Id="rId3" Type="http://schemas.openxmlformats.org/officeDocument/2006/relationships/notesSlide" Target="../notesSlides/notesSlide14.xml"/><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slideLayout" Target="../slideLayouts/slideLayout15.xml"/><Relationship Id="rId16" Type="http://schemas.openxmlformats.org/officeDocument/2006/relationships/image" Target="../media/image44.png"/><Relationship Id="rId1" Type="http://schemas.openxmlformats.org/officeDocument/2006/relationships/tags" Target="../tags/tag1.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49.png"/><Relationship Id="rId5" Type="http://schemas.microsoft.com/office/2007/relationships/hdphoto" Target="../media/hdphoto3.wdp"/><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6.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3.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7.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1.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5.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7.xml"/><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11.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3.xml"/><Relationship Id="rId1" Type="http://schemas.openxmlformats.org/officeDocument/2006/relationships/slideLayout" Target="../slideLayouts/slideLayout13.xml"/><Relationship Id="rId4" Type="http://schemas.openxmlformats.org/officeDocument/2006/relationships/image" Target="../media/image6.emf"/></Relationships>
</file>

<file path=ppt/slides/_rels/slide8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4.xml"/><Relationship Id="rId1" Type="http://schemas.openxmlformats.org/officeDocument/2006/relationships/slideLayout" Target="../slideLayouts/slideLayout13.xml"/><Relationship Id="rId4" Type="http://schemas.openxmlformats.org/officeDocument/2006/relationships/image" Target="../media/image6.em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8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5.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5.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8.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5.png"/></Relationships>
</file>

<file path=ppt/slides/_rels/slide9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9.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5.png"/></Relationships>
</file>

<file path=ppt/slides/_rels/slide10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7"/>
          </p:nvPr>
        </p:nvSpPr>
        <p:spPr bwMode="gray"/>
        <p:txBody>
          <a:bodyPr/>
          <a:lstStyle/>
          <a:p>
            <a:endParaRPr lang="zh-CN" altLang="en-US" dirty="0">
              <a:sym typeface="Huawei Sans" panose="020C0503030203020204" pitchFamily="34" charset="0"/>
            </a:endParaRPr>
          </a:p>
        </p:txBody>
      </p:sp>
      <p:sp>
        <p:nvSpPr>
          <p:cNvPr id="3" name="文本占位符 2"/>
          <p:cNvSpPr>
            <a:spLocks noGrp="1"/>
          </p:cNvSpPr>
          <p:nvPr>
            <p:ph type="body" sz="quarter" idx="18"/>
          </p:nvPr>
        </p:nvSpPr>
        <p:spPr bwMode="gray"/>
        <p:txBody>
          <a:bodyPr/>
          <a:lstStyle/>
          <a:p>
            <a:r>
              <a:rPr lang="en-US" altLang="zh-CN" dirty="0">
                <a:sym typeface="Huawei Sans" panose="020C0503030203020204" pitchFamily="34" charset="0"/>
              </a:rPr>
              <a:t>Datacom</a:t>
            </a:r>
            <a:endParaRPr lang="zh-CN" altLang="en-US" dirty="0">
              <a:sym typeface="Huawei Sans" panose="020C0503030203020204" pitchFamily="34" charset="0"/>
            </a:endParaRPr>
          </a:p>
        </p:txBody>
      </p:sp>
      <p:sp>
        <p:nvSpPr>
          <p:cNvPr id="4" name="文本占位符 3"/>
          <p:cNvSpPr>
            <a:spLocks noGrp="1"/>
          </p:cNvSpPr>
          <p:nvPr>
            <p:ph type="body" sz="quarter" idx="19"/>
          </p:nvPr>
        </p:nvSpPr>
        <p:spPr bwMode="gray"/>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5" name="文本占位符 4"/>
          <p:cNvSpPr>
            <a:spLocks noGrp="1"/>
          </p:cNvSpPr>
          <p:nvPr>
            <p:ph type="body" sz="quarter" idx="20"/>
          </p:nvPr>
        </p:nvSpPr>
        <p:spPr bwMode="gray"/>
        <p:txBody>
          <a:bodyPr/>
          <a:lstStyle/>
          <a:p>
            <a:r>
              <a:rPr lang="en-US" altLang="zh-CN" dirty="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bwMode="gray"/>
        <p:txBody>
          <a:bodyPr/>
          <a:lstStyle/>
          <a:p>
            <a:r>
              <a:rPr lang="zh-CN" altLang="en-US" dirty="0"/>
              <a:t>吴越</a:t>
            </a:r>
            <a:r>
              <a:rPr lang="en-US" altLang="zh-CN" dirty="0" smtClean="0"/>
              <a:t>/WX291773</a:t>
            </a:r>
            <a:endParaRPr lang="en-US" altLang="zh-CN" dirty="0"/>
          </a:p>
        </p:txBody>
      </p:sp>
      <p:sp>
        <p:nvSpPr>
          <p:cNvPr id="75" name="文本占位符 74"/>
          <p:cNvSpPr>
            <a:spLocks noGrp="1"/>
          </p:cNvSpPr>
          <p:nvPr>
            <p:ph type="body" sz="quarter" idx="14"/>
          </p:nvPr>
        </p:nvSpPr>
        <p:spPr bwMode="gray"/>
        <p:txBody>
          <a:bodyPr/>
          <a:lstStyle/>
          <a:p>
            <a:r>
              <a:rPr lang="en-US" altLang="zh-CN" dirty="0"/>
              <a:t>2021.5.12</a:t>
            </a:r>
            <a:endParaRPr lang="zh-CN" altLang="en-US" dirty="0"/>
          </a:p>
        </p:txBody>
      </p:sp>
      <p:sp>
        <p:nvSpPr>
          <p:cNvPr id="79" name="文本占位符 78"/>
          <p:cNvSpPr>
            <a:spLocks noGrp="1"/>
          </p:cNvSpPr>
          <p:nvPr>
            <p:ph type="body" sz="quarter" idx="15"/>
          </p:nvPr>
        </p:nvSpPr>
        <p:spPr bwMode="gray"/>
        <p:txBody>
          <a:bodyPr/>
          <a:lstStyle/>
          <a:p>
            <a:r>
              <a:rPr lang="zh-CN" altLang="en-US" dirty="0"/>
              <a:t>卢玥玥</a:t>
            </a:r>
            <a:r>
              <a:rPr lang="en-US" altLang="zh-CN" dirty="0" smtClean="0"/>
              <a:t>/WX445705</a:t>
            </a:r>
            <a:endParaRPr lang="zh-CN" altLang="en-US" dirty="0"/>
          </a:p>
        </p:txBody>
      </p:sp>
      <p:sp>
        <p:nvSpPr>
          <p:cNvPr id="80" name="文本占位符 79"/>
          <p:cNvSpPr>
            <a:spLocks noGrp="1"/>
          </p:cNvSpPr>
          <p:nvPr>
            <p:ph type="body" sz="quarter" idx="16"/>
          </p:nvPr>
        </p:nvSpPr>
        <p:spPr bwMode="gray"/>
        <p:txBody>
          <a:bodyPr/>
          <a:lstStyle/>
          <a:p>
            <a:r>
              <a:rPr lang="zh-CN" altLang="en-US" dirty="0">
                <a:sym typeface="Huawei Sans" panose="020C0503030203020204" pitchFamily="34" charset="0"/>
              </a:rPr>
              <a:t>新开发</a:t>
            </a:r>
          </a:p>
        </p:txBody>
      </p:sp>
      <p:sp>
        <p:nvSpPr>
          <p:cNvPr id="6" name="文本占位符 5"/>
          <p:cNvSpPr>
            <a:spLocks noGrp="1"/>
          </p:cNvSpPr>
          <p:nvPr>
            <p:ph type="body" sz="quarter" idx="21"/>
          </p:nvPr>
        </p:nvSpPr>
        <p:spPr bwMode="gray"/>
        <p:txBody>
          <a:bodyPr/>
          <a:lstStyle/>
          <a:p>
            <a:endParaRPr lang="en-US" altLang="zh-CN" dirty="0">
              <a:sym typeface="Huawei Sans" panose="020C0503030203020204" pitchFamily="34" charset="0"/>
            </a:endParaRPr>
          </a:p>
        </p:txBody>
      </p:sp>
      <p:sp>
        <p:nvSpPr>
          <p:cNvPr id="7" name="文本占位符 6"/>
          <p:cNvSpPr>
            <a:spLocks noGrp="1"/>
          </p:cNvSpPr>
          <p:nvPr>
            <p:ph type="body" sz="quarter" idx="22"/>
          </p:nvPr>
        </p:nvSpPr>
        <p:spPr bwMode="gray"/>
        <p:txBody>
          <a:bodyPr/>
          <a:lstStyle/>
          <a:p>
            <a:r>
              <a:rPr lang="en-US" altLang="zh-CN" dirty="0">
                <a:sym typeface="Huawei Sans" panose="020C0503030203020204" pitchFamily="34" charset="0"/>
              </a:rPr>
              <a:t>2020.10.19</a:t>
            </a:r>
            <a:endParaRPr lang="zh-CN" altLang="en-US" dirty="0">
              <a:sym typeface="Huawei Sans" panose="020C0503030203020204" pitchFamily="34" charset="0"/>
            </a:endParaRPr>
          </a:p>
        </p:txBody>
      </p:sp>
      <p:sp>
        <p:nvSpPr>
          <p:cNvPr id="8" name="文本占位符 7"/>
          <p:cNvSpPr>
            <a:spLocks noGrp="1"/>
          </p:cNvSpPr>
          <p:nvPr>
            <p:ph type="body" sz="quarter" idx="23"/>
          </p:nvPr>
        </p:nvSpPr>
        <p:spPr bwMode="gray"/>
        <p:txBody>
          <a:bodyPr/>
          <a:lstStyle/>
          <a:p>
            <a:endParaRPr lang="zh-CN" altLang="en-US" dirty="0">
              <a:sym typeface="Huawei Sans" panose="020C0503030203020204" pitchFamily="34" charset="0"/>
            </a:endParaRPr>
          </a:p>
        </p:txBody>
      </p:sp>
      <p:sp>
        <p:nvSpPr>
          <p:cNvPr id="9" name="文本占位符 8"/>
          <p:cNvSpPr>
            <a:spLocks noGrp="1"/>
          </p:cNvSpPr>
          <p:nvPr>
            <p:ph type="body" sz="quarter" idx="24"/>
          </p:nvPr>
        </p:nvSpPr>
        <p:spPr bwMode="gray"/>
        <p:txBody>
          <a:bodyPr/>
          <a:lstStyle/>
          <a:p>
            <a:endParaRPr lang="zh-CN" altLang="en-US" dirty="0">
              <a:sym typeface="Huawei Sans" panose="020C0503030203020204" pitchFamily="34" charset="0"/>
            </a:endParaRPr>
          </a:p>
        </p:txBody>
      </p:sp>
      <p:sp>
        <p:nvSpPr>
          <p:cNvPr id="10" name="文本占位符 9"/>
          <p:cNvSpPr>
            <a:spLocks noGrp="1"/>
          </p:cNvSpPr>
          <p:nvPr>
            <p:ph type="body" sz="quarter" idx="25"/>
          </p:nvPr>
        </p:nvSpPr>
        <p:spPr bwMode="gray"/>
        <p:txBody>
          <a:bodyPr/>
          <a:lstStyle/>
          <a:p>
            <a:endParaRPr lang="zh-CN" altLang="en-US" dirty="0">
              <a:sym typeface="Huawei Sans" panose="020C0503030203020204" pitchFamily="34" charset="0"/>
            </a:endParaRPr>
          </a:p>
        </p:txBody>
      </p:sp>
      <p:sp>
        <p:nvSpPr>
          <p:cNvPr id="11" name="文本占位符 10"/>
          <p:cNvSpPr>
            <a:spLocks noGrp="1"/>
          </p:cNvSpPr>
          <p:nvPr>
            <p:ph type="body" sz="quarter" idx="26"/>
          </p:nvPr>
        </p:nvSpPr>
        <p:spPr bwMode="gray"/>
        <p:txBody>
          <a:bodyPr/>
          <a:lstStyle/>
          <a:p>
            <a:r>
              <a:rPr lang="en-US" altLang="zh-CN" dirty="0">
                <a:sym typeface="Huawei Sans" panose="020C0503030203020204" pitchFamily="34" charset="0"/>
              </a:rPr>
              <a:t>2020.12.10</a:t>
            </a:r>
            <a:endParaRPr lang="zh-CN" altLang="en-US" dirty="0">
              <a:sym typeface="Huawei Sans" panose="020C0503030203020204" pitchFamily="34" charset="0"/>
            </a:endParaRPr>
          </a:p>
        </p:txBody>
      </p:sp>
      <p:sp>
        <p:nvSpPr>
          <p:cNvPr id="12" name="文本占位符 11"/>
          <p:cNvSpPr>
            <a:spLocks noGrp="1"/>
          </p:cNvSpPr>
          <p:nvPr>
            <p:ph type="body" sz="quarter" idx="27"/>
          </p:nvPr>
        </p:nvSpPr>
        <p:spPr bwMode="gray"/>
        <p:txBody>
          <a:bodyPr/>
          <a:lstStyle/>
          <a:p>
            <a:endParaRPr lang="zh-CN" altLang="en-US" dirty="0">
              <a:sym typeface="Huawei Sans" panose="020C0503030203020204" pitchFamily="34" charset="0"/>
            </a:endParaRPr>
          </a:p>
        </p:txBody>
      </p:sp>
      <p:sp>
        <p:nvSpPr>
          <p:cNvPr id="13" name="文本占位符 12"/>
          <p:cNvSpPr>
            <a:spLocks noGrp="1"/>
          </p:cNvSpPr>
          <p:nvPr>
            <p:ph type="body" sz="quarter" idx="28"/>
          </p:nvPr>
        </p:nvSpPr>
        <p:spPr bwMode="gray"/>
        <p:txBody>
          <a:bodyPr/>
          <a:lstStyle/>
          <a:p>
            <a:endParaRPr lang="zh-CN" altLang="en-US">
              <a:sym typeface="Huawei Sans" panose="020C0503030203020204" pitchFamily="34" charset="0"/>
            </a:endParaRPr>
          </a:p>
        </p:txBody>
      </p:sp>
      <p:sp>
        <p:nvSpPr>
          <p:cNvPr id="14" name="文本占位符 13"/>
          <p:cNvSpPr>
            <a:spLocks noGrp="1"/>
          </p:cNvSpPr>
          <p:nvPr>
            <p:ph type="body" sz="quarter" idx="29"/>
          </p:nvPr>
        </p:nvSpPr>
        <p:spPr bwMode="gray"/>
        <p:txBody>
          <a:bodyPr/>
          <a:lstStyle/>
          <a:p>
            <a:endParaRPr lang="zh-CN" altLang="en-US">
              <a:sym typeface="Huawei Sans" panose="020C0503030203020204" pitchFamily="34" charset="0"/>
            </a:endParaRPr>
          </a:p>
        </p:txBody>
      </p:sp>
      <p:sp>
        <p:nvSpPr>
          <p:cNvPr id="15" name="文本占位符 14"/>
          <p:cNvSpPr>
            <a:spLocks noGrp="1"/>
          </p:cNvSpPr>
          <p:nvPr>
            <p:ph type="body" sz="quarter" idx="30"/>
          </p:nvPr>
        </p:nvSpPr>
        <p:spPr bwMode="gray"/>
        <p:txBody>
          <a:bodyPr/>
          <a:lstStyle/>
          <a:p>
            <a:endParaRPr lang="zh-CN" altLang="en-US">
              <a:sym typeface="Huawei Sans" panose="020C0503030203020204" pitchFamily="34" charset="0"/>
            </a:endParaRPr>
          </a:p>
        </p:txBody>
      </p:sp>
      <p:sp>
        <p:nvSpPr>
          <p:cNvPr id="16" name="文本占位符 15"/>
          <p:cNvSpPr>
            <a:spLocks noGrp="1"/>
          </p:cNvSpPr>
          <p:nvPr>
            <p:ph type="body" sz="quarter" idx="31"/>
          </p:nvPr>
        </p:nvSpPr>
        <p:spPr bwMode="gray"/>
        <p:txBody>
          <a:bodyPr/>
          <a:lstStyle/>
          <a:p>
            <a:endParaRPr lang="zh-CN" altLang="en-US">
              <a:sym typeface="Huawei Sans" panose="020C0503030203020204" pitchFamily="34" charset="0"/>
            </a:endParaRPr>
          </a:p>
        </p:txBody>
      </p:sp>
      <p:sp>
        <p:nvSpPr>
          <p:cNvPr id="17" name="文本占位符 16"/>
          <p:cNvSpPr>
            <a:spLocks noGrp="1"/>
          </p:cNvSpPr>
          <p:nvPr>
            <p:ph type="body" sz="quarter" idx="32"/>
          </p:nvPr>
        </p:nvSpPr>
        <p:spPr bwMode="gray"/>
        <p:txBody>
          <a:bodyPr/>
          <a:lstStyle/>
          <a:p>
            <a:endParaRPr lang="zh-CN" altLang="en-US">
              <a:sym typeface="Huawei Sans" panose="020C0503030203020204" pitchFamily="34" charset="0"/>
            </a:endParaRPr>
          </a:p>
        </p:txBody>
      </p:sp>
      <p:sp>
        <p:nvSpPr>
          <p:cNvPr id="18" name="文本占位符 17"/>
          <p:cNvSpPr>
            <a:spLocks noGrp="1"/>
          </p:cNvSpPr>
          <p:nvPr>
            <p:ph type="body" sz="quarter" idx="33"/>
          </p:nvPr>
        </p:nvSpPr>
        <p:spPr bwMode="gray"/>
        <p:txBody>
          <a:bodyPr/>
          <a:lstStyle/>
          <a:p>
            <a:endParaRPr lang="zh-CN" altLang="en-US">
              <a:sym typeface="Huawei Sans" panose="020C0503030203020204" pitchFamily="34" charset="0"/>
            </a:endParaRPr>
          </a:p>
        </p:txBody>
      </p:sp>
      <p:sp>
        <p:nvSpPr>
          <p:cNvPr id="19" name="文本占位符 18"/>
          <p:cNvSpPr>
            <a:spLocks noGrp="1"/>
          </p:cNvSpPr>
          <p:nvPr>
            <p:ph type="body" sz="quarter" idx="34"/>
          </p:nvPr>
        </p:nvSpPr>
        <p:spPr bwMode="gray"/>
        <p:txBody>
          <a:bodyPr/>
          <a:lstStyle/>
          <a:p>
            <a:endParaRPr lang="zh-CN" altLang="en-US">
              <a:sym typeface="Huawei Sans" panose="020C0503030203020204" pitchFamily="34" charset="0"/>
            </a:endParaRPr>
          </a:p>
        </p:txBody>
      </p:sp>
      <p:sp>
        <p:nvSpPr>
          <p:cNvPr id="20" name="文本占位符 19"/>
          <p:cNvSpPr>
            <a:spLocks noGrp="1"/>
          </p:cNvSpPr>
          <p:nvPr>
            <p:ph type="body" sz="quarter" idx="35"/>
          </p:nvPr>
        </p:nvSpPr>
        <p:spPr bwMode="gray"/>
        <p:txBody>
          <a:bodyPr/>
          <a:lstStyle/>
          <a:p>
            <a:endParaRPr lang="zh-CN" altLang="en-US">
              <a:sym typeface="Huawei Sans" panose="020C0503030203020204" pitchFamily="34" charset="0"/>
            </a:endParaRPr>
          </a:p>
        </p:txBody>
      </p:sp>
      <p:sp>
        <p:nvSpPr>
          <p:cNvPr id="21" name="文本占位符 20"/>
          <p:cNvSpPr>
            <a:spLocks noGrp="1"/>
          </p:cNvSpPr>
          <p:nvPr>
            <p:ph type="body" sz="quarter" idx="36"/>
          </p:nvPr>
        </p:nvSpPr>
        <p:spPr bwMode="gray"/>
        <p:txBody>
          <a:bodyPr/>
          <a:lstStyle/>
          <a:p>
            <a:endParaRPr lang="zh-CN" altLang="en-US">
              <a:sym typeface="Huawei Sans" panose="020C0503030203020204" pitchFamily="34" charset="0"/>
            </a:endParaRPr>
          </a:p>
        </p:txBody>
      </p:sp>
    </p:spTree>
    <p:extLst>
      <p:ext uri="{BB962C8B-B14F-4D97-AF65-F5344CB8AC3E}">
        <p14:creationId xmlns:p14="http://schemas.microsoft.com/office/powerpoint/2010/main" val="1149700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bwMode="gray"/>
        <p:txBody>
          <a:bodyPr/>
          <a:lstStyle/>
          <a:p>
            <a:r>
              <a:rPr lang="zh-CN" altLang="en-US" dirty="0">
                <a:sym typeface="Huawei Sans" panose="020C0503030203020204" pitchFamily="34" charset="0"/>
              </a:rPr>
              <a:t>企业广域承载网络设计</a:t>
            </a:r>
          </a:p>
        </p:txBody>
      </p:sp>
    </p:spTree>
    <p:extLst>
      <p:ext uri="{BB962C8B-B14F-4D97-AF65-F5344CB8AC3E}">
        <p14:creationId xmlns:p14="http://schemas.microsoft.com/office/powerpoint/2010/main" val="2080284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a:xfrm>
            <a:off x="1019174" y="1844675"/>
            <a:ext cx="10153651" cy="4356100"/>
          </a:xfrm>
        </p:spPr>
        <p:txBody>
          <a:bodyPr/>
          <a:lstStyle/>
          <a:p>
            <a:r>
              <a:rPr lang="zh-CN" altLang="en-US" sz="2000" dirty="0">
                <a:sym typeface="Huawei Sans" panose="020C0503030203020204" pitchFamily="34" charset="0"/>
              </a:rPr>
              <a:t>企业广域承载网络也可称为企业广域骨干网络，用于实现企业分支之间、企业分支与云之间、云和云之间的互联互通。</a:t>
            </a:r>
          </a:p>
          <a:p>
            <a:r>
              <a:rPr lang="zh-CN" altLang="en-US" sz="2000" dirty="0">
                <a:sym typeface="Huawei Sans" panose="020C0503030203020204" pitchFamily="34" charset="0"/>
              </a:rPr>
              <a:t>过去企业广域承载网络只需要起到转发流量的作用即可，但是随着企业业务的发展，企业业务对于网络的依赖性开始变高，因此业务对于网络提出了</a:t>
            </a:r>
            <a:r>
              <a:rPr lang="en-US" altLang="zh-CN" sz="2000" dirty="0">
                <a:sym typeface="Huawei Sans" panose="020C0503030203020204" pitchFamily="34" charset="0"/>
              </a:rPr>
              <a:t>SLA</a:t>
            </a:r>
            <a:r>
              <a:rPr lang="zh-CN" altLang="en-US" sz="2000" dirty="0">
                <a:sym typeface="Huawei Sans" panose="020C0503030203020204" pitchFamily="34" charset="0"/>
              </a:rPr>
              <a:t>保障的要求。</a:t>
            </a:r>
            <a:endParaRPr lang="en-US" altLang="zh-CN" sz="2000" dirty="0">
              <a:sym typeface="Huawei Sans" panose="020C0503030203020204" pitchFamily="34" charset="0"/>
            </a:endParaRPr>
          </a:p>
          <a:p>
            <a:r>
              <a:rPr lang="zh-CN" altLang="en-US" sz="2000" dirty="0">
                <a:sym typeface="Huawei Sans" panose="020C0503030203020204" pitchFamily="34" charset="0"/>
              </a:rPr>
              <a:t>企业广域承载网络为了满足业务的需求出现了各种新技术，但是随之而来的是广域承载网络的运维与设计的复杂化。</a:t>
            </a:r>
            <a:endParaRPr lang="en-US" altLang="zh-CN" sz="2000" dirty="0">
              <a:sym typeface="Huawei Sans" panose="020C0503030203020204" pitchFamily="34" charset="0"/>
            </a:endParaRPr>
          </a:p>
          <a:p>
            <a:r>
              <a:rPr lang="zh-CN" altLang="en-US" sz="2000" dirty="0">
                <a:sym typeface="Huawei Sans" panose="020C0503030203020204" pitchFamily="34" charset="0"/>
              </a:rPr>
              <a:t>本节课将基于华为云广域网络解决方案，为大家理清广域承载网络涉及的相关技术与网络设计思路。</a:t>
            </a:r>
          </a:p>
        </p:txBody>
      </p:sp>
    </p:spTree>
    <p:extLst>
      <p:ext uri="{BB962C8B-B14F-4D97-AF65-F5344CB8AC3E}">
        <p14:creationId xmlns:p14="http://schemas.microsoft.com/office/powerpoint/2010/main" val="4191069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a:sym typeface="Huawei Sans" panose="020C0503030203020204" pitchFamily="34" charset="0"/>
              </a:rPr>
              <a:t>学完本课程后，您将能够：</a:t>
            </a:r>
            <a:endParaRPr lang="en-US" altLang="zh-CN">
              <a:sym typeface="Huawei Sans" panose="020C0503030203020204" pitchFamily="34" charset="0"/>
            </a:endParaRPr>
          </a:p>
          <a:p>
            <a:pPr lvl="1"/>
            <a:r>
              <a:rPr lang="zh-CN" altLang="en-US">
                <a:sym typeface="Huawei Sans" panose="020C0503030203020204" pitchFamily="34" charset="0"/>
              </a:rPr>
              <a:t>描述企业广域承载网络面临的挑战</a:t>
            </a:r>
            <a:endParaRPr lang="en-US" altLang="zh-CN">
              <a:sym typeface="Huawei Sans" panose="020C0503030203020204" pitchFamily="34" charset="0"/>
            </a:endParaRPr>
          </a:p>
          <a:p>
            <a:pPr lvl="1"/>
            <a:r>
              <a:rPr lang="zh-CN" altLang="en-US">
                <a:sym typeface="Huawei Sans" panose="020C0503030203020204" pitchFamily="34" charset="0"/>
              </a:rPr>
              <a:t>描述华为云广域网络解决方案的基本功能</a:t>
            </a:r>
            <a:endParaRPr lang="en-US" altLang="zh-CN">
              <a:sym typeface="Huawei Sans" panose="020C0503030203020204" pitchFamily="34" charset="0"/>
            </a:endParaRPr>
          </a:p>
          <a:p>
            <a:pPr lvl="1"/>
            <a:r>
              <a:rPr lang="zh-CN" altLang="en-US">
                <a:sym typeface="Huawei Sans" panose="020C0503030203020204" pitchFamily="34" charset="0"/>
              </a:rPr>
              <a:t>描述企业广域承载网络的基础设计思路</a:t>
            </a:r>
            <a:endParaRPr lang="en-US" altLang="zh-CN">
              <a:sym typeface="Huawei Sans" panose="020C0503030203020204" pitchFamily="34" charset="0"/>
            </a:endParaRPr>
          </a:p>
          <a:p>
            <a:pPr lvl="1"/>
            <a:r>
              <a:rPr lang="zh-CN" altLang="en-US">
                <a:sym typeface="Huawei Sans" panose="020C0503030203020204" pitchFamily="34" charset="0"/>
              </a:rPr>
              <a:t>描述企业广域承载网络隧道与</a:t>
            </a:r>
            <a:r>
              <a:rPr lang="en-US" altLang="zh-CN">
                <a:sym typeface="Huawei Sans" panose="020C0503030203020204" pitchFamily="34" charset="0"/>
              </a:rPr>
              <a:t>VPN</a:t>
            </a:r>
            <a:r>
              <a:rPr lang="zh-CN" altLang="en-US">
                <a:sym typeface="Huawei Sans" panose="020C0503030203020204" pitchFamily="34" charset="0"/>
              </a:rPr>
              <a:t>设计思路</a:t>
            </a:r>
            <a:endParaRPr lang="en-US" altLang="zh-CN">
              <a:sym typeface="Huawei Sans" panose="020C0503030203020204" pitchFamily="34" charset="0"/>
            </a:endParaRPr>
          </a:p>
          <a:p>
            <a:pPr lvl="1"/>
            <a:r>
              <a:rPr lang="zh-CN" altLang="en-US"/>
              <a:t>描述企业广域承载网络</a:t>
            </a:r>
            <a:r>
              <a:rPr lang="en-US" altLang="zh-CN"/>
              <a:t>SLA</a:t>
            </a:r>
            <a:r>
              <a:rPr lang="zh-CN" altLang="en-US"/>
              <a:t>与可靠性设计</a:t>
            </a:r>
            <a:r>
              <a:rPr lang="zh-CN" altLang="en-US">
                <a:sym typeface="Huawei Sans" panose="020C0503030203020204" pitchFamily="34" charset="0"/>
              </a:rPr>
              <a:t>思路</a:t>
            </a:r>
            <a:endParaRPr lang="en-US" altLang="zh-CN">
              <a:sym typeface="Huawei Sans" panose="020C0503030203020204" pitchFamily="34" charset="0"/>
            </a:endParaRPr>
          </a:p>
          <a:p>
            <a:pPr lvl="1"/>
            <a:r>
              <a:rPr lang="zh-CN" altLang="en-US"/>
              <a:t>描述企业广域承载网络优化与运维设计</a:t>
            </a:r>
            <a:r>
              <a:rPr lang="zh-CN" altLang="en-US">
                <a:sym typeface="Huawei Sans" panose="020C0503030203020204" pitchFamily="34" charset="0"/>
              </a:rPr>
              <a:t>思路</a:t>
            </a:r>
            <a:endParaRPr lang="zh-CN" altLang="en-US" dirty="0"/>
          </a:p>
        </p:txBody>
      </p:sp>
    </p:spTree>
    <p:extLst>
      <p:ext uri="{BB962C8B-B14F-4D97-AF65-F5344CB8AC3E}">
        <p14:creationId xmlns:p14="http://schemas.microsoft.com/office/powerpoint/2010/main" val="14051844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t>企业广域承载网络现状与挑战</a:t>
            </a:r>
            <a:endParaRPr lang="en-US" altLang="zh-CN" b="1" dirty="0"/>
          </a:p>
          <a:p>
            <a:r>
              <a:rPr lang="zh-CN" altLang="en-US" dirty="0">
                <a:solidFill>
                  <a:schemeClr val="bg1">
                    <a:lumMod val="50000"/>
                  </a:schemeClr>
                </a:solidFill>
              </a:rPr>
              <a:t>华为云广域网络解决方案概述</a:t>
            </a:r>
            <a:endParaRPr lang="en-US" altLang="zh-CN" dirty="0">
              <a:solidFill>
                <a:schemeClr val="bg1">
                  <a:lumMod val="50000"/>
                </a:schemeClr>
              </a:solidFill>
            </a:endParaRPr>
          </a:p>
          <a:p>
            <a:r>
              <a:rPr lang="zh-CN" altLang="en-US" dirty="0">
                <a:solidFill>
                  <a:schemeClr val="bg1">
                    <a:lumMod val="50000"/>
                  </a:schemeClr>
                </a:solidFill>
              </a:rPr>
              <a:t>企业广域承载基础网络设计</a:t>
            </a:r>
            <a:endParaRPr lang="en-US" altLang="zh-CN" dirty="0">
              <a:solidFill>
                <a:schemeClr val="bg1">
                  <a:lumMod val="50000"/>
                </a:schemeClr>
              </a:solidFill>
            </a:endParaRPr>
          </a:p>
          <a:p>
            <a:r>
              <a:rPr lang="zh-CN" altLang="en-US" dirty="0">
                <a:solidFill>
                  <a:schemeClr val="bg1">
                    <a:lumMod val="50000"/>
                  </a:schemeClr>
                </a:solidFill>
              </a:rPr>
              <a:t>企业广域承载网络隧道与</a:t>
            </a:r>
            <a:r>
              <a:rPr lang="en-US" altLang="zh-CN" dirty="0">
                <a:solidFill>
                  <a:schemeClr val="bg1">
                    <a:lumMod val="50000"/>
                  </a:schemeClr>
                </a:solidFill>
              </a:rPr>
              <a:t>VPN</a:t>
            </a:r>
            <a:r>
              <a:rPr lang="zh-CN" altLang="en-US" dirty="0">
                <a:solidFill>
                  <a:schemeClr val="bg1">
                    <a:lumMod val="50000"/>
                  </a:schemeClr>
                </a:solidFill>
              </a:rPr>
              <a:t>设计</a:t>
            </a:r>
            <a:endParaRPr lang="en-US" altLang="zh-CN" dirty="0">
              <a:solidFill>
                <a:schemeClr val="bg1">
                  <a:lumMod val="50000"/>
                </a:schemeClr>
              </a:solidFill>
            </a:endParaRPr>
          </a:p>
          <a:p>
            <a:r>
              <a:rPr lang="zh-CN" altLang="en-US" dirty="0">
                <a:solidFill>
                  <a:schemeClr val="bg1">
                    <a:lumMod val="50000"/>
                  </a:schemeClr>
                </a:solidFill>
              </a:rPr>
              <a:t>企业广域承载网络</a:t>
            </a:r>
            <a:r>
              <a:rPr lang="en-US" altLang="zh-CN" dirty="0">
                <a:solidFill>
                  <a:schemeClr val="bg1">
                    <a:lumMod val="50000"/>
                  </a:schemeClr>
                </a:solidFill>
              </a:rPr>
              <a:t>SLA</a:t>
            </a:r>
            <a:r>
              <a:rPr lang="zh-CN" altLang="en-US" dirty="0">
                <a:solidFill>
                  <a:schemeClr val="bg1">
                    <a:lumMod val="50000"/>
                  </a:schemeClr>
                </a:solidFill>
              </a:rPr>
              <a:t>与可靠性设计</a:t>
            </a:r>
            <a:endParaRPr lang="en-US" altLang="zh-CN" dirty="0">
              <a:solidFill>
                <a:schemeClr val="bg1">
                  <a:lumMod val="50000"/>
                </a:schemeClr>
              </a:solidFill>
            </a:endParaRPr>
          </a:p>
          <a:p>
            <a:r>
              <a:rPr lang="zh-CN" altLang="en-US" dirty="0">
                <a:solidFill>
                  <a:schemeClr val="bg1">
                    <a:lumMod val="50000"/>
                  </a:schemeClr>
                </a:solidFill>
              </a:rPr>
              <a:t>企业广域承载网络优化与运维设计</a:t>
            </a:r>
            <a:endParaRPr lang="en-US" altLang="zh-CN" dirty="0">
              <a:solidFill>
                <a:schemeClr val="bg1">
                  <a:lumMod val="50000"/>
                </a:schemeClr>
              </a:solidFill>
            </a:endParaRPr>
          </a:p>
          <a:p>
            <a:endParaRPr lang="en-US" altLang="zh-CN" dirty="0"/>
          </a:p>
        </p:txBody>
      </p:sp>
    </p:spTree>
    <p:extLst>
      <p:ext uri="{BB962C8B-B14F-4D97-AF65-F5344CB8AC3E}">
        <p14:creationId xmlns:p14="http://schemas.microsoft.com/office/powerpoint/2010/main" val="3831543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梯形 41">
            <a:extLst>
              <a:ext uri="{FF2B5EF4-FFF2-40B4-BE49-F238E27FC236}">
                <a16:creationId xmlns="" xmlns:a16="http://schemas.microsoft.com/office/drawing/2014/main" id="{81850ED7-C827-42B4-B56B-3EF3508CDAC0}"/>
              </a:ext>
            </a:extLst>
          </p:cNvPr>
          <p:cNvSpPr/>
          <p:nvPr/>
        </p:nvSpPr>
        <p:spPr bwMode="gray">
          <a:xfrm>
            <a:off x="3484038" y="3976755"/>
            <a:ext cx="520368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53">
            <a:extLst>
              <a:ext uri="{FF2B5EF4-FFF2-40B4-BE49-F238E27FC236}">
                <a16:creationId xmlns="" xmlns:a16="http://schemas.microsoft.com/office/drawing/2014/main" id="{4F009996-247B-4382-B576-6EEB0C3BFB87}"/>
              </a:ext>
            </a:extLst>
          </p:cNvPr>
          <p:cNvSpPr/>
          <p:nvPr/>
        </p:nvSpPr>
        <p:spPr bwMode="gray">
          <a:xfrm>
            <a:off x="4466130" y="4519268"/>
            <a:ext cx="3293341" cy="1529980"/>
          </a:xfrm>
          <a:prstGeom prst="ellips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txBody>
          <a:bodyPr rtlCol="0" anchor="ctr"/>
          <a:lst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a:lstStyle>
          <a:p>
            <a:pPr algn="ctr">
              <a:buNone/>
            </a:pPr>
            <a:endParaRPr lang="en-US" sz="1800" dirty="0">
              <a:latin typeface="Huawei Sans" panose="020C0503030203020204" pitchFamily="34" charset="0"/>
              <a:ea typeface="方正兰亭黑简体" panose="02000000000000000000" pitchFamily="2" charset="-122"/>
            </a:endParaRPr>
          </a:p>
        </p:txBody>
      </p:sp>
      <p:pic>
        <p:nvPicPr>
          <p:cNvPr id="14" name="图片 1118">
            <a:extLst>
              <a:ext uri="{FF2B5EF4-FFF2-40B4-BE49-F238E27FC236}">
                <a16:creationId xmlns="" xmlns:a16="http://schemas.microsoft.com/office/drawing/2014/main" id="{CA98DBD8-C84D-471A-9B86-0A768C289DF7}"/>
              </a:ext>
            </a:extLst>
          </p:cNvPr>
          <p:cNvPicPr>
            <a:picLocks noChangeAspect="1"/>
          </p:cNvPicPr>
          <p:nvPr/>
        </p:nvPicPr>
        <p:blipFill>
          <a:blip r:embed="rId3"/>
          <a:stretch>
            <a:fillRect/>
          </a:stretch>
        </p:blipFill>
        <p:spPr bwMode="gray">
          <a:xfrm>
            <a:off x="4457226" y="5560368"/>
            <a:ext cx="450745" cy="361743"/>
          </a:xfrm>
          <a:prstGeom prst="rect">
            <a:avLst/>
          </a:prstGeom>
        </p:spPr>
      </p:pic>
      <p:pic>
        <p:nvPicPr>
          <p:cNvPr id="58" name="图片 1118">
            <a:extLst>
              <a:ext uri="{FF2B5EF4-FFF2-40B4-BE49-F238E27FC236}">
                <a16:creationId xmlns="" xmlns:a16="http://schemas.microsoft.com/office/drawing/2014/main" id="{7B6E71C0-7AAE-4988-AF7E-AE368FD81F01}"/>
              </a:ext>
            </a:extLst>
          </p:cNvPr>
          <p:cNvPicPr>
            <a:picLocks noChangeAspect="1"/>
          </p:cNvPicPr>
          <p:nvPr/>
        </p:nvPicPr>
        <p:blipFill>
          <a:blip r:embed="rId3"/>
          <a:stretch>
            <a:fillRect/>
          </a:stretch>
        </p:blipFill>
        <p:spPr bwMode="gray">
          <a:xfrm>
            <a:off x="5129006" y="4434095"/>
            <a:ext cx="450745" cy="361743"/>
          </a:xfrm>
          <a:prstGeom prst="rect">
            <a:avLst/>
          </a:prstGeom>
        </p:spPr>
      </p:pic>
      <p:pic>
        <p:nvPicPr>
          <p:cNvPr id="59" name="图片 1118">
            <a:extLst>
              <a:ext uri="{FF2B5EF4-FFF2-40B4-BE49-F238E27FC236}">
                <a16:creationId xmlns="" xmlns:a16="http://schemas.microsoft.com/office/drawing/2014/main" id="{AE0D3CB2-7F6A-4EF9-86B4-BD8604C94055}"/>
              </a:ext>
            </a:extLst>
          </p:cNvPr>
          <p:cNvPicPr>
            <a:picLocks noChangeAspect="1"/>
          </p:cNvPicPr>
          <p:nvPr/>
        </p:nvPicPr>
        <p:blipFill>
          <a:blip r:embed="rId3"/>
          <a:stretch>
            <a:fillRect/>
          </a:stretch>
        </p:blipFill>
        <p:spPr bwMode="gray">
          <a:xfrm>
            <a:off x="6646985" y="4432072"/>
            <a:ext cx="450745" cy="361743"/>
          </a:xfrm>
          <a:prstGeom prst="rect">
            <a:avLst/>
          </a:prstGeom>
        </p:spPr>
      </p:pic>
      <p:pic>
        <p:nvPicPr>
          <p:cNvPr id="60" name="图片 1118">
            <a:extLst>
              <a:ext uri="{FF2B5EF4-FFF2-40B4-BE49-F238E27FC236}">
                <a16:creationId xmlns="" xmlns:a16="http://schemas.microsoft.com/office/drawing/2014/main" id="{84166063-AF17-499D-899E-98AD308087D6}"/>
              </a:ext>
            </a:extLst>
          </p:cNvPr>
          <p:cNvPicPr>
            <a:picLocks noChangeAspect="1"/>
          </p:cNvPicPr>
          <p:nvPr/>
        </p:nvPicPr>
        <p:blipFill>
          <a:blip r:embed="rId3"/>
          <a:stretch>
            <a:fillRect/>
          </a:stretch>
        </p:blipFill>
        <p:spPr bwMode="gray">
          <a:xfrm>
            <a:off x="7426145" y="5555547"/>
            <a:ext cx="450745" cy="361743"/>
          </a:xfrm>
          <a:prstGeom prst="rect">
            <a:avLst/>
          </a:prstGeom>
        </p:spPr>
      </p:pic>
      <p:sp>
        <p:nvSpPr>
          <p:cNvPr id="3" name="Title 2">
            <a:extLst>
              <a:ext uri="{FF2B5EF4-FFF2-40B4-BE49-F238E27FC236}">
                <a16:creationId xmlns="" xmlns:a16="http://schemas.microsoft.com/office/drawing/2014/main" id="{A4CD10D7-58D3-4612-8B78-40900D31CE75}"/>
              </a:ext>
            </a:extLst>
          </p:cNvPr>
          <p:cNvSpPr>
            <a:spLocks noGrp="1"/>
          </p:cNvSpPr>
          <p:nvPr>
            <p:ph type="title"/>
          </p:nvPr>
        </p:nvSpPr>
        <p:spPr bwMode="gray"/>
        <p:txBody>
          <a:bodyPr/>
          <a:lstStyle/>
          <a:p>
            <a:r>
              <a:rPr lang="zh-CN" altLang="en-US" dirty="0"/>
              <a:t>企业广域承载网介绍</a:t>
            </a:r>
            <a:endParaRPr lang="en-US" dirty="0"/>
          </a:p>
        </p:txBody>
      </p:sp>
      <p:sp>
        <p:nvSpPr>
          <p:cNvPr id="116" name="Text Placeholder 115">
            <a:extLst>
              <a:ext uri="{FF2B5EF4-FFF2-40B4-BE49-F238E27FC236}">
                <a16:creationId xmlns="" xmlns:a16="http://schemas.microsoft.com/office/drawing/2014/main" id="{A194A222-2089-4CFC-BAE4-7B6219E81931}"/>
              </a:ext>
            </a:extLst>
          </p:cNvPr>
          <p:cNvSpPr>
            <a:spLocks noGrp="1"/>
          </p:cNvSpPr>
          <p:nvPr>
            <p:ph type="body" sz="quarter" idx="10"/>
          </p:nvPr>
        </p:nvSpPr>
        <p:spPr bwMode="gray">
          <a:xfrm>
            <a:off x="455612" y="1047750"/>
            <a:ext cx="11293475" cy="1850579"/>
          </a:xfrm>
        </p:spPr>
        <p:txBody>
          <a:bodyPr/>
          <a:lstStyle/>
          <a:p>
            <a:r>
              <a:rPr lang="zh-CN" altLang="en-US" sz="1800" dirty="0"/>
              <a:t>广域承载网按照层次划分可以分为</a:t>
            </a:r>
            <a:r>
              <a:rPr lang="en-US" altLang="zh-CN" sz="1800" dirty="0"/>
              <a:t>IP</a:t>
            </a:r>
            <a:r>
              <a:rPr lang="zh-CN" altLang="en-US" sz="1800" dirty="0"/>
              <a:t>承载网与传输承载网，对于大多数企业来说传输承载网往往无法自建（铺设光纤需要资质），因此一般会租用运营商的传输线路。基于传输网络，企业可以自行构建</a:t>
            </a:r>
            <a:r>
              <a:rPr lang="en-US" altLang="zh-CN" sz="1800" dirty="0"/>
              <a:t>IP</a:t>
            </a:r>
            <a:r>
              <a:rPr lang="zh-CN" altLang="en-US" sz="1800" dirty="0"/>
              <a:t>承载网。</a:t>
            </a:r>
            <a:endParaRPr lang="en-US" altLang="zh-CN" sz="1800" dirty="0"/>
          </a:p>
          <a:p>
            <a:r>
              <a:rPr lang="zh-CN" altLang="en-US" sz="1800" dirty="0"/>
              <a:t>企业自建的</a:t>
            </a:r>
            <a:r>
              <a:rPr lang="en-US" altLang="zh-CN" sz="1800" dirty="0"/>
              <a:t>IP</a:t>
            </a:r>
            <a:r>
              <a:rPr lang="zh-CN" altLang="en-US" sz="1800" dirty="0"/>
              <a:t>承载网络就是企业广域承载网，有时也被称为企业骨干网或企业核心网。</a:t>
            </a:r>
            <a:endParaRPr lang="en-US" altLang="zh-CN" sz="1800" dirty="0"/>
          </a:p>
          <a:p>
            <a:r>
              <a:rPr lang="zh-CN" altLang="en-US" sz="1800" dirty="0"/>
              <a:t>企业承载网承载了企业内部跨地域互联的业务，比如数据中心之间的同步业务，企业分支与总部之间的语音业务等。</a:t>
            </a:r>
            <a:endParaRPr lang="en-US" altLang="zh-CN" sz="1800" dirty="0"/>
          </a:p>
        </p:txBody>
      </p:sp>
      <p:sp>
        <p:nvSpPr>
          <p:cNvPr id="42" name="TextBox 41">
            <a:extLst>
              <a:ext uri="{FF2B5EF4-FFF2-40B4-BE49-F238E27FC236}">
                <a16:creationId xmlns="" xmlns:a16="http://schemas.microsoft.com/office/drawing/2014/main" id="{A948373B-414A-47A9-B4A3-2C9793D208EC}"/>
              </a:ext>
            </a:extLst>
          </p:cNvPr>
          <p:cNvSpPr txBox="1"/>
          <p:nvPr/>
        </p:nvSpPr>
        <p:spPr bwMode="gray">
          <a:xfrm>
            <a:off x="7500792" y="5872509"/>
            <a:ext cx="1082348"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传输承载网</a:t>
            </a:r>
          </a:p>
        </p:txBody>
      </p:sp>
      <p:sp>
        <p:nvSpPr>
          <p:cNvPr id="2" name="Parallelogram 1">
            <a:extLst>
              <a:ext uri="{FF2B5EF4-FFF2-40B4-BE49-F238E27FC236}">
                <a16:creationId xmlns="" xmlns:a16="http://schemas.microsoft.com/office/drawing/2014/main" id="{3D6A7C60-9D22-42DC-8943-125D2C5D896B}"/>
              </a:ext>
            </a:extLst>
          </p:cNvPr>
          <p:cNvSpPr/>
          <p:nvPr/>
        </p:nvSpPr>
        <p:spPr bwMode="gray">
          <a:xfrm>
            <a:off x="1694623" y="4254700"/>
            <a:ext cx="2439006"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Freeform 159">
            <a:extLst>
              <a:ext uri="{FF2B5EF4-FFF2-40B4-BE49-F238E27FC236}">
                <a16:creationId xmlns="" xmlns:a16="http://schemas.microsoft.com/office/drawing/2014/main" id="{D6C730AA-2528-47E9-B26A-B30F1AD3264B}"/>
              </a:ext>
            </a:extLst>
          </p:cNvPr>
          <p:cNvSpPr/>
          <p:nvPr/>
        </p:nvSpPr>
        <p:spPr bwMode="gray">
          <a:xfrm flipH="1">
            <a:off x="2258119" y="443314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30" name="图片 51" descr="交换机.png">
            <a:extLst>
              <a:ext uri="{FF2B5EF4-FFF2-40B4-BE49-F238E27FC236}">
                <a16:creationId xmlns="" xmlns:a16="http://schemas.microsoft.com/office/drawing/2014/main" id="{F0668237-8B99-4428-8023-FE41489A9E24}"/>
              </a:ext>
            </a:extLst>
          </p:cNvPr>
          <p:cNvPicPr>
            <a:picLocks noChangeAspect="1"/>
          </p:cNvPicPr>
          <p:nvPr/>
        </p:nvPicPr>
        <p:blipFill>
          <a:blip r:embed="rId4" cstate="print"/>
          <a:stretch>
            <a:fillRect/>
          </a:stretch>
        </p:blipFill>
        <p:spPr bwMode="gray">
          <a:xfrm>
            <a:off x="2503006" y="4215072"/>
            <a:ext cx="417163" cy="341314"/>
          </a:xfrm>
          <a:prstGeom prst="rect">
            <a:avLst/>
          </a:prstGeom>
        </p:spPr>
      </p:pic>
      <p:pic>
        <p:nvPicPr>
          <p:cNvPr id="43" name="图片 31">
            <a:extLst>
              <a:ext uri="{FF2B5EF4-FFF2-40B4-BE49-F238E27FC236}">
                <a16:creationId xmlns="" xmlns:a16="http://schemas.microsoft.com/office/drawing/2014/main" id="{01146AC3-E4F2-46E1-9EBC-5B0947C6648B}"/>
              </a:ext>
            </a:extLst>
          </p:cNvPr>
          <p:cNvPicPr>
            <a:picLocks noChangeAspect="1"/>
          </p:cNvPicPr>
          <p:nvPr/>
        </p:nvPicPr>
        <p:blipFill>
          <a:blip r:embed="rId5"/>
          <a:stretch>
            <a:fillRect/>
          </a:stretch>
        </p:blipFill>
        <p:spPr bwMode="gray">
          <a:xfrm>
            <a:off x="3077136" y="4504383"/>
            <a:ext cx="466668" cy="389308"/>
          </a:xfrm>
          <a:prstGeom prst="rect">
            <a:avLst/>
          </a:prstGeom>
        </p:spPr>
      </p:pic>
      <p:sp>
        <p:nvSpPr>
          <p:cNvPr id="44" name="Parallelogram 43">
            <a:extLst>
              <a:ext uri="{FF2B5EF4-FFF2-40B4-BE49-F238E27FC236}">
                <a16:creationId xmlns="" xmlns:a16="http://schemas.microsoft.com/office/drawing/2014/main" id="{A525D7DF-540D-4BA2-892B-FE17CC40738A}"/>
              </a:ext>
            </a:extLst>
          </p:cNvPr>
          <p:cNvSpPr/>
          <p:nvPr/>
        </p:nvSpPr>
        <p:spPr bwMode="gray">
          <a:xfrm>
            <a:off x="2546219" y="3126137"/>
            <a:ext cx="2439006"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Freeform 159">
            <a:extLst>
              <a:ext uri="{FF2B5EF4-FFF2-40B4-BE49-F238E27FC236}">
                <a16:creationId xmlns="" xmlns:a16="http://schemas.microsoft.com/office/drawing/2014/main" id="{6197284E-E20E-4849-B6FE-330FC3B46BDF}"/>
              </a:ext>
            </a:extLst>
          </p:cNvPr>
          <p:cNvSpPr/>
          <p:nvPr/>
        </p:nvSpPr>
        <p:spPr bwMode="gray">
          <a:xfrm flipH="1">
            <a:off x="3064480" y="329200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46" name="图片 51" descr="交换机.png">
            <a:extLst>
              <a:ext uri="{FF2B5EF4-FFF2-40B4-BE49-F238E27FC236}">
                <a16:creationId xmlns="" xmlns:a16="http://schemas.microsoft.com/office/drawing/2014/main" id="{EE649125-E14E-4CAB-B6F1-8EB79CD80380}"/>
              </a:ext>
            </a:extLst>
          </p:cNvPr>
          <p:cNvPicPr>
            <a:picLocks noChangeAspect="1"/>
          </p:cNvPicPr>
          <p:nvPr/>
        </p:nvPicPr>
        <p:blipFill>
          <a:blip r:embed="rId4" cstate="print"/>
          <a:stretch>
            <a:fillRect/>
          </a:stretch>
        </p:blipFill>
        <p:spPr bwMode="gray">
          <a:xfrm>
            <a:off x="3309367" y="3073937"/>
            <a:ext cx="417163" cy="341314"/>
          </a:xfrm>
          <a:prstGeom prst="rect">
            <a:avLst/>
          </a:prstGeom>
        </p:spPr>
      </p:pic>
      <p:pic>
        <p:nvPicPr>
          <p:cNvPr id="47" name="图片 31">
            <a:extLst>
              <a:ext uri="{FF2B5EF4-FFF2-40B4-BE49-F238E27FC236}">
                <a16:creationId xmlns="" xmlns:a16="http://schemas.microsoft.com/office/drawing/2014/main" id="{444485FA-DB74-4DCD-B97E-E202D9DB7565}"/>
              </a:ext>
            </a:extLst>
          </p:cNvPr>
          <p:cNvPicPr>
            <a:picLocks noChangeAspect="1"/>
          </p:cNvPicPr>
          <p:nvPr/>
        </p:nvPicPr>
        <p:blipFill>
          <a:blip r:embed="rId5"/>
          <a:stretch>
            <a:fillRect/>
          </a:stretch>
        </p:blipFill>
        <p:spPr bwMode="gray">
          <a:xfrm>
            <a:off x="3915867" y="3373755"/>
            <a:ext cx="466668" cy="389308"/>
          </a:xfrm>
          <a:prstGeom prst="rect">
            <a:avLst/>
          </a:prstGeom>
        </p:spPr>
      </p:pic>
      <p:sp>
        <p:nvSpPr>
          <p:cNvPr id="48" name="Parallelogram 47">
            <a:extLst>
              <a:ext uri="{FF2B5EF4-FFF2-40B4-BE49-F238E27FC236}">
                <a16:creationId xmlns="" xmlns:a16="http://schemas.microsoft.com/office/drawing/2014/main" id="{739F80F8-3D6F-4954-B027-E31E02030FC5}"/>
              </a:ext>
            </a:extLst>
          </p:cNvPr>
          <p:cNvSpPr/>
          <p:nvPr/>
        </p:nvSpPr>
        <p:spPr bwMode="gray">
          <a:xfrm flipH="1">
            <a:off x="7208368" y="3126137"/>
            <a:ext cx="2439006"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159">
            <a:extLst>
              <a:ext uri="{FF2B5EF4-FFF2-40B4-BE49-F238E27FC236}">
                <a16:creationId xmlns="" xmlns:a16="http://schemas.microsoft.com/office/drawing/2014/main" id="{6F687B55-4628-4749-BEF0-D61043B33951}"/>
              </a:ext>
            </a:extLst>
          </p:cNvPr>
          <p:cNvSpPr/>
          <p:nvPr/>
        </p:nvSpPr>
        <p:spPr bwMode="gray">
          <a:xfrm flipH="1">
            <a:off x="8156912" y="331127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数据中心</a:t>
            </a:r>
          </a:p>
        </p:txBody>
      </p:sp>
      <p:pic>
        <p:nvPicPr>
          <p:cNvPr id="51" name="图片 31">
            <a:extLst>
              <a:ext uri="{FF2B5EF4-FFF2-40B4-BE49-F238E27FC236}">
                <a16:creationId xmlns="" xmlns:a16="http://schemas.microsoft.com/office/drawing/2014/main" id="{ABDF11F6-D2DF-459A-8F09-B61271F28B17}"/>
              </a:ext>
            </a:extLst>
          </p:cNvPr>
          <p:cNvPicPr>
            <a:picLocks noChangeAspect="1"/>
          </p:cNvPicPr>
          <p:nvPr/>
        </p:nvPicPr>
        <p:blipFill>
          <a:blip r:embed="rId5"/>
          <a:stretch>
            <a:fillRect/>
          </a:stretch>
        </p:blipFill>
        <p:spPr bwMode="gray">
          <a:xfrm>
            <a:off x="7788776" y="3376782"/>
            <a:ext cx="466668" cy="389308"/>
          </a:xfrm>
          <a:prstGeom prst="rect">
            <a:avLst/>
          </a:prstGeom>
        </p:spPr>
      </p:pic>
      <p:sp>
        <p:nvSpPr>
          <p:cNvPr id="53" name="Parallelogram 52">
            <a:extLst>
              <a:ext uri="{FF2B5EF4-FFF2-40B4-BE49-F238E27FC236}">
                <a16:creationId xmlns="" xmlns:a16="http://schemas.microsoft.com/office/drawing/2014/main" id="{A4D2E81A-3429-450F-B902-41CD9C0281C3}"/>
              </a:ext>
            </a:extLst>
          </p:cNvPr>
          <p:cNvSpPr/>
          <p:nvPr/>
        </p:nvSpPr>
        <p:spPr bwMode="gray">
          <a:xfrm flipH="1">
            <a:off x="8076837" y="4254700"/>
            <a:ext cx="2439006"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159">
            <a:extLst>
              <a:ext uri="{FF2B5EF4-FFF2-40B4-BE49-F238E27FC236}">
                <a16:creationId xmlns="" xmlns:a16="http://schemas.microsoft.com/office/drawing/2014/main" id="{50AAD1F3-53BD-471B-91E5-FD2429161C1E}"/>
              </a:ext>
            </a:extLst>
          </p:cNvPr>
          <p:cNvSpPr/>
          <p:nvPr/>
        </p:nvSpPr>
        <p:spPr bwMode="gray">
          <a:xfrm flipH="1">
            <a:off x="8995382" y="4417334"/>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pic>
        <p:nvPicPr>
          <p:cNvPr id="56" name="图片 31">
            <a:extLst>
              <a:ext uri="{FF2B5EF4-FFF2-40B4-BE49-F238E27FC236}">
                <a16:creationId xmlns="" xmlns:a16="http://schemas.microsoft.com/office/drawing/2014/main" id="{0CAE35CC-87E6-4FB6-A687-0F4AFD0BF11A}"/>
              </a:ext>
            </a:extLst>
          </p:cNvPr>
          <p:cNvPicPr>
            <a:picLocks noChangeAspect="1"/>
          </p:cNvPicPr>
          <p:nvPr/>
        </p:nvPicPr>
        <p:blipFill>
          <a:blip r:embed="rId5"/>
          <a:stretch>
            <a:fillRect/>
          </a:stretch>
        </p:blipFill>
        <p:spPr bwMode="gray">
          <a:xfrm>
            <a:off x="8663202" y="4504383"/>
            <a:ext cx="466668" cy="389308"/>
          </a:xfrm>
          <a:prstGeom prst="rect">
            <a:avLst/>
          </a:prstGeom>
        </p:spPr>
      </p:pic>
      <p:pic>
        <p:nvPicPr>
          <p:cNvPr id="33" name="图片 67">
            <a:extLst>
              <a:ext uri="{FF2B5EF4-FFF2-40B4-BE49-F238E27FC236}">
                <a16:creationId xmlns="" xmlns:a16="http://schemas.microsoft.com/office/drawing/2014/main" id="{3691447B-FF74-4DE5-9958-9C2854F56EBE}"/>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9239397" y="4214979"/>
            <a:ext cx="417163" cy="342074"/>
          </a:xfrm>
          <a:prstGeom prst="rect">
            <a:avLst/>
          </a:prstGeom>
        </p:spPr>
      </p:pic>
      <p:pic>
        <p:nvPicPr>
          <p:cNvPr id="34" name="图片 14" descr="交换机.png">
            <a:extLst>
              <a:ext uri="{FF2B5EF4-FFF2-40B4-BE49-F238E27FC236}">
                <a16:creationId xmlns="" xmlns:a16="http://schemas.microsoft.com/office/drawing/2014/main" id="{149477C5-1CFF-4093-BA07-329E43D4EDF9}"/>
              </a:ext>
            </a:extLst>
          </p:cNvPr>
          <p:cNvPicPr>
            <a:picLocks noChangeAspect="1"/>
          </p:cNvPicPr>
          <p:nvPr/>
        </p:nvPicPr>
        <p:blipFill>
          <a:blip r:embed="rId7" cstate="print"/>
          <a:stretch>
            <a:fillRect/>
          </a:stretch>
        </p:blipFill>
        <p:spPr bwMode="gray">
          <a:xfrm>
            <a:off x="8404927" y="3090926"/>
            <a:ext cx="420077" cy="343698"/>
          </a:xfrm>
          <a:prstGeom prst="rect">
            <a:avLst/>
          </a:prstGeom>
        </p:spPr>
      </p:pic>
      <p:cxnSp>
        <p:nvCxnSpPr>
          <p:cNvPr id="63" name="Straight Connector 62">
            <a:extLst>
              <a:ext uri="{FF2B5EF4-FFF2-40B4-BE49-F238E27FC236}">
                <a16:creationId xmlns="" xmlns:a16="http://schemas.microsoft.com/office/drawing/2014/main" id="{078CACB1-6934-4D34-B2F2-A09A42AA89E5}"/>
              </a:ext>
            </a:extLst>
          </p:cNvPr>
          <p:cNvCxnSpPr>
            <a:cxnSpLocks/>
            <a:stCxn id="29" idx="2"/>
            <a:endCxn id="14" idx="0"/>
          </p:cNvCxnSpPr>
          <p:nvPr/>
        </p:nvCxnSpPr>
        <p:spPr bwMode="gray">
          <a:xfrm>
            <a:off x="4682599" y="4891417"/>
            <a:ext cx="0" cy="668951"/>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65" name="Straight Connector 64">
            <a:extLst>
              <a:ext uri="{FF2B5EF4-FFF2-40B4-BE49-F238E27FC236}">
                <a16:creationId xmlns="" xmlns:a16="http://schemas.microsoft.com/office/drawing/2014/main" id="{FC7B1897-C75E-488F-B149-2F29A72BE944}"/>
              </a:ext>
            </a:extLst>
          </p:cNvPr>
          <p:cNvCxnSpPr>
            <a:cxnSpLocks/>
            <a:stCxn id="26" idx="2"/>
            <a:endCxn id="58" idx="0"/>
          </p:cNvCxnSpPr>
          <p:nvPr/>
        </p:nvCxnSpPr>
        <p:spPr bwMode="gray">
          <a:xfrm>
            <a:off x="5354282" y="3765128"/>
            <a:ext cx="97" cy="668967"/>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70" name="Straight Connector 69">
            <a:extLst>
              <a:ext uri="{FF2B5EF4-FFF2-40B4-BE49-F238E27FC236}">
                <a16:creationId xmlns="" xmlns:a16="http://schemas.microsoft.com/office/drawing/2014/main" id="{9D2EE74F-312C-407C-99D4-765954DEB5C4}"/>
              </a:ext>
            </a:extLst>
          </p:cNvPr>
          <p:cNvCxnSpPr>
            <a:cxnSpLocks/>
            <a:stCxn id="36" idx="2"/>
            <a:endCxn id="59" idx="0"/>
          </p:cNvCxnSpPr>
          <p:nvPr/>
        </p:nvCxnSpPr>
        <p:spPr bwMode="gray">
          <a:xfrm>
            <a:off x="6872358" y="3765128"/>
            <a:ext cx="0" cy="666944"/>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73" name="Straight Connector 72">
            <a:extLst>
              <a:ext uri="{FF2B5EF4-FFF2-40B4-BE49-F238E27FC236}">
                <a16:creationId xmlns="" xmlns:a16="http://schemas.microsoft.com/office/drawing/2014/main" id="{A1989645-D4A8-437F-A474-E535A3C163A5}"/>
              </a:ext>
            </a:extLst>
          </p:cNvPr>
          <p:cNvCxnSpPr>
            <a:cxnSpLocks/>
            <a:stCxn id="32" idx="2"/>
            <a:endCxn id="60" idx="0"/>
          </p:cNvCxnSpPr>
          <p:nvPr/>
        </p:nvCxnSpPr>
        <p:spPr bwMode="gray">
          <a:xfrm flipH="1">
            <a:off x="7651518" y="4893691"/>
            <a:ext cx="12829" cy="661856"/>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24" name="梯形 41">
            <a:extLst>
              <a:ext uri="{FF2B5EF4-FFF2-40B4-BE49-F238E27FC236}">
                <a16:creationId xmlns="" xmlns:a16="http://schemas.microsoft.com/office/drawing/2014/main" id="{AEBFC4D1-59EF-4717-88C6-E52A57DA1425}"/>
              </a:ext>
            </a:extLst>
          </p:cNvPr>
          <p:cNvSpPr/>
          <p:nvPr/>
        </p:nvSpPr>
        <p:spPr bwMode="gray">
          <a:xfrm>
            <a:off x="3494157" y="3095759"/>
            <a:ext cx="520368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31">
            <a:extLst>
              <a:ext uri="{FF2B5EF4-FFF2-40B4-BE49-F238E27FC236}">
                <a16:creationId xmlns="" xmlns:a16="http://schemas.microsoft.com/office/drawing/2014/main" id="{0D362248-1F30-4AA0-AB48-A439D87639C3}"/>
              </a:ext>
            </a:extLst>
          </p:cNvPr>
          <p:cNvPicPr>
            <a:picLocks noChangeAspect="1"/>
          </p:cNvPicPr>
          <p:nvPr/>
        </p:nvPicPr>
        <p:blipFill>
          <a:blip r:embed="rId5"/>
          <a:stretch>
            <a:fillRect/>
          </a:stretch>
        </p:blipFill>
        <p:spPr bwMode="gray">
          <a:xfrm>
            <a:off x="5120948" y="3375820"/>
            <a:ext cx="466668" cy="389308"/>
          </a:xfrm>
          <a:prstGeom prst="rect">
            <a:avLst/>
          </a:prstGeom>
        </p:spPr>
      </p:pic>
      <p:pic>
        <p:nvPicPr>
          <p:cNvPr id="29" name="图片 31">
            <a:extLst>
              <a:ext uri="{FF2B5EF4-FFF2-40B4-BE49-F238E27FC236}">
                <a16:creationId xmlns="" xmlns:a16="http://schemas.microsoft.com/office/drawing/2014/main" id="{B6543E04-B236-452A-9FA2-CCC1434A8588}"/>
              </a:ext>
            </a:extLst>
          </p:cNvPr>
          <p:cNvPicPr>
            <a:picLocks noChangeAspect="1"/>
          </p:cNvPicPr>
          <p:nvPr/>
        </p:nvPicPr>
        <p:blipFill>
          <a:blip r:embed="rId5"/>
          <a:stretch>
            <a:fillRect/>
          </a:stretch>
        </p:blipFill>
        <p:spPr bwMode="gray">
          <a:xfrm>
            <a:off x="4449265" y="4502109"/>
            <a:ext cx="466668" cy="389308"/>
          </a:xfrm>
          <a:prstGeom prst="rect">
            <a:avLst/>
          </a:prstGeom>
        </p:spPr>
      </p:pic>
      <p:pic>
        <p:nvPicPr>
          <p:cNvPr id="32" name="图片 25">
            <a:extLst>
              <a:ext uri="{FF2B5EF4-FFF2-40B4-BE49-F238E27FC236}">
                <a16:creationId xmlns="" xmlns:a16="http://schemas.microsoft.com/office/drawing/2014/main" id="{C1AD0A3C-297B-4A47-A92E-2284BF57A928}"/>
              </a:ext>
            </a:extLst>
          </p:cNvPr>
          <p:cNvPicPr>
            <a:picLocks noChangeAspect="1"/>
          </p:cNvPicPr>
          <p:nvPr/>
        </p:nvPicPr>
        <p:blipFill>
          <a:blip r:embed="rId5"/>
          <a:stretch>
            <a:fillRect/>
          </a:stretch>
        </p:blipFill>
        <p:spPr bwMode="gray">
          <a:xfrm>
            <a:off x="7431013" y="4504383"/>
            <a:ext cx="466668" cy="389308"/>
          </a:xfrm>
          <a:prstGeom prst="rect">
            <a:avLst/>
          </a:prstGeom>
        </p:spPr>
      </p:pic>
      <p:pic>
        <p:nvPicPr>
          <p:cNvPr id="36" name="图片 31">
            <a:extLst>
              <a:ext uri="{FF2B5EF4-FFF2-40B4-BE49-F238E27FC236}">
                <a16:creationId xmlns="" xmlns:a16="http://schemas.microsoft.com/office/drawing/2014/main" id="{845777BF-0B5F-4DBD-9C20-F5D3D97CCAC5}"/>
              </a:ext>
            </a:extLst>
          </p:cNvPr>
          <p:cNvPicPr>
            <a:picLocks noChangeAspect="1"/>
          </p:cNvPicPr>
          <p:nvPr/>
        </p:nvPicPr>
        <p:blipFill>
          <a:blip r:embed="rId5"/>
          <a:stretch>
            <a:fillRect/>
          </a:stretch>
        </p:blipFill>
        <p:spPr bwMode="gray">
          <a:xfrm>
            <a:off x="6639024" y="3375820"/>
            <a:ext cx="466668" cy="389308"/>
          </a:xfrm>
          <a:prstGeom prst="rect">
            <a:avLst/>
          </a:prstGeom>
        </p:spPr>
      </p:pic>
      <p:sp>
        <p:nvSpPr>
          <p:cNvPr id="41" name="TextBox 40">
            <a:extLst>
              <a:ext uri="{FF2B5EF4-FFF2-40B4-BE49-F238E27FC236}">
                <a16:creationId xmlns="" xmlns:a16="http://schemas.microsoft.com/office/drawing/2014/main" id="{930F2CDD-C95B-4183-9BD2-97EAE73AA83B}"/>
              </a:ext>
            </a:extLst>
          </p:cNvPr>
          <p:cNvSpPr txBox="1"/>
          <p:nvPr/>
        </p:nvSpPr>
        <p:spPr bwMode="gray">
          <a:xfrm>
            <a:off x="7709579" y="4975654"/>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cxnSp>
        <p:nvCxnSpPr>
          <p:cNvPr id="78" name="Straight Connector 77">
            <a:extLst>
              <a:ext uri="{FF2B5EF4-FFF2-40B4-BE49-F238E27FC236}">
                <a16:creationId xmlns="" xmlns:a16="http://schemas.microsoft.com/office/drawing/2014/main" id="{8F29383A-2508-47CF-BF3C-110EF6D28027}"/>
              </a:ext>
            </a:extLst>
          </p:cNvPr>
          <p:cNvCxnSpPr>
            <a:cxnSpLocks/>
            <a:stCxn id="43" idx="3"/>
            <a:endCxn id="29" idx="1"/>
          </p:cNvCxnSpPr>
          <p:nvPr/>
        </p:nvCxnSpPr>
        <p:spPr bwMode="gray">
          <a:xfrm flipV="1">
            <a:off x="3543804" y="4696763"/>
            <a:ext cx="905461"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 xmlns:a16="http://schemas.microsoft.com/office/drawing/2014/main" id="{3C8C5AC4-2857-40B0-A5DC-3F3D84BB6B5E}"/>
              </a:ext>
            </a:extLst>
          </p:cNvPr>
          <p:cNvCxnSpPr>
            <a:cxnSpLocks/>
            <a:stCxn id="47" idx="3"/>
            <a:endCxn id="26" idx="1"/>
          </p:cNvCxnSpPr>
          <p:nvPr/>
        </p:nvCxnSpPr>
        <p:spPr bwMode="gray">
          <a:xfrm>
            <a:off x="4382535" y="3568409"/>
            <a:ext cx="738413" cy="206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 xmlns:a16="http://schemas.microsoft.com/office/drawing/2014/main" id="{B5D7E267-97D0-49F6-9E7E-92E1507D1ECA}"/>
              </a:ext>
            </a:extLst>
          </p:cNvPr>
          <p:cNvCxnSpPr>
            <a:cxnSpLocks/>
            <a:stCxn id="36" idx="3"/>
            <a:endCxn id="51" idx="1"/>
          </p:cNvCxnSpPr>
          <p:nvPr/>
        </p:nvCxnSpPr>
        <p:spPr bwMode="gray">
          <a:xfrm>
            <a:off x="7105692" y="3570474"/>
            <a:ext cx="683084" cy="96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 xmlns:a16="http://schemas.microsoft.com/office/drawing/2014/main" id="{8A78B874-5D98-4278-8AC4-010C92797418}"/>
              </a:ext>
            </a:extLst>
          </p:cNvPr>
          <p:cNvCxnSpPr>
            <a:cxnSpLocks/>
            <a:stCxn id="32" idx="3"/>
            <a:endCxn id="56" idx="1"/>
          </p:cNvCxnSpPr>
          <p:nvPr/>
        </p:nvCxnSpPr>
        <p:spPr bwMode="gray">
          <a:xfrm>
            <a:off x="7897681" y="4699037"/>
            <a:ext cx="76552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4161F34F-9813-4EB1-9316-BFC4F0EFB867}"/>
              </a:ext>
            </a:extLst>
          </p:cNvPr>
          <p:cNvCxnSpPr>
            <a:cxnSpLocks/>
            <a:stCxn id="26" idx="3"/>
            <a:endCxn id="36" idx="1"/>
          </p:cNvCxnSpPr>
          <p:nvPr/>
        </p:nvCxnSpPr>
        <p:spPr bwMode="gray">
          <a:xfrm>
            <a:off x="5587616" y="3570474"/>
            <a:ext cx="105140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29F25A3F-1271-48A5-A754-14FC840CC18D}"/>
              </a:ext>
            </a:extLst>
          </p:cNvPr>
          <p:cNvCxnSpPr>
            <a:cxnSpLocks/>
            <a:stCxn id="29" idx="3"/>
            <a:endCxn id="36" idx="1"/>
          </p:cNvCxnSpPr>
          <p:nvPr/>
        </p:nvCxnSpPr>
        <p:spPr bwMode="gray">
          <a:xfrm flipV="1">
            <a:off x="4915933" y="3570474"/>
            <a:ext cx="1723091" cy="112628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 xmlns:a16="http://schemas.microsoft.com/office/drawing/2014/main" id="{20CE5ECF-C717-4D1E-ACD6-BA7A7ECECFC4}"/>
              </a:ext>
            </a:extLst>
          </p:cNvPr>
          <p:cNvCxnSpPr>
            <a:cxnSpLocks/>
            <a:stCxn id="29" idx="0"/>
            <a:endCxn id="26" idx="2"/>
          </p:cNvCxnSpPr>
          <p:nvPr/>
        </p:nvCxnSpPr>
        <p:spPr bwMode="gray">
          <a:xfrm flipV="1">
            <a:off x="4682599" y="3765128"/>
            <a:ext cx="671683" cy="7369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 xmlns:a16="http://schemas.microsoft.com/office/drawing/2014/main" id="{4A4A7C05-5468-4D2B-A122-8704A0FCAB7D}"/>
              </a:ext>
            </a:extLst>
          </p:cNvPr>
          <p:cNvCxnSpPr>
            <a:cxnSpLocks/>
            <a:stCxn id="29" idx="3"/>
            <a:endCxn id="32" idx="1"/>
          </p:cNvCxnSpPr>
          <p:nvPr/>
        </p:nvCxnSpPr>
        <p:spPr bwMode="gray">
          <a:xfrm>
            <a:off x="4915933" y="4696763"/>
            <a:ext cx="2515080"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 xmlns:a16="http://schemas.microsoft.com/office/drawing/2014/main" id="{A3880BD1-4814-4C3E-9D4B-556BF8CC41B8}"/>
              </a:ext>
            </a:extLst>
          </p:cNvPr>
          <p:cNvCxnSpPr>
            <a:cxnSpLocks/>
            <a:stCxn id="32" idx="0"/>
            <a:endCxn id="36" idx="2"/>
          </p:cNvCxnSpPr>
          <p:nvPr/>
        </p:nvCxnSpPr>
        <p:spPr bwMode="gray">
          <a:xfrm flipH="1" flipV="1">
            <a:off x="6872358" y="3765128"/>
            <a:ext cx="791989" cy="7392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 xmlns:a16="http://schemas.microsoft.com/office/drawing/2014/main" id="{3356701A-E83D-48BD-9B2B-5AEAE7B35158}"/>
              </a:ext>
            </a:extLst>
          </p:cNvPr>
          <p:cNvCxnSpPr>
            <a:cxnSpLocks/>
            <a:stCxn id="32" idx="1"/>
            <a:endCxn id="26" idx="3"/>
          </p:cNvCxnSpPr>
          <p:nvPr/>
        </p:nvCxnSpPr>
        <p:spPr bwMode="gray">
          <a:xfrm flipH="1" flipV="1">
            <a:off x="5587616" y="3570474"/>
            <a:ext cx="1843397" cy="11285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389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Oval 314">
            <a:extLst>
              <a:ext uri="{FF2B5EF4-FFF2-40B4-BE49-F238E27FC236}">
                <a16:creationId xmlns="" xmlns:a16="http://schemas.microsoft.com/office/drawing/2014/main" id="{C3FA3119-DDAE-4CE6-BB59-DEE422AC270C}"/>
              </a:ext>
            </a:extLst>
          </p:cNvPr>
          <p:cNvSpPr/>
          <p:nvPr/>
        </p:nvSpPr>
        <p:spPr bwMode="gray">
          <a:xfrm>
            <a:off x="3242485" y="1756858"/>
            <a:ext cx="5764341" cy="4377111"/>
          </a:xfrm>
          <a:prstGeom prst="ellipse">
            <a:avLst/>
          </a:prstGeom>
          <a:solidFill>
            <a:schemeClr val="bg1">
              <a:lumMod val="95000"/>
            </a:schemeClr>
          </a:solidFill>
          <a:ln w="19050" cap="flat" cmpd="sng">
            <a:solidFill>
              <a:schemeClr val="bg1">
                <a:lumMod val="75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4" name="Oval 313">
            <a:extLst>
              <a:ext uri="{FF2B5EF4-FFF2-40B4-BE49-F238E27FC236}">
                <a16:creationId xmlns="" xmlns:a16="http://schemas.microsoft.com/office/drawing/2014/main" id="{CBC08941-EC38-4945-A238-EDFB2D22D5F2}"/>
              </a:ext>
            </a:extLst>
          </p:cNvPr>
          <p:cNvSpPr/>
          <p:nvPr/>
        </p:nvSpPr>
        <p:spPr bwMode="gray">
          <a:xfrm>
            <a:off x="4097719" y="2379252"/>
            <a:ext cx="4023927" cy="3080608"/>
          </a:xfrm>
          <a:prstGeom prst="ellipse">
            <a:avLst/>
          </a:prstGeom>
          <a:solidFill>
            <a:srgbClr val="FAD3BB"/>
          </a:solidFill>
          <a:ln w="19050" cap="flat" cmpd="sng">
            <a:solidFill>
              <a:srgbClr val="F28944"/>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3" name="Oval 312">
            <a:extLst>
              <a:ext uri="{FF2B5EF4-FFF2-40B4-BE49-F238E27FC236}">
                <a16:creationId xmlns="" xmlns:a16="http://schemas.microsoft.com/office/drawing/2014/main" id="{594F575F-91E7-4E4F-9473-668D68462471}"/>
              </a:ext>
            </a:extLst>
          </p:cNvPr>
          <p:cNvSpPr/>
          <p:nvPr/>
        </p:nvSpPr>
        <p:spPr bwMode="gray">
          <a:xfrm>
            <a:off x="4919200" y="3104669"/>
            <a:ext cx="2355387" cy="1566890"/>
          </a:xfrm>
          <a:prstGeom prst="ellipse">
            <a:avLst/>
          </a:prstGeom>
          <a:solidFill>
            <a:srgbClr val="BEE9EE"/>
          </a:solidFill>
          <a:ln w="19050" cap="flat" cmpd="sng">
            <a:solidFill>
              <a:schemeClr val="accent1"/>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a:extLst>
              <a:ext uri="{FF2B5EF4-FFF2-40B4-BE49-F238E27FC236}">
                <a16:creationId xmlns="" xmlns:a16="http://schemas.microsoft.com/office/drawing/2014/main" id="{7FE5AD77-74B6-4852-B9C0-5EFD1668B36A}"/>
              </a:ext>
            </a:extLst>
          </p:cNvPr>
          <p:cNvSpPr>
            <a:spLocks noGrp="1"/>
          </p:cNvSpPr>
          <p:nvPr>
            <p:ph type="title"/>
          </p:nvPr>
        </p:nvSpPr>
        <p:spPr bwMode="gray"/>
        <p:txBody>
          <a:bodyPr/>
          <a:lstStyle/>
          <a:p>
            <a:r>
              <a:rPr lang="zh-CN" altLang="en-US" dirty="0"/>
              <a:t>企业广域承载网架构介绍</a:t>
            </a:r>
            <a:endParaRPr lang="en-US" dirty="0"/>
          </a:p>
        </p:txBody>
      </p:sp>
      <p:sp>
        <p:nvSpPr>
          <p:cNvPr id="3" name="Text Placeholder 2">
            <a:extLst>
              <a:ext uri="{FF2B5EF4-FFF2-40B4-BE49-F238E27FC236}">
                <a16:creationId xmlns="" xmlns:a16="http://schemas.microsoft.com/office/drawing/2014/main" id="{B86770DF-595E-4E52-9491-C35C0F7BE6A2}"/>
              </a:ext>
            </a:extLst>
          </p:cNvPr>
          <p:cNvSpPr>
            <a:spLocks noGrp="1"/>
          </p:cNvSpPr>
          <p:nvPr>
            <p:ph type="body" sz="quarter" idx="10"/>
          </p:nvPr>
        </p:nvSpPr>
        <p:spPr bwMode="gray">
          <a:xfrm>
            <a:off x="455612" y="1047751"/>
            <a:ext cx="11293475" cy="975342"/>
          </a:xfrm>
        </p:spPr>
        <p:txBody>
          <a:bodyPr/>
          <a:lstStyle/>
          <a:p>
            <a:r>
              <a:rPr lang="zh-CN" altLang="en-US" sz="2000" dirty="0"/>
              <a:t>不同企业的广域承载网在规模和实际拓扑上会有较大差异，但总体架构一般可以分为接入层，汇聚层与核心层。</a:t>
            </a:r>
            <a:endParaRPr lang="en-US" sz="2000" dirty="0"/>
          </a:p>
        </p:txBody>
      </p:sp>
      <p:pic>
        <p:nvPicPr>
          <p:cNvPr id="231" name="图片 31">
            <a:extLst>
              <a:ext uri="{FF2B5EF4-FFF2-40B4-BE49-F238E27FC236}">
                <a16:creationId xmlns="" xmlns:a16="http://schemas.microsoft.com/office/drawing/2014/main" id="{C70C89C9-AE3F-4351-9361-8B9CCAE1A864}"/>
              </a:ext>
            </a:extLst>
          </p:cNvPr>
          <p:cNvPicPr>
            <a:picLocks noChangeAspect="1"/>
          </p:cNvPicPr>
          <p:nvPr/>
        </p:nvPicPr>
        <p:blipFill>
          <a:blip r:embed="rId3"/>
          <a:stretch>
            <a:fillRect/>
          </a:stretch>
        </p:blipFill>
        <p:spPr bwMode="gray">
          <a:xfrm>
            <a:off x="5853618" y="3136357"/>
            <a:ext cx="466668" cy="389308"/>
          </a:xfrm>
          <a:prstGeom prst="rect">
            <a:avLst/>
          </a:prstGeom>
        </p:spPr>
      </p:pic>
      <p:pic>
        <p:nvPicPr>
          <p:cNvPr id="232" name="图片 31">
            <a:extLst>
              <a:ext uri="{FF2B5EF4-FFF2-40B4-BE49-F238E27FC236}">
                <a16:creationId xmlns="" xmlns:a16="http://schemas.microsoft.com/office/drawing/2014/main" id="{663A5751-AF2F-412E-B0F1-DE2D8F38F6BF}"/>
              </a:ext>
            </a:extLst>
          </p:cNvPr>
          <p:cNvPicPr>
            <a:picLocks noChangeAspect="1"/>
          </p:cNvPicPr>
          <p:nvPr/>
        </p:nvPicPr>
        <p:blipFill>
          <a:blip r:embed="rId3"/>
          <a:stretch>
            <a:fillRect/>
          </a:stretch>
        </p:blipFill>
        <p:spPr bwMode="gray">
          <a:xfrm>
            <a:off x="6509723" y="4053682"/>
            <a:ext cx="466668" cy="389308"/>
          </a:xfrm>
          <a:prstGeom prst="rect">
            <a:avLst/>
          </a:prstGeom>
        </p:spPr>
      </p:pic>
      <p:pic>
        <p:nvPicPr>
          <p:cNvPr id="233" name="图片 31">
            <a:extLst>
              <a:ext uri="{FF2B5EF4-FFF2-40B4-BE49-F238E27FC236}">
                <a16:creationId xmlns="" xmlns:a16="http://schemas.microsoft.com/office/drawing/2014/main" id="{3B6D1098-5BED-4988-96A7-C5034AF8C653}"/>
              </a:ext>
            </a:extLst>
          </p:cNvPr>
          <p:cNvPicPr>
            <a:picLocks noChangeAspect="1"/>
          </p:cNvPicPr>
          <p:nvPr/>
        </p:nvPicPr>
        <p:blipFill>
          <a:blip r:embed="rId3"/>
          <a:stretch>
            <a:fillRect/>
          </a:stretch>
        </p:blipFill>
        <p:spPr bwMode="gray">
          <a:xfrm>
            <a:off x="5217395" y="4053682"/>
            <a:ext cx="466668" cy="389308"/>
          </a:xfrm>
          <a:prstGeom prst="rect">
            <a:avLst/>
          </a:prstGeom>
        </p:spPr>
      </p:pic>
      <p:cxnSp>
        <p:nvCxnSpPr>
          <p:cNvPr id="234" name="Straight Connector 233">
            <a:extLst>
              <a:ext uri="{FF2B5EF4-FFF2-40B4-BE49-F238E27FC236}">
                <a16:creationId xmlns="" xmlns:a16="http://schemas.microsoft.com/office/drawing/2014/main" id="{228453C4-482D-41E6-8DF1-35D46C194D3A}"/>
              </a:ext>
            </a:extLst>
          </p:cNvPr>
          <p:cNvCxnSpPr>
            <a:cxnSpLocks/>
            <a:stCxn id="233" idx="0"/>
            <a:endCxn id="231" idx="1"/>
          </p:cNvCxnSpPr>
          <p:nvPr/>
        </p:nvCxnSpPr>
        <p:spPr bwMode="gray">
          <a:xfrm flipV="1">
            <a:off x="5450729" y="3331011"/>
            <a:ext cx="402889" cy="72267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 xmlns:a16="http://schemas.microsoft.com/office/drawing/2014/main" id="{F1F13FF5-1B46-42A3-A12D-B468B7103C18}"/>
              </a:ext>
            </a:extLst>
          </p:cNvPr>
          <p:cNvCxnSpPr>
            <a:cxnSpLocks/>
            <a:stCxn id="233" idx="3"/>
            <a:endCxn id="232" idx="1"/>
          </p:cNvCxnSpPr>
          <p:nvPr/>
        </p:nvCxnSpPr>
        <p:spPr bwMode="gray">
          <a:xfrm>
            <a:off x="5684063" y="4248336"/>
            <a:ext cx="82566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 xmlns:a16="http://schemas.microsoft.com/office/drawing/2014/main" id="{01B627E7-33E7-4608-84E4-6BDB67C0BE8F}"/>
              </a:ext>
            </a:extLst>
          </p:cNvPr>
          <p:cNvCxnSpPr>
            <a:cxnSpLocks/>
            <a:stCxn id="232" idx="0"/>
            <a:endCxn id="231" idx="3"/>
          </p:cNvCxnSpPr>
          <p:nvPr/>
        </p:nvCxnSpPr>
        <p:spPr bwMode="gray">
          <a:xfrm flipH="1" flipV="1">
            <a:off x="6320286" y="3331011"/>
            <a:ext cx="422771" cy="72267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43" name="图片 31">
            <a:extLst>
              <a:ext uri="{FF2B5EF4-FFF2-40B4-BE49-F238E27FC236}">
                <a16:creationId xmlns="" xmlns:a16="http://schemas.microsoft.com/office/drawing/2014/main" id="{3EFF1579-2FD3-4D72-B6BB-6ABE808A3B8E}"/>
              </a:ext>
            </a:extLst>
          </p:cNvPr>
          <p:cNvPicPr>
            <a:picLocks noChangeAspect="1"/>
          </p:cNvPicPr>
          <p:nvPr/>
        </p:nvPicPr>
        <p:blipFill>
          <a:blip r:embed="rId3">
            <a:duotone>
              <a:schemeClr val="accent2">
                <a:shade val="45000"/>
                <a:satMod val="135000"/>
              </a:schemeClr>
              <a:prstClr val="white"/>
            </a:duotone>
          </a:blip>
          <a:stretch>
            <a:fillRect/>
          </a:stretch>
        </p:blipFill>
        <p:spPr bwMode="gray">
          <a:xfrm>
            <a:off x="4571106" y="2988479"/>
            <a:ext cx="466668" cy="389308"/>
          </a:xfrm>
          <a:prstGeom prst="rect">
            <a:avLst/>
          </a:prstGeom>
        </p:spPr>
      </p:pic>
      <p:pic>
        <p:nvPicPr>
          <p:cNvPr id="244" name="图片 31">
            <a:extLst>
              <a:ext uri="{FF2B5EF4-FFF2-40B4-BE49-F238E27FC236}">
                <a16:creationId xmlns="" xmlns:a16="http://schemas.microsoft.com/office/drawing/2014/main" id="{33611E24-F2E4-4A67-AF72-5E12ADB96105}"/>
              </a:ext>
            </a:extLst>
          </p:cNvPr>
          <p:cNvPicPr>
            <a:picLocks noChangeAspect="1"/>
          </p:cNvPicPr>
          <p:nvPr/>
        </p:nvPicPr>
        <p:blipFill>
          <a:blip r:embed="rId3">
            <a:duotone>
              <a:schemeClr val="accent2">
                <a:shade val="45000"/>
                <a:satMod val="135000"/>
              </a:schemeClr>
              <a:prstClr val="white"/>
            </a:duotone>
          </a:blip>
          <a:stretch>
            <a:fillRect/>
          </a:stretch>
        </p:blipFill>
        <p:spPr bwMode="gray">
          <a:xfrm>
            <a:off x="5884683" y="5001238"/>
            <a:ext cx="466668" cy="389308"/>
          </a:xfrm>
          <a:prstGeom prst="rect">
            <a:avLst/>
          </a:prstGeom>
        </p:spPr>
      </p:pic>
      <p:pic>
        <p:nvPicPr>
          <p:cNvPr id="246" name="图片 31">
            <a:extLst>
              <a:ext uri="{FF2B5EF4-FFF2-40B4-BE49-F238E27FC236}">
                <a16:creationId xmlns="" xmlns:a16="http://schemas.microsoft.com/office/drawing/2014/main" id="{85C38F8A-2F33-4D34-8D06-F2AC65565AA7}"/>
              </a:ext>
            </a:extLst>
          </p:cNvPr>
          <p:cNvPicPr>
            <a:picLocks noChangeAspect="1"/>
          </p:cNvPicPr>
          <p:nvPr/>
        </p:nvPicPr>
        <p:blipFill>
          <a:blip r:embed="rId3">
            <a:duotone>
              <a:schemeClr val="accent2">
                <a:shade val="45000"/>
                <a:satMod val="135000"/>
              </a:schemeClr>
              <a:prstClr val="white"/>
            </a:duotone>
          </a:blip>
          <a:stretch>
            <a:fillRect/>
          </a:stretch>
        </p:blipFill>
        <p:spPr bwMode="gray">
          <a:xfrm>
            <a:off x="7148667" y="2951501"/>
            <a:ext cx="466668" cy="389308"/>
          </a:xfrm>
          <a:prstGeom prst="rect">
            <a:avLst/>
          </a:prstGeom>
        </p:spPr>
      </p:pic>
      <p:cxnSp>
        <p:nvCxnSpPr>
          <p:cNvPr id="247" name="Straight Connector 246">
            <a:extLst>
              <a:ext uri="{FF2B5EF4-FFF2-40B4-BE49-F238E27FC236}">
                <a16:creationId xmlns="" xmlns:a16="http://schemas.microsoft.com/office/drawing/2014/main" id="{C225B56D-EA13-479D-A631-FA1C4E02064B}"/>
              </a:ext>
            </a:extLst>
          </p:cNvPr>
          <p:cNvCxnSpPr>
            <a:cxnSpLocks/>
            <a:stCxn id="231" idx="1"/>
            <a:endCxn id="243" idx="3"/>
          </p:cNvCxnSpPr>
          <p:nvPr/>
        </p:nvCxnSpPr>
        <p:spPr bwMode="gray">
          <a:xfrm flipH="1" flipV="1">
            <a:off x="5037774" y="3183133"/>
            <a:ext cx="815844" cy="14787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 xmlns:a16="http://schemas.microsoft.com/office/drawing/2014/main" id="{707E4651-9F99-4A02-A90C-445FBFDBEF79}"/>
              </a:ext>
            </a:extLst>
          </p:cNvPr>
          <p:cNvCxnSpPr>
            <a:cxnSpLocks/>
            <a:stCxn id="233" idx="0"/>
            <a:endCxn id="243" idx="2"/>
          </p:cNvCxnSpPr>
          <p:nvPr/>
        </p:nvCxnSpPr>
        <p:spPr bwMode="gray">
          <a:xfrm flipH="1" flipV="1">
            <a:off x="4804440" y="3377787"/>
            <a:ext cx="646289" cy="67589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 xmlns:a16="http://schemas.microsoft.com/office/drawing/2014/main" id="{53CED869-8EDB-4406-826D-2BD26B1722B7}"/>
              </a:ext>
            </a:extLst>
          </p:cNvPr>
          <p:cNvCxnSpPr>
            <a:cxnSpLocks/>
            <a:stCxn id="233" idx="2"/>
            <a:endCxn id="244" idx="1"/>
          </p:cNvCxnSpPr>
          <p:nvPr/>
        </p:nvCxnSpPr>
        <p:spPr bwMode="gray">
          <a:xfrm>
            <a:off x="5450729" y="4442990"/>
            <a:ext cx="433954" cy="7529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 xmlns:a16="http://schemas.microsoft.com/office/drawing/2014/main" id="{A13219EC-6C32-4483-8C55-4E45A52BAB8F}"/>
              </a:ext>
            </a:extLst>
          </p:cNvPr>
          <p:cNvCxnSpPr>
            <a:cxnSpLocks/>
            <a:stCxn id="232" idx="2"/>
            <a:endCxn id="244" idx="3"/>
          </p:cNvCxnSpPr>
          <p:nvPr/>
        </p:nvCxnSpPr>
        <p:spPr bwMode="gray">
          <a:xfrm flipH="1">
            <a:off x="6351351" y="4442990"/>
            <a:ext cx="391706" cy="7529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 xmlns:a16="http://schemas.microsoft.com/office/drawing/2014/main" id="{94AD06BD-51DB-49B3-801A-714DA485C1F1}"/>
              </a:ext>
            </a:extLst>
          </p:cNvPr>
          <p:cNvCxnSpPr>
            <a:cxnSpLocks/>
            <a:stCxn id="231" idx="3"/>
            <a:endCxn id="246" idx="1"/>
          </p:cNvCxnSpPr>
          <p:nvPr/>
        </p:nvCxnSpPr>
        <p:spPr bwMode="gray">
          <a:xfrm flipV="1">
            <a:off x="6320286" y="3146155"/>
            <a:ext cx="828381" cy="1848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 xmlns:a16="http://schemas.microsoft.com/office/drawing/2014/main" id="{77EE79A9-6F17-4E17-852E-7D1F5BDFAF6D}"/>
              </a:ext>
            </a:extLst>
          </p:cNvPr>
          <p:cNvCxnSpPr>
            <a:cxnSpLocks/>
            <a:stCxn id="232" idx="0"/>
            <a:endCxn id="246" idx="2"/>
          </p:cNvCxnSpPr>
          <p:nvPr/>
        </p:nvCxnSpPr>
        <p:spPr bwMode="gray">
          <a:xfrm flipV="1">
            <a:off x="6743057" y="3340809"/>
            <a:ext cx="638944" cy="71287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71" name="图片 31">
            <a:extLst>
              <a:ext uri="{FF2B5EF4-FFF2-40B4-BE49-F238E27FC236}">
                <a16:creationId xmlns="" xmlns:a16="http://schemas.microsoft.com/office/drawing/2014/main" id="{90333EDB-27D4-442E-BF09-53799D38A0E7}"/>
              </a:ext>
            </a:extLst>
          </p:cNvPr>
          <p:cNvPicPr>
            <a:picLocks noChangeAspect="1"/>
          </p:cNvPicPr>
          <p:nvPr/>
        </p:nvPicPr>
        <p:blipFill>
          <a:blip r:embed="rId3">
            <a:grayscl/>
          </a:blip>
          <a:stretch>
            <a:fillRect/>
          </a:stretch>
        </p:blipFill>
        <p:spPr bwMode="gray">
          <a:xfrm>
            <a:off x="4502161" y="2166545"/>
            <a:ext cx="466668" cy="389308"/>
          </a:xfrm>
          <a:prstGeom prst="rect">
            <a:avLst/>
          </a:prstGeom>
        </p:spPr>
      </p:pic>
      <p:pic>
        <p:nvPicPr>
          <p:cNvPr id="273" name="图片 31">
            <a:extLst>
              <a:ext uri="{FF2B5EF4-FFF2-40B4-BE49-F238E27FC236}">
                <a16:creationId xmlns="" xmlns:a16="http://schemas.microsoft.com/office/drawing/2014/main" id="{19268D77-2E44-478D-A38C-C7115BE59B4B}"/>
              </a:ext>
            </a:extLst>
          </p:cNvPr>
          <p:cNvPicPr>
            <a:picLocks noChangeAspect="1"/>
          </p:cNvPicPr>
          <p:nvPr/>
        </p:nvPicPr>
        <p:blipFill>
          <a:blip r:embed="rId3">
            <a:grayscl/>
          </a:blip>
          <a:stretch>
            <a:fillRect/>
          </a:stretch>
        </p:blipFill>
        <p:spPr bwMode="gray">
          <a:xfrm>
            <a:off x="3439834" y="3348689"/>
            <a:ext cx="466668" cy="389308"/>
          </a:xfrm>
          <a:prstGeom prst="rect">
            <a:avLst/>
          </a:prstGeom>
        </p:spPr>
      </p:pic>
      <p:pic>
        <p:nvPicPr>
          <p:cNvPr id="274" name="图片 31">
            <a:extLst>
              <a:ext uri="{FF2B5EF4-FFF2-40B4-BE49-F238E27FC236}">
                <a16:creationId xmlns="" xmlns:a16="http://schemas.microsoft.com/office/drawing/2014/main" id="{7CBE1D60-D227-43D6-A802-C505B54345C1}"/>
              </a:ext>
            </a:extLst>
          </p:cNvPr>
          <p:cNvPicPr>
            <a:picLocks noChangeAspect="1"/>
          </p:cNvPicPr>
          <p:nvPr/>
        </p:nvPicPr>
        <p:blipFill>
          <a:blip r:embed="rId3">
            <a:grayscl/>
          </a:blip>
          <a:stretch>
            <a:fillRect/>
          </a:stretch>
        </p:blipFill>
        <p:spPr bwMode="gray">
          <a:xfrm>
            <a:off x="4685866" y="5406554"/>
            <a:ext cx="466668" cy="389308"/>
          </a:xfrm>
          <a:prstGeom prst="rect">
            <a:avLst/>
          </a:prstGeom>
        </p:spPr>
      </p:pic>
      <p:pic>
        <p:nvPicPr>
          <p:cNvPr id="275" name="图片 31">
            <a:extLst>
              <a:ext uri="{FF2B5EF4-FFF2-40B4-BE49-F238E27FC236}">
                <a16:creationId xmlns="" xmlns:a16="http://schemas.microsoft.com/office/drawing/2014/main" id="{111274BE-E1A7-46FE-AB2B-7385E41CC84E}"/>
              </a:ext>
            </a:extLst>
          </p:cNvPr>
          <p:cNvPicPr>
            <a:picLocks noChangeAspect="1"/>
          </p:cNvPicPr>
          <p:nvPr/>
        </p:nvPicPr>
        <p:blipFill>
          <a:blip r:embed="rId3">
            <a:grayscl/>
          </a:blip>
          <a:stretch>
            <a:fillRect/>
          </a:stretch>
        </p:blipFill>
        <p:spPr bwMode="gray">
          <a:xfrm>
            <a:off x="7016848" y="5406554"/>
            <a:ext cx="466668" cy="389308"/>
          </a:xfrm>
          <a:prstGeom prst="rect">
            <a:avLst/>
          </a:prstGeom>
        </p:spPr>
      </p:pic>
      <p:pic>
        <p:nvPicPr>
          <p:cNvPr id="279" name="图片 31">
            <a:extLst>
              <a:ext uri="{FF2B5EF4-FFF2-40B4-BE49-F238E27FC236}">
                <a16:creationId xmlns="" xmlns:a16="http://schemas.microsoft.com/office/drawing/2014/main" id="{4DF873F1-3BC3-4D5D-AF99-667696DE18D5}"/>
              </a:ext>
            </a:extLst>
          </p:cNvPr>
          <p:cNvPicPr>
            <a:picLocks noChangeAspect="1"/>
          </p:cNvPicPr>
          <p:nvPr/>
        </p:nvPicPr>
        <p:blipFill>
          <a:blip r:embed="rId3">
            <a:grayscl/>
          </a:blip>
          <a:stretch>
            <a:fillRect/>
          </a:stretch>
        </p:blipFill>
        <p:spPr bwMode="gray">
          <a:xfrm>
            <a:off x="8329468" y="3238583"/>
            <a:ext cx="466668" cy="389308"/>
          </a:xfrm>
          <a:prstGeom prst="rect">
            <a:avLst/>
          </a:prstGeom>
        </p:spPr>
      </p:pic>
      <p:pic>
        <p:nvPicPr>
          <p:cNvPr id="280" name="图片 31">
            <a:extLst>
              <a:ext uri="{FF2B5EF4-FFF2-40B4-BE49-F238E27FC236}">
                <a16:creationId xmlns="" xmlns:a16="http://schemas.microsoft.com/office/drawing/2014/main" id="{5E3167E3-C7FE-40E8-A57F-AD1EEDF370AE}"/>
              </a:ext>
            </a:extLst>
          </p:cNvPr>
          <p:cNvPicPr>
            <a:picLocks noChangeAspect="1"/>
          </p:cNvPicPr>
          <p:nvPr/>
        </p:nvPicPr>
        <p:blipFill>
          <a:blip r:embed="rId3">
            <a:grayscl/>
          </a:blip>
          <a:stretch>
            <a:fillRect/>
          </a:stretch>
        </p:blipFill>
        <p:spPr bwMode="gray">
          <a:xfrm>
            <a:off x="7164301" y="2113693"/>
            <a:ext cx="466668" cy="389308"/>
          </a:xfrm>
          <a:prstGeom prst="rect">
            <a:avLst/>
          </a:prstGeom>
        </p:spPr>
      </p:pic>
      <p:cxnSp>
        <p:nvCxnSpPr>
          <p:cNvPr id="281" name="Straight Connector 280">
            <a:extLst>
              <a:ext uri="{FF2B5EF4-FFF2-40B4-BE49-F238E27FC236}">
                <a16:creationId xmlns="" xmlns:a16="http://schemas.microsoft.com/office/drawing/2014/main" id="{F950C626-CD48-477B-B8E2-D4C05466F372}"/>
              </a:ext>
            </a:extLst>
          </p:cNvPr>
          <p:cNvCxnSpPr>
            <a:cxnSpLocks/>
            <a:stCxn id="243" idx="0"/>
            <a:endCxn id="271" idx="2"/>
          </p:cNvCxnSpPr>
          <p:nvPr/>
        </p:nvCxnSpPr>
        <p:spPr bwMode="gray">
          <a:xfrm flipH="1" flipV="1">
            <a:off x="4735495" y="2555853"/>
            <a:ext cx="68945" cy="4326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 xmlns:a16="http://schemas.microsoft.com/office/drawing/2014/main" id="{BFEE6061-C646-48AE-BF30-64927A61D2ED}"/>
              </a:ext>
            </a:extLst>
          </p:cNvPr>
          <p:cNvCxnSpPr>
            <a:cxnSpLocks/>
            <a:stCxn id="243" idx="1"/>
            <a:endCxn id="273" idx="3"/>
          </p:cNvCxnSpPr>
          <p:nvPr/>
        </p:nvCxnSpPr>
        <p:spPr bwMode="gray">
          <a:xfrm flipH="1">
            <a:off x="3906502" y="3183133"/>
            <a:ext cx="664604" cy="36021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 xmlns:a16="http://schemas.microsoft.com/office/drawing/2014/main" id="{AFF9A658-12E1-417C-970B-7E1BC077ECE1}"/>
              </a:ext>
            </a:extLst>
          </p:cNvPr>
          <p:cNvCxnSpPr>
            <a:cxnSpLocks/>
            <a:stCxn id="244" idx="1"/>
            <a:endCxn id="274" idx="3"/>
          </p:cNvCxnSpPr>
          <p:nvPr/>
        </p:nvCxnSpPr>
        <p:spPr bwMode="gray">
          <a:xfrm flipH="1">
            <a:off x="5152534" y="5195892"/>
            <a:ext cx="732149" cy="40531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 xmlns:a16="http://schemas.microsoft.com/office/drawing/2014/main" id="{B40A8CC4-0B0D-4FDC-9370-4BBA474AAE5A}"/>
              </a:ext>
            </a:extLst>
          </p:cNvPr>
          <p:cNvCxnSpPr>
            <a:cxnSpLocks/>
            <a:stCxn id="244" idx="3"/>
            <a:endCxn id="275" idx="1"/>
          </p:cNvCxnSpPr>
          <p:nvPr/>
        </p:nvCxnSpPr>
        <p:spPr bwMode="gray">
          <a:xfrm>
            <a:off x="6351351" y="5195892"/>
            <a:ext cx="665497" cy="40531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 xmlns:a16="http://schemas.microsoft.com/office/drawing/2014/main" id="{B7443599-9706-407A-9D68-3A8EF3EBD91A}"/>
              </a:ext>
            </a:extLst>
          </p:cNvPr>
          <p:cNvCxnSpPr>
            <a:cxnSpLocks/>
            <a:stCxn id="246" idx="3"/>
            <a:endCxn id="279" idx="1"/>
          </p:cNvCxnSpPr>
          <p:nvPr/>
        </p:nvCxnSpPr>
        <p:spPr bwMode="gray">
          <a:xfrm>
            <a:off x="7615335" y="3146155"/>
            <a:ext cx="714133" cy="28708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 xmlns:a16="http://schemas.microsoft.com/office/drawing/2014/main" id="{6790DA4A-4D12-4DB3-9461-54F43AB40041}"/>
              </a:ext>
            </a:extLst>
          </p:cNvPr>
          <p:cNvCxnSpPr>
            <a:cxnSpLocks/>
            <a:stCxn id="280" idx="2"/>
            <a:endCxn id="246" idx="0"/>
          </p:cNvCxnSpPr>
          <p:nvPr/>
        </p:nvCxnSpPr>
        <p:spPr bwMode="gray">
          <a:xfrm flipH="1">
            <a:off x="7382001" y="2503001"/>
            <a:ext cx="15634" cy="4485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3" name="Freeform 159">
            <a:extLst>
              <a:ext uri="{FF2B5EF4-FFF2-40B4-BE49-F238E27FC236}">
                <a16:creationId xmlns="" xmlns:a16="http://schemas.microsoft.com/office/drawing/2014/main" id="{CEF20FD2-8C9C-4DB6-A575-BFCF927DCE69}"/>
              </a:ext>
            </a:extLst>
          </p:cNvPr>
          <p:cNvSpPr/>
          <p:nvPr/>
        </p:nvSpPr>
        <p:spPr bwMode="gray">
          <a:xfrm flipH="1">
            <a:off x="1564284" y="2851336"/>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sp>
        <p:nvSpPr>
          <p:cNvPr id="354" name="Freeform 159">
            <a:extLst>
              <a:ext uri="{FF2B5EF4-FFF2-40B4-BE49-F238E27FC236}">
                <a16:creationId xmlns="" xmlns:a16="http://schemas.microsoft.com/office/drawing/2014/main" id="{E904114F-E901-4DC2-A3A4-DA63D8A85E03}"/>
              </a:ext>
            </a:extLst>
          </p:cNvPr>
          <p:cNvSpPr/>
          <p:nvPr/>
        </p:nvSpPr>
        <p:spPr bwMode="gray">
          <a:xfrm flipH="1">
            <a:off x="2364600" y="532590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sp>
        <p:nvSpPr>
          <p:cNvPr id="355" name="Freeform 159">
            <a:extLst>
              <a:ext uri="{FF2B5EF4-FFF2-40B4-BE49-F238E27FC236}">
                <a16:creationId xmlns="" xmlns:a16="http://schemas.microsoft.com/office/drawing/2014/main" id="{CEC7AAE8-906E-48A9-9D55-B1A597B697B1}"/>
              </a:ext>
            </a:extLst>
          </p:cNvPr>
          <p:cNvSpPr/>
          <p:nvPr/>
        </p:nvSpPr>
        <p:spPr bwMode="gray">
          <a:xfrm flipH="1">
            <a:off x="9717128" y="269729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数据中心</a:t>
            </a:r>
          </a:p>
        </p:txBody>
      </p:sp>
      <p:sp>
        <p:nvSpPr>
          <p:cNvPr id="356" name="Freeform 159">
            <a:extLst>
              <a:ext uri="{FF2B5EF4-FFF2-40B4-BE49-F238E27FC236}">
                <a16:creationId xmlns="" xmlns:a16="http://schemas.microsoft.com/office/drawing/2014/main" id="{582771D3-D97E-4F49-9AB4-1DFADD667F2C}"/>
              </a:ext>
            </a:extLst>
          </p:cNvPr>
          <p:cNvSpPr/>
          <p:nvPr/>
        </p:nvSpPr>
        <p:spPr bwMode="gray">
          <a:xfrm flipH="1">
            <a:off x="8955070" y="5277660"/>
            <a:ext cx="906938" cy="4783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pic>
        <p:nvPicPr>
          <p:cNvPr id="349" name="图片 31">
            <a:extLst>
              <a:ext uri="{FF2B5EF4-FFF2-40B4-BE49-F238E27FC236}">
                <a16:creationId xmlns="" xmlns:a16="http://schemas.microsoft.com/office/drawing/2014/main" id="{0F326131-EBB2-4672-8A74-C27A0C3BB514}"/>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2341451" y="2946934"/>
            <a:ext cx="466668" cy="389308"/>
          </a:xfrm>
          <a:prstGeom prst="rect">
            <a:avLst/>
          </a:prstGeom>
        </p:spPr>
      </p:pic>
      <p:pic>
        <p:nvPicPr>
          <p:cNvPr id="351" name="图片 31">
            <a:extLst>
              <a:ext uri="{FF2B5EF4-FFF2-40B4-BE49-F238E27FC236}">
                <a16:creationId xmlns="" xmlns:a16="http://schemas.microsoft.com/office/drawing/2014/main" id="{FC3DCAE0-E7E0-4FBC-9E18-704B2379960C}"/>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8654040" y="5405238"/>
            <a:ext cx="466668" cy="389308"/>
          </a:xfrm>
          <a:prstGeom prst="rect">
            <a:avLst/>
          </a:prstGeom>
        </p:spPr>
      </p:pic>
      <p:pic>
        <p:nvPicPr>
          <p:cNvPr id="352" name="图片 31">
            <a:extLst>
              <a:ext uri="{FF2B5EF4-FFF2-40B4-BE49-F238E27FC236}">
                <a16:creationId xmlns="" xmlns:a16="http://schemas.microsoft.com/office/drawing/2014/main" id="{81EDDFE5-239E-4414-96E2-D86C0CC3DEEF}"/>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3155357" y="5401661"/>
            <a:ext cx="466668" cy="389308"/>
          </a:xfrm>
          <a:prstGeom prst="rect">
            <a:avLst/>
          </a:prstGeom>
        </p:spPr>
      </p:pic>
      <p:pic>
        <p:nvPicPr>
          <p:cNvPr id="357" name="图片 51" descr="交换机.png">
            <a:extLst>
              <a:ext uri="{FF2B5EF4-FFF2-40B4-BE49-F238E27FC236}">
                <a16:creationId xmlns="" xmlns:a16="http://schemas.microsoft.com/office/drawing/2014/main" id="{1B197E9E-9F00-4DA6-B629-12A9D0D2CE9C}"/>
              </a:ext>
            </a:extLst>
          </p:cNvPr>
          <p:cNvPicPr>
            <a:picLocks noChangeAspect="1"/>
          </p:cNvPicPr>
          <p:nvPr/>
        </p:nvPicPr>
        <p:blipFill>
          <a:blip r:embed="rId4" cstate="print"/>
          <a:stretch>
            <a:fillRect/>
          </a:stretch>
        </p:blipFill>
        <p:spPr bwMode="gray">
          <a:xfrm>
            <a:off x="2530372" y="5109454"/>
            <a:ext cx="417163" cy="341314"/>
          </a:xfrm>
          <a:prstGeom prst="rect">
            <a:avLst/>
          </a:prstGeom>
        </p:spPr>
      </p:pic>
      <p:pic>
        <p:nvPicPr>
          <p:cNvPr id="358" name="图片 51" descr="交换机.png">
            <a:extLst>
              <a:ext uri="{FF2B5EF4-FFF2-40B4-BE49-F238E27FC236}">
                <a16:creationId xmlns="" xmlns:a16="http://schemas.microsoft.com/office/drawing/2014/main" id="{E4FFC366-10D5-4611-B871-42BCC78643C6}"/>
              </a:ext>
            </a:extLst>
          </p:cNvPr>
          <p:cNvPicPr>
            <a:picLocks noChangeAspect="1"/>
          </p:cNvPicPr>
          <p:nvPr/>
        </p:nvPicPr>
        <p:blipFill>
          <a:blip r:embed="rId4" cstate="print"/>
          <a:stretch>
            <a:fillRect/>
          </a:stretch>
        </p:blipFill>
        <p:spPr bwMode="gray">
          <a:xfrm>
            <a:off x="1726084" y="2626555"/>
            <a:ext cx="417163" cy="341314"/>
          </a:xfrm>
          <a:prstGeom prst="rect">
            <a:avLst/>
          </a:prstGeom>
        </p:spPr>
      </p:pic>
      <p:pic>
        <p:nvPicPr>
          <p:cNvPr id="359" name="图片 67">
            <a:extLst>
              <a:ext uri="{FF2B5EF4-FFF2-40B4-BE49-F238E27FC236}">
                <a16:creationId xmlns="" xmlns:a16="http://schemas.microsoft.com/office/drawing/2014/main" id="{745C496A-2430-450F-A860-B7C99274C44E}"/>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9247808" y="5035798"/>
            <a:ext cx="417163" cy="342074"/>
          </a:xfrm>
          <a:prstGeom prst="rect">
            <a:avLst/>
          </a:prstGeom>
        </p:spPr>
      </p:pic>
      <p:pic>
        <p:nvPicPr>
          <p:cNvPr id="360" name="图片 14" descr="交换机.png">
            <a:extLst>
              <a:ext uri="{FF2B5EF4-FFF2-40B4-BE49-F238E27FC236}">
                <a16:creationId xmlns="" xmlns:a16="http://schemas.microsoft.com/office/drawing/2014/main" id="{072504F8-CF56-4A23-9F7F-F59D475906EF}"/>
              </a:ext>
            </a:extLst>
          </p:cNvPr>
          <p:cNvPicPr>
            <a:picLocks noChangeAspect="1"/>
          </p:cNvPicPr>
          <p:nvPr/>
        </p:nvPicPr>
        <p:blipFill>
          <a:blip r:embed="rId6" cstate="print"/>
          <a:stretch>
            <a:fillRect/>
          </a:stretch>
        </p:blipFill>
        <p:spPr bwMode="gray">
          <a:xfrm>
            <a:off x="9982929" y="2517653"/>
            <a:ext cx="420077" cy="343698"/>
          </a:xfrm>
          <a:prstGeom prst="rect">
            <a:avLst/>
          </a:prstGeom>
        </p:spPr>
      </p:pic>
      <p:pic>
        <p:nvPicPr>
          <p:cNvPr id="350" name="图片 31">
            <a:extLst>
              <a:ext uri="{FF2B5EF4-FFF2-40B4-BE49-F238E27FC236}">
                <a16:creationId xmlns="" xmlns:a16="http://schemas.microsoft.com/office/drawing/2014/main" id="{37C684B0-A9E5-4BF6-94B4-066C324AB2A4}"/>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9395340" y="2777117"/>
            <a:ext cx="466668" cy="389308"/>
          </a:xfrm>
          <a:prstGeom prst="rect">
            <a:avLst/>
          </a:prstGeom>
        </p:spPr>
      </p:pic>
      <p:cxnSp>
        <p:nvCxnSpPr>
          <p:cNvPr id="361" name="Straight Connector 360">
            <a:extLst>
              <a:ext uri="{FF2B5EF4-FFF2-40B4-BE49-F238E27FC236}">
                <a16:creationId xmlns="" xmlns:a16="http://schemas.microsoft.com/office/drawing/2014/main" id="{59CB240A-CA0B-4ED5-BB4E-95F6D3B13FBF}"/>
              </a:ext>
            </a:extLst>
          </p:cNvPr>
          <p:cNvCxnSpPr>
            <a:cxnSpLocks/>
            <a:stCxn id="273" idx="1"/>
            <a:endCxn id="349" idx="3"/>
          </p:cNvCxnSpPr>
          <p:nvPr/>
        </p:nvCxnSpPr>
        <p:spPr bwMode="gray">
          <a:xfrm flipH="1" flipV="1">
            <a:off x="2808119" y="3141588"/>
            <a:ext cx="631715" cy="4017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 xmlns:a16="http://schemas.microsoft.com/office/drawing/2014/main" id="{77B32230-4DB9-4B3E-B8FF-169F76453A2D}"/>
              </a:ext>
            </a:extLst>
          </p:cNvPr>
          <p:cNvCxnSpPr>
            <a:cxnSpLocks/>
            <a:stCxn id="274" idx="1"/>
            <a:endCxn id="352" idx="3"/>
          </p:cNvCxnSpPr>
          <p:nvPr/>
        </p:nvCxnSpPr>
        <p:spPr bwMode="gray">
          <a:xfrm flipH="1" flipV="1">
            <a:off x="3622025" y="5596315"/>
            <a:ext cx="1063841" cy="48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 xmlns:a16="http://schemas.microsoft.com/office/drawing/2014/main" id="{EFD053DC-6ADB-4950-AF84-0CD2C2788586}"/>
              </a:ext>
            </a:extLst>
          </p:cNvPr>
          <p:cNvCxnSpPr>
            <a:cxnSpLocks/>
            <a:stCxn id="351" idx="1"/>
            <a:endCxn id="275" idx="3"/>
          </p:cNvCxnSpPr>
          <p:nvPr/>
        </p:nvCxnSpPr>
        <p:spPr bwMode="gray">
          <a:xfrm flipH="1">
            <a:off x="7483516" y="5599892"/>
            <a:ext cx="1170524" cy="131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 xmlns:a16="http://schemas.microsoft.com/office/drawing/2014/main" id="{A698CAC4-C70D-45E9-B5F8-B8112CBEFA4F}"/>
              </a:ext>
            </a:extLst>
          </p:cNvPr>
          <p:cNvCxnSpPr>
            <a:cxnSpLocks/>
            <a:stCxn id="350" idx="1"/>
            <a:endCxn id="279" idx="3"/>
          </p:cNvCxnSpPr>
          <p:nvPr/>
        </p:nvCxnSpPr>
        <p:spPr bwMode="gray">
          <a:xfrm flipH="1">
            <a:off x="8796136" y="2971771"/>
            <a:ext cx="599204" cy="4614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78" name="TextBox 377">
            <a:extLst>
              <a:ext uri="{FF2B5EF4-FFF2-40B4-BE49-F238E27FC236}">
                <a16:creationId xmlns="" xmlns:a16="http://schemas.microsoft.com/office/drawing/2014/main" id="{2BCA9429-C9DF-4870-AB27-37429DD1F006}"/>
              </a:ext>
            </a:extLst>
          </p:cNvPr>
          <p:cNvSpPr txBox="1"/>
          <p:nvPr/>
        </p:nvSpPr>
        <p:spPr bwMode="gray">
          <a:xfrm>
            <a:off x="1794413" y="3634480"/>
            <a:ext cx="1459615" cy="807049"/>
          </a:xfrm>
          <a:prstGeom prst="wedgeRectCallout">
            <a:avLst>
              <a:gd name="adj1" fmla="val 61495"/>
              <a:gd name="adj2" fmla="val 2119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接入层：</a:t>
            </a:r>
            <a:endParaRPr lang="en-US" altLang="zh-CN" dirty="0">
              <a:latin typeface="Huawei Sans" panose="020C0503030203020204" pitchFamily="34" charset="0"/>
              <a:ea typeface="方正兰亭黑简体" panose="02000000000000000000" pitchFamily="2" charset="-122"/>
            </a:endParaRPr>
          </a:p>
          <a:p>
            <a:pPr algn="l"/>
            <a:r>
              <a:rPr lang="zh-CN" altLang="en-US" dirty="0">
                <a:latin typeface="Huawei Sans" panose="020C0503030203020204" pitchFamily="34" charset="0"/>
                <a:ea typeface="方正兰亭黑简体" panose="02000000000000000000" pitchFamily="2" charset="-122"/>
              </a:rPr>
              <a:t>主要用于接入不同地区的企业站点或不同类型的业务。</a:t>
            </a:r>
          </a:p>
        </p:txBody>
      </p:sp>
      <p:sp>
        <p:nvSpPr>
          <p:cNvPr id="379" name="TextBox 378">
            <a:extLst>
              <a:ext uri="{FF2B5EF4-FFF2-40B4-BE49-F238E27FC236}">
                <a16:creationId xmlns="" xmlns:a16="http://schemas.microsoft.com/office/drawing/2014/main" id="{090DAAA4-F6D5-4FBA-B3EB-87897D47B9BA}"/>
              </a:ext>
            </a:extLst>
          </p:cNvPr>
          <p:cNvSpPr txBox="1"/>
          <p:nvPr/>
        </p:nvSpPr>
        <p:spPr bwMode="gray">
          <a:xfrm>
            <a:off x="3451621" y="4497285"/>
            <a:ext cx="1657349" cy="807049"/>
          </a:xfrm>
          <a:prstGeom prst="wedgeRectCallout">
            <a:avLst>
              <a:gd name="adj1" fmla="val 61495"/>
              <a:gd name="adj2" fmla="val 2119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汇聚层：</a:t>
            </a:r>
            <a:endParaRPr lang="en-US" altLang="zh-CN" dirty="0">
              <a:latin typeface="Huawei Sans" panose="020C0503030203020204" pitchFamily="34" charset="0"/>
              <a:ea typeface="方正兰亭黑简体" panose="02000000000000000000" pitchFamily="2" charset="-122"/>
            </a:endParaRPr>
          </a:p>
          <a:p>
            <a:pPr algn="l"/>
            <a:r>
              <a:rPr lang="zh-CN" altLang="en-US" dirty="0">
                <a:latin typeface="Huawei Sans" panose="020C0503030203020204" pitchFamily="34" charset="0"/>
                <a:ea typeface="方正兰亭黑简体" panose="02000000000000000000" pitchFamily="2" charset="-122"/>
              </a:rPr>
              <a:t>基于业务类型或者地理位置进行分类汇聚，接入核心骨干网。</a:t>
            </a:r>
          </a:p>
        </p:txBody>
      </p:sp>
      <p:sp>
        <p:nvSpPr>
          <p:cNvPr id="4" name="TextBox 3">
            <a:extLst>
              <a:ext uri="{FF2B5EF4-FFF2-40B4-BE49-F238E27FC236}">
                <a16:creationId xmlns="" xmlns:a16="http://schemas.microsoft.com/office/drawing/2014/main" id="{4F1A2845-8572-475B-B4CF-DBBABD5BF9BA}"/>
              </a:ext>
            </a:extLst>
          </p:cNvPr>
          <p:cNvSpPr txBox="1"/>
          <p:nvPr/>
        </p:nvSpPr>
        <p:spPr bwMode="gray">
          <a:xfrm>
            <a:off x="5657418" y="1923393"/>
            <a:ext cx="877163"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rPr>
              <a:t>接入层</a:t>
            </a:r>
            <a:endParaRPr lang="en-US" dirty="0">
              <a:latin typeface="Huawei Sans" panose="020C0503030203020204" pitchFamily="34" charset="0"/>
              <a:ea typeface="方正兰亭黑简体" panose="02000000000000000000" pitchFamily="2" charset="-122"/>
            </a:endParaRPr>
          </a:p>
        </p:txBody>
      </p:sp>
      <p:sp>
        <p:nvSpPr>
          <p:cNvPr id="53" name="TextBox 52">
            <a:extLst>
              <a:ext uri="{FF2B5EF4-FFF2-40B4-BE49-F238E27FC236}">
                <a16:creationId xmlns="" xmlns:a16="http://schemas.microsoft.com/office/drawing/2014/main" id="{B2CAF639-C4B4-4C7F-AFF2-5A53F89A9C97}"/>
              </a:ext>
            </a:extLst>
          </p:cNvPr>
          <p:cNvSpPr txBox="1"/>
          <p:nvPr/>
        </p:nvSpPr>
        <p:spPr bwMode="gray">
          <a:xfrm>
            <a:off x="5668740" y="2568769"/>
            <a:ext cx="877163"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rPr>
              <a:t>汇聚层</a:t>
            </a:r>
            <a:endParaRPr lang="en-US" dirty="0">
              <a:latin typeface="Huawei Sans" panose="020C0503030203020204" pitchFamily="34" charset="0"/>
              <a:ea typeface="方正兰亭黑简体" panose="02000000000000000000" pitchFamily="2" charset="-122"/>
            </a:endParaRPr>
          </a:p>
        </p:txBody>
      </p:sp>
      <p:sp>
        <p:nvSpPr>
          <p:cNvPr id="54" name="TextBox 53">
            <a:extLst>
              <a:ext uri="{FF2B5EF4-FFF2-40B4-BE49-F238E27FC236}">
                <a16:creationId xmlns="" xmlns:a16="http://schemas.microsoft.com/office/drawing/2014/main" id="{EB960007-F0AE-4152-AC1D-E5EDBBCBD102}"/>
              </a:ext>
            </a:extLst>
          </p:cNvPr>
          <p:cNvSpPr txBox="1"/>
          <p:nvPr/>
        </p:nvSpPr>
        <p:spPr bwMode="gray">
          <a:xfrm>
            <a:off x="5660072" y="3686395"/>
            <a:ext cx="877163"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rPr>
              <a:t>核心层</a:t>
            </a:r>
            <a:endParaRPr lang="en-US" dirty="0">
              <a:latin typeface="Huawei Sans" panose="020C0503030203020204" pitchFamily="34" charset="0"/>
              <a:ea typeface="方正兰亭黑简体" panose="02000000000000000000" pitchFamily="2" charset="-122"/>
            </a:endParaRPr>
          </a:p>
        </p:txBody>
      </p:sp>
      <p:sp>
        <p:nvSpPr>
          <p:cNvPr id="55" name="TextBox 54">
            <a:extLst>
              <a:ext uri="{FF2B5EF4-FFF2-40B4-BE49-F238E27FC236}">
                <a16:creationId xmlns="" xmlns:a16="http://schemas.microsoft.com/office/drawing/2014/main" id="{1BBBB8EB-3202-4D57-AD57-74F7D0D09B9A}"/>
              </a:ext>
            </a:extLst>
          </p:cNvPr>
          <p:cNvSpPr txBox="1"/>
          <p:nvPr/>
        </p:nvSpPr>
        <p:spPr bwMode="gray">
          <a:xfrm>
            <a:off x="7305008" y="3763092"/>
            <a:ext cx="1542589" cy="712873"/>
          </a:xfrm>
          <a:prstGeom prst="wedgeRectCallout">
            <a:avLst>
              <a:gd name="adj1" fmla="val -62189"/>
              <a:gd name="adj2" fmla="val -2238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核心层：</a:t>
            </a:r>
            <a:endParaRPr lang="en-US" altLang="zh-CN" dirty="0">
              <a:latin typeface="Huawei Sans" panose="020C0503030203020204" pitchFamily="34" charset="0"/>
              <a:ea typeface="方正兰亭黑简体" panose="02000000000000000000" pitchFamily="2" charset="-122"/>
            </a:endParaRPr>
          </a:p>
          <a:p>
            <a:pPr algn="l"/>
            <a:r>
              <a:rPr lang="zh-CN" altLang="en-US" dirty="0">
                <a:latin typeface="Huawei Sans" panose="020C0503030203020204" pitchFamily="34" charset="0"/>
                <a:ea typeface="方正兰亭黑简体" panose="02000000000000000000" pitchFamily="2" charset="-122"/>
              </a:rPr>
              <a:t>作为顶层互联区域，提供业务高速互访。</a:t>
            </a:r>
          </a:p>
        </p:txBody>
      </p:sp>
    </p:spTree>
    <p:extLst>
      <p:ext uri="{BB962C8B-B14F-4D97-AF65-F5344CB8AC3E}">
        <p14:creationId xmlns:p14="http://schemas.microsoft.com/office/powerpoint/2010/main" val="4194970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6E4455-D2C8-4FF8-9745-C1F7ABFC1915}"/>
              </a:ext>
            </a:extLst>
          </p:cNvPr>
          <p:cNvSpPr>
            <a:spLocks noGrp="1"/>
          </p:cNvSpPr>
          <p:nvPr>
            <p:ph type="title"/>
          </p:nvPr>
        </p:nvSpPr>
        <p:spPr bwMode="gray"/>
        <p:txBody>
          <a:bodyPr/>
          <a:lstStyle/>
          <a:p>
            <a:r>
              <a:rPr lang="zh-CN" altLang="en-US" dirty="0"/>
              <a:t>企业广域承载网的发展趋势</a:t>
            </a:r>
            <a:endParaRPr lang="en-US" dirty="0"/>
          </a:p>
        </p:txBody>
      </p:sp>
      <p:sp>
        <p:nvSpPr>
          <p:cNvPr id="3" name="Text Placeholder 2">
            <a:extLst>
              <a:ext uri="{FF2B5EF4-FFF2-40B4-BE49-F238E27FC236}">
                <a16:creationId xmlns="" xmlns:a16="http://schemas.microsoft.com/office/drawing/2014/main" id="{EA65775B-24B5-4BFB-960A-1909C4FFE3DF}"/>
              </a:ext>
            </a:extLst>
          </p:cNvPr>
          <p:cNvSpPr>
            <a:spLocks noGrp="1"/>
          </p:cNvSpPr>
          <p:nvPr>
            <p:ph type="body" sz="quarter" idx="10"/>
          </p:nvPr>
        </p:nvSpPr>
        <p:spPr bwMode="gray">
          <a:xfrm>
            <a:off x="455612" y="1047751"/>
            <a:ext cx="11293475" cy="2259852"/>
          </a:xfrm>
        </p:spPr>
        <p:txBody>
          <a:bodyPr/>
          <a:lstStyle/>
          <a:p>
            <a:r>
              <a:rPr lang="zh-CN" altLang="en-US" sz="1800" dirty="0"/>
              <a:t>云计算、大数据等新技术的产生促进了企业业务的发展，同时也对企业广域承载网提出了新的要求。</a:t>
            </a:r>
            <a:endParaRPr lang="en-US" altLang="zh-CN" sz="1800" dirty="0"/>
          </a:p>
          <a:p>
            <a:pPr lvl="1"/>
            <a:r>
              <a:rPr lang="zh-CN" altLang="en-US" sz="1600" dirty="0"/>
              <a:t>多网融合</a:t>
            </a:r>
            <a:endParaRPr lang="en-US" altLang="zh-CN" sz="1600" dirty="0"/>
          </a:p>
          <a:p>
            <a:pPr lvl="1"/>
            <a:r>
              <a:rPr lang="zh-CN" altLang="en-US" sz="1600" dirty="0"/>
              <a:t>多业务灵活承载</a:t>
            </a:r>
            <a:endParaRPr lang="en-US" altLang="zh-CN" sz="1600" dirty="0"/>
          </a:p>
          <a:p>
            <a:pPr lvl="1"/>
            <a:r>
              <a:rPr lang="zh-CN" altLang="en-US" sz="1600" dirty="0"/>
              <a:t>高可靠</a:t>
            </a:r>
            <a:endParaRPr lang="en-US" altLang="zh-CN" sz="1600" dirty="0"/>
          </a:p>
          <a:p>
            <a:pPr lvl="1"/>
            <a:r>
              <a:rPr lang="zh-CN" altLang="en-US" sz="1600" dirty="0"/>
              <a:t>简便运维</a:t>
            </a:r>
            <a:endParaRPr lang="en-US" sz="1600" dirty="0"/>
          </a:p>
        </p:txBody>
      </p:sp>
      <p:pic>
        <p:nvPicPr>
          <p:cNvPr id="5" name="图片 48">
            <a:extLst>
              <a:ext uri="{FF2B5EF4-FFF2-40B4-BE49-F238E27FC236}">
                <a16:creationId xmlns="" xmlns:a16="http://schemas.microsoft.com/office/drawing/2014/main" id="{59F0FCD7-5DF9-4E1D-A8B0-3059B921C5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252301" y="3389588"/>
            <a:ext cx="378863" cy="310667"/>
          </a:xfrm>
          <a:prstGeom prst="rect">
            <a:avLst/>
          </a:prstGeom>
        </p:spPr>
      </p:pic>
      <p:pic>
        <p:nvPicPr>
          <p:cNvPr id="6" name="图片 48">
            <a:extLst>
              <a:ext uri="{FF2B5EF4-FFF2-40B4-BE49-F238E27FC236}">
                <a16:creationId xmlns="" xmlns:a16="http://schemas.microsoft.com/office/drawing/2014/main" id="{BA66DE09-6648-4F6A-BAAF-CA26E5CF5B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997303" y="3389588"/>
            <a:ext cx="378863" cy="310667"/>
          </a:xfrm>
          <a:prstGeom prst="rect">
            <a:avLst/>
          </a:prstGeom>
        </p:spPr>
      </p:pic>
      <p:pic>
        <p:nvPicPr>
          <p:cNvPr id="8" name="图片 48">
            <a:extLst>
              <a:ext uri="{FF2B5EF4-FFF2-40B4-BE49-F238E27FC236}">
                <a16:creationId xmlns="" xmlns:a16="http://schemas.microsoft.com/office/drawing/2014/main" id="{E76EEFD0-D61F-43A7-AE72-D36A4595F1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624758" y="4123013"/>
            <a:ext cx="378863" cy="310667"/>
          </a:xfrm>
          <a:prstGeom prst="rect">
            <a:avLst/>
          </a:prstGeom>
        </p:spPr>
      </p:pic>
      <p:sp>
        <p:nvSpPr>
          <p:cNvPr id="15" name="Rectangle: Rounded Corners 14">
            <a:extLst>
              <a:ext uri="{FF2B5EF4-FFF2-40B4-BE49-F238E27FC236}">
                <a16:creationId xmlns="" xmlns:a16="http://schemas.microsoft.com/office/drawing/2014/main" id="{FE235AB4-F054-4DD7-84AE-86ED5268897C}"/>
              </a:ext>
            </a:extLst>
          </p:cNvPr>
          <p:cNvSpPr/>
          <p:nvPr/>
        </p:nvSpPr>
        <p:spPr bwMode="gray">
          <a:xfrm>
            <a:off x="3096613" y="3281881"/>
            <a:ext cx="1416104" cy="1266825"/>
          </a:xfrm>
          <a:prstGeom prst="roundRect">
            <a:avLst>
              <a:gd name="adj" fmla="val 6893"/>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Straight Connector 21">
            <a:extLst>
              <a:ext uri="{FF2B5EF4-FFF2-40B4-BE49-F238E27FC236}">
                <a16:creationId xmlns="" xmlns:a16="http://schemas.microsoft.com/office/drawing/2014/main" id="{F5EFEEFA-222C-41F1-8BA3-815364CF780F}"/>
              </a:ext>
            </a:extLst>
          </p:cNvPr>
          <p:cNvCxnSpPr>
            <a:cxnSpLocks/>
            <a:stCxn id="8" idx="2"/>
            <a:endCxn id="13" idx="1"/>
          </p:cNvCxnSpPr>
          <p:nvPr/>
        </p:nvCxnSpPr>
        <p:spPr bwMode="gray">
          <a:xfrm>
            <a:off x="3814190" y="4433680"/>
            <a:ext cx="577008" cy="89535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3" name="图片 48">
            <a:extLst>
              <a:ext uri="{FF2B5EF4-FFF2-40B4-BE49-F238E27FC236}">
                <a16:creationId xmlns="" xmlns:a16="http://schemas.microsoft.com/office/drawing/2014/main" id="{DCED6438-253F-42CE-A2D7-DB9B7FC05D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63656" y="3389588"/>
            <a:ext cx="378863" cy="310667"/>
          </a:xfrm>
          <a:prstGeom prst="rect">
            <a:avLst/>
          </a:prstGeom>
        </p:spPr>
      </p:pic>
      <p:pic>
        <p:nvPicPr>
          <p:cNvPr id="34" name="图片 48">
            <a:extLst>
              <a:ext uri="{FF2B5EF4-FFF2-40B4-BE49-F238E27FC236}">
                <a16:creationId xmlns="" xmlns:a16="http://schemas.microsoft.com/office/drawing/2014/main" id="{8265D3DF-46B0-4623-9577-A40A7E1AC2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508658" y="3389588"/>
            <a:ext cx="378863" cy="310667"/>
          </a:xfrm>
          <a:prstGeom prst="rect">
            <a:avLst/>
          </a:prstGeom>
        </p:spPr>
      </p:pic>
      <p:pic>
        <p:nvPicPr>
          <p:cNvPr id="35" name="图片 48">
            <a:extLst>
              <a:ext uri="{FF2B5EF4-FFF2-40B4-BE49-F238E27FC236}">
                <a16:creationId xmlns="" xmlns:a16="http://schemas.microsoft.com/office/drawing/2014/main" id="{3EF60981-3B2B-4CC6-BB06-5FA8AAA0C2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136113" y="4123013"/>
            <a:ext cx="378863" cy="310667"/>
          </a:xfrm>
          <a:prstGeom prst="rect">
            <a:avLst/>
          </a:prstGeom>
        </p:spPr>
      </p:pic>
      <p:sp>
        <p:nvSpPr>
          <p:cNvPr id="36" name="Rectangle: Rounded Corners 35">
            <a:extLst>
              <a:ext uri="{FF2B5EF4-FFF2-40B4-BE49-F238E27FC236}">
                <a16:creationId xmlns="" xmlns:a16="http://schemas.microsoft.com/office/drawing/2014/main" id="{110A14E6-C4A2-4F95-97AE-88C1B167E766}"/>
              </a:ext>
            </a:extLst>
          </p:cNvPr>
          <p:cNvSpPr/>
          <p:nvPr/>
        </p:nvSpPr>
        <p:spPr bwMode="gray">
          <a:xfrm>
            <a:off x="4607968" y="3281881"/>
            <a:ext cx="1416104" cy="1266825"/>
          </a:xfrm>
          <a:prstGeom prst="roundRect">
            <a:avLst>
              <a:gd name="adj" fmla="val 6893"/>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Straight Connector 37">
            <a:extLst>
              <a:ext uri="{FF2B5EF4-FFF2-40B4-BE49-F238E27FC236}">
                <a16:creationId xmlns="" xmlns:a16="http://schemas.microsoft.com/office/drawing/2014/main" id="{8202AD90-2B0E-420B-81D8-AFEFE7328A90}"/>
              </a:ext>
            </a:extLst>
          </p:cNvPr>
          <p:cNvCxnSpPr>
            <a:cxnSpLocks/>
            <a:stCxn id="35" idx="2"/>
            <a:endCxn id="13" idx="3"/>
          </p:cNvCxnSpPr>
          <p:nvPr/>
        </p:nvCxnSpPr>
        <p:spPr bwMode="gray">
          <a:xfrm flipH="1">
            <a:off x="4770061" y="4433680"/>
            <a:ext cx="555484" cy="89535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 xmlns:a16="http://schemas.microsoft.com/office/drawing/2014/main" id="{C834614D-F7BE-407B-AE7E-0ECCB2F2552D}"/>
              </a:ext>
            </a:extLst>
          </p:cNvPr>
          <p:cNvCxnSpPr>
            <a:cxnSpLocks/>
            <a:stCxn id="5" idx="2"/>
            <a:endCxn id="8" idx="1"/>
          </p:cNvCxnSpPr>
          <p:nvPr/>
        </p:nvCxnSpPr>
        <p:spPr bwMode="gray">
          <a:xfrm>
            <a:off x="3441733" y="3700255"/>
            <a:ext cx="183025" cy="5780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 xmlns:a16="http://schemas.microsoft.com/office/drawing/2014/main" id="{89CAA0D9-3903-4F18-8B4B-CDD2E6A19A3F}"/>
              </a:ext>
            </a:extLst>
          </p:cNvPr>
          <p:cNvCxnSpPr>
            <a:cxnSpLocks/>
            <a:stCxn id="6" idx="2"/>
            <a:endCxn id="8" idx="3"/>
          </p:cNvCxnSpPr>
          <p:nvPr/>
        </p:nvCxnSpPr>
        <p:spPr bwMode="gray">
          <a:xfrm flipH="1">
            <a:off x="4003621" y="3700255"/>
            <a:ext cx="183114" cy="5780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C8D0F421-A4D8-48B8-801D-77AA6D2F898B}"/>
              </a:ext>
            </a:extLst>
          </p:cNvPr>
          <p:cNvCxnSpPr>
            <a:cxnSpLocks/>
            <a:stCxn id="33" idx="2"/>
            <a:endCxn id="35" idx="1"/>
          </p:cNvCxnSpPr>
          <p:nvPr/>
        </p:nvCxnSpPr>
        <p:spPr bwMode="gray">
          <a:xfrm>
            <a:off x="4953088" y="3700255"/>
            <a:ext cx="183025" cy="5780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87032642-2546-4FEF-AD9E-7F5B9436A6CB}"/>
              </a:ext>
            </a:extLst>
          </p:cNvPr>
          <p:cNvCxnSpPr>
            <a:cxnSpLocks/>
            <a:stCxn id="34" idx="2"/>
            <a:endCxn id="35" idx="3"/>
          </p:cNvCxnSpPr>
          <p:nvPr/>
        </p:nvCxnSpPr>
        <p:spPr bwMode="gray">
          <a:xfrm flipH="1">
            <a:off x="5514976" y="3700255"/>
            <a:ext cx="183114" cy="5780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 xmlns:a16="http://schemas.microsoft.com/office/drawing/2014/main" id="{33C3AC64-CD91-47FC-9A74-BB0866F40255}"/>
              </a:ext>
            </a:extLst>
          </p:cNvPr>
          <p:cNvSpPr/>
          <p:nvPr/>
        </p:nvSpPr>
        <p:spPr bwMode="gray">
          <a:xfrm>
            <a:off x="3179724" y="3049037"/>
            <a:ext cx="989733" cy="233385"/>
          </a:xfrm>
          <a:prstGeom prst="rect">
            <a:avLst/>
          </a:prstGeom>
          <a:solidFill>
            <a:schemeClr val="bg1">
              <a:lumMod val="50000"/>
            </a:schemeClr>
          </a:solidFill>
          <a:ln w="19050" cap="flat" cmpd="sng">
            <a:solidFill>
              <a:schemeClr val="bg1">
                <a:lumMod val="50000"/>
              </a:schemeClr>
            </a:solidFill>
          </a:ln>
        </p:spPr>
        <p:txBody>
          <a:bodyPr vert="horz" wrap="square" lIns="68580" tIns="34290" rIns="68580" bIns="34290" numCol="1" rtlCol="0" anchor="t" anchorCtr="0" compatLnSpc="1">
            <a:prstTxWarp prst="textNoShape">
              <a:avLst/>
            </a:prstTxWarp>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生产承载网</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le 54">
            <a:extLst>
              <a:ext uri="{FF2B5EF4-FFF2-40B4-BE49-F238E27FC236}">
                <a16:creationId xmlns="" xmlns:a16="http://schemas.microsoft.com/office/drawing/2014/main" id="{16552522-3860-40C7-89DB-F6D5C32CCCBB}"/>
              </a:ext>
            </a:extLst>
          </p:cNvPr>
          <p:cNvSpPr/>
          <p:nvPr/>
        </p:nvSpPr>
        <p:spPr bwMode="gray">
          <a:xfrm>
            <a:off x="5062276" y="3049037"/>
            <a:ext cx="903501" cy="233385"/>
          </a:xfrm>
          <a:prstGeom prst="rect">
            <a:avLst/>
          </a:prstGeom>
          <a:solidFill>
            <a:schemeClr val="bg1">
              <a:lumMod val="50000"/>
            </a:schemeClr>
          </a:solidFill>
          <a:ln w="19050" cap="flat" cmpd="sng">
            <a:solidFill>
              <a:schemeClr val="bg1">
                <a:lumMod val="50000"/>
              </a:schemeClr>
            </a:solidFill>
          </a:ln>
        </p:spPr>
        <p:txBody>
          <a:bodyPr vert="horz" wrap="square" lIns="68580" tIns="34290" rIns="68580" bIns="34290" numCol="1" rtlCol="0" anchor="t" anchorCtr="0" compatLnSpc="1">
            <a:prstTxWarp prst="textNoShape">
              <a:avLst/>
            </a:prstTxWarp>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办公承载网</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4" name="图片 48">
            <a:extLst>
              <a:ext uri="{FF2B5EF4-FFF2-40B4-BE49-F238E27FC236}">
                <a16:creationId xmlns="" xmlns:a16="http://schemas.microsoft.com/office/drawing/2014/main" id="{E43CEA2A-4D30-4911-AEE3-5EF4FAE221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48166" y="3402723"/>
            <a:ext cx="378863" cy="310667"/>
          </a:xfrm>
          <a:prstGeom prst="rect">
            <a:avLst/>
          </a:prstGeom>
        </p:spPr>
      </p:pic>
      <p:pic>
        <p:nvPicPr>
          <p:cNvPr id="65" name="图片 48">
            <a:extLst>
              <a:ext uri="{FF2B5EF4-FFF2-40B4-BE49-F238E27FC236}">
                <a16:creationId xmlns="" xmlns:a16="http://schemas.microsoft.com/office/drawing/2014/main" id="{9680A750-EEBF-4F07-BB10-88C934065B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564793" y="3402723"/>
            <a:ext cx="378863" cy="310667"/>
          </a:xfrm>
          <a:prstGeom prst="rect">
            <a:avLst/>
          </a:prstGeom>
        </p:spPr>
      </p:pic>
      <p:pic>
        <p:nvPicPr>
          <p:cNvPr id="66" name="图片 48">
            <a:extLst>
              <a:ext uri="{FF2B5EF4-FFF2-40B4-BE49-F238E27FC236}">
                <a16:creationId xmlns="" xmlns:a16="http://schemas.microsoft.com/office/drawing/2014/main" id="{3E30D407-C98D-4A94-9181-70537AB15A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562955" y="4123012"/>
            <a:ext cx="378863" cy="310667"/>
          </a:xfrm>
          <a:prstGeom prst="rect">
            <a:avLst/>
          </a:prstGeom>
        </p:spPr>
      </p:pic>
      <p:sp>
        <p:nvSpPr>
          <p:cNvPr id="67" name="Rectangle: Rounded Corners 66">
            <a:extLst>
              <a:ext uri="{FF2B5EF4-FFF2-40B4-BE49-F238E27FC236}">
                <a16:creationId xmlns="" xmlns:a16="http://schemas.microsoft.com/office/drawing/2014/main" id="{BF4D8081-D6BF-4603-AC30-BEA3D6BEEDBB}"/>
              </a:ext>
            </a:extLst>
          </p:cNvPr>
          <p:cNvSpPr/>
          <p:nvPr/>
        </p:nvSpPr>
        <p:spPr bwMode="gray">
          <a:xfrm>
            <a:off x="6942430" y="3074365"/>
            <a:ext cx="3274991" cy="1706677"/>
          </a:xfrm>
          <a:prstGeom prst="roundRect">
            <a:avLst>
              <a:gd name="adj" fmla="val 6893"/>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Straight Connector 67">
            <a:extLst>
              <a:ext uri="{FF2B5EF4-FFF2-40B4-BE49-F238E27FC236}">
                <a16:creationId xmlns="" xmlns:a16="http://schemas.microsoft.com/office/drawing/2014/main" id="{52323A5D-B231-4586-9FBD-307342E32205}"/>
              </a:ext>
            </a:extLst>
          </p:cNvPr>
          <p:cNvCxnSpPr>
            <a:cxnSpLocks/>
            <a:stCxn id="66" idx="2"/>
            <a:endCxn id="61" idx="3"/>
          </p:cNvCxnSpPr>
          <p:nvPr/>
        </p:nvCxnSpPr>
        <p:spPr bwMode="gray">
          <a:xfrm flipH="1">
            <a:off x="8760611" y="4433679"/>
            <a:ext cx="991776" cy="89535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 xmlns:a16="http://schemas.microsoft.com/office/drawing/2014/main" id="{02DBF8EA-ED7D-4F2B-BA8B-ED09BB61ACC8}"/>
              </a:ext>
            </a:extLst>
          </p:cNvPr>
          <p:cNvCxnSpPr>
            <a:cxnSpLocks/>
            <a:stCxn id="64" idx="2"/>
            <a:endCxn id="66" idx="0"/>
          </p:cNvCxnSpPr>
          <p:nvPr/>
        </p:nvCxnSpPr>
        <p:spPr bwMode="gray">
          <a:xfrm>
            <a:off x="7437598" y="3713390"/>
            <a:ext cx="2314789" cy="4096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 xmlns:a16="http://schemas.microsoft.com/office/drawing/2014/main" id="{E6141DF8-97D9-4A48-8195-7869BB497D39}"/>
              </a:ext>
            </a:extLst>
          </p:cNvPr>
          <p:cNvCxnSpPr>
            <a:cxnSpLocks/>
            <a:stCxn id="65" idx="2"/>
            <a:endCxn id="66" idx="0"/>
          </p:cNvCxnSpPr>
          <p:nvPr/>
        </p:nvCxnSpPr>
        <p:spPr bwMode="gray">
          <a:xfrm flipH="1">
            <a:off x="9752387" y="3713390"/>
            <a:ext cx="1838" cy="4096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5" name="Arrow: Right 74">
            <a:extLst>
              <a:ext uri="{FF2B5EF4-FFF2-40B4-BE49-F238E27FC236}">
                <a16:creationId xmlns="" xmlns:a16="http://schemas.microsoft.com/office/drawing/2014/main" id="{240A688A-12B1-4D58-97C5-9C2B2BF47E2E}"/>
              </a:ext>
            </a:extLst>
          </p:cNvPr>
          <p:cNvSpPr/>
          <p:nvPr/>
        </p:nvSpPr>
        <p:spPr bwMode="gray">
          <a:xfrm>
            <a:off x="6193257" y="3684230"/>
            <a:ext cx="578148" cy="454808"/>
          </a:xfrm>
          <a:prstGeom prst="rightArrow">
            <a:avLst/>
          </a:prstGeom>
          <a:solidFill>
            <a:srgbClr val="94DAE2"/>
          </a:solidFill>
          <a:ln w="19050" cap="flat" cmpd="sng">
            <a:solidFill>
              <a:srgbClr val="56C4D2"/>
            </a:solidFill>
          </a:ln>
        </p:spPr>
        <p:txBody>
          <a:bodyPr vert="horz" wrap="square" lIns="68580" tIns="34290" rIns="68580" bIns="34290" numCol="1" rtlCol="0" anchor="ctr" anchorCtr="0" compatLnSpc="1">
            <a:prstTxWarp prst="textNoShape">
              <a:avLst/>
            </a:prstTxWarp>
          </a:bodyPr>
          <a:lstStyle/>
          <a:p>
            <a:pPr algn="ct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8" name="图片 48">
            <a:extLst>
              <a:ext uri="{FF2B5EF4-FFF2-40B4-BE49-F238E27FC236}">
                <a16:creationId xmlns="" xmlns:a16="http://schemas.microsoft.com/office/drawing/2014/main" id="{DD885A34-8CA4-4731-93B8-57DD92E0C9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49500" y="4136148"/>
            <a:ext cx="378863" cy="310667"/>
          </a:xfrm>
          <a:prstGeom prst="rect">
            <a:avLst/>
          </a:prstGeom>
        </p:spPr>
      </p:pic>
      <p:cxnSp>
        <p:nvCxnSpPr>
          <p:cNvPr id="82" name="Straight Connector 81">
            <a:extLst>
              <a:ext uri="{FF2B5EF4-FFF2-40B4-BE49-F238E27FC236}">
                <a16:creationId xmlns="" xmlns:a16="http://schemas.microsoft.com/office/drawing/2014/main" id="{80AF71E0-3A19-462B-8148-D4B5F5269C88}"/>
              </a:ext>
            </a:extLst>
          </p:cNvPr>
          <p:cNvCxnSpPr>
            <a:cxnSpLocks/>
            <a:stCxn id="78" idx="2"/>
            <a:endCxn id="61" idx="1"/>
          </p:cNvCxnSpPr>
          <p:nvPr/>
        </p:nvCxnSpPr>
        <p:spPr bwMode="gray">
          <a:xfrm>
            <a:off x="7438932" y="4446815"/>
            <a:ext cx="942816" cy="8822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 xmlns:a16="http://schemas.microsoft.com/office/drawing/2014/main" id="{759C3ECB-E7C5-401A-877E-BE57C0F425A1}"/>
              </a:ext>
            </a:extLst>
          </p:cNvPr>
          <p:cNvCxnSpPr>
            <a:cxnSpLocks/>
            <a:stCxn id="64" idx="2"/>
            <a:endCxn id="78" idx="0"/>
          </p:cNvCxnSpPr>
          <p:nvPr/>
        </p:nvCxnSpPr>
        <p:spPr bwMode="gray">
          <a:xfrm>
            <a:off x="7437598" y="3713390"/>
            <a:ext cx="1334" cy="42275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 xmlns:a16="http://schemas.microsoft.com/office/drawing/2014/main" id="{AF602646-20C7-4778-8C65-DAA22EBC15A2}"/>
              </a:ext>
            </a:extLst>
          </p:cNvPr>
          <p:cNvCxnSpPr>
            <a:cxnSpLocks/>
            <a:stCxn id="65" idx="2"/>
            <a:endCxn id="78" idx="0"/>
          </p:cNvCxnSpPr>
          <p:nvPr/>
        </p:nvCxnSpPr>
        <p:spPr bwMode="gray">
          <a:xfrm flipH="1">
            <a:off x="7438932" y="3713390"/>
            <a:ext cx="2315293" cy="42275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5" name="Freeform 159">
            <a:extLst>
              <a:ext uri="{FF2B5EF4-FFF2-40B4-BE49-F238E27FC236}">
                <a16:creationId xmlns="" xmlns:a16="http://schemas.microsoft.com/office/drawing/2014/main" id="{16FF27DD-279A-42E5-BA08-2060D27EEDFB}"/>
              </a:ext>
            </a:extLst>
          </p:cNvPr>
          <p:cNvSpPr/>
          <p:nvPr/>
        </p:nvSpPr>
        <p:spPr bwMode="gray">
          <a:xfrm flipH="1">
            <a:off x="4127160" y="539992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13" name="图片 48">
            <a:extLst>
              <a:ext uri="{FF2B5EF4-FFF2-40B4-BE49-F238E27FC236}">
                <a16:creationId xmlns="" xmlns:a16="http://schemas.microsoft.com/office/drawing/2014/main" id="{C918635C-BCC8-47D7-BAF0-71A24CB97C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91198" y="5173696"/>
            <a:ext cx="378863" cy="310667"/>
          </a:xfrm>
          <a:prstGeom prst="rect">
            <a:avLst/>
          </a:prstGeom>
        </p:spPr>
      </p:pic>
      <p:sp>
        <p:nvSpPr>
          <p:cNvPr id="96" name="Freeform 159">
            <a:extLst>
              <a:ext uri="{FF2B5EF4-FFF2-40B4-BE49-F238E27FC236}">
                <a16:creationId xmlns="" xmlns:a16="http://schemas.microsoft.com/office/drawing/2014/main" id="{3BF1B835-93B9-4C7F-91C9-47CF42DD3122}"/>
              </a:ext>
            </a:extLst>
          </p:cNvPr>
          <p:cNvSpPr/>
          <p:nvPr/>
        </p:nvSpPr>
        <p:spPr bwMode="gray">
          <a:xfrm flipH="1">
            <a:off x="8076169" y="540293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61" name="图片 48">
            <a:extLst>
              <a:ext uri="{FF2B5EF4-FFF2-40B4-BE49-F238E27FC236}">
                <a16:creationId xmlns="" xmlns:a16="http://schemas.microsoft.com/office/drawing/2014/main" id="{9FE82876-9A7C-43E2-8AF0-CAB4872162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381748" y="5173695"/>
            <a:ext cx="378863" cy="310667"/>
          </a:xfrm>
          <a:prstGeom prst="rect">
            <a:avLst/>
          </a:prstGeom>
        </p:spPr>
      </p:pic>
      <p:sp>
        <p:nvSpPr>
          <p:cNvPr id="100" name="Freeform 159">
            <a:extLst>
              <a:ext uri="{FF2B5EF4-FFF2-40B4-BE49-F238E27FC236}">
                <a16:creationId xmlns="" xmlns:a16="http://schemas.microsoft.com/office/drawing/2014/main" id="{20DE1B14-8EA7-4DDE-9EE2-D312D0E38A7C}"/>
              </a:ext>
            </a:extLst>
          </p:cNvPr>
          <p:cNvSpPr/>
          <p:nvPr/>
        </p:nvSpPr>
        <p:spPr bwMode="gray">
          <a:xfrm flipH="1">
            <a:off x="6299529" y="186345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数据中心</a:t>
            </a:r>
            <a:r>
              <a:rPr lang="en-US" altLang="zh-CN" sz="1200" dirty="0">
                <a:solidFill>
                  <a:srgbClr val="000000"/>
                </a:solidFill>
                <a:latin typeface="Huawei Sans" panose="020C0503030203020204" pitchFamily="34" charset="0"/>
                <a:ea typeface="方正兰亭黑简体" panose="02000000000000000000" pitchFamily="2" charset="-122"/>
              </a:rPr>
              <a:t>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101" name="Freeform 159">
            <a:extLst>
              <a:ext uri="{FF2B5EF4-FFF2-40B4-BE49-F238E27FC236}">
                <a16:creationId xmlns="" xmlns:a16="http://schemas.microsoft.com/office/drawing/2014/main" id="{C125A98B-5F94-4F7F-9091-C8A5450089BE}"/>
              </a:ext>
            </a:extLst>
          </p:cNvPr>
          <p:cNvSpPr/>
          <p:nvPr/>
        </p:nvSpPr>
        <p:spPr bwMode="gray">
          <a:xfrm flipH="1">
            <a:off x="8097666" y="186394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sp>
        <p:nvSpPr>
          <p:cNvPr id="102" name="Freeform 159">
            <a:extLst>
              <a:ext uri="{FF2B5EF4-FFF2-40B4-BE49-F238E27FC236}">
                <a16:creationId xmlns="" xmlns:a16="http://schemas.microsoft.com/office/drawing/2014/main" id="{E3DABAFA-3438-4708-861C-3E2428B13D81}"/>
              </a:ext>
            </a:extLst>
          </p:cNvPr>
          <p:cNvSpPr/>
          <p:nvPr/>
        </p:nvSpPr>
        <p:spPr bwMode="gray">
          <a:xfrm flipH="1">
            <a:off x="9912431" y="185784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数据中心</a:t>
            </a:r>
            <a:r>
              <a:rPr lang="en-US" altLang="zh-CN" sz="1200" dirty="0">
                <a:solidFill>
                  <a:srgbClr val="000000"/>
                </a:solidFill>
                <a:latin typeface="Huawei Sans" panose="020C0503030203020204" pitchFamily="34" charset="0"/>
                <a:ea typeface="方正兰亭黑简体" panose="02000000000000000000" pitchFamily="2" charset="-122"/>
              </a:rPr>
              <a:t>2</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97" name="图片 48">
            <a:extLst>
              <a:ext uri="{FF2B5EF4-FFF2-40B4-BE49-F238E27FC236}">
                <a16:creationId xmlns="" xmlns:a16="http://schemas.microsoft.com/office/drawing/2014/main" id="{E56245EA-2AAE-4F58-BD89-730EF1BAD7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63567" y="2232650"/>
            <a:ext cx="378863" cy="310667"/>
          </a:xfrm>
          <a:prstGeom prst="rect">
            <a:avLst/>
          </a:prstGeom>
        </p:spPr>
      </p:pic>
      <p:pic>
        <p:nvPicPr>
          <p:cNvPr id="98" name="图片 48">
            <a:extLst>
              <a:ext uri="{FF2B5EF4-FFF2-40B4-BE49-F238E27FC236}">
                <a16:creationId xmlns="" xmlns:a16="http://schemas.microsoft.com/office/drawing/2014/main" id="{60CF0523-9C57-45B4-B5BB-8F13075501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388785" y="2223682"/>
            <a:ext cx="378863" cy="310667"/>
          </a:xfrm>
          <a:prstGeom prst="rect">
            <a:avLst/>
          </a:prstGeom>
        </p:spPr>
      </p:pic>
      <p:pic>
        <p:nvPicPr>
          <p:cNvPr id="99" name="图片 48">
            <a:extLst>
              <a:ext uri="{FF2B5EF4-FFF2-40B4-BE49-F238E27FC236}">
                <a16:creationId xmlns="" xmlns:a16="http://schemas.microsoft.com/office/drawing/2014/main" id="{A74EE1D1-B14F-422B-A025-58410DAD40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176469" y="2229716"/>
            <a:ext cx="378863" cy="310667"/>
          </a:xfrm>
          <a:prstGeom prst="rect">
            <a:avLst/>
          </a:prstGeom>
        </p:spPr>
      </p:pic>
      <p:cxnSp>
        <p:nvCxnSpPr>
          <p:cNvPr id="103" name="Straight Connector 102">
            <a:extLst>
              <a:ext uri="{FF2B5EF4-FFF2-40B4-BE49-F238E27FC236}">
                <a16:creationId xmlns="" xmlns:a16="http://schemas.microsoft.com/office/drawing/2014/main" id="{43333E5E-A6A8-46D7-BBD3-74F3FA3ADFAE}"/>
              </a:ext>
            </a:extLst>
          </p:cNvPr>
          <p:cNvCxnSpPr>
            <a:cxnSpLocks/>
            <a:stCxn id="64" idx="3"/>
            <a:endCxn id="65" idx="1"/>
          </p:cNvCxnSpPr>
          <p:nvPr/>
        </p:nvCxnSpPr>
        <p:spPr bwMode="gray">
          <a:xfrm>
            <a:off x="7627029" y="3558057"/>
            <a:ext cx="193776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 xmlns:a16="http://schemas.microsoft.com/office/drawing/2014/main" id="{02DCF570-FDFA-4A95-B9A8-75006475C114}"/>
              </a:ext>
            </a:extLst>
          </p:cNvPr>
          <p:cNvCxnSpPr>
            <a:cxnSpLocks/>
            <a:stCxn id="78" idx="3"/>
            <a:endCxn id="66" idx="1"/>
          </p:cNvCxnSpPr>
          <p:nvPr/>
        </p:nvCxnSpPr>
        <p:spPr bwMode="gray">
          <a:xfrm flipV="1">
            <a:off x="7628363" y="4278346"/>
            <a:ext cx="1934592" cy="131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 xmlns:a16="http://schemas.microsoft.com/office/drawing/2014/main" id="{4D4D3E47-337C-4FD1-9C34-E2D159A63B55}"/>
              </a:ext>
            </a:extLst>
          </p:cNvPr>
          <p:cNvCxnSpPr>
            <a:cxnSpLocks/>
            <a:stCxn id="97" idx="2"/>
            <a:endCxn id="64" idx="0"/>
          </p:cNvCxnSpPr>
          <p:nvPr/>
        </p:nvCxnSpPr>
        <p:spPr bwMode="gray">
          <a:xfrm>
            <a:off x="6752999" y="2543317"/>
            <a:ext cx="684599" cy="85940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 xmlns:a16="http://schemas.microsoft.com/office/drawing/2014/main" id="{028624B0-046B-4E4C-8A11-7C95C491FADE}"/>
              </a:ext>
            </a:extLst>
          </p:cNvPr>
          <p:cNvCxnSpPr>
            <a:cxnSpLocks/>
            <a:stCxn id="97" idx="3"/>
            <a:endCxn id="65" idx="0"/>
          </p:cNvCxnSpPr>
          <p:nvPr/>
        </p:nvCxnSpPr>
        <p:spPr bwMode="gray">
          <a:xfrm>
            <a:off x="6942430" y="2387984"/>
            <a:ext cx="2811795" cy="101473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 xmlns:a16="http://schemas.microsoft.com/office/drawing/2014/main" id="{C9538311-62F9-450B-B2F1-5A8E6D5B445E}"/>
              </a:ext>
            </a:extLst>
          </p:cNvPr>
          <p:cNvCxnSpPr>
            <a:cxnSpLocks/>
            <a:stCxn id="98" idx="1"/>
            <a:endCxn id="64" idx="0"/>
          </p:cNvCxnSpPr>
          <p:nvPr/>
        </p:nvCxnSpPr>
        <p:spPr bwMode="gray">
          <a:xfrm flipH="1">
            <a:off x="7437598" y="2379016"/>
            <a:ext cx="951187" cy="102370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 xmlns:a16="http://schemas.microsoft.com/office/drawing/2014/main" id="{9C309058-A8B2-4005-BE32-7C96FF2D4111}"/>
              </a:ext>
            </a:extLst>
          </p:cNvPr>
          <p:cNvCxnSpPr>
            <a:cxnSpLocks/>
            <a:stCxn id="98" idx="3"/>
            <a:endCxn id="65" idx="0"/>
          </p:cNvCxnSpPr>
          <p:nvPr/>
        </p:nvCxnSpPr>
        <p:spPr bwMode="gray">
          <a:xfrm>
            <a:off x="8767648" y="2379016"/>
            <a:ext cx="986577" cy="102370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 xmlns:a16="http://schemas.microsoft.com/office/drawing/2014/main" id="{03CFEF52-3A3F-4965-938F-8C743A4F5B08}"/>
              </a:ext>
            </a:extLst>
          </p:cNvPr>
          <p:cNvCxnSpPr>
            <a:cxnSpLocks/>
            <a:stCxn id="64" idx="0"/>
            <a:endCxn id="99" idx="1"/>
          </p:cNvCxnSpPr>
          <p:nvPr/>
        </p:nvCxnSpPr>
        <p:spPr bwMode="gray">
          <a:xfrm flipV="1">
            <a:off x="7437598" y="2385050"/>
            <a:ext cx="2738871" cy="101767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 xmlns:a16="http://schemas.microsoft.com/office/drawing/2014/main" id="{8435EE55-4A64-48E6-B88D-E59372E85887}"/>
              </a:ext>
            </a:extLst>
          </p:cNvPr>
          <p:cNvCxnSpPr>
            <a:cxnSpLocks/>
            <a:stCxn id="65" idx="0"/>
            <a:endCxn id="99" idx="2"/>
          </p:cNvCxnSpPr>
          <p:nvPr/>
        </p:nvCxnSpPr>
        <p:spPr bwMode="gray">
          <a:xfrm flipV="1">
            <a:off x="9754225" y="2540383"/>
            <a:ext cx="611676" cy="86234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41" name="图片 67">
            <a:extLst>
              <a:ext uri="{FF2B5EF4-FFF2-40B4-BE49-F238E27FC236}">
                <a16:creationId xmlns="" xmlns:a16="http://schemas.microsoft.com/office/drawing/2014/main" id="{9F0C18A7-4C75-432D-A224-73E05AE4AEA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371725" y="1660073"/>
            <a:ext cx="375447" cy="307867"/>
          </a:xfrm>
          <a:prstGeom prst="rect">
            <a:avLst/>
          </a:prstGeom>
        </p:spPr>
      </p:pic>
      <p:pic>
        <p:nvPicPr>
          <p:cNvPr id="142" name="图片 14" descr="交换机.png">
            <a:extLst>
              <a:ext uri="{FF2B5EF4-FFF2-40B4-BE49-F238E27FC236}">
                <a16:creationId xmlns="" xmlns:a16="http://schemas.microsoft.com/office/drawing/2014/main" id="{9E4D6921-D488-4E64-B26A-8700BCBBC33D}"/>
              </a:ext>
            </a:extLst>
          </p:cNvPr>
          <p:cNvPicPr>
            <a:picLocks noChangeAspect="1"/>
          </p:cNvPicPr>
          <p:nvPr/>
        </p:nvPicPr>
        <p:blipFill>
          <a:blip r:embed="rId5" cstate="print"/>
          <a:stretch>
            <a:fillRect/>
          </a:stretch>
        </p:blipFill>
        <p:spPr bwMode="gray">
          <a:xfrm>
            <a:off x="6568470" y="1658611"/>
            <a:ext cx="378070" cy="309329"/>
          </a:xfrm>
          <a:prstGeom prst="rect">
            <a:avLst/>
          </a:prstGeom>
        </p:spPr>
      </p:pic>
      <p:pic>
        <p:nvPicPr>
          <p:cNvPr id="143" name="图片 51" descr="交换机.png">
            <a:extLst>
              <a:ext uri="{FF2B5EF4-FFF2-40B4-BE49-F238E27FC236}">
                <a16:creationId xmlns="" xmlns:a16="http://schemas.microsoft.com/office/drawing/2014/main" id="{07A4EA26-719D-4EEB-9C06-5C6C4462545A}"/>
              </a:ext>
            </a:extLst>
          </p:cNvPr>
          <p:cNvPicPr>
            <a:picLocks noChangeAspect="1"/>
          </p:cNvPicPr>
          <p:nvPr/>
        </p:nvPicPr>
        <p:blipFill>
          <a:blip r:embed="rId6" cstate="print"/>
          <a:stretch>
            <a:fillRect/>
          </a:stretch>
        </p:blipFill>
        <p:spPr bwMode="gray">
          <a:xfrm>
            <a:off x="4391198" y="5728079"/>
            <a:ext cx="375447" cy="307183"/>
          </a:xfrm>
          <a:prstGeom prst="rect">
            <a:avLst/>
          </a:prstGeom>
        </p:spPr>
      </p:pic>
      <p:pic>
        <p:nvPicPr>
          <p:cNvPr id="144" name="图片 51" descr="交换机.png">
            <a:extLst>
              <a:ext uri="{FF2B5EF4-FFF2-40B4-BE49-F238E27FC236}">
                <a16:creationId xmlns="" xmlns:a16="http://schemas.microsoft.com/office/drawing/2014/main" id="{5084271E-02EA-42FC-84DF-42B2A1100E0B}"/>
              </a:ext>
            </a:extLst>
          </p:cNvPr>
          <p:cNvPicPr>
            <a:picLocks noChangeAspect="1"/>
          </p:cNvPicPr>
          <p:nvPr/>
        </p:nvPicPr>
        <p:blipFill>
          <a:blip r:embed="rId6" cstate="print"/>
          <a:stretch>
            <a:fillRect/>
          </a:stretch>
        </p:blipFill>
        <p:spPr bwMode="gray">
          <a:xfrm>
            <a:off x="8392201" y="5795994"/>
            <a:ext cx="375447" cy="307183"/>
          </a:xfrm>
          <a:prstGeom prst="rect">
            <a:avLst/>
          </a:prstGeom>
        </p:spPr>
      </p:pic>
      <p:pic>
        <p:nvPicPr>
          <p:cNvPr id="145" name="图片 14" descr="交换机.png">
            <a:extLst>
              <a:ext uri="{FF2B5EF4-FFF2-40B4-BE49-F238E27FC236}">
                <a16:creationId xmlns="" xmlns:a16="http://schemas.microsoft.com/office/drawing/2014/main" id="{B58B8C75-8A0E-41A0-85D9-491FACD37E01}"/>
              </a:ext>
            </a:extLst>
          </p:cNvPr>
          <p:cNvPicPr>
            <a:picLocks noChangeAspect="1"/>
          </p:cNvPicPr>
          <p:nvPr/>
        </p:nvPicPr>
        <p:blipFill>
          <a:blip r:embed="rId5" cstate="print"/>
          <a:stretch>
            <a:fillRect/>
          </a:stretch>
        </p:blipFill>
        <p:spPr bwMode="gray">
          <a:xfrm>
            <a:off x="10177262" y="1704423"/>
            <a:ext cx="378070" cy="309329"/>
          </a:xfrm>
          <a:prstGeom prst="rect">
            <a:avLst/>
          </a:prstGeom>
        </p:spPr>
      </p:pic>
      <p:grpSp>
        <p:nvGrpSpPr>
          <p:cNvPr id="146" name="组合 50">
            <a:extLst>
              <a:ext uri="{FF2B5EF4-FFF2-40B4-BE49-F238E27FC236}">
                <a16:creationId xmlns="" xmlns:a16="http://schemas.microsoft.com/office/drawing/2014/main" id="{4736CDA1-D8D0-4871-A775-645F300C17B2}"/>
              </a:ext>
            </a:extLst>
          </p:cNvPr>
          <p:cNvGrpSpPr>
            <a:grpSpLocks noChangeAspect="1"/>
          </p:cNvGrpSpPr>
          <p:nvPr/>
        </p:nvGrpSpPr>
        <p:grpSpPr bwMode="gray">
          <a:xfrm>
            <a:off x="10671637" y="2899339"/>
            <a:ext cx="593940" cy="386103"/>
            <a:chOff x="4137025" y="950913"/>
            <a:chExt cx="1982788" cy="1244599"/>
          </a:xfrm>
        </p:grpSpPr>
        <p:sp>
          <p:nvSpPr>
            <p:cNvPr id="147" name="Freeform 9">
              <a:extLst>
                <a:ext uri="{FF2B5EF4-FFF2-40B4-BE49-F238E27FC236}">
                  <a16:creationId xmlns="" xmlns:a16="http://schemas.microsoft.com/office/drawing/2014/main" id="{6A743E75-DE7C-40D6-9817-472DF32BD0ED}"/>
                </a:ext>
              </a:extLst>
            </p:cNvPr>
            <p:cNvSpPr>
              <a:spLocks/>
            </p:cNvSpPr>
            <p:nvPr/>
          </p:nvSpPr>
          <p:spPr bwMode="gray">
            <a:xfrm>
              <a:off x="4137025" y="950913"/>
              <a:ext cx="1982788" cy="1203325"/>
            </a:xfrm>
            <a:custGeom>
              <a:avLst/>
              <a:gdLst>
                <a:gd name="T0" fmla="*/ 1688762 w 526"/>
                <a:gd name="T1" fmla="*/ 1203325 h 320"/>
                <a:gd name="T2" fmla="*/ 1568137 w 526"/>
                <a:gd name="T3" fmla="*/ 1203325 h 320"/>
                <a:gd name="T4" fmla="*/ 1568137 w 526"/>
                <a:gd name="T5" fmla="*/ 1128117 h 320"/>
                <a:gd name="T6" fmla="*/ 1688762 w 526"/>
                <a:gd name="T7" fmla="*/ 1128117 h 320"/>
                <a:gd name="T8" fmla="*/ 1756614 w 526"/>
                <a:gd name="T9" fmla="*/ 1109315 h 320"/>
                <a:gd name="T10" fmla="*/ 1907397 w 526"/>
                <a:gd name="T11" fmla="*/ 800963 h 320"/>
                <a:gd name="T12" fmla="*/ 1522902 w 526"/>
                <a:gd name="T13" fmla="*/ 413643 h 320"/>
                <a:gd name="T14" fmla="*/ 1488976 w 526"/>
                <a:gd name="T15" fmla="*/ 394841 h 320"/>
                <a:gd name="T16" fmla="*/ 946159 w 526"/>
                <a:gd name="T17" fmla="*/ 75208 h 320"/>
                <a:gd name="T18" fmla="*/ 346799 w 526"/>
                <a:gd name="T19" fmla="*/ 541496 h 320"/>
                <a:gd name="T20" fmla="*/ 316643 w 526"/>
                <a:gd name="T21" fmla="*/ 567819 h 320"/>
                <a:gd name="T22" fmla="*/ 75391 w 526"/>
                <a:gd name="T23" fmla="*/ 846088 h 320"/>
                <a:gd name="T24" fmla="*/ 358108 w 526"/>
                <a:gd name="T25" fmla="*/ 1128117 h 320"/>
                <a:gd name="T26" fmla="*/ 1338193 w 526"/>
                <a:gd name="T27" fmla="*/ 1128117 h 320"/>
                <a:gd name="T28" fmla="*/ 1338193 w 526"/>
                <a:gd name="T29" fmla="*/ 1203325 h 320"/>
                <a:gd name="T30" fmla="*/ 358108 w 526"/>
                <a:gd name="T31" fmla="*/ 1203325 h 320"/>
                <a:gd name="T32" fmla="*/ 0 w 526"/>
                <a:gd name="T33" fmla="*/ 846088 h 320"/>
                <a:gd name="T34" fmla="*/ 278947 w 526"/>
                <a:gd name="T35" fmla="*/ 496372 h 320"/>
                <a:gd name="T36" fmla="*/ 946159 w 526"/>
                <a:gd name="T37" fmla="*/ 0 h 320"/>
                <a:gd name="T38" fmla="*/ 1545519 w 526"/>
                <a:gd name="T39" fmla="*/ 338435 h 320"/>
                <a:gd name="T40" fmla="*/ 1982788 w 526"/>
                <a:gd name="T41" fmla="*/ 800963 h 320"/>
                <a:gd name="T42" fmla="*/ 1805619 w 526"/>
                <a:gd name="T43" fmla="*/ 1165721 h 320"/>
                <a:gd name="T44" fmla="*/ 1688762 w 526"/>
                <a:gd name="T45" fmla="*/ 1203325 h 3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26" h="320">
                  <a:moveTo>
                    <a:pt x="448" y="320"/>
                  </a:moveTo>
                  <a:cubicBezTo>
                    <a:pt x="416" y="320"/>
                    <a:pt x="416" y="320"/>
                    <a:pt x="416" y="320"/>
                  </a:cubicBezTo>
                  <a:cubicBezTo>
                    <a:pt x="416" y="300"/>
                    <a:pt x="416" y="300"/>
                    <a:pt x="416" y="300"/>
                  </a:cubicBezTo>
                  <a:cubicBezTo>
                    <a:pt x="448" y="300"/>
                    <a:pt x="448" y="300"/>
                    <a:pt x="448" y="300"/>
                  </a:cubicBezTo>
                  <a:cubicBezTo>
                    <a:pt x="456" y="300"/>
                    <a:pt x="462" y="298"/>
                    <a:pt x="466" y="295"/>
                  </a:cubicBezTo>
                  <a:cubicBezTo>
                    <a:pt x="492" y="274"/>
                    <a:pt x="506" y="244"/>
                    <a:pt x="506" y="213"/>
                  </a:cubicBezTo>
                  <a:cubicBezTo>
                    <a:pt x="506" y="157"/>
                    <a:pt x="460" y="111"/>
                    <a:pt x="404" y="110"/>
                  </a:cubicBezTo>
                  <a:cubicBezTo>
                    <a:pt x="400" y="110"/>
                    <a:pt x="397" y="108"/>
                    <a:pt x="395" y="105"/>
                  </a:cubicBezTo>
                  <a:cubicBezTo>
                    <a:pt x="366" y="53"/>
                    <a:pt x="311" y="20"/>
                    <a:pt x="251" y="20"/>
                  </a:cubicBezTo>
                  <a:cubicBezTo>
                    <a:pt x="176" y="20"/>
                    <a:pt x="111" y="71"/>
                    <a:pt x="92" y="144"/>
                  </a:cubicBezTo>
                  <a:cubicBezTo>
                    <a:pt x="91" y="148"/>
                    <a:pt x="88" y="150"/>
                    <a:pt x="84" y="151"/>
                  </a:cubicBezTo>
                  <a:cubicBezTo>
                    <a:pt x="47" y="156"/>
                    <a:pt x="20" y="188"/>
                    <a:pt x="20" y="225"/>
                  </a:cubicBezTo>
                  <a:cubicBezTo>
                    <a:pt x="20" y="266"/>
                    <a:pt x="53" y="300"/>
                    <a:pt x="95" y="300"/>
                  </a:cubicBezTo>
                  <a:cubicBezTo>
                    <a:pt x="355" y="300"/>
                    <a:pt x="355" y="300"/>
                    <a:pt x="355" y="300"/>
                  </a:cubicBezTo>
                  <a:cubicBezTo>
                    <a:pt x="355" y="320"/>
                    <a:pt x="355" y="320"/>
                    <a:pt x="355" y="320"/>
                  </a:cubicBezTo>
                  <a:cubicBezTo>
                    <a:pt x="95" y="320"/>
                    <a:pt x="95" y="320"/>
                    <a:pt x="95" y="320"/>
                  </a:cubicBezTo>
                  <a:cubicBezTo>
                    <a:pt x="42" y="320"/>
                    <a:pt x="0" y="277"/>
                    <a:pt x="0" y="225"/>
                  </a:cubicBezTo>
                  <a:cubicBezTo>
                    <a:pt x="0" y="181"/>
                    <a:pt x="31" y="142"/>
                    <a:pt x="74" y="132"/>
                  </a:cubicBezTo>
                  <a:cubicBezTo>
                    <a:pt x="97" y="54"/>
                    <a:pt x="169" y="0"/>
                    <a:pt x="251" y="0"/>
                  </a:cubicBezTo>
                  <a:cubicBezTo>
                    <a:pt x="316" y="0"/>
                    <a:pt x="377" y="35"/>
                    <a:pt x="410" y="90"/>
                  </a:cubicBezTo>
                  <a:cubicBezTo>
                    <a:pt x="475" y="94"/>
                    <a:pt x="526" y="148"/>
                    <a:pt x="526" y="213"/>
                  </a:cubicBezTo>
                  <a:cubicBezTo>
                    <a:pt x="526" y="250"/>
                    <a:pt x="509" y="286"/>
                    <a:pt x="479" y="310"/>
                  </a:cubicBezTo>
                  <a:cubicBezTo>
                    <a:pt x="471" y="317"/>
                    <a:pt x="460" y="320"/>
                    <a:pt x="448" y="320"/>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48" name="Oval 10">
              <a:extLst>
                <a:ext uri="{FF2B5EF4-FFF2-40B4-BE49-F238E27FC236}">
                  <a16:creationId xmlns="" xmlns:a16="http://schemas.microsoft.com/office/drawing/2014/main" id="{FBC71B8F-ADE6-4918-9C77-3F7B2A81F456}"/>
                </a:ext>
              </a:extLst>
            </p:cNvPr>
            <p:cNvSpPr>
              <a:spLocks noChangeArrowheads="1"/>
            </p:cNvSpPr>
            <p:nvPr/>
          </p:nvSpPr>
          <p:spPr bwMode="gray">
            <a:xfrm>
              <a:off x="54229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49" name="Oval 11">
              <a:extLst>
                <a:ext uri="{FF2B5EF4-FFF2-40B4-BE49-F238E27FC236}">
                  <a16:creationId xmlns="" xmlns:a16="http://schemas.microsoft.com/office/drawing/2014/main" id="{377D1832-3366-4E74-B8BD-293AF94D5141}"/>
                </a:ext>
              </a:extLst>
            </p:cNvPr>
            <p:cNvSpPr>
              <a:spLocks noChangeArrowheads="1"/>
            </p:cNvSpPr>
            <p:nvPr/>
          </p:nvSpPr>
          <p:spPr bwMode="gray">
            <a:xfrm>
              <a:off x="56642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50" name="Freeform 12">
              <a:extLst>
                <a:ext uri="{FF2B5EF4-FFF2-40B4-BE49-F238E27FC236}">
                  <a16:creationId xmlns="" xmlns:a16="http://schemas.microsoft.com/office/drawing/2014/main" id="{0C59E599-30F5-4A5A-84E0-DC68B870ADA6}"/>
                </a:ext>
              </a:extLst>
            </p:cNvPr>
            <p:cNvSpPr>
              <a:spLocks/>
            </p:cNvSpPr>
            <p:nvPr/>
          </p:nvSpPr>
          <p:spPr bwMode="gray">
            <a:xfrm>
              <a:off x="5102225" y="1211263"/>
              <a:ext cx="406400" cy="750887"/>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51" name="Freeform 13">
              <a:extLst>
                <a:ext uri="{FF2B5EF4-FFF2-40B4-BE49-F238E27FC236}">
                  <a16:creationId xmlns="" xmlns:a16="http://schemas.microsoft.com/office/drawing/2014/main" id="{2EF532D7-6DB0-4D45-AAE4-489DEA908ABB}"/>
                </a:ext>
              </a:extLst>
            </p:cNvPr>
            <p:cNvSpPr>
              <a:spLocks/>
            </p:cNvSpPr>
            <p:nvPr/>
          </p:nvSpPr>
          <p:spPr bwMode="gray">
            <a:xfrm>
              <a:off x="5102225" y="1420813"/>
              <a:ext cx="192088" cy="327025"/>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52" name="Freeform 14">
              <a:extLst>
                <a:ext uri="{FF2B5EF4-FFF2-40B4-BE49-F238E27FC236}">
                  <a16:creationId xmlns="" xmlns:a16="http://schemas.microsoft.com/office/drawing/2014/main" id="{F3525D37-C3B1-4F99-943E-5E4BAFD26854}"/>
                </a:ext>
              </a:extLst>
            </p:cNvPr>
            <p:cNvSpPr>
              <a:spLocks noEditPoints="1"/>
            </p:cNvSpPr>
            <p:nvPr/>
          </p:nvSpPr>
          <p:spPr bwMode="gray">
            <a:xfrm>
              <a:off x="4656138" y="1211263"/>
              <a:ext cx="415925" cy="750887"/>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grpSp>
      <p:cxnSp>
        <p:nvCxnSpPr>
          <p:cNvPr id="159" name="Straight Connector 158">
            <a:extLst>
              <a:ext uri="{FF2B5EF4-FFF2-40B4-BE49-F238E27FC236}">
                <a16:creationId xmlns="" xmlns:a16="http://schemas.microsoft.com/office/drawing/2014/main" id="{9D9B0DE9-770A-42CF-8058-5BDF2CE8E797}"/>
              </a:ext>
            </a:extLst>
          </p:cNvPr>
          <p:cNvCxnSpPr>
            <a:cxnSpLocks/>
            <a:stCxn id="67" idx="3"/>
          </p:cNvCxnSpPr>
          <p:nvPr/>
        </p:nvCxnSpPr>
        <p:spPr bwMode="gray">
          <a:xfrm flipV="1">
            <a:off x="10217421" y="3261064"/>
            <a:ext cx="734304" cy="666640"/>
          </a:xfrm>
          <a:prstGeom prst="line">
            <a:avLst/>
          </a:prstGeom>
          <a:ln w="19050">
            <a:solidFill>
              <a:srgbClr val="FFC000"/>
            </a:solidFill>
            <a:prstDash val="solid"/>
          </a:ln>
        </p:spPr>
        <p:style>
          <a:lnRef idx="1">
            <a:schemeClr val="accent1"/>
          </a:lnRef>
          <a:fillRef idx="0">
            <a:schemeClr val="accent1"/>
          </a:fillRef>
          <a:effectRef idx="0">
            <a:schemeClr val="accent1"/>
          </a:effectRef>
          <a:fontRef idx="minor">
            <a:schemeClr val="tx1"/>
          </a:fontRef>
        </p:style>
      </p:cxnSp>
      <p:sp>
        <p:nvSpPr>
          <p:cNvPr id="165" name="TextBox 164">
            <a:extLst>
              <a:ext uri="{FF2B5EF4-FFF2-40B4-BE49-F238E27FC236}">
                <a16:creationId xmlns="" xmlns:a16="http://schemas.microsoft.com/office/drawing/2014/main" id="{243DB072-3B61-4E5C-9976-0F018CDAB3C6}"/>
              </a:ext>
            </a:extLst>
          </p:cNvPr>
          <p:cNvSpPr txBox="1"/>
          <p:nvPr/>
        </p:nvSpPr>
        <p:spPr bwMode="gray">
          <a:xfrm>
            <a:off x="10353861" y="3834174"/>
            <a:ext cx="817422" cy="390056"/>
          </a:xfrm>
          <a:prstGeom prst="wedgeRectCallout">
            <a:avLst>
              <a:gd name="adj1" fmla="val -22570"/>
              <a:gd name="adj2" fmla="val -90759"/>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简便运维</a:t>
            </a:r>
          </a:p>
        </p:txBody>
      </p:sp>
      <p:sp>
        <p:nvSpPr>
          <p:cNvPr id="166" name="TextBox 165">
            <a:extLst>
              <a:ext uri="{FF2B5EF4-FFF2-40B4-BE49-F238E27FC236}">
                <a16:creationId xmlns="" xmlns:a16="http://schemas.microsoft.com/office/drawing/2014/main" id="{4215FD71-0989-40E1-93E4-59CCFF3E3D34}"/>
              </a:ext>
            </a:extLst>
          </p:cNvPr>
          <p:cNvSpPr txBox="1"/>
          <p:nvPr/>
        </p:nvSpPr>
        <p:spPr bwMode="gray">
          <a:xfrm>
            <a:off x="10453742" y="2620059"/>
            <a:ext cx="10134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网管</a:t>
            </a:r>
            <a:r>
              <a:rPr lang="en-US" altLang="zh-CN" sz="1200" dirty="0">
                <a:latin typeface="Huawei Sans" panose="020C0503030203020204" pitchFamily="34" charset="0"/>
                <a:ea typeface="方正兰亭黑简体" panose="02000000000000000000" pitchFamily="2" charset="-122"/>
              </a:rPr>
              <a:t>/</a:t>
            </a:r>
            <a:r>
              <a:rPr lang="zh-CN" altLang="en-US" sz="1200" dirty="0">
                <a:latin typeface="Huawei Sans" panose="020C0503030203020204" pitchFamily="34" charset="0"/>
                <a:ea typeface="方正兰亭黑简体" panose="02000000000000000000" pitchFamily="2" charset="-122"/>
              </a:rPr>
              <a:t>控制器</a:t>
            </a:r>
            <a:endParaRPr lang="en-US" sz="1200" dirty="0">
              <a:latin typeface="Huawei Sans" panose="020C0503030203020204" pitchFamily="34" charset="0"/>
              <a:ea typeface="方正兰亭黑简体" panose="02000000000000000000" pitchFamily="2" charset="-122"/>
            </a:endParaRPr>
          </a:p>
        </p:txBody>
      </p:sp>
      <p:sp>
        <p:nvSpPr>
          <p:cNvPr id="167" name="TextBox 166">
            <a:extLst>
              <a:ext uri="{FF2B5EF4-FFF2-40B4-BE49-F238E27FC236}">
                <a16:creationId xmlns="" xmlns:a16="http://schemas.microsoft.com/office/drawing/2014/main" id="{2FF81DB9-9808-44FB-9FC7-BA61DDC0E7E7}"/>
              </a:ext>
            </a:extLst>
          </p:cNvPr>
          <p:cNvSpPr txBox="1"/>
          <p:nvPr/>
        </p:nvSpPr>
        <p:spPr bwMode="gray">
          <a:xfrm>
            <a:off x="5962089" y="4253338"/>
            <a:ext cx="817422" cy="390056"/>
          </a:xfrm>
          <a:prstGeom prst="wedgeRectCallout">
            <a:avLst>
              <a:gd name="adj1" fmla="val 18214"/>
              <a:gd name="adj2" fmla="val -9564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多网融合</a:t>
            </a:r>
          </a:p>
        </p:txBody>
      </p:sp>
      <p:sp>
        <p:nvSpPr>
          <p:cNvPr id="168" name="Freeform: Shape 167">
            <a:extLst>
              <a:ext uri="{FF2B5EF4-FFF2-40B4-BE49-F238E27FC236}">
                <a16:creationId xmlns="" xmlns:a16="http://schemas.microsoft.com/office/drawing/2014/main" id="{8826E571-ED07-4B73-8235-1456FDF7F756}"/>
              </a:ext>
            </a:extLst>
          </p:cNvPr>
          <p:cNvSpPr/>
          <p:nvPr/>
        </p:nvSpPr>
        <p:spPr bwMode="gray">
          <a:xfrm>
            <a:off x="6742816" y="2454261"/>
            <a:ext cx="1810006" cy="3115571"/>
          </a:xfrm>
          <a:custGeom>
            <a:avLst/>
            <a:gdLst>
              <a:gd name="connsiteX0" fmla="*/ 0 w 1810006"/>
              <a:gd name="connsiteY0" fmla="*/ 0 h 3248025"/>
              <a:gd name="connsiteX1" fmla="*/ 609600 w 1810006"/>
              <a:gd name="connsiteY1" fmla="*/ 771525 h 3248025"/>
              <a:gd name="connsiteX2" fmla="*/ 676275 w 1810006"/>
              <a:gd name="connsiteY2" fmla="*/ 1676400 h 3248025"/>
              <a:gd name="connsiteX3" fmla="*/ 1676400 w 1810006"/>
              <a:gd name="connsiteY3" fmla="*/ 2800350 h 3248025"/>
              <a:gd name="connsiteX4" fmla="*/ 1771650 w 1810006"/>
              <a:gd name="connsiteY4" fmla="*/ 3248025 h 324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0006" h="3248025">
                <a:moveTo>
                  <a:pt x="0" y="0"/>
                </a:moveTo>
                <a:cubicBezTo>
                  <a:pt x="248444" y="246062"/>
                  <a:pt x="496888" y="492125"/>
                  <a:pt x="609600" y="771525"/>
                </a:cubicBezTo>
                <a:cubicBezTo>
                  <a:pt x="722312" y="1050925"/>
                  <a:pt x="498475" y="1338263"/>
                  <a:pt x="676275" y="1676400"/>
                </a:cubicBezTo>
                <a:cubicBezTo>
                  <a:pt x="854075" y="2014537"/>
                  <a:pt x="1493838" y="2538413"/>
                  <a:pt x="1676400" y="2800350"/>
                </a:cubicBezTo>
                <a:cubicBezTo>
                  <a:pt x="1858963" y="3062288"/>
                  <a:pt x="1815306" y="3155156"/>
                  <a:pt x="1771650" y="3248025"/>
                </a:cubicBezTo>
              </a:path>
            </a:pathLst>
          </a:custGeom>
          <a:noFill/>
          <a:ln w="28575" cap="flat" cmpd="sng">
            <a:solidFill>
              <a:srgbClr val="E28189"/>
            </a:solidFill>
          </a:ln>
        </p:spPr>
        <p:txBody>
          <a:bodyPr rtlCol="0" anchor="ctr"/>
          <a:lstStyle/>
          <a:p>
            <a:pPr algn="ctr"/>
            <a:endParaRPr lang="en-US">
              <a:latin typeface="Huawei Sans" panose="020C0503030203020204" pitchFamily="34" charset="0"/>
              <a:ea typeface="方正兰亭黑简体" panose="02000000000000000000" pitchFamily="2" charset="-122"/>
            </a:endParaRPr>
          </a:p>
        </p:txBody>
      </p:sp>
      <p:sp>
        <p:nvSpPr>
          <p:cNvPr id="171" name="Freeform: Shape 170">
            <a:extLst>
              <a:ext uri="{FF2B5EF4-FFF2-40B4-BE49-F238E27FC236}">
                <a16:creationId xmlns="" xmlns:a16="http://schemas.microsoft.com/office/drawing/2014/main" id="{5C7D9A4D-0577-48C8-A546-74DE6A85F466}"/>
              </a:ext>
            </a:extLst>
          </p:cNvPr>
          <p:cNvSpPr/>
          <p:nvPr/>
        </p:nvSpPr>
        <p:spPr bwMode="gray">
          <a:xfrm>
            <a:off x="6810375" y="2438400"/>
            <a:ext cx="2768869" cy="3131432"/>
          </a:xfrm>
          <a:custGeom>
            <a:avLst/>
            <a:gdLst>
              <a:gd name="connsiteX0" fmla="*/ 0 w 2730533"/>
              <a:gd name="connsiteY0" fmla="*/ 0 h 3276600"/>
              <a:gd name="connsiteX1" fmla="*/ 800100 w 2730533"/>
              <a:gd name="connsiteY1" fmla="*/ 857250 h 3276600"/>
              <a:gd name="connsiteX2" fmla="*/ 1047750 w 2730533"/>
              <a:gd name="connsiteY2" fmla="*/ 1228725 h 3276600"/>
              <a:gd name="connsiteX3" fmla="*/ 2714625 w 2730533"/>
              <a:gd name="connsiteY3" fmla="*/ 1619250 h 3276600"/>
              <a:gd name="connsiteX4" fmla="*/ 1885950 w 2730533"/>
              <a:gd name="connsiteY4" fmla="*/ 2790825 h 3276600"/>
              <a:gd name="connsiteX5" fmla="*/ 1838325 w 2730533"/>
              <a:gd name="connsiteY5" fmla="*/ 3276600 h 327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0533" h="3276600">
                <a:moveTo>
                  <a:pt x="0" y="0"/>
                </a:moveTo>
                <a:cubicBezTo>
                  <a:pt x="312737" y="326231"/>
                  <a:pt x="625475" y="652463"/>
                  <a:pt x="800100" y="857250"/>
                </a:cubicBezTo>
                <a:cubicBezTo>
                  <a:pt x="974725" y="1062037"/>
                  <a:pt x="728663" y="1101725"/>
                  <a:pt x="1047750" y="1228725"/>
                </a:cubicBezTo>
                <a:cubicBezTo>
                  <a:pt x="1366837" y="1355725"/>
                  <a:pt x="2574925" y="1358900"/>
                  <a:pt x="2714625" y="1619250"/>
                </a:cubicBezTo>
                <a:cubicBezTo>
                  <a:pt x="2854325" y="1879600"/>
                  <a:pt x="2032000" y="2514600"/>
                  <a:pt x="1885950" y="2790825"/>
                </a:cubicBezTo>
                <a:cubicBezTo>
                  <a:pt x="1739900" y="3067050"/>
                  <a:pt x="1789112" y="3171825"/>
                  <a:pt x="1838325" y="3276600"/>
                </a:cubicBezTo>
              </a:path>
            </a:pathLst>
          </a:custGeom>
          <a:noFill/>
          <a:ln w="28575" cap="flat" cmpd="sng">
            <a:solidFill>
              <a:srgbClr val="E28189"/>
            </a:solidFill>
            <a:prstDash val="dash"/>
          </a:ln>
        </p:spPr>
        <p:txBody>
          <a:bodyPr rtlCol="0" anchor="ctr"/>
          <a:lstStyle/>
          <a:p>
            <a:pPr algn="ctr"/>
            <a:endParaRPr lang="en-US">
              <a:latin typeface="Huawei Sans" panose="020C0503030203020204" pitchFamily="34" charset="0"/>
              <a:ea typeface="方正兰亭黑简体" panose="02000000000000000000" pitchFamily="2" charset="-122"/>
            </a:endParaRPr>
          </a:p>
        </p:txBody>
      </p:sp>
      <p:sp>
        <p:nvSpPr>
          <p:cNvPr id="173" name="Freeform: Shape 172">
            <a:extLst>
              <a:ext uri="{FF2B5EF4-FFF2-40B4-BE49-F238E27FC236}">
                <a16:creationId xmlns="" xmlns:a16="http://schemas.microsoft.com/office/drawing/2014/main" id="{AD6BF6E8-74EE-491F-9D8B-F8C8E4778F86}"/>
              </a:ext>
            </a:extLst>
          </p:cNvPr>
          <p:cNvSpPr/>
          <p:nvPr/>
        </p:nvSpPr>
        <p:spPr bwMode="gray">
          <a:xfrm>
            <a:off x="6915150" y="2428875"/>
            <a:ext cx="3536929" cy="953560"/>
          </a:xfrm>
          <a:custGeom>
            <a:avLst/>
            <a:gdLst>
              <a:gd name="connsiteX0" fmla="*/ 0 w 3790950"/>
              <a:gd name="connsiteY0" fmla="*/ 0 h 886606"/>
              <a:gd name="connsiteX1" fmla="*/ 2695575 w 3790950"/>
              <a:gd name="connsiteY1" fmla="*/ 885825 h 886606"/>
              <a:gd name="connsiteX2" fmla="*/ 3790950 w 3790950"/>
              <a:gd name="connsiteY2" fmla="*/ 123825 h 886606"/>
            </a:gdLst>
            <a:ahLst/>
            <a:cxnLst>
              <a:cxn ang="0">
                <a:pos x="connsiteX0" y="connsiteY0"/>
              </a:cxn>
              <a:cxn ang="0">
                <a:pos x="connsiteX1" y="connsiteY1"/>
              </a:cxn>
              <a:cxn ang="0">
                <a:pos x="connsiteX2" y="connsiteY2"/>
              </a:cxn>
            </a:cxnLst>
            <a:rect l="l" t="t" r="r" b="b"/>
            <a:pathLst>
              <a:path w="3790950" h="886606">
                <a:moveTo>
                  <a:pt x="0" y="0"/>
                </a:moveTo>
                <a:cubicBezTo>
                  <a:pt x="1031875" y="432594"/>
                  <a:pt x="2063750" y="865188"/>
                  <a:pt x="2695575" y="885825"/>
                </a:cubicBezTo>
                <a:cubicBezTo>
                  <a:pt x="3327400" y="906462"/>
                  <a:pt x="3559175" y="515143"/>
                  <a:pt x="3790950" y="123825"/>
                </a:cubicBezTo>
              </a:path>
            </a:pathLst>
          </a:custGeom>
          <a:noFill/>
          <a:ln w="28575" cap="flat" cmpd="sng">
            <a:solidFill>
              <a:srgbClr val="56C4D2"/>
            </a:solidFill>
          </a:ln>
        </p:spPr>
        <p:txBody>
          <a:bodyPr rtlCol="0" anchor="ctr"/>
          <a:lstStyle/>
          <a:p>
            <a:pPr algn="ctr"/>
            <a:endParaRPr lang="en-US">
              <a:latin typeface="Huawei Sans" panose="020C0503030203020204" pitchFamily="34" charset="0"/>
              <a:ea typeface="方正兰亭黑简体" panose="02000000000000000000" pitchFamily="2" charset="-122"/>
            </a:endParaRPr>
          </a:p>
        </p:txBody>
      </p:sp>
      <p:sp>
        <p:nvSpPr>
          <p:cNvPr id="174" name="TextBox 173">
            <a:extLst>
              <a:ext uri="{FF2B5EF4-FFF2-40B4-BE49-F238E27FC236}">
                <a16:creationId xmlns="" xmlns:a16="http://schemas.microsoft.com/office/drawing/2014/main" id="{04E3A043-477B-4E72-B262-711A2414605C}"/>
              </a:ext>
            </a:extLst>
          </p:cNvPr>
          <p:cNvSpPr txBox="1"/>
          <p:nvPr/>
        </p:nvSpPr>
        <p:spPr bwMode="gray">
          <a:xfrm>
            <a:off x="9108102" y="5043208"/>
            <a:ext cx="817422" cy="390056"/>
          </a:xfrm>
          <a:prstGeom prst="wedgeRectCallout">
            <a:avLst>
              <a:gd name="adj1" fmla="val -35387"/>
              <a:gd name="adj2" fmla="val -9564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高可靠性</a:t>
            </a:r>
          </a:p>
        </p:txBody>
      </p:sp>
      <p:sp>
        <p:nvSpPr>
          <p:cNvPr id="175" name="TextBox 174">
            <a:extLst>
              <a:ext uri="{FF2B5EF4-FFF2-40B4-BE49-F238E27FC236}">
                <a16:creationId xmlns="" xmlns:a16="http://schemas.microsoft.com/office/drawing/2014/main" id="{D3EB44BC-E582-461D-938F-54CF59D49A3F}"/>
              </a:ext>
            </a:extLst>
          </p:cNvPr>
          <p:cNvSpPr txBox="1"/>
          <p:nvPr/>
        </p:nvSpPr>
        <p:spPr bwMode="gray">
          <a:xfrm>
            <a:off x="7290480" y="1977848"/>
            <a:ext cx="843434" cy="390056"/>
          </a:xfrm>
          <a:prstGeom prst="wedgeRectCallout">
            <a:avLst>
              <a:gd name="adj1" fmla="val -39202"/>
              <a:gd name="adj2" fmla="val 107039"/>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多业务灵活承载</a:t>
            </a:r>
          </a:p>
        </p:txBody>
      </p:sp>
      <p:sp>
        <p:nvSpPr>
          <p:cNvPr id="176" name="Rectangle 175">
            <a:extLst>
              <a:ext uri="{FF2B5EF4-FFF2-40B4-BE49-F238E27FC236}">
                <a16:creationId xmlns="" xmlns:a16="http://schemas.microsoft.com/office/drawing/2014/main" id="{B6334ED6-2113-4CEB-8C1F-8F1BBF05BB51}"/>
              </a:ext>
            </a:extLst>
          </p:cNvPr>
          <p:cNvSpPr/>
          <p:nvPr/>
        </p:nvSpPr>
        <p:spPr bwMode="gray">
          <a:xfrm rot="16200000">
            <a:off x="6507588" y="3470245"/>
            <a:ext cx="903501" cy="233385"/>
          </a:xfrm>
          <a:prstGeom prst="rect">
            <a:avLst/>
          </a:prstGeom>
          <a:solidFill>
            <a:schemeClr val="bg1">
              <a:lumMod val="50000"/>
            </a:schemeClr>
          </a:solidFill>
          <a:ln w="19050" cap="flat" cmpd="sng">
            <a:solidFill>
              <a:schemeClr val="bg1">
                <a:lumMod val="50000"/>
              </a:schemeClr>
            </a:solidFill>
          </a:ln>
        </p:spPr>
        <p:txBody>
          <a:bodyPr vert="horz" wrap="square" lIns="68580" tIns="34290" rIns="68580" bIns="34290" numCol="1" rtlCol="0" anchor="t" anchorCtr="0" compatLnSpc="1">
            <a:prstTxWarp prst="textNoShape">
              <a:avLst/>
            </a:prstTxWarp>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融合承载网</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38155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6E4455-D2C8-4FF8-9745-C1F7ABFC1915}"/>
              </a:ext>
            </a:extLst>
          </p:cNvPr>
          <p:cNvSpPr>
            <a:spLocks noGrp="1"/>
          </p:cNvSpPr>
          <p:nvPr>
            <p:ph type="title"/>
          </p:nvPr>
        </p:nvSpPr>
        <p:spPr bwMode="gray"/>
        <p:txBody>
          <a:bodyPr/>
          <a:lstStyle/>
          <a:p>
            <a:r>
              <a:rPr lang="zh-CN" altLang="en-US" dirty="0"/>
              <a:t>企业广域承载网面临的挑战</a:t>
            </a:r>
            <a:endParaRPr lang="en-US" dirty="0"/>
          </a:p>
        </p:txBody>
      </p:sp>
      <p:sp>
        <p:nvSpPr>
          <p:cNvPr id="3" name="Text Placeholder 2">
            <a:extLst>
              <a:ext uri="{FF2B5EF4-FFF2-40B4-BE49-F238E27FC236}">
                <a16:creationId xmlns="" xmlns:a16="http://schemas.microsoft.com/office/drawing/2014/main" id="{EA65775B-24B5-4BFB-960A-1909C4FFE3DF}"/>
              </a:ext>
            </a:extLst>
          </p:cNvPr>
          <p:cNvSpPr>
            <a:spLocks noGrp="1"/>
          </p:cNvSpPr>
          <p:nvPr>
            <p:ph type="body" sz="quarter" idx="10"/>
          </p:nvPr>
        </p:nvSpPr>
        <p:spPr bwMode="gray">
          <a:xfrm>
            <a:off x="455613" y="1047750"/>
            <a:ext cx="5286984" cy="4879805"/>
          </a:xfrm>
        </p:spPr>
        <p:txBody>
          <a:bodyPr/>
          <a:lstStyle/>
          <a:p>
            <a:r>
              <a:rPr lang="zh-CN" altLang="en-US" sz="1800" dirty="0"/>
              <a:t>企业广域网的发展趋势带来了较多的挑战。</a:t>
            </a:r>
            <a:endParaRPr lang="en-US" altLang="zh-CN" sz="1600" dirty="0"/>
          </a:p>
          <a:p>
            <a:pPr lvl="1"/>
            <a:r>
              <a:rPr lang="zh-CN" altLang="en-US" sz="1600" dirty="0"/>
              <a:t>多网融合</a:t>
            </a:r>
            <a:endParaRPr lang="en-US" altLang="zh-CN" sz="1600" dirty="0"/>
          </a:p>
          <a:p>
            <a:pPr lvl="2"/>
            <a:r>
              <a:rPr lang="zh-CN" altLang="en-US" sz="1400" dirty="0"/>
              <a:t>挑战：多业务隔离困难。</a:t>
            </a:r>
            <a:endParaRPr lang="en-US" altLang="zh-CN" sz="1400" dirty="0"/>
          </a:p>
          <a:p>
            <a:pPr lvl="1"/>
            <a:r>
              <a:rPr lang="zh-CN" altLang="en-US" sz="1600" dirty="0"/>
              <a:t>多业务灵活承载</a:t>
            </a:r>
            <a:endParaRPr lang="en-US" altLang="zh-CN" sz="1600" dirty="0"/>
          </a:p>
          <a:p>
            <a:pPr lvl="2"/>
            <a:r>
              <a:rPr lang="zh-CN" altLang="en-US" sz="1400" dirty="0"/>
              <a:t>挑战：网络资源规划不精确，流量路径规划部署困难。</a:t>
            </a:r>
            <a:endParaRPr lang="en-US" altLang="zh-CN" sz="1400" dirty="0"/>
          </a:p>
          <a:p>
            <a:pPr lvl="1"/>
            <a:r>
              <a:rPr lang="zh-CN" altLang="en-US" sz="1600" dirty="0"/>
              <a:t>高可靠</a:t>
            </a:r>
            <a:endParaRPr lang="en-US" altLang="zh-CN" sz="1600" dirty="0"/>
          </a:p>
          <a:p>
            <a:pPr lvl="2"/>
            <a:r>
              <a:rPr lang="zh-CN" altLang="en-US" sz="1400" dirty="0"/>
              <a:t>挑战：无法做到全场景快速收敛，业务</a:t>
            </a:r>
            <a:r>
              <a:rPr lang="en-US" altLang="zh-CN" sz="1400" dirty="0"/>
              <a:t>SLA</a:t>
            </a:r>
            <a:r>
              <a:rPr lang="zh-CN" altLang="en-US" sz="1400" dirty="0"/>
              <a:t>无法有效保障。</a:t>
            </a:r>
            <a:endParaRPr lang="en-US" altLang="zh-CN" sz="1400" dirty="0"/>
          </a:p>
          <a:p>
            <a:pPr lvl="1"/>
            <a:r>
              <a:rPr lang="zh-CN" altLang="en-US" sz="1600" dirty="0"/>
              <a:t>简便运维</a:t>
            </a:r>
            <a:endParaRPr lang="en-US" altLang="zh-CN" sz="1600" dirty="0"/>
          </a:p>
          <a:p>
            <a:pPr lvl="2"/>
            <a:r>
              <a:rPr lang="zh-CN" altLang="en-US" sz="1400" dirty="0"/>
              <a:t>挑战：流量路径调优不精确，无法可视化运维。</a:t>
            </a:r>
            <a:endParaRPr lang="en-US" sz="1400" dirty="0"/>
          </a:p>
        </p:txBody>
      </p:sp>
      <p:pic>
        <p:nvPicPr>
          <p:cNvPr id="73" name="图片 48">
            <a:extLst>
              <a:ext uri="{FF2B5EF4-FFF2-40B4-BE49-F238E27FC236}">
                <a16:creationId xmlns="" xmlns:a16="http://schemas.microsoft.com/office/drawing/2014/main" id="{14940784-7DE3-46CE-BDFE-107ECFDF03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24054" y="3197226"/>
            <a:ext cx="378863" cy="310667"/>
          </a:xfrm>
          <a:prstGeom prst="rect">
            <a:avLst/>
          </a:prstGeom>
        </p:spPr>
      </p:pic>
      <p:pic>
        <p:nvPicPr>
          <p:cNvPr id="74" name="图片 48">
            <a:extLst>
              <a:ext uri="{FF2B5EF4-FFF2-40B4-BE49-F238E27FC236}">
                <a16:creationId xmlns="" xmlns:a16="http://schemas.microsoft.com/office/drawing/2014/main" id="{251216FF-0A34-41F2-9CB1-BFCF76CA78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240681" y="3197226"/>
            <a:ext cx="378863" cy="310667"/>
          </a:xfrm>
          <a:prstGeom prst="rect">
            <a:avLst/>
          </a:prstGeom>
        </p:spPr>
      </p:pic>
      <p:pic>
        <p:nvPicPr>
          <p:cNvPr id="76" name="图片 48">
            <a:extLst>
              <a:ext uri="{FF2B5EF4-FFF2-40B4-BE49-F238E27FC236}">
                <a16:creationId xmlns="" xmlns:a16="http://schemas.microsoft.com/office/drawing/2014/main" id="{5E009A9E-7918-4DD9-B1E2-4060A9A7EF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238843" y="3917515"/>
            <a:ext cx="378863" cy="310667"/>
          </a:xfrm>
          <a:prstGeom prst="rect">
            <a:avLst/>
          </a:prstGeom>
        </p:spPr>
      </p:pic>
      <p:sp>
        <p:nvSpPr>
          <p:cNvPr id="77" name="Rectangle: Rounded Corners 76">
            <a:extLst>
              <a:ext uri="{FF2B5EF4-FFF2-40B4-BE49-F238E27FC236}">
                <a16:creationId xmlns="" xmlns:a16="http://schemas.microsoft.com/office/drawing/2014/main" id="{F5CA0069-75B4-4F60-B9BF-ABE2BE555314}"/>
              </a:ext>
            </a:extLst>
          </p:cNvPr>
          <p:cNvSpPr/>
          <p:nvPr/>
        </p:nvSpPr>
        <p:spPr bwMode="gray">
          <a:xfrm>
            <a:off x="6618318" y="2868868"/>
            <a:ext cx="3274991" cy="1706677"/>
          </a:xfrm>
          <a:prstGeom prst="roundRect">
            <a:avLst>
              <a:gd name="adj" fmla="val 6893"/>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Straight Connector 78">
            <a:extLst>
              <a:ext uri="{FF2B5EF4-FFF2-40B4-BE49-F238E27FC236}">
                <a16:creationId xmlns="" xmlns:a16="http://schemas.microsoft.com/office/drawing/2014/main" id="{D6D52BBB-2729-42A9-8D79-A7D0CA1C245F}"/>
              </a:ext>
            </a:extLst>
          </p:cNvPr>
          <p:cNvCxnSpPr>
            <a:cxnSpLocks/>
            <a:stCxn id="76" idx="2"/>
            <a:endCxn id="90" idx="3"/>
          </p:cNvCxnSpPr>
          <p:nvPr/>
        </p:nvCxnSpPr>
        <p:spPr bwMode="gray">
          <a:xfrm flipH="1">
            <a:off x="8436499" y="4228182"/>
            <a:ext cx="991776" cy="89535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 xmlns:a16="http://schemas.microsoft.com/office/drawing/2014/main" id="{795F5999-E2C7-44A1-9202-99D373B8F64F}"/>
              </a:ext>
            </a:extLst>
          </p:cNvPr>
          <p:cNvCxnSpPr>
            <a:cxnSpLocks/>
            <a:stCxn id="73" idx="2"/>
            <a:endCxn id="76" idx="0"/>
          </p:cNvCxnSpPr>
          <p:nvPr/>
        </p:nvCxnSpPr>
        <p:spPr bwMode="gray">
          <a:xfrm>
            <a:off x="7113486" y="3507893"/>
            <a:ext cx="2314789" cy="4096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 xmlns:a16="http://schemas.microsoft.com/office/drawing/2014/main" id="{EA2FDAD8-716D-419F-86CA-DFC6A7223C92}"/>
              </a:ext>
            </a:extLst>
          </p:cNvPr>
          <p:cNvCxnSpPr>
            <a:cxnSpLocks/>
            <a:stCxn id="74" idx="2"/>
            <a:endCxn id="76" idx="0"/>
          </p:cNvCxnSpPr>
          <p:nvPr/>
        </p:nvCxnSpPr>
        <p:spPr bwMode="gray">
          <a:xfrm flipH="1">
            <a:off x="9428275" y="3507893"/>
            <a:ext cx="1838" cy="4096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3" name="图片 48">
            <a:extLst>
              <a:ext uri="{FF2B5EF4-FFF2-40B4-BE49-F238E27FC236}">
                <a16:creationId xmlns="" xmlns:a16="http://schemas.microsoft.com/office/drawing/2014/main" id="{0C7ED1E1-E3A7-4800-B902-443C131905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25388" y="3930651"/>
            <a:ext cx="378863" cy="310667"/>
          </a:xfrm>
          <a:prstGeom prst="rect">
            <a:avLst/>
          </a:prstGeom>
        </p:spPr>
      </p:pic>
      <p:cxnSp>
        <p:nvCxnSpPr>
          <p:cNvPr id="84" name="Straight Connector 83">
            <a:extLst>
              <a:ext uri="{FF2B5EF4-FFF2-40B4-BE49-F238E27FC236}">
                <a16:creationId xmlns="" xmlns:a16="http://schemas.microsoft.com/office/drawing/2014/main" id="{8262C1CD-C9AB-4092-9E16-99E2EC0D4F46}"/>
              </a:ext>
            </a:extLst>
          </p:cNvPr>
          <p:cNvCxnSpPr>
            <a:cxnSpLocks/>
            <a:stCxn id="83" idx="2"/>
            <a:endCxn id="90" idx="1"/>
          </p:cNvCxnSpPr>
          <p:nvPr/>
        </p:nvCxnSpPr>
        <p:spPr bwMode="gray">
          <a:xfrm>
            <a:off x="7114820" y="4241318"/>
            <a:ext cx="942816" cy="8822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 xmlns:a16="http://schemas.microsoft.com/office/drawing/2014/main" id="{35432089-A3A4-4B7C-A6C1-63DFBC364D02}"/>
              </a:ext>
            </a:extLst>
          </p:cNvPr>
          <p:cNvCxnSpPr>
            <a:cxnSpLocks/>
            <a:stCxn id="73" idx="2"/>
            <a:endCxn id="83" idx="0"/>
          </p:cNvCxnSpPr>
          <p:nvPr/>
        </p:nvCxnSpPr>
        <p:spPr bwMode="gray">
          <a:xfrm>
            <a:off x="7113486" y="3507893"/>
            <a:ext cx="1334" cy="42275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 xmlns:a16="http://schemas.microsoft.com/office/drawing/2014/main" id="{28C50675-C7A8-43D4-B074-A5994FC3B4CF}"/>
              </a:ext>
            </a:extLst>
          </p:cNvPr>
          <p:cNvCxnSpPr>
            <a:cxnSpLocks/>
            <a:stCxn id="74" idx="2"/>
            <a:endCxn id="83" idx="0"/>
          </p:cNvCxnSpPr>
          <p:nvPr/>
        </p:nvCxnSpPr>
        <p:spPr bwMode="gray">
          <a:xfrm flipH="1">
            <a:off x="7114820" y="3507893"/>
            <a:ext cx="2315293" cy="42275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9" name="Freeform 159">
            <a:extLst>
              <a:ext uri="{FF2B5EF4-FFF2-40B4-BE49-F238E27FC236}">
                <a16:creationId xmlns="" xmlns:a16="http://schemas.microsoft.com/office/drawing/2014/main" id="{8A09BB8A-222A-4BF0-9EF5-A1C241CCBF47}"/>
              </a:ext>
            </a:extLst>
          </p:cNvPr>
          <p:cNvSpPr/>
          <p:nvPr/>
        </p:nvSpPr>
        <p:spPr bwMode="gray">
          <a:xfrm flipH="1">
            <a:off x="7648086" y="5155019"/>
            <a:ext cx="1174500" cy="61394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90" name="图片 48">
            <a:extLst>
              <a:ext uri="{FF2B5EF4-FFF2-40B4-BE49-F238E27FC236}">
                <a16:creationId xmlns="" xmlns:a16="http://schemas.microsoft.com/office/drawing/2014/main" id="{03A94140-8C92-4857-95E0-9DB1BBB6C1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57636" y="4968198"/>
            <a:ext cx="378863" cy="310667"/>
          </a:xfrm>
          <a:prstGeom prst="rect">
            <a:avLst/>
          </a:prstGeom>
        </p:spPr>
      </p:pic>
      <p:sp>
        <p:nvSpPr>
          <p:cNvPr id="91" name="Freeform 159">
            <a:extLst>
              <a:ext uri="{FF2B5EF4-FFF2-40B4-BE49-F238E27FC236}">
                <a16:creationId xmlns="" xmlns:a16="http://schemas.microsoft.com/office/drawing/2014/main" id="{2D9AEFCE-B150-46FB-AB91-381653B5C0AF}"/>
              </a:ext>
            </a:extLst>
          </p:cNvPr>
          <p:cNvSpPr/>
          <p:nvPr/>
        </p:nvSpPr>
        <p:spPr bwMode="gray">
          <a:xfrm flipH="1">
            <a:off x="5975417" y="1657958"/>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数据中心</a:t>
            </a:r>
            <a:r>
              <a:rPr lang="en-US" altLang="zh-CN" sz="1200" dirty="0">
                <a:solidFill>
                  <a:srgbClr val="000000"/>
                </a:solidFill>
                <a:latin typeface="Huawei Sans" panose="020C0503030203020204" pitchFamily="34" charset="0"/>
                <a:ea typeface="方正兰亭黑简体" panose="02000000000000000000" pitchFamily="2" charset="-122"/>
              </a:rPr>
              <a:t>1</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92" name="Freeform 159">
            <a:extLst>
              <a:ext uri="{FF2B5EF4-FFF2-40B4-BE49-F238E27FC236}">
                <a16:creationId xmlns="" xmlns:a16="http://schemas.microsoft.com/office/drawing/2014/main" id="{62080FCC-A125-4CFF-9014-3017EA0270B6}"/>
              </a:ext>
            </a:extLst>
          </p:cNvPr>
          <p:cNvSpPr/>
          <p:nvPr/>
        </p:nvSpPr>
        <p:spPr bwMode="gray">
          <a:xfrm flipH="1">
            <a:off x="7773554" y="165844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sp>
        <p:nvSpPr>
          <p:cNvPr id="93" name="Freeform 159">
            <a:extLst>
              <a:ext uri="{FF2B5EF4-FFF2-40B4-BE49-F238E27FC236}">
                <a16:creationId xmlns="" xmlns:a16="http://schemas.microsoft.com/office/drawing/2014/main" id="{82512102-8CA4-4862-9E5A-C001AF2B204E}"/>
              </a:ext>
            </a:extLst>
          </p:cNvPr>
          <p:cNvSpPr/>
          <p:nvPr/>
        </p:nvSpPr>
        <p:spPr bwMode="gray">
          <a:xfrm flipH="1">
            <a:off x="9588319" y="1652346"/>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数据中心</a:t>
            </a:r>
            <a:r>
              <a:rPr lang="en-US" altLang="zh-CN" sz="1200" dirty="0">
                <a:solidFill>
                  <a:srgbClr val="000000"/>
                </a:solidFill>
                <a:latin typeface="Huawei Sans" panose="020C0503030203020204" pitchFamily="34" charset="0"/>
                <a:ea typeface="方正兰亭黑简体" panose="02000000000000000000" pitchFamily="2" charset="-122"/>
              </a:rPr>
              <a:t>2</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94" name="图片 48">
            <a:extLst>
              <a:ext uri="{FF2B5EF4-FFF2-40B4-BE49-F238E27FC236}">
                <a16:creationId xmlns="" xmlns:a16="http://schemas.microsoft.com/office/drawing/2014/main" id="{D786FCE5-699F-4676-A27C-0CBB79DCB8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239455" y="2027153"/>
            <a:ext cx="378863" cy="310667"/>
          </a:xfrm>
          <a:prstGeom prst="rect">
            <a:avLst/>
          </a:prstGeom>
        </p:spPr>
      </p:pic>
      <p:pic>
        <p:nvPicPr>
          <p:cNvPr id="104" name="图片 48">
            <a:extLst>
              <a:ext uri="{FF2B5EF4-FFF2-40B4-BE49-F238E27FC236}">
                <a16:creationId xmlns="" xmlns:a16="http://schemas.microsoft.com/office/drawing/2014/main" id="{1E185E74-864B-4D3B-A2D1-515DFFEB1B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64673" y="2018185"/>
            <a:ext cx="378863" cy="310667"/>
          </a:xfrm>
          <a:prstGeom prst="rect">
            <a:avLst/>
          </a:prstGeom>
        </p:spPr>
      </p:pic>
      <p:pic>
        <p:nvPicPr>
          <p:cNvPr id="105" name="图片 48">
            <a:extLst>
              <a:ext uri="{FF2B5EF4-FFF2-40B4-BE49-F238E27FC236}">
                <a16:creationId xmlns="" xmlns:a16="http://schemas.microsoft.com/office/drawing/2014/main" id="{9019BB9A-3681-439E-89C2-D1465EE638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852357" y="2024219"/>
            <a:ext cx="378863" cy="310667"/>
          </a:xfrm>
          <a:prstGeom prst="rect">
            <a:avLst/>
          </a:prstGeom>
        </p:spPr>
      </p:pic>
      <p:cxnSp>
        <p:nvCxnSpPr>
          <p:cNvPr id="107" name="Straight Connector 106">
            <a:extLst>
              <a:ext uri="{FF2B5EF4-FFF2-40B4-BE49-F238E27FC236}">
                <a16:creationId xmlns="" xmlns:a16="http://schemas.microsoft.com/office/drawing/2014/main" id="{331AFCA3-925A-46E8-9289-25E870933723}"/>
              </a:ext>
            </a:extLst>
          </p:cNvPr>
          <p:cNvCxnSpPr>
            <a:cxnSpLocks/>
            <a:stCxn id="73" idx="3"/>
            <a:endCxn id="74" idx="1"/>
          </p:cNvCxnSpPr>
          <p:nvPr/>
        </p:nvCxnSpPr>
        <p:spPr bwMode="gray">
          <a:xfrm>
            <a:off x="7302917" y="3352560"/>
            <a:ext cx="193776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6C7A7E91-F90F-47AC-90B5-43CB721D3ACA}"/>
              </a:ext>
            </a:extLst>
          </p:cNvPr>
          <p:cNvCxnSpPr>
            <a:cxnSpLocks/>
            <a:stCxn id="83" idx="3"/>
            <a:endCxn id="76" idx="1"/>
          </p:cNvCxnSpPr>
          <p:nvPr/>
        </p:nvCxnSpPr>
        <p:spPr bwMode="gray">
          <a:xfrm flipV="1">
            <a:off x="7304251" y="4072849"/>
            <a:ext cx="1934592" cy="131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 xmlns:a16="http://schemas.microsoft.com/office/drawing/2014/main" id="{E5DF7818-B6EB-4C06-B51C-764FE05EB013}"/>
              </a:ext>
            </a:extLst>
          </p:cNvPr>
          <p:cNvCxnSpPr>
            <a:cxnSpLocks/>
            <a:stCxn id="94" idx="2"/>
            <a:endCxn id="73" idx="0"/>
          </p:cNvCxnSpPr>
          <p:nvPr/>
        </p:nvCxnSpPr>
        <p:spPr bwMode="gray">
          <a:xfrm>
            <a:off x="6428887" y="2337820"/>
            <a:ext cx="684599" cy="85940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 xmlns:a16="http://schemas.microsoft.com/office/drawing/2014/main" id="{50C7EDE6-4B72-49E1-9ACA-84FAF718A9C1}"/>
              </a:ext>
            </a:extLst>
          </p:cNvPr>
          <p:cNvCxnSpPr>
            <a:cxnSpLocks/>
            <a:stCxn id="94" idx="3"/>
            <a:endCxn id="74" idx="0"/>
          </p:cNvCxnSpPr>
          <p:nvPr/>
        </p:nvCxnSpPr>
        <p:spPr bwMode="gray">
          <a:xfrm>
            <a:off x="6618318" y="2182487"/>
            <a:ext cx="2811795" cy="101473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 xmlns:a16="http://schemas.microsoft.com/office/drawing/2014/main" id="{2CE5D7BE-18F2-4A0B-A864-D32B8CB92791}"/>
              </a:ext>
            </a:extLst>
          </p:cNvPr>
          <p:cNvCxnSpPr>
            <a:cxnSpLocks/>
            <a:stCxn id="104" idx="1"/>
            <a:endCxn id="73" idx="0"/>
          </p:cNvCxnSpPr>
          <p:nvPr/>
        </p:nvCxnSpPr>
        <p:spPr bwMode="gray">
          <a:xfrm flipH="1">
            <a:off x="7113486" y="2173519"/>
            <a:ext cx="951187" cy="102370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 xmlns:a16="http://schemas.microsoft.com/office/drawing/2014/main" id="{E6F95F2F-147E-4833-95D6-498D91BC0D97}"/>
              </a:ext>
            </a:extLst>
          </p:cNvPr>
          <p:cNvCxnSpPr>
            <a:cxnSpLocks/>
            <a:stCxn id="104" idx="3"/>
            <a:endCxn id="74" idx="0"/>
          </p:cNvCxnSpPr>
          <p:nvPr/>
        </p:nvCxnSpPr>
        <p:spPr bwMode="gray">
          <a:xfrm>
            <a:off x="8443536" y="2173519"/>
            <a:ext cx="986577" cy="102370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 xmlns:a16="http://schemas.microsoft.com/office/drawing/2014/main" id="{6EEF9A13-BCBC-4C69-99D0-B4B0E6BEF086}"/>
              </a:ext>
            </a:extLst>
          </p:cNvPr>
          <p:cNvCxnSpPr>
            <a:cxnSpLocks/>
            <a:stCxn id="73" idx="0"/>
            <a:endCxn id="105" idx="1"/>
          </p:cNvCxnSpPr>
          <p:nvPr/>
        </p:nvCxnSpPr>
        <p:spPr bwMode="gray">
          <a:xfrm flipV="1">
            <a:off x="7113486" y="2179553"/>
            <a:ext cx="2738871" cy="101767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 xmlns:a16="http://schemas.microsoft.com/office/drawing/2014/main" id="{9B6D6DE4-D949-4137-B4BB-6C7CBFD8D8BB}"/>
              </a:ext>
            </a:extLst>
          </p:cNvPr>
          <p:cNvCxnSpPr>
            <a:cxnSpLocks/>
            <a:stCxn id="74" idx="0"/>
            <a:endCxn id="105" idx="2"/>
          </p:cNvCxnSpPr>
          <p:nvPr/>
        </p:nvCxnSpPr>
        <p:spPr bwMode="gray">
          <a:xfrm flipV="1">
            <a:off x="9430113" y="2334886"/>
            <a:ext cx="611676" cy="86234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19" name="图片 67">
            <a:extLst>
              <a:ext uri="{FF2B5EF4-FFF2-40B4-BE49-F238E27FC236}">
                <a16:creationId xmlns="" xmlns:a16="http://schemas.microsoft.com/office/drawing/2014/main" id="{04F11FC0-9D3E-4522-9336-6872974CC482}"/>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047613" y="1454576"/>
            <a:ext cx="375447" cy="307867"/>
          </a:xfrm>
          <a:prstGeom prst="rect">
            <a:avLst/>
          </a:prstGeom>
        </p:spPr>
      </p:pic>
      <p:pic>
        <p:nvPicPr>
          <p:cNvPr id="120" name="图片 14" descr="交换机.png">
            <a:extLst>
              <a:ext uri="{FF2B5EF4-FFF2-40B4-BE49-F238E27FC236}">
                <a16:creationId xmlns="" xmlns:a16="http://schemas.microsoft.com/office/drawing/2014/main" id="{9190F322-8D7F-4A02-B0D6-FCE51CDA585C}"/>
              </a:ext>
            </a:extLst>
          </p:cNvPr>
          <p:cNvPicPr>
            <a:picLocks noChangeAspect="1"/>
          </p:cNvPicPr>
          <p:nvPr/>
        </p:nvPicPr>
        <p:blipFill>
          <a:blip r:embed="rId5" cstate="print"/>
          <a:stretch>
            <a:fillRect/>
          </a:stretch>
        </p:blipFill>
        <p:spPr bwMode="gray">
          <a:xfrm>
            <a:off x="6244358" y="1453114"/>
            <a:ext cx="378070" cy="309329"/>
          </a:xfrm>
          <a:prstGeom prst="rect">
            <a:avLst/>
          </a:prstGeom>
        </p:spPr>
      </p:pic>
      <p:pic>
        <p:nvPicPr>
          <p:cNvPr id="122" name="图片 14" descr="交换机.png">
            <a:extLst>
              <a:ext uri="{FF2B5EF4-FFF2-40B4-BE49-F238E27FC236}">
                <a16:creationId xmlns="" xmlns:a16="http://schemas.microsoft.com/office/drawing/2014/main" id="{307B22CD-01BF-4DAF-84FF-C4F6BB270F99}"/>
              </a:ext>
            </a:extLst>
          </p:cNvPr>
          <p:cNvPicPr>
            <a:picLocks noChangeAspect="1"/>
          </p:cNvPicPr>
          <p:nvPr/>
        </p:nvPicPr>
        <p:blipFill>
          <a:blip r:embed="rId5" cstate="print"/>
          <a:stretch>
            <a:fillRect/>
          </a:stretch>
        </p:blipFill>
        <p:spPr bwMode="gray">
          <a:xfrm>
            <a:off x="9853150" y="1498926"/>
            <a:ext cx="378070" cy="309329"/>
          </a:xfrm>
          <a:prstGeom prst="rect">
            <a:avLst/>
          </a:prstGeom>
        </p:spPr>
      </p:pic>
      <p:grpSp>
        <p:nvGrpSpPr>
          <p:cNvPr id="123" name="组合 50">
            <a:extLst>
              <a:ext uri="{FF2B5EF4-FFF2-40B4-BE49-F238E27FC236}">
                <a16:creationId xmlns="" xmlns:a16="http://schemas.microsoft.com/office/drawing/2014/main" id="{3D1859F3-CE58-4258-A25D-EC3CDD9B9E5F}"/>
              </a:ext>
            </a:extLst>
          </p:cNvPr>
          <p:cNvGrpSpPr>
            <a:grpSpLocks noChangeAspect="1"/>
          </p:cNvGrpSpPr>
          <p:nvPr/>
        </p:nvGrpSpPr>
        <p:grpSpPr bwMode="gray">
          <a:xfrm>
            <a:off x="10347525" y="2693842"/>
            <a:ext cx="593940" cy="386103"/>
            <a:chOff x="4137025" y="950913"/>
            <a:chExt cx="1982788" cy="1244599"/>
          </a:xfrm>
        </p:grpSpPr>
        <p:sp>
          <p:nvSpPr>
            <p:cNvPr id="124" name="Freeform 9">
              <a:extLst>
                <a:ext uri="{FF2B5EF4-FFF2-40B4-BE49-F238E27FC236}">
                  <a16:creationId xmlns="" xmlns:a16="http://schemas.microsoft.com/office/drawing/2014/main" id="{BF8D2EB4-992B-4221-9F92-0F1F9F2E7D4D}"/>
                </a:ext>
              </a:extLst>
            </p:cNvPr>
            <p:cNvSpPr>
              <a:spLocks/>
            </p:cNvSpPr>
            <p:nvPr/>
          </p:nvSpPr>
          <p:spPr bwMode="gray">
            <a:xfrm>
              <a:off x="4137025" y="950913"/>
              <a:ext cx="1982788" cy="1203325"/>
            </a:xfrm>
            <a:custGeom>
              <a:avLst/>
              <a:gdLst>
                <a:gd name="T0" fmla="*/ 1688762 w 526"/>
                <a:gd name="T1" fmla="*/ 1203325 h 320"/>
                <a:gd name="T2" fmla="*/ 1568137 w 526"/>
                <a:gd name="T3" fmla="*/ 1203325 h 320"/>
                <a:gd name="T4" fmla="*/ 1568137 w 526"/>
                <a:gd name="T5" fmla="*/ 1128117 h 320"/>
                <a:gd name="T6" fmla="*/ 1688762 w 526"/>
                <a:gd name="T7" fmla="*/ 1128117 h 320"/>
                <a:gd name="T8" fmla="*/ 1756614 w 526"/>
                <a:gd name="T9" fmla="*/ 1109315 h 320"/>
                <a:gd name="T10" fmla="*/ 1907397 w 526"/>
                <a:gd name="T11" fmla="*/ 800963 h 320"/>
                <a:gd name="T12" fmla="*/ 1522902 w 526"/>
                <a:gd name="T13" fmla="*/ 413643 h 320"/>
                <a:gd name="T14" fmla="*/ 1488976 w 526"/>
                <a:gd name="T15" fmla="*/ 394841 h 320"/>
                <a:gd name="T16" fmla="*/ 946159 w 526"/>
                <a:gd name="T17" fmla="*/ 75208 h 320"/>
                <a:gd name="T18" fmla="*/ 346799 w 526"/>
                <a:gd name="T19" fmla="*/ 541496 h 320"/>
                <a:gd name="T20" fmla="*/ 316643 w 526"/>
                <a:gd name="T21" fmla="*/ 567819 h 320"/>
                <a:gd name="T22" fmla="*/ 75391 w 526"/>
                <a:gd name="T23" fmla="*/ 846088 h 320"/>
                <a:gd name="T24" fmla="*/ 358108 w 526"/>
                <a:gd name="T25" fmla="*/ 1128117 h 320"/>
                <a:gd name="T26" fmla="*/ 1338193 w 526"/>
                <a:gd name="T27" fmla="*/ 1128117 h 320"/>
                <a:gd name="T28" fmla="*/ 1338193 w 526"/>
                <a:gd name="T29" fmla="*/ 1203325 h 320"/>
                <a:gd name="T30" fmla="*/ 358108 w 526"/>
                <a:gd name="T31" fmla="*/ 1203325 h 320"/>
                <a:gd name="T32" fmla="*/ 0 w 526"/>
                <a:gd name="T33" fmla="*/ 846088 h 320"/>
                <a:gd name="T34" fmla="*/ 278947 w 526"/>
                <a:gd name="T35" fmla="*/ 496372 h 320"/>
                <a:gd name="T36" fmla="*/ 946159 w 526"/>
                <a:gd name="T37" fmla="*/ 0 h 320"/>
                <a:gd name="T38" fmla="*/ 1545519 w 526"/>
                <a:gd name="T39" fmla="*/ 338435 h 320"/>
                <a:gd name="T40" fmla="*/ 1982788 w 526"/>
                <a:gd name="T41" fmla="*/ 800963 h 320"/>
                <a:gd name="T42" fmla="*/ 1805619 w 526"/>
                <a:gd name="T43" fmla="*/ 1165721 h 320"/>
                <a:gd name="T44" fmla="*/ 1688762 w 526"/>
                <a:gd name="T45" fmla="*/ 1203325 h 3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26" h="320">
                  <a:moveTo>
                    <a:pt x="448" y="320"/>
                  </a:moveTo>
                  <a:cubicBezTo>
                    <a:pt x="416" y="320"/>
                    <a:pt x="416" y="320"/>
                    <a:pt x="416" y="320"/>
                  </a:cubicBezTo>
                  <a:cubicBezTo>
                    <a:pt x="416" y="300"/>
                    <a:pt x="416" y="300"/>
                    <a:pt x="416" y="300"/>
                  </a:cubicBezTo>
                  <a:cubicBezTo>
                    <a:pt x="448" y="300"/>
                    <a:pt x="448" y="300"/>
                    <a:pt x="448" y="300"/>
                  </a:cubicBezTo>
                  <a:cubicBezTo>
                    <a:pt x="456" y="300"/>
                    <a:pt x="462" y="298"/>
                    <a:pt x="466" y="295"/>
                  </a:cubicBezTo>
                  <a:cubicBezTo>
                    <a:pt x="492" y="274"/>
                    <a:pt x="506" y="244"/>
                    <a:pt x="506" y="213"/>
                  </a:cubicBezTo>
                  <a:cubicBezTo>
                    <a:pt x="506" y="157"/>
                    <a:pt x="460" y="111"/>
                    <a:pt x="404" y="110"/>
                  </a:cubicBezTo>
                  <a:cubicBezTo>
                    <a:pt x="400" y="110"/>
                    <a:pt x="397" y="108"/>
                    <a:pt x="395" y="105"/>
                  </a:cubicBezTo>
                  <a:cubicBezTo>
                    <a:pt x="366" y="53"/>
                    <a:pt x="311" y="20"/>
                    <a:pt x="251" y="20"/>
                  </a:cubicBezTo>
                  <a:cubicBezTo>
                    <a:pt x="176" y="20"/>
                    <a:pt x="111" y="71"/>
                    <a:pt x="92" y="144"/>
                  </a:cubicBezTo>
                  <a:cubicBezTo>
                    <a:pt x="91" y="148"/>
                    <a:pt x="88" y="150"/>
                    <a:pt x="84" y="151"/>
                  </a:cubicBezTo>
                  <a:cubicBezTo>
                    <a:pt x="47" y="156"/>
                    <a:pt x="20" y="188"/>
                    <a:pt x="20" y="225"/>
                  </a:cubicBezTo>
                  <a:cubicBezTo>
                    <a:pt x="20" y="266"/>
                    <a:pt x="53" y="300"/>
                    <a:pt x="95" y="300"/>
                  </a:cubicBezTo>
                  <a:cubicBezTo>
                    <a:pt x="355" y="300"/>
                    <a:pt x="355" y="300"/>
                    <a:pt x="355" y="300"/>
                  </a:cubicBezTo>
                  <a:cubicBezTo>
                    <a:pt x="355" y="320"/>
                    <a:pt x="355" y="320"/>
                    <a:pt x="355" y="320"/>
                  </a:cubicBezTo>
                  <a:cubicBezTo>
                    <a:pt x="95" y="320"/>
                    <a:pt x="95" y="320"/>
                    <a:pt x="95" y="320"/>
                  </a:cubicBezTo>
                  <a:cubicBezTo>
                    <a:pt x="42" y="320"/>
                    <a:pt x="0" y="277"/>
                    <a:pt x="0" y="225"/>
                  </a:cubicBezTo>
                  <a:cubicBezTo>
                    <a:pt x="0" y="181"/>
                    <a:pt x="31" y="142"/>
                    <a:pt x="74" y="132"/>
                  </a:cubicBezTo>
                  <a:cubicBezTo>
                    <a:pt x="97" y="54"/>
                    <a:pt x="169" y="0"/>
                    <a:pt x="251" y="0"/>
                  </a:cubicBezTo>
                  <a:cubicBezTo>
                    <a:pt x="316" y="0"/>
                    <a:pt x="377" y="35"/>
                    <a:pt x="410" y="90"/>
                  </a:cubicBezTo>
                  <a:cubicBezTo>
                    <a:pt x="475" y="94"/>
                    <a:pt x="526" y="148"/>
                    <a:pt x="526" y="213"/>
                  </a:cubicBezTo>
                  <a:cubicBezTo>
                    <a:pt x="526" y="250"/>
                    <a:pt x="509" y="286"/>
                    <a:pt x="479" y="310"/>
                  </a:cubicBezTo>
                  <a:cubicBezTo>
                    <a:pt x="471" y="317"/>
                    <a:pt x="460" y="320"/>
                    <a:pt x="448" y="320"/>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25" name="Oval 10">
              <a:extLst>
                <a:ext uri="{FF2B5EF4-FFF2-40B4-BE49-F238E27FC236}">
                  <a16:creationId xmlns="" xmlns:a16="http://schemas.microsoft.com/office/drawing/2014/main" id="{E3A9B1A7-6611-4570-A776-26375E0E45A1}"/>
                </a:ext>
              </a:extLst>
            </p:cNvPr>
            <p:cNvSpPr>
              <a:spLocks noChangeArrowheads="1"/>
            </p:cNvSpPr>
            <p:nvPr/>
          </p:nvSpPr>
          <p:spPr bwMode="gray">
            <a:xfrm>
              <a:off x="54229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26" name="Oval 11">
              <a:extLst>
                <a:ext uri="{FF2B5EF4-FFF2-40B4-BE49-F238E27FC236}">
                  <a16:creationId xmlns="" xmlns:a16="http://schemas.microsoft.com/office/drawing/2014/main" id="{18175A3C-05BA-4DD6-B51E-28148CCB6A2F}"/>
                </a:ext>
              </a:extLst>
            </p:cNvPr>
            <p:cNvSpPr>
              <a:spLocks noChangeArrowheads="1"/>
            </p:cNvSpPr>
            <p:nvPr/>
          </p:nvSpPr>
          <p:spPr bwMode="gray">
            <a:xfrm>
              <a:off x="5664200" y="2038350"/>
              <a:ext cx="153988" cy="157162"/>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27" name="Freeform 12">
              <a:extLst>
                <a:ext uri="{FF2B5EF4-FFF2-40B4-BE49-F238E27FC236}">
                  <a16:creationId xmlns="" xmlns:a16="http://schemas.microsoft.com/office/drawing/2014/main" id="{F19D0106-DE1B-4D29-A876-2B64633C597E}"/>
                </a:ext>
              </a:extLst>
            </p:cNvPr>
            <p:cNvSpPr>
              <a:spLocks/>
            </p:cNvSpPr>
            <p:nvPr/>
          </p:nvSpPr>
          <p:spPr bwMode="gray">
            <a:xfrm>
              <a:off x="5102225" y="1211263"/>
              <a:ext cx="406400" cy="750887"/>
            </a:xfrm>
            <a:custGeom>
              <a:avLst/>
              <a:gdLst>
                <a:gd name="T0" fmla="*/ 316089 w 108"/>
                <a:gd name="T1" fmla="*/ 289091 h 200"/>
                <a:gd name="T2" fmla="*/ 312326 w 108"/>
                <a:gd name="T3" fmla="*/ 285337 h 200"/>
                <a:gd name="T4" fmla="*/ 289748 w 108"/>
                <a:gd name="T5" fmla="*/ 236529 h 200"/>
                <a:gd name="T6" fmla="*/ 316089 w 108"/>
                <a:gd name="T7" fmla="*/ 206494 h 200"/>
                <a:gd name="T8" fmla="*/ 316089 w 108"/>
                <a:gd name="T9" fmla="*/ 127651 h 200"/>
                <a:gd name="T10" fmla="*/ 237067 w 108"/>
                <a:gd name="T11" fmla="*/ 71334 h 200"/>
                <a:gd name="T12" fmla="*/ 173096 w 108"/>
                <a:gd name="T13" fmla="*/ 112633 h 200"/>
                <a:gd name="T14" fmla="*/ 169333 w 108"/>
                <a:gd name="T15" fmla="*/ 112633 h 200"/>
                <a:gd name="T16" fmla="*/ 120415 w 108"/>
                <a:gd name="T17" fmla="*/ 93861 h 200"/>
                <a:gd name="T18" fmla="*/ 112889 w 108"/>
                <a:gd name="T19" fmla="*/ 86352 h 200"/>
                <a:gd name="T20" fmla="*/ 56444 w 108"/>
                <a:gd name="T21" fmla="*/ 0 h 200"/>
                <a:gd name="T22" fmla="*/ 0 w 108"/>
                <a:gd name="T23" fmla="*/ 30035 h 200"/>
                <a:gd name="T24" fmla="*/ 52681 w 108"/>
                <a:gd name="T25" fmla="*/ 60071 h 200"/>
                <a:gd name="T26" fmla="*/ 97837 w 108"/>
                <a:gd name="T27" fmla="*/ 150177 h 200"/>
                <a:gd name="T28" fmla="*/ 169333 w 108"/>
                <a:gd name="T29" fmla="*/ 172704 h 200"/>
                <a:gd name="T30" fmla="*/ 237067 w 108"/>
                <a:gd name="T31" fmla="*/ 135160 h 200"/>
                <a:gd name="T32" fmla="*/ 248356 w 108"/>
                <a:gd name="T33" fmla="*/ 187722 h 200"/>
                <a:gd name="T34" fmla="*/ 252119 w 108"/>
                <a:gd name="T35" fmla="*/ 304109 h 200"/>
                <a:gd name="T36" fmla="*/ 346193 w 108"/>
                <a:gd name="T37" fmla="*/ 352917 h 200"/>
                <a:gd name="T38" fmla="*/ 316089 w 108"/>
                <a:gd name="T39" fmla="*/ 397970 h 200"/>
                <a:gd name="T40" fmla="*/ 237067 w 108"/>
                <a:gd name="T41" fmla="*/ 484322 h 200"/>
                <a:gd name="T42" fmla="*/ 267170 w 108"/>
                <a:gd name="T43" fmla="*/ 578183 h 200"/>
                <a:gd name="T44" fmla="*/ 218252 w 108"/>
                <a:gd name="T45" fmla="*/ 593201 h 200"/>
                <a:gd name="T46" fmla="*/ 139230 w 108"/>
                <a:gd name="T47" fmla="*/ 578183 h 200"/>
                <a:gd name="T48" fmla="*/ 52681 w 108"/>
                <a:gd name="T49" fmla="*/ 660781 h 200"/>
                <a:gd name="T50" fmla="*/ 30104 w 108"/>
                <a:gd name="T51" fmla="*/ 687062 h 200"/>
                <a:gd name="T52" fmla="*/ 30104 w 108"/>
                <a:gd name="T53" fmla="*/ 750887 h 200"/>
                <a:gd name="T54" fmla="*/ 112889 w 108"/>
                <a:gd name="T55" fmla="*/ 690816 h 200"/>
                <a:gd name="T56" fmla="*/ 116652 w 108"/>
                <a:gd name="T57" fmla="*/ 657026 h 200"/>
                <a:gd name="T58" fmla="*/ 165570 w 108"/>
                <a:gd name="T59" fmla="*/ 634500 h 200"/>
                <a:gd name="T60" fmla="*/ 169333 w 108"/>
                <a:gd name="T61" fmla="*/ 634500 h 200"/>
                <a:gd name="T62" fmla="*/ 195674 w 108"/>
                <a:gd name="T63" fmla="*/ 657026 h 200"/>
                <a:gd name="T64" fmla="*/ 278459 w 108"/>
                <a:gd name="T65" fmla="*/ 657026 h 200"/>
                <a:gd name="T66" fmla="*/ 331141 w 108"/>
                <a:gd name="T67" fmla="*/ 578183 h 200"/>
                <a:gd name="T68" fmla="*/ 293511 w 108"/>
                <a:gd name="T69" fmla="*/ 518112 h 200"/>
                <a:gd name="T70" fmla="*/ 293511 w 108"/>
                <a:gd name="T71" fmla="*/ 506849 h 200"/>
                <a:gd name="T72" fmla="*/ 312326 w 108"/>
                <a:gd name="T73" fmla="*/ 461796 h 200"/>
                <a:gd name="T74" fmla="*/ 349956 w 108"/>
                <a:gd name="T75" fmla="*/ 458041 h 200"/>
                <a:gd name="T76" fmla="*/ 406400 w 108"/>
                <a:gd name="T77" fmla="*/ 345408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8" h="200">
                  <a:moveTo>
                    <a:pt x="93" y="77"/>
                  </a:moveTo>
                  <a:cubicBezTo>
                    <a:pt x="84" y="77"/>
                    <a:pt x="84" y="77"/>
                    <a:pt x="84" y="77"/>
                  </a:cubicBezTo>
                  <a:cubicBezTo>
                    <a:pt x="84" y="77"/>
                    <a:pt x="83" y="77"/>
                    <a:pt x="83" y="76"/>
                  </a:cubicBezTo>
                  <a:cubicBezTo>
                    <a:pt x="83" y="76"/>
                    <a:pt x="83" y="76"/>
                    <a:pt x="83" y="76"/>
                  </a:cubicBezTo>
                  <a:cubicBezTo>
                    <a:pt x="78" y="64"/>
                    <a:pt x="78" y="64"/>
                    <a:pt x="78" y="64"/>
                  </a:cubicBezTo>
                  <a:cubicBezTo>
                    <a:pt x="78" y="63"/>
                    <a:pt x="78" y="63"/>
                    <a:pt x="77" y="63"/>
                  </a:cubicBezTo>
                  <a:cubicBezTo>
                    <a:pt x="77" y="63"/>
                    <a:pt x="77" y="62"/>
                    <a:pt x="78" y="61"/>
                  </a:cubicBezTo>
                  <a:cubicBezTo>
                    <a:pt x="84" y="55"/>
                    <a:pt x="84" y="55"/>
                    <a:pt x="84" y="55"/>
                  </a:cubicBezTo>
                  <a:cubicBezTo>
                    <a:pt x="87" y="53"/>
                    <a:pt x="88" y="49"/>
                    <a:pt x="88" y="45"/>
                  </a:cubicBezTo>
                  <a:cubicBezTo>
                    <a:pt x="88" y="41"/>
                    <a:pt x="87" y="37"/>
                    <a:pt x="84" y="34"/>
                  </a:cubicBezTo>
                  <a:cubicBezTo>
                    <a:pt x="74" y="24"/>
                    <a:pt x="74" y="24"/>
                    <a:pt x="74" y="24"/>
                  </a:cubicBezTo>
                  <a:cubicBezTo>
                    <a:pt x="71" y="21"/>
                    <a:pt x="67" y="19"/>
                    <a:pt x="63" y="19"/>
                  </a:cubicBezTo>
                  <a:cubicBezTo>
                    <a:pt x="59" y="19"/>
                    <a:pt x="55" y="21"/>
                    <a:pt x="52" y="24"/>
                  </a:cubicBezTo>
                  <a:cubicBezTo>
                    <a:pt x="46" y="30"/>
                    <a:pt x="46" y="30"/>
                    <a:pt x="46" y="30"/>
                  </a:cubicBezTo>
                  <a:cubicBezTo>
                    <a:pt x="46" y="30"/>
                    <a:pt x="46" y="30"/>
                    <a:pt x="45" y="30"/>
                  </a:cubicBezTo>
                  <a:cubicBezTo>
                    <a:pt x="45" y="30"/>
                    <a:pt x="45" y="30"/>
                    <a:pt x="45" y="30"/>
                  </a:cubicBezTo>
                  <a:cubicBezTo>
                    <a:pt x="44" y="30"/>
                    <a:pt x="44" y="30"/>
                    <a:pt x="44" y="30"/>
                  </a:cubicBezTo>
                  <a:cubicBezTo>
                    <a:pt x="32" y="25"/>
                    <a:pt x="32" y="25"/>
                    <a:pt x="32" y="25"/>
                  </a:cubicBezTo>
                  <a:cubicBezTo>
                    <a:pt x="32" y="25"/>
                    <a:pt x="32" y="25"/>
                    <a:pt x="31" y="25"/>
                  </a:cubicBezTo>
                  <a:cubicBezTo>
                    <a:pt x="31" y="24"/>
                    <a:pt x="30" y="24"/>
                    <a:pt x="30" y="23"/>
                  </a:cubicBezTo>
                  <a:cubicBezTo>
                    <a:pt x="30" y="15"/>
                    <a:pt x="30" y="15"/>
                    <a:pt x="30" y="15"/>
                  </a:cubicBezTo>
                  <a:cubicBezTo>
                    <a:pt x="30" y="6"/>
                    <a:pt x="23" y="0"/>
                    <a:pt x="15" y="0"/>
                  </a:cubicBezTo>
                  <a:cubicBezTo>
                    <a:pt x="8" y="0"/>
                    <a:pt x="8" y="0"/>
                    <a:pt x="8" y="0"/>
                  </a:cubicBezTo>
                  <a:cubicBezTo>
                    <a:pt x="3" y="0"/>
                    <a:pt x="0" y="3"/>
                    <a:pt x="0" y="8"/>
                  </a:cubicBezTo>
                  <a:cubicBezTo>
                    <a:pt x="0" y="12"/>
                    <a:pt x="3" y="16"/>
                    <a:pt x="8" y="16"/>
                  </a:cubicBezTo>
                  <a:cubicBezTo>
                    <a:pt x="14" y="16"/>
                    <a:pt x="14" y="16"/>
                    <a:pt x="14" y="16"/>
                  </a:cubicBezTo>
                  <a:cubicBezTo>
                    <a:pt x="14" y="23"/>
                    <a:pt x="14" y="23"/>
                    <a:pt x="14" y="23"/>
                  </a:cubicBezTo>
                  <a:cubicBezTo>
                    <a:pt x="14" y="31"/>
                    <a:pt x="19" y="38"/>
                    <a:pt x="26" y="40"/>
                  </a:cubicBezTo>
                  <a:cubicBezTo>
                    <a:pt x="37" y="45"/>
                    <a:pt x="37" y="45"/>
                    <a:pt x="37" y="45"/>
                  </a:cubicBezTo>
                  <a:cubicBezTo>
                    <a:pt x="39" y="46"/>
                    <a:pt x="42" y="46"/>
                    <a:pt x="45" y="46"/>
                  </a:cubicBezTo>
                  <a:cubicBezTo>
                    <a:pt x="50" y="46"/>
                    <a:pt x="54" y="45"/>
                    <a:pt x="58" y="41"/>
                  </a:cubicBezTo>
                  <a:cubicBezTo>
                    <a:pt x="63" y="36"/>
                    <a:pt x="63" y="36"/>
                    <a:pt x="63" y="36"/>
                  </a:cubicBezTo>
                  <a:cubicBezTo>
                    <a:pt x="71" y="45"/>
                    <a:pt x="71" y="45"/>
                    <a:pt x="71" y="45"/>
                  </a:cubicBezTo>
                  <a:cubicBezTo>
                    <a:pt x="66" y="50"/>
                    <a:pt x="66" y="50"/>
                    <a:pt x="66" y="50"/>
                  </a:cubicBezTo>
                  <a:cubicBezTo>
                    <a:pt x="61" y="55"/>
                    <a:pt x="60" y="64"/>
                    <a:pt x="63" y="70"/>
                  </a:cubicBezTo>
                  <a:cubicBezTo>
                    <a:pt x="67" y="81"/>
                    <a:pt x="67" y="81"/>
                    <a:pt x="67" y="81"/>
                  </a:cubicBezTo>
                  <a:cubicBezTo>
                    <a:pt x="70" y="88"/>
                    <a:pt x="77" y="94"/>
                    <a:pt x="84" y="94"/>
                  </a:cubicBezTo>
                  <a:cubicBezTo>
                    <a:pt x="92" y="94"/>
                    <a:pt x="92" y="94"/>
                    <a:pt x="92" y="94"/>
                  </a:cubicBezTo>
                  <a:cubicBezTo>
                    <a:pt x="92" y="106"/>
                    <a:pt x="92" y="106"/>
                    <a:pt x="92" y="106"/>
                  </a:cubicBezTo>
                  <a:cubicBezTo>
                    <a:pt x="84" y="106"/>
                    <a:pt x="84" y="106"/>
                    <a:pt x="84" y="106"/>
                  </a:cubicBezTo>
                  <a:cubicBezTo>
                    <a:pt x="77" y="106"/>
                    <a:pt x="70" y="111"/>
                    <a:pt x="67" y="118"/>
                  </a:cubicBezTo>
                  <a:cubicBezTo>
                    <a:pt x="63" y="129"/>
                    <a:pt x="63" y="129"/>
                    <a:pt x="63" y="129"/>
                  </a:cubicBezTo>
                  <a:cubicBezTo>
                    <a:pt x="60" y="135"/>
                    <a:pt x="61" y="144"/>
                    <a:pt x="66" y="149"/>
                  </a:cubicBezTo>
                  <a:cubicBezTo>
                    <a:pt x="71" y="154"/>
                    <a:pt x="71" y="154"/>
                    <a:pt x="71" y="154"/>
                  </a:cubicBezTo>
                  <a:cubicBezTo>
                    <a:pt x="63" y="163"/>
                    <a:pt x="63" y="163"/>
                    <a:pt x="63" y="163"/>
                  </a:cubicBezTo>
                  <a:cubicBezTo>
                    <a:pt x="58" y="158"/>
                    <a:pt x="58" y="158"/>
                    <a:pt x="58" y="158"/>
                  </a:cubicBezTo>
                  <a:cubicBezTo>
                    <a:pt x="54" y="155"/>
                    <a:pt x="50" y="153"/>
                    <a:pt x="45" y="153"/>
                  </a:cubicBezTo>
                  <a:cubicBezTo>
                    <a:pt x="42" y="153"/>
                    <a:pt x="39" y="153"/>
                    <a:pt x="37" y="154"/>
                  </a:cubicBezTo>
                  <a:cubicBezTo>
                    <a:pt x="26" y="159"/>
                    <a:pt x="26" y="159"/>
                    <a:pt x="26" y="159"/>
                  </a:cubicBezTo>
                  <a:cubicBezTo>
                    <a:pt x="19" y="161"/>
                    <a:pt x="14" y="169"/>
                    <a:pt x="14" y="176"/>
                  </a:cubicBezTo>
                  <a:cubicBezTo>
                    <a:pt x="14" y="183"/>
                    <a:pt x="14" y="183"/>
                    <a:pt x="14" y="183"/>
                  </a:cubicBezTo>
                  <a:cubicBezTo>
                    <a:pt x="8" y="183"/>
                    <a:pt x="8" y="183"/>
                    <a:pt x="8" y="183"/>
                  </a:cubicBezTo>
                  <a:cubicBezTo>
                    <a:pt x="3" y="183"/>
                    <a:pt x="0" y="187"/>
                    <a:pt x="0" y="191"/>
                  </a:cubicBezTo>
                  <a:cubicBezTo>
                    <a:pt x="0" y="196"/>
                    <a:pt x="3" y="200"/>
                    <a:pt x="8" y="200"/>
                  </a:cubicBezTo>
                  <a:cubicBezTo>
                    <a:pt x="15" y="200"/>
                    <a:pt x="15" y="200"/>
                    <a:pt x="15" y="200"/>
                  </a:cubicBezTo>
                  <a:cubicBezTo>
                    <a:pt x="23" y="200"/>
                    <a:pt x="30" y="193"/>
                    <a:pt x="30" y="184"/>
                  </a:cubicBezTo>
                  <a:cubicBezTo>
                    <a:pt x="30" y="176"/>
                    <a:pt x="30" y="176"/>
                    <a:pt x="30" y="176"/>
                  </a:cubicBezTo>
                  <a:cubicBezTo>
                    <a:pt x="30" y="175"/>
                    <a:pt x="31" y="175"/>
                    <a:pt x="31" y="175"/>
                  </a:cubicBezTo>
                  <a:cubicBezTo>
                    <a:pt x="31" y="174"/>
                    <a:pt x="32" y="174"/>
                    <a:pt x="32" y="174"/>
                  </a:cubicBezTo>
                  <a:cubicBezTo>
                    <a:pt x="44" y="169"/>
                    <a:pt x="44" y="169"/>
                    <a:pt x="44" y="169"/>
                  </a:cubicBezTo>
                  <a:cubicBezTo>
                    <a:pt x="44" y="169"/>
                    <a:pt x="44" y="169"/>
                    <a:pt x="45" y="169"/>
                  </a:cubicBezTo>
                  <a:cubicBezTo>
                    <a:pt x="45" y="169"/>
                    <a:pt x="45" y="169"/>
                    <a:pt x="45" y="169"/>
                  </a:cubicBezTo>
                  <a:cubicBezTo>
                    <a:pt x="46" y="169"/>
                    <a:pt x="46" y="169"/>
                    <a:pt x="46" y="169"/>
                  </a:cubicBezTo>
                  <a:cubicBezTo>
                    <a:pt x="52" y="175"/>
                    <a:pt x="52" y="175"/>
                    <a:pt x="52" y="175"/>
                  </a:cubicBezTo>
                  <a:cubicBezTo>
                    <a:pt x="55" y="178"/>
                    <a:pt x="59" y="180"/>
                    <a:pt x="63" y="180"/>
                  </a:cubicBezTo>
                  <a:cubicBezTo>
                    <a:pt x="67" y="180"/>
                    <a:pt x="71" y="178"/>
                    <a:pt x="74" y="175"/>
                  </a:cubicBezTo>
                  <a:cubicBezTo>
                    <a:pt x="84" y="165"/>
                    <a:pt x="84" y="165"/>
                    <a:pt x="84" y="165"/>
                  </a:cubicBezTo>
                  <a:cubicBezTo>
                    <a:pt x="87" y="162"/>
                    <a:pt x="88" y="159"/>
                    <a:pt x="88" y="154"/>
                  </a:cubicBezTo>
                  <a:cubicBezTo>
                    <a:pt x="88" y="150"/>
                    <a:pt x="87" y="147"/>
                    <a:pt x="84" y="144"/>
                  </a:cubicBezTo>
                  <a:cubicBezTo>
                    <a:pt x="78" y="138"/>
                    <a:pt x="78" y="138"/>
                    <a:pt x="78" y="138"/>
                  </a:cubicBezTo>
                  <a:cubicBezTo>
                    <a:pt x="77" y="137"/>
                    <a:pt x="77" y="136"/>
                    <a:pt x="77" y="136"/>
                  </a:cubicBezTo>
                  <a:cubicBezTo>
                    <a:pt x="78" y="136"/>
                    <a:pt x="78" y="136"/>
                    <a:pt x="78" y="135"/>
                  </a:cubicBezTo>
                  <a:cubicBezTo>
                    <a:pt x="83" y="124"/>
                    <a:pt x="83" y="124"/>
                    <a:pt x="83" y="124"/>
                  </a:cubicBezTo>
                  <a:cubicBezTo>
                    <a:pt x="83" y="123"/>
                    <a:pt x="83" y="123"/>
                    <a:pt x="83" y="123"/>
                  </a:cubicBezTo>
                  <a:cubicBezTo>
                    <a:pt x="83" y="123"/>
                    <a:pt x="84" y="122"/>
                    <a:pt x="84" y="122"/>
                  </a:cubicBezTo>
                  <a:cubicBezTo>
                    <a:pt x="93" y="122"/>
                    <a:pt x="93" y="122"/>
                    <a:pt x="93" y="122"/>
                  </a:cubicBezTo>
                  <a:cubicBezTo>
                    <a:pt x="101" y="122"/>
                    <a:pt x="108" y="115"/>
                    <a:pt x="108" y="107"/>
                  </a:cubicBezTo>
                  <a:cubicBezTo>
                    <a:pt x="108" y="92"/>
                    <a:pt x="108" y="92"/>
                    <a:pt x="108" y="92"/>
                  </a:cubicBezTo>
                  <a:cubicBezTo>
                    <a:pt x="108" y="84"/>
                    <a:pt x="101" y="77"/>
                    <a:pt x="93" y="7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28" name="Freeform 13">
              <a:extLst>
                <a:ext uri="{FF2B5EF4-FFF2-40B4-BE49-F238E27FC236}">
                  <a16:creationId xmlns="" xmlns:a16="http://schemas.microsoft.com/office/drawing/2014/main" id="{E4192916-4E13-4D8F-AF93-20B5E10B7B4A}"/>
                </a:ext>
              </a:extLst>
            </p:cNvPr>
            <p:cNvSpPr>
              <a:spLocks/>
            </p:cNvSpPr>
            <p:nvPr/>
          </p:nvSpPr>
          <p:spPr bwMode="gray">
            <a:xfrm>
              <a:off x="5102225" y="1420813"/>
              <a:ext cx="192088" cy="327025"/>
            </a:xfrm>
            <a:custGeom>
              <a:avLst/>
              <a:gdLst>
                <a:gd name="T0" fmla="*/ 30131 w 51"/>
                <a:gd name="T1" fmla="*/ 266882 h 87"/>
                <a:gd name="T2" fmla="*/ 0 w 51"/>
                <a:gd name="T3" fmla="*/ 296954 h 87"/>
                <a:gd name="T4" fmla="*/ 30131 w 51"/>
                <a:gd name="T5" fmla="*/ 327025 h 87"/>
                <a:gd name="T6" fmla="*/ 192088 w 51"/>
                <a:gd name="T7" fmla="*/ 165392 h 87"/>
                <a:gd name="T8" fmla="*/ 30131 w 51"/>
                <a:gd name="T9" fmla="*/ 0 h 87"/>
                <a:gd name="T10" fmla="*/ 0 w 51"/>
                <a:gd name="T11" fmla="*/ 30071 h 87"/>
                <a:gd name="T12" fmla="*/ 30131 w 51"/>
                <a:gd name="T13" fmla="*/ 60143 h 87"/>
                <a:gd name="T14" fmla="*/ 131825 w 51"/>
                <a:gd name="T15" fmla="*/ 165392 h 87"/>
                <a:gd name="T16" fmla="*/ 30131 w 51"/>
                <a:gd name="T17" fmla="*/ 266882 h 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87">
                  <a:moveTo>
                    <a:pt x="8" y="71"/>
                  </a:moveTo>
                  <a:cubicBezTo>
                    <a:pt x="4" y="71"/>
                    <a:pt x="0" y="74"/>
                    <a:pt x="0" y="79"/>
                  </a:cubicBezTo>
                  <a:cubicBezTo>
                    <a:pt x="0" y="83"/>
                    <a:pt x="4" y="87"/>
                    <a:pt x="8" y="87"/>
                  </a:cubicBezTo>
                  <a:cubicBezTo>
                    <a:pt x="32" y="87"/>
                    <a:pt x="51" y="68"/>
                    <a:pt x="51" y="44"/>
                  </a:cubicBezTo>
                  <a:cubicBezTo>
                    <a:pt x="51" y="20"/>
                    <a:pt x="32" y="0"/>
                    <a:pt x="8" y="0"/>
                  </a:cubicBezTo>
                  <a:cubicBezTo>
                    <a:pt x="4" y="0"/>
                    <a:pt x="0" y="4"/>
                    <a:pt x="0" y="8"/>
                  </a:cubicBezTo>
                  <a:cubicBezTo>
                    <a:pt x="0" y="13"/>
                    <a:pt x="4" y="16"/>
                    <a:pt x="8" y="16"/>
                  </a:cubicBezTo>
                  <a:cubicBezTo>
                    <a:pt x="23" y="16"/>
                    <a:pt x="35" y="29"/>
                    <a:pt x="35" y="44"/>
                  </a:cubicBezTo>
                  <a:cubicBezTo>
                    <a:pt x="35" y="59"/>
                    <a:pt x="23" y="71"/>
                    <a:pt x="8" y="71"/>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sp>
          <p:nvSpPr>
            <p:cNvPr id="129" name="Freeform 14">
              <a:extLst>
                <a:ext uri="{FF2B5EF4-FFF2-40B4-BE49-F238E27FC236}">
                  <a16:creationId xmlns="" xmlns:a16="http://schemas.microsoft.com/office/drawing/2014/main" id="{EB6E6938-D9F7-4437-BA6C-A6D667E5ACDB}"/>
                </a:ext>
              </a:extLst>
            </p:cNvPr>
            <p:cNvSpPr>
              <a:spLocks noEditPoints="1"/>
            </p:cNvSpPr>
            <p:nvPr/>
          </p:nvSpPr>
          <p:spPr bwMode="gray">
            <a:xfrm>
              <a:off x="4656138" y="1211263"/>
              <a:ext cx="415925" cy="750887"/>
            </a:xfrm>
            <a:custGeom>
              <a:avLst/>
              <a:gdLst>
                <a:gd name="T0" fmla="*/ 317615 w 110"/>
                <a:gd name="T1" fmla="*/ 0 h 200"/>
                <a:gd name="T2" fmla="*/ 196619 w 110"/>
                <a:gd name="T3" fmla="*/ 75089 h 200"/>
                <a:gd name="T4" fmla="*/ 86966 w 110"/>
                <a:gd name="T5" fmla="*/ 221512 h 200"/>
                <a:gd name="T6" fmla="*/ 68060 w 110"/>
                <a:gd name="T7" fmla="*/ 458041 h 200"/>
                <a:gd name="T8" fmla="*/ 196619 w 110"/>
                <a:gd name="T9" fmla="*/ 679553 h 200"/>
                <a:gd name="T10" fmla="*/ 302491 w 110"/>
                <a:gd name="T11" fmla="*/ 750887 h 200"/>
                <a:gd name="T12" fmla="*/ 381895 w 110"/>
                <a:gd name="T13" fmla="*/ 717097 h 200"/>
                <a:gd name="T14" fmla="*/ 415925 w 110"/>
                <a:gd name="T15" fmla="*/ 638254 h 200"/>
                <a:gd name="T16" fmla="*/ 415925 w 110"/>
                <a:gd name="T17" fmla="*/ 93861 h 200"/>
                <a:gd name="T18" fmla="*/ 415925 w 110"/>
                <a:gd name="T19" fmla="*/ 93861 h 200"/>
                <a:gd name="T20" fmla="*/ 302491 w 110"/>
                <a:gd name="T21" fmla="*/ 322881 h 200"/>
                <a:gd name="T22" fmla="*/ 336521 w 110"/>
                <a:gd name="T23" fmla="*/ 529375 h 200"/>
                <a:gd name="T24" fmla="*/ 336521 w 110"/>
                <a:gd name="T25" fmla="*/ 529375 h 200"/>
                <a:gd name="T26" fmla="*/ 196619 w 110"/>
                <a:gd name="T27" fmla="*/ 300355 h 200"/>
                <a:gd name="T28" fmla="*/ 223087 w 110"/>
                <a:gd name="T29" fmla="*/ 274074 h 200"/>
                <a:gd name="T30" fmla="*/ 196619 w 110"/>
                <a:gd name="T31" fmla="*/ 247793 h 200"/>
                <a:gd name="T32" fmla="*/ 147464 w 110"/>
                <a:gd name="T33" fmla="*/ 221512 h 200"/>
                <a:gd name="T34" fmla="*/ 196619 w 110"/>
                <a:gd name="T35" fmla="*/ 127651 h 200"/>
                <a:gd name="T36" fmla="*/ 317615 w 110"/>
                <a:gd name="T37" fmla="*/ 191476 h 200"/>
                <a:gd name="T38" fmla="*/ 340302 w 110"/>
                <a:gd name="T39" fmla="*/ 183967 h 200"/>
                <a:gd name="T40" fmla="*/ 340302 w 110"/>
                <a:gd name="T41" fmla="*/ 146423 h 200"/>
                <a:gd name="T42" fmla="*/ 276023 w 110"/>
                <a:gd name="T43" fmla="*/ 93861 h 200"/>
                <a:gd name="T44" fmla="*/ 362989 w 110"/>
                <a:gd name="T45" fmla="*/ 93861 h 200"/>
                <a:gd name="T46" fmla="*/ 362989 w 110"/>
                <a:gd name="T47" fmla="*/ 232775 h 200"/>
                <a:gd name="T48" fmla="*/ 302491 w 110"/>
                <a:gd name="T49" fmla="*/ 277828 h 200"/>
                <a:gd name="T50" fmla="*/ 276023 w 110"/>
                <a:gd name="T51" fmla="*/ 304109 h 200"/>
                <a:gd name="T52" fmla="*/ 302491 w 110"/>
                <a:gd name="T53" fmla="*/ 330390 h 200"/>
                <a:gd name="T54" fmla="*/ 362989 w 110"/>
                <a:gd name="T55" fmla="*/ 319127 h 200"/>
                <a:gd name="T56" fmla="*/ 336521 w 110"/>
                <a:gd name="T57" fmla="*/ 488077 h 200"/>
                <a:gd name="T58" fmla="*/ 310053 w 110"/>
                <a:gd name="T59" fmla="*/ 514358 h 200"/>
                <a:gd name="T60" fmla="*/ 336521 w 110"/>
                <a:gd name="T61" fmla="*/ 540639 h 200"/>
                <a:gd name="T62" fmla="*/ 362989 w 110"/>
                <a:gd name="T63" fmla="*/ 536884 h 200"/>
                <a:gd name="T64" fmla="*/ 344083 w 110"/>
                <a:gd name="T65" fmla="*/ 679553 h 200"/>
                <a:gd name="T66" fmla="*/ 257117 w 110"/>
                <a:gd name="T67" fmla="*/ 679553 h 200"/>
                <a:gd name="T68" fmla="*/ 268461 w 110"/>
                <a:gd name="T69" fmla="*/ 574429 h 200"/>
                <a:gd name="T70" fmla="*/ 219306 w 110"/>
                <a:gd name="T71" fmla="*/ 555656 h 200"/>
                <a:gd name="T72" fmla="*/ 128559 w 110"/>
                <a:gd name="T73" fmla="*/ 596955 h 200"/>
                <a:gd name="T74" fmla="*/ 128559 w 110"/>
                <a:gd name="T75" fmla="*/ 461796 h 200"/>
                <a:gd name="T76" fmla="*/ 264680 w 110"/>
                <a:gd name="T77" fmla="*/ 461796 h 200"/>
                <a:gd name="T78" fmla="*/ 302491 w 110"/>
                <a:gd name="T79" fmla="*/ 461796 h 200"/>
                <a:gd name="T80" fmla="*/ 302491 w 110"/>
                <a:gd name="T81" fmla="*/ 424251 h 200"/>
                <a:gd name="T82" fmla="*/ 102091 w 110"/>
                <a:gd name="T83" fmla="*/ 416742 h 200"/>
                <a:gd name="T84" fmla="*/ 113434 w 110"/>
                <a:gd name="T85" fmla="*/ 266565 h 200"/>
                <a:gd name="T86" fmla="*/ 302491 w 110"/>
                <a:gd name="T87" fmla="*/ 739624 h 20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0" h="200">
                  <a:moveTo>
                    <a:pt x="110" y="25"/>
                  </a:moveTo>
                  <a:cubicBezTo>
                    <a:pt x="110" y="11"/>
                    <a:pt x="99" y="0"/>
                    <a:pt x="84" y="0"/>
                  </a:cubicBezTo>
                  <a:cubicBezTo>
                    <a:pt x="72" y="0"/>
                    <a:pt x="61" y="9"/>
                    <a:pt x="59" y="20"/>
                  </a:cubicBezTo>
                  <a:cubicBezTo>
                    <a:pt x="57" y="20"/>
                    <a:pt x="54" y="20"/>
                    <a:pt x="52" y="20"/>
                  </a:cubicBezTo>
                  <a:cubicBezTo>
                    <a:pt x="35" y="20"/>
                    <a:pt x="22" y="33"/>
                    <a:pt x="22" y="50"/>
                  </a:cubicBezTo>
                  <a:cubicBezTo>
                    <a:pt x="22" y="53"/>
                    <a:pt x="22" y="56"/>
                    <a:pt x="23" y="59"/>
                  </a:cubicBezTo>
                  <a:cubicBezTo>
                    <a:pt x="10" y="64"/>
                    <a:pt x="0" y="76"/>
                    <a:pt x="0" y="91"/>
                  </a:cubicBezTo>
                  <a:cubicBezTo>
                    <a:pt x="0" y="104"/>
                    <a:pt x="7" y="116"/>
                    <a:pt x="18" y="122"/>
                  </a:cubicBezTo>
                  <a:cubicBezTo>
                    <a:pt x="9" y="137"/>
                    <a:pt x="11" y="156"/>
                    <a:pt x="24" y="169"/>
                  </a:cubicBezTo>
                  <a:cubicBezTo>
                    <a:pt x="31" y="177"/>
                    <a:pt x="41" y="181"/>
                    <a:pt x="52" y="181"/>
                  </a:cubicBezTo>
                  <a:cubicBezTo>
                    <a:pt x="53" y="185"/>
                    <a:pt x="56" y="188"/>
                    <a:pt x="58" y="191"/>
                  </a:cubicBezTo>
                  <a:cubicBezTo>
                    <a:pt x="64" y="196"/>
                    <a:pt x="72" y="200"/>
                    <a:pt x="80" y="200"/>
                  </a:cubicBezTo>
                  <a:cubicBezTo>
                    <a:pt x="80" y="200"/>
                    <a:pt x="80" y="200"/>
                    <a:pt x="80" y="200"/>
                  </a:cubicBezTo>
                  <a:cubicBezTo>
                    <a:pt x="88" y="200"/>
                    <a:pt x="96" y="196"/>
                    <a:pt x="101" y="191"/>
                  </a:cubicBezTo>
                  <a:cubicBezTo>
                    <a:pt x="107" y="185"/>
                    <a:pt x="110" y="178"/>
                    <a:pt x="110" y="170"/>
                  </a:cubicBezTo>
                  <a:cubicBezTo>
                    <a:pt x="110" y="170"/>
                    <a:pt x="110" y="170"/>
                    <a:pt x="110" y="170"/>
                  </a:cubicBezTo>
                  <a:cubicBezTo>
                    <a:pt x="110" y="170"/>
                    <a:pt x="110" y="170"/>
                    <a:pt x="110" y="170"/>
                  </a:cubicBezTo>
                  <a:cubicBezTo>
                    <a:pt x="110" y="25"/>
                    <a:pt x="110" y="25"/>
                    <a:pt x="110" y="25"/>
                  </a:cubicBezTo>
                  <a:cubicBezTo>
                    <a:pt x="110" y="25"/>
                    <a:pt x="110" y="25"/>
                    <a:pt x="110" y="25"/>
                  </a:cubicBezTo>
                  <a:cubicBezTo>
                    <a:pt x="110" y="25"/>
                    <a:pt x="110" y="25"/>
                    <a:pt x="110" y="25"/>
                  </a:cubicBezTo>
                  <a:close/>
                  <a:moveTo>
                    <a:pt x="80" y="86"/>
                  </a:moveTo>
                  <a:cubicBezTo>
                    <a:pt x="80" y="86"/>
                    <a:pt x="80" y="86"/>
                    <a:pt x="80" y="86"/>
                  </a:cubicBezTo>
                  <a:cubicBezTo>
                    <a:pt x="80" y="86"/>
                    <a:pt x="80" y="86"/>
                    <a:pt x="80" y="86"/>
                  </a:cubicBezTo>
                  <a:close/>
                  <a:moveTo>
                    <a:pt x="89" y="141"/>
                  </a:moveTo>
                  <a:cubicBezTo>
                    <a:pt x="89" y="141"/>
                    <a:pt x="89" y="141"/>
                    <a:pt x="89" y="141"/>
                  </a:cubicBezTo>
                  <a:cubicBezTo>
                    <a:pt x="89" y="141"/>
                    <a:pt x="89" y="141"/>
                    <a:pt x="89" y="141"/>
                  </a:cubicBezTo>
                  <a:close/>
                  <a:moveTo>
                    <a:pt x="30" y="71"/>
                  </a:moveTo>
                  <a:cubicBezTo>
                    <a:pt x="36" y="77"/>
                    <a:pt x="43" y="80"/>
                    <a:pt x="52" y="80"/>
                  </a:cubicBezTo>
                  <a:cubicBezTo>
                    <a:pt x="54" y="80"/>
                    <a:pt x="56" y="80"/>
                    <a:pt x="57" y="78"/>
                  </a:cubicBezTo>
                  <a:cubicBezTo>
                    <a:pt x="58" y="77"/>
                    <a:pt x="59" y="75"/>
                    <a:pt x="59" y="73"/>
                  </a:cubicBezTo>
                  <a:cubicBezTo>
                    <a:pt x="59" y="71"/>
                    <a:pt x="58" y="69"/>
                    <a:pt x="57" y="68"/>
                  </a:cubicBezTo>
                  <a:cubicBezTo>
                    <a:pt x="56" y="67"/>
                    <a:pt x="54" y="66"/>
                    <a:pt x="52" y="66"/>
                  </a:cubicBezTo>
                  <a:cubicBezTo>
                    <a:pt x="48" y="66"/>
                    <a:pt x="44" y="64"/>
                    <a:pt x="41" y="62"/>
                  </a:cubicBezTo>
                  <a:cubicBezTo>
                    <a:pt x="40" y="61"/>
                    <a:pt x="40" y="60"/>
                    <a:pt x="39" y="59"/>
                  </a:cubicBezTo>
                  <a:cubicBezTo>
                    <a:pt x="37" y="57"/>
                    <a:pt x="36" y="53"/>
                    <a:pt x="36" y="50"/>
                  </a:cubicBezTo>
                  <a:cubicBezTo>
                    <a:pt x="36" y="41"/>
                    <a:pt x="43" y="34"/>
                    <a:pt x="52" y="34"/>
                  </a:cubicBezTo>
                  <a:cubicBezTo>
                    <a:pt x="55" y="34"/>
                    <a:pt x="59" y="35"/>
                    <a:pt x="62" y="37"/>
                  </a:cubicBezTo>
                  <a:cubicBezTo>
                    <a:pt x="66" y="45"/>
                    <a:pt x="75" y="51"/>
                    <a:pt x="84" y="51"/>
                  </a:cubicBezTo>
                  <a:cubicBezTo>
                    <a:pt x="84" y="51"/>
                    <a:pt x="84" y="51"/>
                    <a:pt x="84" y="51"/>
                  </a:cubicBezTo>
                  <a:cubicBezTo>
                    <a:pt x="86" y="51"/>
                    <a:pt x="88" y="50"/>
                    <a:pt x="90" y="49"/>
                  </a:cubicBezTo>
                  <a:cubicBezTo>
                    <a:pt x="91" y="48"/>
                    <a:pt x="92" y="46"/>
                    <a:pt x="92" y="44"/>
                  </a:cubicBezTo>
                  <a:cubicBezTo>
                    <a:pt x="92" y="42"/>
                    <a:pt x="91" y="40"/>
                    <a:pt x="90" y="39"/>
                  </a:cubicBezTo>
                  <a:cubicBezTo>
                    <a:pt x="88" y="37"/>
                    <a:pt x="86" y="37"/>
                    <a:pt x="84" y="37"/>
                  </a:cubicBezTo>
                  <a:cubicBezTo>
                    <a:pt x="78" y="37"/>
                    <a:pt x="73" y="32"/>
                    <a:pt x="73" y="25"/>
                  </a:cubicBezTo>
                  <a:cubicBezTo>
                    <a:pt x="73" y="19"/>
                    <a:pt x="78" y="14"/>
                    <a:pt x="84" y="14"/>
                  </a:cubicBezTo>
                  <a:cubicBezTo>
                    <a:pt x="91" y="14"/>
                    <a:pt x="96" y="19"/>
                    <a:pt x="96" y="25"/>
                  </a:cubicBezTo>
                  <a:cubicBezTo>
                    <a:pt x="96" y="25"/>
                    <a:pt x="96" y="25"/>
                    <a:pt x="96" y="25"/>
                  </a:cubicBezTo>
                  <a:cubicBezTo>
                    <a:pt x="96" y="62"/>
                    <a:pt x="96" y="62"/>
                    <a:pt x="96" y="62"/>
                  </a:cubicBezTo>
                  <a:cubicBezTo>
                    <a:pt x="96" y="62"/>
                    <a:pt x="96" y="62"/>
                    <a:pt x="96" y="62"/>
                  </a:cubicBezTo>
                  <a:cubicBezTo>
                    <a:pt x="96" y="64"/>
                    <a:pt x="95" y="74"/>
                    <a:pt x="80" y="74"/>
                  </a:cubicBezTo>
                  <a:cubicBezTo>
                    <a:pt x="78" y="74"/>
                    <a:pt x="76" y="75"/>
                    <a:pt x="75" y="76"/>
                  </a:cubicBezTo>
                  <a:cubicBezTo>
                    <a:pt x="73" y="77"/>
                    <a:pt x="73" y="79"/>
                    <a:pt x="73" y="81"/>
                  </a:cubicBezTo>
                  <a:cubicBezTo>
                    <a:pt x="73" y="83"/>
                    <a:pt x="73" y="85"/>
                    <a:pt x="75" y="86"/>
                  </a:cubicBezTo>
                  <a:cubicBezTo>
                    <a:pt x="76" y="87"/>
                    <a:pt x="78" y="88"/>
                    <a:pt x="80" y="88"/>
                  </a:cubicBezTo>
                  <a:cubicBezTo>
                    <a:pt x="80" y="88"/>
                    <a:pt x="80" y="88"/>
                    <a:pt x="80" y="88"/>
                  </a:cubicBezTo>
                  <a:cubicBezTo>
                    <a:pt x="86" y="88"/>
                    <a:pt x="92" y="87"/>
                    <a:pt x="96" y="85"/>
                  </a:cubicBezTo>
                  <a:cubicBezTo>
                    <a:pt x="96" y="125"/>
                    <a:pt x="96" y="125"/>
                    <a:pt x="96" y="125"/>
                  </a:cubicBezTo>
                  <a:cubicBezTo>
                    <a:pt x="95" y="127"/>
                    <a:pt x="92" y="130"/>
                    <a:pt x="89" y="130"/>
                  </a:cubicBezTo>
                  <a:cubicBezTo>
                    <a:pt x="87" y="130"/>
                    <a:pt x="85" y="130"/>
                    <a:pt x="84" y="132"/>
                  </a:cubicBezTo>
                  <a:cubicBezTo>
                    <a:pt x="83" y="133"/>
                    <a:pt x="82" y="135"/>
                    <a:pt x="82" y="137"/>
                  </a:cubicBezTo>
                  <a:cubicBezTo>
                    <a:pt x="82" y="139"/>
                    <a:pt x="83" y="140"/>
                    <a:pt x="84" y="142"/>
                  </a:cubicBezTo>
                  <a:cubicBezTo>
                    <a:pt x="85" y="143"/>
                    <a:pt x="87" y="144"/>
                    <a:pt x="89" y="144"/>
                  </a:cubicBezTo>
                  <a:cubicBezTo>
                    <a:pt x="89" y="144"/>
                    <a:pt x="89" y="144"/>
                    <a:pt x="89" y="144"/>
                  </a:cubicBezTo>
                  <a:cubicBezTo>
                    <a:pt x="92" y="144"/>
                    <a:pt x="94" y="143"/>
                    <a:pt x="96" y="143"/>
                  </a:cubicBezTo>
                  <a:cubicBezTo>
                    <a:pt x="96" y="169"/>
                    <a:pt x="96" y="169"/>
                    <a:pt x="96" y="169"/>
                  </a:cubicBezTo>
                  <a:cubicBezTo>
                    <a:pt x="96" y="174"/>
                    <a:pt x="94" y="178"/>
                    <a:pt x="91" y="181"/>
                  </a:cubicBezTo>
                  <a:cubicBezTo>
                    <a:pt x="88" y="184"/>
                    <a:pt x="84" y="185"/>
                    <a:pt x="80" y="185"/>
                  </a:cubicBezTo>
                  <a:cubicBezTo>
                    <a:pt x="76" y="185"/>
                    <a:pt x="71" y="184"/>
                    <a:pt x="68" y="181"/>
                  </a:cubicBezTo>
                  <a:cubicBezTo>
                    <a:pt x="62" y="174"/>
                    <a:pt x="62" y="164"/>
                    <a:pt x="68" y="158"/>
                  </a:cubicBezTo>
                  <a:cubicBezTo>
                    <a:pt x="70" y="156"/>
                    <a:pt x="71" y="155"/>
                    <a:pt x="71" y="153"/>
                  </a:cubicBezTo>
                  <a:cubicBezTo>
                    <a:pt x="71" y="151"/>
                    <a:pt x="70" y="149"/>
                    <a:pt x="68" y="148"/>
                  </a:cubicBezTo>
                  <a:cubicBezTo>
                    <a:pt x="66" y="145"/>
                    <a:pt x="61" y="145"/>
                    <a:pt x="58" y="148"/>
                  </a:cubicBezTo>
                  <a:cubicBezTo>
                    <a:pt x="53" y="153"/>
                    <a:pt x="50" y="159"/>
                    <a:pt x="50" y="167"/>
                  </a:cubicBezTo>
                  <a:cubicBezTo>
                    <a:pt x="44" y="166"/>
                    <a:pt x="38" y="163"/>
                    <a:pt x="34" y="159"/>
                  </a:cubicBezTo>
                  <a:cubicBezTo>
                    <a:pt x="29" y="154"/>
                    <a:pt x="27" y="148"/>
                    <a:pt x="27" y="141"/>
                  </a:cubicBezTo>
                  <a:cubicBezTo>
                    <a:pt x="27" y="135"/>
                    <a:pt x="29" y="128"/>
                    <a:pt x="34" y="123"/>
                  </a:cubicBezTo>
                  <a:cubicBezTo>
                    <a:pt x="39" y="119"/>
                    <a:pt x="45" y="116"/>
                    <a:pt x="52" y="116"/>
                  </a:cubicBezTo>
                  <a:cubicBezTo>
                    <a:pt x="59" y="116"/>
                    <a:pt x="65" y="119"/>
                    <a:pt x="70" y="123"/>
                  </a:cubicBezTo>
                  <a:cubicBezTo>
                    <a:pt x="71" y="125"/>
                    <a:pt x="73" y="126"/>
                    <a:pt x="75" y="126"/>
                  </a:cubicBezTo>
                  <a:cubicBezTo>
                    <a:pt x="77" y="126"/>
                    <a:pt x="79" y="125"/>
                    <a:pt x="80" y="123"/>
                  </a:cubicBezTo>
                  <a:cubicBezTo>
                    <a:pt x="81" y="122"/>
                    <a:pt x="82" y="120"/>
                    <a:pt x="82" y="118"/>
                  </a:cubicBezTo>
                  <a:cubicBezTo>
                    <a:pt x="82" y="116"/>
                    <a:pt x="81" y="115"/>
                    <a:pt x="80" y="113"/>
                  </a:cubicBezTo>
                  <a:cubicBezTo>
                    <a:pt x="73" y="106"/>
                    <a:pt x="63" y="102"/>
                    <a:pt x="52" y="102"/>
                  </a:cubicBezTo>
                  <a:cubicBezTo>
                    <a:pt x="43" y="102"/>
                    <a:pt x="34" y="105"/>
                    <a:pt x="27" y="111"/>
                  </a:cubicBezTo>
                  <a:cubicBezTo>
                    <a:pt x="20" y="107"/>
                    <a:pt x="14" y="100"/>
                    <a:pt x="14" y="91"/>
                  </a:cubicBezTo>
                  <a:cubicBezTo>
                    <a:pt x="14" y="82"/>
                    <a:pt x="21" y="74"/>
                    <a:pt x="30" y="71"/>
                  </a:cubicBezTo>
                  <a:close/>
                  <a:moveTo>
                    <a:pt x="80" y="197"/>
                  </a:moveTo>
                  <a:cubicBezTo>
                    <a:pt x="80" y="197"/>
                    <a:pt x="80" y="197"/>
                    <a:pt x="80" y="197"/>
                  </a:cubicBezTo>
                  <a:cubicBezTo>
                    <a:pt x="80" y="197"/>
                    <a:pt x="80" y="197"/>
                    <a:pt x="80" y="197"/>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noProof="0">
                <a:ln>
                  <a:noFill/>
                </a:ln>
                <a:solidFill>
                  <a:srgbClr val="1D1D1A"/>
                </a:solidFill>
                <a:effectLst/>
                <a:uLnTx/>
                <a:uFillTx/>
                <a:latin typeface="Huawei Sans" panose="020C0503030203020204" pitchFamily="34" charset="0"/>
                <a:ea typeface="方正兰亭黑简体" panose="02000000000000000000" pitchFamily="2" charset="-122"/>
              </a:endParaRPr>
            </a:p>
          </p:txBody>
        </p:sp>
      </p:grpSp>
      <p:cxnSp>
        <p:nvCxnSpPr>
          <p:cNvPr id="130" name="Straight Connector 129">
            <a:extLst>
              <a:ext uri="{FF2B5EF4-FFF2-40B4-BE49-F238E27FC236}">
                <a16:creationId xmlns="" xmlns:a16="http://schemas.microsoft.com/office/drawing/2014/main" id="{403E5DD8-F811-4CB5-9D08-B47E9BD092C5}"/>
              </a:ext>
            </a:extLst>
          </p:cNvPr>
          <p:cNvCxnSpPr>
            <a:cxnSpLocks/>
            <a:stCxn id="77" idx="3"/>
          </p:cNvCxnSpPr>
          <p:nvPr/>
        </p:nvCxnSpPr>
        <p:spPr bwMode="gray">
          <a:xfrm flipV="1">
            <a:off x="9893309" y="3055567"/>
            <a:ext cx="734304" cy="666640"/>
          </a:xfrm>
          <a:prstGeom prst="line">
            <a:avLst/>
          </a:prstGeom>
          <a:ln w="19050">
            <a:solidFill>
              <a:srgbClr val="FFC000"/>
            </a:solidFill>
            <a:prstDash val="solid"/>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 xmlns:a16="http://schemas.microsoft.com/office/drawing/2014/main" id="{5E31EAEF-0F4A-42A7-8741-BCF6B728569D}"/>
              </a:ext>
            </a:extLst>
          </p:cNvPr>
          <p:cNvSpPr txBox="1"/>
          <p:nvPr/>
        </p:nvSpPr>
        <p:spPr bwMode="gray">
          <a:xfrm>
            <a:off x="10129630" y="2414562"/>
            <a:ext cx="10134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网管</a:t>
            </a:r>
            <a:r>
              <a:rPr lang="en-US" altLang="zh-CN" sz="1200" dirty="0">
                <a:latin typeface="Huawei Sans" panose="020C0503030203020204" pitchFamily="34" charset="0"/>
                <a:ea typeface="方正兰亭黑简体" panose="02000000000000000000" pitchFamily="2" charset="-122"/>
              </a:rPr>
              <a:t>/</a:t>
            </a:r>
            <a:r>
              <a:rPr lang="zh-CN" altLang="en-US" sz="1200" dirty="0">
                <a:latin typeface="Huawei Sans" panose="020C0503030203020204" pitchFamily="34" charset="0"/>
                <a:ea typeface="方正兰亭黑简体" panose="02000000000000000000" pitchFamily="2" charset="-122"/>
              </a:rPr>
              <a:t>控制器</a:t>
            </a:r>
            <a:endParaRPr lang="en-US" sz="1200" dirty="0">
              <a:latin typeface="Huawei Sans" panose="020C0503030203020204" pitchFamily="34" charset="0"/>
              <a:ea typeface="方正兰亭黑简体" panose="02000000000000000000" pitchFamily="2" charset="-122"/>
            </a:endParaRPr>
          </a:p>
        </p:txBody>
      </p:sp>
      <p:pic>
        <p:nvPicPr>
          <p:cNvPr id="155" name="图片 63" descr="笔记本电脑.png">
            <a:extLst>
              <a:ext uri="{FF2B5EF4-FFF2-40B4-BE49-F238E27FC236}">
                <a16:creationId xmlns="" xmlns:a16="http://schemas.microsoft.com/office/drawing/2014/main" id="{AB3D921F-1788-4A54-AEFE-F4911EEDCF2E}"/>
              </a:ext>
            </a:extLst>
          </p:cNvPr>
          <p:cNvPicPr>
            <a:picLocks noChangeAspect="1"/>
          </p:cNvPicPr>
          <p:nvPr/>
        </p:nvPicPr>
        <p:blipFill>
          <a:blip r:embed="rId6" cstate="print"/>
          <a:stretch>
            <a:fillRect/>
          </a:stretch>
        </p:blipFill>
        <p:spPr bwMode="gray">
          <a:xfrm>
            <a:off x="7445445" y="5597156"/>
            <a:ext cx="449768" cy="281970"/>
          </a:xfrm>
          <a:prstGeom prst="rect">
            <a:avLst/>
          </a:prstGeom>
        </p:spPr>
      </p:pic>
      <p:pic>
        <p:nvPicPr>
          <p:cNvPr id="156" name="图片 63" descr="笔记本电脑.png">
            <a:extLst>
              <a:ext uri="{FF2B5EF4-FFF2-40B4-BE49-F238E27FC236}">
                <a16:creationId xmlns="" xmlns:a16="http://schemas.microsoft.com/office/drawing/2014/main" id="{614B6F48-2EE1-4298-8AAA-0C5CE35D019A}"/>
              </a:ext>
            </a:extLst>
          </p:cNvPr>
          <p:cNvPicPr>
            <a:picLocks noChangeAspect="1"/>
          </p:cNvPicPr>
          <p:nvPr/>
        </p:nvPicPr>
        <p:blipFill>
          <a:blip r:embed="rId6" cstate="print"/>
          <a:stretch>
            <a:fillRect/>
          </a:stretch>
        </p:blipFill>
        <p:spPr bwMode="gray">
          <a:xfrm>
            <a:off x="8047613" y="5597156"/>
            <a:ext cx="449768" cy="281970"/>
          </a:xfrm>
          <a:prstGeom prst="rect">
            <a:avLst/>
          </a:prstGeom>
        </p:spPr>
      </p:pic>
      <p:pic>
        <p:nvPicPr>
          <p:cNvPr id="157" name="图片 63" descr="笔记本电脑.png">
            <a:extLst>
              <a:ext uri="{FF2B5EF4-FFF2-40B4-BE49-F238E27FC236}">
                <a16:creationId xmlns="" xmlns:a16="http://schemas.microsoft.com/office/drawing/2014/main" id="{88AF4CD5-FAF1-498B-BAEC-65A080D5AC3F}"/>
              </a:ext>
            </a:extLst>
          </p:cNvPr>
          <p:cNvPicPr>
            <a:picLocks noChangeAspect="1"/>
          </p:cNvPicPr>
          <p:nvPr/>
        </p:nvPicPr>
        <p:blipFill>
          <a:blip r:embed="rId6" cstate="print"/>
          <a:stretch>
            <a:fillRect/>
          </a:stretch>
        </p:blipFill>
        <p:spPr bwMode="gray">
          <a:xfrm>
            <a:off x="8600582" y="5597156"/>
            <a:ext cx="449768" cy="281970"/>
          </a:xfrm>
          <a:prstGeom prst="rect">
            <a:avLst/>
          </a:prstGeom>
        </p:spPr>
      </p:pic>
      <p:sp>
        <p:nvSpPr>
          <p:cNvPr id="12" name="Freeform: Shape 11">
            <a:extLst>
              <a:ext uri="{FF2B5EF4-FFF2-40B4-BE49-F238E27FC236}">
                <a16:creationId xmlns="" xmlns:a16="http://schemas.microsoft.com/office/drawing/2014/main" id="{ECED7657-EC50-41EC-8223-9C284E49C142}"/>
              </a:ext>
            </a:extLst>
          </p:cNvPr>
          <p:cNvSpPr/>
          <p:nvPr/>
        </p:nvSpPr>
        <p:spPr bwMode="gray">
          <a:xfrm>
            <a:off x="6491829" y="2351511"/>
            <a:ext cx="1796936" cy="3257550"/>
          </a:xfrm>
          <a:custGeom>
            <a:avLst/>
            <a:gdLst>
              <a:gd name="connsiteX0" fmla="*/ 0 w 1991360"/>
              <a:gd name="connsiteY0" fmla="*/ 0 h 3257550"/>
              <a:gd name="connsiteX1" fmla="*/ 619125 w 1991360"/>
              <a:gd name="connsiteY1" fmla="*/ 704850 h 3257550"/>
              <a:gd name="connsiteX2" fmla="*/ 676275 w 1991360"/>
              <a:gd name="connsiteY2" fmla="*/ 1657350 h 3257550"/>
              <a:gd name="connsiteX3" fmla="*/ 1800225 w 1991360"/>
              <a:gd name="connsiteY3" fmla="*/ 2886075 h 3257550"/>
              <a:gd name="connsiteX4" fmla="*/ 1981200 w 1991360"/>
              <a:gd name="connsiteY4" fmla="*/ 3257550 h 3257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360" h="3257550">
                <a:moveTo>
                  <a:pt x="0" y="0"/>
                </a:moveTo>
                <a:cubicBezTo>
                  <a:pt x="253206" y="214312"/>
                  <a:pt x="506413" y="428625"/>
                  <a:pt x="619125" y="704850"/>
                </a:cubicBezTo>
                <a:cubicBezTo>
                  <a:pt x="731838" y="981075"/>
                  <a:pt x="479425" y="1293812"/>
                  <a:pt x="676275" y="1657350"/>
                </a:cubicBezTo>
                <a:cubicBezTo>
                  <a:pt x="873125" y="2020888"/>
                  <a:pt x="1582738" y="2619375"/>
                  <a:pt x="1800225" y="2886075"/>
                </a:cubicBezTo>
                <a:cubicBezTo>
                  <a:pt x="2017712" y="3152775"/>
                  <a:pt x="1999456" y="3205162"/>
                  <a:pt x="1981200" y="3257550"/>
                </a:cubicBezTo>
              </a:path>
            </a:pathLst>
          </a:custGeom>
          <a:noFill/>
          <a:ln w="28575" cap="flat" cmpd="sng">
            <a:solidFill>
              <a:srgbClr val="81C15F"/>
            </a:solidFill>
            <a:prstDash val="sysDot"/>
            <a:headEnd type="none" w="med" len="med"/>
            <a:tailEnd type="triangle" w="med" len="med"/>
          </a:ln>
        </p:spPr>
        <p:txBody>
          <a:bodyPr rtlCol="0" anchor="ctr"/>
          <a:lstStyle/>
          <a:p>
            <a:pPr algn="ctr"/>
            <a:endParaRPr lang="en-US"/>
          </a:p>
        </p:txBody>
      </p:sp>
      <p:sp>
        <p:nvSpPr>
          <p:cNvPr id="16" name="Freeform: Shape 15">
            <a:extLst>
              <a:ext uri="{FF2B5EF4-FFF2-40B4-BE49-F238E27FC236}">
                <a16:creationId xmlns="" xmlns:a16="http://schemas.microsoft.com/office/drawing/2014/main" id="{C3F1425B-A4EC-45D4-A8CD-47D6873B830A}"/>
              </a:ext>
            </a:extLst>
          </p:cNvPr>
          <p:cNvSpPr/>
          <p:nvPr/>
        </p:nvSpPr>
        <p:spPr bwMode="gray">
          <a:xfrm>
            <a:off x="6392907" y="2367952"/>
            <a:ext cx="1574378" cy="3200400"/>
          </a:xfrm>
          <a:custGeom>
            <a:avLst/>
            <a:gdLst>
              <a:gd name="connsiteX0" fmla="*/ 0 w 1644714"/>
              <a:gd name="connsiteY0" fmla="*/ 0 h 3200400"/>
              <a:gd name="connsiteX1" fmla="*/ 533400 w 1644714"/>
              <a:gd name="connsiteY1" fmla="*/ 733425 h 3200400"/>
              <a:gd name="connsiteX2" fmla="*/ 590550 w 1644714"/>
              <a:gd name="connsiteY2" fmla="*/ 1647825 h 3200400"/>
              <a:gd name="connsiteX3" fmla="*/ 1600200 w 1644714"/>
              <a:gd name="connsiteY3" fmla="*/ 2800350 h 3200400"/>
              <a:gd name="connsiteX4" fmla="*/ 1371600 w 1644714"/>
              <a:gd name="connsiteY4" fmla="*/ 3200400 h 320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4714" h="3200400">
                <a:moveTo>
                  <a:pt x="0" y="0"/>
                </a:moveTo>
                <a:cubicBezTo>
                  <a:pt x="217487" y="229394"/>
                  <a:pt x="434975" y="458788"/>
                  <a:pt x="533400" y="733425"/>
                </a:cubicBezTo>
                <a:cubicBezTo>
                  <a:pt x="631825" y="1008062"/>
                  <a:pt x="412750" y="1303338"/>
                  <a:pt x="590550" y="1647825"/>
                </a:cubicBezTo>
                <a:cubicBezTo>
                  <a:pt x="768350" y="1992312"/>
                  <a:pt x="1470025" y="2541588"/>
                  <a:pt x="1600200" y="2800350"/>
                </a:cubicBezTo>
                <a:cubicBezTo>
                  <a:pt x="1730375" y="3059112"/>
                  <a:pt x="1550987" y="3129756"/>
                  <a:pt x="1371600" y="3200400"/>
                </a:cubicBezTo>
              </a:path>
            </a:pathLst>
          </a:custGeom>
          <a:noFill/>
          <a:ln w="28575" cap="flat" cmpd="sng">
            <a:solidFill>
              <a:srgbClr val="F28944"/>
            </a:solidFill>
            <a:prstDash val="dashDot"/>
            <a:headEnd type="none" w="med" len="med"/>
            <a:tailEnd type="triangle" w="med" len="med"/>
          </a:ln>
        </p:spPr>
        <p:txBody>
          <a:bodyPr rtlCol="0" anchor="ctr"/>
          <a:lstStyle/>
          <a:p>
            <a:pPr algn="ctr"/>
            <a:endParaRPr lang="en-US"/>
          </a:p>
        </p:txBody>
      </p:sp>
      <p:sp>
        <p:nvSpPr>
          <p:cNvPr id="21" name="Freeform: Shape 20">
            <a:extLst>
              <a:ext uri="{FF2B5EF4-FFF2-40B4-BE49-F238E27FC236}">
                <a16:creationId xmlns="" xmlns:a16="http://schemas.microsoft.com/office/drawing/2014/main" id="{A5BDDD8C-BA86-44B7-A5C9-961E5DFE9A01}"/>
              </a:ext>
            </a:extLst>
          </p:cNvPr>
          <p:cNvSpPr/>
          <p:nvPr/>
        </p:nvSpPr>
        <p:spPr bwMode="gray">
          <a:xfrm>
            <a:off x="6602458" y="2339377"/>
            <a:ext cx="2679176" cy="3257550"/>
          </a:xfrm>
          <a:custGeom>
            <a:avLst/>
            <a:gdLst>
              <a:gd name="connsiteX0" fmla="*/ 0 w 2750182"/>
              <a:gd name="connsiteY0" fmla="*/ 0 h 3219450"/>
              <a:gd name="connsiteX1" fmla="*/ 895350 w 2750182"/>
              <a:gd name="connsiteY1" fmla="*/ 819150 h 3219450"/>
              <a:gd name="connsiteX2" fmla="*/ 2733675 w 2750182"/>
              <a:gd name="connsiteY2" fmla="*/ 1590675 h 3219450"/>
              <a:gd name="connsiteX3" fmla="*/ 1819275 w 2750182"/>
              <a:gd name="connsiteY3" fmla="*/ 2562225 h 3219450"/>
              <a:gd name="connsiteX4" fmla="*/ 2152650 w 2750182"/>
              <a:gd name="connsiteY4" fmla="*/ 3219450 h 3219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0182" h="3219450">
                <a:moveTo>
                  <a:pt x="0" y="0"/>
                </a:moveTo>
                <a:cubicBezTo>
                  <a:pt x="219869" y="277019"/>
                  <a:pt x="439738" y="554038"/>
                  <a:pt x="895350" y="819150"/>
                </a:cubicBezTo>
                <a:cubicBezTo>
                  <a:pt x="1350963" y="1084263"/>
                  <a:pt x="2579688" y="1300163"/>
                  <a:pt x="2733675" y="1590675"/>
                </a:cubicBezTo>
                <a:cubicBezTo>
                  <a:pt x="2887662" y="1881187"/>
                  <a:pt x="1916113" y="2290763"/>
                  <a:pt x="1819275" y="2562225"/>
                </a:cubicBezTo>
                <a:cubicBezTo>
                  <a:pt x="1722438" y="2833688"/>
                  <a:pt x="1937544" y="3026569"/>
                  <a:pt x="2152650" y="3219450"/>
                </a:cubicBezTo>
              </a:path>
            </a:pathLst>
          </a:custGeom>
          <a:noFill/>
          <a:ln w="28575" cap="flat" cmpd="sng">
            <a:solidFill>
              <a:srgbClr val="E28189"/>
            </a:solidFill>
            <a:headEnd type="none" w="med" len="med"/>
            <a:tailEnd type="triangle" w="med" len="med"/>
          </a:ln>
        </p:spPr>
        <p:txBody>
          <a:bodyPr rtlCol="0" anchor="ctr"/>
          <a:lstStyle/>
          <a:p>
            <a:pPr algn="ctr"/>
            <a:endParaRPr lang="en-US"/>
          </a:p>
        </p:txBody>
      </p:sp>
      <p:sp>
        <p:nvSpPr>
          <p:cNvPr id="23" name="Freeform: Shape 22">
            <a:extLst>
              <a:ext uri="{FF2B5EF4-FFF2-40B4-BE49-F238E27FC236}">
                <a16:creationId xmlns="" xmlns:a16="http://schemas.microsoft.com/office/drawing/2014/main" id="{394B07BE-F790-44BA-B9E6-C7576E71F037}"/>
              </a:ext>
            </a:extLst>
          </p:cNvPr>
          <p:cNvSpPr/>
          <p:nvPr/>
        </p:nvSpPr>
        <p:spPr bwMode="gray">
          <a:xfrm>
            <a:off x="6631032" y="2310802"/>
            <a:ext cx="3001526" cy="3257550"/>
          </a:xfrm>
          <a:custGeom>
            <a:avLst/>
            <a:gdLst>
              <a:gd name="connsiteX0" fmla="*/ 0 w 3001526"/>
              <a:gd name="connsiteY0" fmla="*/ 0 h 3257550"/>
              <a:gd name="connsiteX1" fmla="*/ 1171575 w 3001526"/>
              <a:gd name="connsiteY1" fmla="*/ 828675 h 3257550"/>
              <a:gd name="connsiteX2" fmla="*/ 2781300 w 3001526"/>
              <a:gd name="connsiteY2" fmla="*/ 990600 h 3257550"/>
              <a:gd name="connsiteX3" fmla="*/ 2905125 w 3001526"/>
              <a:gd name="connsiteY3" fmla="*/ 1800225 h 3257550"/>
              <a:gd name="connsiteX4" fmla="*/ 2009775 w 3001526"/>
              <a:gd name="connsiteY4" fmla="*/ 2781300 h 3257550"/>
              <a:gd name="connsiteX5" fmla="*/ 2200275 w 3001526"/>
              <a:gd name="connsiteY5" fmla="*/ 3257550 h 325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01526" h="3257550">
                <a:moveTo>
                  <a:pt x="0" y="0"/>
                </a:moveTo>
                <a:cubicBezTo>
                  <a:pt x="354012" y="331787"/>
                  <a:pt x="708025" y="663575"/>
                  <a:pt x="1171575" y="828675"/>
                </a:cubicBezTo>
                <a:cubicBezTo>
                  <a:pt x="1635125" y="993775"/>
                  <a:pt x="2492375" y="828675"/>
                  <a:pt x="2781300" y="990600"/>
                </a:cubicBezTo>
                <a:cubicBezTo>
                  <a:pt x="3070225" y="1152525"/>
                  <a:pt x="3033713" y="1501775"/>
                  <a:pt x="2905125" y="1800225"/>
                </a:cubicBezTo>
                <a:cubicBezTo>
                  <a:pt x="2776537" y="2098675"/>
                  <a:pt x="2127250" y="2538413"/>
                  <a:pt x="2009775" y="2781300"/>
                </a:cubicBezTo>
                <a:cubicBezTo>
                  <a:pt x="1892300" y="3024188"/>
                  <a:pt x="2046287" y="3140869"/>
                  <a:pt x="2200275" y="3257550"/>
                </a:cubicBezTo>
              </a:path>
            </a:pathLst>
          </a:custGeom>
          <a:noFill/>
          <a:ln w="28575" cap="flat" cmpd="sng">
            <a:solidFill>
              <a:srgbClr val="E28189"/>
            </a:solidFill>
            <a:prstDash val="dash"/>
            <a:headEnd type="none" w="med" len="med"/>
            <a:tailEnd type="triangle" w="med" len="med"/>
          </a:ln>
        </p:spPr>
        <p:txBody>
          <a:bodyPr rtlCol="0" anchor="ctr"/>
          <a:lstStyle/>
          <a:p>
            <a:pPr algn="ctr"/>
            <a:endParaRPr lang="en-US"/>
          </a:p>
        </p:txBody>
      </p:sp>
      <p:sp>
        <p:nvSpPr>
          <p:cNvPr id="158" name="TextBox 157">
            <a:extLst>
              <a:ext uri="{FF2B5EF4-FFF2-40B4-BE49-F238E27FC236}">
                <a16:creationId xmlns="" xmlns:a16="http://schemas.microsoft.com/office/drawing/2014/main" id="{8F31327D-2A63-4D1B-8F77-17BF0E64A5A5}"/>
              </a:ext>
            </a:extLst>
          </p:cNvPr>
          <p:cNvSpPr txBox="1"/>
          <p:nvPr/>
        </p:nvSpPr>
        <p:spPr bwMode="gray">
          <a:xfrm>
            <a:off x="5859587" y="3450498"/>
            <a:ext cx="817422" cy="390056"/>
          </a:xfrm>
          <a:prstGeom prst="wedgeRectCallout">
            <a:avLst>
              <a:gd name="adj1" fmla="val 69485"/>
              <a:gd name="adj2" fmla="val -27268"/>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多业务隔离困难</a:t>
            </a:r>
          </a:p>
        </p:txBody>
      </p:sp>
      <p:sp>
        <p:nvSpPr>
          <p:cNvPr id="160" name="TextBox 159">
            <a:extLst>
              <a:ext uri="{FF2B5EF4-FFF2-40B4-BE49-F238E27FC236}">
                <a16:creationId xmlns="" xmlns:a16="http://schemas.microsoft.com/office/drawing/2014/main" id="{D6D0E492-C2CD-45A4-BDDD-460259CA858C}"/>
              </a:ext>
            </a:extLst>
          </p:cNvPr>
          <p:cNvSpPr txBox="1"/>
          <p:nvPr/>
        </p:nvSpPr>
        <p:spPr bwMode="gray">
          <a:xfrm>
            <a:off x="9121706" y="4402883"/>
            <a:ext cx="817422" cy="455563"/>
          </a:xfrm>
          <a:prstGeom prst="wedgeRectCallout">
            <a:avLst>
              <a:gd name="adj1" fmla="val -64519"/>
              <a:gd name="adj2" fmla="val -44362"/>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路径规划存在缺陷</a:t>
            </a:r>
          </a:p>
        </p:txBody>
      </p:sp>
      <p:sp>
        <p:nvSpPr>
          <p:cNvPr id="161" name="TextBox 160">
            <a:extLst>
              <a:ext uri="{FF2B5EF4-FFF2-40B4-BE49-F238E27FC236}">
                <a16:creationId xmlns="" xmlns:a16="http://schemas.microsoft.com/office/drawing/2014/main" id="{740B5C6D-46F1-4F17-A8FB-3FEAEF94B566}"/>
              </a:ext>
            </a:extLst>
          </p:cNvPr>
          <p:cNvSpPr txBox="1"/>
          <p:nvPr/>
        </p:nvSpPr>
        <p:spPr bwMode="gray">
          <a:xfrm>
            <a:off x="9779199" y="3765480"/>
            <a:ext cx="817422" cy="455563"/>
          </a:xfrm>
          <a:prstGeom prst="wedgeRectCallout">
            <a:avLst>
              <a:gd name="adj1" fmla="val -64519"/>
              <a:gd name="adj2" fmla="val -44362"/>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路径调优不够准确</a:t>
            </a:r>
          </a:p>
        </p:txBody>
      </p:sp>
      <p:grpSp>
        <p:nvGrpSpPr>
          <p:cNvPr id="162" name="组合 28">
            <a:extLst>
              <a:ext uri="{FF2B5EF4-FFF2-40B4-BE49-F238E27FC236}">
                <a16:creationId xmlns="" xmlns:a16="http://schemas.microsoft.com/office/drawing/2014/main" id="{E3B7A934-7B19-4BB5-8522-904A6817A775}"/>
              </a:ext>
            </a:extLst>
          </p:cNvPr>
          <p:cNvGrpSpPr>
            <a:grpSpLocks noChangeAspect="1"/>
          </p:cNvGrpSpPr>
          <p:nvPr/>
        </p:nvGrpSpPr>
        <p:grpSpPr bwMode="gray">
          <a:xfrm>
            <a:off x="8167570" y="3987797"/>
            <a:ext cx="206620" cy="206620"/>
            <a:chOff x="5076056" y="3356992"/>
            <a:chExt cx="436268" cy="436268"/>
          </a:xfrm>
        </p:grpSpPr>
        <p:sp>
          <p:nvSpPr>
            <p:cNvPr id="163" name="椭圆 27">
              <a:extLst>
                <a:ext uri="{FF2B5EF4-FFF2-40B4-BE49-F238E27FC236}">
                  <a16:creationId xmlns="" xmlns:a16="http://schemas.microsoft.com/office/drawing/2014/main" id="{51C78AF7-9291-4117-BC72-4F0B1E5C5A7B}"/>
                </a:ext>
              </a:extLst>
            </p:cNvPr>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禁止符 23">
              <a:extLst>
                <a:ext uri="{FF2B5EF4-FFF2-40B4-BE49-F238E27FC236}">
                  <a16:creationId xmlns="" xmlns:a16="http://schemas.microsoft.com/office/drawing/2014/main" id="{D8A365F6-9A28-467C-8359-3857E0289794}"/>
                </a:ext>
              </a:extLst>
            </p:cNvPr>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9" name="TextBox 168">
            <a:extLst>
              <a:ext uri="{FF2B5EF4-FFF2-40B4-BE49-F238E27FC236}">
                <a16:creationId xmlns="" xmlns:a16="http://schemas.microsoft.com/office/drawing/2014/main" id="{2FD80308-B8A3-4C63-9D27-E6144091E26E}"/>
              </a:ext>
            </a:extLst>
          </p:cNvPr>
          <p:cNvSpPr txBox="1"/>
          <p:nvPr/>
        </p:nvSpPr>
        <p:spPr bwMode="gray">
          <a:xfrm>
            <a:off x="7195006" y="3468852"/>
            <a:ext cx="950126" cy="563288"/>
          </a:xfrm>
          <a:prstGeom prst="wedgeRectCallout">
            <a:avLst>
              <a:gd name="adj1" fmla="val 62389"/>
              <a:gd name="adj2" fmla="val 3555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部分场景下网络无法快速收敛</a:t>
            </a:r>
          </a:p>
        </p:txBody>
      </p:sp>
      <p:sp>
        <p:nvSpPr>
          <p:cNvPr id="170" name="TextBox 169">
            <a:extLst>
              <a:ext uri="{FF2B5EF4-FFF2-40B4-BE49-F238E27FC236}">
                <a16:creationId xmlns="" xmlns:a16="http://schemas.microsoft.com/office/drawing/2014/main" id="{CFCCB585-C093-4E65-BB72-4D14AD578A65}"/>
              </a:ext>
            </a:extLst>
          </p:cNvPr>
          <p:cNvSpPr txBox="1"/>
          <p:nvPr/>
        </p:nvSpPr>
        <p:spPr bwMode="gray">
          <a:xfrm>
            <a:off x="10584474" y="3201218"/>
            <a:ext cx="965654" cy="455563"/>
          </a:xfrm>
          <a:prstGeom prst="wedgeRectCallout">
            <a:avLst>
              <a:gd name="adj1" fmla="val -34759"/>
              <a:gd name="adj2" fmla="val -7363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流量无法可视化运维</a:t>
            </a:r>
          </a:p>
        </p:txBody>
      </p:sp>
      <p:sp>
        <p:nvSpPr>
          <p:cNvPr id="172" name="TextBox 171">
            <a:extLst>
              <a:ext uri="{FF2B5EF4-FFF2-40B4-BE49-F238E27FC236}">
                <a16:creationId xmlns="" xmlns:a16="http://schemas.microsoft.com/office/drawing/2014/main" id="{8905E1F6-23ED-475D-A4E0-3699E9F39F5C}"/>
              </a:ext>
            </a:extLst>
          </p:cNvPr>
          <p:cNvSpPr txBox="1"/>
          <p:nvPr/>
        </p:nvSpPr>
        <p:spPr bwMode="gray">
          <a:xfrm>
            <a:off x="6096296" y="4351546"/>
            <a:ext cx="817422" cy="455563"/>
          </a:xfrm>
          <a:prstGeom prst="wedgeRectCallout">
            <a:avLst>
              <a:gd name="adj1" fmla="val 73739"/>
              <a:gd name="adj2" fmla="val -4661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流量路径部署困难</a:t>
            </a:r>
          </a:p>
        </p:txBody>
      </p:sp>
      <p:cxnSp>
        <p:nvCxnSpPr>
          <p:cNvPr id="5" name="Straight Arrow Connector 4">
            <a:extLst>
              <a:ext uri="{FF2B5EF4-FFF2-40B4-BE49-F238E27FC236}">
                <a16:creationId xmlns="" xmlns:a16="http://schemas.microsoft.com/office/drawing/2014/main" id="{F24CD6FA-F75C-4719-AB2F-108A12BBD9FD}"/>
              </a:ext>
            </a:extLst>
          </p:cNvPr>
          <p:cNvCxnSpPr>
            <a:cxnSpLocks/>
          </p:cNvCxnSpPr>
          <p:nvPr/>
        </p:nvCxnSpPr>
        <p:spPr bwMode="gray">
          <a:xfrm>
            <a:off x="9448363" y="5044857"/>
            <a:ext cx="707126" cy="0"/>
          </a:xfrm>
          <a:prstGeom prst="straightConnector1">
            <a:avLst/>
          </a:prstGeom>
          <a:noFill/>
          <a:ln w="28575" cap="flat" cmpd="sng">
            <a:solidFill>
              <a:srgbClr val="E28189"/>
            </a:solidFill>
            <a:headEnd type="none" w="med" len="med"/>
            <a:tailEnd type="triangle" w="med" len="med"/>
          </a:ln>
        </p:spPr>
      </p:cxnSp>
      <p:cxnSp>
        <p:nvCxnSpPr>
          <p:cNvPr id="61" name="Straight Arrow Connector 60">
            <a:extLst>
              <a:ext uri="{FF2B5EF4-FFF2-40B4-BE49-F238E27FC236}">
                <a16:creationId xmlns="" xmlns:a16="http://schemas.microsoft.com/office/drawing/2014/main" id="{14939ECC-6F94-4C4F-B4E1-932B8A52AC38}"/>
              </a:ext>
            </a:extLst>
          </p:cNvPr>
          <p:cNvCxnSpPr>
            <a:cxnSpLocks/>
          </p:cNvCxnSpPr>
          <p:nvPr/>
        </p:nvCxnSpPr>
        <p:spPr bwMode="gray">
          <a:xfrm>
            <a:off x="9448363" y="5286226"/>
            <a:ext cx="707126" cy="0"/>
          </a:xfrm>
          <a:prstGeom prst="straightConnector1">
            <a:avLst/>
          </a:prstGeom>
          <a:noFill/>
          <a:ln w="28575" cap="flat" cmpd="sng">
            <a:solidFill>
              <a:srgbClr val="E28189"/>
            </a:solidFill>
            <a:prstDash val="dash"/>
            <a:headEnd type="none" w="med" len="med"/>
            <a:tailEnd type="triangle" w="med" len="med"/>
          </a:ln>
        </p:spPr>
      </p:cxnSp>
      <p:cxnSp>
        <p:nvCxnSpPr>
          <p:cNvPr id="62" name="Straight Arrow Connector 61">
            <a:extLst>
              <a:ext uri="{FF2B5EF4-FFF2-40B4-BE49-F238E27FC236}">
                <a16:creationId xmlns="" xmlns:a16="http://schemas.microsoft.com/office/drawing/2014/main" id="{7DD53723-13D6-46FD-A6DA-527C79B8D64D}"/>
              </a:ext>
            </a:extLst>
          </p:cNvPr>
          <p:cNvCxnSpPr>
            <a:cxnSpLocks/>
          </p:cNvCxnSpPr>
          <p:nvPr/>
        </p:nvCxnSpPr>
        <p:spPr bwMode="gray">
          <a:xfrm>
            <a:off x="9448363" y="5527595"/>
            <a:ext cx="707126" cy="0"/>
          </a:xfrm>
          <a:prstGeom prst="straightConnector1">
            <a:avLst/>
          </a:prstGeom>
          <a:noFill/>
          <a:ln w="28575" cap="flat" cmpd="sng">
            <a:solidFill>
              <a:srgbClr val="F28944"/>
            </a:solidFill>
            <a:prstDash val="dashDot"/>
            <a:headEnd type="none" w="med" len="med"/>
            <a:tailEnd type="triangle" w="med" len="med"/>
          </a:ln>
        </p:spPr>
      </p:cxnSp>
      <p:cxnSp>
        <p:nvCxnSpPr>
          <p:cNvPr id="63" name="Straight Arrow Connector 62">
            <a:extLst>
              <a:ext uri="{FF2B5EF4-FFF2-40B4-BE49-F238E27FC236}">
                <a16:creationId xmlns="" xmlns:a16="http://schemas.microsoft.com/office/drawing/2014/main" id="{FBC3D8B6-A4CE-4A5D-A5F8-DD1C8603FEE1}"/>
              </a:ext>
            </a:extLst>
          </p:cNvPr>
          <p:cNvCxnSpPr>
            <a:cxnSpLocks/>
          </p:cNvCxnSpPr>
          <p:nvPr/>
        </p:nvCxnSpPr>
        <p:spPr bwMode="gray">
          <a:xfrm>
            <a:off x="9448363" y="5768964"/>
            <a:ext cx="707126" cy="0"/>
          </a:xfrm>
          <a:prstGeom prst="straightConnector1">
            <a:avLst/>
          </a:prstGeom>
          <a:noFill/>
          <a:ln w="28575" cap="flat" cmpd="sng">
            <a:solidFill>
              <a:srgbClr val="81C15F"/>
            </a:solidFill>
            <a:prstDash val="sysDot"/>
            <a:headEnd type="none" w="med" len="med"/>
            <a:tailEnd type="triangle" w="med" len="med"/>
          </a:ln>
        </p:spPr>
      </p:cxnSp>
      <p:sp>
        <p:nvSpPr>
          <p:cNvPr id="64" name="TextBox 63">
            <a:extLst>
              <a:ext uri="{FF2B5EF4-FFF2-40B4-BE49-F238E27FC236}">
                <a16:creationId xmlns="" xmlns:a16="http://schemas.microsoft.com/office/drawing/2014/main" id="{3EE6C536-7B77-465A-A8CB-12256DE2DCDD}"/>
              </a:ext>
            </a:extLst>
          </p:cNvPr>
          <p:cNvSpPr txBox="1"/>
          <p:nvPr/>
        </p:nvSpPr>
        <p:spPr bwMode="gray">
          <a:xfrm>
            <a:off x="10155489" y="4888543"/>
            <a:ext cx="134844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1</a:t>
            </a:r>
            <a:r>
              <a:rPr lang="zh-CN" altLang="en-US" sz="1200" dirty="0">
                <a:latin typeface="Huawei Sans" panose="020C0503030203020204" pitchFamily="34" charset="0"/>
                <a:ea typeface="方正兰亭黑简体" panose="02000000000000000000" pitchFamily="2" charset="-122"/>
              </a:rPr>
              <a:t>类业务转发路径</a:t>
            </a:r>
            <a:endParaRPr lang="en-US" sz="1200" dirty="0">
              <a:latin typeface="Huawei Sans" panose="020C0503030203020204" pitchFamily="34" charset="0"/>
              <a:ea typeface="方正兰亭黑简体" panose="02000000000000000000" pitchFamily="2" charset="-122"/>
            </a:endParaRPr>
          </a:p>
        </p:txBody>
      </p:sp>
      <p:sp>
        <p:nvSpPr>
          <p:cNvPr id="65" name="TextBox 64">
            <a:extLst>
              <a:ext uri="{FF2B5EF4-FFF2-40B4-BE49-F238E27FC236}">
                <a16:creationId xmlns="" xmlns:a16="http://schemas.microsoft.com/office/drawing/2014/main" id="{B8A0F53C-FB6E-472A-B195-8116A4C513DA}"/>
              </a:ext>
            </a:extLst>
          </p:cNvPr>
          <p:cNvSpPr txBox="1"/>
          <p:nvPr/>
        </p:nvSpPr>
        <p:spPr bwMode="gray">
          <a:xfrm>
            <a:off x="10155489" y="5147726"/>
            <a:ext cx="1656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1</a:t>
            </a:r>
            <a:r>
              <a:rPr lang="zh-CN" altLang="en-US" sz="1200" dirty="0">
                <a:latin typeface="Huawei Sans" panose="020C0503030203020204" pitchFamily="34" charset="0"/>
                <a:ea typeface="方正兰亭黑简体" panose="02000000000000000000" pitchFamily="2" charset="-122"/>
              </a:rPr>
              <a:t>类业务备份转发路径</a:t>
            </a:r>
            <a:endParaRPr lang="en-US" sz="1200" dirty="0">
              <a:latin typeface="Huawei Sans" panose="020C0503030203020204" pitchFamily="34" charset="0"/>
              <a:ea typeface="方正兰亭黑简体" panose="02000000000000000000" pitchFamily="2" charset="-122"/>
            </a:endParaRPr>
          </a:p>
        </p:txBody>
      </p:sp>
      <p:sp>
        <p:nvSpPr>
          <p:cNvPr id="70" name="TextBox 69">
            <a:extLst>
              <a:ext uri="{FF2B5EF4-FFF2-40B4-BE49-F238E27FC236}">
                <a16:creationId xmlns="" xmlns:a16="http://schemas.microsoft.com/office/drawing/2014/main" id="{52C7CBCF-4B1A-41D7-B794-CEAF1149F3F2}"/>
              </a:ext>
            </a:extLst>
          </p:cNvPr>
          <p:cNvSpPr txBox="1"/>
          <p:nvPr/>
        </p:nvSpPr>
        <p:spPr bwMode="gray">
          <a:xfrm>
            <a:off x="10155489" y="5387379"/>
            <a:ext cx="134844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2</a:t>
            </a:r>
            <a:r>
              <a:rPr lang="zh-CN" altLang="en-US" sz="1200" dirty="0">
                <a:latin typeface="Huawei Sans" panose="020C0503030203020204" pitchFamily="34" charset="0"/>
                <a:ea typeface="方正兰亭黑简体" panose="02000000000000000000" pitchFamily="2" charset="-122"/>
              </a:rPr>
              <a:t>类业务转发路径</a:t>
            </a:r>
            <a:endParaRPr lang="en-US" sz="1200" dirty="0">
              <a:latin typeface="Huawei Sans" panose="020C0503030203020204" pitchFamily="34" charset="0"/>
              <a:ea typeface="方正兰亭黑简体" panose="02000000000000000000" pitchFamily="2" charset="-122"/>
            </a:endParaRPr>
          </a:p>
        </p:txBody>
      </p:sp>
      <p:sp>
        <p:nvSpPr>
          <p:cNvPr id="71" name="TextBox 70">
            <a:extLst>
              <a:ext uri="{FF2B5EF4-FFF2-40B4-BE49-F238E27FC236}">
                <a16:creationId xmlns="" xmlns:a16="http://schemas.microsoft.com/office/drawing/2014/main" id="{CDA8B153-3623-4192-938F-48D09B467530}"/>
              </a:ext>
            </a:extLst>
          </p:cNvPr>
          <p:cNvSpPr txBox="1"/>
          <p:nvPr/>
        </p:nvSpPr>
        <p:spPr bwMode="gray">
          <a:xfrm>
            <a:off x="10155489" y="5630466"/>
            <a:ext cx="134844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3</a:t>
            </a:r>
            <a:r>
              <a:rPr lang="zh-CN" altLang="en-US" sz="1200" dirty="0">
                <a:latin typeface="Huawei Sans" panose="020C0503030203020204" pitchFamily="34" charset="0"/>
                <a:ea typeface="方正兰亭黑简体" panose="02000000000000000000" pitchFamily="2" charset="-122"/>
              </a:rPr>
              <a:t>类业务转发路径</a:t>
            </a:r>
            <a:endParaRPr lang="en-US" sz="120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438433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an 225">
            <a:extLst>
              <a:ext uri="{FF2B5EF4-FFF2-40B4-BE49-F238E27FC236}">
                <a16:creationId xmlns="" xmlns:a16="http://schemas.microsoft.com/office/drawing/2014/main" id="{DAEC3EC0-3A9F-4177-87A6-05767D819D90}"/>
              </a:ext>
            </a:extLst>
          </p:cNvPr>
          <p:cNvSpPr/>
          <p:nvPr/>
        </p:nvSpPr>
        <p:spPr bwMode="gray">
          <a:xfrm rot="5400000" flipH="1">
            <a:off x="8224216" y="5065451"/>
            <a:ext cx="1138660" cy="311510"/>
          </a:xfrm>
          <a:prstGeom prst="can">
            <a:avLst>
              <a:gd name="adj" fmla="val 40000"/>
            </a:avLst>
          </a:prstGeom>
          <a:solidFill>
            <a:srgbClr val="E28189">
              <a:alpha val="70000"/>
            </a:srgb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Can 225">
            <a:extLst>
              <a:ext uri="{FF2B5EF4-FFF2-40B4-BE49-F238E27FC236}">
                <a16:creationId xmlns="" xmlns:a16="http://schemas.microsoft.com/office/drawing/2014/main" id="{485DCEF4-94BD-4C75-B5D0-01E91C3EF94A}"/>
              </a:ext>
            </a:extLst>
          </p:cNvPr>
          <p:cNvSpPr/>
          <p:nvPr/>
        </p:nvSpPr>
        <p:spPr bwMode="gray">
          <a:xfrm rot="5400000" flipH="1">
            <a:off x="6553021" y="5061761"/>
            <a:ext cx="1138660" cy="311510"/>
          </a:xfrm>
          <a:prstGeom prst="can">
            <a:avLst>
              <a:gd name="adj" fmla="val 40000"/>
            </a:avLst>
          </a:prstGeom>
          <a:solidFill>
            <a:srgbClr val="E28189">
              <a:alpha val="70000"/>
            </a:srgb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平行四边形 670">
            <a:extLst>
              <a:ext uri="{FF2B5EF4-FFF2-40B4-BE49-F238E27FC236}">
                <a16:creationId xmlns="" xmlns:a16="http://schemas.microsoft.com/office/drawing/2014/main" id="{491B5C7B-CC29-4D2B-B415-08F06EC171A7}"/>
              </a:ext>
            </a:extLst>
          </p:cNvPr>
          <p:cNvSpPr/>
          <p:nvPr/>
        </p:nvSpPr>
        <p:spPr bwMode="gray">
          <a:xfrm>
            <a:off x="6964160" y="5051940"/>
            <a:ext cx="3654318" cy="318857"/>
          </a:xfrm>
          <a:prstGeom prst="parallelogram">
            <a:avLst>
              <a:gd name="adj" fmla="val 122271"/>
            </a:avLst>
          </a:prstGeom>
          <a:solidFill>
            <a:srgbClr val="AFD89C">
              <a:alpha val="50000"/>
            </a:srgbClr>
          </a:solidFill>
          <a:ln w="9525" cap="flat" cmpd="sng" algn="ctr">
            <a:noFill/>
            <a:prstDash val="solid"/>
            <a:round/>
            <a:headEnd type="none" w="med" len="med"/>
            <a:tailEnd type="none" w="med" len="med"/>
          </a:ln>
          <a:effectLst/>
        </p:spPr>
        <p:txBody>
          <a:bodyPr rtlCol="0" anchor="ctr"/>
          <a:lstStyle/>
          <a:p>
            <a:pPr algn="ctr">
              <a:buFont typeface="Wingdings" pitchFamily="2" charset="2"/>
              <a:buNone/>
              <a:defRPr/>
            </a:pPr>
            <a:endParaRPr lang="zh-CN" altLang="en-US" sz="8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平行四边形 671">
            <a:extLst>
              <a:ext uri="{FF2B5EF4-FFF2-40B4-BE49-F238E27FC236}">
                <a16:creationId xmlns="" xmlns:a16="http://schemas.microsoft.com/office/drawing/2014/main" id="{2B1F68EB-A7C6-4EA4-9A9A-214536B61C58}"/>
              </a:ext>
            </a:extLst>
          </p:cNvPr>
          <p:cNvSpPr/>
          <p:nvPr/>
        </p:nvSpPr>
        <p:spPr bwMode="gray">
          <a:xfrm>
            <a:off x="6964160" y="5499287"/>
            <a:ext cx="3654318" cy="318857"/>
          </a:xfrm>
          <a:prstGeom prst="parallelogram">
            <a:avLst>
              <a:gd name="adj" fmla="val 122271"/>
            </a:avLst>
          </a:prstGeom>
          <a:solidFill>
            <a:srgbClr val="94DAE2">
              <a:alpha val="50000"/>
            </a:srgbClr>
          </a:solidFill>
          <a:ln w="9525" cap="flat" cmpd="sng" algn="ctr">
            <a:noFill/>
            <a:prstDash val="solid"/>
            <a:round/>
            <a:headEnd type="none" w="med" len="med"/>
            <a:tailEnd type="none" w="med" len="med"/>
          </a:ln>
          <a:effectLst/>
        </p:spPr>
        <p:txBody>
          <a:bodyPr rtlCol="0" anchor="ctr"/>
          <a:lstStyle/>
          <a:p>
            <a:pPr algn="ctr">
              <a:buFont typeface="Wingdings" pitchFamily="2" charset="2"/>
              <a:buNone/>
              <a:defRPr/>
            </a:pPr>
            <a:endParaRPr lang="zh-CN" altLang="en-US" sz="8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平行四边形 675">
            <a:extLst>
              <a:ext uri="{FF2B5EF4-FFF2-40B4-BE49-F238E27FC236}">
                <a16:creationId xmlns="" xmlns:a16="http://schemas.microsoft.com/office/drawing/2014/main" id="{4378A8D6-75C2-45A2-ABD0-41878E0B112E}"/>
              </a:ext>
            </a:extLst>
          </p:cNvPr>
          <p:cNvSpPr/>
          <p:nvPr/>
        </p:nvSpPr>
        <p:spPr bwMode="gray">
          <a:xfrm>
            <a:off x="6964161" y="4660461"/>
            <a:ext cx="3654318" cy="318857"/>
          </a:xfrm>
          <a:prstGeom prst="parallelogram">
            <a:avLst>
              <a:gd name="adj" fmla="val 122271"/>
            </a:avLst>
          </a:prstGeom>
          <a:solidFill>
            <a:srgbClr val="FDE397">
              <a:alpha val="50000"/>
            </a:srgbClr>
          </a:solidFill>
          <a:ln w="9525" cap="flat" cmpd="sng" algn="ctr">
            <a:noFill/>
            <a:prstDash val="solid"/>
            <a:round/>
            <a:headEnd type="none" w="med" len="med"/>
            <a:tailEnd type="none" w="med" len="med"/>
          </a:ln>
          <a:effectLst/>
        </p:spPr>
        <p:txBody>
          <a:bodyPr rtlCol="0" anchor="ctr"/>
          <a:lstStyle/>
          <a:p>
            <a:pPr algn="ctr">
              <a:buFont typeface="Wingdings" pitchFamily="2" charset="2"/>
              <a:buNone/>
              <a:defRPr/>
            </a:pPr>
            <a:endParaRPr lang="zh-CN" altLang="en-US" sz="8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a:extLst>
              <a:ext uri="{FF2B5EF4-FFF2-40B4-BE49-F238E27FC236}">
                <a16:creationId xmlns="" xmlns:a16="http://schemas.microsoft.com/office/drawing/2014/main" id="{C68A4A77-1EB5-4388-AF5A-F134A90B9252}"/>
              </a:ext>
            </a:extLst>
          </p:cNvPr>
          <p:cNvSpPr>
            <a:spLocks noGrp="1"/>
          </p:cNvSpPr>
          <p:nvPr>
            <p:ph type="title"/>
          </p:nvPr>
        </p:nvSpPr>
        <p:spPr bwMode="gray"/>
        <p:txBody>
          <a:bodyPr/>
          <a:lstStyle/>
          <a:p>
            <a:r>
              <a:rPr lang="zh-CN" altLang="en-US" dirty="0"/>
              <a:t>应对企业广域承载网的挑战</a:t>
            </a:r>
            <a:endParaRPr lang="en-US" dirty="0"/>
          </a:p>
        </p:txBody>
      </p:sp>
      <p:sp>
        <p:nvSpPr>
          <p:cNvPr id="3" name="Text Placeholder 2">
            <a:extLst>
              <a:ext uri="{FF2B5EF4-FFF2-40B4-BE49-F238E27FC236}">
                <a16:creationId xmlns="" xmlns:a16="http://schemas.microsoft.com/office/drawing/2014/main" id="{CA556977-AC7B-429C-8B33-C90DF5F1494F}"/>
              </a:ext>
            </a:extLst>
          </p:cNvPr>
          <p:cNvSpPr>
            <a:spLocks noGrp="1"/>
          </p:cNvSpPr>
          <p:nvPr>
            <p:ph type="body" sz="quarter" idx="10"/>
          </p:nvPr>
        </p:nvSpPr>
        <p:spPr bwMode="gray">
          <a:xfrm>
            <a:off x="455613" y="1047750"/>
            <a:ext cx="5640388" cy="4879805"/>
          </a:xfrm>
        </p:spPr>
        <p:txBody>
          <a:bodyPr/>
          <a:lstStyle/>
          <a:p>
            <a:r>
              <a:rPr lang="zh-CN" altLang="en-US" sz="1800" dirty="0"/>
              <a:t>面对挑战华为推出了云广域网络解决方案：</a:t>
            </a:r>
            <a:endParaRPr lang="en-US" altLang="zh-CN" sz="1800" dirty="0"/>
          </a:p>
          <a:p>
            <a:pPr lvl="1"/>
            <a:r>
              <a:rPr lang="zh-CN" altLang="en-US" sz="1600" dirty="0"/>
              <a:t>多业务隔离困难</a:t>
            </a:r>
            <a:endParaRPr lang="en-US" altLang="zh-CN" sz="1600" dirty="0"/>
          </a:p>
          <a:p>
            <a:pPr lvl="2"/>
            <a:r>
              <a:rPr lang="zh-CN" altLang="en-US" sz="1400" dirty="0"/>
              <a:t>部署网络切片技术，不同切片承载不同业务。</a:t>
            </a:r>
            <a:endParaRPr lang="en-US" altLang="zh-CN" sz="1400" dirty="0"/>
          </a:p>
          <a:p>
            <a:pPr lvl="1"/>
            <a:r>
              <a:rPr lang="zh-CN" altLang="en-US" sz="1600" dirty="0"/>
              <a:t>流量路径规划部署困难</a:t>
            </a:r>
            <a:endParaRPr lang="en-US" altLang="zh-CN" sz="1600" dirty="0"/>
          </a:p>
          <a:p>
            <a:pPr lvl="2"/>
            <a:r>
              <a:rPr lang="zh-CN" altLang="en-US" sz="1400" dirty="0"/>
              <a:t>基于</a:t>
            </a:r>
            <a:r>
              <a:rPr lang="en-US" altLang="zh-CN" sz="1400" dirty="0"/>
              <a:t>SR</a:t>
            </a:r>
            <a:r>
              <a:rPr lang="zh-CN" altLang="en-US" sz="1400" dirty="0"/>
              <a:t>技术，配合控制器全局规划路径，自动部署。</a:t>
            </a:r>
          </a:p>
          <a:p>
            <a:pPr lvl="1"/>
            <a:r>
              <a:rPr lang="zh-CN" altLang="en-US" sz="1600" dirty="0"/>
              <a:t>缺乏网络快速收敛机制，业务</a:t>
            </a:r>
            <a:r>
              <a:rPr lang="en-US" altLang="zh-CN" sz="1600" dirty="0"/>
              <a:t>SLA</a:t>
            </a:r>
            <a:r>
              <a:rPr lang="zh-CN" altLang="en-US" sz="1600" dirty="0"/>
              <a:t>保障困难</a:t>
            </a:r>
          </a:p>
          <a:p>
            <a:pPr lvl="2"/>
            <a:r>
              <a:rPr lang="zh-CN" altLang="en-US" sz="1400" dirty="0"/>
              <a:t>基于</a:t>
            </a:r>
            <a:r>
              <a:rPr lang="en-US" altLang="zh-CN" sz="1400" dirty="0"/>
              <a:t>TI-LFA</a:t>
            </a:r>
            <a:r>
              <a:rPr lang="zh-CN" altLang="en-US" sz="1400" dirty="0"/>
              <a:t>计算备份路径，配合</a:t>
            </a:r>
            <a:r>
              <a:rPr lang="en-US" altLang="zh-CN" sz="1400" dirty="0"/>
              <a:t>FRR</a:t>
            </a:r>
            <a:r>
              <a:rPr lang="zh-CN" altLang="en-US" sz="1400" dirty="0"/>
              <a:t>，</a:t>
            </a:r>
            <a:r>
              <a:rPr lang="en-US" altLang="zh-CN" sz="1400" dirty="0"/>
              <a:t>Hot-standby</a:t>
            </a:r>
            <a:r>
              <a:rPr lang="zh-CN" altLang="en-US" sz="1400" dirty="0"/>
              <a:t>技术实现网络快速收敛。</a:t>
            </a:r>
            <a:endParaRPr lang="en-US" altLang="zh-CN" sz="1400" dirty="0"/>
          </a:p>
          <a:p>
            <a:pPr lvl="1"/>
            <a:r>
              <a:rPr lang="zh-CN" altLang="en-US" sz="1600" dirty="0"/>
              <a:t>流量路径调优困难，缺乏可视化运维</a:t>
            </a:r>
            <a:endParaRPr lang="en-US" altLang="zh-CN" sz="1600" dirty="0"/>
          </a:p>
          <a:p>
            <a:pPr lvl="2"/>
            <a:r>
              <a:rPr lang="zh-CN" altLang="en-US" sz="1400" dirty="0"/>
              <a:t>基于</a:t>
            </a:r>
            <a:r>
              <a:rPr lang="en-US" altLang="zh-CN" sz="1400" dirty="0"/>
              <a:t>TWAMP</a:t>
            </a:r>
            <a:r>
              <a:rPr lang="zh-CN" altLang="en-US" sz="1400" dirty="0"/>
              <a:t>与</a:t>
            </a:r>
            <a:r>
              <a:rPr lang="en-US" altLang="zh-CN" sz="1400" dirty="0"/>
              <a:t>IFIT</a:t>
            </a:r>
            <a:r>
              <a:rPr lang="zh-CN" altLang="en-US" sz="1400" dirty="0"/>
              <a:t>技术精确感知网络质量，准确调优流量。</a:t>
            </a:r>
            <a:endParaRPr lang="en-US" sz="1400" dirty="0"/>
          </a:p>
        </p:txBody>
      </p:sp>
      <p:pic>
        <p:nvPicPr>
          <p:cNvPr id="4" name="图片 48">
            <a:extLst>
              <a:ext uri="{FF2B5EF4-FFF2-40B4-BE49-F238E27FC236}">
                <a16:creationId xmlns="" xmlns:a16="http://schemas.microsoft.com/office/drawing/2014/main" id="{8F0E1E0D-FEB1-48B4-9AFA-DF418B37E1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38338" y="2868629"/>
            <a:ext cx="378863" cy="310667"/>
          </a:xfrm>
          <a:prstGeom prst="rect">
            <a:avLst/>
          </a:prstGeom>
        </p:spPr>
      </p:pic>
      <p:pic>
        <p:nvPicPr>
          <p:cNvPr id="5" name="图片 48">
            <a:extLst>
              <a:ext uri="{FF2B5EF4-FFF2-40B4-BE49-F238E27FC236}">
                <a16:creationId xmlns="" xmlns:a16="http://schemas.microsoft.com/office/drawing/2014/main" id="{C0845D8E-9208-4E74-8322-1293DF2B6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07032" y="2152820"/>
            <a:ext cx="378863" cy="310667"/>
          </a:xfrm>
          <a:prstGeom prst="rect">
            <a:avLst/>
          </a:prstGeom>
        </p:spPr>
      </p:pic>
      <p:pic>
        <p:nvPicPr>
          <p:cNvPr id="6" name="图片 48">
            <a:extLst>
              <a:ext uri="{FF2B5EF4-FFF2-40B4-BE49-F238E27FC236}">
                <a16:creationId xmlns="" xmlns:a16="http://schemas.microsoft.com/office/drawing/2014/main" id="{D782851B-68BC-4C1F-8A21-9B46A85422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03455" y="3586985"/>
            <a:ext cx="378863" cy="310667"/>
          </a:xfrm>
          <a:prstGeom prst="rect">
            <a:avLst/>
          </a:prstGeom>
        </p:spPr>
      </p:pic>
      <p:pic>
        <p:nvPicPr>
          <p:cNvPr id="7" name="图片 48">
            <a:extLst>
              <a:ext uri="{FF2B5EF4-FFF2-40B4-BE49-F238E27FC236}">
                <a16:creationId xmlns="" xmlns:a16="http://schemas.microsoft.com/office/drawing/2014/main" id="{789671BC-17DC-47F9-A4EC-16530E134A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75727" y="2868629"/>
            <a:ext cx="378863" cy="310667"/>
          </a:xfrm>
          <a:prstGeom prst="rect">
            <a:avLst/>
          </a:prstGeom>
        </p:spPr>
      </p:pic>
      <p:cxnSp>
        <p:nvCxnSpPr>
          <p:cNvPr id="8" name="Straight Connector 7">
            <a:extLst>
              <a:ext uri="{FF2B5EF4-FFF2-40B4-BE49-F238E27FC236}">
                <a16:creationId xmlns="" xmlns:a16="http://schemas.microsoft.com/office/drawing/2014/main" id="{4B6FF455-016D-43AF-B768-198D0E468213}"/>
              </a:ext>
            </a:extLst>
          </p:cNvPr>
          <p:cNvCxnSpPr>
            <a:cxnSpLocks/>
            <a:stCxn id="5" idx="1"/>
            <a:endCxn id="4" idx="0"/>
          </p:cNvCxnSpPr>
          <p:nvPr/>
        </p:nvCxnSpPr>
        <p:spPr bwMode="gray">
          <a:xfrm flipH="1">
            <a:off x="7127770" y="2308154"/>
            <a:ext cx="1479262" cy="5604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6A6B9EC0-2F85-4311-8220-A3B9F6082C55}"/>
              </a:ext>
            </a:extLst>
          </p:cNvPr>
          <p:cNvCxnSpPr>
            <a:cxnSpLocks/>
            <a:stCxn id="6" idx="1"/>
            <a:endCxn id="4" idx="2"/>
          </p:cNvCxnSpPr>
          <p:nvPr/>
        </p:nvCxnSpPr>
        <p:spPr bwMode="gray">
          <a:xfrm flipH="1" flipV="1">
            <a:off x="7127770" y="3179296"/>
            <a:ext cx="1475685" cy="563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B4E7EEA7-6C3A-45BA-9437-BE5C15F88C75}"/>
              </a:ext>
            </a:extLst>
          </p:cNvPr>
          <p:cNvCxnSpPr>
            <a:cxnSpLocks/>
            <a:stCxn id="7" idx="0"/>
            <a:endCxn id="5" idx="3"/>
          </p:cNvCxnSpPr>
          <p:nvPr/>
        </p:nvCxnSpPr>
        <p:spPr bwMode="gray">
          <a:xfrm flipH="1" flipV="1">
            <a:off x="8985895" y="2308154"/>
            <a:ext cx="1479264" cy="56047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98A41BD5-4FA5-4E0A-8AA6-BAAAC8CCDD0F}"/>
              </a:ext>
            </a:extLst>
          </p:cNvPr>
          <p:cNvCxnSpPr>
            <a:cxnSpLocks/>
            <a:stCxn id="7" idx="2"/>
            <a:endCxn id="6" idx="3"/>
          </p:cNvCxnSpPr>
          <p:nvPr/>
        </p:nvCxnSpPr>
        <p:spPr bwMode="gray">
          <a:xfrm flipH="1">
            <a:off x="8982318" y="3179296"/>
            <a:ext cx="1482841" cy="56302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4" name="图片 48">
            <a:extLst>
              <a:ext uri="{FF2B5EF4-FFF2-40B4-BE49-F238E27FC236}">
                <a16:creationId xmlns="" xmlns:a16="http://schemas.microsoft.com/office/drawing/2014/main" id="{5149F640-6982-4B03-B84F-3FD9EE070B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191925" y="2152820"/>
            <a:ext cx="378863" cy="310667"/>
          </a:xfrm>
          <a:prstGeom prst="rect">
            <a:avLst/>
          </a:prstGeom>
        </p:spPr>
      </p:pic>
      <p:pic>
        <p:nvPicPr>
          <p:cNvPr id="25" name="图片 48">
            <a:extLst>
              <a:ext uri="{FF2B5EF4-FFF2-40B4-BE49-F238E27FC236}">
                <a16:creationId xmlns="" xmlns:a16="http://schemas.microsoft.com/office/drawing/2014/main" id="{B8DF575E-08BD-46C5-AB17-1A32272EBB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980610" y="2157102"/>
            <a:ext cx="378863" cy="310667"/>
          </a:xfrm>
          <a:prstGeom prst="rect">
            <a:avLst/>
          </a:prstGeom>
        </p:spPr>
      </p:pic>
      <p:cxnSp>
        <p:nvCxnSpPr>
          <p:cNvPr id="26" name="Straight Connector 25">
            <a:extLst>
              <a:ext uri="{FF2B5EF4-FFF2-40B4-BE49-F238E27FC236}">
                <a16:creationId xmlns="" xmlns:a16="http://schemas.microsoft.com/office/drawing/2014/main" id="{62A31C3C-6B86-43CC-942B-3319CB5216CC}"/>
              </a:ext>
            </a:extLst>
          </p:cNvPr>
          <p:cNvCxnSpPr>
            <a:cxnSpLocks/>
            <a:stCxn id="4" idx="1"/>
            <a:endCxn id="24" idx="2"/>
          </p:cNvCxnSpPr>
          <p:nvPr/>
        </p:nvCxnSpPr>
        <p:spPr bwMode="gray">
          <a:xfrm flipH="1" flipV="1">
            <a:off x="6381357" y="2463487"/>
            <a:ext cx="556981" cy="5604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06141A31-38F8-49DB-B1B7-27ED4B9D8E63}"/>
              </a:ext>
            </a:extLst>
          </p:cNvPr>
          <p:cNvCxnSpPr>
            <a:cxnSpLocks/>
            <a:stCxn id="7" idx="3"/>
            <a:endCxn id="25" idx="2"/>
          </p:cNvCxnSpPr>
          <p:nvPr/>
        </p:nvCxnSpPr>
        <p:spPr bwMode="gray">
          <a:xfrm flipV="1">
            <a:off x="10654590" y="2467769"/>
            <a:ext cx="515452" cy="5561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 xmlns:a16="http://schemas.microsoft.com/office/drawing/2014/main" id="{890AE42B-82D0-4150-A5BF-3F315BA44479}"/>
              </a:ext>
            </a:extLst>
          </p:cNvPr>
          <p:cNvSpPr/>
          <p:nvPr/>
        </p:nvSpPr>
        <p:spPr bwMode="gray">
          <a:xfrm>
            <a:off x="6108636" y="1969266"/>
            <a:ext cx="5341252" cy="2133805"/>
          </a:xfrm>
          <a:prstGeom prst="roundRect">
            <a:avLst>
              <a:gd name="adj" fmla="val 6893"/>
            </a:avLst>
          </a:prstGeom>
          <a:noFill/>
          <a:ln w="19050" cap="flat" cmpd="sng">
            <a:solidFill>
              <a:schemeClr val="bg1">
                <a:lumMod val="50000"/>
              </a:schemeClr>
            </a:solidFill>
            <a:prstDash val="dash"/>
          </a:ln>
        </p:spPr>
        <p:txBody>
          <a:bodyPr vert="horz" wrap="square" lIns="68580" tIns="34290" rIns="68580" bIns="34290" numCol="1" rtlCol="0" anchor="t" anchorCtr="0" compatLnSpc="1">
            <a:prstTxWarp prst="textNoShape">
              <a:avLst/>
            </a:prstTxWarp>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Straight Connector 44">
            <a:extLst>
              <a:ext uri="{FF2B5EF4-FFF2-40B4-BE49-F238E27FC236}">
                <a16:creationId xmlns="" xmlns:a16="http://schemas.microsoft.com/office/drawing/2014/main" id="{D7EED559-58F9-464B-BE98-288FE750AE50}"/>
              </a:ext>
            </a:extLst>
          </p:cNvPr>
          <p:cNvCxnSpPr>
            <a:cxnSpLocks/>
            <a:stCxn id="33" idx="0"/>
            <a:endCxn id="153" idx="2"/>
          </p:cNvCxnSpPr>
          <p:nvPr/>
        </p:nvCxnSpPr>
        <p:spPr bwMode="gray">
          <a:xfrm flipV="1">
            <a:off x="8779262" y="1527404"/>
            <a:ext cx="0" cy="441862"/>
          </a:xfrm>
          <a:prstGeom prst="line">
            <a:avLst/>
          </a:prstGeom>
          <a:ln w="19050">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80" name="直接连接符 713">
            <a:extLst>
              <a:ext uri="{FF2B5EF4-FFF2-40B4-BE49-F238E27FC236}">
                <a16:creationId xmlns="" xmlns:a16="http://schemas.microsoft.com/office/drawing/2014/main" id="{9722E3A4-CDF5-4CA1-B52F-B96120B49413}"/>
              </a:ext>
            </a:extLst>
          </p:cNvPr>
          <p:cNvCxnSpPr>
            <a:cxnSpLocks/>
            <a:stCxn id="62" idx="5"/>
            <a:endCxn id="62" idx="2"/>
          </p:cNvCxnSpPr>
          <p:nvPr/>
        </p:nvCxnSpPr>
        <p:spPr bwMode="gray">
          <a:xfrm>
            <a:off x="7159095" y="5658716"/>
            <a:ext cx="3264448" cy="0"/>
          </a:xfrm>
          <a:prstGeom prst="line">
            <a:avLst/>
          </a:prstGeom>
          <a:noFill/>
          <a:ln w="28575" cap="flat" cmpd="sng" algn="ctr">
            <a:solidFill>
              <a:srgbClr val="56C4D2"/>
            </a:solidFill>
            <a:prstDash val="solid"/>
            <a:round/>
            <a:headEnd type="none" w="med" len="med"/>
            <a:tailEnd type="triangle" w="med" len="med"/>
          </a:ln>
          <a:effectLst/>
        </p:spPr>
      </p:cxnSp>
      <p:cxnSp>
        <p:nvCxnSpPr>
          <p:cNvPr id="86" name="直接连接符 738">
            <a:extLst>
              <a:ext uri="{FF2B5EF4-FFF2-40B4-BE49-F238E27FC236}">
                <a16:creationId xmlns="" xmlns:a16="http://schemas.microsoft.com/office/drawing/2014/main" id="{05A94F38-B9D0-45F7-8661-0747FCC80427}"/>
              </a:ext>
            </a:extLst>
          </p:cNvPr>
          <p:cNvCxnSpPr>
            <a:cxnSpLocks/>
            <a:stCxn id="61" idx="5"/>
            <a:endCxn id="61" idx="2"/>
          </p:cNvCxnSpPr>
          <p:nvPr/>
        </p:nvCxnSpPr>
        <p:spPr bwMode="gray">
          <a:xfrm>
            <a:off x="7159095" y="5211369"/>
            <a:ext cx="3264448" cy="0"/>
          </a:xfrm>
          <a:prstGeom prst="line">
            <a:avLst/>
          </a:prstGeom>
          <a:noFill/>
          <a:ln w="28575" cap="flat" cmpd="sng" algn="ctr">
            <a:solidFill>
              <a:srgbClr val="56C4D2"/>
            </a:solidFill>
            <a:prstDash val="solid"/>
            <a:round/>
            <a:headEnd type="none" w="med" len="med"/>
            <a:tailEnd type="triangle" w="med" len="med"/>
          </a:ln>
          <a:effectLst/>
        </p:spPr>
      </p:cxnSp>
      <p:cxnSp>
        <p:nvCxnSpPr>
          <p:cNvPr id="87" name="直接连接符 739">
            <a:extLst>
              <a:ext uri="{FF2B5EF4-FFF2-40B4-BE49-F238E27FC236}">
                <a16:creationId xmlns="" xmlns:a16="http://schemas.microsoft.com/office/drawing/2014/main" id="{4D85C7DC-52F9-4510-BF1F-E0644ACB04CF}"/>
              </a:ext>
            </a:extLst>
          </p:cNvPr>
          <p:cNvCxnSpPr>
            <a:cxnSpLocks/>
            <a:stCxn id="63" idx="5"/>
            <a:endCxn id="63" idx="2"/>
          </p:cNvCxnSpPr>
          <p:nvPr/>
        </p:nvCxnSpPr>
        <p:spPr bwMode="gray">
          <a:xfrm>
            <a:off x="7159096" y="4819890"/>
            <a:ext cx="3264448" cy="0"/>
          </a:xfrm>
          <a:prstGeom prst="line">
            <a:avLst/>
          </a:prstGeom>
          <a:noFill/>
          <a:ln w="28575" cap="flat" cmpd="sng" algn="ctr">
            <a:solidFill>
              <a:srgbClr val="56C4D2"/>
            </a:solidFill>
            <a:prstDash val="solid"/>
            <a:round/>
            <a:headEnd type="none" w="med" len="med"/>
            <a:tailEnd type="triangle" w="med" len="med"/>
          </a:ln>
          <a:effectLst/>
        </p:spPr>
      </p:cxnSp>
      <p:sp>
        <p:nvSpPr>
          <p:cNvPr id="88" name="TextBox 270">
            <a:extLst>
              <a:ext uri="{FF2B5EF4-FFF2-40B4-BE49-F238E27FC236}">
                <a16:creationId xmlns="" xmlns:a16="http://schemas.microsoft.com/office/drawing/2014/main" id="{A1620258-81C2-4C73-83FF-0AB79E41D4C0}"/>
              </a:ext>
            </a:extLst>
          </p:cNvPr>
          <p:cNvSpPr txBox="1"/>
          <p:nvPr/>
        </p:nvSpPr>
        <p:spPr bwMode="gray">
          <a:xfrm>
            <a:off x="9101476" y="4509687"/>
            <a:ext cx="954107"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大带宽切片</a:t>
            </a:r>
          </a:p>
        </p:txBody>
      </p:sp>
      <p:sp>
        <p:nvSpPr>
          <p:cNvPr id="89" name="TextBox 271">
            <a:extLst>
              <a:ext uri="{FF2B5EF4-FFF2-40B4-BE49-F238E27FC236}">
                <a16:creationId xmlns="" xmlns:a16="http://schemas.microsoft.com/office/drawing/2014/main" id="{2A8F5488-6C5A-401C-A11F-8F2EE508D3F4}"/>
              </a:ext>
            </a:extLst>
          </p:cNvPr>
          <p:cNvSpPr txBox="1"/>
          <p:nvPr/>
        </p:nvSpPr>
        <p:spPr bwMode="gray">
          <a:xfrm>
            <a:off x="9101477" y="4920212"/>
            <a:ext cx="954107"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低时延切片</a:t>
            </a:r>
          </a:p>
        </p:txBody>
      </p:sp>
      <p:sp>
        <p:nvSpPr>
          <p:cNvPr id="90" name="TextBox 272">
            <a:extLst>
              <a:ext uri="{FF2B5EF4-FFF2-40B4-BE49-F238E27FC236}">
                <a16:creationId xmlns="" xmlns:a16="http://schemas.microsoft.com/office/drawing/2014/main" id="{6DCC0842-B308-4F13-8664-78BE1E0E0B00}"/>
              </a:ext>
            </a:extLst>
          </p:cNvPr>
          <p:cNvSpPr txBox="1"/>
          <p:nvPr/>
        </p:nvSpPr>
        <p:spPr bwMode="gray">
          <a:xfrm>
            <a:off x="9113377" y="5371788"/>
            <a:ext cx="800219"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默认切片</a:t>
            </a:r>
          </a:p>
        </p:txBody>
      </p:sp>
      <p:sp>
        <p:nvSpPr>
          <p:cNvPr id="103" name="Can 225">
            <a:extLst>
              <a:ext uri="{FF2B5EF4-FFF2-40B4-BE49-F238E27FC236}">
                <a16:creationId xmlns="" xmlns:a16="http://schemas.microsoft.com/office/drawing/2014/main" id="{12DC1266-7F45-475E-B92C-ACCE2868DADF}"/>
              </a:ext>
            </a:extLst>
          </p:cNvPr>
          <p:cNvSpPr/>
          <p:nvPr/>
        </p:nvSpPr>
        <p:spPr bwMode="gray">
          <a:xfrm rot="5400000" flipH="1">
            <a:off x="9901331" y="5065451"/>
            <a:ext cx="1138660" cy="311510"/>
          </a:xfrm>
          <a:prstGeom prst="can">
            <a:avLst>
              <a:gd name="adj" fmla="val 40000"/>
            </a:avLst>
          </a:prstGeom>
          <a:solidFill>
            <a:srgbClr val="E28189">
              <a:alpha val="70000"/>
            </a:srgb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4" name="图片 48">
            <a:extLst>
              <a:ext uri="{FF2B5EF4-FFF2-40B4-BE49-F238E27FC236}">
                <a16:creationId xmlns="" xmlns:a16="http://schemas.microsoft.com/office/drawing/2014/main" id="{10529347-91EC-4F26-9952-5006D9A1899D}"/>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191925" y="5041877"/>
            <a:ext cx="378863" cy="310667"/>
          </a:xfrm>
          <a:prstGeom prst="rect">
            <a:avLst/>
          </a:prstGeom>
        </p:spPr>
      </p:pic>
      <p:pic>
        <p:nvPicPr>
          <p:cNvPr id="105" name="图片 48">
            <a:extLst>
              <a:ext uri="{FF2B5EF4-FFF2-40B4-BE49-F238E27FC236}">
                <a16:creationId xmlns="" xmlns:a16="http://schemas.microsoft.com/office/drawing/2014/main" id="{9A845E2B-07FF-47F3-8869-59A65A964C67}"/>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980609" y="5041877"/>
            <a:ext cx="378863" cy="310667"/>
          </a:xfrm>
          <a:prstGeom prst="rect">
            <a:avLst/>
          </a:prstGeom>
        </p:spPr>
      </p:pic>
      <p:cxnSp>
        <p:nvCxnSpPr>
          <p:cNvPr id="107" name="Straight Connector 106">
            <a:extLst>
              <a:ext uri="{FF2B5EF4-FFF2-40B4-BE49-F238E27FC236}">
                <a16:creationId xmlns="" xmlns:a16="http://schemas.microsoft.com/office/drawing/2014/main" id="{793ACD0B-0898-4C45-8CFD-27C6615D13F6}"/>
              </a:ext>
            </a:extLst>
          </p:cNvPr>
          <p:cNvCxnSpPr>
            <a:cxnSpLocks/>
            <a:stCxn id="24" idx="2"/>
            <a:endCxn id="104" idx="0"/>
          </p:cNvCxnSpPr>
          <p:nvPr/>
        </p:nvCxnSpPr>
        <p:spPr bwMode="gray">
          <a:xfrm>
            <a:off x="6381357" y="2463487"/>
            <a:ext cx="0" cy="257839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 xmlns:a16="http://schemas.microsoft.com/office/drawing/2014/main" id="{383BF10B-29B3-4EA1-A087-9B45A198F5AA}"/>
              </a:ext>
            </a:extLst>
          </p:cNvPr>
          <p:cNvCxnSpPr>
            <a:cxnSpLocks/>
            <a:stCxn id="25" idx="2"/>
            <a:endCxn id="105" idx="0"/>
          </p:cNvCxnSpPr>
          <p:nvPr/>
        </p:nvCxnSpPr>
        <p:spPr bwMode="gray">
          <a:xfrm flipH="1">
            <a:off x="11170041" y="2467769"/>
            <a:ext cx="1" cy="257410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 xmlns:a16="http://schemas.microsoft.com/office/drawing/2014/main" id="{D0F1B422-A0A4-4EFC-81E7-12CC5D07DADE}"/>
              </a:ext>
            </a:extLst>
          </p:cNvPr>
          <p:cNvCxnSpPr>
            <a:cxnSpLocks/>
            <a:stCxn id="7" idx="2"/>
            <a:endCxn id="103" idx="4"/>
          </p:cNvCxnSpPr>
          <p:nvPr/>
        </p:nvCxnSpPr>
        <p:spPr bwMode="gray">
          <a:xfrm>
            <a:off x="10465159" y="3179296"/>
            <a:ext cx="5502" cy="147258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 xmlns:a16="http://schemas.microsoft.com/office/drawing/2014/main" id="{78D4AFAC-CA45-4B6B-ABAC-02FD73B88704}"/>
              </a:ext>
            </a:extLst>
          </p:cNvPr>
          <p:cNvCxnSpPr>
            <a:cxnSpLocks/>
            <a:stCxn id="4" idx="2"/>
            <a:endCxn id="102" idx="4"/>
          </p:cNvCxnSpPr>
          <p:nvPr/>
        </p:nvCxnSpPr>
        <p:spPr bwMode="gray">
          <a:xfrm flipH="1">
            <a:off x="7122351" y="3179296"/>
            <a:ext cx="5419" cy="146889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 xmlns:a16="http://schemas.microsoft.com/office/drawing/2014/main" id="{9E374ABE-50A0-4F21-8852-220F75F40342}"/>
              </a:ext>
            </a:extLst>
          </p:cNvPr>
          <p:cNvCxnSpPr>
            <a:cxnSpLocks/>
            <a:stCxn id="104" idx="3"/>
            <a:endCxn id="63" idx="5"/>
          </p:cNvCxnSpPr>
          <p:nvPr/>
        </p:nvCxnSpPr>
        <p:spPr bwMode="gray">
          <a:xfrm flipV="1">
            <a:off x="6570788" y="4819890"/>
            <a:ext cx="588308" cy="377321"/>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 xmlns:a16="http://schemas.microsoft.com/office/drawing/2014/main" id="{D3F377A9-F5CE-4D38-AFC4-C3E25A88513F}"/>
              </a:ext>
            </a:extLst>
          </p:cNvPr>
          <p:cNvCxnSpPr>
            <a:cxnSpLocks/>
            <a:stCxn id="104" idx="3"/>
            <a:endCxn id="61" idx="5"/>
          </p:cNvCxnSpPr>
          <p:nvPr/>
        </p:nvCxnSpPr>
        <p:spPr bwMode="gray">
          <a:xfrm>
            <a:off x="6570788" y="5197211"/>
            <a:ext cx="588307" cy="14158"/>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 xmlns:a16="http://schemas.microsoft.com/office/drawing/2014/main" id="{005C88D3-2F1C-4D2F-B560-B0A52D82E565}"/>
              </a:ext>
            </a:extLst>
          </p:cNvPr>
          <p:cNvCxnSpPr>
            <a:cxnSpLocks/>
            <a:stCxn id="104" idx="3"/>
            <a:endCxn id="62" idx="5"/>
          </p:cNvCxnSpPr>
          <p:nvPr/>
        </p:nvCxnSpPr>
        <p:spPr bwMode="gray">
          <a:xfrm>
            <a:off x="6570788" y="5197211"/>
            <a:ext cx="588307" cy="461505"/>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 xmlns:a16="http://schemas.microsoft.com/office/drawing/2014/main" id="{AEB0E5DA-E56A-47A5-83B2-F44E9AFB429C}"/>
              </a:ext>
            </a:extLst>
          </p:cNvPr>
          <p:cNvCxnSpPr>
            <a:cxnSpLocks/>
            <a:stCxn id="63" idx="2"/>
            <a:endCxn id="105" idx="1"/>
          </p:cNvCxnSpPr>
          <p:nvPr/>
        </p:nvCxnSpPr>
        <p:spPr bwMode="gray">
          <a:xfrm>
            <a:off x="10423544" y="4819890"/>
            <a:ext cx="557065" cy="377321"/>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 xmlns:a16="http://schemas.microsoft.com/office/drawing/2014/main" id="{BB2CBE67-E9F0-41CF-8C5B-F01BFB6F36FA}"/>
              </a:ext>
            </a:extLst>
          </p:cNvPr>
          <p:cNvCxnSpPr>
            <a:cxnSpLocks/>
            <a:stCxn id="61" idx="2"/>
            <a:endCxn id="105" idx="1"/>
          </p:cNvCxnSpPr>
          <p:nvPr/>
        </p:nvCxnSpPr>
        <p:spPr bwMode="gray">
          <a:xfrm flipV="1">
            <a:off x="10423543" y="5197211"/>
            <a:ext cx="557066" cy="14158"/>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 xmlns:a16="http://schemas.microsoft.com/office/drawing/2014/main" id="{4A8AE299-C9A1-472F-A132-8F870E8E6D49}"/>
              </a:ext>
            </a:extLst>
          </p:cNvPr>
          <p:cNvCxnSpPr>
            <a:cxnSpLocks/>
            <a:stCxn id="62" idx="2"/>
            <a:endCxn id="105" idx="1"/>
          </p:cNvCxnSpPr>
          <p:nvPr/>
        </p:nvCxnSpPr>
        <p:spPr bwMode="gray">
          <a:xfrm flipV="1">
            <a:off x="10423543" y="5197211"/>
            <a:ext cx="557066" cy="461505"/>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 xmlns:a16="http://schemas.microsoft.com/office/drawing/2014/main" id="{C20D7BFE-DE59-4727-B540-7FDD3F7A058C}"/>
              </a:ext>
            </a:extLst>
          </p:cNvPr>
          <p:cNvCxnSpPr>
            <a:cxnSpLocks/>
            <a:stCxn id="6" idx="2"/>
            <a:endCxn id="144" idx="4"/>
          </p:cNvCxnSpPr>
          <p:nvPr/>
        </p:nvCxnSpPr>
        <p:spPr bwMode="gray">
          <a:xfrm>
            <a:off x="8792887" y="3897652"/>
            <a:ext cx="659" cy="754224"/>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153" name="图片 24">
            <a:extLst>
              <a:ext uri="{FF2B5EF4-FFF2-40B4-BE49-F238E27FC236}">
                <a16:creationId xmlns="" xmlns:a16="http://schemas.microsoft.com/office/drawing/2014/main" id="{2600FE11-029B-4D2D-855F-545758A917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601218" y="1092879"/>
            <a:ext cx="2356087" cy="434525"/>
          </a:xfrm>
          <a:prstGeom prst="rect">
            <a:avLst/>
          </a:prstGeom>
        </p:spPr>
      </p:pic>
      <p:sp>
        <p:nvSpPr>
          <p:cNvPr id="155" name="Freeform: Shape 154">
            <a:extLst>
              <a:ext uri="{FF2B5EF4-FFF2-40B4-BE49-F238E27FC236}">
                <a16:creationId xmlns="" xmlns:a16="http://schemas.microsoft.com/office/drawing/2014/main" id="{5DEB63AD-5FA3-4B00-B9D2-CF1E5ED253DF}"/>
              </a:ext>
            </a:extLst>
          </p:cNvPr>
          <p:cNvSpPr/>
          <p:nvPr/>
        </p:nvSpPr>
        <p:spPr bwMode="gray">
          <a:xfrm>
            <a:off x="6422021" y="2447637"/>
            <a:ext cx="4698562" cy="1247111"/>
          </a:xfrm>
          <a:custGeom>
            <a:avLst/>
            <a:gdLst>
              <a:gd name="connsiteX0" fmla="*/ 0 w 4655127"/>
              <a:gd name="connsiteY0" fmla="*/ 0 h 1247111"/>
              <a:gd name="connsiteX1" fmla="*/ 646545 w 4655127"/>
              <a:gd name="connsiteY1" fmla="*/ 563418 h 1247111"/>
              <a:gd name="connsiteX2" fmla="*/ 2272145 w 4655127"/>
              <a:gd name="connsiteY2" fmla="*/ 1246909 h 1247111"/>
              <a:gd name="connsiteX3" fmla="*/ 3971636 w 4655127"/>
              <a:gd name="connsiteY3" fmla="*/ 628073 h 1247111"/>
              <a:gd name="connsiteX4" fmla="*/ 4655127 w 4655127"/>
              <a:gd name="connsiteY4" fmla="*/ 0 h 1247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5127" h="1247111">
                <a:moveTo>
                  <a:pt x="0" y="0"/>
                </a:moveTo>
                <a:cubicBezTo>
                  <a:pt x="133927" y="177800"/>
                  <a:pt x="267854" y="355600"/>
                  <a:pt x="646545" y="563418"/>
                </a:cubicBezTo>
                <a:cubicBezTo>
                  <a:pt x="1025236" y="771236"/>
                  <a:pt x="1717963" y="1236133"/>
                  <a:pt x="2272145" y="1246909"/>
                </a:cubicBezTo>
                <a:cubicBezTo>
                  <a:pt x="2826327" y="1257685"/>
                  <a:pt x="3574472" y="835891"/>
                  <a:pt x="3971636" y="628073"/>
                </a:cubicBezTo>
                <a:cubicBezTo>
                  <a:pt x="4368800" y="420255"/>
                  <a:pt x="4511963" y="210127"/>
                  <a:pt x="4655127" y="0"/>
                </a:cubicBezTo>
              </a:path>
            </a:pathLst>
          </a:custGeom>
          <a:noFill/>
          <a:ln w="28575" cap="flat" cmpd="sng">
            <a:solidFill>
              <a:srgbClr val="E28198"/>
            </a:solidFill>
            <a:headEnd type="triangle" w="med" len="med"/>
            <a:tailEnd type="triangle" w="med" len="med"/>
          </a:ln>
        </p:spPr>
        <p:txBody>
          <a:bodyPr rtlCol="0" anchor="ctr"/>
          <a:lstStyle/>
          <a:p>
            <a:pPr algn="ctr"/>
            <a:endParaRPr lang="en-US"/>
          </a:p>
        </p:txBody>
      </p:sp>
      <p:sp>
        <p:nvSpPr>
          <p:cNvPr id="157" name="TextBox 156">
            <a:extLst>
              <a:ext uri="{FF2B5EF4-FFF2-40B4-BE49-F238E27FC236}">
                <a16:creationId xmlns="" xmlns:a16="http://schemas.microsoft.com/office/drawing/2014/main" id="{D0D91C24-852C-4AB3-A302-5666A36A4F91}"/>
              </a:ext>
            </a:extLst>
          </p:cNvPr>
          <p:cNvSpPr txBox="1"/>
          <p:nvPr/>
        </p:nvSpPr>
        <p:spPr bwMode="gray">
          <a:xfrm>
            <a:off x="7537346" y="2733346"/>
            <a:ext cx="980313" cy="455563"/>
          </a:xfrm>
          <a:prstGeom prst="wedgeRectCallout">
            <a:avLst>
              <a:gd name="adj1" fmla="val -21581"/>
              <a:gd name="adj2" fmla="val 8742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基于</a:t>
            </a:r>
            <a:r>
              <a:rPr lang="en-US" altLang="zh-CN" dirty="0">
                <a:latin typeface="Huawei Sans" panose="020C0503030203020204" pitchFamily="34" charset="0"/>
                <a:ea typeface="方正兰亭黑简体" panose="02000000000000000000" pitchFamily="2" charset="-122"/>
              </a:rPr>
              <a:t>SR</a:t>
            </a:r>
            <a:r>
              <a:rPr lang="zh-CN" altLang="en-US" dirty="0">
                <a:latin typeface="Huawei Sans" panose="020C0503030203020204" pitchFamily="34" charset="0"/>
                <a:ea typeface="方正兰亭黑简体" panose="02000000000000000000" pitchFamily="2" charset="-122"/>
              </a:rPr>
              <a:t>技术规划路径</a:t>
            </a:r>
          </a:p>
        </p:txBody>
      </p:sp>
      <p:sp>
        <p:nvSpPr>
          <p:cNvPr id="158" name="TextBox 157">
            <a:extLst>
              <a:ext uri="{FF2B5EF4-FFF2-40B4-BE49-F238E27FC236}">
                <a16:creationId xmlns="" xmlns:a16="http://schemas.microsoft.com/office/drawing/2014/main" id="{7B0450FC-A514-4B4B-941F-0074EFD906B3}"/>
              </a:ext>
            </a:extLst>
          </p:cNvPr>
          <p:cNvSpPr txBox="1"/>
          <p:nvPr/>
        </p:nvSpPr>
        <p:spPr bwMode="gray">
          <a:xfrm>
            <a:off x="5449380" y="5715623"/>
            <a:ext cx="1184739" cy="455563"/>
          </a:xfrm>
          <a:prstGeom prst="wedgeRectCallout">
            <a:avLst>
              <a:gd name="adj1" fmla="val 73580"/>
              <a:gd name="adj2" fmla="val -26115"/>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网络切片，实现业务隔离</a:t>
            </a:r>
          </a:p>
        </p:txBody>
      </p:sp>
      <p:sp>
        <p:nvSpPr>
          <p:cNvPr id="159" name="TextBox 158">
            <a:extLst>
              <a:ext uri="{FF2B5EF4-FFF2-40B4-BE49-F238E27FC236}">
                <a16:creationId xmlns="" xmlns:a16="http://schemas.microsoft.com/office/drawing/2014/main" id="{D437B591-66E9-4317-959E-62DAAB3DD5C4}"/>
              </a:ext>
            </a:extLst>
          </p:cNvPr>
          <p:cNvSpPr txBox="1"/>
          <p:nvPr/>
        </p:nvSpPr>
        <p:spPr bwMode="gray">
          <a:xfrm>
            <a:off x="6758186" y="4986076"/>
            <a:ext cx="800219" cy="276999"/>
          </a:xfrm>
          <a:prstGeom prst="rect">
            <a:avLst/>
          </a:prstGeom>
          <a:noFill/>
        </p:spPr>
        <p:txBody>
          <a:bodyPr wrap="none" rtlCol="0">
            <a:spAutoFit/>
          </a:bodyPr>
          <a:lstStyle/>
          <a:p>
            <a:r>
              <a:rPr lang="zh-CN" altLang="en-US" sz="1200" dirty="0"/>
              <a:t>语音业务</a:t>
            </a:r>
            <a:endParaRPr lang="en-US" sz="1200" dirty="0"/>
          </a:p>
        </p:txBody>
      </p:sp>
      <p:sp>
        <p:nvSpPr>
          <p:cNvPr id="160" name="TextBox 159">
            <a:extLst>
              <a:ext uri="{FF2B5EF4-FFF2-40B4-BE49-F238E27FC236}">
                <a16:creationId xmlns="" xmlns:a16="http://schemas.microsoft.com/office/drawing/2014/main" id="{AD9694ED-389A-4E4F-914C-27EA323C805B}"/>
              </a:ext>
            </a:extLst>
          </p:cNvPr>
          <p:cNvSpPr txBox="1"/>
          <p:nvPr/>
        </p:nvSpPr>
        <p:spPr bwMode="gray">
          <a:xfrm rot="19660928">
            <a:off x="6491254" y="4723235"/>
            <a:ext cx="646331" cy="276999"/>
          </a:xfrm>
          <a:prstGeom prst="rect">
            <a:avLst/>
          </a:prstGeom>
          <a:noFill/>
        </p:spPr>
        <p:txBody>
          <a:bodyPr wrap="none" rtlCol="0">
            <a:spAutoFit/>
          </a:bodyPr>
          <a:lstStyle/>
          <a:p>
            <a:r>
              <a:rPr lang="zh-CN" altLang="en-US" sz="1200" dirty="0"/>
              <a:t>云业务</a:t>
            </a:r>
            <a:endParaRPr lang="en-US" sz="1200" dirty="0"/>
          </a:p>
        </p:txBody>
      </p:sp>
      <p:sp>
        <p:nvSpPr>
          <p:cNvPr id="161" name="TextBox 160">
            <a:extLst>
              <a:ext uri="{FF2B5EF4-FFF2-40B4-BE49-F238E27FC236}">
                <a16:creationId xmlns="" xmlns:a16="http://schemas.microsoft.com/office/drawing/2014/main" id="{AFDEB3CE-FC5C-4229-8D38-6A3678214F81}"/>
              </a:ext>
            </a:extLst>
          </p:cNvPr>
          <p:cNvSpPr txBox="1"/>
          <p:nvPr/>
        </p:nvSpPr>
        <p:spPr bwMode="gray">
          <a:xfrm rot="2139630">
            <a:off x="6373084" y="5382275"/>
            <a:ext cx="800219" cy="276999"/>
          </a:xfrm>
          <a:prstGeom prst="rect">
            <a:avLst/>
          </a:prstGeom>
          <a:noFill/>
        </p:spPr>
        <p:txBody>
          <a:bodyPr wrap="none" rtlCol="0">
            <a:spAutoFit/>
          </a:bodyPr>
          <a:lstStyle/>
          <a:p>
            <a:r>
              <a:rPr lang="zh-CN" altLang="en-US" sz="1200" dirty="0"/>
              <a:t>上网业务</a:t>
            </a:r>
            <a:endParaRPr lang="en-US" sz="1200" dirty="0"/>
          </a:p>
        </p:txBody>
      </p:sp>
      <p:cxnSp>
        <p:nvCxnSpPr>
          <p:cNvPr id="164" name="Straight Connector 163">
            <a:extLst>
              <a:ext uri="{FF2B5EF4-FFF2-40B4-BE49-F238E27FC236}">
                <a16:creationId xmlns="" xmlns:a16="http://schemas.microsoft.com/office/drawing/2014/main" id="{8FEC9EEB-319D-4621-92CF-B0DC5BC11D3D}"/>
              </a:ext>
            </a:extLst>
          </p:cNvPr>
          <p:cNvCxnSpPr>
            <a:cxnSpLocks/>
            <a:stCxn id="6" idx="0"/>
            <a:endCxn id="5" idx="2"/>
          </p:cNvCxnSpPr>
          <p:nvPr/>
        </p:nvCxnSpPr>
        <p:spPr bwMode="gray">
          <a:xfrm flipV="1">
            <a:off x="8792887" y="2463487"/>
            <a:ext cx="3577" cy="11234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0" name="Freeform: Shape 169">
            <a:extLst>
              <a:ext uri="{FF2B5EF4-FFF2-40B4-BE49-F238E27FC236}">
                <a16:creationId xmlns="" xmlns:a16="http://schemas.microsoft.com/office/drawing/2014/main" id="{26EDAE36-6105-4754-88DE-3CF640CC99D7}"/>
              </a:ext>
            </a:extLst>
          </p:cNvPr>
          <p:cNvSpPr/>
          <p:nvPr/>
        </p:nvSpPr>
        <p:spPr bwMode="gray">
          <a:xfrm>
            <a:off x="8344310" y="2313644"/>
            <a:ext cx="2168064" cy="1345774"/>
          </a:xfrm>
          <a:custGeom>
            <a:avLst/>
            <a:gdLst>
              <a:gd name="connsiteX0" fmla="*/ 0 w 1900238"/>
              <a:gd name="connsiteY0" fmla="*/ 1250352 h 1279751"/>
              <a:gd name="connsiteX1" fmla="*/ 342900 w 1900238"/>
              <a:gd name="connsiteY1" fmla="*/ 1264640 h 1279751"/>
              <a:gd name="connsiteX2" fmla="*/ 490538 w 1900238"/>
              <a:gd name="connsiteY2" fmla="*/ 1064615 h 1279751"/>
              <a:gd name="connsiteX3" fmla="*/ 466725 w 1900238"/>
              <a:gd name="connsiteY3" fmla="*/ 21627 h 1279751"/>
              <a:gd name="connsiteX4" fmla="*/ 1900238 w 1900238"/>
              <a:gd name="connsiteY4" fmla="*/ 459777 h 1279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8" h="1279751">
                <a:moveTo>
                  <a:pt x="0" y="1250352"/>
                </a:moveTo>
                <a:cubicBezTo>
                  <a:pt x="130572" y="1272974"/>
                  <a:pt x="261144" y="1295596"/>
                  <a:pt x="342900" y="1264640"/>
                </a:cubicBezTo>
                <a:cubicBezTo>
                  <a:pt x="424656" y="1233684"/>
                  <a:pt x="469901" y="1271784"/>
                  <a:pt x="490538" y="1064615"/>
                </a:cubicBezTo>
                <a:cubicBezTo>
                  <a:pt x="511175" y="857446"/>
                  <a:pt x="231775" y="122433"/>
                  <a:pt x="466725" y="21627"/>
                </a:cubicBezTo>
                <a:cubicBezTo>
                  <a:pt x="701675" y="-79179"/>
                  <a:pt x="1300956" y="190299"/>
                  <a:pt x="1900238" y="459777"/>
                </a:cubicBezTo>
              </a:path>
            </a:pathLst>
          </a:custGeom>
          <a:noFill/>
          <a:ln w="19050" cap="flat" cmpd="sng">
            <a:solidFill>
              <a:srgbClr val="E28198"/>
            </a:solidFill>
            <a:prstDash val="dash"/>
            <a:headEnd type="none" w="med" len="med"/>
            <a:tailEnd type="triangle" w="med" len="med"/>
          </a:ln>
        </p:spPr>
        <p:txBody>
          <a:bodyPr rtlCol="0" anchor="ctr"/>
          <a:lstStyle/>
          <a:p>
            <a:pPr algn="ctr"/>
            <a:endParaRPr lang="en-US"/>
          </a:p>
        </p:txBody>
      </p:sp>
      <p:sp>
        <p:nvSpPr>
          <p:cNvPr id="171" name="TextBox 170">
            <a:extLst>
              <a:ext uri="{FF2B5EF4-FFF2-40B4-BE49-F238E27FC236}">
                <a16:creationId xmlns="" xmlns:a16="http://schemas.microsoft.com/office/drawing/2014/main" id="{0264122D-7B6B-4D32-A332-B38BDEB3064C}"/>
              </a:ext>
            </a:extLst>
          </p:cNvPr>
          <p:cNvSpPr txBox="1"/>
          <p:nvPr/>
        </p:nvSpPr>
        <p:spPr bwMode="gray">
          <a:xfrm>
            <a:off x="8976992" y="2755900"/>
            <a:ext cx="1105726" cy="440831"/>
          </a:xfrm>
          <a:prstGeom prst="wedgeRectCallout">
            <a:avLst>
              <a:gd name="adj1" fmla="val -61742"/>
              <a:gd name="adj2" fmla="val -2269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基于</a:t>
            </a:r>
            <a:r>
              <a:rPr lang="en-US" altLang="zh-CN" dirty="0">
                <a:latin typeface="Huawei Sans" panose="020C0503030203020204" pitchFamily="34" charset="0"/>
                <a:ea typeface="方正兰亭黑简体" panose="02000000000000000000" pitchFamily="2" charset="-122"/>
              </a:rPr>
              <a:t>TI-LFA</a:t>
            </a:r>
            <a:r>
              <a:rPr lang="zh-CN" altLang="en-US" dirty="0">
                <a:latin typeface="Huawei Sans" panose="020C0503030203020204" pitchFamily="34" charset="0"/>
                <a:ea typeface="方正兰亭黑简体" panose="02000000000000000000" pitchFamily="2" charset="-122"/>
              </a:rPr>
              <a:t>计算备份路径</a:t>
            </a:r>
          </a:p>
        </p:txBody>
      </p:sp>
      <p:cxnSp>
        <p:nvCxnSpPr>
          <p:cNvPr id="173" name="Straight Arrow Connector 172">
            <a:extLst>
              <a:ext uri="{FF2B5EF4-FFF2-40B4-BE49-F238E27FC236}">
                <a16:creationId xmlns="" xmlns:a16="http://schemas.microsoft.com/office/drawing/2014/main" id="{BED1D641-CC52-42AA-8369-31F2DBBCB288}"/>
              </a:ext>
            </a:extLst>
          </p:cNvPr>
          <p:cNvCxnSpPr/>
          <p:nvPr/>
        </p:nvCxnSpPr>
        <p:spPr bwMode="gray">
          <a:xfrm flipV="1">
            <a:off x="8637791" y="1527404"/>
            <a:ext cx="0" cy="362139"/>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74" name="TextBox 173">
            <a:extLst>
              <a:ext uri="{FF2B5EF4-FFF2-40B4-BE49-F238E27FC236}">
                <a16:creationId xmlns="" xmlns:a16="http://schemas.microsoft.com/office/drawing/2014/main" id="{D2E5D4C7-87FA-4B03-BD03-73AB157DB4EA}"/>
              </a:ext>
            </a:extLst>
          </p:cNvPr>
          <p:cNvSpPr txBox="1"/>
          <p:nvPr/>
        </p:nvSpPr>
        <p:spPr bwMode="gray">
          <a:xfrm>
            <a:off x="7584907" y="1605997"/>
            <a:ext cx="1066318" cy="276999"/>
          </a:xfrm>
          <a:prstGeom prst="rect">
            <a:avLst/>
          </a:prstGeom>
          <a:noFill/>
        </p:spPr>
        <p:txBody>
          <a:bodyPr wrap="none" rtlCol="0">
            <a:spAutoFit/>
          </a:bodyPr>
          <a:lstStyle/>
          <a:p>
            <a:r>
              <a:rPr lang="en-US" sz="1200" dirty="0"/>
              <a:t>TWAMP/IFIT</a:t>
            </a:r>
          </a:p>
        </p:txBody>
      </p:sp>
      <p:sp>
        <p:nvSpPr>
          <p:cNvPr id="175" name="TextBox 174">
            <a:extLst>
              <a:ext uri="{FF2B5EF4-FFF2-40B4-BE49-F238E27FC236}">
                <a16:creationId xmlns="" xmlns:a16="http://schemas.microsoft.com/office/drawing/2014/main" id="{2EF85B98-CEC5-439F-8A49-DF8AC1B73560}"/>
              </a:ext>
            </a:extLst>
          </p:cNvPr>
          <p:cNvSpPr txBox="1"/>
          <p:nvPr/>
        </p:nvSpPr>
        <p:spPr bwMode="gray">
          <a:xfrm>
            <a:off x="5967166" y="1418562"/>
            <a:ext cx="1547007" cy="455563"/>
          </a:xfrm>
          <a:prstGeom prst="wedgeRectCallout">
            <a:avLst>
              <a:gd name="adj1" fmla="val 57302"/>
              <a:gd name="adj2" fmla="val 2051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1200">
                <a:solidFill>
                  <a:schemeClr val="bg1">
                    <a:lumMod val="50000"/>
                  </a:schemeClr>
                </a:solidFill>
                <a:latin typeface="+mn-lt"/>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algn="l"/>
            <a:r>
              <a:rPr lang="zh-CN" altLang="en-US" dirty="0">
                <a:latin typeface="Huawei Sans" panose="020C0503030203020204" pitchFamily="34" charset="0"/>
                <a:ea typeface="方正兰亭黑简体" panose="02000000000000000000" pitchFamily="2" charset="-122"/>
              </a:rPr>
              <a:t>通过</a:t>
            </a:r>
            <a:r>
              <a:rPr lang="en-US" altLang="zh-CN" dirty="0">
                <a:latin typeface="Huawei Sans" panose="020C0503030203020204" pitchFamily="34" charset="0"/>
                <a:ea typeface="方正兰亭黑简体" panose="02000000000000000000" pitchFamily="2" charset="-122"/>
              </a:rPr>
              <a:t>TWAMP</a:t>
            </a:r>
            <a:r>
              <a:rPr lang="zh-CN" altLang="en-US" dirty="0">
                <a:latin typeface="Huawei Sans" panose="020C0503030203020204" pitchFamily="34" charset="0"/>
                <a:ea typeface="方正兰亭黑简体" panose="02000000000000000000" pitchFamily="2" charset="-122"/>
              </a:rPr>
              <a:t>或</a:t>
            </a:r>
            <a:r>
              <a:rPr lang="en-US" altLang="zh-CN" dirty="0">
                <a:latin typeface="Huawei Sans" panose="020C0503030203020204" pitchFamily="34" charset="0"/>
                <a:ea typeface="方正兰亭黑简体" panose="02000000000000000000" pitchFamily="2" charset="-122"/>
              </a:rPr>
              <a:t>IFIT</a:t>
            </a:r>
            <a:r>
              <a:rPr lang="zh-CN" altLang="en-US" dirty="0">
                <a:latin typeface="Huawei Sans" panose="020C0503030203020204" pitchFamily="34" charset="0"/>
                <a:ea typeface="方正兰亭黑简体" panose="02000000000000000000" pitchFamily="2" charset="-122"/>
              </a:rPr>
              <a:t>，探测网络性能</a:t>
            </a:r>
          </a:p>
        </p:txBody>
      </p:sp>
    </p:spTree>
    <p:extLst>
      <p:ext uri="{BB962C8B-B14F-4D97-AF65-F5344CB8AC3E}">
        <p14:creationId xmlns:p14="http://schemas.microsoft.com/office/powerpoint/2010/main" val="67141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企业广域承载网络现状与挑战</a:t>
            </a:r>
            <a:endParaRPr lang="en-US" altLang="zh-CN" dirty="0">
              <a:solidFill>
                <a:schemeClr val="bg1">
                  <a:lumMod val="50000"/>
                </a:schemeClr>
              </a:solidFill>
            </a:endParaRPr>
          </a:p>
          <a:p>
            <a:r>
              <a:rPr lang="zh-CN" altLang="en-US" b="1" dirty="0"/>
              <a:t>华为云广域网络解决方案概述</a:t>
            </a:r>
            <a:endParaRPr lang="en-US" altLang="zh-CN" b="1" dirty="0"/>
          </a:p>
          <a:p>
            <a:r>
              <a:rPr lang="zh-CN" altLang="en-US" dirty="0">
                <a:solidFill>
                  <a:schemeClr val="bg1">
                    <a:lumMod val="50000"/>
                  </a:schemeClr>
                </a:solidFill>
              </a:rPr>
              <a:t>企业广域承载基础网络设计</a:t>
            </a:r>
            <a:endParaRPr lang="en-US" altLang="zh-CN" dirty="0">
              <a:solidFill>
                <a:schemeClr val="bg1">
                  <a:lumMod val="50000"/>
                </a:schemeClr>
              </a:solidFill>
            </a:endParaRPr>
          </a:p>
          <a:p>
            <a:r>
              <a:rPr lang="zh-CN" altLang="en-US" dirty="0">
                <a:solidFill>
                  <a:schemeClr val="bg1">
                    <a:lumMod val="50000"/>
                  </a:schemeClr>
                </a:solidFill>
              </a:rPr>
              <a:t>企业广域承载网络隧道与</a:t>
            </a:r>
            <a:r>
              <a:rPr lang="en-US" altLang="zh-CN" dirty="0">
                <a:solidFill>
                  <a:schemeClr val="bg1">
                    <a:lumMod val="50000"/>
                  </a:schemeClr>
                </a:solidFill>
              </a:rPr>
              <a:t>VPN</a:t>
            </a:r>
            <a:r>
              <a:rPr lang="zh-CN" altLang="en-US" dirty="0">
                <a:solidFill>
                  <a:schemeClr val="bg1">
                    <a:lumMod val="50000"/>
                  </a:schemeClr>
                </a:solidFill>
              </a:rPr>
              <a:t>设计</a:t>
            </a:r>
            <a:endParaRPr lang="en-US" altLang="zh-CN" dirty="0">
              <a:solidFill>
                <a:schemeClr val="bg1">
                  <a:lumMod val="50000"/>
                </a:schemeClr>
              </a:solidFill>
            </a:endParaRPr>
          </a:p>
          <a:p>
            <a:r>
              <a:rPr lang="zh-CN" altLang="en-US" dirty="0">
                <a:solidFill>
                  <a:schemeClr val="bg1">
                    <a:lumMod val="50000"/>
                  </a:schemeClr>
                </a:solidFill>
              </a:rPr>
              <a:t>企业广域承载网络</a:t>
            </a:r>
            <a:r>
              <a:rPr lang="en-US" altLang="zh-CN" dirty="0">
                <a:solidFill>
                  <a:schemeClr val="bg1">
                    <a:lumMod val="50000"/>
                  </a:schemeClr>
                </a:solidFill>
              </a:rPr>
              <a:t>SLA</a:t>
            </a:r>
            <a:r>
              <a:rPr lang="zh-CN" altLang="en-US" dirty="0">
                <a:solidFill>
                  <a:schemeClr val="bg1">
                    <a:lumMod val="50000"/>
                  </a:schemeClr>
                </a:solidFill>
              </a:rPr>
              <a:t>与可靠性设计</a:t>
            </a:r>
            <a:endParaRPr lang="en-US" altLang="zh-CN" dirty="0">
              <a:solidFill>
                <a:schemeClr val="bg1">
                  <a:lumMod val="50000"/>
                </a:schemeClr>
              </a:solidFill>
            </a:endParaRPr>
          </a:p>
          <a:p>
            <a:r>
              <a:rPr lang="zh-CN" altLang="en-US" dirty="0">
                <a:solidFill>
                  <a:schemeClr val="bg1">
                    <a:lumMod val="50000"/>
                  </a:schemeClr>
                </a:solidFill>
              </a:rPr>
              <a:t>企业广域承载网络优化与运维设计</a:t>
            </a:r>
            <a:endParaRPr lang="en-US" altLang="zh-CN" dirty="0">
              <a:solidFill>
                <a:schemeClr val="bg1">
                  <a:lumMod val="50000"/>
                </a:schemeClr>
              </a:solidFill>
            </a:endParaRPr>
          </a:p>
        </p:txBody>
      </p:sp>
    </p:spTree>
    <p:extLst>
      <p:ext uri="{BB962C8B-B14F-4D97-AF65-F5344CB8AC3E}">
        <p14:creationId xmlns:p14="http://schemas.microsoft.com/office/powerpoint/2010/main" val="944071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圆角矩形 361">
            <a:extLst>
              <a:ext uri="{FF2B5EF4-FFF2-40B4-BE49-F238E27FC236}">
                <a16:creationId xmlns="" xmlns:a16="http://schemas.microsoft.com/office/drawing/2014/main" id="{8266BFB8-96CE-4287-868B-F0428D9EA398}"/>
              </a:ext>
            </a:extLst>
          </p:cNvPr>
          <p:cNvSpPr/>
          <p:nvPr/>
        </p:nvSpPr>
        <p:spPr bwMode="gray">
          <a:xfrm>
            <a:off x="6146482" y="5368831"/>
            <a:ext cx="5281981" cy="730457"/>
          </a:xfrm>
          <a:prstGeom prst="roundRect">
            <a:avLst>
              <a:gd name="adj" fmla="val 10601"/>
            </a:avLst>
          </a:prstGeom>
          <a:solidFill>
            <a:srgbClr val="666666">
              <a:lumMod val="20000"/>
              <a:lumOff val="80000"/>
              <a:alpha val="21000"/>
            </a:srgbClr>
          </a:solidFill>
          <a:ln w="25400" cap="flat" cmpd="sng" algn="ctr">
            <a:noFill/>
            <a:prstDash val="solid"/>
          </a:ln>
          <a:effectLst/>
        </p:spPr>
        <p:txBody>
          <a:bodyPr lIns="91407" tIns="45703" rIns="91407" bIns="45703" rtlCol="0" anchor="ctr"/>
          <a:lstStyle/>
          <a:p>
            <a:pPr marL="0" marR="0" lvl="0" indent="0" algn="ctr" defTabSz="685342"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1D1D1A"/>
              </a:solidFill>
              <a:effectLst/>
              <a:uLnTx/>
              <a:uFillTx/>
            </a:endParaRPr>
          </a:p>
        </p:txBody>
      </p:sp>
      <p:sp>
        <p:nvSpPr>
          <p:cNvPr id="2" name="标题 1">
            <a:extLst>
              <a:ext uri="{FF2B5EF4-FFF2-40B4-BE49-F238E27FC236}">
                <a16:creationId xmlns="" xmlns:a16="http://schemas.microsoft.com/office/drawing/2014/main" id="{F4A87B3B-2340-4863-9DAF-435042352A72}"/>
              </a:ext>
            </a:extLst>
          </p:cNvPr>
          <p:cNvSpPr>
            <a:spLocks noGrp="1"/>
          </p:cNvSpPr>
          <p:nvPr>
            <p:ph type="title"/>
          </p:nvPr>
        </p:nvSpPr>
        <p:spPr bwMode="gray"/>
        <p:txBody>
          <a:bodyPr/>
          <a:lstStyle/>
          <a:p>
            <a:r>
              <a:rPr lang="zh-CN" altLang="en-US" dirty="0"/>
              <a:t>华为云广域网络解决方案概览</a:t>
            </a:r>
          </a:p>
        </p:txBody>
      </p:sp>
      <p:grpSp>
        <p:nvGrpSpPr>
          <p:cNvPr id="33" name="组合 32">
            <a:extLst>
              <a:ext uri="{FF2B5EF4-FFF2-40B4-BE49-F238E27FC236}">
                <a16:creationId xmlns="" xmlns:a16="http://schemas.microsoft.com/office/drawing/2014/main" id="{44CD68F1-DE6B-4338-A500-D07D5F71740E}"/>
              </a:ext>
            </a:extLst>
          </p:cNvPr>
          <p:cNvGrpSpPr/>
          <p:nvPr/>
        </p:nvGrpSpPr>
        <p:grpSpPr bwMode="gray">
          <a:xfrm>
            <a:off x="699514" y="4414201"/>
            <a:ext cx="4847173" cy="398068"/>
            <a:chOff x="2350925" y="4342080"/>
            <a:chExt cx="8769471" cy="341802"/>
          </a:xfrm>
        </p:grpSpPr>
        <p:sp>
          <p:nvSpPr>
            <p:cNvPr id="149" name="AutoShape 30">
              <a:extLst>
                <a:ext uri="{FF2B5EF4-FFF2-40B4-BE49-F238E27FC236}">
                  <a16:creationId xmlns="" xmlns:a16="http://schemas.microsoft.com/office/drawing/2014/main" id="{FAEED97E-44AD-4A11-AC5B-4BCD66DF176E}"/>
                </a:ext>
              </a:extLst>
            </p:cNvPr>
            <p:cNvSpPr>
              <a:spLocks noChangeArrowheads="1"/>
            </p:cNvSpPr>
            <p:nvPr/>
          </p:nvSpPr>
          <p:spPr bwMode="gray">
            <a:xfrm rot="5400000">
              <a:off x="6647451" y="864271"/>
              <a:ext cx="230426" cy="7215246"/>
            </a:xfrm>
            <a:prstGeom prst="can">
              <a:avLst>
                <a:gd name="adj" fmla="val 35210"/>
              </a:avLst>
            </a:prstGeom>
            <a:solidFill>
              <a:srgbClr val="DDDDDD">
                <a:alpha val="27000"/>
              </a:srgbClr>
            </a:solidFill>
            <a:ln w="3175">
              <a:solidFill>
                <a:srgbClr val="4F81BD">
                  <a:shade val="50000"/>
                </a:srgbClr>
              </a:solidFill>
              <a:prstDash val="dash"/>
              <a:round/>
              <a:headEnd/>
              <a:tailEnd/>
            </a:ln>
          </p:spPr>
          <p:txBody>
            <a:bodyPr rot="10800000" vert="eaVert" wrap="none" lIns="91359" tIns="45681" rIns="91359" bIns="45681" anchor="ctr"/>
            <a:ls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5638" algn="l" rtl="0" fontAlgn="base">
                <a:spcBef>
                  <a:spcPct val="0"/>
                </a:spcBef>
                <a:spcAft>
                  <a:spcPct val="0"/>
                </a:spcAft>
                <a:defRPr kern="1200">
                  <a:solidFill>
                    <a:schemeClr val="tx1"/>
                  </a:solidFill>
                  <a:latin typeface="Calibri" pitchFamily="34" charset="0"/>
                  <a:ea typeface="宋体" pitchFamily="2" charset="-122"/>
                  <a:cs typeface="+mn-cs"/>
                </a:defRPr>
              </a:lvl2pPr>
              <a:lvl3pPr marL="911273" algn="l" rtl="0" fontAlgn="base">
                <a:spcBef>
                  <a:spcPct val="0"/>
                </a:spcBef>
                <a:spcAft>
                  <a:spcPct val="0"/>
                </a:spcAft>
                <a:defRPr kern="1200">
                  <a:solidFill>
                    <a:schemeClr val="tx1"/>
                  </a:solidFill>
                  <a:latin typeface="Calibri" pitchFamily="34" charset="0"/>
                  <a:ea typeface="宋体" pitchFamily="2" charset="-122"/>
                  <a:cs typeface="+mn-cs"/>
                </a:defRPr>
              </a:lvl3pPr>
              <a:lvl4pPr marL="1366904" algn="l" rtl="0" fontAlgn="base">
                <a:spcBef>
                  <a:spcPct val="0"/>
                </a:spcBef>
                <a:spcAft>
                  <a:spcPct val="0"/>
                </a:spcAft>
                <a:defRPr kern="1200">
                  <a:solidFill>
                    <a:schemeClr val="tx1"/>
                  </a:solidFill>
                  <a:latin typeface="Calibri" pitchFamily="34" charset="0"/>
                  <a:ea typeface="宋体" pitchFamily="2" charset="-122"/>
                  <a:cs typeface="+mn-cs"/>
                </a:defRPr>
              </a:lvl4pPr>
              <a:lvl5pPr marL="1822542" algn="l" rtl="0" fontAlgn="base">
                <a:spcBef>
                  <a:spcPct val="0"/>
                </a:spcBef>
                <a:spcAft>
                  <a:spcPct val="0"/>
                </a:spcAft>
                <a:defRPr kern="1200">
                  <a:solidFill>
                    <a:schemeClr val="tx1"/>
                  </a:solidFill>
                  <a:latin typeface="Calibri" pitchFamily="34" charset="0"/>
                  <a:ea typeface="宋体" pitchFamily="2" charset="-122"/>
                  <a:cs typeface="+mn-cs"/>
                </a:defRPr>
              </a:lvl5pPr>
              <a:lvl6pPr marL="2278172" algn="l" defTabSz="911273" rtl="0" eaLnBrk="1" latinLnBrk="0" hangingPunct="1">
                <a:defRPr kern="1200">
                  <a:solidFill>
                    <a:schemeClr val="tx1"/>
                  </a:solidFill>
                  <a:latin typeface="Calibri" pitchFamily="34" charset="0"/>
                  <a:ea typeface="宋体" pitchFamily="2" charset="-122"/>
                  <a:cs typeface="+mn-cs"/>
                </a:defRPr>
              </a:lvl6pPr>
              <a:lvl7pPr marL="2733809" algn="l" defTabSz="911273" rtl="0" eaLnBrk="1" latinLnBrk="0" hangingPunct="1">
                <a:defRPr kern="1200">
                  <a:solidFill>
                    <a:schemeClr val="tx1"/>
                  </a:solidFill>
                  <a:latin typeface="Calibri" pitchFamily="34" charset="0"/>
                  <a:ea typeface="宋体" pitchFamily="2" charset="-122"/>
                  <a:cs typeface="+mn-cs"/>
                </a:defRPr>
              </a:lvl7pPr>
              <a:lvl8pPr marL="3189445" algn="l" defTabSz="911273" rtl="0" eaLnBrk="1" latinLnBrk="0" hangingPunct="1">
                <a:defRPr kern="1200">
                  <a:solidFill>
                    <a:schemeClr val="tx1"/>
                  </a:solidFill>
                  <a:latin typeface="Calibri" pitchFamily="34" charset="0"/>
                  <a:ea typeface="宋体" pitchFamily="2" charset="-122"/>
                  <a:cs typeface="+mn-cs"/>
                </a:defRPr>
              </a:lvl8pPr>
              <a:lvl9pPr marL="3645085" algn="l" defTabSz="911273" rtl="0" eaLnBrk="1" latinLnBrk="0" hangingPunct="1">
                <a:defRPr kern="1200">
                  <a:solidFill>
                    <a:schemeClr val="tx1"/>
                  </a:solidFill>
                  <a:latin typeface="Calibri" pitchFamily="34" charset="0"/>
                  <a:ea typeface="宋体" pitchFamily="2" charset="-122"/>
                  <a:cs typeface="+mn-cs"/>
                </a:defRPr>
              </a:lvl9pPr>
            </a:lstStyle>
            <a:p>
              <a:pPr marL="0" marR="0" lvl="0" indent="0" algn="ctr" defTabSz="913938"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0" cap="none" spc="0" normalizeH="0" baseline="0" noProof="0" dirty="0">
                <a:ln>
                  <a:noFill/>
                </a:ln>
                <a:solidFill>
                  <a:srgbClr val="1D1D1A"/>
                </a:solidFill>
                <a:effectLst/>
                <a:uLnTx/>
                <a:uFillTx/>
                <a:latin typeface="+mn-lt"/>
                <a:ea typeface="+mn-ea"/>
                <a:cs typeface="+mn-ea"/>
                <a:sym typeface="+mn-lt"/>
              </a:endParaRPr>
            </a:p>
          </p:txBody>
        </p:sp>
        <p:sp>
          <p:nvSpPr>
            <p:cNvPr id="150" name="Freeform 12">
              <a:extLst>
                <a:ext uri="{FF2B5EF4-FFF2-40B4-BE49-F238E27FC236}">
                  <a16:creationId xmlns="" xmlns:a16="http://schemas.microsoft.com/office/drawing/2014/main" id="{0C2A3328-6369-4FEF-968F-4A2856DF29CA}"/>
                </a:ext>
              </a:extLst>
            </p:cNvPr>
            <p:cNvSpPr>
              <a:spLocks/>
            </p:cNvSpPr>
            <p:nvPr/>
          </p:nvSpPr>
          <p:spPr bwMode="gray">
            <a:xfrm>
              <a:off x="2350925" y="4352216"/>
              <a:ext cx="912005" cy="234518"/>
            </a:xfrm>
            <a:custGeom>
              <a:avLst/>
              <a:gdLst>
                <a:gd name="T0" fmla="*/ 2368 w 2488"/>
                <a:gd name="T1" fmla="*/ 0 h 1122"/>
                <a:gd name="T2" fmla="*/ 120 w 2488"/>
                <a:gd name="T3" fmla="*/ 0 h 1122"/>
                <a:gd name="T4" fmla="*/ 0 w 2488"/>
                <a:gd name="T5" fmla="*/ 561 h 1122"/>
                <a:gd name="T6" fmla="*/ 120 w 2488"/>
                <a:gd name="T7" fmla="*/ 1122 h 1122"/>
                <a:gd name="T8" fmla="*/ 2368 w 2488"/>
                <a:gd name="T9" fmla="*/ 1122 h 1122"/>
                <a:gd name="T10" fmla="*/ 2488 w 2488"/>
                <a:gd name="T11" fmla="*/ 561 h 1122"/>
                <a:gd name="T12" fmla="*/ 2368 w 2488"/>
                <a:gd name="T13" fmla="*/ 0 h 1122"/>
              </a:gdLst>
              <a:ahLst/>
              <a:cxnLst>
                <a:cxn ang="0">
                  <a:pos x="T0" y="T1"/>
                </a:cxn>
                <a:cxn ang="0">
                  <a:pos x="T2" y="T3"/>
                </a:cxn>
                <a:cxn ang="0">
                  <a:pos x="T4" y="T5"/>
                </a:cxn>
                <a:cxn ang="0">
                  <a:pos x="T6" y="T7"/>
                </a:cxn>
                <a:cxn ang="0">
                  <a:pos x="T8" y="T9"/>
                </a:cxn>
                <a:cxn ang="0">
                  <a:pos x="T10" y="T11"/>
                </a:cxn>
                <a:cxn ang="0">
                  <a:pos x="T12" y="T13"/>
                </a:cxn>
              </a:cxnLst>
              <a:rect l="0" t="0" r="r" b="b"/>
              <a:pathLst>
                <a:path w="2488" h="1122">
                  <a:moveTo>
                    <a:pt x="2368" y="0"/>
                  </a:moveTo>
                  <a:cubicBezTo>
                    <a:pt x="120" y="0"/>
                    <a:pt x="120" y="0"/>
                    <a:pt x="120" y="0"/>
                  </a:cubicBezTo>
                  <a:cubicBezTo>
                    <a:pt x="54" y="0"/>
                    <a:pt x="0" y="252"/>
                    <a:pt x="0" y="561"/>
                  </a:cubicBezTo>
                  <a:cubicBezTo>
                    <a:pt x="0" y="871"/>
                    <a:pt x="54" y="1122"/>
                    <a:pt x="120" y="1122"/>
                  </a:cubicBezTo>
                  <a:cubicBezTo>
                    <a:pt x="2368" y="1122"/>
                    <a:pt x="2368" y="1122"/>
                    <a:pt x="2368" y="1122"/>
                  </a:cubicBezTo>
                  <a:cubicBezTo>
                    <a:pt x="2434" y="1122"/>
                    <a:pt x="2488" y="871"/>
                    <a:pt x="2488" y="561"/>
                  </a:cubicBezTo>
                  <a:cubicBezTo>
                    <a:pt x="2488" y="252"/>
                    <a:pt x="2434" y="0"/>
                    <a:pt x="2368" y="0"/>
                  </a:cubicBezTo>
                  <a:close/>
                </a:path>
              </a:pathLst>
            </a:custGeom>
            <a:solidFill>
              <a:srgbClr val="0070C0">
                <a:alpha val="80000"/>
              </a:srgbClr>
            </a:solidFill>
            <a:ln w="12700">
              <a:noFill/>
              <a:miter lim="800000"/>
              <a:headEnd/>
              <a:tailEnd/>
            </a:ln>
          </p:spPr>
          <p:txBody>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grpSp>
          <p:nvGrpSpPr>
            <p:cNvPr id="151" name="组合 258">
              <a:extLst>
                <a:ext uri="{FF2B5EF4-FFF2-40B4-BE49-F238E27FC236}">
                  <a16:creationId xmlns="" xmlns:a16="http://schemas.microsoft.com/office/drawing/2014/main" id="{2EB90C68-45AA-4FF1-8CA0-241BC84975E4}"/>
                </a:ext>
              </a:extLst>
            </p:cNvPr>
            <p:cNvGrpSpPr/>
            <p:nvPr/>
          </p:nvGrpSpPr>
          <p:grpSpPr bwMode="gray">
            <a:xfrm>
              <a:off x="10492350" y="4383601"/>
              <a:ext cx="411247" cy="185616"/>
              <a:chOff x="14673263" y="8921751"/>
              <a:chExt cx="2636837" cy="1538288"/>
            </a:xfrm>
          </p:grpSpPr>
          <p:sp>
            <p:nvSpPr>
              <p:cNvPr id="154" name="Rectangle 6">
                <a:extLst>
                  <a:ext uri="{FF2B5EF4-FFF2-40B4-BE49-F238E27FC236}">
                    <a16:creationId xmlns="" xmlns:a16="http://schemas.microsoft.com/office/drawing/2014/main" id="{91551C63-3EB5-47AB-B9A6-CD6C7AF26CCA}"/>
                  </a:ext>
                </a:extLst>
              </p:cNvPr>
              <p:cNvSpPr>
                <a:spLocks noChangeArrowheads="1"/>
              </p:cNvSpPr>
              <p:nvPr/>
            </p:nvSpPr>
            <p:spPr bwMode="gray">
              <a:xfrm>
                <a:off x="14673263" y="10242551"/>
                <a:ext cx="198437" cy="157163"/>
              </a:xfrm>
              <a:prstGeom prst="rect">
                <a:avLst/>
              </a:pr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55" name="Rectangle 7">
                <a:extLst>
                  <a:ext uri="{FF2B5EF4-FFF2-40B4-BE49-F238E27FC236}">
                    <a16:creationId xmlns="" xmlns:a16="http://schemas.microsoft.com/office/drawing/2014/main" id="{2B166809-FB16-46D2-9CF0-A362CCFD732C}"/>
                  </a:ext>
                </a:extLst>
              </p:cNvPr>
              <p:cNvSpPr>
                <a:spLocks noChangeArrowheads="1"/>
              </p:cNvSpPr>
              <p:nvPr/>
            </p:nvSpPr>
            <p:spPr bwMode="gray">
              <a:xfrm>
                <a:off x="14673263" y="10055226"/>
                <a:ext cx="198437" cy="157163"/>
              </a:xfrm>
              <a:prstGeom prst="rect">
                <a:avLst/>
              </a:pr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56" name="Freeform 8">
                <a:extLst>
                  <a:ext uri="{FF2B5EF4-FFF2-40B4-BE49-F238E27FC236}">
                    <a16:creationId xmlns="" xmlns:a16="http://schemas.microsoft.com/office/drawing/2014/main" id="{84E1D5A0-3891-4DA1-8C22-297FB37AE547}"/>
                  </a:ext>
                </a:extLst>
              </p:cNvPr>
              <p:cNvSpPr>
                <a:spLocks/>
              </p:cNvSpPr>
              <p:nvPr/>
            </p:nvSpPr>
            <p:spPr bwMode="gray">
              <a:xfrm>
                <a:off x="14871700" y="9994901"/>
                <a:ext cx="511175" cy="465138"/>
              </a:xfrm>
              <a:custGeom>
                <a:avLst/>
                <a:gdLst>
                  <a:gd name="T0" fmla="*/ 114 w 136"/>
                  <a:gd name="T1" fmla="*/ 0 h 124"/>
                  <a:gd name="T2" fmla="*/ 0 w 136"/>
                  <a:gd name="T3" fmla="*/ 0 h 124"/>
                  <a:gd name="T4" fmla="*/ 0 w 136"/>
                  <a:gd name="T5" fmla="*/ 124 h 124"/>
                  <a:gd name="T6" fmla="*/ 114 w 136"/>
                  <a:gd name="T7" fmla="*/ 124 h 124"/>
                  <a:gd name="T8" fmla="*/ 136 w 136"/>
                  <a:gd name="T9" fmla="*/ 102 h 124"/>
                  <a:gd name="T10" fmla="*/ 136 w 136"/>
                  <a:gd name="T11" fmla="*/ 22 h 124"/>
                  <a:gd name="T12" fmla="*/ 114 w 136"/>
                  <a:gd name="T13" fmla="*/ 0 h 124"/>
                </a:gdLst>
                <a:ahLst/>
                <a:cxnLst>
                  <a:cxn ang="0">
                    <a:pos x="T0" y="T1"/>
                  </a:cxn>
                  <a:cxn ang="0">
                    <a:pos x="T2" y="T3"/>
                  </a:cxn>
                  <a:cxn ang="0">
                    <a:pos x="T4" y="T5"/>
                  </a:cxn>
                  <a:cxn ang="0">
                    <a:pos x="T6" y="T7"/>
                  </a:cxn>
                  <a:cxn ang="0">
                    <a:pos x="T8" y="T9"/>
                  </a:cxn>
                  <a:cxn ang="0">
                    <a:pos x="T10" y="T11"/>
                  </a:cxn>
                  <a:cxn ang="0">
                    <a:pos x="T12" y="T13"/>
                  </a:cxn>
                </a:cxnLst>
                <a:rect l="0" t="0" r="r" b="b"/>
                <a:pathLst>
                  <a:path w="136" h="124">
                    <a:moveTo>
                      <a:pt x="114" y="0"/>
                    </a:moveTo>
                    <a:cubicBezTo>
                      <a:pt x="0" y="0"/>
                      <a:pt x="0" y="0"/>
                      <a:pt x="0" y="0"/>
                    </a:cubicBezTo>
                    <a:cubicBezTo>
                      <a:pt x="0" y="124"/>
                      <a:pt x="0" y="124"/>
                      <a:pt x="0" y="124"/>
                    </a:cubicBezTo>
                    <a:cubicBezTo>
                      <a:pt x="114" y="124"/>
                      <a:pt x="114" y="124"/>
                      <a:pt x="114" y="124"/>
                    </a:cubicBezTo>
                    <a:cubicBezTo>
                      <a:pt x="126" y="124"/>
                      <a:pt x="136" y="114"/>
                      <a:pt x="136" y="102"/>
                    </a:cubicBezTo>
                    <a:cubicBezTo>
                      <a:pt x="136" y="22"/>
                      <a:pt x="136" y="22"/>
                      <a:pt x="136" y="22"/>
                    </a:cubicBezTo>
                    <a:cubicBezTo>
                      <a:pt x="136" y="10"/>
                      <a:pt x="126" y="0"/>
                      <a:pt x="114" y="0"/>
                    </a:cubicBezTo>
                    <a:close/>
                  </a:path>
                </a:pathLst>
              </a:cu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57" name="Freeform 9">
                <a:extLst>
                  <a:ext uri="{FF2B5EF4-FFF2-40B4-BE49-F238E27FC236}">
                    <a16:creationId xmlns="" xmlns:a16="http://schemas.microsoft.com/office/drawing/2014/main" id="{E5DFED74-EA39-475B-A685-4C1608916603}"/>
                  </a:ext>
                </a:extLst>
              </p:cNvPr>
              <p:cNvSpPr>
                <a:spLocks/>
              </p:cNvSpPr>
              <p:nvPr/>
            </p:nvSpPr>
            <p:spPr bwMode="gray">
              <a:xfrm>
                <a:off x="15382875" y="10136188"/>
                <a:ext cx="138112" cy="180975"/>
              </a:xfrm>
              <a:custGeom>
                <a:avLst/>
                <a:gdLst>
                  <a:gd name="T0" fmla="*/ 28 w 37"/>
                  <a:gd name="T1" fmla="*/ 0 h 48"/>
                  <a:gd name="T2" fmla="*/ 0 w 37"/>
                  <a:gd name="T3" fmla="*/ 0 h 48"/>
                  <a:gd name="T4" fmla="*/ 0 w 37"/>
                  <a:gd name="T5" fmla="*/ 48 h 48"/>
                  <a:gd name="T6" fmla="*/ 28 w 37"/>
                  <a:gd name="T7" fmla="*/ 48 h 48"/>
                  <a:gd name="T8" fmla="*/ 37 w 37"/>
                  <a:gd name="T9" fmla="*/ 40 h 48"/>
                  <a:gd name="T10" fmla="*/ 37 w 37"/>
                  <a:gd name="T11" fmla="*/ 8 h 48"/>
                  <a:gd name="T12" fmla="*/ 28 w 37"/>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37" h="48">
                    <a:moveTo>
                      <a:pt x="28" y="0"/>
                    </a:moveTo>
                    <a:cubicBezTo>
                      <a:pt x="0" y="0"/>
                      <a:pt x="0" y="0"/>
                      <a:pt x="0" y="0"/>
                    </a:cubicBezTo>
                    <a:cubicBezTo>
                      <a:pt x="0" y="48"/>
                      <a:pt x="0" y="48"/>
                      <a:pt x="0" y="48"/>
                    </a:cubicBezTo>
                    <a:cubicBezTo>
                      <a:pt x="28" y="48"/>
                      <a:pt x="28" y="48"/>
                      <a:pt x="28" y="48"/>
                    </a:cubicBezTo>
                    <a:cubicBezTo>
                      <a:pt x="33" y="48"/>
                      <a:pt x="37" y="44"/>
                      <a:pt x="37" y="40"/>
                    </a:cubicBezTo>
                    <a:cubicBezTo>
                      <a:pt x="37" y="8"/>
                      <a:pt x="37" y="8"/>
                      <a:pt x="37" y="8"/>
                    </a:cubicBezTo>
                    <a:cubicBezTo>
                      <a:pt x="37" y="4"/>
                      <a:pt x="33" y="0"/>
                      <a:pt x="28" y="0"/>
                    </a:cubicBezTo>
                    <a:close/>
                  </a:path>
                </a:pathLst>
              </a:cu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58" name="Line 10">
                <a:extLst>
                  <a:ext uri="{FF2B5EF4-FFF2-40B4-BE49-F238E27FC236}">
                    <a16:creationId xmlns="" xmlns:a16="http://schemas.microsoft.com/office/drawing/2014/main" id="{09BBBA8A-8B7E-4228-A432-021E48B1E733}"/>
                  </a:ext>
                </a:extLst>
              </p:cNvPr>
              <p:cNvSpPr>
                <a:spLocks noChangeShapeType="1"/>
              </p:cNvSpPr>
              <p:nvPr/>
            </p:nvSpPr>
            <p:spPr bwMode="gray">
              <a:xfrm>
                <a:off x="15022513" y="10110788"/>
                <a:ext cx="0" cy="231775"/>
              </a:xfrm>
              <a:prstGeom prst="line">
                <a:avLst/>
              </a:prstGeom>
              <a:noFill/>
              <a:ln w="9"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59" name="Line 11">
                <a:extLst>
                  <a:ext uri="{FF2B5EF4-FFF2-40B4-BE49-F238E27FC236}">
                    <a16:creationId xmlns="" xmlns:a16="http://schemas.microsoft.com/office/drawing/2014/main" id="{4F3B61F9-02F5-4AFC-927A-9D04377FA3BA}"/>
                  </a:ext>
                </a:extLst>
              </p:cNvPr>
              <p:cNvSpPr>
                <a:spLocks noChangeShapeType="1"/>
              </p:cNvSpPr>
              <p:nvPr/>
            </p:nvSpPr>
            <p:spPr bwMode="gray">
              <a:xfrm>
                <a:off x="15127288" y="10110788"/>
                <a:ext cx="0" cy="231775"/>
              </a:xfrm>
              <a:prstGeom prst="line">
                <a:avLst/>
              </a:prstGeom>
              <a:noFill/>
              <a:ln w="9"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0" name="Rectangle 12">
                <a:extLst>
                  <a:ext uri="{FF2B5EF4-FFF2-40B4-BE49-F238E27FC236}">
                    <a16:creationId xmlns="" xmlns:a16="http://schemas.microsoft.com/office/drawing/2014/main" id="{6FB61CB0-8020-4BDA-A9C8-84BEE3D79BE2}"/>
                  </a:ext>
                </a:extLst>
              </p:cNvPr>
              <p:cNvSpPr>
                <a:spLocks noChangeArrowheads="1"/>
              </p:cNvSpPr>
              <p:nvPr/>
            </p:nvSpPr>
            <p:spPr bwMode="gray">
              <a:xfrm>
                <a:off x="17111663" y="8982076"/>
                <a:ext cx="198437" cy="157163"/>
              </a:xfrm>
              <a:prstGeom prst="rect">
                <a:avLst/>
              </a:pr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1" name="Rectangle 13">
                <a:extLst>
                  <a:ext uri="{FF2B5EF4-FFF2-40B4-BE49-F238E27FC236}">
                    <a16:creationId xmlns="" xmlns:a16="http://schemas.microsoft.com/office/drawing/2014/main" id="{57473769-717A-4FCB-A0DC-6D29DC9FAC7E}"/>
                  </a:ext>
                </a:extLst>
              </p:cNvPr>
              <p:cNvSpPr>
                <a:spLocks noChangeArrowheads="1"/>
              </p:cNvSpPr>
              <p:nvPr/>
            </p:nvSpPr>
            <p:spPr bwMode="gray">
              <a:xfrm>
                <a:off x="17111663" y="9169401"/>
                <a:ext cx="198437" cy="157163"/>
              </a:xfrm>
              <a:prstGeom prst="rect">
                <a:avLst/>
              </a:pr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2" name="Freeform 14">
                <a:extLst>
                  <a:ext uri="{FF2B5EF4-FFF2-40B4-BE49-F238E27FC236}">
                    <a16:creationId xmlns="" xmlns:a16="http://schemas.microsoft.com/office/drawing/2014/main" id="{669E55FC-6730-4F11-B4A7-48F998FCD301}"/>
                  </a:ext>
                </a:extLst>
              </p:cNvPr>
              <p:cNvSpPr>
                <a:spLocks/>
              </p:cNvSpPr>
              <p:nvPr/>
            </p:nvSpPr>
            <p:spPr bwMode="gray">
              <a:xfrm>
                <a:off x="16600488" y="8921751"/>
                <a:ext cx="511175" cy="465138"/>
              </a:xfrm>
              <a:custGeom>
                <a:avLst/>
                <a:gdLst>
                  <a:gd name="T0" fmla="*/ 22 w 136"/>
                  <a:gd name="T1" fmla="*/ 124 h 124"/>
                  <a:gd name="T2" fmla="*/ 136 w 136"/>
                  <a:gd name="T3" fmla="*/ 124 h 124"/>
                  <a:gd name="T4" fmla="*/ 136 w 136"/>
                  <a:gd name="T5" fmla="*/ 0 h 124"/>
                  <a:gd name="T6" fmla="*/ 22 w 136"/>
                  <a:gd name="T7" fmla="*/ 0 h 124"/>
                  <a:gd name="T8" fmla="*/ 0 w 136"/>
                  <a:gd name="T9" fmla="*/ 22 h 124"/>
                  <a:gd name="T10" fmla="*/ 0 w 136"/>
                  <a:gd name="T11" fmla="*/ 102 h 124"/>
                  <a:gd name="T12" fmla="*/ 22 w 136"/>
                  <a:gd name="T13" fmla="*/ 124 h 124"/>
                </a:gdLst>
                <a:ahLst/>
                <a:cxnLst>
                  <a:cxn ang="0">
                    <a:pos x="T0" y="T1"/>
                  </a:cxn>
                  <a:cxn ang="0">
                    <a:pos x="T2" y="T3"/>
                  </a:cxn>
                  <a:cxn ang="0">
                    <a:pos x="T4" y="T5"/>
                  </a:cxn>
                  <a:cxn ang="0">
                    <a:pos x="T6" y="T7"/>
                  </a:cxn>
                  <a:cxn ang="0">
                    <a:pos x="T8" y="T9"/>
                  </a:cxn>
                  <a:cxn ang="0">
                    <a:pos x="T10" y="T11"/>
                  </a:cxn>
                  <a:cxn ang="0">
                    <a:pos x="T12" y="T13"/>
                  </a:cxn>
                </a:cxnLst>
                <a:rect l="0" t="0" r="r" b="b"/>
                <a:pathLst>
                  <a:path w="136" h="124">
                    <a:moveTo>
                      <a:pt x="22" y="124"/>
                    </a:moveTo>
                    <a:cubicBezTo>
                      <a:pt x="136" y="124"/>
                      <a:pt x="136" y="124"/>
                      <a:pt x="136" y="124"/>
                    </a:cubicBezTo>
                    <a:cubicBezTo>
                      <a:pt x="136" y="0"/>
                      <a:pt x="136" y="0"/>
                      <a:pt x="136" y="0"/>
                    </a:cubicBezTo>
                    <a:cubicBezTo>
                      <a:pt x="22" y="0"/>
                      <a:pt x="22" y="0"/>
                      <a:pt x="22" y="0"/>
                    </a:cubicBezTo>
                    <a:cubicBezTo>
                      <a:pt x="10" y="0"/>
                      <a:pt x="0" y="10"/>
                      <a:pt x="0" y="22"/>
                    </a:cubicBezTo>
                    <a:cubicBezTo>
                      <a:pt x="0" y="102"/>
                      <a:pt x="0" y="102"/>
                      <a:pt x="0" y="102"/>
                    </a:cubicBezTo>
                    <a:cubicBezTo>
                      <a:pt x="0" y="114"/>
                      <a:pt x="10" y="124"/>
                      <a:pt x="22" y="124"/>
                    </a:cubicBezTo>
                    <a:close/>
                  </a:path>
                </a:pathLst>
              </a:cu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3" name="Freeform 15">
                <a:extLst>
                  <a:ext uri="{FF2B5EF4-FFF2-40B4-BE49-F238E27FC236}">
                    <a16:creationId xmlns="" xmlns:a16="http://schemas.microsoft.com/office/drawing/2014/main" id="{4F816E0B-3873-42DF-B1BD-B8965686AEA6}"/>
                  </a:ext>
                </a:extLst>
              </p:cNvPr>
              <p:cNvSpPr>
                <a:spLocks/>
              </p:cNvSpPr>
              <p:nvPr/>
            </p:nvSpPr>
            <p:spPr bwMode="gray">
              <a:xfrm>
                <a:off x="16465550" y="9064626"/>
                <a:ext cx="134937" cy="179388"/>
              </a:xfrm>
              <a:custGeom>
                <a:avLst/>
                <a:gdLst>
                  <a:gd name="T0" fmla="*/ 9 w 36"/>
                  <a:gd name="T1" fmla="*/ 48 h 48"/>
                  <a:gd name="T2" fmla="*/ 36 w 36"/>
                  <a:gd name="T3" fmla="*/ 48 h 48"/>
                  <a:gd name="T4" fmla="*/ 36 w 36"/>
                  <a:gd name="T5" fmla="*/ 0 h 48"/>
                  <a:gd name="T6" fmla="*/ 9 w 36"/>
                  <a:gd name="T7" fmla="*/ 0 h 48"/>
                  <a:gd name="T8" fmla="*/ 0 w 36"/>
                  <a:gd name="T9" fmla="*/ 8 h 48"/>
                  <a:gd name="T10" fmla="*/ 0 w 36"/>
                  <a:gd name="T11" fmla="*/ 40 h 48"/>
                  <a:gd name="T12" fmla="*/ 9 w 36"/>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36" h="48">
                    <a:moveTo>
                      <a:pt x="9" y="48"/>
                    </a:moveTo>
                    <a:cubicBezTo>
                      <a:pt x="36" y="48"/>
                      <a:pt x="36" y="48"/>
                      <a:pt x="36" y="48"/>
                    </a:cubicBezTo>
                    <a:cubicBezTo>
                      <a:pt x="36" y="0"/>
                      <a:pt x="36" y="0"/>
                      <a:pt x="36" y="0"/>
                    </a:cubicBezTo>
                    <a:cubicBezTo>
                      <a:pt x="9" y="0"/>
                      <a:pt x="9" y="0"/>
                      <a:pt x="9" y="0"/>
                    </a:cubicBezTo>
                    <a:cubicBezTo>
                      <a:pt x="4" y="0"/>
                      <a:pt x="0" y="4"/>
                      <a:pt x="0" y="8"/>
                    </a:cubicBezTo>
                    <a:cubicBezTo>
                      <a:pt x="0" y="40"/>
                      <a:pt x="0" y="40"/>
                      <a:pt x="0" y="40"/>
                    </a:cubicBezTo>
                    <a:cubicBezTo>
                      <a:pt x="0" y="44"/>
                      <a:pt x="4" y="48"/>
                      <a:pt x="9" y="48"/>
                    </a:cubicBezTo>
                    <a:close/>
                  </a:path>
                </a:pathLst>
              </a:cu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4" name="Line 16">
                <a:extLst>
                  <a:ext uri="{FF2B5EF4-FFF2-40B4-BE49-F238E27FC236}">
                    <a16:creationId xmlns="" xmlns:a16="http://schemas.microsoft.com/office/drawing/2014/main" id="{ECE20650-4FB7-46EC-9C29-75E081CB9FF5}"/>
                  </a:ext>
                </a:extLst>
              </p:cNvPr>
              <p:cNvSpPr>
                <a:spLocks noChangeShapeType="1"/>
              </p:cNvSpPr>
              <p:nvPr/>
            </p:nvSpPr>
            <p:spPr bwMode="gray">
              <a:xfrm flipV="1">
                <a:off x="16960850" y="9037638"/>
                <a:ext cx="0" cy="233363"/>
              </a:xfrm>
              <a:prstGeom prst="line">
                <a:avLst/>
              </a:prstGeom>
              <a:noFill/>
              <a:ln w="9"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5" name="Line 17">
                <a:extLst>
                  <a:ext uri="{FF2B5EF4-FFF2-40B4-BE49-F238E27FC236}">
                    <a16:creationId xmlns="" xmlns:a16="http://schemas.microsoft.com/office/drawing/2014/main" id="{A22A0EFF-554A-45C1-AC11-0EE3C240BA4C}"/>
                  </a:ext>
                </a:extLst>
              </p:cNvPr>
              <p:cNvSpPr>
                <a:spLocks noChangeShapeType="1"/>
              </p:cNvSpPr>
              <p:nvPr/>
            </p:nvSpPr>
            <p:spPr bwMode="gray">
              <a:xfrm flipV="1">
                <a:off x="16856075" y="9037638"/>
                <a:ext cx="0" cy="233363"/>
              </a:xfrm>
              <a:prstGeom prst="line">
                <a:avLst/>
              </a:prstGeom>
              <a:noFill/>
              <a:ln w="9"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6" name="Freeform 18">
                <a:extLst>
                  <a:ext uri="{FF2B5EF4-FFF2-40B4-BE49-F238E27FC236}">
                    <a16:creationId xmlns="" xmlns:a16="http://schemas.microsoft.com/office/drawing/2014/main" id="{4B3F9807-4463-4B24-8DE0-4C7AADEADA25}"/>
                  </a:ext>
                </a:extLst>
              </p:cNvPr>
              <p:cNvSpPr>
                <a:spLocks/>
              </p:cNvSpPr>
              <p:nvPr/>
            </p:nvSpPr>
            <p:spPr bwMode="gray">
              <a:xfrm>
                <a:off x="15251113" y="9153526"/>
                <a:ext cx="1495425" cy="536575"/>
              </a:xfrm>
              <a:custGeom>
                <a:avLst/>
                <a:gdLst>
                  <a:gd name="T0" fmla="*/ 399 w 399"/>
                  <a:gd name="T1" fmla="*/ 143 h 143"/>
                  <a:gd name="T2" fmla="*/ 72 w 399"/>
                  <a:gd name="T3" fmla="*/ 143 h 143"/>
                  <a:gd name="T4" fmla="*/ 0 w 399"/>
                  <a:gd name="T5" fmla="*/ 71 h 143"/>
                  <a:gd name="T6" fmla="*/ 0 w 399"/>
                  <a:gd name="T7" fmla="*/ 71 h 143"/>
                  <a:gd name="T8" fmla="*/ 72 w 399"/>
                  <a:gd name="T9" fmla="*/ 0 h 143"/>
                  <a:gd name="T10" fmla="*/ 324 w 399"/>
                  <a:gd name="T11" fmla="*/ 0 h 143"/>
                </a:gdLst>
                <a:ahLst/>
                <a:cxnLst>
                  <a:cxn ang="0">
                    <a:pos x="T0" y="T1"/>
                  </a:cxn>
                  <a:cxn ang="0">
                    <a:pos x="T2" y="T3"/>
                  </a:cxn>
                  <a:cxn ang="0">
                    <a:pos x="T4" y="T5"/>
                  </a:cxn>
                  <a:cxn ang="0">
                    <a:pos x="T6" y="T7"/>
                  </a:cxn>
                  <a:cxn ang="0">
                    <a:pos x="T8" y="T9"/>
                  </a:cxn>
                  <a:cxn ang="0">
                    <a:pos x="T10" y="T11"/>
                  </a:cxn>
                </a:cxnLst>
                <a:rect l="0" t="0" r="r" b="b"/>
                <a:pathLst>
                  <a:path w="399" h="143">
                    <a:moveTo>
                      <a:pt x="399" y="143"/>
                    </a:moveTo>
                    <a:cubicBezTo>
                      <a:pt x="72" y="143"/>
                      <a:pt x="72" y="143"/>
                      <a:pt x="72" y="143"/>
                    </a:cubicBezTo>
                    <a:cubicBezTo>
                      <a:pt x="32" y="143"/>
                      <a:pt x="0" y="111"/>
                      <a:pt x="0" y="71"/>
                    </a:cubicBezTo>
                    <a:cubicBezTo>
                      <a:pt x="0" y="71"/>
                      <a:pt x="0" y="71"/>
                      <a:pt x="0" y="71"/>
                    </a:cubicBezTo>
                    <a:cubicBezTo>
                      <a:pt x="0" y="32"/>
                      <a:pt x="32" y="0"/>
                      <a:pt x="72" y="0"/>
                    </a:cubicBezTo>
                    <a:cubicBezTo>
                      <a:pt x="324" y="0"/>
                      <a:pt x="324" y="0"/>
                      <a:pt x="324" y="0"/>
                    </a:cubicBezTo>
                  </a:path>
                </a:pathLst>
              </a:cu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67" name="Freeform 19">
                <a:extLst>
                  <a:ext uri="{FF2B5EF4-FFF2-40B4-BE49-F238E27FC236}">
                    <a16:creationId xmlns="" xmlns:a16="http://schemas.microsoft.com/office/drawing/2014/main" id="{56FF33B7-39E3-4247-9C2F-106496DE2F27}"/>
                  </a:ext>
                </a:extLst>
              </p:cNvPr>
              <p:cNvSpPr>
                <a:spLocks/>
              </p:cNvSpPr>
              <p:nvPr/>
            </p:nvSpPr>
            <p:spPr bwMode="gray">
              <a:xfrm>
                <a:off x="15520988" y="9690101"/>
                <a:ext cx="1492250" cy="536575"/>
              </a:xfrm>
              <a:custGeom>
                <a:avLst/>
                <a:gdLst>
                  <a:gd name="T0" fmla="*/ 0 w 398"/>
                  <a:gd name="T1" fmla="*/ 0 h 143"/>
                  <a:gd name="T2" fmla="*/ 327 w 398"/>
                  <a:gd name="T3" fmla="*/ 0 h 143"/>
                  <a:gd name="T4" fmla="*/ 398 w 398"/>
                  <a:gd name="T5" fmla="*/ 72 h 143"/>
                  <a:gd name="T6" fmla="*/ 398 w 398"/>
                  <a:gd name="T7" fmla="*/ 72 h 143"/>
                  <a:gd name="T8" fmla="*/ 327 w 398"/>
                  <a:gd name="T9" fmla="*/ 143 h 143"/>
                  <a:gd name="T10" fmla="*/ 0 w 398"/>
                  <a:gd name="T11" fmla="*/ 143 h 143"/>
                </a:gdLst>
                <a:ahLst/>
                <a:cxnLst>
                  <a:cxn ang="0">
                    <a:pos x="T0" y="T1"/>
                  </a:cxn>
                  <a:cxn ang="0">
                    <a:pos x="T2" y="T3"/>
                  </a:cxn>
                  <a:cxn ang="0">
                    <a:pos x="T4" y="T5"/>
                  </a:cxn>
                  <a:cxn ang="0">
                    <a:pos x="T6" y="T7"/>
                  </a:cxn>
                  <a:cxn ang="0">
                    <a:pos x="T8" y="T9"/>
                  </a:cxn>
                  <a:cxn ang="0">
                    <a:pos x="T10" y="T11"/>
                  </a:cxn>
                </a:cxnLst>
                <a:rect l="0" t="0" r="r" b="b"/>
                <a:pathLst>
                  <a:path w="398" h="143">
                    <a:moveTo>
                      <a:pt x="0" y="0"/>
                    </a:moveTo>
                    <a:cubicBezTo>
                      <a:pt x="327" y="0"/>
                      <a:pt x="327" y="0"/>
                      <a:pt x="327" y="0"/>
                    </a:cubicBezTo>
                    <a:cubicBezTo>
                      <a:pt x="366" y="0"/>
                      <a:pt x="398" y="32"/>
                      <a:pt x="398" y="72"/>
                    </a:cubicBezTo>
                    <a:cubicBezTo>
                      <a:pt x="398" y="72"/>
                      <a:pt x="398" y="72"/>
                      <a:pt x="398" y="72"/>
                    </a:cubicBezTo>
                    <a:cubicBezTo>
                      <a:pt x="398" y="111"/>
                      <a:pt x="366" y="143"/>
                      <a:pt x="327" y="143"/>
                    </a:cubicBezTo>
                    <a:cubicBezTo>
                      <a:pt x="0" y="143"/>
                      <a:pt x="0" y="143"/>
                      <a:pt x="0" y="143"/>
                    </a:cubicBezTo>
                  </a:path>
                </a:pathLst>
              </a:custGeom>
              <a:noFill/>
              <a:ln w="9"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3352" tIns="56676" rIns="113352" bIns="56676" numCol="1" anchor="t" anchorCtr="0" compatLnSpc="1">
                <a:prstTxWarp prst="textNoShape">
                  <a:avLst/>
                </a:prstTxWarp>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grpSp>
        <p:sp>
          <p:nvSpPr>
            <p:cNvPr id="152" name="TextBox 428">
              <a:extLst>
                <a:ext uri="{FF2B5EF4-FFF2-40B4-BE49-F238E27FC236}">
                  <a16:creationId xmlns="" xmlns:a16="http://schemas.microsoft.com/office/drawing/2014/main" id="{3D414C12-E7A7-461F-AA22-C249475E5A7F}"/>
                </a:ext>
              </a:extLst>
            </p:cNvPr>
            <p:cNvSpPr txBox="1"/>
            <p:nvPr/>
          </p:nvSpPr>
          <p:spPr bwMode="gray">
            <a:xfrm>
              <a:off x="5827836" y="4342080"/>
              <a:ext cx="1743564" cy="341802"/>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lumMod val="90000"/>
                      <a:lumOff val="10000"/>
                    </a:srgbClr>
                  </a:solidFill>
                  <a:effectLst/>
                  <a:uLnTx/>
                  <a:uFillTx/>
                  <a:cs typeface="+mn-ea"/>
                  <a:sym typeface="+mn-lt"/>
                </a:rPr>
                <a:t>E2E SRv6</a:t>
              </a:r>
              <a:endParaRPr kumimoji="0" lang="zh-CN" altLang="en-US" sz="1400" b="1" i="0" u="none" strike="noStrike" kern="0" cap="none" spc="0" normalizeH="0" baseline="0" noProof="0" dirty="0">
                <a:ln>
                  <a:noFill/>
                </a:ln>
                <a:solidFill>
                  <a:srgbClr val="1D1D1A">
                    <a:lumMod val="90000"/>
                    <a:lumOff val="10000"/>
                  </a:srgbClr>
                </a:solidFill>
                <a:effectLst/>
                <a:uLnTx/>
                <a:uFillTx/>
                <a:cs typeface="+mn-ea"/>
                <a:sym typeface="+mn-lt"/>
              </a:endParaRPr>
            </a:p>
          </p:txBody>
        </p:sp>
        <p:sp>
          <p:nvSpPr>
            <p:cNvPr id="153" name="Freeform 12">
              <a:extLst>
                <a:ext uri="{FF2B5EF4-FFF2-40B4-BE49-F238E27FC236}">
                  <a16:creationId xmlns="" xmlns:a16="http://schemas.microsoft.com/office/drawing/2014/main" id="{B7FFE03F-1658-470F-A3B1-CA50A79430FC}"/>
                </a:ext>
              </a:extLst>
            </p:cNvPr>
            <p:cNvSpPr>
              <a:spLocks/>
            </p:cNvSpPr>
            <p:nvPr/>
          </p:nvSpPr>
          <p:spPr bwMode="gray">
            <a:xfrm>
              <a:off x="10276672" y="4352215"/>
              <a:ext cx="843724" cy="234518"/>
            </a:xfrm>
            <a:custGeom>
              <a:avLst/>
              <a:gdLst>
                <a:gd name="T0" fmla="*/ 2368 w 2488"/>
                <a:gd name="T1" fmla="*/ 0 h 1122"/>
                <a:gd name="T2" fmla="*/ 120 w 2488"/>
                <a:gd name="T3" fmla="*/ 0 h 1122"/>
                <a:gd name="T4" fmla="*/ 0 w 2488"/>
                <a:gd name="T5" fmla="*/ 561 h 1122"/>
                <a:gd name="T6" fmla="*/ 120 w 2488"/>
                <a:gd name="T7" fmla="*/ 1122 h 1122"/>
                <a:gd name="T8" fmla="*/ 2368 w 2488"/>
                <a:gd name="T9" fmla="*/ 1122 h 1122"/>
                <a:gd name="T10" fmla="*/ 2488 w 2488"/>
                <a:gd name="T11" fmla="*/ 561 h 1122"/>
                <a:gd name="T12" fmla="*/ 2368 w 2488"/>
                <a:gd name="T13" fmla="*/ 0 h 1122"/>
              </a:gdLst>
              <a:ahLst/>
              <a:cxnLst>
                <a:cxn ang="0">
                  <a:pos x="T0" y="T1"/>
                </a:cxn>
                <a:cxn ang="0">
                  <a:pos x="T2" y="T3"/>
                </a:cxn>
                <a:cxn ang="0">
                  <a:pos x="T4" y="T5"/>
                </a:cxn>
                <a:cxn ang="0">
                  <a:pos x="T6" y="T7"/>
                </a:cxn>
                <a:cxn ang="0">
                  <a:pos x="T8" y="T9"/>
                </a:cxn>
                <a:cxn ang="0">
                  <a:pos x="T10" y="T11"/>
                </a:cxn>
                <a:cxn ang="0">
                  <a:pos x="T12" y="T13"/>
                </a:cxn>
              </a:cxnLst>
              <a:rect l="0" t="0" r="r" b="b"/>
              <a:pathLst>
                <a:path w="2488" h="1122">
                  <a:moveTo>
                    <a:pt x="2368" y="0"/>
                  </a:moveTo>
                  <a:cubicBezTo>
                    <a:pt x="120" y="0"/>
                    <a:pt x="120" y="0"/>
                    <a:pt x="120" y="0"/>
                  </a:cubicBezTo>
                  <a:cubicBezTo>
                    <a:pt x="54" y="0"/>
                    <a:pt x="0" y="252"/>
                    <a:pt x="0" y="561"/>
                  </a:cubicBezTo>
                  <a:cubicBezTo>
                    <a:pt x="0" y="871"/>
                    <a:pt x="54" y="1122"/>
                    <a:pt x="120" y="1122"/>
                  </a:cubicBezTo>
                  <a:cubicBezTo>
                    <a:pt x="2368" y="1122"/>
                    <a:pt x="2368" y="1122"/>
                    <a:pt x="2368" y="1122"/>
                  </a:cubicBezTo>
                  <a:cubicBezTo>
                    <a:pt x="2434" y="1122"/>
                    <a:pt x="2488" y="871"/>
                    <a:pt x="2488" y="561"/>
                  </a:cubicBezTo>
                  <a:cubicBezTo>
                    <a:pt x="2488" y="252"/>
                    <a:pt x="2434" y="0"/>
                    <a:pt x="2368" y="0"/>
                  </a:cubicBezTo>
                  <a:close/>
                </a:path>
              </a:pathLst>
            </a:custGeom>
            <a:solidFill>
              <a:srgbClr val="0070C0">
                <a:alpha val="80000"/>
              </a:srgbClr>
            </a:solidFill>
            <a:ln w="12700">
              <a:noFill/>
              <a:miter lim="800000"/>
              <a:headEnd/>
              <a:tailEnd/>
            </a:ln>
          </p:spPr>
          <p:txBody>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grpSp>
      <p:pic>
        <p:nvPicPr>
          <p:cNvPr id="34" name="图片 33">
            <a:extLst>
              <a:ext uri="{FF2B5EF4-FFF2-40B4-BE49-F238E27FC236}">
                <a16:creationId xmlns="" xmlns:a16="http://schemas.microsoft.com/office/drawing/2014/main" id="{57F8EFC5-BBE0-43C9-952F-1CB0B2D2B8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83478" y="4421141"/>
            <a:ext cx="292682" cy="273123"/>
          </a:xfrm>
          <a:prstGeom prst="rect">
            <a:avLst/>
          </a:prstGeom>
        </p:spPr>
      </p:pic>
      <p:pic>
        <p:nvPicPr>
          <p:cNvPr id="35" name="图片 34">
            <a:extLst>
              <a:ext uri="{FF2B5EF4-FFF2-40B4-BE49-F238E27FC236}">
                <a16:creationId xmlns="" xmlns:a16="http://schemas.microsoft.com/office/drawing/2014/main" id="{B05C6842-AEBF-4247-90C8-6F7DA3F987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158649" y="4430811"/>
            <a:ext cx="292682" cy="262197"/>
          </a:xfrm>
          <a:prstGeom prst="rect">
            <a:avLst/>
          </a:prstGeom>
        </p:spPr>
      </p:pic>
      <p:sp>
        <p:nvSpPr>
          <p:cNvPr id="81" name="Freeform 78">
            <a:extLst>
              <a:ext uri="{FF2B5EF4-FFF2-40B4-BE49-F238E27FC236}">
                <a16:creationId xmlns="" xmlns:a16="http://schemas.microsoft.com/office/drawing/2014/main" id="{D21E1436-61DB-48FB-9EB4-614FB51A3DCA}"/>
              </a:ext>
            </a:extLst>
          </p:cNvPr>
          <p:cNvSpPr>
            <a:spLocks noEditPoints="1"/>
          </p:cNvSpPr>
          <p:nvPr/>
        </p:nvSpPr>
        <p:spPr bwMode="gray">
          <a:xfrm>
            <a:off x="610504" y="5455049"/>
            <a:ext cx="315448" cy="153185"/>
          </a:xfrm>
          <a:custGeom>
            <a:avLst/>
            <a:gdLst>
              <a:gd name="T0" fmla="*/ 2147483646 w 1923"/>
              <a:gd name="T1" fmla="*/ 2147483646 h 1181"/>
              <a:gd name="T2" fmla="*/ 2147483646 w 1923"/>
              <a:gd name="T3" fmla="*/ 2147483646 h 1181"/>
              <a:gd name="T4" fmla="*/ 2147483646 w 1923"/>
              <a:gd name="T5" fmla="*/ 0 h 1181"/>
              <a:gd name="T6" fmla="*/ 2147483646 w 1923"/>
              <a:gd name="T7" fmla="*/ 2147483646 h 1181"/>
              <a:gd name="T8" fmla="*/ 2147483646 w 1923"/>
              <a:gd name="T9" fmla="*/ 2147483646 h 1181"/>
              <a:gd name="T10" fmla="*/ 2147483646 w 1923"/>
              <a:gd name="T11" fmla="*/ 2147483646 h 1181"/>
              <a:gd name="T12" fmla="*/ 2147483646 w 1923"/>
              <a:gd name="T13" fmla="*/ 2147483646 h 1181"/>
              <a:gd name="T14" fmla="*/ 2147483646 w 1923"/>
              <a:gd name="T15" fmla="*/ 2147483646 h 1181"/>
              <a:gd name="T16" fmla="*/ 2147483646 w 1923"/>
              <a:gd name="T17" fmla="*/ 2147483646 h 1181"/>
              <a:gd name="T18" fmla="*/ 2147483646 w 1923"/>
              <a:gd name="T19" fmla="*/ 2147483646 h 1181"/>
              <a:gd name="T20" fmla="*/ 2147483646 w 1923"/>
              <a:gd name="T21" fmla="*/ 2147483646 h 1181"/>
              <a:gd name="T22" fmla="*/ 2147483646 w 1923"/>
              <a:gd name="T23" fmla="*/ 2147483646 h 1181"/>
              <a:gd name="T24" fmla="*/ 2147483646 w 1923"/>
              <a:gd name="T25" fmla="*/ 2147483646 h 1181"/>
              <a:gd name="T26" fmla="*/ 2147483646 w 1923"/>
              <a:gd name="T27" fmla="*/ 2147483646 h 1181"/>
              <a:gd name="T28" fmla="*/ 2147483646 w 1923"/>
              <a:gd name="T29" fmla="*/ 2147483646 h 1181"/>
              <a:gd name="T30" fmla="*/ 2147483646 w 1923"/>
              <a:gd name="T31" fmla="*/ 2147483646 h 1181"/>
              <a:gd name="T32" fmla="*/ 2147483646 w 1923"/>
              <a:gd name="T33" fmla="*/ 2147483646 h 1181"/>
              <a:gd name="T34" fmla="*/ 2147483646 w 1923"/>
              <a:gd name="T35" fmla="*/ 2147483646 h 1181"/>
              <a:gd name="T36" fmla="*/ 2147483646 w 1923"/>
              <a:gd name="T37" fmla="*/ 2147483646 h 1181"/>
              <a:gd name="T38" fmla="*/ 2147483646 w 1923"/>
              <a:gd name="T39" fmla="*/ 2147483646 h 1181"/>
              <a:gd name="T40" fmla="*/ 2147483646 w 1923"/>
              <a:gd name="T41" fmla="*/ 2147483646 h 1181"/>
              <a:gd name="T42" fmla="*/ 2147483646 w 1923"/>
              <a:gd name="T43" fmla="*/ 2147483646 h 1181"/>
              <a:gd name="T44" fmla="*/ 2147483646 w 1923"/>
              <a:gd name="T45" fmla="*/ 2147483646 h 1181"/>
              <a:gd name="T46" fmla="*/ 2147483646 w 1923"/>
              <a:gd name="T47" fmla="*/ 2147483646 h 1181"/>
              <a:gd name="T48" fmla="*/ 2147483646 w 1923"/>
              <a:gd name="T49" fmla="*/ 2147483646 h 1181"/>
              <a:gd name="T50" fmla="*/ 2147483646 w 1923"/>
              <a:gd name="T51" fmla="*/ 2147483646 h 1181"/>
              <a:gd name="T52" fmla="*/ 2147483646 w 1923"/>
              <a:gd name="T53" fmla="*/ 2147483646 h 1181"/>
              <a:gd name="T54" fmla="*/ 2147483646 w 1923"/>
              <a:gd name="T55" fmla="*/ 2147483646 h 1181"/>
              <a:gd name="T56" fmla="*/ 2147483646 w 1923"/>
              <a:gd name="T57" fmla="*/ 2147483646 h 1181"/>
              <a:gd name="T58" fmla="*/ 2147483646 w 1923"/>
              <a:gd name="T59" fmla="*/ 2147483646 h 1181"/>
              <a:gd name="T60" fmla="*/ 2147483646 w 1923"/>
              <a:gd name="T61" fmla="*/ 2147483646 h 1181"/>
              <a:gd name="T62" fmla="*/ 2147483646 w 1923"/>
              <a:gd name="T63" fmla="*/ 2147483646 h 1181"/>
              <a:gd name="T64" fmla="*/ 2147483646 w 1923"/>
              <a:gd name="T65" fmla="*/ 2147483646 h 1181"/>
              <a:gd name="T66" fmla="*/ 2147483646 w 1923"/>
              <a:gd name="T67" fmla="*/ 2147483646 h 1181"/>
              <a:gd name="T68" fmla="*/ 2147483646 w 1923"/>
              <a:gd name="T69" fmla="*/ 2147483646 h 1181"/>
              <a:gd name="T70" fmla="*/ 2147483646 w 1923"/>
              <a:gd name="T71" fmla="*/ 2147483646 h 1181"/>
              <a:gd name="T72" fmla="*/ 2147483646 w 1923"/>
              <a:gd name="T73" fmla="*/ 2147483646 h 1181"/>
              <a:gd name="T74" fmla="*/ 2147483646 w 1923"/>
              <a:gd name="T75" fmla="*/ 2147483646 h 1181"/>
              <a:gd name="T76" fmla="*/ 2147483646 w 1923"/>
              <a:gd name="T77" fmla="*/ 2147483646 h 1181"/>
              <a:gd name="T78" fmla="*/ 2147483646 w 1923"/>
              <a:gd name="T79" fmla="*/ 2147483646 h 1181"/>
              <a:gd name="T80" fmla="*/ 2147483646 w 1923"/>
              <a:gd name="T81" fmla="*/ 2147483646 h 1181"/>
              <a:gd name="T82" fmla="*/ 2147483646 w 1923"/>
              <a:gd name="T83" fmla="*/ 2147483646 h 1181"/>
              <a:gd name="T84" fmla="*/ 2147483646 w 1923"/>
              <a:gd name="T85" fmla="*/ 2147483646 h 1181"/>
              <a:gd name="T86" fmla="*/ 2147483646 w 1923"/>
              <a:gd name="T87" fmla="*/ 2147483646 h 1181"/>
              <a:gd name="T88" fmla="*/ 2147483646 w 1923"/>
              <a:gd name="T89" fmla="*/ 2147483646 h 1181"/>
              <a:gd name="T90" fmla="*/ 2147483646 w 1923"/>
              <a:gd name="T91" fmla="*/ 2147483646 h 1181"/>
              <a:gd name="T92" fmla="*/ 2147483646 w 1923"/>
              <a:gd name="T93" fmla="*/ 2147483646 h 1181"/>
              <a:gd name="T94" fmla="*/ 2147483646 w 1923"/>
              <a:gd name="T95" fmla="*/ 2147483646 h 1181"/>
              <a:gd name="T96" fmla="*/ 2147483646 w 1923"/>
              <a:gd name="T97" fmla="*/ 2147483646 h 1181"/>
              <a:gd name="T98" fmla="*/ 2147483646 w 1923"/>
              <a:gd name="T99" fmla="*/ 2147483646 h 1181"/>
              <a:gd name="T100" fmla="*/ 2147483646 w 1923"/>
              <a:gd name="T101" fmla="*/ 2147483646 h 1181"/>
              <a:gd name="T102" fmla="*/ 2147483646 w 1923"/>
              <a:gd name="T103" fmla="*/ 2147483646 h 118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3" y="176"/>
                </a:lnTo>
                <a:lnTo>
                  <a:pt x="522" y="170"/>
                </a:lnTo>
                <a:lnTo>
                  <a:pt x="516" y="169"/>
                </a:lnTo>
                <a:lnTo>
                  <a:pt x="511" y="169"/>
                </a:lnTo>
                <a:lnTo>
                  <a:pt x="314" y="203"/>
                </a:lnTo>
                <a:lnTo>
                  <a:pt x="309" y="204"/>
                </a:lnTo>
                <a:lnTo>
                  <a:pt x="304" y="208"/>
                </a:lnTo>
                <a:lnTo>
                  <a:pt x="301" y="213"/>
                </a:lnTo>
                <a:lnTo>
                  <a:pt x="301" y="218"/>
                </a:lnTo>
                <a:lnTo>
                  <a:pt x="301" y="262"/>
                </a:lnTo>
                <a:lnTo>
                  <a:pt x="181" y="262"/>
                </a:lnTo>
                <a:lnTo>
                  <a:pt x="181" y="1019"/>
                </a:lnTo>
                <a:lnTo>
                  <a:pt x="125" y="1019"/>
                </a:lnTo>
                <a:lnTo>
                  <a:pt x="118" y="1019"/>
                </a:lnTo>
                <a:lnTo>
                  <a:pt x="113" y="1021"/>
                </a:lnTo>
                <a:lnTo>
                  <a:pt x="108" y="1024"/>
                </a:lnTo>
                <a:lnTo>
                  <a:pt x="103" y="1029"/>
                </a:lnTo>
                <a:lnTo>
                  <a:pt x="2" y="1169"/>
                </a:lnTo>
                <a:lnTo>
                  <a:pt x="0" y="1174"/>
                </a:lnTo>
                <a:lnTo>
                  <a:pt x="2" y="1178"/>
                </a:lnTo>
                <a:lnTo>
                  <a:pt x="4" y="1179"/>
                </a:lnTo>
                <a:lnTo>
                  <a:pt x="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4" y="604"/>
                </a:lnTo>
                <a:lnTo>
                  <a:pt x="429" y="601"/>
                </a:lnTo>
                <a:lnTo>
                  <a:pt x="425" y="597"/>
                </a:lnTo>
                <a:lnTo>
                  <a:pt x="425" y="591"/>
                </a:lnTo>
                <a:lnTo>
                  <a:pt x="425" y="533"/>
                </a:lnTo>
                <a:lnTo>
                  <a:pt x="425" y="528"/>
                </a:lnTo>
                <a:lnTo>
                  <a:pt x="429" y="523"/>
                </a:lnTo>
                <a:lnTo>
                  <a:pt x="434" y="521"/>
                </a:lnTo>
                <a:lnTo>
                  <a:pt x="439" y="520"/>
                </a:lnTo>
                <a:lnTo>
                  <a:pt x="498" y="520"/>
                </a:lnTo>
                <a:lnTo>
                  <a:pt x="505" y="521"/>
                </a:lnTo>
                <a:lnTo>
                  <a:pt x="508" y="523"/>
                </a:lnTo>
                <a:lnTo>
                  <a:pt x="511" y="528"/>
                </a:lnTo>
                <a:lnTo>
                  <a:pt x="513" y="533"/>
                </a:lnTo>
                <a:lnTo>
                  <a:pt x="513" y="591"/>
                </a:lnTo>
                <a:lnTo>
                  <a:pt x="511" y="597"/>
                </a:lnTo>
                <a:lnTo>
                  <a:pt x="508" y="601"/>
                </a:lnTo>
                <a:lnTo>
                  <a:pt x="505" y="604"/>
                </a:lnTo>
                <a:lnTo>
                  <a:pt x="498" y="606"/>
                </a:lnTo>
                <a:close/>
                <a:moveTo>
                  <a:pt x="513" y="874"/>
                </a:moveTo>
                <a:lnTo>
                  <a:pt x="513" y="933"/>
                </a:lnTo>
                <a:lnTo>
                  <a:pt x="511" y="938"/>
                </a:lnTo>
                <a:lnTo>
                  <a:pt x="508" y="941"/>
                </a:lnTo>
                <a:lnTo>
                  <a:pt x="505" y="945"/>
                </a:lnTo>
                <a:lnTo>
                  <a:pt x="498" y="947"/>
                </a:lnTo>
                <a:lnTo>
                  <a:pt x="439" y="947"/>
                </a:lnTo>
                <a:lnTo>
                  <a:pt x="434" y="945"/>
                </a:lnTo>
                <a:lnTo>
                  <a:pt x="429" y="941"/>
                </a:lnTo>
                <a:lnTo>
                  <a:pt x="425" y="938"/>
                </a:lnTo>
                <a:lnTo>
                  <a:pt x="425" y="933"/>
                </a:lnTo>
                <a:lnTo>
                  <a:pt x="425" y="874"/>
                </a:lnTo>
                <a:lnTo>
                  <a:pt x="425" y="869"/>
                </a:lnTo>
                <a:lnTo>
                  <a:pt x="429" y="866"/>
                </a:lnTo>
                <a:lnTo>
                  <a:pt x="434" y="862"/>
                </a:lnTo>
                <a:lnTo>
                  <a:pt x="439" y="860"/>
                </a:lnTo>
                <a:lnTo>
                  <a:pt x="498" y="860"/>
                </a:lnTo>
                <a:lnTo>
                  <a:pt x="505" y="862"/>
                </a:lnTo>
                <a:lnTo>
                  <a:pt x="508" y="866"/>
                </a:lnTo>
                <a:lnTo>
                  <a:pt x="511" y="869"/>
                </a:lnTo>
                <a:lnTo>
                  <a:pt x="513" y="874"/>
                </a:lnTo>
                <a:close/>
                <a:moveTo>
                  <a:pt x="348" y="734"/>
                </a:moveTo>
                <a:lnTo>
                  <a:pt x="348" y="791"/>
                </a:lnTo>
                <a:lnTo>
                  <a:pt x="346" y="796"/>
                </a:lnTo>
                <a:lnTo>
                  <a:pt x="343" y="801"/>
                </a:lnTo>
                <a:lnTo>
                  <a:pt x="339" y="805"/>
                </a:lnTo>
                <a:lnTo>
                  <a:pt x="334" y="805"/>
                </a:lnTo>
                <a:lnTo>
                  <a:pt x="274" y="805"/>
                </a:lnTo>
                <a:lnTo>
                  <a:pt x="269" y="805"/>
                </a:lnTo>
                <a:lnTo>
                  <a:pt x="263" y="801"/>
                </a:lnTo>
                <a:lnTo>
                  <a:pt x="262" y="796"/>
                </a:lnTo>
                <a:lnTo>
                  <a:pt x="260" y="791"/>
                </a:lnTo>
                <a:lnTo>
                  <a:pt x="260" y="734"/>
                </a:lnTo>
                <a:lnTo>
                  <a:pt x="262" y="729"/>
                </a:lnTo>
                <a:lnTo>
                  <a:pt x="263" y="724"/>
                </a:lnTo>
                <a:lnTo>
                  <a:pt x="269" y="720"/>
                </a:lnTo>
                <a:lnTo>
                  <a:pt x="274" y="720"/>
                </a:lnTo>
                <a:lnTo>
                  <a:pt x="334" y="720"/>
                </a:lnTo>
                <a:lnTo>
                  <a:pt x="339" y="720"/>
                </a:lnTo>
                <a:lnTo>
                  <a:pt x="343" y="724"/>
                </a:lnTo>
                <a:lnTo>
                  <a:pt x="346" y="729"/>
                </a:lnTo>
                <a:lnTo>
                  <a:pt x="348" y="734"/>
                </a:lnTo>
                <a:close/>
                <a:moveTo>
                  <a:pt x="243" y="397"/>
                </a:moveTo>
                <a:lnTo>
                  <a:pt x="243" y="397"/>
                </a:lnTo>
                <a:lnTo>
                  <a:pt x="245" y="391"/>
                </a:lnTo>
                <a:lnTo>
                  <a:pt x="248" y="386"/>
                </a:lnTo>
                <a:lnTo>
                  <a:pt x="252" y="385"/>
                </a:lnTo>
                <a:lnTo>
                  <a:pt x="258" y="383"/>
                </a:lnTo>
                <a:lnTo>
                  <a:pt x="317" y="383"/>
                </a:lnTo>
                <a:lnTo>
                  <a:pt x="322" y="385"/>
                </a:lnTo>
                <a:lnTo>
                  <a:pt x="328" y="386"/>
                </a:lnTo>
                <a:lnTo>
                  <a:pt x="331" y="391"/>
                </a:lnTo>
                <a:lnTo>
                  <a:pt x="331" y="397"/>
                </a:lnTo>
                <a:lnTo>
                  <a:pt x="331" y="454"/>
                </a:lnTo>
                <a:lnTo>
                  <a:pt x="331" y="461"/>
                </a:lnTo>
                <a:lnTo>
                  <a:pt x="328" y="464"/>
                </a:lnTo>
                <a:lnTo>
                  <a:pt x="322" y="467"/>
                </a:lnTo>
                <a:lnTo>
                  <a:pt x="317"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6" y="98"/>
                </a:lnTo>
                <a:lnTo>
                  <a:pt x="1490" y="100"/>
                </a:lnTo>
                <a:lnTo>
                  <a:pt x="1490" y="101"/>
                </a:lnTo>
                <a:lnTo>
                  <a:pt x="1491" y="105"/>
                </a:lnTo>
                <a:lnTo>
                  <a:pt x="1491" y="464"/>
                </a:lnTo>
                <a:lnTo>
                  <a:pt x="1491" y="938"/>
                </a:lnTo>
                <a:lnTo>
                  <a:pt x="1490" y="940"/>
                </a:lnTo>
                <a:lnTo>
                  <a:pt x="1490" y="941"/>
                </a:lnTo>
                <a:lnTo>
                  <a:pt x="1486" y="943"/>
                </a:lnTo>
                <a:lnTo>
                  <a:pt x="1485" y="945"/>
                </a:lnTo>
                <a:lnTo>
                  <a:pt x="1471" y="945"/>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80" y="98"/>
                </a:lnTo>
                <a:lnTo>
                  <a:pt x="1382" y="100"/>
                </a:lnTo>
                <a:lnTo>
                  <a:pt x="1383" y="101"/>
                </a:lnTo>
                <a:lnTo>
                  <a:pt x="1383" y="105"/>
                </a:lnTo>
                <a:lnTo>
                  <a:pt x="1383" y="938"/>
                </a:lnTo>
                <a:lnTo>
                  <a:pt x="1383" y="940"/>
                </a:lnTo>
                <a:lnTo>
                  <a:pt x="1382" y="941"/>
                </a:lnTo>
                <a:lnTo>
                  <a:pt x="1380" y="943"/>
                </a:lnTo>
                <a:lnTo>
                  <a:pt x="1377"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4" y="98"/>
                </a:lnTo>
                <a:lnTo>
                  <a:pt x="1276" y="100"/>
                </a:lnTo>
                <a:lnTo>
                  <a:pt x="1277" y="101"/>
                </a:lnTo>
                <a:lnTo>
                  <a:pt x="1277" y="105"/>
                </a:lnTo>
                <a:lnTo>
                  <a:pt x="1277" y="938"/>
                </a:lnTo>
                <a:lnTo>
                  <a:pt x="1277" y="940"/>
                </a:lnTo>
                <a:lnTo>
                  <a:pt x="1276" y="941"/>
                </a:lnTo>
                <a:lnTo>
                  <a:pt x="1274" y="943"/>
                </a:lnTo>
                <a:lnTo>
                  <a:pt x="1270" y="945"/>
                </a:lnTo>
                <a:lnTo>
                  <a:pt x="1257" y="945"/>
                </a:lnTo>
                <a:lnTo>
                  <a:pt x="1254" y="943"/>
                </a:lnTo>
                <a:lnTo>
                  <a:pt x="1252" y="941"/>
                </a:lnTo>
                <a:lnTo>
                  <a:pt x="1250" y="940"/>
                </a:lnTo>
                <a:lnTo>
                  <a:pt x="1250" y="938"/>
                </a:lnTo>
                <a:lnTo>
                  <a:pt x="1250" y="105"/>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82" name="Freeform 75">
            <a:extLst>
              <a:ext uri="{FF2B5EF4-FFF2-40B4-BE49-F238E27FC236}">
                <a16:creationId xmlns="" xmlns:a16="http://schemas.microsoft.com/office/drawing/2014/main" id="{DFC18051-FBBE-48FC-A79E-D60EC04ED2FB}"/>
              </a:ext>
            </a:extLst>
          </p:cNvPr>
          <p:cNvSpPr>
            <a:spLocks/>
          </p:cNvSpPr>
          <p:nvPr/>
        </p:nvSpPr>
        <p:spPr bwMode="gray">
          <a:xfrm>
            <a:off x="1019545" y="5068951"/>
            <a:ext cx="225478" cy="120044"/>
          </a:xfrm>
          <a:custGeom>
            <a:avLst/>
            <a:gdLst>
              <a:gd name="T0" fmla="*/ 2147483646 w 1443"/>
              <a:gd name="T1" fmla="*/ 2147483646 h 1005"/>
              <a:gd name="T2" fmla="*/ 2147483646 w 1443"/>
              <a:gd name="T3" fmla="*/ 2147483646 h 1005"/>
              <a:gd name="T4" fmla="*/ 2147483646 w 1443"/>
              <a:gd name="T5" fmla="*/ 2147483646 h 1005"/>
              <a:gd name="T6" fmla="*/ 2147483646 w 1443"/>
              <a:gd name="T7" fmla="*/ 0 h 1005"/>
              <a:gd name="T8" fmla="*/ 2147483646 w 1443"/>
              <a:gd name="T9" fmla="*/ 0 h 1005"/>
              <a:gd name="T10" fmla="*/ 2147483646 w 1443"/>
              <a:gd name="T11" fmla="*/ 2147483646 h 1005"/>
              <a:gd name="T12" fmla="*/ 2147483646 w 1443"/>
              <a:gd name="T13" fmla="*/ 2147483646 h 1005"/>
              <a:gd name="T14" fmla="*/ 2147483646 w 1443"/>
              <a:gd name="T15" fmla="*/ 2147483646 h 1005"/>
              <a:gd name="T16" fmla="*/ 2147483646 w 1443"/>
              <a:gd name="T17" fmla="*/ 2147483646 h 1005"/>
              <a:gd name="T18" fmla="*/ 2147483646 w 1443"/>
              <a:gd name="T19" fmla="*/ 2147483646 h 1005"/>
              <a:gd name="T20" fmla="*/ 0 w 1443"/>
              <a:gd name="T21" fmla="*/ 2147483646 h 1005"/>
              <a:gd name="T22" fmla="*/ 2147483646 w 1443"/>
              <a:gd name="T23" fmla="*/ 2147483646 h 1005"/>
              <a:gd name="T24" fmla="*/ 2147483646 w 1443"/>
              <a:gd name="T25" fmla="*/ 2147483646 h 1005"/>
              <a:gd name="T26" fmla="*/ 2147483646 w 1443"/>
              <a:gd name="T27" fmla="*/ 2147483646 h 1005"/>
              <a:gd name="T28" fmla="*/ 2147483646 w 1443"/>
              <a:gd name="T29" fmla="*/ 2147483646 h 1005"/>
              <a:gd name="T30" fmla="*/ 2147483646 w 1443"/>
              <a:gd name="T31" fmla="*/ 2147483646 h 1005"/>
              <a:gd name="T32" fmla="*/ 2147483646 w 1443"/>
              <a:gd name="T33" fmla="*/ 2147483646 h 1005"/>
              <a:gd name="T34" fmla="*/ 2147483646 w 1443"/>
              <a:gd name="T35" fmla="*/ 2147483646 h 1005"/>
              <a:gd name="T36" fmla="*/ 2147483646 w 1443"/>
              <a:gd name="T37" fmla="*/ 2147483646 h 1005"/>
              <a:gd name="T38" fmla="*/ 2147483646 w 1443"/>
              <a:gd name="T39" fmla="*/ 2147483646 h 1005"/>
              <a:gd name="T40" fmla="*/ 2147483646 w 1443"/>
              <a:gd name="T41" fmla="*/ 2147483646 h 1005"/>
              <a:gd name="T42" fmla="*/ 2147483646 w 1443"/>
              <a:gd name="T43" fmla="*/ 2147483646 h 1005"/>
              <a:gd name="T44" fmla="*/ 2147483646 w 1443"/>
              <a:gd name="T45" fmla="*/ 2147483646 h 1005"/>
              <a:gd name="T46" fmla="*/ 2147483646 w 1443"/>
              <a:gd name="T47" fmla="*/ 2147483646 h 1005"/>
              <a:gd name="T48" fmla="*/ 2147483646 w 1443"/>
              <a:gd name="T49" fmla="*/ 2147483646 h 1005"/>
              <a:gd name="T50" fmla="*/ 2147483646 w 1443"/>
              <a:gd name="T51" fmla="*/ 2147483646 h 1005"/>
              <a:gd name="T52" fmla="*/ 2147483646 w 1443"/>
              <a:gd name="T53" fmla="*/ 2147483646 h 1005"/>
              <a:gd name="T54" fmla="*/ 2147483646 w 1443"/>
              <a:gd name="T55" fmla="*/ 2147483646 h 1005"/>
              <a:gd name="T56" fmla="*/ 2147483646 w 1443"/>
              <a:gd name="T57" fmla="*/ 2147483646 h 1005"/>
              <a:gd name="T58" fmla="*/ 2147483646 w 1443"/>
              <a:gd name="T59" fmla="*/ 2147483646 h 1005"/>
              <a:gd name="T60" fmla="*/ 2147483646 w 1443"/>
              <a:gd name="T61" fmla="*/ 2147483646 h 1005"/>
              <a:gd name="T62" fmla="*/ 2147483646 w 1443"/>
              <a:gd name="T63" fmla="*/ 2147483646 h 1005"/>
              <a:gd name="T64" fmla="*/ 2147483646 w 1443"/>
              <a:gd name="T65" fmla="*/ 2147483646 h 1005"/>
              <a:gd name="T66" fmla="*/ 2147483646 w 1443"/>
              <a:gd name="T67" fmla="*/ 2147483646 h 1005"/>
              <a:gd name="T68" fmla="*/ 2147483646 w 1443"/>
              <a:gd name="T69" fmla="*/ 2147483646 h 1005"/>
              <a:gd name="T70" fmla="*/ 2147483646 w 1443"/>
              <a:gd name="T71" fmla="*/ 2147483646 h 1005"/>
              <a:gd name="T72" fmla="*/ 2147483646 w 1443"/>
              <a:gd name="T73" fmla="*/ 2147483646 h 1005"/>
              <a:gd name="T74" fmla="*/ 2147483646 w 1443"/>
              <a:gd name="T75" fmla="*/ 2147483646 h 1005"/>
              <a:gd name="T76" fmla="*/ 2147483646 w 1443"/>
              <a:gd name="T77" fmla="*/ 2147483646 h 1005"/>
              <a:gd name="T78" fmla="*/ 2147483646 w 1443"/>
              <a:gd name="T79" fmla="*/ 2147483646 h 1005"/>
              <a:gd name="T80" fmla="*/ 2147483646 w 1443"/>
              <a:gd name="T81" fmla="*/ 2147483646 h 1005"/>
              <a:gd name="T82" fmla="*/ 2147483646 w 1443"/>
              <a:gd name="T83" fmla="*/ 2147483646 h 1005"/>
              <a:gd name="T84" fmla="*/ 2147483646 w 1443"/>
              <a:gd name="T85" fmla="*/ 2147483646 h 1005"/>
              <a:gd name="T86" fmla="*/ 2147483646 w 1443"/>
              <a:gd name="T87" fmla="*/ 2147483646 h 1005"/>
              <a:gd name="T88" fmla="*/ 2147483646 w 1443"/>
              <a:gd name="T89" fmla="*/ 2147483646 h 1005"/>
              <a:gd name="T90" fmla="*/ 2147483646 w 1443"/>
              <a:gd name="T91" fmla="*/ 2147483646 h 1005"/>
              <a:gd name="T92" fmla="*/ 2147483646 w 1443"/>
              <a:gd name="T93" fmla="*/ 2147483646 h 1005"/>
              <a:gd name="T94" fmla="*/ 2147483646 w 1443"/>
              <a:gd name="T95" fmla="*/ 2147483646 h 1005"/>
              <a:gd name="T96" fmla="*/ 2147483646 w 1443"/>
              <a:gd name="T97" fmla="*/ 2147483646 h 1005"/>
              <a:gd name="T98" fmla="*/ 2147483646 w 1443"/>
              <a:gd name="T99" fmla="*/ 2147483646 h 1005"/>
              <a:gd name="T100" fmla="*/ 2147483646 w 1443"/>
              <a:gd name="T101" fmla="*/ 2147483646 h 1005"/>
              <a:gd name="T102" fmla="*/ 2147483646 w 1443"/>
              <a:gd name="T103" fmla="*/ 2147483646 h 1005"/>
              <a:gd name="T104" fmla="*/ 2147483646 w 1443"/>
              <a:gd name="T105" fmla="*/ 2147483646 h 1005"/>
              <a:gd name="T106" fmla="*/ 2147483646 w 1443"/>
              <a:gd name="T107" fmla="*/ 2147483646 h 1005"/>
              <a:gd name="T108" fmla="*/ 2147483646 w 1443"/>
              <a:gd name="T109" fmla="*/ 2147483646 h 1005"/>
              <a:gd name="T110" fmla="*/ 2147483646 w 1443"/>
              <a:gd name="T111" fmla="*/ 2147483646 h 1005"/>
              <a:gd name="T112" fmla="*/ 2147483646 w 1443"/>
              <a:gd name="T113" fmla="*/ 2147483646 h 1005"/>
              <a:gd name="T114" fmla="*/ 2147483646 w 1443"/>
              <a:gd name="T115" fmla="*/ 2147483646 h 1005"/>
              <a:gd name="T116" fmla="*/ 2147483646 w 1443"/>
              <a:gd name="T117" fmla="*/ 2147483646 h 1005"/>
              <a:gd name="T118" fmla="*/ 2147483646 w 1443"/>
              <a:gd name="T119" fmla="*/ 2147483646 h 1005"/>
              <a:gd name="T120" fmla="*/ 2147483646 w 1443"/>
              <a:gd name="T121" fmla="*/ 2147483646 h 1005"/>
              <a:gd name="T122" fmla="*/ 2147483646 w 1443"/>
              <a:gd name="T123" fmla="*/ 2147483646 h 100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43" h="1005">
                <a:moveTo>
                  <a:pt x="1400" y="449"/>
                </a:moveTo>
                <a:lnTo>
                  <a:pt x="1208" y="315"/>
                </a:lnTo>
                <a:lnTo>
                  <a:pt x="986" y="162"/>
                </a:lnTo>
                <a:lnTo>
                  <a:pt x="778" y="17"/>
                </a:lnTo>
                <a:lnTo>
                  <a:pt x="765" y="8"/>
                </a:lnTo>
                <a:lnTo>
                  <a:pt x="751" y="3"/>
                </a:lnTo>
                <a:lnTo>
                  <a:pt x="736" y="0"/>
                </a:lnTo>
                <a:lnTo>
                  <a:pt x="721" y="0"/>
                </a:lnTo>
                <a:lnTo>
                  <a:pt x="707" y="0"/>
                </a:lnTo>
                <a:lnTo>
                  <a:pt x="692" y="3"/>
                </a:lnTo>
                <a:lnTo>
                  <a:pt x="679" y="8"/>
                </a:lnTo>
                <a:lnTo>
                  <a:pt x="665" y="17"/>
                </a:lnTo>
                <a:lnTo>
                  <a:pt x="43" y="449"/>
                </a:lnTo>
                <a:lnTo>
                  <a:pt x="39" y="452"/>
                </a:lnTo>
                <a:lnTo>
                  <a:pt x="26" y="465"/>
                </a:lnTo>
                <a:lnTo>
                  <a:pt x="14" y="481"/>
                </a:lnTo>
                <a:lnTo>
                  <a:pt x="5" y="497"/>
                </a:lnTo>
                <a:lnTo>
                  <a:pt x="0" y="514"/>
                </a:lnTo>
                <a:lnTo>
                  <a:pt x="0" y="533"/>
                </a:lnTo>
                <a:lnTo>
                  <a:pt x="2" y="551"/>
                </a:lnTo>
                <a:lnTo>
                  <a:pt x="9" y="570"/>
                </a:lnTo>
                <a:lnTo>
                  <a:pt x="17" y="587"/>
                </a:lnTo>
                <a:lnTo>
                  <a:pt x="24" y="595"/>
                </a:lnTo>
                <a:lnTo>
                  <a:pt x="31" y="602"/>
                </a:lnTo>
                <a:lnTo>
                  <a:pt x="46" y="614"/>
                </a:lnTo>
                <a:lnTo>
                  <a:pt x="63" y="622"/>
                </a:lnTo>
                <a:lnTo>
                  <a:pt x="81" y="627"/>
                </a:lnTo>
                <a:lnTo>
                  <a:pt x="100" y="629"/>
                </a:lnTo>
                <a:lnTo>
                  <a:pt x="118" y="627"/>
                </a:lnTo>
                <a:lnTo>
                  <a:pt x="137" y="621"/>
                </a:lnTo>
                <a:lnTo>
                  <a:pt x="147" y="617"/>
                </a:lnTo>
                <a:lnTo>
                  <a:pt x="156" y="610"/>
                </a:lnTo>
                <a:lnTo>
                  <a:pt x="161" y="607"/>
                </a:lnTo>
                <a:lnTo>
                  <a:pt x="157" y="963"/>
                </a:lnTo>
                <a:lnTo>
                  <a:pt x="159" y="972"/>
                </a:lnTo>
                <a:lnTo>
                  <a:pt x="161" y="980"/>
                </a:lnTo>
                <a:lnTo>
                  <a:pt x="164" y="987"/>
                </a:lnTo>
                <a:lnTo>
                  <a:pt x="169" y="993"/>
                </a:lnTo>
                <a:lnTo>
                  <a:pt x="176" y="999"/>
                </a:lnTo>
                <a:lnTo>
                  <a:pt x="183" y="1002"/>
                </a:lnTo>
                <a:lnTo>
                  <a:pt x="191" y="1005"/>
                </a:lnTo>
                <a:lnTo>
                  <a:pt x="199" y="1005"/>
                </a:lnTo>
                <a:lnTo>
                  <a:pt x="560" y="1005"/>
                </a:lnTo>
                <a:lnTo>
                  <a:pt x="562" y="744"/>
                </a:lnTo>
                <a:lnTo>
                  <a:pt x="562" y="734"/>
                </a:lnTo>
                <a:lnTo>
                  <a:pt x="566" y="722"/>
                </a:lnTo>
                <a:lnTo>
                  <a:pt x="569" y="712"/>
                </a:lnTo>
                <a:lnTo>
                  <a:pt x="574" y="700"/>
                </a:lnTo>
                <a:lnTo>
                  <a:pt x="581" y="691"/>
                </a:lnTo>
                <a:lnTo>
                  <a:pt x="589" y="681"/>
                </a:lnTo>
                <a:lnTo>
                  <a:pt x="598" y="673"/>
                </a:lnTo>
                <a:lnTo>
                  <a:pt x="608" y="664"/>
                </a:lnTo>
                <a:lnTo>
                  <a:pt x="619" y="658"/>
                </a:lnTo>
                <a:lnTo>
                  <a:pt x="631" y="651"/>
                </a:lnTo>
                <a:lnTo>
                  <a:pt x="645" y="646"/>
                </a:lnTo>
                <a:lnTo>
                  <a:pt x="658" y="641"/>
                </a:lnTo>
                <a:lnTo>
                  <a:pt x="673" y="637"/>
                </a:lnTo>
                <a:lnTo>
                  <a:pt x="689" y="636"/>
                </a:lnTo>
                <a:lnTo>
                  <a:pt x="704" y="634"/>
                </a:lnTo>
                <a:lnTo>
                  <a:pt x="721" y="632"/>
                </a:lnTo>
                <a:lnTo>
                  <a:pt x="736" y="634"/>
                </a:lnTo>
                <a:lnTo>
                  <a:pt x="753" y="636"/>
                </a:lnTo>
                <a:lnTo>
                  <a:pt x="768" y="639"/>
                </a:lnTo>
                <a:lnTo>
                  <a:pt x="781" y="643"/>
                </a:lnTo>
                <a:lnTo>
                  <a:pt x="795" y="648"/>
                </a:lnTo>
                <a:lnTo>
                  <a:pt x="808" y="653"/>
                </a:lnTo>
                <a:lnTo>
                  <a:pt x="820" y="659"/>
                </a:lnTo>
                <a:lnTo>
                  <a:pt x="832" y="666"/>
                </a:lnTo>
                <a:lnTo>
                  <a:pt x="842" y="675"/>
                </a:lnTo>
                <a:lnTo>
                  <a:pt x="851" y="683"/>
                </a:lnTo>
                <a:lnTo>
                  <a:pt x="859" y="693"/>
                </a:lnTo>
                <a:lnTo>
                  <a:pt x="866" y="703"/>
                </a:lnTo>
                <a:lnTo>
                  <a:pt x="871" y="713"/>
                </a:lnTo>
                <a:lnTo>
                  <a:pt x="874" y="724"/>
                </a:lnTo>
                <a:lnTo>
                  <a:pt x="876" y="735"/>
                </a:lnTo>
                <a:lnTo>
                  <a:pt x="878" y="747"/>
                </a:lnTo>
                <a:lnTo>
                  <a:pt x="876" y="1005"/>
                </a:lnTo>
                <a:lnTo>
                  <a:pt x="1222" y="1005"/>
                </a:lnTo>
                <a:lnTo>
                  <a:pt x="1230" y="1005"/>
                </a:lnTo>
                <a:lnTo>
                  <a:pt x="1239" y="1002"/>
                </a:lnTo>
                <a:lnTo>
                  <a:pt x="1245" y="999"/>
                </a:lnTo>
                <a:lnTo>
                  <a:pt x="1252" y="993"/>
                </a:lnTo>
                <a:lnTo>
                  <a:pt x="1257" y="987"/>
                </a:lnTo>
                <a:lnTo>
                  <a:pt x="1260" y="980"/>
                </a:lnTo>
                <a:lnTo>
                  <a:pt x="1264" y="972"/>
                </a:lnTo>
                <a:lnTo>
                  <a:pt x="1264" y="963"/>
                </a:lnTo>
                <a:lnTo>
                  <a:pt x="1267" y="597"/>
                </a:lnTo>
                <a:lnTo>
                  <a:pt x="1287" y="610"/>
                </a:lnTo>
                <a:lnTo>
                  <a:pt x="1301" y="619"/>
                </a:lnTo>
                <a:lnTo>
                  <a:pt x="1314" y="624"/>
                </a:lnTo>
                <a:lnTo>
                  <a:pt x="1330" y="627"/>
                </a:lnTo>
                <a:lnTo>
                  <a:pt x="1343" y="629"/>
                </a:lnTo>
                <a:lnTo>
                  <a:pt x="1355" y="627"/>
                </a:lnTo>
                <a:lnTo>
                  <a:pt x="1367" y="626"/>
                </a:lnTo>
                <a:lnTo>
                  <a:pt x="1379" y="622"/>
                </a:lnTo>
                <a:lnTo>
                  <a:pt x="1389" y="617"/>
                </a:lnTo>
                <a:lnTo>
                  <a:pt x="1399" y="612"/>
                </a:lnTo>
                <a:lnTo>
                  <a:pt x="1409" y="605"/>
                </a:lnTo>
                <a:lnTo>
                  <a:pt x="1417" y="597"/>
                </a:lnTo>
                <a:lnTo>
                  <a:pt x="1424" y="587"/>
                </a:lnTo>
                <a:lnTo>
                  <a:pt x="1431" y="578"/>
                </a:lnTo>
                <a:lnTo>
                  <a:pt x="1434" y="568"/>
                </a:lnTo>
                <a:lnTo>
                  <a:pt x="1441" y="551"/>
                </a:lnTo>
                <a:lnTo>
                  <a:pt x="1443" y="536"/>
                </a:lnTo>
                <a:lnTo>
                  <a:pt x="1443" y="523"/>
                </a:lnTo>
                <a:lnTo>
                  <a:pt x="1439" y="508"/>
                </a:lnTo>
                <a:lnTo>
                  <a:pt x="1436" y="494"/>
                </a:lnTo>
                <a:lnTo>
                  <a:pt x="1429" y="482"/>
                </a:lnTo>
                <a:lnTo>
                  <a:pt x="1422" y="469"/>
                </a:lnTo>
                <a:lnTo>
                  <a:pt x="1412" y="459"/>
                </a:lnTo>
                <a:lnTo>
                  <a:pt x="1400" y="449"/>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83" name="Shape 263">
            <a:extLst>
              <a:ext uri="{FF2B5EF4-FFF2-40B4-BE49-F238E27FC236}">
                <a16:creationId xmlns="" xmlns:a16="http://schemas.microsoft.com/office/drawing/2014/main" id="{4F43BC8A-A029-4BA0-B052-685256D61161}"/>
              </a:ext>
            </a:extLst>
          </p:cNvPr>
          <p:cNvSpPr>
            <a:spLocks noChangeArrowheads="1"/>
          </p:cNvSpPr>
          <p:nvPr/>
        </p:nvSpPr>
        <p:spPr bwMode="gray">
          <a:xfrm>
            <a:off x="998933" y="5755795"/>
            <a:ext cx="4317602" cy="14720"/>
          </a:xfrm>
          <a:prstGeom prst="rect">
            <a:avLst/>
          </a:prstGeom>
          <a:solidFill>
            <a:srgbClr val="666666">
              <a:alpha val="50195"/>
            </a:srgbClr>
          </a:solidFill>
          <a:ln>
            <a:noFill/>
          </a:ln>
          <a:effectLst/>
          <a:extLs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244077" tIns="122037" rIns="244077" bIns="122037"/>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defTabSz="1216025" eaLnBrk="1" fontAlgn="ctr" latinLnBrk="0" hangingPunct="1">
              <a:lnSpc>
                <a:spcPct val="100000"/>
              </a:lnSpc>
              <a:spcBef>
                <a:spcPts val="0"/>
              </a:spcBef>
              <a:spcAft>
                <a:spcPts val="0"/>
              </a:spcAft>
              <a:buClrTx/>
              <a:buSzPct val="100000"/>
              <a:buFontTx/>
              <a:buNone/>
              <a:tabLst/>
              <a:defRPr/>
            </a:pPr>
            <a:endParaRPr kumimoji="0" lang="en-US" altLang="zh-CN" sz="1200" b="0" i="0" u="none" strike="noStrike" kern="0" cap="none" spc="0" normalizeH="0" baseline="0" noProof="0">
              <a:ln>
                <a:noFill/>
              </a:ln>
              <a:solidFill>
                <a:srgbClr val="1D1D1A"/>
              </a:solidFill>
              <a:effectLst/>
              <a:uLnTx/>
              <a:uFillTx/>
              <a:latin typeface="+mn-lt"/>
              <a:ea typeface="+mn-ea"/>
              <a:sym typeface="Arial" panose="020B0604020202020204" pitchFamily="34" charset="0"/>
            </a:endParaRPr>
          </a:p>
        </p:txBody>
      </p:sp>
      <p:sp>
        <p:nvSpPr>
          <p:cNvPr id="84" name="梯形 83">
            <a:extLst>
              <a:ext uri="{FF2B5EF4-FFF2-40B4-BE49-F238E27FC236}">
                <a16:creationId xmlns="" xmlns:a16="http://schemas.microsoft.com/office/drawing/2014/main" id="{88469142-C429-4ECA-B345-783DF0704910}"/>
              </a:ext>
            </a:extLst>
          </p:cNvPr>
          <p:cNvSpPr/>
          <p:nvPr/>
        </p:nvSpPr>
        <p:spPr bwMode="gray">
          <a:xfrm>
            <a:off x="991666" y="4966503"/>
            <a:ext cx="4383041" cy="804656"/>
          </a:xfrm>
          <a:prstGeom prst="trapezoid">
            <a:avLst>
              <a:gd name="adj" fmla="val 52146"/>
            </a:avLst>
          </a:prstGeom>
          <a:gradFill rotWithShape="1">
            <a:gsLst>
              <a:gs pos="0">
                <a:srgbClr val="666666">
                  <a:alpha val="21000"/>
                </a:srgbClr>
              </a:gs>
              <a:gs pos="100000">
                <a:srgbClr val="666666">
                  <a:lumMod val="85000"/>
                  <a:alpha val="8000"/>
                </a:srgbClr>
              </a:gs>
            </a:gsLst>
            <a:lin ang="16200000"/>
          </a:gradFill>
          <a:ln>
            <a:noFill/>
          </a:ln>
          <a:effectLst/>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sym typeface="+mn-lt"/>
            </a:endParaRPr>
          </a:p>
        </p:txBody>
      </p:sp>
      <p:sp>
        <p:nvSpPr>
          <p:cNvPr id="85" name="TextBox 425">
            <a:extLst>
              <a:ext uri="{FF2B5EF4-FFF2-40B4-BE49-F238E27FC236}">
                <a16:creationId xmlns="" xmlns:a16="http://schemas.microsoft.com/office/drawing/2014/main" id="{939BDDBF-91E8-4D26-889B-4D3BFD17EA56}"/>
              </a:ext>
            </a:extLst>
          </p:cNvPr>
          <p:cNvSpPr txBox="1"/>
          <p:nvPr/>
        </p:nvSpPr>
        <p:spPr bwMode="gray">
          <a:xfrm>
            <a:off x="2593514" y="5266611"/>
            <a:ext cx="1094914" cy="28724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骨干</a:t>
            </a:r>
            <a:r>
              <a:rPr kumimoji="0" lang="en-US" altLang="zh-CN" sz="1200" b="0" i="0" u="none" strike="noStrike" kern="0" cap="none" spc="0" normalizeH="0" baseline="0" noProof="0" dirty="0">
                <a:ln>
                  <a:noFill/>
                </a:ln>
                <a:solidFill>
                  <a:srgbClr val="1D1D1A"/>
                </a:solidFill>
                <a:effectLst/>
                <a:uLnTx/>
                <a:uFillTx/>
                <a:cs typeface="+mn-ea"/>
                <a:sym typeface="+mn-lt"/>
              </a:rPr>
              <a:t>/DCI</a:t>
            </a: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grpSp>
        <p:nvGrpSpPr>
          <p:cNvPr id="86" name="组合 85">
            <a:extLst>
              <a:ext uri="{FF2B5EF4-FFF2-40B4-BE49-F238E27FC236}">
                <a16:creationId xmlns="" xmlns:a16="http://schemas.microsoft.com/office/drawing/2014/main" id="{3E10D8C2-A51B-4C03-BA05-0C32AF519E29}"/>
              </a:ext>
            </a:extLst>
          </p:cNvPr>
          <p:cNvGrpSpPr/>
          <p:nvPr/>
        </p:nvGrpSpPr>
        <p:grpSpPr bwMode="gray">
          <a:xfrm>
            <a:off x="1341253" y="5003362"/>
            <a:ext cx="3575429" cy="552624"/>
            <a:chOff x="1803581" y="5040649"/>
            <a:chExt cx="3434936" cy="825001"/>
          </a:xfrm>
        </p:grpSpPr>
        <p:sp>
          <p:nvSpPr>
            <p:cNvPr id="103" name="椭圆 9">
              <a:extLst>
                <a:ext uri="{FF2B5EF4-FFF2-40B4-BE49-F238E27FC236}">
                  <a16:creationId xmlns="" xmlns:a16="http://schemas.microsoft.com/office/drawing/2014/main" id="{EA488BAB-B5E9-4F18-B9EC-9068B31C9440}"/>
                </a:ext>
              </a:extLst>
            </p:cNvPr>
            <p:cNvSpPr/>
            <p:nvPr/>
          </p:nvSpPr>
          <p:spPr bwMode="gray">
            <a:xfrm>
              <a:off x="2939169" y="5397499"/>
              <a:ext cx="1155141" cy="438053"/>
            </a:xfrm>
            <a:prstGeom prst="ellipse">
              <a:avLst/>
            </a:prstGeom>
            <a:noFill/>
            <a:ln w="6350" cap="flat" cmpd="sng" algn="ctr">
              <a:solidFill>
                <a:srgbClr val="1D1D1A">
                  <a:lumMod val="75000"/>
                </a:srgbClr>
              </a:solidFill>
              <a:prstDash val="solid"/>
            </a:ln>
            <a:effectLst/>
          </p:spPr>
          <p:txBody>
            <a:bodyPr vert="horz" wrap="square" lIns="91386" tIns="45694" rIns="91386" bIns="45694" numCol="1" rtlCol="0" anchor="t" anchorCtr="0" compatLnSpc="1">
              <a:prstTxWarp prst="textNoShape">
                <a:avLst/>
              </a:prstTxWarp>
              <a:noAutofit/>
            </a:bodyPr>
            <a:lstStyle/>
            <a:p>
              <a:pPr marL="0" marR="0" lvl="0" indent="0" defTabSz="1218784"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1D1D1A"/>
                </a:solidFill>
                <a:effectLst/>
                <a:uLnTx/>
                <a:uFillTx/>
                <a:sym typeface="+mn-lt"/>
              </a:endParaRPr>
            </a:p>
          </p:txBody>
        </p:sp>
        <p:cxnSp>
          <p:nvCxnSpPr>
            <p:cNvPr id="104" name="直接连接符 103">
              <a:extLst>
                <a:ext uri="{FF2B5EF4-FFF2-40B4-BE49-F238E27FC236}">
                  <a16:creationId xmlns="" xmlns:a16="http://schemas.microsoft.com/office/drawing/2014/main" id="{3AED386D-F435-4892-B41D-C2CFD4FDC9BF}"/>
                </a:ext>
              </a:extLst>
            </p:cNvPr>
            <p:cNvCxnSpPr/>
            <p:nvPr/>
          </p:nvCxnSpPr>
          <p:spPr bwMode="gray">
            <a:xfrm>
              <a:off x="2089243" y="5341409"/>
              <a:ext cx="274684" cy="138329"/>
            </a:xfrm>
            <a:prstGeom prst="line">
              <a:avLst/>
            </a:prstGeom>
            <a:noFill/>
            <a:ln w="6350" cap="flat" cmpd="sng" algn="ctr">
              <a:solidFill>
                <a:srgbClr val="1D1D1A">
                  <a:lumMod val="75000"/>
                </a:srgbClr>
              </a:solidFill>
              <a:prstDash val="sysDash"/>
            </a:ln>
            <a:effectLst/>
          </p:spPr>
        </p:cxnSp>
        <p:cxnSp>
          <p:nvCxnSpPr>
            <p:cNvPr id="105" name="直接连接符 104">
              <a:extLst>
                <a:ext uri="{FF2B5EF4-FFF2-40B4-BE49-F238E27FC236}">
                  <a16:creationId xmlns="" xmlns:a16="http://schemas.microsoft.com/office/drawing/2014/main" id="{93FF3826-8B2B-469F-B9AB-6282908520FB}"/>
                </a:ext>
              </a:extLst>
            </p:cNvPr>
            <p:cNvCxnSpPr/>
            <p:nvPr/>
          </p:nvCxnSpPr>
          <p:spPr bwMode="gray">
            <a:xfrm flipV="1">
              <a:off x="1853234" y="5479737"/>
              <a:ext cx="520734" cy="319487"/>
            </a:xfrm>
            <a:prstGeom prst="line">
              <a:avLst/>
            </a:prstGeom>
            <a:noFill/>
            <a:ln w="6350" cap="flat" cmpd="sng" algn="ctr">
              <a:solidFill>
                <a:srgbClr val="1D1D1A">
                  <a:lumMod val="75000"/>
                </a:srgbClr>
              </a:solidFill>
              <a:prstDash val="sysDash"/>
            </a:ln>
            <a:effectLst/>
          </p:spPr>
        </p:cxnSp>
        <p:cxnSp>
          <p:nvCxnSpPr>
            <p:cNvPr id="106" name="直接连接符 105">
              <a:extLst>
                <a:ext uri="{FF2B5EF4-FFF2-40B4-BE49-F238E27FC236}">
                  <a16:creationId xmlns="" xmlns:a16="http://schemas.microsoft.com/office/drawing/2014/main" id="{1176AA4B-3B62-4D94-8EAC-6961D2CE7558}"/>
                </a:ext>
              </a:extLst>
            </p:cNvPr>
            <p:cNvCxnSpPr/>
            <p:nvPr/>
          </p:nvCxnSpPr>
          <p:spPr bwMode="gray">
            <a:xfrm flipV="1">
              <a:off x="1978663" y="5479737"/>
              <a:ext cx="395304" cy="90582"/>
            </a:xfrm>
            <a:prstGeom prst="line">
              <a:avLst/>
            </a:prstGeom>
            <a:noFill/>
            <a:ln w="6350" cap="flat" cmpd="sng" algn="ctr">
              <a:solidFill>
                <a:srgbClr val="1D1D1A">
                  <a:lumMod val="75000"/>
                </a:srgbClr>
              </a:solidFill>
              <a:prstDash val="sysDash"/>
            </a:ln>
            <a:effectLst/>
          </p:spPr>
        </p:cxnSp>
        <p:cxnSp>
          <p:nvCxnSpPr>
            <p:cNvPr id="107" name="直接连接符 106">
              <a:extLst>
                <a:ext uri="{FF2B5EF4-FFF2-40B4-BE49-F238E27FC236}">
                  <a16:creationId xmlns="" xmlns:a16="http://schemas.microsoft.com/office/drawing/2014/main" id="{4D269D6D-DAAB-4CE2-B7B8-A87CE7A93CD6}"/>
                </a:ext>
              </a:extLst>
            </p:cNvPr>
            <p:cNvCxnSpPr/>
            <p:nvPr/>
          </p:nvCxnSpPr>
          <p:spPr bwMode="gray">
            <a:xfrm>
              <a:off x="1978663" y="5570318"/>
              <a:ext cx="385268" cy="141805"/>
            </a:xfrm>
            <a:prstGeom prst="line">
              <a:avLst/>
            </a:prstGeom>
            <a:noFill/>
            <a:ln w="6350" cap="flat" cmpd="sng" algn="ctr">
              <a:solidFill>
                <a:srgbClr val="1D1D1A">
                  <a:lumMod val="75000"/>
                </a:srgbClr>
              </a:solidFill>
              <a:prstDash val="sysDash"/>
            </a:ln>
            <a:effectLst/>
          </p:spPr>
        </p:cxnSp>
        <p:cxnSp>
          <p:nvCxnSpPr>
            <p:cNvPr id="108" name="直接连接符 107">
              <a:extLst>
                <a:ext uri="{FF2B5EF4-FFF2-40B4-BE49-F238E27FC236}">
                  <a16:creationId xmlns="" xmlns:a16="http://schemas.microsoft.com/office/drawing/2014/main" id="{0E5BBB6A-E292-49B9-8C9B-13931D068371}"/>
                </a:ext>
              </a:extLst>
            </p:cNvPr>
            <p:cNvCxnSpPr/>
            <p:nvPr/>
          </p:nvCxnSpPr>
          <p:spPr bwMode="gray">
            <a:xfrm flipV="1">
              <a:off x="1853234" y="5712123"/>
              <a:ext cx="520734" cy="87100"/>
            </a:xfrm>
            <a:prstGeom prst="line">
              <a:avLst/>
            </a:prstGeom>
            <a:noFill/>
            <a:ln w="6350" cap="flat" cmpd="sng" algn="ctr">
              <a:solidFill>
                <a:srgbClr val="1D1D1A">
                  <a:lumMod val="75000"/>
                </a:srgbClr>
              </a:solidFill>
              <a:prstDash val="sysDash"/>
            </a:ln>
            <a:effectLst/>
          </p:spPr>
        </p:cxnSp>
        <p:cxnSp>
          <p:nvCxnSpPr>
            <p:cNvPr id="109" name="直接连接符 108">
              <a:extLst>
                <a:ext uri="{FF2B5EF4-FFF2-40B4-BE49-F238E27FC236}">
                  <a16:creationId xmlns="" xmlns:a16="http://schemas.microsoft.com/office/drawing/2014/main" id="{84BD726B-5341-4C19-9856-AA336A614C7C}"/>
                </a:ext>
              </a:extLst>
            </p:cNvPr>
            <p:cNvCxnSpPr/>
            <p:nvPr/>
          </p:nvCxnSpPr>
          <p:spPr bwMode="gray">
            <a:xfrm>
              <a:off x="2089243" y="5341410"/>
              <a:ext cx="284723" cy="370712"/>
            </a:xfrm>
            <a:prstGeom prst="line">
              <a:avLst/>
            </a:prstGeom>
            <a:noFill/>
            <a:ln w="6350" cap="flat" cmpd="sng" algn="ctr">
              <a:solidFill>
                <a:srgbClr val="1D1D1A">
                  <a:lumMod val="75000"/>
                </a:srgbClr>
              </a:solidFill>
              <a:prstDash val="sysDash"/>
            </a:ln>
            <a:effectLst/>
          </p:spPr>
        </p:cxnSp>
        <p:cxnSp>
          <p:nvCxnSpPr>
            <p:cNvPr id="110" name="直接连接符 109">
              <a:extLst>
                <a:ext uri="{FF2B5EF4-FFF2-40B4-BE49-F238E27FC236}">
                  <a16:creationId xmlns="" xmlns:a16="http://schemas.microsoft.com/office/drawing/2014/main" id="{9BE5E7E3-316B-449C-A140-B6D40D27131D}"/>
                </a:ext>
              </a:extLst>
            </p:cNvPr>
            <p:cNvCxnSpPr/>
            <p:nvPr/>
          </p:nvCxnSpPr>
          <p:spPr bwMode="gray">
            <a:xfrm flipH="1" flipV="1">
              <a:off x="2403378" y="5479735"/>
              <a:ext cx="545316" cy="319486"/>
            </a:xfrm>
            <a:prstGeom prst="line">
              <a:avLst/>
            </a:prstGeom>
            <a:noFill/>
            <a:ln w="6350" cap="flat" cmpd="sng" algn="ctr">
              <a:solidFill>
                <a:srgbClr val="1D1D1A">
                  <a:lumMod val="75000"/>
                </a:srgbClr>
              </a:solidFill>
              <a:prstDash val="sysDash"/>
            </a:ln>
            <a:effectLst/>
          </p:spPr>
        </p:cxnSp>
        <p:cxnSp>
          <p:nvCxnSpPr>
            <p:cNvPr id="111" name="直接连接符 110">
              <a:extLst>
                <a:ext uri="{FF2B5EF4-FFF2-40B4-BE49-F238E27FC236}">
                  <a16:creationId xmlns="" xmlns:a16="http://schemas.microsoft.com/office/drawing/2014/main" id="{A1548685-F6A6-4B19-B512-F2C52D14D2A7}"/>
                </a:ext>
              </a:extLst>
            </p:cNvPr>
            <p:cNvCxnSpPr/>
            <p:nvPr/>
          </p:nvCxnSpPr>
          <p:spPr bwMode="gray">
            <a:xfrm flipH="1" flipV="1">
              <a:off x="2413415" y="5479738"/>
              <a:ext cx="429535" cy="70885"/>
            </a:xfrm>
            <a:prstGeom prst="line">
              <a:avLst/>
            </a:prstGeom>
            <a:noFill/>
            <a:ln w="6350" cap="flat" cmpd="sng" algn="ctr">
              <a:solidFill>
                <a:srgbClr val="1D1D1A">
                  <a:lumMod val="75000"/>
                </a:srgbClr>
              </a:solidFill>
              <a:prstDash val="sysDash"/>
            </a:ln>
            <a:effectLst/>
          </p:spPr>
        </p:cxnSp>
        <p:cxnSp>
          <p:nvCxnSpPr>
            <p:cNvPr id="112" name="直接连接符 111">
              <a:extLst>
                <a:ext uri="{FF2B5EF4-FFF2-40B4-BE49-F238E27FC236}">
                  <a16:creationId xmlns="" xmlns:a16="http://schemas.microsoft.com/office/drawing/2014/main" id="{3EA8A60A-E99E-427A-8006-072046A97F6B}"/>
                </a:ext>
              </a:extLst>
            </p:cNvPr>
            <p:cNvCxnSpPr/>
            <p:nvPr/>
          </p:nvCxnSpPr>
          <p:spPr bwMode="gray">
            <a:xfrm flipH="1">
              <a:off x="2403378" y="5318057"/>
              <a:ext cx="329453" cy="161677"/>
            </a:xfrm>
            <a:prstGeom prst="line">
              <a:avLst/>
            </a:prstGeom>
            <a:noFill/>
            <a:ln w="6350" cap="flat" cmpd="sng" algn="ctr">
              <a:solidFill>
                <a:srgbClr val="1D1D1A">
                  <a:lumMod val="75000"/>
                </a:srgbClr>
              </a:solidFill>
              <a:prstDash val="sysDash"/>
            </a:ln>
            <a:effectLst/>
          </p:spPr>
        </p:cxnSp>
        <p:cxnSp>
          <p:nvCxnSpPr>
            <p:cNvPr id="113" name="直接连接符 112">
              <a:extLst>
                <a:ext uri="{FF2B5EF4-FFF2-40B4-BE49-F238E27FC236}">
                  <a16:creationId xmlns="" xmlns:a16="http://schemas.microsoft.com/office/drawing/2014/main" id="{E512A5F4-BD7B-49BA-82AF-DB36DF8E87F5}"/>
                </a:ext>
              </a:extLst>
            </p:cNvPr>
            <p:cNvCxnSpPr/>
            <p:nvPr/>
          </p:nvCxnSpPr>
          <p:spPr bwMode="gray">
            <a:xfrm flipH="1">
              <a:off x="2399070" y="5334104"/>
              <a:ext cx="329453" cy="394062"/>
            </a:xfrm>
            <a:prstGeom prst="line">
              <a:avLst/>
            </a:prstGeom>
            <a:noFill/>
            <a:ln w="6350" cap="flat" cmpd="sng" algn="ctr">
              <a:solidFill>
                <a:srgbClr val="1D1D1A">
                  <a:lumMod val="75000"/>
                </a:srgbClr>
              </a:solidFill>
              <a:prstDash val="sysDash"/>
            </a:ln>
            <a:effectLst/>
          </p:spPr>
        </p:cxnSp>
        <p:cxnSp>
          <p:nvCxnSpPr>
            <p:cNvPr id="114" name="直接连接符 113">
              <a:extLst>
                <a:ext uri="{FF2B5EF4-FFF2-40B4-BE49-F238E27FC236}">
                  <a16:creationId xmlns="" xmlns:a16="http://schemas.microsoft.com/office/drawing/2014/main" id="{CFE3CDC3-FDC9-4FF1-A818-D32AD6CFDE31}"/>
                </a:ext>
              </a:extLst>
            </p:cNvPr>
            <p:cNvCxnSpPr/>
            <p:nvPr/>
          </p:nvCxnSpPr>
          <p:spPr bwMode="gray">
            <a:xfrm flipH="1">
              <a:off x="2403377" y="5550622"/>
              <a:ext cx="439572" cy="161499"/>
            </a:xfrm>
            <a:prstGeom prst="line">
              <a:avLst/>
            </a:prstGeom>
            <a:noFill/>
            <a:ln w="6350" cap="flat" cmpd="sng" algn="ctr">
              <a:solidFill>
                <a:srgbClr val="1D1D1A">
                  <a:lumMod val="75000"/>
                </a:srgbClr>
              </a:solidFill>
              <a:prstDash val="sysDash"/>
            </a:ln>
            <a:effectLst/>
          </p:spPr>
        </p:cxnSp>
        <p:cxnSp>
          <p:nvCxnSpPr>
            <p:cNvPr id="115" name="直接连接符 114">
              <a:extLst>
                <a:ext uri="{FF2B5EF4-FFF2-40B4-BE49-F238E27FC236}">
                  <a16:creationId xmlns="" xmlns:a16="http://schemas.microsoft.com/office/drawing/2014/main" id="{1F2BCE14-F27D-406B-8914-53E220330F13}"/>
                </a:ext>
              </a:extLst>
            </p:cNvPr>
            <p:cNvCxnSpPr/>
            <p:nvPr/>
          </p:nvCxnSpPr>
          <p:spPr bwMode="gray">
            <a:xfrm flipH="1" flipV="1">
              <a:off x="2413415" y="5712124"/>
              <a:ext cx="564689" cy="87098"/>
            </a:xfrm>
            <a:prstGeom prst="line">
              <a:avLst/>
            </a:prstGeom>
            <a:noFill/>
            <a:ln w="6350" cap="flat" cmpd="sng" algn="ctr">
              <a:solidFill>
                <a:srgbClr val="1D1D1A">
                  <a:lumMod val="75000"/>
                </a:srgbClr>
              </a:solidFill>
              <a:prstDash val="sysDash"/>
            </a:ln>
            <a:effectLst/>
          </p:spPr>
        </p:cxnSp>
        <p:cxnSp>
          <p:nvCxnSpPr>
            <p:cNvPr id="116" name="直接连接符 115">
              <a:extLst>
                <a:ext uri="{FF2B5EF4-FFF2-40B4-BE49-F238E27FC236}">
                  <a16:creationId xmlns="" xmlns:a16="http://schemas.microsoft.com/office/drawing/2014/main" id="{1AA466BD-6E5F-49CE-A16E-268221A90C57}"/>
                </a:ext>
              </a:extLst>
            </p:cNvPr>
            <p:cNvCxnSpPr/>
            <p:nvPr/>
          </p:nvCxnSpPr>
          <p:spPr bwMode="gray">
            <a:xfrm>
              <a:off x="4344354" y="5320188"/>
              <a:ext cx="274685" cy="138329"/>
            </a:xfrm>
            <a:prstGeom prst="line">
              <a:avLst/>
            </a:prstGeom>
            <a:noFill/>
            <a:ln w="6350" cap="flat" cmpd="sng" algn="ctr">
              <a:solidFill>
                <a:srgbClr val="1D1D1A">
                  <a:lumMod val="75000"/>
                </a:srgbClr>
              </a:solidFill>
              <a:prstDash val="sysDash"/>
            </a:ln>
            <a:effectLst/>
          </p:spPr>
        </p:cxnSp>
        <p:cxnSp>
          <p:nvCxnSpPr>
            <p:cNvPr id="117" name="直接连接符 116">
              <a:extLst>
                <a:ext uri="{FF2B5EF4-FFF2-40B4-BE49-F238E27FC236}">
                  <a16:creationId xmlns="" xmlns:a16="http://schemas.microsoft.com/office/drawing/2014/main" id="{4066287E-38A5-4C42-BAEE-64286E6F0156}"/>
                </a:ext>
              </a:extLst>
            </p:cNvPr>
            <p:cNvCxnSpPr/>
            <p:nvPr/>
          </p:nvCxnSpPr>
          <p:spPr bwMode="gray">
            <a:xfrm flipV="1">
              <a:off x="4108343" y="5458517"/>
              <a:ext cx="520734" cy="319487"/>
            </a:xfrm>
            <a:prstGeom prst="line">
              <a:avLst/>
            </a:prstGeom>
            <a:noFill/>
            <a:ln w="6350" cap="flat" cmpd="sng" algn="ctr">
              <a:solidFill>
                <a:srgbClr val="1D1D1A">
                  <a:lumMod val="75000"/>
                </a:srgbClr>
              </a:solidFill>
              <a:prstDash val="sysDash"/>
            </a:ln>
            <a:effectLst/>
          </p:spPr>
        </p:cxnSp>
        <p:cxnSp>
          <p:nvCxnSpPr>
            <p:cNvPr id="118" name="直接连接符 117">
              <a:extLst>
                <a:ext uri="{FF2B5EF4-FFF2-40B4-BE49-F238E27FC236}">
                  <a16:creationId xmlns="" xmlns:a16="http://schemas.microsoft.com/office/drawing/2014/main" id="{F80DDC9D-1902-4E86-A9EE-C29201EDC6E3}"/>
                </a:ext>
              </a:extLst>
            </p:cNvPr>
            <p:cNvCxnSpPr/>
            <p:nvPr/>
          </p:nvCxnSpPr>
          <p:spPr bwMode="gray">
            <a:xfrm flipV="1">
              <a:off x="4233772" y="5458517"/>
              <a:ext cx="395304" cy="90581"/>
            </a:xfrm>
            <a:prstGeom prst="line">
              <a:avLst/>
            </a:prstGeom>
            <a:noFill/>
            <a:ln w="6350" cap="flat" cmpd="sng" algn="ctr">
              <a:solidFill>
                <a:srgbClr val="1D1D1A">
                  <a:lumMod val="75000"/>
                </a:srgbClr>
              </a:solidFill>
              <a:prstDash val="sysDash"/>
            </a:ln>
            <a:effectLst/>
          </p:spPr>
        </p:cxnSp>
        <p:cxnSp>
          <p:nvCxnSpPr>
            <p:cNvPr id="119" name="直接连接符 118">
              <a:extLst>
                <a:ext uri="{FF2B5EF4-FFF2-40B4-BE49-F238E27FC236}">
                  <a16:creationId xmlns="" xmlns:a16="http://schemas.microsoft.com/office/drawing/2014/main" id="{207CFAE6-05B1-4793-95FB-A430503C0E05}"/>
                </a:ext>
              </a:extLst>
            </p:cNvPr>
            <p:cNvCxnSpPr/>
            <p:nvPr/>
          </p:nvCxnSpPr>
          <p:spPr bwMode="gray">
            <a:xfrm>
              <a:off x="4233772" y="5549096"/>
              <a:ext cx="385267" cy="141805"/>
            </a:xfrm>
            <a:prstGeom prst="line">
              <a:avLst/>
            </a:prstGeom>
            <a:noFill/>
            <a:ln w="6350" cap="flat" cmpd="sng" algn="ctr">
              <a:solidFill>
                <a:srgbClr val="1D1D1A">
                  <a:lumMod val="75000"/>
                </a:srgbClr>
              </a:solidFill>
              <a:prstDash val="sysDash"/>
            </a:ln>
            <a:effectLst/>
          </p:spPr>
        </p:cxnSp>
        <p:cxnSp>
          <p:nvCxnSpPr>
            <p:cNvPr id="120" name="直接连接符 119">
              <a:extLst>
                <a:ext uri="{FF2B5EF4-FFF2-40B4-BE49-F238E27FC236}">
                  <a16:creationId xmlns="" xmlns:a16="http://schemas.microsoft.com/office/drawing/2014/main" id="{899D246F-6561-4786-A176-2237F978A49B}"/>
                </a:ext>
              </a:extLst>
            </p:cNvPr>
            <p:cNvCxnSpPr/>
            <p:nvPr/>
          </p:nvCxnSpPr>
          <p:spPr bwMode="gray">
            <a:xfrm flipV="1">
              <a:off x="4108343" y="5690901"/>
              <a:ext cx="520734" cy="87100"/>
            </a:xfrm>
            <a:prstGeom prst="line">
              <a:avLst/>
            </a:prstGeom>
            <a:noFill/>
            <a:ln w="6350" cap="flat" cmpd="sng" algn="ctr">
              <a:solidFill>
                <a:srgbClr val="1D1D1A">
                  <a:lumMod val="75000"/>
                </a:srgbClr>
              </a:solidFill>
              <a:prstDash val="sysDash"/>
            </a:ln>
            <a:effectLst/>
          </p:spPr>
        </p:cxnSp>
        <p:cxnSp>
          <p:nvCxnSpPr>
            <p:cNvPr id="121" name="直接连接符 120">
              <a:extLst>
                <a:ext uri="{FF2B5EF4-FFF2-40B4-BE49-F238E27FC236}">
                  <a16:creationId xmlns="" xmlns:a16="http://schemas.microsoft.com/office/drawing/2014/main" id="{B32B8B3D-0AC4-4252-8B28-F2B6845944F2}"/>
                </a:ext>
              </a:extLst>
            </p:cNvPr>
            <p:cNvCxnSpPr/>
            <p:nvPr/>
          </p:nvCxnSpPr>
          <p:spPr bwMode="gray">
            <a:xfrm>
              <a:off x="4344354" y="5320190"/>
              <a:ext cx="284723" cy="370712"/>
            </a:xfrm>
            <a:prstGeom prst="line">
              <a:avLst/>
            </a:prstGeom>
            <a:noFill/>
            <a:ln w="6350" cap="flat" cmpd="sng" algn="ctr">
              <a:solidFill>
                <a:srgbClr val="1D1D1A">
                  <a:lumMod val="75000"/>
                </a:srgbClr>
              </a:solidFill>
              <a:prstDash val="sysDash"/>
            </a:ln>
            <a:effectLst/>
          </p:spPr>
        </p:cxnSp>
        <p:cxnSp>
          <p:nvCxnSpPr>
            <p:cNvPr id="122" name="直接连接符 121">
              <a:extLst>
                <a:ext uri="{FF2B5EF4-FFF2-40B4-BE49-F238E27FC236}">
                  <a16:creationId xmlns="" xmlns:a16="http://schemas.microsoft.com/office/drawing/2014/main" id="{9DBEE195-4BCC-41C1-85D9-5B3805CD8271}"/>
                </a:ext>
              </a:extLst>
            </p:cNvPr>
            <p:cNvCxnSpPr/>
            <p:nvPr/>
          </p:nvCxnSpPr>
          <p:spPr bwMode="gray">
            <a:xfrm flipH="1" flipV="1">
              <a:off x="4658487" y="5458515"/>
              <a:ext cx="545317" cy="319486"/>
            </a:xfrm>
            <a:prstGeom prst="line">
              <a:avLst/>
            </a:prstGeom>
            <a:noFill/>
            <a:ln w="6350" cap="flat" cmpd="sng" algn="ctr">
              <a:solidFill>
                <a:srgbClr val="1D1D1A">
                  <a:lumMod val="75000"/>
                </a:srgbClr>
              </a:solidFill>
              <a:prstDash val="sysDash"/>
            </a:ln>
            <a:effectLst/>
          </p:spPr>
        </p:cxnSp>
        <p:cxnSp>
          <p:nvCxnSpPr>
            <p:cNvPr id="123" name="直接连接符 122">
              <a:extLst>
                <a:ext uri="{FF2B5EF4-FFF2-40B4-BE49-F238E27FC236}">
                  <a16:creationId xmlns="" xmlns:a16="http://schemas.microsoft.com/office/drawing/2014/main" id="{67137E85-D5E2-44C7-9003-ABB21EC0E58D}"/>
                </a:ext>
              </a:extLst>
            </p:cNvPr>
            <p:cNvCxnSpPr/>
            <p:nvPr/>
          </p:nvCxnSpPr>
          <p:spPr bwMode="gray">
            <a:xfrm flipH="1" flipV="1">
              <a:off x="4668525" y="5458518"/>
              <a:ext cx="429535" cy="70885"/>
            </a:xfrm>
            <a:prstGeom prst="line">
              <a:avLst/>
            </a:prstGeom>
            <a:noFill/>
            <a:ln w="6350" cap="flat" cmpd="sng" algn="ctr">
              <a:solidFill>
                <a:srgbClr val="1D1D1A">
                  <a:lumMod val="75000"/>
                </a:srgbClr>
              </a:solidFill>
              <a:prstDash val="sysDash"/>
            </a:ln>
            <a:effectLst/>
          </p:spPr>
        </p:cxnSp>
        <p:cxnSp>
          <p:nvCxnSpPr>
            <p:cNvPr id="124" name="直接连接符 123">
              <a:extLst>
                <a:ext uri="{FF2B5EF4-FFF2-40B4-BE49-F238E27FC236}">
                  <a16:creationId xmlns="" xmlns:a16="http://schemas.microsoft.com/office/drawing/2014/main" id="{7B0E0913-5A3D-43B2-B134-5777CE8C759A}"/>
                </a:ext>
              </a:extLst>
            </p:cNvPr>
            <p:cNvCxnSpPr/>
            <p:nvPr/>
          </p:nvCxnSpPr>
          <p:spPr bwMode="gray">
            <a:xfrm flipH="1">
              <a:off x="4658487" y="5296837"/>
              <a:ext cx="329453" cy="161677"/>
            </a:xfrm>
            <a:prstGeom prst="line">
              <a:avLst/>
            </a:prstGeom>
            <a:noFill/>
            <a:ln w="6350" cap="flat" cmpd="sng" algn="ctr">
              <a:solidFill>
                <a:srgbClr val="1D1D1A">
                  <a:lumMod val="75000"/>
                </a:srgbClr>
              </a:solidFill>
              <a:prstDash val="sysDash"/>
            </a:ln>
            <a:effectLst/>
          </p:spPr>
        </p:cxnSp>
        <p:cxnSp>
          <p:nvCxnSpPr>
            <p:cNvPr id="125" name="直接连接符 124">
              <a:extLst>
                <a:ext uri="{FF2B5EF4-FFF2-40B4-BE49-F238E27FC236}">
                  <a16:creationId xmlns="" xmlns:a16="http://schemas.microsoft.com/office/drawing/2014/main" id="{59383809-8851-49EF-B0AB-F8366CDEE500}"/>
                </a:ext>
              </a:extLst>
            </p:cNvPr>
            <p:cNvCxnSpPr/>
            <p:nvPr/>
          </p:nvCxnSpPr>
          <p:spPr bwMode="gray">
            <a:xfrm flipH="1">
              <a:off x="4654180" y="5312883"/>
              <a:ext cx="329453" cy="394062"/>
            </a:xfrm>
            <a:prstGeom prst="line">
              <a:avLst/>
            </a:prstGeom>
            <a:noFill/>
            <a:ln w="6350" cap="flat" cmpd="sng" algn="ctr">
              <a:solidFill>
                <a:srgbClr val="1D1D1A">
                  <a:lumMod val="75000"/>
                </a:srgbClr>
              </a:solidFill>
              <a:prstDash val="sysDash"/>
            </a:ln>
            <a:effectLst/>
          </p:spPr>
        </p:cxnSp>
        <p:cxnSp>
          <p:nvCxnSpPr>
            <p:cNvPr id="126" name="直接连接符 125">
              <a:extLst>
                <a:ext uri="{FF2B5EF4-FFF2-40B4-BE49-F238E27FC236}">
                  <a16:creationId xmlns="" xmlns:a16="http://schemas.microsoft.com/office/drawing/2014/main" id="{B348703A-3FAB-40BB-AC8E-D9F0DF7A33A3}"/>
                </a:ext>
              </a:extLst>
            </p:cNvPr>
            <p:cNvCxnSpPr/>
            <p:nvPr/>
          </p:nvCxnSpPr>
          <p:spPr bwMode="gray">
            <a:xfrm flipH="1">
              <a:off x="4658487" y="5529402"/>
              <a:ext cx="439572" cy="161499"/>
            </a:xfrm>
            <a:prstGeom prst="line">
              <a:avLst/>
            </a:prstGeom>
            <a:noFill/>
            <a:ln w="6350" cap="flat" cmpd="sng" algn="ctr">
              <a:solidFill>
                <a:srgbClr val="1D1D1A">
                  <a:lumMod val="75000"/>
                </a:srgbClr>
              </a:solidFill>
              <a:prstDash val="sysDash"/>
            </a:ln>
            <a:effectLst/>
          </p:spPr>
        </p:cxnSp>
        <p:cxnSp>
          <p:nvCxnSpPr>
            <p:cNvPr id="127" name="直接连接符 126">
              <a:extLst>
                <a:ext uri="{FF2B5EF4-FFF2-40B4-BE49-F238E27FC236}">
                  <a16:creationId xmlns="" xmlns:a16="http://schemas.microsoft.com/office/drawing/2014/main" id="{7E2750E0-9514-4467-B70B-EAB500A622EC}"/>
                </a:ext>
              </a:extLst>
            </p:cNvPr>
            <p:cNvCxnSpPr/>
            <p:nvPr/>
          </p:nvCxnSpPr>
          <p:spPr bwMode="gray">
            <a:xfrm flipH="1" flipV="1">
              <a:off x="4668525" y="5690903"/>
              <a:ext cx="564690" cy="87098"/>
            </a:xfrm>
            <a:prstGeom prst="line">
              <a:avLst/>
            </a:prstGeom>
            <a:noFill/>
            <a:ln w="6350" cap="flat" cmpd="sng" algn="ctr">
              <a:solidFill>
                <a:srgbClr val="1D1D1A">
                  <a:lumMod val="75000"/>
                </a:srgbClr>
              </a:solidFill>
              <a:prstDash val="sysDash"/>
            </a:ln>
            <a:effectLst/>
          </p:spPr>
        </p:cxnSp>
        <p:sp>
          <p:nvSpPr>
            <p:cNvPr id="128" name="Freeform 126">
              <a:extLst>
                <a:ext uri="{FF2B5EF4-FFF2-40B4-BE49-F238E27FC236}">
                  <a16:creationId xmlns="" xmlns:a16="http://schemas.microsoft.com/office/drawing/2014/main" id="{19D8D17E-5C2F-4EF8-A7B4-567F3DA7A0B1}"/>
                </a:ext>
              </a:extLst>
            </p:cNvPr>
            <p:cNvSpPr>
              <a:spLocks/>
            </p:cNvSpPr>
            <p:nvPr/>
          </p:nvSpPr>
          <p:spPr bwMode="gray">
            <a:xfrm>
              <a:off x="3410455" y="5220002"/>
              <a:ext cx="213801" cy="174346"/>
            </a:xfrm>
            <a:custGeom>
              <a:avLst/>
              <a:gdLst>
                <a:gd name="T0" fmla="*/ 2147483647 w 1754"/>
                <a:gd name="T1" fmla="*/ 2147483647 h 1066"/>
                <a:gd name="T2" fmla="*/ 2147483647 w 1754"/>
                <a:gd name="T3" fmla="*/ 2147483647 h 1066"/>
                <a:gd name="T4" fmla="*/ 2147483647 w 1754"/>
                <a:gd name="T5" fmla="*/ 2147483647 h 1066"/>
                <a:gd name="T6" fmla="*/ 2147483647 w 1754"/>
                <a:gd name="T7" fmla="*/ 2147483647 h 1066"/>
                <a:gd name="T8" fmla="*/ 2147483647 w 1754"/>
                <a:gd name="T9" fmla="*/ 2147483647 h 1066"/>
                <a:gd name="T10" fmla="*/ 2147483647 w 1754"/>
                <a:gd name="T11" fmla="*/ 2147483647 h 1066"/>
                <a:gd name="T12" fmla="*/ 2147483647 w 1754"/>
                <a:gd name="T13" fmla="*/ 2147483647 h 1066"/>
                <a:gd name="T14" fmla="*/ 2147483647 w 1754"/>
                <a:gd name="T15" fmla="*/ 2147483647 h 1066"/>
                <a:gd name="T16" fmla="*/ 2147483647 w 1754"/>
                <a:gd name="T17" fmla="*/ 2147483647 h 1066"/>
                <a:gd name="T18" fmla="*/ 2147483647 w 1754"/>
                <a:gd name="T19" fmla="*/ 2147483647 h 1066"/>
                <a:gd name="T20" fmla="*/ 2147483647 w 1754"/>
                <a:gd name="T21" fmla="*/ 2147483647 h 1066"/>
                <a:gd name="T22" fmla="*/ 2147483647 w 1754"/>
                <a:gd name="T23" fmla="*/ 2147483647 h 1066"/>
                <a:gd name="T24" fmla="*/ 2147483647 w 1754"/>
                <a:gd name="T25" fmla="*/ 2147483647 h 1066"/>
                <a:gd name="T26" fmla="*/ 2147483647 w 1754"/>
                <a:gd name="T27" fmla="*/ 2147483647 h 1066"/>
                <a:gd name="T28" fmla="*/ 2147483647 w 1754"/>
                <a:gd name="T29" fmla="*/ 2147483647 h 1066"/>
                <a:gd name="T30" fmla="*/ 2147483647 w 1754"/>
                <a:gd name="T31" fmla="*/ 2147483647 h 1066"/>
                <a:gd name="T32" fmla="*/ 2147483647 w 1754"/>
                <a:gd name="T33" fmla="*/ 2147483647 h 1066"/>
                <a:gd name="T34" fmla="*/ 0 w 1754"/>
                <a:gd name="T35" fmla="*/ 2147483647 h 1066"/>
                <a:gd name="T36" fmla="*/ 2147483647 w 1754"/>
                <a:gd name="T37" fmla="*/ 2147483647 h 1066"/>
                <a:gd name="T38" fmla="*/ 2147483647 w 1754"/>
                <a:gd name="T39" fmla="*/ 0 h 1066"/>
                <a:gd name="T40" fmla="*/ 2147483647 w 1754"/>
                <a:gd name="T41" fmla="*/ 2147483647 h 1066"/>
                <a:gd name="T42" fmla="*/ 2147483647 w 1754"/>
                <a:gd name="T43" fmla="*/ 2147483647 h 1066"/>
                <a:gd name="T44" fmla="*/ 2147483647 w 1754"/>
                <a:gd name="T45" fmla="*/ 2147483647 h 1066"/>
                <a:gd name="T46" fmla="*/ 2147483647 w 1754"/>
                <a:gd name="T47" fmla="*/ 2147483647 h 10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54"/>
                <a:gd name="T73" fmla="*/ 0 h 1066"/>
                <a:gd name="T74" fmla="*/ 1754 w 1754"/>
                <a:gd name="T75" fmla="*/ 1066 h 10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54" h="1066">
                  <a:moveTo>
                    <a:pt x="1494" y="1066"/>
                  </a:moveTo>
                  <a:lnTo>
                    <a:pt x="1494" y="1066"/>
                  </a:lnTo>
                  <a:lnTo>
                    <a:pt x="1389" y="1066"/>
                  </a:lnTo>
                  <a:lnTo>
                    <a:pt x="1389" y="999"/>
                  </a:lnTo>
                  <a:lnTo>
                    <a:pt x="1494" y="999"/>
                  </a:lnTo>
                  <a:cubicBezTo>
                    <a:pt x="1519" y="999"/>
                    <a:pt x="1541" y="993"/>
                    <a:pt x="1555" y="982"/>
                  </a:cubicBezTo>
                  <a:cubicBezTo>
                    <a:pt x="1639" y="913"/>
                    <a:pt x="1688" y="814"/>
                    <a:pt x="1688" y="711"/>
                  </a:cubicBezTo>
                  <a:cubicBezTo>
                    <a:pt x="1688" y="523"/>
                    <a:pt x="1535" y="369"/>
                    <a:pt x="1348" y="367"/>
                  </a:cubicBezTo>
                  <a:cubicBezTo>
                    <a:pt x="1336" y="367"/>
                    <a:pt x="1325" y="360"/>
                    <a:pt x="1319" y="350"/>
                  </a:cubicBezTo>
                  <a:cubicBezTo>
                    <a:pt x="1222" y="175"/>
                    <a:pt x="1038" y="67"/>
                    <a:pt x="839" y="67"/>
                  </a:cubicBezTo>
                  <a:cubicBezTo>
                    <a:pt x="589" y="67"/>
                    <a:pt x="370" y="236"/>
                    <a:pt x="307" y="478"/>
                  </a:cubicBezTo>
                  <a:cubicBezTo>
                    <a:pt x="304" y="491"/>
                    <a:pt x="293" y="501"/>
                    <a:pt x="280" y="503"/>
                  </a:cubicBezTo>
                  <a:cubicBezTo>
                    <a:pt x="159" y="521"/>
                    <a:pt x="67" y="627"/>
                    <a:pt x="67" y="750"/>
                  </a:cubicBezTo>
                  <a:cubicBezTo>
                    <a:pt x="67" y="887"/>
                    <a:pt x="179" y="999"/>
                    <a:pt x="317" y="999"/>
                  </a:cubicBezTo>
                  <a:lnTo>
                    <a:pt x="1183" y="999"/>
                  </a:lnTo>
                  <a:lnTo>
                    <a:pt x="1183" y="1066"/>
                  </a:lnTo>
                  <a:lnTo>
                    <a:pt x="317" y="1066"/>
                  </a:lnTo>
                  <a:cubicBezTo>
                    <a:pt x="142" y="1066"/>
                    <a:pt x="0" y="924"/>
                    <a:pt x="0" y="750"/>
                  </a:cubicBezTo>
                  <a:cubicBezTo>
                    <a:pt x="0" y="602"/>
                    <a:pt x="106" y="473"/>
                    <a:pt x="248" y="441"/>
                  </a:cubicBezTo>
                  <a:cubicBezTo>
                    <a:pt x="326" y="180"/>
                    <a:pt x="565" y="0"/>
                    <a:pt x="839" y="0"/>
                  </a:cubicBezTo>
                  <a:cubicBezTo>
                    <a:pt x="1056" y="0"/>
                    <a:pt x="1256" y="115"/>
                    <a:pt x="1368" y="301"/>
                  </a:cubicBezTo>
                  <a:cubicBezTo>
                    <a:pt x="1583" y="313"/>
                    <a:pt x="1754" y="493"/>
                    <a:pt x="1754" y="711"/>
                  </a:cubicBezTo>
                  <a:cubicBezTo>
                    <a:pt x="1754" y="834"/>
                    <a:pt x="1697" y="952"/>
                    <a:pt x="1597" y="1034"/>
                  </a:cubicBezTo>
                  <a:cubicBezTo>
                    <a:pt x="1571" y="1055"/>
                    <a:pt x="1535" y="1066"/>
                    <a:pt x="1494" y="1066"/>
                  </a:cubicBezTo>
                  <a:close/>
                </a:path>
              </a:pathLst>
            </a:custGeom>
            <a:solidFill>
              <a:sysClr val="window" lastClr="FFFFFF"/>
            </a:solidFill>
            <a:ln>
              <a:solidFill>
                <a:srgbClr val="1D1D1A">
                  <a:lumMod val="75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29" name="Freeform 126">
              <a:extLst>
                <a:ext uri="{FF2B5EF4-FFF2-40B4-BE49-F238E27FC236}">
                  <a16:creationId xmlns="" xmlns:a16="http://schemas.microsoft.com/office/drawing/2014/main" id="{0DF97F70-FE1E-4ACF-83FB-B47D5418177F}"/>
                </a:ext>
              </a:extLst>
            </p:cNvPr>
            <p:cNvSpPr>
              <a:spLocks/>
            </p:cNvSpPr>
            <p:nvPr/>
          </p:nvSpPr>
          <p:spPr bwMode="gray">
            <a:xfrm>
              <a:off x="3859763" y="5284033"/>
              <a:ext cx="213801" cy="174346"/>
            </a:xfrm>
            <a:custGeom>
              <a:avLst/>
              <a:gdLst>
                <a:gd name="T0" fmla="*/ 2147483647 w 1754"/>
                <a:gd name="T1" fmla="*/ 2147483647 h 1066"/>
                <a:gd name="T2" fmla="*/ 2147483647 w 1754"/>
                <a:gd name="T3" fmla="*/ 2147483647 h 1066"/>
                <a:gd name="T4" fmla="*/ 2147483647 w 1754"/>
                <a:gd name="T5" fmla="*/ 2147483647 h 1066"/>
                <a:gd name="T6" fmla="*/ 2147483647 w 1754"/>
                <a:gd name="T7" fmla="*/ 2147483647 h 1066"/>
                <a:gd name="T8" fmla="*/ 2147483647 w 1754"/>
                <a:gd name="T9" fmla="*/ 2147483647 h 1066"/>
                <a:gd name="T10" fmla="*/ 2147483647 w 1754"/>
                <a:gd name="T11" fmla="*/ 2147483647 h 1066"/>
                <a:gd name="T12" fmla="*/ 2147483647 w 1754"/>
                <a:gd name="T13" fmla="*/ 2147483647 h 1066"/>
                <a:gd name="T14" fmla="*/ 2147483647 w 1754"/>
                <a:gd name="T15" fmla="*/ 2147483647 h 1066"/>
                <a:gd name="T16" fmla="*/ 2147483647 w 1754"/>
                <a:gd name="T17" fmla="*/ 2147483647 h 1066"/>
                <a:gd name="T18" fmla="*/ 2147483647 w 1754"/>
                <a:gd name="T19" fmla="*/ 2147483647 h 1066"/>
                <a:gd name="T20" fmla="*/ 2147483647 w 1754"/>
                <a:gd name="T21" fmla="*/ 2147483647 h 1066"/>
                <a:gd name="T22" fmla="*/ 2147483647 w 1754"/>
                <a:gd name="T23" fmla="*/ 2147483647 h 1066"/>
                <a:gd name="T24" fmla="*/ 2147483647 w 1754"/>
                <a:gd name="T25" fmla="*/ 2147483647 h 1066"/>
                <a:gd name="T26" fmla="*/ 2147483647 w 1754"/>
                <a:gd name="T27" fmla="*/ 2147483647 h 1066"/>
                <a:gd name="T28" fmla="*/ 2147483647 w 1754"/>
                <a:gd name="T29" fmla="*/ 2147483647 h 1066"/>
                <a:gd name="T30" fmla="*/ 2147483647 w 1754"/>
                <a:gd name="T31" fmla="*/ 2147483647 h 1066"/>
                <a:gd name="T32" fmla="*/ 2147483647 w 1754"/>
                <a:gd name="T33" fmla="*/ 2147483647 h 1066"/>
                <a:gd name="T34" fmla="*/ 0 w 1754"/>
                <a:gd name="T35" fmla="*/ 2147483647 h 1066"/>
                <a:gd name="T36" fmla="*/ 2147483647 w 1754"/>
                <a:gd name="T37" fmla="*/ 2147483647 h 1066"/>
                <a:gd name="T38" fmla="*/ 2147483647 w 1754"/>
                <a:gd name="T39" fmla="*/ 0 h 1066"/>
                <a:gd name="T40" fmla="*/ 2147483647 w 1754"/>
                <a:gd name="T41" fmla="*/ 2147483647 h 1066"/>
                <a:gd name="T42" fmla="*/ 2147483647 w 1754"/>
                <a:gd name="T43" fmla="*/ 2147483647 h 1066"/>
                <a:gd name="T44" fmla="*/ 2147483647 w 1754"/>
                <a:gd name="T45" fmla="*/ 2147483647 h 1066"/>
                <a:gd name="T46" fmla="*/ 2147483647 w 1754"/>
                <a:gd name="T47" fmla="*/ 2147483647 h 10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54"/>
                <a:gd name="T73" fmla="*/ 0 h 1066"/>
                <a:gd name="T74" fmla="*/ 1754 w 1754"/>
                <a:gd name="T75" fmla="*/ 1066 h 10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54" h="1066">
                  <a:moveTo>
                    <a:pt x="1494" y="1066"/>
                  </a:moveTo>
                  <a:lnTo>
                    <a:pt x="1494" y="1066"/>
                  </a:lnTo>
                  <a:lnTo>
                    <a:pt x="1389" y="1066"/>
                  </a:lnTo>
                  <a:lnTo>
                    <a:pt x="1389" y="999"/>
                  </a:lnTo>
                  <a:lnTo>
                    <a:pt x="1494" y="999"/>
                  </a:lnTo>
                  <a:cubicBezTo>
                    <a:pt x="1519" y="999"/>
                    <a:pt x="1541" y="993"/>
                    <a:pt x="1555" y="982"/>
                  </a:cubicBezTo>
                  <a:cubicBezTo>
                    <a:pt x="1639" y="913"/>
                    <a:pt x="1688" y="814"/>
                    <a:pt x="1688" y="711"/>
                  </a:cubicBezTo>
                  <a:cubicBezTo>
                    <a:pt x="1688" y="523"/>
                    <a:pt x="1535" y="369"/>
                    <a:pt x="1348" y="367"/>
                  </a:cubicBezTo>
                  <a:cubicBezTo>
                    <a:pt x="1336" y="367"/>
                    <a:pt x="1325" y="360"/>
                    <a:pt x="1319" y="350"/>
                  </a:cubicBezTo>
                  <a:cubicBezTo>
                    <a:pt x="1222" y="175"/>
                    <a:pt x="1038" y="67"/>
                    <a:pt x="839" y="67"/>
                  </a:cubicBezTo>
                  <a:cubicBezTo>
                    <a:pt x="589" y="67"/>
                    <a:pt x="370" y="236"/>
                    <a:pt x="307" y="478"/>
                  </a:cubicBezTo>
                  <a:cubicBezTo>
                    <a:pt x="304" y="491"/>
                    <a:pt x="293" y="501"/>
                    <a:pt x="280" y="503"/>
                  </a:cubicBezTo>
                  <a:cubicBezTo>
                    <a:pt x="159" y="521"/>
                    <a:pt x="67" y="627"/>
                    <a:pt x="67" y="750"/>
                  </a:cubicBezTo>
                  <a:cubicBezTo>
                    <a:pt x="67" y="887"/>
                    <a:pt x="179" y="999"/>
                    <a:pt x="317" y="999"/>
                  </a:cubicBezTo>
                  <a:lnTo>
                    <a:pt x="1183" y="999"/>
                  </a:lnTo>
                  <a:lnTo>
                    <a:pt x="1183" y="1066"/>
                  </a:lnTo>
                  <a:lnTo>
                    <a:pt x="317" y="1066"/>
                  </a:lnTo>
                  <a:cubicBezTo>
                    <a:pt x="142" y="1066"/>
                    <a:pt x="0" y="924"/>
                    <a:pt x="0" y="750"/>
                  </a:cubicBezTo>
                  <a:cubicBezTo>
                    <a:pt x="0" y="602"/>
                    <a:pt x="106" y="473"/>
                    <a:pt x="248" y="441"/>
                  </a:cubicBezTo>
                  <a:cubicBezTo>
                    <a:pt x="326" y="180"/>
                    <a:pt x="565" y="0"/>
                    <a:pt x="839" y="0"/>
                  </a:cubicBezTo>
                  <a:cubicBezTo>
                    <a:pt x="1056" y="0"/>
                    <a:pt x="1256" y="115"/>
                    <a:pt x="1368" y="301"/>
                  </a:cubicBezTo>
                  <a:cubicBezTo>
                    <a:pt x="1583" y="313"/>
                    <a:pt x="1754" y="493"/>
                    <a:pt x="1754" y="711"/>
                  </a:cubicBezTo>
                  <a:cubicBezTo>
                    <a:pt x="1754" y="834"/>
                    <a:pt x="1697" y="952"/>
                    <a:pt x="1597" y="1034"/>
                  </a:cubicBezTo>
                  <a:cubicBezTo>
                    <a:pt x="1571" y="1055"/>
                    <a:pt x="1535" y="1066"/>
                    <a:pt x="1494" y="1066"/>
                  </a:cubicBezTo>
                  <a:close/>
                </a:path>
              </a:pathLst>
            </a:custGeom>
            <a:solidFill>
              <a:sysClr val="window" lastClr="FFFFFF"/>
            </a:solidFill>
            <a:ln>
              <a:solidFill>
                <a:srgbClr val="1D1D1A">
                  <a:lumMod val="75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30" name="Freeform 126">
              <a:extLst>
                <a:ext uri="{FF2B5EF4-FFF2-40B4-BE49-F238E27FC236}">
                  <a16:creationId xmlns="" xmlns:a16="http://schemas.microsoft.com/office/drawing/2014/main" id="{86F617C6-C59B-4D63-8AD5-D10B28A355DD}"/>
                </a:ext>
              </a:extLst>
            </p:cNvPr>
            <p:cNvSpPr>
              <a:spLocks/>
            </p:cNvSpPr>
            <p:nvPr/>
          </p:nvSpPr>
          <p:spPr bwMode="gray">
            <a:xfrm>
              <a:off x="2959586" y="5302117"/>
              <a:ext cx="213801" cy="174346"/>
            </a:xfrm>
            <a:custGeom>
              <a:avLst/>
              <a:gdLst>
                <a:gd name="T0" fmla="*/ 2147483647 w 1754"/>
                <a:gd name="T1" fmla="*/ 2147483647 h 1066"/>
                <a:gd name="T2" fmla="*/ 2147483647 w 1754"/>
                <a:gd name="T3" fmla="*/ 2147483647 h 1066"/>
                <a:gd name="T4" fmla="*/ 2147483647 w 1754"/>
                <a:gd name="T5" fmla="*/ 2147483647 h 1066"/>
                <a:gd name="T6" fmla="*/ 2147483647 w 1754"/>
                <a:gd name="T7" fmla="*/ 2147483647 h 1066"/>
                <a:gd name="T8" fmla="*/ 2147483647 w 1754"/>
                <a:gd name="T9" fmla="*/ 2147483647 h 1066"/>
                <a:gd name="T10" fmla="*/ 2147483647 w 1754"/>
                <a:gd name="T11" fmla="*/ 2147483647 h 1066"/>
                <a:gd name="T12" fmla="*/ 2147483647 w 1754"/>
                <a:gd name="T13" fmla="*/ 2147483647 h 1066"/>
                <a:gd name="T14" fmla="*/ 2147483647 w 1754"/>
                <a:gd name="T15" fmla="*/ 2147483647 h 1066"/>
                <a:gd name="T16" fmla="*/ 2147483647 w 1754"/>
                <a:gd name="T17" fmla="*/ 2147483647 h 1066"/>
                <a:gd name="T18" fmla="*/ 2147483647 w 1754"/>
                <a:gd name="T19" fmla="*/ 2147483647 h 1066"/>
                <a:gd name="T20" fmla="*/ 2147483647 w 1754"/>
                <a:gd name="T21" fmla="*/ 2147483647 h 1066"/>
                <a:gd name="T22" fmla="*/ 2147483647 w 1754"/>
                <a:gd name="T23" fmla="*/ 2147483647 h 1066"/>
                <a:gd name="T24" fmla="*/ 2147483647 w 1754"/>
                <a:gd name="T25" fmla="*/ 2147483647 h 1066"/>
                <a:gd name="T26" fmla="*/ 2147483647 w 1754"/>
                <a:gd name="T27" fmla="*/ 2147483647 h 1066"/>
                <a:gd name="T28" fmla="*/ 2147483647 w 1754"/>
                <a:gd name="T29" fmla="*/ 2147483647 h 1066"/>
                <a:gd name="T30" fmla="*/ 2147483647 w 1754"/>
                <a:gd name="T31" fmla="*/ 2147483647 h 1066"/>
                <a:gd name="T32" fmla="*/ 2147483647 w 1754"/>
                <a:gd name="T33" fmla="*/ 2147483647 h 1066"/>
                <a:gd name="T34" fmla="*/ 0 w 1754"/>
                <a:gd name="T35" fmla="*/ 2147483647 h 1066"/>
                <a:gd name="T36" fmla="*/ 2147483647 w 1754"/>
                <a:gd name="T37" fmla="*/ 2147483647 h 1066"/>
                <a:gd name="T38" fmla="*/ 2147483647 w 1754"/>
                <a:gd name="T39" fmla="*/ 0 h 1066"/>
                <a:gd name="T40" fmla="*/ 2147483647 w 1754"/>
                <a:gd name="T41" fmla="*/ 2147483647 h 1066"/>
                <a:gd name="T42" fmla="*/ 2147483647 w 1754"/>
                <a:gd name="T43" fmla="*/ 2147483647 h 1066"/>
                <a:gd name="T44" fmla="*/ 2147483647 w 1754"/>
                <a:gd name="T45" fmla="*/ 2147483647 h 1066"/>
                <a:gd name="T46" fmla="*/ 2147483647 w 1754"/>
                <a:gd name="T47" fmla="*/ 2147483647 h 10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54"/>
                <a:gd name="T73" fmla="*/ 0 h 1066"/>
                <a:gd name="T74" fmla="*/ 1754 w 1754"/>
                <a:gd name="T75" fmla="*/ 1066 h 10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54" h="1066">
                  <a:moveTo>
                    <a:pt x="1494" y="1066"/>
                  </a:moveTo>
                  <a:lnTo>
                    <a:pt x="1494" y="1066"/>
                  </a:lnTo>
                  <a:lnTo>
                    <a:pt x="1389" y="1066"/>
                  </a:lnTo>
                  <a:lnTo>
                    <a:pt x="1389" y="999"/>
                  </a:lnTo>
                  <a:lnTo>
                    <a:pt x="1494" y="999"/>
                  </a:lnTo>
                  <a:cubicBezTo>
                    <a:pt x="1519" y="999"/>
                    <a:pt x="1541" y="993"/>
                    <a:pt x="1555" y="982"/>
                  </a:cubicBezTo>
                  <a:cubicBezTo>
                    <a:pt x="1639" y="913"/>
                    <a:pt x="1688" y="814"/>
                    <a:pt x="1688" y="711"/>
                  </a:cubicBezTo>
                  <a:cubicBezTo>
                    <a:pt x="1688" y="523"/>
                    <a:pt x="1535" y="369"/>
                    <a:pt x="1348" y="367"/>
                  </a:cubicBezTo>
                  <a:cubicBezTo>
                    <a:pt x="1336" y="367"/>
                    <a:pt x="1325" y="360"/>
                    <a:pt x="1319" y="350"/>
                  </a:cubicBezTo>
                  <a:cubicBezTo>
                    <a:pt x="1222" y="175"/>
                    <a:pt x="1038" y="67"/>
                    <a:pt x="839" y="67"/>
                  </a:cubicBezTo>
                  <a:cubicBezTo>
                    <a:pt x="589" y="67"/>
                    <a:pt x="370" y="236"/>
                    <a:pt x="307" y="478"/>
                  </a:cubicBezTo>
                  <a:cubicBezTo>
                    <a:pt x="304" y="491"/>
                    <a:pt x="293" y="501"/>
                    <a:pt x="280" y="503"/>
                  </a:cubicBezTo>
                  <a:cubicBezTo>
                    <a:pt x="159" y="521"/>
                    <a:pt x="67" y="627"/>
                    <a:pt x="67" y="750"/>
                  </a:cubicBezTo>
                  <a:cubicBezTo>
                    <a:pt x="67" y="887"/>
                    <a:pt x="179" y="999"/>
                    <a:pt x="317" y="999"/>
                  </a:cubicBezTo>
                  <a:lnTo>
                    <a:pt x="1183" y="999"/>
                  </a:lnTo>
                  <a:lnTo>
                    <a:pt x="1183" y="1066"/>
                  </a:lnTo>
                  <a:lnTo>
                    <a:pt x="317" y="1066"/>
                  </a:lnTo>
                  <a:cubicBezTo>
                    <a:pt x="142" y="1066"/>
                    <a:pt x="0" y="924"/>
                    <a:pt x="0" y="750"/>
                  </a:cubicBezTo>
                  <a:cubicBezTo>
                    <a:pt x="0" y="602"/>
                    <a:pt x="106" y="473"/>
                    <a:pt x="248" y="441"/>
                  </a:cubicBezTo>
                  <a:cubicBezTo>
                    <a:pt x="326" y="180"/>
                    <a:pt x="565" y="0"/>
                    <a:pt x="839" y="0"/>
                  </a:cubicBezTo>
                  <a:cubicBezTo>
                    <a:pt x="1056" y="0"/>
                    <a:pt x="1256" y="115"/>
                    <a:pt x="1368" y="301"/>
                  </a:cubicBezTo>
                  <a:cubicBezTo>
                    <a:pt x="1583" y="313"/>
                    <a:pt x="1754" y="493"/>
                    <a:pt x="1754" y="711"/>
                  </a:cubicBezTo>
                  <a:cubicBezTo>
                    <a:pt x="1754" y="834"/>
                    <a:pt x="1697" y="952"/>
                    <a:pt x="1597" y="1034"/>
                  </a:cubicBezTo>
                  <a:cubicBezTo>
                    <a:pt x="1571" y="1055"/>
                    <a:pt x="1535" y="1066"/>
                    <a:pt x="1494" y="1066"/>
                  </a:cubicBezTo>
                  <a:close/>
                </a:path>
              </a:pathLst>
            </a:custGeom>
            <a:solidFill>
              <a:sysClr val="window" lastClr="FFFFFF"/>
            </a:solidFill>
            <a:ln>
              <a:solidFill>
                <a:srgbClr val="1D1D1A">
                  <a:lumMod val="75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31" name="椭圆 130">
              <a:extLst>
                <a:ext uri="{FF2B5EF4-FFF2-40B4-BE49-F238E27FC236}">
                  <a16:creationId xmlns="" xmlns:a16="http://schemas.microsoft.com/office/drawing/2014/main" id="{08ADF0FB-94FF-4BAF-9169-ADA201E7E46B}"/>
                </a:ext>
              </a:extLst>
            </p:cNvPr>
            <p:cNvSpPr/>
            <p:nvPr/>
          </p:nvSpPr>
          <p:spPr bwMode="gray">
            <a:xfrm>
              <a:off x="2000489" y="5294048"/>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2" name="椭圆 131">
              <a:extLst>
                <a:ext uri="{FF2B5EF4-FFF2-40B4-BE49-F238E27FC236}">
                  <a16:creationId xmlns="" xmlns:a16="http://schemas.microsoft.com/office/drawing/2014/main" id="{9D9A384F-658A-4589-8D2A-AD2E5BDC1E15}"/>
                </a:ext>
              </a:extLst>
            </p:cNvPr>
            <p:cNvSpPr/>
            <p:nvPr/>
          </p:nvSpPr>
          <p:spPr bwMode="gray">
            <a:xfrm>
              <a:off x="1893455" y="5525258"/>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3" name="椭圆 132">
              <a:extLst>
                <a:ext uri="{FF2B5EF4-FFF2-40B4-BE49-F238E27FC236}">
                  <a16:creationId xmlns="" xmlns:a16="http://schemas.microsoft.com/office/drawing/2014/main" id="{0C97B297-DBBE-4714-B433-B32FA272BD30}"/>
                </a:ext>
              </a:extLst>
            </p:cNvPr>
            <p:cNvSpPr/>
            <p:nvPr/>
          </p:nvSpPr>
          <p:spPr bwMode="gray">
            <a:xfrm>
              <a:off x="1803581" y="5745350"/>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4" name="椭圆 133">
              <a:extLst>
                <a:ext uri="{FF2B5EF4-FFF2-40B4-BE49-F238E27FC236}">
                  <a16:creationId xmlns="" xmlns:a16="http://schemas.microsoft.com/office/drawing/2014/main" id="{B5B7AF2D-85AE-4F43-A268-012C7EB6C076}"/>
                </a:ext>
              </a:extLst>
            </p:cNvPr>
            <p:cNvSpPr/>
            <p:nvPr/>
          </p:nvSpPr>
          <p:spPr bwMode="gray">
            <a:xfrm>
              <a:off x="2351816" y="5434181"/>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5" name="椭圆 134">
              <a:extLst>
                <a:ext uri="{FF2B5EF4-FFF2-40B4-BE49-F238E27FC236}">
                  <a16:creationId xmlns="" xmlns:a16="http://schemas.microsoft.com/office/drawing/2014/main" id="{51E63ACF-0DF1-4302-9856-D737F22A156E}"/>
                </a:ext>
              </a:extLst>
            </p:cNvPr>
            <p:cNvSpPr/>
            <p:nvPr/>
          </p:nvSpPr>
          <p:spPr bwMode="gray">
            <a:xfrm>
              <a:off x="2351816" y="5664137"/>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6" name="椭圆 135">
              <a:extLst>
                <a:ext uri="{FF2B5EF4-FFF2-40B4-BE49-F238E27FC236}">
                  <a16:creationId xmlns="" xmlns:a16="http://schemas.microsoft.com/office/drawing/2014/main" id="{63B844CF-52A9-4E68-901A-BA1D1E27F1B3}"/>
                </a:ext>
              </a:extLst>
            </p:cNvPr>
            <p:cNvSpPr/>
            <p:nvPr/>
          </p:nvSpPr>
          <p:spPr bwMode="gray">
            <a:xfrm>
              <a:off x="2729085" y="5276722"/>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7" name="椭圆 136">
              <a:extLst>
                <a:ext uri="{FF2B5EF4-FFF2-40B4-BE49-F238E27FC236}">
                  <a16:creationId xmlns="" xmlns:a16="http://schemas.microsoft.com/office/drawing/2014/main" id="{3D213485-CD70-4EBA-B8CC-C2D181DE334A}"/>
                </a:ext>
              </a:extLst>
            </p:cNvPr>
            <p:cNvSpPr/>
            <p:nvPr/>
          </p:nvSpPr>
          <p:spPr bwMode="gray">
            <a:xfrm>
              <a:off x="2818896" y="5545399"/>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8" name="椭圆 137">
              <a:extLst>
                <a:ext uri="{FF2B5EF4-FFF2-40B4-BE49-F238E27FC236}">
                  <a16:creationId xmlns="" xmlns:a16="http://schemas.microsoft.com/office/drawing/2014/main" id="{93D8C8D1-1F90-4AB1-8A62-4D9864E2F09B}"/>
                </a:ext>
              </a:extLst>
            </p:cNvPr>
            <p:cNvSpPr/>
            <p:nvPr/>
          </p:nvSpPr>
          <p:spPr bwMode="gray">
            <a:xfrm>
              <a:off x="2892578" y="5765430"/>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39" name="椭圆 138">
              <a:extLst>
                <a:ext uri="{FF2B5EF4-FFF2-40B4-BE49-F238E27FC236}">
                  <a16:creationId xmlns="" xmlns:a16="http://schemas.microsoft.com/office/drawing/2014/main" id="{3338947C-743E-4228-8C40-C3002E2B3A3D}"/>
                </a:ext>
              </a:extLst>
            </p:cNvPr>
            <p:cNvSpPr/>
            <p:nvPr/>
          </p:nvSpPr>
          <p:spPr bwMode="gray">
            <a:xfrm>
              <a:off x="4256553" y="5271932"/>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0" name="椭圆 139">
              <a:extLst>
                <a:ext uri="{FF2B5EF4-FFF2-40B4-BE49-F238E27FC236}">
                  <a16:creationId xmlns="" xmlns:a16="http://schemas.microsoft.com/office/drawing/2014/main" id="{F3913A02-AB50-4255-9C41-01F2FAE267A5}"/>
                </a:ext>
              </a:extLst>
            </p:cNvPr>
            <p:cNvSpPr/>
            <p:nvPr/>
          </p:nvSpPr>
          <p:spPr bwMode="gray">
            <a:xfrm>
              <a:off x="4149520" y="5503143"/>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1" name="椭圆 140">
              <a:extLst>
                <a:ext uri="{FF2B5EF4-FFF2-40B4-BE49-F238E27FC236}">
                  <a16:creationId xmlns="" xmlns:a16="http://schemas.microsoft.com/office/drawing/2014/main" id="{511F6D52-761E-4EB1-8E0E-415C5ABAC4B1}"/>
                </a:ext>
              </a:extLst>
            </p:cNvPr>
            <p:cNvSpPr/>
            <p:nvPr/>
          </p:nvSpPr>
          <p:spPr bwMode="gray">
            <a:xfrm>
              <a:off x="4059645" y="5723231"/>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2" name="椭圆 141">
              <a:extLst>
                <a:ext uri="{FF2B5EF4-FFF2-40B4-BE49-F238E27FC236}">
                  <a16:creationId xmlns="" xmlns:a16="http://schemas.microsoft.com/office/drawing/2014/main" id="{79B6831D-C961-4291-A719-A4DD23DFA8BE}"/>
                </a:ext>
              </a:extLst>
            </p:cNvPr>
            <p:cNvSpPr/>
            <p:nvPr/>
          </p:nvSpPr>
          <p:spPr bwMode="gray">
            <a:xfrm>
              <a:off x="4607880" y="5412062"/>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3" name="椭圆 142">
              <a:extLst>
                <a:ext uri="{FF2B5EF4-FFF2-40B4-BE49-F238E27FC236}">
                  <a16:creationId xmlns="" xmlns:a16="http://schemas.microsoft.com/office/drawing/2014/main" id="{BB98E29C-3DB0-4164-A5D1-27E33E22C85F}"/>
                </a:ext>
              </a:extLst>
            </p:cNvPr>
            <p:cNvSpPr/>
            <p:nvPr/>
          </p:nvSpPr>
          <p:spPr bwMode="gray">
            <a:xfrm>
              <a:off x="4607880" y="5642018"/>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4" name="椭圆 143">
              <a:extLst>
                <a:ext uri="{FF2B5EF4-FFF2-40B4-BE49-F238E27FC236}">
                  <a16:creationId xmlns="" xmlns:a16="http://schemas.microsoft.com/office/drawing/2014/main" id="{31092F7E-ADBE-47E9-BF12-315DDAF48F29}"/>
                </a:ext>
              </a:extLst>
            </p:cNvPr>
            <p:cNvSpPr/>
            <p:nvPr/>
          </p:nvSpPr>
          <p:spPr bwMode="gray">
            <a:xfrm>
              <a:off x="4994500" y="5270719"/>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5" name="椭圆 144">
              <a:extLst>
                <a:ext uri="{FF2B5EF4-FFF2-40B4-BE49-F238E27FC236}">
                  <a16:creationId xmlns="" xmlns:a16="http://schemas.microsoft.com/office/drawing/2014/main" id="{BFF62E51-2256-469F-A5AB-513632D669B8}"/>
                </a:ext>
              </a:extLst>
            </p:cNvPr>
            <p:cNvSpPr/>
            <p:nvPr/>
          </p:nvSpPr>
          <p:spPr bwMode="gray">
            <a:xfrm>
              <a:off x="5074960" y="5501163"/>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6" name="椭圆 145">
              <a:extLst>
                <a:ext uri="{FF2B5EF4-FFF2-40B4-BE49-F238E27FC236}">
                  <a16:creationId xmlns="" xmlns:a16="http://schemas.microsoft.com/office/drawing/2014/main" id="{A86A9F2F-640C-4354-81E5-6112C6328469}"/>
                </a:ext>
              </a:extLst>
            </p:cNvPr>
            <p:cNvSpPr/>
            <p:nvPr/>
          </p:nvSpPr>
          <p:spPr bwMode="gray">
            <a:xfrm>
              <a:off x="5148643" y="5721187"/>
              <a:ext cx="89874" cy="100220"/>
            </a:xfrm>
            <a:prstGeom prst="ellipse">
              <a:avLst/>
            </a:prstGeom>
            <a:solidFill>
              <a:srgbClr val="1D1D1A">
                <a:lumMod val="50000"/>
                <a:lumOff val="50000"/>
              </a:srgbClr>
            </a:solidFill>
            <a:ln w="12700" cap="flat" cmpd="sng" algn="ctr">
              <a:solidFill>
                <a:srgbClr val="1D1D1A">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cs typeface="+mn-ea"/>
                <a:sym typeface="+mn-lt"/>
              </a:endParaRPr>
            </a:p>
          </p:txBody>
        </p:sp>
        <p:sp>
          <p:nvSpPr>
            <p:cNvPr id="147" name="Freeform 126">
              <a:extLst>
                <a:ext uri="{FF2B5EF4-FFF2-40B4-BE49-F238E27FC236}">
                  <a16:creationId xmlns="" xmlns:a16="http://schemas.microsoft.com/office/drawing/2014/main" id="{85CA261B-5426-4A56-B853-F066966870F8}"/>
                </a:ext>
              </a:extLst>
            </p:cNvPr>
            <p:cNvSpPr>
              <a:spLocks/>
            </p:cNvSpPr>
            <p:nvPr/>
          </p:nvSpPr>
          <p:spPr bwMode="gray">
            <a:xfrm>
              <a:off x="2012784" y="5093488"/>
              <a:ext cx="213801" cy="174346"/>
            </a:xfrm>
            <a:custGeom>
              <a:avLst/>
              <a:gdLst>
                <a:gd name="T0" fmla="*/ 2147483647 w 1754"/>
                <a:gd name="T1" fmla="*/ 2147483647 h 1066"/>
                <a:gd name="T2" fmla="*/ 2147483647 w 1754"/>
                <a:gd name="T3" fmla="*/ 2147483647 h 1066"/>
                <a:gd name="T4" fmla="*/ 2147483647 w 1754"/>
                <a:gd name="T5" fmla="*/ 2147483647 h 1066"/>
                <a:gd name="T6" fmla="*/ 2147483647 w 1754"/>
                <a:gd name="T7" fmla="*/ 2147483647 h 1066"/>
                <a:gd name="T8" fmla="*/ 2147483647 w 1754"/>
                <a:gd name="T9" fmla="*/ 2147483647 h 1066"/>
                <a:gd name="T10" fmla="*/ 2147483647 w 1754"/>
                <a:gd name="T11" fmla="*/ 2147483647 h 1066"/>
                <a:gd name="T12" fmla="*/ 2147483647 w 1754"/>
                <a:gd name="T13" fmla="*/ 2147483647 h 1066"/>
                <a:gd name="T14" fmla="*/ 2147483647 w 1754"/>
                <a:gd name="T15" fmla="*/ 2147483647 h 1066"/>
                <a:gd name="T16" fmla="*/ 2147483647 w 1754"/>
                <a:gd name="T17" fmla="*/ 2147483647 h 1066"/>
                <a:gd name="T18" fmla="*/ 2147483647 w 1754"/>
                <a:gd name="T19" fmla="*/ 2147483647 h 1066"/>
                <a:gd name="T20" fmla="*/ 2147483647 w 1754"/>
                <a:gd name="T21" fmla="*/ 2147483647 h 1066"/>
                <a:gd name="T22" fmla="*/ 2147483647 w 1754"/>
                <a:gd name="T23" fmla="*/ 2147483647 h 1066"/>
                <a:gd name="T24" fmla="*/ 2147483647 w 1754"/>
                <a:gd name="T25" fmla="*/ 2147483647 h 1066"/>
                <a:gd name="T26" fmla="*/ 2147483647 w 1754"/>
                <a:gd name="T27" fmla="*/ 2147483647 h 1066"/>
                <a:gd name="T28" fmla="*/ 2147483647 w 1754"/>
                <a:gd name="T29" fmla="*/ 2147483647 h 1066"/>
                <a:gd name="T30" fmla="*/ 2147483647 w 1754"/>
                <a:gd name="T31" fmla="*/ 2147483647 h 1066"/>
                <a:gd name="T32" fmla="*/ 2147483647 w 1754"/>
                <a:gd name="T33" fmla="*/ 2147483647 h 1066"/>
                <a:gd name="T34" fmla="*/ 0 w 1754"/>
                <a:gd name="T35" fmla="*/ 2147483647 h 1066"/>
                <a:gd name="T36" fmla="*/ 2147483647 w 1754"/>
                <a:gd name="T37" fmla="*/ 2147483647 h 1066"/>
                <a:gd name="T38" fmla="*/ 2147483647 w 1754"/>
                <a:gd name="T39" fmla="*/ 0 h 1066"/>
                <a:gd name="T40" fmla="*/ 2147483647 w 1754"/>
                <a:gd name="T41" fmla="*/ 2147483647 h 1066"/>
                <a:gd name="T42" fmla="*/ 2147483647 w 1754"/>
                <a:gd name="T43" fmla="*/ 2147483647 h 1066"/>
                <a:gd name="T44" fmla="*/ 2147483647 w 1754"/>
                <a:gd name="T45" fmla="*/ 2147483647 h 1066"/>
                <a:gd name="T46" fmla="*/ 2147483647 w 1754"/>
                <a:gd name="T47" fmla="*/ 2147483647 h 10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54"/>
                <a:gd name="T73" fmla="*/ 0 h 1066"/>
                <a:gd name="T74" fmla="*/ 1754 w 1754"/>
                <a:gd name="T75" fmla="*/ 1066 h 10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54" h="1066">
                  <a:moveTo>
                    <a:pt x="1494" y="1066"/>
                  </a:moveTo>
                  <a:lnTo>
                    <a:pt x="1494" y="1066"/>
                  </a:lnTo>
                  <a:lnTo>
                    <a:pt x="1389" y="1066"/>
                  </a:lnTo>
                  <a:lnTo>
                    <a:pt x="1389" y="999"/>
                  </a:lnTo>
                  <a:lnTo>
                    <a:pt x="1494" y="999"/>
                  </a:lnTo>
                  <a:cubicBezTo>
                    <a:pt x="1519" y="999"/>
                    <a:pt x="1541" y="993"/>
                    <a:pt x="1555" y="982"/>
                  </a:cubicBezTo>
                  <a:cubicBezTo>
                    <a:pt x="1639" y="913"/>
                    <a:pt x="1688" y="814"/>
                    <a:pt x="1688" y="711"/>
                  </a:cubicBezTo>
                  <a:cubicBezTo>
                    <a:pt x="1688" y="523"/>
                    <a:pt x="1535" y="369"/>
                    <a:pt x="1348" y="367"/>
                  </a:cubicBezTo>
                  <a:cubicBezTo>
                    <a:pt x="1336" y="367"/>
                    <a:pt x="1325" y="360"/>
                    <a:pt x="1319" y="350"/>
                  </a:cubicBezTo>
                  <a:cubicBezTo>
                    <a:pt x="1222" y="175"/>
                    <a:pt x="1038" y="67"/>
                    <a:pt x="839" y="67"/>
                  </a:cubicBezTo>
                  <a:cubicBezTo>
                    <a:pt x="589" y="67"/>
                    <a:pt x="370" y="236"/>
                    <a:pt x="307" y="478"/>
                  </a:cubicBezTo>
                  <a:cubicBezTo>
                    <a:pt x="304" y="491"/>
                    <a:pt x="293" y="501"/>
                    <a:pt x="280" y="503"/>
                  </a:cubicBezTo>
                  <a:cubicBezTo>
                    <a:pt x="159" y="521"/>
                    <a:pt x="67" y="627"/>
                    <a:pt x="67" y="750"/>
                  </a:cubicBezTo>
                  <a:cubicBezTo>
                    <a:pt x="67" y="887"/>
                    <a:pt x="179" y="999"/>
                    <a:pt x="317" y="999"/>
                  </a:cubicBezTo>
                  <a:lnTo>
                    <a:pt x="1183" y="999"/>
                  </a:lnTo>
                  <a:lnTo>
                    <a:pt x="1183" y="1066"/>
                  </a:lnTo>
                  <a:lnTo>
                    <a:pt x="317" y="1066"/>
                  </a:lnTo>
                  <a:cubicBezTo>
                    <a:pt x="142" y="1066"/>
                    <a:pt x="0" y="924"/>
                    <a:pt x="0" y="750"/>
                  </a:cubicBezTo>
                  <a:cubicBezTo>
                    <a:pt x="0" y="602"/>
                    <a:pt x="106" y="473"/>
                    <a:pt x="248" y="441"/>
                  </a:cubicBezTo>
                  <a:cubicBezTo>
                    <a:pt x="326" y="180"/>
                    <a:pt x="565" y="0"/>
                    <a:pt x="839" y="0"/>
                  </a:cubicBezTo>
                  <a:cubicBezTo>
                    <a:pt x="1056" y="0"/>
                    <a:pt x="1256" y="115"/>
                    <a:pt x="1368" y="301"/>
                  </a:cubicBezTo>
                  <a:cubicBezTo>
                    <a:pt x="1583" y="313"/>
                    <a:pt x="1754" y="493"/>
                    <a:pt x="1754" y="711"/>
                  </a:cubicBezTo>
                  <a:cubicBezTo>
                    <a:pt x="1754" y="834"/>
                    <a:pt x="1697" y="952"/>
                    <a:pt x="1597" y="1034"/>
                  </a:cubicBezTo>
                  <a:cubicBezTo>
                    <a:pt x="1571" y="1055"/>
                    <a:pt x="1535" y="1066"/>
                    <a:pt x="1494" y="1066"/>
                  </a:cubicBezTo>
                  <a:close/>
                </a:path>
              </a:pathLst>
            </a:custGeom>
            <a:solidFill>
              <a:sysClr val="window" lastClr="FFFFFF"/>
            </a:solidFill>
            <a:ln>
              <a:solidFill>
                <a:srgbClr val="1D1D1A">
                  <a:lumMod val="75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sp>
          <p:nvSpPr>
            <p:cNvPr id="148" name="Freeform 126">
              <a:extLst>
                <a:ext uri="{FF2B5EF4-FFF2-40B4-BE49-F238E27FC236}">
                  <a16:creationId xmlns="" xmlns:a16="http://schemas.microsoft.com/office/drawing/2014/main" id="{B1A1110A-3B72-4A5E-823A-04B39FEC7E79}"/>
                </a:ext>
              </a:extLst>
            </p:cNvPr>
            <p:cNvSpPr>
              <a:spLocks/>
            </p:cNvSpPr>
            <p:nvPr/>
          </p:nvSpPr>
          <p:spPr bwMode="gray">
            <a:xfrm>
              <a:off x="4942630" y="5040649"/>
              <a:ext cx="213801" cy="174346"/>
            </a:xfrm>
            <a:custGeom>
              <a:avLst/>
              <a:gdLst>
                <a:gd name="T0" fmla="*/ 2147483647 w 1754"/>
                <a:gd name="T1" fmla="*/ 2147483647 h 1066"/>
                <a:gd name="T2" fmla="*/ 2147483647 w 1754"/>
                <a:gd name="T3" fmla="*/ 2147483647 h 1066"/>
                <a:gd name="T4" fmla="*/ 2147483647 w 1754"/>
                <a:gd name="T5" fmla="*/ 2147483647 h 1066"/>
                <a:gd name="T6" fmla="*/ 2147483647 w 1754"/>
                <a:gd name="T7" fmla="*/ 2147483647 h 1066"/>
                <a:gd name="T8" fmla="*/ 2147483647 w 1754"/>
                <a:gd name="T9" fmla="*/ 2147483647 h 1066"/>
                <a:gd name="T10" fmla="*/ 2147483647 w 1754"/>
                <a:gd name="T11" fmla="*/ 2147483647 h 1066"/>
                <a:gd name="T12" fmla="*/ 2147483647 w 1754"/>
                <a:gd name="T13" fmla="*/ 2147483647 h 1066"/>
                <a:gd name="T14" fmla="*/ 2147483647 w 1754"/>
                <a:gd name="T15" fmla="*/ 2147483647 h 1066"/>
                <a:gd name="T16" fmla="*/ 2147483647 w 1754"/>
                <a:gd name="T17" fmla="*/ 2147483647 h 1066"/>
                <a:gd name="T18" fmla="*/ 2147483647 w 1754"/>
                <a:gd name="T19" fmla="*/ 2147483647 h 1066"/>
                <a:gd name="T20" fmla="*/ 2147483647 w 1754"/>
                <a:gd name="T21" fmla="*/ 2147483647 h 1066"/>
                <a:gd name="T22" fmla="*/ 2147483647 w 1754"/>
                <a:gd name="T23" fmla="*/ 2147483647 h 1066"/>
                <a:gd name="T24" fmla="*/ 2147483647 w 1754"/>
                <a:gd name="T25" fmla="*/ 2147483647 h 1066"/>
                <a:gd name="T26" fmla="*/ 2147483647 w 1754"/>
                <a:gd name="T27" fmla="*/ 2147483647 h 1066"/>
                <a:gd name="T28" fmla="*/ 2147483647 w 1754"/>
                <a:gd name="T29" fmla="*/ 2147483647 h 1066"/>
                <a:gd name="T30" fmla="*/ 2147483647 w 1754"/>
                <a:gd name="T31" fmla="*/ 2147483647 h 1066"/>
                <a:gd name="T32" fmla="*/ 2147483647 w 1754"/>
                <a:gd name="T33" fmla="*/ 2147483647 h 1066"/>
                <a:gd name="T34" fmla="*/ 0 w 1754"/>
                <a:gd name="T35" fmla="*/ 2147483647 h 1066"/>
                <a:gd name="T36" fmla="*/ 2147483647 w 1754"/>
                <a:gd name="T37" fmla="*/ 2147483647 h 1066"/>
                <a:gd name="T38" fmla="*/ 2147483647 w 1754"/>
                <a:gd name="T39" fmla="*/ 0 h 1066"/>
                <a:gd name="T40" fmla="*/ 2147483647 w 1754"/>
                <a:gd name="T41" fmla="*/ 2147483647 h 1066"/>
                <a:gd name="T42" fmla="*/ 2147483647 w 1754"/>
                <a:gd name="T43" fmla="*/ 2147483647 h 1066"/>
                <a:gd name="T44" fmla="*/ 2147483647 w 1754"/>
                <a:gd name="T45" fmla="*/ 2147483647 h 1066"/>
                <a:gd name="T46" fmla="*/ 2147483647 w 1754"/>
                <a:gd name="T47" fmla="*/ 2147483647 h 10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54"/>
                <a:gd name="T73" fmla="*/ 0 h 1066"/>
                <a:gd name="T74" fmla="*/ 1754 w 1754"/>
                <a:gd name="T75" fmla="*/ 1066 h 106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54" h="1066">
                  <a:moveTo>
                    <a:pt x="1494" y="1066"/>
                  </a:moveTo>
                  <a:lnTo>
                    <a:pt x="1494" y="1066"/>
                  </a:lnTo>
                  <a:lnTo>
                    <a:pt x="1389" y="1066"/>
                  </a:lnTo>
                  <a:lnTo>
                    <a:pt x="1389" y="999"/>
                  </a:lnTo>
                  <a:lnTo>
                    <a:pt x="1494" y="999"/>
                  </a:lnTo>
                  <a:cubicBezTo>
                    <a:pt x="1519" y="999"/>
                    <a:pt x="1541" y="993"/>
                    <a:pt x="1555" y="982"/>
                  </a:cubicBezTo>
                  <a:cubicBezTo>
                    <a:pt x="1639" y="913"/>
                    <a:pt x="1688" y="814"/>
                    <a:pt x="1688" y="711"/>
                  </a:cubicBezTo>
                  <a:cubicBezTo>
                    <a:pt x="1688" y="523"/>
                    <a:pt x="1535" y="369"/>
                    <a:pt x="1348" y="367"/>
                  </a:cubicBezTo>
                  <a:cubicBezTo>
                    <a:pt x="1336" y="367"/>
                    <a:pt x="1325" y="360"/>
                    <a:pt x="1319" y="350"/>
                  </a:cubicBezTo>
                  <a:cubicBezTo>
                    <a:pt x="1222" y="175"/>
                    <a:pt x="1038" y="67"/>
                    <a:pt x="839" y="67"/>
                  </a:cubicBezTo>
                  <a:cubicBezTo>
                    <a:pt x="589" y="67"/>
                    <a:pt x="370" y="236"/>
                    <a:pt x="307" y="478"/>
                  </a:cubicBezTo>
                  <a:cubicBezTo>
                    <a:pt x="304" y="491"/>
                    <a:pt x="293" y="501"/>
                    <a:pt x="280" y="503"/>
                  </a:cubicBezTo>
                  <a:cubicBezTo>
                    <a:pt x="159" y="521"/>
                    <a:pt x="67" y="627"/>
                    <a:pt x="67" y="750"/>
                  </a:cubicBezTo>
                  <a:cubicBezTo>
                    <a:pt x="67" y="887"/>
                    <a:pt x="179" y="999"/>
                    <a:pt x="317" y="999"/>
                  </a:cubicBezTo>
                  <a:lnTo>
                    <a:pt x="1183" y="999"/>
                  </a:lnTo>
                  <a:lnTo>
                    <a:pt x="1183" y="1066"/>
                  </a:lnTo>
                  <a:lnTo>
                    <a:pt x="317" y="1066"/>
                  </a:lnTo>
                  <a:cubicBezTo>
                    <a:pt x="142" y="1066"/>
                    <a:pt x="0" y="924"/>
                    <a:pt x="0" y="750"/>
                  </a:cubicBezTo>
                  <a:cubicBezTo>
                    <a:pt x="0" y="602"/>
                    <a:pt x="106" y="473"/>
                    <a:pt x="248" y="441"/>
                  </a:cubicBezTo>
                  <a:cubicBezTo>
                    <a:pt x="326" y="180"/>
                    <a:pt x="565" y="0"/>
                    <a:pt x="839" y="0"/>
                  </a:cubicBezTo>
                  <a:cubicBezTo>
                    <a:pt x="1056" y="0"/>
                    <a:pt x="1256" y="115"/>
                    <a:pt x="1368" y="301"/>
                  </a:cubicBezTo>
                  <a:cubicBezTo>
                    <a:pt x="1583" y="313"/>
                    <a:pt x="1754" y="493"/>
                    <a:pt x="1754" y="711"/>
                  </a:cubicBezTo>
                  <a:cubicBezTo>
                    <a:pt x="1754" y="834"/>
                    <a:pt x="1697" y="952"/>
                    <a:pt x="1597" y="1034"/>
                  </a:cubicBezTo>
                  <a:cubicBezTo>
                    <a:pt x="1571" y="1055"/>
                    <a:pt x="1535" y="1066"/>
                    <a:pt x="1494" y="1066"/>
                  </a:cubicBezTo>
                  <a:close/>
                </a:path>
              </a:pathLst>
            </a:custGeom>
            <a:solidFill>
              <a:sysClr val="window" lastClr="FFFFFF"/>
            </a:solidFill>
            <a:ln>
              <a:solidFill>
                <a:srgbClr val="1D1D1A">
                  <a:lumMod val="75000"/>
                </a:srgbClr>
              </a:solidFill>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1D1D1A"/>
                </a:solidFill>
                <a:effectLst/>
                <a:uLnTx/>
                <a:uFillTx/>
                <a:cs typeface="+mn-ea"/>
                <a:sym typeface="+mn-lt"/>
              </a:endParaRPr>
            </a:p>
          </p:txBody>
        </p:sp>
      </p:grpSp>
      <p:grpSp>
        <p:nvGrpSpPr>
          <p:cNvPr id="87" name="组合 245">
            <a:extLst>
              <a:ext uri="{FF2B5EF4-FFF2-40B4-BE49-F238E27FC236}">
                <a16:creationId xmlns="" xmlns:a16="http://schemas.microsoft.com/office/drawing/2014/main" id="{83778F14-82D6-46CD-8E2D-5D8F7F30CBBE}"/>
              </a:ext>
            </a:extLst>
          </p:cNvPr>
          <p:cNvGrpSpPr/>
          <p:nvPr/>
        </p:nvGrpSpPr>
        <p:grpSpPr bwMode="gray">
          <a:xfrm>
            <a:off x="834507" y="5238871"/>
            <a:ext cx="220344" cy="177580"/>
            <a:chOff x="15730507" y="3268663"/>
            <a:chExt cx="765172" cy="1123953"/>
          </a:xfrm>
          <a:solidFill>
            <a:srgbClr val="1D1D1A">
              <a:lumMod val="50000"/>
              <a:lumOff val="50000"/>
            </a:srgbClr>
          </a:solidFill>
        </p:grpSpPr>
        <p:sp>
          <p:nvSpPr>
            <p:cNvPr id="98" name="Freeform 57">
              <a:extLst>
                <a:ext uri="{FF2B5EF4-FFF2-40B4-BE49-F238E27FC236}">
                  <a16:creationId xmlns="" xmlns:a16="http://schemas.microsoft.com/office/drawing/2014/main" id="{B70BA79A-7EE4-49EB-A3B9-37D2CAFC41DA}"/>
                </a:ext>
              </a:extLst>
            </p:cNvPr>
            <p:cNvSpPr>
              <a:spLocks/>
            </p:cNvSpPr>
            <p:nvPr/>
          </p:nvSpPr>
          <p:spPr bwMode="gray">
            <a:xfrm>
              <a:off x="15786100" y="3268663"/>
              <a:ext cx="252413" cy="261938"/>
            </a:xfrm>
            <a:custGeom>
              <a:avLst/>
              <a:gdLst/>
              <a:ahLst/>
              <a:cxnLst>
                <a:cxn ang="0">
                  <a:pos x="74" y="105"/>
                </a:cxn>
                <a:cxn ang="0">
                  <a:pos x="42" y="152"/>
                </a:cxn>
                <a:cxn ang="0">
                  <a:pos x="19" y="202"/>
                </a:cxn>
                <a:cxn ang="0">
                  <a:pos x="4" y="256"/>
                </a:cxn>
                <a:cxn ang="0">
                  <a:pos x="0" y="312"/>
                </a:cxn>
                <a:cxn ang="0">
                  <a:pos x="2" y="319"/>
                </a:cxn>
                <a:cxn ang="0">
                  <a:pos x="10" y="327"/>
                </a:cxn>
                <a:cxn ang="0">
                  <a:pos x="57" y="327"/>
                </a:cxn>
                <a:cxn ang="0">
                  <a:pos x="64" y="326"/>
                </a:cxn>
                <a:cxn ang="0">
                  <a:pos x="69" y="322"/>
                </a:cxn>
                <a:cxn ang="0">
                  <a:pos x="73" y="312"/>
                </a:cxn>
                <a:cxn ang="0">
                  <a:pos x="74" y="290"/>
                </a:cxn>
                <a:cxn ang="0">
                  <a:pos x="81" y="248"/>
                </a:cxn>
                <a:cxn ang="0">
                  <a:pos x="95" y="208"/>
                </a:cxn>
                <a:cxn ang="0">
                  <a:pos x="117" y="170"/>
                </a:cxn>
                <a:cxn ang="0">
                  <a:pos x="130" y="154"/>
                </a:cxn>
                <a:cxn ang="0">
                  <a:pos x="140" y="143"/>
                </a:cxn>
                <a:cxn ang="0">
                  <a:pos x="174" y="113"/>
                </a:cxn>
                <a:cxn ang="0">
                  <a:pos x="214" y="91"/>
                </a:cxn>
                <a:cxn ang="0">
                  <a:pos x="258" y="78"/>
                </a:cxn>
                <a:cxn ang="0">
                  <a:pos x="304" y="73"/>
                </a:cxn>
                <a:cxn ang="0">
                  <a:pos x="311" y="73"/>
                </a:cxn>
                <a:cxn ang="0">
                  <a:pos x="316" y="68"/>
                </a:cxn>
                <a:cxn ang="0">
                  <a:pos x="319" y="57"/>
                </a:cxn>
                <a:cxn ang="0">
                  <a:pos x="319" y="17"/>
                </a:cxn>
                <a:cxn ang="0">
                  <a:pos x="314" y="5"/>
                </a:cxn>
                <a:cxn ang="0">
                  <a:pos x="309" y="2"/>
                </a:cxn>
                <a:cxn ang="0">
                  <a:pos x="304" y="0"/>
                </a:cxn>
                <a:cxn ang="0">
                  <a:pos x="243" y="7"/>
                </a:cxn>
                <a:cxn ang="0">
                  <a:pos x="186" y="25"/>
                </a:cxn>
                <a:cxn ang="0">
                  <a:pos x="133" y="54"/>
                </a:cxn>
                <a:cxn ang="0">
                  <a:pos x="88" y="91"/>
                </a:cxn>
                <a:cxn ang="0">
                  <a:pos x="74" y="105"/>
                </a:cxn>
              </a:cxnLst>
              <a:rect l="0" t="0" r="r" b="b"/>
              <a:pathLst>
                <a:path w="319" h="329">
                  <a:moveTo>
                    <a:pt x="74" y="105"/>
                  </a:moveTo>
                  <a:lnTo>
                    <a:pt x="74" y="105"/>
                  </a:lnTo>
                  <a:lnTo>
                    <a:pt x="57" y="128"/>
                  </a:lnTo>
                  <a:lnTo>
                    <a:pt x="42" y="152"/>
                  </a:lnTo>
                  <a:lnTo>
                    <a:pt x="29" y="175"/>
                  </a:lnTo>
                  <a:lnTo>
                    <a:pt x="19" y="202"/>
                  </a:lnTo>
                  <a:lnTo>
                    <a:pt x="10" y="229"/>
                  </a:lnTo>
                  <a:lnTo>
                    <a:pt x="4" y="256"/>
                  </a:lnTo>
                  <a:lnTo>
                    <a:pt x="2" y="285"/>
                  </a:lnTo>
                  <a:lnTo>
                    <a:pt x="0" y="312"/>
                  </a:lnTo>
                  <a:lnTo>
                    <a:pt x="0" y="312"/>
                  </a:lnTo>
                  <a:lnTo>
                    <a:pt x="2" y="319"/>
                  </a:lnTo>
                  <a:lnTo>
                    <a:pt x="5" y="324"/>
                  </a:lnTo>
                  <a:lnTo>
                    <a:pt x="10" y="327"/>
                  </a:lnTo>
                  <a:lnTo>
                    <a:pt x="17" y="329"/>
                  </a:lnTo>
                  <a:lnTo>
                    <a:pt x="57" y="327"/>
                  </a:lnTo>
                  <a:lnTo>
                    <a:pt x="57" y="327"/>
                  </a:lnTo>
                  <a:lnTo>
                    <a:pt x="64" y="326"/>
                  </a:lnTo>
                  <a:lnTo>
                    <a:pt x="69" y="322"/>
                  </a:lnTo>
                  <a:lnTo>
                    <a:pt x="69" y="322"/>
                  </a:lnTo>
                  <a:lnTo>
                    <a:pt x="73" y="317"/>
                  </a:lnTo>
                  <a:lnTo>
                    <a:pt x="73" y="312"/>
                  </a:lnTo>
                  <a:lnTo>
                    <a:pt x="73" y="312"/>
                  </a:lnTo>
                  <a:lnTo>
                    <a:pt x="74" y="290"/>
                  </a:lnTo>
                  <a:lnTo>
                    <a:pt x="76" y="268"/>
                  </a:lnTo>
                  <a:lnTo>
                    <a:pt x="81" y="248"/>
                  </a:lnTo>
                  <a:lnTo>
                    <a:pt x="86" y="226"/>
                  </a:lnTo>
                  <a:lnTo>
                    <a:pt x="95" y="208"/>
                  </a:lnTo>
                  <a:lnTo>
                    <a:pt x="105" y="189"/>
                  </a:lnTo>
                  <a:lnTo>
                    <a:pt x="117" y="170"/>
                  </a:lnTo>
                  <a:lnTo>
                    <a:pt x="130" y="154"/>
                  </a:lnTo>
                  <a:lnTo>
                    <a:pt x="130" y="154"/>
                  </a:lnTo>
                  <a:lnTo>
                    <a:pt x="140" y="143"/>
                  </a:lnTo>
                  <a:lnTo>
                    <a:pt x="140" y="143"/>
                  </a:lnTo>
                  <a:lnTo>
                    <a:pt x="157" y="127"/>
                  </a:lnTo>
                  <a:lnTo>
                    <a:pt x="174" y="113"/>
                  </a:lnTo>
                  <a:lnTo>
                    <a:pt x="194" y="101"/>
                  </a:lnTo>
                  <a:lnTo>
                    <a:pt x="214" y="91"/>
                  </a:lnTo>
                  <a:lnTo>
                    <a:pt x="236" y="84"/>
                  </a:lnTo>
                  <a:lnTo>
                    <a:pt x="258" y="78"/>
                  </a:lnTo>
                  <a:lnTo>
                    <a:pt x="280" y="74"/>
                  </a:lnTo>
                  <a:lnTo>
                    <a:pt x="304" y="73"/>
                  </a:lnTo>
                  <a:lnTo>
                    <a:pt x="304" y="73"/>
                  </a:lnTo>
                  <a:lnTo>
                    <a:pt x="311" y="73"/>
                  </a:lnTo>
                  <a:lnTo>
                    <a:pt x="316" y="68"/>
                  </a:lnTo>
                  <a:lnTo>
                    <a:pt x="316" y="68"/>
                  </a:lnTo>
                  <a:lnTo>
                    <a:pt x="317" y="62"/>
                  </a:lnTo>
                  <a:lnTo>
                    <a:pt x="319" y="57"/>
                  </a:lnTo>
                  <a:lnTo>
                    <a:pt x="319" y="17"/>
                  </a:lnTo>
                  <a:lnTo>
                    <a:pt x="319" y="17"/>
                  </a:lnTo>
                  <a:lnTo>
                    <a:pt x="317" y="10"/>
                  </a:lnTo>
                  <a:lnTo>
                    <a:pt x="314" y="5"/>
                  </a:lnTo>
                  <a:lnTo>
                    <a:pt x="314" y="5"/>
                  </a:lnTo>
                  <a:lnTo>
                    <a:pt x="309" y="2"/>
                  </a:lnTo>
                  <a:lnTo>
                    <a:pt x="304" y="0"/>
                  </a:lnTo>
                  <a:lnTo>
                    <a:pt x="304" y="0"/>
                  </a:lnTo>
                  <a:lnTo>
                    <a:pt x="273" y="2"/>
                  </a:lnTo>
                  <a:lnTo>
                    <a:pt x="243" y="7"/>
                  </a:lnTo>
                  <a:lnTo>
                    <a:pt x="214" y="15"/>
                  </a:lnTo>
                  <a:lnTo>
                    <a:pt x="186" y="25"/>
                  </a:lnTo>
                  <a:lnTo>
                    <a:pt x="159" y="37"/>
                  </a:lnTo>
                  <a:lnTo>
                    <a:pt x="133" y="54"/>
                  </a:lnTo>
                  <a:lnTo>
                    <a:pt x="110" y="71"/>
                  </a:lnTo>
                  <a:lnTo>
                    <a:pt x="88" y="91"/>
                  </a:lnTo>
                  <a:lnTo>
                    <a:pt x="88" y="91"/>
                  </a:lnTo>
                  <a:lnTo>
                    <a:pt x="74" y="105"/>
                  </a:lnTo>
                  <a:lnTo>
                    <a:pt x="74" y="105"/>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99" name="Freeform 58">
              <a:extLst>
                <a:ext uri="{FF2B5EF4-FFF2-40B4-BE49-F238E27FC236}">
                  <a16:creationId xmlns="" xmlns:a16="http://schemas.microsoft.com/office/drawing/2014/main" id="{A8726DA4-04A4-4969-BEBB-60849C427101}"/>
                </a:ext>
              </a:extLst>
            </p:cNvPr>
            <p:cNvSpPr>
              <a:spLocks/>
            </p:cNvSpPr>
            <p:nvPr/>
          </p:nvSpPr>
          <p:spPr bwMode="gray">
            <a:xfrm>
              <a:off x="15886113" y="3368675"/>
              <a:ext cx="144463" cy="150813"/>
            </a:xfrm>
            <a:custGeom>
              <a:avLst/>
              <a:gdLst/>
              <a:ahLst/>
              <a:cxnLst>
                <a:cxn ang="0">
                  <a:pos x="47" y="50"/>
                </a:cxn>
                <a:cxn ang="0">
                  <a:pos x="47" y="50"/>
                </a:cxn>
                <a:cxn ang="0">
                  <a:pos x="40" y="57"/>
                </a:cxn>
                <a:cxn ang="0">
                  <a:pos x="40" y="57"/>
                </a:cxn>
                <a:cxn ang="0">
                  <a:pos x="30" y="69"/>
                </a:cxn>
                <a:cxn ang="0">
                  <a:pos x="22" y="82"/>
                </a:cxn>
                <a:cxn ang="0">
                  <a:pos x="15" y="96"/>
                </a:cxn>
                <a:cxn ang="0">
                  <a:pos x="8" y="111"/>
                </a:cxn>
                <a:cxn ang="0">
                  <a:pos x="5" y="126"/>
                </a:cxn>
                <a:cxn ang="0">
                  <a:pos x="1" y="141"/>
                </a:cxn>
                <a:cxn ang="0">
                  <a:pos x="0" y="156"/>
                </a:cxn>
                <a:cxn ang="0">
                  <a:pos x="0" y="173"/>
                </a:cxn>
                <a:cxn ang="0">
                  <a:pos x="0" y="173"/>
                </a:cxn>
                <a:cxn ang="0">
                  <a:pos x="0" y="178"/>
                </a:cxn>
                <a:cxn ang="0">
                  <a:pos x="3" y="183"/>
                </a:cxn>
                <a:cxn ang="0">
                  <a:pos x="8" y="187"/>
                </a:cxn>
                <a:cxn ang="0">
                  <a:pos x="15" y="189"/>
                </a:cxn>
                <a:cxn ang="0">
                  <a:pos x="57" y="187"/>
                </a:cxn>
                <a:cxn ang="0">
                  <a:pos x="57" y="187"/>
                </a:cxn>
                <a:cxn ang="0">
                  <a:pos x="62" y="185"/>
                </a:cxn>
                <a:cxn ang="0">
                  <a:pos x="67" y="182"/>
                </a:cxn>
                <a:cxn ang="0">
                  <a:pos x="67" y="182"/>
                </a:cxn>
                <a:cxn ang="0">
                  <a:pos x="71" y="177"/>
                </a:cxn>
                <a:cxn ang="0">
                  <a:pos x="72" y="170"/>
                </a:cxn>
                <a:cxn ang="0">
                  <a:pos x="72" y="170"/>
                </a:cxn>
                <a:cxn ang="0">
                  <a:pos x="72" y="153"/>
                </a:cxn>
                <a:cxn ang="0">
                  <a:pos x="77" y="136"/>
                </a:cxn>
                <a:cxn ang="0">
                  <a:pos x="86" y="119"/>
                </a:cxn>
                <a:cxn ang="0">
                  <a:pos x="96" y="104"/>
                </a:cxn>
                <a:cxn ang="0">
                  <a:pos x="96" y="104"/>
                </a:cxn>
                <a:cxn ang="0">
                  <a:pos x="99" y="101"/>
                </a:cxn>
                <a:cxn ang="0">
                  <a:pos x="99" y="101"/>
                </a:cxn>
                <a:cxn ang="0">
                  <a:pos x="113" y="89"/>
                </a:cxn>
                <a:cxn ang="0">
                  <a:pos x="130" y="81"/>
                </a:cxn>
                <a:cxn ang="0">
                  <a:pos x="146" y="74"/>
                </a:cxn>
                <a:cxn ang="0">
                  <a:pos x="165" y="72"/>
                </a:cxn>
                <a:cxn ang="0">
                  <a:pos x="165" y="72"/>
                </a:cxn>
                <a:cxn ang="0">
                  <a:pos x="172" y="70"/>
                </a:cxn>
                <a:cxn ang="0">
                  <a:pos x="177" y="67"/>
                </a:cxn>
                <a:cxn ang="0">
                  <a:pos x="177" y="67"/>
                </a:cxn>
                <a:cxn ang="0">
                  <a:pos x="180" y="62"/>
                </a:cxn>
                <a:cxn ang="0">
                  <a:pos x="182" y="55"/>
                </a:cxn>
                <a:cxn ang="0">
                  <a:pos x="182" y="15"/>
                </a:cxn>
                <a:cxn ang="0">
                  <a:pos x="182" y="15"/>
                </a:cxn>
                <a:cxn ang="0">
                  <a:pos x="180" y="8"/>
                </a:cxn>
                <a:cxn ang="0">
                  <a:pos x="177" y="3"/>
                </a:cxn>
                <a:cxn ang="0">
                  <a:pos x="177" y="3"/>
                </a:cxn>
                <a:cxn ang="0">
                  <a:pos x="172" y="0"/>
                </a:cxn>
                <a:cxn ang="0">
                  <a:pos x="165" y="0"/>
                </a:cxn>
                <a:cxn ang="0">
                  <a:pos x="165" y="0"/>
                </a:cxn>
                <a:cxn ang="0">
                  <a:pos x="148" y="0"/>
                </a:cxn>
                <a:cxn ang="0">
                  <a:pos x="133" y="3"/>
                </a:cxn>
                <a:cxn ang="0">
                  <a:pos x="116" y="6"/>
                </a:cxn>
                <a:cxn ang="0">
                  <a:pos x="101" y="13"/>
                </a:cxn>
                <a:cxn ang="0">
                  <a:pos x="87" y="20"/>
                </a:cxn>
                <a:cxn ang="0">
                  <a:pos x="72" y="28"/>
                </a:cxn>
                <a:cxn ang="0">
                  <a:pos x="59" y="38"/>
                </a:cxn>
                <a:cxn ang="0">
                  <a:pos x="47" y="50"/>
                </a:cxn>
                <a:cxn ang="0">
                  <a:pos x="47" y="50"/>
                </a:cxn>
              </a:cxnLst>
              <a:rect l="0" t="0" r="r" b="b"/>
              <a:pathLst>
                <a:path w="182" h="189">
                  <a:moveTo>
                    <a:pt x="47" y="50"/>
                  </a:moveTo>
                  <a:lnTo>
                    <a:pt x="47" y="50"/>
                  </a:lnTo>
                  <a:lnTo>
                    <a:pt x="40" y="57"/>
                  </a:lnTo>
                  <a:lnTo>
                    <a:pt x="40" y="57"/>
                  </a:lnTo>
                  <a:lnTo>
                    <a:pt x="30" y="69"/>
                  </a:lnTo>
                  <a:lnTo>
                    <a:pt x="22" y="82"/>
                  </a:lnTo>
                  <a:lnTo>
                    <a:pt x="15" y="96"/>
                  </a:lnTo>
                  <a:lnTo>
                    <a:pt x="8" y="111"/>
                  </a:lnTo>
                  <a:lnTo>
                    <a:pt x="5" y="126"/>
                  </a:lnTo>
                  <a:lnTo>
                    <a:pt x="1" y="141"/>
                  </a:lnTo>
                  <a:lnTo>
                    <a:pt x="0" y="156"/>
                  </a:lnTo>
                  <a:lnTo>
                    <a:pt x="0" y="173"/>
                  </a:lnTo>
                  <a:lnTo>
                    <a:pt x="0" y="173"/>
                  </a:lnTo>
                  <a:lnTo>
                    <a:pt x="0" y="178"/>
                  </a:lnTo>
                  <a:lnTo>
                    <a:pt x="3" y="183"/>
                  </a:lnTo>
                  <a:lnTo>
                    <a:pt x="8" y="187"/>
                  </a:lnTo>
                  <a:lnTo>
                    <a:pt x="15" y="189"/>
                  </a:lnTo>
                  <a:lnTo>
                    <a:pt x="57" y="187"/>
                  </a:lnTo>
                  <a:lnTo>
                    <a:pt x="57" y="187"/>
                  </a:lnTo>
                  <a:lnTo>
                    <a:pt x="62" y="185"/>
                  </a:lnTo>
                  <a:lnTo>
                    <a:pt x="67" y="182"/>
                  </a:lnTo>
                  <a:lnTo>
                    <a:pt x="67" y="182"/>
                  </a:lnTo>
                  <a:lnTo>
                    <a:pt x="71" y="177"/>
                  </a:lnTo>
                  <a:lnTo>
                    <a:pt x="72" y="170"/>
                  </a:lnTo>
                  <a:lnTo>
                    <a:pt x="72" y="170"/>
                  </a:lnTo>
                  <a:lnTo>
                    <a:pt x="72" y="153"/>
                  </a:lnTo>
                  <a:lnTo>
                    <a:pt x="77" y="136"/>
                  </a:lnTo>
                  <a:lnTo>
                    <a:pt x="86" y="119"/>
                  </a:lnTo>
                  <a:lnTo>
                    <a:pt x="96" y="104"/>
                  </a:lnTo>
                  <a:lnTo>
                    <a:pt x="96" y="104"/>
                  </a:lnTo>
                  <a:lnTo>
                    <a:pt x="99" y="101"/>
                  </a:lnTo>
                  <a:lnTo>
                    <a:pt x="99" y="101"/>
                  </a:lnTo>
                  <a:lnTo>
                    <a:pt x="113" y="89"/>
                  </a:lnTo>
                  <a:lnTo>
                    <a:pt x="130" y="81"/>
                  </a:lnTo>
                  <a:lnTo>
                    <a:pt x="146" y="74"/>
                  </a:lnTo>
                  <a:lnTo>
                    <a:pt x="165" y="72"/>
                  </a:lnTo>
                  <a:lnTo>
                    <a:pt x="165" y="72"/>
                  </a:lnTo>
                  <a:lnTo>
                    <a:pt x="172" y="70"/>
                  </a:lnTo>
                  <a:lnTo>
                    <a:pt x="177" y="67"/>
                  </a:lnTo>
                  <a:lnTo>
                    <a:pt x="177" y="67"/>
                  </a:lnTo>
                  <a:lnTo>
                    <a:pt x="180" y="62"/>
                  </a:lnTo>
                  <a:lnTo>
                    <a:pt x="182" y="55"/>
                  </a:lnTo>
                  <a:lnTo>
                    <a:pt x="182" y="15"/>
                  </a:lnTo>
                  <a:lnTo>
                    <a:pt x="182" y="15"/>
                  </a:lnTo>
                  <a:lnTo>
                    <a:pt x="180" y="8"/>
                  </a:lnTo>
                  <a:lnTo>
                    <a:pt x="177" y="3"/>
                  </a:lnTo>
                  <a:lnTo>
                    <a:pt x="177" y="3"/>
                  </a:lnTo>
                  <a:lnTo>
                    <a:pt x="172" y="0"/>
                  </a:lnTo>
                  <a:lnTo>
                    <a:pt x="165" y="0"/>
                  </a:lnTo>
                  <a:lnTo>
                    <a:pt x="165" y="0"/>
                  </a:lnTo>
                  <a:lnTo>
                    <a:pt x="148" y="0"/>
                  </a:lnTo>
                  <a:lnTo>
                    <a:pt x="133" y="3"/>
                  </a:lnTo>
                  <a:lnTo>
                    <a:pt x="116" y="6"/>
                  </a:lnTo>
                  <a:lnTo>
                    <a:pt x="101" y="13"/>
                  </a:lnTo>
                  <a:lnTo>
                    <a:pt x="87" y="20"/>
                  </a:lnTo>
                  <a:lnTo>
                    <a:pt x="72" y="28"/>
                  </a:lnTo>
                  <a:lnTo>
                    <a:pt x="59" y="38"/>
                  </a:lnTo>
                  <a:lnTo>
                    <a:pt x="47" y="50"/>
                  </a:lnTo>
                  <a:lnTo>
                    <a:pt x="47" y="50"/>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100" name="Freeform 59">
              <a:extLst>
                <a:ext uri="{FF2B5EF4-FFF2-40B4-BE49-F238E27FC236}">
                  <a16:creationId xmlns="" xmlns:a16="http://schemas.microsoft.com/office/drawing/2014/main" id="{D91FCD9F-ECF0-4129-AE5E-55F1C413A4F5}"/>
                </a:ext>
              </a:extLst>
            </p:cNvPr>
            <p:cNvSpPr>
              <a:spLocks/>
            </p:cNvSpPr>
            <p:nvPr/>
          </p:nvSpPr>
          <p:spPr bwMode="gray">
            <a:xfrm>
              <a:off x="16213138" y="3268663"/>
              <a:ext cx="252413" cy="261938"/>
            </a:xfrm>
            <a:custGeom>
              <a:avLst/>
              <a:gdLst/>
              <a:ahLst/>
              <a:cxnLst>
                <a:cxn ang="0">
                  <a:pos x="302" y="329"/>
                </a:cxn>
                <a:cxn ang="0">
                  <a:pos x="309" y="327"/>
                </a:cxn>
                <a:cxn ang="0">
                  <a:pos x="317" y="319"/>
                </a:cxn>
                <a:cxn ang="0">
                  <a:pos x="319" y="312"/>
                </a:cxn>
                <a:cxn ang="0">
                  <a:pos x="314" y="256"/>
                </a:cxn>
                <a:cxn ang="0">
                  <a:pos x="300" y="202"/>
                </a:cxn>
                <a:cxn ang="0">
                  <a:pos x="277" y="152"/>
                </a:cxn>
                <a:cxn ang="0">
                  <a:pos x="243" y="105"/>
                </a:cxn>
                <a:cxn ang="0">
                  <a:pos x="231" y="91"/>
                </a:cxn>
                <a:cxn ang="0">
                  <a:pos x="209" y="71"/>
                </a:cxn>
                <a:cxn ang="0">
                  <a:pos x="159" y="37"/>
                </a:cxn>
                <a:cxn ang="0">
                  <a:pos x="105" y="15"/>
                </a:cxn>
                <a:cxn ang="0">
                  <a:pos x="46" y="2"/>
                </a:cxn>
                <a:cxn ang="0">
                  <a:pos x="15" y="0"/>
                </a:cxn>
                <a:cxn ang="0">
                  <a:pos x="4" y="5"/>
                </a:cxn>
                <a:cxn ang="0">
                  <a:pos x="0" y="10"/>
                </a:cxn>
                <a:cxn ang="0">
                  <a:pos x="0" y="57"/>
                </a:cxn>
                <a:cxn ang="0">
                  <a:pos x="0" y="62"/>
                </a:cxn>
                <a:cxn ang="0">
                  <a:pos x="4" y="68"/>
                </a:cxn>
                <a:cxn ang="0">
                  <a:pos x="15" y="73"/>
                </a:cxn>
                <a:cxn ang="0">
                  <a:pos x="39" y="74"/>
                </a:cxn>
                <a:cxn ang="0">
                  <a:pos x="83" y="84"/>
                </a:cxn>
                <a:cxn ang="0">
                  <a:pos x="125" y="101"/>
                </a:cxn>
                <a:cxn ang="0">
                  <a:pos x="162" y="127"/>
                </a:cxn>
                <a:cxn ang="0">
                  <a:pos x="179" y="143"/>
                </a:cxn>
                <a:cxn ang="0">
                  <a:pos x="189" y="154"/>
                </a:cxn>
                <a:cxn ang="0">
                  <a:pos x="214" y="189"/>
                </a:cxn>
                <a:cxn ang="0">
                  <a:pos x="231" y="226"/>
                </a:cxn>
                <a:cxn ang="0">
                  <a:pos x="243" y="268"/>
                </a:cxn>
                <a:cxn ang="0">
                  <a:pos x="245" y="312"/>
                </a:cxn>
                <a:cxn ang="0">
                  <a:pos x="247" y="317"/>
                </a:cxn>
                <a:cxn ang="0">
                  <a:pos x="250" y="322"/>
                </a:cxn>
                <a:cxn ang="0">
                  <a:pos x="262" y="327"/>
                </a:cxn>
              </a:cxnLst>
              <a:rect l="0" t="0" r="r" b="b"/>
              <a:pathLst>
                <a:path w="319" h="329">
                  <a:moveTo>
                    <a:pt x="262" y="327"/>
                  </a:moveTo>
                  <a:lnTo>
                    <a:pt x="302" y="329"/>
                  </a:lnTo>
                  <a:lnTo>
                    <a:pt x="302" y="329"/>
                  </a:lnTo>
                  <a:lnTo>
                    <a:pt x="309" y="327"/>
                  </a:lnTo>
                  <a:lnTo>
                    <a:pt x="314" y="324"/>
                  </a:lnTo>
                  <a:lnTo>
                    <a:pt x="317" y="319"/>
                  </a:lnTo>
                  <a:lnTo>
                    <a:pt x="319" y="312"/>
                  </a:lnTo>
                  <a:lnTo>
                    <a:pt x="319" y="312"/>
                  </a:lnTo>
                  <a:lnTo>
                    <a:pt x="317" y="285"/>
                  </a:lnTo>
                  <a:lnTo>
                    <a:pt x="314" y="256"/>
                  </a:lnTo>
                  <a:lnTo>
                    <a:pt x="309" y="229"/>
                  </a:lnTo>
                  <a:lnTo>
                    <a:pt x="300" y="202"/>
                  </a:lnTo>
                  <a:lnTo>
                    <a:pt x="290" y="175"/>
                  </a:lnTo>
                  <a:lnTo>
                    <a:pt x="277" y="152"/>
                  </a:lnTo>
                  <a:lnTo>
                    <a:pt x="262" y="128"/>
                  </a:lnTo>
                  <a:lnTo>
                    <a:pt x="243" y="105"/>
                  </a:lnTo>
                  <a:lnTo>
                    <a:pt x="243" y="105"/>
                  </a:lnTo>
                  <a:lnTo>
                    <a:pt x="231" y="91"/>
                  </a:lnTo>
                  <a:lnTo>
                    <a:pt x="231" y="91"/>
                  </a:lnTo>
                  <a:lnTo>
                    <a:pt x="209" y="71"/>
                  </a:lnTo>
                  <a:lnTo>
                    <a:pt x="186" y="54"/>
                  </a:lnTo>
                  <a:lnTo>
                    <a:pt x="159" y="37"/>
                  </a:lnTo>
                  <a:lnTo>
                    <a:pt x="133" y="25"/>
                  </a:lnTo>
                  <a:lnTo>
                    <a:pt x="105" y="15"/>
                  </a:lnTo>
                  <a:lnTo>
                    <a:pt x="76" y="7"/>
                  </a:lnTo>
                  <a:lnTo>
                    <a:pt x="46" y="2"/>
                  </a:lnTo>
                  <a:lnTo>
                    <a:pt x="15" y="0"/>
                  </a:lnTo>
                  <a:lnTo>
                    <a:pt x="15" y="0"/>
                  </a:lnTo>
                  <a:lnTo>
                    <a:pt x="10" y="2"/>
                  </a:lnTo>
                  <a:lnTo>
                    <a:pt x="4" y="5"/>
                  </a:lnTo>
                  <a:lnTo>
                    <a:pt x="4" y="5"/>
                  </a:lnTo>
                  <a:lnTo>
                    <a:pt x="0" y="10"/>
                  </a:lnTo>
                  <a:lnTo>
                    <a:pt x="0" y="17"/>
                  </a:lnTo>
                  <a:lnTo>
                    <a:pt x="0" y="57"/>
                  </a:lnTo>
                  <a:lnTo>
                    <a:pt x="0" y="57"/>
                  </a:lnTo>
                  <a:lnTo>
                    <a:pt x="0" y="62"/>
                  </a:lnTo>
                  <a:lnTo>
                    <a:pt x="4" y="68"/>
                  </a:lnTo>
                  <a:lnTo>
                    <a:pt x="4" y="68"/>
                  </a:lnTo>
                  <a:lnTo>
                    <a:pt x="9" y="73"/>
                  </a:lnTo>
                  <a:lnTo>
                    <a:pt x="15" y="73"/>
                  </a:lnTo>
                  <a:lnTo>
                    <a:pt x="15" y="73"/>
                  </a:lnTo>
                  <a:lnTo>
                    <a:pt x="39" y="74"/>
                  </a:lnTo>
                  <a:lnTo>
                    <a:pt x="61" y="78"/>
                  </a:lnTo>
                  <a:lnTo>
                    <a:pt x="83" y="84"/>
                  </a:lnTo>
                  <a:lnTo>
                    <a:pt x="105" y="91"/>
                  </a:lnTo>
                  <a:lnTo>
                    <a:pt x="125" y="101"/>
                  </a:lnTo>
                  <a:lnTo>
                    <a:pt x="144" y="113"/>
                  </a:lnTo>
                  <a:lnTo>
                    <a:pt x="162" y="127"/>
                  </a:lnTo>
                  <a:lnTo>
                    <a:pt x="179" y="143"/>
                  </a:lnTo>
                  <a:lnTo>
                    <a:pt x="179" y="143"/>
                  </a:lnTo>
                  <a:lnTo>
                    <a:pt x="189" y="154"/>
                  </a:lnTo>
                  <a:lnTo>
                    <a:pt x="189" y="154"/>
                  </a:lnTo>
                  <a:lnTo>
                    <a:pt x="203" y="170"/>
                  </a:lnTo>
                  <a:lnTo>
                    <a:pt x="214" y="189"/>
                  </a:lnTo>
                  <a:lnTo>
                    <a:pt x="225" y="208"/>
                  </a:lnTo>
                  <a:lnTo>
                    <a:pt x="231" y="226"/>
                  </a:lnTo>
                  <a:lnTo>
                    <a:pt x="238" y="248"/>
                  </a:lnTo>
                  <a:lnTo>
                    <a:pt x="243" y="268"/>
                  </a:lnTo>
                  <a:lnTo>
                    <a:pt x="245" y="290"/>
                  </a:lnTo>
                  <a:lnTo>
                    <a:pt x="245" y="312"/>
                  </a:lnTo>
                  <a:lnTo>
                    <a:pt x="245" y="312"/>
                  </a:lnTo>
                  <a:lnTo>
                    <a:pt x="247" y="317"/>
                  </a:lnTo>
                  <a:lnTo>
                    <a:pt x="250" y="322"/>
                  </a:lnTo>
                  <a:lnTo>
                    <a:pt x="250" y="322"/>
                  </a:lnTo>
                  <a:lnTo>
                    <a:pt x="255" y="326"/>
                  </a:lnTo>
                  <a:lnTo>
                    <a:pt x="262" y="327"/>
                  </a:lnTo>
                  <a:lnTo>
                    <a:pt x="262" y="327"/>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101" name="Freeform 60">
              <a:extLst>
                <a:ext uri="{FF2B5EF4-FFF2-40B4-BE49-F238E27FC236}">
                  <a16:creationId xmlns="" xmlns:a16="http://schemas.microsoft.com/office/drawing/2014/main" id="{CB502E93-655A-4CA3-9D79-9762BEBA1AF5}"/>
                </a:ext>
              </a:extLst>
            </p:cNvPr>
            <p:cNvSpPr>
              <a:spLocks/>
            </p:cNvSpPr>
            <p:nvPr/>
          </p:nvSpPr>
          <p:spPr bwMode="gray">
            <a:xfrm>
              <a:off x="16221075" y="3368675"/>
              <a:ext cx="144463" cy="150813"/>
            </a:xfrm>
            <a:custGeom>
              <a:avLst/>
              <a:gdLst/>
              <a:ahLst/>
              <a:cxnLst>
                <a:cxn ang="0">
                  <a:pos x="135" y="50"/>
                </a:cxn>
                <a:cxn ang="0">
                  <a:pos x="135" y="50"/>
                </a:cxn>
                <a:cxn ang="0">
                  <a:pos x="122" y="38"/>
                </a:cxn>
                <a:cxn ang="0">
                  <a:pos x="110" y="28"/>
                </a:cxn>
                <a:cxn ang="0">
                  <a:pos x="95" y="20"/>
                </a:cxn>
                <a:cxn ang="0">
                  <a:pos x="81" y="13"/>
                </a:cxn>
                <a:cxn ang="0">
                  <a:pos x="64" y="6"/>
                </a:cxn>
                <a:cxn ang="0">
                  <a:pos x="49" y="3"/>
                </a:cxn>
                <a:cxn ang="0">
                  <a:pos x="32" y="0"/>
                </a:cxn>
                <a:cxn ang="0">
                  <a:pos x="16" y="0"/>
                </a:cxn>
                <a:cxn ang="0">
                  <a:pos x="16" y="0"/>
                </a:cxn>
                <a:cxn ang="0">
                  <a:pos x="10" y="0"/>
                </a:cxn>
                <a:cxn ang="0">
                  <a:pos x="5" y="3"/>
                </a:cxn>
                <a:cxn ang="0">
                  <a:pos x="5" y="3"/>
                </a:cxn>
                <a:cxn ang="0">
                  <a:pos x="2" y="8"/>
                </a:cxn>
                <a:cxn ang="0">
                  <a:pos x="0" y="15"/>
                </a:cxn>
                <a:cxn ang="0">
                  <a:pos x="0" y="55"/>
                </a:cxn>
                <a:cxn ang="0">
                  <a:pos x="0" y="55"/>
                </a:cxn>
                <a:cxn ang="0">
                  <a:pos x="2" y="62"/>
                </a:cxn>
                <a:cxn ang="0">
                  <a:pos x="5" y="67"/>
                </a:cxn>
                <a:cxn ang="0">
                  <a:pos x="5" y="67"/>
                </a:cxn>
                <a:cxn ang="0">
                  <a:pos x="10" y="70"/>
                </a:cxn>
                <a:cxn ang="0">
                  <a:pos x="16" y="72"/>
                </a:cxn>
                <a:cxn ang="0">
                  <a:pos x="16" y="72"/>
                </a:cxn>
                <a:cxn ang="0">
                  <a:pos x="34" y="74"/>
                </a:cxn>
                <a:cxn ang="0">
                  <a:pos x="53" y="81"/>
                </a:cxn>
                <a:cxn ang="0">
                  <a:pos x="68" y="89"/>
                </a:cxn>
                <a:cxn ang="0">
                  <a:pos x="83" y="101"/>
                </a:cxn>
                <a:cxn ang="0">
                  <a:pos x="83" y="101"/>
                </a:cxn>
                <a:cxn ang="0">
                  <a:pos x="86" y="104"/>
                </a:cxn>
                <a:cxn ang="0">
                  <a:pos x="86" y="104"/>
                </a:cxn>
                <a:cxn ang="0">
                  <a:pos x="97" y="119"/>
                </a:cxn>
                <a:cxn ang="0">
                  <a:pos x="105" y="136"/>
                </a:cxn>
                <a:cxn ang="0">
                  <a:pos x="108" y="153"/>
                </a:cxn>
                <a:cxn ang="0">
                  <a:pos x="110" y="170"/>
                </a:cxn>
                <a:cxn ang="0">
                  <a:pos x="110" y="170"/>
                </a:cxn>
                <a:cxn ang="0">
                  <a:pos x="112" y="177"/>
                </a:cxn>
                <a:cxn ang="0">
                  <a:pos x="113" y="182"/>
                </a:cxn>
                <a:cxn ang="0">
                  <a:pos x="113" y="182"/>
                </a:cxn>
                <a:cxn ang="0">
                  <a:pos x="118" y="185"/>
                </a:cxn>
                <a:cxn ang="0">
                  <a:pos x="125" y="187"/>
                </a:cxn>
                <a:cxn ang="0">
                  <a:pos x="167" y="189"/>
                </a:cxn>
                <a:cxn ang="0">
                  <a:pos x="167" y="189"/>
                </a:cxn>
                <a:cxn ang="0">
                  <a:pos x="172" y="187"/>
                </a:cxn>
                <a:cxn ang="0">
                  <a:pos x="177" y="183"/>
                </a:cxn>
                <a:cxn ang="0">
                  <a:pos x="181" y="178"/>
                </a:cxn>
                <a:cxn ang="0">
                  <a:pos x="183" y="173"/>
                </a:cxn>
                <a:cxn ang="0">
                  <a:pos x="183" y="173"/>
                </a:cxn>
                <a:cxn ang="0">
                  <a:pos x="183" y="156"/>
                </a:cxn>
                <a:cxn ang="0">
                  <a:pos x="181" y="141"/>
                </a:cxn>
                <a:cxn ang="0">
                  <a:pos x="177" y="126"/>
                </a:cxn>
                <a:cxn ang="0">
                  <a:pos x="172" y="111"/>
                </a:cxn>
                <a:cxn ang="0">
                  <a:pos x="167" y="96"/>
                </a:cxn>
                <a:cxn ang="0">
                  <a:pos x="161" y="82"/>
                </a:cxn>
                <a:cxn ang="0">
                  <a:pos x="152" y="69"/>
                </a:cxn>
                <a:cxn ang="0">
                  <a:pos x="142" y="57"/>
                </a:cxn>
                <a:cxn ang="0">
                  <a:pos x="142" y="57"/>
                </a:cxn>
                <a:cxn ang="0">
                  <a:pos x="135" y="50"/>
                </a:cxn>
                <a:cxn ang="0">
                  <a:pos x="135" y="50"/>
                </a:cxn>
              </a:cxnLst>
              <a:rect l="0" t="0" r="r" b="b"/>
              <a:pathLst>
                <a:path w="183" h="189">
                  <a:moveTo>
                    <a:pt x="135" y="50"/>
                  </a:moveTo>
                  <a:lnTo>
                    <a:pt x="135" y="50"/>
                  </a:lnTo>
                  <a:lnTo>
                    <a:pt x="122" y="38"/>
                  </a:lnTo>
                  <a:lnTo>
                    <a:pt x="110" y="28"/>
                  </a:lnTo>
                  <a:lnTo>
                    <a:pt x="95" y="20"/>
                  </a:lnTo>
                  <a:lnTo>
                    <a:pt x="81" y="13"/>
                  </a:lnTo>
                  <a:lnTo>
                    <a:pt x="64" y="6"/>
                  </a:lnTo>
                  <a:lnTo>
                    <a:pt x="49" y="3"/>
                  </a:lnTo>
                  <a:lnTo>
                    <a:pt x="32" y="0"/>
                  </a:lnTo>
                  <a:lnTo>
                    <a:pt x="16" y="0"/>
                  </a:lnTo>
                  <a:lnTo>
                    <a:pt x="16" y="0"/>
                  </a:lnTo>
                  <a:lnTo>
                    <a:pt x="10" y="0"/>
                  </a:lnTo>
                  <a:lnTo>
                    <a:pt x="5" y="3"/>
                  </a:lnTo>
                  <a:lnTo>
                    <a:pt x="5" y="3"/>
                  </a:lnTo>
                  <a:lnTo>
                    <a:pt x="2" y="8"/>
                  </a:lnTo>
                  <a:lnTo>
                    <a:pt x="0" y="15"/>
                  </a:lnTo>
                  <a:lnTo>
                    <a:pt x="0" y="55"/>
                  </a:lnTo>
                  <a:lnTo>
                    <a:pt x="0" y="55"/>
                  </a:lnTo>
                  <a:lnTo>
                    <a:pt x="2" y="62"/>
                  </a:lnTo>
                  <a:lnTo>
                    <a:pt x="5" y="67"/>
                  </a:lnTo>
                  <a:lnTo>
                    <a:pt x="5" y="67"/>
                  </a:lnTo>
                  <a:lnTo>
                    <a:pt x="10" y="70"/>
                  </a:lnTo>
                  <a:lnTo>
                    <a:pt x="16" y="72"/>
                  </a:lnTo>
                  <a:lnTo>
                    <a:pt x="16" y="72"/>
                  </a:lnTo>
                  <a:lnTo>
                    <a:pt x="34" y="74"/>
                  </a:lnTo>
                  <a:lnTo>
                    <a:pt x="53" y="81"/>
                  </a:lnTo>
                  <a:lnTo>
                    <a:pt x="68" y="89"/>
                  </a:lnTo>
                  <a:lnTo>
                    <a:pt x="83" y="101"/>
                  </a:lnTo>
                  <a:lnTo>
                    <a:pt x="83" y="101"/>
                  </a:lnTo>
                  <a:lnTo>
                    <a:pt x="86" y="104"/>
                  </a:lnTo>
                  <a:lnTo>
                    <a:pt x="86" y="104"/>
                  </a:lnTo>
                  <a:lnTo>
                    <a:pt x="97" y="119"/>
                  </a:lnTo>
                  <a:lnTo>
                    <a:pt x="105" y="136"/>
                  </a:lnTo>
                  <a:lnTo>
                    <a:pt x="108" y="153"/>
                  </a:lnTo>
                  <a:lnTo>
                    <a:pt x="110" y="170"/>
                  </a:lnTo>
                  <a:lnTo>
                    <a:pt x="110" y="170"/>
                  </a:lnTo>
                  <a:lnTo>
                    <a:pt x="112" y="177"/>
                  </a:lnTo>
                  <a:lnTo>
                    <a:pt x="113" y="182"/>
                  </a:lnTo>
                  <a:lnTo>
                    <a:pt x="113" y="182"/>
                  </a:lnTo>
                  <a:lnTo>
                    <a:pt x="118" y="185"/>
                  </a:lnTo>
                  <a:lnTo>
                    <a:pt x="125" y="187"/>
                  </a:lnTo>
                  <a:lnTo>
                    <a:pt x="167" y="189"/>
                  </a:lnTo>
                  <a:lnTo>
                    <a:pt x="167" y="189"/>
                  </a:lnTo>
                  <a:lnTo>
                    <a:pt x="172" y="187"/>
                  </a:lnTo>
                  <a:lnTo>
                    <a:pt x="177" y="183"/>
                  </a:lnTo>
                  <a:lnTo>
                    <a:pt x="181" y="178"/>
                  </a:lnTo>
                  <a:lnTo>
                    <a:pt x="183" y="173"/>
                  </a:lnTo>
                  <a:lnTo>
                    <a:pt x="183" y="173"/>
                  </a:lnTo>
                  <a:lnTo>
                    <a:pt x="183" y="156"/>
                  </a:lnTo>
                  <a:lnTo>
                    <a:pt x="181" y="141"/>
                  </a:lnTo>
                  <a:lnTo>
                    <a:pt x="177" y="126"/>
                  </a:lnTo>
                  <a:lnTo>
                    <a:pt x="172" y="111"/>
                  </a:lnTo>
                  <a:lnTo>
                    <a:pt x="167" y="96"/>
                  </a:lnTo>
                  <a:lnTo>
                    <a:pt x="161" y="82"/>
                  </a:lnTo>
                  <a:lnTo>
                    <a:pt x="152" y="69"/>
                  </a:lnTo>
                  <a:lnTo>
                    <a:pt x="142" y="57"/>
                  </a:lnTo>
                  <a:lnTo>
                    <a:pt x="142" y="57"/>
                  </a:lnTo>
                  <a:lnTo>
                    <a:pt x="135" y="50"/>
                  </a:lnTo>
                  <a:lnTo>
                    <a:pt x="135" y="50"/>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102" name="Freeform 61">
              <a:extLst>
                <a:ext uri="{FF2B5EF4-FFF2-40B4-BE49-F238E27FC236}">
                  <a16:creationId xmlns="" xmlns:a16="http://schemas.microsoft.com/office/drawing/2014/main" id="{C584DA02-884C-41A7-B716-A99473C2769A}"/>
                </a:ext>
              </a:extLst>
            </p:cNvPr>
            <p:cNvSpPr>
              <a:spLocks noEditPoints="1"/>
            </p:cNvSpPr>
            <p:nvPr/>
          </p:nvSpPr>
          <p:spPr bwMode="gray">
            <a:xfrm>
              <a:off x="15730507" y="3460750"/>
              <a:ext cx="765172" cy="931866"/>
            </a:xfrm>
            <a:custGeom>
              <a:avLst/>
              <a:gdLst/>
              <a:ahLst/>
              <a:cxnLst>
                <a:cxn ang="0">
                  <a:pos x="157" y="1174"/>
                </a:cxn>
                <a:cxn ang="0">
                  <a:pos x="963" y="1174"/>
                </a:cxn>
                <a:cxn ang="0">
                  <a:pos x="842" y="1026"/>
                </a:cxn>
                <a:cxn ang="0">
                  <a:pos x="579" y="248"/>
                </a:cxn>
                <a:cxn ang="0">
                  <a:pos x="590" y="238"/>
                </a:cxn>
                <a:cxn ang="0">
                  <a:pos x="611" y="215"/>
                </a:cxn>
                <a:cxn ang="0">
                  <a:pos x="626" y="186"/>
                </a:cxn>
                <a:cxn ang="0">
                  <a:pos x="634" y="154"/>
                </a:cxn>
                <a:cxn ang="0">
                  <a:pos x="634" y="137"/>
                </a:cxn>
                <a:cxn ang="0">
                  <a:pos x="633" y="110"/>
                </a:cxn>
                <a:cxn ang="0">
                  <a:pos x="624" y="85"/>
                </a:cxn>
                <a:cxn ang="0">
                  <a:pos x="611" y="61"/>
                </a:cxn>
                <a:cxn ang="0">
                  <a:pos x="594" y="41"/>
                </a:cxn>
                <a:cxn ang="0">
                  <a:pos x="573" y="24"/>
                </a:cxn>
                <a:cxn ang="0">
                  <a:pos x="552" y="10"/>
                </a:cxn>
                <a:cxn ang="0">
                  <a:pos x="525" y="4"/>
                </a:cxn>
                <a:cxn ang="0">
                  <a:pos x="498" y="0"/>
                </a:cxn>
                <a:cxn ang="0">
                  <a:pos x="484" y="0"/>
                </a:cxn>
                <a:cxn ang="0">
                  <a:pos x="457" y="7"/>
                </a:cxn>
                <a:cxn ang="0">
                  <a:pos x="432" y="17"/>
                </a:cxn>
                <a:cxn ang="0">
                  <a:pos x="410" y="31"/>
                </a:cxn>
                <a:cxn ang="0">
                  <a:pos x="391" y="49"/>
                </a:cxn>
                <a:cxn ang="0">
                  <a:pos x="376" y="71"/>
                </a:cxn>
                <a:cxn ang="0">
                  <a:pos x="366" y="96"/>
                </a:cxn>
                <a:cxn ang="0">
                  <a:pos x="361" y="123"/>
                </a:cxn>
                <a:cxn ang="0">
                  <a:pos x="359" y="137"/>
                </a:cxn>
                <a:cxn ang="0">
                  <a:pos x="364" y="169"/>
                </a:cxn>
                <a:cxn ang="0">
                  <a:pos x="374" y="198"/>
                </a:cxn>
                <a:cxn ang="0">
                  <a:pos x="391" y="223"/>
                </a:cxn>
                <a:cxn ang="0">
                  <a:pos x="412" y="245"/>
                </a:cxn>
                <a:cxn ang="0">
                  <a:pos x="121" y="1026"/>
                </a:cxn>
                <a:cxn ang="0">
                  <a:pos x="0" y="1174"/>
                </a:cxn>
                <a:cxn ang="0">
                  <a:pos x="415" y="977"/>
                </a:cxn>
                <a:cxn ang="0">
                  <a:pos x="698" y="1026"/>
                </a:cxn>
                <a:cxn ang="0">
                  <a:pos x="442" y="478"/>
                </a:cxn>
                <a:cxn ang="0">
                  <a:pos x="410" y="597"/>
                </a:cxn>
                <a:cxn ang="0">
                  <a:pos x="467" y="387"/>
                </a:cxn>
                <a:cxn ang="0">
                  <a:pos x="533" y="429"/>
                </a:cxn>
                <a:cxn ang="0">
                  <a:pos x="582" y="604"/>
                </a:cxn>
                <a:cxn ang="0">
                  <a:pos x="450" y="678"/>
                </a:cxn>
                <a:cxn ang="0">
                  <a:pos x="369" y="743"/>
                </a:cxn>
                <a:cxn ang="0">
                  <a:pos x="324" y="910"/>
                </a:cxn>
              </a:cxnLst>
              <a:rect l="0" t="0" r="r" b="b"/>
              <a:pathLst>
                <a:path w="963" h="1174">
                  <a:moveTo>
                    <a:pt x="0" y="1174"/>
                  </a:moveTo>
                  <a:lnTo>
                    <a:pt x="157" y="1174"/>
                  </a:lnTo>
                  <a:lnTo>
                    <a:pt x="833" y="1174"/>
                  </a:lnTo>
                  <a:lnTo>
                    <a:pt x="963" y="1174"/>
                  </a:lnTo>
                  <a:lnTo>
                    <a:pt x="918" y="1120"/>
                  </a:lnTo>
                  <a:lnTo>
                    <a:pt x="842" y="1026"/>
                  </a:lnTo>
                  <a:lnTo>
                    <a:pt x="793" y="1026"/>
                  </a:lnTo>
                  <a:lnTo>
                    <a:pt x="579" y="248"/>
                  </a:lnTo>
                  <a:lnTo>
                    <a:pt x="579" y="248"/>
                  </a:lnTo>
                  <a:lnTo>
                    <a:pt x="590" y="238"/>
                  </a:lnTo>
                  <a:lnTo>
                    <a:pt x="602" y="226"/>
                  </a:lnTo>
                  <a:lnTo>
                    <a:pt x="611" y="215"/>
                  </a:lnTo>
                  <a:lnTo>
                    <a:pt x="619" y="201"/>
                  </a:lnTo>
                  <a:lnTo>
                    <a:pt x="626" y="186"/>
                  </a:lnTo>
                  <a:lnTo>
                    <a:pt x="631" y="171"/>
                  </a:lnTo>
                  <a:lnTo>
                    <a:pt x="634" y="154"/>
                  </a:lnTo>
                  <a:lnTo>
                    <a:pt x="634" y="137"/>
                  </a:lnTo>
                  <a:lnTo>
                    <a:pt x="634" y="137"/>
                  </a:lnTo>
                  <a:lnTo>
                    <a:pt x="634" y="123"/>
                  </a:lnTo>
                  <a:lnTo>
                    <a:pt x="633" y="110"/>
                  </a:lnTo>
                  <a:lnTo>
                    <a:pt x="629" y="96"/>
                  </a:lnTo>
                  <a:lnTo>
                    <a:pt x="624" y="85"/>
                  </a:lnTo>
                  <a:lnTo>
                    <a:pt x="617" y="71"/>
                  </a:lnTo>
                  <a:lnTo>
                    <a:pt x="611" y="61"/>
                  </a:lnTo>
                  <a:lnTo>
                    <a:pt x="604" y="49"/>
                  </a:lnTo>
                  <a:lnTo>
                    <a:pt x="594" y="41"/>
                  </a:lnTo>
                  <a:lnTo>
                    <a:pt x="585" y="31"/>
                  </a:lnTo>
                  <a:lnTo>
                    <a:pt x="573" y="24"/>
                  </a:lnTo>
                  <a:lnTo>
                    <a:pt x="563" y="17"/>
                  </a:lnTo>
                  <a:lnTo>
                    <a:pt x="552" y="10"/>
                  </a:lnTo>
                  <a:lnTo>
                    <a:pt x="538" y="7"/>
                  </a:lnTo>
                  <a:lnTo>
                    <a:pt x="525" y="4"/>
                  </a:lnTo>
                  <a:lnTo>
                    <a:pt x="511" y="0"/>
                  </a:lnTo>
                  <a:lnTo>
                    <a:pt x="498" y="0"/>
                  </a:lnTo>
                  <a:lnTo>
                    <a:pt x="498" y="0"/>
                  </a:lnTo>
                  <a:lnTo>
                    <a:pt x="484" y="0"/>
                  </a:lnTo>
                  <a:lnTo>
                    <a:pt x="469" y="4"/>
                  </a:lnTo>
                  <a:lnTo>
                    <a:pt x="457" y="7"/>
                  </a:lnTo>
                  <a:lnTo>
                    <a:pt x="444" y="10"/>
                  </a:lnTo>
                  <a:lnTo>
                    <a:pt x="432" y="17"/>
                  </a:lnTo>
                  <a:lnTo>
                    <a:pt x="420" y="24"/>
                  </a:lnTo>
                  <a:lnTo>
                    <a:pt x="410" y="31"/>
                  </a:lnTo>
                  <a:lnTo>
                    <a:pt x="400" y="41"/>
                  </a:lnTo>
                  <a:lnTo>
                    <a:pt x="391" y="49"/>
                  </a:lnTo>
                  <a:lnTo>
                    <a:pt x="383" y="61"/>
                  </a:lnTo>
                  <a:lnTo>
                    <a:pt x="376" y="71"/>
                  </a:lnTo>
                  <a:lnTo>
                    <a:pt x="371" y="85"/>
                  </a:lnTo>
                  <a:lnTo>
                    <a:pt x="366" y="96"/>
                  </a:lnTo>
                  <a:lnTo>
                    <a:pt x="363" y="110"/>
                  </a:lnTo>
                  <a:lnTo>
                    <a:pt x="361" y="123"/>
                  </a:lnTo>
                  <a:lnTo>
                    <a:pt x="359" y="137"/>
                  </a:lnTo>
                  <a:lnTo>
                    <a:pt x="359" y="137"/>
                  </a:lnTo>
                  <a:lnTo>
                    <a:pt x="361" y="154"/>
                  </a:lnTo>
                  <a:lnTo>
                    <a:pt x="364" y="169"/>
                  </a:lnTo>
                  <a:lnTo>
                    <a:pt x="368" y="184"/>
                  </a:lnTo>
                  <a:lnTo>
                    <a:pt x="374" y="198"/>
                  </a:lnTo>
                  <a:lnTo>
                    <a:pt x="381" y="211"/>
                  </a:lnTo>
                  <a:lnTo>
                    <a:pt x="391" y="223"/>
                  </a:lnTo>
                  <a:lnTo>
                    <a:pt x="400" y="235"/>
                  </a:lnTo>
                  <a:lnTo>
                    <a:pt x="412" y="245"/>
                  </a:lnTo>
                  <a:lnTo>
                    <a:pt x="197" y="1026"/>
                  </a:lnTo>
                  <a:lnTo>
                    <a:pt x="121" y="1026"/>
                  </a:lnTo>
                  <a:lnTo>
                    <a:pt x="46" y="1120"/>
                  </a:lnTo>
                  <a:lnTo>
                    <a:pt x="0" y="1174"/>
                  </a:lnTo>
                  <a:close/>
                  <a:moveTo>
                    <a:pt x="577" y="1026"/>
                  </a:moveTo>
                  <a:lnTo>
                    <a:pt x="415" y="977"/>
                  </a:lnTo>
                  <a:lnTo>
                    <a:pt x="663" y="898"/>
                  </a:lnTo>
                  <a:lnTo>
                    <a:pt x="698" y="1026"/>
                  </a:lnTo>
                  <a:lnTo>
                    <a:pt x="577" y="1026"/>
                  </a:lnTo>
                  <a:close/>
                  <a:moveTo>
                    <a:pt x="442" y="478"/>
                  </a:moveTo>
                  <a:lnTo>
                    <a:pt x="526" y="532"/>
                  </a:lnTo>
                  <a:lnTo>
                    <a:pt x="410" y="597"/>
                  </a:lnTo>
                  <a:lnTo>
                    <a:pt x="442" y="478"/>
                  </a:lnTo>
                  <a:close/>
                  <a:moveTo>
                    <a:pt x="467" y="387"/>
                  </a:moveTo>
                  <a:lnTo>
                    <a:pt x="494" y="287"/>
                  </a:lnTo>
                  <a:lnTo>
                    <a:pt x="533" y="429"/>
                  </a:lnTo>
                  <a:lnTo>
                    <a:pt x="467" y="387"/>
                  </a:lnTo>
                  <a:close/>
                  <a:moveTo>
                    <a:pt x="582" y="604"/>
                  </a:moveTo>
                  <a:lnTo>
                    <a:pt x="622" y="753"/>
                  </a:lnTo>
                  <a:lnTo>
                    <a:pt x="450" y="678"/>
                  </a:lnTo>
                  <a:lnTo>
                    <a:pt x="582" y="604"/>
                  </a:lnTo>
                  <a:close/>
                  <a:moveTo>
                    <a:pt x="369" y="743"/>
                  </a:moveTo>
                  <a:lnTo>
                    <a:pt x="573" y="830"/>
                  </a:lnTo>
                  <a:lnTo>
                    <a:pt x="324" y="910"/>
                  </a:lnTo>
                  <a:lnTo>
                    <a:pt x="369" y="743"/>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grpSp>
      <p:sp>
        <p:nvSpPr>
          <p:cNvPr id="88" name="Freeform 75">
            <a:extLst>
              <a:ext uri="{FF2B5EF4-FFF2-40B4-BE49-F238E27FC236}">
                <a16:creationId xmlns="" xmlns:a16="http://schemas.microsoft.com/office/drawing/2014/main" id="{8A1A7F03-BFC2-4C2C-8100-4ED67FCD1FAB}"/>
              </a:ext>
            </a:extLst>
          </p:cNvPr>
          <p:cNvSpPr>
            <a:spLocks/>
          </p:cNvSpPr>
          <p:nvPr/>
        </p:nvSpPr>
        <p:spPr bwMode="gray">
          <a:xfrm>
            <a:off x="5105220" y="5129241"/>
            <a:ext cx="225478" cy="120044"/>
          </a:xfrm>
          <a:custGeom>
            <a:avLst/>
            <a:gdLst>
              <a:gd name="T0" fmla="*/ 2147483646 w 1443"/>
              <a:gd name="T1" fmla="*/ 2147483646 h 1005"/>
              <a:gd name="T2" fmla="*/ 2147483646 w 1443"/>
              <a:gd name="T3" fmla="*/ 2147483646 h 1005"/>
              <a:gd name="T4" fmla="*/ 2147483646 w 1443"/>
              <a:gd name="T5" fmla="*/ 2147483646 h 1005"/>
              <a:gd name="T6" fmla="*/ 2147483646 w 1443"/>
              <a:gd name="T7" fmla="*/ 0 h 1005"/>
              <a:gd name="T8" fmla="*/ 2147483646 w 1443"/>
              <a:gd name="T9" fmla="*/ 0 h 1005"/>
              <a:gd name="T10" fmla="*/ 2147483646 w 1443"/>
              <a:gd name="T11" fmla="*/ 2147483646 h 1005"/>
              <a:gd name="T12" fmla="*/ 2147483646 w 1443"/>
              <a:gd name="T13" fmla="*/ 2147483646 h 1005"/>
              <a:gd name="T14" fmla="*/ 2147483646 w 1443"/>
              <a:gd name="T15" fmla="*/ 2147483646 h 1005"/>
              <a:gd name="T16" fmla="*/ 2147483646 w 1443"/>
              <a:gd name="T17" fmla="*/ 2147483646 h 1005"/>
              <a:gd name="T18" fmla="*/ 2147483646 w 1443"/>
              <a:gd name="T19" fmla="*/ 2147483646 h 1005"/>
              <a:gd name="T20" fmla="*/ 0 w 1443"/>
              <a:gd name="T21" fmla="*/ 2147483646 h 1005"/>
              <a:gd name="T22" fmla="*/ 2147483646 w 1443"/>
              <a:gd name="T23" fmla="*/ 2147483646 h 1005"/>
              <a:gd name="T24" fmla="*/ 2147483646 w 1443"/>
              <a:gd name="T25" fmla="*/ 2147483646 h 1005"/>
              <a:gd name="T26" fmla="*/ 2147483646 w 1443"/>
              <a:gd name="T27" fmla="*/ 2147483646 h 1005"/>
              <a:gd name="T28" fmla="*/ 2147483646 w 1443"/>
              <a:gd name="T29" fmla="*/ 2147483646 h 1005"/>
              <a:gd name="T30" fmla="*/ 2147483646 w 1443"/>
              <a:gd name="T31" fmla="*/ 2147483646 h 1005"/>
              <a:gd name="T32" fmla="*/ 2147483646 w 1443"/>
              <a:gd name="T33" fmla="*/ 2147483646 h 1005"/>
              <a:gd name="T34" fmla="*/ 2147483646 w 1443"/>
              <a:gd name="T35" fmla="*/ 2147483646 h 1005"/>
              <a:gd name="T36" fmla="*/ 2147483646 w 1443"/>
              <a:gd name="T37" fmla="*/ 2147483646 h 1005"/>
              <a:gd name="T38" fmla="*/ 2147483646 w 1443"/>
              <a:gd name="T39" fmla="*/ 2147483646 h 1005"/>
              <a:gd name="T40" fmla="*/ 2147483646 w 1443"/>
              <a:gd name="T41" fmla="*/ 2147483646 h 1005"/>
              <a:gd name="T42" fmla="*/ 2147483646 w 1443"/>
              <a:gd name="T43" fmla="*/ 2147483646 h 1005"/>
              <a:gd name="T44" fmla="*/ 2147483646 w 1443"/>
              <a:gd name="T45" fmla="*/ 2147483646 h 1005"/>
              <a:gd name="T46" fmla="*/ 2147483646 w 1443"/>
              <a:gd name="T47" fmla="*/ 2147483646 h 1005"/>
              <a:gd name="T48" fmla="*/ 2147483646 w 1443"/>
              <a:gd name="T49" fmla="*/ 2147483646 h 1005"/>
              <a:gd name="T50" fmla="*/ 2147483646 w 1443"/>
              <a:gd name="T51" fmla="*/ 2147483646 h 1005"/>
              <a:gd name="T52" fmla="*/ 2147483646 w 1443"/>
              <a:gd name="T53" fmla="*/ 2147483646 h 1005"/>
              <a:gd name="T54" fmla="*/ 2147483646 w 1443"/>
              <a:gd name="T55" fmla="*/ 2147483646 h 1005"/>
              <a:gd name="T56" fmla="*/ 2147483646 w 1443"/>
              <a:gd name="T57" fmla="*/ 2147483646 h 1005"/>
              <a:gd name="T58" fmla="*/ 2147483646 w 1443"/>
              <a:gd name="T59" fmla="*/ 2147483646 h 1005"/>
              <a:gd name="T60" fmla="*/ 2147483646 w 1443"/>
              <a:gd name="T61" fmla="*/ 2147483646 h 1005"/>
              <a:gd name="T62" fmla="*/ 2147483646 w 1443"/>
              <a:gd name="T63" fmla="*/ 2147483646 h 1005"/>
              <a:gd name="T64" fmla="*/ 2147483646 w 1443"/>
              <a:gd name="T65" fmla="*/ 2147483646 h 1005"/>
              <a:gd name="T66" fmla="*/ 2147483646 w 1443"/>
              <a:gd name="T67" fmla="*/ 2147483646 h 1005"/>
              <a:gd name="T68" fmla="*/ 2147483646 w 1443"/>
              <a:gd name="T69" fmla="*/ 2147483646 h 1005"/>
              <a:gd name="T70" fmla="*/ 2147483646 w 1443"/>
              <a:gd name="T71" fmla="*/ 2147483646 h 1005"/>
              <a:gd name="T72" fmla="*/ 2147483646 w 1443"/>
              <a:gd name="T73" fmla="*/ 2147483646 h 1005"/>
              <a:gd name="T74" fmla="*/ 2147483646 w 1443"/>
              <a:gd name="T75" fmla="*/ 2147483646 h 1005"/>
              <a:gd name="T76" fmla="*/ 2147483646 w 1443"/>
              <a:gd name="T77" fmla="*/ 2147483646 h 1005"/>
              <a:gd name="T78" fmla="*/ 2147483646 w 1443"/>
              <a:gd name="T79" fmla="*/ 2147483646 h 1005"/>
              <a:gd name="T80" fmla="*/ 2147483646 w 1443"/>
              <a:gd name="T81" fmla="*/ 2147483646 h 1005"/>
              <a:gd name="T82" fmla="*/ 2147483646 w 1443"/>
              <a:gd name="T83" fmla="*/ 2147483646 h 1005"/>
              <a:gd name="T84" fmla="*/ 2147483646 w 1443"/>
              <a:gd name="T85" fmla="*/ 2147483646 h 1005"/>
              <a:gd name="T86" fmla="*/ 2147483646 w 1443"/>
              <a:gd name="T87" fmla="*/ 2147483646 h 1005"/>
              <a:gd name="T88" fmla="*/ 2147483646 w 1443"/>
              <a:gd name="T89" fmla="*/ 2147483646 h 1005"/>
              <a:gd name="T90" fmla="*/ 2147483646 w 1443"/>
              <a:gd name="T91" fmla="*/ 2147483646 h 1005"/>
              <a:gd name="T92" fmla="*/ 2147483646 w 1443"/>
              <a:gd name="T93" fmla="*/ 2147483646 h 1005"/>
              <a:gd name="T94" fmla="*/ 2147483646 w 1443"/>
              <a:gd name="T95" fmla="*/ 2147483646 h 1005"/>
              <a:gd name="T96" fmla="*/ 2147483646 w 1443"/>
              <a:gd name="T97" fmla="*/ 2147483646 h 1005"/>
              <a:gd name="T98" fmla="*/ 2147483646 w 1443"/>
              <a:gd name="T99" fmla="*/ 2147483646 h 1005"/>
              <a:gd name="T100" fmla="*/ 2147483646 w 1443"/>
              <a:gd name="T101" fmla="*/ 2147483646 h 1005"/>
              <a:gd name="T102" fmla="*/ 2147483646 w 1443"/>
              <a:gd name="T103" fmla="*/ 2147483646 h 1005"/>
              <a:gd name="T104" fmla="*/ 2147483646 w 1443"/>
              <a:gd name="T105" fmla="*/ 2147483646 h 1005"/>
              <a:gd name="T106" fmla="*/ 2147483646 w 1443"/>
              <a:gd name="T107" fmla="*/ 2147483646 h 1005"/>
              <a:gd name="T108" fmla="*/ 2147483646 w 1443"/>
              <a:gd name="T109" fmla="*/ 2147483646 h 1005"/>
              <a:gd name="T110" fmla="*/ 2147483646 w 1443"/>
              <a:gd name="T111" fmla="*/ 2147483646 h 1005"/>
              <a:gd name="T112" fmla="*/ 2147483646 w 1443"/>
              <a:gd name="T113" fmla="*/ 2147483646 h 1005"/>
              <a:gd name="T114" fmla="*/ 2147483646 w 1443"/>
              <a:gd name="T115" fmla="*/ 2147483646 h 1005"/>
              <a:gd name="T116" fmla="*/ 2147483646 w 1443"/>
              <a:gd name="T117" fmla="*/ 2147483646 h 1005"/>
              <a:gd name="T118" fmla="*/ 2147483646 w 1443"/>
              <a:gd name="T119" fmla="*/ 2147483646 h 1005"/>
              <a:gd name="T120" fmla="*/ 2147483646 w 1443"/>
              <a:gd name="T121" fmla="*/ 2147483646 h 1005"/>
              <a:gd name="T122" fmla="*/ 2147483646 w 1443"/>
              <a:gd name="T123" fmla="*/ 2147483646 h 100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43" h="1005">
                <a:moveTo>
                  <a:pt x="1400" y="449"/>
                </a:moveTo>
                <a:lnTo>
                  <a:pt x="1208" y="315"/>
                </a:lnTo>
                <a:lnTo>
                  <a:pt x="986" y="162"/>
                </a:lnTo>
                <a:lnTo>
                  <a:pt x="778" y="17"/>
                </a:lnTo>
                <a:lnTo>
                  <a:pt x="765" y="8"/>
                </a:lnTo>
                <a:lnTo>
                  <a:pt x="751" y="3"/>
                </a:lnTo>
                <a:lnTo>
                  <a:pt x="736" y="0"/>
                </a:lnTo>
                <a:lnTo>
                  <a:pt x="721" y="0"/>
                </a:lnTo>
                <a:lnTo>
                  <a:pt x="707" y="0"/>
                </a:lnTo>
                <a:lnTo>
                  <a:pt x="692" y="3"/>
                </a:lnTo>
                <a:lnTo>
                  <a:pt x="679" y="8"/>
                </a:lnTo>
                <a:lnTo>
                  <a:pt x="665" y="17"/>
                </a:lnTo>
                <a:lnTo>
                  <a:pt x="43" y="449"/>
                </a:lnTo>
                <a:lnTo>
                  <a:pt x="39" y="452"/>
                </a:lnTo>
                <a:lnTo>
                  <a:pt x="26" y="465"/>
                </a:lnTo>
                <a:lnTo>
                  <a:pt x="14" y="481"/>
                </a:lnTo>
                <a:lnTo>
                  <a:pt x="5" y="497"/>
                </a:lnTo>
                <a:lnTo>
                  <a:pt x="0" y="514"/>
                </a:lnTo>
                <a:lnTo>
                  <a:pt x="0" y="533"/>
                </a:lnTo>
                <a:lnTo>
                  <a:pt x="2" y="551"/>
                </a:lnTo>
                <a:lnTo>
                  <a:pt x="9" y="570"/>
                </a:lnTo>
                <a:lnTo>
                  <a:pt x="17" y="587"/>
                </a:lnTo>
                <a:lnTo>
                  <a:pt x="24" y="595"/>
                </a:lnTo>
                <a:lnTo>
                  <a:pt x="31" y="602"/>
                </a:lnTo>
                <a:lnTo>
                  <a:pt x="46" y="614"/>
                </a:lnTo>
                <a:lnTo>
                  <a:pt x="63" y="622"/>
                </a:lnTo>
                <a:lnTo>
                  <a:pt x="81" y="627"/>
                </a:lnTo>
                <a:lnTo>
                  <a:pt x="100" y="629"/>
                </a:lnTo>
                <a:lnTo>
                  <a:pt x="118" y="627"/>
                </a:lnTo>
                <a:lnTo>
                  <a:pt x="137" y="621"/>
                </a:lnTo>
                <a:lnTo>
                  <a:pt x="147" y="617"/>
                </a:lnTo>
                <a:lnTo>
                  <a:pt x="156" y="610"/>
                </a:lnTo>
                <a:lnTo>
                  <a:pt x="161" y="607"/>
                </a:lnTo>
                <a:lnTo>
                  <a:pt x="157" y="963"/>
                </a:lnTo>
                <a:lnTo>
                  <a:pt x="159" y="972"/>
                </a:lnTo>
                <a:lnTo>
                  <a:pt x="161" y="980"/>
                </a:lnTo>
                <a:lnTo>
                  <a:pt x="164" y="987"/>
                </a:lnTo>
                <a:lnTo>
                  <a:pt x="169" y="993"/>
                </a:lnTo>
                <a:lnTo>
                  <a:pt x="176" y="999"/>
                </a:lnTo>
                <a:lnTo>
                  <a:pt x="183" y="1002"/>
                </a:lnTo>
                <a:lnTo>
                  <a:pt x="191" y="1005"/>
                </a:lnTo>
                <a:lnTo>
                  <a:pt x="199" y="1005"/>
                </a:lnTo>
                <a:lnTo>
                  <a:pt x="560" y="1005"/>
                </a:lnTo>
                <a:lnTo>
                  <a:pt x="562" y="744"/>
                </a:lnTo>
                <a:lnTo>
                  <a:pt x="562" y="734"/>
                </a:lnTo>
                <a:lnTo>
                  <a:pt x="566" y="722"/>
                </a:lnTo>
                <a:lnTo>
                  <a:pt x="569" y="712"/>
                </a:lnTo>
                <a:lnTo>
                  <a:pt x="574" y="700"/>
                </a:lnTo>
                <a:lnTo>
                  <a:pt x="581" y="691"/>
                </a:lnTo>
                <a:lnTo>
                  <a:pt x="589" y="681"/>
                </a:lnTo>
                <a:lnTo>
                  <a:pt x="598" y="673"/>
                </a:lnTo>
                <a:lnTo>
                  <a:pt x="608" y="664"/>
                </a:lnTo>
                <a:lnTo>
                  <a:pt x="619" y="658"/>
                </a:lnTo>
                <a:lnTo>
                  <a:pt x="631" y="651"/>
                </a:lnTo>
                <a:lnTo>
                  <a:pt x="645" y="646"/>
                </a:lnTo>
                <a:lnTo>
                  <a:pt x="658" y="641"/>
                </a:lnTo>
                <a:lnTo>
                  <a:pt x="673" y="637"/>
                </a:lnTo>
                <a:lnTo>
                  <a:pt x="689" y="636"/>
                </a:lnTo>
                <a:lnTo>
                  <a:pt x="704" y="634"/>
                </a:lnTo>
                <a:lnTo>
                  <a:pt x="721" y="632"/>
                </a:lnTo>
                <a:lnTo>
                  <a:pt x="736" y="634"/>
                </a:lnTo>
                <a:lnTo>
                  <a:pt x="753" y="636"/>
                </a:lnTo>
                <a:lnTo>
                  <a:pt x="768" y="639"/>
                </a:lnTo>
                <a:lnTo>
                  <a:pt x="781" y="643"/>
                </a:lnTo>
                <a:lnTo>
                  <a:pt x="795" y="648"/>
                </a:lnTo>
                <a:lnTo>
                  <a:pt x="808" y="653"/>
                </a:lnTo>
                <a:lnTo>
                  <a:pt x="820" y="659"/>
                </a:lnTo>
                <a:lnTo>
                  <a:pt x="832" y="666"/>
                </a:lnTo>
                <a:lnTo>
                  <a:pt x="842" y="675"/>
                </a:lnTo>
                <a:lnTo>
                  <a:pt x="851" y="683"/>
                </a:lnTo>
                <a:lnTo>
                  <a:pt x="859" y="693"/>
                </a:lnTo>
                <a:lnTo>
                  <a:pt x="866" y="703"/>
                </a:lnTo>
                <a:lnTo>
                  <a:pt x="871" y="713"/>
                </a:lnTo>
                <a:lnTo>
                  <a:pt x="874" y="724"/>
                </a:lnTo>
                <a:lnTo>
                  <a:pt x="876" y="735"/>
                </a:lnTo>
                <a:lnTo>
                  <a:pt x="878" y="747"/>
                </a:lnTo>
                <a:lnTo>
                  <a:pt x="876" y="1005"/>
                </a:lnTo>
                <a:lnTo>
                  <a:pt x="1222" y="1005"/>
                </a:lnTo>
                <a:lnTo>
                  <a:pt x="1230" y="1005"/>
                </a:lnTo>
                <a:lnTo>
                  <a:pt x="1239" y="1002"/>
                </a:lnTo>
                <a:lnTo>
                  <a:pt x="1245" y="999"/>
                </a:lnTo>
                <a:lnTo>
                  <a:pt x="1252" y="993"/>
                </a:lnTo>
                <a:lnTo>
                  <a:pt x="1257" y="987"/>
                </a:lnTo>
                <a:lnTo>
                  <a:pt x="1260" y="980"/>
                </a:lnTo>
                <a:lnTo>
                  <a:pt x="1264" y="972"/>
                </a:lnTo>
                <a:lnTo>
                  <a:pt x="1264" y="963"/>
                </a:lnTo>
                <a:lnTo>
                  <a:pt x="1267" y="597"/>
                </a:lnTo>
                <a:lnTo>
                  <a:pt x="1287" y="610"/>
                </a:lnTo>
                <a:lnTo>
                  <a:pt x="1301" y="619"/>
                </a:lnTo>
                <a:lnTo>
                  <a:pt x="1314" y="624"/>
                </a:lnTo>
                <a:lnTo>
                  <a:pt x="1330" y="627"/>
                </a:lnTo>
                <a:lnTo>
                  <a:pt x="1343" y="629"/>
                </a:lnTo>
                <a:lnTo>
                  <a:pt x="1355" y="627"/>
                </a:lnTo>
                <a:lnTo>
                  <a:pt x="1367" y="626"/>
                </a:lnTo>
                <a:lnTo>
                  <a:pt x="1379" y="622"/>
                </a:lnTo>
                <a:lnTo>
                  <a:pt x="1389" y="617"/>
                </a:lnTo>
                <a:lnTo>
                  <a:pt x="1399" y="612"/>
                </a:lnTo>
                <a:lnTo>
                  <a:pt x="1409" y="605"/>
                </a:lnTo>
                <a:lnTo>
                  <a:pt x="1417" y="597"/>
                </a:lnTo>
                <a:lnTo>
                  <a:pt x="1424" y="587"/>
                </a:lnTo>
                <a:lnTo>
                  <a:pt x="1431" y="578"/>
                </a:lnTo>
                <a:lnTo>
                  <a:pt x="1434" y="568"/>
                </a:lnTo>
                <a:lnTo>
                  <a:pt x="1441" y="551"/>
                </a:lnTo>
                <a:lnTo>
                  <a:pt x="1443" y="536"/>
                </a:lnTo>
                <a:lnTo>
                  <a:pt x="1443" y="523"/>
                </a:lnTo>
                <a:lnTo>
                  <a:pt x="1439" y="508"/>
                </a:lnTo>
                <a:lnTo>
                  <a:pt x="1436" y="494"/>
                </a:lnTo>
                <a:lnTo>
                  <a:pt x="1429" y="482"/>
                </a:lnTo>
                <a:lnTo>
                  <a:pt x="1422" y="469"/>
                </a:lnTo>
                <a:lnTo>
                  <a:pt x="1412" y="459"/>
                </a:lnTo>
                <a:lnTo>
                  <a:pt x="1400" y="449"/>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grpSp>
        <p:nvGrpSpPr>
          <p:cNvPr id="89" name="组合 245">
            <a:extLst>
              <a:ext uri="{FF2B5EF4-FFF2-40B4-BE49-F238E27FC236}">
                <a16:creationId xmlns="" xmlns:a16="http://schemas.microsoft.com/office/drawing/2014/main" id="{A240CA93-0C11-4FCA-8334-05583D6E00A1}"/>
              </a:ext>
            </a:extLst>
          </p:cNvPr>
          <p:cNvGrpSpPr/>
          <p:nvPr/>
        </p:nvGrpSpPr>
        <p:grpSpPr bwMode="gray">
          <a:xfrm>
            <a:off x="5232299" y="5266095"/>
            <a:ext cx="207468" cy="148528"/>
            <a:chOff x="15730538" y="3268663"/>
            <a:chExt cx="765175" cy="1123950"/>
          </a:xfrm>
          <a:solidFill>
            <a:srgbClr val="1D1D1A">
              <a:lumMod val="50000"/>
              <a:lumOff val="50000"/>
            </a:srgbClr>
          </a:solidFill>
        </p:grpSpPr>
        <p:sp>
          <p:nvSpPr>
            <p:cNvPr id="93" name="Freeform 57">
              <a:extLst>
                <a:ext uri="{FF2B5EF4-FFF2-40B4-BE49-F238E27FC236}">
                  <a16:creationId xmlns="" xmlns:a16="http://schemas.microsoft.com/office/drawing/2014/main" id="{AD7EEF21-215F-4824-BBFA-F29EF06C2349}"/>
                </a:ext>
              </a:extLst>
            </p:cNvPr>
            <p:cNvSpPr>
              <a:spLocks/>
            </p:cNvSpPr>
            <p:nvPr/>
          </p:nvSpPr>
          <p:spPr bwMode="gray">
            <a:xfrm>
              <a:off x="15786100" y="3268663"/>
              <a:ext cx="252413" cy="261938"/>
            </a:xfrm>
            <a:custGeom>
              <a:avLst/>
              <a:gdLst/>
              <a:ahLst/>
              <a:cxnLst>
                <a:cxn ang="0">
                  <a:pos x="74" y="105"/>
                </a:cxn>
                <a:cxn ang="0">
                  <a:pos x="42" y="152"/>
                </a:cxn>
                <a:cxn ang="0">
                  <a:pos x="19" y="202"/>
                </a:cxn>
                <a:cxn ang="0">
                  <a:pos x="4" y="256"/>
                </a:cxn>
                <a:cxn ang="0">
                  <a:pos x="0" y="312"/>
                </a:cxn>
                <a:cxn ang="0">
                  <a:pos x="2" y="319"/>
                </a:cxn>
                <a:cxn ang="0">
                  <a:pos x="10" y="327"/>
                </a:cxn>
                <a:cxn ang="0">
                  <a:pos x="57" y="327"/>
                </a:cxn>
                <a:cxn ang="0">
                  <a:pos x="64" y="326"/>
                </a:cxn>
                <a:cxn ang="0">
                  <a:pos x="69" y="322"/>
                </a:cxn>
                <a:cxn ang="0">
                  <a:pos x="73" y="312"/>
                </a:cxn>
                <a:cxn ang="0">
                  <a:pos x="74" y="290"/>
                </a:cxn>
                <a:cxn ang="0">
                  <a:pos x="81" y="248"/>
                </a:cxn>
                <a:cxn ang="0">
                  <a:pos x="95" y="208"/>
                </a:cxn>
                <a:cxn ang="0">
                  <a:pos x="117" y="170"/>
                </a:cxn>
                <a:cxn ang="0">
                  <a:pos x="130" y="154"/>
                </a:cxn>
                <a:cxn ang="0">
                  <a:pos x="140" y="143"/>
                </a:cxn>
                <a:cxn ang="0">
                  <a:pos x="174" y="113"/>
                </a:cxn>
                <a:cxn ang="0">
                  <a:pos x="214" y="91"/>
                </a:cxn>
                <a:cxn ang="0">
                  <a:pos x="258" y="78"/>
                </a:cxn>
                <a:cxn ang="0">
                  <a:pos x="304" y="73"/>
                </a:cxn>
                <a:cxn ang="0">
                  <a:pos x="311" y="73"/>
                </a:cxn>
                <a:cxn ang="0">
                  <a:pos x="316" y="68"/>
                </a:cxn>
                <a:cxn ang="0">
                  <a:pos x="319" y="57"/>
                </a:cxn>
                <a:cxn ang="0">
                  <a:pos x="319" y="17"/>
                </a:cxn>
                <a:cxn ang="0">
                  <a:pos x="314" y="5"/>
                </a:cxn>
                <a:cxn ang="0">
                  <a:pos x="309" y="2"/>
                </a:cxn>
                <a:cxn ang="0">
                  <a:pos x="304" y="0"/>
                </a:cxn>
                <a:cxn ang="0">
                  <a:pos x="243" y="7"/>
                </a:cxn>
                <a:cxn ang="0">
                  <a:pos x="186" y="25"/>
                </a:cxn>
                <a:cxn ang="0">
                  <a:pos x="133" y="54"/>
                </a:cxn>
                <a:cxn ang="0">
                  <a:pos x="88" y="91"/>
                </a:cxn>
                <a:cxn ang="0">
                  <a:pos x="74" y="105"/>
                </a:cxn>
              </a:cxnLst>
              <a:rect l="0" t="0" r="r" b="b"/>
              <a:pathLst>
                <a:path w="319" h="329">
                  <a:moveTo>
                    <a:pt x="74" y="105"/>
                  </a:moveTo>
                  <a:lnTo>
                    <a:pt x="74" y="105"/>
                  </a:lnTo>
                  <a:lnTo>
                    <a:pt x="57" y="128"/>
                  </a:lnTo>
                  <a:lnTo>
                    <a:pt x="42" y="152"/>
                  </a:lnTo>
                  <a:lnTo>
                    <a:pt x="29" y="175"/>
                  </a:lnTo>
                  <a:lnTo>
                    <a:pt x="19" y="202"/>
                  </a:lnTo>
                  <a:lnTo>
                    <a:pt x="10" y="229"/>
                  </a:lnTo>
                  <a:lnTo>
                    <a:pt x="4" y="256"/>
                  </a:lnTo>
                  <a:lnTo>
                    <a:pt x="2" y="285"/>
                  </a:lnTo>
                  <a:lnTo>
                    <a:pt x="0" y="312"/>
                  </a:lnTo>
                  <a:lnTo>
                    <a:pt x="0" y="312"/>
                  </a:lnTo>
                  <a:lnTo>
                    <a:pt x="2" y="319"/>
                  </a:lnTo>
                  <a:lnTo>
                    <a:pt x="5" y="324"/>
                  </a:lnTo>
                  <a:lnTo>
                    <a:pt x="10" y="327"/>
                  </a:lnTo>
                  <a:lnTo>
                    <a:pt x="17" y="329"/>
                  </a:lnTo>
                  <a:lnTo>
                    <a:pt x="57" y="327"/>
                  </a:lnTo>
                  <a:lnTo>
                    <a:pt x="57" y="327"/>
                  </a:lnTo>
                  <a:lnTo>
                    <a:pt x="64" y="326"/>
                  </a:lnTo>
                  <a:lnTo>
                    <a:pt x="69" y="322"/>
                  </a:lnTo>
                  <a:lnTo>
                    <a:pt x="69" y="322"/>
                  </a:lnTo>
                  <a:lnTo>
                    <a:pt x="73" y="317"/>
                  </a:lnTo>
                  <a:lnTo>
                    <a:pt x="73" y="312"/>
                  </a:lnTo>
                  <a:lnTo>
                    <a:pt x="73" y="312"/>
                  </a:lnTo>
                  <a:lnTo>
                    <a:pt x="74" y="290"/>
                  </a:lnTo>
                  <a:lnTo>
                    <a:pt x="76" y="268"/>
                  </a:lnTo>
                  <a:lnTo>
                    <a:pt x="81" y="248"/>
                  </a:lnTo>
                  <a:lnTo>
                    <a:pt x="86" y="226"/>
                  </a:lnTo>
                  <a:lnTo>
                    <a:pt x="95" y="208"/>
                  </a:lnTo>
                  <a:lnTo>
                    <a:pt x="105" y="189"/>
                  </a:lnTo>
                  <a:lnTo>
                    <a:pt x="117" y="170"/>
                  </a:lnTo>
                  <a:lnTo>
                    <a:pt x="130" y="154"/>
                  </a:lnTo>
                  <a:lnTo>
                    <a:pt x="130" y="154"/>
                  </a:lnTo>
                  <a:lnTo>
                    <a:pt x="140" y="143"/>
                  </a:lnTo>
                  <a:lnTo>
                    <a:pt x="140" y="143"/>
                  </a:lnTo>
                  <a:lnTo>
                    <a:pt x="157" y="127"/>
                  </a:lnTo>
                  <a:lnTo>
                    <a:pt x="174" y="113"/>
                  </a:lnTo>
                  <a:lnTo>
                    <a:pt x="194" y="101"/>
                  </a:lnTo>
                  <a:lnTo>
                    <a:pt x="214" y="91"/>
                  </a:lnTo>
                  <a:lnTo>
                    <a:pt x="236" y="84"/>
                  </a:lnTo>
                  <a:lnTo>
                    <a:pt x="258" y="78"/>
                  </a:lnTo>
                  <a:lnTo>
                    <a:pt x="280" y="74"/>
                  </a:lnTo>
                  <a:lnTo>
                    <a:pt x="304" y="73"/>
                  </a:lnTo>
                  <a:lnTo>
                    <a:pt x="304" y="73"/>
                  </a:lnTo>
                  <a:lnTo>
                    <a:pt x="311" y="73"/>
                  </a:lnTo>
                  <a:lnTo>
                    <a:pt x="316" y="68"/>
                  </a:lnTo>
                  <a:lnTo>
                    <a:pt x="316" y="68"/>
                  </a:lnTo>
                  <a:lnTo>
                    <a:pt x="317" y="62"/>
                  </a:lnTo>
                  <a:lnTo>
                    <a:pt x="319" y="57"/>
                  </a:lnTo>
                  <a:lnTo>
                    <a:pt x="319" y="17"/>
                  </a:lnTo>
                  <a:lnTo>
                    <a:pt x="319" y="17"/>
                  </a:lnTo>
                  <a:lnTo>
                    <a:pt x="317" y="10"/>
                  </a:lnTo>
                  <a:lnTo>
                    <a:pt x="314" y="5"/>
                  </a:lnTo>
                  <a:lnTo>
                    <a:pt x="314" y="5"/>
                  </a:lnTo>
                  <a:lnTo>
                    <a:pt x="309" y="2"/>
                  </a:lnTo>
                  <a:lnTo>
                    <a:pt x="304" y="0"/>
                  </a:lnTo>
                  <a:lnTo>
                    <a:pt x="304" y="0"/>
                  </a:lnTo>
                  <a:lnTo>
                    <a:pt x="273" y="2"/>
                  </a:lnTo>
                  <a:lnTo>
                    <a:pt x="243" y="7"/>
                  </a:lnTo>
                  <a:lnTo>
                    <a:pt x="214" y="15"/>
                  </a:lnTo>
                  <a:lnTo>
                    <a:pt x="186" y="25"/>
                  </a:lnTo>
                  <a:lnTo>
                    <a:pt x="159" y="37"/>
                  </a:lnTo>
                  <a:lnTo>
                    <a:pt x="133" y="54"/>
                  </a:lnTo>
                  <a:lnTo>
                    <a:pt x="110" y="71"/>
                  </a:lnTo>
                  <a:lnTo>
                    <a:pt x="88" y="91"/>
                  </a:lnTo>
                  <a:lnTo>
                    <a:pt x="88" y="91"/>
                  </a:lnTo>
                  <a:lnTo>
                    <a:pt x="74" y="105"/>
                  </a:lnTo>
                  <a:lnTo>
                    <a:pt x="74" y="105"/>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94" name="Freeform 58">
              <a:extLst>
                <a:ext uri="{FF2B5EF4-FFF2-40B4-BE49-F238E27FC236}">
                  <a16:creationId xmlns="" xmlns:a16="http://schemas.microsoft.com/office/drawing/2014/main" id="{8F9FFFD6-BCCB-40EF-A08A-2134393E4F4A}"/>
                </a:ext>
              </a:extLst>
            </p:cNvPr>
            <p:cNvSpPr>
              <a:spLocks/>
            </p:cNvSpPr>
            <p:nvPr/>
          </p:nvSpPr>
          <p:spPr bwMode="gray">
            <a:xfrm>
              <a:off x="15886113" y="3368675"/>
              <a:ext cx="144463" cy="150813"/>
            </a:xfrm>
            <a:custGeom>
              <a:avLst/>
              <a:gdLst/>
              <a:ahLst/>
              <a:cxnLst>
                <a:cxn ang="0">
                  <a:pos x="47" y="50"/>
                </a:cxn>
                <a:cxn ang="0">
                  <a:pos x="47" y="50"/>
                </a:cxn>
                <a:cxn ang="0">
                  <a:pos x="40" y="57"/>
                </a:cxn>
                <a:cxn ang="0">
                  <a:pos x="40" y="57"/>
                </a:cxn>
                <a:cxn ang="0">
                  <a:pos x="30" y="69"/>
                </a:cxn>
                <a:cxn ang="0">
                  <a:pos x="22" y="82"/>
                </a:cxn>
                <a:cxn ang="0">
                  <a:pos x="15" y="96"/>
                </a:cxn>
                <a:cxn ang="0">
                  <a:pos x="8" y="111"/>
                </a:cxn>
                <a:cxn ang="0">
                  <a:pos x="5" y="126"/>
                </a:cxn>
                <a:cxn ang="0">
                  <a:pos x="1" y="141"/>
                </a:cxn>
                <a:cxn ang="0">
                  <a:pos x="0" y="156"/>
                </a:cxn>
                <a:cxn ang="0">
                  <a:pos x="0" y="173"/>
                </a:cxn>
                <a:cxn ang="0">
                  <a:pos x="0" y="173"/>
                </a:cxn>
                <a:cxn ang="0">
                  <a:pos x="0" y="178"/>
                </a:cxn>
                <a:cxn ang="0">
                  <a:pos x="3" y="183"/>
                </a:cxn>
                <a:cxn ang="0">
                  <a:pos x="8" y="187"/>
                </a:cxn>
                <a:cxn ang="0">
                  <a:pos x="15" y="189"/>
                </a:cxn>
                <a:cxn ang="0">
                  <a:pos x="57" y="187"/>
                </a:cxn>
                <a:cxn ang="0">
                  <a:pos x="57" y="187"/>
                </a:cxn>
                <a:cxn ang="0">
                  <a:pos x="62" y="185"/>
                </a:cxn>
                <a:cxn ang="0">
                  <a:pos x="67" y="182"/>
                </a:cxn>
                <a:cxn ang="0">
                  <a:pos x="67" y="182"/>
                </a:cxn>
                <a:cxn ang="0">
                  <a:pos x="71" y="177"/>
                </a:cxn>
                <a:cxn ang="0">
                  <a:pos x="72" y="170"/>
                </a:cxn>
                <a:cxn ang="0">
                  <a:pos x="72" y="170"/>
                </a:cxn>
                <a:cxn ang="0">
                  <a:pos x="72" y="153"/>
                </a:cxn>
                <a:cxn ang="0">
                  <a:pos x="77" y="136"/>
                </a:cxn>
                <a:cxn ang="0">
                  <a:pos x="86" y="119"/>
                </a:cxn>
                <a:cxn ang="0">
                  <a:pos x="96" y="104"/>
                </a:cxn>
                <a:cxn ang="0">
                  <a:pos x="96" y="104"/>
                </a:cxn>
                <a:cxn ang="0">
                  <a:pos x="99" y="101"/>
                </a:cxn>
                <a:cxn ang="0">
                  <a:pos x="99" y="101"/>
                </a:cxn>
                <a:cxn ang="0">
                  <a:pos x="113" y="89"/>
                </a:cxn>
                <a:cxn ang="0">
                  <a:pos x="130" y="81"/>
                </a:cxn>
                <a:cxn ang="0">
                  <a:pos x="146" y="74"/>
                </a:cxn>
                <a:cxn ang="0">
                  <a:pos x="165" y="72"/>
                </a:cxn>
                <a:cxn ang="0">
                  <a:pos x="165" y="72"/>
                </a:cxn>
                <a:cxn ang="0">
                  <a:pos x="172" y="70"/>
                </a:cxn>
                <a:cxn ang="0">
                  <a:pos x="177" y="67"/>
                </a:cxn>
                <a:cxn ang="0">
                  <a:pos x="177" y="67"/>
                </a:cxn>
                <a:cxn ang="0">
                  <a:pos x="180" y="62"/>
                </a:cxn>
                <a:cxn ang="0">
                  <a:pos x="182" y="55"/>
                </a:cxn>
                <a:cxn ang="0">
                  <a:pos x="182" y="15"/>
                </a:cxn>
                <a:cxn ang="0">
                  <a:pos x="182" y="15"/>
                </a:cxn>
                <a:cxn ang="0">
                  <a:pos x="180" y="8"/>
                </a:cxn>
                <a:cxn ang="0">
                  <a:pos x="177" y="3"/>
                </a:cxn>
                <a:cxn ang="0">
                  <a:pos x="177" y="3"/>
                </a:cxn>
                <a:cxn ang="0">
                  <a:pos x="172" y="0"/>
                </a:cxn>
                <a:cxn ang="0">
                  <a:pos x="165" y="0"/>
                </a:cxn>
                <a:cxn ang="0">
                  <a:pos x="165" y="0"/>
                </a:cxn>
                <a:cxn ang="0">
                  <a:pos x="148" y="0"/>
                </a:cxn>
                <a:cxn ang="0">
                  <a:pos x="133" y="3"/>
                </a:cxn>
                <a:cxn ang="0">
                  <a:pos x="116" y="6"/>
                </a:cxn>
                <a:cxn ang="0">
                  <a:pos x="101" y="13"/>
                </a:cxn>
                <a:cxn ang="0">
                  <a:pos x="87" y="20"/>
                </a:cxn>
                <a:cxn ang="0">
                  <a:pos x="72" y="28"/>
                </a:cxn>
                <a:cxn ang="0">
                  <a:pos x="59" y="38"/>
                </a:cxn>
                <a:cxn ang="0">
                  <a:pos x="47" y="50"/>
                </a:cxn>
                <a:cxn ang="0">
                  <a:pos x="47" y="50"/>
                </a:cxn>
              </a:cxnLst>
              <a:rect l="0" t="0" r="r" b="b"/>
              <a:pathLst>
                <a:path w="182" h="189">
                  <a:moveTo>
                    <a:pt x="47" y="50"/>
                  </a:moveTo>
                  <a:lnTo>
                    <a:pt x="47" y="50"/>
                  </a:lnTo>
                  <a:lnTo>
                    <a:pt x="40" y="57"/>
                  </a:lnTo>
                  <a:lnTo>
                    <a:pt x="40" y="57"/>
                  </a:lnTo>
                  <a:lnTo>
                    <a:pt x="30" y="69"/>
                  </a:lnTo>
                  <a:lnTo>
                    <a:pt x="22" y="82"/>
                  </a:lnTo>
                  <a:lnTo>
                    <a:pt x="15" y="96"/>
                  </a:lnTo>
                  <a:lnTo>
                    <a:pt x="8" y="111"/>
                  </a:lnTo>
                  <a:lnTo>
                    <a:pt x="5" y="126"/>
                  </a:lnTo>
                  <a:lnTo>
                    <a:pt x="1" y="141"/>
                  </a:lnTo>
                  <a:lnTo>
                    <a:pt x="0" y="156"/>
                  </a:lnTo>
                  <a:lnTo>
                    <a:pt x="0" y="173"/>
                  </a:lnTo>
                  <a:lnTo>
                    <a:pt x="0" y="173"/>
                  </a:lnTo>
                  <a:lnTo>
                    <a:pt x="0" y="178"/>
                  </a:lnTo>
                  <a:lnTo>
                    <a:pt x="3" y="183"/>
                  </a:lnTo>
                  <a:lnTo>
                    <a:pt x="8" y="187"/>
                  </a:lnTo>
                  <a:lnTo>
                    <a:pt x="15" y="189"/>
                  </a:lnTo>
                  <a:lnTo>
                    <a:pt x="57" y="187"/>
                  </a:lnTo>
                  <a:lnTo>
                    <a:pt x="57" y="187"/>
                  </a:lnTo>
                  <a:lnTo>
                    <a:pt x="62" y="185"/>
                  </a:lnTo>
                  <a:lnTo>
                    <a:pt x="67" y="182"/>
                  </a:lnTo>
                  <a:lnTo>
                    <a:pt x="67" y="182"/>
                  </a:lnTo>
                  <a:lnTo>
                    <a:pt x="71" y="177"/>
                  </a:lnTo>
                  <a:lnTo>
                    <a:pt x="72" y="170"/>
                  </a:lnTo>
                  <a:lnTo>
                    <a:pt x="72" y="170"/>
                  </a:lnTo>
                  <a:lnTo>
                    <a:pt x="72" y="153"/>
                  </a:lnTo>
                  <a:lnTo>
                    <a:pt x="77" y="136"/>
                  </a:lnTo>
                  <a:lnTo>
                    <a:pt x="86" y="119"/>
                  </a:lnTo>
                  <a:lnTo>
                    <a:pt x="96" y="104"/>
                  </a:lnTo>
                  <a:lnTo>
                    <a:pt x="96" y="104"/>
                  </a:lnTo>
                  <a:lnTo>
                    <a:pt x="99" y="101"/>
                  </a:lnTo>
                  <a:lnTo>
                    <a:pt x="99" y="101"/>
                  </a:lnTo>
                  <a:lnTo>
                    <a:pt x="113" y="89"/>
                  </a:lnTo>
                  <a:lnTo>
                    <a:pt x="130" y="81"/>
                  </a:lnTo>
                  <a:lnTo>
                    <a:pt x="146" y="74"/>
                  </a:lnTo>
                  <a:lnTo>
                    <a:pt x="165" y="72"/>
                  </a:lnTo>
                  <a:lnTo>
                    <a:pt x="165" y="72"/>
                  </a:lnTo>
                  <a:lnTo>
                    <a:pt x="172" y="70"/>
                  </a:lnTo>
                  <a:lnTo>
                    <a:pt x="177" y="67"/>
                  </a:lnTo>
                  <a:lnTo>
                    <a:pt x="177" y="67"/>
                  </a:lnTo>
                  <a:lnTo>
                    <a:pt x="180" y="62"/>
                  </a:lnTo>
                  <a:lnTo>
                    <a:pt x="182" y="55"/>
                  </a:lnTo>
                  <a:lnTo>
                    <a:pt x="182" y="15"/>
                  </a:lnTo>
                  <a:lnTo>
                    <a:pt x="182" y="15"/>
                  </a:lnTo>
                  <a:lnTo>
                    <a:pt x="180" y="8"/>
                  </a:lnTo>
                  <a:lnTo>
                    <a:pt x="177" y="3"/>
                  </a:lnTo>
                  <a:lnTo>
                    <a:pt x="177" y="3"/>
                  </a:lnTo>
                  <a:lnTo>
                    <a:pt x="172" y="0"/>
                  </a:lnTo>
                  <a:lnTo>
                    <a:pt x="165" y="0"/>
                  </a:lnTo>
                  <a:lnTo>
                    <a:pt x="165" y="0"/>
                  </a:lnTo>
                  <a:lnTo>
                    <a:pt x="148" y="0"/>
                  </a:lnTo>
                  <a:lnTo>
                    <a:pt x="133" y="3"/>
                  </a:lnTo>
                  <a:lnTo>
                    <a:pt x="116" y="6"/>
                  </a:lnTo>
                  <a:lnTo>
                    <a:pt x="101" y="13"/>
                  </a:lnTo>
                  <a:lnTo>
                    <a:pt x="87" y="20"/>
                  </a:lnTo>
                  <a:lnTo>
                    <a:pt x="72" y="28"/>
                  </a:lnTo>
                  <a:lnTo>
                    <a:pt x="59" y="38"/>
                  </a:lnTo>
                  <a:lnTo>
                    <a:pt x="47" y="50"/>
                  </a:lnTo>
                  <a:lnTo>
                    <a:pt x="47" y="50"/>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95" name="Freeform 59">
              <a:extLst>
                <a:ext uri="{FF2B5EF4-FFF2-40B4-BE49-F238E27FC236}">
                  <a16:creationId xmlns="" xmlns:a16="http://schemas.microsoft.com/office/drawing/2014/main" id="{3FE208BC-DC79-4664-A229-34FC55DFEC93}"/>
                </a:ext>
              </a:extLst>
            </p:cNvPr>
            <p:cNvSpPr>
              <a:spLocks/>
            </p:cNvSpPr>
            <p:nvPr/>
          </p:nvSpPr>
          <p:spPr bwMode="gray">
            <a:xfrm>
              <a:off x="16213138" y="3268663"/>
              <a:ext cx="252413" cy="261938"/>
            </a:xfrm>
            <a:custGeom>
              <a:avLst/>
              <a:gdLst/>
              <a:ahLst/>
              <a:cxnLst>
                <a:cxn ang="0">
                  <a:pos x="302" y="329"/>
                </a:cxn>
                <a:cxn ang="0">
                  <a:pos x="309" y="327"/>
                </a:cxn>
                <a:cxn ang="0">
                  <a:pos x="317" y="319"/>
                </a:cxn>
                <a:cxn ang="0">
                  <a:pos x="319" y="312"/>
                </a:cxn>
                <a:cxn ang="0">
                  <a:pos x="314" y="256"/>
                </a:cxn>
                <a:cxn ang="0">
                  <a:pos x="300" y="202"/>
                </a:cxn>
                <a:cxn ang="0">
                  <a:pos x="277" y="152"/>
                </a:cxn>
                <a:cxn ang="0">
                  <a:pos x="243" y="105"/>
                </a:cxn>
                <a:cxn ang="0">
                  <a:pos x="231" y="91"/>
                </a:cxn>
                <a:cxn ang="0">
                  <a:pos x="209" y="71"/>
                </a:cxn>
                <a:cxn ang="0">
                  <a:pos x="159" y="37"/>
                </a:cxn>
                <a:cxn ang="0">
                  <a:pos x="105" y="15"/>
                </a:cxn>
                <a:cxn ang="0">
                  <a:pos x="46" y="2"/>
                </a:cxn>
                <a:cxn ang="0">
                  <a:pos x="15" y="0"/>
                </a:cxn>
                <a:cxn ang="0">
                  <a:pos x="4" y="5"/>
                </a:cxn>
                <a:cxn ang="0">
                  <a:pos x="0" y="10"/>
                </a:cxn>
                <a:cxn ang="0">
                  <a:pos x="0" y="57"/>
                </a:cxn>
                <a:cxn ang="0">
                  <a:pos x="0" y="62"/>
                </a:cxn>
                <a:cxn ang="0">
                  <a:pos x="4" y="68"/>
                </a:cxn>
                <a:cxn ang="0">
                  <a:pos x="15" y="73"/>
                </a:cxn>
                <a:cxn ang="0">
                  <a:pos x="39" y="74"/>
                </a:cxn>
                <a:cxn ang="0">
                  <a:pos x="83" y="84"/>
                </a:cxn>
                <a:cxn ang="0">
                  <a:pos x="125" y="101"/>
                </a:cxn>
                <a:cxn ang="0">
                  <a:pos x="162" y="127"/>
                </a:cxn>
                <a:cxn ang="0">
                  <a:pos x="179" y="143"/>
                </a:cxn>
                <a:cxn ang="0">
                  <a:pos x="189" y="154"/>
                </a:cxn>
                <a:cxn ang="0">
                  <a:pos x="214" y="189"/>
                </a:cxn>
                <a:cxn ang="0">
                  <a:pos x="231" y="226"/>
                </a:cxn>
                <a:cxn ang="0">
                  <a:pos x="243" y="268"/>
                </a:cxn>
                <a:cxn ang="0">
                  <a:pos x="245" y="312"/>
                </a:cxn>
                <a:cxn ang="0">
                  <a:pos x="247" y="317"/>
                </a:cxn>
                <a:cxn ang="0">
                  <a:pos x="250" y="322"/>
                </a:cxn>
                <a:cxn ang="0">
                  <a:pos x="262" y="327"/>
                </a:cxn>
              </a:cxnLst>
              <a:rect l="0" t="0" r="r" b="b"/>
              <a:pathLst>
                <a:path w="319" h="329">
                  <a:moveTo>
                    <a:pt x="262" y="327"/>
                  </a:moveTo>
                  <a:lnTo>
                    <a:pt x="302" y="329"/>
                  </a:lnTo>
                  <a:lnTo>
                    <a:pt x="302" y="329"/>
                  </a:lnTo>
                  <a:lnTo>
                    <a:pt x="309" y="327"/>
                  </a:lnTo>
                  <a:lnTo>
                    <a:pt x="314" y="324"/>
                  </a:lnTo>
                  <a:lnTo>
                    <a:pt x="317" y="319"/>
                  </a:lnTo>
                  <a:lnTo>
                    <a:pt x="319" y="312"/>
                  </a:lnTo>
                  <a:lnTo>
                    <a:pt x="319" y="312"/>
                  </a:lnTo>
                  <a:lnTo>
                    <a:pt x="317" y="285"/>
                  </a:lnTo>
                  <a:lnTo>
                    <a:pt x="314" y="256"/>
                  </a:lnTo>
                  <a:lnTo>
                    <a:pt x="309" y="229"/>
                  </a:lnTo>
                  <a:lnTo>
                    <a:pt x="300" y="202"/>
                  </a:lnTo>
                  <a:lnTo>
                    <a:pt x="290" y="175"/>
                  </a:lnTo>
                  <a:lnTo>
                    <a:pt x="277" y="152"/>
                  </a:lnTo>
                  <a:lnTo>
                    <a:pt x="262" y="128"/>
                  </a:lnTo>
                  <a:lnTo>
                    <a:pt x="243" y="105"/>
                  </a:lnTo>
                  <a:lnTo>
                    <a:pt x="243" y="105"/>
                  </a:lnTo>
                  <a:lnTo>
                    <a:pt x="231" y="91"/>
                  </a:lnTo>
                  <a:lnTo>
                    <a:pt x="231" y="91"/>
                  </a:lnTo>
                  <a:lnTo>
                    <a:pt x="209" y="71"/>
                  </a:lnTo>
                  <a:lnTo>
                    <a:pt x="186" y="54"/>
                  </a:lnTo>
                  <a:lnTo>
                    <a:pt x="159" y="37"/>
                  </a:lnTo>
                  <a:lnTo>
                    <a:pt x="133" y="25"/>
                  </a:lnTo>
                  <a:lnTo>
                    <a:pt x="105" y="15"/>
                  </a:lnTo>
                  <a:lnTo>
                    <a:pt x="76" y="7"/>
                  </a:lnTo>
                  <a:lnTo>
                    <a:pt x="46" y="2"/>
                  </a:lnTo>
                  <a:lnTo>
                    <a:pt x="15" y="0"/>
                  </a:lnTo>
                  <a:lnTo>
                    <a:pt x="15" y="0"/>
                  </a:lnTo>
                  <a:lnTo>
                    <a:pt x="10" y="2"/>
                  </a:lnTo>
                  <a:lnTo>
                    <a:pt x="4" y="5"/>
                  </a:lnTo>
                  <a:lnTo>
                    <a:pt x="4" y="5"/>
                  </a:lnTo>
                  <a:lnTo>
                    <a:pt x="0" y="10"/>
                  </a:lnTo>
                  <a:lnTo>
                    <a:pt x="0" y="17"/>
                  </a:lnTo>
                  <a:lnTo>
                    <a:pt x="0" y="57"/>
                  </a:lnTo>
                  <a:lnTo>
                    <a:pt x="0" y="57"/>
                  </a:lnTo>
                  <a:lnTo>
                    <a:pt x="0" y="62"/>
                  </a:lnTo>
                  <a:lnTo>
                    <a:pt x="4" y="68"/>
                  </a:lnTo>
                  <a:lnTo>
                    <a:pt x="4" y="68"/>
                  </a:lnTo>
                  <a:lnTo>
                    <a:pt x="9" y="73"/>
                  </a:lnTo>
                  <a:lnTo>
                    <a:pt x="15" y="73"/>
                  </a:lnTo>
                  <a:lnTo>
                    <a:pt x="15" y="73"/>
                  </a:lnTo>
                  <a:lnTo>
                    <a:pt x="39" y="74"/>
                  </a:lnTo>
                  <a:lnTo>
                    <a:pt x="61" y="78"/>
                  </a:lnTo>
                  <a:lnTo>
                    <a:pt x="83" y="84"/>
                  </a:lnTo>
                  <a:lnTo>
                    <a:pt x="105" y="91"/>
                  </a:lnTo>
                  <a:lnTo>
                    <a:pt x="125" y="101"/>
                  </a:lnTo>
                  <a:lnTo>
                    <a:pt x="144" y="113"/>
                  </a:lnTo>
                  <a:lnTo>
                    <a:pt x="162" y="127"/>
                  </a:lnTo>
                  <a:lnTo>
                    <a:pt x="179" y="143"/>
                  </a:lnTo>
                  <a:lnTo>
                    <a:pt x="179" y="143"/>
                  </a:lnTo>
                  <a:lnTo>
                    <a:pt x="189" y="154"/>
                  </a:lnTo>
                  <a:lnTo>
                    <a:pt x="189" y="154"/>
                  </a:lnTo>
                  <a:lnTo>
                    <a:pt x="203" y="170"/>
                  </a:lnTo>
                  <a:lnTo>
                    <a:pt x="214" y="189"/>
                  </a:lnTo>
                  <a:lnTo>
                    <a:pt x="225" y="208"/>
                  </a:lnTo>
                  <a:lnTo>
                    <a:pt x="231" y="226"/>
                  </a:lnTo>
                  <a:lnTo>
                    <a:pt x="238" y="248"/>
                  </a:lnTo>
                  <a:lnTo>
                    <a:pt x="243" y="268"/>
                  </a:lnTo>
                  <a:lnTo>
                    <a:pt x="245" y="290"/>
                  </a:lnTo>
                  <a:lnTo>
                    <a:pt x="245" y="312"/>
                  </a:lnTo>
                  <a:lnTo>
                    <a:pt x="245" y="312"/>
                  </a:lnTo>
                  <a:lnTo>
                    <a:pt x="247" y="317"/>
                  </a:lnTo>
                  <a:lnTo>
                    <a:pt x="250" y="322"/>
                  </a:lnTo>
                  <a:lnTo>
                    <a:pt x="250" y="322"/>
                  </a:lnTo>
                  <a:lnTo>
                    <a:pt x="255" y="326"/>
                  </a:lnTo>
                  <a:lnTo>
                    <a:pt x="262" y="327"/>
                  </a:lnTo>
                  <a:lnTo>
                    <a:pt x="262" y="327"/>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96" name="Freeform 60">
              <a:extLst>
                <a:ext uri="{FF2B5EF4-FFF2-40B4-BE49-F238E27FC236}">
                  <a16:creationId xmlns="" xmlns:a16="http://schemas.microsoft.com/office/drawing/2014/main" id="{4EC11712-88FF-49F9-B3E3-0869B0976B11}"/>
                </a:ext>
              </a:extLst>
            </p:cNvPr>
            <p:cNvSpPr>
              <a:spLocks/>
            </p:cNvSpPr>
            <p:nvPr/>
          </p:nvSpPr>
          <p:spPr bwMode="gray">
            <a:xfrm>
              <a:off x="16221075" y="3368675"/>
              <a:ext cx="144463" cy="150813"/>
            </a:xfrm>
            <a:custGeom>
              <a:avLst/>
              <a:gdLst/>
              <a:ahLst/>
              <a:cxnLst>
                <a:cxn ang="0">
                  <a:pos x="135" y="50"/>
                </a:cxn>
                <a:cxn ang="0">
                  <a:pos x="135" y="50"/>
                </a:cxn>
                <a:cxn ang="0">
                  <a:pos x="122" y="38"/>
                </a:cxn>
                <a:cxn ang="0">
                  <a:pos x="110" y="28"/>
                </a:cxn>
                <a:cxn ang="0">
                  <a:pos x="95" y="20"/>
                </a:cxn>
                <a:cxn ang="0">
                  <a:pos x="81" y="13"/>
                </a:cxn>
                <a:cxn ang="0">
                  <a:pos x="64" y="6"/>
                </a:cxn>
                <a:cxn ang="0">
                  <a:pos x="49" y="3"/>
                </a:cxn>
                <a:cxn ang="0">
                  <a:pos x="32" y="0"/>
                </a:cxn>
                <a:cxn ang="0">
                  <a:pos x="16" y="0"/>
                </a:cxn>
                <a:cxn ang="0">
                  <a:pos x="16" y="0"/>
                </a:cxn>
                <a:cxn ang="0">
                  <a:pos x="10" y="0"/>
                </a:cxn>
                <a:cxn ang="0">
                  <a:pos x="5" y="3"/>
                </a:cxn>
                <a:cxn ang="0">
                  <a:pos x="5" y="3"/>
                </a:cxn>
                <a:cxn ang="0">
                  <a:pos x="2" y="8"/>
                </a:cxn>
                <a:cxn ang="0">
                  <a:pos x="0" y="15"/>
                </a:cxn>
                <a:cxn ang="0">
                  <a:pos x="0" y="55"/>
                </a:cxn>
                <a:cxn ang="0">
                  <a:pos x="0" y="55"/>
                </a:cxn>
                <a:cxn ang="0">
                  <a:pos x="2" y="62"/>
                </a:cxn>
                <a:cxn ang="0">
                  <a:pos x="5" y="67"/>
                </a:cxn>
                <a:cxn ang="0">
                  <a:pos x="5" y="67"/>
                </a:cxn>
                <a:cxn ang="0">
                  <a:pos x="10" y="70"/>
                </a:cxn>
                <a:cxn ang="0">
                  <a:pos x="16" y="72"/>
                </a:cxn>
                <a:cxn ang="0">
                  <a:pos x="16" y="72"/>
                </a:cxn>
                <a:cxn ang="0">
                  <a:pos x="34" y="74"/>
                </a:cxn>
                <a:cxn ang="0">
                  <a:pos x="53" y="81"/>
                </a:cxn>
                <a:cxn ang="0">
                  <a:pos x="68" y="89"/>
                </a:cxn>
                <a:cxn ang="0">
                  <a:pos x="83" y="101"/>
                </a:cxn>
                <a:cxn ang="0">
                  <a:pos x="83" y="101"/>
                </a:cxn>
                <a:cxn ang="0">
                  <a:pos x="86" y="104"/>
                </a:cxn>
                <a:cxn ang="0">
                  <a:pos x="86" y="104"/>
                </a:cxn>
                <a:cxn ang="0">
                  <a:pos x="97" y="119"/>
                </a:cxn>
                <a:cxn ang="0">
                  <a:pos x="105" y="136"/>
                </a:cxn>
                <a:cxn ang="0">
                  <a:pos x="108" y="153"/>
                </a:cxn>
                <a:cxn ang="0">
                  <a:pos x="110" y="170"/>
                </a:cxn>
                <a:cxn ang="0">
                  <a:pos x="110" y="170"/>
                </a:cxn>
                <a:cxn ang="0">
                  <a:pos x="112" y="177"/>
                </a:cxn>
                <a:cxn ang="0">
                  <a:pos x="113" y="182"/>
                </a:cxn>
                <a:cxn ang="0">
                  <a:pos x="113" y="182"/>
                </a:cxn>
                <a:cxn ang="0">
                  <a:pos x="118" y="185"/>
                </a:cxn>
                <a:cxn ang="0">
                  <a:pos x="125" y="187"/>
                </a:cxn>
                <a:cxn ang="0">
                  <a:pos x="167" y="189"/>
                </a:cxn>
                <a:cxn ang="0">
                  <a:pos x="167" y="189"/>
                </a:cxn>
                <a:cxn ang="0">
                  <a:pos x="172" y="187"/>
                </a:cxn>
                <a:cxn ang="0">
                  <a:pos x="177" y="183"/>
                </a:cxn>
                <a:cxn ang="0">
                  <a:pos x="181" y="178"/>
                </a:cxn>
                <a:cxn ang="0">
                  <a:pos x="183" y="173"/>
                </a:cxn>
                <a:cxn ang="0">
                  <a:pos x="183" y="173"/>
                </a:cxn>
                <a:cxn ang="0">
                  <a:pos x="183" y="156"/>
                </a:cxn>
                <a:cxn ang="0">
                  <a:pos x="181" y="141"/>
                </a:cxn>
                <a:cxn ang="0">
                  <a:pos x="177" y="126"/>
                </a:cxn>
                <a:cxn ang="0">
                  <a:pos x="172" y="111"/>
                </a:cxn>
                <a:cxn ang="0">
                  <a:pos x="167" y="96"/>
                </a:cxn>
                <a:cxn ang="0">
                  <a:pos x="161" y="82"/>
                </a:cxn>
                <a:cxn ang="0">
                  <a:pos x="152" y="69"/>
                </a:cxn>
                <a:cxn ang="0">
                  <a:pos x="142" y="57"/>
                </a:cxn>
                <a:cxn ang="0">
                  <a:pos x="142" y="57"/>
                </a:cxn>
                <a:cxn ang="0">
                  <a:pos x="135" y="50"/>
                </a:cxn>
                <a:cxn ang="0">
                  <a:pos x="135" y="50"/>
                </a:cxn>
              </a:cxnLst>
              <a:rect l="0" t="0" r="r" b="b"/>
              <a:pathLst>
                <a:path w="183" h="189">
                  <a:moveTo>
                    <a:pt x="135" y="50"/>
                  </a:moveTo>
                  <a:lnTo>
                    <a:pt x="135" y="50"/>
                  </a:lnTo>
                  <a:lnTo>
                    <a:pt x="122" y="38"/>
                  </a:lnTo>
                  <a:lnTo>
                    <a:pt x="110" y="28"/>
                  </a:lnTo>
                  <a:lnTo>
                    <a:pt x="95" y="20"/>
                  </a:lnTo>
                  <a:lnTo>
                    <a:pt x="81" y="13"/>
                  </a:lnTo>
                  <a:lnTo>
                    <a:pt x="64" y="6"/>
                  </a:lnTo>
                  <a:lnTo>
                    <a:pt x="49" y="3"/>
                  </a:lnTo>
                  <a:lnTo>
                    <a:pt x="32" y="0"/>
                  </a:lnTo>
                  <a:lnTo>
                    <a:pt x="16" y="0"/>
                  </a:lnTo>
                  <a:lnTo>
                    <a:pt x="16" y="0"/>
                  </a:lnTo>
                  <a:lnTo>
                    <a:pt x="10" y="0"/>
                  </a:lnTo>
                  <a:lnTo>
                    <a:pt x="5" y="3"/>
                  </a:lnTo>
                  <a:lnTo>
                    <a:pt x="5" y="3"/>
                  </a:lnTo>
                  <a:lnTo>
                    <a:pt x="2" y="8"/>
                  </a:lnTo>
                  <a:lnTo>
                    <a:pt x="0" y="15"/>
                  </a:lnTo>
                  <a:lnTo>
                    <a:pt x="0" y="55"/>
                  </a:lnTo>
                  <a:lnTo>
                    <a:pt x="0" y="55"/>
                  </a:lnTo>
                  <a:lnTo>
                    <a:pt x="2" y="62"/>
                  </a:lnTo>
                  <a:lnTo>
                    <a:pt x="5" y="67"/>
                  </a:lnTo>
                  <a:lnTo>
                    <a:pt x="5" y="67"/>
                  </a:lnTo>
                  <a:lnTo>
                    <a:pt x="10" y="70"/>
                  </a:lnTo>
                  <a:lnTo>
                    <a:pt x="16" y="72"/>
                  </a:lnTo>
                  <a:lnTo>
                    <a:pt x="16" y="72"/>
                  </a:lnTo>
                  <a:lnTo>
                    <a:pt x="34" y="74"/>
                  </a:lnTo>
                  <a:lnTo>
                    <a:pt x="53" y="81"/>
                  </a:lnTo>
                  <a:lnTo>
                    <a:pt x="68" y="89"/>
                  </a:lnTo>
                  <a:lnTo>
                    <a:pt x="83" y="101"/>
                  </a:lnTo>
                  <a:lnTo>
                    <a:pt x="83" y="101"/>
                  </a:lnTo>
                  <a:lnTo>
                    <a:pt x="86" y="104"/>
                  </a:lnTo>
                  <a:lnTo>
                    <a:pt x="86" y="104"/>
                  </a:lnTo>
                  <a:lnTo>
                    <a:pt x="97" y="119"/>
                  </a:lnTo>
                  <a:lnTo>
                    <a:pt x="105" y="136"/>
                  </a:lnTo>
                  <a:lnTo>
                    <a:pt x="108" y="153"/>
                  </a:lnTo>
                  <a:lnTo>
                    <a:pt x="110" y="170"/>
                  </a:lnTo>
                  <a:lnTo>
                    <a:pt x="110" y="170"/>
                  </a:lnTo>
                  <a:lnTo>
                    <a:pt x="112" y="177"/>
                  </a:lnTo>
                  <a:lnTo>
                    <a:pt x="113" y="182"/>
                  </a:lnTo>
                  <a:lnTo>
                    <a:pt x="113" y="182"/>
                  </a:lnTo>
                  <a:lnTo>
                    <a:pt x="118" y="185"/>
                  </a:lnTo>
                  <a:lnTo>
                    <a:pt x="125" y="187"/>
                  </a:lnTo>
                  <a:lnTo>
                    <a:pt x="167" y="189"/>
                  </a:lnTo>
                  <a:lnTo>
                    <a:pt x="167" y="189"/>
                  </a:lnTo>
                  <a:lnTo>
                    <a:pt x="172" y="187"/>
                  </a:lnTo>
                  <a:lnTo>
                    <a:pt x="177" y="183"/>
                  </a:lnTo>
                  <a:lnTo>
                    <a:pt x="181" y="178"/>
                  </a:lnTo>
                  <a:lnTo>
                    <a:pt x="183" y="173"/>
                  </a:lnTo>
                  <a:lnTo>
                    <a:pt x="183" y="173"/>
                  </a:lnTo>
                  <a:lnTo>
                    <a:pt x="183" y="156"/>
                  </a:lnTo>
                  <a:lnTo>
                    <a:pt x="181" y="141"/>
                  </a:lnTo>
                  <a:lnTo>
                    <a:pt x="177" y="126"/>
                  </a:lnTo>
                  <a:lnTo>
                    <a:pt x="172" y="111"/>
                  </a:lnTo>
                  <a:lnTo>
                    <a:pt x="167" y="96"/>
                  </a:lnTo>
                  <a:lnTo>
                    <a:pt x="161" y="82"/>
                  </a:lnTo>
                  <a:lnTo>
                    <a:pt x="152" y="69"/>
                  </a:lnTo>
                  <a:lnTo>
                    <a:pt x="142" y="57"/>
                  </a:lnTo>
                  <a:lnTo>
                    <a:pt x="142" y="57"/>
                  </a:lnTo>
                  <a:lnTo>
                    <a:pt x="135" y="50"/>
                  </a:lnTo>
                  <a:lnTo>
                    <a:pt x="135" y="50"/>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97" name="Freeform 61">
              <a:extLst>
                <a:ext uri="{FF2B5EF4-FFF2-40B4-BE49-F238E27FC236}">
                  <a16:creationId xmlns="" xmlns:a16="http://schemas.microsoft.com/office/drawing/2014/main" id="{7FBD63D5-0203-4E5F-8E2B-9578FC9429BC}"/>
                </a:ext>
              </a:extLst>
            </p:cNvPr>
            <p:cNvSpPr>
              <a:spLocks noEditPoints="1"/>
            </p:cNvSpPr>
            <p:nvPr/>
          </p:nvSpPr>
          <p:spPr bwMode="gray">
            <a:xfrm>
              <a:off x="15730538" y="3460750"/>
              <a:ext cx="765175" cy="931863"/>
            </a:xfrm>
            <a:custGeom>
              <a:avLst/>
              <a:gdLst/>
              <a:ahLst/>
              <a:cxnLst>
                <a:cxn ang="0">
                  <a:pos x="157" y="1174"/>
                </a:cxn>
                <a:cxn ang="0">
                  <a:pos x="963" y="1174"/>
                </a:cxn>
                <a:cxn ang="0">
                  <a:pos x="842" y="1026"/>
                </a:cxn>
                <a:cxn ang="0">
                  <a:pos x="579" y="248"/>
                </a:cxn>
                <a:cxn ang="0">
                  <a:pos x="590" y="238"/>
                </a:cxn>
                <a:cxn ang="0">
                  <a:pos x="611" y="215"/>
                </a:cxn>
                <a:cxn ang="0">
                  <a:pos x="626" y="186"/>
                </a:cxn>
                <a:cxn ang="0">
                  <a:pos x="634" y="154"/>
                </a:cxn>
                <a:cxn ang="0">
                  <a:pos x="634" y="137"/>
                </a:cxn>
                <a:cxn ang="0">
                  <a:pos x="633" y="110"/>
                </a:cxn>
                <a:cxn ang="0">
                  <a:pos x="624" y="85"/>
                </a:cxn>
                <a:cxn ang="0">
                  <a:pos x="611" y="61"/>
                </a:cxn>
                <a:cxn ang="0">
                  <a:pos x="594" y="41"/>
                </a:cxn>
                <a:cxn ang="0">
                  <a:pos x="573" y="24"/>
                </a:cxn>
                <a:cxn ang="0">
                  <a:pos x="552" y="10"/>
                </a:cxn>
                <a:cxn ang="0">
                  <a:pos x="525" y="4"/>
                </a:cxn>
                <a:cxn ang="0">
                  <a:pos x="498" y="0"/>
                </a:cxn>
                <a:cxn ang="0">
                  <a:pos x="484" y="0"/>
                </a:cxn>
                <a:cxn ang="0">
                  <a:pos x="457" y="7"/>
                </a:cxn>
                <a:cxn ang="0">
                  <a:pos x="432" y="17"/>
                </a:cxn>
                <a:cxn ang="0">
                  <a:pos x="410" y="31"/>
                </a:cxn>
                <a:cxn ang="0">
                  <a:pos x="391" y="49"/>
                </a:cxn>
                <a:cxn ang="0">
                  <a:pos x="376" y="71"/>
                </a:cxn>
                <a:cxn ang="0">
                  <a:pos x="366" y="96"/>
                </a:cxn>
                <a:cxn ang="0">
                  <a:pos x="361" y="123"/>
                </a:cxn>
                <a:cxn ang="0">
                  <a:pos x="359" y="137"/>
                </a:cxn>
                <a:cxn ang="0">
                  <a:pos x="364" y="169"/>
                </a:cxn>
                <a:cxn ang="0">
                  <a:pos x="374" y="198"/>
                </a:cxn>
                <a:cxn ang="0">
                  <a:pos x="391" y="223"/>
                </a:cxn>
                <a:cxn ang="0">
                  <a:pos x="412" y="245"/>
                </a:cxn>
                <a:cxn ang="0">
                  <a:pos x="121" y="1026"/>
                </a:cxn>
                <a:cxn ang="0">
                  <a:pos x="0" y="1174"/>
                </a:cxn>
                <a:cxn ang="0">
                  <a:pos x="415" y="977"/>
                </a:cxn>
                <a:cxn ang="0">
                  <a:pos x="698" y="1026"/>
                </a:cxn>
                <a:cxn ang="0">
                  <a:pos x="442" y="478"/>
                </a:cxn>
                <a:cxn ang="0">
                  <a:pos x="410" y="597"/>
                </a:cxn>
                <a:cxn ang="0">
                  <a:pos x="467" y="387"/>
                </a:cxn>
                <a:cxn ang="0">
                  <a:pos x="533" y="429"/>
                </a:cxn>
                <a:cxn ang="0">
                  <a:pos x="582" y="604"/>
                </a:cxn>
                <a:cxn ang="0">
                  <a:pos x="450" y="678"/>
                </a:cxn>
                <a:cxn ang="0">
                  <a:pos x="369" y="743"/>
                </a:cxn>
                <a:cxn ang="0">
                  <a:pos x="324" y="910"/>
                </a:cxn>
              </a:cxnLst>
              <a:rect l="0" t="0" r="r" b="b"/>
              <a:pathLst>
                <a:path w="963" h="1174">
                  <a:moveTo>
                    <a:pt x="0" y="1174"/>
                  </a:moveTo>
                  <a:lnTo>
                    <a:pt x="157" y="1174"/>
                  </a:lnTo>
                  <a:lnTo>
                    <a:pt x="833" y="1174"/>
                  </a:lnTo>
                  <a:lnTo>
                    <a:pt x="963" y="1174"/>
                  </a:lnTo>
                  <a:lnTo>
                    <a:pt x="918" y="1120"/>
                  </a:lnTo>
                  <a:lnTo>
                    <a:pt x="842" y="1026"/>
                  </a:lnTo>
                  <a:lnTo>
                    <a:pt x="793" y="1026"/>
                  </a:lnTo>
                  <a:lnTo>
                    <a:pt x="579" y="248"/>
                  </a:lnTo>
                  <a:lnTo>
                    <a:pt x="579" y="248"/>
                  </a:lnTo>
                  <a:lnTo>
                    <a:pt x="590" y="238"/>
                  </a:lnTo>
                  <a:lnTo>
                    <a:pt x="602" y="226"/>
                  </a:lnTo>
                  <a:lnTo>
                    <a:pt x="611" y="215"/>
                  </a:lnTo>
                  <a:lnTo>
                    <a:pt x="619" y="201"/>
                  </a:lnTo>
                  <a:lnTo>
                    <a:pt x="626" y="186"/>
                  </a:lnTo>
                  <a:lnTo>
                    <a:pt x="631" y="171"/>
                  </a:lnTo>
                  <a:lnTo>
                    <a:pt x="634" y="154"/>
                  </a:lnTo>
                  <a:lnTo>
                    <a:pt x="634" y="137"/>
                  </a:lnTo>
                  <a:lnTo>
                    <a:pt x="634" y="137"/>
                  </a:lnTo>
                  <a:lnTo>
                    <a:pt x="634" y="123"/>
                  </a:lnTo>
                  <a:lnTo>
                    <a:pt x="633" y="110"/>
                  </a:lnTo>
                  <a:lnTo>
                    <a:pt x="629" y="96"/>
                  </a:lnTo>
                  <a:lnTo>
                    <a:pt x="624" y="85"/>
                  </a:lnTo>
                  <a:lnTo>
                    <a:pt x="617" y="71"/>
                  </a:lnTo>
                  <a:lnTo>
                    <a:pt x="611" y="61"/>
                  </a:lnTo>
                  <a:lnTo>
                    <a:pt x="604" y="49"/>
                  </a:lnTo>
                  <a:lnTo>
                    <a:pt x="594" y="41"/>
                  </a:lnTo>
                  <a:lnTo>
                    <a:pt x="585" y="31"/>
                  </a:lnTo>
                  <a:lnTo>
                    <a:pt x="573" y="24"/>
                  </a:lnTo>
                  <a:lnTo>
                    <a:pt x="563" y="17"/>
                  </a:lnTo>
                  <a:lnTo>
                    <a:pt x="552" y="10"/>
                  </a:lnTo>
                  <a:lnTo>
                    <a:pt x="538" y="7"/>
                  </a:lnTo>
                  <a:lnTo>
                    <a:pt x="525" y="4"/>
                  </a:lnTo>
                  <a:lnTo>
                    <a:pt x="511" y="0"/>
                  </a:lnTo>
                  <a:lnTo>
                    <a:pt x="498" y="0"/>
                  </a:lnTo>
                  <a:lnTo>
                    <a:pt x="498" y="0"/>
                  </a:lnTo>
                  <a:lnTo>
                    <a:pt x="484" y="0"/>
                  </a:lnTo>
                  <a:lnTo>
                    <a:pt x="469" y="4"/>
                  </a:lnTo>
                  <a:lnTo>
                    <a:pt x="457" y="7"/>
                  </a:lnTo>
                  <a:lnTo>
                    <a:pt x="444" y="10"/>
                  </a:lnTo>
                  <a:lnTo>
                    <a:pt x="432" y="17"/>
                  </a:lnTo>
                  <a:lnTo>
                    <a:pt x="420" y="24"/>
                  </a:lnTo>
                  <a:lnTo>
                    <a:pt x="410" y="31"/>
                  </a:lnTo>
                  <a:lnTo>
                    <a:pt x="400" y="41"/>
                  </a:lnTo>
                  <a:lnTo>
                    <a:pt x="391" y="49"/>
                  </a:lnTo>
                  <a:lnTo>
                    <a:pt x="383" y="61"/>
                  </a:lnTo>
                  <a:lnTo>
                    <a:pt x="376" y="71"/>
                  </a:lnTo>
                  <a:lnTo>
                    <a:pt x="371" y="85"/>
                  </a:lnTo>
                  <a:lnTo>
                    <a:pt x="366" y="96"/>
                  </a:lnTo>
                  <a:lnTo>
                    <a:pt x="363" y="110"/>
                  </a:lnTo>
                  <a:lnTo>
                    <a:pt x="361" y="123"/>
                  </a:lnTo>
                  <a:lnTo>
                    <a:pt x="359" y="137"/>
                  </a:lnTo>
                  <a:lnTo>
                    <a:pt x="359" y="137"/>
                  </a:lnTo>
                  <a:lnTo>
                    <a:pt x="361" y="154"/>
                  </a:lnTo>
                  <a:lnTo>
                    <a:pt x="364" y="169"/>
                  </a:lnTo>
                  <a:lnTo>
                    <a:pt x="368" y="184"/>
                  </a:lnTo>
                  <a:lnTo>
                    <a:pt x="374" y="198"/>
                  </a:lnTo>
                  <a:lnTo>
                    <a:pt x="381" y="211"/>
                  </a:lnTo>
                  <a:lnTo>
                    <a:pt x="391" y="223"/>
                  </a:lnTo>
                  <a:lnTo>
                    <a:pt x="400" y="235"/>
                  </a:lnTo>
                  <a:lnTo>
                    <a:pt x="412" y="245"/>
                  </a:lnTo>
                  <a:lnTo>
                    <a:pt x="197" y="1026"/>
                  </a:lnTo>
                  <a:lnTo>
                    <a:pt x="121" y="1026"/>
                  </a:lnTo>
                  <a:lnTo>
                    <a:pt x="46" y="1120"/>
                  </a:lnTo>
                  <a:lnTo>
                    <a:pt x="0" y="1174"/>
                  </a:lnTo>
                  <a:close/>
                  <a:moveTo>
                    <a:pt x="577" y="1026"/>
                  </a:moveTo>
                  <a:lnTo>
                    <a:pt x="415" y="977"/>
                  </a:lnTo>
                  <a:lnTo>
                    <a:pt x="663" y="898"/>
                  </a:lnTo>
                  <a:lnTo>
                    <a:pt x="698" y="1026"/>
                  </a:lnTo>
                  <a:lnTo>
                    <a:pt x="577" y="1026"/>
                  </a:lnTo>
                  <a:close/>
                  <a:moveTo>
                    <a:pt x="442" y="478"/>
                  </a:moveTo>
                  <a:lnTo>
                    <a:pt x="526" y="532"/>
                  </a:lnTo>
                  <a:lnTo>
                    <a:pt x="410" y="597"/>
                  </a:lnTo>
                  <a:lnTo>
                    <a:pt x="442" y="478"/>
                  </a:lnTo>
                  <a:close/>
                  <a:moveTo>
                    <a:pt x="467" y="387"/>
                  </a:moveTo>
                  <a:lnTo>
                    <a:pt x="494" y="287"/>
                  </a:lnTo>
                  <a:lnTo>
                    <a:pt x="533" y="429"/>
                  </a:lnTo>
                  <a:lnTo>
                    <a:pt x="467" y="387"/>
                  </a:lnTo>
                  <a:close/>
                  <a:moveTo>
                    <a:pt x="582" y="604"/>
                  </a:moveTo>
                  <a:lnTo>
                    <a:pt x="622" y="753"/>
                  </a:lnTo>
                  <a:lnTo>
                    <a:pt x="450" y="678"/>
                  </a:lnTo>
                  <a:lnTo>
                    <a:pt x="582" y="604"/>
                  </a:lnTo>
                  <a:close/>
                  <a:moveTo>
                    <a:pt x="369" y="743"/>
                  </a:moveTo>
                  <a:lnTo>
                    <a:pt x="573" y="830"/>
                  </a:lnTo>
                  <a:lnTo>
                    <a:pt x="324" y="910"/>
                  </a:lnTo>
                  <a:lnTo>
                    <a:pt x="369" y="743"/>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grpSp>
      <p:sp>
        <p:nvSpPr>
          <p:cNvPr id="90" name="Freeform 78">
            <a:extLst>
              <a:ext uri="{FF2B5EF4-FFF2-40B4-BE49-F238E27FC236}">
                <a16:creationId xmlns="" xmlns:a16="http://schemas.microsoft.com/office/drawing/2014/main" id="{9F921EA6-6579-47B7-9496-191CD4117BD7}"/>
              </a:ext>
            </a:extLst>
          </p:cNvPr>
          <p:cNvSpPr>
            <a:spLocks noEditPoints="1"/>
          </p:cNvSpPr>
          <p:nvPr/>
        </p:nvSpPr>
        <p:spPr bwMode="gray">
          <a:xfrm>
            <a:off x="5319085" y="5450419"/>
            <a:ext cx="315448" cy="153185"/>
          </a:xfrm>
          <a:custGeom>
            <a:avLst/>
            <a:gdLst>
              <a:gd name="T0" fmla="*/ 2147483646 w 1923"/>
              <a:gd name="T1" fmla="*/ 2147483646 h 1181"/>
              <a:gd name="T2" fmla="*/ 2147483646 w 1923"/>
              <a:gd name="T3" fmla="*/ 2147483646 h 1181"/>
              <a:gd name="T4" fmla="*/ 2147483646 w 1923"/>
              <a:gd name="T5" fmla="*/ 0 h 1181"/>
              <a:gd name="T6" fmla="*/ 2147483646 w 1923"/>
              <a:gd name="T7" fmla="*/ 2147483646 h 1181"/>
              <a:gd name="T8" fmla="*/ 2147483646 w 1923"/>
              <a:gd name="T9" fmla="*/ 2147483646 h 1181"/>
              <a:gd name="T10" fmla="*/ 2147483646 w 1923"/>
              <a:gd name="T11" fmla="*/ 2147483646 h 1181"/>
              <a:gd name="T12" fmla="*/ 2147483646 w 1923"/>
              <a:gd name="T13" fmla="*/ 2147483646 h 1181"/>
              <a:gd name="T14" fmla="*/ 2147483646 w 1923"/>
              <a:gd name="T15" fmla="*/ 2147483646 h 1181"/>
              <a:gd name="T16" fmla="*/ 2147483646 w 1923"/>
              <a:gd name="T17" fmla="*/ 2147483646 h 1181"/>
              <a:gd name="T18" fmla="*/ 2147483646 w 1923"/>
              <a:gd name="T19" fmla="*/ 2147483646 h 1181"/>
              <a:gd name="T20" fmla="*/ 2147483646 w 1923"/>
              <a:gd name="T21" fmla="*/ 2147483646 h 1181"/>
              <a:gd name="T22" fmla="*/ 2147483646 w 1923"/>
              <a:gd name="T23" fmla="*/ 2147483646 h 1181"/>
              <a:gd name="T24" fmla="*/ 2147483646 w 1923"/>
              <a:gd name="T25" fmla="*/ 2147483646 h 1181"/>
              <a:gd name="T26" fmla="*/ 2147483646 w 1923"/>
              <a:gd name="T27" fmla="*/ 2147483646 h 1181"/>
              <a:gd name="T28" fmla="*/ 2147483646 w 1923"/>
              <a:gd name="T29" fmla="*/ 2147483646 h 1181"/>
              <a:gd name="T30" fmla="*/ 2147483646 w 1923"/>
              <a:gd name="T31" fmla="*/ 2147483646 h 1181"/>
              <a:gd name="T32" fmla="*/ 2147483646 w 1923"/>
              <a:gd name="T33" fmla="*/ 2147483646 h 1181"/>
              <a:gd name="T34" fmla="*/ 2147483646 w 1923"/>
              <a:gd name="T35" fmla="*/ 2147483646 h 1181"/>
              <a:gd name="T36" fmla="*/ 2147483646 w 1923"/>
              <a:gd name="T37" fmla="*/ 2147483646 h 1181"/>
              <a:gd name="T38" fmla="*/ 2147483646 w 1923"/>
              <a:gd name="T39" fmla="*/ 2147483646 h 1181"/>
              <a:gd name="T40" fmla="*/ 2147483646 w 1923"/>
              <a:gd name="T41" fmla="*/ 2147483646 h 1181"/>
              <a:gd name="T42" fmla="*/ 2147483646 w 1923"/>
              <a:gd name="T43" fmla="*/ 2147483646 h 1181"/>
              <a:gd name="T44" fmla="*/ 2147483646 w 1923"/>
              <a:gd name="T45" fmla="*/ 2147483646 h 1181"/>
              <a:gd name="T46" fmla="*/ 2147483646 w 1923"/>
              <a:gd name="T47" fmla="*/ 2147483646 h 1181"/>
              <a:gd name="T48" fmla="*/ 2147483646 w 1923"/>
              <a:gd name="T49" fmla="*/ 2147483646 h 1181"/>
              <a:gd name="T50" fmla="*/ 2147483646 w 1923"/>
              <a:gd name="T51" fmla="*/ 2147483646 h 1181"/>
              <a:gd name="T52" fmla="*/ 2147483646 w 1923"/>
              <a:gd name="T53" fmla="*/ 2147483646 h 1181"/>
              <a:gd name="T54" fmla="*/ 2147483646 w 1923"/>
              <a:gd name="T55" fmla="*/ 2147483646 h 1181"/>
              <a:gd name="T56" fmla="*/ 2147483646 w 1923"/>
              <a:gd name="T57" fmla="*/ 2147483646 h 1181"/>
              <a:gd name="T58" fmla="*/ 2147483646 w 1923"/>
              <a:gd name="T59" fmla="*/ 2147483646 h 1181"/>
              <a:gd name="T60" fmla="*/ 2147483646 w 1923"/>
              <a:gd name="T61" fmla="*/ 2147483646 h 1181"/>
              <a:gd name="T62" fmla="*/ 2147483646 w 1923"/>
              <a:gd name="T63" fmla="*/ 2147483646 h 1181"/>
              <a:gd name="T64" fmla="*/ 2147483646 w 1923"/>
              <a:gd name="T65" fmla="*/ 2147483646 h 1181"/>
              <a:gd name="T66" fmla="*/ 2147483646 w 1923"/>
              <a:gd name="T67" fmla="*/ 2147483646 h 1181"/>
              <a:gd name="T68" fmla="*/ 2147483646 w 1923"/>
              <a:gd name="T69" fmla="*/ 2147483646 h 1181"/>
              <a:gd name="T70" fmla="*/ 2147483646 w 1923"/>
              <a:gd name="T71" fmla="*/ 2147483646 h 1181"/>
              <a:gd name="T72" fmla="*/ 2147483646 w 1923"/>
              <a:gd name="T73" fmla="*/ 2147483646 h 1181"/>
              <a:gd name="T74" fmla="*/ 2147483646 w 1923"/>
              <a:gd name="T75" fmla="*/ 2147483646 h 1181"/>
              <a:gd name="T76" fmla="*/ 2147483646 w 1923"/>
              <a:gd name="T77" fmla="*/ 2147483646 h 1181"/>
              <a:gd name="T78" fmla="*/ 2147483646 w 1923"/>
              <a:gd name="T79" fmla="*/ 2147483646 h 1181"/>
              <a:gd name="T80" fmla="*/ 2147483646 w 1923"/>
              <a:gd name="T81" fmla="*/ 2147483646 h 1181"/>
              <a:gd name="T82" fmla="*/ 2147483646 w 1923"/>
              <a:gd name="T83" fmla="*/ 2147483646 h 1181"/>
              <a:gd name="T84" fmla="*/ 2147483646 w 1923"/>
              <a:gd name="T85" fmla="*/ 2147483646 h 1181"/>
              <a:gd name="T86" fmla="*/ 2147483646 w 1923"/>
              <a:gd name="T87" fmla="*/ 2147483646 h 1181"/>
              <a:gd name="T88" fmla="*/ 2147483646 w 1923"/>
              <a:gd name="T89" fmla="*/ 2147483646 h 1181"/>
              <a:gd name="T90" fmla="*/ 2147483646 w 1923"/>
              <a:gd name="T91" fmla="*/ 2147483646 h 1181"/>
              <a:gd name="T92" fmla="*/ 2147483646 w 1923"/>
              <a:gd name="T93" fmla="*/ 2147483646 h 1181"/>
              <a:gd name="T94" fmla="*/ 2147483646 w 1923"/>
              <a:gd name="T95" fmla="*/ 2147483646 h 1181"/>
              <a:gd name="T96" fmla="*/ 2147483646 w 1923"/>
              <a:gd name="T97" fmla="*/ 2147483646 h 1181"/>
              <a:gd name="T98" fmla="*/ 2147483646 w 1923"/>
              <a:gd name="T99" fmla="*/ 2147483646 h 1181"/>
              <a:gd name="T100" fmla="*/ 2147483646 w 1923"/>
              <a:gd name="T101" fmla="*/ 2147483646 h 1181"/>
              <a:gd name="T102" fmla="*/ 2147483646 w 1923"/>
              <a:gd name="T103" fmla="*/ 2147483646 h 118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923" h="1181">
                <a:moveTo>
                  <a:pt x="1820" y="1029"/>
                </a:moveTo>
                <a:lnTo>
                  <a:pt x="1820" y="1029"/>
                </a:lnTo>
                <a:lnTo>
                  <a:pt x="1815" y="1024"/>
                </a:lnTo>
                <a:lnTo>
                  <a:pt x="1810" y="1021"/>
                </a:lnTo>
                <a:lnTo>
                  <a:pt x="1805" y="1019"/>
                </a:lnTo>
                <a:lnTo>
                  <a:pt x="1798" y="1019"/>
                </a:lnTo>
                <a:lnTo>
                  <a:pt x="1750" y="1019"/>
                </a:lnTo>
                <a:lnTo>
                  <a:pt x="1750" y="739"/>
                </a:lnTo>
                <a:lnTo>
                  <a:pt x="1625" y="606"/>
                </a:lnTo>
                <a:lnTo>
                  <a:pt x="1625" y="1019"/>
                </a:lnTo>
                <a:lnTo>
                  <a:pt x="1583" y="1019"/>
                </a:lnTo>
                <a:lnTo>
                  <a:pt x="1583" y="562"/>
                </a:lnTo>
                <a:lnTo>
                  <a:pt x="1583" y="0"/>
                </a:lnTo>
                <a:lnTo>
                  <a:pt x="1218" y="0"/>
                </a:lnTo>
                <a:lnTo>
                  <a:pt x="1176" y="0"/>
                </a:lnTo>
                <a:lnTo>
                  <a:pt x="1176" y="1019"/>
                </a:lnTo>
                <a:lnTo>
                  <a:pt x="1124" y="1019"/>
                </a:lnTo>
                <a:lnTo>
                  <a:pt x="1124" y="562"/>
                </a:lnTo>
                <a:lnTo>
                  <a:pt x="1093" y="562"/>
                </a:lnTo>
                <a:lnTo>
                  <a:pt x="1093" y="494"/>
                </a:lnTo>
                <a:lnTo>
                  <a:pt x="751" y="553"/>
                </a:lnTo>
                <a:lnTo>
                  <a:pt x="751" y="562"/>
                </a:lnTo>
                <a:lnTo>
                  <a:pt x="626" y="562"/>
                </a:lnTo>
                <a:lnTo>
                  <a:pt x="626" y="1019"/>
                </a:lnTo>
                <a:lnTo>
                  <a:pt x="572" y="1019"/>
                </a:lnTo>
                <a:lnTo>
                  <a:pt x="572" y="262"/>
                </a:lnTo>
                <a:lnTo>
                  <a:pt x="525" y="262"/>
                </a:lnTo>
                <a:lnTo>
                  <a:pt x="525" y="181"/>
                </a:lnTo>
                <a:lnTo>
                  <a:pt x="523" y="176"/>
                </a:lnTo>
                <a:lnTo>
                  <a:pt x="522" y="170"/>
                </a:lnTo>
                <a:lnTo>
                  <a:pt x="516" y="169"/>
                </a:lnTo>
                <a:lnTo>
                  <a:pt x="511" y="169"/>
                </a:lnTo>
                <a:lnTo>
                  <a:pt x="314" y="203"/>
                </a:lnTo>
                <a:lnTo>
                  <a:pt x="309" y="204"/>
                </a:lnTo>
                <a:lnTo>
                  <a:pt x="304" y="208"/>
                </a:lnTo>
                <a:lnTo>
                  <a:pt x="301" y="213"/>
                </a:lnTo>
                <a:lnTo>
                  <a:pt x="301" y="218"/>
                </a:lnTo>
                <a:lnTo>
                  <a:pt x="301" y="262"/>
                </a:lnTo>
                <a:lnTo>
                  <a:pt x="181" y="262"/>
                </a:lnTo>
                <a:lnTo>
                  <a:pt x="181" y="1019"/>
                </a:lnTo>
                <a:lnTo>
                  <a:pt x="125" y="1019"/>
                </a:lnTo>
                <a:lnTo>
                  <a:pt x="118" y="1019"/>
                </a:lnTo>
                <a:lnTo>
                  <a:pt x="113" y="1021"/>
                </a:lnTo>
                <a:lnTo>
                  <a:pt x="108" y="1024"/>
                </a:lnTo>
                <a:lnTo>
                  <a:pt x="103" y="1029"/>
                </a:lnTo>
                <a:lnTo>
                  <a:pt x="2" y="1169"/>
                </a:lnTo>
                <a:lnTo>
                  <a:pt x="0" y="1174"/>
                </a:lnTo>
                <a:lnTo>
                  <a:pt x="2" y="1178"/>
                </a:lnTo>
                <a:lnTo>
                  <a:pt x="4" y="1179"/>
                </a:lnTo>
                <a:lnTo>
                  <a:pt x="7" y="1181"/>
                </a:lnTo>
                <a:lnTo>
                  <a:pt x="1917" y="1181"/>
                </a:lnTo>
                <a:lnTo>
                  <a:pt x="1920" y="1179"/>
                </a:lnTo>
                <a:lnTo>
                  <a:pt x="1922" y="1178"/>
                </a:lnTo>
                <a:lnTo>
                  <a:pt x="1923" y="1174"/>
                </a:lnTo>
                <a:lnTo>
                  <a:pt x="1922" y="1169"/>
                </a:lnTo>
                <a:lnTo>
                  <a:pt x="1820" y="1029"/>
                </a:lnTo>
                <a:close/>
                <a:moveTo>
                  <a:pt x="741" y="660"/>
                </a:moveTo>
                <a:lnTo>
                  <a:pt x="879" y="660"/>
                </a:lnTo>
                <a:lnTo>
                  <a:pt x="879" y="756"/>
                </a:lnTo>
                <a:lnTo>
                  <a:pt x="741" y="756"/>
                </a:lnTo>
                <a:lnTo>
                  <a:pt x="741" y="660"/>
                </a:lnTo>
                <a:close/>
                <a:moveTo>
                  <a:pt x="896" y="660"/>
                </a:moveTo>
                <a:lnTo>
                  <a:pt x="1033" y="660"/>
                </a:lnTo>
                <a:lnTo>
                  <a:pt x="1033" y="756"/>
                </a:lnTo>
                <a:lnTo>
                  <a:pt x="896" y="756"/>
                </a:lnTo>
                <a:lnTo>
                  <a:pt x="896" y="660"/>
                </a:lnTo>
                <a:close/>
                <a:moveTo>
                  <a:pt x="1049" y="660"/>
                </a:moveTo>
                <a:lnTo>
                  <a:pt x="1082" y="660"/>
                </a:lnTo>
                <a:lnTo>
                  <a:pt x="1082" y="756"/>
                </a:lnTo>
                <a:lnTo>
                  <a:pt x="1049" y="756"/>
                </a:lnTo>
                <a:lnTo>
                  <a:pt x="1049" y="660"/>
                </a:lnTo>
                <a:close/>
                <a:moveTo>
                  <a:pt x="677" y="660"/>
                </a:moveTo>
                <a:lnTo>
                  <a:pt x="724" y="660"/>
                </a:lnTo>
                <a:lnTo>
                  <a:pt x="724" y="756"/>
                </a:lnTo>
                <a:lnTo>
                  <a:pt x="677" y="756"/>
                </a:lnTo>
                <a:lnTo>
                  <a:pt x="677" y="660"/>
                </a:lnTo>
                <a:close/>
                <a:moveTo>
                  <a:pt x="498" y="606"/>
                </a:moveTo>
                <a:lnTo>
                  <a:pt x="439" y="606"/>
                </a:lnTo>
                <a:lnTo>
                  <a:pt x="434" y="604"/>
                </a:lnTo>
                <a:lnTo>
                  <a:pt x="429" y="601"/>
                </a:lnTo>
                <a:lnTo>
                  <a:pt x="425" y="597"/>
                </a:lnTo>
                <a:lnTo>
                  <a:pt x="425" y="591"/>
                </a:lnTo>
                <a:lnTo>
                  <a:pt x="425" y="533"/>
                </a:lnTo>
                <a:lnTo>
                  <a:pt x="425" y="528"/>
                </a:lnTo>
                <a:lnTo>
                  <a:pt x="429" y="523"/>
                </a:lnTo>
                <a:lnTo>
                  <a:pt x="434" y="521"/>
                </a:lnTo>
                <a:lnTo>
                  <a:pt x="439" y="520"/>
                </a:lnTo>
                <a:lnTo>
                  <a:pt x="498" y="520"/>
                </a:lnTo>
                <a:lnTo>
                  <a:pt x="505" y="521"/>
                </a:lnTo>
                <a:lnTo>
                  <a:pt x="508" y="523"/>
                </a:lnTo>
                <a:lnTo>
                  <a:pt x="511" y="528"/>
                </a:lnTo>
                <a:lnTo>
                  <a:pt x="513" y="533"/>
                </a:lnTo>
                <a:lnTo>
                  <a:pt x="513" y="591"/>
                </a:lnTo>
                <a:lnTo>
                  <a:pt x="511" y="597"/>
                </a:lnTo>
                <a:lnTo>
                  <a:pt x="508" y="601"/>
                </a:lnTo>
                <a:lnTo>
                  <a:pt x="505" y="604"/>
                </a:lnTo>
                <a:lnTo>
                  <a:pt x="498" y="606"/>
                </a:lnTo>
                <a:close/>
                <a:moveTo>
                  <a:pt x="513" y="874"/>
                </a:moveTo>
                <a:lnTo>
                  <a:pt x="513" y="933"/>
                </a:lnTo>
                <a:lnTo>
                  <a:pt x="511" y="938"/>
                </a:lnTo>
                <a:lnTo>
                  <a:pt x="508" y="941"/>
                </a:lnTo>
                <a:lnTo>
                  <a:pt x="505" y="945"/>
                </a:lnTo>
                <a:lnTo>
                  <a:pt x="498" y="947"/>
                </a:lnTo>
                <a:lnTo>
                  <a:pt x="439" y="947"/>
                </a:lnTo>
                <a:lnTo>
                  <a:pt x="434" y="945"/>
                </a:lnTo>
                <a:lnTo>
                  <a:pt x="429" y="941"/>
                </a:lnTo>
                <a:lnTo>
                  <a:pt x="425" y="938"/>
                </a:lnTo>
                <a:lnTo>
                  <a:pt x="425" y="933"/>
                </a:lnTo>
                <a:lnTo>
                  <a:pt x="425" y="874"/>
                </a:lnTo>
                <a:lnTo>
                  <a:pt x="425" y="869"/>
                </a:lnTo>
                <a:lnTo>
                  <a:pt x="429" y="866"/>
                </a:lnTo>
                <a:lnTo>
                  <a:pt x="434" y="862"/>
                </a:lnTo>
                <a:lnTo>
                  <a:pt x="439" y="860"/>
                </a:lnTo>
                <a:lnTo>
                  <a:pt x="498" y="860"/>
                </a:lnTo>
                <a:lnTo>
                  <a:pt x="505" y="862"/>
                </a:lnTo>
                <a:lnTo>
                  <a:pt x="508" y="866"/>
                </a:lnTo>
                <a:lnTo>
                  <a:pt x="511" y="869"/>
                </a:lnTo>
                <a:lnTo>
                  <a:pt x="513" y="874"/>
                </a:lnTo>
                <a:close/>
                <a:moveTo>
                  <a:pt x="348" y="734"/>
                </a:moveTo>
                <a:lnTo>
                  <a:pt x="348" y="791"/>
                </a:lnTo>
                <a:lnTo>
                  <a:pt x="346" y="796"/>
                </a:lnTo>
                <a:lnTo>
                  <a:pt x="343" y="801"/>
                </a:lnTo>
                <a:lnTo>
                  <a:pt x="339" y="805"/>
                </a:lnTo>
                <a:lnTo>
                  <a:pt x="334" y="805"/>
                </a:lnTo>
                <a:lnTo>
                  <a:pt x="274" y="805"/>
                </a:lnTo>
                <a:lnTo>
                  <a:pt x="269" y="805"/>
                </a:lnTo>
                <a:lnTo>
                  <a:pt x="263" y="801"/>
                </a:lnTo>
                <a:lnTo>
                  <a:pt x="262" y="796"/>
                </a:lnTo>
                <a:lnTo>
                  <a:pt x="260" y="791"/>
                </a:lnTo>
                <a:lnTo>
                  <a:pt x="260" y="734"/>
                </a:lnTo>
                <a:lnTo>
                  <a:pt x="262" y="729"/>
                </a:lnTo>
                <a:lnTo>
                  <a:pt x="263" y="724"/>
                </a:lnTo>
                <a:lnTo>
                  <a:pt x="269" y="720"/>
                </a:lnTo>
                <a:lnTo>
                  <a:pt x="274" y="720"/>
                </a:lnTo>
                <a:lnTo>
                  <a:pt x="334" y="720"/>
                </a:lnTo>
                <a:lnTo>
                  <a:pt x="339" y="720"/>
                </a:lnTo>
                <a:lnTo>
                  <a:pt x="343" y="724"/>
                </a:lnTo>
                <a:lnTo>
                  <a:pt x="346" y="729"/>
                </a:lnTo>
                <a:lnTo>
                  <a:pt x="348" y="734"/>
                </a:lnTo>
                <a:close/>
                <a:moveTo>
                  <a:pt x="243" y="397"/>
                </a:moveTo>
                <a:lnTo>
                  <a:pt x="243" y="397"/>
                </a:lnTo>
                <a:lnTo>
                  <a:pt x="245" y="391"/>
                </a:lnTo>
                <a:lnTo>
                  <a:pt x="248" y="386"/>
                </a:lnTo>
                <a:lnTo>
                  <a:pt x="252" y="385"/>
                </a:lnTo>
                <a:lnTo>
                  <a:pt x="258" y="383"/>
                </a:lnTo>
                <a:lnTo>
                  <a:pt x="317" y="383"/>
                </a:lnTo>
                <a:lnTo>
                  <a:pt x="322" y="385"/>
                </a:lnTo>
                <a:lnTo>
                  <a:pt x="328" y="386"/>
                </a:lnTo>
                <a:lnTo>
                  <a:pt x="331" y="391"/>
                </a:lnTo>
                <a:lnTo>
                  <a:pt x="331" y="397"/>
                </a:lnTo>
                <a:lnTo>
                  <a:pt x="331" y="454"/>
                </a:lnTo>
                <a:lnTo>
                  <a:pt x="331" y="461"/>
                </a:lnTo>
                <a:lnTo>
                  <a:pt x="328" y="464"/>
                </a:lnTo>
                <a:lnTo>
                  <a:pt x="322" y="467"/>
                </a:lnTo>
                <a:lnTo>
                  <a:pt x="317" y="469"/>
                </a:lnTo>
                <a:lnTo>
                  <a:pt x="258" y="469"/>
                </a:lnTo>
                <a:lnTo>
                  <a:pt x="252" y="467"/>
                </a:lnTo>
                <a:lnTo>
                  <a:pt x="248" y="464"/>
                </a:lnTo>
                <a:lnTo>
                  <a:pt x="245" y="461"/>
                </a:lnTo>
                <a:lnTo>
                  <a:pt x="243" y="454"/>
                </a:lnTo>
                <a:lnTo>
                  <a:pt x="243" y="397"/>
                </a:lnTo>
                <a:close/>
                <a:moveTo>
                  <a:pt x="1464" y="105"/>
                </a:moveTo>
                <a:lnTo>
                  <a:pt x="1464" y="105"/>
                </a:lnTo>
                <a:lnTo>
                  <a:pt x="1464" y="101"/>
                </a:lnTo>
                <a:lnTo>
                  <a:pt x="1466" y="100"/>
                </a:lnTo>
                <a:lnTo>
                  <a:pt x="1468" y="98"/>
                </a:lnTo>
                <a:lnTo>
                  <a:pt x="1471" y="96"/>
                </a:lnTo>
                <a:lnTo>
                  <a:pt x="1485" y="96"/>
                </a:lnTo>
                <a:lnTo>
                  <a:pt x="1486" y="98"/>
                </a:lnTo>
                <a:lnTo>
                  <a:pt x="1490" y="100"/>
                </a:lnTo>
                <a:lnTo>
                  <a:pt x="1490" y="101"/>
                </a:lnTo>
                <a:lnTo>
                  <a:pt x="1491" y="105"/>
                </a:lnTo>
                <a:lnTo>
                  <a:pt x="1491" y="464"/>
                </a:lnTo>
                <a:lnTo>
                  <a:pt x="1491" y="938"/>
                </a:lnTo>
                <a:lnTo>
                  <a:pt x="1490" y="940"/>
                </a:lnTo>
                <a:lnTo>
                  <a:pt x="1490" y="941"/>
                </a:lnTo>
                <a:lnTo>
                  <a:pt x="1486" y="943"/>
                </a:lnTo>
                <a:lnTo>
                  <a:pt x="1485" y="945"/>
                </a:lnTo>
                <a:lnTo>
                  <a:pt x="1471" y="945"/>
                </a:lnTo>
                <a:lnTo>
                  <a:pt x="1466" y="943"/>
                </a:lnTo>
                <a:lnTo>
                  <a:pt x="1464" y="940"/>
                </a:lnTo>
                <a:lnTo>
                  <a:pt x="1464" y="938"/>
                </a:lnTo>
                <a:lnTo>
                  <a:pt x="1464" y="105"/>
                </a:lnTo>
                <a:close/>
                <a:moveTo>
                  <a:pt x="1356" y="105"/>
                </a:moveTo>
                <a:lnTo>
                  <a:pt x="1356" y="105"/>
                </a:lnTo>
                <a:lnTo>
                  <a:pt x="1358" y="101"/>
                </a:lnTo>
                <a:lnTo>
                  <a:pt x="1360" y="100"/>
                </a:lnTo>
                <a:lnTo>
                  <a:pt x="1362" y="98"/>
                </a:lnTo>
                <a:lnTo>
                  <a:pt x="1363" y="96"/>
                </a:lnTo>
                <a:lnTo>
                  <a:pt x="1377" y="96"/>
                </a:lnTo>
                <a:lnTo>
                  <a:pt x="1380" y="98"/>
                </a:lnTo>
                <a:lnTo>
                  <a:pt x="1382" y="100"/>
                </a:lnTo>
                <a:lnTo>
                  <a:pt x="1383" y="101"/>
                </a:lnTo>
                <a:lnTo>
                  <a:pt x="1383" y="105"/>
                </a:lnTo>
                <a:lnTo>
                  <a:pt x="1383" y="938"/>
                </a:lnTo>
                <a:lnTo>
                  <a:pt x="1383" y="940"/>
                </a:lnTo>
                <a:lnTo>
                  <a:pt x="1382" y="941"/>
                </a:lnTo>
                <a:lnTo>
                  <a:pt x="1380" y="943"/>
                </a:lnTo>
                <a:lnTo>
                  <a:pt x="1377" y="945"/>
                </a:lnTo>
                <a:lnTo>
                  <a:pt x="1363" y="945"/>
                </a:lnTo>
                <a:lnTo>
                  <a:pt x="1362" y="943"/>
                </a:lnTo>
                <a:lnTo>
                  <a:pt x="1360" y="941"/>
                </a:lnTo>
                <a:lnTo>
                  <a:pt x="1358" y="940"/>
                </a:lnTo>
                <a:lnTo>
                  <a:pt x="1356" y="938"/>
                </a:lnTo>
                <a:lnTo>
                  <a:pt x="1356" y="105"/>
                </a:lnTo>
                <a:close/>
                <a:moveTo>
                  <a:pt x="1250" y="105"/>
                </a:moveTo>
                <a:lnTo>
                  <a:pt x="1250" y="105"/>
                </a:lnTo>
                <a:lnTo>
                  <a:pt x="1250" y="101"/>
                </a:lnTo>
                <a:lnTo>
                  <a:pt x="1252" y="100"/>
                </a:lnTo>
                <a:lnTo>
                  <a:pt x="1254" y="98"/>
                </a:lnTo>
                <a:lnTo>
                  <a:pt x="1257" y="96"/>
                </a:lnTo>
                <a:lnTo>
                  <a:pt x="1270" y="96"/>
                </a:lnTo>
                <a:lnTo>
                  <a:pt x="1274" y="98"/>
                </a:lnTo>
                <a:lnTo>
                  <a:pt x="1276" y="100"/>
                </a:lnTo>
                <a:lnTo>
                  <a:pt x="1277" y="101"/>
                </a:lnTo>
                <a:lnTo>
                  <a:pt x="1277" y="105"/>
                </a:lnTo>
                <a:lnTo>
                  <a:pt x="1277" y="938"/>
                </a:lnTo>
                <a:lnTo>
                  <a:pt x="1277" y="940"/>
                </a:lnTo>
                <a:lnTo>
                  <a:pt x="1276" y="941"/>
                </a:lnTo>
                <a:lnTo>
                  <a:pt x="1274" y="943"/>
                </a:lnTo>
                <a:lnTo>
                  <a:pt x="1270" y="945"/>
                </a:lnTo>
                <a:lnTo>
                  <a:pt x="1257" y="945"/>
                </a:lnTo>
                <a:lnTo>
                  <a:pt x="1254" y="943"/>
                </a:lnTo>
                <a:lnTo>
                  <a:pt x="1252" y="941"/>
                </a:lnTo>
                <a:lnTo>
                  <a:pt x="1250" y="940"/>
                </a:lnTo>
                <a:lnTo>
                  <a:pt x="1250" y="938"/>
                </a:lnTo>
                <a:lnTo>
                  <a:pt x="1250" y="105"/>
                </a:lnTo>
                <a:close/>
              </a:path>
            </a:pathLst>
          </a:custGeom>
          <a:solidFill>
            <a:srgbClr val="A7A7A7"/>
          </a:solidFill>
          <a:ln>
            <a:noFill/>
          </a:ln>
          <a:effectLst/>
          <a:extLst>
            <a:ext uri="{91240B29-F687-4F45-9708-019B960494DF}">
              <a14:hiddenLine xmlns:a14="http://schemas.microsoft.com/office/drawing/2010/main" w="12700" cap="flat" algn="ctr">
                <a:solidFill>
                  <a:srgbClr val="000000"/>
                </a:solidFill>
                <a:prstDash val="sysDash"/>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1D1D1A"/>
              </a:solidFill>
              <a:effectLst/>
              <a:uLnTx/>
              <a:uFillTx/>
            </a:endParaRPr>
          </a:p>
        </p:txBody>
      </p:sp>
      <p:sp>
        <p:nvSpPr>
          <p:cNvPr id="91" name="TextBox 425">
            <a:extLst>
              <a:ext uri="{FF2B5EF4-FFF2-40B4-BE49-F238E27FC236}">
                <a16:creationId xmlns="" xmlns:a16="http://schemas.microsoft.com/office/drawing/2014/main" id="{28B01B13-30B3-4E36-89BE-381CA53376E0}"/>
              </a:ext>
            </a:extLst>
          </p:cNvPr>
          <p:cNvSpPr txBox="1"/>
          <p:nvPr/>
        </p:nvSpPr>
        <p:spPr bwMode="gray">
          <a:xfrm>
            <a:off x="1591387" y="5494424"/>
            <a:ext cx="672447" cy="28724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城域</a:t>
            </a:r>
          </a:p>
        </p:txBody>
      </p:sp>
      <p:sp>
        <p:nvSpPr>
          <p:cNvPr id="92" name="TextBox 425">
            <a:extLst>
              <a:ext uri="{FF2B5EF4-FFF2-40B4-BE49-F238E27FC236}">
                <a16:creationId xmlns="" xmlns:a16="http://schemas.microsoft.com/office/drawing/2014/main" id="{C23E12EA-664B-4677-B47A-5EAB07E5A561}"/>
              </a:ext>
            </a:extLst>
          </p:cNvPr>
          <p:cNvSpPr txBox="1"/>
          <p:nvPr/>
        </p:nvSpPr>
        <p:spPr bwMode="gray">
          <a:xfrm>
            <a:off x="3990443" y="5479990"/>
            <a:ext cx="672447" cy="28724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mn-lt"/>
              </a:rPr>
              <a:t>城域</a:t>
            </a:r>
          </a:p>
        </p:txBody>
      </p:sp>
      <p:grpSp>
        <p:nvGrpSpPr>
          <p:cNvPr id="37" name="组合 36">
            <a:extLst>
              <a:ext uri="{FF2B5EF4-FFF2-40B4-BE49-F238E27FC236}">
                <a16:creationId xmlns="" xmlns:a16="http://schemas.microsoft.com/office/drawing/2014/main" id="{245E5D6C-6C18-495D-925B-C18C845A437F}"/>
              </a:ext>
            </a:extLst>
          </p:cNvPr>
          <p:cNvGrpSpPr/>
          <p:nvPr/>
        </p:nvGrpSpPr>
        <p:grpSpPr bwMode="gray">
          <a:xfrm>
            <a:off x="843701" y="1333846"/>
            <a:ext cx="4712571" cy="924141"/>
            <a:chOff x="1890512" y="657345"/>
            <a:chExt cx="4127151" cy="1227753"/>
          </a:xfrm>
        </p:grpSpPr>
        <p:pic>
          <p:nvPicPr>
            <p:cNvPr id="64" name="Picture 8" descr="C:\Users\dh\Desktop\0507png\2\未标题-12.png">
              <a:extLst>
                <a:ext uri="{FF2B5EF4-FFF2-40B4-BE49-F238E27FC236}">
                  <a16:creationId xmlns="" xmlns:a16="http://schemas.microsoft.com/office/drawing/2014/main" id="{F1A9A023-7F87-46C2-AD23-5FD25CF4AF1E}"/>
                </a:ext>
              </a:extLst>
            </p:cNvPr>
            <p:cNvPicPr>
              <a:picLocks noChangeAspect="1" noChangeArrowheads="1"/>
            </p:cNvPicPr>
            <p:nvPr/>
          </p:nvPicPr>
          <p:blipFill>
            <a:blip r:embed="rId4" cstate="print">
              <a:duotone>
                <a:prstClr val="black"/>
                <a:srgbClr val="00B0F0">
                  <a:tint val="45000"/>
                  <a:satMod val="400000"/>
                </a:srgbClr>
              </a:duotone>
            </a:blip>
            <a:srcRect/>
            <a:stretch>
              <a:fillRect/>
            </a:stretch>
          </p:blipFill>
          <p:spPr bwMode="gray">
            <a:xfrm>
              <a:off x="1890512" y="1644737"/>
              <a:ext cx="4127151" cy="240361"/>
            </a:xfrm>
            <a:prstGeom prst="rect">
              <a:avLst/>
            </a:prstGeom>
            <a:noFill/>
            <a:ln w="9525">
              <a:noFill/>
              <a:miter lim="800000"/>
              <a:headEnd/>
              <a:tailEnd/>
            </a:ln>
          </p:spPr>
        </p:pic>
        <p:grpSp>
          <p:nvGrpSpPr>
            <p:cNvPr id="65" name="组合 64">
              <a:extLst>
                <a:ext uri="{FF2B5EF4-FFF2-40B4-BE49-F238E27FC236}">
                  <a16:creationId xmlns="" xmlns:a16="http://schemas.microsoft.com/office/drawing/2014/main" id="{C6DEFF99-95B3-4341-B5C9-3E5622B7E40A}"/>
                </a:ext>
              </a:extLst>
            </p:cNvPr>
            <p:cNvGrpSpPr/>
            <p:nvPr/>
          </p:nvGrpSpPr>
          <p:grpSpPr bwMode="gray">
            <a:xfrm>
              <a:off x="2075425" y="657345"/>
              <a:ext cx="3835936" cy="1095160"/>
              <a:chOff x="1763499" y="818807"/>
              <a:chExt cx="3835936" cy="1095160"/>
            </a:xfrm>
          </p:grpSpPr>
          <p:sp>
            <p:nvSpPr>
              <p:cNvPr id="66" name="圆角矩形 660">
                <a:extLst>
                  <a:ext uri="{FF2B5EF4-FFF2-40B4-BE49-F238E27FC236}">
                    <a16:creationId xmlns="" xmlns:a16="http://schemas.microsoft.com/office/drawing/2014/main" id="{984684CE-F8A2-4C45-B2A4-87149D634469}"/>
                  </a:ext>
                </a:extLst>
              </p:cNvPr>
              <p:cNvSpPr/>
              <p:nvPr/>
            </p:nvSpPr>
            <p:spPr bwMode="gray">
              <a:xfrm>
                <a:off x="1763499" y="1223758"/>
                <a:ext cx="1163959" cy="661599"/>
              </a:xfrm>
              <a:prstGeom prst="roundRect">
                <a:avLst>
                  <a:gd name="adj" fmla="val 9407"/>
                </a:avLst>
              </a:prstGeom>
              <a:solidFill>
                <a:srgbClr val="FFFFFF">
                  <a:lumMod val="95000"/>
                  <a:alpha val="50000"/>
                </a:srgbClr>
              </a:solidFill>
              <a:ln w="12700" cap="flat" cmpd="sng" algn="ctr">
                <a:solidFill>
                  <a:srgbClr val="666666">
                    <a:lumMod val="40000"/>
                    <a:lumOff val="6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cs typeface="+mn-ea"/>
                  <a:sym typeface="Huawei Sans Light" panose="020C0303030203020204" pitchFamily="34" charset="0"/>
                </a:endParaRPr>
              </a:p>
            </p:txBody>
          </p:sp>
          <p:sp>
            <p:nvSpPr>
              <p:cNvPr id="67" name="圆角矩形 660">
                <a:extLst>
                  <a:ext uri="{FF2B5EF4-FFF2-40B4-BE49-F238E27FC236}">
                    <a16:creationId xmlns="" xmlns:a16="http://schemas.microsoft.com/office/drawing/2014/main" id="{2F09C9DF-0487-4E0C-BDE3-DF6FF98C39F5}"/>
                  </a:ext>
                </a:extLst>
              </p:cNvPr>
              <p:cNvSpPr/>
              <p:nvPr/>
            </p:nvSpPr>
            <p:spPr bwMode="gray">
              <a:xfrm>
                <a:off x="3063879" y="1201211"/>
                <a:ext cx="1058387" cy="712756"/>
              </a:xfrm>
              <a:prstGeom prst="roundRect">
                <a:avLst>
                  <a:gd name="adj" fmla="val 9407"/>
                </a:avLst>
              </a:prstGeom>
              <a:solidFill>
                <a:srgbClr val="FFFFFF">
                  <a:lumMod val="95000"/>
                  <a:alpha val="50000"/>
                </a:srgbClr>
              </a:solidFill>
              <a:ln w="12700" cap="flat" cmpd="sng" algn="ctr">
                <a:solidFill>
                  <a:srgbClr val="666666">
                    <a:lumMod val="40000"/>
                    <a:lumOff val="6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cs typeface="+mn-ea"/>
                  <a:sym typeface="Huawei Sans Light" panose="020C0303030203020204" pitchFamily="34" charset="0"/>
                </a:endParaRPr>
              </a:p>
            </p:txBody>
          </p:sp>
          <p:sp>
            <p:nvSpPr>
              <p:cNvPr id="68" name="圆角矩形 660">
                <a:extLst>
                  <a:ext uri="{FF2B5EF4-FFF2-40B4-BE49-F238E27FC236}">
                    <a16:creationId xmlns="" xmlns:a16="http://schemas.microsoft.com/office/drawing/2014/main" id="{4B6131B6-00DB-443B-B21D-871DACA47650}"/>
                  </a:ext>
                </a:extLst>
              </p:cNvPr>
              <p:cNvSpPr/>
              <p:nvPr/>
            </p:nvSpPr>
            <p:spPr bwMode="gray">
              <a:xfrm>
                <a:off x="4239542" y="1201211"/>
                <a:ext cx="1049380" cy="661189"/>
              </a:xfrm>
              <a:prstGeom prst="roundRect">
                <a:avLst>
                  <a:gd name="adj" fmla="val 9407"/>
                </a:avLst>
              </a:prstGeom>
              <a:solidFill>
                <a:srgbClr val="FFFFFF">
                  <a:lumMod val="95000"/>
                  <a:alpha val="50000"/>
                </a:srgbClr>
              </a:solidFill>
              <a:ln w="12700" cap="flat" cmpd="sng" algn="ctr">
                <a:solidFill>
                  <a:srgbClr val="666666">
                    <a:lumMod val="40000"/>
                    <a:lumOff val="60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666666"/>
                  </a:solidFill>
                  <a:effectLst/>
                  <a:uLnTx/>
                  <a:uFillTx/>
                  <a:cs typeface="+mn-ea"/>
                  <a:sym typeface="Huawei Sans Light" panose="020C0303030203020204" pitchFamily="34" charset="0"/>
                </a:endParaRPr>
              </a:p>
            </p:txBody>
          </p:sp>
          <p:sp>
            <p:nvSpPr>
              <p:cNvPr id="69" name="文本框 68">
                <a:extLst>
                  <a:ext uri="{FF2B5EF4-FFF2-40B4-BE49-F238E27FC236}">
                    <a16:creationId xmlns="" xmlns:a16="http://schemas.microsoft.com/office/drawing/2014/main" id="{83C9A821-BCE8-4614-A2C2-F69DB5ABE235}"/>
                  </a:ext>
                </a:extLst>
              </p:cNvPr>
              <p:cNvSpPr txBox="1"/>
              <p:nvPr/>
            </p:nvSpPr>
            <p:spPr bwMode="gray">
              <a:xfrm>
                <a:off x="2145633" y="818807"/>
                <a:ext cx="663389" cy="40889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Arial Unicode MS" panose="020B0604020202020204" pitchFamily="34" charset="-122"/>
                    <a:sym typeface="Huawei Sans Light" panose="020C0303030203020204" pitchFamily="34" charset="0"/>
                  </a:rPr>
                  <a:t>B2C</a:t>
                </a:r>
                <a:endParaRPr kumimoji="0" lang="zh-CN" altLang="en-US" sz="1400" b="1" i="0" u="none" strike="noStrike" kern="0" cap="none" spc="0" normalizeH="0" baseline="0" noProof="0" dirty="0">
                  <a:ln>
                    <a:noFill/>
                  </a:ln>
                  <a:solidFill>
                    <a:srgbClr val="1D1D1A"/>
                  </a:solidFill>
                  <a:effectLst/>
                  <a:uLnTx/>
                  <a:uFillTx/>
                  <a:cs typeface="Arial Unicode MS" panose="020B0604020202020204" pitchFamily="34" charset="-122"/>
                  <a:sym typeface="Huawei Sans Light" panose="020C0303030203020204" pitchFamily="34" charset="0"/>
                </a:endParaRPr>
              </a:p>
            </p:txBody>
          </p:sp>
          <p:sp>
            <p:nvSpPr>
              <p:cNvPr id="70" name="文本框 69">
                <a:extLst>
                  <a:ext uri="{FF2B5EF4-FFF2-40B4-BE49-F238E27FC236}">
                    <a16:creationId xmlns="" xmlns:a16="http://schemas.microsoft.com/office/drawing/2014/main" id="{2B8C4217-686E-4713-8FE0-20C9676D3AAB}"/>
                  </a:ext>
                </a:extLst>
              </p:cNvPr>
              <p:cNvSpPr txBox="1"/>
              <p:nvPr/>
            </p:nvSpPr>
            <p:spPr bwMode="gray">
              <a:xfrm>
                <a:off x="3289120" y="818811"/>
                <a:ext cx="663389" cy="40889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Arial Unicode MS" panose="020B0604020202020204" pitchFamily="34" charset="-122"/>
                    <a:sym typeface="Huawei Sans Light" panose="020C0303030203020204" pitchFamily="34" charset="0"/>
                  </a:rPr>
                  <a:t>B2B</a:t>
                </a:r>
                <a:endParaRPr kumimoji="0" lang="zh-CN" altLang="en-US" sz="1400" b="1" i="0" u="none" strike="noStrike" kern="0" cap="none" spc="0" normalizeH="0" baseline="0" noProof="0" dirty="0">
                  <a:ln>
                    <a:noFill/>
                  </a:ln>
                  <a:solidFill>
                    <a:srgbClr val="1D1D1A"/>
                  </a:solidFill>
                  <a:effectLst/>
                  <a:uLnTx/>
                  <a:uFillTx/>
                  <a:cs typeface="Arial Unicode MS" panose="020B0604020202020204" pitchFamily="34" charset="-122"/>
                  <a:sym typeface="Huawei Sans Light" panose="020C0303030203020204" pitchFamily="34" charset="0"/>
                </a:endParaRPr>
              </a:p>
            </p:txBody>
          </p:sp>
          <p:sp>
            <p:nvSpPr>
              <p:cNvPr id="71" name="文本框 70">
                <a:extLst>
                  <a:ext uri="{FF2B5EF4-FFF2-40B4-BE49-F238E27FC236}">
                    <a16:creationId xmlns="" xmlns:a16="http://schemas.microsoft.com/office/drawing/2014/main" id="{4DDB17F8-3F91-4CDF-A535-09C9DBF03009}"/>
                  </a:ext>
                </a:extLst>
              </p:cNvPr>
              <p:cNvSpPr txBox="1"/>
              <p:nvPr/>
            </p:nvSpPr>
            <p:spPr bwMode="gray">
              <a:xfrm>
                <a:off x="4432608" y="818811"/>
                <a:ext cx="663389" cy="40889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1D1D1A"/>
                    </a:solidFill>
                    <a:effectLst/>
                    <a:uLnTx/>
                    <a:uFillTx/>
                    <a:cs typeface="Arial Unicode MS" panose="020B0604020202020204" pitchFamily="34" charset="-122"/>
                    <a:sym typeface="Huawei Sans Light" panose="020C0303030203020204" pitchFamily="34" charset="0"/>
                  </a:rPr>
                  <a:t>B2H</a:t>
                </a:r>
                <a:endParaRPr kumimoji="0" lang="zh-CN" altLang="en-US" sz="1400" b="1" i="0" u="none" strike="noStrike" kern="0" cap="none" spc="0" normalizeH="0" baseline="0" noProof="0" dirty="0">
                  <a:ln>
                    <a:noFill/>
                  </a:ln>
                  <a:solidFill>
                    <a:srgbClr val="1D1D1A"/>
                  </a:solidFill>
                  <a:effectLst/>
                  <a:uLnTx/>
                  <a:uFillTx/>
                  <a:cs typeface="Arial Unicode MS" panose="020B0604020202020204" pitchFamily="34" charset="-122"/>
                  <a:sym typeface="Huawei Sans Light" panose="020C0303030203020204" pitchFamily="34" charset="0"/>
                </a:endParaRPr>
              </a:p>
            </p:txBody>
          </p:sp>
          <p:sp>
            <p:nvSpPr>
              <p:cNvPr id="72" name="文本框 71">
                <a:extLst>
                  <a:ext uri="{FF2B5EF4-FFF2-40B4-BE49-F238E27FC236}">
                    <a16:creationId xmlns="" xmlns:a16="http://schemas.microsoft.com/office/drawing/2014/main" id="{4EA679A5-1875-427A-A441-0AD17A53796A}"/>
                  </a:ext>
                </a:extLst>
              </p:cNvPr>
              <p:cNvSpPr txBox="1"/>
              <p:nvPr/>
            </p:nvSpPr>
            <p:spPr bwMode="gray">
              <a:xfrm>
                <a:off x="3346189" y="1284733"/>
                <a:ext cx="821191" cy="613336"/>
              </a:xfrm>
              <a:prstGeom prst="rect">
                <a:avLst/>
              </a:prstGeom>
              <a:noFill/>
            </p:spPr>
            <p:txBody>
              <a:bodyPr wrap="square" rtlCol="0">
                <a:spAutoFit/>
              </a:bodyPr>
              <a:lstStyle/>
              <a:p>
                <a:pPr marL="0" marR="0" lvl="0" indent="0" algn="ctr" defTabSz="914400" eaLnBrk="1" fontAlgn="auto" latinLnBrk="0" hangingPunct="1">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Huawei Sans Light" panose="020C0303030203020204" pitchFamily="34" charset="0"/>
                  </a:rPr>
                  <a:t>企业专线</a:t>
                </a:r>
                <a:endParaRPr kumimoji="0" lang="en-US" altLang="zh-CN" sz="1200" b="0" i="0" u="none" strike="noStrike" kern="0" cap="none" spc="0" normalizeH="0" baseline="0" noProof="0" dirty="0">
                  <a:ln>
                    <a:noFill/>
                  </a:ln>
                  <a:solidFill>
                    <a:srgbClr val="1D1D1A"/>
                  </a:solidFill>
                  <a:effectLst/>
                  <a:uLnTx/>
                  <a:uFillTx/>
                  <a:cs typeface="+mn-ea"/>
                  <a:sym typeface="Huawei Sans Light" panose="020C0303030203020204" pitchFamily="34" charset="0"/>
                </a:endParaRPr>
              </a:p>
              <a:p>
                <a:pPr marL="0" marR="0" lvl="0" indent="0" algn="ctr" defTabSz="914400" eaLnBrk="1" fontAlgn="auto" latinLnBrk="0" hangingPunct="1">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Huawei Sans Light" panose="020C0303030203020204" pitchFamily="34" charset="0"/>
                  </a:rPr>
                  <a:t>垂直行业</a:t>
                </a:r>
              </a:p>
            </p:txBody>
          </p:sp>
          <p:sp>
            <p:nvSpPr>
              <p:cNvPr id="73" name="文本框 72">
                <a:extLst>
                  <a:ext uri="{FF2B5EF4-FFF2-40B4-BE49-F238E27FC236}">
                    <a16:creationId xmlns="" xmlns:a16="http://schemas.microsoft.com/office/drawing/2014/main" id="{D1BD3389-4713-4DE0-B8DE-3B703BC5449B}"/>
                  </a:ext>
                </a:extLst>
              </p:cNvPr>
              <p:cNvSpPr txBox="1"/>
              <p:nvPr/>
            </p:nvSpPr>
            <p:spPr bwMode="gray">
              <a:xfrm>
                <a:off x="1928840" y="1241257"/>
                <a:ext cx="1170514" cy="613336"/>
              </a:xfrm>
              <a:prstGeom prst="rect">
                <a:avLst/>
              </a:prstGeom>
              <a:noFill/>
            </p:spPr>
            <p:txBody>
              <a:bodyPr wrap="square" rtlCol="0">
                <a:spAutoFit/>
              </a:bodyPr>
              <a:lstStyle/>
              <a:p>
                <a:pPr marL="0" marR="0" lvl="0" indent="0" algn="ctr" defTabSz="914400" eaLnBrk="1" fontAlgn="auto" latinLnBrk="0" hangingPunct="1">
                  <a:spcBef>
                    <a:spcPts val="0"/>
                  </a:spcBef>
                  <a:spcAft>
                    <a:spcPts val="0"/>
                  </a:spcAft>
                  <a:buClrTx/>
                  <a:buSzTx/>
                  <a:buFontTx/>
                  <a:buNone/>
                  <a:tabLst/>
                  <a:defRPr/>
                </a:pPr>
                <a:r>
                  <a:rPr kumimoji="0" lang="en-US" altLang="zh-CN" sz="1200" b="0" i="0" u="none" strike="noStrike" kern="0" cap="none" spc="0" normalizeH="0" baseline="0" noProof="0" dirty="0" err="1">
                    <a:ln>
                      <a:noFill/>
                    </a:ln>
                    <a:solidFill>
                      <a:srgbClr val="1D1D1A"/>
                    </a:solidFill>
                    <a:effectLst/>
                    <a:uLnTx/>
                    <a:uFillTx/>
                    <a:cs typeface="+mn-ea"/>
                    <a:sym typeface="Huawei Sans Light" panose="020C0303030203020204" pitchFamily="34" charset="0"/>
                  </a:rPr>
                  <a:t>CloudVR</a:t>
                </a:r>
                <a:endParaRPr kumimoji="0" lang="en-US" altLang="zh-CN" sz="1200" b="0" i="0" u="none" strike="noStrike" kern="0" cap="none" spc="0" normalizeH="0" baseline="0" noProof="0" dirty="0">
                  <a:ln>
                    <a:noFill/>
                  </a:ln>
                  <a:solidFill>
                    <a:srgbClr val="1D1D1A"/>
                  </a:solidFill>
                  <a:effectLst/>
                  <a:uLnTx/>
                  <a:uFillTx/>
                  <a:cs typeface="+mn-ea"/>
                  <a:sym typeface="Huawei Sans Light" panose="020C0303030203020204" pitchFamily="34" charset="0"/>
                </a:endParaRPr>
              </a:p>
              <a:p>
                <a:pPr marL="0" marR="0" lvl="0" indent="0" algn="ctr" defTabSz="914400" eaLnBrk="1" fontAlgn="auto" latinLnBrk="0" hangingPunct="1">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1D1D1A"/>
                    </a:solidFill>
                    <a:effectLst/>
                    <a:uLnTx/>
                    <a:uFillTx/>
                    <a:cs typeface="+mn-ea"/>
                    <a:sym typeface="Huawei Sans Light" panose="020C0303030203020204" pitchFamily="34" charset="0"/>
                  </a:rPr>
                  <a:t>在线游戏</a:t>
                </a:r>
                <a:endParaRPr kumimoji="0" lang="en-US" altLang="zh-CN" sz="1200" b="0" i="0" u="none" strike="noStrike" kern="0" cap="none" spc="0" normalizeH="0" baseline="0" noProof="0" dirty="0">
                  <a:ln>
                    <a:noFill/>
                  </a:ln>
                  <a:solidFill>
                    <a:srgbClr val="1D1D1A"/>
                  </a:solidFill>
                  <a:effectLst/>
                  <a:uLnTx/>
                  <a:uFillTx/>
                  <a:cs typeface="+mn-ea"/>
                  <a:sym typeface="Huawei Sans Light" panose="020C0303030203020204" pitchFamily="34" charset="0"/>
                </a:endParaRPr>
              </a:p>
            </p:txBody>
          </p:sp>
          <p:sp>
            <p:nvSpPr>
              <p:cNvPr id="74" name="文本框 73">
                <a:extLst>
                  <a:ext uri="{FF2B5EF4-FFF2-40B4-BE49-F238E27FC236}">
                    <a16:creationId xmlns="" xmlns:a16="http://schemas.microsoft.com/office/drawing/2014/main" id="{6051CE15-D5B2-481E-AB1F-1AB1E5F65DDF}"/>
                  </a:ext>
                </a:extLst>
              </p:cNvPr>
              <p:cNvSpPr txBox="1"/>
              <p:nvPr/>
            </p:nvSpPr>
            <p:spPr bwMode="gray">
              <a:xfrm>
                <a:off x="4544249" y="1225313"/>
                <a:ext cx="1055186" cy="613336"/>
              </a:xfrm>
              <a:prstGeom prst="rect">
                <a:avLst/>
              </a:prstGeom>
              <a:noFill/>
            </p:spPr>
            <p:txBody>
              <a:bodyPr wrap="square" rtlCol="0">
                <a:spAutoFit/>
              </a:bodyPr>
              <a:lstStyle/>
              <a:p>
                <a:pPr marL="0" marR="0" lvl="0" indent="0" defTabSz="914400" eaLnBrk="1" fontAlgn="auto" latinLnBrk="0" hangingPunct="1">
                  <a:spcBef>
                    <a:spcPts val="0"/>
                  </a:spcBef>
                  <a:spcAft>
                    <a:spcPts val="0"/>
                  </a:spcAft>
                  <a:buClrTx/>
                  <a:buSzTx/>
                  <a:buFontTx/>
                  <a:buNone/>
                  <a:tabLst/>
                  <a:defRPr/>
                </a:pPr>
                <a:r>
                  <a:rPr kumimoji="0" lang="en-US" altLang="zh-CN" sz="1200" b="0" i="0" u="none" strike="noStrike" kern="0" cap="none" spc="0" normalizeH="0" baseline="0" noProof="0" dirty="0" smtClean="0">
                    <a:ln>
                      <a:noFill/>
                    </a:ln>
                    <a:solidFill>
                      <a:srgbClr val="1D1D1A"/>
                    </a:solidFill>
                    <a:effectLst/>
                    <a:uLnTx/>
                    <a:uFillTx/>
                    <a:cs typeface="+mn-ea"/>
                    <a:sym typeface="Huawei Sans Light" panose="020C0303030203020204" pitchFamily="34" charset="0"/>
                  </a:rPr>
                  <a:t>4k/8k</a:t>
                </a:r>
                <a:r>
                  <a:rPr kumimoji="0" lang="zh-CN" altLang="en-US" sz="1200" b="0" i="0" u="none" strike="noStrike" kern="0" cap="none" spc="0" normalizeH="0" baseline="0" noProof="0" dirty="0">
                    <a:ln>
                      <a:noFill/>
                    </a:ln>
                    <a:solidFill>
                      <a:srgbClr val="1D1D1A"/>
                    </a:solidFill>
                    <a:effectLst/>
                    <a:uLnTx/>
                    <a:uFillTx/>
                    <a:cs typeface="+mn-ea"/>
                    <a:sym typeface="Huawei Sans Light" panose="020C0303030203020204" pitchFamily="34" charset="0"/>
                  </a:rPr>
                  <a:t>视频</a:t>
                </a:r>
                <a:endParaRPr kumimoji="0" lang="en-US" altLang="zh-CN" sz="1200" b="0" i="0" u="none" strike="noStrike" kern="0" cap="none" spc="0" normalizeH="0" baseline="0" noProof="0" dirty="0">
                  <a:ln>
                    <a:noFill/>
                  </a:ln>
                  <a:solidFill>
                    <a:srgbClr val="1D1D1A"/>
                  </a:solidFill>
                  <a:effectLst/>
                  <a:uLnTx/>
                  <a:uFillTx/>
                  <a:cs typeface="+mn-ea"/>
                  <a:sym typeface="Huawei Sans Light" panose="020C0303030203020204" pitchFamily="34" charset="0"/>
                </a:endParaRPr>
              </a:p>
              <a:p>
                <a:pPr marL="0" marR="0" lvl="0" indent="0" defTabSz="914400" eaLnBrk="1" fontAlgn="auto" latinLnBrk="0" hangingPunct="1">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cs typeface="+mn-ea"/>
                    <a:sym typeface="Huawei Sans Light" panose="020C0303030203020204" pitchFamily="34" charset="0"/>
                  </a:rPr>
                  <a:t>Internet</a:t>
                </a:r>
              </a:p>
            </p:txBody>
          </p:sp>
          <p:sp>
            <p:nvSpPr>
              <p:cNvPr id="75" name="Freeform 149">
                <a:extLst>
                  <a:ext uri="{FF2B5EF4-FFF2-40B4-BE49-F238E27FC236}">
                    <a16:creationId xmlns="" xmlns:a16="http://schemas.microsoft.com/office/drawing/2014/main" id="{B8351E1F-D534-4FCE-AD7D-D65322072F51}"/>
                  </a:ext>
                </a:extLst>
              </p:cNvPr>
              <p:cNvSpPr>
                <a:spLocks noEditPoints="1"/>
              </p:cNvSpPr>
              <p:nvPr/>
            </p:nvSpPr>
            <p:spPr bwMode="gray">
              <a:xfrm>
                <a:off x="1917892" y="1614456"/>
                <a:ext cx="167395" cy="142821"/>
              </a:xfrm>
              <a:custGeom>
                <a:avLst/>
                <a:gdLst>
                  <a:gd name="connsiteX0" fmla="*/ 456735 w 608133"/>
                  <a:gd name="connsiteY0" fmla="*/ 350827 h 456699"/>
                  <a:gd name="connsiteX1" fmla="*/ 447032 w 608133"/>
                  <a:gd name="connsiteY1" fmla="*/ 360518 h 456699"/>
                  <a:gd name="connsiteX2" fmla="*/ 456735 w 608133"/>
                  <a:gd name="connsiteY2" fmla="*/ 370209 h 456699"/>
                  <a:gd name="connsiteX3" fmla="*/ 466437 w 608133"/>
                  <a:gd name="connsiteY3" fmla="*/ 360518 h 456699"/>
                  <a:gd name="connsiteX4" fmla="*/ 456735 w 608133"/>
                  <a:gd name="connsiteY4" fmla="*/ 350827 h 456699"/>
                  <a:gd name="connsiteX5" fmla="*/ 456735 w 608133"/>
                  <a:gd name="connsiteY5" fmla="*/ 331445 h 456699"/>
                  <a:gd name="connsiteX6" fmla="*/ 485843 w 608133"/>
                  <a:gd name="connsiteY6" fmla="*/ 360518 h 456699"/>
                  <a:gd name="connsiteX7" fmla="*/ 456735 w 608133"/>
                  <a:gd name="connsiteY7" fmla="*/ 389591 h 456699"/>
                  <a:gd name="connsiteX8" fmla="*/ 427627 w 608133"/>
                  <a:gd name="connsiteY8" fmla="*/ 360518 h 456699"/>
                  <a:gd name="connsiteX9" fmla="*/ 456735 w 608133"/>
                  <a:gd name="connsiteY9" fmla="*/ 331445 h 456699"/>
                  <a:gd name="connsiteX10" fmla="*/ 511635 w 608133"/>
                  <a:gd name="connsiteY10" fmla="*/ 295998 h 456699"/>
                  <a:gd name="connsiteX11" fmla="*/ 501933 w 608133"/>
                  <a:gd name="connsiteY11" fmla="*/ 305689 h 456699"/>
                  <a:gd name="connsiteX12" fmla="*/ 511635 w 608133"/>
                  <a:gd name="connsiteY12" fmla="*/ 315380 h 456699"/>
                  <a:gd name="connsiteX13" fmla="*/ 521338 w 608133"/>
                  <a:gd name="connsiteY13" fmla="*/ 305689 h 456699"/>
                  <a:gd name="connsiteX14" fmla="*/ 511635 w 608133"/>
                  <a:gd name="connsiteY14" fmla="*/ 295998 h 456699"/>
                  <a:gd name="connsiteX15" fmla="*/ 401835 w 608133"/>
                  <a:gd name="connsiteY15" fmla="*/ 295998 h 456699"/>
                  <a:gd name="connsiteX16" fmla="*/ 392132 w 608133"/>
                  <a:gd name="connsiteY16" fmla="*/ 305689 h 456699"/>
                  <a:gd name="connsiteX17" fmla="*/ 401835 w 608133"/>
                  <a:gd name="connsiteY17" fmla="*/ 315380 h 456699"/>
                  <a:gd name="connsiteX18" fmla="*/ 411537 w 608133"/>
                  <a:gd name="connsiteY18" fmla="*/ 305689 h 456699"/>
                  <a:gd name="connsiteX19" fmla="*/ 401835 w 608133"/>
                  <a:gd name="connsiteY19" fmla="*/ 295998 h 456699"/>
                  <a:gd name="connsiteX20" fmla="*/ 511635 w 608133"/>
                  <a:gd name="connsiteY20" fmla="*/ 276616 h 456699"/>
                  <a:gd name="connsiteX21" fmla="*/ 540743 w 608133"/>
                  <a:gd name="connsiteY21" fmla="*/ 305689 h 456699"/>
                  <a:gd name="connsiteX22" fmla="*/ 511635 w 608133"/>
                  <a:gd name="connsiteY22" fmla="*/ 334762 h 456699"/>
                  <a:gd name="connsiteX23" fmla="*/ 482527 w 608133"/>
                  <a:gd name="connsiteY23" fmla="*/ 305689 h 456699"/>
                  <a:gd name="connsiteX24" fmla="*/ 511635 w 608133"/>
                  <a:gd name="connsiteY24" fmla="*/ 276616 h 456699"/>
                  <a:gd name="connsiteX25" fmla="*/ 401835 w 608133"/>
                  <a:gd name="connsiteY25" fmla="*/ 276616 h 456699"/>
                  <a:gd name="connsiteX26" fmla="*/ 430943 w 608133"/>
                  <a:gd name="connsiteY26" fmla="*/ 305689 h 456699"/>
                  <a:gd name="connsiteX27" fmla="*/ 401835 w 608133"/>
                  <a:gd name="connsiteY27" fmla="*/ 334762 h 456699"/>
                  <a:gd name="connsiteX28" fmla="*/ 372727 w 608133"/>
                  <a:gd name="connsiteY28" fmla="*/ 305689 h 456699"/>
                  <a:gd name="connsiteX29" fmla="*/ 401835 w 608133"/>
                  <a:gd name="connsiteY29" fmla="*/ 276616 h 456699"/>
                  <a:gd name="connsiteX30" fmla="*/ 277920 w 608133"/>
                  <a:gd name="connsiteY30" fmla="*/ 272735 h 456699"/>
                  <a:gd name="connsiteX31" fmla="*/ 330211 w 608133"/>
                  <a:gd name="connsiteY31" fmla="*/ 272735 h 456699"/>
                  <a:gd name="connsiteX32" fmla="*/ 339913 w 608133"/>
                  <a:gd name="connsiteY32" fmla="*/ 282403 h 456699"/>
                  <a:gd name="connsiteX33" fmla="*/ 330211 w 608133"/>
                  <a:gd name="connsiteY33" fmla="*/ 292070 h 456699"/>
                  <a:gd name="connsiteX34" fmla="*/ 277920 w 608133"/>
                  <a:gd name="connsiteY34" fmla="*/ 292070 h 456699"/>
                  <a:gd name="connsiteX35" fmla="*/ 268219 w 608133"/>
                  <a:gd name="connsiteY35" fmla="*/ 282403 h 456699"/>
                  <a:gd name="connsiteX36" fmla="*/ 277920 w 608133"/>
                  <a:gd name="connsiteY36" fmla="*/ 272735 h 456699"/>
                  <a:gd name="connsiteX37" fmla="*/ 137786 w 608133"/>
                  <a:gd name="connsiteY37" fmla="*/ 241164 h 456699"/>
                  <a:gd name="connsiteX38" fmla="*/ 137786 w 608133"/>
                  <a:gd name="connsiteY38" fmla="*/ 282437 h 456699"/>
                  <a:gd name="connsiteX39" fmla="*/ 128080 w 608133"/>
                  <a:gd name="connsiteY39" fmla="*/ 292125 h 456699"/>
                  <a:gd name="connsiteX40" fmla="*/ 86731 w 608133"/>
                  <a:gd name="connsiteY40" fmla="*/ 292125 h 456699"/>
                  <a:gd name="connsiteX41" fmla="*/ 86731 w 608133"/>
                  <a:gd name="connsiteY41" fmla="*/ 319253 h 456699"/>
                  <a:gd name="connsiteX42" fmla="*/ 128080 w 608133"/>
                  <a:gd name="connsiteY42" fmla="*/ 319253 h 456699"/>
                  <a:gd name="connsiteX43" fmla="*/ 137786 w 608133"/>
                  <a:gd name="connsiteY43" fmla="*/ 328942 h 456699"/>
                  <a:gd name="connsiteX44" fmla="*/ 137786 w 608133"/>
                  <a:gd name="connsiteY44" fmla="*/ 370214 h 456699"/>
                  <a:gd name="connsiteX45" fmla="*/ 164964 w 608133"/>
                  <a:gd name="connsiteY45" fmla="*/ 370214 h 456699"/>
                  <a:gd name="connsiteX46" fmla="*/ 164964 w 608133"/>
                  <a:gd name="connsiteY46" fmla="*/ 328942 h 456699"/>
                  <a:gd name="connsiteX47" fmla="*/ 174670 w 608133"/>
                  <a:gd name="connsiteY47" fmla="*/ 319253 h 456699"/>
                  <a:gd name="connsiteX48" fmla="*/ 215922 w 608133"/>
                  <a:gd name="connsiteY48" fmla="*/ 319253 h 456699"/>
                  <a:gd name="connsiteX49" fmla="*/ 215922 w 608133"/>
                  <a:gd name="connsiteY49" fmla="*/ 292125 h 456699"/>
                  <a:gd name="connsiteX50" fmla="*/ 174670 w 608133"/>
                  <a:gd name="connsiteY50" fmla="*/ 292125 h 456699"/>
                  <a:gd name="connsiteX51" fmla="*/ 164964 w 608133"/>
                  <a:gd name="connsiteY51" fmla="*/ 282437 h 456699"/>
                  <a:gd name="connsiteX52" fmla="*/ 164964 w 608133"/>
                  <a:gd name="connsiteY52" fmla="*/ 241164 h 456699"/>
                  <a:gd name="connsiteX53" fmla="*/ 456735 w 608133"/>
                  <a:gd name="connsiteY53" fmla="*/ 241098 h 456699"/>
                  <a:gd name="connsiteX54" fmla="*/ 447032 w 608133"/>
                  <a:gd name="connsiteY54" fmla="*/ 250789 h 456699"/>
                  <a:gd name="connsiteX55" fmla="*/ 456735 w 608133"/>
                  <a:gd name="connsiteY55" fmla="*/ 260480 h 456699"/>
                  <a:gd name="connsiteX56" fmla="*/ 466437 w 608133"/>
                  <a:gd name="connsiteY56" fmla="*/ 250789 h 456699"/>
                  <a:gd name="connsiteX57" fmla="*/ 456735 w 608133"/>
                  <a:gd name="connsiteY57" fmla="*/ 241098 h 456699"/>
                  <a:gd name="connsiteX58" fmla="*/ 128080 w 608133"/>
                  <a:gd name="connsiteY58" fmla="*/ 221787 h 456699"/>
                  <a:gd name="connsiteX59" fmla="*/ 174670 w 608133"/>
                  <a:gd name="connsiteY59" fmla="*/ 221787 h 456699"/>
                  <a:gd name="connsiteX60" fmla="*/ 184377 w 608133"/>
                  <a:gd name="connsiteY60" fmla="*/ 231475 h 456699"/>
                  <a:gd name="connsiteX61" fmla="*/ 184377 w 608133"/>
                  <a:gd name="connsiteY61" fmla="*/ 272748 h 456699"/>
                  <a:gd name="connsiteX62" fmla="*/ 225628 w 608133"/>
                  <a:gd name="connsiteY62" fmla="*/ 272748 h 456699"/>
                  <a:gd name="connsiteX63" fmla="*/ 235335 w 608133"/>
                  <a:gd name="connsiteY63" fmla="*/ 282437 h 456699"/>
                  <a:gd name="connsiteX64" fmla="*/ 235335 w 608133"/>
                  <a:gd name="connsiteY64" fmla="*/ 328942 h 456699"/>
                  <a:gd name="connsiteX65" fmla="*/ 225628 w 608133"/>
                  <a:gd name="connsiteY65" fmla="*/ 338630 h 456699"/>
                  <a:gd name="connsiteX66" fmla="*/ 184377 w 608133"/>
                  <a:gd name="connsiteY66" fmla="*/ 338630 h 456699"/>
                  <a:gd name="connsiteX67" fmla="*/ 184377 w 608133"/>
                  <a:gd name="connsiteY67" fmla="*/ 379903 h 456699"/>
                  <a:gd name="connsiteX68" fmla="*/ 174670 w 608133"/>
                  <a:gd name="connsiteY68" fmla="*/ 389591 h 456699"/>
                  <a:gd name="connsiteX69" fmla="*/ 128080 w 608133"/>
                  <a:gd name="connsiteY69" fmla="*/ 389591 h 456699"/>
                  <a:gd name="connsiteX70" fmla="*/ 118374 w 608133"/>
                  <a:gd name="connsiteY70" fmla="*/ 379903 h 456699"/>
                  <a:gd name="connsiteX71" fmla="*/ 118374 w 608133"/>
                  <a:gd name="connsiteY71" fmla="*/ 338630 h 456699"/>
                  <a:gd name="connsiteX72" fmla="*/ 77025 w 608133"/>
                  <a:gd name="connsiteY72" fmla="*/ 338630 h 456699"/>
                  <a:gd name="connsiteX73" fmla="*/ 67319 w 608133"/>
                  <a:gd name="connsiteY73" fmla="*/ 328942 h 456699"/>
                  <a:gd name="connsiteX74" fmla="*/ 67319 w 608133"/>
                  <a:gd name="connsiteY74" fmla="*/ 282437 h 456699"/>
                  <a:gd name="connsiteX75" fmla="*/ 77025 w 608133"/>
                  <a:gd name="connsiteY75" fmla="*/ 272748 h 456699"/>
                  <a:gd name="connsiteX76" fmla="*/ 118374 w 608133"/>
                  <a:gd name="connsiteY76" fmla="*/ 272748 h 456699"/>
                  <a:gd name="connsiteX77" fmla="*/ 118374 w 608133"/>
                  <a:gd name="connsiteY77" fmla="*/ 231475 h 456699"/>
                  <a:gd name="connsiteX78" fmla="*/ 128080 w 608133"/>
                  <a:gd name="connsiteY78" fmla="*/ 221787 h 456699"/>
                  <a:gd name="connsiteX79" fmla="*/ 456735 w 608133"/>
                  <a:gd name="connsiteY79" fmla="*/ 221716 h 456699"/>
                  <a:gd name="connsiteX80" fmla="*/ 485843 w 608133"/>
                  <a:gd name="connsiteY80" fmla="*/ 250789 h 456699"/>
                  <a:gd name="connsiteX81" fmla="*/ 456735 w 608133"/>
                  <a:gd name="connsiteY81" fmla="*/ 279862 h 456699"/>
                  <a:gd name="connsiteX82" fmla="*/ 427627 w 608133"/>
                  <a:gd name="connsiteY82" fmla="*/ 250789 h 456699"/>
                  <a:gd name="connsiteX83" fmla="*/ 456735 w 608133"/>
                  <a:gd name="connsiteY83" fmla="*/ 221716 h 456699"/>
                  <a:gd name="connsiteX84" fmla="*/ 280147 w 608133"/>
                  <a:gd name="connsiteY84" fmla="*/ 135052 h 456699"/>
                  <a:gd name="connsiteX85" fmla="*/ 280147 w 608133"/>
                  <a:gd name="connsiteY85" fmla="*/ 164214 h 456699"/>
                  <a:gd name="connsiteX86" fmla="*/ 270443 w 608133"/>
                  <a:gd name="connsiteY86" fmla="*/ 173902 h 456699"/>
                  <a:gd name="connsiteX87" fmla="*/ 151378 w 608133"/>
                  <a:gd name="connsiteY87" fmla="*/ 173902 h 456699"/>
                  <a:gd name="connsiteX88" fmla="*/ 19407 w 608133"/>
                  <a:gd name="connsiteY88" fmla="*/ 305661 h 456699"/>
                  <a:gd name="connsiteX89" fmla="*/ 151378 w 608133"/>
                  <a:gd name="connsiteY89" fmla="*/ 437323 h 456699"/>
                  <a:gd name="connsiteX90" fmla="*/ 269181 w 608133"/>
                  <a:gd name="connsiteY90" fmla="*/ 364759 h 456699"/>
                  <a:gd name="connsiteX91" fmla="*/ 277915 w 608133"/>
                  <a:gd name="connsiteY91" fmla="*/ 359430 h 456699"/>
                  <a:gd name="connsiteX92" fmla="*/ 330218 w 608133"/>
                  <a:gd name="connsiteY92" fmla="*/ 359430 h 456699"/>
                  <a:gd name="connsiteX93" fmla="*/ 338854 w 608133"/>
                  <a:gd name="connsiteY93" fmla="*/ 364759 h 456699"/>
                  <a:gd name="connsiteX94" fmla="*/ 456755 w 608133"/>
                  <a:gd name="connsiteY94" fmla="*/ 437323 h 456699"/>
                  <a:gd name="connsiteX95" fmla="*/ 588726 w 608133"/>
                  <a:gd name="connsiteY95" fmla="*/ 305661 h 456699"/>
                  <a:gd name="connsiteX96" fmla="*/ 456755 w 608133"/>
                  <a:gd name="connsiteY96" fmla="*/ 173902 h 456699"/>
                  <a:gd name="connsiteX97" fmla="*/ 309258 w 608133"/>
                  <a:gd name="connsiteY97" fmla="*/ 173902 h 456699"/>
                  <a:gd name="connsiteX98" fmla="*/ 299554 w 608133"/>
                  <a:gd name="connsiteY98" fmla="*/ 164214 h 456699"/>
                  <a:gd name="connsiteX99" fmla="*/ 309258 w 608133"/>
                  <a:gd name="connsiteY99" fmla="*/ 154526 h 456699"/>
                  <a:gd name="connsiteX100" fmla="*/ 327986 w 608133"/>
                  <a:gd name="connsiteY100" fmla="*/ 154526 h 456699"/>
                  <a:gd name="connsiteX101" fmla="*/ 327986 w 608133"/>
                  <a:gd name="connsiteY101" fmla="*/ 135052 h 456699"/>
                  <a:gd name="connsiteX102" fmla="*/ 348073 w 608133"/>
                  <a:gd name="connsiteY102" fmla="*/ 0 h 456699"/>
                  <a:gd name="connsiteX103" fmla="*/ 598429 w 608133"/>
                  <a:gd name="connsiteY103" fmla="*/ 0 h 456699"/>
                  <a:gd name="connsiteX104" fmla="*/ 608133 w 608133"/>
                  <a:gd name="connsiteY104" fmla="*/ 9688 h 456699"/>
                  <a:gd name="connsiteX105" fmla="*/ 598429 w 608133"/>
                  <a:gd name="connsiteY105" fmla="*/ 19376 h 456699"/>
                  <a:gd name="connsiteX106" fmla="*/ 348073 w 608133"/>
                  <a:gd name="connsiteY106" fmla="*/ 19376 h 456699"/>
                  <a:gd name="connsiteX107" fmla="*/ 313721 w 608133"/>
                  <a:gd name="connsiteY107" fmla="*/ 53672 h 456699"/>
                  <a:gd name="connsiteX108" fmla="*/ 313721 w 608133"/>
                  <a:gd name="connsiteY108" fmla="*/ 115676 h 456699"/>
                  <a:gd name="connsiteX109" fmla="*/ 337690 w 608133"/>
                  <a:gd name="connsiteY109" fmla="*/ 115676 h 456699"/>
                  <a:gd name="connsiteX110" fmla="*/ 347393 w 608133"/>
                  <a:gd name="connsiteY110" fmla="*/ 125364 h 456699"/>
                  <a:gd name="connsiteX111" fmla="*/ 347393 w 608133"/>
                  <a:gd name="connsiteY111" fmla="*/ 154526 h 456699"/>
                  <a:gd name="connsiteX112" fmla="*/ 456755 w 608133"/>
                  <a:gd name="connsiteY112" fmla="*/ 154526 h 456699"/>
                  <a:gd name="connsiteX113" fmla="*/ 608133 w 608133"/>
                  <a:gd name="connsiteY113" fmla="*/ 305661 h 456699"/>
                  <a:gd name="connsiteX114" fmla="*/ 456755 w 608133"/>
                  <a:gd name="connsiteY114" fmla="*/ 456699 h 456699"/>
                  <a:gd name="connsiteX115" fmla="*/ 324396 w 608133"/>
                  <a:gd name="connsiteY115" fmla="*/ 378807 h 456699"/>
                  <a:gd name="connsiteX116" fmla="*/ 283737 w 608133"/>
                  <a:gd name="connsiteY116" fmla="*/ 378807 h 456699"/>
                  <a:gd name="connsiteX117" fmla="*/ 151378 w 608133"/>
                  <a:gd name="connsiteY117" fmla="*/ 456699 h 456699"/>
                  <a:gd name="connsiteX118" fmla="*/ 0 w 608133"/>
                  <a:gd name="connsiteY118" fmla="*/ 305661 h 456699"/>
                  <a:gd name="connsiteX119" fmla="*/ 151378 w 608133"/>
                  <a:gd name="connsiteY119" fmla="*/ 154526 h 456699"/>
                  <a:gd name="connsiteX120" fmla="*/ 260739 w 608133"/>
                  <a:gd name="connsiteY120" fmla="*/ 154526 h 456699"/>
                  <a:gd name="connsiteX121" fmla="*/ 260739 w 608133"/>
                  <a:gd name="connsiteY121" fmla="*/ 125364 h 456699"/>
                  <a:gd name="connsiteX122" fmla="*/ 270443 w 608133"/>
                  <a:gd name="connsiteY122" fmla="*/ 115676 h 456699"/>
                  <a:gd name="connsiteX123" fmla="*/ 294314 w 608133"/>
                  <a:gd name="connsiteY123" fmla="*/ 115676 h 456699"/>
                  <a:gd name="connsiteX124" fmla="*/ 294314 w 608133"/>
                  <a:gd name="connsiteY124" fmla="*/ 53672 h 456699"/>
                  <a:gd name="connsiteX125" fmla="*/ 348073 w 608133"/>
                  <a:gd name="connsiteY125" fmla="*/ 0 h 45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8133" h="456699">
                    <a:moveTo>
                      <a:pt x="456735" y="350827"/>
                    </a:moveTo>
                    <a:cubicBezTo>
                      <a:pt x="451398" y="350827"/>
                      <a:pt x="447032" y="355091"/>
                      <a:pt x="447032" y="360518"/>
                    </a:cubicBezTo>
                    <a:cubicBezTo>
                      <a:pt x="447032" y="365848"/>
                      <a:pt x="451398" y="370209"/>
                      <a:pt x="456735" y="370209"/>
                    </a:cubicBezTo>
                    <a:cubicBezTo>
                      <a:pt x="462071" y="370209"/>
                      <a:pt x="466437" y="365848"/>
                      <a:pt x="466437" y="360518"/>
                    </a:cubicBezTo>
                    <a:cubicBezTo>
                      <a:pt x="466437" y="355091"/>
                      <a:pt x="462071" y="350827"/>
                      <a:pt x="456735" y="350827"/>
                    </a:cubicBezTo>
                    <a:close/>
                    <a:moveTo>
                      <a:pt x="456735" y="331445"/>
                    </a:moveTo>
                    <a:cubicBezTo>
                      <a:pt x="472841" y="331445"/>
                      <a:pt x="485843" y="344431"/>
                      <a:pt x="485843" y="360518"/>
                    </a:cubicBezTo>
                    <a:cubicBezTo>
                      <a:pt x="485843" y="376508"/>
                      <a:pt x="472841" y="389591"/>
                      <a:pt x="456735" y="389591"/>
                    </a:cubicBezTo>
                    <a:cubicBezTo>
                      <a:pt x="440725" y="389591"/>
                      <a:pt x="427627" y="376508"/>
                      <a:pt x="427627" y="360518"/>
                    </a:cubicBezTo>
                    <a:cubicBezTo>
                      <a:pt x="427627" y="344431"/>
                      <a:pt x="440725" y="331445"/>
                      <a:pt x="456735" y="331445"/>
                    </a:cubicBezTo>
                    <a:close/>
                    <a:moveTo>
                      <a:pt x="511635" y="295998"/>
                    </a:moveTo>
                    <a:cubicBezTo>
                      <a:pt x="506299" y="295998"/>
                      <a:pt x="501933" y="300359"/>
                      <a:pt x="501933" y="305689"/>
                    </a:cubicBezTo>
                    <a:cubicBezTo>
                      <a:pt x="501933" y="311019"/>
                      <a:pt x="506299" y="315380"/>
                      <a:pt x="511635" y="315380"/>
                    </a:cubicBezTo>
                    <a:cubicBezTo>
                      <a:pt x="516972" y="315380"/>
                      <a:pt x="521338" y="311019"/>
                      <a:pt x="521338" y="305689"/>
                    </a:cubicBezTo>
                    <a:cubicBezTo>
                      <a:pt x="521338" y="300359"/>
                      <a:pt x="516972" y="295998"/>
                      <a:pt x="511635" y="295998"/>
                    </a:cubicBezTo>
                    <a:close/>
                    <a:moveTo>
                      <a:pt x="401835" y="295998"/>
                    </a:moveTo>
                    <a:cubicBezTo>
                      <a:pt x="396498" y="295998"/>
                      <a:pt x="392132" y="300359"/>
                      <a:pt x="392132" y="305689"/>
                    </a:cubicBezTo>
                    <a:cubicBezTo>
                      <a:pt x="392132" y="311019"/>
                      <a:pt x="396498" y="315380"/>
                      <a:pt x="401835" y="315380"/>
                    </a:cubicBezTo>
                    <a:cubicBezTo>
                      <a:pt x="407268" y="315380"/>
                      <a:pt x="411537" y="311019"/>
                      <a:pt x="411537" y="305689"/>
                    </a:cubicBezTo>
                    <a:cubicBezTo>
                      <a:pt x="411537" y="300359"/>
                      <a:pt x="407268" y="295998"/>
                      <a:pt x="401835" y="295998"/>
                    </a:cubicBezTo>
                    <a:close/>
                    <a:moveTo>
                      <a:pt x="511635" y="276616"/>
                    </a:moveTo>
                    <a:cubicBezTo>
                      <a:pt x="527645" y="276616"/>
                      <a:pt x="540743" y="289699"/>
                      <a:pt x="540743" y="305689"/>
                    </a:cubicBezTo>
                    <a:cubicBezTo>
                      <a:pt x="540743" y="321679"/>
                      <a:pt x="527645" y="334762"/>
                      <a:pt x="511635" y="334762"/>
                    </a:cubicBezTo>
                    <a:cubicBezTo>
                      <a:pt x="495529" y="334762"/>
                      <a:pt x="482527" y="321679"/>
                      <a:pt x="482527" y="305689"/>
                    </a:cubicBezTo>
                    <a:cubicBezTo>
                      <a:pt x="482527" y="289699"/>
                      <a:pt x="495529" y="276616"/>
                      <a:pt x="511635" y="276616"/>
                    </a:cubicBezTo>
                    <a:close/>
                    <a:moveTo>
                      <a:pt x="401835" y="276616"/>
                    </a:moveTo>
                    <a:cubicBezTo>
                      <a:pt x="417941" y="276616"/>
                      <a:pt x="430943" y="289699"/>
                      <a:pt x="430943" y="305689"/>
                    </a:cubicBezTo>
                    <a:cubicBezTo>
                      <a:pt x="430943" y="321679"/>
                      <a:pt x="417941" y="334762"/>
                      <a:pt x="401835" y="334762"/>
                    </a:cubicBezTo>
                    <a:cubicBezTo>
                      <a:pt x="385825" y="334762"/>
                      <a:pt x="372727" y="321679"/>
                      <a:pt x="372727" y="305689"/>
                    </a:cubicBezTo>
                    <a:cubicBezTo>
                      <a:pt x="372727" y="289699"/>
                      <a:pt x="385825" y="276616"/>
                      <a:pt x="401835" y="276616"/>
                    </a:cubicBezTo>
                    <a:close/>
                    <a:moveTo>
                      <a:pt x="277920" y="272735"/>
                    </a:moveTo>
                    <a:lnTo>
                      <a:pt x="330211" y="272735"/>
                    </a:lnTo>
                    <a:cubicBezTo>
                      <a:pt x="335547" y="272735"/>
                      <a:pt x="339913" y="277086"/>
                      <a:pt x="339913" y="282403"/>
                    </a:cubicBezTo>
                    <a:cubicBezTo>
                      <a:pt x="339913" y="287720"/>
                      <a:pt x="335547" y="292070"/>
                      <a:pt x="330211" y="292070"/>
                    </a:cubicBezTo>
                    <a:lnTo>
                      <a:pt x="277920" y="292070"/>
                    </a:lnTo>
                    <a:cubicBezTo>
                      <a:pt x="272487" y="292070"/>
                      <a:pt x="268219" y="287720"/>
                      <a:pt x="268219" y="282403"/>
                    </a:cubicBezTo>
                    <a:cubicBezTo>
                      <a:pt x="268219" y="277086"/>
                      <a:pt x="272487" y="272735"/>
                      <a:pt x="277920" y="272735"/>
                    </a:cubicBezTo>
                    <a:close/>
                    <a:moveTo>
                      <a:pt x="137786" y="241164"/>
                    </a:moveTo>
                    <a:lnTo>
                      <a:pt x="137786" y="282437"/>
                    </a:lnTo>
                    <a:cubicBezTo>
                      <a:pt x="137786" y="287766"/>
                      <a:pt x="133419" y="292125"/>
                      <a:pt x="128080" y="292125"/>
                    </a:cubicBezTo>
                    <a:lnTo>
                      <a:pt x="86731" y="292125"/>
                    </a:lnTo>
                    <a:lnTo>
                      <a:pt x="86731" y="319253"/>
                    </a:lnTo>
                    <a:lnTo>
                      <a:pt x="128080" y="319253"/>
                    </a:lnTo>
                    <a:cubicBezTo>
                      <a:pt x="133419" y="319253"/>
                      <a:pt x="137786" y="323613"/>
                      <a:pt x="137786" y="328942"/>
                    </a:cubicBezTo>
                    <a:lnTo>
                      <a:pt x="137786" y="370214"/>
                    </a:lnTo>
                    <a:lnTo>
                      <a:pt x="164964" y="370214"/>
                    </a:lnTo>
                    <a:lnTo>
                      <a:pt x="164964" y="328942"/>
                    </a:lnTo>
                    <a:cubicBezTo>
                      <a:pt x="164964" y="323613"/>
                      <a:pt x="169235" y="319253"/>
                      <a:pt x="174670" y="319253"/>
                    </a:cubicBezTo>
                    <a:lnTo>
                      <a:pt x="215922" y="319253"/>
                    </a:lnTo>
                    <a:lnTo>
                      <a:pt x="215922" y="292125"/>
                    </a:lnTo>
                    <a:lnTo>
                      <a:pt x="174670" y="292125"/>
                    </a:lnTo>
                    <a:cubicBezTo>
                      <a:pt x="169235" y="292125"/>
                      <a:pt x="164964" y="287766"/>
                      <a:pt x="164964" y="282437"/>
                    </a:cubicBezTo>
                    <a:lnTo>
                      <a:pt x="164964" y="241164"/>
                    </a:lnTo>
                    <a:close/>
                    <a:moveTo>
                      <a:pt x="456735" y="241098"/>
                    </a:moveTo>
                    <a:cubicBezTo>
                      <a:pt x="451398" y="241098"/>
                      <a:pt x="447032" y="245459"/>
                      <a:pt x="447032" y="250789"/>
                    </a:cubicBezTo>
                    <a:cubicBezTo>
                      <a:pt x="447032" y="256119"/>
                      <a:pt x="451398" y="260480"/>
                      <a:pt x="456735" y="260480"/>
                    </a:cubicBezTo>
                    <a:cubicBezTo>
                      <a:pt x="462071" y="260480"/>
                      <a:pt x="466437" y="256119"/>
                      <a:pt x="466437" y="250789"/>
                    </a:cubicBezTo>
                    <a:cubicBezTo>
                      <a:pt x="466437" y="245459"/>
                      <a:pt x="462071" y="241098"/>
                      <a:pt x="456735" y="241098"/>
                    </a:cubicBezTo>
                    <a:close/>
                    <a:moveTo>
                      <a:pt x="128080" y="221787"/>
                    </a:moveTo>
                    <a:lnTo>
                      <a:pt x="174670" y="221787"/>
                    </a:lnTo>
                    <a:cubicBezTo>
                      <a:pt x="180009" y="221787"/>
                      <a:pt x="184377" y="226147"/>
                      <a:pt x="184377" y="231475"/>
                    </a:cubicBezTo>
                    <a:lnTo>
                      <a:pt x="184377" y="272748"/>
                    </a:lnTo>
                    <a:lnTo>
                      <a:pt x="225628" y="272748"/>
                    </a:lnTo>
                    <a:cubicBezTo>
                      <a:pt x="230967" y="272748"/>
                      <a:pt x="235335" y="277108"/>
                      <a:pt x="235335" y="282437"/>
                    </a:cubicBezTo>
                    <a:lnTo>
                      <a:pt x="235335" y="328942"/>
                    </a:lnTo>
                    <a:cubicBezTo>
                      <a:pt x="235335" y="334270"/>
                      <a:pt x="230967" y="338630"/>
                      <a:pt x="225628" y="338630"/>
                    </a:cubicBezTo>
                    <a:lnTo>
                      <a:pt x="184377" y="338630"/>
                    </a:lnTo>
                    <a:lnTo>
                      <a:pt x="184377" y="379903"/>
                    </a:lnTo>
                    <a:cubicBezTo>
                      <a:pt x="184377" y="385231"/>
                      <a:pt x="180009" y="389591"/>
                      <a:pt x="174670" y="389591"/>
                    </a:cubicBezTo>
                    <a:lnTo>
                      <a:pt x="128080" y="389591"/>
                    </a:lnTo>
                    <a:cubicBezTo>
                      <a:pt x="122645" y="389591"/>
                      <a:pt x="118374" y="385231"/>
                      <a:pt x="118374" y="379903"/>
                    </a:cubicBezTo>
                    <a:lnTo>
                      <a:pt x="118374" y="338630"/>
                    </a:lnTo>
                    <a:lnTo>
                      <a:pt x="77025" y="338630"/>
                    </a:lnTo>
                    <a:cubicBezTo>
                      <a:pt x="71687" y="338630"/>
                      <a:pt x="67319" y="334270"/>
                      <a:pt x="67319" y="328942"/>
                    </a:cubicBezTo>
                    <a:lnTo>
                      <a:pt x="67319" y="282437"/>
                    </a:lnTo>
                    <a:cubicBezTo>
                      <a:pt x="67319" y="277108"/>
                      <a:pt x="71687" y="272748"/>
                      <a:pt x="77025" y="272748"/>
                    </a:cubicBezTo>
                    <a:lnTo>
                      <a:pt x="118374" y="272748"/>
                    </a:lnTo>
                    <a:lnTo>
                      <a:pt x="118374" y="231475"/>
                    </a:lnTo>
                    <a:cubicBezTo>
                      <a:pt x="118374" y="226147"/>
                      <a:pt x="122645" y="221787"/>
                      <a:pt x="128080" y="221787"/>
                    </a:cubicBezTo>
                    <a:close/>
                    <a:moveTo>
                      <a:pt x="456735" y="221716"/>
                    </a:moveTo>
                    <a:cubicBezTo>
                      <a:pt x="472841" y="221716"/>
                      <a:pt x="485843" y="234799"/>
                      <a:pt x="485843" y="250789"/>
                    </a:cubicBezTo>
                    <a:cubicBezTo>
                      <a:pt x="485843" y="266876"/>
                      <a:pt x="472841" y="279862"/>
                      <a:pt x="456735" y="279862"/>
                    </a:cubicBezTo>
                    <a:cubicBezTo>
                      <a:pt x="440725" y="279862"/>
                      <a:pt x="427627" y="266876"/>
                      <a:pt x="427627" y="250789"/>
                    </a:cubicBezTo>
                    <a:cubicBezTo>
                      <a:pt x="427627" y="234799"/>
                      <a:pt x="440725" y="221716"/>
                      <a:pt x="456735" y="221716"/>
                    </a:cubicBezTo>
                    <a:close/>
                    <a:moveTo>
                      <a:pt x="280147" y="135052"/>
                    </a:moveTo>
                    <a:lnTo>
                      <a:pt x="280147" y="164214"/>
                    </a:lnTo>
                    <a:cubicBezTo>
                      <a:pt x="280147" y="169639"/>
                      <a:pt x="275780" y="173902"/>
                      <a:pt x="270443" y="173902"/>
                    </a:cubicBezTo>
                    <a:lnTo>
                      <a:pt x="151378" y="173902"/>
                    </a:lnTo>
                    <a:cubicBezTo>
                      <a:pt x="78600" y="173902"/>
                      <a:pt x="19407" y="233000"/>
                      <a:pt x="19407" y="305661"/>
                    </a:cubicBezTo>
                    <a:cubicBezTo>
                      <a:pt x="19407" y="378322"/>
                      <a:pt x="78600" y="437323"/>
                      <a:pt x="151378" y="437323"/>
                    </a:cubicBezTo>
                    <a:cubicBezTo>
                      <a:pt x="201449" y="437323"/>
                      <a:pt x="246669" y="409518"/>
                      <a:pt x="269181" y="364759"/>
                    </a:cubicBezTo>
                    <a:cubicBezTo>
                      <a:pt x="270831" y="361562"/>
                      <a:pt x="274227" y="359430"/>
                      <a:pt x="277915" y="359430"/>
                    </a:cubicBezTo>
                    <a:lnTo>
                      <a:pt x="330218" y="359430"/>
                    </a:lnTo>
                    <a:cubicBezTo>
                      <a:pt x="333905" y="359430"/>
                      <a:pt x="337205" y="361562"/>
                      <a:pt x="338854" y="364759"/>
                    </a:cubicBezTo>
                    <a:cubicBezTo>
                      <a:pt x="361464" y="409518"/>
                      <a:pt x="406586" y="437323"/>
                      <a:pt x="456755" y="437323"/>
                    </a:cubicBezTo>
                    <a:cubicBezTo>
                      <a:pt x="529533" y="437323"/>
                      <a:pt x="588726" y="378322"/>
                      <a:pt x="588726" y="305661"/>
                    </a:cubicBezTo>
                    <a:cubicBezTo>
                      <a:pt x="588726" y="233000"/>
                      <a:pt x="529533" y="173902"/>
                      <a:pt x="456755" y="173902"/>
                    </a:cubicBezTo>
                    <a:lnTo>
                      <a:pt x="309258" y="173902"/>
                    </a:lnTo>
                    <a:cubicBezTo>
                      <a:pt x="303921" y="173902"/>
                      <a:pt x="299554" y="169639"/>
                      <a:pt x="299554" y="164214"/>
                    </a:cubicBezTo>
                    <a:cubicBezTo>
                      <a:pt x="299554" y="158885"/>
                      <a:pt x="303921" y="154526"/>
                      <a:pt x="309258" y="154526"/>
                    </a:cubicBezTo>
                    <a:lnTo>
                      <a:pt x="327986" y="154526"/>
                    </a:lnTo>
                    <a:lnTo>
                      <a:pt x="327986" y="135052"/>
                    </a:lnTo>
                    <a:close/>
                    <a:moveTo>
                      <a:pt x="348073" y="0"/>
                    </a:moveTo>
                    <a:lnTo>
                      <a:pt x="598429" y="0"/>
                    </a:lnTo>
                    <a:cubicBezTo>
                      <a:pt x="603767" y="0"/>
                      <a:pt x="608133" y="4359"/>
                      <a:pt x="608133" y="9688"/>
                    </a:cubicBezTo>
                    <a:cubicBezTo>
                      <a:pt x="608133" y="15016"/>
                      <a:pt x="603767" y="19376"/>
                      <a:pt x="598429" y="19376"/>
                    </a:cubicBezTo>
                    <a:lnTo>
                      <a:pt x="348073" y="19376"/>
                    </a:lnTo>
                    <a:cubicBezTo>
                      <a:pt x="329150" y="19376"/>
                      <a:pt x="313721" y="34780"/>
                      <a:pt x="313721" y="53672"/>
                    </a:cubicBezTo>
                    <a:lnTo>
                      <a:pt x="313721" y="115676"/>
                    </a:lnTo>
                    <a:lnTo>
                      <a:pt x="337690" y="115676"/>
                    </a:lnTo>
                    <a:cubicBezTo>
                      <a:pt x="343027" y="115676"/>
                      <a:pt x="347393" y="119939"/>
                      <a:pt x="347393" y="125364"/>
                    </a:cubicBezTo>
                    <a:lnTo>
                      <a:pt x="347393" y="154526"/>
                    </a:lnTo>
                    <a:lnTo>
                      <a:pt x="456755" y="154526"/>
                    </a:lnTo>
                    <a:cubicBezTo>
                      <a:pt x="540207" y="154526"/>
                      <a:pt x="608133" y="222343"/>
                      <a:pt x="608133" y="305661"/>
                    </a:cubicBezTo>
                    <a:cubicBezTo>
                      <a:pt x="608133" y="388979"/>
                      <a:pt x="540207" y="456699"/>
                      <a:pt x="456755" y="456699"/>
                    </a:cubicBezTo>
                    <a:cubicBezTo>
                      <a:pt x="401249" y="456699"/>
                      <a:pt x="351081" y="427054"/>
                      <a:pt x="324396" y="378807"/>
                    </a:cubicBezTo>
                    <a:lnTo>
                      <a:pt x="283737" y="378807"/>
                    </a:lnTo>
                    <a:cubicBezTo>
                      <a:pt x="257052" y="427054"/>
                      <a:pt x="206786" y="456699"/>
                      <a:pt x="151378" y="456699"/>
                    </a:cubicBezTo>
                    <a:cubicBezTo>
                      <a:pt x="67926" y="456699"/>
                      <a:pt x="0" y="388979"/>
                      <a:pt x="0" y="305661"/>
                    </a:cubicBezTo>
                    <a:cubicBezTo>
                      <a:pt x="0" y="222343"/>
                      <a:pt x="67926" y="154526"/>
                      <a:pt x="151378" y="154526"/>
                    </a:cubicBezTo>
                    <a:lnTo>
                      <a:pt x="260739" y="154526"/>
                    </a:lnTo>
                    <a:lnTo>
                      <a:pt x="260739" y="125364"/>
                    </a:lnTo>
                    <a:cubicBezTo>
                      <a:pt x="260739" y="119939"/>
                      <a:pt x="265106" y="115676"/>
                      <a:pt x="270443" y="115676"/>
                    </a:cubicBezTo>
                    <a:lnTo>
                      <a:pt x="294314" y="115676"/>
                    </a:lnTo>
                    <a:lnTo>
                      <a:pt x="294314" y="53672"/>
                    </a:lnTo>
                    <a:cubicBezTo>
                      <a:pt x="294314" y="24123"/>
                      <a:pt x="318476" y="0"/>
                      <a:pt x="348073" y="0"/>
                    </a:cubicBezTo>
                    <a:close/>
                  </a:path>
                </a:pathLst>
              </a:custGeom>
              <a:solidFill>
                <a:srgbClr val="1D1D1A"/>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D1D1A"/>
                  </a:solidFill>
                  <a:effectLst/>
                  <a:uLnTx/>
                  <a:uFillTx/>
                  <a:cs typeface="+mn-cs"/>
                  <a:sym typeface="Arial" panose="020B0604020202020204" pitchFamily="34" charset="0"/>
                </a:endParaRPr>
              </a:p>
            </p:txBody>
          </p:sp>
          <p:pic>
            <p:nvPicPr>
              <p:cNvPr id="76" name="图片 75">
                <a:extLst>
                  <a:ext uri="{FF2B5EF4-FFF2-40B4-BE49-F238E27FC236}">
                    <a16:creationId xmlns="" xmlns:a16="http://schemas.microsoft.com/office/drawing/2014/main" id="{0D79FBA9-67FC-4788-9A2F-CBDFAD5A02B9}"/>
                  </a:ext>
                </a:extLst>
              </p:cNvPr>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bwMode="gray">
              <a:xfrm>
                <a:off x="3216801" y="1660428"/>
                <a:ext cx="168217" cy="151816"/>
              </a:xfrm>
              <a:prstGeom prst="rect">
                <a:avLst/>
              </a:prstGeom>
            </p:spPr>
          </p:pic>
          <p:pic>
            <p:nvPicPr>
              <p:cNvPr id="77" name="运营商.png" descr="运营商.png">
                <a:extLst>
                  <a:ext uri="{FF2B5EF4-FFF2-40B4-BE49-F238E27FC236}">
                    <a16:creationId xmlns="" xmlns:a16="http://schemas.microsoft.com/office/drawing/2014/main" id="{B93DB0DA-7C8A-48E6-BFCE-8FB36AE76DA7}"/>
                  </a:ext>
                </a:extLst>
              </p:cNvPr>
              <p:cNvPicPr>
                <a:picLocks noChangeAspect="1"/>
              </p:cNvPicPr>
              <p:nvPr/>
            </p:nvPicPr>
            <p:blipFill rotWithShape="1">
              <a:blip r:embed="rId6" cstate="email">
                <a:biLevel thresh="75000"/>
                <a:extLst>
                  <a:ext uri="{28A0092B-C50C-407E-A947-70E740481C1C}">
                    <a14:useLocalDpi xmlns:a14="http://schemas.microsoft.com/office/drawing/2010/main"/>
                  </a:ext>
                </a:extLst>
              </a:blip>
              <a:srcRect l="2" t="24007" r="-2" b="-1"/>
              <a:stretch/>
            </p:blipFill>
            <p:spPr bwMode="gray">
              <a:xfrm>
                <a:off x="3218352" y="1403843"/>
                <a:ext cx="173341" cy="184419"/>
              </a:xfrm>
              <a:prstGeom prst="rect">
                <a:avLst/>
              </a:prstGeom>
              <a:ln w="12700" cap="flat">
                <a:noFill/>
                <a:miter lim="400000"/>
              </a:ln>
              <a:effectLst/>
            </p:spPr>
          </p:pic>
          <p:sp>
            <p:nvSpPr>
              <p:cNvPr id="78" name="Freeform 100">
                <a:extLst>
                  <a:ext uri="{FF2B5EF4-FFF2-40B4-BE49-F238E27FC236}">
                    <a16:creationId xmlns="" xmlns:a16="http://schemas.microsoft.com/office/drawing/2014/main" id="{19B3C302-FD53-4957-9256-353B56BD25D8}"/>
                  </a:ext>
                </a:extLst>
              </p:cNvPr>
              <p:cNvSpPr>
                <a:spLocks noEditPoints="1"/>
              </p:cNvSpPr>
              <p:nvPr/>
            </p:nvSpPr>
            <p:spPr bwMode="gray">
              <a:xfrm>
                <a:off x="4346975" y="1578120"/>
                <a:ext cx="200348" cy="142623"/>
              </a:xfrm>
              <a:custGeom>
                <a:avLst/>
                <a:gdLst/>
                <a:ahLst/>
                <a:cxnLst>
                  <a:cxn ang="0">
                    <a:pos x="260" y="192"/>
                  </a:cxn>
                  <a:cxn ang="0">
                    <a:pos x="268" y="190"/>
                  </a:cxn>
                  <a:cxn ang="0">
                    <a:pos x="278" y="180"/>
                  </a:cxn>
                  <a:cxn ang="0">
                    <a:pos x="280" y="22"/>
                  </a:cxn>
                  <a:cxn ang="0">
                    <a:pos x="278" y="12"/>
                  </a:cxn>
                  <a:cxn ang="0">
                    <a:pos x="268" y="2"/>
                  </a:cxn>
                  <a:cxn ang="0">
                    <a:pos x="28" y="0"/>
                  </a:cxn>
                  <a:cxn ang="0">
                    <a:pos x="20" y="2"/>
                  </a:cxn>
                  <a:cxn ang="0">
                    <a:pos x="8" y="12"/>
                  </a:cxn>
                  <a:cxn ang="0">
                    <a:pos x="8" y="172"/>
                  </a:cxn>
                  <a:cxn ang="0">
                    <a:pos x="8" y="180"/>
                  </a:cxn>
                  <a:cxn ang="0">
                    <a:pos x="20" y="190"/>
                  </a:cxn>
                  <a:cxn ang="0">
                    <a:pos x="28" y="192"/>
                  </a:cxn>
                  <a:cxn ang="0">
                    <a:pos x="22" y="26"/>
                  </a:cxn>
                  <a:cxn ang="0">
                    <a:pos x="26" y="18"/>
                  </a:cxn>
                  <a:cxn ang="0">
                    <a:pos x="32" y="16"/>
                  </a:cxn>
                  <a:cxn ang="0">
                    <a:pos x="256" y="16"/>
                  </a:cxn>
                  <a:cxn ang="0">
                    <a:pos x="262" y="18"/>
                  </a:cxn>
                  <a:cxn ang="0">
                    <a:pos x="264" y="26"/>
                  </a:cxn>
                  <a:cxn ang="0">
                    <a:pos x="264" y="166"/>
                  </a:cxn>
                  <a:cxn ang="0">
                    <a:pos x="262" y="172"/>
                  </a:cxn>
                  <a:cxn ang="0">
                    <a:pos x="256" y="174"/>
                  </a:cxn>
                  <a:cxn ang="0">
                    <a:pos x="32" y="174"/>
                  </a:cxn>
                  <a:cxn ang="0">
                    <a:pos x="26" y="172"/>
                  </a:cxn>
                  <a:cxn ang="0">
                    <a:pos x="22" y="166"/>
                  </a:cxn>
                  <a:cxn ang="0">
                    <a:pos x="250" y="208"/>
                  </a:cxn>
                  <a:cxn ang="0">
                    <a:pos x="38" y="208"/>
                  </a:cxn>
                  <a:cxn ang="0">
                    <a:pos x="22" y="210"/>
                  </a:cxn>
                  <a:cxn ang="0">
                    <a:pos x="10" y="216"/>
                  </a:cxn>
                  <a:cxn ang="0">
                    <a:pos x="2" y="226"/>
                  </a:cxn>
                  <a:cxn ang="0">
                    <a:pos x="0" y="238"/>
                  </a:cxn>
                  <a:cxn ang="0">
                    <a:pos x="0" y="250"/>
                  </a:cxn>
                  <a:cxn ang="0">
                    <a:pos x="2" y="262"/>
                  </a:cxn>
                  <a:cxn ang="0">
                    <a:pos x="10" y="272"/>
                  </a:cxn>
                  <a:cxn ang="0">
                    <a:pos x="22" y="278"/>
                  </a:cxn>
                  <a:cxn ang="0">
                    <a:pos x="38" y="280"/>
                  </a:cxn>
                  <a:cxn ang="0">
                    <a:pos x="250" y="280"/>
                  </a:cxn>
                  <a:cxn ang="0">
                    <a:pos x="266" y="278"/>
                  </a:cxn>
                  <a:cxn ang="0">
                    <a:pos x="278" y="272"/>
                  </a:cxn>
                  <a:cxn ang="0">
                    <a:pos x="286" y="262"/>
                  </a:cxn>
                  <a:cxn ang="0">
                    <a:pos x="288" y="250"/>
                  </a:cxn>
                  <a:cxn ang="0">
                    <a:pos x="288" y="238"/>
                  </a:cxn>
                  <a:cxn ang="0">
                    <a:pos x="286" y="226"/>
                  </a:cxn>
                  <a:cxn ang="0">
                    <a:pos x="278" y="216"/>
                  </a:cxn>
                  <a:cxn ang="0">
                    <a:pos x="266" y="210"/>
                  </a:cxn>
                  <a:cxn ang="0">
                    <a:pos x="250" y="208"/>
                  </a:cxn>
                  <a:cxn ang="0">
                    <a:pos x="248" y="258"/>
                  </a:cxn>
                  <a:cxn ang="0">
                    <a:pos x="242" y="256"/>
                  </a:cxn>
                  <a:cxn ang="0">
                    <a:pos x="234" y="248"/>
                  </a:cxn>
                  <a:cxn ang="0">
                    <a:pos x="234" y="244"/>
                  </a:cxn>
                  <a:cxn ang="0">
                    <a:pos x="238" y="234"/>
                  </a:cxn>
                  <a:cxn ang="0">
                    <a:pos x="248" y="230"/>
                  </a:cxn>
                  <a:cxn ang="0">
                    <a:pos x="252" y="230"/>
                  </a:cxn>
                  <a:cxn ang="0">
                    <a:pos x="260" y="238"/>
                  </a:cxn>
                  <a:cxn ang="0">
                    <a:pos x="262" y="244"/>
                  </a:cxn>
                  <a:cxn ang="0">
                    <a:pos x="258" y="254"/>
                  </a:cxn>
                  <a:cxn ang="0">
                    <a:pos x="248" y="258"/>
                  </a:cxn>
                </a:cxnLst>
                <a:rect l="0" t="0" r="r" b="b"/>
                <a:pathLst>
                  <a:path w="288" h="280">
                    <a:moveTo>
                      <a:pt x="28" y="192"/>
                    </a:moveTo>
                    <a:lnTo>
                      <a:pt x="260" y="192"/>
                    </a:lnTo>
                    <a:lnTo>
                      <a:pt x="260" y="192"/>
                    </a:lnTo>
                    <a:lnTo>
                      <a:pt x="268" y="190"/>
                    </a:lnTo>
                    <a:lnTo>
                      <a:pt x="274" y="186"/>
                    </a:lnTo>
                    <a:lnTo>
                      <a:pt x="278" y="180"/>
                    </a:lnTo>
                    <a:lnTo>
                      <a:pt x="280" y="172"/>
                    </a:lnTo>
                    <a:lnTo>
                      <a:pt x="280" y="22"/>
                    </a:lnTo>
                    <a:lnTo>
                      <a:pt x="280" y="22"/>
                    </a:lnTo>
                    <a:lnTo>
                      <a:pt x="278" y="12"/>
                    </a:lnTo>
                    <a:lnTo>
                      <a:pt x="274" y="6"/>
                    </a:lnTo>
                    <a:lnTo>
                      <a:pt x="268" y="2"/>
                    </a:lnTo>
                    <a:lnTo>
                      <a:pt x="260" y="0"/>
                    </a:lnTo>
                    <a:lnTo>
                      <a:pt x="28" y="0"/>
                    </a:lnTo>
                    <a:lnTo>
                      <a:pt x="28" y="0"/>
                    </a:lnTo>
                    <a:lnTo>
                      <a:pt x="20" y="2"/>
                    </a:lnTo>
                    <a:lnTo>
                      <a:pt x="14" y="6"/>
                    </a:lnTo>
                    <a:lnTo>
                      <a:pt x="8" y="12"/>
                    </a:lnTo>
                    <a:lnTo>
                      <a:pt x="8" y="22"/>
                    </a:lnTo>
                    <a:lnTo>
                      <a:pt x="8" y="172"/>
                    </a:lnTo>
                    <a:lnTo>
                      <a:pt x="8" y="172"/>
                    </a:lnTo>
                    <a:lnTo>
                      <a:pt x="8" y="180"/>
                    </a:lnTo>
                    <a:lnTo>
                      <a:pt x="14" y="186"/>
                    </a:lnTo>
                    <a:lnTo>
                      <a:pt x="20" y="190"/>
                    </a:lnTo>
                    <a:lnTo>
                      <a:pt x="28" y="192"/>
                    </a:lnTo>
                    <a:lnTo>
                      <a:pt x="28" y="192"/>
                    </a:lnTo>
                    <a:close/>
                    <a:moveTo>
                      <a:pt x="22" y="26"/>
                    </a:moveTo>
                    <a:lnTo>
                      <a:pt x="22" y="26"/>
                    </a:lnTo>
                    <a:lnTo>
                      <a:pt x="24" y="22"/>
                    </a:lnTo>
                    <a:lnTo>
                      <a:pt x="26" y="18"/>
                    </a:lnTo>
                    <a:lnTo>
                      <a:pt x="28" y="16"/>
                    </a:lnTo>
                    <a:lnTo>
                      <a:pt x="32" y="16"/>
                    </a:lnTo>
                    <a:lnTo>
                      <a:pt x="256" y="16"/>
                    </a:lnTo>
                    <a:lnTo>
                      <a:pt x="256" y="16"/>
                    </a:lnTo>
                    <a:lnTo>
                      <a:pt x="258" y="16"/>
                    </a:lnTo>
                    <a:lnTo>
                      <a:pt x="262" y="18"/>
                    </a:lnTo>
                    <a:lnTo>
                      <a:pt x="264" y="22"/>
                    </a:lnTo>
                    <a:lnTo>
                      <a:pt x="264" y="26"/>
                    </a:lnTo>
                    <a:lnTo>
                      <a:pt x="264" y="166"/>
                    </a:lnTo>
                    <a:lnTo>
                      <a:pt x="264" y="166"/>
                    </a:lnTo>
                    <a:lnTo>
                      <a:pt x="264" y="168"/>
                    </a:lnTo>
                    <a:lnTo>
                      <a:pt x="262" y="172"/>
                    </a:lnTo>
                    <a:lnTo>
                      <a:pt x="258" y="174"/>
                    </a:lnTo>
                    <a:lnTo>
                      <a:pt x="256" y="174"/>
                    </a:lnTo>
                    <a:lnTo>
                      <a:pt x="32" y="174"/>
                    </a:lnTo>
                    <a:lnTo>
                      <a:pt x="32" y="174"/>
                    </a:lnTo>
                    <a:lnTo>
                      <a:pt x="28" y="174"/>
                    </a:lnTo>
                    <a:lnTo>
                      <a:pt x="26" y="172"/>
                    </a:lnTo>
                    <a:lnTo>
                      <a:pt x="24" y="168"/>
                    </a:lnTo>
                    <a:lnTo>
                      <a:pt x="22" y="166"/>
                    </a:lnTo>
                    <a:lnTo>
                      <a:pt x="22" y="26"/>
                    </a:lnTo>
                    <a:close/>
                    <a:moveTo>
                      <a:pt x="250" y="208"/>
                    </a:moveTo>
                    <a:lnTo>
                      <a:pt x="38" y="208"/>
                    </a:lnTo>
                    <a:lnTo>
                      <a:pt x="38" y="208"/>
                    </a:lnTo>
                    <a:lnTo>
                      <a:pt x="30" y="208"/>
                    </a:lnTo>
                    <a:lnTo>
                      <a:pt x="22" y="210"/>
                    </a:lnTo>
                    <a:lnTo>
                      <a:pt x="16" y="212"/>
                    </a:lnTo>
                    <a:lnTo>
                      <a:pt x="10" y="216"/>
                    </a:lnTo>
                    <a:lnTo>
                      <a:pt x="6" y="222"/>
                    </a:lnTo>
                    <a:lnTo>
                      <a:pt x="2" y="226"/>
                    </a:lnTo>
                    <a:lnTo>
                      <a:pt x="0" y="232"/>
                    </a:lnTo>
                    <a:lnTo>
                      <a:pt x="0" y="238"/>
                    </a:lnTo>
                    <a:lnTo>
                      <a:pt x="0" y="250"/>
                    </a:lnTo>
                    <a:lnTo>
                      <a:pt x="0" y="250"/>
                    </a:lnTo>
                    <a:lnTo>
                      <a:pt x="0" y="256"/>
                    </a:lnTo>
                    <a:lnTo>
                      <a:pt x="2" y="262"/>
                    </a:lnTo>
                    <a:lnTo>
                      <a:pt x="6" y="266"/>
                    </a:lnTo>
                    <a:lnTo>
                      <a:pt x="10" y="272"/>
                    </a:lnTo>
                    <a:lnTo>
                      <a:pt x="16" y="276"/>
                    </a:lnTo>
                    <a:lnTo>
                      <a:pt x="22" y="278"/>
                    </a:lnTo>
                    <a:lnTo>
                      <a:pt x="30" y="280"/>
                    </a:lnTo>
                    <a:lnTo>
                      <a:pt x="38" y="280"/>
                    </a:lnTo>
                    <a:lnTo>
                      <a:pt x="250" y="280"/>
                    </a:lnTo>
                    <a:lnTo>
                      <a:pt x="250" y="280"/>
                    </a:lnTo>
                    <a:lnTo>
                      <a:pt x="258" y="280"/>
                    </a:lnTo>
                    <a:lnTo>
                      <a:pt x="266" y="278"/>
                    </a:lnTo>
                    <a:lnTo>
                      <a:pt x="272" y="276"/>
                    </a:lnTo>
                    <a:lnTo>
                      <a:pt x="278" y="272"/>
                    </a:lnTo>
                    <a:lnTo>
                      <a:pt x="282" y="266"/>
                    </a:lnTo>
                    <a:lnTo>
                      <a:pt x="286" y="262"/>
                    </a:lnTo>
                    <a:lnTo>
                      <a:pt x="288" y="256"/>
                    </a:lnTo>
                    <a:lnTo>
                      <a:pt x="288" y="250"/>
                    </a:lnTo>
                    <a:lnTo>
                      <a:pt x="288" y="238"/>
                    </a:lnTo>
                    <a:lnTo>
                      <a:pt x="288" y="238"/>
                    </a:lnTo>
                    <a:lnTo>
                      <a:pt x="288" y="232"/>
                    </a:lnTo>
                    <a:lnTo>
                      <a:pt x="286" y="226"/>
                    </a:lnTo>
                    <a:lnTo>
                      <a:pt x="282" y="222"/>
                    </a:lnTo>
                    <a:lnTo>
                      <a:pt x="278" y="216"/>
                    </a:lnTo>
                    <a:lnTo>
                      <a:pt x="272" y="212"/>
                    </a:lnTo>
                    <a:lnTo>
                      <a:pt x="266" y="210"/>
                    </a:lnTo>
                    <a:lnTo>
                      <a:pt x="258" y="208"/>
                    </a:lnTo>
                    <a:lnTo>
                      <a:pt x="250" y="208"/>
                    </a:lnTo>
                    <a:lnTo>
                      <a:pt x="250" y="208"/>
                    </a:lnTo>
                    <a:close/>
                    <a:moveTo>
                      <a:pt x="248" y="258"/>
                    </a:moveTo>
                    <a:lnTo>
                      <a:pt x="248" y="258"/>
                    </a:lnTo>
                    <a:lnTo>
                      <a:pt x="242" y="256"/>
                    </a:lnTo>
                    <a:lnTo>
                      <a:pt x="238" y="254"/>
                    </a:lnTo>
                    <a:lnTo>
                      <a:pt x="234" y="248"/>
                    </a:lnTo>
                    <a:lnTo>
                      <a:pt x="234" y="244"/>
                    </a:lnTo>
                    <a:lnTo>
                      <a:pt x="234" y="244"/>
                    </a:lnTo>
                    <a:lnTo>
                      <a:pt x="234" y="238"/>
                    </a:lnTo>
                    <a:lnTo>
                      <a:pt x="238" y="234"/>
                    </a:lnTo>
                    <a:lnTo>
                      <a:pt x="242" y="230"/>
                    </a:lnTo>
                    <a:lnTo>
                      <a:pt x="248" y="230"/>
                    </a:lnTo>
                    <a:lnTo>
                      <a:pt x="248" y="230"/>
                    </a:lnTo>
                    <a:lnTo>
                      <a:pt x="252" y="230"/>
                    </a:lnTo>
                    <a:lnTo>
                      <a:pt x="258" y="234"/>
                    </a:lnTo>
                    <a:lnTo>
                      <a:pt x="260" y="238"/>
                    </a:lnTo>
                    <a:lnTo>
                      <a:pt x="262" y="244"/>
                    </a:lnTo>
                    <a:lnTo>
                      <a:pt x="262" y="244"/>
                    </a:lnTo>
                    <a:lnTo>
                      <a:pt x="260" y="248"/>
                    </a:lnTo>
                    <a:lnTo>
                      <a:pt x="258" y="254"/>
                    </a:lnTo>
                    <a:lnTo>
                      <a:pt x="252" y="256"/>
                    </a:lnTo>
                    <a:lnTo>
                      <a:pt x="248" y="258"/>
                    </a:lnTo>
                    <a:lnTo>
                      <a:pt x="248" y="258"/>
                    </a:lnTo>
                    <a:close/>
                  </a:path>
                </a:pathLst>
              </a:custGeom>
              <a:solidFill>
                <a:srgbClr val="1D1D1A"/>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endParaRPr>
              </a:p>
            </p:txBody>
          </p:sp>
          <p:pic>
            <p:nvPicPr>
              <p:cNvPr id="79" name="图片 78">
                <a:extLst>
                  <a:ext uri="{FF2B5EF4-FFF2-40B4-BE49-F238E27FC236}">
                    <a16:creationId xmlns="" xmlns:a16="http://schemas.microsoft.com/office/drawing/2014/main" id="{AEF0C215-9893-42E7-AF87-3CA75B813316}"/>
                  </a:ext>
                </a:extLst>
              </p:cNvPr>
              <p:cNvPicPr>
                <a:picLocks noChangeAspect="1"/>
              </p:cNvPicPr>
              <p:nvPr/>
            </p:nvPicPr>
            <p:blipFill>
              <a:blip r:embed="rId7" cstate="print">
                <a:biLevel thresh="75000"/>
                <a:extLst>
                  <a:ext uri="{28A0092B-C50C-407E-A947-70E740481C1C}">
                    <a14:useLocalDpi xmlns:a14="http://schemas.microsoft.com/office/drawing/2010/main" val="0"/>
                  </a:ext>
                </a:extLst>
              </a:blip>
              <a:stretch>
                <a:fillRect/>
              </a:stretch>
            </p:blipFill>
            <p:spPr bwMode="gray">
              <a:xfrm>
                <a:off x="4330694" y="1328033"/>
                <a:ext cx="204745" cy="204744"/>
              </a:xfrm>
              <a:prstGeom prst="rect">
                <a:avLst/>
              </a:prstGeom>
            </p:spPr>
          </p:pic>
          <p:pic>
            <p:nvPicPr>
              <p:cNvPr id="80" name="Picture 13">
                <a:extLst>
                  <a:ext uri="{FF2B5EF4-FFF2-40B4-BE49-F238E27FC236}">
                    <a16:creationId xmlns="" xmlns:a16="http://schemas.microsoft.com/office/drawing/2014/main" id="{9F6D0B25-EE59-45D8-B93D-2BCEB40B854A}"/>
                  </a:ext>
                </a:extLst>
              </p:cNvPr>
              <p:cNvPicPr>
                <a:picLocks noChangeAspect="1"/>
              </p:cNvPicPr>
              <p:nvPr/>
            </p:nvPicPr>
            <p:blipFill>
              <a:blip r:embed="rId8" cstate="print">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tretch>
                <a:fillRect/>
              </a:stretch>
            </p:blipFill>
            <p:spPr bwMode="gray">
              <a:xfrm>
                <a:off x="1893251" y="1342611"/>
                <a:ext cx="212477" cy="212471"/>
              </a:xfrm>
              <a:prstGeom prst="rect">
                <a:avLst/>
              </a:prstGeom>
            </p:spPr>
          </p:pic>
        </p:grpSp>
      </p:grpSp>
      <p:grpSp>
        <p:nvGrpSpPr>
          <p:cNvPr id="38" name="组合 37">
            <a:extLst>
              <a:ext uri="{FF2B5EF4-FFF2-40B4-BE49-F238E27FC236}">
                <a16:creationId xmlns="" xmlns:a16="http://schemas.microsoft.com/office/drawing/2014/main" id="{D062701F-C1EC-4D7A-8D6E-15DF860198BF}"/>
              </a:ext>
            </a:extLst>
          </p:cNvPr>
          <p:cNvGrpSpPr/>
          <p:nvPr/>
        </p:nvGrpSpPr>
        <p:grpSpPr bwMode="gray">
          <a:xfrm>
            <a:off x="2277215" y="2336050"/>
            <a:ext cx="1906104" cy="839940"/>
            <a:chOff x="4366965" y="1067448"/>
            <a:chExt cx="2782840" cy="1687649"/>
          </a:xfrm>
        </p:grpSpPr>
        <p:sp>
          <p:nvSpPr>
            <p:cNvPr id="54" name="Shape 1207" descr="Freeform 6">
              <a:extLst>
                <a:ext uri="{FF2B5EF4-FFF2-40B4-BE49-F238E27FC236}">
                  <a16:creationId xmlns="" xmlns:a16="http://schemas.microsoft.com/office/drawing/2014/main" id="{30B72EC4-04D2-4FF9-9F50-64F0B87B4119}"/>
                </a:ext>
              </a:extLst>
            </p:cNvPr>
            <p:cNvSpPr/>
            <p:nvPr/>
          </p:nvSpPr>
          <p:spPr bwMode="gray">
            <a:xfrm flipH="1">
              <a:off x="4366965" y="1067448"/>
              <a:ext cx="2782840" cy="1498990"/>
            </a:xfrm>
            <a:custGeom>
              <a:avLst/>
              <a:gdLst/>
              <a:ahLst/>
              <a:cxnLst>
                <a:cxn ang="0">
                  <a:pos x="wd2" y="hd2"/>
                </a:cxn>
                <a:cxn ang="5400000">
                  <a:pos x="wd2" y="hd2"/>
                </a:cxn>
                <a:cxn ang="10800000">
                  <a:pos x="wd2" y="hd2"/>
                </a:cxn>
                <a:cxn ang="16200000">
                  <a:pos x="wd2" y="hd2"/>
                </a:cxn>
              </a:cxnLst>
              <a:rect l="0" t="0" r="r" b="b"/>
              <a:pathLst>
                <a:path w="21600" h="21600" extrusionOk="0">
                  <a:moveTo>
                    <a:pt x="21600" y="16088"/>
                  </a:moveTo>
                  <a:cubicBezTo>
                    <a:pt x="21600" y="13059"/>
                    <a:pt x="20337" y="10577"/>
                    <a:pt x="18796" y="10577"/>
                  </a:cubicBezTo>
                  <a:cubicBezTo>
                    <a:pt x="18594" y="10577"/>
                    <a:pt x="18392" y="10626"/>
                    <a:pt x="18189" y="10726"/>
                  </a:cubicBezTo>
                  <a:cubicBezTo>
                    <a:pt x="18189" y="10577"/>
                    <a:pt x="18189" y="10428"/>
                    <a:pt x="18189" y="10279"/>
                  </a:cubicBezTo>
                  <a:cubicBezTo>
                    <a:pt x="18189" y="4618"/>
                    <a:pt x="15865" y="0"/>
                    <a:pt x="12960" y="0"/>
                  </a:cubicBezTo>
                  <a:cubicBezTo>
                    <a:pt x="10560" y="0"/>
                    <a:pt x="8539" y="3178"/>
                    <a:pt x="7907" y="7548"/>
                  </a:cubicBezTo>
                  <a:cubicBezTo>
                    <a:pt x="7200" y="6008"/>
                    <a:pt x="6164" y="5015"/>
                    <a:pt x="5002" y="5015"/>
                  </a:cubicBezTo>
                  <a:cubicBezTo>
                    <a:pt x="2829" y="5015"/>
                    <a:pt x="1061" y="8491"/>
                    <a:pt x="1061" y="12811"/>
                  </a:cubicBezTo>
                  <a:cubicBezTo>
                    <a:pt x="1061" y="13556"/>
                    <a:pt x="1112" y="14251"/>
                    <a:pt x="1213" y="14946"/>
                  </a:cubicBezTo>
                  <a:cubicBezTo>
                    <a:pt x="505" y="15393"/>
                    <a:pt x="0" y="16684"/>
                    <a:pt x="0" y="18174"/>
                  </a:cubicBezTo>
                  <a:cubicBezTo>
                    <a:pt x="0" y="20011"/>
                    <a:pt x="733" y="21501"/>
                    <a:pt x="1667" y="21600"/>
                  </a:cubicBezTo>
                  <a:cubicBezTo>
                    <a:pt x="1667" y="21600"/>
                    <a:pt x="1667" y="21600"/>
                    <a:pt x="1667" y="21600"/>
                  </a:cubicBezTo>
                  <a:cubicBezTo>
                    <a:pt x="18821" y="21600"/>
                    <a:pt x="18821" y="21600"/>
                    <a:pt x="18821" y="21600"/>
                  </a:cubicBezTo>
                  <a:cubicBezTo>
                    <a:pt x="18821" y="21600"/>
                    <a:pt x="18821" y="21600"/>
                    <a:pt x="18821" y="21600"/>
                  </a:cubicBezTo>
                  <a:cubicBezTo>
                    <a:pt x="20362" y="21550"/>
                    <a:pt x="21600" y="19117"/>
                    <a:pt x="21600" y="16088"/>
                  </a:cubicBezTo>
                  <a:close/>
                </a:path>
              </a:pathLst>
            </a:custGeom>
            <a:solidFill>
              <a:srgbClr val="FFFFFF"/>
            </a:solidFill>
            <a:ln w="28575">
              <a:solidFill>
                <a:srgbClr val="666666">
                  <a:lumMod val="20000"/>
                  <a:lumOff val="80000"/>
                </a:srgbClr>
              </a:solidFill>
              <a:miter lim="800000"/>
              <a:headEnd/>
              <a:tailEnd/>
            </a:ln>
          </p:spPr>
          <p:txBody>
            <a:bodyPr anchor="ctr"/>
            <a:lstStyle/>
            <a:p>
              <a:pPr marL="0" marR="0" lvl="0" indent="0" algn="ctr" defTabSz="912206" eaLnBrk="0" fontAlgn="base" latinLnBrk="0" hangingPunct="0">
                <a:lnSpc>
                  <a:spcPct val="100000"/>
                </a:lnSpc>
                <a:spcBef>
                  <a:spcPct val="0"/>
                </a:spcBef>
                <a:spcAft>
                  <a:spcPct val="0"/>
                </a:spcAft>
                <a:buClrTx/>
                <a:buSzTx/>
                <a:buFontTx/>
                <a:buNone/>
                <a:tabLst/>
                <a:defRPr/>
              </a:pPr>
              <a:endParaRPr kumimoji="0" sz="1400" b="0" i="0" u="none" strike="noStrike" kern="0" cap="none" spc="0" normalizeH="0" baseline="0" noProof="0" dirty="0">
                <a:ln>
                  <a:noFill/>
                </a:ln>
                <a:solidFill>
                  <a:srgbClr val="1D1D1A">
                    <a:lumMod val="95000"/>
                    <a:lumOff val="5000"/>
                  </a:srgbClr>
                </a:solidFill>
                <a:effectLst/>
                <a:uLnTx/>
                <a:uFillTx/>
                <a:sym typeface="+mn-lt"/>
              </a:endParaRPr>
            </a:p>
          </p:txBody>
        </p:sp>
        <p:grpSp>
          <p:nvGrpSpPr>
            <p:cNvPr id="55" name="组合 54">
              <a:extLst>
                <a:ext uri="{FF2B5EF4-FFF2-40B4-BE49-F238E27FC236}">
                  <a16:creationId xmlns="" xmlns:a16="http://schemas.microsoft.com/office/drawing/2014/main" id="{6755EF40-7E82-40D0-8E69-1C4F0D67B0B4}"/>
                </a:ext>
              </a:extLst>
            </p:cNvPr>
            <p:cNvGrpSpPr/>
            <p:nvPr/>
          </p:nvGrpSpPr>
          <p:grpSpPr bwMode="gray">
            <a:xfrm>
              <a:off x="5288826" y="1529812"/>
              <a:ext cx="746223" cy="746811"/>
              <a:chOff x="5251515" y="1522951"/>
              <a:chExt cx="820845" cy="821492"/>
            </a:xfrm>
          </p:grpSpPr>
          <p:pic>
            <p:nvPicPr>
              <p:cNvPr id="60" name="图片 59" descr="NB-IoT ">
                <a:extLst>
                  <a:ext uri="{FF2B5EF4-FFF2-40B4-BE49-F238E27FC236}">
                    <a16:creationId xmlns="" xmlns:a16="http://schemas.microsoft.com/office/drawing/2014/main" id="{86FFD84E-02F7-44B7-8818-B411CE5FE5D7}"/>
                  </a:ext>
                </a:extLst>
              </p:cNvPr>
              <p:cNvPicPr>
                <a:picLocks noChangeAspect="1"/>
              </p:cNvPicPr>
              <p:nvPr/>
            </p:nvPicPr>
            <p:blipFill>
              <a:blip r:embed="rId10" cstate="screen">
                <a:duotone>
                  <a:prstClr val="black"/>
                  <a:srgbClr val="1D1D1A">
                    <a:tint val="45000"/>
                    <a:satMod val="400000"/>
                  </a:srgbClr>
                </a:duotone>
                <a:extLst>
                  <a:ext uri="{BEBA8EAE-BF5A-486C-A8C5-ECC9F3942E4B}">
                    <a14:imgProps xmlns:a14="http://schemas.microsoft.com/office/drawing/2010/main">
                      <a14:imgLayer r:embed="rId11">
                        <a14:imgEffect>
                          <a14:saturation sat="170000"/>
                        </a14:imgEffect>
                      </a14:imgLayer>
                    </a14:imgProps>
                  </a:ext>
                  <a:ext uri="{28A0092B-C50C-407E-A947-70E740481C1C}">
                    <a14:useLocalDpi xmlns:a14="http://schemas.microsoft.com/office/drawing/2010/main"/>
                  </a:ext>
                </a:extLst>
              </a:blip>
              <a:stretch>
                <a:fillRect/>
              </a:stretch>
            </p:blipFill>
            <p:spPr bwMode="gray">
              <a:xfrm>
                <a:off x="5251515" y="1522951"/>
                <a:ext cx="820845" cy="821492"/>
              </a:xfrm>
              <a:prstGeom prst="rect">
                <a:avLst/>
              </a:prstGeom>
            </p:spPr>
          </p:pic>
          <p:sp>
            <p:nvSpPr>
              <p:cNvPr id="61" name="Freeform 16">
                <a:extLst>
                  <a:ext uri="{FF2B5EF4-FFF2-40B4-BE49-F238E27FC236}">
                    <a16:creationId xmlns="" xmlns:a16="http://schemas.microsoft.com/office/drawing/2014/main" id="{110EDADD-25B6-41FF-B4F0-062C332B73DA}"/>
                  </a:ext>
                </a:extLst>
              </p:cNvPr>
              <p:cNvSpPr>
                <a:spLocks noEditPoints="1"/>
              </p:cNvSpPr>
              <p:nvPr/>
            </p:nvSpPr>
            <p:spPr bwMode="gray">
              <a:xfrm>
                <a:off x="5743247" y="1872687"/>
                <a:ext cx="246324" cy="242879"/>
              </a:xfrm>
              <a:custGeom>
                <a:avLst/>
                <a:gdLst>
                  <a:gd name="T0" fmla="*/ 510 w 1018"/>
                  <a:gd name="T1" fmla="*/ 750 h 1018"/>
                  <a:gd name="T2" fmla="*/ 636 w 1018"/>
                  <a:gd name="T3" fmla="*/ 108 h 1018"/>
                  <a:gd name="T4" fmla="*/ 703 w 1018"/>
                  <a:gd name="T5" fmla="*/ 136 h 1018"/>
                  <a:gd name="T6" fmla="*/ 807 w 1018"/>
                  <a:gd name="T7" fmla="*/ 87 h 1018"/>
                  <a:gd name="T8" fmla="*/ 931 w 1018"/>
                  <a:gd name="T9" fmla="*/ 266 h 1018"/>
                  <a:gd name="T10" fmla="*/ 910 w 1018"/>
                  <a:gd name="T11" fmla="*/ 382 h 1018"/>
                  <a:gd name="T12" fmla="*/ 1018 w 1018"/>
                  <a:gd name="T13" fmla="*/ 426 h 1018"/>
                  <a:gd name="T14" fmla="*/ 979 w 1018"/>
                  <a:gd name="T15" fmla="*/ 635 h 1018"/>
                  <a:gd name="T16" fmla="*/ 882 w 1018"/>
                  <a:gd name="T17" fmla="*/ 703 h 1018"/>
                  <a:gd name="T18" fmla="*/ 931 w 1018"/>
                  <a:gd name="T19" fmla="*/ 807 h 1018"/>
                  <a:gd name="T20" fmla="*/ 752 w 1018"/>
                  <a:gd name="T21" fmla="*/ 930 h 1018"/>
                  <a:gd name="T22" fmla="*/ 668 w 1018"/>
                  <a:gd name="T23" fmla="*/ 898 h 1018"/>
                  <a:gd name="T24" fmla="*/ 597 w 1018"/>
                  <a:gd name="T25" fmla="*/ 1018 h 1018"/>
                  <a:gd name="T26" fmla="*/ 383 w 1018"/>
                  <a:gd name="T27" fmla="*/ 979 h 1018"/>
                  <a:gd name="T28" fmla="*/ 349 w 1018"/>
                  <a:gd name="T29" fmla="*/ 897 h 1018"/>
                  <a:gd name="T30" fmla="*/ 316 w 1018"/>
                  <a:gd name="T31" fmla="*/ 881 h 1018"/>
                  <a:gd name="T32" fmla="*/ 211 w 1018"/>
                  <a:gd name="T33" fmla="*/ 930 h 1018"/>
                  <a:gd name="T34" fmla="*/ 88 w 1018"/>
                  <a:gd name="T35" fmla="*/ 752 h 1018"/>
                  <a:gd name="T36" fmla="*/ 109 w 1018"/>
                  <a:gd name="T37" fmla="*/ 635 h 1018"/>
                  <a:gd name="T38" fmla="*/ 0 w 1018"/>
                  <a:gd name="T39" fmla="*/ 593 h 1018"/>
                  <a:gd name="T40" fmla="*/ 109 w 1018"/>
                  <a:gd name="T41" fmla="*/ 382 h 1018"/>
                  <a:gd name="T42" fmla="*/ 88 w 1018"/>
                  <a:gd name="T43" fmla="*/ 266 h 1018"/>
                  <a:gd name="T44" fmla="*/ 89 w 1018"/>
                  <a:gd name="T45" fmla="*/ 210 h 1018"/>
                  <a:gd name="T46" fmla="*/ 316 w 1018"/>
                  <a:gd name="T47" fmla="*/ 136 h 1018"/>
                  <a:gd name="T48" fmla="*/ 422 w 1018"/>
                  <a:gd name="T49" fmla="*/ 0 h 1018"/>
                  <a:gd name="T50" fmla="*/ 636 w 1018"/>
                  <a:gd name="T51" fmla="*/ 39 h 1018"/>
                  <a:gd name="T52" fmla="*/ 640 w 1018"/>
                  <a:gd name="T53" fmla="*/ 193 h 1018"/>
                  <a:gd name="T54" fmla="*/ 557 w 1018"/>
                  <a:gd name="T55" fmla="*/ 139 h 1018"/>
                  <a:gd name="T56" fmla="*/ 461 w 1018"/>
                  <a:gd name="T57" fmla="*/ 139 h 1018"/>
                  <a:gd name="T58" fmla="*/ 330 w 1018"/>
                  <a:gd name="T59" fmla="*/ 219 h 1018"/>
                  <a:gd name="T60" fmla="*/ 171 w 1018"/>
                  <a:gd name="T61" fmla="*/ 239 h 1018"/>
                  <a:gd name="T62" fmla="*/ 193 w 1018"/>
                  <a:gd name="T63" fmla="*/ 379 h 1018"/>
                  <a:gd name="T64" fmla="*/ 79 w 1018"/>
                  <a:gd name="T65" fmla="*/ 461 h 1018"/>
                  <a:gd name="T66" fmla="*/ 176 w 1018"/>
                  <a:gd name="T67" fmla="*/ 587 h 1018"/>
                  <a:gd name="T68" fmla="*/ 213 w 1018"/>
                  <a:gd name="T69" fmla="*/ 737 h 1018"/>
                  <a:gd name="T70" fmla="*/ 280 w 1018"/>
                  <a:gd name="T71" fmla="*/ 807 h 1018"/>
                  <a:gd name="T72" fmla="*/ 429 w 1018"/>
                  <a:gd name="T73" fmla="*/ 841 h 1018"/>
                  <a:gd name="T74" fmla="*/ 557 w 1018"/>
                  <a:gd name="T75" fmla="*/ 940 h 1018"/>
                  <a:gd name="T76" fmla="*/ 588 w 1018"/>
                  <a:gd name="T77" fmla="*/ 842 h 1018"/>
                  <a:gd name="T78" fmla="*/ 690 w 1018"/>
                  <a:gd name="T79" fmla="*/ 800 h 1018"/>
                  <a:gd name="T80" fmla="*/ 848 w 1018"/>
                  <a:gd name="T81" fmla="*/ 779 h 1018"/>
                  <a:gd name="T82" fmla="*/ 825 w 1018"/>
                  <a:gd name="T83" fmla="*/ 640 h 1018"/>
                  <a:gd name="T84" fmla="*/ 940 w 1018"/>
                  <a:gd name="T85" fmla="*/ 557 h 1018"/>
                  <a:gd name="T86" fmla="*/ 842 w 1018"/>
                  <a:gd name="T87" fmla="*/ 430 h 1018"/>
                  <a:gd name="T88" fmla="*/ 805 w 1018"/>
                  <a:gd name="T89" fmla="*/ 280 h 1018"/>
                  <a:gd name="T90" fmla="*/ 739 w 1018"/>
                  <a:gd name="T91" fmla="*/ 211 h 1018"/>
                  <a:gd name="T92" fmla="*/ 510 w 1018"/>
                  <a:gd name="T93" fmla="*/ 314 h 1018"/>
                  <a:gd name="T94" fmla="*/ 510 w 1018"/>
                  <a:gd name="T95" fmla="*/ 703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18" h="1018">
                    <a:moveTo>
                      <a:pt x="510" y="267"/>
                    </a:moveTo>
                    <a:cubicBezTo>
                      <a:pt x="642" y="267"/>
                      <a:pt x="751" y="377"/>
                      <a:pt x="751" y="509"/>
                    </a:cubicBezTo>
                    <a:cubicBezTo>
                      <a:pt x="751" y="641"/>
                      <a:pt x="642" y="750"/>
                      <a:pt x="510" y="750"/>
                    </a:cubicBezTo>
                    <a:cubicBezTo>
                      <a:pt x="377" y="750"/>
                      <a:pt x="268" y="641"/>
                      <a:pt x="268" y="509"/>
                    </a:cubicBezTo>
                    <a:cubicBezTo>
                      <a:pt x="268" y="376"/>
                      <a:pt x="376" y="267"/>
                      <a:pt x="510" y="267"/>
                    </a:cubicBezTo>
                    <a:close/>
                    <a:moveTo>
                      <a:pt x="636" y="108"/>
                    </a:moveTo>
                    <a:cubicBezTo>
                      <a:pt x="636" y="108"/>
                      <a:pt x="636" y="108"/>
                      <a:pt x="636" y="108"/>
                    </a:cubicBezTo>
                    <a:cubicBezTo>
                      <a:pt x="647" y="112"/>
                      <a:pt x="659" y="116"/>
                      <a:pt x="670" y="121"/>
                    </a:cubicBezTo>
                    <a:cubicBezTo>
                      <a:pt x="681" y="126"/>
                      <a:pt x="693" y="131"/>
                      <a:pt x="703" y="136"/>
                    </a:cubicBezTo>
                    <a:cubicBezTo>
                      <a:pt x="752" y="87"/>
                      <a:pt x="752" y="87"/>
                      <a:pt x="752" y="87"/>
                    </a:cubicBezTo>
                    <a:cubicBezTo>
                      <a:pt x="767" y="72"/>
                      <a:pt x="792" y="72"/>
                      <a:pt x="807" y="87"/>
                    </a:cubicBezTo>
                    <a:cubicBezTo>
                      <a:pt x="807" y="87"/>
                      <a:pt x="807" y="87"/>
                      <a:pt x="807" y="87"/>
                    </a:cubicBezTo>
                    <a:cubicBezTo>
                      <a:pt x="808" y="88"/>
                      <a:pt x="808" y="88"/>
                      <a:pt x="808" y="88"/>
                    </a:cubicBezTo>
                    <a:cubicBezTo>
                      <a:pt x="931" y="211"/>
                      <a:pt x="931" y="211"/>
                      <a:pt x="931" y="211"/>
                    </a:cubicBezTo>
                    <a:cubicBezTo>
                      <a:pt x="946" y="226"/>
                      <a:pt x="946" y="251"/>
                      <a:pt x="931" y="266"/>
                    </a:cubicBezTo>
                    <a:cubicBezTo>
                      <a:pt x="882" y="315"/>
                      <a:pt x="882" y="315"/>
                      <a:pt x="882" y="315"/>
                    </a:cubicBezTo>
                    <a:cubicBezTo>
                      <a:pt x="888" y="326"/>
                      <a:pt x="893" y="337"/>
                      <a:pt x="898" y="348"/>
                    </a:cubicBezTo>
                    <a:cubicBezTo>
                      <a:pt x="902" y="359"/>
                      <a:pt x="907" y="371"/>
                      <a:pt x="910" y="382"/>
                    </a:cubicBezTo>
                    <a:cubicBezTo>
                      <a:pt x="979" y="382"/>
                      <a:pt x="979" y="382"/>
                      <a:pt x="979" y="382"/>
                    </a:cubicBezTo>
                    <a:cubicBezTo>
                      <a:pt x="1001" y="382"/>
                      <a:pt x="1018" y="400"/>
                      <a:pt x="1018" y="422"/>
                    </a:cubicBezTo>
                    <a:cubicBezTo>
                      <a:pt x="1018" y="426"/>
                      <a:pt x="1018" y="426"/>
                      <a:pt x="1018" y="426"/>
                    </a:cubicBezTo>
                    <a:cubicBezTo>
                      <a:pt x="1018" y="596"/>
                      <a:pt x="1018" y="596"/>
                      <a:pt x="1018" y="596"/>
                    </a:cubicBezTo>
                    <a:cubicBezTo>
                      <a:pt x="1018" y="617"/>
                      <a:pt x="1001" y="635"/>
                      <a:pt x="979" y="635"/>
                    </a:cubicBezTo>
                    <a:cubicBezTo>
                      <a:pt x="979" y="635"/>
                      <a:pt x="979" y="635"/>
                      <a:pt x="979" y="635"/>
                    </a:cubicBezTo>
                    <a:cubicBezTo>
                      <a:pt x="910" y="635"/>
                      <a:pt x="910" y="635"/>
                      <a:pt x="910" y="635"/>
                    </a:cubicBezTo>
                    <a:cubicBezTo>
                      <a:pt x="907" y="647"/>
                      <a:pt x="902" y="658"/>
                      <a:pt x="898" y="670"/>
                    </a:cubicBezTo>
                    <a:cubicBezTo>
                      <a:pt x="893" y="681"/>
                      <a:pt x="888" y="692"/>
                      <a:pt x="882" y="703"/>
                    </a:cubicBezTo>
                    <a:cubicBezTo>
                      <a:pt x="931" y="752"/>
                      <a:pt x="931" y="752"/>
                      <a:pt x="931" y="752"/>
                    </a:cubicBezTo>
                    <a:cubicBezTo>
                      <a:pt x="946" y="767"/>
                      <a:pt x="946" y="792"/>
                      <a:pt x="931" y="807"/>
                    </a:cubicBezTo>
                    <a:cubicBezTo>
                      <a:pt x="931" y="807"/>
                      <a:pt x="931" y="807"/>
                      <a:pt x="931" y="807"/>
                    </a:cubicBezTo>
                    <a:cubicBezTo>
                      <a:pt x="931" y="808"/>
                      <a:pt x="931" y="808"/>
                      <a:pt x="931" y="808"/>
                    </a:cubicBezTo>
                    <a:cubicBezTo>
                      <a:pt x="807" y="930"/>
                      <a:pt x="807" y="930"/>
                      <a:pt x="807" y="930"/>
                    </a:cubicBezTo>
                    <a:cubicBezTo>
                      <a:pt x="792" y="946"/>
                      <a:pt x="767" y="945"/>
                      <a:pt x="752" y="930"/>
                    </a:cubicBezTo>
                    <a:cubicBezTo>
                      <a:pt x="703" y="881"/>
                      <a:pt x="703" y="881"/>
                      <a:pt x="703" y="881"/>
                    </a:cubicBezTo>
                    <a:cubicBezTo>
                      <a:pt x="693" y="887"/>
                      <a:pt x="681" y="893"/>
                      <a:pt x="670" y="897"/>
                    </a:cubicBezTo>
                    <a:cubicBezTo>
                      <a:pt x="668" y="898"/>
                      <a:pt x="668" y="898"/>
                      <a:pt x="668" y="898"/>
                    </a:cubicBezTo>
                    <a:cubicBezTo>
                      <a:pt x="658" y="902"/>
                      <a:pt x="647" y="906"/>
                      <a:pt x="636" y="909"/>
                    </a:cubicBezTo>
                    <a:cubicBezTo>
                      <a:pt x="636" y="979"/>
                      <a:pt x="636" y="979"/>
                      <a:pt x="636" y="979"/>
                    </a:cubicBezTo>
                    <a:cubicBezTo>
                      <a:pt x="636" y="1000"/>
                      <a:pt x="618" y="1018"/>
                      <a:pt x="597" y="1018"/>
                    </a:cubicBezTo>
                    <a:cubicBezTo>
                      <a:pt x="593" y="1017"/>
                      <a:pt x="593" y="1017"/>
                      <a:pt x="593" y="1017"/>
                    </a:cubicBezTo>
                    <a:cubicBezTo>
                      <a:pt x="422" y="1017"/>
                      <a:pt x="422" y="1017"/>
                      <a:pt x="422" y="1017"/>
                    </a:cubicBezTo>
                    <a:cubicBezTo>
                      <a:pt x="401" y="1017"/>
                      <a:pt x="383" y="1000"/>
                      <a:pt x="383" y="979"/>
                    </a:cubicBezTo>
                    <a:cubicBezTo>
                      <a:pt x="383" y="979"/>
                      <a:pt x="383" y="979"/>
                      <a:pt x="383" y="979"/>
                    </a:cubicBezTo>
                    <a:cubicBezTo>
                      <a:pt x="383" y="909"/>
                      <a:pt x="383" y="909"/>
                      <a:pt x="383" y="909"/>
                    </a:cubicBezTo>
                    <a:cubicBezTo>
                      <a:pt x="371" y="906"/>
                      <a:pt x="360" y="901"/>
                      <a:pt x="349" y="897"/>
                    </a:cubicBezTo>
                    <a:cubicBezTo>
                      <a:pt x="348" y="897"/>
                      <a:pt x="348" y="897"/>
                      <a:pt x="348" y="897"/>
                    </a:cubicBezTo>
                    <a:cubicBezTo>
                      <a:pt x="348" y="897"/>
                      <a:pt x="348" y="897"/>
                      <a:pt x="348" y="897"/>
                    </a:cubicBezTo>
                    <a:cubicBezTo>
                      <a:pt x="337" y="893"/>
                      <a:pt x="326" y="887"/>
                      <a:pt x="316" y="881"/>
                    </a:cubicBezTo>
                    <a:cubicBezTo>
                      <a:pt x="267" y="930"/>
                      <a:pt x="267" y="930"/>
                      <a:pt x="267" y="930"/>
                    </a:cubicBezTo>
                    <a:cubicBezTo>
                      <a:pt x="251" y="945"/>
                      <a:pt x="226" y="946"/>
                      <a:pt x="211" y="930"/>
                    </a:cubicBezTo>
                    <a:cubicBezTo>
                      <a:pt x="211" y="930"/>
                      <a:pt x="211" y="930"/>
                      <a:pt x="211" y="930"/>
                    </a:cubicBezTo>
                    <a:cubicBezTo>
                      <a:pt x="211" y="930"/>
                      <a:pt x="211" y="930"/>
                      <a:pt x="211" y="930"/>
                    </a:cubicBezTo>
                    <a:cubicBezTo>
                      <a:pt x="88" y="807"/>
                      <a:pt x="88" y="807"/>
                      <a:pt x="88" y="807"/>
                    </a:cubicBezTo>
                    <a:cubicBezTo>
                      <a:pt x="73" y="792"/>
                      <a:pt x="73" y="767"/>
                      <a:pt x="88" y="752"/>
                    </a:cubicBezTo>
                    <a:cubicBezTo>
                      <a:pt x="137" y="703"/>
                      <a:pt x="137" y="703"/>
                      <a:pt x="137" y="703"/>
                    </a:cubicBezTo>
                    <a:cubicBezTo>
                      <a:pt x="131" y="692"/>
                      <a:pt x="126" y="681"/>
                      <a:pt x="121" y="670"/>
                    </a:cubicBezTo>
                    <a:cubicBezTo>
                      <a:pt x="117" y="658"/>
                      <a:pt x="113" y="647"/>
                      <a:pt x="109" y="635"/>
                    </a:cubicBezTo>
                    <a:cubicBezTo>
                      <a:pt x="40" y="635"/>
                      <a:pt x="40" y="635"/>
                      <a:pt x="40" y="635"/>
                    </a:cubicBezTo>
                    <a:cubicBezTo>
                      <a:pt x="18" y="635"/>
                      <a:pt x="0" y="617"/>
                      <a:pt x="0" y="596"/>
                    </a:cubicBezTo>
                    <a:cubicBezTo>
                      <a:pt x="0" y="593"/>
                      <a:pt x="0" y="593"/>
                      <a:pt x="0" y="593"/>
                    </a:cubicBezTo>
                    <a:cubicBezTo>
                      <a:pt x="0" y="422"/>
                      <a:pt x="0" y="422"/>
                      <a:pt x="0" y="422"/>
                    </a:cubicBezTo>
                    <a:cubicBezTo>
                      <a:pt x="0" y="400"/>
                      <a:pt x="18" y="382"/>
                      <a:pt x="40" y="382"/>
                    </a:cubicBezTo>
                    <a:cubicBezTo>
                      <a:pt x="109" y="382"/>
                      <a:pt x="109" y="382"/>
                      <a:pt x="109" y="382"/>
                    </a:cubicBezTo>
                    <a:cubicBezTo>
                      <a:pt x="113" y="371"/>
                      <a:pt x="117" y="359"/>
                      <a:pt x="121" y="348"/>
                    </a:cubicBezTo>
                    <a:cubicBezTo>
                      <a:pt x="126" y="337"/>
                      <a:pt x="131" y="326"/>
                      <a:pt x="137" y="315"/>
                    </a:cubicBezTo>
                    <a:cubicBezTo>
                      <a:pt x="88" y="266"/>
                      <a:pt x="88" y="266"/>
                      <a:pt x="88" y="266"/>
                    </a:cubicBezTo>
                    <a:cubicBezTo>
                      <a:pt x="73" y="251"/>
                      <a:pt x="73" y="226"/>
                      <a:pt x="88" y="211"/>
                    </a:cubicBezTo>
                    <a:cubicBezTo>
                      <a:pt x="88" y="210"/>
                      <a:pt x="88" y="210"/>
                      <a:pt x="88" y="210"/>
                    </a:cubicBezTo>
                    <a:cubicBezTo>
                      <a:pt x="89" y="210"/>
                      <a:pt x="89" y="210"/>
                      <a:pt x="89" y="210"/>
                    </a:cubicBezTo>
                    <a:cubicBezTo>
                      <a:pt x="211" y="87"/>
                      <a:pt x="211" y="87"/>
                      <a:pt x="211" y="87"/>
                    </a:cubicBezTo>
                    <a:cubicBezTo>
                      <a:pt x="226" y="72"/>
                      <a:pt x="251" y="72"/>
                      <a:pt x="267" y="87"/>
                    </a:cubicBezTo>
                    <a:cubicBezTo>
                      <a:pt x="316" y="136"/>
                      <a:pt x="316" y="136"/>
                      <a:pt x="316" y="136"/>
                    </a:cubicBezTo>
                    <a:cubicBezTo>
                      <a:pt x="337" y="125"/>
                      <a:pt x="360" y="116"/>
                      <a:pt x="383" y="108"/>
                    </a:cubicBezTo>
                    <a:cubicBezTo>
                      <a:pt x="383" y="39"/>
                      <a:pt x="383" y="39"/>
                      <a:pt x="383" y="39"/>
                    </a:cubicBezTo>
                    <a:cubicBezTo>
                      <a:pt x="383" y="17"/>
                      <a:pt x="400" y="0"/>
                      <a:pt x="422" y="0"/>
                    </a:cubicBezTo>
                    <a:cubicBezTo>
                      <a:pt x="423" y="0"/>
                      <a:pt x="423" y="0"/>
                      <a:pt x="423" y="0"/>
                    </a:cubicBezTo>
                    <a:cubicBezTo>
                      <a:pt x="597" y="0"/>
                      <a:pt x="597" y="0"/>
                      <a:pt x="597" y="0"/>
                    </a:cubicBezTo>
                    <a:cubicBezTo>
                      <a:pt x="618" y="0"/>
                      <a:pt x="636" y="17"/>
                      <a:pt x="636" y="39"/>
                    </a:cubicBezTo>
                    <a:cubicBezTo>
                      <a:pt x="636" y="40"/>
                      <a:pt x="636" y="40"/>
                      <a:pt x="636" y="40"/>
                    </a:cubicBezTo>
                    <a:cubicBezTo>
                      <a:pt x="636" y="108"/>
                      <a:pt x="636" y="108"/>
                      <a:pt x="636" y="108"/>
                    </a:cubicBezTo>
                    <a:close/>
                    <a:moveTo>
                      <a:pt x="640" y="193"/>
                    </a:moveTo>
                    <a:cubicBezTo>
                      <a:pt x="640" y="193"/>
                      <a:pt x="640" y="193"/>
                      <a:pt x="640" y="193"/>
                    </a:cubicBezTo>
                    <a:cubicBezTo>
                      <a:pt x="624" y="186"/>
                      <a:pt x="607" y="181"/>
                      <a:pt x="590" y="177"/>
                    </a:cubicBezTo>
                    <a:cubicBezTo>
                      <a:pt x="571" y="174"/>
                      <a:pt x="557" y="157"/>
                      <a:pt x="557" y="139"/>
                    </a:cubicBezTo>
                    <a:cubicBezTo>
                      <a:pt x="557" y="79"/>
                      <a:pt x="557" y="79"/>
                      <a:pt x="557" y="79"/>
                    </a:cubicBezTo>
                    <a:cubicBezTo>
                      <a:pt x="461" y="79"/>
                      <a:pt x="461" y="79"/>
                      <a:pt x="461" y="79"/>
                    </a:cubicBezTo>
                    <a:cubicBezTo>
                      <a:pt x="461" y="139"/>
                      <a:pt x="461" y="139"/>
                      <a:pt x="461" y="139"/>
                    </a:cubicBezTo>
                    <a:cubicBezTo>
                      <a:pt x="461" y="156"/>
                      <a:pt x="449" y="173"/>
                      <a:pt x="431" y="176"/>
                    </a:cubicBezTo>
                    <a:cubicBezTo>
                      <a:pt x="395" y="184"/>
                      <a:pt x="361" y="199"/>
                      <a:pt x="330" y="219"/>
                    </a:cubicBezTo>
                    <a:cubicBezTo>
                      <a:pt x="330" y="219"/>
                      <a:pt x="330" y="219"/>
                      <a:pt x="330" y="219"/>
                    </a:cubicBezTo>
                    <a:cubicBezTo>
                      <a:pt x="314" y="228"/>
                      <a:pt x="294" y="226"/>
                      <a:pt x="281" y="213"/>
                    </a:cubicBezTo>
                    <a:cubicBezTo>
                      <a:pt x="239" y="170"/>
                      <a:pt x="239" y="170"/>
                      <a:pt x="239" y="170"/>
                    </a:cubicBezTo>
                    <a:cubicBezTo>
                      <a:pt x="171" y="239"/>
                      <a:pt x="171" y="239"/>
                      <a:pt x="171" y="239"/>
                    </a:cubicBezTo>
                    <a:cubicBezTo>
                      <a:pt x="212" y="280"/>
                      <a:pt x="212" y="280"/>
                      <a:pt x="212" y="280"/>
                    </a:cubicBezTo>
                    <a:cubicBezTo>
                      <a:pt x="226" y="292"/>
                      <a:pt x="229" y="313"/>
                      <a:pt x="219" y="329"/>
                    </a:cubicBezTo>
                    <a:cubicBezTo>
                      <a:pt x="209" y="344"/>
                      <a:pt x="200" y="361"/>
                      <a:pt x="193" y="379"/>
                    </a:cubicBezTo>
                    <a:cubicBezTo>
                      <a:pt x="187" y="394"/>
                      <a:pt x="181" y="412"/>
                      <a:pt x="177" y="429"/>
                    </a:cubicBezTo>
                    <a:cubicBezTo>
                      <a:pt x="174" y="447"/>
                      <a:pt x="158" y="461"/>
                      <a:pt x="139" y="461"/>
                    </a:cubicBezTo>
                    <a:cubicBezTo>
                      <a:pt x="79" y="461"/>
                      <a:pt x="79" y="461"/>
                      <a:pt x="79" y="461"/>
                    </a:cubicBezTo>
                    <a:cubicBezTo>
                      <a:pt x="79" y="557"/>
                      <a:pt x="79" y="557"/>
                      <a:pt x="79" y="557"/>
                    </a:cubicBezTo>
                    <a:cubicBezTo>
                      <a:pt x="139" y="557"/>
                      <a:pt x="139" y="557"/>
                      <a:pt x="139" y="557"/>
                    </a:cubicBezTo>
                    <a:cubicBezTo>
                      <a:pt x="156" y="557"/>
                      <a:pt x="172" y="569"/>
                      <a:pt x="176" y="587"/>
                    </a:cubicBezTo>
                    <a:cubicBezTo>
                      <a:pt x="181" y="606"/>
                      <a:pt x="186" y="623"/>
                      <a:pt x="193" y="640"/>
                    </a:cubicBezTo>
                    <a:cubicBezTo>
                      <a:pt x="200" y="656"/>
                      <a:pt x="209" y="673"/>
                      <a:pt x="219" y="689"/>
                    </a:cubicBezTo>
                    <a:cubicBezTo>
                      <a:pt x="228" y="704"/>
                      <a:pt x="226" y="724"/>
                      <a:pt x="213" y="737"/>
                    </a:cubicBezTo>
                    <a:cubicBezTo>
                      <a:pt x="171" y="779"/>
                      <a:pt x="171" y="779"/>
                      <a:pt x="171" y="779"/>
                    </a:cubicBezTo>
                    <a:cubicBezTo>
                      <a:pt x="239" y="848"/>
                      <a:pt x="239" y="848"/>
                      <a:pt x="239" y="848"/>
                    </a:cubicBezTo>
                    <a:cubicBezTo>
                      <a:pt x="280" y="807"/>
                      <a:pt x="280" y="807"/>
                      <a:pt x="280" y="807"/>
                    </a:cubicBezTo>
                    <a:cubicBezTo>
                      <a:pt x="292" y="793"/>
                      <a:pt x="313" y="790"/>
                      <a:pt x="330" y="800"/>
                    </a:cubicBezTo>
                    <a:cubicBezTo>
                      <a:pt x="345" y="809"/>
                      <a:pt x="361" y="818"/>
                      <a:pt x="378" y="825"/>
                    </a:cubicBezTo>
                    <a:cubicBezTo>
                      <a:pt x="394" y="832"/>
                      <a:pt x="412" y="837"/>
                      <a:pt x="429" y="841"/>
                    </a:cubicBezTo>
                    <a:cubicBezTo>
                      <a:pt x="448" y="845"/>
                      <a:pt x="461" y="861"/>
                      <a:pt x="461" y="880"/>
                    </a:cubicBezTo>
                    <a:cubicBezTo>
                      <a:pt x="461" y="940"/>
                      <a:pt x="461" y="940"/>
                      <a:pt x="461" y="940"/>
                    </a:cubicBezTo>
                    <a:cubicBezTo>
                      <a:pt x="557" y="940"/>
                      <a:pt x="557" y="940"/>
                      <a:pt x="557" y="940"/>
                    </a:cubicBezTo>
                    <a:cubicBezTo>
                      <a:pt x="557" y="880"/>
                      <a:pt x="557" y="880"/>
                      <a:pt x="557" y="880"/>
                    </a:cubicBezTo>
                    <a:cubicBezTo>
                      <a:pt x="558" y="880"/>
                      <a:pt x="558" y="880"/>
                      <a:pt x="558" y="880"/>
                    </a:cubicBezTo>
                    <a:cubicBezTo>
                      <a:pt x="558" y="862"/>
                      <a:pt x="570" y="846"/>
                      <a:pt x="588" y="842"/>
                    </a:cubicBezTo>
                    <a:cubicBezTo>
                      <a:pt x="606" y="837"/>
                      <a:pt x="622" y="832"/>
                      <a:pt x="638" y="826"/>
                    </a:cubicBezTo>
                    <a:cubicBezTo>
                      <a:pt x="640" y="825"/>
                      <a:pt x="640" y="825"/>
                      <a:pt x="640" y="825"/>
                    </a:cubicBezTo>
                    <a:cubicBezTo>
                      <a:pt x="657" y="818"/>
                      <a:pt x="674" y="809"/>
                      <a:pt x="690" y="800"/>
                    </a:cubicBezTo>
                    <a:cubicBezTo>
                      <a:pt x="705" y="790"/>
                      <a:pt x="724" y="792"/>
                      <a:pt x="738" y="806"/>
                    </a:cubicBezTo>
                    <a:cubicBezTo>
                      <a:pt x="780" y="848"/>
                      <a:pt x="780" y="848"/>
                      <a:pt x="780" y="848"/>
                    </a:cubicBezTo>
                    <a:cubicBezTo>
                      <a:pt x="848" y="779"/>
                      <a:pt x="848" y="779"/>
                      <a:pt x="848" y="779"/>
                    </a:cubicBezTo>
                    <a:cubicBezTo>
                      <a:pt x="807" y="739"/>
                      <a:pt x="807" y="739"/>
                      <a:pt x="807" y="739"/>
                    </a:cubicBezTo>
                    <a:cubicBezTo>
                      <a:pt x="793" y="726"/>
                      <a:pt x="790" y="705"/>
                      <a:pt x="800" y="689"/>
                    </a:cubicBezTo>
                    <a:cubicBezTo>
                      <a:pt x="810" y="673"/>
                      <a:pt x="818" y="657"/>
                      <a:pt x="825" y="640"/>
                    </a:cubicBezTo>
                    <a:cubicBezTo>
                      <a:pt x="832" y="623"/>
                      <a:pt x="838" y="607"/>
                      <a:pt x="842" y="589"/>
                    </a:cubicBezTo>
                    <a:cubicBezTo>
                      <a:pt x="845" y="571"/>
                      <a:pt x="861" y="557"/>
                      <a:pt x="880" y="557"/>
                    </a:cubicBezTo>
                    <a:cubicBezTo>
                      <a:pt x="940" y="557"/>
                      <a:pt x="940" y="557"/>
                      <a:pt x="940" y="557"/>
                    </a:cubicBezTo>
                    <a:cubicBezTo>
                      <a:pt x="940" y="461"/>
                      <a:pt x="940" y="461"/>
                      <a:pt x="940" y="461"/>
                    </a:cubicBezTo>
                    <a:cubicBezTo>
                      <a:pt x="880" y="461"/>
                      <a:pt x="880" y="461"/>
                      <a:pt x="880" y="461"/>
                    </a:cubicBezTo>
                    <a:cubicBezTo>
                      <a:pt x="863" y="461"/>
                      <a:pt x="846" y="449"/>
                      <a:pt x="842" y="430"/>
                    </a:cubicBezTo>
                    <a:cubicBezTo>
                      <a:pt x="838" y="413"/>
                      <a:pt x="832" y="395"/>
                      <a:pt x="825" y="379"/>
                    </a:cubicBezTo>
                    <a:cubicBezTo>
                      <a:pt x="818" y="361"/>
                      <a:pt x="810" y="345"/>
                      <a:pt x="801" y="330"/>
                    </a:cubicBezTo>
                    <a:cubicBezTo>
                      <a:pt x="790" y="315"/>
                      <a:pt x="792" y="294"/>
                      <a:pt x="805" y="280"/>
                    </a:cubicBezTo>
                    <a:cubicBezTo>
                      <a:pt x="848" y="239"/>
                      <a:pt x="848" y="239"/>
                      <a:pt x="848" y="239"/>
                    </a:cubicBezTo>
                    <a:cubicBezTo>
                      <a:pt x="780" y="170"/>
                      <a:pt x="780" y="170"/>
                      <a:pt x="780" y="170"/>
                    </a:cubicBezTo>
                    <a:cubicBezTo>
                      <a:pt x="739" y="211"/>
                      <a:pt x="739" y="211"/>
                      <a:pt x="739" y="211"/>
                    </a:cubicBezTo>
                    <a:cubicBezTo>
                      <a:pt x="726" y="225"/>
                      <a:pt x="706" y="228"/>
                      <a:pt x="690" y="219"/>
                    </a:cubicBezTo>
                    <a:cubicBezTo>
                      <a:pt x="674" y="209"/>
                      <a:pt x="657" y="200"/>
                      <a:pt x="640" y="193"/>
                    </a:cubicBezTo>
                    <a:close/>
                    <a:moveTo>
                      <a:pt x="510" y="314"/>
                    </a:moveTo>
                    <a:cubicBezTo>
                      <a:pt x="510" y="314"/>
                      <a:pt x="510" y="314"/>
                      <a:pt x="510" y="314"/>
                    </a:cubicBezTo>
                    <a:cubicBezTo>
                      <a:pt x="403" y="314"/>
                      <a:pt x="315" y="402"/>
                      <a:pt x="315" y="509"/>
                    </a:cubicBezTo>
                    <a:cubicBezTo>
                      <a:pt x="315" y="616"/>
                      <a:pt x="403" y="703"/>
                      <a:pt x="510" y="703"/>
                    </a:cubicBezTo>
                    <a:cubicBezTo>
                      <a:pt x="616" y="703"/>
                      <a:pt x="704" y="616"/>
                      <a:pt x="704" y="509"/>
                    </a:cubicBezTo>
                    <a:cubicBezTo>
                      <a:pt x="704" y="402"/>
                      <a:pt x="616" y="314"/>
                      <a:pt x="510" y="314"/>
                    </a:cubicBezTo>
                    <a:close/>
                  </a:path>
                </a:pathLst>
              </a:custGeom>
              <a:solidFill>
                <a:srgbClr val="82D8A9"/>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sp>
            <p:nvSpPr>
              <p:cNvPr id="62" name="Freeform 21">
                <a:extLst>
                  <a:ext uri="{FF2B5EF4-FFF2-40B4-BE49-F238E27FC236}">
                    <a16:creationId xmlns="" xmlns:a16="http://schemas.microsoft.com/office/drawing/2014/main" id="{E6687E8F-140F-4DCA-80B8-04FB8EBC6FAD}"/>
                  </a:ext>
                </a:extLst>
              </p:cNvPr>
              <p:cNvSpPr>
                <a:spLocks noEditPoints="1"/>
              </p:cNvSpPr>
              <p:nvPr/>
            </p:nvSpPr>
            <p:spPr bwMode="gray">
              <a:xfrm>
                <a:off x="5528042" y="1567750"/>
                <a:ext cx="263802" cy="259625"/>
              </a:xfrm>
              <a:custGeom>
                <a:avLst/>
                <a:gdLst>
                  <a:gd name="T0" fmla="*/ 1234 w 1252"/>
                  <a:gd name="T1" fmla="*/ 1004 h 1086"/>
                  <a:gd name="T2" fmla="*/ 1171 w 1252"/>
                  <a:gd name="T3" fmla="*/ 1068 h 1086"/>
                  <a:gd name="T4" fmla="*/ 849 w 1252"/>
                  <a:gd name="T5" fmla="*/ 949 h 1086"/>
                  <a:gd name="T6" fmla="*/ 284 w 1252"/>
                  <a:gd name="T7" fmla="*/ 812 h 1086"/>
                  <a:gd name="T8" fmla="*/ 660 w 1252"/>
                  <a:gd name="T9" fmla="*/ 896 h 1086"/>
                  <a:gd name="T10" fmla="*/ 944 w 1252"/>
                  <a:gd name="T11" fmla="*/ 779 h 1086"/>
                  <a:gd name="T12" fmla="*/ 945 w 1252"/>
                  <a:gd name="T13" fmla="*/ 778 h 1086"/>
                  <a:gd name="T14" fmla="*/ 1063 w 1252"/>
                  <a:gd name="T15" fmla="*/ 493 h 1086"/>
                  <a:gd name="T16" fmla="*/ 1033 w 1252"/>
                  <a:gd name="T17" fmla="*/ 339 h 1086"/>
                  <a:gd name="T18" fmla="*/ 945 w 1252"/>
                  <a:gd name="T19" fmla="*/ 208 h 1086"/>
                  <a:gd name="T20" fmla="*/ 660 w 1252"/>
                  <a:gd name="T21" fmla="*/ 91 h 1086"/>
                  <a:gd name="T22" fmla="*/ 251 w 1252"/>
                  <a:gd name="T23" fmla="*/ 358 h 1086"/>
                  <a:gd name="T24" fmla="*/ 212 w 1252"/>
                  <a:gd name="T25" fmla="*/ 337 h 1086"/>
                  <a:gd name="T26" fmla="*/ 660 w 1252"/>
                  <a:gd name="T27" fmla="*/ 0 h 1086"/>
                  <a:gd name="T28" fmla="*/ 849 w 1252"/>
                  <a:gd name="T29" fmla="*/ 38 h 1086"/>
                  <a:gd name="T30" fmla="*/ 1011 w 1252"/>
                  <a:gd name="T31" fmla="*/ 147 h 1086"/>
                  <a:gd name="T32" fmla="*/ 1117 w 1252"/>
                  <a:gd name="T33" fmla="*/ 307 h 1086"/>
                  <a:gd name="T34" fmla="*/ 1116 w 1252"/>
                  <a:gd name="T35" fmla="*/ 681 h 1086"/>
                  <a:gd name="T36" fmla="*/ 27 w 1252"/>
                  <a:gd name="T37" fmla="*/ 620 h 1086"/>
                  <a:gd name="T38" fmla="*/ 0 w 1252"/>
                  <a:gd name="T39" fmla="*/ 592 h 1086"/>
                  <a:gd name="T40" fmla="*/ 227 w 1252"/>
                  <a:gd name="T41" fmla="*/ 565 h 1086"/>
                  <a:gd name="T42" fmla="*/ 383 w 1252"/>
                  <a:gd name="T43" fmla="*/ 354 h 1086"/>
                  <a:gd name="T44" fmla="*/ 509 w 1252"/>
                  <a:gd name="T45" fmla="*/ 550 h 1086"/>
                  <a:gd name="T46" fmla="*/ 605 w 1252"/>
                  <a:gd name="T47" fmla="*/ 488 h 1086"/>
                  <a:gd name="T48" fmla="*/ 678 w 1252"/>
                  <a:gd name="T49" fmla="*/ 632 h 1086"/>
                  <a:gd name="T50" fmla="*/ 794 w 1252"/>
                  <a:gd name="T51" fmla="*/ 260 h 1086"/>
                  <a:gd name="T52" fmla="*/ 930 w 1252"/>
                  <a:gd name="T53" fmla="*/ 392 h 1086"/>
                  <a:gd name="T54" fmla="*/ 891 w 1252"/>
                  <a:gd name="T55" fmla="*/ 430 h 1086"/>
                  <a:gd name="T56" fmla="*/ 713 w 1252"/>
                  <a:gd name="T57" fmla="*/ 718 h 1086"/>
                  <a:gd name="T58" fmla="*/ 663 w 1252"/>
                  <a:gd name="T59" fmla="*/ 724 h 1086"/>
                  <a:gd name="T60" fmla="*/ 524 w 1252"/>
                  <a:gd name="T61" fmla="*/ 612 h 1086"/>
                  <a:gd name="T62" fmla="*/ 481 w 1252"/>
                  <a:gd name="T63" fmla="*/ 609 h 1086"/>
                  <a:gd name="T64" fmla="*/ 266 w 1252"/>
                  <a:gd name="T65" fmla="*/ 605 h 1086"/>
                  <a:gd name="T66" fmla="*/ 27 w 1252"/>
                  <a:gd name="T67" fmla="*/ 620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52" h="1086">
                    <a:moveTo>
                      <a:pt x="1040" y="809"/>
                    </a:moveTo>
                    <a:cubicBezTo>
                      <a:pt x="1234" y="1004"/>
                      <a:pt x="1234" y="1004"/>
                      <a:pt x="1234" y="1004"/>
                    </a:cubicBezTo>
                    <a:cubicBezTo>
                      <a:pt x="1252" y="1021"/>
                      <a:pt x="1252" y="1050"/>
                      <a:pt x="1235" y="1067"/>
                    </a:cubicBezTo>
                    <a:cubicBezTo>
                      <a:pt x="1218" y="1086"/>
                      <a:pt x="1189" y="1086"/>
                      <a:pt x="1171" y="1068"/>
                    </a:cubicBezTo>
                    <a:cubicBezTo>
                      <a:pt x="975" y="873"/>
                      <a:pt x="975" y="873"/>
                      <a:pt x="975" y="873"/>
                    </a:cubicBezTo>
                    <a:cubicBezTo>
                      <a:pt x="938" y="904"/>
                      <a:pt x="895" y="930"/>
                      <a:pt x="849" y="949"/>
                    </a:cubicBezTo>
                    <a:cubicBezTo>
                      <a:pt x="791" y="973"/>
                      <a:pt x="727" y="987"/>
                      <a:pt x="660" y="987"/>
                    </a:cubicBezTo>
                    <a:cubicBezTo>
                      <a:pt x="516" y="987"/>
                      <a:pt x="378" y="923"/>
                      <a:pt x="284" y="812"/>
                    </a:cubicBezTo>
                    <a:cubicBezTo>
                      <a:pt x="237" y="757"/>
                      <a:pt x="309" y="705"/>
                      <a:pt x="363" y="765"/>
                    </a:cubicBezTo>
                    <a:cubicBezTo>
                      <a:pt x="439" y="848"/>
                      <a:pt x="547" y="896"/>
                      <a:pt x="660" y="896"/>
                    </a:cubicBezTo>
                    <a:cubicBezTo>
                      <a:pt x="715" y="896"/>
                      <a:pt x="767" y="885"/>
                      <a:pt x="814" y="866"/>
                    </a:cubicBezTo>
                    <a:cubicBezTo>
                      <a:pt x="863" y="845"/>
                      <a:pt x="907" y="816"/>
                      <a:pt x="944" y="779"/>
                    </a:cubicBezTo>
                    <a:cubicBezTo>
                      <a:pt x="945" y="778"/>
                      <a:pt x="945" y="778"/>
                      <a:pt x="945" y="778"/>
                    </a:cubicBezTo>
                    <a:cubicBezTo>
                      <a:pt x="945" y="778"/>
                      <a:pt x="945" y="778"/>
                      <a:pt x="945" y="778"/>
                    </a:cubicBezTo>
                    <a:cubicBezTo>
                      <a:pt x="982" y="741"/>
                      <a:pt x="1012" y="697"/>
                      <a:pt x="1033" y="647"/>
                    </a:cubicBezTo>
                    <a:cubicBezTo>
                      <a:pt x="1052" y="600"/>
                      <a:pt x="1063" y="548"/>
                      <a:pt x="1063" y="493"/>
                    </a:cubicBezTo>
                    <a:cubicBezTo>
                      <a:pt x="1063" y="440"/>
                      <a:pt x="1052" y="388"/>
                      <a:pt x="1033" y="341"/>
                    </a:cubicBezTo>
                    <a:cubicBezTo>
                      <a:pt x="1033" y="339"/>
                      <a:pt x="1033" y="339"/>
                      <a:pt x="1033" y="339"/>
                    </a:cubicBezTo>
                    <a:cubicBezTo>
                      <a:pt x="1013" y="291"/>
                      <a:pt x="983" y="247"/>
                      <a:pt x="947" y="211"/>
                    </a:cubicBezTo>
                    <a:cubicBezTo>
                      <a:pt x="945" y="208"/>
                      <a:pt x="945" y="208"/>
                      <a:pt x="945" y="208"/>
                    </a:cubicBezTo>
                    <a:cubicBezTo>
                      <a:pt x="907" y="171"/>
                      <a:pt x="863" y="141"/>
                      <a:pt x="814" y="121"/>
                    </a:cubicBezTo>
                    <a:cubicBezTo>
                      <a:pt x="767" y="101"/>
                      <a:pt x="715" y="91"/>
                      <a:pt x="660" y="91"/>
                    </a:cubicBezTo>
                    <a:cubicBezTo>
                      <a:pt x="496" y="91"/>
                      <a:pt x="354" y="191"/>
                      <a:pt x="292" y="331"/>
                    </a:cubicBezTo>
                    <a:cubicBezTo>
                      <a:pt x="284" y="348"/>
                      <a:pt x="269" y="358"/>
                      <a:pt x="251" y="358"/>
                    </a:cubicBezTo>
                    <a:cubicBezTo>
                      <a:pt x="250" y="358"/>
                      <a:pt x="250" y="358"/>
                      <a:pt x="250" y="358"/>
                    </a:cubicBezTo>
                    <a:cubicBezTo>
                      <a:pt x="234" y="358"/>
                      <a:pt x="221" y="350"/>
                      <a:pt x="212" y="337"/>
                    </a:cubicBezTo>
                    <a:cubicBezTo>
                      <a:pt x="204" y="324"/>
                      <a:pt x="203" y="309"/>
                      <a:pt x="209" y="294"/>
                    </a:cubicBezTo>
                    <a:cubicBezTo>
                      <a:pt x="287" y="119"/>
                      <a:pt x="464" y="0"/>
                      <a:pt x="660" y="0"/>
                    </a:cubicBezTo>
                    <a:cubicBezTo>
                      <a:pt x="726" y="0"/>
                      <a:pt x="790" y="13"/>
                      <a:pt x="849" y="38"/>
                    </a:cubicBezTo>
                    <a:cubicBezTo>
                      <a:pt x="849" y="38"/>
                      <a:pt x="849" y="38"/>
                      <a:pt x="849" y="38"/>
                    </a:cubicBezTo>
                    <a:cubicBezTo>
                      <a:pt x="909" y="63"/>
                      <a:pt x="964" y="100"/>
                      <a:pt x="1009" y="145"/>
                    </a:cubicBezTo>
                    <a:cubicBezTo>
                      <a:pt x="1011" y="147"/>
                      <a:pt x="1011" y="147"/>
                      <a:pt x="1011" y="147"/>
                    </a:cubicBezTo>
                    <a:cubicBezTo>
                      <a:pt x="1056" y="192"/>
                      <a:pt x="1091" y="245"/>
                      <a:pt x="1116" y="304"/>
                    </a:cubicBezTo>
                    <a:cubicBezTo>
                      <a:pt x="1117" y="307"/>
                      <a:pt x="1117" y="307"/>
                      <a:pt x="1117" y="307"/>
                    </a:cubicBezTo>
                    <a:cubicBezTo>
                      <a:pt x="1140" y="365"/>
                      <a:pt x="1153" y="427"/>
                      <a:pt x="1153" y="493"/>
                    </a:cubicBezTo>
                    <a:cubicBezTo>
                      <a:pt x="1153" y="560"/>
                      <a:pt x="1140" y="624"/>
                      <a:pt x="1116" y="681"/>
                    </a:cubicBezTo>
                    <a:cubicBezTo>
                      <a:pt x="1097" y="728"/>
                      <a:pt x="1071" y="771"/>
                      <a:pt x="1040" y="809"/>
                    </a:cubicBezTo>
                    <a:close/>
                    <a:moveTo>
                      <a:pt x="27" y="620"/>
                    </a:moveTo>
                    <a:cubicBezTo>
                      <a:pt x="27" y="620"/>
                      <a:pt x="27" y="620"/>
                      <a:pt x="27" y="620"/>
                    </a:cubicBezTo>
                    <a:cubicBezTo>
                      <a:pt x="12" y="620"/>
                      <a:pt x="0" y="608"/>
                      <a:pt x="0" y="592"/>
                    </a:cubicBezTo>
                    <a:cubicBezTo>
                      <a:pt x="0" y="577"/>
                      <a:pt x="12" y="565"/>
                      <a:pt x="27" y="565"/>
                    </a:cubicBezTo>
                    <a:cubicBezTo>
                      <a:pt x="227" y="565"/>
                      <a:pt x="227" y="565"/>
                      <a:pt x="227" y="565"/>
                    </a:cubicBezTo>
                    <a:cubicBezTo>
                      <a:pt x="346" y="364"/>
                      <a:pt x="346" y="364"/>
                      <a:pt x="346" y="364"/>
                    </a:cubicBezTo>
                    <a:cubicBezTo>
                      <a:pt x="354" y="351"/>
                      <a:pt x="370" y="347"/>
                      <a:pt x="383" y="354"/>
                    </a:cubicBezTo>
                    <a:cubicBezTo>
                      <a:pt x="387" y="356"/>
                      <a:pt x="390" y="360"/>
                      <a:pt x="392" y="363"/>
                    </a:cubicBezTo>
                    <a:cubicBezTo>
                      <a:pt x="509" y="550"/>
                      <a:pt x="509" y="550"/>
                      <a:pt x="509" y="550"/>
                    </a:cubicBezTo>
                    <a:cubicBezTo>
                      <a:pt x="566" y="489"/>
                      <a:pt x="566" y="489"/>
                      <a:pt x="566" y="489"/>
                    </a:cubicBezTo>
                    <a:cubicBezTo>
                      <a:pt x="577" y="478"/>
                      <a:pt x="594" y="477"/>
                      <a:pt x="605" y="488"/>
                    </a:cubicBezTo>
                    <a:cubicBezTo>
                      <a:pt x="607" y="491"/>
                      <a:pt x="610" y="493"/>
                      <a:pt x="611" y="497"/>
                    </a:cubicBezTo>
                    <a:cubicBezTo>
                      <a:pt x="678" y="632"/>
                      <a:pt x="678" y="632"/>
                      <a:pt x="678" y="632"/>
                    </a:cubicBezTo>
                    <a:cubicBezTo>
                      <a:pt x="761" y="280"/>
                      <a:pt x="761" y="280"/>
                      <a:pt x="761" y="280"/>
                    </a:cubicBezTo>
                    <a:cubicBezTo>
                      <a:pt x="765" y="265"/>
                      <a:pt x="780" y="257"/>
                      <a:pt x="794" y="260"/>
                    </a:cubicBezTo>
                    <a:cubicBezTo>
                      <a:pt x="799" y="261"/>
                      <a:pt x="803" y="263"/>
                      <a:pt x="807" y="267"/>
                    </a:cubicBezTo>
                    <a:cubicBezTo>
                      <a:pt x="930" y="392"/>
                      <a:pt x="930" y="392"/>
                      <a:pt x="930" y="392"/>
                    </a:cubicBezTo>
                    <a:cubicBezTo>
                      <a:pt x="940" y="402"/>
                      <a:pt x="940" y="420"/>
                      <a:pt x="930" y="430"/>
                    </a:cubicBezTo>
                    <a:cubicBezTo>
                      <a:pt x="919" y="440"/>
                      <a:pt x="902" y="440"/>
                      <a:pt x="891" y="430"/>
                    </a:cubicBezTo>
                    <a:cubicBezTo>
                      <a:pt x="803" y="340"/>
                      <a:pt x="803" y="340"/>
                      <a:pt x="803" y="340"/>
                    </a:cubicBezTo>
                    <a:cubicBezTo>
                      <a:pt x="713" y="718"/>
                      <a:pt x="713" y="718"/>
                      <a:pt x="713" y="718"/>
                    </a:cubicBezTo>
                    <a:cubicBezTo>
                      <a:pt x="711" y="726"/>
                      <a:pt x="706" y="732"/>
                      <a:pt x="699" y="735"/>
                    </a:cubicBezTo>
                    <a:cubicBezTo>
                      <a:pt x="685" y="743"/>
                      <a:pt x="669" y="737"/>
                      <a:pt x="663" y="724"/>
                    </a:cubicBezTo>
                    <a:cubicBezTo>
                      <a:pt x="579" y="555"/>
                      <a:pt x="579" y="555"/>
                      <a:pt x="579" y="555"/>
                    </a:cubicBezTo>
                    <a:cubicBezTo>
                      <a:pt x="524" y="612"/>
                      <a:pt x="524" y="612"/>
                      <a:pt x="524" y="612"/>
                    </a:cubicBezTo>
                    <a:cubicBezTo>
                      <a:pt x="523" y="614"/>
                      <a:pt x="521" y="616"/>
                      <a:pt x="518" y="617"/>
                    </a:cubicBezTo>
                    <a:cubicBezTo>
                      <a:pt x="505" y="625"/>
                      <a:pt x="489" y="621"/>
                      <a:pt x="481" y="609"/>
                    </a:cubicBezTo>
                    <a:cubicBezTo>
                      <a:pt x="370" y="430"/>
                      <a:pt x="370" y="430"/>
                      <a:pt x="370" y="430"/>
                    </a:cubicBezTo>
                    <a:cubicBezTo>
                      <a:pt x="266" y="605"/>
                      <a:pt x="266" y="605"/>
                      <a:pt x="266" y="605"/>
                    </a:cubicBezTo>
                    <a:cubicBezTo>
                      <a:pt x="261" y="614"/>
                      <a:pt x="252" y="620"/>
                      <a:pt x="242" y="620"/>
                    </a:cubicBezTo>
                    <a:cubicBezTo>
                      <a:pt x="27" y="620"/>
                      <a:pt x="27" y="620"/>
                      <a:pt x="27" y="620"/>
                    </a:cubicBezTo>
                    <a:close/>
                  </a:path>
                </a:pathLst>
              </a:custGeom>
              <a:solidFill>
                <a:srgbClr val="FFE49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C00000"/>
                  </a:solidFill>
                  <a:effectLst/>
                  <a:uLnTx/>
                  <a:uFillTx/>
                </a:endParaRPr>
              </a:p>
            </p:txBody>
          </p:sp>
          <p:sp>
            <p:nvSpPr>
              <p:cNvPr id="63" name="Freeform 11">
                <a:extLst>
                  <a:ext uri="{FF2B5EF4-FFF2-40B4-BE49-F238E27FC236}">
                    <a16:creationId xmlns="" xmlns:a16="http://schemas.microsoft.com/office/drawing/2014/main" id="{3A8CA0A3-1453-4553-9921-8D0FE4C62005}"/>
                  </a:ext>
                </a:extLst>
              </p:cNvPr>
              <p:cNvSpPr>
                <a:spLocks noEditPoints="1"/>
              </p:cNvSpPr>
              <p:nvPr/>
            </p:nvSpPr>
            <p:spPr bwMode="gray">
              <a:xfrm>
                <a:off x="5369855" y="1933696"/>
                <a:ext cx="193621" cy="181869"/>
              </a:xfrm>
              <a:custGeom>
                <a:avLst/>
                <a:gdLst>
                  <a:gd name="T0" fmla="*/ 21 w 520"/>
                  <a:gd name="T1" fmla="*/ 0 h 460"/>
                  <a:gd name="T2" fmla="*/ 500 w 520"/>
                  <a:gd name="T3" fmla="*/ 0 h 460"/>
                  <a:gd name="T4" fmla="*/ 520 w 520"/>
                  <a:gd name="T5" fmla="*/ 20 h 460"/>
                  <a:gd name="T6" fmla="*/ 520 w 520"/>
                  <a:gd name="T7" fmla="*/ 21 h 460"/>
                  <a:gd name="T8" fmla="*/ 520 w 520"/>
                  <a:gd name="T9" fmla="*/ 440 h 460"/>
                  <a:gd name="T10" fmla="*/ 500 w 520"/>
                  <a:gd name="T11" fmla="*/ 460 h 460"/>
                  <a:gd name="T12" fmla="*/ 500 w 520"/>
                  <a:gd name="T13" fmla="*/ 460 h 460"/>
                  <a:gd name="T14" fmla="*/ 20 w 520"/>
                  <a:gd name="T15" fmla="*/ 460 h 460"/>
                  <a:gd name="T16" fmla="*/ 0 w 520"/>
                  <a:gd name="T17" fmla="*/ 440 h 460"/>
                  <a:gd name="T18" fmla="*/ 0 w 520"/>
                  <a:gd name="T19" fmla="*/ 439 h 460"/>
                  <a:gd name="T20" fmla="*/ 0 w 520"/>
                  <a:gd name="T21" fmla="*/ 20 h 460"/>
                  <a:gd name="T22" fmla="*/ 21 w 520"/>
                  <a:gd name="T23" fmla="*/ 0 h 460"/>
                  <a:gd name="T24" fmla="*/ 449 w 520"/>
                  <a:gd name="T25" fmla="*/ 62 h 460"/>
                  <a:gd name="T26" fmla="*/ 449 w 520"/>
                  <a:gd name="T27" fmla="*/ 62 h 460"/>
                  <a:gd name="T28" fmla="*/ 469 w 520"/>
                  <a:gd name="T29" fmla="*/ 81 h 460"/>
                  <a:gd name="T30" fmla="*/ 449 w 520"/>
                  <a:gd name="T31" fmla="*/ 102 h 460"/>
                  <a:gd name="T32" fmla="*/ 429 w 520"/>
                  <a:gd name="T33" fmla="*/ 81 h 460"/>
                  <a:gd name="T34" fmla="*/ 449 w 520"/>
                  <a:gd name="T35" fmla="*/ 62 h 460"/>
                  <a:gd name="T36" fmla="*/ 400 w 520"/>
                  <a:gd name="T37" fmla="*/ 62 h 460"/>
                  <a:gd name="T38" fmla="*/ 400 w 520"/>
                  <a:gd name="T39" fmla="*/ 62 h 460"/>
                  <a:gd name="T40" fmla="*/ 420 w 520"/>
                  <a:gd name="T41" fmla="*/ 81 h 460"/>
                  <a:gd name="T42" fmla="*/ 400 w 520"/>
                  <a:gd name="T43" fmla="*/ 102 h 460"/>
                  <a:gd name="T44" fmla="*/ 380 w 520"/>
                  <a:gd name="T45" fmla="*/ 81 h 460"/>
                  <a:gd name="T46" fmla="*/ 400 w 520"/>
                  <a:gd name="T47" fmla="*/ 62 h 460"/>
                  <a:gd name="T48" fmla="*/ 351 w 520"/>
                  <a:gd name="T49" fmla="*/ 62 h 460"/>
                  <a:gd name="T50" fmla="*/ 351 w 520"/>
                  <a:gd name="T51" fmla="*/ 62 h 460"/>
                  <a:gd name="T52" fmla="*/ 371 w 520"/>
                  <a:gd name="T53" fmla="*/ 81 h 460"/>
                  <a:gd name="T54" fmla="*/ 351 w 520"/>
                  <a:gd name="T55" fmla="*/ 102 h 460"/>
                  <a:gd name="T56" fmla="*/ 331 w 520"/>
                  <a:gd name="T57" fmla="*/ 81 h 460"/>
                  <a:gd name="T58" fmla="*/ 351 w 520"/>
                  <a:gd name="T59" fmla="*/ 62 h 460"/>
                  <a:gd name="T60" fmla="*/ 40 w 520"/>
                  <a:gd name="T61" fmla="*/ 123 h 460"/>
                  <a:gd name="T62" fmla="*/ 40 w 520"/>
                  <a:gd name="T63" fmla="*/ 123 h 460"/>
                  <a:gd name="T64" fmla="*/ 480 w 520"/>
                  <a:gd name="T65" fmla="*/ 123 h 460"/>
                  <a:gd name="T66" fmla="*/ 480 w 520"/>
                  <a:gd name="T67" fmla="*/ 40 h 460"/>
                  <a:gd name="T68" fmla="*/ 40 w 520"/>
                  <a:gd name="T69" fmla="*/ 40 h 460"/>
                  <a:gd name="T70" fmla="*/ 40 w 520"/>
                  <a:gd name="T71" fmla="*/ 123 h 460"/>
                  <a:gd name="T72" fmla="*/ 480 w 520"/>
                  <a:gd name="T73" fmla="*/ 147 h 460"/>
                  <a:gd name="T74" fmla="*/ 480 w 520"/>
                  <a:gd name="T75" fmla="*/ 147 h 460"/>
                  <a:gd name="T76" fmla="*/ 40 w 520"/>
                  <a:gd name="T77" fmla="*/ 147 h 460"/>
                  <a:gd name="T78" fmla="*/ 40 w 520"/>
                  <a:gd name="T79" fmla="*/ 420 h 460"/>
                  <a:gd name="T80" fmla="*/ 480 w 520"/>
                  <a:gd name="T81" fmla="*/ 420 h 460"/>
                  <a:gd name="T82" fmla="*/ 480 w 520"/>
                  <a:gd name="T83" fmla="*/ 147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20" h="460">
                    <a:moveTo>
                      <a:pt x="21" y="0"/>
                    </a:moveTo>
                    <a:cubicBezTo>
                      <a:pt x="500" y="0"/>
                      <a:pt x="500" y="0"/>
                      <a:pt x="500" y="0"/>
                    </a:cubicBezTo>
                    <a:cubicBezTo>
                      <a:pt x="511" y="0"/>
                      <a:pt x="520" y="9"/>
                      <a:pt x="520" y="20"/>
                    </a:cubicBezTo>
                    <a:cubicBezTo>
                      <a:pt x="520" y="21"/>
                      <a:pt x="520" y="21"/>
                      <a:pt x="520" y="21"/>
                    </a:cubicBezTo>
                    <a:cubicBezTo>
                      <a:pt x="520" y="440"/>
                      <a:pt x="520" y="440"/>
                      <a:pt x="520" y="440"/>
                    </a:cubicBezTo>
                    <a:cubicBezTo>
                      <a:pt x="520" y="451"/>
                      <a:pt x="511" y="460"/>
                      <a:pt x="500" y="460"/>
                    </a:cubicBezTo>
                    <a:cubicBezTo>
                      <a:pt x="500" y="460"/>
                      <a:pt x="500" y="460"/>
                      <a:pt x="500" y="460"/>
                    </a:cubicBezTo>
                    <a:cubicBezTo>
                      <a:pt x="20" y="460"/>
                      <a:pt x="20" y="460"/>
                      <a:pt x="20" y="460"/>
                    </a:cubicBezTo>
                    <a:cubicBezTo>
                      <a:pt x="9" y="460"/>
                      <a:pt x="0" y="451"/>
                      <a:pt x="0" y="440"/>
                    </a:cubicBezTo>
                    <a:cubicBezTo>
                      <a:pt x="0" y="439"/>
                      <a:pt x="0" y="439"/>
                      <a:pt x="0" y="439"/>
                    </a:cubicBezTo>
                    <a:cubicBezTo>
                      <a:pt x="0" y="20"/>
                      <a:pt x="0" y="20"/>
                      <a:pt x="0" y="20"/>
                    </a:cubicBezTo>
                    <a:cubicBezTo>
                      <a:pt x="0" y="9"/>
                      <a:pt x="9" y="0"/>
                      <a:pt x="21" y="0"/>
                    </a:cubicBezTo>
                    <a:close/>
                    <a:moveTo>
                      <a:pt x="449" y="62"/>
                    </a:moveTo>
                    <a:cubicBezTo>
                      <a:pt x="449" y="62"/>
                      <a:pt x="449" y="62"/>
                      <a:pt x="449" y="62"/>
                    </a:cubicBezTo>
                    <a:cubicBezTo>
                      <a:pt x="460" y="62"/>
                      <a:pt x="469" y="70"/>
                      <a:pt x="469" y="81"/>
                    </a:cubicBezTo>
                    <a:cubicBezTo>
                      <a:pt x="469" y="92"/>
                      <a:pt x="460" y="102"/>
                      <a:pt x="449" y="102"/>
                    </a:cubicBezTo>
                    <a:cubicBezTo>
                      <a:pt x="438" y="102"/>
                      <a:pt x="429" y="92"/>
                      <a:pt x="429" y="81"/>
                    </a:cubicBezTo>
                    <a:cubicBezTo>
                      <a:pt x="429" y="70"/>
                      <a:pt x="438" y="62"/>
                      <a:pt x="449" y="62"/>
                    </a:cubicBezTo>
                    <a:close/>
                    <a:moveTo>
                      <a:pt x="400" y="62"/>
                    </a:moveTo>
                    <a:cubicBezTo>
                      <a:pt x="400" y="62"/>
                      <a:pt x="400" y="62"/>
                      <a:pt x="400" y="62"/>
                    </a:cubicBezTo>
                    <a:cubicBezTo>
                      <a:pt x="411" y="62"/>
                      <a:pt x="420" y="70"/>
                      <a:pt x="420" y="81"/>
                    </a:cubicBezTo>
                    <a:cubicBezTo>
                      <a:pt x="420" y="92"/>
                      <a:pt x="411" y="102"/>
                      <a:pt x="400" y="102"/>
                    </a:cubicBezTo>
                    <a:cubicBezTo>
                      <a:pt x="389" y="102"/>
                      <a:pt x="380" y="92"/>
                      <a:pt x="380" y="81"/>
                    </a:cubicBezTo>
                    <a:cubicBezTo>
                      <a:pt x="380" y="70"/>
                      <a:pt x="389" y="62"/>
                      <a:pt x="400" y="62"/>
                    </a:cubicBezTo>
                    <a:close/>
                    <a:moveTo>
                      <a:pt x="351" y="62"/>
                    </a:moveTo>
                    <a:cubicBezTo>
                      <a:pt x="351" y="62"/>
                      <a:pt x="351" y="62"/>
                      <a:pt x="351" y="62"/>
                    </a:cubicBezTo>
                    <a:cubicBezTo>
                      <a:pt x="362" y="62"/>
                      <a:pt x="371" y="70"/>
                      <a:pt x="371" y="81"/>
                    </a:cubicBezTo>
                    <a:cubicBezTo>
                      <a:pt x="371" y="92"/>
                      <a:pt x="362" y="102"/>
                      <a:pt x="351" y="102"/>
                    </a:cubicBezTo>
                    <a:cubicBezTo>
                      <a:pt x="340" y="102"/>
                      <a:pt x="331" y="92"/>
                      <a:pt x="331" y="81"/>
                    </a:cubicBezTo>
                    <a:cubicBezTo>
                      <a:pt x="331" y="70"/>
                      <a:pt x="340" y="62"/>
                      <a:pt x="351" y="62"/>
                    </a:cubicBezTo>
                    <a:close/>
                    <a:moveTo>
                      <a:pt x="40" y="123"/>
                    </a:moveTo>
                    <a:cubicBezTo>
                      <a:pt x="40" y="123"/>
                      <a:pt x="40" y="123"/>
                      <a:pt x="40" y="123"/>
                    </a:cubicBezTo>
                    <a:cubicBezTo>
                      <a:pt x="480" y="123"/>
                      <a:pt x="480" y="123"/>
                      <a:pt x="480" y="123"/>
                    </a:cubicBezTo>
                    <a:cubicBezTo>
                      <a:pt x="480" y="40"/>
                      <a:pt x="480" y="40"/>
                      <a:pt x="480" y="40"/>
                    </a:cubicBezTo>
                    <a:cubicBezTo>
                      <a:pt x="40" y="40"/>
                      <a:pt x="40" y="40"/>
                      <a:pt x="40" y="40"/>
                    </a:cubicBezTo>
                    <a:cubicBezTo>
                      <a:pt x="40" y="123"/>
                      <a:pt x="40" y="123"/>
                      <a:pt x="40" y="123"/>
                    </a:cubicBezTo>
                    <a:close/>
                    <a:moveTo>
                      <a:pt x="480" y="147"/>
                    </a:moveTo>
                    <a:cubicBezTo>
                      <a:pt x="480" y="147"/>
                      <a:pt x="480" y="147"/>
                      <a:pt x="480" y="147"/>
                    </a:cubicBezTo>
                    <a:cubicBezTo>
                      <a:pt x="40" y="147"/>
                      <a:pt x="40" y="147"/>
                      <a:pt x="40" y="147"/>
                    </a:cubicBezTo>
                    <a:cubicBezTo>
                      <a:pt x="40" y="420"/>
                      <a:pt x="40" y="420"/>
                      <a:pt x="40" y="420"/>
                    </a:cubicBezTo>
                    <a:cubicBezTo>
                      <a:pt x="480" y="420"/>
                      <a:pt x="480" y="420"/>
                      <a:pt x="480" y="420"/>
                    </a:cubicBezTo>
                    <a:cubicBezTo>
                      <a:pt x="480" y="147"/>
                      <a:pt x="480" y="147"/>
                      <a:pt x="480" y="147"/>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endParaRPr>
              </a:p>
            </p:txBody>
          </p:sp>
        </p:grpSp>
        <p:pic>
          <p:nvPicPr>
            <p:cNvPr id="56" name="图片 55">
              <a:extLst>
                <a:ext uri="{FF2B5EF4-FFF2-40B4-BE49-F238E27FC236}">
                  <a16:creationId xmlns="" xmlns:a16="http://schemas.microsoft.com/office/drawing/2014/main" id="{8E92014A-406F-40AC-B6B6-6FC579AD7727}"/>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b="83220"/>
            <a:stretch/>
          </p:blipFill>
          <p:spPr bwMode="gray">
            <a:xfrm>
              <a:off x="5051806" y="2431178"/>
              <a:ext cx="1288128" cy="323919"/>
            </a:xfrm>
            <a:prstGeom prst="rect">
              <a:avLst/>
            </a:prstGeom>
            <a:solidFill>
              <a:srgbClr val="FFFFFF"/>
            </a:solidFill>
          </p:spPr>
        </p:pic>
        <p:sp>
          <p:nvSpPr>
            <p:cNvPr id="57" name="TextBox 63">
              <a:extLst>
                <a:ext uri="{FF2B5EF4-FFF2-40B4-BE49-F238E27FC236}">
                  <a16:creationId xmlns="" xmlns:a16="http://schemas.microsoft.com/office/drawing/2014/main" id="{1F44EE3B-8EE2-47F2-A0EC-51BEC9502E40}"/>
                </a:ext>
              </a:extLst>
            </p:cNvPr>
            <p:cNvSpPr txBox="1"/>
            <p:nvPr/>
          </p:nvSpPr>
          <p:spPr bwMode="gray">
            <a:xfrm>
              <a:off x="5119729" y="1211235"/>
              <a:ext cx="823559" cy="261610"/>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rPr>
                <a:t>分析</a:t>
              </a:r>
              <a:endParaRPr kumimoji="0" lang="en-US" altLang="zh-CN" sz="1400" b="1" i="0" u="none" strike="noStrike" kern="0" cap="none" spc="0" normalizeH="0" baseline="0" noProof="0" dirty="0">
                <a:ln>
                  <a:noFill/>
                </a:ln>
                <a:solidFill>
                  <a:srgbClr val="1D1D1A"/>
                </a:solidFill>
                <a:effectLst/>
                <a:uLnTx/>
                <a:uFillTx/>
              </a:endParaRPr>
            </a:p>
          </p:txBody>
        </p:sp>
        <p:sp>
          <p:nvSpPr>
            <p:cNvPr id="58" name="TextBox 63">
              <a:extLst>
                <a:ext uri="{FF2B5EF4-FFF2-40B4-BE49-F238E27FC236}">
                  <a16:creationId xmlns="" xmlns:a16="http://schemas.microsoft.com/office/drawing/2014/main" id="{F392793A-7376-439F-BD6C-AC315C9263F3}"/>
                </a:ext>
              </a:extLst>
            </p:cNvPr>
            <p:cNvSpPr txBox="1"/>
            <p:nvPr/>
          </p:nvSpPr>
          <p:spPr bwMode="gray">
            <a:xfrm>
              <a:off x="4521418" y="1898028"/>
              <a:ext cx="861852" cy="261610"/>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rPr>
                <a:t>管理</a:t>
              </a:r>
              <a:endParaRPr kumimoji="0" lang="en-US" altLang="zh-CN" sz="1400" b="1" i="0" u="none" strike="noStrike" kern="0" cap="none" spc="0" normalizeH="0" baseline="0" noProof="0" dirty="0">
                <a:ln>
                  <a:noFill/>
                </a:ln>
                <a:solidFill>
                  <a:srgbClr val="1D1D1A"/>
                </a:solidFill>
                <a:effectLst/>
                <a:uLnTx/>
                <a:uFillTx/>
              </a:endParaRPr>
            </a:p>
          </p:txBody>
        </p:sp>
        <p:sp>
          <p:nvSpPr>
            <p:cNvPr id="59" name="TextBox 63">
              <a:extLst>
                <a:ext uri="{FF2B5EF4-FFF2-40B4-BE49-F238E27FC236}">
                  <a16:creationId xmlns="" xmlns:a16="http://schemas.microsoft.com/office/drawing/2014/main" id="{D8A34A30-91DB-4117-BF13-AA03914D7366}"/>
                </a:ext>
              </a:extLst>
            </p:cNvPr>
            <p:cNvSpPr txBox="1"/>
            <p:nvPr/>
          </p:nvSpPr>
          <p:spPr bwMode="gray">
            <a:xfrm>
              <a:off x="6163876" y="1901353"/>
              <a:ext cx="973035" cy="261610"/>
            </a:xfrm>
            <a:prstGeom prst="rect">
              <a:avLst/>
            </a:prstGeom>
            <a:noFill/>
          </p:spPr>
          <p:txBody>
            <a:bodyPr wrap="square" rtlCol="0">
              <a:noAutofit/>
            </a:bodyPr>
            <a:lstStyle/>
            <a:p>
              <a:pPr marL="0" marR="0" lvl="0" indent="0" defTabSz="914400" eaLnBrk="1" fontAlgn="ctr"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1D1D1A"/>
                  </a:solidFill>
                  <a:effectLst/>
                  <a:uLnTx/>
                  <a:uFillTx/>
                </a:rPr>
                <a:t>控制</a:t>
              </a:r>
              <a:endParaRPr kumimoji="0" lang="en-US" altLang="zh-CN" sz="1400" b="1" i="0" u="none" strike="noStrike" kern="0" cap="none" spc="0" normalizeH="0" baseline="0" noProof="0" dirty="0">
                <a:ln>
                  <a:noFill/>
                </a:ln>
                <a:solidFill>
                  <a:srgbClr val="1D1D1A"/>
                </a:solidFill>
                <a:effectLst/>
                <a:uLnTx/>
                <a:uFillTx/>
              </a:endParaRPr>
            </a:p>
          </p:txBody>
        </p:sp>
      </p:grpSp>
      <p:grpSp>
        <p:nvGrpSpPr>
          <p:cNvPr id="39" name="组合 38">
            <a:extLst>
              <a:ext uri="{FF2B5EF4-FFF2-40B4-BE49-F238E27FC236}">
                <a16:creationId xmlns="" xmlns:a16="http://schemas.microsoft.com/office/drawing/2014/main" id="{CF2A166A-A182-45E4-A677-59A8DD2978D5}"/>
              </a:ext>
            </a:extLst>
          </p:cNvPr>
          <p:cNvGrpSpPr/>
          <p:nvPr/>
        </p:nvGrpSpPr>
        <p:grpSpPr bwMode="gray">
          <a:xfrm>
            <a:off x="377689" y="3330031"/>
            <a:ext cx="5763764" cy="959529"/>
            <a:chOff x="2358014" y="3071514"/>
            <a:chExt cx="3682508" cy="1304606"/>
          </a:xfrm>
        </p:grpSpPr>
        <p:pic>
          <p:nvPicPr>
            <p:cNvPr id="50" name="图片 49">
              <a:extLst>
                <a:ext uri="{FF2B5EF4-FFF2-40B4-BE49-F238E27FC236}">
                  <a16:creationId xmlns="" xmlns:a16="http://schemas.microsoft.com/office/drawing/2014/main" id="{20F1A69D-2789-47A4-B86E-F8810CB3925D}"/>
                </a:ext>
              </a:extLst>
            </p:cNvPr>
            <p:cNvPicPr>
              <a:picLocks noChangeAspect="1"/>
            </p:cNvPicPr>
            <p:nvPr/>
          </p:nvPicPr>
          <p:blipFill>
            <a:blip r:embed="rId13" cstate="print">
              <a:duotone>
                <a:prstClr val="black"/>
                <a:srgbClr val="232323">
                  <a:tint val="45000"/>
                  <a:satMod val="400000"/>
                </a:srgbClr>
              </a:duotone>
              <a:extLst>
                <a:ext uri="{28A0092B-C50C-407E-A947-70E740481C1C}">
                  <a14:useLocalDpi xmlns:a14="http://schemas.microsoft.com/office/drawing/2010/main" val="0"/>
                </a:ext>
              </a:extLst>
            </a:blip>
            <a:stretch>
              <a:fillRect/>
            </a:stretch>
          </p:blipFill>
          <p:spPr bwMode="gray">
            <a:xfrm flipV="1">
              <a:off x="2878612" y="3071514"/>
              <a:ext cx="2559246" cy="1304606"/>
            </a:xfrm>
            <a:prstGeom prst="rect">
              <a:avLst/>
            </a:prstGeom>
          </p:spPr>
        </p:pic>
        <p:grpSp>
          <p:nvGrpSpPr>
            <p:cNvPr id="51" name="组合 50">
              <a:extLst>
                <a:ext uri="{FF2B5EF4-FFF2-40B4-BE49-F238E27FC236}">
                  <a16:creationId xmlns="" xmlns:a16="http://schemas.microsoft.com/office/drawing/2014/main" id="{02F37338-C31B-4114-9B90-DC70BEF7BBB0}"/>
                </a:ext>
              </a:extLst>
            </p:cNvPr>
            <p:cNvGrpSpPr/>
            <p:nvPr/>
          </p:nvGrpSpPr>
          <p:grpSpPr bwMode="gray">
            <a:xfrm>
              <a:off x="2358014" y="3557964"/>
              <a:ext cx="3682508" cy="318160"/>
              <a:chOff x="3048107" y="3581657"/>
              <a:chExt cx="2761878" cy="238623"/>
            </a:xfrm>
          </p:grpSpPr>
          <p:sp>
            <p:nvSpPr>
              <p:cNvPr id="52" name="TextBox 416">
                <a:extLst>
                  <a:ext uri="{FF2B5EF4-FFF2-40B4-BE49-F238E27FC236}">
                    <a16:creationId xmlns="" xmlns:a16="http://schemas.microsoft.com/office/drawing/2014/main" id="{ACD17EC1-CCC8-4857-9544-ACC17109721B}"/>
                  </a:ext>
                </a:extLst>
              </p:cNvPr>
              <p:cNvSpPr txBox="1"/>
              <p:nvPr/>
            </p:nvSpPr>
            <p:spPr bwMode="gray">
              <a:xfrm>
                <a:off x="3048107" y="3600584"/>
                <a:ext cx="881312" cy="219696"/>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rPr>
                  <a:t>NETCONF/YANG</a:t>
                </a:r>
              </a:p>
            </p:txBody>
          </p:sp>
          <p:sp>
            <p:nvSpPr>
              <p:cNvPr id="53" name="TextBox 417">
                <a:extLst>
                  <a:ext uri="{FF2B5EF4-FFF2-40B4-BE49-F238E27FC236}">
                    <a16:creationId xmlns="" xmlns:a16="http://schemas.microsoft.com/office/drawing/2014/main" id="{96E62119-EB78-4B16-A8C8-DC1A110EBC58}"/>
                  </a:ext>
                </a:extLst>
              </p:cNvPr>
              <p:cNvSpPr txBox="1"/>
              <p:nvPr/>
            </p:nvSpPr>
            <p:spPr bwMode="gray">
              <a:xfrm>
                <a:off x="5123454" y="3581657"/>
                <a:ext cx="686531" cy="219696"/>
              </a:xfrm>
              <a:prstGeom prst="rect">
                <a:avLst/>
              </a:prstGeom>
              <a:noFill/>
            </p:spPr>
            <p:txBody>
              <a:bodyPr wrap="square" lIns="0" tIns="0" rIns="0" bIns="0" rtlCol="0" anchor="ctr">
                <a:spAutoFit/>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rPr>
                  <a:t>Telemetry</a:t>
                </a:r>
              </a:p>
            </p:txBody>
          </p:sp>
        </p:grpSp>
      </p:grpSp>
      <p:grpSp>
        <p:nvGrpSpPr>
          <p:cNvPr id="40" name="组合 39">
            <a:extLst>
              <a:ext uri="{FF2B5EF4-FFF2-40B4-BE49-F238E27FC236}">
                <a16:creationId xmlns="" xmlns:a16="http://schemas.microsoft.com/office/drawing/2014/main" id="{0A62D0B3-BEBA-445F-9B27-52512A80389B}"/>
              </a:ext>
            </a:extLst>
          </p:cNvPr>
          <p:cNvGrpSpPr/>
          <p:nvPr/>
        </p:nvGrpSpPr>
        <p:grpSpPr bwMode="gray">
          <a:xfrm>
            <a:off x="2055725" y="3356997"/>
            <a:ext cx="2526620" cy="824300"/>
            <a:chOff x="1441461" y="2190162"/>
            <a:chExt cx="4311295" cy="1866238"/>
          </a:xfrm>
        </p:grpSpPr>
        <p:pic>
          <p:nvPicPr>
            <p:cNvPr id="42" name="图片 41">
              <a:extLst>
                <a:ext uri="{FF2B5EF4-FFF2-40B4-BE49-F238E27FC236}">
                  <a16:creationId xmlns="" xmlns:a16="http://schemas.microsoft.com/office/drawing/2014/main" id="{8A8CB6F1-64C9-4AF0-8F35-5B6223CA424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2012622" y="2190162"/>
              <a:ext cx="876544" cy="1163185"/>
            </a:xfrm>
            <a:prstGeom prst="rect">
              <a:avLst/>
            </a:prstGeom>
          </p:spPr>
        </p:pic>
        <p:pic>
          <p:nvPicPr>
            <p:cNvPr id="43" name="图片 42">
              <a:extLst>
                <a:ext uri="{FF2B5EF4-FFF2-40B4-BE49-F238E27FC236}">
                  <a16:creationId xmlns="" xmlns:a16="http://schemas.microsoft.com/office/drawing/2014/main" id="{3B822D62-2F76-4384-8B2F-9B2559310128}"/>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1441461" y="2726542"/>
              <a:ext cx="805293" cy="936333"/>
            </a:xfrm>
            <a:prstGeom prst="rect">
              <a:avLst/>
            </a:prstGeom>
          </p:spPr>
        </p:pic>
        <p:pic>
          <p:nvPicPr>
            <p:cNvPr id="44" name="图片 43">
              <a:extLst>
                <a:ext uri="{FF2B5EF4-FFF2-40B4-BE49-F238E27FC236}">
                  <a16:creationId xmlns="" xmlns:a16="http://schemas.microsoft.com/office/drawing/2014/main" id="{263FF42B-57B7-446E-B222-93C36AA23B42}"/>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bwMode="gray">
            <a:xfrm>
              <a:off x="2229725" y="2983816"/>
              <a:ext cx="1634334" cy="1046770"/>
            </a:xfrm>
            <a:prstGeom prst="rect">
              <a:avLst/>
            </a:prstGeom>
          </p:spPr>
        </p:pic>
        <p:pic>
          <p:nvPicPr>
            <p:cNvPr id="45" name="图片 44">
              <a:extLst>
                <a:ext uri="{FF2B5EF4-FFF2-40B4-BE49-F238E27FC236}">
                  <a16:creationId xmlns="" xmlns:a16="http://schemas.microsoft.com/office/drawing/2014/main" id="{50A4A607-08B6-44C0-AF1F-E303A48F799A}"/>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bwMode="gray">
            <a:xfrm>
              <a:off x="2704411" y="2509665"/>
              <a:ext cx="1417650" cy="900627"/>
            </a:xfrm>
            <a:prstGeom prst="rect">
              <a:avLst/>
            </a:prstGeom>
          </p:spPr>
        </p:pic>
        <p:pic>
          <p:nvPicPr>
            <p:cNvPr id="46" name="图片 45">
              <a:extLst>
                <a:ext uri="{FF2B5EF4-FFF2-40B4-BE49-F238E27FC236}">
                  <a16:creationId xmlns="" xmlns:a16="http://schemas.microsoft.com/office/drawing/2014/main" id="{E6CC2A80-48F2-43A2-9B48-AABFF31D5CD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3763529" y="2699383"/>
              <a:ext cx="1354536" cy="860674"/>
            </a:xfrm>
            <a:prstGeom prst="rect">
              <a:avLst/>
            </a:prstGeom>
          </p:spPr>
        </p:pic>
        <p:pic>
          <p:nvPicPr>
            <p:cNvPr id="47" name="图片 46">
              <a:extLst>
                <a:ext uri="{FF2B5EF4-FFF2-40B4-BE49-F238E27FC236}">
                  <a16:creationId xmlns="" xmlns:a16="http://schemas.microsoft.com/office/drawing/2014/main" id="{0B5B2AB5-5F9A-4C9D-AC38-109E9E5D8E2C}"/>
                </a:ext>
              </a:extLst>
            </p:cNvPr>
            <p:cNvPicPr>
              <a:picLocks noChangeAspect="1"/>
            </p:cNvPicPr>
            <p:nvPr/>
          </p:nvPicPr>
          <p:blipFill>
            <a:blip r:embed="rId19"/>
            <a:stretch>
              <a:fillRect/>
            </a:stretch>
          </p:blipFill>
          <p:spPr bwMode="gray">
            <a:xfrm>
              <a:off x="2432684" y="3713910"/>
              <a:ext cx="1228417" cy="342490"/>
            </a:xfrm>
            <a:prstGeom prst="rect">
              <a:avLst/>
            </a:prstGeom>
          </p:spPr>
        </p:pic>
        <p:pic>
          <p:nvPicPr>
            <p:cNvPr id="48" name="图片 47">
              <a:extLst>
                <a:ext uri="{FF2B5EF4-FFF2-40B4-BE49-F238E27FC236}">
                  <a16:creationId xmlns="" xmlns:a16="http://schemas.microsoft.com/office/drawing/2014/main" id="{BBD2F314-7934-4B5F-85FF-202FD3A1663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bwMode="gray">
            <a:xfrm>
              <a:off x="4711046" y="3297197"/>
              <a:ext cx="1041710" cy="262860"/>
            </a:xfrm>
            <a:prstGeom prst="rect">
              <a:avLst/>
            </a:prstGeom>
          </p:spPr>
        </p:pic>
        <p:pic>
          <p:nvPicPr>
            <p:cNvPr id="49" name="图片 48">
              <a:extLst>
                <a:ext uri="{FF2B5EF4-FFF2-40B4-BE49-F238E27FC236}">
                  <a16:creationId xmlns="" xmlns:a16="http://schemas.microsoft.com/office/drawing/2014/main" id="{F48C437E-5D04-46FD-9949-BD861208134D}"/>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bwMode="gray">
            <a:xfrm>
              <a:off x="3881088" y="3608367"/>
              <a:ext cx="1253893" cy="242311"/>
            </a:xfrm>
            <a:prstGeom prst="rect">
              <a:avLst/>
            </a:prstGeom>
          </p:spPr>
        </p:pic>
      </p:grpSp>
      <p:sp>
        <p:nvSpPr>
          <p:cNvPr id="41" name="文本框 5">
            <a:extLst>
              <a:ext uri="{FF2B5EF4-FFF2-40B4-BE49-F238E27FC236}">
                <a16:creationId xmlns="" xmlns:a16="http://schemas.microsoft.com/office/drawing/2014/main" id="{8A4EC22C-FF35-4864-A2C5-967DCDC66033}"/>
              </a:ext>
            </a:extLst>
          </p:cNvPr>
          <p:cNvSpPr txBox="1"/>
          <p:nvPr/>
        </p:nvSpPr>
        <p:spPr bwMode="gray">
          <a:xfrm>
            <a:off x="1190041" y="5850060"/>
            <a:ext cx="4237490" cy="338554"/>
          </a:xfrm>
          <a:prstGeom prst="rect">
            <a:avLst/>
          </a:prstGeom>
          <a:noFill/>
        </p:spPr>
        <p:txBody>
          <a:bodyPr wrap="square" rtlCol="0" anchor="ctr" anchorCtr="0">
            <a:spAutoFit/>
          </a:bodyPr>
          <a:lstStyle>
            <a:defPPr>
              <a:defRPr lang="zh-CN"/>
            </a:defPPr>
            <a:lvl1pPr algn="ctr">
              <a:defRPr sz="2000" b="1">
                <a:solidFill>
                  <a:prstClr val="black"/>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600"/>
              </a:spcBef>
              <a:spcAft>
                <a:spcPts val="0"/>
              </a:spcAft>
              <a:buClrTx/>
              <a:buSzTx/>
              <a:buFontTx/>
              <a:buNone/>
              <a:tabLst/>
              <a:defRPr/>
            </a:pPr>
            <a:r>
              <a:rPr kumimoji="0" lang="zh-CN" altLang="en-US" sz="1600" b="1" i="0" u="none" strike="noStrike" kern="0" cap="none" spc="0" normalizeH="0" baseline="0" noProof="0" dirty="0">
                <a:ln>
                  <a:noFill/>
                </a:ln>
                <a:solidFill>
                  <a:srgbClr val="C7000B"/>
                </a:solidFill>
                <a:effectLst/>
                <a:uLnTx/>
                <a:uFillTx/>
                <a:latin typeface="+mn-lt"/>
                <a:ea typeface="+mn-ea"/>
              </a:rPr>
              <a:t>极简架构，智慧连接，智能运维</a:t>
            </a:r>
          </a:p>
        </p:txBody>
      </p:sp>
      <p:sp>
        <p:nvSpPr>
          <p:cNvPr id="3" name="圆角矩形 361">
            <a:extLst>
              <a:ext uri="{FF2B5EF4-FFF2-40B4-BE49-F238E27FC236}">
                <a16:creationId xmlns="" xmlns:a16="http://schemas.microsoft.com/office/drawing/2014/main" id="{B5D350CD-202A-4CBA-B6E5-DF40AD7799DB}"/>
              </a:ext>
            </a:extLst>
          </p:cNvPr>
          <p:cNvSpPr/>
          <p:nvPr/>
        </p:nvSpPr>
        <p:spPr bwMode="gray">
          <a:xfrm>
            <a:off x="6144118" y="4272905"/>
            <a:ext cx="5281981" cy="730457"/>
          </a:xfrm>
          <a:prstGeom prst="roundRect">
            <a:avLst>
              <a:gd name="adj" fmla="val 10601"/>
            </a:avLst>
          </a:prstGeom>
          <a:solidFill>
            <a:srgbClr val="666666">
              <a:lumMod val="20000"/>
              <a:lumOff val="80000"/>
              <a:alpha val="21000"/>
            </a:srgbClr>
          </a:solidFill>
          <a:ln w="25400" cap="flat" cmpd="sng" algn="ctr">
            <a:noFill/>
            <a:prstDash val="solid"/>
          </a:ln>
          <a:effectLst/>
        </p:spPr>
        <p:txBody>
          <a:bodyPr lIns="91407" tIns="45703" rIns="91407" bIns="45703" rtlCol="0" anchor="ctr"/>
          <a:lstStyle/>
          <a:p>
            <a:pPr marL="0" marR="0" lvl="0" indent="0" algn="ctr" defTabSz="685342"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rgbClr val="1D1D1A"/>
              </a:solidFill>
              <a:effectLst/>
              <a:uLnTx/>
              <a:uFillTx/>
            </a:endParaRPr>
          </a:p>
        </p:txBody>
      </p:sp>
      <p:sp>
        <p:nvSpPr>
          <p:cNvPr id="29" name="圆角矩形 389">
            <a:extLst>
              <a:ext uri="{FF2B5EF4-FFF2-40B4-BE49-F238E27FC236}">
                <a16:creationId xmlns="" xmlns:a16="http://schemas.microsoft.com/office/drawing/2014/main" id="{99A268CA-CD53-46E8-A0FF-B80969B801B8}"/>
              </a:ext>
            </a:extLst>
          </p:cNvPr>
          <p:cNvSpPr/>
          <p:nvPr/>
        </p:nvSpPr>
        <p:spPr bwMode="gray">
          <a:xfrm>
            <a:off x="5986041" y="1083114"/>
            <a:ext cx="5582707" cy="354942"/>
          </a:xfrm>
          <a:prstGeom prst="roundRect">
            <a:avLst/>
          </a:prstGeom>
          <a:solidFill>
            <a:srgbClr val="56C4D2"/>
          </a:solidFill>
          <a:ln>
            <a:solidFill>
              <a:srgbClr val="30B5C5"/>
            </a:solidFill>
          </a:ln>
        </p:spPr>
        <p:txBody>
          <a:bodyPr lIns="0" tIns="0" rIns="0" bIns="0" rtlCol="0" anchor="ctr"/>
          <a:lstStyle/>
          <a:p>
            <a:pPr algn="ctr"/>
            <a:r>
              <a:rPr lang="zh-CN" altLang="en-US" sz="1600" b="1" dirty="0">
                <a:solidFill>
                  <a:schemeClr val="bg1"/>
                </a:solidFill>
              </a:rPr>
              <a:t>解决方案亮点</a:t>
            </a:r>
          </a:p>
        </p:txBody>
      </p:sp>
      <p:sp>
        <p:nvSpPr>
          <p:cNvPr id="4" name="圆角矩形 362">
            <a:extLst>
              <a:ext uri="{FF2B5EF4-FFF2-40B4-BE49-F238E27FC236}">
                <a16:creationId xmlns="" xmlns:a16="http://schemas.microsoft.com/office/drawing/2014/main" id="{A6EB0D2B-5C43-4272-A172-6FE40D40C977}"/>
              </a:ext>
            </a:extLst>
          </p:cNvPr>
          <p:cNvSpPr/>
          <p:nvPr/>
        </p:nvSpPr>
        <p:spPr bwMode="gray">
          <a:xfrm>
            <a:off x="6139080" y="3140469"/>
            <a:ext cx="5287019" cy="661458"/>
          </a:xfrm>
          <a:prstGeom prst="roundRect">
            <a:avLst>
              <a:gd name="adj" fmla="val 10601"/>
            </a:avLst>
          </a:prstGeom>
          <a:solidFill>
            <a:srgbClr val="666666">
              <a:lumMod val="20000"/>
              <a:lumOff val="80000"/>
              <a:alpha val="21000"/>
            </a:srgbClr>
          </a:solidFill>
          <a:ln w="25400" cap="flat" cmpd="sng" algn="ctr">
            <a:noFill/>
            <a:prstDash val="solid"/>
          </a:ln>
          <a:effectLst/>
        </p:spPr>
        <p:txBody>
          <a:bodyPr lIns="91407" tIns="45703" rIns="91407" bIns="45703" rtlCol="0" anchor="ctr"/>
          <a:lstStyle/>
          <a:p>
            <a:pPr marL="0" marR="0" lvl="0" indent="0" algn="ctr" defTabSz="685342" eaLnBrk="1" fontAlgn="auto" latinLnBrk="0" hangingPunct="1">
              <a:lnSpc>
                <a:spcPct val="100000"/>
              </a:lnSpc>
              <a:spcBef>
                <a:spcPts val="0"/>
              </a:spcBef>
              <a:spcAft>
                <a:spcPts val="0"/>
              </a:spcAft>
              <a:buClrTx/>
              <a:buSzTx/>
              <a:buFontTx/>
              <a:buNone/>
              <a:tabLst/>
              <a:defRPr/>
            </a:pPr>
            <a:endParaRPr kumimoji="0" lang="zh-CN" altLang="en-US" sz="1400" i="0" u="none" strike="noStrike" kern="0" cap="none" spc="0" normalizeH="0" baseline="0" noProof="0">
              <a:ln>
                <a:noFill/>
              </a:ln>
              <a:effectLst/>
              <a:uLnTx/>
              <a:uFillTx/>
            </a:endParaRPr>
          </a:p>
        </p:txBody>
      </p:sp>
      <p:sp>
        <p:nvSpPr>
          <p:cNvPr id="5" name="圆角矩形 363">
            <a:extLst>
              <a:ext uri="{FF2B5EF4-FFF2-40B4-BE49-F238E27FC236}">
                <a16:creationId xmlns="" xmlns:a16="http://schemas.microsoft.com/office/drawing/2014/main" id="{1EA221C4-455D-4F0F-9F3F-394B6B20A0AB}"/>
              </a:ext>
            </a:extLst>
          </p:cNvPr>
          <p:cNvSpPr/>
          <p:nvPr/>
        </p:nvSpPr>
        <p:spPr bwMode="gray">
          <a:xfrm>
            <a:off x="6131568" y="1922773"/>
            <a:ext cx="5294531" cy="738536"/>
          </a:xfrm>
          <a:prstGeom prst="roundRect">
            <a:avLst>
              <a:gd name="adj" fmla="val 10817"/>
            </a:avLst>
          </a:prstGeom>
          <a:solidFill>
            <a:srgbClr val="666666">
              <a:lumMod val="20000"/>
              <a:lumOff val="80000"/>
              <a:alpha val="21000"/>
            </a:srgbClr>
          </a:solidFill>
          <a:ln w="25400" cap="flat" cmpd="sng" algn="ctr">
            <a:noFill/>
            <a:prstDash val="solid"/>
          </a:ln>
          <a:effectLst/>
        </p:spPr>
        <p:txBody>
          <a:bodyPr lIns="91407" tIns="45703" rIns="91407" bIns="45703" rtlCol="0" anchor="ctr"/>
          <a:lstStyle/>
          <a:p>
            <a:pPr marL="0" marR="0" lvl="0" indent="0" algn="ctr" defTabSz="685342" eaLnBrk="1" fontAlgn="auto" latinLnBrk="0" hangingPunct="1">
              <a:lnSpc>
                <a:spcPct val="100000"/>
              </a:lnSpc>
              <a:spcBef>
                <a:spcPts val="0"/>
              </a:spcBef>
              <a:spcAft>
                <a:spcPts val="0"/>
              </a:spcAft>
              <a:buClrTx/>
              <a:buSzTx/>
              <a:buFontTx/>
              <a:buNone/>
              <a:tabLst/>
              <a:defRPr/>
            </a:pPr>
            <a:endParaRPr kumimoji="0" lang="zh-CN" altLang="en-US" sz="1400" i="0" u="none" strike="noStrike" kern="0" cap="none" spc="0" normalizeH="0" baseline="0" noProof="0">
              <a:ln>
                <a:noFill/>
              </a:ln>
              <a:effectLst/>
              <a:uLnTx/>
              <a:uFillTx/>
            </a:endParaRPr>
          </a:p>
        </p:txBody>
      </p:sp>
      <p:sp>
        <p:nvSpPr>
          <p:cNvPr id="6" name="矩形 5">
            <a:extLst>
              <a:ext uri="{FF2B5EF4-FFF2-40B4-BE49-F238E27FC236}">
                <a16:creationId xmlns="" xmlns:a16="http://schemas.microsoft.com/office/drawing/2014/main" id="{00538AFB-3086-43CF-BFAB-199B91729DCE}"/>
              </a:ext>
            </a:extLst>
          </p:cNvPr>
          <p:cNvSpPr/>
          <p:nvPr/>
        </p:nvSpPr>
        <p:spPr bwMode="gray">
          <a:xfrm>
            <a:off x="7897852" y="1979050"/>
            <a:ext cx="3528247" cy="523220"/>
          </a:xfrm>
          <a:prstGeom prst="rect">
            <a:avLst/>
          </a:prstGeom>
        </p:spPr>
        <p:txBody>
          <a:bodyPr wrap="square">
            <a:spAutoFit/>
          </a:bodyPr>
          <a:lstStyle/>
          <a:p>
            <a:pPr marL="108000" indent="-108000">
              <a:spcAft>
                <a:spcPts val="600"/>
              </a:spcAft>
              <a:buFont typeface="Arial" panose="020B0604020202020204" pitchFamily="34" charset="0"/>
              <a:buChar char="•"/>
            </a:pPr>
            <a:r>
              <a:rPr lang="zh-CN" altLang="en-US" sz="1400" dirty="0"/>
              <a:t>全场景统一平台，宽带业务</a:t>
            </a:r>
            <a:r>
              <a:rPr lang="en-US" altLang="zh-CN" sz="1400" dirty="0"/>
              <a:t>/</a:t>
            </a:r>
            <a:r>
              <a:rPr lang="zh-CN" altLang="en-US" sz="1400" dirty="0"/>
              <a:t>专线</a:t>
            </a:r>
            <a:r>
              <a:rPr lang="en-US" altLang="zh-CN" sz="1400" dirty="0"/>
              <a:t>/</a:t>
            </a:r>
            <a:r>
              <a:rPr lang="zh-CN" altLang="en-US" sz="1400" dirty="0"/>
              <a:t>数据中心出口</a:t>
            </a:r>
            <a:r>
              <a:rPr lang="en-US" altLang="zh-CN" sz="1400" dirty="0"/>
              <a:t>/</a:t>
            </a:r>
            <a:r>
              <a:rPr lang="zh-CN" altLang="en-US" sz="1400" dirty="0"/>
              <a:t>国际出口场景</a:t>
            </a:r>
            <a:r>
              <a:rPr lang="en-US" altLang="zh-CN" sz="1400" dirty="0"/>
              <a:t>/BNG</a:t>
            </a:r>
            <a:r>
              <a:rPr lang="zh-CN" altLang="en-US" sz="1400" dirty="0"/>
              <a:t>场景</a:t>
            </a:r>
            <a:r>
              <a:rPr lang="en-US" altLang="zh-CN" sz="1400" dirty="0"/>
              <a:t>5</a:t>
            </a:r>
            <a:r>
              <a:rPr lang="zh-CN" altLang="en-US" sz="1400" dirty="0"/>
              <a:t>合</a:t>
            </a:r>
            <a:r>
              <a:rPr lang="en-US" altLang="zh-CN" sz="1400" dirty="0" smtClean="0"/>
              <a:t>1</a:t>
            </a:r>
            <a:r>
              <a:rPr lang="zh-CN" altLang="en-US" sz="1400" dirty="0" smtClean="0"/>
              <a:t>。</a:t>
            </a:r>
            <a:endParaRPr lang="en-US" altLang="zh-CN" sz="1400" dirty="0"/>
          </a:p>
        </p:txBody>
      </p:sp>
      <p:grpSp>
        <p:nvGrpSpPr>
          <p:cNvPr id="7" name="组合 6">
            <a:extLst>
              <a:ext uri="{FF2B5EF4-FFF2-40B4-BE49-F238E27FC236}">
                <a16:creationId xmlns="" xmlns:a16="http://schemas.microsoft.com/office/drawing/2014/main" id="{F3C9CDED-8608-4EBB-BC8C-ADDBA8ABE412}"/>
              </a:ext>
            </a:extLst>
          </p:cNvPr>
          <p:cNvGrpSpPr/>
          <p:nvPr/>
        </p:nvGrpSpPr>
        <p:grpSpPr bwMode="gray">
          <a:xfrm>
            <a:off x="6609976" y="2041502"/>
            <a:ext cx="1017549" cy="521683"/>
            <a:chOff x="916462" y="2811664"/>
            <a:chExt cx="2576764" cy="1730883"/>
          </a:xfrm>
        </p:grpSpPr>
        <p:pic>
          <p:nvPicPr>
            <p:cNvPr id="8" name="图片 7">
              <a:extLst>
                <a:ext uri="{FF2B5EF4-FFF2-40B4-BE49-F238E27FC236}">
                  <a16:creationId xmlns="" xmlns:a16="http://schemas.microsoft.com/office/drawing/2014/main" id="{155839BA-EE7A-473C-B89F-6C4FD0925680}"/>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bwMode="gray">
            <a:xfrm>
              <a:off x="1949859" y="2811664"/>
              <a:ext cx="1543367" cy="1579774"/>
            </a:xfrm>
            <a:prstGeom prst="rect">
              <a:avLst/>
            </a:prstGeom>
          </p:spPr>
        </p:pic>
        <p:pic>
          <p:nvPicPr>
            <p:cNvPr id="9" name="图片 8">
              <a:extLst>
                <a:ext uri="{FF2B5EF4-FFF2-40B4-BE49-F238E27FC236}">
                  <a16:creationId xmlns="" xmlns:a16="http://schemas.microsoft.com/office/drawing/2014/main" id="{2DFF8BD5-04B7-4CE4-B9C1-72BBB5F94A3F}"/>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bwMode="gray">
            <a:xfrm>
              <a:off x="916462" y="3323534"/>
              <a:ext cx="1557532" cy="1219013"/>
            </a:xfrm>
            <a:prstGeom prst="rect">
              <a:avLst/>
            </a:prstGeom>
          </p:spPr>
        </p:pic>
      </p:grpSp>
      <p:sp>
        <p:nvSpPr>
          <p:cNvPr id="11" name="文本框 5">
            <a:extLst>
              <a:ext uri="{FF2B5EF4-FFF2-40B4-BE49-F238E27FC236}">
                <a16:creationId xmlns="" xmlns:a16="http://schemas.microsoft.com/office/drawing/2014/main" id="{4E309258-C39D-4847-AFF9-263416422744}"/>
              </a:ext>
            </a:extLst>
          </p:cNvPr>
          <p:cNvSpPr txBox="1"/>
          <p:nvPr/>
        </p:nvSpPr>
        <p:spPr bwMode="gray">
          <a:xfrm>
            <a:off x="6213616" y="2734638"/>
            <a:ext cx="4996570" cy="307777"/>
          </a:xfrm>
          <a:prstGeom prst="rect">
            <a:avLst/>
          </a:prstGeom>
          <a:noFill/>
        </p:spPr>
        <p:txBody>
          <a:bodyPr wrap="square" rtlCol="0" anchor="ctr" anchorCtr="0">
            <a:spAutoFit/>
          </a:bodyPr>
          <a:lstStyle>
            <a:defPPr>
              <a:defRPr lang="zh-CN"/>
            </a:defPPr>
            <a:lvl1pPr algn="ctr">
              <a:defRPr sz="2000" b="1">
                <a:solidFill>
                  <a:prstClr val="black"/>
                </a:solidFill>
                <a:latin typeface="微软雅黑" panose="020B0503020204020204" pitchFamily="34" charset="-122"/>
                <a:ea typeface="微软雅黑" panose="020B0503020204020204" pitchFamily="34" charset="-122"/>
              </a:defRPr>
            </a:lvl1pPr>
          </a:lstStyle>
          <a:p>
            <a:pPr algn="l">
              <a:spcBef>
                <a:spcPts val="600"/>
              </a:spcBef>
            </a:pPr>
            <a:r>
              <a:rPr lang="en-US" altLang="zh-CN" sz="1400" b="0" kern="0" dirty="0">
                <a:solidFill>
                  <a:schemeClr val="tx1"/>
                </a:solidFill>
                <a:latin typeface="+mn-lt"/>
                <a:ea typeface="+mn-ea"/>
              </a:rPr>
              <a:t>2</a:t>
            </a:r>
            <a:r>
              <a:rPr lang="zh-CN" altLang="en-US" sz="1400" b="0" kern="0" dirty="0">
                <a:solidFill>
                  <a:schemeClr val="tx1"/>
                </a:solidFill>
                <a:latin typeface="+mn-lt"/>
                <a:ea typeface="+mn-ea"/>
              </a:rPr>
              <a:t>、新协议</a:t>
            </a:r>
            <a:r>
              <a:rPr lang="zh-CN" altLang="en-US" sz="1400" b="0" dirty="0">
                <a:solidFill>
                  <a:schemeClr val="tx1"/>
                </a:solidFill>
                <a:latin typeface="+mn-lt"/>
                <a:ea typeface="+mn-ea"/>
              </a:rPr>
              <a:t>：</a:t>
            </a:r>
            <a:r>
              <a:rPr lang="en-US" altLang="zh-CN" sz="1400" b="0" kern="0" dirty="0">
                <a:solidFill>
                  <a:schemeClr val="tx1"/>
                </a:solidFill>
                <a:latin typeface="+mn-lt"/>
                <a:ea typeface="+mn-ea"/>
              </a:rPr>
              <a:t>SLA</a:t>
            </a:r>
            <a:r>
              <a:rPr lang="zh-CN" altLang="en-US" sz="1400" b="0" kern="0" dirty="0">
                <a:solidFill>
                  <a:schemeClr val="tx1"/>
                </a:solidFill>
                <a:latin typeface="+mn-lt"/>
                <a:ea typeface="+mn-ea"/>
              </a:rPr>
              <a:t>可保障，时延可承诺</a:t>
            </a:r>
          </a:p>
        </p:txBody>
      </p:sp>
      <p:sp>
        <p:nvSpPr>
          <p:cNvPr id="13" name="文本框 5">
            <a:extLst>
              <a:ext uri="{FF2B5EF4-FFF2-40B4-BE49-F238E27FC236}">
                <a16:creationId xmlns="" xmlns:a16="http://schemas.microsoft.com/office/drawing/2014/main" id="{809371B6-827E-45B9-AF87-FB652EF4CB03}"/>
              </a:ext>
            </a:extLst>
          </p:cNvPr>
          <p:cNvSpPr txBox="1"/>
          <p:nvPr/>
        </p:nvSpPr>
        <p:spPr bwMode="gray">
          <a:xfrm>
            <a:off x="6213616" y="5042109"/>
            <a:ext cx="5062720" cy="307777"/>
          </a:xfrm>
          <a:prstGeom prst="rect">
            <a:avLst/>
          </a:prstGeom>
          <a:noFill/>
        </p:spPr>
        <p:txBody>
          <a:bodyPr wrap="square" rtlCol="0" anchor="ctr" anchorCtr="0">
            <a:spAutoFit/>
          </a:bodyPr>
          <a:lstStyle>
            <a:defPPr>
              <a:defRPr lang="zh-CN"/>
            </a:defPPr>
            <a:lvl1pPr algn="ctr">
              <a:defRPr sz="2000" b="1">
                <a:solidFill>
                  <a:prstClr val="black"/>
                </a:solidFill>
                <a:latin typeface="微软雅黑" panose="020B0503020204020204" pitchFamily="34" charset="-122"/>
                <a:ea typeface="微软雅黑" panose="020B0503020204020204" pitchFamily="34" charset="-122"/>
              </a:defRPr>
            </a:lvl1pPr>
          </a:lstStyle>
          <a:p>
            <a:pPr algn="l">
              <a:spcBef>
                <a:spcPts val="600"/>
              </a:spcBef>
            </a:pPr>
            <a:r>
              <a:rPr lang="en-US" altLang="zh-CN" sz="1400" b="0" dirty="0">
                <a:solidFill>
                  <a:schemeClr val="tx1"/>
                </a:solidFill>
                <a:latin typeface="+mn-lt"/>
                <a:ea typeface="+mn-ea"/>
              </a:rPr>
              <a:t>4</a:t>
            </a:r>
            <a:r>
              <a:rPr lang="zh-CN" altLang="en-US" sz="1400" b="0" dirty="0">
                <a:solidFill>
                  <a:schemeClr val="tx1"/>
                </a:solidFill>
                <a:latin typeface="+mn-lt"/>
                <a:ea typeface="+mn-ea"/>
              </a:rPr>
              <a:t>、新运维：</a:t>
            </a:r>
            <a:r>
              <a:rPr lang="en-US" altLang="zh-CN" sz="1400" b="0" dirty="0">
                <a:solidFill>
                  <a:schemeClr val="tx1"/>
                </a:solidFill>
                <a:latin typeface="+mn-lt"/>
                <a:ea typeface="+mn-ea"/>
              </a:rPr>
              <a:t>AI</a:t>
            </a:r>
            <a:r>
              <a:rPr lang="zh-CN" altLang="en-US" sz="1400" b="0" dirty="0">
                <a:solidFill>
                  <a:schemeClr val="tx1"/>
                </a:solidFill>
                <a:latin typeface="+mn-lt"/>
                <a:ea typeface="+mn-ea"/>
              </a:rPr>
              <a:t>加持的智能运维，业务质量可视</a:t>
            </a:r>
          </a:p>
        </p:txBody>
      </p:sp>
      <p:sp>
        <p:nvSpPr>
          <p:cNvPr id="15" name="矩形 14">
            <a:extLst>
              <a:ext uri="{FF2B5EF4-FFF2-40B4-BE49-F238E27FC236}">
                <a16:creationId xmlns="" xmlns:a16="http://schemas.microsoft.com/office/drawing/2014/main" id="{A07BCC23-ECF4-44E0-9817-FEF9B0FA8723}"/>
              </a:ext>
            </a:extLst>
          </p:cNvPr>
          <p:cNvSpPr/>
          <p:nvPr/>
        </p:nvSpPr>
        <p:spPr bwMode="gray">
          <a:xfrm>
            <a:off x="6497677" y="3199437"/>
            <a:ext cx="3456278" cy="307777"/>
          </a:xfrm>
          <a:prstGeom prst="rect">
            <a:avLst/>
          </a:prstGeom>
        </p:spPr>
        <p:txBody>
          <a:bodyPr wrap="square">
            <a:spAutoFit/>
          </a:bodyPr>
          <a:lstStyle/>
          <a:p>
            <a:pPr marL="171450" indent="-171450">
              <a:spcAft>
                <a:spcPts val="600"/>
              </a:spcAft>
              <a:buFont typeface="Arial" panose="020B0604020202020204" pitchFamily="34" charset="0"/>
              <a:buChar char="•"/>
            </a:pPr>
            <a:r>
              <a:rPr lang="en-US" altLang="zh-CN" sz="1400" dirty="0"/>
              <a:t>SRv6</a:t>
            </a:r>
            <a:r>
              <a:rPr lang="zh-CN" altLang="en-US" sz="1400" dirty="0"/>
              <a:t>缩短</a:t>
            </a:r>
            <a:r>
              <a:rPr lang="en-US" altLang="zh-CN" sz="1400" dirty="0"/>
              <a:t>TTM</a:t>
            </a:r>
            <a:r>
              <a:rPr lang="zh-CN" altLang="en-US" sz="1400" dirty="0"/>
              <a:t>，时延可承诺</a:t>
            </a:r>
          </a:p>
        </p:txBody>
      </p:sp>
      <p:sp>
        <p:nvSpPr>
          <p:cNvPr id="28" name="矩形 27">
            <a:extLst>
              <a:ext uri="{FF2B5EF4-FFF2-40B4-BE49-F238E27FC236}">
                <a16:creationId xmlns="" xmlns:a16="http://schemas.microsoft.com/office/drawing/2014/main" id="{8E4C3891-A381-475C-B6C5-6383A9D80CC0}"/>
              </a:ext>
            </a:extLst>
          </p:cNvPr>
          <p:cNvSpPr/>
          <p:nvPr/>
        </p:nvSpPr>
        <p:spPr bwMode="gray">
          <a:xfrm>
            <a:off x="6483752" y="5480899"/>
            <a:ext cx="3988610" cy="523220"/>
          </a:xfrm>
          <a:prstGeom prst="rect">
            <a:avLst/>
          </a:prstGeom>
        </p:spPr>
        <p:txBody>
          <a:bodyPr wrap="square">
            <a:spAutoFit/>
          </a:bodyPr>
          <a:lstStyle/>
          <a:p>
            <a:pPr marL="171450" indent="-171450">
              <a:buFont typeface="Arial" panose="020B0604020202020204" pitchFamily="34" charset="0"/>
              <a:buChar char="•"/>
            </a:pPr>
            <a:r>
              <a:rPr lang="en-US" altLang="zh-CN" sz="1400" dirty="0" err="1"/>
              <a:t>iMaster</a:t>
            </a:r>
            <a:r>
              <a:rPr lang="en-US" altLang="zh-CN" sz="1400" dirty="0"/>
              <a:t> NCE-IP+IFIT</a:t>
            </a:r>
            <a:r>
              <a:rPr lang="zh-CN" altLang="en-US" sz="1400" dirty="0"/>
              <a:t>，逐跳丢包检测方</a:t>
            </a:r>
            <a:r>
              <a:rPr lang="zh-CN" altLang="en-US" sz="1400" dirty="0" smtClean="0"/>
              <a:t>案。</a:t>
            </a:r>
            <a:endParaRPr lang="en-US" altLang="zh-CN" sz="1400" dirty="0"/>
          </a:p>
          <a:p>
            <a:pPr marL="171450" indent="-171450" defTabSz="914113">
              <a:spcAft>
                <a:spcPts val="600"/>
              </a:spcAft>
              <a:buFont typeface="Arial" panose="020B0604020202020204" pitchFamily="34" charset="0"/>
              <a:buChar char="•"/>
              <a:tabLst>
                <a:tab pos="182490" algn="l"/>
              </a:tabLst>
            </a:pPr>
            <a:r>
              <a:rPr lang="en-US" altLang="zh-CN" sz="1400" dirty="0"/>
              <a:t>TI-LFA </a:t>
            </a:r>
            <a:r>
              <a:rPr lang="zh-CN" altLang="en-US" sz="1400" dirty="0"/>
              <a:t>协议，</a:t>
            </a:r>
            <a:r>
              <a:rPr lang="en-US" altLang="zh-CN" sz="1400" dirty="0"/>
              <a:t>E2E 50 </a:t>
            </a:r>
            <a:r>
              <a:rPr lang="en-US" altLang="zh-CN" sz="1400" dirty="0" err="1"/>
              <a:t>ms</a:t>
            </a:r>
            <a:r>
              <a:rPr lang="zh-CN" altLang="en-US" sz="1400" dirty="0"/>
              <a:t>倒</a:t>
            </a:r>
            <a:r>
              <a:rPr lang="zh-CN" altLang="en-US" sz="1400" dirty="0" smtClean="0"/>
              <a:t>换。</a:t>
            </a:r>
            <a:endParaRPr lang="en-US" altLang="zh-CN" sz="1400" dirty="0"/>
          </a:p>
        </p:txBody>
      </p:sp>
      <p:sp>
        <p:nvSpPr>
          <p:cNvPr id="177" name="矩形 176">
            <a:extLst>
              <a:ext uri="{FF2B5EF4-FFF2-40B4-BE49-F238E27FC236}">
                <a16:creationId xmlns="" xmlns:a16="http://schemas.microsoft.com/office/drawing/2014/main" id="{2FB8FADD-0137-4CD1-8FC8-1E806195C26A}"/>
              </a:ext>
            </a:extLst>
          </p:cNvPr>
          <p:cNvSpPr/>
          <p:nvPr/>
        </p:nvSpPr>
        <p:spPr bwMode="gray">
          <a:xfrm>
            <a:off x="7897852" y="4339556"/>
            <a:ext cx="3670896" cy="600164"/>
          </a:xfrm>
          <a:prstGeom prst="rect">
            <a:avLst/>
          </a:prstGeom>
        </p:spPr>
        <p:txBody>
          <a:bodyPr wrap="square">
            <a:spAutoFit/>
          </a:bodyPr>
          <a:lstStyle/>
          <a:p>
            <a:pPr marL="171450" indent="-171450" defTabSz="914113">
              <a:spcAft>
                <a:spcPts val="600"/>
              </a:spcAft>
              <a:buFont typeface="Arial" panose="020B0604020202020204" pitchFamily="34" charset="0"/>
              <a:buChar char="•"/>
              <a:tabLst>
                <a:tab pos="182490" algn="l"/>
              </a:tabLst>
            </a:pPr>
            <a:r>
              <a:rPr lang="en-US" altLang="zh-CN" sz="1400" dirty="0" err="1"/>
              <a:t>FlexE</a:t>
            </a:r>
            <a:r>
              <a:rPr lang="zh-CN" altLang="en-US" sz="1400" dirty="0"/>
              <a:t>切片间</a:t>
            </a:r>
            <a:r>
              <a:rPr lang="en-US" altLang="zh-CN" sz="1400" dirty="0"/>
              <a:t>0</a:t>
            </a:r>
            <a:r>
              <a:rPr lang="zh-CN" altLang="en-US" sz="1400" dirty="0"/>
              <a:t>抢占，带宽可保</a:t>
            </a:r>
            <a:r>
              <a:rPr lang="zh-CN" altLang="en-US" sz="1400" dirty="0" smtClean="0"/>
              <a:t>障。</a:t>
            </a:r>
            <a:endParaRPr lang="en-US" altLang="zh-CN" sz="1400" dirty="0"/>
          </a:p>
          <a:p>
            <a:pPr marL="171450" indent="-171450" defTabSz="914113">
              <a:spcAft>
                <a:spcPts val="600"/>
              </a:spcAft>
              <a:buFont typeface="Arial" panose="020B0604020202020204" pitchFamily="34" charset="0"/>
              <a:buChar char="•"/>
              <a:tabLst>
                <a:tab pos="182490" algn="l"/>
              </a:tabLst>
            </a:pPr>
            <a:r>
              <a:rPr lang="zh-CN" altLang="en-US" sz="1400" dirty="0"/>
              <a:t>网络切片粒度（最小</a:t>
            </a:r>
            <a:r>
              <a:rPr lang="en-US" altLang="zh-CN" sz="1400" dirty="0" smtClean="0"/>
              <a:t>1 G</a:t>
            </a:r>
            <a:r>
              <a:rPr lang="zh-CN" altLang="en-US" sz="1400" dirty="0"/>
              <a:t>）</a:t>
            </a:r>
          </a:p>
        </p:txBody>
      </p:sp>
      <p:sp>
        <p:nvSpPr>
          <p:cNvPr id="178" name="文本框 5">
            <a:extLst>
              <a:ext uri="{FF2B5EF4-FFF2-40B4-BE49-F238E27FC236}">
                <a16:creationId xmlns="" xmlns:a16="http://schemas.microsoft.com/office/drawing/2014/main" id="{0F2BE4CD-483C-4354-9D25-CBB64D3D4656}"/>
              </a:ext>
            </a:extLst>
          </p:cNvPr>
          <p:cNvSpPr txBox="1"/>
          <p:nvPr/>
        </p:nvSpPr>
        <p:spPr bwMode="gray">
          <a:xfrm>
            <a:off x="6213616" y="3923235"/>
            <a:ext cx="4996570" cy="307777"/>
          </a:xfrm>
          <a:prstGeom prst="rect">
            <a:avLst/>
          </a:prstGeom>
          <a:noFill/>
        </p:spPr>
        <p:txBody>
          <a:bodyPr wrap="square" rtlCol="0" anchor="ctr" anchorCtr="0">
            <a:spAutoFit/>
          </a:bodyPr>
          <a:lstStyle>
            <a:defPPr>
              <a:defRPr lang="zh-CN"/>
            </a:defPPr>
            <a:lvl1pPr algn="ctr">
              <a:defRPr sz="2000" b="1">
                <a:solidFill>
                  <a:prstClr val="black"/>
                </a:solidFill>
                <a:latin typeface="微软雅黑" panose="020B0503020204020204" pitchFamily="34" charset="-122"/>
                <a:ea typeface="微软雅黑" panose="020B0503020204020204" pitchFamily="34" charset="-122"/>
              </a:defRPr>
            </a:lvl1pPr>
          </a:lstStyle>
          <a:p>
            <a:pPr algn="l">
              <a:spcBef>
                <a:spcPts val="600"/>
              </a:spcBef>
            </a:pPr>
            <a:r>
              <a:rPr lang="en-US" altLang="zh-CN" sz="1400" b="0" kern="0" dirty="0">
                <a:solidFill>
                  <a:schemeClr val="tx1"/>
                </a:solidFill>
                <a:latin typeface="+mn-lt"/>
                <a:ea typeface="+mn-ea"/>
              </a:rPr>
              <a:t>3</a:t>
            </a:r>
            <a:r>
              <a:rPr lang="zh-CN" altLang="en-US" sz="1400" b="0" kern="0" dirty="0">
                <a:solidFill>
                  <a:schemeClr val="tx1"/>
                </a:solidFill>
                <a:latin typeface="+mn-lt"/>
                <a:ea typeface="+mn-ea"/>
              </a:rPr>
              <a:t>、新管道</a:t>
            </a:r>
            <a:r>
              <a:rPr lang="zh-CN" altLang="en-US" sz="1400" b="0" dirty="0">
                <a:solidFill>
                  <a:schemeClr val="tx1"/>
                </a:solidFill>
                <a:latin typeface="+mn-lt"/>
                <a:ea typeface="+mn-ea"/>
              </a:rPr>
              <a:t>：</a:t>
            </a:r>
            <a:r>
              <a:rPr lang="en-US" altLang="zh-CN" sz="1400" b="0" kern="0" dirty="0" err="1">
                <a:solidFill>
                  <a:schemeClr val="tx1"/>
                </a:solidFill>
                <a:latin typeface="+mn-lt"/>
                <a:ea typeface="+mn-ea"/>
              </a:rPr>
              <a:t>FlexE</a:t>
            </a:r>
            <a:r>
              <a:rPr lang="zh-CN" altLang="en-US" sz="1400" b="0" kern="0" dirty="0">
                <a:solidFill>
                  <a:schemeClr val="tx1"/>
                </a:solidFill>
                <a:latin typeface="+mn-lt"/>
                <a:ea typeface="+mn-ea"/>
              </a:rPr>
              <a:t>硬切片，带宽可保障</a:t>
            </a:r>
          </a:p>
        </p:txBody>
      </p:sp>
      <p:grpSp>
        <p:nvGrpSpPr>
          <p:cNvPr id="180" name="组合 179">
            <a:extLst>
              <a:ext uri="{FF2B5EF4-FFF2-40B4-BE49-F238E27FC236}">
                <a16:creationId xmlns="" xmlns:a16="http://schemas.microsoft.com/office/drawing/2014/main" id="{DC228D9D-0F14-44D9-9DBB-0D953DFF7EFF}"/>
              </a:ext>
            </a:extLst>
          </p:cNvPr>
          <p:cNvGrpSpPr/>
          <p:nvPr/>
        </p:nvGrpSpPr>
        <p:grpSpPr bwMode="gray">
          <a:xfrm>
            <a:off x="6479622" y="4348684"/>
            <a:ext cx="1180820" cy="583336"/>
            <a:chOff x="3723547" y="3465026"/>
            <a:chExt cx="2057460" cy="1009767"/>
          </a:xfrm>
        </p:grpSpPr>
        <p:sp>
          <p:nvSpPr>
            <p:cNvPr id="181" name="AutoShape 37">
              <a:extLst>
                <a:ext uri="{FF2B5EF4-FFF2-40B4-BE49-F238E27FC236}">
                  <a16:creationId xmlns="" xmlns:a16="http://schemas.microsoft.com/office/drawing/2014/main" id="{07396B56-F30E-4DFE-A5EA-DBA3E34D9434}"/>
                </a:ext>
              </a:extLst>
            </p:cNvPr>
            <p:cNvSpPr>
              <a:spLocks noChangeArrowheads="1"/>
            </p:cNvSpPr>
            <p:nvPr/>
          </p:nvSpPr>
          <p:spPr bwMode="gray">
            <a:xfrm rot="16200000">
              <a:off x="4261154" y="3006184"/>
              <a:ext cx="931002" cy="2006216"/>
            </a:xfrm>
            <a:prstGeom prst="can">
              <a:avLst>
                <a:gd name="adj" fmla="val 9868"/>
              </a:avLst>
            </a:prstGeom>
            <a:solidFill>
              <a:srgbClr val="666666">
                <a:lumMod val="40000"/>
                <a:lumOff val="60000"/>
                <a:alpha val="49000"/>
              </a:srgbClr>
            </a:solidFill>
            <a:ln w="9525">
              <a:noFill/>
              <a:rou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i="0" u="none" strike="noStrike" kern="0" cap="none" spc="0" normalizeH="0" baseline="0" noProof="0">
                <a:ln>
                  <a:noFill/>
                </a:ln>
                <a:effectLst/>
                <a:uLnTx/>
                <a:uFillTx/>
              </a:endParaRPr>
            </a:p>
          </p:txBody>
        </p:sp>
        <p:sp>
          <p:nvSpPr>
            <p:cNvPr id="182" name="平行四边形 181">
              <a:extLst>
                <a:ext uri="{FF2B5EF4-FFF2-40B4-BE49-F238E27FC236}">
                  <a16:creationId xmlns="" xmlns:a16="http://schemas.microsoft.com/office/drawing/2014/main" id="{65B2E78D-A19D-4F90-BAD4-57B01CF429EF}"/>
                </a:ext>
              </a:extLst>
            </p:cNvPr>
            <p:cNvSpPr/>
            <p:nvPr/>
          </p:nvSpPr>
          <p:spPr bwMode="gray">
            <a:xfrm>
              <a:off x="3886867" y="3671243"/>
              <a:ext cx="1715798" cy="118018"/>
            </a:xfrm>
            <a:prstGeom prst="parallelogram">
              <a:avLst>
                <a:gd name="adj" fmla="val 245314"/>
              </a:avLst>
            </a:prstGeom>
            <a:solidFill>
              <a:srgbClr val="FFC000">
                <a:alpha val="61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i="0" u="none" strike="noStrike" kern="0" cap="none" spc="0" normalizeH="0" baseline="0" noProof="0">
                <a:ln>
                  <a:noFill/>
                </a:ln>
                <a:effectLst/>
                <a:uLnTx/>
                <a:uFillTx/>
                <a:cs typeface="+mn-cs"/>
              </a:endParaRPr>
            </a:p>
          </p:txBody>
        </p:sp>
        <p:sp>
          <p:nvSpPr>
            <p:cNvPr id="183" name="平行四边形 182">
              <a:extLst>
                <a:ext uri="{FF2B5EF4-FFF2-40B4-BE49-F238E27FC236}">
                  <a16:creationId xmlns="" xmlns:a16="http://schemas.microsoft.com/office/drawing/2014/main" id="{2C1FC00F-4967-4CD1-949C-9B2F1C95377C}"/>
                </a:ext>
              </a:extLst>
            </p:cNvPr>
            <p:cNvSpPr/>
            <p:nvPr/>
          </p:nvSpPr>
          <p:spPr bwMode="gray">
            <a:xfrm>
              <a:off x="3886867" y="3966932"/>
              <a:ext cx="1715798" cy="118018"/>
            </a:xfrm>
            <a:prstGeom prst="parallelogram">
              <a:avLst>
                <a:gd name="adj" fmla="val 245314"/>
              </a:avLst>
            </a:prstGeom>
            <a:solidFill>
              <a:srgbClr val="00B0F0">
                <a:alpha val="6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i="0" u="none" strike="noStrike" kern="0" cap="none" spc="0" normalizeH="0" baseline="0" noProof="0">
                <a:ln>
                  <a:noFill/>
                </a:ln>
                <a:effectLst/>
                <a:uLnTx/>
                <a:uFillTx/>
                <a:cs typeface="+mn-cs"/>
              </a:endParaRPr>
            </a:p>
          </p:txBody>
        </p:sp>
        <p:sp>
          <p:nvSpPr>
            <p:cNvPr id="184" name="AutoShape 69">
              <a:extLst>
                <a:ext uri="{FF2B5EF4-FFF2-40B4-BE49-F238E27FC236}">
                  <a16:creationId xmlns="" xmlns:a16="http://schemas.microsoft.com/office/drawing/2014/main" id="{FB22E430-5B62-43F0-A298-B2D5D62A3933}"/>
                </a:ext>
              </a:extLst>
            </p:cNvPr>
            <p:cNvSpPr>
              <a:spLocks noChangeArrowheads="1"/>
            </p:cNvSpPr>
            <p:nvPr/>
          </p:nvSpPr>
          <p:spPr bwMode="gray">
            <a:xfrm rot="16200000">
              <a:off x="4551696" y="3531847"/>
              <a:ext cx="252651" cy="1536658"/>
            </a:xfrm>
            <a:prstGeom prst="can">
              <a:avLst>
                <a:gd name="adj" fmla="val 19290"/>
              </a:avLst>
            </a:prstGeom>
            <a:solidFill>
              <a:sysClr val="window" lastClr="FFFFFF">
                <a:lumMod val="75000"/>
                <a:alpha val="26000"/>
              </a:sysClr>
            </a:solidFill>
            <a:ln w="9525">
              <a:noFill/>
              <a:prstDash val="solid"/>
              <a:round/>
              <a:headEnd/>
              <a:tailEnd/>
            </a:ln>
          </p:spPr>
          <p:txBody>
            <a:bodyPr vert="horz" wrap="square" lIns="142729" tIns="71366" rIns="142729" bIns="71366" anchor="ctr">
              <a:noAutofit/>
            </a:bodyPr>
            <a:lstStyle/>
            <a:p>
              <a:pPr marL="0" marR="0" lvl="0" indent="0" algn="ctr" defTabSz="959265" eaLnBrk="1" fontAlgn="ctr" latinLnBrk="0" hangingPunct="1">
                <a:lnSpc>
                  <a:spcPct val="100000"/>
                </a:lnSpc>
                <a:spcBef>
                  <a:spcPts val="0"/>
                </a:spcBef>
                <a:spcAft>
                  <a:spcPts val="0"/>
                </a:spcAft>
                <a:buClrTx/>
                <a:buSzTx/>
                <a:buFontTx/>
                <a:buNone/>
                <a:tabLst/>
                <a:defRPr/>
              </a:pPr>
              <a:endParaRPr kumimoji="0" lang="en-US" altLang="zh-CN" sz="1400" i="0" u="none" strike="noStrike" kern="0" cap="none" spc="0" normalizeH="0" baseline="0" noProof="0" dirty="0">
                <a:ln>
                  <a:noFill/>
                </a:ln>
                <a:effectLst>
                  <a:outerShdw blurRad="38100" dist="38100" dir="2700000" algn="tl">
                    <a:srgbClr val="000000">
                      <a:alpha val="43137"/>
                    </a:srgbClr>
                  </a:outerShdw>
                </a:effectLst>
                <a:uLnTx/>
                <a:uFillTx/>
              </a:endParaRPr>
            </a:p>
          </p:txBody>
        </p:sp>
        <p:sp>
          <p:nvSpPr>
            <p:cNvPr id="185" name="任意多边形 546">
              <a:extLst>
                <a:ext uri="{FF2B5EF4-FFF2-40B4-BE49-F238E27FC236}">
                  <a16:creationId xmlns="" xmlns:a16="http://schemas.microsoft.com/office/drawing/2014/main" id="{41FED58F-90E3-40CA-AAFF-6B92A0533666}"/>
                </a:ext>
              </a:extLst>
            </p:cNvPr>
            <p:cNvSpPr/>
            <p:nvPr/>
          </p:nvSpPr>
          <p:spPr bwMode="gray">
            <a:xfrm flipV="1">
              <a:off x="3998751" y="4220808"/>
              <a:ext cx="1409158" cy="167470"/>
            </a:xfrm>
            <a:custGeom>
              <a:avLst/>
              <a:gdLst>
                <a:gd name="connsiteX0" fmla="*/ 0 w 1312753"/>
                <a:gd name="connsiteY0" fmla="*/ 0 h 534154"/>
                <a:gd name="connsiteX1" fmla="*/ 1312753 w 1312753"/>
                <a:gd name="connsiteY1" fmla="*/ 0 h 534154"/>
                <a:gd name="connsiteX2" fmla="*/ 1294646 w 1312753"/>
                <a:gd name="connsiteY2" fmla="*/ 398352 h 534154"/>
                <a:gd name="connsiteX3" fmla="*/ 1131683 w 1312753"/>
                <a:gd name="connsiteY3" fmla="*/ 289711 h 534154"/>
                <a:gd name="connsiteX4" fmla="*/ 851026 w 1312753"/>
                <a:gd name="connsiteY4" fmla="*/ 316871 h 534154"/>
                <a:gd name="connsiteX5" fmla="*/ 706171 w 1312753"/>
                <a:gd name="connsiteY5" fmla="*/ 289711 h 534154"/>
                <a:gd name="connsiteX6" fmla="*/ 516048 w 1312753"/>
                <a:gd name="connsiteY6" fmla="*/ 334978 h 534154"/>
                <a:gd name="connsiteX7" fmla="*/ 325925 w 1312753"/>
                <a:gd name="connsiteY7" fmla="*/ 534154 h 534154"/>
                <a:gd name="connsiteX8" fmla="*/ 253497 w 1312753"/>
                <a:gd name="connsiteY8" fmla="*/ 398352 h 534154"/>
                <a:gd name="connsiteX9" fmla="*/ 72428 w 1312753"/>
                <a:gd name="connsiteY9" fmla="*/ 289711 h 534154"/>
                <a:gd name="connsiteX10" fmla="*/ 0 w 1312753"/>
                <a:gd name="connsiteY10" fmla="*/ 0 h 534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2753" h="534154">
                  <a:moveTo>
                    <a:pt x="0" y="0"/>
                  </a:moveTo>
                  <a:lnTo>
                    <a:pt x="1312753" y="0"/>
                  </a:lnTo>
                  <a:lnTo>
                    <a:pt x="1294646" y="398352"/>
                  </a:lnTo>
                  <a:lnTo>
                    <a:pt x="1131683" y="289711"/>
                  </a:lnTo>
                  <a:lnTo>
                    <a:pt x="851026" y="316871"/>
                  </a:lnTo>
                  <a:lnTo>
                    <a:pt x="706171" y="289711"/>
                  </a:lnTo>
                  <a:lnTo>
                    <a:pt x="516048" y="334978"/>
                  </a:lnTo>
                  <a:lnTo>
                    <a:pt x="325925" y="534154"/>
                  </a:lnTo>
                  <a:lnTo>
                    <a:pt x="253497" y="398352"/>
                  </a:lnTo>
                  <a:lnTo>
                    <a:pt x="72428" y="289711"/>
                  </a:lnTo>
                  <a:lnTo>
                    <a:pt x="0" y="0"/>
                  </a:lnTo>
                  <a:close/>
                </a:path>
              </a:pathLst>
            </a:custGeom>
            <a:solidFill>
              <a:srgbClr val="33CCCC">
                <a:alpha val="55000"/>
              </a:srgbClr>
            </a:solidFill>
            <a:ln w="9525" cap="flat" cmpd="sng" algn="ctr">
              <a:noFill/>
              <a:prstDash val="solid"/>
              <a:round/>
              <a:headEnd type="none" w="med" len="med"/>
              <a:tailEnd type="none" w="med" len="med"/>
            </a:ln>
          </p:spPr>
          <p:txBody>
            <a:bodyPr vert="horz" wrap="square" lIns="0" tIns="0" rIns="0" bIns="0" numCol="1" rtlCol="0" anchor="ctr"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
                  <a:srgbClr val="CC9900"/>
                </a:buClr>
                <a:buSzTx/>
                <a:buFontTx/>
                <a:buNone/>
                <a:tabLst/>
                <a:defRPr/>
              </a:pPr>
              <a:endParaRPr kumimoji="0" lang="zh-CN" altLang="en-US" sz="1400" i="0" u="none" strike="noStrike" kern="0" cap="none" spc="0" normalizeH="0" baseline="0" noProof="0">
                <a:ln>
                  <a:noFill/>
                </a:ln>
                <a:effectLst/>
                <a:uLnTx/>
                <a:uFillTx/>
              </a:endParaRPr>
            </a:p>
          </p:txBody>
        </p:sp>
        <p:sp>
          <p:nvSpPr>
            <p:cNvPr id="186" name="矩形 185">
              <a:extLst>
                <a:ext uri="{FF2B5EF4-FFF2-40B4-BE49-F238E27FC236}">
                  <a16:creationId xmlns="" xmlns:a16="http://schemas.microsoft.com/office/drawing/2014/main" id="{9E511870-9520-4E12-B8D1-591EDF4409E7}"/>
                </a:ext>
              </a:extLst>
            </p:cNvPr>
            <p:cNvSpPr/>
            <p:nvPr/>
          </p:nvSpPr>
          <p:spPr bwMode="gray">
            <a:xfrm>
              <a:off x="4386706" y="3976138"/>
              <a:ext cx="1394301" cy="47949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i="0" u="none" strike="noStrike" kern="0" cap="none" spc="0" normalizeH="0" baseline="0" noProof="0" dirty="0">
                  <a:ln>
                    <a:noFill/>
                  </a:ln>
                  <a:effectLst/>
                  <a:uLnTx/>
                  <a:uFillTx/>
                </a:rPr>
                <a:t>普通业务</a:t>
              </a:r>
            </a:p>
          </p:txBody>
        </p:sp>
        <p:pic>
          <p:nvPicPr>
            <p:cNvPr id="187" name="Picture 9" descr="C:\Users\y00122952\Desktop\grid-icon.png">
              <a:extLst>
                <a:ext uri="{FF2B5EF4-FFF2-40B4-BE49-F238E27FC236}">
                  <a16:creationId xmlns="" xmlns:a16="http://schemas.microsoft.com/office/drawing/2014/main" id="{0F112672-0B14-4B2B-B69F-CF4D05DEE03C}"/>
                </a:ext>
              </a:extLst>
            </p:cNvPr>
            <p:cNvPicPr>
              <a:picLocks noChangeArrowheads="1"/>
            </p:cNvPicPr>
            <p:nvPr/>
          </p:nvPicPr>
          <p:blipFill>
            <a:blip r:embed="rId24" cstate="print">
              <a:clrChange>
                <a:clrFrom>
                  <a:srgbClr val="FFFFFF"/>
                </a:clrFrom>
                <a:clrTo>
                  <a:srgbClr val="FFFFFF">
                    <a:alpha val="0"/>
                  </a:srgbClr>
                </a:clrTo>
              </a:clrChange>
              <a:duotone>
                <a:srgbClr val="EBEBEB">
                  <a:shade val="45000"/>
                  <a:satMod val="135000"/>
                </a:srgbClr>
                <a:prstClr val="white"/>
              </a:duotone>
            </a:blip>
            <a:stretch>
              <a:fillRect/>
            </a:stretch>
          </p:blipFill>
          <p:spPr bwMode="gray">
            <a:xfrm>
              <a:off x="4194345" y="3465026"/>
              <a:ext cx="228394" cy="196603"/>
            </a:xfrm>
            <a:prstGeom prst="rect">
              <a:avLst/>
            </a:prstGeom>
            <a:noFill/>
          </p:spPr>
        </p:pic>
        <p:sp>
          <p:nvSpPr>
            <p:cNvPr id="188" name="KSO_Shape">
              <a:extLst>
                <a:ext uri="{FF2B5EF4-FFF2-40B4-BE49-F238E27FC236}">
                  <a16:creationId xmlns="" xmlns:a16="http://schemas.microsoft.com/office/drawing/2014/main" id="{8526BB83-7276-4645-8412-0000BCFAF689}"/>
                </a:ext>
              </a:extLst>
            </p:cNvPr>
            <p:cNvSpPr>
              <a:spLocks/>
            </p:cNvSpPr>
            <p:nvPr/>
          </p:nvSpPr>
          <p:spPr bwMode="gray">
            <a:xfrm>
              <a:off x="4185831" y="3870345"/>
              <a:ext cx="228394" cy="196603"/>
            </a:xfrm>
            <a:custGeom>
              <a:avLst/>
              <a:gdLst>
                <a:gd name="T0" fmla="*/ 1855787 w 2462213"/>
                <a:gd name="T1" fmla="*/ 1260475 h 1693863"/>
                <a:gd name="T2" fmla="*/ 1271587 w 2462213"/>
                <a:gd name="T3" fmla="*/ 1387475 h 1693863"/>
                <a:gd name="T4" fmla="*/ 1195387 w 2462213"/>
                <a:gd name="T5" fmla="*/ 1387475 h 1693863"/>
                <a:gd name="T6" fmla="*/ 612775 w 2462213"/>
                <a:gd name="T7" fmla="*/ 1260475 h 1693863"/>
                <a:gd name="T8" fmla="*/ 280987 w 2462213"/>
                <a:gd name="T9" fmla="*/ 1260475 h 1693863"/>
                <a:gd name="T10" fmla="*/ 1855787 w 2462213"/>
                <a:gd name="T11" fmla="*/ 1047750 h 1693863"/>
                <a:gd name="T12" fmla="*/ 1271587 w 2462213"/>
                <a:gd name="T13" fmla="*/ 1174750 h 1693863"/>
                <a:gd name="T14" fmla="*/ 1195387 w 2462213"/>
                <a:gd name="T15" fmla="*/ 1174750 h 1693863"/>
                <a:gd name="T16" fmla="*/ 612775 w 2462213"/>
                <a:gd name="T17" fmla="*/ 1047750 h 1693863"/>
                <a:gd name="T18" fmla="*/ 280987 w 2462213"/>
                <a:gd name="T19" fmla="*/ 1047750 h 1693863"/>
                <a:gd name="T20" fmla="*/ 1855787 w 2462213"/>
                <a:gd name="T21" fmla="*/ 817562 h 1693863"/>
                <a:gd name="T22" fmla="*/ 1271587 w 2462213"/>
                <a:gd name="T23" fmla="*/ 944562 h 1693863"/>
                <a:gd name="T24" fmla="*/ 1195387 w 2462213"/>
                <a:gd name="T25" fmla="*/ 944562 h 1693863"/>
                <a:gd name="T26" fmla="*/ 612775 w 2462213"/>
                <a:gd name="T27" fmla="*/ 817562 h 1693863"/>
                <a:gd name="T28" fmla="*/ 280987 w 2462213"/>
                <a:gd name="T29" fmla="*/ 817562 h 1693863"/>
                <a:gd name="T30" fmla="*/ 1855787 w 2462213"/>
                <a:gd name="T31" fmla="*/ 604837 h 1693863"/>
                <a:gd name="T32" fmla="*/ 1271587 w 2462213"/>
                <a:gd name="T33" fmla="*/ 731837 h 1693863"/>
                <a:gd name="T34" fmla="*/ 1195387 w 2462213"/>
                <a:gd name="T35" fmla="*/ 731837 h 1693863"/>
                <a:gd name="T36" fmla="*/ 612775 w 2462213"/>
                <a:gd name="T37" fmla="*/ 604837 h 1693863"/>
                <a:gd name="T38" fmla="*/ 280987 w 2462213"/>
                <a:gd name="T39" fmla="*/ 604837 h 1693863"/>
                <a:gd name="T40" fmla="*/ 1217659 w 2462213"/>
                <a:gd name="T41" fmla="*/ 88928 h 1693863"/>
                <a:gd name="T42" fmla="*/ 1211327 w 2462213"/>
                <a:gd name="T43" fmla="*/ 104873 h 1693863"/>
                <a:gd name="T44" fmla="*/ 1139150 w 2462213"/>
                <a:gd name="T45" fmla="*/ 170566 h 1693863"/>
                <a:gd name="T46" fmla="*/ 1126487 w 2462213"/>
                <a:gd name="T47" fmla="*/ 186829 h 1693863"/>
                <a:gd name="T48" fmla="*/ 1127437 w 2462213"/>
                <a:gd name="T49" fmla="*/ 199904 h 1693863"/>
                <a:gd name="T50" fmla="*/ 1143582 w 2462213"/>
                <a:gd name="T51" fmla="*/ 213298 h 1693863"/>
                <a:gd name="T52" fmla="*/ 1211644 w 2462213"/>
                <a:gd name="T53" fmla="*/ 281861 h 1693863"/>
                <a:gd name="T54" fmla="*/ 1224940 w 2462213"/>
                <a:gd name="T55" fmla="*/ 298125 h 1693863"/>
                <a:gd name="T56" fmla="*/ 1238236 w 2462213"/>
                <a:gd name="T57" fmla="*/ 299400 h 1693863"/>
                <a:gd name="T58" fmla="*/ 1254381 w 2462213"/>
                <a:gd name="T59" fmla="*/ 286325 h 1693863"/>
                <a:gd name="T60" fmla="*/ 1319277 w 2462213"/>
                <a:gd name="T61" fmla="*/ 213617 h 1693863"/>
                <a:gd name="T62" fmla="*/ 1335106 w 2462213"/>
                <a:gd name="T63" fmla="*/ 207239 h 1693863"/>
                <a:gd name="T64" fmla="*/ 1341437 w 2462213"/>
                <a:gd name="T65" fmla="*/ 191294 h 1693863"/>
                <a:gd name="T66" fmla="*/ 1335106 w 2462213"/>
                <a:gd name="T67" fmla="*/ 175349 h 1693863"/>
                <a:gd name="T68" fmla="*/ 1319277 w 2462213"/>
                <a:gd name="T69" fmla="*/ 168652 h 1693863"/>
                <a:gd name="T70" fmla="*/ 1254381 w 2462213"/>
                <a:gd name="T71" fmla="*/ 96263 h 1693863"/>
                <a:gd name="T72" fmla="*/ 1238236 w 2462213"/>
                <a:gd name="T73" fmla="*/ 82869 h 1693863"/>
                <a:gd name="T74" fmla="*/ 1630998 w 2462213"/>
                <a:gd name="T75" fmla="*/ 0 h 1693863"/>
                <a:gd name="T76" fmla="*/ 1669733 w 2462213"/>
                <a:gd name="T77" fmla="*/ 6352 h 1693863"/>
                <a:gd name="T78" fmla="*/ 1703388 w 2462213"/>
                <a:gd name="T79" fmla="*/ 23186 h 1693863"/>
                <a:gd name="T80" fmla="*/ 1731328 w 2462213"/>
                <a:gd name="T81" fmla="*/ 48913 h 1693863"/>
                <a:gd name="T82" fmla="*/ 1750696 w 2462213"/>
                <a:gd name="T83" fmla="*/ 82581 h 1693863"/>
                <a:gd name="T84" fmla="*/ 1759903 w 2462213"/>
                <a:gd name="T85" fmla="*/ 121331 h 1693863"/>
                <a:gd name="T86" fmla="*/ 2206626 w 2462213"/>
                <a:gd name="T87" fmla="*/ 382731 h 1693863"/>
                <a:gd name="T88" fmla="*/ 2243456 w 2462213"/>
                <a:gd name="T89" fmla="*/ 392895 h 1693863"/>
                <a:gd name="T90" fmla="*/ 2275841 w 2462213"/>
                <a:gd name="T91" fmla="*/ 413540 h 1693863"/>
                <a:gd name="T92" fmla="*/ 2300923 w 2462213"/>
                <a:gd name="T93" fmla="*/ 442444 h 1693863"/>
                <a:gd name="T94" fmla="*/ 2317433 w 2462213"/>
                <a:gd name="T95" fmla="*/ 478652 h 1693863"/>
                <a:gd name="T96" fmla="*/ 2323148 w 2462213"/>
                <a:gd name="T97" fmla="*/ 519307 h 1693863"/>
                <a:gd name="T98" fmla="*/ 0 w 2462213"/>
                <a:gd name="T99" fmla="*/ 1693863 h 1693863"/>
                <a:gd name="T100" fmla="*/ 133350 w 2462213"/>
                <a:gd name="T101" fmla="*/ 512320 h 1693863"/>
                <a:gd name="T102" fmla="*/ 141288 w 2462213"/>
                <a:gd name="T103" fmla="*/ 471982 h 1693863"/>
                <a:gd name="T104" fmla="*/ 159068 w 2462213"/>
                <a:gd name="T105" fmla="*/ 437362 h 1693863"/>
                <a:gd name="T106" fmla="*/ 185420 w 2462213"/>
                <a:gd name="T107" fmla="*/ 409094 h 1693863"/>
                <a:gd name="T108" fmla="*/ 218440 w 2462213"/>
                <a:gd name="T109" fmla="*/ 390354 h 1693863"/>
                <a:gd name="T110" fmla="*/ 256223 w 2462213"/>
                <a:gd name="T111" fmla="*/ 382096 h 1693863"/>
                <a:gd name="T112" fmla="*/ 708978 w 2462213"/>
                <a:gd name="T113" fmla="*/ 114661 h 1693863"/>
                <a:gd name="T114" fmla="*/ 720090 w 2462213"/>
                <a:gd name="T115" fmla="*/ 76864 h 1693863"/>
                <a:gd name="T116" fmla="*/ 741045 w 2462213"/>
                <a:gd name="T117" fmla="*/ 44467 h 1693863"/>
                <a:gd name="T118" fmla="*/ 769620 w 2462213"/>
                <a:gd name="T119" fmla="*/ 19692 h 1693863"/>
                <a:gd name="T120" fmla="*/ 804545 w 2462213"/>
                <a:gd name="T121" fmla="*/ 4447 h 16938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62213" h="1693863">
                  <a:moveTo>
                    <a:pt x="2058987" y="1260475"/>
                  </a:moveTo>
                  <a:lnTo>
                    <a:pt x="2058987" y="1387475"/>
                  </a:lnTo>
                  <a:lnTo>
                    <a:pt x="2185987" y="1387475"/>
                  </a:lnTo>
                  <a:lnTo>
                    <a:pt x="2185987" y="1260475"/>
                  </a:lnTo>
                  <a:lnTo>
                    <a:pt x="2058987" y="1260475"/>
                  </a:lnTo>
                  <a:close/>
                  <a:moveTo>
                    <a:pt x="1855787" y="1260475"/>
                  </a:moveTo>
                  <a:lnTo>
                    <a:pt x="1855787" y="1387475"/>
                  </a:lnTo>
                  <a:lnTo>
                    <a:pt x="1982787" y="1387475"/>
                  </a:lnTo>
                  <a:lnTo>
                    <a:pt x="1982787" y="1260475"/>
                  </a:lnTo>
                  <a:lnTo>
                    <a:pt x="1855787" y="1260475"/>
                  </a:lnTo>
                  <a:close/>
                  <a:moveTo>
                    <a:pt x="1271587" y="1260475"/>
                  </a:moveTo>
                  <a:lnTo>
                    <a:pt x="1271587" y="1387475"/>
                  </a:lnTo>
                  <a:lnTo>
                    <a:pt x="1398587" y="1387475"/>
                  </a:lnTo>
                  <a:lnTo>
                    <a:pt x="1398587" y="1260475"/>
                  </a:lnTo>
                  <a:lnTo>
                    <a:pt x="1271587" y="1260475"/>
                  </a:lnTo>
                  <a:close/>
                  <a:moveTo>
                    <a:pt x="1068387" y="1260475"/>
                  </a:moveTo>
                  <a:lnTo>
                    <a:pt x="1068387" y="1387475"/>
                  </a:lnTo>
                  <a:lnTo>
                    <a:pt x="1195387" y="1387475"/>
                  </a:lnTo>
                  <a:lnTo>
                    <a:pt x="1195387" y="1260475"/>
                  </a:lnTo>
                  <a:lnTo>
                    <a:pt x="1068387" y="1260475"/>
                  </a:lnTo>
                  <a:close/>
                  <a:moveTo>
                    <a:pt x="484187" y="1260475"/>
                  </a:moveTo>
                  <a:lnTo>
                    <a:pt x="484187" y="1387475"/>
                  </a:lnTo>
                  <a:lnTo>
                    <a:pt x="612775" y="1387475"/>
                  </a:lnTo>
                  <a:lnTo>
                    <a:pt x="612775" y="1260475"/>
                  </a:lnTo>
                  <a:lnTo>
                    <a:pt x="484187" y="1260475"/>
                  </a:lnTo>
                  <a:close/>
                  <a:moveTo>
                    <a:pt x="280987" y="1260475"/>
                  </a:moveTo>
                  <a:lnTo>
                    <a:pt x="280987" y="1387475"/>
                  </a:lnTo>
                  <a:lnTo>
                    <a:pt x="407987" y="1387475"/>
                  </a:lnTo>
                  <a:lnTo>
                    <a:pt x="407987" y="1260475"/>
                  </a:lnTo>
                  <a:lnTo>
                    <a:pt x="280987" y="1260475"/>
                  </a:lnTo>
                  <a:close/>
                  <a:moveTo>
                    <a:pt x="2058987" y="1047750"/>
                  </a:moveTo>
                  <a:lnTo>
                    <a:pt x="2058987" y="1174750"/>
                  </a:lnTo>
                  <a:lnTo>
                    <a:pt x="2185987" y="1174750"/>
                  </a:lnTo>
                  <a:lnTo>
                    <a:pt x="2185987" y="1047750"/>
                  </a:lnTo>
                  <a:lnTo>
                    <a:pt x="2058987" y="1047750"/>
                  </a:lnTo>
                  <a:close/>
                  <a:moveTo>
                    <a:pt x="1855787" y="1047750"/>
                  </a:moveTo>
                  <a:lnTo>
                    <a:pt x="1855787" y="1174750"/>
                  </a:lnTo>
                  <a:lnTo>
                    <a:pt x="1982787" y="1174750"/>
                  </a:lnTo>
                  <a:lnTo>
                    <a:pt x="1982787" y="1047750"/>
                  </a:lnTo>
                  <a:lnTo>
                    <a:pt x="1855787" y="1047750"/>
                  </a:lnTo>
                  <a:close/>
                  <a:moveTo>
                    <a:pt x="1271587" y="1047750"/>
                  </a:moveTo>
                  <a:lnTo>
                    <a:pt x="1271587" y="1174750"/>
                  </a:lnTo>
                  <a:lnTo>
                    <a:pt x="1398587" y="1174750"/>
                  </a:lnTo>
                  <a:lnTo>
                    <a:pt x="1398587" y="1047750"/>
                  </a:lnTo>
                  <a:lnTo>
                    <a:pt x="1271587" y="1047750"/>
                  </a:lnTo>
                  <a:close/>
                  <a:moveTo>
                    <a:pt x="1068387" y="1047750"/>
                  </a:moveTo>
                  <a:lnTo>
                    <a:pt x="1068387" y="1174750"/>
                  </a:lnTo>
                  <a:lnTo>
                    <a:pt x="1195387" y="1174750"/>
                  </a:lnTo>
                  <a:lnTo>
                    <a:pt x="1195387" y="1047750"/>
                  </a:lnTo>
                  <a:lnTo>
                    <a:pt x="1068387" y="1047750"/>
                  </a:lnTo>
                  <a:close/>
                  <a:moveTo>
                    <a:pt x="484187" y="1047750"/>
                  </a:moveTo>
                  <a:lnTo>
                    <a:pt x="484187" y="1174750"/>
                  </a:lnTo>
                  <a:lnTo>
                    <a:pt x="612775" y="1174750"/>
                  </a:lnTo>
                  <a:lnTo>
                    <a:pt x="612775" y="1047750"/>
                  </a:lnTo>
                  <a:lnTo>
                    <a:pt x="484187" y="1047750"/>
                  </a:lnTo>
                  <a:close/>
                  <a:moveTo>
                    <a:pt x="280987" y="1047750"/>
                  </a:moveTo>
                  <a:lnTo>
                    <a:pt x="280987" y="1174750"/>
                  </a:lnTo>
                  <a:lnTo>
                    <a:pt x="407987" y="1174750"/>
                  </a:lnTo>
                  <a:lnTo>
                    <a:pt x="407987" y="1047750"/>
                  </a:lnTo>
                  <a:lnTo>
                    <a:pt x="280987" y="1047750"/>
                  </a:lnTo>
                  <a:close/>
                  <a:moveTo>
                    <a:pt x="2058987" y="817562"/>
                  </a:moveTo>
                  <a:lnTo>
                    <a:pt x="2058987" y="944562"/>
                  </a:lnTo>
                  <a:lnTo>
                    <a:pt x="2185987" y="944562"/>
                  </a:lnTo>
                  <a:lnTo>
                    <a:pt x="2185987" y="817562"/>
                  </a:lnTo>
                  <a:lnTo>
                    <a:pt x="2058987" y="817562"/>
                  </a:lnTo>
                  <a:close/>
                  <a:moveTo>
                    <a:pt x="1855787" y="817562"/>
                  </a:moveTo>
                  <a:lnTo>
                    <a:pt x="1855787" y="944562"/>
                  </a:lnTo>
                  <a:lnTo>
                    <a:pt x="1982787" y="944562"/>
                  </a:lnTo>
                  <a:lnTo>
                    <a:pt x="1982787" y="817562"/>
                  </a:lnTo>
                  <a:lnTo>
                    <a:pt x="1855787" y="817562"/>
                  </a:lnTo>
                  <a:close/>
                  <a:moveTo>
                    <a:pt x="1271587" y="817562"/>
                  </a:moveTo>
                  <a:lnTo>
                    <a:pt x="1271587" y="944562"/>
                  </a:lnTo>
                  <a:lnTo>
                    <a:pt x="1398587" y="944562"/>
                  </a:lnTo>
                  <a:lnTo>
                    <a:pt x="1398587" y="817562"/>
                  </a:lnTo>
                  <a:lnTo>
                    <a:pt x="1271587" y="817562"/>
                  </a:lnTo>
                  <a:close/>
                  <a:moveTo>
                    <a:pt x="1068387" y="817562"/>
                  </a:moveTo>
                  <a:lnTo>
                    <a:pt x="1068387" y="944562"/>
                  </a:lnTo>
                  <a:lnTo>
                    <a:pt x="1195387" y="944562"/>
                  </a:lnTo>
                  <a:lnTo>
                    <a:pt x="1195387" y="817562"/>
                  </a:lnTo>
                  <a:lnTo>
                    <a:pt x="1068387" y="817562"/>
                  </a:lnTo>
                  <a:close/>
                  <a:moveTo>
                    <a:pt x="484187" y="817562"/>
                  </a:moveTo>
                  <a:lnTo>
                    <a:pt x="484187" y="944562"/>
                  </a:lnTo>
                  <a:lnTo>
                    <a:pt x="612775" y="944562"/>
                  </a:lnTo>
                  <a:lnTo>
                    <a:pt x="612775" y="817562"/>
                  </a:lnTo>
                  <a:lnTo>
                    <a:pt x="484187" y="817562"/>
                  </a:lnTo>
                  <a:close/>
                  <a:moveTo>
                    <a:pt x="280987" y="817562"/>
                  </a:moveTo>
                  <a:lnTo>
                    <a:pt x="280987" y="944562"/>
                  </a:lnTo>
                  <a:lnTo>
                    <a:pt x="407987" y="944562"/>
                  </a:lnTo>
                  <a:lnTo>
                    <a:pt x="407987" y="817562"/>
                  </a:lnTo>
                  <a:lnTo>
                    <a:pt x="280987" y="817562"/>
                  </a:lnTo>
                  <a:close/>
                  <a:moveTo>
                    <a:pt x="2058987" y="604837"/>
                  </a:moveTo>
                  <a:lnTo>
                    <a:pt x="2058987" y="731837"/>
                  </a:lnTo>
                  <a:lnTo>
                    <a:pt x="2185987" y="731837"/>
                  </a:lnTo>
                  <a:lnTo>
                    <a:pt x="2185987" y="604837"/>
                  </a:lnTo>
                  <a:lnTo>
                    <a:pt x="2058987" y="604837"/>
                  </a:lnTo>
                  <a:close/>
                  <a:moveTo>
                    <a:pt x="1855787" y="604837"/>
                  </a:moveTo>
                  <a:lnTo>
                    <a:pt x="1855787" y="731837"/>
                  </a:lnTo>
                  <a:lnTo>
                    <a:pt x="1982787" y="731837"/>
                  </a:lnTo>
                  <a:lnTo>
                    <a:pt x="1982787" y="604837"/>
                  </a:lnTo>
                  <a:lnTo>
                    <a:pt x="1855787" y="604837"/>
                  </a:lnTo>
                  <a:close/>
                  <a:moveTo>
                    <a:pt x="1271587" y="604837"/>
                  </a:moveTo>
                  <a:lnTo>
                    <a:pt x="1271587" y="731837"/>
                  </a:lnTo>
                  <a:lnTo>
                    <a:pt x="1398587" y="731837"/>
                  </a:lnTo>
                  <a:lnTo>
                    <a:pt x="1398587" y="604837"/>
                  </a:lnTo>
                  <a:lnTo>
                    <a:pt x="1271587" y="604837"/>
                  </a:lnTo>
                  <a:close/>
                  <a:moveTo>
                    <a:pt x="1068387" y="604837"/>
                  </a:moveTo>
                  <a:lnTo>
                    <a:pt x="1068387" y="731837"/>
                  </a:lnTo>
                  <a:lnTo>
                    <a:pt x="1195387" y="731837"/>
                  </a:lnTo>
                  <a:lnTo>
                    <a:pt x="1195387" y="604837"/>
                  </a:lnTo>
                  <a:lnTo>
                    <a:pt x="1068387" y="604837"/>
                  </a:lnTo>
                  <a:close/>
                  <a:moveTo>
                    <a:pt x="484187" y="604837"/>
                  </a:moveTo>
                  <a:lnTo>
                    <a:pt x="484187" y="731837"/>
                  </a:lnTo>
                  <a:lnTo>
                    <a:pt x="612775" y="731837"/>
                  </a:lnTo>
                  <a:lnTo>
                    <a:pt x="612775" y="604837"/>
                  </a:lnTo>
                  <a:lnTo>
                    <a:pt x="484187" y="604837"/>
                  </a:lnTo>
                  <a:close/>
                  <a:moveTo>
                    <a:pt x="280987" y="604837"/>
                  </a:moveTo>
                  <a:lnTo>
                    <a:pt x="280987" y="731837"/>
                  </a:lnTo>
                  <a:lnTo>
                    <a:pt x="407987" y="731837"/>
                  </a:lnTo>
                  <a:lnTo>
                    <a:pt x="407987" y="604837"/>
                  </a:lnTo>
                  <a:lnTo>
                    <a:pt x="280987" y="604837"/>
                  </a:lnTo>
                  <a:close/>
                  <a:moveTo>
                    <a:pt x="1231588" y="82550"/>
                  </a:moveTo>
                  <a:lnTo>
                    <a:pt x="1229372" y="82869"/>
                  </a:lnTo>
                  <a:lnTo>
                    <a:pt x="1227156" y="83507"/>
                  </a:lnTo>
                  <a:lnTo>
                    <a:pt x="1224940" y="84145"/>
                  </a:lnTo>
                  <a:lnTo>
                    <a:pt x="1221458" y="86377"/>
                  </a:lnTo>
                  <a:lnTo>
                    <a:pt x="1217659" y="88928"/>
                  </a:lnTo>
                  <a:lnTo>
                    <a:pt x="1215443" y="92755"/>
                  </a:lnTo>
                  <a:lnTo>
                    <a:pt x="1213227" y="96263"/>
                  </a:lnTo>
                  <a:lnTo>
                    <a:pt x="1212594" y="98495"/>
                  </a:lnTo>
                  <a:lnTo>
                    <a:pt x="1211644" y="100408"/>
                  </a:lnTo>
                  <a:lnTo>
                    <a:pt x="1211327" y="102641"/>
                  </a:lnTo>
                  <a:lnTo>
                    <a:pt x="1211327" y="104873"/>
                  </a:lnTo>
                  <a:lnTo>
                    <a:pt x="1211327" y="168652"/>
                  </a:lnTo>
                  <a:lnTo>
                    <a:pt x="1148330" y="168652"/>
                  </a:lnTo>
                  <a:lnTo>
                    <a:pt x="1145798" y="168652"/>
                  </a:lnTo>
                  <a:lnTo>
                    <a:pt x="1143582" y="169290"/>
                  </a:lnTo>
                  <a:lnTo>
                    <a:pt x="1141366" y="169928"/>
                  </a:lnTo>
                  <a:lnTo>
                    <a:pt x="1139150" y="170566"/>
                  </a:lnTo>
                  <a:lnTo>
                    <a:pt x="1135667" y="172798"/>
                  </a:lnTo>
                  <a:lnTo>
                    <a:pt x="1132502" y="175349"/>
                  </a:lnTo>
                  <a:lnTo>
                    <a:pt x="1129653" y="178538"/>
                  </a:lnTo>
                  <a:lnTo>
                    <a:pt x="1127437" y="182684"/>
                  </a:lnTo>
                  <a:lnTo>
                    <a:pt x="1126804" y="184597"/>
                  </a:lnTo>
                  <a:lnTo>
                    <a:pt x="1126487" y="186829"/>
                  </a:lnTo>
                  <a:lnTo>
                    <a:pt x="1126170" y="189062"/>
                  </a:lnTo>
                  <a:lnTo>
                    <a:pt x="1125537" y="191294"/>
                  </a:lnTo>
                  <a:lnTo>
                    <a:pt x="1126170" y="193845"/>
                  </a:lnTo>
                  <a:lnTo>
                    <a:pt x="1126487" y="195759"/>
                  </a:lnTo>
                  <a:lnTo>
                    <a:pt x="1126804" y="197991"/>
                  </a:lnTo>
                  <a:lnTo>
                    <a:pt x="1127437" y="199904"/>
                  </a:lnTo>
                  <a:lnTo>
                    <a:pt x="1129653" y="203731"/>
                  </a:lnTo>
                  <a:lnTo>
                    <a:pt x="1132502" y="207239"/>
                  </a:lnTo>
                  <a:lnTo>
                    <a:pt x="1135667" y="210109"/>
                  </a:lnTo>
                  <a:lnTo>
                    <a:pt x="1139150" y="212022"/>
                  </a:lnTo>
                  <a:lnTo>
                    <a:pt x="1141366" y="212979"/>
                  </a:lnTo>
                  <a:lnTo>
                    <a:pt x="1143582" y="213298"/>
                  </a:lnTo>
                  <a:lnTo>
                    <a:pt x="1145798" y="213617"/>
                  </a:lnTo>
                  <a:lnTo>
                    <a:pt x="1148330" y="213617"/>
                  </a:lnTo>
                  <a:lnTo>
                    <a:pt x="1211327" y="213617"/>
                  </a:lnTo>
                  <a:lnTo>
                    <a:pt x="1211327" y="277396"/>
                  </a:lnTo>
                  <a:lnTo>
                    <a:pt x="1211327" y="279629"/>
                  </a:lnTo>
                  <a:lnTo>
                    <a:pt x="1211644" y="281861"/>
                  </a:lnTo>
                  <a:lnTo>
                    <a:pt x="1212594" y="284093"/>
                  </a:lnTo>
                  <a:lnTo>
                    <a:pt x="1213227" y="286325"/>
                  </a:lnTo>
                  <a:lnTo>
                    <a:pt x="1215443" y="290152"/>
                  </a:lnTo>
                  <a:lnTo>
                    <a:pt x="1217659" y="293341"/>
                  </a:lnTo>
                  <a:lnTo>
                    <a:pt x="1221458" y="296211"/>
                  </a:lnTo>
                  <a:lnTo>
                    <a:pt x="1224940" y="298125"/>
                  </a:lnTo>
                  <a:lnTo>
                    <a:pt x="1227156" y="298762"/>
                  </a:lnTo>
                  <a:lnTo>
                    <a:pt x="1229372" y="299400"/>
                  </a:lnTo>
                  <a:lnTo>
                    <a:pt x="1231588" y="300038"/>
                  </a:lnTo>
                  <a:lnTo>
                    <a:pt x="1233487" y="300038"/>
                  </a:lnTo>
                  <a:lnTo>
                    <a:pt x="1236020" y="300038"/>
                  </a:lnTo>
                  <a:lnTo>
                    <a:pt x="1238236" y="299400"/>
                  </a:lnTo>
                  <a:lnTo>
                    <a:pt x="1240452" y="298762"/>
                  </a:lnTo>
                  <a:lnTo>
                    <a:pt x="1242668" y="298125"/>
                  </a:lnTo>
                  <a:lnTo>
                    <a:pt x="1246150" y="296211"/>
                  </a:lnTo>
                  <a:lnTo>
                    <a:pt x="1249316" y="293341"/>
                  </a:lnTo>
                  <a:lnTo>
                    <a:pt x="1252165" y="290152"/>
                  </a:lnTo>
                  <a:lnTo>
                    <a:pt x="1254381" y="286325"/>
                  </a:lnTo>
                  <a:lnTo>
                    <a:pt x="1255014" y="284093"/>
                  </a:lnTo>
                  <a:lnTo>
                    <a:pt x="1255331" y="281861"/>
                  </a:lnTo>
                  <a:lnTo>
                    <a:pt x="1255964" y="279629"/>
                  </a:lnTo>
                  <a:lnTo>
                    <a:pt x="1256280" y="277396"/>
                  </a:lnTo>
                  <a:lnTo>
                    <a:pt x="1256280" y="213617"/>
                  </a:lnTo>
                  <a:lnTo>
                    <a:pt x="1319277" y="213617"/>
                  </a:lnTo>
                  <a:lnTo>
                    <a:pt x="1321493" y="213617"/>
                  </a:lnTo>
                  <a:lnTo>
                    <a:pt x="1324026" y="213298"/>
                  </a:lnTo>
                  <a:lnTo>
                    <a:pt x="1326242" y="212979"/>
                  </a:lnTo>
                  <a:lnTo>
                    <a:pt x="1327825" y="212022"/>
                  </a:lnTo>
                  <a:lnTo>
                    <a:pt x="1331940" y="210109"/>
                  </a:lnTo>
                  <a:lnTo>
                    <a:pt x="1335106" y="207239"/>
                  </a:lnTo>
                  <a:lnTo>
                    <a:pt x="1337955" y="203731"/>
                  </a:lnTo>
                  <a:lnTo>
                    <a:pt x="1339854" y="199904"/>
                  </a:lnTo>
                  <a:lnTo>
                    <a:pt x="1340804" y="197991"/>
                  </a:lnTo>
                  <a:lnTo>
                    <a:pt x="1341121" y="195759"/>
                  </a:lnTo>
                  <a:lnTo>
                    <a:pt x="1341437" y="193845"/>
                  </a:lnTo>
                  <a:lnTo>
                    <a:pt x="1341437" y="191294"/>
                  </a:lnTo>
                  <a:lnTo>
                    <a:pt x="1341437" y="189062"/>
                  </a:lnTo>
                  <a:lnTo>
                    <a:pt x="1341121" y="186829"/>
                  </a:lnTo>
                  <a:lnTo>
                    <a:pt x="1340804" y="184597"/>
                  </a:lnTo>
                  <a:lnTo>
                    <a:pt x="1339854" y="182684"/>
                  </a:lnTo>
                  <a:lnTo>
                    <a:pt x="1337955" y="178538"/>
                  </a:lnTo>
                  <a:lnTo>
                    <a:pt x="1335106" y="175349"/>
                  </a:lnTo>
                  <a:lnTo>
                    <a:pt x="1331940" y="172798"/>
                  </a:lnTo>
                  <a:lnTo>
                    <a:pt x="1327825" y="170566"/>
                  </a:lnTo>
                  <a:lnTo>
                    <a:pt x="1326242" y="169928"/>
                  </a:lnTo>
                  <a:lnTo>
                    <a:pt x="1324026" y="169290"/>
                  </a:lnTo>
                  <a:lnTo>
                    <a:pt x="1321493" y="168652"/>
                  </a:lnTo>
                  <a:lnTo>
                    <a:pt x="1319277" y="168652"/>
                  </a:lnTo>
                  <a:lnTo>
                    <a:pt x="1256280" y="168652"/>
                  </a:lnTo>
                  <a:lnTo>
                    <a:pt x="1256280" y="104873"/>
                  </a:lnTo>
                  <a:lnTo>
                    <a:pt x="1255964" y="102641"/>
                  </a:lnTo>
                  <a:lnTo>
                    <a:pt x="1255331" y="100408"/>
                  </a:lnTo>
                  <a:lnTo>
                    <a:pt x="1255014" y="98495"/>
                  </a:lnTo>
                  <a:lnTo>
                    <a:pt x="1254381" y="96263"/>
                  </a:lnTo>
                  <a:lnTo>
                    <a:pt x="1252165" y="92755"/>
                  </a:lnTo>
                  <a:lnTo>
                    <a:pt x="1249316" y="88928"/>
                  </a:lnTo>
                  <a:lnTo>
                    <a:pt x="1246150" y="86377"/>
                  </a:lnTo>
                  <a:lnTo>
                    <a:pt x="1242668" y="84145"/>
                  </a:lnTo>
                  <a:lnTo>
                    <a:pt x="1240452" y="83507"/>
                  </a:lnTo>
                  <a:lnTo>
                    <a:pt x="1238236" y="82869"/>
                  </a:lnTo>
                  <a:lnTo>
                    <a:pt x="1236020" y="82550"/>
                  </a:lnTo>
                  <a:lnTo>
                    <a:pt x="1233487" y="82550"/>
                  </a:lnTo>
                  <a:lnTo>
                    <a:pt x="1231588" y="82550"/>
                  </a:lnTo>
                  <a:close/>
                  <a:moveTo>
                    <a:pt x="830580" y="0"/>
                  </a:moveTo>
                  <a:lnTo>
                    <a:pt x="837248" y="0"/>
                  </a:lnTo>
                  <a:lnTo>
                    <a:pt x="1630998" y="0"/>
                  </a:lnTo>
                  <a:lnTo>
                    <a:pt x="1637666" y="0"/>
                  </a:lnTo>
                  <a:lnTo>
                    <a:pt x="1644333" y="953"/>
                  </a:lnTo>
                  <a:lnTo>
                    <a:pt x="1650683" y="1588"/>
                  </a:lnTo>
                  <a:lnTo>
                    <a:pt x="1657033" y="3176"/>
                  </a:lnTo>
                  <a:lnTo>
                    <a:pt x="1663383" y="4447"/>
                  </a:lnTo>
                  <a:lnTo>
                    <a:pt x="1669733" y="6352"/>
                  </a:lnTo>
                  <a:lnTo>
                    <a:pt x="1675448" y="8576"/>
                  </a:lnTo>
                  <a:lnTo>
                    <a:pt x="1681481" y="10481"/>
                  </a:lnTo>
                  <a:lnTo>
                    <a:pt x="1687196" y="13340"/>
                  </a:lnTo>
                  <a:lnTo>
                    <a:pt x="1692593" y="16199"/>
                  </a:lnTo>
                  <a:lnTo>
                    <a:pt x="1697991" y="19692"/>
                  </a:lnTo>
                  <a:lnTo>
                    <a:pt x="1703388" y="23186"/>
                  </a:lnTo>
                  <a:lnTo>
                    <a:pt x="1708468" y="26680"/>
                  </a:lnTo>
                  <a:lnTo>
                    <a:pt x="1713548" y="31127"/>
                  </a:lnTo>
                  <a:lnTo>
                    <a:pt x="1718311" y="34938"/>
                  </a:lnTo>
                  <a:lnTo>
                    <a:pt x="1722438" y="39702"/>
                  </a:lnTo>
                  <a:lnTo>
                    <a:pt x="1726883" y="44467"/>
                  </a:lnTo>
                  <a:lnTo>
                    <a:pt x="1731328" y="48913"/>
                  </a:lnTo>
                  <a:lnTo>
                    <a:pt x="1735138" y="54313"/>
                  </a:lnTo>
                  <a:lnTo>
                    <a:pt x="1738631" y="59395"/>
                  </a:lnTo>
                  <a:lnTo>
                    <a:pt x="1742123" y="65112"/>
                  </a:lnTo>
                  <a:lnTo>
                    <a:pt x="1745298" y="70511"/>
                  </a:lnTo>
                  <a:lnTo>
                    <a:pt x="1748156" y="76864"/>
                  </a:lnTo>
                  <a:lnTo>
                    <a:pt x="1750696" y="82581"/>
                  </a:lnTo>
                  <a:lnTo>
                    <a:pt x="1752918" y="88616"/>
                  </a:lnTo>
                  <a:lnTo>
                    <a:pt x="1754823" y="94968"/>
                  </a:lnTo>
                  <a:lnTo>
                    <a:pt x="1756728" y="101321"/>
                  </a:lnTo>
                  <a:lnTo>
                    <a:pt x="1758316" y="107991"/>
                  </a:lnTo>
                  <a:lnTo>
                    <a:pt x="1759268" y="114661"/>
                  </a:lnTo>
                  <a:lnTo>
                    <a:pt x="1759903" y="121331"/>
                  </a:lnTo>
                  <a:lnTo>
                    <a:pt x="1760538" y="128318"/>
                  </a:lnTo>
                  <a:lnTo>
                    <a:pt x="1760538" y="134988"/>
                  </a:lnTo>
                  <a:lnTo>
                    <a:pt x="1760538" y="382096"/>
                  </a:lnTo>
                  <a:lnTo>
                    <a:pt x="2193291" y="382096"/>
                  </a:lnTo>
                  <a:lnTo>
                    <a:pt x="2199641" y="382096"/>
                  </a:lnTo>
                  <a:lnTo>
                    <a:pt x="2206626" y="382731"/>
                  </a:lnTo>
                  <a:lnTo>
                    <a:pt x="2212976" y="383684"/>
                  </a:lnTo>
                  <a:lnTo>
                    <a:pt x="2219643" y="384637"/>
                  </a:lnTo>
                  <a:lnTo>
                    <a:pt x="2225676" y="386543"/>
                  </a:lnTo>
                  <a:lnTo>
                    <a:pt x="2231708" y="388131"/>
                  </a:lnTo>
                  <a:lnTo>
                    <a:pt x="2237741" y="390354"/>
                  </a:lnTo>
                  <a:lnTo>
                    <a:pt x="2243456" y="392895"/>
                  </a:lnTo>
                  <a:lnTo>
                    <a:pt x="2249488" y="395436"/>
                  </a:lnTo>
                  <a:lnTo>
                    <a:pt x="2255203" y="398612"/>
                  </a:lnTo>
                  <a:lnTo>
                    <a:pt x="2260601" y="402106"/>
                  </a:lnTo>
                  <a:lnTo>
                    <a:pt x="2265998" y="405600"/>
                  </a:lnTo>
                  <a:lnTo>
                    <a:pt x="2271078" y="409094"/>
                  </a:lnTo>
                  <a:lnTo>
                    <a:pt x="2275841" y="413540"/>
                  </a:lnTo>
                  <a:lnTo>
                    <a:pt x="2280603" y="417669"/>
                  </a:lnTo>
                  <a:lnTo>
                    <a:pt x="2285048" y="422116"/>
                  </a:lnTo>
                  <a:lnTo>
                    <a:pt x="2289175" y="427198"/>
                  </a:lnTo>
                  <a:lnTo>
                    <a:pt x="2293621" y="431962"/>
                  </a:lnTo>
                  <a:lnTo>
                    <a:pt x="2297113" y="437362"/>
                  </a:lnTo>
                  <a:lnTo>
                    <a:pt x="2300923" y="442444"/>
                  </a:lnTo>
                  <a:lnTo>
                    <a:pt x="2304415" y="447843"/>
                  </a:lnTo>
                  <a:lnTo>
                    <a:pt x="2307273" y="453878"/>
                  </a:lnTo>
                  <a:lnTo>
                    <a:pt x="2310131" y="459913"/>
                  </a:lnTo>
                  <a:lnTo>
                    <a:pt x="2312988" y="465947"/>
                  </a:lnTo>
                  <a:lnTo>
                    <a:pt x="2315211" y="471982"/>
                  </a:lnTo>
                  <a:lnTo>
                    <a:pt x="2317433" y="478652"/>
                  </a:lnTo>
                  <a:lnTo>
                    <a:pt x="2319021" y="485005"/>
                  </a:lnTo>
                  <a:lnTo>
                    <a:pt x="2320608" y="491675"/>
                  </a:lnTo>
                  <a:lnTo>
                    <a:pt x="2321561" y="498345"/>
                  </a:lnTo>
                  <a:lnTo>
                    <a:pt x="2322195" y="505332"/>
                  </a:lnTo>
                  <a:lnTo>
                    <a:pt x="2322831" y="512320"/>
                  </a:lnTo>
                  <a:lnTo>
                    <a:pt x="2323148" y="519307"/>
                  </a:lnTo>
                  <a:lnTo>
                    <a:pt x="2323148" y="1505833"/>
                  </a:lnTo>
                  <a:lnTo>
                    <a:pt x="2322831" y="1509644"/>
                  </a:lnTo>
                  <a:lnTo>
                    <a:pt x="2322195" y="1512820"/>
                  </a:lnTo>
                  <a:lnTo>
                    <a:pt x="2462213" y="1512820"/>
                  </a:lnTo>
                  <a:lnTo>
                    <a:pt x="2462213" y="1693863"/>
                  </a:lnTo>
                  <a:lnTo>
                    <a:pt x="0" y="1693863"/>
                  </a:lnTo>
                  <a:lnTo>
                    <a:pt x="0" y="1512820"/>
                  </a:lnTo>
                  <a:lnTo>
                    <a:pt x="133985" y="1512820"/>
                  </a:lnTo>
                  <a:lnTo>
                    <a:pt x="133668" y="1509644"/>
                  </a:lnTo>
                  <a:lnTo>
                    <a:pt x="133350" y="1505833"/>
                  </a:lnTo>
                  <a:lnTo>
                    <a:pt x="133350" y="519307"/>
                  </a:lnTo>
                  <a:lnTo>
                    <a:pt x="133350" y="512320"/>
                  </a:lnTo>
                  <a:lnTo>
                    <a:pt x="133985" y="505332"/>
                  </a:lnTo>
                  <a:lnTo>
                    <a:pt x="134620" y="498345"/>
                  </a:lnTo>
                  <a:lnTo>
                    <a:pt x="135890" y="491675"/>
                  </a:lnTo>
                  <a:lnTo>
                    <a:pt x="137160" y="485005"/>
                  </a:lnTo>
                  <a:lnTo>
                    <a:pt x="139065" y="478652"/>
                  </a:lnTo>
                  <a:lnTo>
                    <a:pt x="141288" y="471982"/>
                  </a:lnTo>
                  <a:lnTo>
                    <a:pt x="143193" y="465947"/>
                  </a:lnTo>
                  <a:lnTo>
                    <a:pt x="145733" y="459913"/>
                  </a:lnTo>
                  <a:lnTo>
                    <a:pt x="148590" y="453878"/>
                  </a:lnTo>
                  <a:lnTo>
                    <a:pt x="152083" y="447843"/>
                  </a:lnTo>
                  <a:lnTo>
                    <a:pt x="155258" y="442444"/>
                  </a:lnTo>
                  <a:lnTo>
                    <a:pt x="159068" y="437362"/>
                  </a:lnTo>
                  <a:lnTo>
                    <a:pt x="162878" y="431962"/>
                  </a:lnTo>
                  <a:lnTo>
                    <a:pt x="167005" y="427198"/>
                  </a:lnTo>
                  <a:lnTo>
                    <a:pt x="171450" y="422116"/>
                  </a:lnTo>
                  <a:lnTo>
                    <a:pt x="175578" y="417669"/>
                  </a:lnTo>
                  <a:lnTo>
                    <a:pt x="180340" y="413540"/>
                  </a:lnTo>
                  <a:lnTo>
                    <a:pt x="185420" y="409094"/>
                  </a:lnTo>
                  <a:lnTo>
                    <a:pt x="190500" y="405600"/>
                  </a:lnTo>
                  <a:lnTo>
                    <a:pt x="195898" y="402106"/>
                  </a:lnTo>
                  <a:lnTo>
                    <a:pt x="201295" y="398612"/>
                  </a:lnTo>
                  <a:lnTo>
                    <a:pt x="206693" y="395436"/>
                  </a:lnTo>
                  <a:lnTo>
                    <a:pt x="212408" y="392895"/>
                  </a:lnTo>
                  <a:lnTo>
                    <a:pt x="218440" y="390354"/>
                  </a:lnTo>
                  <a:lnTo>
                    <a:pt x="224155" y="388131"/>
                  </a:lnTo>
                  <a:lnTo>
                    <a:pt x="230823" y="386543"/>
                  </a:lnTo>
                  <a:lnTo>
                    <a:pt x="236855" y="384637"/>
                  </a:lnTo>
                  <a:lnTo>
                    <a:pt x="243205" y="383684"/>
                  </a:lnTo>
                  <a:lnTo>
                    <a:pt x="249873" y="382731"/>
                  </a:lnTo>
                  <a:lnTo>
                    <a:pt x="256223" y="382096"/>
                  </a:lnTo>
                  <a:lnTo>
                    <a:pt x="263208" y="382096"/>
                  </a:lnTo>
                  <a:lnTo>
                    <a:pt x="707073" y="382096"/>
                  </a:lnTo>
                  <a:lnTo>
                    <a:pt x="707073" y="134988"/>
                  </a:lnTo>
                  <a:lnTo>
                    <a:pt x="707390" y="128318"/>
                  </a:lnTo>
                  <a:lnTo>
                    <a:pt x="707708" y="121331"/>
                  </a:lnTo>
                  <a:lnTo>
                    <a:pt x="708978" y="114661"/>
                  </a:lnTo>
                  <a:lnTo>
                    <a:pt x="709930" y="107991"/>
                  </a:lnTo>
                  <a:lnTo>
                    <a:pt x="711518" y="101321"/>
                  </a:lnTo>
                  <a:lnTo>
                    <a:pt x="713105" y="94968"/>
                  </a:lnTo>
                  <a:lnTo>
                    <a:pt x="715010" y="88616"/>
                  </a:lnTo>
                  <a:lnTo>
                    <a:pt x="717550" y="82581"/>
                  </a:lnTo>
                  <a:lnTo>
                    <a:pt x="720090" y="76864"/>
                  </a:lnTo>
                  <a:lnTo>
                    <a:pt x="722948" y="70511"/>
                  </a:lnTo>
                  <a:lnTo>
                    <a:pt x="726123" y="65112"/>
                  </a:lnTo>
                  <a:lnTo>
                    <a:pt x="729298" y="59395"/>
                  </a:lnTo>
                  <a:lnTo>
                    <a:pt x="733108" y="54313"/>
                  </a:lnTo>
                  <a:lnTo>
                    <a:pt x="736918" y="48913"/>
                  </a:lnTo>
                  <a:lnTo>
                    <a:pt x="741045" y="44467"/>
                  </a:lnTo>
                  <a:lnTo>
                    <a:pt x="745173" y="39702"/>
                  </a:lnTo>
                  <a:lnTo>
                    <a:pt x="749935" y="34938"/>
                  </a:lnTo>
                  <a:lnTo>
                    <a:pt x="754698" y="31127"/>
                  </a:lnTo>
                  <a:lnTo>
                    <a:pt x="759143" y="26680"/>
                  </a:lnTo>
                  <a:lnTo>
                    <a:pt x="764540" y="23186"/>
                  </a:lnTo>
                  <a:lnTo>
                    <a:pt x="769620" y="19692"/>
                  </a:lnTo>
                  <a:lnTo>
                    <a:pt x="775018" y="16199"/>
                  </a:lnTo>
                  <a:lnTo>
                    <a:pt x="780733" y="13340"/>
                  </a:lnTo>
                  <a:lnTo>
                    <a:pt x="786448" y="10481"/>
                  </a:lnTo>
                  <a:lnTo>
                    <a:pt x="792480" y="8576"/>
                  </a:lnTo>
                  <a:lnTo>
                    <a:pt x="798513" y="6352"/>
                  </a:lnTo>
                  <a:lnTo>
                    <a:pt x="804545" y="4447"/>
                  </a:lnTo>
                  <a:lnTo>
                    <a:pt x="810895" y="3176"/>
                  </a:lnTo>
                  <a:lnTo>
                    <a:pt x="817563" y="1588"/>
                  </a:lnTo>
                  <a:lnTo>
                    <a:pt x="823913" y="953"/>
                  </a:lnTo>
                  <a:lnTo>
                    <a:pt x="830580" y="0"/>
                  </a:lnTo>
                  <a:close/>
                </a:path>
              </a:pathLst>
            </a:custGeom>
            <a:solidFill>
              <a:srgbClr val="666666">
                <a:lumMod val="40000"/>
                <a:lumOff val="60000"/>
              </a:srgb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400" i="0" u="none" strike="noStrike" kern="1200" cap="none" spc="0" normalizeH="0" baseline="0" noProof="0">
                <a:ln>
                  <a:noFill/>
                </a:ln>
                <a:effectLst/>
                <a:uLnTx/>
                <a:uFillTx/>
                <a:latin typeface="+mn-lt"/>
                <a:ea typeface="+mn-ea"/>
                <a:cs typeface="Arial" pitchFamily="34" charset="0"/>
              </a:endParaRPr>
            </a:p>
          </p:txBody>
        </p:sp>
        <p:sp>
          <p:nvSpPr>
            <p:cNvPr id="201" name="矩形 200">
              <a:extLst>
                <a:ext uri="{FF2B5EF4-FFF2-40B4-BE49-F238E27FC236}">
                  <a16:creationId xmlns="" xmlns:a16="http://schemas.microsoft.com/office/drawing/2014/main" id="{80A4B16D-0E95-4395-BE4B-230F5AE822B7}"/>
                </a:ext>
              </a:extLst>
            </p:cNvPr>
            <p:cNvSpPr/>
            <p:nvPr/>
          </p:nvSpPr>
          <p:spPr bwMode="gray">
            <a:xfrm>
              <a:off x="4386706" y="3547634"/>
              <a:ext cx="1288165" cy="47949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i="0" u="none" strike="noStrike" kern="0" cap="none" spc="0" normalizeH="0" baseline="0" noProof="0" dirty="0">
                  <a:ln>
                    <a:noFill/>
                  </a:ln>
                  <a:effectLst/>
                  <a:uLnTx/>
                  <a:uFillTx/>
                </a:rPr>
                <a:t>VIP</a:t>
              </a:r>
              <a:r>
                <a:rPr kumimoji="0" lang="zh-CN" altLang="en-US" sz="1200" i="0" u="none" strike="noStrike" kern="0" cap="none" spc="0" normalizeH="0" baseline="0" noProof="0" dirty="0">
                  <a:ln>
                    <a:noFill/>
                  </a:ln>
                  <a:effectLst/>
                  <a:uLnTx/>
                  <a:uFillTx/>
                </a:rPr>
                <a:t>业务</a:t>
              </a:r>
            </a:p>
          </p:txBody>
        </p:sp>
      </p:grpSp>
      <p:sp>
        <p:nvSpPr>
          <p:cNvPr id="195" name="矩形 194">
            <a:extLst>
              <a:ext uri="{FF2B5EF4-FFF2-40B4-BE49-F238E27FC236}">
                <a16:creationId xmlns="" xmlns:a16="http://schemas.microsoft.com/office/drawing/2014/main" id="{8C733226-5FFC-4433-9164-A4ED30483351}"/>
              </a:ext>
            </a:extLst>
          </p:cNvPr>
          <p:cNvSpPr/>
          <p:nvPr/>
        </p:nvSpPr>
        <p:spPr bwMode="gray">
          <a:xfrm>
            <a:off x="6213616" y="1613276"/>
            <a:ext cx="4387740" cy="307777"/>
          </a:xfrm>
          <a:prstGeom prst="rect">
            <a:avLst/>
          </a:prstGeom>
        </p:spPr>
        <p:txBody>
          <a:bodyPr wrap="none">
            <a:spAutoFit/>
          </a:bodyPr>
          <a:lstStyle/>
          <a:p>
            <a:pPr lvl="0" defTabSz="1219272"/>
            <a:r>
              <a:rPr lang="en-US" altLang="zh-CN" sz="1400" kern="0" dirty="0"/>
              <a:t>1</a:t>
            </a:r>
            <a:r>
              <a:rPr lang="zh-CN" altLang="en-US" sz="1400" kern="0" dirty="0"/>
              <a:t>、新平台</a:t>
            </a:r>
            <a:r>
              <a:rPr lang="zh-CN" altLang="en-US" sz="1400" dirty="0"/>
              <a:t>：</a:t>
            </a:r>
            <a:r>
              <a:rPr lang="zh-CN" altLang="en-US" sz="1400" kern="0" dirty="0"/>
              <a:t>大容量全业务</a:t>
            </a:r>
            <a:r>
              <a:rPr lang="en-US" altLang="zh-CN" sz="1400" kern="0" dirty="0"/>
              <a:t>——</a:t>
            </a:r>
            <a:r>
              <a:rPr lang="en-US" altLang="zh-CN" sz="1400" kern="0" dirty="0" err="1"/>
              <a:t>NetEngine</a:t>
            </a:r>
            <a:r>
              <a:rPr lang="zh-CN" altLang="en-US" sz="1400" kern="0" dirty="0"/>
              <a:t>系列路由器</a:t>
            </a:r>
          </a:p>
        </p:txBody>
      </p:sp>
      <p:sp>
        <p:nvSpPr>
          <p:cNvPr id="202" name="圆角矩形 20">
            <a:extLst>
              <a:ext uri="{FF2B5EF4-FFF2-40B4-BE49-F238E27FC236}">
                <a16:creationId xmlns="" xmlns:a16="http://schemas.microsoft.com/office/drawing/2014/main" id="{0E66462F-4F5B-427E-B553-EF0FEAD71CDC}"/>
              </a:ext>
            </a:extLst>
          </p:cNvPr>
          <p:cNvSpPr/>
          <p:nvPr/>
        </p:nvSpPr>
        <p:spPr bwMode="gray">
          <a:xfrm>
            <a:off x="5992270" y="1507368"/>
            <a:ext cx="5560535" cy="465731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solidFill>
            </a:endParaRPr>
          </a:p>
        </p:txBody>
      </p:sp>
      <p:sp>
        <p:nvSpPr>
          <p:cNvPr id="168" name="五边形 2">
            <a:extLst>
              <a:ext uri="{FF2B5EF4-FFF2-40B4-BE49-F238E27FC236}">
                <a16:creationId xmlns="" xmlns:a16="http://schemas.microsoft.com/office/drawing/2014/main" id="{3BBF918B-3606-4689-A2AC-CF34F2BF05B6}"/>
              </a:ext>
            </a:extLst>
          </p:cNvPr>
          <p:cNvSpPr/>
          <p:nvPr/>
        </p:nvSpPr>
        <p:spPr bwMode="gray">
          <a:xfrm>
            <a:off x="8199710" y="49524"/>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169" name="燕尾形 3">
            <a:extLst>
              <a:ext uri="{FF2B5EF4-FFF2-40B4-BE49-F238E27FC236}">
                <a16:creationId xmlns="" xmlns:a16="http://schemas.microsoft.com/office/drawing/2014/main" id="{3C4CC86D-4852-4B94-98C3-705B1E8333FA}"/>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燕尾形 3">
            <a:extLst>
              <a:ext uri="{FF2B5EF4-FFF2-40B4-BE49-F238E27FC236}">
                <a16:creationId xmlns="" xmlns:a16="http://schemas.microsoft.com/office/drawing/2014/main" id="{E73D0087-FD53-41FA-BB3F-05648BE65BB7}"/>
              </a:ext>
            </a:extLst>
          </p:cNvPr>
          <p:cNvSpPr/>
          <p:nvPr/>
        </p:nvSpPr>
        <p:spPr bwMode="gray">
          <a:xfrm>
            <a:off x="9319110" y="4952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81534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FBC86E-D3C0-4D3D-94C1-F9F89C5F77F2}"/>
              </a:ext>
            </a:extLst>
          </p:cNvPr>
          <p:cNvSpPr>
            <a:spLocks noGrp="1"/>
          </p:cNvSpPr>
          <p:nvPr>
            <p:ph type="title"/>
          </p:nvPr>
        </p:nvSpPr>
        <p:spPr bwMode="gray"/>
        <p:txBody>
          <a:bodyPr/>
          <a:lstStyle/>
          <a:p>
            <a:r>
              <a:rPr lang="zh-CN" altLang="en-US" dirty="0"/>
              <a:t>华为</a:t>
            </a:r>
            <a:r>
              <a:rPr lang="en-US" altLang="zh-CN" dirty="0" err="1"/>
              <a:t>iMaster</a:t>
            </a:r>
            <a:r>
              <a:rPr lang="en-US" altLang="zh-CN" dirty="0"/>
              <a:t> NCE-IP</a:t>
            </a:r>
            <a:r>
              <a:rPr lang="zh-CN" altLang="en-US" dirty="0"/>
              <a:t>控制器框架图</a:t>
            </a:r>
            <a:endParaRPr lang="en-US" dirty="0"/>
          </a:p>
        </p:txBody>
      </p:sp>
      <p:sp>
        <p:nvSpPr>
          <p:cNvPr id="4" name="圆角矩形 84">
            <a:extLst>
              <a:ext uri="{FF2B5EF4-FFF2-40B4-BE49-F238E27FC236}">
                <a16:creationId xmlns="" xmlns:a16="http://schemas.microsoft.com/office/drawing/2014/main" id="{D3E3D0BF-7DD9-445D-82F3-28DD3AAC78E2}"/>
              </a:ext>
            </a:extLst>
          </p:cNvPr>
          <p:cNvSpPr/>
          <p:nvPr/>
        </p:nvSpPr>
        <p:spPr bwMode="gray">
          <a:xfrm>
            <a:off x="1101997" y="1787763"/>
            <a:ext cx="10044407" cy="3753989"/>
          </a:xfrm>
          <a:prstGeom prst="roundRect">
            <a:avLst>
              <a:gd name="adj" fmla="val 1541"/>
            </a:avLst>
          </a:prstGeom>
          <a:noFill/>
          <a:ln w="19050" cap="flat" cmpd="sng" algn="ctr">
            <a:solidFill>
              <a:srgbClr val="30B5C5"/>
            </a:solidFill>
            <a:prstDash val="lgDash"/>
            <a:round/>
            <a:headEnd type="none" w="med" len="med"/>
            <a:tailEnd type="none" w="med" len="med"/>
          </a:ln>
          <a:effectLst/>
        </p:spPr>
        <p:txBody>
          <a:bodyPr vert="horz" wrap="square" lIns="91436" tIns="45718" rIns="91436" bIns="45718" numCol="1" rtlCol="0" anchor="t" anchorCtr="0" compatLnSpc="1">
            <a:prstTxWarp prst="textNoShape">
              <a:avLst/>
            </a:prstTxWarp>
          </a:bodyPr>
          <a:lstStyle/>
          <a:p>
            <a:pPr algn="ctr" defTabSz="801648"/>
            <a:endParaRPr lang="en-US"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100">
            <a:extLst>
              <a:ext uri="{FF2B5EF4-FFF2-40B4-BE49-F238E27FC236}">
                <a16:creationId xmlns="" xmlns:a16="http://schemas.microsoft.com/office/drawing/2014/main" id="{6BCF94F9-169D-4DB9-94ED-5A101C29A27D}"/>
              </a:ext>
            </a:extLst>
          </p:cNvPr>
          <p:cNvSpPr/>
          <p:nvPr/>
        </p:nvSpPr>
        <p:spPr bwMode="gray">
          <a:xfrm>
            <a:off x="3194517" y="2386405"/>
            <a:ext cx="3756579" cy="2509877"/>
          </a:xfrm>
          <a:prstGeom prst="rect">
            <a:avLst/>
          </a:prstGeom>
          <a:noFill/>
          <a:ln w="12700">
            <a:solidFill>
              <a:schemeClr val="bg1">
                <a:lumMod val="50000"/>
              </a:schemeClr>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t" anchorCtr="0" compatLnSpc="1">
            <a:prstTxWarp prst="textNoShape">
              <a:avLst/>
            </a:prstTxWarp>
          </a:bodyPr>
          <a:lstStyle/>
          <a:p>
            <a:pPr algn="ctr" fontAlgn="ctr">
              <a:buClr>
                <a:srgbClr val="CC9900"/>
              </a:buClr>
              <a:tabLst>
                <a:tab pos="241224" algn="l"/>
              </a:tabLst>
            </a:pPr>
            <a:r>
              <a:rPr lang="en-US" altLang="zh-CN" sz="1600" b="1" dirty="0" err="1">
                <a:latin typeface="Huawei Sans" panose="020C0503030203020204" pitchFamily="34" charset="0"/>
                <a:ea typeface="方正兰亭黑简体" panose="02000000000000000000" pitchFamily="2" charset="-122"/>
                <a:cs typeface="+mj-cs"/>
                <a:sym typeface="Huawei Sans" panose="020C0503030203020204" pitchFamily="34" charset="0"/>
              </a:rPr>
              <a:t>Manager&amp;Controller</a:t>
            </a:r>
            <a:endParaRPr lang="en-US" altLang="zh-CN" sz="16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8" name="矩形 125">
            <a:extLst>
              <a:ext uri="{FF2B5EF4-FFF2-40B4-BE49-F238E27FC236}">
                <a16:creationId xmlns="" xmlns:a16="http://schemas.microsoft.com/office/drawing/2014/main" id="{40A058FE-CB1F-4D9F-A148-8D94875A8780}"/>
              </a:ext>
            </a:extLst>
          </p:cNvPr>
          <p:cNvSpPr/>
          <p:nvPr/>
        </p:nvSpPr>
        <p:spPr bwMode="gray">
          <a:xfrm>
            <a:off x="3203640" y="1862181"/>
            <a:ext cx="7609595" cy="468000"/>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bodyPr>
          <a:lstStyle/>
          <a:p>
            <a:pPr font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北向接口</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2" name="圆角矩形 106">
            <a:extLst>
              <a:ext uri="{FF2B5EF4-FFF2-40B4-BE49-F238E27FC236}">
                <a16:creationId xmlns="" xmlns:a16="http://schemas.microsoft.com/office/drawing/2014/main" id="{28631644-F5AD-43D2-BC07-2C36058BE634}"/>
              </a:ext>
            </a:extLst>
          </p:cNvPr>
          <p:cNvSpPr/>
          <p:nvPr/>
        </p:nvSpPr>
        <p:spPr bwMode="gray">
          <a:xfrm>
            <a:off x="1106245" y="5621956"/>
            <a:ext cx="10040159" cy="550282"/>
          </a:xfrm>
          <a:prstGeom prst="roundRect">
            <a:avLst>
              <a:gd name="adj" fmla="val 3898"/>
            </a:avLst>
          </a:prstGeom>
          <a:noFill/>
          <a:ln w="3175" cap="flat" cmpd="sng" algn="ctr">
            <a:solidFill>
              <a:srgbClr val="B5B5B5"/>
            </a:solidFill>
            <a:prstDash val="lgDash"/>
            <a:roun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defTabSz="801648"/>
            <a:r>
              <a:rPr lang="zh-CN" altLang="en-US" sz="1800" b="1" dirty="0">
                <a:latin typeface="Huawei Sans" panose="020C0503030203020204" pitchFamily="34" charset="0"/>
                <a:ea typeface="方正兰亭黑简体" panose="02000000000000000000" pitchFamily="2" charset="-122"/>
                <a:cs typeface="+mj-cs"/>
                <a:sym typeface="Huawei Sans" panose="020C0503030203020204" pitchFamily="34" charset="0"/>
              </a:rPr>
              <a:t>网络设备</a:t>
            </a:r>
            <a:endParaRPr lang="en-US" altLang="zh-CN" sz="1800" b="1"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25" name="圆角矩形 111">
            <a:extLst>
              <a:ext uri="{FF2B5EF4-FFF2-40B4-BE49-F238E27FC236}">
                <a16:creationId xmlns="" xmlns:a16="http://schemas.microsoft.com/office/drawing/2014/main" id="{504FB8FA-1135-48B6-BCCF-70C5A33E8F58}"/>
              </a:ext>
            </a:extLst>
          </p:cNvPr>
          <p:cNvSpPr/>
          <p:nvPr/>
        </p:nvSpPr>
        <p:spPr bwMode="gray">
          <a:xfrm>
            <a:off x="1120525" y="1052513"/>
            <a:ext cx="10025880" cy="630508"/>
          </a:xfrm>
          <a:prstGeom prst="roundRect">
            <a:avLst>
              <a:gd name="adj" fmla="val 3898"/>
            </a:avLst>
          </a:prstGeom>
          <a:noFill/>
          <a:ln w="3175" cap="flat" cmpd="sng" algn="ctr">
            <a:solidFill>
              <a:srgbClr val="B5B5B5"/>
            </a:solidFill>
            <a:prstDash val="lgDash"/>
            <a:round/>
            <a:headEnd type="none" w="med" len="med"/>
            <a:tailEnd type="none" w="med" len="med"/>
          </a:ln>
          <a:effectLst/>
        </p:spPr>
        <p:txBody>
          <a:bodyPr vert="horz" wrap="square" lIns="91436" tIns="45718" rIns="91436" bIns="45718" numCol="1" rtlCol="0" anchor="ctr" anchorCtr="0" compatLnSpc="1">
            <a:prstTxWarp prst="textNoShape">
              <a:avLst/>
            </a:prstTxWarp>
          </a:bodyPr>
          <a:lstStyle/>
          <a:p>
            <a:pPr defTabSz="801648"/>
            <a:r>
              <a:rPr lang="en-US" altLang="zh-CN" sz="1800" b="1" dirty="0">
                <a:latin typeface="Huawei Sans" panose="020C0503030203020204" pitchFamily="34" charset="0"/>
                <a:ea typeface="方正兰亭黑简体" panose="02000000000000000000" pitchFamily="2" charset="-122"/>
                <a:cs typeface="+mj-cs"/>
                <a:sym typeface="Huawei Sans" panose="020C0503030203020204" pitchFamily="34" charset="0"/>
              </a:rPr>
              <a:t>APP</a:t>
            </a:r>
          </a:p>
        </p:txBody>
      </p:sp>
      <p:sp>
        <p:nvSpPr>
          <p:cNvPr id="26" name="矩形 113">
            <a:extLst>
              <a:ext uri="{FF2B5EF4-FFF2-40B4-BE49-F238E27FC236}">
                <a16:creationId xmlns="" xmlns:a16="http://schemas.microsoft.com/office/drawing/2014/main" id="{C67AB46A-5D37-423D-9422-A710E56A91A4}"/>
              </a:ext>
            </a:extLst>
          </p:cNvPr>
          <p:cNvSpPr/>
          <p:nvPr/>
        </p:nvSpPr>
        <p:spPr bwMode="gray">
          <a:xfrm>
            <a:off x="3855963" y="1247358"/>
            <a:ext cx="1443282" cy="338554"/>
          </a:xfrm>
          <a:prstGeom prst="rect">
            <a:avLst/>
          </a:prstGeom>
        </p:spPr>
        <p:txBody>
          <a:bodyPr wrap="square">
            <a:spAutoFit/>
          </a:bodyPr>
          <a:lstStyle/>
          <a:p>
            <a:pPr algn="ctr" fontAlgn="ctr">
              <a:buSzPct val="100000"/>
            </a:pP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基础应用</a:t>
            </a: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APP</a:t>
            </a:r>
          </a:p>
        </p:txBody>
      </p:sp>
      <p:sp>
        <p:nvSpPr>
          <p:cNvPr id="27" name="矩形 114">
            <a:extLst>
              <a:ext uri="{FF2B5EF4-FFF2-40B4-BE49-F238E27FC236}">
                <a16:creationId xmlns="" xmlns:a16="http://schemas.microsoft.com/office/drawing/2014/main" id="{60756D7B-4FAF-4F6B-94EC-1211F56D80EE}"/>
              </a:ext>
            </a:extLst>
          </p:cNvPr>
          <p:cNvSpPr/>
          <p:nvPr/>
        </p:nvSpPr>
        <p:spPr bwMode="gray">
          <a:xfrm>
            <a:off x="5816052" y="1261329"/>
            <a:ext cx="1443282" cy="338554"/>
          </a:xfrm>
          <a:prstGeom prst="rect">
            <a:avLst/>
          </a:prstGeom>
        </p:spPr>
        <p:txBody>
          <a:bodyPr wrap="square">
            <a:spAutoFit/>
          </a:bodyPr>
          <a:lstStyle/>
          <a:p>
            <a:pPr algn="ctr" fontAlgn="ctr">
              <a:buSzPct val="100000"/>
            </a:pP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增值应用</a:t>
            </a: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APP</a:t>
            </a:r>
          </a:p>
        </p:txBody>
      </p:sp>
      <p:sp>
        <p:nvSpPr>
          <p:cNvPr id="28" name="矩形 115">
            <a:extLst>
              <a:ext uri="{FF2B5EF4-FFF2-40B4-BE49-F238E27FC236}">
                <a16:creationId xmlns="" xmlns:a16="http://schemas.microsoft.com/office/drawing/2014/main" id="{F2E6D607-C6F1-4436-A648-E6E3D11EF179}"/>
              </a:ext>
            </a:extLst>
          </p:cNvPr>
          <p:cNvSpPr/>
          <p:nvPr/>
        </p:nvSpPr>
        <p:spPr bwMode="gray">
          <a:xfrm>
            <a:off x="7937705" y="1262113"/>
            <a:ext cx="1834945" cy="338554"/>
          </a:xfrm>
          <a:prstGeom prst="rect">
            <a:avLst/>
          </a:prstGeom>
        </p:spPr>
        <p:txBody>
          <a:bodyPr wrap="square">
            <a:spAutoFit/>
          </a:bodyPr>
          <a:lstStyle/>
          <a:p>
            <a:pPr algn="ctr" fontAlgn="ctr">
              <a:buSzPct val="100000"/>
            </a:pPr>
            <a:r>
              <a:rPr lang="zh-CN" altLang="en-US" sz="1600" dirty="0">
                <a:latin typeface="Huawei Sans" panose="020C0503030203020204" pitchFamily="34" charset="0"/>
                <a:ea typeface="方正兰亭黑简体" panose="02000000000000000000" pitchFamily="2" charset="-122"/>
                <a:cs typeface="+mj-cs"/>
                <a:sym typeface="Huawei Sans" panose="020C0503030203020204" pitchFamily="34" charset="0"/>
              </a:rPr>
              <a:t>移动承载应用</a:t>
            </a: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APP</a:t>
            </a:r>
          </a:p>
        </p:txBody>
      </p:sp>
      <p:sp>
        <p:nvSpPr>
          <p:cNvPr id="29" name="Freeform 160">
            <a:extLst>
              <a:ext uri="{FF2B5EF4-FFF2-40B4-BE49-F238E27FC236}">
                <a16:creationId xmlns="" xmlns:a16="http://schemas.microsoft.com/office/drawing/2014/main" id="{1BB9F58B-431A-4306-9E3B-D75140CAF621}"/>
              </a:ext>
            </a:extLst>
          </p:cNvPr>
          <p:cNvSpPr>
            <a:spLocks noChangeAspect="1" noEditPoints="1"/>
          </p:cNvSpPr>
          <p:nvPr/>
        </p:nvSpPr>
        <p:spPr bwMode="gray">
          <a:xfrm>
            <a:off x="5371168" y="1232176"/>
            <a:ext cx="468795" cy="343119"/>
          </a:xfrm>
          <a:custGeom>
            <a:avLst/>
            <a:gdLst>
              <a:gd name="T0" fmla="*/ 60 w 235"/>
              <a:gd name="T1" fmla="*/ 34 h 172"/>
              <a:gd name="T2" fmla="*/ 54 w 235"/>
              <a:gd name="T3" fmla="*/ 43 h 172"/>
              <a:gd name="T4" fmla="*/ 54 w 235"/>
              <a:gd name="T5" fmla="*/ 144 h 172"/>
              <a:gd name="T6" fmla="*/ 226 w 235"/>
              <a:gd name="T7" fmla="*/ 144 h 172"/>
              <a:gd name="T8" fmla="*/ 235 w 235"/>
              <a:gd name="T9" fmla="*/ 138 h 172"/>
              <a:gd name="T10" fmla="*/ 235 w 235"/>
              <a:gd name="T11" fmla="*/ 34 h 172"/>
              <a:gd name="T12" fmla="*/ 226 w 235"/>
              <a:gd name="T13" fmla="*/ 34 h 172"/>
              <a:gd name="T14" fmla="*/ 95 w 235"/>
              <a:gd name="T15" fmla="*/ 86 h 172"/>
              <a:gd name="T16" fmla="*/ 97 w 235"/>
              <a:gd name="T17" fmla="*/ 88 h 172"/>
              <a:gd name="T18" fmla="*/ 103 w 235"/>
              <a:gd name="T19" fmla="*/ 71 h 172"/>
              <a:gd name="T20" fmla="*/ 114 w 235"/>
              <a:gd name="T21" fmla="*/ 81 h 172"/>
              <a:gd name="T22" fmla="*/ 121 w 235"/>
              <a:gd name="T23" fmla="*/ 73 h 172"/>
              <a:gd name="T24" fmla="*/ 136 w 235"/>
              <a:gd name="T25" fmla="*/ 99 h 172"/>
              <a:gd name="T26" fmla="*/ 140 w 235"/>
              <a:gd name="T27" fmla="*/ 73 h 172"/>
              <a:gd name="T28" fmla="*/ 149 w 235"/>
              <a:gd name="T29" fmla="*/ 86 h 172"/>
              <a:gd name="T30" fmla="*/ 166 w 235"/>
              <a:gd name="T31" fmla="*/ 73 h 172"/>
              <a:gd name="T32" fmla="*/ 175 w 235"/>
              <a:gd name="T33" fmla="*/ 86 h 172"/>
              <a:gd name="T34" fmla="*/ 179 w 235"/>
              <a:gd name="T35" fmla="*/ 81 h 172"/>
              <a:gd name="T36" fmla="*/ 205 w 235"/>
              <a:gd name="T37" fmla="*/ 90 h 172"/>
              <a:gd name="T38" fmla="*/ 179 w 235"/>
              <a:gd name="T39" fmla="*/ 105 h 172"/>
              <a:gd name="T40" fmla="*/ 162 w 235"/>
              <a:gd name="T41" fmla="*/ 84 h 172"/>
              <a:gd name="T42" fmla="*/ 151 w 235"/>
              <a:gd name="T43" fmla="*/ 101 h 172"/>
              <a:gd name="T44" fmla="*/ 144 w 235"/>
              <a:gd name="T45" fmla="*/ 92 h 172"/>
              <a:gd name="T46" fmla="*/ 134 w 235"/>
              <a:gd name="T47" fmla="*/ 112 h 172"/>
              <a:gd name="T48" fmla="*/ 114 w 235"/>
              <a:gd name="T49" fmla="*/ 90 h 172"/>
              <a:gd name="T50" fmla="*/ 110 w 235"/>
              <a:gd name="T51" fmla="*/ 90 h 172"/>
              <a:gd name="T52" fmla="*/ 103 w 235"/>
              <a:gd name="T53" fmla="*/ 103 h 172"/>
              <a:gd name="T54" fmla="*/ 90 w 235"/>
              <a:gd name="T55" fmla="*/ 92 h 172"/>
              <a:gd name="T56" fmla="*/ 82 w 235"/>
              <a:gd name="T57" fmla="*/ 86 h 172"/>
              <a:gd name="T58" fmla="*/ 80 w 235"/>
              <a:gd name="T59" fmla="*/ 172 h 172"/>
              <a:gd name="T60" fmla="*/ 0 w 235"/>
              <a:gd name="T61" fmla="*/ 0 h 172"/>
              <a:gd name="T62" fmla="*/ 80 w 235"/>
              <a:gd name="T63" fmla="*/ 23 h 172"/>
              <a:gd name="T64" fmla="*/ 41 w 235"/>
              <a:gd name="T65" fmla="*/ 23 h 172"/>
              <a:gd name="T66" fmla="*/ 6 w 235"/>
              <a:gd name="T67" fmla="*/ 23 h 172"/>
              <a:gd name="T68" fmla="*/ 6 w 235"/>
              <a:gd name="T69" fmla="*/ 49 h 172"/>
              <a:gd name="T70" fmla="*/ 11 w 235"/>
              <a:gd name="T71" fmla="*/ 51 h 172"/>
              <a:gd name="T72" fmla="*/ 41 w 235"/>
              <a:gd name="T73" fmla="*/ 58 h 172"/>
              <a:gd name="T74" fmla="*/ 6 w 235"/>
              <a:gd name="T75" fmla="*/ 58 h 172"/>
              <a:gd name="T76" fmla="*/ 6 w 235"/>
              <a:gd name="T77" fmla="*/ 84 h 172"/>
              <a:gd name="T78" fmla="*/ 11 w 235"/>
              <a:gd name="T79" fmla="*/ 86 h 172"/>
              <a:gd name="T80" fmla="*/ 41 w 235"/>
              <a:gd name="T81" fmla="*/ 155 h 172"/>
              <a:gd name="T82" fmla="*/ 80 w 235"/>
              <a:gd name="T83" fmla="*/ 172 h 172"/>
              <a:gd name="T84" fmla="*/ 21 w 235"/>
              <a:gd name="T85" fmla="*/ 97 h 172"/>
              <a:gd name="T86" fmla="*/ 9 w 235"/>
              <a:gd name="T87" fmla="*/ 105 h 172"/>
              <a:gd name="T88" fmla="*/ 21 w 235"/>
              <a:gd name="T89" fmla="*/ 97 h 172"/>
              <a:gd name="T90" fmla="*/ 21 w 235"/>
              <a:gd name="T91" fmla="*/ 112 h 172"/>
              <a:gd name="T92" fmla="*/ 9 w 235"/>
              <a:gd name="T93" fmla="*/ 118 h 172"/>
              <a:gd name="T94" fmla="*/ 21 w 235"/>
              <a:gd name="T95" fmla="*/ 112 h 172"/>
              <a:gd name="T96" fmla="*/ 41 w 235"/>
              <a:gd name="T97" fmla="*/ 30 h 172"/>
              <a:gd name="T98" fmla="*/ 15 w 235"/>
              <a:gd name="T99" fmla="*/ 45 h 172"/>
              <a:gd name="T100" fmla="*/ 41 w 235"/>
              <a:gd name="T101" fmla="*/ 30 h 172"/>
              <a:gd name="T102" fmla="*/ 41 w 235"/>
              <a:gd name="T103" fmla="*/ 66 h 172"/>
              <a:gd name="T104" fmla="*/ 15 w 235"/>
              <a:gd name="T105" fmla="*/ 79 h 172"/>
              <a:gd name="T106" fmla="*/ 41 w 235"/>
              <a:gd name="T107" fmla="*/ 66 h 172"/>
              <a:gd name="T108" fmla="*/ 187 w 235"/>
              <a:gd name="T109" fmla="*/ 163 h 172"/>
              <a:gd name="T110" fmla="*/ 175 w 235"/>
              <a:gd name="T111" fmla="*/ 148 h 172"/>
              <a:gd name="T112" fmla="*/ 116 w 235"/>
              <a:gd name="T113" fmla="*/ 163 h 172"/>
              <a:gd name="T114" fmla="*/ 103 w 235"/>
              <a:gd name="T115" fmla="*/ 172 h 172"/>
              <a:gd name="T116" fmla="*/ 187 w 235"/>
              <a:gd name="T117" fmla="*/ 163 h 172"/>
              <a:gd name="T118" fmla="*/ 73 w 235"/>
              <a:gd name="T119" fmla="*/ 53 h 172"/>
              <a:gd name="T120" fmla="*/ 213 w 235"/>
              <a:gd name="T121" fmla="*/ 125 h 172"/>
              <a:gd name="T122" fmla="*/ 73 w 235"/>
              <a:gd name="T123" fmla="*/ 53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5" h="172">
                <a:moveTo>
                  <a:pt x="226" y="34"/>
                </a:moveTo>
                <a:lnTo>
                  <a:pt x="60" y="34"/>
                </a:lnTo>
                <a:lnTo>
                  <a:pt x="54" y="34"/>
                </a:lnTo>
                <a:lnTo>
                  <a:pt x="54" y="43"/>
                </a:lnTo>
                <a:lnTo>
                  <a:pt x="54" y="138"/>
                </a:lnTo>
                <a:lnTo>
                  <a:pt x="54" y="144"/>
                </a:lnTo>
                <a:lnTo>
                  <a:pt x="60" y="144"/>
                </a:lnTo>
                <a:lnTo>
                  <a:pt x="226" y="144"/>
                </a:lnTo>
                <a:lnTo>
                  <a:pt x="235" y="144"/>
                </a:lnTo>
                <a:lnTo>
                  <a:pt x="235" y="138"/>
                </a:lnTo>
                <a:lnTo>
                  <a:pt x="235" y="43"/>
                </a:lnTo>
                <a:lnTo>
                  <a:pt x="235" y="34"/>
                </a:lnTo>
                <a:lnTo>
                  <a:pt x="226" y="34"/>
                </a:lnTo>
                <a:lnTo>
                  <a:pt x="226" y="34"/>
                </a:lnTo>
                <a:close/>
                <a:moveTo>
                  <a:pt x="82" y="86"/>
                </a:moveTo>
                <a:lnTo>
                  <a:pt x="95" y="86"/>
                </a:lnTo>
                <a:lnTo>
                  <a:pt x="97" y="86"/>
                </a:lnTo>
                <a:lnTo>
                  <a:pt x="97" y="88"/>
                </a:lnTo>
                <a:lnTo>
                  <a:pt x="99" y="90"/>
                </a:lnTo>
                <a:lnTo>
                  <a:pt x="103" y="71"/>
                </a:lnTo>
                <a:lnTo>
                  <a:pt x="110" y="71"/>
                </a:lnTo>
                <a:lnTo>
                  <a:pt x="114" y="81"/>
                </a:lnTo>
                <a:lnTo>
                  <a:pt x="116" y="77"/>
                </a:lnTo>
                <a:lnTo>
                  <a:pt x="121" y="73"/>
                </a:lnTo>
                <a:lnTo>
                  <a:pt x="123" y="79"/>
                </a:lnTo>
                <a:lnTo>
                  <a:pt x="136" y="99"/>
                </a:lnTo>
                <a:lnTo>
                  <a:pt x="138" y="81"/>
                </a:lnTo>
                <a:lnTo>
                  <a:pt x="140" y="73"/>
                </a:lnTo>
                <a:lnTo>
                  <a:pt x="147" y="81"/>
                </a:lnTo>
                <a:lnTo>
                  <a:pt x="149" y="86"/>
                </a:lnTo>
                <a:lnTo>
                  <a:pt x="159" y="73"/>
                </a:lnTo>
                <a:lnTo>
                  <a:pt x="166" y="73"/>
                </a:lnTo>
                <a:lnTo>
                  <a:pt x="175" y="92"/>
                </a:lnTo>
                <a:lnTo>
                  <a:pt x="175" y="86"/>
                </a:lnTo>
                <a:lnTo>
                  <a:pt x="177" y="81"/>
                </a:lnTo>
                <a:lnTo>
                  <a:pt x="179" y="81"/>
                </a:lnTo>
                <a:lnTo>
                  <a:pt x="205" y="81"/>
                </a:lnTo>
                <a:lnTo>
                  <a:pt x="205" y="90"/>
                </a:lnTo>
                <a:lnTo>
                  <a:pt x="183" y="90"/>
                </a:lnTo>
                <a:lnTo>
                  <a:pt x="179" y="105"/>
                </a:lnTo>
                <a:lnTo>
                  <a:pt x="172" y="105"/>
                </a:lnTo>
                <a:lnTo>
                  <a:pt x="162" y="84"/>
                </a:lnTo>
                <a:lnTo>
                  <a:pt x="153" y="97"/>
                </a:lnTo>
                <a:lnTo>
                  <a:pt x="151" y="101"/>
                </a:lnTo>
                <a:lnTo>
                  <a:pt x="147" y="97"/>
                </a:lnTo>
                <a:lnTo>
                  <a:pt x="144" y="92"/>
                </a:lnTo>
                <a:lnTo>
                  <a:pt x="140" y="112"/>
                </a:lnTo>
                <a:lnTo>
                  <a:pt x="134" y="112"/>
                </a:lnTo>
                <a:lnTo>
                  <a:pt x="118" y="86"/>
                </a:lnTo>
                <a:lnTo>
                  <a:pt x="114" y="90"/>
                </a:lnTo>
                <a:lnTo>
                  <a:pt x="110" y="94"/>
                </a:lnTo>
                <a:lnTo>
                  <a:pt x="110" y="90"/>
                </a:lnTo>
                <a:lnTo>
                  <a:pt x="108" y="86"/>
                </a:lnTo>
                <a:lnTo>
                  <a:pt x="103" y="103"/>
                </a:lnTo>
                <a:lnTo>
                  <a:pt x="97" y="103"/>
                </a:lnTo>
                <a:lnTo>
                  <a:pt x="90" y="92"/>
                </a:lnTo>
                <a:lnTo>
                  <a:pt x="82" y="92"/>
                </a:lnTo>
                <a:lnTo>
                  <a:pt x="82" y="86"/>
                </a:lnTo>
                <a:lnTo>
                  <a:pt x="82" y="86"/>
                </a:lnTo>
                <a:close/>
                <a:moveTo>
                  <a:pt x="80" y="172"/>
                </a:moveTo>
                <a:lnTo>
                  <a:pt x="0" y="172"/>
                </a:lnTo>
                <a:lnTo>
                  <a:pt x="0" y="0"/>
                </a:lnTo>
                <a:lnTo>
                  <a:pt x="80" y="0"/>
                </a:lnTo>
                <a:lnTo>
                  <a:pt x="80" y="23"/>
                </a:lnTo>
                <a:lnTo>
                  <a:pt x="56" y="23"/>
                </a:lnTo>
                <a:lnTo>
                  <a:pt x="41" y="23"/>
                </a:lnTo>
                <a:lnTo>
                  <a:pt x="11" y="23"/>
                </a:lnTo>
                <a:lnTo>
                  <a:pt x="6" y="23"/>
                </a:lnTo>
                <a:lnTo>
                  <a:pt x="6" y="28"/>
                </a:lnTo>
                <a:lnTo>
                  <a:pt x="6" y="49"/>
                </a:lnTo>
                <a:lnTo>
                  <a:pt x="6" y="51"/>
                </a:lnTo>
                <a:lnTo>
                  <a:pt x="11" y="51"/>
                </a:lnTo>
                <a:lnTo>
                  <a:pt x="41" y="51"/>
                </a:lnTo>
                <a:lnTo>
                  <a:pt x="41" y="58"/>
                </a:lnTo>
                <a:lnTo>
                  <a:pt x="11" y="58"/>
                </a:lnTo>
                <a:lnTo>
                  <a:pt x="6" y="58"/>
                </a:lnTo>
                <a:lnTo>
                  <a:pt x="6" y="62"/>
                </a:lnTo>
                <a:lnTo>
                  <a:pt x="6" y="84"/>
                </a:lnTo>
                <a:lnTo>
                  <a:pt x="6" y="86"/>
                </a:lnTo>
                <a:lnTo>
                  <a:pt x="11" y="86"/>
                </a:lnTo>
                <a:lnTo>
                  <a:pt x="41" y="86"/>
                </a:lnTo>
                <a:lnTo>
                  <a:pt x="41" y="155"/>
                </a:lnTo>
                <a:lnTo>
                  <a:pt x="80" y="155"/>
                </a:lnTo>
                <a:lnTo>
                  <a:pt x="80" y="172"/>
                </a:lnTo>
                <a:lnTo>
                  <a:pt x="80" y="172"/>
                </a:lnTo>
                <a:close/>
                <a:moveTo>
                  <a:pt x="21" y="97"/>
                </a:moveTo>
                <a:lnTo>
                  <a:pt x="9" y="97"/>
                </a:lnTo>
                <a:lnTo>
                  <a:pt x="9" y="105"/>
                </a:lnTo>
                <a:lnTo>
                  <a:pt x="21" y="105"/>
                </a:lnTo>
                <a:lnTo>
                  <a:pt x="21" y="97"/>
                </a:lnTo>
                <a:lnTo>
                  <a:pt x="21" y="97"/>
                </a:lnTo>
                <a:close/>
                <a:moveTo>
                  <a:pt x="21" y="112"/>
                </a:moveTo>
                <a:lnTo>
                  <a:pt x="9" y="112"/>
                </a:lnTo>
                <a:lnTo>
                  <a:pt x="9" y="118"/>
                </a:lnTo>
                <a:lnTo>
                  <a:pt x="21" y="118"/>
                </a:lnTo>
                <a:lnTo>
                  <a:pt x="21" y="112"/>
                </a:lnTo>
                <a:lnTo>
                  <a:pt x="21" y="112"/>
                </a:lnTo>
                <a:close/>
                <a:moveTo>
                  <a:pt x="41" y="30"/>
                </a:moveTo>
                <a:lnTo>
                  <a:pt x="15" y="30"/>
                </a:lnTo>
                <a:lnTo>
                  <a:pt x="15" y="45"/>
                </a:lnTo>
                <a:lnTo>
                  <a:pt x="41" y="45"/>
                </a:lnTo>
                <a:lnTo>
                  <a:pt x="41" y="30"/>
                </a:lnTo>
                <a:lnTo>
                  <a:pt x="41" y="30"/>
                </a:lnTo>
                <a:close/>
                <a:moveTo>
                  <a:pt x="41" y="66"/>
                </a:moveTo>
                <a:lnTo>
                  <a:pt x="15" y="66"/>
                </a:lnTo>
                <a:lnTo>
                  <a:pt x="15" y="79"/>
                </a:lnTo>
                <a:lnTo>
                  <a:pt x="41" y="79"/>
                </a:lnTo>
                <a:lnTo>
                  <a:pt x="41" y="66"/>
                </a:lnTo>
                <a:lnTo>
                  <a:pt x="41" y="66"/>
                </a:lnTo>
                <a:close/>
                <a:moveTo>
                  <a:pt x="187" y="163"/>
                </a:moveTo>
                <a:lnTo>
                  <a:pt x="175" y="163"/>
                </a:lnTo>
                <a:lnTo>
                  <a:pt x="175" y="148"/>
                </a:lnTo>
                <a:lnTo>
                  <a:pt x="116" y="148"/>
                </a:lnTo>
                <a:lnTo>
                  <a:pt x="116" y="163"/>
                </a:lnTo>
                <a:lnTo>
                  <a:pt x="103" y="163"/>
                </a:lnTo>
                <a:lnTo>
                  <a:pt x="103" y="172"/>
                </a:lnTo>
                <a:lnTo>
                  <a:pt x="187" y="172"/>
                </a:lnTo>
                <a:lnTo>
                  <a:pt x="187" y="163"/>
                </a:lnTo>
                <a:lnTo>
                  <a:pt x="187" y="163"/>
                </a:lnTo>
                <a:close/>
                <a:moveTo>
                  <a:pt x="73" y="53"/>
                </a:moveTo>
                <a:lnTo>
                  <a:pt x="213" y="53"/>
                </a:lnTo>
                <a:lnTo>
                  <a:pt x="213" y="125"/>
                </a:lnTo>
                <a:lnTo>
                  <a:pt x="73" y="125"/>
                </a:lnTo>
                <a:lnTo>
                  <a:pt x="73" y="53"/>
                </a:ln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18">
            <a:extLst>
              <a:ext uri="{FF2B5EF4-FFF2-40B4-BE49-F238E27FC236}">
                <a16:creationId xmlns="" xmlns:a16="http://schemas.microsoft.com/office/drawing/2014/main" id="{9B7E0408-D1A7-4B59-97F9-95289F56630A}"/>
              </a:ext>
            </a:extLst>
          </p:cNvPr>
          <p:cNvSpPr>
            <a:spLocks noChangeAspect="1" noEditPoints="1"/>
          </p:cNvSpPr>
          <p:nvPr/>
        </p:nvSpPr>
        <p:spPr bwMode="gray">
          <a:xfrm>
            <a:off x="7521642" y="1209299"/>
            <a:ext cx="492844" cy="393940"/>
          </a:xfrm>
          <a:custGeom>
            <a:avLst/>
            <a:gdLst/>
            <a:ahLst/>
            <a:cxnLst>
              <a:cxn ang="0">
                <a:pos x="354" y="18"/>
              </a:cxn>
              <a:cxn ang="0">
                <a:pos x="442" y="110"/>
              </a:cxn>
              <a:cxn ang="0">
                <a:pos x="476" y="114"/>
              </a:cxn>
              <a:cxn ang="0">
                <a:pos x="536" y="142"/>
              </a:cxn>
              <a:cxn ang="0">
                <a:pos x="576" y="196"/>
              </a:cxn>
              <a:cxn ang="0">
                <a:pos x="588" y="250"/>
              </a:cxn>
              <a:cxn ang="0">
                <a:pos x="554" y="340"/>
              </a:cxn>
              <a:cxn ang="0">
                <a:pos x="516" y="354"/>
              </a:cxn>
              <a:cxn ang="0">
                <a:pos x="508" y="272"/>
              </a:cxn>
              <a:cxn ang="0">
                <a:pos x="464" y="208"/>
              </a:cxn>
              <a:cxn ang="0">
                <a:pos x="412" y="178"/>
              </a:cxn>
              <a:cxn ang="0">
                <a:pos x="316" y="200"/>
              </a:cxn>
              <a:cxn ang="0">
                <a:pos x="248" y="212"/>
              </a:cxn>
              <a:cxn ang="0">
                <a:pos x="208" y="274"/>
              </a:cxn>
              <a:cxn ang="0">
                <a:pos x="224" y="340"/>
              </a:cxn>
              <a:cxn ang="0">
                <a:pos x="116" y="390"/>
              </a:cxn>
              <a:cxn ang="0">
                <a:pos x="34" y="356"/>
              </a:cxn>
              <a:cxn ang="0">
                <a:pos x="0" y="274"/>
              </a:cxn>
              <a:cxn ang="0">
                <a:pos x="28" y="198"/>
              </a:cxn>
              <a:cxn ang="0">
                <a:pos x="98" y="158"/>
              </a:cxn>
              <a:cxn ang="0">
                <a:pos x="124" y="82"/>
              </a:cxn>
              <a:cxn ang="0">
                <a:pos x="182" y="26"/>
              </a:cxn>
              <a:cxn ang="0">
                <a:pos x="258" y="0"/>
              </a:cxn>
              <a:cxn ang="0">
                <a:pos x="476" y="246"/>
              </a:cxn>
              <a:cxn ang="0">
                <a:pos x="502" y="332"/>
              </a:cxn>
              <a:cxn ang="0">
                <a:pos x="456" y="432"/>
              </a:cxn>
              <a:cxn ang="0">
                <a:pos x="356" y="448"/>
              </a:cxn>
              <a:cxn ang="0">
                <a:pos x="316" y="440"/>
              </a:cxn>
              <a:cxn ang="0">
                <a:pos x="228" y="390"/>
              </a:cxn>
              <a:cxn ang="0">
                <a:pos x="218" y="302"/>
              </a:cxn>
              <a:cxn ang="0">
                <a:pos x="260" y="222"/>
              </a:cxn>
              <a:cxn ang="0">
                <a:pos x="362" y="184"/>
              </a:cxn>
              <a:cxn ang="0">
                <a:pos x="444" y="244"/>
              </a:cxn>
              <a:cxn ang="0">
                <a:pos x="402" y="282"/>
              </a:cxn>
              <a:cxn ang="0">
                <a:pos x="420" y="326"/>
              </a:cxn>
              <a:cxn ang="0">
                <a:pos x="402" y="372"/>
              </a:cxn>
              <a:cxn ang="0">
                <a:pos x="360" y="390"/>
              </a:cxn>
              <a:cxn ang="0">
                <a:pos x="314" y="372"/>
              </a:cxn>
              <a:cxn ang="0">
                <a:pos x="296" y="328"/>
              </a:cxn>
              <a:cxn ang="0">
                <a:pos x="314" y="284"/>
              </a:cxn>
              <a:cxn ang="0">
                <a:pos x="358" y="264"/>
              </a:cxn>
              <a:cxn ang="0">
                <a:pos x="396" y="320"/>
              </a:cxn>
              <a:cxn ang="0">
                <a:pos x="380" y="296"/>
              </a:cxn>
              <a:cxn ang="0">
                <a:pos x="350" y="290"/>
              </a:cxn>
              <a:cxn ang="0">
                <a:pos x="326" y="306"/>
              </a:cxn>
              <a:cxn ang="0">
                <a:pos x="320" y="336"/>
              </a:cxn>
              <a:cxn ang="0">
                <a:pos x="338" y="360"/>
              </a:cxn>
              <a:cxn ang="0">
                <a:pos x="366" y="366"/>
              </a:cxn>
              <a:cxn ang="0">
                <a:pos x="390" y="348"/>
              </a:cxn>
              <a:cxn ang="0">
                <a:pos x="396" y="320"/>
              </a:cxn>
              <a:cxn ang="0">
                <a:pos x="418" y="288"/>
              </a:cxn>
              <a:cxn ang="0">
                <a:pos x="426" y="354"/>
              </a:cxn>
              <a:cxn ang="0">
                <a:pos x="386" y="394"/>
              </a:cxn>
              <a:cxn ang="0">
                <a:pos x="318" y="388"/>
              </a:cxn>
              <a:cxn ang="0">
                <a:pos x="288" y="342"/>
              </a:cxn>
              <a:cxn ang="0">
                <a:pos x="298" y="288"/>
              </a:cxn>
              <a:cxn ang="0">
                <a:pos x="358" y="256"/>
              </a:cxn>
            </a:cxnLst>
            <a:rect l="0" t="0" r="r" b="b"/>
            <a:pathLst>
              <a:path w="588" h="470">
                <a:moveTo>
                  <a:pt x="276" y="0"/>
                </a:moveTo>
                <a:lnTo>
                  <a:pt x="276" y="0"/>
                </a:lnTo>
                <a:lnTo>
                  <a:pt x="304" y="2"/>
                </a:lnTo>
                <a:lnTo>
                  <a:pt x="330" y="8"/>
                </a:lnTo>
                <a:lnTo>
                  <a:pt x="354" y="18"/>
                </a:lnTo>
                <a:lnTo>
                  <a:pt x="376" y="30"/>
                </a:lnTo>
                <a:lnTo>
                  <a:pt x="396" y="46"/>
                </a:lnTo>
                <a:lnTo>
                  <a:pt x="414" y="66"/>
                </a:lnTo>
                <a:lnTo>
                  <a:pt x="430" y="88"/>
                </a:lnTo>
                <a:lnTo>
                  <a:pt x="442" y="110"/>
                </a:lnTo>
                <a:lnTo>
                  <a:pt x="442" y="110"/>
                </a:lnTo>
                <a:lnTo>
                  <a:pt x="448" y="110"/>
                </a:lnTo>
                <a:lnTo>
                  <a:pt x="448" y="110"/>
                </a:lnTo>
                <a:lnTo>
                  <a:pt x="462" y="112"/>
                </a:lnTo>
                <a:lnTo>
                  <a:pt x="476" y="114"/>
                </a:lnTo>
                <a:lnTo>
                  <a:pt x="490" y="116"/>
                </a:lnTo>
                <a:lnTo>
                  <a:pt x="502" y="122"/>
                </a:lnTo>
                <a:lnTo>
                  <a:pt x="514" y="128"/>
                </a:lnTo>
                <a:lnTo>
                  <a:pt x="526" y="134"/>
                </a:lnTo>
                <a:lnTo>
                  <a:pt x="536" y="142"/>
                </a:lnTo>
                <a:lnTo>
                  <a:pt x="546" y="152"/>
                </a:lnTo>
                <a:lnTo>
                  <a:pt x="556" y="162"/>
                </a:lnTo>
                <a:lnTo>
                  <a:pt x="564" y="172"/>
                </a:lnTo>
                <a:lnTo>
                  <a:pt x="570" y="184"/>
                </a:lnTo>
                <a:lnTo>
                  <a:pt x="576" y="196"/>
                </a:lnTo>
                <a:lnTo>
                  <a:pt x="582" y="208"/>
                </a:lnTo>
                <a:lnTo>
                  <a:pt x="584" y="222"/>
                </a:lnTo>
                <a:lnTo>
                  <a:pt x="586" y="236"/>
                </a:lnTo>
                <a:lnTo>
                  <a:pt x="588" y="250"/>
                </a:lnTo>
                <a:lnTo>
                  <a:pt x="588" y="250"/>
                </a:lnTo>
                <a:lnTo>
                  <a:pt x="586" y="270"/>
                </a:lnTo>
                <a:lnTo>
                  <a:pt x="582" y="290"/>
                </a:lnTo>
                <a:lnTo>
                  <a:pt x="576" y="308"/>
                </a:lnTo>
                <a:lnTo>
                  <a:pt x="566" y="324"/>
                </a:lnTo>
                <a:lnTo>
                  <a:pt x="554" y="340"/>
                </a:lnTo>
                <a:lnTo>
                  <a:pt x="542" y="354"/>
                </a:lnTo>
                <a:lnTo>
                  <a:pt x="526" y="366"/>
                </a:lnTo>
                <a:lnTo>
                  <a:pt x="510" y="376"/>
                </a:lnTo>
                <a:lnTo>
                  <a:pt x="510" y="376"/>
                </a:lnTo>
                <a:lnTo>
                  <a:pt x="516" y="354"/>
                </a:lnTo>
                <a:lnTo>
                  <a:pt x="518" y="332"/>
                </a:lnTo>
                <a:lnTo>
                  <a:pt x="518" y="318"/>
                </a:lnTo>
                <a:lnTo>
                  <a:pt x="492" y="314"/>
                </a:lnTo>
                <a:lnTo>
                  <a:pt x="486" y="286"/>
                </a:lnTo>
                <a:lnTo>
                  <a:pt x="508" y="272"/>
                </a:lnTo>
                <a:lnTo>
                  <a:pt x="502" y="258"/>
                </a:lnTo>
                <a:lnTo>
                  <a:pt x="502" y="258"/>
                </a:lnTo>
                <a:lnTo>
                  <a:pt x="490" y="238"/>
                </a:lnTo>
                <a:lnTo>
                  <a:pt x="474" y="218"/>
                </a:lnTo>
                <a:lnTo>
                  <a:pt x="464" y="208"/>
                </a:lnTo>
                <a:lnTo>
                  <a:pt x="444" y="224"/>
                </a:lnTo>
                <a:lnTo>
                  <a:pt x="418" y="208"/>
                </a:lnTo>
                <a:lnTo>
                  <a:pt x="426" y="182"/>
                </a:lnTo>
                <a:lnTo>
                  <a:pt x="412" y="178"/>
                </a:lnTo>
                <a:lnTo>
                  <a:pt x="412" y="178"/>
                </a:lnTo>
                <a:lnTo>
                  <a:pt x="388" y="170"/>
                </a:lnTo>
                <a:lnTo>
                  <a:pt x="362" y="168"/>
                </a:lnTo>
                <a:lnTo>
                  <a:pt x="348" y="168"/>
                </a:lnTo>
                <a:lnTo>
                  <a:pt x="346" y="194"/>
                </a:lnTo>
                <a:lnTo>
                  <a:pt x="316" y="200"/>
                </a:lnTo>
                <a:lnTo>
                  <a:pt x="302" y="178"/>
                </a:lnTo>
                <a:lnTo>
                  <a:pt x="290" y="184"/>
                </a:lnTo>
                <a:lnTo>
                  <a:pt x="290" y="184"/>
                </a:lnTo>
                <a:lnTo>
                  <a:pt x="268" y="196"/>
                </a:lnTo>
                <a:lnTo>
                  <a:pt x="248" y="212"/>
                </a:lnTo>
                <a:lnTo>
                  <a:pt x="238" y="222"/>
                </a:lnTo>
                <a:lnTo>
                  <a:pt x="254" y="242"/>
                </a:lnTo>
                <a:lnTo>
                  <a:pt x="238" y="268"/>
                </a:lnTo>
                <a:lnTo>
                  <a:pt x="212" y="260"/>
                </a:lnTo>
                <a:lnTo>
                  <a:pt x="208" y="274"/>
                </a:lnTo>
                <a:lnTo>
                  <a:pt x="208" y="274"/>
                </a:lnTo>
                <a:lnTo>
                  <a:pt x="202" y="298"/>
                </a:lnTo>
                <a:lnTo>
                  <a:pt x="198" y="322"/>
                </a:lnTo>
                <a:lnTo>
                  <a:pt x="198" y="338"/>
                </a:lnTo>
                <a:lnTo>
                  <a:pt x="224" y="340"/>
                </a:lnTo>
                <a:lnTo>
                  <a:pt x="230" y="370"/>
                </a:lnTo>
                <a:lnTo>
                  <a:pt x="208" y="382"/>
                </a:lnTo>
                <a:lnTo>
                  <a:pt x="212" y="390"/>
                </a:lnTo>
                <a:lnTo>
                  <a:pt x="116" y="390"/>
                </a:lnTo>
                <a:lnTo>
                  <a:pt x="116" y="390"/>
                </a:lnTo>
                <a:lnTo>
                  <a:pt x="104" y="390"/>
                </a:lnTo>
                <a:lnTo>
                  <a:pt x="94" y="388"/>
                </a:lnTo>
                <a:lnTo>
                  <a:pt x="72" y="380"/>
                </a:lnTo>
                <a:lnTo>
                  <a:pt x="52" y="370"/>
                </a:lnTo>
                <a:lnTo>
                  <a:pt x="34" y="356"/>
                </a:lnTo>
                <a:lnTo>
                  <a:pt x="20" y="338"/>
                </a:lnTo>
                <a:lnTo>
                  <a:pt x="10" y="318"/>
                </a:lnTo>
                <a:lnTo>
                  <a:pt x="4" y="296"/>
                </a:lnTo>
                <a:lnTo>
                  <a:pt x="2" y="286"/>
                </a:lnTo>
                <a:lnTo>
                  <a:pt x="0" y="274"/>
                </a:lnTo>
                <a:lnTo>
                  <a:pt x="0" y="274"/>
                </a:lnTo>
                <a:lnTo>
                  <a:pt x="2" y="252"/>
                </a:lnTo>
                <a:lnTo>
                  <a:pt x="8" y="232"/>
                </a:lnTo>
                <a:lnTo>
                  <a:pt x="16" y="214"/>
                </a:lnTo>
                <a:lnTo>
                  <a:pt x="28" y="198"/>
                </a:lnTo>
                <a:lnTo>
                  <a:pt x="42" y="184"/>
                </a:lnTo>
                <a:lnTo>
                  <a:pt x="60" y="172"/>
                </a:lnTo>
                <a:lnTo>
                  <a:pt x="78" y="164"/>
                </a:lnTo>
                <a:lnTo>
                  <a:pt x="98" y="158"/>
                </a:lnTo>
                <a:lnTo>
                  <a:pt x="98" y="158"/>
                </a:lnTo>
                <a:lnTo>
                  <a:pt x="100" y="142"/>
                </a:lnTo>
                <a:lnTo>
                  <a:pt x="104" y="126"/>
                </a:lnTo>
                <a:lnTo>
                  <a:pt x="110" y="110"/>
                </a:lnTo>
                <a:lnTo>
                  <a:pt x="116" y="96"/>
                </a:lnTo>
                <a:lnTo>
                  <a:pt x="124" y="82"/>
                </a:lnTo>
                <a:lnTo>
                  <a:pt x="134" y="70"/>
                </a:lnTo>
                <a:lnTo>
                  <a:pt x="144" y="56"/>
                </a:lnTo>
                <a:lnTo>
                  <a:pt x="156" y="46"/>
                </a:lnTo>
                <a:lnTo>
                  <a:pt x="168" y="36"/>
                </a:lnTo>
                <a:lnTo>
                  <a:pt x="182" y="26"/>
                </a:lnTo>
                <a:lnTo>
                  <a:pt x="196" y="18"/>
                </a:lnTo>
                <a:lnTo>
                  <a:pt x="210" y="12"/>
                </a:lnTo>
                <a:lnTo>
                  <a:pt x="226" y="6"/>
                </a:lnTo>
                <a:lnTo>
                  <a:pt x="242" y="2"/>
                </a:lnTo>
                <a:lnTo>
                  <a:pt x="258" y="0"/>
                </a:lnTo>
                <a:lnTo>
                  <a:pt x="276" y="0"/>
                </a:lnTo>
                <a:lnTo>
                  <a:pt x="276" y="0"/>
                </a:lnTo>
                <a:close/>
                <a:moveTo>
                  <a:pt x="462" y="228"/>
                </a:moveTo>
                <a:lnTo>
                  <a:pt x="462" y="228"/>
                </a:lnTo>
                <a:lnTo>
                  <a:pt x="476" y="246"/>
                </a:lnTo>
                <a:lnTo>
                  <a:pt x="488" y="266"/>
                </a:lnTo>
                <a:lnTo>
                  <a:pt x="468" y="278"/>
                </a:lnTo>
                <a:lnTo>
                  <a:pt x="480" y="328"/>
                </a:lnTo>
                <a:lnTo>
                  <a:pt x="502" y="332"/>
                </a:lnTo>
                <a:lnTo>
                  <a:pt x="502" y="332"/>
                </a:lnTo>
                <a:lnTo>
                  <a:pt x="500" y="354"/>
                </a:lnTo>
                <a:lnTo>
                  <a:pt x="494" y="376"/>
                </a:lnTo>
                <a:lnTo>
                  <a:pt x="472" y="370"/>
                </a:lnTo>
                <a:lnTo>
                  <a:pt x="442" y="414"/>
                </a:lnTo>
                <a:lnTo>
                  <a:pt x="456" y="432"/>
                </a:lnTo>
                <a:lnTo>
                  <a:pt x="456" y="432"/>
                </a:lnTo>
                <a:lnTo>
                  <a:pt x="440" y="446"/>
                </a:lnTo>
                <a:lnTo>
                  <a:pt x="420" y="456"/>
                </a:lnTo>
                <a:lnTo>
                  <a:pt x="408" y="438"/>
                </a:lnTo>
                <a:lnTo>
                  <a:pt x="356" y="448"/>
                </a:lnTo>
                <a:lnTo>
                  <a:pt x="354" y="470"/>
                </a:lnTo>
                <a:lnTo>
                  <a:pt x="354" y="470"/>
                </a:lnTo>
                <a:lnTo>
                  <a:pt x="332" y="468"/>
                </a:lnTo>
                <a:lnTo>
                  <a:pt x="310" y="462"/>
                </a:lnTo>
                <a:lnTo>
                  <a:pt x="316" y="440"/>
                </a:lnTo>
                <a:lnTo>
                  <a:pt x="272" y="412"/>
                </a:lnTo>
                <a:lnTo>
                  <a:pt x="254" y="426"/>
                </a:lnTo>
                <a:lnTo>
                  <a:pt x="254" y="426"/>
                </a:lnTo>
                <a:lnTo>
                  <a:pt x="240" y="408"/>
                </a:lnTo>
                <a:lnTo>
                  <a:pt x="228" y="390"/>
                </a:lnTo>
                <a:lnTo>
                  <a:pt x="248" y="378"/>
                </a:lnTo>
                <a:lnTo>
                  <a:pt x="238" y="326"/>
                </a:lnTo>
                <a:lnTo>
                  <a:pt x="214" y="324"/>
                </a:lnTo>
                <a:lnTo>
                  <a:pt x="214" y="324"/>
                </a:lnTo>
                <a:lnTo>
                  <a:pt x="218" y="302"/>
                </a:lnTo>
                <a:lnTo>
                  <a:pt x="222" y="280"/>
                </a:lnTo>
                <a:lnTo>
                  <a:pt x="246" y="286"/>
                </a:lnTo>
                <a:lnTo>
                  <a:pt x="274" y="240"/>
                </a:lnTo>
                <a:lnTo>
                  <a:pt x="260" y="222"/>
                </a:lnTo>
                <a:lnTo>
                  <a:pt x="260" y="222"/>
                </a:lnTo>
                <a:lnTo>
                  <a:pt x="278" y="208"/>
                </a:lnTo>
                <a:lnTo>
                  <a:pt x="296" y="198"/>
                </a:lnTo>
                <a:lnTo>
                  <a:pt x="308" y="218"/>
                </a:lnTo>
                <a:lnTo>
                  <a:pt x="360" y="206"/>
                </a:lnTo>
                <a:lnTo>
                  <a:pt x="362" y="184"/>
                </a:lnTo>
                <a:lnTo>
                  <a:pt x="362" y="184"/>
                </a:lnTo>
                <a:lnTo>
                  <a:pt x="384" y="186"/>
                </a:lnTo>
                <a:lnTo>
                  <a:pt x="406" y="192"/>
                </a:lnTo>
                <a:lnTo>
                  <a:pt x="400" y="214"/>
                </a:lnTo>
                <a:lnTo>
                  <a:pt x="444" y="244"/>
                </a:lnTo>
                <a:lnTo>
                  <a:pt x="462" y="228"/>
                </a:lnTo>
                <a:lnTo>
                  <a:pt x="462" y="228"/>
                </a:lnTo>
                <a:close/>
                <a:moveTo>
                  <a:pt x="392" y="274"/>
                </a:moveTo>
                <a:lnTo>
                  <a:pt x="392" y="274"/>
                </a:lnTo>
                <a:lnTo>
                  <a:pt x="402" y="282"/>
                </a:lnTo>
                <a:lnTo>
                  <a:pt x="410" y="292"/>
                </a:lnTo>
                <a:lnTo>
                  <a:pt x="416" y="304"/>
                </a:lnTo>
                <a:lnTo>
                  <a:pt x="420" y="314"/>
                </a:lnTo>
                <a:lnTo>
                  <a:pt x="420" y="314"/>
                </a:lnTo>
                <a:lnTo>
                  <a:pt x="420" y="326"/>
                </a:lnTo>
                <a:lnTo>
                  <a:pt x="420" y="338"/>
                </a:lnTo>
                <a:lnTo>
                  <a:pt x="416" y="350"/>
                </a:lnTo>
                <a:lnTo>
                  <a:pt x="410" y="362"/>
                </a:lnTo>
                <a:lnTo>
                  <a:pt x="410" y="362"/>
                </a:lnTo>
                <a:lnTo>
                  <a:pt x="402" y="372"/>
                </a:lnTo>
                <a:lnTo>
                  <a:pt x="394" y="380"/>
                </a:lnTo>
                <a:lnTo>
                  <a:pt x="382" y="386"/>
                </a:lnTo>
                <a:lnTo>
                  <a:pt x="372" y="388"/>
                </a:lnTo>
                <a:lnTo>
                  <a:pt x="372" y="388"/>
                </a:lnTo>
                <a:lnTo>
                  <a:pt x="360" y="390"/>
                </a:lnTo>
                <a:lnTo>
                  <a:pt x="348" y="388"/>
                </a:lnTo>
                <a:lnTo>
                  <a:pt x="336" y="386"/>
                </a:lnTo>
                <a:lnTo>
                  <a:pt x="324" y="380"/>
                </a:lnTo>
                <a:lnTo>
                  <a:pt x="324" y="380"/>
                </a:lnTo>
                <a:lnTo>
                  <a:pt x="314" y="372"/>
                </a:lnTo>
                <a:lnTo>
                  <a:pt x="306" y="362"/>
                </a:lnTo>
                <a:lnTo>
                  <a:pt x="300" y="352"/>
                </a:lnTo>
                <a:lnTo>
                  <a:pt x="298" y="340"/>
                </a:lnTo>
                <a:lnTo>
                  <a:pt x="298" y="340"/>
                </a:lnTo>
                <a:lnTo>
                  <a:pt x="296" y="328"/>
                </a:lnTo>
                <a:lnTo>
                  <a:pt x="296" y="316"/>
                </a:lnTo>
                <a:lnTo>
                  <a:pt x="300" y="304"/>
                </a:lnTo>
                <a:lnTo>
                  <a:pt x="306" y="294"/>
                </a:lnTo>
                <a:lnTo>
                  <a:pt x="306" y="294"/>
                </a:lnTo>
                <a:lnTo>
                  <a:pt x="314" y="284"/>
                </a:lnTo>
                <a:lnTo>
                  <a:pt x="324" y="276"/>
                </a:lnTo>
                <a:lnTo>
                  <a:pt x="334" y="270"/>
                </a:lnTo>
                <a:lnTo>
                  <a:pt x="346" y="266"/>
                </a:lnTo>
                <a:lnTo>
                  <a:pt x="346" y="266"/>
                </a:lnTo>
                <a:lnTo>
                  <a:pt x="358" y="264"/>
                </a:lnTo>
                <a:lnTo>
                  <a:pt x="370" y="266"/>
                </a:lnTo>
                <a:lnTo>
                  <a:pt x="382" y="270"/>
                </a:lnTo>
                <a:lnTo>
                  <a:pt x="392" y="274"/>
                </a:lnTo>
                <a:lnTo>
                  <a:pt x="392" y="274"/>
                </a:lnTo>
                <a:close/>
                <a:moveTo>
                  <a:pt x="396" y="320"/>
                </a:moveTo>
                <a:lnTo>
                  <a:pt x="396" y="320"/>
                </a:lnTo>
                <a:lnTo>
                  <a:pt x="394" y="312"/>
                </a:lnTo>
                <a:lnTo>
                  <a:pt x="390" y="306"/>
                </a:lnTo>
                <a:lnTo>
                  <a:pt x="386" y="300"/>
                </a:lnTo>
                <a:lnTo>
                  <a:pt x="380" y="296"/>
                </a:lnTo>
                <a:lnTo>
                  <a:pt x="380" y="296"/>
                </a:lnTo>
                <a:lnTo>
                  <a:pt x="372" y="292"/>
                </a:lnTo>
                <a:lnTo>
                  <a:pt x="366" y="290"/>
                </a:lnTo>
                <a:lnTo>
                  <a:pt x="358" y="288"/>
                </a:lnTo>
                <a:lnTo>
                  <a:pt x="350" y="290"/>
                </a:lnTo>
                <a:lnTo>
                  <a:pt x="350" y="290"/>
                </a:lnTo>
                <a:lnTo>
                  <a:pt x="344" y="292"/>
                </a:lnTo>
                <a:lnTo>
                  <a:pt x="336" y="296"/>
                </a:lnTo>
                <a:lnTo>
                  <a:pt x="330" y="300"/>
                </a:lnTo>
                <a:lnTo>
                  <a:pt x="326" y="306"/>
                </a:lnTo>
                <a:lnTo>
                  <a:pt x="326" y="306"/>
                </a:lnTo>
                <a:lnTo>
                  <a:pt x="322" y="314"/>
                </a:lnTo>
                <a:lnTo>
                  <a:pt x="320" y="320"/>
                </a:lnTo>
                <a:lnTo>
                  <a:pt x="320" y="328"/>
                </a:lnTo>
                <a:lnTo>
                  <a:pt x="320" y="336"/>
                </a:lnTo>
                <a:lnTo>
                  <a:pt x="320" y="336"/>
                </a:lnTo>
                <a:lnTo>
                  <a:pt x="322" y="342"/>
                </a:lnTo>
                <a:lnTo>
                  <a:pt x="326" y="348"/>
                </a:lnTo>
                <a:lnTo>
                  <a:pt x="332" y="354"/>
                </a:lnTo>
                <a:lnTo>
                  <a:pt x="338" y="360"/>
                </a:lnTo>
                <a:lnTo>
                  <a:pt x="338" y="360"/>
                </a:lnTo>
                <a:lnTo>
                  <a:pt x="344" y="364"/>
                </a:lnTo>
                <a:lnTo>
                  <a:pt x="352" y="366"/>
                </a:lnTo>
                <a:lnTo>
                  <a:pt x="358" y="366"/>
                </a:lnTo>
                <a:lnTo>
                  <a:pt x="366" y="366"/>
                </a:lnTo>
                <a:lnTo>
                  <a:pt x="366" y="366"/>
                </a:lnTo>
                <a:lnTo>
                  <a:pt x="374" y="362"/>
                </a:lnTo>
                <a:lnTo>
                  <a:pt x="380" y="360"/>
                </a:lnTo>
                <a:lnTo>
                  <a:pt x="386" y="354"/>
                </a:lnTo>
                <a:lnTo>
                  <a:pt x="390" y="348"/>
                </a:lnTo>
                <a:lnTo>
                  <a:pt x="390" y="348"/>
                </a:lnTo>
                <a:lnTo>
                  <a:pt x="394" y="342"/>
                </a:lnTo>
                <a:lnTo>
                  <a:pt x="396" y="334"/>
                </a:lnTo>
                <a:lnTo>
                  <a:pt x="396" y="326"/>
                </a:lnTo>
                <a:lnTo>
                  <a:pt x="396" y="320"/>
                </a:lnTo>
                <a:lnTo>
                  <a:pt x="396" y="320"/>
                </a:lnTo>
                <a:close/>
                <a:moveTo>
                  <a:pt x="398" y="268"/>
                </a:moveTo>
                <a:lnTo>
                  <a:pt x="398" y="268"/>
                </a:lnTo>
                <a:lnTo>
                  <a:pt x="408" y="276"/>
                </a:lnTo>
                <a:lnTo>
                  <a:pt x="418" y="288"/>
                </a:lnTo>
                <a:lnTo>
                  <a:pt x="424" y="300"/>
                </a:lnTo>
                <a:lnTo>
                  <a:pt x="428" y="312"/>
                </a:lnTo>
                <a:lnTo>
                  <a:pt x="430" y="326"/>
                </a:lnTo>
                <a:lnTo>
                  <a:pt x="430" y="340"/>
                </a:lnTo>
                <a:lnTo>
                  <a:pt x="426" y="354"/>
                </a:lnTo>
                <a:lnTo>
                  <a:pt x="418" y="366"/>
                </a:lnTo>
                <a:lnTo>
                  <a:pt x="418" y="366"/>
                </a:lnTo>
                <a:lnTo>
                  <a:pt x="410" y="378"/>
                </a:lnTo>
                <a:lnTo>
                  <a:pt x="398" y="388"/>
                </a:lnTo>
                <a:lnTo>
                  <a:pt x="386" y="394"/>
                </a:lnTo>
                <a:lnTo>
                  <a:pt x="374" y="398"/>
                </a:lnTo>
                <a:lnTo>
                  <a:pt x="360" y="400"/>
                </a:lnTo>
                <a:lnTo>
                  <a:pt x="346" y="398"/>
                </a:lnTo>
                <a:lnTo>
                  <a:pt x="332" y="394"/>
                </a:lnTo>
                <a:lnTo>
                  <a:pt x="318" y="388"/>
                </a:lnTo>
                <a:lnTo>
                  <a:pt x="318" y="388"/>
                </a:lnTo>
                <a:lnTo>
                  <a:pt x="308" y="378"/>
                </a:lnTo>
                <a:lnTo>
                  <a:pt x="298" y="368"/>
                </a:lnTo>
                <a:lnTo>
                  <a:pt x="292" y="356"/>
                </a:lnTo>
                <a:lnTo>
                  <a:pt x="288" y="342"/>
                </a:lnTo>
                <a:lnTo>
                  <a:pt x="286" y="328"/>
                </a:lnTo>
                <a:lnTo>
                  <a:pt x="288" y="314"/>
                </a:lnTo>
                <a:lnTo>
                  <a:pt x="292" y="302"/>
                </a:lnTo>
                <a:lnTo>
                  <a:pt x="298" y="288"/>
                </a:lnTo>
                <a:lnTo>
                  <a:pt x="298" y="288"/>
                </a:lnTo>
                <a:lnTo>
                  <a:pt x="308" y="276"/>
                </a:lnTo>
                <a:lnTo>
                  <a:pt x="318" y="268"/>
                </a:lnTo>
                <a:lnTo>
                  <a:pt x="330" y="262"/>
                </a:lnTo>
                <a:lnTo>
                  <a:pt x="344" y="256"/>
                </a:lnTo>
                <a:lnTo>
                  <a:pt x="358" y="256"/>
                </a:lnTo>
                <a:lnTo>
                  <a:pt x="370" y="256"/>
                </a:lnTo>
                <a:lnTo>
                  <a:pt x="384" y="260"/>
                </a:lnTo>
                <a:lnTo>
                  <a:pt x="398" y="268"/>
                </a:lnTo>
                <a:lnTo>
                  <a:pt x="398" y="268"/>
                </a:lnTo>
                <a:close/>
              </a:path>
            </a:pathLst>
          </a:custGeom>
          <a:solidFill>
            <a:srgbClr val="0070C0"/>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118">
            <a:extLst>
              <a:ext uri="{FF2B5EF4-FFF2-40B4-BE49-F238E27FC236}">
                <a16:creationId xmlns="" xmlns:a16="http://schemas.microsoft.com/office/drawing/2014/main" id="{0F172764-A339-41AD-A637-F30A25EB5967}"/>
              </a:ext>
            </a:extLst>
          </p:cNvPr>
          <p:cNvGrpSpPr/>
          <p:nvPr/>
        </p:nvGrpSpPr>
        <p:grpSpPr bwMode="gray">
          <a:xfrm>
            <a:off x="3529541" y="1239517"/>
            <a:ext cx="383245" cy="341133"/>
            <a:chOff x="3626110" y="1051460"/>
            <a:chExt cx="614793" cy="494442"/>
          </a:xfrm>
        </p:grpSpPr>
        <p:sp>
          <p:nvSpPr>
            <p:cNvPr id="32" name="Freeform 77">
              <a:extLst>
                <a:ext uri="{FF2B5EF4-FFF2-40B4-BE49-F238E27FC236}">
                  <a16:creationId xmlns="" xmlns:a16="http://schemas.microsoft.com/office/drawing/2014/main" id="{7B26D258-CFF1-4072-A1CE-DE38EC667FBF}"/>
                </a:ext>
              </a:extLst>
            </p:cNvPr>
            <p:cNvSpPr>
              <a:spLocks noEditPoints="1"/>
            </p:cNvSpPr>
            <p:nvPr/>
          </p:nvSpPr>
          <p:spPr bwMode="gray">
            <a:xfrm>
              <a:off x="3626110" y="1051460"/>
              <a:ext cx="614793" cy="494442"/>
            </a:xfrm>
            <a:custGeom>
              <a:avLst/>
              <a:gdLst/>
              <a:ahLst/>
              <a:cxnLst>
                <a:cxn ang="0">
                  <a:pos x="360" y="13"/>
                </a:cxn>
                <a:cxn ang="0">
                  <a:pos x="329" y="0"/>
                </a:cxn>
                <a:cxn ang="0">
                  <a:pos x="44" y="0"/>
                </a:cxn>
                <a:cxn ang="0">
                  <a:pos x="13" y="13"/>
                </a:cxn>
                <a:cxn ang="0">
                  <a:pos x="5" y="26"/>
                </a:cxn>
                <a:cxn ang="0">
                  <a:pos x="0" y="264"/>
                </a:cxn>
                <a:cxn ang="0">
                  <a:pos x="5" y="282"/>
                </a:cxn>
                <a:cxn ang="0">
                  <a:pos x="13" y="295"/>
                </a:cxn>
                <a:cxn ang="0">
                  <a:pos x="44" y="308"/>
                </a:cxn>
                <a:cxn ang="0">
                  <a:pos x="329" y="308"/>
                </a:cxn>
                <a:cxn ang="0">
                  <a:pos x="360" y="295"/>
                </a:cxn>
                <a:cxn ang="0">
                  <a:pos x="368" y="282"/>
                </a:cxn>
                <a:cxn ang="0">
                  <a:pos x="373" y="39"/>
                </a:cxn>
                <a:cxn ang="0">
                  <a:pos x="368" y="26"/>
                </a:cxn>
                <a:cxn ang="0">
                  <a:pos x="360" y="13"/>
                </a:cxn>
                <a:cxn ang="0">
                  <a:pos x="351" y="264"/>
                </a:cxn>
                <a:cxn ang="0">
                  <a:pos x="347" y="282"/>
                </a:cxn>
                <a:cxn ang="0">
                  <a:pos x="338" y="286"/>
                </a:cxn>
                <a:cxn ang="0">
                  <a:pos x="44" y="286"/>
                </a:cxn>
                <a:cxn ang="0">
                  <a:pos x="35" y="286"/>
                </a:cxn>
                <a:cxn ang="0">
                  <a:pos x="26" y="282"/>
                </a:cxn>
                <a:cxn ang="0">
                  <a:pos x="22" y="264"/>
                </a:cxn>
                <a:cxn ang="0">
                  <a:pos x="22" y="39"/>
                </a:cxn>
                <a:cxn ang="0">
                  <a:pos x="26" y="26"/>
                </a:cxn>
                <a:cxn ang="0">
                  <a:pos x="35" y="22"/>
                </a:cxn>
                <a:cxn ang="0">
                  <a:pos x="329" y="22"/>
                </a:cxn>
                <a:cxn ang="0">
                  <a:pos x="338" y="22"/>
                </a:cxn>
                <a:cxn ang="0">
                  <a:pos x="347" y="26"/>
                </a:cxn>
                <a:cxn ang="0">
                  <a:pos x="351" y="39"/>
                </a:cxn>
                <a:cxn ang="0">
                  <a:pos x="360" y="312"/>
                </a:cxn>
                <a:cxn ang="0">
                  <a:pos x="18" y="312"/>
                </a:cxn>
                <a:cxn ang="0">
                  <a:pos x="9" y="316"/>
                </a:cxn>
                <a:cxn ang="0">
                  <a:pos x="5" y="394"/>
                </a:cxn>
                <a:cxn ang="0">
                  <a:pos x="9" y="403"/>
                </a:cxn>
                <a:cxn ang="0">
                  <a:pos x="18" y="407"/>
                </a:cxn>
                <a:cxn ang="0">
                  <a:pos x="360" y="407"/>
                </a:cxn>
                <a:cxn ang="0">
                  <a:pos x="368" y="403"/>
                </a:cxn>
                <a:cxn ang="0">
                  <a:pos x="368" y="325"/>
                </a:cxn>
                <a:cxn ang="0">
                  <a:pos x="368" y="316"/>
                </a:cxn>
                <a:cxn ang="0">
                  <a:pos x="360" y="312"/>
                </a:cxn>
                <a:cxn ang="0">
                  <a:pos x="347" y="385"/>
                </a:cxn>
                <a:cxn ang="0">
                  <a:pos x="26" y="333"/>
                </a:cxn>
                <a:cxn ang="0">
                  <a:pos x="347" y="385"/>
                </a:cxn>
                <a:cxn ang="0">
                  <a:pos x="204" y="377"/>
                </a:cxn>
                <a:cxn ang="0">
                  <a:pos x="213" y="372"/>
                </a:cxn>
                <a:cxn ang="0">
                  <a:pos x="217" y="368"/>
                </a:cxn>
                <a:cxn ang="0">
                  <a:pos x="217" y="355"/>
                </a:cxn>
                <a:cxn ang="0">
                  <a:pos x="213" y="346"/>
                </a:cxn>
                <a:cxn ang="0">
                  <a:pos x="44" y="346"/>
                </a:cxn>
                <a:cxn ang="0">
                  <a:pos x="39" y="346"/>
                </a:cxn>
                <a:cxn ang="0">
                  <a:pos x="35" y="355"/>
                </a:cxn>
                <a:cxn ang="0">
                  <a:pos x="35" y="368"/>
                </a:cxn>
                <a:cxn ang="0">
                  <a:pos x="39" y="372"/>
                </a:cxn>
                <a:cxn ang="0">
                  <a:pos x="44" y="377"/>
                </a:cxn>
              </a:cxnLst>
              <a:rect l="0" t="0" r="r" b="b"/>
              <a:pathLst>
                <a:path w="373" h="407">
                  <a:moveTo>
                    <a:pt x="360" y="13"/>
                  </a:moveTo>
                  <a:lnTo>
                    <a:pt x="360" y="13"/>
                  </a:lnTo>
                  <a:lnTo>
                    <a:pt x="347" y="5"/>
                  </a:lnTo>
                  <a:lnTo>
                    <a:pt x="329" y="0"/>
                  </a:lnTo>
                  <a:lnTo>
                    <a:pt x="44" y="0"/>
                  </a:lnTo>
                  <a:lnTo>
                    <a:pt x="44" y="0"/>
                  </a:lnTo>
                  <a:lnTo>
                    <a:pt x="26" y="5"/>
                  </a:lnTo>
                  <a:lnTo>
                    <a:pt x="13" y="13"/>
                  </a:lnTo>
                  <a:lnTo>
                    <a:pt x="13" y="13"/>
                  </a:lnTo>
                  <a:lnTo>
                    <a:pt x="5" y="26"/>
                  </a:lnTo>
                  <a:lnTo>
                    <a:pt x="0" y="39"/>
                  </a:lnTo>
                  <a:lnTo>
                    <a:pt x="0" y="264"/>
                  </a:lnTo>
                  <a:lnTo>
                    <a:pt x="0" y="264"/>
                  </a:lnTo>
                  <a:lnTo>
                    <a:pt x="5" y="282"/>
                  </a:lnTo>
                  <a:lnTo>
                    <a:pt x="13" y="295"/>
                  </a:lnTo>
                  <a:lnTo>
                    <a:pt x="13" y="295"/>
                  </a:lnTo>
                  <a:lnTo>
                    <a:pt x="26" y="303"/>
                  </a:lnTo>
                  <a:lnTo>
                    <a:pt x="44" y="308"/>
                  </a:lnTo>
                  <a:lnTo>
                    <a:pt x="329" y="308"/>
                  </a:lnTo>
                  <a:lnTo>
                    <a:pt x="329" y="308"/>
                  </a:lnTo>
                  <a:lnTo>
                    <a:pt x="347" y="303"/>
                  </a:lnTo>
                  <a:lnTo>
                    <a:pt x="360" y="295"/>
                  </a:lnTo>
                  <a:lnTo>
                    <a:pt x="360" y="295"/>
                  </a:lnTo>
                  <a:lnTo>
                    <a:pt x="368" y="282"/>
                  </a:lnTo>
                  <a:lnTo>
                    <a:pt x="373" y="264"/>
                  </a:lnTo>
                  <a:lnTo>
                    <a:pt x="373" y="39"/>
                  </a:lnTo>
                  <a:lnTo>
                    <a:pt x="373" y="39"/>
                  </a:lnTo>
                  <a:lnTo>
                    <a:pt x="368" y="26"/>
                  </a:lnTo>
                  <a:lnTo>
                    <a:pt x="360" y="13"/>
                  </a:lnTo>
                  <a:lnTo>
                    <a:pt x="360" y="13"/>
                  </a:lnTo>
                  <a:close/>
                  <a:moveTo>
                    <a:pt x="351" y="264"/>
                  </a:moveTo>
                  <a:lnTo>
                    <a:pt x="351" y="264"/>
                  </a:lnTo>
                  <a:lnTo>
                    <a:pt x="351" y="273"/>
                  </a:lnTo>
                  <a:lnTo>
                    <a:pt x="347" y="282"/>
                  </a:lnTo>
                  <a:lnTo>
                    <a:pt x="347" y="282"/>
                  </a:lnTo>
                  <a:lnTo>
                    <a:pt x="338" y="286"/>
                  </a:lnTo>
                  <a:lnTo>
                    <a:pt x="329" y="286"/>
                  </a:lnTo>
                  <a:lnTo>
                    <a:pt x="44" y="286"/>
                  </a:lnTo>
                  <a:lnTo>
                    <a:pt x="44" y="286"/>
                  </a:lnTo>
                  <a:lnTo>
                    <a:pt x="35" y="286"/>
                  </a:lnTo>
                  <a:lnTo>
                    <a:pt x="26" y="282"/>
                  </a:lnTo>
                  <a:lnTo>
                    <a:pt x="26" y="282"/>
                  </a:lnTo>
                  <a:lnTo>
                    <a:pt x="22" y="273"/>
                  </a:lnTo>
                  <a:lnTo>
                    <a:pt x="22" y="264"/>
                  </a:lnTo>
                  <a:lnTo>
                    <a:pt x="22" y="39"/>
                  </a:lnTo>
                  <a:lnTo>
                    <a:pt x="22" y="39"/>
                  </a:lnTo>
                  <a:lnTo>
                    <a:pt x="22" y="35"/>
                  </a:lnTo>
                  <a:lnTo>
                    <a:pt x="26" y="26"/>
                  </a:lnTo>
                  <a:lnTo>
                    <a:pt x="26" y="26"/>
                  </a:lnTo>
                  <a:lnTo>
                    <a:pt x="35" y="22"/>
                  </a:lnTo>
                  <a:lnTo>
                    <a:pt x="44" y="22"/>
                  </a:lnTo>
                  <a:lnTo>
                    <a:pt x="329" y="22"/>
                  </a:lnTo>
                  <a:lnTo>
                    <a:pt x="329" y="22"/>
                  </a:lnTo>
                  <a:lnTo>
                    <a:pt x="338" y="22"/>
                  </a:lnTo>
                  <a:lnTo>
                    <a:pt x="347" y="26"/>
                  </a:lnTo>
                  <a:lnTo>
                    <a:pt x="347" y="26"/>
                  </a:lnTo>
                  <a:lnTo>
                    <a:pt x="351" y="35"/>
                  </a:lnTo>
                  <a:lnTo>
                    <a:pt x="351" y="39"/>
                  </a:lnTo>
                  <a:lnTo>
                    <a:pt x="351" y="264"/>
                  </a:lnTo>
                  <a:close/>
                  <a:moveTo>
                    <a:pt x="360" y="312"/>
                  </a:moveTo>
                  <a:lnTo>
                    <a:pt x="18" y="312"/>
                  </a:lnTo>
                  <a:lnTo>
                    <a:pt x="18" y="312"/>
                  </a:lnTo>
                  <a:lnTo>
                    <a:pt x="9" y="316"/>
                  </a:lnTo>
                  <a:lnTo>
                    <a:pt x="9" y="316"/>
                  </a:lnTo>
                  <a:lnTo>
                    <a:pt x="5" y="325"/>
                  </a:lnTo>
                  <a:lnTo>
                    <a:pt x="5" y="394"/>
                  </a:lnTo>
                  <a:lnTo>
                    <a:pt x="5" y="394"/>
                  </a:lnTo>
                  <a:lnTo>
                    <a:pt x="9" y="403"/>
                  </a:lnTo>
                  <a:lnTo>
                    <a:pt x="9" y="403"/>
                  </a:lnTo>
                  <a:lnTo>
                    <a:pt x="18" y="407"/>
                  </a:lnTo>
                  <a:lnTo>
                    <a:pt x="360" y="407"/>
                  </a:lnTo>
                  <a:lnTo>
                    <a:pt x="360" y="407"/>
                  </a:lnTo>
                  <a:lnTo>
                    <a:pt x="368" y="403"/>
                  </a:lnTo>
                  <a:lnTo>
                    <a:pt x="368" y="403"/>
                  </a:lnTo>
                  <a:lnTo>
                    <a:pt x="368" y="394"/>
                  </a:lnTo>
                  <a:lnTo>
                    <a:pt x="368" y="325"/>
                  </a:lnTo>
                  <a:lnTo>
                    <a:pt x="368" y="325"/>
                  </a:lnTo>
                  <a:lnTo>
                    <a:pt x="368" y="316"/>
                  </a:lnTo>
                  <a:lnTo>
                    <a:pt x="368" y="316"/>
                  </a:lnTo>
                  <a:lnTo>
                    <a:pt x="360" y="312"/>
                  </a:lnTo>
                  <a:lnTo>
                    <a:pt x="360" y="312"/>
                  </a:lnTo>
                  <a:close/>
                  <a:moveTo>
                    <a:pt x="347" y="385"/>
                  </a:moveTo>
                  <a:lnTo>
                    <a:pt x="26" y="385"/>
                  </a:lnTo>
                  <a:lnTo>
                    <a:pt x="26" y="333"/>
                  </a:lnTo>
                  <a:lnTo>
                    <a:pt x="347" y="333"/>
                  </a:lnTo>
                  <a:lnTo>
                    <a:pt x="347" y="385"/>
                  </a:lnTo>
                  <a:close/>
                  <a:moveTo>
                    <a:pt x="44" y="377"/>
                  </a:moveTo>
                  <a:lnTo>
                    <a:pt x="204" y="377"/>
                  </a:lnTo>
                  <a:lnTo>
                    <a:pt x="204" y="377"/>
                  </a:lnTo>
                  <a:lnTo>
                    <a:pt x="213" y="372"/>
                  </a:lnTo>
                  <a:lnTo>
                    <a:pt x="213" y="372"/>
                  </a:lnTo>
                  <a:lnTo>
                    <a:pt x="217" y="368"/>
                  </a:lnTo>
                  <a:lnTo>
                    <a:pt x="217" y="355"/>
                  </a:lnTo>
                  <a:lnTo>
                    <a:pt x="217" y="355"/>
                  </a:lnTo>
                  <a:lnTo>
                    <a:pt x="213" y="346"/>
                  </a:lnTo>
                  <a:lnTo>
                    <a:pt x="213" y="346"/>
                  </a:lnTo>
                  <a:lnTo>
                    <a:pt x="204" y="346"/>
                  </a:lnTo>
                  <a:lnTo>
                    <a:pt x="44" y="346"/>
                  </a:lnTo>
                  <a:lnTo>
                    <a:pt x="44" y="346"/>
                  </a:lnTo>
                  <a:lnTo>
                    <a:pt x="39" y="346"/>
                  </a:lnTo>
                  <a:lnTo>
                    <a:pt x="39" y="346"/>
                  </a:lnTo>
                  <a:lnTo>
                    <a:pt x="35" y="355"/>
                  </a:lnTo>
                  <a:lnTo>
                    <a:pt x="35" y="368"/>
                  </a:lnTo>
                  <a:lnTo>
                    <a:pt x="35" y="368"/>
                  </a:lnTo>
                  <a:lnTo>
                    <a:pt x="39" y="372"/>
                  </a:lnTo>
                  <a:lnTo>
                    <a:pt x="39" y="372"/>
                  </a:lnTo>
                  <a:lnTo>
                    <a:pt x="44" y="377"/>
                  </a:lnTo>
                  <a:lnTo>
                    <a:pt x="44" y="377"/>
                  </a:lnTo>
                  <a:close/>
                </a:path>
              </a:pathLst>
            </a:custGeom>
            <a:solidFill>
              <a:srgbClr val="0070C0"/>
            </a:solidFill>
            <a:ln w="9525">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78">
              <a:extLst>
                <a:ext uri="{FF2B5EF4-FFF2-40B4-BE49-F238E27FC236}">
                  <a16:creationId xmlns="" xmlns:a16="http://schemas.microsoft.com/office/drawing/2014/main" id="{8F90E646-5342-4638-8125-093D3EAA6E67}"/>
                </a:ext>
              </a:extLst>
            </p:cNvPr>
            <p:cNvSpPr>
              <a:spLocks noEditPoints="1"/>
            </p:cNvSpPr>
            <p:nvPr/>
          </p:nvSpPr>
          <p:spPr bwMode="gray">
            <a:xfrm>
              <a:off x="3741487" y="1098839"/>
              <a:ext cx="384039" cy="279414"/>
            </a:xfrm>
            <a:custGeom>
              <a:avLst/>
              <a:gdLst/>
              <a:ahLst/>
              <a:cxnLst>
                <a:cxn ang="0">
                  <a:pos x="95" y="0"/>
                </a:cxn>
                <a:cxn ang="0">
                  <a:pos x="34" y="35"/>
                </a:cxn>
                <a:cxn ang="0">
                  <a:pos x="4" y="91"/>
                </a:cxn>
                <a:cxn ang="0">
                  <a:pos x="4" y="139"/>
                </a:cxn>
                <a:cxn ang="0">
                  <a:pos x="34" y="199"/>
                </a:cxn>
                <a:cxn ang="0">
                  <a:pos x="95" y="230"/>
                </a:cxn>
                <a:cxn ang="0">
                  <a:pos x="138" y="230"/>
                </a:cxn>
                <a:cxn ang="0">
                  <a:pos x="199" y="199"/>
                </a:cxn>
                <a:cxn ang="0">
                  <a:pos x="229" y="139"/>
                </a:cxn>
                <a:cxn ang="0">
                  <a:pos x="229" y="91"/>
                </a:cxn>
                <a:cxn ang="0">
                  <a:pos x="199" y="35"/>
                </a:cxn>
                <a:cxn ang="0">
                  <a:pos x="138" y="0"/>
                </a:cxn>
                <a:cxn ang="0">
                  <a:pos x="95" y="221"/>
                </a:cxn>
                <a:cxn ang="0">
                  <a:pos x="73" y="178"/>
                </a:cxn>
                <a:cxn ang="0">
                  <a:pos x="112" y="221"/>
                </a:cxn>
                <a:cxn ang="0">
                  <a:pos x="8" y="121"/>
                </a:cxn>
                <a:cxn ang="0">
                  <a:pos x="56" y="143"/>
                </a:cxn>
                <a:cxn ang="0">
                  <a:pos x="21" y="169"/>
                </a:cxn>
                <a:cxn ang="0">
                  <a:pos x="8" y="121"/>
                </a:cxn>
                <a:cxn ang="0">
                  <a:pos x="121" y="9"/>
                </a:cxn>
                <a:cxn ang="0">
                  <a:pos x="147" y="30"/>
                </a:cxn>
                <a:cxn ang="0">
                  <a:pos x="160" y="65"/>
                </a:cxn>
                <a:cxn ang="0">
                  <a:pos x="169" y="113"/>
                </a:cxn>
                <a:cxn ang="0">
                  <a:pos x="160" y="65"/>
                </a:cxn>
                <a:cxn ang="0">
                  <a:pos x="73" y="56"/>
                </a:cxn>
                <a:cxn ang="0">
                  <a:pos x="95" y="9"/>
                </a:cxn>
                <a:cxn ang="0">
                  <a:pos x="112" y="65"/>
                </a:cxn>
                <a:cxn ang="0">
                  <a:pos x="60" y="113"/>
                </a:cxn>
                <a:cxn ang="0">
                  <a:pos x="112" y="65"/>
                </a:cxn>
                <a:cxn ang="0">
                  <a:pos x="8" y="113"/>
                </a:cxn>
                <a:cxn ang="0">
                  <a:pos x="60" y="65"/>
                </a:cxn>
                <a:cxn ang="0">
                  <a:pos x="56" y="113"/>
                </a:cxn>
                <a:cxn ang="0">
                  <a:pos x="112" y="121"/>
                </a:cxn>
                <a:cxn ang="0">
                  <a:pos x="69" y="169"/>
                </a:cxn>
                <a:cxn ang="0">
                  <a:pos x="60" y="121"/>
                </a:cxn>
                <a:cxn ang="0">
                  <a:pos x="160" y="178"/>
                </a:cxn>
                <a:cxn ang="0">
                  <a:pos x="134" y="221"/>
                </a:cxn>
                <a:cxn ang="0">
                  <a:pos x="121" y="169"/>
                </a:cxn>
                <a:cxn ang="0">
                  <a:pos x="169" y="121"/>
                </a:cxn>
                <a:cxn ang="0">
                  <a:pos x="121" y="169"/>
                </a:cxn>
                <a:cxn ang="0">
                  <a:pos x="225" y="121"/>
                </a:cxn>
                <a:cxn ang="0">
                  <a:pos x="212" y="169"/>
                </a:cxn>
                <a:cxn ang="0">
                  <a:pos x="177" y="143"/>
                </a:cxn>
                <a:cxn ang="0">
                  <a:pos x="177" y="113"/>
                </a:cxn>
                <a:cxn ang="0">
                  <a:pos x="169" y="65"/>
                </a:cxn>
                <a:cxn ang="0">
                  <a:pos x="220" y="87"/>
                </a:cxn>
                <a:cxn ang="0">
                  <a:pos x="207" y="56"/>
                </a:cxn>
                <a:cxn ang="0">
                  <a:pos x="160" y="30"/>
                </a:cxn>
                <a:cxn ang="0">
                  <a:pos x="173" y="22"/>
                </a:cxn>
                <a:cxn ang="0">
                  <a:pos x="207" y="56"/>
                </a:cxn>
                <a:cxn ang="0">
                  <a:pos x="43" y="39"/>
                </a:cxn>
                <a:cxn ang="0">
                  <a:pos x="86" y="13"/>
                </a:cxn>
                <a:cxn ang="0">
                  <a:pos x="30" y="56"/>
                </a:cxn>
                <a:cxn ang="0">
                  <a:pos x="43" y="39"/>
                </a:cxn>
                <a:cxn ang="0">
                  <a:pos x="65" y="178"/>
                </a:cxn>
                <a:cxn ang="0">
                  <a:pos x="86" y="217"/>
                </a:cxn>
                <a:cxn ang="0">
                  <a:pos x="43" y="191"/>
                </a:cxn>
                <a:cxn ang="0">
                  <a:pos x="194" y="191"/>
                </a:cxn>
                <a:cxn ang="0">
                  <a:pos x="147" y="221"/>
                </a:cxn>
                <a:cxn ang="0">
                  <a:pos x="169" y="178"/>
                </a:cxn>
                <a:cxn ang="0">
                  <a:pos x="194" y="191"/>
                </a:cxn>
              </a:cxnLst>
              <a:rect l="0" t="0" r="r" b="b"/>
              <a:pathLst>
                <a:path w="233" h="230">
                  <a:moveTo>
                    <a:pt x="117" y="0"/>
                  </a:moveTo>
                  <a:lnTo>
                    <a:pt x="117" y="0"/>
                  </a:lnTo>
                  <a:lnTo>
                    <a:pt x="95" y="0"/>
                  </a:lnTo>
                  <a:lnTo>
                    <a:pt x="73" y="9"/>
                  </a:lnTo>
                  <a:lnTo>
                    <a:pt x="52" y="22"/>
                  </a:lnTo>
                  <a:lnTo>
                    <a:pt x="34" y="35"/>
                  </a:lnTo>
                  <a:lnTo>
                    <a:pt x="21" y="52"/>
                  </a:lnTo>
                  <a:lnTo>
                    <a:pt x="8" y="69"/>
                  </a:lnTo>
                  <a:lnTo>
                    <a:pt x="4" y="91"/>
                  </a:lnTo>
                  <a:lnTo>
                    <a:pt x="0" y="117"/>
                  </a:lnTo>
                  <a:lnTo>
                    <a:pt x="0" y="117"/>
                  </a:lnTo>
                  <a:lnTo>
                    <a:pt x="4" y="139"/>
                  </a:lnTo>
                  <a:lnTo>
                    <a:pt x="8" y="160"/>
                  </a:lnTo>
                  <a:lnTo>
                    <a:pt x="21" y="182"/>
                  </a:lnTo>
                  <a:lnTo>
                    <a:pt x="34" y="199"/>
                  </a:lnTo>
                  <a:lnTo>
                    <a:pt x="52" y="212"/>
                  </a:lnTo>
                  <a:lnTo>
                    <a:pt x="73" y="221"/>
                  </a:lnTo>
                  <a:lnTo>
                    <a:pt x="95" y="230"/>
                  </a:lnTo>
                  <a:lnTo>
                    <a:pt x="117" y="230"/>
                  </a:lnTo>
                  <a:lnTo>
                    <a:pt x="117" y="230"/>
                  </a:lnTo>
                  <a:lnTo>
                    <a:pt x="138" y="230"/>
                  </a:lnTo>
                  <a:lnTo>
                    <a:pt x="160" y="221"/>
                  </a:lnTo>
                  <a:lnTo>
                    <a:pt x="182" y="212"/>
                  </a:lnTo>
                  <a:lnTo>
                    <a:pt x="199" y="199"/>
                  </a:lnTo>
                  <a:lnTo>
                    <a:pt x="212" y="182"/>
                  </a:lnTo>
                  <a:lnTo>
                    <a:pt x="225" y="160"/>
                  </a:lnTo>
                  <a:lnTo>
                    <a:pt x="229" y="139"/>
                  </a:lnTo>
                  <a:lnTo>
                    <a:pt x="233" y="117"/>
                  </a:lnTo>
                  <a:lnTo>
                    <a:pt x="233" y="117"/>
                  </a:lnTo>
                  <a:lnTo>
                    <a:pt x="229" y="91"/>
                  </a:lnTo>
                  <a:lnTo>
                    <a:pt x="225" y="69"/>
                  </a:lnTo>
                  <a:lnTo>
                    <a:pt x="212" y="52"/>
                  </a:lnTo>
                  <a:lnTo>
                    <a:pt x="199" y="35"/>
                  </a:lnTo>
                  <a:lnTo>
                    <a:pt x="182" y="22"/>
                  </a:lnTo>
                  <a:lnTo>
                    <a:pt x="160" y="9"/>
                  </a:lnTo>
                  <a:lnTo>
                    <a:pt x="138" y="0"/>
                  </a:lnTo>
                  <a:lnTo>
                    <a:pt x="117" y="0"/>
                  </a:lnTo>
                  <a:lnTo>
                    <a:pt x="117" y="0"/>
                  </a:lnTo>
                  <a:close/>
                  <a:moveTo>
                    <a:pt x="95" y="221"/>
                  </a:moveTo>
                  <a:lnTo>
                    <a:pt x="95" y="221"/>
                  </a:lnTo>
                  <a:lnTo>
                    <a:pt x="82" y="199"/>
                  </a:lnTo>
                  <a:lnTo>
                    <a:pt x="73" y="178"/>
                  </a:lnTo>
                  <a:lnTo>
                    <a:pt x="112" y="178"/>
                  </a:lnTo>
                  <a:lnTo>
                    <a:pt x="112" y="221"/>
                  </a:lnTo>
                  <a:lnTo>
                    <a:pt x="112" y="221"/>
                  </a:lnTo>
                  <a:lnTo>
                    <a:pt x="95" y="221"/>
                  </a:lnTo>
                  <a:lnTo>
                    <a:pt x="95" y="221"/>
                  </a:lnTo>
                  <a:close/>
                  <a:moveTo>
                    <a:pt x="8" y="121"/>
                  </a:moveTo>
                  <a:lnTo>
                    <a:pt x="56" y="121"/>
                  </a:lnTo>
                  <a:lnTo>
                    <a:pt x="56" y="121"/>
                  </a:lnTo>
                  <a:lnTo>
                    <a:pt x="56" y="143"/>
                  </a:lnTo>
                  <a:lnTo>
                    <a:pt x="60" y="169"/>
                  </a:lnTo>
                  <a:lnTo>
                    <a:pt x="21" y="169"/>
                  </a:lnTo>
                  <a:lnTo>
                    <a:pt x="21" y="169"/>
                  </a:lnTo>
                  <a:lnTo>
                    <a:pt x="13" y="143"/>
                  </a:lnTo>
                  <a:lnTo>
                    <a:pt x="8" y="121"/>
                  </a:lnTo>
                  <a:lnTo>
                    <a:pt x="8" y="121"/>
                  </a:lnTo>
                  <a:close/>
                  <a:moveTo>
                    <a:pt x="121" y="56"/>
                  </a:moveTo>
                  <a:lnTo>
                    <a:pt x="121" y="9"/>
                  </a:lnTo>
                  <a:lnTo>
                    <a:pt x="121" y="9"/>
                  </a:lnTo>
                  <a:lnTo>
                    <a:pt x="134" y="9"/>
                  </a:lnTo>
                  <a:lnTo>
                    <a:pt x="134" y="9"/>
                  </a:lnTo>
                  <a:lnTo>
                    <a:pt x="147" y="30"/>
                  </a:lnTo>
                  <a:lnTo>
                    <a:pt x="160" y="56"/>
                  </a:lnTo>
                  <a:lnTo>
                    <a:pt x="121" y="56"/>
                  </a:lnTo>
                  <a:close/>
                  <a:moveTo>
                    <a:pt x="160" y="65"/>
                  </a:moveTo>
                  <a:lnTo>
                    <a:pt x="160" y="65"/>
                  </a:lnTo>
                  <a:lnTo>
                    <a:pt x="169" y="87"/>
                  </a:lnTo>
                  <a:lnTo>
                    <a:pt x="169" y="113"/>
                  </a:lnTo>
                  <a:lnTo>
                    <a:pt x="121" y="113"/>
                  </a:lnTo>
                  <a:lnTo>
                    <a:pt x="121" y="65"/>
                  </a:lnTo>
                  <a:lnTo>
                    <a:pt x="160" y="65"/>
                  </a:lnTo>
                  <a:close/>
                  <a:moveTo>
                    <a:pt x="112" y="56"/>
                  </a:moveTo>
                  <a:lnTo>
                    <a:pt x="73" y="56"/>
                  </a:lnTo>
                  <a:lnTo>
                    <a:pt x="73" y="56"/>
                  </a:lnTo>
                  <a:lnTo>
                    <a:pt x="82" y="30"/>
                  </a:lnTo>
                  <a:lnTo>
                    <a:pt x="95" y="9"/>
                  </a:lnTo>
                  <a:lnTo>
                    <a:pt x="95" y="9"/>
                  </a:lnTo>
                  <a:lnTo>
                    <a:pt x="112" y="9"/>
                  </a:lnTo>
                  <a:lnTo>
                    <a:pt x="112" y="56"/>
                  </a:lnTo>
                  <a:close/>
                  <a:moveTo>
                    <a:pt x="112" y="65"/>
                  </a:moveTo>
                  <a:lnTo>
                    <a:pt x="112" y="113"/>
                  </a:lnTo>
                  <a:lnTo>
                    <a:pt x="60" y="113"/>
                  </a:lnTo>
                  <a:lnTo>
                    <a:pt x="60" y="113"/>
                  </a:lnTo>
                  <a:lnTo>
                    <a:pt x="65" y="87"/>
                  </a:lnTo>
                  <a:lnTo>
                    <a:pt x="69" y="65"/>
                  </a:lnTo>
                  <a:lnTo>
                    <a:pt x="112" y="65"/>
                  </a:lnTo>
                  <a:close/>
                  <a:moveTo>
                    <a:pt x="56" y="113"/>
                  </a:moveTo>
                  <a:lnTo>
                    <a:pt x="8" y="113"/>
                  </a:lnTo>
                  <a:lnTo>
                    <a:pt x="8" y="113"/>
                  </a:lnTo>
                  <a:lnTo>
                    <a:pt x="13" y="87"/>
                  </a:lnTo>
                  <a:lnTo>
                    <a:pt x="21" y="65"/>
                  </a:lnTo>
                  <a:lnTo>
                    <a:pt x="60" y="65"/>
                  </a:lnTo>
                  <a:lnTo>
                    <a:pt x="60" y="65"/>
                  </a:lnTo>
                  <a:lnTo>
                    <a:pt x="56" y="87"/>
                  </a:lnTo>
                  <a:lnTo>
                    <a:pt x="56" y="113"/>
                  </a:lnTo>
                  <a:lnTo>
                    <a:pt x="56" y="113"/>
                  </a:lnTo>
                  <a:close/>
                  <a:moveTo>
                    <a:pt x="60" y="121"/>
                  </a:moveTo>
                  <a:lnTo>
                    <a:pt x="112" y="121"/>
                  </a:lnTo>
                  <a:lnTo>
                    <a:pt x="112" y="169"/>
                  </a:lnTo>
                  <a:lnTo>
                    <a:pt x="69" y="169"/>
                  </a:lnTo>
                  <a:lnTo>
                    <a:pt x="69" y="169"/>
                  </a:lnTo>
                  <a:lnTo>
                    <a:pt x="65" y="143"/>
                  </a:lnTo>
                  <a:lnTo>
                    <a:pt x="60" y="121"/>
                  </a:lnTo>
                  <a:lnTo>
                    <a:pt x="60" y="121"/>
                  </a:lnTo>
                  <a:close/>
                  <a:moveTo>
                    <a:pt x="121" y="178"/>
                  </a:moveTo>
                  <a:lnTo>
                    <a:pt x="160" y="178"/>
                  </a:lnTo>
                  <a:lnTo>
                    <a:pt x="160" y="178"/>
                  </a:lnTo>
                  <a:lnTo>
                    <a:pt x="147" y="199"/>
                  </a:lnTo>
                  <a:lnTo>
                    <a:pt x="134" y="221"/>
                  </a:lnTo>
                  <a:lnTo>
                    <a:pt x="134" y="221"/>
                  </a:lnTo>
                  <a:lnTo>
                    <a:pt x="121" y="221"/>
                  </a:lnTo>
                  <a:lnTo>
                    <a:pt x="121" y="178"/>
                  </a:lnTo>
                  <a:close/>
                  <a:moveTo>
                    <a:pt x="121" y="169"/>
                  </a:moveTo>
                  <a:lnTo>
                    <a:pt x="121" y="121"/>
                  </a:lnTo>
                  <a:lnTo>
                    <a:pt x="169" y="121"/>
                  </a:lnTo>
                  <a:lnTo>
                    <a:pt x="169" y="121"/>
                  </a:lnTo>
                  <a:lnTo>
                    <a:pt x="169" y="143"/>
                  </a:lnTo>
                  <a:lnTo>
                    <a:pt x="160" y="169"/>
                  </a:lnTo>
                  <a:lnTo>
                    <a:pt x="121" y="169"/>
                  </a:lnTo>
                  <a:close/>
                  <a:moveTo>
                    <a:pt x="177" y="121"/>
                  </a:moveTo>
                  <a:lnTo>
                    <a:pt x="225" y="121"/>
                  </a:lnTo>
                  <a:lnTo>
                    <a:pt x="225" y="121"/>
                  </a:lnTo>
                  <a:lnTo>
                    <a:pt x="220" y="147"/>
                  </a:lnTo>
                  <a:lnTo>
                    <a:pt x="212" y="169"/>
                  </a:lnTo>
                  <a:lnTo>
                    <a:pt x="212" y="169"/>
                  </a:lnTo>
                  <a:lnTo>
                    <a:pt x="169" y="169"/>
                  </a:lnTo>
                  <a:lnTo>
                    <a:pt x="169" y="169"/>
                  </a:lnTo>
                  <a:lnTo>
                    <a:pt x="177" y="143"/>
                  </a:lnTo>
                  <a:lnTo>
                    <a:pt x="177" y="121"/>
                  </a:lnTo>
                  <a:lnTo>
                    <a:pt x="177" y="121"/>
                  </a:lnTo>
                  <a:close/>
                  <a:moveTo>
                    <a:pt x="177" y="113"/>
                  </a:moveTo>
                  <a:lnTo>
                    <a:pt x="177" y="113"/>
                  </a:lnTo>
                  <a:lnTo>
                    <a:pt x="177" y="87"/>
                  </a:lnTo>
                  <a:lnTo>
                    <a:pt x="169" y="65"/>
                  </a:lnTo>
                  <a:lnTo>
                    <a:pt x="212" y="65"/>
                  </a:lnTo>
                  <a:lnTo>
                    <a:pt x="212" y="65"/>
                  </a:lnTo>
                  <a:lnTo>
                    <a:pt x="220" y="87"/>
                  </a:lnTo>
                  <a:lnTo>
                    <a:pt x="225" y="113"/>
                  </a:lnTo>
                  <a:lnTo>
                    <a:pt x="177" y="113"/>
                  </a:lnTo>
                  <a:close/>
                  <a:moveTo>
                    <a:pt x="207" y="56"/>
                  </a:moveTo>
                  <a:lnTo>
                    <a:pt x="169" y="56"/>
                  </a:lnTo>
                  <a:lnTo>
                    <a:pt x="169" y="56"/>
                  </a:lnTo>
                  <a:lnTo>
                    <a:pt x="160" y="30"/>
                  </a:lnTo>
                  <a:lnTo>
                    <a:pt x="147" y="13"/>
                  </a:lnTo>
                  <a:lnTo>
                    <a:pt x="147" y="13"/>
                  </a:lnTo>
                  <a:lnTo>
                    <a:pt x="173" y="22"/>
                  </a:lnTo>
                  <a:lnTo>
                    <a:pt x="194" y="39"/>
                  </a:lnTo>
                  <a:lnTo>
                    <a:pt x="194" y="39"/>
                  </a:lnTo>
                  <a:lnTo>
                    <a:pt x="207" y="56"/>
                  </a:lnTo>
                  <a:lnTo>
                    <a:pt x="207" y="56"/>
                  </a:lnTo>
                  <a:close/>
                  <a:moveTo>
                    <a:pt x="43" y="39"/>
                  </a:moveTo>
                  <a:lnTo>
                    <a:pt x="43" y="39"/>
                  </a:lnTo>
                  <a:lnTo>
                    <a:pt x="60" y="22"/>
                  </a:lnTo>
                  <a:lnTo>
                    <a:pt x="86" y="13"/>
                  </a:lnTo>
                  <a:lnTo>
                    <a:pt x="86" y="13"/>
                  </a:lnTo>
                  <a:lnTo>
                    <a:pt x="73" y="35"/>
                  </a:lnTo>
                  <a:lnTo>
                    <a:pt x="65" y="56"/>
                  </a:lnTo>
                  <a:lnTo>
                    <a:pt x="30" y="56"/>
                  </a:lnTo>
                  <a:lnTo>
                    <a:pt x="30" y="56"/>
                  </a:lnTo>
                  <a:lnTo>
                    <a:pt x="43" y="39"/>
                  </a:lnTo>
                  <a:lnTo>
                    <a:pt x="43" y="39"/>
                  </a:lnTo>
                  <a:close/>
                  <a:moveTo>
                    <a:pt x="30" y="178"/>
                  </a:moveTo>
                  <a:lnTo>
                    <a:pt x="65" y="178"/>
                  </a:lnTo>
                  <a:lnTo>
                    <a:pt x="65" y="178"/>
                  </a:lnTo>
                  <a:lnTo>
                    <a:pt x="73" y="199"/>
                  </a:lnTo>
                  <a:lnTo>
                    <a:pt x="86" y="217"/>
                  </a:lnTo>
                  <a:lnTo>
                    <a:pt x="86" y="217"/>
                  </a:lnTo>
                  <a:lnTo>
                    <a:pt x="60" y="208"/>
                  </a:lnTo>
                  <a:lnTo>
                    <a:pt x="43" y="191"/>
                  </a:lnTo>
                  <a:lnTo>
                    <a:pt x="43" y="191"/>
                  </a:lnTo>
                  <a:lnTo>
                    <a:pt x="30" y="178"/>
                  </a:lnTo>
                  <a:lnTo>
                    <a:pt x="30" y="178"/>
                  </a:lnTo>
                  <a:close/>
                  <a:moveTo>
                    <a:pt x="194" y="191"/>
                  </a:moveTo>
                  <a:lnTo>
                    <a:pt x="194" y="191"/>
                  </a:lnTo>
                  <a:lnTo>
                    <a:pt x="173" y="208"/>
                  </a:lnTo>
                  <a:lnTo>
                    <a:pt x="147" y="221"/>
                  </a:lnTo>
                  <a:lnTo>
                    <a:pt x="147" y="221"/>
                  </a:lnTo>
                  <a:lnTo>
                    <a:pt x="160" y="199"/>
                  </a:lnTo>
                  <a:lnTo>
                    <a:pt x="169" y="178"/>
                  </a:lnTo>
                  <a:lnTo>
                    <a:pt x="207" y="178"/>
                  </a:lnTo>
                  <a:lnTo>
                    <a:pt x="207" y="178"/>
                  </a:lnTo>
                  <a:lnTo>
                    <a:pt x="194" y="191"/>
                  </a:lnTo>
                  <a:lnTo>
                    <a:pt x="194" y="191"/>
                  </a:lnTo>
                  <a:close/>
                </a:path>
              </a:pathLst>
            </a:custGeom>
            <a:solidFill>
              <a:srgbClr val="0070C0"/>
            </a:solidFill>
            <a:ln w="9525">
              <a:solidFill>
                <a:srgbClr val="0070C0"/>
              </a:solidFill>
              <a:round/>
              <a:headEnd/>
              <a:tailEnd/>
            </a:ln>
          </p:spPr>
          <p:txBody>
            <a:bodyPr vert="horz" wrap="square" lIns="91440" tIns="45720" rIns="91440" bIns="45720" numCol="1" anchor="t" anchorCtr="0" compatLnSpc="1">
              <a:prstTxWarp prst="textNoShape">
                <a:avLst/>
              </a:prstTxWarp>
            </a:bodyP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Shape 502">
            <a:extLst>
              <a:ext uri="{FF2B5EF4-FFF2-40B4-BE49-F238E27FC236}">
                <a16:creationId xmlns="" xmlns:a16="http://schemas.microsoft.com/office/drawing/2014/main" id="{2D702D9F-B15B-4200-A739-35C5A8C1BD96}"/>
              </a:ext>
            </a:extLst>
          </p:cNvPr>
          <p:cNvSpPr>
            <a:spLocks noChangeArrowheads="1"/>
          </p:cNvSpPr>
          <p:nvPr/>
        </p:nvSpPr>
        <p:spPr bwMode="gray">
          <a:xfrm>
            <a:off x="4728021" y="1926655"/>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RESTful</a:t>
            </a:r>
          </a:p>
        </p:txBody>
      </p:sp>
      <p:pic>
        <p:nvPicPr>
          <p:cNvPr id="39" name="图片 24">
            <a:extLst>
              <a:ext uri="{FF2B5EF4-FFF2-40B4-BE49-F238E27FC236}">
                <a16:creationId xmlns="" xmlns:a16="http://schemas.microsoft.com/office/drawing/2014/main" id="{6B84A39C-08FE-4C37-9C5E-D72E5199CF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230681" y="3494243"/>
            <a:ext cx="1849122" cy="341027"/>
          </a:xfrm>
          <a:prstGeom prst="rect">
            <a:avLst/>
          </a:prstGeom>
        </p:spPr>
      </p:pic>
      <p:sp>
        <p:nvSpPr>
          <p:cNvPr id="41" name="Shape 502">
            <a:extLst>
              <a:ext uri="{FF2B5EF4-FFF2-40B4-BE49-F238E27FC236}">
                <a16:creationId xmlns="" xmlns:a16="http://schemas.microsoft.com/office/drawing/2014/main" id="{38BD8F68-9221-46E7-80F0-9480B2B17253}"/>
              </a:ext>
            </a:extLst>
          </p:cNvPr>
          <p:cNvSpPr>
            <a:spLocks noChangeArrowheads="1"/>
          </p:cNvSpPr>
          <p:nvPr/>
        </p:nvSpPr>
        <p:spPr bwMode="gray">
          <a:xfrm>
            <a:off x="5791396" y="1926655"/>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SNMP</a:t>
            </a:r>
          </a:p>
        </p:txBody>
      </p:sp>
      <p:sp>
        <p:nvSpPr>
          <p:cNvPr id="42" name="Shape 502">
            <a:extLst>
              <a:ext uri="{FF2B5EF4-FFF2-40B4-BE49-F238E27FC236}">
                <a16:creationId xmlns="" xmlns:a16="http://schemas.microsoft.com/office/drawing/2014/main" id="{C0E626EE-83BB-4ACD-8F9F-B56556850A29}"/>
              </a:ext>
            </a:extLst>
          </p:cNvPr>
          <p:cNvSpPr>
            <a:spLocks noChangeArrowheads="1"/>
          </p:cNvSpPr>
          <p:nvPr/>
        </p:nvSpPr>
        <p:spPr bwMode="gray">
          <a:xfrm>
            <a:off x="6854771" y="1921297"/>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XML</a:t>
            </a:r>
          </a:p>
        </p:txBody>
      </p:sp>
      <p:sp>
        <p:nvSpPr>
          <p:cNvPr id="43" name="Shape 502">
            <a:extLst>
              <a:ext uri="{FF2B5EF4-FFF2-40B4-BE49-F238E27FC236}">
                <a16:creationId xmlns="" xmlns:a16="http://schemas.microsoft.com/office/drawing/2014/main" id="{3A99F2F2-75D9-4CEF-B503-DA63CEF2AB8C}"/>
              </a:ext>
            </a:extLst>
          </p:cNvPr>
          <p:cNvSpPr>
            <a:spLocks noChangeArrowheads="1"/>
          </p:cNvSpPr>
          <p:nvPr/>
        </p:nvSpPr>
        <p:spPr bwMode="gray">
          <a:xfrm>
            <a:off x="7918146" y="1921297"/>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CORBA</a:t>
            </a:r>
          </a:p>
        </p:txBody>
      </p:sp>
      <p:sp>
        <p:nvSpPr>
          <p:cNvPr id="44" name="Shape 502">
            <a:extLst>
              <a:ext uri="{FF2B5EF4-FFF2-40B4-BE49-F238E27FC236}">
                <a16:creationId xmlns="" xmlns:a16="http://schemas.microsoft.com/office/drawing/2014/main" id="{E40D58BB-83D0-4007-BA3C-8C2140814125}"/>
              </a:ext>
            </a:extLst>
          </p:cNvPr>
          <p:cNvSpPr>
            <a:spLocks noChangeArrowheads="1"/>
          </p:cNvSpPr>
          <p:nvPr/>
        </p:nvSpPr>
        <p:spPr bwMode="gray">
          <a:xfrm>
            <a:off x="8981521" y="1921297"/>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FTP</a:t>
            </a:r>
          </a:p>
        </p:txBody>
      </p:sp>
      <p:sp>
        <p:nvSpPr>
          <p:cNvPr id="45" name="矩形 100">
            <a:extLst>
              <a:ext uri="{FF2B5EF4-FFF2-40B4-BE49-F238E27FC236}">
                <a16:creationId xmlns="" xmlns:a16="http://schemas.microsoft.com/office/drawing/2014/main" id="{35CF20C1-A679-4A6A-BAFA-824C6B68F3D8}"/>
              </a:ext>
            </a:extLst>
          </p:cNvPr>
          <p:cNvSpPr/>
          <p:nvPr/>
        </p:nvSpPr>
        <p:spPr bwMode="gray">
          <a:xfrm>
            <a:off x="7056656" y="2386405"/>
            <a:ext cx="3756579" cy="2509877"/>
          </a:xfrm>
          <a:prstGeom prst="rect">
            <a:avLst/>
          </a:prstGeom>
          <a:noFill/>
          <a:ln w="12700">
            <a:solidFill>
              <a:schemeClr val="bg1">
                <a:lumMod val="50000"/>
              </a:schemeClr>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t" anchorCtr="0" compatLnSpc="1">
            <a:prstTxWarp prst="textNoShape">
              <a:avLst/>
            </a:prstTxWarp>
          </a:bodyPr>
          <a:lstStyle/>
          <a:p>
            <a:pPr algn="ctr" fontAlgn="ctr">
              <a:buClr>
                <a:srgbClr val="CC9900"/>
              </a:buClr>
              <a:tabLst>
                <a:tab pos="241224" algn="l"/>
              </a:tabLst>
            </a:pPr>
            <a:r>
              <a:rPr lang="en-US" altLang="zh-CN" sz="1600" b="1" dirty="0">
                <a:latin typeface="Huawei Sans" panose="020C0503030203020204" pitchFamily="34" charset="0"/>
                <a:ea typeface="方正兰亭黑简体" panose="02000000000000000000" pitchFamily="2" charset="-122"/>
                <a:cs typeface="+mj-cs"/>
                <a:sym typeface="Huawei Sans" panose="020C0503030203020204" pitchFamily="34" charset="0"/>
              </a:rPr>
              <a:t>Analyzer</a:t>
            </a:r>
          </a:p>
        </p:txBody>
      </p:sp>
      <p:sp>
        <p:nvSpPr>
          <p:cNvPr id="46" name="Shape 502">
            <a:extLst>
              <a:ext uri="{FF2B5EF4-FFF2-40B4-BE49-F238E27FC236}">
                <a16:creationId xmlns="" xmlns:a16="http://schemas.microsoft.com/office/drawing/2014/main" id="{E9C88A0C-F67A-4FFC-992F-38F466D16AE7}"/>
              </a:ext>
            </a:extLst>
          </p:cNvPr>
          <p:cNvSpPr>
            <a:spLocks noChangeArrowheads="1"/>
          </p:cNvSpPr>
          <p:nvPr/>
        </p:nvSpPr>
        <p:spPr bwMode="gray">
          <a:xfrm>
            <a:off x="3310360" y="2824985"/>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业务管理</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47" name="Shape 502">
            <a:extLst>
              <a:ext uri="{FF2B5EF4-FFF2-40B4-BE49-F238E27FC236}">
                <a16:creationId xmlns="" xmlns:a16="http://schemas.microsoft.com/office/drawing/2014/main" id="{C5E295A7-1F2D-418A-A64B-7B4D73EB28A1}"/>
              </a:ext>
            </a:extLst>
          </p:cNvPr>
          <p:cNvSpPr>
            <a:spLocks noChangeArrowheads="1"/>
          </p:cNvSpPr>
          <p:nvPr/>
        </p:nvSpPr>
        <p:spPr bwMode="gray">
          <a:xfrm>
            <a:off x="4525918" y="2824985"/>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MPLS</a:t>
            </a: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调优</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48" name="Shape 502">
            <a:extLst>
              <a:ext uri="{FF2B5EF4-FFF2-40B4-BE49-F238E27FC236}">
                <a16:creationId xmlns="" xmlns:a16="http://schemas.microsoft.com/office/drawing/2014/main" id="{4BE0F9E2-060A-4844-8176-059B569AC54B}"/>
              </a:ext>
            </a:extLst>
          </p:cNvPr>
          <p:cNvSpPr>
            <a:spLocks noChangeArrowheads="1"/>
          </p:cNvSpPr>
          <p:nvPr/>
        </p:nvSpPr>
        <p:spPr bwMode="gray">
          <a:xfrm>
            <a:off x="5741476" y="2824985"/>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PCEP</a:t>
            </a:r>
          </a:p>
        </p:txBody>
      </p:sp>
      <p:sp>
        <p:nvSpPr>
          <p:cNvPr id="49" name="矩形 125">
            <a:extLst>
              <a:ext uri="{FF2B5EF4-FFF2-40B4-BE49-F238E27FC236}">
                <a16:creationId xmlns="" xmlns:a16="http://schemas.microsoft.com/office/drawing/2014/main" id="{63E23D5F-E024-4DAF-AEDE-94879A987AD3}"/>
              </a:ext>
            </a:extLst>
          </p:cNvPr>
          <p:cNvSpPr/>
          <p:nvPr/>
        </p:nvSpPr>
        <p:spPr bwMode="gray">
          <a:xfrm>
            <a:off x="3203640" y="4968855"/>
            <a:ext cx="7609595" cy="468000"/>
          </a:xfrm>
          <a:prstGeom prst="rect">
            <a:avLst/>
          </a:prstGeom>
          <a:solidFill>
            <a:srgbClr val="56C4D2"/>
          </a:solidFill>
          <a:ln w="3175">
            <a:solidFill>
              <a:srgbClr val="56C4D2"/>
            </a:solidFill>
            <a:prstDash val="dash"/>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45156" tIns="72577" rIns="145156" bIns="72577" numCol="1" rtlCol="0" anchor="ctr" anchorCtr="0" compatLnSpc="1">
            <a:prstTxWarp prst="textNoShape">
              <a:avLst/>
            </a:prstTxWarp>
          </a:bodyPr>
          <a:lstStyle/>
          <a:p>
            <a:pPr fontAlgn="ctr">
              <a:buClr>
                <a:srgbClr val="CC9900"/>
              </a:buClr>
              <a:tabLst>
                <a:tab pos="241224" algn="l"/>
              </a:tabLst>
            </a:pPr>
            <a:r>
              <a:rPr lang="zh-CN" altLang="en-US"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南向接口</a:t>
            </a:r>
            <a:endParaRPr lang="en-US" altLang="zh-CN" sz="1600" b="1"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50" name="Shape 502">
            <a:extLst>
              <a:ext uri="{FF2B5EF4-FFF2-40B4-BE49-F238E27FC236}">
                <a16:creationId xmlns="" xmlns:a16="http://schemas.microsoft.com/office/drawing/2014/main" id="{988EA947-4BE6-41CA-B212-A9DDD54A7846}"/>
              </a:ext>
            </a:extLst>
          </p:cNvPr>
          <p:cNvSpPr>
            <a:spLocks noChangeArrowheads="1"/>
          </p:cNvSpPr>
          <p:nvPr/>
        </p:nvSpPr>
        <p:spPr bwMode="gray">
          <a:xfrm>
            <a:off x="4278288" y="5033329"/>
            <a:ext cx="1227161"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NETCONF</a:t>
            </a:r>
          </a:p>
        </p:txBody>
      </p:sp>
      <p:sp>
        <p:nvSpPr>
          <p:cNvPr id="51" name="Shape 502">
            <a:extLst>
              <a:ext uri="{FF2B5EF4-FFF2-40B4-BE49-F238E27FC236}">
                <a16:creationId xmlns="" xmlns:a16="http://schemas.microsoft.com/office/drawing/2014/main" id="{22D0B298-5D32-4369-959C-7B5FEC4E3864}"/>
              </a:ext>
            </a:extLst>
          </p:cNvPr>
          <p:cNvSpPr>
            <a:spLocks noChangeArrowheads="1"/>
          </p:cNvSpPr>
          <p:nvPr/>
        </p:nvSpPr>
        <p:spPr bwMode="gray">
          <a:xfrm>
            <a:off x="5568358" y="5033329"/>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Telnet</a:t>
            </a:r>
          </a:p>
        </p:txBody>
      </p:sp>
      <p:sp>
        <p:nvSpPr>
          <p:cNvPr id="52" name="Shape 502">
            <a:extLst>
              <a:ext uri="{FF2B5EF4-FFF2-40B4-BE49-F238E27FC236}">
                <a16:creationId xmlns="" xmlns:a16="http://schemas.microsoft.com/office/drawing/2014/main" id="{300FC66A-D396-4450-AA62-AF58B124B4C3}"/>
              </a:ext>
            </a:extLst>
          </p:cNvPr>
          <p:cNvSpPr>
            <a:spLocks noChangeArrowheads="1"/>
          </p:cNvSpPr>
          <p:nvPr/>
        </p:nvSpPr>
        <p:spPr bwMode="gray">
          <a:xfrm>
            <a:off x="6599196" y="5027971"/>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SNMP</a:t>
            </a:r>
          </a:p>
        </p:txBody>
      </p:sp>
      <p:sp>
        <p:nvSpPr>
          <p:cNvPr id="53" name="Shape 502">
            <a:extLst>
              <a:ext uri="{FF2B5EF4-FFF2-40B4-BE49-F238E27FC236}">
                <a16:creationId xmlns="" xmlns:a16="http://schemas.microsoft.com/office/drawing/2014/main" id="{B63E02FF-7065-43B9-B2C3-90DBF9309800}"/>
              </a:ext>
            </a:extLst>
          </p:cNvPr>
          <p:cNvSpPr>
            <a:spLocks noChangeArrowheads="1"/>
          </p:cNvSpPr>
          <p:nvPr/>
        </p:nvSpPr>
        <p:spPr bwMode="gray">
          <a:xfrm>
            <a:off x="7630034" y="5027971"/>
            <a:ext cx="967929"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BGP-LS</a:t>
            </a:r>
          </a:p>
        </p:txBody>
      </p:sp>
      <p:sp>
        <p:nvSpPr>
          <p:cNvPr id="54" name="Shape 502">
            <a:extLst>
              <a:ext uri="{FF2B5EF4-FFF2-40B4-BE49-F238E27FC236}">
                <a16:creationId xmlns="" xmlns:a16="http://schemas.microsoft.com/office/drawing/2014/main" id="{8FA17C8A-1779-4704-983B-E903971BB93D}"/>
              </a:ext>
            </a:extLst>
          </p:cNvPr>
          <p:cNvSpPr>
            <a:spLocks noChangeArrowheads="1"/>
          </p:cNvSpPr>
          <p:nvPr/>
        </p:nvSpPr>
        <p:spPr bwMode="gray">
          <a:xfrm>
            <a:off x="8660872" y="5027971"/>
            <a:ext cx="731581"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FTP</a:t>
            </a:r>
          </a:p>
        </p:txBody>
      </p:sp>
      <p:sp>
        <p:nvSpPr>
          <p:cNvPr id="55" name="Shape 502">
            <a:extLst>
              <a:ext uri="{FF2B5EF4-FFF2-40B4-BE49-F238E27FC236}">
                <a16:creationId xmlns="" xmlns:a16="http://schemas.microsoft.com/office/drawing/2014/main" id="{5EDA046C-B8C8-4068-8988-54CA99C0342D}"/>
              </a:ext>
            </a:extLst>
          </p:cNvPr>
          <p:cNvSpPr>
            <a:spLocks noChangeArrowheads="1"/>
          </p:cNvSpPr>
          <p:nvPr/>
        </p:nvSpPr>
        <p:spPr bwMode="gray">
          <a:xfrm>
            <a:off x="3310360" y="3346590"/>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网元管理</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56" name="Shape 502">
            <a:extLst>
              <a:ext uri="{FF2B5EF4-FFF2-40B4-BE49-F238E27FC236}">
                <a16:creationId xmlns="" xmlns:a16="http://schemas.microsoft.com/office/drawing/2014/main" id="{FBD2F298-E372-41BF-8476-C93DD8B0B8D1}"/>
              </a:ext>
            </a:extLst>
          </p:cNvPr>
          <p:cNvSpPr>
            <a:spLocks noChangeArrowheads="1"/>
          </p:cNvSpPr>
          <p:nvPr/>
        </p:nvSpPr>
        <p:spPr bwMode="gray">
          <a:xfrm>
            <a:off x="4525918" y="3346590"/>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调优</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57" name="Shape 502">
            <a:extLst>
              <a:ext uri="{FF2B5EF4-FFF2-40B4-BE49-F238E27FC236}">
                <a16:creationId xmlns="" xmlns:a16="http://schemas.microsoft.com/office/drawing/2014/main" id="{D91B7CFF-D62E-4ABD-8EED-9C37E88EC816}"/>
              </a:ext>
            </a:extLst>
          </p:cNvPr>
          <p:cNvSpPr>
            <a:spLocks noChangeArrowheads="1"/>
          </p:cNvSpPr>
          <p:nvPr/>
        </p:nvSpPr>
        <p:spPr bwMode="gray">
          <a:xfrm>
            <a:off x="5741476" y="3346590"/>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BGP-LS</a:t>
            </a:r>
          </a:p>
        </p:txBody>
      </p:sp>
      <p:sp>
        <p:nvSpPr>
          <p:cNvPr id="58" name="Shape 502">
            <a:extLst>
              <a:ext uri="{FF2B5EF4-FFF2-40B4-BE49-F238E27FC236}">
                <a16:creationId xmlns="" xmlns:a16="http://schemas.microsoft.com/office/drawing/2014/main" id="{7BAF8D78-BAF5-4062-8785-8BF08B11B271}"/>
              </a:ext>
            </a:extLst>
          </p:cNvPr>
          <p:cNvSpPr>
            <a:spLocks noChangeArrowheads="1"/>
          </p:cNvSpPr>
          <p:nvPr/>
        </p:nvSpPr>
        <p:spPr bwMode="gray">
          <a:xfrm>
            <a:off x="3310360" y="3868195"/>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分片管理</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59" name="Shape 502">
            <a:extLst>
              <a:ext uri="{FF2B5EF4-FFF2-40B4-BE49-F238E27FC236}">
                <a16:creationId xmlns="" xmlns:a16="http://schemas.microsoft.com/office/drawing/2014/main" id="{587838EF-0EAC-423C-8BB3-C7D136107026}"/>
              </a:ext>
            </a:extLst>
          </p:cNvPr>
          <p:cNvSpPr>
            <a:spLocks noChangeArrowheads="1"/>
          </p:cNvSpPr>
          <p:nvPr/>
        </p:nvSpPr>
        <p:spPr bwMode="gray">
          <a:xfrm>
            <a:off x="4525918" y="3868195"/>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集中算路</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60" name="Shape 502">
            <a:extLst>
              <a:ext uri="{FF2B5EF4-FFF2-40B4-BE49-F238E27FC236}">
                <a16:creationId xmlns="" xmlns:a16="http://schemas.microsoft.com/office/drawing/2014/main" id="{13A98BDD-710C-41BE-8B67-386DC878CBC3}"/>
              </a:ext>
            </a:extLst>
          </p:cNvPr>
          <p:cNvSpPr>
            <a:spLocks noChangeArrowheads="1"/>
          </p:cNvSpPr>
          <p:nvPr/>
        </p:nvSpPr>
        <p:spPr bwMode="gray">
          <a:xfrm>
            <a:off x="5741476" y="3868195"/>
            <a:ext cx="1099715"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路由扩散</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61" name="Shape 502">
            <a:extLst>
              <a:ext uri="{FF2B5EF4-FFF2-40B4-BE49-F238E27FC236}">
                <a16:creationId xmlns="" xmlns:a16="http://schemas.microsoft.com/office/drawing/2014/main" id="{154104C2-FDA3-4C24-9AC1-6C2007FEC947}"/>
              </a:ext>
            </a:extLst>
          </p:cNvPr>
          <p:cNvSpPr>
            <a:spLocks noChangeArrowheads="1"/>
          </p:cNvSpPr>
          <p:nvPr/>
        </p:nvSpPr>
        <p:spPr bwMode="gray">
          <a:xfrm>
            <a:off x="3310360" y="4389800"/>
            <a:ext cx="1509290"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第三方设备适配</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62" name="Shape 502">
            <a:extLst>
              <a:ext uri="{FF2B5EF4-FFF2-40B4-BE49-F238E27FC236}">
                <a16:creationId xmlns="" xmlns:a16="http://schemas.microsoft.com/office/drawing/2014/main" id="{47BD4A93-64B0-4809-9E91-10FD7D366C03}"/>
              </a:ext>
            </a:extLst>
          </p:cNvPr>
          <p:cNvSpPr>
            <a:spLocks noChangeArrowheads="1"/>
          </p:cNvSpPr>
          <p:nvPr/>
        </p:nvSpPr>
        <p:spPr bwMode="gray">
          <a:xfrm>
            <a:off x="4925210" y="4389800"/>
            <a:ext cx="1915981"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南向编程框架</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64" name="Shape 502">
            <a:extLst>
              <a:ext uri="{FF2B5EF4-FFF2-40B4-BE49-F238E27FC236}">
                <a16:creationId xmlns="" xmlns:a16="http://schemas.microsoft.com/office/drawing/2014/main" id="{0FD834F3-A5B6-4F85-BC7A-9B6BD223C1C6}"/>
              </a:ext>
            </a:extLst>
          </p:cNvPr>
          <p:cNvSpPr>
            <a:spLocks noChangeArrowheads="1"/>
          </p:cNvSpPr>
          <p:nvPr/>
        </p:nvSpPr>
        <p:spPr bwMode="gray">
          <a:xfrm>
            <a:off x="7267414" y="2824985"/>
            <a:ext cx="1551293"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流量预测</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74" name="Shape 502">
            <a:extLst>
              <a:ext uri="{FF2B5EF4-FFF2-40B4-BE49-F238E27FC236}">
                <a16:creationId xmlns="" xmlns:a16="http://schemas.microsoft.com/office/drawing/2014/main" id="{D7B9FA85-22B1-4E65-A536-AA696C5A6037}"/>
              </a:ext>
            </a:extLst>
          </p:cNvPr>
          <p:cNvSpPr>
            <a:spLocks noChangeArrowheads="1"/>
          </p:cNvSpPr>
          <p:nvPr/>
        </p:nvSpPr>
        <p:spPr bwMode="gray">
          <a:xfrm>
            <a:off x="7267415" y="4389800"/>
            <a:ext cx="3379874"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大数据引擎</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75" name="Shape 502">
            <a:extLst>
              <a:ext uri="{FF2B5EF4-FFF2-40B4-BE49-F238E27FC236}">
                <a16:creationId xmlns="" xmlns:a16="http://schemas.microsoft.com/office/drawing/2014/main" id="{CC92D916-7D74-45F6-9C6E-3AC7B8BB7279}"/>
              </a:ext>
            </a:extLst>
          </p:cNvPr>
          <p:cNvSpPr>
            <a:spLocks noChangeArrowheads="1"/>
          </p:cNvSpPr>
          <p:nvPr/>
        </p:nvSpPr>
        <p:spPr bwMode="gray">
          <a:xfrm>
            <a:off x="9048135" y="2824985"/>
            <a:ext cx="1551293"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仿真分析</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76" name="Shape 502">
            <a:extLst>
              <a:ext uri="{FF2B5EF4-FFF2-40B4-BE49-F238E27FC236}">
                <a16:creationId xmlns="" xmlns:a16="http://schemas.microsoft.com/office/drawing/2014/main" id="{26F4100A-7661-4C3C-A2BA-54C8245B4914}"/>
              </a:ext>
            </a:extLst>
          </p:cNvPr>
          <p:cNvSpPr>
            <a:spLocks noChangeArrowheads="1"/>
          </p:cNvSpPr>
          <p:nvPr/>
        </p:nvSpPr>
        <p:spPr bwMode="gray">
          <a:xfrm>
            <a:off x="7267414" y="3345388"/>
            <a:ext cx="1551293"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流量分析</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77" name="Shape 502">
            <a:extLst>
              <a:ext uri="{FF2B5EF4-FFF2-40B4-BE49-F238E27FC236}">
                <a16:creationId xmlns="" xmlns:a16="http://schemas.microsoft.com/office/drawing/2014/main" id="{C94E2CBC-88F4-498D-BEE9-BADC708F8DEA}"/>
              </a:ext>
            </a:extLst>
          </p:cNvPr>
          <p:cNvSpPr>
            <a:spLocks noChangeArrowheads="1"/>
          </p:cNvSpPr>
          <p:nvPr/>
        </p:nvSpPr>
        <p:spPr bwMode="gray">
          <a:xfrm>
            <a:off x="9048135" y="3345388"/>
            <a:ext cx="1551293"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故障诊断</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78" name="Shape 502">
            <a:extLst>
              <a:ext uri="{FF2B5EF4-FFF2-40B4-BE49-F238E27FC236}">
                <a16:creationId xmlns="" xmlns:a16="http://schemas.microsoft.com/office/drawing/2014/main" id="{F6D55362-3D3B-4A89-A3AE-01252B6FDABC}"/>
              </a:ext>
            </a:extLst>
          </p:cNvPr>
          <p:cNvSpPr>
            <a:spLocks noChangeArrowheads="1"/>
          </p:cNvSpPr>
          <p:nvPr/>
        </p:nvSpPr>
        <p:spPr bwMode="gray">
          <a:xfrm>
            <a:off x="7267414" y="3868403"/>
            <a:ext cx="1551293"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异常检测</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79" name="Shape 502">
            <a:extLst>
              <a:ext uri="{FF2B5EF4-FFF2-40B4-BE49-F238E27FC236}">
                <a16:creationId xmlns="" xmlns:a16="http://schemas.microsoft.com/office/drawing/2014/main" id="{EAF4B704-7D42-4594-BA18-1A843F0A62DF}"/>
              </a:ext>
            </a:extLst>
          </p:cNvPr>
          <p:cNvSpPr>
            <a:spLocks noChangeArrowheads="1"/>
          </p:cNvSpPr>
          <p:nvPr/>
        </p:nvSpPr>
        <p:spPr bwMode="gray">
          <a:xfrm>
            <a:off x="9048135" y="3868403"/>
            <a:ext cx="1551293" cy="341028"/>
          </a:xfrm>
          <a:prstGeom prst="rect">
            <a:avLst/>
          </a:prstGeom>
          <a:noFill/>
          <a:ln w="3175">
            <a:solidFill>
              <a:schemeClr val="bg1">
                <a:lumMod val="50000"/>
              </a:schemeClr>
            </a:solidFill>
            <a:round/>
            <a:headEnd/>
            <a:tailEnd/>
          </a:ln>
        </p:spPr>
        <p:txBody>
          <a:bodyPr lIns="121928" tIns="121928" rIns="121928" bIns="121928" anchor="ctr"/>
          <a:lstStyle/>
          <a:p>
            <a:pPr algn="ctr" fontAlgn="ctr">
              <a:buSzPct val="100000"/>
              <a:defRPr/>
            </a:pPr>
            <a:r>
              <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rPr>
              <a:t>SLA</a:t>
            </a:r>
            <a:r>
              <a:rPr lang="zh-CN" altLang="en-US" sz="1400" dirty="0">
                <a:latin typeface="Huawei Sans" panose="020C0503030203020204" pitchFamily="34" charset="0"/>
                <a:ea typeface="方正兰亭黑简体" panose="02000000000000000000" pitchFamily="2" charset="-122"/>
                <a:cs typeface="+mj-cs"/>
                <a:sym typeface="Huawei Sans" panose="020C0503030203020204" pitchFamily="34" charset="0"/>
              </a:rPr>
              <a:t>监控</a:t>
            </a:r>
            <a:endParaRPr lang="en-US" altLang="zh-CN" sz="1400" dirty="0">
              <a:latin typeface="Huawei Sans" panose="020C0503030203020204" pitchFamily="34" charset="0"/>
              <a:ea typeface="方正兰亭黑简体" panose="02000000000000000000" pitchFamily="2" charset="-122"/>
              <a:cs typeface="+mj-cs"/>
              <a:sym typeface="Huawei Sans" panose="020C0503030203020204" pitchFamily="34" charset="0"/>
            </a:endParaRPr>
          </a:p>
        </p:txBody>
      </p:sp>
      <p:sp>
        <p:nvSpPr>
          <p:cNvPr id="80" name="Shape 502">
            <a:extLst>
              <a:ext uri="{FF2B5EF4-FFF2-40B4-BE49-F238E27FC236}">
                <a16:creationId xmlns="" xmlns:a16="http://schemas.microsoft.com/office/drawing/2014/main" id="{F34BDF0E-E102-470B-A01C-3C92B26E1400}"/>
              </a:ext>
            </a:extLst>
          </p:cNvPr>
          <p:cNvSpPr>
            <a:spLocks noChangeArrowheads="1"/>
          </p:cNvSpPr>
          <p:nvPr/>
        </p:nvSpPr>
        <p:spPr bwMode="gray">
          <a:xfrm>
            <a:off x="9455360" y="5027971"/>
            <a:ext cx="1205652" cy="341028"/>
          </a:xfrm>
          <a:prstGeom prst="rect">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Telemetry</a:t>
            </a:r>
          </a:p>
        </p:txBody>
      </p:sp>
      <p:pic>
        <p:nvPicPr>
          <p:cNvPr id="81" name="图片 48">
            <a:extLst>
              <a:ext uri="{FF2B5EF4-FFF2-40B4-BE49-F238E27FC236}">
                <a16:creationId xmlns="" xmlns:a16="http://schemas.microsoft.com/office/drawing/2014/main" id="{6A07FC47-5882-4B64-AE68-B38865105F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841872" y="5741763"/>
            <a:ext cx="378863" cy="310667"/>
          </a:xfrm>
          <a:prstGeom prst="rect">
            <a:avLst/>
          </a:prstGeom>
        </p:spPr>
      </p:pic>
      <p:sp>
        <p:nvSpPr>
          <p:cNvPr id="82" name="矩形 113">
            <a:extLst>
              <a:ext uri="{FF2B5EF4-FFF2-40B4-BE49-F238E27FC236}">
                <a16:creationId xmlns="" xmlns:a16="http://schemas.microsoft.com/office/drawing/2014/main" id="{E6BB890A-61AD-4FB9-86A8-8E1DB5052BCF}"/>
              </a:ext>
            </a:extLst>
          </p:cNvPr>
          <p:cNvSpPr/>
          <p:nvPr/>
        </p:nvSpPr>
        <p:spPr bwMode="gray">
          <a:xfrm>
            <a:off x="4136818" y="5713876"/>
            <a:ext cx="951219" cy="338554"/>
          </a:xfrm>
          <a:prstGeom prst="rect">
            <a:avLst/>
          </a:prstGeom>
        </p:spPr>
        <p:txBody>
          <a:bodyPr wrap="square">
            <a:spAutoFit/>
          </a:bodyPr>
          <a:lstStyle/>
          <a:p>
            <a:pPr algn="ctr" fontAlgn="ctr">
              <a:buSzPct val="100000"/>
            </a:pP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ATN</a:t>
            </a:r>
          </a:p>
        </p:txBody>
      </p:sp>
      <p:pic>
        <p:nvPicPr>
          <p:cNvPr id="83" name="图片 48">
            <a:extLst>
              <a:ext uri="{FF2B5EF4-FFF2-40B4-BE49-F238E27FC236}">
                <a16:creationId xmlns="" xmlns:a16="http://schemas.microsoft.com/office/drawing/2014/main" id="{2EF0E67F-2BCE-4FFA-9E7E-644CA02CC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257381" y="5741763"/>
            <a:ext cx="378863" cy="310667"/>
          </a:xfrm>
          <a:prstGeom prst="rect">
            <a:avLst/>
          </a:prstGeom>
        </p:spPr>
      </p:pic>
      <p:sp>
        <p:nvSpPr>
          <p:cNvPr id="84" name="矩形 113">
            <a:extLst>
              <a:ext uri="{FF2B5EF4-FFF2-40B4-BE49-F238E27FC236}">
                <a16:creationId xmlns="" xmlns:a16="http://schemas.microsoft.com/office/drawing/2014/main" id="{7A5D6AD7-51E2-4D1C-B967-31122A5E7AA7}"/>
              </a:ext>
            </a:extLst>
          </p:cNvPr>
          <p:cNvSpPr/>
          <p:nvPr/>
        </p:nvSpPr>
        <p:spPr bwMode="gray">
          <a:xfrm>
            <a:off x="6571378" y="5713876"/>
            <a:ext cx="759448" cy="338554"/>
          </a:xfrm>
          <a:prstGeom prst="rect">
            <a:avLst/>
          </a:prstGeom>
        </p:spPr>
        <p:txBody>
          <a:bodyPr wrap="square">
            <a:spAutoFit/>
          </a:bodyPr>
          <a:lstStyle/>
          <a:p>
            <a:pPr algn="ctr" fontAlgn="ctr">
              <a:buSzPct val="100000"/>
            </a:pP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NE</a:t>
            </a:r>
          </a:p>
        </p:txBody>
      </p:sp>
      <p:pic>
        <p:nvPicPr>
          <p:cNvPr id="85" name="图片 48">
            <a:extLst>
              <a:ext uri="{FF2B5EF4-FFF2-40B4-BE49-F238E27FC236}">
                <a16:creationId xmlns="" xmlns:a16="http://schemas.microsoft.com/office/drawing/2014/main" id="{DB3637AC-E05F-4B40-A711-B92304A153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831914" y="5741763"/>
            <a:ext cx="378863" cy="310667"/>
          </a:xfrm>
          <a:prstGeom prst="rect">
            <a:avLst/>
          </a:prstGeom>
        </p:spPr>
      </p:pic>
      <p:sp>
        <p:nvSpPr>
          <p:cNvPr id="86" name="矩形 113">
            <a:extLst>
              <a:ext uri="{FF2B5EF4-FFF2-40B4-BE49-F238E27FC236}">
                <a16:creationId xmlns="" xmlns:a16="http://schemas.microsoft.com/office/drawing/2014/main" id="{E14B7733-FF96-47B6-900C-DAA2CD5ECDAF}"/>
              </a:ext>
            </a:extLst>
          </p:cNvPr>
          <p:cNvSpPr/>
          <p:nvPr/>
        </p:nvSpPr>
        <p:spPr bwMode="gray">
          <a:xfrm>
            <a:off x="9145911" y="5713876"/>
            <a:ext cx="759448" cy="338554"/>
          </a:xfrm>
          <a:prstGeom prst="rect">
            <a:avLst/>
          </a:prstGeom>
        </p:spPr>
        <p:txBody>
          <a:bodyPr wrap="square">
            <a:spAutoFit/>
          </a:bodyPr>
          <a:lstStyle/>
          <a:p>
            <a:pPr algn="ctr" fontAlgn="ctr">
              <a:buSzPct val="100000"/>
            </a:pPr>
            <a:r>
              <a:rPr lang="en-US" altLang="zh-CN" sz="1600" dirty="0">
                <a:latin typeface="Huawei Sans" panose="020C0503030203020204" pitchFamily="34" charset="0"/>
                <a:ea typeface="方正兰亭黑简体" panose="02000000000000000000" pitchFamily="2" charset="-122"/>
                <a:cs typeface="+mj-cs"/>
                <a:sym typeface="Huawei Sans" panose="020C0503030203020204" pitchFamily="34" charset="0"/>
              </a:rPr>
              <a:t>CX</a:t>
            </a:r>
          </a:p>
        </p:txBody>
      </p:sp>
      <p:sp>
        <p:nvSpPr>
          <p:cNvPr id="87" name="Shape 502">
            <a:extLst>
              <a:ext uri="{FF2B5EF4-FFF2-40B4-BE49-F238E27FC236}">
                <a16:creationId xmlns="" xmlns:a16="http://schemas.microsoft.com/office/drawing/2014/main" id="{ECFB0BC1-7FA4-4816-B33C-EB6BCAF478DE}"/>
              </a:ext>
            </a:extLst>
          </p:cNvPr>
          <p:cNvSpPr>
            <a:spLocks noChangeArrowheads="1"/>
          </p:cNvSpPr>
          <p:nvPr/>
        </p:nvSpPr>
        <p:spPr bwMode="gray">
          <a:xfrm>
            <a:off x="9839324" y="1052513"/>
            <a:ext cx="1307079" cy="630508"/>
          </a:xfrm>
          <a:prstGeom prst="roundRect">
            <a:avLst>
              <a:gd name="adj" fmla="val 3656"/>
            </a:avLst>
          </a:prstGeom>
          <a:solidFill>
            <a:srgbClr val="56C4D2"/>
          </a:solidFill>
          <a:ln w="3175">
            <a:solidFill>
              <a:schemeClr val="bg1"/>
            </a:solidFill>
            <a:round/>
            <a:headEnd/>
            <a:tailEnd/>
          </a:ln>
        </p:spPr>
        <p:txBody>
          <a:bodyPr lIns="121928" tIns="121928" rIns="121928" bIns="121928" anchor="ctr"/>
          <a:lstStyle/>
          <a:p>
            <a:pPr algn="ctr" fontAlgn="ctr">
              <a:buSzPct val="100000"/>
              <a:defRPr/>
            </a:pPr>
            <a:r>
              <a:rPr lang="zh-CN" altLang="en-US"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统一</a:t>
            </a:r>
            <a:r>
              <a:rPr lang="en-US" altLang="zh-CN" sz="1600" dirty="0">
                <a:solidFill>
                  <a:schemeClr val="bg1"/>
                </a:solidFill>
                <a:latin typeface="Huawei Sans" panose="020C0503030203020204" pitchFamily="34" charset="0"/>
                <a:ea typeface="方正兰亭黑简体" panose="02000000000000000000" pitchFamily="2" charset="-122"/>
                <a:cs typeface="+mj-cs"/>
                <a:sym typeface="Huawei Sans" panose="020C0503030203020204" pitchFamily="34" charset="0"/>
              </a:rPr>
              <a:t>Portal</a:t>
            </a:r>
          </a:p>
        </p:txBody>
      </p:sp>
      <p:sp>
        <p:nvSpPr>
          <p:cNvPr id="94" name="五边形 2">
            <a:extLst>
              <a:ext uri="{FF2B5EF4-FFF2-40B4-BE49-F238E27FC236}">
                <a16:creationId xmlns="" xmlns:a16="http://schemas.microsoft.com/office/drawing/2014/main" id="{F6803090-0446-4CB5-ADF5-78A2662FF546}"/>
              </a:ext>
            </a:extLst>
          </p:cNvPr>
          <p:cNvSpPr/>
          <p:nvPr/>
        </p:nvSpPr>
        <p:spPr bwMode="gray">
          <a:xfrm>
            <a:off x="8199710" y="49524"/>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95" name="燕尾形 3">
            <a:extLst>
              <a:ext uri="{FF2B5EF4-FFF2-40B4-BE49-F238E27FC236}">
                <a16:creationId xmlns="" xmlns:a16="http://schemas.microsoft.com/office/drawing/2014/main" id="{7F4925E2-2BB1-42E7-B5A2-3E79EC0ED4EB}"/>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燕尾形 3">
            <a:extLst>
              <a:ext uri="{FF2B5EF4-FFF2-40B4-BE49-F238E27FC236}">
                <a16:creationId xmlns="" xmlns:a16="http://schemas.microsoft.com/office/drawing/2014/main" id="{96493FFD-480C-488C-97D6-1DEF4E04F9FE}"/>
              </a:ext>
            </a:extLst>
          </p:cNvPr>
          <p:cNvSpPr/>
          <p:nvPr/>
        </p:nvSpPr>
        <p:spPr bwMode="gray">
          <a:xfrm>
            <a:off x="9319110" y="4952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266920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 xmlns:a16="http://schemas.microsoft.com/office/drawing/2014/main" id="{028D6143-11C7-45DD-AA64-AE7431747DF7}"/>
              </a:ext>
            </a:extLst>
          </p:cNvPr>
          <p:cNvSpPr>
            <a:spLocks noGrp="1"/>
          </p:cNvSpPr>
          <p:nvPr>
            <p:ph type="title"/>
          </p:nvPr>
        </p:nvSpPr>
        <p:spPr bwMode="gray"/>
        <p:txBody>
          <a:bodyPr/>
          <a:lstStyle/>
          <a:p>
            <a:r>
              <a:rPr lang="zh-CN" altLang="en-US" dirty="0"/>
              <a:t>云广域网络产品介绍</a:t>
            </a:r>
          </a:p>
        </p:txBody>
      </p:sp>
      <p:grpSp>
        <p:nvGrpSpPr>
          <p:cNvPr id="7" name="组合 6">
            <a:extLst>
              <a:ext uri="{FF2B5EF4-FFF2-40B4-BE49-F238E27FC236}">
                <a16:creationId xmlns="" xmlns:a16="http://schemas.microsoft.com/office/drawing/2014/main" id="{CAB20AD9-7E9C-4ABD-982E-3174D68CF3BA}"/>
              </a:ext>
            </a:extLst>
          </p:cNvPr>
          <p:cNvGrpSpPr/>
          <p:nvPr/>
        </p:nvGrpSpPr>
        <p:grpSpPr bwMode="gray">
          <a:xfrm>
            <a:off x="4689970" y="1168705"/>
            <a:ext cx="1793498" cy="758480"/>
            <a:chOff x="4035802" y="1220237"/>
            <a:chExt cx="3698498" cy="1564114"/>
          </a:xfrm>
          <a:solidFill>
            <a:schemeClr val="bg1"/>
          </a:solidFill>
        </p:grpSpPr>
        <p:sp>
          <p:nvSpPr>
            <p:cNvPr id="124" name="Freeform 6">
              <a:extLst>
                <a:ext uri="{FF2B5EF4-FFF2-40B4-BE49-F238E27FC236}">
                  <a16:creationId xmlns="" xmlns:a16="http://schemas.microsoft.com/office/drawing/2014/main" id="{981BCFE7-CCEC-4F82-9496-46438D3B42A4}"/>
                </a:ext>
              </a:extLst>
            </p:cNvPr>
            <p:cNvSpPr>
              <a:spLocks/>
            </p:cNvSpPr>
            <p:nvPr/>
          </p:nvSpPr>
          <p:spPr bwMode="gray">
            <a:xfrm>
              <a:off x="4035802" y="1220237"/>
              <a:ext cx="3698498" cy="1564114"/>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grpFill/>
            <a:ln w="15875" cap="flat">
              <a:solidFill>
                <a:schemeClr val="bg2">
                  <a:lumMod val="90000"/>
                </a:schemeClr>
              </a:solidFill>
              <a:prstDash val="solid"/>
              <a:miter lim="800000"/>
              <a:headEnd/>
              <a:tailEnd/>
            </a:ln>
          </p:spPr>
          <p:txBody>
            <a:bodyPr lIns="37596" tIns="18797" rIns="37596" bIns="18797"/>
            <a:lstStyle>
              <a:defPPr>
                <a:defRPr lang="en-US"/>
              </a:defPPr>
              <a:lvl1pPr algn="l" rtl="0" fontAlgn="base">
                <a:spcBef>
                  <a:spcPct val="0"/>
                </a:spcBef>
                <a:spcAft>
                  <a:spcPct val="0"/>
                </a:spcAft>
                <a:defRPr sz="2800" b="1" kern="1200">
                  <a:solidFill>
                    <a:schemeClr val="tx1"/>
                  </a:solidFill>
                  <a:latin typeface="华文细黑"/>
                  <a:ea typeface="华文细黑"/>
                  <a:cs typeface="Arial" charset="0"/>
                </a:defRPr>
              </a:lvl1pPr>
              <a:lvl2pPr marL="457109" algn="l" rtl="0" fontAlgn="base">
                <a:spcBef>
                  <a:spcPct val="0"/>
                </a:spcBef>
                <a:spcAft>
                  <a:spcPct val="0"/>
                </a:spcAft>
                <a:defRPr sz="2800" b="1" kern="1200">
                  <a:solidFill>
                    <a:schemeClr val="tx1"/>
                  </a:solidFill>
                  <a:latin typeface="华文细黑"/>
                  <a:ea typeface="华文细黑"/>
                  <a:cs typeface="Arial" charset="0"/>
                </a:defRPr>
              </a:lvl2pPr>
              <a:lvl3pPr marL="914216" algn="l" rtl="0" fontAlgn="base">
                <a:spcBef>
                  <a:spcPct val="0"/>
                </a:spcBef>
                <a:spcAft>
                  <a:spcPct val="0"/>
                </a:spcAft>
                <a:defRPr sz="2800" b="1" kern="1200">
                  <a:solidFill>
                    <a:schemeClr val="tx1"/>
                  </a:solidFill>
                  <a:latin typeface="华文细黑"/>
                  <a:ea typeface="华文细黑"/>
                  <a:cs typeface="Arial" charset="0"/>
                </a:defRPr>
              </a:lvl3pPr>
              <a:lvl4pPr marL="1371325" algn="l" rtl="0" fontAlgn="base">
                <a:spcBef>
                  <a:spcPct val="0"/>
                </a:spcBef>
                <a:spcAft>
                  <a:spcPct val="0"/>
                </a:spcAft>
                <a:defRPr sz="2800" b="1" kern="1200">
                  <a:solidFill>
                    <a:schemeClr val="tx1"/>
                  </a:solidFill>
                  <a:latin typeface="华文细黑"/>
                  <a:ea typeface="华文细黑"/>
                  <a:cs typeface="Arial" charset="0"/>
                </a:defRPr>
              </a:lvl4pPr>
              <a:lvl5pPr marL="1828434" algn="l" rtl="0" fontAlgn="base">
                <a:spcBef>
                  <a:spcPct val="0"/>
                </a:spcBef>
                <a:spcAft>
                  <a:spcPct val="0"/>
                </a:spcAft>
                <a:defRPr sz="2800" b="1" kern="1200">
                  <a:solidFill>
                    <a:schemeClr val="tx1"/>
                  </a:solidFill>
                  <a:latin typeface="华文细黑"/>
                  <a:ea typeface="华文细黑"/>
                  <a:cs typeface="Arial" charset="0"/>
                </a:defRPr>
              </a:lvl5pPr>
              <a:lvl6pPr marL="2285544" algn="l" defTabSz="914216" rtl="0" eaLnBrk="1" latinLnBrk="0" hangingPunct="1">
                <a:defRPr sz="2800" b="1" kern="1200">
                  <a:solidFill>
                    <a:schemeClr val="tx1"/>
                  </a:solidFill>
                  <a:latin typeface="华文细黑"/>
                  <a:ea typeface="华文细黑"/>
                  <a:cs typeface="Arial" charset="0"/>
                </a:defRPr>
              </a:lvl6pPr>
              <a:lvl7pPr marL="2742648" algn="l" defTabSz="914216" rtl="0" eaLnBrk="1" latinLnBrk="0" hangingPunct="1">
                <a:defRPr sz="2800" b="1" kern="1200">
                  <a:solidFill>
                    <a:schemeClr val="tx1"/>
                  </a:solidFill>
                  <a:latin typeface="华文细黑"/>
                  <a:ea typeface="华文细黑"/>
                  <a:cs typeface="Arial" charset="0"/>
                </a:defRPr>
              </a:lvl7pPr>
              <a:lvl8pPr marL="3199760" algn="l" defTabSz="914216" rtl="0" eaLnBrk="1" latinLnBrk="0" hangingPunct="1">
                <a:defRPr sz="2800" b="1" kern="1200">
                  <a:solidFill>
                    <a:schemeClr val="tx1"/>
                  </a:solidFill>
                  <a:latin typeface="华文细黑"/>
                  <a:ea typeface="华文细黑"/>
                  <a:cs typeface="Arial" charset="0"/>
                </a:defRPr>
              </a:lvl8pPr>
              <a:lvl9pPr marL="3656867" algn="l" defTabSz="914216" rtl="0" eaLnBrk="1" latinLnBrk="0" hangingPunct="1">
                <a:defRPr sz="2800" b="1" kern="1200">
                  <a:solidFill>
                    <a:schemeClr val="tx1"/>
                  </a:solidFill>
                  <a:latin typeface="华文细黑"/>
                  <a:ea typeface="华文细黑"/>
                  <a:cs typeface="Arial" charset="0"/>
                </a:defRPr>
              </a:lvl9pPr>
            </a:lstStyle>
            <a:p>
              <a:pPr defTabSz="333386">
                <a:defRPr/>
              </a:pPr>
              <a:endParaRPr lang="zh-CN" altLang="en-US" sz="300" kern="0" dirty="0">
                <a:solidFill>
                  <a:srgbClr val="FFFFFF"/>
                </a:solidFill>
                <a:latin typeface="Huawei Sans" panose="020C0503030203020204" pitchFamily="34" charset="0"/>
                <a:ea typeface="微软雅黑" panose="020B0503020204020204" pitchFamily="34" charset="-122"/>
                <a:cs typeface="+mn-ea"/>
                <a:sym typeface="Huawei Sans" panose="020C0503030203020204" pitchFamily="34" charset="0"/>
              </a:endParaRPr>
            </a:p>
          </p:txBody>
        </p:sp>
        <p:pic>
          <p:nvPicPr>
            <p:cNvPr id="125" name="图片 124">
              <a:extLst>
                <a:ext uri="{FF2B5EF4-FFF2-40B4-BE49-F238E27FC236}">
                  <a16:creationId xmlns="" xmlns:a16="http://schemas.microsoft.com/office/drawing/2014/main" id="{5716AAC2-7206-4F13-988D-8B2A7885BE4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289613" y="2002294"/>
              <a:ext cx="3190877" cy="604163"/>
            </a:xfrm>
            <a:prstGeom prst="rect">
              <a:avLst/>
            </a:prstGeom>
            <a:grpFill/>
          </p:spPr>
        </p:pic>
      </p:grpSp>
      <p:grpSp>
        <p:nvGrpSpPr>
          <p:cNvPr id="117" name="组合 116">
            <a:extLst>
              <a:ext uri="{FF2B5EF4-FFF2-40B4-BE49-F238E27FC236}">
                <a16:creationId xmlns="" xmlns:a16="http://schemas.microsoft.com/office/drawing/2014/main" id="{93C1918A-0044-4288-B15D-AA0BAC53F456}"/>
              </a:ext>
            </a:extLst>
          </p:cNvPr>
          <p:cNvGrpSpPr/>
          <p:nvPr/>
        </p:nvGrpSpPr>
        <p:grpSpPr bwMode="gray">
          <a:xfrm>
            <a:off x="7980483" y="3850006"/>
            <a:ext cx="732824" cy="937676"/>
            <a:chOff x="4396426" y="1734839"/>
            <a:chExt cx="1159112" cy="1483126"/>
          </a:xfrm>
        </p:grpSpPr>
        <p:pic>
          <p:nvPicPr>
            <p:cNvPr id="122" name="图片 8">
              <a:extLst>
                <a:ext uri="{FF2B5EF4-FFF2-40B4-BE49-F238E27FC236}">
                  <a16:creationId xmlns="" xmlns:a16="http://schemas.microsoft.com/office/drawing/2014/main" id="{AB1F1351-6267-4242-B409-F00F28415FE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4396426" y="1734839"/>
              <a:ext cx="597989" cy="1483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 name="图片 122">
              <a:extLst>
                <a:ext uri="{FF2B5EF4-FFF2-40B4-BE49-F238E27FC236}">
                  <a16:creationId xmlns="" xmlns:a16="http://schemas.microsoft.com/office/drawing/2014/main" id="{4D796386-8F09-4143-9C95-CE5703E6637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092767" y="2383080"/>
              <a:ext cx="462771" cy="827708"/>
            </a:xfrm>
            <a:prstGeom prst="rect">
              <a:avLst/>
            </a:prstGeom>
          </p:spPr>
        </p:pic>
      </p:grpSp>
      <p:grpSp>
        <p:nvGrpSpPr>
          <p:cNvPr id="119" name="组合 118">
            <a:extLst>
              <a:ext uri="{FF2B5EF4-FFF2-40B4-BE49-F238E27FC236}">
                <a16:creationId xmlns="" xmlns:a16="http://schemas.microsoft.com/office/drawing/2014/main" id="{943B33FA-FC88-40AA-AB9D-98F4A5990400}"/>
              </a:ext>
            </a:extLst>
          </p:cNvPr>
          <p:cNvGrpSpPr/>
          <p:nvPr/>
        </p:nvGrpSpPr>
        <p:grpSpPr bwMode="gray">
          <a:xfrm>
            <a:off x="9221453" y="3842722"/>
            <a:ext cx="777202" cy="963948"/>
            <a:chOff x="8123219" y="1857967"/>
            <a:chExt cx="1096861" cy="1360414"/>
          </a:xfrm>
        </p:grpSpPr>
        <p:pic>
          <p:nvPicPr>
            <p:cNvPr id="120" name="d0e755">
              <a:extLst>
                <a:ext uri="{FF2B5EF4-FFF2-40B4-BE49-F238E27FC236}">
                  <a16:creationId xmlns="" xmlns:a16="http://schemas.microsoft.com/office/drawing/2014/main" id="{92CE523A-D89C-4B36-9541-294BE3245BB4}"/>
                </a:ext>
              </a:extLst>
            </p:cNvPr>
            <p:cNvPicPr>
              <a:picLocks noChangeAspect="1" noChangeArrowheads="1"/>
            </p:cNvPicPr>
            <p:nvPr/>
          </p:nvPicPr>
          <p:blipFill>
            <a:blip r:embed="rId7" cstate="print"/>
            <a:srcRect/>
            <a:stretch>
              <a:fillRect/>
            </a:stretch>
          </p:blipFill>
          <p:spPr bwMode="gray">
            <a:xfrm>
              <a:off x="8123219" y="1857967"/>
              <a:ext cx="558935" cy="1359998"/>
            </a:xfrm>
            <a:prstGeom prst="rect">
              <a:avLst/>
            </a:prstGeom>
            <a:noFill/>
          </p:spPr>
        </p:pic>
        <p:pic>
          <p:nvPicPr>
            <p:cNvPr id="121" name="图片 120" descr="fig_dc_ne_hw_00107201.png">
              <a:extLst>
                <a:ext uri="{FF2B5EF4-FFF2-40B4-BE49-F238E27FC236}">
                  <a16:creationId xmlns="" xmlns:a16="http://schemas.microsoft.com/office/drawing/2014/main" id="{2D5F5A5C-CD68-4E6C-B6F2-EA8887AAAAC2}"/>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a:ext>
              </a:extLst>
            </a:blip>
            <a:stretch>
              <a:fillRect/>
            </a:stretch>
          </p:blipFill>
          <p:spPr bwMode="gray">
            <a:xfrm>
              <a:off x="8781416" y="2483983"/>
              <a:ext cx="438664" cy="734398"/>
            </a:xfrm>
            <a:prstGeom prst="rect">
              <a:avLst/>
            </a:prstGeom>
          </p:spPr>
        </p:pic>
      </p:grpSp>
      <p:grpSp>
        <p:nvGrpSpPr>
          <p:cNvPr id="110" name="组合 109">
            <a:extLst>
              <a:ext uri="{FF2B5EF4-FFF2-40B4-BE49-F238E27FC236}">
                <a16:creationId xmlns="" xmlns:a16="http://schemas.microsoft.com/office/drawing/2014/main" id="{78F6C39F-B038-4064-9791-722526C86F3D}"/>
              </a:ext>
            </a:extLst>
          </p:cNvPr>
          <p:cNvGrpSpPr/>
          <p:nvPr/>
        </p:nvGrpSpPr>
        <p:grpSpPr bwMode="gray">
          <a:xfrm>
            <a:off x="4574861" y="4087745"/>
            <a:ext cx="849831" cy="690788"/>
            <a:chOff x="3520241" y="3751558"/>
            <a:chExt cx="1175931" cy="955860"/>
          </a:xfrm>
        </p:grpSpPr>
        <p:pic>
          <p:nvPicPr>
            <p:cNvPr id="114" name="图片 113">
              <a:extLst>
                <a:ext uri="{FF2B5EF4-FFF2-40B4-BE49-F238E27FC236}">
                  <a16:creationId xmlns="" xmlns:a16="http://schemas.microsoft.com/office/drawing/2014/main" id="{DAE6CB56-0111-4CDF-B452-B8FF0458776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4149023" y="4153558"/>
              <a:ext cx="547149" cy="547235"/>
            </a:xfrm>
            <a:prstGeom prst="rect">
              <a:avLst/>
            </a:prstGeom>
          </p:spPr>
        </p:pic>
        <p:pic>
          <p:nvPicPr>
            <p:cNvPr id="115" name="图片 114">
              <a:extLst>
                <a:ext uri="{FF2B5EF4-FFF2-40B4-BE49-F238E27FC236}">
                  <a16:creationId xmlns="" xmlns:a16="http://schemas.microsoft.com/office/drawing/2014/main" id="{46DE21B7-FC92-426B-AFB2-6CE668BF74E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bwMode="gray">
            <a:xfrm>
              <a:off x="3520241" y="3751558"/>
              <a:ext cx="544604" cy="955860"/>
            </a:xfrm>
            <a:prstGeom prst="rect">
              <a:avLst/>
            </a:prstGeom>
          </p:spPr>
        </p:pic>
      </p:grpSp>
      <p:pic>
        <p:nvPicPr>
          <p:cNvPr id="112" name="图片 111">
            <a:extLst>
              <a:ext uri="{FF2B5EF4-FFF2-40B4-BE49-F238E27FC236}">
                <a16:creationId xmlns="" xmlns:a16="http://schemas.microsoft.com/office/drawing/2014/main" id="{EC233BD3-83D1-4ECF-928D-844F28464EF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bwMode="gray">
          <a:xfrm>
            <a:off x="5781073" y="4415198"/>
            <a:ext cx="928829" cy="431006"/>
          </a:xfrm>
          <a:prstGeom prst="rect">
            <a:avLst/>
          </a:prstGeom>
        </p:spPr>
      </p:pic>
      <p:cxnSp>
        <p:nvCxnSpPr>
          <p:cNvPr id="96" name="直接连接符 95">
            <a:extLst>
              <a:ext uri="{FF2B5EF4-FFF2-40B4-BE49-F238E27FC236}">
                <a16:creationId xmlns="" xmlns:a16="http://schemas.microsoft.com/office/drawing/2014/main" id="{6FF49140-C58F-45E0-91E3-8FAD3B860BA6}"/>
              </a:ext>
            </a:extLst>
          </p:cNvPr>
          <p:cNvCxnSpPr/>
          <p:nvPr/>
        </p:nvCxnSpPr>
        <p:spPr bwMode="gray">
          <a:xfrm>
            <a:off x="7055077" y="1577975"/>
            <a:ext cx="0" cy="4300538"/>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 xmlns:a16="http://schemas.microsoft.com/office/drawing/2014/main" id="{A70D538C-A1A4-4FC3-9903-4243A823FC48}"/>
              </a:ext>
            </a:extLst>
          </p:cNvPr>
          <p:cNvCxnSpPr/>
          <p:nvPr/>
        </p:nvCxnSpPr>
        <p:spPr bwMode="gray">
          <a:xfrm>
            <a:off x="3804550" y="1511300"/>
            <a:ext cx="0" cy="4367213"/>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pic>
        <p:nvPicPr>
          <p:cNvPr id="100" name="图片 99">
            <a:extLst>
              <a:ext uri="{FF2B5EF4-FFF2-40B4-BE49-F238E27FC236}">
                <a16:creationId xmlns="" xmlns:a16="http://schemas.microsoft.com/office/drawing/2014/main" id="{C86B8ECE-9DDA-4D17-9A45-0DF7377911F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bwMode="gray">
          <a:xfrm>
            <a:off x="1731661" y="4257941"/>
            <a:ext cx="1048050" cy="634586"/>
          </a:xfrm>
          <a:prstGeom prst="rect">
            <a:avLst/>
          </a:prstGeom>
        </p:spPr>
      </p:pic>
      <p:pic>
        <p:nvPicPr>
          <p:cNvPr id="102" name="图片 101">
            <a:extLst>
              <a:ext uri="{FF2B5EF4-FFF2-40B4-BE49-F238E27FC236}">
                <a16:creationId xmlns="" xmlns:a16="http://schemas.microsoft.com/office/drawing/2014/main" id="{33D44103-7EAB-4207-A575-1141F9CDE1D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bwMode="gray">
          <a:xfrm>
            <a:off x="2865356" y="4529946"/>
            <a:ext cx="762771" cy="213646"/>
          </a:xfrm>
          <a:prstGeom prst="rect">
            <a:avLst/>
          </a:prstGeom>
        </p:spPr>
      </p:pic>
      <p:pic>
        <p:nvPicPr>
          <p:cNvPr id="104" name="图片 103">
            <a:extLst>
              <a:ext uri="{FF2B5EF4-FFF2-40B4-BE49-F238E27FC236}">
                <a16:creationId xmlns="" xmlns:a16="http://schemas.microsoft.com/office/drawing/2014/main" id="{52F8DB4A-1AF8-4F89-AB53-32E665AD8FC6}"/>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gray">
          <a:xfrm>
            <a:off x="872893" y="4533021"/>
            <a:ext cx="779044" cy="210571"/>
          </a:xfrm>
          <a:prstGeom prst="rect">
            <a:avLst/>
          </a:prstGeom>
        </p:spPr>
      </p:pic>
      <p:grpSp>
        <p:nvGrpSpPr>
          <p:cNvPr id="16" name="组合 15">
            <a:extLst>
              <a:ext uri="{FF2B5EF4-FFF2-40B4-BE49-F238E27FC236}">
                <a16:creationId xmlns="" xmlns:a16="http://schemas.microsoft.com/office/drawing/2014/main" id="{F1BC4A89-783A-4430-B422-FD6CA00535DC}"/>
              </a:ext>
            </a:extLst>
          </p:cNvPr>
          <p:cNvGrpSpPr/>
          <p:nvPr/>
        </p:nvGrpSpPr>
        <p:grpSpPr bwMode="gray">
          <a:xfrm>
            <a:off x="1031178" y="2344664"/>
            <a:ext cx="280987" cy="1042155"/>
            <a:chOff x="1252538" y="2281276"/>
            <a:chExt cx="280987" cy="1042155"/>
          </a:xfrm>
        </p:grpSpPr>
        <p:pic>
          <p:nvPicPr>
            <p:cNvPr id="90" name="图片 89">
              <a:extLst>
                <a:ext uri="{FF2B5EF4-FFF2-40B4-BE49-F238E27FC236}">
                  <a16:creationId xmlns="" xmlns:a16="http://schemas.microsoft.com/office/drawing/2014/main" id="{E37DCBEF-4677-4C5B-B7E1-AE84C3837C0E}"/>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1252538" y="3042444"/>
              <a:ext cx="280987" cy="280987"/>
            </a:xfrm>
            <a:prstGeom prst="rect">
              <a:avLst/>
            </a:prstGeom>
          </p:spPr>
        </p:pic>
        <p:pic>
          <p:nvPicPr>
            <p:cNvPr id="91" name="图片 90">
              <a:extLst>
                <a:ext uri="{FF2B5EF4-FFF2-40B4-BE49-F238E27FC236}">
                  <a16:creationId xmlns="" xmlns:a16="http://schemas.microsoft.com/office/drawing/2014/main" id="{01985692-5E57-43A8-A672-B9C99CB89EF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bwMode="gray">
            <a:xfrm>
              <a:off x="1258094" y="2659867"/>
              <a:ext cx="269874" cy="269874"/>
            </a:xfrm>
            <a:prstGeom prst="rect">
              <a:avLst/>
            </a:prstGeom>
          </p:spPr>
        </p:pic>
        <p:pic>
          <p:nvPicPr>
            <p:cNvPr id="92" name="图片 91">
              <a:extLst>
                <a:ext uri="{FF2B5EF4-FFF2-40B4-BE49-F238E27FC236}">
                  <a16:creationId xmlns="" xmlns:a16="http://schemas.microsoft.com/office/drawing/2014/main" id="{D18D593C-81F4-494C-A642-4340D72D6E1B}"/>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bwMode="gray">
            <a:xfrm>
              <a:off x="1258094" y="2281276"/>
              <a:ext cx="269875" cy="265887"/>
            </a:xfrm>
            <a:prstGeom prst="rect">
              <a:avLst/>
            </a:prstGeom>
          </p:spPr>
        </p:pic>
      </p:grpSp>
      <p:grpSp>
        <p:nvGrpSpPr>
          <p:cNvPr id="17" name="组合 16">
            <a:extLst>
              <a:ext uri="{FF2B5EF4-FFF2-40B4-BE49-F238E27FC236}">
                <a16:creationId xmlns="" xmlns:a16="http://schemas.microsoft.com/office/drawing/2014/main" id="{67691DFD-C704-4B81-906D-3E1E644DC0CA}"/>
              </a:ext>
            </a:extLst>
          </p:cNvPr>
          <p:cNvGrpSpPr/>
          <p:nvPr/>
        </p:nvGrpSpPr>
        <p:grpSpPr bwMode="gray">
          <a:xfrm>
            <a:off x="1659635" y="2417417"/>
            <a:ext cx="8261131" cy="935850"/>
            <a:chOff x="2846167" y="2506317"/>
            <a:chExt cx="8261131" cy="935850"/>
          </a:xfrm>
        </p:grpSpPr>
        <p:sp>
          <p:nvSpPr>
            <p:cNvPr id="87" name="椭圆 86">
              <a:extLst>
                <a:ext uri="{FF2B5EF4-FFF2-40B4-BE49-F238E27FC236}">
                  <a16:creationId xmlns="" xmlns:a16="http://schemas.microsoft.com/office/drawing/2014/main" id="{E0373D3C-0390-4CC4-816A-73071617E927}"/>
                </a:ext>
              </a:extLst>
            </p:cNvPr>
            <p:cNvSpPr/>
            <p:nvPr/>
          </p:nvSpPr>
          <p:spPr bwMode="gray">
            <a:xfrm>
              <a:off x="2846167" y="2506317"/>
              <a:ext cx="2021107" cy="935850"/>
            </a:xfrm>
            <a:prstGeom prst="ellipse">
              <a:avLst/>
            </a:prstGeom>
            <a:noFill/>
            <a:ln w="3175">
              <a:solidFill>
                <a:schemeClr val="tx2">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微软雅黑" panose="020B0503020204020204" pitchFamily="34" charset="-122"/>
                <a:cs typeface="+mn-ea"/>
                <a:sym typeface="Huawei Sans" panose="020C0503030203020204" pitchFamily="34" charset="0"/>
              </a:endParaRPr>
            </a:p>
          </p:txBody>
        </p:sp>
        <p:sp>
          <p:nvSpPr>
            <p:cNvPr id="88" name="椭圆 87">
              <a:extLst>
                <a:ext uri="{FF2B5EF4-FFF2-40B4-BE49-F238E27FC236}">
                  <a16:creationId xmlns="" xmlns:a16="http://schemas.microsoft.com/office/drawing/2014/main" id="{2116BEA5-0015-4EAD-8EB0-F01298C5EA43}"/>
                </a:ext>
              </a:extLst>
            </p:cNvPr>
            <p:cNvSpPr/>
            <p:nvPr/>
          </p:nvSpPr>
          <p:spPr bwMode="gray">
            <a:xfrm>
              <a:off x="5108247" y="2506317"/>
              <a:ext cx="3019425" cy="935850"/>
            </a:xfrm>
            <a:prstGeom prst="ellipse">
              <a:avLst/>
            </a:prstGeom>
            <a:noFill/>
            <a:ln w="3175">
              <a:solidFill>
                <a:schemeClr val="tx2">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微软雅黑" panose="020B0503020204020204" pitchFamily="34" charset="-122"/>
                <a:cs typeface="+mn-ea"/>
                <a:sym typeface="Huawei Sans" panose="020C0503030203020204" pitchFamily="34" charset="0"/>
              </a:endParaRPr>
            </a:p>
          </p:txBody>
        </p:sp>
        <p:sp>
          <p:nvSpPr>
            <p:cNvPr id="89" name="椭圆 88">
              <a:extLst>
                <a:ext uri="{FF2B5EF4-FFF2-40B4-BE49-F238E27FC236}">
                  <a16:creationId xmlns="" xmlns:a16="http://schemas.microsoft.com/office/drawing/2014/main" id="{7D3801E4-1D7D-42B0-9584-AD715F923D6A}"/>
                </a:ext>
              </a:extLst>
            </p:cNvPr>
            <p:cNvSpPr/>
            <p:nvPr/>
          </p:nvSpPr>
          <p:spPr bwMode="gray">
            <a:xfrm>
              <a:off x="8368645" y="2506317"/>
              <a:ext cx="2738653" cy="935850"/>
            </a:xfrm>
            <a:prstGeom prst="ellipse">
              <a:avLst/>
            </a:prstGeom>
            <a:noFill/>
            <a:ln w="3175">
              <a:solidFill>
                <a:schemeClr val="tx2">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Huawei Sans" panose="020C0503030203020204" pitchFamily="34" charset="0"/>
                <a:ea typeface="微软雅黑" panose="020B0503020204020204" pitchFamily="34" charset="-122"/>
                <a:cs typeface="+mn-ea"/>
                <a:sym typeface="Huawei Sans" panose="020C0503030203020204" pitchFamily="34" charset="0"/>
              </a:endParaRPr>
            </a:p>
          </p:txBody>
        </p:sp>
      </p:grpSp>
      <p:sp>
        <p:nvSpPr>
          <p:cNvPr id="29" name="云形 28">
            <a:extLst>
              <a:ext uri="{FF2B5EF4-FFF2-40B4-BE49-F238E27FC236}">
                <a16:creationId xmlns="" xmlns:a16="http://schemas.microsoft.com/office/drawing/2014/main" id="{727F1785-E506-405F-9E1D-8813995B38B9}"/>
              </a:ext>
            </a:extLst>
          </p:cNvPr>
          <p:cNvSpPr/>
          <p:nvPr/>
        </p:nvSpPr>
        <p:spPr bwMode="gray">
          <a:xfrm>
            <a:off x="10086695" y="2130349"/>
            <a:ext cx="1368690" cy="497095"/>
          </a:xfrm>
          <a:prstGeom prst="cloud">
            <a:avLst/>
          </a:prstGeom>
          <a:solidFill>
            <a:srgbClr val="FFFFFF">
              <a:lumMod val="85000"/>
              <a:alpha val="57000"/>
            </a:srgbClr>
          </a:solidFill>
          <a:ln w="25400" cap="flat" cmpd="sng" algn="ctr">
            <a:noFill/>
            <a:prstDash val="solid"/>
          </a:ln>
          <a:effectLst/>
        </p:spPr>
        <p:txBody>
          <a:bodyPr rtlCol="0" anchor="ctr"/>
          <a:lstStyle/>
          <a:p>
            <a:pPr algn="ctr" defTabSz="914217">
              <a:defRPr/>
            </a:pPr>
            <a:r>
              <a:rPr lang="en-US" altLang="zh-CN" sz="1400" kern="0" dirty="0">
                <a:latin typeface="Huawei Sans" panose="020C0503030203020204" pitchFamily="34" charset="0"/>
                <a:ea typeface="微软雅黑" panose="020B0503020204020204" pitchFamily="34" charset="-122"/>
                <a:cs typeface="+mn-ea"/>
                <a:sym typeface="Huawei Sans" panose="020C0503030203020204" pitchFamily="34" charset="0"/>
              </a:rPr>
              <a:t>Internet</a:t>
            </a:r>
            <a:endParaRPr lang="zh-CN" altLang="en-US" sz="1400" kern="0" dirty="0">
              <a:latin typeface="Huawei Sans" panose="020C0503030203020204" pitchFamily="34" charset="0"/>
              <a:ea typeface="微软雅黑" panose="020B0503020204020204" pitchFamily="34" charset="-122"/>
              <a:cs typeface="+mn-ea"/>
              <a:sym typeface="Huawei Sans" panose="020C0503030203020204" pitchFamily="34" charset="0"/>
            </a:endParaRPr>
          </a:p>
        </p:txBody>
      </p:sp>
      <p:sp>
        <p:nvSpPr>
          <p:cNvPr id="30" name="Freeform 6">
            <a:extLst>
              <a:ext uri="{FF2B5EF4-FFF2-40B4-BE49-F238E27FC236}">
                <a16:creationId xmlns="" xmlns:a16="http://schemas.microsoft.com/office/drawing/2014/main" id="{294F2E37-0659-4043-B59C-4395B5608806}"/>
              </a:ext>
            </a:extLst>
          </p:cNvPr>
          <p:cNvSpPr>
            <a:spLocks/>
          </p:cNvSpPr>
          <p:nvPr/>
        </p:nvSpPr>
        <p:spPr bwMode="gray">
          <a:xfrm>
            <a:off x="10150444" y="2878010"/>
            <a:ext cx="975456" cy="385785"/>
          </a:xfrm>
          <a:custGeom>
            <a:avLst/>
            <a:gdLst>
              <a:gd name="T0" fmla="*/ 637 w 754"/>
              <a:gd name="T1" fmla="*/ 407 h 415"/>
              <a:gd name="T2" fmla="*/ 92 w 754"/>
              <a:gd name="T3" fmla="*/ 403 h 415"/>
              <a:gd name="T4" fmla="*/ 15 w 754"/>
              <a:gd name="T5" fmla="*/ 290 h 415"/>
              <a:gd name="T6" fmla="*/ 139 w 754"/>
              <a:gd name="T7" fmla="*/ 204 h 415"/>
              <a:gd name="T8" fmla="*/ 287 w 754"/>
              <a:gd name="T9" fmla="*/ 26 h 415"/>
              <a:gd name="T10" fmla="*/ 504 w 754"/>
              <a:gd name="T11" fmla="*/ 122 h 415"/>
              <a:gd name="T12" fmla="*/ 650 w 754"/>
              <a:gd name="T13" fmla="*/ 119 h 415"/>
              <a:gd name="T14" fmla="*/ 678 w 754"/>
              <a:gd name="T15" fmla="*/ 244 h 415"/>
              <a:gd name="T16" fmla="*/ 742 w 754"/>
              <a:gd name="T17" fmla="*/ 336 h 415"/>
              <a:gd name="T18" fmla="*/ 637 w 754"/>
              <a:gd name="T19" fmla="*/ 407 h 415"/>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8992 w 10000"/>
              <a:gd name="connsiteY7" fmla="*/ 5880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470 w 10000"/>
              <a:gd name="connsiteY3" fmla="*/ 4211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353 w 10000"/>
              <a:gd name="connsiteY7" fmla="*/ 5815 h 10000"/>
              <a:gd name="connsiteX8" fmla="*/ 9841 w 10000"/>
              <a:gd name="connsiteY8" fmla="*/ 8096 h 10000"/>
              <a:gd name="connsiteX9" fmla="*/ 8448 w 10000"/>
              <a:gd name="connsiteY9" fmla="*/ 9807 h 10000"/>
              <a:gd name="connsiteX0" fmla="*/ 8448 w 10000"/>
              <a:gd name="connsiteY0" fmla="*/ 9807 h 10000"/>
              <a:gd name="connsiteX1" fmla="*/ 1220 w 10000"/>
              <a:gd name="connsiteY1" fmla="*/ 9711 h 10000"/>
              <a:gd name="connsiteX2" fmla="*/ 199 w 10000"/>
              <a:gd name="connsiteY2" fmla="*/ 6988 h 10000"/>
              <a:gd name="connsiteX3" fmla="*/ 1638 w 10000"/>
              <a:gd name="connsiteY3" fmla="*/ 4336 h 10000"/>
              <a:gd name="connsiteX4" fmla="*/ 3806 w 10000"/>
              <a:gd name="connsiteY4" fmla="*/ 627 h 10000"/>
              <a:gd name="connsiteX5" fmla="*/ 6684 w 10000"/>
              <a:gd name="connsiteY5" fmla="*/ 2940 h 10000"/>
              <a:gd name="connsiteX6" fmla="*/ 8621 w 10000"/>
              <a:gd name="connsiteY6" fmla="*/ 2867 h 10000"/>
              <a:gd name="connsiteX7" fmla="*/ 9054 w 10000"/>
              <a:gd name="connsiteY7" fmla="*/ 5692 h 10000"/>
              <a:gd name="connsiteX8" fmla="*/ 9841 w 10000"/>
              <a:gd name="connsiteY8" fmla="*/ 8096 h 10000"/>
              <a:gd name="connsiteX9" fmla="*/ 8448 w 10000"/>
              <a:gd name="connsiteY9" fmla="*/ 980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00">
                <a:moveTo>
                  <a:pt x="8448" y="9807"/>
                </a:moveTo>
                <a:lnTo>
                  <a:pt x="1220" y="9711"/>
                </a:lnTo>
                <a:cubicBezTo>
                  <a:pt x="1220" y="9711"/>
                  <a:pt x="0" y="9253"/>
                  <a:pt x="199" y="6988"/>
                </a:cubicBezTo>
                <a:cubicBezTo>
                  <a:pt x="424" y="4530"/>
                  <a:pt x="1638" y="4336"/>
                  <a:pt x="1638" y="4336"/>
                </a:cubicBezTo>
                <a:cubicBezTo>
                  <a:pt x="1638" y="4336"/>
                  <a:pt x="1711" y="1277"/>
                  <a:pt x="3806" y="627"/>
                </a:cubicBezTo>
                <a:cubicBezTo>
                  <a:pt x="5849" y="0"/>
                  <a:pt x="6684" y="2940"/>
                  <a:pt x="6684" y="2940"/>
                </a:cubicBezTo>
                <a:cubicBezTo>
                  <a:pt x="6684" y="2940"/>
                  <a:pt x="7732" y="1542"/>
                  <a:pt x="8621" y="2867"/>
                </a:cubicBezTo>
                <a:cubicBezTo>
                  <a:pt x="9363" y="3952"/>
                  <a:pt x="9054" y="5692"/>
                  <a:pt x="9054" y="5692"/>
                </a:cubicBezTo>
                <a:cubicBezTo>
                  <a:pt x="9054" y="5692"/>
                  <a:pt x="10000" y="6361"/>
                  <a:pt x="9841" y="8096"/>
                </a:cubicBezTo>
                <a:cubicBezTo>
                  <a:pt x="9668" y="10000"/>
                  <a:pt x="8448" y="9807"/>
                  <a:pt x="8448" y="9807"/>
                </a:cubicBezTo>
                <a:close/>
              </a:path>
            </a:pathLst>
          </a:custGeom>
          <a:solidFill>
            <a:schemeClr val="bg1">
              <a:lumMod val="95000"/>
            </a:schemeClr>
          </a:solidFill>
          <a:ln w="15875" cap="flat">
            <a:solidFill>
              <a:schemeClr val="bg2">
                <a:lumMod val="90000"/>
              </a:schemeClr>
            </a:solidFill>
            <a:prstDash val="solid"/>
            <a:miter lim="800000"/>
            <a:headEnd/>
            <a:tailEnd/>
          </a:ln>
        </p:spPr>
        <p:txBody>
          <a:bodyPr lIns="37596" tIns="18797" rIns="37596" bIns="18797"/>
          <a:lstStyle>
            <a:defPPr>
              <a:defRPr lang="en-US"/>
            </a:defPPr>
            <a:lvl1pPr algn="l" rtl="0" fontAlgn="base">
              <a:spcBef>
                <a:spcPct val="0"/>
              </a:spcBef>
              <a:spcAft>
                <a:spcPct val="0"/>
              </a:spcAft>
              <a:defRPr sz="2800" b="1" kern="1200">
                <a:solidFill>
                  <a:schemeClr val="tx1"/>
                </a:solidFill>
                <a:latin typeface="华文细黑"/>
                <a:ea typeface="华文细黑"/>
                <a:cs typeface="Arial" charset="0"/>
              </a:defRPr>
            </a:lvl1pPr>
            <a:lvl2pPr marL="457109" algn="l" rtl="0" fontAlgn="base">
              <a:spcBef>
                <a:spcPct val="0"/>
              </a:spcBef>
              <a:spcAft>
                <a:spcPct val="0"/>
              </a:spcAft>
              <a:defRPr sz="2800" b="1" kern="1200">
                <a:solidFill>
                  <a:schemeClr val="tx1"/>
                </a:solidFill>
                <a:latin typeface="华文细黑"/>
                <a:ea typeface="华文细黑"/>
                <a:cs typeface="Arial" charset="0"/>
              </a:defRPr>
            </a:lvl2pPr>
            <a:lvl3pPr marL="914216" algn="l" rtl="0" fontAlgn="base">
              <a:spcBef>
                <a:spcPct val="0"/>
              </a:spcBef>
              <a:spcAft>
                <a:spcPct val="0"/>
              </a:spcAft>
              <a:defRPr sz="2800" b="1" kern="1200">
                <a:solidFill>
                  <a:schemeClr val="tx1"/>
                </a:solidFill>
                <a:latin typeface="华文细黑"/>
                <a:ea typeface="华文细黑"/>
                <a:cs typeface="Arial" charset="0"/>
              </a:defRPr>
            </a:lvl3pPr>
            <a:lvl4pPr marL="1371325" algn="l" rtl="0" fontAlgn="base">
              <a:spcBef>
                <a:spcPct val="0"/>
              </a:spcBef>
              <a:spcAft>
                <a:spcPct val="0"/>
              </a:spcAft>
              <a:defRPr sz="2800" b="1" kern="1200">
                <a:solidFill>
                  <a:schemeClr val="tx1"/>
                </a:solidFill>
                <a:latin typeface="华文细黑"/>
                <a:ea typeface="华文细黑"/>
                <a:cs typeface="Arial" charset="0"/>
              </a:defRPr>
            </a:lvl4pPr>
            <a:lvl5pPr marL="1828434" algn="l" rtl="0" fontAlgn="base">
              <a:spcBef>
                <a:spcPct val="0"/>
              </a:spcBef>
              <a:spcAft>
                <a:spcPct val="0"/>
              </a:spcAft>
              <a:defRPr sz="2800" b="1" kern="1200">
                <a:solidFill>
                  <a:schemeClr val="tx1"/>
                </a:solidFill>
                <a:latin typeface="华文细黑"/>
                <a:ea typeface="华文细黑"/>
                <a:cs typeface="Arial" charset="0"/>
              </a:defRPr>
            </a:lvl5pPr>
            <a:lvl6pPr marL="2285544" algn="l" defTabSz="914216" rtl="0" eaLnBrk="1" latinLnBrk="0" hangingPunct="1">
              <a:defRPr sz="2800" b="1" kern="1200">
                <a:solidFill>
                  <a:schemeClr val="tx1"/>
                </a:solidFill>
                <a:latin typeface="华文细黑"/>
                <a:ea typeface="华文细黑"/>
                <a:cs typeface="Arial" charset="0"/>
              </a:defRPr>
            </a:lvl6pPr>
            <a:lvl7pPr marL="2742648" algn="l" defTabSz="914216" rtl="0" eaLnBrk="1" latinLnBrk="0" hangingPunct="1">
              <a:defRPr sz="2800" b="1" kern="1200">
                <a:solidFill>
                  <a:schemeClr val="tx1"/>
                </a:solidFill>
                <a:latin typeface="华文细黑"/>
                <a:ea typeface="华文细黑"/>
                <a:cs typeface="Arial" charset="0"/>
              </a:defRPr>
            </a:lvl7pPr>
            <a:lvl8pPr marL="3199760" algn="l" defTabSz="914216" rtl="0" eaLnBrk="1" latinLnBrk="0" hangingPunct="1">
              <a:defRPr sz="2800" b="1" kern="1200">
                <a:solidFill>
                  <a:schemeClr val="tx1"/>
                </a:solidFill>
                <a:latin typeface="华文细黑"/>
                <a:ea typeface="华文细黑"/>
                <a:cs typeface="Arial" charset="0"/>
              </a:defRPr>
            </a:lvl8pPr>
            <a:lvl9pPr marL="3656867" algn="l" defTabSz="914216" rtl="0" eaLnBrk="1" latinLnBrk="0" hangingPunct="1">
              <a:defRPr sz="2800" b="1" kern="1200">
                <a:solidFill>
                  <a:schemeClr val="tx1"/>
                </a:solidFill>
                <a:latin typeface="华文细黑"/>
                <a:ea typeface="华文细黑"/>
                <a:cs typeface="Arial" charset="0"/>
              </a:defRPr>
            </a:lvl9pPr>
          </a:lstStyle>
          <a:p>
            <a:pPr defTabSz="333386">
              <a:defRPr/>
            </a:pPr>
            <a:r>
              <a:rPr lang="en-US" altLang="zh-CN" sz="300" kern="0" dirty="0">
                <a:solidFill>
                  <a:srgbClr val="FFFFFF"/>
                </a:solidFill>
                <a:latin typeface="Huawei Sans" panose="020C0503030203020204" pitchFamily="34" charset="0"/>
                <a:ea typeface="微软雅黑" panose="020B0503020204020204" pitchFamily="34" charset="-122"/>
                <a:cs typeface="+mn-ea"/>
                <a:sym typeface="Huawei Sans" panose="020C0503030203020204" pitchFamily="34" charset="0"/>
              </a:rPr>
              <a:t>Cl</a:t>
            </a:r>
            <a:endParaRPr lang="zh-CN" altLang="en-US" sz="300" kern="0" dirty="0">
              <a:solidFill>
                <a:srgbClr val="FFFFFF"/>
              </a:solidFill>
              <a:latin typeface="Huawei Sans" panose="020C0503030203020204" pitchFamily="34" charset="0"/>
              <a:ea typeface="微软雅黑" panose="020B0503020204020204" pitchFamily="34" charset="-122"/>
              <a:cs typeface="+mn-ea"/>
              <a:sym typeface="Huawei Sans" panose="020C0503030203020204" pitchFamily="34" charset="0"/>
            </a:endParaRPr>
          </a:p>
        </p:txBody>
      </p:sp>
      <p:sp>
        <p:nvSpPr>
          <p:cNvPr id="31" name="文本框 30">
            <a:extLst>
              <a:ext uri="{FF2B5EF4-FFF2-40B4-BE49-F238E27FC236}">
                <a16:creationId xmlns="" xmlns:a16="http://schemas.microsoft.com/office/drawing/2014/main" id="{C09EDB0B-5824-4DBD-8BEF-E717FF4A0E1E}"/>
              </a:ext>
            </a:extLst>
          </p:cNvPr>
          <p:cNvSpPr txBox="1"/>
          <p:nvPr/>
        </p:nvSpPr>
        <p:spPr bwMode="gray">
          <a:xfrm>
            <a:off x="10297262" y="2995072"/>
            <a:ext cx="655949" cy="307777"/>
          </a:xfrm>
          <a:prstGeom prst="rect">
            <a:avLst/>
          </a:prstGeom>
          <a:noFill/>
        </p:spPr>
        <p:txBody>
          <a:bodyPr vert="horz" wrap="none" rtlCol="0">
            <a:spAutoFit/>
          </a:bodyPr>
          <a:lstStyle/>
          <a:p>
            <a:pPr algn="ctr"/>
            <a:r>
              <a:rPr lang="en-US" altLang="zh-CN" sz="1400" dirty="0">
                <a:latin typeface="Huawei Sans" panose="020C0503030203020204" pitchFamily="34" charset="0"/>
                <a:ea typeface="微软雅黑" panose="020B0503020204020204" pitchFamily="34" charset="-122"/>
                <a:cs typeface="+mn-ea"/>
                <a:sym typeface="Huawei Sans" panose="020C0503030203020204" pitchFamily="34" charset="0"/>
              </a:rPr>
              <a:t>Cloud</a:t>
            </a:r>
          </a:p>
        </p:txBody>
      </p:sp>
      <p:cxnSp>
        <p:nvCxnSpPr>
          <p:cNvPr id="10" name="直接连接符 9">
            <a:extLst>
              <a:ext uri="{FF2B5EF4-FFF2-40B4-BE49-F238E27FC236}">
                <a16:creationId xmlns="" xmlns:a16="http://schemas.microsoft.com/office/drawing/2014/main" id="{36314E19-FEA9-4423-9533-D54C0F448712}"/>
              </a:ext>
            </a:extLst>
          </p:cNvPr>
          <p:cNvCxnSpPr>
            <a:cxnSpLocks/>
            <a:stCxn id="89" idx="6"/>
            <a:endCxn id="29" idx="2"/>
          </p:cNvCxnSpPr>
          <p:nvPr/>
        </p:nvCxnSpPr>
        <p:spPr bwMode="gray">
          <a:xfrm flipV="1">
            <a:off x="9920766" y="2378897"/>
            <a:ext cx="170174" cy="506445"/>
          </a:xfrm>
          <a:prstGeom prst="line">
            <a:avLst/>
          </a:prstGeom>
          <a:noFill/>
          <a:ln w="3175">
            <a:solidFill>
              <a:schemeClr val="tx2">
                <a:lumMod val="6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10">
            <a:extLst>
              <a:ext uri="{FF2B5EF4-FFF2-40B4-BE49-F238E27FC236}">
                <a16:creationId xmlns="" xmlns:a16="http://schemas.microsoft.com/office/drawing/2014/main" id="{1B8A3709-DB0A-476B-8B0D-019105EFE91E}"/>
              </a:ext>
            </a:extLst>
          </p:cNvPr>
          <p:cNvCxnSpPr>
            <a:cxnSpLocks/>
            <a:stCxn id="89" idx="6"/>
            <a:endCxn id="30" idx="2"/>
          </p:cNvCxnSpPr>
          <p:nvPr/>
        </p:nvCxnSpPr>
        <p:spPr bwMode="gray">
          <a:xfrm>
            <a:off x="9920766" y="2885342"/>
            <a:ext cx="249090" cy="262255"/>
          </a:xfrm>
          <a:prstGeom prst="line">
            <a:avLst/>
          </a:prstGeom>
          <a:noFill/>
          <a:ln w="3175">
            <a:solidFill>
              <a:schemeClr val="tx2">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2" name="文本框 11">
            <a:extLst>
              <a:ext uri="{FF2B5EF4-FFF2-40B4-BE49-F238E27FC236}">
                <a16:creationId xmlns="" xmlns:a16="http://schemas.microsoft.com/office/drawing/2014/main" id="{E4018550-30FD-4948-98B2-27894A07B7DA}"/>
              </a:ext>
            </a:extLst>
          </p:cNvPr>
          <p:cNvSpPr txBox="1"/>
          <p:nvPr/>
        </p:nvSpPr>
        <p:spPr bwMode="gray">
          <a:xfrm>
            <a:off x="2416727" y="2723990"/>
            <a:ext cx="595035" cy="338554"/>
          </a:xfrm>
          <a:prstGeom prst="rect">
            <a:avLst/>
          </a:prstGeom>
          <a:noFill/>
        </p:spPr>
        <p:txBody>
          <a:bodyPr vert="horz" wrap="none" rtlCol="0">
            <a:spAutoFit/>
          </a:bodyPr>
          <a:lstStyle/>
          <a:p>
            <a:pPr algn="ctr"/>
            <a:r>
              <a:rPr lang="zh-CN" altLang="en-US" sz="1600" dirty="0">
                <a:latin typeface="Huawei Sans" panose="020C0503030203020204" pitchFamily="34" charset="0"/>
                <a:ea typeface="微软雅黑" panose="020B0503020204020204" pitchFamily="34" charset="-122"/>
                <a:cs typeface="+mn-ea"/>
                <a:sym typeface="Huawei Sans" panose="020C0503030203020204" pitchFamily="34" charset="0"/>
              </a:rPr>
              <a:t>接入</a:t>
            </a:r>
          </a:p>
        </p:txBody>
      </p:sp>
      <p:sp>
        <p:nvSpPr>
          <p:cNvPr id="13" name="文本框 12">
            <a:extLst>
              <a:ext uri="{FF2B5EF4-FFF2-40B4-BE49-F238E27FC236}">
                <a16:creationId xmlns="" xmlns:a16="http://schemas.microsoft.com/office/drawing/2014/main" id="{5565517D-20FC-4A3E-A8FA-50A065C147F5}"/>
              </a:ext>
            </a:extLst>
          </p:cNvPr>
          <p:cNvSpPr txBox="1"/>
          <p:nvPr/>
        </p:nvSpPr>
        <p:spPr bwMode="gray">
          <a:xfrm>
            <a:off x="5185404" y="2723990"/>
            <a:ext cx="595035" cy="338554"/>
          </a:xfrm>
          <a:prstGeom prst="rect">
            <a:avLst/>
          </a:prstGeom>
          <a:noFill/>
        </p:spPr>
        <p:txBody>
          <a:bodyPr vert="horz" wrap="none" rtlCol="0">
            <a:spAutoFit/>
          </a:bodyPr>
          <a:lstStyle/>
          <a:p>
            <a:pPr algn="ctr"/>
            <a:r>
              <a:rPr lang="zh-CN" altLang="en-US" sz="1600" dirty="0">
                <a:latin typeface="Huawei Sans" panose="020C0503030203020204" pitchFamily="34" charset="0"/>
                <a:ea typeface="微软雅黑" panose="020B0503020204020204" pitchFamily="34" charset="-122"/>
                <a:cs typeface="+mn-ea"/>
                <a:sym typeface="Huawei Sans" panose="020C0503030203020204" pitchFamily="34" charset="0"/>
              </a:rPr>
              <a:t>城域</a:t>
            </a:r>
          </a:p>
        </p:txBody>
      </p:sp>
      <p:sp>
        <p:nvSpPr>
          <p:cNvPr id="14" name="文本框 13">
            <a:extLst>
              <a:ext uri="{FF2B5EF4-FFF2-40B4-BE49-F238E27FC236}">
                <a16:creationId xmlns="" xmlns:a16="http://schemas.microsoft.com/office/drawing/2014/main" id="{C2B5FD44-5497-4503-AADD-91052DCF68BD}"/>
              </a:ext>
            </a:extLst>
          </p:cNvPr>
          <p:cNvSpPr txBox="1"/>
          <p:nvPr/>
        </p:nvSpPr>
        <p:spPr bwMode="gray">
          <a:xfrm>
            <a:off x="8206428" y="2723990"/>
            <a:ext cx="595035" cy="338554"/>
          </a:xfrm>
          <a:prstGeom prst="rect">
            <a:avLst/>
          </a:prstGeom>
          <a:noFill/>
        </p:spPr>
        <p:txBody>
          <a:bodyPr vert="horz" wrap="none" rtlCol="0">
            <a:spAutoFit/>
          </a:bodyPr>
          <a:lstStyle/>
          <a:p>
            <a:pPr algn="ctr"/>
            <a:r>
              <a:rPr lang="zh-CN" altLang="en-US" sz="1600" dirty="0">
                <a:latin typeface="Huawei Sans" panose="020C0503030203020204" pitchFamily="34" charset="0"/>
                <a:ea typeface="微软雅黑" panose="020B0503020204020204" pitchFamily="34" charset="-122"/>
                <a:cs typeface="+mn-ea"/>
                <a:sym typeface="Huawei Sans" panose="020C0503030203020204" pitchFamily="34" charset="0"/>
              </a:rPr>
              <a:t>骨干</a:t>
            </a:r>
          </a:p>
        </p:txBody>
      </p:sp>
      <p:cxnSp>
        <p:nvCxnSpPr>
          <p:cNvPr id="15" name="直接连接符 14">
            <a:extLst>
              <a:ext uri="{FF2B5EF4-FFF2-40B4-BE49-F238E27FC236}">
                <a16:creationId xmlns="" xmlns:a16="http://schemas.microsoft.com/office/drawing/2014/main" id="{B06EF413-68E2-409B-BEDA-CF786E8B0FCD}"/>
              </a:ext>
            </a:extLst>
          </p:cNvPr>
          <p:cNvCxnSpPr/>
          <p:nvPr/>
        </p:nvCxnSpPr>
        <p:spPr bwMode="gray">
          <a:xfrm>
            <a:off x="933450" y="3592513"/>
            <a:ext cx="10334625" cy="0"/>
          </a:xfrm>
          <a:prstGeom prst="line">
            <a:avLst/>
          </a:prstGeom>
          <a:ln>
            <a:solidFill>
              <a:srgbClr val="C4C4C4"/>
            </a:solidFill>
          </a:ln>
        </p:spPr>
        <p:style>
          <a:lnRef idx="1">
            <a:schemeClr val="accent1"/>
          </a:lnRef>
          <a:fillRef idx="0">
            <a:schemeClr val="accent1"/>
          </a:fillRef>
          <a:effectRef idx="0">
            <a:schemeClr val="accent1"/>
          </a:effectRef>
          <a:fontRef idx="minor">
            <a:schemeClr val="tx1"/>
          </a:fontRef>
        </p:style>
      </p:cxnSp>
      <p:sp>
        <p:nvSpPr>
          <p:cNvPr id="126" name="文本框 125">
            <a:extLst>
              <a:ext uri="{FF2B5EF4-FFF2-40B4-BE49-F238E27FC236}">
                <a16:creationId xmlns="" xmlns:a16="http://schemas.microsoft.com/office/drawing/2014/main" id="{85DF0D94-A191-4FCC-9ED9-E2FE4F6D919B}"/>
              </a:ext>
            </a:extLst>
          </p:cNvPr>
          <p:cNvSpPr txBox="1"/>
          <p:nvPr/>
        </p:nvSpPr>
        <p:spPr bwMode="gray">
          <a:xfrm>
            <a:off x="1083060" y="5278085"/>
            <a:ext cx="2604319" cy="338554"/>
          </a:xfrm>
          <a:prstGeom prst="rect">
            <a:avLst/>
          </a:prstGeom>
          <a:noFill/>
        </p:spPr>
        <p:txBody>
          <a:bodyPr wrap="square" rtlCol="0">
            <a:spAutoFit/>
          </a:bodyPr>
          <a:lstStyle/>
          <a:p>
            <a:r>
              <a:rPr lang="en-US" altLang="zh-CN" sz="1600"/>
              <a:t>ATN</a:t>
            </a:r>
            <a:r>
              <a:rPr lang="zh-CN" altLang="en-US" sz="1600"/>
              <a:t>系列移动承载路由器</a:t>
            </a:r>
          </a:p>
        </p:txBody>
      </p:sp>
      <p:sp>
        <p:nvSpPr>
          <p:cNvPr id="127" name="文本框 126">
            <a:extLst>
              <a:ext uri="{FF2B5EF4-FFF2-40B4-BE49-F238E27FC236}">
                <a16:creationId xmlns="" xmlns:a16="http://schemas.microsoft.com/office/drawing/2014/main" id="{5AD4FA8A-86F3-49DD-B4B6-0EEB45AC692E}"/>
              </a:ext>
            </a:extLst>
          </p:cNvPr>
          <p:cNvSpPr txBox="1"/>
          <p:nvPr/>
        </p:nvSpPr>
        <p:spPr bwMode="gray">
          <a:xfrm>
            <a:off x="4587561" y="5278085"/>
            <a:ext cx="2085241" cy="338554"/>
          </a:xfrm>
          <a:prstGeom prst="rect">
            <a:avLst/>
          </a:prstGeom>
          <a:noFill/>
        </p:spPr>
        <p:txBody>
          <a:bodyPr wrap="square" rtlCol="0">
            <a:spAutoFit/>
          </a:bodyPr>
          <a:lstStyle/>
          <a:p>
            <a:r>
              <a:rPr lang="en-US" altLang="zh-CN" sz="1600" dirty="0"/>
              <a:t>NE</a:t>
            </a:r>
            <a:r>
              <a:rPr lang="zh-CN" altLang="en-US" sz="1600" dirty="0"/>
              <a:t>系列城域路由器</a:t>
            </a:r>
          </a:p>
        </p:txBody>
      </p:sp>
      <p:sp>
        <p:nvSpPr>
          <p:cNvPr id="128" name="文本框 127">
            <a:extLst>
              <a:ext uri="{FF2B5EF4-FFF2-40B4-BE49-F238E27FC236}">
                <a16:creationId xmlns="" xmlns:a16="http://schemas.microsoft.com/office/drawing/2014/main" id="{77206AB5-509D-4C50-8E54-5CBA16CFAC42}"/>
              </a:ext>
            </a:extLst>
          </p:cNvPr>
          <p:cNvSpPr txBox="1"/>
          <p:nvPr/>
        </p:nvSpPr>
        <p:spPr bwMode="gray">
          <a:xfrm>
            <a:off x="7802683" y="5278085"/>
            <a:ext cx="2598605" cy="338554"/>
          </a:xfrm>
          <a:prstGeom prst="rect">
            <a:avLst/>
          </a:prstGeom>
          <a:noFill/>
        </p:spPr>
        <p:txBody>
          <a:bodyPr wrap="square" rtlCol="0">
            <a:spAutoFit/>
          </a:bodyPr>
          <a:lstStyle/>
          <a:p>
            <a:r>
              <a:rPr lang="en-US" altLang="zh-CN" sz="1600" dirty="0"/>
              <a:t>NE</a:t>
            </a:r>
            <a:r>
              <a:rPr lang="zh-CN" altLang="en-US" sz="1600" dirty="0"/>
              <a:t>、</a:t>
            </a:r>
            <a:r>
              <a:rPr lang="en-US" altLang="zh-CN" sz="1600" dirty="0"/>
              <a:t>CX</a:t>
            </a:r>
            <a:r>
              <a:rPr lang="zh-CN" altLang="en-US" sz="1600" dirty="0"/>
              <a:t>系列云骨干路由器</a:t>
            </a:r>
          </a:p>
        </p:txBody>
      </p:sp>
      <p:sp>
        <p:nvSpPr>
          <p:cNvPr id="108" name="五边形 2">
            <a:extLst>
              <a:ext uri="{FF2B5EF4-FFF2-40B4-BE49-F238E27FC236}">
                <a16:creationId xmlns="" xmlns:a16="http://schemas.microsoft.com/office/drawing/2014/main" id="{A8BDB965-BFB8-4C7D-A2C0-F8B259F708B1}"/>
              </a:ext>
            </a:extLst>
          </p:cNvPr>
          <p:cNvSpPr/>
          <p:nvPr/>
        </p:nvSpPr>
        <p:spPr bwMode="gray">
          <a:xfrm>
            <a:off x="8199710" y="49524"/>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109" name="燕尾形 3">
            <a:extLst>
              <a:ext uri="{FF2B5EF4-FFF2-40B4-BE49-F238E27FC236}">
                <a16:creationId xmlns="" xmlns:a16="http://schemas.microsoft.com/office/drawing/2014/main" id="{E15DCB6F-3307-4DD4-9AC0-819DA8432313}"/>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燕尾形 3">
            <a:extLst>
              <a:ext uri="{FF2B5EF4-FFF2-40B4-BE49-F238E27FC236}">
                <a16:creationId xmlns="" xmlns:a16="http://schemas.microsoft.com/office/drawing/2014/main" id="{5D2D3735-006E-4BB3-A4BF-BF3512EE0E0A}"/>
              </a:ext>
            </a:extLst>
          </p:cNvPr>
          <p:cNvSpPr/>
          <p:nvPr/>
        </p:nvSpPr>
        <p:spPr bwMode="gray">
          <a:xfrm>
            <a:off x="9319110" y="4952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3" name="图片 48">
            <a:extLst>
              <a:ext uri="{FF2B5EF4-FFF2-40B4-BE49-F238E27FC236}">
                <a16:creationId xmlns="" xmlns:a16="http://schemas.microsoft.com/office/drawing/2014/main" id="{79E991FE-4103-4DAA-91E4-92BF91FF2C0D}"/>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9473905" y="2713151"/>
            <a:ext cx="378863" cy="310667"/>
          </a:xfrm>
          <a:prstGeom prst="rect">
            <a:avLst/>
          </a:prstGeom>
        </p:spPr>
      </p:pic>
      <p:pic>
        <p:nvPicPr>
          <p:cNvPr id="116" name="图片 48">
            <a:extLst>
              <a:ext uri="{FF2B5EF4-FFF2-40B4-BE49-F238E27FC236}">
                <a16:creationId xmlns="" xmlns:a16="http://schemas.microsoft.com/office/drawing/2014/main" id="{68B26277-89D9-4FFE-AC72-AC6C92119D2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8324328" y="3036466"/>
            <a:ext cx="378863" cy="310667"/>
          </a:xfrm>
          <a:prstGeom prst="rect">
            <a:avLst/>
          </a:prstGeom>
        </p:spPr>
      </p:pic>
      <p:pic>
        <p:nvPicPr>
          <p:cNvPr id="118" name="图片 48">
            <a:extLst>
              <a:ext uri="{FF2B5EF4-FFF2-40B4-BE49-F238E27FC236}">
                <a16:creationId xmlns="" xmlns:a16="http://schemas.microsoft.com/office/drawing/2014/main" id="{351F1215-031C-43B1-BB06-000141B9946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2118743" y="2313602"/>
            <a:ext cx="378863" cy="310667"/>
          </a:xfrm>
          <a:prstGeom prst="rect">
            <a:avLst/>
          </a:prstGeom>
        </p:spPr>
      </p:pic>
      <p:pic>
        <p:nvPicPr>
          <p:cNvPr id="129" name="图片 48">
            <a:extLst>
              <a:ext uri="{FF2B5EF4-FFF2-40B4-BE49-F238E27FC236}">
                <a16:creationId xmlns="" xmlns:a16="http://schemas.microsoft.com/office/drawing/2014/main" id="{39360324-7484-4C3E-B063-710BF09F1DA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1508681" y="2713323"/>
            <a:ext cx="378863" cy="310667"/>
          </a:xfrm>
          <a:prstGeom prst="rect">
            <a:avLst/>
          </a:prstGeom>
        </p:spPr>
      </p:pic>
      <p:pic>
        <p:nvPicPr>
          <p:cNvPr id="130" name="图片 48">
            <a:extLst>
              <a:ext uri="{FF2B5EF4-FFF2-40B4-BE49-F238E27FC236}">
                <a16:creationId xmlns="" xmlns:a16="http://schemas.microsoft.com/office/drawing/2014/main" id="{32B41445-0905-4A62-B4F8-476D22C4201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2118743" y="3189132"/>
            <a:ext cx="378863" cy="310667"/>
          </a:xfrm>
          <a:prstGeom prst="rect">
            <a:avLst/>
          </a:prstGeom>
        </p:spPr>
      </p:pic>
      <p:pic>
        <p:nvPicPr>
          <p:cNvPr id="131" name="图片 48">
            <a:extLst>
              <a:ext uri="{FF2B5EF4-FFF2-40B4-BE49-F238E27FC236}">
                <a16:creationId xmlns="" xmlns:a16="http://schemas.microsoft.com/office/drawing/2014/main" id="{99E7454F-F6BA-4324-BFBF-D1E01D7C24F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4434187" y="2313601"/>
            <a:ext cx="378863" cy="310667"/>
          </a:xfrm>
          <a:prstGeom prst="rect">
            <a:avLst/>
          </a:prstGeom>
        </p:spPr>
      </p:pic>
      <p:pic>
        <p:nvPicPr>
          <p:cNvPr id="132" name="图片 48">
            <a:extLst>
              <a:ext uri="{FF2B5EF4-FFF2-40B4-BE49-F238E27FC236}">
                <a16:creationId xmlns="" xmlns:a16="http://schemas.microsoft.com/office/drawing/2014/main" id="{3D0EEC30-F8A2-4486-969F-BFDD8C745C3B}"/>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5992606" y="2313601"/>
            <a:ext cx="378863" cy="310667"/>
          </a:xfrm>
          <a:prstGeom prst="rect">
            <a:avLst/>
          </a:prstGeom>
        </p:spPr>
      </p:pic>
      <p:pic>
        <p:nvPicPr>
          <p:cNvPr id="133" name="图片 48">
            <a:extLst>
              <a:ext uri="{FF2B5EF4-FFF2-40B4-BE49-F238E27FC236}">
                <a16:creationId xmlns="" xmlns:a16="http://schemas.microsoft.com/office/drawing/2014/main" id="{FC43F87B-4E38-477C-9487-7E99807EA65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4421402" y="3153370"/>
            <a:ext cx="378863" cy="310667"/>
          </a:xfrm>
          <a:prstGeom prst="rect">
            <a:avLst/>
          </a:prstGeom>
        </p:spPr>
      </p:pic>
      <p:pic>
        <p:nvPicPr>
          <p:cNvPr id="134" name="图片 48">
            <a:extLst>
              <a:ext uri="{FF2B5EF4-FFF2-40B4-BE49-F238E27FC236}">
                <a16:creationId xmlns="" xmlns:a16="http://schemas.microsoft.com/office/drawing/2014/main" id="{987E9FF0-6508-4CC5-AD2B-443E8C139D14}"/>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5979821" y="3153370"/>
            <a:ext cx="378863" cy="310667"/>
          </a:xfrm>
          <a:prstGeom prst="rect">
            <a:avLst/>
          </a:prstGeom>
        </p:spPr>
      </p:pic>
      <p:pic>
        <p:nvPicPr>
          <p:cNvPr id="135" name="图片 48">
            <a:extLst>
              <a:ext uri="{FF2B5EF4-FFF2-40B4-BE49-F238E27FC236}">
                <a16:creationId xmlns="" xmlns:a16="http://schemas.microsoft.com/office/drawing/2014/main" id="{05197DAB-D1B6-4284-B145-E719D8ED20CE}"/>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8323955" y="2438824"/>
            <a:ext cx="378863" cy="310667"/>
          </a:xfrm>
          <a:prstGeom prst="rect">
            <a:avLst/>
          </a:prstGeom>
        </p:spPr>
      </p:pic>
      <p:pic>
        <p:nvPicPr>
          <p:cNvPr id="136" name="图片 48">
            <a:extLst>
              <a:ext uri="{FF2B5EF4-FFF2-40B4-BE49-F238E27FC236}">
                <a16:creationId xmlns="" xmlns:a16="http://schemas.microsoft.com/office/drawing/2014/main" id="{320585F2-46D8-49F1-ACC0-AD758446D44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bwMode="gray">
          <a:xfrm>
            <a:off x="7315407" y="2713323"/>
            <a:ext cx="378863" cy="310667"/>
          </a:xfrm>
          <a:prstGeom prst="rect">
            <a:avLst/>
          </a:prstGeom>
        </p:spPr>
      </p:pic>
    </p:spTree>
    <p:extLst>
      <p:ext uri="{BB962C8B-B14F-4D97-AF65-F5344CB8AC3E}">
        <p14:creationId xmlns:p14="http://schemas.microsoft.com/office/powerpoint/2010/main" val="836835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91C6AA-A994-492A-8300-17663794288B}"/>
              </a:ext>
            </a:extLst>
          </p:cNvPr>
          <p:cNvSpPr>
            <a:spLocks noGrp="1"/>
          </p:cNvSpPr>
          <p:nvPr>
            <p:ph type="title"/>
          </p:nvPr>
        </p:nvSpPr>
        <p:spPr bwMode="gray"/>
        <p:txBody>
          <a:bodyPr/>
          <a:lstStyle/>
          <a:p>
            <a:r>
              <a:rPr lang="zh-CN" altLang="en-US" dirty="0"/>
              <a:t>华为云广域网络解决方案主要功能</a:t>
            </a:r>
            <a:endParaRPr lang="en-US" dirty="0"/>
          </a:p>
        </p:txBody>
      </p:sp>
      <p:sp>
        <p:nvSpPr>
          <p:cNvPr id="6" name="Text Placeholder 5">
            <a:extLst>
              <a:ext uri="{FF2B5EF4-FFF2-40B4-BE49-F238E27FC236}">
                <a16:creationId xmlns="" xmlns:a16="http://schemas.microsoft.com/office/drawing/2014/main" id="{2EC13EB0-AA78-400F-8CB9-6B3AB6465FDA}"/>
              </a:ext>
            </a:extLst>
          </p:cNvPr>
          <p:cNvSpPr>
            <a:spLocks noGrp="1"/>
          </p:cNvSpPr>
          <p:nvPr>
            <p:ph type="body" sz="quarter" idx="10"/>
          </p:nvPr>
        </p:nvSpPr>
        <p:spPr bwMode="gray">
          <a:xfrm>
            <a:off x="455612" y="1047751"/>
            <a:ext cx="11293475" cy="2241546"/>
          </a:xfrm>
        </p:spPr>
        <p:txBody>
          <a:bodyPr/>
          <a:lstStyle/>
          <a:p>
            <a:r>
              <a:rPr lang="zh-CN" altLang="en-US" sz="1800" dirty="0"/>
              <a:t>华为云广域网络解决方案主要提供如下功能：</a:t>
            </a:r>
            <a:endParaRPr lang="en-US" altLang="zh-CN" sz="1800" dirty="0"/>
          </a:p>
          <a:p>
            <a:pPr lvl="1"/>
            <a:r>
              <a:rPr lang="zh-CN" altLang="en-US" sz="1600" dirty="0"/>
              <a:t>转发路径自动规划，自动部署。</a:t>
            </a:r>
            <a:endParaRPr lang="en-US" altLang="zh-CN" sz="1600" dirty="0"/>
          </a:p>
          <a:p>
            <a:pPr lvl="1"/>
            <a:r>
              <a:rPr lang="zh-CN" altLang="en-US" sz="1600" dirty="0"/>
              <a:t>网络性能实时监控，流量智能调优。</a:t>
            </a:r>
            <a:endParaRPr lang="en-US" altLang="zh-CN" sz="1600" dirty="0"/>
          </a:p>
          <a:p>
            <a:pPr lvl="1"/>
            <a:r>
              <a:rPr lang="zh-CN" altLang="en-US" sz="1600" dirty="0"/>
              <a:t>网络切片，流量隔离转发。</a:t>
            </a:r>
            <a:endParaRPr lang="en-US" altLang="zh-CN" sz="1600" dirty="0"/>
          </a:p>
          <a:p>
            <a:pPr lvl="1"/>
            <a:r>
              <a:rPr lang="zh-CN" altLang="en-US" sz="1600" dirty="0"/>
              <a:t>可视化运维，快速定位故障。</a:t>
            </a:r>
            <a:endParaRPr lang="en-US" altLang="zh-CN" sz="1600" dirty="0"/>
          </a:p>
        </p:txBody>
      </p:sp>
      <p:sp>
        <p:nvSpPr>
          <p:cNvPr id="3" name="五边形 2">
            <a:extLst>
              <a:ext uri="{FF2B5EF4-FFF2-40B4-BE49-F238E27FC236}">
                <a16:creationId xmlns="" xmlns:a16="http://schemas.microsoft.com/office/drawing/2014/main" id="{30098A2D-4F7A-45B5-980E-425FB6EE7901}"/>
              </a:ext>
            </a:extLst>
          </p:cNvPr>
          <p:cNvSpPr/>
          <p:nvPr/>
        </p:nvSpPr>
        <p:spPr bwMode="gray">
          <a:xfrm>
            <a:off x="8199710" y="49524"/>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4" name="燕尾形 3">
            <a:extLst>
              <a:ext uri="{FF2B5EF4-FFF2-40B4-BE49-F238E27FC236}">
                <a16:creationId xmlns="" xmlns:a16="http://schemas.microsoft.com/office/drawing/2014/main" id="{EA631AC1-2EC3-4964-B7A3-C8D693B7E508}"/>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E0318515-502A-457A-923E-197C0425225D}"/>
              </a:ext>
            </a:extLst>
          </p:cNvPr>
          <p:cNvSpPr/>
          <p:nvPr/>
        </p:nvSpPr>
        <p:spPr bwMode="gray">
          <a:xfrm>
            <a:off x="9319110" y="4952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Group 6">
            <a:extLst>
              <a:ext uri="{FF2B5EF4-FFF2-40B4-BE49-F238E27FC236}">
                <a16:creationId xmlns="" xmlns:a16="http://schemas.microsoft.com/office/drawing/2014/main" id="{B241BC91-B699-4E22-AF3B-1C80858C5B6B}"/>
              </a:ext>
            </a:extLst>
          </p:cNvPr>
          <p:cNvGrpSpPr/>
          <p:nvPr/>
        </p:nvGrpSpPr>
        <p:grpSpPr>
          <a:xfrm>
            <a:off x="3092658" y="1135940"/>
            <a:ext cx="8593145" cy="5064168"/>
            <a:chOff x="3092658" y="1135940"/>
            <a:chExt cx="8593145" cy="5064168"/>
          </a:xfrm>
        </p:grpSpPr>
        <p:sp>
          <p:nvSpPr>
            <p:cNvPr id="116" name="梯形 41">
              <a:extLst>
                <a:ext uri="{FF2B5EF4-FFF2-40B4-BE49-F238E27FC236}">
                  <a16:creationId xmlns="" xmlns:a16="http://schemas.microsoft.com/office/drawing/2014/main" id="{D74CDACD-01B2-4166-96A9-B4ED3D46AD9A}"/>
                </a:ext>
              </a:extLst>
            </p:cNvPr>
            <p:cNvSpPr/>
            <p:nvPr/>
          </p:nvSpPr>
          <p:spPr bwMode="gray">
            <a:xfrm>
              <a:off x="4551538" y="3028945"/>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0" name="图片 24">
              <a:extLst>
                <a:ext uri="{FF2B5EF4-FFF2-40B4-BE49-F238E27FC236}">
                  <a16:creationId xmlns="" xmlns:a16="http://schemas.microsoft.com/office/drawing/2014/main" id="{443BC2A9-0099-4CC2-A2E1-2CB5A72FDE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663221" y="2085870"/>
              <a:ext cx="1977229" cy="364654"/>
            </a:xfrm>
            <a:prstGeom prst="rect">
              <a:avLst/>
            </a:prstGeom>
          </p:spPr>
        </p:pic>
        <p:sp>
          <p:nvSpPr>
            <p:cNvPr id="52" name="圆角矩形 75">
              <a:extLst>
                <a:ext uri="{FF2B5EF4-FFF2-40B4-BE49-F238E27FC236}">
                  <a16:creationId xmlns="" xmlns:a16="http://schemas.microsoft.com/office/drawing/2014/main" id="{637990FF-62EF-490B-883F-12609B3628B5}"/>
                </a:ext>
              </a:extLst>
            </p:cNvPr>
            <p:cNvSpPr/>
            <p:nvPr/>
          </p:nvSpPr>
          <p:spPr bwMode="gray">
            <a:xfrm>
              <a:off x="7581231" y="2059524"/>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69" name="直接箭头连接符 84">
              <a:extLst>
                <a:ext uri="{FF2B5EF4-FFF2-40B4-BE49-F238E27FC236}">
                  <a16:creationId xmlns="" xmlns:a16="http://schemas.microsoft.com/office/drawing/2014/main" id="{9D0AC996-27CB-4D78-B87C-E9611E52651E}"/>
                </a:ext>
              </a:extLst>
            </p:cNvPr>
            <p:cNvCxnSpPr>
              <a:cxnSpLocks/>
              <a:stCxn id="52" idx="2"/>
              <a:endCxn id="101" idx="0"/>
            </p:cNvCxnSpPr>
            <p:nvPr/>
          </p:nvCxnSpPr>
          <p:spPr bwMode="gray">
            <a:xfrm flipH="1">
              <a:off x="6383577" y="2462804"/>
              <a:ext cx="2255613" cy="847553"/>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80" name="Parallelogram 79">
              <a:extLst>
                <a:ext uri="{FF2B5EF4-FFF2-40B4-BE49-F238E27FC236}">
                  <a16:creationId xmlns="" xmlns:a16="http://schemas.microsoft.com/office/drawing/2014/main" id="{31231352-2015-428F-AD0C-992A5B722C81}"/>
                </a:ext>
              </a:extLst>
            </p:cNvPr>
            <p:cNvSpPr/>
            <p:nvPr/>
          </p:nvSpPr>
          <p:spPr bwMode="gray">
            <a:xfrm>
              <a:off x="3092658" y="4189237"/>
              <a:ext cx="2125960"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Freeform 159">
              <a:extLst>
                <a:ext uri="{FF2B5EF4-FFF2-40B4-BE49-F238E27FC236}">
                  <a16:creationId xmlns="" xmlns:a16="http://schemas.microsoft.com/office/drawing/2014/main" id="{E5FBF851-1F0C-44CF-A12C-B7BD6209B45A}"/>
                </a:ext>
              </a:extLst>
            </p:cNvPr>
            <p:cNvSpPr/>
            <p:nvPr/>
          </p:nvSpPr>
          <p:spPr bwMode="gray">
            <a:xfrm flipH="1">
              <a:off x="3343108" y="4367679"/>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82" name="图片 51" descr="交换机.png">
              <a:extLst>
                <a:ext uri="{FF2B5EF4-FFF2-40B4-BE49-F238E27FC236}">
                  <a16:creationId xmlns="" xmlns:a16="http://schemas.microsoft.com/office/drawing/2014/main" id="{0AACA7D6-6CC0-484A-80B7-DA0F1652C7D5}"/>
                </a:ext>
              </a:extLst>
            </p:cNvPr>
            <p:cNvPicPr>
              <a:picLocks noChangeAspect="1"/>
            </p:cNvPicPr>
            <p:nvPr/>
          </p:nvPicPr>
          <p:blipFill>
            <a:blip r:embed="rId4" cstate="print"/>
            <a:stretch>
              <a:fillRect/>
            </a:stretch>
          </p:blipFill>
          <p:spPr bwMode="gray">
            <a:xfrm>
              <a:off x="3587995" y="4149609"/>
              <a:ext cx="417163" cy="341314"/>
            </a:xfrm>
            <a:prstGeom prst="rect">
              <a:avLst/>
            </a:prstGeom>
          </p:spPr>
        </p:pic>
        <p:pic>
          <p:nvPicPr>
            <p:cNvPr id="83" name="图片 31">
              <a:extLst>
                <a:ext uri="{FF2B5EF4-FFF2-40B4-BE49-F238E27FC236}">
                  <a16:creationId xmlns="" xmlns:a16="http://schemas.microsoft.com/office/drawing/2014/main" id="{2A859A73-1516-4401-8E9E-74A80E7A784C}"/>
                </a:ext>
              </a:extLst>
            </p:cNvPr>
            <p:cNvPicPr>
              <a:picLocks noChangeAspect="1"/>
            </p:cNvPicPr>
            <p:nvPr/>
          </p:nvPicPr>
          <p:blipFill>
            <a:blip r:embed="rId5"/>
            <a:stretch>
              <a:fillRect/>
            </a:stretch>
          </p:blipFill>
          <p:spPr bwMode="gray">
            <a:xfrm>
              <a:off x="4162125" y="4438920"/>
              <a:ext cx="466668" cy="389308"/>
            </a:xfrm>
            <a:prstGeom prst="rect">
              <a:avLst/>
            </a:prstGeom>
          </p:spPr>
        </p:pic>
        <p:sp>
          <p:nvSpPr>
            <p:cNvPr id="91" name="Parallelogram 90">
              <a:extLst>
                <a:ext uri="{FF2B5EF4-FFF2-40B4-BE49-F238E27FC236}">
                  <a16:creationId xmlns="" xmlns:a16="http://schemas.microsoft.com/office/drawing/2014/main" id="{AE3C183B-D62B-4A92-BE80-C3454BB1BF49}"/>
                </a:ext>
              </a:extLst>
            </p:cNvPr>
            <p:cNvSpPr/>
            <p:nvPr/>
          </p:nvSpPr>
          <p:spPr bwMode="gray">
            <a:xfrm flipH="1">
              <a:off x="9559843" y="3071472"/>
              <a:ext cx="2125960"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159">
              <a:extLst>
                <a:ext uri="{FF2B5EF4-FFF2-40B4-BE49-F238E27FC236}">
                  <a16:creationId xmlns="" xmlns:a16="http://schemas.microsoft.com/office/drawing/2014/main" id="{33F2AAE8-0890-40DB-BEAF-AC2E856C6AA3}"/>
                </a:ext>
              </a:extLst>
            </p:cNvPr>
            <p:cNvSpPr/>
            <p:nvPr/>
          </p:nvSpPr>
          <p:spPr bwMode="gray">
            <a:xfrm flipH="1">
              <a:off x="10478388" y="3234106"/>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pic>
          <p:nvPicPr>
            <p:cNvPr id="93" name="图片 31">
              <a:extLst>
                <a:ext uri="{FF2B5EF4-FFF2-40B4-BE49-F238E27FC236}">
                  <a16:creationId xmlns="" xmlns:a16="http://schemas.microsoft.com/office/drawing/2014/main" id="{4F03B00E-A6CA-48B0-84D0-BC5FD1103727}"/>
                </a:ext>
              </a:extLst>
            </p:cNvPr>
            <p:cNvPicPr>
              <a:picLocks noChangeAspect="1"/>
            </p:cNvPicPr>
            <p:nvPr/>
          </p:nvPicPr>
          <p:blipFill>
            <a:blip r:embed="rId5"/>
            <a:stretch>
              <a:fillRect/>
            </a:stretch>
          </p:blipFill>
          <p:spPr bwMode="gray">
            <a:xfrm>
              <a:off x="10146208" y="3321155"/>
              <a:ext cx="466668" cy="389308"/>
            </a:xfrm>
            <a:prstGeom prst="rect">
              <a:avLst/>
            </a:prstGeom>
          </p:spPr>
        </p:pic>
        <p:pic>
          <p:nvPicPr>
            <p:cNvPr id="94" name="图片 67">
              <a:extLst>
                <a:ext uri="{FF2B5EF4-FFF2-40B4-BE49-F238E27FC236}">
                  <a16:creationId xmlns="" xmlns:a16="http://schemas.microsoft.com/office/drawing/2014/main" id="{F1CB21C9-7A3E-4BDB-AAC5-A820C5E4E7B4}"/>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0722403" y="3031751"/>
              <a:ext cx="417163" cy="342074"/>
            </a:xfrm>
            <a:prstGeom prst="rect">
              <a:avLst/>
            </a:prstGeom>
          </p:spPr>
        </p:pic>
        <p:pic>
          <p:nvPicPr>
            <p:cNvPr id="101" name="图片 31">
              <a:extLst>
                <a:ext uri="{FF2B5EF4-FFF2-40B4-BE49-F238E27FC236}">
                  <a16:creationId xmlns="" xmlns:a16="http://schemas.microsoft.com/office/drawing/2014/main" id="{4B548D72-D541-427F-95ED-3339BEBCDD40}"/>
                </a:ext>
              </a:extLst>
            </p:cNvPr>
            <p:cNvPicPr>
              <a:picLocks noChangeAspect="1"/>
            </p:cNvPicPr>
            <p:nvPr/>
          </p:nvPicPr>
          <p:blipFill>
            <a:blip r:embed="rId5"/>
            <a:stretch>
              <a:fillRect/>
            </a:stretch>
          </p:blipFill>
          <p:spPr bwMode="gray">
            <a:xfrm>
              <a:off x="6150243" y="3310357"/>
              <a:ext cx="466668" cy="389308"/>
            </a:xfrm>
            <a:prstGeom prst="rect">
              <a:avLst/>
            </a:prstGeom>
          </p:spPr>
        </p:pic>
        <p:pic>
          <p:nvPicPr>
            <p:cNvPr id="102" name="图片 31">
              <a:extLst>
                <a:ext uri="{FF2B5EF4-FFF2-40B4-BE49-F238E27FC236}">
                  <a16:creationId xmlns="" xmlns:a16="http://schemas.microsoft.com/office/drawing/2014/main" id="{19E4E3B0-34E4-4728-B38F-82E498E9792E}"/>
                </a:ext>
              </a:extLst>
            </p:cNvPr>
            <p:cNvPicPr>
              <a:picLocks noChangeAspect="1"/>
            </p:cNvPicPr>
            <p:nvPr/>
          </p:nvPicPr>
          <p:blipFill>
            <a:blip r:embed="rId5"/>
            <a:stretch>
              <a:fillRect/>
            </a:stretch>
          </p:blipFill>
          <p:spPr bwMode="gray">
            <a:xfrm>
              <a:off x="5478560" y="4436646"/>
              <a:ext cx="466668" cy="389308"/>
            </a:xfrm>
            <a:prstGeom prst="rect">
              <a:avLst/>
            </a:prstGeom>
          </p:spPr>
        </p:pic>
        <p:pic>
          <p:nvPicPr>
            <p:cNvPr id="103" name="图片 25">
              <a:extLst>
                <a:ext uri="{FF2B5EF4-FFF2-40B4-BE49-F238E27FC236}">
                  <a16:creationId xmlns="" xmlns:a16="http://schemas.microsoft.com/office/drawing/2014/main" id="{4B118CD5-1ECC-4370-A146-7FD32708DDC1}"/>
                </a:ext>
              </a:extLst>
            </p:cNvPr>
            <p:cNvPicPr>
              <a:picLocks noChangeAspect="1"/>
            </p:cNvPicPr>
            <p:nvPr/>
          </p:nvPicPr>
          <p:blipFill>
            <a:blip r:embed="rId5"/>
            <a:stretch>
              <a:fillRect/>
            </a:stretch>
          </p:blipFill>
          <p:spPr bwMode="gray">
            <a:xfrm>
              <a:off x="9724910" y="4438920"/>
              <a:ext cx="466668" cy="389308"/>
            </a:xfrm>
            <a:prstGeom prst="rect">
              <a:avLst/>
            </a:prstGeom>
          </p:spPr>
        </p:pic>
        <p:pic>
          <p:nvPicPr>
            <p:cNvPr id="104" name="图片 31">
              <a:extLst>
                <a:ext uri="{FF2B5EF4-FFF2-40B4-BE49-F238E27FC236}">
                  <a16:creationId xmlns="" xmlns:a16="http://schemas.microsoft.com/office/drawing/2014/main" id="{75CA9EE4-A0A9-4928-A903-A76DDD67FCEC}"/>
                </a:ext>
              </a:extLst>
            </p:cNvPr>
            <p:cNvPicPr>
              <a:picLocks noChangeAspect="1"/>
            </p:cNvPicPr>
            <p:nvPr/>
          </p:nvPicPr>
          <p:blipFill>
            <a:blip r:embed="rId5"/>
            <a:stretch>
              <a:fillRect/>
            </a:stretch>
          </p:blipFill>
          <p:spPr bwMode="gray">
            <a:xfrm>
              <a:off x="8932921" y="3310357"/>
              <a:ext cx="466668" cy="389308"/>
            </a:xfrm>
            <a:prstGeom prst="rect">
              <a:avLst/>
            </a:prstGeom>
          </p:spPr>
        </p:pic>
        <p:sp>
          <p:nvSpPr>
            <p:cNvPr id="105" name="TextBox 104">
              <a:extLst>
                <a:ext uri="{FF2B5EF4-FFF2-40B4-BE49-F238E27FC236}">
                  <a16:creationId xmlns="" xmlns:a16="http://schemas.microsoft.com/office/drawing/2014/main" id="{06E118B3-89F1-4429-919D-E0068F5A6A6D}"/>
                </a:ext>
              </a:extLst>
            </p:cNvPr>
            <p:cNvSpPr txBox="1"/>
            <p:nvPr/>
          </p:nvSpPr>
          <p:spPr bwMode="gray">
            <a:xfrm>
              <a:off x="9989191" y="4930973"/>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cxnSp>
          <p:nvCxnSpPr>
            <p:cNvPr id="106" name="Straight Connector 105">
              <a:extLst>
                <a:ext uri="{FF2B5EF4-FFF2-40B4-BE49-F238E27FC236}">
                  <a16:creationId xmlns="" xmlns:a16="http://schemas.microsoft.com/office/drawing/2014/main" id="{B3204DF0-6D8E-44D1-97F6-61F827855EA4}"/>
                </a:ext>
              </a:extLst>
            </p:cNvPr>
            <p:cNvCxnSpPr>
              <a:cxnSpLocks/>
              <a:stCxn id="83" idx="3"/>
              <a:endCxn id="102" idx="1"/>
            </p:cNvCxnSpPr>
            <p:nvPr/>
          </p:nvCxnSpPr>
          <p:spPr bwMode="gray">
            <a:xfrm flipV="1">
              <a:off x="4628793" y="4631300"/>
              <a:ext cx="849767"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 xmlns:a16="http://schemas.microsoft.com/office/drawing/2014/main" id="{FFE3F39E-75C4-49D3-911E-03ABFF12BBA5}"/>
                </a:ext>
              </a:extLst>
            </p:cNvPr>
            <p:cNvCxnSpPr>
              <a:cxnSpLocks/>
              <a:stCxn id="104" idx="3"/>
              <a:endCxn id="93" idx="1"/>
            </p:cNvCxnSpPr>
            <p:nvPr/>
          </p:nvCxnSpPr>
          <p:spPr bwMode="gray">
            <a:xfrm>
              <a:off x="9399589" y="3505011"/>
              <a:ext cx="746619" cy="10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 xmlns:a16="http://schemas.microsoft.com/office/drawing/2014/main" id="{6647E003-E50E-4719-B035-7296CD7A255F}"/>
                </a:ext>
              </a:extLst>
            </p:cNvPr>
            <p:cNvCxnSpPr>
              <a:cxnSpLocks/>
              <a:stCxn id="101" idx="3"/>
              <a:endCxn id="119" idx="1"/>
            </p:cNvCxnSpPr>
            <p:nvPr/>
          </p:nvCxnSpPr>
          <p:spPr bwMode="gray">
            <a:xfrm flipV="1">
              <a:off x="6616911" y="3502737"/>
              <a:ext cx="1014459"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 xmlns:a16="http://schemas.microsoft.com/office/drawing/2014/main" id="{66D79F47-DD1E-499E-BA8A-F33D4ED96F54}"/>
                </a:ext>
              </a:extLst>
            </p:cNvPr>
            <p:cNvCxnSpPr>
              <a:cxnSpLocks/>
              <a:stCxn id="102" idx="3"/>
              <a:endCxn id="119" idx="1"/>
            </p:cNvCxnSpPr>
            <p:nvPr/>
          </p:nvCxnSpPr>
          <p:spPr bwMode="gray">
            <a:xfrm flipV="1">
              <a:off x="5945228" y="3502737"/>
              <a:ext cx="1686142" cy="11285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 xmlns:a16="http://schemas.microsoft.com/office/drawing/2014/main" id="{0C4FEE06-44DD-4268-9D47-D5275D7459EB}"/>
                </a:ext>
              </a:extLst>
            </p:cNvPr>
            <p:cNvCxnSpPr>
              <a:cxnSpLocks/>
              <a:stCxn id="102" idx="0"/>
              <a:endCxn id="101" idx="2"/>
            </p:cNvCxnSpPr>
            <p:nvPr/>
          </p:nvCxnSpPr>
          <p:spPr bwMode="gray">
            <a:xfrm flipV="1">
              <a:off x="5711894" y="3699665"/>
              <a:ext cx="671683" cy="7369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 xmlns:a16="http://schemas.microsoft.com/office/drawing/2014/main" id="{5996BF1A-3D21-402F-94CD-4F08AD3FBB41}"/>
                </a:ext>
              </a:extLst>
            </p:cNvPr>
            <p:cNvCxnSpPr>
              <a:cxnSpLocks/>
              <a:stCxn id="102" idx="3"/>
              <a:endCxn id="120" idx="1"/>
            </p:cNvCxnSpPr>
            <p:nvPr/>
          </p:nvCxnSpPr>
          <p:spPr bwMode="gray">
            <a:xfrm>
              <a:off x="5945228" y="4631300"/>
              <a:ext cx="1681432" cy="86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 xmlns:a16="http://schemas.microsoft.com/office/drawing/2014/main" id="{FE0EA9A6-95B9-4151-81A4-76343521C116}"/>
                </a:ext>
              </a:extLst>
            </p:cNvPr>
            <p:cNvCxnSpPr>
              <a:cxnSpLocks/>
              <a:stCxn id="103" idx="0"/>
              <a:endCxn id="104" idx="2"/>
            </p:cNvCxnSpPr>
            <p:nvPr/>
          </p:nvCxnSpPr>
          <p:spPr bwMode="gray">
            <a:xfrm flipH="1" flipV="1">
              <a:off x="9166255" y="3699665"/>
              <a:ext cx="791989" cy="7392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 xmlns:a16="http://schemas.microsoft.com/office/drawing/2014/main" id="{437F2954-F101-4228-8539-FD4F8107F2BE}"/>
                </a:ext>
              </a:extLst>
            </p:cNvPr>
            <p:cNvCxnSpPr>
              <a:cxnSpLocks/>
              <a:stCxn id="120" idx="1"/>
              <a:endCxn id="101" idx="3"/>
            </p:cNvCxnSpPr>
            <p:nvPr/>
          </p:nvCxnSpPr>
          <p:spPr bwMode="gray">
            <a:xfrm flipH="1" flipV="1">
              <a:off x="6616911" y="3505011"/>
              <a:ext cx="1009749"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19" name="图片 31">
              <a:extLst>
                <a:ext uri="{FF2B5EF4-FFF2-40B4-BE49-F238E27FC236}">
                  <a16:creationId xmlns="" xmlns:a16="http://schemas.microsoft.com/office/drawing/2014/main" id="{708B7CFB-37A4-43FC-A63F-0071CB4D317B}"/>
                </a:ext>
              </a:extLst>
            </p:cNvPr>
            <p:cNvPicPr>
              <a:picLocks noChangeAspect="1"/>
            </p:cNvPicPr>
            <p:nvPr/>
          </p:nvPicPr>
          <p:blipFill>
            <a:blip r:embed="rId5"/>
            <a:stretch>
              <a:fillRect/>
            </a:stretch>
          </p:blipFill>
          <p:spPr bwMode="gray">
            <a:xfrm>
              <a:off x="7631370" y="3308083"/>
              <a:ext cx="466668" cy="389308"/>
            </a:xfrm>
            <a:prstGeom prst="rect">
              <a:avLst/>
            </a:prstGeom>
          </p:spPr>
        </p:pic>
        <p:pic>
          <p:nvPicPr>
            <p:cNvPr id="120" name="图片 31">
              <a:extLst>
                <a:ext uri="{FF2B5EF4-FFF2-40B4-BE49-F238E27FC236}">
                  <a16:creationId xmlns="" xmlns:a16="http://schemas.microsoft.com/office/drawing/2014/main" id="{7850B152-53F7-486A-A58B-F598AD956D0E}"/>
                </a:ext>
              </a:extLst>
            </p:cNvPr>
            <p:cNvPicPr>
              <a:picLocks noChangeAspect="1"/>
            </p:cNvPicPr>
            <p:nvPr/>
          </p:nvPicPr>
          <p:blipFill>
            <a:blip r:embed="rId5"/>
            <a:stretch>
              <a:fillRect/>
            </a:stretch>
          </p:blipFill>
          <p:spPr bwMode="gray">
            <a:xfrm>
              <a:off x="7626660" y="4445248"/>
              <a:ext cx="466668" cy="389308"/>
            </a:xfrm>
            <a:prstGeom prst="rect">
              <a:avLst/>
            </a:prstGeom>
          </p:spPr>
        </p:pic>
        <p:cxnSp>
          <p:nvCxnSpPr>
            <p:cNvPr id="122" name="Straight Connector 121">
              <a:extLst>
                <a:ext uri="{FF2B5EF4-FFF2-40B4-BE49-F238E27FC236}">
                  <a16:creationId xmlns="" xmlns:a16="http://schemas.microsoft.com/office/drawing/2014/main" id="{FC93135C-9418-4FD2-82DD-4501CDD8A1FB}"/>
                </a:ext>
              </a:extLst>
            </p:cNvPr>
            <p:cNvCxnSpPr>
              <a:cxnSpLocks/>
              <a:stCxn id="120" idx="3"/>
              <a:endCxn id="103" idx="1"/>
            </p:cNvCxnSpPr>
            <p:nvPr/>
          </p:nvCxnSpPr>
          <p:spPr bwMode="gray">
            <a:xfrm flipV="1">
              <a:off x="8093328" y="4633574"/>
              <a:ext cx="1631582" cy="63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 xmlns:a16="http://schemas.microsoft.com/office/drawing/2014/main" id="{DA70D9D3-8973-4911-8B65-503EA045A375}"/>
                </a:ext>
              </a:extLst>
            </p:cNvPr>
            <p:cNvCxnSpPr>
              <a:cxnSpLocks/>
              <a:stCxn id="104" idx="1"/>
              <a:endCxn id="119" idx="3"/>
            </p:cNvCxnSpPr>
            <p:nvPr/>
          </p:nvCxnSpPr>
          <p:spPr bwMode="gray">
            <a:xfrm flipH="1" flipV="1">
              <a:off x="8098038" y="3502737"/>
              <a:ext cx="834883"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 xmlns:a16="http://schemas.microsoft.com/office/drawing/2014/main" id="{49938FE6-9774-4B8C-A376-891B72082C48}"/>
                </a:ext>
              </a:extLst>
            </p:cNvPr>
            <p:cNvCxnSpPr>
              <a:cxnSpLocks/>
              <a:stCxn id="120" idx="0"/>
              <a:endCxn id="119" idx="2"/>
            </p:cNvCxnSpPr>
            <p:nvPr/>
          </p:nvCxnSpPr>
          <p:spPr bwMode="gray">
            <a:xfrm flipV="1">
              <a:off x="7859994" y="3697391"/>
              <a:ext cx="4710" cy="7478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 xmlns:a16="http://schemas.microsoft.com/office/drawing/2014/main" id="{7EE05931-5FA7-46C2-BF1A-2596C73DE97E}"/>
                </a:ext>
              </a:extLst>
            </p:cNvPr>
            <p:cNvCxnSpPr>
              <a:cxnSpLocks/>
              <a:stCxn id="120" idx="3"/>
              <a:endCxn id="104" idx="1"/>
            </p:cNvCxnSpPr>
            <p:nvPr/>
          </p:nvCxnSpPr>
          <p:spPr bwMode="gray">
            <a:xfrm flipV="1">
              <a:off x="8093328" y="3505011"/>
              <a:ext cx="839593"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 xmlns:a16="http://schemas.microsoft.com/office/drawing/2014/main" id="{8C8AF99E-06A8-4C95-B39B-74739EB5F6BD}"/>
                </a:ext>
              </a:extLst>
            </p:cNvPr>
            <p:cNvCxnSpPr>
              <a:cxnSpLocks/>
              <a:stCxn id="103" idx="1"/>
              <a:endCxn id="119" idx="3"/>
            </p:cNvCxnSpPr>
            <p:nvPr/>
          </p:nvCxnSpPr>
          <p:spPr bwMode="gray">
            <a:xfrm flipH="1" flipV="1">
              <a:off x="8098038" y="3502737"/>
              <a:ext cx="1626872" cy="113083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1" name="直接箭头连接符 84">
              <a:extLst>
                <a:ext uri="{FF2B5EF4-FFF2-40B4-BE49-F238E27FC236}">
                  <a16:creationId xmlns="" xmlns:a16="http://schemas.microsoft.com/office/drawing/2014/main" id="{D566655F-782B-4B97-ABAA-315A879B6E92}"/>
                </a:ext>
              </a:extLst>
            </p:cNvPr>
            <p:cNvCxnSpPr>
              <a:cxnSpLocks/>
              <a:stCxn id="52" idx="2"/>
              <a:endCxn id="102" idx="0"/>
            </p:cNvCxnSpPr>
            <p:nvPr/>
          </p:nvCxnSpPr>
          <p:spPr bwMode="gray">
            <a:xfrm flipH="1">
              <a:off x="5711894" y="2462804"/>
              <a:ext cx="2927296" cy="1973842"/>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54" name="直接箭头连接符 84">
              <a:extLst>
                <a:ext uri="{FF2B5EF4-FFF2-40B4-BE49-F238E27FC236}">
                  <a16:creationId xmlns="" xmlns:a16="http://schemas.microsoft.com/office/drawing/2014/main" id="{FC056BED-1882-4EF4-9B1E-731DF851337E}"/>
                </a:ext>
              </a:extLst>
            </p:cNvPr>
            <p:cNvCxnSpPr>
              <a:cxnSpLocks/>
              <a:stCxn id="52" idx="2"/>
              <a:endCxn id="104" idx="0"/>
            </p:cNvCxnSpPr>
            <p:nvPr/>
          </p:nvCxnSpPr>
          <p:spPr bwMode="gray">
            <a:xfrm>
              <a:off x="8639190" y="2462804"/>
              <a:ext cx="527065" cy="847553"/>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57" name="直接箭头连接符 84">
              <a:extLst>
                <a:ext uri="{FF2B5EF4-FFF2-40B4-BE49-F238E27FC236}">
                  <a16:creationId xmlns="" xmlns:a16="http://schemas.microsoft.com/office/drawing/2014/main" id="{2FD7365D-96EE-4D15-AE2F-2E51E33F314D}"/>
                </a:ext>
              </a:extLst>
            </p:cNvPr>
            <p:cNvCxnSpPr>
              <a:cxnSpLocks/>
              <a:stCxn id="52" idx="2"/>
              <a:endCxn id="103" idx="0"/>
            </p:cNvCxnSpPr>
            <p:nvPr/>
          </p:nvCxnSpPr>
          <p:spPr bwMode="gray">
            <a:xfrm>
              <a:off x="8639190" y="2462804"/>
              <a:ext cx="1319054" cy="1976116"/>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0" name="直接箭头连接符 84">
              <a:extLst>
                <a:ext uri="{FF2B5EF4-FFF2-40B4-BE49-F238E27FC236}">
                  <a16:creationId xmlns="" xmlns:a16="http://schemas.microsoft.com/office/drawing/2014/main" id="{38672B1E-27D1-4CD3-9651-5DBB94CC68C4}"/>
                </a:ext>
              </a:extLst>
            </p:cNvPr>
            <p:cNvCxnSpPr>
              <a:cxnSpLocks/>
              <a:stCxn id="52" idx="2"/>
              <a:endCxn id="119" idx="0"/>
            </p:cNvCxnSpPr>
            <p:nvPr/>
          </p:nvCxnSpPr>
          <p:spPr bwMode="gray">
            <a:xfrm flipH="1">
              <a:off x="7864704" y="2462804"/>
              <a:ext cx="774486" cy="845279"/>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3" name="直接箭头连接符 84">
              <a:extLst>
                <a:ext uri="{FF2B5EF4-FFF2-40B4-BE49-F238E27FC236}">
                  <a16:creationId xmlns="" xmlns:a16="http://schemas.microsoft.com/office/drawing/2014/main" id="{A9E8426B-B381-4377-9586-DC94B41D4159}"/>
                </a:ext>
              </a:extLst>
            </p:cNvPr>
            <p:cNvCxnSpPr>
              <a:cxnSpLocks/>
              <a:stCxn id="52" idx="2"/>
              <a:endCxn id="120" idx="0"/>
            </p:cNvCxnSpPr>
            <p:nvPr/>
          </p:nvCxnSpPr>
          <p:spPr bwMode="gray">
            <a:xfrm flipH="1">
              <a:off x="7859994" y="2462804"/>
              <a:ext cx="779196" cy="1982444"/>
            </a:xfrm>
            <a:prstGeom prst="straightConnector1">
              <a:avLst/>
            </a:prstGeom>
            <a:ln w="19050" cap="flat" cmpd="sng" algn="ctr">
              <a:solidFill>
                <a:srgbClr val="E28189"/>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70" name="Rectangle 69">
              <a:extLst>
                <a:ext uri="{FF2B5EF4-FFF2-40B4-BE49-F238E27FC236}">
                  <a16:creationId xmlns="" xmlns:a16="http://schemas.microsoft.com/office/drawing/2014/main" id="{80A6AA00-DCF6-46D0-A220-41504995C360}"/>
                </a:ext>
              </a:extLst>
            </p:cNvPr>
            <p:cNvSpPr/>
            <p:nvPr/>
          </p:nvSpPr>
          <p:spPr bwMode="gray">
            <a:xfrm>
              <a:off x="8006206" y="2780309"/>
              <a:ext cx="915693" cy="225219"/>
            </a:xfrm>
            <a:prstGeom prst="rect">
              <a:avLst/>
            </a:prstGeom>
            <a:solidFill>
              <a:srgbClr val="30B5C5"/>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南向通道</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9" name="Straight Connector 178">
              <a:extLst>
                <a:ext uri="{FF2B5EF4-FFF2-40B4-BE49-F238E27FC236}">
                  <a16:creationId xmlns="" xmlns:a16="http://schemas.microsoft.com/office/drawing/2014/main" id="{B7FB78B9-5EBB-4D78-BFF2-37DF952A8361}"/>
                </a:ext>
              </a:extLst>
            </p:cNvPr>
            <p:cNvCxnSpPr>
              <a:cxnSpLocks/>
            </p:cNvCxnSpPr>
            <p:nvPr/>
          </p:nvCxnSpPr>
          <p:spPr bwMode="gray">
            <a:xfrm flipV="1">
              <a:off x="5825920" y="3373825"/>
              <a:ext cx="1886118" cy="1261810"/>
            </a:xfrm>
            <a:prstGeom prst="line">
              <a:avLst/>
            </a:prstGeom>
            <a:ln w="57150">
              <a:solidFill>
                <a:srgbClr val="81C15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 xmlns:a16="http://schemas.microsoft.com/office/drawing/2014/main" id="{5B94C824-070E-48B6-BC54-E243ABBF6C74}"/>
                </a:ext>
              </a:extLst>
            </p:cNvPr>
            <p:cNvCxnSpPr>
              <a:cxnSpLocks/>
            </p:cNvCxnSpPr>
            <p:nvPr/>
          </p:nvCxnSpPr>
          <p:spPr bwMode="gray">
            <a:xfrm>
              <a:off x="7712038" y="3397328"/>
              <a:ext cx="1498327" cy="0"/>
            </a:xfrm>
            <a:prstGeom prst="line">
              <a:avLst/>
            </a:prstGeom>
            <a:ln w="57150">
              <a:solidFill>
                <a:srgbClr val="81C15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 xmlns:a16="http://schemas.microsoft.com/office/drawing/2014/main" id="{DF22F5CC-0CE0-49AE-B6CE-6B77A3355F1E}"/>
                </a:ext>
              </a:extLst>
            </p:cNvPr>
            <p:cNvCxnSpPr>
              <a:cxnSpLocks/>
            </p:cNvCxnSpPr>
            <p:nvPr/>
          </p:nvCxnSpPr>
          <p:spPr bwMode="gray">
            <a:xfrm>
              <a:off x="5879762" y="4730828"/>
              <a:ext cx="2319948" cy="0"/>
            </a:xfrm>
            <a:prstGeom prst="line">
              <a:avLst/>
            </a:prstGeom>
            <a:ln w="38100">
              <a:solidFill>
                <a:srgbClr val="AFD89C"/>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 xmlns:a16="http://schemas.microsoft.com/office/drawing/2014/main" id="{3F08F919-044E-46FD-9443-0C1000460872}"/>
                </a:ext>
              </a:extLst>
            </p:cNvPr>
            <p:cNvCxnSpPr>
              <a:cxnSpLocks/>
            </p:cNvCxnSpPr>
            <p:nvPr/>
          </p:nvCxnSpPr>
          <p:spPr bwMode="gray">
            <a:xfrm flipV="1">
              <a:off x="8220584" y="3469708"/>
              <a:ext cx="881058" cy="1254418"/>
            </a:xfrm>
            <a:prstGeom prst="line">
              <a:avLst/>
            </a:prstGeom>
            <a:ln w="38100">
              <a:solidFill>
                <a:srgbClr val="AFD89C"/>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04" name="Group 203">
              <a:extLst>
                <a:ext uri="{FF2B5EF4-FFF2-40B4-BE49-F238E27FC236}">
                  <a16:creationId xmlns="" xmlns:a16="http://schemas.microsoft.com/office/drawing/2014/main" id="{490CFD19-AFFC-45A0-A35C-D1511D434F31}"/>
                </a:ext>
              </a:extLst>
            </p:cNvPr>
            <p:cNvGrpSpPr/>
            <p:nvPr/>
          </p:nvGrpSpPr>
          <p:grpSpPr bwMode="gray">
            <a:xfrm>
              <a:off x="8012158" y="1285740"/>
              <a:ext cx="1279353" cy="601141"/>
              <a:chOff x="8002450" y="1200381"/>
              <a:chExt cx="1279353" cy="601141"/>
            </a:xfrm>
          </p:grpSpPr>
          <p:sp>
            <p:nvSpPr>
              <p:cNvPr id="200" name="Oval 41">
                <a:extLst>
                  <a:ext uri="{FF2B5EF4-FFF2-40B4-BE49-F238E27FC236}">
                    <a16:creationId xmlns="" xmlns:a16="http://schemas.microsoft.com/office/drawing/2014/main" id="{572D7FED-8E90-407A-A88A-305CF0712B71}"/>
                  </a:ext>
                </a:extLst>
              </p:cNvPr>
              <p:cNvSpPr>
                <a:spLocks noChangeAspect="1"/>
              </p:cNvSpPr>
              <p:nvPr/>
            </p:nvSpPr>
            <p:spPr bwMode="gray">
              <a:xfrm>
                <a:off x="8002450" y="164102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201" name="Oval 41">
                <a:extLst>
                  <a:ext uri="{FF2B5EF4-FFF2-40B4-BE49-F238E27FC236}">
                    <a16:creationId xmlns="" xmlns:a16="http://schemas.microsoft.com/office/drawing/2014/main" id="{843B9C62-213A-4E33-9A2C-3732D6C030F6}"/>
                  </a:ext>
                </a:extLst>
              </p:cNvPr>
              <p:cNvSpPr>
                <a:spLocks noChangeAspect="1"/>
              </p:cNvSpPr>
              <p:nvPr/>
            </p:nvSpPr>
            <p:spPr bwMode="gray">
              <a:xfrm>
                <a:off x="8622893" y="120262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202" name="Oval 41">
                <a:extLst>
                  <a:ext uri="{FF2B5EF4-FFF2-40B4-BE49-F238E27FC236}">
                    <a16:creationId xmlns="" xmlns:a16="http://schemas.microsoft.com/office/drawing/2014/main" id="{228B26AA-88D9-4C4C-B131-49755F60629E}"/>
                  </a:ext>
                </a:extLst>
              </p:cNvPr>
              <p:cNvSpPr>
                <a:spLocks noChangeAspect="1"/>
              </p:cNvSpPr>
              <p:nvPr/>
            </p:nvSpPr>
            <p:spPr bwMode="gray">
              <a:xfrm>
                <a:off x="8797154" y="164226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203" name="Oval 41">
                <a:extLst>
                  <a:ext uri="{FF2B5EF4-FFF2-40B4-BE49-F238E27FC236}">
                    <a16:creationId xmlns="" xmlns:a16="http://schemas.microsoft.com/office/drawing/2014/main" id="{BC0E37F7-48E6-4642-974D-D9E07374BC38}"/>
                  </a:ext>
                </a:extLst>
              </p:cNvPr>
              <p:cNvSpPr>
                <a:spLocks noChangeAspect="1"/>
              </p:cNvSpPr>
              <p:nvPr/>
            </p:nvSpPr>
            <p:spPr bwMode="gray">
              <a:xfrm>
                <a:off x="9122542" y="120038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grpSp>
            <p:nvGrpSpPr>
              <p:cNvPr id="199" name="Group 198">
                <a:extLst>
                  <a:ext uri="{FF2B5EF4-FFF2-40B4-BE49-F238E27FC236}">
                    <a16:creationId xmlns="" xmlns:a16="http://schemas.microsoft.com/office/drawing/2014/main" id="{E9D2B480-AE91-4C59-8B60-7E87104E5057}"/>
                  </a:ext>
                </a:extLst>
              </p:cNvPr>
              <p:cNvGrpSpPr/>
              <p:nvPr/>
            </p:nvGrpSpPr>
            <p:grpSpPr bwMode="gray">
              <a:xfrm>
                <a:off x="8098038" y="1263255"/>
                <a:ext cx="1140782" cy="457400"/>
                <a:chOff x="4828028" y="954027"/>
                <a:chExt cx="3384445" cy="1357003"/>
              </a:xfrm>
            </p:grpSpPr>
            <p:cxnSp>
              <p:nvCxnSpPr>
                <p:cNvPr id="192" name="Straight Connector 191">
                  <a:extLst>
                    <a:ext uri="{FF2B5EF4-FFF2-40B4-BE49-F238E27FC236}">
                      <a16:creationId xmlns="" xmlns:a16="http://schemas.microsoft.com/office/drawing/2014/main" id="{06752D1F-8A6D-4959-8AFB-3F145BAB2BA4}"/>
                    </a:ext>
                  </a:extLst>
                </p:cNvPr>
                <p:cNvCxnSpPr>
                  <a:cxnSpLocks/>
                </p:cNvCxnSpPr>
                <p:nvPr/>
              </p:nvCxnSpPr>
              <p:spPr bwMode="gray">
                <a:xfrm flipV="1">
                  <a:off x="4828028" y="954027"/>
                  <a:ext cx="1886118" cy="1261810"/>
                </a:xfrm>
                <a:prstGeom prst="line">
                  <a:avLst/>
                </a:prstGeom>
                <a:ln w="19050">
                  <a:solidFill>
                    <a:srgbClr val="81C15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 xmlns:a16="http://schemas.microsoft.com/office/drawing/2014/main" id="{BAC7B5D6-1D14-47B4-AC81-9C3E95EA2A84}"/>
                    </a:ext>
                  </a:extLst>
                </p:cNvPr>
                <p:cNvCxnSpPr>
                  <a:cxnSpLocks/>
                </p:cNvCxnSpPr>
                <p:nvPr/>
              </p:nvCxnSpPr>
              <p:spPr bwMode="gray">
                <a:xfrm>
                  <a:off x="6714146" y="977530"/>
                  <a:ext cx="1498327" cy="0"/>
                </a:xfrm>
                <a:prstGeom prst="line">
                  <a:avLst/>
                </a:prstGeom>
                <a:ln w="19050">
                  <a:solidFill>
                    <a:srgbClr val="81C15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 xmlns:a16="http://schemas.microsoft.com/office/drawing/2014/main" id="{4A474ACF-774D-4274-B61C-65DD0DE08C1B}"/>
                    </a:ext>
                  </a:extLst>
                </p:cNvPr>
                <p:cNvCxnSpPr>
                  <a:cxnSpLocks/>
                </p:cNvCxnSpPr>
                <p:nvPr/>
              </p:nvCxnSpPr>
              <p:spPr bwMode="gray">
                <a:xfrm>
                  <a:off x="4881870" y="2311030"/>
                  <a:ext cx="2319948" cy="0"/>
                </a:xfrm>
                <a:prstGeom prst="line">
                  <a:avLst/>
                </a:prstGeom>
                <a:ln w="19050">
                  <a:solidFill>
                    <a:srgbClr val="AFD89C"/>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 xmlns:a16="http://schemas.microsoft.com/office/drawing/2014/main" id="{64555059-961B-4D44-B84E-F551B0CB9D99}"/>
                    </a:ext>
                  </a:extLst>
                </p:cNvPr>
                <p:cNvCxnSpPr>
                  <a:cxnSpLocks/>
                </p:cNvCxnSpPr>
                <p:nvPr/>
              </p:nvCxnSpPr>
              <p:spPr bwMode="gray">
                <a:xfrm flipV="1">
                  <a:off x="7222692" y="1049910"/>
                  <a:ext cx="881058" cy="1254418"/>
                </a:xfrm>
                <a:prstGeom prst="line">
                  <a:avLst/>
                </a:prstGeom>
                <a:ln w="19050">
                  <a:solidFill>
                    <a:srgbClr val="AFD89C"/>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205" name="圆角矩形 75">
              <a:extLst>
                <a:ext uri="{FF2B5EF4-FFF2-40B4-BE49-F238E27FC236}">
                  <a16:creationId xmlns="" xmlns:a16="http://schemas.microsoft.com/office/drawing/2014/main" id="{AB25B169-CF43-484C-A561-13EDCB8F81E7}"/>
                </a:ext>
              </a:extLst>
            </p:cNvPr>
            <p:cNvSpPr/>
            <p:nvPr/>
          </p:nvSpPr>
          <p:spPr bwMode="gray">
            <a:xfrm>
              <a:off x="7572405" y="1135940"/>
              <a:ext cx="2115918" cy="92358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2" name="Rectangular Callout 75">
              <a:extLst>
                <a:ext uri="{FF2B5EF4-FFF2-40B4-BE49-F238E27FC236}">
                  <a16:creationId xmlns="" xmlns:a16="http://schemas.microsoft.com/office/drawing/2014/main" id="{BB8E5FC4-E5E8-429D-AB91-73DF32C42622}"/>
                </a:ext>
              </a:extLst>
            </p:cNvPr>
            <p:cNvSpPr/>
            <p:nvPr/>
          </p:nvSpPr>
          <p:spPr bwMode="gray">
            <a:xfrm>
              <a:off x="9489040" y="1329828"/>
              <a:ext cx="862667" cy="465928"/>
            </a:xfrm>
            <a:prstGeom prst="wedgeRectCallout">
              <a:avLst>
                <a:gd name="adj1" fmla="val -78453"/>
                <a:gd name="adj2" fmla="val 2111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路径自动规划</a:t>
              </a:r>
            </a:p>
          </p:txBody>
        </p:sp>
        <p:sp>
          <p:nvSpPr>
            <p:cNvPr id="206" name="Rectangular Callout 75">
              <a:extLst>
                <a:ext uri="{FF2B5EF4-FFF2-40B4-BE49-F238E27FC236}">
                  <a16:creationId xmlns="" xmlns:a16="http://schemas.microsoft.com/office/drawing/2014/main" id="{4A444F3B-C239-4AB9-91C7-9376D22D40E1}"/>
                </a:ext>
              </a:extLst>
            </p:cNvPr>
            <p:cNvSpPr/>
            <p:nvPr/>
          </p:nvSpPr>
          <p:spPr bwMode="gray">
            <a:xfrm>
              <a:off x="5187081" y="3649338"/>
              <a:ext cx="862667" cy="465928"/>
            </a:xfrm>
            <a:prstGeom prst="wedgeRectCallout">
              <a:avLst>
                <a:gd name="adj1" fmla="val 48523"/>
                <a:gd name="adj2" fmla="val 1069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路径自动部署</a:t>
              </a:r>
            </a:p>
          </p:txBody>
        </p:sp>
        <p:sp>
          <p:nvSpPr>
            <p:cNvPr id="60" name="Rectangular Callout 75">
              <a:extLst>
                <a:ext uri="{FF2B5EF4-FFF2-40B4-BE49-F238E27FC236}">
                  <a16:creationId xmlns="" xmlns:a16="http://schemas.microsoft.com/office/drawing/2014/main" id="{00511AEC-8412-4060-B13E-785D4BADF3DA}"/>
                </a:ext>
              </a:extLst>
            </p:cNvPr>
            <p:cNvSpPr/>
            <p:nvPr/>
          </p:nvSpPr>
          <p:spPr bwMode="gray">
            <a:xfrm>
              <a:off x="6481173" y="1485101"/>
              <a:ext cx="1182048" cy="368095"/>
            </a:xfrm>
            <a:prstGeom prst="wedgeRectCallout">
              <a:avLst>
                <a:gd name="adj1" fmla="val 68961"/>
                <a:gd name="adj2" fmla="val 1721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可视化运维</a:t>
              </a:r>
            </a:p>
          </p:txBody>
        </p:sp>
        <p:sp>
          <p:nvSpPr>
            <p:cNvPr id="207" name="TextBox 416">
              <a:extLst>
                <a:ext uri="{FF2B5EF4-FFF2-40B4-BE49-F238E27FC236}">
                  <a16:creationId xmlns="" xmlns:a16="http://schemas.microsoft.com/office/drawing/2014/main" id="{995C8F0F-8920-4F5F-960C-16E527F1123E}"/>
                </a:ext>
              </a:extLst>
            </p:cNvPr>
            <p:cNvSpPr txBox="1"/>
            <p:nvPr/>
          </p:nvSpPr>
          <p:spPr bwMode="gray">
            <a:xfrm rot="19590761">
              <a:off x="6131575" y="3891633"/>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主路径</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208" name="TextBox 416">
              <a:extLst>
                <a:ext uri="{FF2B5EF4-FFF2-40B4-BE49-F238E27FC236}">
                  <a16:creationId xmlns="" xmlns:a16="http://schemas.microsoft.com/office/drawing/2014/main" id="{49D1B890-1D99-4131-A060-9566AB2CA919}"/>
                </a:ext>
              </a:extLst>
            </p:cNvPr>
            <p:cNvSpPr txBox="1"/>
            <p:nvPr/>
          </p:nvSpPr>
          <p:spPr bwMode="gray">
            <a:xfrm>
              <a:off x="6362151" y="4767753"/>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备路径</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211" name="梯形 41">
              <a:extLst>
                <a:ext uri="{FF2B5EF4-FFF2-40B4-BE49-F238E27FC236}">
                  <a16:creationId xmlns="" xmlns:a16="http://schemas.microsoft.com/office/drawing/2014/main" id="{EFE61499-10A5-4477-8191-719E53CE0088}"/>
                </a:ext>
              </a:extLst>
            </p:cNvPr>
            <p:cNvSpPr/>
            <p:nvPr/>
          </p:nvSpPr>
          <p:spPr bwMode="gray">
            <a:xfrm>
              <a:off x="5791571" y="5279424"/>
              <a:ext cx="4052789" cy="435941"/>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TextBox 271">
              <a:extLst>
                <a:ext uri="{FF2B5EF4-FFF2-40B4-BE49-F238E27FC236}">
                  <a16:creationId xmlns="" xmlns:a16="http://schemas.microsoft.com/office/drawing/2014/main" id="{16E599E5-5B05-4879-AB27-ACEBC6CD2D72}"/>
                </a:ext>
              </a:extLst>
            </p:cNvPr>
            <p:cNvSpPr txBox="1"/>
            <p:nvPr/>
          </p:nvSpPr>
          <p:spPr bwMode="gray">
            <a:xfrm>
              <a:off x="9838010" y="5353114"/>
              <a:ext cx="954107"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低时延切片</a:t>
              </a:r>
            </a:p>
          </p:txBody>
        </p:sp>
        <p:sp>
          <p:nvSpPr>
            <p:cNvPr id="214" name="TextBox 272">
              <a:extLst>
                <a:ext uri="{FF2B5EF4-FFF2-40B4-BE49-F238E27FC236}">
                  <a16:creationId xmlns="" xmlns:a16="http://schemas.microsoft.com/office/drawing/2014/main" id="{58B6172C-3DE2-4979-8628-0173C11CE8EB}"/>
                </a:ext>
              </a:extLst>
            </p:cNvPr>
            <p:cNvSpPr txBox="1"/>
            <p:nvPr/>
          </p:nvSpPr>
          <p:spPr bwMode="gray">
            <a:xfrm>
              <a:off x="9844360" y="5849239"/>
              <a:ext cx="800219"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默认切片</a:t>
              </a:r>
            </a:p>
          </p:txBody>
        </p:sp>
        <p:cxnSp>
          <p:nvCxnSpPr>
            <p:cNvPr id="225" name="Straight Connector 224">
              <a:extLst>
                <a:ext uri="{FF2B5EF4-FFF2-40B4-BE49-F238E27FC236}">
                  <a16:creationId xmlns="" xmlns:a16="http://schemas.microsoft.com/office/drawing/2014/main" id="{C28BC624-D8F0-4290-B4C6-37DC85A1F0AB}"/>
                </a:ext>
              </a:extLst>
            </p:cNvPr>
            <p:cNvCxnSpPr>
              <a:cxnSpLocks/>
            </p:cNvCxnSpPr>
            <p:nvPr/>
          </p:nvCxnSpPr>
          <p:spPr bwMode="gray">
            <a:xfrm>
              <a:off x="5825920" y="5497395"/>
              <a:ext cx="4018440" cy="0"/>
            </a:xfrm>
            <a:prstGeom prst="line">
              <a:avLst/>
            </a:prstGeom>
            <a:ln w="28575">
              <a:solidFill>
                <a:srgbClr val="E2819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9" name="梯形 41">
              <a:extLst>
                <a:ext uri="{FF2B5EF4-FFF2-40B4-BE49-F238E27FC236}">
                  <a16:creationId xmlns="" xmlns:a16="http://schemas.microsoft.com/office/drawing/2014/main" id="{DF940518-BC38-45A7-9EB9-A2B955AAF306}"/>
                </a:ext>
              </a:extLst>
            </p:cNvPr>
            <p:cNvSpPr/>
            <p:nvPr/>
          </p:nvSpPr>
          <p:spPr bwMode="gray">
            <a:xfrm>
              <a:off x="5791571" y="5764167"/>
              <a:ext cx="4052789" cy="435941"/>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0" name="Straight Connector 229">
              <a:extLst>
                <a:ext uri="{FF2B5EF4-FFF2-40B4-BE49-F238E27FC236}">
                  <a16:creationId xmlns="" xmlns:a16="http://schemas.microsoft.com/office/drawing/2014/main" id="{C50DE575-1A48-4B74-8618-335FC8226090}"/>
                </a:ext>
              </a:extLst>
            </p:cNvPr>
            <p:cNvCxnSpPr>
              <a:cxnSpLocks/>
            </p:cNvCxnSpPr>
            <p:nvPr/>
          </p:nvCxnSpPr>
          <p:spPr bwMode="gray">
            <a:xfrm>
              <a:off x="5872462" y="5982138"/>
              <a:ext cx="3965548" cy="5601"/>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1" name="Rectangular Callout 75">
              <a:extLst>
                <a:ext uri="{FF2B5EF4-FFF2-40B4-BE49-F238E27FC236}">
                  <a16:creationId xmlns="" xmlns:a16="http://schemas.microsoft.com/office/drawing/2014/main" id="{3FB6E2B1-946F-4234-B844-1A17429097AB}"/>
                </a:ext>
              </a:extLst>
            </p:cNvPr>
            <p:cNvSpPr/>
            <p:nvPr/>
          </p:nvSpPr>
          <p:spPr bwMode="gray">
            <a:xfrm>
              <a:off x="4644558" y="5416428"/>
              <a:ext cx="973856" cy="357281"/>
            </a:xfrm>
            <a:prstGeom prst="wedgeRectCallout">
              <a:avLst>
                <a:gd name="adj1" fmla="val 65085"/>
                <a:gd name="adj2" fmla="val 1906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网络切片</a:t>
              </a:r>
            </a:p>
          </p:txBody>
        </p:sp>
      </p:grpSp>
    </p:spTree>
    <p:extLst>
      <p:ext uri="{BB962C8B-B14F-4D97-AF65-F5344CB8AC3E}">
        <p14:creationId xmlns:p14="http://schemas.microsoft.com/office/powerpoint/2010/main" val="2698170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91C6AA-A994-492A-8300-17663794288B}"/>
              </a:ext>
            </a:extLst>
          </p:cNvPr>
          <p:cNvSpPr>
            <a:spLocks noGrp="1"/>
          </p:cNvSpPr>
          <p:nvPr>
            <p:ph type="title"/>
          </p:nvPr>
        </p:nvSpPr>
        <p:spPr bwMode="gray"/>
        <p:txBody>
          <a:bodyPr/>
          <a:lstStyle/>
          <a:p>
            <a:r>
              <a:rPr lang="zh-CN" altLang="en-US" dirty="0"/>
              <a:t>路径规划部署概述</a:t>
            </a:r>
            <a:endParaRPr lang="en-US" dirty="0"/>
          </a:p>
        </p:txBody>
      </p:sp>
      <p:sp>
        <p:nvSpPr>
          <p:cNvPr id="6" name="Text Placeholder 5">
            <a:extLst>
              <a:ext uri="{FF2B5EF4-FFF2-40B4-BE49-F238E27FC236}">
                <a16:creationId xmlns="" xmlns:a16="http://schemas.microsoft.com/office/drawing/2014/main" id="{2EC13EB0-AA78-400F-8CB9-6B3AB6465FDA}"/>
              </a:ext>
            </a:extLst>
          </p:cNvPr>
          <p:cNvSpPr>
            <a:spLocks noGrp="1"/>
          </p:cNvSpPr>
          <p:nvPr>
            <p:ph type="body" sz="quarter" idx="10"/>
          </p:nvPr>
        </p:nvSpPr>
        <p:spPr bwMode="gray">
          <a:xfrm>
            <a:off x="455613" y="1047750"/>
            <a:ext cx="5640388" cy="4879805"/>
          </a:xfrm>
        </p:spPr>
        <p:txBody>
          <a:bodyPr/>
          <a:lstStyle/>
          <a:p>
            <a:r>
              <a:rPr lang="zh-CN" altLang="en-US" sz="1800" dirty="0"/>
              <a:t>传统流量工程（</a:t>
            </a:r>
            <a:r>
              <a:rPr lang="en-US" altLang="zh-CN" sz="1800" dirty="0"/>
              <a:t>MPLS TE</a:t>
            </a:r>
            <a:r>
              <a:rPr lang="zh-CN" altLang="en-US" sz="1800" dirty="0"/>
              <a:t>）在规划部署路径时存在路径计算不准确，转发路径部署困难等问题。</a:t>
            </a:r>
            <a:endParaRPr lang="en-US" altLang="zh-CN" sz="1800" dirty="0"/>
          </a:p>
          <a:p>
            <a:r>
              <a:rPr lang="zh-CN" altLang="en-US" sz="1800" dirty="0"/>
              <a:t>为了解决传统流量工程的问题，华为云广域网络解决方案通过</a:t>
            </a:r>
            <a:r>
              <a:rPr lang="en-US" altLang="zh-CN" sz="1800" dirty="0"/>
              <a:t>SDN</a:t>
            </a:r>
            <a:r>
              <a:rPr lang="zh-CN" altLang="en-US" sz="1800" dirty="0"/>
              <a:t>控制器</a:t>
            </a:r>
            <a:r>
              <a:rPr lang="en-US" altLang="zh-CN" sz="1800" dirty="0"/>
              <a:t>+Segment Routing</a:t>
            </a:r>
            <a:r>
              <a:rPr lang="zh-CN" altLang="en-US" sz="1800" dirty="0"/>
              <a:t>技术优化了路径计算的过程，降低了转发路径部署的难度。</a:t>
            </a:r>
            <a:endParaRPr lang="en-US" altLang="zh-CN" sz="1800" dirty="0"/>
          </a:p>
          <a:p>
            <a:r>
              <a:rPr lang="en-US" altLang="zh-CN" sz="1800" dirty="0"/>
              <a:t>Segment Routing</a:t>
            </a:r>
            <a:r>
              <a:rPr lang="zh-CN" altLang="en-US" sz="1800" dirty="0"/>
              <a:t>技术通过如下步骤规划并部署转发路径：</a:t>
            </a:r>
            <a:endParaRPr lang="en-US" altLang="zh-CN" sz="1800" dirty="0"/>
          </a:p>
          <a:p>
            <a:pPr lvl="1"/>
            <a:r>
              <a:rPr lang="zh-CN" altLang="en-US" sz="1600" dirty="0"/>
              <a:t>设备通过</a:t>
            </a:r>
            <a:r>
              <a:rPr lang="en-US" altLang="zh-CN" sz="1600" dirty="0"/>
              <a:t>BGP-LS</a:t>
            </a:r>
            <a:r>
              <a:rPr lang="zh-CN" altLang="en-US" sz="1600" dirty="0"/>
              <a:t>协议将网络拓扑上报给控制器，控制器基于需求形成转发路径。</a:t>
            </a:r>
            <a:endParaRPr lang="en-US" altLang="zh-CN" sz="1600" dirty="0"/>
          </a:p>
          <a:p>
            <a:pPr lvl="1"/>
            <a:r>
              <a:rPr lang="zh-CN" altLang="en-US" sz="1600" dirty="0"/>
              <a:t>控制器通过</a:t>
            </a:r>
            <a:r>
              <a:rPr lang="en-US" altLang="zh-CN" sz="1600" dirty="0"/>
              <a:t>PCEP</a:t>
            </a:r>
            <a:r>
              <a:rPr lang="zh-CN" altLang="en-US" sz="1600" dirty="0"/>
              <a:t>或</a:t>
            </a:r>
            <a:r>
              <a:rPr lang="en-US" altLang="zh-CN" sz="1600" dirty="0"/>
              <a:t>BGP SR-Policy</a:t>
            </a:r>
            <a:r>
              <a:rPr lang="zh-CN" altLang="en-US" sz="1600" dirty="0"/>
              <a:t>技术将计算出的路径下发给设备。</a:t>
            </a:r>
            <a:endParaRPr lang="en-US" altLang="zh-CN" sz="1600" dirty="0"/>
          </a:p>
          <a:p>
            <a:pPr lvl="1"/>
            <a:r>
              <a:rPr lang="zh-CN" altLang="en-US" sz="1600" dirty="0"/>
              <a:t>相关流量根据路径转发数据。</a:t>
            </a:r>
            <a:endParaRPr lang="en-US" altLang="zh-CN" sz="1600" dirty="0"/>
          </a:p>
        </p:txBody>
      </p:sp>
      <p:sp>
        <p:nvSpPr>
          <p:cNvPr id="3" name="五边形 2">
            <a:extLst>
              <a:ext uri="{FF2B5EF4-FFF2-40B4-BE49-F238E27FC236}">
                <a16:creationId xmlns="" xmlns:a16="http://schemas.microsoft.com/office/drawing/2014/main" id="{30098A2D-4F7A-45B5-980E-425FB6EE7901}"/>
              </a:ext>
            </a:extLst>
          </p:cNvPr>
          <p:cNvSpPr/>
          <p:nvPr/>
        </p:nvSpPr>
        <p:spPr bwMode="gray">
          <a:xfrm>
            <a:off x="8199710" y="49524"/>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4" name="燕尾形 3">
            <a:extLst>
              <a:ext uri="{FF2B5EF4-FFF2-40B4-BE49-F238E27FC236}">
                <a16:creationId xmlns="" xmlns:a16="http://schemas.microsoft.com/office/drawing/2014/main" id="{EA631AC1-2EC3-4964-B7A3-C8D693B7E508}"/>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E0318515-502A-457A-923E-197C0425225D}"/>
              </a:ext>
            </a:extLst>
          </p:cNvPr>
          <p:cNvSpPr/>
          <p:nvPr/>
        </p:nvSpPr>
        <p:spPr bwMode="gray">
          <a:xfrm>
            <a:off x="9319110" y="4952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Group 7">
            <a:extLst>
              <a:ext uri="{FF2B5EF4-FFF2-40B4-BE49-F238E27FC236}">
                <a16:creationId xmlns="" xmlns:a16="http://schemas.microsoft.com/office/drawing/2014/main" id="{4510716E-8099-4674-8CDE-9CF79D2E814B}"/>
              </a:ext>
            </a:extLst>
          </p:cNvPr>
          <p:cNvGrpSpPr/>
          <p:nvPr/>
        </p:nvGrpSpPr>
        <p:grpSpPr bwMode="gray">
          <a:xfrm>
            <a:off x="6324443" y="1294429"/>
            <a:ext cx="5283838" cy="3848538"/>
            <a:chOff x="6324443" y="1294429"/>
            <a:chExt cx="5283838" cy="3848538"/>
          </a:xfrm>
        </p:grpSpPr>
        <p:sp>
          <p:nvSpPr>
            <p:cNvPr id="60" name="Oval 41">
              <a:extLst>
                <a:ext uri="{FF2B5EF4-FFF2-40B4-BE49-F238E27FC236}">
                  <a16:creationId xmlns="" xmlns:a16="http://schemas.microsoft.com/office/drawing/2014/main" id="{BAB2ADA7-78D8-459C-8995-D3B4CC13C2D8}"/>
                </a:ext>
              </a:extLst>
            </p:cNvPr>
            <p:cNvSpPr>
              <a:spLocks noChangeAspect="1"/>
            </p:cNvSpPr>
            <p:nvPr/>
          </p:nvSpPr>
          <p:spPr bwMode="gray">
            <a:xfrm>
              <a:off x="8191013" y="138210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1" name="Oval 41">
              <a:extLst>
                <a:ext uri="{FF2B5EF4-FFF2-40B4-BE49-F238E27FC236}">
                  <a16:creationId xmlns="" xmlns:a16="http://schemas.microsoft.com/office/drawing/2014/main" id="{19C47920-C51D-44C6-8560-B669F22A2787}"/>
                </a:ext>
              </a:extLst>
            </p:cNvPr>
            <p:cNvSpPr>
              <a:spLocks noChangeAspect="1"/>
            </p:cNvSpPr>
            <p:nvPr/>
          </p:nvSpPr>
          <p:spPr bwMode="gray">
            <a:xfrm>
              <a:off x="8917020" y="137596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2" name="Oval 41">
              <a:extLst>
                <a:ext uri="{FF2B5EF4-FFF2-40B4-BE49-F238E27FC236}">
                  <a16:creationId xmlns="" xmlns:a16="http://schemas.microsoft.com/office/drawing/2014/main" id="{DE5144DD-4018-4424-BBBE-6A2C8B8710EC}"/>
                </a:ext>
              </a:extLst>
            </p:cNvPr>
            <p:cNvSpPr>
              <a:spLocks noChangeAspect="1"/>
            </p:cNvSpPr>
            <p:nvPr/>
          </p:nvSpPr>
          <p:spPr bwMode="gray">
            <a:xfrm>
              <a:off x="8917708" y="180107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3" name="Oval 41">
              <a:extLst>
                <a:ext uri="{FF2B5EF4-FFF2-40B4-BE49-F238E27FC236}">
                  <a16:creationId xmlns="" xmlns:a16="http://schemas.microsoft.com/office/drawing/2014/main" id="{947A159F-B143-407D-AEC3-FFAC904631DC}"/>
                </a:ext>
              </a:extLst>
            </p:cNvPr>
            <p:cNvSpPr>
              <a:spLocks noChangeAspect="1"/>
            </p:cNvSpPr>
            <p:nvPr/>
          </p:nvSpPr>
          <p:spPr bwMode="gray">
            <a:xfrm>
              <a:off x="9655237" y="180717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grpSp>
          <p:nvGrpSpPr>
            <p:cNvPr id="7" name="Group 6">
              <a:extLst>
                <a:ext uri="{FF2B5EF4-FFF2-40B4-BE49-F238E27FC236}">
                  <a16:creationId xmlns="" xmlns:a16="http://schemas.microsoft.com/office/drawing/2014/main" id="{A0EA670B-B70D-410C-9127-5B3ED8EF9C60}"/>
                </a:ext>
              </a:extLst>
            </p:cNvPr>
            <p:cNvGrpSpPr/>
            <p:nvPr/>
          </p:nvGrpSpPr>
          <p:grpSpPr bwMode="gray">
            <a:xfrm>
              <a:off x="6324443" y="1294429"/>
              <a:ext cx="5283838" cy="3848538"/>
              <a:chOff x="6324443" y="1595875"/>
              <a:chExt cx="5283838" cy="3848538"/>
            </a:xfrm>
          </p:grpSpPr>
          <p:pic>
            <p:nvPicPr>
              <p:cNvPr id="73" name="图片 31">
                <a:extLst>
                  <a:ext uri="{FF2B5EF4-FFF2-40B4-BE49-F238E27FC236}">
                    <a16:creationId xmlns="" xmlns:a16="http://schemas.microsoft.com/office/drawing/2014/main" id="{25B18C26-55DA-4A59-9986-83253E325234}"/>
                  </a:ext>
                </a:extLst>
              </p:cNvPr>
              <p:cNvPicPr>
                <a:picLocks noChangeAspect="1"/>
              </p:cNvPicPr>
              <p:nvPr/>
            </p:nvPicPr>
            <p:blipFill>
              <a:blip r:embed="rId3"/>
              <a:stretch>
                <a:fillRect/>
              </a:stretch>
            </p:blipFill>
            <p:spPr bwMode="gray">
              <a:xfrm>
                <a:off x="7201307" y="3808041"/>
                <a:ext cx="466668" cy="389308"/>
              </a:xfrm>
              <a:prstGeom prst="rect">
                <a:avLst/>
              </a:prstGeom>
            </p:spPr>
          </p:pic>
          <p:pic>
            <p:nvPicPr>
              <p:cNvPr id="74" name="图片 31">
                <a:extLst>
                  <a:ext uri="{FF2B5EF4-FFF2-40B4-BE49-F238E27FC236}">
                    <a16:creationId xmlns="" xmlns:a16="http://schemas.microsoft.com/office/drawing/2014/main" id="{45473FE1-F400-463A-B77D-FEB6D57824B7}"/>
                  </a:ext>
                </a:extLst>
              </p:cNvPr>
              <p:cNvPicPr>
                <a:picLocks noChangeAspect="1"/>
              </p:cNvPicPr>
              <p:nvPr/>
            </p:nvPicPr>
            <p:blipFill>
              <a:blip r:embed="rId3"/>
              <a:stretch>
                <a:fillRect/>
              </a:stretch>
            </p:blipFill>
            <p:spPr bwMode="gray">
              <a:xfrm>
                <a:off x="7201307" y="4819279"/>
                <a:ext cx="466668" cy="389308"/>
              </a:xfrm>
              <a:prstGeom prst="rect">
                <a:avLst/>
              </a:prstGeom>
            </p:spPr>
          </p:pic>
          <p:pic>
            <p:nvPicPr>
              <p:cNvPr id="75" name="图片 31">
                <a:extLst>
                  <a:ext uri="{FF2B5EF4-FFF2-40B4-BE49-F238E27FC236}">
                    <a16:creationId xmlns="" xmlns:a16="http://schemas.microsoft.com/office/drawing/2014/main" id="{CCD61567-F3C3-4AFE-A832-3A261C9378CC}"/>
                  </a:ext>
                </a:extLst>
              </p:cNvPr>
              <p:cNvPicPr>
                <a:picLocks noChangeAspect="1"/>
              </p:cNvPicPr>
              <p:nvPr/>
            </p:nvPicPr>
            <p:blipFill>
              <a:blip r:embed="rId3"/>
              <a:stretch>
                <a:fillRect/>
              </a:stretch>
            </p:blipFill>
            <p:spPr bwMode="gray">
              <a:xfrm>
                <a:off x="8744357" y="3804258"/>
                <a:ext cx="466668" cy="389308"/>
              </a:xfrm>
              <a:prstGeom prst="rect">
                <a:avLst/>
              </a:prstGeom>
            </p:spPr>
          </p:pic>
          <p:pic>
            <p:nvPicPr>
              <p:cNvPr id="76" name="图片 31">
                <a:extLst>
                  <a:ext uri="{FF2B5EF4-FFF2-40B4-BE49-F238E27FC236}">
                    <a16:creationId xmlns="" xmlns:a16="http://schemas.microsoft.com/office/drawing/2014/main" id="{B6CBCCDE-D4D7-47DE-B5A2-177D47908D19}"/>
                  </a:ext>
                </a:extLst>
              </p:cNvPr>
              <p:cNvPicPr>
                <a:picLocks noChangeAspect="1"/>
              </p:cNvPicPr>
              <p:nvPr/>
            </p:nvPicPr>
            <p:blipFill>
              <a:blip r:embed="rId3"/>
              <a:stretch>
                <a:fillRect/>
              </a:stretch>
            </p:blipFill>
            <p:spPr bwMode="gray">
              <a:xfrm>
                <a:off x="8744357" y="4819279"/>
                <a:ext cx="466668" cy="389308"/>
              </a:xfrm>
              <a:prstGeom prst="rect">
                <a:avLst/>
              </a:prstGeom>
            </p:spPr>
          </p:pic>
          <p:pic>
            <p:nvPicPr>
              <p:cNvPr id="77" name="图片 31">
                <a:extLst>
                  <a:ext uri="{FF2B5EF4-FFF2-40B4-BE49-F238E27FC236}">
                    <a16:creationId xmlns="" xmlns:a16="http://schemas.microsoft.com/office/drawing/2014/main" id="{0F2EFD27-F029-4543-8CA5-BCF8615DB5A5}"/>
                  </a:ext>
                </a:extLst>
              </p:cNvPr>
              <p:cNvPicPr>
                <a:picLocks noChangeAspect="1"/>
              </p:cNvPicPr>
              <p:nvPr/>
            </p:nvPicPr>
            <p:blipFill>
              <a:blip r:embed="rId3"/>
              <a:stretch>
                <a:fillRect/>
              </a:stretch>
            </p:blipFill>
            <p:spPr bwMode="gray">
              <a:xfrm>
                <a:off x="10287407" y="3808041"/>
                <a:ext cx="466668" cy="389308"/>
              </a:xfrm>
              <a:prstGeom prst="rect">
                <a:avLst/>
              </a:prstGeom>
            </p:spPr>
          </p:pic>
          <p:pic>
            <p:nvPicPr>
              <p:cNvPr id="78" name="图片 31">
                <a:extLst>
                  <a:ext uri="{FF2B5EF4-FFF2-40B4-BE49-F238E27FC236}">
                    <a16:creationId xmlns="" xmlns:a16="http://schemas.microsoft.com/office/drawing/2014/main" id="{EFD792B7-483A-4B51-93A3-98CB45FB8907}"/>
                  </a:ext>
                </a:extLst>
              </p:cNvPr>
              <p:cNvPicPr>
                <a:picLocks noChangeAspect="1"/>
              </p:cNvPicPr>
              <p:nvPr/>
            </p:nvPicPr>
            <p:blipFill>
              <a:blip r:embed="rId3"/>
              <a:stretch>
                <a:fillRect/>
              </a:stretch>
            </p:blipFill>
            <p:spPr bwMode="gray">
              <a:xfrm>
                <a:off x="10287407" y="4823062"/>
                <a:ext cx="466668" cy="389308"/>
              </a:xfrm>
              <a:prstGeom prst="rect">
                <a:avLst/>
              </a:prstGeom>
            </p:spPr>
          </p:pic>
          <p:cxnSp>
            <p:nvCxnSpPr>
              <p:cNvPr id="79" name="Straight Connector 78">
                <a:extLst>
                  <a:ext uri="{FF2B5EF4-FFF2-40B4-BE49-F238E27FC236}">
                    <a16:creationId xmlns="" xmlns:a16="http://schemas.microsoft.com/office/drawing/2014/main" id="{BE843C1D-97AA-41BA-A17C-29E7A4B9E9E8}"/>
                  </a:ext>
                </a:extLst>
              </p:cNvPr>
              <p:cNvCxnSpPr>
                <a:cxnSpLocks/>
                <a:stCxn id="73" idx="3"/>
                <a:endCxn id="75" idx="1"/>
              </p:cNvCxnSpPr>
              <p:nvPr/>
            </p:nvCxnSpPr>
            <p:spPr bwMode="gray">
              <a:xfrm flipV="1">
                <a:off x="7667975" y="3998912"/>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 xmlns:a16="http://schemas.microsoft.com/office/drawing/2014/main" id="{F8525411-F73D-46C6-B507-7D9583C77A39}"/>
                  </a:ext>
                </a:extLst>
              </p:cNvPr>
              <p:cNvCxnSpPr>
                <a:cxnSpLocks/>
                <a:stCxn id="74" idx="3"/>
                <a:endCxn id="76" idx="1"/>
              </p:cNvCxnSpPr>
              <p:nvPr/>
            </p:nvCxnSpPr>
            <p:spPr bwMode="gray">
              <a:xfrm>
                <a:off x="7667975" y="5013933"/>
                <a:ext cx="10763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 xmlns:a16="http://schemas.microsoft.com/office/drawing/2014/main" id="{174B1A65-1C02-4936-B3D1-382C545F1F5F}"/>
                  </a:ext>
                </a:extLst>
              </p:cNvPr>
              <p:cNvCxnSpPr>
                <a:cxnSpLocks/>
                <a:stCxn id="73" idx="2"/>
                <a:endCxn id="74" idx="0"/>
              </p:cNvCxnSpPr>
              <p:nvPr/>
            </p:nvCxnSpPr>
            <p:spPr bwMode="gray">
              <a:xfrm>
                <a:off x="7434641" y="4197349"/>
                <a:ext cx="0" cy="62193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 xmlns:a16="http://schemas.microsoft.com/office/drawing/2014/main" id="{98B51229-E216-4667-B1FF-44FCB983C661}"/>
                  </a:ext>
                </a:extLst>
              </p:cNvPr>
              <p:cNvCxnSpPr>
                <a:cxnSpLocks/>
                <a:stCxn id="75" idx="2"/>
                <a:endCxn id="76" idx="0"/>
              </p:cNvCxnSpPr>
              <p:nvPr/>
            </p:nvCxnSpPr>
            <p:spPr bwMode="gray">
              <a:xfrm>
                <a:off x="8977691" y="4193566"/>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2634F83D-BBEB-4927-9AF5-7F2BD0628423}"/>
                  </a:ext>
                </a:extLst>
              </p:cNvPr>
              <p:cNvCxnSpPr>
                <a:cxnSpLocks/>
                <a:stCxn id="77" idx="2"/>
                <a:endCxn id="78" idx="0"/>
              </p:cNvCxnSpPr>
              <p:nvPr/>
            </p:nvCxnSpPr>
            <p:spPr bwMode="gray">
              <a:xfrm>
                <a:off x="10520741" y="4197349"/>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9C9497B4-5145-4433-B69A-E2B8C395FA8E}"/>
                  </a:ext>
                </a:extLst>
              </p:cNvPr>
              <p:cNvCxnSpPr>
                <a:cxnSpLocks/>
                <a:stCxn id="78" idx="1"/>
                <a:endCxn id="76" idx="3"/>
              </p:cNvCxnSpPr>
              <p:nvPr/>
            </p:nvCxnSpPr>
            <p:spPr bwMode="gray">
              <a:xfrm flipH="1" flipV="1">
                <a:off x="9211025" y="5013933"/>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7594BCB5-F4E2-4621-9D29-9AE3E3E1E669}"/>
                  </a:ext>
                </a:extLst>
              </p:cNvPr>
              <p:cNvCxnSpPr>
                <a:cxnSpLocks/>
                <a:stCxn id="77" idx="1"/>
                <a:endCxn id="75" idx="3"/>
              </p:cNvCxnSpPr>
              <p:nvPr/>
            </p:nvCxnSpPr>
            <p:spPr bwMode="gray">
              <a:xfrm flipH="1" flipV="1">
                <a:off x="9211025" y="3998912"/>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9" name="TextBox 271">
                <a:extLst>
                  <a:ext uri="{FF2B5EF4-FFF2-40B4-BE49-F238E27FC236}">
                    <a16:creationId xmlns="" xmlns:a16="http://schemas.microsoft.com/office/drawing/2014/main" id="{AED8DF4B-6EF5-44DC-8169-A8440800E995}"/>
                  </a:ext>
                </a:extLst>
              </p:cNvPr>
              <p:cNvSpPr txBox="1"/>
              <p:nvPr/>
            </p:nvSpPr>
            <p:spPr bwMode="gray">
              <a:xfrm>
                <a:off x="8988134" y="3587197"/>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TextBox 271">
                <a:extLst>
                  <a:ext uri="{FF2B5EF4-FFF2-40B4-BE49-F238E27FC236}">
                    <a16:creationId xmlns="" xmlns:a16="http://schemas.microsoft.com/office/drawing/2014/main" id="{12DB08B7-7E8F-4258-AD3F-01B2D29FF265}"/>
                  </a:ext>
                </a:extLst>
              </p:cNvPr>
              <p:cNvSpPr txBox="1"/>
              <p:nvPr/>
            </p:nvSpPr>
            <p:spPr bwMode="gray">
              <a:xfrm>
                <a:off x="7052904" y="3587197"/>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TextBox 271">
                <a:extLst>
                  <a:ext uri="{FF2B5EF4-FFF2-40B4-BE49-F238E27FC236}">
                    <a16:creationId xmlns="" xmlns:a16="http://schemas.microsoft.com/office/drawing/2014/main" id="{AF720ECC-6F94-4FAC-886A-C055726AD041}"/>
                  </a:ext>
                </a:extLst>
              </p:cNvPr>
              <p:cNvSpPr txBox="1"/>
              <p:nvPr/>
            </p:nvSpPr>
            <p:spPr bwMode="gray">
              <a:xfrm>
                <a:off x="7223623" y="5167414"/>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TextBox 271">
                <a:extLst>
                  <a:ext uri="{FF2B5EF4-FFF2-40B4-BE49-F238E27FC236}">
                    <a16:creationId xmlns="" xmlns:a16="http://schemas.microsoft.com/office/drawing/2014/main" id="{06917DC6-5C37-4057-ACC0-62BA66ED38F5}"/>
                  </a:ext>
                </a:extLst>
              </p:cNvPr>
              <p:cNvSpPr txBox="1"/>
              <p:nvPr/>
            </p:nvSpPr>
            <p:spPr bwMode="gray">
              <a:xfrm>
                <a:off x="8797994" y="5167414"/>
                <a:ext cx="359394"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271">
                <a:extLst>
                  <a:ext uri="{FF2B5EF4-FFF2-40B4-BE49-F238E27FC236}">
                    <a16:creationId xmlns="" xmlns:a16="http://schemas.microsoft.com/office/drawing/2014/main" id="{464993DE-D4A4-47DE-9FA9-67637FA0ED9E}"/>
                  </a:ext>
                </a:extLst>
              </p:cNvPr>
              <p:cNvSpPr txBox="1"/>
              <p:nvPr/>
            </p:nvSpPr>
            <p:spPr bwMode="gray">
              <a:xfrm>
                <a:off x="10298565" y="5167414"/>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TextBox 271">
                <a:extLst>
                  <a:ext uri="{FF2B5EF4-FFF2-40B4-BE49-F238E27FC236}">
                    <a16:creationId xmlns="" xmlns:a16="http://schemas.microsoft.com/office/drawing/2014/main" id="{7580856B-C798-4AF3-9E36-016F7AD30D14}"/>
                  </a:ext>
                </a:extLst>
              </p:cNvPr>
              <p:cNvSpPr txBox="1"/>
              <p:nvPr/>
            </p:nvSpPr>
            <p:spPr bwMode="gray">
              <a:xfrm>
                <a:off x="10467082" y="3591351"/>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1" name="图片 24">
                <a:extLst>
                  <a:ext uri="{FF2B5EF4-FFF2-40B4-BE49-F238E27FC236}">
                    <a16:creationId xmlns="" xmlns:a16="http://schemas.microsoft.com/office/drawing/2014/main" id="{34B0F849-4E26-4DA3-99E5-E93A230B40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999520" y="2416242"/>
                <a:ext cx="1977229" cy="364654"/>
              </a:xfrm>
              <a:prstGeom prst="rect">
                <a:avLst/>
              </a:prstGeom>
            </p:spPr>
          </p:pic>
          <p:sp>
            <p:nvSpPr>
              <p:cNvPr id="123" name="圆角矩形 75">
                <a:extLst>
                  <a:ext uri="{FF2B5EF4-FFF2-40B4-BE49-F238E27FC236}">
                    <a16:creationId xmlns="" xmlns:a16="http://schemas.microsoft.com/office/drawing/2014/main" id="{9C1DB120-11EF-41F8-AD16-27E5640B0CD4}"/>
                  </a:ext>
                </a:extLst>
              </p:cNvPr>
              <p:cNvSpPr/>
              <p:nvPr/>
            </p:nvSpPr>
            <p:spPr bwMode="gray">
              <a:xfrm>
                <a:off x="7917530" y="2389896"/>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24" name="直接箭头连接符 84">
                <a:extLst>
                  <a:ext uri="{FF2B5EF4-FFF2-40B4-BE49-F238E27FC236}">
                    <a16:creationId xmlns="" xmlns:a16="http://schemas.microsoft.com/office/drawing/2014/main" id="{FDF6E0B5-0767-4A08-9852-68BCC23EDE5A}"/>
                  </a:ext>
                </a:extLst>
              </p:cNvPr>
              <p:cNvCxnSpPr>
                <a:cxnSpLocks/>
                <a:stCxn id="75" idx="0"/>
                <a:endCxn id="123" idx="2"/>
              </p:cNvCxnSpPr>
              <p:nvPr/>
            </p:nvCxnSpPr>
            <p:spPr bwMode="gray">
              <a:xfrm flipH="1" flipV="1">
                <a:off x="8975489" y="2793176"/>
                <a:ext cx="2202" cy="1011082"/>
              </a:xfrm>
              <a:prstGeom prst="straightConnector1">
                <a:avLst/>
              </a:prstGeom>
              <a:ln w="19050" cap="flat" cmpd="sng" algn="ctr">
                <a:solidFill>
                  <a:srgbClr val="56C4D2"/>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25" name="TextBox 271">
                <a:extLst>
                  <a:ext uri="{FF2B5EF4-FFF2-40B4-BE49-F238E27FC236}">
                    <a16:creationId xmlns="" xmlns:a16="http://schemas.microsoft.com/office/drawing/2014/main" id="{7EF86993-0C05-4216-B9BB-01A6411F5CC8}"/>
                  </a:ext>
                </a:extLst>
              </p:cNvPr>
              <p:cNvSpPr txBox="1"/>
              <p:nvPr/>
            </p:nvSpPr>
            <p:spPr bwMode="gray">
              <a:xfrm rot="16200000">
                <a:off x="8507946" y="3311606"/>
                <a:ext cx="696024"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TextBox 271">
                <a:extLst>
                  <a:ext uri="{FF2B5EF4-FFF2-40B4-BE49-F238E27FC236}">
                    <a16:creationId xmlns="" xmlns:a16="http://schemas.microsoft.com/office/drawing/2014/main" id="{4C7BAEF4-BCFB-4EC1-B5C5-CF16FFFF5D43}"/>
                  </a:ext>
                </a:extLst>
              </p:cNvPr>
              <p:cNvSpPr txBox="1"/>
              <p:nvPr/>
            </p:nvSpPr>
            <p:spPr bwMode="gray">
              <a:xfrm rot="19599356">
                <a:off x="7272497" y="3127206"/>
                <a:ext cx="1577676"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SR-Policy/PCEP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2" name="图片 31">
                <a:extLst>
                  <a:ext uri="{FF2B5EF4-FFF2-40B4-BE49-F238E27FC236}">
                    <a16:creationId xmlns="" xmlns:a16="http://schemas.microsoft.com/office/drawing/2014/main" id="{65110B3F-B5DA-4F62-9B9C-18085E2C5C41}"/>
                  </a:ext>
                </a:extLst>
              </p:cNvPr>
              <p:cNvPicPr>
                <a:picLocks noChangeAspect="1"/>
              </p:cNvPicPr>
              <p:nvPr/>
            </p:nvPicPr>
            <p:blipFill>
              <a:blip r:embed="rId3"/>
              <a:stretch>
                <a:fillRect/>
              </a:stretch>
            </p:blipFill>
            <p:spPr bwMode="gray">
              <a:xfrm>
                <a:off x="6324443" y="3808041"/>
                <a:ext cx="466668" cy="389308"/>
              </a:xfrm>
              <a:prstGeom prst="rect">
                <a:avLst/>
              </a:prstGeom>
            </p:spPr>
          </p:pic>
          <p:pic>
            <p:nvPicPr>
              <p:cNvPr id="134" name="图片 31">
                <a:extLst>
                  <a:ext uri="{FF2B5EF4-FFF2-40B4-BE49-F238E27FC236}">
                    <a16:creationId xmlns="" xmlns:a16="http://schemas.microsoft.com/office/drawing/2014/main" id="{56F9E21A-F0E0-46AA-BEAA-7319AF2B7795}"/>
                  </a:ext>
                </a:extLst>
              </p:cNvPr>
              <p:cNvPicPr>
                <a:picLocks noChangeAspect="1"/>
              </p:cNvPicPr>
              <p:nvPr/>
            </p:nvPicPr>
            <p:blipFill>
              <a:blip r:embed="rId3"/>
              <a:stretch>
                <a:fillRect/>
              </a:stretch>
            </p:blipFill>
            <p:spPr bwMode="gray">
              <a:xfrm>
                <a:off x="11141613" y="4823062"/>
                <a:ext cx="466668" cy="389308"/>
              </a:xfrm>
              <a:prstGeom prst="rect">
                <a:avLst/>
              </a:prstGeom>
            </p:spPr>
          </p:pic>
          <p:cxnSp>
            <p:nvCxnSpPr>
              <p:cNvPr id="135" name="Straight Connector 134">
                <a:extLst>
                  <a:ext uri="{FF2B5EF4-FFF2-40B4-BE49-F238E27FC236}">
                    <a16:creationId xmlns="" xmlns:a16="http://schemas.microsoft.com/office/drawing/2014/main" id="{C5785BD5-3D90-4F6A-A4A9-3F4662123214}"/>
                  </a:ext>
                </a:extLst>
              </p:cNvPr>
              <p:cNvCxnSpPr>
                <a:cxnSpLocks/>
                <a:stCxn id="132" idx="3"/>
                <a:endCxn id="73" idx="1"/>
              </p:cNvCxnSpPr>
              <p:nvPr/>
            </p:nvCxnSpPr>
            <p:spPr bwMode="gray">
              <a:xfrm>
                <a:off x="6791111" y="4002695"/>
                <a:ext cx="41019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 xmlns:a16="http://schemas.microsoft.com/office/drawing/2014/main" id="{FE98FEAB-A676-4895-9CB8-2AF222537323}"/>
                  </a:ext>
                </a:extLst>
              </p:cNvPr>
              <p:cNvCxnSpPr>
                <a:cxnSpLocks/>
                <a:stCxn id="78" idx="3"/>
                <a:endCxn id="134" idx="1"/>
              </p:cNvCxnSpPr>
              <p:nvPr/>
            </p:nvCxnSpPr>
            <p:spPr bwMode="gray">
              <a:xfrm>
                <a:off x="10754075" y="5017716"/>
                <a:ext cx="38753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 xmlns:a16="http://schemas.microsoft.com/office/drawing/2014/main" id="{08118504-8BE1-46AE-A864-15F9C5939D76}"/>
                  </a:ext>
                </a:extLst>
              </p:cNvPr>
              <p:cNvCxnSpPr>
                <a:cxnSpLocks/>
              </p:cNvCxnSpPr>
              <p:nvPr/>
            </p:nvCxnSpPr>
            <p:spPr bwMode="gray">
              <a:xfrm>
                <a:off x="7497256" y="4056150"/>
                <a:ext cx="1417820" cy="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 xmlns:a16="http://schemas.microsoft.com/office/drawing/2014/main" id="{11670616-DE2B-4CEC-AC84-B7AB8515F167}"/>
                  </a:ext>
                </a:extLst>
              </p:cNvPr>
              <p:cNvCxnSpPr>
                <a:cxnSpLocks/>
              </p:cNvCxnSpPr>
              <p:nvPr/>
            </p:nvCxnSpPr>
            <p:spPr bwMode="gray">
              <a:xfrm>
                <a:off x="8915076" y="4056150"/>
                <a:ext cx="0" cy="89685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 xmlns:a16="http://schemas.microsoft.com/office/drawing/2014/main" id="{906EEA62-5D14-4AC1-B7BC-E7FF9CEE0C45}"/>
                  </a:ext>
                </a:extLst>
              </p:cNvPr>
              <p:cNvCxnSpPr>
                <a:cxnSpLocks/>
              </p:cNvCxnSpPr>
              <p:nvPr/>
            </p:nvCxnSpPr>
            <p:spPr bwMode="gray">
              <a:xfrm>
                <a:off x="8915076" y="4953000"/>
                <a:ext cx="1552006" cy="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接箭头连接符 84">
                <a:extLst>
                  <a:ext uri="{FF2B5EF4-FFF2-40B4-BE49-F238E27FC236}">
                    <a16:creationId xmlns="" xmlns:a16="http://schemas.microsoft.com/office/drawing/2014/main" id="{B9728566-391E-44FB-92AE-B26445963A11}"/>
                  </a:ext>
                </a:extLst>
              </p:cNvPr>
              <p:cNvCxnSpPr>
                <a:cxnSpLocks/>
                <a:stCxn id="121" idx="2"/>
                <a:endCxn id="73" idx="0"/>
              </p:cNvCxnSpPr>
              <p:nvPr/>
            </p:nvCxnSpPr>
            <p:spPr bwMode="gray">
              <a:xfrm flipH="1">
                <a:off x="7434641" y="2780896"/>
                <a:ext cx="1553494" cy="1027145"/>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27" name="直接箭头连接符 84">
                <a:extLst>
                  <a:ext uri="{FF2B5EF4-FFF2-40B4-BE49-F238E27FC236}">
                    <a16:creationId xmlns="" xmlns:a16="http://schemas.microsoft.com/office/drawing/2014/main" id="{3AC2CED5-AB7C-46B9-9BD1-9409DE4EE96B}"/>
                  </a:ext>
                </a:extLst>
              </p:cNvPr>
              <p:cNvCxnSpPr>
                <a:cxnSpLocks/>
                <a:stCxn id="123" idx="2"/>
                <a:endCxn id="77" idx="0"/>
              </p:cNvCxnSpPr>
              <p:nvPr/>
            </p:nvCxnSpPr>
            <p:spPr bwMode="gray">
              <a:xfrm>
                <a:off x="8975489" y="2793176"/>
                <a:ext cx="1545252" cy="1014865"/>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29" name="直接箭头连接符 84">
                <a:extLst>
                  <a:ext uri="{FF2B5EF4-FFF2-40B4-BE49-F238E27FC236}">
                    <a16:creationId xmlns="" xmlns:a16="http://schemas.microsoft.com/office/drawing/2014/main" id="{262952F8-B17A-461D-AAC2-626DE86345EC}"/>
                  </a:ext>
                </a:extLst>
              </p:cNvPr>
              <p:cNvCxnSpPr>
                <a:cxnSpLocks/>
                <a:stCxn id="123" idx="2"/>
                <a:endCxn id="74" idx="0"/>
              </p:cNvCxnSpPr>
              <p:nvPr/>
            </p:nvCxnSpPr>
            <p:spPr bwMode="gray">
              <a:xfrm flipH="1">
                <a:off x="7434641" y="2793176"/>
                <a:ext cx="1540848" cy="2026103"/>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30" name="直接箭头连接符 84">
                <a:extLst>
                  <a:ext uri="{FF2B5EF4-FFF2-40B4-BE49-F238E27FC236}">
                    <a16:creationId xmlns="" xmlns:a16="http://schemas.microsoft.com/office/drawing/2014/main" id="{8526C336-AD16-4CAC-8BE2-7CABBC96C407}"/>
                  </a:ext>
                </a:extLst>
              </p:cNvPr>
              <p:cNvCxnSpPr>
                <a:cxnSpLocks/>
                <a:stCxn id="123" idx="2"/>
                <a:endCxn id="78" idx="0"/>
              </p:cNvCxnSpPr>
              <p:nvPr/>
            </p:nvCxnSpPr>
            <p:spPr bwMode="gray">
              <a:xfrm>
                <a:off x="8975489" y="2793176"/>
                <a:ext cx="1545252" cy="2029886"/>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249" name="Group 248">
                <a:extLst>
                  <a:ext uri="{FF2B5EF4-FFF2-40B4-BE49-F238E27FC236}">
                    <a16:creationId xmlns="" xmlns:a16="http://schemas.microsoft.com/office/drawing/2014/main" id="{526A1F25-3329-4970-BF14-F6ED94FC0EBD}"/>
                  </a:ext>
                </a:extLst>
              </p:cNvPr>
              <p:cNvGrpSpPr/>
              <p:nvPr/>
            </p:nvGrpSpPr>
            <p:grpSpPr bwMode="gray">
              <a:xfrm>
                <a:off x="8318541" y="1763179"/>
                <a:ext cx="1420399" cy="428943"/>
                <a:chOff x="4527430" y="4741950"/>
                <a:chExt cx="2969826" cy="896850"/>
              </a:xfrm>
            </p:grpSpPr>
            <p:cxnSp>
              <p:nvCxnSpPr>
                <p:cNvPr id="153" name="Straight Connector 152">
                  <a:extLst>
                    <a:ext uri="{FF2B5EF4-FFF2-40B4-BE49-F238E27FC236}">
                      <a16:creationId xmlns="" xmlns:a16="http://schemas.microsoft.com/office/drawing/2014/main" id="{A41A1EDC-A04D-4039-B0A4-D2F14431A9F5}"/>
                    </a:ext>
                  </a:extLst>
                </p:cNvPr>
                <p:cNvCxnSpPr>
                  <a:cxnSpLocks/>
                </p:cNvCxnSpPr>
                <p:nvPr/>
              </p:nvCxnSpPr>
              <p:spPr bwMode="gray">
                <a:xfrm>
                  <a:off x="4527430" y="4741950"/>
                  <a:ext cx="1417820"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 xmlns:a16="http://schemas.microsoft.com/office/drawing/2014/main" id="{154F6F9C-6602-42DC-B5F5-82D474697743}"/>
                    </a:ext>
                  </a:extLst>
                </p:cNvPr>
                <p:cNvCxnSpPr>
                  <a:cxnSpLocks/>
                </p:cNvCxnSpPr>
                <p:nvPr/>
              </p:nvCxnSpPr>
              <p:spPr bwMode="gray">
                <a:xfrm>
                  <a:off x="5945250" y="4741950"/>
                  <a:ext cx="0" cy="89685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 xmlns:a16="http://schemas.microsoft.com/office/drawing/2014/main" id="{1E8B743F-4B1F-4167-AC80-0229ED5EB38F}"/>
                    </a:ext>
                  </a:extLst>
                </p:cNvPr>
                <p:cNvCxnSpPr>
                  <a:cxnSpLocks/>
                </p:cNvCxnSpPr>
                <p:nvPr/>
              </p:nvCxnSpPr>
              <p:spPr bwMode="gray">
                <a:xfrm>
                  <a:off x="5945250" y="5638800"/>
                  <a:ext cx="1552006"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58" name="圆角矩形 75">
                <a:extLst>
                  <a:ext uri="{FF2B5EF4-FFF2-40B4-BE49-F238E27FC236}">
                    <a16:creationId xmlns="" xmlns:a16="http://schemas.microsoft.com/office/drawing/2014/main" id="{49343D53-0CFB-44B4-8D90-494720029AB4}"/>
                  </a:ext>
                </a:extLst>
              </p:cNvPr>
              <p:cNvSpPr/>
              <p:nvPr/>
            </p:nvSpPr>
            <p:spPr bwMode="gray">
              <a:xfrm>
                <a:off x="7917530" y="1595875"/>
                <a:ext cx="2115918" cy="79402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59" name="图片 7">
                <a:extLst>
                  <a:ext uri="{FF2B5EF4-FFF2-40B4-BE49-F238E27FC236}">
                    <a16:creationId xmlns="" xmlns:a16="http://schemas.microsoft.com/office/drawing/2014/main" id="{5AE25482-0538-4DB7-9C1E-291050516A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0911434" y="2405231"/>
                <a:ext cx="444352" cy="363854"/>
              </a:xfrm>
              <a:prstGeom prst="rect">
                <a:avLst/>
              </a:prstGeom>
            </p:spPr>
          </p:pic>
          <p:sp>
            <p:nvSpPr>
              <p:cNvPr id="161" name="文本框 24">
                <a:extLst>
                  <a:ext uri="{FF2B5EF4-FFF2-40B4-BE49-F238E27FC236}">
                    <a16:creationId xmlns="" xmlns:a16="http://schemas.microsoft.com/office/drawing/2014/main" id="{318708E7-8F5F-4F78-9027-F0DFCC3EA848}"/>
                  </a:ext>
                </a:extLst>
              </p:cNvPr>
              <p:cNvSpPr txBox="1"/>
              <p:nvPr/>
            </p:nvSpPr>
            <p:spPr bwMode="gray">
              <a:xfrm>
                <a:off x="10640984" y="2747305"/>
                <a:ext cx="954107"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网络管理员</a:t>
                </a:r>
              </a:p>
            </p:txBody>
          </p:sp>
          <p:cxnSp>
            <p:nvCxnSpPr>
              <p:cNvPr id="251" name="Straight Arrow Connector 250">
                <a:extLst>
                  <a:ext uri="{FF2B5EF4-FFF2-40B4-BE49-F238E27FC236}">
                    <a16:creationId xmlns="" xmlns:a16="http://schemas.microsoft.com/office/drawing/2014/main" id="{BC510374-16AB-4AB0-A9E7-C72AB51881DB}"/>
                  </a:ext>
                </a:extLst>
              </p:cNvPr>
              <p:cNvCxnSpPr>
                <a:cxnSpLocks/>
              </p:cNvCxnSpPr>
              <p:nvPr/>
            </p:nvCxnSpPr>
            <p:spPr bwMode="gray">
              <a:xfrm flipH="1">
                <a:off x="10115438" y="2587158"/>
                <a:ext cx="728775"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椭圆 15">
                <a:extLst>
                  <a:ext uri="{FF2B5EF4-FFF2-40B4-BE49-F238E27FC236}">
                    <a16:creationId xmlns="" xmlns:a16="http://schemas.microsoft.com/office/drawing/2014/main" id="{431BEA57-A9DB-46D6-9F8E-FBA2D6C0960B}"/>
                  </a:ext>
                </a:extLst>
              </p:cNvPr>
              <p:cNvSpPr>
                <a:spLocks noChangeAspect="1"/>
              </p:cNvSpPr>
              <p:nvPr/>
            </p:nvSpPr>
            <p:spPr bwMode="gray">
              <a:xfrm>
                <a:off x="10419667" y="2169594"/>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文本框 24">
                <a:extLst>
                  <a:ext uri="{FF2B5EF4-FFF2-40B4-BE49-F238E27FC236}">
                    <a16:creationId xmlns="" xmlns:a16="http://schemas.microsoft.com/office/drawing/2014/main" id="{A46CD3DF-8450-4655-B56A-F94B5D53E180}"/>
                  </a:ext>
                </a:extLst>
              </p:cNvPr>
              <p:cNvSpPr txBox="1"/>
              <p:nvPr/>
            </p:nvSpPr>
            <p:spPr bwMode="gray">
              <a:xfrm>
                <a:off x="10120631" y="2325306"/>
                <a:ext cx="800219"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输入需求</a:t>
                </a:r>
              </a:p>
            </p:txBody>
          </p:sp>
          <p:sp>
            <p:nvSpPr>
              <p:cNvPr id="169" name="Rectangular Callout 26">
                <a:extLst>
                  <a:ext uri="{FF2B5EF4-FFF2-40B4-BE49-F238E27FC236}">
                    <a16:creationId xmlns="" xmlns:a16="http://schemas.microsoft.com/office/drawing/2014/main" id="{9EE98414-42A3-4BF1-BA93-E7BBA1E52E35}"/>
                  </a:ext>
                </a:extLst>
              </p:cNvPr>
              <p:cNvSpPr/>
              <p:nvPr/>
            </p:nvSpPr>
            <p:spPr bwMode="gray">
              <a:xfrm>
                <a:off x="6541569" y="1780642"/>
                <a:ext cx="971334" cy="388952"/>
              </a:xfrm>
              <a:prstGeom prst="wedgeRectCallout">
                <a:avLst>
                  <a:gd name="adj1" fmla="val 50756"/>
                  <a:gd name="adj2" fmla="val 8014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控制器自动规划路径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Shape 31">
                <a:extLst>
                  <a:ext uri="{FF2B5EF4-FFF2-40B4-BE49-F238E27FC236}">
                    <a16:creationId xmlns="" xmlns:a16="http://schemas.microsoft.com/office/drawing/2014/main" id="{213D1D50-2CD8-4077-9D81-3D3AEE7E9A92}"/>
                  </a:ext>
                </a:extLst>
              </p:cNvPr>
              <p:cNvSpPr/>
              <p:nvPr/>
            </p:nvSpPr>
            <p:spPr bwMode="gray">
              <a:xfrm>
                <a:off x="7578365" y="2124075"/>
                <a:ext cx="304812" cy="438150"/>
              </a:xfrm>
              <a:custGeom>
                <a:avLst/>
                <a:gdLst>
                  <a:gd name="connsiteX0" fmla="*/ 304812 w 304812"/>
                  <a:gd name="connsiteY0" fmla="*/ 438150 h 438150"/>
                  <a:gd name="connsiteX1" fmla="*/ 12 w 304812"/>
                  <a:gd name="connsiteY1" fmla="*/ 200025 h 438150"/>
                  <a:gd name="connsiteX2" fmla="*/ 295287 w 304812"/>
                  <a:gd name="connsiteY2" fmla="*/ 0 h 438150"/>
                </a:gdLst>
                <a:ahLst/>
                <a:cxnLst>
                  <a:cxn ang="0">
                    <a:pos x="connsiteX0" y="connsiteY0"/>
                  </a:cxn>
                  <a:cxn ang="0">
                    <a:pos x="connsiteX1" y="connsiteY1"/>
                  </a:cxn>
                  <a:cxn ang="0">
                    <a:pos x="connsiteX2" y="connsiteY2"/>
                  </a:cxn>
                </a:cxnLst>
                <a:rect l="l" t="t" r="r" b="b"/>
                <a:pathLst>
                  <a:path w="304812" h="438150">
                    <a:moveTo>
                      <a:pt x="304812" y="438150"/>
                    </a:moveTo>
                    <a:cubicBezTo>
                      <a:pt x="153205" y="355600"/>
                      <a:pt x="1599" y="273050"/>
                      <a:pt x="12" y="200025"/>
                    </a:cubicBezTo>
                    <a:cubicBezTo>
                      <a:pt x="-1575" y="127000"/>
                      <a:pt x="146856" y="63500"/>
                      <a:pt x="295287" y="0"/>
                    </a:cubicBezTo>
                  </a:path>
                </a:pathLst>
              </a:custGeom>
              <a:noFill/>
              <a:ln w="28575">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椭圆 15">
                <a:extLst>
                  <a:ext uri="{FF2B5EF4-FFF2-40B4-BE49-F238E27FC236}">
                    <a16:creationId xmlns="" xmlns:a16="http://schemas.microsoft.com/office/drawing/2014/main" id="{4560D85F-7CAE-4D31-86DB-1DE09FF6E54A}"/>
                  </a:ext>
                </a:extLst>
              </p:cNvPr>
              <p:cNvSpPr>
                <a:spLocks noChangeAspect="1"/>
              </p:cNvSpPr>
              <p:nvPr/>
            </p:nvSpPr>
            <p:spPr bwMode="gray">
              <a:xfrm>
                <a:off x="6451982" y="1685239"/>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Rectangular Callout 26">
                <a:extLst>
                  <a:ext uri="{FF2B5EF4-FFF2-40B4-BE49-F238E27FC236}">
                    <a16:creationId xmlns="" xmlns:a16="http://schemas.microsoft.com/office/drawing/2014/main" id="{F3AB921C-CE5C-4843-A4DE-0FC763151081}"/>
                  </a:ext>
                </a:extLst>
              </p:cNvPr>
              <p:cNvSpPr/>
              <p:nvPr/>
            </p:nvSpPr>
            <p:spPr bwMode="gray">
              <a:xfrm>
                <a:off x="9107534" y="3150169"/>
                <a:ext cx="643742" cy="388952"/>
              </a:xfrm>
              <a:prstGeom prst="wedgeRectCallout">
                <a:avLst>
                  <a:gd name="adj1" fmla="val -67898"/>
                  <a:gd name="adj2" fmla="val -227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上报网络拓扑</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椭圆 15">
                <a:extLst>
                  <a:ext uri="{FF2B5EF4-FFF2-40B4-BE49-F238E27FC236}">
                    <a16:creationId xmlns="" xmlns:a16="http://schemas.microsoft.com/office/drawing/2014/main" id="{E5EF62BF-0B97-4FAB-B8FC-CAA29415BE1F}"/>
                  </a:ext>
                </a:extLst>
              </p:cNvPr>
              <p:cNvSpPr>
                <a:spLocks noChangeAspect="1"/>
              </p:cNvSpPr>
              <p:nvPr/>
            </p:nvSpPr>
            <p:spPr bwMode="gray">
              <a:xfrm>
                <a:off x="9666785" y="3054766"/>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Rectangular Callout 26">
                <a:extLst>
                  <a:ext uri="{FF2B5EF4-FFF2-40B4-BE49-F238E27FC236}">
                    <a16:creationId xmlns="" xmlns:a16="http://schemas.microsoft.com/office/drawing/2014/main" id="{3B5BABD1-2607-42BD-A38D-CEDFAF2EC57B}"/>
                  </a:ext>
                </a:extLst>
              </p:cNvPr>
              <p:cNvSpPr/>
              <p:nvPr/>
            </p:nvSpPr>
            <p:spPr bwMode="gray">
              <a:xfrm>
                <a:off x="6778254" y="3162583"/>
                <a:ext cx="643742" cy="388952"/>
              </a:xfrm>
              <a:prstGeom prst="wedgeRectCallout">
                <a:avLst>
                  <a:gd name="adj1" fmla="val 71187"/>
                  <a:gd name="adj2" fmla="val 2137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部署转发路径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椭圆 15">
                <a:extLst>
                  <a:ext uri="{FF2B5EF4-FFF2-40B4-BE49-F238E27FC236}">
                    <a16:creationId xmlns="" xmlns:a16="http://schemas.microsoft.com/office/drawing/2014/main" id="{76761CF7-6D2D-41AF-B8E4-08340DEAC2FB}"/>
                  </a:ext>
                </a:extLst>
              </p:cNvPr>
              <p:cNvSpPr>
                <a:spLocks noChangeAspect="1"/>
              </p:cNvSpPr>
              <p:nvPr/>
            </p:nvSpPr>
            <p:spPr bwMode="gray">
              <a:xfrm>
                <a:off x="6685482" y="3074900"/>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Tree>
    <p:extLst>
      <p:ext uri="{BB962C8B-B14F-4D97-AF65-F5344CB8AC3E}">
        <p14:creationId xmlns:p14="http://schemas.microsoft.com/office/powerpoint/2010/main" val="25453546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91C6AA-A994-492A-8300-17663794288B}"/>
              </a:ext>
            </a:extLst>
          </p:cNvPr>
          <p:cNvSpPr>
            <a:spLocks noGrp="1"/>
          </p:cNvSpPr>
          <p:nvPr>
            <p:ph type="title"/>
          </p:nvPr>
        </p:nvSpPr>
        <p:spPr bwMode="gray"/>
        <p:txBody>
          <a:bodyPr/>
          <a:lstStyle/>
          <a:p>
            <a:r>
              <a:rPr lang="zh-CN" altLang="en-US" dirty="0"/>
              <a:t>网络性能监控与调优概述</a:t>
            </a:r>
            <a:endParaRPr lang="en-US" dirty="0"/>
          </a:p>
        </p:txBody>
      </p:sp>
      <p:sp>
        <p:nvSpPr>
          <p:cNvPr id="6" name="Text Placeholder 5">
            <a:extLst>
              <a:ext uri="{FF2B5EF4-FFF2-40B4-BE49-F238E27FC236}">
                <a16:creationId xmlns="" xmlns:a16="http://schemas.microsoft.com/office/drawing/2014/main" id="{2EC13EB0-AA78-400F-8CB9-6B3AB6465FDA}"/>
              </a:ext>
            </a:extLst>
          </p:cNvPr>
          <p:cNvSpPr>
            <a:spLocks noGrp="1"/>
          </p:cNvSpPr>
          <p:nvPr>
            <p:ph type="body" sz="quarter" idx="10"/>
          </p:nvPr>
        </p:nvSpPr>
        <p:spPr bwMode="gray">
          <a:xfrm>
            <a:off x="455613" y="1047750"/>
            <a:ext cx="5640388" cy="4879805"/>
          </a:xfrm>
        </p:spPr>
        <p:txBody>
          <a:bodyPr/>
          <a:lstStyle/>
          <a:p>
            <a:r>
              <a:rPr lang="zh-CN" altLang="en-US" sz="1800" dirty="0"/>
              <a:t>随着网络的快速普及，越来越多的企业业务被网络承载，企业业务对于网络的要求越来越高，因此需要提供快速、灵活的</a:t>
            </a:r>
            <a:r>
              <a:rPr lang="en-US" altLang="zh-CN" sz="1800" dirty="0"/>
              <a:t>IP</a:t>
            </a:r>
            <a:r>
              <a:rPr lang="zh-CN" altLang="en-US" sz="1800" dirty="0"/>
              <a:t>网络性能统计工具，便于及时了解网络的性能状况。</a:t>
            </a:r>
            <a:endParaRPr lang="en-US" altLang="zh-CN" sz="1800" dirty="0"/>
          </a:p>
          <a:p>
            <a:r>
              <a:rPr lang="zh-CN" altLang="en-US" sz="1800" dirty="0"/>
              <a:t>华为云广域网络解决方案通过</a:t>
            </a:r>
            <a:r>
              <a:rPr lang="en-US" altLang="zh-CN" sz="1800" dirty="0"/>
              <a:t>TWAMP</a:t>
            </a:r>
            <a:r>
              <a:rPr lang="zh-CN" altLang="en-US" sz="1800" dirty="0"/>
              <a:t>与</a:t>
            </a:r>
            <a:r>
              <a:rPr lang="en-US" altLang="zh-CN" sz="1800" dirty="0"/>
              <a:t>IFIT</a:t>
            </a:r>
            <a:r>
              <a:rPr lang="zh-CN" altLang="en-US" sz="1800" dirty="0"/>
              <a:t>技术可以精确快速地测量出网络的历史与实时性能。</a:t>
            </a:r>
            <a:endParaRPr lang="en-US" altLang="zh-CN" sz="1800" dirty="0"/>
          </a:p>
          <a:p>
            <a:r>
              <a:rPr lang="zh-CN" altLang="en-US" sz="1800" dirty="0"/>
              <a:t>基于实时网络性能，控制器可以通过</a:t>
            </a:r>
            <a:r>
              <a:rPr lang="en-US" altLang="zh-CN" sz="1800" dirty="0"/>
              <a:t>PCEP</a:t>
            </a:r>
            <a:r>
              <a:rPr lang="zh-CN" altLang="en-US" sz="1800" dirty="0"/>
              <a:t>或</a:t>
            </a:r>
            <a:r>
              <a:rPr lang="en-US" altLang="zh-CN" sz="1800" dirty="0"/>
              <a:t>BGP SR-Policy</a:t>
            </a:r>
            <a:r>
              <a:rPr lang="zh-CN" altLang="en-US" sz="1800" dirty="0"/>
              <a:t>调优网络。</a:t>
            </a:r>
            <a:endParaRPr lang="en-US" altLang="zh-CN" sz="1800" dirty="0"/>
          </a:p>
        </p:txBody>
      </p:sp>
      <p:sp>
        <p:nvSpPr>
          <p:cNvPr id="3" name="五边形 2">
            <a:extLst>
              <a:ext uri="{FF2B5EF4-FFF2-40B4-BE49-F238E27FC236}">
                <a16:creationId xmlns="" xmlns:a16="http://schemas.microsoft.com/office/drawing/2014/main" id="{30098A2D-4F7A-45B5-980E-425FB6EE7901}"/>
              </a:ext>
            </a:extLst>
          </p:cNvPr>
          <p:cNvSpPr/>
          <p:nvPr/>
        </p:nvSpPr>
        <p:spPr bwMode="gray">
          <a:xfrm>
            <a:off x="8199710" y="49524"/>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4" name="燕尾形 3">
            <a:extLst>
              <a:ext uri="{FF2B5EF4-FFF2-40B4-BE49-F238E27FC236}">
                <a16:creationId xmlns="" xmlns:a16="http://schemas.microsoft.com/office/drawing/2014/main" id="{EA631AC1-2EC3-4964-B7A3-C8D693B7E508}"/>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E0318515-502A-457A-923E-197C0425225D}"/>
              </a:ext>
            </a:extLst>
          </p:cNvPr>
          <p:cNvSpPr/>
          <p:nvPr/>
        </p:nvSpPr>
        <p:spPr bwMode="gray">
          <a:xfrm>
            <a:off x="9319110" y="4952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6"/>
          <p:cNvGrpSpPr/>
          <p:nvPr/>
        </p:nvGrpSpPr>
        <p:grpSpPr>
          <a:xfrm>
            <a:off x="6258142" y="1324573"/>
            <a:ext cx="5313867" cy="4391840"/>
            <a:chOff x="6258142" y="1324573"/>
            <a:chExt cx="5313867" cy="4391840"/>
          </a:xfrm>
        </p:grpSpPr>
        <p:sp>
          <p:nvSpPr>
            <p:cNvPr id="73" name="Oval 41">
              <a:extLst>
                <a:ext uri="{FF2B5EF4-FFF2-40B4-BE49-F238E27FC236}">
                  <a16:creationId xmlns="" xmlns:a16="http://schemas.microsoft.com/office/drawing/2014/main" id="{6DA44759-4C88-41B5-AC7F-E7168F84E08F}"/>
                </a:ext>
              </a:extLst>
            </p:cNvPr>
            <p:cNvSpPr>
              <a:spLocks noChangeAspect="1"/>
            </p:cNvSpPr>
            <p:nvPr/>
          </p:nvSpPr>
          <p:spPr bwMode="gray">
            <a:xfrm>
              <a:off x="8120079" y="142932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4" name="Oval 41">
              <a:extLst>
                <a:ext uri="{FF2B5EF4-FFF2-40B4-BE49-F238E27FC236}">
                  <a16:creationId xmlns="" xmlns:a16="http://schemas.microsoft.com/office/drawing/2014/main" id="{98F0AC77-2A09-4B0B-90F7-2A481BEF92FD}"/>
                </a:ext>
              </a:extLst>
            </p:cNvPr>
            <p:cNvSpPr>
              <a:spLocks noChangeAspect="1"/>
            </p:cNvSpPr>
            <p:nvPr/>
          </p:nvSpPr>
          <p:spPr bwMode="gray">
            <a:xfrm>
              <a:off x="9582430" y="142932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5" name="Oval 41">
              <a:extLst>
                <a:ext uri="{FF2B5EF4-FFF2-40B4-BE49-F238E27FC236}">
                  <a16:creationId xmlns="" xmlns:a16="http://schemas.microsoft.com/office/drawing/2014/main" id="{6D976C71-67C4-4814-B727-A918C28E8BCC}"/>
                </a:ext>
              </a:extLst>
            </p:cNvPr>
            <p:cNvSpPr>
              <a:spLocks noChangeAspect="1"/>
            </p:cNvSpPr>
            <p:nvPr/>
          </p:nvSpPr>
          <p:spPr bwMode="gray">
            <a:xfrm>
              <a:off x="8828856" y="142932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6" name="Oval 41">
              <a:extLst>
                <a:ext uri="{FF2B5EF4-FFF2-40B4-BE49-F238E27FC236}">
                  <a16:creationId xmlns="" xmlns:a16="http://schemas.microsoft.com/office/drawing/2014/main" id="{BE6A06DE-0E29-4D34-ACEB-84DE055D85FA}"/>
                </a:ext>
              </a:extLst>
            </p:cNvPr>
            <p:cNvSpPr>
              <a:spLocks noChangeAspect="1"/>
            </p:cNvSpPr>
            <p:nvPr/>
          </p:nvSpPr>
          <p:spPr bwMode="gray">
            <a:xfrm>
              <a:off x="9579281" y="184809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pic>
          <p:nvPicPr>
            <p:cNvPr id="60" name="图片 31">
              <a:extLst>
                <a:ext uri="{FF2B5EF4-FFF2-40B4-BE49-F238E27FC236}">
                  <a16:creationId xmlns="" xmlns:a16="http://schemas.microsoft.com/office/drawing/2014/main" id="{5C6394CC-CF9A-43CE-8E45-7931984EC311}"/>
                </a:ext>
              </a:extLst>
            </p:cNvPr>
            <p:cNvPicPr>
              <a:picLocks noChangeAspect="1"/>
            </p:cNvPicPr>
            <p:nvPr/>
          </p:nvPicPr>
          <p:blipFill>
            <a:blip r:embed="rId3"/>
            <a:stretch>
              <a:fillRect/>
            </a:stretch>
          </p:blipFill>
          <p:spPr bwMode="gray">
            <a:xfrm>
              <a:off x="7165035" y="3536739"/>
              <a:ext cx="466668" cy="389308"/>
            </a:xfrm>
            <a:prstGeom prst="rect">
              <a:avLst/>
            </a:prstGeom>
          </p:spPr>
        </p:pic>
        <p:pic>
          <p:nvPicPr>
            <p:cNvPr id="61" name="图片 31">
              <a:extLst>
                <a:ext uri="{FF2B5EF4-FFF2-40B4-BE49-F238E27FC236}">
                  <a16:creationId xmlns="" xmlns:a16="http://schemas.microsoft.com/office/drawing/2014/main" id="{9BA38704-2124-46EA-ABC5-2EFDD7526B92}"/>
                </a:ext>
              </a:extLst>
            </p:cNvPr>
            <p:cNvPicPr>
              <a:picLocks noChangeAspect="1"/>
            </p:cNvPicPr>
            <p:nvPr/>
          </p:nvPicPr>
          <p:blipFill>
            <a:blip r:embed="rId3"/>
            <a:stretch>
              <a:fillRect/>
            </a:stretch>
          </p:blipFill>
          <p:spPr bwMode="gray">
            <a:xfrm>
              <a:off x="7165035" y="4547977"/>
              <a:ext cx="466668" cy="389308"/>
            </a:xfrm>
            <a:prstGeom prst="rect">
              <a:avLst/>
            </a:prstGeom>
          </p:spPr>
        </p:pic>
        <p:pic>
          <p:nvPicPr>
            <p:cNvPr id="62" name="图片 31">
              <a:extLst>
                <a:ext uri="{FF2B5EF4-FFF2-40B4-BE49-F238E27FC236}">
                  <a16:creationId xmlns="" xmlns:a16="http://schemas.microsoft.com/office/drawing/2014/main" id="{27855C34-8782-455D-920C-8C211B02B5FC}"/>
                </a:ext>
              </a:extLst>
            </p:cNvPr>
            <p:cNvPicPr>
              <a:picLocks noChangeAspect="1"/>
            </p:cNvPicPr>
            <p:nvPr/>
          </p:nvPicPr>
          <p:blipFill>
            <a:blip r:embed="rId3"/>
            <a:stretch>
              <a:fillRect/>
            </a:stretch>
          </p:blipFill>
          <p:spPr bwMode="gray">
            <a:xfrm>
              <a:off x="8708085" y="3532956"/>
              <a:ext cx="466668" cy="389308"/>
            </a:xfrm>
            <a:prstGeom prst="rect">
              <a:avLst/>
            </a:prstGeom>
          </p:spPr>
        </p:pic>
        <p:pic>
          <p:nvPicPr>
            <p:cNvPr id="63" name="图片 31">
              <a:extLst>
                <a:ext uri="{FF2B5EF4-FFF2-40B4-BE49-F238E27FC236}">
                  <a16:creationId xmlns="" xmlns:a16="http://schemas.microsoft.com/office/drawing/2014/main" id="{DC2C6B99-6AA9-4C7B-8304-976661992BC9}"/>
                </a:ext>
              </a:extLst>
            </p:cNvPr>
            <p:cNvPicPr>
              <a:picLocks noChangeAspect="1"/>
            </p:cNvPicPr>
            <p:nvPr/>
          </p:nvPicPr>
          <p:blipFill>
            <a:blip r:embed="rId3"/>
            <a:stretch>
              <a:fillRect/>
            </a:stretch>
          </p:blipFill>
          <p:spPr bwMode="gray">
            <a:xfrm>
              <a:off x="8708085" y="4547977"/>
              <a:ext cx="466668" cy="389308"/>
            </a:xfrm>
            <a:prstGeom prst="rect">
              <a:avLst/>
            </a:prstGeom>
          </p:spPr>
        </p:pic>
        <p:pic>
          <p:nvPicPr>
            <p:cNvPr id="64" name="图片 31">
              <a:extLst>
                <a:ext uri="{FF2B5EF4-FFF2-40B4-BE49-F238E27FC236}">
                  <a16:creationId xmlns="" xmlns:a16="http://schemas.microsoft.com/office/drawing/2014/main" id="{D518BB09-19E4-47C6-A1DB-B289F5B7B56C}"/>
                </a:ext>
              </a:extLst>
            </p:cNvPr>
            <p:cNvPicPr>
              <a:picLocks noChangeAspect="1"/>
            </p:cNvPicPr>
            <p:nvPr/>
          </p:nvPicPr>
          <p:blipFill>
            <a:blip r:embed="rId3"/>
            <a:stretch>
              <a:fillRect/>
            </a:stretch>
          </p:blipFill>
          <p:spPr bwMode="gray">
            <a:xfrm>
              <a:off x="10251135" y="3536739"/>
              <a:ext cx="466668" cy="389308"/>
            </a:xfrm>
            <a:prstGeom prst="rect">
              <a:avLst/>
            </a:prstGeom>
          </p:spPr>
        </p:pic>
        <p:pic>
          <p:nvPicPr>
            <p:cNvPr id="65" name="图片 31">
              <a:extLst>
                <a:ext uri="{FF2B5EF4-FFF2-40B4-BE49-F238E27FC236}">
                  <a16:creationId xmlns="" xmlns:a16="http://schemas.microsoft.com/office/drawing/2014/main" id="{61C60AF7-8B46-4006-993B-CA2D0E60CB35}"/>
                </a:ext>
              </a:extLst>
            </p:cNvPr>
            <p:cNvPicPr>
              <a:picLocks noChangeAspect="1"/>
            </p:cNvPicPr>
            <p:nvPr/>
          </p:nvPicPr>
          <p:blipFill>
            <a:blip r:embed="rId3"/>
            <a:stretch>
              <a:fillRect/>
            </a:stretch>
          </p:blipFill>
          <p:spPr bwMode="gray">
            <a:xfrm>
              <a:off x="10251135" y="4551760"/>
              <a:ext cx="466668" cy="389308"/>
            </a:xfrm>
            <a:prstGeom prst="rect">
              <a:avLst/>
            </a:prstGeom>
          </p:spPr>
        </p:pic>
        <p:cxnSp>
          <p:nvCxnSpPr>
            <p:cNvPr id="66" name="Straight Connector 65">
              <a:extLst>
                <a:ext uri="{FF2B5EF4-FFF2-40B4-BE49-F238E27FC236}">
                  <a16:creationId xmlns="" xmlns:a16="http://schemas.microsoft.com/office/drawing/2014/main" id="{12C1A9F4-7C6C-46E1-9B2C-3782C9EC32C9}"/>
                </a:ext>
              </a:extLst>
            </p:cNvPr>
            <p:cNvCxnSpPr>
              <a:cxnSpLocks/>
              <a:stCxn id="60" idx="3"/>
              <a:endCxn id="62" idx="1"/>
            </p:cNvCxnSpPr>
            <p:nvPr/>
          </p:nvCxnSpPr>
          <p:spPr bwMode="gray">
            <a:xfrm flipV="1">
              <a:off x="7631703" y="3727610"/>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 xmlns:a16="http://schemas.microsoft.com/office/drawing/2014/main" id="{87AA4CA8-99D0-4DAD-9280-5E3DBD261AC8}"/>
                </a:ext>
              </a:extLst>
            </p:cNvPr>
            <p:cNvCxnSpPr>
              <a:cxnSpLocks/>
              <a:stCxn id="61" idx="3"/>
              <a:endCxn id="63" idx="1"/>
            </p:cNvCxnSpPr>
            <p:nvPr/>
          </p:nvCxnSpPr>
          <p:spPr bwMode="gray">
            <a:xfrm>
              <a:off x="7631703" y="4742631"/>
              <a:ext cx="10763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 xmlns:a16="http://schemas.microsoft.com/office/drawing/2014/main" id="{A23F075B-5AA9-41A3-B7B9-E93A2999E5B6}"/>
                </a:ext>
              </a:extLst>
            </p:cNvPr>
            <p:cNvCxnSpPr>
              <a:cxnSpLocks/>
              <a:stCxn id="60" idx="2"/>
              <a:endCxn id="61" idx="0"/>
            </p:cNvCxnSpPr>
            <p:nvPr/>
          </p:nvCxnSpPr>
          <p:spPr bwMode="gray">
            <a:xfrm>
              <a:off x="7398369" y="3926047"/>
              <a:ext cx="0" cy="62193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 xmlns:a16="http://schemas.microsoft.com/office/drawing/2014/main" id="{A3BB2F69-D84E-49C1-9F93-7C0618DDF864}"/>
                </a:ext>
              </a:extLst>
            </p:cNvPr>
            <p:cNvCxnSpPr>
              <a:cxnSpLocks/>
              <a:stCxn id="62" idx="2"/>
              <a:endCxn id="63" idx="0"/>
            </p:cNvCxnSpPr>
            <p:nvPr/>
          </p:nvCxnSpPr>
          <p:spPr bwMode="blackGray">
            <a:xfrm>
              <a:off x="8941419" y="3922264"/>
              <a:ext cx="0" cy="625713"/>
            </a:xfrm>
            <a:prstGeom prst="line">
              <a:avLst/>
            </a:prstGeom>
            <a:ln w="19050">
              <a:solidFill>
                <a:srgbClr val="E28198"/>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 xmlns:a16="http://schemas.microsoft.com/office/drawing/2014/main" id="{67EDAC28-FDAF-43DB-ACED-A7738C3E8150}"/>
                </a:ext>
              </a:extLst>
            </p:cNvPr>
            <p:cNvCxnSpPr>
              <a:cxnSpLocks/>
              <a:stCxn id="64" idx="2"/>
              <a:endCxn id="65" idx="0"/>
            </p:cNvCxnSpPr>
            <p:nvPr/>
          </p:nvCxnSpPr>
          <p:spPr bwMode="gray">
            <a:xfrm>
              <a:off x="10484469" y="3926047"/>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 xmlns:a16="http://schemas.microsoft.com/office/drawing/2014/main" id="{7E761CE6-CBA9-4A4B-AC92-8166F41EEF15}"/>
                </a:ext>
              </a:extLst>
            </p:cNvPr>
            <p:cNvCxnSpPr>
              <a:cxnSpLocks/>
              <a:stCxn id="65" idx="1"/>
              <a:endCxn id="63" idx="3"/>
            </p:cNvCxnSpPr>
            <p:nvPr/>
          </p:nvCxnSpPr>
          <p:spPr bwMode="gray">
            <a:xfrm flipH="1" flipV="1">
              <a:off x="9174753" y="4742631"/>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 xmlns:a16="http://schemas.microsoft.com/office/drawing/2014/main" id="{D9B8DE46-F8B5-4674-BE12-02731522715A}"/>
                </a:ext>
              </a:extLst>
            </p:cNvPr>
            <p:cNvCxnSpPr>
              <a:cxnSpLocks/>
              <a:stCxn id="64" idx="1"/>
              <a:endCxn id="62" idx="3"/>
            </p:cNvCxnSpPr>
            <p:nvPr/>
          </p:nvCxnSpPr>
          <p:spPr bwMode="gray">
            <a:xfrm flipH="1" flipV="1">
              <a:off x="9174753" y="3727610"/>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TextBox 271">
              <a:extLst>
                <a:ext uri="{FF2B5EF4-FFF2-40B4-BE49-F238E27FC236}">
                  <a16:creationId xmlns="" xmlns:a16="http://schemas.microsoft.com/office/drawing/2014/main" id="{B414DA26-C44B-43EB-9FBE-F30905F15BD6}"/>
                </a:ext>
              </a:extLst>
            </p:cNvPr>
            <p:cNvSpPr txBox="1"/>
            <p:nvPr/>
          </p:nvSpPr>
          <p:spPr bwMode="gray">
            <a:xfrm>
              <a:off x="8592468" y="3843702"/>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271">
              <a:extLst>
                <a:ext uri="{FF2B5EF4-FFF2-40B4-BE49-F238E27FC236}">
                  <a16:creationId xmlns="" xmlns:a16="http://schemas.microsoft.com/office/drawing/2014/main" id="{2B3FA7A3-5C2F-43CA-A384-94708C95EDD2}"/>
                </a:ext>
              </a:extLst>
            </p:cNvPr>
            <p:cNvSpPr txBox="1"/>
            <p:nvPr/>
          </p:nvSpPr>
          <p:spPr bwMode="gray">
            <a:xfrm>
              <a:off x="6994554" y="3843702"/>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271">
              <a:extLst>
                <a:ext uri="{FF2B5EF4-FFF2-40B4-BE49-F238E27FC236}">
                  <a16:creationId xmlns="" xmlns:a16="http://schemas.microsoft.com/office/drawing/2014/main" id="{81E3CD1B-305F-4FC2-89D8-F58F45978520}"/>
                </a:ext>
              </a:extLst>
            </p:cNvPr>
            <p:cNvSpPr txBox="1"/>
            <p:nvPr/>
          </p:nvSpPr>
          <p:spPr bwMode="gray">
            <a:xfrm>
              <a:off x="6994554" y="4327132"/>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271">
              <a:extLst>
                <a:ext uri="{FF2B5EF4-FFF2-40B4-BE49-F238E27FC236}">
                  <a16:creationId xmlns="" xmlns:a16="http://schemas.microsoft.com/office/drawing/2014/main" id="{F122CE76-A87C-4B44-A361-7A82D21D68A0}"/>
                </a:ext>
              </a:extLst>
            </p:cNvPr>
            <p:cNvSpPr txBox="1"/>
            <p:nvPr/>
          </p:nvSpPr>
          <p:spPr bwMode="gray">
            <a:xfrm>
              <a:off x="8601620" y="4345935"/>
              <a:ext cx="359394"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271">
              <a:extLst>
                <a:ext uri="{FF2B5EF4-FFF2-40B4-BE49-F238E27FC236}">
                  <a16:creationId xmlns="" xmlns:a16="http://schemas.microsoft.com/office/drawing/2014/main" id="{135CEBE0-00E7-4371-B25D-73700E6F2660}"/>
                </a:ext>
              </a:extLst>
            </p:cNvPr>
            <p:cNvSpPr txBox="1"/>
            <p:nvPr/>
          </p:nvSpPr>
          <p:spPr bwMode="gray">
            <a:xfrm>
              <a:off x="10549055" y="4345935"/>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271">
              <a:extLst>
                <a:ext uri="{FF2B5EF4-FFF2-40B4-BE49-F238E27FC236}">
                  <a16:creationId xmlns="" xmlns:a16="http://schemas.microsoft.com/office/drawing/2014/main" id="{DA82EA9D-DAFA-49D5-A496-2B1AFCFDD834}"/>
                </a:ext>
              </a:extLst>
            </p:cNvPr>
            <p:cNvSpPr txBox="1"/>
            <p:nvPr/>
          </p:nvSpPr>
          <p:spPr bwMode="gray">
            <a:xfrm>
              <a:off x="10564295" y="3851896"/>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9" name="图片 24">
              <a:extLst>
                <a:ext uri="{FF2B5EF4-FFF2-40B4-BE49-F238E27FC236}">
                  <a16:creationId xmlns="" xmlns:a16="http://schemas.microsoft.com/office/drawing/2014/main" id="{1AF02520-EC4C-4567-9BAB-65CB30F2C2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963248" y="2144940"/>
              <a:ext cx="1977229" cy="364654"/>
            </a:xfrm>
            <a:prstGeom prst="rect">
              <a:avLst/>
            </a:prstGeom>
          </p:spPr>
        </p:pic>
        <p:sp>
          <p:nvSpPr>
            <p:cNvPr id="91" name="圆角矩形 75">
              <a:extLst>
                <a:ext uri="{FF2B5EF4-FFF2-40B4-BE49-F238E27FC236}">
                  <a16:creationId xmlns="" xmlns:a16="http://schemas.microsoft.com/office/drawing/2014/main" id="{16279406-14D5-4BBB-B215-A8EF55553950}"/>
                </a:ext>
              </a:extLst>
            </p:cNvPr>
            <p:cNvSpPr/>
            <p:nvPr/>
          </p:nvSpPr>
          <p:spPr bwMode="gray">
            <a:xfrm>
              <a:off x="7881258" y="2118594"/>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92" name="直接箭头连接符 84">
              <a:extLst>
                <a:ext uri="{FF2B5EF4-FFF2-40B4-BE49-F238E27FC236}">
                  <a16:creationId xmlns="" xmlns:a16="http://schemas.microsoft.com/office/drawing/2014/main" id="{0E992CCF-9433-4D1C-9E6D-AA8CB0FC3BF5}"/>
                </a:ext>
              </a:extLst>
            </p:cNvPr>
            <p:cNvCxnSpPr>
              <a:cxnSpLocks/>
              <a:stCxn id="62" idx="0"/>
              <a:endCxn id="91" idx="2"/>
            </p:cNvCxnSpPr>
            <p:nvPr/>
          </p:nvCxnSpPr>
          <p:spPr bwMode="gray">
            <a:xfrm flipH="1" flipV="1">
              <a:off x="8939217" y="2521874"/>
              <a:ext cx="2202" cy="1011082"/>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94" name="TextBox 271">
              <a:extLst>
                <a:ext uri="{FF2B5EF4-FFF2-40B4-BE49-F238E27FC236}">
                  <a16:creationId xmlns="" xmlns:a16="http://schemas.microsoft.com/office/drawing/2014/main" id="{3CBFA38F-9E15-4D65-8A38-C88F96FC428A}"/>
                </a:ext>
              </a:extLst>
            </p:cNvPr>
            <p:cNvSpPr txBox="1"/>
            <p:nvPr/>
          </p:nvSpPr>
          <p:spPr bwMode="gray">
            <a:xfrm rot="19599356">
              <a:off x="7053606" y="2870828"/>
              <a:ext cx="1577676"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SR-Policy/PCEP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7" name="图片 31">
              <a:extLst>
                <a:ext uri="{FF2B5EF4-FFF2-40B4-BE49-F238E27FC236}">
                  <a16:creationId xmlns="" xmlns:a16="http://schemas.microsoft.com/office/drawing/2014/main" id="{03727C9D-5C1B-4312-9B76-E49CC359FF93}"/>
                </a:ext>
              </a:extLst>
            </p:cNvPr>
            <p:cNvPicPr>
              <a:picLocks noChangeAspect="1"/>
            </p:cNvPicPr>
            <p:nvPr/>
          </p:nvPicPr>
          <p:blipFill>
            <a:blip r:embed="rId3"/>
            <a:stretch>
              <a:fillRect/>
            </a:stretch>
          </p:blipFill>
          <p:spPr bwMode="gray">
            <a:xfrm>
              <a:off x="6288171" y="3536739"/>
              <a:ext cx="466668" cy="389308"/>
            </a:xfrm>
            <a:prstGeom prst="rect">
              <a:avLst/>
            </a:prstGeom>
          </p:spPr>
        </p:pic>
        <p:pic>
          <p:nvPicPr>
            <p:cNvPr id="98" name="图片 31">
              <a:extLst>
                <a:ext uri="{FF2B5EF4-FFF2-40B4-BE49-F238E27FC236}">
                  <a16:creationId xmlns="" xmlns:a16="http://schemas.microsoft.com/office/drawing/2014/main" id="{1F7FF59F-C59B-475C-8B97-A8DE300A3044}"/>
                </a:ext>
              </a:extLst>
            </p:cNvPr>
            <p:cNvPicPr>
              <a:picLocks noChangeAspect="1"/>
            </p:cNvPicPr>
            <p:nvPr/>
          </p:nvPicPr>
          <p:blipFill>
            <a:blip r:embed="rId3"/>
            <a:stretch>
              <a:fillRect/>
            </a:stretch>
          </p:blipFill>
          <p:spPr bwMode="gray">
            <a:xfrm>
              <a:off x="11105341" y="4551760"/>
              <a:ext cx="466668" cy="389308"/>
            </a:xfrm>
            <a:prstGeom prst="rect">
              <a:avLst/>
            </a:prstGeom>
          </p:spPr>
        </p:pic>
        <p:cxnSp>
          <p:nvCxnSpPr>
            <p:cNvPr id="101" name="Straight Connector 100">
              <a:extLst>
                <a:ext uri="{FF2B5EF4-FFF2-40B4-BE49-F238E27FC236}">
                  <a16:creationId xmlns="" xmlns:a16="http://schemas.microsoft.com/office/drawing/2014/main" id="{41868CC2-91AC-4AB7-B23C-DEFB476A0F6B}"/>
                </a:ext>
              </a:extLst>
            </p:cNvPr>
            <p:cNvCxnSpPr>
              <a:cxnSpLocks/>
              <a:stCxn id="97" idx="3"/>
              <a:endCxn id="60" idx="1"/>
            </p:cNvCxnSpPr>
            <p:nvPr/>
          </p:nvCxnSpPr>
          <p:spPr bwMode="gray">
            <a:xfrm>
              <a:off x="6754839" y="3731393"/>
              <a:ext cx="41019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 xmlns:a16="http://schemas.microsoft.com/office/drawing/2014/main" id="{C0A032FB-0C27-403C-BF5A-0664700CBE77}"/>
                </a:ext>
              </a:extLst>
            </p:cNvPr>
            <p:cNvCxnSpPr>
              <a:cxnSpLocks/>
              <a:stCxn id="65" idx="3"/>
              <a:endCxn id="98" idx="1"/>
            </p:cNvCxnSpPr>
            <p:nvPr/>
          </p:nvCxnSpPr>
          <p:spPr bwMode="gray">
            <a:xfrm>
              <a:off x="10717803" y="4746414"/>
              <a:ext cx="38753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 xmlns:a16="http://schemas.microsoft.com/office/drawing/2014/main" id="{1384B7E3-A158-4BB0-98DC-97523D996AED}"/>
                </a:ext>
              </a:extLst>
            </p:cNvPr>
            <p:cNvCxnSpPr>
              <a:cxnSpLocks/>
            </p:cNvCxnSpPr>
            <p:nvPr/>
          </p:nvCxnSpPr>
          <p:spPr bwMode="gray">
            <a:xfrm>
              <a:off x="7460984" y="3784848"/>
              <a:ext cx="1417820" cy="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 xmlns:a16="http://schemas.microsoft.com/office/drawing/2014/main" id="{1A0E90EE-C9C7-4119-A442-81E6432482C2}"/>
                </a:ext>
              </a:extLst>
            </p:cNvPr>
            <p:cNvCxnSpPr>
              <a:cxnSpLocks/>
            </p:cNvCxnSpPr>
            <p:nvPr/>
          </p:nvCxnSpPr>
          <p:spPr bwMode="gray">
            <a:xfrm>
              <a:off x="10543227" y="3778573"/>
              <a:ext cx="0" cy="89685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 xmlns:a16="http://schemas.microsoft.com/office/drawing/2014/main" id="{E79F6955-AF43-4D24-A1C2-3BE6D831E181}"/>
                </a:ext>
              </a:extLst>
            </p:cNvPr>
            <p:cNvCxnSpPr>
              <a:cxnSpLocks/>
            </p:cNvCxnSpPr>
            <p:nvPr/>
          </p:nvCxnSpPr>
          <p:spPr bwMode="gray">
            <a:xfrm>
              <a:off x="8941419" y="3778573"/>
              <a:ext cx="1552006" cy="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直接箭头连接符 84">
              <a:extLst>
                <a:ext uri="{FF2B5EF4-FFF2-40B4-BE49-F238E27FC236}">
                  <a16:creationId xmlns="" xmlns:a16="http://schemas.microsoft.com/office/drawing/2014/main" id="{C7AE6304-D2CD-4A8B-9B09-2A13E321BAA6}"/>
                </a:ext>
              </a:extLst>
            </p:cNvPr>
            <p:cNvCxnSpPr>
              <a:cxnSpLocks/>
            </p:cNvCxnSpPr>
            <p:nvPr/>
          </p:nvCxnSpPr>
          <p:spPr bwMode="gray">
            <a:xfrm flipH="1">
              <a:off x="7215750" y="2524518"/>
              <a:ext cx="1553494" cy="1027145"/>
            </a:xfrm>
            <a:prstGeom prst="straightConnector1">
              <a:avLst/>
            </a:prstGeom>
            <a:ln w="19050" cap="flat" cmpd="sng" algn="ctr">
              <a:solidFill>
                <a:srgbClr val="E28198"/>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112" name="Group 111">
              <a:extLst>
                <a:ext uri="{FF2B5EF4-FFF2-40B4-BE49-F238E27FC236}">
                  <a16:creationId xmlns="" xmlns:a16="http://schemas.microsoft.com/office/drawing/2014/main" id="{F2921102-79CF-49F9-8C42-BD1D00688DFF}"/>
                </a:ext>
              </a:extLst>
            </p:cNvPr>
            <p:cNvGrpSpPr/>
            <p:nvPr/>
          </p:nvGrpSpPr>
          <p:grpSpPr bwMode="gray">
            <a:xfrm>
              <a:off x="8241662" y="1508960"/>
              <a:ext cx="1420399" cy="434340"/>
              <a:chOff x="4527430" y="4730666"/>
              <a:chExt cx="2969826" cy="908134"/>
            </a:xfrm>
          </p:grpSpPr>
          <p:cxnSp>
            <p:nvCxnSpPr>
              <p:cNvPr id="142" name="Straight Connector 141">
                <a:extLst>
                  <a:ext uri="{FF2B5EF4-FFF2-40B4-BE49-F238E27FC236}">
                    <a16:creationId xmlns="" xmlns:a16="http://schemas.microsoft.com/office/drawing/2014/main" id="{605E8AA6-67EC-4CAB-BDAF-228FD03944B4}"/>
                  </a:ext>
                </a:extLst>
              </p:cNvPr>
              <p:cNvCxnSpPr>
                <a:cxnSpLocks/>
              </p:cNvCxnSpPr>
              <p:nvPr/>
            </p:nvCxnSpPr>
            <p:spPr bwMode="gray">
              <a:xfrm>
                <a:off x="4527430" y="4741950"/>
                <a:ext cx="1417820"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 xmlns:a16="http://schemas.microsoft.com/office/drawing/2014/main" id="{E9FDEC8B-CB46-4DAC-A8C6-8512EB4152EB}"/>
                  </a:ext>
                </a:extLst>
              </p:cNvPr>
              <p:cNvCxnSpPr>
                <a:cxnSpLocks/>
              </p:cNvCxnSpPr>
              <p:nvPr/>
            </p:nvCxnSpPr>
            <p:spPr bwMode="gray">
              <a:xfrm>
                <a:off x="7490672" y="4741950"/>
                <a:ext cx="0" cy="89685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 xmlns:a16="http://schemas.microsoft.com/office/drawing/2014/main" id="{39EE2A51-4E1B-47F0-B279-55C013C30B85}"/>
                  </a:ext>
                </a:extLst>
              </p:cNvPr>
              <p:cNvCxnSpPr>
                <a:cxnSpLocks/>
              </p:cNvCxnSpPr>
              <p:nvPr/>
            </p:nvCxnSpPr>
            <p:spPr bwMode="gray">
              <a:xfrm>
                <a:off x="5945249" y="4730666"/>
                <a:ext cx="1552007"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13" name="圆角矩形 75">
              <a:extLst>
                <a:ext uri="{FF2B5EF4-FFF2-40B4-BE49-F238E27FC236}">
                  <a16:creationId xmlns="" xmlns:a16="http://schemas.microsoft.com/office/drawing/2014/main" id="{5C808511-FFD6-46B5-86C4-CF00A092B902}"/>
                </a:ext>
              </a:extLst>
            </p:cNvPr>
            <p:cNvSpPr/>
            <p:nvPr/>
          </p:nvSpPr>
          <p:spPr bwMode="gray">
            <a:xfrm>
              <a:off x="7881258" y="1324573"/>
              <a:ext cx="2115918" cy="79402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2" name="Rectangular Callout 26">
              <a:extLst>
                <a:ext uri="{FF2B5EF4-FFF2-40B4-BE49-F238E27FC236}">
                  <a16:creationId xmlns="" xmlns:a16="http://schemas.microsoft.com/office/drawing/2014/main" id="{37CBBAE5-1D8A-4D68-B035-AE5B851A5569}"/>
                </a:ext>
              </a:extLst>
            </p:cNvPr>
            <p:cNvSpPr/>
            <p:nvPr/>
          </p:nvSpPr>
          <p:spPr bwMode="gray">
            <a:xfrm>
              <a:off x="6407488" y="1656440"/>
              <a:ext cx="971334" cy="573719"/>
            </a:xfrm>
            <a:prstGeom prst="wedgeRectCallout">
              <a:avLst>
                <a:gd name="adj1" fmla="val 62523"/>
                <a:gd name="adj2" fmla="val 203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控制器基于网络性能调优转发路径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Shape 127">
              <a:extLst>
                <a:ext uri="{FF2B5EF4-FFF2-40B4-BE49-F238E27FC236}">
                  <a16:creationId xmlns="" xmlns:a16="http://schemas.microsoft.com/office/drawing/2014/main" id="{2C236C33-753D-4470-B96D-2D852AAA5B31}"/>
                </a:ext>
              </a:extLst>
            </p:cNvPr>
            <p:cNvSpPr/>
            <p:nvPr/>
          </p:nvSpPr>
          <p:spPr bwMode="gray">
            <a:xfrm>
              <a:off x="7542093" y="1852773"/>
              <a:ext cx="304812" cy="438150"/>
            </a:xfrm>
            <a:custGeom>
              <a:avLst/>
              <a:gdLst>
                <a:gd name="connsiteX0" fmla="*/ 304812 w 304812"/>
                <a:gd name="connsiteY0" fmla="*/ 438150 h 438150"/>
                <a:gd name="connsiteX1" fmla="*/ 12 w 304812"/>
                <a:gd name="connsiteY1" fmla="*/ 200025 h 438150"/>
                <a:gd name="connsiteX2" fmla="*/ 295287 w 304812"/>
                <a:gd name="connsiteY2" fmla="*/ 0 h 438150"/>
              </a:gdLst>
              <a:ahLst/>
              <a:cxnLst>
                <a:cxn ang="0">
                  <a:pos x="connsiteX0" y="connsiteY0"/>
                </a:cxn>
                <a:cxn ang="0">
                  <a:pos x="connsiteX1" y="connsiteY1"/>
                </a:cxn>
                <a:cxn ang="0">
                  <a:pos x="connsiteX2" y="connsiteY2"/>
                </a:cxn>
              </a:cxnLst>
              <a:rect l="l" t="t" r="r" b="b"/>
              <a:pathLst>
                <a:path w="304812" h="438150">
                  <a:moveTo>
                    <a:pt x="304812" y="438150"/>
                  </a:moveTo>
                  <a:cubicBezTo>
                    <a:pt x="153205" y="355600"/>
                    <a:pt x="1599" y="273050"/>
                    <a:pt x="12" y="200025"/>
                  </a:cubicBezTo>
                  <a:cubicBezTo>
                    <a:pt x="-1575" y="127000"/>
                    <a:pt x="146856" y="63500"/>
                    <a:pt x="295287" y="0"/>
                  </a:cubicBezTo>
                </a:path>
              </a:pathLst>
            </a:custGeom>
            <a:noFill/>
            <a:ln w="28575">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ular Callout 26">
              <a:extLst>
                <a:ext uri="{FF2B5EF4-FFF2-40B4-BE49-F238E27FC236}">
                  <a16:creationId xmlns="" xmlns:a16="http://schemas.microsoft.com/office/drawing/2014/main" id="{CEF58FE5-20DD-46E9-A9F7-8CB88DDBCD13}"/>
                </a:ext>
              </a:extLst>
            </p:cNvPr>
            <p:cNvSpPr/>
            <p:nvPr/>
          </p:nvSpPr>
          <p:spPr bwMode="gray">
            <a:xfrm>
              <a:off x="6258142" y="2629695"/>
              <a:ext cx="975057" cy="648104"/>
            </a:xfrm>
            <a:prstGeom prst="wedgeRectCallout">
              <a:avLst>
                <a:gd name="adj1" fmla="val 71187"/>
                <a:gd name="adj2" fmla="val 2137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控制器下发调优后的转发路径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5" name="直接箭头连接符 84">
              <a:extLst>
                <a:ext uri="{FF2B5EF4-FFF2-40B4-BE49-F238E27FC236}">
                  <a16:creationId xmlns="" xmlns:a16="http://schemas.microsoft.com/office/drawing/2014/main" id="{AF453F7A-F1F6-46E9-B39D-E99E3A7CCC48}"/>
                </a:ext>
              </a:extLst>
            </p:cNvPr>
            <p:cNvCxnSpPr>
              <a:cxnSpLocks/>
              <a:stCxn id="60" idx="0"/>
              <a:endCxn id="91" idx="2"/>
            </p:cNvCxnSpPr>
            <p:nvPr/>
          </p:nvCxnSpPr>
          <p:spPr bwMode="gray">
            <a:xfrm flipV="1">
              <a:off x="7398369" y="2521874"/>
              <a:ext cx="1540848" cy="1014865"/>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6" name="直接箭头连接符 84">
              <a:extLst>
                <a:ext uri="{FF2B5EF4-FFF2-40B4-BE49-F238E27FC236}">
                  <a16:creationId xmlns="" xmlns:a16="http://schemas.microsoft.com/office/drawing/2014/main" id="{307891FD-B6A5-400B-BAC1-697A9E09F7E0}"/>
                </a:ext>
              </a:extLst>
            </p:cNvPr>
            <p:cNvCxnSpPr>
              <a:cxnSpLocks/>
              <a:stCxn id="64" idx="0"/>
              <a:endCxn id="91" idx="2"/>
            </p:cNvCxnSpPr>
            <p:nvPr/>
          </p:nvCxnSpPr>
          <p:spPr bwMode="gray">
            <a:xfrm flipH="1" flipV="1">
              <a:off x="8939217" y="2521874"/>
              <a:ext cx="1545252" cy="1014865"/>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7" name="直接箭头连接符 84">
              <a:extLst>
                <a:ext uri="{FF2B5EF4-FFF2-40B4-BE49-F238E27FC236}">
                  <a16:creationId xmlns="" xmlns:a16="http://schemas.microsoft.com/office/drawing/2014/main" id="{89AFF864-EEE0-4EEF-AFD0-54F6D874A10D}"/>
                </a:ext>
              </a:extLst>
            </p:cNvPr>
            <p:cNvCxnSpPr>
              <a:cxnSpLocks/>
              <a:stCxn id="61" idx="0"/>
              <a:endCxn id="91" idx="2"/>
            </p:cNvCxnSpPr>
            <p:nvPr/>
          </p:nvCxnSpPr>
          <p:spPr bwMode="gray">
            <a:xfrm flipV="1">
              <a:off x="7398369" y="2521874"/>
              <a:ext cx="1540848" cy="2026103"/>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9" name="直接箭头连接符 84">
              <a:extLst>
                <a:ext uri="{FF2B5EF4-FFF2-40B4-BE49-F238E27FC236}">
                  <a16:creationId xmlns="" xmlns:a16="http://schemas.microsoft.com/office/drawing/2014/main" id="{84FC94B2-81D9-49E2-82B5-013212C4EC4B}"/>
                </a:ext>
              </a:extLst>
            </p:cNvPr>
            <p:cNvCxnSpPr>
              <a:cxnSpLocks/>
              <a:stCxn id="65" idx="0"/>
              <a:endCxn id="91" idx="2"/>
            </p:cNvCxnSpPr>
            <p:nvPr/>
          </p:nvCxnSpPr>
          <p:spPr bwMode="gray">
            <a:xfrm flipH="1" flipV="1">
              <a:off x="8939217" y="2521874"/>
              <a:ext cx="1545252" cy="2029886"/>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50" name="Rectangular Callout 139">
              <a:extLst>
                <a:ext uri="{FF2B5EF4-FFF2-40B4-BE49-F238E27FC236}">
                  <a16:creationId xmlns="" xmlns:a16="http://schemas.microsoft.com/office/drawing/2014/main" id="{F71F453E-9C52-4C5A-880F-C5C668BAEC74}"/>
                </a:ext>
              </a:extLst>
            </p:cNvPr>
            <p:cNvSpPr/>
            <p:nvPr/>
          </p:nvSpPr>
          <p:spPr bwMode="gray">
            <a:xfrm>
              <a:off x="8059709" y="3009231"/>
              <a:ext cx="1759013" cy="310556"/>
            </a:xfrm>
            <a:prstGeom prst="rect">
              <a:avLst/>
            </a:prstGeom>
            <a:solidFill>
              <a:schemeClr val="bg1"/>
            </a:solidFill>
            <a:ln w="19050">
              <a:no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rPr>
                <a:t>SNMP/FTP/Telemetry</a:t>
              </a:r>
              <a:endParaRPr lang="zh-CN" altLang="en-US" sz="1200" dirty="0">
                <a:solidFill>
                  <a:schemeClr val="bg1">
                    <a:lumMod val="50000"/>
                  </a:schemeClr>
                </a:solidFill>
              </a:endParaRPr>
            </a:p>
          </p:txBody>
        </p:sp>
        <p:cxnSp>
          <p:nvCxnSpPr>
            <p:cNvPr id="151" name="Straight Connector 150">
              <a:extLst>
                <a:ext uri="{FF2B5EF4-FFF2-40B4-BE49-F238E27FC236}">
                  <a16:creationId xmlns="" xmlns:a16="http://schemas.microsoft.com/office/drawing/2014/main" id="{9AFBCE49-CD3A-43E0-AD0A-C78EC603CDD6}"/>
                </a:ext>
              </a:extLst>
            </p:cNvPr>
            <p:cNvCxnSpPr>
              <a:cxnSpLocks/>
            </p:cNvCxnSpPr>
            <p:nvPr/>
          </p:nvCxnSpPr>
          <p:spPr bwMode="gray">
            <a:xfrm>
              <a:off x="7398369" y="4942046"/>
              <a:ext cx="0" cy="28877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 xmlns:a16="http://schemas.microsoft.com/office/drawing/2014/main" id="{9F865575-FA33-40F0-A880-C050126B9FBF}"/>
                </a:ext>
              </a:extLst>
            </p:cNvPr>
            <p:cNvCxnSpPr>
              <a:cxnSpLocks/>
            </p:cNvCxnSpPr>
            <p:nvPr/>
          </p:nvCxnSpPr>
          <p:spPr bwMode="gray">
            <a:xfrm>
              <a:off x="10493425" y="4945831"/>
              <a:ext cx="0" cy="28877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7" name="直接箭头连接符 84">
              <a:extLst>
                <a:ext uri="{FF2B5EF4-FFF2-40B4-BE49-F238E27FC236}">
                  <a16:creationId xmlns="" xmlns:a16="http://schemas.microsoft.com/office/drawing/2014/main" id="{DC3672E5-80BC-4D0A-9EE7-33993B387F34}"/>
                </a:ext>
              </a:extLst>
            </p:cNvPr>
            <p:cNvCxnSpPr>
              <a:cxnSpLocks/>
            </p:cNvCxnSpPr>
            <p:nvPr/>
          </p:nvCxnSpPr>
          <p:spPr bwMode="gray">
            <a:xfrm flipV="1">
              <a:off x="7460984" y="5173690"/>
              <a:ext cx="2960124" cy="1"/>
            </a:xfrm>
            <a:prstGeom prst="straightConnector1">
              <a:avLst/>
            </a:prstGeom>
            <a:ln w="19050" cap="flat" cmpd="sng" algn="ctr">
              <a:solidFill>
                <a:schemeClr val="bg1">
                  <a:lumMod val="50000"/>
                </a:schemeClr>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60" name="TextBox 271">
              <a:extLst>
                <a:ext uri="{FF2B5EF4-FFF2-40B4-BE49-F238E27FC236}">
                  <a16:creationId xmlns="" xmlns:a16="http://schemas.microsoft.com/office/drawing/2014/main" id="{811446C7-4AB6-44BA-BFE0-FD3B74B2A480}"/>
                </a:ext>
              </a:extLst>
            </p:cNvPr>
            <p:cNvSpPr txBox="1"/>
            <p:nvPr/>
          </p:nvSpPr>
          <p:spPr bwMode="gray">
            <a:xfrm>
              <a:off x="8412738" y="5039899"/>
              <a:ext cx="1066318" cy="276999"/>
            </a:xfrm>
            <a:prstGeom prst="rect">
              <a:avLst/>
            </a:prstGeom>
            <a:solidFill>
              <a:schemeClr val="bg1"/>
            </a:solid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TWAMP/IFIT</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Rectangular Callout 26">
              <a:extLst>
                <a:ext uri="{FF2B5EF4-FFF2-40B4-BE49-F238E27FC236}">
                  <a16:creationId xmlns="" xmlns:a16="http://schemas.microsoft.com/office/drawing/2014/main" id="{566559EA-2039-4820-9570-84C93A96FA14}"/>
                </a:ext>
              </a:extLst>
            </p:cNvPr>
            <p:cNvSpPr/>
            <p:nvPr/>
          </p:nvSpPr>
          <p:spPr bwMode="gray">
            <a:xfrm>
              <a:off x="9138987" y="4042471"/>
              <a:ext cx="862517" cy="388952"/>
            </a:xfrm>
            <a:prstGeom prst="wedgeRectCallout">
              <a:avLst>
                <a:gd name="adj1" fmla="val -65291"/>
                <a:gd name="adj2" fmla="val -217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链路产生大量丢包</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Rectangular Callout 26">
              <a:extLst>
                <a:ext uri="{FF2B5EF4-FFF2-40B4-BE49-F238E27FC236}">
                  <a16:creationId xmlns="" xmlns:a16="http://schemas.microsoft.com/office/drawing/2014/main" id="{4A2B3978-4D4B-4DEC-BD39-2B4061DE3722}"/>
                </a:ext>
              </a:extLst>
            </p:cNvPr>
            <p:cNvSpPr/>
            <p:nvPr/>
          </p:nvSpPr>
          <p:spPr bwMode="gray">
            <a:xfrm>
              <a:off x="8271183" y="5327461"/>
              <a:ext cx="1417250" cy="388952"/>
            </a:xfrm>
            <a:prstGeom prst="wedgeRectCallout">
              <a:avLst>
                <a:gd name="adj1" fmla="val -22539"/>
                <a:gd name="adj2" fmla="val -6823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TWAMP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IFIT</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检查网络质量</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椭圆 15">
              <a:extLst>
                <a:ext uri="{FF2B5EF4-FFF2-40B4-BE49-F238E27FC236}">
                  <a16:creationId xmlns="" xmlns:a16="http://schemas.microsoft.com/office/drawing/2014/main" id="{BC95EE00-059D-4B42-BA5D-BEC60BAABD79}"/>
                </a:ext>
              </a:extLst>
            </p:cNvPr>
            <p:cNvSpPr>
              <a:spLocks noChangeAspect="1"/>
            </p:cNvSpPr>
            <p:nvPr/>
          </p:nvSpPr>
          <p:spPr bwMode="gray">
            <a:xfrm>
              <a:off x="9605733" y="5261068"/>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椭圆 15">
              <a:extLst>
                <a:ext uri="{FF2B5EF4-FFF2-40B4-BE49-F238E27FC236}">
                  <a16:creationId xmlns="" xmlns:a16="http://schemas.microsoft.com/office/drawing/2014/main" id="{27DFFC1C-591C-4447-921F-E6FA5030C076}"/>
                </a:ext>
              </a:extLst>
            </p:cNvPr>
            <p:cNvSpPr>
              <a:spLocks noChangeAspect="1"/>
            </p:cNvSpPr>
            <p:nvPr/>
          </p:nvSpPr>
          <p:spPr bwMode="gray">
            <a:xfrm>
              <a:off x="9897986" y="3947068"/>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Rectangular Callout 26">
              <a:extLst>
                <a:ext uri="{FF2B5EF4-FFF2-40B4-BE49-F238E27FC236}">
                  <a16:creationId xmlns="" xmlns:a16="http://schemas.microsoft.com/office/drawing/2014/main" id="{882CB670-7658-4787-8BBB-4CCC514B31AD}"/>
                </a:ext>
              </a:extLst>
            </p:cNvPr>
            <p:cNvSpPr/>
            <p:nvPr/>
          </p:nvSpPr>
          <p:spPr bwMode="gray">
            <a:xfrm>
              <a:off x="10049854" y="2692661"/>
              <a:ext cx="1351459" cy="388952"/>
            </a:xfrm>
            <a:prstGeom prst="wedgeRectCallout">
              <a:avLst>
                <a:gd name="adj1" fmla="val -60825"/>
                <a:gd name="adj2" fmla="val 4544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设备上报网络性能数据至控制器</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椭圆 15">
              <a:extLst>
                <a:ext uri="{FF2B5EF4-FFF2-40B4-BE49-F238E27FC236}">
                  <a16:creationId xmlns="" xmlns:a16="http://schemas.microsoft.com/office/drawing/2014/main" id="{E84B0CED-9F03-41AD-A3A5-7E4502DC9E48}"/>
                </a:ext>
              </a:extLst>
            </p:cNvPr>
            <p:cNvSpPr>
              <a:spLocks noChangeAspect="1"/>
            </p:cNvSpPr>
            <p:nvPr/>
          </p:nvSpPr>
          <p:spPr bwMode="gray">
            <a:xfrm>
              <a:off x="11305910" y="2597258"/>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椭圆 15">
              <a:extLst>
                <a:ext uri="{FF2B5EF4-FFF2-40B4-BE49-F238E27FC236}">
                  <a16:creationId xmlns="" xmlns:a16="http://schemas.microsoft.com/office/drawing/2014/main" id="{1ED779E1-1561-4785-BC03-CCAFA3FA6513}"/>
                </a:ext>
              </a:extLst>
            </p:cNvPr>
            <p:cNvSpPr>
              <a:spLocks noChangeAspect="1"/>
            </p:cNvSpPr>
            <p:nvPr/>
          </p:nvSpPr>
          <p:spPr bwMode="gray">
            <a:xfrm>
              <a:off x="7302966" y="1566616"/>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椭圆 15">
              <a:extLst>
                <a:ext uri="{FF2B5EF4-FFF2-40B4-BE49-F238E27FC236}">
                  <a16:creationId xmlns="" xmlns:a16="http://schemas.microsoft.com/office/drawing/2014/main" id="{BF00947C-3119-455F-A59E-8611F77BAADC}"/>
                </a:ext>
              </a:extLst>
            </p:cNvPr>
            <p:cNvSpPr>
              <a:spLocks noChangeAspect="1"/>
            </p:cNvSpPr>
            <p:nvPr/>
          </p:nvSpPr>
          <p:spPr bwMode="gray">
            <a:xfrm>
              <a:off x="7142516" y="2542396"/>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649330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91C6AA-A994-492A-8300-17663794288B}"/>
              </a:ext>
            </a:extLst>
          </p:cNvPr>
          <p:cNvSpPr>
            <a:spLocks noGrp="1"/>
          </p:cNvSpPr>
          <p:nvPr>
            <p:ph type="title"/>
          </p:nvPr>
        </p:nvSpPr>
        <p:spPr bwMode="gray"/>
        <p:txBody>
          <a:bodyPr/>
          <a:lstStyle/>
          <a:p>
            <a:r>
              <a:rPr lang="zh-CN" altLang="en-US" dirty="0"/>
              <a:t>网络切片概述</a:t>
            </a:r>
            <a:endParaRPr lang="en-US" dirty="0"/>
          </a:p>
        </p:txBody>
      </p:sp>
      <p:sp>
        <p:nvSpPr>
          <p:cNvPr id="6" name="Text Placeholder 5">
            <a:extLst>
              <a:ext uri="{FF2B5EF4-FFF2-40B4-BE49-F238E27FC236}">
                <a16:creationId xmlns="" xmlns:a16="http://schemas.microsoft.com/office/drawing/2014/main" id="{2EC13EB0-AA78-400F-8CB9-6B3AB6465FDA}"/>
              </a:ext>
            </a:extLst>
          </p:cNvPr>
          <p:cNvSpPr>
            <a:spLocks noGrp="1"/>
          </p:cNvSpPr>
          <p:nvPr>
            <p:ph type="body" sz="quarter" idx="10"/>
          </p:nvPr>
        </p:nvSpPr>
        <p:spPr bwMode="gray">
          <a:xfrm>
            <a:off x="455613" y="1047750"/>
            <a:ext cx="5640388" cy="4879805"/>
          </a:xfrm>
        </p:spPr>
        <p:txBody>
          <a:bodyPr/>
          <a:lstStyle/>
          <a:p>
            <a:r>
              <a:rPr lang="zh-CN" altLang="en-US" sz="1800" dirty="0"/>
              <a:t>利用</a:t>
            </a:r>
            <a:r>
              <a:rPr lang="en-US" altLang="zh-CN" sz="1800" dirty="0" err="1"/>
              <a:t>FlexE</a:t>
            </a:r>
            <a:r>
              <a:rPr lang="en-US" altLang="zh-CN" sz="1800" dirty="0"/>
              <a:t>/</a:t>
            </a:r>
            <a:r>
              <a:rPr lang="zh-CN" altLang="en-US" sz="1800" dirty="0"/>
              <a:t>信道化子接口、</a:t>
            </a:r>
            <a:r>
              <a:rPr lang="en-US" altLang="zh-CN" sz="1800" dirty="0"/>
              <a:t>QoS</a:t>
            </a:r>
            <a:r>
              <a:rPr lang="zh-CN" altLang="en-US" sz="1800" dirty="0"/>
              <a:t>队列等分片资源保留技术，可以将业务划分到各自的业务片中，分片间实现隔离、业务不相互影响，提供不同的</a:t>
            </a:r>
            <a:r>
              <a:rPr lang="en-US" altLang="zh-CN" sz="1800" dirty="0"/>
              <a:t>SLA</a:t>
            </a:r>
            <a:r>
              <a:rPr lang="zh-CN" altLang="en-US" sz="1800" dirty="0"/>
              <a:t>保障等级。</a:t>
            </a:r>
          </a:p>
          <a:p>
            <a:r>
              <a:rPr lang="zh-CN" altLang="en-US" sz="1800" dirty="0"/>
              <a:t>切片的本质是一种</a:t>
            </a:r>
            <a:r>
              <a:rPr lang="en-US" altLang="zh-CN" sz="1800" dirty="0"/>
              <a:t>SLA</a:t>
            </a:r>
            <a:r>
              <a:rPr lang="zh-CN" altLang="en-US" sz="1800" dirty="0"/>
              <a:t>保障手段，它有效的将用户所需要的网络能力组织整合起来，形成一张逻辑网络，而这个逻辑网络就是“切片”。</a:t>
            </a:r>
            <a:endParaRPr lang="en-US" altLang="zh-CN" sz="1800" dirty="0"/>
          </a:p>
        </p:txBody>
      </p:sp>
      <p:sp>
        <p:nvSpPr>
          <p:cNvPr id="3" name="五边形 2">
            <a:extLst>
              <a:ext uri="{FF2B5EF4-FFF2-40B4-BE49-F238E27FC236}">
                <a16:creationId xmlns="" xmlns:a16="http://schemas.microsoft.com/office/drawing/2014/main" id="{30098A2D-4F7A-45B5-980E-425FB6EE7901}"/>
              </a:ext>
            </a:extLst>
          </p:cNvPr>
          <p:cNvSpPr/>
          <p:nvPr/>
        </p:nvSpPr>
        <p:spPr bwMode="gray">
          <a:xfrm>
            <a:off x="8199710" y="49524"/>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4" name="燕尾形 3">
            <a:extLst>
              <a:ext uri="{FF2B5EF4-FFF2-40B4-BE49-F238E27FC236}">
                <a16:creationId xmlns="" xmlns:a16="http://schemas.microsoft.com/office/drawing/2014/main" id="{EA631AC1-2EC3-4964-B7A3-C8D693B7E508}"/>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E0318515-502A-457A-923E-197C0425225D}"/>
              </a:ext>
            </a:extLst>
          </p:cNvPr>
          <p:cNvSpPr/>
          <p:nvPr/>
        </p:nvSpPr>
        <p:spPr bwMode="gray">
          <a:xfrm>
            <a:off x="9319110" y="4952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200">
            <a:extLst>
              <a:ext uri="{FF2B5EF4-FFF2-40B4-BE49-F238E27FC236}">
                <a16:creationId xmlns="" xmlns:a16="http://schemas.microsoft.com/office/drawing/2014/main" id="{D42551A1-F8F3-46D1-9FA6-0CC8F3EC4AAF}"/>
              </a:ext>
            </a:extLst>
          </p:cNvPr>
          <p:cNvSpPr/>
          <p:nvPr/>
        </p:nvSpPr>
        <p:spPr bwMode="gray">
          <a:xfrm>
            <a:off x="10219090" y="1605553"/>
            <a:ext cx="1224000" cy="276999"/>
          </a:xfrm>
          <a:prstGeom prst="rect">
            <a:avLst/>
          </a:prstGeom>
          <a:solidFill>
            <a:schemeClr val="bg1"/>
          </a:solidFill>
          <a:ln>
            <a:solidFill>
              <a:srgbClr val="8CD5F0"/>
            </a:solidFill>
          </a:ln>
        </p:spPr>
        <p:txBody>
          <a:bodyPr wrap="square" rtlCol="0" anchor="ctr">
            <a:spAutoFit/>
          </a:bodyPr>
          <a:lstStyle/>
          <a:p>
            <a:pPr algn="ctr">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流程图: 汇总连接 201">
            <a:extLst>
              <a:ext uri="{FF2B5EF4-FFF2-40B4-BE49-F238E27FC236}">
                <a16:creationId xmlns="" xmlns:a16="http://schemas.microsoft.com/office/drawing/2014/main" id="{FCFCF6A4-DC4A-4037-B4B5-00C40AEB0610}"/>
              </a:ext>
            </a:extLst>
          </p:cNvPr>
          <p:cNvSpPr/>
          <p:nvPr/>
        </p:nvSpPr>
        <p:spPr bwMode="gray">
          <a:xfrm>
            <a:off x="9599019" y="1654052"/>
            <a:ext cx="180000" cy="180000"/>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5" name="流程图: 汇总连接 202">
            <a:extLst>
              <a:ext uri="{FF2B5EF4-FFF2-40B4-BE49-F238E27FC236}">
                <a16:creationId xmlns="" xmlns:a16="http://schemas.microsoft.com/office/drawing/2014/main" id="{9E6F3EEE-42A2-45A4-AEEA-2918B9E1AAFB}"/>
              </a:ext>
            </a:extLst>
          </p:cNvPr>
          <p:cNvSpPr/>
          <p:nvPr/>
        </p:nvSpPr>
        <p:spPr bwMode="gray">
          <a:xfrm>
            <a:off x="8117173" y="1654052"/>
            <a:ext cx="180000" cy="180000"/>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流程图: 汇总连接 203">
            <a:extLst>
              <a:ext uri="{FF2B5EF4-FFF2-40B4-BE49-F238E27FC236}">
                <a16:creationId xmlns="" xmlns:a16="http://schemas.microsoft.com/office/drawing/2014/main" id="{5568CD4C-8F88-411E-84CF-0EA2A8F90EE3}"/>
              </a:ext>
            </a:extLst>
          </p:cNvPr>
          <p:cNvSpPr/>
          <p:nvPr/>
        </p:nvSpPr>
        <p:spPr bwMode="gray">
          <a:xfrm>
            <a:off x="8611122" y="1654052"/>
            <a:ext cx="180000" cy="180000"/>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流程图: 汇总连接 204">
            <a:extLst>
              <a:ext uri="{FF2B5EF4-FFF2-40B4-BE49-F238E27FC236}">
                <a16:creationId xmlns="" xmlns:a16="http://schemas.microsoft.com/office/drawing/2014/main" id="{E6DC6B86-E8E0-4DA6-BC17-DB6D32F3A85C}"/>
              </a:ext>
            </a:extLst>
          </p:cNvPr>
          <p:cNvSpPr/>
          <p:nvPr/>
        </p:nvSpPr>
        <p:spPr bwMode="gray">
          <a:xfrm>
            <a:off x="9105071" y="1654052"/>
            <a:ext cx="180000" cy="180000"/>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8" name="直接连接符 205">
            <a:extLst>
              <a:ext uri="{FF2B5EF4-FFF2-40B4-BE49-F238E27FC236}">
                <a16:creationId xmlns="" xmlns:a16="http://schemas.microsoft.com/office/drawing/2014/main" id="{01993719-61F9-4DBA-8F10-201FAF796A7F}"/>
              </a:ext>
            </a:extLst>
          </p:cNvPr>
          <p:cNvCxnSpPr>
            <a:stCxn id="75" idx="6"/>
            <a:endCxn id="76" idx="2"/>
          </p:cNvCxnSpPr>
          <p:nvPr/>
        </p:nvCxnSpPr>
        <p:spPr bwMode="gray">
          <a:xfrm>
            <a:off x="8297174" y="1744052"/>
            <a:ext cx="313949"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接连接符 206">
            <a:extLst>
              <a:ext uri="{FF2B5EF4-FFF2-40B4-BE49-F238E27FC236}">
                <a16:creationId xmlns="" xmlns:a16="http://schemas.microsoft.com/office/drawing/2014/main" id="{624D20CB-8BC9-40BF-B7AB-108A83989C18}"/>
              </a:ext>
            </a:extLst>
          </p:cNvPr>
          <p:cNvCxnSpPr>
            <a:stCxn id="76" idx="6"/>
            <a:endCxn id="77" idx="2"/>
          </p:cNvCxnSpPr>
          <p:nvPr/>
        </p:nvCxnSpPr>
        <p:spPr bwMode="gray">
          <a:xfrm>
            <a:off x="8791123" y="1744052"/>
            <a:ext cx="313949"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连接符 207">
            <a:extLst>
              <a:ext uri="{FF2B5EF4-FFF2-40B4-BE49-F238E27FC236}">
                <a16:creationId xmlns="" xmlns:a16="http://schemas.microsoft.com/office/drawing/2014/main" id="{4117BA91-BDCE-4F24-8D11-5CEB0DCF9EBE}"/>
              </a:ext>
            </a:extLst>
          </p:cNvPr>
          <p:cNvCxnSpPr>
            <a:stCxn id="77" idx="6"/>
            <a:endCxn id="74" idx="2"/>
          </p:cNvCxnSpPr>
          <p:nvPr/>
        </p:nvCxnSpPr>
        <p:spPr bwMode="gray">
          <a:xfrm>
            <a:off x="9285071" y="1744052"/>
            <a:ext cx="313948"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5" name="矩形 208">
            <a:extLst>
              <a:ext uri="{FF2B5EF4-FFF2-40B4-BE49-F238E27FC236}">
                <a16:creationId xmlns="" xmlns:a16="http://schemas.microsoft.com/office/drawing/2014/main" id="{F057103E-FAFA-47E5-8679-7FE23BDB2715}"/>
              </a:ext>
            </a:extLst>
          </p:cNvPr>
          <p:cNvSpPr/>
          <p:nvPr/>
        </p:nvSpPr>
        <p:spPr bwMode="gray">
          <a:xfrm>
            <a:off x="9472975" y="1399206"/>
            <a:ext cx="385042"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7" name="矩形 209">
            <a:extLst>
              <a:ext uri="{FF2B5EF4-FFF2-40B4-BE49-F238E27FC236}">
                <a16:creationId xmlns="" xmlns:a16="http://schemas.microsoft.com/office/drawing/2014/main" id="{F6F9AB98-EF4A-4B0C-9022-E0A91304B17D}"/>
              </a:ext>
            </a:extLst>
          </p:cNvPr>
          <p:cNvSpPr/>
          <p:nvPr/>
        </p:nvSpPr>
        <p:spPr bwMode="gray">
          <a:xfrm>
            <a:off x="7108835" y="1456052"/>
            <a:ext cx="2376000" cy="576000"/>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矩形 210">
            <a:extLst>
              <a:ext uri="{FF2B5EF4-FFF2-40B4-BE49-F238E27FC236}">
                <a16:creationId xmlns="" xmlns:a16="http://schemas.microsoft.com/office/drawing/2014/main" id="{FA0627B1-5700-4BE5-9F0D-78423B69874C}"/>
              </a:ext>
            </a:extLst>
          </p:cNvPr>
          <p:cNvSpPr/>
          <p:nvPr/>
        </p:nvSpPr>
        <p:spPr bwMode="gray">
          <a:xfrm>
            <a:off x="8002783" y="1399206"/>
            <a:ext cx="386644"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 name="矩形 211">
            <a:extLst>
              <a:ext uri="{FF2B5EF4-FFF2-40B4-BE49-F238E27FC236}">
                <a16:creationId xmlns="" xmlns:a16="http://schemas.microsoft.com/office/drawing/2014/main" id="{378AAC84-5F54-47A7-8AAA-C9EC4998FEEB}"/>
              </a:ext>
            </a:extLst>
          </p:cNvPr>
          <p:cNvSpPr/>
          <p:nvPr/>
        </p:nvSpPr>
        <p:spPr bwMode="gray">
          <a:xfrm>
            <a:off x="8484672" y="1399206"/>
            <a:ext cx="413896"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GQ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 name="矩形 212">
            <a:extLst>
              <a:ext uri="{FF2B5EF4-FFF2-40B4-BE49-F238E27FC236}">
                <a16:creationId xmlns="" xmlns:a16="http://schemas.microsoft.com/office/drawing/2014/main" id="{198B0212-77C8-43F8-80DB-147B2DC59FE0}"/>
              </a:ext>
            </a:extLst>
          </p:cNvPr>
          <p:cNvSpPr/>
          <p:nvPr/>
        </p:nvSpPr>
        <p:spPr bwMode="gray">
          <a:xfrm>
            <a:off x="9024404" y="1399206"/>
            <a:ext cx="325730"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VI</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 name="圆角矩形 213">
            <a:extLst>
              <a:ext uri="{FF2B5EF4-FFF2-40B4-BE49-F238E27FC236}">
                <a16:creationId xmlns="" xmlns:a16="http://schemas.microsoft.com/office/drawing/2014/main" id="{AA958B18-C7A0-45F1-8075-5C2DB7598CFB}"/>
              </a:ext>
            </a:extLst>
          </p:cNvPr>
          <p:cNvSpPr/>
          <p:nvPr/>
        </p:nvSpPr>
        <p:spPr bwMode="gray">
          <a:xfrm>
            <a:off x="10182321" y="1549296"/>
            <a:ext cx="634155" cy="389513"/>
          </a:xfrm>
          <a:prstGeom prst="roundRect">
            <a:avLst>
              <a:gd name="adj" fmla="val 50000"/>
            </a:avLst>
          </a:prstGeom>
          <a:ln>
            <a:solidFill>
              <a:srgbClr val="1AABE2"/>
            </a:solidFill>
          </a:ln>
        </p:spPr>
        <p:txBody>
          <a:bodyPr wrap="none" rtlCol="0" anchor="ctr">
            <a:spAutoFit/>
          </a:bodyPr>
          <a:lstStyle/>
          <a:p>
            <a:pPr algn="ct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9" name="圆角矩形 214">
            <a:extLst>
              <a:ext uri="{FF2B5EF4-FFF2-40B4-BE49-F238E27FC236}">
                <a16:creationId xmlns="" xmlns:a16="http://schemas.microsoft.com/office/drawing/2014/main" id="{36372CD7-271B-439D-9F2C-54BB6F9A4A62}"/>
              </a:ext>
            </a:extLst>
          </p:cNvPr>
          <p:cNvSpPr/>
          <p:nvPr/>
        </p:nvSpPr>
        <p:spPr bwMode="gray">
          <a:xfrm>
            <a:off x="10835719" y="1549296"/>
            <a:ext cx="586993" cy="389513"/>
          </a:xfrm>
          <a:prstGeom prst="roundRect">
            <a:avLst>
              <a:gd name="adj" fmla="val 50000"/>
            </a:avLst>
          </a:prstGeom>
          <a:ln>
            <a:solidFill>
              <a:srgbClr val="1AABE2"/>
            </a:solidFill>
          </a:ln>
        </p:spPr>
        <p:txBody>
          <a:bodyPr wrap="none" rtlCol="0" anchor="ctr">
            <a:spAutoFit/>
          </a:bodyPr>
          <a:lstStyle/>
          <a:p>
            <a:pPr algn="ct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PHY</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0" name="直接箭头连接符 215">
            <a:extLst>
              <a:ext uri="{FF2B5EF4-FFF2-40B4-BE49-F238E27FC236}">
                <a16:creationId xmlns="" xmlns:a16="http://schemas.microsoft.com/office/drawing/2014/main" id="{A2E22930-926F-4642-84E5-D2E6521B8E83}"/>
              </a:ext>
            </a:extLst>
          </p:cNvPr>
          <p:cNvCxnSpPr>
            <a:stCxn id="96" idx="3"/>
            <a:endCxn id="99" idx="1"/>
          </p:cNvCxnSpPr>
          <p:nvPr/>
        </p:nvCxnSpPr>
        <p:spPr bwMode="gray">
          <a:xfrm>
            <a:off x="10816476" y="1744053"/>
            <a:ext cx="19243" cy="0"/>
          </a:xfrm>
          <a:prstGeom prst="straightConnector1">
            <a:avLst/>
          </a:prstGeom>
          <a:noFill/>
          <a:ln w="9525" cap="flat" cmpd="sng" algn="ctr">
            <a:solidFill>
              <a:schemeClr val="bg1">
                <a:lumMod val="50000"/>
              </a:schemeClr>
            </a:solidFill>
            <a:prstDash val="solid"/>
            <a:tailEnd type="triangle" w="med" len="lg"/>
          </a:ln>
          <a:effectLst/>
        </p:spPr>
      </p:cxnSp>
      <p:cxnSp>
        <p:nvCxnSpPr>
          <p:cNvPr id="107" name="直接箭头连接符 216">
            <a:extLst>
              <a:ext uri="{FF2B5EF4-FFF2-40B4-BE49-F238E27FC236}">
                <a16:creationId xmlns="" xmlns:a16="http://schemas.microsoft.com/office/drawing/2014/main" id="{BB304FCA-56D0-48F6-AEAA-50AFBC446F0B}"/>
              </a:ext>
            </a:extLst>
          </p:cNvPr>
          <p:cNvCxnSpPr>
            <a:stCxn id="99" idx="3"/>
          </p:cNvCxnSpPr>
          <p:nvPr/>
        </p:nvCxnSpPr>
        <p:spPr bwMode="gray">
          <a:xfrm>
            <a:off x="11422712" y="1744053"/>
            <a:ext cx="174501" cy="1"/>
          </a:xfrm>
          <a:prstGeom prst="straightConnector1">
            <a:avLst/>
          </a:prstGeom>
          <a:noFill/>
          <a:ln w="9525" cap="flat" cmpd="sng" algn="ctr">
            <a:solidFill>
              <a:schemeClr val="bg1">
                <a:lumMod val="50000"/>
              </a:schemeClr>
            </a:solidFill>
            <a:prstDash val="solid"/>
            <a:tailEnd type="triangle" w="med" len="lg"/>
          </a:ln>
          <a:effectLst/>
        </p:spPr>
      </p:cxnSp>
      <p:sp>
        <p:nvSpPr>
          <p:cNvPr id="108" name="文本框 217">
            <a:extLst>
              <a:ext uri="{FF2B5EF4-FFF2-40B4-BE49-F238E27FC236}">
                <a16:creationId xmlns="" xmlns:a16="http://schemas.microsoft.com/office/drawing/2014/main" id="{B5109623-8B9C-4634-9EE4-051BFA66BE71}"/>
              </a:ext>
            </a:extLst>
          </p:cNvPr>
          <p:cNvSpPr txBox="1"/>
          <p:nvPr/>
        </p:nvSpPr>
        <p:spPr bwMode="gray">
          <a:xfrm>
            <a:off x="9842252" y="1414333"/>
            <a:ext cx="240450" cy="184666"/>
          </a:xfrm>
          <a:prstGeom prst="rect">
            <a:avLst/>
          </a:prstGeom>
        </p:spPr>
        <p:txBody>
          <a:bodyPr wrap="none" lIns="0" tIns="0" rIns="0" bIns="0" rtlCol="0">
            <a:spAutoFit/>
          </a:bodyPr>
          <a:lstStyle/>
          <a:p>
            <a:pPr defTabSz="991093" eaLnBrk="0" hangingPunct="0"/>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TM</a:t>
            </a:r>
            <a:endPar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文本框 218">
            <a:extLst>
              <a:ext uri="{FF2B5EF4-FFF2-40B4-BE49-F238E27FC236}">
                <a16:creationId xmlns="" xmlns:a16="http://schemas.microsoft.com/office/drawing/2014/main" id="{515843E2-E4DF-4CE5-9C7F-540AC4A72851}"/>
              </a:ext>
            </a:extLst>
          </p:cNvPr>
          <p:cNvSpPr txBox="1"/>
          <p:nvPr/>
        </p:nvSpPr>
        <p:spPr bwMode="gray">
          <a:xfrm>
            <a:off x="10256508" y="1396163"/>
            <a:ext cx="237244" cy="184666"/>
          </a:xfrm>
          <a:prstGeom prst="rect">
            <a:avLst/>
          </a:prstGeom>
        </p:spPr>
        <p:txBody>
          <a:bodyPr wrap="none" lIns="0" tIns="0" rIns="0" bIns="0" rtlCol="0">
            <a:spAutoFit/>
          </a:bodyPr>
          <a:lstStyle/>
          <a:p>
            <a:pPr defTabSz="991093" eaLnBrk="0" hangingPunct="0"/>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PIC</a:t>
            </a:r>
            <a:endPar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0" name="直接连接符 219">
            <a:extLst>
              <a:ext uri="{FF2B5EF4-FFF2-40B4-BE49-F238E27FC236}">
                <a16:creationId xmlns="" xmlns:a16="http://schemas.microsoft.com/office/drawing/2014/main" id="{50CD2FAD-85A0-49AA-80C3-A1EA82940711}"/>
              </a:ext>
            </a:extLst>
          </p:cNvPr>
          <p:cNvCxnSpPr>
            <a:stCxn id="74" idx="6"/>
            <a:endCxn id="73" idx="1"/>
          </p:cNvCxnSpPr>
          <p:nvPr/>
        </p:nvCxnSpPr>
        <p:spPr bwMode="gray">
          <a:xfrm>
            <a:off x="9779019" y="1744052"/>
            <a:ext cx="440071" cy="1"/>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任意多边形 220">
            <a:extLst>
              <a:ext uri="{FF2B5EF4-FFF2-40B4-BE49-F238E27FC236}">
                <a16:creationId xmlns="" xmlns:a16="http://schemas.microsoft.com/office/drawing/2014/main" id="{2CEC5996-5BF9-4477-839B-8CAB9FC24CC1}"/>
              </a:ext>
            </a:extLst>
          </p:cNvPr>
          <p:cNvSpPr/>
          <p:nvPr/>
        </p:nvSpPr>
        <p:spPr bwMode="gray">
          <a:xfrm>
            <a:off x="6817298" y="1654022"/>
            <a:ext cx="461498" cy="87024"/>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4" name="矩形 221">
            <a:extLst>
              <a:ext uri="{FF2B5EF4-FFF2-40B4-BE49-F238E27FC236}">
                <a16:creationId xmlns="" xmlns:a16="http://schemas.microsoft.com/office/drawing/2014/main" id="{D29F6E41-4E18-4395-B3BA-266F4905F01A}"/>
              </a:ext>
            </a:extLst>
          </p:cNvPr>
          <p:cNvSpPr/>
          <p:nvPr/>
        </p:nvSpPr>
        <p:spPr bwMode="gray">
          <a:xfrm>
            <a:off x="7382022" y="1540472"/>
            <a:ext cx="262892"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15" name="组合 222">
            <a:extLst>
              <a:ext uri="{FF2B5EF4-FFF2-40B4-BE49-F238E27FC236}">
                <a16:creationId xmlns="" xmlns:a16="http://schemas.microsoft.com/office/drawing/2014/main" id="{963C8EAE-7E5A-421F-BE79-A9DBAFB93248}"/>
              </a:ext>
            </a:extLst>
          </p:cNvPr>
          <p:cNvGrpSpPr/>
          <p:nvPr/>
        </p:nvGrpSpPr>
        <p:grpSpPr bwMode="gray">
          <a:xfrm>
            <a:off x="7696605" y="1570785"/>
            <a:ext cx="395076" cy="360000"/>
            <a:chOff x="6938956" y="1710171"/>
            <a:chExt cx="395076" cy="277615"/>
          </a:xfrm>
        </p:grpSpPr>
        <p:sp>
          <p:nvSpPr>
            <p:cNvPr id="116" name="圆角矩形 199">
              <a:extLst>
                <a:ext uri="{FF2B5EF4-FFF2-40B4-BE49-F238E27FC236}">
                  <a16:creationId xmlns="" xmlns:a16="http://schemas.microsoft.com/office/drawing/2014/main" id="{64A59D7B-E4A5-4231-84B8-BE3E54DAAB1E}"/>
                </a:ext>
              </a:extLst>
            </p:cNvPr>
            <p:cNvSpPr/>
            <p:nvPr/>
          </p:nvSpPr>
          <p:spPr bwMode="gray">
            <a:xfrm>
              <a:off x="6938956" y="171017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7" name="圆角矩形 200">
              <a:extLst>
                <a:ext uri="{FF2B5EF4-FFF2-40B4-BE49-F238E27FC236}">
                  <a16:creationId xmlns="" xmlns:a16="http://schemas.microsoft.com/office/drawing/2014/main" id="{F5A5AC8B-A555-4193-94D9-BEB9B7461F21}"/>
                </a:ext>
              </a:extLst>
            </p:cNvPr>
            <p:cNvSpPr/>
            <p:nvPr/>
          </p:nvSpPr>
          <p:spPr bwMode="gray">
            <a:xfrm>
              <a:off x="6938956" y="1746745"/>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8" name="圆角矩形 201">
              <a:extLst>
                <a:ext uri="{FF2B5EF4-FFF2-40B4-BE49-F238E27FC236}">
                  <a16:creationId xmlns="" xmlns:a16="http://schemas.microsoft.com/office/drawing/2014/main" id="{7E152845-43CB-4A82-B586-D3E3F2BBF1D0}"/>
                </a:ext>
              </a:extLst>
            </p:cNvPr>
            <p:cNvSpPr/>
            <p:nvPr/>
          </p:nvSpPr>
          <p:spPr bwMode="gray">
            <a:xfrm>
              <a:off x="6938956" y="1783319"/>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9" name="圆角矩形 202">
              <a:extLst>
                <a:ext uri="{FF2B5EF4-FFF2-40B4-BE49-F238E27FC236}">
                  <a16:creationId xmlns="" xmlns:a16="http://schemas.microsoft.com/office/drawing/2014/main" id="{0A2EC39D-8A6A-4D3B-B6CF-85880EEBDBCF}"/>
                </a:ext>
              </a:extLst>
            </p:cNvPr>
            <p:cNvSpPr/>
            <p:nvPr/>
          </p:nvSpPr>
          <p:spPr bwMode="gray">
            <a:xfrm>
              <a:off x="6938956" y="1819893"/>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0" name="圆角矩形 203">
              <a:extLst>
                <a:ext uri="{FF2B5EF4-FFF2-40B4-BE49-F238E27FC236}">
                  <a16:creationId xmlns="" xmlns:a16="http://schemas.microsoft.com/office/drawing/2014/main" id="{6642277F-3B64-46FA-B2CE-091B77143BE4}"/>
                </a:ext>
              </a:extLst>
            </p:cNvPr>
            <p:cNvSpPr/>
            <p:nvPr/>
          </p:nvSpPr>
          <p:spPr bwMode="gray">
            <a:xfrm>
              <a:off x="6938956" y="1856467"/>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1" name="圆角矩形 204">
              <a:extLst>
                <a:ext uri="{FF2B5EF4-FFF2-40B4-BE49-F238E27FC236}">
                  <a16:creationId xmlns="" xmlns:a16="http://schemas.microsoft.com/office/drawing/2014/main" id="{4936938F-F950-4091-ACD9-6F7CCD5DAE24}"/>
                </a:ext>
              </a:extLst>
            </p:cNvPr>
            <p:cNvSpPr/>
            <p:nvPr/>
          </p:nvSpPr>
          <p:spPr bwMode="gray">
            <a:xfrm>
              <a:off x="6938956" y="189304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3" name="圆角矩形 205">
              <a:extLst>
                <a:ext uri="{FF2B5EF4-FFF2-40B4-BE49-F238E27FC236}">
                  <a16:creationId xmlns="" xmlns:a16="http://schemas.microsoft.com/office/drawing/2014/main" id="{E32AEDCC-0F07-4B01-9F0C-62957B54BE69}"/>
                </a:ext>
              </a:extLst>
            </p:cNvPr>
            <p:cNvSpPr/>
            <p:nvPr/>
          </p:nvSpPr>
          <p:spPr bwMode="gray">
            <a:xfrm>
              <a:off x="6938956" y="1929615"/>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4" name="圆角矩形 206">
              <a:extLst>
                <a:ext uri="{FF2B5EF4-FFF2-40B4-BE49-F238E27FC236}">
                  <a16:creationId xmlns="" xmlns:a16="http://schemas.microsoft.com/office/drawing/2014/main" id="{59445E8E-4F1B-48FB-B9BE-D36A58787450}"/>
                </a:ext>
              </a:extLst>
            </p:cNvPr>
            <p:cNvSpPr/>
            <p:nvPr/>
          </p:nvSpPr>
          <p:spPr bwMode="gray">
            <a:xfrm>
              <a:off x="6938956" y="196618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25" name="矩形 231">
            <a:extLst>
              <a:ext uri="{FF2B5EF4-FFF2-40B4-BE49-F238E27FC236}">
                <a16:creationId xmlns="" xmlns:a16="http://schemas.microsoft.com/office/drawing/2014/main" id="{095B224F-C0B5-4F73-9815-AF76F918DAF1}"/>
              </a:ext>
            </a:extLst>
          </p:cNvPr>
          <p:cNvSpPr/>
          <p:nvPr/>
        </p:nvSpPr>
        <p:spPr bwMode="gray">
          <a:xfrm>
            <a:off x="7439730" y="1763287"/>
            <a:ext cx="177934"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6" name="矩形 242">
            <a:extLst>
              <a:ext uri="{FF2B5EF4-FFF2-40B4-BE49-F238E27FC236}">
                <a16:creationId xmlns="" xmlns:a16="http://schemas.microsoft.com/office/drawing/2014/main" id="{665E0AC6-A02D-48BE-888D-30439C12A793}"/>
              </a:ext>
            </a:extLst>
          </p:cNvPr>
          <p:cNvSpPr/>
          <p:nvPr/>
        </p:nvSpPr>
        <p:spPr bwMode="gray">
          <a:xfrm>
            <a:off x="8078169" y="2532913"/>
            <a:ext cx="386644"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7" name="矩形 243">
            <a:extLst>
              <a:ext uri="{FF2B5EF4-FFF2-40B4-BE49-F238E27FC236}">
                <a16:creationId xmlns="" xmlns:a16="http://schemas.microsoft.com/office/drawing/2014/main" id="{1BE6C58F-E563-4B3B-B047-3CA1DC0E07F6}"/>
              </a:ext>
            </a:extLst>
          </p:cNvPr>
          <p:cNvSpPr/>
          <p:nvPr/>
        </p:nvSpPr>
        <p:spPr bwMode="gray">
          <a:xfrm>
            <a:off x="8560058" y="2532913"/>
            <a:ext cx="413896"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GQ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9" name="矩形 244">
            <a:extLst>
              <a:ext uri="{FF2B5EF4-FFF2-40B4-BE49-F238E27FC236}">
                <a16:creationId xmlns="" xmlns:a16="http://schemas.microsoft.com/office/drawing/2014/main" id="{69D4486C-4324-4D16-89E5-D28A0A917FC4}"/>
              </a:ext>
            </a:extLst>
          </p:cNvPr>
          <p:cNvSpPr/>
          <p:nvPr/>
        </p:nvSpPr>
        <p:spPr bwMode="gray">
          <a:xfrm>
            <a:off x="9099790" y="2532913"/>
            <a:ext cx="325730"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VI</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0" name="文本框 249">
            <a:extLst>
              <a:ext uri="{FF2B5EF4-FFF2-40B4-BE49-F238E27FC236}">
                <a16:creationId xmlns="" xmlns:a16="http://schemas.microsoft.com/office/drawing/2014/main" id="{A1F106B9-8F0E-4E42-885A-1359624009EB}"/>
              </a:ext>
            </a:extLst>
          </p:cNvPr>
          <p:cNvSpPr txBox="1"/>
          <p:nvPr/>
        </p:nvSpPr>
        <p:spPr bwMode="gray">
          <a:xfrm>
            <a:off x="9613971" y="2535068"/>
            <a:ext cx="240450" cy="184666"/>
          </a:xfrm>
          <a:prstGeom prst="rect">
            <a:avLst/>
          </a:prstGeom>
        </p:spPr>
        <p:txBody>
          <a:bodyPr wrap="none" lIns="0" tIns="0" rIns="0" bIns="0" rtlCol="0">
            <a:spAutoFit/>
          </a:bodyPr>
          <a:lstStyle/>
          <a:p>
            <a:pPr defTabSz="991093" eaLnBrk="0" hangingPunct="0"/>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TM</a:t>
            </a:r>
            <a:endPar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1" name="文本框 250">
            <a:extLst>
              <a:ext uri="{FF2B5EF4-FFF2-40B4-BE49-F238E27FC236}">
                <a16:creationId xmlns="" xmlns:a16="http://schemas.microsoft.com/office/drawing/2014/main" id="{88D36DAE-D011-4E44-A5D4-09FE44BE5FB3}"/>
              </a:ext>
            </a:extLst>
          </p:cNvPr>
          <p:cNvSpPr txBox="1"/>
          <p:nvPr/>
        </p:nvSpPr>
        <p:spPr bwMode="gray">
          <a:xfrm>
            <a:off x="10225750" y="2544593"/>
            <a:ext cx="237244" cy="184666"/>
          </a:xfrm>
          <a:prstGeom prst="rect">
            <a:avLst/>
          </a:prstGeom>
        </p:spPr>
        <p:txBody>
          <a:bodyPr wrap="none" lIns="0" tIns="0" rIns="0" bIns="0" rtlCol="0">
            <a:spAutoFit/>
          </a:bodyPr>
          <a:lstStyle/>
          <a:p>
            <a:pPr defTabSz="991093" eaLnBrk="0" hangingPunct="0"/>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PIC</a:t>
            </a:r>
            <a:endPar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 name="文本框 264">
            <a:extLst>
              <a:ext uri="{FF2B5EF4-FFF2-40B4-BE49-F238E27FC236}">
                <a16:creationId xmlns="" xmlns:a16="http://schemas.microsoft.com/office/drawing/2014/main" id="{6B663926-790F-4AA6-976B-E96D7978429B}"/>
              </a:ext>
            </a:extLst>
          </p:cNvPr>
          <p:cNvSpPr txBox="1"/>
          <p:nvPr/>
        </p:nvSpPr>
        <p:spPr bwMode="gray">
          <a:xfrm>
            <a:off x="8033693" y="2398994"/>
            <a:ext cx="923330" cy="184666"/>
          </a:xfrm>
          <a:prstGeom prst="rect">
            <a:avLst/>
          </a:prstGeom>
        </p:spPr>
        <p:txBody>
          <a:bodyPr wrap="none" lIns="0" tIns="0" rIns="0" bIns="0" rtlCol="0">
            <a:spAutoFit/>
          </a:bodyPr>
          <a:lstStyle/>
          <a:p>
            <a:pPr defTabSz="991093" eaLnBrk="0" hangingPunct="0"/>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信道化子接口</a:t>
            </a:r>
          </a:p>
        </p:txBody>
      </p:sp>
      <p:sp>
        <p:nvSpPr>
          <p:cNvPr id="133" name="矩形 232">
            <a:extLst>
              <a:ext uri="{FF2B5EF4-FFF2-40B4-BE49-F238E27FC236}">
                <a16:creationId xmlns="" xmlns:a16="http://schemas.microsoft.com/office/drawing/2014/main" id="{844B4D44-F15A-4B7E-8267-F50BEF6D1A54}"/>
              </a:ext>
            </a:extLst>
          </p:cNvPr>
          <p:cNvSpPr/>
          <p:nvPr/>
        </p:nvSpPr>
        <p:spPr bwMode="gray">
          <a:xfrm>
            <a:off x="10240943" y="3141576"/>
            <a:ext cx="1224356" cy="276999"/>
          </a:xfrm>
          <a:prstGeom prst="rect">
            <a:avLst/>
          </a:prstGeom>
          <a:solidFill>
            <a:schemeClr val="bg1"/>
          </a:solidFill>
          <a:ln>
            <a:solidFill>
              <a:srgbClr val="8CD5F0"/>
            </a:solidFill>
          </a:ln>
        </p:spPr>
        <p:txBody>
          <a:bodyPr wrap="square" rtlCol="0" anchor="ctr">
            <a:spAutoFit/>
          </a:bodyPr>
          <a:lstStyle/>
          <a:p>
            <a:pPr algn="ctr">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 name="流程图: 汇总连接 233">
            <a:extLst>
              <a:ext uri="{FF2B5EF4-FFF2-40B4-BE49-F238E27FC236}">
                <a16:creationId xmlns="" xmlns:a16="http://schemas.microsoft.com/office/drawing/2014/main" id="{F591FC29-6734-4404-8E07-37B8325BFF1A}"/>
              </a:ext>
            </a:extLst>
          </p:cNvPr>
          <p:cNvSpPr/>
          <p:nvPr/>
        </p:nvSpPr>
        <p:spPr bwMode="gray">
          <a:xfrm>
            <a:off x="9634367" y="3199683"/>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 name="流程图: 汇总连接 234">
            <a:extLst>
              <a:ext uri="{FF2B5EF4-FFF2-40B4-BE49-F238E27FC236}">
                <a16:creationId xmlns="" xmlns:a16="http://schemas.microsoft.com/office/drawing/2014/main" id="{2D997B80-4143-479E-AE96-347AE264805A}"/>
              </a:ext>
            </a:extLst>
          </p:cNvPr>
          <p:cNvSpPr/>
          <p:nvPr/>
        </p:nvSpPr>
        <p:spPr bwMode="gray">
          <a:xfrm>
            <a:off x="8157471" y="2740240"/>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6" name="流程图: 汇总连接 235">
            <a:extLst>
              <a:ext uri="{FF2B5EF4-FFF2-40B4-BE49-F238E27FC236}">
                <a16:creationId xmlns="" xmlns:a16="http://schemas.microsoft.com/office/drawing/2014/main" id="{74B870D9-5F2B-401B-B465-A0580D785FB1}"/>
              </a:ext>
            </a:extLst>
          </p:cNvPr>
          <p:cNvSpPr/>
          <p:nvPr/>
        </p:nvSpPr>
        <p:spPr bwMode="gray">
          <a:xfrm>
            <a:off x="8651563" y="2740240"/>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7" name="流程图: 汇总连接 236">
            <a:extLst>
              <a:ext uri="{FF2B5EF4-FFF2-40B4-BE49-F238E27FC236}">
                <a16:creationId xmlns="" xmlns:a16="http://schemas.microsoft.com/office/drawing/2014/main" id="{BC46EEB2-4D31-42E2-9486-5E6414EC2CB6}"/>
              </a:ext>
            </a:extLst>
          </p:cNvPr>
          <p:cNvSpPr/>
          <p:nvPr/>
        </p:nvSpPr>
        <p:spPr bwMode="gray">
          <a:xfrm>
            <a:off x="9145656" y="2740240"/>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8" name="直接连接符 237">
            <a:extLst>
              <a:ext uri="{FF2B5EF4-FFF2-40B4-BE49-F238E27FC236}">
                <a16:creationId xmlns="" xmlns:a16="http://schemas.microsoft.com/office/drawing/2014/main" id="{FB814476-D6F9-4A2B-B928-D2EF7CB07AD6}"/>
              </a:ext>
            </a:extLst>
          </p:cNvPr>
          <p:cNvCxnSpPr>
            <a:stCxn id="135" idx="6"/>
            <a:endCxn id="136" idx="2"/>
          </p:cNvCxnSpPr>
          <p:nvPr/>
        </p:nvCxnSpPr>
        <p:spPr bwMode="gray">
          <a:xfrm>
            <a:off x="8337523" y="2820632"/>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连接符 238">
            <a:extLst>
              <a:ext uri="{FF2B5EF4-FFF2-40B4-BE49-F238E27FC236}">
                <a16:creationId xmlns="" xmlns:a16="http://schemas.microsoft.com/office/drawing/2014/main" id="{1727233A-EF13-42C7-8FF5-7786D1659283}"/>
              </a:ext>
            </a:extLst>
          </p:cNvPr>
          <p:cNvCxnSpPr>
            <a:stCxn id="136" idx="6"/>
            <a:endCxn id="137" idx="2"/>
          </p:cNvCxnSpPr>
          <p:nvPr/>
        </p:nvCxnSpPr>
        <p:spPr bwMode="gray">
          <a:xfrm>
            <a:off x="8831616" y="2820632"/>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连接符 239">
            <a:extLst>
              <a:ext uri="{FF2B5EF4-FFF2-40B4-BE49-F238E27FC236}">
                <a16:creationId xmlns="" xmlns:a16="http://schemas.microsoft.com/office/drawing/2014/main" id="{6BB2052E-CD79-479F-97A0-F0DB545CF7EB}"/>
              </a:ext>
            </a:extLst>
          </p:cNvPr>
          <p:cNvCxnSpPr>
            <a:stCxn id="137" idx="6"/>
            <a:endCxn id="134" idx="2"/>
          </p:cNvCxnSpPr>
          <p:nvPr/>
        </p:nvCxnSpPr>
        <p:spPr bwMode="gray">
          <a:xfrm>
            <a:off x="9325709" y="2820633"/>
            <a:ext cx="308659" cy="459443"/>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8" name="矩形 240">
            <a:extLst>
              <a:ext uri="{FF2B5EF4-FFF2-40B4-BE49-F238E27FC236}">
                <a16:creationId xmlns="" xmlns:a16="http://schemas.microsoft.com/office/drawing/2014/main" id="{036CE0AB-4702-4C0C-AC82-99916CCECF32}"/>
              </a:ext>
            </a:extLst>
          </p:cNvPr>
          <p:cNvSpPr/>
          <p:nvPr/>
        </p:nvSpPr>
        <p:spPr bwMode="gray">
          <a:xfrm>
            <a:off x="9624204" y="3003424"/>
            <a:ext cx="200376" cy="184666"/>
          </a:xfrm>
          <a:prstGeom prst="rect">
            <a:avLst/>
          </a:prstGeom>
          <a:ln>
            <a:noFill/>
          </a:ln>
        </p:spPr>
        <p:txBody>
          <a:bodyPr wrap="none" lIns="0" tIns="0" rIns="0" bIns="0"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2" name="矩形 241">
            <a:extLst>
              <a:ext uri="{FF2B5EF4-FFF2-40B4-BE49-F238E27FC236}">
                <a16:creationId xmlns="" xmlns:a16="http://schemas.microsoft.com/office/drawing/2014/main" id="{446DCB5D-AAD4-4451-A310-FB0A8F5D2539}"/>
              </a:ext>
            </a:extLst>
          </p:cNvPr>
          <p:cNvSpPr/>
          <p:nvPr/>
        </p:nvSpPr>
        <p:spPr bwMode="gray">
          <a:xfrm>
            <a:off x="7129883" y="2563376"/>
            <a:ext cx="1944565" cy="514512"/>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 name="圆角矩形 245">
            <a:extLst>
              <a:ext uri="{FF2B5EF4-FFF2-40B4-BE49-F238E27FC236}">
                <a16:creationId xmlns="" xmlns:a16="http://schemas.microsoft.com/office/drawing/2014/main" id="{6FE17CEA-DD3F-430C-AD42-B07B06EFA878}"/>
              </a:ext>
            </a:extLst>
          </p:cNvPr>
          <p:cNvSpPr/>
          <p:nvPr/>
        </p:nvSpPr>
        <p:spPr bwMode="gray">
          <a:xfrm>
            <a:off x="10213783" y="3085319"/>
            <a:ext cx="634155" cy="389513"/>
          </a:xfrm>
          <a:prstGeom prst="roundRect">
            <a:avLst>
              <a:gd name="adj" fmla="val 50000"/>
            </a:avLst>
          </a:prstGeom>
          <a:ln>
            <a:solidFill>
              <a:srgbClr val="1AABE2"/>
            </a:solidFill>
          </a:ln>
        </p:spPr>
        <p:txBody>
          <a:bodyPr wrap="none" rtlCol="0" anchor="ctr">
            <a:spAutoFit/>
          </a:bodyPr>
          <a:lstStyle/>
          <a:p>
            <a:pPr algn="ct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 name="圆角矩形 246">
            <a:extLst>
              <a:ext uri="{FF2B5EF4-FFF2-40B4-BE49-F238E27FC236}">
                <a16:creationId xmlns="" xmlns:a16="http://schemas.microsoft.com/office/drawing/2014/main" id="{3466F447-F2FB-428E-BB2A-6BA742F633EE}"/>
              </a:ext>
            </a:extLst>
          </p:cNvPr>
          <p:cNvSpPr/>
          <p:nvPr/>
        </p:nvSpPr>
        <p:spPr bwMode="gray">
          <a:xfrm>
            <a:off x="10876892" y="3085319"/>
            <a:ext cx="586993" cy="389513"/>
          </a:xfrm>
          <a:prstGeom prst="roundRect">
            <a:avLst>
              <a:gd name="adj" fmla="val 50000"/>
            </a:avLst>
          </a:prstGeom>
          <a:ln>
            <a:solidFill>
              <a:srgbClr val="1AABE2"/>
            </a:solidFill>
          </a:ln>
        </p:spPr>
        <p:txBody>
          <a:bodyPr wrap="none" rtlCol="0" anchor="ctr">
            <a:spAutoFit/>
          </a:bodyPr>
          <a:lstStyle/>
          <a:p>
            <a:pPr algn="ct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PHY</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56" name="直接箭头连接符 247">
            <a:extLst>
              <a:ext uri="{FF2B5EF4-FFF2-40B4-BE49-F238E27FC236}">
                <a16:creationId xmlns="" xmlns:a16="http://schemas.microsoft.com/office/drawing/2014/main" id="{0EBCD97C-B3B5-4CF4-8D43-F9BD39396EF3}"/>
              </a:ext>
            </a:extLst>
          </p:cNvPr>
          <p:cNvCxnSpPr>
            <a:endCxn id="155" idx="1"/>
          </p:cNvCxnSpPr>
          <p:nvPr/>
        </p:nvCxnSpPr>
        <p:spPr bwMode="gray">
          <a:xfrm>
            <a:off x="10756451" y="3280075"/>
            <a:ext cx="120441" cy="1"/>
          </a:xfrm>
          <a:prstGeom prst="straightConnector1">
            <a:avLst/>
          </a:prstGeom>
          <a:noFill/>
          <a:ln w="9525" cap="flat" cmpd="sng" algn="ctr">
            <a:solidFill>
              <a:schemeClr val="bg1">
                <a:lumMod val="50000"/>
              </a:schemeClr>
            </a:solidFill>
            <a:prstDash val="solid"/>
            <a:tailEnd type="triangle" w="med" len="lg"/>
          </a:ln>
          <a:effectLst/>
        </p:spPr>
      </p:cxnSp>
      <p:cxnSp>
        <p:nvCxnSpPr>
          <p:cNvPr id="158" name="直接箭头连接符 248">
            <a:extLst>
              <a:ext uri="{FF2B5EF4-FFF2-40B4-BE49-F238E27FC236}">
                <a16:creationId xmlns="" xmlns:a16="http://schemas.microsoft.com/office/drawing/2014/main" id="{F5A5CC97-A6C5-4464-9A89-735C41DC5855}"/>
              </a:ext>
            </a:extLst>
          </p:cNvPr>
          <p:cNvCxnSpPr/>
          <p:nvPr/>
        </p:nvCxnSpPr>
        <p:spPr bwMode="gray">
          <a:xfrm>
            <a:off x="11386450" y="3280076"/>
            <a:ext cx="252073" cy="1"/>
          </a:xfrm>
          <a:prstGeom prst="straightConnector1">
            <a:avLst/>
          </a:prstGeom>
          <a:noFill/>
          <a:ln w="9525" cap="flat" cmpd="sng" algn="ctr">
            <a:solidFill>
              <a:schemeClr val="bg1">
                <a:lumMod val="50000"/>
              </a:schemeClr>
            </a:solidFill>
            <a:prstDash val="solid"/>
            <a:tailEnd type="triangle" w="med" len="lg"/>
          </a:ln>
          <a:effectLst/>
        </p:spPr>
      </p:cxnSp>
      <p:cxnSp>
        <p:nvCxnSpPr>
          <p:cNvPr id="159" name="直接连接符 251">
            <a:extLst>
              <a:ext uri="{FF2B5EF4-FFF2-40B4-BE49-F238E27FC236}">
                <a16:creationId xmlns="" xmlns:a16="http://schemas.microsoft.com/office/drawing/2014/main" id="{1B580954-5559-4CD9-9CE6-89B5C2495E45}"/>
              </a:ext>
            </a:extLst>
          </p:cNvPr>
          <p:cNvCxnSpPr>
            <a:endCxn id="133" idx="1"/>
          </p:cNvCxnSpPr>
          <p:nvPr/>
        </p:nvCxnSpPr>
        <p:spPr bwMode="gray">
          <a:xfrm>
            <a:off x="9814419" y="3280075"/>
            <a:ext cx="426524" cy="1"/>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1" name="任意多边形 252">
            <a:extLst>
              <a:ext uri="{FF2B5EF4-FFF2-40B4-BE49-F238E27FC236}">
                <a16:creationId xmlns="" xmlns:a16="http://schemas.microsoft.com/office/drawing/2014/main" id="{AACAE795-17B5-4387-90AC-3B79530CF5F7}"/>
              </a:ext>
            </a:extLst>
          </p:cNvPr>
          <p:cNvSpPr/>
          <p:nvPr/>
        </p:nvSpPr>
        <p:spPr bwMode="gray">
          <a:xfrm>
            <a:off x="6857316" y="2740213"/>
            <a:ext cx="461632" cy="77734"/>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6" name="矩形 253">
            <a:extLst>
              <a:ext uri="{FF2B5EF4-FFF2-40B4-BE49-F238E27FC236}">
                <a16:creationId xmlns="" xmlns:a16="http://schemas.microsoft.com/office/drawing/2014/main" id="{BC1C522E-89D9-4261-9E59-AA2FB2CDABCB}"/>
              </a:ext>
            </a:extLst>
          </p:cNvPr>
          <p:cNvSpPr/>
          <p:nvPr/>
        </p:nvSpPr>
        <p:spPr bwMode="gray">
          <a:xfrm>
            <a:off x="7422131" y="2628928"/>
            <a:ext cx="262892"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67" name="组合 254">
            <a:extLst>
              <a:ext uri="{FF2B5EF4-FFF2-40B4-BE49-F238E27FC236}">
                <a16:creationId xmlns="" xmlns:a16="http://schemas.microsoft.com/office/drawing/2014/main" id="{CBA4B8B7-D0F9-4740-97AD-C5C434A99227}"/>
              </a:ext>
            </a:extLst>
          </p:cNvPr>
          <p:cNvGrpSpPr/>
          <p:nvPr/>
        </p:nvGrpSpPr>
        <p:grpSpPr bwMode="gray">
          <a:xfrm>
            <a:off x="7736782" y="2665032"/>
            <a:ext cx="395191" cy="321570"/>
            <a:chOff x="6796081" y="1776846"/>
            <a:chExt cx="395076" cy="345115"/>
          </a:xfrm>
        </p:grpSpPr>
        <p:sp>
          <p:nvSpPr>
            <p:cNvPr id="168" name="圆角矩形 199">
              <a:extLst>
                <a:ext uri="{FF2B5EF4-FFF2-40B4-BE49-F238E27FC236}">
                  <a16:creationId xmlns="" xmlns:a16="http://schemas.microsoft.com/office/drawing/2014/main" id="{D462529F-A29D-41B3-A042-15E2F74558E1}"/>
                </a:ext>
              </a:extLst>
            </p:cNvPr>
            <p:cNvSpPr/>
            <p:nvPr/>
          </p:nvSpPr>
          <p:spPr bwMode="gray">
            <a:xfrm>
              <a:off x="6796081" y="177684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9" name="圆角矩形 200">
              <a:extLst>
                <a:ext uri="{FF2B5EF4-FFF2-40B4-BE49-F238E27FC236}">
                  <a16:creationId xmlns="" xmlns:a16="http://schemas.microsoft.com/office/drawing/2014/main" id="{7FCB9C49-3CC7-4246-93A1-97D2E1FCE77D}"/>
                </a:ext>
              </a:extLst>
            </p:cNvPr>
            <p:cNvSpPr/>
            <p:nvPr/>
          </p:nvSpPr>
          <p:spPr bwMode="gray">
            <a:xfrm>
              <a:off x="6796081" y="182306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1" name="圆角矩形 201">
              <a:extLst>
                <a:ext uri="{FF2B5EF4-FFF2-40B4-BE49-F238E27FC236}">
                  <a16:creationId xmlns="" xmlns:a16="http://schemas.microsoft.com/office/drawing/2014/main" id="{33CDD75F-9C43-4305-88B2-2EAB753FB79E}"/>
                </a:ext>
              </a:extLst>
            </p:cNvPr>
            <p:cNvSpPr/>
            <p:nvPr/>
          </p:nvSpPr>
          <p:spPr bwMode="gray">
            <a:xfrm>
              <a:off x="6796081" y="1869278"/>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2" name="圆角矩形 202">
              <a:extLst>
                <a:ext uri="{FF2B5EF4-FFF2-40B4-BE49-F238E27FC236}">
                  <a16:creationId xmlns="" xmlns:a16="http://schemas.microsoft.com/office/drawing/2014/main" id="{76C376DB-39A3-4A4A-845D-4002D3506AD8}"/>
                </a:ext>
              </a:extLst>
            </p:cNvPr>
            <p:cNvSpPr/>
            <p:nvPr/>
          </p:nvSpPr>
          <p:spPr bwMode="gray">
            <a:xfrm>
              <a:off x="6796081" y="1915494"/>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3" name="圆角矩形 203">
              <a:extLst>
                <a:ext uri="{FF2B5EF4-FFF2-40B4-BE49-F238E27FC236}">
                  <a16:creationId xmlns="" xmlns:a16="http://schemas.microsoft.com/office/drawing/2014/main" id="{63CE2475-1493-4A66-BB04-3E4A1B32339C}"/>
                </a:ext>
              </a:extLst>
            </p:cNvPr>
            <p:cNvSpPr/>
            <p:nvPr/>
          </p:nvSpPr>
          <p:spPr bwMode="gray">
            <a:xfrm>
              <a:off x="6796081" y="1961710"/>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7" name="圆角矩形 204">
              <a:extLst>
                <a:ext uri="{FF2B5EF4-FFF2-40B4-BE49-F238E27FC236}">
                  <a16:creationId xmlns="" xmlns:a16="http://schemas.microsoft.com/office/drawing/2014/main" id="{1E4324AE-A70C-427B-9BE8-0E2C5AAD5603}"/>
                </a:ext>
              </a:extLst>
            </p:cNvPr>
            <p:cNvSpPr/>
            <p:nvPr/>
          </p:nvSpPr>
          <p:spPr bwMode="gray">
            <a:xfrm>
              <a:off x="6796081" y="200792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8" name="圆角矩形 205">
              <a:extLst>
                <a:ext uri="{FF2B5EF4-FFF2-40B4-BE49-F238E27FC236}">
                  <a16:creationId xmlns="" xmlns:a16="http://schemas.microsoft.com/office/drawing/2014/main" id="{2EB05D20-AC04-4696-AFA9-DC7AA2140898}"/>
                </a:ext>
              </a:extLst>
            </p:cNvPr>
            <p:cNvSpPr/>
            <p:nvPr/>
          </p:nvSpPr>
          <p:spPr bwMode="gray">
            <a:xfrm>
              <a:off x="6796081" y="205414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79" name="圆角矩形 206">
              <a:extLst>
                <a:ext uri="{FF2B5EF4-FFF2-40B4-BE49-F238E27FC236}">
                  <a16:creationId xmlns="" xmlns:a16="http://schemas.microsoft.com/office/drawing/2014/main" id="{14F8B769-D3AB-4C61-8B92-FFE71A137FE4}"/>
                </a:ext>
              </a:extLst>
            </p:cNvPr>
            <p:cNvSpPr/>
            <p:nvPr/>
          </p:nvSpPr>
          <p:spPr bwMode="gray">
            <a:xfrm>
              <a:off x="6796081" y="210036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80" name="矩形 263">
            <a:extLst>
              <a:ext uri="{FF2B5EF4-FFF2-40B4-BE49-F238E27FC236}">
                <a16:creationId xmlns="" xmlns:a16="http://schemas.microsoft.com/office/drawing/2014/main" id="{D3810949-13E2-4597-8B11-71A62AAAEEFA}"/>
              </a:ext>
            </a:extLst>
          </p:cNvPr>
          <p:cNvSpPr/>
          <p:nvPr/>
        </p:nvSpPr>
        <p:spPr bwMode="gray">
          <a:xfrm>
            <a:off x="7479855" y="2827957"/>
            <a:ext cx="177934"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1" name="流程图: 汇总连接 265">
            <a:extLst>
              <a:ext uri="{FF2B5EF4-FFF2-40B4-BE49-F238E27FC236}">
                <a16:creationId xmlns="" xmlns:a16="http://schemas.microsoft.com/office/drawing/2014/main" id="{D14ADB62-408E-4FC0-A5A2-D4D6F3DA3492}"/>
              </a:ext>
            </a:extLst>
          </p:cNvPr>
          <p:cNvSpPr/>
          <p:nvPr/>
        </p:nvSpPr>
        <p:spPr bwMode="gray">
          <a:xfrm>
            <a:off x="8157471" y="3610637"/>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2" name="流程图: 汇总连接 266">
            <a:extLst>
              <a:ext uri="{FF2B5EF4-FFF2-40B4-BE49-F238E27FC236}">
                <a16:creationId xmlns="" xmlns:a16="http://schemas.microsoft.com/office/drawing/2014/main" id="{EE3110D1-11C9-43A8-B4B4-398E5B4529D0}"/>
              </a:ext>
            </a:extLst>
          </p:cNvPr>
          <p:cNvSpPr/>
          <p:nvPr/>
        </p:nvSpPr>
        <p:spPr bwMode="gray">
          <a:xfrm>
            <a:off x="8651563" y="3610637"/>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3" name="流程图: 汇总连接 267">
            <a:extLst>
              <a:ext uri="{FF2B5EF4-FFF2-40B4-BE49-F238E27FC236}">
                <a16:creationId xmlns="" xmlns:a16="http://schemas.microsoft.com/office/drawing/2014/main" id="{A2419430-772A-4F36-B691-53AED3F1112B}"/>
              </a:ext>
            </a:extLst>
          </p:cNvPr>
          <p:cNvSpPr/>
          <p:nvPr/>
        </p:nvSpPr>
        <p:spPr bwMode="gray">
          <a:xfrm>
            <a:off x="9145656" y="3610637"/>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84" name="直接连接符 268">
            <a:extLst>
              <a:ext uri="{FF2B5EF4-FFF2-40B4-BE49-F238E27FC236}">
                <a16:creationId xmlns="" xmlns:a16="http://schemas.microsoft.com/office/drawing/2014/main" id="{265B5DAB-51EE-4AFB-B473-AF80E56EB70D}"/>
              </a:ext>
            </a:extLst>
          </p:cNvPr>
          <p:cNvCxnSpPr>
            <a:stCxn id="181" idx="6"/>
            <a:endCxn id="182" idx="2"/>
          </p:cNvCxnSpPr>
          <p:nvPr/>
        </p:nvCxnSpPr>
        <p:spPr bwMode="gray">
          <a:xfrm>
            <a:off x="8337523" y="3691028"/>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直接连接符 269">
            <a:extLst>
              <a:ext uri="{FF2B5EF4-FFF2-40B4-BE49-F238E27FC236}">
                <a16:creationId xmlns="" xmlns:a16="http://schemas.microsoft.com/office/drawing/2014/main" id="{F9245D14-2ED9-4FB1-904C-ED4470A6FCEB}"/>
              </a:ext>
            </a:extLst>
          </p:cNvPr>
          <p:cNvCxnSpPr>
            <a:stCxn id="182" idx="6"/>
            <a:endCxn id="183" idx="2"/>
          </p:cNvCxnSpPr>
          <p:nvPr/>
        </p:nvCxnSpPr>
        <p:spPr bwMode="gray">
          <a:xfrm>
            <a:off x="8831616" y="3691028"/>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6" name="矩形 270">
            <a:extLst>
              <a:ext uri="{FF2B5EF4-FFF2-40B4-BE49-F238E27FC236}">
                <a16:creationId xmlns="" xmlns:a16="http://schemas.microsoft.com/office/drawing/2014/main" id="{0A06645C-01F1-4162-AC68-5A9885101DF4}"/>
              </a:ext>
            </a:extLst>
          </p:cNvPr>
          <p:cNvSpPr/>
          <p:nvPr/>
        </p:nvSpPr>
        <p:spPr bwMode="gray">
          <a:xfrm>
            <a:off x="7129883" y="3433772"/>
            <a:ext cx="1944565" cy="514512"/>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7" name="矩形 271">
            <a:extLst>
              <a:ext uri="{FF2B5EF4-FFF2-40B4-BE49-F238E27FC236}">
                <a16:creationId xmlns="" xmlns:a16="http://schemas.microsoft.com/office/drawing/2014/main" id="{CE7ABF5E-036E-4646-AD66-4B2790C8651D}"/>
              </a:ext>
            </a:extLst>
          </p:cNvPr>
          <p:cNvSpPr/>
          <p:nvPr/>
        </p:nvSpPr>
        <p:spPr bwMode="gray">
          <a:xfrm>
            <a:off x="8043104" y="3368211"/>
            <a:ext cx="386644"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8" name="矩形 272">
            <a:extLst>
              <a:ext uri="{FF2B5EF4-FFF2-40B4-BE49-F238E27FC236}">
                <a16:creationId xmlns="" xmlns:a16="http://schemas.microsoft.com/office/drawing/2014/main" id="{A5C9C27F-D32F-41AA-AD8B-211EF41E2594}"/>
              </a:ext>
            </a:extLst>
          </p:cNvPr>
          <p:cNvSpPr/>
          <p:nvPr/>
        </p:nvSpPr>
        <p:spPr bwMode="gray">
          <a:xfrm>
            <a:off x="8525137" y="3368211"/>
            <a:ext cx="413896"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GQ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89" name="矩形 273">
            <a:extLst>
              <a:ext uri="{FF2B5EF4-FFF2-40B4-BE49-F238E27FC236}">
                <a16:creationId xmlns="" xmlns:a16="http://schemas.microsoft.com/office/drawing/2014/main" id="{EA3702ED-D929-4EDA-B281-F9DFD9071BDE}"/>
              </a:ext>
            </a:extLst>
          </p:cNvPr>
          <p:cNvSpPr/>
          <p:nvPr/>
        </p:nvSpPr>
        <p:spPr bwMode="gray">
          <a:xfrm>
            <a:off x="9065013" y="3368211"/>
            <a:ext cx="325730"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VI</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0" name="任意多边形 274">
            <a:extLst>
              <a:ext uri="{FF2B5EF4-FFF2-40B4-BE49-F238E27FC236}">
                <a16:creationId xmlns="" xmlns:a16="http://schemas.microsoft.com/office/drawing/2014/main" id="{98D353DF-FFDF-4D70-9233-EF230F94B5CF}"/>
              </a:ext>
            </a:extLst>
          </p:cNvPr>
          <p:cNvSpPr/>
          <p:nvPr/>
        </p:nvSpPr>
        <p:spPr bwMode="gray">
          <a:xfrm>
            <a:off x="6857316" y="3610609"/>
            <a:ext cx="461632" cy="77734"/>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1" name="矩形 275">
            <a:extLst>
              <a:ext uri="{FF2B5EF4-FFF2-40B4-BE49-F238E27FC236}">
                <a16:creationId xmlns="" xmlns:a16="http://schemas.microsoft.com/office/drawing/2014/main" id="{56BAE119-2222-4653-B88E-AB737015077D}"/>
              </a:ext>
            </a:extLst>
          </p:cNvPr>
          <p:cNvSpPr/>
          <p:nvPr/>
        </p:nvSpPr>
        <p:spPr bwMode="gray">
          <a:xfrm>
            <a:off x="7422131" y="3499324"/>
            <a:ext cx="262892"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92" name="组合 276">
            <a:extLst>
              <a:ext uri="{FF2B5EF4-FFF2-40B4-BE49-F238E27FC236}">
                <a16:creationId xmlns="" xmlns:a16="http://schemas.microsoft.com/office/drawing/2014/main" id="{D7C47A93-DFEB-4387-8CE8-5F960A6CE14D}"/>
              </a:ext>
            </a:extLst>
          </p:cNvPr>
          <p:cNvGrpSpPr/>
          <p:nvPr/>
        </p:nvGrpSpPr>
        <p:grpSpPr bwMode="gray">
          <a:xfrm>
            <a:off x="7736782" y="3535429"/>
            <a:ext cx="395191" cy="321570"/>
            <a:chOff x="6796081" y="2838617"/>
            <a:chExt cx="395076" cy="345115"/>
          </a:xfrm>
        </p:grpSpPr>
        <p:sp>
          <p:nvSpPr>
            <p:cNvPr id="193" name="圆角矩形 199">
              <a:extLst>
                <a:ext uri="{FF2B5EF4-FFF2-40B4-BE49-F238E27FC236}">
                  <a16:creationId xmlns="" xmlns:a16="http://schemas.microsoft.com/office/drawing/2014/main" id="{B75FA930-5167-4609-AC81-64AEE01A9F7A}"/>
                </a:ext>
              </a:extLst>
            </p:cNvPr>
            <p:cNvSpPr/>
            <p:nvPr/>
          </p:nvSpPr>
          <p:spPr bwMode="gray">
            <a:xfrm>
              <a:off x="6796081" y="2838617"/>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4" name="圆角矩形 200">
              <a:extLst>
                <a:ext uri="{FF2B5EF4-FFF2-40B4-BE49-F238E27FC236}">
                  <a16:creationId xmlns="" xmlns:a16="http://schemas.microsoft.com/office/drawing/2014/main" id="{ECB683D8-98D3-4C85-AFC4-6ED3DE5260DB}"/>
                </a:ext>
              </a:extLst>
            </p:cNvPr>
            <p:cNvSpPr/>
            <p:nvPr/>
          </p:nvSpPr>
          <p:spPr bwMode="gray">
            <a:xfrm>
              <a:off x="6796081" y="2884833"/>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5" name="圆角矩形 201">
              <a:extLst>
                <a:ext uri="{FF2B5EF4-FFF2-40B4-BE49-F238E27FC236}">
                  <a16:creationId xmlns="" xmlns:a16="http://schemas.microsoft.com/office/drawing/2014/main" id="{21D59B7E-404E-45A3-8FFF-E6D78BEA7A88}"/>
                </a:ext>
              </a:extLst>
            </p:cNvPr>
            <p:cNvSpPr/>
            <p:nvPr/>
          </p:nvSpPr>
          <p:spPr bwMode="gray">
            <a:xfrm>
              <a:off x="6796081" y="2931049"/>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6" name="圆角矩形 202">
              <a:extLst>
                <a:ext uri="{FF2B5EF4-FFF2-40B4-BE49-F238E27FC236}">
                  <a16:creationId xmlns="" xmlns:a16="http://schemas.microsoft.com/office/drawing/2014/main" id="{3BB21E4C-5861-452D-B6DA-601E705A0FCA}"/>
                </a:ext>
              </a:extLst>
            </p:cNvPr>
            <p:cNvSpPr/>
            <p:nvPr/>
          </p:nvSpPr>
          <p:spPr bwMode="gray">
            <a:xfrm>
              <a:off x="6796081" y="2977265"/>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7" name="圆角矩形 203">
              <a:extLst>
                <a:ext uri="{FF2B5EF4-FFF2-40B4-BE49-F238E27FC236}">
                  <a16:creationId xmlns="" xmlns:a16="http://schemas.microsoft.com/office/drawing/2014/main" id="{F0E30ECA-EC92-476B-BD07-555774036724}"/>
                </a:ext>
              </a:extLst>
            </p:cNvPr>
            <p:cNvSpPr/>
            <p:nvPr/>
          </p:nvSpPr>
          <p:spPr bwMode="gray">
            <a:xfrm>
              <a:off x="6796081" y="302348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8" name="圆角矩形 204">
              <a:extLst>
                <a:ext uri="{FF2B5EF4-FFF2-40B4-BE49-F238E27FC236}">
                  <a16:creationId xmlns="" xmlns:a16="http://schemas.microsoft.com/office/drawing/2014/main" id="{4966311A-2F5E-4AE3-B357-60B084DC59E9}"/>
                </a:ext>
              </a:extLst>
            </p:cNvPr>
            <p:cNvSpPr/>
            <p:nvPr/>
          </p:nvSpPr>
          <p:spPr bwMode="gray">
            <a:xfrm>
              <a:off x="6796081" y="3069697"/>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9" name="圆角矩形 205">
              <a:extLst>
                <a:ext uri="{FF2B5EF4-FFF2-40B4-BE49-F238E27FC236}">
                  <a16:creationId xmlns="" xmlns:a16="http://schemas.microsoft.com/office/drawing/2014/main" id="{82772BF5-C185-4EDA-8F5C-A7F7971C22B0}"/>
                </a:ext>
              </a:extLst>
            </p:cNvPr>
            <p:cNvSpPr/>
            <p:nvPr/>
          </p:nvSpPr>
          <p:spPr bwMode="gray">
            <a:xfrm>
              <a:off x="6796081" y="3115913"/>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0" name="圆角矩形 206">
              <a:extLst>
                <a:ext uri="{FF2B5EF4-FFF2-40B4-BE49-F238E27FC236}">
                  <a16:creationId xmlns="" xmlns:a16="http://schemas.microsoft.com/office/drawing/2014/main" id="{7216D2FC-5617-4FBB-A1F7-DE2F5797C693}"/>
                </a:ext>
              </a:extLst>
            </p:cNvPr>
            <p:cNvSpPr/>
            <p:nvPr/>
          </p:nvSpPr>
          <p:spPr bwMode="gray">
            <a:xfrm>
              <a:off x="6796081" y="316213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01" name="矩形 285">
            <a:extLst>
              <a:ext uri="{FF2B5EF4-FFF2-40B4-BE49-F238E27FC236}">
                <a16:creationId xmlns="" xmlns:a16="http://schemas.microsoft.com/office/drawing/2014/main" id="{C544F519-4CAF-4D12-94F2-61C250FC15E0}"/>
              </a:ext>
            </a:extLst>
          </p:cNvPr>
          <p:cNvSpPr/>
          <p:nvPr/>
        </p:nvSpPr>
        <p:spPr bwMode="gray">
          <a:xfrm>
            <a:off x="7479855" y="3698353"/>
            <a:ext cx="177934"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2" name="文本框 286">
            <a:extLst>
              <a:ext uri="{FF2B5EF4-FFF2-40B4-BE49-F238E27FC236}">
                <a16:creationId xmlns="" xmlns:a16="http://schemas.microsoft.com/office/drawing/2014/main" id="{999A7B3A-EDF5-4816-A838-79930C985EDD}"/>
              </a:ext>
            </a:extLst>
          </p:cNvPr>
          <p:cNvSpPr txBox="1"/>
          <p:nvPr/>
        </p:nvSpPr>
        <p:spPr bwMode="gray">
          <a:xfrm>
            <a:off x="8085678" y="3245233"/>
            <a:ext cx="923330" cy="184666"/>
          </a:xfrm>
          <a:prstGeom prst="rect">
            <a:avLst/>
          </a:prstGeom>
        </p:spPr>
        <p:txBody>
          <a:bodyPr wrap="none" lIns="0" tIns="0" rIns="0" bIns="0" rtlCol="0">
            <a:spAutoFit/>
          </a:bodyPr>
          <a:lstStyle/>
          <a:p>
            <a:pPr defTabSz="991093" eaLnBrk="0" hangingPunct="0"/>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信道化子接口</a:t>
            </a:r>
          </a:p>
        </p:txBody>
      </p:sp>
      <p:sp>
        <p:nvSpPr>
          <p:cNvPr id="203" name="文本框 287">
            <a:extLst>
              <a:ext uri="{FF2B5EF4-FFF2-40B4-BE49-F238E27FC236}">
                <a16:creationId xmlns="" xmlns:a16="http://schemas.microsoft.com/office/drawing/2014/main" id="{39FC4FC4-CB44-4828-8A05-B39F11F6DC69}"/>
              </a:ext>
            </a:extLst>
          </p:cNvPr>
          <p:cNvSpPr txBox="1"/>
          <p:nvPr/>
        </p:nvSpPr>
        <p:spPr bwMode="gray">
          <a:xfrm>
            <a:off x="7908147" y="3149065"/>
            <a:ext cx="184666" cy="118622"/>
          </a:xfrm>
          <a:prstGeom prst="rect">
            <a:avLst/>
          </a:prstGeom>
          <a:noFill/>
        </p:spPr>
        <p:txBody>
          <a:bodyPr vert="eaVert" wrap="none" lIns="0" tIns="0" rIns="0" bIns="0" rtlCol="0" anchor="ctr">
            <a:spAutoFit/>
          </a:bodyPr>
          <a:lstStyle/>
          <a:p>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04" name="直接箭头连接符 288">
            <a:extLst>
              <a:ext uri="{FF2B5EF4-FFF2-40B4-BE49-F238E27FC236}">
                <a16:creationId xmlns="" xmlns:a16="http://schemas.microsoft.com/office/drawing/2014/main" id="{6C064EE3-4F46-4D35-A509-421595D1266B}"/>
              </a:ext>
            </a:extLst>
          </p:cNvPr>
          <p:cNvCxnSpPr>
            <a:stCxn id="183" idx="6"/>
            <a:endCxn id="134" idx="2"/>
          </p:cNvCxnSpPr>
          <p:nvPr/>
        </p:nvCxnSpPr>
        <p:spPr bwMode="gray">
          <a:xfrm flipV="1">
            <a:off x="9325709" y="3280075"/>
            <a:ext cx="308659" cy="410954"/>
          </a:xfrm>
          <a:prstGeom prst="straightConnector1">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 name="文本框 291">
            <a:extLst>
              <a:ext uri="{FF2B5EF4-FFF2-40B4-BE49-F238E27FC236}">
                <a16:creationId xmlns="" xmlns:a16="http://schemas.microsoft.com/office/drawing/2014/main" id="{72281A82-72D5-4654-ACEA-511E622BE2C4}"/>
              </a:ext>
            </a:extLst>
          </p:cNvPr>
          <p:cNvSpPr txBox="1"/>
          <p:nvPr/>
        </p:nvSpPr>
        <p:spPr bwMode="gray">
          <a:xfrm>
            <a:off x="7903548" y="4379037"/>
            <a:ext cx="240450" cy="184666"/>
          </a:xfrm>
          <a:prstGeom prst="rect">
            <a:avLst/>
          </a:prstGeom>
        </p:spPr>
        <p:txBody>
          <a:bodyPr wrap="none" lIns="0" tIns="0" rIns="0" bIns="0" rtlCol="0">
            <a:spAutoFit/>
          </a:bodyPr>
          <a:lstStyle>
            <a:defPPr>
              <a:defRPr lang="zh-CN"/>
            </a:defPPr>
            <a:lvl1pPr defTabSz="991093" eaLnBrk="0" fontAlgn="auto" hangingPunct="0">
              <a:spcBef>
                <a:spcPts val="0"/>
              </a:spcBef>
              <a:spcAft>
                <a:spcPts val="0"/>
              </a:spcAft>
              <a:defRPr sz="1000" b="1">
                <a:solidFill>
                  <a:prstClr val="black"/>
                </a:solidFill>
                <a:latin typeface="Huawei Sans" panose="020C0503030203020204" pitchFamily="34" charset="0"/>
                <a:ea typeface="宋体"/>
                <a:cs typeface="Huawei Sans" panose="020C0503030203020204" pitchFamily="34" charset="0"/>
              </a:defRPr>
            </a:lvl1pPr>
          </a:lstStyle>
          <a:p>
            <a:r>
              <a:rPr lang="en-US" altLang="zh-CN" sz="1200" dirty="0">
                <a:ea typeface="方正兰亭黑简体" panose="02000000000000000000" pitchFamily="2" charset="-122"/>
                <a:cs typeface="+mn-ea"/>
                <a:sym typeface="Huawei Sans" panose="020C0503030203020204" pitchFamily="34" charset="0"/>
              </a:rPr>
              <a:t>TM</a:t>
            </a:r>
            <a:endParaRPr lang="zh-CN" altLang="en-US" sz="1200" dirty="0">
              <a:ea typeface="方正兰亭黑简体" panose="02000000000000000000" pitchFamily="2" charset="-122"/>
              <a:cs typeface="+mn-ea"/>
              <a:sym typeface="Huawei Sans" panose="020C0503030203020204" pitchFamily="34" charset="0"/>
            </a:endParaRPr>
          </a:p>
        </p:txBody>
      </p:sp>
      <p:sp>
        <p:nvSpPr>
          <p:cNvPr id="206" name="文本框 292">
            <a:extLst>
              <a:ext uri="{FF2B5EF4-FFF2-40B4-BE49-F238E27FC236}">
                <a16:creationId xmlns="" xmlns:a16="http://schemas.microsoft.com/office/drawing/2014/main" id="{655C384F-8EBD-41DD-B657-28E1CC17ADED}"/>
              </a:ext>
            </a:extLst>
          </p:cNvPr>
          <p:cNvSpPr txBox="1"/>
          <p:nvPr/>
        </p:nvSpPr>
        <p:spPr bwMode="gray">
          <a:xfrm>
            <a:off x="9620972" y="4379037"/>
            <a:ext cx="237244" cy="184666"/>
          </a:xfrm>
          <a:prstGeom prst="rect">
            <a:avLst/>
          </a:prstGeom>
        </p:spPr>
        <p:txBody>
          <a:bodyPr wrap="none" lIns="0" tIns="0" rIns="0" bIns="0" rtlCol="0">
            <a:spAutoFit/>
          </a:bodyPr>
          <a:lstStyle>
            <a:defPPr>
              <a:defRPr lang="zh-CN"/>
            </a:defPPr>
            <a:lvl1pPr defTabSz="991093" eaLnBrk="0" fontAlgn="auto" hangingPunct="0">
              <a:spcBef>
                <a:spcPts val="0"/>
              </a:spcBef>
              <a:spcAft>
                <a:spcPts val="0"/>
              </a:spcAft>
              <a:defRPr sz="1000" b="1">
                <a:solidFill>
                  <a:prstClr val="black"/>
                </a:solidFill>
                <a:latin typeface="Huawei Sans" panose="020C0503030203020204" pitchFamily="34" charset="0"/>
                <a:ea typeface="宋体"/>
                <a:cs typeface="Huawei Sans" panose="020C0503030203020204" pitchFamily="34" charset="0"/>
              </a:defRPr>
            </a:lvl1pPr>
          </a:lstStyle>
          <a:p>
            <a:r>
              <a:rPr lang="en-US" altLang="zh-CN" sz="1200" dirty="0">
                <a:ea typeface="方正兰亭黑简体" panose="02000000000000000000" pitchFamily="2" charset="-122"/>
                <a:cs typeface="+mn-ea"/>
                <a:sym typeface="Huawei Sans" panose="020C0503030203020204" pitchFamily="34" charset="0"/>
              </a:rPr>
              <a:t>PIC</a:t>
            </a:r>
            <a:endParaRPr lang="zh-CN" altLang="en-US" sz="1200" dirty="0">
              <a:ea typeface="方正兰亭黑简体" panose="02000000000000000000" pitchFamily="2" charset="-122"/>
              <a:cs typeface="+mn-ea"/>
              <a:sym typeface="Huawei Sans" panose="020C0503030203020204" pitchFamily="34" charset="0"/>
            </a:endParaRPr>
          </a:p>
        </p:txBody>
      </p:sp>
      <p:sp>
        <p:nvSpPr>
          <p:cNvPr id="207" name="矩形 289">
            <a:extLst>
              <a:ext uri="{FF2B5EF4-FFF2-40B4-BE49-F238E27FC236}">
                <a16:creationId xmlns="" xmlns:a16="http://schemas.microsoft.com/office/drawing/2014/main" id="{90D06C2A-7C60-457D-81EF-F60F042F7DD3}"/>
              </a:ext>
            </a:extLst>
          </p:cNvPr>
          <p:cNvSpPr/>
          <p:nvPr/>
        </p:nvSpPr>
        <p:spPr bwMode="gray">
          <a:xfrm>
            <a:off x="10762236" y="4581562"/>
            <a:ext cx="507922" cy="1187868"/>
          </a:xfrm>
          <a:prstGeom prst="rect">
            <a:avLst/>
          </a:prstGeom>
          <a:solidFill>
            <a:srgbClr val="1AABE2">
              <a:alpha val="2000"/>
            </a:srgbClr>
          </a:solidFill>
          <a:ln w="9525" cap="flat" cmpd="sng" algn="ctr">
            <a:solidFill>
              <a:srgbClr val="8CD5F0">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8" name="矩形 290">
            <a:extLst>
              <a:ext uri="{FF2B5EF4-FFF2-40B4-BE49-F238E27FC236}">
                <a16:creationId xmlns="" xmlns:a16="http://schemas.microsoft.com/office/drawing/2014/main" id="{07A889D6-D103-4B0F-8120-EB491E7C42DD}"/>
              </a:ext>
            </a:extLst>
          </p:cNvPr>
          <p:cNvSpPr/>
          <p:nvPr/>
        </p:nvSpPr>
        <p:spPr bwMode="gray">
          <a:xfrm>
            <a:off x="9763903" y="4581562"/>
            <a:ext cx="953627" cy="1187868"/>
          </a:xfrm>
          <a:prstGeom prst="rect">
            <a:avLst/>
          </a:prstGeom>
          <a:solidFill>
            <a:srgbClr val="1AABE2">
              <a:alpha val="2000"/>
            </a:srgbClr>
          </a:solidFill>
          <a:ln w="9525" cap="flat" cmpd="sng" algn="ctr">
            <a:solidFill>
              <a:srgbClr val="8CD5F0">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9" name="文本框 293">
            <a:extLst>
              <a:ext uri="{FF2B5EF4-FFF2-40B4-BE49-F238E27FC236}">
                <a16:creationId xmlns="" xmlns:a16="http://schemas.microsoft.com/office/drawing/2014/main" id="{10426D95-B149-4768-BDCF-43B340F596B2}"/>
              </a:ext>
            </a:extLst>
          </p:cNvPr>
          <p:cNvSpPr txBox="1"/>
          <p:nvPr/>
        </p:nvSpPr>
        <p:spPr bwMode="gray">
          <a:xfrm>
            <a:off x="8170961" y="5098984"/>
            <a:ext cx="369332" cy="210955"/>
          </a:xfrm>
          <a:prstGeom prst="rect">
            <a:avLst/>
          </a:prstGeom>
          <a:noFill/>
        </p:spPr>
        <p:txBody>
          <a:bodyPr vert="eaVert" wrap="none" rtlCol="0">
            <a:spAutoFit/>
          </a:bodyPr>
          <a:lstStyle/>
          <a:p>
            <a:pPr>
              <a:buClr>
                <a:srgbClr val="CC9900"/>
              </a:buClr>
              <a:defRPr/>
            </a:pPr>
            <a:r>
              <a:rPr lang="en-US"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0" name="流程图: 汇总连接 294">
            <a:extLst>
              <a:ext uri="{FF2B5EF4-FFF2-40B4-BE49-F238E27FC236}">
                <a16:creationId xmlns="" xmlns:a16="http://schemas.microsoft.com/office/drawing/2014/main" id="{C579E4D7-79AE-463D-BB96-A5E238744404}"/>
              </a:ext>
            </a:extLst>
          </p:cNvPr>
          <p:cNvSpPr/>
          <p:nvPr/>
        </p:nvSpPr>
        <p:spPr bwMode="gray">
          <a:xfrm>
            <a:off x="8235502" y="4704688"/>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1" name="流程图: 汇总连接 295">
            <a:extLst>
              <a:ext uri="{FF2B5EF4-FFF2-40B4-BE49-F238E27FC236}">
                <a16:creationId xmlns="" xmlns:a16="http://schemas.microsoft.com/office/drawing/2014/main" id="{302D4539-F332-49C4-A1BA-D2AEF2109B73}"/>
              </a:ext>
            </a:extLst>
          </p:cNvPr>
          <p:cNvSpPr/>
          <p:nvPr/>
        </p:nvSpPr>
        <p:spPr bwMode="gray">
          <a:xfrm>
            <a:off x="8728979" y="4704688"/>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2" name="矩形 296">
            <a:extLst>
              <a:ext uri="{FF2B5EF4-FFF2-40B4-BE49-F238E27FC236}">
                <a16:creationId xmlns="" xmlns:a16="http://schemas.microsoft.com/office/drawing/2014/main" id="{1BB6E859-5C4D-4B80-BA7A-DE24AE9EF4A0}"/>
              </a:ext>
            </a:extLst>
          </p:cNvPr>
          <p:cNvSpPr/>
          <p:nvPr/>
        </p:nvSpPr>
        <p:spPr bwMode="gray">
          <a:xfrm>
            <a:off x="8261472" y="4520444"/>
            <a:ext cx="201979"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13" name="直接连接符 297">
            <a:extLst>
              <a:ext uri="{FF2B5EF4-FFF2-40B4-BE49-F238E27FC236}">
                <a16:creationId xmlns="" xmlns:a16="http://schemas.microsoft.com/office/drawing/2014/main" id="{93C3C987-6525-4379-875C-D90808F6BA97}"/>
              </a:ext>
            </a:extLst>
          </p:cNvPr>
          <p:cNvCxnSpPr>
            <a:stCxn id="210" idx="6"/>
            <a:endCxn id="211" idx="2"/>
          </p:cNvCxnSpPr>
          <p:nvPr/>
        </p:nvCxnSpPr>
        <p:spPr bwMode="gray">
          <a:xfrm>
            <a:off x="8418891" y="4783879"/>
            <a:ext cx="310088"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4" name="矩形 298">
            <a:extLst>
              <a:ext uri="{FF2B5EF4-FFF2-40B4-BE49-F238E27FC236}">
                <a16:creationId xmlns="" xmlns:a16="http://schemas.microsoft.com/office/drawing/2014/main" id="{EBDE87BD-73CA-4988-BBEA-E619A8C032CB}"/>
              </a:ext>
            </a:extLst>
          </p:cNvPr>
          <p:cNvSpPr/>
          <p:nvPr/>
        </p:nvSpPr>
        <p:spPr bwMode="gray">
          <a:xfrm>
            <a:off x="8720486" y="4520444"/>
            <a:ext cx="200376"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5" name="矩形 299">
            <a:extLst>
              <a:ext uri="{FF2B5EF4-FFF2-40B4-BE49-F238E27FC236}">
                <a16:creationId xmlns="" xmlns:a16="http://schemas.microsoft.com/office/drawing/2014/main" id="{B4F62F64-EA17-4DD2-A819-B4F0AFA06886}"/>
              </a:ext>
            </a:extLst>
          </p:cNvPr>
          <p:cNvSpPr/>
          <p:nvPr/>
        </p:nvSpPr>
        <p:spPr bwMode="gray">
          <a:xfrm>
            <a:off x="7136884" y="4528726"/>
            <a:ext cx="1540475" cy="506821"/>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16" name="直接连接符 300">
            <a:extLst>
              <a:ext uri="{FF2B5EF4-FFF2-40B4-BE49-F238E27FC236}">
                <a16:creationId xmlns="" xmlns:a16="http://schemas.microsoft.com/office/drawing/2014/main" id="{BB281933-35B3-4D25-85E8-CE5B76128AAA}"/>
              </a:ext>
            </a:extLst>
          </p:cNvPr>
          <p:cNvCxnSpPr>
            <a:stCxn id="211" idx="6"/>
            <a:endCxn id="218" idx="1"/>
          </p:cNvCxnSpPr>
          <p:nvPr/>
        </p:nvCxnSpPr>
        <p:spPr bwMode="gray">
          <a:xfrm>
            <a:off x="8912369" y="4783879"/>
            <a:ext cx="462704" cy="0"/>
          </a:xfrm>
          <a:prstGeom prst="line">
            <a:avLst/>
          </a:prstGeom>
          <a:noFill/>
          <a:ln w="9525" cap="flat" cmpd="sng" algn="ctr">
            <a:solidFill>
              <a:schemeClr val="bg1">
                <a:lumMod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直接连接符 301">
            <a:extLst>
              <a:ext uri="{FF2B5EF4-FFF2-40B4-BE49-F238E27FC236}">
                <a16:creationId xmlns="" xmlns:a16="http://schemas.microsoft.com/office/drawing/2014/main" id="{5B7156E7-D16E-4D16-85BA-295F8D47FFDF}"/>
              </a:ext>
            </a:extLst>
          </p:cNvPr>
          <p:cNvCxnSpPr>
            <a:stCxn id="227" idx="6"/>
            <a:endCxn id="225" idx="1"/>
          </p:cNvCxnSpPr>
          <p:nvPr/>
        </p:nvCxnSpPr>
        <p:spPr bwMode="gray">
          <a:xfrm flipV="1">
            <a:off x="8912369" y="5561709"/>
            <a:ext cx="525622" cy="6119"/>
          </a:xfrm>
          <a:prstGeom prst="line">
            <a:avLst/>
          </a:prstGeom>
          <a:noFill/>
          <a:ln w="9525" cap="flat" cmpd="sng" algn="ctr">
            <a:solidFill>
              <a:schemeClr val="bg1">
                <a:lumMod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8" name="圆角矩形 302">
            <a:extLst>
              <a:ext uri="{FF2B5EF4-FFF2-40B4-BE49-F238E27FC236}">
                <a16:creationId xmlns="" xmlns:a16="http://schemas.microsoft.com/office/drawing/2014/main" id="{C295F983-627F-405C-8E35-903FF06CEF43}"/>
              </a:ext>
            </a:extLst>
          </p:cNvPr>
          <p:cNvSpPr/>
          <p:nvPr/>
        </p:nvSpPr>
        <p:spPr bwMode="gray">
          <a:xfrm>
            <a:off x="9375073" y="4657173"/>
            <a:ext cx="1249970" cy="253410"/>
          </a:xfrm>
          <a:prstGeom prst="roundRect">
            <a:avLst>
              <a:gd name="adj" fmla="val 50000"/>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FlexE Client</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9" name="矩形 303">
            <a:extLst>
              <a:ext uri="{FF2B5EF4-FFF2-40B4-BE49-F238E27FC236}">
                <a16:creationId xmlns="" xmlns:a16="http://schemas.microsoft.com/office/drawing/2014/main" id="{232E9E83-6888-4BAC-90CE-F5657F003B2D}"/>
              </a:ext>
            </a:extLst>
          </p:cNvPr>
          <p:cNvSpPr/>
          <p:nvPr/>
        </p:nvSpPr>
        <p:spPr bwMode="gray">
          <a:xfrm>
            <a:off x="9222530" y="4528725"/>
            <a:ext cx="2102116" cy="1295820"/>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0" name="任意多边形 304">
            <a:extLst>
              <a:ext uri="{FF2B5EF4-FFF2-40B4-BE49-F238E27FC236}">
                <a16:creationId xmlns="" xmlns:a16="http://schemas.microsoft.com/office/drawing/2014/main" id="{7BF6878F-4CAD-463F-87A7-86FCAEBE29E8}"/>
              </a:ext>
            </a:extLst>
          </p:cNvPr>
          <p:cNvSpPr/>
          <p:nvPr/>
        </p:nvSpPr>
        <p:spPr bwMode="gray">
          <a:xfrm>
            <a:off x="6849905" y="4708393"/>
            <a:ext cx="476814" cy="97201"/>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1" name="矩形 305">
            <a:extLst>
              <a:ext uri="{FF2B5EF4-FFF2-40B4-BE49-F238E27FC236}">
                <a16:creationId xmlns="" xmlns:a16="http://schemas.microsoft.com/office/drawing/2014/main" id="{E6BAF713-E66E-46AB-B6F8-8F2980F73133}"/>
              </a:ext>
            </a:extLst>
          </p:cNvPr>
          <p:cNvSpPr/>
          <p:nvPr/>
        </p:nvSpPr>
        <p:spPr bwMode="gray">
          <a:xfrm>
            <a:off x="9876749" y="5163107"/>
            <a:ext cx="763029"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FlexE Shim</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2" name="矩形 306">
            <a:extLst>
              <a:ext uri="{FF2B5EF4-FFF2-40B4-BE49-F238E27FC236}">
                <a16:creationId xmlns="" xmlns:a16="http://schemas.microsoft.com/office/drawing/2014/main" id="{D7BA2725-86E9-4EA5-80B9-DB52395B808D}"/>
              </a:ext>
            </a:extLst>
          </p:cNvPr>
          <p:cNvSpPr/>
          <p:nvPr/>
        </p:nvSpPr>
        <p:spPr bwMode="gray">
          <a:xfrm>
            <a:off x="10870324" y="5175466"/>
            <a:ext cx="291747"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PHY</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3" name="矩形 307">
            <a:extLst>
              <a:ext uri="{FF2B5EF4-FFF2-40B4-BE49-F238E27FC236}">
                <a16:creationId xmlns="" xmlns:a16="http://schemas.microsoft.com/office/drawing/2014/main" id="{B7FEAA40-4A5D-470F-8425-54FE01822649}"/>
              </a:ext>
            </a:extLst>
          </p:cNvPr>
          <p:cNvSpPr/>
          <p:nvPr/>
        </p:nvSpPr>
        <p:spPr bwMode="gray">
          <a:xfrm>
            <a:off x="7410119" y="4610686"/>
            <a:ext cx="262893"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4" name="矩形 308">
            <a:extLst>
              <a:ext uri="{FF2B5EF4-FFF2-40B4-BE49-F238E27FC236}">
                <a16:creationId xmlns="" xmlns:a16="http://schemas.microsoft.com/office/drawing/2014/main" id="{48A6837A-1D20-4328-B086-4BFF1A20F042}"/>
              </a:ext>
            </a:extLst>
          </p:cNvPr>
          <p:cNvSpPr/>
          <p:nvPr/>
        </p:nvSpPr>
        <p:spPr bwMode="gray">
          <a:xfrm>
            <a:off x="7481995" y="4838986"/>
            <a:ext cx="177934"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5" name="圆角矩形 309">
            <a:extLst>
              <a:ext uri="{FF2B5EF4-FFF2-40B4-BE49-F238E27FC236}">
                <a16:creationId xmlns="" xmlns:a16="http://schemas.microsoft.com/office/drawing/2014/main" id="{62E8E0DA-5714-4BCF-A9D3-5F83643184FA}"/>
              </a:ext>
            </a:extLst>
          </p:cNvPr>
          <p:cNvSpPr/>
          <p:nvPr/>
        </p:nvSpPr>
        <p:spPr bwMode="gray">
          <a:xfrm>
            <a:off x="9437991" y="5441122"/>
            <a:ext cx="1187053" cy="241173"/>
          </a:xfrm>
          <a:prstGeom prst="roundRect">
            <a:avLst>
              <a:gd name="adj" fmla="val 50000"/>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FlexE Client</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6" name="流程图: 汇总连接 310">
            <a:extLst>
              <a:ext uri="{FF2B5EF4-FFF2-40B4-BE49-F238E27FC236}">
                <a16:creationId xmlns="" xmlns:a16="http://schemas.microsoft.com/office/drawing/2014/main" id="{02FD7762-362A-4B1B-9ACF-27E274EE6EDF}"/>
              </a:ext>
            </a:extLst>
          </p:cNvPr>
          <p:cNvSpPr/>
          <p:nvPr/>
        </p:nvSpPr>
        <p:spPr bwMode="gray">
          <a:xfrm>
            <a:off x="8235502" y="5488637"/>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7" name="流程图: 汇总连接 311">
            <a:extLst>
              <a:ext uri="{FF2B5EF4-FFF2-40B4-BE49-F238E27FC236}">
                <a16:creationId xmlns="" xmlns:a16="http://schemas.microsoft.com/office/drawing/2014/main" id="{606D197D-9326-4491-B55B-4CE2AC451948}"/>
              </a:ext>
            </a:extLst>
          </p:cNvPr>
          <p:cNvSpPr/>
          <p:nvPr/>
        </p:nvSpPr>
        <p:spPr bwMode="gray">
          <a:xfrm>
            <a:off x="8728979" y="5488637"/>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8" name="矩形 312">
            <a:extLst>
              <a:ext uri="{FF2B5EF4-FFF2-40B4-BE49-F238E27FC236}">
                <a16:creationId xmlns="" xmlns:a16="http://schemas.microsoft.com/office/drawing/2014/main" id="{54CFFE58-BED1-46E2-B6D1-8340527FE661}"/>
              </a:ext>
            </a:extLst>
          </p:cNvPr>
          <p:cNvSpPr/>
          <p:nvPr/>
        </p:nvSpPr>
        <p:spPr bwMode="gray">
          <a:xfrm>
            <a:off x="8261472" y="5304393"/>
            <a:ext cx="201979"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29" name="直接连接符 313">
            <a:extLst>
              <a:ext uri="{FF2B5EF4-FFF2-40B4-BE49-F238E27FC236}">
                <a16:creationId xmlns="" xmlns:a16="http://schemas.microsoft.com/office/drawing/2014/main" id="{5D7CB3D1-D4B3-4F5A-8C80-2463804B4060}"/>
              </a:ext>
            </a:extLst>
          </p:cNvPr>
          <p:cNvCxnSpPr>
            <a:stCxn id="226" idx="6"/>
            <a:endCxn id="227" idx="2"/>
          </p:cNvCxnSpPr>
          <p:nvPr/>
        </p:nvCxnSpPr>
        <p:spPr bwMode="gray">
          <a:xfrm>
            <a:off x="8418891" y="5567828"/>
            <a:ext cx="310088"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 name="矩形 314">
            <a:extLst>
              <a:ext uri="{FF2B5EF4-FFF2-40B4-BE49-F238E27FC236}">
                <a16:creationId xmlns="" xmlns:a16="http://schemas.microsoft.com/office/drawing/2014/main" id="{D89A437B-1533-450E-BA11-ED152D3ACDCC}"/>
              </a:ext>
            </a:extLst>
          </p:cNvPr>
          <p:cNvSpPr/>
          <p:nvPr/>
        </p:nvSpPr>
        <p:spPr bwMode="gray">
          <a:xfrm>
            <a:off x="8720486" y="5304393"/>
            <a:ext cx="200376"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1" name="矩形 315">
            <a:extLst>
              <a:ext uri="{FF2B5EF4-FFF2-40B4-BE49-F238E27FC236}">
                <a16:creationId xmlns="" xmlns:a16="http://schemas.microsoft.com/office/drawing/2014/main" id="{EBC787B3-B00F-4F46-BAF1-C50E83FBED9F}"/>
              </a:ext>
            </a:extLst>
          </p:cNvPr>
          <p:cNvSpPr/>
          <p:nvPr/>
        </p:nvSpPr>
        <p:spPr bwMode="gray">
          <a:xfrm>
            <a:off x="7136884" y="5312675"/>
            <a:ext cx="1540475" cy="506821"/>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2" name="任意多边形 316">
            <a:extLst>
              <a:ext uri="{FF2B5EF4-FFF2-40B4-BE49-F238E27FC236}">
                <a16:creationId xmlns="" xmlns:a16="http://schemas.microsoft.com/office/drawing/2014/main" id="{74DCD18D-5DC3-4D4E-8259-B85C0089E755}"/>
              </a:ext>
            </a:extLst>
          </p:cNvPr>
          <p:cNvSpPr/>
          <p:nvPr/>
        </p:nvSpPr>
        <p:spPr bwMode="gray">
          <a:xfrm>
            <a:off x="6849905" y="5492342"/>
            <a:ext cx="476814" cy="97201"/>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3" name="矩形 317">
            <a:extLst>
              <a:ext uri="{FF2B5EF4-FFF2-40B4-BE49-F238E27FC236}">
                <a16:creationId xmlns="" xmlns:a16="http://schemas.microsoft.com/office/drawing/2014/main" id="{93421A01-262C-466E-BE8F-4CEE495D2B2E}"/>
              </a:ext>
            </a:extLst>
          </p:cNvPr>
          <p:cNvSpPr/>
          <p:nvPr/>
        </p:nvSpPr>
        <p:spPr bwMode="gray">
          <a:xfrm>
            <a:off x="7410119" y="5411397"/>
            <a:ext cx="262893"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4" name="矩形 318">
            <a:extLst>
              <a:ext uri="{FF2B5EF4-FFF2-40B4-BE49-F238E27FC236}">
                <a16:creationId xmlns="" xmlns:a16="http://schemas.microsoft.com/office/drawing/2014/main" id="{AD1CFA95-BEBE-4E49-B6D3-7ACE07BE755D}"/>
              </a:ext>
            </a:extLst>
          </p:cNvPr>
          <p:cNvSpPr/>
          <p:nvPr/>
        </p:nvSpPr>
        <p:spPr bwMode="gray">
          <a:xfrm>
            <a:off x="7481995" y="5622935"/>
            <a:ext cx="177934"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35" name="组合 319">
            <a:extLst>
              <a:ext uri="{FF2B5EF4-FFF2-40B4-BE49-F238E27FC236}">
                <a16:creationId xmlns="" xmlns:a16="http://schemas.microsoft.com/office/drawing/2014/main" id="{2DE40B97-5C93-48FC-B702-2C5061C16547}"/>
              </a:ext>
            </a:extLst>
          </p:cNvPr>
          <p:cNvGrpSpPr/>
          <p:nvPr/>
        </p:nvGrpSpPr>
        <p:grpSpPr bwMode="gray">
          <a:xfrm>
            <a:off x="7767895" y="4629133"/>
            <a:ext cx="402516" cy="316763"/>
            <a:chOff x="6796081" y="1776846"/>
            <a:chExt cx="395076" cy="345115"/>
          </a:xfrm>
        </p:grpSpPr>
        <p:sp>
          <p:nvSpPr>
            <p:cNvPr id="236" name="圆角矩形 199">
              <a:extLst>
                <a:ext uri="{FF2B5EF4-FFF2-40B4-BE49-F238E27FC236}">
                  <a16:creationId xmlns="" xmlns:a16="http://schemas.microsoft.com/office/drawing/2014/main" id="{0F59C1B7-541B-4C1D-8C59-A82260E2BECD}"/>
                </a:ext>
              </a:extLst>
            </p:cNvPr>
            <p:cNvSpPr/>
            <p:nvPr/>
          </p:nvSpPr>
          <p:spPr bwMode="gray">
            <a:xfrm>
              <a:off x="6796081" y="177684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7" name="圆角矩形 200">
              <a:extLst>
                <a:ext uri="{FF2B5EF4-FFF2-40B4-BE49-F238E27FC236}">
                  <a16:creationId xmlns="" xmlns:a16="http://schemas.microsoft.com/office/drawing/2014/main" id="{E6AF8A62-C083-4C0D-87E3-016B0E55F333}"/>
                </a:ext>
              </a:extLst>
            </p:cNvPr>
            <p:cNvSpPr/>
            <p:nvPr/>
          </p:nvSpPr>
          <p:spPr bwMode="gray">
            <a:xfrm>
              <a:off x="6796081" y="182306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8" name="圆角矩形 201">
              <a:extLst>
                <a:ext uri="{FF2B5EF4-FFF2-40B4-BE49-F238E27FC236}">
                  <a16:creationId xmlns="" xmlns:a16="http://schemas.microsoft.com/office/drawing/2014/main" id="{911D6BF4-F3DB-448E-8172-8D2F09ED0ECE}"/>
                </a:ext>
              </a:extLst>
            </p:cNvPr>
            <p:cNvSpPr/>
            <p:nvPr/>
          </p:nvSpPr>
          <p:spPr bwMode="gray">
            <a:xfrm>
              <a:off x="6796081" y="1869278"/>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39" name="圆角矩形 202">
              <a:extLst>
                <a:ext uri="{FF2B5EF4-FFF2-40B4-BE49-F238E27FC236}">
                  <a16:creationId xmlns="" xmlns:a16="http://schemas.microsoft.com/office/drawing/2014/main" id="{4F8BD24C-5F31-4D07-BD3A-8507FECBF2B7}"/>
                </a:ext>
              </a:extLst>
            </p:cNvPr>
            <p:cNvSpPr/>
            <p:nvPr/>
          </p:nvSpPr>
          <p:spPr bwMode="gray">
            <a:xfrm>
              <a:off x="6796081" y="1915494"/>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0" name="圆角矩形 203">
              <a:extLst>
                <a:ext uri="{FF2B5EF4-FFF2-40B4-BE49-F238E27FC236}">
                  <a16:creationId xmlns="" xmlns:a16="http://schemas.microsoft.com/office/drawing/2014/main" id="{16E29A11-97E4-4219-9C48-B214B728619F}"/>
                </a:ext>
              </a:extLst>
            </p:cNvPr>
            <p:cNvSpPr/>
            <p:nvPr/>
          </p:nvSpPr>
          <p:spPr bwMode="gray">
            <a:xfrm>
              <a:off x="6796081" y="1961710"/>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1" name="圆角矩形 204">
              <a:extLst>
                <a:ext uri="{FF2B5EF4-FFF2-40B4-BE49-F238E27FC236}">
                  <a16:creationId xmlns="" xmlns:a16="http://schemas.microsoft.com/office/drawing/2014/main" id="{F7FF72AB-696A-495B-80BB-745137E07C60}"/>
                </a:ext>
              </a:extLst>
            </p:cNvPr>
            <p:cNvSpPr/>
            <p:nvPr/>
          </p:nvSpPr>
          <p:spPr bwMode="gray">
            <a:xfrm>
              <a:off x="6796081" y="200792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2" name="圆角矩形 205">
              <a:extLst>
                <a:ext uri="{FF2B5EF4-FFF2-40B4-BE49-F238E27FC236}">
                  <a16:creationId xmlns="" xmlns:a16="http://schemas.microsoft.com/office/drawing/2014/main" id="{9C8AB1BA-9395-4114-BCA2-AA6277771E15}"/>
                </a:ext>
              </a:extLst>
            </p:cNvPr>
            <p:cNvSpPr/>
            <p:nvPr/>
          </p:nvSpPr>
          <p:spPr bwMode="gray">
            <a:xfrm>
              <a:off x="6796081" y="205414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3" name="圆角矩形 206">
              <a:extLst>
                <a:ext uri="{FF2B5EF4-FFF2-40B4-BE49-F238E27FC236}">
                  <a16:creationId xmlns="" xmlns:a16="http://schemas.microsoft.com/office/drawing/2014/main" id="{85B6588A-C136-48AE-97C4-92472C8182FD}"/>
                </a:ext>
              </a:extLst>
            </p:cNvPr>
            <p:cNvSpPr/>
            <p:nvPr/>
          </p:nvSpPr>
          <p:spPr bwMode="gray">
            <a:xfrm>
              <a:off x="6796081" y="210036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44" name="组合 328">
            <a:extLst>
              <a:ext uri="{FF2B5EF4-FFF2-40B4-BE49-F238E27FC236}">
                <a16:creationId xmlns="" xmlns:a16="http://schemas.microsoft.com/office/drawing/2014/main" id="{4DA76AEC-7326-48F6-9300-B9D4D8198BD1}"/>
              </a:ext>
            </a:extLst>
          </p:cNvPr>
          <p:cNvGrpSpPr/>
          <p:nvPr/>
        </p:nvGrpSpPr>
        <p:grpSpPr bwMode="gray">
          <a:xfrm>
            <a:off x="7757993" y="5413564"/>
            <a:ext cx="402516" cy="316763"/>
            <a:chOff x="6796081" y="1776846"/>
            <a:chExt cx="395076" cy="345115"/>
          </a:xfrm>
        </p:grpSpPr>
        <p:sp>
          <p:nvSpPr>
            <p:cNvPr id="245" name="圆角矩形 199">
              <a:extLst>
                <a:ext uri="{FF2B5EF4-FFF2-40B4-BE49-F238E27FC236}">
                  <a16:creationId xmlns="" xmlns:a16="http://schemas.microsoft.com/office/drawing/2014/main" id="{2A846859-982A-47BC-B1CC-1D9C5F04EF57}"/>
                </a:ext>
              </a:extLst>
            </p:cNvPr>
            <p:cNvSpPr/>
            <p:nvPr/>
          </p:nvSpPr>
          <p:spPr bwMode="gray">
            <a:xfrm>
              <a:off x="6796081" y="177684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6" name="圆角矩形 200">
              <a:extLst>
                <a:ext uri="{FF2B5EF4-FFF2-40B4-BE49-F238E27FC236}">
                  <a16:creationId xmlns="" xmlns:a16="http://schemas.microsoft.com/office/drawing/2014/main" id="{0DAC9DA1-EC79-41C3-9420-581931FE5A16}"/>
                </a:ext>
              </a:extLst>
            </p:cNvPr>
            <p:cNvSpPr/>
            <p:nvPr/>
          </p:nvSpPr>
          <p:spPr bwMode="gray">
            <a:xfrm>
              <a:off x="6796081" y="182306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7" name="圆角矩形 201">
              <a:extLst>
                <a:ext uri="{FF2B5EF4-FFF2-40B4-BE49-F238E27FC236}">
                  <a16:creationId xmlns="" xmlns:a16="http://schemas.microsoft.com/office/drawing/2014/main" id="{B7C5450A-54B8-4A87-825B-104F123F63A4}"/>
                </a:ext>
              </a:extLst>
            </p:cNvPr>
            <p:cNvSpPr/>
            <p:nvPr/>
          </p:nvSpPr>
          <p:spPr bwMode="gray">
            <a:xfrm>
              <a:off x="6796081" y="1869278"/>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8" name="圆角矩形 202">
              <a:extLst>
                <a:ext uri="{FF2B5EF4-FFF2-40B4-BE49-F238E27FC236}">
                  <a16:creationId xmlns="" xmlns:a16="http://schemas.microsoft.com/office/drawing/2014/main" id="{4EC4B7FF-6BB3-4A50-A6F8-CA4582926A7A}"/>
                </a:ext>
              </a:extLst>
            </p:cNvPr>
            <p:cNvSpPr/>
            <p:nvPr/>
          </p:nvSpPr>
          <p:spPr bwMode="gray">
            <a:xfrm>
              <a:off x="6796081" y="1915494"/>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9" name="圆角矩形 203">
              <a:extLst>
                <a:ext uri="{FF2B5EF4-FFF2-40B4-BE49-F238E27FC236}">
                  <a16:creationId xmlns="" xmlns:a16="http://schemas.microsoft.com/office/drawing/2014/main" id="{3C76CD24-014A-4428-AC23-C1E09212D822}"/>
                </a:ext>
              </a:extLst>
            </p:cNvPr>
            <p:cNvSpPr/>
            <p:nvPr/>
          </p:nvSpPr>
          <p:spPr bwMode="gray">
            <a:xfrm>
              <a:off x="6796081" y="1961710"/>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0" name="圆角矩形 204">
              <a:extLst>
                <a:ext uri="{FF2B5EF4-FFF2-40B4-BE49-F238E27FC236}">
                  <a16:creationId xmlns="" xmlns:a16="http://schemas.microsoft.com/office/drawing/2014/main" id="{93FB520F-4505-4AFD-B6CD-22999D486F12}"/>
                </a:ext>
              </a:extLst>
            </p:cNvPr>
            <p:cNvSpPr/>
            <p:nvPr/>
          </p:nvSpPr>
          <p:spPr bwMode="gray">
            <a:xfrm>
              <a:off x="6796081" y="200792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1" name="圆角矩形 205">
              <a:extLst>
                <a:ext uri="{FF2B5EF4-FFF2-40B4-BE49-F238E27FC236}">
                  <a16:creationId xmlns="" xmlns:a16="http://schemas.microsoft.com/office/drawing/2014/main" id="{C2C8D2B5-7EB9-47A4-AE32-64D230135AE0}"/>
                </a:ext>
              </a:extLst>
            </p:cNvPr>
            <p:cNvSpPr/>
            <p:nvPr/>
          </p:nvSpPr>
          <p:spPr bwMode="gray">
            <a:xfrm>
              <a:off x="6796081" y="205414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2" name="圆角矩形 206">
              <a:extLst>
                <a:ext uri="{FF2B5EF4-FFF2-40B4-BE49-F238E27FC236}">
                  <a16:creationId xmlns="" xmlns:a16="http://schemas.microsoft.com/office/drawing/2014/main" id="{A4FFF5AE-5F36-4C55-BF44-08E2205E1F62}"/>
                </a:ext>
              </a:extLst>
            </p:cNvPr>
            <p:cNvSpPr/>
            <p:nvPr/>
          </p:nvSpPr>
          <p:spPr bwMode="gray">
            <a:xfrm>
              <a:off x="6796081" y="210036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253" name="矩形 337">
            <a:extLst>
              <a:ext uri="{FF2B5EF4-FFF2-40B4-BE49-F238E27FC236}">
                <a16:creationId xmlns="" xmlns:a16="http://schemas.microsoft.com/office/drawing/2014/main" id="{5180188E-55CB-48B6-A438-1B9755F4E0D1}"/>
              </a:ext>
            </a:extLst>
          </p:cNvPr>
          <p:cNvSpPr/>
          <p:nvPr/>
        </p:nvSpPr>
        <p:spPr bwMode="gray">
          <a:xfrm>
            <a:off x="9305423" y="4558072"/>
            <a:ext cx="414134" cy="1211358"/>
          </a:xfrm>
          <a:prstGeom prst="rect">
            <a:avLst/>
          </a:prstGeom>
          <a:solidFill>
            <a:srgbClr val="1AABE2">
              <a:alpha val="2000"/>
            </a:srgbClr>
          </a:solidFill>
          <a:ln w="9525" cap="flat" cmpd="sng" algn="ctr">
            <a:solidFill>
              <a:srgbClr val="8CD5F0">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4" name="矩形 338">
            <a:extLst>
              <a:ext uri="{FF2B5EF4-FFF2-40B4-BE49-F238E27FC236}">
                <a16:creationId xmlns="" xmlns:a16="http://schemas.microsoft.com/office/drawing/2014/main" id="{F4144377-66BF-4070-B654-F890572803B8}"/>
              </a:ext>
            </a:extLst>
          </p:cNvPr>
          <p:cNvSpPr/>
          <p:nvPr/>
        </p:nvSpPr>
        <p:spPr bwMode="gray">
          <a:xfrm>
            <a:off x="9327370" y="5175466"/>
            <a:ext cx="338234"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7" name="圆角矩形 75">
            <a:extLst>
              <a:ext uri="{FF2B5EF4-FFF2-40B4-BE49-F238E27FC236}">
                <a16:creationId xmlns="" xmlns:a16="http://schemas.microsoft.com/office/drawing/2014/main" id="{3AC85201-374A-4062-B187-0C06FEE86A7D}"/>
              </a:ext>
            </a:extLst>
          </p:cNvPr>
          <p:cNvSpPr/>
          <p:nvPr/>
        </p:nvSpPr>
        <p:spPr bwMode="gray">
          <a:xfrm>
            <a:off x="6682156" y="1226367"/>
            <a:ext cx="4976464" cy="9528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8" name="圆角矩形 75">
            <a:extLst>
              <a:ext uri="{FF2B5EF4-FFF2-40B4-BE49-F238E27FC236}">
                <a16:creationId xmlns="" xmlns:a16="http://schemas.microsoft.com/office/drawing/2014/main" id="{47DFFEB7-2A2B-427B-91EA-B303870E7B6F}"/>
              </a:ext>
            </a:extLst>
          </p:cNvPr>
          <p:cNvSpPr/>
          <p:nvPr/>
        </p:nvSpPr>
        <p:spPr bwMode="gray">
          <a:xfrm>
            <a:off x="6682156" y="2305513"/>
            <a:ext cx="4976464" cy="178228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9" name="圆角矩形 75">
            <a:extLst>
              <a:ext uri="{FF2B5EF4-FFF2-40B4-BE49-F238E27FC236}">
                <a16:creationId xmlns="" xmlns:a16="http://schemas.microsoft.com/office/drawing/2014/main" id="{78301A2B-0AA6-4E32-82A9-E76D39DB70FE}"/>
              </a:ext>
            </a:extLst>
          </p:cNvPr>
          <p:cNvSpPr/>
          <p:nvPr/>
        </p:nvSpPr>
        <p:spPr bwMode="gray">
          <a:xfrm>
            <a:off x="6682156" y="4208557"/>
            <a:ext cx="4976464" cy="178228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0" name="圆角矩形 75">
            <a:extLst>
              <a:ext uri="{FF2B5EF4-FFF2-40B4-BE49-F238E27FC236}">
                <a16:creationId xmlns="" xmlns:a16="http://schemas.microsoft.com/office/drawing/2014/main" id="{4715B50E-2F09-4DE6-B8EA-45A4F90EFAC6}"/>
              </a:ext>
            </a:extLst>
          </p:cNvPr>
          <p:cNvSpPr/>
          <p:nvPr/>
        </p:nvSpPr>
        <p:spPr bwMode="gray">
          <a:xfrm rot="16200000">
            <a:off x="5962080" y="1504775"/>
            <a:ext cx="95281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QoS</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261" name="圆角矩形 75">
            <a:extLst>
              <a:ext uri="{FF2B5EF4-FFF2-40B4-BE49-F238E27FC236}">
                <a16:creationId xmlns="" xmlns:a16="http://schemas.microsoft.com/office/drawing/2014/main" id="{216E94EE-DCA5-4E65-9519-6D4ECC4750B7}"/>
              </a:ext>
            </a:extLst>
          </p:cNvPr>
          <p:cNvSpPr/>
          <p:nvPr/>
        </p:nvSpPr>
        <p:spPr bwMode="gray">
          <a:xfrm rot="16200000">
            <a:off x="5547348" y="2995813"/>
            <a:ext cx="178228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信道化子接口</a:t>
            </a:r>
          </a:p>
        </p:txBody>
      </p:sp>
      <p:sp>
        <p:nvSpPr>
          <p:cNvPr id="262" name="圆角矩形 75">
            <a:extLst>
              <a:ext uri="{FF2B5EF4-FFF2-40B4-BE49-F238E27FC236}">
                <a16:creationId xmlns="" xmlns:a16="http://schemas.microsoft.com/office/drawing/2014/main" id="{60959EDD-8DB1-4C5F-B119-3A05DA340B73}"/>
              </a:ext>
            </a:extLst>
          </p:cNvPr>
          <p:cNvSpPr/>
          <p:nvPr/>
        </p:nvSpPr>
        <p:spPr bwMode="gray">
          <a:xfrm rot="16200000">
            <a:off x="5550381" y="4900983"/>
            <a:ext cx="178228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err="1">
                <a:solidFill>
                  <a:srgbClr val="30B5C5"/>
                </a:solidFill>
                <a:latin typeface="Huawei Sans" panose="020C0503030203020204" pitchFamily="34" charset="0"/>
                <a:ea typeface="方正兰亭黑简体" panose="02000000000000000000" pitchFamily="2" charset="-122"/>
              </a:rPr>
              <a:t>FlexE</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608608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圆角矩形 75">
            <a:extLst>
              <a:ext uri="{FF2B5EF4-FFF2-40B4-BE49-F238E27FC236}">
                <a16:creationId xmlns="" xmlns:a16="http://schemas.microsoft.com/office/drawing/2014/main" id="{860C5C13-5FFD-488C-AB44-1A43A145EEDC}"/>
              </a:ext>
            </a:extLst>
          </p:cNvPr>
          <p:cNvSpPr/>
          <p:nvPr/>
        </p:nvSpPr>
        <p:spPr bwMode="gray">
          <a:xfrm>
            <a:off x="6467634" y="4039119"/>
            <a:ext cx="4146053" cy="205855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197698" indent="-251899" defTabSz="914034" fontAlgn="ctr">
              <a:lnSpc>
                <a:spcPct val="140000"/>
              </a:lnSpc>
              <a:spcBef>
                <a:spcPts val="720"/>
              </a:spcBef>
              <a:buSzPct val="50000"/>
              <a:buFont typeface="Wingdings" panose="05000000000000000000" pitchFamily="2" charset="2"/>
              <a:buChar char="p"/>
            </a:pPr>
            <a:endParaRPr lang="en-US" altLang="zh-CN" sz="1200" dirty="0">
              <a:solidFill>
                <a:schemeClr val="tx1"/>
              </a:solidFill>
              <a:latin typeface="Huawei Sans" panose="020C0503030203020204" pitchFamily="34" charset="0"/>
              <a:ea typeface="方正兰亭黑简体" panose="02000000000000000000" pitchFamily="2" charset="-122"/>
            </a:endParaRPr>
          </a:p>
          <a:p>
            <a:pPr marL="197698" indent="-251899" defTabSz="914034" fontAlgn="ctr">
              <a:lnSpc>
                <a:spcPct val="140000"/>
              </a:lnSpc>
              <a:spcBef>
                <a:spcPts val="720"/>
              </a:spcBef>
              <a:buSzPct val="50000"/>
              <a:buFont typeface="Wingdings" panose="05000000000000000000" pitchFamily="2" charset="2"/>
              <a:buChar char="p"/>
            </a:pPr>
            <a:endParaRPr lang="en-US" altLang="zh-CN" sz="1200" dirty="0">
              <a:solidFill>
                <a:schemeClr val="tx1"/>
              </a:solidFill>
              <a:latin typeface="Huawei Sans" panose="020C0503030203020204" pitchFamily="34" charset="0"/>
              <a:ea typeface="方正兰亭黑简体" panose="02000000000000000000" pitchFamily="2" charset="-122"/>
            </a:endParaRPr>
          </a:p>
          <a:p>
            <a:pPr marL="197698" indent="-251899" defTabSz="914034" fontAlgn="ctr">
              <a:lnSpc>
                <a:spcPct val="140000"/>
              </a:lnSpc>
              <a:spcBef>
                <a:spcPts val="720"/>
              </a:spcBef>
              <a:buSzPct val="50000"/>
              <a:buFont typeface="Wingdings" panose="05000000000000000000" pitchFamily="2" charset="2"/>
              <a:buChar char="p"/>
            </a:pPr>
            <a:endParaRPr lang="en-US" altLang="zh-CN" sz="1200" dirty="0">
              <a:solidFill>
                <a:schemeClr val="tx1"/>
              </a:solidFill>
              <a:latin typeface="Huawei Sans" panose="020C0503030203020204" pitchFamily="34" charset="0"/>
              <a:ea typeface="方正兰亭黑简体" panose="02000000000000000000" pitchFamily="2" charset="-122"/>
            </a:endParaRPr>
          </a:p>
          <a:p>
            <a:pPr marL="360000" indent="-216000"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发现秒级突发流量</a:t>
            </a:r>
          </a:p>
          <a:p>
            <a:pPr marL="360000" indent="-216000" algn="just" defTabSz="914034" fontAlgn="ctr">
              <a:lnSpc>
                <a:spcPct val="140000"/>
              </a:lnSpc>
              <a:spcBef>
                <a:spcPts val="792"/>
              </a:spcBef>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峰值流量是</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15</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分钟内每</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5</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秒的最大值</a:t>
            </a:r>
          </a:p>
        </p:txBody>
      </p:sp>
      <p:sp>
        <p:nvSpPr>
          <p:cNvPr id="2" name="Title 1">
            <a:extLst>
              <a:ext uri="{FF2B5EF4-FFF2-40B4-BE49-F238E27FC236}">
                <a16:creationId xmlns="" xmlns:a16="http://schemas.microsoft.com/office/drawing/2014/main" id="{4691C6AA-A994-492A-8300-17663794288B}"/>
              </a:ext>
            </a:extLst>
          </p:cNvPr>
          <p:cNvSpPr>
            <a:spLocks noGrp="1"/>
          </p:cNvSpPr>
          <p:nvPr>
            <p:ph type="title"/>
          </p:nvPr>
        </p:nvSpPr>
        <p:spPr bwMode="gray"/>
        <p:txBody>
          <a:bodyPr/>
          <a:lstStyle/>
          <a:p>
            <a:r>
              <a:rPr lang="zh-CN" altLang="en-US" dirty="0"/>
              <a:t>运维概述</a:t>
            </a:r>
            <a:endParaRPr lang="en-US" dirty="0"/>
          </a:p>
        </p:txBody>
      </p:sp>
      <p:sp>
        <p:nvSpPr>
          <p:cNvPr id="3" name="五边形 2">
            <a:extLst>
              <a:ext uri="{FF2B5EF4-FFF2-40B4-BE49-F238E27FC236}">
                <a16:creationId xmlns="" xmlns:a16="http://schemas.microsoft.com/office/drawing/2014/main" id="{30098A2D-4F7A-45B5-980E-425FB6EE7901}"/>
              </a:ext>
            </a:extLst>
          </p:cNvPr>
          <p:cNvSpPr/>
          <p:nvPr/>
        </p:nvSpPr>
        <p:spPr bwMode="gray">
          <a:xfrm>
            <a:off x="8199710" y="49524"/>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4" name="燕尾形 3">
            <a:extLst>
              <a:ext uri="{FF2B5EF4-FFF2-40B4-BE49-F238E27FC236}">
                <a16:creationId xmlns="" xmlns:a16="http://schemas.microsoft.com/office/drawing/2014/main" id="{EA631AC1-2EC3-4964-B7A3-C8D693B7E508}"/>
              </a:ext>
            </a:extLst>
          </p:cNvPr>
          <p:cNvSpPr/>
          <p:nvPr/>
        </p:nvSpPr>
        <p:spPr bwMode="gray">
          <a:xfrm>
            <a:off x="10434510" y="49524"/>
            <a:ext cx="13077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E0318515-502A-457A-923E-197C0425225D}"/>
              </a:ext>
            </a:extLst>
          </p:cNvPr>
          <p:cNvSpPr/>
          <p:nvPr/>
        </p:nvSpPr>
        <p:spPr bwMode="gray">
          <a:xfrm>
            <a:off x="9319110" y="4952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d0e8437">
            <a:extLst>
              <a:ext uri="{FF2B5EF4-FFF2-40B4-BE49-F238E27FC236}">
                <a16:creationId xmlns="" xmlns:a16="http://schemas.microsoft.com/office/drawing/2014/main" id="{BD69B9DB-ADEF-457A-B631-C4A4AEB8F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578861" y="1569623"/>
            <a:ext cx="3888000" cy="1865770"/>
          </a:xfrm>
          <a:prstGeom prst="rect">
            <a:avLst/>
          </a:prstGeom>
          <a:solidFill>
            <a:srgbClr val="00B0F0"/>
          </a:solidFill>
          <a:ln w="9525">
            <a:solidFill>
              <a:srgbClr val="000000"/>
            </a:solidFill>
            <a:miter lim="800000"/>
            <a:headEnd/>
            <a:tailEnd/>
          </a:ln>
          <a:effectLst/>
        </p:spPr>
      </p:pic>
      <p:pic>
        <p:nvPicPr>
          <p:cNvPr id="15" name="图片 16">
            <a:extLst>
              <a:ext uri="{FF2B5EF4-FFF2-40B4-BE49-F238E27FC236}">
                <a16:creationId xmlns="" xmlns:a16="http://schemas.microsoft.com/office/drawing/2014/main" id="{41217507-06B0-4F9B-BC11-5536B0545B2D}"/>
              </a:ext>
            </a:extLst>
          </p:cNvPr>
          <p:cNvPicPr preferRelativeResize="0">
            <a:picLocks noChangeAspect="1"/>
          </p:cNvPicPr>
          <p:nvPr/>
        </p:nvPicPr>
        <p:blipFill>
          <a:blip r:embed="rId4" cstate="print">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bwMode="gray">
          <a:xfrm>
            <a:off x="1832635" y="4124822"/>
            <a:ext cx="3888000" cy="1864800"/>
          </a:xfrm>
          <a:prstGeom prst="rect">
            <a:avLst/>
          </a:prstGeom>
          <a:solidFill>
            <a:srgbClr val="00B0F0"/>
          </a:solidFill>
          <a:ln w="9525" cap="flat" cmpd="sng" algn="ctr">
            <a:solidFill>
              <a:schemeClr val="bg1">
                <a:lumMod val="50000"/>
              </a:schemeClr>
            </a:solidFill>
            <a:prstDash val="solid"/>
            <a:round/>
            <a:headEnd type="none" w="med" len="med"/>
            <a:tailEnd type="none" w="med" len="med"/>
          </a:ln>
          <a:effectLst/>
        </p:spPr>
      </p:pic>
      <p:pic>
        <p:nvPicPr>
          <p:cNvPr id="19" name="图片 11">
            <a:extLst>
              <a:ext uri="{FF2B5EF4-FFF2-40B4-BE49-F238E27FC236}">
                <a16:creationId xmlns="" xmlns:a16="http://schemas.microsoft.com/office/drawing/2014/main" id="{4BB96A4A-86F4-4F87-AEA5-FE62F146971A}"/>
              </a:ext>
            </a:extLst>
          </p:cNvPr>
          <p:cNvPicPr preferRelativeResize="0">
            <a:picLocks noChangeAspect="1"/>
          </p:cNvPicPr>
          <p:nvPr/>
        </p:nvPicPr>
        <p:blipFill>
          <a:blip r:embed="rId6"/>
          <a:stretch>
            <a:fillRect/>
          </a:stretch>
        </p:blipFill>
        <p:spPr bwMode="gray">
          <a:xfrm>
            <a:off x="1832635" y="1565271"/>
            <a:ext cx="3888000" cy="1864800"/>
          </a:xfrm>
          <a:prstGeom prst="rect">
            <a:avLst/>
          </a:prstGeom>
          <a:ln>
            <a:solidFill>
              <a:schemeClr val="bg1">
                <a:lumMod val="50000"/>
              </a:schemeClr>
            </a:solidFill>
          </a:ln>
        </p:spPr>
      </p:pic>
      <p:pic>
        <p:nvPicPr>
          <p:cNvPr id="22" name="图片 36">
            <a:extLst>
              <a:ext uri="{FF2B5EF4-FFF2-40B4-BE49-F238E27FC236}">
                <a16:creationId xmlns="" xmlns:a16="http://schemas.microsoft.com/office/drawing/2014/main" id="{2A3E24D3-AB34-4449-B39D-18DBABCFE8BD}"/>
              </a:ext>
            </a:extLst>
          </p:cNvPr>
          <p:cNvPicPr>
            <a:picLocks noChangeAspect="1"/>
          </p:cNvPicPr>
          <p:nvPr/>
        </p:nvPicPr>
        <p:blipFill rotWithShape="1">
          <a:blip r:embed="rId7"/>
          <a:srcRect b="50728"/>
          <a:stretch/>
        </p:blipFill>
        <p:spPr bwMode="gray">
          <a:xfrm>
            <a:off x="6520687" y="4124822"/>
            <a:ext cx="4034827" cy="953530"/>
          </a:xfrm>
          <a:prstGeom prst="rect">
            <a:avLst/>
          </a:prstGeom>
          <a:ln>
            <a:solidFill>
              <a:schemeClr val="bg1">
                <a:lumMod val="50000"/>
              </a:schemeClr>
            </a:solidFill>
          </a:ln>
        </p:spPr>
      </p:pic>
      <p:sp>
        <p:nvSpPr>
          <p:cNvPr id="25" name="圆角矩形 75">
            <a:extLst>
              <a:ext uri="{FF2B5EF4-FFF2-40B4-BE49-F238E27FC236}">
                <a16:creationId xmlns="" xmlns:a16="http://schemas.microsoft.com/office/drawing/2014/main" id="{E646586E-03F5-482A-848B-B555813034C6}"/>
              </a:ext>
            </a:extLst>
          </p:cNvPr>
          <p:cNvSpPr/>
          <p:nvPr/>
        </p:nvSpPr>
        <p:spPr bwMode="gray">
          <a:xfrm>
            <a:off x="1689139" y="1060961"/>
            <a:ext cx="414605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网络</a:t>
            </a:r>
            <a:r>
              <a:rPr lang="en-US" altLang="zh-CN" sz="1600" dirty="0">
                <a:solidFill>
                  <a:srgbClr val="30B5C5"/>
                </a:solidFill>
                <a:latin typeface="Huawei Sans" panose="020C0503030203020204" pitchFamily="34" charset="0"/>
                <a:ea typeface="方正兰亭黑简体" panose="02000000000000000000" pitchFamily="2" charset="-122"/>
              </a:rPr>
              <a:t>TOP N</a:t>
            </a:r>
            <a:r>
              <a:rPr lang="zh-CN" altLang="en-US" sz="1600" dirty="0">
                <a:solidFill>
                  <a:srgbClr val="30B5C5"/>
                </a:solidFill>
                <a:latin typeface="Huawei Sans" panose="020C0503030203020204" pitchFamily="34" charset="0"/>
                <a:ea typeface="方正兰亭黑简体" panose="02000000000000000000" pitchFamily="2" charset="-122"/>
              </a:rPr>
              <a:t>，快速发现网络瓶颈</a:t>
            </a:r>
          </a:p>
        </p:txBody>
      </p:sp>
      <p:sp>
        <p:nvSpPr>
          <p:cNvPr id="26" name="圆角矩形 75">
            <a:extLst>
              <a:ext uri="{FF2B5EF4-FFF2-40B4-BE49-F238E27FC236}">
                <a16:creationId xmlns="" xmlns:a16="http://schemas.microsoft.com/office/drawing/2014/main" id="{C6665245-25CF-44EE-AC89-467A519083BA}"/>
              </a:ext>
            </a:extLst>
          </p:cNvPr>
          <p:cNvSpPr/>
          <p:nvPr/>
        </p:nvSpPr>
        <p:spPr bwMode="gray">
          <a:xfrm>
            <a:off x="1689139" y="1500738"/>
            <a:ext cx="4146053" cy="205855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197698" indent="-251899" defTabSz="914034" fontAlgn="ctr">
              <a:lnSpc>
                <a:spcPct val="140000"/>
              </a:lnSpc>
              <a:spcBef>
                <a:spcPts val="720"/>
              </a:spcBef>
              <a:buSzPct val="50000"/>
              <a:buFont typeface="Wingdings" panose="05000000000000000000" pitchFamily="2" charset="2"/>
              <a:buChar char="p"/>
            </a:pPr>
            <a:endParaRPr lang="zh-CN" altLang="en-US" sz="1200" dirty="0">
              <a:solidFill>
                <a:schemeClr val="tx1"/>
              </a:solidFill>
              <a:latin typeface="Huawei Sans" panose="020C0503030203020204" pitchFamily="34" charset="0"/>
              <a:ea typeface="方正兰亭黑简体" panose="02000000000000000000" pitchFamily="2" charset="-122"/>
            </a:endParaRPr>
          </a:p>
        </p:txBody>
      </p:sp>
      <p:sp>
        <p:nvSpPr>
          <p:cNvPr id="27" name="圆角矩形 75">
            <a:extLst>
              <a:ext uri="{FF2B5EF4-FFF2-40B4-BE49-F238E27FC236}">
                <a16:creationId xmlns="" xmlns:a16="http://schemas.microsoft.com/office/drawing/2014/main" id="{10685024-143B-4DB5-8DC3-157A10ED30B2}"/>
              </a:ext>
            </a:extLst>
          </p:cNvPr>
          <p:cNvSpPr/>
          <p:nvPr/>
        </p:nvSpPr>
        <p:spPr bwMode="gray">
          <a:xfrm>
            <a:off x="1686673" y="3602634"/>
            <a:ext cx="414605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区域流量</a:t>
            </a:r>
            <a:r>
              <a:rPr lang="en-US" altLang="zh-CN" sz="1600" dirty="0">
                <a:solidFill>
                  <a:srgbClr val="30B5C5"/>
                </a:solidFill>
                <a:latin typeface="Huawei Sans" panose="020C0503030203020204" pitchFamily="34" charset="0"/>
                <a:ea typeface="方正兰亭黑简体" panose="02000000000000000000" pitchFamily="2" charset="-122"/>
              </a:rPr>
              <a:t>/</a:t>
            </a:r>
            <a:r>
              <a:rPr lang="zh-CN" altLang="en-US" sz="1600" dirty="0">
                <a:solidFill>
                  <a:srgbClr val="30B5C5"/>
                </a:solidFill>
                <a:latin typeface="Huawei Sans" panose="020C0503030203020204" pitchFamily="34" charset="0"/>
                <a:ea typeface="方正兰亭黑简体" panose="02000000000000000000" pitchFamily="2" charset="-122"/>
              </a:rPr>
              <a:t>质量地图，快速识别热点区域</a:t>
            </a:r>
          </a:p>
        </p:txBody>
      </p:sp>
      <p:sp>
        <p:nvSpPr>
          <p:cNvPr id="28" name="圆角矩形 75">
            <a:extLst>
              <a:ext uri="{FF2B5EF4-FFF2-40B4-BE49-F238E27FC236}">
                <a16:creationId xmlns="" xmlns:a16="http://schemas.microsoft.com/office/drawing/2014/main" id="{19EB7B14-4902-4A33-9F43-4502E663098B}"/>
              </a:ext>
            </a:extLst>
          </p:cNvPr>
          <p:cNvSpPr/>
          <p:nvPr/>
        </p:nvSpPr>
        <p:spPr bwMode="gray">
          <a:xfrm>
            <a:off x="1686673" y="4042411"/>
            <a:ext cx="4146053" cy="205855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197698" indent="-251899" defTabSz="914034" fontAlgn="ctr">
              <a:lnSpc>
                <a:spcPct val="140000"/>
              </a:lnSpc>
              <a:spcBef>
                <a:spcPts val="720"/>
              </a:spcBef>
              <a:buSzPct val="50000"/>
              <a:buFont typeface="Wingdings" panose="05000000000000000000" pitchFamily="2" charset="2"/>
              <a:buChar char="p"/>
            </a:pPr>
            <a:endParaRPr lang="zh-CN" altLang="en-US" sz="1200" dirty="0">
              <a:solidFill>
                <a:schemeClr val="tx1"/>
              </a:solidFill>
              <a:latin typeface="Huawei Sans" panose="020C0503030203020204" pitchFamily="34" charset="0"/>
              <a:ea typeface="方正兰亭黑简体" panose="02000000000000000000" pitchFamily="2" charset="-122"/>
            </a:endParaRPr>
          </a:p>
        </p:txBody>
      </p:sp>
      <p:sp>
        <p:nvSpPr>
          <p:cNvPr id="29" name="圆角矩形 75">
            <a:extLst>
              <a:ext uri="{FF2B5EF4-FFF2-40B4-BE49-F238E27FC236}">
                <a16:creationId xmlns="" xmlns:a16="http://schemas.microsoft.com/office/drawing/2014/main" id="{2D0D651F-C48C-4E72-A09F-1B35FE9D8D2A}"/>
              </a:ext>
            </a:extLst>
          </p:cNvPr>
          <p:cNvSpPr/>
          <p:nvPr/>
        </p:nvSpPr>
        <p:spPr bwMode="gray">
          <a:xfrm>
            <a:off x="6467634" y="1062838"/>
            <a:ext cx="414605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性能拓扑，质量劣化清晰可见</a:t>
            </a:r>
          </a:p>
        </p:txBody>
      </p:sp>
      <p:sp>
        <p:nvSpPr>
          <p:cNvPr id="30" name="圆角矩形 75">
            <a:extLst>
              <a:ext uri="{FF2B5EF4-FFF2-40B4-BE49-F238E27FC236}">
                <a16:creationId xmlns="" xmlns:a16="http://schemas.microsoft.com/office/drawing/2014/main" id="{4181AB06-6035-425C-A9C1-5D41D66C11D5}"/>
              </a:ext>
            </a:extLst>
          </p:cNvPr>
          <p:cNvSpPr/>
          <p:nvPr/>
        </p:nvSpPr>
        <p:spPr bwMode="gray">
          <a:xfrm>
            <a:off x="6467634" y="1502615"/>
            <a:ext cx="4146053" cy="205855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197698" indent="-251899" defTabSz="914034" fontAlgn="ctr">
              <a:lnSpc>
                <a:spcPct val="140000"/>
              </a:lnSpc>
              <a:spcBef>
                <a:spcPts val="720"/>
              </a:spcBef>
              <a:buSzPct val="50000"/>
              <a:buFont typeface="Wingdings" panose="05000000000000000000" pitchFamily="2" charset="2"/>
              <a:buChar char="p"/>
            </a:pPr>
            <a:endParaRPr lang="zh-CN" altLang="en-US" sz="1200" dirty="0">
              <a:solidFill>
                <a:schemeClr val="tx1"/>
              </a:solidFill>
              <a:latin typeface="Huawei Sans" panose="020C0503030203020204" pitchFamily="34" charset="0"/>
              <a:ea typeface="方正兰亭黑简体" panose="02000000000000000000" pitchFamily="2" charset="-122"/>
            </a:endParaRPr>
          </a:p>
        </p:txBody>
      </p:sp>
      <p:sp>
        <p:nvSpPr>
          <p:cNvPr id="31" name="圆角矩形 75">
            <a:extLst>
              <a:ext uri="{FF2B5EF4-FFF2-40B4-BE49-F238E27FC236}">
                <a16:creationId xmlns="" xmlns:a16="http://schemas.microsoft.com/office/drawing/2014/main" id="{2F4885D8-5F4E-4620-A38D-9B05B9F8C70D}"/>
              </a:ext>
            </a:extLst>
          </p:cNvPr>
          <p:cNvSpPr/>
          <p:nvPr/>
        </p:nvSpPr>
        <p:spPr bwMode="gray">
          <a:xfrm>
            <a:off x="6467634" y="3599342"/>
            <a:ext cx="414605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流量秒级峰值，真实反映带宽瓶颈</a:t>
            </a:r>
          </a:p>
        </p:txBody>
      </p:sp>
    </p:spTree>
    <p:extLst>
      <p:ext uri="{BB962C8B-B14F-4D97-AF65-F5344CB8AC3E}">
        <p14:creationId xmlns:p14="http://schemas.microsoft.com/office/powerpoint/2010/main" val="11976825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691C6AA-A994-492A-8300-17663794288B}"/>
              </a:ext>
            </a:extLst>
          </p:cNvPr>
          <p:cNvSpPr>
            <a:spLocks noGrp="1"/>
          </p:cNvSpPr>
          <p:nvPr>
            <p:ph type="title"/>
          </p:nvPr>
        </p:nvSpPr>
        <p:spPr bwMode="gray"/>
        <p:txBody>
          <a:bodyPr/>
          <a:lstStyle/>
          <a:p>
            <a:r>
              <a:rPr lang="zh-CN" altLang="en-US" dirty="0"/>
              <a:t>金融云广域场景</a:t>
            </a:r>
            <a:endParaRPr lang="en-US" dirty="0"/>
          </a:p>
        </p:txBody>
      </p:sp>
      <p:sp>
        <p:nvSpPr>
          <p:cNvPr id="6" name="Text Placeholder 5">
            <a:extLst>
              <a:ext uri="{FF2B5EF4-FFF2-40B4-BE49-F238E27FC236}">
                <a16:creationId xmlns="" xmlns:a16="http://schemas.microsoft.com/office/drawing/2014/main" id="{7957C555-EDE0-484D-B572-5CECCCEAD25B}"/>
              </a:ext>
            </a:extLst>
          </p:cNvPr>
          <p:cNvSpPr>
            <a:spLocks noGrp="1"/>
          </p:cNvSpPr>
          <p:nvPr>
            <p:ph type="body" sz="quarter" idx="10"/>
          </p:nvPr>
        </p:nvSpPr>
        <p:spPr bwMode="gray">
          <a:xfrm>
            <a:off x="7325060" y="1047750"/>
            <a:ext cx="4424027" cy="4879805"/>
          </a:xfrm>
        </p:spPr>
        <p:txBody>
          <a:bodyPr/>
          <a:lstStyle/>
          <a:p>
            <a:r>
              <a:rPr lang="zh-CN" altLang="en-US" sz="1800" dirty="0"/>
              <a:t>随着分布式云数据中心建设，云骨干网弹性扩容，增加核心、汇聚节点实现多中心的互联互通。同时引入</a:t>
            </a:r>
            <a:r>
              <a:rPr lang="en-US" altLang="zh-CN" sz="1800" dirty="0"/>
              <a:t>SDN</a:t>
            </a:r>
            <a:r>
              <a:rPr lang="zh-CN" altLang="en-US" sz="1800" dirty="0"/>
              <a:t>、</a:t>
            </a:r>
            <a:r>
              <a:rPr lang="en-US" altLang="zh-CN" sz="1800" dirty="0"/>
              <a:t>SRv6</a:t>
            </a:r>
            <a:r>
              <a:rPr lang="zh-CN" altLang="en-US" sz="1800" dirty="0"/>
              <a:t>等技术，实现网络智能管理、流量调优等功能。</a:t>
            </a:r>
          </a:p>
          <a:p>
            <a:pPr lvl="1"/>
            <a:r>
              <a:rPr lang="zh-CN" altLang="en-US" sz="1600" dirty="0"/>
              <a:t>业务快速发放，集中算路，智能选路。</a:t>
            </a:r>
          </a:p>
          <a:p>
            <a:pPr lvl="1"/>
            <a:r>
              <a:rPr lang="zh-CN" altLang="en-US" sz="1600" dirty="0"/>
              <a:t>网络智能化可视化，实时感知业务状态。</a:t>
            </a:r>
          </a:p>
          <a:p>
            <a:pPr lvl="1"/>
            <a:r>
              <a:rPr lang="zh-CN" altLang="en-US" sz="1600" dirty="0"/>
              <a:t>向分布式多地多中心架构演进。</a:t>
            </a:r>
          </a:p>
          <a:p>
            <a:pPr lvl="1"/>
            <a:r>
              <a:rPr lang="zh-CN" altLang="en-US" sz="1600" dirty="0"/>
              <a:t>能力开放，控制器提供开放的南向和北向接口。</a:t>
            </a:r>
            <a:endParaRPr lang="en-US" sz="1600" dirty="0"/>
          </a:p>
        </p:txBody>
      </p:sp>
      <p:sp>
        <p:nvSpPr>
          <p:cNvPr id="3" name="五边形 2">
            <a:extLst>
              <a:ext uri="{FF2B5EF4-FFF2-40B4-BE49-F238E27FC236}">
                <a16:creationId xmlns="" xmlns:a16="http://schemas.microsoft.com/office/drawing/2014/main" id="{30098A2D-4F7A-45B5-980E-425FB6EE7901}"/>
              </a:ext>
            </a:extLst>
          </p:cNvPr>
          <p:cNvSpPr/>
          <p:nvPr/>
        </p:nvSpPr>
        <p:spPr bwMode="gray">
          <a:xfrm>
            <a:off x="8199710" y="49524"/>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解决方案概述</a:t>
            </a:r>
          </a:p>
        </p:txBody>
      </p:sp>
      <p:sp>
        <p:nvSpPr>
          <p:cNvPr id="4" name="燕尾形 3">
            <a:extLst>
              <a:ext uri="{FF2B5EF4-FFF2-40B4-BE49-F238E27FC236}">
                <a16:creationId xmlns="" xmlns:a16="http://schemas.microsoft.com/office/drawing/2014/main" id="{EA631AC1-2EC3-4964-B7A3-C8D693B7E508}"/>
              </a:ext>
            </a:extLst>
          </p:cNvPr>
          <p:cNvSpPr/>
          <p:nvPr/>
        </p:nvSpPr>
        <p:spPr bwMode="gray">
          <a:xfrm>
            <a:off x="10434510" y="49524"/>
            <a:ext cx="13077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使用场景介绍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E0318515-502A-457A-923E-197C0425225D}"/>
              </a:ext>
            </a:extLst>
          </p:cNvPr>
          <p:cNvSpPr/>
          <p:nvPr/>
        </p:nvSpPr>
        <p:spPr bwMode="gray">
          <a:xfrm>
            <a:off x="9319110" y="4952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主要功能介绍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Group 6">
            <a:extLst>
              <a:ext uri="{FF2B5EF4-FFF2-40B4-BE49-F238E27FC236}">
                <a16:creationId xmlns="" xmlns:a16="http://schemas.microsoft.com/office/drawing/2014/main" id="{1DB24905-0C6B-4355-B5A5-CCC325147DA2}"/>
              </a:ext>
            </a:extLst>
          </p:cNvPr>
          <p:cNvGrpSpPr/>
          <p:nvPr/>
        </p:nvGrpSpPr>
        <p:grpSpPr>
          <a:xfrm>
            <a:off x="548792" y="984334"/>
            <a:ext cx="6776268" cy="5214792"/>
            <a:chOff x="548792" y="984334"/>
            <a:chExt cx="6776268" cy="5214792"/>
          </a:xfrm>
        </p:grpSpPr>
        <p:sp>
          <p:nvSpPr>
            <p:cNvPr id="154" name="矩形 133">
              <a:extLst>
                <a:ext uri="{FF2B5EF4-FFF2-40B4-BE49-F238E27FC236}">
                  <a16:creationId xmlns="" xmlns:a16="http://schemas.microsoft.com/office/drawing/2014/main" id="{5156F572-67F8-4D29-A4C9-CE0EEAF20D65}"/>
                </a:ext>
              </a:extLst>
            </p:cNvPr>
            <p:cNvSpPr/>
            <p:nvPr/>
          </p:nvSpPr>
          <p:spPr bwMode="gray">
            <a:xfrm>
              <a:off x="1760085" y="1660811"/>
              <a:ext cx="4449719" cy="3660458"/>
            </a:xfrm>
            <a:prstGeom prst="rect">
              <a:avLst/>
            </a:prstGeom>
            <a:solidFill>
              <a:srgbClr val="FFFFFF">
                <a:lumMod val="95000"/>
                <a:alpha val="70000"/>
              </a:srgbClr>
            </a:solidFill>
            <a:ln w="0" cap="flat" cmpd="sng" algn="ctr">
              <a:solidFill>
                <a:sysClr val="window" lastClr="FFFFFF">
                  <a:lumMod val="75000"/>
                </a:sysClr>
              </a:solidFill>
              <a:prstDash val="lgDash"/>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sym typeface="Huawei Sans" panose="020C0503030203020204" pitchFamily="34" charset="0"/>
              </a:endParaRPr>
            </a:p>
          </p:txBody>
        </p:sp>
        <p:sp>
          <p:nvSpPr>
            <p:cNvPr id="155" name="云形 3">
              <a:extLst>
                <a:ext uri="{FF2B5EF4-FFF2-40B4-BE49-F238E27FC236}">
                  <a16:creationId xmlns="" xmlns:a16="http://schemas.microsoft.com/office/drawing/2014/main" id="{C749F766-83D3-443D-848C-7FE2F2057B14}"/>
                </a:ext>
              </a:extLst>
            </p:cNvPr>
            <p:cNvSpPr/>
            <p:nvPr/>
          </p:nvSpPr>
          <p:spPr bwMode="gray">
            <a:xfrm>
              <a:off x="2212783" y="5716222"/>
              <a:ext cx="1093873" cy="401456"/>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8360 w 43256"/>
                <a:gd name="connsiteY8" fmla="*/ 5285 h 43219"/>
                <a:gd name="connsiteX9" fmla="*/ 38436 w 43256"/>
                <a:gd name="connsiteY9" fmla="*/ 654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28863 w 43256"/>
                <a:gd name="connsiteY4" fmla="*/ 34610 h 43219"/>
                <a:gd name="connsiteX5" fmla="*/ 28596 w 43256"/>
                <a:gd name="connsiteY5" fmla="*/ 36519 h 43219"/>
                <a:gd name="connsiteX6" fmla="*/ 38360 w 43256"/>
                <a:gd name="connsiteY6" fmla="*/ 5285 h 43219"/>
                <a:gd name="connsiteX7" fmla="*/ 38436 w 43256"/>
                <a:gd name="connsiteY7" fmla="*/ 6549 h 43219"/>
                <a:gd name="connsiteX8" fmla="*/ 4163 w 43256"/>
                <a:gd name="connsiteY8" fmla="*/ 15648 h 43219"/>
                <a:gd name="connsiteX9" fmla="*/ 3936 w 43256"/>
                <a:gd name="connsiteY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4163 w 43256"/>
                <a:gd name="connsiteY6" fmla="*/ 15648 h 43219"/>
                <a:gd name="connsiteX7" fmla="*/ 3936 w 43256"/>
                <a:gd name="connsiteY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360 w 43256"/>
                <a:gd name="connsiteY2" fmla="*/ 5285 h 43219"/>
                <a:gd name="connsiteX3" fmla="*/ 38436 w 43256"/>
                <a:gd name="connsiteY3" fmla="*/ 6549 h 43219"/>
                <a:gd name="connsiteX4" fmla="*/ 4163 w 43256"/>
                <a:gd name="connsiteY4" fmla="*/ 15648 h 43219"/>
                <a:gd name="connsiteX5" fmla="*/ 3936 w 43256"/>
                <a:gd name="connsiteY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163 w 43256"/>
                <a:gd name="connsiteY2" fmla="*/ 15648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800 w 43256"/>
                <a:gd name="connsiteY2" fmla="*/ 15024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89 w 43256"/>
                <a:gd name="connsiteY2" fmla="*/ 13963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3889 w 43256"/>
                <a:gd name="connsiteY0" fmla="*/ 13963 h 43219"/>
                <a:gd name="connsiteX1" fmla="*/ 3936 w 43256"/>
                <a:gd name="connsiteY1" fmla="*/ 14229 h 43219"/>
              </a:gdLst>
              <a:ahLst/>
              <a:cxnLst>
                <a:cxn ang="0">
                  <a:pos x="connsiteX0" y="connsiteY0"/>
                </a:cxn>
                <a:cxn ang="0">
                  <a:pos x="connsiteX1" y="connsiteY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3889" y="13963"/>
                  </a:moveTo>
                  <a:cubicBezTo>
                    <a:pt x="3886" y="13986"/>
                    <a:pt x="3984" y="14710"/>
                    <a:pt x="3936" y="14229"/>
                  </a:cubicBezTo>
                </a:path>
              </a:pathLst>
            </a:custGeom>
            <a:solidFill>
              <a:srgbClr val="1AABE2">
                <a:alpha val="5000"/>
              </a:srgbClr>
            </a:solidFill>
            <a:ln w="9525">
              <a:solidFill>
                <a:srgbClr val="1AABE2">
                  <a:alpha val="30000"/>
                </a:srgbClr>
              </a:solidFill>
              <a:round/>
              <a:headEnd/>
              <a:tailEnd/>
            </a:ln>
          </p:spPr>
          <p:txBody>
            <a:bodyPr lIns="99562" tIns="49781" rIns="99562" bIns="49781" anchor="ctr"/>
            <a:lstStyle/>
            <a:p>
              <a:pPr marL="0" marR="0" lvl="0" indent="0" algn="ctr" defTabSz="1211808" eaLnBrk="1" fontAlgn="ctr" latinLnBrk="0" hangingPunct="1">
                <a:lnSpc>
                  <a:spcPct val="100000"/>
                </a:lnSpc>
                <a:spcBef>
                  <a:spcPts val="0"/>
                </a:spcBef>
                <a:spcAft>
                  <a:spcPts val="0"/>
                </a:spcAft>
                <a:buClrTx/>
                <a:buSzTx/>
                <a:buFontTx/>
                <a:buNone/>
                <a:tabLst/>
                <a:defRPr/>
              </a:pPr>
              <a:r>
                <a:rPr kumimoji="0" lang="zh-CN" altLang="en-US" sz="11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一级分行</a:t>
              </a:r>
            </a:p>
          </p:txBody>
        </p:sp>
        <p:sp>
          <p:nvSpPr>
            <p:cNvPr id="156" name="云形 3">
              <a:extLst>
                <a:ext uri="{FF2B5EF4-FFF2-40B4-BE49-F238E27FC236}">
                  <a16:creationId xmlns="" xmlns:a16="http://schemas.microsoft.com/office/drawing/2014/main" id="{DB113EA4-78B0-467D-97BE-4D2E37A792C1}"/>
                </a:ext>
              </a:extLst>
            </p:cNvPr>
            <p:cNvSpPr/>
            <p:nvPr/>
          </p:nvSpPr>
          <p:spPr bwMode="gray">
            <a:xfrm>
              <a:off x="759731" y="3067655"/>
              <a:ext cx="680667" cy="789499"/>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8360 w 43256"/>
                <a:gd name="connsiteY8" fmla="*/ 5285 h 43219"/>
                <a:gd name="connsiteX9" fmla="*/ 38436 w 43256"/>
                <a:gd name="connsiteY9" fmla="*/ 654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28863 w 43256"/>
                <a:gd name="connsiteY4" fmla="*/ 34610 h 43219"/>
                <a:gd name="connsiteX5" fmla="*/ 28596 w 43256"/>
                <a:gd name="connsiteY5" fmla="*/ 36519 h 43219"/>
                <a:gd name="connsiteX6" fmla="*/ 38360 w 43256"/>
                <a:gd name="connsiteY6" fmla="*/ 5285 h 43219"/>
                <a:gd name="connsiteX7" fmla="*/ 38436 w 43256"/>
                <a:gd name="connsiteY7" fmla="*/ 6549 h 43219"/>
                <a:gd name="connsiteX8" fmla="*/ 4163 w 43256"/>
                <a:gd name="connsiteY8" fmla="*/ 15648 h 43219"/>
                <a:gd name="connsiteX9" fmla="*/ 3936 w 43256"/>
                <a:gd name="connsiteY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4163 w 43256"/>
                <a:gd name="connsiteY6" fmla="*/ 15648 h 43219"/>
                <a:gd name="connsiteX7" fmla="*/ 3936 w 43256"/>
                <a:gd name="connsiteY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360 w 43256"/>
                <a:gd name="connsiteY2" fmla="*/ 5285 h 43219"/>
                <a:gd name="connsiteX3" fmla="*/ 38436 w 43256"/>
                <a:gd name="connsiteY3" fmla="*/ 6549 h 43219"/>
                <a:gd name="connsiteX4" fmla="*/ 4163 w 43256"/>
                <a:gd name="connsiteY4" fmla="*/ 15648 h 43219"/>
                <a:gd name="connsiteX5" fmla="*/ 3936 w 43256"/>
                <a:gd name="connsiteY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163 w 43256"/>
                <a:gd name="connsiteY2" fmla="*/ 15648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800 w 43256"/>
                <a:gd name="connsiteY2" fmla="*/ 15024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89 w 43256"/>
                <a:gd name="connsiteY2" fmla="*/ 13963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3889 w 43256"/>
                <a:gd name="connsiteY0" fmla="*/ 13963 h 43219"/>
                <a:gd name="connsiteX1" fmla="*/ 3936 w 43256"/>
                <a:gd name="connsiteY1" fmla="*/ 14229 h 43219"/>
              </a:gdLst>
              <a:ahLst/>
              <a:cxnLst>
                <a:cxn ang="0">
                  <a:pos x="connsiteX0" y="connsiteY0"/>
                </a:cxn>
                <a:cxn ang="0">
                  <a:pos x="connsiteX1" y="connsiteY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3889" y="13963"/>
                  </a:moveTo>
                  <a:cubicBezTo>
                    <a:pt x="3886" y="13986"/>
                    <a:pt x="3984" y="14710"/>
                    <a:pt x="3936" y="14229"/>
                  </a:cubicBezTo>
                </a:path>
              </a:pathLst>
            </a:custGeom>
            <a:solidFill>
              <a:srgbClr val="1AABE2">
                <a:alpha val="5000"/>
              </a:srgbClr>
            </a:solidFill>
            <a:ln w="9525">
              <a:solidFill>
                <a:srgbClr val="1AABE2">
                  <a:alpha val="30000"/>
                </a:srgbClr>
              </a:solidFill>
              <a:round/>
              <a:headEnd/>
              <a:tailEnd/>
            </a:ln>
          </p:spPr>
          <p:txBody>
            <a:bodyPr lIns="99562" tIns="49781" rIns="99562" bIns="49781" anchor="ctr"/>
            <a:lstStyle/>
            <a:p>
              <a:pPr marL="0" marR="0" lvl="0" indent="0" algn="ctr" defTabSz="1211808" eaLnBrk="1" fontAlgn="ctr"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A</a:t>
              </a:r>
              <a:r>
                <a:rPr kumimoji="0" lang="zh-CN" altLang="en-US" sz="12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数据中心</a:t>
              </a:r>
            </a:p>
          </p:txBody>
        </p:sp>
        <p:sp>
          <p:nvSpPr>
            <p:cNvPr id="157" name="云形 3">
              <a:extLst>
                <a:ext uri="{FF2B5EF4-FFF2-40B4-BE49-F238E27FC236}">
                  <a16:creationId xmlns="" xmlns:a16="http://schemas.microsoft.com/office/drawing/2014/main" id="{75EF933A-69F1-4DEC-B4A2-6EEF7B1F83ED}"/>
                </a:ext>
              </a:extLst>
            </p:cNvPr>
            <p:cNvSpPr/>
            <p:nvPr/>
          </p:nvSpPr>
          <p:spPr bwMode="gray">
            <a:xfrm>
              <a:off x="4058331" y="1029029"/>
              <a:ext cx="1225286" cy="458086"/>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8360 w 43256"/>
                <a:gd name="connsiteY8" fmla="*/ 5285 h 43219"/>
                <a:gd name="connsiteX9" fmla="*/ 38436 w 43256"/>
                <a:gd name="connsiteY9" fmla="*/ 654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28863 w 43256"/>
                <a:gd name="connsiteY4" fmla="*/ 34610 h 43219"/>
                <a:gd name="connsiteX5" fmla="*/ 28596 w 43256"/>
                <a:gd name="connsiteY5" fmla="*/ 36519 h 43219"/>
                <a:gd name="connsiteX6" fmla="*/ 38360 w 43256"/>
                <a:gd name="connsiteY6" fmla="*/ 5285 h 43219"/>
                <a:gd name="connsiteX7" fmla="*/ 38436 w 43256"/>
                <a:gd name="connsiteY7" fmla="*/ 6549 h 43219"/>
                <a:gd name="connsiteX8" fmla="*/ 4163 w 43256"/>
                <a:gd name="connsiteY8" fmla="*/ 15648 h 43219"/>
                <a:gd name="connsiteX9" fmla="*/ 3936 w 43256"/>
                <a:gd name="connsiteY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4163 w 43256"/>
                <a:gd name="connsiteY6" fmla="*/ 15648 h 43219"/>
                <a:gd name="connsiteX7" fmla="*/ 3936 w 43256"/>
                <a:gd name="connsiteY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360 w 43256"/>
                <a:gd name="connsiteY2" fmla="*/ 5285 h 43219"/>
                <a:gd name="connsiteX3" fmla="*/ 38436 w 43256"/>
                <a:gd name="connsiteY3" fmla="*/ 6549 h 43219"/>
                <a:gd name="connsiteX4" fmla="*/ 4163 w 43256"/>
                <a:gd name="connsiteY4" fmla="*/ 15648 h 43219"/>
                <a:gd name="connsiteX5" fmla="*/ 3936 w 43256"/>
                <a:gd name="connsiteY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163 w 43256"/>
                <a:gd name="connsiteY2" fmla="*/ 15648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800 w 43256"/>
                <a:gd name="connsiteY2" fmla="*/ 15024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89 w 43256"/>
                <a:gd name="connsiteY2" fmla="*/ 13963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3889 w 43256"/>
                <a:gd name="connsiteY0" fmla="*/ 13963 h 43219"/>
                <a:gd name="connsiteX1" fmla="*/ 3936 w 43256"/>
                <a:gd name="connsiteY1" fmla="*/ 14229 h 43219"/>
              </a:gdLst>
              <a:ahLst/>
              <a:cxnLst>
                <a:cxn ang="0">
                  <a:pos x="connsiteX0" y="connsiteY0"/>
                </a:cxn>
                <a:cxn ang="0">
                  <a:pos x="connsiteX1" y="connsiteY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3889" y="13963"/>
                  </a:moveTo>
                  <a:cubicBezTo>
                    <a:pt x="3886" y="13986"/>
                    <a:pt x="3984" y="14710"/>
                    <a:pt x="3936" y="14229"/>
                  </a:cubicBezTo>
                </a:path>
              </a:pathLst>
            </a:custGeom>
            <a:solidFill>
              <a:srgbClr val="1AABE2">
                <a:alpha val="5000"/>
              </a:srgbClr>
            </a:solidFill>
            <a:ln w="9525">
              <a:solidFill>
                <a:srgbClr val="1AABE2">
                  <a:alpha val="30000"/>
                </a:srgbClr>
              </a:solidFill>
              <a:round/>
              <a:headEnd/>
              <a:tailEnd/>
            </a:ln>
          </p:spPr>
          <p:txBody>
            <a:bodyPr lIns="99562" tIns="49781" rIns="99562" bIns="49781" anchor="ctr"/>
            <a:lstStyle/>
            <a:p>
              <a:pPr marL="0" marR="0" lvl="0" indent="0" algn="ctr" defTabSz="1211808" eaLnBrk="1" fontAlgn="ctr"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C</a:t>
              </a:r>
              <a:r>
                <a:rPr kumimoji="0" lang="zh-CN" altLang="en-US" sz="12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数据中心</a:t>
              </a:r>
            </a:p>
          </p:txBody>
        </p:sp>
        <p:cxnSp>
          <p:nvCxnSpPr>
            <p:cNvPr id="158" name="直接连接符 98">
              <a:extLst>
                <a:ext uri="{FF2B5EF4-FFF2-40B4-BE49-F238E27FC236}">
                  <a16:creationId xmlns="" xmlns:a16="http://schemas.microsoft.com/office/drawing/2014/main" id="{61101432-D6D7-4998-96CC-627ECB8815CF}"/>
                </a:ext>
              </a:extLst>
            </p:cNvPr>
            <p:cNvCxnSpPr>
              <a:endCxn id="159" idx="3"/>
            </p:cNvCxnSpPr>
            <p:nvPr/>
          </p:nvCxnSpPr>
          <p:spPr bwMode="gray">
            <a:xfrm flipH="1">
              <a:off x="2647473" y="3185573"/>
              <a:ext cx="2581213" cy="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59" name="图片 4">
              <a:extLst>
                <a:ext uri="{FF2B5EF4-FFF2-40B4-BE49-F238E27FC236}">
                  <a16:creationId xmlns="" xmlns:a16="http://schemas.microsoft.com/office/drawing/2014/main" id="{68F10614-ED9C-441D-BE64-D1ADC40ED52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381991" y="3076967"/>
              <a:ext cx="265481" cy="217211"/>
            </a:xfrm>
            <a:prstGeom prst="rect">
              <a:avLst/>
            </a:prstGeom>
          </p:spPr>
        </p:pic>
        <p:pic>
          <p:nvPicPr>
            <p:cNvPr id="160" name="图片 109">
              <a:extLst>
                <a:ext uri="{FF2B5EF4-FFF2-40B4-BE49-F238E27FC236}">
                  <a16:creationId xmlns="" xmlns:a16="http://schemas.microsoft.com/office/drawing/2014/main" id="{DAC3A4D0-08C9-446A-A7B7-70BC28EE629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398713" y="3632391"/>
              <a:ext cx="265481" cy="217211"/>
            </a:xfrm>
            <a:prstGeom prst="rect">
              <a:avLst/>
            </a:prstGeom>
          </p:spPr>
        </p:pic>
        <p:cxnSp>
          <p:nvCxnSpPr>
            <p:cNvPr id="161" name="直接连接符 112">
              <a:extLst>
                <a:ext uri="{FF2B5EF4-FFF2-40B4-BE49-F238E27FC236}">
                  <a16:creationId xmlns="" xmlns:a16="http://schemas.microsoft.com/office/drawing/2014/main" id="{8B8D111D-B8D5-4D1D-83A3-116B855CBB29}"/>
                </a:ext>
              </a:extLst>
            </p:cNvPr>
            <p:cNvCxnSpPr>
              <a:stCxn id="165" idx="1"/>
              <a:endCxn id="160" idx="3"/>
            </p:cNvCxnSpPr>
            <p:nvPr/>
          </p:nvCxnSpPr>
          <p:spPr bwMode="gray">
            <a:xfrm flipH="1" flipV="1">
              <a:off x="2664194" y="3740996"/>
              <a:ext cx="2564492" cy="1956"/>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62" name="图片 115">
              <a:extLst>
                <a:ext uri="{FF2B5EF4-FFF2-40B4-BE49-F238E27FC236}">
                  <a16:creationId xmlns="" xmlns:a16="http://schemas.microsoft.com/office/drawing/2014/main" id="{5BBD016D-420F-4BC0-9F60-C184DED30DD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826361" y="2031070"/>
              <a:ext cx="265481" cy="217211"/>
            </a:xfrm>
            <a:prstGeom prst="rect">
              <a:avLst/>
            </a:prstGeom>
          </p:spPr>
        </p:pic>
        <p:pic>
          <p:nvPicPr>
            <p:cNvPr id="163" name="图片 116">
              <a:extLst>
                <a:ext uri="{FF2B5EF4-FFF2-40B4-BE49-F238E27FC236}">
                  <a16:creationId xmlns="" xmlns:a16="http://schemas.microsoft.com/office/drawing/2014/main" id="{696FC399-6F09-4456-A283-0D6AD19444D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gray">
            <a:xfrm>
              <a:off x="3830783" y="2474723"/>
              <a:ext cx="265481" cy="218379"/>
            </a:xfrm>
            <a:prstGeom prst="rect">
              <a:avLst/>
            </a:prstGeom>
          </p:spPr>
        </p:pic>
        <p:pic>
          <p:nvPicPr>
            <p:cNvPr id="164" name="图片 117">
              <a:extLst>
                <a:ext uri="{FF2B5EF4-FFF2-40B4-BE49-F238E27FC236}">
                  <a16:creationId xmlns="" xmlns:a16="http://schemas.microsoft.com/office/drawing/2014/main" id="{3E235846-B8C1-4D11-BCC1-436518B050E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228686" y="3076967"/>
              <a:ext cx="265481" cy="217211"/>
            </a:xfrm>
            <a:prstGeom prst="rect">
              <a:avLst/>
            </a:prstGeom>
          </p:spPr>
        </p:pic>
        <p:pic>
          <p:nvPicPr>
            <p:cNvPr id="165" name="图片 118">
              <a:extLst>
                <a:ext uri="{FF2B5EF4-FFF2-40B4-BE49-F238E27FC236}">
                  <a16:creationId xmlns="" xmlns:a16="http://schemas.microsoft.com/office/drawing/2014/main" id="{E12A67EF-0F6D-47F8-9F81-D8EB107F314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228686" y="3634346"/>
              <a:ext cx="265481" cy="217211"/>
            </a:xfrm>
            <a:prstGeom prst="rect">
              <a:avLst/>
            </a:prstGeom>
          </p:spPr>
        </p:pic>
        <p:pic>
          <p:nvPicPr>
            <p:cNvPr id="166" name="图片 119">
              <a:extLst>
                <a:ext uri="{FF2B5EF4-FFF2-40B4-BE49-F238E27FC236}">
                  <a16:creationId xmlns="" xmlns:a16="http://schemas.microsoft.com/office/drawing/2014/main" id="{8FAFB029-B1B0-426C-A8C9-ED4AFA52762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gray">
            <a:xfrm>
              <a:off x="4259124" y="1730231"/>
              <a:ext cx="265481" cy="218379"/>
            </a:xfrm>
            <a:prstGeom prst="rect">
              <a:avLst/>
            </a:prstGeom>
          </p:spPr>
        </p:pic>
        <p:pic>
          <p:nvPicPr>
            <p:cNvPr id="167" name="图片 120">
              <a:extLst>
                <a:ext uri="{FF2B5EF4-FFF2-40B4-BE49-F238E27FC236}">
                  <a16:creationId xmlns="" xmlns:a16="http://schemas.microsoft.com/office/drawing/2014/main" id="{B8453615-A244-4210-BE40-8FD246065F6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gray">
            <a:xfrm>
              <a:off x="4817592" y="1727061"/>
              <a:ext cx="265481" cy="218379"/>
            </a:xfrm>
            <a:prstGeom prst="rect">
              <a:avLst/>
            </a:prstGeom>
          </p:spPr>
        </p:pic>
        <p:pic>
          <p:nvPicPr>
            <p:cNvPr id="168" name="图片 121">
              <a:extLst>
                <a:ext uri="{FF2B5EF4-FFF2-40B4-BE49-F238E27FC236}">
                  <a16:creationId xmlns="" xmlns:a16="http://schemas.microsoft.com/office/drawing/2014/main" id="{C8F6842C-B288-4609-937C-E769B9DA494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1851029" y="3075210"/>
              <a:ext cx="265481" cy="217211"/>
            </a:xfrm>
            <a:prstGeom prst="rect">
              <a:avLst/>
            </a:prstGeom>
          </p:spPr>
        </p:pic>
        <p:pic>
          <p:nvPicPr>
            <p:cNvPr id="169" name="图片 122">
              <a:extLst>
                <a:ext uri="{FF2B5EF4-FFF2-40B4-BE49-F238E27FC236}">
                  <a16:creationId xmlns="" xmlns:a16="http://schemas.microsoft.com/office/drawing/2014/main" id="{C7ED937E-99DA-4203-9AF9-7CA952C50CD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1844123" y="3628469"/>
              <a:ext cx="265481" cy="217211"/>
            </a:xfrm>
            <a:prstGeom prst="rect">
              <a:avLst/>
            </a:prstGeom>
          </p:spPr>
        </p:pic>
        <p:pic>
          <p:nvPicPr>
            <p:cNvPr id="170" name="图片 123">
              <a:extLst>
                <a:ext uri="{FF2B5EF4-FFF2-40B4-BE49-F238E27FC236}">
                  <a16:creationId xmlns="" xmlns:a16="http://schemas.microsoft.com/office/drawing/2014/main" id="{01D4017E-7CA6-4A44-93E3-0AE7D0D2467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843273" y="3075210"/>
              <a:ext cx="265481" cy="217211"/>
            </a:xfrm>
            <a:prstGeom prst="rect">
              <a:avLst/>
            </a:prstGeom>
          </p:spPr>
        </p:pic>
        <p:pic>
          <p:nvPicPr>
            <p:cNvPr id="171" name="图片 124">
              <a:extLst>
                <a:ext uri="{FF2B5EF4-FFF2-40B4-BE49-F238E27FC236}">
                  <a16:creationId xmlns="" xmlns:a16="http://schemas.microsoft.com/office/drawing/2014/main" id="{57E1AE26-3B2F-42D1-95E6-BD9BFBFE760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843273" y="3632392"/>
              <a:ext cx="265481" cy="217211"/>
            </a:xfrm>
            <a:prstGeom prst="rect">
              <a:avLst/>
            </a:prstGeom>
          </p:spPr>
        </p:pic>
        <p:cxnSp>
          <p:nvCxnSpPr>
            <p:cNvPr id="172" name="直接连接符 125">
              <a:extLst>
                <a:ext uri="{FF2B5EF4-FFF2-40B4-BE49-F238E27FC236}">
                  <a16:creationId xmlns="" xmlns:a16="http://schemas.microsoft.com/office/drawing/2014/main" id="{17470E87-9C61-4E61-A10E-187903A5BBF4}"/>
                </a:ext>
              </a:extLst>
            </p:cNvPr>
            <p:cNvCxnSpPr>
              <a:stCxn id="159" idx="1"/>
              <a:endCxn id="168" idx="3"/>
            </p:cNvCxnSpPr>
            <p:nvPr/>
          </p:nvCxnSpPr>
          <p:spPr bwMode="gray">
            <a:xfrm flipH="1" flipV="1">
              <a:off x="2116510" y="3183816"/>
              <a:ext cx="265481" cy="175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130">
              <a:extLst>
                <a:ext uri="{FF2B5EF4-FFF2-40B4-BE49-F238E27FC236}">
                  <a16:creationId xmlns="" xmlns:a16="http://schemas.microsoft.com/office/drawing/2014/main" id="{2B39D0A5-EC3A-40B3-9B73-612103B2AFBC}"/>
                </a:ext>
              </a:extLst>
            </p:cNvPr>
            <p:cNvCxnSpPr>
              <a:stCxn id="160" idx="1"/>
              <a:endCxn id="169" idx="3"/>
            </p:cNvCxnSpPr>
            <p:nvPr/>
          </p:nvCxnSpPr>
          <p:spPr bwMode="gray">
            <a:xfrm flipH="1" flipV="1">
              <a:off x="2109604" y="3737074"/>
              <a:ext cx="289109" cy="3922"/>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134">
              <a:extLst>
                <a:ext uri="{FF2B5EF4-FFF2-40B4-BE49-F238E27FC236}">
                  <a16:creationId xmlns="" xmlns:a16="http://schemas.microsoft.com/office/drawing/2014/main" id="{50BADA1F-42D7-447D-9C41-64E5D6BE208E}"/>
                </a:ext>
              </a:extLst>
            </p:cNvPr>
            <p:cNvCxnSpPr>
              <a:stCxn id="171" idx="1"/>
              <a:endCxn id="165" idx="3"/>
            </p:cNvCxnSpPr>
            <p:nvPr/>
          </p:nvCxnSpPr>
          <p:spPr bwMode="gray">
            <a:xfrm flipH="1">
              <a:off x="5494167" y="3740997"/>
              <a:ext cx="349106" cy="1955"/>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137">
              <a:extLst>
                <a:ext uri="{FF2B5EF4-FFF2-40B4-BE49-F238E27FC236}">
                  <a16:creationId xmlns="" xmlns:a16="http://schemas.microsoft.com/office/drawing/2014/main" id="{5D183B81-B142-4F8D-B00C-45BF7D318761}"/>
                </a:ext>
              </a:extLst>
            </p:cNvPr>
            <p:cNvCxnSpPr>
              <a:stCxn id="170" idx="1"/>
              <a:endCxn id="164" idx="3"/>
            </p:cNvCxnSpPr>
            <p:nvPr/>
          </p:nvCxnSpPr>
          <p:spPr bwMode="gray">
            <a:xfrm flipH="1">
              <a:off x="5494167" y="3183815"/>
              <a:ext cx="349106" cy="175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140">
              <a:extLst>
                <a:ext uri="{FF2B5EF4-FFF2-40B4-BE49-F238E27FC236}">
                  <a16:creationId xmlns="" xmlns:a16="http://schemas.microsoft.com/office/drawing/2014/main" id="{1817AC69-93B5-48DA-96CC-4A933E082A69}"/>
                </a:ext>
              </a:extLst>
            </p:cNvPr>
            <p:cNvCxnSpPr>
              <a:stCxn id="166" idx="2"/>
              <a:endCxn id="162" idx="3"/>
            </p:cNvCxnSpPr>
            <p:nvPr/>
          </p:nvCxnSpPr>
          <p:spPr bwMode="gray">
            <a:xfrm flipH="1">
              <a:off x="4091842" y="1966389"/>
              <a:ext cx="300022" cy="17328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143">
              <a:extLst>
                <a:ext uri="{FF2B5EF4-FFF2-40B4-BE49-F238E27FC236}">
                  <a16:creationId xmlns="" xmlns:a16="http://schemas.microsoft.com/office/drawing/2014/main" id="{E7219656-120D-44B2-A833-0642B8AC3B97}"/>
                </a:ext>
              </a:extLst>
            </p:cNvPr>
            <p:cNvCxnSpPr>
              <a:stCxn id="167" idx="2"/>
              <a:endCxn id="163" idx="3"/>
            </p:cNvCxnSpPr>
            <p:nvPr/>
          </p:nvCxnSpPr>
          <p:spPr bwMode="gray">
            <a:xfrm flipH="1">
              <a:off x="4096264" y="1963220"/>
              <a:ext cx="854069" cy="620693"/>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直接连接符 146">
              <a:extLst>
                <a:ext uri="{FF2B5EF4-FFF2-40B4-BE49-F238E27FC236}">
                  <a16:creationId xmlns="" xmlns:a16="http://schemas.microsoft.com/office/drawing/2014/main" id="{2E9B76C7-BDCF-410E-890F-A5FAB04BFA6A}"/>
                </a:ext>
              </a:extLst>
            </p:cNvPr>
            <p:cNvCxnSpPr>
              <a:stCxn id="162" idx="2"/>
              <a:endCxn id="159" idx="3"/>
            </p:cNvCxnSpPr>
            <p:nvPr/>
          </p:nvCxnSpPr>
          <p:spPr bwMode="gray">
            <a:xfrm flipH="1">
              <a:off x="2647473" y="2266645"/>
              <a:ext cx="1311629" cy="91892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直接连接符 149">
              <a:extLst>
                <a:ext uri="{FF2B5EF4-FFF2-40B4-BE49-F238E27FC236}">
                  <a16:creationId xmlns="" xmlns:a16="http://schemas.microsoft.com/office/drawing/2014/main" id="{84D231B8-B55B-4E53-A443-0EC6C32AC304}"/>
                </a:ext>
              </a:extLst>
            </p:cNvPr>
            <p:cNvCxnSpPr>
              <a:stCxn id="162" idx="2"/>
              <a:endCxn id="164" idx="1"/>
            </p:cNvCxnSpPr>
            <p:nvPr/>
          </p:nvCxnSpPr>
          <p:spPr bwMode="gray">
            <a:xfrm>
              <a:off x="3959102" y="2266645"/>
              <a:ext cx="1269584" cy="91892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直接连接符 153">
              <a:extLst>
                <a:ext uri="{FF2B5EF4-FFF2-40B4-BE49-F238E27FC236}">
                  <a16:creationId xmlns="" xmlns:a16="http://schemas.microsoft.com/office/drawing/2014/main" id="{003F3DAA-AD6F-4247-AD1E-F0F4F8232921}"/>
                </a:ext>
              </a:extLst>
            </p:cNvPr>
            <p:cNvCxnSpPr>
              <a:stCxn id="163" idx="2"/>
              <a:endCxn id="160" idx="3"/>
            </p:cNvCxnSpPr>
            <p:nvPr/>
          </p:nvCxnSpPr>
          <p:spPr bwMode="gray">
            <a:xfrm flipH="1">
              <a:off x="2664194" y="2710881"/>
              <a:ext cx="1299329" cy="1030115"/>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直接连接符 156">
              <a:extLst>
                <a:ext uri="{FF2B5EF4-FFF2-40B4-BE49-F238E27FC236}">
                  <a16:creationId xmlns="" xmlns:a16="http://schemas.microsoft.com/office/drawing/2014/main" id="{6BFCAF22-23B0-4BC9-8288-2C60848FEE58}"/>
                </a:ext>
              </a:extLst>
            </p:cNvPr>
            <p:cNvCxnSpPr>
              <a:stCxn id="163" idx="2"/>
              <a:endCxn id="165" idx="1"/>
            </p:cNvCxnSpPr>
            <p:nvPr/>
          </p:nvCxnSpPr>
          <p:spPr bwMode="gray">
            <a:xfrm>
              <a:off x="3963524" y="2710881"/>
              <a:ext cx="1265162" cy="103207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直接连接符 168">
              <a:extLst>
                <a:ext uri="{FF2B5EF4-FFF2-40B4-BE49-F238E27FC236}">
                  <a16:creationId xmlns="" xmlns:a16="http://schemas.microsoft.com/office/drawing/2014/main" id="{6D1B9CE4-D67E-4756-90DC-25AB2433DD98}"/>
                </a:ext>
              </a:extLst>
            </p:cNvPr>
            <p:cNvCxnSpPr>
              <a:stCxn id="163" idx="0"/>
              <a:endCxn id="162" idx="2"/>
            </p:cNvCxnSpPr>
            <p:nvPr/>
          </p:nvCxnSpPr>
          <p:spPr bwMode="gray">
            <a:xfrm flipH="1" flipV="1">
              <a:off x="3959102" y="2266645"/>
              <a:ext cx="4422" cy="19029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直接连接符 171">
              <a:extLst>
                <a:ext uri="{FF2B5EF4-FFF2-40B4-BE49-F238E27FC236}">
                  <a16:creationId xmlns="" xmlns:a16="http://schemas.microsoft.com/office/drawing/2014/main" id="{02C25607-25B0-48CD-885F-1A3C05A102F0}"/>
                </a:ext>
              </a:extLst>
            </p:cNvPr>
            <p:cNvCxnSpPr>
              <a:stCxn id="167" idx="1"/>
              <a:endCxn id="166" idx="3"/>
            </p:cNvCxnSpPr>
            <p:nvPr/>
          </p:nvCxnSpPr>
          <p:spPr bwMode="gray">
            <a:xfrm flipH="1">
              <a:off x="4524605" y="1836251"/>
              <a:ext cx="292987" cy="3169"/>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直接连接符 180">
              <a:extLst>
                <a:ext uri="{FF2B5EF4-FFF2-40B4-BE49-F238E27FC236}">
                  <a16:creationId xmlns="" xmlns:a16="http://schemas.microsoft.com/office/drawing/2014/main" id="{A7BAE42E-2572-4EC8-B767-5FB20EE69688}"/>
                </a:ext>
              </a:extLst>
            </p:cNvPr>
            <p:cNvCxnSpPr>
              <a:stCxn id="168" idx="2"/>
              <a:endCxn id="169" idx="0"/>
            </p:cNvCxnSpPr>
            <p:nvPr/>
          </p:nvCxnSpPr>
          <p:spPr bwMode="gray">
            <a:xfrm flipH="1">
              <a:off x="1976864" y="3310785"/>
              <a:ext cx="6906" cy="29932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直接连接符 183">
              <a:extLst>
                <a:ext uri="{FF2B5EF4-FFF2-40B4-BE49-F238E27FC236}">
                  <a16:creationId xmlns="" xmlns:a16="http://schemas.microsoft.com/office/drawing/2014/main" id="{10C80E9A-3145-4FBE-9474-6D9222CF540B}"/>
                </a:ext>
              </a:extLst>
            </p:cNvPr>
            <p:cNvCxnSpPr>
              <a:stCxn id="159" idx="2"/>
              <a:endCxn id="160" idx="0"/>
            </p:cNvCxnSpPr>
            <p:nvPr/>
          </p:nvCxnSpPr>
          <p:spPr bwMode="gray">
            <a:xfrm>
              <a:off x="2514732" y="3312542"/>
              <a:ext cx="16722" cy="301485"/>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直接连接符 186">
              <a:extLst>
                <a:ext uri="{FF2B5EF4-FFF2-40B4-BE49-F238E27FC236}">
                  <a16:creationId xmlns="" xmlns:a16="http://schemas.microsoft.com/office/drawing/2014/main" id="{A3476F3C-02DE-47A8-B54D-80509BD22DAD}"/>
                </a:ext>
              </a:extLst>
            </p:cNvPr>
            <p:cNvCxnSpPr>
              <a:stCxn id="164" idx="2"/>
              <a:endCxn id="165" idx="0"/>
            </p:cNvCxnSpPr>
            <p:nvPr/>
          </p:nvCxnSpPr>
          <p:spPr bwMode="gray">
            <a:xfrm>
              <a:off x="5361427" y="3312542"/>
              <a:ext cx="0" cy="30344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直接连接符 189">
              <a:extLst>
                <a:ext uri="{FF2B5EF4-FFF2-40B4-BE49-F238E27FC236}">
                  <a16:creationId xmlns="" xmlns:a16="http://schemas.microsoft.com/office/drawing/2014/main" id="{CCC5C36C-42DC-425E-ABD6-98E17F0B8FF5}"/>
                </a:ext>
              </a:extLst>
            </p:cNvPr>
            <p:cNvCxnSpPr>
              <a:stCxn id="170" idx="2"/>
              <a:endCxn id="171" idx="0"/>
            </p:cNvCxnSpPr>
            <p:nvPr/>
          </p:nvCxnSpPr>
          <p:spPr bwMode="gray">
            <a:xfrm>
              <a:off x="5976014" y="3310784"/>
              <a:ext cx="0" cy="303243"/>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8" name="图片 59">
              <a:extLst>
                <a:ext uri="{FF2B5EF4-FFF2-40B4-BE49-F238E27FC236}">
                  <a16:creationId xmlns="" xmlns:a16="http://schemas.microsoft.com/office/drawing/2014/main" id="{E740CC5C-F6DD-4A4B-A4B6-8F7822712BA1}"/>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1251247" y="3080422"/>
              <a:ext cx="266143" cy="217754"/>
            </a:xfrm>
            <a:prstGeom prst="rect">
              <a:avLst/>
            </a:prstGeom>
            <a:solidFill>
              <a:srgbClr val="FFFFFF"/>
            </a:solidFill>
          </p:spPr>
        </p:pic>
        <p:pic>
          <p:nvPicPr>
            <p:cNvPr id="189" name="图片 200">
              <a:extLst>
                <a:ext uri="{FF2B5EF4-FFF2-40B4-BE49-F238E27FC236}">
                  <a16:creationId xmlns="" xmlns:a16="http://schemas.microsoft.com/office/drawing/2014/main" id="{14C723D6-481E-4DB1-9BA7-8527310F31EB}"/>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1246951" y="3621609"/>
              <a:ext cx="266143" cy="217754"/>
            </a:xfrm>
            <a:prstGeom prst="rect">
              <a:avLst/>
            </a:prstGeom>
            <a:solidFill>
              <a:srgbClr val="FFFFFF"/>
            </a:solidFill>
          </p:spPr>
        </p:pic>
        <p:cxnSp>
          <p:nvCxnSpPr>
            <p:cNvPr id="190" name="直接连接符 201">
              <a:extLst>
                <a:ext uri="{FF2B5EF4-FFF2-40B4-BE49-F238E27FC236}">
                  <a16:creationId xmlns="" xmlns:a16="http://schemas.microsoft.com/office/drawing/2014/main" id="{342BBCAF-B01A-45BE-9863-953D58AF49A9}"/>
                </a:ext>
              </a:extLst>
            </p:cNvPr>
            <p:cNvCxnSpPr>
              <a:stCxn id="168" idx="1"/>
              <a:endCxn id="188" idx="3"/>
            </p:cNvCxnSpPr>
            <p:nvPr/>
          </p:nvCxnSpPr>
          <p:spPr bwMode="gray">
            <a:xfrm flipH="1">
              <a:off x="1524094" y="3183816"/>
              <a:ext cx="326935" cy="5483"/>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直接连接符 204">
              <a:extLst>
                <a:ext uri="{FF2B5EF4-FFF2-40B4-BE49-F238E27FC236}">
                  <a16:creationId xmlns="" xmlns:a16="http://schemas.microsoft.com/office/drawing/2014/main" id="{AE1A1D6B-3E9E-47BB-BFB0-7A16C064FD3A}"/>
                </a:ext>
              </a:extLst>
            </p:cNvPr>
            <p:cNvCxnSpPr>
              <a:stCxn id="169" idx="1"/>
              <a:endCxn id="189" idx="3"/>
            </p:cNvCxnSpPr>
            <p:nvPr/>
          </p:nvCxnSpPr>
          <p:spPr bwMode="gray">
            <a:xfrm flipH="1" flipV="1">
              <a:off x="1518326" y="3730487"/>
              <a:ext cx="325797" cy="658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直接连接符 210">
              <a:extLst>
                <a:ext uri="{FF2B5EF4-FFF2-40B4-BE49-F238E27FC236}">
                  <a16:creationId xmlns="" xmlns:a16="http://schemas.microsoft.com/office/drawing/2014/main" id="{3406AEFF-186B-46FA-903C-2ADB4A05E8AF}"/>
                </a:ext>
              </a:extLst>
            </p:cNvPr>
            <p:cNvCxnSpPr>
              <a:stCxn id="188" idx="2"/>
              <a:endCxn id="189" idx="0"/>
            </p:cNvCxnSpPr>
            <p:nvPr/>
          </p:nvCxnSpPr>
          <p:spPr bwMode="gray">
            <a:xfrm flipH="1">
              <a:off x="1380023" y="3298177"/>
              <a:ext cx="4296" cy="323433"/>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3" name="图片 237">
              <a:extLst>
                <a:ext uri="{FF2B5EF4-FFF2-40B4-BE49-F238E27FC236}">
                  <a16:creationId xmlns="" xmlns:a16="http://schemas.microsoft.com/office/drawing/2014/main" id="{1BD55F54-FF6C-43D9-BFF1-87CB1F2DAEAE}"/>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6449834" y="3074937"/>
              <a:ext cx="266143" cy="217754"/>
            </a:xfrm>
            <a:prstGeom prst="rect">
              <a:avLst/>
            </a:prstGeom>
          </p:spPr>
        </p:pic>
        <p:pic>
          <p:nvPicPr>
            <p:cNvPr id="194" name="图片 238">
              <a:extLst>
                <a:ext uri="{FF2B5EF4-FFF2-40B4-BE49-F238E27FC236}">
                  <a16:creationId xmlns="" xmlns:a16="http://schemas.microsoft.com/office/drawing/2014/main" id="{9B562B62-FA08-4942-A9EA-5A1E9919625F}"/>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6452974" y="3632119"/>
              <a:ext cx="266143" cy="217754"/>
            </a:xfrm>
            <a:prstGeom prst="rect">
              <a:avLst/>
            </a:prstGeom>
          </p:spPr>
        </p:pic>
        <p:cxnSp>
          <p:nvCxnSpPr>
            <p:cNvPr id="195" name="直接连接符 239">
              <a:extLst>
                <a:ext uri="{FF2B5EF4-FFF2-40B4-BE49-F238E27FC236}">
                  <a16:creationId xmlns="" xmlns:a16="http://schemas.microsoft.com/office/drawing/2014/main" id="{F328EA91-67EF-400D-B033-13C57A0415B0}"/>
                </a:ext>
              </a:extLst>
            </p:cNvPr>
            <p:cNvCxnSpPr>
              <a:stCxn id="193" idx="2"/>
              <a:endCxn id="194" idx="0"/>
            </p:cNvCxnSpPr>
            <p:nvPr/>
          </p:nvCxnSpPr>
          <p:spPr bwMode="gray">
            <a:xfrm>
              <a:off x="6582907" y="3292692"/>
              <a:ext cx="3140" cy="33942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 name="直接连接符 240">
              <a:extLst>
                <a:ext uri="{FF2B5EF4-FFF2-40B4-BE49-F238E27FC236}">
                  <a16:creationId xmlns="" xmlns:a16="http://schemas.microsoft.com/office/drawing/2014/main" id="{5A8A714E-0F07-4149-93F2-03365BB79728}"/>
                </a:ext>
              </a:extLst>
            </p:cNvPr>
            <p:cNvCxnSpPr>
              <a:stCxn id="193" idx="1"/>
              <a:endCxn id="170" idx="3"/>
            </p:cNvCxnSpPr>
            <p:nvPr/>
          </p:nvCxnSpPr>
          <p:spPr bwMode="gray">
            <a:xfrm flipH="1">
              <a:off x="6108755" y="3183814"/>
              <a:ext cx="335848" cy="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直接连接符 244">
              <a:extLst>
                <a:ext uri="{FF2B5EF4-FFF2-40B4-BE49-F238E27FC236}">
                  <a16:creationId xmlns="" xmlns:a16="http://schemas.microsoft.com/office/drawing/2014/main" id="{7A825987-8997-495E-BE85-6C804C04EAAB}"/>
                </a:ext>
              </a:extLst>
            </p:cNvPr>
            <p:cNvCxnSpPr>
              <a:stCxn id="194" idx="1"/>
              <a:endCxn id="171" idx="3"/>
            </p:cNvCxnSpPr>
            <p:nvPr/>
          </p:nvCxnSpPr>
          <p:spPr bwMode="gray">
            <a:xfrm flipH="1">
              <a:off x="6108755" y="3740996"/>
              <a:ext cx="338988" cy="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8" name="图片 253">
              <a:extLst>
                <a:ext uri="{FF2B5EF4-FFF2-40B4-BE49-F238E27FC236}">
                  <a16:creationId xmlns="" xmlns:a16="http://schemas.microsoft.com/office/drawing/2014/main" id="{4E128EA7-A59B-40E6-9E3B-97FF1C84CB90}"/>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4251758" y="1349635"/>
              <a:ext cx="266143" cy="217754"/>
            </a:xfrm>
            <a:prstGeom prst="rect">
              <a:avLst/>
            </a:prstGeom>
          </p:spPr>
        </p:pic>
        <p:pic>
          <p:nvPicPr>
            <p:cNvPr id="199" name="图片 254">
              <a:extLst>
                <a:ext uri="{FF2B5EF4-FFF2-40B4-BE49-F238E27FC236}">
                  <a16:creationId xmlns="" xmlns:a16="http://schemas.microsoft.com/office/drawing/2014/main" id="{581180AE-D6A1-4285-81EC-DA0A8B463D93}"/>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4817260" y="1340785"/>
              <a:ext cx="266143" cy="217754"/>
            </a:xfrm>
            <a:prstGeom prst="rect">
              <a:avLst/>
            </a:prstGeom>
          </p:spPr>
        </p:pic>
        <p:cxnSp>
          <p:nvCxnSpPr>
            <p:cNvPr id="200" name="直接连接符 255">
              <a:extLst>
                <a:ext uri="{FF2B5EF4-FFF2-40B4-BE49-F238E27FC236}">
                  <a16:creationId xmlns="" xmlns:a16="http://schemas.microsoft.com/office/drawing/2014/main" id="{E3E1B2DE-82B7-43E6-AA49-C170059ED8A1}"/>
                </a:ext>
              </a:extLst>
            </p:cNvPr>
            <p:cNvCxnSpPr>
              <a:stCxn id="198" idx="2"/>
              <a:endCxn id="166" idx="0"/>
            </p:cNvCxnSpPr>
            <p:nvPr/>
          </p:nvCxnSpPr>
          <p:spPr bwMode="gray">
            <a:xfrm>
              <a:off x="4384831" y="1567389"/>
              <a:ext cx="7034" cy="14506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58">
              <a:extLst>
                <a:ext uri="{FF2B5EF4-FFF2-40B4-BE49-F238E27FC236}">
                  <a16:creationId xmlns="" xmlns:a16="http://schemas.microsoft.com/office/drawing/2014/main" id="{B0EC98DB-AC61-4899-ACD5-E9CE97AC76DD}"/>
                </a:ext>
              </a:extLst>
            </p:cNvPr>
            <p:cNvCxnSpPr>
              <a:stCxn id="199" idx="2"/>
              <a:endCxn id="167" idx="0"/>
            </p:cNvCxnSpPr>
            <p:nvPr/>
          </p:nvCxnSpPr>
          <p:spPr bwMode="gray">
            <a:xfrm>
              <a:off x="4950333" y="1558540"/>
              <a:ext cx="0" cy="15074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2" name="直接连接符 261">
              <a:extLst>
                <a:ext uri="{FF2B5EF4-FFF2-40B4-BE49-F238E27FC236}">
                  <a16:creationId xmlns="" xmlns:a16="http://schemas.microsoft.com/office/drawing/2014/main" id="{EEBBC697-803A-46D3-A650-D44EF574B9C2}"/>
                </a:ext>
              </a:extLst>
            </p:cNvPr>
            <p:cNvCxnSpPr>
              <a:stCxn id="198" idx="3"/>
              <a:endCxn id="199" idx="1"/>
            </p:cNvCxnSpPr>
            <p:nvPr/>
          </p:nvCxnSpPr>
          <p:spPr bwMode="gray">
            <a:xfrm flipV="1">
              <a:off x="4524605" y="1449663"/>
              <a:ext cx="285953" cy="8849"/>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3" name="图片 291">
              <a:extLst>
                <a:ext uri="{FF2B5EF4-FFF2-40B4-BE49-F238E27FC236}">
                  <a16:creationId xmlns="" xmlns:a16="http://schemas.microsoft.com/office/drawing/2014/main" id="{E6EBE4F1-B478-461E-BE34-638D5B8BF1E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871966" y="4239707"/>
              <a:ext cx="265481" cy="217211"/>
            </a:xfrm>
            <a:prstGeom prst="rect">
              <a:avLst/>
            </a:prstGeom>
          </p:spPr>
        </p:pic>
        <p:pic>
          <p:nvPicPr>
            <p:cNvPr id="204" name="图片 292">
              <a:extLst>
                <a:ext uri="{FF2B5EF4-FFF2-40B4-BE49-F238E27FC236}">
                  <a16:creationId xmlns="" xmlns:a16="http://schemas.microsoft.com/office/drawing/2014/main" id="{80FFCE75-5F5C-431C-B985-B275041E146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280701" y="4239707"/>
              <a:ext cx="265481" cy="217211"/>
            </a:xfrm>
            <a:prstGeom prst="rect">
              <a:avLst/>
            </a:prstGeom>
          </p:spPr>
        </p:pic>
        <p:pic>
          <p:nvPicPr>
            <p:cNvPr id="205" name="图片 293">
              <a:extLst>
                <a:ext uri="{FF2B5EF4-FFF2-40B4-BE49-F238E27FC236}">
                  <a16:creationId xmlns="" xmlns:a16="http://schemas.microsoft.com/office/drawing/2014/main" id="{DDEB3D89-C013-40D5-A933-D142D52B47D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742600" y="4239707"/>
              <a:ext cx="265481" cy="217211"/>
            </a:xfrm>
            <a:prstGeom prst="rect">
              <a:avLst/>
            </a:prstGeom>
          </p:spPr>
        </p:pic>
        <p:pic>
          <p:nvPicPr>
            <p:cNvPr id="206" name="图片 294">
              <a:extLst>
                <a:ext uri="{FF2B5EF4-FFF2-40B4-BE49-F238E27FC236}">
                  <a16:creationId xmlns="" xmlns:a16="http://schemas.microsoft.com/office/drawing/2014/main" id="{E437E636-C17C-40C5-B456-F49C520EC0F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340615" y="4239707"/>
              <a:ext cx="265481" cy="217211"/>
            </a:xfrm>
            <a:prstGeom prst="rect">
              <a:avLst/>
            </a:prstGeom>
          </p:spPr>
        </p:pic>
        <p:cxnSp>
          <p:nvCxnSpPr>
            <p:cNvPr id="207" name="直接连接符 295">
              <a:extLst>
                <a:ext uri="{FF2B5EF4-FFF2-40B4-BE49-F238E27FC236}">
                  <a16:creationId xmlns="" xmlns:a16="http://schemas.microsoft.com/office/drawing/2014/main" id="{1079C08D-9199-478B-A3D4-BFF317566372}"/>
                </a:ext>
              </a:extLst>
            </p:cNvPr>
            <p:cNvCxnSpPr>
              <a:stCxn id="159" idx="2"/>
              <a:endCxn id="203" idx="0"/>
            </p:cNvCxnSpPr>
            <p:nvPr/>
          </p:nvCxnSpPr>
          <p:spPr bwMode="gray">
            <a:xfrm>
              <a:off x="2514732" y="3312542"/>
              <a:ext cx="489975" cy="90880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直接连接符 298">
              <a:extLst>
                <a:ext uri="{FF2B5EF4-FFF2-40B4-BE49-F238E27FC236}">
                  <a16:creationId xmlns="" xmlns:a16="http://schemas.microsoft.com/office/drawing/2014/main" id="{F2D3E8C9-9968-4C18-A2F4-F164C62664A9}"/>
                </a:ext>
              </a:extLst>
            </p:cNvPr>
            <p:cNvCxnSpPr>
              <a:stCxn id="160" idx="2"/>
              <a:endCxn id="204" idx="0"/>
            </p:cNvCxnSpPr>
            <p:nvPr/>
          </p:nvCxnSpPr>
          <p:spPr bwMode="gray">
            <a:xfrm>
              <a:off x="2531454" y="3867965"/>
              <a:ext cx="881988" cy="35337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305">
              <a:extLst>
                <a:ext uri="{FF2B5EF4-FFF2-40B4-BE49-F238E27FC236}">
                  <a16:creationId xmlns="" xmlns:a16="http://schemas.microsoft.com/office/drawing/2014/main" id="{26C96BBC-9B45-487D-AEA1-C4EE3F8AED18}"/>
                </a:ext>
              </a:extLst>
            </p:cNvPr>
            <p:cNvCxnSpPr>
              <a:stCxn id="164" idx="2"/>
              <a:endCxn id="206" idx="0"/>
            </p:cNvCxnSpPr>
            <p:nvPr/>
          </p:nvCxnSpPr>
          <p:spPr bwMode="gray">
            <a:xfrm flipH="1">
              <a:off x="4473356" y="3312542"/>
              <a:ext cx="888071" cy="90880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连接符 311">
              <a:extLst>
                <a:ext uri="{FF2B5EF4-FFF2-40B4-BE49-F238E27FC236}">
                  <a16:creationId xmlns="" xmlns:a16="http://schemas.microsoft.com/office/drawing/2014/main" id="{E576EA98-4DE5-4BFB-82C3-9E9DEF3C1733}"/>
                </a:ext>
              </a:extLst>
            </p:cNvPr>
            <p:cNvCxnSpPr>
              <a:stCxn id="165" idx="2"/>
              <a:endCxn id="205" idx="0"/>
            </p:cNvCxnSpPr>
            <p:nvPr/>
          </p:nvCxnSpPr>
          <p:spPr bwMode="gray">
            <a:xfrm flipH="1">
              <a:off x="4875340" y="3869921"/>
              <a:ext cx="486086" cy="351422"/>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连接符 324">
              <a:extLst>
                <a:ext uri="{FF2B5EF4-FFF2-40B4-BE49-F238E27FC236}">
                  <a16:creationId xmlns="" xmlns:a16="http://schemas.microsoft.com/office/drawing/2014/main" id="{71A287EB-34D8-4637-8F5D-6BD2107D69A1}"/>
                </a:ext>
              </a:extLst>
            </p:cNvPr>
            <p:cNvCxnSpPr>
              <a:stCxn id="165" idx="2"/>
              <a:endCxn id="206" idx="0"/>
            </p:cNvCxnSpPr>
            <p:nvPr/>
          </p:nvCxnSpPr>
          <p:spPr bwMode="gray">
            <a:xfrm flipH="1">
              <a:off x="4473356" y="3869921"/>
              <a:ext cx="888071" cy="351422"/>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连接符 328">
              <a:extLst>
                <a:ext uri="{FF2B5EF4-FFF2-40B4-BE49-F238E27FC236}">
                  <a16:creationId xmlns="" xmlns:a16="http://schemas.microsoft.com/office/drawing/2014/main" id="{4D7E2A42-A848-42EC-96E2-C5364470ABBD}"/>
                </a:ext>
              </a:extLst>
            </p:cNvPr>
            <p:cNvCxnSpPr>
              <a:stCxn id="164" idx="2"/>
              <a:endCxn id="205" idx="0"/>
            </p:cNvCxnSpPr>
            <p:nvPr/>
          </p:nvCxnSpPr>
          <p:spPr bwMode="gray">
            <a:xfrm flipH="1">
              <a:off x="4875340" y="3312542"/>
              <a:ext cx="486086" cy="90880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 name="直接连接符 336">
              <a:extLst>
                <a:ext uri="{FF2B5EF4-FFF2-40B4-BE49-F238E27FC236}">
                  <a16:creationId xmlns="" xmlns:a16="http://schemas.microsoft.com/office/drawing/2014/main" id="{83D6B056-629E-4747-859E-586D08B9611E}"/>
                </a:ext>
              </a:extLst>
            </p:cNvPr>
            <p:cNvCxnSpPr>
              <a:stCxn id="160" idx="2"/>
              <a:endCxn id="203" idx="0"/>
            </p:cNvCxnSpPr>
            <p:nvPr/>
          </p:nvCxnSpPr>
          <p:spPr bwMode="gray">
            <a:xfrm>
              <a:off x="2531454" y="3867965"/>
              <a:ext cx="473253" cy="35337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直接连接符 342">
              <a:extLst>
                <a:ext uri="{FF2B5EF4-FFF2-40B4-BE49-F238E27FC236}">
                  <a16:creationId xmlns="" xmlns:a16="http://schemas.microsoft.com/office/drawing/2014/main" id="{098B752D-7612-42E5-A4D7-30637AE98C37}"/>
                </a:ext>
              </a:extLst>
            </p:cNvPr>
            <p:cNvCxnSpPr>
              <a:stCxn id="159" idx="2"/>
              <a:endCxn id="204" idx="0"/>
            </p:cNvCxnSpPr>
            <p:nvPr/>
          </p:nvCxnSpPr>
          <p:spPr bwMode="gray">
            <a:xfrm>
              <a:off x="2514732" y="3312542"/>
              <a:ext cx="898709" cy="90880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15" name="图片 372">
              <a:extLst>
                <a:ext uri="{FF2B5EF4-FFF2-40B4-BE49-F238E27FC236}">
                  <a16:creationId xmlns="" xmlns:a16="http://schemas.microsoft.com/office/drawing/2014/main" id="{BF2DF854-24FB-4E68-90BE-E0000C3513D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381991" y="4992227"/>
              <a:ext cx="265481" cy="217211"/>
            </a:xfrm>
            <a:prstGeom prst="rect">
              <a:avLst/>
            </a:prstGeom>
          </p:spPr>
        </p:pic>
        <p:pic>
          <p:nvPicPr>
            <p:cNvPr id="216" name="图片 373">
              <a:extLst>
                <a:ext uri="{FF2B5EF4-FFF2-40B4-BE49-F238E27FC236}">
                  <a16:creationId xmlns="" xmlns:a16="http://schemas.microsoft.com/office/drawing/2014/main" id="{B165064C-EDD5-461A-991C-BB461E700A0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2875136" y="4992227"/>
              <a:ext cx="265481" cy="217211"/>
            </a:xfrm>
            <a:prstGeom prst="rect">
              <a:avLst/>
            </a:prstGeom>
          </p:spPr>
        </p:pic>
        <p:pic>
          <p:nvPicPr>
            <p:cNvPr id="217" name="图片 375">
              <a:extLst>
                <a:ext uri="{FF2B5EF4-FFF2-40B4-BE49-F238E27FC236}">
                  <a16:creationId xmlns="" xmlns:a16="http://schemas.microsoft.com/office/drawing/2014/main" id="{C61BC66C-D5CB-47F2-B9F3-880B19611D2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5116176" y="4992227"/>
              <a:ext cx="265481" cy="217211"/>
            </a:xfrm>
            <a:prstGeom prst="rect">
              <a:avLst/>
            </a:prstGeom>
          </p:spPr>
        </p:pic>
        <p:pic>
          <p:nvPicPr>
            <p:cNvPr id="218" name="图片 376">
              <a:extLst>
                <a:ext uri="{FF2B5EF4-FFF2-40B4-BE49-F238E27FC236}">
                  <a16:creationId xmlns="" xmlns:a16="http://schemas.microsoft.com/office/drawing/2014/main" id="{8211FD6C-2ABF-4742-B531-60801746503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567242" y="4992227"/>
              <a:ext cx="265481" cy="217211"/>
            </a:xfrm>
            <a:prstGeom prst="rect">
              <a:avLst/>
            </a:prstGeom>
          </p:spPr>
        </p:pic>
        <p:pic>
          <p:nvPicPr>
            <p:cNvPr id="219" name="图片 377">
              <a:extLst>
                <a:ext uri="{FF2B5EF4-FFF2-40B4-BE49-F238E27FC236}">
                  <a16:creationId xmlns="" xmlns:a16="http://schemas.microsoft.com/office/drawing/2014/main" id="{0DAAD129-F344-4B90-8F4C-69EE6634996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056773" y="4992227"/>
              <a:ext cx="265481" cy="217211"/>
            </a:xfrm>
            <a:prstGeom prst="rect">
              <a:avLst/>
            </a:prstGeom>
          </p:spPr>
        </p:pic>
        <p:cxnSp>
          <p:nvCxnSpPr>
            <p:cNvPr id="220" name="直接连接符 378">
              <a:extLst>
                <a:ext uri="{FF2B5EF4-FFF2-40B4-BE49-F238E27FC236}">
                  <a16:creationId xmlns="" xmlns:a16="http://schemas.microsoft.com/office/drawing/2014/main" id="{156B99A2-D1A1-47F7-A6A3-576681B14DC9}"/>
                </a:ext>
              </a:extLst>
            </p:cNvPr>
            <p:cNvCxnSpPr>
              <a:stCxn id="215" idx="0"/>
              <a:endCxn id="203" idx="2"/>
            </p:cNvCxnSpPr>
            <p:nvPr/>
          </p:nvCxnSpPr>
          <p:spPr bwMode="gray">
            <a:xfrm flipV="1">
              <a:off x="2514732" y="4475282"/>
              <a:ext cx="489975" cy="49858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直接连接符 381">
              <a:extLst>
                <a:ext uri="{FF2B5EF4-FFF2-40B4-BE49-F238E27FC236}">
                  <a16:creationId xmlns="" xmlns:a16="http://schemas.microsoft.com/office/drawing/2014/main" id="{A735F9A1-0E4F-4C2B-882A-F6F158C1C3B4}"/>
                </a:ext>
              </a:extLst>
            </p:cNvPr>
            <p:cNvCxnSpPr>
              <a:stCxn id="216" idx="0"/>
              <a:endCxn id="206" idx="2"/>
            </p:cNvCxnSpPr>
            <p:nvPr/>
          </p:nvCxnSpPr>
          <p:spPr bwMode="gray">
            <a:xfrm flipV="1">
              <a:off x="3007876" y="4475282"/>
              <a:ext cx="1465479" cy="49858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2" name="直接连接符 384">
              <a:extLst>
                <a:ext uri="{FF2B5EF4-FFF2-40B4-BE49-F238E27FC236}">
                  <a16:creationId xmlns="" xmlns:a16="http://schemas.microsoft.com/office/drawing/2014/main" id="{DABA0F1C-492F-498D-8CD1-94540F983EF4}"/>
                </a:ext>
              </a:extLst>
            </p:cNvPr>
            <p:cNvCxnSpPr>
              <a:stCxn id="218" idx="0"/>
              <a:endCxn id="204" idx="2"/>
            </p:cNvCxnSpPr>
            <p:nvPr/>
          </p:nvCxnSpPr>
          <p:spPr bwMode="gray">
            <a:xfrm flipH="1" flipV="1">
              <a:off x="3413441" y="4475282"/>
              <a:ext cx="1286541" cy="49858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直接连接符 387">
              <a:extLst>
                <a:ext uri="{FF2B5EF4-FFF2-40B4-BE49-F238E27FC236}">
                  <a16:creationId xmlns="" xmlns:a16="http://schemas.microsoft.com/office/drawing/2014/main" id="{24BE3E05-216C-4757-80CC-6F280EE69C6C}"/>
                </a:ext>
              </a:extLst>
            </p:cNvPr>
            <p:cNvCxnSpPr>
              <a:stCxn id="217" idx="0"/>
              <a:endCxn id="205" idx="2"/>
            </p:cNvCxnSpPr>
            <p:nvPr/>
          </p:nvCxnSpPr>
          <p:spPr bwMode="gray">
            <a:xfrm flipH="1" flipV="1">
              <a:off x="4875340" y="4475282"/>
              <a:ext cx="373577" cy="498581"/>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4" name="图片 394">
              <a:extLst>
                <a:ext uri="{FF2B5EF4-FFF2-40B4-BE49-F238E27FC236}">
                  <a16:creationId xmlns="" xmlns:a16="http://schemas.microsoft.com/office/drawing/2014/main" id="{947B9306-3DE0-4330-B87B-0B359B55428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gray">
            <a:xfrm>
              <a:off x="3101307" y="1802101"/>
              <a:ext cx="265481" cy="218379"/>
            </a:xfrm>
            <a:prstGeom prst="rect">
              <a:avLst/>
            </a:prstGeom>
          </p:spPr>
        </p:pic>
        <p:cxnSp>
          <p:nvCxnSpPr>
            <p:cNvPr id="225" name="直接连接符 395">
              <a:extLst>
                <a:ext uri="{FF2B5EF4-FFF2-40B4-BE49-F238E27FC236}">
                  <a16:creationId xmlns="" xmlns:a16="http://schemas.microsoft.com/office/drawing/2014/main" id="{10FD6B1C-A73E-4280-A64D-CB5C99AF637A}"/>
                </a:ext>
              </a:extLst>
            </p:cNvPr>
            <p:cNvCxnSpPr>
              <a:stCxn id="224" idx="3"/>
              <a:endCxn id="162" idx="1"/>
            </p:cNvCxnSpPr>
            <p:nvPr/>
          </p:nvCxnSpPr>
          <p:spPr bwMode="gray">
            <a:xfrm>
              <a:off x="3366788" y="1911291"/>
              <a:ext cx="459573" cy="228385"/>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398">
              <a:extLst>
                <a:ext uri="{FF2B5EF4-FFF2-40B4-BE49-F238E27FC236}">
                  <a16:creationId xmlns="" xmlns:a16="http://schemas.microsoft.com/office/drawing/2014/main" id="{8B5A6261-8680-42A6-A42E-462C1B966BDF}"/>
                </a:ext>
              </a:extLst>
            </p:cNvPr>
            <p:cNvCxnSpPr>
              <a:stCxn id="224" idx="3"/>
              <a:endCxn id="163" idx="1"/>
            </p:cNvCxnSpPr>
            <p:nvPr/>
          </p:nvCxnSpPr>
          <p:spPr bwMode="gray">
            <a:xfrm>
              <a:off x="3366788" y="1911291"/>
              <a:ext cx="463995" cy="672622"/>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27" name="图片 423">
              <a:extLst>
                <a:ext uri="{FF2B5EF4-FFF2-40B4-BE49-F238E27FC236}">
                  <a16:creationId xmlns="" xmlns:a16="http://schemas.microsoft.com/office/drawing/2014/main" id="{57117F9C-4B75-4B6D-B645-D909F411C6F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101307" y="2177944"/>
              <a:ext cx="265481" cy="217211"/>
            </a:xfrm>
            <a:prstGeom prst="rect">
              <a:avLst/>
            </a:prstGeom>
          </p:spPr>
        </p:pic>
        <p:cxnSp>
          <p:nvCxnSpPr>
            <p:cNvPr id="228" name="直接连接符 428">
              <a:extLst>
                <a:ext uri="{FF2B5EF4-FFF2-40B4-BE49-F238E27FC236}">
                  <a16:creationId xmlns="" xmlns:a16="http://schemas.microsoft.com/office/drawing/2014/main" id="{18D02C1A-615B-4741-A116-593B024F7D5D}"/>
                </a:ext>
              </a:extLst>
            </p:cNvPr>
            <p:cNvCxnSpPr>
              <a:stCxn id="227" idx="3"/>
              <a:endCxn id="162" idx="1"/>
            </p:cNvCxnSpPr>
            <p:nvPr/>
          </p:nvCxnSpPr>
          <p:spPr bwMode="gray">
            <a:xfrm flipV="1">
              <a:off x="3366788" y="2139676"/>
              <a:ext cx="459573" cy="146873"/>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连接符 431">
              <a:extLst>
                <a:ext uri="{FF2B5EF4-FFF2-40B4-BE49-F238E27FC236}">
                  <a16:creationId xmlns="" xmlns:a16="http://schemas.microsoft.com/office/drawing/2014/main" id="{5DB3B0AB-4D4C-479F-89FD-FA1B8F44965C}"/>
                </a:ext>
              </a:extLst>
            </p:cNvPr>
            <p:cNvCxnSpPr>
              <a:stCxn id="227" idx="3"/>
              <a:endCxn id="163" idx="1"/>
            </p:cNvCxnSpPr>
            <p:nvPr/>
          </p:nvCxnSpPr>
          <p:spPr bwMode="gray">
            <a:xfrm>
              <a:off x="3366788" y="2286550"/>
              <a:ext cx="463995" cy="297363"/>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445">
              <a:extLst>
                <a:ext uri="{FF2B5EF4-FFF2-40B4-BE49-F238E27FC236}">
                  <a16:creationId xmlns="" xmlns:a16="http://schemas.microsoft.com/office/drawing/2014/main" id="{DCAC775B-B343-454B-BA4D-071BFF786CA5}"/>
                </a:ext>
              </a:extLst>
            </p:cNvPr>
            <p:cNvCxnSpPr>
              <a:stCxn id="219" idx="0"/>
              <a:endCxn id="227" idx="2"/>
            </p:cNvCxnSpPr>
            <p:nvPr/>
          </p:nvCxnSpPr>
          <p:spPr bwMode="gray">
            <a:xfrm flipH="1" flipV="1">
              <a:off x="3234047" y="2413518"/>
              <a:ext cx="955466" cy="2560344"/>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1" name="图片 454">
              <a:extLst>
                <a:ext uri="{FF2B5EF4-FFF2-40B4-BE49-F238E27FC236}">
                  <a16:creationId xmlns="" xmlns:a16="http://schemas.microsoft.com/office/drawing/2014/main" id="{0FC2622D-C689-4522-94C5-84E1262E209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3125496" y="3409207"/>
              <a:ext cx="265481" cy="217211"/>
            </a:xfrm>
            <a:prstGeom prst="rect">
              <a:avLst/>
            </a:prstGeom>
            <a:solidFill>
              <a:srgbClr val="1D1D1A">
                <a:lumMod val="10000"/>
                <a:lumOff val="90000"/>
              </a:srgbClr>
            </a:solidFill>
          </p:spPr>
        </p:pic>
        <p:pic>
          <p:nvPicPr>
            <p:cNvPr id="232" name="图片 455">
              <a:extLst>
                <a:ext uri="{FF2B5EF4-FFF2-40B4-BE49-F238E27FC236}">
                  <a16:creationId xmlns="" xmlns:a16="http://schemas.microsoft.com/office/drawing/2014/main" id="{D14BCBAC-45FB-4F44-A8DB-41769DF5368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gray">
            <a:xfrm>
              <a:off x="4473355" y="3441937"/>
              <a:ext cx="265481" cy="217211"/>
            </a:xfrm>
            <a:prstGeom prst="rect">
              <a:avLst/>
            </a:prstGeom>
            <a:solidFill>
              <a:srgbClr val="1D1D1A">
                <a:lumMod val="10000"/>
                <a:lumOff val="90000"/>
              </a:srgbClr>
            </a:solidFill>
          </p:spPr>
        </p:pic>
        <p:sp>
          <p:nvSpPr>
            <p:cNvPr id="233" name="云形 3">
              <a:extLst>
                <a:ext uri="{FF2B5EF4-FFF2-40B4-BE49-F238E27FC236}">
                  <a16:creationId xmlns="" xmlns:a16="http://schemas.microsoft.com/office/drawing/2014/main" id="{AF795616-070D-41CB-BEB9-8709F38CA8EF}"/>
                </a:ext>
              </a:extLst>
            </p:cNvPr>
            <p:cNvSpPr/>
            <p:nvPr/>
          </p:nvSpPr>
          <p:spPr bwMode="gray">
            <a:xfrm>
              <a:off x="6544048" y="3028823"/>
              <a:ext cx="644403" cy="789499"/>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8360 w 43256"/>
                <a:gd name="connsiteY8" fmla="*/ 5285 h 43219"/>
                <a:gd name="connsiteX9" fmla="*/ 38436 w 43256"/>
                <a:gd name="connsiteY9" fmla="*/ 654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28863 w 43256"/>
                <a:gd name="connsiteY4" fmla="*/ 34610 h 43219"/>
                <a:gd name="connsiteX5" fmla="*/ 28596 w 43256"/>
                <a:gd name="connsiteY5" fmla="*/ 36519 h 43219"/>
                <a:gd name="connsiteX6" fmla="*/ 38360 w 43256"/>
                <a:gd name="connsiteY6" fmla="*/ 5285 h 43219"/>
                <a:gd name="connsiteX7" fmla="*/ 38436 w 43256"/>
                <a:gd name="connsiteY7" fmla="*/ 6549 h 43219"/>
                <a:gd name="connsiteX8" fmla="*/ 4163 w 43256"/>
                <a:gd name="connsiteY8" fmla="*/ 15648 h 43219"/>
                <a:gd name="connsiteX9" fmla="*/ 3936 w 43256"/>
                <a:gd name="connsiteY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4163 w 43256"/>
                <a:gd name="connsiteY6" fmla="*/ 15648 h 43219"/>
                <a:gd name="connsiteX7" fmla="*/ 3936 w 43256"/>
                <a:gd name="connsiteY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360 w 43256"/>
                <a:gd name="connsiteY2" fmla="*/ 5285 h 43219"/>
                <a:gd name="connsiteX3" fmla="*/ 38436 w 43256"/>
                <a:gd name="connsiteY3" fmla="*/ 6549 h 43219"/>
                <a:gd name="connsiteX4" fmla="*/ 4163 w 43256"/>
                <a:gd name="connsiteY4" fmla="*/ 15648 h 43219"/>
                <a:gd name="connsiteX5" fmla="*/ 3936 w 43256"/>
                <a:gd name="connsiteY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163 w 43256"/>
                <a:gd name="connsiteY2" fmla="*/ 15648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800 w 43256"/>
                <a:gd name="connsiteY2" fmla="*/ 15024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89 w 43256"/>
                <a:gd name="connsiteY2" fmla="*/ 13963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3889 w 43256"/>
                <a:gd name="connsiteY0" fmla="*/ 13963 h 43219"/>
                <a:gd name="connsiteX1" fmla="*/ 3936 w 43256"/>
                <a:gd name="connsiteY1" fmla="*/ 14229 h 43219"/>
              </a:gdLst>
              <a:ahLst/>
              <a:cxnLst>
                <a:cxn ang="0">
                  <a:pos x="connsiteX0" y="connsiteY0"/>
                </a:cxn>
                <a:cxn ang="0">
                  <a:pos x="connsiteX1" y="connsiteY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3889" y="13963"/>
                  </a:moveTo>
                  <a:cubicBezTo>
                    <a:pt x="3886" y="13986"/>
                    <a:pt x="3984" y="14710"/>
                    <a:pt x="3936" y="14229"/>
                  </a:cubicBezTo>
                </a:path>
              </a:pathLst>
            </a:custGeom>
            <a:solidFill>
              <a:srgbClr val="1AABE2">
                <a:alpha val="5000"/>
              </a:srgbClr>
            </a:solidFill>
            <a:ln w="9525">
              <a:solidFill>
                <a:srgbClr val="1AABE2">
                  <a:alpha val="30000"/>
                </a:srgbClr>
              </a:solidFill>
              <a:round/>
              <a:headEnd/>
              <a:tailEnd/>
            </a:ln>
          </p:spPr>
          <p:txBody>
            <a:bodyPr lIns="99562" tIns="49781" rIns="99562" bIns="49781" anchor="ctr"/>
            <a:lstStyle/>
            <a:p>
              <a:pPr marL="0" marR="0" lvl="0" indent="0" algn="ctr" defTabSz="1211808" eaLnBrk="1" fontAlgn="ctr"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B</a:t>
              </a:r>
              <a:r>
                <a:rPr kumimoji="0" lang="zh-CN" altLang="en-US" sz="12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数据中心</a:t>
              </a:r>
            </a:p>
          </p:txBody>
        </p:sp>
        <p:sp>
          <p:nvSpPr>
            <p:cNvPr id="234" name="文本框 468">
              <a:extLst>
                <a:ext uri="{FF2B5EF4-FFF2-40B4-BE49-F238E27FC236}">
                  <a16:creationId xmlns="" xmlns:a16="http://schemas.microsoft.com/office/drawing/2014/main" id="{96A67DA0-D649-4420-B31C-1B6B2B1F3565}"/>
                </a:ext>
              </a:extLst>
            </p:cNvPr>
            <p:cNvSpPr txBox="1"/>
            <p:nvPr/>
          </p:nvSpPr>
          <p:spPr bwMode="gray">
            <a:xfrm>
              <a:off x="5033311" y="1730132"/>
              <a:ext cx="625492"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DC-PE</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35" name="文本框 469">
              <a:extLst>
                <a:ext uri="{FF2B5EF4-FFF2-40B4-BE49-F238E27FC236}">
                  <a16:creationId xmlns="" xmlns:a16="http://schemas.microsoft.com/office/drawing/2014/main" id="{655F3B66-552B-4F40-AEE0-9B26E78BB8B3}"/>
                </a:ext>
              </a:extLst>
            </p:cNvPr>
            <p:cNvSpPr txBox="1"/>
            <p:nvPr/>
          </p:nvSpPr>
          <p:spPr bwMode="gray">
            <a:xfrm>
              <a:off x="3675083" y="1786844"/>
              <a:ext cx="540533"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DC-P</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36" name="文本框 470">
              <a:extLst>
                <a:ext uri="{FF2B5EF4-FFF2-40B4-BE49-F238E27FC236}">
                  <a16:creationId xmlns="" xmlns:a16="http://schemas.microsoft.com/office/drawing/2014/main" id="{3137EBDA-4704-4CF0-AE92-E80D7660C8A6}"/>
                </a:ext>
              </a:extLst>
            </p:cNvPr>
            <p:cNvSpPr txBox="1"/>
            <p:nvPr/>
          </p:nvSpPr>
          <p:spPr bwMode="gray">
            <a:xfrm>
              <a:off x="2882043" y="1575071"/>
              <a:ext cx="700833"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WAN-P</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37" name="文本框 471">
              <a:extLst>
                <a:ext uri="{FF2B5EF4-FFF2-40B4-BE49-F238E27FC236}">
                  <a16:creationId xmlns="" xmlns:a16="http://schemas.microsoft.com/office/drawing/2014/main" id="{0233254D-BB50-479D-994A-071C25E5EF5C}"/>
                </a:ext>
              </a:extLst>
            </p:cNvPr>
            <p:cNvSpPr txBox="1"/>
            <p:nvPr/>
          </p:nvSpPr>
          <p:spPr bwMode="gray">
            <a:xfrm>
              <a:off x="3315540" y="3449043"/>
              <a:ext cx="323530" cy="233087"/>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prstClr val="black"/>
                  </a:solidFill>
                  <a:effectLst/>
                  <a:uLnTx/>
                  <a:uFillTx/>
                  <a:sym typeface="Huawei Sans" panose="020C0503030203020204" pitchFamily="34" charset="0"/>
                </a:rPr>
                <a:t>RR</a:t>
              </a:r>
              <a:endParaRPr kumimoji="0" lang="zh-CN" altLang="en-US" sz="10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38" name="文本框 472">
              <a:extLst>
                <a:ext uri="{FF2B5EF4-FFF2-40B4-BE49-F238E27FC236}">
                  <a16:creationId xmlns="" xmlns:a16="http://schemas.microsoft.com/office/drawing/2014/main" id="{8BAC912F-43C2-4268-9DF0-8E32E3FC63F4}"/>
                </a:ext>
              </a:extLst>
            </p:cNvPr>
            <p:cNvSpPr txBox="1"/>
            <p:nvPr/>
          </p:nvSpPr>
          <p:spPr bwMode="gray">
            <a:xfrm>
              <a:off x="2217140" y="4213765"/>
              <a:ext cx="700833"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WAN-P</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39" name="文本框 473">
              <a:extLst>
                <a:ext uri="{FF2B5EF4-FFF2-40B4-BE49-F238E27FC236}">
                  <a16:creationId xmlns="" xmlns:a16="http://schemas.microsoft.com/office/drawing/2014/main" id="{24D711AE-AB39-483D-900E-5FFA9BA3D054}"/>
                </a:ext>
              </a:extLst>
            </p:cNvPr>
            <p:cNvSpPr txBox="1"/>
            <p:nvPr/>
          </p:nvSpPr>
          <p:spPr bwMode="gray">
            <a:xfrm>
              <a:off x="4933202" y="4227450"/>
              <a:ext cx="700833"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WAN-P</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40" name="文本框 474">
              <a:extLst>
                <a:ext uri="{FF2B5EF4-FFF2-40B4-BE49-F238E27FC236}">
                  <a16:creationId xmlns="" xmlns:a16="http://schemas.microsoft.com/office/drawing/2014/main" id="{66ED9B16-E5DF-494C-802E-140FE94256D2}"/>
                </a:ext>
              </a:extLst>
            </p:cNvPr>
            <p:cNvSpPr txBox="1"/>
            <p:nvPr/>
          </p:nvSpPr>
          <p:spPr bwMode="gray">
            <a:xfrm>
              <a:off x="2242136" y="2821287"/>
              <a:ext cx="540533"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DC-P</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41" name="文本框 475">
              <a:extLst>
                <a:ext uri="{FF2B5EF4-FFF2-40B4-BE49-F238E27FC236}">
                  <a16:creationId xmlns="" xmlns:a16="http://schemas.microsoft.com/office/drawing/2014/main" id="{8B435152-BC85-4DE0-90FA-B13F4818381D}"/>
                </a:ext>
              </a:extLst>
            </p:cNvPr>
            <p:cNvSpPr txBox="1"/>
            <p:nvPr/>
          </p:nvSpPr>
          <p:spPr bwMode="gray">
            <a:xfrm>
              <a:off x="1665694" y="2831424"/>
              <a:ext cx="625492"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DC-PE</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42" name="文本框 476">
              <a:extLst>
                <a:ext uri="{FF2B5EF4-FFF2-40B4-BE49-F238E27FC236}">
                  <a16:creationId xmlns="" xmlns:a16="http://schemas.microsoft.com/office/drawing/2014/main" id="{A02681E8-053F-4B2E-9047-02AB7F9C7594}"/>
                </a:ext>
              </a:extLst>
            </p:cNvPr>
            <p:cNvSpPr txBox="1"/>
            <p:nvPr/>
          </p:nvSpPr>
          <p:spPr bwMode="gray">
            <a:xfrm>
              <a:off x="5640994" y="2841850"/>
              <a:ext cx="625492"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DC-PE</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43" name="文本框 477">
              <a:extLst>
                <a:ext uri="{FF2B5EF4-FFF2-40B4-BE49-F238E27FC236}">
                  <a16:creationId xmlns="" xmlns:a16="http://schemas.microsoft.com/office/drawing/2014/main" id="{10B79079-9BC6-4758-83FF-A30A109322C5}"/>
                </a:ext>
              </a:extLst>
            </p:cNvPr>
            <p:cNvSpPr txBox="1"/>
            <p:nvPr/>
          </p:nvSpPr>
          <p:spPr bwMode="gray">
            <a:xfrm>
              <a:off x="5116460" y="2841849"/>
              <a:ext cx="540533"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DC-P</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pic>
          <p:nvPicPr>
            <p:cNvPr id="244" name="图片 478">
              <a:extLst>
                <a:ext uri="{FF2B5EF4-FFF2-40B4-BE49-F238E27FC236}">
                  <a16:creationId xmlns="" xmlns:a16="http://schemas.microsoft.com/office/drawing/2014/main" id="{8A205ECF-083B-4514-BD54-EA662D85D4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bwMode="gray">
            <a:xfrm>
              <a:off x="4666395" y="2249166"/>
              <a:ext cx="265481" cy="218379"/>
            </a:xfrm>
            <a:prstGeom prst="rect">
              <a:avLst/>
            </a:prstGeom>
            <a:solidFill>
              <a:srgbClr val="1D1D1A">
                <a:lumMod val="10000"/>
                <a:lumOff val="90000"/>
              </a:srgbClr>
            </a:solidFill>
          </p:spPr>
        </p:pic>
        <p:sp>
          <p:nvSpPr>
            <p:cNvPr id="245" name="文本框 479">
              <a:extLst>
                <a:ext uri="{FF2B5EF4-FFF2-40B4-BE49-F238E27FC236}">
                  <a16:creationId xmlns="" xmlns:a16="http://schemas.microsoft.com/office/drawing/2014/main" id="{8772CB8E-638B-43F2-BA91-ACF654FE41D6}"/>
                </a:ext>
              </a:extLst>
            </p:cNvPr>
            <p:cNvSpPr txBox="1"/>
            <p:nvPr/>
          </p:nvSpPr>
          <p:spPr bwMode="gray">
            <a:xfrm>
              <a:off x="4831294" y="2289585"/>
              <a:ext cx="373821"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RR</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cxnSp>
          <p:nvCxnSpPr>
            <p:cNvPr id="246" name="直接连接符 480">
              <a:extLst>
                <a:ext uri="{FF2B5EF4-FFF2-40B4-BE49-F238E27FC236}">
                  <a16:creationId xmlns="" xmlns:a16="http://schemas.microsoft.com/office/drawing/2014/main" id="{E5D1D3E1-28D8-45D4-83BC-4400F173104D}"/>
                </a:ext>
              </a:extLst>
            </p:cNvPr>
            <p:cNvCxnSpPr>
              <a:stCxn id="244" idx="1"/>
              <a:endCxn id="162" idx="3"/>
            </p:cNvCxnSpPr>
            <p:nvPr/>
          </p:nvCxnSpPr>
          <p:spPr bwMode="gray">
            <a:xfrm flipH="1" flipV="1">
              <a:off x="4091842" y="2139676"/>
              <a:ext cx="574552" cy="218679"/>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直接连接符 483">
              <a:extLst>
                <a:ext uri="{FF2B5EF4-FFF2-40B4-BE49-F238E27FC236}">
                  <a16:creationId xmlns="" xmlns:a16="http://schemas.microsoft.com/office/drawing/2014/main" id="{856601F0-3793-4160-85A3-F4D20D057270}"/>
                </a:ext>
              </a:extLst>
            </p:cNvPr>
            <p:cNvCxnSpPr>
              <a:stCxn id="244" idx="1"/>
              <a:endCxn id="163" idx="3"/>
            </p:cNvCxnSpPr>
            <p:nvPr/>
          </p:nvCxnSpPr>
          <p:spPr bwMode="gray">
            <a:xfrm flipH="1">
              <a:off x="4096264" y="2358356"/>
              <a:ext cx="570131" cy="22555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 name="直接连接符 486">
              <a:extLst>
                <a:ext uri="{FF2B5EF4-FFF2-40B4-BE49-F238E27FC236}">
                  <a16:creationId xmlns="" xmlns:a16="http://schemas.microsoft.com/office/drawing/2014/main" id="{B5F4C213-BE7D-4A7D-B274-41C0026132E8}"/>
                </a:ext>
              </a:extLst>
            </p:cNvPr>
            <p:cNvCxnSpPr>
              <a:stCxn id="164" idx="1"/>
              <a:endCxn id="232" idx="3"/>
            </p:cNvCxnSpPr>
            <p:nvPr/>
          </p:nvCxnSpPr>
          <p:spPr bwMode="gray">
            <a:xfrm flipH="1">
              <a:off x="4738836" y="3185573"/>
              <a:ext cx="489850" cy="364969"/>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489">
              <a:extLst>
                <a:ext uri="{FF2B5EF4-FFF2-40B4-BE49-F238E27FC236}">
                  <a16:creationId xmlns="" xmlns:a16="http://schemas.microsoft.com/office/drawing/2014/main" id="{6F751217-273B-479A-ACBF-518C4DAA87AE}"/>
                </a:ext>
              </a:extLst>
            </p:cNvPr>
            <p:cNvCxnSpPr>
              <a:stCxn id="165" idx="1"/>
              <a:endCxn id="232" idx="3"/>
            </p:cNvCxnSpPr>
            <p:nvPr/>
          </p:nvCxnSpPr>
          <p:spPr bwMode="gray">
            <a:xfrm flipH="1" flipV="1">
              <a:off x="4738836" y="3550543"/>
              <a:ext cx="489850" cy="19241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直接连接符 492">
              <a:extLst>
                <a:ext uri="{FF2B5EF4-FFF2-40B4-BE49-F238E27FC236}">
                  <a16:creationId xmlns="" xmlns:a16="http://schemas.microsoft.com/office/drawing/2014/main" id="{FE2BECEA-54C9-44FE-A46B-9669C6188C54}"/>
                </a:ext>
              </a:extLst>
            </p:cNvPr>
            <p:cNvCxnSpPr>
              <a:stCxn id="159" idx="3"/>
              <a:endCxn id="231" idx="1"/>
            </p:cNvCxnSpPr>
            <p:nvPr/>
          </p:nvCxnSpPr>
          <p:spPr bwMode="gray">
            <a:xfrm>
              <a:off x="2647473" y="3185573"/>
              <a:ext cx="478023" cy="33224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495">
              <a:extLst>
                <a:ext uri="{FF2B5EF4-FFF2-40B4-BE49-F238E27FC236}">
                  <a16:creationId xmlns="" xmlns:a16="http://schemas.microsoft.com/office/drawing/2014/main" id="{6DDE5A79-4759-44BC-AFD9-7CD1D909B922}"/>
                </a:ext>
              </a:extLst>
            </p:cNvPr>
            <p:cNvCxnSpPr>
              <a:stCxn id="160" idx="3"/>
              <a:endCxn id="231" idx="1"/>
            </p:cNvCxnSpPr>
            <p:nvPr/>
          </p:nvCxnSpPr>
          <p:spPr bwMode="gray">
            <a:xfrm flipV="1">
              <a:off x="2664194" y="3517813"/>
              <a:ext cx="461302" cy="223184"/>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2" name="文本框 498">
              <a:extLst>
                <a:ext uri="{FF2B5EF4-FFF2-40B4-BE49-F238E27FC236}">
                  <a16:creationId xmlns="" xmlns:a16="http://schemas.microsoft.com/office/drawing/2014/main" id="{2CD34E0A-979C-44B1-9873-CFE859FC6D30}"/>
                </a:ext>
              </a:extLst>
            </p:cNvPr>
            <p:cNvSpPr txBox="1"/>
            <p:nvPr/>
          </p:nvSpPr>
          <p:spPr bwMode="gray">
            <a:xfrm>
              <a:off x="3065784" y="5015545"/>
              <a:ext cx="606256"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BR-PE</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sp>
          <p:nvSpPr>
            <p:cNvPr id="253" name="文本框 499">
              <a:extLst>
                <a:ext uri="{FF2B5EF4-FFF2-40B4-BE49-F238E27FC236}">
                  <a16:creationId xmlns="" xmlns:a16="http://schemas.microsoft.com/office/drawing/2014/main" id="{B5FE7B85-5868-45ED-82BB-8F7F209A02B4}"/>
                </a:ext>
              </a:extLst>
            </p:cNvPr>
            <p:cNvSpPr txBox="1"/>
            <p:nvPr/>
          </p:nvSpPr>
          <p:spPr bwMode="gray">
            <a:xfrm>
              <a:off x="5313207" y="4994980"/>
              <a:ext cx="606256" cy="276999"/>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sym typeface="Huawei Sans" panose="020C0503030203020204" pitchFamily="34" charset="0"/>
                </a:rPr>
                <a:t>BR-PE</a:t>
              </a:r>
              <a:endParaRPr kumimoji="0" lang="zh-CN" altLang="en-US" sz="1200" b="0" i="0" u="none" strike="noStrike" kern="0" cap="none" spc="0" normalizeH="0" baseline="0" noProof="0" dirty="0">
                <a:ln>
                  <a:noFill/>
                </a:ln>
                <a:solidFill>
                  <a:prstClr val="black"/>
                </a:solidFill>
                <a:effectLst/>
                <a:uLnTx/>
                <a:uFillTx/>
                <a:sym typeface="Huawei Sans" panose="020C0503030203020204" pitchFamily="34" charset="0"/>
              </a:endParaRPr>
            </a:p>
          </p:txBody>
        </p:sp>
        <p:cxnSp>
          <p:nvCxnSpPr>
            <p:cNvPr id="254" name="直接连接符 500">
              <a:extLst>
                <a:ext uri="{FF2B5EF4-FFF2-40B4-BE49-F238E27FC236}">
                  <a16:creationId xmlns="" xmlns:a16="http://schemas.microsoft.com/office/drawing/2014/main" id="{92D160AD-7650-4EA0-B83A-FEE3539F29AF}"/>
                </a:ext>
              </a:extLst>
            </p:cNvPr>
            <p:cNvCxnSpPr>
              <a:stCxn id="215" idx="3"/>
              <a:endCxn id="216" idx="1"/>
            </p:cNvCxnSpPr>
            <p:nvPr/>
          </p:nvCxnSpPr>
          <p:spPr bwMode="gray">
            <a:xfrm>
              <a:off x="2647473" y="5100832"/>
              <a:ext cx="227663" cy="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直接连接符 504">
              <a:extLst>
                <a:ext uri="{FF2B5EF4-FFF2-40B4-BE49-F238E27FC236}">
                  <a16:creationId xmlns="" xmlns:a16="http://schemas.microsoft.com/office/drawing/2014/main" id="{D4BD2EA1-699F-4134-83AA-0552565567ED}"/>
                </a:ext>
              </a:extLst>
            </p:cNvPr>
            <p:cNvCxnSpPr>
              <a:stCxn id="218" idx="1"/>
              <a:endCxn id="219" idx="3"/>
            </p:cNvCxnSpPr>
            <p:nvPr/>
          </p:nvCxnSpPr>
          <p:spPr bwMode="gray">
            <a:xfrm flipH="1">
              <a:off x="4322255" y="5100832"/>
              <a:ext cx="244987" cy="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连接符 507">
              <a:extLst>
                <a:ext uri="{FF2B5EF4-FFF2-40B4-BE49-F238E27FC236}">
                  <a16:creationId xmlns="" xmlns:a16="http://schemas.microsoft.com/office/drawing/2014/main" id="{A8960120-4391-495D-AFC1-4509F7454ACE}"/>
                </a:ext>
              </a:extLst>
            </p:cNvPr>
            <p:cNvCxnSpPr>
              <a:stCxn id="217" idx="1"/>
              <a:endCxn id="218" idx="3"/>
            </p:cNvCxnSpPr>
            <p:nvPr/>
          </p:nvCxnSpPr>
          <p:spPr bwMode="gray">
            <a:xfrm flipH="1">
              <a:off x="4832723" y="5100832"/>
              <a:ext cx="283454" cy="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 name="直接连接符 511">
              <a:extLst>
                <a:ext uri="{FF2B5EF4-FFF2-40B4-BE49-F238E27FC236}">
                  <a16:creationId xmlns="" xmlns:a16="http://schemas.microsoft.com/office/drawing/2014/main" id="{F485BCD6-A60D-42C4-8BC3-151C03C0375C}"/>
                </a:ext>
              </a:extLst>
            </p:cNvPr>
            <p:cNvCxnSpPr>
              <a:stCxn id="217" idx="0"/>
              <a:endCxn id="219" idx="0"/>
            </p:cNvCxnSpPr>
            <p:nvPr/>
          </p:nvCxnSpPr>
          <p:spPr bwMode="gray">
            <a:xfrm rot="16200000" flipV="1">
              <a:off x="4719215" y="4444161"/>
              <a:ext cx="12023" cy="1059403"/>
            </a:xfrm>
            <a:prstGeom prst="bentConnector3">
              <a:avLst>
                <a:gd name="adj1" fmla="val 1800000"/>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58" name="图片 484">
              <a:extLst>
                <a:ext uri="{FF2B5EF4-FFF2-40B4-BE49-F238E27FC236}">
                  <a16:creationId xmlns="" xmlns:a16="http://schemas.microsoft.com/office/drawing/2014/main" id="{B64FEE73-6570-4938-8C6E-75017D5D8170}"/>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2395454" y="5591672"/>
              <a:ext cx="232335" cy="190092"/>
            </a:xfrm>
            <a:prstGeom prst="rect">
              <a:avLst/>
            </a:prstGeom>
          </p:spPr>
        </p:pic>
        <p:pic>
          <p:nvPicPr>
            <p:cNvPr id="259" name="图片 547">
              <a:extLst>
                <a:ext uri="{FF2B5EF4-FFF2-40B4-BE49-F238E27FC236}">
                  <a16:creationId xmlns="" xmlns:a16="http://schemas.microsoft.com/office/drawing/2014/main" id="{C7CC06C4-E88B-447E-8428-1F17092C007E}"/>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2895190" y="5591672"/>
              <a:ext cx="232335" cy="190092"/>
            </a:xfrm>
            <a:prstGeom prst="rect">
              <a:avLst/>
            </a:prstGeom>
          </p:spPr>
        </p:pic>
        <p:cxnSp>
          <p:nvCxnSpPr>
            <p:cNvPr id="260" name="直接连接符 548">
              <a:extLst>
                <a:ext uri="{FF2B5EF4-FFF2-40B4-BE49-F238E27FC236}">
                  <a16:creationId xmlns="" xmlns:a16="http://schemas.microsoft.com/office/drawing/2014/main" id="{A5BFA552-F21E-4BDD-BAF0-795F7AD3D8F1}"/>
                </a:ext>
              </a:extLst>
            </p:cNvPr>
            <p:cNvCxnSpPr>
              <a:stCxn id="215" idx="2"/>
              <a:endCxn id="258" idx="0"/>
            </p:cNvCxnSpPr>
            <p:nvPr/>
          </p:nvCxnSpPr>
          <p:spPr bwMode="gray">
            <a:xfrm flipH="1">
              <a:off x="2511621" y="5227801"/>
              <a:ext cx="3111" cy="33963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直接连接符 551">
              <a:extLst>
                <a:ext uri="{FF2B5EF4-FFF2-40B4-BE49-F238E27FC236}">
                  <a16:creationId xmlns="" xmlns:a16="http://schemas.microsoft.com/office/drawing/2014/main" id="{23D32875-985D-4E9F-ACBB-AC96E6DE736A}"/>
                </a:ext>
              </a:extLst>
            </p:cNvPr>
            <p:cNvCxnSpPr>
              <a:stCxn id="216" idx="2"/>
              <a:endCxn id="259" idx="0"/>
            </p:cNvCxnSpPr>
            <p:nvPr/>
          </p:nvCxnSpPr>
          <p:spPr bwMode="gray">
            <a:xfrm>
              <a:off x="3007876" y="5227801"/>
              <a:ext cx="3481" cy="33963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连接符 554">
              <a:extLst>
                <a:ext uri="{FF2B5EF4-FFF2-40B4-BE49-F238E27FC236}">
                  <a16:creationId xmlns="" xmlns:a16="http://schemas.microsoft.com/office/drawing/2014/main" id="{60CE1113-E777-49FF-83BC-EA127CB6E34B}"/>
                </a:ext>
              </a:extLst>
            </p:cNvPr>
            <p:cNvCxnSpPr>
              <a:stCxn id="215" idx="2"/>
              <a:endCxn id="259" idx="0"/>
            </p:cNvCxnSpPr>
            <p:nvPr/>
          </p:nvCxnSpPr>
          <p:spPr bwMode="gray">
            <a:xfrm>
              <a:off x="2514732" y="5227801"/>
              <a:ext cx="496625" cy="33963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直接连接符 560">
              <a:extLst>
                <a:ext uri="{FF2B5EF4-FFF2-40B4-BE49-F238E27FC236}">
                  <a16:creationId xmlns="" xmlns:a16="http://schemas.microsoft.com/office/drawing/2014/main" id="{DBDFE1C9-73AE-4589-8DA0-A90EA81581E4}"/>
                </a:ext>
              </a:extLst>
            </p:cNvPr>
            <p:cNvCxnSpPr>
              <a:stCxn id="259" idx="1"/>
              <a:endCxn id="258" idx="3"/>
            </p:cNvCxnSpPr>
            <p:nvPr/>
          </p:nvCxnSpPr>
          <p:spPr bwMode="gray">
            <a:xfrm flipH="1">
              <a:off x="2627789" y="5686718"/>
              <a:ext cx="267401" cy="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4" name="矩形 126">
              <a:extLst>
                <a:ext uri="{FF2B5EF4-FFF2-40B4-BE49-F238E27FC236}">
                  <a16:creationId xmlns="" xmlns:a16="http://schemas.microsoft.com/office/drawing/2014/main" id="{36573A89-E84B-4698-8D8D-DD2498B12CE1}"/>
                </a:ext>
              </a:extLst>
            </p:cNvPr>
            <p:cNvSpPr/>
            <p:nvPr/>
          </p:nvSpPr>
          <p:spPr bwMode="gray">
            <a:xfrm>
              <a:off x="2750801" y="984334"/>
              <a:ext cx="2874324" cy="1769072"/>
            </a:xfrm>
            <a:prstGeom prst="rect">
              <a:avLst/>
            </a:prstGeom>
            <a:noFill/>
            <a:ln w="0" cap="flat" cmpd="sng" algn="ctr">
              <a:solidFill>
                <a:sysClr val="window" lastClr="FFFFFF">
                  <a:lumMod val="75000"/>
                </a:sysClr>
              </a:solidFill>
              <a:prstDash val="lgDash"/>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sym typeface="Huawei Sans" panose="020C0503030203020204" pitchFamily="34" charset="0"/>
              </a:endParaRPr>
            </a:p>
          </p:txBody>
        </p:sp>
        <p:sp>
          <p:nvSpPr>
            <p:cNvPr id="265" name="矩形 127">
              <a:extLst>
                <a:ext uri="{FF2B5EF4-FFF2-40B4-BE49-F238E27FC236}">
                  <a16:creationId xmlns="" xmlns:a16="http://schemas.microsoft.com/office/drawing/2014/main" id="{298CE02F-6978-453E-B2C8-65945B224894}"/>
                </a:ext>
              </a:extLst>
            </p:cNvPr>
            <p:cNvSpPr/>
            <p:nvPr/>
          </p:nvSpPr>
          <p:spPr bwMode="gray">
            <a:xfrm>
              <a:off x="700461" y="2841192"/>
              <a:ext cx="2935730" cy="1662535"/>
            </a:xfrm>
            <a:prstGeom prst="rect">
              <a:avLst/>
            </a:prstGeom>
            <a:noFill/>
            <a:ln w="0" cap="flat" cmpd="sng" algn="ctr">
              <a:solidFill>
                <a:sysClr val="window" lastClr="FFFFFF">
                  <a:lumMod val="75000"/>
                </a:sysClr>
              </a:solidFill>
              <a:prstDash val="lgDash"/>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sym typeface="Huawei Sans" panose="020C0503030203020204" pitchFamily="34" charset="0"/>
              </a:endParaRPr>
            </a:p>
          </p:txBody>
        </p:sp>
        <p:sp>
          <p:nvSpPr>
            <p:cNvPr id="266" name="矩形 128">
              <a:extLst>
                <a:ext uri="{FF2B5EF4-FFF2-40B4-BE49-F238E27FC236}">
                  <a16:creationId xmlns="" xmlns:a16="http://schemas.microsoft.com/office/drawing/2014/main" id="{39C159CB-ECBB-4D54-81BC-5182C2460CC2}"/>
                </a:ext>
              </a:extLst>
            </p:cNvPr>
            <p:cNvSpPr/>
            <p:nvPr/>
          </p:nvSpPr>
          <p:spPr bwMode="gray">
            <a:xfrm>
              <a:off x="1983769" y="4743166"/>
              <a:ext cx="1662952" cy="1455960"/>
            </a:xfrm>
            <a:prstGeom prst="rect">
              <a:avLst/>
            </a:prstGeom>
            <a:noFill/>
            <a:ln w="0" cap="flat" cmpd="sng" algn="ctr">
              <a:solidFill>
                <a:sysClr val="window" lastClr="FFFFFF">
                  <a:lumMod val="75000"/>
                </a:sysClr>
              </a:solidFill>
              <a:prstDash val="lgDash"/>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sym typeface="Huawei Sans" panose="020C0503030203020204" pitchFamily="34" charset="0"/>
              </a:endParaRPr>
            </a:p>
          </p:txBody>
        </p:sp>
        <p:sp>
          <p:nvSpPr>
            <p:cNvPr id="267" name="矩形 129">
              <a:extLst>
                <a:ext uri="{FF2B5EF4-FFF2-40B4-BE49-F238E27FC236}">
                  <a16:creationId xmlns="" xmlns:a16="http://schemas.microsoft.com/office/drawing/2014/main" id="{DE1AFD35-D786-4481-A1D0-FB77448D1CB8}"/>
                </a:ext>
              </a:extLst>
            </p:cNvPr>
            <p:cNvSpPr/>
            <p:nvPr/>
          </p:nvSpPr>
          <p:spPr bwMode="gray">
            <a:xfrm>
              <a:off x="4389330" y="2850863"/>
              <a:ext cx="2935730" cy="1656394"/>
            </a:xfrm>
            <a:prstGeom prst="rect">
              <a:avLst/>
            </a:prstGeom>
            <a:noFill/>
            <a:ln w="0" cap="flat" cmpd="sng" algn="ctr">
              <a:solidFill>
                <a:sysClr val="window" lastClr="FFFFFF">
                  <a:lumMod val="75000"/>
                </a:sysClr>
              </a:solidFill>
              <a:prstDash val="lgDash"/>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sym typeface="Huawei Sans" panose="020C0503030203020204" pitchFamily="34" charset="0"/>
              </a:endParaRPr>
            </a:p>
          </p:txBody>
        </p:sp>
        <p:sp>
          <p:nvSpPr>
            <p:cNvPr id="268" name="矩形 131">
              <a:extLst>
                <a:ext uri="{FF2B5EF4-FFF2-40B4-BE49-F238E27FC236}">
                  <a16:creationId xmlns="" xmlns:a16="http://schemas.microsoft.com/office/drawing/2014/main" id="{A4FC163A-89EF-4C76-A597-CF3CE2F7F9F6}"/>
                </a:ext>
              </a:extLst>
            </p:cNvPr>
            <p:cNvSpPr/>
            <p:nvPr/>
          </p:nvSpPr>
          <p:spPr bwMode="gray">
            <a:xfrm>
              <a:off x="3911293" y="4743166"/>
              <a:ext cx="2064722" cy="1455960"/>
            </a:xfrm>
            <a:prstGeom prst="rect">
              <a:avLst/>
            </a:prstGeom>
            <a:noFill/>
            <a:ln w="0" cap="flat" cmpd="sng" algn="ctr">
              <a:solidFill>
                <a:sysClr val="window" lastClr="FFFFFF">
                  <a:lumMod val="75000"/>
                </a:sysClr>
              </a:solidFill>
              <a:prstDash val="lgDash"/>
            </a:ln>
            <a:effectLst/>
          </p:spPr>
          <p:txBody>
            <a:bodyPr rtlCol="0" anchor="ctr"/>
            <a:lstStyle/>
            <a:p>
              <a:pPr marL="0" marR="0" lvl="0" indent="0" algn="ctr" defTabSz="1219444"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sym typeface="Huawei Sans" panose="020C0503030203020204" pitchFamily="34" charset="0"/>
              </a:endParaRPr>
            </a:p>
          </p:txBody>
        </p:sp>
        <p:sp>
          <p:nvSpPr>
            <p:cNvPr id="269" name="文本框 135">
              <a:extLst>
                <a:ext uri="{FF2B5EF4-FFF2-40B4-BE49-F238E27FC236}">
                  <a16:creationId xmlns="" xmlns:a16="http://schemas.microsoft.com/office/drawing/2014/main" id="{561BB56D-4363-4A49-8737-9E14C19D17AC}"/>
                </a:ext>
              </a:extLst>
            </p:cNvPr>
            <p:cNvSpPr txBox="1"/>
            <p:nvPr/>
          </p:nvSpPr>
          <p:spPr bwMode="gray">
            <a:xfrm>
              <a:off x="690505" y="4147633"/>
              <a:ext cx="667170" cy="307777"/>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C7000B"/>
                  </a:solidFill>
                  <a:effectLst/>
                  <a:uLnTx/>
                  <a:uFillTx/>
                  <a:sym typeface="Huawei Sans" panose="020C0503030203020204" pitchFamily="34" charset="0"/>
                </a:rPr>
                <a:t>A</a:t>
              </a:r>
              <a:r>
                <a:rPr kumimoji="0" lang="zh-CN" altLang="en-US" sz="1400" b="1" i="0" u="none" strike="noStrike" kern="0" cap="none" spc="0" normalizeH="0" baseline="0" noProof="0" dirty="0">
                  <a:ln>
                    <a:noFill/>
                  </a:ln>
                  <a:solidFill>
                    <a:srgbClr val="C7000B"/>
                  </a:solidFill>
                  <a:effectLst/>
                  <a:uLnTx/>
                  <a:uFillTx/>
                  <a:sym typeface="Huawei Sans" panose="020C0503030203020204" pitchFamily="34" charset="0"/>
                </a:rPr>
                <a:t>城市</a:t>
              </a:r>
            </a:p>
          </p:txBody>
        </p:sp>
        <p:sp>
          <p:nvSpPr>
            <p:cNvPr id="270" name="文本框 136">
              <a:extLst>
                <a:ext uri="{FF2B5EF4-FFF2-40B4-BE49-F238E27FC236}">
                  <a16:creationId xmlns="" xmlns:a16="http://schemas.microsoft.com/office/drawing/2014/main" id="{FF82B35D-4A4B-497D-AEEE-F8FE6FA7C252}"/>
                </a:ext>
              </a:extLst>
            </p:cNvPr>
            <p:cNvSpPr txBox="1"/>
            <p:nvPr/>
          </p:nvSpPr>
          <p:spPr bwMode="gray">
            <a:xfrm>
              <a:off x="6625163" y="4170060"/>
              <a:ext cx="655950" cy="307777"/>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C7000B"/>
                  </a:solidFill>
                  <a:effectLst/>
                  <a:uLnTx/>
                  <a:uFillTx/>
                  <a:sym typeface="Huawei Sans" panose="020C0503030203020204" pitchFamily="34" charset="0"/>
                </a:rPr>
                <a:t>B</a:t>
              </a:r>
              <a:r>
                <a:rPr kumimoji="0" lang="zh-CN" altLang="en-US" sz="1400" b="1" i="0" u="none" strike="noStrike" kern="0" cap="none" spc="0" normalizeH="0" baseline="0" noProof="0" dirty="0">
                  <a:ln>
                    <a:noFill/>
                  </a:ln>
                  <a:solidFill>
                    <a:srgbClr val="C7000B"/>
                  </a:solidFill>
                  <a:effectLst/>
                  <a:uLnTx/>
                  <a:uFillTx/>
                  <a:sym typeface="Huawei Sans" panose="020C0503030203020204" pitchFamily="34" charset="0"/>
                </a:rPr>
                <a:t>城市</a:t>
              </a:r>
            </a:p>
          </p:txBody>
        </p:sp>
        <p:sp>
          <p:nvSpPr>
            <p:cNvPr id="271" name="文本框 139">
              <a:extLst>
                <a:ext uri="{FF2B5EF4-FFF2-40B4-BE49-F238E27FC236}">
                  <a16:creationId xmlns="" xmlns:a16="http://schemas.microsoft.com/office/drawing/2014/main" id="{E96B6A01-8A3D-4A19-BBF1-901938EE1417}"/>
                </a:ext>
              </a:extLst>
            </p:cNvPr>
            <p:cNvSpPr txBox="1"/>
            <p:nvPr/>
          </p:nvSpPr>
          <p:spPr bwMode="gray">
            <a:xfrm>
              <a:off x="3682667" y="3328749"/>
              <a:ext cx="723275" cy="307777"/>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C7000B"/>
                  </a:solidFill>
                  <a:effectLst/>
                  <a:uLnTx/>
                  <a:uFillTx/>
                  <a:sym typeface="Huawei Sans" panose="020C0503030203020204" pitchFamily="34" charset="0"/>
                </a:rPr>
                <a:t>骨干网</a:t>
              </a:r>
            </a:p>
          </p:txBody>
        </p:sp>
        <p:sp>
          <p:nvSpPr>
            <p:cNvPr id="272" name="文本框 141">
              <a:extLst>
                <a:ext uri="{FF2B5EF4-FFF2-40B4-BE49-F238E27FC236}">
                  <a16:creationId xmlns="" xmlns:a16="http://schemas.microsoft.com/office/drawing/2014/main" id="{CFAC05A0-AB4D-4922-B8B3-FC9D23D0AE7A}"/>
                </a:ext>
              </a:extLst>
            </p:cNvPr>
            <p:cNvSpPr txBox="1"/>
            <p:nvPr/>
          </p:nvSpPr>
          <p:spPr bwMode="gray">
            <a:xfrm>
              <a:off x="2895578" y="1040711"/>
              <a:ext cx="655950" cy="307777"/>
            </a:xfrm>
            <a:prstGeom prst="rect">
              <a:avLst/>
            </a:prstGeom>
            <a:noFill/>
          </p:spPr>
          <p:txBody>
            <a:bodyPr wrap="none" rtlCol="0">
              <a:spAutoFit/>
            </a:bodyPr>
            <a:lstStyle/>
            <a:p>
              <a:pPr marL="0" marR="0" lvl="0" indent="0" algn="ctr" defTabSz="1219444"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C7000B"/>
                  </a:solidFill>
                  <a:effectLst/>
                  <a:uLnTx/>
                  <a:uFillTx/>
                  <a:sym typeface="Huawei Sans" panose="020C0503030203020204" pitchFamily="34" charset="0"/>
                </a:rPr>
                <a:t>C</a:t>
              </a:r>
              <a:r>
                <a:rPr kumimoji="0" lang="zh-CN" altLang="en-US" sz="1400" b="1" i="0" u="none" strike="noStrike" kern="0" cap="none" spc="0" normalizeH="0" baseline="0" noProof="0" dirty="0">
                  <a:ln>
                    <a:noFill/>
                  </a:ln>
                  <a:solidFill>
                    <a:srgbClr val="C7000B"/>
                  </a:solidFill>
                  <a:effectLst/>
                  <a:uLnTx/>
                  <a:uFillTx/>
                  <a:sym typeface="Huawei Sans" panose="020C0503030203020204" pitchFamily="34" charset="0"/>
                </a:rPr>
                <a:t>城市</a:t>
              </a:r>
            </a:p>
          </p:txBody>
        </p:sp>
        <p:cxnSp>
          <p:nvCxnSpPr>
            <p:cNvPr id="273" name="直接连接符 179">
              <a:extLst>
                <a:ext uri="{FF2B5EF4-FFF2-40B4-BE49-F238E27FC236}">
                  <a16:creationId xmlns="" xmlns:a16="http://schemas.microsoft.com/office/drawing/2014/main" id="{FE145734-2B97-42F9-AA3C-2D54DF28D29F}"/>
                </a:ext>
              </a:extLst>
            </p:cNvPr>
            <p:cNvCxnSpPr>
              <a:stCxn id="258" idx="0"/>
              <a:endCxn id="216" idx="2"/>
            </p:cNvCxnSpPr>
            <p:nvPr/>
          </p:nvCxnSpPr>
          <p:spPr bwMode="gray">
            <a:xfrm flipV="1">
              <a:off x="2511621" y="5227801"/>
              <a:ext cx="496255" cy="339638"/>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 name="矩形 161">
              <a:extLst>
                <a:ext uri="{FF2B5EF4-FFF2-40B4-BE49-F238E27FC236}">
                  <a16:creationId xmlns="" xmlns:a16="http://schemas.microsoft.com/office/drawing/2014/main" id="{4768C768-DCD1-4EEB-8708-4F791E1CA2BA}"/>
                </a:ext>
              </a:extLst>
            </p:cNvPr>
            <p:cNvSpPr/>
            <p:nvPr>
              <p:custDataLst>
                <p:tags r:id="rId1"/>
              </p:custDataLst>
            </p:nvPr>
          </p:nvSpPr>
          <p:spPr bwMode="gray">
            <a:xfrm>
              <a:off x="548792" y="1816685"/>
              <a:ext cx="1242590" cy="27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8236" tIns="44118" rIns="88236" bIns="44118">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err="1">
                  <a:ln>
                    <a:noFill/>
                  </a:ln>
                  <a:solidFill>
                    <a:srgbClr val="3C3C3B"/>
                  </a:solidFill>
                  <a:effectLst/>
                  <a:uLnTx/>
                  <a:uFillTx/>
                  <a:sym typeface="Huawei Sans" panose="020C0503030203020204" pitchFamily="34" charset="0"/>
                </a:rPr>
                <a:t>iMaster</a:t>
              </a:r>
              <a:r>
                <a:rPr kumimoji="0" lang="en-US" altLang="zh-CN" sz="1200" b="0" i="0" u="none" strike="noStrike" kern="0" cap="none" spc="0" normalizeH="0" baseline="0" noProof="0" dirty="0">
                  <a:ln>
                    <a:noFill/>
                  </a:ln>
                  <a:solidFill>
                    <a:srgbClr val="3C3C3B"/>
                  </a:solidFill>
                  <a:effectLst/>
                  <a:uLnTx/>
                  <a:uFillTx/>
                  <a:sym typeface="Huawei Sans" panose="020C0503030203020204" pitchFamily="34" charset="0"/>
                </a:rPr>
                <a:t> NCE-IP</a:t>
              </a:r>
            </a:p>
          </p:txBody>
        </p:sp>
        <p:cxnSp>
          <p:nvCxnSpPr>
            <p:cNvPr id="275" name="直接连接符 163">
              <a:extLst>
                <a:ext uri="{FF2B5EF4-FFF2-40B4-BE49-F238E27FC236}">
                  <a16:creationId xmlns="" xmlns:a16="http://schemas.microsoft.com/office/drawing/2014/main" id="{44A2C022-EF83-4E97-951D-98CDE61AB31B}"/>
                </a:ext>
              </a:extLst>
            </p:cNvPr>
            <p:cNvCxnSpPr>
              <a:stCxn id="276" idx="3"/>
            </p:cNvCxnSpPr>
            <p:nvPr/>
          </p:nvCxnSpPr>
          <p:spPr bwMode="gray">
            <a:xfrm flipV="1">
              <a:off x="1469695" y="2204969"/>
              <a:ext cx="293701" cy="6099"/>
            </a:xfrm>
            <a:prstGeom prst="line">
              <a:avLst/>
            </a:prstGeom>
            <a:noFill/>
            <a:ln w="12700" cap="flat" cmpd="sng" algn="ctr">
              <a:solidFill>
                <a:srgbClr val="0F6FC6">
                  <a:shade val="95000"/>
                  <a:satMod val="105000"/>
                </a:srgbClr>
              </a:solidFill>
              <a:prstDash val="dash"/>
              <a:headEnd type="none" w="med" len="med"/>
              <a:tailEnd type="none" w="med" len="med"/>
            </a:ln>
            <a:effectLst/>
          </p:spPr>
        </p:cxnSp>
        <p:pic>
          <p:nvPicPr>
            <p:cNvPr id="276" name="图片 7">
              <a:extLst>
                <a:ext uri="{FF2B5EF4-FFF2-40B4-BE49-F238E27FC236}">
                  <a16:creationId xmlns="" xmlns:a16="http://schemas.microsoft.com/office/drawing/2014/main" id="{99B35B18-99AB-4AFC-B256-463C43AE27A3}"/>
                </a:ext>
              </a:extLst>
            </p:cNvPr>
            <p:cNvPicPr>
              <a:picLocks noChangeAspect="1"/>
            </p:cNvPicPr>
            <p:nvPr/>
          </p:nvPicPr>
          <p:blipFill>
            <a:blip r:embed="rId6"/>
            <a:stretch>
              <a:fillRect/>
            </a:stretch>
          </p:blipFill>
          <p:spPr bwMode="gray">
            <a:xfrm>
              <a:off x="1001245" y="2057057"/>
              <a:ext cx="468451" cy="308021"/>
            </a:xfrm>
            <a:prstGeom prst="rect">
              <a:avLst/>
            </a:prstGeom>
          </p:spPr>
        </p:pic>
        <p:sp>
          <p:nvSpPr>
            <p:cNvPr id="277" name="云形 3">
              <a:extLst>
                <a:ext uri="{FF2B5EF4-FFF2-40B4-BE49-F238E27FC236}">
                  <a16:creationId xmlns="" xmlns:a16="http://schemas.microsoft.com/office/drawing/2014/main" id="{E2260519-51F2-4399-AC11-6DD24C4B8AC8}"/>
                </a:ext>
              </a:extLst>
            </p:cNvPr>
            <p:cNvSpPr/>
            <p:nvPr/>
          </p:nvSpPr>
          <p:spPr bwMode="gray">
            <a:xfrm>
              <a:off x="4019646" y="5716222"/>
              <a:ext cx="1362011" cy="401456"/>
            </a:xfrm>
            <a:custGeom>
              <a:avLst/>
              <a:gdLst>
                <a:gd name="connsiteX0" fmla="*/ 3900 w 43200"/>
                <a:gd name="connsiteY0" fmla="*/ 14370 h 43200"/>
                <a:gd name="connsiteX1" fmla="*/ 5623 w 43200"/>
                <a:gd name="connsiteY1" fmla="*/ 6907 h 43200"/>
                <a:gd name="connsiteX2" fmla="*/ 14005 w 43200"/>
                <a:gd name="connsiteY2" fmla="*/ 5202 h 43200"/>
                <a:gd name="connsiteX3" fmla="*/ 22456 w 43200"/>
                <a:gd name="connsiteY3" fmla="*/ 3432 h 43200"/>
                <a:gd name="connsiteX4" fmla="*/ 25749 w 43200"/>
                <a:gd name="connsiteY4" fmla="*/ 200 h 43200"/>
                <a:gd name="connsiteX5" fmla="*/ 29833 w 43200"/>
                <a:gd name="connsiteY5" fmla="*/ 2481 h 43200"/>
                <a:gd name="connsiteX6" fmla="*/ 35463 w 43200"/>
                <a:gd name="connsiteY6" fmla="*/ 690 h 43200"/>
                <a:gd name="connsiteX7" fmla="*/ 38318 w 43200"/>
                <a:gd name="connsiteY7" fmla="*/ 5576 h 43200"/>
                <a:gd name="connsiteX8" fmla="*/ 41982 w 43200"/>
                <a:gd name="connsiteY8" fmla="*/ 10318 h 43200"/>
                <a:gd name="connsiteX9" fmla="*/ 41818 w 43200"/>
                <a:gd name="connsiteY9" fmla="*/ 15460 h 43200"/>
                <a:gd name="connsiteX10" fmla="*/ 43016 w 43200"/>
                <a:gd name="connsiteY10" fmla="*/ 23322 h 43200"/>
                <a:gd name="connsiteX11" fmla="*/ 37404 w 43200"/>
                <a:gd name="connsiteY11" fmla="*/ 30204 h 43200"/>
                <a:gd name="connsiteX12" fmla="*/ 35395 w 43200"/>
                <a:gd name="connsiteY12" fmla="*/ 36101 h 43200"/>
                <a:gd name="connsiteX13" fmla="*/ 28555 w 43200"/>
                <a:gd name="connsiteY13" fmla="*/ 36815 h 43200"/>
                <a:gd name="connsiteX14" fmla="*/ 23667 w 43200"/>
                <a:gd name="connsiteY14" fmla="*/ 43106 h 43200"/>
                <a:gd name="connsiteX15" fmla="*/ 16480 w 43200"/>
                <a:gd name="connsiteY15" fmla="*/ 39266 h 43200"/>
                <a:gd name="connsiteX16" fmla="*/ 5804 w 43200"/>
                <a:gd name="connsiteY16" fmla="*/ 35472 h 43200"/>
                <a:gd name="connsiteX17" fmla="*/ 1110 w 43200"/>
                <a:gd name="connsiteY17" fmla="*/ 31250 h 43200"/>
                <a:gd name="connsiteX18" fmla="*/ 2113 w 43200"/>
                <a:gd name="connsiteY18" fmla="*/ 25551 h 43200"/>
                <a:gd name="connsiteX19" fmla="*/ -5 w 43200"/>
                <a:gd name="connsiteY19" fmla="*/ 19704 h 43200"/>
                <a:gd name="connsiteX20" fmla="*/ 3863 w 43200"/>
                <a:gd name="connsiteY20" fmla="*/ 14507 h 43200"/>
                <a:gd name="connsiteX21" fmla="*/ 3900 w 43200"/>
                <a:gd name="connsiteY21" fmla="*/ 14370 h 43200"/>
                <a:gd name="connsiteX0" fmla="*/ 4693 w 43200"/>
                <a:gd name="connsiteY0" fmla="*/ 26177 h 43200"/>
                <a:gd name="connsiteX1" fmla="*/ 2160 w 43200"/>
                <a:gd name="connsiteY1" fmla="*/ 25380 h 43200"/>
                <a:gd name="connsiteX2" fmla="*/ 6928 w 43200"/>
                <a:gd name="connsiteY2" fmla="*/ 34899 h 43200"/>
                <a:gd name="connsiteX3" fmla="*/ 5820 w 43200"/>
                <a:gd name="connsiteY3" fmla="*/ 35280 h 43200"/>
                <a:gd name="connsiteX4" fmla="*/ 16478 w 43200"/>
                <a:gd name="connsiteY4" fmla="*/ 39090 h 43200"/>
                <a:gd name="connsiteX5" fmla="*/ 15810 w 43200"/>
                <a:gd name="connsiteY5" fmla="*/ 37350 h 43200"/>
                <a:gd name="connsiteX6" fmla="*/ 28827 w 43200"/>
                <a:gd name="connsiteY6" fmla="*/ 34751 h 43200"/>
                <a:gd name="connsiteX7" fmla="*/ 28560 w 43200"/>
                <a:gd name="connsiteY7" fmla="*/ 36660 h 43200"/>
                <a:gd name="connsiteX8" fmla="*/ 34129 w 43200"/>
                <a:gd name="connsiteY8" fmla="*/ 22954 h 43200"/>
                <a:gd name="connsiteX9" fmla="*/ 37380 w 43200"/>
                <a:gd name="connsiteY9" fmla="*/ 30090 h 43200"/>
                <a:gd name="connsiteX10" fmla="*/ 41798 w 43200"/>
                <a:gd name="connsiteY10" fmla="*/ 15354 h 43200"/>
                <a:gd name="connsiteX11" fmla="*/ 40350 w 43200"/>
                <a:gd name="connsiteY11" fmla="*/ 18030 h 43200"/>
                <a:gd name="connsiteX12" fmla="*/ 38324 w 43200"/>
                <a:gd name="connsiteY12" fmla="*/ 5426 h 43200"/>
                <a:gd name="connsiteX13" fmla="*/ 38400 w 43200"/>
                <a:gd name="connsiteY13" fmla="*/ 6690 h 43200"/>
                <a:gd name="connsiteX14" fmla="*/ 29078 w 43200"/>
                <a:gd name="connsiteY14" fmla="*/ 3952 h 43200"/>
                <a:gd name="connsiteX15" fmla="*/ 29820 w 43200"/>
                <a:gd name="connsiteY15" fmla="*/ 2340 h 43200"/>
                <a:gd name="connsiteX16" fmla="*/ 22141 w 43200"/>
                <a:gd name="connsiteY16" fmla="*/ 4720 h 43200"/>
                <a:gd name="connsiteX17" fmla="*/ 22500 w 43200"/>
                <a:gd name="connsiteY17" fmla="*/ 3330 h 43200"/>
                <a:gd name="connsiteX18" fmla="*/ 14000 w 43200"/>
                <a:gd name="connsiteY18" fmla="*/ 5192 h 43200"/>
                <a:gd name="connsiteX19" fmla="*/ 15300 w 43200"/>
                <a:gd name="connsiteY19" fmla="*/ 6540 h 43200"/>
                <a:gd name="connsiteX20" fmla="*/ 4127 w 43200"/>
                <a:gd name="connsiteY20" fmla="*/ 15789 h 43200"/>
                <a:gd name="connsiteX21" fmla="*/ 3900 w 43200"/>
                <a:gd name="connsiteY21" fmla="*/ 14370 h 43200"/>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22177 w 43256"/>
                <a:gd name="connsiteY14" fmla="*/ 4579 h 43219"/>
                <a:gd name="connsiteX15" fmla="*/ 22536 w 43256"/>
                <a:gd name="connsiteY15" fmla="*/ 3189 h 43219"/>
                <a:gd name="connsiteX16" fmla="*/ 14036 w 43256"/>
                <a:gd name="connsiteY16" fmla="*/ 5051 h 43219"/>
                <a:gd name="connsiteX17" fmla="*/ 15336 w 43256"/>
                <a:gd name="connsiteY17" fmla="*/ 6399 h 43219"/>
                <a:gd name="connsiteX18" fmla="*/ 4163 w 43256"/>
                <a:gd name="connsiteY18" fmla="*/ 15648 h 43219"/>
                <a:gd name="connsiteX19" fmla="*/ 3936 w 43256"/>
                <a:gd name="connsiteY1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14036 w 43256"/>
                <a:gd name="connsiteY14" fmla="*/ 5051 h 43219"/>
                <a:gd name="connsiteX15" fmla="*/ 15336 w 43256"/>
                <a:gd name="connsiteY15" fmla="*/ 6399 h 43219"/>
                <a:gd name="connsiteX16" fmla="*/ 4163 w 43256"/>
                <a:gd name="connsiteY16" fmla="*/ 15648 h 43219"/>
                <a:gd name="connsiteX17" fmla="*/ 3936 w 43256"/>
                <a:gd name="connsiteY1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4165 w 43256"/>
                <a:gd name="connsiteY8" fmla="*/ 22813 h 43219"/>
                <a:gd name="connsiteX9" fmla="*/ 37416 w 43256"/>
                <a:gd name="connsiteY9" fmla="*/ 29949 h 43219"/>
                <a:gd name="connsiteX10" fmla="*/ 41834 w 43256"/>
                <a:gd name="connsiteY10" fmla="*/ 15213 h 43219"/>
                <a:gd name="connsiteX11" fmla="*/ 40386 w 43256"/>
                <a:gd name="connsiteY11" fmla="*/ 17889 h 43219"/>
                <a:gd name="connsiteX12" fmla="*/ 38360 w 43256"/>
                <a:gd name="connsiteY12" fmla="*/ 5285 h 43219"/>
                <a:gd name="connsiteX13" fmla="*/ 38436 w 43256"/>
                <a:gd name="connsiteY13" fmla="*/ 6549 h 43219"/>
                <a:gd name="connsiteX14" fmla="*/ 4163 w 43256"/>
                <a:gd name="connsiteY14" fmla="*/ 15648 h 43219"/>
                <a:gd name="connsiteX15" fmla="*/ 3936 w 43256"/>
                <a:gd name="connsiteY1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41834 w 43256"/>
                <a:gd name="connsiteY8" fmla="*/ 15213 h 43219"/>
                <a:gd name="connsiteX9" fmla="*/ 40386 w 43256"/>
                <a:gd name="connsiteY9" fmla="*/ 17889 h 43219"/>
                <a:gd name="connsiteX10" fmla="*/ 38360 w 43256"/>
                <a:gd name="connsiteY10" fmla="*/ 5285 h 43219"/>
                <a:gd name="connsiteX11" fmla="*/ 38436 w 43256"/>
                <a:gd name="connsiteY11" fmla="*/ 6549 h 43219"/>
                <a:gd name="connsiteX12" fmla="*/ 4163 w 43256"/>
                <a:gd name="connsiteY12" fmla="*/ 15648 h 43219"/>
                <a:gd name="connsiteX13" fmla="*/ 3936 w 43256"/>
                <a:gd name="connsiteY1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16514 w 43256"/>
                <a:gd name="connsiteY4" fmla="*/ 38949 h 43219"/>
                <a:gd name="connsiteX5" fmla="*/ 15846 w 43256"/>
                <a:gd name="connsiteY5" fmla="*/ 37209 h 43219"/>
                <a:gd name="connsiteX6" fmla="*/ 28863 w 43256"/>
                <a:gd name="connsiteY6" fmla="*/ 34610 h 43219"/>
                <a:gd name="connsiteX7" fmla="*/ 28596 w 43256"/>
                <a:gd name="connsiteY7" fmla="*/ 36519 h 43219"/>
                <a:gd name="connsiteX8" fmla="*/ 38360 w 43256"/>
                <a:gd name="connsiteY8" fmla="*/ 5285 h 43219"/>
                <a:gd name="connsiteX9" fmla="*/ 38436 w 43256"/>
                <a:gd name="connsiteY9" fmla="*/ 6549 h 43219"/>
                <a:gd name="connsiteX10" fmla="*/ 4163 w 43256"/>
                <a:gd name="connsiteY10" fmla="*/ 15648 h 43219"/>
                <a:gd name="connsiteX11" fmla="*/ 3936 w 43256"/>
                <a:gd name="connsiteY11"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4729 w 43256"/>
                <a:gd name="connsiteY0" fmla="*/ 26036 h 43219"/>
                <a:gd name="connsiteX1" fmla="*/ 2196 w 43256"/>
                <a:gd name="connsiteY1" fmla="*/ 25239 h 43219"/>
                <a:gd name="connsiteX2" fmla="*/ 6964 w 43256"/>
                <a:gd name="connsiteY2" fmla="*/ 34758 h 43219"/>
                <a:gd name="connsiteX3" fmla="*/ 5856 w 43256"/>
                <a:gd name="connsiteY3" fmla="*/ 35139 h 43219"/>
                <a:gd name="connsiteX4" fmla="*/ 28863 w 43256"/>
                <a:gd name="connsiteY4" fmla="*/ 34610 h 43219"/>
                <a:gd name="connsiteX5" fmla="*/ 28596 w 43256"/>
                <a:gd name="connsiteY5" fmla="*/ 36519 h 43219"/>
                <a:gd name="connsiteX6" fmla="*/ 38360 w 43256"/>
                <a:gd name="connsiteY6" fmla="*/ 5285 h 43219"/>
                <a:gd name="connsiteX7" fmla="*/ 38436 w 43256"/>
                <a:gd name="connsiteY7" fmla="*/ 6549 h 43219"/>
                <a:gd name="connsiteX8" fmla="*/ 4163 w 43256"/>
                <a:gd name="connsiteY8" fmla="*/ 15648 h 43219"/>
                <a:gd name="connsiteX9" fmla="*/ 3936 w 43256"/>
                <a:gd name="connsiteY9"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28863 w 43256"/>
                <a:gd name="connsiteY2" fmla="*/ 34610 h 43219"/>
                <a:gd name="connsiteX3" fmla="*/ 28596 w 43256"/>
                <a:gd name="connsiteY3" fmla="*/ 36519 h 43219"/>
                <a:gd name="connsiteX4" fmla="*/ 38360 w 43256"/>
                <a:gd name="connsiteY4" fmla="*/ 5285 h 43219"/>
                <a:gd name="connsiteX5" fmla="*/ 38436 w 43256"/>
                <a:gd name="connsiteY5" fmla="*/ 6549 h 43219"/>
                <a:gd name="connsiteX6" fmla="*/ 4163 w 43256"/>
                <a:gd name="connsiteY6" fmla="*/ 15648 h 43219"/>
                <a:gd name="connsiteX7" fmla="*/ 3936 w 43256"/>
                <a:gd name="connsiteY7"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360 w 43256"/>
                <a:gd name="connsiteY2" fmla="*/ 5285 h 43219"/>
                <a:gd name="connsiteX3" fmla="*/ 38436 w 43256"/>
                <a:gd name="connsiteY3" fmla="*/ 6549 h 43219"/>
                <a:gd name="connsiteX4" fmla="*/ 4163 w 43256"/>
                <a:gd name="connsiteY4" fmla="*/ 15648 h 43219"/>
                <a:gd name="connsiteX5" fmla="*/ 3936 w 43256"/>
                <a:gd name="connsiteY5"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163 w 43256"/>
                <a:gd name="connsiteY2" fmla="*/ 15648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488 w 43256"/>
                <a:gd name="connsiteY2" fmla="*/ 14575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4800 w 43256"/>
                <a:gd name="connsiteY2" fmla="*/ 15024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6964 w 43256"/>
                <a:gd name="connsiteY0" fmla="*/ 34758 h 43219"/>
                <a:gd name="connsiteX1" fmla="*/ 5856 w 43256"/>
                <a:gd name="connsiteY1" fmla="*/ 35139 h 43219"/>
                <a:gd name="connsiteX2" fmla="*/ 3889 w 43256"/>
                <a:gd name="connsiteY2" fmla="*/ 13963 h 43219"/>
                <a:gd name="connsiteX3" fmla="*/ 3936 w 43256"/>
                <a:gd name="connsiteY3" fmla="*/ 14229 h 43219"/>
                <a:gd name="connsiteX0" fmla="*/ 3936 w 43256"/>
                <a:gd name="connsiteY0" fmla="*/ 14229 h 43219"/>
                <a:gd name="connsiteX1" fmla="*/ 5659 w 43256"/>
                <a:gd name="connsiteY1" fmla="*/ 6766 h 43219"/>
                <a:gd name="connsiteX2" fmla="*/ 14041 w 43256"/>
                <a:gd name="connsiteY2" fmla="*/ 5061 h 43219"/>
                <a:gd name="connsiteX3" fmla="*/ 22492 w 43256"/>
                <a:gd name="connsiteY3" fmla="*/ 3291 h 43219"/>
                <a:gd name="connsiteX4" fmla="*/ 25785 w 43256"/>
                <a:gd name="connsiteY4" fmla="*/ 59 h 43219"/>
                <a:gd name="connsiteX5" fmla="*/ 29869 w 43256"/>
                <a:gd name="connsiteY5" fmla="*/ 2340 h 43219"/>
                <a:gd name="connsiteX6" fmla="*/ 35499 w 43256"/>
                <a:gd name="connsiteY6" fmla="*/ 549 h 43219"/>
                <a:gd name="connsiteX7" fmla="*/ 38354 w 43256"/>
                <a:gd name="connsiteY7" fmla="*/ 5435 h 43219"/>
                <a:gd name="connsiteX8" fmla="*/ 42018 w 43256"/>
                <a:gd name="connsiteY8" fmla="*/ 10177 h 43219"/>
                <a:gd name="connsiteX9" fmla="*/ 41854 w 43256"/>
                <a:gd name="connsiteY9" fmla="*/ 15319 h 43219"/>
                <a:gd name="connsiteX10" fmla="*/ 43052 w 43256"/>
                <a:gd name="connsiteY10" fmla="*/ 23181 h 43219"/>
                <a:gd name="connsiteX11" fmla="*/ 37440 w 43256"/>
                <a:gd name="connsiteY11" fmla="*/ 30063 h 43219"/>
                <a:gd name="connsiteX12" fmla="*/ 35431 w 43256"/>
                <a:gd name="connsiteY12" fmla="*/ 35960 h 43219"/>
                <a:gd name="connsiteX13" fmla="*/ 28591 w 43256"/>
                <a:gd name="connsiteY13" fmla="*/ 36674 h 43219"/>
                <a:gd name="connsiteX14" fmla="*/ 23703 w 43256"/>
                <a:gd name="connsiteY14" fmla="*/ 42965 h 43219"/>
                <a:gd name="connsiteX15" fmla="*/ 16516 w 43256"/>
                <a:gd name="connsiteY15" fmla="*/ 39125 h 43219"/>
                <a:gd name="connsiteX16" fmla="*/ 5840 w 43256"/>
                <a:gd name="connsiteY16" fmla="*/ 35331 h 43219"/>
                <a:gd name="connsiteX17" fmla="*/ 1146 w 43256"/>
                <a:gd name="connsiteY17" fmla="*/ 31109 h 43219"/>
                <a:gd name="connsiteX18" fmla="*/ 2149 w 43256"/>
                <a:gd name="connsiteY18" fmla="*/ 25410 h 43219"/>
                <a:gd name="connsiteX19" fmla="*/ 31 w 43256"/>
                <a:gd name="connsiteY19" fmla="*/ 19563 h 43219"/>
                <a:gd name="connsiteX20" fmla="*/ 3899 w 43256"/>
                <a:gd name="connsiteY20" fmla="*/ 14366 h 43219"/>
                <a:gd name="connsiteX21" fmla="*/ 3936 w 43256"/>
                <a:gd name="connsiteY21" fmla="*/ 14229 h 43219"/>
                <a:gd name="connsiteX0" fmla="*/ 3889 w 43256"/>
                <a:gd name="connsiteY0" fmla="*/ 13963 h 43219"/>
                <a:gd name="connsiteX1" fmla="*/ 3936 w 43256"/>
                <a:gd name="connsiteY1" fmla="*/ 14229 h 43219"/>
              </a:gdLst>
              <a:ahLst/>
              <a:cxnLst>
                <a:cxn ang="0">
                  <a:pos x="connsiteX0" y="connsiteY0"/>
                </a:cxn>
                <a:cxn ang="0">
                  <a:pos x="connsiteX1" y="connsiteY1"/>
                </a:cxn>
              </a:cxnLst>
              <a:rect l="l" t="t" r="r" b="b"/>
              <a:pathLst>
                <a:path w="43256" h="43219">
                  <a:moveTo>
                    <a:pt x="3936" y="14229"/>
                  </a:moveTo>
                  <a:cubicBezTo>
                    <a:pt x="3665" y="11516"/>
                    <a:pt x="4297" y="8780"/>
                    <a:pt x="5659" y="6766"/>
                  </a:cubicBezTo>
                  <a:cubicBezTo>
                    <a:pt x="7811" y="3585"/>
                    <a:pt x="11300" y="2876"/>
                    <a:pt x="14041" y="5061"/>
                  </a:cubicBezTo>
                  <a:cubicBezTo>
                    <a:pt x="15714" y="768"/>
                    <a:pt x="19950" y="-119"/>
                    <a:pt x="22492" y="3291"/>
                  </a:cubicBezTo>
                  <a:cubicBezTo>
                    <a:pt x="23133" y="1542"/>
                    <a:pt x="24364" y="333"/>
                    <a:pt x="25785" y="59"/>
                  </a:cubicBezTo>
                  <a:cubicBezTo>
                    <a:pt x="27349" y="-243"/>
                    <a:pt x="28911" y="629"/>
                    <a:pt x="29869" y="2340"/>
                  </a:cubicBezTo>
                  <a:cubicBezTo>
                    <a:pt x="31251" y="126"/>
                    <a:pt x="33537" y="-601"/>
                    <a:pt x="35499" y="549"/>
                  </a:cubicBezTo>
                  <a:cubicBezTo>
                    <a:pt x="36994" y="1425"/>
                    <a:pt x="38066" y="3259"/>
                    <a:pt x="38354" y="5435"/>
                  </a:cubicBezTo>
                  <a:cubicBezTo>
                    <a:pt x="40082" y="6077"/>
                    <a:pt x="41458" y="7857"/>
                    <a:pt x="42018" y="10177"/>
                  </a:cubicBezTo>
                  <a:cubicBezTo>
                    <a:pt x="42425" y="11861"/>
                    <a:pt x="42367" y="13690"/>
                    <a:pt x="41854" y="15319"/>
                  </a:cubicBezTo>
                  <a:cubicBezTo>
                    <a:pt x="43115" y="17553"/>
                    <a:pt x="43556" y="20449"/>
                    <a:pt x="43052" y="23181"/>
                  </a:cubicBezTo>
                  <a:cubicBezTo>
                    <a:pt x="42382" y="26813"/>
                    <a:pt x="40164" y="29533"/>
                    <a:pt x="37440" y="30063"/>
                  </a:cubicBezTo>
                  <a:cubicBezTo>
                    <a:pt x="37427" y="32330"/>
                    <a:pt x="36694" y="34480"/>
                    <a:pt x="35431" y="35960"/>
                  </a:cubicBezTo>
                  <a:cubicBezTo>
                    <a:pt x="33512" y="38209"/>
                    <a:pt x="30740" y="38498"/>
                    <a:pt x="28591" y="36674"/>
                  </a:cubicBezTo>
                  <a:cubicBezTo>
                    <a:pt x="27896" y="39807"/>
                    <a:pt x="26035" y="42202"/>
                    <a:pt x="23703" y="42965"/>
                  </a:cubicBezTo>
                  <a:cubicBezTo>
                    <a:pt x="20955" y="43864"/>
                    <a:pt x="18087" y="42332"/>
                    <a:pt x="16516" y="39125"/>
                  </a:cubicBezTo>
                  <a:cubicBezTo>
                    <a:pt x="12808" y="42169"/>
                    <a:pt x="7992" y="40458"/>
                    <a:pt x="5840" y="35331"/>
                  </a:cubicBezTo>
                  <a:cubicBezTo>
                    <a:pt x="3726" y="35668"/>
                    <a:pt x="1741" y="33883"/>
                    <a:pt x="1146" y="31109"/>
                  </a:cubicBezTo>
                  <a:cubicBezTo>
                    <a:pt x="715" y="29102"/>
                    <a:pt x="1096" y="26936"/>
                    <a:pt x="2149" y="25410"/>
                  </a:cubicBezTo>
                  <a:cubicBezTo>
                    <a:pt x="655" y="24213"/>
                    <a:pt x="-177" y="21916"/>
                    <a:pt x="31" y="19563"/>
                  </a:cubicBezTo>
                  <a:cubicBezTo>
                    <a:pt x="275" y="16808"/>
                    <a:pt x="1881" y="14650"/>
                    <a:pt x="3899" y="14366"/>
                  </a:cubicBezTo>
                  <a:cubicBezTo>
                    <a:pt x="3911" y="14320"/>
                    <a:pt x="3924" y="14275"/>
                    <a:pt x="3936" y="14229"/>
                  </a:cubicBezTo>
                  <a:close/>
                </a:path>
                <a:path w="43256" h="43219" fill="none" extrusionOk="0">
                  <a:moveTo>
                    <a:pt x="3889" y="13963"/>
                  </a:moveTo>
                  <a:cubicBezTo>
                    <a:pt x="3886" y="13986"/>
                    <a:pt x="3984" y="14710"/>
                    <a:pt x="3936" y="14229"/>
                  </a:cubicBezTo>
                </a:path>
              </a:pathLst>
            </a:custGeom>
            <a:solidFill>
              <a:srgbClr val="1AABE2">
                <a:alpha val="5000"/>
              </a:srgbClr>
            </a:solidFill>
            <a:ln w="9525">
              <a:solidFill>
                <a:srgbClr val="1AABE2">
                  <a:alpha val="30000"/>
                </a:srgbClr>
              </a:solidFill>
              <a:round/>
              <a:headEnd/>
              <a:tailEnd/>
            </a:ln>
          </p:spPr>
          <p:txBody>
            <a:bodyPr lIns="99562" tIns="49781" rIns="99562" bIns="49781" anchor="ctr"/>
            <a:lstStyle/>
            <a:p>
              <a:pPr marL="0" marR="0" lvl="0" indent="0" algn="ctr" defTabSz="1211808" eaLnBrk="1" fontAlgn="ctr" latinLnBrk="0" hangingPunct="1">
                <a:lnSpc>
                  <a:spcPct val="100000"/>
                </a:lnSpc>
                <a:spcBef>
                  <a:spcPts val="0"/>
                </a:spcBef>
                <a:spcAft>
                  <a:spcPts val="0"/>
                </a:spcAft>
                <a:buClrTx/>
                <a:buSzTx/>
                <a:buFontTx/>
                <a:buNone/>
                <a:tabLst/>
                <a:defRPr/>
              </a:pPr>
              <a:r>
                <a:rPr kumimoji="0" lang="zh-CN" altLang="en-US" sz="1100" b="1" i="0" u="none" strike="noStrike" kern="0" cap="none" spc="0" normalizeH="0" baseline="0" noProof="0" dirty="0">
                  <a:ln>
                    <a:noFill/>
                  </a:ln>
                  <a:solidFill>
                    <a:sysClr val="windowText" lastClr="000000"/>
                  </a:solidFill>
                  <a:effectLst/>
                  <a:uLnTx/>
                  <a:uFillTx/>
                  <a:cs typeface="Calibri" panose="020F0502020204030204" pitchFamily="34" charset="0"/>
                  <a:sym typeface="Huawei Sans" panose="020C0503030203020204" pitchFamily="34" charset="0"/>
                </a:rPr>
                <a:t>一级分行</a:t>
              </a:r>
            </a:p>
          </p:txBody>
        </p:sp>
        <p:cxnSp>
          <p:nvCxnSpPr>
            <p:cNvPr id="278" name="直接连接符 154">
              <a:extLst>
                <a:ext uri="{FF2B5EF4-FFF2-40B4-BE49-F238E27FC236}">
                  <a16:creationId xmlns="" xmlns:a16="http://schemas.microsoft.com/office/drawing/2014/main" id="{81C87DF2-2274-4871-B3EA-45E26977B21E}"/>
                </a:ext>
              </a:extLst>
            </p:cNvPr>
            <p:cNvCxnSpPr>
              <a:endCxn id="279" idx="0"/>
            </p:cNvCxnSpPr>
            <p:nvPr/>
          </p:nvCxnSpPr>
          <p:spPr bwMode="gray">
            <a:xfrm>
              <a:off x="4189514" y="5227801"/>
              <a:ext cx="305772" cy="33274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79" name="图片 155">
              <a:extLst>
                <a:ext uri="{FF2B5EF4-FFF2-40B4-BE49-F238E27FC236}">
                  <a16:creationId xmlns="" xmlns:a16="http://schemas.microsoft.com/office/drawing/2014/main" id="{B5D4F087-D893-4A60-B37D-6A04BEE3F02A}"/>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4379119" y="5584781"/>
              <a:ext cx="232335" cy="190092"/>
            </a:xfrm>
            <a:prstGeom prst="rect">
              <a:avLst/>
            </a:prstGeom>
          </p:spPr>
        </p:pic>
        <p:pic>
          <p:nvPicPr>
            <p:cNvPr id="280" name="图片 157">
              <a:extLst>
                <a:ext uri="{FF2B5EF4-FFF2-40B4-BE49-F238E27FC236}">
                  <a16:creationId xmlns="" xmlns:a16="http://schemas.microsoft.com/office/drawing/2014/main" id="{9C652360-E657-4035-8669-86C029E773E2}"/>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4775746" y="5584781"/>
              <a:ext cx="232335" cy="190092"/>
            </a:xfrm>
            <a:prstGeom prst="rect">
              <a:avLst/>
            </a:prstGeom>
          </p:spPr>
        </p:pic>
        <p:cxnSp>
          <p:nvCxnSpPr>
            <p:cNvPr id="281" name="直接连接符 158">
              <a:extLst>
                <a:ext uri="{FF2B5EF4-FFF2-40B4-BE49-F238E27FC236}">
                  <a16:creationId xmlns="" xmlns:a16="http://schemas.microsoft.com/office/drawing/2014/main" id="{A1B7991E-DEA5-4A04-96EE-CCB45CDCEBD9}"/>
                </a:ext>
              </a:extLst>
            </p:cNvPr>
            <p:cNvCxnSpPr>
              <a:endCxn id="279" idx="0"/>
            </p:cNvCxnSpPr>
            <p:nvPr/>
          </p:nvCxnSpPr>
          <p:spPr bwMode="gray">
            <a:xfrm flipH="1">
              <a:off x="4495286" y="5227801"/>
              <a:ext cx="204696" cy="33274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2" name="直接连接符 159">
              <a:extLst>
                <a:ext uri="{FF2B5EF4-FFF2-40B4-BE49-F238E27FC236}">
                  <a16:creationId xmlns="" xmlns:a16="http://schemas.microsoft.com/office/drawing/2014/main" id="{1FBB1F00-72F4-42C4-A827-DD836B20A532}"/>
                </a:ext>
              </a:extLst>
            </p:cNvPr>
            <p:cNvCxnSpPr>
              <a:endCxn id="280" idx="0"/>
            </p:cNvCxnSpPr>
            <p:nvPr/>
          </p:nvCxnSpPr>
          <p:spPr bwMode="gray">
            <a:xfrm>
              <a:off x="4189514" y="5227801"/>
              <a:ext cx="702400" cy="33274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3" name="直接连接符 160">
              <a:extLst>
                <a:ext uri="{FF2B5EF4-FFF2-40B4-BE49-F238E27FC236}">
                  <a16:creationId xmlns="" xmlns:a16="http://schemas.microsoft.com/office/drawing/2014/main" id="{B7301E8B-979C-42DA-BD89-3FAFBC8D8544}"/>
                </a:ext>
              </a:extLst>
            </p:cNvPr>
            <p:cNvCxnSpPr>
              <a:endCxn id="280" idx="0"/>
            </p:cNvCxnSpPr>
            <p:nvPr/>
          </p:nvCxnSpPr>
          <p:spPr bwMode="gray">
            <a:xfrm>
              <a:off x="4699982" y="5227801"/>
              <a:ext cx="191931" cy="33274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4" name="直接连接符 162">
              <a:extLst>
                <a:ext uri="{FF2B5EF4-FFF2-40B4-BE49-F238E27FC236}">
                  <a16:creationId xmlns="" xmlns:a16="http://schemas.microsoft.com/office/drawing/2014/main" id="{7BB6B570-4E33-4EE0-8BAC-24D125F8510E}"/>
                </a:ext>
              </a:extLst>
            </p:cNvPr>
            <p:cNvCxnSpPr>
              <a:stCxn id="280" idx="1"/>
              <a:endCxn id="279" idx="3"/>
            </p:cNvCxnSpPr>
            <p:nvPr/>
          </p:nvCxnSpPr>
          <p:spPr bwMode="gray">
            <a:xfrm flipH="1">
              <a:off x="4611453" y="5679827"/>
              <a:ext cx="164293" cy="0"/>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连接符 164">
              <a:extLst>
                <a:ext uri="{FF2B5EF4-FFF2-40B4-BE49-F238E27FC236}">
                  <a16:creationId xmlns="" xmlns:a16="http://schemas.microsoft.com/office/drawing/2014/main" id="{88F0DF62-0774-4A93-A1FF-8A726C8BF397}"/>
                </a:ext>
              </a:extLst>
            </p:cNvPr>
            <p:cNvCxnSpPr>
              <a:endCxn id="280" idx="0"/>
            </p:cNvCxnSpPr>
            <p:nvPr/>
          </p:nvCxnSpPr>
          <p:spPr bwMode="gray">
            <a:xfrm flipH="1">
              <a:off x="4891914" y="5227801"/>
              <a:ext cx="357003" cy="33274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直接连接符 165">
              <a:extLst>
                <a:ext uri="{FF2B5EF4-FFF2-40B4-BE49-F238E27FC236}">
                  <a16:creationId xmlns="" xmlns:a16="http://schemas.microsoft.com/office/drawing/2014/main" id="{9F602B66-D528-449C-9889-09C570A5344A}"/>
                </a:ext>
              </a:extLst>
            </p:cNvPr>
            <p:cNvCxnSpPr>
              <a:endCxn id="279" idx="0"/>
            </p:cNvCxnSpPr>
            <p:nvPr/>
          </p:nvCxnSpPr>
          <p:spPr bwMode="gray">
            <a:xfrm flipH="1">
              <a:off x="4495286" y="5227801"/>
              <a:ext cx="753631" cy="332747"/>
            </a:xfrm>
            <a:prstGeom prst="line">
              <a:avLst/>
            </a:prstGeom>
            <a:noFill/>
            <a:ln w="9525" cap="flat" cmpd="sng" algn="ctr">
              <a:solidFill>
                <a:sysClr val="windowText" lastClr="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850594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企业广域承载网络现状与挑战</a:t>
            </a:r>
            <a:endParaRPr lang="en-US" altLang="zh-CN" dirty="0">
              <a:solidFill>
                <a:schemeClr val="bg1">
                  <a:lumMod val="50000"/>
                </a:schemeClr>
              </a:solidFill>
            </a:endParaRPr>
          </a:p>
          <a:p>
            <a:r>
              <a:rPr lang="zh-CN" altLang="en-US" dirty="0">
                <a:solidFill>
                  <a:schemeClr val="bg1">
                    <a:lumMod val="50000"/>
                  </a:schemeClr>
                </a:solidFill>
              </a:rPr>
              <a:t>华为云广域网络解决方案概述</a:t>
            </a:r>
            <a:endParaRPr lang="en-US" altLang="zh-CN" dirty="0">
              <a:solidFill>
                <a:schemeClr val="bg1">
                  <a:lumMod val="50000"/>
                </a:schemeClr>
              </a:solidFill>
            </a:endParaRPr>
          </a:p>
          <a:p>
            <a:r>
              <a:rPr lang="zh-CN" altLang="en-US" b="1" dirty="0"/>
              <a:t>企业广域承载基础网络设计</a:t>
            </a:r>
            <a:endParaRPr lang="en-US" altLang="zh-CN" b="1" dirty="0"/>
          </a:p>
          <a:p>
            <a:r>
              <a:rPr lang="zh-CN" altLang="en-US" dirty="0">
                <a:solidFill>
                  <a:schemeClr val="bg1">
                    <a:lumMod val="50000"/>
                  </a:schemeClr>
                </a:solidFill>
              </a:rPr>
              <a:t>企业广域承载网络隧道与</a:t>
            </a:r>
            <a:r>
              <a:rPr lang="en-US" altLang="zh-CN" dirty="0">
                <a:solidFill>
                  <a:schemeClr val="bg1">
                    <a:lumMod val="50000"/>
                  </a:schemeClr>
                </a:solidFill>
              </a:rPr>
              <a:t>VPN</a:t>
            </a:r>
            <a:r>
              <a:rPr lang="zh-CN" altLang="en-US" dirty="0">
                <a:solidFill>
                  <a:schemeClr val="bg1">
                    <a:lumMod val="50000"/>
                  </a:schemeClr>
                </a:solidFill>
              </a:rPr>
              <a:t>设计</a:t>
            </a:r>
            <a:endParaRPr lang="en-US" altLang="zh-CN" dirty="0">
              <a:solidFill>
                <a:schemeClr val="bg1">
                  <a:lumMod val="50000"/>
                </a:schemeClr>
              </a:solidFill>
            </a:endParaRPr>
          </a:p>
          <a:p>
            <a:r>
              <a:rPr lang="zh-CN" altLang="en-US" dirty="0">
                <a:solidFill>
                  <a:schemeClr val="bg1">
                    <a:lumMod val="50000"/>
                  </a:schemeClr>
                </a:solidFill>
              </a:rPr>
              <a:t>企业广域承载网络</a:t>
            </a:r>
            <a:r>
              <a:rPr lang="en-US" altLang="zh-CN" dirty="0">
                <a:solidFill>
                  <a:schemeClr val="bg1">
                    <a:lumMod val="50000"/>
                  </a:schemeClr>
                </a:solidFill>
              </a:rPr>
              <a:t>SLA</a:t>
            </a:r>
            <a:r>
              <a:rPr lang="zh-CN" altLang="en-US" dirty="0">
                <a:solidFill>
                  <a:schemeClr val="bg1">
                    <a:lumMod val="50000"/>
                  </a:schemeClr>
                </a:solidFill>
              </a:rPr>
              <a:t>与可靠性设计</a:t>
            </a:r>
            <a:endParaRPr lang="en-US" altLang="zh-CN" dirty="0">
              <a:solidFill>
                <a:schemeClr val="bg1">
                  <a:lumMod val="50000"/>
                </a:schemeClr>
              </a:solidFill>
            </a:endParaRPr>
          </a:p>
          <a:p>
            <a:r>
              <a:rPr lang="zh-CN" altLang="en-US" dirty="0">
                <a:solidFill>
                  <a:schemeClr val="bg1">
                    <a:lumMod val="50000"/>
                  </a:schemeClr>
                </a:solidFill>
              </a:rPr>
              <a:t>企业广域承载网络优化与运维设计</a:t>
            </a:r>
          </a:p>
        </p:txBody>
      </p:sp>
    </p:spTree>
    <p:extLst>
      <p:ext uri="{BB962C8B-B14F-4D97-AF65-F5344CB8AC3E}">
        <p14:creationId xmlns:p14="http://schemas.microsoft.com/office/powerpoint/2010/main" val="19631418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Rectangle: Rounded Corners 251">
            <a:extLst>
              <a:ext uri="{FF2B5EF4-FFF2-40B4-BE49-F238E27FC236}">
                <a16:creationId xmlns="" xmlns:a16="http://schemas.microsoft.com/office/drawing/2014/main" id="{EA6E89B2-478B-41B0-BDFE-DF219F5D5073}"/>
              </a:ext>
            </a:extLst>
          </p:cNvPr>
          <p:cNvSpPr/>
          <p:nvPr/>
        </p:nvSpPr>
        <p:spPr bwMode="gray">
          <a:xfrm>
            <a:off x="4170066" y="3008842"/>
            <a:ext cx="3738911" cy="2786189"/>
          </a:xfrm>
          <a:prstGeom prst="roundRect">
            <a:avLst>
              <a:gd name="adj" fmla="val 188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企业广域承载基础网络设计概览</a:t>
            </a:r>
            <a:endParaRPr lang="en-US" dirty="0"/>
          </a:p>
        </p:txBody>
      </p:sp>
      <p:sp>
        <p:nvSpPr>
          <p:cNvPr id="4" name="Text Placeholder 3">
            <a:extLst>
              <a:ext uri="{FF2B5EF4-FFF2-40B4-BE49-F238E27FC236}">
                <a16:creationId xmlns="" xmlns:a16="http://schemas.microsoft.com/office/drawing/2014/main" id="{D67DBC69-70DE-44BC-A30C-5AA6E2C10C5C}"/>
              </a:ext>
            </a:extLst>
          </p:cNvPr>
          <p:cNvSpPr>
            <a:spLocks noGrp="1"/>
          </p:cNvSpPr>
          <p:nvPr>
            <p:ph type="body" sz="quarter" idx="10"/>
          </p:nvPr>
        </p:nvSpPr>
        <p:spPr bwMode="gray">
          <a:xfrm>
            <a:off x="455612" y="1047751"/>
            <a:ext cx="11293475" cy="551860"/>
          </a:xfrm>
        </p:spPr>
        <p:txBody>
          <a:bodyPr/>
          <a:lstStyle/>
          <a:p>
            <a:r>
              <a:rPr lang="zh-CN" altLang="en-US" dirty="0"/>
              <a:t>企业广域承载基础网络设计主要包括物理网络设计，</a:t>
            </a:r>
            <a:r>
              <a:rPr lang="en-US" altLang="zh-CN" dirty="0"/>
              <a:t>IP</a:t>
            </a:r>
            <a:r>
              <a:rPr lang="zh-CN" altLang="en-US" dirty="0"/>
              <a:t>地址规划与路由设计。</a:t>
            </a:r>
            <a:endParaRPr lang="en-US" dirty="0"/>
          </a:p>
        </p:txBody>
      </p:sp>
      <p:pic>
        <p:nvPicPr>
          <p:cNvPr id="158" name="图片 48">
            <a:extLst>
              <a:ext uri="{FF2B5EF4-FFF2-40B4-BE49-F238E27FC236}">
                <a16:creationId xmlns="" xmlns:a16="http://schemas.microsoft.com/office/drawing/2014/main" id="{CE4822FE-F9CC-426B-8629-27A7E1E131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05581" y="4172560"/>
            <a:ext cx="378863" cy="310667"/>
          </a:xfrm>
          <a:prstGeom prst="rect">
            <a:avLst/>
          </a:prstGeom>
        </p:spPr>
      </p:pic>
      <p:pic>
        <p:nvPicPr>
          <p:cNvPr id="159" name="图片 48">
            <a:extLst>
              <a:ext uri="{FF2B5EF4-FFF2-40B4-BE49-F238E27FC236}">
                <a16:creationId xmlns="" xmlns:a16="http://schemas.microsoft.com/office/drawing/2014/main" id="{22AB2640-F798-4DFE-8613-B7B94A7DC9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05581" y="5038393"/>
            <a:ext cx="378863" cy="310667"/>
          </a:xfrm>
          <a:prstGeom prst="rect">
            <a:avLst/>
          </a:prstGeom>
        </p:spPr>
      </p:pic>
      <p:pic>
        <p:nvPicPr>
          <p:cNvPr id="160" name="图片 48">
            <a:extLst>
              <a:ext uri="{FF2B5EF4-FFF2-40B4-BE49-F238E27FC236}">
                <a16:creationId xmlns="" xmlns:a16="http://schemas.microsoft.com/office/drawing/2014/main" id="{E8747A4D-81F2-47A3-AA1C-B1D73E1626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1801" y="4172560"/>
            <a:ext cx="378863" cy="310667"/>
          </a:xfrm>
          <a:prstGeom prst="rect">
            <a:avLst/>
          </a:prstGeom>
        </p:spPr>
      </p:pic>
      <p:pic>
        <p:nvPicPr>
          <p:cNvPr id="161" name="图片 48">
            <a:extLst>
              <a:ext uri="{FF2B5EF4-FFF2-40B4-BE49-F238E27FC236}">
                <a16:creationId xmlns="" xmlns:a16="http://schemas.microsoft.com/office/drawing/2014/main" id="{A4CE4286-0830-49B3-9102-9B45F4CAFE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1801" y="5038393"/>
            <a:ext cx="378863" cy="310667"/>
          </a:xfrm>
          <a:prstGeom prst="rect">
            <a:avLst/>
          </a:prstGeom>
        </p:spPr>
      </p:pic>
      <p:pic>
        <p:nvPicPr>
          <p:cNvPr id="162" name="图片 48">
            <a:extLst>
              <a:ext uri="{FF2B5EF4-FFF2-40B4-BE49-F238E27FC236}">
                <a16:creationId xmlns="" xmlns:a16="http://schemas.microsoft.com/office/drawing/2014/main" id="{38F3BFEE-2D54-4FDD-8F5A-EC2EA25115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35803" y="4172560"/>
            <a:ext cx="378863" cy="310667"/>
          </a:xfrm>
          <a:prstGeom prst="rect">
            <a:avLst/>
          </a:prstGeom>
        </p:spPr>
      </p:pic>
      <p:pic>
        <p:nvPicPr>
          <p:cNvPr id="163" name="图片 48">
            <a:extLst>
              <a:ext uri="{FF2B5EF4-FFF2-40B4-BE49-F238E27FC236}">
                <a16:creationId xmlns="" xmlns:a16="http://schemas.microsoft.com/office/drawing/2014/main" id="{B0FF8BCF-9A1F-4F71-978D-AAB2A059CD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35803" y="5038393"/>
            <a:ext cx="378863" cy="310667"/>
          </a:xfrm>
          <a:prstGeom prst="rect">
            <a:avLst/>
          </a:prstGeom>
        </p:spPr>
      </p:pic>
      <p:pic>
        <p:nvPicPr>
          <p:cNvPr id="164" name="图片 48">
            <a:extLst>
              <a:ext uri="{FF2B5EF4-FFF2-40B4-BE49-F238E27FC236}">
                <a16:creationId xmlns="" xmlns:a16="http://schemas.microsoft.com/office/drawing/2014/main" id="{9202F986-553A-49B0-9A96-962773EFF3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1593" y="4169626"/>
            <a:ext cx="378863" cy="310667"/>
          </a:xfrm>
          <a:prstGeom prst="rect">
            <a:avLst/>
          </a:prstGeom>
        </p:spPr>
      </p:pic>
      <p:pic>
        <p:nvPicPr>
          <p:cNvPr id="165" name="图片 48">
            <a:extLst>
              <a:ext uri="{FF2B5EF4-FFF2-40B4-BE49-F238E27FC236}">
                <a16:creationId xmlns="" xmlns:a16="http://schemas.microsoft.com/office/drawing/2014/main" id="{3BC83D7F-E08C-4AF1-B1A1-3F2F20C0EF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23062" y="5035459"/>
            <a:ext cx="378863" cy="310667"/>
          </a:xfrm>
          <a:prstGeom prst="rect">
            <a:avLst/>
          </a:prstGeom>
        </p:spPr>
      </p:pic>
      <p:pic>
        <p:nvPicPr>
          <p:cNvPr id="166" name="图片 48">
            <a:extLst>
              <a:ext uri="{FF2B5EF4-FFF2-40B4-BE49-F238E27FC236}">
                <a16:creationId xmlns="" xmlns:a16="http://schemas.microsoft.com/office/drawing/2014/main" id="{45788D07-3976-4334-95BD-F3BD4CC40C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03388" y="5035037"/>
            <a:ext cx="378863" cy="310667"/>
          </a:xfrm>
          <a:prstGeom prst="rect">
            <a:avLst/>
          </a:prstGeom>
        </p:spPr>
      </p:pic>
      <p:pic>
        <p:nvPicPr>
          <p:cNvPr id="167" name="图片 48">
            <a:extLst>
              <a:ext uri="{FF2B5EF4-FFF2-40B4-BE49-F238E27FC236}">
                <a16:creationId xmlns="" xmlns:a16="http://schemas.microsoft.com/office/drawing/2014/main" id="{A1612560-D2CB-41BF-A13B-3419DCE1B2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287840" y="4172560"/>
            <a:ext cx="378863" cy="310667"/>
          </a:xfrm>
          <a:prstGeom prst="rect">
            <a:avLst/>
          </a:prstGeom>
        </p:spPr>
      </p:pic>
      <p:pic>
        <p:nvPicPr>
          <p:cNvPr id="168" name="图片 48">
            <a:extLst>
              <a:ext uri="{FF2B5EF4-FFF2-40B4-BE49-F238E27FC236}">
                <a16:creationId xmlns="" xmlns:a16="http://schemas.microsoft.com/office/drawing/2014/main" id="{11006703-6B38-4707-994C-4C509C1814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287840" y="5038393"/>
            <a:ext cx="378863" cy="310667"/>
          </a:xfrm>
          <a:prstGeom prst="rect">
            <a:avLst/>
          </a:prstGeom>
        </p:spPr>
      </p:pic>
      <p:pic>
        <p:nvPicPr>
          <p:cNvPr id="169" name="图片 48">
            <a:extLst>
              <a:ext uri="{FF2B5EF4-FFF2-40B4-BE49-F238E27FC236}">
                <a16:creationId xmlns="" xmlns:a16="http://schemas.microsoft.com/office/drawing/2014/main" id="{B4847565-4772-4045-9D3F-212E20AE78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55758" y="3140928"/>
            <a:ext cx="378863" cy="310667"/>
          </a:xfrm>
          <a:prstGeom prst="rect">
            <a:avLst/>
          </a:prstGeom>
        </p:spPr>
      </p:pic>
      <p:pic>
        <p:nvPicPr>
          <p:cNvPr id="170" name="图片 48">
            <a:extLst>
              <a:ext uri="{FF2B5EF4-FFF2-40B4-BE49-F238E27FC236}">
                <a16:creationId xmlns="" xmlns:a16="http://schemas.microsoft.com/office/drawing/2014/main" id="{38E0569A-B042-4A12-BB4A-D8F8C3F1AC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70692" y="3140929"/>
            <a:ext cx="378863" cy="310667"/>
          </a:xfrm>
          <a:prstGeom prst="rect">
            <a:avLst/>
          </a:prstGeom>
        </p:spPr>
      </p:pic>
      <p:pic>
        <p:nvPicPr>
          <p:cNvPr id="171" name="图片 48">
            <a:extLst>
              <a:ext uri="{FF2B5EF4-FFF2-40B4-BE49-F238E27FC236}">
                <a16:creationId xmlns="" xmlns:a16="http://schemas.microsoft.com/office/drawing/2014/main" id="{A5C08A79-3B69-44EB-AB35-BF025DE74B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55758" y="2368892"/>
            <a:ext cx="378863" cy="310667"/>
          </a:xfrm>
          <a:prstGeom prst="rect">
            <a:avLst/>
          </a:prstGeom>
        </p:spPr>
      </p:pic>
      <p:pic>
        <p:nvPicPr>
          <p:cNvPr id="172" name="图片 48">
            <a:extLst>
              <a:ext uri="{FF2B5EF4-FFF2-40B4-BE49-F238E27FC236}">
                <a16:creationId xmlns="" xmlns:a16="http://schemas.microsoft.com/office/drawing/2014/main" id="{4AD4BE65-EE8F-4B66-83E6-9806362ECC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70692" y="2368893"/>
            <a:ext cx="378863" cy="310667"/>
          </a:xfrm>
          <a:prstGeom prst="rect">
            <a:avLst/>
          </a:prstGeom>
        </p:spPr>
      </p:pic>
      <p:cxnSp>
        <p:nvCxnSpPr>
          <p:cNvPr id="173" name="Straight Connector 172">
            <a:extLst>
              <a:ext uri="{FF2B5EF4-FFF2-40B4-BE49-F238E27FC236}">
                <a16:creationId xmlns="" xmlns:a16="http://schemas.microsoft.com/office/drawing/2014/main" id="{74311283-4C00-4EAC-8C6D-600B531E3B48}"/>
              </a:ext>
            </a:extLst>
          </p:cNvPr>
          <p:cNvCxnSpPr>
            <a:cxnSpLocks/>
            <a:stCxn id="158" idx="3"/>
            <a:endCxn id="160" idx="1"/>
          </p:cNvCxnSpPr>
          <p:nvPr/>
        </p:nvCxnSpPr>
        <p:spPr bwMode="gray">
          <a:xfrm>
            <a:off x="3784444" y="4327894"/>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 xmlns:a16="http://schemas.microsoft.com/office/drawing/2014/main" id="{D067B6D8-DCA7-484F-8212-C76B0D435791}"/>
              </a:ext>
            </a:extLst>
          </p:cNvPr>
          <p:cNvCxnSpPr>
            <a:cxnSpLocks/>
            <a:stCxn id="159" idx="3"/>
            <a:endCxn id="161" idx="1"/>
          </p:cNvCxnSpPr>
          <p:nvPr/>
        </p:nvCxnSpPr>
        <p:spPr bwMode="gray">
          <a:xfrm>
            <a:off x="3784444" y="5193727"/>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 xmlns:a16="http://schemas.microsoft.com/office/drawing/2014/main" id="{109C6332-7572-47B7-A4ED-E7BFFBEE349F}"/>
              </a:ext>
            </a:extLst>
          </p:cNvPr>
          <p:cNvCxnSpPr>
            <a:cxnSpLocks/>
            <a:stCxn id="161" idx="0"/>
            <a:endCxn id="160" idx="2"/>
          </p:cNvCxnSpPr>
          <p:nvPr/>
        </p:nvCxnSpPr>
        <p:spPr bwMode="gray">
          <a:xfrm flipV="1">
            <a:off x="4541233" y="448322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 xmlns:a16="http://schemas.microsoft.com/office/drawing/2014/main" id="{0E6339A5-9D03-4B9B-A486-8226296BF49C}"/>
              </a:ext>
            </a:extLst>
          </p:cNvPr>
          <p:cNvCxnSpPr>
            <a:cxnSpLocks/>
            <a:stCxn id="164" idx="1"/>
            <a:endCxn id="160" idx="3"/>
          </p:cNvCxnSpPr>
          <p:nvPr/>
        </p:nvCxnSpPr>
        <p:spPr bwMode="gray">
          <a:xfrm flipH="1">
            <a:off x="4730664" y="4324960"/>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 xmlns:a16="http://schemas.microsoft.com/office/drawing/2014/main" id="{2A4D55D7-23B7-4420-BF1E-FAB44747DEB3}"/>
              </a:ext>
            </a:extLst>
          </p:cNvPr>
          <p:cNvCxnSpPr>
            <a:cxnSpLocks/>
            <a:stCxn id="165" idx="1"/>
            <a:endCxn id="161" idx="3"/>
          </p:cNvCxnSpPr>
          <p:nvPr/>
        </p:nvCxnSpPr>
        <p:spPr bwMode="gray">
          <a:xfrm flipH="1">
            <a:off x="4730664" y="5190793"/>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 xmlns:a16="http://schemas.microsoft.com/office/drawing/2014/main" id="{C586D695-2EC1-46BC-980A-961589CF05C9}"/>
              </a:ext>
            </a:extLst>
          </p:cNvPr>
          <p:cNvCxnSpPr>
            <a:cxnSpLocks/>
            <a:stCxn id="164" idx="1"/>
            <a:endCxn id="165" idx="0"/>
          </p:cNvCxnSpPr>
          <p:nvPr/>
        </p:nvCxnSpPr>
        <p:spPr bwMode="gray">
          <a:xfrm flipH="1">
            <a:off x="5512494" y="4324960"/>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 xmlns:a16="http://schemas.microsoft.com/office/drawing/2014/main" id="{B06C3E2C-C75A-44C6-95A2-8D1354117E0E}"/>
              </a:ext>
            </a:extLst>
          </p:cNvPr>
          <p:cNvCxnSpPr>
            <a:cxnSpLocks/>
            <a:stCxn id="166" idx="1"/>
            <a:endCxn id="165" idx="3"/>
          </p:cNvCxnSpPr>
          <p:nvPr/>
        </p:nvCxnSpPr>
        <p:spPr bwMode="gray">
          <a:xfrm flipH="1">
            <a:off x="5701925" y="5190371"/>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 xmlns:a16="http://schemas.microsoft.com/office/drawing/2014/main" id="{DC3F4957-D149-45B3-BDF4-C5DE697AEAC8}"/>
              </a:ext>
            </a:extLst>
          </p:cNvPr>
          <p:cNvCxnSpPr>
            <a:cxnSpLocks/>
            <a:stCxn id="166" idx="0"/>
            <a:endCxn id="164" idx="3"/>
          </p:cNvCxnSpPr>
          <p:nvPr/>
        </p:nvCxnSpPr>
        <p:spPr bwMode="gray">
          <a:xfrm flipH="1" flipV="1">
            <a:off x="6290456" y="4324960"/>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 xmlns:a16="http://schemas.microsoft.com/office/drawing/2014/main" id="{4189D913-59AC-48E8-BFCD-8571206DDC80}"/>
              </a:ext>
            </a:extLst>
          </p:cNvPr>
          <p:cNvCxnSpPr>
            <a:cxnSpLocks/>
            <a:stCxn id="162" idx="1"/>
            <a:endCxn id="164" idx="3"/>
          </p:cNvCxnSpPr>
          <p:nvPr/>
        </p:nvCxnSpPr>
        <p:spPr bwMode="gray">
          <a:xfrm flipH="1" flipV="1">
            <a:off x="6290456" y="4324960"/>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 xmlns:a16="http://schemas.microsoft.com/office/drawing/2014/main" id="{6DAC94DC-B809-4046-8411-A3D014598083}"/>
              </a:ext>
            </a:extLst>
          </p:cNvPr>
          <p:cNvCxnSpPr>
            <a:cxnSpLocks/>
            <a:stCxn id="163" idx="1"/>
            <a:endCxn id="166" idx="3"/>
          </p:cNvCxnSpPr>
          <p:nvPr/>
        </p:nvCxnSpPr>
        <p:spPr bwMode="gray">
          <a:xfrm flipH="1" flipV="1">
            <a:off x="6882251" y="5190371"/>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 xmlns:a16="http://schemas.microsoft.com/office/drawing/2014/main" id="{F9F72DA3-AF96-42E7-B951-B218D76C468F}"/>
              </a:ext>
            </a:extLst>
          </p:cNvPr>
          <p:cNvCxnSpPr>
            <a:cxnSpLocks/>
            <a:stCxn id="162" idx="2"/>
            <a:endCxn id="163" idx="0"/>
          </p:cNvCxnSpPr>
          <p:nvPr/>
        </p:nvCxnSpPr>
        <p:spPr bwMode="gray">
          <a:xfrm>
            <a:off x="7525235" y="448322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 xmlns:a16="http://schemas.microsoft.com/office/drawing/2014/main" id="{60C14640-8778-4C50-9C7A-E73599A75A4B}"/>
              </a:ext>
            </a:extLst>
          </p:cNvPr>
          <p:cNvCxnSpPr>
            <a:cxnSpLocks/>
            <a:stCxn id="162" idx="3"/>
            <a:endCxn id="167" idx="1"/>
          </p:cNvCxnSpPr>
          <p:nvPr/>
        </p:nvCxnSpPr>
        <p:spPr bwMode="gray">
          <a:xfrm>
            <a:off x="7714666" y="4327894"/>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 xmlns:a16="http://schemas.microsoft.com/office/drawing/2014/main" id="{2F1BCE48-8850-4254-BBBD-91F3F31884BD}"/>
              </a:ext>
            </a:extLst>
          </p:cNvPr>
          <p:cNvCxnSpPr>
            <a:cxnSpLocks/>
            <a:stCxn id="163" idx="3"/>
            <a:endCxn id="168" idx="1"/>
          </p:cNvCxnSpPr>
          <p:nvPr/>
        </p:nvCxnSpPr>
        <p:spPr bwMode="gray">
          <a:xfrm>
            <a:off x="7714666" y="5193727"/>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 xmlns:a16="http://schemas.microsoft.com/office/drawing/2014/main" id="{EB967975-3C04-44B8-8DDF-38925AAE4604}"/>
              </a:ext>
            </a:extLst>
          </p:cNvPr>
          <p:cNvCxnSpPr>
            <a:cxnSpLocks/>
            <a:stCxn id="170" idx="2"/>
            <a:endCxn id="164" idx="1"/>
          </p:cNvCxnSpPr>
          <p:nvPr/>
        </p:nvCxnSpPr>
        <p:spPr bwMode="gray">
          <a:xfrm>
            <a:off x="5560124" y="3451596"/>
            <a:ext cx="351469" cy="87336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 xmlns:a16="http://schemas.microsoft.com/office/drawing/2014/main" id="{F4929C61-CAC8-4D42-A9A9-1DC3F30EA936}"/>
              </a:ext>
            </a:extLst>
          </p:cNvPr>
          <p:cNvCxnSpPr>
            <a:cxnSpLocks/>
            <a:stCxn id="169" idx="2"/>
            <a:endCxn id="164" idx="3"/>
          </p:cNvCxnSpPr>
          <p:nvPr/>
        </p:nvCxnSpPr>
        <p:spPr bwMode="gray">
          <a:xfrm flipH="1">
            <a:off x="6290456" y="3451595"/>
            <a:ext cx="354734" cy="87336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 xmlns:a16="http://schemas.microsoft.com/office/drawing/2014/main" id="{FAA8FFD1-31C3-4760-B1D2-898E730F5425}"/>
              </a:ext>
            </a:extLst>
          </p:cNvPr>
          <p:cNvCxnSpPr>
            <a:cxnSpLocks/>
            <a:stCxn id="170" idx="3"/>
            <a:endCxn id="169" idx="1"/>
          </p:cNvCxnSpPr>
          <p:nvPr/>
        </p:nvCxnSpPr>
        <p:spPr bwMode="gray">
          <a:xfrm flipV="1">
            <a:off x="5749555" y="3296262"/>
            <a:ext cx="706203"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 xmlns:a16="http://schemas.microsoft.com/office/drawing/2014/main" id="{03E75057-E285-4465-8CED-90A91E23BAB2}"/>
              </a:ext>
            </a:extLst>
          </p:cNvPr>
          <p:cNvCxnSpPr>
            <a:cxnSpLocks/>
            <a:stCxn id="172" idx="2"/>
            <a:endCxn id="170" idx="0"/>
          </p:cNvCxnSpPr>
          <p:nvPr/>
        </p:nvCxnSpPr>
        <p:spPr bwMode="gray">
          <a:xfrm>
            <a:off x="5560124" y="2679560"/>
            <a:ext cx="0" cy="4613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 xmlns:a16="http://schemas.microsoft.com/office/drawing/2014/main" id="{F663C492-188B-4296-A788-222EBC4C0263}"/>
              </a:ext>
            </a:extLst>
          </p:cNvPr>
          <p:cNvCxnSpPr>
            <a:cxnSpLocks/>
            <a:stCxn id="171" idx="2"/>
            <a:endCxn id="169" idx="0"/>
          </p:cNvCxnSpPr>
          <p:nvPr/>
        </p:nvCxnSpPr>
        <p:spPr bwMode="gray">
          <a:xfrm>
            <a:off x="6645190" y="2679559"/>
            <a:ext cx="0" cy="4613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Rectangle 227">
            <a:extLst>
              <a:ext uri="{FF2B5EF4-FFF2-40B4-BE49-F238E27FC236}">
                <a16:creationId xmlns="" xmlns:a16="http://schemas.microsoft.com/office/drawing/2014/main" id="{2F5EB7F3-AD58-44FC-8D94-93ECCF530CE8}"/>
              </a:ext>
            </a:extLst>
          </p:cNvPr>
          <p:cNvSpPr/>
          <p:nvPr/>
        </p:nvSpPr>
        <p:spPr bwMode="gray">
          <a:xfrm>
            <a:off x="2709151" y="4099725"/>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9" name="图片 51" descr="交换机.png">
            <a:extLst>
              <a:ext uri="{FF2B5EF4-FFF2-40B4-BE49-F238E27FC236}">
                <a16:creationId xmlns="" xmlns:a16="http://schemas.microsoft.com/office/drawing/2014/main" id="{4D76AF8B-9C87-4A37-BD6F-27199C4C3BBC}"/>
              </a:ext>
            </a:extLst>
          </p:cNvPr>
          <p:cNvPicPr>
            <a:picLocks noChangeAspect="1"/>
          </p:cNvPicPr>
          <p:nvPr/>
        </p:nvPicPr>
        <p:blipFill>
          <a:blip r:embed="rId4" cstate="print"/>
          <a:stretch>
            <a:fillRect/>
          </a:stretch>
        </p:blipFill>
        <p:spPr bwMode="gray">
          <a:xfrm>
            <a:off x="2861416" y="4172560"/>
            <a:ext cx="379705" cy="310667"/>
          </a:xfrm>
          <a:prstGeom prst="rect">
            <a:avLst/>
          </a:prstGeom>
        </p:spPr>
      </p:pic>
      <p:pic>
        <p:nvPicPr>
          <p:cNvPr id="230" name="图片 51" descr="交换机.png">
            <a:extLst>
              <a:ext uri="{FF2B5EF4-FFF2-40B4-BE49-F238E27FC236}">
                <a16:creationId xmlns="" xmlns:a16="http://schemas.microsoft.com/office/drawing/2014/main" id="{955133A0-223B-4A21-B0BB-485613AA0970}"/>
              </a:ext>
            </a:extLst>
          </p:cNvPr>
          <p:cNvPicPr>
            <a:picLocks noChangeAspect="1"/>
          </p:cNvPicPr>
          <p:nvPr/>
        </p:nvPicPr>
        <p:blipFill>
          <a:blip r:embed="rId4" cstate="print"/>
          <a:stretch>
            <a:fillRect/>
          </a:stretch>
        </p:blipFill>
        <p:spPr bwMode="gray">
          <a:xfrm>
            <a:off x="2861416" y="4599202"/>
            <a:ext cx="379705" cy="310667"/>
          </a:xfrm>
          <a:prstGeom prst="rect">
            <a:avLst/>
          </a:prstGeom>
        </p:spPr>
      </p:pic>
      <p:pic>
        <p:nvPicPr>
          <p:cNvPr id="231" name="图片 51" descr="交换机.png">
            <a:extLst>
              <a:ext uri="{FF2B5EF4-FFF2-40B4-BE49-F238E27FC236}">
                <a16:creationId xmlns="" xmlns:a16="http://schemas.microsoft.com/office/drawing/2014/main" id="{70191618-96BA-4097-80C7-AC6AF60A636D}"/>
              </a:ext>
            </a:extLst>
          </p:cNvPr>
          <p:cNvPicPr>
            <a:picLocks noChangeAspect="1"/>
          </p:cNvPicPr>
          <p:nvPr/>
        </p:nvPicPr>
        <p:blipFill>
          <a:blip r:embed="rId4" cstate="print"/>
          <a:stretch>
            <a:fillRect/>
          </a:stretch>
        </p:blipFill>
        <p:spPr bwMode="gray">
          <a:xfrm>
            <a:off x="2858537" y="5024169"/>
            <a:ext cx="379705" cy="310667"/>
          </a:xfrm>
          <a:prstGeom prst="rect">
            <a:avLst/>
          </a:prstGeom>
        </p:spPr>
      </p:pic>
      <p:sp>
        <p:nvSpPr>
          <p:cNvPr id="232" name="Rectangle 231">
            <a:extLst>
              <a:ext uri="{FF2B5EF4-FFF2-40B4-BE49-F238E27FC236}">
                <a16:creationId xmlns="" xmlns:a16="http://schemas.microsoft.com/office/drawing/2014/main" id="{E5645E44-83D9-4E4E-9EA8-A33621D4E25A}"/>
              </a:ext>
            </a:extLst>
          </p:cNvPr>
          <p:cNvSpPr/>
          <p:nvPr/>
        </p:nvSpPr>
        <p:spPr bwMode="gray">
          <a:xfrm>
            <a:off x="8091772" y="4099725"/>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3" name="图片 67">
            <a:extLst>
              <a:ext uri="{FF2B5EF4-FFF2-40B4-BE49-F238E27FC236}">
                <a16:creationId xmlns="" xmlns:a16="http://schemas.microsoft.com/office/drawing/2014/main" id="{9CD56BAD-9CC8-4A24-9596-2076FE1C4CEC}"/>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849063" y="4175360"/>
            <a:ext cx="375447" cy="307867"/>
          </a:xfrm>
          <a:prstGeom prst="rect">
            <a:avLst/>
          </a:prstGeom>
        </p:spPr>
      </p:pic>
      <p:pic>
        <p:nvPicPr>
          <p:cNvPr id="234" name="图片 67">
            <a:extLst>
              <a:ext uri="{FF2B5EF4-FFF2-40B4-BE49-F238E27FC236}">
                <a16:creationId xmlns="" xmlns:a16="http://schemas.microsoft.com/office/drawing/2014/main" id="{3A846845-B55B-4BEF-B1EB-BCCABE2690FE}"/>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849063" y="4607978"/>
            <a:ext cx="375447" cy="307867"/>
          </a:xfrm>
          <a:prstGeom prst="rect">
            <a:avLst/>
          </a:prstGeom>
        </p:spPr>
      </p:pic>
      <p:pic>
        <p:nvPicPr>
          <p:cNvPr id="235" name="图片 67">
            <a:extLst>
              <a:ext uri="{FF2B5EF4-FFF2-40B4-BE49-F238E27FC236}">
                <a16:creationId xmlns="" xmlns:a16="http://schemas.microsoft.com/office/drawing/2014/main" id="{5FE33DB8-F9CF-4897-8078-496D522BCB6B}"/>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849062" y="5031876"/>
            <a:ext cx="375447" cy="307867"/>
          </a:xfrm>
          <a:prstGeom prst="rect">
            <a:avLst/>
          </a:prstGeom>
        </p:spPr>
      </p:pic>
      <p:sp>
        <p:nvSpPr>
          <p:cNvPr id="236" name="Rectangle 235">
            <a:extLst>
              <a:ext uri="{FF2B5EF4-FFF2-40B4-BE49-F238E27FC236}">
                <a16:creationId xmlns="" xmlns:a16="http://schemas.microsoft.com/office/drawing/2014/main" id="{D1E11624-DF54-4218-B9B8-362BCA613897}"/>
              </a:ext>
            </a:extLst>
          </p:cNvPr>
          <p:cNvSpPr/>
          <p:nvPr/>
        </p:nvSpPr>
        <p:spPr bwMode="gray">
          <a:xfrm>
            <a:off x="5196849" y="1728317"/>
            <a:ext cx="1806851" cy="1070259"/>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7" name="图片 14" descr="交换机.png">
            <a:extLst>
              <a:ext uri="{FF2B5EF4-FFF2-40B4-BE49-F238E27FC236}">
                <a16:creationId xmlns="" xmlns:a16="http://schemas.microsoft.com/office/drawing/2014/main" id="{7D04F9C1-EBE0-4746-A749-7BF60037FCBA}"/>
              </a:ext>
            </a:extLst>
          </p:cNvPr>
          <p:cNvPicPr>
            <a:picLocks noChangeAspect="1"/>
          </p:cNvPicPr>
          <p:nvPr/>
        </p:nvPicPr>
        <p:blipFill>
          <a:blip r:embed="rId6" cstate="print"/>
          <a:stretch>
            <a:fillRect/>
          </a:stretch>
        </p:blipFill>
        <p:spPr bwMode="gray">
          <a:xfrm>
            <a:off x="5371485" y="1847474"/>
            <a:ext cx="378070" cy="309329"/>
          </a:xfrm>
          <a:prstGeom prst="rect">
            <a:avLst/>
          </a:prstGeom>
        </p:spPr>
      </p:pic>
      <p:pic>
        <p:nvPicPr>
          <p:cNvPr id="238" name="图片 14" descr="交换机.png">
            <a:extLst>
              <a:ext uri="{FF2B5EF4-FFF2-40B4-BE49-F238E27FC236}">
                <a16:creationId xmlns="" xmlns:a16="http://schemas.microsoft.com/office/drawing/2014/main" id="{C4BF80D7-4006-4097-9DC5-DDBCDF22C5A7}"/>
              </a:ext>
            </a:extLst>
          </p:cNvPr>
          <p:cNvPicPr>
            <a:picLocks noChangeAspect="1"/>
          </p:cNvPicPr>
          <p:nvPr/>
        </p:nvPicPr>
        <p:blipFill>
          <a:blip r:embed="rId6" cstate="print"/>
          <a:stretch>
            <a:fillRect/>
          </a:stretch>
        </p:blipFill>
        <p:spPr bwMode="gray">
          <a:xfrm>
            <a:off x="6453405" y="1849297"/>
            <a:ext cx="378070" cy="309329"/>
          </a:xfrm>
          <a:prstGeom prst="rect">
            <a:avLst/>
          </a:prstGeom>
        </p:spPr>
      </p:pic>
      <p:pic>
        <p:nvPicPr>
          <p:cNvPr id="239" name="图片 14" descr="交换机.png">
            <a:extLst>
              <a:ext uri="{FF2B5EF4-FFF2-40B4-BE49-F238E27FC236}">
                <a16:creationId xmlns="" xmlns:a16="http://schemas.microsoft.com/office/drawing/2014/main" id="{DB1AA156-F77F-497E-92DC-B5A641491E9C}"/>
              </a:ext>
            </a:extLst>
          </p:cNvPr>
          <p:cNvPicPr>
            <a:picLocks noChangeAspect="1"/>
          </p:cNvPicPr>
          <p:nvPr/>
        </p:nvPicPr>
        <p:blipFill>
          <a:blip r:embed="rId6" cstate="print"/>
          <a:stretch>
            <a:fillRect/>
          </a:stretch>
        </p:blipFill>
        <p:spPr bwMode="gray">
          <a:xfrm>
            <a:off x="5913311" y="1852409"/>
            <a:ext cx="378070" cy="309329"/>
          </a:xfrm>
          <a:prstGeom prst="rect">
            <a:avLst/>
          </a:prstGeom>
        </p:spPr>
      </p:pic>
      <p:sp>
        <p:nvSpPr>
          <p:cNvPr id="240" name="TextBox 271">
            <a:extLst>
              <a:ext uri="{FF2B5EF4-FFF2-40B4-BE49-F238E27FC236}">
                <a16:creationId xmlns="" xmlns:a16="http://schemas.microsoft.com/office/drawing/2014/main" id="{19C2F641-2A21-40CB-8C64-67453AC26F43}"/>
              </a:ext>
            </a:extLst>
          </p:cNvPr>
          <p:cNvSpPr txBox="1"/>
          <p:nvPr/>
        </p:nvSpPr>
        <p:spPr bwMode="gray">
          <a:xfrm>
            <a:off x="4362337" y="392864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TextBox 271">
            <a:extLst>
              <a:ext uri="{FF2B5EF4-FFF2-40B4-BE49-F238E27FC236}">
                <a16:creationId xmlns="" xmlns:a16="http://schemas.microsoft.com/office/drawing/2014/main" id="{05287E10-FE41-4BF7-B4FD-0D6033F4C8CD}"/>
              </a:ext>
            </a:extLst>
          </p:cNvPr>
          <p:cNvSpPr txBox="1"/>
          <p:nvPr/>
        </p:nvSpPr>
        <p:spPr bwMode="gray">
          <a:xfrm>
            <a:off x="4345165" y="5324860"/>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5" name="TextBox 271">
            <a:extLst>
              <a:ext uri="{FF2B5EF4-FFF2-40B4-BE49-F238E27FC236}">
                <a16:creationId xmlns="" xmlns:a16="http://schemas.microsoft.com/office/drawing/2014/main" id="{C0E036D5-B554-4907-AC45-3085E6E36F05}"/>
              </a:ext>
            </a:extLst>
          </p:cNvPr>
          <p:cNvSpPr txBox="1"/>
          <p:nvPr/>
        </p:nvSpPr>
        <p:spPr bwMode="gray">
          <a:xfrm>
            <a:off x="5079365" y="3162153"/>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6" name="TextBox 271">
            <a:extLst>
              <a:ext uri="{FF2B5EF4-FFF2-40B4-BE49-F238E27FC236}">
                <a16:creationId xmlns="" xmlns:a16="http://schemas.microsoft.com/office/drawing/2014/main" id="{12A640DB-479B-47FD-9AFA-9D16D4D112F2}"/>
              </a:ext>
            </a:extLst>
          </p:cNvPr>
          <p:cNvSpPr txBox="1"/>
          <p:nvPr/>
        </p:nvSpPr>
        <p:spPr bwMode="gray">
          <a:xfrm>
            <a:off x="6769155" y="314999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7" name="TextBox 271">
            <a:extLst>
              <a:ext uri="{FF2B5EF4-FFF2-40B4-BE49-F238E27FC236}">
                <a16:creationId xmlns="" xmlns:a16="http://schemas.microsoft.com/office/drawing/2014/main" id="{AF0139D9-3AFA-4092-A9F1-A47FF5F48B51}"/>
              </a:ext>
            </a:extLst>
          </p:cNvPr>
          <p:cNvSpPr txBox="1"/>
          <p:nvPr/>
        </p:nvSpPr>
        <p:spPr bwMode="gray">
          <a:xfrm>
            <a:off x="7333379" y="394616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8" name="TextBox 271">
            <a:extLst>
              <a:ext uri="{FF2B5EF4-FFF2-40B4-BE49-F238E27FC236}">
                <a16:creationId xmlns="" xmlns:a16="http://schemas.microsoft.com/office/drawing/2014/main" id="{76139617-296F-4F24-A3FD-C1E150D005AD}"/>
              </a:ext>
            </a:extLst>
          </p:cNvPr>
          <p:cNvSpPr txBox="1"/>
          <p:nvPr/>
        </p:nvSpPr>
        <p:spPr bwMode="gray">
          <a:xfrm>
            <a:off x="7334978" y="533483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9" name="TextBox 271">
            <a:extLst>
              <a:ext uri="{FF2B5EF4-FFF2-40B4-BE49-F238E27FC236}">
                <a16:creationId xmlns="" xmlns:a16="http://schemas.microsoft.com/office/drawing/2014/main" id="{EE8433D5-923D-4175-B7FC-34FCE3081635}"/>
              </a:ext>
            </a:extLst>
          </p:cNvPr>
          <p:cNvSpPr txBox="1"/>
          <p:nvPr/>
        </p:nvSpPr>
        <p:spPr bwMode="gray">
          <a:xfrm>
            <a:off x="5970628" y="3928645"/>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0" name="TextBox 271">
            <a:extLst>
              <a:ext uri="{FF2B5EF4-FFF2-40B4-BE49-F238E27FC236}">
                <a16:creationId xmlns="" xmlns:a16="http://schemas.microsoft.com/office/drawing/2014/main" id="{007FAD4B-7B98-4135-8338-9C6047F5DE49}"/>
              </a:ext>
            </a:extLst>
          </p:cNvPr>
          <p:cNvSpPr txBox="1"/>
          <p:nvPr/>
        </p:nvSpPr>
        <p:spPr bwMode="gray">
          <a:xfrm>
            <a:off x="5372903" y="5312557"/>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1" name="TextBox 271">
            <a:extLst>
              <a:ext uri="{FF2B5EF4-FFF2-40B4-BE49-F238E27FC236}">
                <a16:creationId xmlns="" xmlns:a16="http://schemas.microsoft.com/office/drawing/2014/main" id="{15769D81-108B-42E0-BB6E-DA8531DE9130}"/>
              </a:ext>
            </a:extLst>
          </p:cNvPr>
          <p:cNvSpPr txBox="1"/>
          <p:nvPr/>
        </p:nvSpPr>
        <p:spPr bwMode="gray">
          <a:xfrm>
            <a:off x="6554565" y="5334592"/>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3" name="TextBox 271">
            <a:extLst>
              <a:ext uri="{FF2B5EF4-FFF2-40B4-BE49-F238E27FC236}">
                <a16:creationId xmlns="" xmlns:a16="http://schemas.microsoft.com/office/drawing/2014/main" id="{4DA48565-55D0-4E0C-AE27-D5D85B61BB1C}"/>
              </a:ext>
            </a:extLst>
          </p:cNvPr>
          <p:cNvSpPr txBox="1"/>
          <p:nvPr/>
        </p:nvSpPr>
        <p:spPr bwMode="gray">
          <a:xfrm rot="16200000">
            <a:off x="3654541" y="3479066"/>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254" name="TextBox 253">
            <a:extLst>
              <a:ext uri="{FF2B5EF4-FFF2-40B4-BE49-F238E27FC236}">
                <a16:creationId xmlns="" xmlns:a16="http://schemas.microsoft.com/office/drawing/2014/main" id="{1F268225-0730-460F-81F1-B52BCB2C7C0D}"/>
              </a:ext>
            </a:extLst>
          </p:cNvPr>
          <p:cNvSpPr txBox="1"/>
          <p:nvPr/>
        </p:nvSpPr>
        <p:spPr bwMode="gray">
          <a:xfrm>
            <a:off x="4264573" y="3069820"/>
            <a:ext cx="767162" cy="646331"/>
          </a:xfrm>
          <a:prstGeom prst="rect">
            <a:avLst/>
          </a:prstGeom>
          <a:noFill/>
        </p:spPr>
        <p:txBody>
          <a:bodyPr wrap="square" rtlCol="0">
            <a:spAutoFit/>
          </a:bodyPr>
          <a:lstStyle/>
          <a:p>
            <a:r>
              <a:rPr lang="en-US" dirty="0"/>
              <a:t>IS-IS</a:t>
            </a:r>
          </a:p>
          <a:p>
            <a:r>
              <a:rPr lang="en-US" dirty="0"/>
              <a:t>BGP</a:t>
            </a:r>
          </a:p>
        </p:txBody>
      </p:sp>
      <p:sp>
        <p:nvSpPr>
          <p:cNvPr id="255" name="圆角矩形 75">
            <a:extLst>
              <a:ext uri="{FF2B5EF4-FFF2-40B4-BE49-F238E27FC236}">
                <a16:creationId xmlns="" xmlns:a16="http://schemas.microsoft.com/office/drawing/2014/main" id="{49A5018D-63BB-4F52-ACAB-36ED1F0B1600}"/>
              </a:ext>
            </a:extLst>
          </p:cNvPr>
          <p:cNvSpPr/>
          <p:nvPr/>
        </p:nvSpPr>
        <p:spPr bwMode="gray">
          <a:xfrm>
            <a:off x="5313631" y="5591063"/>
            <a:ext cx="170860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物理网络设计</a:t>
            </a:r>
          </a:p>
        </p:txBody>
      </p:sp>
      <p:sp>
        <p:nvSpPr>
          <p:cNvPr id="256" name="圆角矩形 75">
            <a:extLst>
              <a:ext uri="{FF2B5EF4-FFF2-40B4-BE49-F238E27FC236}">
                <a16:creationId xmlns="" xmlns:a16="http://schemas.microsoft.com/office/drawing/2014/main" id="{9A29C4AD-6FE7-4890-B871-B2980AE90973}"/>
              </a:ext>
            </a:extLst>
          </p:cNvPr>
          <p:cNvSpPr/>
          <p:nvPr/>
        </p:nvSpPr>
        <p:spPr bwMode="gray">
          <a:xfrm>
            <a:off x="3533329" y="2686570"/>
            <a:ext cx="1247469"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257" name="圆角矩形 75">
            <a:extLst>
              <a:ext uri="{FF2B5EF4-FFF2-40B4-BE49-F238E27FC236}">
                <a16:creationId xmlns="" xmlns:a16="http://schemas.microsoft.com/office/drawing/2014/main" id="{35A74022-CC58-4118-A8E1-669849E4A25D}"/>
              </a:ext>
            </a:extLst>
          </p:cNvPr>
          <p:cNvSpPr/>
          <p:nvPr/>
        </p:nvSpPr>
        <p:spPr bwMode="gray">
          <a:xfrm>
            <a:off x="7676259" y="3400592"/>
            <a:ext cx="1247469"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258" name="TextBox 257">
            <a:extLst>
              <a:ext uri="{FF2B5EF4-FFF2-40B4-BE49-F238E27FC236}">
                <a16:creationId xmlns="" xmlns:a16="http://schemas.microsoft.com/office/drawing/2014/main" id="{57B9FF1B-8EC2-4955-991B-0C048F314009}"/>
              </a:ext>
            </a:extLst>
          </p:cNvPr>
          <p:cNvSpPr txBox="1"/>
          <p:nvPr/>
        </p:nvSpPr>
        <p:spPr bwMode="gray">
          <a:xfrm>
            <a:off x="6834621" y="3368984"/>
            <a:ext cx="869149" cy="461665"/>
          </a:xfrm>
          <a:prstGeom prst="rect">
            <a:avLst/>
          </a:prstGeom>
          <a:noFill/>
        </p:spPr>
        <p:txBody>
          <a:bodyPr wrap="none" rtlCol="0">
            <a:spAutoFit/>
          </a:bodyPr>
          <a:lstStyle/>
          <a:p>
            <a:r>
              <a:rPr lang="en-US" sz="1200" dirty="0"/>
              <a:t>1.1.1.1/32</a:t>
            </a:r>
          </a:p>
          <a:p>
            <a:r>
              <a:rPr lang="en-US" altLang="zh-CN" sz="1200" dirty="0"/>
              <a:t>1::1/128</a:t>
            </a:r>
          </a:p>
        </p:txBody>
      </p:sp>
      <p:pic>
        <p:nvPicPr>
          <p:cNvPr id="259" name="图片 48">
            <a:extLst>
              <a:ext uri="{FF2B5EF4-FFF2-40B4-BE49-F238E27FC236}">
                <a16:creationId xmlns="" xmlns:a16="http://schemas.microsoft.com/office/drawing/2014/main" id="{5E04BD35-8214-4798-8399-A755771C7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6568" y="4678742"/>
            <a:ext cx="378863" cy="310667"/>
          </a:xfrm>
          <a:prstGeom prst="rect">
            <a:avLst/>
          </a:prstGeom>
        </p:spPr>
      </p:pic>
      <p:sp>
        <p:nvSpPr>
          <p:cNvPr id="260" name="TextBox 271">
            <a:extLst>
              <a:ext uri="{FF2B5EF4-FFF2-40B4-BE49-F238E27FC236}">
                <a16:creationId xmlns="" xmlns:a16="http://schemas.microsoft.com/office/drawing/2014/main" id="{A2E90A0A-54AC-436F-B368-205AF52C8701}"/>
              </a:ext>
            </a:extLst>
          </p:cNvPr>
          <p:cNvSpPr txBox="1"/>
          <p:nvPr/>
        </p:nvSpPr>
        <p:spPr bwMode="gray">
          <a:xfrm>
            <a:off x="5912823" y="4940507"/>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1" name="Straight Connector 260">
            <a:extLst>
              <a:ext uri="{FF2B5EF4-FFF2-40B4-BE49-F238E27FC236}">
                <a16:creationId xmlns="" xmlns:a16="http://schemas.microsoft.com/office/drawing/2014/main" id="{8F1257A9-359B-4B06-AB9D-362C472588D6}"/>
              </a:ext>
            </a:extLst>
          </p:cNvPr>
          <p:cNvCxnSpPr>
            <a:cxnSpLocks/>
            <a:stCxn id="164" idx="2"/>
            <a:endCxn id="259" idx="0"/>
          </p:cNvCxnSpPr>
          <p:nvPr/>
        </p:nvCxnSpPr>
        <p:spPr bwMode="gray">
          <a:xfrm flipH="1">
            <a:off x="6096000" y="4480293"/>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3967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企业广域承载物理网络设计思路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1657747"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物理网络设计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1657747"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1855358" y="333814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接入层网络设计</a:t>
            </a:r>
          </a:p>
        </p:txBody>
      </p:sp>
      <p:sp>
        <p:nvSpPr>
          <p:cNvPr id="8" name="圆角矩形 6">
            <a:extLst>
              <a:ext uri="{FF2B5EF4-FFF2-40B4-BE49-F238E27FC236}">
                <a16:creationId xmlns="" xmlns:a16="http://schemas.microsoft.com/office/drawing/2014/main" id="{5788FE78-2257-4711-9A5D-E49BDF11EAA9}"/>
              </a:ext>
            </a:extLst>
          </p:cNvPr>
          <p:cNvSpPr/>
          <p:nvPr/>
        </p:nvSpPr>
        <p:spPr bwMode="gray">
          <a:xfrm>
            <a:off x="7956504" y="2850521"/>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4701316"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IP</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470131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1">
            <a:extLst>
              <a:ext uri="{FF2B5EF4-FFF2-40B4-BE49-F238E27FC236}">
                <a16:creationId xmlns="" xmlns:a16="http://schemas.microsoft.com/office/drawing/2014/main" id="{2CA4E498-EE2E-4752-9891-54D92910E65B}"/>
              </a:ext>
            </a:extLst>
          </p:cNvPr>
          <p:cNvSpPr/>
          <p:nvPr/>
        </p:nvSpPr>
        <p:spPr bwMode="gray">
          <a:xfrm>
            <a:off x="7956504"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1855358" y="285009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汇聚层网络设计</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4919285"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4919285" y="2849178"/>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1855358" y="2360212"/>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核心层网络设计</a:t>
            </a:r>
          </a:p>
        </p:txBody>
      </p:sp>
      <p:sp>
        <p:nvSpPr>
          <p:cNvPr id="19" name="圆角矩形 9">
            <a:extLst>
              <a:ext uri="{FF2B5EF4-FFF2-40B4-BE49-F238E27FC236}">
                <a16:creationId xmlns="" xmlns:a16="http://schemas.microsoft.com/office/drawing/2014/main" id="{6DAE6423-B762-4292-B9DC-A0280945615F}"/>
              </a:ext>
            </a:extLst>
          </p:cNvPr>
          <p:cNvSpPr/>
          <p:nvPr/>
        </p:nvSpPr>
        <p:spPr bwMode="gray">
          <a:xfrm>
            <a:off x="7744886"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20" name="圆角矩形 10">
            <a:extLst>
              <a:ext uri="{FF2B5EF4-FFF2-40B4-BE49-F238E27FC236}">
                <a16:creationId xmlns="" xmlns:a16="http://schemas.microsoft.com/office/drawing/2014/main" id="{2FA2B477-5E62-4B43-A541-8BDE04177E22}"/>
              </a:ext>
            </a:extLst>
          </p:cNvPr>
          <p:cNvSpPr/>
          <p:nvPr/>
        </p:nvSpPr>
        <p:spPr bwMode="gray">
          <a:xfrm>
            <a:off x="774488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11">
            <a:extLst>
              <a:ext uri="{FF2B5EF4-FFF2-40B4-BE49-F238E27FC236}">
                <a16:creationId xmlns="" xmlns:a16="http://schemas.microsoft.com/office/drawing/2014/main" id="{8A74505C-59FB-4312-9169-44A2F07449E9}"/>
              </a:ext>
            </a:extLst>
          </p:cNvPr>
          <p:cNvSpPr/>
          <p:nvPr/>
        </p:nvSpPr>
        <p:spPr bwMode="gray">
          <a:xfrm>
            <a:off x="4919285" y="333814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规划</a:t>
            </a:r>
          </a:p>
        </p:txBody>
      </p:sp>
      <p:sp>
        <p:nvSpPr>
          <p:cNvPr id="2" name="Arrow: Down 1">
            <a:extLst>
              <a:ext uri="{FF2B5EF4-FFF2-40B4-BE49-F238E27FC236}">
                <a16:creationId xmlns="" xmlns:a16="http://schemas.microsoft.com/office/drawing/2014/main" id="{E2B7F71E-12BC-4E65-81DB-303E0895A9BD}"/>
              </a:ext>
            </a:extLst>
          </p:cNvPr>
          <p:cNvSpPr/>
          <p:nvPr/>
        </p:nvSpPr>
        <p:spPr bwMode="gray">
          <a:xfrm>
            <a:off x="2876498"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59251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09668B-6F69-4BA0-B900-F0E414C6A953}"/>
              </a:ext>
            </a:extLst>
          </p:cNvPr>
          <p:cNvSpPr>
            <a:spLocks noGrp="1"/>
          </p:cNvSpPr>
          <p:nvPr>
            <p:ph type="title"/>
          </p:nvPr>
        </p:nvSpPr>
        <p:spPr/>
        <p:txBody>
          <a:bodyPr/>
          <a:lstStyle/>
          <a:p>
            <a:r>
              <a:rPr lang="zh-CN" altLang="en-US"/>
              <a:t>核心层设计</a:t>
            </a:r>
            <a:endParaRPr lang="en-US" dirty="0"/>
          </a:p>
        </p:txBody>
      </p:sp>
      <p:sp>
        <p:nvSpPr>
          <p:cNvPr id="3" name="Text Placeholder 2">
            <a:extLst>
              <a:ext uri="{FF2B5EF4-FFF2-40B4-BE49-F238E27FC236}">
                <a16:creationId xmlns="" xmlns:a16="http://schemas.microsoft.com/office/drawing/2014/main" id="{7BAA7544-2500-41FD-861F-B592FE8F1FA9}"/>
              </a:ext>
            </a:extLst>
          </p:cNvPr>
          <p:cNvSpPr>
            <a:spLocks noGrp="1"/>
          </p:cNvSpPr>
          <p:nvPr>
            <p:ph type="body" sz="quarter" idx="10"/>
          </p:nvPr>
        </p:nvSpPr>
        <p:spPr>
          <a:xfrm>
            <a:off x="455612" y="1047750"/>
            <a:ext cx="11293475" cy="2189277"/>
          </a:xfrm>
        </p:spPr>
        <p:txBody>
          <a:bodyPr/>
          <a:lstStyle/>
          <a:p>
            <a:r>
              <a:rPr lang="zh-CN" altLang="en-US" sz="1800" dirty="0"/>
              <a:t>核心层是整个网络的中枢，承担各类业务流量汇聚并进行中转转发，核心节点的选择需要综合考虑如下三个要素：</a:t>
            </a:r>
            <a:endParaRPr lang="en-US" altLang="zh-CN" sz="1800" dirty="0"/>
          </a:p>
          <a:p>
            <a:pPr lvl="1"/>
            <a:r>
              <a:rPr lang="zh-CN" altLang="en-US" sz="1600" dirty="0"/>
              <a:t>业务量：需要综合考虑现有业务量情况，以及未来可预期的业务增长。</a:t>
            </a:r>
            <a:endParaRPr lang="en-US" altLang="zh-CN" sz="1600" dirty="0"/>
          </a:p>
          <a:p>
            <a:pPr lvl="1"/>
            <a:r>
              <a:rPr lang="zh-CN" altLang="en-US" sz="1600" dirty="0"/>
              <a:t>物理位置：核心节点是承载网的关键基础设施，必须保障其安全性、资源易获取性和易维护性。</a:t>
            </a:r>
            <a:endParaRPr lang="en-US" altLang="zh-CN" sz="1600" dirty="0"/>
          </a:p>
          <a:p>
            <a:pPr lvl="1"/>
            <a:r>
              <a:rPr lang="zh-CN" altLang="en-US" sz="1600" dirty="0"/>
              <a:t>节点数量：核心层通常采用</a:t>
            </a:r>
            <a:r>
              <a:rPr lang="en-US" altLang="zh-CN" sz="1600" dirty="0"/>
              <a:t>Full-mesh+</a:t>
            </a:r>
            <a:r>
              <a:rPr lang="zh-CN" altLang="en-US" sz="1600" dirty="0"/>
              <a:t>双平面架构，需要保持稳定性。</a:t>
            </a:r>
            <a:endParaRPr lang="en-US" sz="1600" dirty="0"/>
          </a:p>
        </p:txBody>
      </p:sp>
      <p:sp>
        <p:nvSpPr>
          <p:cNvPr id="4" name="五边形 2">
            <a:extLst>
              <a:ext uri="{FF2B5EF4-FFF2-40B4-BE49-F238E27FC236}">
                <a16:creationId xmlns="" xmlns:a16="http://schemas.microsoft.com/office/drawing/2014/main" id="{E69BE1C3-935D-4CF3-87E6-072B193534DE}"/>
              </a:ext>
            </a:extLst>
          </p:cNvPr>
          <p:cNvSpPr/>
          <p:nvPr/>
        </p:nvSpPr>
        <p:spPr bwMode="gray">
          <a:xfrm>
            <a:off x="795300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核心层设计</a:t>
            </a:r>
          </a:p>
        </p:txBody>
      </p:sp>
      <p:sp>
        <p:nvSpPr>
          <p:cNvPr id="5" name="燕尾形 3">
            <a:extLst>
              <a:ext uri="{FF2B5EF4-FFF2-40B4-BE49-F238E27FC236}">
                <a16:creationId xmlns="" xmlns:a16="http://schemas.microsoft.com/office/drawing/2014/main" id="{824BDE3E-06FA-48C0-BB18-C37FE75A90DC}"/>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接入层设计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C18D7869-06BE-427B-BC3D-BF3E73BE837B}"/>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汇聚层设计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48">
            <a:extLst>
              <a:ext uri="{FF2B5EF4-FFF2-40B4-BE49-F238E27FC236}">
                <a16:creationId xmlns="" xmlns:a16="http://schemas.microsoft.com/office/drawing/2014/main" id="{EF25158A-1671-433A-8606-DA5FB40CE6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72183" y="4054180"/>
            <a:ext cx="378863" cy="310667"/>
          </a:xfrm>
          <a:prstGeom prst="rect">
            <a:avLst/>
          </a:prstGeom>
        </p:spPr>
      </p:pic>
      <p:pic>
        <p:nvPicPr>
          <p:cNvPr id="10" name="图片 48">
            <a:extLst>
              <a:ext uri="{FF2B5EF4-FFF2-40B4-BE49-F238E27FC236}">
                <a16:creationId xmlns="" xmlns:a16="http://schemas.microsoft.com/office/drawing/2014/main" id="{AEC48EC6-6406-446D-82B2-F9E9A1E9BF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72183" y="4725044"/>
            <a:ext cx="378863" cy="310667"/>
          </a:xfrm>
          <a:prstGeom prst="rect">
            <a:avLst/>
          </a:prstGeom>
        </p:spPr>
      </p:pic>
      <p:pic>
        <p:nvPicPr>
          <p:cNvPr id="11" name="图片 48">
            <a:extLst>
              <a:ext uri="{FF2B5EF4-FFF2-40B4-BE49-F238E27FC236}">
                <a16:creationId xmlns="" xmlns:a16="http://schemas.microsoft.com/office/drawing/2014/main" id="{3B4ABDB8-631B-45EF-9EDB-716F8E4D7F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439522" y="3456175"/>
            <a:ext cx="378863" cy="310667"/>
          </a:xfrm>
          <a:prstGeom prst="rect">
            <a:avLst/>
          </a:prstGeom>
        </p:spPr>
      </p:pic>
      <p:pic>
        <p:nvPicPr>
          <p:cNvPr id="12" name="图片 48">
            <a:extLst>
              <a:ext uri="{FF2B5EF4-FFF2-40B4-BE49-F238E27FC236}">
                <a16:creationId xmlns="" xmlns:a16="http://schemas.microsoft.com/office/drawing/2014/main" id="{91D3909F-2FED-4031-9043-BA5DC3D76B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439522" y="4127039"/>
            <a:ext cx="378863" cy="310667"/>
          </a:xfrm>
          <a:prstGeom prst="rect">
            <a:avLst/>
          </a:prstGeom>
        </p:spPr>
      </p:pic>
      <p:pic>
        <p:nvPicPr>
          <p:cNvPr id="13" name="图片 48">
            <a:extLst>
              <a:ext uri="{FF2B5EF4-FFF2-40B4-BE49-F238E27FC236}">
                <a16:creationId xmlns="" xmlns:a16="http://schemas.microsoft.com/office/drawing/2014/main" id="{4D75D51C-E704-49E0-9DFA-60A9BA2CDA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683612" y="4054180"/>
            <a:ext cx="378863" cy="310667"/>
          </a:xfrm>
          <a:prstGeom prst="rect">
            <a:avLst/>
          </a:prstGeom>
        </p:spPr>
      </p:pic>
      <p:pic>
        <p:nvPicPr>
          <p:cNvPr id="14" name="图片 48">
            <a:extLst>
              <a:ext uri="{FF2B5EF4-FFF2-40B4-BE49-F238E27FC236}">
                <a16:creationId xmlns="" xmlns:a16="http://schemas.microsoft.com/office/drawing/2014/main" id="{AA051EC6-6C9B-499F-96BB-5FCFD1BF4A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683612" y="4725044"/>
            <a:ext cx="378863" cy="310667"/>
          </a:xfrm>
          <a:prstGeom prst="rect">
            <a:avLst/>
          </a:prstGeom>
        </p:spPr>
      </p:pic>
      <p:pic>
        <p:nvPicPr>
          <p:cNvPr id="15" name="图片 48">
            <a:extLst>
              <a:ext uri="{FF2B5EF4-FFF2-40B4-BE49-F238E27FC236}">
                <a16:creationId xmlns="" xmlns:a16="http://schemas.microsoft.com/office/drawing/2014/main" id="{1E278DC0-6E0F-4E56-9810-1FFA411582F3}"/>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222415" y="4991744"/>
            <a:ext cx="378863" cy="310667"/>
          </a:xfrm>
          <a:prstGeom prst="rect">
            <a:avLst/>
          </a:prstGeom>
        </p:spPr>
      </p:pic>
      <p:pic>
        <p:nvPicPr>
          <p:cNvPr id="16" name="图片 48">
            <a:extLst>
              <a:ext uri="{FF2B5EF4-FFF2-40B4-BE49-F238E27FC236}">
                <a16:creationId xmlns="" xmlns:a16="http://schemas.microsoft.com/office/drawing/2014/main" id="{F46B57AE-38BF-4600-9BE1-DBF03038E104}"/>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222415" y="5662608"/>
            <a:ext cx="378863" cy="310667"/>
          </a:xfrm>
          <a:prstGeom prst="rect">
            <a:avLst/>
          </a:prstGeom>
        </p:spPr>
      </p:pic>
      <p:cxnSp>
        <p:nvCxnSpPr>
          <p:cNvPr id="17" name="Straight Connector 16">
            <a:extLst>
              <a:ext uri="{FF2B5EF4-FFF2-40B4-BE49-F238E27FC236}">
                <a16:creationId xmlns="" xmlns:a16="http://schemas.microsoft.com/office/drawing/2014/main" id="{5567B0A2-CA08-4D27-B8BC-00DDF83DE677}"/>
              </a:ext>
            </a:extLst>
          </p:cNvPr>
          <p:cNvCxnSpPr>
            <a:cxnSpLocks/>
            <a:stCxn id="11" idx="1"/>
            <a:endCxn id="8" idx="3"/>
          </p:cNvCxnSpPr>
          <p:nvPr/>
        </p:nvCxnSpPr>
        <p:spPr bwMode="gray">
          <a:xfrm flipH="1">
            <a:off x="4151046" y="3611509"/>
            <a:ext cx="1288476" cy="5980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9D67A19E-98F5-416C-9A58-C9AD3107BF12}"/>
              </a:ext>
            </a:extLst>
          </p:cNvPr>
          <p:cNvCxnSpPr>
            <a:cxnSpLocks/>
            <a:stCxn id="10" idx="0"/>
            <a:endCxn id="8" idx="2"/>
          </p:cNvCxnSpPr>
          <p:nvPr/>
        </p:nvCxnSpPr>
        <p:spPr bwMode="gray">
          <a:xfrm flipV="1">
            <a:off x="3961615" y="4364847"/>
            <a:ext cx="0" cy="3601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C5FD0B60-3D11-4525-9592-FE2EB607C929}"/>
              </a:ext>
            </a:extLst>
          </p:cNvPr>
          <p:cNvCxnSpPr>
            <a:cxnSpLocks/>
            <a:stCxn id="12" idx="0"/>
            <a:endCxn id="11" idx="2"/>
          </p:cNvCxnSpPr>
          <p:nvPr/>
        </p:nvCxnSpPr>
        <p:spPr bwMode="gray">
          <a:xfrm flipV="1">
            <a:off x="5628954" y="3766842"/>
            <a:ext cx="0" cy="3601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3AF950DC-0AA6-4447-8A14-B814CF1D8155}"/>
              </a:ext>
            </a:extLst>
          </p:cNvPr>
          <p:cNvCxnSpPr>
            <a:cxnSpLocks/>
            <a:stCxn id="14" idx="0"/>
            <a:endCxn id="13" idx="2"/>
          </p:cNvCxnSpPr>
          <p:nvPr/>
        </p:nvCxnSpPr>
        <p:spPr bwMode="gray">
          <a:xfrm flipV="1">
            <a:off x="7873044" y="4364847"/>
            <a:ext cx="0" cy="3601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585212E7-E030-4522-B475-4B7FC0B9DF27}"/>
              </a:ext>
            </a:extLst>
          </p:cNvPr>
          <p:cNvCxnSpPr>
            <a:cxnSpLocks/>
            <a:stCxn id="12" idx="1"/>
            <a:endCxn id="10" idx="3"/>
          </p:cNvCxnSpPr>
          <p:nvPr/>
        </p:nvCxnSpPr>
        <p:spPr bwMode="gray">
          <a:xfrm flipH="1">
            <a:off x="4151046" y="4282373"/>
            <a:ext cx="1288476" cy="5980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2DAAC5E1-D7EA-4998-AC93-07E481D9A5F7}"/>
              </a:ext>
            </a:extLst>
          </p:cNvPr>
          <p:cNvCxnSpPr>
            <a:cxnSpLocks/>
            <a:stCxn id="11" idx="3"/>
            <a:endCxn id="13" idx="1"/>
          </p:cNvCxnSpPr>
          <p:nvPr/>
        </p:nvCxnSpPr>
        <p:spPr bwMode="gray">
          <a:xfrm>
            <a:off x="5818385" y="3611509"/>
            <a:ext cx="1865227" cy="5980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 xmlns:a16="http://schemas.microsoft.com/office/drawing/2014/main" id="{94291BCB-81A2-4B5F-8E22-7BF170855AD9}"/>
              </a:ext>
            </a:extLst>
          </p:cNvPr>
          <p:cNvCxnSpPr>
            <a:cxnSpLocks/>
            <a:stCxn id="12" idx="3"/>
            <a:endCxn id="14" idx="1"/>
          </p:cNvCxnSpPr>
          <p:nvPr/>
        </p:nvCxnSpPr>
        <p:spPr bwMode="gray">
          <a:xfrm>
            <a:off x="5818385" y="4282373"/>
            <a:ext cx="1865227" cy="5980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5EB4689F-9CBF-43F5-8952-2429CC4688D3}"/>
              </a:ext>
            </a:extLst>
          </p:cNvPr>
          <p:cNvCxnSpPr>
            <a:cxnSpLocks/>
            <a:stCxn id="8" idx="3"/>
            <a:endCxn id="13" idx="1"/>
          </p:cNvCxnSpPr>
          <p:nvPr/>
        </p:nvCxnSpPr>
        <p:spPr bwMode="gray">
          <a:xfrm>
            <a:off x="4151046" y="4209514"/>
            <a:ext cx="353256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 xmlns:a16="http://schemas.microsoft.com/office/drawing/2014/main" id="{C0CEB15B-E48D-4151-9340-A0025825BE85}"/>
              </a:ext>
            </a:extLst>
          </p:cNvPr>
          <p:cNvCxnSpPr>
            <a:cxnSpLocks/>
            <a:stCxn id="10" idx="3"/>
            <a:endCxn id="14" idx="1"/>
          </p:cNvCxnSpPr>
          <p:nvPr/>
        </p:nvCxnSpPr>
        <p:spPr bwMode="gray">
          <a:xfrm>
            <a:off x="4151046" y="4880378"/>
            <a:ext cx="353256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 xmlns:a16="http://schemas.microsoft.com/office/drawing/2014/main" id="{46D6AF44-AA48-4356-8131-B74C8591786C}"/>
              </a:ext>
            </a:extLst>
          </p:cNvPr>
          <p:cNvCxnSpPr>
            <a:cxnSpLocks/>
            <a:stCxn id="10" idx="3"/>
            <a:endCxn id="16" idx="1"/>
          </p:cNvCxnSpPr>
          <p:nvPr/>
        </p:nvCxnSpPr>
        <p:spPr bwMode="gray">
          <a:xfrm>
            <a:off x="4151046" y="4880378"/>
            <a:ext cx="2071369" cy="93756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78F59980-CACE-4C77-BC65-3A2580884FDE}"/>
              </a:ext>
            </a:extLst>
          </p:cNvPr>
          <p:cNvCxnSpPr>
            <a:cxnSpLocks/>
            <a:stCxn id="8" idx="3"/>
            <a:endCxn id="15" idx="1"/>
          </p:cNvCxnSpPr>
          <p:nvPr/>
        </p:nvCxnSpPr>
        <p:spPr bwMode="gray">
          <a:xfrm>
            <a:off x="4151046" y="4209514"/>
            <a:ext cx="2071369" cy="93756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458469E9-F429-4608-A9D4-1F125C4F3888}"/>
              </a:ext>
            </a:extLst>
          </p:cNvPr>
          <p:cNvCxnSpPr>
            <a:cxnSpLocks/>
            <a:stCxn id="15" idx="2"/>
            <a:endCxn id="16" idx="0"/>
          </p:cNvCxnSpPr>
          <p:nvPr/>
        </p:nvCxnSpPr>
        <p:spPr bwMode="gray">
          <a:xfrm>
            <a:off x="6411847" y="5302411"/>
            <a:ext cx="0" cy="360197"/>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79336F90-913F-48D0-AB57-45CC1E24106B}"/>
              </a:ext>
            </a:extLst>
          </p:cNvPr>
          <p:cNvCxnSpPr>
            <a:cxnSpLocks/>
            <a:stCxn id="15" idx="3"/>
            <a:endCxn id="13" idx="1"/>
          </p:cNvCxnSpPr>
          <p:nvPr/>
        </p:nvCxnSpPr>
        <p:spPr bwMode="gray">
          <a:xfrm flipV="1">
            <a:off x="6601278" y="4209514"/>
            <a:ext cx="1082334" cy="93756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A67BBB93-E850-4626-85DA-91153B7B83B6}"/>
              </a:ext>
            </a:extLst>
          </p:cNvPr>
          <p:cNvCxnSpPr>
            <a:cxnSpLocks/>
            <a:stCxn id="16" idx="3"/>
            <a:endCxn id="14" idx="1"/>
          </p:cNvCxnSpPr>
          <p:nvPr/>
        </p:nvCxnSpPr>
        <p:spPr bwMode="gray">
          <a:xfrm flipV="1">
            <a:off x="6601278" y="4880378"/>
            <a:ext cx="1082334" cy="93756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 xmlns:a16="http://schemas.microsoft.com/office/drawing/2014/main" id="{F4DD82E4-C024-4635-A256-614664D77F5B}"/>
              </a:ext>
            </a:extLst>
          </p:cNvPr>
          <p:cNvCxnSpPr>
            <a:cxnSpLocks/>
            <a:stCxn id="11" idx="2"/>
            <a:endCxn id="15" idx="0"/>
          </p:cNvCxnSpPr>
          <p:nvPr/>
        </p:nvCxnSpPr>
        <p:spPr bwMode="gray">
          <a:xfrm>
            <a:off x="5628954" y="3766842"/>
            <a:ext cx="782893" cy="1224902"/>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 xmlns:a16="http://schemas.microsoft.com/office/drawing/2014/main" id="{DA43C4D3-EFF7-4F06-A572-BF87EAE33E96}"/>
              </a:ext>
            </a:extLst>
          </p:cNvPr>
          <p:cNvCxnSpPr>
            <a:cxnSpLocks/>
            <a:stCxn id="12" idx="2"/>
            <a:endCxn id="16" idx="0"/>
          </p:cNvCxnSpPr>
          <p:nvPr/>
        </p:nvCxnSpPr>
        <p:spPr bwMode="gray">
          <a:xfrm>
            <a:off x="5628954" y="4437706"/>
            <a:ext cx="782893" cy="1224902"/>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5" name="圆角矩形 75">
            <a:extLst>
              <a:ext uri="{FF2B5EF4-FFF2-40B4-BE49-F238E27FC236}">
                <a16:creationId xmlns="" xmlns:a16="http://schemas.microsoft.com/office/drawing/2014/main" id="{6138054C-D681-4A97-949F-92D565B94FB6}"/>
              </a:ext>
            </a:extLst>
          </p:cNvPr>
          <p:cNvSpPr/>
          <p:nvPr/>
        </p:nvSpPr>
        <p:spPr bwMode="gray">
          <a:xfrm>
            <a:off x="3361429" y="3264931"/>
            <a:ext cx="5325217" cy="277692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6" name="TextBox 271">
            <a:extLst>
              <a:ext uri="{FF2B5EF4-FFF2-40B4-BE49-F238E27FC236}">
                <a16:creationId xmlns="" xmlns:a16="http://schemas.microsoft.com/office/drawing/2014/main" id="{06C7DC94-97D1-441A-89E3-CFFFB622214C}"/>
              </a:ext>
            </a:extLst>
          </p:cNvPr>
          <p:cNvSpPr txBox="1"/>
          <p:nvPr/>
        </p:nvSpPr>
        <p:spPr bwMode="gray">
          <a:xfrm rot="16200000">
            <a:off x="2857180" y="3613353"/>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67" name="TextBox 271">
            <a:extLst>
              <a:ext uri="{FF2B5EF4-FFF2-40B4-BE49-F238E27FC236}">
                <a16:creationId xmlns="" xmlns:a16="http://schemas.microsoft.com/office/drawing/2014/main" id="{2BE078D5-F0DC-4DEF-90E9-E2D3684DF08A}"/>
              </a:ext>
            </a:extLst>
          </p:cNvPr>
          <p:cNvSpPr txBox="1"/>
          <p:nvPr/>
        </p:nvSpPr>
        <p:spPr bwMode="gray">
          <a:xfrm>
            <a:off x="3631235" y="5063615"/>
            <a:ext cx="660758"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城市</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271">
            <a:extLst>
              <a:ext uri="{FF2B5EF4-FFF2-40B4-BE49-F238E27FC236}">
                <a16:creationId xmlns="" xmlns:a16="http://schemas.microsoft.com/office/drawing/2014/main" id="{ECCFB412-F602-4AA7-9B58-1639C386714D}"/>
              </a:ext>
            </a:extLst>
          </p:cNvPr>
          <p:cNvSpPr txBox="1"/>
          <p:nvPr/>
        </p:nvSpPr>
        <p:spPr bwMode="gray">
          <a:xfrm>
            <a:off x="7524371" y="5068373"/>
            <a:ext cx="660758"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城市</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271">
            <a:extLst>
              <a:ext uri="{FF2B5EF4-FFF2-40B4-BE49-F238E27FC236}">
                <a16:creationId xmlns="" xmlns:a16="http://schemas.microsoft.com/office/drawing/2014/main" id="{F11BDB1A-9F44-4DD0-B2B4-D7B274A07239}"/>
              </a:ext>
            </a:extLst>
          </p:cNvPr>
          <p:cNvSpPr txBox="1"/>
          <p:nvPr/>
        </p:nvSpPr>
        <p:spPr bwMode="gray">
          <a:xfrm>
            <a:off x="5806725" y="3313951"/>
            <a:ext cx="660758"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城市</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271">
            <a:extLst>
              <a:ext uri="{FF2B5EF4-FFF2-40B4-BE49-F238E27FC236}">
                <a16:creationId xmlns="" xmlns:a16="http://schemas.microsoft.com/office/drawing/2014/main" id="{126BAEEA-D5C9-480F-A47E-1ECA6172ACC2}"/>
              </a:ext>
            </a:extLst>
          </p:cNvPr>
          <p:cNvSpPr txBox="1"/>
          <p:nvPr/>
        </p:nvSpPr>
        <p:spPr bwMode="gray">
          <a:xfrm>
            <a:off x="6761662" y="5667515"/>
            <a:ext cx="902811"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新增站点</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120999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09668B-6F69-4BA0-B900-F0E414C6A953}"/>
              </a:ext>
            </a:extLst>
          </p:cNvPr>
          <p:cNvSpPr>
            <a:spLocks noGrp="1"/>
          </p:cNvSpPr>
          <p:nvPr>
            <p:ph type="title"/>
          </p:nvPr>
        </p:nvSpPr>
        <p:spPr/>
        <p:txBody>
          <a:bodyPr/>
          <a:lstStyle/>
          <a:p>
            <a:r>
              <a:rPr lang="zh-CN" altLang="en-US"/>
              <a:t>汇聚层设计</a:t>
            </a:r>
            <a:endParaRPr lang="en-US" dirty="0"/>
          </a:p>
        </p:txBody>
      </p:sp>
      <p:sp>
        <p:nvSpPr>
          <p:cNvPr id="3" name="Text Placeholder 2">
            <a:extLst>
              <a:ext uri="{FF2B5EF4-FFF2-40B4-BE49-F238E27FC236}">
                <a16:creationId xmlns="" xmlns:a16="http://schemas.microsoft.com/office/drawing/2014/main" id="{7BAA7544-2500-41FD-861F-B592FE8F1FA9}"/>
              </a:ext>
            </a:extLst>
          </p:cNvPr>
          <p:cNvSpPr>
            <a:spLocks noGrp="1"/>
          </p:cNvSpPr>
          <p:nvPr>
            <p:ph type="body" sz="quarter" idx="10"/>
          </p:nvPr>
        </p:nvSpPr>
        <p:spPr>
          <a:xfrm>
            <a:off x="455612" y="1047750"/>
            <a:ext cx="11293475" cy="2131019"/>
          </a:xfrm>
        </p:spPr>
        <p:txBody>
          <a:bodyPr/>
          <a:lstStyle/>
          <a:p>
            <a:r>
              <a:rPr lang="zh-CN" altLang="en-US" sz="1800" dirty="0"/>
              <a:t>汇聚层设计要综合考虑各个汇聚点的业务类型和业务量，在规划承载网建设初期，可基于企业现有业务情况来规划，例如以下三种汇聚模式：</a:t>
            </a:r>
            <a:endParaRPr lang="en-US" altLang="zh-CN" sz="1800" dirty="0"/>
          </a:p>
          <a:p>
            <a:pPr lvl="1"/>
            <a:r>
              <a:rPr lang="zh-CN" altLang="en-US" sz="1600" dirty="0"/>
              <a:t>数据中心汇聚（</a:t>
            </a:r>
            <a:r>
              <a:rPr lang="en-US" altLang="zh-CN" sz="1600" dirty="0"/>
              <a:t>DC-PE</a:t>
            </a:r>
            <a:r>
              <a:rPr lang="zh-CN" altLang="en-US" sz="1600" dirty="0"/>
              <a:t>）：用于汇聚企业内数据中心、业务中心等给总公司提供服务的业务单元。</a:t>
            </a:r>
          </a:p>
          <a:p>
            <a:pPr lvl="1"/>
            <a:r>
              <a:rPr lang="zh-CN" altLang="en-US" sz="1600" dirty="0"/>
              <a:t>城域汇聚（</a:t>
            </a:r>
            <a:r>
              <a:rPr lang="en-US" altLang="zh-CN" sz="1600" dirty="0"/>
              <a:t>MAN-PE</a:t>
            </a:r>
            <a:r>
              <a:rPr lang="zh-CN" altLang="en-US" sz="1600" dirty="0"/>
              <a:t>）：用于汇聚同城机构、附属机构等城域业务。</a:t>
            </a:r>
          </a:p>
          <a:p>
            <a:pPr lvl="1"/>
            <a:r>
              <a:rPr lang="zh-CN" altLang="en-US" sz="1600" dirty="0"/>
              <a:t>分支汇聚（</a:t>
            </a:r>
            <a:r>
              <a:rPr lang="en-US" altLang="zh-CN" sz="1600" dirty="0"/>
              <a:t>BR-PE</a:t>
            </a:r>
            <a:r>
              <a:rPr lang="zh-CN" altLang="en-US" sz="1600" dirty="0"/>
              <a:t>）：用于汇聚分公司及省级城域机构、附属机构业务。</a:t>
            </a:r>
          </a:p>
          <a:p>
            <a:pPr lvl="1"/>
            <a:endParaRPr lang="en-US" sz="1600" dirty="0"/>
          </a:p>
        </p:txBody>
      </p:sp>
      <p:sp>
        <p:nvSpPr>
          <p:cNvPr id="4" name="五边形 2">
            <a:extLst>
              <a:ext uri="{FF2B5EF4-FFF2-40B4-BE49-F238E27FC236}">
                <a16:creationId xmlns="" xmlns:a16="http://schemas.microsoft.com/office/drawing/2014/main" id="{E69BE1C3-935D-4CF3-87E6-072B193534DE}"/>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核心层设计</a:t>
            </a:r>
          </a:p>
        </p:txBody>
      </p:sp>
      <p:sp>
        <p:nvSpPr>
          <p:cNvPr id="5" name="燕尾形 3">
            <a:extLst>
              <a:ext uri="{FF2B5EF4-FFF2-40B4-BE49-F238E27FC236}">
                <a16:creationId xmlns="" xmlns:a16="http://schemas.microsoft.com/office/drawing/2014/main" id="{824BDE3E-06FA-48C0-BB18-C37FE75A90DC}"/>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接入层设计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C18D7869-06BE-427B-BC3D-BF3E73BE837B}"/>
              </a:ext>
            </a:extLst>
          </p:cNvPr>
          <p:cNvSpPr/>
          <p:nvPr/>
        </p:nvSpPr>
        <p:spPr bwMode="gray">
          <a:xfrm>
            <a:off x="9072406" y="44020"/>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汇聚层设计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a:extLst>
              <a:ext uri="{FF2B5EF4-FFF2-40B4-BE49-F238E27FC236}">
                <a16:creationId xmlns="" xmlns:a16="http://schemas.microsoft.com/office/drawing/2014/main" id="{3741C0DE-886A-4B4D-AF50-9DFF2BBB7252}"/>
              </a:ext>
            </a:extLst>
          </p:cNvPr>
          <p:cNvSpPr/>
          <p:nvPr/>
        </p:nvSpPr>
        <p:spPr bwMode="gray">
          <a:xfrm>
            <a:off x="641864" y="3281407"/>
            <a:ext cx="357580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模型一：</a:t>
            </a:r>
            <a:r>
              <a:rPr lang="en-US" altLang="zh-CN" sz="1600" dirty="0">
                <a:solidFill>
                  <a:srgbClr val="30B5C5"/>
                </a:solidFill>
                <a:latin typeface="Huawei Sans" panose="020C0503030203020204" pitchFamily="34" charset="0"/>
                <a:ea typeface="方正兰亭黑简体" panose="02000000000000000000" pitchFamily="2" charset="-122"/>
              </a:rPr>
              <a:t>DC/</a:t>
            </a:r>
            <a:r>
              <a:rPr lang="zh-CN" altLang="en-US" sz="1600" dirty="0">
                <a:solidFill>
                  <a:srgbClr val="30B5C5"/>
                </a:solidFill>
                <a:latin typeface="Huawei Sans" panose="020C0503030203020204" pitchFamily="34" charset="0"/>
                <a:ea typeface="方正兰亭黑简体" panose="02000000000000000000" pitchFamily="2" charset="-122"/>
              </a:rPr>
              <a:t>业务中心汇聚</a:t>
            </a:r>
          </a:p>
        </p:txBody>
      </p:sp>
      <p:sp>
        <p:nvSpPr>
          <p:cNvPr id="9" name="圆角矩形 75">
            <a:extLst>
              <a:ext uri="{FF2B5EF4-FFF2-40B4-BE49-F238E27FC236}">
                <a16:creationId xmlns="" xmlns:a16="http://schemas.microsoft.com/office/drawing/2014/main" id="{D97353FE-60CB-4FD0-802B-39BA1C3A82F7}"/>
              </a:ext>
            </a:extLst>
          </p:cNvPr>
          <p:cNvSpPr/>
          <p:nvPr/>
        </p:nvSpPr>
        <p:spPr bwMode="gray">
          <a:xfrm>
            <a:off x="641864" y="3721184"/>
            <a:ext cx="3575806" cy="24283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圆角矩形 75">
            <a:extLst>
              <a:ext uri="{FF2B5EF4-FFF2-40B4-BE49-F238E27FC236}">
                <a16:creationId xmlns="" xmlns:a16="http://schemas.microsoft.com/office/drawing/2014/main" id="{D6E3914F-B74A-413E-9C74-B4C536A1C5FC}"/>
              </a:ext>
            </a:extLst>
          </p:cNvPr>
          <p:cNvSpPr/>
          <p:nvPr/>
        </p:nvSpPr>
        <p:spPr bwMode="gray">
          <a:xfrm>
            <a:off x="4308097" y="3281407"/>
            <a:ext cx="357580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模型二：同城城域汇聚</a:t>
            </a:r>
          </a:p>
        </p:txBody>
      </p:sp>
      <p:sp>
        <p:nvSpPr>
          <p:cNvPr id="13" name="圆角矩形 75">
            <a:extLst>
              <a:ext uri="{FF2B5EF4-FFF2-40B4-BE49-F238E27FC236}">
                <a16:creationId xmlns="" xmlns:a16="http://schemas.microsoft.com/office/drawing/2014/main" id="{784B7F70-A9D0-4D85-8245-AB8B2B0E9670}"/>
              </a:ext>
            </a:extLst>
          </p:cNvPr>
          <p:cNvSpPr/>
          <p:nvPr/>
        </p:nvSpPr>
        <p:spPr bwMode="gray">
          <a:xfrm>
            <a:off x="4308097" y="3721184"/>
            <a:ext cx="3575806" cy="24283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 name="圆角矩形 75">
            <a:extLst>
              <a:ext uri="{FF2B5EF4-FFF2-40B4-BE49-F238E27FC236}">
                <a16:creationId xmlns="" xmlns:a16="http://schemas.microsoft.com/office/drawing/2014/main" id="{40DDE469-BAE6-4BD2-8EF7-F4B047688A8E}"/>
              </a:ext>
            </a:extLst>
          </p:cNvPr>
          <p:cNvSpPr/>
          <p:nvPr/>
        </p:nvSpPr>
        <p:spPr bwMode="gray">
          <a:xfrm>
            <a:off x="7974330" y="3276398"/>
            <a:ext cx="357580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模型三：区域分支汇聚</a:t>
            </a:r>
          </a:p>
        </p:txBody>
      </p:sp>
      <p:sp>
        <p:nvSpPr>
          <p:cNvPr id="15" name="圆角矩形 75">
            <a:extLst>
              <a:ext uri="{FF2B5EF4-FFF2-40B4-BE49-F238E27FC236}">
                <a16:creationId xmlns="" xmlns:a16="http://schemas.microsoft.com/office/drawing/2014/main" id="{90D32919-7016-474E-9E46-3FECDBC3CDEF}"/>
              </a:ext>
            </a:extLst>
          </p:cNvPr>
          <p:cNvSpPr/>
          <p:nvPr/>
        </p:nvSpPr>
        <p:spPr bwMode="gray">
          <a:xfrm>
            <a:off x="7974330" y="3716175"/>
            <a:ext cx="3575806" cy="24283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33" name="Group 32">
            <a:extLst>
              <a:ext uri="{FF2B5EF4-FFF2-40B4-BE49-F238E27FC236}">
                <a16:creationId xmlns="" xmlns:a16="http://schemas.microsoft.com/office/drawing/2014/main" id="{B9716512-7610-4384-AC5B-5FF8B12EF33B}"/>
              </a:ext>
            </a:extLst>
          </p:cNvPr>
          <p:cNvGrpSpPr/>
          <p:nvPr/>
        </p:nvGrpSpPr>
        <p:grpSpPr bwMode="gray">
          <a:xfrm>
            <a:off x="714418" y="3850334"/>
            <a:ext cx="3427120" cy="2183653"/>
            <a:chOff x="747076" y="3813872"/>
            <a:chExt cx="3427120" cy="2183653"/>
          </a:xfrm>
        </p:grpSpPr>
        <p:sp>
          <p:nvSpPr>
            <p:cNvPr id="29" name="Rectangle 28">
              <a:extLst>
                <a:ext uri="{FF2B5EF4-FFF2-40B4-BE49-F238E27FC236}">
                  <a16:creationId xmlns="" xmlns:a16="http://schemas.microsoft.com/office/drawing/2014/main" id="{06D2914E-2179-450E-8FE3-C9F3060F3C41}"/>
                </a:ext>
              </a:extLst>
            </p:cNvPr>
            <p:cNvSpPr/>
            <p:nvPr/>
          </p:nvSpPr>
          <p:spPr bwMode="gray">
            <a:xfrm>
              <a:off x="747076" y="3813872"/>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核心层</a:t>
              </a:r>
              <a:endParaRPr lang="en-US" sz="1600" dirty="0">
                <a:solidFill>
                  <a:schemeClr val="tx1"/>
                </a:solidFill>
              </a:endParaRPr>
            </a:p>
          </p:txBody>
        </p:sp>
        <p:sp>
          <p:nvSpPr>
            <p:cNvPr id="30" name="Rectangle 29">
              <a:extLst>
                <a:ext uri="{FF2B5EF4-FFF2-40B4-BE49-F238E27FC236}">
                  <a16:creationId xmlns="" xmlns:a16="http://schemas.microsoft.com/office/drawing/2014/main" id="{1C20190B-7A1E-4E40-89B0-255A99F6736D}"/>
                </a:ext>
              </a:extLst>
            </p:cNvPr>
            <p:cNvSpPr/>
            <p:nvPr/>
          </p:nvSpPr>
          <p:spPr bwMode="gray">
            <a:xfrm>
              <a:off x="747076" y="4501441"/>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汇聚层</a:t>
              </a:r>
              <a:endParaRPr lang="en-US" sz="1600" dirty="0">
                <a:solidFill>
                  <a:schemeClr val="tx1"/>
                </a:solidFill>
              </a:endParaRPr>
            </a:p>
          </p:txBody>
        </p:sp>
        <p:sp>
          <p:nvSpPr>
            <p:cNvPr id="31" name="Rectangle 30">
              <a:extLst>
                <a:ext uri="{FF2B5EF4-FFF2-40B4-BE49-F238E27FC236}">
                  <a16:creationId xmlns="" xmlns:a16="http://schemas.microsoft.com/office/drawing/2014/main" id="{1B0EE249-9158-4FD7-BFF0-A8084C5367D2}"/>
                </a:ext>
              </a:extLst>
            </p:cNvPr>
            <p:cNvSpPr/>
            <p:nvPr/>
          </p:nvSpPr>
          <p:spPr bwMode="gray">
            <a:xfrm>
              <a:off x="747076" y="5424256"/>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接入层</a:t>
              </a:r>
              <a:endParaRPr lang="en-US" sz="1600" dirty="0">
                <a:solidFill>
                  <a:schemeClr val="tx1"/>
                </a:solidFill>
              </a:endParaRPr>
            </a:p>
          </p:txBody>
        </p:sp>
        <p:sp>
          <p:nvSpPr>
            <p:cNvPr id="16" name="Rectangle: Rounded Corners 15">
              <a:extLst>
                <a:ext uri="{FF2B5EF4-FFF2-40B4-BE49-F238E27FC236}">
                  <a16:creationId xmlns="" xmlns:a16="http://schemas.microsoft.com/office/drawing/2014/main" id="{7E0BEDE0-8E60-4F77-BF46-E02DA9216D8D}"/>
                </a:ext>
              </a:extLst>
            </p:cNvPr>
            <p:cNvSpPr/>
            <p:nvPr/>
          </p:nvSpPr>
          <p:spPr bwMode="gray">
            <a:xfrm>
              <a:off x="2224186" y="3938583"/>
              <a:ext cx="1256758"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核心层</a:t>
              </a:r>
              <a:endParaRPr lang="en-US" sz="1400" dirty="0">
                <a:solidFill>
                  <a:schemeClr val="tx1"/>
                </a:solidFill>
              </a:endParaRPr>
            </a:p>
          </p:txBody>
        </p:sp>
        <p:sp>
          <p:nvSpPr>
            <p:cNvPr id="17" name="Rectangle: Rounded Corners 16">
              <a:extLst>
                <a:ext uri="{FF2B5EF4-FFF2-40B4-BE49-F238E27FC236}">
                  <a16:creationId xmlns="" xmlns:a16="http://schemas.microsoft.com/office/drawing/2014/main" id="{A59DC952-9E71-4DA3-B946-A84713F3221C}"/>
                </a:ext>
              </a:extLst>
            </p:cNvPr>
            <p:cNvSpPr/>
            <p:nvPr/>
          </p:nvSpPr>
          <p:spPr bwMode="gray">
            <a:xfrm>
              <a:off x="2224186" y="4633705"/>
              <a:ext cx="1256758"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DC</a:t>
              </a:r>
              <a:r>
                <a:rPr lang="zh-CN" altLang="en-US" sz="1400" dirty="0">
                  <a:solidFill>
                    <a:schemeClr val="tx1"/>
                  </a:solidFill>
                </a:rPr>
                <a:t>汇聚</a:t>
              </a:r>
              <a:endParaRPr lang="en-US" sz="1400" dirty="0">
                <a:solidFill>
                  <a:schemeClr val="tx1"/>
                </a:solidFill>
              </a:endParaRPr>
            </a:p>
          </p:txBody>
        </p:sp>
        <p:sp>
          <p:nvSpPr>
            <p:cNvPr id="18" name="Rectangle: Rounded Corners 17">
              <a:extLst>
                <a:ext uri="{FF2B5EF4-FFF2-40B4-BE49-F238E27FC236}">
                  <a16:creationId xmlns="" xmlns:a16="http://schemas.microsoft.com/office/drawing/2014/main" id="{CCFAC032-B73D-4060-ABC3-7B10DE2D31EA}"/>
                </a:ext>
              </a:extLst>
            </p:cNvPr>
            <p:cNvSpPr/>
            <p:nvPr/>
          </p:nvSpPr>
          <p:spPr bwMode="gray">
            <a:xfrm>
              <a:off x="1583817" y="5534316"/>
              <a:ext cx="1134670"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数据中心</a:t>
              </a:r>
              <a:endParaRPr lang="en-US" sz="1400" dirty="0">
                <a:solidFill>
                  <a:schemeClr val="tx1"/>
                </a:solidFill>
              </a:endParaRPr>
            </a:p>
          </p:txBody>
        </p:sp>
        <p:sp>
          <p:nvSpPr>
            <p:cNvPr id="19" name="Rectangle: Rounded Corners 18">
              <a:extLst>
                <a:ext uri="{FF2B5EF4-FFF2-40B4-BE49-F238E27FC236}">
                  <a16:creationId xmlns="" xmlns:a16="http://schemas.microsoft.com/office/drawing/2014/main" id="{9C9FD190-CBEB-4FBE-BB57-A415E34B6DE0}"/>
                </a:ext>
              </a:extLst>
            </p:cNvPr>
            <p:cNvSpPr/>
            <p:nvPr/>
          </p:nvSpPr>
          <p:spPr bwMode="gray">
            <a:xfrm>
              <a:off x="3039526" y="5534316"/>
              <a:ext cx="1134670"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业务中心</a:t>
              </a:r>
              <a:endParaRPr lang="en-US" sz="1400" dirty="0">
                <a:solidFill>
                  <a:schemeClr val="tx1"/>
                </a:solidFill>
              </a:endParaRPr>
            </a:p>
          </p:txBody>
        </p:sp>
        <p:cxnSp>
          <p:nvCxnSpPr>
            <p:cNvPr id="20" name="Straight Connector 19">
              <a:extLst>
                <a:ext uri="{FF2B5EF4-FFF2-40B4-BE49-F238E27FC236}">
                  <a16:creationId xmlns="" xmlns:a16="http://schemas.microsoft.com/office/drawing/2014/main" id="{A3C29E3E-0363-4CC2-85B1-1EFF27D922DE}"/>
                </a:ext>
              </a:extLst>
            </p:cNvPr>
            <p:cNvCxnSpPr>
              <a:cxnSpLocks/>
              <a:stCxn id="16" idx="2"/>
              <a:endCxn id="17" idx="0"/>
            </p:cNvCxnSpPr>
            <p:nvPr/>
          </p:nvCxnSpPr>
          <p:spPr bwMode="gray">
            <a:xfrm>
              <a:off x="2852565" y="4265925"/>
              <a:ext cx="0" cy="3677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A744310D-67D5-45A7-94D4-D11FF64A5F5B}"/>
                </a:ext>
              </a:extLst>
            </p:cNvPr>
            <p:cNvCxnSpPr>
              <a:cxnSpLocks/>
              <a:stCxn id="17" idx="2"/>
              <a:endCxn id="18" idx="0"/>
            </p:cNvCxnSpPr>
            <p:nvPr/>
          </p:nvCxnSpPr>
          <p:spPr bwMode="gray">
            <a:xfrm flipH="1">
              <a:off x="2151152" y="4961047"/>
              <a:ext cx="701413" cy="5732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F10E1B42-5911-47DA-AD11-B0D25BE5B919}"/>
                </a:ext>
              </a:extLst>
            </p:cNvPr>
            <p:cNvCxnSpPr>
              <a:cxnSpLocks/>
              <a:stCxn id="17" idx="2"/>
              <a:endCxn id="19" idx="0"/>
            </p:cNvCxnSpPr>
            <p:nvPr/>
          </p:nvCxnSpPr>
          <p:spPr bwMode="gray">
            <a:xfrm>
              <a:off x="2852565" y="4961047"/>
              <a:ext cx="754296" cy="5732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 xmlns:a16="http://schemas.microsoft.com/office/drawing/2014/main" id="{8FAE83B0-F491-4816-B670-A7A89E933D9A}"/>
                </a:ext>
              </a:extLst>
            </p:cNvPr>
            <p:cNvSpPr txBox="1"/>
            <p:nvPr/>
          </p:nvSpPr>
          <p:spPr bwMode="gray">
            <a:xfrm>
              <a:off x="2709558" y="5455774"/>
              <a:ext cx="343364" cy="369332"/>
            </a:xfrm>
            <a:prstGeom prst="rect">
              <a:avLst/>
            </a:prstGeom>
            <a:noFill/>
          </p:spPr>
          <p:txBody>
            <a:bodyPr wrap="none" rtlCol="0">
              <a:spAutoFit/>
            </a:bodyPr>
            <a:lstStyle/>
            <a:p>
              <a:r>
                <a:rPr lang="en-US" altLang="zh-CN" dirty="0"/>
                <a:t>…</a:t>
              </a:r>
              <a:endParaRPr lang="en-US" dirty="0"/>
            </a:p>
          </p:txBody>
        </p:sp>
      </p:grpSp>
      <p:grpSp>
        <p:nvGrpSpPr>
          <p:cNvPr id="34" name="Group 33">
            <a:extLst>
              <a:ext uri="{FF2B5EF4-FFF2-40B4-BE49-F238E27FC236}">
                <a16:creationId xmlns="" xmlns:a16="http://schemas.microsoft.com/office/drawing/2014/main" id="{857FA95A-4C4F-4B53-9DDC-AC228A8164DE}"/>
              </a:ext>
            </a:extLst>
          </p:cNvPr>
          <p:cNvGrpSpPr/>
          <p:nvPr/>
        </p:nvGrpSpPr>
        <p:grpSpPr bwMode="gray">
          <a:xfrm>
            <a:off x="8037796" y="3840798"/>
            <a:ext cx="3427120" cy="2183653"/>
            <a:chOff x="747076" y="3813872"/>
            <a:chExt cx="3427120" cy="2183653"/>
          </a:xfrm>
        </p:grpSpPr>
        <p:sp>
          <p:nvSpPr>
            <p:cNvPr id="35" name="Rectangle 34">
              <a:extLst>
                <a:ext uri="{FF2B5EF4-FFF2-40B4-BE49-F238E27FC236}">
                  <a16:creationId xmlns="" xmlns:a16="http://schemas.microsoft.com/office/drawing/2014/main" id="{5142E002-859E-4366-9889-23C6DA4EE19C}"/>
                </a:ext>
              </a:extLst>
            </p:cNvPr>
            <p:cNvSpPr/>
            <p:nvPr/>
          </p:nvSpPr>
          <p:spPr bwMode="gray">
            <a:xfrm>
              <a:off x="747076" y="3813872"/>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核心层</a:t>
              </a:r>
              <a:endParaRPr lang="en-US" sz="1600" dirty="0">
                <a:solidFill>
                  <a:schemeClr val="tx1"/>
                </a:solidFill>
              </a:endParaRPr>
            </a:p>
          </p:txBody>
        </p:sp>
        <p:sp>
          <p:nvSpPr>
            <p:cNvPr id="36" name="Rectangle 35">
              <a:extLst>
                <a:ext uri="{FF2B5EF4-FFF2-40B4-BE49-F238E27FC236}">
                  <a16:creationId xmlns="" xmlns:a16="http://schemas.microsoft.com/office/drawing/2014/main" id="{18C35BF6-0D01-4EC4-9F24-9F9C3391F932}"/>
                </a:ext>
              </a:extLst>
            </p:cNvPr>
            <p:cNvSpPr/>
            <p:nvPr/>
          </p:nvSpPr>
          <p:spPr bwMode="gray">
            <a:xfrm>
              <a:off x="747076" y="4501441"/>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汇聚层</a:t>
              </a:r>
              <a:endParaRPr lang="en-US" sz="1600" dirty="0">
                <a:solidFill>
                  <a:schemeClr val="tx1"/>
                </a:solidFill>
              </a:endParaRPr>
            </a:p>
          </p:txBody>
        </p:sp>
        <p:sp>
          <p:nvSpPr>
            <p:cNvPr id="37" name="Rectangle 36">
              <a:extLst>
                <a:ext uri="{FF2B5EF4-FFF2-40B4-BE49-F238E27FC236}">
                  <a16:creationId xmlns="" xmlns:a16="http://schemas.microsoft.com/office/drawing/2014/main" id="{EC13F727-949F-4C22-8621-121A88A3891F}"/>
                </a:ext>
              </a:extLst>
            </p:cNvPr>
            <p:cNvSpPr/>
            <p:nvPr/>
          </p:nvSpPr>
          <p:spPr bwMode="gray">
            <a:xfrm>
              <a:off x="747076" y="5424256"/>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接入层</a:t>
              </a:r>
              <a:endParaRPr lang="en-US" sz="1600" dirty="0">
                <a:solidFill>
                  <a:schemeClr val="tx1"/>
                </a:solidFill>
              </a:endParaRPr>
            </a:p>
          </p:txBody>
        </p:sp>
        <p:sp>
          <p:nvSpPr>
            <p:cNvPr id="38" name="Rectangle: Rounded Corners 37">
              <a:extLst>
                <a:ext uri="{FF2B5EF4-FFF2-40B4-BE49-F238E27FC236}">
                  <a16:creationId xmlns="" xmlns:a16="http://schemas.microsoft.com/office/drawing/2014/main" id="{46EABC90-6F3A-40EA-AC80-7164929839E8}"/>
                </a:ext>
              </a:extLst>
            </p:cNvPr>
            <p:cNvSpPr/>
            <p:nvPr/>
          </p:nvSpPr>
          <p:spPr bwMode="gray">
            <a:xfrm>
              <a:off x="2224186" y="3938583"/>
              <a:ext cx="1256758"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核心层</a:t>
              </a:r>
              <a:endParaRPr lang="en-US" sz="1400" dirty="0">
                <a:solidFill>
                  <a:schemeClr val="tx1"/>
                </a:solidFill>
              </a:endParaRPr>
            </a:p>
          </p:txBody>
        </p:sp>
        <p:sp>
          <p:nvSpPr>
            <p:cNvPr id="39" name="Rectangle: Rounded Corners 38">
              <a:extLst>
                <a:ext uri="{FF2B5EF4-FFF2-40B4-BE49-F238E27FC236}">
                  <a16:creationId xmlns="" xmlns:a16="http://schemas.microsoft.com/office/drawing/2014/main" id="{FB7DBBB6-7A36-4EBA-A37B-C9AA63F71ECD}"/>
                </a:ext>
              </a:extLst>
            </p:cNvPr>
            <p:cNvSpPr/>
            <p:nvPr/>
          </p:nvSpPr>
          <p:spPr bwMode="gray">
            <a:xfrm>
              <a:off x="2224186" y="4633705"/>
              <a:ext cx="1256758"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BR</a:t>
              </a:r>
              <a:r>
                <a:rPr lang="zh-CN" altLang="en-US" sz="1400" dirty="0">
                  <a:solidFill>
                    <a:schemeClr val="tx1"/>
                  </a:solidFill>
                </a:rPr>
                <a:t>汇聚</a:t>
              </a:r>
              <a:endParaRPr lang="en-US" sz="1400" dirty="0">
                <a:solidFill>
                  <a:schemeClr val="tx1"/>
                </a:solidFill>
              </a:endParaRPr>
            </a:p>
          </p:txBody>
        </p:sp>
        <p:sp>
          <p:nvSpPr>
            <p:cNvPr id="40" name="Rectangle: Rounded Corners 39">
              <a:extLst>
                <a:ext uri="{FF2B5EF4-FFF2-40B4-BE49-F238E27FC236}">
                  <a16:creationId xmlns="" xmlns:a16="http://schemas.microsoft.com/office/drawing/2014/main" id="{A8D4811E-B135-4D15-AEC9-5ACAC92D2AAD}"/>
                </a:ext>
              </a:extLst>
            </p:cNvPr>
            <p:cNvSpPr/>
            <p:nvPr/>
          </p:nvSpPr>
          <p:spPr bwMode="gray">
            <a:xfrm>
              <a:off x="1583817" y="5534316"/>
              <a:ext cx="1134670"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区域公司</a:t>
              </a:r>
              <a:endParaRPr lang="en-US" sz="1400" dirty="0">
                <a:solidFill>
                  <a:schemeClr val="tx1"/>
                </a:solidFill>
              </a:endParaRPr>
            </a:p>
          </p:txBody>
        </p:sp>
        <p:sp>
          <p:nvSpPr>
            <p:cNvPr id="41" name="Rectangle: Rounded Corners 40">
              <a:extLst>
                <a:ext uri="{FF2B5EF4-FFF2-40B4-BE49-F238E27FC236}">
                  <a16:creationId xmlns="" xmlns:a16="http://schemas.microsoft.com/office/drawing/2014/main" id="{22EA6866-50CC-4FBC-921F-9FAE21AC52DA}"/>
                </a:ext>
              </a:extLst>
            </p:cNvPr>
            <p:cNvSpPr/>
            <p:nvPr/>
          </p:nvSpPr>
          <p:spPr bwMode="gray">
            <a:xfrm>
              <a:off x="3039526" y="5534316"/>
              <a:ext cx="1134670"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附属机构</a:t>
              </a:r>
              <a:endParaRPr lang="en-US" sz="1400" dirty="0">
                <a:solidFill>
                  <a:schemeClr val="tx1"/>
                </a:solidFill>
              </a:endParaRPr>
            </a:p>
          </p:txBody>
        </p:sp>
        <p:cxnSp>
          <p:nvCxnSpPr>
            <p:cNvPr id="42" name="Straight Connector 41">
              <a:extLst>
                <a:ext uri="{FF2B5EF4-FFF2-40B4-BE49-F238E27FC236}">
                  <a16:creationId xmlns="" xmlns:a16="http://schemas.microsoft.com/office/drawing/2014/main" id="{12BBE8AD-EF7D-473D-B45E-EB6A8F449D9C}"/>
                </a:ext>
              </a:extLst>
            </p:cNvPr>
            <p:cNvCxnSpPr>
              <a:cxnSpLocks/>
              <a:stCxn id="38" idx="2"/>
              <a:endCxn id="39" idx="0"/>
            </p:cNvCxnSpPr>
            <p:nvPr/>
          </p:nvCxnSpPr>
          <p:spPr bwMode="gray">
            <a:xfrm>
              <a:off x="2852565" y="4265925"/>
              <a:ext cx="0" cy="3677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 xmlns:a16="http://schemas.microsoft.com/office/drawing/2014/main" id="{62E525E0-F5AF-48FB-B782-98B15270B778}"/>
                </a:ext>
              </a:extLst>
            </p:cNvPr>
            <p:cNvCxnSpPr>
              <a:cxnSpLocks/>
              <a:stCxn id="39" idx="2"/>
              <a:endCxn id="40" idx="0"/>
            </p:cNvCxnSpPr>
            <p:nvPr/>
          </p:nvCxnSpPr>
          <p:spPr bwMode="gray">
            <a:xfrm flipH="1">
              <a:off x="2151152" y="4961047"/>
              <a:ext cx="701413" cy="5732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 xmlns:a16="http://schemas.microsoft.com/office/drawing/2014/main" id="{7CD6ADDE-7B91-47C4-89F1-1FB14FD21A4D}"/>
                </a:ext>
              </a:extLst>
            </p:cNvPr>
            <p:cNvCxnSpPr>
              <a:cxnSpLocks/>
              <a:stCxn id="39" idx="2"/>
              <a:endCxn id="41" idx="0"/>
            </p:cNvCxnSpPr>
            <p:nvPr/>
          </p:nvCxnSpPr>
          <p:spPr bwMode="gray">
            <a:xfrm>
              <a:off x="2852565" y="4961047"/>
              <a:ext cx="754296" cy="5732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 xmlns:a16="http://schemas.microsoft.com/office/drawing/2014/main" id="{D174EEFD-313E-4CFB-BD07-5DBB35E3E18A}"/>
                </a:ext>
              </a:extLst>
            </p:cNvPr>
            <p:cNvSpPr txBox="1"/>
            <p:nvPr/>
          </p:nvSpPr>
          <p:spPr bwMode="gray">
            <a:xfrm>
              <a:off x="2709558" y="5455774"/>
              <a:ext cx="343364" cy="369332"/>
            </a:xfrm>
            <a:prstGeom prst="rect">
              <a:avLst/>
            </a:prstGeom>
            <a:noFill/>
          </p:spPr>
          <p:txBody>
            <a:bodyPr wrap="none" rtlCol="0">
              <a:spAutoFit/>
            </a:bodyPr>
            <a:lstStyle/>
            <a:p>
              <a:r>
                <a:rPr lang="en-US" altLang="zh-CN" dirty="0"/>
                <a:t>…</a:t>
              </a:r>
              <a:endParaRPr lang="en-US" dirty="0"/>
            </a:p>
          </p:txBody>
        </p:sp>
      </p:grpSp>
      <p:grpSp>
        <p:nvGrpSpPr>
          <p:cNvPr id="46" name="Group 45">
            <a:extLst>
              <a:ext uri="{FF2B5EF4-FFF2-40B4-BE49-F238E27FC236}">
                <a16:creationId xmlns="" xmlns:a16="http://schemas.microsoft.com/office/drawing/2014/main" id="{36BC9EB4-D188-4B4D-A86C-81B8DF97F502}"/>
              </a:ext>
            </a:extLst>
          </p:cNvPr>
          <p:cNvGrpSpPr/>
          <p:nvPr/>
        </p:nvGrpSpPr>
        <p:grpSpPr bwMode="gray">
          <a:xfrm>
            <a:off x="4388790" y="3846540"/>
            <a:ext cx="3427120" cy="2183653"/>
            <a:chOff x="747076" y="3813872"/>
            <a:chExt cx="3427120" cy="2183653"/>
          </a:xfrm>
        </p:grpSpPr>
        <p:sp>
          <p:nvSpPr>
            <p:cNvPr id="47" name="Rectangle 46">
              <a:extLst>
                <a:ext uri="{FF2B5EF4-FFF2-40B4-BE49-F238E27FC236}">
                  <a16:creationId xmlns="" xmlns:a16="http://schemas.microsoft.com/office/drawing/2014/main" id="{AE89C257-1766-420A-9C70-EAC791376426}"/>
                </a:ext>
              </a:extLst>
            </p:cNvPr>
            <p:cNvSpPr/>
            <p:nvPr/>
          </p:nvSpPr>
          <p:spPr bwMode="gray">
            <a:xfrm>
              <a:off x="747076" y="3813872"/>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核心层</a:t>
              </a:r>
              <a:endParaRPr lang="en-US" sz="1600" dirty="0">
                <a:solidFill>
                  <a:schemeClr val="tx1"/>
                </a:solidFill>
              </a:endParaRPr>
            </a:p>
          </p:txBody>
        </p:sp>
        <p:sp>
          <p:nvSpPr>
            <p:cNvPr id="48" name="Rectangle 47">
              <a:extLst>
                <a:ext uri="{FF2B5EF4-FFF2-40B4-BE49-F238E27FC236}">
                  <a16:creationId xmlns="" xmlns:a16="http://schemas.microsoft.com/office/drawing/2014/main" id="{D03DD265-3867-415A-ACAD-0BC4460828E3}"/>
                </a:ext>
              </a:extLst>
            </p:cNvPr>
            <p:cNvSpPr/>
            <p:nvPr/>
          </p:nvSpPr>
          <p:spPr bwMode="gray">
            <a:xfrm>
              <a:off x="747076" y="4501441"/>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汇聚层</a:t>
              </a:r>
              <a:endParaRPr lang="en-US" sz="1600" dirty="0">
                <a:solidFill>
                  <a:schemeClr val="tx1"/>
                </a:solidFill>
              </a:endParaRPr>
            </a:p>
          </p:txBody>
        </p:sp>
        <p:sp>
          <p:nvSpPr>
            <p:cNvPr id="49" name="Rectangle 48">
              <a:extLst>
                <a:ext uri="{FF2B5EF4-FFF2-40B4-BE49-F238E27FC236}">
                  <a16:creationId xmlns="" xmlns:a16="http://schemas.microsoft.com/office/drawing/2014/main" id="{7D7394CB-C843-4E38-9738-FE018C94C0CC}"/>
                </a:ext>
              </a:extLst>
            </p:cNvPr>
            <p:cNvSpPr/>
            <p:nvPr/>
          </p:nvSpPr>
          <p:spPr bwMode="gray">
            <a:xfrm>
              <a:off x="747076" y="5424256"/>
              <a:ext cx="2987040" cy="573269"/>
            </a:xfrm>
            <a:prstGeom prst="rect">
              <a:avLst/>
            </a:prstGeom>
            <a:gradFill>
              <a:gsLst>
                <a:gs pos="0">
                  <a:schemeClr val="bg1">
                    <a:lumMod val="85000"/>
                  </a:schemeClr>
                </a:gs>
                <a:gs pos="100000">
                  <a:schemeClr val="bg1">
                    <a:alpha val="50000"/>
                  </a:schemeClr>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接入层</a:t>
              </a:r>
              <a:endParaRPr lang="en-US" sz="1600" dirty="0">
                <a:solidFill>
                  <a:schemeClr val="tx1"/>
                </a:solidFill>
              </a:endParaRPr>
            </a:p>
          </p:txBody>
        </p:sp>
        <p:sp>
          <p:nvSpPr>
            <p:cNvPr id="50" name="Rectangle: Rounded Corners 49">
              <a:extLst>
                <a:ext uri="{FF2B5EF4-FFF2-40B4-BE49-F238E27FC236}">
                  <a16:creationId xmlns="" xmlns:a16="http://schemas.microsoft.com/office/drawing/2014/main" id="{8D90BAC7-022F-40A8-BFE0-ADF29CDD4920}"/>
                </a:ext>
              </a:extLst>
            </p:cNvPr>
            <p:cNvSpPr/>
            <p:nvPr/>
          </p:nvSpPr>
          <p:spPr bwMode="gray">
            <a:xfrm>
              <a:off x="2224186" y="3938583"/>
              <a:ext cx="1256758"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核心层</a:t>
              </a:r>
              <a:endParaRPr lang="en-US" sz="1400" dirty="0">
                <a:solidFill>
                  <a:schemeClr val="tx1"/>
                </a:solidFill>
              </a:endParaRPr>
            </a:p>
          </p:txBody>
        </p:sp>
        <p:sp>
          <p:nvSpPr>
            <p:cNvPr id="51" name="Rectangle: Rounded Corners 50">
              <a:extLst>
                <a:ext uri="{FF2B5EF4-FFF2-40B4-BE49-F238E27FC236}">
                  <a16:creationId xmlns="" xmlns:a16="http://schemas.microsoft.com/office/drawing/2014/main" id="{39D4A470-EB98-427F-9B66-F2E39FCD5AF2}"/>
                </a:ext>
              </a:extLst>
            </p:cNvPr>
            <p:cNvSpPr/>
            <p:nvPr/>
          </p:nvSpPr>
          <p:spPr bwMode="gray">
            <a:xfrm>
              <a:off x="2224186" y="4633705"/>
              <a:ext cx="1256758"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MAN</a:t>
              </a:r>
              <a:r>
                <a:rPr lang="zh-CN" altLang="en-US" sz="1400" dirty="0">
                  <a:solidFill>
                    <a:schemeClr val="tx1"/>
                  </a:solidFill>
                </a:rPr>
                <a:t>汇聚</a:t>
              </a:r>
              <a:endParaRPr lang="en-US" sz="1400" dirty="0">
                <a:solidFill>
                  <a:schemeClr val="tx1"/>
                </a:solidFill>
              </a:endParaRPr>
            </a:p>
          </p:txBody>
        </p:sp>
        <p:sp>
          <p:nvSpPr>
            <p:cNvPr id="52" name="Rectangle: Rounded Corners 51">
              <a:extLst>
                <a:ext uri="{FF2B5EF4-FFF2-40B4-BE49-F238E27FC236}">
                  <a16:creationId xmlns="" xmlns:a16="http://schemas.microsoft.com/office/drawing/2014/main" id="{77A46EAD-871D-4CF0-A94B-C798E0817023}"/>
                </a:ext>
              </a:extLst>
            </p:cNvPr>
            <p:cNvSpPr/>
            <p:nvPr/>
          </p:nvSpPr>
          <p:spPr bwMode="gray">
            <a:xfrm>
              <a:off x="1583817" y="5534316"/>
              <a:ext cx="1134670"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同城机构</a:t>
              </a:r>
              <a:endParaRPr lang="en-US" sz="1400" dirty="0">
                <a:solidFill>
                  <a:schemeClr val="tx1"/>
                </a:solidFill>
              </a:endParaRPr>
            </a:p>
          </p:txBody>
        </p:sp>
        <p:sp>
          <p:nvSpPr>
            <p:cNvPr id="53" name="Rectangle: Rounded Corners 52">
              <a:extLst>
                <a:ext uri="{FF2B5EF4-FFF2-40B4-BE49-F238E27FC236}">
                  <a16:creationId xmlns="" xmlns:a16="http://schemas.microsoft.com/office/drawing/2014/main" id="{3FCC1D11-59D1-464E-8D16-35DDB1C1CA4B}"/>
                </a:ext>
              </a:extLst>
            </p:cNvPr>
            <p:cNvSpPr/>
            <p:nvPr/>
          </p:nvSpPr>
          <p:spPr bwMode="gray">
            <a:xfrm>
              <a:off x="3039526" y="5534316"/>
              <a:ext cx="1134670" cy="327342"/>
            </a:xfrm>
            <a:prstGeom prst="roundRect">
              <a:avLst>
                <a:gd name="adj" fmla="val 989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附属机构</a:t>
              </a:r>
              <a:endParaRPr lang="en-US" sz="1400" dirty="0">
                <a:solidFill>
                  <a:schemeClr val="tx1"/>
                </a:solidFill>
              </a:endParaRPr>
            </a:p>
          </p:txBody>
        </p:sp>
        <p:cxnSp>
          <p:nvCxnSpPr>
            <p:cNvPr id="54" name="Straight Connector 53">
              <a:extLst>
                <a:ext uri="{FF2B5EF4-FFF2-40B4-BE49-F238E27FC236}">
                  <a16:creationId xmlns="" xmlns:a16="http://schemas.microsoft.com/office/drawing/2014/main" id="{65D45B12-321E-4902-9E79-30C0EE8AB3BE}"/>
                </a:ext>
              </a:extLst>
            </p:cNvPr>
            <p:cNvCxnSpPr>
              <a:cxnSpLocks/>
              <a:stCxn id="50" idx="2"/>
              <a:endCxn id="51" idx="0"/>
            </p:cNvCxnSpPr>
            <p:nvPr/>
          </p:nvCxnSpPr>
          <p:spPr bwMode="gray">
            <a:xfrm>
              <a:off x="2852565" y="4265925"/>
              <a:ext cx="0" cy="3677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838D05D4-6DFC-48F9-92E0-B7677B5B2B67}"/>
                </a:ext>
              </a:extLst>
            </p:cNvPr>
            <p:cNvCxnSpPr>
              <a:cxnSpLocks/>
              <a:stCxn id="51" idx="2"/>
              <a:endCxn id="52" idx="0"/>
            </p:cNvCxnSpPr>
            <p:nvPr/>
          </p:nvCxnSpPr>
          <p:spPr bwMode="gray">
            <a:xfrm flipH="1">
              <a:off x="2151152" y="4961047"/>
              <a:ext cx="701413" cy="5732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A992164B-B890-4A92-AEF0-28FC4F22D159}"/>
                </a:ext>
              </a:extLst>
            </p:cNvPr>
            <p:cNvCxnSpPr>
              <a:cxnSpLocks/>
              <a:stCxn id="51" idx="2"/>
              <a:endCxn id="53" idx="0"/>
            </p:cNvCxnSpPr>
            <p:nvPr/>
          </p:nvCxnSpPr>
          <p:spPr bwMode="gray">
            <a:xfrm>
              <a:off x="2852565" y="4961047"/>
              <a:ext cx="754296" cy="5732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 xmlns:a16="http://schemas.microsoft.com/office/drawing/2014/main" id="{5259B979-89C9-4133-BF6B-22FD2C7A6C7C}"/>
                </a:ext>
              </a:extLst>
            </p:cNvPr>
            <p:cNvSpPr txBox="1"/>
            <p:nvPr/>
          </p:nvSpPr>
          <p:spPr bwMode="gray">
            <a:xfrm>
              <a:off x="2709558" y="5455774"/>
              <a:ext cx="343364" cy="369332"/>
            </a:xfrm>
            <a:prstGeom prst="rect">
              <a:avLst/>
            </a:prstGeom>
            <a:noFill/>
          </p:spPr>
          <p:txBody>
            <a:bodyPr wrap="none" rtlCol="0">
              <a:spAutoFit/>
            </a:bodyPr>
            <a:lstStyle/>
            <a:p>
              <a:r>
                <a:rPr lang="en-US" altLang="zh-CN" dirty="0"/>
                <a:t>…</a:t>
              </a:r>
              <a:endParaRPr lang="en-US" dirty="0"/>
            </a:p>
          </p:txBody>
        </p:sp>
      </p:grpSp>
    </p:spTree>
    <p:extLst>
      <p:ext uri="{BB962C8B-B14F-4D97-AF65-F5344CB8AC3E}">
        <p14:creationId xmlns:p14="http://schemas.microsoft.com/office/powerpoint/2010/main" val="389943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09668B-6F69-4BA0-B900-F0E414C6A953}"/>
              </a:ext>
            </a:extLst>
          </p:cNvPr>
          <p:cNvSpPr>
            <a:spLocks noGrp="1"/>
          </p:cNvSpPr>
          <p:nvPr>
            <p:ph type="title"/>
          </p:nvPr>
        </p:nvSpPr>
        <p:spPr bwMode="gray"/>
        <p:txBody>
          <a:bodyPr/>
          <a:lstStyle/>
          <a:p>
            <a:r>
              <a:rPr lang="zh-CN" altLang="en-US" dirty="0"/>
              <a:t>接入层设计</a:t>
            </a:r>
            <a:endParaRPr lang="en-US" dirty="0"/>
          </a:p>
        </p:txBody>
      </p:sp>
      <p:sp>
        <p:nvSpPr>
          <p:cNvPr id="3" name="Text Placeholder 2">
            <a:extLst>
              <a:ext uri="{FF2B5EF4-FFF2-40B4-BE49-F238E27FC236}">
                <a16:creationId xmlns="" xmlns:a16="http://schemas.microsoft.com/office/drawing/2014/main" id="{7BAA7544-2500-41FD-861F-B592FE8F1FA9}"/>
              </a:ext>
            </a:extLst>
          </p:cNvPr>
          <p:cNvSpPr>
            <a:spLocks noGrp="1"/>
          </p:cNvSpPr>
          <p:nvPr>
            <p:ph type="body" sz="quarter" idx="10"/>
          </p:nvPr>
        </p:nvSpPr>
        <p:spPr bwMode="gray"/>
        <p:txBody>
          <a:bodyPr/>
          <a:lstStyle/>
          <a:p>
            <a:r>
              <a:rPr lang="zh-CN" altLang="en-US" sz="1800" dirty="0"/>
              <a:t>接入层设计要考虑接入业务的所需带宽、所用专线、专线价格等，同时也需要考虑接入可靠性与流量负载分担等问题。比如：</a:t>
            </a:r>
            <a:endParaRPr lang="en-US" altLang="zh-CN" sz="1800" dirty="0"/>
          </a:p>
          <a:p>
            <a:pPr lvl="1"/>
            <a:r>
              <a:rPr lang="zh-CN" altLang="en-US" sz="1600" dirty="0"/>
              <a:t>在接入层采用“口”字形组网，构成主备双平面，提高网络可靠性。</a:t>
            </a:r>
            <a:endParaRPr lang="en-US" altLang="zh-CN" sz="1600" dirty="0"/>
          </a:p>
          <a:p>
            <a:pPr lvl="1"/>
            <a:r>
              <a:rPr lang="zh-CN" altLang="en-US" sz="1600" dirty="0"/>
              <a:t>在主备平面可通过业务规划或路由策略对广域流量进行负载分担。</a:t>
            </a:r>
            <a:endParaRPr lang="en-US" altLang="zh-CN" sz="1600" dirty="0"/>
          </a:p>
          <a:p>
            <a:pPr lvl="1"/>
            <a:endParaRPr lang="zh-CN" altLang="en-US" sz="1600" dirty="0"/>
          </a:p>
          <a:p>
            <a:pPr lvl="1"/>
            <a:endParaRPr lang="en-US" sz="1400" dirty="0"/>
          </a:p>
        </p:txBody>
      </p:sp>
      <p:sp>
        <p:nvSpPr>
          <p:cNvPr id="4" name="五边形 2">
            <a:extLst>
              <a:ext uri="{FF2B5EF4-FFF2-40B4-BE49-F238E27FC236}">
                <a16:creationId xmlns="" xmlns:a16="http://schemas.microsoft.com/office/drawing/2014/main" id="{E69BE1C3-935D-4CF3-87E6-072B193534DE}"/>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核心层设计</a:t>
            </a:r>
          </a:p>
        </p:txBody>
      </p:sp>
      <p:sp>
        <p:nvSpPr>
          <p:cNvPr id="5" name="燕尾形 3">
            <a:extLst>
              <a:ext uri="{FF2B5EF4-FFF2-40B4-BE49-F238E27FC236}">
                <a16:creationId xmlns="" xmlns:a16="http://schemas.microsoft.com/office/drawing/2014/main" id="{824BDE3E-06FA-48C0-BB18-C37FE75A90DC}"/>
              </a:ext>
            </a:extLst>
          </p:cNvPr>
          <p:cNvSpPr/>
          <p:nvPr/>
        </p:nvSpPr>
        <p:spPr bwMode="gray">
          <a:xfrm>
            <a:off x="10187805" y="44020"/>
            <a:ext cx="156128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接入层设计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C18D7869-06BE-427B-BC3D-BF3E73BE837B}"/>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汇聚层设计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48">
            <a:extLst>
              <a:ext uri="{FF2B5EF4-FFF2-40B4-BE49-F238E27FC236}">
                <a16:creationId xmlns="" xmlns:a16="http://schemas.microsoft.com/office/drawing/2014/main" id="{695539FB-AAE4-4B52-8052-88D5C5F5BF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52560" y="3733800"/>
            <a:ext cx="378863" cy="310667"/>
          </a:xfrm>
          <a:prstGeom prst="rect">
            <a:avLst/>
          </a:prstGeom>
        </p:spPr>
      </p:pic>
      <p:pic>
        <p:nvPicPr>
          <p:cNvPr id="9" name="图片 48">
            <a:extLst>
              <a:ext uri="{FF2B5EF4-FFF2-40B4-BE49-F238E27FC236}">
                <a16:creationId xmlns="" xmlns:a16="http://schemas.microsoft.com/office/drawing/2014/main" id="{8579FA40-5141-41FA-B38D-7C81CDA177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40907" y="3733800"/>
            <a:ext cx="378863" cy="310667"/>
          </a:xfrm>
          <a:prstGeom prst="rect">
            <a:avLst/>
          </a:prstGeom>
        </p:spPr>
      </p:pic>
      <p:pic>
        <p:nvPicPr>
          <p:cNvPr id="10" name="图片 48">
            <a:extLst>
              <a:ext uri="{FF2B5EF4-FFF2-40B4-BE49-F238E27FC236}">
                <a16:creationId xmlns="" xmlns:a16="http://schemas.microsoft.com/office/drawing/2014/main" id="{5F43F3F5-5247-4F0E-B5CE-608DC07721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52560" y="4876084"/>
            <a:ext cx="378863" cy="310667"/>
          </a:xfrm>
          <a:prstGeom prst="rect">
            <a:avLst/>
          </a:prstGeom>
        </p:spPr>
      </p:pic>
      <p:pic>
        <p:nvPicPr>
          <p:cNvPr id="11" name="图片 48">
            <a:extLst>
              <a:ext uri="{FF2B5EF4-FFF2-40B4-BE49-F238E27FC236}">
                <a16:creationId xmlns="" xmlns:a16="http://schemas.microsoft.com/office/drawing/2014/main" id="{F8193083-0DB1-472C-8EF2-72E10E6252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40907" y="4876084"/>
            <a:ext cx="378863" cy="310667"/>
          </a:xfrm>
          <a:prstGeom prst="rect">
            <a:avLst/>
          </a:prstGeom>
        </p:spPr>
      </p:pic>
      <p:cxnSp>
        <p:nvCxnSpPr>
          <p:cNvPr id="12" name="Straight Connector 11">
            <a:extLst>
              <a:ext uri="{FF2B5EF4-FFF2-40B4-BE49-F238E27FC236}">
                <a16:creationId xmlns="" xmlns:a16="http://schemas.microsoft.com/office/drawing/2014/main" id="{4EA10701-3545-42DB-A2B7-BC8F8C469EBC}"/>
              </a:ext>
            </a:extLst>
          </p:cNvPr>
          <p:cNvCxnSpPr>
            <a:cxnSpLocks/>
            <a:stCxn id="10" idx="3"/>
            <a:endCxn id="11" idx="1"/>
          </p:cNvCxnSpPr>
          <p:nvPr/>
        </p:nvCxnSpPr>
        <p:spPr bwMode="gray">
          <a:xfrm>
            <a:off x="3331423" y="5031418"/>
            <a:ext cx="100948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F12BEC14-592F-41CB-8CF2-35820DE12809}"/>
              </a:ext>
            </a:extLst>
          </p:cNvPr>
          <p:cNvCxnSpPr>
            <a:cxnSpLocks/>
            <a:stCxn id="8" idx="2"/>
            <a:endCxn id="10" idx="0"/>
          </p:cNvCxnSpPr>
          <p:nvPr/>
        </p:nvCxnSpPr>
        <p:spPr bwMode="gray">
          <a:xfrm>
            <a:off x="3141992" y="4044467"/>
            <a:ext cx="0" cy="83161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B265D32F-A33B-4773-A9BD-9E474A390AA9}"/>
              </a:ext>
            </a:extLst>
          </p:cNvPr>
          <p:cNvCxnSpPr>
            <a:cxnSpLocks/>
            <a:stCxn id="9" idx="2"/>
            <a:endCxn id="11" idx="0"/>
          </p:cNvCxnSpPr>
          <p:nvPr/>
        </p:nvCxnSpPr>
        <p:spPr bwMode="gray">
          <a:xfrm>
            <a:off x="4530339" y="4044467"/>
            <a:ext cx="0" cy="83161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707BA26A-B4F3-41BC-A3FB-8D0169FCF60C}"/>
              </a:ext>
            </a:extLst>
          </p:cNvPr>
          <p:cNvCxnSpPr>
            <a:cxnSpLocks/>
            <a:stCxn id="8" idx="3"/>
            <a:endCxn id="9" idx="1"/>
          </p:cNvCxnSpPr>
          <p:nvPr/>
        </p:nvCxnSpPr>
        <p:spPr bwMode="gray">
          <a:xfrm>
            <a:off x="3331423" y="3889134"/>
            <a:ext cx="100948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5" name="图片 48">
            <a:extLst>
              <a:ext uri="{FF2B5EF4-FFF2-40B4-BE49-F238E27FC236}">
                <a16:creationId xmlns="" xmlns:a16="http://schemas.microsoft.com/office/drawing/2014/main" id="{9C9D5347-F3C8-4FAD-B434-4871E96CA8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12048" y="3683006"/>
            <a:ext cx="378863" cy="310667"/>
          </a:xfrm>
          <a:prstGeom prst="rect">
            <a:avLst/>
          </a:prstGeom>
        </p:spPr>
      </p:pic>
      <p:pic>
        <p:nvPicPr>
          <p:cNvPr id="26" name="图片 48">
            <a:extLst>
              <a:ext uri="{FF2B5EF4-FFF2-40B4-BE49-F238E27FC236}">
                <a16:creationId xmlns="" xmlns:a16="http://schemas.microsoft.com/office/drawing/2014/main" id="{8E5EB13D-B5A8-4B8A-9227-5D0D4275E0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00395" y="3683006"/>
            <a:ext cx="378863" cy="310667"/>
          </a:xfrm>
          <a:prstGeom prst="rect">
            <a:avLst/>
          </a:prstGeom>
        </p:spPr>
      </p:pic>
      <p:pic>
        <p:nvPicPr>
          <p:cNvPr id="27" name="图片 48">
            <a:extLst>
              <a:ext uri="{FF2B5EF4-FFF2-40B4-BE49-F238E27FC236}">
                <a16:creationId xmlns="" xmlns:a16="http://schemas.microsoft.com/office/drawing/2014/main" id="{5121804F-59DB-42DA-B286-58FD1E7846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12048" y="4825290"/>
            <a:ext cx="378863" cy="310667"/>
          </a:xfrm>
          <a:prstGeom prst="rect">
            <a:avLst/>
          </a:prstGeom>
        </p:spPr>
      </p:pic>
      <p:pic>
        <p:nvPicPr>
          <p:cNvPr id="28" name="图片 48">
            <a:extLst>
              <a:ext uri="{FF2B5EF4-FFF2-40B4-BE49-F238E27FC236}">
                <a16:creationId xmlns="" xmlns:a16="http://schemas.microsoft.com/office/drawing/2014/main" id="{A66F237C-7BD1-4D06-8BC1-61F9049FF3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00395" y="4825290"/>
            <a:ext cx="378863" cy="310667"/>
          </a:xfrm>
          <a:prstGeom prst="rect">
            <a:avLst/>
          </a:prstGeom>
        </p:spPr>
      </p:pic>
      <p:cxnSp>
        <p:nvCxnSpPr>
          <p:cNvPr id="29" name="Straight Connector 28">
            <a:extLst>
              <a:ext uri="{FF2B5EF4-FFF2-40B4-BE49-F238E27FC236}">
                <a16:creationId xmlns="" xmlns:a16="http://schemas.microsoft.com/office/drawing/2014/main" id="{C67D8E14-07A0-444D-9750-985A1B738DBC}"/>
              </a:ext>
            </a:extLst>
          </p:cNvPr>
          <p:cNvCxnSpPr>
            <a:cxnSpLocks/>
            <a:stCxn id="27" idx="3"/>
            <a:endCxn id="28" idx="1"/>
          </p:cNvCxnSpPr>
          <p:nvPr/>
        </p:nvCxnSpPr>
        <p:spPr bwMode="gray">
          <a:xfrm>
            <a:off x="7590911" y="4980624"/>
            <a:ext cx="100948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C3BAFA17-3FD6-407A-85F6-D98663D64F5B}"/>
              </a:ext>
            </a:extLst>
          </p:cNvPr>
          <p:cNvCxnSpPr>
            <a:cxnSpLocks/>
            <a:stCxn id="25" idx="2"/>
            <a:endCxn id="27" idx="0"/>
          </p:cNvCxnSpPr>
          <p:nvPr/>
        </p:nvCxnSpPr>
        <p:spPr bwMode="gray">
          <a:xfrm>
            <a:off x="7401480" y="3993673"/>
            <a:ext cx="0" cy="83161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D8C81B2B-DDBA-420D-9FF8-CB50B091FFF6}"/>
              </a:ext>
            </a:extLst>
          </p:cNvPr>
          <p:cNvCxnSpPr>
            <a:cxnSpLocks/>
            <a:stCxn id="26" idx="2"/>
            <a:endCxn id="28" idx="0"/>
          </p:cNvCxnSpPr>
          <p:nvPr/>
        </p:nvCxnSpPr>
        <p:spPr bwMode="gray">
          <a:xfrm>
            <a:off x="8789827" y="3993673"/>
            <a:ext cx="0" cy="83161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5BB0CB7D-24CF-4DE4-B4D8-689E6327DEFD}"/>
              </a:ext>
            </a:extLst>
          </p:cNvPr>
          <p:cNvCxnSpPr>
            <a:cxnSpLocks/>
            <a:stCxn id="25" idx="3"/>
            <a:endCxn id="26" idx="1"/>
          </p:cNvCxnSpPr>
          <p:nvPr/>
        </p:nvCxnSpPr>
        <p:spPr bwMode="gray">
          <a:xfrm>
            <a:off x="7590911" y="3838340"/>
            <a:ext cx="100948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3" name="图片 48">
            <a:extLst>
              <a:ext uri="{FF2B5EF4-FFF2-40B4-BE49-F238E27FC236}">
                <a16:creationId xmlns="" xmlns:a16="http://schemas.microsoft.com/office/drawing/2014/main" id="{96F6AF13-587F-488D-AE19-B3DA0CF4CB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906221" y="5310054"/>
            <a:ext cx="378863" cy="310667"/>
          </a:xfrm>
          <a:prstGeom prst="rect">
            <a:avLst/>
          </a:prstGeom>
        </p:spPr>
      </p:pic>
      <p:cxnSp>
        <p:nvCxnSpPr>
          <p:cNvPr id="34" name="Straight Connector 33">
            <a:extLst>
              <a:ext uri="{FF2B5EF4-FFF2-40B4-BE49-F238E27FC236}">
                <a16:creationId xmlns="" xmlns:a16="http://schemas.microsoft.com/office/drawing/2014/main" id="{C2F099D6-4BED-46A0-8A96-BA97F229E07D}"/>
              </a:ext>
            </a:extLst>
          </p:cNvPr>
          <p:cNvCxnSpPr>
            <a:cxnSpLocks/>
            <a:stCxn id="27" idx="2"/>
            <a:endCxn id="33" idx="1"/>
          </p:cNvCxnSpPr>
          <p:nvPr/>
        </p:nvCxnSpPr>
        <p:spPr bwMode="gray">
          <a:xfrm>
            <a:off x="7401480" y="5135957"/>
            <a:ext cx="504741" cy="32943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3A43DE90-11A8-4DD3-8CBF-80AF4DDE3B60}"/>
              </a:ext>
            </a:extLst>
          </p:cNvPr>
          <p:cNvCxnSpPr>
            <a:cxnSpLocks/>
            <a:stCxn id="28" idx="2"/>
            <a:endCxn id="33" idx="3"/>
          </p:cNvCxnSpPr>
          <p:nvPr/>
        </p:nvCxnSpPr>
        <p:spPr bwMode="gray">
          <a:xfrm flipH="1">
            <a:off x="8285084" y="5135957"/>
            <a:ext cx="504743" cy="32943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 xmlns:a16="http://schemas.microsoft.com/office/drawing/2014/main" id="{FE76662A-79ED-4680-96C9-655CEB99F754}"/>
              </a:ext>
            </a:extLst>
          </p:cNvPr>
          <p:cNvCxnSpPr>
            <a:cxnSpLocks/>
            <a:stCxn id="25" idx="2"/>
            <a:endCxn id="33" idx="0"/>
          </p:cNvCxnSpPr>
          <p:nvPr/>
        </p:nvCxnSpPr>
        <p:spPr bwMode="gray">
          <a:xfrm>
            <a:off x="7401480" y="3993673"/>
            <a:ext cx="694173" cy="13163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3" name="圆角矩形 75">
            <a:extLst>
              <a:ext uri="{FF2B5EF4-FFF2-40B4-BE49-F238E27FC236}">
                <a16:creationId xmlns="" xmlns:a16="http://schemas.microsoft.com/office/drawing/2014/main" id="{CFF203B8-E7AF-4073-9F93-23BC494D60B5}"/>
              </a:ext>
            </a:extLst>
          </p:cNvPr>
          <p:cNvSpPr/>
          <p:nvPr/>
        </p:nvSpPr>
        <p:spPr bwMode="gray">
          <a:xfrm>
            <a:off x="2751534" y="4590097"/>
            <a:ext cx="2161378" cy="103062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4" name="圆角矩形 75">
            <a:extLst>
              <a:ext uri="{FF2B5EF4-FFF2-40B4-BE49-F238E27FC236}">
                <a16:creationId xmlns="" xmlns:a16="http://schemas.microsoft.com/office/drawing/2014/main" id="{F3506345-331E-4CEF-B17B-AF546B390455}"/>
              </a:ext>
            </a:extLst>
          </p:cNvPr>
          <p:cNvSpPr/>
          <p:nvPr/>
        </p:nvSpPr>
        <p:spPr bwMode="gray">
          <a:xfrm>
            <a:off x="2751534" y="3218488"/>
            <a:ext cx="2161378" cy="103062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5" name="TextBox 271">
            <a:extLst>
              <a:ext uri="{FF2B5EF4-FFF2-40B4-BE49-F238E27FC236}">
                <a16:creationId xmlns="" xmlns:a16="http://schemas.microsoft.com/office/drawing/2014/main" id="{950D2A23-C451-4FB6-A821-555BA53EFEAC}"/>
              </a:ext>
            </a:extLst>
          </p:cNvPr>
          <p:cNvSpPr txBox="1"/>
          <p:nvPr/>
        </p:nvSpPr>
        <p:spPr bwMode="gray">
          <a:xfrm rot="16200000">
            <a:off x="2246418" y="5005909"/>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46" name="TextBox 271">
            <a:extLst>
              <a:ext uri="{FF2B5EF4-FFF2-40B4-BE49-F238E27FC236}">
                <a16:creationId xmlns="" xmlns:a16="http://schemas.microsoft.com/office/drawing/2014/main" id="{D835755A-6E86-4854-A546-EFD9D7875A8E}"/>
              </a:ext>
            </a:extLst>
          </p:cNvPr>
          <p:cNvSpPr txBox="1"/>
          <p:nvPr/>
        </p:nvSpPr>
        <p:spPr bwMode="gray">
          <a:xfrm rot="16200000">
            <a:off x="2246417" y="3487776"/>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47" name="圆角矩形 75">
            <a:extLst>
              <a:ext uri="{FF2B5EF4-FFF2-40B4-BE49-F238E27FC236}">
                <a16:creationId xmlns="" xmlns:a16="http://schemas.microsoft.com/office/drawing/2014/main" id="{D6A3ECBC-0B28-4181-8F87-D84A1C40D0D2}"/>
              </a:ext>
            </a:extLst>
          </p:cNvPr>
          <p:cNvSpPr/>
          <p:nvPr/>
        </p:nvSpPr>
        <p:spPr bwMode="gray">
          <a:xfrm>
            <a:off x="7014964" y="4590096"/>
            <a:ext cx="2161378" cy="1143953"/>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8" name="圆角矩形 75">
            <a:extLst>
              <a:ext uri="{FF2B5EF4-FFF2-40B4-BE49-F238E27FC236}">
                <a16:creationId xmlns="" xmlns:a16="http://schemas.microsoft.com/office/drawing/2014/main" id="{2E911165-6C0B-4337-8207-647AC3222463}"/>
              </a:ext>
            </a:extLst>
          </p:cNvPr>
          <p:cNvSpPr/>
          <p:nvPr/>
        </p:nvSpPr>
        <p:spPr bwMode="gray">
          <a:xfrm>
            <a:off x="7014964" y="3218488"/>
            <a:ext cx="2161378" cy="103062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9" name="TextBox 271">
            <a:extLst>
              <a:ext uri="{FF2B5EF4-FFF2-40B4-BE49-F238E27FC236}">
                <a16:creationId xmlns="" xmlns:a16="http://schemas.microsoft.com/office/drawing/2014/main" id="{5B555753-F179-44B4-88DF-A5218B1A5330}"/>
              </a:ext>
            </a:extLst>
          </p:cNvPr>
          <p:cNvSpPr txBox="1"/>
          <p:nvPr/>
        </p:nvSpPr>
        <p:spPr bwMode="gray">
          <a:xfrm rot="16200000">
            <a:off x="6499556" y="5105195"/>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50" name="TextBox 271">
            <a:extLst>
              <a:ext uri="{FF2B5EF4-FFF2-40B4-BE49-F238E27FC236}">
                <a16:creationId xmlns="" xmlns:a16="http://schemas.microsoft.com/office/drawing/2014/main" id="{979B1DA3-C7F6-4D90-8D9A-56C4D733F393}"/>
              </a:ext>
            </a:extLst>
          </p:cNvPr>
          <p:cNvSpPr txBox="1"/>
          <p:nvPr/>
        </p:nvSpPr>
        <p:spPr bwMode="gray">
          <a:xfrm rot="16200000">
            <a:off x="6509847" y="3487776"/>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Tree>
    <p:extLst>
      <p:ext uri="{BB962C8B-B14F-4D97-AF65-F5344CB8AC3E}">
        <p14:creationId xmlns:p14="http://schemas.microsoft.com/office/powerpoint/2010/main" val="1521886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509668B-6F69-4BA0-B900-F0E414C6A953}"/>
              </a:ext>
            </a:extLst>
          </p:cNvPr>
          <p:cNvSpPr>
            <a:spLocks noGrp="1"/>
          </p:cNvSpPr>
          <p:nvPr>
            <p:ph type="title"/>
          </p:nvPr>
        </p:nvSpPr>
        <p:spPr/>
        <p:txBody>
          <a:bodyPr/>
          <a:lstStyle/>
          <a:p>
            <a:r>
              <a:rPr lang="zh-CN" altLang="en-US"/>
              <a:t>承载网专线选择</a:t>
            </a:r>
            <a:endParaRPr lang="en-US" dirty="0"/>
          </a:p>
        </p:txBody>
      </p:sp>
      <p:sp>
        <p:nvSpPr>
          <p:cNvPr id="3" name="Text Placeholder 2">
            <a:extLst>
              <a:ext uri="{FF2B5EF4-FFF2-40B4-BE49-F238E27FC236}">
                <a16:creationId xmlns="" xmlns:a16="http://schemas.microsoft.com/office/drawing/2014/main" id="{7BAA7544-2500-41FD-861F-B592FE8F1FA9}"/>
              </a:ext>
            </a:extLst>
          </p:cNvPr>
          <p:cNvSpPr>
            <a:spLocks noGrp="1"/>
          </p:cNvSpPr>
          <p:nvPr>
            <p:ph type="body" sz="quarter" idx="10"/>
          </p:nvPr>
        </p:nvSpPr>
        <p:spPr>
          <a:xfrm>
            <a:off x="455612" y="1047750"/>
            <a:ext cx="11293475" cy="3024409"/>
          </a:xfrm>
        </p:spPr>
        <p:txBody>
          <a:bodyPr/>
          <a:lstStyle/>
          <a:p>
            <a:r>
              <a:rPr lang="zh-CN" altLang="en-US" sz="1800" dirty="0"/>
              <a:t>只有少部分企业有能力自建传输专线，对于大部分企业来说构建承载网需要购买运营商的传输专线，并基于传输专线搭建企业的承载网。</a:t>
            </a:r>
            <a:endParaRPr lang="en-US" altLang="zh-CN" sz="1800" dirty="0"/>
          </a:p>
          <a:p>
            <a:r>
              <a:rPr lang="zh-CN" altLang="en-US" sz="1800" dirty="0"/>
              <a:t>运营商现有的传输专线主要是</a:t>
            </a:r>
            <a:r>
              <a:rPr lang="en-US" altLang="zh-CN" sz="1800" dirty="0"/>
              <a:t>MSTP</a:t>
            </a:r>
            <a:r>
              <a:rPr lang="zh-CN" altLang="en-US" sz="1800" dirty="0"/>
              <a:t>与</a:t>
            </a:r>
            <a:r>
              <a:rPr lang="en-US" altLang="zh-CN" sz="1800" dirty="0"/>
              <a:t>OTN</a:t>
            </a:r>
            <a:r>
              <a:rPr lang="zh-CN" altLang="en-US" sz="1800" dirty="0"/>
              <a:t>专线：</a:t>
            </a:r>
            <a:endParaRPr lang="en-US" altLang="zh-CN" sz="1800" dirty="0"/>
          </a:p>
          <a:p>
            <a:pPr lvl="1"/>
            <a:r>
              <a:rPr lang="zh-CN" altLang="en-US" sz="1600" dirty="0"/>
              <a:t>对于分支企业接入承载网接入层的业务可使用</a:t>
            </a:r>
            <a:r>
              <a:rPr lang="en-US" altLang="zh-CN" sz="1600" dirty="0"/>
              <a:t>MSTP</a:t>
            </a:r>
            <a:r>
              <a:rPr lang="zh-CN" altLang="en-US" sz="1600" dirty="0"/>
              <a:t>专线，也可以使用</a:t>
            </a:r>
            <a:r>
              <a:rPr lang="en-US" altLang="zh-CN" sz="1600" dirty="0"/>
              <a:t>MPLS VPN</a:t>
            </a:r>
            <a:r>
              <a:rPr lang="zh-CN" altLang="en-US" sz="1600" dirty="0"/>
              <a:t>专线。</a:t>
            </a:r>
            <a:endParaRPr lang="en-US" altLang="zh-CN" sz="1600" dirty="0"/>
          </a:p>
          <a:p>
            <a:pPr lvl="1"/>
            <a:r>
              <a:rPr lang="zh-CN" altLang="en-US" sz="1600" dirty="0"/>
              <a:t>对于承载网接入层与汇聚层之间可使用</a:t>
            </a:r>
            <a:r>
              <a:rPr lang="en-US" altLang="zh-CN" sz="1600" dirty="0"/>
              <a:t>MSTP</a:t>
            </a:r>
            <a:r>
              <a:rPr lang="zh-CN" altLang="en-US" sz="1600" dirty="0"/>
              <a:t>专线。</a:t>
            </a:r>
            <a:endParaRPr lang="en-US" altLang="zh-CN" sz="1600" dirty="0"/>
          </a:p>
          <a:p>
            <a:pPr lvl="1"/>
            <a:r>
              <a:rPr lang="zh-CN" altLang="en-US" sz="1600" dirty="0"/>
              <a:t>如果汇聚层与核心层不在同一个机房，则汇聚层与核心层之间可以使用</a:t>
            </a:r>
            <a:r>
              <a:rPr lang="en-US" altLang="zh-CN" sz="1600" dirty="0"/>
              <a:t>MSTP/OTN</a:t>
            </a:r>
            <a:r>
              <a:rPr lang="zh-CN" altLang="en-US" sz="1600" dirty="0"/>
              <a:t>专线。</a:t>
            </a:r>
            <a:endParaRPr lang="en-US" altLang="zh-CN" sz="1600" dirty="0"/>
          </a:p>
          <a:p>
            <a:pPr lvl="1"/>
            <a:r>
              <a:rPr lang="zh-CN" altLang="en-US" sz="1600" dirty="0"/>
              <a:t>对于核心层设备之间可以选用</a:t>
            </a:r>
            <a:r>
              <a:rPr lang="en-US" altLang="zh-CN" sz="1600" dirty="0"/>
              <a:t>MSTP/OTN</a:t>
            </a:r>
            <a:r>
              <a:rPr lang="zh-CN" altLang="en-US" sz="1600" dirty="0"/>
              <a:t>专线，如果核心层设备之间有裸光纤资源也可以采用</a:t>
            </a:r>
            <a:r>
              <a:rPr lang="en-US" altLang="zh-CN" sz="1600" dirty="0"/>
              <a:t>DWDM</a:t>
            </a:r>
            <a:r>
              <a:rPr lang="zh-CN" altLang="en-US" sz="1600" dirty="0"/>
              <a:t>专线。</a:t>
            </a:r>
            <a:endParaRPr lang="en-US" sz="1600" dirty="0"/>
          </a:p>
        </p:txBody>
      </p:sp>
      <p:sp>
        <p:nvSpPr>
          <p:cNvPr id="4" name="梯形 41">
            <a:extLst>
              <a:ext uri="{FF2B5EF4-FFF2-40B4-BE49-F238E27FC236}">
                <a16:creationId xmlns="" xmlns:a16="http://schemas.microsoft.com/office/drawing/2014/main" id="{106D33BE-C152-4889-BEF6-3B7063968F27}"/>
              </a:ext>
            </a:extLst>
          </p:cNvPr>
          <p:cNvSpPr/>
          <p:nvPr/>
        </p:nvSpPr>
        <p:spPr>
          <a:xfrm>
            <a:off x="2832929" y="5068624"/>
            <a:ext cx="6526142" cy="965958"/>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1118">
            <a:extLst>
              <a:ext uri="{FF2B5EF4-FFF2-40B4-BE49-F238E27FC236}">
                <a16:creationId xmlns="" xmlns:a16="http://schemas.microsoft.com/office/drawing/2014/main" id="{227E1240-F0C0-4A2E-9248-B48BB88F8E13}"/>
              </a:ext>
            </a:extLst>
          </p:cNvPr>
          <p:cNvPicPr>
            <a:picLocks noChangeAspect="1"/>
          </p:cNvPicPr>
          <p:nvPr/>
        </p:nvPicPr>
        <p:blipFill>
          <a:blip r:embed="rId3"/>
          <a:stretch>
            <a:fillRect/>
          </a:stretch>
        </p:blipFill>
        <p:spPr>
          <a:xfrm>
            <a:off x="3609501" y="5452218"/>
            <a:ext cx="450745" cy="361743"/>
          </a:xfrm>
          <a:prstGeom prst="rect">
            <a:avLst/>
          </a:prstGeom>
        </p:spPr>
      </p:pic>
      <p:cxnSp>
        <p:nvCxnSpPr>
          <p:cNvPr id="6" name="Straight Connector 5">
            <a:extLst>
              <a:ext uri="{FF2B5EF4-FFF2-40B4-BE49-F238E27FC236}">
                <a16:creationId xmlns="" xmlns:a16="http://schemas.microsoft.com/office/drawing/2014/main" id="{20B28199-0292-4111-843F-DFB5542934DE}"/>
              </a:ext>
            </a:extLst>
          </p:cNvPr>
          <p:cNvCxnSpPr>
            <a:cxnSpLocks/>
            <a:stCxn id="8" idx="2"/>
            <a:endCxn id="5" idx="0"/>
          </p:cNvCxnSpPr>
          <p:nvPr/>
        </p:nvCxnSpPr>
        <p:spPr>
          <a:xfrm>
            <a:off x="3834874" y="4821365"/>
            <a:ext cx="0" cy="630853"/>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7" name="梯形 41">
            <a:extLst>
              <a:ext uri="{FF2B5EF4-FFF2-40B4-BE49-F238E27FC236}">
                <a16:creationId xmlns="" xmlns:a16="http://schemas.microsoft.com/office/drawing/2014/main" id="{E26B9B9C-A8A2-4E11-96B7-C5157D4CF456}"/>
              </a:ext>
            </a:extLst>
          </p:cNvPr>
          <p:cNvSpPr/>
          <p:nvPr/>
        </p:nvSpPr>
        <p:spPr>
          <a:xfrm>
            <a:off x="2843048" y="4228324"/>
            <a:ext cx="6526142" cy="965958"/>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31">
            <a:extLst>
              <a:ext uri="{FF2B5EF4-FFF2-40B4-BE49-F238E27FC236}">
                <a16:creationId xmlns="" xmlns:a16="http://schemas.microsoft.com/office/drawing/2014/main" id="{AE4F29FA-1500-409C-B82A-B51B3E3628A2}"/>
              </a:ext>
            </a:extLst>
          </p:cNvPr>
          <p:cNvPicPr>
            <a:picLocks noChangeAspect="1"/>
          </p:cNvPicPr>
          <p:nvPr/>
        </p:nvPicPr>
        <p:blipFill>
          <a:blip r:embed="rId4"/>
          <a:stretch>
            <a:fillRect/>
          </a:stretch>
        </p:blipFill>
        <p:spPr>
          <a:xfrm>
            <a:off x="3601540" y="4432057"/>
            <a:ext cx="466668" cy="389308"/>
          </a:xfrm>
          <a:prstGeom prst="rect">
            <a:avLst/>
          </a:prstGeom>
        </p:spPr>
      </p:pic>
      <p:pic>
        <p:nvPicPr>
          <p:cNvPr id="9" name="图片 1118">
            <a:extLst>
              <a:ext uri="{FF2B5EF4-FFF2-40B4-BE49-F238E27FC236}">
                <a16:creationId xmlns="" xmlns:a16="http://schemas.microsoft.com/office/drawing/2014/main" id="{0D0B9556-3686-4BF3-B96B-F87F4FAD8B50}"/>
              </a:ext>
            </a:extLst>
          </p:cNvPr>
          <p:cNvPicPr>
            <a:picLocks noChangeAspect="1"/>
          </p:cNvPicPr>
          <p:nvPr/>
        </p:nvPicPr>
        <p:blipFill>
          <a:blip r:embed="rId3"/>
          <a:stretch>
            <a:fillRect/>
          </a:stretch>
        </p:blipFill>
        <p:spPr>
          <a:xfrm>
            <a:off x="5190651" y="5452218"/>
            <a:ext cx="450745" cy="361743"/>
          </a:xfrm>
          <a:prstGeom prst="rect">
            <a:avLst/>
          </a:prstGeom>
        </p:spPr>
      </p:pic>
      <p:pic>
        <p:nvPicPr>
          <p:cNvPr id="10" name="图片 31">
            <a:extLst>
              <a:ext uri="{FF2B5EF4-FFF2-40B4-BE49-F238E27FC236}">
                <a16:creationId xmlns="" xmlns:a16="http://schemas.microsoft.com/office/drawing/2014/main" id="{6FFC1582-89C3-4CFF-9550-73636CE1A003}"/>
              </a:ext>
            </a:extLst>
          </p:cNvPr>
          <p:cNvPicPr>
            <a:picLocks noChangeAspect="1"/>
          </p:cNvPicPr>
          <p:nvPr/>
        </p:nvPicPr>
        <p:blipFill>
          <a:blip r:embed="rId4"/>
          <a:stretch>
            <a:fillRect/>
          </a:stretch>
        </p:blipFill>
        <p:spPr>
          <a:xfrm>
            <a:off x="5182690" y="4432057"/>
            <a:ext cx="466668" cy="389308"/>
          </a:xfrm>
          <a:prstGeom prst="rect">
            <a:avLst/>
          </a:prstGeom>
        </p:spPr>
      </p:pic>
      <p:pic>
        <p:nvPicPr>
          <p:cNvPr id="11" name="图片 1118">
            <a:extLst>
              <a:ext uri="{FF2B5EF4-FFF2-40B4-BE49-F238E27FC236}">
                <a16:creationId xmlns="" xmlns:a16="http://schemas.microsoft.com/office/drawing/2014/main" id="{14339D12-2ED3-4852-A3DA-0D772523CEBF}"/>
              </a:ext>
            </a:extLst>
          </p:cNvPr>
          <p:cNvPicPr>
            <a:picLocks noChangeAspect="1"/>
          </p:cNvPicPr>
          <p:nvPr/>
        </p:nvPicPr>
        <p:blipFill>
          <a:blip r:embed="rId3"/>
          <a:stretch>
            <a:fillRect/>
          </a:stretch>
        </p:blipFill>
        <p:spPr>
          <a:xfrm>
            <a:off x="6771801" y="5452218"/>
            <a:ext cx="450745" cy="361743"/>
          </a:xfrm>
          <a:prstGeom prst="rect">
            <a:avLst/>
          </a:prstGeom>
        </p:spPr>
      </p:pic>
      <p:pic>
        <p:nvPicPr>
          <p:cNvPr id="12" name="图片 31">
            <a:extLst>
              <a:ext uri="{FF2B5EF4-FFF2-40B4-BE49-F238E27FC236}">
                <a16:creationId xmlns="" xmlns:a16="http://schemas.microsoft.com/office/drawing/2014/main" id="{81901937-F27D-4608-BD99-ADBC074519A9}"/>
              </a:ext>
            </a:extLst>
          </p:cNvPr>
          <p:cNvPicPr>
            <a:picLocks noChangeAspect="1"/>
          </p:cNvPicPr>
          <p:nvPr/>
        </p:nvPicPr>
        <p:blipFill>
          <a:blip r:embed="rId4"/>
          <a:stretch>
            <a:fillRect/>
          </a:stretch>
        </p:blipFill>
        <p:spPr>
          <a:xfrm>
            <a:off x="6763840" y="4432057"/>
            <a:ext cx="466668" cy="389308"/>
          </a:xfrm>
          <a:prstGeom prst="rect">
            <a:avLst/>
          </a:prstGeom>
        </p:spPr>
      </p:pic>
      <p:pic>
        <p:nvPicPr>
          <p:cNvPr id="13" name="图片 1118">
            <a:extLst>
              <a:ext uri="{FF2B5EF4-FFF2-40B4-BE49-F238E27FC236}">
                <a16:creationId xmlns="" xmlns:a16="http://schemas.microsoft.com/office/drawing/2014/main" id="{513F096C-EED8-4A9A-AE95-3C79CC5AAC60}"/>
              </a:ext>
            </a:extLst>
          </p:cNvPr>
          <p:cNvPicPr>
            <a:picLocks noChangeAspect="1"/>
          </p:cNvPicPr>
          <p:nvPr/>
        </p:nvPicPr>
        <p:blipFill>
          <a:blip r:embed="rId3"/>
          <a:stretch>
            <a:fillRect/>
          </a:stretch>
        </p:blipFill>
        <p:spPr>
          <a:xfrm>
            <a:off x="8139717" y="5452218"/>
            <a:ext cx="450745" cy="361743"/>
          </a:xfrm>
          <a:prstGeom prst="rect">
            <a:avLst/>
          </a:prstGeom>
        </p:spPr>
      </p:pic>
      <p:pic>
        <p:nvPicPr>
          <p:cNvPr id="14" name="图片 31">
            <a:extLst>
              <a:ext uri="{FF2B5EF4-FFF2-40B4-BE49-F238E27FC236}">
                <a16:creationId xmlns="" xmlns:a16="http://schemas.microsoft.com/office/drawing/2014/main" id="{B90F4E2F-3999-4903-9E9A-96EEF09EE134}"/>
              </a:ext>
            </a:extLst>
          </p:cNvPr>
          <p:cNvPicPr>
            <a:picLocks noChangeAspect="1"/>
          </p:cNvPicPr>
          <p:nvPr/>
        </p:nvPicPr>
        <p:blipFill>
          <a:blip r:embed="rId4"/>
          <a:stretch>
            <a:fillRect/>
          </a:stretch>
        </p:blipFill>
        <p:spPr>
          <a:xfrm>
            <a:off x="8131756" y="4432057"/>
            <a:ext cx="466668" cy="389308"/>
          </a:xfrm>
          <a:prstGeom prst="rect">
            <a:avLst/>
          </a:prstGeom>
        </p:spPr>
      </p:pic>
      <p:cxnSp>
        <p:nvCxnSpPr>
          <p:cNvPr id="15" name="Straight Connector 14">
            <a:extLst>
              <a:ext uri="{FF2B5EF4-FFF2-40B4-BE49-F238E27FC236}">
                <a16:creationId xmlns="" xmlns:a16="http://schemas.microsoft.com/office/drawing/2014/main" id="{61DB0FF2-710F-4AB8-AF65-E22948DD3737}"/>
              </a:ext>
            </a:extLst>
          </p:cNvPr>
          <p:cNvCxnSpPr>
            <a:cxnSpLocks/>
            <a:stCxn id="9" idx="1"/>
            <a:endCxn id="5" idx="3"/>
          </p:cNvCxnSpPr>
          <p:nvPr/>
        </p:nvCxnSpPr>
        <p:spPr>
          <a:xfrm flipH="1">
            <a:off x="4060246" y="5633090"/>
            <a:ext cx="1130405" cy="0"/>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8" name="Straight Connector 17">
            <a:extLst>
              <a:ext uri="{FF2B5EF4-FFF2-40B4-BE49-F238E27FC236}">
                <a16:creationId xmlns="" xmlns:a16="http://schemas.microsoft.com/office/drawing/2014/main" id="{89DC9A6A-32D6-41B5-B18A-408E7C2DB097}"/>
              </a:ext>
            </a:extLst>
          </p:cNvPr>
          <p:cNvCxnSpPr>
            <a:cxnSpLocks/>
            <a:stCxn id="10" idx="2"/>
            <a:endCxn id="9" idx="0"/>
          </p:cNvCxnSpPr>
          <p:nvPr/>
        </p:nvCxnSpPr>
        <p:spPr>
          <a:xfrm>
            <a:off x="5416024" y="4821365"/>
            <a:ext cx="0" cy="630853"/>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21" name="Straight Connector 20">
            <a:extLst>
              <a:ext uri="{FF2B5EF4-FFF2-40B4-BE49-F238E27FC236}">
                <a16:creationId xmlns="" xmlns:a16="http://schemas.microsoft.com/office/drawing/2014/main" id="{7D957746-6F60-4B4D-A05D-7A3A461AC09E}"/>
              </a:ext>
            </a:extLst>
          </p:cNvPr>
          <p:cNvCxnSpPr>
            <a:cxnSpLocks/>
            <a:stCxn id="12" idx="2"/>
            <a:endCxn id="11" idx="0"/>
          </p:cNvCxnSpPr>
          <p:nvPr/>
        </p:nvCxnSpPr>
        <p:spPr>
          <a:xfrm>
            <a:off x="6997174" y="4821365"/>
            <a:ext cx="0" cy="630853"/>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24" name="Straight Connector 23">
            <a:extLst>
              <a:ext uri="{FF2B5EF4-FFF2-40B4-BE49-F238E27FC236}">
                <a16:creationId xmlns="" xmlns:a16="http://schemas.microsoft.com/office/drawing/2014/main" id="{1C3FBD27-6861-46D0-954F-F2B99265F0DA}"/>
              </a:ext>
            </a:extLst>
          </p:cNvPr>
          <p:cNvCxnSpPr>
            <a:cxnSpLocks/>
            <a:stCxn id="11" idx="1"/>
            <a:endCxn id="9" idx="3"/>
          </p:cNvCxnSpPr>
          <p:nvPr/>
        </p:nvCxnSpPr>
        <p:spPr>
          <a:xfrm flipH="1">
            <a:off x="5641396" y="5633090"/>
            <a:ext cx="1130405" cy="0"/>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27" name="Straight Connector 26">
            <a:extLst>
              <a:ext uri="{FF2B5EF4-FFF2-40B4-BE49-F238E27FC236}">
                <a16:creationId xmlns="" xmlns:a16="http://schemas.microsoft.com/office/drawing/2014/main" id="{8EA61A16-7D4E-4486-991F-DC95F802B62A}"/>
              </a:ext>
            </a:extLst>
          </p:cNvPr>
          <p:cNvCxnSpPr>
            <a:cxnSpLocks/>
            <a:stCxn id="13" idx="1"/>
            <a:endCxn id="11" idx="3"/>
          </p:cNvCxnSpPr>
          <p:nvPr/>
        </p:nvCxnSpPr>
        <p:spPr>
          <a:xfrm flipH="1">
            <a:off x="7222546" y="5633090"/>
            <a:ext cx="917171" cy="0"/>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30" name="Straight Connector 29">
            <a:extLst>
              <a:ext uri="{FF2B5EF4-FFF2-40B4-BE49-F238E27FC236}">
                <a16:creationId xmlns="" xmlns:a16="http://schemas.microsoft.com/office/drawing/2014/main" id="{D3753B04-1DA2-4C24-AF42-1AB33BFBC333}"/>
              </a:ext>
            </a:extLst>
          </p:cNvPr>
          <p:cNvCxnSpPr>
            <a:cxnSpLocks/>
            <a:stCxn id="14" idx="2"/>
            <a:endCxn id="13" idx="0"/>
          </p:cNvCxnSpPr>
          <p:nvPr/>
        </p:nvCxnSpPr>
        <p:spPr>
          <a:xfrm>
            <a:off x="8365090" y="4821365"/>
            <a:ext cx="0" cy="630853"/>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33" name="Straight Connector 32">
            <a:extLst>
              <a:ext uri="{FF2B5EF4-FFF2-40B4-BE49-F238E27FC236}">
                <a16:creationId xmlns="" xmlns:a16="http://schemas.microsoft.com/office/drawing/2014/main" id="{731F5F86-896E-49A9-927B-8A6B168BFB61}"/>
              </a:ext>
            </a:extLst>
          </p:cNvPr>
          <p:cNvCxnSpPr>
            <a:cxnSpLocks/>
            <a:stCxn id="10" idx="1"/>
            <a:endCxn id="8" idx="3"/>
          </p:cNvCxnSpPr>
          <p:nvPr/>
        </p:nvCxnSpPr>
        <p:spPr>
          <a:xfrm flipH="1">
            <a:off x="4068208" y="4626711"/>
            <a:ext cx="11144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F0016FB3-B576-43F9-B475-8BB766AB4E57}"/>
              </a:ext>
            </a:extLst>
          </p:cNvPr>
          <p:cNvCxnSpPr>
            <a:cxnSpLocks/>
            <a:stCxn id="12" idx="1"/>
            <a:endCxn id="10" idx="3"/>
          </p:cNvCxnSpPr>
          <p:nvPr/>
        </p:nvCxnSpPr>
        <p:spPr>
          <a:xfrm flipH="1">
            <a:off x="5649358" y="4626711"/>
            <a:ext cx="11144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DF8003D6-181D-4A5F-88B0-1327687B0D05}"/>
              </a:ext>
            </a:extLst>
          </p:cNvPr>
          <p:cNvCxnSpPr>
            <a:cxnSpLocks/>
            <a:stCxn id="14" idx="1"/>
            <a:endCxn id="12" idx="3"/>
          </p:cNvCxnSpPr>
          <p:nvPr/>
        </p:nvCxnSpPr>
        <p:spPr>
          <a:xfrm flipH="1">
            <a:off x="7230508" y="4626711"/>
            <a:ext cx="90124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TextBox 271">
            <a:extLst>
              <a:ext uri="{FF2B5EF4-FFF2-40B4-BE49-F238E27FC236}">
                <a16:creationId xmlns="" xmlns:a16="http://schemas.microsoft.com/office/drawing/2014/main" id="{BCCF923B-512B-4889-90D5-BED28B586798}"/>
              </a:ext>
            </a:extLst>
          </p:cNvPr>
          <p:cNvSpPr txBox="1"/>
          <p:nvPr/>
        </p:nvSpPr>
        <p:spPr>
          <a:xfrm>
            <a:off x="3642353" y="4203140"/>
            <a:ext cx="385042" cy="307777"/>
          </a:xfrm>
          <a:prstGeom prst="rect">
            <a:avLst/>
          </a:prstGeom>
          <a:noFill/>
        </p:spPr>
        <p:txBody>
          <a:bodyPr wrap="none" rtlCol="0">
            <a:spAutoFit/>
          </a:bodyPr>
          <a:lstStyle/>
          <a:p>
            <a:pP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271">
            <a:extLst>
              <a:ext uri="{FF2B5EF4-FFF2-40B4-BE49-F238E27FC236}">
                <a16:creationId xmlns="" xmlns:a16="http://schemas.microsoft.com/office/drawing/2014/main" id="{E8FAFBEB-13FC-494B-A412-8041D34C8126}"/>
              </a:ext>
            </a:extLst>
          </p:cNvPr>
          <p:cNvSpPr txBox="1"/>
          <p:nvPr/>
        </p:nvSpPr>
        <p:spPr>
          <a:xfrm>
            <a:off x="8166612" y="4192811"/>
            <a:ext cx="385042" cy="307777"/>
          </a:xfrm>
          <a:prstGeom prst="rect">
            <a:avLst/>
          </a:prstGeom>
          <a:noFill/>
        </p:spPr>
        <p:txBody>
          <a:bodyPr wrap="none" rtlCol="0">
            <a:spAutoFit/>
          </a:bodyPr>
          <a:lstStyle/>
          <a:p>
            <a:pP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271">
            <a:extLst>
              <a:ext uri="{FF2B5EF4-FFF2-40B4-BE49-F238E27FC236}">
                <a16:creationId xmlns="" xmlns:a16="http://schemas.microsoft.com/office/drawing/2014/main" id="{84E2972C-8276-4397-A5CB-639B62668A90}"/>
              </a:ext>
            </a:extLst>
          </p:cNvPr>
          <p:cNvSpPr txBox="1"/>
          <p:nvPr/>
        </p:nvSpPr>
        <p:spPr>
          <a:xfrm>
            <a:off x="5279607" y="4211374"/>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271">
            <a:extLst>
              <a:ext uri="{FF2B5EF4-FFF2-40B4-BE49-F238E27FC236}">
                <a16:creationId xmlns="" xmlns:a16="http://schemas.microsoft.com/office/drawing/2014/main" id="{F814D26C-C5B6-41F5-BA75-56251C1063DD}"/>
              </a:ext>
            </a:extLst>
          </p:cNvPr>
          <p:cNvSpPr txBox="1"/>
          <p:nvPr/>
        </p:nvSpPr>
        <p:spPr>
          <a:xfrm>
            <a:off x="6860757" y="4222378"/>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271">
            <a:extLst>
              <a:ext uri="{FF2B5EF4-FFF2-40B4-BE49-F238E27FC236}">
                <a16:creationId xmlns="" xmlns:a16="http://schemas.microsoft.com/office/drawing/2014/main" id="{D20B5CEC-40A7-4D1C-84D4-6ED3B280DA82}"/>
              </a:ext>
            </a:extLst>
          </p:cNvPr>
          <p:cNvSpPr txBox="1"/>
          <p:nvPr/>
        </p:nvSpPr>
        <p:spPr>
          <a:xfrm>
            <a:off x="4346956" y="5313123"/>
            <a:ext cx="651140" cy="307777"/>
          </a:xfrm>
          <a:prstGeom prst="rect">
            <a:avLst/>
          </a:prstGeom>
          <a:noFill/>
        </p:spPr>
        <p:txBody>
          <a:bodyPr wrap="none" rtlCol="0">
            <a:spAutoFit/>
          </a:bodyPr>
          <a:lstStyle/>
          <a:p>
            <a:pP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MSTP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271">
            <a:extLst>
              <a:ext uri="{FF2B5EF4-FFF2-40B4-BE49-F238E27FC236}">
                <a16:creationId xmlns="" xmlns:a16="http://schemas.microsoft.com/office/drawing/2014/main" id="{8D70F0C2-BFB8-4161-A84C-767AF111E381}"/>
              </a:ext>
            </a:extLst>
          </p:cNvPr>
          <p:cNvSpPr txBox="1"/>
          <p:nvPr/>
        </p:nvSpPr>
        <p:spPr>
          <a:xfrm>
            <a:off x="5993075" y="5322502"/>
            <a:ext cx="543739"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裸纤</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271">
            <a:extLst>
              <a:ext uri="{FF2B5EF4-FFF2-40B4-BE49-F238E27FC236}">
                <a16:creationId xmlns="" xmlns:a16="http://schemas.microsoft.com/office/drawing/2014/main" id="{8B15A3AB-B55C-4274-9116-B8445954CA8D}"/>
              </a:ext>
            </a:extLst>
          </p:cNvPr>
          <p:cNvSpPr txBox="1"/>
          <p:nvPr/>
        </p:nvSpPr>
        <p:spPr>
          <a:xfrm>
            <a:off x="7430666" y="5325750"/>
            <a:ext cx="564578" cy="307777"/>
          </a:xfrm>
          <a:prstGeom prst="rect">
            <a:avLst/>
          </a:prstGeom>
          <a:noFill/>
        </p:spPr>
        <p:txBody>
          <a:bodyPr wrap="none" rtlCol="0">
            <a:spAutoFit/>
          </a:bodyPr>
          <a:lstStyle/>
          <a:p>
            <a:pP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OTN</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81908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a:t>
            </a:r>
            <a:r>
              <a:rPr lang="en-US" altLang="zh-CN" dirty="0"/>
              <a:t>IP</a:t>
            </a:r>
            <a:r>
              <a:rPr lang="zh-CN" altLang="en-US" dirty="0"/>
              <a:t>地址规划思路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1657747"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物理网络设计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1657747"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1855358" y="333814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接入层网络设计</a:t>
            </a:r>
          </a:p>
        </p:txBody>
      </p:sp>
      <p:sp>
        <p:nvSpPr>
          <p:cNvPr id="8" name="圆角矩形 6">
            <a:extLst>
              <a:ext uri="{FF2B5EF4-FFF2-40B4-BE49-F238E27FC236}">
                <a16:creationId xmlns="" xmlns:a16="http://schemas.microsoft.com/office/drawing/2014/main" id="{5788FE78-2257-4711-9A5D-E49BDF11EAA9}"/>
              </a:ext>
            </a:extLst>
          </p:cNvPr>
          <p:cNvSpPr/>
          <p:nvPr/>
        </p:nvSpPr>
        <p:spPr bwMode="gray">
          <a:xfrm>
            <a:off x="7956504" y="2850521"/>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4701316"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IP</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470131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1">
            <a:extLst>
              <a:ext uri="{FF2B5EF4-FFF2-40B4-BE49-F238E27FC236}">
                <a16:creationId xmlns="" xmlns:a16="http://schemas.microsoft.com/office/drawing/2014/main" id="{2CA4E498-EE2E-4752-9891-54D92910E65B}"/>
              </a:ext>
            </a:extLst>
          </p:cNvPr>
          <p:cNvSpPr/>
          <p:nvPr/>
        </p:nvSpPr>
        <p:spPr bwMode="gray">
          <a:xfrm>
            <a:off x="7956504"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1855358" y="285009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汇聚层网络设计</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4919285"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4919285" y="284917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1855358" y="2360212"/>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核心层网络设计</a:t>
            </a:r>
          </a:p>
        </p:txBody>
      </p:sp>
      <p:sp>
        <p:nvSpPr>
          <p:cNvPr id="19" name="圆角矩形 9">
            <a:extLst>
              <a:ext uri="{FF2B5EF4-FFF2-40B4-BE49-F238E27FC236}">
                <a16:creationId xmlns="" xmlns:a16="http://schemas.microsoft.com/office/drawing/2014/main" id="{6DAE6423-B762-4292-B9DC-A0280945615F}"/>
              </a:ext>
            </a:extLst>
          </p:cNvPr>
          <p:cNvSpPr/>
          <p:nvPr/>
        </p:nvSpPr>
        <p:spPr bwMode="gray">
          <a:xfrm>
            <a:off x="7744886"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20" name="圆角矩形 10">
            <a:extLst>
              <a:ext uri="{FF2B5EF4-FFF2-40B4-BE49-F238E27FC236}">
                <a16:creationId xmlns="" xmlns:a16="http://schemas.microsoft.com/office/drawing/2014/main" id="{2FA2B477-5E62-4B43-A541-8BDE04177E22}"/>
              </a:ext>
            </a:extLst>
          </p:cNvPr>
          <p:cNvSpPr/>
          <p:nvPr/>
        </p:nvSpPr>
        <p:spPr bwMode="gray">
          <a:xfrm>
            <a:off x="774488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11">
            <a:extLst>
              <a:ext uri="{FF2B5EF4-FFF2-40B4-BE49-F238E27FC236}">
                <a16:creationId xmlns="" xmlns:a16="http://schemas.microsoft.com/office/drawing/2014/main" id="{8A74505C-59FB-4312-9169-44A2F07449E9}"/>
              </a:ext>
            </a:extLst>
          </p:cNvPr>
          <p:cNvSpPr/>
          <p:nvPr/>
        </p:nvSpPr>
        <p:spPr bwMode="gray">
          <a:xfrm>
            <a:off x="4919285" y="333814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规划</a:t>
            </a:r>
          </a:p>
        </p:txBody>
      </p:sp>
      <p:sp>
        <p:nvSpPr>
          <p:cNvPr id="18" name="Arrow: Down 17">
            <a:extLst>
              <a:ext uri="{FF2B5EF4-FFF2-40B4-BE49-F238E27FC236}">
                <a16:creationId xmlns="" xmlns:a16="http://schemas.microsoft.com/office/drawing/2014/main" id="{DA3E305D-2134-403D-88E6-D5DAE35B5D1F}"/>
              </a:ext>
            </a:extLst>
          </p:cNvPr>
          <p:cNvSpPr/>
          <p:nvPr/>
        </p:nvSpPr>
        <p:spPr bwMode="gray">
          <a:xfrm>
            <a:off x="5940425"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9010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4CAED62C-CFBB-42E7-AD1B-0A55E8AA385B}"/>
              </a:ext>
            </a:extLst>
          </p:cNvPr>
          <p:cNvSpPr>
            <a:spLocks noGrp="1"/>
          </p:cNvSpPr>
          <p:nvPr>
            <p:ph type="title"/>
          </p:nvPr>
        </p:nvSpPr>
        <p:spPr bwMode="gray"/>
        <p:txBody>
          <a:bodyPr/>
          <a:lstStyle/>
          <a:p>
            <a:r>
              <a:rPr lang="en-US" dirty="0"/>
              <a:t>IP</a:t>
            </a:r>
            <a:r>
              <a:rPr lang="zh-CN" altLang="en-US" dirty="0"/>
              <a:t>地址规划全景图</a:t>
            </a:r>
            <a:endParaRPr lang="en-US" dirty="0"/>
          </a:p>
        </p:txBody>
      </p:sp>
      <p:sp>
        <p:nvSpPr>
          <p:cNvPr id="4" name="Text Placeholder 3">
            <a:extLst>
              <a:ext uri="{FF2B5EF4-FFF2-40B4-BE49-F238E27FC236}">
                <a16:creationId xmlns="" xmlns:a16="http://schemas.microsoft.com/office/drawing/2014/main" id="{78687C33-EA2C-4098-9517-7633384AE2A2}"/>
              </a:ext>
            </a:extLst>
          </p:cNvPr>
          <p:cNvSpPr>
            <a:spLocks noGrp="1"/>
          </p:cNvSpPr>
          <p:nvPr>
            <p:ph type="body" sz="quarter" idx="10"/>
          </p:nvPr>
        </p:nvSpPr>
        <p:spPr bwMode="gray">
          <a:xfrm>
            <a:off x="455612" y="1047750"/>
            <a:ext cx="11293475" cy="2398433"/>
          </a:xfrm>
        </p:spPr>
        <p:txBody>
          <a:bodyPr/>
          <a:lstStyle/>
          <a:p>
            <a:r>
              <a:rPr lang="zh-CN" altLang="en-US" sz="1800" dirty="0"/>
              <a:t>业务的发展促使越来越多的网络开始部署</a:t>
            </a:r>
            <a:r>
              <a:rPr lang="en-US" altLang="zh-CN" sz="1800" dirty="0"/>
              <a:t>IPv4/IPv6</a:t>
            </a:r>
            <a:r>
              <a:rPr lang="zh-CN" altLang="en-US" sz="1800" dirty="0"/>
              <a:t>双栈网络，而双栈网络的地址规划是双栈网络的基础。</a:t>
            </a:r>
            <a:endParaRPr lang="en-US" altLang="zh-CN" sz="1800" dirty="0"/>
          </a:p>
          <a:p>
            <a:r>
              <a:rPr lang="en-US" sz="1800" dirty="0"/>
              <a:t>IP</a:t>
            </a:r>
            <a:r>
              <a:rPr lang="zh-CN" altLang="en-US" sz="1800" dirty="0"/>
              <a:t>地址规划一般可以分为：</a:t>
            </a:r>
            <a:endParaRPr lang="en-US" altLang="zh-CN" sz="1800" dirty="0"/>
          </a:p>
          <a:p>
            <a:pPr lvl="1"/>
            <a:r>
              <a:rPr lang="en-US" sz="1600" dirty="0"/>
              <a:t>IP</a:t>
            </a:r>
            <a:r>
              <a:rPr lang="en-US" altLang="zh-CN" sz="1600" dirty="0"/>
              <a:t>v4</a:t>
            </a:r>
            <a:r>
              <a:rPr lang="zh-CN" altLang="en-US" sz="1600" dirty="0"/>
              <a:t>地址规划</a:t>
            </a:r>
            <a:endParaRPr lang="en-US" altLang="zh-CN" sz="1600" dirty="0"/>
          </a:p>
          <a:p>
            <a:pPr lvl="1"/>
            <a:r>
              <a:rPr lang="en-US" sz="1600" dirty="0"/>
              <a:t>IP</a:t>
            </a:r>
            <a:r>
              <a:rPr lang="en-US" altLang="zh-CN" sz="1600" dirty="0"/>
              <a:t>v6</a:t>
            </a:r>
            <a:r>
              <a:rPr lang="zh-CN" altLang="en-US" sz="1600" dirty="0"/>
              <a:t>地址规划</a:t>
            </a:r>
            <a:endParaRPr lang="en-US" altLang="zh-CN" sz="1600" dirty="0"/>
          </a:p>
          <a:p>
            <a:pPr lvl="1"/>
            <a:r>
              <a:rPr lang="en-US" sz="1600" dirty="0"/>
              <a:t>SR</a:t>
            </a:r>
            <a:r>
              <a:rPr lang="en-US" altLang="zh-CN" sz="1600" dirty="0"/>
              <a:t>v6 Locator</a:t>
            </a:r>
            <a:r>
              <a:rPr lang="zh-CN" altLang="en-US" sz="1600" dirty="0"/>
              <a:t>规划</a:t>
            </a:r>
            <a:endParaRPr lang="en-US" sz="1600" dirty="0"/>
          </a:p>
        </p:txBody>
      </p:sp>
      <p:pic>
        <p:nvPicPr>
          <p:cNvPr id="5" name="图片 48">
            <a:extLst>
              <a:ext uri="{FF2B5EF4-FFF2-40B4-BE49-F238E27FC236}">
                <a16:creationId xmlns="" xmlns:a16="http://schemas.microsoft.com/office/drawing/2014/main" id="{6CF70381-4011-4980-9981-0DF692C9B0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495178" y="4120667"/>
            <a:ext cx="378863" cy="310667"/>
          </a:xfrm>
          <a:prstGeom prst="rect">
            <a:avLst/>
          </a:prstGeom>
        </p:spPr>
      </p:pic>
      <p:pic>
        <p:nvPicPr>
          <p:cNvPr id="6" name="图片 48">
            <a:extLst>
              <a:ext uri="{FF2B5EF4-FFF2-40B4-BE49-F238E27FC236}">
                <a16:creationId xmlns="" xmlns:a16="http://schemas.microsoft.com/office/drawing/2014/main" id="{9C2895BE-2921-447A-938D-36E7BA7A79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495178" y="5348239"/>
            <a:ext cx="378863" cy="310667"/>
          </a:xfrm>
          <a:prstGeom prst="rect">
            <a:avLst/>
          </a:prstGeom>
        </p:spPr>
      </p:pic>
      <p:pic>
        <p:nvPicPr>
          <p:cNvPr id="7" name="图片 48">
            <a:extLst>
              <a:ext uri="{FF2B5EF4-FFF2-40B4-BE49-F238E27FC236}">
                <a16:creationId xmlns="" xmlns:a16="http://schemas.microsoft.com/office/drawing/2014/main" id="{7853F725-1A3D-4409-B722-99D64184D8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906042" y="4120667"/>
            <a:ext cx="378863" cy="310667"/>
          </a:xfrm>
          <a:prstGeom prst="rect">
            <a:avLst/>
          </a:prstGeom>
        </p:spPr>
      </p:pic>
      <p:pic>
        <p:nvPicPr>
          <p:cNvPr id="8" name="图片 48">
            <a:extLst>
              <a:ext uri="{FF2B5EF4-FFF2-40B4-BE49-F238E27FC236}">
                <a16:creationId xmlns="" xmlns:a16="http://schemas.microsoft.com/office/drawing/2014/main" id="{731C82F0-282A-41AD-BE63-655CB9D74D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906042" y="5348239"/>
            <a:ext cx="378863" cy="310667"/>
          </a:xfrm>
          <a:prstGeom prst="rect">
            <a:avLst/>
          </a:prstGeom>
        </p:spPr>
      </p:pic>
      <p:pic>
        <p:nvPicPr>
          <p:cNvPr id="9" name="图片 48">
            <a:extLst>
              <a:ext uri="{FF2B5EF4-FFF2-40B4-BE49-F238E27FC236}">
                <a16:creationId xmlns="" xmlns:a16="http://schemas.microsoft.com/office/drawing/2014/main" id="{94ED9BB7-021F-4296-8C1C-20146889E9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768401" y="4117733"/>
            <a:ext cx="378863" cy="310667"/>
          </a:xfrm>
          <a:prstGeom prst="rect">
            <a:avLst/>
          </a:prstGeom>
        </p:spPr>
      </p:pic>
      <p:pic>
        <p:nvPicPr>
          <p:cNvPr id="10" name="图片 48">
            <a:extLst>
              <a:ext uri="{FF2B5EF4-FFF2-40B4-BE49-F238E27FC236}">
                <a16:creationId xmlns="" xmlns:a16="http://schemas.microsoft.com/office/drawing/2014/main" id="{C6EB4D73-ADB7-4478-939A-5EDAA94012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16003" y="5345305"/>
            <a:ext cx="378863" cy="310667"/>
          </a:xfrm>
          <a:prstGeom prst="rect">
            <a:avLst/>
          </a:prstGeom>
        </p:spPr>
      </p:pic>
      <p:pic>
        <p:nvPicPr>
          <p:cNvPr id="11" name="图片 48">
            <a:extLst>
              <a:ext uri="{FF2B5EF4-FFF2-40B4-BE49-F238E27FC236}">
                <a16:creationId xmlns="" xmlns:a16="http://schemas.microsoft.com/office/drawing/2014/main" id="{78161B55-1CB1-4712-BFE0-8E16BFC976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74305" y="5344883"/>
            <a:ext cx="378863" cy="310667"/>
          </a:xfrm>
          <a:prstGeom prst="rect">
            <a:avLst/>
          </a:prstGeom>
        </p:spPr>
      </p:pic>
      <p:cxnSp>
        <p:nvCxnSpPr>
          <p:cNvPr id="12" name="Straight Connector 11">
            <a:extLst>
              <a:ext uri="{FF2B5EF4-FFF2-40B4-BE49-F238E27FC236}">
                <a16:creationId xmlns="" xmlns:a16="http://schemas.microsoft.com/office/drawing/2014/main" id="{9745ED08-0EDF-45BB-B312-A94C9DD88AF2}"/>
              </a:ext>
            </a:extLst>
          </p:cNvPr>
          <p:cNvCxnSpPr>
            <a:cxnSpLocks/>
            <a:stCxn id="6" idx="0"/>
            <a:endCxn id="5" idx="2"/>
          </p:cNvCxnSpPr>
          <p:nvPr/>
        </p:nvCxnSpPr>
        <p:spPr bwMode="gray">
          <a:xfrm flipV="1">
            <a:off x="5684610" y="4431334"/>
            <a:ext cx="0" cy="9169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84E61144-31A0-4ADE-B968-5D1E5E1B88FE}"/>
              </a:ext>
            </a:extLst>
          </p:cNvPr>
          <p:cNvCxnSpPr>
            <a:cxnSpLocks/>
            <a:stCxn id="9" idx="1"/>
            <a:endCxn id="5" idx="3"/>
          </p:cNvCxnSpPr>
          <p:nvPr/>
        </p:nvCxnSpPr>
        <p:spPr bwMode="gray">
          <a:xfrm flipH="1">
            <a:off x="5874041" y="4273067"/>
            <a:ext cx="1894360"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E9B74A4A-50CC-4AE4-B3C0-1133116612CD}"/>
              </a:ext>
            </a:extLst>
          </p:cNvPr>
          <p:cNvCxnSpPr>
            <a:cxnSpLocks/>
            <a:stCxn id="10" idx="1"/>
            <a:endCxn id="6" idx="3"/>
          </p:cNvCxnSpPr>
          <p:nvPr/>
        </p:nvCxnSpPr>
        <p:spPr bwMode="gray">
          <a:xfrm flipH="1">
            <a:off x="5874041" y="5500639"/>
            <a:ext cx="104196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087BF4F1-E629-46B4-80CE-1BA9AF44A6FD}"/>
              </a:ext>
            </a:extLst>
          </p:cNvPr>
          <p:cNvCxnSpPr>
            <a:cxnSpLocks/>
            <a:stCxn id="9" idx="1"/>
            <a:endCxn id="10" idx="0"/>
          </p:cNvCxnSpPr>
          <p:nvPr/>
        </p:nvCxnSpPr>
        <p:spPr bwMode="gray">
          <a:xfrm flipH="1">
            <a:off x="7105435" y="4273067"/>
            <a:ext cx="662966" cy="107223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484B7242-2C9E-43B8-A0DB-D3E82A29FB7A}"/>
              </a:ext>
            </a:extLst>
          </p:cNvPr>
          <p:cNvCxnSpPr>
            <a:cxnSpLocks/>
            <a:stCxn id="11" idx="1"/>
            <a:endCxn id="10" idx="3"/>
          </p:cNvCxnSpPr>
          <p:nvPr/>
        </p:nvCxnSpPr>
        <p:spPr bwMode="gray">
          <a:xfrm flipH="1">
            <a:off x="7294866" y="5500217"/>
            <a:ext cx="1379439"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3C87E5AD-FDD9-402A-B9CA-D798F2499A24}"/>
              </a:ext>
            </a:extLst>
          </p:cNvPr>
          <p:cNvCxnSpPr>
            <a:cxnSpLocks/>
            <a:stCxn id="11" idx="0"/>
            <a:endCxn id="9" idx="3"/>
          </p:cNvCxnSpPr>
          <p:nvPr/>
        </p:nvCxnSpPr>
        <p:spPr bwMode="gray">
          <a:xfrm flipH="1" flipV="1">
            <a:off x="8147264" y="4273067"/>
            <a:ext cx="716473" cy="107181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D981EA81-CDB5-43EA-B1FE-9916F1985A51}"/>
              </a:ext>
            </a:extLst>
          </p:cNvPr>
          <p:cNvCxnSpPr>
            <a:cxnSpLocks/>
            <a:stCxn id="7" idx="1"/>
            <a:endCxn id="9" idx="3"/>
          </p:cNvCxnSpPr>
          <p:nvPr/>
        </p:nvCxnSpPr>
        <p:spPr bwMode="gray">
          <a:xfrm flipH="1" flipV="1">
            <a:off x="8147264" y="4273067"/>
            <a:ext cx="175877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17E3BBD5-D262-4679-AAE5-C1C876B87720}"/>
              </a:ext>
            </a:extLst>
          </p:cNvPr>
          <p:cNvCxnSpPr>
            <a:cxnSpLocks/>
            <a:stCxn id="8" idx="1"/>
            <a:endCxn id="11" idx="3"/>
          </p:cNvCxnSpPr>
          <p:nvPr/>
        </p:nvCxnSpPr>
        <p:spPr bwMode="gray">
          <a:xfrm flipH="1" flipV="1">
            <a:off x="9053168" y="5500217"/>
            <a:ext cx="852874"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1A8AE47B-F5FA-4D47-9AD1-F155DFD56F9F}"/>
              </a:ext>
            </a:extLst>
          </p:cNvPr>
          <p:cNvCxnSpPr>
            <a:cxnSpLocks/>
            <a:stCxn id="7" idx="2"/>
            <a:endCxn id="8" idx="0"/>
          </p:cNvCxnSpPr>
          <p:nvPr/>
        </p:nvCxnSpPr>
        <p:spPr bwMode="gray">
          <a:xfrm>
            <a:off x="10095474" y="4431334"/>
            <a:ext cx="0" cy="91690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TextBox 271">
            <a:extLst>
              <a:ext uri="{FF2B5EF4-FFF2-40B4-BE49-F238E27FC236}">
                <a16:creationId xmlns="" xmlns:a16="http://schemas.microsoft.com/office/drawing/2014/main" id="{4278E053-DDEB-4EF7-9E78-DED714CB8831}"/>
              </a:ext>
            </a:extLst>
          </p:cNvPr>
          <p:cNvSpPr txBox="1"/>
          <p:nvPr/>
        </p:nvSpPr>
        <p:spPr bwMode="gray">
          <a:xfrm>
            <a:off x="5505714" y="387675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271">
            <a:extLst>
              <a:ext uri="{FF2B5EF4-FFF2-40B4-BE49-F238E27FC236}">
                <a16:creationId xmlns="" xmlns:a16="http://schemas.microsoft.com/office/drawing/2014/main" id="{12D58AB3-6D83-4713-A858-70BC2365E767}"/>
              </a:ext>
            </a:extLst>
          </p:cNvPr>
          <p:cNvSpPr txBox="1"/>
          <p:nvPr/>
        </p:nvSpPr>
        <p:spPr bwMode="gray">
          <a:xfrm>
            <a:off x="5488542" y="563470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271">
            <a:extLst>
              <a:ext uri="{FF2B5EF4-FFF2-40B4-BE49-F238E27FC236}">
                <a16:creationId xmlns="" xmlns:a16="http://schemas.microsoft.com/office/drawing/2014/main" id="{FB41326D-70F9-47E9-8465-576CC358FCAD}"/>
              </a:ext>
            </a:extLst>
          </p:cNvPr>
          <p:cNvSpPr txBox="1"/>
          <p:nvPr/>
        </p:nvSpPr>
        <p:spPr bwMode="gray">
          <a:xfrm>
            <a:off x="9903618" y="3894271"/>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71">
            <a:extLst>
              <a:ext uri="{FF2B5EF4-FFF2-40B4-BE49-F238E27FC236}">
                <a16:creationId xmlns="" xmlns:a16="http://schemas.microsoft.com/office/drawing/2014/main" id="{03A04FF3-C17D-4552-B59B-0240B0A204EF}"/>
              </a:ext>
            </a:extLst>
          </p:cNvPr>
          <p:cNvSpPr txBox="1"/>
          <p:nvPr/>
        </p:nvSpPr>
        <p:spPr bwMode="gray">
          <a:xfrm>
            <a:off x="9905217" y="564468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271">
            <a:extLst>
              <a:ext uri="{FF2B5EF4-FFF2-40B4-BE49-F238E27FC236}">
                <a16:creationId xmlns="" xmlns:a16="http://schemas.microsoft.com/office/drawing/2014/main" id="{75A62509-8B9A-42A3-8FBC-56BC4FFF53A9}"/>
              </a:ext>
            </a:extLst>
          </p:cNvPr>
          <p:cNvSpPr txBox="1"/>
          <p:nvPr/>
        </p:nvSpPr>
        <p:spPr bwMode="gray">
          <a:xfrm>
            <a:off x="7827436" y="3876752"/>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71">
            <a:extLst>
              <a:ext uri="{FF2B5EF4-FFF2-40B4-BE49-F238E27FC236}">
                <a16:creationId xmlns="" xmlns:a16="http://schemas.microsoft.com/office/drawing/2014/main" id="{58CCD81C-62ED-4822-8612-4D2727E71D02}"/>
              </a:ext>
            </a:extLst>
          </p:cNvPr>
          <p:cNvSpPr txBox="1"/>
          <p:nvPr/>
        </p:nvSpPr>
        <p:spPr bwMode="gray">
          <a:xfrm>
            <a:off x="6965840" y="5622403"/>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71">
            <a:extLst>
              <a:ext uri="{FF2B5EF4-FFF2-40B4-BE49-F238E27FC236}">
                <a16:creationId xmlns="" xmlns:a16="http://schemas.microsoft.com/office/drawing/2014/main" id="{B5D79FC3-4D1F-4B4B-9EF9-3FAF04568061}"/>
              </a:ext>
            </a:extLst>
          </p:cNvPr>
          <p:cNvSpPr txBox="1"/>
          <p:nvPr/>
        </p:nvSpPr>
        <p:spPr bwMode="gray">
          <a:xfrm>
            <a:off x="8725479" y="5644438"/>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48">
            <a:extLst>
              <a:ext uri="{FF2B5EF4-FFF2-40B4-BE49-F238E27FC236}">
                <a16:creationId xmlns="" xmlns:a16="http://schemas.microsoft.com/office/drawing/2014/main" id="{720ABF18-E095-4DAB-A43F-0C640F2A09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674609" y="2770996"/>
            <a:ext cx="378863" cy="310667"/>
          </a:xfrm>
          <a:prstGeom prst="rect">
            <a:avLst/>
          </a:prstGeom>
        </p:spPr>
      </p:pic>
      <p:pic>
        <p:nvPicPr>
          <p:cNvPr id="29" name="图片 48">
            <a:extLst>
              <a:ext uri="{FF2B5EF4-FFF2-40B4-BE49-F238E27FC236}">
                <a16:creationId xmlns="" xmlns:a16="http://schemas.microsoft.com/office/drawing/2014/main" id="{4BAE3BD3-5500-446F-89F2-A8835419F7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18356" y="2770996"/>
            <a:ext cx="378863" cy="310667"/>
          </a:xfrm>
          <a:prstGeom prst="rect">
            <a:avLst/>
          </a:prstGeom>
        </p:spPr>
      </p:pic>
      <p:cxnSp>
        <p:nvCxnSpPr>
          <p:cNvPr id="30" name="Straight Connector 29">
            <a:extLst>
              <a:ext uri="{FF2B5EF4-FFF2-40B4-BE49-F238E27FC236}">
                <a16:creationId xmlns="" xmlns:a16="http://schemas.microsoft.com/office/drawing/2014/main" id="{5F6F02B5-07D2-44D2-BC61-3CA1911E3C08}"/>
              </a:ext>
            </a:extLst>
          </p:cNvPr>
          <p:cNvCxnSpPr>
            <a:cxnSpLocks/>
            <a:stCxn id="29" idx="3"/>
            <a:endCxn id="28" idx="1"/>
          </p:cNvCxnSpPr>
          <p:nvPr/>
        </p:nvCxnSpPr>
        <p:spPr bwMode="gray">
          <a:xfrm>
            <a:off x="7297219" y="2926330"/>
            <a:ext cx="137739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1" name="TextBox 271">
            <a:extLst>
              <a:ext uri="{FF2B5EF4-FFF2-40B4-BE49-F238E27FC236}">
                <a16:creationId xmlns="" xmlns:a16="http://schemas.microsoft.com/office/drawing/2014/main" id="{51432D66-2C3B-4A3F-A8F3-F27E091DE57F}"/>
              </a:ext>
            </a:extLst>
          </p:cNvPr>
          <p:cNvSpPr txBox="1"/>
          <p:nvPr/>
        </p:nvSpPr>
        <p:spPr bwMode="gray">
          <a:xfrm>
            <a:off x="6627029" y="2792220"/>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271">
            <a:extLst>
              <a:ext uri="{FF2B5EF4-FFF2-40B4-BE49-F238E27FC236}">
                <a16:creationId xmlns="" xmlns:a16="http://schemas.microsoft.com/office/drawing/2014/main" id="{3400A4FF-FE85-4F07-83C8-16D7E354E8EC}"/>
              </a:ext>
            </a:extLst>
          </p:cNvPr>
          <p:cNvSpPr txBox="1"/>
          <p:nvPr/>
        </p:nvSpPr>
        <p:spPr bwMode="gray">
          <a:xfrm>
            <a:off x="8988006" y="278006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Straight Connector 33">
            <a:extLst>
              <a:ext uri="{FF2B5EF4-FFF2-40B4-BE49-F238E27FC236}">
                <a16:creationId xmlns="" xmlns:a16="http://schemas.microsoft.com/office/drawing/2014/main" id="{BD175F0D-D331-4384-87BB-BA9A545A293B}"/>
              </a:ext>
            </a:extLst>
          </p:cNvPr>
          <p:cNvCxnSpPr>
            <a:cxnSpLocks/>
            <a:stCxn id="29" idx="2"/>
            <a:endCxn id="9" idx="1"/>
          </p:cNvCxnSpPr>
          <p:nvPr/>
        </p:nvCxnSpPr>
        <p:spPr bwMode="gray">
          <a:xfrm>
            <a:off x="7107788" y="3081663"/>
            <a:ext cx="660613" cy="119140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3D8984A1-F45C-4A87-9C70-496AD6CDCE66}"/>
              </a:ext>
            </a:extLst>
          </p:cNvPr>
          <p:cNvCxnSpPr>
            <a:cxnSpLocks/>
            <a:stCxn id="28" idx="2"/>
            <a:endCxn id="9" idx="3"/>
          </p:cNvCxnSpPr>
          <p:nvPr/>
        </p:nvCxnSpPr>
        <p:spPr bwMode="gray">
          <a:xfrm flipH="1">
            <a:off x="8147264" y="3081663"/>
            <a:ext cx="716777" cy="119140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 xmlns:a16="http://schemas.microsoft.com/office/drawing/2014/main" id="{2ECCEE3E-2DCF-4656-BEB3-7F70801A4588}"/>
              </a:ext>
            </a:extLst>
          </p:cNvPr>
          <p:cNvSpPr/>
          <p:nvPr/>
        </p:nvSpPr>
        <p:spPr bwMode="gray">
          <a:xfrm>
            <a:off x="4578698" y="2631082"/>
            <a:ext cx="6153192" cy="3350887"/>
          </a:xfrm>
          <a:prstGeom prst="roundRect">
            <a:avLst>
              <a:gd name="adj" fmla="val 188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271">
            <a:extLst>
              <a:ext uri="{FF2B5EF4-FFF2-40B4-BE49-F238E27FC236}">
                <a16:creationId xmlns="" xmlns:a16="http://schemas.microsoft.com/office/drawing/2014/main" id="{4EB44980-A874-4574-AE48-FFE831958200}"/>
              </a:ext>
            </a:extLst>
          </p:cNvPr>
          <p:cNvSpPr txBox="1"/>
          <p:nvPr/>
        </p:nvSpPr>
        <p:spPr bwMode="gray">
          <a:xfrm rot="16200000">
            <a:off x="4077824" y="2913222"/>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cxnSp>
        <p:nvCxnSpPr>
          <p:cNvPr id="42" name="Straight Connector 41">
            <a:extLst>
              <a:ext uri="{FF2B5EF4-FFF2-40B4-BE49-F238E27FC236}">
                <a16:creationId xmlns="" xmlns:a16="http://schemas.microsoft.com/office/drawing/2014/main" id="{6D9D8532-DF4A-423F-ACA3-1048B210E732}"/>
              </a:ext>
            </a:extLst>
          </p:cNvPr>
          <p:cNvCxnSpPr>
            <a:cxnSpLocks/>
            <a:endCxn id="5" idx="1"/>
          </p:cNvCxnSpPr>
          <p:nvPr/>
        </p:nvCxnSpPr>
        <p:spPr bwMode="gray">
          <a:xfrm>
            <a:off x="5270847" y="4276001"/>
            <a:ext cx="22433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FF88341E-3699-4468-B6E3-01AF6781D94F}"/>
              </a:ext>
            </a:extLst>
          </p:cNvPr>
          <p:cNvCxnSpPr>
            <a:cxnSpLocks/>
          </p:cNvCxnSpPr>
          <p:nvPr/>
        </p:nvCxnSpPr>
        <p:spPr bwMode="gray">
          <a:xfrm>
            <a:off x="5270847" y="4174454"/>
            <a:ext cx="0" cy="203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 xmlns:a16="http://schemas.microsoft.com/office/drawing/2014/main" id="{46D9D862-F74D-493F-A278-83863307F839}"/>
              </a:ext>
            </a:extLst>
          </p:cNvPr>
          <p:cNvSpPr txBox="1"/>
          <p:nvPr/>
        </p:nvSpPr>
        <p:spPr bwMode="gray">
          <a:xfrm>
            <a:off x="4712579" y="3917573"/>
            <a:ext cx="869149" cy="276999"/>
          </a:xfrm>
          <a:prstGeom prst="rect">
            <a:avLst/>
          </a:prstGeom>
          <a:noFill/>
        </p:spPr>
        <p:txBody>
          <a:bodyPr wrap="none" rtlCol="0">
            <a:spAutoFit/>
          </a:bodyPr>
          <a:lstStyle/>
          <a:p>
            <a:r>
              <a:rPr lang="en-US" altLang="zh-CN" sz="1200" dirty="0"/>
              <a:t>1.1.1.1/32</a:t>
            </a:r>
          </a:p>
        </p:txBody>
      </p:sp>
      <p:sp>
        <p:nvSpPr>
          <p:cNvPr id="50" name="TextBox 49">
            <a:extLst>
              <a:ext uri="{FF2B5EF4-FFF2-40B4-BE49-F238E27FC236}">
                <a16:creationId xmlns="" xmlns:a16="http://schemas.microsoft.com/office/drawing/2014/main" id="{57AD6E5B-CA72-4BB6-981F-A755D53B5F84}"/>
              </a:ext>
            </a:extLst>
          </p:cNvPr>
          <p:cNvSpPr txBox="1"/>
          <p:nvPr/>
        </p:nvSpPr>
        <p:spPr bwMode="gray">
          <a:xfrm>
            <a:off x="7663137" y="2146387"/>
            <a:ext cx="1042273" cy="461665"/>
          </a:xfrm>
          <a:prstGeom prst="rect">
            <a:avLst/>
          </a:prstGeom>
          <a:noFill/>
        </p:spPr>
        <p:txBody>
          <a:bodyPr wrap="none" rtlCol="0">
            <a:spAutoFit/>
          </a:bodyPr>
          <a:lstStyle/>
          <a:p>
            <a:r>
              <a:rPr lang="en-US" altLang="zh-CN" sz="1200" dirty="0"/>
              <a:t>100.0.0.0/24</a:t>
            </a:r>
          </a:p>
          <a:p>
            <a:r>
              <a:rPr lang="en-US" altLang="zh-CN" sz="1200" dirty="0"/>
              <a:t>100::/64</a:t>
            </a:r>
          </a:p>
        </p:txBody>
      </p:sp>
      <p:sp>
        <p:nvSpPr>
          <p:cNvPr id="51" name="TextBox 50">
            <a:extLst>
              <a:ext uri="{FF2B5EF4-FFF2-40B4-BE49-F238E27FC236}">
                <a16:creationId xmlns="" xmlns:a16="http://schemas.microsoft.com/office/drawing/2014/main" id="{379DA709-F69E-4117-BBC7-0098FB7C973A}"/>
              </a:ext>
            </a:extLst>
          </p:cNvPr>
          <p:cNvSpPr txBox="1"/>
          <p:nvPr/>
        </p:nvSpPr>
        <p:spPr bwMode="gray">
          <a:xfrm>
            <a:off x="6247015" y="4282815"/>
            <a:ext cx="833883" cy="276999"/>
          </a:xfrm>
          <a:prstGeom prst="rect">
            <a:avLst/>
          </a:prstGeom>
          <a:noFill/>
        </p:spPr>
        <p:txBody>
          <a:bodyPr wrap="none" rtlCol="0">
            <a:spAutoFit/>
          </a:bodyPr>
          <a:lstStyle/>
          <a:p>
            <a:r>
              <a:rPr lang="en-US" altLang="zh-CN" sz="1200" dirty="0"/>
              <a:t>2000::/64</a:t>
            </a:r>
          </a:p>
        </p:txBody>
      </p:sp>
      <p:sp>
        <p:nvSpPr>
          <p:cNvPr id="52" name="TextBox 51">
            <a:extLst>
              <a:ext uri="{FF2B5EF4-FFF2-40B4-BE49-F238E27FC236}">
                <a16:creationId xmlns="" xmlns:a16="http://schemas.microsoft.com/office/drawing/2014/main" id="{7E8EFDDB-192A-4577-AFF6-D720997F1BE4}"/>
              </a:ext>
            </a:extLst>
          </p:cNvPr>
          <p:cNvSpPr txBox="1"/>
          <p:nvPr/>
        </p:nvSpPr>
        <p:spPr bwMode="gray">
          <a:xfrm>
            <a:off x="4720745" y="4356845"/>
            <a:ext cx="660758" cy="276999"/>
          </a:xfrm>
          <a:prstGeom prst="rect">
            <a:avLst/>
          </a:prstGeom>
          <a:noFill/>
        </p:spPr>
        <p:txBody>
          <a:bodyPr wrap="none" rtlCol="0">
            <a:spAutoFit/>
          </a:bodyPr>
          <a:lstStyle/>
          <a:p>
            <a:r>
              <a:rPr lang="en-US" altLang="zh-CN" sz="1200" dirty="0"/>
              <a:t>1::1/32</a:t>
            </a:r>
          </a:p>
        </p:txBody>
      </p:sp>
      <p:sp>
        <p:nvSpPr>
          <p:cNvPr id="53" name="TextBox 52">
            <a:extLst>
              <a:ext uri="{FF2B5EF4-FFF2-40B4-BE49-F238E27FC236}">
                <a16:creationId xmlns="" xmlns:a16="http://schemas.microsoft.com/office/drawing/2014/main" id="{2303BC3C-6D0E-45D8-B2BA-A9C25D24AEA5}"/>
              </a:ext>
            </a:extLst>
          </p:cNvPr>
          <p:cNvSpPr txBox="1"/>
          <p:nvPr/>
        </p:nvSpPr>
        <p:spPr bwMode="gray">
          <a:xfrm>
            <a:off x="9433136" y="3670227"/>
            <a:ext cx="1298753" cy="276999"/>
          </a:xfrm>
          <a:prstGeom prst="rect">
            <a:avLst/>
          </a:prstGeom>
          <a:noFill/>
        </p:spPr>
        <p:txBody>
          <a:bodyPr wrap="none" rtlCol="0">
            <a:spAutoFit/>
          </a:bodyPr>
          <a:lstStyle/>
          <a:p>
            <a:r>
              <a:rPr lang="en-US" altLang="zh-CN" sz="1200" dirty="0"/>
              <a:t>Locator:</a:t>
            </a:r>
            <a:r>
              <a:rPr lang="zh-CN" altLang="en-US" sz="1200" dirty="0"/>
              <a:t> </a:t>
            </a:r>
            <a:r>
              <a:rPr lang="en-US" altLang="zh-CN" sz="1200" dirty="0"/>
              <a:t>FC00::1</a:t>
            </a:r>
          </a:p>
        </p:txBody>
      </p:sp>
      <p:sp>
        <p:nvSpPr>
          <p:cNvPr id="54" name="Rectangular Callout 26">
            <a:extLst>
              <a:ext uri="{FF2B5EF4-FFF2-40B4-BE49-F238E27FC236}">
                <a16:creationId xmlns="" xmlns:a16="http://schemas.microsoft.com/office/drawing/2014/main" id="{13571F48-F9D6-4F60-97BE-7F007BDE1083}"/>
              </a:ext>
            </a:extLst>
          </p:cNvPr>
          <p:cNvSpPr/>
          <p:nvPr/>
        </p:nvSpPr>
        <p:spPr bwMode="gray">
          <a:xfrm>
            <a:off x="4791068" y="3371064"/>
            <a:ext cx="790659" cy="419540"/>
          </a:xfrm>
          <a:prstGeom prst="wedgeRectCallout">
            <a:avLst>
              <a:gd name="adj1" fmla="val -20316"/>
              <a:gd name="adj2" fmla="val 7674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IPv4</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地址规划</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5" name="Rectangular Callout 26">
            <a:extLst>
              <a:ext uri="{FF2B5EF4-FFF2-40B4-BE49-F238E27FC236}">
                <a16:creationId xmlns="" xmlns:a16="http://schemas.microsoft.com/office/drawing/2014/main" id="{F2BED242-89E2-48F5-BDEE-2BAE51C46D30}"/>
              </a:ext>
            </a:extLst>
          </p:cNvPr>
          <p:cNvSpPr/>
          <p:nvPr/>
        </p:nvSpPr>
        <p:spPr bwMode="gray">
          <a:xfrm>
            <a:off x="4762271" y="4757682"/>
            <a:ext cx="819449" cy="419540"/>
          </a:xfrm>
          <a:prstGeom prst="wedgeRectCallout">
            <a:avLst>
              <a:gd name="adj1" fmla="val -21478"/>
              <a:gd name="adj2" fmla="val -912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地址规划</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Rectangular Callout 26">
            <a:extLst>
              <a:ext uri="{FF2B5EF4-FFF2-40B4-BE49-F238E27FC236}">
                <a16:creationId xmlns="" xmlns:a16="http://schemas.microsoft.com/office/drawing/2014/main" id="{280B9996-C7CF-4B55-8C4E-F1634E4588E8}"/>
              </a:ext>
            </a:extLst>
          </p:cNvPr>
          <p:cNvSpPr/>
          <p:nvPr/>
        </p:nvSpPr>
        <p:spPr bwMode="gray">
          <a:xfrm>
            <a:off x="9466595" y="3109316"/>
            <a:ext cx="1085066" cy="419540"/>
          </a:xfrm>
          <a:prstGeom prst="wedgeRectCallout">
            <a:avLst>
              <a:gd name="adj1" fmla="val -19153"/>
              <a:gd name="adj2" fmla="val 8128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 Locator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规划</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7" name="图片 24">
            <a:extLst>
              <a:ext uri="{FF2B5EF4-FFF2-40B4-BE49-F238E27FC236}">
                <a16:creationId xmlns="" xmlns:a16="http://schemas.microsoft.com/office/drawing/2014/main" id="{EE8E8665-683E-477D-A546-F95B20C2F0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679325" y="1744487"/>
            <a:ext cx="1977229" cy="364654"/>
          </a:xfrm>
          <a:prstGeom prst="rect">
            <a:avLst/>
          </a:prstGeom>
        </p:spPr>
      </p:pic>
      <p:sp>
        <p:nvSpPr>
          <p:cNvPr id="58" name="圆角矩形 75">
            <a:extLst>
              <a:ext uri="{FF2B5EF4-FFF2-40B4-BE49-F238E27FC236}">
                <a16:creationId xmlns="" xmlns:a16="http://schemas.microsoft.com/office/drawing/2014/main" id="{6899863C-C86A-4C4E-AB4F-3C03D389799D}"/>
              </a:ext>
            </a:extLst>
          </p:cNvPr>
          <p:cNvSpPr/>
          <p:nvPr/>
        </p:nvSpPr>
        <p:spPr bwMode="gray">
          <a:xfrm>
            <a:off x="6597335" y="1718141"/>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59" name="Straight Connector 58">
            <a:extLst>
              <a:ext uri="{FF2B5EF4-FFF2-40B4-BE49-F238E27FC236}">
                <a16:creationId xmlns="" xmlns:a16="http://schemas.microsoft.com/office/drawing/2014/main" id="{35A90707-7AC7-4D42-885B-7BBD684A4C22}"/>
              </a:ext>
            </a:extLst>
          </p:cNvPr>
          <p:cNvCxnSpPr>
            <a:cxnSpLocks/>
            <a:stCxn id="58" idx="2"/>
            <a:endCxn id="40" idx="0"/>
          </p:cNvCxnSpPr>
          <p:nvPr/>
        </p:nvCxnSpPr>
        <p:spPr bwMode="gray">
          <a:xfrm>
            <a:off x="7655294" y="2121421"/>
            <a:ext cx="0" cy="50966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 xmlns:a16="http://schemas.microsoft.com/office/drawing/2014/main" id="{82F3BAA9-76EF-4AF5-BF0D-9A884E63D887}"/>
              </a:ext>
            </a:extLst>
          </p:cNvPr>
          <p:cNvSpPr txBox="1"/>
          <p:nvPr/>
        </p:nvSpPr>
        <p:spPr bwMode="gray">
          <a:xfrm>
            <a:off x="6204438" y="4006959"/>
            <a:ext cx="955711" cy="276999"/>
          </a:xfrm>
          <a:prstGeom prst="rect">
            <a:avLst/>
          </a:prstGeom>
          <a:noFill/>
        </p:spPr>
        <p:txBody>
          <a:bodyPr wrap="none" rtlCol="0">
            <a:spAutoFit/>
          </a:bodyPr>
          <a:lstStyle/>
          <a:p>
            <a:r>
              <a:rPr lang="en-US" altLang="zh-CN" sz="1200" dirty="0"/>
              <a:t>10.0.0.0/30</a:t>
            </a:r>
          </a:p>
        </p:txBody>
      </p:sp>
    </p:spTree>
    <p:extLst>
      <p:ext uri="{BB962C8B-B14F-4D97-AF65-F5344CB8AC3E}">
        <p14:creationId xmlns:p14="http://schemas.microsoft.com/office/powerpoint/2010/main" val="2042198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E8F73F-E080-4D7E-B56B-8A0AC5B93F2D}"/>
              </a:ext>
            </a:extLst>
          </p:cNvPr>
          <p:cNvSpPr>
            <a:spLocks noGrp="1"/>
          </p:cNvSpPr>
          <p:nvPr>
            <p:ph type="title"/>
          </p:nvPr>
        </p:nvSpPr>
        <p:spPr bwMode="gray"/>
        <p:txBody>
          <a:bodyPr/>
          <a:lstStyle/>
          <a:p>
            <a:r>
              <a:rPr lang="en-US" dirty="0"/>
              <a:t>IP</a:t>
            </a:r>
            <a:r>
              <a:rPr lang="en-US" altLang="zh-CN" dirty="0"/>
              <a:t>v4</a:t>
            </a:r>
            <a:r>
              <a:rPr lang="zh-CN" altLang="en-US" dirty="0"/>
              <a:t>地址设计原则</a:t>
            </a:r>
            <a:endParaRPr lang="en-US" dirty="0"/>
          </a:p>
        </p:txBody>
      </p:sp>
      <p:sp>
        <p:nvSpPr>
          <p:cNvPr id="3" name="Text Placeholder 2">
            <a:extLst>
              <a:ext uri="{FF2B5EF4-FFF2-40B4-BE49-F238E27FC236}">
                <a16:creationId xmlns="" xmlns:a16="http://schemas.microsoft.com/office/drawing/2014/main" id="{1ACED2B5-D1E7-4A6F-A601-6ED41F8C4818}"/>
              </a:ext>
            </a:extLst>
          </p:cNvPr>
          <p:cNvSpPr>
            <a:spLocks noGrp="1"/>
          </p:cNvSpPr>
          <p:nvPr>
            <p:ph type="body" sz="quarter" idx="10"/>
          </p:nvPr>
        </p:nvSpPr>
        <p:spPr bwMode="gray">
          <a:xfrm>
            <a:off x="455612" y="1047750"/>
            <a:ext cx="11293475" cy="830983"/>
          </a:xfrm>
        </p:spPr>
        <p:txBody>
          <a:bodyPr/>
          <a:lstStyle/>
          <a:p>
            <a:r>
              <a:rPr lang="zh-CN" altLang="en-US" sz="1800" dirty="0"/>
              <a:t>考虑业务继承和网络管理的方便，骨干网中保留互连</a:t>
            </a:r>
            <a:r>
              <a:rPr lang="en-US" altLang="zh-CN" sz="1800" dirty="0"/>
              <a:t>IPv4</a:t>
            </a:r>
            <a:r>
              <a:rPr lang="zh-CN" altLang="en-US" sz="1800" dirty="0"/>
              <a:t>地址的使用。</a:t>
            </a:r>
            <a:r>
              <a:rPr lang="en-US" altLang="zh-CN" sz="1800" dirty="0"/>
              <a:t>IPv4</a:t>
            </a:r>
            <a:r>
              <a:rPr lang="zh-CN" altLang="en-US" sz="1800" dirty="0"/>
              <a:t>地址的分配应该遵循客户现有的</a:t>
            </a:r>
            <a:r>
              <a:rPr lang="en-US" altLang="zh-CN" sz="1800" dirty="0"/>
              <a:t>IPv4</a:t>
            </a:r>
            <a:r>
              <a:rPr lang="zh-CN" altLang="en-US" sz="1800" dirty="0"/>
              <a:t>地址分配规范，按规范要求来分配</a:t>
            </a:r>
            <a:r>
              <a:rPr lang="en-US" altLang="zh-CN" sz="1800" dirty="0"/>
              <a:t>IP</a:t>
            </a:r>
            <a:r>
              <a:rPr lang="zh-CN" altLang="en-US" sz="1800" dirty="0"/>
              <a:t>地址。</a:t>
            </a:r>
            <a:endParaRPr lang="en-US" altLang="zh-CN" sz="1800" dirty="0"/>
          </a:p>
        </p:txBody>
      </p:sp>
      <p:sp>
        <p:nvSpPr>
          <p:cNvPr id="5" name="圆角矩形 75">
            <a:extLst>
              <a:ext uri="{FF2B5EF4-FFF2-40B4-BE49-F238E27FC236}">
                <a16:creationId xmlns="" xmlns:a16="http://schemas.microsoft.com/office/drawing/2014/main" id="{1184A8B3-C82A-481E-A9A8-6162590C531F}"/>
              </a:ext>
            </a:extLst>
          </p:cNvPr>
          <p:cNvSpPr/>
          <p:nvPr/>
        </p:nvSpPr>
        <p:spPr bwMode="gray">
          <a:xfrm>
            <a:off x="561854" y="1976962"/>
            <a:ext cx="541691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IPv4</a:t>
            </a:r>
            <a:r>
              <a:rPr lang="zh-CN" altLang="en-US" sz="1600" dirty="0">
                <a:solidFill>
                  <a:srgbClr val="30B5C5"/>
                </a:solidFill>
                <a:latin typeface="Huawei Sans" panose="020C0503030203020204" pitchFamily="34" charset="0"/>
                <a:ea typeface="方正兰亭黑简体" panose="02000000000000000000" pitchFamily="2" charset="-122"/>
              </a:rPr>
              <a:t>地址设计原则</a:t>
            </a:r>
          </a:p>
        </p:txBody>
      </p:sp>
      <p:sp>
        <p:nvSpPr>
          <p:cNvPr id="6" name="圆角矩形 75">
            <a:extLst>
              <a:ext uri="{FF2B5EF4-FFF2-40B4-BE49-F238E27FC236}">
                <a16:creationId xmlns="" xmlns:a16="http://schemas.microsoft.com/office/drawing/2014/main" id="{66390A0F-1B35-42BD-88AB-9483042F0A0B}"/>
              </a:ext>
            </a:extLst>
          </p:cNvPr>
          <p:cNvSpPr/>
          <p:nvPr/>
        </p:nvSpPr>
        <p:spPr bwMode="gray">
          <a:xfrm>
            <a:off x="561854" y="2416739"/>
            <a:ext cx="5416916" cy="371275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唯一性</a:t>
            </a: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solidFill>
                  <a:schemeClr val="tx1"/>
                </a:solidFill>
                <a:latin typeface="Huawei Sans" panose="020C0503030203020204" pitchFamily="34" charset="0"/>
                <a:ea typeface="方正兰亭黑简体" panose="02000000000000000000" pitchFamily="2" charset="-122"/>
              </a:rPr>
              <a:t>骨干网络中不能有两台主机采用相同的</a:t>
            </a:r>
            <a:r>
              <a:rPr lang="en-US" altLang="zh-CN" sz="1200" dirty="0">
                <a:solidFill>
                  <a:schemeClr val="tx1"/>
                </a:solidFill>
                <a:latin typeface="Huawei Sans" panose="020C0503030203020204" pitchFamily="34" charset="0"/>
                <a:ea typeface="方正兰亭黑简体" panose="02000000000000000000" pitchFamily="2" charset="-122"/>
              </a:rPr>
              <a:t>IP</a:t>
            </a:r>
            <a:r>
              <a:rPr lang="zh-CN" altLang="en-US" sz="1200" dirty="0">
                <a:solidFill>
                  <a:schemeClr val="tx1"/>
                </a:solidFill>
                <a:latin typeface="Huawei Sans" panose="020C0503030203020204" pitchFamily="34" charset="0"/>
                <a:ea typeface="方正兰亭黑简体" panose="02000000000000000000" pitchFamily="2" charset="-122"/>
              </a:rPr>
              <a:t>地址。即使使用了支持地址重叠的</a:t>
            </a:r>
            <a:r>
              <a:rPr lang="en-US" altLang="zh-CN" sz="1200" dirty="0">
                <a:solidFill>
                  <a:schemeClr val="tx1"/>
                </a:solidFill>
                <a:latin typeface="Huawei Sans" panose="020C0503030203020204" pitchFamily="34" charset="0"/>
                <a:ea typeface="方正兰亭黑简体" panose="02000000000000000000" pitchFamily="2" charset="-122"/>
              </a:rPr>
              <a:t>VPN</a:t>
            </a:r>
            <a:r>
              <a:rPr lang="zh-CN" altLang="en-US" sz="1200" dirty="0">
                <a:solidFill>
                  <a:schemeClr val="tx1"/>
                </a:solidFill>
                <a:latin typeface="Huawei Sans" panose="020C0503030203020204" pitchFamily="34" charset="0"/>
                <a:ea typeface="方正兰亭黑简体" panose="02000000000000000000" pitchFamily="2" charset="-122"/>
              </a:rPr>
              <a:t>技术，也尽量不要规划两台主机使用相同的地址。</a:t>
            </a:r>
            <a:endParaRPr lang="en-US" altLang="zh-CN" sz="1200" dirty="0">
              <a:solidFill>
                <a:schemeClr val="tx1"/>
              </a:solidFill>
              <a:latin typeface="Huawei Sans" panose="020C0503030203020204" pitchFamily="34" charset="0"/>
              <a:ea typeface="方正兰亭黑简体" panose="02000000000000000000" pitchFamily="2" charset="-122"/>
            </a:endParaRP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连续性</a:t>
            </a: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solidFill>
                  <a:schemeClr val="tx1"/>
                </a:solidFill>
                <a:latin typeface="Huawei Sans" panose="020C0503030203020204" pitchFamily="34" charset="0"/>
                <a:ea typeface="方正兰亭黑简体" panose="02000000000000000000" pitchFamily="2" charset="-122"/>
              </a:rPr>
              <a:t>连续地址在分层结构的网络中易于进行路由聚合，大大缩减路由表，提高路由算法的效率。</a:t>
            </a: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扩展性</a:t>
            </a: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solidFill>
                  <a:schemeClr val="tx1"/>
                </a:solidFill>
                <a:latin typeface="Huawei Sans" panose="020C0503030203020204" pitchFamily="34" charset="0"/>
                <a:ea typeface="方正兰亭黑简体" panose="02000000000000000000" pitchFamily="2" charset="-122"/>
              </a:rPr>
              <a:t>地址分配在每一层上都要留有余量，在网络规模扩展时能保证连续性。</a:t>
            </a:r>
          </a:p>
          <a:p>
            <a:pPr marL="302279" indent="-302279" algn="just" defTabSz="914034" fontAlgn="ctr">
              <a:lnSpc>
                <a:spcPct val="140000"/>
              </a:lnSpc>
              <a:spcBef>
                <a:spcPts val="792"/>
              </a:spcBef>
              <a:buSzPct val="50000"/>
              <a:buFont typeface="Wingdings" panose="05000000000000000000" pitchFamily="2" charset="2"/>
              <a:buChar char="l"/>
            </a:pPr>
            <a:r>
              <a:rPr lang="zh-CN" altLang="en-US"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实意性</a:t>
            </a: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solidFill>
                  <a:schemeClr val="tx1"/>
                </a:solidFill>
                <a:latin typeface="Huawei Sans" panose="020C0503030203020204" pitchFamily="34" charset="0"/>
                <a:ea typeface="方正兰亭黑简体" panose="02000000000000000000" pitchFamily="2" charset="-122"/>
              </a:rPr>
              <a:t>“望址生意”，好的</a:t>
            </a:r>
            <a:r>
              <a:rPr lang="en-US" altLang="zh-CN" sz="1200" dirty="0">
                <a:solidFill>
                  <a:schemeClr val="tx1"/>
                </a:solidFill>
                <a:latin typeface="Huawei Sans" panose="020C0503030203020204" pitchFamily="34" charset="0"/>
                <a:ea typeface="方正兰亭黑简体" panose="02000000000000000000" pitchFamily="2" charset="-122"/>
              </a:rPr>
              <a:t>IP</a:t>
            </a:r>
            <a:r>
              <a:rPr lang="zh-CN" altLang="en-US" sz="1200" dirty="0">
                <a:solidFill>
                  <a:schemeClr val="tx1"/>
                </a:solidFill>
                <a:latin typeface="Huawei Sans" panose="020C0503030203020204" pitchFamily="34" charset="0"/>
                <a:ea typeface="方正兰亭黑简体" panose="02000000000000000000" pitchFamily="2" charset="-122"/>
              </a:rPr>
              <a:t>地址规划使每个地址具有实际含义，看到一个地址就可以大致判断出该地址所属的设备。</a:t>
            </a:r>
          </a:p>
          <a:p>
            <a:pPr marL="197698" indent="-251899" defTabSz="914034" fontAlgn="ctr">
              <a:lnSpc>
                <a:spcPct val="140000"/>
              </a:lnSpc>
              <a:spcBef>
                <a:spcPts val="720"/>
              </a:spcBef>
              <a:buSzPct val="50000"/>
              <a:buFont typeface="Wingdings" panose="05000000000000000000" pitchFamily="2" charset="2"/>
              <a:buChar char="p"/>
            </a:pPr>
            <a:endParaRPr lang="zh-CN" altLang="en-US" sz="1200" dirty="0">
              <a:solidFill>
                <a:schemeClr val="tx1"/>
              </a:solidFill>
              <a:latin typeface="Huawei Sans" panose="020C0503030203020204" pitchFamily="34" charset="0"/>
              <a:ea typeface="方正兰亭黑简体" panose="02000000000000000000" pitchFamily="2" charset="-122"/>
            </a:endParaRPr>
          </a:p>
        </p:txBody>
      </p:sp>
      <p:sp>
        <p:nvSpPr>
          <p:cNvPr id="7" name="圆角矩形 75">
            <a:extLst>
              <a:ext uri="{FF2B5EF4-FFF2-40B4-BE49-F238E27FC236}">
                <a16:creationId xmlns="" xmlns:a16="http://schemas.microsoft.com/office/drawing/2014/main" id="{636AA2D0-A8F7-4211-A768-C9135B3C6AEB}"/>
              </a:ext>
            </a:extLst>
          </p:cNvPr>
          <p:cNvSpPr/>
          <p:nvPr/>
        </p:nvSpPr>
        <p:spPr bwMode="gray">
          <a:xfrm>
            <a:off x="6213232" y="1976962"/>
            <a:ext cx="541691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广域承载网</a:t>
            </a:r>
            <a:r>
              <a:rPr lang="en-US" altLang="zh-CN" sz="1600" dirty="0">
                <a:solidFill>
                  <a:srgbClr val="30B5C5"/>
                </a:solidFill>
                <a:latin typeface="Huawei Sans" panose="020C0503030203020204" pitchFamily="34" charset="0"/>
                <a:ea typeface="方正兰亭黑简体" panose="02000000000000000000" pitchFamily="2" charset="-122"/>
              </a:rPr>
              <a:t>IPv4</a:t>
            </a:r>
            <a:r>
              <a:rPr lang="zh-CN" altLang="en-US" sz="1600" dirty="0">
                <a:solidFill>
                  <a:srgbClr val="30B5C5"/>
                </a:solidFill>
                <a:latin typeface="Huawei Sans" panose="020C0503030203020204" pitchFamily="34" charset="0"/>
                <a:ea typeface="方正兰亭黑简体" panose="02000000000000000000" pitchFamily="2" charset="-122"/>
              </a:rPr>
              <a:t>地址分配范围</a:t>
            </a:r>
          </a:p>
        </p:txBody>
      </p:sp>
      <p:sp>
        <p:nvSpPr>
          <p:cNvPr id="8" name="圆角矩形 75">
            <a:extLst>
              <a:ext uri="{FF2B5EF4-FFF2-40B4-BE49-F238E27FC236}">
                <a16:creationId xmlns="" xmlns:a16="http://schemas.microsoft.com/office/drawing/2014/main" id="{CF6394A7-EF1A-44CD-A661-18DCFF459A6B}"/>
              </a:ext>
            </a:extLst>
          </p:cNvPr>
          <p:cNvSpPr/>
          <p:nvPr/>
        </p:nvSpPr>
        <p:spPr bwMode="gray">
          <a:xfrm>
            <a:off x="6213232" y="2416739"/>
            <a:ext cx="5416916" cy="371275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marL="197698" indent="-251899" defTabSz="914034" fontAlgn="ctr">
              <a:lnSpc>
                <a:spcPct val="140000"/>
              </a:lnSpc>
              <a:spcBef>
                <a:spcPts val="720"/>
              </a:spcBef>
              <a:buSzPct val="50000"/>
              <a:buFont typeface="Wingdings" panose="05000000000000000000" pitchFamily="2" charset="2"/>
              <a:buChar char="p"/>
            </a:pPr>
            <a:endParaRPr lang="zh-CN" altLang="en-US" sz="1200" dirty="0">
              <a:solidFill>
                <a:schemeClr val="tx1"/>
              </a:solidFill>
              <a:latin typeface="Huawei Sans" panose="020C0503030203020204" pitchFamily="34" charset="0"/>
              <a:ea typeface="方正兰亭黑简体" panose="02000000000000000000" pitchFamily="2" charset="-122"/>
            </a:endParaRPr>
          </a:p>
        </p:txBody>
      </p:sp>
      <p:pic>
        <p:nvPicPr>
          <p:cNvPr id="9" name="图片 48">
            <a:extLst>
              <a:ext uri="{FF2B5EF4-FFF2-40B4-BE49-F238E27FC236}">
                <a16:creationId xmlns="" xmlns:a16="http://schemas.microsoft.com/office/drawing/2014/main" id="{F3C632AC-04E5-4FCC-8C1C-35503BC03F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14413" y="3956652"/>
            <a:ext cx="378863" cy="310667"/>
          </a:xfrm>
          <a:prstGeom prst="rect">
            <a:avLst/>
          </a:prstGeom>
        </p:spPr>
      </p:pic>
      <p:pic>
        <p:nvPicPr>
          <p:cNvPr id="10" name="图片 48">
            <a:extLst>
              <a:ext uri="{FF2B5EF4-FFF2-40B4-BE49-F238E27FC236}">
                <a16:creationId xmlns="" xmlns:a16="http://schemas.microsoft.com/office/drawing/2014/main" id="{3A0BE36B-6823-4B4B-A423-BE467793BF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14413" y="4968913"/>
            <a:ext cx="378863" cy="310667"/>
          </a:xfrm>
          <a:prstGeom prst="rect">
            <a:avLst/>
          </a:prstGeom>
        </p:spPr>
      </p:pic>
      <p:pic>
        <p:nvPicPr>
          <p:cNvPr id="11" name="图片 48">
            <a:extLst>
              <a:ext uri="{FF2B5EF4-FFF2-40B4-BE49-F238E27FC236}">
                <a16:creationId xmlns="" xmlns:a16="http://schemas.microsoft.com/office/drawing/2014/main" id="{D2B28083-74A4-459F-A3E9-BBEA6CC16E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12325" y="3958332"/>
            <a:ext cx="378863" cy="310667"/>
          </a:xfrm>
          <a:prstGeom prst="rect">
            <a:avLst/>
          </a:prstGeom>
        </p:spPr>
      </p:pic>
      <p:pic>
        <p:nvPicPr>
          <p:cNvPr id="12" name="图片 48">
            <a:extLst>
              <a:ext uri="{FF2B5EF4-FFF2-40B4-BE49-F238E27FC236}">
                <a16:creationId xmlns="" xmlns:a16="http://schemas.microsoft.com/office/drawing/2014/main" id="{7EA4D729-7A62-47EB-8852-9B478F41B6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12325" y="4970593"/>
            <a:ext cx="378863" cy="310667"/>
          </a:xfrm>
          <a:prstGeom prst="rect">
            <a:avLst/>
          </a:prstGeom>
        </p:spPr>
      </p:pic>
      <p:pic>
        <p:nvPicPr>
          <p:cNvPr id="13" name="图片 48">
            <a:extLst>
              <a:ext uri="{FF2B5EF4-FFF2-40B4-BE49-F238E27FC236}">
                <a16:creationId xmlns="" xmlns:a16="http://schemas.microsoft.com/office/drawing/2014/main" id="{9DBC7BEC-E161-4115-946D-64C483A966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013094" y="3960012"/>
            <a:ext cx="378863" cy="310667"/>
          </a:xfrm>
          <a:prstGeom prst="rect">
            <a:avLst/>
          </a:prstGeom>
        </p:spPr>
      </p:pic>
      <p:pic>
        <p:nvPicPr>
          <p:cNvPr id="14" name="图片 48">
            <a:extLst>
              <a:ext uri="{FF2B5EF4-FFF2-40B4-BE49-F238E27FC236}">
                <a16:creationId xmlns="" xmlns:a16="http://schemas.microsoft.com/office/drawing/2014/main" id="{FAF43A86-1916-43EC-9951-11B88652DA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013094" y="4972273"/>
            <a:ext cx="378863" cy="310667"/>
          </a:xfrm>
          <a:prstGeom prst="rect">
            <a:avLst/>
          </a:prstGeom>
        </p:spPr>
      </p:pic>
      <p:pic>
        <p:nvPicPr>
          <p:cNvPr id="15" name="图片 24">
            <a:extLst>
              <a:ext uri="{FF2B5EF4-FFF2-40B4-BE49-F238E27FC236}">
                <a16:creationId xmlns="" xmlns:a16="http://schemas.microsoft.com/office/drawing/2014/main" id="{9D2D2485-9108-4433-8E96-69E4EA832C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169931" y="2834521"/>
            <a:ext cx="1502493" cy="277100"/>
          </a:xfrm>
          <a:prstGeom prst="rect">
            <a:avLst/>
          </a:prstGeom>
        </p:spPr>
      </p:pic>
      <p:sp>
        <p:nvSpPr>
          <p:cNvPr id="16" name="圆角矩形 75">
            <a:extLst>
              <a:ext uri="{FF2B5EF4-FFF2-40B4-BE49-F238E27FC236}">
                <a16:creationId xmlns="" xmlns:a16="http://schemas.microsoft.com/office/drawing/2014/main" id="{3943E2F4-3BD0-484E-8946-9AED815E9A22}"/>
              </a:ext>
            </a:extLst>
          </p:cNvPr>
          <p:cNvSpPr/>
          <p:nvPr/>
        </p:nvSpPr>
        <p:spPr bwMode="gray">
          <a:xfrm>
            <a:off x="8096218" y="2815795"/>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圆角矩形 75">
            <a:extLst>
              <a:ext uri="{FF2B5EF4-FFF2-40B4-BE49-F238E27FC236}">
                <a16:creationId xmlns="" xmlns:a16="http://schemas.microsoft.com/office/drawing/2014/main" id="{3E5C3283-A621-4BD6-B512-6500C99972F0}"/>
              </a:ext>
            </a:extLst>
          </p:cNvPr>
          <p:cNvSpPr/>
          <p:nvPr/>
        </p:nvSpPr>
        <p:spPr bwMode="gray">
          <a:xfrm>
            <a:off x="7193280" y="3781538"/>
            <a:ext cx="3413760" cy="175058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8" name="Straight Connector 17">
            <a:extLst>
              <a:ext uri="{FF2B5EF4-FFF2-40B4-BE49-F238E27FC236}">
                <a16:creationId xmlns="" xmlns:a16="http://schemas.microsoft.com/office/drawing/2014/main" id="{D944B18E-E8F3-414A-A02A-BF5773EC1542}"/>
              </a:ext>
            </a:extLst>
          </p:cNvPr>
          <p:cNvCxnSpPr>
            <a:cxnSpLocks/>
            <a:stCxn id="16" idx="2"/>
            <a:endCxn id="17" idx="0"/>
          </p:cNvCxnSpPr>
          <p:nvPr/>
        </p:nvCxnSpPr>
        <p:spPr bwMode="gray">
          <a:xfrm>
            <a:off x="8900160" y="3122247"/>
            <a:ext cx="0" cy="6592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62B561CD-1525-465F-9AF4-401433483B3F}"/>
              </a:ext>
            </a:extLst>
          </p:cNvPr>
          <p:cNvCxnSpPr>
            <a:cxnSpLocks/>
            <a:stCxn id="10" idx="0"/>
            <a:endCxn id="9" idx="2"/>
          </p:cNvCxnSpPr>
          <p:nvPr/>
        </p:nvCxnSpPr>
        <p:spPr bwMode="gray">
          <a:xfrm flipV="1">
            <a:off x="7603845" y="4267319"/>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36D1B9CD-C58B-46EE-9998-A2EC7C7D1BE3}"/>
              </a:ext>
            </a:extLst>
          </p:cNvPr>
          <p:cNvCxnSpPr>
            <a:cxnSpLocks/>
            <a:stCxn id="11" idx="1"/>
            <a:endCxn id="9" idx="3"/>
          </p:cNvCxnSpPr>
          <p:nvPr/>
        </p:nvCxnSpPr>
        <p:spPr bwMode="gray">
          <a:xfrm flipH="1" flipV="1">
            <a:off x="7793276" y="4111986"/>
            <a:ext cx="9190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D649F2DE-6B03-4AC7-A7F3-8EC526E30459}"/>
              </a:ext>
            </a:extLst>
          </p:cNvPr>
          <p:cNvCxnSpPr>
            <a:cxnSpLocks/>
            <a:stCxn id="13" idx="1"/>
            <a:endCxn id="11" idx="3"/>
          </p:cNvCxnSpPr>
          <p:nvPr/>
        </p:nvCxnSpPr>
        <p:spPr bwMode="gray">
          <a:xfrm flipH="1" flipV="1">
            <a:off x="9091188" y="4113666"/>
            <a:ext cx="921906"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99B54F25-FFA0-4247-86DC-3A67DDF50E83}"/>
              </a:ext>
            </a:extLst>
          </p:cNvPr>
          <p:cNvCxnSpPr>
            <a:cxnSpLocks/>
            <a:stCxn id="14" idx="1"/>
            <a:endCxn id="12" idx="3"/>
          </p:cNvCxnSpPr>
          <p:nvPr/>
        </p:nvCxnSpPr>
        <p:spPr bwMode="gray">
          <a:xfrm flipH="1" flipV="1">
            <a:off x="9091188" y="5125927"/>
            <a:ext cx="921906"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6739A8FB-0532-4A1D-9C7B-A3D87D553DF0}"/>
              </a:ext>
            </a:extLst>
          </p:cNvPr>
          <p:cNvCxnSpPr>
            <a:cxnSpLocks/>
            <a:stCxn id="12" idx="1"/>
            <a:endCxn id="10" idx="3"/>
          </p:cNvCxnSpPr>
          <p:nvPr/>
        </p:nvCxnSpPr>
        <p:spPr bwMode="gray">
          <a:xfrm flipH="1" flipV="1">
            <a:off x="7793276" y="5124247"/>
            <a:ext cx="9190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C82D2F19-A45D-41E5-9AB7-AD4CB15E6C44}"/>
              </a:ext>
            </a:extLst>
          </p:cNvPr>
          <p:cNvCxnSpPr>
            <a:cxnSpLocks/>
            <a:stCxn id="12" idx="0"/>
            <a:endCxn id="11" idx="2"/>
          </p:cNvCxnSpPr>
          <p:nvPr/>
        </p:nvCxnSpPr>
        <p:spPr bwMode="gray">
          <a:xfrm flipV="1">
            <a:off x="8901757" y="4268999"/>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C05DEF56-94FA-4BA5-9DFC-929396A8ABF8}"/>
              </a:ext>
            </a:extLst>
          </p:cNvPr>
          <p:cNvCxnSpPr>
            <a:cxnSpLocks/>
            <a:stCxn id="14" idx="0"/>
            <a:endCxn id="13" idx="2"/>
          </p:cNvCxnSpPr>
          <p:nvPr/>
        </p:nvCxnSpPr>
        <p:spPr bwMode="gray">
          <a:xfrm flipV="1">
            <a:off x="10202526" y="4270679"/>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97F2BF15-AC36-4D48-8E13-31589F3A55FF}"/>
              </a:ext>
            </a:extLst>
          </p:cNvPr>
          <p:cNvCxnSpPr>
            <a:cxnSpLocks/>
            <a:stCxn id="48" idx="3"/>
            <a:endCxn id="9" idx="1"/>
          </p:cNvCxnSpPr>
          <p:nvPr/>
        </p:nvCxnSpPr>
        <p:spPr bwMode="gray">
          <a:xfrm>
            <a:off x="6936161" y="4111985"/>
            <a:ext cx="47825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8" name="图片 48">
            <a:extLst>
              <a:ext uri="{FF2B5EF4-FFF2-40B4-BE49-F238E27FC236}">
                <a16:creationId xmlns="" xmlns:a16="http://schemas.microsoft.com/office/drawing/2014/main" id="{DE05B0F9-7E70-4C0B-B3B1-E04E7621D8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57298" y="3956651"/>
            <a:ext cx="378863" cy="310667"/>
          </a:xfrm>
          <a:prstGeom prst="rect">
            <a:avLst/>
          </a:prstGeom>
        </p:spPr>
      </p:pic>
      <p:pic>
        <p:nvPicPr>
          <p:cNvPr id="52" name="图片 48">
            <a:extLst>
              <a:ext uri="{FF2B5EF4-FFF2-40B4-BE49-F238E27FC236}">
                <a16:creationId xmlns="" xmlns:a16="http://schemas.microsoft.com/office/drawing/2014/main" id="{D41A9CB3-B1B5-4AB9-A690-0E4EF37EDE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57298" y="4970711"/>
            <a:ext cx="378863" cy="310667"/>
          </a:xfrm>
          <a:prstGeom prst="rect">
            <a:avLst/>
          </a:prstGeom>
        </p:spPr>
      </p:pic>
      <p:cxnSp>
        <p:nvCxnSpPr>
          <p:cNvPr id="53" name="Straight Connector 52">
            <a:extLst>
              <a:ext uri="{FF2B5EF4-FFF2-40B4-BE49-F238E27FC236}">
                <a16:creationId xmlns="" xmlns:a16="http://schemas.microsoft.com/office/drawing/2014/main" id="{D2E5D2FF-807C-4B57-AE2F-7D30DBE756F7}"/>
              </a:ext>
            </a:extLst>
          </p:cNvPr>
          <p:cNvCxnSpPr>
            <a:cxnSpLocks/>
            <a:stCxn id="52" idx="3"/>
            <a:endCxn id="10" idx="1"/>
          </p:cNvCxnSpPr>
          <p:nvPr/>
        </p:nvCxnSpPr>
        <p:spPr bwMode="gray">
          <a:xfrm flipV="1">
            <a:off x="6936161" y="5124247"/>
            <a:ext cx="47825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6" name="图片 48">
            <a:extLst>
              <a:ext uri="{FF2B5EF4-FFF2-40B4-BE49-F238E27FC236}">
                <a16:creationId xmlns="" xmlns:a16="http://schemas.microsoft.com/office/drawing/2014/main" id="{4C0AD339-725E-48D0-9FB3-0697ABE22B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863705" y="3960012"/>
            <a:ext cx="378863" cy="310667"/>
          </a:xfrm>
          <a:prstGeom prst="rect">
            <a:avLst/>
          </a:prstGeom>
        </p:spPr>
      </p:pic>
      <p:pic>
        <p:nvPicPr>
          <p:cNvPr id="57" name="图片 48">
            <a:extLst>
              <a:ext uri="{FF2B5EF4-FFF2-40B4-BE49-F238E27FC236}">
                <a16:creationId xmlns="" xmlns:a16="http://schemas.microsoft.com/office/drawing/2014/main" id="{F252F213-86E1-481A-B59A-85DEBC723D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863705" y="4974072"/>
            <a:ext cx="378863" cy="310667"/>
          </a:xfrm>
          <a:prstGeom prst="rect">
            <a:avLst/>
          </a:prstGeom>
        </p:spPr>
      </p:pic>
      <p:cxnSp>
        <p:nvCxnSpPr>
          <p:cNvPr id="58" name="Straight Connector 57">
            <a:extLst>
              <a:ext uri="{FF2B5EF4-FFF2-40B4-BE49-F238E27FC236}">
                <a16:creationId xmlns="" xmlns:a16="http://schemas.microsoft.com/office/drawing/2014/main" id="{41ECEC96-1C63-4AA0-843C-85976A6D5EA2}"/>
              </a:ext>
            </a:extLst>
          </p:cNvPr>
          <p:cNvCxnSpPr>
            <a:cxnSpLocks/>
            <a:stCxn id="14" idx="3"/>
            <a:endCxn id="57" idx="1"/>
          </p:cNvCxnSpPr>
          <p:nvPr/>
        </p:nvCxnSpPr>
        <p:spPr bwMode="gray">
          <a:xfrm>
            <a:off x="10391957" y="5127607"/>
            <a:ext cx="47174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 xmlns:a16="http://schemas.microsoft.com/office/drawing/2014/main" id="{D1F0D868-FF4D-444D-9B5C-3B10510415C5}"/>
              </a:ext>
            </a:extLst>
          </p:cNvPr>
          <p:cNvCxnSpPr>
            <a:cxnSpLocks/>
            <a:stCxn id="13" idx="3"/>
            <a:endCxn id="56" idx="1"/>
          </p:cNvCxnSpPr>
          <p:nvPr/>
        </p:nvCxnSpPr>
        <p:spPr bwMode="gray">
          <a:xfrm>
            <a:off x="10391957" y="4115346"/>
            <a:ext cx="47174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4" name="Oval 41">
            <a:extLst>
              <a:ext uri="{FF2B5EF4-FFF2-40B4-BE49-F238E27FC236}">
                <a16:creationId xmlns="" xmlns:a16="http://schemas.microsoft.com/office/drawing/2014/main" id="{CDB86D2E-27B2-4943-9BA8-9190B97C3A19}"/>
              </a:ext>
            </a:extLst>
          </p:cNvPr>
          <p:cNvSpPr>
            <a:spLocks noChangeAspect="1"/>
          </p:cNvSpPr>
          <p:nvPr/>
        </p:nvSpPr>
        <p:spPr bwMode="gray">
          <a:xfrm>
            <a:off x="8822126" y="305071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5" name="Oval 41">
            <a:extLst>
              <a:ext uri="{FF2B5EF4-FFF2-40B4-BE49-F238E27FC236}">
                <a16:creationId xmlns="" xmlns:a16="http://schemas.microsoft.com/office/drawing/2014/main" id="{E76E72C6-7FE8-42E5-A874-0C3A2586E50F}"/>
              </a:ext>
            </a:extLst>
          </p:cNvPr>
          <p:cNvSpPr>
            <a:spLocks noChangeAspect="1"/>
          </p:cNvSpPr>
          <p:nvPr/>
        </p:nvSpPr>
        <p:spPr bwMode="gray">
          <a:xfrm>
            <a:off x="7326065" y="401649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6" name="Oval 41">
            <a:extLst>
              <a:ext uri="{FF2B5EF4-FFF2-40B4-BE49-F238E27FC236}">
                <a16:creationId xmlns="" xmlns:a16="http://schemas.microsoft.com/office/drawing/2014/main" id="{EAD02643-CA38-4713-BEE5-C355E911DA43}"/>
              </a:ext>
            </a:extLst>
          </p:cNvPr>
          <p:cNvSpPr>
            <a:spLocks noChangeAspect="1"/>
          </p:cNvSpPr>
          <p:nvPr/>
        </p:nvSpPr>
        <p:spPr bwMode="gray">
          <a:xfrm>
            <a:off x="8822126" y="417693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cxnSp>
        <p:nvCxnSpPr>
          <p:cNvPr id="67" name="Straight Connector 66">
            <a:extLst>
              <a:ext uri="{FF2B5EF4-FFF2-40B4-BE49-F238E27FC236}">
                <a16:creationId xmlns="" xmlns:a16="http://schemas.microsoft.com/office/drawing/2014/main" id="{09F70305-AD88-4EAE-9755-D4EE6854ABDE}"/>
              </a:ext>
            </a:extLst>
          </p:cNvPr>
          <p:cNvCxnSpPr>
            <a:cxnSpLocks/>
            <a:stCxn id="13" idx="0"/>
          </p:cNvCxnSpPr>
          <p:nvPr/>
        </p:nvCxnSpPr>
        <p:spPr bwMode="gray">
          <a:xfrm flipV="1">
            <a:off x="10202526" y="3831872"/>
            <a:ext cx="0" cy="12814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 xmlns:a16="http://schemas.microsoft.com/office/drawing/2014/main" id="{382825AB-9440-4658-98F3-C797845AD0EA}"/>
              </a:ext>
            </a:extLst>
          </p:cNvPr>
          <p:cNvCxnSpPr>
            <a:cxnSpLocks/>
          </p:cNvCxnSpPr>
          <p:nvPr/>
        </p:nvCxnSpPr>
        <p:spPr bwMode="gray">
          <a:xfrm flipH="1">
            <a:off x="10113625" y="3831872"/>
            <a:ext cx="1778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4" name="Oval 41">
            <a:extLst>
              <a:ext uri="{FF2B5EF4-FFF2-40B4-BE49-F238E27FC236}">
                <a16:creationId xmlns="" xmlns:a16="http://schemas.microsoft.com/office/drawing/2014/main" id="{1D88DDC4-ADD4-41FB-A44A-E71F3F0A860E}"/>
              </a:ext>
            </a:extLst>
          </p:cNvPr>
          <p:cNvSpPr>
            <a:spLocks noChangeAspect="1"/>
          </p:cNvSpPr>
          <p:nvPr/>
        </p:nvSpPr>
        <p:spPr bwMode="gray">
          <a:xfrm>
            <a:off x="10122895" y="389594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5" name="Rectangular Callout 26">
            <a:extLst>
              <a:ext uri="{FF2B5EF4-FFF2-40B4-BE49-F238E27FC236}">
                <a16:creationId xmlns="" xmlns:a16="http://schemas.microsoft.com/office/drawing/2014/main" id="{35A519BD-6E26-46DA-B557-4CAC8BFAF877}"/>
              </a:ext>
            </a:extLst>
          </p:cNvPr>
          <p:cNvSpPr/>
          <p:nvPr/>
        </p:nvSpPr>
        <p:spPr bwMode="gray">
          <a:xfrm>
            <a:off x="9024846" y="3254568"/>
            <a:ext cx="679256" cy="415700"/>
          </a:xfrm>
          <a:prstGeom prst="wedgeRectCallout">
            <a:avLst>
              <a:gd name="adj1" fmla="val -45066"/>
              <a:gd name="adj2" fmla="val -692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控制器地址</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Rectangular Callout 26">
            <a:extLst>
              <a:ext uri="{FF2B5EF4-FFF2-40B4-BE49-F238E27FC236}">
                <a16:creationId xmlns="" xmlns:a16="http://schemas.microsoft.com/office/drawing/2014/main" id="{A7EFFE22-91D4-4E9A-BA87-68DE2A7D9332}"/>
              </a:ext>
            </a:extLst>
          </p:cNvPr>
          <p:cNvSpPr/>
          <p:nvPr/>
        </p:nvSpPr>
        <p:spPr bwMode="gray">
          <a:xfrm>
            <a:off x="8978573" y="4422653"/>
            <a:ext cx="967288" cy="415700"/>
          </a:xfrm>
          <a:prstGeom prst="wedgeRectCallout">
            <a:avLst>
              <a:gd name="adj1" fmla="val -45066"/>
              <a:gd name="adj2" fmla="val -692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骨干网设备互联地址</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Rectangular Callout 26">
            <a:extLst>
              <a:ext uri="{FF2B5EF4-FFF2-40B4-BE49-F238E27FC236}">
                <a16:creationId xmlns="" xmlns:a16="http://schemas.microsoft.com/office/drawing/2014/main" id="{C692825E-7298-41DA-B5E1-DB51EAEDF63B}"/>
              </a:ext>
            </a:extLst>
          </p:cNvPr>
          <p:cNvSpPr/>
          <p:nvPr/>
        </p:nvSpPr>
        <p:spPr bwMode="gray">
          <a:xfrm>
            <a:off x="10139792" y="3263021"/>
            <a:ext cx="993023" cy="415700"/>
          </a:xfrm>
          <a:prstGeom prst="wedgeRectCallout">
            <a:avLst>
              <a:gd name="adj1" fmla="val -35281"/>
              <a:gd name="adj2" fmla="val 755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骨干网设备环回口地址</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8" name="Rectangular Callout 26">
            <a:extLst>
              <a:ext uri="{FF2B5EF4-FFF2-40B4-BE49-F238E27FC236}">
                <a16:creationId xmlns="" xmlns:a16="http://schemas.microsoft.com/office/drawing/2014/main" id="{B2E3850C-8BB0-44DD-9099-B4C8C29E1A84}"/>
              </a:ext>
            </a:extLst>
          </p:cNvPr>
          <p:cNvSpPr/>
          <p:nvPr/>
        </p:nvSpPr>
        <p:spPr bwMode="gray">
          <a:xfrm>
            <a:off x="6711729" y="3375728"/>
            <a:ext cx="889994" cy="415700"/>
          </a:xfrm>
          <a:prstGeom prst="wedgeRectCallout">
            <a:avLst>
              <a:gd name="adj1" fmla="val 21187"/>
              <a:gd name="adj2" fmla="val 9575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互联地址</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9" name="TextBox 271">
            <a:extLst>
              <a:ext uri="{FF2B5EF4-FFF2-40B4-BE49-F238E27FC236}">
                <a16:creationId xmlns="" xmlns:a16="http://schemas.microsoft.com/office/drawing/2014/main" id="{98529BA7-D81F-4E06-97F4-5DDB31EC8B51}"/>
              </a:ext>
            </a:extLst>
          </p:cNvPr>
          <p:cNvSpPr txBox="1"/>
          <p:nvPr/>
        </p:nvSpPr>
        <p:spPr bwMode="gray">
          <a:xfrm>
            <a:off x="7425165" y="3747130"/>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271">
            <a:extLst>
              <a:ext uri="{FF2B5EF4-FFF2-40B4-BE49-F238E27FC236}">
                <a16:creationId xmlns="" xmlns:a16="http://schemas.microsoft.com/office/drawing/2014/main" id="{A6E101B6-8908-440B-A7E1-09762C046CB6}"/>
              </a:ext>
            </a:extLst>
          </p:cNvPr>
          <p:cNvSpPr txBox="1"/>
          <p:nvPr/>
        </p:nvSpPr>
        <p:spPr bwMode="gray">
          <a:xfrm>
            <a:off x="7425165" y="5240047"/>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271">
            <a:extLst>
              <a:ext uri="{FF2B5EF4-FFF2-40B4-BE49-F238E27FC236}">
                <a16:creationId xmlns="" xmlns:a16="http://schemas.microsoft.com/office/drawing/2014/main" id="{31A66AF2-C1E8-406C-96F0-8DFA44D67639}"/>
              </a:ext>
            </a:extLst>
          </p:cNvPr>
          <p:cNvSpPr txBox="1"/>
          <p:nvPr/>
        </p:nvSpPr>
        <p:spPr bwMode="gray">
          <a:xfrm>
            <a:off x="10289861" y="379142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271">
            <a:extLst>
              <a:ext uri="{FF2B5EF4-FFF2-40B4-BE49-F238E27FC236}">
                <a16:creationId xmlns="" xmlns:a16="http://schemas.microsoft.com/office/drawing/2014/main" id="{C5093BDC-C063-47BC-AAC6-F214E0B1D331}"/>
              </a:ext>
            </a:extLst>
          </p:cNvPr>
          <p:cNvSpPr txBox="1"/>
          <p:nvPr/>
        </p:nvSpPr>
        <p:spPr bwMode="gray">
          <a:xfrm>
            <a:off x="10029325" y="5240047"/>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271">
            <a:extLst>
              <a:ext uri="{FF2B5EF4-FFF2-40B4-BE49-F238E27FC236}">
                <a16:creationId xmlns="" xmlns:a16="http://schemas.microsoft.com/office/drawing/2014/main" id="{ACD8FDFC-21DE-4047-852E-C142C530A53F}"/>
              </a:ext>
            </a:extLst>
          </p:cNvPr>
          <p:cNvSpPr txBox="1"/>
          <p:nvPr/>
        </p:nvSpPr>
        <p:spPr bwMode="gray">
          <a:xfrm>
            <a:off x="8775656" y="3739500"/>
            <a:ext cx="287594"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271">
            <a:extLst>
              <a:ext uri="{FF2B5EF4-FFF2-40B4-BE49-F238E27FC236}">
                <a16:creationId xmlns="" xmlns:a16="http://schemas.microsoft.com/office/drawing/2014/main" id="{F2A66E04-64CB-4F02-AC1A-19E967B4A717}"/>
              </a:ext>
            </a:extLst>
          </p:cNvPr>
          <p:cNvSpPr txBox="1"/>
          <p:nvPr/>
        </p:nvSpPr>
        <p:spPr bwMode="gray">
          <a:xfrm>
            <a:off x="8754227" y="5237903"/>
            <a:ext cx="287594"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271">
            <a:extLst>
              <a:ext uri="{FF2B5EF4-FFF2-40B4-BE49-F238E27FC236}">
                <a16:creationId xmlns="" xmlns:a16="http://schemas.microsoft.com/office/drawing/2014/main" id="{7B0959FC-A2D3-47F5-9FD3-274E0CE9CFF8}"/>
              </a:ext>
            </a:extLst>
          </p:cNvPr>
          <p:cNvSpPr txBox="1"/>
          <p:nvPr/>
        </p:nvSpPr>
        <p:spPr bwMode="gray">
          <a:xfrm>
            <a:off x="6557297" y="5245925"/>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271">
            <a:extLst>
              <a:ext uri="{FF2B5EF4-FFF2-40B4-BE49-F238E27FC236}">
                <a16:creationId xmlns="" xmlns:a16="http://schemas.microsoft.com/office/drawing/2014/main" id="{7953F9FB-F448-40EB-98DF-D22AD9103A9C}"/>
              </a:ext>
            </a:extLst>
          </p:cNvPr>
          <p:cNvSpPr txBox="1"/>
          <p:nvPr/>
        </p:nvSpPr>
        <p:spPr bwMode="gray">
          <a:xfrm>
            <a:off x="6557297" y="373792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271">
            <a:extLst>
              <a:ext uri="{FF2B5EF4-FFF2-40B4-BE49-F238E27FC236}">
                <a16:creationId xmlns="" xmlns:a16="http://schemas.microsoft.com/office/drawing/2014/main" id="{CD7ABA2E-AA27-4137-BF3D-104423A2C3A2}"/>
              </a:ext>
            </a:extLst>
          </p:cNvPr>
          <p:cNvSpPr txBox="1"/>
          <p:nvPr/>
        </p:nvSpPr>
        <p:spPr bwMode="gray">
          <a:xfrm>
            <a:off x="10859175" y="375250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271">
            <a:extLst>
              <a:ext uri="{FF2B5EF4-FFF2-40B4-BE49-F238E27FC236}">
                <a16:creationId xmlns="" xmlns:a16="http://schemas.microsoft.com/office/drawing/2014/main" id="{15398E4A-E013-4035-9CA3-93C2C2FB1E58}"/>
              </a:ext>
            </a:extLst>
          </p:cNvPr>
          <p:cNvSpPr txBox="1"/>
          <p:nvPr/>
        </p:nvSpPr>
        <p:spPr bwMode="gray">
          <a:xfrm>
            <a:off x="10859175" y="5245925"/>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五边形 2">
            <a:extLst>
              <a:ext uri="{FF2B5EF4-FFF2-40B4-BE49-F238E27FC236}">
                <a16:creationId xmlns="" xmlns:a16="http://schemas.microsoft.com/office/drawing/2014/main" id="{425A19A8-B295-4F55-8A16-9484C23926E3}"/>
              </a:ext>
            </a:extLst>
          </p:cNvPr>
          <p:cNvSpPr/>
          <p:nvPr/>
        </p:nvSpPr>
        <p:spPr bwMode="gray">
          <a:xfrm>
            <a:off x="795300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55" name="燕尾形 3">
            <a:extLst>
              <a:ext uri="{FF2B5EF4-FFF2-40B4-BE49-F238E27FC236}">
                <a16:creationId xmlns="" xmlns:a16="http://schemas.microsoft.com/office/drawing/2014/main" id="{FFCEDCE1-768F-42B6-8A85-9F660F0D9C7E}"/>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3">
            <a:extLst>
              <a:ext uri="{FF2B5EF4-FFF2-40B4-BE49-F238E27FC236}">
                <a16:creationId xmlns="" xmlns:a16="http://schemas.microsoft.com/office/drawing/2014/main" id="{637AC4F9-25C9-438B-8D63-A980D245A666}"/>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314784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1ACED2B5-D1E7-4A6F-A601-6ED41F8C4818}"/>
              </a:ext>
            </a:extLst>
          </p:cNvPr>
          <p:cNvSpPr>
            <a:spLocks noGrp="1"/>
          </p:cNvSpPr>
          <p:nvPr>
            <p:ph type="body" sz="quarter" idx="10"/>
          </p:nvPr>
        </p:nvSpPr>
        <p:spPr bwMode="gray">
          <a:xfrm>
            <a:off x="455612" y="1047751"/>
            <a:ext cx="11293475" cy="904024"/>
          </a:xfrm>
        </p:spPr>
        <p:txBody>
          <a:bodyPr/>
          <a:lstStyle/>
          <a:p>
            <a:r>
              <a:rPr lang="zh-CN" altLang="en-US" sz="1800" dirty="0"/>
              <a:t>各路由器的</a:t>
            </a:r>
            <a:r>
              <a:rPr lang="en-US" altLang="zh-CN" sz="1800" dirty="0"/>
              <a:t>Loopback</a:t>
            </a:r>
            <a:r>
              <a:rPr lang="zh-CN" altLang="en-US" sz="1800" dirty="0"/>
              <a:t>地址对于整个网络的正常运行有着至关重要的作用，因而对于各个路由器的</a:t>
            </a:r>
            <a:r>
              <a:rPr lang="en-US" altLang="zh-CN" sz="1800" dirty="0"/>
              <a:t>Loopback</a:t>
            </a:r>
            <a:r>
              <a:rPr lang="zh-CN" altLang="en-US" sz="1800" dirty="0"/>
              <a:t>地址的分配和管理，应当采取统一的专有地址空间。</a:t>
            </a:r>
            <a:endParaRPr lang="en-US" altLang="zh-CN" sz="1800" dirty="0"/>
          </a:p>
          <a:p>
            <a:endParaRPr lang="en-US" altLang="zh-CN" sz="1800" dirty="0"/>
          </a:p>
        </p:txBody>
      </p:sp>
      <p:sp>
        <p:nvSpPr>
          <p:cNvPr id="2" name="Title 1">
            <a:extLst>
              <a:ext uri="{FF2B5EF4-FFF2-40B4-BE49-F238E27FC236}">
                <a16:creationId xmlns="" xmlns:a16="http://schemas.microsoft.com/office/drawing/2014/main" id="{71E8F73F-E080-4D7E-B56B-8A0AC5B93F2D}"/>
              </a:ext>
            </a:extLst>
          </p:cNvPr>
          <p:cNvSpPr>
            <a:spLocks noGrp="1"/>
          </p:cNvSpPr>
          <p:nvPr>
            <p:ph type="title"/>
          </p:nvPr>
        </p:nvSpPr>
        <p:spPr bwMode="gray"/>
        <p:txBody>
          <a:bodyPr/>
          <a:lstStyle/>
          <a:p>
            <a:r>
              <a:rPr lang="zh-CN" altLang="en-US" dirty="0"/>
              <a:t>环回口地址设计原则</a:t>
            </a:r>
            <a:endParaRPr lang="en-US" dirty="0"/>
          </a:p>
        </p:txBody>
      </p:sp>
      <p:sp>
        <p:nvSpPr>
          <p:cNvPr id="54" name="圆角矩形 75">
            <a:extLst>
              <a:ext uri="{FF2B5EF4-FFF2-40B4-BE49-F238E27FC236}">
                <a16:creationId xmlns="" xmlns:a16="http://schemas.microsoft.com/office/drawing/2014/main" id="{BBF75E79-5E87-4B8E-81EB-8341A1FC88A2}"/>
              </a:ext>
            </a:extLst>
          </p:cNvPr>
          <p:cNvSpPr/>
          <p:nvPr/>
        </p:nvSpPr>
        <p:spPr bwMode="gray">
          <a:xfrm>
            <a:off x="561854" y="1976962"/>
            <a:ext cx="1117453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环回口地址设计原则与使用场景</a:t>
            </a:r>
          </a:p>
        </p:txBody>
      </p:sp>
      <p:sp>
        <p:nvSpPr>
          <p:cNvPr id="55" name="圆角矩形 75">
            <a:extLst>
              <a:ext uri="{FF2B5EF4-FFF2-40B4-BE49-F238E27FC236}">
                <a16:creationId xmlns="" xmlns:a16="http://schemas.microsoft.com/office/drawing/2014/main" id="{BB282CD9-6987-4CC4-BCCE-BD66A9291A06}"/>
              </a:ext>
            </a:extLst>
          </p:cNvPr>
          <p:cNvSpPr/>
          <p:nvPr/>
        </p:nvSpPr>
        <p:spPr bwMode="gray">
          <a:xfrm>
            <a:off x="561854" y="2416739"/>
            <a:ext cx="11174534" cy="371275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just" defTabSz="914034" fontAlgn="ctr">
              <a:lnSpc>
                <a:spcPct val="140000"/>
              </a:lnSpc>
              <a:spcBef>
                <a:spcPts val="792"/>
              </a:spcBef>
              <a:buSzPct val="50000"/>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just" defTabSz="914034" fontAlgn="ctr">
              <a:lnSpc>
                <a:spcPct val="140000"/>
              </a:lnSpc>
              <a:spcBef>
                <a:spcPts val="792"/>
              </a:spcBef>
              <a:buSzPct val="50000"/>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just" defTabSz="914034" fontAlgn="ctr">
              <a:lnSpc>
                <a:spcPct val="140000"/>
              </a:lnSpc>
              <a:spcBef>
                <a:spcPts val="792"/>
              </a:spcBef>
              <a:buSzPct val="50000"/>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just" defTabSz="914034" fontAlgn="ctr">
              <a:lnSpc>
                <a:spcPct val="140000"/>
              </a:lnSpc>
              <a:spcBef>
                <a:spcPts val="792"/>
              </a:spcBef>
              <a:buSzPct val="50000"/>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just" defTabSz="914034" fontAlgn="ctr">
              <a:lnSpc>
                <a:spcPct val="140000"/>
              </a:lnSpc>
              <a:spcBef>
                <a:spcPts val="792"/>
              </a:spcBef>
              <a:buSzPct val="50000"/>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algn="just" defTabSz="914034" fontAlgn="ctr">
              <a:lnSpc>
                <a:spcPct val="140000"/>
              </a:lnSpc>
              <a:spcBef>
                <a:spcPts val="792"/>
              </a:spcBef>
              <a:buSzPct val="50000"/>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defTabSz="914034" fontAlgn="ctr">
              <a:lnSpc>
                <a:spcPct val="140000"/>
              </a:lnSpc>
              <a:spcBef>
                <a:spcPts val="792"/>
              </a:spcBef>
              <a:buSzPct val="50000"/>
              <a:buFont typeface="Wingdings" panose="05000000000000000000" pitchFamily="2" charset="2"/>
              <a:buChar char="l"/>
            </a:pPr>
            <a:r>
              <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Loopback</a:t>
            </a:r>
            <a:r>
              <a:rPr lang="zh-CN" altLang="en-US"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地址分配采用</a:t>
            </a:r>
            <a:r>
              <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32</a:t>
            </a:r>
            <a:r>
              <a:rPr lang="zh-CN" altLang="en-US"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位掩码的原则。</a:t>
            </a: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solidFill>
                  <a:schemeClr val="tx1"/>
                </a:solidFill>
                <a:latin typeface="Huawei Sans" panose="020C0503030203020204" pitchFamily="34" charset="0"/>
                <a:ea typeface="方正兰亭黑简体" panose="02000000000000000000" pitchFamily="2" charset="-122"/>
              </a:rPr>
              <a:t>基于物理位置分配，并且预留足够地址空间。</a:t>
            </a: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solidFill>
                  <a:schemeClr val="tx1"/>
                </a:solidFill>
                <a:latin typeface="Huawei Sans" panose="020C0503030203020204" pitchFamily="34" charset="0"/>
                <a:ea typeface="方正兰亭黑简体" panose="02000000000000000000" pitchFamily="2" charset="-122"/>
              </a:rPr>
              <a:t>同一地理位置基于平面分配：如果有多平面则按一平面、二平面依次分配。</a:t>
            </a:r>
          </a:p>
        </p:txBody>
      </p:sp>
      <p:pic>
        <p:nvPicPr>
          <p:cNvPr id="10" name="图片 48">
            <a:extLst>
              <a:ext uri="{FF2B5EF4-FFF2-40B4-BE49-F238E27FC236}">
                <a16:creationId xmlns="" xmlns:a16="http://schemas.microsoft.com/office/drawing/2014/main" id="{1FC7B2B2-A39C-482D-B7D8-5B58602107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81415" y="4040346"/>
            <a:ext cx="378863" cy="310667"/>
          </a:xfrm>
          <a:prstGeom prst="rect">
            <a:avLst/>
          </a:prstGeom>
        </p:spPr>
      </p:pic>
      <p:pic>
        <p:nvPicPr>
          <p:cNvPr id="12" name="图片 48">
            <a:extLst>
              <a:ext uri="{FF2B5EF4-FFF2-40B4-BE49-F238E27FC236}">
                <a16:creationId xmlns="" xmlns:a16="http://schemas.microsoft.com/office/drawing/2014/main" id="{AD521785-A7BA-4ACB-99EA-9C520797AB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87147" y="4042026"/>
            <a:ext cx="378863" cy="310667"/>
          </a:xfrm>
          <a:prstGeom prst="rect">
            <a:avLst/>
          </a:prstGeom>
        </p:spPr>
      </p:pic>
      <p:pic>
        <p:nvPicPr>
          <p:cNvPr id="14" name="图片 48">
            <a:extLst>
              <a:ext uri="{FF2B5EF4-FFF2-40B4-BE49-F238E27FC236}">
                <a16:creationId xmlns="" xmlns:a16="http://schemas.microsoft.com/office/drawing/2014/main" id="{BBD982A6-F181-4BA4-9F9A-82862D8077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58082" y="4043706"/>
            <a:ext cx="378863" cy="310667"/>
          </a:xfrm>
          <a:prstGeom prst="rect">
            <a:avLst/>
          </a:prstGeom>
        </p:spPr>
      </p:pic>
      <p:pic>
        <p:nvPicPr>
          <p:cNvPr id="16" name="图片 24">
            <a:extLst>
              <a:ext uri="{FF2B5EF4-FFF2-40B4-BE49-F238E27FC236}">
                <a16:creationId xmlns="" xmlns:a16="http://schemas.microsoft.com/office/drawing/2014/main" id="{49E59FBB-A338-4EFB-93E7-E3763C8382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344753" y="2845478"/>
            <a:ext cx="1502493" cy="277100"/>
          </a:xfrm>
          <a:prstGeom prst="rect">
            <a:avLst/>
          </a:prstGeom>
        </p:spPr>
      </p:pic>
      <p:sp>
        <p:nvSpPr>
          <p:cNvPr id="17" name="圆角矩形 75">
            <a:extLst>
              <a:ext uri="{FF2B5EF4-FFF2-40B4-BE49-F238E27FC236}">
                <a16:creationId xmlns="" xmlns:a16="http://schemas.microsoft.com/office/drawing/2014/main" id="{8B4B46A1-B2F9-42BB-9FB3-45214E627325}"/>
              </a:ext>
            </a:extLst>
          </p:cNvPr>
          <p:cNvSpPr/>
          <p:nvPr/>
        </p:nvSpPr>
        <p:spPr bwMode="gray">
          <a:xfrm>
            <a:off x="5271040" y="2826752"/>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9" name="Straight Connector 18">
            <a:extLst>
              <a:ext uri="{FF2B5EF4-FFF2-40B4-BE49-F238E27FC236}">
                <a16:creationId xmlns="" xmlns:a16="http://schemas.microsoft.com/office/drawing/2014/main" id="{5706EEE6-77ED-4D3F-AE0B-9F8F2BAC8E54}"/>
              </a:ext>
            </a:extLst>
          </p:cNvPr>
          <p:cNvCxnSpPr>
            <a:cxnSpLocks/>
            <a:endCxn id="10" idx="0"/>
          </p:cNvCxnSpPr>
          <p:nvPr/>
        </p:nvCxnSpPr>
        <p:spPr bwMode="gray">
          <a:xfrm flipH="1">
            <a:off x="4570847" y="3889375"/>
            <a:ext cx="1" cy="15097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655031FC-A8CF-497A-817E-3F376FE3BD86}"/>
              </a:ext>
            </a:extLst>
          </p:cNvPr>
          <p:cNvCxnSpPr>
            <a:cxnSpLocks/>
            <a:stCxn id="12" idx="1"/>
            <a:endCxn id="10" idx="3"/>
          </p:cNvCxnSpPr>
          <p:nvPr/>
        </p:nvCxnSpPr>
        <p:spPr bwMode="gray">
          <a:xfrm flipH="1" flipV="1">
            <a:off x="4760278" y="4195680"/>
            <a:ext cx="112686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BA9E3632-C13D-4EF9-9092-95521556B834}"/>
              </a:ext>
            </a:extLst>
          </p:cNvPr>
          <p:cNvCxnSpPr>
            <a:cxnSpLocks/>
            <a:stCxn id="14" idx="1"/>
            <a:endCxn id="12" idx="3"/>
          </p:cNvCxnSpPr>
          <p:nvPr/>
        </p:nvCxnSpPr>
        <p:spPr bwMode="gray">
          <a:xfrm flipH="1" flipV="1">
            <a:off x="6266010" y="4197360"/>
            <a:ext cx="1192072"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193FC541-A6ED-4547-AC3C-E0F2622ED639}"/>
              </a:ext>
            </a:extLst>
          </p:cNvPr>
          <p:cNvCxnSpPr>
            <a:cxnSpLocks/>
            <a:stCxn id="28" idx="3"/>
            <a:endCxn id="10" idx="1"/>
          </p:cNvCxnSpPr>
          <p:nvPr/>
        </p:nvCxnSpPr>
        <p:spPr bwMode="gray">
          <a:xfrm>
            <a:off x="3092670" y="4195679"/>
            <a:ext cx="1288745"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8" name="图片 48">
            <a:extLst>
              <a:ext uri="{FF2B5EF4-FFF2-40B4-BE49-F238E27FC236}">
                <a16:creationId xmlns="" xmlns:a16="http://schemas.microsoft.com/office/drawing/2014/main" id="{7172AC1F-C776-40D4-AC6D-47FFE6A804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13807" y="4040345"/>
            <a:ext cx="378863" cy="310667"/>
          </a:xfrm>
          <a:prstGeom prst="rect">
            <a:avLst/>
          </a:prstGeom>
        </p:spPr>
      </p:pic>
      <p:pic>
        <p:nvPicPr>
          <p:cNvPr id="31" name="图片 48">
            <a:extLst>
              <a:ext uri="{FF2B5EF4-FFF2-40B4-BE49-F238E27FC236}">
                <a16:creationId xmlns="" xmlns:a16="http://schemas.microsoft.com/office/drawing/2014/main" id="{C2030A4A-091E-402E-8FBF-A324586B7F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49025" y="4043706"/>
            <a:ext cx="378863" cy="310667"/>
          </a:xfrm>
          <a:prstGeom prst="rect">
            <a:avLst/>
          </a:prstGeom>
        </p:spPr>
      </p:pic>
      <p:cxnSp>
        <p:nvCxnSpPr>
          <p:cNvPr id="34" name="Straight Connector 33">
            <a:extLst>
              <a:ext uri="{FF2B5EF4-FFF2-40B4-BE49-F238E27FC236}">
                <a16:creationId xmlns="" xmlns:a16="http://schemas.microsoft.com/office/drawing/2014/main" id="{072B4C0B-7F45-4314-92BB-31527B6990F0}"/>
              </a:ext>
            </a:extLst>
          </p:cNvPr>
          <p:cNvCxnSpPr>
            <a:cxnSpLocks/>
            <a:stCxn id="14" idx="3"/>
            <a:endCxn id="31" idx="1"/>
          </p:cNvCxnSpPr>
          <p:nvPr/>
        </p:nvCxnSpPr>
        <p:spPr bwMode="gray">
          <a:xfrm>
            <a:off x="7836945" y="4199040"/>
            <a:ext cx="101208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TextBox 271">
            <a:extLst>
              <a:ext uri="{FF2B5EF4-FFF2-40B4-BE49-F238E27FC236}">
                <a16:creationId xmlns="" xmlns:a16="http://schemas.microsoft.com/office/drawing/2014/main" id="{3A9BAC16-8278-4011-A2AE-7174661E5861}"/>
              </a:ext>
            </a:extLst>
          </p:cNvPr>
          <p:cNvSpPr txBox="1"/>
          <p:nvPr/>
        </p:nvSpPr>
        <p:spPr bwMode="gray">
          <a:xfrm>
            <a:off x="4392167" y="437115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TextBox 271">
            <a:extLst>
              <a:ext uri="{FF2B5EF4-FFF2-40B4-BE49-F238E27FC236}">
                <a16:creationId xmlns="" xmlns:a16="http://schemas.microsoft.com/office/drawing/2014/main" id="{448BE909-CED2-49E0-A2D4-B6B187CDABEF}"/>
              </a:ext>
            </a:extLst>
          </p:cNvPr>
          <p:cNvSpPr txBox="1"/>
          <p:nvPr/>
        </p:nvSpPr>
        <p:spPr bwMode="gray">
          <a:xfrm>
            <a:off x="5950478" y="4363525"/>
            <a:ext cx="287594"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271">
            <a:extLst>
              <a:ext uri="{FF2B5EF4-FFF2-40B4-BE49-F238E27FC236}">
                <a16:creationId xmlns="" xmlns:a16="http://schemas.microsoft.com/office/drawing/2014/main" id="{BD2DAE9F-1BEE-4B0B-8309-CFF53026EE7A}"/>
              </a:ext>
            </a:extLst>
          </p:cNvPr>
          <p:cNvSpPr txBox="1"/>
          <p:nvPr/>
        </p:nvSpPr>
        <p:spPr bwMode="gray">
          <a:xfrm>
            <a:off x="2713806" y="436194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271">
            <a:extLst>
              <a:ext uri="{FF2B5EF4-FFF2-40B4-BE49-F238E27FC236}">
                <a16:creationId xmlns="" xmlns:a16="http://schemas.microsoft.com/office/drawing/2014/main" id="{2CCF37C6-100B-4D57-AFD0-0E1EB942D419}"/>
              </a:ext>
            </a:extLst>
          </p:cNvPr>
          <p:cNvSpPr txBox="1"/>
          <p:nvPr/>
        </p:nvSpPr>
        <p:spPr bwMode="gray">
          <a:xfrm>
            <a:off x="8844495" y="437653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271">
            <a:extLst>
              <a:ext uri="{FF2B5EF4-FFF2-40B4-BE49-F238E27FC236}">
                <a16:creationId xmlns="" xmlns:a16="http://schemas.microsoft.com/office/drawing/2014/main" id="{0B25F61A-9F89-4EED-AAEB-D1450D1EDD90}"/>
              </a:ext>
            </a:extLst>
          </p:cNvPr>
          <p:cNvSpPr txBox="1"/>
          <p:nvPr/>
        </p:nvSpPr>
        <p:spPr bwMode="gray">
          <a:xfrm>
            <a:off x="7474313" y="436852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Straight Connector 59">
            <a:extLst>
              <a:ext uri="{FF2B5EF4-FFF2-40B4-BE49-F238E27FC236}">
                <a16:creationId xmlns="" xmlns:a16="http://schemas.microsoft.com/office/drawing/2014/main" id="{7ED88ED8-C51D-4ABD-B9EF-B85C34DBB7BB}"/>
              </a:ext>
            </a:extLst>
          </p:cNvPr>
          <p:cNvCxnSpPr>
            <a:cxnSpLocks/>
          </p:cNvCxnSpPr>
          <p:nvPr/>
        </p:nvCxnSpPr>
        <p:spPr bwMode="gray">
          <a:xfrm flipH="1">
            <a:off x="4473576" y="3889375"/>
            <a:ext cx="18717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直接箭头连接符 84">
            <a:extLst>
              <a:ext uri="{FF2B5EF4-FFF2-40B4-BE49-F238E27FC236}">
                <a16:creationId xmlns="" xmlns:a16="http://schemas.microsoft.com/office/drawing/2014/main" id="{56063AA8-1572-48EA-A566-67907BEDB544}"/>
              </a:ext>
            </a:extLst>
          </p:cNvPr>
          <p:cNvCxnSpPr>
            <a:cxnSpLocks/>
            <a:stCxn id="17" idx="2"/>
            <a:endCxn id="76" idx="0"/>
          </p:cNvCxnSpPr>
          <p:nvPr/>
        </p:nvCxnSpPr>
        <p:spPr bwMode="gray">
          <a:xfrm flipH="1">
            <a:off x="4568417" y="3133204"/>
            <a:ext cx="1506565" cy="848743"/>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76" name="Oval 41">
            <a:extLst>
              <a:ext uri="{FF2B5EF4-FFF2-40B4-BE49-F238E27FC236}">
                <a16:creationId xmlns="" xmlns:a16="http://schemas.microsoft.com/office/drawing/2014/main" id="{AFB48654-D2A6-4D47-958E-389D99FD51BC}"/>
              </a:ext>
            </a:extLst>
          </p:cNvPr>
          <p:cNvSpPr>
            <a:spLocks noChangeAspect="1"/>
          </p:cNvSpPr>
          <p:nvPr/>
        </p:nvSpPr>
        <p:spPr bwMode="gray">
          <a:xfrm>
            <a:off x="4488786" y="398194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cxnSp>
        <p:nvCxnSpPr>
          <p:cNvPr id="80" name="Straight Connector 79">
            <a:extLst>
              <a:ext uri="{FF2B5EF4-FFF2-40B4-BE49-F238E27FC236}">
                <a16:creationId xmlns="" xmlns:a16="http://schemas.microsoft.com/office/drawing/2014/main" id="{C72619DB-4FF2-499F-B7B3-5EB60F2CE071}"/>
              </a:ext>
            </a:extLst>
          </p:cNvPr>
          <p:cNvCxnSpPr>
            <a:cxnSpLocks/>
            <a:endCxn id="12" idx="0"/>
          </p:cNvCxnSpPr>
          <p:nvPr/>
        </p:nvCxnSpPr>
        <p:spPr bwMode="gray">
          <a:xfrm>
            <a:off x="6076579" y="3903568"/>
            <a:ext cx="0" cy="13845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 xmlns:a16="http://schemas.microsoft.com/office/drawing/2014/main" id="{1F0A5410-DD4D-40FA-8D9C-52FE52CFFFAA}"/>
              </a:ext>
            </a:extLst>
          </p:cNvPr>
          <p:cNvCxnSpPr>
            <a:cxnSpLocks/>
          </p:cNvCxnSpPr>
          <p:nvPr/>
        </p:nvCxnSpPr>
        <p:spPr bwMode="gray">
          <a:xfrm flipH="1">
            <a:off x="5976937" y="3897498"/>
            <a:ext cx="18822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 xmlns:a16="http://schemas.microsoft.com/office/drawing/2014/main" id="{E7BF6668-3345-4AC3-8CC8-E0CAED8A85E3}"/>
              </a:ext>
            </a:extLst>
          </p:cNvPr>
          <p:cNvCxnSpPr>
            <a:cxnSpLocks/>
            <a:endCxn id="14" idx="0"/>
          </p:cNvCxnSpPr>
          <p:nvPr/>
        </p:nvCxnSpPr>
        <p:spPr bwMode="gray">
          <a:xfrm flipH="1">
            <a:off x="7647514" y="3910013"/>
            <a:ext cx="1061" cy="1336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 xmlns:a16="http://schemas.microsoft.com/office/drawing/2014/main" id="{0DF9CD42-831F-4FE9-8061-96CA8E013FF5}"/>
              </a:ext>
            </a:extLst>
          </p:cNvPr>
          <p:cNvCxnSpPr>
            <a:cxnSpLocks/>
          </p:cNvCxnSpPr>
          <p:nvPr/>
        </p:nvCxnSpPr>
        <p:spPr bwMode="gray">
          <a:xfrm flipH="1">
            <a:off x="7548562" y="3899178"/>
            <a:ext cx="18822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1" name="Oval 41">
            <a:extLst>
              <a:ext uri="{FF2B5EF4-FFF2-40B4-BE49-F238E27FC236}">
                <a16:creationId xmlns="" xmlns:a16="http://schemas.microsoft.com/office/drawing/2014/main" id="{7D925856-075B-46B5-8A0F-91F15BA3F1B3}"/>
              </a:ext>
            </a:extLst>
          </p:cNvPr>
          <p:cNvSpPr>
            <a:spLocks noChangeAspect="1"/>
          </p:cNvSpPr>
          <p:nvPr/>
        </p:nvSpPr>
        <p:spPr bwMode="gray">
          <a:xfrm>
            <a:off x="5997133" y="397860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92" name="Oval 41">
            <a:extLst>
              <a:ext uri="{FF2B5EF4-FFF2-40B4-BE49-F238E27FC236}">
                <a16:creationId xmlns="" xmlns:a16="http://schemas.microsoft.com/office/drawing/2014/main" id="{90755AD1-8BEB-4585-9680-431954C41F36}"/>
              </a:ext>
            </a:extLst>
          </p:cNvPr>
          <p:cNvSpPr>
            <a:spLocks noChangeAspect="1"/>
          </p:cNvSpPr>
          <p:nvPr/>
        </p:nvSpPr>
        <p:spPr bwMode="gray">
          <a:xfrm>
            <a:off x="7577528" y="397860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cxnSp>
        <p:nvCxnSpPr>
          <p:cNvPr id="95" name="直接箭头连接符 84">
            <a:extLst>
              <a:ext uri="{FF2B5EF4-FFF2-40B4-BE49-F238E27FC236}">
                <a16:creationId xmlns="" xmlns:a16="http://schemas.microsoft.com/office/drawing/2014/main" id="{0FF65BB7-7B2D-4299-8546-A9B409B600BC}"/>
              </a:ext>
            </a:extLst>
          </p:cNvPr>
          <p:cNvCxnSpPr>
            <a:cxnSpLocks/>
            <a:stCxn id="17" idx="2"/>
            <a:endCxn id="91" idx="0"/>
          </p:cNvCxnSpPr>
          <p:nvPr/>
        </p:nvCxnSpPr>
        <p:spPr bwMode="gray">
          <a:xfrm>
            <a:off x="6074982" y="3133204"/>
            <a:ext cx="1782" cy="845401"/>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8" name="直接箭头连接符 84">
            <a:extLst>
              <a:ext uri="{FF2B5EF4-FFF2-40B4-BE49-F238E27FC236}">
                <a16:creationId xmlns="" xmlns:a16="http://schemas.microsoft.com/office/drawing/2014/main" id="{E7907275-F394-4B8D-BD26-831DDC7D6CE5}"/>
              </a:ext>
            </a:extLst>
          </p:cNvPr>
          <p:cNvCxnSpPr>
            <a:cxnSpLocks/>
            <a:stCxn id="17" idx="2"/>
            <a:endCxn id="92" idx="0"/>
          </p:cNvCxnSpPr>
          <p:nvPr/>
        </p:nvCxnSpPr>
        <p:spPr bwMode="gray">
          <a:xfrm>
            <a:off x="6074982" y="3133204"/>
            <a:ext cx="1582177" cy="845401"/>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01" name="Freeform: Shape 100">
            <a:extLst>
              <a:ext uri="{FF2B5EF4-FFF2-40B4-BE49-F238E27FC236}">
                <a16:creationId xmlns="" xmlns:a16="http://schemas.microsoft.com/office/drawing/2014/main" id="{4CB821DE-D4CE-438E-B6BF-7331EEBA8AF3}"/>
              </a:ext>
            </a:extLst>
          </p:cNvPr>
          <p:cNvSpPr/>
          <p:nvPr/>
        </p:nvSpPr>
        <p:spPr bwMode="gray">
          <a:xfrm>
            <a:off x="4587611" y="3773813"/>
            <a:ext cx="3013328" cy="205752"/>
          </a:xfrm>
          <a:custGeom>
            <a:avLst/>
            <a:gdLst>
              <a:gd name="connsiteX0" fmla="*/ 0 w 1318260"/>
              <a:gd name="connsiteY0" fmla="*/ 205752 h 205752"/>
              <a:gd name="connsiteX1" fmla="*/ 662940 w 1318260"/>
              <a:gd name="connsiteY1" fmla="*/ 12 h 205752"/>
              <a:gd name="connsiteX2" fmla="*/ 1318260 w 1318260"/>
              <a:gd name="connsiteY2" fmla="*/ 198132 h 205752"/>
            </a:gdLst>
            <a:ahLst/>
            <a:cxnLst>
              <a:cxn ang="0">
                <a:pos x="connsiteX0" y="connsiteY0"/>
              </a:cxn>
              <a:cxn ang="0">
                <a:pos x="connsiteX1" y="connsiteY1"/>
              </a:cxn>
              <a:cxn ang="0">
                <a:pos x="connsiteX2" y="connsiteY2"/>
              </a:cxn>
            </a:cxnLst>
            <a:rect l="l" t="t" r="r" b="b"/>
            <a:pathLst>
              <a:path w="1318260" h="205752">
                <a:moveTo>
                  <a:pt x="0" y="205752"/>
                </a:moveTo>
                <a:cubicBezTo>
                  <a:pt x="221615" y="103517"/>
                  <a:pt x="443230" y="1282"/>
                  <a:pt x="662940" y="12"/>
                </a:cubicBezTo>
                <a:cubicBezTo>
                  <a:pt x="882650" y="-1258"/>
                  <a:pt x="1100455" y="98437"/>
                  <a:pt x="1318260" y="198132"/>
                </a:cubicBezTo>
              </a:path>
            </a:pathLst>
          </a:custGeom>
          <a:noFill/>
          <a:ln>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Shape 101">
            <a:extLst>
              <a:ext uri="{FF2B5EF4-FFF2-40B4-BE49-F238E27FC236}">
                <a16:creationId xmlns="" xmlns:a16="http://schemas.microsoft.com/office/drawing/2014/main" id="{3D2D40FB-6DC5-41E1-8DDA-C2A279844CFD}"/>
              </a:ext>
            </a:extLst>
          </p:cNvPr>
          <p:cNvSpPr/>
          <p:nvPr/>
        </p:nvSpPr>
        <p:spPr bwMode="gray">
          <a:xfrm>
            <a:off x="4695151" y="3971119"/>
            <a:ext cx="1257122" cy="45719"/>
          </a:xfrm>
          <a:custGeom>
            <a:avLst/>
            <a:gdLst>
              <a:gd name="connsiteX0" fmla="*/ 0 w 1318260"/>
              <a:gd name="connsiteY0" fmla="*/ 205752 h 205752"/>
              <a:gd name="connsiteX1" fmla="*/ 662940 w 1318260"/>
              <a:gd name="connsiteY1" fmla="*/ 12 h 205752"/>
              <a:gd name="connsiteX2" fmla="*/ 1318260 w 1318260"/>
              <a:gd name="connsiteY2" fmla="*/ 198132 h 205752"/>
            </a:gdLst>
            <a:ahLst/>
            <a:cxnLst>
              <a:cxn ang="0">
                <a:pos x="connsiteX0" y="connsiteY0"/>
              </a:cxn>
              <a:cxn ang="0">
                <a:pos x="connsiteX1" y="connsiteY1"/>
              </a:cxn>
              <a:cxn ang="0">
                <a:pos x="connsiteX2" y="connsiteY2"/>
              </a:cxn>
            </a:cxnLst>
            <a:rect l="l" t="t" r="r" b="b"/>
            <a:pathLst>
              <a:path w="1318260" h="205752">
                <a:moveTo>
                  <a:pt x="0" y="205752"/>
                </a:moveTo>
                <a:cubicBezTo>
                  <a:pt x="221615" y="103517"/>
                  <a:pt x="443230" y="1282"/>
                  <a:pt x="662940" y="12"/>
                </a:cubicBezTo>
                <a:cubicBezTo>
                  <a:pt x="882650" y="-1258"/>
                  <a:pt x="1100455" y="98437"/>
                  <a:pt x="1318260" y="198132"/>
                </a:cubicBezTo>
              </a:path>
            </a:pathLst>
          </a:custGeom>
          <a:noFill/>
          <a:ln>
            <a:solidFill>
              <a:srgbClr val="81C15F"/>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ular Callout 26">
            <a:extLst>
              <a:ext uri="{FF2B5EF4-FFF2-40B4-BE49-F238E27FC236}">
                <a16:creationId xmlns="" xmlns:a16="http://schemas.microsoft.com/office/drawing/2014/main" id="{6CA79A0F-421A-46EB-9B29-6AB57E9830FC}"/>
              </a:ext>
            </a:extLst>
          </p:cNvPr>
          <p:cNvSpPr/>
          <p:nvPr/>
        </p:nvSpPr>
        <p:spPr bwMode="gray">
          <a:xfrm>
            <a:off x="4084325" y="3221150"/>
            <a:ext cx="1055823" cy="415700"/>
          </a:xfrm>
          <a:prstGeom prst="wedgeRectCallout">
            <a:avLst>
              <a:gd name="adj1" fmla="val 25468"/>
              <a:gd name="adj2" fmla="val 7437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用于设备与控制器通信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4" name="Rectangular Callout 26">
            <a:extLst>
              <a:ext uri="{FF2B5EF4-FFF2-40B4-BE49-F238E27FC236}">
                <a16:creationId xmlns="" xmlns:a16="http://schemas.microsoft.com/office/drawing/2014/main" id="{2885247E-E8BE-424F-AC5B-09B53B324DAA}"/>
              </a:ext>
            </a:extLst>
          </p:cNvPr>
          <p:cNvSpPr/>
          <p:nvPr/>
        </p:nvSpPr>
        <p:spPr bwMode="gray">
          <a:xfrm>
            <a:off x="6395500" y="3289632"/>
            <a:ext cx="1128959" cy="415700"/>
          </a:xfrm>
          <a:prstGeom prst="wedgeRectCallout">
            <a:avLst>
              <a:gd name="adj1" fmla="val 19393"/>
              <a:gd name="adj2" fmla="val 8170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用于设备之间建立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邻居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5" name="Rectangular Callout 26">
            <a:extLst>
              <a:ext uri="{FF2B5EF4-FFF2-40B4-BE49-F238E27FC236}">
                <a16:creationId xmlns="" xmlns:a16="http://schemas.microsoft.com/office/drawing/2014/main" id="{33AC6321-BFE8-4AEA-8668-3A854EB15F87}"/>
              </a:ext>
            </a:extLst>
          </p:cNvPr>
          <p:cNvSpPr/>
          <p:nvPr/>
        </p:nvSpPr>
        <p:spPr bwMode="gray">
          <a:xfrm>
            <a:off x="4821519" y="4376534"/>
            <a:ext cx="1128959" cy="415700"/>
          </a:xfrm>
          <a:prstGeom prst="wedgeRectCallout">
            <a:avLst>
              <a:gd name="adj1" fmla="val 21418"/>
              <a:gd name="adj2" fmla="val -1217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用于设备之间建立</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LDP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邻居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五边形 2">
            <a:extLst>
              <a:ext uri="{FF2B5EF4-FFF2-40B4-BE49-F238E27FC236}">
                <a16:creationId xmlns="" xmlns:a16="http://schemas.microsoft.com/office/drawing/2014/main" id="{57CB60DE-3F62-4425-BC07-136ACD8FD624}"/>
              </a:ext>
            </a:extLst>
          </p:cNvPr>
          <p:cNvSpPr/>
          <p:nvPr/>
        </p:nvSpPr>
        <p:spPr bwMode="gray">
          <a:xfrm>
            <a:off x="795300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43" name="燕尾形 3">
            <a:extLst>
              <a:ext uri="{FF2B5EF4-FFF2-40B4-BE49-F238E27FC236}">
                <a16:creationId xmlns="" xmlns:a16="http://schemas.microsoft.com/office/drawing/2014/main" id="{39D642DC-824B-4519-ABA4-33ED83FD8D9B}"/>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3">
            <a:extLst>
              <a:ext uri="{FF2B5EF4-FFF2-40B4-BE49-F238E27FC236}">
                <a16:creationId xmlns="" xmlns:a16="http://schemas.microsoft.com/office/drawing/2014/main" id="{440090D5-CC14-4164-A980-2DA93EB99BC7}"/>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727104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75D78D-B8AB-4FF3-9A6E-E3A2CED36E2D}"/>
              </a:ext>
            </a:extLst>
          </p:cNvPr>
          <p:cNvSpPr>
            <a:spLocks noGrp="1"/>
          </p:cNvSpPr>
          <p:nvPr>
            <p:ph type="title"/>
          </p:nvPr>
        </p:nvSpPr>
        <p:spPr bwMode="gray"/>
        <p:txBody>
          <a:bodyPr/>
          <a:lstStyle/>
          <a:p>
            <a:r>
              <a:rPr lang="en-US" altLang="zh-CN" dirty="0"/>
              <a:t>IPv4</a:t>
            </a:r>
            <a:r>
              <a:rPr lang="zh-CN" altLang="en-US" dirty="0"/>
              <a:t>地址规划建议</a:t>
            </a:r>
            <a:endParaRPr lang="en-US" dirty="0"/>
          </a:p>
        </p:txBody>
      </p:sp>
      <p:sp>
        <p:nvSpPr>
          <p:cNvPr id="3" name="Text Placeholder 2">
            <a:extLst>
              <a:ext uri="{FF2B5EF4-FFF2-40B4-BE49-F238E27FC236}">
                <a16:creationId xmlns="" xmlns:a16="http://schemas.microsoft.com/office/drawing/2014/main" id="{8264EF81-CCE7-4927-B6AD-59D0DCC543CA}"/>
              </a:ext>
            </a:extLst>
          </p:cNvPr>
          <p:cNvSpPr>
            <a:spLocks noGrp="1"/>
          </p:cNvSpPr>
          <p:nvPr>
            <p:ph type="body" sz="quarter" idx="10"/>
          </p:nvPr>
        </p:nvSpPr>
        <p:spPr bwMode="gray"/>
        <p:txBody>
          <a:bodyPr/>
          <a:lstStyle/>
          <a:p>
            <a:r>
              <a:rPr lang="zh-CN" altLang="en-US" sz="1800" dirty="0"/>
              <a:t>广域承载网建议采用专用网段，分配的范围包括承载网设备内部互联地址、承载网接入地址、设备管理地址等，地址分配规划参考如下：</a:t>
            </a:r>
            <a:endParaRPr lang="en-US" altLang="zh-CN" sz="1800" dirty="0"/>
          </a:p>
          <a:p>
            <a:pPr lvl="1"/>
            <a:r>
              <a:rPr lang="zh-CN" altLang="en-US" sz="1600" dirty="0"/>
              <a:t>内部互联地址：承载网内部设备互联的接口</a:t>
            </a:r>
            <a:r>
              <a:rPr lang="en-US" altLang="zh-CN" sz="1600" dirty="0"/>
              <a:t>IP</a:t>
            </a:r>
            <a:r>
              <a:rPr lang="zh-CN" altLang="en-US" sz="1600" dirty="0"/>
              <a:t>掩码采用</a:t>
            </a:r>
            <a:r>
              <a:rPr lang="en-US" altLang="zh-CN" sz="1600" dirty="0"/>
              <a:t>30</a:t>
            </a:r>
            <a:r>
              <a:rPr lang="zh-CN" altLang="en-US" sz="1600" dirty="0"/>
              <a:t>位。</a:t>
            </a:r>
          </a:p>
          <a:p>
            <a:pPr lvl="1"/>
            <a:r>
              <a:rPr lang="zh-CN" altLang="en-US" sz="1600" dirty="0"/>
              <a:t>接入地址：承载网的接入层设备接口由于需要和原有网络互联，其接入接口</a:t>
            </a:r>
            <a:r>
              <a:rPr lang="en-US" altLang="zh-CN" sz="1600" dirty="0"/>
              <a:t>IP</a:t>
            </a:r>
            <a:r>
              <a:rPr lang="zh-CN" altLang="en-US" sz="1600" dirty="0"/>
              <a:t>建议基于原来的规划按需分配，譬如使用</a:t>
            </a:r>
            <a:r>
              <a:rPr lang="en-US" altLang="zh-CN" sz="1600" dirty="0"/>
              <a:t>29</a:t>
            </a:r>
            <a:r>
              <a:rPr lang="zh-CN" altLang="en-US" sz="1600" dirty="0"/>
              <a:t>位掩码地址。</a:t>
            </a:r>
          </a:p>
          <a:p>
            <a:pPr lvl="1"/>
            <a:r>
              <a:rPr lang="zh-CN" altLang="en-US" sz="1600" dirty="0"/>
              <a:t>地址分配顺序：互连地址从低到高分配，</a:t>
            </a:r>
            <a:r>
              <a:rPr lang="en-US" altLang="zh-CN" sz="1600" dirty="0"/>
              <a:t>Loopback</a:t>
            </a:r>
            <a:r>
              <a:rPr lang="zh-CN" altLang="en-US" sz="1600" dirty="0"/>
              <a:t>地址从高到低分配。</a:t>
            </a:r>
          </a:p>
          <a:p>
            <a:pPr lvl="1"/>
            <a:r>
              <a:rPr lang="zh-CN" altLang="en-US" sz="1600" dirty="0"/>
              <a:t>同层设备互连：编号小的设备取奇地址，编号大的设备取偶地址。</a:t>
            </a:r>
          </a:p>
          <a:p>
            <a:pPr lvl="1"/>
            <a:r>
              <a:rPr lang="zh-CN" altLang="en-US" sz="1600" dirty="0"/>
              <a:t>不同层次设备互连：靠近网络核心的设备取奇地址，远离网络核心的设备取偶地址。</a:t>
            </a:r>
            <a:endParaRPr lang="en-US" sz="1600" dirty="0"/>
          </a:p>
        </p:txBody>
      </p:sp>
      <p:sp>
        <p:nvSpPr>
          <p:cNvPr id="7" name="五边形 2">
            <a:extLst>
              <a:ext uri="{FF2B5EF4-FFF2-40B4-BE49-F238E27FC236}">
                <a16:creationId xmlns="" xmlns:a16="http://schemas.microsoft.com/office/drawing/2014/main" id="{475E7572-EC50-4DA5-B266-7997C4052DAD}"/>
              </a:ext>
            </a:extLst>
          </p:cNvPr>
          <p:cNvSpPr/>
          <p:nvPr/>
        </p:nvSpPr>
        <p:spPr bwMode="gray">
          <a:xfrm>
            <a:off x="795300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8" name="燕尾形 3">
            <a:extLst>
              <a:ext uri="{FF2B5EF4-FFF2-40B4-BE49-F238E27FC236}">
                <a16:creationId xmlns="" xmlns:a16="http://schemas.microsoft.com/office/drawing/2014/main" id="{A81D54F1-164A-4AB7-8BB8-663144E71A3C}"/>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a:extLst>
              <a:ext uri="{FF2B5EF4-FFF2-40B4-BE49-F238E27FC236}">
                <a16:creationId xmlns="" xmlns:a16="http://schemas.microsoft.com/office/drawing/2014/main" id="{D9A8F772-DEFF-41C1-A5CE-30BE82C5422E}"/>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548393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75D78D-B8AB-4FF3-9A6E-E3A2CED36E2D}"/>
              </a:ext>
            </a:extLst>
          </p:cNvPr>
          <p:cNvSpPr>
            <a:spLocks noGrp="1"/>
          </p:cNvSpPr>
          <p:nvPr>
            <p:ph type="title"/>
          </p:nvPr>
        </p:nvSpPr>
        <p:spPr bwMode="gray"/>
        <p:txBody>
          <a:bodyPr/>
          <a:lstStyle/>
          <a:p>
            <a:r>
              <a:rPr lang="en-US" altLang="zh-CN" dirty="0"/>
              <a:t>IPv4</a:t>
            </a:r>
            <a:r>
              <a:rPr lang="zh-CN" altLang="en-US" dirty="0"/>
              <a:t>地址典型规划</a:t>
            </a:r>
            <a:endParaRPr lang="en-US" dirty="0"/>
          </a:p>
        </p:txBody>
      </p:sp>
      <p:sp>
        <p:nvSpPr>
          <p:cNvPr id="3" name="Text Placeholder 2">
            <a:extLst>
              <a:ext uri="{FF2B5EF4-FFF2-40B4-BE49-F238E27FC236}">
                <a16:creationId xmlns="" xmlns:a16="http://schemas.microsoft.com/office/drawing/2014/main" id="{8264EF81-CCE7-4927-B6AD-59D0DCC543CA}"/>
              </a:ext>
            </a:extLst>
          </p:cNvPr>
          <p:cNvSpPr>
            <a:spLocks noGrp="1"/>
          </p:cNvSpPr>
          <p:nvPr>
            <p:ph type="body" sz="quarter" idx="10"/>
          </p:nvPr>
        </p:nvSpPr>
        <p:spPr bwMode="gray">
          <a:xfrm>
            <a:off x="455612" y="1047751"/>
            <a:ext cx="11293475" cy="449414"/>
          </a:xfrm>
        </p:spPr>
        <p:txBody>
          <a:bodyPr/>
          <a:lstStyle/>
          <a:p>
            <a:r>
              <a:rPr lang="en-US" altLang="zh-CN" sz="1800" dirty="0"/>
              <a:t>IPv4</a:t>
            </a:r>
            <a:r>
              <a:rPr lang="zh-CN" altLang="en-US" sz="1800" dirty="0"/>
              <a:t>地址可基于规划建议规划，或者基于公司的规划原则统一规划。</a:t>
            </a:r>
            <a:endParaRPr lang="en-US" sz="1800" dirty="0"/>
          </a:p>
        </p:txBody>
      </p:sp>
      <p:sp>
        <p:nvSpPr>
          <p:cNvPr id="7" name="五边形 2">
            <a:extLst>
              <a:ext uri="{FF2B5EF4-FFF2-40B4-BE49-F238E27FC236}">
                <a16:creationId xmlns="" xmlns:a16="http://schemas.microsoft.com/office/drawing/2014/main" id="{475E7572-EC50-4DA5-B266-7997C4052DAD}"/>
              </a:ext>
            </a:extLst>
          </p:cNvPr>
          <p:cNvSpPr/>
          <p:nvPr/>
        </p:nvSpPr>
        <p:spPr bwMode="gray">
          <a:xfrm>
            <a:off x="795300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8" name="燕尾形 3">
            <a:extLst>
              <a:ext uri="{FF2B5EF4-FFF2-40B4-BE49-F238E27FC236}">
                <a16:creationId xmlns="" xmlns:a16="http://schemas.microsoft.com/office/drawing/2014/main" id="{A81D54F1-164A-4AB7-8BB8-663144E71A3C}"/>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a:extLst>
              <a:ext uri="{FF2B5EF4-FFF2-40B4-BE49-F238E27FC236}">
                <a16:creationId xmlns="" xmlns:a16="http://schemas.microsoft.com/office/drawing/2014/main" id="{D9A8F772-DEFF-41C1-A5CE-30BE82C5422E}"/>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48">
            <a:extLst>
              <a:ext uri="{FF2B5EF4-FFF2-40B4-BE49-F238E27FC236}">
                <a16:creationId xmlns="" xmlns:a16="http://schemas.microsoft.com/office/drawing/2014/main" id="{FA1A34F0-5CC0-4912-939C-D263D070CA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36592" y="2878289"/>
            <a:ext cx="378863" cy="310667"/>
          </a:xfrm>
          <a:prstGeom prst="rect">
            <a:avLst/>
          </a:prstGeom>
        </p:spPr>
      </p:pic>
      <p:pic>
        <p:nvPicPr>
          <p:cNvPr id="11" name="图片 48">
            <a:extLst>
              <a:ext uri="{FF2B5EF4-FFF2-40B4-BE49-F238E27FC236}">
                <a16:creationId xmlns="" xmlns:a16="http://schemas.microsoft.com/office/drawing/2014/main" id="{37FD8858-F667-4127-99BB-395720821D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36592" y="4633500"/>
            <a:ext cx="378863" cy="310667"/>
          </a:xfrm>
          <a:prstGeom prst="rect">
            <a:avLst/>
          </a:prstGeom>
        </p:spPr>
      </p:pic>
      <p:pic>
        <p:nvPicPr>
          <p:cNvPr id="12" name="图片 48">
            <a:extLst>
              <a:ext uri="{FF2B5EF4-FFF2-40B4-BE49-F238E27FC236}">
                <a16:creationId xmlns="" xmlns:a16="http://schemas.microsoft.com/office/drawing/2014/main" id="{9EEA590C-40BD-42A1-8E69-375154A574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125029" y="2879969"/>
            <a:ext cx="378863" cy="310667"/>
          </a:xfrm>
          <a:prstGeom prst="rect">
            <a:avLst/>
          </a:prstGeom>
        </p:spPr>
      </p:pic>
      <p:pic>
        <p:nvPicPr>
          <p:cNvPr id="13" name="图片 48">
            <a:extLst>
              <a:ext uri="{FF2B5EF4-FFF2-40B4-BE49-F238E27FC236}">
                <a16:creationId xmlns="" xmlns:a16="http://schemas.microsoft.com/office/drawing/2014/main" id="{3B400597-11E0-48C7-A1EA-D33BD90EF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125029" y="4635180"/>
            <a:ext cx="378863" cy="310667"/>
          </a:xfrm>
          <a:prstGeom prst="rect">
            <a:avLst/>
          </a:prstGeom>
        </p:spPr>
      </p:pic>
      <p:sp>
        <p:nvSpPr>
          <p:cNvPr id="16" name="圆角矩形 75">
            <a:extLst>
              <a:ext uri="{FF2B5EF4-FFF2-40B4-BE49-F238E27FC236}">
                <a16:creationId xmlns="" xmlns:a16="http://schemas.microsoft.com/office/drawing/2014/main" id="{E7285C79-3C5A-4892-9EBC-9E16D48C0D8A}"/>
              </a:ext>
            </a:extLst>
          </p:cNvPr>
          <p:cNvSpPr/>
          <p:nvPr/>
        </p:nvSpPr>
        <p:spPr bwMode="gray">
          <a:xfrm>
            <a:off x="3227426" y="2659562"/>
            <a:ext cx="5686424" cy="2537146"/>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7" name="Straight Connector 16">
            <a:extLst>
              <a:ext uri="{FF2B5EF4-FFF2-40B4-BE49-F238E27FC236}">
                <a16:creationId xmlns="" xmlns:a16="http://schemas.microsoft.com/office/drawing/2014/main" id="{1A4C9F04-A2F8-4894-B8A2-7D2DBBE15DD6}"/>
              </a:ext>
            </a:extLst>
          </p:cNvPr>
          <p:cNvCxnSpPr>
            <a:cxnSpLocks/>
            <a:stCxn id="11" idx="0"/>
            <a:endCxn id="10" idx="2"/>
          </p:cNvCxnSpPr>
          <p:nvPr/>
        </p:nvCxnSpPr>
        <p:spPr bwMode="gray">
          <a:xfrm flipV="1">
            <a:off x="3626024" y="3188956"/>
            <a:ext cx="0" cy="144454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9332399F-86F7-448D-A651-942226125A64}"/>
              </a:ext>
            </a:extLst>
          </p:cNvPr>
          <p:cNvCxnSpPr>
            <a:cxnSpLocks/>
            <a:stCxn id="12" idx="1"/>
            <a:endCxn id="10" idx="3"/>
          </p:cNvCxnSpPr>
          <p:nvPr/>
        </p:nvCxnSpPr>
        <p:spPr bwMode="gray">
          <a:xfrm flipH="1" flipV="1">
            <a:off x="3815455" y="3033623"/>
            <a:ext cx="1309574"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ACD41D65-0179-44C6-BA53-891C7CF4427E}"/>
              </a:ext>
            </a:extLst>
          </p:cNvPr>
          <p:cNvCxnSpPr>
            <a:cxnSpLocks/>
            <a:stCxn id="13" idx="1"/>
            <a:endCxn id="11" idx="3"/>
          </p:cNvCxnSpPr>
          <p:nvPr/>
        </p:nvCxnSpPr>
        <p:spPr bwMode="gray">
          <a:xfrm flipH="1" flipV="1">
            <a:off x="3815455" y="4788834"/>
            <a:ext cx="1309574"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8816A2BD-083C-4E14-B921-BB9D24E05C6E}"/>
              </a:ext>
            </a:extLst>
          </p:cNvPr>
          <p:cNvCxnSpPr>
            <a:cxnSpLocks/>
            <a:stCxn id="13" idx="0"/>
            <a:endCxn id="12" idx="2"/>
          </p:cNvCxnSpPr>
          <p:nvPr/>
        </p:nvCxnSpPr>
        <p:spPr bwMode="gray">
          <a:xfrm flipV="1">
            <a:off x="5314461" y="3190636"/>
            <a:ext cx="0" cy="144454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2BFB37C1-A406-4AF6-8212-FD8545CCFD15}"/>
              </a:ext>
            </a:extLst>
          </p:cNvPr>
          <p:cNvCxnSpPr>
            <a:cxnSpLocks/>
            <a:stCxn id="25" idx="3"/>
            <a:endCxn id="10" idx="1"/>
          </p:cNvCxnSpPr>
          <p:nvPr/>
        </p:nvCxnSpPr>
        <p:spPr bwMode="gray">
          <a:xfrm>
            <a:off x="2263015" y="3033622"/>
            <a:ext cx="1173577"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5" name="图片 48">
            <a:extLst>
              <a:ext uri="{FF2B5EF4-FFF2-40B4-BE49-F238E27FC236}">
                <a16:creationId xmlns="" xmlns:a16="http://schemas.microsoft.com/office/drawing/2014/main" id="{080BAFB7-3915-4DE8-8597-E7A34DACFD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884152" y="2878288"/>
            <a:ext cx="378863" cy="310667"/>
          </a:xfrm>
          <a:prstGeom prst="rect">
            <a:avLst/>
          </a:prstGeom>
        </p:spPr>
      </p:pic>
      <p:pic>
        <p:nvPicPr>
          <p:cNvPr id="26" name="图片 48">
            <a:extLst>
              <a:ext uri="{FF2B5EF4-FFF2-40B4-BE49-F238E27FC236}">
                <a16:creationId xmlns="" xmlns:a16="http://schemas.microsoft.com/office/drawing/2014/main" id="{F108EC62-F151-4965-8687-7A92290565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884152" y="4635298"/>
            <a:ext cx="378863" cy="310667"/>
          </a:xfrm>
          <a:prstGeom prst="rect">
            <a:avLst/>
          </a:prstGeom>
        </p:spPr>
      </p:pic>
      <p:cxnSp>
        <p:nvCxnSpPr>
          <p:cNvPr id="27" name="Straight Connector 26">
            <a:extLst>
              <a:ext uri="{FF2B5EF4-FFF2-40B4-BE49-F238E27FC236}">
                <a16:creationId xmlns="" xmlns:a16="http://schemas.microsoft.com/office/drawing/2014/main" id="{84AE2E9F-8A9F-4A97-ABDC-57C374696661}"/>
              </a:ext>
            </a:extLst>
          </p:cNvPr>
          <p:cNvCxnSpPr>
            <a:cxnSpLocks/>
            <a:stCxn id="26" idx="3"/>
            <a:endCxn id="11" idx="1"/>
          </p:cNvCxnSpPr>
          <p:nvPr/>
        </p:nvCxnSpPr>
        <p:spPr bwMode="gray">
          <a:xfrm flipV="1">
            <a:off x="2263015" y="4788834"/>
            <a:ext cx="1173577"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271">
            <a:extLst>
              <a:ext uri="{FF2B5EF4-FFF2-40B4-BE49-F238E27FC236}">
                <a16:creationId xmlns="" xmlns:a16="http://schemas.microsoft.com/office/drawing/2014/main" id="{1ABC9AC1-6F18-42B3-AFB0-7A8329ECD5D5}"/>
              </a:ext>
            </a:extLst>
          </p:cNvPr>
          <p:cNvSpPr txBox="1"/>
          <p:nvPr/>
        </p:nvSpPr>
        <p:spPr bwMode="gray">
          <a:xfrm>
            <a:off x="3403848" y="2661137"/>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271">
            <a:extLst>
              <a:ext uri="{FF2B5EF4-FFF2-40B4-BE49-F238E27FC236}">
                <a16:creationId xmlns="" xmlns:a16="http://schemas.microsoft.com/office/drawing/2014/main" id="{AC7CE82F-9D6D-491B-8A44-97044372CE82}"/>
              </a:ext>
            </a:extLst>
          </p:cNvPr>
          <p:cNvSpPr txBox="1"/>
          <p:nvPr/>
        </p:nvSpPr>
        <p:spPr bwMode="gray">
          <a:xfrm>
            <a:off x="3400989" y="4904634"/>
            <a:ext cx="44435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271">
            <a:extLst>
              <a:ext uri="{FF2B5EF4-FFF2-40B4-BE49-F238E27FC236}">
                <a16:creationId xmlns="" xmlns:a16="http://schemas.microsoft.com/office/drawing/2014/main" id="{9188571D-BD9E-47EF-B5BE-926352071346}"/>
              </a:ext>
            </a:extLst>
          </p:cNvPr>
          <p:cNvSpPr txBox="1"/>
          <p:nvPr/>
        </p:nvSpPr>
        <p:spPr bwMode="gray">
          <a:xfrm>
            <a:off x="5133836" y="2661137"/>
            <a:ext cx="361245"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271">
            <a:extLst>
              <a:ext uri="{FF2B5EF4-FFF2-40B4-BE49-F238E27FC236}">
                <a16:creationId xmlns="" xmlns:a16="http://schemas.microsoft.com/office/drawing/2014/main" id="{11D43865-B0E0-4BCF-B7A3-FC11F30B81BA}"/>
              </a:ext>
            </a:extLst>
          </p:cNvPr>
          <p:cNvSpPr txBox="1"/>
          <p:nvPr/>
        </p:nvSpPr>
        <p:spPr bwMode="gray">
          <a:xfrm>
            <a:off x="5114709" y="4908942"/>
            <a:ext cx="3788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271">
            <a:extLst>
              <a:ext uri="{FF2B5EF4-FFF2-40B4-BE49-F238E27FC236}">
                <a16:creationId xmlns="" xmlns:a16="http://schemas.microsoft.com/office/drawing/2014/main" id="{1E74FA6C-C1C4-4CAA-9754-17BDFE480AF7}"/>
              </a:ext>
            </a:extLst>
          </p:cNvPr>
          <p:cNvSpPr txBox="1"/>
          <p:nvPr/>
        </p:nvSpPr>
        <p:spPr bwMode="gray">
          <a:xfrm>
            <a:off x="1845065" y="4901447"/>
            <a:ext cx="478252"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271">
            <a:extLst>
              <a:ext uri="{FF2B5EF4-FFF2-40B4-BE49-F238E27FC236}">
                <a16:creationId xmlns="" xmlns:a16="http://schemas.microsoft.com/office/drawing/2014/main" id="{413EEB5B-9F9D-42E8-A0B9-F6DB754915DE}"/>
              </a:ext>
            </a:extLst>
          </p:cNvPr>
          <p:cNvSpPr txBox="1"/>
          <p:nvPr/>
        </p:nvSpPr>
        <p:spPr bwMode="gray">
          <a:xfrm>
            <a:off x="1884151" y="2659561"/>
            <a:ext cx="478252"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8">
            <a:extLst>
              <a:ext uri="{FF2B5EF4-FFF2-40B4-BE49-F238E27FC236}">
                <a16:creationId xmlns="" xmlns:a16="http://schemas.microsoft.com/office/drawing/2014/main" id="{77F69C57-A2D2-4992-A5E9-1A1AD20DB0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680116" y="2879969"/>
            <a:ext cx="378863" cy="310667"/>
          </a:xfrm>
          <a:prstGeom prst="rect">
            <a:avLst/>
          </a:prstGeom>
        </p:spPr>
      </p:pic>
      <p:pic>
        <p:nvPicPr>
          <p:cNvPr id="49" name="图片 48">
            <a:extLst>
              <a:ext uri="{FF2B5EF4-FFF2-40B4-BE49-F238E27FC236}">
                <a16:creationId xmlns="" xmlns:a16="http://schemas.microsoft.com/office/drawing/2014/main" id="{85CC6917-0DC5-42A7-8C4E-A6C9E4E78A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680116" y="4635180"/>
            <a:ext cx="378863" cy="310667"/>
          </a:xfrm>
          <a:prstGeom prst="rect">
            <a:avLst/>
          </a:prstGeom>
        </p:spPr>
      </p:pic>
      <p:pic>
        <p:nvPicPr>
          <p:cNvPr id="50" name="图片 48">
            <a:extLst>
              <a:ext uri="{FF2B5EF4-FFF2-40B4-BE49-F238E27FC236}">
                <a16:creationId xmlns="" xmlns:a16="http://schemas.microsoft.com/office/drawing/2014/main" id="{3E885A8B-B6BE-487D-8DFC-F7F43F38A5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276160" y="2881649"/>
            <a:ext cx="378863" cy="310667"/>
          </a:xfrm>
          <a:prstGeom prst="rect">
            <a:avLst/>
          </a:prstGeom>
        </p:spPr>
      </p:pic>
      <p:pic>
        <p:nvPicPr>
          <p:cNvPr id="51" name="图片 48">
            <a:extLst>
              <a:ext uri="{FF2B5EF4-FFF2-40B4-BE49-F238E27FC236}">
                <a16:creationId xmlns="" xmlns:a16="http://schemas.microsoft.com/office/drawing/2014/main" id="{8BC210FA-E11D-4388-B309-3EE00AF85C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276160" y="4636860"/>
            <a:ext cx="378863" cy="310667"/>
          </a:xfrm>
          <a:prstGeom prst="rect">
            <a:avLst/>
          </a:prstGeom>
        </p:spPr>
      </p:pic>
      <p:cxnSp>
        <p:nvCxnSpPr>
          <p:cNvPr id="52" name="Straight Connector 51">
            <a:extLst>
              <a:ext uri="{FF2B5EF4-FFF2-40B4-BE49-F238E27FC236}">
                <a16:creationId xmlns="" xmlns:a16="http://schemas.microsoft.com/office/drawing/2014/main" id="{D44C3F01-ABFF-4DC1-8801-AF0DA8C2305B}"/>
              </a:ext>
            </a:extLst>
          </p:cNvPr>
          <p:cNvCxnSpPr>
            <a:cxnSpLocks/>
            <a:stCxn id="48" idx="1"/>
            <a:endCxn id="12" idx="3"/>
          </p:cNvCxnSpPr>
          <p:nvPr/>
        </p:nvCxnSpPr>
        <p:spPr bwMode="gray">
          <a:xfrm flipH="1">
            <a:off x="5503892" y="3035303"/>
            <a:ext cx="117622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DED26566-E448-4CEB-8A93-BC524D1EE95E}"/>
              </a:ext>
            </a:extLst>
          </p:cNvPr>
          <p:cNvCxnSpPr>
            <a:cxnSpLocks/>
            <a:stCxn id="50" idx="1"/>
            <a:endCxn id="48" idx="3"/>
          </p:cNvCxnSpPr>
          <p:nvPr/>
        </p:nvCxnSpPr>
        <p:spPr bwMode="gray">
          <a:xfrm flipH="1" flipV="1">
            <a:off x="7058979" y="3035303"/>
            <a:ext cx="1217181"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4EAA5F1A-2AD8-426B-8405-296F5DDC383B}"/>
              </a:ext>
            </a:extLst>
          </p:cNvPr>
          <p:cNvCxnSpPr>
            <a:cxnSpLocks/>
            <a:stCxn id="51" idx="1"/>
            <a:endCxn id="49" idx="3"/>
          </p:cNvCxnSpPr>
          <p:nvPr/>
        </p:nvCxnSpPr>
        <p:spPr bwMode="gray">
          <a:xfrm flipH="1" flipV="1">
            <a:off x="7058979" y="4790514"/>
            <a:ext cx="1217181"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46ABA8E8-BDF5-4F0E-A55B-F6E90FBFA3A3}"/>
              </a:ext>
            </a:extLst>
          </p:cNvPr>
          <p:cNvCxnSpPr>
            <a:cxnSpLocks/>
            <a:stCxn id="49" idx="1"/>
            <a:endCxn id="13" idx="3"/>
          </p:cNvCxnSpPr>
          <p:nvPr/>
        </p:nvCxnSpPr>
        <p:spPr bwMode="gray">
          <a:xfrm flipH="1">
            <a:off x="5503892" y="4790514"/>
            <a:ext cx="117622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882F21F5-93B9-436F-9106-1FCA082C7EA2}"/>
              </a:ext>
            </a:extLst>
          </p:cNvPr>
          <p:cNvCxnSpPr>
            <a:cxnSpLocks/>
            <a:stCxn id="49" idx="0"/>
            <a:endCxn id="48" idx="2"/>
          </p:cNvCxnSpPr>
          <p:nvPr/>
        </p:nvCxnSpPr>
        <p:spPr bwMode="gray">
          <a:xfrm flipV="1">
            <a:off x="6869548" y="3190636"/>
            <a:ext cx="0" cy="144454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 xmlns:a16="http://schemas.microsoft.com/office/drawing/2014/main" id="{CAB6201B-DC92-472E-950C-EA131FED334D}"/>
              </a:ext>
            </a:extLst>
          </p:cNvPr>
          <p:cNvCxnSpPr>
            <a:cxnSpLocks/>
            <a:stCxn id="51" idx="0"/>
            <a:endCxn id="50" idx="2"/>
          </p:cNvCxnSpPr>
          <p:nvPr/>
        </p:nvCxnSpPr>
        <p:spPr bwMode="gray">
          <a:xfrm flipV="1">
            <a:off x="8465592" y="3192316"/>
            <a:ext cx="0" cy="144454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8" name="图片 48">
            <a:extLst>
              <a:ext uri="{FF2B5EF4-FFF2-40B4-BE49-F238E27FC236}">
                <a16:creationId xmlns="" xmlns:a16="http://schemas.microsoft.com/office/drawing/2014/main" id="{1AB5DF3B-E571-422B-9A9A-5D51C8CDEB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917346" y="2881649"/>
            <a:ext cx="378863" cy="310667"/>
          </a:xfrm>
          <a:prstGeom prst="rect">
            <a:avLst/>
          </a:prstGeom>
        </p:spPr>
      </p:pic>
      <p:pic>
        <p:nvPicPr>
          <p:cNvPr id="59" name="图片 48">
            <a:extLst>
              <a:ext uri="{FF2B5EF4-FFF2-40B4-BE49-F238E27FC236}">
                <a16:creationId xmlns="" xmlns:a16="http://schemas.microsoft.com/office/drawing/2014/main" id="{C552E6D9-19CB-4EB6-8FDE-FEAFF0E176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917346" y="4638659"/>
            <a:ext cx="378863" cy="310667"/>
          </a:xfrm>
          <a:prstGeom prst="rect">
            <a:avLst/>
          </a:prstGeom>
        </p:spPr>
      </p:pic>
      <p:cxnSp>
        <p:nvCxnSpPr>
          <p:cNvPr id="60" name="Straight Connector 59">
            <a:extLst>
              <a:ext uri="{FF2B5EF4-FFF2-40B4-BE49-F238E27FC236}">
                <a16:creationId xmlns="" xmlns:a16="http://schemas.microsoft.com/office/drawing/2014/main" id="{FCBDCD3E-FF3F-40FA-A46C-1E7EA48A73D7}"/>
              </a:ext>
            </a:extLst>
          </p:cNvPr>
          <p:cNvCxnSpPr>
            <a:cxnSpLocks/>
            <a:stCxn id="51" idx="3"/>
            <a:endCxn id="59" idx="1"/>
          </p:cNvCxnSpPr>
          <p:nvPr/>
        </p:nvCxnSpPr>
        <p:spPr bwMode="gray">
          <a:xfrm>
            <a:off x="8655023" y="4792194"/>
            <a:ext cx="1262323"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 xmlns:a16="http://schemas.microsoft.com/office/drawing/2014/main" id="{69BB78E4-FABD-4D20-9EFE-590E50556D03}"/>
              </a:ext>
            </a:extLst>
          </p:cNvPr>
          <p:cNvCxnSpPr>
            <a:cxnSpLocks/>
            <a:stCxn id="50" idx="3"/>
            <a:endCxn id="58" idx="1"/>
          </p:cNvCxnSpPr>
          <p:nvPr/>
        </p:nvCxnSpPr>
        <p:spPr bwMode="gray">
          <a:xfrm>
            <a:off x="8655023" y="3036983"/>
            <a:ext cx="126232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2" name="TextBox 271">
            <a:extLst>
              <a:ext uri="{FF2B5EF4-FFF2-40B4-BE49-F238E27FC236}">
                <a16:creationId xmlns="" xmlns:a16="http://schemas.microsoft.com/office/drawing/2014/main" id="{2051C683-157D-42BE-B730-010367085BD3}"/>
              </a:ext>
            </a:extLst>
          </p:cNvPr>
          <p:cNvSpPr txBox="1"/>
          <p:nvPr/>
        </p:nvSpPr>
        <p:spPr bwMode="gray">
          <a:xfrm>
            <a:off x="8243415" y="2659561"/>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271">
            <a:extLst>
              <a:ext uri="{FF2B5EF4-FFF2-40B4-BE49-F238E27FC236}">
                <a16:creationId xmlns="" xmlns:a16="http://schemas.microsoft.com/office/drawing/2014/main" id="{E2100B5B-5161-490F-BD75-DC8CFC1A286E}"/>
              </a:ext>
            </a:extLst>
          </p:cNvPr>
          <p:cNvSpPr txBox="1"/>
          <p:nvPr/>
        </p:nvSpPr>
        <p:spPr bwMode="gray">
          <a:xfrm>
            <a:off x="8255212" y="4904634"/>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271">
            <a:extLst>
              <a:ext uri="{FF2B5EF4-FFF2-40B4-BE49-F238E27FC236}">
                <a16:creationId xmlns="" xmlns:a16="http://schemas.microsoft.com/office/drawing/2014/main" id="{86E9409E-5B75-4D9F-91D1-F14F54322F13}"/>
              </a:ext>
            </a:extLst>
          </p:cNvPr>
          <p:cNvSpPr txBox="1"/>
          <p:nvPr/>
        </p:nvSpPr>
        <p:spPr bwMode="gray">
          <a:xfrm>
            <a:off x="6685564" y="2661137"/>
            <a:ext cx="35778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TextBox 271">
            <a:extLst>
              <a:ext uri="{FF2B5EF4-FFF2-40B4-BE49-F238E27FC236}">
                <a16:creationId xmlns="" xmlns:a16="http://schemas.microsoft.com/office/drawing/2014/main" id="{A0C05BC4-5D04-4B5B-88AC-C8018637985F}"/>
              </a:ext>
            </a:extLst>
          </p:cNvPr>
          <p:cNvSpPr txBox="1"/>
          <p:nvPr/>
        </p:nvSpPr>
        <p:spPr bwMode="gray">
          <a:xfrm>
            <a:off x="6695992" y="4902490"/>
            <a:ext cx="35778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271">
            <a:extLst>
              <a:ext uri="{FF2B5EF4-FFF2-40B4-BE49-F238E27FC236}">
                <a16:creationId xmlns="" xmlns:a16="http://schemas.microsoft.com/office/drawing/2014/main" id="{786D5E2E-9525-4CDF-BC1B-C7223EBC3128}"/>
              </a:ext>
            </a:extLst>
          </p:cNvPr>
          <p:cNvSpPr txBox="1"/>
          <p:nvPr/>
        </p:nvSpPr>
        <p:spPr bwMode="gray">
          <a:xfrm>
            <a:off x="9870400" y="2666382"/>
            <a:ext cx="47031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271">
            <a:extLst>
              <a:ext uri="{FF2B5EF4-FFF2-40B4-BE49-F238E27FC236}">
                <a16:creationId xmlns="" xmlns:a16="http://schemas.microsoft.com/office/drawing/2014/main" id="{32A65563-549A-4719-A384-A3D990EA3855}"/>
              </a:ext>
            </a:extLst>
          </p:cNvPr>
          <p:cNvSpPr txBox="1"/>
          <p:nvPr/>
        </p:nvSpPr>
        <p:spPr bwMode="gray">
          <a:xfrm>
            <a:off x="9878212" y="4901446"/>
            <a:ext cx="45468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271">
            <a:extLst>
              <a:ext uri="{FF2B5EF4-FFF2-40B4-BE49-F238E27FC236}">
                <a16:creationId xmlns="" xmlns:a16="http://schemas.microsoft.com/office/drawing/2014/main" id="{00BB7DD4-891D-4CB5-8DD6-858A3B74C56C}"/>
              </a:ext>
            </a:extLst>
          </p:cNvPr>
          <p:cNvSpPr txBox="1"/>
          <p:nvPr/>
        </p:nvSpPr>
        <p:spPr bwMode="gray">
          <a:xfrm rot="16200000">
            <a:off x="2730321" y="3763097"/>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6" name="TextBox 5">
            <a:extLst>
              <a:ext uri="{FF2B5EF4-FFF2-40B4-BE49-F238E27FC236}">
                <a16:creationId xmlns="" xmlns:a16="http://schemas.microsoft.com/office/drawing/2014/main" id="{A17F1BE9-83FE-4274-A87D-394BC05E1E24}"/>
              </a:ext>
            </a:extLst>
          </p:cNvPr>
          <p:cNvSpPr txBox="1"/>
          <p:nvPr/>
        </p:nvSpPr>
        <p:spPr bwMode="gray">
          <a:xfrm>
            <a:off x="3944888" y="2764468"/>
            <a:ext cx="1042273" cy="276999"/>
          </a:xfrm>
          <a:prstGeom prst="rect">
            <a:avLst/>
          </a:prstGeom>
          <a:noFill/>
        </p:spPr>
        <p:txBody>
          <a:bodyPr wrap="none" rtlCol="0">
            <a:spAutoFit/>
          </a:bodyPr>
          <a:lstStyle/>
          <a:p>
            <a:r>
              <a:rPr lang="en-US" sz="1200" dirty="0"/>
              <a:t>128.1.1.0/30</a:t>
            </a:r>
          </a:p>
        </p:txBody>
      </p:sp>
      <p:sp>
        <p:nvSpPr>
          <p:cNvPr id="70" name="TextBox 69">
            <a:extLst>
              <a:ext uri="{FF2B5EF4-FFF2-40B4-BE49-F238E27FC236}">
                <a16:creationId xmlns="" xmlns:a16="http://schemas.microsoft.com/office/drawing/2014/main" id="{0A10C2E7-CF5E-405D-8D34-6E363037BAAD}"/>
              </a:ext>
            </a:extLst>
          </p:cNvPr>
          <p:cNvSpPr txBox="1"/>
          <p:nvPr/>
        </p:nvSpPr>
        <p:spPr bwMode="gray">
          <a:xfrm>
            <a:off x="3759375" y="3016787"/>
            <a:ext cx="306494" cy="276999"/>
          </a:xfrm>
          <a:prstGeom prst="rect">
            <a:avLst/>
          </a:prstGeom>
          <a:noFill/>
        </p:spPr>
        <p:txBody>
          <a:bodyPr wrap="none" rtlCol="0">
            <a:spAutoFit/>
          </a:bodyPr>
          <a:lstStyle/>
          <a:p>
            <a:r>
              <a:rPr lang="en-US" sz="1200" dirty="0"/>
              <a:t>.2</a:t>
            </a:r>
          </a:p>
        </p:txBody>
      </p:sp>
      <p:sp>
        <p:nvSpPr>
          <p:cNvPr id="71" name="TextBox 70">
            <a:extLst>
              <a:ext uri="{FF2B5EF4-FFF2-40B4-BE49-F238E27FC236}">
                <a16:creationId xmlns="" xmlns:a16="http://schemas.microsoft.com/office/drawing/2014/main" id="{C2B26A10-C4A7-4663-8FFE-519597B1B0BB}"/>
              </a:ext>
            </a:extLst>
          </p:cNvPr>
          <p:cNvSpPr txBox="1"/>
          <p:nvPr/>
        </p:nvSpPr>
        <p:spPr bwMode="gray">
          <a:xfrm>
            <a:off x="4879388" y="3016787"/>
            <a:ext cx="306494" cy="276999"/>
          </a:xfrm>
          <a:prstGeom prst="rect">
            <a:avLst/>
          </a:prstGeom>
          <a:noFill/>
        </p:spPr>
        <p:txBody>
          <a:bodyPr wrap="none" rtlCol="0">
            <a:spAutoFit/>
          </a:bodyPr>
          <a:lstStyle/>
          <a:p>
            <a:r>
              <a:rPr lang="en-US" sz="1200" dirty="0"/>
              <a:t>.1</a:t>
            </a:r>
          </a:p>
        </p:txBody>
      </p:sp>
      <p:sp>
        <p:nvSpPr>
          <p:cNvPr id="72" name="TextBox 71">
            <a:extLst>
              <a:ext uri="{FF2B5EF4-FFF2-40B4-BE49-F238E27FC236}">
                <a16:creationId xmlns="" xmlns:a16="http://schemas.microsoft.com/office/drawing/2014/main" id="{223552A3-F8C4-4C14-AD60-9BC6A998171B}"/>
              </a:ext>
            </a:extLst>
          </p:cNvPr>
          <p:cNvSpPr txBox="1"/>
          <p:nvPr/>
        </p:nvSpPr>
        <p:spPr bwMode="gray">
          <a:xfrm rot="16200000">
            <a:off x="2966388" y="3789635"/>
            <a:ext cx="1042273" cy="276999"/>
          </a:xfrm>
          <a:prstGeom prst="rect">
            <a:avLst/>
          </a:prstGeom>
          <a:noFill/>
        </p:spPr>
        <p:txBody>
          <a:bodyPr wrap="none" rtlCol="0">
            <a:spAutoFit/>
          </a:bodyPr>
          <a:lstStyle/>
          <a:p>
            <a:r>
              <a:rPr lang="en-US" sz="1200" dirty="0"/>
              <a:t>128.1.1.4/30</a:t>
            </a:r>
          </a:p>
        </p:txBody>
      </p:sp>
      <p:sp>
        <p:nvSpPr>
          <p:cNvPr id="73" name="TextBox 72">
            <a:extLst>
              <a:ext uri="{FF2B5EF4-FFF2-40B4-BE49-F238E27FC236}">
                <a16:creationId xmlns="" xmlns:a16="http://schemas.microsoft.com/office/drawing/2014/main" id="{550B250D-CA36-42ED-9E15-4A4F7EA88B69}"/>
              </a:ext>
            </a:extLst>
          </p:cNvPr>
          <p:cNvSpPr txBox="1"/>
          <p:nvPr/>
        </p:nvSpPr>
        <p:spPr bwMode="gray">
          <a:xfrm rot="16200000">
            <a:off x="3590477" y="3147623"/>
            <a:ext cx="306494" cy="276999"/>
          </a:xfrm>
          <a:prstGeom prst="rect">
            <a:avLst/>
          </a:prstGeom>
          <a:noFill/>
        </p:spPr>
        <p:txBody>
          <a:bodyPr wrap="none" rtlCol="0">
            <a:spAutoFit/>
          </a:bodyPr>
          <a:lstStyle/>
          <a:p>
            <a:r>
              <a:rPr lang="en-US" sz="1200" dirty="0"/>
              <a:t>.5</a:t>
            </a:r>
          </a:p>
        </p:txBody>
      </p:sp>
      <p:sp>
        <p:nvSpPr>
          <p:cNvPr id="74" name="TextBox 73">
            <a:extLst>
              <a:ext uri="{FF2B5EF4-FFF2-40B4-BE49-F238E27FC236}">
                <a16:creationId xmlns="" xmlns:a16="http://schemas.microsoft.com/office/drawing/2014/main" id="{C303D94B-6A38-4717-9253-1D001C617B3A}"/>
              </a:ext>
            </a:extLst>
          </p:cNvPr>
          <p:cNvSpPr txBox="1"/>
          <p:nvPr/>
        </p:nvSpPr>
        <p:spPr bwMode="gray">
          <a:xfrm rot="16200000">
            <a:off x="3590476" y="4426247"/>
            <a:ext cx="306494" cy="276999"/>
          </a:xfrm>
          <a:prstGeom prst="rect">
            <a:avLst/>
          </a:prstGeom>
          <a:noFill/>
        </p:spPr>
        <p:txBody>
          <a:bodyPr wrap="none" rtlCol="0">
            <a:spAutoFit/>
          </a:bodyPr>
          <a:lstStyle/>
          <a:p>
            <a:r>
              <a:rPr lang="en-US" sz="1200" dirty="0"/>
              <a:t>.6</a:t>
            </a:r>
          </a:p>
        </p:txBody>
      </p:sp>
      <p:sp>
        <p:nvSpPr>
          <p:cNvPr id="75" name="TextBox 74">
            <a:extLst>
              <a:ext uri="{FF2B5EF4-FFF2-40B4-BE49-F238E27FC236}">
                <a16:creationId xmlns="" xmlns:a16="http://schemas.microsoft.com/office/drawing/2014/main" id="{8400C646-7163-44A4-A41C-3542EBE5185F}"/>
              </a:ext>
            </a:extLst>
          </p:cNvPr>
          <p:cNvSpPr txBox="1"/>
          <p:nvPr/>
        </p:nvSpPr>
        <p:spPr bwMode="gray">
          <a:xfrm>
            <a:off x="3930009" y="4782594"/>
            <a:ext cx="1042273" cy="276999"/>
          </a:xfrm>
          <a:prstGeom prst="rect">
            <a:avLst/>
          </a:prstGeom>
          <a:noFill/>
        </p:spPr>
        <p:txBody>
          <a:bodyPr wrap="none" rtlCol="0">
            <a:spAutoFit/>
          </a:bodyPr>
          <a:lstStyle/>
          <a:p>
            <a:r>
              <a:rPr lang="en-US" sz="1200" dirty="0"/>
              <a:t>128.1.1.8/30</a:t>
            </a:r>
          </a:p>
        </p:txBody>
      </p:sp>
      <p:sp>
        <p:nvSpPr>
          <p:cNvPr id="76" name="TextBox 75">
            <a:extLst>
              <a:ext uri="{FF2B5EF4-FFF2-40B4-BE49-F238E27FC236}">
                <a16:creationId xmlns="" xmlns:a16="http://schemas.microsoft.com/office/drawing/2014/main" id="{B3004E04-5B1D-4283-B30F-7A1CAD1CE0AB}"/>
              </a:ext>
            </a:extLst>
          </p:cNvPr>
          <p:cNvSpPr txBox="1"/>
          <p:nvPr/>
        </p:nvSpPr>
        <p:spPr bwMode="gray">
          <a:xfrm>
            <a:off x="3765160" y="4554997"/>
            <a:ext cx="393056" cy="276999"/>
          </a:xfrm>
          <a:prstGeom prst="rect">
            <a:avLst/>
          </a:prstGeom>
          <a:noFill/>
        </p:spPr>
        <p:txBody>
          <a:bodyPr wrap="none" rtlCol="0">
            <a:spAutoFit/>
          </a:bodyPr>
          <a:lstStyle/>
          <a:p>
            <a:r>
              <a:rPr lang="en-US" sz="1200" dirty="0"/>
              <a:t>.10</a:t>
            </a:r>
          </a:p>
        </p:txBody>
      </p:sp>
      <p:sp>
        <p:nvSpPr>
          <p:cNvPr id="77" name="TextBox 76">
            <a:extLst>
              <a:ext uri="{FF2B5EF4-FFF2-40B4-BE49-F238E27FC236}">
                <a16:creationId xmlns="" xmlns:a16="http://schemas.microsoft.com/office/drawing/2014/main" id="{BDC64221-9AB7-4037-ACB7-1EA0836D880D}"/>
              </a:ext>
            </a:extLst>
          </p:cNvPr>
          <p:cNvSpPr txBox="1"/>
          <p:nvPr/>
        </p:nvSpPr>
        <p:spPr bwMode="gray">
          <a:xfrm>
            <a:off x="4875910" y="4554997"/>
            <a:ext cx="306494" cy="276999"/>
          </a:xfrm>
          <a:prstGeom prst="rect">
            <a:avLst/>
          </a:prstGeom>
          <a:noFill/>
        </p:spPr>
        <p:txBody>
          <a:bodyPr wrap="none" rtlCol="0">
            <a:spAutoFit/>
          </a:bodyPr>
          <a:lstStyle/>
          <a:p>
            <a:r>
              <a:rPr lang="en-US" sz="1200" dirty="0"/>
              <a:t>.9</a:t>
            </a:r>
          </a:p>
        </p:txBody>
      </p:sp>
      <p:sp>
        <p:nvSpPr>
          <p:cNvPr id="78" name="TextBox 77">
            <a:extLst>
              <a:ext uri="{FF2B5EF4-FFF2-40B4-BE49-F238E27FC236}">
                <a16:creationId xmlns="" xmlns:a16="http://schemas.microsoft.com/office/drawing/2014/main" id="{98BBE608-C809-49FB-8537-B877B2F2B2DB}"/>
              </a:ext>
            </a:extLst>
          </p:cNvPr>
          <p:cNvSpPr txBox="1"/>
          <p:nvPr/>
        </p:nvSpPr>
        <p:spPr bwMode="gray">
          <a:xfrm rot="5400000">
            <a:off x="4866453" y="3793425"/>
            <a:ext cx="1128835" cy="276999"/>
          </a:xfrm>
          <a:prstGeom prst="rect">
            <a:avLst/>
          </a:prstGeom>
          <a:noFill/>
        </p:spPr>
        <p:txBody>
          <a:bodyPr wrap="none" rtlCol="0">
            <a:spAutoFit/>
          </a:bodyPr>
          <a:lstStyle/>
          <a:p>
            <a:r>
              <a:rPr lang="en-US" sz="1200" dirty="0"/>
              <a:t>128.1.1.12/30</a:t>
            </a:r>
          </a:p>
        </p:txBody>
      </p:sp>
      <p:sp>
        <p:nvSpPr>
          <p:cNvPr id="79" name="TextBox 78">
            <a:extLst>
              <a:ext uri="{FF2B5EF4-FFF2-40B4-BE49-F238E27FC236}">
                <a16:creationId xmlns="" xmlns:a16="http://schemas.microsoft.com/office/drawing/2014/main" id="{C7F9572E-1A12-4D04-8C63-52E89B1CD0F1}"/>
              </a:ext>
            </a:extLst>
          </p:cNvPr>
          <p:cNvSpPr txBox="1"/>
          <p:nvPr/>
        </p:nvSpPr>
        <p:spPr bwMode="gray">
          <a:xfrm rot="5400000">
            <a:off x="4989353" y="3191787"/>
            <a:ext cx="393056" cy="276999"/>
          </a:xfrm>
          <a:prstGeom prst="rect">
            <a:avLst/>
          </a:prstGeom>
          <a:noFill/>
        </p:spPr>
        <p:txBody>
          <a:bodyPr wrap="none" rtlCol="0">
            <a:spAutoFit/>
          </a:bodyPr>
          <a:lstStyle/>
          <a:p>
            <a:r>
              <a:rPr lang="en-US" sz="1200" dirty="0"/>
              <a:t>.13</a:t>
            </a:r>
          </a:p>
        </p:txBody>
      </p:sp>
      <p:sp>
        <p:nvSpPr>
          <p:cNvPr id="80" name="TextBox 79">
            <a:extLst>
              <a:ext uri="{FF2B5EF4-FFF2-40B4-BE49-F238E27FC236}">
                <a16:creationId xmlns="" xmlns:a16="http://schemas.microsoft.com/office/drawing/2014/main" id="{9FD1A115-0482-4AA0-812A-B31545FD6BE8}"/>
              </a:ext>
            </a:extLst>
          </p:cNvPr>
          <p:cNvSpPr txBox="1"/>
          <p:nvPr/>
        </p:nvSpPr>
        <p:spPr bwMode="gray">
          <a:xfrm rot="5400000">
            <a:off x="4996195" y="4364083"/>
            <a:ext cx="393056" cy="276999"/>
          </a:xfrm>
          <a:prstGeom prst="rect">
            <a:avLst/>
          </a:prstGeom>
          <a:noFill/>
        </p:spPr>
        <p:txBody>
          <a:bodyPr wrap="none" rtlCol="0">
            <a:spAutoFit/>
          </a:bodyPr>
          <a:lstStyle/>
          <a:p>
            <a:r>
              <a:rPr lang="en-US" sz="1200" dirty="0"/>
              <a:t>.14</a:t>
            </a:r>
          </a:p>
        </p:txBody>
      </p:sp>
      <p:sp>
        <p:nvSpPr>
          <p:cNvPr id="81" name="TextBox 80">
            <a:extLst>
              <a:ext uri="{FF2B5EF4-FFF2-40B4-BE49-F238E27FC236}">
                <a16:creationId xmlns="" xmlns:a16="http://schemas.microsoft.com/office/drawing/2014/main" id="{EE9C3AA0-5524-4672-B968-6F3F6D221175}"/>
              </a:ext>
            </a:extLst>
          </p:cNvPr>
          <p:cNvSpPr txBox="1"/>
          <p:nvPr/>
        </p:nvSpPr>
        <p:spPr bwMode="gray">
          <a:xfrm>
            <a:off x="5545079" y="2764468"/>
            <a:ext cx="1128835" cy="276999"/>
          </a:xfrm>
          <a:prstGeom prst="rect">
            <a:avLst/>
          </a:prstGeom>
          <a:noFill/>
        </p:spPr>
        <p:txBody>
          <a:bodyPr wrap="none" rtlCol="0">
            <a:spAutoFit/>
          </a:bodyPr>
          <a:lstStyle/>
          <a:p>
            <a:r>
              <a:rPr lang="en-US" sz="1200" dirty="0"/>
              <a:t>128.1.1.16/30</a:t>
            </a:r>
          </a:p>
        </p:txBody>
      </p:sp>
      <p:sp>
        <p:nvSpPr>
          <p:cNvPr id="82" name="TextBox 81">
            <a:extLst>
              <a:ext uri="{FF2B5EF4-FFF2-40B4-BE49-F238E27FC236}">
                <a16:creationId xmlns="" xmlns:a16="http://schemas.microsoft.com/office/drawing/2014/main" id="{C4D83AFE-5182-4A85-AFE4-5369459C77FA}"/>
              </a:ext>
            </a:extLst>
          </p:cNvPr>
          <p:cNvSpPr txBox="1"/>
          <p:nvPr/>
        </p:nvSpPr>
        <p:spPr bwMode="gray">
          <a:xfrm>
            <a:off x="5495081" y="4763990"/>
            <a:ext cx="1128835" cy="276999"/>
          </a:xfrm>
          <a:prstGeom prst="rect">
            <a:avLst/>
          </a:prstGeom>
          <a:noFill/>
        </p:spPr>
        <p:txBody>
          <a:bodyPr wrap="none" rtlCol="0">
            <a:spAutoFit/>
          </a:bodyPr>
          <a:lstStyle/>
          <a:p>
            <a:r>
              <a:rPr lang="en-US" sz="1200" dirty="0"/>
              <a:t>128.1.1.20/30</a:t>
            </a:r>
          </a:p>
        </p:txBody>
      </p:sp>
      <p:sp>
        <p:nvSpPr>
          <p:cNvPr id="83" name="TextBox 82">
            <a:extLst>
              <a:ext uri="{FF2B5EF4-FFF2-40B4-BE49-F238E27FC236}">
                <a16:creationId xmlns="" xmlns:a16="http://schemas.microsoft.com/office/drawing/2014/main" id="{01701510-1306-45D1-A836-82F514C22085}"/>
              </a:ext>
            </a:extLst>
          </p:cNvPr>
          <p:cNvSpPr txBox="1"/>
          <p:nvPr/>
        </p:nvSpPr>
        <p:spPr bwMode="gray">
          <a:xfrm rot="16200000">
            <a:off x="6175527" y="3793424"/>
            <a:ext cx="1128835" cy="276999"/>
          </a:xfrm>
          <a:prstGeom prst="rect">
            <a:avLst/>
          </a:prstGeom>
          <a:noFill/>
        </p:spPr>
        <p:txBody>
          <a:bodyPr wrap="none" rtlCol="0">
            <a:spAutoFit/>
          </a:bodyPr>
          <a:lstStyle/>
          <a:p>
            <a:r>
              <a:rPr lang="en-US" sz="1200" dirty="0"/>
              <a:t>128.1.1.24/30</a:t>
            </a:r>
          </a:p>
        </p:txBody>
      </p:sp>
      <p:sp>
        <p:nvSpPr>
          <p:cNvPr id="84" name="TextBox 83">
            <a:extLst>
              <a:ext uri="{FF2B5EF4-FFF2-40B4-BE49-F238E27FC236}">
                <a16:creationId xmlns="" xmlns:a16="http://schemas.microsoft.com/office/drawing/2014/main" id="{FF8097F2-2422-4875-87D2-0C8496000784}"/>
              </a:ext>
            </a:extLst>
          </p:cNvPr>
          <p:cNvSpPr txBox="1"/>
          <p:nvPr/>
        </p:nvSpPr>
        <p:spPr bwMode="gray">
          <a:xfrm>
            <a:off x="7108479" y="2764467"/>
            <a:ext cx="1128835" cy="276999"/>
          </a:xfrm>
          <a:prstGeom prst="rect">
            <a:avLst/>
          </a:prstGeom>
          <a:noFill/>
        </p:spPr>
        <p:txBody>
          <a:bodyPr wrap="none" rtlCol="0">
            <a:spAutoFit/>
          </a:bodyPr>
          <a:lstStyle/>
          <a:p>
            <a:r>
              <a:rPr lang="en-US" sz="1200" dirty="0"/>
              <a:t>128.1.1.28/30</a:t>
            </a:r>
          </a:p>
        </p:txBody>
      </p:sp>
      <p:sp>
        <p:nvSpPr>
          <p:cNvPr id="85" name="TextBox 84">
            <a:extLst>
              <a:ext uri="{FF2B5EF4-FFF2-40B4-BE49-F238E27FC236}">
                <a16:creationId xmlns="" xmlns:a16="http://schemas.microsoft.com/office/drawing/2014/main" id="{234F7D6A-83D5-48DC-AA4A-440EE651650F}"/>
              </a:ext>
            </a:extLst>
          </p:cNvPr>
          <p:cNvSpPr txBox="1"/>
          <p:nvPr/>
        </p:nvSpPr>
        <p:spPr bwMode="gray">
          <a:xfrm>
            <a:off x="7108479" y="4764399"/>
            <a:ext cx="1128835" cy="276999"/>
          </a:xfrm>
          <a:prstGeom prst="rect">
            <a:avLst/>
          </a:prstGeom>
          <a:noFill/>
        </p:spPr>
        <p:txBody>
          <a:bodyPr wrap="none" rtlCol="0">
            <a:spAutoFit/>
          </a:bodyPr>
          <a:lstStyle/>
          <a:p>
            <a:r>
              <a:rPr lang="en-US" sz="1200" dirty="0"/>
              <a:t>128.1.1.32/30</a:t>
            </a:r>
          </a:p>
        </p:txBody>
      </p:sp>
      <p:sp>
        <p:nvSpPr>
          <p:cNvPr id="86" name="TextBox 85">
            <a:extLst>
              <a:ext uri="{FF2B5EF4-FFF2-40B4-BE49-F238E27FC236}">
                <a16:creationId xmlns="" xmlns:a16="http://schemas.microsoft.com/office/drawing/2014/main" id="{7A9B1AAE-4D92-4543-AD94-AB17567B58A8}"/>
              </a:ext>
            </a:extLst>
          </p:cNvPr>
          <p:cNvSpPr txBox="1"/>
          <p:nvPr/>
        </p:nvSpPr>
        <p:spPr bwMode="gray">
          <a:xfrm rot="5400000">
            <a:off x="8019450" y="3799170"/>
            <a:ext cx="1128835" cy="276999"/>
          </a:xfrm>
          <a:prstGeom prst="rect">
            <a:avLst/>
          </a:prstGeom>
          <a:noFill/>
        </p:spPr>
        <p:txBody>
          <a:bodyPr wrap="none" rtlCol="0">
            <a:spAutoFit/>
          </a:bodyPr>
          <a:lstStyle/>
          <a:p>
            <a:r>
              <a:rPr lang="en-US" sz="1200" dirty="0"/>
              <a:t>128.1.1.36/30</a:t>
            </a:r>
          </a:p>
        </p:txBody>
      </p:sp>
      <p:sp>
        <p:nvSpPr>
          <p:cNvPr id="87" name="TextBox 86">
            <a:extLst>
              <a:ext uri="{FF2B5EF4-FFF2-40B4-BE49-F238E27FC236}">
                <a16:creationId xmlns="" xmlns:a16="http://schemas.microsoft.com/office/drawing/2014/main" id="{863733B2-301C-48A8-A971-197AA17223F7}"/>
              </a:ext>
            </a:extLst>
          </p:cNvPr>
          <p:cNvSpPr txBox="1"/>
          <p:nvPr/>
        </p:nvSpPr>
        <p:spPr bwMode="gray">
          <a:xfrm>
            <a:off x="5429446" y="3023015"/>
            <a:ext cx="393056" cy="276999"/>
          </a:xfrm>
          <a:prstGeom prst="rect">
            <a:avLst/>
          </a:prstGeom>
          <a:noFill/>
        </p:spPr>
        <p:txBody>
          <a:bodyPr wrap="none" rtlCol="0">
            <a:spAutoFit/>
          </a:bodyPr>
          <a:lstStyle/>
          <a:p>
            <a:r>
              <a:rPr lang="en-US" sz="1200" dirty="0"/>
              <a:t>.17</a:t>
            </a:r>
          </a:p>
        </p:txBody>
      </p:sp>
      <p:sp>
        <p:nvSpPr>
          <p:cNvPr id="88" name="TextBox 87">
            <a:extLst>
              <a:ext uri="{FF2B5EF4-FFF2-40B4-BE49-F238E27FC236}">
                <a16:creationId xmlns="" xmlns:a16="http://schemas.microsoft.com/office/drawing/2014/main" id="{B207F9D1-0A31-45ED-AD88-E0DCFBCFA922}"/>
              </a:ext>
            </a:extLst>
          </p:cNvPr>
          <p:cNvSpPr txBox="1"/>
          <p:nvPr/>
        </p:nvSpPr>
        <p:spPr bwMode="gray">
          <a:xfrm>
            <a:off x="6355833" y="3010451"/>
            <a:ext cx="393056" cy="276999"/>
          </a:xfrm>
          <a:prstGeom prst="rect">
            <a:avLst/>
          </a:prstGeom>
          <a:noFill/>
        </p:spPr>
        <p:txBody>
          <a:bodyPr wrap="none" rtlCol="0">
            <a:spAutoFit/>
          </a:bodyPr>
          <a:lstStyle/>
          <a:p>
            <a:r>
              <a:rPr lang="en-US" sz="1200" dirty="0"/>
              <a:t>.18</a:t>
            </a:r>
          </a:p>
        </p:txBody>
      </p:sp>
      <p:sp>
        <p:nvSpPr>
          <p:cNvPr id="89" name="TextBox 88">
            <a:extLst>
              <a:ext uri="{FF2B5EF4-FFF2-40B4-BE49-F238E27FC236}">
                <a16:creationId xmlns="" xmlns:a16="http://schemas.microsoft.com/office/drawing/2014/main" id="{04880EB6-8FCD-49E4-9BB4-7735A3EDEFD9}"/>
              </a:ext>
            </a:extLst>
          </p:cNvPr>
          <p:cNvSpPr txBox="1"/>
          <p:nvPr/>
        </p:nvSpPr>
        <p:spPr bwMode="gray">
          <a:xfrm>
            <a:off x="5435278" y="4540038"/>
            <a:ext cx="393056" cy="276999"/>
          </a:xfrm>
          <a:prstGeom prst="rect">
            <a:avLst/>
          </a:prstGeom>
          <a:noFill/>
        </p:spPr>
        <p:txBody>
          <a:bodyPr wrap="none" rtlCol="0">
            <a:spAutoFit/>
          </a:bodyPr>
          <a:lstStyle/>
          <a:p>
            <a:r>
              <a:rPr lang="en-US" sz="1200" dirty="0"/>
              <a:t>.21</a:t>
            </a:r>
          </a:p>
        </p:txBody>
      </p:sp>
      <p:sp>
        <p:nvSpPr>
          <p:cNvPr id="90" name="TextBox 89">
            <a:extLst>
              <a:ext uri="{FF2B5EF4-FFF2-40B4-BE49-F238E27FC236}">
                <a16:creationId xmlns="" xmlns:a16="http://schemas.microsoft.com/office/drawing/2014/main" id="{E081CD3B-BFEB-4503-BB8B-58C0EA808622}"/>
              </a:ext>
            </a:extLst>
          </p:cNvPr>
          <p:cNvSpPr txBox="1"/>
          <p:nvPr/>
        </p:nvSpPr>
        <p:spPr bwMode="gray">
          <a:xfrm>
            <a:off x="6355833" y="4540038"/>
            <a:ext cx="393056" cy="276999"/>
          </a:xfrm>
          <a:prstGeom prst="rect">
            <a:avLst/>
          </a:prstGeom>
          <a:noFill/>
        </p:spPr>
        <p:txBody>
          <a:bodyPr wrap="none" rtlCol="0">
            <a:spAutoFit/>
          </a:bodyPr>
          <a:lstStyle/>
          <a:p>
            <a:r>
              <a:rPr lang="en-US" sz="1200" dirty="0"/>
              <a:t>.22</a:t>
            </a:r>
          </a:p>
        </p:txBody>
      </p:sp>
      <p:sp>
        <p:nvSpPr>
          <p:cNvPr id="91" name="TextBox 90">
            <a:extLst>
              <a:ext uri="{FF2B5EF4-FFF2-40B4-BE49-F238E27FC236}">
                <a16:creationId xmlns="" xmlns:a16="http://schemas.microsoft.com/office/drawing/2014/main" id="{D9E3A28A-E694-4F41-A1CA-6B35D051B9F0}"/>
              </a:ext>
            </a:extLst>
          </p:cNvPr>
          <p:cNvSpPr txBox="1"/>
          <p:nvPr/>
        </p:nvSpPr>
        <p:spPr bwMode="gray">
          <a:xfrm rot="16200000">
            <a:off x="6794200" y="3188842"/>
            <a:ext cx="393056" cy="276999"/>
          </a:xfrm>
          <a:prstGeom prst="rect">
            <a:avLst/>
          </a:prstGeom>
          <a:noFill/>
        </p:spPr>
        <p:txBody>
          <a:bodyPr wrap="none" rtlCol="0">
            <a:spAutoFit/>
          </a:bodyPr>
          <a:lstStyle/>
          <a:p>
            <a:r>
              <a:rPr lang="en-US" sz="1200" dirty="0"/>
              <a:t>.25</a:t>
            </a:r>
          </a:p>
        </p:txBody>
      </p:sp>
      <p:sp>
        <p:nvSpPr>
          <p:cNvPr id="92" name="TextBox 91">
            <a:extLst>
              <a:ext uri="{FF2B5EF4-FFF2-40B4-BE49-F238E27FC236}">
                <a16:creationId xmlns="" xmlns:a16="http://schemas.microsoft.com/office/drawing/2014/main" id="{FBCE1731-DF97-4ECE-A611-C2382C1A9D4F}"/>
              </a:ext>
            </a:extLst>
          </p:cNvPr>
          <p:cNvSpPr txBox="1"/>
          <p:nvPr/>
        </p:nvSpPr>
        <p:spPr bwMode="gray">
          <a:xfrm rot="16200000">
            <a:off x="6800182" y="4395294"/>
            <a:ext cx="393056" cy="276999"/>
          </a:xfrm>
          <a:prstGeom prst="rect">
            <a:avLst/>
          </a:prstGeom>
          <a:noFill/>
        </p:spPr>
        <p:txBody>
          <a:bodyPr wrap="none" rtlCol="0">
            <a:spAutoFit/>
          </a:bodyPr>
          <a:lstStyle/>
          <a:p>
            <a:r>
              <a:rPr lang="en-US" sz="1200" dirty="0"/>
              <a:t>.26</a:t>
            </a:r>
          </a:p>
        </p:txBody>
      </p:sp>
      <p:sp>
        <p:nvSpPr>
          <p:cNvPr id="93" name="TextBox 92">
            <a:extLst>
              <a:ext uri="{FF2B5EF4-FFF2-40B4-BE49-F238E27FC236}">
                <a16:creationId xmlns="" xmlns:a16="http://schemas.microsoft.com/office/drawing/2014/main" id="{7EA01436-8788-4930-8E56-4F5B750BD669}"/>
              </a:ext>
            </a:extLst>
          </p:cNvPr>
          <p:cNvSpPr txBox="1"/>
          <p:nvPr/>
        </p:nvSpPr>
        <p:spPr bwMode="gray">
          <a:xfrm>
            <a:off x="6979646" y="3010450"/>
            <a:ext cx="393056" cy="276999"/>
          </a:xfrm>
          <a:prstGeom prst="rect">
            <a:avLst/>
          </a:prstGeom>
          <a:noFill/>
        </p:spPr>
        <p:txBody>
          <a:bodyPr wrap="none" rtlCol="0">
            <a:spAutoFit/>
          </a:bodyPr>
          <a:lstStyle/>
          <a:p>
            <a:r>
              <a:rPr lang="en-US" sz="1200" dirty="0"/>
              <a:t>.29</a:t>
            </a:r>
          </a:p>
        </p:txBody>
      </p:sp>
      <p:sp>
        <p:nvSpPr>
          <p:cNvPr id="94" name="TextBox 93">
            <a:extLst>
              <a:ext uri="{FF2B5EF4-FFF2-40B4-BE49-F238E27FC236}">
                <a16:creationId xmlns="" xmlns:a16="http://schemas.microsoft.com/office/drawing/2014/main" id="{5000183B-2E15-4A6F-8C37-79751C438861}"/>
              </a:ext>
            </a:extLst>
          </p:cNvPr>
          <p:cNvSpPr txBox="1"/>
          <p:nvPr/>
        </p:nvSpPr>
        <p:spPr bwMode="gray">
          <a:xfrm>
            <a:off x="7932290" y="3016787"/>
            <a:ext cx="393056" cy="276999"/>
          </a:xfrm>
          <a:prstGeom prst="rect">
            <a:avLst/>
          </a:prstGeom>
          <a:noFill/>
        </p:spPr>
        <p:txBody>
          <a:bodyPr wrap="none" rtlCol="0">
            <a:spAutoFit/>
          </a:bodyPr>
          <a:lstStyle/>
          <a:p>
            <a:r>
              <a:rPr lang="en-US" sz="1200" dirty="0"/>
              <a:t>.30</a:t>
            </a:r>
          </a:p>
        </p:txBody>
      </p:sp>
      <p:sp>
        <p:nvSpPr>
          <p:cNvPr id="95" name="TextBox 94">
            <a:extLst>
              <a:ext uri="{FF2B5EF4-FFF2-40B4-BE49-F238E27FC236}">
                <a16:creationId xmlns="" xmlns:a16="http://schemas.microsoft.com/office/drawing/2014/main" id="{0B15BC2F-1FAF-4A12-B334-A206307DA164}"/>
              </a:ext>
            </a:extLst>
          </p:cNvPr>
          <p:cNvSpPr txBox="1"/>
          <p:nvPr/>
        </p:nvSpPr>
        <p:spPr bwMode="gray">
          <a:xfrm>
            <a:off x="6979646" y="4554188"/>
            <a:ext cx="393056" cy="276999"/>
          </a:xfrm>
          <a:prstGeom prst="rect">
            <a:avLst/>
          </a:prstGeom>
          <a:noFill/>
        </p:spPr>
        <p:txBody>
          <a:bodyPr wrap="none" rtlCol="0">
            <a:spAutoFit/>
          </a:bodyPr>
          <a:lstStyle/>
          <a:p>
            <a:r>
              <a:rPr lang="en-US" sz="1200" dirty="0"/>
              <a:t>.33</a:t>
            </a:r>
          </a:p>
        </p:txBody>
      </p:sp>
      <p:sp>
        <p:nvSpPr>
          <p:cNvPr id="96" name="TextBox 95">
            <a:extLst>
              <a:ext uri="{FF2B5EF4-FFF2-40B4-BE49-F238E27FC236}">
                <a16:creationId xmlns="" xmlns:a16="http://schemas.microsoft.com/office/drawing/2014/main" id="{FEACF896-B7EE-4821-B7D0-1EA4D18B4B55}"/>
              </a:ext>
            </a:extLst>
          </p:cNvPr>
          <p:cNvSpPr txBox="1"/>
          <p:nvPr/>
        </p:nvSpPr>
        <p:spPr bwMode="gray">
          <a:xfrm>
            <a:off x="7949759" y="4553949"/>
            <a:ext cx="393056" cy="276999"/>
          </a:xfrm>
          <a:prstGeom prst="rect">
            <a:avLst/>
          </a:prstGeom>
          <a:noFill/>
        </p:spPr>
        <p:txBody>
          <a:bodyPr wrap="none" rtlCol="0">
            <a:spAutoFit/>
          </a:bodyPr>
          <a:lstStyle/>
          <a:p>
            <a:r>
              <a:rPr lang="en-US" sz="1200" dirty="0"/>
              <a:t>.34</a:t>
            </a:r>
          </a:p>
        </p:txBody>
      </p:sp>
      <p:sp>
        <p:nvSpPr>
          <p:cNvPr id="97" name="TextBox 96">
            <a:extLst>
              <a:ext uri="{FF2B5EF4-FFF2-40B4-BE49-F238E27FC236}">
                <a16:creationId xmlns="" xmlns:a16="http://schemas.microsoft.com/office/drawing/2014/main" id="{446EF4A5-5C29-4DB8-AEDB-79363AD7A456}"/>
              </a:ext>
            </a:extLst>
          </p:cNvPr>
          <p:cNvSpPr txBox="1"/>
          <p:nvPr/>
        </p:nvSpPr>
        <p:spPr bwMode="gray">
          <a:xfrm rot="5400000">
            <a:off x="8166783" y="3195324"/>
            <a:ext cx="393056" cy="276999"/>
          </a:xfrm>
          <a:prstGeom prst="rect">
            <a:avLst/>
          </a:prstGeom>
          <a:noFill/>
        </p:spPr>
        <p:txBody>
          <a:bodyPr wrap="none" rtlCol="0">
            <a:spAutoFit/>
          </a:bodyPr>
          <a:lstStyle/>
          <a:p>
            <a:r>
              <a:rPr lang="en-US" sz="1200" dirty="0"/>
              <a:t>.37</a:t>
            </a:r>
          </a:p>
        </p:txBody>
      </p:sp>
      <p:sp>
        <p:nvSpPr>
          <p:cNvPr id="98" name="TextBox 97">
            <a:extLst>
              <a:ext uri="{FF2B5EF4-FFF2-40B4-BE49-F238E27FC236}">
                <a16:creationId xmlns="" xmlns:a16="http://schemas.microsoft.com/office/drawing/2014/main" id="{C7D5DF2F-9AB1-4AB6-95C9-307D2CF85EC7}"/>
              </a:ext>
            </a:extLst>
          </p:cNvPr>
          <p:cNvSpPr txBox="1"/>
          <p:nvPr/>
        </p:nvSpPr>
        <p:spPr bwMode="gray">
          <a:xfrm rot="5400000">
            <a:off x="8163890" y="4363588"/>
            <a:ext cx="393056" cy="276999"/>
          </a:xfrm>
          <a:prstGeom prst="rect">
            <a:avLst/>
          </a:prstGeom>
          <a:noFill/>
        </p:spPr>
        <p:txBody>
          <a:bodyPr wrap="none" rtlCol="0">
            <a:spAutoFit/>
          </a:bodyPr>
          <a:lstStyle/>
          <a:p>
            <a:r>
              <a:rPr lang="en-US" sz="1200" dirty="0"/>
              <a:t>.38</a:t>
            </a:r>
          </a:p>
        </p:txBody>
      </p:sp>
      <p:sp>
        <p:nvSpPr>
          <p:cNvPr id="99" name="TextBox 98">
            <a:extLst>
              <a:ext uri="{FF2B5EF4-FFF2-40B4-BE49-F238E27FC236}">
                <a16:creationId xmlns="" xmlns:a16="http://schemas.microsoft.com/office/drawing/2014/main" id="{075BB5BE-A17C-4155-8CDE-7F13065D9C8D}"/>
              </a:ext>
            </a:extLst>
          </p:cNvPr>
          <p:cNvSpPr txBox="1"/>
          <p:nvPr/>
        </p:nvSpPr>
        <p:spPr bwMode="gray">
          <a:xfrm>
            <a:off x="2279570" y="2764468"/>
            <a:ext cx="1215397" cy="276999"/>
          </a:xfrm>
          <a:prstGeom prst="rect">
            <a:avLst/>
          </a:prstGeom>
          <a:noFill/>
        </p:spPr>
        <p:txBody>
          <a:bodyPr wrap="none" rtlCol="0">
            <a:spAutoFit/>
          </a:bodyPr>
          <a:lstStyle/>
          <a:p>
            <a:r>
              <a:rPr lang="en-US" sz="1200" dirty="0"/>
              <a:t>192.168.1.0/29</a:t>
            </a:r>
          </a:p>
        </p:txBody>
      </p:sp>
      <p:sp>
        <p:nvSpPr>
          <p:cNvPr id="100" name="TextBox 99">
            <a:extLst>
              <a:ext uri="{FF2B5EF4-FFF2-40B4-BE49-F238E27FC236}">
                <a16:creationId xmlns="" xmlns:a16="http://schemas.microsoft.com/office/drawing/2014/main" id="{6F21986B-D97B-45D8-AEFE-AA59FADC4725}"/>
              </a:ext>
            </a:extLst>
          </p:cNvPr>
          <p:cNvSpPr txBox="1"/>
          <p:nvPr/>
        </p:nvSpPr>
        <p:spPr bwMode="gray">
          <a:xfrm>
            <a:off x="2290000" y="4784767"/>
            <a:ext cx="1215397" cy="276999"/>
          </a:xfrm>
          <a:prstGeom prst="rect">
            <a:avLst/>
          </a:prstGeom>
          <a:noFill/>
        </p:spPr>
        <p:txBody>
          <a:bodyPr wrap="none" rtlCol="0">
            <a:spAutoFit/>
          </a:bodyPr>
          <a:lstStyle/>
          <a:p>
            <a:r>
              <a:rPr lang="en-US" sz="1200" dirty="0"/>
              <a:t>192.168.1.8/29</a:t>
            </a:r>
          </a:p>
        </p:txBody>
      </p:sp>
      <p:sp>
        <p:nvSpPr>
          <p:cNvPr id="101" name="TextBox 100">
            <a:extLst>
              <a:ext uri="{FF2B5EF4-FFF2-40B4-BE49-F238E27FC236}">
                <a16:creationId xmlns="" xmlns:a16="http://schemas.microsoft.com/office/drawing/2014/main" id="{38446029-A47A-44DA-AC4D-7BDF09588C3F}"/>
              </a:ext>
            </a:extLst>
          </p:cNvPr>
          <p:cNvSpPr txBox="1"/>
          <p:nvPr/>
        </p:nvSpPr>
        <p:spPr bwMode="gray">
          <a:xfrm>
            <a:off x="8699564" y="2781831"/>
            <a:ext cx="1301959" cy="276999"/>
          </a:xfrm>
          <a:prstGeom prst="rect">
            <a:avLst/>
          </a:prstGeom>
          <a:noFill/>
        </p:spPr>
        <p:txBody>
          <a:bodyPr wrap="none" rtlCol="0">
            <a:spAutoFit/>
          </a:bodyPr>
          <a:lstStyle/>
          <a:p>
            <a:r>
              <a:rPr lang="en-US" sz="1200" dirty="0"/>
              <a:t>192.168.1.16/29</a:t>
            </a:r>
          </a:p>
        </p:txBody>
      </p:sp>
      <p:sp>
        <p:nvSpPr>
          <p:cNvPr id="102" name="TextBox 101">
            <a:extLst>
              <a:ext uri="{FF2B5EF4-FFF2-40B4-BE49-F238E27FC236}">
                <a16:creationId xmlns="" xmlns:a16="http://schemas.microsoft.com/office/drawing/2014/main" id="{E38F893D-DEC9-4B0A-8A56-15E17AE62A85}"/>
              </a:ext>
            </a:extLst>
          </p:cNvPr>
          <p:cNvSpPr txBox="1"/>
          <p:nvPr/>
        </p:nvSpPr>
        <p:spPr bwMode="gray">
          <a:xfrm>
            <a:off x="8632922" y="4799269"/>
            <a:ext cx="1301959" cy="276999"/>
          </a:xfrm>
          <a:prstGeom prst="rect">
            <a:avLst/>
          </a:prstGeom>
          <a:noFill/>
        </p:spPr>
        <p:txBody>
          <a:bodyPr wrap="none" rtlCol="0">
            <a:spAutoFit/>
          </a:bodyPr>
          <a:lstStyle/>
          <a:p>
            <a:r>
              <a:rPr lang="en-US" sz="1200" dirty="0"/>
              <a:t>192.168.1.24/29</a:t>
            </a:r>
          </a:p>
        </p:txBody>
      </p:sp>
      <p:sp>
        <p:nvSpPr>
          <p:cNvPr id="103" name="TextBox 102">
            <a:extLst>
              <a:ext uri="{FF2B5EF4-FFF2-40B4-BE49-F238E27FC236}">
                <a16:creationId xmlns="" xmlns:a16="http://schemas.microsoft.com/office/drawing/2014/main" id="{CDCFA79C-77BA-47CA-B06E-B87DDCCBE280}"/>
              </a:ext>
            </a:extLst>
          </p:cNvPr>
          <p:cNvSpPr txBox="1"/>
          <p:nvPr/>
        </p:nvSpPr>
        <p:spPr bwMode="gray">
          <a:xfrm>
            <a:off x="3170630" y="3010451"/>
            <a:ext cx="306494" cy="276999"/>
          </a:xfrm>
          <a:prstGeom prst="rect">
            <a:avLst/>
          </a:prstGeom>
          <a:noFill/>
        </p:spPr>
        <p:txBody>
          <a:bodyPr wrap="none" rtlCol="0">
            <a:spAutoFit/>
          </a:bodyPr>
          <a:lstStyle/>
          <a:p>
            <a:r>
              <a:rPr lang="en-US" sz="1200" dirty="0"/>
              <a:t>.7</a:t>
            </a:r>
          </a:p>
        </p:txBody>
      </p:sp>
      <p:sp>
        <p:nvSpPr>
          <p:cNvPr id="104" name="TextBox 103">
            <a:extLst>
              <a:ext uri="{FF2B5EF4-FFF2-40B4-BE49-F238E27FC236}">
                <a16:creationId xmlns="" xmlns:a16="http://schemas.microsoft.com/office/drawing/2014/main" id="{1D3950D0-6231-4286-804E-64FA77A5D0DF}"/>
              </a:ext>
            </a:extLst>
          </p:cNvPr>
          <p:cNvSpPr txBox="1"/>
          <p:nvPr/>
        </p:nvSpPr>
        <p:spPr bwMode="gray">
          <a:xfrm>
            <a:off x="2204998" y="3005727"/>
            <a:ext cx="306494" cy="276999"/>
          </a:xfrm>
          <a:prstGeom prst="rect">
            <a:avLst/>
          </a:prstGeom>
          <a:noFill/>
        </p:spPr>
        <p:txBody>
          <a:bodyPr wrap="none" rtlCol="0">
            <a:spAutoFit/>
          </a:bodyPr>
          <a:lstStyle/>
          <a:p>
            <a:r>
              <a:rPr lang="en-US" sz="1200" dirty="0"/>
              <a:t>.1</a:t>
            </a:r>
          </a:p>
        </p:txBody>
      </p:sp>
      <p:sp>
        <p:nvSpPr>
          <p:cNvPr id="105" name="TextBox 104">
            <a:extLst>
              <a:ext uri="{FF2B5EF4-FFF2-40B4-BE49-F238E27FC236}">
                <a16:creationId xmlns="" xmlns:a16="http://schemas.microsoft.com/office/drawing/2014/main" id="{878E9B74-B43F-4448-AC64-EB062FE29E07}"/>
              </a:ext>
            </a:extLst>
          </p:cNvPr>
          <p:cNvSpPr txBox="1"/>
          <p:nvPr/>
        </p:nvSpPr>
        <p:spPr bwMode="gray">
          <a:xfrm>
            <a:off x="3106604" y="4547772"/>
            <a:ext cx="393056" cy="276999"/>
          </a:xfrm>
          <a:prstGeom prst="rect">
            <a:avLst/>
          </a:prstGeom>
          <a:noFill/>
        </p:spPr>
        <p:txBody>
          <a:bodyPr wrap="none" rtlCol="0">
            <a:spAutoFit/>
          </a:bodyPr>
          <a:lstStyle/>
          <a:p>
            <a:r>
              <a:rPr lang="en-US" sz="1200" dirty="0"/>
              <a:t>.15</a:t>
            </a:r>
          </a:p>
        </p:txBody>
      </p:sp>
      <p:sp>
        <p:nvSpPr>
          <p:cNvPr id="106" name="TextBox 105">
            <a:extLst>
              <a:ext uri="{FF2B5EF4-FFF2-40B4-BE49-F238E27FC236}">
                <a16:creationId xmlns="" xmlns:a16="http://schemas.microsoft.com/office/drawing/2014/main" id="{47AB09D9-265D-47D4-A7D5-7DEFAC87A060}"/>
              </a:ext>
            </a:extLst>
          </p:cNvPr>
          <p:cNvSpPr txBox="1"/>
          <p:nvPr/>
        </p:nvSpPr>
        <p:spPr bwMode="gray">
          <a:xfrm>
            <a:off x="2218543" y="4543048"/>
            <a:ext cx="306494" cy="276999"/>
          </a:xfrm>
          <a:prstGeom prst="rect">
            <a:avLst/>
          </a:prstGeom>
          <a:noFill/>
        </p:spPr>
        <p:txBody>
          <a:bodyPr wrap="none" rtlCol="0">
            <a:spAutoFit/>
          </a:bodyPr>
          <a:lstStyle/>
          <a:p>
            <a:r>
              <a:rPr lang="en-US" sz="1200" dirty="0"/>
              <a:t>.9</a:t>
            </a:r>
          </a:p>
        </p:txBody>
      </p:sp>
      <p:sp>
        <p:nvSpPr>
          <p:cNvPr id="107" name="TextBox 106">
            <a:extLst>
              <a:ext uri="{FF2B5EF4-FFF2-40B4-BE49-F238E27FC236}">
                <a16:creationId xmlns="" xmlns:a16="http://schemas.microsoft.com/office/drawing/2014/main" id="{0976819D-0FF3-46B9-979A-4EEC9EC95467}"/>
              </a:ext>
            </a:extLst>
          </p:cNvPr>
          <p:cNvSpPr txBox="1"/>
          <p:nvPr/>
        </p:nvSpPr>
        <p:spPr bwMode="gray">
          <a:xfrm>
            <a:off x="9582345" y="3025278"/>
            <a:ext cx="393056" cy="276999"/>
          </a:xfrm>
          <a:prstGeom prst="rect">
            <a:avLst/>
          </a:prstGeom>
          <a:noFill/>
        </p:spPr>
        <p:txBody>
          <a:bodyPr wrap="none" rtlCol="0">
            <a:spAutoFit/>
          </a:bodyPr>
          <a:lstStyle/>
          <a:p>
            <a:r>
              <a:rPr lang="en-US" sz="1200" dirty="0"/>
              <a:t>.17</a:t>
            </a:r>
          </a:p>
        </p:txBody>
      </p:sp>
      <p:sp>
        <p:nvSpPr>
          <p:cNvPr id="108" name="TextBox 107">
            <a:extLst>
              <a:ext uri="{FF2B5EF4-FFF2-40B4-BE49-F238E27FC236}">
                <a16:creationId xmlns="" xmlns:a16="http://schemas.microsoft.com/office/drawing/2014/main" id="{789E9A27-6081-4826-AA5E-2E6B2D037E4B}"/>
              </a:ext>
            </a:extLst>
          </p:cNvPr>
          <p:cNvSpPr txBox="1"/>
          <p:nvPr/>
        </p:nvSpPr>
        <p:spPr bwMode="gray">
          <a:xfrm>
            <a:off x="8620972" y="3020554"/>
            <a:ext cx="393056" cy="276999"/>
          </a:xfrm>
          <a:prstGeom prst="rect">
            <a:avLst/>
          </a:prstGeom>
          <a:noFill/>
        </p:spPr>
        <p:txBody>
          <a:bodyPr wrap="none" rtlCol="0">
            <a:spAutoFit/>
          </a:bodyPr>
          <a:lstStyle/>
          <a:p>
            <a:r>
              <a:rPr lang="en-US" sz="1200" dirty="0"/>
              <a:t>.23</a:t>
            </a:r>
          </a:p>
        </p:txBody>
      </p:sp>
      <p:sp>
        <p:nvSpPr>
          <p:cNvPr id="109" name="TextBox 108">
            <a:extLst>
              <a:ext uri="{FF2B5EF4-FFF2-40B4-BE49-F238E27FC236}">
                <a16:creationId xmlns="" xmlns:a16="http://schemas.microsoft.com/office/drawing/2014/main" id="{62338FF3-0991-4785-89BE-FDB0DB618ECD}"/>
              </a:ext>
            </a:extLst>
          </p:cNvPr>
          <p:cNvSpPr txBox="1"/>
          <p:nvPr/>
        </p:nvSpPr>
        <p:spPr bwMode="gray">
          <a:xfrm>
            <a:off x="9585344" y="4555416"/>
            <a:ext cx="393056" cy="276999"/>
          </a:xfrm>
          <a:prstGeom prst="rect">
            <a:avLst/>
          </a:prstGeom>
          <a:noFill/>
        </p:spPr>
        <p:txBody>
          <a:bodyPr wrap="none" rtlCol="0">
            <a:spAutoFit/>
          </a:bodyPr>
          <a:lstStyle/>
          <a:p>
            <a:r>
              <a:rPr lang="en-US" sz="1200" dirty="0"/>
              <a:t>.25</a:t>
            </a:r>
          </a:p>
        </p:txBody>
      </p:sp>
      <p:sp>
        <p:nvSpPr>
          <p:cNvPr id="110" name="TextBox 109">
            <a:extLst>
              <a:ext uri="{FF2B5EF4-FFF2-40B4-BE49-F238E27FC236}">
                <a16:creationId xmlns="" xmlns:a16="http://schemas.microsoft.com/office/drawing/2014/main" id="{4B99936A-3820-4228-8EAD-6D2BFCA970A1}"/>
              </a:ext>
            </a:extLst>
          </p:cNvPr>
          <p:cNvSpPr txBox="1"/>
          <p:nvPr/>
        </p:nvSpPr>
        <p:spPr bwMode="gray">
          <a:xfrm>
            <a:off x="8623971" y="4550692"/>
            <a:ext cx="393056" cy="276999"/>
          </a:xfrm>
          <a:prstGeom prst="rect">
            <a:avLst/>
          </a:prstGeom>
          <a:noFill/>
        </p:spPr>
        <p:txBody>
          <a:bodyPr wrap="none" rtlCol="0">
            <a:spAutoFit/>
          </a:bodyPr>
          <a:lstStyle/>
          <a:p>
            <a:r>
              <a:rPr lang="en-US" sz="1200" dirty="0"/>
              <a:t>.31</a:t>
            </a:r>
          </a:p>
        </p:txBody>
      </p:sp>
      <p:sp>
        <p:nvSpPr>
          <p:cNvPr id="111" name="TextBox 110">
            <a:extLst>
              <a:ext uri="{FF2B5EF4-FFF2-40B4-BE49-F238E27FC236}">
                <a16:creationId xmlns="" xmlns:a16="http://schemas.microsoft.com/office/drawing/2014/main" id="{88C13C30-7AF5-468E-81A2-4504233F3ED9}"/>
              </a:ext>
            </a:extLst>
          </p:cNvPr>
          <p:cNvSpPr txBox="1"/>
          <p:nvPr/>
        </p:nvSpPr>
        <p:spPr bwMode="gray">
          <a:xfrm>
            <a:off x="4598238" y="2377974"/>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28.0.0.251/32</a:t>
            </a:r>
            <a:endParaRPr lang="en-US" sz="1200" dirty="0"/>
          </a:p>
        </p:txBody>
      </p:sp>
      <p:sp>
        <p:nvSpPr>
          <p:cNvPr id="112" name="TextBox 111">
            <a:extLst>
              <a:ext uri="{FF2B5EF4-FFF2-40B4-BE49-F238E27FC236}">
                <a16:creationId xmlns="" xmlns:a16="http://schemas.microsoft.com/office/drawing/2014/main" id="{1036208F-E5CE-4DAF-A860-2E4C96F0A18D}"/>
              </a:ext>
            </a:extLst>
          </p:cNvPr>
          <p:cNvSpPr txBox="1"/>
          <p:nvPr/>
        </p:nvSpPr>
        <p:spPr bwMode="gray">
          <a:xfrm>
            <a:off x="6081369" y="2377974"/>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28.0.0.253/32</a:t>
            </a:r>
            <a:endParaRPr lang="en-US" sz="1200" dirty="0"/>
          </a:p>
        </p:txBody>
      </p:sp>
      <p:sp>
        <p:nvSpPr>
          <p:cNvPr id="113" name="TextBox 112">
            <a:extLst>
              <a:ext uri="{FF2B5EF4-FFF2-40B4-BE49-F238E27FC236}">
                <a16:creationId xmlns="" xmlns:a16="http://schemas.microsoft.com/office/drawing/2014/main" id="{2B48F94B-5289-4782-ACC9-185E6720C1FC}"/>
              </a:ext>
            </a:extLst>
          </p:cNvPr>
          <p:cNvSpPr txBox="1"/>
          <p:nvPr/>
        </p:nvSpPr>
        <p:spPr bwMode="gray">
          <a:xfrm>
            <a:off x="6102350" y="5172139"/>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28.0.0.254/32</a:t>
            </a:r>
            <a:endParaRPr lang="en-US" sz="1200" dirty="0"/>
          </a:p>
        </p:txBody>
      </p:sp>
      <p:sp>
        <p:nvSpPr>
          <p:cNvPr id="114" name="TextBox 113">
            <a:extLst>
              <a:ext uri="{FF2B5EF4-FFF2-40B4-BE49-F238E27FC236}">
                <a16:creationId xmlns="" xmlns:a16="http://schemas.microsoft.com/office/drawing/2014/main" id="{A4C84341-E83F-48B7-B0BD-1FAB7C6948E0}"/>
              </a:ext>
            </a:extLst>
          </p:cNvPr>
          <p:cNvSpPr txBox="1"/>
          <p:nvPr/>
        </p:nvSpPr>
        <p:spPr bwMode="gray">
          <a:xfrm>
            <a:off x="4547796" y="5181633"/>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28.0.0.252/32</a:t>
            </a:r>
            <a:endParaRPr lang="en-US" sz="1200" dirty="0"/>
          </a:p>
        </p:txBody>
      </p:sp>
      <p:sp>
        <p:nvSpPr>
          <p:cNvPr id="115" name="TextBox 114">
            <a:extLst>
              <a:ext uri="{FF2B5EF4-FFF2-40B4-BE49-F238E27FC236}">
                <a16:creationId xmlns="" xmlns:a16="http://schemas.microsoft.com/office/drawing/2014/main" id="{80D52F21-D7C8-4BD7-AD7B-05D16F8B44D1}"/>
              </a:ext>
            </a:extLst>
          </p:cNvPr>
          <p:cNvSpPr txBox="1"/>
          <p:nvPr/>
        </p:nvSpPr>
        <p:spPr bwMode="gray">
          <a:xfrm>
            <a:off x="2839182" y="2409706"/>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28.0.0.247/32</a:t>
            </a:r>
            <a:endParaRPr lang="en-US" sz="1200" dirty="0"/>
          </a:p>
        </p:txBody>
      </p:sp>
      <p:sp>
        <p:nvSpPr>
          <p:cNvPr id="116" name="TextBox 115">
            <a:extLst>
              <a:ext uri="{FF2B5EF4-FFF2-40B4-BE49-F238E27FC236}">
                <a16:creationId xmlns="" xmlns:a16="http://schemas.microsoft.com/office/drawing/2014/main" id="{C8677B6A-B546-4530-AB78-642884CB994F}"/>
              </a:ext>
            </a:extLst>
          </p:cNvPr>
          <p:cNvSpPr txBox="1"/>
          <p:nvPr/>
        </p:nvSpPr>
        <p:spPr bwMode="gray">
          <a:xfrm>
            <a:off x="7678171" y="5182548"/>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28.0.0.250/32</a:t>
            </a:r>
            <a:endParaRPr lang="en-US" sz="1200" dirty="0"/>
          </a:p>
        </p:txBody>
      </p:sp>
      <p:sp>
        <p:nvSpPr>
          <p:cNvPr id="117" name="TextBox 116">
            <a:extLst>
              <a:ext uri="{FF2B5EF4-FFF2-40B4-BE49-F238E27FC236}">
                <a16:creationId xmlns="" xmlns:a16="http://schemas.microsoft.com/office/drawing/2014/main" id="{3797D1BB-475C-479E-B89B-751EC10744F4}"/>
              </a:ext>
            </a:extLst>
          </p:cNvPr>
          <p:cNvSpPr txBox="1"/>
          <p:nvPr/>
        </p:nvSpPr>
        <p:spPr bwMode="gray">
          <a:xfrm>
            <a:off x="7698394" y="2409225"/>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28.0.0.249/32</a:t>
            </a:r>
            <a:endParaRPr lang="en-US" sz="1200" dirty="0"/>
          </a:p>
        </p:txBody>
      </p:sp>
      <p:sp>
        <p:nvSpPr>
          <p:cNvPr id="118" name="TextBox 117">
            <a:extLst>
              <a:ext uri="{FF2B5EF4-FFF2-40B4-BE49-F238E27FC236}">
                <a16:creationId xmlns="" xmlns:a16="http://schemas.microsoft.com/office/drawing/2014/main" id="{77974330-F81C-4F28-B1E9-8580E9746896}"/>
              </a:ext>
            </a:extLst>
          </p:cNvPr>
          <p:cNvSpPr txBox="1"/>
          <p:nvPr/>
        </p:nvSpPr>
        <p:spPr bwMode="gray">
          <a:xfrm>
            <a:off x="2839989" y="5172861"/>
            <a:ext cx="1534394" cy="276999"/>
          </a:xfrm>
          <a:prstGeom prst="rect">
            <a:avLst/>
          </a:prstGeom>
          <a:noFill/>
        </p:spPr>
        <p:txBody>
          <a:bodyPr wrap="none" rtlCol="0">
            <a:spAutoFit/>
          </a:bodyPr>
          <a:lstStyle/>
          <a:p>
            <a:r>
              <a:rPr lang="en-US" sz="1200" dirty="0"/>
              <a:t>L0</a:t>
            </a:r>
            <a:r>
              <a:rPr lang="zh-CN" altLang="en-US" sz="1200"/>
              <a:t>：</a:t>
            </a:r>
            <a:r>
              <a:rPr lang="en-US" altLang="zh-CN" sz="1200" smtClean="0"/>
              <a:t>1</a:t>
            </a:r>
            <a:r>
              <a:rPr lang="en-US" sz="1200" smtClean="0"/>
              <a:t>28.0.0.248/32</a:t>
            </a:r>
            <a:endParaRPr lang="en-US" sz="1200" dirty="0"/>
          </a:p>
        </p:txBody>
      </p:sp>
      <p:sp>
        <p:nvSpPr>
          <p:cNvPr id="119" name="Rectangular Callout 26">
            <a:extLst>
              <a:ext uri="{FF2B5EF4-FFF2-40B4-BE49-F238E27FC236}">
                <a16:creationId xmlns="" xmlns:a16="http://schemas.microsoft.com/office/drawing/2014/main" id="{47897E26-A761-4417-B6A0-F5EE3A430DF5}"/>
              </a:ext>
            </a:extLst>
          </p:cNvPr>
          <p:cNvSpPr/>
          <p:nvPr/>
        </p:nvSpPr>
        <p:spPr bwMode="gray">
          <a:xfrm>
            <a:off x="4509556" y="1802191"/>
            <a:ext cx="1128959" cy="415700"/>
          </a:xfrm>
          <a:prstGeom prst="wedgeRectCallout">
            <a:avLst>
              <a:gd name="adj1" fmla="val 23218"/>
              <a:gd name="adj2" fmla="val 8842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环回口</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从高到低分配</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0" name="Rectangular Callout 26">
            <a:extLst>
              <a:ext uri="{FF2B5EF4-FFF2-40B4-BE49-F238E27FC236}">
                <a16:creationId xmlns="" xmlns:a16="http://schemas.microsoft.com/office/drawing/2014/main" id="{1EB1922C-BCF4-493B-AEBF-FAFAD0BB1F69}"/>
              </a:ext>
            </a:extLst>
          </p:cNvPr>
          <p:cNvSpPr/>
          <p:nvPr/>
        </p:nvSpPr>
        <p:spPr bwMode="gray">
          <a:xfrm>
            <a:off x="3919841" y="3357438"/>
            <a:ext cx="1128959" cy="415700"/>
          </a:xfrm>
          <a:prstGeom prst="wedgeRectCallout">
            <a:avLst>
              <a:gd name="adj1" fmla="val 36717"/>
              <a:gd name="adj2" fmla="val -802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靠近核心层使用奇数</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p>
        </p:txBody>
      </p:sp>
      <p:sp>
        <p:nvSpPr>
          <p:cNvPr id="121" name="Rectangular Callout 26">
            <a:extLst>
              <a:ext uri="{FF2B5EF4-FFF2-40B4-BE49-F238E27FC236}">
                <a16:creationId xmlns="" xmlns:a16="http://schemas.microsoft.com/office/drawing/2014/main" id="{BCAB24AA-A49C-4C7A-B3C3-D279BCDCF40D}"/>
              </a:ext>
            </a:extLst>
          </p:cNvPr>
          <p:cNvSpPr/>
          <p:nvPr/>
        </p:nvSpPr>
        <p:spPr bwMode="gray">
          <a:xfrm>
            <a:off x="3919841" y="3997510"/>
            <a:ext cx="1128959" cy="415700"/>
          </a:xfrm>
          <a:prstGeom prst="wedgeRectCallout">
            <a:avLst>
              <a:gd name="adj1" fmla="val -38879"/>
              <a:gd name="adj2" fmla="val 8353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远离靠近核心层使用偶数</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p>
        </p:txBody>
      </p:sp>
      <p:sp>
        <p:nvSpPr>
          <p:cNvPr id="122" name="Rectangular Callout 26">
            <a:extLst>
              <a:ext uri="{FF2B5EF4-FFF2-40B4-BE49-F238E27FC236}">
                <a16:creationId xmlns="" xmlns:a16="http://schemas.microsoft.com/office/drawing/2014/main" id="{767F8747-1E82-425C-9BD0-81B26EA4BC53}"/>
              </a:ext>
            </a:extLst>
          </p:cNvPr>
          <p:cNvSpPr/>
          <p:nvPr/>
        </p:nvSpPr>
        <p:spPr bwMode="gray">
          <a:xfrm>
            <a:off x="7022578" y="3430320"/>
            <a:ext cx="1232634" cy="415700"/>
          </a:xfrm>
          <a:prstGeom prst="wedgeRectCallout">
            <a:avLst>
              <a:gd name="adj1" fmla="val 58455"/>
              <a:gd name="adj2" fmla="val -411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同层设备编号小的使用奇数</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p>
        </p:txBody>
      </p:sp>
      <p:sp>
        <p:nvSpPr>
          <p:cNvPr id="123" name="Rectangular Callout 26">
            <a:extLst>
              <a:ext uri="{FF2B5EF4-FFF2-40B4-BE49-F238E27FC236}">
                <a16:creationId xmlns="" xmlns:a16="http://schemas.microsoft.com/office/drawing/2014/main" id="{182A5E89-42AA-4838-A429-549D780AC2EC}"/>
              </a:ext>
            </a:extLst>
          </p:cNvPr>
          <p:cNvSpPr/>
          <p:nvPr/>
        </p:nvSpPr>
        <p:spPr bwMode="gray">
          <a:xfrm>
            <a:off x="7022578" y="3897508"/>
            <a:ext cx="1232634" cy="415700"/>
          </a:xfrm>
          <a:prstGeom prst="wedgeRectCallout">
            <a:avLst>
              <a:gd name="adj1" fmla="val 57631"/>
              <a:gd name="adj2" fmla="val 542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同层设备编号大的使用偶数</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p>
        </p:txBody>
      </p:sp>
    </p:spTree>
    <p:extLst>
      <p:ext uri="{BB962C8B-B14F-4D97-AF65-F5344CB8AC3E}">
        <p14:creationId xmlns:p14="http://schemas.microsoft.com/office/powerpoint/2010/main" val="1130669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75D78D-B8AB-4FF3-9A6E-E3A2CED36E2D}"/>
              </a:ext>
            </a:extLst>
          </p:cNvPr>
          <p:cNvSpPr>
            <a:spLocks noGrp="1"/>
          </p:cNvSpPr>
          <p:nvPr>
            <p:ph type="title"/>
          </p:nvPr>
        </p:nvSpPr>
        <p:spPr bwMode="gray"/>
        <p:txBody>
          <a:bodyPr/>
          <a:lstStyle/>
          <a:p>
            <a:r>
              <a:rPr lang="en-US" altLang="zh-CN" dirty="0"/>
              <a:t>IPv6</a:t>
            </a:r>
            <a:r>
              <a:rPr lang="zh-CN" altLang="en-US" dirty="0"/>
              <a:t>地址规划需求与原则</a:t>
            </a:r>
            <a:endParaRPr lang="en-US" dirty="0"/>
          </a:p>
        </p:txBody>
      </p:sp>
      <p:sp>
        <p:nvSpPr>
          <p:cNvPr id="7" name="圆角矩形 75">
            <a:extLst>
              <a:ext uri="{FF2B5EF4-FFF2-40B4-BE49-F238E27FC236}">
                <a16:creationId xmlns="" xmlns:a16="http://schemas.microsoft.com/office/drawing/2014/main" id="{6D6D3BF1-9F90-450D-8A10-E5AB678DD824}"/>
              </a:ext>
            </a:extLst>
          </p:cNvPr>
          <p:cNvSpPr/>
          <p:nvPr/>
        </p:nvSpPr>
        <p:spPr bwMode="gray">
          <a:xfrm>
            <a:off x="1953509" y="3201048"/>
            <a:ext cx="1164028" cy="485981"/>
          </a:xfrm>
          <a:prstGeom prst="roundRect">
            <a:avLst>
              <a:gd name="adj" fmla="val 6346"/>
            </a:avLst>
          </a:prstGeom>
          <a:solidFill>
            <a:srgbClr val="BEE9EE"/>
          </a:solidFill>
          <a:ln w="19050" cap="flat" cmpd="sng" algn="ctr">
            <a:solidFill>
              <a:srgbClr val="30B5C5"/>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a:t>
            </a: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一性原则</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 name="圆角矩形 75">
            <a:extLst>
              <a:ext uri="{FF2B5EF4-FFF2-40B4-BE49-F238E27FC236}">
                <a16:creationId xmlns="" xmlns:a16="http://schemas.microsoft.com/office/drawing/2014/main" id="{213DA3C5-8B93-4B52-9987-169FD72BBF3F}"/>
              </a:ext>
            </a:extLst>
          </p:cNvPr>
          <p:cNvSpPr/>
          <p:nvPr/>
        </p:nvSpPr>
        <p:spPr bwMode="gray">
          <a:xfrm>
            <a:off x="3350509" y="3201048"/>
            <a:ext cx="1164028" cy="485981"/>
          </a:xfrm>
          <a:prstGeom prst="roundRect">
            <a:avLst>
              <a:gd name="adj" fmla="val 6346"/>
            </a:avLst>
          </a:prstGeom>
          <a:solidFill>
            <a:srgbClr val="BEE9EE"/>
          </a:solidFill>
          <a:ln w="19050" cap="flat" cmpd="sng" algn="ctr">
            <a:solidFill>
              <a:srgbClr val="30B5C5"/>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唯一性原则</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 name="圆角矩形 75">
            <a:extLst>
              <a:ext uri="{FF2B5EF4-FFF2-40B4-BE49-F238E27FC236}">
                <a16:creationId xmlns="" xmlns:a16="http://schemas.microsoft.com/office/drawing/2014/main" id="{F2D0E643-ED6E-4F82-84C5-7F3BC88379B8}"/>
              </a:ext>
            </a:extLst>
          </p:cNvPr>
          <p:cNvSpPr/>
          <p:nvPr/>
        </p:nvSpPr>
        <p:spPr bwMode="gray">
          <a:xfrm>
            <a:off x="4747509" y="3204852"/>
            <a:ext cx="1164028" cy="485981"/>
          </a:xfrm>
          <a:prstGeom prst="roundRect">
            <a:avLst>
              <a:gd name="adj" fmla="val 6346"/>
            </a:avLst>
          </a:prstGeom>
          <a:solidFill>
            <a:srgbClr val="BEE9EE"/>
          </a:solidFill>
          <a:ln w="19050" cap="flat" cmpd="sng" algn="ctr">
            <a:solidFill>
              <a:srgbClr val="30B5C5"/>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层次化原则</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 name="圆角矩形 75">
            <a:extLst>
              <a:ext uri="{FF2B5EF4-FFF2-40B4-BE49-F238E27FC236}">
                <a16:creationId xmlns="" xmlns:a16="http://schemas.microsoft.com/office/drawing/2014/main" id="{4D1BA81B-9A08-423E-9680-CB887323E8C4}"/>
              </a:ext>
            </a:extLst>
          </p:cNvPr>
          <p:cNvSpPr/>
          <p:nvPr/>
        </p:nvSpPr>
        <p:spPr bwMode="gray">
          <a:xfrm>
            <a:off x="6144509" y="3204852"/>
            <a:ext cx="1164028" cy="485981"/>
          </a:xfrm>
          <a:prstGeom prst="roundRect">
            <a:avLst>
              <a:gd name="adj" fmla="val 6346"/>
            </a:avLst>
          </a:prstGeom>
          <a:solidFill>
            <a:srgbClr val="BEE9EE"/>
          </a:solidFill>
          <a:ln w="19050" cap="flat" cmpd="sng" algn="ctr">
            <a:solidFill>
              <a:srgbClr val="30B5C5"/>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安全性原则</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1" name="圆角矩形 75">
            <a:extLst>
              <a:ext uri="{FF2B5EF4-FFF2-40B4-BE49-F238E27FC236}">
                <a16:creationId xmlns="" xmlns:a16="http://schemas.microsoft.com/office/drawing/2014/main" id="{1757227A-B72B-4AA1-BB46-C3B01779D11A}"/>
              </a:ext>
            </a:extLst>
          </p:cNvPr>
          <p:cNvSpPr/>
          <p:nvPr/>
        </p:nvSpPr>
        <p:spPr bwMode="gray">
          <a:xfrm>
            <a:off x="7541509" y="3204852"/>
            <a:ext cx="1164028" cy="485981"/>
          </a:xfrm>
          <a:prstGeom prst="roundRect">
            <a:avLst>
              <a:gd name="adj" fmla="val 6346"/>
            </a:avLst>
          </a:prstGeom>
          <a:solidFill>
            <a:srgbClr val="BEE9EE"/>
          </a:solidFill>
          <a:ln w="19050" cap="flat" cmpd="sng" algn="ctr">
            <a:solidFill>
              <a:srgbClr val="30B5C5"/>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连续性原则</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 name="圆角矩形 75">
            <a:extLst>
              <a:ext uri="{FF2B5EF4-FFF2-40B4-BE49-F238E27FC236}">
                <a16:creationId xmlns="" xmlns:a16="http://schemas.microsoft.com/office/drawing/2014/main" id="{619D3351-BE86-400E-BF56-691A0BCB6D3B}"/>
              </a:ext>
            </a:extLst>
          </p:cNvPr>
          <p:cNvSpPr/>
          <p:nvPr/>
        </p:nvSpPr>
        <p:spPr bwMode="gray">
          <a:xfrm>
            <a:off x="8934457" y="3204852"/>
            <a:ext cx="1345880" cy="485981"/>
          </a:xfrm>
          <a:prstGeom prst="roundRect">
            <a:avLst>
              <a:gd name="adj" fmla="val 6346"/>
            </a:avLst>
          </a:prstGeom>
          <a:solidFill>
            <a:srgbClr val="BEE9EE"/>
          </a:solidFill>
          <a:ln w="19050" cap="flat" cmpd="sng" algn="ctr">
            <a:solidFill>
              <a:srgbClr val="30B5C5"/>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可扩展性原则</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圆角矩形 75">
            <a:extLst>
              <a:ext uri="{FF2B5EF4-FFF2-40B4-BE49-F238E27FC236}">
                <a16:creationId xmlns="" xmlns:a16="http://schemas.microsoft.com/office/drawing/2014/main" id="{20E1939F-6025-4E71-BE11-B6F19B3F63F0}"/>
              </a:ext>
            </a:extLst>
          </p:cNvPr>
          <p:cNvSpPr/>
          <p:nvPr/>
        </p:nvSpPr>
        <p:spPr bwMode="gray">
          <a:xfrm>
            <a:off x="1974026" y="1396281"/>
            <a:ext cx="1335063" cy="634784"/>
          </a:xfrm>
          <a:prstGeom prst="roundRect">
            <a:avLst>
              <a:gd name="adj" fmla="val 6346"/>
            </a:avLst>
          </a:prstGeom>
          <a:solidFill>
            <a:srgbClr val="D0E8C4"/>
          </a:solidFill>
          <a:ln w="19050" cap="flat" cmpd="sng" algn="ctr">
            <a:solidFill>
              <a:srgbClr val="AFD89C"/>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需要多少地址</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 name="圆角矩形 75">
            <a:extLst>
              <a:ext uri="{FF2B5EF4-FFF2-40B4-BE49-F238E27FC236}">
                <a16:creationId xmlns="" xmlns:a16="http://schemas.microsoft.com/office/drawing/2014/main" id="{8D047CF3-A004-4502-B9E4-185AA35509E3}"/>
              </a:ext>
            </a:extLst>
          </p:cNvPr>
          <p:cNvSpPr/>
          <p:nvPr/>
        </p:nvSpPr>
        <p:spPr bwMode="gray">
          <a:xfrm>
            <a:off x="3802610" y="1392477"/>
            <a:ext cx="2068858" cy="638588"/>
          </a:xfrm>
          <a:prstGeom prst="roundRect">
            <a:avLst>
              <a:gd name="adj" fmla="val 6346"/>
            </a:avLst>
          </a:prstGeom>
          <a:solidFill>
            <a:srgbClr val="D0E8C4"/>
          </a:solidFill>
          <a:ln w="19050" cap="flat" cmpd="sng" algn="ctr">
            <a:solidFill>
              <a:srgbClr val="AFD89C"/>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lang="zh-CN" altLang="en-US"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哪些地址类别会用来做</a:t>
            </a:r>
            <a:r>
              <a:rPr lang="en-US" altLang="zh-CN" sz="14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filter/ACL</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 name="圆角矩形 75">
            <a:extLst>
              <a:ext uri="{FF2B5EF4-FFF2-40B4-BE49-F238E27FC236}">
                <a16:creationId xmlns="" xmlns:a16="http://schemas.microsoft.com/office/drawing/2014/main" id="{985CCE3C-7C09-4493-A2C7-CA954D6C1E9E}"/>
              </a:ext>
            </a:extLst>
          </p:cNvPr>
          <p:cNvSpPr/>
          <p:nvPr/>
        </p:nvSpPr>
        <p:spPr bwMode="gray">
          <a:xfrm>
            <a:off x="6288432" y="1392477"/>
            <a:ext cx="2592960" cy="638588"/>
          </a:xfrm>
          <a:prstGeom prst="roundRect">
            <a:avLst>
              <a:gd name="adj" fmla="val 6346"/>
            </a:avLst>
          </a:prstGeom>
          <a:solidFill>
            <a:srgbClr val="D0E8C4"/>
          </a:solidFill>
          <a:ln w="19050" cap="flat" cmpd="sng" algn="ctr">
            <a:solidFill>
              <a:srgbClr val="AFD89C"/>
            </a:solidFill>
            <a:prstDash val="solid"/>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网络有哪些路由域以及在什么地方会进行路由聚合</a:t>
            </a: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圆角矩形 75">
            <a:extLst>
              <a:ext uri="{FF2B5EF4-FFF2-40B4-BE49-F238E27FC236}">
                <a16:creationId xmlns="" xmlns:a16="http://schemas.microsoft.com/office/drawing/2014/main" id="{E74BFBAA-915E-40DE-8703-2D3DF2640BCF}"/>
              </a:ext>
            </a:extLst>
          </p:cNvPr>
          <p:cNvSpPr/>
          <p:nvPr/>
        </p:nvSpPr>
        <p:spPr bwMode="gray">
          <a:xfrm rot="16200000">
            <a:off x="1036945" y="1513770"/>
            <a:ext cx="99973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需求</a:t>
            </a:r>
          </a:p>
        </p:txBody>
      </p:sp>
      <p:sp>
        <p:nvSpPr>
          <p:cNvPr id="17" name="圆角矩形 75">
            <a:extLst>
              <a:ext uri="{FF2B5EF4-FFF2-40B4-BE49-F238E27FC236}">
                <a16:creationId xmlns="" xmlns:a16="http://schemas.microsoft.com/office/drawing/2014/main" id="{33EA30B5-9C27-428E-8CEA-A41770816229}"/>
              </a:ext>
            </a:extLst>
          </p:cNvPr>
          <p:cNvSpPr/>
          <p:nvPr/>
        </p:nvSpPr>
        <p:spPr bwMode="gray">
          <a:xfrm>
            <a:off x="1780971" y="1211903"/>
            <a:ext cx="7482294" cy="99973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 name="圆角矩形 75">
            <a:extLst>
              <a:ext uri="{FF2B5EF4-FFF2-40B4-BE49-F238E27FC236}">
                <a16:creationId xmlns="" xmlns:a16="http://schemas.microsoft.com/office/drawing/2014/main" id="{B2C16030-BEFE-44C4-90C5-378FE6B37D17}"/>
              </a:ext>
            </a:extLst>
          </p:cNvPr>
          <p:cNvSpPr/>
          <p:nvPr/>
        </p:nvSpPr>
        <p:spPr bwMode="gray">
          <a:xfrm rot="16200000">
            <a:off x="1040859" y="3228801"/>
            <a:ext cx="99973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规划</a:t>
            </a:r>
          </a:p>
        </p:txBody>
      </p:sp>
      <p:sp>
        <p:nvSpPr>
          <p:cNvPr id="19" name="圆角矩形 75">
            <a:extLst>
              <a:ext uri="{FF2B5EF4-FFF2-40B4-BE49-F238E27FC236}">
                <a16:creationId xmlns="" xmlns:a16="http://schemas.microsoft.com/office/drawing/2014/main" id="{B9F7722C-FA06-4D85-AB3F-315E92BA934E}"/>
              </a:ext>
            </a:extLst>
          </p:cNvPr>
          <p:cNvSpPr/>
          <p:nvPr/>
        </p:nvSpPr>
        <p:spPr bwMode="gray">
          <a:xfrm>
            <a:off x="1784885" y="2926934"/>
            <a:ext cx="8695062" cy="99973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b">
            <a:noAutofit/>
          </a:bodyPr>
          <a:lstStyle/>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pPr>
            <a:endParaRPr lang="en-US" altLang="zh-CN" sz="1400" b="1"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 name="Arrow: Down 19">
            <a:extLst>
              <a:ext uri="{FF2B5EF4-FFF2-40B4-BE49-F238E27FC236}">
                <a16:creationId xmlns="" xmlns:a16="http://schemas.microsoft.com/office/drawing/2014/main" id="{524E7CB7-3148-4DDD-9751-CAB379C7C0AC}"/>
              </a:ext>
            </a:extLst>
          </p:cNvPr>
          <p:cNvSpPr/>
          <p:nvPr/>
        </p:nvSpPr>
        <p:spPr bwMode="gray">
          <a:xfrm>
            <a:off x="5222519" y="2343354"/>
            <a:ext cx="759619" cy="534559"/>
          </a:xfrm>
          <a:prstGeom prst="downArrow">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图片 48">
            <a:extLst>
              <a:ext uri="{FF2B5EF4-FFF2-40B4-BE49-F238E27FC236}">
                <a16:creationId xmlns="" xmlns:a16="http://schemas.microsoft.com/office/drawing/2014/main" id="{42DD6178-FDF7-48EE-8846-75D2AF197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13075" y="5138540"/>
            <a:ext cx="378863" cy="310667"/>
          </a:xfrm>
          <a:prstGeom prst="rect">
            <a:avLst/>
          </a:prstGeom>
        </p:spPr>
      </p:pic>
      <p:pic>
        <p:nvPicPr>
          <p:cNvPr id="22" name="图片 48">
            <a:extLst>
              <a:ext uri="{FF2B5EF4-FFF2-40B4-BE49-F238E27FC236}">
                <a16:creationId xmlns="" xmlns:a16="http://schemas.microsoft.com/office/drawing/2014/main" id="{820A336D-B2D1-4C63-91EC-3E42C1E086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8807" y="5140220"/>
            <a:ext cx="378863" cy="310667"/>
          </a:xfrm>
          <a:prstGeom prst="rect">
            <a:avLst/>
          </a:prstGeom>
        </p:spPr>
      </p:pic>
      <p:pic>
        <p:nvPicPr>
          <p:cNvPr id="23" name="图片 48">
            <a:extLst>
              <a:ext uri="{FF2B5EF4-FFF2-40B4-BE49-F238E27FC236}">
                <a16:creationId xmlns="" xmlns:a16="http://schemas.microsoft.com/office/drawing/2014/main" id="{206ED2E8-8529-4C73-9E41-D8967BAF90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89742" y="5141900"/>
            <a:ext cx="378863" cy="310667"/>
          </a:xfrm>
          <a:prstGeom prst="rect">
            <a:avLst/>
          </a:prstGeom>
        </p:spPr>
      </p:pic>
      <p:cxnSp>
        <p:nvCxnSpPr>
          <p:cNvPr id="24" name="Straight Connector 23">
            <a:extLst>
              <a:ext uri="{FF2B5EF4-FFF2-40B4-BE49-F238E27FC236}">
                <a16:creationId xmlns="" xmlns:a16="http://schemas.microsoft.com/office/drawing/2014/main" id="{9AF9410E-5D04-4B31-8A62-FCA6B4A276C1}"/>
              </a:ext>
            </a:extLst>
          </p:cNvPr>
          <p:cNvCxnSpPr>
            <a:cxnSpLocks/>
            <a:stCxn id="22" idx="1"/>
            <a:endCxn id="21" idx="3"/>
          </p:cNvCxnSpPr>
          <p:nvPr/>
        </p:nvCxnSpPr>
        <p:spPr bwMode="gray">
          <a:xfrm flipH="1" flipV="1">
            <a:off x="4791938" y="5293874"/>
            <a:ext cx="112686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CD5142DE-1693-48F2-86CC-8DEAB9715781}"/>
              </a:ext>
            </a:extLst>
          </p:cNvPr>
          <p:cNvCxnSpPr>
            <a:cxnSpLocks/>
            <a:stCxn id="23" idx="1"/>
            <a:endCxn id="22" idx="3"/>
          </p:cNvCxnSpPr>
          <p:nvPr/>
        </p:nvCxnSpPr>
        <p:spPr bwMode="gray">
          <a:xfrm flipH="1" flipV="1">
            <a:off x="6297670" y="5295554"/>
            <a:ext cx="1192072"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19036784-0694-4091-BF53-0959D8813F24}"/>
              </a:ext>
            </a:extLst>
          </p:cNvPr>
          <p:cNvCxnSpPr>
            <a:cxnSpLocks/>
            <a:stCxn id="27" idx="3"/>
            <a:endCxn id="21" idx="1"/>
          </p:cNvCxnSpPr>
          <p:nvPr/>
        </p:nvCxnSpPr>
        <p:spPr bwMode="gray">
          <a:xfrm>
            <a:off x="3124330" y="5293873"/>
            <a:ext cx="1288745"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7" name="图片 48">
            <a:extLst>
              <a:ext uri="{FF2B5EF4-FFF2-40B4-BE49-F238E27FC236}">
                <a16:creationId xmlns="" xmlns:a16="http://schemas.microsoft.com/office/drawing/2014/main" id="{17E341A3-6A98-4A6F-848F-1984D67A89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45467" y="5138539"/>
            <a:ext cx="378863" cy="310667"/>
          </a:xfrm>
          <a:prstGeom prst="rect">
            <a:avLst/>
          </a:prstGeom>
        </p:spPr>
      </p:pic>
      <p:pic>
        <p:nvPicPr>
          <p:cNvPr id="28" name="图片 48">
            <a:extLst>
              <a:ext uri="{FF2B5EF4-FFF2-40B4-BE49-F238E27FC236}">
                <a16:creationId xmlns="" xmlns:a16="http://schemas.microsoft.com/office/drawing/2014/main" id="{D68B6A53-5BFD-4516-A5D4-B50A6B0398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80685" y="5141900"/>
            <a:ext cx="378863" cy="310667"/>
          </a:xfrm>
          <a:prstGeom prst="rect">
            <a:avLst/>
          </a:prstGeom>
        </p:spPr>
      </p:pic>
      <p:cxnSp>
        <p:nvCxnSpPr>
          <p:cNvPr id="29" name="Straight Connector 28">
            <a:extLst>
              <a:ext uri="{FF2B5EF4-FFF2-40B4-BE49-F238E27FC236}">
                <a16:creationId xmlns="" xmlns:a16="http://schemas.microsoft.com/office/drawing/2014/main" id="{2777DF14-4320-420C-9E46-EE7561F23DE2}"/>
              </a:ext>
            </a:extLst>
          </p:cNvPr>
          <p:cNvCxnSpPr>
            <a:cxnSpLocks/>
            <a:stCxn id="23" idx="3"/>
            <a:endCxn id="28" idx="1"/>
          </p:cNvCxnSpPr>
          <p:nvPr/>
        </p:nvCxnSpPr>
        <p:spPr bwMode="gray">
          <a:xfrm>
            <a:off x="7868605" y="5297234"/>
            <a:ext cx="101208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TextBox 271">
            <a:extLst>
              <a:ext uri="{FF2B5EF4-FFF2-40B4-BE49-F238E27FC236}">
                <a16:creationId xmlns="" xmlns:a16="http://schemas.microsoft.com/office/drawing/2014/main" id="{874258C7-DD8F-4D8A-89D6-E1DE0F13C53E}"/>
              </a:ext>
            </a:extLst>
          </p:cNvPr>
          <p:cNvSpPr txBox="1"/>
          <p:nvPr/>
        </p:nvSpPr>
        <p:spPr bwMode="gray">
          <a:xfrm>
            <a:off x="4423827" y="5469349"/>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271">
            <a:extLst>
              <a:ext uri="{FF2B5EF4-FFF2-40B4-BE49-F238E27FC236}">
                <a16:creationId xmlns="" xmlns:a16="http://schemas.microsoft.com/office/drawing/2014/main" id="{A773511E-1B9A-4AE7-8C07-6728A301E207}"/>
              </a:ext>
            </a:extLst>
          </p:cNvPr>
          <p:cNvSpPr txBox="1"/>
          <p:nvPr/>
        </p:nvSpPr>
        <p:spPr bwMode="gray">
          <a:xfrm>
            <a:off x="5982138" y="5461719"/>
            <a:ext cx="287594"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271">
            <a:extLst>
              <a:ext uri="{FF2B5EF4-FFF2-40B4-BE49-F238E27FC236}">
                <a16:creationId xmlns="" xmlns:a16="http://schemas.microsoft.com/office/drawing/2014/main" id="{7FC0348C-C42F-4FE9-AB6F-22E11C3DE7C3}"/>
              </a:ext>
            </a:extLst>
          </p:cNvPr>
          <p:cNvSpPr txBox="1"/>
          <p:nvPr/>
        </p:nvSpPr>
        <p:spPr bwMode="gray">
          <a:xfrm>
            <a:off x="2745466" y="546014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271">
            <a:extLst>
              <a:ext uri="{FF2B5EF4-FFF2-40B4-BE49-F238E27FC236}">
                <a16:creationId xmlns="" xmlns:a16="http://schemas.microsoft.com/office/drawing/2014/main" id="{3E20C650-32FE-402F-A414-A6AD98E74F9A}"/>
              </a:ext>
            </a:extLst>
          </p:cNvPr>
          <p:cNvSpPr txBox="1"/>
          <p:nvPr/>
        </p:nvSpPr>
        <p:spPr bwMode="gray">
          <a:xfrm>
            <a:off x="8876155" y="5474728"/>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271">
            <a:extLst>
              <a:ext uri="{FF2B5EF4-FFF2-40B4-BE49-F238E27FC236}">
                <a16:creationId xmlns="" xmlns:a16="http://schemas.microsoft.com/office/drawing/2014/main" id="{A2BD85B9-92DF-4867-841F-30E797A681C3}"/>
              </a:ext>
            </a:extLst>
          </p:cNvPr>
          <p:cNvSpPr txBox="1"/>
          <p:nvPr/>
        </p:nvSpPr>
        <p:spPr bwMode="gray">
          <a:xfrm>
            <a:off x="7505973" y="5466719"/>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1">
            <a:extLst>
              <a:ext uri="{FF2B5EF4-FFF2-40B4-BE49-F238E27FC236}">
                <a16:creationId xmlns="" xmlns:a16="http://schemas.microsoft.com/office/drawing/2014/main" id="{57E392CB-3E94-4DF8-9991-EE138C5FE63C}"/>
              </a:ext>
            </a:extLst>
          </p:cNvPr>
          <p:cNvSpPr>
            <a:spLocks noChangeAspect="1"/>
          </p:cNvSpPr>
          <p:nvPr/>
        </p:nvSpPr>
        <p:spPr bwMode="gray">
          <a:xfrm>
            <a:off x="4681816" y="521424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41" name="Arrow: Down 40">
            <a:extLst>
              <a:ext uri="{FF2B5EF4-FFF2-40B4-BE49-F238E27FC236}">
                <a16:creationId xmlns="" xmlns:a16="http://schemas.microsoft.com/office/drawing/2014/main" id="{68D11885-D954-4BF1-971F-7503EF2BAD13}"/>
              </a:ext>
            </a:extLst>
          </p:cNvPr>
          <p:cNvSpPr/>
          <p:nvPr/>
        </p:nvSpPr>
        <p:spPr bwMode="gray">
          <a:xfrm>
            <a:off x="5222517" y="4018542"/>
            <a:ext cx="759619" cy="534559"/>
          </a:xfrm>
          <a:prstGeom prst="downArrow">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ular Callout 26">
            <a:extLst>
              <a:ext uri="{FF2B5EF4-FFF2-40B4-BE49-F238E27FC236}">
                <a16:creationId xmlns="" xmlns:a16="http://schemas.microsoft.com/office/drawing/2014/main" id="{14A0D5E6-F784-4D94-8027-63389F0FFFAB}"/>
              </a:ext>
            </a:extLst>
          </p:cNvPr>
          <p:cNvSpPr/>
          <p:nvPr/>
        </p:nvSpPr>
        <p:spPr bwMode="gray">
          <a:xfrm>
            <a:off x="3736191" y="4579669"/>
            <a:ext cx="3188716" cy="415700"/>
          </a:xfrm>
          <a:prstGeom prst="wedgeRectCallout">
            <a:avLst>
              <a:gd name="adj1" fmla="val -17292"/>
              <a:gd name="adj2" fmla="val 9315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2000:EAB8:2203:5505::1/127</a:t>
            </a:r>
          </a:p>
        </p:txBody>
      </p:sp>
      <p:sp>
        <p:nvSpPr>
          <p:cNvPr id="37" name="五边形 2">
            <a:extLst>
              <a:ext uri="{FF2B5EF4-FFF2-40B4-BE49-F238E27FC236}">
                <a16:creationId xmlns="" xmlns:a16="http://schemas.microsoft.com/office/drawing/2014/main" id="{14B46ACE-C088-47DF-8C97-F644D963CB4B}"/>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38" name="燕尾形 3">
            <a:extLst>
              <a:ext uri="{FF2B5EF4-FFF2-40B4-BE49-F238E27FC236}">
                <a16:creationId xmlns="" xmlns:a16="http://schemas.microsoft.com/office/drawing/2014/main" id="{739A203D-815A-4D62-8538-C49525A75825}"/>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 xmlns:a16="http://schemas.microsoft.com/office/drawing/2014/main" id="{C9E968B0-CD3E-4FC2-B52B-8E5A1A14E886}"/>
              </a:ext>
            </a:extLst>
          </p:cNvPr>
          <p:cNvSpPr/>
          <p:nvPr/>
        </p:nvSpPr>
        <p:spPr bwMode="gray">
          <a:xfrm>
            <a:off x="9072406" y="44020"/>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2257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2CB07C-C845-4389-84D5-7F7761ABF290}"/>
              </a:ext>
            </a:extLst>
          </p:cNvPr>
          <p:cNvSpPr>
            <a:spLocks noGrp="1"/>
          </p:cNvSpPr>
          <p:nvPr>
            <p:ph type="title"/>
          </p:nvPr>
        </p:nvSpPr>
        <p:spPr bwMode="gray"/>
        <p:txBody>
          <a:bodyPr/>
          <a:lstStyle/>
          <a:p>
            <a:r>
              <a:rPr lang="en-US" dirty="0"/>
              <a:t>IP</a:t>
            </a:r>
            <a:r>
              <a:rPr lang="en-US" altLang="zh-CN" dirty="0"/>
              <a:t>v6</a:t>
            </a:r>
            <a:r>
              <a:rPr lang="zh-CN" altLang="en-US" dirty="0"/>
              <a:t>结构化规划介绍</a:t>
            </a:r>
            <a:endParaRPr lang="en-US" dirty="0"/>
          </a:p>
        </p:txBody>
      </p:sp>
      <p:sp>
        <p:nvSpPr>
          <p:cNvPr id="3" name="Text Placeholder 2">
            <a:extLst>
              <a:ext uri="{FF2B5EF4-FFF2-40B4-BE49-F238E27FC236}">
                <a16:creationId xmlns="" xmlns:a16="http://schemas.microsoft.com/office/drawing/2014/main" id="{BE0DE018-0197-4692-8DF8-21853762F7B7}"/>
              </a:ext>
            </a:extLst>
          </p:cNvPr>
          <p:cNvSpPr>
            <a:spLocks noGrp="1"/>
          </p:cNvSpPr>
          <p:nvPr>
            <p:ph type="body" sz="quarter" idx="10"/>
          </p:nvPr>
        </p:nvSpPr>
        <p:spPr bwMode="gray">
          <a:xfrm>
            <a:off x="455612" y="1047750"/>
            <a:ext cx="11293475" cy="1451719"/>
          </a:xfrm>
        </p:spPr>
        <p:txBody>
          <a:bodyPr/>
          <a:lstStyle/>
          <a:p>
            <a:r>
              <a:rPr lang="zh-CN" altLang="en-US" sz="1800" dirty="0"/>
              <a:t>结构化规划：</a:t>
            </a:r>
            <a:r>
              <a:rPr lang="en-US" altLang="zh-CN" sz="1800" dirty="0"/>
              <a:t>IPv6</a:t>
            </a:r>
            <a:r>
              <a:rPr lang="zh-CN" altLang="en-US" sz="1800" dirty="0"/>
              <a:t>海量地址空间对路由聚合能力提出了更高的要求，建议层次化分配</a:t>
            </a:r>
            <a:r>
              <a:rPr lang="en-US" altLang="zh-CN" sz="1800" dirty="0"/>
              <a:t>IPv6</a:t>
            </a:r>
            <a:r>
              <a:rPr lang="zh-CN" altLang="en-US" sz="1800" dirty="0"/>
              <a:t>地址，这样有利于通过路由聚合缩小路由表规模，同时将</a:t>
            </a:r>
            <a:r>
              <a:rPr lang="en-US" altLang="zh-CN" sz="1800" dirty="0"/>
              <a:t>IPv6</a:t>
            </a:r>
            <a:r>
              <a:rPr lang="zh-CN" altLang="en-US" sz="1800" dirty="0"/>
              <a:t>地址中子网字段再划分为几个相对独立的字段（如果条件允许，建议按</a:t>
            </a:r>
            <a:r>
              <a:rPr lang="en-US" altLang="zh-CN" sz="1800" dirty="0"/>
              <a:t>4 bit</a:t>
            </a:r>
            <a:r>
              <a:rPr lang="zh-CN" altLang="en-US" sz="1800" dirty="0"/>
              <a:t>为粒度划分），提高地址的可读性。如下是一个规划样例：</a:t>
            </a:r>
            <a:endParaRPr lang="en-US" dirty="0"/>
          </a:p>
        </p:txBody>
      </p:sp>
      <p:sp>
        <p:nvSpPr>
          <p:cNvPr id="4" name="TextBox 38">
            <a:extLst>
              <a:ext uri="{FF2B5EF4-FFF2-40B4-BE49-F238E27FC236}">
                <a16:creationId xmlns="" xmlns:a16="http://schemas.microsoft.com/office/drawing/2014/main" id="{E5701C2F-CD2D-48CF-BEA3-72A0E2C39972}"/>
              </a:ext>
            </a:extLst>
          </p:cNvPr>
          <p:cNvSpPr txBox="1"/>
          <p:nvPr/>
        </p:nvSpPr>
        <p:spPr bwMode="gray">
          <a:xfrm>
            <a:off x="1659784" y="2552038"/>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TextBox 43">
            <a:extLst>
              <a:ext uri="{FF2B5EF4-FFF2-40B4-BE49-F238E27FC236}">
                <a16:creationId xmlns="" xmlns:a16="http://schemas.microsoft.com/office/drawing/2014/main" id="{7F6D16DF-32B2-4EC5-9D28-A11ED97EBB62}"/>
              </a:ext>
            </a:extLst>
          </p:cNvPr>
          <p:cNvSpPr txBox="1"/>
          <p:nvPr/>
        </p:nvSpPr>
        <p:spPr bwMode="gray">
          <a:xfrm>
            <a:off x="8471066" y="2534452"/>
            <a:ext cx="588623" cy="276999"/>
          </a:xfrm>
          <a:prstGeom prst="rect">
            <a:avLst/>
          </a:prstGeom>
          <a:noFill/>
        </p:spPr>
        <p:txBody>
          <a:bodyPr wrap="non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17">
            <a:extLst>
              <a:ext uri="{FF2B5EF4-FFF2-40B4-BE49-F238E27FC236}">
                <a16:creationId xmlns="" xmlns:a16="http://schemas.microsoft.com/office/drawing/2014/main" id="{7526253A-65C1-4D94-BE92-D452ED1E0D73}"/>
              </a:ext>
            </a:extLst>
          </p:cNvPr>
          <p:cNvCxnSpPr/>
          <p:nvPr/>
        </p:nvCxnSpPr>
        <p:spPr bwMode="gray">
          <a:xfrm flipV="1">
            <a:off x="1395415" y="2715769"/>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7" name="直接连接符 18">
            <a:extLst>
              <a:ext uri="{FF2B5EF4-FFF2-40B4-BE49-F238E27FC236}">
                <a16:creationId xmlns="" xmlns:a16="http://schemas.microsoft.com/office/drawing/2014/main" id="{895F2043-B8C2-4FF9-826C-2E842201DE33}"/>
              </a:ext>
            </a:extLst>
          </p:cNvPr>
          <p:cNvCxnSpPr/>
          <p:nvPr/>
        </p:nvCxnSpPr>
        <p:spPr bwMode="gray">
          <a:xfrm flipV="1">
            <a:off x="2384318" y="2715769"/>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8" name="直接箭头连接符 19">
            <a:extLst>
              <a:ext uri="{FF2B5EF4-FFF2-40B4-BE49-F238E27FC236}">
                <a16:creationId xmlns="" xmlns:a16="http://schemas.microsoft.com/office/drawing/2014/main" id="{DCD3BA9D-24A6-40E2-9D61-0EB952E0F290}"/>
              </a:ext>
            </a:extLst>
          </p:cNvPr>
          <p:cNvCxnSpPr/>
          <p:nvPr/>
        </p:nvCxnSpPr>
        <p:spPr bwMode="gray">
          <a:xfrm>
            <a:off x="1395415" y="2780298"/>
            <a:ext cx="988903"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9" name="直接连接符 20">
            <a:extLst>
              <a:ext uri="{FF2B5EF4-FFF2-40B4-BE49-F238E27FC236}">
                <a16:creationId xmlns="" xmlns:a16="http://schemas.microsoft.com/office/drawing/2014/main" id="{7E4E4521-00A9-49B3-A224-455421A97046}"/>
              </a:ext>
            </a:extLst>
          </p:cNvPr>
          <p:cNvCxnSpPr/>
          <p:nvPr/>
        </p:nvCxnSpPr>
        <p:spPr bwMode="gray">
          <a:xfrm flipV="1">
            <a:off x="3373221" y="2949727"/>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0" name="直接连接符 24">
            <a:extLst>
              <a:ext uri="{FF2B5EF4-FFF2-40B4-BE49-F238E27FC236}">
                <a16:creationId xmlns="" xmlns:a16="http://schemas.microsoft.com/office/drawing/2014/main" id="{22DEF232-0F79-42C7-853D-DC36A827261F}"/>
              </a:ext>
            </a:extLst>
          </p:cNvPr>
          <p:cNvCxnSpPr/>
          <p:nvPr/>
        </p:nvCxnSpPr>
        <p:spPr bwMode="gray">
          <a:xfrm flipV="1">
            <a:off x="7003386" y="2715769"/>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1" name="直接连接符 25">
            <a:extLst>
              <a:ext uri="{FF2B5EF4-FFF2-40B4-BE49-F238E27FC236}">
                <a16:creationId xmlns="" xmlns:a16="http://schemas.microsoft.com/office/drawing/2014/main" id="{C286C3D2-1F0C-4746-B412-02BBB08B8F0C}"/>
              </a:ext>
            </a:extLst>
          </p:cNvPr>
          <p:cNvCxnSpPr/>
          <p:nvPr/>
        </p:nvCxnSpPr>
        <p:spPr bwMode="gray">
          <a:xfrm flipV="1">
            <a:off x="10587837" y="2715769"/>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2" name="直接箭头连接符 26">
            <a:extLst>
              <a:ext uri="{FF2B5EF4-FFF2-40B4-BE49-F238E27FC236}">
                <a16:creationId xmlns="" xmlns:a16="http://schemas.microsoft.com/office/drawing/2014/main" id="{A609EF30-F889-4F9E-90DC-8B7A8E4A06F2}"/>
              </a:ext>
            </a:extLst>
          </p:cNvPr>
          <p:cNvCxnSpPr/>
          <p:nvPr/>
        </p:nvCxnSpPr>
        <p:spPr bwMode="gray">
          <a:xfrm>
            <a:off x="7003386" y="2780298"/>
            <a:ext cx="3584451"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13" name="直接箭头连接符 27">
            <a:extLst>
              <a:ext uri="{FF2B5EF4-FFF2-40B4-BE49-F238E27FC236}">
                <a16:creationId xmlns="" xmlns:a16="http://schemas.microsoft.com/office/drawing/2014/main" id="{7707001C-1136-4D31-A952-891BEC5E59AC}"/>
              </a:ext>
            </a:extLst>
          </p:cNvPr>
          <p:cNvCxnSpPr/>
          <p:nvPr/>
        </p:nvCxnSpPr>
        <p:spPr bwMode="gray">
          <a:xfrm flipV="1">
            <a:off x="2384318" y="2780299"/>
            <a:ext cx="4617921" cy="707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14" name="TextBox 55">
            <a:extLst>
              <a:ext uri="{FF2B5EF4-FFF2-40B4-BE49-F238E27FC236}">
                <a16:creationId xmlns="" xmlns:a16="http://schemas.microsoft.com/office/drawing/2014/main" id="{E712333F-E1FC-4938-8005-B09BC1CB3083}"/>
              </a:ext>
            </a:extLst>
          </p:cNvPr>
          <p:cNvSpPr txBox="1"/>
          <p:nvPr/>
        </p:nvSpPr>
        <p:spPr bwMode="gray">
          <a:xfrm>
            <a:off x="3915300" y="2545353"/>
            <a:ext cx="1065914"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箭头连接符 30">
            <a:extLst>
              <a:ext uri="{FF2B5EF4-FFF2-40B4-BE49-F238E27FC236}">
                <a16:creationId xmlns="" xmlns:a16="http://schemas.microsoft.com/office/drawing/2014/main" id="{D4490150-AEEA-41AC-9B05-B99B3167FAF7}"/>
              </a:ext>
            </a:extLst>
          </p:cNvPr>
          <p:cNvCxnSpPr/>
          <p:nvPr/>
        </p:nvCxnSpPr>
        <p:spPr bwMode="gray">
          <a:xfrm>
            <a:off x="3373221" y="3077759"/>
            <a:ext cx="3630165"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16" name="矩形 31">
            <a:extLst>
              <a:ext uri="{FF2B5EF4-FFF2-40B4-BE49-F238E27FC236}">
                <a16:creationId xmlns="" xmlns:a16="http://schemas.microsoft.com/office/drawing/2014/main" id="{A0C71BAE-891E-401A-9F34-DC2A2A9EBE20}"/>
              </a:ext>
            </a:extLst>
          </p:cNvPr>
          <p:cNvSpPr/>
          <p:nvPr/>
        </p:nvSpPr>
        <p:spPr bwMode="gray">
          <a:xfrm>
            <a:off x="2384318" y="3183685"/>
            <a:ext cx="988903"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网络类型</a:t>
            </a:r>
          </a:p>
        </p:txBody>
      </p:sp>
      <p:sp>
        <p:nvSpPr>
          <p:cNvPr id="17" name="矩形 34">
            <a:extLst>
              <a:ext uri="{FF2B5EF4-FFF2-40B4-BE49-F238E27FC236}">
                <a16:creationId xmlns="" xmlns:a16="http://schemas.microsoft.com/office/drawing/2014/main" id="{C98990C6-0356-4351-BBA0-58501EECDDD1}"/>
              </a:ext>
            </a:extLst>
          </p:cNvPr>
          <p:cNvSpPr/>
          <p:nvPr/>
        </p:nvSpPr>
        <p:spPr bwMode="gray">
          <a:xfrm>
            <a:off x="3373221" y="3183685"/>
            <a:ext cx="3630165"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可分配地址块</a:t>
            </a:r>
          </a:p>
        </p:txBody>
      </p:sp>
      <p:sp>
        <p:nvSpPr>
          <p:cNvPr id="18" name="矩形 35">
            <a:extLst>
              <a:ext uri="{FF2B5EF4-FFF2-40B4-BE49-F238E27FC236}">
                <a16:creationId xmlns="" xmlns:a16="http://schemas.microsoft.com/office/drawing/2014/main" id="{B37D2341-9761-4367-BEB0-281209566C27}"/>
              </a:ext>
            </a:extLst>
          </p:cNvPr>
          <p:cNvSpPr/>
          <p:nvPr/>
        </p:nvSpPr>
        <p:spPr bwMode="gray">
          <a:xfrm>
            <a:off x="7003386" y="3183685"/>
            <a:ext cx="3584451" cy="386275"/>
          </a:xfrm>
          <a:prstGeom prst="rect">
            <a:avLst/>
          </a:prstGeom>
          <a:solidFill>
            <a:srgbClr val="F6B7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主机地址</a:t>
            </a:r>
          </a:p>
        </p:txBody>
      </p:sp>
      <p:sp>
        <p:nvSpPr>
          <p:cNvPr id="19" name="矩形 36">
            <a:extLst>
              <a:ext uri="{FF2B5EF4-FFF2-40B4-BE49-F238E27FC236}">
                <a16:creationId xmlns="" xmlns:a16="http://schemas.microsoft.com/office/drawing/2014/main" id="{4794CDD7-4D67-4C5C-A7E6-77E4FBB3C534}"/>
              </a:ext>
            </a:extLst>
          </p:cNvPr>
          <p:cNvSpPr/>
          <p:nvPr/>
        </p:nvSpPr>
        <p:spPr bwMode="gray">
          <a:xfrm>
            <a:off x="1395415" y="3183685"/>
            <a:ext cx="988903" cy="386275"/>
          </a:xfrm>
          <a:prstGeom prst="rect">
            <a:avLst/>
          </a:prstGeom>
          <a:solidFill>
            <a:srgbClr val="F6B7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固定前缀</a:t>
            </a:r>
          </a:p>
        </p:txBody>
      </p:sp>
      <p:cxnSp>
        <p:nvCxnSpPr>
          <p:cNvPr id="20" name="直接箭头连接符 48">
            <a:extLst>
              <a:ext uri="{FF2B5EF4-FFF2-40B4-BE49-F238E27FC236}">
                <a16:creationId xmlns="" xmlns:a16="http://schemas.microsoft.com/office/drawing/2014/main" id="{B5AC9C84-8463-441F-9F24-AA9318553E15}"/>
              </a:ext>
            </a:extLst>
          </p:cNvPr>
          <p:cNvCxnSpPr/>
          <p:nvPr/>
        </p:nvCxnSpPr>
        <p:spPr bwMode="gray">
          <a:xfrm>
            <a:off x="2384318" y="3079845"/>
            <a:ext cx="988903"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21" name="TextBox 38">
            <a:extLst>
              <a:ext uri="{FF2B5EF4-FFF2-40B4-BE49-F238E27FC236}">
                <a16:creationId xmlns="" xmlns:a16="http://schemas.microsoft.com/office/drawing/2014/main" id="{94B4C215-473A-48C3-9DB4-EBD8D597B585}"/>
              </a:ext>
            </a:extLst>
          </p:cNvPr>
          <p:cNvSpPr txBox="1"/>
          <p:nvPr/>
        </p:nvSpPr>
        <p:spPr bwMode="gray">
          <a:xfrm>
            <a:off x="2664995" y="2840551"/>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38">
            <a:extLst>
              <a:ext uri="{FF2B5EF4-FFF2-40B4-BE49-F238E27FC236}">
                <a16:creationId xmlns="" xmlns:a16="http://schemas.microsoft.com/office/drawing/2014/main" id="{E6FD0D89-B5D1-4459-9921-953107664D16}"/>
              </a:ext>
            </a:extLst>
          </p:cNvPr>
          <p:cNvSpPr txBox="1"/>
          <p:nvPr/>
        </p:nvSpPr>
        <p:spPr bwMode="gray">
          <a:xfrm>
            <a:off x="4387627" y="2835316"/>
            <a:ext cx="1241504"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(64-4-N)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53">
            <a:extLst>
              <a:ext uri="{FF2B5EF4-FFF2-40B4-BE49-F238E27FC236}">
                <a16:creationId xmlns="" xmlns:a16="http://schemas.microsoft.com/office/drawing/2014/main" id="{589AEDA9-4578-472D-B250-165B876A251B}"/>
              </a:ext>
            </a:extLst>
          </p:cNvPr>
          <p:cNvSpPr/>
          <p:nvPr/>
        </p:nvSpPr>
        <p:spPr bwMode="gray">
          <a:xfrm>
            <a:off x="1395414" y="3876007"/>
            <a:ext cx="8862103" cy="884345"/>
          </a:xfrm>
          <a:prstGeom prst="rect">
            <a:avLst/>
          </a:prstGeom>
        </p:spPr>
        <p:txBody>
          <a:bodyPr wrap="square">
            <a:spAutoFit/>
          </a:bodyPr>
          <a:lstStyle/>
          <a:p>
            <a:pPr marL="302279" lvl="1" indent="-302279" algn="just" defTabSz="914034" fontAlgn="ctr">
              <a:lnSpc>
                <a:spcPct val="140000"/>
              </a:lnSpc>
              <a:spcBef>
                <a:spcPts val="792"/>
              </a:spcBef>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固定前缀：申请的固定前缀。</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lvl="1" indent="-302279" algn="just" defTabSz="914034" fontAlgn="ctr">
              <a:lnSpc>
                <a:spcPct val="140000"/>
              </a:lnSpc>
              <a:spcBef>
                <a:spcPts val="792"/>
              </a:spcBef>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网络类型：为不同网络的标识，如：</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表示骨干网，</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表示数据中心，</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2~F</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保留。</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7" name="五边形 2">
            <a:extLst>
              <a:ext uri="{FF2B5EF4-FFF2-40B4-BE49-F238E27FC236}">
                <a16:creationId xmlns="" xmlns:a16="http://schemas.microsoft.com/office/drawing/2014/main" id="{B88A5BEB-6A79-406D-8275-437D1FFC5FAD}"/>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28" name="燕尾形 3">
            <a:extLst>
              <a:ext uri="{FF2B5EF4-FFF2-40B4-BE49-F238E27FC236}">
                <a16:creationId xmlns="" xmlns:a16="http://schemas.microsoft.com/office/drawing/2014/main" id="{4FFFE81E-5696-41F9-833F-B5C268E7844C}"/>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3">
            <a:extLst>
              <a:ext uri="{FF2B5EF4-FFF2-40B4-BE49-F238E27FC236}">
                <a16:creationId xmlns="" xmlns:a16="http://schemas.microsoft.com/office/drawing/2014/main" id="{EE599824-18CB-4826-A528-85825D3B5714}"/>
              </a:ext>
            </a:extLst>
          </p:cNvPr>
          <p:cNvSpPr/>
          <p:nvPr/>
        </p:nvSpPr>
        <p:spPr bwMode="gray">
          <a:xfrm>
            <a:off x="9072406" y="44020"/>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74595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D39742-78BA-445A-B168-36D3D4B4C2F7}"/>
              </a:ext>
            </a:extLst>
          </p:cNvPr>
          <p:cNvSpPr>
            <a:spLocks noGrp="1"/>
          </p:cNvSpPr>
          <p:nvPr>
            <p:ph type="title"/>
          </p:nvPr>
        </p:nvSpPr>
        <p:spPr bwMode="gray"/>
        <p:txBody>
          <a:bodyPr/>
          <a:lstStyle/>
          <a:p>
            <a:r>
              <a:rPr lang="en-US" dirty="0"/>
              <a:t>IPv6</a:t>
            </a:r>
            <a:r>
              <a:rPr lang="zh-CN" altLang="en-US" dirty="0"/>
              <a:t>地址规划建议</a:t>
            </a:r>
            <a:endParaRPr lang="en-US" dirty="0"/>
          </a:p>
        </p:txBody>
      </p:sp>
      <p:sp>
        <p:nvSpPr>
          <p:cNvPr id="3" name="Text Placeholder 2">
            <a:extLst>
              <a:ext uri="{FF2B5EF4-FFF2-40B4-BE49-F238E27FC236}">
                <a16:creationId xmlns="" xmlns:a16="http://schemas.microsoft.com/office/drawing/2014/main" id="{6D7CA8F1-841E-4FD7-9D42-F98BA5007F81}"/>
              </a:ext>
            </a:extLst>
          </p:cNvPr>
          <p:cNvSpPr>
            <a:spLocks noGrp="1"/>
          </p:cNvSpPr>
          <p:nvPr>
            <p:ph type="body" sz="quarter" idx="10"/>
          </p:nvPr>
        </p:nvSpPr>
        <p:spPr bwMode="gray">
          <a:xfrm>
            <a:off x="455612" y="1047751"/>
            <a:ext cx="11293475" cy="1215380"/>
          </a:xfrm>
        </p:spPr>
        <p:txBody>
          <a:bodyPr/>
          <a:lstStyle/>
          <a:p>
            <a:r>
              <a:rPr lang="en-US" sz="1800" dirty="0"/>
              <a:t>IP</a:t>
            </a:r>
            <a:r>
              <a:rPr lang="en-US" altLang="zh-CN" sz="1800" dirty="0"/>
              <a:t>v6</a:t>
            </a:r>
            <a:r>
              <a:rPr lang="zh-CN" altLang="en-US" sz="1800" dirty="0"/>
              <a:t>地址规划需要根据其聚合性设计，聚合性强的字段应放在高位，如：地址空间、区域。过度的分层会导致业务与地址规划耦合性强，不便于后续业务发展，同时也会降低地址空间利用率。因此，需要结合现网实际情况确定合理的字段数。</a:t>
            </a:r>
            <a:endParaRPr lang="en-US" sz="1800" dirty="0"/>
          </a:p>
        </p:txBody>
      </p:sp>
      <p:sp>
        <p:nvSpPr>
          <p:cNvPr id="7" name="TextBox 38">
            <a:extLst>
              <a:ext uri="{FF2B5EF4-FFF2-40B4-BE49-F238E27FC236}">
                <a16:creationId xmlns="" xmlns:a16="http://schemas.microsoft.com/office/drawing/2014/main" id="{CB1164B6-EDDE-4283-90FF-C0427BDDBF78}"/>
              </a:ext>
            </a:extLst>
          </p:cNvPr>
          <p:cNvSpPr txBox="1"/>
          <p:nvPr/>
        </p:nvSpPr>
        <p:spPr bwMode="gray">
          <a:xfrm>
            <a:off x="1924153" y="2222602"/>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43">
            <a:extLst>
              <a:ext uri="{FF2B5EF4-FFF2-40B4-BE49-F238E27FC236}">
                <a16:creationId xmlns="" xmlns:a16="http://schemas.microsoft.com/office/drawing/2014/main" id="{F07FF045-E08B-462E-AA00-5FA486F88C24}"/>
              </a:ext>
            </a:extLst>
          </p:cNvPr>
          <p:cNvSpPr txBox="1"/>
          <p:nvPr/>
        </p:nvSpPr>
        <p:spPr bwMode="gray">
          <a:xfrm>
            <a:off x="8735435" y="2205016"/>
            <a:ext cx="588623" cy="276999"/>
          </a:xfrm>
          <a:prstGeom prst="rect">
            <a:avLst/>
          </a:prstGeom>
          <a:noFill/>
        </p:spPr>
        <p:txBody>
          <a:bodyPr wrap="non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17">
            <a:extLst>
              <a:ext uri="{FF2B5EF4-FFF2-40B4-BE49-F238E27FC236}">
                <a16:creationId xmlns="" xmlns:a16="http://schemas.microsoft.com/office/drawing/2014/main" id="{78A35E24-8E7B-4814-8562-AB162CB91475}"/>
              </a:ext>
            </a:extLst>
          </p:cNvPr>
          <p:cNvCxnSpPr/>
          <p:nvPr/>
        </p:nvCxnSpPr>
        <p:spPr bwMode="gray">
          <a:xfrm flipV="1">
            <a:off x="1659784" y="2363473"/>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0" name="直接连接符 18">
            <a:extLst>
              <a:ext uri="{FF2B5EF4-FFF2-40B4-BE49-F238E27FC236}">
                <a16:creationId xmlns="" xmlns:a16="http://schemas.microsoft.com/office/drawing/2014/main" id="{CF1D9B44-2D11-4001-9884-C6368094E411}"/>
              </a:ext>
            </a:extLst>
          </p:cNvPr>
          <p:cNvCxnSpPr/>
          <p:nvPr/>
        </p:nvCxnSpPr>
        <p:spPr bwMode="gray">
          <a:xfrm flipV="1">
            <a:off x="2648687" y="2363473"/>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1" name="直接箭头连接符 19">
            <a:extLst>
              <a:ext uri="{FF2B5EF4-FFF2-40B4-BE49-F238E27FC236}">
                <a16:creationId xmlns="" xmlns:a16="http://schemas.microsoft.com/office/drawing/2014/main" id="{DAB30AD0-B8DC-45DD-9E6A-013EF338AB10}"/>
              </a:ext>
            </a:extLst>
          </p:cNvPr>
          <p:cNvCxnSpPr/>
          <p:nvPr/>
        </p:nvCxnSpPr>
        <p:spPr bwMode="gray">
          <a:xfrm>
            <a:off x="1659784" y="2428002"/>
            <a:ext cx="988903"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12" name="直接连接符 20">
            <a:extLst>
              <a:ext uri="{FF2B5EF4-FFF2-40B4-BE49-F238E27FC236}">
                <a16:creationId xmlns="" xmlns:a16="http://schemas.microsoft.com/office/drawing/2014/main" id="{8448D31D-34EC-4091-8E36-B4A0773D652B}"/>
              </a:ext>
            </a:extLst>
          </p:cNvPr>
          <p:cNvCxnSpPr/>
          <p:nvPr/>
        </p:nvCxnSpPr>
        <p:spPr bwMode="gray">
          <a:xfrm flipV="1">
            <a:off x="3481496" y="2597431"/>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3" name="直接连接符 24">
            <a:extLst>
              <a:ext uri="{FF2B5EF4-FFF2-40B4-BE49-F238E27FC236}">
                <a16:creationId xmlns="" xmlns:a16="http://schemas.microsoft.com/office/drawing/2014/main" id="{0F2AC414-7B5B-43CA-B75B-AEEDAEE1101C}"/>
              </a:ext>
            </a:extLst>
          </p:cNvPr>
          <p:cNvCxnSpPr/>
          <p:nvPr/>
        </p:nvCxnSpPr>
        <p:spPr bwMode="gray">
          <a:xfrm flipV="1">
            <a:off x="7267755" y="2363473"/>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4" name="直接连接符 25">
            <a:extLst>
              <a:ext uri="{FF2B5EF4-FFF2-40B4-BE49-F238E27FC236}">
                <a16:creationId xmlns="" xmlns:a16="http://schemas.microsoft.com/office/drawing/2014/main" id="{6659226F-2A0B-48A5-BC86-BF3992B0ECDE}"/>
              </a:ext>
            </a:extLst>
          </p:cNvPr>
          <p:cNvCxnSpPr/>
          <p:nvPr/>
        </p:nvCxnSpPr>
        <p:spPr bwMode="gray">
          <a:xfrm flipV="1">
            <a:off x="10852206" y="2363473"/>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5" name="直接箭头连接符 26">
            <a:extLst>
              <a:ext uri="{FF2B5EF4-FFF2-40B4-BE49-F238E27FC236}">
                <a16:creationId xmlns="" xmlns:a16="http://schemas.microsoft.com/office/drawing/2014/main" id="{E68C9BFF-3BB6-4C22-A6B1-76ACBB4C10E6}"/>
              </a:ext>
            </a:extLst>
          </p:cNvPr>
          <p:cNvCxnSpPr/>
          <p:nvPr/>
        </p:nvCxnSpPr>
        <p:spPr bwMode="gray">
          <a:xfrm>
            <a:off x="7267755" y="2428002"/>
            <a:ext cx="3584451"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16" name="直接箭头连接符 27">
            <a:extLst>
              <a:ext uri="{FF2B5EF4-FFF2-40B4-BE49-F238E27FC236}">
                <a16:creationId xmlns="" xmlns:a16="http://schemas.microsoft.com/office/drawing/2014/main" id="{820F2817-72EF-4383-90B5-F71488BA1F6E}"/>
              </a:ext>
            </a:extLst>
          </p:cNvPr>
          <p:cNvCxnSpPr/>
          <p:nvPr/>
        </p:nvCxnSpPr>
        <p:spPr bwMode="gray">
          <a:xfrm flipV="1">
            <a:off x="2648687" y="2428003"/>
            <a:ext cx="4617921" cy="707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17" name="TextBox 55">
            <a:extLst>
              <a:ext uri="{FF2B5EF4-FFF2-40B4-BE49-F238E27FC236}">
                <a16:creationId xmlns="" xmlns:a16="http://schemas.microsoft.com/office/drawing/2014/main" id="{12486BE5-9F84-4428-BBA4-857577163335}"/>
              </a:ext>
            </a:extLst>
          </p:cNvPr>
          <p:cNvSpPr txBox="1"/>
          <p:nvPr/>
        </p:nvSpPr>
        <p:spPr bwMode="gray">
          <a:xfrm>
            <a:off x="4179669" y="2215917"/>
            <a:ext cx="1065914"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箭头连接符 30">
            <a:extLst>
              <a:ext uri="{FF2B5EF4-FFF2-40B4-BE49-F238E27FC236}">
                <a16:creationId xmlns="" xmlns:a16="http://schemas.microsoft.com/office/drawing/2014/main" id="{A61A93BB-7DC1-46B6-B29D-17B3C4283FD1}"/>
              </a:ext>
            </a:extLst>
          </p:cNvPr>
          <p:cNvCxnSpPr>
            <a:cxnSpLocks/>
          </p:cNvCxnSpPr>
          <p:nvPr/>
        </p:nvCxnSpPr>
        <p:spPr bwMode="gray">
          <a:xfrm>
            <a:off x="5968744" y="2725463"/>
            <a:ext cx="1299011"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19" name="矩形 31">
            <a:extLst>
              <a:ext uri="{FF2B5EF4-FFF2-40B4-BE49-F238E27FC236}">
                <a16:creationId xmlns="" xmlns:a16="http://schemas.microsoft.com/office/drawing/2014/main" id="{8C62F8F0-90FA-4595-B33A-2512869AA369}"/>
              </a:ext>
            </a:extLst>
          </p:cNvPr>
          <p:cNvSpPr/>
          <p:nvPr/>
        </p:nvSpPr>
        <p:spPr bwMode="gray">
          <a:xfrm>
            <a:off x="2648687" y="2831389"/>
            <a:ext cx="832809"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属性标识</a:t>
            </a:r>
          </a:p>
        </p:txBody>
      </p:sp>
      <p:sp>
        <p:nvSpPr>
          <p:cNvPr id="20" name="矩形 34">
            <a:extLst>
              <a:ext uri="{FF2B5EF4-FFF2-40B4-BE49-F238E27FC236}">
                <a16:creationId xmlns="" xmlns:a16="http://schemas.microsoft.com/office/drawing/2014/main" id="{B21C7625-917E-48A3-B4F3-644A73FAEFF4}"/>
              </a:ext>
            </a:extLst>
          </p:cNvPr>
          <p:cNvSpPr/>
          <p:nvPr/>
        </p:nvSpPr>
        <p:spPr bwMode="gray">
          <a:xfrm>
            <a:off x="3478841" y="2831389"/>
            <a:ext cx="832806"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网络类型</a:t>
            </a:r>
          </a:p>
        </p:txBody>
      </p:sp>
      <p:sp>
        <p:nvSpPr>
          <p:cNvPr id="21" name="矩形 35">
            <a:extLst>
              <a:ext uri="{FF2B5EF4-FFF2-40B4-BE49-F238E27FC236}">
                <a16:creationId xmlns="" xmlns:a16="http://schemas.microsoft.com/office/drawing/2014/main" id="{7D25E851-0DF0-4FD0-B801-32D1370CD8A0}"/>
              </a:ext>
            </a:extLst>
          </p:cNvPr>
          <p:cNvSpPr/>
          <p:nvPr/>
        </p:nvSpPr>
        <p:spPr bwMode="gray">
          <a:xfrm>
            <a:off x="7267755" y="2831389"/>
            <a:ext cx="3584451" cy="386275"/>
          </a:xfrm>
          <a:prstGeom prst="rect">
            <a:avLst/>
          </a:prstGeom>
          <a:solidFill>
            <a:srgbClr val="F6B7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主机地址</a:t>
            </a:r>
          </a:p>
        </p:txBody>
      </p:sp>
      <p:sp>
        <p:nvSpPr>
          <p:cNvPr id="22" name="矩形 36">
            <a:extLst>
              <a:ext uri="{FF2B5EF4-FFF2-40B4-BE49-F238E27FC236}">
                <a16:creationId xmlns="" xmlns:a16="http://schemas.microsoft.com/office/drawing/2014/main" id="{25CC3AE5-452F-4ACE-BCF7-C875173DD263}"/>
              </a:ext>
            </a:extLst>
          </p:cNvPr>
          <p:cNvSpPr/>
          <p:nvPr/>
        </p:nvSpPr>
        <p:spPr bwMode="gray">
          <a:xfrm>
            <a:off x="1659784" y="2831389"/>
            <a:ext cx="988903" cy="386275"/>
          </a:xfrm>
          <a:prstGeom prst="rect">
            <a:avLst/>
          </a:prstGeom>
          <a:solidFill>
            <a:srgbClr val="F6B7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固定前缀</a:t>
            </a:r>
          </a:p>
        </p:txBody>
      </p:sp>
      <p:cxnSp>
        <p:nvCxnSpPr>
          <p:cNvPr id="23" name="直接箭头连接符 48">
            <a:extLst>
              <a:ext uri="{FF2B5EF4-FFF2-40B4-BE49-F238E27FC236}">
                <a16:creationId xmlns="" xmlns:a16="http://schemas.microsoft.com/office/drawing/2014/main" id="{F8F4F76C-A35B-4865-AD2C-6E93285A11DE}"/>
              </a:ext>
            </a:extLst>
          </p:cNvPr>
          <p:cNvCxnSpPr>
            <a:cxnSpLocks/>
          </p:cNvCxnSpPr>
          <p:nvPr/>
        </p:nvCxnSpPr>
        <p:spPr bwMode="gray">
          <a:xfrm flipV="1">
            <a:off x="2648687" y="2723377"/>
            <a:ext cx="832809" cy="4172"/>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24" name="TextBox 38">
            <a:extLst>
              <a:ext uri="{FF2B5EF4-FFF2-40B4-BE49-F238E27FC236}">
                <a16:creationId xmlns="" xmlns:a16="http://schemas.microsoft.com/office/drawing/2014/main" id="{B15C42F0-6AA4-40D2-979A-BFD895256971}"/>
              </a:ext>
            </a:extLst>
          </p:cNvPr>
          <p:cNvSpPr txBox="1"/>
          <p:nvPr/>
        </p:nvSpPr>
        <p:spPr bwMode="gray">
          <a:xfrm>
            <a:off x="2791813" y="2511115"/>
            <a:ext cx="543351"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38">
            <a:extLst>
              <a:ext uri="{FF2B5EF4-FFF2-40B4-BE49-F238E27FC236}">
                <a16:creationId xmlns="" xmlns:a16="http://schemas.microsoft.com/office/drawing/2014/main" id="{518A708D-7B93-4B92-B189-00A05B4FE6D5}"/>
              </a:ext>
            </a:extLst>
          </p:cNvPr>
          <p:cNvSpPr txBox="1"/>
          <p:nvPr/>
        </p:nvSpPr>
        <p:spPr bwMode="gray">
          <a:xfrm>
            <a:off x="5932885" y="2493378"/>
            <a:ext cx="1289104"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(64-16-N)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34">
            <a:extLst>
              <a:ext uri="{FF2B5EF4-FFF2-40B4-BE49-F238E27FC236}">
                <a16:creationId xmlns="" xmlns:a16="http://schemas.microsoft.com/office/drawing/2014/main" id="{9DE1006E-099B-419B-ABFC-4CDC26CAAB31}"/>
              </a:ext>
            </a:extLst>
          </p:cNvPr>
          <p:cNvSpPr/>
          <p:nvPr/>
        </p:nvSpPr>
        <p:spPr bwMode="gray">
          <a:xfrm>
            <a:off x="4308991" y="2832060"/>
            <a:ext cx="832806"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地址类型</a:t>
            </a:r>
          </a:p>
        </p:txBody>
      </p:sp>
      <p:sp>
        <p:nvSpPr>
          <p:cNvPr id="27" name="矩形 34">
            <a:extLst>
              <a:ext uri="{FF2B5EF4-FFF2-40B4-BE49-F238E27FC236}">
                <a16:creationId xmlns="" xmlns:a16="http://schemas.microsoft.com/office/drawing/2014/main" id="{5F931EBC-BB66-48C2-BB0D-2559661CB91F}"/>
              </a:ext>
            </a:extLst>
          </p:cNvPr>
          <p:cNvSpPr/>
          <p:nvPr/>
        </p:nvSpPr>
        <p:spPr bwMode="gray">
          <a:xfrm>
            <a:off x="5141798" y="2832478"/>
            <a:ext cx="826946"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地域</a:t>
            </a:r>
          </a:p>
        </p:txBody>
      </p:sp>
      <p:sp>
        <p:nvSpPr>
          <p:cNvPr id="28" name="矩形 34">
            <a:extLst>
              <a:ext uri="{FF2B5EF4-FFF2-40B4-BE49-F238E27FC236}">
                <a16:creationId xmlns="" xmlns:a16="http://schemas.microsoft.com/office/drawing/2014/main" id="{61BE988A-273F-4640-9D08-F74F738E3827}"/>
              </a:ext>
            </a:extLst>
          </p:cNvPr>
          <p:cNvSpPr/>
          <p:nvPr/>
        </p:nvSpPr>
        <p:spPr bwMode="gray">
          <a:xfrm>
            <a:off x="5968744" y="2832478"/>
            <a:ext cx="1297860"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可分配地址块</a:t>
            </a:r>
          </a:p>
        </p:txBody>
      </p:sp>
      <p:sp>
        <p:nvSpPr>
          <p:cNvPr id="29" name="矩形 53">
            <a:extLst>
              <a:ext uri="{FF2B5EF4-FFF2-40B4-BE49-F238E27FC236}">
                <a16:creationId xmlns="" xmlns:a16="http://schemas.microsoft.com/office/drawing/2014/main" id="{6F4CA007-8150-4BD5-95E5-81F79A13D28F}"/>
              </a:ext>
            </a:extLst>
          </p:cNvPr>
          <p:cNvSpPr/>
          <p:nvPr/>
        </p:nvSpPr>
        <p:spPr bwMode="gray">
          <a:xfrm>
            <a:off x="1659784" y="3209609"/>
            <a:ext cx="9192422" cy="2943883"/>
          </a:xfrm>
          <a:prstGeom prst="rect">
            <a:avLst/>
          </a:prstGeom>
        </p:spPr>
        <p:txBody>
          <a:bodyPr wrap="square">
            <a:spAutoFit/>
          </a:bodyPr>
          <a:lstStyle/>
          <a:p>
            <a:pPr marL="302279" lvl="1" indent="-302279" algn="just" defTabSz="914034" fontAlgn="ctr">
              <a:lnSpc>
                <a:spcPct val="140000"/>
              </a:lnSpc>
              <a:spcBef>
                <a:spcPts val="792"/>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固定前缀：企业从地址分配机构申请的前缀，长度固定。</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lvl="1" indent="-302279" algn="just" defTabSz="914034" fontAlgn="ctr">
              <a:lnSpc>
                <a:spcPct val="140000"/>
              </a:lnSpc>
              <a:spcBef>
                <a:spcPts val="792"/>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子网：</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属性标识：作为地址的第一级分类，用于区分地址类型。</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网络类型：用于标识不同类型网络。</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地址类型：在网络中标识不同地址的类型。</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地域标识：在网络标识不同的地域。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fontAlgn="ctr">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可分配地址块：预留的可用于未来继续分配的地址块。</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302279" lvl="1" indent="-302279" algn="just" defTabSz="914034" fontAlgn="ctr">
              <a:lnSpc>
                <a:spcPct val="140000"/>
              </a:lnSpc>
              <a:spcBef>
                <a:spcPts val="792"/>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接口地址：</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64</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位，相当于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地址中的主机</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20">
            <a:extLst>
              <a:ext uri="{FF2B5EF4-FFF2-40B4-BE49-F238E27FC236}">
                <a16:creationId xmlns="" xmlns:a16="http://schemas.microsoft.com/office/drawing/2014/main" id="{6F9ECC4A-0101-4D93-80C6-7D4DD4DAB44D}"/>
              </a:ext>
            </a:extLst>
          </p:cNvPr>
          <p:cNvCxnSpPr/>
          <p:nvPr/>
        </p:nvCxnSpPr>
        <p:spPr bwMode="gray">
          <a:xfrm flipV="1">
            <a:off x="4308439" y="2592668"/>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3" name="直接箭头连接符 48">
            <a:extLst>
              <a:ext uri="{FF2B5EF4-FFF2-40B4-BE49-F238E27FC236}">
                <a16:creationId xmlns="" xmlns:a16="http://schemas.microsoft.com/office/drawing/2014/main" id="{874DE70D-88DB-410C-8B24-30A1E2354526}"/>
              </a:ext>
            </a:extLst>
          </p:cNvPr>
          <p:cNvCxnSpPr>
            <a:cxnSpLocks/>
          </p:cNvCxnSpPr>
          <p:nvPr/>
        </p:nvCxnSpPr>
        <p:spPr bwMode="gray">
          <a:xfrm flipV="1">
            <a:off x="3475630" y="2718614"/>
            <a:ext cx="832809" cy="4172"/>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35" name="直接连接符 20">
            <a:extLst>
              <a:ext uri="{FF2B5EF4-FFF2-40B4-BE49-F238E27FC236}">
                <a16:creationId xmlns="" xmlns:a16="http://schemas.microsoft.com/office/drawing/2014/main" id="{C59C5478-9FEA-478A-9723-AF55557F0865}"/>
              </a:ext>
            </a:extLst>
          </p:cNvPr>
          <p:cNvCxnSpPr/>
          <p:nvPr/>
        </p:nvCxnSpPr>
        <p:spPr bwMode="gray">
          <a:xfrm flipV="1">
            <a:off x="5141800" y="2593259"/>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6" name="直接箭头连接符 48">
            <a:extLst>
              <a:ext uri="{FF2B5EF4-FFF2-40B4-BE49-F238E27FC236}">
                <a16:creationId xmlns="" xmlns:a16="http://schemas.microsoft.com/office/drawing/2014/main" id="{8724DFA4-376F-4130-89F0-95BB8A0FACF8}"/>
              </a:ext>
            </a:extLst>
          </p:cNvPr>
          <p:cNvCxnSpPr>
            <a:cxnSpLocks/>
          </p:cNvCxnSpPr>
          <p:nvPr/>
        </p:nvCxnSpPr>
        <p:spPr bwMode="gray">
          <a:xfrm flipV="1">
            <a:off x="4308991" y="2719205"/>
            <a:ext cx="832809" cy="4172"/>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38" name="直接连接符 20">
            <a:extLst>
              <a:ext uri="{FF2B5EF4-FFF2-40B4-BE49-F238E27FC236}">
                <a16:creationId xmlns="" xmlns:a16="http://schemas.microsoft.com/office/drawing/2014/main" id="{CDDCC58B-652D-4744-881E-55DBFAF0298D}"/>
              </a:ext>
            </a:extLst>
          </p:cNvPr>
          <p:cNvCxnSpPr/>
          <p:nvPr/>
        </p:nvCxnSpPr>
        <p:spPr bwMode="gray">
          <a:xfrm flipV="1">
            <a:off x="5968744" y="2586628"/>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9" name="直接箭头连接符 48">
            <a:extLst>
              <a:ext uri="{FF2B5EF4-FFF2-40B4-BE49-F238E27FC236}">
                <a16:creationId xmlns="" xmlns:a16="http://schemas.microsoft.com/office/drawing/2014/main" id="{8B1347CA-940F-445E-93EA-7E1D88611905}"/>
              </a:ext>
            </a:extLst>
          </p:cNvPr>
          <p:cNvCxnSpPr>
            <a:cxnSpLocks/>
          </p:cNvCxnSpPr>
          <p:nvPr/>
        </p:nvCxnSpPr>
        <p:spPr bwMode="gray">
          <a:xfrm>
            <a:off x="5147251" y="2716746"/>
            <a:ext cx="827907"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46" name="五边形 2">
            <a:extLst>
              <a:ext uri="{FF2B5EF4-FFF2-40B4-BE49-F238E27FC236}">
                <a16:creationId xmlns="" xmlns:a16="http://schemas.microsoft.com/office/drawing/2014/main" id="{DE3255CB-7A5D-4047-BE73-48CDD6D09451}"/>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47" name="燕尾形 3">
            <a:extLst>
              <a:ext uri="{FF2B5EF4-FFF2-40B4-BE49-F238E27FC236}">
                <a16:creationId xmlns="" xmlns:a16="http://schemas.microsoft.com/office/drawing/2014/main" id="{F96BFDAB-46F1-425B-80D6-6E4DC01FB988}"/>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3">
            <a:extLst>
              <a:ext uri="{FF2B5EF4-FFF2-40B4-BE49-F238E27FC236}">
                <a16:creationId xmlns="" xmlns:a16="http://schemas.microsoft.com/office/drawing/2014/main" id="{C453C9BC-FE27-46EA-B805-1815F698C080}"/>
              </a:ext>
            </a:extLst>
          </p:cNvPr>
          <p:cNvSpPr/>
          <p:nvPr/>
        </p:nvSpPr>
        <p:spPr bwMode="gray">
          <a:xfrm>
            <a:off x="9072406" y="44020"/>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38">
            <a:extLst>
              <a:ext uri="{FF2B5EF4-FFF2-40B4-BE49-F238E27FC236}">
                <a16:creationId xmlns="" xmlns:a16="http://schemas.microsoft.com/office/drawing/2014/main" id="{B15C42F0-6AA4-40D2-979A-BFD895256971}"/>
              </a:ext>
            </a:extLst>
          </p:cNvPr>
          <p:cNvSpPr txBox="1"/>
          <p:nvPr/>
        </p:nvSpPr>
        <p:spPr bwMode="gray">
          <a:xfrm>
            <a:off x="3623293" y="2511115"/>
            <a:ext cx="543351"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38">
            <a:extLst>
              <a:ext uri="{FF2B5EF4-FFF2-40B4-BE49-F238E27FC236}">
                <a16:creationId xmlns="" xmlns:a16="http://schemas.microsoft.com/office/drawing/2014/main" id="{B15C42F0-6AA4-40D2-979A-BFD895256971}"/>
              </a:ext>
            </a:extLst>
          </p:cNvPr>
          <p:cNvSpPr txBox="1"/>
          <p:nvPr/>
        </p:nvSpPr>
        <p:spPr bwMode="gray">
          <a:xfrm>
            <a:off x="4465069" y="2511115"/>
            <a:ext cx="543351"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38">
            <a:extLst>
              <a:ext uri="{FF2B5EF4-FFF2-40B4-BE49-F238E27FC236}">
                <a16:creationId xmlns="" xmlns:a16="http://schemas.microsoft.com/office/drawing/2014/main" id="{B15C42F0-6AA4-40D2-979A-BFD895256971}"/>
              </a:ext>
            </a:extLst>
          </p:cNvPr>
          <p:cNvSpPr txBox="1"/>
          <p:nvPr/>
        </p:nvSpPr>
        <p:spPr bwMode="gray">
          <a:xfrm>
            <a:off x="5258220" y="2511115"/>
            <a:ext cx="543351" cy="276999"/>
          </a:xfrm>
          <a:prstGeom prst="rect">
            <a:avLst/>
          </a:prstGeom>
          <a:noFill/>
        </p:spPr>
        <p:txBody>
          <a:bodyPr wrap="square" rtlCol="0">
            <a:spAutoFit/>
          </a:bodyPr>
          <a:lstStyle/>
          <a:p>
            <a:pPr algn="ct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80887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75D78D-B8AB-4FF3-9A6E-E3A2CED36E2D}"/>
              </a:ext>
            </a:extLst>
          </p:cNvPr>
          <p:cNvSpPr>
            <a:spLocks noGrp="1"/>
          </p:cNvSpPr>
          <p:nvPr>
            <p:ph type="title"/>
          </p:nvPr>
        </p:nvSpPr>
        <p:spPr bwMode="gray"/>
        <p:txBody>
          <a:bodyPr/>
          <a:lstStyle/>
          <a:p>
            <a:r>
              <a:rPr lang="en-US" altLang="zh-CN" dirty="0"/>
              <a:t>IPv6</a:t>
            </a:r>
            <a:r>
              <a:rPr lang="zh-CN" altLang="en-US" dirty="0"/>
              <a:t>地址典型规划</a:t>
            </a:r>
            <a:endParaRPr lang="en-US" dirty="0"/>
          </a:p>
        </p:txBody>
      </p:sp>
      <p:sp>
        <p:nvSpPr>
          <p:cNvPr id="3" name="Text Placeholder 2">
            <a:extLst>
              <a:ext uri="{FF2B5EF4-FFF2-40B4-BE49-F238E27FC236}">
                <a16:creationId xmlns="" xmlns:a16="http://schemas.microsoft.com/office/drawing/2014/main" id="{8264EF81-CCE7-4927-B6AD-59D0DCC543CA}"/>
              </a:ext>
            </a:extLst>
          </p:cNvPr>
          <p:cNvSpPr>
            <a:spLocks noGrp="1"/>
          </p:cNvSpPr>
          <p:nvPr>
            <p:ph type="body" sz="quarter" idx="10"/>
          </p:nvPr>
        </p:nvSpPr>
        <p:spPr bwMode="gray">
          <a:xfrm>
            <a:off x="455612" y="1047750"/>
            <a:ext cx="11293475" cy="471135"/>
          </a:xfrm>
        </p:spPr>
        <p:txBody>
          <a:bodyPr/>
          <a:lstStyle/>
          <a:p>
            <a:r>
              <a:rPr lang="en-US" altLang="zh-CN" sz="1600" dirty="0"/>
              <a:t>IPv6</a:t>
            </a:r>
            <a:r>
              <a:rPr lang="zh-CN" altLang="en-US" sz="1600" dirty="0"/>
              <a:t>地址可基于规划建议规划，或者基于公司的规划原则统一规划。</a:t>
            </a:r>
            <a:endParaRPr lang="en-US" altLang="zh-CN" sz="1600" dirty="0"/>
          </a:p>
        </p:txBody>
      </p:sp>
      <p:sp>
        <p:nvSpPr>
          <p:cNvPr id="7" name="五边形 2">
            <a:extLst>
              <a:ext uri="{FF2B5EF4-FFF2-40B4-BE49-F238E27FC236}">
                <a16:creationId xmlns="" xmlns:a16="http://schemas.microsoft.com/office/drawing/2014/main" id="{475E7572-EC50-4DA5-B266-7997C4052DAD}"/>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8" name="燕尾形 3">
            <a:extLst>
              <a:ext uri="{FF2B5EF4-FFF2-40B4-BE49-F238E27FC236}">
                <a16:creationId xmlns="" xmlns:a16="http://schemas.microsoft.com/office/drawing/2014/main" id="{A81D54F1-164A-4AB7-8BB8-663144E71A3C}"/>
              </a:ext>
            </a:extLst>
          </p:cNvPr>
          <p:cNvSpPr/>
          <p:nvPr/>
        </p:nvSpPr>
        <p:spPr bwMode="gray">
          <a:xfrm>
            <a:off x="10187805" y="44020"/>
            <a:ext cx="156128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a:extLst>
              <a:ext uri="{FF2B5EF4-FFF2-40B4-BE49-F238E27FC236}">
                <a16:creationId xmlns="" xmlns:a16="http://schemas.microsoft.com/office/drawing/2014/main" id="{D9A8F772-DEFF-41C1-A5CE-30BE82C5422E}"/>
              </a:ext>
            </a:extLst>
          </p:cNvPr>
          <p:cNvSpPr/>
          <p:nvPr/>
        </p:nvSpPr>
        <p:spPr bwMode="gray">
          <a:xfrm>
            <a:off x="9072406" y="44020"/>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48">
            <a:extLst>
              <a:ext uri="{FF2B5EF4-FFF2-40B4-BE49-F238E27FC236}">
                <a16:creationId xmlns="" xmlns:a16="http://schemas.microsoft.com/office/drawing/2014/main" id="{FA1A34F0-5CC0-4912-939C-D263D070CA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633279" y="3257202"/>
            <a:ext cx="378863" cy="310667"/>
          </a:xfrm>
          <a:prstGeom prst="rect">
            <a:avLst/>
          </a:prstGeom>
        </p:spPr>
      </p:pic>
      <p:pic>
        <p:nvPicPr>
          <p:cNvPr id="11" name="图片 48">
            <a:extLst>
              <a:ext uri="{FF2B5EF4-FFF2-40B4-BE49-F238E27FC236}">
                <a16:creationId xmlns="" xmlns:a16="http://schemas.microsoft.com/office/drawing/2014/main" id="{37FD8858-F667-4127-99BB-395720821D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633279" y="5402938"/>
            <a:ext cx="378863" cy="310667"/>
          </a:xfrm>
          <a:prstGeom prst="rect">
            <a:avLst/>
          </a:prstGeom>
        </p:spPr>
      </p:pic>
      <p:pic>
        <p:nvPicPr>
          <p:cNvPr id="12" name="图片 48">
            <a:extLst>
              <a:ext uri="{FF2B5EF4-FFF2-40B4-BE49-F238E27FC236}">
                <a16:creationId xmlns="" xmlns:a16="http://schemas.microsoft.com/office/drawing/2014/main" id="{9EEA590C-40BD-42A1-8E69-375154A574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88441" y="3258882"/>
            <a:ext cx="378863" cy="310667"/>
          </a:xfrm>
          <a:prstGeom prst="rect">
            <a:avLst/>
          </a:prstGeom>
        </p:spPr>
      </p:pic>
      <p:pic>
        <p:nvPicPr>
          <p:cNvPr id="13" name="图片 48">
            <a:extLst>
              <a:ext uri="{FF2B5EF4-FFF2-40B4-BE49-F238E27FC236}">
                <a16:creationId xmlns="" xmlns:a16="http://schemas.microsoft.com/office/drawing/2014/main" id="{3B400597-11E0-48C7-A1EA-D33BD90EF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88441" y="5404618"/>
            <a:ext cx="378863" cy="310667"/>
          </a:xfrm>
          <a:prstGeom prst="rect">
            <a:avLst/>
          </a:prstGeom>
        </p:spPr>
      </p:pic>
      <p:sp>
        <p:nvSpPr>
          <p:cNvPr id="16" name="圆角矩形 75">
            <a:extLst>
              <a:ext uri="{FF2B5EF4-FFF2-40B4-BE49-F238E27FC236}">
                <a16:creationId xmlns="" xmlns:a16="http://schemas.microsoft.com/office/drawing/2014/main" id="{E7285C79-3C5A-4892-9EBC-9E16D48C0D8A}"/>
              </a:ext>
            </a:extLst>
          </p:cNvPr>
          <p:cNvSpPr/>
          <p:nvPr/>
        </p:nvSpPr>
        <p:spPr bwMode="gray">
          <a:xfrm>
            <a:off x="2324100" y="3038474"/>
            <a:ext cx="3104785" cy="292767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7" name="Straight Connector 16">
            <a:extLst>
              <a:ext uri="{FF2B5EF4-FFF2-40B4-BE49-F238E27FC236}">
                <a16:creationId xmlns="" xmlns:a16="http://schemas.microsoft.com/office/drawing/2014/main" id="{1A4C9F04-A2F8-4894-B8A2-7D2DBBE15DD6}"/>
              </a:ext>
            </a:extLst>
          </p:cNvPr>
          <p:cNvCxnSpPr>
            <a:cxnSpLocks/>
            <a:stCxn id="11" idx="0"/>
            <a:endCxn id="10" idx="2"/>
          </p:cNvCxnSpPr>
          <p:nvPr/>
        </p:nvCxnSpPr>
        <p:spPr bwMode="gray">
          <a:xfrm flipV="1">
            <a:off x="2822711" y="3567869"/>
            <a:ext cx="0" cy="18350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9332399F-86F7-448D-A651-942226125A64}"/>
              </a:ext>
            </a:extLst>
          </p:cNvPr>
          <p:cNvCxnSpPr>
            <a:cxnSpLocks/>
            <a:stCxn id="12" idx="1"/>
            <a:endCxn id="10" idx="3"/>
          </p:cNvCxnSpPr>
          <p:nvPr/>
        </p:nvCxnSpPr>
        <p:spPr bwMode="gray">
          <a:xfrm flipH="1" flipV="1">
            <a:off x="3012142" y="3412536"/>
            <a:ext cx="177629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ACD41D65-0179-44C6-BA53-891C7CF4427E}"/>
              </a:ext>
            </a:extLst>
          </p:cNvPr>
          <p:cNvCxnSpPr>
            <a:cxnSpLocks/>
            <a:stCxn id="13" idx="1"/>
            <a:endCxn id="11" idx="3"/>
          </p:cNvCxnSpPr>
          <p:nvPr/>
        </p:nvCxnSpPr>
        <p:spPr bwMode="gray">
          <a:xfrm flipH="1" flipV="1">
            <a:off x="3012142" y="5558272"/>
            <a:ext cx="177629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8816A2BD-083C-4E14-B921-BB9D24E05C6E}"/>
              </a:ext>
            </a:extLst>
          </p:cNvPr>
          <p:cNvCxnSpPr>
            <a:cxnSpLocks/>
            <a:stCxn id="13" idx="0"/>
            <a:endCxn id="12" idx="2"/>
          </p:cNvCxnSpPr>
          <p:nvPr/>
        </p:nvCxnSpPr>
        <p:spPr bwMode="gray">
          <a:xfrm flipV="1">
            <a:off x="4977873" y="3569549"/>
            <a:ext cx="0" cy="18350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2BFB37C1-A406-4AF6-8212-FD8545CCFD15}"/>
              </a:ext>
            </a:extLst>
          </p:cNvPr>
          <p:cNvCxnSpPr>
            <a:cxnSpLocks/>
            <a:stCxn id="25" idx="3"/>
            <a:endCxn id="10" idx="1"/>
          </p:cNvCxnSpPr>
          <p:nvPr/>
        </p:nvCxnSpPr>
        <p:spPr bwMode="gray">
          <a:xfrm>
            <a:off x="945352" y="3412535"/>
            <a:ext cx="1687927"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5" name="图片 48">
            <a:extLst>
              <a:ext uri="{FF2B5EF4-FFF2-40B4-BE49-F238E27FC236}">
                <a16:creationId xmlns="" xmlns:a16="http://schemas.microsoft.com/office/drawing/2014/main" id="{080BAFB7-3915-4DE8-8597-E7A34DACFD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66489" y="3257201"/>
            <a:ext cx="378863" cy="310667"/>
          </a:xfrm>
          <a:prstGeom prst="rect">
            <a:avLst/>
          </a:prstGeom>
        </p:spPr>
      </p:pic>
      <p:pic>
        <p:nvPicPr>
          <p:cNvPr id="26" name="图片 48">
            <a:extLst>
              <a:ext uri="{FF2B5EF4-FFF2-40B4-BE49-F238E27FC236}">
                <a16:creationId xmlns="" xmlns:a16="http://schemas.microsoft.com/office/drawing/2014/main" id="{F108EC62-F151-4965-8687-7A92290565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66489" y="5404736"/>
            <a:ext cx="378863" cy="310667"/>
          </a:xfrm>
          <a:prstGeom prst="rect">
            <a:avLst/>
          </a:prstGeom>
        </p:spPr>
      </p:pic>
      <p:cxnSp>
        <p:nvCxnSpPr>
          <p:cNvPr id="27" name="Straight Connector 26">
            <a:extLst>
              <a:ext uri="{FF2B5EF4-FFF2-40B4-BE49-F238E27FC236}">
                <a16:creationId xmlns="" xmlns:a16="http://schemas.microsoft.com/office/drawing/2014/main" id="{84AE2E9F-8A9F-4A97-ABDC-57C374696661}"/>
              </a:ext>
            </a:extLst>
          </p:cNvPr>
          <p:cNvCxnSpPr>
            <a:cxnSpLocks/>
            <a:stCxn id="26" idx="3"/>
            <a:endCxn id="11" idx="1"/>
          </p:cNvCxnSpPr>
          <p:nvPr/>
        </p:nvCxnSpPr>
        <p:spPr bwMode="gray">
          <a:xfrm flipV="1">
            <a:off x="945352" y="5558272"/>
            <a:ext cx="1687927"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271">
            <a:extLst>
              <a:ext uri="{FF2B5EF4-FFF2-40B4-BE49-F238E27FC236}">
                <a16:creationId xmlns="" xmlns:a16="http://schemas.microsoft.com/office/drawing/2014/main" id="{1ABC9AC1-6F18-42B3-AFB0-7A8329ECD5D5}"/>
              </a:ext>
            </a:extLst>
          </p:cNvPr>
          <p:cNvSpPr txBox="1"/>
          <p:nvPr/>
        </p:nvSpPr>
        <p:spPr bwMode="gray">
          <a:xfrm>
            <a:off x="2600535" y="3040050"/>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271">
            <a:extLst>
              <a:ext uri="{FF2B5EF4-FFF2-40B4-BE49-F238E27FC236}">
                <a16:creationId xmlns="" xmlns:a16="http://schemas.microsoft.com/office/drawing/2014/main" id="{AC7CE82F-9D6D-491B-8A44-97044372CE82}"/>
              </a:ext>
            </a:extLst>
          </p:cNvPr>
          <p:cNvSpPr txBox="1"/>
          <p:nvPr/>
        </p:nvSpPr>
        <p:spPr bwMode="gray">
          <a:xfrm>
            <a:off x="2597676" y="5674072"/>
            <a:ext cx="44435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271">
            <a:extLst>
              <a:ext uri="{FF2B5EF4-FFF2-40B4-BE49-F238E27FC236}">
                <a16:creationId xmlns="" xmlns:a16="http://schemas.microsoft.com/office/drawing/2014/main" id="{9188571D-BD9E-47EF-B5BE-926352071346}"/>
              </a:ext>
            </a:extLst>
          </p:cNvPr>
          <p:cNvSpPr txBox="1"/>
          <p:nvPr/>
        </p:nvSpPr>
        <p:spPr bwMode="gray">
          <a:xfrm>
            <a:off x="4797248" y="3040050"/>
            <a:ext cx="361245"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271">
            <a:extLst>
              <a:ext uri="{FF2B5EF4-FFF2-40B4-BE49-F238E27FC236}">
                <a16:creationId xmlns="" xmlns:a16="http://schemas.microsoft.com/office/drawing/2014/main" id="{11D43865-B0E0-4BCF-B7A3-FC11F30B81BA}"/>
              </a:ext>
            </a:extLst>
          </p:cNvPr>
          <p:cNvSpPr txBox="1"/>
          <p:nvPr/>
        </p:nvSpPr>
        <p:spPr bwMode="gray">
          <a:xfrm>
            <a:off x="4778121" y="5678380"/>
            <a:ext cx="3788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271">
            <a:extLst>
              <a:ext uri="{FF2B5EF4-FFF2-40B4-BE49-F238E27FC236}">
                <a16:creationId xmlns="" xmlns:a16="http://schemas.microsoft.com/office/drawing/2014/main" id="{1E74FA6C-C1C4-4CAA-9754-17BDFE480AF7}"/>
              </a:ext>
            </a:extLst>
          </p:cNvPr>
          <p:cNvSpPr txBox="1"/>
          <p:nvPr/>
        </p:nvSpPr>
        <p:spPr bwMode="gray">
          <a:xfrm>
            <a:off x="527402" y="5670885"/>
            <a:ext cx="478252"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271">
            <a:extLst>
              <a:ext uri="{FF2B5EF4-FFF2-40B4-BE49-F238E27FC236}">
                <a16:creationId xmlns="" xmlns:a16="http://schemas.microsoft.com/office/drawing/2014/main" id="{413EEB5B-9F9D-42E8-A0B9-F6DB754915DE}"/>
              </a:ext>
            </a:extLst>
          </p:cNvPr>
          <p:cNvSpPr txBox="1"/>
          <p:nvPr/>
        </p:nvSpPr>
        <p:spPr bwMode="gray">
          <a:xfrm>
            <a:off x="566488" y="3038474"/>
            <a:ext cx="478252"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8">
            <a:extLst>
              <a:ext uri="{FF2B5EF4-FFF2-40B4-BE49-F238E27FC236}">
                <a16:creationId xmlns="" xmlns:a16="http://schemas.microsoft.com/office/drawing/2014/main" id="{77F69C57-A2D2-4992-A5E9-1A1AD20DB0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048378" y="3258882"/>
            <a:ext cx="378863" cy="310667"/>
          </a:xfrm>
          <a:prstGeom prst="rect">
            <a:avLst/>
          </a:prstGeom>
        </p:spPr>
      </p:pic>
      <p:pic>
        <p:nvPicPr>
          <p:cNvPr id="49" name="图片 48">
            <a:extLst>
              <a:ext uri="{FF2B5EF4-FFF2-40B4-BE49-F238E27FC236}">
                <a16:creationId xmlns="" xmlns:a16="http://schemas.microsoft.com/office/drawing/2014/main" id="{85CC6917-0DC5-42A7-8C4E-A6C9E4E78A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048378" y="5404618"/>
            <a:ext cx="378863" cy="310667"/>
          </a:xfrm>
          <a:prstGeom prst="rect">
            <a:avLst/>
          </a:prstGeom>
        </p:spPr>
      </p:pic>
      <p:pic>
        <p:nvPicPr>
          <p:cNvPr id="50" name="图片 48">
            <a:extLst>
              <a:ext uri="{FF2B5EF4-FFF2-40B4-BE49-F238E27FC236}">
                <a16:creationId xmlns="" xmlns:a16="http://schemas.microsoft.com/office/drawing/2014/main" id="{3E885A8B-B6BE-487D-8DFC-F7F43F38A5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196872" y="3260562"/>
            <a:ext cx="378863" cy="310667"/>
          </a:xfrm>
          <a:prstGeom prst="rect">
            <a:avLst/>
          </a:prstGeom>
        </p:spPr>
      </p:pic>
      <p:pic>
        <p:nvPicPr>
          <p:cNvPr id="51" name="图片 48">
            <a:extLst>
              <a:ext uri="{FF2B5EF4-FFF2-40B4-BE49-F238E27FC236}">
                <a16:creationId xmlns="" xmlns:a16="http://schemas.microsoft.com/office/drawing/2014/main" id="{8BC210FA-E11D-4388-B309-3EE00AF85C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196872" y="5406298"/>
            <a:ext cx="378863" cy="310667"/>
          </a:xfrm>
          <a:prstGeom prst="rect">
            <a:avLst/>
          </a:prstGeom>
        </p:spPr>
      </p:pic>
      <p:cxnSp>
        <p:nvCxnSpPr>
          <p:cNvPr id="52" name="Straight Connector 51">
            <a:extLst>
              <a:ext uri="{FF2B5EF4-FFF2-40B4-BE49-F238E27FC236}">
                <a16:creationId xmlns="" xmlns:a16="http://schemas.microsoft.com/office/drawing/2014/main" id="{D44C3F01-ABFF-4DC1-8801-AF0DA8C2305B}"/>
              </a:ext>
            </a:extLst>
          </p:cNvPr>
          <p:cNvCxnSpPr>
            <a:cxnSpLocks/>
            <a:stCxn id="48" idx="1"/>
            <a:endCxn id="12" idx="3"/>
          </p:cNvCxnSpPr>
          <p:nvPr/>
        </p:nvCxnSpPr>
        <p:spPr bwMode="gray">
          <a:xfrm flipH="1">
            <a:off x="5167304" y="3414216"/>
            <a:ext cx="18810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DED26566-E448-4CEB-8A93-BC524D1EE95E}"/>
              </a:ext>
            </a:extLst>
          </p:cNvPr>
          <p:cNvCxnSpPr>
            <a:cxnSpLocks/>
            <a:stCxn id="50" idx="1"/>
            <a:endCxn id="48" idx="3"/>
          </p:cNvCxnSpPr>
          <p:nvPr/>
        </p:nvCxnSpPr>
        <p:spPr bwMode="gray">
          <a:xfrm flipH="1" flipV="1">
            <a:off x="7427241" y="3414216"/>
            <a:ext cx="1769631"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4EAA5F1A-2AD8-426B-8405-296F5DDC383B}"/>
              </a:ext>
            </a:extLst>
          </p:cNvPr>
          <p:cNvCxnSpPr>
            <a:cxnSpLocks/>
            <a:stCxn id="51" idx="1"/>
            <a:endCxn id="49" idx="3"/>
          </p:cNvCxnSpPr>
          <p:nvPr/>
        </p:nvCxnSpPr>
        <p:spPr bwMode="gray">
          <a:xfrm flipH="1" flipV="1">
            <a:off x="7427241" y="5559952"/>
            <a:ext cx="1769631"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46ABA8E8-BDF5-4F0E-A55B-F6E90FBFA3A3}"/>
              </a:ext>
            </a:extLst>
          </p:cNvPr>
          <p:cNvCxnSpPr>
            <a:cxnSpLocks/>
            <a:stCxn id="49" idx="1"/>
            <a:endCxn id="13" idx="3"/>
          </p:cNvCxnSpPr>
          <p:nvPr/>
        </p:nvCxnSpPr>
        <p:spPr bwMode="gray">
          <a:xfrm flipH="1">
            <a:off x="5167304" y="5559952"/>
            <a:ext cx="18810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882F21F5-93B9-436F-9106-1FCA082C7EA2}"/>
              </a:ext>
            </a:extLst>
          </p:cNvPr>
          <p:cNvCxnSpPr>
            <a:cxnSpLocks/>
            <a:stCxn id="49" idx="0"/>
            <a:endCxn id="48" idx="2"/>
          </p:cNvCxnSpPr>
          <p:nvPr/>
        </p:nvCxnSpPr>
        <p:spPr bwMode="gray">
          <a:xfrm flipV="1">
            <a:off x="7237810" y="3569549"/>
            <a:ext cx="0" cy="18350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 xmlns:a16="http://schemas.microsoft.com/office/drawing/2014/main" id="{CAB6201B-DC92-472E-950C-EA131FED334D}"/>
              </a:ext>
            </a:extLst>
          </p:cNvPr>
          <p:cNvCxnSpPr>
            <a:cxnSpLocks/>
            <a:stCxn id="51" idx="0"/>
            <a:endCxn id="50" idx="2"/>
          </p:cNvCxnSpPr>
          <p:nvPr/>
        </p:nvCxnSpPr>
        <p:spPr bwMode="gray">
          <a:xfrm flipV="1">
            <a:off x="9386304" y="3571229"/>
            <a:ext cx="0" cy="18350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8" name="图片 48">
            <a:extLst>
              <a:ext uri="{FF2B5EF4-FFF2-40B4-BE49-F238E27FC236}">
                <a16:creationId xmlns="" xmlns:a16="http://schemas.microsoft.com/office/drawing/2014/main" id="{1AB5DF3B-E571-422B-9A9A-5D51C8CDEB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314308" y="3260562"/>
            <a:ext cx="378863" cy="310667"/>
          </a:xfrm>
          <a:prstGeom prst="rect">
            <a:avLst/>
          </a:prstGeom>
        </p:spPr>
      </p:pic>
      <p:pic>
        <p:nvPicPr>
          <p:cNvPr id="59" name="图片 48">
            <a:extLst>
              <a:ext uri="{FF2B5EF4-FFF2-40B4-BE49-F238E27FC236}">
                <a16:creationId xmlns="" xmlns:a16="http://schemas.microsoft.com/office/drawing/2014/main" id="{C552E6D9-19CB-4EB6-8FDE-FEAFF0E176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314308" y="5408097"/>
            <a:ext cx="378863" cy="310667"/>
          </a:xfrm>
          <a:prstGeom prst="rect">
            <a:avLst/>
          </a:prstGeom>
        </p:spPr>
      </p:pic>
      <p:cxnSp>
        <p:nvCxnSpPr>
          <p:cNvPr id="60" name="Straight Connector 59">
            <a:extLst>
              <a:ext uri="{FF2B5EF4-FFF2-40B4-BE49-F238E27FC236}">
                <a16:creationId xmlns="" xmlns:a16="http://schemas.microsoft.com/office/drawing/2014/main" id="{FCBDCD3E-FF3F-40FA-A46C-1E7EA48A73D7}"/>
              </a:ext>
            </a:extLst>
          </p:cNvPr>
          <p:cNvCxnSpPr>
            <a:cxnSpLocks/>
            <a:stCxn id="51" idx="3"/>
            <a:endCxn id="59" idx="1"/>
          </p:cNvCxnSpPr>
          <p:nvPr/>
        </p:nvCxnSpPr>
        <p:spPr bwMode="gray">
          <a:xfrm>
            <a:off x="9575735" y="5561632"/>
            <a:ext cx="1738573"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 xmlns:a16="http://schemas.microsoft.com/office/drawing/2014/main" id="{69BB78E4-FABD-4D20-9EFE-590E50556D03}"/>
              </a:ext>
            </a:extLst>
          </p:cNvPr>
          <p:cNvCxnSpPr>
            <a:cxnSpLocks/>
            <a:stCxn id="50" idx="3"/>
            <a:endCxn id="58" idx="1"/>
          </p:cNvCxnSpPr>
          <p:nvPr/>
        </p:nvCxnSpPr>
        <p:spPr bwMode="gray">
          <a:xfrm>
            <a:off x="9575735" y="3415896"/>
            <a:ext cx="173857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2" name="TextBox 271">
            <a:extLst>
              <a:ext uri="{FF2B5EF4-FFF2-40B4-BE49-F238E27FC236}">
                <a16:creationId xmlns="" xmlns:a16="http://schemas.microsoft.com/office/drawing/2014/main" id="{2051C683-157D-42BE-B730-010367085BD3}"/>
              </a:ext>
            </a:extLst>
          </p:cNvPr>
          <p:cNvSpPr txBox="1"/>
          <p:nvPr/>
        </p:nvSpPr>
        <p:spPr bwMode="gray">
          <a:xfrm>
            <a:off x="9164127" y="3038474"/>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271">
            <a:extLst>
              <a:ext uri="{FF2B5EF4-FFF2-40B4-BE49-F238E27FC236}">
                <a16:creationId xmlns="" xmlns:a16="http://schemas.microsoft.com/office/drawing/2014/main" id="{E2100B5B-5161-490F-BD75-DC8CFC1A286E}"/>
              </a:ext>
            </a:extLst>
          </p:cNvPr>
          <p:cNvSpPr txBox="1"/>
          <p:nvPr/>
        </p:nvSpPr>
        <p:spPr bwMode="gray">
          <a:xfrm>
            <a:off x="9175924" y="5674072"/>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271">
            <a:extLst>
              <a:ext uri="{FF2B5EF4-FFF2-40B4-BE49-F238E27FC236}">
                <a16:creationId xmlns="" xmlns:a16="http://schemas.microsoft.com/office/drawing/2014/main" id="{86E9409E-5B75-4D9F-91D1-F14F54322F13}"/>
              </a:ext>
            </a:extLst>
          </p:cNvPr>
          <p:cNvSpPr txBox="1"/>
          <p:nvPr/>
        </p:nvSpPr>
        <p:spPr bwMode="gray">
          <a:xfrm>
            <a:off x="7053826" y="3040050"/>
            <a:ext cx="35778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TextBox 271">
            <a:extLst>
              <a:ext uri="{FF2B5EF4-FFF2-40B4-BE49-F238E27FC236}">
                <a16:creationId xmlns="" xmlns:a16="http://schemas.microsoft.com/office/drawing/2014/main" id="{A0C05BC4-5D04-4B5B-88AC-C8018637985F}"/>
              </a:ext>
            </a:extLst>
          </p:cNvPr>
          <p:cNvSpPr txBox="1"/>
          <p:nvPr/>
        </p:nvSpPr>
        <p:spPr bwMode="gray">
          <a:xfrm>
            <a:off x="7064254" y="5671928"/>
            <a:ext cx="35778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271">
            <a:extLst>
              <a:ext uri="{FF2B5EF4-FFF2-40B4-BE49-F238E27FC236}">
                <a16:creationId xmlns="" xmlns:a16="http://schemas.microsoft.com/office/drawing/2014/main" id="{786D5E2E-9525-4CDF-BC1B-C7223EBC3128}"/>
              </a:ext>
            </a:extLst>
          </p:cNvPr>
          <p:cNvSpPr txBox="1"/>
          <p:nvPr/>
        </p:nvSpPr>
        <p:spPr bwMode="gray">
          <a:xfrm>
            <a:off x="11267362" y="3045295"/>
            <a:ext cx="47031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271">
            <a:extLst>
              <a:ext uri="{FF2B5EF4-FFF2-40B4-BE49-F238E27FC236}">
                <a16:creationId xmlns="" xmlns:a16="http://schemas.microsoft.com/office/drawing/2014/main" id="{32A65563-549A-4719-A384-A3D990EA3855}"/>
              </a:ext>
            </a:extLst>
          </p:cNvPr>
          <p:cNvSpPr txBox="1"/>
          <p:nvPr/>
        </p:nvSpPr>
        <p:spPr bwMode="gray">
          <a:xfrm>
            <a:off x="11275174" y="5670884"/>
            <a:ext cx="45468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271">
            <a:extLst>
              <a:ext uri="{FF2B5EF4-FFF2-40B4-BE49-F238E27FC236}">
                <a16:creationId xmlns="" xmlns:a16="http://schemas.microsoft.com/office/drawing/2014/main" id="{00BB7DD4-891D-4CB5-8DD6-858A3B74C56C}"/>
              </a:ext>
            </a:extLst>
          </p:cNvPr>
          <p:cNvSpPr txBox="1"/>
          <p:nvPr/>
        </p:nvSpPr>
        <p:spPr bwMode="gray">
          <a:xfrm rot="16200000">
            <a:off x="1816630" y="4348421"/>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75" name="TextBox 74">
            <a:extLst>
              <a:ext uri="{FF2B5EF4-FFF2-40B4-BE49-F238E27FC236}">
                <a16:creationId xmlns="" xmlns:a16="http://schemas.microsoft.com/office/drawing/2014/main" id="{8400C646-7163-44A4-A41C-3542EBE5185F}"/>
              </a:ext>
            </a:extLst>
          </p:cNvPr>
          <p:cNvSpPr txBox="1"/>
          <p:nvPr/>
        </p:nvSpPr>
        <p:spPr bwMode="gray">
          <a:xfrm>
            <a:off x="2999714" y="3125096"/>
            <a:ext cx="1840568" cy="276999"/>
          </a:xfrm>
          <a:prstGeom prst="rect">
            <a:avLst/>
          </a:prstGeom>
          <a:noFill/>
        </p:spPr>
        <p:txBody>
          <a:bodyPr wrap="none" rtlCol="0">
            <a:spAutoFit/>
          </a:bodyPr>
          <a:lstStyle/>
          <a:p>
            <a:r>
              <a:rPr lang="en-US" sz="1200" dirty="0"/>
              <a:t>2001::1:1:103:100:0/127</a:t>
            </a:r>
          </a:p>
        </p:txBody>
      </p:sp>
      <p:grpSp>
        <p:nvGrpSpPr>
          <p:cNvPr id="37" name="Group 36">
            <a:extLst>
              <a:ext uri="{FF2B5EF4-FFF2-40B4-BE49-F238E27FC236}">
                <a16:creationId xmlns="" xmlns:a16="http://schemas.microsoft.com/office/drawing/2014/main" id="{71F5D71A-E2F0-4564-BAF9-C5F4BE4AE5BB}"/>
              </a:ext>
            </a:extLst>
          </p:cNvPr>
          <p:cNvGrpSpPr/>
          <p:nvPr/>
        </p:nvGrpSpPr>
        <p:grpSpPr bwMode="gray">
          <a:xfrm>
            <a:off x="816140" y="1518885"/>
            <a:ext cx="5128327" cy="1238825"/>
            <a:chOff x="816140" y="1576035"/>
            <a:chExt cx="5128327" cy="1238825"/>
          </a:xfrm>
        </p:grpSpPr>
        <p:sp>
          <p:nvSpPr>
            <p:cNvPr id="124" name="TextBox 123">
              <a:extLst>
                <a:ext uri="{FF2B5EF4-FFF2-40B4-BE49-F238E27FC236}">
                  <a16:creationId xmlns="" xmlns:a16="http://schemas.microsoft.com/office/drawing/2014/main" id="{484F87E5-5E94-45B9-BE7D-64B8EB5D7AD8}"/>
                </a:ext>
              </a:extLst>
            </p:cNvPr>
            <p:cNvSpPr txBox="1"/>
            <p:nvPr/>
          </p:nvSpPr>
          <p:spPr bwMode="gray">
            <a:xfrm>
              <a:off x="816140" y="2020240"/>
              <a:ext cx="5128327" cy="369332"/>
            </a:xfrm>
            <a:prstGeom prst="rect">
              <a:avLst/>
            </a:prstGeom>
            <a:noFill/>
          </p:spPr>
          <p:txBody>
            <a:bodyPr wrap="none" rtlCol="0">
              <a:spAutoFit/>
            </a:bodyPr>
            <a:lstStyle/>
            <a:p>
              <a:r>
                <a:rPr lang="en-US" dirty="0"/>
                <a:t>IP</a:t>
              </a:r>
              <a:r>
                <a:rPr lang="en-US" altLang="zh-CN" dirty="0"/>
                <a:t>v6</a:t>
              </a:r>
              <a:r>
                <a:rPr lang="zh-CN" altLang="en-US" dirty="0"/>
                <a:t>互联地址：</a:t>
              </a:r>
              <a:r>
                <a:rPr lang="en-US" altLang="zh-CN" dirty="0"/>
                <a:t>2001 :  : 1 : 1 : 101 : 100 : 0/127</a:t>
              </a:r>
              <a:endParaRPr lang="en-US" dirty="0"/>
            </a:p>
          </p:txBody>
        </p:sp>
        <p:sp>
          <p:nvSpPr>
            <p:cNvPr id="125" name="TextBox 124">
              <a:extLst>
                <a:ext uri="{FF2B5EF4-FFF2-40B4-BE49-F238E27FC236}">
                  <a16:creationId xmlns="" xmlns:a16="http://schemas.microsoft.com/office/drawing/2014/main" id="{53CB3219-F662-41ED-A12A-6D03FE918EB8}"/>
                </a:ext>
              </a:extLst>
            </p:cNvPr>
            <p:cNvSpPr txBox="1"/>
            <p:nvPr/>
          </p:nvSpPr>
          <p:spPr bwMode="gray">
            <a:xfrm>
              <a:off x="3046948" y="2523961"/>
              <a:ext cx="800219" cy="276999"/>
            </a:xfrm>
            <a:prstGeom prst="rect">
              <a:avLst/>
            </a:prstGeom>
            <a:noFill/>
          </p:spPr>
          <p:txBody>
            <a:bodyPr wrap="none" rtlCol="0">
              <a:spAutoFit/>
            </a:bodyPr>
            <a:lstStyle/>
            <a:p>
              <a:r>
                <a:rPr lang="zh-CN" altLang="en-US" sz="1200" dirty="0"/>
                <a:t>地址用途</a:t>
              </a:r>
              <a:endParaRPr lang="en-US" sz="1200" dirty="0"/>
            </a:p>
          </p:txBody>
        </p:sp>
        <p:cxnSp>
          <p:nvCxnSpPr>
            <p:cNvPr id="14" name="Straight Arrow Connector 13">
              <a:extLst>
                <a:ext uri="{FF2B5EF4-FFF2-40B4-BE49-F238E27FC236}">
                  <a16:creationId xmlns="" xmlns:a16="http://schemas.microsoft.com/office/drawing/2014/main" id="{FCDCE95E-D319-422A-858D-BF9F6C178B1A}"/>
                </a:ext>
              </a:extLst>
            </p:cNvPr>
            <p:cNvCxnSpPr>
              <a:cxnSpLocks/>
              <a:stCxn id="125" idx="0"/>
            </p:cNvCxnSpPr>
            <p:nvPr/>
          </p:nvCxnSpPr>
          <p:spPr bwMode="gray">
            <a:xfrm flipV="1">
              <a:off x="3447058" y="2324101"/>
              <a:ext cx="1" cy="199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 xmlns:a16="http://schemas.microsoft.com/office/drawing/2014/main" id="{E2F25761-2A66-4AE4-A8A6-064263D6B78F}"/>
                </a:ext>
              </a:extLst>
            </p:cNvPr>
            <p:cNvSpPr txBox="1"/>
            <p:nvPr/>
          </p:nvSpPr>
          <p:spPr bwMode="gray">
            <a:xfrm>
              <a:off x="3511986" y="1584264"/>
              <a:ext cx="492443" cy="276999"/>
            </a:xfrm>
            <a:prstGeom prst="rect">
              <a:avLst/>
            </a:prstGeom>
            <a:noFill/>
          </p:spPr>
          <p:txBody>
            <a:bodyPr wrap="none" rtlCol="0">
              <a:spAutoFit/>
            </a:bodyPr>
            <a:lstStyle/>
            <a:p>
              <a:r>
                <a:rPr lang="zh-CN" altLang="en-US" sz="1200" dirty="0"/>
                <a:t>区域</a:t>
              </a:r>
              <a:endParaRPr lang="en-US" sz="1200" dirty="0"/>
            </a:p>
          </p:txBody>
        </p:sp>
        <p:cxnSp>
          <p:nvCxnSpPr>
            <p:cNvPr id="127" name="Straight Arrow Connector 126">
              <a:extLst>
                <a:ext uri="{FF2B5EF4-FFF2-40B4-BE49-F238E27FC236}">
                  <a16:creationId xmlns="" xmlns:a16="http://schemas.microsoft.com/office/drawing/2014/main" id="{9A086A46-D58F-408E-A764-287C72DCAD37}"/>
                </a:ext>
              </a:extLst>
            </p:cNvPr>
            <p:cNvCxnSpPr>
              <a:cxnSpLocks/>
              <a:stCxn id="126" idx="2"/>
            </p:cNvCxnSpPr>
            <p:nvPr/>
          </p:nvCxnSpPr>
          <p:spPr bwMode="gray">
            <a:xfrm>
              <a:off x="3758208" y="1861263"/>
              <a:ext cx="0"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 xmlns:a16="http://schemas.microsoft.com/office/drawing/2014/main" id="{DB88F228-4096-4A57-A230-89BE04259247}"/>
                </a:ext>
              </a:extLst>
            </p:cNvPr>
            <p:cNvSpPr txBox="1"/>
            <p:nvPr/>
          </p:nvSpPr>
          <p:spPr bwMode="gray">
            <a:xfrm>
              <a:off x="3828179" y="2537861"/>
              <a:ext cx="800219" cy="276999"/>
            </a:xfrm>
            <a:prstGeom prst="rect">
              <a:avLst/>
            </a:prstGeom>
            <a:noFill/>
          </p:spPr>
          <p:txBody>
            <a:bodyPr wrap="none" rtlCol="0">
              <a:spAutoFit/>
            </a:bodyPr>
            <a:lstStyle/>
            <a:p>
              <a:r>
                <a:rPr lang="zh-CN" altLang="en-US" sz="1200" dirty="0"/>
                <a:t>互联设备</a:t>
              </a:r>
              <a:endParaRPr lang="en-US" sz="1200" dirty="0"/>
            </a:p>
          </p:txBody>
        </p:sp>
        <p:cxnSp>
          <p:nvCxnSpPr>
            <p:cNvPr id="129" name="Straight Arrow Connector 128">
              <a:extLst>
                <a:ext uri="{FF2B5EF4-FFF2-40B4-BE49-F238E27FC236}">
                  <a16:creationId xmlns="" xmlns:a16="http://schemas.microsoft.com/office/drawing/2014/main" id="{3DD669D2-2B00-4BAC-85BE-33AD1C59778C}"/>
                </a:ext>
              </a:extLst>
            </p:cNvPr>
            <p:cNvCxnSpPr>
              <a:cxnSpLocks/>
              <a:stCxn id="128" idx="0"/>
            </p:cNvCxnSpPr>
            <p:nvPr/>
          </p:nvCxnSpPr>
          <p:spPr bwMode="gray">
            <a:xfrm flipV="1">
              <a:off x="4228289" y="2338001"/>
              <a:ext cx="0" cy="199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 xmlns:a16="http://schemas.microsoft.com/office/drawing/2014/main" id="{7219BB24-98C9-4845-B2D2-9EDE53ACBC00}"/>
                </a:ext>
              </a:extLst>
            </p:cNvPr>
            <p:cNvSpPr txBox="1"/>
            <p:nvPr/>
          </p:nvSpPr>
          <p:spPr bwMode="gray">
            <a:xfrm>
              <a:off x="4439548" y="1584264"/>
              <a:ext cx="800219" cy="276999"/>
            </a:xfrm>
            <a:prstGeom prst="rect">
              <a:avLst/>
            </a:prstGeom>
            <a:noFill/>
          </p:spPr>
          <p:txBody>
            <a:bodyPr wrap="none" rtlCol="0">
              <a:spAutoFit/>
            </a:bodyPr>
            <a:lstStyle/>
            <a:p>
              <a:r>
                <a:rPr lang="zh-CN" altLang="en-US" sz="1200" dirty="0"/>
                <a:t>互联链路</a:t>
              </a:r>
              <a:endParaRPr lang="en-US" sz="1200" dirty="0"/>
            </a:p>
          </p:txBody>
        </p:sp>
        <p:cxnSp>
          <p:nvCxnSpPr>
            <p:cNvPr id="131" name="Straight Arrow Connector 130">
              <a:extLst>
                <a:ext uri="{FF2B5EF4-FFF2-40B4-BE49-F238E27FC236}">
                  <a16:creationId xmlns="" xmlns:a16="http://schemas.microsoft.com/office/drawing/2014/main" id="{30378E34-8FAF-41D3-8ED1-998D255612E9}"/>
                </a:ext>
              </a:extLst>
            </p:cNvPr>
            <p:cNvCxnSpPr>
              <a:cxnSpLocks/>
              <a:stCxn id="130" idx="2"/>
            </p:cNvCxnSpPr>
            <p:nvPr/>
          </p:nvCxnSpPr>
          <p:spPr bwMode="gray">
            <a:xfrm>
              <a:off x="4839658" y="1861263"/>
              <a:ext cx="0"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 xmlns:a16="http://schemas.microsoft.com/office/drawing/2014/main" id="{5C057502-78BA-49BA-A9AF-FBC7EC78420F}"/>
                </a:ext>
              </a:extLst>
            </p:cNvPr>
            <p:cNvSpPr txBox="1"/>
            <p:nvPr/>
          </p:nvSpPr>
          <p:spPr bwMode="gray">
            <a:xfrm>
              <a:off x="2348679" y="1576035"/>
              <a:ext cx="800219" cy="276999"/>
            </a:xfrm>
            <a:prstGeom prst="rect">
              <a:avLst/>
            </a:prstGeom>
            <a:noFill/>
          </p:spPr>
          <p:txBody>
            <a:bodyPr wrap="none" rtlCol="0">
              <a:spAutoFit/>
            </a:bodyPr>
            <a:lstStyle/>
            <a:p>
              <a:r>
                <a:rPr lang="zh-CN" altLang="en-US" sz="1200" dirty="0"/>
                <a:t>固定前缀</a:t>
              </a:r>
              <a:endParaRPr lang="en-US" sz="1200" dirty="0"/>
            </a:p>
          </p:txBody>
        </p:sp>
        <p:cxnSp>
          <p:nvCxnSpPr>
            <p:cNvPr id="142" name="Straight Arrow Connector 141">
              <a:extLst>
                <a:ext uri="{FF2B5EF4-FFF2-40B4-BE49-F238E27FC236}">
                  <a16:creationId xmlns="" xmlns:a16="http://schemas.microsoft.com/office/drawing/2014/main" id="{A3615C93-5058-4FFA-8747-9B22BA01D28B}"/>
                </a:ext>
              </a:extLst>
            </p:cNvPr>
            <p:cNvCxnSpPr>
              <a:cxnSpLocks/>
              <a:stCxn id="141" idx="2"/>
            </p:cNvCxnSpPr>
            <p:nvPr/>
          </p:nvCxnSpPr>
          <p:spPr bwMode="gray">
            <a:xfrm>
              <a:off x="2748789" y="1853034"/>
              <a:ext cx="1"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 xmlns:a16="http://schemas.microsoft.com/office/drawing/2014/main" id="{AA14D275-9C8E-4086-AD2F-E59B9B274C90}"/>
              </a:ext>
            </a:extLst>
          </p:cNvPr>
          <p:cNvGrpSpPr/>
          <p:nvPr/>
        </p:nvGrpSpPr>
        <p:grpSpPr bwMode="gray">
          <a:xfrm>
            <a:off x="6405157" y="1505966"/>
            <a:ext cx="4541628" cy="1235161"/>
            <a:chOff x="6405157" y="1563116"/>
            <a:chExt cx="4541628" cy="1235161"/>
          </a:xfrm>
        </p:grpSpPr>
        <p:sp>
          <p:nvSpPr>
            <p:cNvPr id="134" name="TextBox 133">
              <a:extLst>
                <a:ext uri="{FF2B5EF4-FFF2-40B4-BE49-F238E27FC236}">
                  <a16:creationId xmlns="" xmlns:a16="http://schemas.microsoft.com/office/drawing/2014/main" id="{7F16CEEE-66AD-4644-B9B7-4273F070C165}"/>
                </a:ext>
              </a:extLst>
            </p:cNvPr>
            <p:cNvSpPr txBox="1"/>
            <p:nvPr/>
          </p:nvSpPr>
          <p:spPr bwMode="gray">
            <a:xfrm>
              <a:off x="6405157" y="2003657"/>
              <a:ext cx="4541628" cy="369332"/>
            </a:xfrm>
            <a:prstGeom prst="rect">
              <a:avLst/>
            </a:prstGeom>
            <a:noFill/>
          </p:spPr>
          <p:txBody>
            <a:bodyPr wrap="none" rtlCol="0">
              <a:spAutoFit/>
            </a:bodyPr>
            <a:lstStyle/>
            <a:p>
              <a:r>
                <a:rPr lang="en-US" dirty="0"/>
                <a:t>IP</a:t>
              </a:r>
              <a:r>
                <a:rPr lang="en-US" altLang="zh-CN" dirty="0"/>
                <a:t>v6</a:t>
              </a:r>
              <a:r>
                <a:rPr lang="zh-CN" altLang="en-US" dirty="0"/>
                <a:t>环回地址：</a:t>
              </a:r>
              <a:r>
                <a:rPr lang="en-US" altLang="zh-CN" dirty="0"/>
                <a:t>2001 :  : 1 : 100 : 0 : 0/128</a:t>
              </a:r>
              <a:endParaRPr lang="en-US" dirty="0"/>
            </a:p>
          </p:txBody>
        </p:sp>
        <p:sp>
          <p:nvSpPr>
            <p:cNvPr id="137" name="TextBox 136">
              <a:extLst>
                <a:ext uri="{FF2B5EF4-FFF2-40B4-BE49-F238E27FC236}">
                  <a16:creationId xmlns="" xmlns:a16="http://schemas.microsoft.com/office/drawing/2014/main" id="{412F7755-E107-475F-A7D7-DA8FDCDB40BD}"/>
                </a:ext>
              </a:extLst>
            </p:cNvPr>
            <p:cNvSpPr txBox="1"/>
            <p:nvPr/>
          </p:nvSpPr>
          <p:spPr bwMode="gray">
            <a:xfrm>
              <a:off x="8786678" y="1567681"/>
              <a:ext cx="492443" cy="276999"/>
            </a:xfrm>
            <a:prstGeom prst="rect">
              <a:avLst/>
            </a:prstGeom>
            <a:noFill/>
          </p:spPr>
          <p:txBody>
            <a:bodyPr wrap="none" rtlCol="0">
              <a:spAutoFit/>
            </a:bodyPr>
            <a:lstStyle/>
            <a:p>
              <a:r>
                <a:rPr lang="zh-CN" altLang="en-US" sz="1200" dirty="0"/>
                <a:t>区域</a:t>
              </a:r>
              <a:endParaRPr lang="en-US" sz="1200" dirty="0"/>
            </a:p>
          </p:txBody>
        </p:sp>
        <p:cxnSp>
          <p:nvCxnSpPr>
            <p:cNvPr id="138" name="Straight Arrow Connector 137">
              <a:extLst>
                <a:ext uri="{FF2B5EF4-FFF2-40B4-BE49-F238E27FC236}">
                  <a16:creationId xmlns="" xmlns:a16="http://schemas.microsoft.com/office/drawing/2014/main" id="{38A31278-0F33-4C1D-9F0E-D5E0553A509C}"/>
                </a:ext>
              </a:extLst>
            </p:cNvPr>
            <p:cNvCxnSpPr>
              <a:cxnSpLocks/>
              <a:stCxn id="137" idx="2"/>
            </p:cNvCxnSpPr>
            <p:nvPr/>
          </p:nvCxnSpPr>
          <p:spPr bwMode="gray">
            <a:xfrm>
              <a:off x="9032900" y="1844680"/>
              <a:ext cx="0"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 xmlns:a16="http://schemas.microsoft.com/office/drawing/2014/main" id="{0F1F689E-9562-45CF-98AD-3C58561997B6}"/>
                </a:ext>
              </a:extLst>
            </p:cNvPr>
            <p:cNvSpPr txBox="1"/>
            <p:nvPr/>
          </p:nvSpPr>
          <p:spPr bwMode="gray">
            <a:xfrm>
              <a:off x="9102871" y="2521278"/>
              <a:ext cx="800219" cy="276999"/>
            </a:xfrm>
            <a:prstGeom prst="rect">
              <a:avLst/>
            </a:prstGeom>
            <a:noFill/>
          </p:spPr>
          <p:txBody>
            <a:bodyPr wrap="none" rtlCol="0">
              <a:spAutoFit/>
            </a:bodyPr>
            <a:lstStyle/>
            <a:p>
              <a:r>
                <a:rPr lang="zh-CN" altLang="en-US" sz="1200" dirty="0"/>
                <a:t>所属设备</a:t>
              </a:r>
              <a:endParaRPr lang="en-US" sz="1200" dirty="0"/>
            </a:p>
          </p:txBody>
        </p:sp>
        <p:cxnSp>
          <p:nvCxnSpPr>
            <p:cNvPr id="140" name="Straight Arrow Connector 139">
              <a:extLst>
                <a:ext uri="{FF2B5EF4-FFF2-40B4-BE49-F238E27FC236}">
                  <a16:creationId xmlns="" xmlns:a16="http://schemas.microsoft.com/office/drawing/2014/main" id="{DF366604-0255-4371-BAD3-735A47AB835C}"/>
                </a:ext>
              </a:extLst>
            </p:cNvPr>
            <p:cNvCxnSpPr>
              <a:cxnSpLocks/>
              <a:stCxn id="139" idx="0"/>
            </p:cNvCxnSpPr>
            <p:nvPr/>
          </p:nvCxnSpPr>
          <p:spPr bwMode="gray">
            <a:xfrm flipV="1">
              <a:off x="9502981" y="2321418"/>
              <a:ext cx="1" cy="199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 xmlns:a16="http://schemas.microsoft.com/office/drawing/2014/main" id="{7DC623D1-7DAD-492A-B241-37660EF26F4A}"/>
                </a:ext>
              </a:extLst>
            </p:cNvPr>
            <p:cNvSpPr txBox="1"/>
            <p:nvPr/>
          </p:nvSpPr>
          <p:spPr bwMode="gray">
            <a:xfrm>
              <a:off x="7901412" y="1563116"/>
              <a:ext cx="800219" cy="276999"/>
            </a:xfrm>
            <a:prstGeom prst="rect">
              <a:avLst/>
            </a:prstGeom>
            <a:noFill/>
          </p:spPr>
          <p:txBody>
            <a:bodyPr wrap="none" rtlCol="0">
              <a:spAutoFit/>
            </a:bodyPr>
            <a:lstStyle/>
            <a:p>
              <a:r>
                <a:rPr lang="zh-CN" altLang="en-US" sz="1200" dirty="0"/>
                <a:t>固定前缀</a:t>
              </a:r>
              <a:endParaRPr lang="en-US" sz="1200" dirty="0"/>
            </a:p>
          </p:txBody>
        </p:sp>
        <p:cxnSp>
          <p:nvCxnSpPr>
            <p:cNvPr id="144" name="Straight Arrow Connector 143">
              <a:extLst>
                <a:ext uri="{FF2B5EF4-FFF2-40B4-BE49-F238E27FC236}">
                  <a16:creationId xmlns="" xmlns:a16="http://schemas.microsoft.com/office/drawing/2014/main" id="{74B73142-5E33-4147-BB2F-72EC67FFC31C}"/>
                </a:ext>
              </a:extLst>
            </p:cNvPr>
            <p:cNvCxnSpPr>
              <a:cxnSpLocks/>
              <a:stCxn id="143" idx="2"/>
            </p:cNvCxnSpPr>
            <p:nvPr/>
          </p:nvCxnSpPr>
          <p:spPr bwMode="gray">
            <a:xfrm>
              <a:off x="8301522" y="1840115"/>
              <a:ext cx="1"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147" name="圆角矩形 75">
            <a:extLst>
              <a:ext uri="{FF2B5EF4-FFF2-40B4-BE49-F238E27FC236}">
                <a16:creationId xmlns="" xmlns:a16="http://schemas.microsoft.com/office/drawing/2014/main" id="{9F2C1987-F726-40E9-841E-87031531AA7E}"/>
              </a:ext>
            </a:extLst>
          </p:cNvPr>
          <p:cNvSpPr/>
          <p:nvPr/>
        </p:nvSpPr>
        <p:spPr bwMode="gray">
          <a:xfrm>
            <a:off x="6851120" y="3045295"/>
            <a:ext cx="3051969" cy="2901556"/>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8" name="TextBox 271">
            <a:extLst>
              <a:ext uri="{FF2B5EF4-FFF2-40B4-BE49-F238E27FC236}">
                <a16:creationId xmlns="" xmlns:a16="http://schemas.microsoft.com/office/drawing/2014/main" id="{06727BD7-7829-4940-BDD6-79677F54BBBA}"/>
              </a:ext>
            </a:extLst>
          </p:cNvPr>
          <p:cNvSpPr txBox="1"/>
          <p:nvPr/>
        </p:nvSpPr>
        <p:spPr bwMode="gray">
          <a:xfrm rot="5400000">
            <a:off x="9691329" y="4342184"/>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150" name="TextBox 149">
            <a:extLst>
              <a:ext uri="{FF2B5EF4-FFF2-40B4-BE49-F238E27FC236}">
                <a16:creationId xmlns="" xmlns:a16="http://schemas.microsoft.com/office/drawing/2014/main" id="{E7FA3A0E-FFDA-48B6-9B06-459FE12A0FBD}"/>
              </a:ext>
            </a:extLst>
          </p:cNvPr>
          <p:cNvSpPr txBox="1"/>
          <p:nvPr/>
        </p:nvSpPr>
        <p:spPr bwMode="gray">
          <a:xfrm>
            <a:off x="2971092" y="5550608"/>
            <a:ext cx="1840568" cy="276999"/>
          </a:xfrm>
          <a:prstGeom prst="rect">
            <a:avLst/>
          </a:prstGeom>
          <a:noFill/>
        </p:spPr>
        <p:txBody>
          <a:bodyPr wrap="none" rtlCol="0">
            <a:spAutoFit/>
          </a:bodyPr>
          <a:lstStyle/>
          <a:p>
            <a:r>
              <a:rPr lang="en-US" sz="1200" dirty="0"/>
              <a:t>2001::1:1:204:300:0/127</a:t>
            </a:r>
          </a:p>
        </p:txBody>
      </p:sp>
      <p:sp>
        <p:nvSpPr>
          <p:cNvPr id="151" name="TextBox 150">
            <a:extLst>
              <a:ext uri="{FF2B5EF4-FFF2-40B4-BE49-F238E27FC236}">
                <a16:creationId xmlns="" xmlns:a16="http://schemas.microsoft.com/office/drawing/2014/main" id="{B3FE0A86-6490-4D88-B3D8-AD4259BA875C}"/>
              </a:ext>
            </a:extLst>
          </p:cNvPr>
          <p:cNvSpPr txBox="1"/>
          <p:nvPr/>
        </p:nvSpPr>
        <p:spPr bwMode="gray">
          <a:xfrm rot="16200000">
            <a:off x="1779347" y="4325470"/>
            <a:ext cx="1840568" cy="276999"/>
          </a:xfrm>
          <a:prstGeom prst="rect">
            <a:avLst/>
          </a:prstGeom>
          <a:noFill/>
        </p:spPr>
        <p:txBody>
          <a:bodyPr wrap="none" rtlCol="0">
            <a:spAutoFit/>
          </a:bodyPr>
          <a:lstStyle/>
          <a:p>
            <a:r>
              <a:rPr lang="en-US" sz="1200" dirty="0"/>
              <a:t>2001::1:1:102:200:0/127</a:t>
            </a:r>
          </a:p>
        </p:txBody>
      </p:sp>
      <p:sp>
        <p:nvSpPr>
          <p:cNvPr id="152" name="TextBox 151">
            <a:extLst>
              <a:ext uri="{FF2B5EF4-FFF2-40B4-BE49-F238E27FC236}">
                <a16:creationId xmlns="" xmlns:a16="http://schemas.microsoft.com/office/drawing/2014/main" id="{CB406DA7-D895-42D0-A8A2-15C2B2E6CB2A}"/>
              </a:ext>
            </a:extLst>
          </p:cNvPr>
          <p:cNvSpPr txBox="1"/>
          <p:nvPr/>
        </p:nvSpPr>
        <p:spPr bwMode="gray">
          <a:xfrm rot="5400000">
            <a:off x="4185766" y="4349654"/>
            <a:ext cx="1840568" cy="276999"/>
          </a:xfrm>
          <a:prstGeom prst="rect">
            <a:avLst/>
          </a:prstGeom>
          <a:noFill/>
        </p:spPr>
        <p:txBody>
          <a:bodyPr wrap="none" rtlCol="0">
            <a:spAutoFit/>
          </a:bodyPr>
          <a:lstStyle/>
          <a:p>
            <a:r>
              <a:rPr lang="en-US" sz="1200" dirty="0"/>
              <a:t>2001::1:1:304:400:0/127</a:t>
            </a:r>
          </a:p>
        </p:txBody>
      </p:sp>
      <p:sp>
        <p:nvSpPr>
          <p:cNvPr id="153" name="TextBox 152">
            <a:extLst>
              <a:ext uri="{FF2B5EF4-FFF2-40B4-BE49-F238E27FC236}">
                <a16:creationId xmlns="" xmlns:a16="http://schemas.microsoft.com/office/drawing/2014/main" id="{C4958E33-61F7-49C7-B340-4222E5F80578}"/>
              </a:ext>
            </a:extLst>
          </p:cNvPr>
          <p:cNvSpPr txBox="1"/>
          <p:nvPr/>
        </p:nvSpPr>
        <p:spPr bwMode="gray">
          <a:xfrm>
            <a:off x="7456820" y="3125096"/>
            <a:ext cx="1840568" cy="276999"/>
          </a:xfrm>
          <a:prstGeom prst="rect">
            <a:avLst/>
          </a:prstGeom>
          <a:noFill/>
        </p:spPr>
        <p:txBody>
          <a:bodyPr wrap="none" rtlCol="0">
            <a:spAutoFit/>
          </a:bodyPr>
          <a:lstStyle/>
          <a:p>
            <a:r>
              <a:rPr lang="en-US" sz="1200" dirty="0"/>
              <a:t>2001::1:2:103:100:0/127</a:t>
            </a:r>
          </a:p>
        </p:txBody>
      </p:sp>
      <p:sp>
        <p:nvSpPr>
          <p:cNvPr id="154" name="TextBox 153">
            <a:extLst>
              <a:ext uri="{FF2B5EF4-FFF2-40B4-BE49-F238E27FC236}">
                <a16:creationId xmlns="" xmlns:a16="http://schemas.microsoft.com/office/drawing/2014/main" id="{24152893-D089-42BE-9097-C4DC335C169E}"/>
              </a:ext>
            </a:extLst>
          </p:cNvPr>
          <p:cNvSpPr txBox="1"/>
          <p:nvPr/>
        </p:nvSpPr>
        <p:spPr bwMode="gray">
          <a:xfrm>
            <a:off x="7399648" y="5565001"/>
            <a:ext cx="1840568" cy="276999"/>
          </a:xfrm>
          <a:prstGeom prst="rect">
            <a:avLst/>
          </a:prstGeom>
          <a:noFill/>
        </p:spPr>
        <p:txBody>
          <a:bodyPr wrap="none" rtlCol="0">
            <a:spAutoFit/>
          </a:bodyPr>
          <a:lstStyle/>
          <a:p>
            <a:r>
              <a:rPr lang="en-US" sz="1200" dirty="0"/>
              <a:t>2001::1:2:204:300:0/127</a:t>
            </a:r>
          </a:p>
        </p:txBody>
      </p:sp>
      <p:sp>
        <p:nvSpPr>
          <p:cNvPr id="155" name="TextBox 154">
            <a:extLst>
              <a:ext uri="{FF2B5EF4-FFF2-40B4-BE49-F238E27FC236}">
                <a16:creationId xmlns="" xmlns:a16="http://schemas.microsoft.com/office/drawing/2014/main" id="{9CCBA0C6-2BDE-47F6-BEB3-782DB342457E}"/>
              </a:ext>
            </a:extLst>
          </p:cNvPr>
          <p:cNvSpPr txBox="1"/>
          <p:nvPr/>
        </p:nvSpPr>
        <p:spPr bwMode="gray">
          <a:xfrm rot="16200000">
            <a:off x="6205187" y="4377660"/>
            <a:ext cx="1840568" cy="276999"/>
          </a:xfrm>
          <a:prstGeom prst="rect">
            <a:avLst/>
          </a:prstGeom>
          <a:noFill/>
        </p:spPr>
        <p:txBody>
          <a:bodyPr wrap="none" rtlCol="0">
            <a:spAutoFit/>
          </a:bodyPr>
          <a:lstStyle/>
          <a:p>
            <a:r>
              <a:rPr lang="en-US" sz="1200" dirty="0"/>
              <a:t>2001::1:2:304:400:0/127</a:t>
            </a:r>
          </a:p>
        </p:txBody>
      </p:sp>
      <p:sp>
        <p:nvSpPr>
          <p:cNvPr id="156" name="TextBox 155">
            <a:extLst>
              <a:ext uri="{FF2B5EF4-FFF2-40B4-BE49-F238E27FC236}">
                <a16:creationId xmlns="" xmlns:a16="http://schemas.microsoft.com/office/drawing/2014/main" id="{0018537F-B56D-4465-968C-F2A8D4BC46E9}"/>
              </a:ext>
            </a:extLst>
          </p:cNvPr>
          <p:cNvSpPr txBox="1"/>
          <p:nvPr/>
        </p:nvSpPr>
        <p:spPr bwMode="gray">
          <a:xfrm rot="5400000">
            <a:off x="8561492" y="4377660"/>
            <a:ext cx="1840568" cy="276999"/>
          </a:xfrm>
          <a:prstGeom prst="rect">
            <a:avLst/>
          </a:prstGeom>
          <a:noFill/>
        </p:spPr>
        <p:txBody>
          <a:bodyPr wrap="none" rtlCol="0">
            <a:spAutoFit/>
          </a:bodyPr>
          <a:lstStyle/>
          <a:p>
            <a:r>
              <a:rPr lang="en-US" sz="1200" dirty="0"/>
              <a:t>2001::1:2:102:200:0/127</a:t>
            </a:r>
          </a:p>
        </p:txBody>
      </p:sp>
      <p:sp>
        <p:nvSpPr>
          <p:cNvPr id="157" name="TextBox 156">
            <a:extLst>
              <a:ext uri="{FF2B5EF4-FFF2-40B4-BE49-F238E27FC236}">
                <a16:creationId xmlns="" xmlns:a16="http://schemas.microsoft.com/office/drawing/2014/main" id="{B3AF16EE-022E-4E7E-B8F6-60DF5B9E37D7}"/>
              </a:ext>
            </a:extLst>
          </p:cNvPr>
          <p:cNvSpPr txBox="1"/>
          <p:nvPr/>
        </p:nvSpPr>
        <p:spPr bwMode="gray">
          <a:xfrm>
            <a:off x="5135720" y="3137217"/>
            <a:ext cx="2013693" cy="276999"/>
          </a:xfrm>
          <a:prstGeom prst="rect">
            <a:avLst/>
          </a:prstGeom>
          <a:noFill/>
        </p:spPr>
        <p:txBody>
          <a:bodyPr wrap="none" rtlCol="0">
            <a:spAutoFit/>
          </a:bodyPr>
          <a:lstStyle/>
          <a:p>
            <a:r>
              <a:rPr lang="en-US" sz="1200" dirty="0"/>
              <a:t>2001::1:102:303:100:0/127</a:t>
            </a:r>
          </a:p>
        </p:txBody>
      </p:sp>
      <p:sp>
        <p:nvSpPr>
          <p:cNvPr id="158" name="TextBox 157">
            <a:extLst>
              <a:ext uri="{FF2B5EF4-FFF2-40B4-BE49-F238E27FC236}">
                <a16:creationId xmlns="" xmlns:a16="http://schemas.microsoft.com/office/drawing/2014/main" id="{D3ECC81F-3227-451A-A58A-3FCAB81A4008}"/>
              </a:ext>
            </a:extLst>
          </p:cNvPr>
          <p:cNvSpPr txBox="1"/>
          <p:nvPr/>
        </p:nvSpPr>
        <p:spPr bwMode="gray">
          <a:xfrm>
            <a:off x="5135720" y="5548036"/>
            <a:ext cx="2013693" cy="276999"/>
          </a:xfrm>
          <a:prstGeom prst="rect">
            <a:avLst/>
          </a:prstGeom>
          <a:noFill/>
        </p:spPr>
        <p:txBody>
          <a:bodyPr wrap="none" rtlCol="0">
            <a:spAutoFit/>
          </a:bodyPr>
          <a:lstStyle/>
          <a:p>
            <a:r>
              <a:rPr lang="en-US" sz="1200" dirty="0"/>
              <a:t>2001::1:102:404:200:0/127</a:t>
            </a:r>
          </a:p>
        </p:txBody>
      </p:sp>
      <p:sp>
        <p:nvSpPr>
          <p:cNvPr id="159" name="TextBox 158">
            <a:extLst>
              <a:ext uri="{FF2B5EF4-FFF2-40B4-BE49-F238E27FC236}">
                <a16:creationId xmlns="" xmlns:a16="http://schemas.microsoft.com/office/drawing/2014/main" id="{E6E6659D-C5BA-4752-A2D5-1C48EE7ADF3D}"/>
              </a:ext>
            </a:extLst>
          </p:cNvPr>
          <p:cNvSpPr txBox="1"/>
          <p:nvPr/>
        </p:nvSpPr>
        <p:spPr bwMode="gray">
          <a:xfrm>
            <a:off x="1888718" y="2800960"/>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2001::1:100:0:0/128</a:t>
            </a:r>
            <a:endParaRPr lang="en-US" sz="1200" dirty="0"/>
          </a:p>
        </p:txBody>
      </p:sp>
      <p:sp>
        <p:nvSpPr>
          <p:cNvPr id="160" name="TextBox 159">
            <a:extLst>
              <a:ext uri="{FF2B5EF4-FFF2-40B4-BE49-F238E27FC236}">
                <a16:creationId xmlns="" xmlns:a16="http://schemas.microsoft.com/office/drawing/2014/main" id="{CDB086A2-B7AC-4A2D-B663-1BFB53ABD8BA}"/>
              </a:ext>
            </a:extLst>
          </p:cNvPr>
          <p:cNvSpPr txBox="1"/>
          <p:nvPr/>
        </p:nvSpPr>
        <p:spPr bwMode="gray">
          <a:xfrm>
            <a:off x="4051477" y="2800960"/>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2001::1:300:0:0/128</a:t>
            </a:r>
            <a:endParaRPr lang="en-US" sz="1200" dirty="0"/>
          </a:p>
        </p:txBody>
      </p:sp>
      <p:sp>
        <p:nvSpPr>
          <p:cNvPr id="161" name="TextBox 160">
            <a:extLst>
              <a:ext uri="{FF2B5EF4-FFF2-40B4-BE49-F238E27FC236}">
                <a16:creationId xmlns="" xmlns:a16="http://schemas.microsoft.com/office/drawing/2014/main" id="{A86460BB-2550-4637-A30E-09FA546ACE66}"/>
              </a:ext>
            </a:extLst>
          </p:cNvPr>
          <p:cNvSpPr txBox="1"/>
          <p:nvPr/>
        </p:nvSpPr>
        <p:spPr bwMode="gray">
          <a:xfrm>
            <a:off x="1905824" y="5924991"/>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2001::1:200:0:0/128</a:t>
            </a:r>
            <a:endParaRPr lang="en-US" sz="1200" dirty="0"/>
          </a:p>
        </p:txBody>
      </p:sp>
      <p:sp>
        <p:nvSpPr>
          <p:cNvPr id="162" name="TextBox 161">
            <a:extLst>
              <a:ext uri="{FF2B5EF4-FFF2-40B4-BE49-F238E27FC236}">
                <a16:creationId xmlns="" xmlns:a16="http://schemas.microsoft.com/office/drawing/2014/main" id="{2C30D8CE-2762-44E7-92E9-05ED175CBD75}"/>
              </a:ext>
            </a:extLst>
          </p:cNvPr>
          <p:cNvSpPr txBox="1"/>
          <p:nvPr/>
        </p:nvSpPr>
        <p:spPr bwMode="gray">
          <a:xfrm>
            <a:off x="4035243" y="5924991"/>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2001::1:400:0:0/128</a:t>
            </a:r>
            <a:endParaRPr lang="en-US" sz="1200" dirty="0"/>
          </a:p>
        </p:txBody>
      </p:sp>
      <p:sp>
        <p:nvSpPr>
          <p:cNvPr id="163" name="TextBox 162">
            <a:extLst>
              <a:ext uri="{FF2B5EF4-FFF2-40B4-BE49-F238E27FC236}">
                <a16:creationId xmlns="" xmlns:a16="http://schemas.microsoft.com/office/drawing/2014/main" id="{9B2A3279-13CA-4D30-84FC-8BEF840CB655}"/>
              </a:ext>
            </a:extLst>
          </p:cNvPr>
          <p:cNvSpPr txBox="1"/>
          <p:nvPr/>
        </p:nvSpPr>
        <p:spPr bwMode="gray">
          <a:xfrm>
            <a:off x="6302890" y="2805945"/>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2001::2:300:0:0/128</a:t>
            </a:r>
            <a:endParaRPr lang="en-US" sz="1200" dirty="0"/>
          </a:p>
        </p:txBody>
      </p:sp>
      <p:sp>
        <p:nvSpPr>
          <p:cNvPr id="164" name="TextBox 163">
            <a:extLst>
              <a:ext uri="{FF2B5EF4-FFF2-40B4-BE49-F238E27FC236}">
                <a16:creationId xmlns="" xmlns:a16="http://schemas.microsoft.com/office/drawing/2014/main" id="{1FCDA6EA-0832-4A0D-A9AD-D5DAC253FCAA}"/>
              </a:ext>
            </a:extLst>
          </p:cNvPr>
          <p:cNvSpPr txBox="1"/>
          <p:nvPr/>
        </p:nvSpPr>
        <p:spPr bwMode="gray">
          <a:xfrm>
            <a:off x="6286656" y="5929976"/>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2001::2:400:0:0/128</a:t>
            </a:r>
            <a:endParaRPr lang="en-US" sz="1200" dirty="0"/>
          </a:p>
        </p:txBody>
      </p:sp>
      <p:sp>
        <p:nvSpPr>
          <p:cNvPr id="165" name="TextBox 164">
            <a:extLst>
              <a:ext uri="{FF2B5EF4-FFF2-40B4-BE49-F238E27FC236}">
                <a16:creationId xmlns="" xmlns:a16="http://schemas.microsoft.com/office/drawing/2014/main" id="{3FDA4780-0B41-4A20-8DE2-309FE42A2B6E}"/>
              </a:ext>
            </a:extLst>
          </p:cNvPr>
          <p:cNvSpPr txBox="1"/>
          <p:nvPr/>
        </p:nvSpPr>
        <p:spPr bwMode="gray">
          <a:xfrm>
            <a:off x="8443536" y="2805945"/>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2001::2:100:0:0/128</a:t>
            </a:r>
            <a:endParaRPr lang="en-US" sz="1200" dirty="0"/>
          </a:p>
        </p:txBody>
      </p:sp>
      <p:sp>
        <p:nvSpPr>
          <p:cNvPr id="166" name="TextBox 165">
            <a:extLst>
              <a:ext uri="{FF2B5EF4-FFF2-40B4-BE49-F238E27FC236}">
                <a16:creationId xmlns="" xmlns:a16="http://schemas.microsoft.com/office/drawing/2014/main" id="{4044814A-BE2E-46D2-A986-240683E8BC97}"/>
              </a:ext>
            </a:extLst>
          </p:cNvPr>
          <p:cNvSpPr txBox="1"/>
          <p:nvPr/>
        </p:nvSpPr>
        <p:spPr bwMode="gray">
          <a:xfrm>
            <a:off x="8460642" y="5929976"/>
            <a:ext cx="1864613" cy="276999"/>
          </a:xfrm>
          <a:prstGeom prst="rect">
            <a:avLst/>
          </a:prstGeom>
          <a:noFill/>
        </p:spPr>
        <p:txBody>
          <a:bodyPr wrap="none" rtlCol="0">
            <a:spAutoFit/>
          </a:bodyPr>
          <a:lstStyle/>
          <a:p>
            <a:r>
              <a:rPr lang="en-US" sz="1200" dirty="0"/>
              <a:t>L0</a:t>
            </a:r>
            <a:r>
              <a:rPr lang="zh-CN" altLang="en-US" sz="1200" dirty="0"/>
              <a:t>：</a:t>
            </a:r>
            <a:r>
              <a:rPr lang="en-US" altLang="zh-CN" sz="1200" dirty="0"/>
              <a:t>2001::2:200:0:0/128</a:t>
            </a:r>
            <a:endParaRPr lang="en-US" sz="1200" dirty="0"/>
          </a:p>
        </p:txBody>
      </p:sp>
      <p:sp>
        <p:nvSpPr>
          <p:cNvPr id="167" name="TextBox 166">
            <a:extLst>
              <a:ext uri="{FF2B5EF4-FFF2-40B4-BE49-F238E27FC236}">
                <a16:creationId xmlns="" xmlns:a16="http://schemas.microsoft.com/office/drawing/2014/main" id="{FAF9BA58-4F7B-4312-A694-2E99AEF0D1E8}"/>
              </a:ext>
            </a:extLst>
          </p:cNvPr>
          <p:cNvSpPr txBox="1"/>
          <p:nvPr/>
        </p:nvSpPr>
        <p:spPr bwMode="gray">
          <a:xfrm>
            <a:off x="4533164" y="3401373"/>
            <a:ext cx="306494" cy="276999"/>
          </a:xfrm>
          <a:prstGeom prst="rect">
            <a:avLst/>
          </a:prstGeom>
          <a:noFill/>
        </p:spPr>
        <p:txBody>
          <a:bodyPr wrap="none" rtlCol="0">
            <a:spAutoFit/>
          </a:bodyPr>
          <a:lstStyle/>
          <a:p>
            <a:r>
              <a:rPr lang="en-US" sz="1200" dirty="0"/>
              <a:t>.0</a:t>
            </a:r>
          </a:p>
        </p:txBody>
      </p:sp>
      <p:sp>
        <p:nvSpPr>
          <p:cNvPr id="168" name="TextBox 167">
            <a:extLst>
              <a:ext uri="{FF2B5EF4-FFF2-40B4-BE49-F238E27FC236}">
                <a16:creationId xmlns="" xmlns:a16="http://schemas.microsoft.com/office/drawing/2014/main" id="{682F0E8C-8E39-485C-B63A-ED0A402B137D}"/>
              </a:ext>
            </a:extLst>
          </p:cNvPr>
          <p:cNvSpPr txBox="1"/>
          <p:nvPr/>
        </p:nvSpPr>
        <p:spPr bwMode="gray">
          <a:xfrm>
            <a:off x="2952849" y="3398381"/>
            <a:ext cx="306494" cy="276999"/>
          </a:xfrm>
          <a:prstGeom prst="rect">
            <a:avLst/>
          </a:prstGeom>
          <a:noFill/>
        </p:spPr>
        <p:txBody>
          <a:bodyPr wrap="none" rtlCol="0">
            <a:spAutoFit/>
          </a:bodyPr>
          <a:lstStyle/>
          <a:p>
            <a:r>
              <a:rPr lang="en-US" sz="1200" dirty="0"/>
              <a:t>.1</a:t>
            </a:r>
          </a:p>
        </p:txBody>
      </p:sp>
      <p:sp>
        <p:nvSpPr>
          <p:cNvPr id="169" name="TextBox 168">
            <a:extLst>
              <a:ext uri="{FF2B5EF4-FFF2-40B4-BE49-F238E27FC236}">
                <a16:creationId xmlns="" xmlns:a16="http://schemas.microsoft.com/office/drawing/2014/main" id="{417BB2D9-6083-4199-AA6A-8A7E909CE86D}"/>
              </a:ext>
            </a:extLst>
          </p:cNvPr>
          <p:cNvSpPr txBox="1"/>
          <p:nvPr/>
        </p:nvSpPr>
        <p:spPr bwMode="gray">
          <a:xfrm>
            <a:off x="2799602" y="5169466"/>
            <a:ext cx="306494" cy="276999"/>
          </a:xfrm>
          <a:prstGeom prst="rect">
            <a:avLst/>
          </a:prstGeom>
          <a:noFill/>
        </p:spPr>
        <p:txBody>
          <a:bodyPr wrap="none" rtlCol="0">
            <a:spAutoFit/>
          </a:bodyPr>
          <a:lstStyle/>
          <a:p>
            <a:r>
              <a:rPr lang="en-US" sz="1200" dirty="0"/>
              <a:t>.1</a:t>
            </a:r>
          </a:p>
        </p:txBody>
      </p:sp>
      <p:sp>
        <p:nvSpPr>
          <p:cNvPr id="170" name="TextBox 169">
            <a:extLst>
              <a:ext uri="{FF2B5EF4-FFF2-40B4-BE49-F238E27FC236}">
                <a16:creationId xmlns="" xmlns:a16="http://schemas.microsoft.com/office/drawing/2014/main" id="{CFB9122F-FB2B-4503-AF6B-9D63E3367CA1}"/>
              </a:ext>
            </a:extLst>
          </p:cNvPr>
          <p:cNvSpPr txBox="1"/>
          <p:nvPr/>
        </p:nvSpPr>
        <p:spPr bwMode="gray">
          <a:xfrm>
            <a:off x="2799602" y="3562683"/>
            <a:ext cx="306494" cy="276999"/>
          </a:xfrm>
          <a:prstGeom prst="rect">
            <a:avLst/>
          </a:prstGeom>
          <a:noFill/>
        </p:spPr>
        <p:txBody>
          <a:bodyPr wrap="none" rtlCol="0">
            <a:spAutoFit/>
          </a:bodyPr>
          <a:lstStyle/>
          <a:p>
            <a:r>
              <a:rPr lang="en-US" sz="1200" dirty="0"/>
              <a:t>.0</a:t>
            </a:r>
          </a:p>
        </p:txBody>
      </p:sp>
      <p:sp>
        <p:nvSpPr>
          <p:cNvPr id="171" name="TextBox 170">
            <a:extLst>
              <a:ext uri="{FF2B5EF4-FFF2-40B4-BE49-F238E27FC236}">
                <a16:creationId xmlns="" xmlns:a16="http://schemas.microsoft.com/office/drawing/2014/main" id="{3083DEC4-DD50-48B1-A6CB-146DD0CEE357}"/>
              </a:ext>
            </a:extLst>
          </p:cNvPr>
          <p:cNvSpPr txBox="1"/>
          <p:nvPr/>
        </p:nvSpPr>
        <p:spPr bwMode="gray">
          <a:xfrm>
            <a:off x="4692901" y="5169466"/>
            <a:ext cx="306494" cy="276999"/>
          </a:xfrm>
          <a:prstGeom prst="rect">
            <a:avLst/>
          </a:prstGeom>
          <a:noFill/>
        </p:spPr>
        <p:txBody>
          <a:bodyPr wrap="none" rtlCol="0">
            <a:spAutoFit/>
          </a:bodyPr>
          <a:lstStyle/>
          <a:p>
            <a:r>
              <a:rPr lang="en-US" sz="1200" dirty="0"/>
              <a:t>.1</a:t>
            </a:r>
          </a:p>
        </p:txBody>
      </p:sp>
      <p:sp>
        <p:nvSpPr>
          <p:cNvPr id="172" name="TextBox 171">
            <a:extLst>
              <a:ext uri="{FF2B5EF4-FFF2-40B4-BE49-F238E27FC236}">
                <a16:creationId xmlns="" xmlns:a16="http://schemas.microsoft.com/office/drawing/2014/main" id="{0E0EB855-EFE8-4F7F-862B-E186797A268A}"/>
              </a:ext>
            </a:extLst>
          </p:cNvPr>
          <p:cNvSpPr txBox="1"/>
          <p:nvPr/>
        </p:nvSpPr>
        <p:spPr bwMode="gray">
          <a:xfrm>
            <a:off x="4692901" y="3562683"/>
            <a:ext cx="306494" cy="276999"/>
          </a:xfrm>
          <a:prstGeom prst="rect">
            <a:avLst/>
          </a:prstGeom>
          <a:noFill/>
        </p:spPr>
        <p:txBody>
          <a:bodyPr wrap="none" rtlCol="0">
            <a:spAutoFit/>
          </a:bodyPr>
          <a:lstStyle/>
          <a:p>
            <a:r>
              <a:rPr lang="en-US" sz="1200" dirty="0"/>
              <a:t>.0</a:t>
            </a:r>
          </a:p>
        </p:txBody>
      </p:sp>
      <p:sp>
        <p:nvSpPr>
          <p:cNvPr id="173" name="TextBox 172">
            <a:extLst>
              <a:ext uri="{FF2B5EF4-FFF2-40B4-BE49-F238E27FC236}">
                <a16:creationId xmlns="" xmlns:a16="http://schemas.microsoft.com/office/drawing/2014/main" id="{9A4EA1FA-BC8D-45F2-B699-0DC4D5807342}"/>
              </a:ext>
            </a:extLst>
          </p:cNvPr>
          <p:cNvSpPr txBox="1"/>
          <p:nvPr/>
        </p:nvSpPr>
        <p:spPr bwMode="gray">
          <a:xfrm>
            <a:off x="4533164" y="5315906"/>
            <a:ext cx="306494" cy="276999"/>
          </a:xfrm>
          <a:prstGeom prst="rect">
            <a:avLst/>
          </a:prstGeom>
          <a:noFill/>
        </p:spPr>
        <p:txBody>
          <a:bodyPr wrap="none" rtlCol="0">
            <a:spAutoFit/>
          </a:bodyPr>
          <a:lstStyle/>
          <a:p>
            <a:r>
              <a:rPr lang="en-US" sz="1200" dirty="0"/>
              <a:t>.0</a:t>
            </a:r>
          </a:p>
        </p:txBody>
      </p:sp>
      <p:sp>
        <p:nvSpPr>
          <p:cNvPr id="174" name="TextBox 173">
            <a:extLst>
              <a:ext uri="{FF2B5EF4-FFF2-40B4-BE49-F238E27FC236}">
                <a16:creationId xmlns="" xmlns:a16="http://schemas.microsoft.com/office/drawing/2014/main" id="{00F392A4-30F5-4D13-AB29-AA18F914E053}"/>
              </a:ext>
            </a:extLst>
          </p:cNvPr>
          <p:cNvSpPr txBox="1"/>
          <p:nvPr/>
        </p:nvSpPr>
        <p:spPr bwMode="gray">
          <a:xfrm>
            <a:off x="2952849" y="5312914"/>
            <a:ext cx="306494" cy="276999"/>
          </a:xfrm>
          <a:prstGeom prst="rect">
            <a:avLst/>
          </a:prstGeom>
          <a:noFill/>
        </p:spPr>
        <p:txBody>
          <a:bodyPr wrap="none" rtlCol="0">
            <a:spAutoFit/>
          </a:bodyPr>
          <a:lstStyle/>
          <a:p>
            <a:r>
              <a:rPr lang="en-US" sz="1200" dirty="0"/>
              <a:t>.1</a:t>
            </a:r>
          </a:p>
        </p:txBody>
      </p:sp>
      <p:sp>
        <p:nvSpPr>
          <p:cNvPr id="175" name="TextBox 174">
            <a:extLst>
              <a:ext uri="{FF2B5EF4-FFF2-40B4-BE49-F238E27FC236}">
                <a16:creationId xmlns="" xmlns:a16="http://schemas.microsoft.com/office/drawing/2014/main" id="{C5CCA70C-52CE-406B-970D-28CCD0CEA1B3}"/>
              </a:ext>
            </a:extLst>
          </p:cNvPr>
          <p:cNvSpPr txBox="1"/>
          <p:nvPr/>
        </p:nvSpPr>
        <p:spPr bwMode="gray">
          <a:xfrm>
            <a:off x="5115296" y="3401373"/>
            <a:ext cx="306494" cy="276999"/>
          </a:xfrm>
          <a:prstGeom prst="rect">
            <a:avLst/>
          </a:prstGeom>
          <a:noFill/>
        </p:spPr>
        <p:txBody>
          <a:bodyPr wrap="none" rtlCol="0">
            <a:spAutoFit/>
          </a:bodyPr>
          <a:lstStyle/>
          <a:p>
            <a:r>
              <a:rPr lang="en-US" sz="1200" dirty="0"/>
              <a:t>.0</a:t>
            </a:r>
          </a:p>
        </p:txBody>
      </p:sp>
      <p:sp>
        <p:nvSpPr>
          <p:cNvPr id="176" name="TextBox 175">
            <a:extLst>
              <a:ext uri="{FF2B5EF4-FFF2-40B4-BE49-F238E27FC236}">
                <a16:creationId xmlns="" xmlns:a16="http://schemas.microsoft.com/office/drawing/2014/main" id="{61417D38-1CB4-464A-B6BB-B027B464C806}"/>
              </a:ext>
            </a:extLst>
          </p:cNvPr>
          <p:cNvSpPr txBox="1"/>
          <p:nvPr/>
        </p:nvSpPr>
        <p:spPr bwMode="gray">
          <a:xfrm>
            <a:off x="6769727" y="3401373"/>
            <a:ext cx="306494" cy="276999"/>
          </a:xfrm>
          <a:prstGeom prst="rect">
            <a:avLst/>
          </a:prstGeom>
          <a:noFill/>
        </p:spPr>
        <p:txBody>
          <a:bodyPr wrap="none" rtlCol="0">
            <a:spAutoFit/>
          </a:bodyPr>
          <a:lstStyle/>
          <a:p>
            <a:r>
              <a:rPr lang="en-US" sz="1200" dirty="0"/>
              <a:t>.1</a:t>
            </a:r>
          </a:p>
        </p:txBody>
      </p:sp>
      <p:sp>
        <p:nvSpPr>
          <p:cNvPr id="177" name="TextBox 176">
            <a:extLst>
              <a:ext uri="{FF2B5EF4-FFF2-40B4-BE49-F238E27FC236}">
                <a16:creationId xmlns="" xmlns:a16="http://schemas.microsoft.com/office/drawing/2014/main" id="{2EE3C9FA-35D9-443A-998C-BD0C7DEA7A5A}"/>
              </a:ext>
            </a:extLst>
          </p:cNvPr>
          <p:cNvSpPr txBox="1"/>
          <p:nvPr/>
        </p:nvSpPr>
        <p:spPr bwMode="gray">
          <a:xfrm>
            <a:off x="5134331" y="5305449"/>
            <a:ext cx="306494" cy="276999"/>
          </a:xfrm>
          <a:prstGeom prst="rect">
            <a:avLst/>
          </a:prstGeom>
          <a:noFill/>
        </p:spPr>
        <p:txBody>
          <a:bodyPr wrap="none" rtlCol="0">
            <a:spAutoFit/>
          </a:bodyPr>
          <a:lstStyle/>
          <a:p>
            <a:r>
              <a:rPr lang="en-US" sz="1200" dirty="0"/>
              <a:t>.0</a:t>
            </a:r>
          </a:p>
        </p:txBody>
      </p:sp>
      <p:sp>
        <p:nvSpPr>
          <p:cNvPr id="178" name="TextBox 177">
            <a:extLst>
              <a:ext uri="{FF2B5EF4-FFF2-40B4-BE49-F238E27FC236}">
                <a16:creationId xmlns="" xmlns:a16="http://schemas.microsoft.com/office/drawing/2014/main" id="{BFA26B1B-60DE-4D9E-8918-98CE3C811F0B}"/>
              </a:ext>
            </a:extLst>
          </p:cNvPr>
          <p:cNvSpPr txBox="1"/>
          <p:nvPr/>
        </p:nvSpPr>
        <p:spPr bwMode="gray">
          <a:xfrm>
            <a:off x="6788762" y="5305449"/>
            <a:ext cx="306494" cy="276999"/>
          </a:xfrm>
          <a:prstGeom prst="rect">
            <a:avLst/>
          </a:prstGeom>
          <a:noFill/>
        </p:spPr>
        <p:txBody>
          <a:bodyPr wrap="none" rtlCol="0">
            <a:spAutoFit/>
          </a:bodyPr>
          <a:lstStyle/>
          <a:p>
            <a:r>
              <a:rPr lang="en-US" sz="1200" dirty="0"/>
              <a:t>.1</a:t>
            </a:r>
          </a:p>
        </p:txBody>
      </p:sp>
      <p:sp>
        <p:nvSpPr>
          <p:cNvPr id="179" name="TextBox 178">
            <a:extLst>
              <a:ext uri="{FF2B5EF4-FFF2-40B4-BE49-F238E27FC236}">
                <a16:creationId xmlns="" xmlns:a16="http://schemas.microsoft.com/office/drawing/2014/main" id="{D2F721DD-0E1F-4C5B-A046-2824FCF9AC06}"/>
              </a:ext>
            </a:extLst>
          </p:cNvPr>
          <p:cNvSpPr txBox="1"/>
          <p:nvPr/>
        </p:nvSpPr>
        <p:spPr bwMode="gray">
          <a:xfrm>
            <a:off x="7344510" y="5305449"/>
            <a:ext cx="306494" cy="276999"/>
          </a:xfrm>
          <a:prstGeom prst="rect">
            <a:avLst/>
          </a:prstGeom>
          <a:noFill/>
        </p:spPr>
        <p:txBody>
          <a:bodyPr wrap="none" rtlCol="0">
            <a:spAutoFit/>
          </a:bodyPr>
          <a:lstStyle/>
          <a:p>
            <a:r>
              <a:rPr lang="en-US" sz="1200" dirty="0"/>
              <a:t>.0</a:t>
            </a:r>
          </a:p>
        </p:txBody>
      </p:sp>
      <p:sp>
        <p:nvSpPr>
          <p:cNvPr id="180" name="TextBox 179">
            <a:extLst>
              <a:ext uri="{FF2B5EF4-FFF2-40B4-BE49-F238E27FC236}">
                <a16:creationId xmlns="" xmlns:a16="http://schemas.microsoft.com/office/drawing/2014/main" id="{D2428B08-FF19-4613-A610-537A44D5D30C}"/>
              </a:ext>
            </a:extLst>
          </p:cNvPr>
          <p:cNvSpPr txBox="1"/>
          <p:nvPr/>
        </p:nvSpPr>
        <p:spPr bwMode="gray">
          <a:xfrm>
            <a:off x="8998941" y="5305449"/>
            <a:ext cx="306494" cy="276999"/>
          </a:xfrm>
          <a:prstGeom prst="rect">
            <a:avLst/>
          </a:prstGeom>
          <a:noFill/>
        </p:spPr>
        <p:txBody>
          <a:bodyPr wrap="none" rtlCol="0">
            <a:spAutoFit/>
          </a:bodyPr>
          <a:lstStyle/>
          <a:p>
            <a:r>
              <a:rPr lang="en-US" sz="1200" dirty="0"/>
              <a:t>.1</a:t>
            </a:r>
          </a:p>
        </p:txBody>
      </p:sp>
      <p:sp>
        <p:nvSpPr>
          <p:cNvPr id="181" name="TextBox 180">
            <a:extLst>
              <a:ext uri="{FF2B5EF4-FFF2-40B4-BE49-F238E27FC236}">
                <a16:creationId xmlns="" xmlns:a16="http://schemas.microsoft.com/office/drawing/2014/main" id="{B7752E38-4BDE-4C9F-B08C-3A7B20441481}"/>
              </a:ext>
            </a:extLst>
          </p:cNvPr>
          <p:cNvSpPr txBox="1"/>
          <p:nvPr/>
        </p:nvSpPr>
        <p:spPr bwMode="gray">
          <a:xfrm>
            <a:off x="7344510" y="3399879"/>
            <a:ext cx="306494" cy="276999"/>
          </a:xfrm>
          <a:prstGeom prst="rect">
            <a:avLst/>
          </a:prstGeom>
          <a:noFill/>
        </p:spPr>
        <p:txBody>
          <a:bodyPr wrap="none" rtlCol="0">
            <a:spAutoFit/>
          </a:bodyPr>
          <a:lstStyle/>
          <a:p>
            <a:r>
              <a:rPr lang="en-US" sz="1200" dirty="0"/>
              <a:t>.0</a:t>
            </a:r>
          </a:p>
        </p:txBody>
      </p:sp>
      <p:sp>
        <p:nvSpPr>
          <p:cNvPr id="182" name="TextBox 181">
            <a:extLst>
              <a:ext uri="{FF2B5EF4-FFF2-40B4-BE49-F238E27FC236}">
                <a16:creationId xmlns="" xmlns:a16="http://schemas.microsoft.com/office/drawing/2014/main" id="{94B86E21-98A9-4BBE-8339-C25FFF3ED9CC}"/>
              </a:ext>
            </a:extLst>
          </p:cNvPr>
          <p:cNvSpPr txBox="1"/>
          <p:nvPr/>
        </p:nvSpPr>
        <p:spPr bwMode="gray">
          <a:xfrm>
            <a:off x="8998941" y="3399879"/>
            <a:ext cx="306494" cy="276999"/>
          </a:xfrm>
          <a:prstGeom prst="rect">
            <a:avLst/>
          </a:prstGeom>
          <a:noFill/>
        </p:spPr>
        <p:txBody>
          <a:bodyPr wrap="none" rtlCol="0">
            <a:spAutoFit/>
          </a:bodyPr>
          <a:lstStyle/>
          <a:p>
            <a:r>
              <a:rPr lang="en-US" sz="1200" dirty="0"/>
              <a:t>.1</a:t>
            </a:r>
          </a:p>
        </p:txBody>
      </p:sp>
      <p:sp>
        <p:nvSpPr>
          <p:cNvPr id="183" name="TextBox 182">
            <a:extLst>
              <a:ext uri="{FF2B5EF4-FFF2-40B4-BE49-F238E27FC236}">
                <a16:creationId xmlns="" xmlns:a16="http://schemas.microsoft.com/office/drawing/2014/main" id="{187A5AF2-63B5-4E9C-8335-7895500C271B}"/>
              </a:ext>
            </a:extLst>
          </p:cNvPr>
          <p:cNvSpPr txBox="1"/>
          <p:nvPr/>
        </p:nvSpPr>
        <p:spPr bwMode="gray">
          <a:xfrm>
            <a:off x="7217423" y="5169466"/>
            <a:ext cx="306494" cy="276999"/>
          </a:xfrm>
          <a:prstGeom prst="rect">
            <a:avLst/>
          </a:prstGeom>
          <a:noFill/>
        </p:spPr>
        <p:txBody>
          <a:bodyPr wrap="none" rtlCol="0">
            <a:spAutoFit/>
          </a:bodyPr>
          <a:lstStyle/>
          <a:p>
            <a:r>
              <a:rPr lang="en-US" sz="1200" dirty="0"/>
              <a:t>.1</a:t>
            </a:r>
          </a:p>
        </p:txBody>
      </p:sp>
      <p:sp>
        <p:nvSpPr>
          <p:cNvPr id="184" name="TextBox 183">
            <a:extLst>
              <a:ext uri="{FF2B5EF4-FFF2-40B4-BE49-F238E27FC236}">
                <a16:creationId xmlns="" xmlns:a16="http://schemas.microsoft.com/office/drawing/2014/main" id="{5124B1EA-D22F-4363-9AA4-0FECD4CC7EC5}"/>
              </a:ext>
            </a:extLst>
          </p:cNvPr>
          <p:cNvSpPr txBox="1"/>
          <p:nvPr/>
        </p:nvSpPr>
        <p:spPr bwMode="gray">
          <a:xfrm>
            <a:off x="7217423" y="3562683"/>
            <a:ext cx="306494" cy="276999"/>
          </a:xfrm>
          <a:prstGeom prst="rect">
            <a:avLst/>
          </a:prstGeom>
          <a:noFill/>
        </p:spPr>
        <p:txBody>
          <a:bodyPr wrap="none" rtlCol="0">
            <a:spAutoFit/>
          </a:bodyPr>
          <a:lstStyle/>
          <a:p>
            <a:r>
              <a:rPr lang="en-US" sz="1200" dirty="0"/>
              <a:t>.0</a:t>
            </a:r>
          </a:p>
        </p:txBody>
      </p:sp>
      <p:sp>
        <p:nvSpPr>
          <p:cNvPr id="185" name="TextBox 184">
            <a:extLst>
              <a:ext uri="{FF2B5EF4-FFF2-40B4-BE49-F238E27FC236}">
                <a16:creationId xmlns="" xmlns:a16="http://schemas.microsoft.com/office/drawing/2014/main" id="{33CDBB6F-9B6C-4FF9-882B-111C57FAB487}"/>
              </a:ext>
            </a:extLst>
          </p:cNvPr>
          <p:cNvSpPr txBox="1"/>
          <p:nvPr/>
        </p:nvSpPr>
        <p:spPr bwMode="gray">
          <a:xfrm>
            <a:off x="9083603" y="5153137"/>
            <a:ext cx="306494" cy="276999"/>
          </a:xfrm>
          <a:prstGeom prst="rect">
            <a:avLst/>
          </a:prstGeom>
          <a:noFill/>
        </p:spPr>
        <p:txBody>
          <a:bodyPr wrap="none" rtlCol="0">
            <a:spAutoFit/>
          </a:bodyPr>
          <a:lstStyle/>
          <a:p>
            <a:r>
              <a:rPr lang="en-US" sz="1200" dirty="0"/>
              <a:t>.1</a:t>
            </a:r>
          </a:p>
        </p:txBody>
      </p:sp>
      <p:sp>
        <p:nvSpPr>
          <p:cNvPr id="186" name="TextBox 185">
            <a:extLst>
              <a:ext uri="{FF2B5EF4-FFF2-40B4-BE49-F238E27FC236}">
                <a16:creationId xmlns="" xmlns:a16="http://schemas.microsoft.com/office/drawing/2014/main" id="{619E9F6C-2224-4142-B646-40BB445F3C6F}"/>
              </a:ext>
            </a:extLst>
          </p:cNvPr>
          <p:cNvSpPr txBox="1"/>
          <p:nvPr/>
        </p:nvSpPr>
        <p:spPr bwMode="gray">
          <a:xfrm>
            <a:off x="9083603" y="3546354"/>
            <a:ext cx="306494" cy="276999"/>
          </a:xfrm>
          <a:prstGeom prst="rect">
            <a:avLst/>
          </a:prstGeom>
          <a:noFill/>
        </p:spPr>
        <p:txBody>
          <a:bodyPr wrap="none" rtlCol="0">
            <a:spAutoFit/>
          </a:bodyPr>
          <a:lstStyle/>
          <a:p>
            <a:r>
              <a:rPr lang="en-US" sz="1200" dirty="0"/>
              <a:t>.0</a:t>
            </a:r>
          </a:p>
        </p:txBody>
      </p:sp>
      <p:sp>
        <p:nvSpPr>
          <p:cNvPr id="187" name="圆角矩形 75">
            <a:extLst>
              <a:ext uri="{FF2B5EF4-FFF2-40B4-BE49-F238E27FC236}">
                <a16:creationId xmlns="" xmlns:a16="http://schemas.microsoft.com/office/drawing/2014/main" id="{F1B50922-ADEB-4A4E-B4C6-78B24BD9C1D7}"/>
              </a:ext>
            </a:extLst>
          </p:cNvPr>
          <p:cNvSpPr/>
          <p:nvPr/>
        </p:nvSpPr>
        <p:spPr bwMode="gray">
          <a:xfrm>
            <a:off x="809651" y="1505178"/>
            <a:ext cx="10315549" cy="1267106"/>
          </a:xfrm>
          <a:prstGeom prst="roundRect">
            <a:avLst>
              <a:gd name="adj" fmla="val 2420"/>
            </a:avLst>
          </a:prstGeom>
          <a:noFill/>
          <a:ln w="12700" cap="flat" cmpd="sng" algn="ctr">
            <a:solidFill>
              <a:schemeClr val="bg1">
                <a:lumMod val="50000"/>
              </a:schemeClr>
            </a:solidFill>
            <a:prstDash val="solid"/>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969927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D39742-78BA-445A-B168-36D3D4B4C2F7}"/>
              </a:ext>
            </a:extLst>
          </p:cNvPr>
          <p:cNvSpPr>
            <a:spLocks noGrp="1"/>
          </p:cNvSpPr>
          <p:nvPr>
            <p:ph type="title"/>
          </p:nvPr>
        </p:nvSpPr>
        <p:spPr bwMode="gray"/>
        <p:txBody>
          <a:bodyPr/>
          <a:lstStyle/>
          <a:p>
            <a:r>
              <a:rPr lang="en-US" dirty="0"/>
              <a:t>SR</a:t>
            </a:r>
            <a:r>
              <a:rPr lang="en-US" altLang="zh-CN" dirty="0"/>
              <a:t>v6 SID</a:t>
            </a:r>
            <a:r>
              <a:rPr lang="zh-CN" altLang="en-US" dirty="0"/>
              <a:t>介绍</a:t>
            </a:r>
            <a:endParaRPr lang="en-US" dirty="0"/>
          </a:p>
        </p:txBody>
      </p:sp>
      <p:sp>
        <p:nvSpPr>
          <p:cNvPr id="3" name="Text Placeholder 2">
            <a:extLst>
              <a:ext uri="{FF2B5EF4-FFF2-40B4-BE49-F238E27FC236}">
                <a16:creationId xmlns="" xmlns:a16="http://schemas.microsoft.com/office/drawing/2014/main" id="{6D7CA8F1-841E-4FD7-9D42-F98BA5007F81}"/>
              </a:ext>
            </a:extLst>
          </p:cNvPr>
          <p:cNvSpPr>
            <a:spLocks noGrp="1"/>
          </p:cNvSpPr>
          <p:nvPr>
            <p:ph type="body" sz="quarter" idx="10"/>
          </p:nvPr>
        </p:nvSpPr>
        <p:spPr bwMode="gray">
          <a:xfrm>
            <a:off x="455612" y="1047751"/>
            <a:ext cx="11293475" cy="1743570"/>
          </a:xfrm>
        </p:spPr>
        <p:txBody>
          <a:bodyPr/>
          <a:lstStyle/>
          <a:p>
            <a:r>
              <a:rPr lang="en-US" sz="1800" dirty="0"/>
              <a:t>SRv6 SID</a:t>
            </a:r>
            <a:r>
              <a:rPr lang="zh-CN" altLang="en-US" sz="1800" dirty="0"/>
              <a:t>由</a:t>
            </a:r>
            <a:r>
              <a:rPr lang="en-US" sz="1800" dirty="0" err="1"/>
              <a:t>Locator、Function</a:t>
            </a:r>
            <a:r>
              <a:rPr lang="zh-CN" altLang="en-US" sz="1800" dirty="0"/>
              <a:t>和</a:t>
            </a:r>
            <a:r>
              <a:rPr lang="en-US" sz="1800" dirty="0"/>
              <a:t>Arguments</a:t>
            </a:r>
            <a:r>
              <a:rPr lang="zh-CN" altLang="en-US" sz="1800" dirty="0"/>
              <a:t>三部分组成，格式为</a:t>
            </a:r>
            <a:r>
              <a:rPr lang="en-US" sz="1800" dirty="0" err="1"/>
              <a:t>Locator:Function:Arguments</a:t>
            </a:r>
            <a:r>
              <a:rPr lang="en-US" sz="1800" dirty="0"/>
              <a:t>。</a:t>
            </a:r>
            <a:r>
              <a:rPr lang="zh-CN" altLang="en-US" sz="1800" dirty="0"/>
              <a:t>注意</a:t>
            </a:r>
            <a:r>
              <a:rPr lang="en-US" sz="1800" dirty="0"/>
              <a:t>Length(L+F+A) &lt;= 128。</a:t>
            </a:r>
            <a:r>
              <a:rPr lang="zh-CN" altLang="en-US" sz="1800" dirty="0"/>
              <a:t>当长度和小于</a:t>
            </a:r>
            <a:r>
              <a:rPr lang="en-US" altLang="zh-CN" sz="1800" dirty="0"/>
              <a:t>128</a:t>
            </a:r>
            <a:r>
              <a:rPr lang="zh-CN" altLang="en-US" sz="1800" dirty="0"/>
              <a:t>时，保留位用</a:t>
            </a:r>
            <a:r>
              <a:rPr lang="en-US" altLang="zh-CN" sz="1800" dirty="0"/>
              <a:t>0</a:t>
            </a:r>
            <a:r>
              <a:rPr lang="zh-CN" altLang="en-US" sz="1800" dirty="0"/>
              <a:t>补齐。</a:t>
            </a:r>
          </a:p>
          <a:p>
            <a:r>
              <a:rPr lang="zh-CN" altLang="en-US" sz="1800" dirty="0"/>
              <a:t>如果没有</a:t>
            </a:r>
            <a:r>
              <a:rPr lang="en-US" sz="1800" dirty="0"/>
              <a:t>Arguments</a:t>
            </a:r>
            <a:r>
              <a:rPr lang="zh-CN" altLang="en-US" sz="1800" dirty="0"/>
              <a:t>字段，格式是</a:t>
            </a:r>
            <a:r>
              <a:rPr lang="en-US" sz="1800" dirty="0" err="1"/>
              <a:t>Locator:Function。Locator</a:t>
            </a:r>
            <a:r>
              <a:rPr lang="zh-CN" altLang="en-US" sz="1800" dirty="0"/>
              <a:t>占据</a:t>
            </a:r>
            <a:r>
              <a:rPr lang="en-US" sz="1800" dirty="0"/>
              <a:t>IPv6</a:t>
            </a:r>
            <a:r>
              <a:rPr lang="zh-CN" altLang="en-US" sz="1800" dirty="0"/>
              <a:t>地址的高比特位，</a:t>
            </a:r>
            <a:r>
              <a:rPr lang="en-US" sz="1800" dirty="0"/>
              <a:t>Function</a:t>
            </a:r>
            <a:r>
              <a:rPr lang="zh-CN" altLang="en-US" sz="1800" dirty="0"/>
              <a:t>部分占据</a:t>
            </a:r>
            <a:r>
              <a:rPr lang="en-US" sz="1800" dirty="0"/>
              <a:t>IPv6</a:t>
            </a:r>
            <a:r>
              <a:rPr lang="zh-CN" altLang="en-US" sz="1800" dirty="0"/>
              <a:t>地址的剩余部分。</a:t>
            </a:r>
          </a:p>
          <a:p>
            <a:endParaRPr lang="en-US" sz="1800" dirty="0"/>
          </a:p>
        </p:txBody>
      </p:sp>
      <p:sp>
        <p:nvSpPr>
          <p:cNvPr id="41" name="五边形 2">
            <a:extLst>
              <a:ext uri="{FF2B5EF4-FFF2-40B4-BE49-F238E27FC236}">
                <a16:creationId xmlns="" xmlns:a16="http://schemas.microsoft.com/office/drawing/2014/main" id="{ADC0B338-C198-4854-8915-18C77A272901}"/>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42" name="燕尾形 3">
            <a:extLst>
              <a:ext uri="{FF2B5EF4-FFF2-40B4-BE49-F238E27FC236}">
                <a16:creationId xmlns="" xmlns:a16="http://schemas.microsoft.com/office/drawing/2014/main" id="{A0360740-8169-4E7E-B538-0850F8DDAE30}"/>
              </a:ext>
            </a:extLst>
          </p:cNvPr>
          <p:cNvSpPr/>
          <p:nvPr/>
        </p:nvSpPr>
        <p:spPr bwMode="gray">
          <a:xfrm>
            <a:off x="10187805" y="44020"/>
            <a:ext cx="156128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3">
            <a:extLst>
              <a:ext uri="{FF2B5EF4-FFF2-40B4-BE49-F238E27FC236}">
                <a16:creationId xmlns="" xmlns:a16="http://schemas.microsoft.com/office/drawing/2014/main" id="{7FEF47C7-6B45-42CF-B3DC-174057C20BE5}"/>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8">
            <a:extLst>
              <a:ext uri="{FF2B5EF4-FFF2-40B4-BE49-F238E27FC236}">
                <a16:creationId xmlns="" xmlns:a16="http://schemas.microsoft.com/office/drawing/2014/main" id="{35A82B35-BB56-4630-A202-19844BA21C35}"/>
              </a:ext>
            </a:extLst>
          </p:cNvPr>
          <p:cNvGrpSpPr/>
          <p:nvPr/>
        </p:nvGrpSpPr>
        <p:grpSpPr bwMode="gray">
          <a:xfrm>
            <a:off x="3020310" y="3302023"/>
            <a:ext cx="6152455" cy="1487795"/>
            <a:chOff x="2776915" y="1547119"/>
            <a:chExt cx="5422426" cy="1348726"/>
          </a:xfrm>
        </p:grpSpPr>
        <p:grpSp>
          <p:nvGrpSpPr>
            <p:cNvPr id="8" name="组合 17">
              <a:extLst>
                <a:ext uri="{FF2B5EF4-FFF2-40B4-BE49-F238E27FC236}">
                  <a16:creationId xmlns="" xmlns:a16="http://schemas.microsoft.com/office/drawing/2014/main" id="{88C8BB6E-5BCB-4FFD-BC54-AABC443A34D3}"/>
                </a:ext>
              </a:extLst>
            </p:cNvPr>
            <p:cNvGrpSpPr/>
            <p:nvPr/>
          </p:nvGrpSpPr>
          <p:grpSpPr bwMode="gray">
            <a:xfrm>
              <a:off x="4069990" y="2586765"/>
              <a:ext cx="3256019" cy="309080"/>
              <a:chOff x="4037103" y="3396803"/>
              <a:chExt cx="3256019" cy="369706"/>
            </a:xfrm>
          </p:grpSpPr>
          <p:sp>
            <p:nvSpPr>
              <p:cNvPr id="19" name="矩形 10">
                <a:extLst>
                  <a:ext uri="{FF2B5EF4-FFF2-40B4-BE49-F238E27FC236}">
                    <a16:creationId xmlns="" xmlns:a16="http://schemas.microsoft.com/office/drawing/2014/main" id="{19EB0AF0-5CE2-4A3D-A13E-DBD4338197AA}"/>
                  </a:ext>
                </a:extLst>
              </p:cNvPr>
              <p:cNvSpPr/>
              <p:nvPr/>
            </p:nvSpPr>
            <p:spPr bwMode="gray">
              <a:xfrm>
                <a:off x="4037103" y="3396803"/>
                <a:ext cx="993233" cy="369705"/>
              </a:xfrm>
              <a:prstGeom prst="rect">
                <a:avLst/>
              </a:prstGeom>
              <a:solidFill>
                <a:srgbClr val="F6B78C"/>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Locator</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1">
                <a:extLst>
                  <a:ext uri="{FF2B5EF4-FFF2-40B4-BE49-F238E27FC236}">
                    <a16:creationId xmlns="" xmlns:a16="http://schemas.microsoft.com/office/drawing/2014/main" id="{44471DAC-CBA6-4018-BA39-F588CDFC0BE6}"/>
                  </a:ext>
                </a:extLst>
              </p:cNvPr>
              <p:cNvSpPr/>
              <p:nvPr/>
            </p:nvSpPr>
            <p:spPr bwMode="gray">
              <a:xfrm>
                <a:off x="5030336" y="3397722"/>
                <a:ext cx="1065664" cy="368786"/>
              </a:xfrm>
              <a:prstGeom prst="rect">
                <a:avLst/>
              </a:prstGeom>
              <a:solidFill>
                <a:srgbClr val="FDE397"/>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Function</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12">
                <a:extLst>
                  <a:ext uri="{FF2B5EF4-FFF2-40B4-BE49-F238E27FC236}">
                    <a16:creationId xmlns="" xmlns:a16="http://schemas.microsoft.com/office/drawing/2014/main" id="{A646F26D-052A-40C2-AC9D-892A1ABCC532}"/>
                  </a:ext>
                </a:extLst>
              </p:cNvPr>
              <p:cNvSpPr/>
              <p:nvPr/>
            </p:nvSpPr>
            <p:spPr bwMode="gray">
              <a:xfrm>
                <a:off x="6103266" y="3408555"/>
                <a:ext cx="1189856" cy="357954"/>
              </a:xfrm>
              <a:prstGeom prst="rect">
                <a:avLst/>
              </a:prstGeom>
              <a:solidFill>
                <a:srgbClr val="AFD89C"/>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400" b="1"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Arguments</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 name="组合 16">
              <a:extLst>
                <a:ext uri="{FF2B5EF4-FFF2-40B4-BE49-F238E27FC236}">
                  <a16:creationId xmlns="" xmlns:a16="http://schemas.microsoft.com/office/drawing/2014/main" id="{43CF5158-8249-4559-AF46-C58592EA13E4}"/>
                </a:ext>
              </a:extLst>
            </p:cNvPr>
            <p:cNvGrpSpPr/>
            <p:nvPr/>
          </p:nvGrpSpPr>
          <p:grpSpPr bwMode="gray">
            <a:xfrm>
              <a:off x="2776915" y="1547119"/>
              <a:ext cx="5422426" cy="605118"/>
              <a:chOff x="2744028" y="2357156"/>
              <a:chExt cx="5422426" cy="813463"/>
            </a:xfrm>
          </p:grpSpPr>
          <p:grpSp>
            <p:nvGrpSpPr>
              <p:cNvPr id="12" name="组合 3">
                <a:extLst>
                  <a:ext uri="{FF2B5EF4-FFF2-40B4-BE49-F238E27FC236}">
                    <a16:creationId xmlns="" xmlns:a16="http://schemas.microsoft.com/office/drawing/2014/main" id="{13BEA1AE-09BF-4C21-A7C7-7AC7D8846DD4}"/>
                  </a:ext>
                </a:extLst>
              </p:cNvPr>
              <p:cNvGrpSpPr/>
              <p:nvPr/>
            </p:nvGrpSpPr>
            <p:grpSpPr bwMode="gray">
              <a:xfrm>
                <a:off x="2744028" y="2357156"/>
                <a:ext cx="5422426" cy="813461"/>
                <a:chOff x="1209352" y="2089356"/>
                <a:chExt cx="5422426" cy="952723"/>
              </a:xfrm>
            </p:grpSpPr>
            <p:sp>
              <p:nvSpPr>
                <p:cNvPr id="16" name="Rectangle 2">
                  <a:extLst>
                    <a:ext uri="{FF2B5EF4-FFF2-40B4-BE49-F238E27FC236}">
                      <a16:creationId xmlns="" xmlns:a16="http://schemas.microsoft.com/office/drawing/2014/main" id="{3C15E2CD-E790-49C3-8F9B-9735015B7D05}"/>
                    </a:ext>
                  </a:extLst>
                </p:cNvPr>
                <p:cNvSpPr/>
                <p:nvPr/>
              </p:nvSpPr>
              <p:spPr bwMode="gray">
                <a:xfrm>
                  <a:off x="5345962" y="2089356"/>
                  <a:ext cx="1285816" cy="952723"/>
                </a:xfrm>
                <a:prstGeom prst="rect">
                  <a:avLst/>
                </a:prstGeom>
                <a:solidFill>
                  <a:srgbClr val="30B5C5"/>
                </a:solidFill>
                <a:ln w="25400" cap="flat" cmpd="sng" algn="ctr">
                  <a:noFill/>
                  <a:prstDash val="solid"/>
                  <a:headEnd/>
                  <a:tailEn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v6 </a:t>
                  </a: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Payload</a:t>
                  </a:r>
                  <a:endParaRPr kumimoji="0" lang="en-GB"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Rectangle 2">
                  <a:extLst>
                    <a:ext uri="{FF2B5EF4-FFF2-40B4-BE49-F238E27FC236}">
                      <a16:creationId xmlns="" xmlns:a16="http://schemas.microsoft.com/office/drawing/2014/main" id="{CC0B9532-70B5-43F9-BDCC-2FB09B502453}"/>
                    </a:ext>
                  </a:extLst>
                </p:cNvPr>
                <p:cNvSpPr/>
                <p:nvPr/>
              </p:nvSpPr>
              <p:spPr bwMode="gray">
                <a:xfrm>
                  <a:off x="1209352" y="2089356"/>
                  <a:ext cx="1464400" cy="952723"/>
                </a:xfrm>
                <a:prstGeom prst="rect">
                  <a:avLst/>
                </a:prstGeom>
                <a:solidFill>
                  <a:srgbClr val="62B230"/>
                </a:solidFill>
                <a:ln w="25400" cap="flat" cmpd="sng" algn="ctr">
                  <a:noFill/>
                  <a:prstDash val="solid"/>
                  <a:headEnd/>
                  <a:tailEn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v6</a:t>
                  </a: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Header</a:t>
                  </a:r>
                  <a:endParaRPr kumimoji="0" lang="en-GB"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Rectangle 2">
                  <a:extLst>
                    <a:ext uri="{FF2B5EF4-FFF2-40B4-BE49-F238E27FC236}">
                      <a16:creationId xmlns="" xmlns:a16="http://schemas.microsoft.com/office/drawing/2014/main" id="{5F77DB56-9CEF-4808-874D-6E0A4827410C}"/>
                    </a:ext>
                  </a:extLst>
                </p:cNvPr>
                <p:cNvSpPr/>
                <p:nvPr/>
              </p:nvSpPr>
              <p:spPr bwMode="gray">
                <a:xfrm>
                  <a:off x="2694875" y="2089357"/>
                  <a:ext cx="2627545" cy="486630"/>
                </a:xfrm>
                <a:prstGeom prst="rect">
                  <a:avLst/>
                </a:prstGeom>
                <a:solidFill>
                  <a:srgbClr val="ED6D00"/>
                </a:solidFill>
                <a:ln w="25400" cap="flat" cmpd="sng" algn="ctr">
                  <a:noFill/>
                  <a:prstDash val="solid"/>
                  <a:headEnd/>
                  <a:tailEn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SRH</a:t>
                  </a:r>
                  <a:r>
                    <a:rPr kumimoji="0" lang="zh-CN" altLang="en-US" sz="1400" b="1" i="0" u="none" strike="noStrike" kern="0" cap="none" spc="0" normalizeH="0" baseline="0" noProof="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a:t>
                  </a:r>
                  <a:r>
                    <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扩展头）</a:t>
                  </a:r>
                  <a:endParaRPr kumimoji="0" lang="en-GB"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 name="矩形 13">
                <a:extLst>
                  <a:ext uri="{FF2B5EF4-FFF2-40B4-BE49-F238E27FC236}">
                    <a16:creationId xmlns="" xmlns:a16="http://schemas.microsoft.com/office/drawing/2014/main" id="{A11F5F9E-93F1-4B07-9DB6-8FD070CF093E}"/>
                  </a:ext>
                </a:extLst>
              </p:cNvPr>
              <p:cNvSpPr/>
              <p:nvPr/>
            </p:nvSpPr>
            <p:spPr bwMode="gray">
              <a:xfrm>
                <a:off x="4229553" y="2772655"/>
                <a:ext cx="875848" cy="397964"/>
              </a:xfrm>
              <a:prstGeom prst="rect">
                <a:avLst/>
              </a:prstGeom>
              <a:solidFill>
                <a:srgbClr val="ED6D00"/>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128</a:t>
                </a:r>
                <a:r>
                  <a:rPr lang="zh-CN" altLang="en-US" sz="14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bit</a:t>
                </a:r>
                <a:endPar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4">
                <a:extLst>
                  <a:ext uri="{FF2B5EF4-FFF2-40B4-BE49-F238E27FC236}">
                    <a16:creationId xmlns="" xmlns:a16="http://schemas.microsoft.com/office/drawing/2014/main" id="{C56AA478-AE0B-4B42-9357-600DC2900129}"/>
                  </a:ext>
                </a:extLst>
              </p:cNvPr>
              <p:cNvSpPr/>
              <p:nvPr/>
            </p:nvSpPr>
            <p:spPr bwMode="gray">
              <a:xfrm>
                <a:off x="5105401" y="2772655"/>
                <a:ext cx="875848" cy="397964"/>
              </a:xfrm>
              <a:prstGeom prst="rect">
                <a:avLst/>
              </a:prstGeom>
              <a:solidFill>
                <a:srgbClr val="ED6D00"/>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128</a:t>
                </a:r>
                <a:r>
                  <a:rPr lang="zh-CN" altLang="en-US" sz="14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bit</a:t>
                </a:r>
                <a:endPar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5">
                <a:extLst>
                  <a:ext uri="{FF2B5EF4-FFF2-40B4-BE49-F238E27FC236}">
                    <a16:creationId xmlns="" xmlns:a16="http://schemas.microsoft.com/office/drawing/2014/main" id="{D96F76D6-1117-4AE2-AD4B-4387483ED278}"/>
                  </a:ext>
                </a:extLst>
              </p:cNvPr>
              <p:cNvSpPr/>
              <p:nvPr/>
            </p:nvSpPr>
            <p:spPr bwMode="gray">
              <a:xfrm>
                <a:off x="5981249" y="2772655"/>
                <a:ext cx="875848" cy="397964"/>
              </a:xfrm>
              <a:prstGeom prst="rect">
                <a:avLst/>
              </a:prstGeom>
              <a:solidFill>
                <a:srgbClr val="ED6D00"/>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128</a:t>
                </a:r>
                <a:r>
                  <a:rPr lang="zh-CN" altLang="en-US" sz="14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bit</a:t>
                </a:r>
                <a:endPar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0" name="直接连接符 19">
              <a:extLst>
                <a:ext uri="{FF2B5EF4-FFF2-40B4-BE49-F238E27FC236}">
                  <a16:creationId xmlns="" xmlns:a16="http://schemas.microsoft.com/office/drawing/2014/main" id="{7BDA0146-3CEF-454E-BF97-5F7EFC796E86}"/>
                </a:ext>
              </a:extLst>
            </p:cNvPr>
            <p:cNvCxnSpPr/>
            <p:nvPr/>
          </p:nvCxnSpPr>
          <p:spPr bwMode="gray">
            <a:xfrm flipH="1">
              <a:off x="4069990" y="2152237"/>
              <a:ext cx="1068298" cy="43452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20">
              <a:extLst>
                <a:ext uri="{FF2B5EF4-FFF2-40B4-BE49-F238E27FC236}">
                  <a16:creationId xmlns="" xmlns:a16="http://schemas.microsoft.com/office/drawing/2014/main" id="{D927C323-FB31-44A6-869F-02DADDDBBF4C}"/>
                </a:ext>
              </a:extLst>
            </p:cNvPr>
            <p:cNvCxnSpPr>
              <a:cxnSpLocks/>
            </p:cNvCxnSpPr>
            <p:nvPr/>
          </p:nvCxnSpPr>
          <p:spPr bwMode="gray">
            <a:xfrm>
              <a:off x="6014137" y="2151469"/>
              <a:ext cx="1311872" cy="455961"/>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grpSp>
      <p:sp>
        <p:nvSpPr>
          <p:cNvPr id="22" name="文本框 23">
            <a:extLst>
              <a:ext uri="{FF2B5EF4-FFF2-40B4-BE49-F238E27FC236}">
                <a16:creationId xmlns="" xmlns:a16="http://schemas.microsoft.com/office/drawing/2014/main" id="{0ACCC27F-410C-4205-B766-256DB8B0887A}"/>
              </a:ext>
            </a:extLst>
          </p:cNvPr>
          <p:cNvSpPr txBox="1"/>
          <p:nvPr/>
        </p:nvSpPr>
        <p:spPr bwMode="gray">
          <a:xfrm>
            <a:off x="1678436" y="4480237"/>
            <a:ext cx="2683748"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SRv6 Segment</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地址格式</a:t>
            </a:r>
          </a:p>
        </p:txBody>
      </p:sp>
      <p:sp>
        <p:nvSpPr>
          <p:cNvPr id="24" name="TextBox 23">
            <a:extLst>
              <a:ext uri="{FF2B5EF4-FFF2-40B4-BE49-F238E27FC236}">
                <a16:creationId xmlns="" xmlns:a16="http://schemas.microsoft.com/office/drawing/2014/main" id="{BA0FAB3A-16E1-4A29-A1AA-A358F594A272}"/>
              </a:ext>
            </a:extLst>
          </p:cNvPr>
          <p:cNvSpPr txBox="1"/>
          <p:nvPr/>
        </p:nvSpPr>
        <p:spPr bwMode="gray">
          <a:xfrm>
            <a:off x="2651100" y="5260988"/>
            <a:ext cx="7135792" cy="369332"/>
          </a:xfrm>
          <a:prstGeom prst="rect">
            <a:avLst/>
          </a:prstGeom>
          <a:noFill/>
        </p:spPr>
        <p:txBody>
          <a:bodyPr wrap="square">
            <a:spAutoFit/>
          </a:bodyPr>
          <a:lstStyle/>
          <a:p>
            <a:r>
              <a:rPr lang="en-US" altLang="zh-CN" dirty="0"/>
              <a:t>|--</a:t>
            </a:r>
            <a:r>
              <a:rPr lang="en-US" dirty="0"/>
              <a:t>Locator--|--Dynamic Opcode--|--Static Opcode--|--</a:t>
            </a:r>
            <a:r>
              <a:rPr lang="en-US" dirty="0" err="1"/>
              <a:t>Args</a:t>
            </a:r>
            <a:r>
              <a:rPr lang="en-US" dirty="0"/>
              <a:t>--|</a:t>
            </a:r>
          </a:p>
        </p:txBody>
      </p:sp>
      <p:cxnSp>
        <p:nvCxnSpPr>
          <p:cNvPr id="6" name="Straight Connector 5">
            <a:extLst>
              <a:ext uri="{FF2B5EF4-FFF2-40B4-BE49-F238E27FC236}">
                <a16:creationId xmlns="" xmlns:a16="http://schemas.microsoft.com/office/drawing/2014/main" id="{9501428B-02D9-4868-9715-F965D6699D8E}"/>
              </a:ext>
            </a:extLst>
          </p:cNvPr>
          <p:cNvCxnSpPr>
            <a:cxnSpLocks/>
          </p:cNvCxnSpPr>
          <p:nvPr/>
        </p:nvCxnSpPr>
        <p:spPr bwMode="gray">
          <a:xfrm flipH="1">
            <a:off x="2797839" y="4788014"/>
            <a:ext cx="1689635" cy="5556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DD258224-C052-46E7-990C-A034C89BFF5C}"/>
              </a:ext>
            </a:extLst>
          </p:cNvPr>
          <p:cNvCxnSpPr>
            <a:cxnSpLocks/>
          </p:cNvCxnSpPr>
          <p:nvPr/>
        </p:nvCxnSpPr>
        <p:spPr bwMode="gray">
          <a:xfrm flipH="1">
            <a:off x="3963699" y="4789818"/>
            <a:ext cx="1650729" cy="5538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22ED3000-2371-4ADC-8A18-189F639CB6DF}"/>
              </a:ext>
            </a:extLst>
          </p:cNvPr>
          <p:cNvCxnSpPr>
            <a:cxnSpLocks/>
          </p:cNvCxnSpPr>
          <p:nvPr/>
        </p:nvCxnSpPr>
        <p:spPr bwMode="gray">
          <a:xfrm>
            <a:off x="6823564" y="4789818"/>
            <a:ext cx="1229801" cy="5538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 xmlns:a16="http://schemas.microsoft.com/office/drawing/2014/main" id="{2E7AFDC7-24CB-4469-AC80-4E50232BCC43}"/>
              </a:ext>
            </a:extLst>
          </p:cNvPr>
          <p:cNvCxnSpPr>
            <a:cxnSpLocks/>
          </p:cNvCxnSpPr>
          <p:nvPr/>
        </p:nvCxnSpPr>
        <p:spPr bwMode="gray">
          <a:xfrm>
            <a:off x="8181855" y="4788014"/>
            <a:ext cx="736838" cy="5556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756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D39742-78BA-445A-B168-36D3D4B4C2F7}"/>
              </a:ext>
            </a:extLst>
          </p:cNvPr>
          <p:cNvSpPr>
            <a:spLocks noGrp="1"/>
          </p:cNvSpPr>
          <p:nvPr>
            <p:ph type="title"/>
          </p:nvPr>
        </p:nvSpPr>
        <p:spPr bwMode="gray"/>
        <p:txBody>
          <a:bodyPr/>
          <a:lstStyle/>
          <a:p>
            <a:r>
              <a:rPr lang="en-US" dirty="0"/>
              <a:t>SR</a:t>
            </a:r>
            <a:r>
              <a:rPr lang="en-US" altLang="zh-CN" dirty="0"/>
              <a:t>v6 Locator</a:t>
            </a:r>
            <a:r>
              <a:rPr lang="zh-CN" altLang="en-US" dirty="0"/>
              <a:t>介绍</a:t>
            </a:r>
            <a:endParaRPr lang="en-US" dirty="0"/>
          </a:p>
        </p:txBody>
      </p:sp>
      <p:sp>
        <p:nvSpPr>
          <p:cNvPr id="3" name="Text Placeholder 2">
            <a:extLst>
              <a:ext uri="{FF2B5EF4-FFF2-40B4-BE49-F238E27FC236}">
                <a16:creationId xmlns="" xmlns:a16="http://schemas.microsoft.com/office/drawing/2014/main" id="{6D7CA8F1-841E-4FD7-9D42-F98BA5007F81}"/>
              </a:ext>
            </a:extLst>
          </p:cNvPr>
          <p:cNvSpPr>
            <a:spLocks noGrp="1"/>
          </p:cNvSpPr>
          <p:nvPr>
            <p:ph type="body" sz="quarter" idx="10"/>
          </p:nvPr>
        </p:nvSpPr>
        <p:spPr bwMode="gray">
          <a:xfrm>
            <a:off x="455612" y="1047751"/>
            <a:ext cx="11293475" cy="2668588"/>
          </a:xfrm>
        </p:spPr>
        <p:txBody>
          <a:bodyPr/>
          <a:lstStyle/>
          <a:p>
            <a:r>
              <a:rPr lang="en-US" altLang="zh-CN" sz="1800" dirty="0">
                <a:sym typeface="Huawei Sans" panose="020C0503030203020204" pitchFamily="34" charset="0"/>
              </a:rPr>
              <a:t>Locator</a:t>
            </a:r>
            <a:r>
              <a:rPr lang="zh-CN" altLang="en-US" sz="1800" dirty="0">
                <a:sym typeface="Huawei Sans" panose="020C0503030203020204" pitchFamily="34" charset="0"/>
              </a:rPr>
              <a:t>是网络拓扑中的一个网络节点的标识，用于路由和转发报文到该节点，实现网络指令的可寻址。</a:t>
            </a:r>
            <a:endParaRPr lang="en-US" altLang="zh-CN" sz="1800" dirty="0">
              <a:sym typeface="Huawei Sans" panose="020C0503030203020204" pitchFamily="34" charset="0"/>
            </a:endParaRPr>
          </a:p>
          <a:p>
            <a:r>
              <a:rPr lang="en-US" altLang="zh-CN" sz="1800" dirty="0">
                <a:sym typeface="Huawei Sans" panose="020C0503030203020204" pitchFamily="34" charset="0"/>
              </a:rPr>
              <a:t>Locator</a:t>
            </a:r>
            <a:r>
              <a:rPr lang="zh-CN" altLang="en-US" sz="1800" dirty="0">
                <a:sym typeface="Huawei Sans" panose="020C0503030203020204" pitchFamily="34" charset="0"/>
              </a:rPr>
              <a:t>标识的位置信息有两个重要的属性：可路由和可聚合。节点配置</a:t>
            </a:r>
            <a:r>
              <a:rPr lang="en-US" altLang="zh-CN" sz="1800" dirty="0">
                <a:sym typeface="Huawei Sans" panose="020C0503030203020204" pitchFamily="34" charset="0"/>
              </a:rPr>
              <a:t>Locator</a:t>
            </a:r>
            <a:r>
              <a:rPr lang="zh-CN" altLang="en-US" sz="1800" dirty="0">
                <a:sym typeface="Huawei Sans" panose="020C0503030203020204" pitchFamily="34" charset="0"/>
              </a:rPr>
              <a:t>之后，系统会生成一条</a:t>
            </a:r>
            <a:r>
              <a:rPr lang="en-US" altLang="zh-CN" sz="1800" dirty="0">
                <a:sym typeface="Huawei Sans" panose="020C0503030203020204" pitchFamily="34" charset="0"/>
              </a:rPr>
              <a:t>Locator</a:t>
            </a:r>
            <a:r>
              <a:rPr lang="zh-CN" altLang="en-US" sz="1800" dirty="0">
                <a:sym typeface="Huawei Sans" panose="020C0503030203020204" pitchFamily="34" charset="0"/>
              </a:rPr>
              <a:t>网段路由，并且通过</a:t>
            </a:r>
            <a:r>
              <a:rPr lang="en-US" altLang="zh-CN" sz="1800" dirty="0">
                <a:sym typeface="Huawei Sans" panose="020C0503030203020204" pitchFamily="34" charset="0"/>
              </a:rPr>
              <a:t>IGP</a:t>
            </a:r>
            <a:r>
              <a:rPr lang="zh-CN" altLang="en-US" sz="1800" dirty="0">
                <a:sym typeface="Huawei Sans" panose="020C0503030203020204" pitchFamily="34" charset="0"/>
              </a:rPr>
              <a:t>在</a:t>
            </a:r>
            <a:r>
              <a:rPr lang="en-US" altLang="zh-CN" sz="1800" dirty="0">
                <a:sym typeface="Huawei Sans" panose="020C0503030203020204" pitchFamily="34" charset="0"/>
              </a:rPr>
              <a:t>SR</a:t>
            </a:r>
            <a:r>
              <a:rPr lang="zh-CN" altLang="en-US" sz="1800" dirty="0">
                <a:sym typeface="Huawei Sans" panose="020C0503030203020204" pitchFamily="34" charset="0"/>
              </a:rPr>
              <a:t>域内扩散。网络内其他节点通过</a:t>
            </a:r>
            <a:r>
              <a:rPr lang="en-US" altLang="zh-CN" sz="1800" dirty="0">
                <a:sym typeface="Huawei Sans" panose="020C0503030203020204" pitchFamily="34" charset="0"/>
              </a:rPr>
              <a:t>Locator</a:t>
            </a:r>
            <a:r>
              <a:rPr lang="zh-CN" altLang="en-US" sz="1800" dirty="0">
                <a:sym typeface="Huawei Sans" panose="020C0503030203020204" pitchFamily="34" charset="0"/>
              </a:rPr>
              <a:t>网段路由就可以定位到本节点，同时本节点发布的所有</a:t>
            </a:r>
            <a:r>
              <a:rPr lang="en-US" altLang="zh-CN" sz="1800" dirty="0">
                <a:sym typeface="Huawei Sans" panose="020C0503030203020204" pitchFamily="34" charset="0"/>
              </a:rPr>
              <a:t>SRv6 SID</a:t>
            </a:r>
            <a:r>
              <a:rPr lang="zh-CN" altLang="en-US" sz="1800" dirty="0">
                <a:sym typeface="Huawei Sans" panose="020C0503030203020204" pitchFamily="34" charset="0"/>
              </a:rPr>
              <a:t>也都可以通过该条</a:t>
            </a:r>
            <a:r>
              <a:rPr lang="en-US" altLang="zh-CN" sz="1800" dirty="0">
                <a:sym typeface="Huawei Sans" panose="020C0503030203020204" pitchFamily="34" charset="0"/>
              </a:rPr>
              <a:t>Locator</a:t>
            </a:r>
            <a:r>
              <a:rPr lang="zh-CN" altLang="en-US" sz="1800" dirty="0">
                <a:sym typeface="Huawei Sans" panose="020C0503030203020204" pitchFamily="34" charset="0"/>
              </a:rPr>
              <a:t>网段路由到达。</a:t>
            </a:r>
            <a:endParaRPr lang="en-US" altLang="zh-CN" sz="1800" dirty="0">
              <a:sym typeface="Huawei Sans" panose="020C0503030203020204" pitchFamily="34" charset="0"/>
            </a:endParaRPr>
          </a:p>
          <a:p>
            <a:r>
              <a:rPr lang="zh-CN" altLang="en-US" sz="1800" dirty="0"/>
              <a:t>建议全网所有网元的</a:t>
            </a:r>
            <a:r>
              <a:rPr lang="en-US" sz="1800" dirty="0"/>
              <a:t>Locator</a:t>
            </a:r>
            <a:r>
              <a:rPr lang="zh-CN" altLang="en-US" sz="1800" dirty="0"/>
              <a:t>采用相同掩码。设定掩码后，按照核心、汇聚、接入的顺序，从小到大分配</a:t>
            </a:r>
            <a:r>
              <a:rPr lang="en-US" sz="1800" dirty="0"/>
              <a:t>Locator</a:t>
            </a:r>
            <a:r>
              <a:rPr lang="zh-CN" altLang="en-US" sz="1800" dirty="0"/>
              <a:t>网段。</a:t>
            </a:r>
            <a:endParaRPr lang="en-US" sz="1800" dirty="0"/>
          </a:p>
        </p:txBody>
      </p:sp>
      <p:sp>
        <p:nvSpPr>
          <p:cNvPr id="41" name="五边形 2">
            <a:extLst>
              <a:ext uri="{FF2B5EF4-FFF2-40B4-BE49-F238E27FC236}">
                <a16:creationId xmlns="" xmlns:a16="http://schemas.microsoft.com/office/drawing/2014/main" id="{ADC0B338-C198-4854-8915-18C77A272901}"/>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42" name="燕尾形 3">
            <a:extLst>
              <a:ext uri="{FF2B5EF4-FFF2-40B4-BE49-F238E27FC236}">
                <a16:creationId xmlns="" xmlns:a16="http://schemas.microsoft.com/office/drawing/2014/main" id="{A0360740-8169-4E7E-B538-0850F8DDAE30}"/>
              </a:ext>
            </a:extLst>
          </p:cNvPr>
          <p:cNvSpPr/>
          <p:nvPr/>
        </p:nvSpPr>
        <p:spPr bwMode="gray">
          <a:xfrm>
            <a:off x="10187805" y="44020"/>
            <a:ext cx="156128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3">
            <a:extLst>
              <a:ext uri="{FF2B5EF4-FFF2-40B4-BE49-F238E27FC236}">
                <a16:creationId xmlns="" xmlns:a16="http://schemas.microsoft.com/office/drawing/2014/main" id="{7FEF47C7-6B45-42CF-B3DC-174057C20BE5}"/>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22">
            <a:extLst>
              <a:ext uri="{FF2B5EF4-FFF2-40B4-BE49-F238E27FC236}">
                <a16:creationId xmlns="" xmlns:a16="http://schemas.microsoft.com/office/drawing/2014/main" id="{202C6DC4-F0B8-4447-AF48-B0988DB34656}"/>
              </a:ext>
            </a:extLst>
          </p:cNvPr>
          <p:cNvGrpSpPr/>
          <p:nvPr/>
        </p:nvGrpSpPr>
        <p:grpSpPr bwMode="gray">
          <a:xfrm>
            <a:off x="4202686" y="4162948"/>
            <a:ext cx="4054030" cy="389503"/>
            <a:chOff x="4037103" y="3396803"/>
            <a:chExt cx="3256019" cy="369706"/>
          </a:xfrm>
        </p:grpSpPr>
        <p:sp>
          <p:nvSpPr>
            <p:cNvPr id="8" name="矩形 34">
              <a:extLst>
                <a:ext uri="{FF2B5EF4-FFF2-40B4-BE49-F238E27FC236}">
                  <a16:creationId xmlns="" xmlns:a16="http://schemas.microsoft.com/office/drawing/2014/main" id="{7B23F2A7-AF90-4652-A8DB-B67626C372CA}"/>
                </a:ext>
              </a:extLst>
            </p:cNvPr>
            <p:cNvSpPr/>
            <p:nvPr/>
          </p:nvSpPr>
          <p:spPr bwMode="gray">
            <a:xfrm>
              <a:off x="4037103" y="3396803"/>
              <a:ext cx="993233" cy="369705"/>
            </a:xfrm>
            <a:prstGeom prst="rect">
              <a:avLst/>
            </a:prstGeom>
            <a:solidFill>
              <a:srgbClr val="F6B78C"/>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Locator</a:t>
              </a:r>
              <a:endPar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35">
              <a:extLst>
                <a:ext uri="{FF2B5EF4-FFF2-40B4-BE49-F238E27FC236}">
                  <a16:creationId xmlns="" xmlns:a16="http://schemas.microsoft.com/office/drawing/2014/main" id="{66CE713B-8799-4078-B66C-EC082E523409}"/>
                </a:ext>
              </a:extLst>
            </p:cNvPr>
            <p:cNvSpPr/>
            <p:nvPr/>
          </p:nvSpPr>
          <p:spPr bwMode="gray">
            <a:xfrm>
              <a:off x="5030336" y="3397722"/>
              <a:ext cx="1065664" cy="368786"/>
            </a:xfrm>
            <a:prstGeom prst="rect">
              <a:avLst/>
            </a:prstGeom>
            <a:solidFill>
              <a:srgbClr val="FDE397"/>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Function</a:t>
              </a:r>
              <a:endPar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36">
              <a:extLst>
                <a:ext uri="{FF2B5EF4-FFF2-40B4-BE49-F238E27FC236}">
                  <a16:creationId xmlns="" xmlns:a16="http://schemas.microsoft.com/office/drawing/2014/main" id="{8D9815CF-6301-4515-9535-F4572457EE61}"/>
                </a:ext>
              </a:extLst>
            </p:cNvPr>
            <p:cNvSpPr/>
            <p:nvPr/>
          </p:nvSpPr>
          <p:spPr bwMode="gray">
            <a:xfrm>
              <a:off x="6103266" y="3408555"/>
              <a:ext cx="1189856" cy="357954"/>
            </a:xfrm>
            <a:prstGeom prst="rect">
              <a:avLst/>
            </a:prstGeom>
            <a:solidFill>
              <a:srgbClr val="AFD89C"/>
            </a:solidFill>
            <a:ln w="9525" cap="flat" cmpd="sng" algn="ctr">
              <a:solidFill>
                <a:schemeClr val="bg1"/>
              </a:solidFill>
              <a:prstDash val="solid"/>
              <a:round/>
              <a:headEnd type="none" w="med" len="med"/>
              <a:tailEnd type="none" w="med" len="med"/>
            </a:ln>
            <a:effectLst/>
          </p:spPr>
          <p:txBody>
            <a:bodyPr vert="horz" wrap="square" lIns="91419" tIns="45709" rIns="91419" bIns="45709" numCol="1" rtlCol="0" anchor="ctr" anchorCtr="0" compatLnSpc="1">
              <a:prstTxWarp prst="textNoShape">
                <a:avLst/>
              </a:prstTxWarp>
            </a:bodyPr>
            <a:lstStyle/>
            <a:p>
              <a:pPr marL="269815" marR="0" lvl="0" indent="-269815" algn="ctr" defTabSz="914400" eaLnBrk="1" fontAlgn="base" latinLnBrk="0" hangingPunct="1">
                <a:lnSpc>
                  <a:spcPct val="100000"/>
                </a:lnSpc>
                <a:spcBef>
                  <a:spcPct val="0"/>
                </a:spcBef>
                <a:spcAft>
                  <a:spcPct val="0"/>
                </a:spcAft>
                <a:buClr>
                  <a:srgbClr val="5F5F5F"/>
                </a:buClr>
                <a:buSzPct val="80000"/>
                <a:buFontTx/>
                <a:buNone/>
                <a:tabLst/>
                <a:defRPr/>
              </a:pPr>
              <a:r>
                <a:rPr kumimoji="0" lang="en-US" altLang="zh-CN" sz="1600" b="1"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Arguments</a:t>
              </a:r>
              <a:endParaRPr kumimoji="0" lang="zh-CN" altLang="en-US" sz="16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 name="文本框 37">
            <a:extLst>
              <a:ext uri="{FF2B5EF4-FFF2-40B4-BE49-F238E27FC236}">
                <a16:creationId xmlns="" xmlns:a16="http://schemas.microsoft.com/office/drawing/2014/main" id="{CDD1CECF-AEBB-482B-B6B8-57C7A43996E9}"/>
              </a:ext>
            </a:extLst>
          </p:cNvPr>
          <p:cNvSpPr txBox="1"/>
          <p:nvPr/>
        </p:nvSpPr>
        <p:spPr bwMode="gray">
          <a:xfrm>
            <a:off x="3097761" y="4207267"/>
            <a:ext cx="873957" cy="338554"/>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128 bit</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38">
            <a:extLst>
              <a:ext uri="{FF2B5EF4-FFF2-40B4-BE49-F238E27FC236}">
                <a16:creationId xmlns="" xmlns:a16="http://schemas.microsoft.com/office/drawing/2014/main" id="{386274D9-BA9D-4109-BE5B-C89346D585EF}"/>
              </a:ext>
            </a:extLst>
          </p:cNvPr>
          <p:cNvSpPr txBox="1"/>
          <p:nvPr/>
        </p:nvSpPr>
        <p:spPr bwMode="gray">
          <a:xfrm>
            <a:off x="4188809" y="5039673"/>
            <a:ext cx="1237839" cy="338554"/>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IPv6 prefix</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39">
            <a:extLst>
              <a:ext uri="{FF2B5EF4-FFF2-40B4-BE49-F238E27FC236}">
                <a16:creationId xmlns="" xmlns:a16="http://schemas.microsoft.com/office/drawing/2014/main" id="{F6A5E879-556D-4210-AFE7-030FC45C9394}"/>
              </a:ext>
            </a:extLst>
          </p:cNvPr>
          <p:cNvCxnSpPr>
            <a:cxnSpLocks/>
          </p:cNvCxnSpPr>
          <p:nvPr/>
        </p:nvCxnSpPr>
        <p:spPr bwMode="gray">
          <a:xfrm>
            <a:off x="4221736" y="4628651"/>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56">
            <a:extLst>
              <a:ext uri="{FF2B5EF4-FFF2-40B4-BE49-F238E27FC236}">
                <a16:creationId xmlns="" xmlns:a16="http://schemas.microsoft.com/office/drawing/2014/main" id="{9D7D72FA-EA3D-4864-9016-AF79AAC0967D}"/>
              </a:ext>
            </a:extLst>
          </p:cNvPr>
          <p:cNvCxnSpPr>
            <a:cxnSpLocks/>
          </p:cNvCxnSpPr>
          <p:nvPr/>
        </p:nvCxnSpPr>
        <p:spPr bwMode="gray">
          <a:xfrm>
            <a:off x="5413948" y="4628651"/>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3974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494169CB-DD5F-418D-A39C-C2D2EBA8394E}"/>
              </a:ext>
            </a:extLst>
          </p:cNvPr>
          <p:cNvSpPr>
            <a:spLocks noGrp="1"/>
          </p:cNvSpPr>
          <p:nvPr>
            <p:ph type="body" sz="quarter" idx="10"/>
          </p:nvPr>
        </p:nvSpPr>
        <p:spPr bwMode="gray">
          <a:xfrm>
            <a:off x="455612" y="1047750"/>
            <a:ext cx="11293475" cy="783549"/>
          </a:xfrm>
        </p:spPr>
        <p:txBody>
          <a:bodyPr/>
          <a:lstStyle/>
          <a:p>
            <a:r>
              <a:rPr lang="en-US" altLang="zh-CN" sz="1800" dirty="0"/>
              <a:t>SRv6 Locator</a:t>
            </a:r>
            <a:r>
              <a:rPr lang="zh-CN" altLang="en-US" sz="1800" dirty="0"/>
              <a:t>地址在</a:t>
            </a:r>
            <a:r>
              <a:rPr lang="en-US" altLang="zh-CN" sz="1800" dirty="0"/>
              <a:t>IPv6</a:t>
            </a:r>
            <a:r>
              <a:rPr lang="zh-CN" altLang="en-US" sz="1800" dirty="0"/>
              <a:t>主机地址字段内分配，建议通过层次化和一定预留的分配方式满足后续的扩展。如下提供一个样例：</a:t>
            </a:r>
          </a:p>
        </p:txBody>
      </p:sp>
      <p:sp>
        <p:nvSpPr>
          <p:cNvPr id="58" name="矩形 79">
            <a:extLst>
              <a:ext uri="{FF2B5EF4-FFF2-40B4-BE49-F238E27FC236}">
                <a16:creationId xmlns="" xmlns:a16="http://schemas.microsoft.com/office/drawing/2014/main" id="{2F10E089-CD25-4E2C-9B28-E99E799E2A1D}"/>
              </a:ext>
            </a:extLst>
          </p:cNvPr>
          <p:cNvSpPr/>
          <p:nvPr/>
        </p:nvSpPr>
        <p:spPr bwMode="gray">
          <a:xfrm>
            <a:off x="960634" y="3638129"/>
            <a:ext cx="10515554" cy="2561727"/>
          </a:xfrm>
          <a:prstGeom prst="rect">
            <a:avLst/>
          </a:prstGeom>
        </p:spPr>
        <p:txBody>
          <a:bodyPr wrap="square">
            <a:spAutoFit/>
          </a:bodyPr>
          <a:lstStyle/>
          <a:p>
            <a:pPr marL="302279" lvl="1" indent="-302279" algn="just" defTabSz="914034">
              <a:lnSpc>
                <a:spcPct val="140000"/>
              </a:lnSpc>
              <a:spcBef>
                <a:spcPts val="792"/>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站点</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：表示不同站点。</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 </a:t>
            </a:r>
          </a:p>
          <a:p>
            <a:pPr marL="302279" lvl="1" indent="-302279" algn="just" defTabSz="914034">
              <a:lnSpc>
                <a:spcPct val="140000"/>
              </a:lnSpc>
              <a:spcBef>
                <a:spcPts val="792"/>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节点</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：每个站点不同设备的编号。</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lvl="1" indent="-302279" algn="just" defTabSz="914034">
              <a:lnSpc>
                <a:spcPct val="140000"/>
              </a:lnSpc>
              <a:spcBef>
                <a:spcPts val="792"/>
              </a:spcBef>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Function</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SRv6 SID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Function</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字段。</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654938" lvl="1" indent="-251899" defTabSz="914034">
              <a:lnSpc>
                <a:spcPct val="140000"/>
              </a:lnSpc>
              <a:spcBef>
                <a:spcPts val="720"/>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静：动态</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和静态</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区分。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：静态（建议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End.X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和相关</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OAM</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静态分配）；</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：动态（当</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数量多或变化频繁时建议</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End.DT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等业务</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动态分配）。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938" lvl="1" indent="-251899" defTabSz="914034">
              <a:lnSpc>
                <a:spcPct val="140000"/>
              </a:lnSpc>
              <a:spcBef>
                <a:spcPts val="720"/>
              </a:spcBef>
              <a:buSzPct val="50000"/>
              <a:buFont typeface="Wingdings" panose="05000000000000000000" pitchFamily="2" charset="2"/>
              <a:buChar char="p"/>
            </a:pP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End&amp;End.X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等：</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0x000[1~F]</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标签；</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0x1[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对端站点</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ID]X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End.X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标签。</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302279" lvl="1" indent="-302279" algn="just" defTabSz="914034">
              <a:lnSpc>
                <a:spcPct val="140000"/>
              </a:lnSpc>
              <a:spcBef>
                <a:spcPts val="792"/>
              </a:spcBef>
              <a:buSzPct val="50000"/>
              <a:buFont typeface="Wingdings" panose="05000000000000000000" pitchFamily="2" charset="2"/>
              <a:buChar char="l"/>
            </a:pP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Args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SRv6 SID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的参数字段。</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 name="Title 1">
            <a:extLst>
              <a:ext uri="{FF2B5EF4-FFF2-40B4-BE49-F238E27FC236}">
                <a16:creationId xmlns="" xmlns:a16="http://schemas.microsoft.com/office/drawing/2014/main" id="{6954DF1A-4D01-416E-93E4-91A96597C1CC}"/>
              </a:ext>
            </a:extLst>
          </p:cNvPr>
          <p:cNvSpPr>
            <a:spLocks noGrp="1"/>
          </p:cNvSpPr>
          <p:nvPr>
            <p:ph type="title"/>
          </p:nvPr>
        </p:nvSpPr>
        <p:spPr bwMode="gray"/>
        <p:txBody>
          <a:bodyPr/>
          <a:lstStyle/>
          <a:p>
            <a:r>
              <a:rPr lang="en-US" dirty="0"/>
              <a:t>SR</a:t>
            </a:r>
            <a:r>
              <a:rPr lang="en-US" altLang="zh-CN" dirty="0"/>
              <a:t>v6 Locator</a:t>
            </a:r>
            <a:r>
              <a:rPr lang="zh-CN" altLang="en-US" dirty="0"/>
              <a:t>规划建议</a:t>
            </a:r>
            <a:endParaRPr lang="en-US" dirty="0"/>
          </a:p>
        </p:txBody>
      </p:sp>
      <p:sp>
        <p:nvSpPr>
          <p:cNvPr id="6" name="TextBox 38">
            <a:extLst>
              <a:ext uri="{FF2B5EF4-FFF2-40B4-BE49-F238E27FC236}">
                <a16:creationId xmlns="" xmlns:a16="http://schemas.microsoft.com/office/drawing/2014/main" id="{F9D7A634-2E1E-48CA-9A05-36E41755F2B8}"/>
              </a:ext>
            </a:extLst>
          </p:cNvPr>
          <p:cNvSpPr txBox="1"/>
          <p:nvPr/>
        </p:nvSpPr>
        <p:spPr bwMode="gray">
          <a:xfrm>
            <a:off x="1560954" y="1760825"/>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43">
            <a:extLst>
              <a:ext uri="{FF2B5EF4-FFF2-40B4-BE49-F238E27FC236}">
                <a16:creationId xmlns="" xmlns:a16="http://schemas.microsoft.com/office/drawing/2014/main" id="{67A4356D-2CA3-44AC-9419-9AE4DADEEEFC}"/>
              </a:ext>
            </a:extLst>
          </p:cNvPr>
          <p:cNvSpPr txBox="1"/>
          <p:nvPr/>
        </p:nvSpPr>
        <p:spPr bwMode="gray">
          <a:xfrm>
            <a:off x="6740025" y="1753957"/>
            <a:ext cx="588623" cy="276999"/>
          </a:xfrm>
          <a:prstGeom prst="rect">
            <a:avLst/>
          </a:prstGeom>
          <a:noFill/>
        </p:spPr>
        <p:txBody>
          <a:bodyPr wrap="non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 name="直接连接符 7">
            <a:extLst>
              <a:ext uri="{FF2B5EF4-FFF2-40B4-BE49-F238E27FC236}">
                <a16:creationId xmlns="" xmlns:a16="http://schemas.microsoft.com/office/drawing/2014/main" id="{438B2603-3BA8-4CBF-B39C-60636EA12A48}"/>
              </a:ext>
            </a:extLst>
          </p:cNvPr>
          <p:cNvCxnSpPr/>
          <p:nvPr/>
        </p:nvCxnSpPr>
        <p:spPr bwMode="gray">
          <a:xfrm flipV="1">
            <a:off x="1296585" y="1901696"/>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9" name="直接连接符 8">
            <a:extLst>
              <a:ext uri="{FF2B5EF4-FFF2-40B4-BE49-F238E27FC236}">
                <a16:creationId xmlns="" xmlns:a16="http://schemas.microsoft.com/office/drawing/2014/main" id="{6386E8A8-2942-4F26-9805-BA97BFC69B56}"/>
              </a:ext>
            </a:extLst>
          </p:cNvPr>
          <p:cNvCxnSpPr/>
          <p:nvPr/>
        </p:nvCxnSpPr>
        <p:spPr bwMode="gray">
          <a:xfrm flipV="1">
            <a:off x="2285488" y="1901696"/>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0" name="直接箭头连接符 9">
            <a:extLst>
              <a:ext uri="{FF2B5EF4-FFF2-40B4-BE49-F238E27FC236}">
                <a16:creationId xmlns="" xmlns:a16="http://schemas.microsoft.com/office/drawing/2014/main" id="{8D770ECB-71AB-4BA3-B2DD-E1FADE6CF4C1}"/>
              </a:ext>
            </a:extLst>
          </p:cNvPr>
          <p:cNvCxnSpPr/>
          <p:nvPr/>
        </p:nvCxnSpPr>
        <p:spPr bwMode="gray">
          <a:xfrm>
            <a:off x="1296585" y="1966225"/>
            <a:ext cx="988903"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11" name="直接连接符 10">
            <a:extLst>
              <a:ext uri="{FF2B5EF4-FFF2-40B4-BE49-F238E27FC236}">
                <a16:creationId xmlns="" xmlns:a16="http://schemas.microsoft.com/office/drawing/2014/main" id="{E0B6B1DE-22A0-4366-BB45-63951BB0D26E}"/>
              </a:ext>
            </a:extLst>
          </p:cNvPr>
          <p:cNvCxnSpPr/>
          <p:nvPr/>
        </p:nvCxnSpPr>
        <p:spPr bwMode="gray">
          <a:xfrm flipV="1">
            <a:off x="7255583" y="2117720"/>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2" name="直接箭头连接符 13">
            <a:extLst>
              <a:ext uri="{FF2B5EF4-FFF2-40B4-BE49-F238E27FC236}">
                <a16:creationId xmlns="" xmlns:a16="http://schemas.microsoft.com/office/drawing/2014/main" id="{033F3E7C-9FBF-4D91-96E4-8CFF7ED8EF03}"/>
              </a:ext>
            </a:extLst>
          </p:cNvPr>
          <p:cNvCxnSpPr/>
          <p:nvPr/>
        </p:nvCxnSpPr>
        <p:spPr bwMode="gray">
          <a:xfrm flipV="1">
            <a:off x="7266550" y="2233740"/>
            <a:ext cx="2459754" cy="13447"/>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13" name="直接连接符 14">
            <a:extLst>
              <a:ext uri="{FF2B5EF4-FFF2-40B4-BE49-F238E27FC236}">
                <a16:creationId xmlns="" xmlns:a16="http://schemas.microsoft.com/office/drawing/2014/main" id="{FBE59C72-8C99-4BC9-9FE8-2C2BF1974FB3}"/>
              </a:ext>
            </a:extLst>
          </p:cNvPr>
          <p:cNvCxnSpPr/>
          <p:nvPr/>
        </p:nvCxnSpPr>
        <p:spPr bwMode="gray">
          <a:xfrm flipV="1">
            <a:off x="4080326" y="1901696"/>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4" name="直接连接符 15">
            <a:extLst>
              <a:ext uri="{FF2B5EF4-FFF2-40B4-BE49-F238E27FC236}">
                <a16:creationId xmlns="" xmlns:a16="http://schemas.microsoft.com/office/drawing/2014/main" id="{ADF7195A-9705-4980-A005-6B27EBDC2D22}"/>
              </a:ext>
            </a:extLst>
          </p:cNvPr>
          <p:cNvCxnSpPr/>
          <p:nvPr/>
        </p:nvCxnSpPr>
        <p:spPr bwMode="gray">
          <a:xfrm flipV="1">
            <a:off x="10489007" y="1901696"/>
            <a:ext cx="0" cy="467916"/>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5" name="直接箭头连接符 16">
            <a:extLst>
              <a:ext uri="{FF2B5EF4-FFF2-40B4-BE49-F238E27FC236}">
                <a16:creationId xmlns="" xmlns:a16="http://schemas.microsoft.com/office/drawing/2014/main" id="{5C33F763-EBF7-4860-AD8C-AD2904849F88}"/>
              </a:ext>
            </a:extLst>
          </p:cNvPr>
          <p:cNvCxnSpPr/>
          <p:nvPr/>
        </p:nvCxnSpPr>
        <p:spPr bwMode="gray">
          <a:xfrm>
            <a:off x="4087597" y="1966225"/>
            <a:ext cx="6401410"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16" name="直接箭头连接符 17">
            <a:extLst>
              <a:ext uri="{FF2B5EF4-FFF2-40B4-BE49-F238E27FC236}">
                <a16:creationId xmlns="" xmlns:a16="http://schemas.microsoft.com/office/drawing/2014/main" id="{8BDD6C94-EB1B-467C-BF69-7375883907A7}"/>
              </a:ext>
            </a:extLst>
          </p:cNvPr>
          <p:cNvCxnSpPr/>
          <p:nvPr/>
        </p:nvCxnSpPr>
        <p:spPr bwMode="gray">
          <a:xfrm flipV="1">
            <a:off x="2285488" y="1966225"/>
            <a:ext cx="1802109" cy="7071"/>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17" name="TextBox 55">
            <a:extLst>
              <a:ext uri="{FF2B5EF4-FFF2-40B4-BE49-F238E27FC236}">
                <a16:creationId xmlns="" xmlns:a16="http://schemas.microsoft.com/office/drawing/2014/main" id="{3B962786-FAA6-4CCA-B3E6-4688EFC81F77}"/>
              </a:ext>
            </a:extLst>
          </p:cNvPr>
          <p:cNvSpPr txBox="1"/>
          <p:nvPr/>
        </p:nvSpPr>
        <p:spPr bwMode="gray">
          <a:xfrm>
            <a:off x="2733684" y="1754140"/>
            <a:ext cx="1075555" cy="276999"/>
          </a:xfrm>
          <a:prstGeom prst="rect">
            <a:avLst/>
          </a:prstGeom>
          <a:noFill/>
        </p:spPr>
        <p:txBody>
          <a:bodyPr wrap="square" rtlCol="0">
            <a:spAutoFit/>
          </a:bodyPr>
          <a:lstStyle/>
          <a:p>
            <a:pPr algn="ctr" defTabSz="1219414">
              <a:defRPr/>
            </a:pP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64-N</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连接符 19">
            <a:extLst>
              <a:ext uri="{FF2B5EF4-FFF2-40B4-BE49-F238E27FC236}">
                <a16:creationId xmlns="" xmlns:a16="http://schemas.microsoft.com/office/drawing/2014/main" id="{2F65326E-E247-4CE5-8111-E3C7522DB2F2}"/>
              </a:ext>
            </a:extLst>
          </p:cNvPr>
          <p:cNvCxnSpPr/>
          <p:nvPr/>
        </p:nvCxnSpPr>
        <p:spPr bwMode="gray">
          <a:xfrm flipV="1">
            <a:off x="9725718" y="2117720"/>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19" name="直接箭头连接符 20">
            <a:extLst>
              <a:ext uri="{FF2B5EF4-FFF2-40B4-BE49-F238E27FC236}">
                <a16:creationId xmlns="" xmlns:a16="http://schemas.microsoft.com/office/drawing/2014/main" id="{9EFF017A-E88B-4458-9AD1-B72E611E432C}"/>
              </a:ext>
            </a:extLst>
          </p:cNvPr>
          <p:cNvCxnSpPr/>
          <p:nvPr/>
        </p:nvCxnSpPr>
        <p:spPr bwMode="gray">
          <a:xfrm>
            <a:off x="9726278" y="2243666"/>
            <a:ext cx="762729"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20" name="矩形 21">
            <a:extLst>
              <a:ext uri="{FF2B5EF4-FFF2-40B4-BE49-F238E27FC236}">
                <a16:creationId xmlns="" xmlns:a16="http://schemas.microsoft.com/office/drawing/2014/main" id="{C501A320-6860-4A9B-9C5E-1BF41A9A080B}"/>
              </a:ext>
            </a:extLst>
          </p:cNvPr>
          <p:cNvSpPr/>
          <p:nvPr/>
        </p:nvSpPr>
        <p:spPr bwMode="gray">
          <a:xfrm>
            <a:off x="2285489" y="2369612"/>
            <a:ext cx="1802108" cy="386275"/>
          </a:xfrm>
          <a:prstGeom prst="rect">
            <a:avLst/>
          </a:prstGeom>
          <a:solidFill>
            <a:srgbClr val="F6B7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子网</a:t>
            </a:r>
          </a:p>
        </p:txBody>
      </p:sp>
      <p:sp>
        <p:nvSpPr>
          <p:cNvPr id="21" name="矩形 22">
            <a:extLst>
              <a:ext uri="{FF2B5EF4-FFF2-40B4-BE49-F238E27FC236}">
                <a16:creationId xmlns="" xmlns:a16="http://schemas.microsoft.com/office/drawing/2014/main" id="{A415FC3E-834D-4B4F-B611-D58DDE2C4405}"/>
              </a:ext>
            </a:extLst>
          </p:cNvPr>
          <p:cNvSpPr/>
          <p:nvPr/>
        </p:nvSpPr>
        <p:spPr bwMode="gray">
          <a:xfrm>
            <a:off x="5322896" y="2369612"/>
            <a:ext cx="967530" cy="386275"/>
          </a:xfrm>
          <a:prstGeom prst="rect">
            <a:avLst/>
          </a:prstGeom>
          <a:solidFill>
            <a:srgbClr val="AFD89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3">
            <a:extLst>
              <a:ext uri="{FF2B5EF4-FFF2-40B4-BE49-F238E27FC236}">
                <a16:creationId xmlns="" xmlns:a16="http://schemas.microsoft.com/office/drawing/2014/main" id="{B5DAF680-47C7-4B51-B6B8-E9BF2BDCFAFB}"/>
              </a:ext>
            </a:extLst>
          </p:cNvPr>
          <p:cNvSpPr/>
          <p:nvPr/>
        </p:nvSpPr>
        <p:spPr bwMode="gray">
          <a:xfrm>
            <a:off x="4085819" y="2368692"/>
            <a:ext cx="1244195" cy="386275"/>
          </a:xfrm>
          <a:prstGeom prst="rect">
            <a:avLst/>
          </a:prstGeom>
          <a:solidFill>
            <a:srgbClr val="AFD89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保留</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4">
            <a:extLst>
              <a:ext uri="{FF2B5EF4-FFF2-40B4-BE49-F238E27FC236}">
                <a16:creationId xmlns="" xmlns:a16="http://schemas.microsoft.com/office/drawing/2014/main" id="{C1A279B8-EC1F-4D73-AB61-2256660E421E}"/>
              </a:ext>
            </a:extLst>
          </p:cNvPr>
          <p:cNvSpPr/>
          <p:nvPr/>
        </p:nvSpPr>
        <p:spPr bwMode="gray">
          <a:xfrm>
            <a:off x="7255583" y="2369612"/>
            <a:ext cx="2470696" cy="386275"/>
          </a:xfrm>
          <a:prstGeom prst="rect">
            <a:avLst/>
          </a:prstGeom>
          <a:solidFill>
            <a:srgbClr val="AFD89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Function</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5">
            <a:extLst>
              <a:ext uri="{FF2B5EF4-FFF2-40B4-BE49-F238E27FC236}">
                <a16:creationId xmlns="" xmlns:a16="http://schemas.microsoft.com/office/drawing/2014/main" id="{B0351FC9-E204-48BC-851D-AC931815B994}"/>
              </a:ext>
            </a:extLst>
          </p:cNvPr>
          <p:cNvSpPr/>
          <p:nvPr/>
        </p:nvSpPr>
        <p:spPr bwMode="gray">
          <a:xfrm>
            <a:off x="9726279" y="2369612"/>
            <a:ext cx="762728" cy="386275"/>
          </a:xfrm>
          <a:prstGeom prst="rect">
            <a:avLst/>
          </a:prstGeom>
          <a:solidFill>
            <a:srgbClr val="AFD89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Args</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6">
            <a:extLst>
              <a:ext uri="{FF2B5EF4-FFF2-40B4-BE49-F238E27FC236}">
                <a16:creationId xmlns="" xmlns:a16="http://schemas.microsoft.com/office/drawing/2014/main" id="{15966E36-4249-4675-8952-ACD0834E4EA2}"/>
              </a:ext>
            </a:extLst>
          </p:cNvPr>
          <p:cNvSpPr/>
          <p:nvPr/>
        </p:nvSpPr>
        <p:spPr bwMode="gray">
          <a:xfrm>
            <a:off x="1296585" y="2369612"/>
            <a:ext cx="988903" cy="386275"/>
          </a:xfrm>
          <a:prstGeom prst="rect">
            <a:avLst/>
          </a:prstGeom>
          <a:solidFill>
            <a:srgbClr val="F6B7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固定前缀</a:t>
            </a:r>
          </a:p>
        </p:txBody>
      </p:sp>
      <p:cxnSp>
        <p:nvCxnSpPr>
          <p:cNvPr id="26" name="直接箭头连接符 27">
            <a:extLst>
              <a:ext uri="{FF2B5EF4-FFF2-40B4-BE49-F238E27FC236}">
                <a16:creationId xmlns="" xmlns:a16="http://schemas.microsoft.com/office/drawing/2014/main" id="{F914736E-7C26-419C-A9BE-F18F8DA85E18}"/>
              </a:ext>
            </a:extLst>
          </p:cNvPr>
          <p:cNvCxnSpPr/>
          <p:nvPr/>
        </p:nvCxnSpPr>
        <p:spPr bwMode="gray">
          <a:xfrm>
            <a:off x="6310820" y="2247187"/>
            <a:ext cx="948708"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27" name="TextBox 38">
            <a:extLst>
              <a:ext uri="{FF2B5EF4-FFF2-40B4-BE49-F238E27FC236}">
                <a16:creationId xmlns="" xmlns:a16="http://schemas.microsoft.com/office/drawing/2014/main" id="{FF53A82C-3C57-4ACD-8090-CA09222D0A4D}"/>
              </a:ext>
            </a:extLst>
          </p:cNvPr>
          <p:cNvSpPr txBox="1"/>
          <p:nvPr/>
        </p:nvSpPr>
        <p:spPr bwMode="gray">
          <a:xfrm>
            <a:off x="6534223" y="2022435"/>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8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38">
            <a:extLst>
              <a:ext uri="{FF2B5EF4-FFF2-40B4-BE49-F238E27FC236}">
                <a16:creationId xmlns="" xmlns:a16="http://schemas.microsoft.com/office/drawing/2014/main" id="{EEE90A17-1B84-4B5B-9E6E-0B0C81C8597C}"/>
              </a:ext>
            </a:extLst>
          </p:cNvPr>
          <p:cNvSpPr txBox="1"/>
          <p:nvPr/>
        </p:nvSpPr>
        <p:spPr bwMode="gray">
          <a:xfrm>
            <a:off x="8092499" y="2010534"/>
            <a:ext cx="616772"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28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38">
            <a:extLst>
              <a:ext uri="{FF2B5EF4-FFF2-40B4-BE49-F238E27FC236}">
                <a16:creationId xmlns="" xmlns:a16="http://schemas.microsoft.com/office/drawing/2014/main" id="{2A3233F8-A7FF-4D31-8212-B820C388C852}"/>
              </a:ext>
            </a:extLst>
          </p:cNvPr>
          <p:cNvSpPr txBox="1"/>
          <p:nvPr/>
        </p:nvSpPr>
        <p:spPr bwMode="gray">
          <a:xfrm>
            <a:off x="9793212" y="2006615"/>
            <a:ext cx="616772"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12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32">
            <a:extLst>
              <a:ext uri="{FF2B5EF4-FFF2-40B4-BE49-F238E27FC236}">
                <a16:creationId xmlns="" xmlns:a16="http://schemas.microsoft.com/office/drawing/2014/main" id="{EC62F6E9-DFA8-4A9D-AA34-26475C20B8C5}"/>
              </a:ext>
            </a:extLst>
          </p:cNvPr>
          <p:cNvSpPr/>
          <p:nvPr/>
        </p:nvSpPr>
        <p:spPr bwMode="gray">
          <a:xfrm>
            <a:off x="6290390" y="2369831"/>
            <a:ext cx="969138" cy="386275"/>
          </a:xfrm>
          <a:prstGeom prst="rect">
            <a:avLst/>
          </a:prstGeom>
          <a:solidFill>
            <a:srgbClr val="AFD89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连接符 33">
            <a:extLst>
              <a:ext uri="{FF2B5EF4-FFF2-40B4-BE49-F238E27FC236}">
                <a16:creationId xmlns="" xmlns:a16="http://schemas.microsoft.com/office/drawing/2014/main" id="{AF8C1993-2CDE-49D0-84AD-B4DA959E38F6}"/>
              </a:ext>
            </a:extLst>
          </p:cNvPr>
          <p:cNvCxnSpPr/>
          <p:nvPr/>
        </p:nvCxnSpPr>
        <p:spPr bwMode="gray">
          <a:xfrm flipV="1">
            <a:off x="6290426" y="2117720"/>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2" name="直接箭头连接符 34">
            <a:extLst>
              <a:ext uri="{FF2B5EF4-FFF2-40B4-BE49-F238E27FC236}">
                <a16:creationId xmlns="" xmlns:a16="http://schemas.microsoft.com/office/drawing/2014/main" id="{1908C1C8-D52D-4A83-A9B9-E8454EE99F75}"/>
              </a:ext>
            </a:extLst>
          </p:cNvPr>
          <p:cNvCxnSpPr/>
          <p:nvPr/>
        </p:nvCxnSpPr>
        <p:spPr bwMode="gray">
          <a:xfrm>
            <a:off x="5316718" y="2246683"/>
            <a:ext cx="1001559" cy="6909"/>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33" name="TextBox 38">
            <a:extLst>
              <a:ext uri="{FF2B5EF4-FFF2-40B4-BE49-F238E27FC236}">
                <a16:creationId xmlns="" xmlns:a16="http://schemas.microsoft.com/office/drawing/2014/main" id="{9C9CF2E7-2017-45C7-A8B3-D3165405E34B}"/>
              </a:ext>
            </a:extLst>
          </p:cNvPr>
          <p:cNvSpPr txBox="1"/>
          <p:nvPr/>
        </p:nvSpPr>
        <p:spPr bwMode="gray">
          <a:xfrm>
            <a:off x="5604585" y="1997416"/>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8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连接符 36">
            <a:extLst>
              <a:ext uri="{FF2B5EF4-FFF2-40B4-BE49-F238E27FC236}">
                <a16:creationId xmlns="" xmlns:a16="http://schemas.microsoft.com/office/drawing/2014/main" id="{CB28F032-B130-429D-AC1E-22E2271EF5C3}"/>
              </a:ext>
            </a:extLst>
          </p:cNvPr>
          <p:cNvCxnSpPr/>
          <p:nvPr/>
        </p:nvCxnSpPr>
        <p:spPr bwMode="gray">
          <a:xfrm flipV="1">
            <a:off x="7801449" y="3147207"/>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5" name="直接连接符 37">
            <a:extLst>
              <a:ext uri="{FF2B5EF4-FFF2-40B4-BE49-F238E27FC236}">
                <a16:creationId xmlns="" xmlns:a16="http://schemas.microsoft.com/office/drawing/2014/main" id="{076F4998-4A99-472F-828E-C948D5CBE0D2}"/>
              </a:ext>
            </a:extLst>
          </p:cNvPr>
          <p:cNvCxnSpPr/>
          <p:nvPr/>
        </p:nvCxnSpPr>
        <p:spPr bwMode="gray">
          <a:xfrm flipV="1">
            <a:off x="9726304" y="3147208"/>
            <a:ext cx="0" cy="247068"/>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6" name="直接箭头连接符 38">
            <a:extLst>
              <a:ext uri="{FF2B5EF4-FFF2-40B4-BE49-F238E27FC236}">
                <a16:creationId xmlns="" xmlns:a16="http://schemas.microsoft.com/office/drawing/2014/main" id="{5EE23E78-6AFC-4ED3-AB8C-8E6CE96AFFB8}"/>
              </a:ext>
            </a:extLst>
          </p:cNvPr>
          <p:cNvCxnSpPr/>
          <p:nvPr/>
        </p:nvCxnSpPr>
        <p:spPr bwMode="gray">
          <a:xfrm flipV="1">
            <a:off x="7801449" y="3235715"/>
            <a:ext cx="1241036" cy="1718"/>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37" name="TextBox 38">
            <a:extLst>
              <a:ext uri="{FF2B5EF4-FFF2-40B4-BE49-F238E27FC236}">
                <a16:creationId xmlns="" xmlns:a16="http://schemas.microsoft.com/office/drawing/2014/main" id="{DC7AF2C1-6BD1-4ECD-9B78-CF19ED5DD2DB}"/>
              </a:ext>
            </a:extLst>
          </p:cNvPr>
          <p:cNvSpPr txBox="1"/>
          <p:nvPr/>
        </p:nvSpPr>
        <p:spPr bwMode="gray">
          <a:xfrm>
            <a:off x="8119707" y="3235715"/>
            <a:ext cx="665960"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15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连接符 40">
            <a:extLst>
              <a:ext uri="{FF2B5EF4-FFF2-40B4-BE49-F238E27FC236}">
                <a16:creationId xmlns="" xmlns:a16="http://schemas.microsoft.com/office/drawing/2014/main" id="{9D44A456-0FF8-4FBE-83A9-49F51AB96594}"/>
              </a:ext>
            </a:extLst>
          </p:cNvPr>
          <p:cNvCxnSpPr/>
          <p:nvPr/>
        </p:nvCxnSpPr>
        <p:spPr bwMode="gray">
          <a:xfrm flipV="1">
            <a:off x="7259528" y="3142385"/>
            <a:ext cx="1" cy="474341"/>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39" name="直接箭头连接符 41">
            <a:extLst>
              <a:ext uri="{FF2B5EF4-FFF2-40B4-BE49-F238E27FC236}">
                <a16:creationId xmlns="" xmlns:a16="http://schemas.microsoft.com/office/drawing/2014/main" id="{4656A782-39F5-4F1E-ABB4-97A85CF3F78A}"/>
              </a:ext>
            </a:extLst>
          </p:cNvPr>
          <p:cNvCxnSpPr/>
          <p:nvPr/>
        </p:nvCxnSpPr>
        <p:spPr bwMode="gray">
          <a:xfrm>
            <a:off x="7255583" y="3237433"/>
            <a:ext cx="562360" cy="0"/>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40" name="TextBox 38">
            <a:extLst>
              <a:ext uri="{FF2B5EF4-FFF2-40B4-BE49-F238E27FC236}">
                <a16:creationId xmlns="" xmlns:a16="http://schemas.microsoft.com/office/drawing/2014/main" id="{D5A44FB7-0726-42F4-9655-EF45407CA45A}"/>
              </a:ext>
            </a:extLst>
          </p:cNvPr>
          <p:cNvSpPr txBox="1"/>
          <p:nvPr/>
        </p:nvSpPr>
        <p:spPr bwMode="gray">
          <a:xfrm>
            <a:off x="7307369" y="3240795"/>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38">
            <a:extLst>
              <a:ext uri="{FF2B5EF4-FFF2-40B4-BE49-F238E27FC236}">
                <a16:creationId xmlns="" xmlns:a16="http://schemas.microsoft.com/office/drawing/2014/main" id="{5A9FF385-B4F5-4DC2-A2AB-66282A027653}"/>
              </a:ext>
            </a:extLst>
          </p:cNvPr>
          <p:cNvSpPr txBox="1"/>
          <p:nvPr/>
        </p:nvSpPr>
        <p:spPr bwMode="gray">
          <a:xfrm>
            <a:off x="4491740" y="1991983"/>
            <a:ext cx="527766"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8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55">
            <a:extLst>
              <a:ext uri="{FF2B5EF4-FFF2-40B4-BE49-F238E27FC236}">
                <a16:creationId xmlns="" xmlns:a16="http://schemas.microsoft.com/office/drawing/2014/main" id="{D84F2496-592A-4A1C-AE46-616FEAC929E4}"/>
              </a:ext>
            </a:extLst>
          </p:cNvPr>
          <p:cNvSpPr/>
          <p:nvPr/>
        </p:nvSpPr>
        <p:spPr bwMode="gray">
          <a:xfrm>
            <a:off x="7259638" y="2756109"/>
            <a:ext cx="557728"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动</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静</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56">
            <a:extLst>
              <a:ext uri="{FF2B5EF4-FFF2-40B4-BE49-F238E27FC236}">
                <a16:creationId xmlns="" xmlns:a16="http://schemas.microsoft.com/office/drawing/2014/main" id="{19F1EAC8-2E2A-41E5-ABE3-101ED7D423DA}"/>
              </a:ext>
            </a:extLst>
          </p:cNvPr>
          <p:cNvSpPr/>
          <p:nvPr/>
        </p:nvSpPr>
        <p:spPr bwMode="gray">
          <a:xfrm>
            <a:off x="9042485" y="2756109"/>
            <a:ext cx="683817"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End.DT</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53">
            <a:extLst>
              <a:ext uri="{FF2B5EF4-FFF2-40B4-BE49-F238E27FC236}">
                <a16:creationId xmlns="" xmlns:a16="http://schemas.microsoft.com/office/drawing/2014/main" id="{C82C375E-1602-49E1-A413-A5A40D1546EB}"/>
              </a:ext>
            </a:extLst>
          </p:cNvPr>
          <p:cNvCxnSpPr/>
          <p:nvPr/>
        </p:nvCxnSpPr>
        <p:spPr bwMode="gray">
          <a:xfrm flipV="1">
            <a:off x="5330014" y="2117720"/>
            <a:ext cx="0" cy="251892"/>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45" name="直接箭头连接符 57">
            <a:extLst>
              <a:ext uri="{FF2B5EF4-FFF2-40B4-BE49-F238E27FC236}">
                <a16:creationId xmlns="" xmlns:a16="http://schemas.microsoft.com/office/drawing/2014/main" id="{03996E43-4C2B-4756-8EFC-F24386CBB91D}"/>
              </a:ext>
            </a:extLst>
          </p:cNvPr>
          <p:cNvCxnSpPr/>
          <p:nvPr/>
        </p:nvCxnSpPr>
        <p:spPr bwMode="gray">
          <a:xfrm flipV="1">
            <a:off x="4069360" y="2247187"/>
            <a:ext cx="1256710" cy="6406"/>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cxnSp>
        <p:nvCxnSpPr>
          <p:cNvPr id="46" name="直接连接符 70">
            <a:extLst>
              <a:ext uri="{FF2B5EF4-FFF2-40B4-BE49-F238E27FC236}">
                <a16:creationId xmlns="" xmlns:a16="http://schemas.microsoft.com/office/drawing/2014/main" id="{E922B563-6693-4C7A-98C3-0880F510B34C}"/>
              </a:ext>
            </a:extLst>
          </p:cNvPr>
          <p:cNvCxnSpPr/>
          <p:nvPr/>
        </p:nvCxnSpPr>
        <p:spPr bwMode="gray">
          <a:xfrm flipH="1" flipV="1">
            <a:off x="5328652" y="2756807"/>
            <a:ext cx="723" cy="902331"/>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sp>
        <p:nvSpPr>
          <p:cNvPr id="47" name="矩形 48">
            <a:extLst>
              <a:ext uri="{FF2B5EF4-FFF2-40B4-BE49-F238E27FC236}">
                <a16:creationId xmlns="" xmlns:a16="http://schemas.microsoft.com/office/drawing/2014/main" id="{648394EA-2C2F-46EC-BD9E-EFB361B4D0A3}"/>
              </a:ext>
            </a:extLst>
          </p:cNvPr>
          <p:cNvSpPr/>
          <p:nvPr/>
        </p:nvSpPr>
        <p:spPr bwMode="gray">
          <a:xfrm>
            <a:off x="7800708" y="2756109"/>
            <a:ext cx="1241777" cy="386275"/>
          </a:xfrm>
          <a:prstGeom prst="rect">
            <a:avLst/>
          </a:prstGeom>
          <a:solidFill>
            <a:srgbClr val="BEE9E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End&amp;End.X</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a:t>
            </a:r>
          </a:p>
        </p:txBody>
      </p:sp>
      <p:cxnSp>
        <p:nvCxnSpPr>
          <p:cNvPr id="48" name="直接连接符 49">
            <a:extLst>
              <a:ext uri="{FF2B5EF4-FFF2-40B4-BE49-F238E27FC236}">
                <a16:creationId xmlns="" xmlns:a16="http://schemas.microsoft.com/office/drawing/2014/main" id="{049025FC-F129-41D7-A415-2EBB0A3C86B2}"/>
              </a:ext>
            </a:extLst>
          </p:cNvPr>
          <p:cNvCxnSpPr/>
          <p:nvPr/>
        </p:nvCxnSpPr>
        <p:spPr bwMode="gray">
          <a:xfrm flipV="1">
            <a:off x="9042485" y="3142385"/>
            <a:ext cx="0" cy="569948"/>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49" name="直接箭头连接符 50">
            <a:extLst>
              <a:ext uri="{FF2B5EF4-FFF2-40B4-BE49-F238E27FC236}">
                <a16:creationId xmlns="" xmlns:a16="http://schemas.microsoft.com/office/drawing/2014/main" id="{128564E7-6402-4125-8D7D-9FE0AD9888EF}"/>
              </a:ext>
            </a:extLst>
          </p:cNvPr>
          <p:cNvCxnSpPr/>
          <p:nvPr/>
        </p:nvCxnSpPr>
        <p:spPr bwMode="gray">
          <a:xfrm>
            <a:off x="9042485" y="3235715"/>
            <a:ext cx="688192" cy="1718"/>
          </a:xfrm>
          <a:prstGeom prst="straightConnector1">
            <a:avLst/>
          </a:prstGeom>
          <a:solidFill>
            <a:srgbClr val="5B9BD5"/>
          </a:solidFill>
          <a:ln w="12700" cap="flat" cmpd="sng" algn="ctr">
            <a:solidFill>
              <a:sysClr val="windowText" lastClr="000000"/>
            </a:solidFill>
            <a:prstDash val="solid"/>
            <a:round/>
            <a:headEnd type="arrow" w="med" len="med"/>
            <a:tailEnd type="arrow" w="med" len="med"/>
          </a:ln>
          <a:effectLst/>
        </p:spPr>
      </p:cxnSp>
      <p:sp>
        <p:nvSpPr>
          <p:cNvPr id="50" name="TextBox 38">
            <a:extLst>
              <a:ext uri="{FF2B5EF4-FFF2-40B4-BE49-F238E27FC236}">
                <a16:creationId xmlns="" xmlns:a16="http://schemas.microsoft.com/office/drawing/2014/main" id="{9061C52C-56CF-4AAA-9E97-B2E0D1452045}"/>
              </a:ext>
            </a:extLst>
          </p:cNvPr>
          <p:cNvSpPr txBox="1"/>
          <p:nvPr/>
        </p:nvSpPr>
        <p:spPr bwMode="gray">
          <a:xfrm>
            <a:off x="9072406" y="3239757"/>
            <a:ext cx="606143" cy="276999"/>
          </a:xfrm>
          <a:prstGeom prst="rect">
            <a:avLst/>
          </a:prstGeom>
          <a:noFill/>
        </p:spPr>
        <p:txBody>
          <a:bodyPr wrap="square" rtlCol="0">
            <a:spAutoFit/>
          </a:bodyPr>
          <a:lstStyle/>
          <a:p>
            <a:pPr defTabSz="1219414">
              <a:defRPr/>
            </a:pPr>
            <a:r>
              <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12 bit</a:t>
            </a:r>
            <a:endPar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箭头连接符 59">
            <a:extLst>
              <a:ext uri="{FF2B5EF4-FFF2-40B4-BE49-F238E27FC236}">
                <a16:creationId xmlns="" xmlns:a16="http://schemas.microsoft.com/office/drawing/2014/main" id="{DFA4A9A7-A0E4-4374-9DB2-49EFA48A4F76}"/>
              </a:ext>
            </a:extLst>
          </p:cNvPr>
          <p:cNvCxnSpPr/>
          <p:nvPr/>
        </p:nvCxnSpPr>
        <p:spPr bwMode="gray">
          <a:xfrm flipV="1">
            <a:off x="5327779" y="3616726"/>
            <a:ext cx="3714706" cy="1"/>
          </a:xfrm>
          <a:prstGeom prst="straightConnector1">
            <a:avLst/>
          </a:prstGeom>
          <a:solidFill>
            <a:srgbClr val="5B9BD5"/>
          </a:solidFill>
          <a:ln w="28575" cap="flat" cmpd="sng" algn="ctr">
            <a:solidFill>
              <a:srgbClr val="C00000"/>
            </a:solidFill>
            <a:prstDash val="solid"/>
            <a:round/>
            <a:headEnd type="arrow" w="med" len="med"/>
            <a:tailEnd type="arrow" w="med" len="med"/>
          </a:ln>
          <a:effectLst/>
        </p:spPr>
      </p:cxnSp>
      <p:sp>
        <p:nvSpPr>
          <p:cNvPr id="52" name="TextBox 43">
            <a:extLst>
              <a:ext uri="{FF2B5EF4-FFF2-40B4-BE49-F238E27FC236}">
                <a16:creationId xmlns="" xmlns:a16="http://schemas.microsoft.com/office/drawing/2014/main" id="{291DB18E-636C-4EF4-89B0-273F2841A15C}"/>
              </a:ext>
            </a:extLst>
          </p:cNvPr>
          <p:cNvSpPr txBox="1"/>
          <p:nvPr/>
        </p:nvSpPr>
        <p:spPr bwMode="gray">
          <a:xfrm>
            <a:off x="6575734" y="3447948"/>
            <a:ext cx="564578" cy="276999"/>
          </a:xfrm>
          <a:prstGeom prst="rect">
            <a:avLst/>
          </a:prstGeom>
          <a:solidFill>
            <a:schemeClr val="bg1"/>
          </a:solidFill>
        </p:spPr>
        <p:txBody>
          <a:bodyPr wrap="none" rtlCol="0">
            <a:spAutoFit/>
          </a:bodyPr>
          <a:lstStyle/>
          <a:p>
            <a:pPr defTabSz="1219414">
              <a:defRPr/>
            </a:pPr>
            <a:r>
              <a:rPr lang="en-US" altLang="zh-CN" sz="12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32bit</a:t>
            </a:r>
            <a:endParaRPr lang="zh-CN" altLang="en-US" sz="12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61">
            <a:extLst>
              <a:ext uri="{FF2B5EF4-FFF2-40B4-BE49-F238E27FC236}">
                <a16:creationId xmlns="" xmlns:a16="http://schemas.microsoft.com/office/drawing/2014/main" id="{CE1EF5C0-9511-42E4-9C70-F6DE63031083}"/>
              </a:ext>
            </a:extLst>
          </p:cNvPr>
          <p:cNvSpPr/>
          <p:nvPr/>
        </p:nvSpPr>
        <p:spPr bwMode="gray">
          <a:xfrm>
            <a:off x="4806126" y="3739384"/>
            <a:ext cx="4682487" cy="276999"/>
          </a:xfrm>
          <a:prstGeom prst="rect">
            <a:avLst/>
          </a:prstGeom>
        </p:spPr>
        <p:txBody>
          <a:bodyPr wrap="square">
            <a:spAutoFit/>
          </a:bodyPr>
          <a:lstStyle/>
          <a:p>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为了兼容以后的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压缩，此部分要保持在</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32 bit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以内，建议</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32 bit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p>
        </p:txBody>
      </p:sp>
      <p:cxnSp>
        <p:nvCxnSpPr>
          <p:cNvPr id="54" name="直接连接符 63">
            <a:extLst>
              <a:ext uri="{FF2B5EF4-FFF2-40B4-BE49-F238E27FC236}">
                <a16:creationId xmlns="" xmlns:a16="http://schemas.microsoft.com/office/drawing/2014/main" id="{68FFF751-37F7-427A-B964-005E11290690}"/>
              </a:ext>
            </a:extLst>
          </p:cNvPr>
          <p:cNvCxnSpPr/>
          <p:nvPr/>
        </p:nvCxnSpPr>
        <p:spPr bwMode="gray">
          <a:xfrm flipH="1" flipV="1">
            <a:off x="1303452" y="2750022"/>
            <a:ext cx="723" cy="902331"/>
          </a:xfrm>
          <a:prstGeom prst="line">
            <a:avLst/>
          </a:prstGeom>
          <a:solidFill>
            <a:srgbClr val="5B9BD5"/>
          </a:solidFill>
          <a:ln w="12700" cap="flat" cmpd="sng" algn="ctr">
            <a:solidFill>
              <a:sysClr val="windowText" lastClr="000000"/>
            </a:solidFill>
            <a:prstDash val="solid"/>
            <a:round/>
            <a:headEnd type="none" w="med" len="med"/>
            <a:tailEnd type="none" w="med" len="med"/>
          </a:ln>
          <a:effectLst/>
        </p:spPr>
      </p:cxnSp>
      <p:cxnSp>
        <p:nvCxnSpPr>
          <p:cNvPr id="55" name="直接箭头连接符 64">
            <a:extLst>
              <a:ext uri="{FF2B5EF4-FFF2-40B4-BE49-F238E27FC236}">
                <a16:creationId xmlns="" xmlns:a16="http://schemas.microsoft.com/office/drawing/2014/main" id="{392159F5-A352-40A6-AF87-F7431B19D859}"/>
              </a:ext>
            </a:extLst>
          </p:cNvPr>
          <p:cNvCxnSpPr/>
          <p:nvPr/>
        </p:nvCxnSpPr>
        <p:spPr bwMode="gray">
          <a:xfrm>
            <a:off x="1312220" y="3220166"/>
            <a:ext cx="5947418" cy="9036"/>
          </a:xfrm>
          <a:prstGeom prst="straightConnector1">
            <a:avLst/>
          </a:prstGeom>
          <a:solidFill>
            <a:srgbClr val="5B9BD5"/>
          </a:solidFill>
          <a:ln w="28575" cap="flat" cmpd="sng" algn="ctr">
            <a:solidFill>
              <a:srgbClr val="7030A0"/>
            </a:solidFill>
            <a:prstDash val="solid"/>
            <a:round/>
            <a:headEnd type="arrow" w="med" len="med"/>
            <a:tailEnd type="arrow" w="med" len="med"/>
          </a:ln>
          <a:effectLst/>
        </p:spPr>
      </p:cxnSp>
      <p:sp>
        <p:nvSpPr>
          <p:cNvPr id="56" name="TextBox 43">
            <a:extLst>
              <a:ext uri="{FF2B5EF4-FFF2-40B4-BE49-F238E27FC236}">
                <a16:creationId xmlns="" xmlns:a16="http://schemas.microsoft.com/office/drawing/2014/main" id="{EC5F5E27-7B8B-4BFB-B74B-EB41EA70E223}"/>
              </a:ext>
            </a:extLst>
          </p:cNvPr>
          <p:cNvSpPr txBox="1"/>
          <p:nvPr/>
        </p:nvSpPr>
        <p:spPr bwMode="gray">
          <a:xfrm>
            <a:off x="3853071" y="3069472"/>
            <a:ext cx="564578" cy="276999"/>
          </a:xfrm>
          <a:prstGeom prst="rect">
            <a:avLst/>
          </a:prstGeom>
          <a:solidFill>
            <a:schemeClr val="bg1"/>
          </a:solidFill>
        </p:spPr>
        <p:txBody>
          <a:bodyPr wrap="none" rtlCol="0">
            <a:spAutoFit/>
          </a:bodyPr>
          <a:lstStyle/>
          <a:p>
            <a:pPr defTabSz="1219414">
              <a:defRPr/>
            </a:pPr>
            <a:r>
              <a:rPr lang="en-US" altLang="zh-CN" sz="1200" b="1" kern="0" dirty="0">
                <a:solidFill>
                  <a:srgbClr val="7030A0"/>
                </a:solidFill>
                <a:latin typeface="Huawei Sans" panose="020C0503030203020204" pitchFamily="34" charset="0"/>
                <a:ea typeface="方正兰亭黑简体" panose="02000000000000000000" pitchFamily="2" charset="-122"/>
                <a:sym typeface="Huawei Sans" panose="020C0503030203020204" pitchFamily="34" charset="0"/>
              </a:rPr>
              <a:t>88bit</a:t>
            </a:r>
            <a:endParaRPr lang="zh-CN" altLang="en-US" sz="1200" b="1" kern="0" dirty="0">
              <a:solidFill>
                <a:srgbClr val="7030A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五边形 2">
            <a:extLst>
              <a:ext uri="{FF2B5EF4-FFF2-40B4-BE49-F238E27FC236}">
                <a16:creationId xmlns="" xmlns:a16="http://schemas.microsoft.com/office/drawing/2014/main" id="{2126E3F3-7627-4095-9583-6084FEDB72CE}"/>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60" name="燕尾形 3">
            <a:extLst>
              <a:ext uri="{FF2B5EF4-FFF2-40B4-BE49-F238E27FC236}">
                <a16:creationId xmlns="" xmlns:a16="http://schemas.microsoft.com/office/drawing/2014/main" id="{1E9145E3-0D58-4DCA-8910-D9E6BF5AC18C}"/>
              </a:ext>
            </a:extLst>
          </p:cNvPr>
          <p:cNvSpPr/>
          <p:nvPr/>
        </p:nvSpPr>
        <p:spPr bwMode="gray">
          <a:xfrm>
            <a:off x="10187805" y="44020"/>
            <a:ext cx="156128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3">
            <a:extLst>
              <a:ext uri="{FF2B5EF4-FFF2-40B4-BE49-F238E27FC236}">
                <a16:creationId xmlns="" xmlns:a16="http://schemas.microsoft.com/office/drawing/2014/main" id="{71AE06FF-237B-46ED-99C6-9AAFDCFFFF8D}"/>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53287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75D78D-B8AB-4FF3-9A6E-E3A2CED36E2D}"/>
              </a:ext>
            </a:extLst>
          </p:cNvPr>
          <p:cNvSpPr>
            <a:spLocks noGrp="1"/>
          </p:cNvSpPr>
          <p:nvPr>
            <p:ph type="title"/>
          </p:nvPr>
        </p:nvSpPr>
        <p:spPr bwMode="gray"/>
        <p:txBody>
          <a:bodyPr/>
          <a:lstStyle/>
          <a:p>
            <a:r>
              <a:rPr lang="en-US" dirty="0"/>
              <a:t>SR</a:t>
            </a:r>
            <a:r>
              <a:rPr lang="en-US" altLang="zh-CN" dirty="0"/>
              <a:t>v6 Locator</a:t>
            </a:r>
            <a:r>
              <a:rPr lang="zh-CN" altLang="en-US" dirty="0"/>
              <a:t>典型规划</a:t>
            </a:r>
            <a:endParaRPr lang="en-US" dirty="0"/>
          </a:p>
        </p:txBody>
      </p:sp>
      <p:sp>
        <p:nvSpPr>
          <p:cNvPr id="3" name="Text Placeholder 2">
            <a:extLst>
              <a:ext uri="{FF2B5EF4-FFF2-40B4-BE49-F238E27FC236}">
                <a16:creationId xmlns="" xmlns:a16="http://schemas.microsoft.com/office/drawing/2014/main" id="{8264EF81-CCE7-4927-B6AD-59D0DCC543CA}"/>
              </a:ext>
            </a:extLst>
          </p:cNvPr>
          <p:cNvSpPr>
            <a:spLocks noGrp="1"/>
          </p:cNvSpPr>
          <p:nvPr>
            <p:ph type="body" sz="quarter" idx="10"/>
          </p:nvPr>
        </p:nvSpPr>
        <p:spPr bwMode="gray">
          <a:xfrm>
            <a:off x="455612" y="1047750"/>
            <a:ext cx="11293475" cy="820863"/>
          </a:xfrm>
        </p:spPr>
        <p:txBody>
          <a:bodyPr/>
          <a:lstStyle/>
          <a:p>
            <a:r>
              <a:rPr lang="en-US" altLang="zh-CN" sz="1800" dirty="0"/>
              <a:t>SRv6 Locator</a:t>
            </a:r>
            <a:r>
              <a:rPr lang="zh-CN" altLang="en-US" sz="1800" dirty="0"/>
              <a:t>规划中，</a:t>
            </a:r>
            <a:r>
              <a:rPr lang="en-US" altLang="zh-CN" sz="1800" dirty="0"/>
              <a:t>Locator</a:t>
            </a:r>
            <a:r>
              <a:rPr lang="zh-CN" altLang="en-US" sz="1800" dirty="0"/>
              <a:t>一般不建议超过</a:t>
            </a:r>
            <a:r>
              <a:rPr lang="en-US" altLang="zh-CN" sz="1800" dirty="0"/>
              <a:t>88</a:t>
            </a:r>
            <a:r>
              <a:rPr lang="zh-CN" altLang="en-US" sz="1800" dirty="0"/>
              <a:t>位，同时</a:t>
            </a:r>
            <a:r>
              <a:rPr lang="en-US" altLang="zh-CN" sz="1800" dirty="0"/>
              <a:t>SRv6 SID</a:t>
            </a:r>
            <a:r>
              <a:rPr lang="zh-CN" altLang="en-US" sz="1800" dirty="0"/>
              <a:t>尽量使用静态配置保证设备重新上线后，</a:t>
            </a:r>
            <a:r>
              <a:rPr lang="en-US" altLang="zh-CN" sz="1800" dirty="0"/>
              <a:t>SRv6 SID</a:t>
            </a:r>
            <a:r>
              <a:rPr lang="zh-CN" altLang="en-US" sz="1800" dirty="0"/>
              <a:t>不会变化，方便管理。</a:t>
            </a:r>
            <a:endParaRPr lang="en-US" altLang="zh-CN" sz="1800" dirty="0"/>
          </a:p>
        </p:txBody>
      </p:sp>
      <p:sp>
        <p:nvSpPr>
          <p:cNvPr id="7" name="五边形 2">
            <a:extLst>
              <a:ext uri="{FF2B5EF4-FFF2-40B4-BE49-F238E27FC236}">
                <a16:creationId xmlns="" xmlns:a16="http://schemas.microsoft.com/office/drawing/2014/main" id="{475E7572-EC50-4DA5-B266-7997C4052DAD}"/>
              </a:ext>
            </a:extLst>
          </p:cNvPr>
          <p:cNvSpPr/>
          <p:nvPr/>
        </p:nvSpPr>
        <p:spPr bwMode="gray">
          <a:xfrm>
            <a:off x="795300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8" name="燕尾形 3">
            <a:extLst>
              <a:ext uri="{FF2B5EF4-FFF2-40B4-BE49-F238E27FC236}">
                <a16:creationId xmlns="" xmlns:a16="http://schemas.microsoft.com/office/drawing/2014/main" id="{A81D54F1-164A-4AB7-8BB8-663144E71A3C}"/>
              </a:ext>
            </a:extLst>
          </p:cNvPr>
          <p:cNvSpPr/>
          <p:nvPr/>
        </p:nvSpPr>
        <p:spPr bwMode="gray">
          <a:xfrm>
            <a:off x="10187805" y="44020"/>
            <a:ext cx="156128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a:extLst>
              <a:ext uri="{FF2B5EF4-FFF2-40B4-BE49-F238E27FC236}">
                <a16:creationId xmlns="" xmlns:a16="http://schemas.microsoft.com/office/drawing/2014/main" id="{D9A8F772-DEFF-41C1-A5CE-30BE82C5422E}"/>
              </a:ext>
            </a:extLst>
          </p:cNvPr>
          <p:cNvSpPr/>
          <p:nvPr/>
        </p:nvSpPr>
        <p:spPr bwMode="gray">
          <a:xfrm>
            <a:off x="9072406" y="44020"/>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Group 28">
            <a:extLst>
              <a:ext uri="{FF2B5EF4-FFF2-40B4-BE49-F238E27FC236}">
                <a16:creationId xmlns="" xmlns:a16="http://schemas.microsoft.com/office/drawing/2014/main" id="{B78C405E-59DE-48B6-AD11-F9C358CD5DFE}"/>
              </a:ext>
            </a:extLst>
          </p:cNvPr>
          <p:cNvGrpSpPr/>
          <p:nvPr/>
        </p:nvGrpSpPr>
        <p:grpSpPr bwMode="gray">
          <a:xfrm>
            <a:off x="2922855" y="1851159"/>
            <a:ext cx="6448762" cy="1230412"/>
            <a:chOff x="571509" y="1994275"/>
            <a:chExt cx="6448762" cy="1230412"/>
          </a:xfrm>
        </p:grpSpPr>
        <p:sp>
          <p:nvSpPr>
            <p:cNvPr id="111" name="TextBox 110">
              <a:extLst>
                <a:ext uri="{FF2B5EF4-FFF2-40B4-BE49-F238E27FC236}">
                  <a16:creationId xmlns="" xmlns:a16="http://schemas.microsoft.com/office/drawing/2014/main" id="{87E63C92-9B7C-411F-8DA5-C3EEE31F6397}"/>
                </a:ext>
              </a:extLst>
            </p:cNvPr>
            <p:cNvSpPr txBox="1"/>
            <p:nvPr/>
          </p:nvSpPr>
          <p:spPr bwMode="gray">
            <a:xfrm>
              <a:off x="571509" y="2438480"/>
              <a:ext cx="6303329" cy="369332"/>
            </a:xfrm>
            <a:prstGeom prst="rect">
              <a:avLst/>
            </a:prstGeom>
            <a:noFill/>
          </p:spPr>
          <p:txBody>
            <a:bodyPr wrap="none" rtlCol="0">
              <a:spAutoFit/>
            </a:bodyPr>
            <a:lstStyle/>
            <a:p>
              <a:r>
                <a:rPr lang="en-US" dirty="0"/>
                <a:t>SR</a:t>
              </a:r>
              <a:r>
                <a:rPr lang="en-US" altLang="zh-CN" dirty="0"/>
                <a:t>v6 Locator</a:t>
              </a:r>
              <a:r>
                <a:rPr lang="zh-CN" altLang="en-US" dirty="0"/>
                <a:t>：</a:t>
              </a:r>
              <a:r>
                <a:rPr lang="en-US" altLang="zh-CN" dirty="0"/>
                <a:t>2001 :  : 2 : 2 : 1 : 0 : 0 88 Static 27 </a:t>
              </a:r>
              <a:r>
                <a:rPr lang="en-US" altLang="zh-CN" dirty="0" err="1"/>
                <a:t>args</a:t>
              </a:r>
              <a:r>
                <a:rPr lang="en-US" altLang="zh-CN" dirty="0"/>
                <a:t> 12</a:t>
              </a:r>
              <a:endParaRPr lang="en-US" dirty="0"/>
            </a:p>
          </p:txBody>
        </p:sp>
        <p:sp>
          <p:nvSpPr>
            <p:cNvPr id="112" name="TextBox 111">
              <a:extLst>
                <a:ext uri="{FF2B5EF4-FFF2-40B4-BE49-F238E27FC236}">
                  <a16:creationId xmlns="" xmlns:a16="http://schemas.microsoft.com/office/drawing/2014/main" id="{46570574-C50F-4684-97A1-847F5A32BE92}"/>
                </a:ext>
              </a:extLst>
            </p:cNvPr>
            <p:cNvSpPr txBox="1"/>
            <p:nvPr/>
          </p:nvSpPr>
          <p:spPr bwMode="gray">
            <a:xfrm>
              <a:off x="2802317" y="2942201"/>
              <a:ext cx="800219" cy="276999"/>
            </a:xfrm>
            <a:prstGeom prst="rect">
              <a:avLst/>
            </a:prstGeom>
            <a:noFill/>
          </p:spPr>
          <p:txBody>
            <a:bodyPr wrap="none" rtlCol="0">
              <a:spAutoFit/>
            </a:bodyPr>
            <a:lstStyle/>
            <a:p>
              <a:r>
                <a:rPr lang="zh-CN" altLang="en-US" sz="1200" dirty="0"/>
                <a:t>地址用途</a:t>
              </a:r>
              <a:endParaRPr lang="en-US" sz="1200" dirty="0"/>
            </a:p>
          </p:txBody>
        </p:sp>
        <p:cxnSp>
          <p:nvCxnSpPr>
            <p:cNvPr id="113" name="Straight Arrow Connector 112">
              <a:extLst>
                <a:ext uri="{FF2B5EF4-FFF2-40B4-BE49-F238E27FC236}">
                  <a16:creationId xmlns="" xmlns:a16="http://schemas.microsoft.com/office/drawing/2014/main" id="{136922DA-53F0-40FD-A919-9B380EE98B66}"/>
                </a:ext>
              </a:extLst>
            </p:cNvPr>
            <p:cNvCxnSpPr>
              <a:cxnSpLocks/>
              <a:stCxn id="112" idx="0"/>
            </p:cNvCxnSpPr>
            <p:nvPr/>
          </p:nvCxnSpPr>
          <p:spPr bwMode="gray">
            <a:xfrm flipV="1">
              <a:off x="3202427" y="2742341"/>
              <a:ext cx="1" cy="199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 xmlns:a16="http://schemas.microsoft.com/office/drawing/2014/main" id="{A6D55818-EDF5-4F51-B627-3F842CF103FB}"/>
                </a:ext>
              </a:extLst>
            </p:cNvPr>
            <p:cNvSpPr txBox="1"/>
            <p:nvPr/>
          </p:nvSpPr>
          <p:spPr bwMode="gray">
            <a:xfrm>
              <a:off x="3267355" y="2002504"/>
              <a:ext cx="492443" cy="276999"/>
            </a:xfrm>
            <a:prstGeom prst="rect">
              <a:avLst/>
            </a:prstGeom>
            <a:noFill/>
          </p:spPr>
          <p:txBody>
            <a:bodyPr wrap="none" rtlCol="0">
              <a:spAutoFit/>
            </a:bodyPr>
            <a:lstStyle/>
            <a:p>
              <a:r>
                <a:rPr lang="zh-CN" altLang="en-US" sz="1200" dirty="0"/>
                <a:t>区域</a:t>
              </a:r>
              <a:endParaRPr lang="en-US" sz="1200" dirty="0"/>
            </a:p>
          </p:txBody>
        </p:sp>
        <p:cxnSp>
          <p:nvCxnSpPr>
            <p:cNvPr id="115" name="Straight Arrow Connector 114">
              <a:extLst>
                <a:ext uri="{FF2B5EF4-FFF2-40B4-BE49-F238E27FC236}">
                  <a16:creationId xmlns="" xmlns:a16="http://schemas.microsoft.com/office/drawing/2014/main" id="{2BFD0711-8732-4B5D-8FBC-66CF59533276}"/>
                </a:ext>
              </a:extLst>
            </p:cNvPr>
            <p:cNvCxnSpPr>
              <a:cxnSpLocks/>
              <a:stCxn id="114" idx="2"/>
            </p:cNvCxnSpPr>
            <p:nvPr/>
          </p:nvCxnSpPr>
          <p:spPr bwMode="gray">
            <a:xfrm>
              <a:off x="3513577" y="2279503"/>
              <a:ext cx="0"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 xmlns:a16="http://schemas.microsoft.com/office/drawing/2014/main" id="{7C5826EF-8ABF-4F13-85E2-E244AFD6CD2C}"/>
                </a:ext>
              </a:extLst>
            </p:cNvPr>
            <p:cNvSpPr txBox="1"/>
            <p:nvPr/>
          </p:nvSpPr>
          <p:spPr bwMode="gray">
            <a:xfrm>
              <a:off x="3535528" y="2947600"/>
              <a:ext cx="646331" cy="276999"/>
            </a:xfrm>
            <a:prstGeom prst="rect">
              <a:avLst/>
            </a:prstGeom>
            <a:noFill/>
          </p:spPr>
          <p:txBody>
            <a:bodyPr wrap="none" rtlCol="0">
              <a:spAutoFit/>
            </a:bodyPr>
            <a:lstStyle/>
            <a:p>
              <a:r>
                <a:rPr lang="zh-CN" altLang="en-US" sz="1200" dirty="0"/>
                <a:t>设备号</a:t>
              </a:r>
              <a:endParaRPr lang="en-US" sz="1200" dirty="0"/>
            </a:p>
          </p:txBody>
        </p:sp>
        <p:cxnSp>
          <p:nvCxnSpPr>
            <p:cNvPr id="117" name="Straight Arrow Connector 116">
              <a:extLst>
                <a:ext uri="{FF2B5EF4-FFF2-40B4-BE49-F238E27FC236}">
                  <a16:creationId xmlns="" xmlns:a16="http://schemas.microsoft.com/office/drawing/2014/main" id="{C1781654-66B5-4725-A1F1-44C3DD400488}"/>
                </a:ext>
              </a:extLst>
            </p:cNvPr>
            <p:cNvCxnSpPr>
              <a:cxnSpLocks/>
              <a:stCxn id="116" idx="0"/>
            </p:cNvCxnSpPr>
            <p:nvPr/>
          </p:nvCxnSpPr>
          <p:spPr bwMode="gray">
            <a:xfrm flipV="1">
              <a:off x="3858694" y="2747740"/>
              <a:ext cx="0" cy="1998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 xmlns:a16="http://schemas.microsoft.com/office/drawing/2014/main" id="{D2593D2B-DD92-408F-B3B7-6467918A581C}"/>
                </a:ext>
              </a:extLst>
            </p:cNvPr>
            <p:cNvSpPr txBox="1"/>
            <p:nvPr/>
          </p:nvSpPr>
          <p:spPr bwMode="gray">
            <a:xfrm>
              <a:off x="4260903" y="2002504"/>
              <a:ext cx="1016625" cy="276999"/>
            </a:xfrm>
            <a:prstGeom prst="rect">
              <a:avLst/>
            </a:prstGeom>
            <a:noFill/>
          </p:spPr>
          <p:txBody>
            <a:bodyPr wrap="none" rtlCol="0">
              <a:spAutoFit/>
            </a:bodyPr>
            <a:lstStyle/>
            <a:p>
              <a:r>
                <a:rPr lang="en-US" sz="1200" dirty="0"/>
                <a:t>L</a:t>
              </a:r>
              <a:r>
                <a:rPr lang="en-US" altLang="zh-CN" sz="1200" dirty="0"/>
                <a:t>ocator</a:t>
              </a:r>
              <a:r>
                <a:rPr lang="zh-CN" altLang="en-US" sz="1200" dirty="0"/>
                <a:t>长度</a:t>
              </a:r>
              <a:endParaRPr lang="en-US" sz="1200" dirty="0"/>
            </a:p>
          </p:txBody>
        </p:sp>
        <p:cxnSp>
          <p:nvCxnSpPr>
            <p:cNvPr id="119" name="Straight Arrow Connector 118">
              <a:extLst>
                <a:ext uri="{FF2B5EF4-FFF2-40B4-BE49-F238E27FC236}">
                  <a16:creationId xmlns="" xmlns:a16="http://schemas.microsoft.com/office/drawing/2014/main" id="{89B5BE7F-C9D6-46C8-B3BD-ED4CAE30B907}"/>
                </a:ext>
              </a:extLst>
            </p:cNvPr>
            <p:cNvCxnSpPr>
              <a:cxnSpLocks/>
              <a:stCxn id="118" idx="2"/>
            </p:cNvCxnSpPr>
            <p:nvPr/>
          </p:nvCxnSpPr>
          <p:spPr bwMode="gray">
            <a:xfrm>
              <a:off x="4769216" y="2279503"/>
              <a:ext cx="0"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 xmlns:a16="http://schemas.microsoft.com/office/drawing/2014/main" id="{CC851F16-08E0-48D2-880A-5D7C1EB3F6D8}"/>
                </a:ext>
              </a:extLst>
            </p:cNvPr>
            <p:cNvSpPr txBox="1"/>
            <p:nvPr/>
          </p:nvSpPr>
          <p:spPr bwMode="gray">
            <a:xfrm>
              <a:off x="2104048" y="1994275"/>
              <a:ext cx="800219" cy="276999"/>
            </a:xfrm>
            <a:prstGeom prst="rect">
              <a:avLst/>
            </a:prstGeom>
            <a:noFill/>
          </p:spPr>
          <p:txBody>
            <a:bodyPr wrap="none" rtlCol="0">
              <a:spAutoFit/>
            </a:bodyPr>
            <a:lstStyle/>
            <a:p>
              <a:r>
                <a:rPr lang="zh-CN" altLang="en-US" sz="1200" dirty="0"/>
                <a:t>固定前缀</a:t>
              </a:r>
              <a:endParaRPr lang="en-US" sz="1200" dirty="0"/>
            </a:p>
          </p:txBody>
        </p:sp>
        <p:cxnSp>
          <p:nvCxnSpPr>
            <p:cNvPr id="121" name="Straight Arrow Connector 120">
              <a:extLst>
                <a:ext uri="{FF2B5EF4-FFF2-40B4-BE49-F238E27FC236}">
                  <a16:creationId xmlns="" xmlns:a16="http://schemas.microsoft.com/office/drawing/2014/main" id="{ABE1CB4B-AF47-4A92-81A0-3694AA964971}"/>
                </a:ext>
              </a:extLst>
            </p:cNvPr>
            <p:cNvCxnSpPr>
              <a:cxnSpLocks/>
              <a:stCxn id="120" idx="2"/>
            </p:cNvCxnSpPr>
            <p:nvPr/>
          </p:nvCxnSpPr>
          <p:spPr bwMode="gray">
            <a:xfrm>
              <a:off x="2504158" y="2271274"/>
              <a:ext cx="1" cy="2139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 xmlns:a16="http://schemas.microsoft.com/office/drawing/2014/main" id="{1EC651EE-7109-496E-BBF8-11C2C62A310B}"/>
                </a:ext>
              </a:extLst>
            </p:cNvPr>
            <p:cNvSpPr txBox="1"/>
            <p:nvPr/>
          </p:nvSpPr>
          <p:spPr bwMode="gray">
            <a:xfrm>
              <a:off x="5056513" y="2947688"/>
              <a:ext cx="1337226" cy="276999"/>
            </a:xfrm>
            <a:prstGeom prst="rect">
              <a:avLst/>
            </a:prstGeom>
            <a:noFill/>
          </p:spPr>
          <p:txBody>
            <a:bodyPr wrap="none" rtlCol="0">
              <a:spAutoFit/>
            </a:bodyPr>
            <a:lstStyle/>
            <a:p>
              <a:r>
                <a:rPr lang="zh-CN" altLang="en-US" sz="1200" dirty="0"/>
                <a:t>静态</a:t>
              </a:r>
              <a:r>
                <a:rPr lang="en-US" altLang="zh-CN" sz="1200" dirty="0"/>
                <a:t>Opcode</a:t>
              </a:r>
              <a:r>
                <a:rPr lang="zh-CN" altLang="en-US" sz="1200" dirty="0"/>
                <a:t>长度</a:t>
              </a:r>
              <a:endParaRPr lang="en-US" sz="1200" dirty="0"/>
            </a:p>
          </p:txBody>
        </p:sp>
        <p:cxnSp>
          <p:nvCxnSpPr>
            <p:cNvPr id="133" name="Straight Arrow Connector 132">
              <a:extLst>
                <a:ext uri="{FF2B5EF4-FFF2-40B4-BE49-F238E27FC236}">
                  <a16:creationId xmlns="" xmlns:a16="http://schemas.microsoft.com/office/drawing/2014/main" id="{82CCA3A2-D49A-4112-8C49-3E47BA17C4D3}"/>
                </a:ext>
              </a:extLst>
            </p:cNvPr>
            <p:cNvCxnSpPr>
              <a:cxnSpLocks/>
              <a:stCxn id="132" idx="0"/>
            </p:cNvCxnSpPr>
            <p:nvPr/>
          </p:nvCxnSpPr>
          <p:spPr bwMode="gray">
            <a:xfrm flipV="1">
              <a:off x="5725126" y="2747740"/>
              <a:ext cx="0" cy="1999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 xmlns:a16="http://schemas.microsoft.com/office/drawing/2014/main" id="{5BD4A267-92BB-4D4A-8199-7821BA612286}"/>
                </a:ext>
              </a:extLst>
            </p:cNvPr>
            <p:cNvSpPr txBox="1"/>
            <p:nvPr/>
          </p:nvSpPr>
          <p:spPr bwMode="gray">
            <a:xfrm>
              <a:off x="6215242" y="2006557"/>
              <a:ext cx="805029" cy="276999"/>
            </a:xfrm>
            <a:prstGeom prst="rect">
              <a:avLst/>
            </a:prstGeom>
            <a:noFill/>
          </p:spPr>
          <p:txBody>
            <a:bodyPr wrap="none" rtlCol="0">
              <a:spAutoFit/>
            </a:bodyPr>
            <a:lstStyle/>
            <a:p>
              <a:r>
                <a:rPr lang="en-US" altLang="zh-CN" sz="1200" dirty="0" err="1"/>
                <a:t>Args</a:t>
              </a:r>
              <a:r>
                <a:rPr lang="zh-CN" altLang="en-US" sz="1200" dirty="0"/>
                <a:t>长度</a:t>
              </a:r>
              <a:endParaRPr lang="en-US" sz="1200" dirty="0"/>
            </a:p>
          </p:txBody>
        </p:sp>
        <p:cxnSp>
          <p:nvCxnSpPr>
            <p:cNvPr id="136" name="Straight Arrow Connector 135">
              <a:extLst>
                <a:ext uri="{FF2B5EF4-FFF2-40B4-BE49-F238E27FC236}">
                  <a16:creationId xmlns="" xmlns:a16="http://schemas.microsoft.com/office/drawing/2014/main" id="{F86E1C51-B221-4A69-A7E2-7FEF5C7B89A1}"/>
                </a:ext>
              </a:extLst>
            </p:cNvPr>
            <p:cNvCxnSpPr>
              <a:cxnSpLocks/>
              <a:stCxn id="135" idx="2"/>
            </p:cNvCxnSpPr>
            <p:nvPr/>
          </p:nvCxnSpPr>
          <p:spPr bwMode="gray">
            <a:xfrm flipH="1">
              <a:off x="6617411" y="2283556"/>
              <a:ext cx="346" cy="2289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pic>
        <p:nvPicPr>
          <p:cNvPr id="187" name="图片 48">
            <a:extLst>
              <a:ext uri="{FF2B5EF4-FFF2-40B4-BE49-F238E27FC236}">
                <a16:creationId xmlns="" xmlns:a16="http://schemas.microsoft.com/office/drawing/2014/main" id="{80B1499E-78F7-4C4E-A83B-45173B1623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618593" y="3919311"/>
            <a:ext cx="378863" cy="310667"/>
          </a:xfrm>
          <a:prstGeom prst="rect">
            <a:avLst/>
          </a:prstGeom>
        </p:spPr>
      </p:pic>
      <p:pic>
        <p:nvPicPr>
          <p:cNvPr id="188" name="图片 48">
            <a:extLst>
              <a:ext uri="{FF2B5EF4-FFF2-40B4-BE49-F238E27FC236}">
                <a16:creationId xmlns="" xmlns:a16="http://schemas.microsoft.com/office/drawing/2014/main" id="{A2DF18F8-6184-4773-8BDB-B8E1567AEA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618593" y="5117196"/>
            <a:ext cx="378863" cy="310667"/>
          </a:xfrm>
          <a:prstGeom prst="rect">
            <a:avLst/>
          </a:prstGeom>
        </p:spPr>
      </p:pic>
      <p:pic>
        <p:nvPicPr>
          <p:cNvPr id="189" name="图片 48">
            <a:extLst>
              <a:ext uri="{FF2B5EF4-FFF2-40B4-BE49-F238E27FC236}">
                <a16:creationId xmlns="" xmlns:a16="http://schemas.microsoft.com/office/drawing/2014/main" id="{3BC32905-525F-4ADF-B1AC-6B1C5AB921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73755" y="3920991"/>
            <a:ext cx="378863" cy="310667"/>
          </a:xfrm>
          <a:prstGeom prst="rect">
            <a:avLst/>
          </a:prstGeom>
        </p:spPr>
      </p:pic>
      <p:pic>
        <p:nvPicPr>
          <p:cNvPr id="190" name="图片 48">
            <a:extLst>
              <a:ext uri="{FF2B5EF4-FFF2-40B4-BE49-F238E27FC236}">
                <a16:creationId xmlns="" xmlns:a16="http://schemas.microsoft.com/office/drawing/2014/main" id="{9A1946A6-67C8-4FF5-AF6C-6DF68C55C9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73755" y="5118876"/>
            <a:ext cx="378863" cy="310667"/>
          </a:xfrm>
          <a:prstGeom prst="rect">
            <a:avLst/>
          </a:prstGeom>
        </p:spPr>
      </p:pic>
      <p:sp>
        <p:nvSpPr>
          <p:cNvPr id="191" name="圆角矩形 75">
            <a:extLst>
              <a:ext uri="{FF2B5EF4-FFF2-40B4-BE49-F238E27FC236}">
                <a16:creationId xmlns="" xmlns:a16="http://schemas.microsoft.com/office/drawing/2014/main" id="{CD414F96-B611-4D0C-A2AE-7016DFDFB925}"/>
              </a:ext>
            </a:extLst>
          </p:cNvPr>
          <p:cNvSpPr/>
          <p:nvPr/>
        </p:nvSpPr>
        <p:spPr bwMode="gray">
          <a:xfrm>
            <a:off x="2309414" y="3700583"/>
            <a:ext cx="3104785" cy="204524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92" name="Straight Connector 191">
            <a:extLst>
              <a:ext uri="{FF2B5EF4-FFF2-40B4-BE49-F238E27FC236}">
                <a16:creationId xmlns="" xmlns:a16="http://schemas.microsoft.com/office/drawing/2014/main" id="{01471C9F-BCAE-4154-968E-94D5F2E39199}"/>
              </a:ext>
            </a:extLst>
          </p:cNvPr>
          <p:cNvCxnSpPr>
            <a:cxnSpLocks/>
            <a:stCxn id="188" idx="0"/>
            <a:endCxn id="187" idx="2"/>
          </p:cNvCxnSpPr>
          <p:nvPr/>
        </p:nvCxnSpPr>
        <p:spPr bwMode="gray">
          <a:xfrm flipV="1">
            <a:off x="2808025" y="4229978"/>
            <a:ext cx="0" cy="8872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 xmlns:a16="http://schemas.microsoft.com/office/drawing/2014/main" id="{30CCC2C7-A5DB-492A-ACE9-5359659D1B2F}"/>
              </a:ext>
            </a:extLst>
          </p:cNvPr>
          <p:cNvCxnSpPr>
            <a:cxnSpLocks/>
            <a:stCxn id="189" idx="1"/>
            <a:endCxn id="187" idx="3"/>
          </p:cNvCxnSpPr>
          <p:nvPr/>
        </p:nvCxnSpPr>
        <p:spPr bwMode="gray">
          <a:xfrm flipH="1" flipV="1">
            <a:off x="2997456" y="4074645"/>
            <a:ext cx="177629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 xmlns:a16="http://schemas.microsoft.com/office/drawing/2014/main" id="{4E6E5111-11E9-4918-9CC4-29D099C1FC7C}"/>
              </a:ext>
            </a:extLst>
          </p:cNvPr>
          <p:cNvCxnSpPr>
            <a:cxnSpLocks/>
            <a:stCxn id="190" idx="1"/>
            <a:endCxn id="188" idx="3"/>
          </p:cNvCxnSpPr>
          <p:nvPr/>
        </p:nvCxnSpPr>
        <p:spPr bwMode="gray">
          <a:xfrm flipH="1" flipV="1">
            <a:off x="2997456" y="5272530"/>
            <a:ext cx="177629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 xmlns:a16="http://schemas.microsoft.com/office/drawing/2014/main" id="{FACB7E76-6995-4889-9DAD-388BD2DA6FBD}"/>
              </a:ext>
            </a:extLst>
          </p:cNvPr>
          <p:cNvCxnSpPr>
            <a:cxnSpLocks/>
            <a:stCxn id="190" idx="0"/>
            <a:endCxn id="189" idx="2"/>
          </p:cNvCxnSpPr>
          <p:nvPr/>
        </p:nvCxnSpPr>
        <p:spPr bwMode="gray">
          <a:xfrm flipV="1">
            <a:off x="4963187" y="4231658"/>
            <a:ext cx="0" cy="8872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 xmlns:a16="http://schemas.microsoft.com/office/drawing/2014/main" id="{5DD358B3-6B3A-4F42-9269-9A6A5CE82050}"/>
              </a:ext>
            </a:extLst>
          </p:cNvPr>
          <p:cNvCxnSpPr>
            <a:cxnSpLocks/>
            <a:stCxn id="197" idx="3"/>
            <a:endCxn id="187" idx="1"/>
          </p:cNvCxnSpPr>
          <p:nvPr/>
        </p:nvCxnSpPr>
        <p:spPr bwMode="gray">
          <a:xfrm>
            <a:off x="930666" y="4074644"/>
            <a:ext cx="1687927"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97" name="图片 48">
            <a:extLst>
              <a:ext uri="{FF2B5EF4-FFF2-40B4-BE49-F238E27FC236}">
                <a16:creationId xmlns="" xmlns:a16="http://schemas.microsoft.com/office/drawing/2014/main" id="{972434CA-3C9E-412E-8E8C-8421CC51D6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51803" y="3919310"/>
            <a:ext cx="378863" cy="310667"/>
          </a:xfrm>
          <a:prstGeom prst="rect">
            <a:avLst/>
          </a:prstGeom>
        </p:spPr>
      </p:pic>
      <p:pic>
        <p:nvPicPr>
          <p:cNvPr id="198" name="图片 48">
            <a:extLst>
              <a:ext uri="{FF2B5EF4-FFF2-40B4-BE49-F238E27FC236}">
                <a16:creationId xmlns="" xmlns:a16="http://schemas.microsoft.com/office/drawing/2014/main" id="{7A96F1E1-323D-4E38-A78D-7FC55E339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51803" y="5118994"/>
            <a:ext cx="378863" cy="310667"/>
          </a:xfrm>
          <a:prstGeom prst="rect">
            <a:avLst/>
          </a:prstGeom>
        </p:spPr>
      </p:pic>
      <p:cxnSp>
        <p:nvCxnSpPr>
          <p:cNvPr id="199" name="Straight Connector 198">
            <a:extLst>
              <a:ext uri="{FF2B5EF4-FFF2-40B4-BE49-F238E27FC236}">
                <a16:creationId xmlns="" xmlns:a16="http://schemas.microsoft.com/office/drawing/2014/main" id="{6631E1D0-6043-4E11-8758-2E8853A710D2}"/>
              </a:ext>
            </a:extLst>
          </p:cNvPr>
          <p:cNvCxnSpPr>
            <a:cxnSpLocks/>
            <a:stCxn id="198" idx="3"/>
            <a:endCxn id="188" idx="1"/>
          </p:cNvCxnSpPr>
          <p:nvPr/>
        </p:nvCxnSpPr>
        <p:spPr bwMode="gray">
          <a:xfrm flipV="1">
            <a:off x="930666" y="5272530"/>
            <a:ext cx="1687927"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0" name="TextBox 271">
            <a:extLst>
              <a:ext uri="{FF2B5EF4-FFF2-40B4-BE49-F238E27FC236}">
                <a16:creationId xmlns="" xmlns:a16="http://schemas.microsoft.com/office/drawing/2014/main" id="{123F16C4-0704-4BA1-981D-98DC2DFC1CB9}"/>
              </a:ext>
            </a:extLst>
          </p:cNvPr>
          <p:cNvSpPr txBox="1"/>
          <p:nvPr/>
        </p:nvSpPr>
        <p:spPr bwMode="gray">
          <a:xfrm>
            <a:off x="2585849" y="3702159"/>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TextBox 271">
            <a:extLst>
              <a:ext uri="{FF2B5EF4-FFF2-40B4-BE49-F238E27FC236}">
                <a16:creationId xmlns="" xmlns:a16="http://schemas.microsoft.com/office/drawing/2014/main" id="{8367BF92-649B-481E-9689-E32497D6F72E}"/>
              </a:ext>
            </a:extLst>
          </p:cNvPr>
          <p:cNvSpPr txBox="1"/>
          <p:nvPr/>
        </p:nvSpPr>
        <p:spPr bwMode="gray">
          <a:xfrm>
            <a:off x="2582990" y="5388330"/>
            <a:ext cx="44435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TextBox 271">
            <a:extLst>
              <a:ext uri="{FF2B5EF4-FFF2-40B4-BE49-F238E27FC236}">
                <a16:creationId xmlns="" xmlns:a16="http://schemas.microsoft.com/office/drawing/2014/main" id="{925DA21E-F7EB-4C82-9FA6-E65092AF77A9}"/>
              </a:ext>
            </a:extLst>
          </p:cNvPr>
          <p:cNvSpPr txBox="1"/>
          <p:nvPr/>
        </p:nvSpPr>
        <p:spPr bwMode="gray">
          <a:xfrm>
            <a:off x="4782562" y="3702159"/>
            <a:ext cx="361245"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TextBox 271">
            <a:extLst>
              <a:ext uri="{FF2B5EF4-FFF2-40B4-BE49-F238E27FC236}">
                <a16:creationId xmlns="" xmlns:a16="http://schemas.microsoft.com/office/drawing/2014/main" id="{45E1334A-75FE-453C-82CD-DE31784B7AA9}"/>
              </a:ext>
            </a:extLst>
          </p:cNvPr>
          <p:cNvSpPr txBox="1"/>
          <p:nvPr/>
        </p:nvSpPr>
        <p:spPr bwMode="gray">
          <a:xfrm>
            <a:off x="4763435" y="5392638"/>
            <a:ext cx="3788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TextBox 271">
            <a:extLst>
              <a:ext uri="{FF2B5EF4-FFF2-40B4-BE49-F238E27FC236}">
                <a16:creationId xmlns="" xmlns:a16="http://schemas.microsoft.com/office/drawing/2014/main" id="{2651E047-B1FF-416E-8D58-87824F3C0E55}"/>
              </a:ext>
            </a:extLst>
          </p:cNvPr>
          <p:cNvSpPr txBox="1"/>
          <p:nvPr/>
        </p:nvSpPr>
        <p:spPr bwMode="gray">
          <a:xfrm>
            <a:off x="512716" y="5385143"/>
            <a:ext cx="478252"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5" name="TextBox 271">
            <a:extLst>
              <a:ext uri="{FF2B5EF4-FFF2-40B4-BE49-F238E27FC236}">
                <a16:creationId xmlns="" xmlns:a16="http://schemas.microsoft.com/office/drawing/2014/main" id="{B73910A7-097C-4EA9-9611-0FC50A0BE263}"/>
              </a:ext>
            </a:extLst>
          </p:cNvPr>
          <p:cNvSpPr txBox="1"/>
          <p:nvPr/>
        </p:nvSpPr>
        <p:spPr bwMode="gray">
          <a:xfrm>
            <a:off x="551802" y="3700583"/>
            <a:ext cx="478252"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6" name="图片 48">
            <a:extLst>
              <a:ext uri="{FF2B5EF4-FFF2-40B4-BE49-F238E27FC236}">
                <a16:creationId xmlns="" xmlns:a16="http://schemas.microsoft.com/office/drawing/2014/main" id="{77E7681E-819D-4B2D-80E1-C469302188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033692" y="3920991"/>
            <a:ext cx="378863" cy="310667"/>
          </a:xfrm>
          <a:prstGeom prst="rect">
            <a:avLst/>
          </a:prstGeom>
        </p:spPr>
      </p:pic>
      <p:pic>
        <p:nvPicPr>
          <p:cNvPr id="207" name="图片 48">
            <a:extLst>
              <a:ext uri="{FF2B5EF4-FFF2-40B4-BE49-F238E27FC236}">
                <a16:creationId xmlns="" xmlns:a16="http://schemas.microsoft.com/office/drawing/2014/main" id="{6356E209-1529-486E-83CD-EB0DE83055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033692" y="5118876"/>
            <a:ext cx="378863" cy="310667"/>
          </a:xfrm>
          <a:prstGeom prst="rect">
            <a:avLst/>
          </a:prstGeom>
        </p:spPr>
      </p:pic>
      <p:pic>
        <p:nvPicPr>
          <p:cNvPr id="208" name="图片 48">
            <a:extLst>
              <a:ext uri="{FF2B5EF4-FFF2-40B4-BE49-F238E27FC236}">
                <a16:creationId xmlns="" xmlns:a16="http://schemas.microsoft.com/office/drawing/2014/main" id="{0E494582-7014-4C3D-A6CD-4B06B779B6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182186" y="3922671"/>
            <a:ext cx="378863" cy="310667"/>
          </a:xfrm>
          <a:prstGeom prst="rect">
            <a:avLst/>
          </a:prstGeom>
        </p:spPr>
      </p:pic>
      <p:pic>
        <p:nvPicPr>
          <p:cNvPr id="209" name="图片 48">
            <a:extLst>
              <a:ext uri="{FF2B5EF4-FFF2-40B4-BE49-F238E27FC236}">
                <a16:creationId xmlns="" xmlns:a16="http://schemas.microsoft.com/office/drawing/2014/main" id="{5AD54BB4-F9CE-487A-AE74-E30AB828B0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182186" y="5120556"/>
            <a:ext cx="378863" cy="310667"/>
          </a:xfrm>
          <a:prstGeom prst="rect">
            <a:avLst/>
          </a:prstGeom>
        </p:spPr>
      </p:pic>
      <p:cxnSp>
        <p:nvCxnSpPr>
          <p:cNvPr id="210" name="Straight Connector 209">
            <a:extLst>
              <a:ext uri="{FF2B5EF4-FFF2-40B4-BE49-F238E27FC236}">
                <a16:creationId xmlns="" xmlns:a16="http://schemas.microsoft.com/office/drawing/2014/main" id="{74EEAC39-6887-4FF3-8809-F6A08773B796}"/>
              </a:ext>
            </a:extLst>
          </p:cNvPr>
          <p:cNvCxnSpPr>
            <a:cxnSpLocks/>
            <a:stCxn id="206" idx="1"/>
            <a:endCxn id="189" idx="3"/>
          </p:cNvCxnSpPr>
          <p:nvPr/>
        </p:nvCxnSpPr>
        <p:spPr bwMode="gray">
          <a:xfrm flipH="1">
            <a:off x="5152618" y="4076325"/>
            <a:ext cx="18810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 xmlns:a16="http://schemas.microsoft.com/office/drawing/2014/main" id="{29ADC476-519C-4AD6-8F6F-762E9612690A}"/>
              </a:ext>
            </a:extLst>
          </p:cNvPr>
          <p:cNvCxnSpPr>
            <a:cxnSpLocks/>
            <a:stCxn id="208" idx="1"/>
            <a:endCxn id="206" idx="3"/>
          </p:cNvCxnSpPr>
          <p:nvPr/>
        </p:nvCxnSpPr>
        <p:spPr bwMode="gray">
          <a:xfrm flipH="1" flipV="1">
            <a:off x="7412555" y="4076325"/>
            <a:ext cx="1769631"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 xmlns:a16="http://schemas.microsoft.com/office/drawing/2014/main" id="{DB19C621-5A0E-47A2-A9C9-05C0AA83817C}"/>
              </a:ext>
            </a:extLst>
          </p:cNvPr>
          <p:cNvCxnSpPr>
            <a:cxnSpLocks/>
            <a:stCxn id="209" idx="1"/>
            <a:endCxn id="207" idx="3"/>
          </p:cNvCxnSpPr>
          <p:nvPr/>
        </p:nvCxnSpPr>
        <p:spPr bwMode="gray">
          <a:xfrm flipH="1" flipV="1">
            <a:off x="7412555" y="5274210"/>
            <a:ext cx="1769631"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 xmlns:a16="http://schemas.microsoft.com/office/drawing/2014/main" id="{1B87FD4F-6167-4EB8-AB37-6699A45F4220}"/>
              </a:ext>
            </a:extLst>
          </p:cNvPr>
          <p:cNvCxnSpPr>
            <a:cxnSpLocks/>
            <a:stCxn id="207" idx="1"/>
            <a:endCxn id="190" idx="3"/>
          </p:cNvCxnSpPr>
          <p:nvPr/>
        </p:nvCxnSpPr>
        <p:spPr bwMode="gray">
          <a:xfrm flipH="1">
            <a:off x="5152618" y="5274210"/>
            <a:ext cx="18810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 xmlns:a16="http://schemas.microsoft.com/office/drawing/2014/main" id="{DAD5834D-4087-4DA6-81E8-03332C4049F3}"/>
              </a:ext>
            </a:extLst>
          </p:cNvPr>
          <p:cNvCxnSpPr>
            <a:cxnSpLocks/>
            <a:stCxn id="207" idx="0"/>
            <a:endCxn id="206" idx="2"/>
          </p:cNvCxnSpPr>
          <p:nvPr/>
        </p:nvCxnSpPr>
        <p:spPr bwMode="gray">
          <a:xfrm flipV="1">
            <a:off x="7223124" y="4231658"/>
            <a:ext cx="0" cy="8872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 xmlns:a16="http://schemas.microsoft.com/office/drawing/2014/main" id="{69DBA883-B024-4427-A1C2-E2EFB0A262DE}"/>
              </a:ext>
            </a:extLst>
          </p:cNvPr>
          <p:cNvCxnSpPr>
            <a:cxnSpLocks/>
            <a:stCxn id="209" idx="0"/>
            <a:endCxn id="208" idx="2"/>
          </p:cNvCxnSpPr>
          <p:nvPr/>
        </p:nvCxnSpPr>
        <p:spPr bwMode="gray">
          <a:xfrm flipV="1">
            <a:off x="9371618" y="4233338"/>
            <a:ext cx="0" cy="8872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16" name="图片 48">
            <a:extLst>
              <a:ext uri="{FF2B5EF4-FFF2-40B4-BE49-F238E27FC236}">
                <a16:creationId xmlns="" xmlns:a16="http://schemas.microsoft.com/office/drawing/2014/main" id="{627E7CE1-78CE-4803-9A94-EDA90F9E70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299622" y="3922671"/>
            <a:ext cx="378863" cy="310667"/>
          </a:xfrm>
          <a:prstGeom prst="rect">
            <a:avLst/>
          </a:prstGeom>
        </p:spPr>
      </p:pic>
      <p:pic>
        <p:nvPicPr>
          <p:cNvPr id="217" name="图片 48">
            <a:extLst>
              <a:ext uri="{FF2B5EF4-FFF2-40B4-BE49-F238E27FC236}">
                <a16:creationId xmlns="" xmlns:a16="http://schemas.microsoft.com/office/drawing/2014/main" id="{256A4E2E-5B0E-40F6-9C4C-6A28EC0316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299622" y="5122355"/>
            <a:ext cx="378863" cy="310667"/>
          </a:xfrm>
          <a:prstGeom prst="rect">
            <a:avLst/>
          </a:prstGeom>
        </p:spPr>
      </p:pic>
      <p:cxnSp>
        <p:nvCxnSpPr>
          <p:cNvPr id="218" name="Straight Connector 217">
            <a:extLst>
              <a:ext uri="{FF2B5EF4-FFF2-40B4-BE49-F238E27FC236}">
                <a16:creationId xmlns="" xmlns:a16="http://schemas.microsoft.com/office/drawing/2014/main" id="{20248817-AC45-407D-AA96-101AF49EDF54}"/>
              </a:ext>
            </a:extLst>
          </p:cNvPr>
          <p:cNvCxnSpPr>
            <a:cxnSpLocks/>
            <a:stCxn id="209" idx="3"/>
            <a:endCxn id="217" idx="1"/>
          </p:cNvCxnSpPr>
          <p:nvPr/>
        </p:nvCxnSpPr>
        <p:spPr bwMode="gray">
          <a:xfrm>
            <a:off x="9561049" y="5275890"/>
            <a:ext cx="1738573"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 xmlns:a16="http://schemas.microsoft.com/office/drawing/2014/main" id="{A1421F38-D249-4924-945F-2F0D9852A18E}"/>
              </a:ext>
            </a:extLst>
          </p:cNvPr>
          <p:cNvCxnSpPr>
            <a:cxnSpLocks/>
            <a:stCxn id="208" idx="3"/>
            <a:endCxn id="216" idx="1"/>
          </p:cNvCxnSpPr>
          <p:nvPr/>
        </p:nvCxnSpPr>
        <p:spPr bwMode="gray">
          <a:xfrm>
            <a:off x="9561049" y="4078005"/>
            <a:ext cx="173857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0" name="TextBox 271">
            <a:extLst>
              <a:ext uri="{FF2B5EF4-FFF2-40B4-BE49-F238E27FC236}">
                <a16:creationId xmlns="" xmlns:a16="http://schemas.microsoft.com/office/drawing/2014/main" id="{8FE81CB2-7F90-4B4B-85DC-EC0F0ADB0C93}"/>
              </a:ext>
            </a:extLst>
          </p:cNvPr>
          <p:cNvSpPr txBox="1"/>
          <p:nvPr/>
        </p:nvSpPr>
        <p:spPr bwMode="gray">
          <a:xfrm>
            <a:off x="9149441" y="3700583"/>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TextBox 271">
            <a:extLst>
              <a:ext uri="{FF2B5EF4-FFF2-40B4-BE49-F238E27FC236}">
                <a16:creationId xmlns="" xmlns:a16="http://schemas.microsoft.com/office/drawing/2014/main" id="{BE388502-1D34-429D-9836-5E0EB4B81D60}"/>
              </a:ext>
            </a:extLst>
          </p:cNvPr>
          <p:cNvSpPr txBox="1"/>
          <p:nvPr/>
        </p:nvSpPr>
        <p:spPr bwMode="gray">
          <a:xfrm>
            <a:off x="9161238" y="5388330"/>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TextBox 271">
            <a:extLst>
              <a:ext uri="{FF2B5EF4-FFF2-40B4-BE49-F238E27FC236}">
                <a16:creationId xmlns="" xmlns:a16="http://schemas.microsoft.com/office/drawing/2014/main" id="{A40DB8AC-FDAD-4EA5-8253-68DC5DC79F50}"/>
              </a:ext>
            </a:extLst>
          </p:cNvPr>
          <p:cNvSpPr txBox="1"/>
          <p:nvPr/>
        </p:nvSpPr>
        <p:spPr bwMode="gray">
          <a:xfrm>
            <a:off x="7039140" y="3702159"/>
            <a:ext cx="35778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3" name="TextBox 271">
            <a:extLst>
              <a:ext uri="{FF2B5EF4-FFF2-40B4-BE49-F238E27FC236}">
                <a16:creationId xmlns="" xmlns:a16="http://schemas.microsoft.com/office/drawing/2014/main" id="{E996DB9B-E28E-45F8-9C5D-9F02A0ADF982}"/>
              </a:ext>
            </a:extLst>
          </p:cNvPr>
          <p:cNvSpPr txBox="1"/>
          <p:nvPr/>
        </p:nvSpPr>
        <p:spPr bwMode="gray">
          <a:xfrm>
            <a:off x="7049568" y="5386186"/>
            <a:ext cx="35778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4" name="TextBox 271">
            <a:extLst>
              <a:ext uri="{FF2B5EF4-FFF2-40B4-BE49-F238E27FC236}">
                <a16:creationId xmlns="" xmlns:a16="http://schemas.microsoft.com/office/drawing/2014/main" id="{921568C3-9B75-4578-9062-443C4F71DDB7}"/>
              </a:ext>
            </a:extLst>
          </p:cNvPr>
          <p:cNvSpPr txBox="1"/>
          <p:nvPr/>
        </p:nvSpPr>
        <p:spPr bwMode="gray">
          <a:xfrm>
            <a:off x="11252676" y="3707404"/>
            <a:ext cx="47031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TextBox 271">
            <a:extLst>
              <a:ext uri="{FF2B5EF4-FFF2-40B4-BE49-F238E27FC236}">
                <a16:creationId xmlns="" xmlns:a16="http://schemas.microsoft.com/office/drawing/2014/main" id="{B57239D1-2A99-4A6A-B0A7-6E305E46B6B2}"/>
              </a:ext>
            </a:extLst>
          </p:cNvPr>
          <p:cNvSpPr txBox="1"/>
          <p:nvPr/>
        </p:nvSpPr>
        <p:spPr bwMode="gray">
          <a:xfrm>
            <a:off x="11260488" y="5385142"/>
            <a:ext cx="45468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6" name="TextBox 271">
            <a:extLst>
              <a:ext uri="{FF2B5EF4-FFF2-40B4-BE49-F238E27FC236}">
                <a16:creationId xmlns="" xmlns:a16="http://schemas.microsoft.com/office/drawing/2014/main" id="{96999391-46E0-436F-A549-02BE7496AE0A}"/>
              </a:ext>
            </a:extLst>
          </p:cNvPr>
          <p:cNvSpPr txBox="1"/>
          <p:nvPr/>
        </p:nvSpPr>
        <p:spPr bwMode="gray">
          <a:xfrm rot="16200000">
            <a:off x="1801944" y="4675996"/>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228" name="圆角矩形 75">
            <a:extLst>
              <a:ext uri="{FF2B5EF4-FFF2-40B4-BE49-F238E27FC236}">
                <a16:creationId xmlns="" xmlns:a16="http://schemas.microsoft.com/office/drawing/2014/main" id="{9031F412-F9E3-43CF-8033-5226D70C3D72}"/>
              </a:ext>
            </a:extLst>
          </p:cNvPr>
          <p:cNvSpPr/>
          <p:nvPr/>
        </p:nvSpPr>
        <p:spPr bwMode="gray">
          <a:xfrm>
            <a:off x="6836434" y="3707405"/>
            <a:ext cx="3051969" cy="202700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9" name="TextBox 271">
            <a:extLst>
              <a:ext uri="{FF2B5EF4-FFF2-40B4-BE49-F238E27FC236}">
                <a16:creationId xmlns="" xmlns:a16="http://schemas.microsoft.com/office/drawing/2014/main" id="{6496EEFD-4CD9-4D3D-9056-61710D57CC7F}"/>
              </a:ext>
            </a:extLst>
          </p:cNvPr>
          <p:cNvSpPr txBox="1"/>
          <p:nvPr/>
        </p:nvSpPr>
        <p:spPr bwMode="gray">
          <a:xfrm rot="5400000">
            <a:off x="9676643" y="4669759"/>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234" name="TextBox 233">
            <a:extLst>
              <a:ext uri="{FF2B5EF4-FFF2-40B4-BE49-F238E27FC236}">
                <a16:creationId xmlns="" xmlns:a16="http://schemas.microsoft.com/office/drawing/2014/main" id="{E941E59D-AE17-4C25-93C3-B033FA2B4B3C}"/>
              </a:ext>
            </a:extLst>
          </p:cNvPr>
          <p:cNvSpPr txBox="1"/>
          <p:nvPr/>
        </p:nvSpPr>
        <p:spPr bwMode="gray">
          <a:xfrm>
            <a:off x="1151962" y="3390838"/>
            <a:ext cx="3312125" cy="276999"/>
          </a:xfrm>
          <a:prstGeom prst="rect">
            <a:avLst/>
          </a:prstGeom>
          <a:noFill/>
        </p:spPr>
        <p:txBody>
          <a:bodyPr wrap="none" rtlCol="0">
            <a:spAutoFit/>
          </a:bodyPr>
          <a:lstStyle/>
          <a:p>
            <a:r>
              <a:rPr lang="en-US" sz="1200" dirty="0"/>
              <a:t>L</a:t>
            </a:r>
            <a:r>
              <a:rPr lang="en-US" altLang="zh-CN" sz="1200" dirty="0"/>
              <a:t>ocator</a:t>
            </a:r>
            <a:r>
              <a:rPr lang="zh-CN" altLang="en-US" sz="1200" dirty="0"/>
              <a:t>：</a:t>
            </a:r>
            <a:r>
              <a:rPr lang="en-US" sz="1200" dirty="0"/>
              <a:t>2001::2:1:1:0:0 88 </a:t>
            </a:r>
            <a:r>
              <a:rPr lang="en-US" altLang="zh-CN" sz="1200" dirty="0"/>
              <a:t>static 27 </a:t>
            </a:r>
            <a:r>
              <a:rPr lang="en-US" altLang="zh-CN" sz="1200" dirty="0" err="1"/>
              <a:t>args</a:t>
            </a:r>
            <a:r>
              <a:rPr lang="en-US" altLang="zh-CN" sz="1200" dirty="0"/>
              <a:t> 12</a:t>
            </a:r>
            <a:endParaRPr lang="en-US" sz="1200" dirty="0"/>
          </a:p>
        </p:txBody>
      </p:sp>
      <p:sp>
        <p:nvSpPr>
          <p:cNvPr id="269" name="TextBox 268">
            <a:extLst>
              <a:ext uri="{FF2B5EF4-FFF2-40B4-BE49-F238E27FC236}">
                <a16:creationId xmlns="" xmlns:a16="http://schemas.microsoft.com/office/drawing/2014/main" id="{7E5BE441-50A8-4CE5-94D0-3D2010A4FE6F}"/>
              </a:ext>
            </a:extLst>
          </p:cNvPr>
          <p:cNvSpPr txBox="1"/>
          <p:nvPr/>
        </p:nvSpPr>
        <p:spPr bwMode="gray">
          <a:xfrm>
            <a:off x="3307124" y="5788065"/>
            <a:ext cx="3312125" cy="276999"/>
          </a:xfrm>
          <a:prstGeom prst="rect">
            <a:avLst/>
          </a:prstGeom>
          <a:noFill/>
        </p:spPr>
        <p:txBody>
          <a:bodyPr wrap="none" rtlCol="0">
            <a:spAutoFit/>
          </a:bodyPr>
          <a:lstStyle/>
          <a:p>
            <a:r>
              <a:rPr lang="en-US" sz="1200" dirty="0"/>
              <a:t>L</a:t>
            </a:r>
            <a:r>
              <a:rPr lang="en-US" altLang="zh-CN" sz="1200" dirty="0"/>
              <a:t>ocator</a:t>
            </a:r>
            <a:r>
              <a:rPr lang="zh-CN" altLang="en-US" sz="1200" dirty="0"/>
              <a:t>：</a:t>
            </a:r>
            <a:r>
              <a:rPr lang="en-US" sz="1200" dirty="0"/>
              <a:t>2001::2:1:4:0:0 88 </a:t>
            </a:r>
            <a:r>
              <a:rPr lang="en-US" altLang="zh-CN" sz="1200" dirty="0"/>
              <a:t>static 27 </a:t>
            </a:r>
            <a:r>
              <a:rPr lang="en-US" altLang="zh-CN" sz="1200" dirty="0" err="1"/>
              <a:t>args</a:t>
            </a:r>
            <a:r>
              <a:rPr lang="en-US" altLang="zh-CN" sz="1200" dirty="0"/>
              <a:t> 12</a:t>
            </a:r>
            <a:endParaRPr lang="en-US" sz="1200" dirty="0"/>
          </a:p>
        </p:txBody>
      </p:sp>
      <p:sp>
        <p:nvSpPr>
          <p:cNvPr id="270" name="TextBox 269">
            <a:extLst>
              <a:ext uri="{FF2B5EF4-FFF2-40B4-BE49-F238E27FC236}">
                <a16:creationId xmlns="" xmlns:a16="http://schemas.microsoft.com/office/drawing/2014/main" id="{6AFAFFE4-9103-45A5-AEEA-B79F2674D9CD}"/>
              </a:ext>
            </a:extLst>
          </p:cNvPr>
          <p:cNvSpPr txBox="1"/>
          <p:nvPr/>
        </p:nvSpPr>
        <p:spPr bwMode="gray">
          <a:xfrm>
            <a:off x="5572399" y="3363900"/>
            <a:ext cx="3312125" cy="276999"/>
          </a:xfrm>
          <a:prstGeom prst="rect">
            <a:avLst/>
          </a:prstGeom>
          <a:noFill/>
        </p:spPr>
        <p:txBody>
          <a:bodyPr wrap="none" rtlCol="0">
            <a:spAutoFit/>
          </a:bodyPr>
          <a:lstStyle/>
          <a:p>
            <a:r>
              <a:rPr lang="en-US" sz="1200" dirty="0"/>
              <a:t>L</a:t>
            </a:r>
            <a:r>
              <a:rPr lang="en-US" altLang="zh-CN" sz="1200" dirty="0"/>
              <a:t>ocator</a:t>
            </a:r>
            <a:r>
              <a:rPr lang="zh-CN" altLang="en-US" sz="1200" dirty="0"/>
              <a:t>：</a:t>
            </a:r>
            <a:r>
              <a:rPr lang="en-US" sz="1200" dirty="0"/>
              <a:t>2001::2:2:3:0:0 88 </a:t>
            </a:r>
            <a:r>
              <a:rPr lang="en-US" altLang="zh-CN" sz="1200" dirty="0"/>
              <a:t>static 27 </a:t>
            </a:r>
            <a:r>
              <a:rPr lang="en-US" altLang="zh-CN" sz="1200" dirty="0" err="1"/>
              <a:t>args</a:t>
            </a:r>
            <a:r>
              <a:rPr lang="en-US" altLang="zh-CN" sz="1200" dirty="0"/>
              <a:t> 12</a:t>
            </a:r>
            <a:endParaRPr lang="en-US" sz="1200" dirty="0"/>
          </a:p>
        </p:txBody>
      </p:sp>
      <p:sp>
        <p:nvSpPr>
          <p:cNvPr id="273" name="TextBox 272">
            <a:extLst>
              <a:ext uri="{FF2B5EF4-FFF2-40B4-BE49-F238E27FC236}">
                <a16:creationId xmlns="" xmlns:a16="http://schemas.microsoft.com/office/drawing/2014/main" id="{6D35FDE9-5304-47DE-AF2C-EFB2160F5D68}"/>
              </a:ext>
            </a:extLst>
          </p:cNvPr>
          <p:cNvSpPr txBox="1"/>
          <p:nvPr/>
        </p:nvSpPr>
        <p:spPr bwMode="gray">
          <a:xfrm>
            <a:off x="7727351" y="5749440"/>
            <a:ext cx="3312125" cy="276999"/>
          </a:xfrm>
          <a:prstGeom prst="rect">
            <a:avLst/>
          </a:prstGeom>
          <a:noFill/>
        </p:spPr>
        <p:txBody>
          <a:bodyPr wrap="none" rtlCol="0">
            <a:spAutoFit/>
          </a:bodyPr>
          <a:lstStyle/>
          <a:p>
            <a:r>
              <a:rPr lang="en-US" sz="1200" dirty="0"/>
              <a:t>L</a:t>
            </a:r>
            <a:r>
              <a:rPr lang="en-US" altLang="zh-CN" sz="1200" dirty="0"/>
              <a:t>ocator</a:t>
            </a:r>
            <a:r>
              <a:rPr lang="zh-CN" altLang="en-US" sz="1200" dirty="0"/>
              <a:t>：</a:t>
            </a:r>
            <a:r>
              <a:rPr lang="en-US" sz="1200" dirty="0"/>
              <a:t>2001::2:2:2:0:0 88 </a:t>
            </a:r>
            <a:r>
              <a:rPr lang="en-US" altLang="zh-CN" sz="1200" dirty="0"/>
              <a:t>static 27 </a:t>
            </a:r>
            <a:r>
              <a:rPr lang="en-US" altLang="zh-CN" sz="1200" dirty="0" err="1"/>
              <a:t>args</a:t>
            </a:r>
            <a:r>
              <a:rPr lang="en-US" altLang="zh-CN" sz="1200" dirty="0"/>
              <a:t> 12</a:t>
            </a:r>
            <a:endParaRPr lang="en-US" sz="1200" dirty="0"/>
          </a:p>
        </p:txBody>
      </p:sp>
      <p:sp>
        <p:nvSpPr>
          <p:cNvPr id="274" name="圆角矩形 75">
            <a:extLst>
              <a:ext uri="{FF2B5EF4-FFF2-40B4-BE49-F238E27FC236}">
                <a16:creationId xmlns="" xmlns:a16="http://schemas.microsoft.com/office/drawing/2014/main" id="{0ECF4879-7C90-4862-98A0-DE532D633831}"/>
              </a:ext>
            </a:extLst>
          </p:cNvPr>
          <p:cNvSpPr/>
          <p:nvPr/>
        </p:nvSpPr>
        <p:spPr bwMode="gray">
          <a:xfrm>
            <a:off x="2618594" y="1858973"/>
            <a:ext cx="6975200" cy="1267106"/>
          </a:xfrm>
          <a:prstGeom prst="roundRect">
            <a:avLst>
              <a:gd name="adj" fmla="val 2420"/>
            </a:avLst>
          </a:prstGeom>
          <a:noFill/>
          <a:ln w="12700" cap="flat" cmpd="sng" algn="ctr">
            <a:solidFill>
              <a:schemeClr val="bg1">
                <a:lumMod val="50000"/>
              </a:schemeClr>
            </a:solidFill>
            <a:prstDash val="solid"/>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1353496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企业广域承载网络路由设计思路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1657747"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物理网络设计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1657747"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1855358" y="333814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接入层网络设计</a:t>
            </a:r>
          </a:p>
        </p:txBody>
      </p:sp>
      <p:sp>
        <p:nvSpPr>
          <p:cNvPr id="8" name="圆角矩形 6">
            <a:extLst>
              <a:ext uri="{FF2B5EF4-FFF2-40B4-BE49-F238E27FC236}">
                <a16:creationId xmlns="" xmlns:a16="http://schemas.microsoft.com/office/drawing/2014/main" id="{5788FE78-2257-4711-9A5D-E49BDF11EAA9}"/>
              </a:ext>
            </a:extLst>
          </p:cNvPr>
          <p:cNvSpPr/>
          <p:nvPr/>
        </p:nvSpPr>
        <p:spPr bwMode="gray">
          <a:xfrm>
            <a:off x="7956504" y="2850521"/>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4701316"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IP</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470131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1">
            <a:extLst>
              <a:ext uri="{FF2B5EF4-FFF2-40B4-BE49-F238E27FC236}">
                <a16:creationId xmlns="" xmlns:a16="http://schemas.microsoft.com/office/drawing/2014/main" id="{2CA4E498-EE2E-4752-9891-54D92910E65B}"/>
              </a:ext>
            </a:extLst>
          </p:cNvPr>
          <p:cNvSpPr/>
          <p:nvPr/>
        </p:nvSpPr>
        <p:spPr bwMode="gray">
          <a:xfrm>
            <a:off x="7956504"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1855358" y="285009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汇聚层网络设计</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4919285"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4919285" y="2849178"/>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地址规划</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1855358" y="2360212"/>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核心层网络设计</a:t>
            </a:r>
          </a:p>
        </p:txBody>
      </p:sp>
      <p:sp>
        <p:nvSpPr>
          <p:cNvPr id="19" name="圆角矩形 9">
            <a:extLst>
              <a:ext uri="{FF2B5EF4-FFF2-40B4-BE49-F238E27FC236}">
                <a16:creationId xmlns="" xmlns:a16="http://schemas.microsoft.com/office/drawing/2014/main" id="{6DAE6423-B762-4292-B9DC-A0280945615F}"/>
              </a:ext>
            </a:extLst>
          </p:cNvPr>
          <p:cNvSpPr/>
          <p:nvPr/>
        </p:nvSpPr>
        <p:spPr bwMode="gray">
          <a:xfrm>
            <a:off x="7744886"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路由设计</a:t>
            </a:r>
          </a:p>
        </p:txBody>
      </p:sp>
      <p:sp>
        <p:nvSpPr>
          <p:cNvPr id="20" name="圆角矩形 10">
            <a:extLst>
              <a:ext uri="{FF2B5EF4-FFF2-40B4-BE49-F238E27FC236}">
                <a16:creationId xmlns="" xmlns:a16="http://schemas.microsoft.com/office/drawing/2014/main" id="{2FA2B477-5E62-4B43-A541-8BDE04177E22}"/>
              </a:ext>
            </a:extLst>
          </p:cNvPr>
          <p:cNvSpPr/>
          <p:nvPr/>
        </p:nvSpPr>
        <p:spPr bwMode="gray">
          <a:xfrm>
            <a:off x="7744886"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11">
            <a:extLst>
              <a:ext uri="{FF2B5EF4-FFF2-40B4-BE49-F238E27FC236}">
                <a16:creationId xmlns="" xmlns:a16="http://schemas.microsoft.com/office/drawing/2014/main" id="{8A74505C-59FB-4312-9169-44A2F07449E9}"/>
              </a:ext>
            </a:extLst>
          </p:cNvPr>
          <p:cNvSpPr/>
          <p:nvPr/>
        </p:nvSpPr>
        <p:spPr bwMode="gray">
          <a:xfrm>
            <a:off x="4919285" y="333814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SRv6 Locator</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规划</a:t>
            </a:r>
          </a:p>
        </p:txBody>
      </p:sp>
      <p:sp>
        <p:nvSpPr>
          <p:cNvPr id="18" name="Arrow: Down 17">
            <a:extLst>
              <a:ext uri="{FF2B5EF4-FFF2-40B4-BE49-F238E27FC236}">
                <a16:creationId xmlns="" xmlns:a16="http://schemas.microsoft.com/office/drawing/2014/main" id="{E475465E-2F87-44DF-AA24-FD86A21E00CD}"/>
              </a:ext>
            </a:extLst>
          </p:cNvPr>
          <p:cNvSpPr/>
          <p:nvPr/>
        </p:nvSpPr>
        <p:spPr bwMode="gray">
          <a:xfrm>
            <a:off x="8977644"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75118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923AA52E-8D6B-41BC-A205-F68568A8EAA3}"/>
              </a:ext>
            </a:extLst>
          </p:cNvPr>
          <p:cNvSpPr>
            <a:spLocks noGrp="1"/>
          </p:cNvSpPr>
          <p:nvPr>
            <p:ph type="title"/>
          </p:nvPr>
        </p:nvSpPr>
        <p:spPr/>
        <p:txBody>
          <a:bodyPr/>
          <a:lstStyle/>
          <a:p>
            <a:r>
              <a:rPr lang="zh-CN" altLang="en-US"/>
              <a:t>路由设计全景图</a:t>
            </a:r>
            <a:endParaRPr lang="en-US" dirty="0"/>
          </a:p>
        </p:txBody>
      </p:sp>
      <p:sp>
        <p:nvSpPr>
          <p:cNvPr id="4" name="Text Placeholder 3">
            <a:extLst>
              <a:ext uri="{FF2B5EF4-FFF2-40B4-BE49-F238E27FC236}">
                <a16:creationId xmlns="" xmlns:a16="http://schemas.microsoft.com/office/drawing/2014/main" id="{20BF5758-9661-4AF4-B88B-5F454C082F4E}"/>
              </a:ext>
            </a:extLst>
          </p:cNvPr>
          <p:cNvSpPr>
            <a:spLocks noGrp="1"/>
          </p:cNvSpPr>
          <p:nvPr>
            <p:ph type="body" sz="quarter" idx="10"/>
          </p:nvPr>
        </p:nvSpPr>
        <p:spPr>
          <a:xfrm>
            <a:off x="455612" y="1047751"/>
            <a:ext cx="11293475" cy="1874990"/>
          </a:xfrm>
        </p:spPr>
        <p:txBody>
          <a:bodyPr/>
          <a:lstStyle/>
          <a:p>
            <a:r>
              <a:rPr lang="zh-CN" altLang="en-US" sz="1800" dirty="0"/>
              <a:t>路由协议通常分为</a:t>
            </a:r>
            <a:r>
              <a:rPr lang="en-US" altLang="zh-CN" sz="1800" dirty="0"/>
              <a:t>IGP</a:t>
            </a:r>
            <a:r>
              <a:rPr lang="zh-CN" altLang="en-US" sz="1800" dirty="0"/>
              <a:t>与</a:t>
            </a:r>
            <a:r>
              <a:rPr lang="en-US" altLang="zh-CN" sz="1800" dirty="0"/>
              <a:t>BGP</a:t>
            </a:r>
            <a:r>
              <a:rPr lang="zh-CN" altLang="en-US" sz="1800" dirty="0"/>
              <a:t>，这两类协议的作用不同因此设计目的也不一样。</a:t>
            </a:r>
            <a:endParaRPr lang="en-US" altLang="zh-CN" sz="1800" dirty="0"/>
          </a:p>
          <a:p>
            <a:r>
              <a:rPr lang="zh-CN" altLang="en-US" sz="1800" dirty="0"/>
              <a:t>路由设计一般可以分为：</a:t>
            </a:r>
            <a:endParaRPr lang="en-US" altLang="zh-CN" sz="1800" dirty="0"/>
          </a:p>
          <a:p>
            <a:pPr lvl="1"/>
            <a:r>
              <a:rPr lang="en-US" sz="1600" dirty="0"/>
              <a:t>IGP</a:t>
            </a:r>
            <a:r>
              <a:rPr lang="zh-CN" altLang="en-US" sz="1600" dirty="0"/>
              <a:t>路由设计</a:t>
            </a:r>
            <a:endParaRPr lang="en-US" altLang="zh-CN" sz="1600" dirty="0"/>
          </a:p>
          <a:p>
            <a:pPr lvl="1"/>
            <a:r>
              <a:rPr lang="en-US" sz="1600" dirty="0"/>
              <a:t>BGP</a:t>
            </a:r>
            <a:r>
              <a:rPr lang="zh-CN" altLang="en-US" sz="1600" dirty="0"/>
              <a:t>路由设计</a:t>
            </a:r>
            <a:endParaRPr lang="en-US" sz="1600" dirty="0"/>
          </a:p>
        </p:txBody>
      </p:sp>
      <p:pic>
        <p:nvPicPr>
          <p:cNvPr id="5" name="图片 48">
            <a:extLst>
              <a:ext uri="{FF2B5EF4-FFF2-40B4-BE49-F238E27FC236}">
                <a16:creationId xmlns="" xmlns:a16="http://schemas.microsoft.com/office/drawing/2014/main" id="{BCC7F0B6-0D57-4EB8-88BF-AC82BFC62A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544031" y="3635987"/>
            <a:ext cx="378863" cy="310667"/>
          </a:xfrm>
          <a:prstGeom prst="rect">
            <a:avLst/>
          </a:prstGeom>
        </p:spPr>
      </p:pic>
      <p:pic>
        <p:nvPicPr>
          <p:cNvPr id="6" name="图片 48">
            <a:extLst>
              <a:ext uri="{FF2B5EF4-FFF2-40B4-BE49-F238E27FC236}">
                <a16:creationId xmlns="" xmlns:a16="http://schemas.microsoft.com/office/drawing/2014/main" id="{5D7E420B-C1C9-4E8D-B95A-9CAC12B04A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544031" y="4648248"/>
            <a:ext cx="378863" cy="310667"/>
          </a:xfrm>
          <a:prstGeom prst="rect">
            <a:avLst/>
          </a:prstGeom>
        </p:spPr>
      </p:pic>
      <p:pic>
        <p:nvPicPr>
          <p:cNvPr id="7" name="图片 48">
            <a:extLst>
              <a:ext uri="{FF2B5EF4-FFF2-40B4-BE49-F238E27FC236}">
                <a16:creationId xmlns="" xmlns:a16="http://schemas.microsoft.com/office/drawing/2014/main" id="{9A3A79D2-B3B4-4A16-B2AD-43C5537BD9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184843" y="3637667"/>
            <a:ext cx="378863" cy="310667"/>
          </a:xfrm>
          <a:prstGeom prst="rect">
            <a:avLst/>
          </a:prstGeom>
        </p:spPr>
      </p:pic>
      <p:pic>
        <p:nvPicPr>
          <p:cNvPr id="8" name="图片 48">
            <a:extLst>
              <a:ext uri="{FF2B5EF4-FFF2-40B4-BE49-F238E27FC236}">
                <a16:creationId xmlns="" xmlns:a16="http://schemas.microsoft.com/office/drawing/2014/main" id="{6EAC447B-6890-44A0-9949-3970983253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184843" y="4649928"/>
            <a:ext cx="378863" cy="310667"/>
          </a:xfrm>
          <a:prstGeom prst="rect">
            <a:avLst/>
          </a:prstGeom>
        </p:spPr>
      </p:pic>
      <p:pic>
        <p:nvPicPr>
          <p:cNvPr id="9" name="图片 48">
            <a:extLst>
              <a:ext uri="{FF2B5EF4-FFF2-40B4-BE49-F238E27FC236}">
                <a16:creationId xmlns="" xmlns:a16="http://schemas.microsoft.com/office/drawing/2014/main" id="{9E721C81-B05F-4E5C-9DA4-1A9AF004B4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27285" y="3639347"/>
            <a:ext cx="378863" cy="310667"/>
          </a:xfrm>
          <a:prstGeom prst="rect">
            <a:avLst/>
          </a:prstGeom>
        </p:spPr>
      </p:pic>
      <p:pic>
        <p:nvPicPr>
          <p:cNvPr id="10" name="图片 48">
            <a:extLst>
              <a:ext uri="{FF2B5EF4-FFF2-40B4-BE49-F238E27FC236}">
                <a16:creationId xmlns="" xmlns:a16="http://schemas.microsoft.com/office/drawing/2014/main" id="{59CE273C-E6A8-49D8-9004-EC170A8001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27285" y="4651608"/>
            <a:ext cx="378863" cy="310667"/>
          </a:xfrm>
          <a:prstGeom prst="rect">
            <a:avLst/>
          </a:prstGeom>
        </p:spPr>
      </p:pic>
      <p:pic>
        <p:nvPicPr>
          <p:cNvPr id="11" name="图片 24">
            <a:extLst>
              <a:ext uri="{FF2B5EF4-FFF2-40B4-BE49-F238E27FC236}">
                <a16:creationId xmlns="" xmlns:a16="http://schemas.microsoft.com/office/drawing/2014/main" id="{B4475869-2C94-4F4A-9274-5A13890562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622074" y="2379356"/>
            <a:ext cx="1502493" cy="277100"/>
          </a:xfrm>
          <a:prstGeom prst="rect">
            <a:avLst/>
          </a:prstGeom>
        </p:spPr>
      </p:pic>
      <p:sp>
        <p:nvSpPr>
          <p:cNvPr id="12" name="圆角矩形 75">
            <a:extLst>
              <a:ext uri="{FF2B5EF4-FFF2-40B4-BE49-F238E27FC236}">
                <a16:creationId xmlns="" xmlns:a16="http://schemas.microsoft.com/office/drawing/2014/main" id="{BE7720A5-5216-4956-A129-17221A8EFDA2}"/>
              </a:ext>
            </a:extLst>
          </p:cNvPr>
          <p:cNvSpPr/>
          <p:nvPr/>
        </p:nvSpPr>
        <p:spPr bwMode="gray">
          <a:xfrm>
            <a:off x="6563601" y="2360630"/>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3" name="圆角矩形 75">
            <a:extLst>
              <a:ext uri="{FF2B5EF4-FFF2-40B4-BE49-F238E27FC236}">
                <a16:creationId xmlns="" xmlns:a16="http://schemas.microsoft.com/office/drawing/2014/main" id="{00953FCA-B35D-4FA1-BAE1-8E18A4F1E4C6}"/>
              </a:ext>
            </a:extLst>
          </p:cNvPr>
          <p:cNvSpPr/>
          <p:nvPr/>
        </p:nvSpPr>
        <p:spPr bwMode="gray">
          <a:xfrm>
            <a:off x="5288399" y="3193874"/>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4" name="Straight Connector 13">
            <a:extLst>
              <a:ext uri="{FF2B5EF4-FFF2-40B4-BE49-F238E27FC236}">
                <a16:creationId xmlns="" xmlns:a16="http://schemas.microsoft.com/office/drawing/2014/main" id="{6B05FF34-08D9-48AE-A9DB-44C82B4A4F0E}"/>
              </a:ext>
            </a:extLst>
          </p:cNvPr>
          <p:cNvCxnSpPr>
            <a:cxnSpLocks/>
            <a:stCxn id="12" idx="2"/>
            <a:endCxn id="13" idx="0"/>
          </p:cNvCxnSpPr>
          <p:nvPr/>
        </p:nvCxnSpPr>
        <p:spPr bwMode="gray">
          <a:xfrm>
            <a:off x="7367543" y="2667082"/>
            <a:ext cx="1130" cy="52679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543F08E6-22C7-4115-8074-615D160E1ED1}"/>
              </a:ext>
            </a:extLst>
          </p:cNvPr>
          <p:cNvCxnSpPr>
            <a:cxnSpLocks/>
            <a:stCxn id="6" idx="0"/>
            <a:endCxn id="5" idx="2"/>
          </p:cNvCxnSpPr>
          <p:nvPr/>
        </p:nvCxnSpPr>
        <p:spPr bwMode="gray">
          <a:xfrm flipV="1">
            <a:off x="5733463" y="3946654"/>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FEFA157A-E651-4FAB-87AF-2D1EC9F80045}"/>
              </a:ext>
            </a:extLst>
          </p:cNvPr>
          <p:cNvCxnSpPr>
            <a:cxnSpLocks/>
            <a:stCxn id="7" idx="1"/>
            <a:endCxn id="5" idx="3"/>
          </p:cNvCxnSpPr>
          <p:nvPr/>
        </p:nvCxnSpPr>
        <p:spPr bwMode="gray">
          <a:xfrm flipH="1" flipV="1">
            <a:off x="5922894" y="3791321"/>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0FE6AB3F-DFBE-426B-BB4F-4753ED8B2119}"/>
              </a:ext>
            </a:extLst>
          </p:cNvPr>
          <p:cNvCxnSpPr>
            <a:cxnSpLocks/>
            <a:stCxn id="9" idx="1"/>
            <a:endCxn id="7" idx="3"/>
          </p:cNvCxnSpPr>
          <p:nvPr/>
        </p:nvCxnSpPr>
        <p:spPr bwMode="gray">
          <a:xfrm flipH="1" flipV="1">
            <a:off x="7563706" y="3793001"/>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472D180A-CF78-46C7-BD45-A6B85694E11B}"/>
              </a:ext>
            </a:extLst>
          </p:cNvPr>
          <p:cNvCxnSpPr>
            <a:cxnSpLocks/>
            <a:stCxn id="10" idx="1"/>
            <a:endCxn id="8" idx="3"/>
          </p:cNvCxnSpPr>
          <p:nvPr/>
        </p:nvCxnSpPr>
        <p:spPr bwMode="gray">
          <a:xfrm flipH="1" flipV="1">
            <a:off x="7563706" y="4805262"/>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ED52EADD-C43E-4D57-8724-7E9686C27078}"/>
              </a:ext>
            </a:extLst>
          </p:cNvPr>
          <p:cNvCxnSpPr>
            <a:cxnSpLocks/>
            <a:stCxn id="8" idx="1"/>
            <a:endCxn id="6" idx="3"/>
          </p:cNvCxnSpPr>
          <p:nvPr/>
        </p:nvCxnSpPr>
        <p:spPr bwMode="gray">
          <a:xfrm flipH="1" flipV="1">
            <a:off x="5922894" y="4803582"/>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3F81271A-2862-44A4-B880-A7F1E60D3BD0}"/>
              </a:ext>
            </a:extLst>
          </p:cNvPr>
          <p:cNvCxnSpPr>
            <a:cxnSpLocks/>
            <a:stCxn id="8" idx="0"/>
            <a:endCxn id="7" idx="2"/>
          </p:cNvCxnSpPr>
          <p:nvPr/>
        </p:nvCxnSpPr>
        <p:spPr bwMode="gray">
          <a:xfrm flipV="1">
            <a:off x="7374275" y="3948334"/>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E1458E34-0702-4F5A-8FF6-89376EB3A738}"/>
              </a:ext>
            </a:extLst>
          </p:cNvPr>
          <p:cNvCxnSpPr>
            <a:cxnSpLocks/>
            <a:stCxn id="10" idx="0"/>
            <a:endCxn id="9" idx="2"/>
          </p:cNvCxnSpPr>
          <p:nvPr/>
        </p:nvCxnSpPr>
        <p:spPr bwMode="gray">
          <a:xfrm flipV="1">
            <a:off x="9016717" y="3950014"/>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C072A972-CF76-485D-A38F-EBD09E0F08C8}"/>
              </a:ext>
            </a:extLst>
          </p:cNvPr>
          <p:cNvCxnSpPr>
            <a:cxnSpLocks/>
            <a:stCxn id="23" idx="3"/>
            <a:endCxn id="5" idx="1"/>
          </p:cNvCxnSpPr>
          <p:nvPr/>
        </p:nvCxnSpPr>
        <p:spPr bwMode="gray">
          <a:xfrm>
            <a:off x="4627629" y="3791320"/>
            <a:ext cx="91640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3" name="图片 48">
            <a:extLst>
              <a:ext uri="{FF2B5EF4-FFF2-40B4-BE49-F238E27FC236}">
                <a16:creationId xmlns="" xmlns:a16="http://schemas.microsoft.com/office/drawing/2014/main" id="{290EE9A2-70C5-4167-9ABC-B7BB8D4F2F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48766" y="3635986"/>
            <a:ext cx="378863" cy="310667"/>
          </a:xfrm>
          <a:prstGeom prst="rect">
            <a:avLst/>
          </a:prstGeom>
        </p:spPr>
      </p:pic>
      <p:pic>
        <p:nvPicPr>
          <p:cNvPr id="24" name="图片 48">
            <a:extLst>
              <a:ext uri="{FF2B5EF4-FFF2-40B4-BE49-F238E27FC236}">
                <a16:creationId xmlns="" xmlns:a16="http://schemas.microsoft.com/office/drawing/2014/main" id="{090573E4-D04A-4C31-9CBA-A4AABDD819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48766" y="4650046"/>
            <a:ext cx="378863" cy="310667"/>
          </a:xfrm>
          <a:prstGeom prst="rect">
            <a:avLst/>
          </a:prstGeom>
        </p:spPr>
      </p:pic>
      <p:cxnSp>
        <p:nvCxnSpPr>
          <p:cNvPr id="25" name="Straight Connector 24">
            <a:extLst>
              <a:ext uri="{FF2B5EF4-FFF2-40B4-BE49-F238E27FC236}">
                <a16:creationId xmlns="" xmlns:a16="http://schemas.microsoft.com/office/drawing/2014/main" id="{FD31770E-71BF-4D98-BC06-AB3EE312BD37}"/>
              </a:ext>
            </a:extLst>
          </p:cNvPr>
          <p:cNvCxnSpPr>
            <a:cxnSpLocks/>
            <a:stCxn id="24" idx="3"/>
            <a:endCxn id="6" idx="1"/>
          </p:cNvCxnSpPr>
          <p:nvPr/>
        </p:nvCxnSpPr>
        <p:spPr bwMode="gray">
          <a:xfrm flipV="1">
            <a:off x="4627629" y="4803582"/>
            <a:ext cx="91640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6" name="图片 48">
            <a:extLst>
              <a:ext uri="{FF2B5EF4-FFF2-40B4-BE49-F238E27FC236}">
                <a16:creationId xmlns="" xmlns:a16="http://schemas.microsoft.com/office/drawing/2014/main" id="{8B6A1171-043F-431E-91CA-7016EC6E69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004546" y="3639347"/>
            <a:ext cx="378863" cy="310667"/>
          </a:xfrm>
          <a:prstGeom prst="rect">
            <a:avLst/>
          </a:prstGeom>
        </p:spPr>
      </p:pic>
      <p:pic>
        <p:nvPicPr>
          <p:cNvPr id="27" name="图片 48">
            <a:extLst>
              <a:ext uri="{FF2B5EF4-FFF2-40B4-BE49-F238E27FC236}">
                <a16:creationId xmlns="" xmlns:a16="http://schemas.microsoft.com/office/drawing/2014/main" id="{5997AC64-6F3A-4E6C-8C6B-A7F5C8A98B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004546" y="4653407"/>
            <a:ext cx="378863" cy="310667"/>
          </a:xfrm>
          <a:prstGeom prst="rect">
            <a:avLst/>
          </a:prstGeom>
        </p:spPr>
      </p:pic>
      <p:cxnSp>
        <p:nvCxnSpPr>
          <p:cNvPr id="28" name="Straight Connector 27">
            <a:extLst>
              <a:ext uri="{FF2B5EF4-FFF2-40B4-BE49-F238E27FC236}">
                <a16:creationId xmlns="" xmlns:a16="http://schemas.microsoft.com/office/drawing/2014/main" id="{F5FE17C2-C612-430B-AC74-0CFFA7D00640}"/>
              </a:ext>
            </a:extLst>
          </p:cNvPr>
          <p:cNvCxnSpPr>
            <a:cxnSpLocks/>
            <a:stCxn id="10" idx="3"/>
            <a:endCxn id="27" idx="1"/>
          </p:cNvCxnSpPr>
          <p:nvPr/>
        </p:nvCxnSpPr>
        <p:spPr bwMode="gray">
          <a:xfrm>
            <a:off x="9206148" y="4806942"/>
            <a:ext cx="79839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86924A87-245F-418F-988C-54BE51C90539}"/>
              </a:ext>
            </a:extLst>
          </p:cNvPr>
          <p:cNvCxnSpPr>
            <a:cxnSpLocks/>
            <a:stCxn id="9" idx="3"/>
            <a:endCxn id="26" idx="1"/>
          </p:cNvCxnSpPr>
          <p:nvPr/>
        </p:nvCxnSpPr>
        <p:spPr bwMode="gray">
          <a:xfrm>
            <a:off x="9206148" y="3794681"/>
            <a:ext cx="798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271">
            <a:extLst>
              <a:ext uri="{FF2B5EF4-FFF2-40B4-BE49-F238E27FC236}">
                <a16:creationId xmlns="" xmlns:a16="http://schemas.microsoft.com/office/drawing/2014/main" id="{6E4CD2FE-CFDE-4F34-BE2F-09265B100A2C}"/>
              </a:ext>
            </a:extLst>
          </p:cNvPr>
          <p:cNvSpPr txBox="1"/>
          <p:nvPr/>
        </p:nvSpPr>
        <p:spPr bwMode="gray">
          <a:xfrm>
            <a:off x="5554783" y="342646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271">
            <a:extLst>
              <a:ext uri="{FF2B5EF4-FFF2-40B4-BE49-F238E27FC236}">
                <a16:creationId xmlns="" xmlns:a16="http://schemas.microsoft.com/office/drawing/2014/main" id="{785A2C4C-D6A1-4C64-B20D-E1D74AEAE074}"/>
              </a:ext>
            </a:extLst>
          </p:cNvPr>
          <p:cNvSpPr txBox="1"/>
          <p:nvPr/>
        </p:nvSpPr>
        <p:spPr bwMode="gray">
          <a:xfrm>
            <a:off x="5554783" y="4919382"/>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271">
            <a:extLst>
              <a:ext uri="{FF2B5EF4-FFF2-40B4-BE49-F238E27FC236}">
                <a16:creationId xmlns="" xmlns:a16="http://schemas.microsoft.com/office/drawing/2014/main" id="{969F8E35-17C5-4660-915C-4F0381656B0F}"/>
              </a:ext>
            </a:extLst>
          </p:cNvPr>
          <p:cNvSpPr txBox="1"/>
          <p:nvPr/>
        </p:nvSpPr>
        <p:spPr bwMode="gray">
          <a:xfrm>
            <a:off x="8844743" y="491938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271">
            <a:extLst>
              <a:ext uri="{FF2B5EF4-FFF2-40B4-BE49-F238E27FC236}">
                <a16:creationId xmlns="" xmlns:a16="http://schemas.microsoft.com/office/drawing/2014/main" id="{FBA3A70B-FA79-46A7-8E9F-1D1C1136C179}"/>
              </a:ext>
            </a:extLst>
          </p:cNvPr>
          <p:cNvSpPr txBox="1"/>
          <p:nvPr/>
        </p:nvSpPr>
        <p:spPr bwMode="gray">
          <a:xfrm>
            <a:off x="7087214" y="3418835"/>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271">
            <a:extLst>
              <a:ext uri="{FF2B5EF4-FFF2-40B4-BE49-F238E27FC236}">
                <a16:creationId xmlns="" xmlns:a16="http://schemas.microsoft.com/office/drawing/2014/main" id="{740E1375-B268-405A-83B6-BBCB7D6D52F0}"/>
              </a:ext>
            </a:extLst>
          </p:cNvPr>
          <p:cNvSpPr txBox="1"/>
          <p:nvPr/>
        </p:nvSpPr>
        <p:spPr bwMode="gray">
          <a:xfrm>
            <a:off x="7097682" y="4917238"/>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271">
            <a:extLst>
              <a:ext uri="{FF2B5EF4-FFF2-40B4-BE49-F238E27FC236}">
                <a16:creationId xmlns="" xmlns:a16="http://schemas.microsoft.com/office/drawing/2014/main" id="{3C1F5872-7572-42FD-B76C-8D40FA89A14B}"/>
              </a:ext>
            </a:extLst>
          </p:cNvPr>
          <p:cNvSpPr txBox="1"/>
          <p:nvPr/>
        </p:nvSpPr>
        <p:spPr bwMode="gray">
          <a:xfrm>
            <a:off x="4248765" y="4925260"/>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271">
            <a:extLst>
              <a:ext uri="{FF2B5EF4-FFF2-40B4-BE49-F238E27FC236}">
                <a16:creationId xmlns="" xmlns:a16="http://schemas.microsoft.com/office/drawing/2014/main" id="{B4AFE184-E6AC-4737-84F4-673061A3397E}"/>
              </a:ext>
            </a:extLst>
          </p:cNvPr>
          <p:cNvSpPr txBox="1"/>
          <p:nvPr/>
        </p:nvSpPr>
        <p:spPr bwMode="gray">
          <a:xfrm>
            <a:off x="4248765" y="341725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271">
            <a:extLst>
              <a:ext uri="{FF2B5EF4-FFF2-40B4-BE49-F238E27FC236}">
                <a16:creationId xmlns="" xmlns:a16="http://schemas.microsoft.com/office/drawing/2014/main" id="{9DAD08CD-A3BD-46C9-B9EC-EA406C17644C}"/>
              </a:ext>
            </a:extLst>
          </p:cNvPr>
          <p:cNvSpPr txBox="1"/>
          <p:nvPr/>
        </p:nvSpPr>
        <p:spPr bwMode="gray">
          <a:xfrm>
            <a:off x="10000016" y="343184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TextBox 271">
            <a:extLst>
              <a:ext uri="{FF2B5EF4-FFF2-40B4-BE49-F238E27FC236}">
                <a16:creationId xmlns="" xmlns:a16="http://schemas.microsoft.com/office/drawing/2014/main" id="{31E0D339-C046-4BFF-865D-70026A428E36}"/>
              </a:ext>
            </a:extLst>
          </p:cNvPr>
          <p:cNvSpPr txBox="1"/>
          <p:nvPr/>
        </p:nvSpPr>
        <p:spPr bwMode="gray">
          <a:xfrm>
            <a:off x="10000016" y="4925260"/>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271">
            <a:extLst>
              <a:ext uri="{FF2B5EF4-FFF2-40B4-BE49-F238E27FC236}">
                <a16:creationId xmlns="" xmlns:a16="http://schemas.microsoft.com/office/drawing/2014/main" id="{1A5552A5-8944-4EA1-8FFC-F4735BB28F9F}"/>
              </a:ext>
            </a:extLst>
          </p:cNvPr>
          <p:cNvSpPr txBox="1"/>
          <p:nvPr/>
        </p:nvSpPr>
        <p:spPr bwMode="gray">
          <a:xfrm>
            <a:off x="8833916" y="3415969"/>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271">
            <a:extLst>
              <a:ext uri="{FF2B5EF4-FFF2-40B4-BE49-F238E27FC236}">
                <a16:creationId xmlns="" xmlns:a16="http://schemas.microsoft.com/office/drawing/2014/main" id="{75102DD9-93AF-4A51-807A-7CA912B9CD21}"/>
              </a:ext>
            </a:extLst>
          </p:cNvPr>
          <p:cNvSpPr txBox="1"/>
          <p:nvPr/>
        </p:nvSpPr>
        <p:spPr bwMode="gray">
          <a:xfrm>
            <a:off x="5371825" y="5203550"/>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cxnSp>
        <p:nvCxnSpPr>
          <p:cNvPr id="59" name="直接箭头连接符 84">
            <a:extLst>
              <a:ext uri="{FF2B5EF4-FFF2-40B4-BE49-F238E27FC236}">
                <a16:creationId xmlns="" xmlns:a16="http://schemas.microsoft.com/office/drawing/2014/main" id="{A6934645-449B-4206-A36D-424F45ABC136}"/>
              </a:ext>
            </a:extLst>
          </p:cNvPr>
          <p:cNvCxnSpPr>
            <a:cxnSpLocks/>
          </p:cNvCxnSpPr>
          <p:nvPr/>
        </p:nvCxnSpPr>
        <p:spPr bwMode="gray">
          <a:xfrm flipH="1">
            <a:off x="5954903" y="3867801"/>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2" name="直接箭头连接符 84">
            <a:extLst>
              <a:ext uri="{FF2B5EF4-FFF2-40B4-BE49-F238E27FC236}">
                <a16:creationId xmlns="" xmlns:a16="http://schemas.microsoft.com/office/drawing/2014/main" id="{574B397B-F39E-4A7C-B859-52C9B38D87F0}"/>
              </a:ext>
            </a:extLst>
          </p:cNvPr>
          <p:cNvCxnSpPr>
            <a:cxnSpLocks/>
          </p:cNvCxnSpPr>
          <p:nvPr/>
        </p:nvCxnSpPr>
        <p:spPr bwMode="gray">
          <a:xfrm flipH="1">
            <a:off x="7595716" y="3867801"/>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0" name="直接箭头连接符 84">
            <a:extLst>
              <a:ext uri="{FF2B5EF4-FFF2-40B4-BE49-F238E27FC236}">
                <a16:creationId xmlns="" xmlns:a16="http://schemas.microsoft.com/office/drawing/2014/main" id="{575B62B6-3ECB-4F3A-BBCE-33809FD88DBC}"/>
              </a:ext>
            </a:extLst>
          </p:cNvPr>
          <p:cNvCxnSpPr>
            <a:cxnSpLocks/>
          </p:cNvCxnSpPr>
          <p:nvPr/>
        </p:nvCxnSpPr>
        <p:spPr bwMode="gray">
          <a:xfrm flipH="1">
            <a:off x="5948889" y="4724882"/>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1" name="直接箭头连接符 84">
            <a:extLst>
              <a:ext uri="{FF2B5EF4-FFF2-40B4-BE49-F238E27FC236}">
                <a16:creationId xmlns="" xmlns:a16="http://schemas.microsoft.com/office/drawing/2014/main" id="{6DA3F5D9-C1B9-4172-87C0-B6470C3FADDE}"/>
              </a:ext>
            </a:extLst>
          </p:cNvPr>
          <p:cNvCxnSpPr>
            <a:cxnSpLocks/>
          </p:cNvCxnSpPr>
          <p:nvPr/>
        </p:nvCxnSpPr>
        <p:spPr bwMode="gray">
          <a:xfrm flipH="1">
            <a:off x="7589702" y="4724882"/>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2" name="直接箭头连接符 84">
            <a:extLst>
              <a:ext uri="{FF2B5EF4-FFF2-40B4-BE49-F238E27FC236}">
                <a16:creationId xmlns="" xmlns:a16="http://schemas.microsoft.com/office/drawing/2014/main" id="{59421798-3C9E-4C05-9430-BF8E01708172}"/>
              </a:ext>
            </a:extLst>
          </p:cNvPr>
          <p:cNvCxnSpPr>
            <a:cxnSpLocks/>
          </p:cNvCxnSpPr>
          <p:nvPr/>
        </p:nvCxnSpPr>
        <p:spPr bwMode="gray">
          <a:xfrm flipV="1">
            <a:off x="5845651" y="3976755"/>
            <a:ext cx="0" cy="624776"/>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4" name="直接箭头连接符 84">
            <a:extLst>
              <a:ext uri="{FF2B5EF4-FFF2-40B4-BE49-F238E27FC236}">
                <a16:creationId xmlns="" xmlns:a16="http://schemas.microsoft.com/office/drawing/2014/main" id="{3EE9CC9E-565F-44D8-90C9-C84A5FB9F385}"/>
              </a:ext>
            </a:extLst>
          </p:cNvPr>
          <p:cNvCxnSpPr>
            <a:cxnSpLocks/>
          </p:cNvCxnSpPr>
          <p:nvPr/>
        </p:nvCxnSpPr>
        <p:spPr bwMode="gray">
          <a:xfrm flipV="1">
            <a:off x="7288689" y="3985063"/>
            <a:ext cx="0" cy="624776"/>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5" name="直接箭头连接符 84">
            <a:extLst>
              <a:ext uri="{FF2B5EF4-FFF2-40B4-BE49-F238E27FC236}">
                <a16:creationId xmlns="" xmlns:a16="http://schemas.microsoft.com/office/drawing/2014/main" id="{03AFD3AF-D7AC-4EB8-B974-8541FF21657C}"/>
              </a:ext>
            </a:extLst>
          </p:cNvPr>
          <p:cNvCxnSpPr>
            <a:cxnSpLocks/>
          </p:cNvCxnSpPr>
          <p:nvPr/>
        </p:nvCxnSpPr>
        <p:spPr bwMode="gray">
          <a:xfrm flipV="1">
            <a:off x="8922227" y="3985063"/>
            <a:ext cx="0" cy="624776"/>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76" name="TextBox 271">
            <a:extLst>
              <a:ext uri="{FF2B5EF4-FFF2-40B4-BE49-F238E27FC236}">
                <a16:creationId xmlns="" xmlns:a16="http://schemas.microsoft.com/office/drawing/2014/main" id="{D7E1CB6A-2A32-47C1-A65B-B17F439A3A79}"/>
              </a:ext>
            </a:extLst>
          </p:cNvPr>
          <p:cNvSpPr txBox="1"/>
          <p:nvPr/>
        </p:nvSpPr>
        <p:spPr bwMode="gray">
          <a:xfrm>
            <a:off x="6283026" y="4122329"/>
            <a:ext cx="620922" cy="307777"/>
          </a:xfrm>
          <a:prstGeom prst="rect">
            <a:avLst/>
          </a:prstGeom>
          <a:noFill/>
        </p:spPr>
        <p:txBody>
          <a:bodyPr wrap="square" rtlCol="0">
            <a:spAutoFit/>
          </a:bodyPr>
          <a:lstStyle/>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271">
            <a:extLst>
              <a:ext uri="{FF2B5EF4-FFF2-40B4-BE49-F238E27FC236}">
                <a16:creationId xmlns="" xmlns:a16="http://schemas.microsoft.com/office/drawing/2014/main" id="{C59FB820-E6F5-444C-BEF6-B8FE31208F35}"/>
              </a:ext>
            </a:extLst>
          </p:cNvPr>
          <p:cNvSpPr txBox="1"/>
          <p:nvPr/>
        </p:nvSpPr>
        <p:spPr bwMode="gray">
          <a:xfrm>
            <a:off x="7929798" y="4122329"/>
            <a:ext cx="622471" cy="307777"/>
          </a:xfrm>
          <a:prstGeom prst="rect">
            <a:avLst/>
          </a:prstGeom>
          <a:noFill/>
        </p:spPr>
        <p:txBody>
          <a:bodyPr wrap="square" rtlCol="0">
            <a:spAutoFit/>
          </a:bodyPr>
          <a:lstStyle/>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Freeform: Shape 77">
            <a:extLst>
              <a:ext uri="{FF2B5EF4-FFF2-40B4-BE49-F238E27FC236}">
                <a16:creationId xmlns="" xmlns:a16="http://schemas.microsoft.com/office/drawing/2014/main" id="{34AD9EB4-C908-4112-8281-948FFBA9FE3D}"/>
              </a:ext>
            </a:extLst>
          </p:cNvPr>
          <p:cNvSpPr/>
          <p:nvPr/>
        </p:nvSpPr>
        <p:spPr bwMode="gray">
          <a:xfrm>
            <a:off x="5856429" y="3321896"/>
            <a:ext cx="3063538" cy="293444"/>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 xmlns:a16="http://schemas.microsoft.com/office/drawing/2014/main" id="{217E6FF6-7B33-4D72-9B7A-9C0FFB14D63C}"/>
              </a:ext>
            </a:extLst>
          </p:cNvPr>
          <p:cNvSpPr/>
          <p:nvPr/>
        </p:nvSpPr>
        <p:spPr bwMode="gray">
          <a:xfrm rot="19346707">
            <a:off x="5625182" y="3027698"/>
            <a:ext cx="1517926" cy="138022"/>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271">
            <a:extLst>
              <a:ext uri="{FF2B5EF4-FFF2-40B4-BE49-F238E27FC236}">
                <a16:creationId xmlns="" xmlns:a16="http://schemas.microsoft.com/office/drawing/2014/main" id="{17BBDE09-4CAE-404C-8D43-B4B56CD515E1}"/>
              </a:ext>
            </a:extLst>
          </p:cNvPr>
          <p:cNvSpPr txBox="1"/>
          <p:nvPr/>
        </p:nvSpPr>
        <p:spPr bwMode="gray">
          <a:xfrm rot="19135233">
            <a:off x="5932932" y="2811058"/>
            <a:ext cx="600565" cy="307777"/>
          </a:xfrm>
          <a:prstGeom prst="rect">
            <a:avLst/>
          </a:prstGeom>
          <a:noFill/>
        </p:spPr>
        <p:txBody>
          <a:bodyPr wrap="square" rtlCol="0">
            <a:spAutoFit/>
          </a:bodyPr>
          <a:lstStyle/>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271">
            <a:extLst>
              <a:ext uri="{FF2B5EF4-FFF2-40B4-BE49-F238E27FC236}">
                <a16:creationId xmlns="" xmlns:a16="http://schemas.microsoft.com/office/drawing/2014/main" id="{9A12285C-0460-4321-ACE9-83FC9B9BA8BD}"/>
              </a:ext>
            </a:extLst>
          </p:cNvPr>
          <p:cNvSpPr txBox="1"/>
          <p:nvPr/>
        </p:nvSpPr>
        <p:spPr bwMode="gray">
          <a:xfrm>
            <a:off x="7067260" y="3231418"/>
            <a:ext cx="600565" cy="252057"/>
          </a:xfrm>
          <a:prstGeom prst="rect">
            <a:avLst/>
          </a:prstGeom>
          <a:solidFill>
            <a:schemeClr val="bg1"/>
          </a:solidFill>
        </p:spPr>
        <p:txBody>
          <a:bodyPr wrap="square" rtlCol="0">
            <a:spAutoFit/>
          </a:bodyPr>
          <a:lstStyle/>
          <a:p>
            <a:pPr algn="ctr">
              <a:lnSpc>
                <a:spcPts val="1200"/>
              </a:lnSpc>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Rectangular Callout 26">
            <a:extLst>
              <a:ext uri="{FF2B5EF4-FFF2-40B4-BE49-F238E27FC236}">
                <a16:creationId xmlns="" xmlns:a16="http://schemas.microsoft.com/office/drawing/2014/main" id="{76316FA8-81C3-4485-A051-922E62C2AC41}"/>
              </a:ext>
            </a:extLst>
          </p:cNvPr>
          <p:cNvSpPr/>
          <p:nvPr/>
        </p:nvSpPr>
        <p:spPr bwMode="gray">
          <a:xfrm>
            <a:off x="5154212" y="2613278"/>
            <a:ext cx="794677" cy="419540"/>
          </a:xfrm>
          <a:prstGeom prst="wedgeRectCallout">
            <a:avLst>
              <a:gd name="adj1" fmla="val 68380"/>
              <a:gd name="adj2" fmla="val 154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Rectangular Callout 26">
            <a:extLst>
              <a:ext uri="{FF2B5EF4-FFF2-40B4-BE49-F238E27FC236}">
                <a16:creationId xmlns="" xmlns:a16="http://schemas.microsoft.com/office/drawing/2014/main" id="{6D8D53BA-9726-439B-A1AA-935792BEC2A9}"/>
              </a:ext>
            </a:extLst>
          </p:cNvPr>
          <p:cNvSpPr/>
          <p:nvPr/>
        </p:nvSpPr>
        <p:spPr bwMode="gray">
          <a:xfrm>
            <a:off x="6109272" y="4556777"/>
            <a:ext cx="794677" cy="419540"/>
          </a:xfrm>
          <a:prstGeom prst="wedgeRectCallout">
            <a:avLst>
              <a:gd name="adj1" fmla="val 21635"/>
              <a:gd name="adj2" fmla="val -8671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路由设计</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018920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20BF5758-9661-4AF4-B88B-5F454C082F4E}"/>
              </a:ext>
            </a:extLst>
          </p:cNvPr>
          <p:cNvSpPr>
            <a:spLocks noGrp="1"/>
          </p:cNvSpPr>
          <p:nvPr>
            <p:ph type="body" sz="quarter" idx="10"/>
          </p:nvPr>
        </p:nvSpPr>
        <p:spPr bwMode="gray">
          <a:xfrm>
            <a:off x="455612" y="1047750"/>
            <a:ext cx="11293475" cy="1495425"/>
          </a:xfrm>
        </p:spPr>
        <p:txBody>
          <a:bodyPr/>
          <a:lstStyle/>
          <a:p>
            <a:r>
              <a:rPr lang="zh-CN" altLang="en-US" sz="1800" dirty="0"/>
              <a:t>广域承载网络中，</a:t>
            </a:r>
            <a:r>
              <a:rPr lang="en-US" altLang="zh-CN" sz="1800" dirty="0"/>
              <a:t>IGP</a:t>
            </a:r>
            <a:r>
              <a:rPr lang="zh-CN" altLang="en-US" sz="1800" dirty="0"/>
              <a:t>作为基础支撑协议可以实现全网三层拓扑收集与泛洪，并且配合</a:t>
            </a:r>
            <a:r>
              <a:rPr lang="en-US" altLang="zh-CN" sz="1800" dirty="0"/>
              <a:t>TWAMP/IFIT</a:t>
            </a:r>
            <a:r>
              <a:rPr lang="zh-CN" altLang="en-US" sz="1800" dirty="0"/>
              <a:t>等协议实现网络中的链路时延等网络状态信息的收集。</a:t>
            </a:r>
            <a:endParaRPr lang="en-US" altLang="zh-CN" sz="1800" dirty="0"/>
          </a:p>
          <a:p>
            <a:r>
              <a:rPr lang="zh-CN" altLang="en-US" sz="1800" dirty="0"/>
              <a:t>一般骨干网可以使用</a:t>
            </a:r>
            <a:r>
              <a:rPr lang="en-US" altLang="zh-CN" sz="1800" dirty="0"/>
              <a:t>OSPF</a:t>
            </a:r>
            <a:r>
              <a:rPr lang="zh-CN" altLang="en-US" sz="1800" dirty="0"/>
              <a:t>或</a:t>
            </a:r>
            <a:r>
              <a:rPr lang="en-US" altLang="zh-CN" sz="1800" dirty="0"/>
              <a:t>IS-IS</a:t>
            </a:r>
            <a:r>
              <a:rPr lang="zh-CN" altLang="en-US" sz="1800" dirty="0"/>
              <a:t>协议来打通内部的路由，但是这两种协议在使用场景上有一定区别。</a:t>
            </a:r>
            <a:endParaRPr lang="en-US" altLang="zh-CN" sz="1800" dirty="0"/>
          </a:p>
          <a:p>
            <a:endParaRPr lang="en-US" sz="1800" dirty="0"/>
          </a:p>
        </p:txBody>
      </p:sp>
      <p:sp>
        <p:nvSpPr>
          <p:cNvPr id="3" name="Title 2">
            <a:extLst>
              <a:ext uri="{FF2B5EF4-FFF2-40B4-BE49-F238E27FC236}">
                <a16:creationId xmlns="" xmlns:a16="http://schemas.microsoft.com/office/drawing/2014/main" id="{923AA52E-8D6B-41BC-A205-F68568A8EAA3}"/>
              </a:ext>
            </a:extLst>
          </p:cNvPr>
          <p:cNvSpPr>
            <a:spLocks noGrp="1"/>
          </p:cNvSpPr>
          <p:nvPr>
            <p:ph type="title"/>
          </p:nvPr>
        </p:nvSpPr>
        <p:spPr bwMode="gray"/>
        <p:txBody>
          <a:bodyPr/>
          <a:lstStyle/>
          <a:p>
            <a:r>
              <a:rPr lang="en-US" altLang="zh-CN" dirty="0"/>
              <a:t>IGP</a:t>
            </a:r>
            <a:r>
              <a:rPr lang="zh-CN" altLang="en-US" dirty="0"/>
              <a:t>介绍</a:t>
            </a:r>
            <a:endParaRPr lang="en-US" dirty="0"/>
          </a:p>
        </p:txBody>
      </p:sp>
      <p:graphicFrame>
        <p:nvGraphicFramePr>
          <p:cNvPr id="2" name="Table 4">
            <a:extLst>
              <a:ext uri="{FF2B5EF4-FFF2-40B4-BE49-F238E27FC236}">
                <a16:creationId xmlns="" xmlns:a16="http://schemas.microsoft.com/office/drawing/2014/main" id="{2E7DD2FA-B05D-4268-8D1C-6AA60327B54F}"/>
              </a:ext>
            </a:extLst>
          </p:cNvPr>
          <p:cNvGraphicFramePr>
            <a:graphicFrameLocks noGrp="1"/>
          </p:cNvGraphicFramePr>
          <p:nvPr>
            <p:extLst>
              <p:ext uri="{D42A27DB-BD31-4B8C-83A1-F6EECF244321}">
                <p14:modId xmlns:p14="http://schemas.microsoft.com/office/powerpoint/2010/main" val="1690950859"/>
              </p:ext>
            </p:extLst>
          </p:nvPr>
        </p:nvGraphicFramePr>
        <p:xfrm>
          <a:off x="1243704" y="2688314"/>
          <a:ext cx="9704592" cy="2730113"/>
        </p:xfrm>
        <a:graphic>
          <a:graphicData uri="http://schemas.openxmlformats.org/drawingml/2006/table">
            <a:tbl>
              <a:tblPr firstRow="1" bandRow="1">
                <a:tableStyleId>{72833802-FEF1-4C79-8D5D-14CF1EAF98D9}</a:tableStyleId>
              </a:tblPr>
              <a:tblGrid>
                <a:gridCol w="1647115">
                  <a:extLst>
                    <a:ext uri="{9D8B030D-6E8A-4147-A177-3AD203B41FA5}">
                      <a16:colId xmlns="" xmlns:a16="http://schemas.microsoft.com/office/drawing/2014/main" val="3503835258"/>
                    </a:ext>
                  </a:extLst>
                </a:gridCol>
                <a:gridCol w="1818042">
                  <a:extLst>
                    <a:ext uri="{9D8B030D-6E8A-4147-A177-3AD203B41FA5}">
                      <a16:colId xmlns="" xmlns:a16="http://schemas.microsoft.com/office/drawing/2014/main" val="383338078"/>
                    </a:ext>
                  </a:extLst>
                </a:gridCol>
                <a:gridCol w="1742739">
                  <a:extLst>
                    <a:ext uri="{9D8B030D-6E8A-4147-A177-3AD203B41FA5}">
                      <a16:colId xmlns="" xmlns:a16="http://schemas.microsoft.com/office/drawing/2014/main" val="764707491"/>
                    </a:ext>
                  </a:extLst>
                </a:gridCol>
                <a:gridCol w="4496696">
                  <a:extLst>
                    <a:ext uri="{9D8B030D-6E8A-4147-A177-3AD203B41FA5}">
                      <a16:colId xmlns="" xmlns:a16="http://schemas.microsoft.com/office/drawing/2014/main" val="1866413908"/>
                    </a:ext>
                  </a:extLst>
                </a:gridCol>
              </a:tblGrid>
              <a:tr h="388373">
                <a:tc>
                  <a:txBody>
                    <a:bodyPr/>
                    <a:lstStyle/>
                    <a:p>
                      <a:endParaRPr 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b="1" dirty="0">
                          <a:solidFill>
                            <a:schemeClr val="tx1"/>
                          </a:solidFill>
                        </a:rPr>
                        <a:t>IS-IS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b="1" dirty="0">
                          <a:solidFill>
                            <a:schemeClr val="tx1"/>
                          </a:solidFill>
                        </a:rPr>
                        <a:t>OSPF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b="1" dirty="0">
                          <a:solidFill>
                            <a:schemeClr val="tx1"/>
                          </a:solidFill>
                        </a:rPr>
                        <a:t>备注</a:t>
                      </a:r>
                      <a:endParaRPr lang="en-US" b="1" dirty="0">
                        <a:solidFill>
                          <a:schemeClr val="tx1"/>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865533471"/>
                  </a:ext>
                </a:extLst>
              </a:tr>
              <a:tr h="585435">
                <a:tc>
                  <a:txBody>
                    <a:bodyPr/>
                    <a:lstStyle/>
                    <a:p>
                      <a:r>
                        <a:rPr lang="zh-CN" altLang="en-US" sz="1400" dirty="0"/>
                        <a:t>网络规模</a:t>
                      </a:r>
                      <a:endParaRPr 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大</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小</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部分设备单区域（单</a:t>
                      </a:r>
                      <a:r>
                        <a:rPr lang="en-US" altLang="zh-CN" sz="1400" dirty="0"/>
                        <a:t>Level</a:t>
                      </a:r>
                      <a:r>
                        <a:rPr lang="zh-CN" altLang="en-US" sz="1400" dirty="0"/>
                        <a:t>）情况下</a:t>
                      </a:r>
                      <a:r>
                        <a:rPr lang="en-US" altLang="zh-CN" sz="1400" dirty="0"/>
                        <a:t>IS-IS</a:t>
                      </a:r>
                      <a:r>
                        <a:rPr lang="zh-CN" altLang="en-US" sz="1400" dirty="0"/>
                        <a:t>极限规格</a:t>
                      </a:r>
                      <a:r>
                        <a:rPr lang="en-US" altLang="zh-CN" sz="1400" dirty="0"/>
                        <a:t>4K</a:t>
                      </a:r>
                      <a:r>
                        <a:rPr lang="zh-CN" altLang="en-US" sz="1400" dirty="0"/>
                        <a:t>，</a:t>
                      </a:r>
                      <a:r>
                        <a:rPr lang="en-US" altLang="zh-CN" sz="1400" dirty="0"/>
                        <a:t>OSPF</a:t>
                      </a:r>
                      <a:r>
                        <a:rPr lang="zh-CN" altLang="en-US" sz="1400" dirty="0"/>
                        <a:t>极限规格</a:t>
                      </a:r>
                      <a:r>
                        <a:rPr lang="en-US" altLang="zh-CN" sz="1400" dirty="0"/>
                        <a:t>2K</a:t>
                      </a:r>
                      <a:r>
                        <a:rPr lang="zh-CN" altLang="en-US" sz="1400" dirty="0"/>
                        <a:t>。</a:t>
                      </a:r>
                      <a:endParaRPr 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71615512"/>
                  </a:ext>
                </a:extLst>
              </a:tr>
              <a:tr h="585435">
                <a:tc>
                  <a:txBody>
                    <a:bodyPr/>
                    <a:lstStyle/>
                    <a:p>
                      <a:r>
                        <a:rPr lang="en-US" sz="1400" dirty="0"/>
                        <a:t>IP</a:t>
                      </a:r>
                      <a:r>
                        <a:rPr lang="en-US" altLang="zh-CN" sz="1400" dirty="0"/>
                        <a:t>v6</a:t>
                      </a:r>
                      <a:r>
                        <a:rPr lang="zh-CN" altLang="en-US" sz="1400" dirty="0"/>
                        <a:t>支持</a:t>
                      </a:r>
                      <a:endParaRPr 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TLV</a:t>
                      </a:r>
                      <a:r>
                        <a:rPr lang="zh-CN" altLang="en-US" sz="1400" dirty="0"/>
                        <a:t>结构报文，无需再单独部署协议。</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需要单独的</a:t>
                      </a:r>
                      <a:r>
                        <a:rPr lang="en-US" altLang="zh-CN" sz="1400" dirty="0"/>
                        <a:t>OSPFv3</a:t>
                      </a:r>
                      <a:r>
                        <a:rPr lang="zh-CN" altLang="en-US" sz="1400" dirty="0"/>
                        <a:t>。</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OSPF</a:t>
                      </a:r>
                      <a:r>
                        <a:rPr lang="zh-CN" altLang="en-US" sz="1400" dirty="0"/>
                        <a:t>同时支持</a:t>
                      </a:r>
                      <a:r>
                        <a:rPr lang="en-US" altLang="zh-CN" sz="1400" dirty="0"/>
                        <a:t>IPv4/IPv6</a:t>
                      </a:r>
                      <a:r>
                        <a:rPr lang="zh-CN" altLang="en-US" sz="1400" dirty="0"/>
                        <a:t>时需要分别配置</a:t>
                      </a:r>
                      <a:r>
                        <a:rPr lang="en-US" altLang="zh-CN" sz="1400" dirty="0"/>
                        <a:t>OSPFv2</a:t>
                      </a:r>
                      <a:r>
                        <a:rPr lang="zh-CN" altLang="en-US" sz="1400" dirty="0"/>
                        <a:t>邻居和</a:t>
                      </a:r>
                      <a:r>
                        <a:rPr lang="en-US" altLang="zh-CN" sz="1400" dirty="0"/>
                        <a:t>OSPFv3</a:t>
                      </a:r>
                      <a:r>
                        <a:rPr lang="zh-CN" altLang="en-US" sz="1400" dirty="0"/>
                        <a:t>邻居，协议报文交互多，对资源的消耗多。</a:t>
                      </a:r>
                      <a:endParaRPr 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84565152"/>
                  </a:ext>
                </a:extLst>
              </a:tr>
              <a:tr h="585435">
                <a:tc>
                  <a:txBody>
                    <a:bodyPr/>
                    <a:lstStyle/>
                    <a:p>
                      <a:r>
                        <a:rPr lang="en-US" sz="1400" dirty="0"/>
                        <a:t>SR</a:t>
                      </a:r>
                      <a:r>
                        <a:rPr lang="en-US" altLang="zh-CN" sz="1400" dirty="0"/>
                        <a:t>v6</a:t>
                      </a:r>
                      <a:r>
                        <a:rPr lang="zh-CN" altLang="en-US" sz="1400" dirty="0"/>
                        <a:t>支持</a:t>
                      </a:r>
                      <a:endParaRPr 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有相关标准或草案。</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t>有相关标准或草案。</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t>OSPF</a:t>
                      </a:r>
                      <a:r>
                        <a:rPr lang="zh-CN" altLang="en-US" sz="1400" dirty="0"/>
                        <a:t>支持</a:t>
                      </a:r>
                      <a:r>
                        <a:rPr lang="en-US" altLang="zh-CN" sz="1400" dirty="0"/>
                        <a:t>SRv6</a:t>
                      </a:r>
                      <a:r>
                        <a:rPr lang="zh-CN" altLang="en-US" sz="1400" dirty="0"/>
                        <a:t>的标准化进程落后于</a:t>
                      </a:r>
                      <a:r>
                        <a:rPr lang="en-US" altLang="zh-CN" sz="1400" dirty="0"/>
                        <a:t>IS-IS</a:t>
                      </a:r>
                      <a:r>
                        <a:rPr lang="zh-CN" altLang="en-US" sz="1400" dirty="0"/>
                        <a:t>，并非所有厂家都支持</a:t>
                      </a:r>
                      <a:r>
                        <a:rPr lang="en-US" altLang="zh-CN" sz="1400" dirty="0"/>
                        <a:t>OSPF</a:t>
                      </a:r>
                      <a:r>
                        <a:rPr lang="zh-CN" altLang="en-US" sz="1400" dirty="0"/>
                        <a:t>对于</a:t>
                      </a:r>
                      <a:r>
                        <a:rPr lang="en-US" altLang="zh-CN" sz="1400" dirty="0"/>
                        <a:t>SRv6</a:t>
                      </a:r>
                      <a:r>
                        <a:rPr lang="zh-CN" altLang="en-US" sz="1400" dirty="0"/>
                        <a:t>的扩展。</a:t>
                      </a:r>
                      <a:endParaRPr 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18235310"/>
                  </a:ext>
                </a:extLst>
              </a:tr>
              <a:tr h="585435">
                <a:tc>
                  <a:txBody>
                    <a:bodyPr/>
                    <a:lstStyle/>
                    <a:p>
                      <a:r>
                        <a:rPr lang="en-US" sz="1400" dirty="0"/>
                        <a:t>SR-MPLS</a:t>
                      </a:r>
                      <a:r>
                        <a:rPr lang="zh-CN" altLang="en-US" sz="1400" dirty="0"/>
                        <a:t>支持</a:t>
                      </a:r>
                      <a:endParaRPr 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400" dirty="0"/>
                        <a:t>支持，功能完善。</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zh-CN" altLang="en-US" sz="1400" dirty="0"/>
                        <a:t>支持，功能基本完善。</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09270584"/>
                  </a:ext>
                </a:extLst>
              </a:tr>
            </a:tbl>
          </a:graphicData>
        </a:graphic>
      </p:graphicFrame>
      <p:sp>
        <p:nvSpPr>
          <p:cNvPr id="5" name="五边形 2">
            <a:extLst>
              <a:ext uri="{FF2B5EF4-FFF2-40B4-BE49-F238E27FC236}">
                <a16:creationId xmlns="" xmlns:a16="http://schemas.microsoft.com/office/drawing/2014/main" id="{6E4EFE68-88C6-44E9-A30C-E4B7F930D68D}"/>
              </a:ext>
            </a:extLst>
          </p:cNvPr>
          <p:cNvSpPr/>
          <p:nvPr/>
        </p:nvSpPr>
        <p:spPr bwMode="gray">
          <a:xfrm>
            <a:off x="934746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7" name="燕尾形 3">
            <a:extLst>
              <a:ext uri="{FF2B5EF4-FFF2-40B4-BE49-F238E27FC236}">
                <a16:creationId xmlns="" xmlns:a16="http://schemas.microsoft.com/office/drawing/2014/main" id="{81296FB3-9367-4C5D-95B1-6594557DC45D}"/>
              </a:ext>
            </a:extLst>
          </p:cNvPr>
          <p:cNvSpPr/>
          <p:nvPr/>
        </p:nvSpPr>
        <p:spPr bwMode="gray">
          <a:xfrm>
            <a:off x="1046686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96092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F64A81-F4C5-4862-8AB5-63F7F33F8517}"/>
              </a:ext>
            </a:extLst>
          </p:cNvPr>
          <p:cNvSpPr>
            <a:spLocks noGrp="1"/>
          </p:cNvSpPr>
          <p:nvPr>
            <p:ph type="title"/>
          </p:nvPr>
        </p:nvSpPr>
        <p:spPr bwMode="gray"/>
        <p:txBody>
          <a:bodyPr/>
          <a:lstStyle/>
          <a:p>
            <a:r>
              <a:rPr lang="en-US" dirty="0"/>
              <a:t>IGP</a:t>
            </a:r>
            <a:r>
              <a:rPr lang="zh-CN" altLang="en-US" dirty="0"/>
              <a:t>路由规划</a:t>
            </a:r>
            <a:endParaRPr lang="en-US" dirty="0"/>
          </a:p>
        </p:txBody>
      </p:sp>
      <p:sp>
        <p:nvSpPr>
          <p:cNvPr id="3" name="Text Placeholder 2">
            <a:extLst>
              <a:ext uri="{FF2B5EF4-FFF2-40B4-BE49-F238E27FC236}">
                <a16:creationId xmlns="" xmlns:a16="http://schemas.microsoft.com/office/drawing/2014/main" id="{3535DF7A-A3A1-44B9-9005-B55CA7EFCB71}"/>
              </a:ext>
            </a:extLst>
          </p:cNvPr>
          <p:cNvSpPr>
            <a:spLocks noGrp="1"/>
          </p:cNvSpPr>
          <p:nvPr>
            <p:ph type="body" sz="quarter" idx="10"/>
          </p:nvPr>
        </p:nvSpPr>
        <p:spPr bwMode="gray">
          <a:xfrm>
            <a:off x="455612" y="1047750"/>
            <a:ext cx="11293475" cy="937227"/>
          </a:xfrm>
        </p:spPr>
        <p:txBody>
          <a:bodyPr/>
          <a:lstStyle/>
          <a:p>
            <a:r>
              <a:rPr lang="zh-CN" altLang="en-US" sz="1800" dirty="0"/>
              <a:t>相比</a:t>
            </a:r>
            <a:r>
              <a:rPr lang="en-US" altLang="zh-CN" sz="1800" dirty="0"/>
              <a:t>OSPF</a:t>
            </a:r>
            <a:r>
              <a:rPr lang="zh-CN" altLang="en-US" sz="1800" dirty="0"/>
              <a:t>，</a:t>
            </a:r>
            <a:r>
              <a:rPr lang="en-US" altLang="zh-CN" sz="1800" dirty="0"/>
              <a:t>IS-IS</a:t>
            </a:r>
            <a:r>
              <a:rPr lang="zh-CN" altLang="en-US" sz="1800" dirty="0"/>
              <a:t>对</a:t>
            </a:r>
            <a:r>
              <a:rPr lang="en-US" altLang="zh-CN" sz="1800" dirty="0"/>
              <a:t>SR-MPLS/SRv6</a:t>
            </a:r>
            <a:r>
              <a:rPr lang="zh-CN" altLang="en-US" sz="1800" dirty="0"/>
              <a:t>的支持更加全面、扩展性更好，考虑到企业业务增长可能带来的网络规模扩充，大型企业承载网基本都开始选用</a:t>
            </a:r>
            <a:r>
              <a:rPr lang="en-US" altLang="zh-CN" sz="1800" dirty="0"/>
              <a:t>IS-IS</a:t>
            </a:r>
            <a:r>
              <a:rPr lang="zh-CN" altLang="en-US" sz="1800" dirty="0"/>
              <a:t>，因此建议承载网优先选用</a:t>
            </a:r>
            <a:r>
              <a:rPr lang="en-US" altLang="zh-CN" sz="1800" dirty="0"/>
              <a:t>IS-IS</a:t>
            </a:r>
            <a:r>
              <a:rPr lang="zh-CN" altLang="en-US" sz="1800" dirty="0"/>
              <a:t>作为</a:t>
            </a:r>
            <a:r>
              <a:rPr lang="en-US" altLang="zh-CN" sz="1800" dirty="0"/>
              <a:t>IGP</a:t>
            </a:r>
            <a:r>
              <a:rPr lang="zh-CN" altLang="en-US" sz="1800" dirty="0"/>
              <a:t>路由协议。</a:t>
            </a:r>
            <a:endParaRPr lang="en-US" sz="1800" dirty="0"/>
          </a:p>
        </p:txBody>
      </p:sp>
      <p:sp>
        <p:nvSpPr>
          <p:cNvPr id="4" name="五边形 2">
            <a:extLst>
              <a:ext uri="{FF2B5EF4-FFF2-40B4-BE49-F238E27FC236}">
                <a16:creationId xmlns="" xmlns:a16="http://schemas.microsoft.com/office/drawing/2014/main" id="{1F653708-BCC2-4169-9E92-DC592D575942}"/>
              </a:ext>
            </a:extLst>
          </p:cNvPr>
          <p:cNvSpPr/>
          <p:nvPr/>
        </p:nvSpPr>
        <p:spPr bwMode="gray">
          <a:xfrm>
            <a:off x="934746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5" name="燕尾形 3">
            <a:extLst>
              <a:ext uri="{FF2B5EF4-FFF2-40B4-BE49-F238E27FC236}">
                <a16:creationId xmlns="" xmlns:a16="http://schemas.microsoft.com/office/drawing/2014/main" id="{49EBC908-C743-4CB4-BFBF-79E93F68C1BC}"/>
              </a:ext>
            </a:extLst>
          </p:cNvPr>
          <p:cNvSpPr/>
          <p:nvPr/>
        </p:nvSpPr>
        <p:spPr bwMode="gray">
          <a:xfrm>
            <a:off x="1046686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62">
            <a:extLst>
              <a:ext uri="{FF2B5EF4-FFF2-40B4-BE49-F238E27FC236}">
                <a16:creationId xmlns="" xmlns:a16="http://schemas.microsoft.com/office/drawing/2014/main" id="{1F8CF88C-8F05-49E4-9AE9-6B60B3CE6609}"/>
              </a:ext>
            </a:extLst>
          </p:cNvPr>
          <p:cNvSpPr txBox="1"/>
          <p:nvPr/>
        </p:nvSpPr>
        <p:spPr bwMode="gray">
          <a:xfrm>
            <a:off x="2741178" y="4831090"/>
            <a:ext cx="7991591" cy="393954"/>
          </a:xfrm>
          <a:prstGeom prst="rect">
            <a:avLst/>
          </a:prstGeom>
          <a:noFill/>
          <a:ln>
            <a:noFill/>
          </a:ln>
        </p:spPr>
        <p:txBody>
          <a:bodyPr wrap="square" rtlCol="0">
            <a:spAutoFit/>
          </a:bodyPr>
          <a:lstStyle/>
          <a:p>
            <a:pPr marL="302279" indent="-302279" algn="just" defTabSz="914034" fontAlgn="ctr">
              <a:lnSpc>
                <a:spcPct val="140000"/>
              </a:lnSpc>
              <a:spcBef>
                <a:spcPts val="792"/>
              </a:spcBef>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IS-IS</a:t>
            </a:r>
            <a:r>
              <a:rPr lang="zh-CN"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：全网一个进程，端到端部署</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IS-IS L2</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pic>
        <p:nvPicPr>
          <p:cNvPr id="64" name="图片 48">
            <a:extLst>
              <a:ext uri="{FF2B5EF4-FFF2-40B4-BE49-F238E27FC236}">
                <a16:creationId xmlns="" xmlns:a16="http://schemas.microsoft.com/office/drawing/2014/main" id="{DA811025-FD8A-48A3-822E-A5104A517D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84630" y="2657927"/>
            <a:ext cx="378863" cy="310667"/>
          </a:xfrm>
          <a:prstGeom prst="rect">
            <a:avLst/>
          </a:prstGeom>
        </p:spPr>
      </p:pic>
      <p:pic>
        <p:nvPicPr>
          <p:cNvPr id="65" name="图片 48">
            <a:extLst>
              <a:ext uri="{FF2B5EF4-FFF2-40B4-BE49-F238E27FC236}">
                <a16:creationId xmlns="" xmlns:a16="http://schemas.microsoft.com/office/drawing/2014/main" id="{A056AA32-1D5C-40BC-8D7F-B1E1535A89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84630" y="3670188"/>
            <a:ext cx="378863" cy="310667"/>
          </a:xfrm>
          <a:prstGeom prst="rect">
            <a:avLst/>
          </a:prstGeom>
        </p:spPr>
      </p:pic>
      <p:pic>
        <p:nvPicPr>
          <p:cNvPr id="66" name="图片 48">
            <a:extLst>
              <a:ext uri="{FF2B5EF4-FFF2-40B4-BE49-F238E27FC236}">
                <a16:creationId xmlns="" xmlns:a16="http://schemas.microsoft.com/office/drawing/2014/main" id="{5F142565-58CF-4D4A-9960-CB722D0D67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25442" y="2659607"/>
            <a:ext cx="378863" cy="310667"/>
          </a:xfrm>
          <a:prstGeom prst="rect">
            <a:avLst/>
          </a:prstGeom>
        </p:spPr>
      </p:pic>
      <p:pic>
        <p:nvPicPr>
          <p:cNvPr id="67" name="图片 48">
            <a:extLst>
              <a:ext uri="{FF2B5EF4-FFF2-40B4-BE49-F238E27FC236}">
                <a16:creationId xmlns="" xmlns:a16="http://schemas.microsoft.com/office/drawing/2014/main" id="{CB130D61-9AD5-48DB-BDCE-1E57477DC2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25442" y="3671868"/>
            <a:ext cx="378863" cy="310667"/>
          </a:xfrm>
          <a:prstGeom prst="rect">
            <a:avLst/>
          </a:prstGeom>
        </p:spPr>
      </p:pic>
      <p:pic>
        <p:nvPicPr>
          <p:cNvPr id="68" name="图片 48">
            <a:extLst>
              <a:ext uri="{FF2B5EF4-FFF2-40B4-BE49-F238E27FC236}">
                <a16:creationId xmlns="" xmlns:a16="http://schemas.microsoft.com/office/drawing/2014/main" id="{CCD4553C-BC9D-4FB0-86D7-6BAC9316C2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67884" y="2661287"/>
            <a:ext cx="378863" cy="310667"/>
          </a:xfrm>
          <a:prstGeom prst="rect">
            <a:avLst/>
          </a:prstGeom>
        </p:spPr>
      </p:pic>
      <p:pic>
        <p:nvPicPr>
          <p:cNvPr id="69" name="图片 48">
            <a:extLst>
              <a:ext uri="{FF2B5EF4-FFF2-40B4-BE49-F238E27FC236}">
                <a16:creationId xmlns="" xmlns:a16="http://schemas.microsoft.com/office/drawing/2014/main" id="{72B591A4-58F7-4B7F-9F47-77A3F1B8F6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67884" y="3673548"/>
            <a:ext cx="378863" cy="310667"/>
          </a:xfrm>
          <a:prstGeom prst="rect">
            <a:avLst/>
          </a:prstGeom>
        </p:spPr>
      </p:pic>
      <p:sp>
        <p:nvSpPr>
          <p:cNvPr id="70" name="圆角矩形 75">
            <a:extLst>
              <a:ext uri="{FF2B5EF4-FFF2-40B4-BE49-F238E27FC236}">
                <a16:creationId xmlns="" xmlns:a16="http://schemas.microsoft.com/office/drawing/2014/main" id="{FABCEA1F-4542-4228-9183-6541A9542474}"/>
              </a:ext>
            </a:extLst>
          </p:cNvPr>
          <p:cNvSpPr/>
          <p:nvPr/>
        </p:nvSpPr>
        <p:spPr bwMode="gray">
          <a:xfrm>
            <a:off x="4028998" y="2215814"/>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71" name="Straight Connector 70">
            <a:extLst>
              <a:ext uri="{FF2B5EF4-FFF2-40B4-BE49-F238E27FC236}">
                <a16:creationId xmlns="" xmlns:a16="http://schemas.microsoft.com/office/drawing/2014/main" id="{1E0277DD-39D7-4B2A-BFB5-C2978BEAC74E}"/>
              </a:ext>
            </a:extLst>
          </p:cNvPr>
          <p:cNvCxnSpPr>
            <a:cxnSpLocks/>
            <a:stCxn id="65" idx="0"/>
            <a:endCxn id="64" idx="2"/>
          </p:cNvCxnSpPr>
          <p:nvPr/>
        </p:nvCxnSpPr>
        <p:spPr bwMode="gray">
          <a:xfrm flipV="1">
            <a:off x="4474062" y="2968594"/>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 xmlns:a16="http://schemas.microsoft.com/office/drawing/2014/main" id="{5D92C2DF-DD71-4CF8-9EC9-10295A8F02F5}"/>
              </a:ext>
            </a:extLst>
          </p:cNvPr>
          <p:cNvCxnSpPr>
            <a:cxnSpLocks/>
            <a:stCxn id="66" idx="1"/>
            <a:endCxn id="64" idx="3"/>
          </p:cNvCxnSpPr>
          <p:nvPr/>
        </p:nvCxnSpPr>
        <p:spPr bwMode="gray">
          <a:xfrm flipH="1" flipV="1">
            <a:off x="4663493" y="2813261"/>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 xmlns:a16="http://schemas.microsoft.com/office/drawing/2014/main" id="{A3A90B63-6A23-42B2-B1E1-23956D9333A9}"/>
              </a:ext>
            </a:extLst>
          </p:cNvPr>
          <p:cNvCxnSpPr>
            <a:cxnSpLocks/>
            <a:stCxn id="68" idx="1"/>
            <a:endCxn id="66" idx="3"/>
          </p:cNvCxnSpPr>
          <p:nvPr/>
        </p:nvCxnSpPr>
        <p:spPr bwMode="gray">
          <a:xfrm flipH="1" flipV="1">
            <a:off x="6304305" y="2814941"/>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 xmlns:a16="http://schemas.microsoft.com/office/drawing/2014/main" id="{04054A22-46DA-4E70-9489-1307D57A830B}"/>
              </a:ext>
            </a:extLst>
          </p:cNvPr>
          <p:cNvCxnSpPr>
            <a:cxnSpLocks/>
            <a:stCxn id="69" idx="1"/>
            <a:endCxn id="67" idx="3"/>
          </p:cNvCxnSpPr>
          <p:nvPr/>
        </p:nvCxnSpPr>
        <p:spPr bwMode="gray">
          <a:xfrm flipH="1" flipV="1">
            <a:off x="6304305" y="3827202"/>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 xmlns:a16="http://schemas.microsoft.com/office/drawing/2014/main" id="{0AFE8540-4C8A-4E8F-A304-01A1AB42EEF5}"/>
              </a:ext>
            </a:extLst>
          </p:cNvPr>
          <p:cNvCxnSpPr>
            <a:cxnSpLocks/>
            <a:stCxn id="67" idx="1"/>
            <a:endCxn id="65" idx="3"/>
          </p:cNvCxnSpPr>
          <p:nvPr/>
        </p:nvCxnSpPr>
        <p:spPr bwMode="gray">
          <a:xfrm flipH="1" flipV="1">
            <a:off x="4663493" y="3825522"/>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 xmlns:a16="http://schemas.microsoft.com/office/drawing/2014/main" id="{FEAF3CD5-2B93-46CF-B41E-DEB7F1BB4EB7}"/>
              </a:ext>
            </a:extLst>
          </p:cNvPr>
          <p:cNvCxnSpPr>
            <a:cxnSpLocks/>
            <a:stCxn id="67" idx="0"/>
            <a:endCxn id="66" idx="2"/>
          </p:cNvCxnSpPr>
          <p:nvPr/>
        </p:nvCxnSpPr>
        <p:spPr bwMode="gray">
          <a:xfrm flipV="1">
            <a:off x="6114874" y="2970274"/>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 xmlns:a16="http://schemas.microsoft.com/office/drawing/2014/main" id="{062D56C3-B11F-4563-A603-F7FB0042F1F3}"/>
              </a:ext>
            </a:extLst>
          </p:cNvPr>
          <p:cNvCxnSpPr>
            <a:cxnSpLocks/>
            <a:stCxn id="69" idx="0"/>
            <a:endCxn id="68" idx="2"/>
          </p:cNvCxnSpPr>
          <p:nvPr/>
        </p:nvCxnSpPr>
        <p:spPr bwMode="gray">
          <a:xfrm flipV="1">
            <a:off x="7757316" y="2971954"/>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 xmlns:a16="http://schemas.microsoft.com/office/drawing/2014/main" id="{5E0FEDC2-DCFD-4A82-8AB9-384D2318B31E}"/>
              </a:ext>
            </a:extLst>
          </p:cNvPr>
          <p:cNvCxnSpPr>
            <a:cxnSpLocks/>
            <a:stCxn id="79" idx="3"/>
            <a:endCxn id="64" idx="1"/>
          </p:cNvCxnSpPr>
          <p:nvPr/>
        </p:nvCxnSpPr>
        <p:spPr bwMode="gray">
          <a:xfrm>
            <a:off x="3368228" y="2813260"/>
            <a:ext cx="91640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9" name="图片 48">
            <a:extLst>
              <a:ext uri="{FF2B5EF4-FFF2-40B4-BE49-F238E27FC236}">
                <a16:creationId xmlns="" xmlns:a16="http://schemas.microsoft.com/office/drawing/2014/main" id="{A8984756-345A-4757-A74A-EAFCA8F291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9365" y="2657926"/>
            <a:ext cx="378863" cy="310667"/>
          </a:xfrm>
          <a:prstGeom prst="rect">
            <a:avLst/>
          </a:prstGeom>
        </p:spPr>
      </p:pic>
      <p:pic>
        <p:nvPicPr>
          <p:cNvPr id="80" name="图片 48">
            <a:extLst>
              <a:ext uri="{FF2B5EF4-FFF2-40B4-BE49-F238E27FC236}">
                <a16:creationId xmlns="" xmlns:a16="http://schemas.microsoft.com/office/drawing/2014/main" id="{16600278-7E5F-450E-95CA-FAD9B76092A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9365" y="3671986"/>
            <a:ext cx="378863" cy="310667"/>
          </a:xfrm>
          <a:prstGeom prst="rect">
            <a:avLst/>
          </a:prstGeom>
        </p:spPr>
      </p:pic>
      <p:cxnSp>
        <p:nvCxnSpPr>
          <p:cNvPr id="81" name="Straight Connector 80">
            <a:extLst>
              <a:ext uri="{FF2B5EF4-FFF2-40B4-BE49-F238E27FC236}">
                <a16:creationId xmlns="" xmlns:a16="http://schemas.microsoft.com/office/drawing/2014/main" id="{40BDBBCF-7971-4B6E-BF8B-7C3A4EAF16B7}"/>
              </a:ext>
            </a:extLst>
          </p:cNvPr>
          <p:cNvCxnSpPr>
            <a:cxnSpLocks/>
            <a:stCxn id="80" idx="3"/>
            <a:endCxn id="65" idx="1"/>
          </p:cNvCxnSpPr>
          <p:nvPr/>
        </p:nvCxnSpPr>
        <p:spPr bwMode="gray">
          <a:xfrm flipV="1">
            <a:off x="3368228" y="3825522"/>
            <a:ext cx="91640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2" name="图片 48">
            <a:extLst>
              <a:ext uri="{FF2B5EF4-FFF2-40B4-BE49-F238E27FC236}">
                <a16:creationId xmlns="" xmlns:a16="http://schemas.microsoft.com/office/drawing/2014/main" id="{A8D91D58-E501-4EE9-BCDC-4ED34697BA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45145" y="2661287"/>
            <a:ext cx="378863" cy="310667"/>
          </a:xfrm>
          <a:prstGeom prst="rect">
            <a:avLst/>
          </a:prstGeom>
        </p:spPr>
      </p:pic>
      <p:pic>
        <p:nvPicPr>
          <p:cNvPr id="83" name="图片 48">
            <a:extLst>
              <a:ext uri="{FF2B5EF4-FFF2-40B4-BE49-F238E27FC236}">
                <a16:creationId xmlns="" xmlns:a16="http://schemas.microsoft.com/office/drawing/2014/main" id="{559C816F-FF07-420E-B390-1757CB5A7B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45145" y="3675347"/>
            <a:ext cx="378863" cy="310667"/>
          </a:xfrm>
          <a:prstGeom prst="rect">
            <a:avLst/>
          </a:prstGeom>
        </p:spPr>
      </p:pic>
      <p:cxnSp>
        <p:nvCxnSpPr>
          <p:cNvPr id="84" name="Straight Connector 83">
            <a:extLst>
              <a:ext uri="{FF2B5EF4-FFF2-40B4-BE49-F238E27FC236}">
                <a16:creationId xmlns="" xmlns:a16="http://schemas.microsoft.com/office/drawing/2014/main" id="{CC3A336B-B2F7-4CBB-964A-8AC6D2AA7D78}"/>
              </a:ext>
            </a:extLst>
          </p:cNvPr>
          <p:cNvCxnSpPr>
            <a:cxnSpLocks/>
            <a:stCxn id="69" idx="3"/>
            <a:endCxn id="83" idx="1"/>
          </p:cNvCxnSpPr>
          <p:nvPr/>
        </p:nvCxnSpPr>
        <p:spPr bwMode="gray">
          <a:xfrm>
            <a:off x="7946747" y="3828882"/>
            <a:ext cx="79839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 xmlns:a16="http://schemas.microsoft.com/office/drawing/2014/main" id="{A5C113E6-8B8C-48F2-BBBC-1B2A111122AF}"/>
              </a:ext>
            </a:extLst>
          </p:cNvPr>
          <p:cNvCxnSpPr>
            <a:cxnSpLocks/>
            <a:stCxn id="68" idx="3"/>
            <a:endCxn id="82" idx="1"/>
          </p:cNvCxnSpPr>
          <p:nvPr/>
        </p:nvCxnSpPr>
        <p:spPr bwMode="gray">
          <a:xfrm>
            <a:off x="7946747" y="2816621"/>
            <a:ext cx="798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6" name="TextBox 271">
            <a:extLst>
              <a:ext uri="{FF2B5EF4-FFF2-40B4-BE49-F238E27FC236}">
                <a16:creationId xmlns="" xmlns:a16="http://schemas.microsoft.com/office/drawing/2014/main" id="{6BA5D632-7C3F-43B5-801E-3BA661108C42}"/>
              </a:ext>
            </a:extLst>
          </p:cNvPr>
          <p:cNvSpPr txBox="1"/>
          <p:nvPr/>
        </p:nvSpPr>
        <p:spPr bwMode="gray">
          <a:xfrm>
            <a:off x="4295382" y="244840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271">
            <a:extLst>
              <a:ext uri="{FF2B5EF4-FFF2-40B4-BE49-F238E27FC236}">
                <a16:creationId xmlns="" xmlns:a16="http://schemas.microsoft.com/office/drawing/2014/main" id="{B3EB438C-720A-4488-BD52-CB2C2A6564F1}"/>
              </a:ext>
            </a:extLst>
          </p:cNvPr>
          <p:cNvSpPr txBox="1"/>
          <p:nvPr/>
        </p:nvSpPr>
        <p:spPr bwMode="gray">
          <a:xfrm>
            <a:off x="4295382" y="3941322"/>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271">
            <a:extLst>
              <a:ext uri="{FF2B5EF4-FFF2-40B4-BE49-F238E27FC236}">
                <a16:creationId xmlns="" xmlns:a16="http://schemas.microsoft.com/office/drawing/2014/main" id="{867A5BE3-5C6C-4773-BE44-13E5DFEC47FC}"/>
              </a:ext>
            </a:extLst>
          </p:cNvPr>
          <p:cNvSpPr txBox="1"/>
          <p:nvPr/>
        </p:nvSpPr>
        <p:spPr bwMode="gray">
          <a:xfrm>
            <a:off x="7585342" y="394132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271">
            <a:extLst>
              <a:ext uri="{FF2B5EF4-FFF2-40B4-BE49-F238E27FC236}">
                <a16:creationId xmlns="" xmlns:a16="http://schemas.microsoft.com/office/drawing/2014/main" id="{D31AF91B-6B41-42B4-AA51-525C09D532B1}"/>
              </a:ext>
            </a:extLst>
          </p:cNvPr>
          <p:cNvSpPr txBox="1"/>
          <p:nvPr/>
        </p:nvSpPr>
        <p:spPr bwMode="gray">
          <a:xfrm>
            <a:off x="5827813" y="2440775"/>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271">
            <a:extLst>
              <a:ext uri="{FF2B5EF4-FFF2-40B4-BE49-F238E27FC236}">
                <a16:creationId xmlns="" xmlns:a16="http://schemas.microsoft.com/office/drawing/2014/main" id="{013E29AD-F852-4BD5-AC0E-C64E4829E0DD}"/>
              </a:ext>
            </a:extLst>
          </p:cNvPr>
          <p:cNvSpPr txBox="1"/>
          <p:nvPr/>
        </p:nvSpPr>
        <p:spPr bwMode="gray">
          <a:xfrm>
            <a:off x="5838281" y="3939178"/>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TextBox 271">
            <a:extLst>
              <a:ext uri="{FF2B5EF4-FFF2-40B4-BE49-F238E27FC236}">
                <a16:creationId xmlns="" xmlns:a16="http://schemas.microsoft.com/office/drawing/2014/main" id="{3B86E646-2A9E-4BBB-8859-39EC170373F8}"/>
              </a:ext>
            </a:extLst>
          </p:cNvPr>
          <p:cNvSpPr txBox="1"/>
          <p:nvPr/>
        </p:nvSpPr>
        <p:spPr bwMode="gray">
          <a:xfrm>
            <a:off x="2989364" y="3947200"/>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271">
            <a:extLst>
              <a:ext uri="{FF2B5EF4-FFF2-40B4-BE49-F238E27FC236}">
                <a16:creationId xmlns="" xmlns:a16="http://schemas.microsoft.com/office/drawing/2014/main" id="{C93D704A-3EFA-4054-8F96-F2DBA464D5D6}"/>
              </a:ext>
            </a:extLst>
          </p:cNvPr>
          <p:cNvSpPr txBox="1"/>
          <p:nvPr/>
        </p:nvSpPr>
        <p:spPr bwMode="gray">
          <a:xfrm>
            <a:off x="2989364" y="243919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TextBox 271">
            <a:extLst>
              <a:ext uri="{FF2B5EF4-FFF2-40B4-BE49-F238E27FC236}">
                <a16:creationId xmlns="" xmlns:a16="http://schemas.microsoft.com/office/drawing/2014/main" id="{E9BD9764-845F-4B2D-83F4-E717050A10F1}"/>
              </a:ext>
            </a:extLst>
          </p:cNvPr>
          <p:cNvSpPr txBox="1"/>
          <p:nvPr/>
        </p:nvSpPr>
        <p:spPr bwMode="gray">
          <a:xfrm>
            <a:off x="8740615" y="245378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TextBox 271">
            <a:extLst>
              <a:ext uri="{FF2B5EF4-FFF2-40B4-BE49-F238E27FC236}">
                <a16:creationId xmlns="" xmlns:a16="http://schemas.microsoft.com/office/drawing/2014/main" id="{ABB4C2FD-3EF9-437A-9B5E-22228A5BC157}"/>
              </a:ext>
            </a:extLst>
          </p:cNvPr>
          <p:cNvSpPr txBox="1"/>
          <p:nvPr/>
        </p:nvSpPr>
        <p:spPr bwMode="gray">
          <a:xfrm>
            <a:off x="8740615" y="3947200"/>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TextBox 271">
            <a:extLst>
              <a:ext uri="{FF2B5EF4-FFF2-40B4-BE49-F238E27FC236}">
                <a16:creationId xmlns="" xmlns:a16="http://schemas.microsoft.com/office/drawing/2014/main" id="{CD6379D9-4696-4BB2-B795-4C43FCE7DBD0}"/>
              </a:ext>
            </a:extLst>
          </p:cNvPr>
          <p:cNvSpPr txBox="1"/>
          <p:nvPr/>
        </p:nvSpPr>
        <p:spPr bwMode="gray">
          <a:xfrm>
            <a:off x="7574515" y="2437909"/>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271">
            <a:extLst>
              <a:ext uri="{FF2B5EF4-FFF2-40B4-BE49-F238E27FC236}">
                <a16:creationId xmlns="" xmlns:a16="http://schemas.microsoft.com/office/drawing/2014/main" id="{68766A44-E9E0-4019-8F8F-245C14477E0F}"/>
              </a:ext>
            </a:extLst>
          </p:cNvPr>
          <p:cNvSpPr txBox="1"/>
          <p:nvPr/>
        </p:nvSpPr>
        <p:spPr bwMode="gray">
          <a:xfrm>
            <a:off x="4112424" y="4225490"/>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cxnSp>
        <p:nvCxnSpPr>
          <p:cNvPr id="97" name="直接箭头连接符 84">
            <a:extLst>
              <a:ext uri="{FF2B5EF4-FFF2-40B4-BE49-F238E27FC236}">
                <a16:creationId xmlns="" xmlns:a16="http://schemas.microsoft.com/office/drawing/2014/main" id="{B915B836-0222-474F-B97F-007FC003F3A3}"/>
              </a:ext>
            </a:extLst>
          </p:cNvPr>
          <p:cNvCxnSpPr>
            <a:cxnSpLocks/>
          </p:cNvCxnSpPr>
          <p:nvPr/>
        </p:nvCxnSpPr>
        <p:spPr bwMode="gray">
          <a:xfrm flipH="1">
            <a:off x="4695502" y="2889741"/>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8" name="直接箭头连接符 84">
            <a:extLst>
              <a:ext uri="{FF2B5EF4-FFF2-40B4-BE49-F238E27FC236}">
                <a16:creationId xmlns="" xmlns:a16="http://schemas.microsoft.com/office/drawing/2014/main" id="{4E9B8ECD-BCDF-4925-9922-F684F43183BD}"/>
              </a:ext>
            </a:extLst>
          </p:cNvPr>
          <p:cNvCxnSpPr>
            <a:cxnSpLocks/>
          </p:cNvCxnSpPr>
          <p:nvPr/>
        </p:nvCxnSpPr>
        <p:spPr bwMode="gray">
          <a:xfrm flipH="1">
            <a:off x="6336315" y="2889741"/>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9" name="直接箭头连接符 84">
            <a:extLst>
              <a:ext uri="{FF2B5EF4-FFF2-40B4-BE49-F238E27FC236}">
                <a16:creationId xmlns="" xmlns:a16="http://schemas.microsoft.com/office/drawing/2014/main" id="{029A0AA3-5C7C-4D70-B80D-D287CBBEA6DD}"/>
              </a:ext>
            </a:extLst>
          </p:cNvPr>
          <p:cNvCxnSpPr>
            <a:cxnSpLocks/>
          </p:cNvCxnSpPr>
          <p:nvPr/>
        </p:nvCxnSpPr>
        <p:spPr bwMode="gray">
          <a:xfrm flipH="1">
            <a:off x="4689488" y="3746822"/>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0" name="直接箭头连接符 84">
            <a:extLst>
              <a:ext uri="{FF2B5EF4-FFF2-40B4-BE49-F238E27FC236}">
                <a16:creationId xmlns="" xmlns:a16="http://schemas.microsoft.com/office/drawing/2014/main" id="{BCFBAA79-F9A7-484F-A63A-8AAFFFA701ED}"/>
              </a:ext>
            </a:extLst>
          </p:cNvPr>
          <p:cNvCxnSpPr>
            <a:cxnSpLocks/>
          </p:cNvCxnSpPr>
          <p:nvPr/>
        </p:nvCxnSpPr>
        <p:spPr bwMode="gray">
          <a:xfrm flipH="1">
            <a:off x="6330301" y="3746822"/>
            <a:ext cx="1197930" cy="2067"/>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1" name="直接箭头连接符 84">
            <a:extLst>
              <a:ext uri="{FF2B5EF4-FFF2-40B4-BE49-F238E27FC236}">
                <a16:creationId xmlns="" xmlns:a16="http://schemas.microsoft.com/office/drawing/2014/main" id="{F73BFA03-B768-41A1-846D-C34F3FD66872}"/>
              </a:ext>
            </a:extLst>
          </p:cNvPr>
          <p:cNvCxnSpPr>
            <a:cxnSpLocks/>
          </p:cNvCxnSpPr>
          <p:nvPr/>
        </p:nvCxnSpPr>
        <p:spPr bwMode="gray">
          <a:xfrm flipV="1">
            <a:off x="4586250" y="2998695"/>
            <a:ext cx="0" cy="624776"/>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2" name="直接箭头连接符 84">
            <a:extLst>
              <a:ext uri="{FF2B5EF4-FFF2-40B4-BE49-F238E27FC236}">
                <a16:creationId xmlns="" xmlns:a16="http://schemas.microsoft.com/office/drawing/2014/main" id="{9BF24D8C-4231-4BAF-9A00-3E2C7C0834AD}"/>
              </a:ext>
            </a:extLst>
          </p:cNvPr>
          <p:cNvCxnSpPr>
            <a:cxnSpLocks/>
          </p:cNvCxnSpPr>
          <p:nvPr/>
        </p:nvCxnSpPr>
        <p:spPr bwMode="gray">
          <a:xfrm flipV="1">
            <a:off x="6029288" y="3007003"/>
            <a:ext cx="0" cy="624776"/>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3" name="直接箭头连接符 84">
            <a:extLst>
              <a:ext uri="{FF2B5EF4-FFF2-40B4-BE49-F238E27FC236}">
                <a16:creationId xmlns="" xmlns:a16="http://schemas.microsoft.com/office/drawing/2014/main" id="{A131EC22-FA9A-4366-89DA-F92BA3C431E8}"/>
              </a:ext>
            </a:extLst>
          </p:cNvPr>
          <p:cNvCxnSpPr>
            <a:cxnSpLocks/>
          </p:cNvCxnSpPr>
          <p:nvPr/>
        </p:nvCxnSpPr>
        <p:spPr bwMode="gray">
          <a:xfrm flipV="1">
            <a:off x="7662826" y="3007003"/>
            <a:ext cx="0" cy="624776"/>
          </a:xfrm>
          <a:prstGeom prst="straightConnector1">
            <a:avLst/>
          </a:prstGeom>
          <a:ln w="19050" cap="flat" cmpd="sng" algn="ctr">
            <a:solidFill>
              <a:srgbClr val="81C15F"/>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04" name="TextBox 271">
            <a:extLst>
              <a:ext uri="{FF2B5EF4-FFF2-40B4-BE49-F238E27FC236}">
                <a16:creationId xmlns="" xmlns:a16="http://schemas.microsoft.com/office/drawing/2014/main" id="{5D7B0D06-5EE4-4D81-826C-4EE3C3DC0D9C}"/>
              </a:ext>
            </a:extLst>
          </p:cNvPr>
          <p:cNvSpPr txBox="1"/>
          <p:nvPr/>
        </p:nvSpPr>
        <p:spPr bwMode="gray">
          <a:xfrm>
            <a:off x="4908865" y="3053627"/>
            <a:ext cx="659018" cy="523220"/>
          </a:xfrm>
          <a:prstGeom prst="rect">
            <a:avLst/>
          </a:prstGeom>
          <a:noFill/>
        </p:spPr>
        <p:txBody>
          <a:bodyPr wrap="square" rtlCol="0">
            <a:spAutoFit/>
          </a:bodyPr>
          <a:lstStyle/>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IS-IS</a:t>
            </a:r>
          </a:p>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L2</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271">
            <a:extLst>
              <a:ext uri="{FF2B5EF4-FFF2-40B4-BE49-F238E27FC236}">
                <a16:creationId xmlns="" xmlns:a16="http://schemas.microsoft.com/office/drawing/2014/main" id="{8FDB6576-CE3B-4669-8894-91A3317AB5BB}"/>
              </a:ext>
            </a:extLst>
          </p:cNvPr>
          <p:cNvSpPr txBox="1"/>
          <p:nvPr/>
        </p:nvSpPr>
        <p:spPr bwMode="gray">
          <a:xfrm>
            <a:off x="6657551" y="3042036"/>
            <a:ext cx="567469" cy="523220"/>
          </a:xfrm>
          <a:prstGeom prst="rect">
            <a:avLst/>
          </a:prstGeom>
          <a:noFill/>
        </p:spPr>
        <p:txBody>
          <a:bodyPr wrap="square" rtlCol="0">
            <a:spAutoFit/>
          </a:bodyPr>
          <a:lstStyle/>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IS-IS</a:t>
            </a:r>
          </a:p>
          <a:p>
            <a:pPr algn="ctr">
              <a:buFont typeface="Wingdings" pitchFamily="2" charset="2"/>
              <a:buNone/>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L2</a:t>
            </a:r>
            <a:endPar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12101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E24294-59B0-4E0D-BD03-917CDDBC6CD1}"/>
              </a:ext>
            </a:extLst>
          </p:cNvPr>
          <p:cNvSpPr>
            <a:spLocks noGrp="1"/>
          </p:cNvSpPr>
          <p:nvPr>
            <p:ph type="title"/>
          </p:nvPr>
        </p:nvSpPr>
        <p:spPr bwMode="gray"/>
        <p:txBody>
          <a:bodyPr/>
          <a:lstStyle/>
          <a:p>
            <a:r>
              <a:rPr lang="en-US" dirty="0"/>
              <a:t>IGP</a:t>
            </a:r>
            <a:r>
              <a:rPr lang="zh-CN" altLang="en-US" dirty="0"/>
              <a:t> </a:t>
            </a:r>
            <a:r>
              <a:rPr lang="en-US" altLang="zh-CN" dirty="0"/>
              <a:t>Metric</a:t>
            </a:r>
            <a:r>
              <a:rPr lang="zh-CN" altLang="en-US" dirty="0"/>
              <a:t>规划</a:t>
            </a:r>
            <a:endParaRPr lang="en-US" dirty="0"/>
          </a:p>
        </p:txBody>
      </p:sp>
      <p:sp>
        <p:nvSpPr>
          <p:cNvPr id="3" name="Text Placeholder 2">
            <a:extLst>
              <a:ext uri="{FF2B5EF4-FFF2-40B4-BE49-F238E27FC236}">
                <a16:creationId xmlns="" xmlns:a16="http://schemas.microsoft.com/office/drawing/2014/main" id="{EEFAA08A-72DC-4975-B210-13340ADA32A4}"/>
              </a:ext>
            </a:extLst>
          </p:cNvPr>
          <p:cNvSpPr>
            <a:spLocks noGrp="1"/>
          </p:cNvSpPr>
          <p:nvPr>
            <p:ph type="body" sz="quarter" idx="10"/>
          </p:nvPr>
        </p:nvSpPr>
        <p:spPr bwMode="gray"/>
        <p:txBody>
          <a:bodyPr/>
          <a:lstStyle/>
          <a:p>
            <a:r>
              <a:rPr lang="zh-CN" altLang="en-US" sz="1800" dirty="0"/>
              <a:t>承载网在部署</a:t>
            </a:r>
            <a:r>
              <a:rPr lang="en-US" altLang="zh-CN" sz="1800" dirty="0"/>
              <a:t>IGP</a:t>
            </a:r>
            <a:r>
              <a:rPr lang="zh-CN" altLang="en-US" sz="1800" dirty="0"/>
              <a:t>时需考虑合理规划路由</a:t>
            </a:r>
            <a:r>
              <a:rPr lang="en-US" altLang="zh-CN" sz="1800" dirty="0"/>
              <a:t>Metric</a:t>
            </a:r>
            <a:r>
              <a:rPr lang="zh-CN" altLang="en-US" sz="1800" dirty="0"/>
              <a:t>，使承载网不同业务流量充分利用带宽，提高业务质量，同时充分保障业务的可靠性。</a:t>
            </a:r>
            <a:endParaRPr lang="en-US" altLang="zh-CN" sz="1800" dirty="0"/>
          </a:p>
          <a:p>
            <a:r>
              <a:rPr lang="en-US" sz="1800" dirty="0"/>
              <a:t>IGP Metric</a:t>
            </a:r>
            <a:r>
              <a:rPr lang="zh-CN" altLang="en-US" sz="1800" dirty="0"/>
              <a:t>设计原则：</a:t>
            </a:r>
            <a:endParaRPr lang="en-US" altLang="zh-CN" sz="1800" dirty="0"/>
          </a:p>
          <a:p>
            <a:pPr lvl="1"/>
            <a:r>
              <a:rPr lang="zh-CN" altLang="en-US" sz="1600" dirty="0"/>
              <a:t>接入层链路</a:t>
            </a:r>
            <a:r>
              <a:rPr lang="en-US" altLang="zh-CN" sz="1600" dirty="0"/>
              <a:t>Metric</a:t>
            </a:r>
            <a:r>
              <a:rPr lang="zh-CN" altLang="en-US" sz="1600" dirty="0"/>
              <a:t>优于汇聚层链路。</a:t>
            </a:r>
            <a:endParaRPr lang="en-US" altLang="zh-CN" sz="1600" dirty="0"/>
          </a:p>
          <a:p>
            <a:pPr lvl="1"/>
            <a:r>
              <a:rPr lang="zh-CN" altLang="en-US" sz="1600" dirty="0"/>
              <a:t>汇聚层链路</a:t>
            </a:r>
            <a:r>
              <a:rPr lang="en-US" altLang="zh-CN" sz="1600" dirty="0"/>
              <a:t>Metric</a:t>
            </a:r>
            <a:r>
              <a:rPr lang="zh-CN" altLang="en-US" sz="1600" dirty="0"/>
              <a:t>优于核心层链路。</a:t>
            </a:r>
          </a:p>
          <a:p>
            <a:pPr lvl="1"/>
            <a:r>
              <a:rPr lang="zh-CN" altLang="en-US" sz="1600" dirty="0"/>
              <a:t>数据中心之间的链路</a:t>
            </a:r>
            <a:r>
              <a:rPr lang="en-US" altLang="zh-CN" sz="1600" dirty="0"/>
              <a:t>Metric</a:t>
            </a:r>
            <a:r>
              <a:rPr lang="zh-CN" altLang="en-US" sz="1600" dirty="0"/>
              <a:t>优于分支机构到</a:t>
            </a:r>
            <a:r>
              <a:rPr lang="en-US" altLang="zh-CN" sz="1600" dirty="0"/>
              <a:t>DC</a:t>
            </a:r>
            <a:r>
              <a:rPr lang="zh-CN" altLang="en-US" sz="1600" dirty="0"/>
              <a:t>的广域链路。</a:t>
            </a:r>
            <a:endParaRPr lang="en-US" altLang="zh-CN" sz="1600" dirty="0"/>
          </a:p>
          <a:p>
            <a:pPr lvl="1"/>
            <a:r>
              <a:rPr lang="zh-CN" altLang="en-US" sz="1600" dirty="0"/>
              <a:t>数据中心之间的跨平面流量，优先选择在核心节点跨平面。</a:t>
            </a:r>
          </a:p>
          <a:p>
            <a:pPr lvl="1"/>
            <a:r>
              <a:rPr lang="zh-CN" altLang="en-US" sz="1600" dirty="0"/>
              <a:t>如果部署独立</a:t>
            </a:r>
            <a:r>
              <a:rPr lang="en-US" altLang="zh-CN" sz="1600" dirty="0"/>
              <a:t>RR</a:t>
            </a:r>
            <a:r>
              <a:rPr lang="zh-CN" altLang="en-US" sz="1600" dirty="0"/>
              <a:t>，</a:t>
            </a:r>
            <a:r>
              <a:rPr lang="en-US" altLang="zh-CN" sz="1600" dirty="0"/>
              <a:t>RR</a:t>
            </a:r>
            <a:r>
              <a:rPr lang="zh-CN" altLang="en-US" sz="1600" dirty="0"/>
              <a:t>到核心</a:t>
            </a:r>
            <a:r>
              <a:rPr lang="en-US" altLang="zh-CN" sz="1600" dirty="0"/>
              <a:t>P</a:t>
            </a:r>
            <a:r>
              <a:rPr lang="zh-CN" altLang="en-US" sz="1600" dirty="0"/>
              <a:t>设备的</a:t>
            </a:r>
            <a:r>
              <a:rPr lang="en-US" altLang="zh-CN" sz="1600" dirty="0"/>
              <a:t>metric</a:t>
            </a:r>
            <a:r>
              <a:rPr lang="zh-CN" altLang="en-US" sz="1600" dirty="0"/>
              <a:t>设置最大（</a:t>
            </a:r>
            <a:r>
              <a:rPr lang="en-US" altLang="zh-CN" sz="1600" dirty="0"/>
              <a:t>RR </a:t>
            </a:r>
            <a:r>
              <a:rPr lang="zh-CN" altLang="en-US" sz="1600" dirty="0"/>
              <a:t>只负责反射路由信息，不转发数据）。</a:t>
            </a:r>
          </a:p>
        </p:txBody>
      </p:sp>
      <p:sp>
        <p:nvSpPr>
          <p:cNvPr id="4" name="五边形 2">
            <a:extLst>
              <a:ext uri="{FF2B5EF4-FFF2-40B4-BE49-F238E27FC236}">
                <a16:creationId xmlns="" xmlns:a16="http://schemas.microsoft.com/office/drawing/2014/main" id="{0E25EA14-4B2A-459B-95C8-7BF9E9265EEF}"/>
              </a:ext>
            </a:extLst>
          </p:cNvPr>
          <p:cNvSpPr/>
          <p:nvPr/>
        </p:nvSpPr>
        <p:spPr bwMode="gray">
          <a:xfrm>
            <a:off x="934746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5" name="燕尾形 3">
            <a:extLst>
              <a:ext uri="{FF2B5EF4-FFF2-40B4-BE49-F238E27FC236}">
                <a16:creationId xmlns="" xmlns:a16="http://schemas.microsoft.com/office/drawing/2014/main" id="{5381AA09-9242-437E-AF5E-82BE240C9E0E}"/>
              </a:ext>
            </a:extLst>
          </p:cNvPr>
          <p:cNvSpPr/>
          <p:nvPr/>
        </p:nvSpPr>
        <p:spPr bwMode="gray">
          <a:xfrm>
            <a:off x="1046686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150147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1D5894-3C35-4850-9357-40EA8A875792}"/>
              </a:ext>
            </a:extLst>
          </p:cNvPr>
          <p:cNvSpPr>
            <a:spLocks noGrp="1"/>
          </p:cNvSpPr>
          <p:nvPr>
            <p:ph type="title"/>
          </p:nvPr>
        </p:nvSpPr>
        <p:spPr bwMode="gray"/>
        <p:txBody>
          <a:bodyPr/>
          <a:lstStyle/>
          <a:p>
            <a:r>
              <a:rPr lang="en-US" dirty="0"/>
              <a:t>IGP M</a:t>
            </a:r>
            <a:r>
              <a:rPr lang="en-US" altLang="zh-CN" dirty="0"/>
              <a:t>etric</a:t>
            </a:r>
            <a:r>
              <a:rPr lang="zh-CN" altLang="en-US" dirty="0"/>
              <a:t>规划建议</a:t>
            </a:r>
            <a:endParaRPr lang="en-US" dirty="0"/>
          </a:p>
        </p:txBody>
      </p:sp>
      <p:pic>
        <p:nvPicPr>
          <p:cNvPr id="4" name="图片 48">
            <a:extLst>
              <a:ext uri="{FF2B5EF4-FFF2-40B4-BE49-F238E27FC236}">
                <a16:creationId xmlns="" xmlns:a16="http://schemas.microsoft.com/office/drawing/2014/main" id="{AB9B69F7-844D-45E2-A743-6DAF1A795369}"/>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751385" y="1597951"/>
            <a:ext cx="378863" cy="310667"/>
          </a:xfrm>
          <a:prstGeom prst="rect">
            <a:avLst/>
          </a:prstGeom>
        </p:spPr>
      </p:pic>
      <p:pic>
        <p:nvPicPr>
          <p:cNvPr id="5" name="图片 48">
            <a:extLst>
              <a:ext uri="{FF2B5EF4-FFF2-40B4-BE49-F238E27FC236}">
                <a16:creationId xmlns="" xmlns:a16="http://schemas.microsoft.com/office/drawing/2014/main" id="{0F793B5F-E763-48EA-AF31-8B141DC53CAD}"/>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751385" y="2539588"/>
            <a:ext cx="378863" cy="310667"/>
          </a:xfrm>
          <a:prstGeom prst="rect">
            <a:avLst/>
          </a:prstGeom>
        </p:spPr>
      </p:pic>
      <p:pic>
        <p:nvPicPr>
          <p:cNvPr id="6" name="图片 48">
            <a:extLst>
              <a:ext uri="{FF2B5EF4-FFF2-40B4-BE49-F238E27FC236}">
                <a16:creationId xmlns="" xmlns:a16="http://schemas.microsoft.com/office/drawing/2014/main" id="{97D19F1E-C547-420F-82CC-544034FA06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53640" y="1597951"/>
            <a:ext cx="378863" cy="310667"/>
          </a:xfrm>
          <a:prstGeom prst="rect">
            <a:avLst/>
          </a:prstGeom>
        </p:spPr>
      </p:pic>
      <p:pic>
        <p:nvPicPr>
          <p:cNvPr id="7" name="图片 48">
            <a:extLst>
              <a:ext uri="{FF2B5EF4-FFF2-40B4-BE49-F238E27FC236}">
                <a16:creationId xmlns="" xmlns:a16="http://schemas.microsoft.com/office/drawing/2014/main" id="{FC0DB404-A25C-4259-9116-A9CEE2142A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753640" y="2539587"/>
            <a:ext cx="378863" cy="310667"/>
          </a:xfrm>
          <a:prstGeom prst="rect">
            <a:avLst/>
          </a:prstGeom>
        </p:spPr>
      </p:pic>
      <p:pic>
        <p:nvPicPr>
          <p:cNvPr id="8" name="图片 48">
            <a:extLst>
              <a:ext uri="{FF2B5EF4-FFF2-40B4-BE49-F238E27FC236}">
                <a16:creationId xmlns="" xmlns:a16="http://schemas.microsoft.com/office/drawing/2014/main" id="{8E5BB431-70BB-4783-8BF2-EA1E7D561F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55895" y="1602580"/>
            <a:ext cx="378863" cy="310667"/>
          </a:xfrm>
          <a:prstGeom prst="rect">
            <a:avLst/>
          </a:prstGeom>
        </p:spPr>
      </p:pic>
      <p:pic>
        <p:nvPicPr>
          <p:cNvPr id="9" name="图片 48">
            <a:extLst>
              <a:ext uri="{FF2B5EF4-FFF2-40B4-BE49-F238E27FC236}">
                <a16:creationId xmlns="" xmlns:a16="http://schemas.microsoft.com/office/drawing/2014/main" id="{1F86FF7D-E7B6-4DA5-B79E-2A2C776329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755895" y="2544216"/>
            <a:ext cx="378863" cy="310667"/>
          </a:xfrm>
          <a:prstGeom prst="rect">
            <a:avLst/>
          </a:prstGeom>
        </p:spPr>
      </p:pic>
      <p:pic>
        <p:nvPicPr>
          <p:cNvPr id="10" name="图片 48">
            <a:extLst>
              <a:ext uri="{FF2B5EF4-FFF2-40B4-BE49-F238E27FC236}">
                <a16:creationId xmlns="" xmlns:a16="http://schemas.microsoft.com/office/drawing/2014/main" id="{15CC8D6E-5568-4691-9119-9BF4ADDB2E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6299" y="3724668"/>
            <a:ext cx="378863" cy="310667"/>
          </a:xfrm>
          <a:prstGeom prst="rect">
            <a:avLst/>
          </a:prstGeom>
        </p:spPr>
      </p:pic>
      <p:pic>
        <p:nvPicPr>
          <p:cNvPr id="11" name="图片 48">
            <a:extLst>
              <a:ext uri="{FF2B5EF4-FFF2-40B4-BE49-F238E27FC236}">
                <a16:creationId xmlns="" xmlns:a16="http://schemas.microsoft.com/office/drawing/2014/main" id="{520FDBA8-0050-4EC2-9387-5B018C17B5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6299" y="4666304"/>
            <a:ext cx="378863" cy="310667"/>
          </a:xfrm>
          <a:prstGeom prst="rect">
            <a:avLst/>
          </a:prstGeom>
        </p:spPr>
      </p:pic>
      <p:pic>
        <p:nvPicPr>
          <p:cNvPr id="16" name="图片 48">
            <a:extLst>
              <a:ext uri="{FF2B5EF4-FFF2-40B4-BE49-F238E27FC236}">
                <a16:creationId xmlns="" xmlns:a16="http://schemas.microsoft.com/office/drawing/2014/main" id="{93EEC901-18B6-4B58-A126-7E64F37040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068488" y="1593322"/>
            <a:ext cx="378863" cy="310667"/>
          </a:xfrm>
          <a:prstGeom prst="rect">
            <a:avLst/>
          </a:prstGeom>
        </p:spPr>
      </p:pic>
      <p:pic>
        <p:nvPicPr>
          <p:cNvPr id="17" name="图片 48">
            <a:extLst>
              <a:ext uri="{FF2B5EF4-FFF2-40B4-BE49-F238E27FC236}">
                <a16:creationId xmlns="" xmlns:a16="http://schemas.microsoft.com/office/drawing/2014/main" id="{25F7BFD1-6C23-4918-A684-AC43456CBB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068488" y="2534959"/>
            <a:ext cx="378863" cy="310667"/>
          </a:xfrm>
          <a:prstGeom prst="rect">
            <a:avLst/>
          </a:prstGeom>
        </p:spPr>
      </p:pic>
      <p:pic>
        <p:nvPicPr>
          <p:cNvPr id="18" name="图片 48">
            <a:extLst>
              <a:ext uri="{FF2B5EF4-FFF2-40B4-BE49-F238E27FC236}">
                <a16:creationId xmlns="" xmlns:a16="http://schemas.microsoft.com/office/drawing/2014/main" id="{5588C4A2-E1AD-4654-9FF0-090ECF8887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70743" y="1593322"/>
            <a:ext cx="378863" cy="310667"/>
          </a:xfrm>
          <a:prstGeom prst="rect">
            <a:avLst/>
          </a:prstGeom>
        </p:spPr>
      </p:pic>
      <p:pic>
        <p:nvPicPr>
          <p:cNvPr id="19" name="图片 48">
            <a:extLst>
              <a:ext uri="{FF2B5EF4-FFF2-40B4-BE49-F238E27FC236}">
                <a16:creationId xmlns="" xmlns:a16="http://schemas.microsoft.com/office/drawing/2014/main" id="{06A188B9-A4DA-4B4C-A944-EF6561B9C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70743" y="2534958"/>
            <a:ext cx="378863" cy="310667"/>
          </a:xfrm>
          <a:prstGeom prst="rect">
            <a:avLst/>
          </a:prstGeom>
        </p:spPr>
      </p:pic>
      <p:pic>
        <p:nvPicPr>
          <p:cNvPr id="20" name="图片 48">
            <a:extLst>
              <a:ext uri="{FF2B5EF4-FFF2-40B4-BE49-F238E27FC236}">
                <a16:creationId xmlns="" xmlns:a16="http://schemas.microsoft.com/office/drawing/2014/main" id="{0F497DE0-16BE-4093-948B-DE7E5BFAEE5C}"/>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072998" y="1597951"/>
            <a:ext cx="378863" cy="310667"/>
          </a:xfrm>
          <a:prstGeom prst="rect">
            <a:avLst/>
          </a:prstGeom>
        </p:spPr>
      </p:pic>
      <p:pic>
        <p:nvPicPr>
          <p:cNvPr id="21" name="图片 48">
            <a:extLst>
              <a:ext uri="{FF2B5EF4-FFF2-40B4-BE49-F238E27FC236}">
                <a16:creationId xmlns="" xmlns:a16="http://schemas.microsoft.com/office/drawing/2014/main" id="{40BF9FF3-96A1-4940-A066-301F343B99C6}"/>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072998" y="2539587"/>
            <a:ext cx="378863" cy="310667"/>
          </a:xfrm>
          <a:prstGeom prst="rect">
            <a:avLst/>
          </a:prstGeom>
        </p:spPr>
      </p:pic>
      <p:cxnSp>
        <p:nvCxnSpPr>
          <p:cNvPr id="26" name="Straight Connector 25">
            <a:extLst>
              <a:ext uri="{FF2B5EF4-FFF2-40B4-BE49-F238E27FC236}">
                <a16:creationId xmlns="" xmlns:a16="http://schemas.microsoft.com/office/drawing/2014/main" id="{3274A4AB-37BF-4667-8949-C407B93F7AB0}"/>
              </a:ext>
            </a:extLst>
          </p:cNvPr>
          <p:cNvCxnSpPr>
            <a:cxnSpLocks/>
            <a:stCxn id="6" idx="3"/>
            <a:endCxn id="8" idx="1"/>
          </p:cNvCxnSpPr>
          <p:nvPr/>
        </p:nvCxnSpPr>
        <p:spPr bwMode="gray">
          <a:xfrm>
            <a:off x="4132503" y="1753285"/>
            <a:ext cx="623392" cy="46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963E3CE0-E94A-4A50-9945-43C3144974F4}"/>
              </a:ext>
            </a:extLst>
          </p:cNvPr>
          <p:cNvCxnSpPr>
            <a:cxnSpLocks/>
            <a:stCxn id="7" idx="3"/>
            <a:endCxn id="9" idx="1"/>
          </p:cNvCxnSpPr>
          <p:nvPr/>
        </p:nvCxnSpPr>
        <p:spPr bwMode="gray">
          <a:xfrm>
            <a:off x="4132503" y="2694921"/>
            <a:ext cx="623392" cy="46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F09819A3-B7F5-479C-8ED4-4BD56E35C077}"/>
              </a:ext>
            </a:extLst>
          </p:cNvPr>
          <p:cNvCxnSpPr>
            <a:cxnSpLocks/>
            <a:stCxn id="10" idx="0"/>
            <a:endCxn id="8" idx="2"/>
          </p:cNvCxnSpPr>
          <p:nvPr/>
        </p:nvCxnSpPr>
        <p:spPr bwMode="gray">
          <a:xfrm flipH="1" flipV="1">
            <a:off x="4945327" y="1913247"/>
            <a:ext cx="1160404" cy="181142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50E2CDA8-90CC-49E0-B3CB-3271E2F9FC85}"/>
              </a:ext>
            </a:extLst>
          </p:cNvPr>
          <p:cNvCxnSpPr>
            <a:cxnSpLocks/>
            <a:stCxn id="11" idx="0"/>
            <a:endCxn id="9" idx="2"/>
          </p:cNvCxnSpPr>
          <p:nvPr/>
        </p:nvCxnSpPr>
        <p:spPr bwMode="gray">
          <a:xfrm flipH="1" flipV="1">
            <a:off x="4945327" y="2854883"/>
            <a:ext cx="1160404" cy="181142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264B882B-B36E-46CC-9C9B-3CF98ECB31E2}"/>
              </a:ext>
            </a:extLst>
          </p:cNvPr>
          <p:cNvCxnSpPr>
            <a:cxnSpLocks/>
            <a:stCxn id="10" idx="0"/>
            <a:endCxn id="16" idx="2"/>
          </p:cNvCxnSpPr>
          <p:nvPr/>
        </p:nvCxnSpPr>
        <p:spPr bwMode="gray">
          <a:xfrm flipV="1">
            <a:off x="6105731" y="1903989"/>
            <a:ext cx="1152189" cy="182067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 xmlns:a16="http://schemas.microsoft.com/office/drawing/2014/main" id="{ADF16FF1-FDBC-4C36-920C-E9BD30EDB3C5}"/>
              </a:ext>
            </a:extLst>
          </p:cNvPr>
          <p:cNvCxnSpPr>
            <a:cxnSpLocks/>
            <a:stCxn id="11" idx="0"/>
            <a:endCxn id="17" idx="2"/>
          </p:cNvCxnSpPr>
          <p:nvPr/>
        </p:nvCxnSpPr>
        <p:spPr bwMode="gray">
          <a:xfrm flipV="1">
            <a:off x="6105731" y="2845626"/>
            <a:ext cx="1152189" cy="182067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B5B7AD10-9D68-415A-8E8F-9D635E5CCDC6}"/>
              </a:ext>
            </a:extLst>
          </p:cNvPr>
          <p:cNvCxnSpPr>
            <a:cxnSpLocks/>
            <a:stCxn id="16" idx="3"/>
            <a:endCxn id="18" idx="1"/>
          </p:cNvCxnSpPr>
          <p:nvPr/>
        </p:nvCxnSpPr>
        <p:spPr bwMode="gray">
          <a:xfrm>
            <a:off x="7447351" y="1748656"/>
            <a:ext cx="62339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EC216BD3-4C14-43BE-99A9-EA9E4E726AE6}"/>
              </a:ext>
            </a:extLst>
          </p:cNvPr>
          <p:cNvCxnSpPr>
            <a:cxnSpLocks/>
            <a:stCxn id="17" idx="3"/>
            <a:endCxn id="19" idx="1"/>
          </p:cNvCxnSpPr>
          <p:nvPr/>
        </p:nvCxnSpPr>
        <p:spPr bwMode="gray">
          <a:xfrm flipV="1">
            <a:off x="7447351" y="2690292"/>
            <a:ext cx="62339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929FC88E-DFE1-4AEA-A969-28FDDBADFEEC}"/>
              </a:ext>
            </a:extLst>
          </p:cNvPr>
          <p:cNvCxnSpPr>
            <a:cxnSpLocks/>
            <a:stCxn id="18" idx="3"/>
            <a:endCxn id="20" idx="1"/>
          </p:cNvCxnSpPr>
          <p:nvPr/>
        </p:nvCxnSpPr>
        <p:spPr bwMode="gray">
          <a:xfrm>
            <a:off x="8449606" y="1748656"/>
            <a:ext cx="623392" cy="46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5" name="图片 48">
            <a:extLst>
              <a:ext uri="{FF2B5EF4-FFF2-40B4-BE49-F238E27FC236}">
                <a16:creationId xmlns="" xmlns:a16="http://schemas.microsoft.com/office/drawing/2014/main" id="{27B5B2FC-4FDA-458D-91D5-4762FA6F75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66134" y="4355637"/>
            <a:ext cx="378863" cy="310667"/>
          </a:xfrm>
          <a:prstGeom prst="rect">
            <a:avLst/>
          </a:prstGeom>
        </p:spPr>
      </p:pic>
      <p:pic>
        <p:nvPicPr>
          <p:cNvPr id="56" name="图片 48">
            <a:extLst>
              <a:ext uri="{FF2B5EF4-FFF2-40B4-BE49-F238E27FC236}">
                <a16:creationId xmlns="" xmlns:a16="http://schemas.microsoft.com/office/drawing/2014/main" id="{80177FA3-E424-4B7A-ABAC-CCF0771914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66134" y="5297273"/>
            <a:ext cx="378863" cy="310667"/>
          </a:xfrm>
          <a:prstGeom prst="rect">
            <a:avLst/>
          </a:prstGeom>
        </p:spPr>
      </p:pic>
      <p:pic>
        <p:nvPicPr>
          <p:cNvPr id="57" name="图片 48">
            <a:extLst>
              <a:ext uri="{FF2B5EF4-FFF2-40B4-BE49-F238E27FC236}">
                <a16:creationId xmlns="" xmlns:a16="http://schemas.microsoft.com/office/drawing/2014/main" id="{B6F0478B-2E40-4A3F-920B-61C09909469E}"/>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039914" y="4360266"/>
            <a:ext cx="378863" cy="310667"/>
          </a:xfrm>
          <a:prstGeom prst="rect">
            <a:avLst/>
          </a:prstGeom>
        </p:spPr>
      </p:pic>
      <p:cxnSp>
        <p:nvCxnSpPr>
          <p:cNvPr id="59" name="Straight Connector 58">
            <a:extLst>
              <a:ext uri="{FF2B5EF4-FFF2-40B4-BE49-F238E27FC236}">
                <a16:creationId xmlns="" xmlns:a16="http://schemas.microsoft.com/office/drawing/2014/main" id="{A72D0785-8A28-4691-8C02-FEF890398FF5}"/>
              </a:ext>
            </a:extLst>
          </p:cNvPr>
          <p:cNvCxnSpPr>
            <a:cxnSpLocks/>
            <a:stCxn id="55" idx="3"/>
            <a:endCxn id="57" idx="1"/>
          </p:cNvCxnSpPr>
          <p:nvPr/>
        </p:nvCxnSpPr>
        <p:spPr bwMode="gray">
          <a:xfrm>
            <a:off x="7644997" y="4510971"/>
            <a:ext cx="1394917" cy="46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 xmlns:a16="http://schemas.microsoft.com/office/drawing/2014/main" id="{FBC93C86-CF32-4801-8DFC-A720943F5397}"/>
              </a:ext>
            </a:extLst>
          </p:cNvPr>
          <p:cNvCxnSpPr>
            <a:cxnSpLocks/>
            <a:stCxn id="19" idx="3"/>
            <a:endCxn id="21" idx="1"/>
          </p:cNvCxnSpPr>
          <p:nvPr/>
        </p:nvCxnSpPr>
        <p:spPr bwMode="gray">
          <a:xfrm>
            <a:off x="8449606" y="2690292"/>
            <a:ext cx="623392" cy="46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 xmlns:a16="http://schemas.microsoft.com/office/drawing/2014/main" id="{8CF6964B-40FA-4131-9509-C797CA3817EF}"/>
              </a:ext>
            </a:extLst>
          </p:cNvPr>
          <p:cNvCxnSpPr>
            <a:cxnSpLocks/>
            <a:stCxn id="4" idx="3"/>
            <a:endCxn id="6" idx="1"/>
          </p:cNvCxnSpPr>
          <p:nvPr/>
        </p:nvCxnSpPr>
        <p:spPr bwMode="gray">
          <a:xfrm>
            <a:off x="3130248" y="1753285"/>
            <a:ext cx="62339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 xmlns:a16="http://schemas.microsoft.com/office/drawing/2014/main" id="{FCDFBB2F-164F-433E-BD23-8F8B9D0BF6B0}"/>
              </a:ext>
            </a:extLst>
          </p:cNvPr>
          <p:cNvCxnSpPr>
            <a:cxnSpLocks/>
            <a:stCxn id="5" idx="3"/>
            <a:endCxn id="7" idx="1"/>
          </p:cNvCxnSpPr>
          <p:nvPr/>
        </p:nvCxnSpPr>
        <p:spPr bwMode="gray">
          <a:xfrm flipV="1">
            <a:off x="3130248" y="2694921"/>
            <a:ext cx="62339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 xmlns:a16="http://schemas.microsoft.com/office/drawing/2014/main" id="{F1EF17AE-8A26-493B-9C6F-4EBC250979C4}"/>
              </a:ext>
            </a:extLst>
          </p:cNvPr>
          <p:cNvCxnSpPr>
            <a:cxnSpLocks/>
            <a:stCxn id="10" idx="3"/>
            <a:endCxn id="55" idx="1"/>
          </p:cNvCxnSpPr>
          <p:nvPr/>
        </p:nvCxnSpPr>
        <p:spPr bwMode="gray">
          <a:xfrm>
            <a:off x="6295162" y="3880002"/>
            <a:ext cx="970972"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 xmlns:a16="http://schemas.microsoft.com/office/drawing/2014/main" id="{F46A1BF7-93DF-4554-884C-6ACD50E74F2A}"/>
              </a:ext>
            </a:extLst>
          </p:cNvPr>
          <p:cNvCxnSpPr>
            <a:cxnSpLocks/>
            <a:stCxn id="11" idx="3"/>
            <a:endCxn id="56" idx="1"/>
          </p:cNvCxnSpPr>
          <p:nvPr/>
        </p:nvCxnSpPr>
        <p:spPr bwMode="gray">
          <a:xfrm>
            <a:off x="6295162" y="4821638"/>
            <a:ext cx="970972"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 xmlns:a16="http://schemas.microsoft.com/office/drawing/2014/main" id="{ABFCDDF9-BD5C-4874-A621-C0D7035F8B47}"/>
              </a:ext>
            </a:extLst>
          </p:cNvPr>
          <p:cNvCxnSpPr>
            <a:cxnSpLocks/>
            <a:stCxn id="56" idx="3"/>
            <a:endCxn id="58" idx="1"/>
          </p:cNvCxnSpPr>
          <p:nvPr/>
        </p:nvCxnSpPr>
        <p:spPr bwMode="gray">
          <a:xfrm>
            <a:off x="7644997" y="5452607"/>
            <a:ext cx="1394917" cy="46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2" name="图片 48">
            <a:extLst>
              <a:ext uri="{FF2B5EF4-FFF2-40B4-BE49-F238E27FC236}">
                <a16:creationId xmlns="" xmlns:a16="http://schemas.microsoft.com/office/drawing/2014/main" id="{83545C62-C80A-404D-82C0-792EAA0B7D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588026" y="2034170"/>
            <a:ext cx="378863" cy="310667"/>
          </a:xfrm>
          <a:prstGeom prst="rect">
            <a:avLst/>
          </a:prstGeom>
        </p:spPr>
      </p:pic>
      <p:cxnSp>
        <p:nvCxnSpPr>
          <p:cNvPr id="83" name="Straight Connector 82">
            <a:extLst>
              <a:ext uri="{FF2B5EF4-FFF2-40B4-BE49-F238E27FC236}">
                <a16:creationId xmlns="" xmlns:a16="http://schemas.microsoft.com/office/drawing/2014/main" id="{B01014EE-BE1F-436C-BEFD-50D01BC2BD25}"/>
              </a:ext>
            </a:extLst>
          </p:cNvPr>
          <p:cNvCxnSpPr>
            <a:cxnSpLocks/>
            <a:stCxn id="82" idx="0"/>
            <a:endCxn id="8" idx="3"/>
          </p:cNvCxnSpPr>
          <p:nvPr/>
        </p:nvCxnSpPr>
        <p:spPr bwMode="gray">
          <a:xfrm flipH="1" flipV="1">
            <a:off x="5134758" y="1757914"/>
            <a:ext cx="642700" cy="2762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 xmlns:a16="http://schemas.microsoft.com/office/drawing/2014/main" id="{D975BBAF-E772-4413-B5B0-B97D4BACB13F}"/>
              </a:ext>
            </a:extLst>
          </p:cNvPr>
          <p:cNvCxnSpPr>
            <a:cxnSpLocks/>
            <a:stCxn id="82" idx="2"/>
            <a:endCxn id="9" idx="3"/>
          </p:cNvCxnSpPr>
          <p:nvPr/>
        </p:nvCxnSpPr>
        <p:spPr bwMode="gray">
          <a:xfrm flipH="1">
            <a:off x="5134758" y="2344837"/>
            <a:ext cx="642700" cy="354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4E8D55FF-8017-44CB-9C74-D9D05B513DAE}"/>
              </a:ext>
            </a:extLst>
          </p:cNvPr>
          <p:cNvCxnSpPr>
            <a:cxnSpLocks/>
            <a:stCxn id="8" idx="2"/>
            <a:endCxn id="9" idx="0"/>
          </p:cNvCxnSpPr>
          <p:nvPr/>
        </p:nvCxnSpPr>
        <p:spPr bwMode="gray">
          <a:xfrm>
            <a:off x="4945327" y="1913247"/>
            <a:ext cx="0"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066647D1-64B6-4B2C-A828-37216964AB02}"/>
              </a:ext>
            </a:extLst>
          </p:cNvPr>
          <p:cNvCxnSpPr>
            <a:cxnSpLocks/>
            <a:stCxn id="6" idx="2"/>
            <a:endCxn id="7" idx="0"/>
          </p:cNvCxnSpPr>
          <p:nvPr/>
        </p:nvCxnSpPr>
        <p:spPr bwMode="gray">
          <a:xfrm>
            <a:off x="3943072" y="1908618"/>
            <a:ext cx="0"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5" name="图片 48">
            <a:extLst>
              <a:ext uri="{FF2B5EF4-FFF2-40B4-BE49-F238E27FC236}">
                <a16:creationId xmlns="" xmlns:a16="http://schemas.microsoft.com/office/drawing/2014/main" id="{596397C6-28CB-45C9-A3A7-96304848AB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246148" y="2034170"/>
            <a:ext cx="378863" cy="310667"/>
          </a:xfrm>
          <a:prstGeom prst="rect">
            <a:avLst/>
          </a:prstGeom>
        </p:spPr>
      </p:pic>
      <p:cxnSp>
        <p:nvCxnSpPr>
          <p:cNvPr id="106" name="Straight Connector 105">
            <a:extLst>
              <a:ext uri="{FF2B5EF4-FFF2-40B4-BE49-F238E27FC236}">
                <a16:creationId xmlns="" xmlns:a16="http://schemas.microsoft.com/office/drawing/2014/main" id="{7AC4CE2D-3FAE-4967-9500-F78C60D13F7B}"/>
              </a:ext>
            </a:extLst>
          </p:cNvPr>
          <p:cNvCxnSpPr>
            <a:cxnSpLocks/>
            <a:stCxn id="105" idx="0"/>
            <a:endCxn id="16" idx="1"/>
          </p:cNvCxnSpPr>
          <p:nvPr/>
        </p:nvCxnSpPr>
        <p:spPr bwMode="gray">
          <a:xfrm flipV="1">
            <a:off x="6435580" y="1748656"/>
            <a:ext cx="632908" cy="285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 xmlns:a16="http://schemas.microsoft.com/office/drawing/2014/main" id="{9A134D63-91AA-4393-9650-B1E70FBBE961}"/>
              </a:ext>
            </a:extLst>
          </p:cNvPr>
          <p:cNvCxnSpPr>
            <a:cxnSpLocks/>
            <a:stCxn id="105" idx="2"/>
            <a:endCxn id="17" idx="1"/>
          </p:cNvCxnSpPr>
          <p:nvPr/>
        </p:nvCxnSpPr>
        <p:spPr bwMode="gray">
          <a:xfrm>
            <a:off x="6435580" y="2344837"/>
            <a:ext cx="632908" cy="3454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19" name="图片 48">
            <a:extLst>
              <a:ext uri="{FF2B5EF4-FFF2-40B4-BE49-F238E27FC236}">
                <a16:creationId xmlns="" xmlns:a16="http://schemas.microsoft.com/office/drawing/2014/main" id="{BAB0CA89-E2D1-4075-814E-15F6E2BA33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899080" y="4178102"/>
            <a:ext cx="378863" cy="310667"/>
          </a:xfrm>
          <a:prstGeom prst="rect">
            <a:avLst/>
          </a:prstGeom>
        </p:spPr>
      </p:pic>
      <p:cxnSp>
        <p:nvCxnSpPr>
          <p:cNvPr id="120" name="Straight Connector 119">
            <a:extLst>
              <a:ext uri="{FF2B5EF4-FFF2-40B4-BE49-F238E27FC236}">
                <a16:creationId xmlns="" xmlns:a16="http://schemas.microsoft.com/office/drawing/2014/main" id="{AC217B46-684C-4157-80C0-F3720AF4402B}"/>
              </a:ext>
            </a:extLst>
          </p:cNvPr>
          <p:cNvCxnSpPr>
            <a:cxnSpLocks/>
            <a:stCxn id="10" idx="1"/>
            <a:endCxn id="119" idx="3"/>
          </p:cNvCxnSpPr>
          <p:nvPr/>
        </p:nvCxnSpPr>
        <p:spPr bwMode="gray">
          <a:xfrm flipH="1">
            <a:off x="5277943" y="3880002"/>
            <a:ext cx="638356" cy="4534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 xmlns:a16="http://schemas.microsoft.com/office/drawing/2014/main" id="{2977AE96-E85C-46E4-AA4D-69290504C6EB}"/>
              </a:ext>
            </a:extLst>
          </p:cNvPr>
          <p:cNvCxnSpPr>
            <a:cxnSpLocks/>
            <a:stCxn id="11" idx="1"/>
            <a:endCxn id="119" idx="3"/>
          </p:cNvCxnSpPr>
          <p:nvPr/>
        </p:nvCxnSpPr>
        <p:spPr bwMode="gray">
          <a:xfrm flipH="1" flipV="1">
            <a:off x="5277943" y="4333436"/>
            <a:ext cx="638356" cy="4882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4" name="TextBox 271">
            <a:extLst>
              <a:ext uri="{FF2B5EF4-FFF2-40B4-BE49-F238E27FC236}">
                <a16:creationId xmlns="" xmlns:a16="http://schemas.microsoft.com/office/drawing/2014/main" id="{9F4CE54A-C891-434E-A61B-983C7A0FD964}"/>
              </a:ext>
            </a:extLst>
          </p:cNvPr>
          <p:cNvSpPr txBox="1"/>
          <p:nvPr/>
        </p:nvSpPr>
        <p:spPr bwMode="gray">
          <a:xfrm>
            <a:off x="2751385" y="136349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TextBox 271">
            <a:extLst>
              <a:ext uri="{FF2B5EF4-FFF2-40B4-BE49-F238E27FC236}">
                <a16:creationId xmlns="" xmlns:a16="http://schemas.microsoft.com/office/drawing/2014/main" id="{7B0105D4-76FA-4B33-A81C-9AFC214BA518}"/>
              </a:ext>
            </a:extLst>
          </p:cNvPr>
          <p:cNvSpPr txBox="1"/>
          <p:nvPr/>
        </p:nvSpPr>
        <p:spPr bwMode="gray">
          <a:xfrm>
            <a:off x="2752587" y="282605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TextBox 271">
            <a:extLst>
              <a:ext uri="{FF2B5EF4-FFF2-40B4-BE49-F238E27FC236}">
                <a16:creationId xmlns="" xmlns:a16="http://schemas.microsoft.com/office/drawing/2014/main" id="{3DC8D369-1BC2-4C1F-9626-B973DC475817}"/>
              </a:ext>
            </a:extLst>
          </p:cNvPr>
          <p:cNvSpPr txBox="1"/>
          <p:nvPr/>
        </p:nvSpPr>
        <p:spPr bwMode="gray">
          <a:xfrm>
            <a:off x="3750772" y="136198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TextBox 271">
            <a:extLst>
              <a:ext uri="{FF2B5EF4-FFF2-40B4-BE49-F238E27FC236}">
                <a16:creationId xmlns="" xmlns:a16="http://schemas.microsoft.com/office/drawing/2014/main" id="{19F14E36-15D5-4EFE-BA79-6349238EDDD4}"/>
              </a:ext>
            </a:extLst>
          </p:cNvPr>
          <p:cNvSpPr txBox="1"/>
          <p:nvPr/>
        </p:nvSpPr>
        <p:spPr bwMode="gray">
          <a:xfrm>
            <a:off x="3753640" y="282605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图片 48">
            <a:extLst>
              <a:ext uri="{FF2B5EF4-FFF2-40B4-BE49-F238E27FC236}">
                <a16:creationId xmlns="" xmlns:a16="http://schemas.microsoft.com/office/drawing/2014/main" id="{9872AEF8-529D-4537-A383-26BEDE5B9368}"/>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039914" y="5301902"/>
            <a:ext cx="378863" cy="310667"/>
          </a:xfrm>
          <a:prstGeom prst="rect">
            <a:avLst/>
          </a:prstGeom>
        </p:spPr>
      </p:pic>
      <p:cxnSp>
        <p:nvCxnSpPr>
          <p:cNvPr id="159" name="Straight Connector 158">
            <a:extLst>
              <a:ext uri="{FF2B5EF4-FFF2-40B4-BE49-F238E27FC236}">
                <a16:creationId xmlns="" xmlns:a16="http://schemas.microsoft.com/office/drawing/2014/main" id="{1170BD8F-B7F0-4B3E-846F-BDBF727605BA}"/>
              </a:ext>
            </a:extLst>
          </p:cNvPr>
          <p:cNvCxnSpPr>
            <a:cxnSpLocks/>
            <a:stCxn id="16" idx="1"/>
            <a:endCxn id="8" idx="3"/>
          </p:cNvCxnSpPr>
          <p:nvPr/>
        </p:nvCxnSpPr>
        <p:spPr bwMode="gray">
          <a:xfrm flipH="1">
            <a:off x="5134758" y="1748656"/>
            <a:ext cx="1933730" cy="925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 xmlns:a16="http://schemas.microsoft.com/office/drawing/2014/main" id="{EAA7591C-2523-4B81-AE27-8BC6FF52BBF4}"/>
              </a:ext>
            </a:extLst>
          </p:cNvPr>
          <p:cNvCxnSpPr>
            <a:cxnSpLocks/>
            <a:stCxn id="17" idx="1"/>
            <a:endCxn id="9" idx="3"/>
          </p:cNvCxnSpPr>
          <p:nvPr/>
        </p:nvCxnSpPr>
        <p:spPr bwMode="gray">
          <a:xfrm flipH="1">
            <a:off x="5134758" y="2690293"/>
            <a:ext cx="1933730" cy="92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5" name="TextBox 271">
            <a:extLst>
              <a:ext uri="{FF2B5EF4-FFF2-40B4-BE49-F238E27FC236}">
                <a16:creationId xmlns="" xmlns:a16="http://schemas.microsoft.com/office/drawing/2014/main" id="{37F2D599-831E-4779-9AA4-B61C8860D57A}"/>
              </a:ext>
            </a:extLst>
          </p:cNvPr>
          <p:cNvSpPr txBox="1"/>
          <p:nvPr/>
        </p:nvSpPr>
        <p:spPr bwMode="gray">
          <a:xfrm>
            <a:off x="4755895" y="1371967"/>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TextBox 271">
            <a:extLst>
              <a:ext uri="{FF2B5EF4-FFF2-40B4-BE49-F238E27FC236}">
                <a16:creationId xmlns="" xmlns:a16="http://schemas.microsoft.com/office/drawing/2014/main" id="{7ABFF3C8-FDF6-473F-B4F3-1A3C79D5B763}"/>
              </a:ext>
            </a:extLst>
          </p:cNvPr>
          <p:cNvSpPr txBox="1"/>
          <p:nvPr/>
        </p:nvSpPr>
        <p:spPr bwMode="gray">
          <a:xfrm>
            <a:off x="4747681" y="2850255"/>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TextBox 271">
            <a:extLst>
              <a:ext uri="{FF2B5EF4-FFF2-40B4-BE49-F238E27FC236}">
                <a16:creationId xmlns="" xmlns:a16="http://schemas.microsoft.com/office/drawing/2014/main" id="{AB77B651-1D97-481A-B227-A7922B64CD70}"/>
              </a:ext>
            </a:extLst>
          </p:cNvPr>
          <p:cNvSpPr txBox="1"/>
          <p:nvPr/>
        </p:nvSpPr>
        <p:spPr bwMode="gray">
          <a:xfrm>
            <a:off x="7076702" y="1372776"/>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TextBox 271">
            <a:extLst>
              <a:ext uri="{FF2B5EF4-FFF2-40B4-BE49-F238E27FC236}">
                <a16:creationId xmlns="" xmlns:a16="http://schemas.microsoft.com/office/drawing/2014/main" id="{02D0806D-68C6-4220-9602-2B10A8CBE781}"/>
              </a:ext>
            </a:extLst>
          </p:cNvPr>
          <p:cNvSpPr txBox="1"/>
          <p:nvPr/>
        </p:nvSpPr>
        <p:spPr bwMode="gray">
          <a:xfrm>
            <a:off x="7068488" y="2851064"/>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TextBox 271">
            <a:extLst>
              <a:ext uri="{FF2B5EF4-FFF2-40B4-BE49-F238E27FC236}">
                <a16:creationId xmlns="" xmlns:a16="http://schemas.microsoft.com/office/drawing/2014/main" id="{DEFB621F-51FD-4CAA-8D04-DB6318A7841B}"/>
              </a:ext>
            </a:extLst>
          </p:cNvPr>
          <p:cNvSpPr txBox="1"/>
          <p:nvPr/>
        </p:nvSpPr>
        <p:spPr bwMode="gray">
          <a:xfrm>
            <a:off x="8072915" y="137588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TextBox 271">
            <a:extLst>
              <a:ext uri="{FF2B5EF4-FFF2-40B4-BE49-F238E27FC236}">
                <a16:creationId xmlns="" xmlns:a16="http://schemas.microsoft.com/office/drawing/2014/main" id="{272E0DC2-FC47-473E-816D-204188980709}"/>
              </a:ext>
            </a:extLst>
          </p:cNvPr>
          <p:cNvSpPr txBox="1"/>
          <p:nvPr/>
        </p:nvSpPr>
        <p:spPr bwMode="gray">
          <a:xfrm>
            <a:off x="8075783" y="283995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TextBox 271">
            <a:extLst>
              <a:ext uri="{FF2B5EF4-FFF2-40B4-BE49-F238E27FC236}">
                <a16:creationId xmlns="" xmlns:a16="http://schemas.microsoft.com/office/drawing/2014/main" id="{E1E1F14E-D767-48DD-AEC4-A5AC752E2078}"/>
              </a:ext>
            </a:extLst>
          </p:cNvPr>
          <p:cNvSpPr txBox="1"/>
          <p:nvPr/>
        </p:nvSpPr>
        <p:spPr bwMode="gray">
          <a:xfrm>
            <a:off x="9072703" y="136349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TextBox 271">
            <a:extLst>
              <a:ext uri="{FF2B5EF4-FFF2-40B4-BE49-F238E27FC236}">
                <a16:creationId xmlns="" xmlns:a16="http://schemas.microsoft.com/office/drawing/2014/main" id="{98409704-10A2-43B6-9DD0-5D513177D80C}"/>
              </a:ext>
            </a:extLst>
          </p:cNvPr>
          <p:cNvSpPr txBox="1"/>
          <p:nvPr/>
        </p:nvSpPr>
        <p:spPr bwMode="gray">
          <a:xfrm>
            <a:off x="9073905" y="282605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TextBox 271">
            <a:extLst>
              <a:ext uri="{FF2B5EF4-FFF2-40B4-BE49-F238E27FC236}">
                <a16:creationId xmlns="" xmlns:a16="http://schemas.microsoft.com/office/drawing/2014/main" id="{009C1AE0-BA8E-4A20-AEBB-FD222E1B48AD}"/>
              </a:ext>
            </a:extLst>
          </p:cNvPr>
          <p:cNvSpPr txBox="1"/>
          <p:nvPr/>
        </p:nvSpPr>
        <p:spPr bwMode="gray">
          <a:xfrm>
            <a:off x="5588026" y="1805464"/>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TextBox 271">
            <a:extLst>
              <a:ext uri="{FF2B5EF4-FFF2-40B4-BE49-F238E27FC236}">
                <a16:creationId xmlns="" xmlns:a16="http://schemas.microsoft.com/office/drawing/2014/main" id="{A8A941B3-809A-42DE-AFA6-2D7E337E3426}"/>
              </a:ext>
            </a:extLst>
          </p:cNvPr>
          <p:cNvSpPr txBox="1"/>
          <p:nvPr/>
        </p:nvSpPr>
        <p:spPr bwMode="gray">
          <a:xfrm>
            <a:off x="6243976" y="1805464"/>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TextBox 271">
            <a:extLst>
              <a:ext uri="{FF2B5EF4-FFF2-40B4-BE49-F238E27FC236}">
                <a16:creationId xmlns="" xmlns:a16="http://schemas.microsoft.com/office/drawing/2014/main" id="{59926D64-A77B-4BD9-88F0-7C3F6FC1906B}"/>
              </a:ext>
            </a:extLst>
          </p:cNvPr>
          <p:cNvSpPr txBox="1"/>
          <p:nvPr/>
        </p:nvSpPr>
        <p:spPr bwMode="gray">
          <a:xfrm>
            <a:off x="4899080" y="3924047"/>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TextBox 271">
            <a:extLst>
              <a:ext uri="{FF2B5EF4-FFF2-40B4-BE49-F238E27FC236}">
                <a16:creationId xmlns="" xmlns:a16="http://schemas.microsoft.com/office/drawing/2014/main" id="{1214ADA7-762C-4604-9369-4A0D957DBF2B}"/>
              </a:ext>
            </a:extLst>
          </p:cNvPr>
          <p:cNvSpPr txBox="1"/>
          <p:nvPr/>
        </p:nvSpPr>
        <p:spPr bwMode="gray">
          <a:xfrm>
            <a:off x="6105731" y="3516601"/>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TextBox 271">
            <a:extLst>
              <a:ext uri="{FF2B5EF4-FFF2-40B4-BE49-F238E27FC236}">
                <a16:creationId xmlns="" xmlns:a16="http://schemas.microsoft.com/office/drawing/2014/main" id="{5687A3B0-DC85-43E6-A039-18FBAC7D7E9E}"/>
              </a:ext>
            </a:extLst>
          </p:cNvPr>
          <p:cNvSpPr txBox="1"/>
          <p:nvPr/>
        </p:nvSpPr>
        <p:spPr bwMode="gray">
          <a:xfrm>
            <a:off x="5924533" y="4976971"/>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TextBox 271">
            <a:extLst>
              <a:ext uri="{FF2B5EF4-FFF2-40B4-BE49-F238E27FC236}">
                <a16:creationId xmlns="" xmlns:a16="http://schemas.microsoft.com/office/drawing/2014/main" id="{6934B517-4419-4BB9-9783-D8194259C078}"/>
              </a:ext>
            </a:extLst>
          </p:cNvPr>
          <p:cNvSpPr txBox="1"/>
          <p:nvPr/>
        </p:nvSpPr>
        <p:spPr bwMode="gray">
          <a:xfrm>
            <a:off x="7272332" y="412805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TextBox 271">
            <a:extLst>
              <a:ext uri="{FF2B5EF4-FFF2-40B4-BE49-F238E27FC236}">
                <a16:creationId xmlns="" xmlns:a16="http://schemas.microsoft.com/office/drawing/2014/main" id="{D36FA3B7-DAED-4309-B08B-AB52C3C90532}"/>
              </a:ext>
            </a:extLst>
          </p:cNvPr>
          <p:cNvSpPr txBox="1"/>
          <p:nvPr/>
        </p:nvSpPr>
        <p:spPr bwMode="gray">
          <a:xfrm>
            <a:off x="7275200" y="5592122"/>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1" name="TextBox 271">
            <a:extLst>
              <a:ext uri="{FF2B5EF4-FFF2-40B4-BE49-F238E27FC236}">
                <a16:creationId xmlns="" xmlns:a16="http://schemas.microsoft.com/office/drawing/2014/main" id="{92F168BB-9213-4DCF-8D2D-95D9E4C08B51}"/>
              </a:ext>
            </a:extLst>
          </p:cNvPr>
          <p:cNvSpPr txBox="1"/>
          <p:nvPr/>
        </p:nvSpPr>
        <p:spPr bwMode="gray">
          <a:xfrm>
            <a:off x="9023636" y="413141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2" name="TextBox 271">
            <a:extLst>
              <a:ext uri="{FF2B5EF4-FFF2-40B4-BE49-F238E27FC236}">
                <a16:creationId xmlns="" xmlns:a16="http://schemas.microsoft.com/office/drawing/2014/main" id="{D27D8954-2CED-48CF-A65D-F8697226AC73}"/>
              </a:ext>
            </a:extLst>
          </p:cNvPr>
          <p:cNvSpPr txBox="1"/>
          <p:nvPr/>
        </p:nvSpPr>
        <p:spPr bwMode="gray">
          <a:xfrm>
            <a:off x="9044847" y="5578222"/>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 name="Rectangle: Rounded Corners 183">
            <a:extLst>
              <a:ext uri="{FF2B5EF4-FFF2-40B4-BE49-F238E27FC236}">
                <a16:creationId xmlns="" xmlns:a16="http://schemas.microsoft.com/office/drawing/2014/main" id="{EB5E33DD-BDF8-4BFD-A7E0-0CD819CE3943}"/>
              </a:ext>
            </a:extLst>
          </p:cNvPr>
          <p:cNvSpPr/>
          <p:nvPr/>
        </p:nvSpPr>
        <p:spPr bwMode="gray">
          <a:xfrm>
            <a:off x="1828274" y="1358011"/>
            <a:ext cx="1454908" cy="1745042"/>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5" name="图片 14" descr="交换机.png">
            <a:extLst>
              <a:ext uri="{FF2B5EF4-FFF2-40B4-BE49-F238E27FC236}">
                <a16:creationId xmlns="" xmlns:a16="http://schemas.microsoft.com/office/drawing/2014/main" id="{58FDC91B-3451-489E-9EF7-45B363699A39}"/>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2026991" y="2610058"/>
            <a:ext cx="378070" cy="309329"/>
          </a:xfrm>
          <a:prstGeom prst="rect">
            <a:avLst/>
          </a:prstGeom>
        </p:spPr>
      </p:pic>
      <p:pic>
        <p:nvPicPr>
          <p:cNvPr id="186" name="图片 14" descr="交换机.png">
            <a:extLst>
              <a:ext uri="{FF2B5EF4-FFF2-40B4-BE49-F238E27FC236}">
                <a16:creationId xmlns="" xmlns:a16="http://schemas.microsoft.com/office/drawing/2014/main" id="{2D09A8B4-8782-4A8F-8A8A-AF70A9132AA0}"/>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2024113" y="1582084"/>
            <a:ext cx="378070" cy="309329"/>
          </a:xfrm>
          <a:prstGeom prst="rect">
            <a:avLst/>
          </a:prstGeom>
        </p:spPr>
      </p:pic>
      <p:pic>
        <p:nvPicPr>
          <p:cNvPr id="187" name="图片 14" descr="交换机.png">
            <a:extLst>
              <a:ext uri="{FF2B5EF4-FFF2-40B4-BE49-F238E27FC236}">
                <a16:creationId xmlns="" xmlns:a16="http://schemas.microsoft.com/office/drawing/2014/main" id="{8B9012FB-BE4D-4585-91C2-63E7B6F8AB4A}"/>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2024113" y="2096071"/>
            <a:ext cx="378070" cy="309329"/>
          </a:xfrm>
          <a:prstGeom prst="rect">
            <a:avLst/>
          </a:prstGeom>
        </p:spPr>
      </p:pic>
      <p:sp>
        <p:nvSpPr>
          <p:cNvPr id="188" name="Rectangle 187">
            <a:extLst>
              <a:ext uri="{FF2B5EF4-FFF2-40B4-BE49-F238E27FC236}">
                <a16:creationId xmlns="" xmlns:a16="http://schemas.microsoft.com/office/drawing/2014/main" id="{66D87F6C-DF06-413A-BBF4-7BA746C0FB78}"/>
              </a:ext>
            </a:extLst>
          </p:cNvPr>
          <p:cNvSpPr/>
          <p:nvPr/>
        </p:nvSpPr>
        <p:spPr bwMode="gray">
          <a:xfrm rot="16200000">
            <a:off x="1279896" y="2503312"/>
            <a:ext cx="902287" cy="213490"/>
          </a:xfrm>
          <a:prstGeom prst="rect">
            <a:avLst/>
          </a:prstGeom>
          <a:solidFill>
            <a:schemeClr val="bg1">
              <a:lumMod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数据中心</a:t>
            </a:r>
            <a:r>
              <a:rPr lang="en-US" altLang="zh-CN" sz="1200" dirty="0"/>
              <a:t>A</a:t>
            </a:r>
            <a:endParaRPr lang="en-US" sz="1200" dirty="0"/>
          </a:p>
        </p:txBody>
      </p:sp>
      <p:sp>
        <p:nvSpPr>
          <p:cNvPr id="189" name="Rectangle: Rounded Corners 188">
            <a:extLst>
              <a:ext uri="{FF2B5EF4-FFF2-40B4-BE49-F238E27FC236}">
                <a16:creationId xmlns="" xmlns:a16="http://schemas.microsoft.com/office/drawing/2014/main" id="{10C11A06-E4AB-43A8-AFA4-9E821B9D8280}"/>
              </a:ext>
            </a:extLst>
          </p:cNvPr>
          <p:cNvSpPr/>
          <p:nvPr/>
        </p:nvSpPr>
        <p:spPr bwMode="gray">
          <a:xfrm>
            <a:off x="8923918" y="1350391"/>
            <a:ext cx="1454908" cy="1745042"/>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图片 14" descr="交换机.png">
            <a:extLst>
              <a:ext uri="{FF2B5EF4-FFF2-40B4-BE49-F238E27FC236}">
                <a16:creationId xmlns="" xmlns:a16="http://schemas.microsoft.com/office/drawing/2014/main" id="{06829FA5-E96C-402B-899E-C06506FE949F}"/>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9840061" y="2579920"/>
            <a:ext cx="378070" cy="309329"/>
          </a:xfrm>
          <a:prstGeom prst="rect">
            <a:avLst/>
          </a:prstGeom>
        </p:spPr>
      </p:pic>
      <p:pic>
        <p:nvPicPr>
          <p:cNvPr id="191" name="图片 14" descr="交换机.png">
            <a:extLst>
              <a:ext uri="{FF2B5EF4-FFF2-40B4-BE49-F238E27FC236}">
                <a16:creationId xmlns="" xmlns:a16="http://schemas.microsoft.com/office/drawing/2014/main" id="{203BBE5C-20D3-40E7-A7FF-B43BB031C899}"/>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9837183" y="1551946"/>
            <a:ext cx="378070" cy="309329"/>
          </a:xfrm>
          <a:prstGeom prst="rect">
            <a:avLst/>
          </a:prstGeom>
        </p:spPr>
      </p:pic>
      <p:pic>
        <p:nvPicPr>
          <p:cNvPr id="192" name="图片 14" descr="交换机.png">
            <a:extLst>
              <a:ext uri="{FF2B5EF4-FFF2-40B4-BE49-F238E27FC236}">
                <a16:creationId xmlns="" xmlns:a16="http://schemas.microsoft.com/office/drawing/2014/main" id="{3B126608-3BC2-40D9-93B8-2896C534D183}"/>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9837183" y="2065933"/>
            <a:ext cx="378070" cy="309329"/>
          </a:xfrm>
          <a:prstGeom prst="rect">
            <a:avLst/>
          </a:prstGeom>
        </p:spPr>
      </p:pic>
      <p:sp>
        <p:nvSpPr>
          <p:cNvPr id="193" name="Rectangle 192">
            <a:extLst>
              <a:ext uri="{FF2B5EF4-FFF2-40B4-BE49-F238E27FC236}">
                <a16:creationId xmlns="" xmlns:a16="http://schemas.microsoft.com/office/drawing/2014/main" id="{41729818-6006-4A25-BB2D-636C02BAA877}"/>
              </a:ext>
            </a:extLst>
          </p:cNvPr>
          <p:cNvSpPr/>
          <p:nvPr/>
        </p:nvSpPr>
        <p:spPr bwMode="gray">
          <a:xfrm rot="5400000">
            <a:off x="10023233" y="2473175"/>
            <a:ext cx="902287" cy="213490"/>
          </a:xfrm>
          <a:prstGeom prst="rect">
            <a:avLst/>
          </a:prstGeom>
          <a:solidFill>
            <a:schemeClr val="bg1">
              <a:lumMod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数据中心</a:t>
            </a:r>
            <a:r>
              <a:rPr lang="en-US" altLang="zh-CN" sz="1200" dirty="0"/>
              <a:t>B</a:t>
            </a:r>
            <a:endParaRPr lang="en-US" sz="1200" dirty="0"/>
          </a:p>
        </p:txBody>
      </p:sp>
      <p:sp>
        <p:nvSpPr>
          <p:cNvPr id="194" name="Rectangle: Rounded Corners 193">
            <a:extLst>
              <a:ext uri="{FF2B5EF4-FFF2-40B4-BE49-F238E27FC236}">
                <a16:creationId xmlns="" xmlns:a16="http://schemas.microsoft.com/office/drawing/2014/main" id="{3163C41C-41CD-4137-A9E4-9B78DBA4968D}"/>
              </a:ext>
            </a:extLst>
          </p:cNvPr>
          <p:cNvSpPr/>
          <p:nvPr/>
        </p:nvSpPr>
        <p:spPr bwMode="gray">
          <a:xfrm>
            <a:off x="8925800" y="4100418"/>
            <a:ext cx="1454908" cy="1745042"/>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 xmlns:a16="http://schemas.microsoft.com/office/drawing/2014/main" id="{D4296E30-C8D6-47F5-963D-F3B92C0522F8}"/>
              </a:ext>
            </a:extLst>
          </p:cNvPr>
          <p:cNvSpPr/>
          <p:nvPr/>
        </p:nvSpPr>
        <p:spPr bwMode="gray">
          <a:xfrm rot="5400000">
            <a:off x="10025115" y="5223202"/>
            <a:ext cx="902287" cy="213490"/>
          </a:xfrm>
          <a:prstGeom prst="rect">
            <a:avLst/>
          </a:prstGeom>
          <a:solidFill>
            <a:schemeClr val="bg1">
              <a:lumMod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企业分支</a:t>
            </a:r>
            <a:endParaRPr lang="en-US" sz="1200" dirty="0"/>
          </a:p>
        </p:txBody>
      </p:sp>
      <p:pic>
        <p:nvPicPr>
          <p:cNvPr id="196" name="图片 67">
            <a:extLst>
              <a:ext uri="{FF2B5EF4-FFF2-40B4-BE49-F238E27FC236}">
                <a16:creationId xmlns="" xmlns:a16="http://schemas.microsoft.com/office/drawing/2014/main" id="{B2293BF3-0FC1-4AB9-A3D9-737EB84766F9}"/>
              </a:ext>
            </a:extLst>
          </p:cNvPr>
          <p:cNvPicPr>
            <a:picLocks/>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739126" y="5325328"/>
            <a:ext cx="375447" cy="307867"/>
          </a:xfrm>
          <a:prstGeom prst="rect">
            <a:avLst/>
          </a:prstGeom>
        </p:spPr>
      </p:pic>
      <p:pic>
        <p:nvPicPr>
          <p:cNvPr id="197" name="图片 67">
            <a:extLst>
              <a:ext uri="{FF2B5EF4-FFF2-40B4-BE49-F238E27FC236}">
                <a16:creationId xmlns="" xmlns:a16="http://schemas.microsoft.com/office/drawing/2014/main" id="{C09FD24A-FE1D-4C89-80C9-25C99060678C}"/>
              </a:ext>
            </a:extLst>
          </p:cNvPr>
          <p:cNvPicPr>
            <a:picLocks/>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739125" y="4350226"/>
            <a:ext cx="375447" cy="307867"/>
          </a:xfrm>
          <a:prstGeom prst="rect">
            <a:avLst/>
          </a:prstGeom>
        </p:spPr>
      </p:pic>
      <p:pic>
        <p:nvPicPr>
          <p:cNvPr id="198" name="图片 67">
            <a:extLst>
              <a:ext uri="{FF2B5EF4-FFF2-40B4-BE49-F238E27FC236}">
                <a16:creationId xmlns="" xmlns:a16="http://schemas.microsoft.com/office/drawing/2014/main" id="{BCE4086B-7C3B-40A7-B46D-41F31435CE3F}"/>
              </a:ext>
            </a:extLst>
          </p:cNvPr>
          <p:cNvPicPr>
            <a:picLocks/>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739126" y="4837777"/>
            <a:ext cx="375447" cy="307867"/>
          </a:xfrm>
          <a:prstGeom prst="rect">
            <a:avLst/>
          </a:prstGeom>
        </p:spPr>
      </p:pic>
      <p:cxnSp>
        <p:nvCxnSpPr>
          <p:cNvPr id="199" name="Straight Connector 198">
            <a:extLst>
              <a:ext uri="{FF2B5EF4-FFF2-40B4-BE49-F238E27FC236}">
                <a16:creationId xmlns="" xmlns:a16="http://schemas.microsoft.com/office/drawing/2014/main" id="{92A5BCC2-182C-4A05-BA3C-A3081A32AB66}"/>
              </a:ext>
            </a:extLst>
          </p:cNvPr>
          <p:cNvCxnSpPr>
            <a:cxnSpLocks/>
            <a:stCxn id="18" idx="2"/>
            <a:endCxn id="19" idx="0"/>
          </p:cNvCxnSpPr>
          <p:nvPr/>
        </p:nvCxnSpPr>
        <p:spPr bwMode="gray">
          <a:xfrm>
            <a:off x="8260175" y="1903989"/>
            <a:ext cx="0"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 xmlns:a16="http://schemas.microsoft.com/office/drawing/2014/main" id="{78DC2D87-21E5-47F6-912B-2FD77731B627}"/>
              </a:ext>
            </a:extLst>
          </p:cNvPr>
          <p:cNvCxnSpPr>
            <a:cxnSpLocks/>
            <a:stCxn id="16" idx="2"/>
            <a:endCxn id="17" idx="0"/>
          </p:cNvCxnSpPr>
          <p:nvPr/>
        </p:nvCxnSpPr>
        <p:spPr bwMode="gray">
          <a:xfrm>
            <a:off x="7257920" y="1903989"/>
            <a:ext cx="0" cy="63097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 xmlns:a16="http://schemas.microsoft.com/office/drawing/2014/main" id="{C2A3EE8A-B799-41F9-B9FF-36EA6B5CD562}"/>
              </a:ext>
            </a:extLst>
          </p:cNvPr>
          <p:cNvCxnSpPr>
            <a:cxnSpLocks/>
            <a:stCxn id="55" idx="2"/>
            <a:endCxn id="56" idx="0"/>
          </p:cNvCxnSpPr>
          <p:nvPr/>
        </p:nvCxnSpPr>
        <p:spPr bwMode="gray">
          <a:xfrm>
            <a:off x="7455566" y="4666304"/>
            <a:ext cx="0"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 xmlns:a16="http://schemas.microsoft.com/office/drawing/2014/main" id="{24AEAF57-188C-4A03-951F-3D5B7BA45978}"/>
              </a:ext>
            </a:extLst>
          </p:cNvPr>
          <p:cNvCxnSpPr>
            <a:cxnSpLocks/>
            <a:stCxn id="10" idx="2"/>
            <a:endCxn id="11" idx="0"/>
          </p:cNvCxnSpPr>
          <p:nvPr/>
        </p:nvCxnSpPr>
        <p:spPr bwMode="gray">
          <a:xfrm>
            <a:off x="6105731" y="4035335"/>
            <a:ext cx="0" cy="6309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1" name="圆角矩形 75">
            <a:extLst>
              <a:ext uri="{FF2B5EF4-FFF2-40B4-BE49-F238E27FC236}">
                <a16:creationId xmlns="" xmlns:a16="http://schemas.microsoft.com/office/drawing/2014/main" id="{49227D4B-D097-407F-A665-0448E391C05B}"/>
              </a:ext>
            </a:extLst>
          </p:cNvPr>
          <p:cNvSpPr/>
          <p:nvPr/>
        </p:nvSpPr>
        <p:spPr bwMode="gray">
          <a:xfrm>
            <a:off x="3593328" y="1188353"/>
            <a:ext cx="5072656" cy="481742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2" name="TextBox 271">
            <a:extLst>
              <a:ext uri="{FF2B5EF4-FFF2-40B4-BE49-F238E27FC236}">
                <a16:creationId xmlns="" xmlns:a16="http://schemas.microsoft.com/office/drawing/2014/main" id="{45088269-41CD-4893-8DE5-91FEB9503259}"/>
              </a:ext>
            </a:extLst>
          </p:cNvPr>
          <p:cNvSpPr txBox="1"/>
          <p:nvPr/>
        </p:nvSpPr>
        <p:spPr bwMode="gray">
          <a:xfrm rot="16200000">
            <a:off x="3094035" y="5353595"/>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213" name="TextBox 271">
            <a:extLst>
              <a:ext uri="{FF2B5EF4-FFF2-40B4-BE49-F238E27FC236}">
                <a16:creationId xmlns="" xmlns:a16="http://schemas.microsoft.com/office/drawing/2014/main" id="{7335B8C4-4A26-454B-9135-08D7B628D351}"/>
              </a:ext>
            </a:extLst>
          </p:cNvPr>
          <p:cNvSpPr txBox="1"/>
          <p:nvPr/>
        </p:nvSpPr>
        <p:spPr bwMode="gray">
          <a:xfrm>
            <a:off x="3708078" y="5624346"/>
            <a:ext cx="1879947" cy="338554"/>
          </a:xfrm>
          <a:prstGeom prst="rect">
            <a:avLst/>
          </a:prstGeom>
          <a:noFill/>
        </p:spPr>
        <p:txBody>
          <a:bodyPr wrap="square" rtlCol="0">
            <a:spAutoFit/>
          </a:bodyPr>
          <a:lstStyle/>
          <a:p>
            <a:pPr>
              <a:buFont typeface="Wingdings" pitchFamily="2" charset="2"/>
              <a:buNone/>
              <a:defRPr/>
            </a:pPr>
            <a:r>
              <a:rPr lang="en-US" altLang="zh-CN" sz="16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6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IS-IS/OSPF</a:t>
            </a:r>
            <a:endParaRPr lang="zh-CN" altLang="en-US" sz="16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4" name="TextBox 271">
            <a:extLst>
              <a:ext uri="{FF2B5EF4-FFF2-40B4-BE49-F238E27FC236}">
                <a16:creationId xmlns="" xmlns:a16="http://schemas.microsoft.com/office/drawing/2014/main" id="{03701EFD-3F79-4569-880D-147C352111C0}"/>
              </a:ext>
            </a:extLst>
          </p:cNvPr>
          <p:cNvSpPr txBox="1"/>
          <p:nvPr/>
        </p:nvSpPr>
        <p:spPr bwMode="gray">
          <a:xfrm>
            <a:off x="4254768" y="1514386"/>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5" name="TextBox 271">
            <a:extLst>
              <a:ext uri="{FF2B5EF4-FFF2-40B4-BE49-F238E27FC236}">
                <a16:creationId xmlns="" xmlns:a16="http://schemas.microsoft.com/office/drawing/2014/main" id="{BBAC2189-5D37-445A-B952-95B7B3EB9E1D}"/>
              </a:ext>
            </a:extLst>
          </p:cNvPr>
          <p:cNvSpPr txBox="1"/>
          <p:nvPr/>
        </p:nvSpPr>
        <p:spPr bwMode="gray">
          <a:xfrm>
            <a:off x="3899044" y="2086921"/>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6" name="TextBox 271">
            <a:extLst>
              <a:ext uri="{FF2B5EF4-FFF2-40B4-BE49-F238E27FC236}">
                <a16:creationId xmlns="" xmlns:a16="http://schemas.microsoft.com/office/drawing/2014/main" id="{3DFC4EFB-0C7A-41FC-8599-A9379A087287}"/>
              </a:ext>
            </a:extLst>
          </p:cNvPr>
          <p:cNvSpPr txBox="1"/>
          <p:nvPr/>
        </p:nvSpPr>
        <p:spPr bwMode="gray">
          <a:xfrm>
            <a:off x="4254768" y="2457585"/>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7" name="TextBox 271">
            <a:extLst>
              <a:ext uri="{FF2B5EF4-FFF2-40B4-BE49-F238E27FC236}">
                <a16:creationId xmlns="" xmlns:a16="http://schemas.microsoft.com/office/drawing/2014/main" id="{82F62079-E7F1-4242-A877-D731CE61FF06}"/>
              </a:ext>
            </a:extLst>
          </p:cNvPr>
          <p:cNvSpPr txBox="1"/>
          <p:nvPr/>
        </p:nvSpPr>
        <p:spPr bwMode="gray">
          <a:xfrm>
            <a:off x="4606315" y="2096071"/>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TextBox 271">
            <a:extLst>
              <a:ext uri="{FF2B5EF4-FFF2-40B4-BE49-F238E27FC236}">
                <a16:creationId xmlns="" xmlns:a16="http://schemas.microsoft.com/office/drawing/2014/main" id="{DCC05A2C-CB20-44D3-8174-8F291CAE3B1B}"/>
              </a:ext>
            </a:extLst>
          </p:cNvPr>
          <p:cNvSpPr txBox="1"/>
          <p:nvPr/>
        </p:nvSpPr>
        <p:spPr bwMode="gray">
          <a:xfrm>
            <a:off x="5871429" y="1486177"/>
            <a:ext cx="495340"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TextBox 271">
            <a:extLst>
              <a:ext uri="{FF2B5EF4-FFF2-40B4-BE49-F238E27FC236}">
                <a16:creationId xmlns="" xmlns:a16="http://schemas.microsoft.com/office/drawing/2014/main" id="{A7CFBFE8-39AF-49C4-9C77-20B16FA391A1}"/>
              </a:ext>
            </a:extLst>
          </p:cNvPr>
          <p:cNvSpPr txBox="1"/>
          <p:nvPr/>
        </p:nvSpPr>
        <p:spPr bwMode="gray">
          <a:xfrm>
            <a:off x="5871429" y="2439385"/>
            <a:ext cx="495340"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0" name="TextBox 271">
            <a:extLst>
              <a:ext uri="{FF2B5EF4-FFF2-40B4-BE49-F238E27FC236}">
                <a16:creationId xmlns="" xmlns:a16="http://schemas.microsoft.com/office/drawing/2014/main" id="{82099E86-DA76-4B6A-8903-3190672C605E}"/>
              </a:ext>
            </a:extLst>
          </p:cNvPr>
          <p:cNvSpPr txBox="1"/>
          <p:nvPr/>
        </p:nvSpPr>
        <p:spPr bwMode="gray">
          <a:xfrm rot="3424056">
            <a:off x="4968291" y="3374099"/>
            <a:ext cx="5791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TextBox 271">
            <a:extLst>
              <a:ext uri="{FF2B5EF4-FFF2-40B4-BE49-F238E27FC236}">
                <a16:creationId xmlns="" xmlns:a16="http://schemas.microsoft.com/office/drawing/2014/main" id="{FD169DCD-CE95-4D19-B2FB-416D146F807E}"/>
              </a:ext>
            </a:extLst>
          </p:cNvPr>
          <p:cNvSpPr txBox="1"/>
          <p:nvPr/>
        </p:nvSpPr>
        <p:spPr bwMode="gray">
          <a:xfrm rot="3424056">
            <a:off x="5387403" y="3087980"/>
            <a:ext cx="5791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TextBox 271">
            <a:extLst>
              <a:ext uri="{FF2B5EF4-FFF2-40B4-BE49-F238E27FC236}">
                <a16:creationId xmlns="" xmlns:a16="http://schemas.microsoft.com/office/drawing/2014/main" id="{9119936F-A3D5-4989-98B5-E1C2C9F86EB5}"/>
              </a:ext>
            </a:extLst>
          </p:cNvPr>
          <p:cNvSpPr txBox="1"/>
          <p:nvPr/>
        </p:nvSpPr>
        <p:spPr bwMode="gray">
          <a:xfrm rot="18194646">
            <a:off x="6045836" y="3083571"/>
            <a:ext cx="5791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3" name="TextBox 271">
            <a:extLst>
              <a:ext uri="{FF2B5EF4-FFF2-40B4-BE49-F238E27FC236}">
                <a16:creationId xmlns="" xmlns:a16="http://schemas.microsoft.com/office/drawing/2014/main" id="{3BFAD939-33F8-494A-8E98-BC1551FEFA28}"/>
              </a:ext>
            </a:extLst>
          </p:cNvPr>
          <p:cNvSpPr txBox="1"/>
          <p:nvPr/>
        </p:nvSpPr>
        <p:spPr bwMode="gray">
          <a:xfrm rot="18194646">
            <a:off x="6502843" y="3285235"/>
            <a:ext cx="579161"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4" name="TextBox 271">
            <a:extLst>
              <a:ext uri="{FF2B5EF4-FFF2-40B4-BE49-F238E27FC236}">
                <a16:creationId xmlns="" xmlns:a16="http://schemas.microsoft.com/office/drawing/2014/main" id="{F74F2B58-05FD-4F93-B326-D50EFDBA60AB}"/>
              </a:ext>
            </a:extLst>
          </p:cNvPr>
          <p:cNvSpPr txBox="1"/>
          <p:nvPr/>
        </p:nvSpPr>
        <p:spPr bwMode="gray">
          <a:xfrm rot="1459690">
            <a:off x="5056654" y="1831672"/>
            <a:ext cx="621012"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TextBox 271">
            <a:extLst>
              <a:ext uri="{FF2B5EF4-FFF2-40B4-BE49-F238E27FC236}">
                <a16:creationId xmlns="" xmlns:a16="http://schemas.microsoft.com/office/drawing/2014/main" id="{B7D5FB83-3BDC-494E-92BE-A4AE0E32340F}"/>
              </a:ext>
            </a:extLst>
          </p:cNvPr>
          <p:cNvSpPr txBox="1"/>
          <p:nvPr/>
        </p:nvSpPr>
        <p:spPr bwMode="gray">
          <a:xfrm rot="19900455">
            <a:off x="5056655" y="2335051"/>
            <a:ext cx="621012"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6" name="TextBox 271">
            <a:extLst>
              <a:ext uri="{FF2B5EF4-FFF2-40B4-BE49-F238E27FC236}">
                <a16:creationId xmlns="" xmlns:a16="http://schemas.microsoft.com/office/drawing/2014/main" id="{C1D726FC-2917-4E6E-926A-791D19D4A5A8}"/>
              </a:ext>
            </a:extLst>
          </p:cNvPr>
          <p:cNvSpPr txBox="1"/>
          <p:nvPr/>
        </p:nvSpPr>
        <p:spPr bwMode="gray">
          <a:xfrm rot="20095768">
            <a:off x="6534071" y="1809268"/>
            <a:ext cx="621012"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7" name="TextBox 271">
            <a:extLst>
              <a:ext uri="{FF2B5EF4-FFF2-40B4-BE49-F238E27FC236}">
                <a16:creationId xmlns="" xmlns:a16="http://schemas.microsoft.com/office/drawing/2014/main" id="{885C4676-2AE9-42F8-A193-3FCDF359367C}"/>
              </a:ext>
            </a:extLst>
          </p:cNvPr>
          <p:cNvSpPr txBox="1"/>
          <p:nvPr/>
        </p:nvSpPr>
        <p:spPr bwMode="gray">
          <a:xfrm rot="1745342">
            <a:off x="6534498" y="2325793"/>
            <a:ext cx="621012"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8" name="TextBox 271">
            <a:extLst>
              <a:ext uri="{FF2B5EF4-FFF2-40B4-BE49-F238E27FC236}">
                <a16:creationId xmlns="" xmlns:a16="http://schemas.microsoft.com/office/drawing/2014/main" id="{C9977880-85F3-461C-9380-0624A234A3FC}"/>
              </a:ext>
            </a:extLst>
          </p:cNvPr>
          <p:cNvSpPr txBox="1"/>
          <p:nvPr/>
        </p:nvSpPr>
        <p:spPr bwMode="gray">
          <a:xfrm rot="19529473">
            <a:off x="5263247" y="3885345"/>
            <a:ext cx="621012"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9" name="TextBox 271">
            <a:extLst>
              <a:ext uri="{FF2B5EF4-FFF2-40B4-BE49-F238E27FC236}">
                <a16:creationId xmlns="" xmlns:a16="http://schemas.microsoft.com/office/drawing/2014/main" id="{4EDEE3CD-09C8-4967-887A-88B96B92DB72}"/>
              </a:ext>
            </a:extLst>
          </p:cNvPr>
          <p:cNvSpPr txBox="1"/>
          <p:nvPr/>
        </p:nvSpPr>
        <p:spPr bwMode="gray">
          <a:xfrm rot="2188704">
            <a:off x="5263624" y="4571848"/>
            <a:ext cx="621012"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10000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0" name="TextBox 271">
            <a:extLst>
              <a:ext uri="{FF2B5EF4-FFF2-40B4-BE49-F238E27FC236}">
                <a16:creationId xmlns="" xmlns:a16="http://schemas.microsoft.com/office/drawing/2014/main" id="{7D9A782D-7FA4-4AA5-89F0-9904D5ECAAAF}"/>
              </a:ext>
            </a:extLst>
          </p:cNvPr>
          <p:cNvSpPr txBox="1"/>
          <p:nvPr/>
        </p:nvSpPr>
        <p:spPr bwMode="gray">
          <a:xfrm>
            <a:off x="6029026" y="4199608"/>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1" name="TextBox 271">
            <a:extLst>
              <a:ext uri="{FF2B5EF4-FFF2-40B4-BE49-F238E27FC236}">
                <a16:creationId xmlns="" xmlns:a16="http://schemas.microsoft.com/office/drawing/2014/main" id="{74695E3C-D8A4-489F-BEA2-4005CF4F86EA}"/>
              </a:ext>
            </a:extLst>
          </p:cNvPr>
          <p:cNvSpPr txBox="1"/>
          <p:nvPr/>
        </p:nvSpPr>
        <p:spPr bwMode="gray">
          <a:xfrm rot="1968429">
            <a:off x="6624870" y="4194936"/>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2" name="TextBox 271">
            <a:extLst>
              <a:ext uri="{FF2B5EF4-FFF2-40B4-BE49-F238E27FC236}">
                <a16:creationId xmlns="" xmlns:a16="http://schemas.microsoft.com/office/drawing/2014/main" id="{5CEAE91C-31AA-488F-A82F-481A4F7E7136}"/>
              </a:ext>
            </a:extLst>
          </p:cNvPr>
          <p:cNvSpPr txBox="1"/>
          <p:nvPr/>
        </p:nvSpPr>
        <p:spPr bwMode="gray">
          <a:xfrm rot="1968429">
            <a:off x="6575843" y="4891155"/>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3" name="TextBox 271">
            <a:extLst>
              <a:ext uri="{FF2B5EF4-FFF2-40B4-BE49-F238E27FC236}">
                <a16:creationId xmlns="" xmlns:a16="http://schemas.microsoft.com/office/drawing/2014/main" id="{B6F0F34A-DDFA-4242-8A57-395DB27DFCDE}"/>
              </a:ext>
            </a:extLst>
          </p:cNvPr>
          <p:cNvSpPr txBox="1"/>
          <p:nvPr/>
        </p:nvSpPr>
        <p:spPr bwMode="gray">
          <a:xfrm>
            <a:off x="7160424" y="4853210"/>
            <a:ext cx="378863"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20</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4" name="五边形 2">
            <a:extLst>
              <a:ext uri="{FF2B5EF4-FFF2-40B4-BE49-F238E27FC236}">
                <a16:creationId xmlns="" xmlns:a16="http://schemas.microsoft.com/office/drawing/2014/main" id="{A8C86E0A-116D-41C2-AA28-FFD923AAB170}"/>
              </a:ext>
            </a:extLst>
          </p:cNvPr>
          <p:cNvSpPr/>
          <p:nvPr/>
        </p:nvSpPr>
        <p:spPr bwMode="gray">
          <a:xfrm>
            <a:off x="9347466"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235" name="燕尾形 3">
            <a:extLst>
              <a:ext uri="{FF2B5EF4-FFF2-40B4-BE49-F238E27FC236}">
                <a16:creationId xmlns="" xmlns:a16="http://schemas.microsoft.com/office/drawing/2014/main" id="{B561DB3B-BF64-48FF-A4C7-EBFC207053E0}"/>
              </a:ext>
            </a:extLst>
          </p:cNvPr>
          <p:cNvSpPr/>
          <p:nvPr/>
        </p:nvSpPr>
        <p:spPr bwMode="gray">
          <a:xfrm>
            <a:off x="1046686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645238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EA4E3343-87EA-4219-8771-FCDE1BDF1B2C}"/>
              </a:ext>
            </a:extLst>
          </p:cNvPr>
          <p:cNvSpPr>
            <a:spLocks noGrp="1"/>
          </p:cNvSpPr>
          <p:nvPr>
            <p:ph type="body" sz="quarter" idx="10"/>
          </p:nvPr>
        </p:nvSpPr>
        <p:spPr bwMode="gray">
          <a:xfrm>
            <a:off x="455612" y="1047750"/>
            <a:ext cx="11293475" cy="1915597"/>
          </a:xfrm>
        </p:spPr>
        <p:txBody>
          <a:bodyPr/>
          <a:lstStyle/>
          <a:p>
            <a:r>
              <a:rPr lang="zh-CN" altLang="en-US" sz="1800" dirty="0"/>
              <a:t>企业广域承载网进行多网融合后，需要使用</a:t>
            </a:r>
            <a:r>
              <a:rPr lang="en-US" altLang="zh-CN" sz="1800" dirty="0"/>
              <a:t>BGP/MPLS IP VPN</a:t>
            </a:r>
            <a:r>
              <a:rPr lang="zh-CN" altLang="en-US" sz="1800" dirty="0"/>
              <a:t>技术隔离业务。</a:t>
            </a:r>
            <a:endParaRPr lang="en-US" altLang="zh-CN" sz="1800" dirty="0"/>
          </a:p>
          <a:p>
            <a:r>
              <a:rPr lang="zh-CN" altLang="en-US" sz="1800" dirty="0"/>
              <a:t>一般承载网内部运行</a:t>
            </a:r>
            <a:r>
              <a:rPr lang="en-US" altLang="zh-CN" sz="1800" dirty="0"/>
              <a:t>IBGP</a:t>
            </a:r>
            <a:r>
              <a:rPr lang="zh-CN" altLang="en-US" sz="1800" dirty="0"/>
              <a:t>协议，承载网与各数据中心、企业分支等其他</a:t>
            </a:r>
            <a:r>
              <a:rPr lang="en-US" altLang="zh-CN" sz="1800" dirty="0"/>
              <a:t>AS</a:t>
            </a:r>
            <a:r>
              <a:rPr lang="zh-CN" altLang="en-US" sz="1800" dirty="0"/>
              <a:t>间运行</a:t>
            </a:r>
            <a:r>
              <a:rPr lang="en-US" altLang="zh-CN" sz="1800" dirty="0"/>
              <a:t>EBGP</a:t>
            </a:r>
            <a:r>
              <a:rPr lang="zh-CN" altLang="en-US" sz="1800" dirty="0"/>
              <a:t>协议，在</a:t>
            </a:r>
            <a:r>
              <a:rPr lang="en-US" altLang="zh-CN" sz="1800" dirty="0"/>
              <a:t>PE</a:t>
            </a:r>
            <a:r>
              <a:rPr lang="zh-CN" altLang="en-US" sz="1800" dirty="0"/>
              <a:t>上通过</a:t>
            </a:r>
            <a:r>
              <a:rPr lang="en-US" altLang="zh-CN" sz="1800" dirty="0"/>
              <a:t>BGP</a:t>
            </a:r>
            <a:r>
              <a:rPr lang="zh-CN" altLang="en-US" sz="1800" dirty="0"/>
              <a:t>强大策略控制能力，控制</a:t>
            </a:r>
            <a:r>
              <a:rPr lang="en-US" altLang="zh-CN" sz="1800" dirty="0"/>
              <a:t>VPN</a:t>
            </a:r>
            <a:r>
              <a:rPr lang="zh-CN" altLang="en-US" sz="1800" dirty="0"/>
              <a:t>私网路由在</a:t>
            </a:r>
            <a:r>
              <a:rPr lang="en-US" altLang="zh-CN" sz="1800" dirty="0"/>
              <a:t>AS</a:t>
            </a:r>
            <a:r>
              <a:rPr lang="zh-CN" altLang="en-US" sz="1800" dirty="0"/>
              <a:t>间传递，从而实现复杂的访问关系控制。</a:t>
            </a:r>
            <a:endParaRPr lang="en-US" altLang="zh-CN" sz="1800" dirty="0"/>
          </a:p>
          <a:p>
            <a:r>
              <a:rPr lang="zh-CN" altLang="en-US" sz="1800" dirty="0"/>
              <a:t>如果在广域承载网中部署了控制器，则在控制器与</a:t>
            </a:r>
            <a:r>
              <a:rPr lang="en-US" altLang="zh-CN" sz="1800" dirty="0"/>
              <a:t>RR</a:t>
            </a:r>
            <a:r>
              <a:rPr lang="zh-CN" altLang="en-US" sz="1800" dirty="0"/>
              <a:t>设备之间还需要部署</a:t>
            </a:r>
            <a:r>
              <a:rPr lang="en-US" altLang="zh-CN" sz="1800" dirty="0"/>
              <a:t>BGP-LS</a:t>
            </a:r>
            <a:r>
              <a:rPr lang="zh-CN" altLang="en-US" sz="1800" dirty="0"/>
              <a:t>协议。</a:t>
            </a:r>
            <a:endParaRPr lang="en-US" sz="1800" dirty="0"/>
          </a:p>
        </p:txBody>
      </p:sp>
      <p:sp>
        <p:nvSpPr>
          <p:cNvPr id="2" name="Title 1">
            <a:extLst>
              <a:ext uri="{FF2B5EF4-FFF2-40B4-BE49-F238E27FC236}">
                <a16:creationId xmlns="" xmlns:a16="http://schemas.microsoft.com/office/drawing/2014/main" id="{9F1D5894-3C35-4850-9357-40EA8A875792}"/>
              </a:ext>
            </a:extLst>
          </p:cNvPr>
          <p:cNvSpPr>
            <a:spLocks noGrp="1"/>
          </p:cNvSpPr>
          <p:nvPr>
            <p:ph type="title"/>
          </p:nvPr>
        </p:nvSpPr>
        <p:spPr bwMode="gray"/>
        <p:txBody>
          <a:bodyPr/>
          <a:lstStyle/>
          <a:p>
            <a:r>
              <a:rPr lang="en-US" dirty="0"/>
              <a:t>BGP</a:t>
            </a:r>
            <a:r>
              <a:rPr lang="zh-CN" altLang="en-US" dirty="0"/>
              <a:t>总体规划</a:t>
            </a:r>
            <a:endParaRPr lang="en-US" dirty="0"/>
          </a:p>
        </p:txBody>
      </p:sp>
      <p:sp>
        <p:nvSpPr>
          <p:cNvPr id="234" name="五边形 2">
            <a:extLst>
              <a:ext uri="{FF2B5EF4-FFF2-40B4-BE49-F238E27FC236}">
                <a16:creationId xmlns="" xmlns:a16="http://schemas.microsoft.com/office/drawing/2014/main" id="{A8C86E0A-116D-41C2-AA28-FFD923AAB170}"/>
              </a:ext>
            </a:extLst>
          </p:cNvPr>
          <p:cNvSpPr/>
          <p:nvPr/>
        </p:nvSpPr>
        <p:spPr bwMode="gray">
          <a:xfrm>
            <a:off x="934746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235" name="燕尾形 3">
            <a:extLst>
              <a:ext uri="{FF2B5EF4-FFF2-40B4-BE49-F238E27FC236}">
                <a16:creationId xmlns="" xmlns:a16="http://schemas.microsoft.com/office/drawing/2014/main" id="{B561DB3B-BF64-48FF-A4C7-EBFC207053E0}"/>
              </a:ext>
            </a:extLst>
          </p:cNvPr>
          <p:cNvSpPr/>
          <p:nvPr/>
        </p:nvSpPr>
        <p:spPr bwMode="gray">
          <a:xfrm>
            <a:off x="1046686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9" name="Group 248">
            <a:extLst>
              <a:ext uri="{FF2B5EF4-FFF2-40B4-BE49-F238E27FC236}">
                <a16:creationId xmlns="" xmlns:a16="http://schemas.microsoft.com/office/drawing/2014/main" id="{007A6E7A-C1C8-4299-BE22-D87C3C4D540C}"/>
              </a:ext>
            </a:extLst>
          </p:cNvPr>
          <p:cNvGrpSpPr/>
          <p:nvPr/>
        </p:nvGrpSpPr>
        <p:grpSpPr bwMode="gray">
          <a:xfrm>
            <a:off x="2660650" y="3032868"/>
            <a:ext cx="6892278" cy="2941581"/>
            <a:chOff x="2660650" y="3032868"/>
            <a:chExt cx="6892278" cy="2941581"/>
          </a:xfrm>
        </p:grpSpPr>
        <p:grpSp>
          <p:nvGrpSpPr>
            <p:cNvPr id="246" name="Group 245">
              <a:extLst>
                <a:ext uri="{FF2B5EF4-FFF2-40B4-BE49-F238E27FC236}">
                  <a16:creationId xmlns="" xmlns:a16="http://schemas.microsoft.com/office/drawing/2014/main" id="{3B43731B-906F-4751-8A17-8D47E5F0C583}"/>
                </a:ext>
              </a:extLst>
            </p:cNvPr>
            <p:cNvGrpSpPr/>
            <p:nvPr/>
          </p:nvGrpSpPr>
          <p:grpSpPr bwMode="gray">
            <a:xfrm>
              <a:off x="2660650" y="3032868"/>
              <a:ext cx="6892278" cy="2941581"/>
              <a:chOff x="2660650" y="3032868"/>
              <a:chExt cx="6892278" cy="2941581"/>
            </a:xfrm>
          </p:grpSpPr>
          <p:grpSp>
            <p:nvGrpSpPr>
              <p:cNvPr id="238" name="Group 237">
                <a:extLst>
                  <a:ext uri="{FF2B5EF4-FFF2-40B4-BE49-F238E27FC236}">
                    <a16:creationId xmlns="" xmlns:a16="http://schemas.microsoft.com/office/drawing/2014/main" id="{5ADA3F5E-0E3D-4807-833A-36F405F55857}"/>
                  </a:ext>
                </a:extLst>
              </p:cNvPr>
              <p:cNvGrpSpPr/>
              <p:nvPr/>
            </p:nvGrpSpPr>
            <p:grpSpPr bwMode="gray">
              <a:xfrm>
                <a:off x="2660650" y="3032868"/>
                <a:ext cx="6892278" cy="2941581"/>
                <a:chOff x="2660650" y="3032868"/>
                <a:chExt cx="6892278" cy="2941581"/>
              </a:xfrm>
            </p:grpSpPr>
            <p:grpSp>
              <p:nvGrpSpPr>
                <p:cNvPr id="237" name="Group 236">
                  <a:extLst>
                    <a:ext uri="{FF2B5EF4-FFF2-40B4-BE49-F238E27FC236}">
                      <a16:creationId xmlns="" xmlns:a16="http://schemas.microsoft.com/office/drawing/2014/main" id="{4EDAEA79-E75C-4CEF-B5E7-209F351D6BBD}"/>
                    </a:ext>
                  </a:extLst>
                </p:cNvPr>
                <p:cNvGrpSpPr/>
                <p:nvPr/>
              </p:nvGrpSpPr>
              <p:grpSpPr bwMode="gray">
                <a:xfrm>
                  <a:off x="2660650" y="3032868"/>
                  <a:ext cx="6892278" cy="2941581"/>
                  <a:chOff x="2660650" y="2804268"/>
                  <a:chExt cx="6892278" cy="2941581"/>
                </a:xfrm>
              </p:grpSpPr>
              <p:sp>
                <p:nvSpPr>
                  <p:cNvPr id="116" name="Rectangle: Rounded Corners 115">
                    <a:extLst>
                      <a:ext uri="{FF2B5EF4-FFF2-40B4-BE49-F238E27FC236}">
                        <a16:creationId xmlns="" xmlns:a16="http://schemas.microsoft.com/office/drawing/2014/main" id="{B9D95C9E-7513-46EF-B9BB-99AAC3DD7EC9}"/>
                      </a:ext>
                    </a:extLst>
                  </p:cNvPr>
                  <p:cNvSpPr/>
                  <p:nvPr/>
                </p:nvSpPr>
                <p:spPr bwMode="gray">
                  <a:xfrm>
                    <a:off x="2660650" y="3850374"/>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数据中心</a:t>
                    </a:r>
                    <a:endParaRPr lang="en-US" sz="1400" dirty="0">
                      <a:solidFill>
                        <a:schemeClr val="tx1"/>
                      </a:solidFill>
                    </a:endParaRPr>
                  </a:p>
                </p:txBody>
              </p:sp>
              <p:sp>
                <p:nvSpPr>
                  <p:cNvPr id="117" name="圆角矩形 75">
                    <a:extLst>
                      <a:ext uri="{FF2B5EF4-FFF2-40B4-BE49-F238E27FC236}">
                        <a16:creationId xmlns="" xmlns:a16="http://schemas.microsoft.com/office/drawing/2014/main" id="{C235651E-4FAF-4746-9BD9-49F837C4DB4F}"/>
                      </a:ext>
                    </a:extLst>
                  </p:cNvPr>
                  <p:cNvSpPr/>
                  <p:nvPr/>
                </p:nvSpPr>
                <p:spPr bwMode="gray">
                  <a:xfrm>
                    <a:off x="4529738" y="3821799"/>
                    <a:ext cx="3132524" cy="192405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承载网</a:t>
                    </a: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18" name="Rectangle: Rounded Corners 117">
                    <a:extLst>
                      <a:ext uri="{FF2B5EF4-FFF2-40B4-BE49-F238E27FC236}">
                        <a16:creationId xmlns="" xmlns:a16="http://schemas.microsoft.com/office/drawing/2014/main" id="{B03A0903-857C-411A-B574-90715E4F5131}"/>
                      </a:ext>
                    </a:extLst>
                  </p:cNvPr>
                  <p:cNvSpPr/>
                  <p:nvPr/>
                </p:nvSpPr>
                <p:spPr bwMode="gray">
                  <a:xfrm>
                    <a:off x="2660650" y="4903252"/>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数据中心</a:t>
                    </a:r>
                    <a:endParaRPr lang="en-US" sz="1400" dirty="0">
                      <a:solidFill>
                        <a:schemeClr val="tx1"/>
                      </a:solidFill>
                    </a:endParaRPr>
                  </a:p>
                </p:txBody>
              </p:sp>
              <p:pic>
                <p:nvPicPr>
                  <p:cNvPr id="122" name="图片 48">
                    <a:extLst>
                      <a:ext uri="{FF2B5EF4-FFF2-40B4-BE49-F238E27FC236}">
                        <a16:creationId xmlns="" xmlns:a16="http://schemas.microsoft.com/office/drawing/2014/main" id="{1B7659F7-E572-4E4A-BD75-ADB70F19BCB3}"/>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549705" y="4058127"/>
                    <a:ext cx="378863" cy="310667"/>
                  </a:xfrm>
                  <a:prstGeom prst="rect">
                    <a:avLst/>
                  </a:prstGeom>
                </p:spPr>
              </p:pic>
              <p:pic>
                <p:nvPicPr>
                  <p:cNvPr id="124" name="图片 48">
                    <a:extLst>
                      <a:ext uri="{FF2B5EF4-FFF2-40B4-BE49-F238E27FC236}">
                        <a16:creationId xmlns="" xmlns:a16="http://schemas.microsoft.com/office/drawing/2014/main" id="{7B693230-7BDA-4E49-9F1B-1E19C0537A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873" y="4058126"/>
                    <a:ext cx="378863" cy="310667"/>
                  </a:xfrm>
                  <a:prstGeom prst="rect">
                    <a:avLst/>
                  </a:prstGeom>
                </p:spPr>
              </p:pic>
              <p:pic>
                <p:nvPicPr>
                  <p:cNvPr id="125" name="图片 48">
                    <a:extLst>
                      <a:ext uri="{FF2B5EF4-FFF2-40B4-BE49-F238E27FC236}">
                        <a16:creationId xmlns="" xmlns:a16="http://schemas.microsoft.com/office/drawing/2014/main" id="{C37C927C-DC60-4E96-806A-63A5465CFE6A}"/>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549705" y="5111005"/>
                    <a:ext cx="378863" cy="310667"/>
                  </a:xfrm>
                  <a:prstGeom prst="rect">
                    <a:avLst/>
                  </a:prstGeom>
                </p:spPr>
              </p:pic>
              <p:pic>
                <p:nvPicPr>
                  <p:cNvPr id="126" name="图片 48">
                    <a:extLst>
                      <a:ext uri="{FF2B5EF4-FFF2-40B4-BE49-F238E27FC236}">
                        <a16:creationId xmlns="" xmlns:a16="http://schemas.microsoft.com/office/drawing/2014/main" id="{26ACF5A2-C051-4324-AC06-8194B75544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873" y="5111004"/>
                    <a:ext cx="378863" cy="310667"/>
                  </a:xfrm>
                  <a:prstGeom prst="rect">
                    <a:avLst/>
                  </a:prstGeom>
                </p:spPr>
              </p:pic>
              <p:sp>
                <p:nvSpPr>
                  <p:cNvPr id="127" name="Rectangle: Rounded Corners 126">
                    <a:extLst>
                      <a:ext uri="{FF2B5EF4-FFF2-40B4-BE49-F238E27FC236}">
                        <a16:creationId xmlns="" xmlns:a16="http://schemas.microsoft.com/office/drawing/2014/main" id="{2C3FB04C-5064-4568-ADF9-9C71D0620FC8}"/>
                      </a:ext>
                    </a:extLst>
                  </p:cNvPr>
                  <p:cNvSpPr/>
                  <p:nvPr/>
                </p:nvSpPr>
                <p:spPr bwMode="gray">
                  <a:xfrm>
                    <a:off x="8562328" y="3879314"/>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tx1"/>
                        </a:solidFill>
                      </a:rPr>
                      <a:t>企业分支</a:t>
                    </a:r>
                    <a:endParaRPr lang="en-US" sz="1400" dirty="0">
                      <a:solidFill>
                        <a:schemeClr val="tx1"/>
                      </a:solidFill>
                    </a:endParaRPr>
                  </a:p>
                </p:txBody>
              </p:sp>
              <p:pic>
                <p:nvPicPr>
                  <p:cNvPr id="128" name="图片 48">
                    <a:extLst>
                      <a:ext uri="{FF2B5EF4-FFF2-40B4-BE49-F238E27FC236}">
                        <a16:creationId xmlns="" xmlns:a16="http://schemas.microsoft.com/office/drawing/2014/main" id="{38125C87-B4F2-45BB-B493-79F4966C13F8}"/>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62629" y="4058125"/>
                    <a:ext cx="378863" cy="310667"/>
                  </a:xfrm>
                  <a:prstGeom prst="rect">
                    <a:avLst/>
                  </a:prstGeom>
                </p:spPr>
              </p:pic>
              <p:sp>
                <p:nvSpPr>
                  <p:cNvPr id="129" name="Rectangle: Rounded Corners 128">
                    <a:extLst>
                      <a:ext uri="{FF2B5EF4-FFF2-40B4-BE49-F238E27FC236}">
                        <a16:creationId xmlns="" xmlns:a16="http://schemas.microsoft.com/office/drawing/2014/main" id="{2EA52577-448A-4770-8F34-A5C1142CE5DD}"/>
                      </a:ext>
                    </a:extLst>
                  </p:cNvPr>
                  <p:cNvSpPr/>
                  <p:nvPr/>
                </p:nvSpPr>
                <p:spPr bwMode="gray">
                  <a:xfrm>
                    <a:off x="8562328" y="4905891"/>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tx1"/>
                        </a:solidFill>
                      </a:rPr>
                      <a:t>企业分支</a:t>
                    </a:r>
                    <a:endParaRPr lang="en-US" sz="1400" dirty="0">
                      <a:solidFill>
                        <a:schemeClr val="tx1"/>
                      </a:solidFill>
                    </a:endParaRPr>
                  </a:p>
                </p:txBody>
              </p:sp>
              <p:pic>
                <p:nvPicPr>
                  <p:cNvPr id="130" name="图片 48">
                    <a:extLst>
                      <a:ext uri="{FF2B5EF4-FFF2-40B4-BE49-F238E27FC236}">
                        <a16:creationId xmlns="" xmlns:a16="http://schemas.microsoft.com/office/drawing/2014/main" id="{FC23E84B-F969-4214-B56B-EC12BF879A4C}"/>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62629" y="5104810"/>
                    <a:ext cx="378863" cy="310667"/>
                  </a:xfrm>
                  <a:prstGeom prst="rect">
                    <a:avLst/>
                  </a:prstGeom>
                </p:spPr>
              </p:pic>
              <p:pic>
                <p:nvPicPr>
                  <p:cNvPr id="131" name="图片 48">
                    <a:extLst>
                      <a:ext uri="{FF2B5EF4-FFF2-40B4-BE49-F238E27FC236}">
                        <a16:creationId xmlns="" xmlns:a16="http://schemas.microsoft.com/office/drawing/2014/main" id="{41C53DAD-AFF2-4593-A40F-81A8532327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07562" y="4055192"/>
                    <a:ext cx="378863" cy="310667"/>
                  </a:xfrm>
                  <a:prstGeom prst="rect">
                    <a:avLst/>
                  </a:prstGeom>
                </p:spPr>
              </p:pic>
              <p:pic>
                <p:nvPicPr>
                  <p:cNvPr id="132" name="图片 48">
                    <a:extLst>
                      <a:ext uri="{FF2B5EF4-FFF2-40B4-BE49-F238E27FC236}">
                        <a16:creationId xmlns="" xmlns:a16="http://schemas.microsoft.com/office/drawing/2014/main" id="{B298DEDD-8AF3-4610-BA5F-9C6B52E933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07562" y="5108070"/>
                    <a:ext cx="378863" cy="310667"/>
                  </a:xfrm>
                  <a:prstGeom prst="rect">
                    <a:avLst/>
                  </a:prstGeom>
                </p:spPr>
              </p:pic>
              <p:cxnSp>
                <p:nvCxnSpPr>
                  <p:cNvPr id="133" name="Straight Connector 132">
                    <a:extLst>
                      <a:ext uri="{FF2B5EF4-FFF2-40B4-BE49-F238E27FC236}">
                        <a16:creationId xmlns="" xmlns:a16="http://schemas.microsoft.com/office/drawing/2014/main" id="{50A3EF84-C2F3-4B20-9903-99F02A20651D}"/>
                      </a:ext>
                    </a:extLst>
                  </p:cNvPr>
                  <p:cNvCxnSpPr>
                    <a:cxnSpLocks/>
                    <a:stCxn id="122" idx="3"/>
                    <a:endCxn id="124" idx="1"/>
                  </p:cNvCxnSpPr>
                  <p:nvPr/>
                </p:nvCxnSpPr>
                <p:spPr bwMode="gray">
                  <a:xfrm flipV="1">
                    <a:off x="3928568" y="4213460"/>
                    <a:ext cx="422305"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 xmlns:a16="http://schemas.microsoft.com/office/drawing/2014/main" id="{CE3F0CBF-7307-4C35-A031-F43341725736}"/>
                      </a:ext>
                    </a:extLst>
                  </p:cNvPr>
                  <p:cNvCxnSpPr>
                    <a:cxnSpLocks/>
                    <a:stCxn id="125" idx="3"/>
                    <a:endCxn id="126" idx="1"/>
                  </p:cNvCxnSpPr>
                  <p:nvPr/>
                </p:nvCxnSpPr>
                <p:spPr bwMode="gray">
                  <a:xfrm flipV="1">
                    <a:off x="3928568" y="5266338"/>
                    <a:ext cx="422305"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 xmlns:a16="http://schemas.microsoft.com/office/drawing/2014/main" id="{642B4D49-1A2B-4CC1-AD89-D93F84979454}"/>
                      </a:ext>
                    </a:extLst>
                  </p:cNvPr>
                  <p:cNvCxnSpPr>
                    <a:cxnSpLocks/>
                    <a:stCxn id="131" idx="3"/>
                    <a:endCxn id="128" idx="1"/>
                  </p:cNvCxnSpPr>
                  <p:nvPr/>
                </p:nvCxnSpPr>
                <p:spPr bwMode="gray">
                  <a:xfrm>
                    <a:off x="7886425" y="4210526"/>
                    <a:ext cx="376204" cy="293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 xmlns:a16="http://schemas.microsoft.com/office/drawing/2014/main" id="{3308260C-A20B-454A-9434-61F7ACFBBDC1}"/>
                      </a:ext>
                    </a:extLst>
                  </p:cNvPr>
                  <p:cNvCxnSpPr>
                    <a:cxnSpLocks/>
                    <a:stCxn id="132" idx="3"/>
                    <a:endCxn id="130" idx="1"/>
                  </p:cNvCxnSpPr>
                  <p:nvPr/>
                </p:nvCxnSpPr>
                <p:spPr bwMode="gray">
                  <a:xfrm flipV="1">
                    <a:off x="7886425" y="5260144"/>
                    <a:ext cx="376204" cy="32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44" name="图片 24">
                    <a:extLst>
                      <a:ext uri="{FF2B5EF4-FFF2-40B4-BE49-F238E27FC236}">
                        <a16:creationId xmlns="" xmlns:a16="http://schemas.microsoft.com/office/drawing/2014/main" id="{9AC3CA57-DCD4-42A3-BD3D-68CAF661EF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347221" y="2822994"/>
                    <a:ext cx="1502493" cy="277100"/>
                  </a:xfrm>
                  <a:prstGeom prst="rect">
                    <a:avLst/>
                  </a:prstGeom>
                </p:spPr>
              </p:pic>
              <p:sp>
                <p:nvSpPr>
                  <p:cNvPr id="145" name="圆角矩形 75">
                    <a:extLst>
                      <a:ext uri="{FF2B5EF4-FFF2-40B4-BE49-F238E27FC236}">
                        <a16:creationId xmlns="" xmlns:a16="http://schemas.microsoft.com/office/drawing/2014/main" id="{F61CD098-6498-4A67-835D-42019A7DC334}"/>
                      </a:ext>
                    </a:extLst>
                  </p:cNvPr>
                  <p:cNvSpPr/>
                  <p:nvPr/>
                </p:nvSpPr>
                <p:spPr bwMode="gray">
                  <a:xfrm>
                    <a:off x="5288748" y="2804268"/>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46" name="Straight Connector 145">
                    <a:extLst>
                      <a:ext uri="{FF2B5EF4-FFF2-40B4-BE49-F238E27FC236}">
                        <a16:creationId xmlns="" xmlns:a16="http://schemas.microsoft.com/office/drawing/2014/main" id="{00C1FA8D-7961-494A-98C0-3D86BF184D7A}"/>
                      </a:ext>
                    </a:extLst>
                  </p:cNvPr>
                  <p:cNvCxnSpPr>
                    <a:cxnSpLocks/>
                    <a:stCxn id="145" idx="2"/>
                    <a:endCxn id="117" idx="0"/>
                  </p:cNvCxnSpPr>
                  <p:nvPr/>
                </p:nvCxnSpPr>
                <p:spPr bwMode="gray">
                  <a:xfrm>
                    <a:off x="6092690" y="3110720"/>
                    <a:ext cx="3310" cy="71107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9" name="Freeform: Shape 148">
                    <a:extLst>
                      <a:ext uri="{FF2B5EF4-FFF2-40B4-BE49-F238E27FC236}">
                        <a16:creationId xmlns="" xmlns:a16="http://schemas.microsoft.com/office/drawing/2014/main" id="{596A26F1-F980-4510-82E4-26933F59A917}"/>
                      </a:ext>
                    </a:extLst>
                  </p:cNvPr>
                  <p:cNvSpPr/>
                  <p:nvPr/>
                </p:nvSpPr>
                <p:spPr bwMode="gray">
                  <a:xfrm>
                    <a:off x="3728404" y="3850374"/>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TextBox 271">
                    <a:extLst>
                      <a:ext uri="{FF2B5EF4-FFF2-40B4-BE49-F238E27FC236}">
                        <a16:creationId xmlns="" xmlns:a16="http://schemas.microsoft.com/office/drawing/2014/main" id="{85264A93-86EE-44F3-9910-0892887E05E7}"/>
                      </a:ext>
                    </a:extLst>
                  </p:cNvPr>
                  <p:cNvSpPr txBox="1"/>
                  <p:nvPr/>
                </p:nvSpPr>
                <p:spPr bwMode="gray">
                  <a:xfrm>
                    <a:off x="3847090" y="3603748"/>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Freeform: Shape 150">
                    <a:extLst>
                      <a:ext uri="{FF2B5EF4-FFF2-40B4-BE49-F238E27FC236}">
                        <a16:creationId xmlns="" xmlns:a16="http://schemas.microsoft.com/office/drawing/2014/main" id="{54AF15BC-63D7-4D00-B87A-3DFCE2F1C45F}"/>
                      </a:ext>
                    </a:extLst>
                  </p:cNvPr>
                  <p:cNvSpPr/>
                  <p:nvPr/>
                </p:nvSpPr>
                <p:spPr bwMode="gray">
                  <a:xfrm>
                    <a:off x="3710136" y="4894242"/>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TextBox 271">
                    <a:extLst>
                      <a:ext uri="{FF2B5EF4-FFF2-40B4-BE49-F238E27FC236}">
                        <a16:creationId xmlns="" xmlns:a16="http://schemas.microsoft.com/office/drawing/2014/main" id="{47973281-C9C7-413E-806D-4D76132BAE1C}"/>
                      </a:ext>
                    </a:extLst>
                  </p:cNvPr>
                  <p:cNvSpPr txBox="1"/>
                  <p:nvPr/>
                </p:nvSpPr>
                <p:spPr bwMode="gray">
                  <a:xfrm>
                    <a:off x="3841597" y="4674724"/>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Freeform: Shape 153">
                    <a:extLst>
                      <a:ext uri="{FF2B5EF4-FFF2-40B4-BE49-F238E27FC236}">
                        <a16:creationId xmlns="" xmlns:a16="http://schemas.microsoft.com/office/drawing/2014/main" id="{799B219A-2382-4B8C-826D-1D5C890F8FD3}"/>
                      </a:ext>
                    </a:extLst>
                  </p:cNvPr>
                  <p:cNvSpPr/>
                  <p:nvPr/>
                </p:nvSpPr>
                <p:spPr bwMode="gray">
                  <a:xfrm>
                    <a:off x="7729753" y="3850374"/>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271">
                    <a:extLst>
                      <a:ext uri="{FF2B5EF4-FFF2-40B4-BE49-F238E27FC236}">
                        <a16:creationId xmlns="" xmlns:a16="http://schemas.microsoft.com/office/drawing/2014/main" id="{CC350E7A-E123-4979-8E5A-4718A59A915F}"/>
                      </a:ext>
                    </a:extLst>
                  </p:cNvPr>
                  <p:cNvSpPr txBox="1"/>
                  <p:nvPr/>
                </p:nvSpPr>
                <p:spPr bwMode="gray">
                  <a:xfrm>
                    <a:off x="7848439" y="3603748"/>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Freeform: Shape 155">
                    <a:extLst>
                      <a:ext uri="{FF2B5EF4-FFF2-40B4-BE49-F238E27FC236}">
                        <a16:creationId xmlns="" xmlns:a16="http://schemas.microsoft.com/office/drawing/2014/main" id="{3518BA23-31E0-4B83-B492-44307EC8BB69}"/>
                      </a:ext>
                    </a:extLst>
                  </p:cNvPr>
                  <p:cNvSpPr/>
                  <p:nvPr/>
                </p:nvSpPr>
                <p:spPr bwMode="gray">
                  <a:xfrm>
                    <a:off x="7723588" y="4905891"/>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TextBox 271">
                    <a:extLst>
                      <a:ext uri="{FF2B5EF4-FFF2-40B4-BE49-F238E27FC236}">
                        <a16:creationId xmlns="" xmlns:a16="http://schemas.microsoft.com/office/drawing/2014/main" id="{D3A481AB-2718-4916-A124-23D372C7B6AD}"/>
                      </a:ext>
                    </a:extLst>
                  </p:cNvPr>
                  <p:cNvSpPr txBox="1"/>
                  <p:nvPr/>
                </p:nvSpPr>
                <p:spPr bwMode="gray">
                  <a:xfrm>
                    <a:off x="7842274" y="4659265"/>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Freeform: Shape 157">
                    <a:extLst>
                      <a:ext uri="{FF2B5EF4-FFF2-40B4-BE49-F238E27FC236}">
                        <a16:creationId xmlns="" xmlns:a16="http://schemas.microsoft.com/office/drawing/2014/main" id="{4BA9607E-82AC-40F3-ADCA-FB72378BFED8}"/>
                      </a:ext>
                    </a:extLst>
                  </p:cNvPr>
                  <p:cNvSpPr/>
                  <p:nvPr/>
                </p:nvSpPr>
                <p:spPr bwMode="gray">
                  <a:xfrm rot="20692293">
                    <a:off x="4717848" y="3905325"/>
                    <a:ext cx="1157390" cy="17813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Freeform: Shape 160">
                    <a:extLst>
                      <a:ext uri="{FF2B5EF4-FFF2-40B4-BE49-F238E27FC236}">
                        <a16:creationId xmlns="" xmlns:a16="http://schemas.microsoft.com/office/drawing/2014/main" id="{608C0D21-AE08-4FA8-9261-2B96664BBF81}"/>
                      </a:ext>
                    </a:extLst>
                  </p:cNvPr>
                  <p:cNvSpPr/>
                  <p:nvPr/>
                </p:nvSpPr>
                <p:spPr bwMode="gray">
                  <a:xfrm rot="19235733">
                    <a:off x="4308704" y="4357432"/>
                    <a:ext cx="1705988" cy="211417"/>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TextBox 271">
                    <a:extLst>
                      <a:ext uri="{FF2B5EF4-FFF2-40B4-BE49-F238E27FC236}">
                        <a16:creationId xmlns="" xmlns:a16="http://schemas.microsoft.com/office/drawing/2014/main" id="{135CFFB3-9D15-4DFD-8885-06C429B37D79}"/>
                      </a:ext>
                    </a:extLst>
                  </p:cNvPr>
                  <p:cNvSpPr txBox="1"/>
                  <p:nvPr/>
                </p:nvSpPr>
                <p:spPr bwMode="gray">
                  <a:xfrm rot="20059517">
                    <a:off x="4772056" y="3954704"/>
                    <a:ext cx="82288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MP-IBGP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Freeform: Shape 163">
                    <a:extLst>
                      <a:ext uri="{FF2B5EF4-FFF2-40B4-BE49-F238E27FC236}">
                        <a16:creationId xmlns="" xmlns:a16="http://schemas.microsoft.com/office/drawing/2014/main" id="{5136E748-71D7-441A-A199-F9994AFB147B}"/>
                      </a:ext>
                    </a:extLst>
                  </p:cNvPr>
                  <p:cNvSpPr/>
                  <p:nvPr/>
                </p:nvSpPr>
                <p:spPr bwMode="gray">
                  <a:xfrm rot="16200000">
                    <a:off x="5709161" y="3397758"/>
                    <a:ext cx="597779" cy="4612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56C4D2"/>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TextBox 271">
                    <a:extLst>
                      <a:ext uri="{FF2B5EF4-FFF2-40B4-BE49-F238E27FC236}">
                        <a16:creationId xmlns="" xmlns:a16="http://schemas.microsoft.com/office/drawing/2014/main" id="{4FB37AA7-69F4-428A-B371-96527D0B2F53}"/>
                      </a:ext>
                    </a:extLst>
                  </p:cNvPr>
                  <p:cNvSpPr txBox="1"/>
                  <p:nvPr/>
                </p:nvSpPr>
                <p:spPr bwMode="gray">
                  <a:xfrm>
                    <a:off x="5347221" y="3288534"/>
                    <a:ext cx="709208"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3" name="TextBox 271">
                  <a:extLst>
                    <a:ext uri="{FF2B5EF4-FFF2-40B4-BE49-F238E27FC236}">
                      <a16:creationId xmlns="" xmlns:a16="http://schemas.microsoft.com/office/drawing/2014/main" id="{FF18A56A-2BE3-4CD7-B136-7A794470756D}"/>
                    </a:ext>
                  </a:extLst>
                </p:cNvPr>
                <p:cNvSpPr txBox="1"/>
                <p:nvPr/>
              </p:nvSpPr>
              <p:spPr bwMode="gray">
                <a:xfrm>
                  <a:off x="3553088" y="457455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TextBox 271">
                  <a:extLst>
                    <a:ext uri="{FF2B5EF4-FFF2-40B4-BE49-F238E27FC236}">
                      <a16:creationId xmlns="" xmlns:a16="http://schemas.microsoft.com/office/drawing/2014/main" id="{7D91F9C3-3683-406B-9EF8-D2DAD1170ED9}"/>
                    </a:ext>
                  </a:extLst>
                </p:cNvPr>
                <p:cNvSpPr txBox="1"/>
                <p:nvPr/>
              </p:nvSpPr>
              <p:spPr bwMode="gray">
                <a:xfrm>
                  <a:off x="4361884" y="457304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TextBox 271">
                  <a:extLst>
                    <a:ext uri="{FF2B5EF4-FFF2-40B4-BE49-F238E27FC236}">
                      <a16:creationId xmlns="" xmlns:a16="http://schemas.microsoft.com/office/drawing/2014/main" id="{5670D506-BD14-4FF2-99B7-DEFF7C511921}"/>
                    </a:ext>
                  </a:extLst>
                </p:cNvPr>
                <p:cNvSpPr txBox="1"/>
                <p:nvPr/>
              </p:nvSpPr>
              <p:spPr bwMode="gray">
                <a:xfrm>
                  <a:off x="3534765" y="563585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TextBox 271">
                  <a:extLst>
                    <a:ext uri="{FF2B5EF4-FFF2-40B4-BE49-F238E27FC236}">
                      <a16:creationId xmlns="" xmlns:a16="http://schemas.microsoft.com/office/drawing/2014/main" id="{4CA4B856-0DA4-4985-97AA-D082D22E8032}"/>
                    </a:ext>
                  </a:extLst>
                </p:cNvPr>
                <p:cNvSpPr txBox="1"/>
                <p:nvPr/>
              </p:nvSpPr>
              <p:spPr bwMode="gray">
                <a:xfrm>
                  <a:off x="4343561" y="563434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TextBox 271">
                  <a:extLst>
                    <a:ext uri="{FF2B5EF4-FFF2-40B4-BE49-F238E27FC236}">
                      <a16:creationId xmlns="" xmlns:a16="http://schemas.microsoft.com/office/drawing/2014/main" id="{3DE7FCA4-0A27-46FA-A16B-D485FB55BE25}"/>
                    </a:ext>
                  </a:extLst>
                </p:cNvPr>
                <p:cNvSpPr txBox="1"/>
                <p:nvPr/>
              </p:nvSpPr>
              <p:spPr bwMode="gray">
                <a:xfrm>
                  <a:off x="8260049" y="5653187"/>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TextBox 271">
                  <a:extLst>
                    <a:ext uri="{FF2B5EF4-FFF2-40B4-BE49-F238E27FC236}">
                      <a16:creationId xmlns="" xmlns:a16="http://schemas.microsoft.com/office/drawing/2014/main" id="{C61235E4-F08F-4FD8-86B2-3E759B2B3822}"/>
                    </a:ext>
                  </a:extLst>
                </p:cNvPr>
                <p:cNvSpPr txBox="1"/>
                <p:nvPr/>
              </p:nvSpPr>
              <p:spPr bwMode="gray">
                <a:xfrm>
                  <a:off x="7495476" y="563434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TextBox 271">
                  <a:extLst>
                    <a:ext uri="{FF2B5EF4-FFF2-40B4-BE49-F238E27FC236}">
                      <a16:creationId xmlns="" xmlns:a16="http://schemas.microsoft.com/office/drawing/2014/main" id="{3FC9B4EA-D72E-4DC0-BC42-8C3B71DCA904}"/>
                    </a:ext>
                  </a:extLst>
                </p:cNvPr>
                <p:cNvSpPr txBox="1"/>
                <p:nvPr/>
              </p:nvSpPr>
              <p:spPr bwMode="gray">
                <a:xfrm>
                  <a:off x="8278372" y="4576277"/>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9" name="TextBox 271">
                  <a:extLst>
                    <a:ext uri="{FF2B5EF4-FFF2-40B4-BE49-F238E27FC236}">
                      <a16:creationId xmlns="" xmlns:a16="http://schemas.microsoft.com/office/drawing/2014/main" id="{70231FA6-EA40-4DEC-BE75-D2C54D3E84B0}"/>
                    </a:ext>
                  </a:extLst>
                </p:cNvPr>
                <p:cNvSpPr txBox="1"/>
                <p:nvPr/>
              </p:nvSpPr>
              <p:spPr bwMode="gray">
                <a:xfrm>
                  <a:off x="7513799" y="455743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10" name="图片 48">
                <a:extLst>
                  <a:ext uri="{FF2B5EF4-FFF2-40B4-BE49-F238E27FC236}">
                    <a16:creationId xmlns="" xmlns:a16="http://schemas.microsoft.com/office/drawing/2014/main" id="{415B1D48-8B53-4A5F-91C9-8E0BA1146D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95766" y="3942582"/>
                <a:ext cx="378863" cy="310667"/>
              </a:xfrm>
              <a:prstGeom prst="rect">
                <a:avLst/>
              </a:prstGeom>
            </p:spPr>
          </p:pic>
          <p:sp>
            <p:nvSpPr>
              <p:cNvPr id="240" name="TextBox 271">
                <a:extLst>
                  <a:ext uri="{FF2B5EF4-FFF2-40B4-BE49-F238E27FC236}">
                    <a16:creationId xmlns="" xmlns:a16="http://schemas.microsoft.com/office/drawing/2014/main" id="{4A360FA4-4E00-4933-BA67-0FAA8EA52F32}"/>
                  </a:ext>
                </a:extLst>
              </p:cNvPr>
              <p:cNvSpPr txBox="1"/>
              <p:nvPr/>
            </p:nvSpPr>
            <p:spPr bwMode="gray">
              <a:xfrm>
                <a:off x="5903258" y="422256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TextBox 271">
                <a:extLst>
                  <a:ext uri="{FF2B5EF4-FFF2-40B4-BE49-F238E27FC236}">
                    <a16:creationId xmlns="" xmlns:a16="http://schemas.microsoft.com/office/drawing/2014/main" id="{45C32ACF-B3D1-448B-9EC1-1ABCB40C6976}"/>
                  </a:ext>
                </a:extLst>
              </p:cNvPr>
              <p:cNvSpPr txBox="1"/>
              <p:nvPr/>
            </p:nvSpPr>
            <p:spPr bwMode="gray">
              <a:xfrm rot="18598943">
                <a:off x="4491332" y="4890263"/>
                <a:ext cx="808676"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MP-IBGP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47" name="Freeform: Shape 246">
              <a:extLst>
                <a:ext uri="{FF2B5EF4-FFF2-40B4-BE49-F238E27FC236}">
                  <a16:creationId xmlns="" xmlns:a16="http://schemas.microsoft.com/office/drawing/2014/main" id="{5EC045A6-36D8-4CCD-8812-6BD53EFF6831}"/>
                </a:ext>
              </a:extLst>
            </p:cNvPr>
            <p:cNvSpPr/>
            <p:nvPr/>
          </p:nvSpPr>
          <p:spPr bwMode="gray">
            <a:xfrm rot="907707" flipH="1">
              <a:off x="6297537" y="4154653"/>
              <a:ext cx="1233223" cy="17813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Freeform: Shape 247">
              <a:extLst>
                <a:ext uri="{FF2B5EF4-FFF2-40B4-BE49-F238E27FC236}">
                  <a16:creationId xmlns="" xmlns:a16="http://schemas.microsoft.com/office/drawing/2014/main" id="{40AD1C96-5DB8-4553-B75F-343926F1F91F}"/>
                </a:ext>
              </a:extLst>
            </p:cNvPr>
            <p:cNvSpPr/>
            <p:nvPr/>
          </p:nvSpPr>
          <p:spPr bwMode="gray">
            <a:xfrm rot="2364267" flipH="1">
              <a:off x="6155325" y="4575570"/>
              <a:ext cx="1705988" cy="211417"/>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487502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EA4E3343-87EA-4219-8771-FCDE1BDF1B2C}"/>
              </a:ext>
            </a:extLst>
          </p:cNvPr>
          <p:cNvSpPr>
            <a:spLocks noGrp="1"/>
          </p:cNvSpPr>
          <p:nvPr>
            <p:ph type="body" sz="quarter" idx="10"/>
          </p:nvPr>
        </p:nvSpPr>
        <p:spPr bwMode="gray">
          <a:xfrm>
            <a:off x="455612" y="1047751"/>
            <a:ext cx="11293475" cy="1566148"/>
          </a:xfrm>
        </p:spPr>
        <p:txBody>
          <a:bodyPr/>
          <a:lstStyle/>
          <a:p>
            <a:r>
              <a:rPr lang="zh-CN" altLang="en-US" sz="1800" dirty="0"/>
              <a:t>企业网络在部署</a:t>
            </a:r>
            <a:r>
              <a:rPr lang="en-US" altLang="zh-CN" sz="1800" dirty="0"/>
              <a:t>BGP</a:t>
            </a:r>
            <a:r>
              <a:rPr lang="zh-CN" altLang="en-US" sz="1800" dirty="0"/>
              <a:t>时一般采用私有</a:t>
            </a:r>
            <a:r>
              <a:rPr lang="en-US" altLang="zh-CN" sz="1800" dirty="0"/>
              <a:t>AS</a:t>
            </a:r>
            <a:r>
              <a:rPr lang="zh-CN" altLang="en-US" sz="1800" dirty="0"/>
              <a:t>号，私有</a:t>
            </a:r>
            <a:r>
              <a:rPr lang="en-US" altLang="zh-CN" sz="1800" dirty="0"/>
              <a:t>AS</a:t>
            </a:r>
            <a:r>
              <a:rPr lang="zh-CN" altLang="en-US" sz="1800" dirty="0"/>
              <a:t>号范围为</a:t>
            </a:r>
            <a:r>
              <a:rPr lang="en-US" altLang="zh-CN" sz="1800" dirty="0"/>
              <a:t>64512~65534</a:t>
            </a:r>
            <a:r>
              <a:rPr lang="zh-CN" altLang="en-US" sz="1800" dirty="0"/>
              <a:t>。</a:t>
            </a:r>
            <a:endParaRPr lang="en-US" altLang="zh-CN" sz="1800" dirty="0"/>
          </a:p>
          <a:p>
            <a:r>
              <a:rPr lang="zh-CN" altLang="en-US" sz="1800" dirty="0"/>
              <a:t>建议承载网统一部署一个</a:t>
            </a:r>
            <a:r>
              <a:rPr lang="en-US" altLang="zh-CN" sz="1800" dirty="0"/>
              <a:t>AS</a:t>
            </a:r>
            <a:r>
              <a:rPr lang="zh-CN" altLang="en-US" sz="1800" dirty="0"/>
              <a:t>，作为全网的高速转发核心；不同地域数据中心、企业分支部署独立</a:t>
            </a:r>
            <a:r>
              <a:rPr lang="en-US" altLang="zh-CN" sz="1800" dirty="0"/>
              <a:t>AS</a:t>
            </a:r>
            <a:r>
              <a:rPr lang="zh-CN" altLang="en-US" sz="1800" dirty="0"/>
              <a:t>，与承载网</a:t>
            </a:r>
            <a:r>
              <a:rPr lang="en-US" altLang="zh-CN" sz="1800" dirty="0"/>
              <a:t>AS</a:t>
            </a:r>
            <a:r>
              <a:rPr lang="zh-CN" altLang="en-US" sz="1800" dirty="0"/>
              <a:t>建立</a:t>
            </a:r>
            <a:r>
              <a:rPr lang="en-US" altLang="zh-CN" sz="1800" dirty="0"/>
              <a:t>EBGP</a:t>
            </a:r>
            <a:r>
              <a:rPr lang="zh-CN" altLang="en-US" sz="1800" dirty="0"/>
              <a:t>邻居。</a:t>
            </a:r>
            <a:endParaRPr lang="en-US" altLang="zh-CN" sz="1800" dirty="0"/>
          </a:p>
        </p:txBody>
      </p:sp>
      <p:sp>
        <p:nvSpPr>
          <p:cNvPr id="2" name="Title 1">
            <a:extLst>
              <a:ext uri="{FF2B5EF4-FFF2-40B4-BE49-F238E27FC236}">
                <a16:creationId xmlns="" xmlns:a16="http://schemas.microsoft.com/office/drawing/2014/main" id="{9F1D5894-3C35-4850-9357-40EA8A875792}"/>
              </a:ext>
            </a:extLst>
          </p:cNvPr>
          <p:cNvSpPr>
            <a:spLocks noGrp="1"/>
          </p:cNvSpPr>
          <p:nvPr>
            <p:ph type="title"/>
          </p:nvPr>
        </p:nvSpPr>
        <p:spPr bwMode="gray"/>
        <p:txBody>
          <a:bodyPr/>
          <a:lstStyle/>
          <a:p>
            <a:r>
              <a:rPr lang="en-US" dirty="0"/>
              <a:t>BGP</a:t>
            </a:r>
            <a:r>
              <a:rPr lang="zh-CN" altLang="en-US" dirty="0"/>
              <a:t> </a:t>
            </a:r>
            <a:r>
              <a:rPr lang="en-US" altLang="zh-CN" dirty="0"/>
              <a:t>AS</a:t>
            </a:r>
            <a:r>
              <a:rPr lang="zh-CN" altLang="en-US" dirty="0"/>
              <a:t>规划</a:t>
            </a:r>
            <a:endParaRPr lang="en-US" dirty="0"/>
          </a:p>
        </p:txBody>
      </p:sp>
      <p:sp>
        <p:nvSpPr>
          <p:cNvPr id="234" name="五边形 2">
            <a:extLst>
              <a:ext uri="{FF2B5EF4-FFF2-40B4-BE49-F238E27FC236}">
                <a16:creationId xmlns="" xmlns:a16="http://schemas.microsoft.com/office/drawing/2014/main" id="{A8C86E0A-116D-41C2-AA28-FFD923AAB170}"/>
              </a:ext>
            </a:extLst>
          </p:cNvPr>
          <p:cNvSpPr/>
          <p:nvPr/>
        </p:nvSpPr>
        <p:spPr bwMode="gray">
          <a:xfrm>
            <a:off x="934746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235" name="燕尾形 3">
            <a:extLst>
              <a:ext uri="{FF2B5EF4-FFF2-40B4-BE49-F238E27FC236}">
                <a16:creationId xmlns="" xmlns:a16="http://schemas.microsoft.com/office/drawing/2014/main" id="{B561DB3B-BF64-48FF-A4C7-EBFC207053E0}"/>
              </a:ext>
            </a:extLst>
          </p:cNvPr>
          <p:cNvSpPr/>
          <p:nvPr/>
        </p:nvSpPr>
        <p:spPr bwMode="gray">
          <a:xfrm>
            <a:off x="1046686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Group 5">
            <a:extLst>
              <a:ext uri="{FF2B5EF4-FFF2-40B4-BE49-F238E27FC236}">
                <a16:creationId xmlns="" xmlns:a16="http://schemas.microsoft.com/office/drawing/2014/main" id="{0C180A4D-50AE-43A5-BCC8-61588EDC9F0E}"/>
              </a:ext>
            </a:extLst>
          </p:cNvPr>
          <p:cNvGrpSpPr/>
          <p:nvPr/>
        </p:nvGrpSpPr>
        <p:grpSpPr bwMode="gray">
          <a:xfrm>
            <a:off x="2660650" y="3254298"/>
            <a:ext cx="6926035" cy="2142101"/>
            <a:chOff x="2660650" y="3254298"/>
            <a:chExt cx="6926035" cy="2142101"/>
          </a:xfrm>
        </p:grpSpPr>
        <p:sp>
          <p:nvSpPr>
            <p:cNvPr id="67" name="Rectangle: Rounded Corners 66">
              <a:extLst>
                <a:ext uri="{FF2B5EF4-FFF2-40B4-BE49-F238E27FC236}">
                  <a16:creationId xmlns="" xmlns:a16="http://schemas.microsoft.com/office/drawing/2014/main" id="{0E4D4D1C-0511-4719-B0BA-5E17C1DB7C85}"/>
                </a:ext>
              </a:extLst>
            </p:cNvPr>
            <p:cNvSpPr/>
            <p:nvPr/>
          </p:nvSpPr>
          <p:spPr bwMode="gray">
            <a:xfrm>
              <a:off x="2660650" y="3500924"/>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数据中心</a:t>
              </a:r>
              <a:endParaRPr lang="en-US" sz="1400" dirty="0">
                <a:solidFill>
                  <a:schemeClr val="tx1"/>
                </a:solidFill>
              </a:endParaRPr>
            </a:p>
          </p:txBody>
        </p:sp>
        <p:sp>
          <p:nvSpPr>
            <p:cNvPr id="68" name="圆角矩形 75">
              <a:extLst>
                <a:ext uri="{FF2B5EF4-FFF2-40B4-BE49-F238E27FC236}">
                  <a16:creationId xmlns="" xmlns:a16="http://schemas.microsoft.com/office/drawing/2014/main" id="{6E3CFF93-4D57-4C1B-A14E-75E703F3A7DE}"/>
                </a:ext>
              </a:extLst>
            </p:cNvPr>
            <p:cNvSpPr/>
            <p:nvPr/>
          </p:nvSpPr>
          <p:spPr bwMode="gray">
            <a:xfrm>
              <a:off x="4529738" y="3472349"/>
              <a:ext cx="3132524" cy="192405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r>
                <a:rPr kumimoji="0" lang="zh-CN" altLang="en-US"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承载网</a:t>
              </a: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9" name="Rectangle: Rounded Corners 68">
              <a:extLst>
                <a:ext uri="{FF2B5EF4-FFF2-40B4-BE49-F238E27FC236}">
                  <a16:creationId xmlns="" xmlns:a16="http://schemas.microsoft.com/office/drawing/2014/main" id="{EFBA9306-EE31-4B21-8625-FA561E6C20CD}"/>
                </a:ext>
              </a:extLst>
            </p:cNvPr>
            <p:cNvSpPr/>
            <p:nvPr/>
          </p:nvSpPr>
          <p:spPr bwMode="gray">
            <a:xfrm>
              <a:off x="2660650" y="4553802"/>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数据中心</a:t>
              </a:r>
              <a:endParaRPr lang="en-US" sz="1400" dirty="0">
                <a:solidFill>
                  <a:schemeClr val="tx1"/>
                </a:solidFill>
              </a:endParaRPr>
            </a:p>
          </p:txBody>
        </p:sp>
        <p:pic>
          <p:nvPicPr>
            <p:cNvPr id="70" name="图片 48">
              <a:extLst>
                <a:ext uri="{FF2B5EF4-FFF2-40B4-BE49-F238E27FC236}">
                  <a16:creationId xmlns="" xmlns:a16="http://schemas.microsoft.com/office/drawing/2014/main" id="{E8978A31-80D5-4F15-8397-4FA462554968}"/>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549705" y="3708677"/>
              <a:ext cx="378863" cy="310667"/>
            </a:xfrm>
            <a:prstGeom prst="rect">
              <a:avLst/>
            </a:prstGeom>
          </p:spPr>
        </p:pic>
        <p:pic>
          <p:nvPicPr>
            <p:cNvPr id="71" name="图片 48">
              <a:extLst>
                <a:ext uri="{FF2B5EF4-FFF2-40B4-BE49-F238E27FC236}">
                  <a16:creationId xmlns="" xmlns:a16="http://schemas.microsoft.com/office/drawing/2014/main" id="{0531B264-A125-4196-B589-FBA6529CA0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873" y="3708676"/>
              <a:ext cx="378863" cy="310667"/>
            </a:xfrm>
            <a:prstGeom prst="rect">
              <a:avLst/>
            </a:prstGeom>
          </p:spPr>
        </p:pic>
        <p:pic>
          <p:nvPicPr>
            <p:cNvPr id="72" name="图片 48">
              <a:extLst>
                <a:ext uri="{FF2B5EF4-FFF2-40B4-BE49-F238E27FC236}">
                  <a16:creationId xmlns="" xmlns:a16="http://schemas.microsoft.com/office/drawing/2014/main" id="{A0712959-8BC6-4EA4-AF1F-A21585194AEA}"/>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549705" y="4761555"/>
              <a:ext cx="378863" cy="310667"/>
            </a:xfrm>
            <a:prstGeom prst="rect">
              <a:avLst/>
            </a:prstGeom>
          </p:spPr>
        </p:pic>
        <p:pic>
          <p:nvPicPr>
            <p:cNvPr id="73" name="图片 48">
              <a:extLst>
                <a:ext uri="{FF2B5EF4-FFF2-40B4-BE49-F238E27FC236}">
                  <a16:creationId xmlns="" xmlns:a16="http://schemas.microsoft.com/office/drawing/2014/main" id="{88A3D428-3C9A-46E6-8AA9-3C89084C01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873" y="4761554"/>
              <a:ext cx="378863" cy="310667"/>
            </a:xfrm>
            <a:prstGeom prst="rect">
              <a:avLst/>
            </a:prstGeom>
          </p:spPr>
        </p:pic>
        <p:sp>
          <p:nvSpPr>
            <p:cNvPr id="74" name="Rectangle: Rounded Corners 73">
              <a:extLst>
                <a:ext uri="{FF2B5EF4-FFF2-40B4-BE49-F238E27FC236}">
                  <a16:creationId xmlns="" xmlns:a16="http://schemas.microsoft.com/office/drawing/2014/main" id="{90A28414-352A-49D6-8176-D59D19999051}"/>
                </a:ext>
              </a:extLst>
            </p:cNvPr>
            <p:cNvSpPr/>
            <p:nvPr/>
          </p:nvSpPr>
          <p:spPr bwMode="gray">
            <a:xfrm>
              <a:off x="8562328" y="3529864"/>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tx1"/>
                  </a:solidFill>
                </a:rPr>
                <a:t>企业分支</a:t>
              </a:r>
              <a:endParaRPr lang="en-US" sz="1400" dirty="0">
                <a:solidFill>
                  <a:schemeClr val="tx1"/>
                </a:solidFill>
              </a:endParaRPr>
            </a:p>
          </p:txBody>
        </p:sp>
        <p:pic>
          <p:nvPicPr>
            <p:cNvPr id="75" name="图片 48">
              <a:extLst>
                <a:ext uri="{FF2B5EF4-FFF2-40B4-BE49-F238E27FC236}">
                  <a16:creationId xmlns="" xmlns:a16="http://schemas.microsoft.com/office/drawing/2014/main" id="{EF417534-66FC-4909-874D-E242F537D742}"/>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62629" y="3708675"/>
              <a:ext cx="378863" cy="310667"/>
            </a:xfrm>
            <a:prstGeom prst="rect">
              <a:avLst/>
            </a:prstGeom>
          </p:spPr>
        </p:pic>
        <p:sp>
          <p:nvSpPr>
            <p:cNvPr id="76" name="Rectangle: Rounded Corners 75">
              <a:extLst>
                <a:ext uri="{FF2B5EF4-FFF2-40B4-BE49-F238E27FC236}">
                  <a16:creationId xmlns="" xmlns:a16="http://schemas.microsoft.com/office/drawing/2014/main" id="{A5FA7894-AAAF-4DBE-89F1-1807F029311C}"/>
                </a:ext>
              </a:extLst>
            </p:cNvPr>
            <p:cNvSpPr/>
            <p:nvPr/>
          </p:nvSpPr>
          <p:spPr bwMode="gray">
            <a:xfrm>
              <a:off x="8562328" y="4556441"/>
              <a:ext cx="990600" cy="726174"/>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dirty="0">
                  <a:solidFill>
                    <a:schemeClr val="tx1"/>
                  </a:solidFill>
                </a:rPr>
                <a:t>企业分支</a:t>
              </a:r>
              <a:endParaRPr lang="en-US" sz="1400" dirty="0">
                <a:solidFill>
                  <a:schemeClr val="tx1"/>
                </a:solidFill>
              </a:endParaRPr>
            </a:p>
          </p:txBody>
        </p:sp>
        <p:pic>
          <p:nvPicPr>
            <p:cNvPr id="77" name="图片 48">
              <a:extLst>
                <a:ext uri="{FF2B5EF4-FFF2-40B4-BE49-F238E27FC236}">
                  <a16:creationId xmlns="" xmlns:a16="http://schemas.microsoft.com/office/drawing/2014/main" id="{794D4084-61EB-4622-ACDB-D9301BB7E8E6}"/>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62629" y="4755360"/>
              <a:ext cx="378863" cy="310667"/>
            </a:xfrm>
            <a:prstGeom prst="rect">
              <a:avLst/>
            </a:prstGeom>
          </p:spPr>
        </p:pic>
        <p:pic>
          <p:nvPicPr>
            <p:cNvPr id="78" name="图片 48">
              <a:extLst>
                <a:ext uri="{FF2B5EF4-FFF2-40B4-BE49-F238E27FC236}">
                  <a16:creationId xmlns="" xmlns:a16="http://schemas.microsoft.com/office/drawing/2014/main" id="{D5C377EA-F84E-475B-8C21-D92C03324A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07562" y="3705742"/>
              <a:ext cx="378863" cy="310667"/>
            </a:xfrm>
            <a:prstGeom prst="rect">
              <a:avLst/>
            </a:prstGeom>
          </p:spPr>
        </p:pic>
        <p:pic>
          <p:nvPicPr>
            <p:cNvPr id="79" name="图片 48">
              <a:extLst>
                <a:ext uri="{FF2B5EF4-FFF2-40B4-BE49-F238E27FC236}">
                  <a16:creationId xmlns="" xmlns:a16="http://schemas.microsoft.com/office/drawing/2014/main" id="{2BF47C21-A9A6-4780-805B-9AE4ECBEB8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07562" y="4758620"/>
              <a:ext cx="378863" cy="310667"/>
            </a:xfrm>
            <a:prstGeom prst="rect">
              <a:avLst/>
            </a:prstGeom>
          </p:spPr>
        </p:pic>
        <p:cxnSp>
          <p:nvCxnSpPr>
            <p:cNvPr id="80" name="Straight Connector 79">
              <a:extLst>
                <a:ext uri="{FF2B5EF4-FFF2-40B4-BE49-F238E27FC236}">
                  <a16:creationId xmlns="" xmlns:a16="http://schemas.microsoft.com/office/drawing/2014/main" id="{7E8B7003-5F2B-45F4-8ADA-C9FD1BB3C108}"/>
                </a:ext>
              </a:extLst>
            </p:cNvPr>
            <p:cNvCxnSpPr>
              <a:cxnSpLocks/>
              <a:stCxn id="70" idx="3"/>
              <a:endCxn id="71" idx="1"/>
            </p:cNvCxnSpPr>
            <p:nvPr/>
          </p:nvCxnSpPr>
          <p:spPr bwMode="gray">
            <a:xfrm flipV="1">
              <a:off x="3928568" y="3864010"/>
              <a:ext cx="422305"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 xmlns:a16="http://schemas.microsoft.com/office/drawing/2014/main" id="{B4A35F08-E95C-4389-AF4E-412487BC2D29}"/>
                </a:ext>
              </a:extLst>
            </p:cNvPr>
            <p:cNvCxnSpPr>
              <a:cxnSpLocks/>
              <a:stCxn id="72" idx="3"/>
              <a:endCxn id="73" idx="1"/>
            </p:cNvCxnSpPr>
            <p:nvPr/>
          </p:nvCxnSpPr>
          <p:spPr bwMode="gray">
            <a:xfrm flipV="1">
              <a:off x="3928568" y="4916888"/>
              <a:ext cx="422305"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 xmlns:a16="http://schemas.microsoft.com/office/drawing/2014/main" id="{68C6B914-56C7-4AE3-968D-B09A3ACE4DCA}"/>
                </a:ext>
              </a:extLst>
            </p:cNvPr>
            <p:cNvCxnSpPr>
              <a:cxnSpLocks/>
              <a:stCxn id="78" idx="3"/>
              <a:endCxn id="75" idx="1"/>
            </p:cNvCxnSpPr>
            <p:nvPr/>
          </p:nvCxnSpPr>
          <p:spPr bwMode="gray">
            <a:xfrm>
              <a:off x="7886425" y="3861076"/>
              <a:ext cx="376204" cy="293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 xmlns:a16="http://schemas.microsoft.com/office/drawing/2014/main" id="{84294FBF-DF56-4192-938F-DF78A2219AEF}"/>
                </a:ext>
              </a:extLst>
            </p:cNvPr>
            <p:cNvCxnSpPr>
              <a:cxnSpLocks/>
              <a:stCxn id="79" idx="3"/>
              <a:endCxn id="77" idx="1"/>
            </p:cNvCxnSpPr>
            <p:nvPr/>
          </p:nvCxnSpPr>
          <p:spPr bwMode="gray">
            <a:xfrm flipV="1">
              <a:off x="7886425" y="4910694"/>
              <a:ext cx="376204" cy="32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7" name="Freeform: Shape 86">
              <a:extLst>
                <a:ext uri="{FF2B5EF4-FFF2-40B4-BE49-F238E27FC236}">
                  <a16:creationId xmlns="" xmlns:a16="http://schemas.microsoft.com/office/drawing/2014/main" id="{BD33F62C-8E84-4150-883E-2F3FA218DF31}"/>
                </a:ext>
              </a:extLst>
            </p:cNvPr>
            <p:cNvSpPr/>
            <p:nvPr/>
          </p:nvSpPr>
          <p:spPr bwMode="gray">
            <a:xfrm>
              <a:off x="3728404" y="3500924"/>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271">
              <a:extLst>
                <a:ext uri="{FF2B5EF4-FFF2-40B4-BE49-F238E27FC236}">
                  <a16:creationId xmlns="" xmlns:a16="http://schemas.microsoft.com/office/drawing/2014/main" id="{F48EC620-132B-48CE-9B0E-16A0B7F8A0B0}"/>
                </a:ext>
              </a:extLst>
            </p:cNvPr>
            <p:cNvSpPr txBox="1"/>
            <p:nvPr/>
          </p:nvSpPr>
          <p:spPr bwMode="gray">
            <a:xfrm>
              <a:off x="3847090" y="3254298"/>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Shape 88">
              <a:extLst>
                <a:ext uri="{FF2B5EF4-FFF2-40B4-BE49-F238E27FC236}">
                  <a16:creationId xmlns="" xmlns:a16="http://schemas.microsoft.com/office/drawing/2014/main" id="{17D05F99-215E-43E7-AF52-184FFE7AF1E4}"/>
                </a:ext>
              </a:extLst>
            </p:cNvPr>
            <p:cNvSpPr/>
            <p:nvPr/>
          </p:nvSpPr>
          <p:spPr bwMode="gray">
            <a:xfrm>
              <a:off x="3710136" y="4544792"/>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271">
              <a:extLst>
                <a:ext uri="{FF2B5EF4-FFF2-40B4-BE49-F238E27FC236}">
                  <a16:creationId xmlns="" xmlns:a16="http://schemas.microsoft.com/office/drawing/2014/main" id="{E9A57182-AA79-4AB3-A6F5-B64B3AA78D10}"/>
                </a:ext>
              </a:extLst>
            </p:cNvPr>
            <p:cNvSpPr txBox="1"/>
            <p:nvPr/>
          </p:nvSpPr>
          <p:spPr bwMode="gray">
            <a:xfrm>
              <a:off x="3841597" y="4325274"/>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Shape 90">
              <a:extLst>
                <a:ext uri="{FF2B5EF4-FFF2-40B4-BE49-F238E27FC236}">
                  <a16:creationId xmlns="" xmlns:a16="http://schemas.microsoft.com/office/drawing/2014/main" id="{BF2B7200-8D62-4C18-AE10-6B9F87B50574}"/>
                </a:ext>
              </a:extLst>
            </p:cNvPr>
            <p:cNvSpPr/>
            <p:nvPr/>
          </p:nvSpPr>
          <p:spPr bwMode="gray">
            <a:xfrm>
              <a:off x="7729753" y="3500924"/>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271">
              <a:extLst>
                <a:ext uri="{FF2B5EF4-FFF2-40B4-BE49-F238E27FC236}">
                  <a16:creationId xmlns="" xmlns:a16="http://schemas.microsoft.com/office/drawing/2014/main" id="{E2E2F14A-CA6F-487A-AE1D-E4310A26B838}"/>
                </a:ext>
              </a:extLst>
            </p:cNvPr>
            <p:cNvSpPr txBox="1"/>
            <p:nvPr/>
          </p:nvSpPr>
          <p:spPr bwMode="gray">
            <a:xfrm>
              <a:off x="7848439" y="3254298"/>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Shape 92">
              <a:extLst>
                <a:ext uri="{FF2B5EF4-FFF2-40B4-BE49-F238E27FC236}">
                  <a16:creationId xmlns="" xmlns:a16="http://schemas.microsoft.com/office/drawing/2014/main" id="{C523B7CB-D3A9-4868-8BA8-6BAE4C6B0C85}"/>
                </a:ext>
              </a:extLst>
            </p:cNvPr>
            <p:cNvSpPr/>
            <p:nvPr/>
          </p:nvSpPr>
          <p:spPr bwMode="gray">
            <a:xfrm>
              <a:off x="7723588" y="4556441"/>
              <a:ext cx="791027" cy="18563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271">
              <a:extLst>
                <a:ext uri="{FF2B5EF4-FFF2-40B4-BE49-F238E27FC236}">
                  <a16:creationId xmlns="" xmlns:a16="http://schemas.microsoft.com/office/drawing/2014/main" id="{295D38D0-E5CE-4AA5-861E-449A81B3EFA9}"/>
                </a:ext>
              </a:extLst>
            </p:cNvPr>
            <p:cNvSpPr txBox="1"/>
            <p:nvPr/>
          </p:nvSpPr>
          <p:spPr bwMode="gray">
            <a:xfrm>
              <a:off x="7842274" y="4309815"/>
              <a:ext cx="564639"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Freeform: Shape 94">
              <a:extLst>
                <a:ext uri="{FF2B5EF4-FFF2-40B4-BE49-F238E27FC236}">
                  <a16:creationId xmlns="" xmlns:a16="http://schemas.microsoft.com/office/drawing/2014/main" id="{903AA866-E988-4790-896C-2CE3C24078D1}"/>
                </a:ext>
              </a:extLst>
            </p:cNvPr>
            <p:cNvSpPr/>
            <p:nvPr/>
          </p:nvSpPr>
          <p:spPr bwMode="gray">
            <a:xfrm rot="20692293">
              <a:off x="4717848" y="3555875"/>
              <a:ext cx="1157390" cy="17813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 xmlns:a16="http://schemas.microsoft.com/office/drawing/2014/main" id="{BF3591A5-9EC3-400B-A9F7-F5CFA20A87FB}"/>
                </a:ext>
              </a:extLst>
            </p:cNvPr>
            <p:cNvSpPr/>
            <p:nvPr/>
          </p:nvSpPr>
          <p:spPr bwMode="gray">
            <a:xfrm rot="19235733">
              <a:off x="4308704" y="4007982"/>
              <a:ext cx="1705988" cy="211417"/>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271">
              <a:extLst>
                <a:ext uri="{FF2B5EF4-FFF2-40B4-BE49-F238E27FC236}">
                  <a16:creationId xmlns="" xmlns:a16="http://schemas.microsoft.com/office/drawing/2014/main" id="{EDDF6C5A-51DA-4BB5-8040-8AFAAE004604}"/>
                </a:ext>
              </a:extLst>
            </p:cNvPr>
            <p:cNvSpPr txBox="1"/>
            <p:nvPr/>
          </p:nvSpPr>
          <p:spPr bwMode="gray">
            <a:xfrm rot="20059517">
              <a:off x="4772056" y="3605254"/>
              <a:ext cx="82288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MP-IBGP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271">
              <a:extLst>
                <a:ext uri="{FF2B5EF4-FFF2-40B4-BE49-F238E27FC236}">
                  <a16:creationId xmlns="" xmlns:a16="http://schemas.microsoft.com/office/drawing/2014/main" id="{44799491-3C9A-4C38-9607-4EA7C738BFB4}"/>
                </a:ext>
              </a:extLst>
            </p:cNvPr>
            <p:cNvSpPr txBox="1"/>
            <p:nvPr/>
          </p:nvSpPr>
          <p:spPr bwMode="gray">
            <a:xfrm>
              <a:off x="3553088" y="399650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271">
              <a:extLst>
                <a:ext uri="{FF2B5EF4-FFF2-40B4-BE49-F238E27FC236}">
                  <a16:creationId xmlns="" xmlns:a16="http://schemas.microsoft.com/office/drawing/2014/main" id="{14519428-35F5-49E1-8D9E-B5E04B4D586A}"/>
                </a:ext>
              </a:extLst>
            </p:cNvPr>
            <p:cNvSpPr txBox="1"/>
            <p:nvPr/>
          </p:nvSpPr>
          <p:spPr bwMode="gray">
            <a:xfrm>
              <a:off x="4361884" y="399499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TextBox 271">
              <a:extLst>
                <a:ext uri="{FF2B5EF4-FFF2-40B4-BE49-F238E27FC236}">
                  <a16:creationId xmlns="" xmlns:a16="http://schemas.microsoft.com/office/drawing/2014/main" id="{4FDDA859-2771-4098-9AF9-582229B803CF}"/>
                </a:ext>
              </a:extLst>
            </p:cNvPr>
            <p:cNvSpPr txBox="1"/>
            <p:nvPr/>
          </p:nvSpPr>
          <p:spPr bwMode="gray">
            <a:xfrm>
              <a:off x="3534765" y="505780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271">
              <a:extLst>
                <a:ext uri="{FF2B5EF4-FFF2-40B4-BE49-F238E27FC236}">
                  <a16:creationId xmlns="" xmlns:a16="http://schemas.microsoft.com/office/drawing/2014/main" id="{000EBE12-6F20-4D4A-86B6-6404F0B9093D}"/>
                </a:ext>
              </a:extLst>
            </p:cNvPr>
            <p:cNvSpPr txBox="1"/>
            <p:nvPr/>
          </p:nvSpPr>
          <p:spPr bwMode="gray">
            <a:xfrm>
              <a:off x="4343561" y="505629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271">
              <a:extLst>
                <a:ext uri="{FF2B5EF4-FFF2-40B4-BE49-F238E27FC236}">
                  <a16:creationId xmlns="" xmlns:a16="http://schemas.microsoft.com/office/drawing/2014/main" id="{9E8EA621-FE3B-4813-9A42-80D2A54449C6}"/>
                </a:ext>
              </a:extLst>
            </p:cNvPr>
            <p:cNvSpPr txBox="1"/>
            <p:nvPr/>
          </p:nvSpPr>
          <p:spPr bwMode="gray">
            <a:xfrm>
              <a:off x="8260049" y="5075137"/>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271">
              <a:extLst>
                <a:ext uri="{FF2B5EF4-FFF2-40B4-BE49-F238E27FC236}">
                  <a16:creationId xmlns="" xmlns:a16="http://schemas.microsoft.com/office/drawing/2014/main" id="{012A499B-10AF-4726-9882-1904BA41F6E2}"/>
                </a:ext>
              </a:extLst>
            </p:cNvPr>
            <p:cNvSpPr txBox="1"/>
            <p:nvPr/>
          </p:nvSpPr>
          <p:spPr bwMode="gray">
            <a:xfrm>
              <a:off x="7495476" y="505629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TextBox 271">
              <a:extLst>
                <a:ext uri="{FF2B5EF4-FFF2-40B4-BE49-F238E27FC236}">
                  <a16:creationId xmlns="" xmlns:a16="http://schemas.microsoft.com/office/drawing/2014/main" id="{8EB54C6A-51CC-49F7-A7CC-8B78FE7C3261}"/>
                </a:ext>
              </a:extLst>
            </p:cNvPr>
            <p:cNvSpPr txBox="1"/>
            <p:nvPr/>
          </p:nvSpPr>
          <p:spPr bwMode="gray">
            <a:xfrm>
              <a:off x="8278372" y="3998227"/>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271">
              <a:extLst>
                <a:ext uri="{FF2B5EF4-FFF2-40B4-BE49-F238E27FC236}">
                  <a16:creationId xmlns="" xmlns:a16="http://schemas.microsoft.com/office/drawing/2014/main" id="{3D069897-9A34-4121-ACA7-FD89E934391C}"/>
                </a:ext>
              </a:extLst>
            </p:cNvPr>
            <p:cNvSpPr txBox="1"/>
            <p:nvPr/>
          </p:nvSpPr>
          <p:spPr bwMode="gray">
            <a:xfrm>
              <a:off x="7513799" y="397938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5" name="图片 48">
              <a:extLst>
                <a:ext uri="{FF2B5EF4-FFF2-40B4-BE49-F238E27FC236}">
                  <a16:creationId xmlns="" xmlns:a16="http://schemas.microsoft.com/office/drawing/2014/main" id="{6E04658A-1894-4EA9-9E21-42CC734944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95766" y="3364532"/>
              <a:ext cx="378863" cy="310667"/>
            </a:xfrm>
            <a:prstGeom prst="rect">
              <a:avLst/>
            </a:prstGeom>
          </p:spPr>
        </p:pic>
        <p:sp>
          <p:nvSpPr>
            <p:cNvPr id="56" name="TextBox 271">
              <a:extLst>
                <a:ext uri="{FF2B5EF4-FFF2-40B4-BE49-F238E27FC236}">
                  <a16:creationId xmlns="" xmlns:a16="http://schemas.microsoft.com/office/drawing/2014/main" id="{CA4A7547-80BA-400A-895C-A7EF288C52C5}"/>
                </a:ext>
              </a:extLst>
            </p:cNvPr>
            <p:cNvSpPr txBox="1"/>
            <p:nvPr/>
          </p:nvSpPr>
          <p:spPr bwMode="gray">
            <a:xfrm>
              <a:off x="5903258" y="3644516"/>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271">
              <a:extLst>
                <a:ext uri="{FF2B5EF4-FFF2-40B4-BE49-F238E27FC236}">
                  <a16:creationId xmlns="" xmlns:a16="http://schemas.microsoft.com/office/drawing/2014/main" id="{B4101D17-1E02-4964-B5EC-1EEB0C7C015B}"/>
                </a:ext>
              </a:extLst>
            </p:cNvPr>
            <p:cNvSpPr txBox="1"/>
            <p:nvPr/>
          </p:nvSpPr>
          <p:spPr bwMode="gray">
            <a:xfrm rot="18598943">
              <a:off x="4491332" y="4312213"/>
              <a:ext cx="808676"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MP-IBGP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Freeform: Shape 51">
              <a:extLst>
                <a:ext uri="{FF2B5EF4-FFF2-40B4-BE49-F238E27FC236}">
                  <a16:creationId xmlns="" xmlns:a16="http://schemas.microsoft.com/office/drawing/2014/main" id="{288770BA-77CE-47FD-9B24-278B09A035AA}"/>
                </a:ext>
              </a:extLst>
            </p:cNvPr>
            <p:cNvSpPr/>
            <p:nvPr/>
          </p:nvSpPr>
          <p:spPr bwMode="gray">
            <a:xfrm rot="907707" flipH="1">
              <a:off x="6297537" y="3576603"/>
              <a:ext cx="1233223" cy="17813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 xmlns:a16="http://schemas.microsoft.com/office/drawing/2014/main" id="{66D7CC9A-CA58-4EE8-A3E0-BF1628AF3F4D}"/>
                </a:ext>
              </a:extLst>
            </p:cNvPr>
            <p:cNvSpPr/>
            <p:nvPr/>
          </p:nvSpPr>
          <p:spPr bwMode="gray">
            <a:xfrm rot="2364267" flipH="1">
              <a:off x="6155325" y="3997520"/>
              <a:ext cx="1705988" cy="211417"/>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3C55AA24-1C09-4902-878C-1BC0ED7EFA35}"/>
                </a:ext>
              </a:extLst>
            </p:cNvPr>
            <p:cNvSpPr txBox="1"/>
            <p:nvPr/>
          </p:nvSpPr>
          <p:spPr bwMode="gray">
            <a:xfrm>
              <a:off x="5499237" y="4968422"/>
              <a:ext cx="1180131" cy="369332"/>
            </a:xfrm>
            <a:prstGeom prst="rect">
              <a:avLst/>
            </a:prstGeom>
            <a:noFill/>
          </p:spPr>
          <p:txBody>
            <a:bodyPr wrap="none" rtlCol="0">
              <a:spAutoFit/>
            </a:bodyPr>
            <a:lstStyle/>
            <a:p>
              <a:r>
                <a:rPr lang="en-US" dirty="0">
                  <a:solidFill>
                    <a:srgbClr val="C7000B"/>
                  </a:solidFill>
                </a:rPr>
                <a:t>AS 65000</a:t>
              </a:r>
            </a:p>
          </p:txBody>
        </p:sp>
        <p:sp>
          <p:nvSpPr>
            <p:cNvPr id="101" name="TextBox 100">
              <a:extLst>
                <a:ext uri="{FF2B5EF4-FFF2-40B4-BE49-F238E27FC236}">
                  <a16:creationId xmlns="" xmlns:a16="http://schemas.microsoft.com/office/drawing/2014/main" id="{E4AD576E-2441-4DB0-88FD-71B669ACE916}"/>
                </a:ext>
              </a:extLst>
            </p:cNvPr>
            <p:cNvSpPr txBox="1"/>
            <p:nvPr/>
          </p:nvSpPr>
          <p:spPr bwMode="gray">
            <a:xfrm>
              <a:off x="2673972" y="3957726"/>
              <a:ext cx="958917" cy="307777"/>
            </a:xfrm>
            <a:prstGeom prst="rect">
              <a:avLst/>
            </a:prstGeom>
            <a:noFill/>
          </p:spPr>
          <p:txBody>
            <a:bodyPr wrap="none" rtlCol="0">
              <a:spAutoFit/>
            </a:bodyPr>
            <a:lstStyle/>
            <a:p>
              <a:r>
                <a:rPr lang="en-US" sz="1400" dirty="0">
                  <a:solidFill>
                    <a:srgbClr val="C7000B"/>
                  </a:solidFill>
                </a:rPr>
                <a:t>AS 65001</a:t>
              </a:r>
            </a:p>
          </p:txBody>
        </p:sp>
        <p:sp>
          <p:nvSpPr>
            <p:cNvPr id="102" name="TextBox 101">
              <a:extLst>
                <a:ext uri="{FF2B5EF4-FFF2-40B4-BE49-F238E27FC236}">
                  <a16:creationId xmlns="" xmlns:a16="http://schemas.microsoft.com/office/drawing/2014/main" id="{EE1456A4-A4D4-426D-84B4-C23857FD799B}"/>
                </a:ext>
              </a:extLst>
            </p:cNvPr>
            <p:cNvSpPr txBox="1"/>
            <p:nvPr/>
          </p:nvSpPr>
          <p:spPr bwMode="gray">
            <a:xfrm>
              <a:off x="2663515" y="4999199"/>
              <a:ext cx="958917" cy="307777"/>
            </a:xfrm>
            <a:prstGeom prst="rect">
              <a:avLst/>
            </a:prstGeom>
            <a:noFill/>
          </p:spPr>
          <p:txBody>
            <a:bodyPr wrap="none" rtlCol="0">
              <a:spAutoFit/>
            </a:bodyPr>
            <a:lstStyle/>
            <a:p>
              <a:r>
                <a:rPr lang="en-US" sz="1400" dirty="0">
                  <a:solidFill>
                    <a:srgbClr val="C7000B"/>
                  </a:solidFill>
                </a:rPr>
                <a:t>AS 65002</a:t>
              </a:r>
            </a:p>
          </p:txBody>
        </p:sp>
        <p:sp>
          <p:nvSpPr>
            <p:cNvPr id="103" name="TextBox 102">
              <a:extLst>
                <a:ext uri="{FF2B5EF4-FFF2-40B4-BE49-F238E27FC236}">
                  <a16:creationId xmlns="" xmlns:a16="http://schemas.microsoft.com/office/drawing/2014/main" id="{7BB721CE-1A7F-4CAE-B199-3AC3598ADB4F}"/>
                </a:ext>
              </a:extLst>
            </p:cNvPr>
            <p:cNvSpPr txBox="1"/>
            <p:nvPr/>
          </p:nvSpPr>
          <p:spPr bwMode="gray">
            <a:xfrm>
              <a:off x="8594011" y="3979384"/>
              <a:ext cx="958917" cy="307777"/>
            </a:xfrm>
            <a:prstGeom prst="rect">
              <a:avLst/>
            </a:prstGeom>
            <a:noFill/>
          </p:spPr>
          <p:txBody>
            <a:bodyPr wrap="none" rtlCol="0">
              <a:spAutoFit/>
            </a:bodyPr>
            <a:lstStyle/>
            <a:p>
              <a:r>
                <a:rPr lang="en-US" sz="1400" dirty="0">
                  <a:solidFill>
                    <a:srgbClr val="C7000B"/>
                  </a:solidFill>
                </a:rPr>
                <a:t>AS 65003</a:t>
              </a:r>
            </a:p>
          </p:txBody>
        </p:sp>
        <p:sp>
          <p:nvSpPr>
            <p:cNvPr id="104" name="TextBox 103">
              <a:extLst>
                <a:ext uri="{FF2B5EF4-FFF2-40B4-BE49-F238E27FC236}">
                  <a16:creationId xmlns="" xmlns:a16="http://schemas.microsoft.com/office/drawing/2014/main" id="{B5AAB73E-2E0A-4A8B-811F-4EDBD7C2B9D8}"/>
                </a:ext>
              </a:extLst>
            </p:cNvPr>
            <p:cNvSpPr txBox="1"/>
            <p:nvPr/>
          </p:nvSpPr>
          <p:spPr bwMode="gray">
            <a:xfrm>
              <a:off x="8627768" y="5001402"/>
              <a:ext cx="958917" cy="307777"/>
            </a:xfrm>
            <a:prstGeom prst="rect">
              <a:avLst/>
            </a:prstGeom>
            <a:noFill/>
          </p:spPr>
          <p:txBody>
            <a:bodyPr wrap="none" rtlCol="0">
              <a:spAutoFit/>
            </a:bodyPr>
            <a:lstStyle/>
            <a:p>
              <a:r>
                <a:rPr lang="en-US" sz="1400" dirty="0">
                  <a:solidFill>
                    <a:srgbClr val="C7000B"/>
                  </a:solidFill>
                </a:rPr>
                <a:t>AS 65004</a:t>
              </a:r>
            </a:p>
          </p:txBody>
        </p:sp>
      </p:grpSp>
    </p:spTree>
    <p:extLst>
      <p:ext uri="{BB962C8B-B14F-4D97-AF65-F5344CB8AC3E}">
        <p14:creationId xmlns:p14="http://schemas.microsoft.com/office/powerpoint/2010/main" val="12354009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EA4E3343-87EA-4219-8771-FCDE1BDF1B2C}"/>
              </a:ext>
            </a:extLst>
          </p:cNvPr>
          <p:cNvSpPr>
            <a:spLocks noGrp="1"/>
          </p:cNvSpPr>
          <p:nvPr>
            <p:ph type="body" sz="quarter" idx="10"/>
          </p:nvPr>
        </p:nvSpPr>
        <p:spPr bwMode="gray">
          <a:xfrm>
            <a:off x="455612" y="1047750"/>
            <a:ext cx="11293475" cy="2205463"/>
          </a:xfrm>
        </p:spPr>
        <p:txBody>
          <a:bodyPr/>
          <a:lstStyle/>
          <a:p>
            <a:r>
              <a:rPr lang="zh-CN" altLang="en-US" sz="1800" dirty="0"/>
              <a:t>承载网为了保障网络可靠性一般会部署双平面主备网络。</a:t>
            </a:r>
            <a:endParaRPr lang="en-US" altLang="zh-CN" sz="1800" dirty="0"/>
          </a:p>
          <a:p>
            <a:r>
              <a:rPr lang="zh-CN" altLang="en-US" sz="1800" dirty="0"/>
              <a:t>为了保证正常情况下主平面承载流量，异常情况下备平面能承载流量，需要对路由进行一定控制。</a:t>
            </a:r>
            <a:endParaRPr lang="en-US" altLang="zh-CN" sz="1800" dirty="0"/>
          </a:p>
          <a:p>
            <a:pPr lvl="1"/>
            <a:r>
              <a:rPr lang="en-US" sz="1600" dirty="0"/>
              <a:t>CE</a:t>
            </a:r>
            <a:r>
              <a:rPr lang="zh-CN" altLang="en-US" sz="1600" dirty="0"/>
              <a:t>与</a:t>
            </a:r>
            <a:r>
              <a:rPr lang="en-US" altLang="zh-CN" sz="1600" dirty="0"/>
              <a:t>PE</a:t>
            </a:r>
            <a:r>
              <a:rPr lang="zh-CN" altLang="en-US" sz="1600" dirty="0"/>
              <a:t>之间一般会对路由添加团体属性，并基于团体属性对于特定路由的</a:t>
            </a:r>
            <a:r>
              <a:rPr lang="en-US" altLang="zh-CN" sz="1600" dirty="0"/>
              <a:t>MED</a:t>
            </a:r>
            <a:r>
              <a:rPr lang="zh-CN" altLang="en-US" sz="1600" dirty="0"/>
              <a:t>值进行修改。</a:t>
            </a:r>
            <a:endParaRPr lang="en-US" altLang="zh-CN" sz="1600" dirty="0"/>
          </a:p>
          <a:p>
            <a:pPr lvl="1"/>
            <a:r>
              <a:rPr lang="en-US" sz="1600" dirty="0"/>
              <a:t>PE</a:t>
            </a:r>
            <a:r>
              <a:rPr lang="zh-CN" altLang="en-US" sz="1600" dirty="0"/>
              <a:t>与</a:t>
            </a:r>
            <a:r>
              <a:rPr lang="en-US" altLang="zh-CN" sz="1600" dirty="0"/>
              <a:t>RR</a:t>
            </a:r>
            <a:r>
              <a:rPr lang="zh-CN" altLang="en-US" sz="1600" dirty="0"/>
              <a:t>之间一般会基于团体属性对特定路由的</a:t>
            </a:r>
            <a:r>
              <a:rPr lang="en-US" altLang="zh-CN" sz="1600" dirty="0"/>
              <a:t>MED</a:t>
            </a:r>
            <a:r>
              <a:rPr lang="zh-CN" altLang="en-US" sz="1600" dirty="0"/>
              <a:t>值进行修改。</a:t>
            </a:r>
            <a:endParaRPr lang="en-US" altLang="zh-CN" sz="1600" dirty="0"/>
          </a:p>
          <a:p>
            <a:pPr lvl="1"/>
            <a:r>
              <a:rPr lang="zh-CN" altLang="en-US" sz="1600" dirty="0"/>
              <a:t>通过修改特定路由的</a:t>
            </a:r>
            <a:r>
              <a:rPr lang="en-US" altLang="zh-CN" sz="1600" dirty="0"/>
              <a:t>MED</a:t>
            </a:r>
            <a:r>
              <a:rPr lang="zh-CN" altLang="en-US" sz="1600" dirty="0"/>
              <a:t>值，保证正常情况下流量会通过主平面的本端</a:t>
            </a:r>
            <a:r>
              <a:rPr lang="en-US" altLang="zh-CN" sz="1600" dirty="0"/>
              <a:t>PE</a:t>
            </a:r>
            <a:r>
              <a:rPr lang="zh-CN" altLang="en-US" sz="1600" dirty="0"/>
              <a:t>发送到主平面的对端</a:t>
            </a:r>
            <a:r>
              <a:rPr lang="en-US" altLang="zh-CN" sz="1600" dirty="0"/>
              <a:t>PE</a:t>
            </a:r>
            <a:r>
              <a:rPr lang="zh-CN" altLang="en-US" sz="1600" dirty="0"/>
              <a:t>。</a:t>
            </a:r>
            <a:endParaRPr lang="en-US" sz="1600" dirty="0"/>
          </a:p>
        </p:txBody>
      </p:sp>
      <p:sp>
        <p:nvSpPr>
          <p:cNvPr id="2" name="Title 1">
            <a:extLst>
              <a:ext uri="{FF2B5EF4-FFF2-40B4-BE49-F238E27FC236}">
                <a16:creationId xmlns="" xmlns:a16="http://schemas.microsoft.com/office/drawing/2014/main" id="{9F1D5894-3C35-4850-9357-40EA8A875792}"/>
              </a:ext>
            </a:extLst>
          </p:cNvPr>
          <p:cNvSpPr>
            <a:spLocks noGrp="1"/>
          </p:cNvSpPr>
          <p:nvPr>
            <p:ph type="title"/>
          </p:nvPr>
        </p:nvSpPr>
        <p:spPr bwMode="gray"/>
        <p:txBody>
          <a:bodyPr/>
          <a:lstStyle/>
          <a:p>
            <a:r>
              <a:rPr lang="en-US" altLang="zh-CN" dirty="0"/>
              <a:t>BGP</a:t>
            </a:r>
            <a:r>
              <a:rPr lang="zh-CN" altLang="en-US" dirty="0"/>
              <a:t>路由控制规划</a:t>
            </a:r>
            <a:endParaRPr lang="en-US" dirty="0"/>
          </a:p>
        </p:txBody>
      </p:sp>
      <p:sp>
        <p:nvSpPr>
          <p:cNvPr id="234" name="五边形 2">
            <a:extLst>
              <a:ext uri="{FF2B5EF4-FFF2-40B4-BE49-F238E27FC236}">
                <a16:creationId xmlns="" xmlns:a16="http://schemas.microsoft.com/office/drawing/2014/main" id="{A8C86E0A-116D-41C2-AA28-FFD923AAB170}"/>
              </a:ext>
            </a:extLst>
          </p:cNvPr>
          <p:cNvSpPr/>
          <p:nvPr/>
        </p:nvSpPr>
        <p:spPr bwMode="gray">
          <a:xfrm>
            <a:off x="934746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235" name="燕尾形 3">
            <a:extLst>
              <a:ext uri="{FF2B5EF4-FFF2-40B4-BE49-F238E27FC236}">
                <a16:creationId xmlns="" xmlns:a16="http://schemas.microsoft.com/office/drawing/2014/main" id="{B561DB3B-BF64-48FF-A4C7-EBFC207053E0}"/>
              </a:ext>
            </a:extLst>
          </p:cNvPr>
          <p:cNvSpPr/>
          <p:nvPr/>
        </p:nvSpPr>
        <p:spPr bwMode="gray">
          <a:xfrm>
            <a:off x="1046686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1" name="Group 240">
            <a:extLst>
              <a:ext uri="{FF2B5EF4-FFF2-40B4-BE49-F238E27FC236}">
                <a16:creationId xmlns="" xmlns:a16="http://schemas.microsoft.com/office/drawing/2014/main" id="{22F8AC38-AA50-4F7F-A47F-B70BCDBAE4EF}"/>
              </a:ext>
            </a:extLst>
          </p:cNvPr>
          <p:cNvGrpSpPr/>
          <p:nvPr/>
        </p:nvGrpSpPr>
        <p:grpSpPr bwMode="gray">
          <a:xfrm>
            <a:off x="586484" y="3380181"/>
            <a:ext cx="10643491" cy="2767839"/>
            <a:chOff x="586484" y="3380181"/>
            <a:chExt cx="10643491" cy="2767839"/>
          </a:xfrm>
        </p:grpSpPr>
        <p:sp>
          <p:nvSpPr>
            <p:cNvPr id="121" name="Rectangle: Rounded Corners 120">
              <a:extLst>
                <a:ext uri="{FF2B5EF4-FFF2-40B4-BE49-F238E27FC236}">
                  <a16:creationId xmlns="" xmlns:a16="http://schemas.microsoft.com/office/drawing/2014/main" id="{27297CD5-3E52-4A0F-A417-12FF9BACA394}"/>
                </a:ext>
              </a:extLst>
            </p:cNvPr>
            <p:cNvSpPr/>
            <p:nvPr/>
          </p:nvSpPr>
          <p:spPr bwMode="gray">
            <a:xfrm>
              <a:off x="1987528" y="3921221"/>
              <a:ext cx="1154469" cy="1924049"/>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p:txBody>
        </p:sp>
        <p:sp>
          <p:nvSpPr>
            <p:cNvPr id="122" name="圆角矩形 75">
              <a:extLst>
                <a:ext uri="{FF2B5EF4-FFF2-40B4-BE49-F238E27FC236}">
                  <a16:creationId xmlns="" xmlns:a16="http://schemas.microsoft.com/office/drawing/2014/main" id="{C3E8A03C-B99B-4C8E-8B20-460048203C77}"/>
                </a:ext>
              </a:extLst>
            </p:cNvPr>
            <p:cNvSpPr/>
            <p:nvPr/>
          </p:nvSpPr>
          <p:spPr bwMode="gray">
            <a:xfrm>
              <a:off x="4430410" y="3921221"/>
              <a:ext cx="3331179" cy="192405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24" name="图片 48">
              <a:extLst>
                <a:ext uri="{FF2B5EF4-FFF2-40B4-BE49-F238E27FC236}">
                  <a16:creationId xmlns="" xmlns:a16="http://schemas.microsoft.com/office/drawing/2014/main" id="{C29A2278-EA17-46B5-9BB0-D02D48A9240D}"/>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876584" y="4157549"/>
              <a:ext cx="378863" cy="310667"/>
            </a:xfrm>
            <a:prstGeom prst="rect">
              <a:avLst/>
            </a:prstGeom>
          </p:spPr>
        </p:pic>
        <p:pic>
          <p:nvPicPr>
            <p:cNvPr id="125" name="图片 48">
              <a:extLst>
                <a:ext uri="{FF2B5EF4-FFF2-40B4-BE49-F238E27FC236}">
                  <a16:creationId xmlns="" xmlns:a16="http://schemas.microsoft.com/office/drawing/2014/main" id="{06516B2E-288C-4B4E-9360-F8A300BBBC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12455" y="4157548"/>
              <a:ext cx="378863" cy="310667"/>
            </a:xfrm>
            <a:prstGeom prst="rect">
              <a:avLst/>
            </a:prstGeom>
          </p:spPr>
        </p:pic>
        <p:pic>
          <p:nvPicPr>
            <p:cNvPr id="126" name="图片 48">
              <a:extLst>
                <a:ext uri="{FF2B5EF4-FFF2-40B4-BE49-F238E27FC236}">
                  <a16:creationId xmlns="" xmlns:a16="http://schemas.microsoft.com/office/drawing/2014/main" id="{450F255E-EFFD-405C-A974-38AE0EE6A502}"/>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876584" y="5210427"/>
              <a:ext cx="378863" cy="310667"/>
            </a:xfrm>
            <a:prstGeom prst="rect">
              <a:avLst/>
            </a:prstGeom>
          </p:spPr>
        </p:pic>
        <p:pic>
          <p:nvPicPr>
            <p:cNvPr id="127" name="图片 48">
              <a:extLst>
                <a:ext uri="{FF2B5EF4-FFF2-40B4-BE49-F238E27FC236}">
                  <a16:creationId xmlns="" xmlns:a16="http://schemas.microsoft.com/office/drawing/2014/main" id="{0ACF8C15-B570-43D3-B93E-4E9726F059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12455" y="5210426"/>
              <a:ext cx="378863" cy="310667"/>
            </a:xfrm>
            <a:prstGeom prst="rect">
              <a:avLst/>
            </a:prstGeom>
          </p:spPr>
        </p:pic>
        <p:sp>
          <p:nvSpPr>
            <p:cNvPr id="128" name="Rectangle: Rounded Corners 127">
              <a:extLst>
                <a:ext uri="{FF2B5EF4-FFF2-40B4-BE49-F238E27FC236}">
                  <a16:creationId xmlns="" xmlns:a16="http://schemas.microsoft.com/office/drawing/2014/main" id="{09DC56C5-6C89-4C18-9C01-7FC96A401674}"/>
                </a:ext>
              </a:extLst>
            </p:cNvPr>
            <p:cNvSpPr/>
            <p:nvPr/>
          </p:nvSpPr>
          <p:spPr bwMode="gray">
            <a:xfrm>
              <a:off x="9026151" y="3921220"/>
              <a:ext cx="1176850" cy="1924050"/>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1400" dirty="0">
                <a:solidFill>
                  <a:schemeClr val="tx1"/>
                </a:solidFill>
              </a:endParaRPr>
            </a:p>
          </p:txBody>
        </p:sp>
        <p:pic>
          <p:nvPicPr>
            <p:cNvPr id="129" name="图片 48">
              <a:extLst>
                <a:ext uri="{FF2B5EF4-FFF2-40B4-BE49-F238E27FC236}">
                  <a16:creationId xmlns="" xmlns:a16="http://schemas.microsoft.com/office/drawing/2014/main" id="{0B15D9DB-B829-4AF0-AB23-5EA3451196FD}"/>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912702" y="4157547"/>
              <a:ext cx="378863" cy="310667"/>
            </a:xfrm>
            <a:prstGeom prst="rect">
              <a:avLst/>
            </a:prstGeom>
          </p:spPr>
        </p:pic>
        <p:pic>
          <p:nvPicPr>
            <p:cNvPr id="131" name="图片 48">
              <a:extLst>
                <a:ext uri="{FF2B5EF4-FFF2-40B4-BE49-F238E27FC236}">
                  <a16:creationId xmlns="" xmlns:a16="http://schemas.microsoft.com/office/drawing/2014/main" id="{C63EEE1A-D2FE-4248-8752-03C4423ABAA6}"/>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912702" y="5204232"/>
              <a:ext cx="378863" cy="310667"/>
            </a:xfrm>
            <a:prstGeom prst="rect">
              <a:avLst/>
            </a:prstGeom>
          </p:spPr>
        </p:pic>
        <p:pic>
          <p:nvPicPr>
            <p:cNvPr id="132" name="图片 48">
              <a:extLst>
                <a:ext uri="{FF2B5EF4-FFF2-40B4-BE49-F238E27FC236}">
                  <a16:creationId xmlns="" xmlns:a16="http://schemas.microsoft.com/office/drawing/2014/main" id="{F600C24D-6CB0-46F4-826A-2D445EE5C3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69144" y="4154614"/>
              <a:ext cx="378863" cy="310667"/>
            </a:xfrm>
            <a:prstGeom prst="rect">
              <a:avLst/>
            </a:prstGeom>
          </p:spPr>
        </p:pic>
        <p:pic>
          <p:nvPicPr>
            <p:cNvPr id="133" name="图片 48">
              <a:extLst>
                <a:ext uri="{FF2B5EF4-FFF2-40B4-BE49-F238E27FC236}">
                  <a16:creationId xmlns="" xmlns:a16="http://schemas.microsoft.com/office/drawing/2014/main" id="{06165129-F372-4223-9889-E2D5F1ADB9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69144" y="5207492"/>
              <a:ext cx="378863" cy="310667"/>
            </a:xfrm>
            <a:prstGeom prst="rect">
              <a:avLst/>
            </a:prstGeom>
          </p:spPr>
        </p:pic>
        <p:cxnSp>
          <p:nvCxnSpPr>
            <p:cNvPr id="134" name="Straight Connector 133">
              <a:extLst>
                <a:ext uri="{FF2B5EF4-FFF2-40B4-BE49-F238E27FC236}">
                  <a16:creationId xmlns="" xmlns:a16="http://schemas.microsoft.com/office/drawing/2014/main" id="{849D7B4E-2FE3-4CDD-B25B-5067BC113049}"/>
                </a:ext>
              </a:extLst>
            </p:cNvPr>
            <p:cNvCxnSpPr>
              <a:cxnSpLocks/>
              <a:stCxn id="124" idx="3"/>
              <a:endCxn id="125" idx="1"/>
            </p:cNvCxnSpPr>
            <p:nvPr/>
          </p:nvCxnSpPr>
          <p:spPr bwMode="gray">
            <a:xfrm flipV="1">
              <a:off x="3255447" y="4312882"/>
              <a:ext cx="1057008"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 xmlns:a16="http://schemas.microsoft.com/office/drawing/2014/main" id="{95622B5B-254C-424F-8608-7D72537FB811}"/>
                </a:ext>
              </a:extLst>
            </p:cNvPr>
            <p:cNvCxnSpPr>
              <a:cxnSpLocks/>
              <a:stCxn id="126" idx="3"/>
              <a:endCxn id="127" idx="1"/>
            </p:cNvCxnSpPr>
            <p:nvPr/>
          </p:nvCxnSpPr>
          <p:spPr bwMode="gray">
            <a:xfrm flipV="1">
              <a:off x="3255447" y="5365760"/>
              <a:ext cx="1057008"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 xmlns:a16="http://schemas.microsoft.com/office/drawing/2014/main" id="{02778D04-B115-4F8C-AA61-5802223A912B}"/>
                </a:ext>
              </a:extLst>
            </p:cNvPr>
            <p:cNvCxnSpPr>
              <a:cxnSpLocks/>
              <a:stCxn id="132" idx="3"/>
              <a:endCxn id="129" idx="1"/>
            </p:cNvCxnSpPr>
            <p:nvPr/>
          </p:nvCxnSpPr>
          <p:spPr bwMode="gray">
            <a:xfrm>
              <a:off x="7848007" y="4309948"/>
              <a:ext cx="1064695" cy="293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 xmlns:a16="http://schemas.microsoft.com/office/drawing/2014/main" id="{267FBF83-F505-4378-9FDF-E852CE0AFAE5}"/>
                </a:ext>
              </a:extLst>
            </p:cNvPr>
            <p:cNvCxnSpPr>
              <a:cxnSpLocks/>
              <a:stCxn id="133" idx="3"/>
              <a:endCxn id="131" idx="1"/>
            </p:cNvCxnSpPr>
            <p:nvPr/>
          </p:nvCxnSpPr>
          <p:spPr bwMode="gray">
            <a:xfrm flipV="1">
              <a:off x="7848007" y="5359566"/>
              <a:ext cx="1064695" cy="32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3" name="TextBox 271">
              <a:extLst>
                <a:ext uri="{FF2B5EF4-FFF2-40B4-BE49-F238E27FC236}">
                  <a16:creationId xmlns="" xmlns:a16="http://schemas.microsoft.com/office/drawing/2014/main" id="{A2BA8F61-3EB1-4526-AA3F-09421C6CB2FE}"/>
                </a:ext>
              </a:extLst>
            </p:cNvPr>
            <p:cNvSpPr txBox="1"/>
            <p:nvPr/>
          </p:nvSpPr>
          <p:spPr bwMode="gray">
            <a:xfrm>
              <a:off x="2847452" y="3921220"/>
              <a:ext cx="454541"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271">
              <a:extLst>
                <a:ext uri="{FF2B5EF4-FFF2-40B4-BE49-F238E27FC236}">
                  <a16:creationId xmlns="" xmlns:a16="http://schemas.microsoft.com/office/drawing/2014/main" id="{47A13DFD-B0EE-4179-9A5B-50760807CFC0}"/>
                </a:ext>
              </a:extLst>
            </p:cNvPr>
            <p:cNvSpPr txBox="1"/>
            <p:nvPr/>
          </p:nvSpPr>
          <p:spPr bwMode="gray">
            <a:xfrm>
              <a:off x="4297818" y="3926675"/>
              <a:ext cx="441334"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271">
              <a:extLst>
                <a:ext uri="{FF2B5EF4-FFF2-40B4-BE49-F238E27FC236}">
                  <a16:creationId xmlns="" xmlns:a16="http://schemas.microsoft.com/office/drawing/2014/main" id="{B00DBA18-7E96-4694-8396-7D1D03DFDAD1}"/>
                </a:ext>
              </a:extLst>
            </p:cNvPr>
            <p:cNvSpPr txBox="1"/>
            <p:nvPr/>
          </p:nvSpPr>
          <p:spPr bwMode="gray">
            <a:xfrm>
              <a:off x="2847452" y="5506676"/>
              <a:ext cx="454541"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Box 271">
              <a:extLst>
                <a:ext uri="{FF2B5EF4-FFF2-40B4-BE49-F238E27FC236}">
                  <a16:creationId xmlns="" xmlns:a16="http://schemas.microsoft.com/office/drawing/2014/main" id="{8E22FAC9-7DF5-4B68-AAE0-EE0E6A05A99D}"/>
                </a:ext>
              </a:extLst>
            </p:cNvPr>
            <p:cNvSpPr txBox="1"/>
            <p:nvPr/>
          </p:nvSpPr>
          <p:spPr bwMode="gray">
            <a:xfrm>
              <a:off x="4280403" y="5505166"/>
              <a:ext cx="45454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271">
              <a:extLst>
                <a:ext uri="{FF2B5EF4-FFF2-40B4-BE49-F238E27FC236}">
                  <a16:creationId xmlns="" xmlns:a16="http://schemas.microsoft.com/office/drawing/2014/main" id="{85CC2FEA-9F34-4037-97D1-C22D2DE69E32}"/>
                </a:ext>
              </a:extLst>
            </p:cNvPr>
            <p:cNvSpPr txBox="1"/>
            <p:nvPr/>
          </p:nvSpPr>
          <p:spPr bwMode="gray">
            <a:xfrm>
              <a:off x="8885171" y="5524009"/>
              <a:ext cx="44776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TextBox 271">
              <a:extLst>
                <a:ext uri="{FF2B5EF4-FFF2-40B4-BE49-F238E27FC236}">
                  <a16:creationId xmlns="" xmlns:a16="http://schemas.microsoft.com/office/drawing/2014/main" id="{F7DCFA12-EEC9-4C60-95CE-D2F329571609}"/>
                </a:ext>
              </a:extLst>
            </p:cNvPr>
            <p:cNvSpPr txBox="1"/>
            <p:nvPr/>
          </p:nvSpPr>
          <p:spPr bwMode="gray">
            <a:xfrm>
              <a:off x="7426677" y="5505166"/>
              <a:ext cx="44776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TextBox 271">
              <a:extLst>
                <a:ext uri="{FF2B5EF4-FFF2-40B4-BE49-F238E27FC236}">
                  <a16:creationId xmlns="" xmlns:a16="http://schemas.microsoft.com/office/drawing/2014/main" id="{4750961B-C4B0-422A-B31A-0C628521FBE4}"/>
                </a:ext>
              </a:extLst>
            </p:cNvPr>
            <p:cNvSpPr txBox="1"/>
            <p:nvPr/>
          </p:nvSpPr>
          <p:spPr bwMode="gray">
            <a:xfrm>
              <a:off x="8890006" y="3908481"/>
              <a:ext cx="44776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TextBox 271">
              <a:extLst>
                <a:ext uri="{FF2B5EF4-FFF2-40B4-BE49-F238E27FC236}">
                  <a16:creationId xmlns="" xmlns:a16="http://schemas.microsoft.com/office/drawing/2014/main" id="{8257E7B3-4E8F-4B8C-8116-0F18CDEABF32}"/>
                </a:ext>
              </a:extLst>
            </p:cNvPr>
            <p:cNvSpPr txBox="1"/>
            <p:nvPr/>
          </p:nvSpPr>
          <p:spPr bwMode="gray">
            <a:xfrm>
              <a:off x="7431523" y="3921221"/>
              <a:ext cx="447768"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9" name="图片 48">
              <a:extLst>
                <a:ext uri="{FF2B5EF4-FFF2-40B4-BE49-F238E27FC236}">
                  <a16:creationId xmlns="" xmlns:a16="http://schemas.microsoft.com/office/drawing/2014/main" id="{716537F6-5501-4F1C-BFE7-9963902411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2322" y="3806921"/>
              <a:ext cx="378863" cy="310667"/>
            </a:xfrm>
            <a:prstGeom prst="rect">
              <a:avLst/>
            </a:prstGeom>
          </p:spPr>
        </p:pic>
        <p:sp>
          <p:nvSpPr>
            <p:cNvPr id="110" name="TextBox 271">
              <a:extLst>
                <a:ext uri="{FF2B5EF4-FFF2-40B4-BE49-F238E27FC236}">
                  <a16:creationId xmlns="" xmlns:a16="http://schemas.microsoft.com/office/drawing/2014/main" id="{CDEA1F32-3A3F-40C3-A41A-79812B32EBF9}"/>
                </a:ext>
              </a:extLst>
            </p:cNvPr>
            <p:cNvSpPr txBox="1"/>
            <p:nvPr/>
          </p:nvSpPr>
          <p:spPr bwMode="gray">
            <a:xfrm>
              <a:off x="5903272" y="3566280"/>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1" name="Straight Connector 150">
              <a:extLst>
                <a:ext uri="{FF2B5EF4-FFF2-40B4-BE49-F238E27FC236}">
                  <a16:creationId xmlns="" xmlns:a16="http://schemas.microsoft.com/office/drawing/2014/main" id="{F40CDF97-25DC-4C3C-A230-4FEDDB2DA8B0}"/>
                </a:ext>
              </a:extLst>
            </p:cNvPr>
            <p:cNvCxnSpPr>
              <a:cxnSpLocks/>
              <a:stCxn id="124" idx="2"/>
              <a:endCxn id="126" idx="0"/>
            </p:cNvCxnSpPr>
            <p:nvPr/>
          </p:nvCxnSpPr>
          <p:spPr bwMode="gray">
            <a:xfrm>
              <a:off x="3066016" y="4468216"/>
              <a:ext cx="0" cy="7422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 xmlns:a16="http://schemas.microsoft.com/office/drawing/2014/main" id="{17B7826F-B131-4AF7-B0D0-E7C3A6B8307E}"/>
                </a:ext>
              </a:extLst>
            </p:cNvPr>
            <p:cNvCxnSpPr>
              <a:cxnSpLocks/>
              <a:stCxn id="125" idx="2"/>
              <a:endCxn id="127" idx="0"/>
            </p:cNvCxnSpPr>
            <p:nvPr/>
          </p:nvCxnSpPr>
          <p:spPr bwMode="gray">
            <a:xfrm>
              <a:off x="4501887" y="4468215"/>
              <a:ext cx="0" cy="7422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 xmlns:a16="http://schemas.microsoft.com/office/drawing/2014/main" id="{6DA7188D-AFED-45A5-9964-1E9ADA9CC7D7}"/>
                </a:ext>
              </a:extLst>
            </p:cNvPr>
            <p:cNvCxnSpPr>
              <a:cxnSpLocks/>
              <a:stCxn id="132" idx="2"/>
              <a:endCxn id="133" idx="0"/>
            </p:cNvCxnSpPr>
            <p:nvPr/>
          </p:nvCxnSpPr>
          <p:spPr bwMode="gray">
            <a:xfrm>
              <a:off x="7658576" y="4465281"/>
              <a:ext cx="0" cy="7422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 xmlns:a16="http://schemas.microsoft.com/office/drawing/2014/main" id="{B2EE2C97-A051-40D4-9556-5A35966634A6}"/>
                </a:ext>
              </a:extLst>
            </p:cNvPr>
            <p:cNvCxnSpPr>
              <a:cxnSpLocks/>
              <a:stCxn id="129" idx="2"/>
              <a:endCxn id="131" idx="0"/>
            </p:cNvCxnSpPr>
            <p:nvPr/>
          </p:nvCxnSpPr>
          <p:spPr bwMode="gray">
            <a:xfrm>
              <a:off x="9102134" y="4468214"/>
              <a:ext cx="0" cy="7360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7" name="Freeform: Shape 156">
              <a:extLst>
                <a:ext uri="{FF2B5EF4-FFF2-40B4-BE49-F238E27FC236}">
                  <a16:creationId xmlns="" xmlns:a16="http://schemas.microsoft.com/office/drawing/2014/main" id="{8FB162DF-754C-4CB6-828A-8D293FC9B325}"/>
                </a:ext>
              </a:extLst>
            </p:cNvPr>
            <p:cNvSpPr/>
            <p:nvPr/>
          </p:nvSpPr>
          <p:spPr bwMode="gray">
            <a:xfrm>
              <a:off x="3289064" y="5159013"/>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Shape 157">
              <a:extLst>
                <a:ext uri="{FF2B5EF4-FFF2-40B4-BE49-F238E27FC236}">
                  <a16:creationId xmlns="" xmlns:a16="http://schemas.microsoft.com/office/drawing/2014/main" id="{FC1BF5FD-E7E7-4310-9C2E-CAF1EC485F79}"/>
                </a:ext>
              </a:extLst>
            </p:cNvPr>
            <p:cNvSpPr/>
            <p:nvPr/>
          </p:nvSpPr>
          <p:spPr bwMode="gray">
            <a:xfrm flipH="1" flipV="1">
              <a:off x="3289064" y="5439909"/>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Shape 158">
              <a:extLst>
                <a:ext uri="{FF2B5EF4-FFF2-40B4-BE49-F238E27FC236}">
                  <a16:creationId xmlns="" xmlns:a16="http://schemas.microsoft.com/office/drawing/2014/main" id="{D6727804-4C79-481E-BBE2-5717392CC213}"/>
                </a:ext>
              </a:extLst>
            </p:cNvPr>
            <p:cNvSpPr/>
            <p:nvPr/>
          </p:nvSpPr>
          <p:spPr bwMode="gray">
            <a:xfrm>
              <a:off x="7879291" y="4105272"/>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Freeform: Shape 160">
              <a:extLst>
                <a:ext uri="{FF2B5EF4-FFF2-40B4-BE49-F238E27FC236}">
                  <a16:creationId xmlns="" xmlns:a16="http://schemas.microsoft.com/office/drawing/2014/main" id="{3F463E96-6C68-41A3-A86C-3BA5FD216FAF}"/>
                </a:ext>
              </a:extLst>
            </p:cNvPr>
            <p:cNvSpPr/>
            <p:nvPr/>
          </p:nvSpPr>
          <p:spPr bwMode="gray">
            <a:xfrm>
              <a:off x="7886856" y="5159013"/>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Freeform: Shape 162">
              <a:extLst>
                <a:ext uri="{FF2B5EF4-FFF2-40B4-BE49-F238E27FC236}">
                  <a16:creationId xmlns="" xmlns:a16="http://schemas.microsoft.com/office/drawing/2014/main" id="{78AD7632-33E4-4611-B237-667C3FAAFB4C}"/>
                </a:ext>
              </a:extLst>
            </p:cNvPr>
            <p:cNvSpPr/>
            <p:nvPr/>
          </p:nvSpPr>
          <p:spPr bwMode="gray">
            <a:xfrm rot="20752397">
              <a:off x="4662238" y="3999843"/>
              <a:ext cx="1235616" cy="14466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Freeform: Shape 163">
              <a:extLst>
                <a:ext uri="{FF2B5EF4-FFF2-40B4-BE49-F238E27FC236}">
                  <a16:creationId xmlns="" xmlns:a16="http://schemas.microsoft.com/office/drawing/2014/main" id="{350C7738-4738-4283-AC9C-0C561B2B7B2A}"/>
                </a:ext>
              </a:extLst>
            </p:cNvPr>
            <p:cNvSpPr/>
            <p:nvPr/>
          </p:nvSpPr>
          <p:spPr bwMode="gray">
            <a:xfrm rot="847603" flipH="1">
              <a:off x="6281505" y="4002511"/>
              <a:ext cx="1209148" cy="14466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Freeform: Shape 166">
              <a:extLst>
                <a:ext uri="{FF2B5EF4-FFF2-40B4-BE49-F238E27FC236}">
                  <a16:creationId xmlns="" xmlns:a16="http://schemas.microsoft.com/office/drawing/2014/main" id="{0B544005-9DDD-4876-967B-F9D87D770CCD}"/>
                </a:ext>
              </a:extLst>
            </p:cNvPr>
            <p:cNvSpPr/>
            <p:nvPr/>
          </p:nvSpPr>
          <p:spPr bwMode="gray">
            <a:xfrm rot="11727704" flipH="1">
              <a:off x="6248214" y="4181773"/>
              <a:ext cx="1235616" cy="14466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ular Callout 26">
              <a:extLst>
                <a:ext uri="{FF2B5EF4-FFF2-40B4-BE49-F238E27FC236}">
                  <a16:creationId xmlns="" xmlns:a16="http://schemas.microsoft.com/office/drawing/2014/main" id="{8251C84E-B142-40E7-AD99-03139618F6C9}"/>
                </a:ext>
              </a:extLst>
            </p:cNvPr>
            <p:cNvSpPr/>
            <p:nvPr/>
          </p:nvSpPr>
          <p:spPr bwMode="gray">
            <a:xfrm>
              <a:off x="3226205" y="3380181"/>
              <a:ext cx="1178551" cy="613737"/>
            </a:xfrm>
            <a:prstGeom prst="wedgeRectCallout">
              <a:avLst>
                <a:gd name="adj1" fmla="val 35381"/>
                <a:gd name="adj2" fmla="val 7987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上为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发来的路由添加团体属性</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9" name="Oval 41">
              <a:extLst>
                <a:ext uri="{FF2B5EF4-FFF2-40B4-BE49-F238E27FC236}">
                  <a16:creationId xmlns="" xmlns:a16="http://schemas.microsoft.com/office/drawing/2014/main" id="{4DCD03A0-D220-49A8-B77F-F5FE2D3621C2}"/>
                </a:ext>
              </a:extLst>
            </p:cNvPr>
            <p:cNvSpPr>
              <a:spLocks noChangeAspect="1"/>
            </p:cNvSpPr>
            <p:nvPr/>
          </p:nvSpPr>
          <p:spPr bwMode="gray">
            <a:xfrm>
              <a:off x="4248669" y="414003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170" name="Oval 41">
              <a:extLst>
                <a:ext uri="{FF2B5EF4-FFF2-40B4-BE49-F238E27FC236}">
                  <a16:creationId xmlns="" xmlns:a16="http://schemas.microsoft.com/office/drawing/2014/main" id="{2ADF0760-77E5-4647-A8DF-900D8982342B}"/>
                </a:ext>
              </a:extLst>
            </p:cNvPr>
            <p:cNvSpPr>
              <a:spLocks noChangeAspect="1"/>
            </p:cNvSpPr>
            <p:nvPr/>
          </p:nvSpPr>
          <p:spPr bwMode="gray">
            <a:xfrm>
              <a:off x="7743286" y="428417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pic>
          <p:nvPicPr>
            <p:cNvPr id="171" name="图片 140" descr="通用交换机.png">
              <a:extLst>
                <a:ext uri="{FF2B5EF4-FFF2-40B4-BE49-F238E27FC236}">
                  <a16:creationId xmlns="" xmlns:a16="http://schemas.microsoft.com/office/drawing/2014/main" id="{C51A5B61-336C-4077-8C90-D2256CA06D3B}"/>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2164494" y="4154615"/>
              <a:ext cx="378863" cy="309980"/>
            </a:xfrm>
            <a:prstGeom prst="rect">
              <a:avLst/>
            </a:prstGeom>
          </p:spPr>
        </p:pic>
        <p:pic>
          <p:nvPicPr>
            <p:cNvPr id="172" name="图片 140" descr="通用交换机.png">
              <a:extLst>
                <a:ext uri="{FF2B5EF4-FFF2-40B4-BE49-F238E27FC236}">
                  <a16:creationId xmlns="" xmlns:a16="http://schemas.microsoft.com/office/drawing/2014/main" id="{C2EC2CF1-E3DA-4BBC-BB59-E362ECEE124F}"/>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2164494" y="5205259"/>
              <a:ext cx="378863" cy="309980"/>
            </a:xfrm>
            <a:prstGeom prst="rect">
              <a:avLst/>
            </a:prstGeom>
          </p:spPr>
        </p:pic>
        <p:cxnSp>
          <p:nvCxnSpPr>
            <p:cNvPr id="173" name="Straight Connector 172">
              <a:extLst>
                <a:ext uri="{FF2B5EF4-FFF2-40B4-BE49-F238E27FC236}">
                  <a16:creationId xmlns="" xmlns:a16="http://schemas.microsoft.com/office/drawing/2014/main" id="{A1512A30-8DE7-4C20-AB34-EACF92ACEF8F}"/>
                </a:ext>
              </a:extLst>
            </p:cNvPr>
            <p:cNvCxnSpPr>
              <a:cxnSpLocks/>
              <a:stCxn id="171" idx="3"/>
              <a:endCxn id="124" idx="1"/>
            </p:cNvCxnSpPr>
            <p:nvPr/>
          </p:nvCxnSpPr>
          <p:spPr bwMode="gray">
            <a:xfrm>
              <a:off x="2543357" y="4309605"/>
              <a:ext cx="333227" cy="327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 xmlns:a16="http://schemas.microsoft.com/office/drawing/2014/main" id="{DE0EC20F-F9DC-4D4D-AD92-297F6F8F14C6}"/>
                </a:ext>
              </a:extLst>
            </p:cNvPr>
            <p:cNvCxnSpPr>
              <a:cxnSpLocks/>
              <a:stCxn id="172" idx="0"/>
              <a:endCxn id="124" idx="2"/>
            </p:cNvCxnSpPr>
            <p:nvPr/>
          </p:nvCxnSpPr>
          <p:spPr bwMode="gray">
            <a:xfrm flipV="1">
              <a:off x="2353926" y="4468216"/>
              <a:ext cx="712090" cy="73704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 xmlns:a16="http://schemas.microsoft.com/office/drawing/2014/main" id="{8C497F12-BB12-4A8A-A48B-0B7F8E45E6BA}"/>
                </a:ext>
              </a:extLst>
            </p:cNvPr>
            <p:cNvCxnSpPr>
              <a:cxnSpLocks/>
              <a:stCxn id="171" idx="2"/>
              <a:endCxn id="172" idx="0"/>
            </p:cNvCxnSpPr>
            <p:nvPr/>
          </p:nvCxnSpPr>
          <p:spPr bwMode="gray">
            <a:xfrm>
              <a:off x="2353926" y="4464595"/>
              <a:ext cx="0" cy="74066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 xmlns:a16="http://schemas.microsoft.com/office/drawing/2014/main" id="{97822D30-DAFE-4F6F-8694-FEDD2995A1BE}"/>
                </a:ext>
              </a:extLst>
            </p:cNvPr>
            <p:cNvCxnSpPr>
              <a:cxnSpLocks/>
              <a:stCxn id="171" idx="2"/>
              <a:endCxn id="126" idx="0"/>
            </p:cNvCxnSpPr>
            <p:nvPr/>
          </p:nvCxnSpPr>
          <p:spPr bwMode="gray">
            <a:xfrm>
              <a:off x="2353926" y="4464595"/>
              <a:ext cx="712090" cy="74583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 xmlns:a16="http://schemas.microsoft.com/office/drawing/2014/main" id="{78E9E4CC-206A-485D-8221-22ED43757AAC}"/>
                </a:ext>
              </a:extLst>
            </p:cNvPr>
            <p:cNvCxnSpPr>
              <a:cxnSpLocks/>
              <a:stCxn id="172" idx="3"/>
              <a:endCxn id="126" idx="1"/>
            </p:cNvCxnSpPr>
            <p:nvPr/>
          </p:nvCxnSpPr>
          <p:spPr bwMode="gray">
            <a:xfrm>
              <a:off x="2543357" y="5360249"/>
              <a:ext cx="333227" cy="551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78" name="图片 140" descr="通用交换机.png">
              <a:extLst>
                <a:ext uri="{FF2B5EF4-FFF2-40B4-BE49-F238E27FC236}">
                  <a16:creationId xmlns="" xmlns:a16="http://schemas.microsoft.com/office/drawing/2014/main" id="{3CCE1D0D-B5C4-4151-A1BD-3D65FC4E4246}"/>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9670956" y="4154615"/>
              <a:ext cx="378863" cy="309980"/>
            </a:xfrm>
            <a:prstGeom prst="rect">
              <a:avLst/>
            </a:prstGeom>
          </p:spPr>
        </p:pic>
        <p:pic>
          <p:nvPicPr>
            <p:cNvPr id="179" name="图片 140" descr="通用交换机.png">
              <a:extLst>
                <a:ext uri="{FF2B5EF4-FFF2-40B4-BE49-F238E27FC236}">
                  <a16:creationId xmlns="" xmlns:a16="http://schemas.microsoft.com/office/drawing/2014/main" id="{58F4812C-224A-40EB-9D7D-40D4D435CAFE}"/>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9670956" y="5205259"/>
              <a:ext cx="378863" cy="309980"/>
            </a:xfrm>
            <a:prstGeom prst="rect">
              <a:avLst/>
            </a:prstGeom>
          </p:spPr>
        </p:pic>
        <p:cxnSp>
          <p:nvCxnSpPr>
            <p:cNvPr id="180" name="Straight Connector 179">
              <a:extLst>
                <a:ext uri="{FF2B5EF4-FFF2-40B4-BE49-F238E27FC236}">
                  <a16:creationId xmlns="" xmlns:a16="http://schemas.microsoft.com/office/drawing/2014/main" id="{99CD383C-5A38-4098-92CA-710E107A7309}"/>
                </a:ext>
              </a:extLst>
            </p:cNvPr>
            <p:cNvCxnSpPr>
              <a:cxnSpLocks/>
              <a:stCxn id="178" idx="2"/>
              <a:endCxn id="179" idx="0"/>
            </p:cNvCxnSpPr>
            <p:nvPr/>
          </p:nvCxnSpPr>
          <p:spPr bwMode="gray">
            <a:xfrm>
              <a:off x="9860388" y="4464595"/>
              <a:ext cx="0" cy="74066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 xmlns:a16="http://schemas.microsoft.com/office/drawing/2014/main" id="{24D2088A-6DAA-4051-988A-984186517D12}"/>
                </a:ext>
              </a:extLst>
            </p:cNvPr>
            <p:cNvCxnSpPr>
              <a:cxnSpLocks/>
              <a:stCxn id="179" idx="1"/>
              <a:endCxn id="131" idx="3"/>
            </p:cNvCxnSpPr>
            <p:nvPr/>
          </p:nvCxnSpPr>
          <p:spPr bwMode="gray">
            <a:xfrm flipH="1" flipV="1">
              <a:off x="9291565" y="5359566"/>
              <a:ext cx="379391" cy="6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 xmlns:a16="http://schemas.microsoft.com/office/drawing/2014/main" id="{F3B798D0-6F22-4F65-ACE2-B836A5B98F91}"/>
                </a:ext>
              </a:extLst>
            </p:cNvPr>
            <p:cNvCxnSpPr>
              <a:cxnSpLocks/>
              <a:stCxn id="178" idx="1"/>
              <a:endCxn id="129" idx="3"/>
            </p:cNvCxnSpPr>
            <p:nvPr/>
          </p:nvCxnSpPr>
          <p:spPr bwMode="gray">
            <a:xfrm flipH="1">
              <a:off x="9291565" y="4309605"/>
              <a:ext cx="379391" cy="327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 xmlns:a16="http://schemas.microsoft.com/office/drawing/2014/main" id="{410333C8-7FEA-4306-A389-7F54F4B27CD3}"/>
                </a:ext>
              </a:extLst>
            </p:cNvPr>
            <p:cNvCxnSpPr>
              <a:cxnSpLocks/>
              <a:stCxn id="179" idx="0"/>
              <a:endCxn id="129" idx="2"/>
            </p:cNvCxnSpPr>
            <p:nvPr/>
          </p:nvCxnSpPr>
          <p:spPr bwMode="gray">
            <a:xfrm flipH="1" flipV="1">
              <a:off x="9102134" y="4468214"/>
              <a:ext cx="758254" cy="7370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 xmlns:a16="http://schemas.microsoft.com/office/drawing/2014/main" id="{0C3C8FAD-14F2-447A-83EE-6F42A81DF08E}"/>
                </a:ext>
              </a:extLst>
            </p:cNvPr>
            <p:cNvCxnSpPr>
              <a:cxnSpLocks/>
              <a:stCxn id="178" idx="2"/>
              <a:endCxn id="131" idx="0"/>
            </p:cNvCxnSpPr>
            <p:nvPr/>
          </p:nvCxnSpPr>
          <p:spPr bwMode="gray">
            <a:xfrm flipH="1">
              <a:off x="9102134" y="4464595"/>
              <a:ext cx="758254" cy="73963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5" name="Rectangle 184">
              <a:extLst>
                <a:ext uri="{FF2B5EF4-FFF2-40B4-BE49-F238E27FC236}">
                  <a16:creationId xmlns="" xmlns:a16="http://schemas.microsoft.com/office/drawing/2014/main" id="{A746B846-E1D7-41BE-9C65-53BB492ED06C}"/>
                </a:ext>
              </a:extLst>
            </p:cNvPr>
            <p:cNvSpPr/>
            <p:nvPr/>
          </p:nvSpPr>
          <p:spPr bwMode="gray">
            <a:xfrm rot="16200000">
              <a:off x="1484172" y="5259015"/>
              <a:ext cx="802965" cy="213490"/>
            </a:xfrm>
            <a:prstGeom prst="rect">
              <a:avLst/>
            </a:prstGeom>
            <a:solidFill>
              <a:schemeClr val="bg1">
                <a:lumMod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数据中心</a:t>
              </a:r>
              <a:endParaRPr lang="en-US" sz="1200" dirty="0"/>
            </a:p>
          </p:txBody>
        </p:sp>
        <p:sp>
          <p:nvSpPr>
            <p:cNvPr id="186" name="TextBox 271">
              <a:extLst>
                <a:ext uri="{FF2B5EF4-FFF2-40B4-BE49-F238E27FC236}">
                  <a16:creationId xmlns="" xmlns:a16="http://schemas.microsoft.com/office/drawing/2014/main" id="{1697708C-7351-4504-A845-0F58D26BAE5D}"/>
                </a:ext>
              </a:extLst>
            </p:cNvPr>
            <p:cNvSpPr txBox="1"/>
            <p:nvPr/>
          </p:nvSpPr>
          <p:spPr bwMode="gray">
            <a:xfrm>
              <a:off x="4518485" y="5840243"/>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187" name="Rectangle 186">
              <a:extLst>
                <a:ext uri="{FF2B5EF4-FFF2-40B4-BE49-F238E27FC236}">
                  <a16:creationId xmlns="" xmlns:a16="http://schemas.microsoft.com/office/drawing/2014/main" id="{B919C5ED-8DB8-48BD-A9EF-81047AE17852}"/>
                </a:ext>
              </a:extLst>
            </p:cNvPr>
            <p:cNvSpPr/>
            <p:nvPr/>
          </p:nvSpPr>
          <p:spPr bwMode="gray">
            <a:xfrm rot="5400000">
              <a:off x="9903376" y="5292782"/>
              <a:ext cx="802965" cy="213490"/>
            </a:xfrm>
            <a:prstGeom prst="rect">
              <a:avLst/>
            </a:prstGeom>
            <a:solidFill>
              <a:schemeClr val="bg1">
                <a:lumMod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企业分支</a:t>
              </a:r>
              <a:endParaRPr lang="en-US" sz="1200" dirty="0"/>
            </a:p>
          </p:txBody>
        </p:sp>
        <p:sp>
          <p:nvSpPr>
            <p:cNvPr id="233" name="Arc 232">
              <a:extLst>
                <a:ext uri="{FF2B5EF4-FFF2-40B4-BE49-F238E27FC236}">
                  <a16:creationId xmlns="" xmlns:a16="http://schemas.microsoft.com/office/drawing/2014/main" id="{97950BA3-00AF-43BA-801F-ECF4AB5CA217}"/>
                </a:ext>
              </a:extLst>
            </p:cNvPr>
            <p:cNvSpPr/>
            <p:nvPr/>
          </p:nvSpPr>
          <p:spPr bwMode="gray">
            <a:xfrm rot="9900000">
              <a:off x="2724923" y="4054796"/>
              <a:ext cx="190980" cy="190980"/>
            </a:xfrm>
            <a:prstGeom prst="arc">
              <a:avLst>
                <a:gd name="adj1" fmla="val 16200000"/>
                <a:gd name="adj2" fmla="val 11074435"/>
              </a:avLst>
            </a:prstGeom>
            <a:ln w="28575">
              <a:solidFill>
                <a:srgbClr val="E2818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8" name="Arc 187">
              <a:extLst>
                <a:ext uri="{FF2B5EF4-FFF2-40B4-BE49-F238E27FC236}">
                  <a16:creationId xmlns="" xmlns:a16="http://schemas.microsoft.com/office/drawing/2014/main" id="{C08B75CC-F605-4449-832F-B5ABE63BD593}"/>
                </a:ext>
              </a:extLst>
            </p:cNvPr>
            <p:cNvSpPr/>
            <p:nvPr/>
          </p:nvSpPr>
          <p:spPr bwMode="gray">
            <a:xfrm rot="5400000">
              <a:off x="2755027" y="5439770"/>
              <a:ext cx="190980" cy="190980"/>
            </a:xfrm>
            <a:prstGeom prst="arc">
              <a:avLst>
                <a:gd name="adj1" fmla="val 16200000"/>
                <a:gd name="adj2" fmla="val 11074435"/>
              </a:avLst>
            </a:prstGeom>
            <a:ln w="28575">
              <a:solidFill>
                <a:srgbClr val="E2818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9" name="Arc 188">
              <a:extLst>
                <a:ext uri="{FF2B5EF4-FFF2-40B4-BE49-F238E27FC236}">
                  <a16:creationId xmlns="" xmlns:a16="http://schemas.microsoft.com/office/drawing/2014/main" id="{E56758BC-2253-4D53-99C6-CE196A57FB46}"/>
                </a:ext>
              </a:extLst>
            </p:cNvPr>
            <p:cNvSpPr/>
            <p:nvPr/>
          </p:nvSpPr>
          <p:spPr bwMode="gray">
            <a:xfrm rot="11700000" flipH="1">
              <a:off x="9230139" y="4074841"/>
              <a:ext cx="190980" cy="190980"/>
            </a:xfrm>
            <a:prstGeom prst="arc">
              <a:avLst>
                <a:gd name="adj1" fmla="val 16200000"/>
                <a:gd name="adj2" fmla="val 11074435"/>
              </a:avLst>
            </a:prstGeom>
            <a:ln w="28575">
              <a:solidFill>
                <a:srgbClr val="E2818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0" name="Arc 189">
              <a:extLst>
                <a:ext uri="{FF2B5EF4-FFF2-40B4-BE49-F238E27FC236}">
                  <a16:creationId xmlns="" xmlns:a16="http://schemas.microsoft.com/office/drawing/2014/main" id="{E50ABC88-51F3-410C-8BDF-2F533E9FE83F}"/>
                </a:ext>
              </a:extLst>
            </p:cNvPr>
            <p:cNvSpPr/>
            <p:nvPr/>
          </p:nvSpPr>
          <p:spPr bwMode="gray">
            <a:xfrm rot="16200000" flipH="1">
              <a:off x="9242284" y="5459815"/>
              <a:ext cx="190980" cy="190980"/>
            </a:xfrm>
            <a:prstGeom prst="arc">
              <a:avLst>
                <a:gd name="adj1" fmla="val 16200000"/>
                <a:gd name="adj2" fmla="val 11074435"/>
              </a:avLst>
            </a:prstGeom>
            <a:ln w="28575">
              <a:solidFill>
                <a:srgbClr val="E2818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1" name="Rectangular Callout 26">
              <a:extLst>
                <a:ext uri="{FF2B5EF4-FFF2-40B4-BE49-F238E27FC236}">
                  <a16:creationId xmlns="" xmlns:a16="http://schemas.microsoft.com/office/drawing/2014/main" id="{C5C61E30-4075-4137-8FC0-F92B30CB4B91}"/>
                </a:ext>
              </a:extLst>
            </p:cNvPr>
            <p:cNvSpPr/>
            <p:nvPr/>
          </p:nvSpPr>
          <p:spPr bwMode="gray">
            <a:xfrm>
              <a:off x="1628024" y="3450571"/>
              <a:ext cx="1307702" cy="419540"/>
            </a:xfrm>
            <a:prstGeom prst="wedgeRectCallout">
              <a:avLst>
                <a:gd name="adj1" fmla="val 31739"/>
                <a:gd name="adj2" fmla="val 926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设备上部署双点双向重发布</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237" name="Straight Connector 236">
              <a:extLst>
                <a:ext uri="{FF2B5EF4-FFF2-40B4-BE49-F238E27FC236}">
                  <a16:creationId xmlns="" xmlns:a16="http://schemas.microsoft.com/office/drawing/2014/main" id="{A13FC0AE-FD22-45F4-A162-5924B5AF96C0}"/>
                </a:ext>
              </a:extLst>
            </p:cNvPr>
            <p:cNvCxnSpPr>
              <a:cxnSpLocks/>
            </p:cNvCxnSpPr>
            <p:nvPr/>
          </p:nvCxnSpPr>
          <p:spPr bwMode="gray">
            <a:xfrm>
              <a:off x="586484" y="4834413"/>
              <a:ext cx="10643491" cy="0"/>
            </a:xfrm>
            <a:prstGeom prst="line">
              <a:avLst/>
            </a:prstGeom>
            <a:ln w="19050">
              <a:solidFill>
                <a:srgbClr val="FFC000"/>
              </a:solidFill>
              <a:prstDash val="dashDot"/>
            </a:ln>
          </p:spPr>
          <p:style>
            <a:lnRef idx="1">
              <a:schemeClr val="accent1"/>
            </a:lnRef>
            <a:fillRef idx="0">
              <a:schemeClr val="accent1"/>
            </a:fillRef>
            <a:effectRef idx="0">
              <a:schemeClr val="accent1"/>
            </a:effectRef>
            <a:fontRef idx="minor">
              <a:schemeClr val="tx1"/>
            </a:fontRef>
          </p:style>
        </p:cxnSp>
        <p:sp>
          <p:nvSpPr>
            <p:cNvPr id="193" name="TextBox 271">
              <a:extLst>
                <a:ext uri="{FF2B5EF4-FFF2-40B4-BE49-F238E27FC236}">
                  <a16:creationId xmlns="" xmlns:a16="http://schemas.microsoft.com/office/drawing/2014/main" id="{240EFC70-389E-49C1-B031-E640299737BF}"/>
                </a:ext>
              </a:extLst>
            </p:cNvPr>
            <p:cNvSpPr txBox="1"/>
            <p:nvPr/>
          </p:nvSpPr>
          <p:spPr bwMode="gray">
            <a:xfrm>
              <a:off x="586484" y="4176144"/>
              <a:ext cx="1154469" cy="338554"/>
            </a:xfrm>
            <a:prstGeom prst="rect">
              <a:avLst/>
            </a:prstGeom>
            <a:noFill/>
          </p:spPr>
          <p:txBody>
            <a:bodyPr wrap="square" rtlCol="0">
              <a:spAutoFit/>
            </a:bodyPr>
            <a:lstStyle/>
            <a:p>
              <a:pPr>
                <a:buFont typeface="Wingdings" pitchFamily="2" charset="2"/>
                <a:buNone/>
                <a:defRPr/>
              </a:pPr>
              <a:r>
                <a:rPr lang="en-US" altLang="zh-CN"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平面（主）</a:t>
              </a:r>
            </a:p>
          </p:txBody>
        </p:sp>
        <p:sp>
          <p:nvSpPr>
            <p:cNvPr id="194" name="TextBox 271">
              <a:extLst>
                <a:ext uri="{FF2B5EF4-FFF2-40B4-BE49-F238E27FC236}">
                  <a16:creationId xmlns="" xmlns:a16="http://schemas.microsoft.com/office/drawing/2014/main" id="{06F3375D-8614-4CE2-AF49-541EDFB77C9C}"/>
                </a:ext>
              </a:extLst>
            </p:cNvPr>
            <p:cNvSpPr txBox="1"/>
            <p:nvPr/>
          </p:nvSpPr>
          <p:spPr bwMode="gray">
            <a:xfrm>
              <a:off x="586484" y="5140294"/>
              <a:ext cx="1154469" cy="338554"/>
            </a:xfrm>
            <a:prstGeom prst="rect">
              <a:avLst/>
            </a:prstGeom>
            <a:noFill/>
          </p:spPr>
          <p:txBody>
            <a:bodyPr wrap="square" rtlCol="0">
              <a:spAutoFit/>
            </a:bodyPr>
            <a:lstStyle/>
            <a:p>
              <a:pPr>
                <a:buFont typeface="Wingdings" pitchFamily="2" charset="2"/>
                <a:buNone/>
                <a:defRPr/>
              </a:pPr>
              <a:r>
                <a:rPr lang="en-US" altLang="zh-CN"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平面（备）</a:t>
              </a:r>
            </a:p>
          </p:txBody>
        </p:sp>
        <p:sp>
          <p:nvSpPr>
            <p:cNvPr id="195" name="Freeform: Shape 194">
              <a:extLst>
                <a:ext uri="{FF2B5EF4-FFF2-40B4-BE49-F238E27FC236}">
                  <a16:creationId xmlns="" xmlns:a16="http://schemas.microsoft.com/office/drawing/2014/main" id="{C164ADD2-3DBE-45DB-B46C-E45EC5FEB591}"/>
                </a:ext>
              </a:extLst>
            </p:cNvPr>
            <p:cNvSpPr/>
            <p:nvPr/>
          </p:nvSpPr>
          <p:spPr bwMode="gray">
            <a:xfrm rot="19216490">
              <a:off x="4499403" y="4624711"/>
              <a:ext cx="1693626" cy="59089"/>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Freeform: Shape 195">
              <a:extLst>
                <a:ext uri="{FF2B5EF4-FFF2-40B4-BE49-F238E27FC236}">
                  <a16:creationId xmlns="" xmlns:a16="http://schemas.microsoft.com/office/drawing/2014/main" id="{4436D446-CB47-45F5-867F-5D56896C2DE3}"/>
                </a:ext>
              </a:extLst>
            </p:cNvPr>
            <p:cNvSpPr/>
            <p:nvPr/>
          </p:nvSpPr>
          <p:spPr bwMode="gray">
            <a:xfrm rot="2383510" flipH="1">
              <a:off x="5995043" y="4610761"/>
              <a:ext cx="1693626" cy="59089"/>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Freeform: Shape 196">
              <a:extLst>
                <a:ext uri="{FF2B5EF4-FFF2-40B4-BE49-F238E27FC236}">
                  <a16:creationId xmlns="" xmlns:a16="http://schemas.microsoft.com/office/drawing/2014/main" id="{8CEB4525-3127-46B2-99DE-E3954C1DA805}"/>
                </a:ext>
              </a:extLst>
            </p:cNvPr>
            <p:cNvSpPr/>
            <p:nvPr/>
          </p:nvSpPr>
          <p:spPr bwMode="gray">
            <a:xfrm rot="19216490" flipV="1">
              <a:off x="4563887" y="4719854"/>
              <a:ext cx="1693626" cy="8298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Freeform: Shape 197">
              <a:extLst>
                <a:ext uri="{FF2B5EF4-FFF2-40B4-BE49-F238E27FC236}">
                  <a16:creationId xmlns="" xmlns:a16="http://schemas.microsoft.com/office/drawing/2014/main" id="{6C0870D7-A88F-4EB3-AAE1-E5C70030236E}"/>
                </a:ext>
              </a:extLst>
            </p:cNvPr>
            <p:cNvSpPr/>
            <p:nvPr/>
          </p:nvSpPr>
          <p:spPr bwMode="gray">
            <a:xfrm rot="2383510" flipH="1" flipV="1">
              <a:off x="5929856" y="4710231"/>
              <a:ext cx="1693626" cy="82985"/>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41">
              <a:extLst>
                <a:ext uri="{FF2B5EF4-FFF2-40B4-BE49-F238E27FC236}">
                  <a16:creationId xmlns="" xmlns:a16="http://schemas.microsoft.com/office/drawing/2014/main" id="{D5219950-2C23-4918-8AC3-9F87172C429D}"/>
                </a:ext>
              </a:extLst>
            </p:cNvPr>
            <p:cNvSpPr>
              <a:spLocks noChangeAspect="1"/>
            </p:cNvSpPr>
            <p:nvPr/>
          </p:nvSpPr>
          <p:spPr bwMode="gray">
            <a:xfrm>
              <a:off x="7354098" y="429814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192" name="Rectangular Callout 26">
              <a:extLst>
                <a:ext uri="{FF2B5EF4-FFF2-40B4-BE49-F238E27FC236}">
                  <a16:creationId xmlns="" xmlns:a16="http://schemas.microsoft.com/office/drawing/2014/main" id="{FEEAB609-508A-43EA-815C-D68BC9D5BEF2}"/>
                </a:ext>
              </a:extLst>
            </p:cNvPr>
            <p:cNvSpPr/>
            <p:nvPr/>
          </p:nvSpPr>
          <p:spPr bwMode="gray">
            <a:xfrm>
              <a:off x="5493202" y="4538882"/>
              <a:ext cx="1598810" cy="634898"/>
            </a:xfrm>
            <a:prstGeom prst="wedgeRectCallout">
              <a:avLst>
                <a:gd name="adj1" fmla="val 66691"/>
                <a:gd name="adj2" fmla="val -5846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上对</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发来的路由修改</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MED</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值，保证流量在同平面转发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6" name="Freeform: Shape 165">
              <a:extLst>
                <a:ext uri="{FF2B5EF4-FFF2-40B4-BE49-F238E27FC236}">
                  <a16:creationId xmlns="" xmlns:a16="http://schemas.microsoft.com/office/drawing/2014/main" id="{1E4048C4-ABE7-415B-A775-C4EA2E94A9F9}"/>
                </a:ext>
              </a:extLst>
            </p:cNvPr>
            <p:cNvSpPr/>
            <p:nvPr/>
          </p:nvSpPr>
          <p:spPr bwMode="gray">
            <a:xfrm rot="9872296">
              <a:off x="4691323" y="4195423"/>
              <a:ext cx="1235616" cy="144660"/>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E28189"/>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Shape 154">
              <a:extLst>
                <a:ext uri="{FF2B5EF4-FFF2-40B4-BE49-F238E27FC236}">
                  <a16:creationId xmlns="" xmlns:a16="http://schemas.microsoft.com/office/drawing/2014/main" id="{E3DD5965-A24D-4402-81BD-A0197B37A091}"/>
                </a:ext>
              </a:extLst>
            </p:cNvPr>
            <p:cNvSpPr/>
            <p:nvPr/>
          </p:nvSpPr>
          <p:spPr bwMode="gray">
            <a:xfrm>
              <a:off x="3270916" y="4104702"/>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Shape 155">
              <a:extLst>
                <a:ext uri="{FF2B5EF4-FFF2-40B4-BE49-F238E27FC236}">
                  <a16:creationId xmlns="" xmlns:a16="http://schemas.microsoft.com/office/drawing/2014/main" id="{99D6F677-5D07-422F-ABD8-769CA2775948}"/>
                </a:ext>
              </a:extLst>
            </p:cNvPr>
            <p:cNvSpPr/>
            <p:nvPr/>
          </p:nvSpPr>
          <p:spPr bwMode="gray">
            <a:xfrm flipH="1" flipV="1">
              <a:off x="3270916" y="4385598"/>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ular Callout 26">
              <a:extLst>
                <a:ext uri="{FF2B5EF4-FFF2-40B4-BE49-F238E27FC236}">
                  <a16:creationId xmlns="" xmlns:a16="http://schemas.microsoft.com/office/drawing/2014/main" id="{35DE9E95-31A2-4E36-8F5A-ACB0102CDBF0}"/>
                </a:ext>
              </a:extLst>
            </p:cNvPr>
            <p:cNvSpPr/>
            <p:nvPr/>
          </p:nvSpPr>
          <p:spPr bwMode="gray">
            <a:xfrm>
              <a:off x="7632536" y="3429000"/>
              <a:ext cx="1556360" cy="487290"/>
            </a:xfrm>
            <a:prstGeom prst="wedgeRectCallout">
              <a:avLst>
                <a:gd name="adj1" fmla="val -33175"/>
                <a:gd name="adj2" fmla="val 1142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主平面</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发送给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的路由</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MED</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+10</a:t>
              </a:r>
            </a:p>
          </p:txBody>
        </p:sp>
        <p:sp>
          <p:nvSpPr>
            <p:cNvPr id="201" name="Rectangular Callout 26">
              <a:extLst>
                <a:ext uri="{FF2B5EF4-FFF2-40B4-BE49-F238E27FC236}">
                  <a16:creationId xmlns="" xmlns:a16="http://schemas.microsoft.com/office/drawing/2014/main" id="{15DB3A47-DDCD-4F7D-91A4-48FC489A3E64}"/>
                </a:ext>
              </a:extLst>
            </p:cNvPr>
            <p:cNvSpPr/>
            <p:nvPr/>
          </p:nvSpPr>
          <p:spPr bwMode="gray">
            <a:xfrm>
              <a:off x="7545200" y="5735553"/>
              <a:ext cx="1556360" cy="390524"/>
            </a:xfrm>
            <a:prstGeom prst="wedgeRectCallout">
              <a:avLst>
                <a:gd name="adj1" fmla="val -27463"/>
                <a:gd name="adj2" fmla="val -1072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备平面</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发送给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的路由</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MED</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+20</a:t>
              </a:r>
            </a:p>
          </p:txBody>
        </p:sp>
        <p:sp>
          <p:nvSpPr>
            <p:cNvPr id="202" name="Oval 41">
              <a:extLst>
                <a:ext uri="{FF2B5EF4-FFF2-40B4-BE49-F238E27FC236}">
                  <a16:creationId xmlns="" xmlns:a16="http://schemas.microsoft.com/office/drawing/2014/main" id="{C59FBAAE-D564-48D4-8125-3A35908E992A}"/>
                </a:ext>
              </a:extLst>
            </p:cNvPr>
            <p:cNvSpPr>
              <a:spLocks noChangeAspect="1"/>
            </p:cNvSpPr>
            <p:nvPr/>
          </p:nvSpPr>
          <p:spPr bwMode="gray">
            <a:xfrm>
              <a:off x="7733584" y="533969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160" name="Freeform: Shape 159">
              <a:extLst>
                <a:ext uri="{FF2B5EF4-FFF2-40B4-BE49-F238E27FC236}">
                  <a16:creationId xmlns="" xmlns:a16="http://schemas.microsoft.com/office/drawing/2014/main" id="{53030811-C40B-41F1-896D-430F88AB3CE8}"/>
                </a:ext>
              </a:extLst>
            </p:cNvPr>
            <p:cNvSpPr/>
            <p:nvPr/>
          </p:nvSpPr>
          <p:spPr bwMode="gray">
            <a:xfrm flipH="1" flipV="1">
              <a:off x="7879291" y="4386168"/>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Freeform: Shape 161">
              <a:extLst>
                <a:ext uri="{FF2B5EF4-FFF2-40B4-BE49-F238E27FC236}">
                  <a16:creationId xmlns="" xmlns:a16="http://schemas.microsoft.com/office/drawing/2014/main" id="{D55D4CFF-A0BA-4D8F-88A0-05E61E6E165E}"/>
                </a:ext>
              </a:extLst>
            </p:cNvPr>
            <p:cNvSpPr/>
            <p:nvPr/>
          </p:nvSpPr>
          <p:spPr bwMode="gray">
            <a:xfrm flipH="1" flipV="1">
              <a:off x="7886856" y="5439909"/>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779011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 xmlns:a16="http://schemas.microsoft.com/office/drawing/2014/main" id="{EA4E3343-87EA-4219-8771-FCDE1BDF1B2C}"/>
              </a:ext>
            </a:extLst>
          </p:cNvPr>
          <p:cNvSpPr>
            <a:spLocks noGrp="1"/>
          </p:cNvSpPr>
          <p:nvPr>
            <p:ph type="body" sz="quarter" idx="10"/>
          </p:nvPr>
        </p:nvSpPr>
        <p:spPr bwMode="gray">
          <a:xfrm>
            <a:off x="455612" y="1047751"/>
            <a:ext cx="11293475" cy="1492282"/>
          </a:xfrm>
        </p:spPr>
        <p:txBody>
          <a:bodyPr/>
          <a:lstStyle/>
          <a:p>
            <a:r>
              <a:rPr lang="zh-CN" altLang="en-US" sz="1800" dirty="0"/>
              <a:t>数据中心网络和分支网络内部一般不运行</a:t>
            </a:r>
            <a:r>
              <a:rPr lang="en-US" altLang="zh-CN" sz="1800" dirty="0"/>
              <a:t>BGP</a:t>
            </a:r>
            <a:r>
              <a:rPr lang="zh-CN" altLang="en-US" sz="1800" dirty="0"/>
              <a:t>路由协议，其</a:t>
            </a:r>
            <a:r>
              <a:rPr lang="en-US" altLang="zh-CN" sz="1800" dirty="0"/>
              <a:t>IGP</a:t>
            </a:r>
            <a:r>
              <a:rPr lang="zh-CN" altLang="en-US" sz="1800" dirty="0"/>
              <a:t>需要引入</a:t>
            </a:r>
            <a:r>
              <a:rPr lang="en-US" altLang="zh-CN" sz="1800" dirty="0"/>
              <a:t>EBGP</a:t>
            </a:r>
            <a:r>
              <a:rPr lang="zh-CN" altLang="en-US" sz="1800" dirty="0"/>
              <a:t>学习到的路由。</a:t>
            </a:r>
            <a:endParaRPr lang="en-US" altLang="zh-CN" sz="1800" dirty="0"/>
          </a:p>
          <a:p>
            <a:r>
              <a:rPr lang="en-US" altLang="zh-CN" sz="1800" dirty="0"/>
              <a:t>IGP</a:t>
            </a:r>
            <a:r>
              <a:rPr lang="zh-CN" altLang="en-US" sz="1800" dirty="0"/>
              <a:t>在引入</a:t>
            </a:r>
            <a:r>
              <a:rPr lang="en-US" altLang="zh-CN" sz="1800" dirty="0"/>
              <a:t>EBGP</a:t>
            </a:r>
            <a:r>
              <a:rPr lang="zh-CN" altLang="en-US" sz="1800" dirty="0"/>
              <a:t>路由时需要添加</a:t>
            </a:r>
            <a:r>
              <a:rPr lang="en-US" altLang="zh-CN" sz="1800" dirty="0"/>
              <a:t>tag</a:t>
            </a:r>
            <a:r>
              <a:rPr lang="zh-CN" altLang="en-US" sz="1800" dirty="0"/>
              <a:t>，以便其</a:t>
            </a:r>
            <a:r>
              <a:rPr lang="en-US" altLang="zh-CN" sz="1800" dirty="0"/>
              <a:t>IBGP</a:t>
            </a:r>
            <a:r>
              <a:rPr lang="zh-CN" altLang="en-US" sz="1800" dirty="0"/>
              <a:t>邻居再反向将本地的</a:t>
            </a:r>
            <a:r>
              <a:rPr lang="en-US" altLang="zh-CN" sz="1800" dirty="0"/>
              <a:t>IGP</a:t>
            </a:r>
            <a:r>
              <a:rPr lang="zh-CN" altLang="en-US" sz="1800" dirty="0"/>
              <a:t>路由引入</a:t>
            </a:r>
            <a:r>
              <a:rPr lang="en-US" altLang="zh-CN" sz="1800" dirty="0"/>
              <a:t>BGP</a:t>
            </a:r>
            <a:r>
              <a:rPr lang="zh-CN" altLang="en-US" sz="1800" dirty="0"/>
              <a:t>时根据</a:t>
            </a:r>
            <a:r>
              <a:rPr lang="en-US" altLang="zh-CN" sz="1800" dirty="0"/>
              <a:t>tag</a:t>
            </a:r>
            <a:r>
              <a:rPr lang="zh-CN" altLang="en-US" sz="1800" dirty="0"/>
              <a:t>过滤掉之前引入的</a:t>
            </a:r>
            <a:r>
              <a:rPr lang="en-US" altLang="zh-CN" sz="1800" dirty="0"/>
              <a:t>BGP</a:t>
            </a:r>
            <a:r>
              <a:rPr lang="zh-CN" altLang="en-US" sz="1800" dirty="0"/>
              <a:t>路由。</a:t>
            </a:r>
            <a:endParaRPr lang="en-US" sz="1800" dirty="0"/>
          </a:p>
        </p:txBody>
      </p:sp>
      <p:sp>
        <p:nvSpPr>
          <p:cNvPr id="2" name="Title 1">
            <a:extLst>
              <a:ext uri="{FF2B5EF4-FFF2-40B4-BE49-F238E27FC236}">
                <a16:creationId xmlns="" xmlns:a16="http://schemas.microsoft.com/office/drawing/2014/main" id="{9F1D5894-3C35-4850-9357-40EA8A875792}"/>
              </a:ext>
            </a:extLst>
          </p:cNvPr>
          <p:cNvSpPr>
            <a:spLocks noGrp="1"/>
          </p:cNvSpPr>
          <p:nvPr>
            <p:ph type="title"/>
          </p:nvPr>
        </p:nvSpPr>
        <p:spPr bwMode="gray"/>
        <p:txBody>
          <a:bodyPr/>
          <a:lstStyle/>
          <a:p>
            <a:r>
              <a:rPr lang="en-US" altLang="zh-CN" dirty="0"/>
              <a:t>BGP</a:t>
            </a:r>
            <a:r>
              <a:rPr lang="zh-CN" altLang="en-US" dirty="0"/>
              <a:t>路由防环防次优设计</a:t>
            </a:r>
            <a:endParaRPr lang="en-US" dirty="0"/>
          </a:p>
        </p:txBody>
      </p:sp>
      <p:sp>
        <p:nvSpPr>
          <p:cNvPr id="234" name="五边形 2">
            <a:extLst>
              <a:ext uri="{FF2B5EF4-FFF2-40B4-BE49-F238E27FC236}">
                <a16:creationId xmlns="" xmlns:a16="http://schemas.microsoft.com/office/drawing/2014/main" id="{A8C86E0A-116D-41C2-AA28-FFD923AAB170}"/>
              </a:ext>
            </a:extLst>
          </p:cNvPr>
          <p:cNvSpPr/>
          <p:nvPr/>
        </p:nvSpPr>
        <p:spPr bwMode="gray">
          <a:xfrm>
            <a:off x="9347466"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路由规划</a:t>
            </a:r>
          </a:p>
        </p:txBody>
      </p:sp>
      <p:sp>
        <p:nvSpPr>
          <p:cNvPr id="235" name="燕尾形 3">
            <a:extLst>
              <a:ext uri="{FF2B5EF4-FFF2-40B4-BE49-F238E27FC236}">
                <a16:creationId xmlns="" xmlns:a16="http://schemas.microsoft.com/office/drawing/2014/main" id="{B561DB3B-BF64-48FF-A4C7-EBFC207053E0}"/>
              </a:ext>
            </a:extLst>
          </p:cNvPr>
          <p:cNvSpPr/>
          <p:nvPr/>
        </p:nvSpPr>
        <p:spPr bwMode="gray">
          <a:xfrm>
            <a:off x="1046686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路由规划</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Rectangle: Rounded Corners 84">
            <a:extLst>
              <a:ext uri="{FF2B5EF4-FFF2-40B4-BE49-F238E27FC236}">
                <a16:creationId xmlns="" xmlns:a16="http://schemas.microsoft.com/office/drawing/2014/main" id="{F72B2E68-DA59-4977-873B-978342A2974A}"/>
              </a:ext>
            </a:extLst>
          </p:cNvPr>
          <p:cNvSpPr/>
          <p:nvPr/>
        </p:nvSpPr>
        <p:spPr bwMode="gray">
          <a:xfrm>
            <a:off x="3266962" y="3279523"/>
            <a:ext cx="2225915" cy="1924049"/>
          </a:xfrm>
          <a:prstGeom prst="roundRect">
            <a:avLst>
              <a:gd name="adj" fmla="val 3573"/>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p:txBody>
      </p:sp>
      <p:sp>
        <p:nvSpPr>
          <p:cNvPr id="86" name="圆角矩形 75">
            <a:extLst>
              <a:ext uri="{FF2B5EF4-FFF2-40B4-BE49-F238E27FC236}">
                <a16:creationId xmlns="" xmlns:a16="http://schemas.microsoft.com/office/drawing/2014/main" id="{6154432D-5B71-4FF1-B98D-0EE4AF0FBB81}"/>
              </a:ext>
            </a:extLst>
          </p:cNvPr>
          <p:cNvSpPr/>
          <p:nvPr/>
        </p:nvSpPr>
        <p:spPr bwMode="gray">
          <a:xfrm>
            <a:off x="6781291" y="3279523"/>
            <a:ext cx="1749326" cy="192405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87" name="图片 48">
            <a:extLst>
              <a:ext uri="{FF2B5EF4-FFF2-40B4-BE49-F238E27FC236}">
                <a16:creationId xmlns="" xmlns:a16="http://schemas.microsoft.com/office/drawing/2014/main" id="{DFA2CC83-2422-4E70-AE81-0819A54C2575}"/>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227464" y="3515851"/>
            <a:ext cx="378863" cy="310667"/>
          </a:xfrm>
          <a:prstGeom prst="rect">
            <a:avLst/>
          </a:prstGeom>
        </p:spPr>
      </p:pic>
      <p:pic>
        <p:nvPicPr>
          <p:cNvPr id="88" name="图片 48">
            <a:extLst>
              <a:ext uri="{FF2B5EF4-FFF2-40B4-BE49-F238E27FC236}">
                <a16:creationId xmlns="" xmlns:a16="http://schemas.microsoft.com/office/drawing/2014/main" id="{91FA6B18-3BD0-4751-A61E-FB6413FEEE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663335" y="3515850"/>
            <a:ext cx="378863" cy="310667"/>
          </a:xfrm>
          <a:prstGeom prst="rect">
            <a:avLst/>
          </a:prstGeom>
        </p:spPr>
      </p:pic>
      <p:pic>
        <p:nvPicPr>
          <p:cNvPr id="89" name="图片 48">
            <a:extLst>
              <a:ext uri="{FF2B5EF4-FFF2-40B4-BE49-F238E27FC236}">
                <a16:creationId xmlns="" xmlns:a16="http://schemas.microsoft.com/office/drawing/2014/main" id="{89E99F17-321A-434C-BA4A-6536D27B8D04}"/>
              </a:ext>
            </a:extLst>
          </p:cNvPr>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227464" y="4568729"/>
            <a:ext cx="378863" cy="310667"/>
          </a:xfrm>
          <a:prstGeom prst="rect">
            <a:avLst/>
          </a:prstGeom>
        </p:spPr>
      </p:pic>
      <p:pic>
        <p:nvPicPr>
          <p:cNvPr id="90" name="图片 48">
            <a:extLst>
              <a:ext uri="{FF2B5EF4-FFF2-40B4-BE49-F238E27FC236}">
                <a16:creationId xmlns="" xmlns:a16="http://schemas.microsoft.com/office/drawing/2014/main" id="{FCFE4ED6-0FEB-4A4D-A09F-AA33A1A536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663335" y="4568728"/>
            <a:ext cx="378863" cy="310667"/>
          </a:xfrm>
          <a:prstGeom prst="rect">
            <a:avLst/>
          </a:prstGeom>
        </p:spPr>
      </p:pic>
      <p:cxnSp>
        <p:nvCxnSpPr>
          <p:cNvPr id="96" name="Straight Connector 95">
            <a:extLst>
              <a:ext uri="{FF2B5EF4-FFF2-40B4-BE49-F238E27FC236}">
                <a16:creationId xmlns="" xmlns:a16="http://schemas.microsoft.com/office/drawing/2014/main" id="{3776CAA0-6598-42F3-9E42-FB47F2B9D49A}"/>
              </a:ext>
            </a:extLst>
          </p:cNvPr>
          <p:cNvCxnSpPr>
            <a:cxnSpLocks/>
            <a:stCxn id="87" idx="3"/>
            <a:endCxn id="88" idx="1"/>
          </p:cNvCxnSpPr>
          <p:nvPr/>
        </p:nvCxnSpPr>
        <p:spPr bwMode="gray">
          <a:xfrm flipV="1">
            <a:off x="5606327" y="3671184"/>
            <a:ext cx="1057008"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D7B1CFAE-40B2-479C-91AC-A7015E6905D9}"/>
              </a:ext>
            </a:extLst>
          </p:cNvPr>
          <p:cNvCxnSpPr>
            <a:cxnSpLocks/>
            <a:stCxn id="89" idx="3"/>
            <a:endCxn id="90" idx="1"/>
          </p:cNvCxnSpPr>
          <p:nvPr/>
        </p:nvCxnSpPr>
        <p:spPr bwMode="gray">
          <a:xfrm flipV="1">
            <a:off x="5606327" y="4724062"/>
            <a:ext cx="1057008"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0" name="TextBox 271">
            <a:extLst>
              <a:ext uri="{FF2B5EF4-FFF2-40B4-BE49-F238E27FC236}">
                <a16:creationId xmlns="" xmlns:a16="http://schemas.microsoft.com/office/drawing/2014/main" id="{37C7CC77-CB3A-490D-9461-0FB2EFC9A784}"/>
              </a:ext>
            </a:extLst>
          </p:cNvPr>
          <p:cNvSpPr txBox="1"/>
          <p:nvPr/>
        </p:nvSpPr>
        <p:spPr bwMode="gray">
          <a:xfrm>
            <a:off x="5198332" y="3279522"/>
            <a:ext cx="454541"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TextBox 271">
            <a:extLst>
              <a:ext uri="{FF2B5EF4-FFF2-40B4-BE49-F238E27FC236}">
                <a16:creationId xmlns="" xmlns:a16="http://schemas.microsoft.com/office/drawing/2014/main" id="{5803C96B-98E1-4F1D-B79F-57F7E7A13C5D}"/>
              </a:ext>
            </a:extLst>
          </p:cNvPr>
          <p:cNvSpPr txBox="1"/>
          <p:nvPr/>
        </p:nvSpPr>
        <p:spPr bwMode="gray">
          <a:xfrm>
            <a:off x="6648698" y="3284977"/>
            <a:ext cx="441334"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TextBox 271">
            <a:extLst>
              <a:ext uri="{FF2B5EF4-FFF2-40B4-BE49-F238E27FC236}">
                <a16:creationId xmlns="" xmlns:a16="http://schemas.microsoft.com/office/drawing/2014/main" id="{C776819A-26E6-4419-90BF-3FE065052663}"/>
              </a:ext>
            </a:extLst>
          </p:cNvPr>
          <p:cNvSpPr txBox="1"/>
          <p:nvPr/>
        </p:nvSpPr>
        <p:spPr bwMode="gray">
          <a:xfrm>
            <a:off x="5198332" y="4864978"/>
            <a:ext cx="454541"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271">
            <a:extLst>
              <a:ext uri="{FF2B5EF4-FFF2-40B4-BE49-F238E27FC236}">
                <a16:creationId xmlns="" xmlns:a16="http://schemas.microsoft.com/office/drawing/2014/main" id="{4A02A5BA-277D-42ED-B8A4-56C221C971CA}"/>
              </a:ext>
            </a:extLst>
          </p:cNvPr>
          <p:cNvSpPr txBox="1"/>
          <p:nvPr/>
        </p:nvSpPr>
        <p:spPr bwMode="gray">
          <a:xfrm>
            <a:off x="6631283" y="4863468"/>
            <a:ext cx="45454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2" name="Straight Connector 111">
            <a:extLst>
              <a:ext uri="{FF2B5EF4-FFF2-40B4-BE49-F238E27FC236}">
                <a16:creationId xmlns="" xmlns:a16="http://schemas.microsoft.com/office/drawing/2014/main" id="{CF699818-E1A8-49D2-9E45-809480223CC3}"/>
              </a:ext>
            </a:extLst>
          </p:cNvPr>
          <p:cNvCxnSpPr>
            <a:cxnSpLocks/>
            <a:stCxn id="87" idx="2"/>
            <a:endCxn id="89" idx="0"/>
          </p:cNvCxnSpPr>
          <p:nvPr/>
        </p:nvCxnSpPr>
        <p:spPr bwMode="gray">
          <a:xfrm>
            <a:off x="5416896" y="3826518"/>
            <a:ext cx="0" cy="7422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 xmlns:a16="http://schemas.microsoft.com/office/drawing/2014/main" id="{BEBEEA25-22AC-4C3D-B1EC-70140213CA69}"/>
              </a:ext>
            </a:extLst>
          </p:cNvPr>
          <p:cNvCxnSpPr>
            <a:cxnSpLocks/>
            <a:stCxn id="88" idx="2"/>
            <a:endCxn id="90" idx="0"/>
          </p:cNvCxnSpPr>
          <p:nvPr/>
        </p:nvCxnSpPr>
        <p:spPr bwMode="gray">
          <a:xfrm>
            <a:off x="6852767" y="3826517"/>
            <a:ext cx="0" cy="7422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0" name="Freeform: Shape 139">
            <a:extLst>
              <a:ext uri="{FF2B5EF4-FFF2-40B4-BE49-F238E27FC236}">
                <a16:creationId xmlns="" xmlns:a16="http://schemas.microsoft.com/office/drawing/2014/main" id="{CEBC13E7-1A4A-4F4C-B7D1-C41AAC551CB2}"/>
              </a:ext>
            </a:extLst>
          </p:cNvPr>
          <p:cNvSpPr/>
          <p:nvPr/>
        </p:nvSpPr>
        <p:spPr bwMode="gray">
          <a:xfrm flipH="1" flipV="1">
            <a:off x="5639944" y="4798211"/>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9" name="图片 140" descr="通用交换机.png">
            <a:extLst>
              <a:ext uri="{FF2B5EF4-FFF2-40B4-BE49-F238E27FC236}">
                <a16:creationId xmlns="" xmlns:a16="http://schemas.microsoft.com/office/drawing/2014/main" id="{6E9E78D7-9982-4AF3-9852-6C59DC3784FE}"/>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3433334" y="3512917"/>
            <a:ext cx="378863" cy="309980"/>
          </a:xfrm>
          <a:prstGeom prst="rect">
            <a:avLst/>
          </a:prstGeom>
        </p:spPr>
      </p:pic>
      <p:pic>
        <p:nvPicPr>
          <p:cNvPr id="150" name="图片 140" descr="通用交换机.png">
            <a:extLst>
              <a:ext uri="{FF2B5EF4-FFF2-40B4-BE49-F238E27FC236}">
                <a16:creationId xmlns="" xmlns:a16="http://schemas.microsoft.com/office/drawing/2014/main" id="{905863AE-9D3C-4E6F-925C-BC9BE8FC4444}"/>
              </a:ext>
            </a:extLst>
          </p:cNvPr>
          <p:cNvPicPr>
            <a:picLocks noChangeAspect="1"/>
          </p:cNvPicPr>
          <p:nvPr/>
        </p:nvPicPr>
        <p:blipFill>
          <a:blip r:embed="rId4" cstate="print">
            <a:duotone>
              <a:schemeClr val="accent3">
                <a:shade val="45000"/>
                <a:satMod val="135000"/>
              </a:schemeClr>
              <a:prstClr val="white"/>
            </a:duotone>
          </a:blip>
          <a:stretch>
            <a:fillRect/>
          </a:stretch>
        </p:blipFill>
        <p:spPr bwMode="gray">
          <a:xfrm>
            <a:off x="3433334" y="4563561"/>
            <a:ext cx="378863" cy="309980"/>
          </a:xfrm>
          <a:prstGeom prst="rect">
            <a:avLst/>
          </a:prstGeom>
        </p:spPr>
      </p:pic>
      <p:cxnSp>
        <p:nvCxnSpPr>
          <p:cNvPr id="165" name="Straight Connector 164">
            <a:extLst>
              <a:ext uri="{FF2B5EF4-FFF2-40B4-BE49-F238E27FC236}">
                <a16:creationId xmlns="" xmlns:a16="http://schemas.microsoft.com/office/drawing/2014/main" id="{C5E456FE-CB8C-485F-92C7-EF0CFF6E512C}"/>
              </a:ext>
            </a:extLst>
          </p:cNvPr>
          <p:cNvCxnSpPr>
            <a:cxnSpLocks/>
            <a:stCxn id="149" idx="3"/>
            <a:endCxn id="87" idx="1"/>
          </p:cNvCxnSpPr>
          <p:nvPr/>
        </p:nvCxnSpPr>
        <p:spPr bwMode="gray">
          <a:xfrm>
            <a:off x="3812197" y="3667907"/>
            <a:ext cx="1415267" cy="327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 xmlns:a16="http://schemas.microsoft.com/office/drawing/2014/main" id="{0252D838-7803-4D13-8FB5-1017CA1E6B09}"/>
              </a:ext>
            </a:extLst>
          </p:cNvPr>
          <p:cNvCxnSpPr>
            <a:cxnSpLocks/>
            <a:stCxn id="150" idx="0"/>
            <a:endCxn id="87" idx="2"/>
          </p:cNvCxnSpPr>
          <p:nvPr/>
        </p:nvCxnSpPr>
        <p:spPr bwMode="gray">
          <a:xfrm flipV="1">
            <a:off x="3622766" y="3826518"/>
            <a:ext cx="1794130" cy="73704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 xmlns:a16="http://schemas.microsoft.com/office/drawing/2014/main" id="{CE36300E-7012-412E-8231-7817DE0F4E3A}"/>
              </a:ext>
            </a:extLst>
          </p:cNvPr>
          <p:cNvCxnSpPr>
            <a:cxnSpLocks/>
            <a:stCxn id="149" idx="2"/>
            <a:endCxn id="150" idx="0"/>
          </p:cNvCxnSpPr>
          <p:nvPr/>
        </p:nvCxnSpPr>
        <p:spPr bwMode="gray">
          <a:xfrm>
            <a:off x="3622766" y="3822897"/>
            <a:ext cx="0" cy="74066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 xmlns:a16="http://schemas.microsoft.com/office/drawing/2014/main" id="{48FE904E-B770-48A9-A96D-48DD6FF27EF8}"/>
              </a:ext>
            </a:extLst>
          </p:cNvPr>
          <p:cNvCxnSpPr>
            <a:cxnSpLocks/>
            <a:stCxn id="149" idx="2"/>
            <a:endCxn id="89" idx="0"/>
          </p:cNvCxnSpPr>
          <p:nvPr/>
        </p:nvCxnSpPr>
        <p:spPr bwMode="gray">
          <a:xfrm>
            <a:off x="3622766" y="3822897"/>
            <a:ext cx="1794130" cy="74583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 xmlns:a16="http://schemas.microsoft.com/office/drawing/2014/main" id="{8CE4203B-D1A7-448B-9F6D-98053965DAEB}"/>
              </a:ext>
            </a:extLst>
          </p:cNvPr>
          <p:cNvCxnSpPr>
            <a:cxnSpLocks/>
            <a:stCxn id="150" idx="3"/>
            <a:endCxn id="89" idx="1"/>
          </p:cNvCxnSpPr>
          <p:nvPr/>
        </p:nvCxnSpPr>
        <p:spPr bwMode="gray">
          <a:xfrm>
            <a:off x="3812197" y="4718551"/>
            <a:ext cx="1415267" cy="551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4" name="Rectangle 213">
            <a:extLst>
              <a:ext uri="{FF2B5EF4-FFF2-40B4-BE49-F238E27FC236}">
                <a16:creationId xmlns="" xmlns:a16="http://schemas.microsoft.com/office/drawing/2014/main" id="{19900D79-59F6-4E92-BB9A-7D0657CAE3D6}"/>
              </a:ext>
            </a:extLst>
          </p:cNvPr>
          <p:cNvSpPr/>
          <p:nvPr/>
        </p:nvSpPr>
        <p:spPr bwMode="gray">
          <a:xfrm>
            <a:off x="4395367" y="5193849"/>
            <a:ext cx="927269" cy="383016"/>
          </a:xfrm>
          <a:prstGeom prst="rect">
            <a:avLst/>
          </a:prstGeom>
          <a:solidFill>
            <a:schemeClr val="bg1">
              <a:lumMod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数据中心</a:t>
            </a:r>
            <a:r>
              <a:rPr lang="en-US" altLang="zh-CN" sz="1200" dirty="0"/>
              <a:t>/</a:t>
            </a:r>
            <a:r>
              <a:rPr lang="zh-CN" altLang="en-US" sz="1200" dirty="0"/>
              <a:t>企业分支</a:t>
            </a:r>
            <a:endParaRPr lang="en-US" sz="1200" dirty="0"/>
          </a:p>
        </p:txBody>
      </p:sp>
      <p:sp>
        <p:nvSpPr>
          <p:cNvPr id="215" name="TextBox 271">
            <a:extLst>
              <a:ext uri="{FF2B5EF4-FFF2-40B4-BE49-F238E27FC236}">
                <a16:creationId xmlns="" xmlns:a16="http://schemas.microsoft.com/office/drawing/2014/main" id="{4CE4D697-7318-4204-A235-507F2A56F509}"/>
              </a:ext>
            </a:extLst>
          </p:cNvPr>
          <p:cNvSpPr txBox="1"/>
          <p:nvPr/>
        </p:nvSpPr>
        <p:spPr bwMode="gray">
          <a:xfrm>
            <a:off x="6869365" y="5198545"/>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cxnSp>
        <p:nvCxnSpPr>
          <p:cNvPr id="222" name="Straight Connector 221">
            <a:extLst>
              <a:ext uri="{FF2B5EF4-FFF2-40B4-BE49-F238E27FC236}">
                <a16:creationId xmlns="" xmlns:a16="http://schemas.microsoft.com/office/drawing/2014/main" id="{CAD45827-A8AC-4FC7-9E64-5B2737A8E13B}"/>
              </a:ext>
            </a:extLst>
          </p:cNvPr>
          <p:cNvCxnSpPr>
            <a:cxnSpLocks/>
          </p:cNvCxnSpPr>
          <p:nvPr/>
        </p:nvCxnSpPr>
        <p:spPr bwMode="gray">
          <a:xfrm>
            <a:off x="2937364" y="4192715"/>
            <a:ext cx="6851221" cy="0"/>
          </a:xfrm>
          <a:prstGeom prst="line">
            <a:avLst/>
          </a:prstGeom>
          <a:ln w="19050">
            <a:solidFill>
              <a:srgbClr val="FFC000"/>
            </a:solidFill>
            <a:prstDash val="dashDot"/>
          </a:ln>
        </p:spPr>
        <p:style>
          <a:lnRef idx="1">
            <a:schemeClr val="accent1"/>
          </a:lnRef>
          <a:fillRef idx="0">
            <a:schemeClr val="accent1"/>
          </a:fillRef>
          <a:effectRef idx="0">
            <a:schemeClr val="accent1"/>
          </a:effectRef>
          <a:fontRef idx="minor">
            <a:schemeClr val="tx1"/>
          </a:fontRef>
        </p:style>
      </p:cxnSp>
      <p:sp>
        <p:nvSpPr>
          <p:cNvPr id="223" name="TextBox 271">
            <a:extLst>
              <a:ext uri="{FF2B5EF4-FFF2-40B4-BE49-F238E27FC236}">
                <a16:creationId xmlns="" xmlns:a16="http://schemas.microsoft.com/office/drawing/2014/main" id="{51BFE78D-5462-405D-808B-E3BD9053D22E}"/>
              </a:ext>
            </a:extLst>
          </p:cNvPr>
          <p:cNvSpPr txBox="1"/>
          <p:nvPr/>
        </p:nvSpPr>
        <p:spPr bwMode="gray">
          <a:xfrm>
            <a:off x="8634116" y="3515917"/>
            <a:ext cx="1154469" cy="338554"/>
          </a:xfrm>
          <a:prstGeom prst="rect">
            <a:avLst/>
          </a:prstGeom>
          <a:noFill/>
        </p:spPr>
        <p:txBody>
          <a:bodyPr wrap="square" rtlCol="0">
            <a:spAutoFit/>
          </a:bodyPr>
          <a:lstStyle/>
          <a:p>
            <a:pPr>
              <a:buFont typeface="Wingdings" pitchFamily="2" charset="2"/>
              <a:buNone/>
              <a:defRPr/>
            </a:pPr>
            <a:r>
              <a:rPr lang="en-US" altLang="zh-CN"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平面（主）</a:t>
            </a:r>
          </a:p>
        </p:txBody>
      </p:sp>
      <p:sp>
        <p:nvSpPr>
          <p:cNvPr id="224" name="TextBox 271">
            <a:extLst>
              <a:ext uri="{FF2B5EF4-FFF2-40B4-BE49-F238E27FC236}">
                <a16:creationId xmlns="" xmlns:a16="http://schemas.microsoft.com/office/drawing/2014/main" id="{86E86777-B90D-4E44-AB90-C24A34DE2539}"/>
              </a:ext>
            </a:extLst>
          </p:cNvPr>
          <p:cNvSpPr txBox="1"/>
          <p:nvPr/>
        </p:nvSpPr>
        <p:spPr bwMode="gray">
          <a:xfrm>
            <a:off x="8634116" y="4480067"/>
            <a:ext cx="1154469" cy="338554"/>
          </a:xfrm>
          <a:prstGeom prst="rect">
            <a:avLst/>
          </a:prstGeom>
          <a:noFill/>
        </p:spPr>
        <p:txBody>
          <a:bodyPr wrap="square" rtlCol="0">
            <a:spAutoFit/>
          </a:bodyPr>
          <a:lstStyle/>
          <a:p>
            <a:pPr>
              <a:buFont typeface="Wingdings" pitchFamily="2" charset="2"/>
              <a:buNone/>
              <a:defRPr/>
            </a:pPr>
            <a:r>
              <a:rPr lang="en-US" altLang="zh-CN"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平面（备）</a:t>
            </a:r>
          </a:p>
        </p:txBody>
      </p:sp>
      <p:sp>
        <p:nvSpPr>
          <p:cNvPr id="232" name="Freeform: Shape 231">
            <a:extLst>
              <a:ext uri="{FF2B5EF4-FFF2-40B4-BE49-F238E27FC236}">
                <a16:creationId xmlns="" xmlns:a16="http://schemas.microsoft.com/office/drawing/2014/main" id="{1814F7C6-689B-475F-B352-6B2EB8FC1C90}"/>
              </a:ext>
            </a:extLst>
          </p:cNvPr>
          <p:cNvSpPr/>
          <p:nvPr/>
        </p:nvSpPr>
        <p:spPr bwMode="gray">
          <a:xfrm>
            <a:off x="5621796" y="3463004"/>
            <a:ext cx="996058" cy="130513"/>
          </a:xfrm>
          <a:custGeom>
            <a:avLst/>
            <a:gdLst>
              <a:gd name="connsiteX0" fmla="*/ 0 w 2743200"/>
              <a:gd name="connsiteY0" fmla="*/ 266708 h 274328"/>
              <a:gd name="connsiteX1" fmla="*/ 1402080 w 2743200"/>
              <a:gd name="connsiteY1" fmla="*/ 8 h 274328"/>
              <a:gd name="connsiteX2" fmla="*/ 2743200 w 2743200"/>
              <a:gd name="connsiteY2" fmla="*/ 274328 h 274328"/>
            </a:gdLst>
            <a:ahLst/>
            <a:cxnLst>
              <a:cxn ang="0">
                <a:pos x="connsiteX0" y="connsiteY0"/>
              </a:cxn>
              <a:cxn ang="0">
                <a:pos x="connsiteX1" y="connsiteY1"/>
              </a:cxn>
              <a:cxn ang="0">
                <a:pos x="connsiteX2" y="connsiteY2"/>
              </a:cxn>
            </a:cxnLst>
            <a:rect l="l" t="t" r="r" b="b"/>
            <a:pathLst>
              <a:path w="2743200" h="274328">
                <a:moveTo>
                  <a:pt x="0" y="266708"/>
                </a:moveTo>
                <a:cubicBezTo>
                  <a:pt x="472440" y="132723"/>
                  <a:pt x="944880" y="-1262"/>
                  <a:pt x="1402080" y="8"/>
                </a:cubicBezTo>
                <a:cubicBezTo>
                  <a:pt x="1859280" y="1278"/>
                  <a:pt x="2301240" y="137803"/>
                  <a:pt x="2743200" y="274328"/>
                </a:cubicBezTo>
              </a:path>
            </a:pathLst>
          </a:custGeom>
          <a:noFill/>
          <a:ln w="19050">
            <a:solidFill>
              <a:srgbClr val="81C15F"/>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Arc 216">
            <a:extLst>
              <a:ext uri="{FF2B5EF4-FFF2-40B4-BE49-F238E27FC236}">
                <a16:creationId xmlns="" xmlns:a16="http://schemas.microsoft.com/office/drawing/2014/main" id="{5E8F35A0-AD83-4BC0-8D2D-6D70BED30ACA}"/>
              </a:ext>
            </a:extLst>
          </p:cNvPr>
          <p:cNvSpPr/>
          <p:nvPr/>
        </p:nvSpPr>
        <p:spPr bwMode="gray">
          <a:xfrm rot="9900000">
            <a:off x="5075803" y="3413098"/>
            <a:ext cx="190980" cy="190980"/>
          </a:xfrm>
          <a:prstGeom prst="arc">
            <a:avLst>
              <a:gd name="adj1" fmla="val 16200000"/>
              <a:gd name="adj2" fmla="val 11074435"/>
            </a:avLst>
          </a:prstGeom>
          <a:ln w="28575">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8" name="Arc 217">
            <a:extLst>
              <a:ext uri="{FF2B5EF4-FFF2-40B4-BE49-F238E27FC236}">
                <a16:creationId xmlns="" xmlns:a16="http://schemas.microsoft.com/office/drawing/2014/main" id="{BC868BFB-A7FA-4B48-ADAD-DD58899D2A13}"/>
              </a:ext>
            </a:extLst>
          </p:cNvPr>
          <p:cNvSpPr/>
          <p:nvPr/>
        </p:nvSpPr>
        <p:spPr bwMode="gray">
          <a:xfrm rot="5400000">
            <a:off x="5105907" y="4798072"/>
            <a:ext cx="190980" cy="190980"/>
          </a:xfrm>
          <a:prstGeom prst="arc">
            <a:avLst>
              <a:gd name="adj1" fmla="val 16200000"/>
              <a:gd name="adj2" fmla="val 11074435"/>
            </a:avLst>
          </a:prstGeom>
          <a:ln w="28575">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4" name="Rectangular Callout 26">
            <a:extLst>
              <a:ext uri="{FF2B5EF4-FFF2-40B4-BE49-F238E27FC236}">
                <a16:creationId xmlns="" xmlns:a16="http://schemas.microsoft.com/office/drawing/2014/main" id="{2095AEFE-E6B8-4636-B6D8-5E69D7AC9A1C}"/>
              </a:ext>
            </a:extLst>
          </p:cNvPr>
          <p:cNvSpPr/>
          <p:nvPr/>
        </p:nvSpPr>
        <p:spPr bwMode="gray">
          <a:xfrm>
            <a:off x="3783585" y="4759171"/>
            <a:ext cx="1187570" cy="419540"/>
          </a:xfrm>
          <a:prstGeom prst="wedgeRectCallout">
            <a:avLst>
              <a:gd name="adj1" fmla="val 57378"/>
              <a:gd name="adj2" fmla="val -2360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引入</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路由时打上</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tag</a:t>
            </a:r>
          </a:p>
        </p:txBody>
      </p:sp>
      <p:sp>
        <p:nvSpPr>
          <p:cNvPr id="245" name="Rectangular Callout 26">
            <a:extLst>
              <a:ext uri="{FF2B5EF4-FFF2-40B4-BE49-F238E27FC236}">
                <a16:creationId xmlns="" xmlns:a16="http://schemas.microsoft.com/office/drawing/2014/main" id="{0777F9A9-E83D-46DD-B1C0-DC41BBE4ADA7}"/>
              </a:ext>
            </a:extLst>
          </p:cNvPr>
          <p:cNvSpPr/>
          <p:nvPr/>
        </p:nvSpPr>
        <p:spPr bwMode="gray">
          <a:xfrm>
            <a:off x="3765927" y="2906230"/>
            <a:ext cx="1194283" cy="588517"/>
          </a:xfrm>
          <a:prstGeom prst="wedgeRectCallout">
            <a:avLst>
              <a:gd name="adj1" fmla="val 57961"/>
              <a:gd name="adj2" fmla="val 4541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引入</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路由时过滤带</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tag</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的路由</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4247383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企业广域承载网络现状与挑战</a:t>
            </a:r>
            <a:endParaRPr lang="en-US" altLang="zh-CN" dirty="0">
              <a:solidFill>
                <a:schemeClr val="bg1">
                  <a:lumMod val="50000"/>
                </a:schemeClr>
              </a:solidFill>
            </a:endParaRPr>
          </a:p>
          <a:p>
            <a:r>
              <a:rPr lang="zh-CN" altLang="en-US" dirty="0">
                <a:solidFill>
                  <a:schemeClr val="bg1">
                    <a:lumMod val="50000"/>
                  </a:schemeClr>
                </a:solidFill>
              </a:rPr>
              <a:t>华为云广域网络解决方案概述</a:t>
            </a:r>
            <a:endParaRPr lang="en-US" altLang="zh-CN" dirty="0">
              <a:solidFill>
                <a:schemeClr val="bg1">
                  <a:lumMod val="50000"/>
                </a:schemeClr>
              </a:solidFill>
            </a:endParaRPr>
          </a:p>
          <a:p>
            <a:r>
              <a:rPr lang="zh-CN" altLang="en-US" dirty="0">
                <a:solidFill>
                  <a:schemeClr val="bg1">
                    <a:lumMod val="50000"/>
                  </a:schemeClr>
                </a:solidFill>
              </a:rPr>
              <a:t>企业广域承载基础网络设计</a:t>
            </a:r>
            <a:endParaRPr lang="en-US" altLang="zh-CN" dirty="0">
              <a:solidFill>
                <a:schemeClr val="bg1">
                  <a:lumMod val="50000"/>
                </a:schemeClr>
              </a:solidFill>
            </a:endParaRPr>
          </a:p>
          <a:p>
            <a:r>
              <a:rPr lang="zh-CN" altLang="en-US" b="1" dirty="0"/>
              <a:t>企业广域承载网络隧道与</a:t>
            </a:r>
            <a:r>
              <a:rPr lang="en-US" altLang="zh-CN" b="1" dirty="0"/>
              <a:t>VPN</a:t>
            </a:r>
            <a:r>
              <a:rPr lang="zh-CN" altLang="en-US" b="1" dirty="0"/>
              <a:t>设计</a:t>
            </a:r>
            <a:endParaRPr lang="en-US" altLang="zh-CN" b="1" dirty="0"/>
          </a:p>
          <a:p>
            <a:r>
              <a:rPr lang="zh-CN" altLang="en-US" dirty="0">
                <a:solidFill>
                  <a:schemeClr val="bg1">
                    <a:lumMod val="50000"/>
                  </a:schemeClr>
                </a:solidFill>
              </a:rPr>
              <a:t>企业广域承载网络</a:t>
            </a:r>
            <a:r>
              <a:rPr lang="en-US" altLang="zh-CN" dirty="0">
                <a:solidFill>
                  <a:schemeClr val="bg1">
                    <a:lumMod val="50000"/>
                  </a:schemeClr>
                </a:solidFill>
              </a:rPr>
              <a:t>SLA</a:t>
            </a:r>
            <a:r>
              <a:rPr lang="zh-CN" altLang="en-US" dirty="0">
                <a:solidFill>
                  <a:schemeClr val="bg1">
                    <a:lumMod val="50000"/>
                  </a:schemeClr>
                </a:solidFill>
              </a:rPr>
              <a:t>与可靠性设计</a:t>
            </a:r>
            <a:endParaRPr lang="en-US" altLang="zh-CN" dirty="0">
              <a:solidFill>
                <a:schemeClr val="bg1">
                  <a:lumMod val="50000"/>
                </a:schemeClr>
              </a:solidFill>
            </a:endParaRPr>
          </a:p>
          <a:p>
            <a:r>
              <a:rPr lang="zh-CN" altLang="en-US" dirty="0">
                <a:solidFill>
                  <a:schemeClr val="bg1">
                    <a:lumMod val="50000"/>
                  </a:schemeClr>
                </a:solidFill>
              </a:rPr>
              <a:t>企业广域承载网络优化与运维设计</a:t>
            </a:r>
            <a:endParaRPr lang="en-US" altLang="zh-CN" dirty="0">
              <a:solidFill>
                <a:schemeClr val="bg1">
                  <a:lumMod val="50000"/>
                </a:schemeClr>
              </a:solidFill>
            </a:endParaRPr>
          </a:p>
        </p:txBody>
      </p:sp>
    </p:spTree>
    <p:extLst>
      <p:ext uri="{BB962C8B-B14F-4D97-AF65-F5344CB8AC3E}">
        <p14:creationId xmlns:p14="http://schemas.microsoft.com/office/powerpoint/2010/main" val="1206973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企业广域承载网络隧道与</a:t>
            </a:r>
            <a:r>
              <a:rPr lang="en-US" altLang="zh-CN" dirty="0"/>
              <a:t>VPN</a:t>
            </a:r>
            <a:r>
              <a:rPr lang="zh-CN" altLang="en-US" dirty="0"/>
              <a:t>设计概览</a:t>
            </a:r>
            <a:endParaRPr lang="en-US" dirty="0"/>
          </a:p>
        </p:txBody>
      </p:sp>
      <p:sp>
        <p:nvSpPr>
          <p:cNvPr id="4" name="Text Placeholder 3">
            <a:extLst>
              <a:ext uri="{FF2B5EF4-FFF2-40B4-BE49-F238E27FC236}">
                <a16:creationId xmlns="" xmlns:a16="http://schemas.microsoft.com/office/drawing/2014/main" id="{D67DBC69-70DE-44BC-A30C-5AA6E2C10C5C}"/>
              </a:ext>
            </a:extLst>
          </p:cNvPr>
          <p:cNvSpPr>
            <a:spLocks noGrp="1"/>
          </p:cNvSpPr>
          <p:nvPr>
            <p:ph type="body" sz="quarter" idx="10"/>
          </p:nvPr>
        </p:nvSpPr>
        <p:spPr bwMode="gray">
          <a:xfrm>
            <a:off x="455612" y="1047750"/>
            <a:ext cx="11293475" cy="1123571"/>
          </a:xfrm>
        </p:spPr>
        <p:txBody>
          <a:bodyPr/>
          <a:lstStyle/>
          <a:p>
            <a:r>
              <a:rPr lang="zh-CN" altLang="en-US" sz="2000" dirty="0"/>
              <a:t>企业一般会使用</a:t>
            </a:r>
            <a:r>
              <a:rPr lang="en-US" altLang="zh-CN" sz="2000" dirty="0"/>
              <a:t>VPN</a:t>
            </a:r>
            <a:r>
              <a:rPr lang="zh-CN" altLang="en-US" sz="2000" dirty="0"/>
              <a:t>技术进行业务隔离，同时会使用</a:t>
            </a:r>
            <a:r>
              <a:rPr lang="en-US" altLang="zh-CN" sz="2000" dirty="0"/>
              <a:t>SR</a:t>
            </a:r>
            <a:r>
              <a:rPr lang="zh-CN" altLang="en-US" sz="2000" dirty="0"/>
              <a:t>技术建立隧道进行流量调优和路径规划。</a:t>
            </a:r>
            <a:endParaRPr lang="en-US" altLang="zh-CN" sz="2000" dirty="0"/>
          </a:p>
          <a:p>
            <a:r>
              <a:rPr lang="zh-CN" altLang="en-US" sz="2000" dirty="0"/>
              <a:t>将</a:t>
            </a:r>
            <a:r>
              <a:rPr lang="en-US" altLang="zh-CN" sz="2000" dirty="0"/>
              <a:t>VPN</a:t>
            </a:r>
            <a:r>
              <a:rPr lang="zh-CN" altLang="en-US" sz="2000" dirty="0"/>
              <a:t>流量承载于隧道之上便能使企业业务在隔离的同时保障业务的质量。</a:t>
            </a:r>
            <a:endParaRPr lang="en-US" sz="2000" dirty="0"/>
          </a:p>
        </p:txBody>
      </p:sp>
      <p:sp>
        <p:nvSpPr>
          <p:cNvPr id="68" name="梯形 41">
            <a:extLst>
              <a:ext uri="{FF2B5EF4-FFF2-40B4-BE49-F238E27FC236}">
                <a16:creationId xmlns="" xmlns:a16="http://schemas.microsoft.com/office/drawing/2014/main" id="{0B46D320-F22F-47FE-B2C5-27B0278315E8}"/>
              </a:ext>
            </a:extLst>
          </p:cNvPr>
          <p:cNvSpPr/>
          <p:nvPr/>
        </p:nvSpPr>
        <p:spPr bwMode="gray">
          <a:xfrm>
            <a:off x="2768303" y="3835832"/>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0" name="图片 31">
            <a:extLst>
              <a:ext uri="{FF2B5EF4-FFF2-40B4-BE49-F238E27FC236}">
                <a16:creationId xmlns="" xmlns:a16="http://schemas.microsoft.com/office/drawing/2014/main" id="{D87C2E1D-2540-4F79-B6B4-64A804FD6EA9}"/>
              </a:ext>
            </a:extLst>
          </p:cNvPr>
          <p:cNvPicPr>
            <a:picLocks noChangeAspect="1"/>
          </p:cNvPicPr>
          <p:nvPr/>
        </p:nvPicPr>
        <p:blipFill>
          <a:blip r:embed="rId3"/>
          <a:stretch>
            <a:fillRect/>
          </a:stretch>
        </p:blipFill>
        <p:spPr bwMode="gray">
          <a:xfrm>
            <a:off x="4367008" y="4117244"/>
            <a:ext cx="466668" cy="389308"/>
          </a:xfrm>
          <a:prstGeom prst="rect">
            <a:avLst/>
          </a:prstGeom>
        </p:spPr>
      </p:pic>
      <p:pic>
        <p:nvPicPr>
          <p:cNvPr id="81" name="图片 31">
            <a:extLst>
              <a:ext uri="{FF2B5EF4-FFF2-40B4-BE49-F238E27FC236}">
                <a16:creationId xmlns="" xmlns:a16="http://schemas.microsoft.com/office/drawing/2014/main" id="{55C8968D-B1FD-4785-B86C-7AE096E560FB}"/>
              </a:ext>
            </a:extLst>
          </p:cNvPr>
          <p:cNvPicPr>
            <a:picLocks noChangeAspect="1"/>
          </p:cNvPicPr>
          <p:nvPr/>
        </p:nvPicPr>
        <p:blipFill>
          <a:blip r:embed="rId3"/>
          <a:stretch>
            <a:fillRect/>
          </a:stretch>
        </p:blipFill>
        <p:spPr bwMode="gray">
          <a:xfrm>
            <a:off x="3695325" y="5243533"/>
            <a:ext cx="466668" cy="389308"/>
          </a:xfrm>
          <a:prstGeom prst="rect">
            <a:avLst/>
          </a:prstGeom>
        </p:spPr>
      </p:pic>
      <p:pic>
        <p:nvPicPr>
          <p:cNvPr id="82" name="图片 25">
            <a:extLst>
              <a:ext uri="{FF2B5EF4-FFF2-40B4-BE49-F238E27FC236}">
                <a16:creationId xmlns="" xmlns:a16="http://schemas.microsoft.com/office/drawing/2014/main" id="{2A188EBA-A493-47AD-8E7E-13191D75AA83}"/>
              </a:ext>
            </a:extLst>
          </p:cNvPr>
          <p:cNvPicPr>
            <a:picLocks noChangeAspect="1"/>
          </p:cNvPicPr>
          <p:nvPr/>
        </p:nvPicPr>
        <p:blipFill>
          <a:blip r:embed="rId3"/>
          <a:stretch>
            <a:fillRect/>
          </a:stretch>
        </p:blipFill>
        <p:spPr bwMode="gray">
          <a:xfrm>
            <a:off x="7941675" y="5245807"/>
            <a:ext cx="466668" cy="389308"/>
          </a:xfrm>
          <a:prstGeom prst="rect">
            <a:avLst/>
          </a:prstGeom>
        </p:spPr>
      </p:pic>
      <p:pic>
        <p:nvPicPr>
          <p:cNvPr id="83" name="图片 31">
            <a:extLst>
              <a:ext uri="{FF2B5EF4-FFF2-40B4-BE49-F238E27FC236}">
                <a16:creationId xmlns="" xmlns:a16="http://schemas.microsoft.com/office/drawing/2014/main" id="{8529291B-253C-47EC-AD45-714213BA9DA0}"/>
              </a:ext>
            </a:extLst>
          </p:cNvPr>
          <p:cNvPicPr>
            <a:picLocks noChangeAspect="1"/>
          </p:cNvPicPr>
          <p:nvPr/>
        </p:nvPicPr>
        <p:blipFill>
          <a:blip r:embed="rId3"/>
          <a:stretch>
            <a:fillRect/>
          </a:stretch>
        </p:blipFill>
        <p:spPr bwMode="gray">
          <a:xfrm>
            <a:off x="7149686" y="4117244"/>
            <a:ext cx="466668" cy="389308"/>
          </a:xfrm>
          <a:prstGeom prst="rect">
            <a:avLst/>
          </a:prstGeom>
        </p:spPr>
      </p:pic>
      <p:sp>
        <p:nvSpPr>
          <p:cNvPr id="84" name="TextBox 83">
            <a:extLst>
              <a:ext uri="{FF2B5EF4-FFF2-40B4-BE49-F238E27FC236}">
                <a16:creationId xmlns="" xmlns:a16="http://schemas.microsoft.com/office/drawing/2014/main" id="{68859E7A-CCD2-486C-B238-8E24A26C6E85}"/>
              </a:ext>
            </a:extLst>
          </p:cNvPr>
          <p:cNvSpPr txBox="1"/>
          <p:nvPr/>
        </p:nvSpPr>
        <p:spPr bwMode="gray">
          <a:xfrm>
            <a:off x="8205956" y="5737860"/>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cxnSp>
        <p:nvCxnSpPr>
          <p:cNvPr id="87" name="Straight Connector 86">
            <a:extLst>
              <a:ext uri="{FF2B5EF4-FFF2-40B4-BE49-F238E27FC236}">
                <a16:creationId xmlns="" xmlns:a16="http://schemas.microsoft.com/office/drawing/2014/main" id="{DA15037D-BFE8-4A91-B4D4-6F4CC81199BA}"/>
              </a:ext>
            </a:extLst>
          </p:cNvPr>
          <p:cNvCxnSpPr>
            <a:cxnSpLocks/>
            <a:stCxn id="80" idx="3"/>
            <a:endCxn id="93" idx="1"/>
          </p:cNvCxnSpPr>
          <p:nvPr/>
        </p:nvCxnSpPr>
        <p:spPr bwMode="gray">
          <a:xfrm flipV="1">
            <a:off x="4833676" y="4309624"/>
            <a:ext cx="1014459"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 xmlns:a16="http://schemas.microsoft.com/office/drawing/2014/main" id="{36CAE65D-7D3A-42CD-8CFE-3E2BD7826BB9}"/>
              </a:ext>
            </a:extLst>
          </p:cNvPr>
          <p:cNvCxnSpPr>
            <a:cxnSpLocks/>
            <a:stCxn id="81" idx="3"/>
            <a:endCxn id="93" idx="1"/>
          </p:cNvCxnSpPr>
          <p:nvPr/>
        </p:nvCxnSpPr>
        <p:spPr bwMode="gray">
          <a:xfrm flipV="1">
            <a:off x="4161993" y="4309624"/>
            <a:ext cx="1686142" cy="11285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 xmlns:a16="http://schemas.microsoft.com/office/drawing/2014/main" id="{1307FF04-7AD2-4CEB-933E-850EEC935A67}"/>
              </a:ext>
            </a:extLst>
          </p:cNvPr>
          <p:cNvCxnSpPr>
            <a:cxnSpLocks/>
            <a:stCxn id="81" idx="0"/>
            <a:endCxn id="80" idx="2"/>
          </p:cNvCxnSpPr>
          <p:nvPr/>
        </p:nvCxnSpPr>
        <p:spPr bwMode="gray">
          <a:xfrm flipV="1">
            <a:off x="3928659" y="4506552"/>
            <a:ext cx="671683" cy="7369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52F2F7C8-3A83-4EC7-ACB9-5DAA0B7BE3BA}"/>
              </a:ext>
            </a:extLst>
          </p:cNvPr>
          <p:cNvCxnSpPr>
            <a:cxnSpLocks/>
            <a:stCxn id="81" idx="3"/>
            <a:endCxn id="94" idx="1"/>
          </p:cNvCxnSpPr>
          <p:nvPr/>
        </p:nvCxnSpPr>
        <p:spPr bwMode="gray">
          <a:xfrm>
            <a:off x="4161993" y="5438187"/>
            <a:ext cx="1681432" cy="86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D82FBA6E-6D1E-44E9-AD2D-821E43BDE8F6}"/>
              </a:ext>
            </a:extLst>
          </p:cNvPr>
          <p:cNvCxnSpPr>
            <a:cxnSpLocks/>
            <a:stCxn id="82" idx="0"/>
            <a:endCxn id="83" idx="2"/>
          </p:cNvCxnSpPr>
          <p:nvPr/>
        </p:nvCxnSpPr>
        <p:spPr bwMode="gray">
          <a:xfrm flipH="1" flipV="1">
            <a:off x="7383020" y="4506552"/>
            <a:ext cx="791989" cy="7392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 xmlns:a16="http://schemas.microsoft.com/office/drawing/2014/main" id="{D684959B-9FAA-487E-B68F-E9F2A5F6E652}"/>
              </a:ext>
            </a:extLst>
          </p:cNvPr>
          <p:cNvCxnSpPr>
            <a:cxnSpLocks/>
            <a:stCxn id="94" idx="1"/>
            <a:endCxn id="80" idx="3"/>
          </p:cNvCxnSpPr>
          <p:nvPr/>
        </p:nvCxnSpPr>
        <p:spPr bwMode="gray">
          <a:xfrm flipH="1" flipV="1">
            <a:off x="4833676" y="4311898"/>
            <a:ext cx="1009749"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3" name="图片 31">
            <a:extLst>
              <a:ext uri="{FF2B5EF4-FFF2-40B4-BE49-F238E27FC236}">
                <a16:creationId xmlns="" xmlns:a16="http://schemas.microsoft.com/office/drawing/2014/main" id="{61D616B0-27D7-4BE5-9276-84A9E89B84DA}"/>
              </a:ext>
            </a:extLst>
          </p:cNvPr>
          <p:cNvPicPr>
            <a:picLocks noChangeAspect="1"/>
          </p:cNvPicPr>
          <p:nvPr/>
        </p:nvPicPr>
        <p:blipFill>
          <a:blip r:embed="rId3"/>
          <a:stretch>
            <a:fillRect/>
          </a:stretch>
        </p:blipFill>
        <p:spPr bwMode="gray">
          <a:xfrm>
            <a:off x="5848135" y="4114970"/>
            <a:ext cx="466668" cy="389308"/>
          </a:xfrm>
          <a:prstGeom prst="rect">
            <a:avLst/>
          </a:prstGeom>
        </p:spPr>
      </p:pic>
      <p:pic>
        <p:nvPicPr>
          <p:cNvPr id="94" name="图片 31">
            <a:extLst>
              <a:ext uri="{FF2B5EF4-FFF2-40B4-BE49-F238E27FC236}">
                <a16:creationId xmlns="" xmlns:a16="http://schemas.microsoft.com/office/drawing/2014/main" id="{1167EAE2-1CD9-4143-8045-9B4206F4620A}"/>
              </a:ext>
            </a:extLst>
          </p:cNvPr>
          <p:cNvPicPr>
            <a:picLocks noChangeAspect="1"/>
          </p:cNvPicPr>
          <p:nvPr/>
        </p:nvPicPr>
        <p:blipFill>
          <a:blip r:embed="rId3"/>
          <a:stretch>
            <a:fillRect/>
          </a:stretch>
        </p:blipFill>
        <p:spPr bwMode="gray">
          <a:xfrm>
            <a:off x="5843425" y="5252135"/>
            <a:ext cx="466668" cy="389308"/>
          </a:xfrm>
          <a:prstGeom prst="rect">
            <a:avLst/>
          </a:prstGeom>
        </p:spPr>
      </p:pic>
      <p:cxnSp>
        <p:nvCxnSpPr>
          <p:cNvPr id="95" name="Straight Connector 94">
            <a:extLst>
              <a:ext uri="{FF2B5EF4-FFF2-40B4-BE49-F238E27FC236}">
                <a16:creationId xmlns="" xmlns:a16="http://schemas.microsoft.com/office/drawing/2014/main" id="{CCD97E1C-7767-4D55-AD83-1D2816D21E74}"/>
              </a:ext>
            </a:extLst>
          </p:cNvPr>
          <p:cNvCxnSpPr>
            <a:cxnSpLocks/>
            <a:stCxn id="94" idx="3"/>
            <a:endCxn id="82" idx="1"/>
          </p:cNvCxnSpPr>
          <p:nvPr/>
        </p:nvCxnSpPr>
        <p:spPr bwMode="gray">
          <a:xfrm flipV="1">
            <a:off x="6310093" y="5440461"/>
            <a:ext cx="1631582" cy="63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0E57A6F3-04D1-4A63-91A7-520427DCA7D2}"/>
              </a:ext>
            </a:extLst>
          </p:cNvPr>
          <p:cNvCxnSpPr>
            <a:cxnSpLocks/>
            <a:stCxn id="83" idx="1"/>
            <a:endCxn id="93" idx="3"/>
          </p:cNvCxnSpPr>
          <p:nvPr/>
        </p:nvCxnSpPr>
        <p:spPr bwMode="gray">
          <a:xfrm flipH="1" flipV="1">
            <a:off x="6314803" y="4309624"/>
            <a:ext cx="834883"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8A57C7E-DB91-4202-97CD-D3B11513DB5B}"/>
              </a:ext>
            </a:extLst>
          </p:cNvPr>
          <p:cNvCxnSpPr>
            <a:cxnSpLocks/>
            <a:stCxn id="94" idx="0"/>
            <a:endCxn id="93" idx="2"/>
          </p:cNvCxnSpPr>
          <p:nvPr/>
        </p:nvCxnSpPr>
        <p:spPr bwMode="gray">
          <a:xfrm flipV="1">
            <a:off x="6076759" y="4504278"/>
            <a:ext cx="4710" cy="7478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 xmlns:a16="http://schemas.microsoft.com/office/drawing/2014/main" id="{FB80CDDA-E929-463A-8897-36478C9A4C36}"/>
              </a:ext>
            </a:extLst>
          </p:cNvPr>
          <p:cNvCxnSpPr>
            <a:cxnSpLocks/>
            <a:stCxn id="94" idx="3"/>
            <a:endCxn id="83" idx="1"/>
          </p:cNvCxnSpPr>
          <p:nvPr/>
        </p:nvCxnSpPr>
        <p:spPr bwMode="gray">
          <a:xfrm flipV="1">
            <a:off x="6310093" y="4311898"/>
            <a:ext cx="839593"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71F05610-BBAD-47DC-8676-77FF8EBB5A59}"/>
              </a:ext>
            </a:extLst>
          </p:cNvPr>
          <p:cNvCxnSpPr>
            <a:cxnSpLocks/>
            <a:stCxn id="82" idx="1"/>
            <a:endCxn id="93" idx="3"/>
          </p:cNvCxnSpPr>
          <p:nvPr/>
        </p:nvCxnSpPr>
        <p:spPr bwMode="gray">
          <a:xfrm flipH="1" flipV="1">
            <a:off x="6314803" y="4309624"/>
            <a:ext cx="1626872" cy="113083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 xmlns:a16="http://schemas.microsoft.com/office/drawing/2014/main" id="{ED87ACD7-0844-45A4-B2DF-815574C327C9}"/>
              </a:ext>
            </a:extLst>
          </p:cNvPr>
          <p:cNvCxnSpPr>
            <a:cxnSpLocks/>
          </p:cNvCxnSpPr>
          <p:nvPr/>
        </p:nvCxnSpPr>
        <p:spPr bwMode="gray">
          <a:xfrm flipV="1">
            <a:off x="4042685" y="4180712"/>
            <a:ext cx="1886118" cy="1261810"/>
          </a:xfrm>
          <a:prstGeom prst="line">
            <a:avLst/>
          </a:prstGeom>
          <a:ln w="5715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CABEF893-BD13-47D9-B2B9-CEC46E5E4476}"/>
              </a:ext>
            </a:extLst>
          </p:cNvPr>
          <p:cNvCxnSpPr>
            <a:cxnSpLocks/>
          </p:cNvCxnSpPr>
          <p:nvPr/>
        </p:nvCxnSpPr>
        <p:spPr bwMode="gray">
          <a:xfrm>
            <a:off x="5928803" y="4204215"/>
            <a:ext cx="1498327" cy="0"/>
          </a:xfrm>
          <a:prstGeom prst="line">
            <a:avLst/>
          </a:prstGeom>
          <a:ln w="5715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36193B2E-B918-4AA2-B0FA-D2D8662464B7}"/>
              </a:ext>
            </a:extLst>
          </p:cNvPr>
          <p:cNvCxnSpPr>
            <a:cxnSpLocks/>
          </p:cNvCxnSpPr>
          <p:nvPr/>
        </p:nvCxnSpPr>
        <p:spPr bwMode="gray">
          <a:xfrm>
            <a:off x="4096527" y="5537715"/>
            <a:ext cx="2319948" cy="0"/>
          </a:xfrm>
          <a:prstGeom prst="line">
            <a:avLst/>
          </a:prstGeom>
          <a:ln w="3810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 xmlns:a16="http://schemas.microsoft.com/office/drawing/2014/main" id="{B7C12D6C-FFDC-468C-B468-E8833A2650B6}"/>
              </a:ext>
            </a:extLst>
          </p:cNvPr>
          <p:cNvCxnSpPr>
            <a:cxnSpLocks/>
          </p:cNvCxnSpPr>
          <p:nvPr/>
        </p:nvCxnSpPr>
        <p:spPr bwMode="gray">
          <a:xfrm flipV="1">
            <a:off x="6437349" y="4276595"/>
            <a:ext cx="881058" cy="1254418"/>
          </a:xfrm>
          <a:prstGeom prst="line">
            <a:avLst/>
          </a:prstGeom>
          <a:ln w="3810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TextBox 416">
            <a:extLst>
              <a:ext uri="{FF2B5EF4-FFF2-40B4-BE49-F238E27FC236}">
                <a16:creationId xmlns="" xmlns:a16="http://schemas.microsoft.com/office/drawing/2014/main" id="{690FB3DF-171B-4D1E-B2DC-6C83B05B0DF2}"/>
              </a:ext>
            </a:extLst>
          </p:cNvPr>
          <p:cNvSpPr txBox="1"/>
          <p:nvPr/>
        </p:nvSpPr>
        <p:spPr bwMode="gray">
          <a:xfrm rot="19590761">
            <a:off x="4348340" y="4698520"/>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主隧道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125" name="TextBox 416">
            <a:extLst>
              <a:ext uri="{FF2B5EF4-FFF2-40B4-BE49-F238E27FC236}">
                <a16:creationId xmlns="" xmlns:a16="http://schemas.microsoft.com/office/drawing/2014/main" id="{1714A9B0-2BB0-4559-B2C9-3C4299B01D8E}"/>
              </a:ext>
            </a:extLst>
          </p:cNvPr>
          <p:cNvSpPr txBox="1"/>
          <p:nvPr/>
        </p:nvSpPr>
        <p:spPr bwMode="gray">
          <a:xfrm>
            <a:off x="4578916" y="5574640"/>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备隧道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72" name="Parallelogram 71">
            <a:extLst>
              <a:ext uri="{FF2B5EF4-FFF2-40B4-BE49-F238E27FC236}">
                <a16:creationId xmlns="" xmlns:a16="http://schemas.microsoft.com/office/drawing/2014/main" id="{1E0D9053-3A83-4E46-A0EC-947ED912E0FE}"/>
              </a:ext>
            </a:extLst>
          </p:cNvPr>
          <p:cNvSpPr/>
          <p:nvPr/>
        </p:nvSpPr>
        <p:spPr bwMode="gray">
          <a:xfrm>
            <a:off x="1259652" y="3644593"/>
            <a:ext cx="2125960"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59">
            <a:extLst>
              <a:ext uri="{FF2B5EF4-FFF2-40B4-BE49-F238E27FC236}">
                <a16:creationId xmlns="" xmlns:a16="http://schemas.microsoft.com/office/drawing/2014/main" id="{208A0967-8362-46F2-BD86-F59E02E072D3}"/>
              </a:ext>
            </a:extLst>
          </p:cNvPr>
          <p:cNvSpPr/>
          <p:nvPr/>
        </p:nvSpPr>
        <p:spPr bwMode="gray">
          <a:xfrm flipH="1">
            <a:off x="1510102" y="382303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74" name="图片 51" descr="交换机.png">
            <a:extLst>
              <a:ext uri="{FF2B5EF4-FFF2-40B4-BE49-F238E27FC236}">
                <a16:creationId xmlns="" xmlns:a16="http://schemas.microsoft.com/office/drawing/2014/main" id="{C4FDE4AD-BC8A-44A7-ABD5-FFA8E53B2CD4}"/>
              </a:ext>
            </a:extLst>
          </p:cNvPr>
          <p:cNvPicPr>
            <a:picLocks noChangeAspect="1"/>
          </p:cNvPicPr>
          <p:nvPr/>
        </p:nvPicPr>
        <p:blipFill>
          <a:blip r:embed="rId4" cstate="print"/>
          <a:stretch>
            <a:fillRect/>
          </a:stretch>
        </p:blipFill>
        <p:spPr bwMode="gray">
          <a:xfrm>
            <a:off x="1754989" y="3604965"/>
            <a:ext cx="417163" cy="341314"/>
          </a:xfrm>
          <a:prstGeom prst="rect">
            <a:avLst/>
          </a:prstGeom>
        </p:spPr>
      </p:pic>
      <p:pic>
        <p:nvPicPr>
          <p:cNvPr id="75" name="图片 31">
            <a:extLst>
              <a:ext uri="{FF2B5EF4-FFF2-40B4-BE49-F238E27FC236}">
                <a16:creationId xmlns="" xmlns:a16="http://schemas.microsoft.com/office/drawing/2014/main" id="{1659B3E4-FFB2-45D1-B60A-3F236F2E541D}"/>
              </a:ext>
            </a:extLst>
          </p:cNvPr>
          <p:cNvPicPr>
            <a:picLocks noChangeAspect="1"/>
          </p:cNvPicPr>
          <p:nvPr/>
        </p:nvPicPr>
        <p:blipFill>
          <a:blip r:embed="rId3"/>
          <a:stretch>
            <a:fillRect/>
          </a:stretch>
        </p:blipFill>
        <p:spPr bwMode="gray">
          <a:xfrm>
            <a:off x="2329119" y="3894276"/>
            <a:ext cx="466668" cy="389308"/>
          </a:xfrm>
          <a:prstGeom prst="rect">
            <a:avLst/>
          </a:prstGeom>
        </p:spPr>
      </p:pic>
      <p:sp>
        <p:nvSpPr>
          <p:cNvPr id="76" name="Parallelogram 75">
            <a:extLst>
              <a:ext uri="{FF2B5EF4-FFF2-40B4-BE49-F238E27FC236}">
                <a16:creationId xmlns="" xmlns:a16="http://schemas.microsoft.com/office/drawing/2014/main" id="{B4D36402-FB3D-4B1F-935C-A11E087FFC98}"/>
              </a:ext>
            </a:extLst>
          </p:cNvPr>
          <p:cNvSpPr/>
          <p:nvPr/>
        </p:nvSpPr>
        <p:spPr bwMode="gray">
          <a:xfrm flipH="1">
            <a:off x="7811146" y="2522433"/>
            <a:ext cx="2125960"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159">
            <a:extLst>
              <a:ext uri="{FF2B5EF4-FFF2-40B4-BE49-F238E27FC236}">
                <a16:creationId xmlns="" xmlns:a16="http://schemas.microsoft.com/office/drawing/2014/main" id="{469A614B-25C7-4126-B6FD-7AB84D73C937}"/>
              </a:ext>
            </a:extLst>
          </p:cNvPr>
          <p:cNvSpPr/>
          <p:nvPr/>
        </p:nvSpPr>
        <p:spPr bwMode="gray">
          <a:xfrm flipH="1">
            <a:off x="8729691" y="268506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pic>
        <p:nvPicPr>
          <p:cNvPr id="78" name="图片 31">
            <a:extLst>
              <a:ext uri="{FF2B5EF4-FFF2-40B4-BE49-F238E27FC236}">
                <a16:creationId xmlns="" xmlns:a16="http://schemas.microsoft.com/office/drawing/2014/main" id="{5E33F8A1-00D3-4FB9-8D04-5410CD4EA532}"/>
              </a:ext>
            </a:extLst>
          </p:cNvPr>
          <p:cNvPicPr>
            <a:picLocks noChangeAspect="1"/>
          </p:cNvPicPr>
          <p:nvPr/>
        </p:nvPicPr>
        <p:blipFill>
          <a:blip r:embed="rId3"/>
          <a:stretch>
            <a:fillRect/>
          </a:stretch>
        </p:blipFill>
        <p:spPr bwMode="gray">
          <a:xfrm>
            <a:off x="8397511" y="2772116"/>
            <a:ext cx="466668" cy="389308"/>
          </a:xfrm>
          <a:prstGeom prst="rect">
            <a:avLst/>
          </a:prstGeom>
        </p:spPr>
      </p:pic>
      <p:pic>
        <p:nvPicPr>
          <p:cNvPr id="79" name="图片 67">
            <a:extLst>
              <a:ext uri="{FF2B5EF4-FFF2-40B4-BE49-F238E27FC236}">
                <a16:creationId xmlns="" xmlns:a16="http://schemas.microsoft.com/office/drawing/2014/main" id="{6337097B-7BED-4639-95E4-404D7924B40B}"/>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973706" y="2482712"/>
            <a:ext cx="417163" cy="342074"/>
          </a:xfrm>
          <a:prstGeom prst="rect">
            <a:avLst/>
          </a:prstGeom>
        </p:spPr>
      </p:pic>
      <p:cxnSp>
        <p:nvCxnSpPr>
          <p:cNvPr id="143" name="Straight Connector 142">
            <a:extLst>
              <a:ext uri="{FF2B5EF4-FFF2-40B4-BE49-F238E27FC236}">
                <a16:creationId xmlns="" xmlns:a16="http://schemas.microsoft.com/office/drawing/2014/main" id="{E26D37A1-E054-40B9-A95F-691729629AA9}"/>
              </a:ext>
            </a:extLst>
          </p:cNvPr>
          <p:cNvCxnSpPr>
            <a:cxnSpLocks/>
            <a:stCxn id="81" idx="0"/>
            <a:endCxn id="134" idx="2"/>
          </p:cNvCxnSpPr>
          <p:nvPr/>
        </p:nvCxnSpPr>
        <p:spPr bwMode="gray">
          <a:xfrm flipV="1">
            <a:off x="3928659" y="4287713"/>
            <a:ext cx="0" cy="95582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 xmlns:a16="http://schemas.microsoft.com/office/drawing/2014/main" id="{30C32AA7-BC53-4A11-9069-632EF74C0648}"/>
              </a:ext>
            </a:extLst>
          </p:cNvPr>
          <p:cNvCxnSpPr>
            <a:cxnSpLocks/>
            <a:stCxn id="83" idx="0"/>
            <a:endCxn id="135" idx="2"/>
          </p:cNvCxnSpPr>
          <p:nvPr/>
        </p:nvCxnSpPr>
        <p:spPr bwMode="gray">
          <a:xfrm flipV="1">
            <a:off x="7383020" y="3161424"/>
            <a:ext cx="0" cy="955820"/>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33" name="梯形 41">
            <a:extLst>
              <a:ext uri="{FF2B5EF4-FFF2-40B4-BE49-F238E27FC236}">
                <a16:creationId xmlns="" xmlns:a16="http://schemas.microsoft.com/office/drawing/2014/main" id="{212E369D-95D4-4A02-974F-378B5BC0161F}"/>
              </a:ext>
            </a:extLst>
          </p:cNvPr>
          <p:cNvSpPr/>
          <p:nvPr/>
        </p:nvSpPr>
        <p:spPr bwMode="gray">
          <a:xfrm>
            <a:off x="2768303" y="2479906"/>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4" name="图片 31">
            <a:extLst>
              <a:ext uri="{FF2B5EF4-FFF2-40B4-BE49-F238E27FC236}">
                <a16:creationId xmlns="" xmlns:a16="http://schemas.microsoft.com/office/drawing/2014/main" id="{DB8863FF-821B-4A8E-B176-0C0B3DBEF2C1}"/>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3695325" y="3898405"/>
            <a:ext cx="466668" cy="389308"/>
          </a:xfrm>
          <a:prstGeom prst="rect">
            <a:avLst/>
          </a:prstGeom>
        </p:spPr>
      </p:pic>
      <p:pic>
        <p:nvPicPr>
          <p:cNvPr id="135" name="图片 31">
            <a:extLst>
              <a:ext uri="{FF2B5EF4-FFF2-40B4-BE49-F238E27FC236}">
                <a16:creationId xmlns="" xmlns:a16="http://schemas.microsoft.com/office/drawing/2014/main" id="{2E496E93-17A0-4CEF-BEB6-018F1D9EBF4A}"/>
              </a:ext>
            </a:extLst>
          </p:cNvPr>
          <p:cNvPicPr>
            <a:picLocks noChangeAspect="1"/>
          </p:cNvPicPr>
          <p:nvPr/>
        </p:nvPicPr>
        <p:blipFill>
          <a:blip r:embed="rId3">
            <a:duotone>
              <a:schemeClr val="bg2">
                <a:shade val="45000"/>
                <a:satMod val="135000"/>
              </a:schemeClr>
              <a:prstClr val="white"/>
            </a:duotone>
          </a:blip>
          <a:stretch>
            <a:fillRect/>
          </a:stretch>
        </p:blipFill>
        <p:spPr bwMode="gray">
          <a:xfrm>
            <a:off x="7149686" y="2772116"/>
            <a:ext cx="466668" cy="389308"/>
          </a:xfrm>
          <a:prstGeom prst="rect">
            <a:avLst/>
          </a:prstGeom>
        </p:spPr>
      </p:pic>
      <p:cxnSp>
        <p:nvCxnSpPr>
          <p:cNvPr id="85" name="Straight Connector 84">
            <a:extLst>
              <a:ext uri="{FF2B5EF4-FFF2-40B4-BE49-F238E27FC236}">
                <a16:creationId xmlns="" xmlns:a16="http://schemas.microsoft.com/office/drawing/2014/main" id="{5008ED2E-AC3B-48F6-8784-45911603F88A}"/>
              </a:ext>
            </a:extLst>
          </p:cNvPr>
          <p:cNvCxnSpPr>
            <a:cxnSpLocks/>
            <a:stCxn id="75" idx="3"/>
            <a:endCxn id="134" idx="1"/>
          </p:cNvCxnSpPr>
          <p:nvPr/>
        </p:nvCxnSpPr>
        <p:spPr bwMode="gray">
          <a:xfrm>
            <a:off x="2795787" y="4088930"/>
            <a:ext cx="899538" cy="412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 xmlns:a16="http://schemas.microsoft.com/office/drawing/2014/main" id="{E77CA632-9CBF-4F57-9CFC-2CB150D826BF}"/>
              </a:ext>
            </a:extLst>
          </p:cNvPr>
          <p:cNvCxnSpPr>
            <a:cxnSpLocks/>
            <a:stCxn id="135" idx="3"/>
            <a:endCxn id="78" idx="1"/>
          </p:cNvCxnSpPr>
          <p:nvPr/>
        </p:nvCxnSpPr>
        <p:spPr bwMode="gray">
          <a:xfrm>
            <a:off x="7616354" y="2966770"/>
            <a:ext cx="7811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 xmlns:a16="http://schemas.microsoft.com/office/drawing/2014/main" id="{1511A809-0601-4930-B284-8D396FF4659E}"/>
              </a:ext>
            </a:extLst>
          </p:cNvPr>
          <p:cNvSpPr/>
          <p:nvPr/>
        </p:nvSpPr>
        <p:spPr bwMode="gray">
          <a:xfrm>
            <a:off x="2800350" y="4032250"/>
            <a:ext cx="1397000" cy="92075"/>
          </a:xfrm>
          <a:custGeom>
            <a:avLst/>
            <a:gdLst>
              <a:gd name="connsiteX0" fmla="*/ 1397000 w 1397000"/>
              <a:gd name="connsiteY0" fmla="*/ 0 h 92075"/>
              <a:gd name="connsiteX1" fmla="*/ 1111250 w 1397000"/>
              <a:gd name="connsiteY1" fmla="*/ 73025 h 92075"/>
              <a:gd name="connsiteX2" fmla="*/ 0 w 1397000"/>
              <a:gd name="connsiteY2" fmla="*/ 92075 h 92075"/>
            </a:gdLst>
            <a:ahLst/>
            <a:cxnLst>
              <a:cxn ang="0">
                <a:pos x="connsiteX0" y="connsiteY0"/>
              </a:cxn>
              <a:cxn ang="0">
                <a:pos x="connsiteX1" y="connsiteY1"/>
              </a:cxn>
              <a:cxn ang="0">
                <a:pos x="connsiteX2" y="connsiteY2"/>
              </a:cxn>
            </a:cxnLst>
            <a:rect l="l" t="t" r="r" b="b"/>
            <a:pathLst>
              <a:path w="1397000" h="92075">
                <a:moveTo>
                  <a:pt x="1397000" y="0"/>
                </a:moveTo>
                <a:cubicBezTo>
                  <a:pt x="1370541" y="28839"/>
                  <a:pt x="1344083" y="57679"/>
                  <a:pt x="1111250" y="73025"/>
                </a:cubicBezTo>
                <a:cubicBezTo>
                  <a:pt x="878417" y="88371"/>
                  <a:pt x="439208" y="90223"/>
                  <a:pt x="0" y="92075"/>
                </a:cubicBezTo>
              </a:path>
            </a:pathLst>
          </a:custGeom>
          <a:noFill/>
          <a:ln w="38100">
            <a:solidFill>
              <a:srgbClr val="F2894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Can 225">
            <a:extLst>
              <a:ext uri="{FF2B5EF4-FFF2-40B4-BE49-F238E27FC236}">
                <a16:creationId xmlns="" xmlns:a16="http://schemas.microsoft.com/office/drawing/2014/main" id="{AA2E61C3-2946-4E42-9E89-B63CDEDAF75F}"/>
              </a:ext>
            </a:extLst>
          </p:cNvPr>
          <p:cNvSpPr/>
          <p:nvPr/>
        </p:nvSpPr>
        <p:spPr bwMode="gray">
          <a:xfrm rot="4241248">
            <a:off x="5555081" y="1945857"/>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0" name="Freeform: Shape 19">
            <a:extLst>
              <a:ext uri="{FF2B5EF4-FFF2-40B4-BE49-F238E27FC236}">
                <a16:creationId xmlns="" xmlns:a16="http://schemas.microsoft.com/office/drawing/2014/main" id="{461AFE8B-3FEA-484C-AA54-FF135D81EB9E}"/>
              </a:ext>
            </a:extLst>
          </p:cNvPr>
          <p:cNvSpPr/>
          <p:nvPr/>
        </p:nvSpPr>
        <p:spPr bwMode="gray">
          <a:xfrm>
            <a:off x="7092950" y="2879472"/>
            <a:ext cx="1282700" cy="133350"/>
          </a:xfrm>
          <a:custGeom>
            <a:avLst/>
            <a:gdLst>
              <a:gd name="connsiteX0" fmla="*/ 0 w 1282700"/>
              <a:gd name="connsiteY0" fmla="*/ 133350 h 133350"/>
              <a:gd name="connsiteX1" fmla="*/ 203200 w 1282700"/>
              <a:gd name="connsiteY1" fmla="*/ 38100 h 133350"/>
              <a:gd name="connsiteX2" fmla="*/ 425450 w 1282700"/>
              <a:gd name="connsiteY2" fmla="*/ 6350 h 133350"/>
              <a:gd name="connsiteX3" fmla="*/ 1282700 w 1282700"/>
              <a:gd name="connsiteY3" fmla="*/ 0 h 133350"/>
            </a:gdLst>
            <a:ahLst/>
            <a:cxnLst>
              <a:cxn ang="0">
                <a:pos x="connsiteX0" y="connsiteY0"/>
              </a:cxn>
              <a:cxn ang="0">
                <a:pos x="connsiteX1" y="connsiteY1"/>
              </a:cxn>
              <a:cxn ang="0">
                <a:pos x="connsiteX2" y="connsiteY2"/>
              </a:cxn>
              <a:cxn ang="0">
                <a:pos x="connsiteX3" y="connsiteY3"/>
              </a:cxn>
            </a:cxnLst>
            <a:rect l="l" t="t" r="r" b="b"/>
            <a:pathLst>
              <a:path w="1282700" h="133350">
                <a:moveTo>
                  <a:pt x="0" y="133350"/>
                </a:moveTo>
                <a:cubicBezTo>
                  <a:pt x="66146" y="96308"/>
                  <a:pt x="132292" y="59267"/>
                  <a:pt x="203200" y="38100"/>
                </a:cubicBezTo>
                <a:cubicBezTo>
                  <a:pt x="274108" y="16933"/>
                  <a:pt x="245533" y="12700"/>
                  <a:pt x="425450" y="6350"/>
                </a:cubicBezTo>
                <a:cubicBezTo>
                  <a:pt x="605367" y="0"/>
                  <a:pt x="944033" y="0"/>
                  <a:pt x="1282700" y="0"/>
                </a:cubicBezTo>
              </a:path>
            </a:pathLst>
          </a:custGeom>
          <a:noFill/>
          <a:ln w="38100">
            <a:solidFill>
              <a:srgbClr val="F2894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TextBox 416">
            <a:extLst>
              <a:ext uri="{FF2B5EF4-FFF2-40B4-BE49-F238E27FC236}">
                <a16:creationId xmlns="" xmlns:a16="http://schemas.microsoft.com/office/drawing/2014/main" id="{AE1C64A1-EEBF-4D62-9603-7B8F49AE9879}"/>
              </a:ext>
            </a:extLst>
          </p:cNvPr>
          <p:cNvSpPr txBox="1"/>
          <p:nvPr/>
        </p:nvSpPr>
        <p:spPr bwMode="gray">
          <a:xfrm rot="20418515">
            <a:off x="5224784" y="3420266"/>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157" name="圆角矩形 75">
            <a:extLst>
              <a:ext uri="{FF2B5EF4-FFF2-40B4-BE49-F238E27FC236}">
                <a16:creationId xmlns="" xmlns:a16="http://schemas.microsoft.com/office/drawing/2014/main" id="{BA7DC3BC-0C9F-4A34-9A8A-45DD7A95BE12}"/>
              </a:ext>
            </a:extLst>
          </p:cNvPr>
          <p:cNvSpPr/>
          <p:nvPr/>
        </p:nvSpPr>
        <p:spPr bwMode="gray">
          <a:xfrm>
            <a:off x="2776096" y="3389443"/>
            <a:ext cx="1247469"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74" name="圆角矩形 75">
            <a:extLst>
              <a:ext uri="{FF2B5EF4-FFF2-40B4-BE49-F238E27FC236}">
                <a16:creationId xmlns="" xmlns:a16="http://schemas.microsoft.com/office/drawing/2014/main" id="{8BD71BA3-FFDC-47FB-8752-F85EF6795760}"/>
              </a:ext>
            </a:extLst>
          </p:cNvPr>
          <p:cNvSpPr/>
          <p:nvPr/>
        </p:nvSpPr>
        <p:spPr bwMode="gray">
          <a:xfrm>
            <a:off x="5487750" y="5682362"/>
            <a:ext cx="1247469"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隧道设计</a:t>
            </a:r>
          </a:p>
        </p:txBody>
      </p:sp>
    </p:spTree>
    <p:extLst>
      <p:ext uri="{BB962C8B-B14F-4D97-AF65-F5344CB8AC3E}">
        <p14:creationId xmlns:p14="http://schemas.microsoft.com/office/powerpoint/2010/main" val="16208785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企业广域承载网络隧道设计思路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3165000"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隧道设计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3165000"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3362611" y="236021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隧道基本概念回顾</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6208569"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VPN</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6208569"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3362611" y="285009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隧道规划</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6426538"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划分</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6426538" y="2849178"/>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类型选择</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3362611" y="3338426"/>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隧道规划</a:t>
            </a:r>
          </a:p>
        </p:txBody>
      </p:sp>
      <p:sp>
        <p:nvSpPr>
          <p:cNvPr id="13" name="Arrow: Down 12">
            <a:extLst>
              <a:ext uri="{FF2B5EF4-FFF2-40B4-BE49-F238E27FC236}">
                <a16:creationId xmlns="" xmlns:a16="http://schemas.microsoft.com/office/drawing/2014/main" id="{B83173B9-A935-4358-842E-3DD2C7BF6710}"/>
              </a:ext>
            </a:extLst>
          </p:cNvPr>
          <p:cNvSpPr/>
          <p:nvPr/>
        </p:nvSpPr>
        <p:spPr bwMode="gray">
          <a:xfrm>
            <a:off x="4397758"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2360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2EB076AD-7300-4943-A07B-EC319F6BE87E}"/>
              </a:ext>
            </a:extLst>
          </p:cNvPr>
          <p:cNvSpPr>
            <a:spLocks noGrp="1"/>
          </p:cNvSpPr>
          <p:nvPr>
            <p:ph type="title"/>
          </p:nvPr>
        </p:nvSpPr>
        <p:spPr bwMode="gray"/>
        <p:txBody>
          <a:bodyPr/>
          <a:lstStyle/>
          <a:p>
            <a:r>
              <a:rPr lang="zh-CN" altLang="en-US" dirty="0"/>
              <a:t>隧道技术概述</a:t>
            </a:r>
            <a:endParaRPr lang="en-US" dirty="0"/>
          </a:p>
        </p:txBody>
      </p:sp>
      <p:sp>
        <p:nvSpPr>
          <p:cNvPr id="4" name="Text Placeholder 3">
            <a:extLst>
              <a:ext uri="{FF2B5EF4-FFF2-40B4-BE49-F238E27FC236}">
                <a16:creationId xmlns="" xmlns:a16="http://schemas.microsoft.com/office/drawing/2014/main" id="{C1B53192-1778-4013-834C-B35104FAE071}"/>
              </a:ext>
            </a:extLst>
          </p:cNvPr>
          <p:cNvSpPr>
            <a:spLocks noGrp="1"/>
          </p:cNvSpPr>
          <p:nvPr>
            <p:ph type="body" sz="quarter" idx="10"/>
          </p:nvPr>
        </p:nvSpPr>
        <p:spPr bwMode="gray">
          <a:xfrm>
            <a:off x="455612" y="1047751"/>
            <a:ext cx="11293475" cy="1023646"/>
          </a:xfrm>
        </p:spPr>
        <p:txBody>
          <a:bodyPr/>
          <a:lstStyle/>
          <a:p>
            <a:r>
              <a:rPr lang="zh-CN" altLang="en-US" sz="1800" dirty="0"/>
              <a:t>隧道技术即使用一种协议封装另外一种协议报文，而封装协议本身也可以被其他封装协议所封装或承载。</a:t>
            </a:r>
            <a:endParaRPr lang="en-US" altLang="zh-CN" sz="1800" dirty="0"/>
          </a:p>
          <a:p>
            <a:r>
              <a:rPr lang="zh-CN" altLang="en-US" sz="1800" dirty="0"/>
              <a:t>比如在企业网中常用的</a:t>
            </a:r>
            <a:r>
              <a:rPr lang="en-US" altLang="zh-CN" sz="1800" dirty="0"/>
              <a:t>BGP/MPLS IP VPN</a:t>
            </a:r>
            <a:r>
              <a:rPr lang="zh-CN" altLang="en-US" sz="1800" dirty="0"/>
              <a:t>技术就是通过</a:t>
            </a:r>
            <a:r>
              <a:rPr lang="en-US" altLang="zh-CN" sz="1800" dirty="0"/>
              <a:t>MPLS LDP</a:t>
            </a:r>
            <a:r>
              <a:rPr lang="zh-CN" altLang="en-US" sz="1800" dirty="0"/>
              <a:t>或</a:t>
            </a:r>
            <a:r>
              <a:rPr lang="en-US" altLang="zh-CN" sz="1800" dirty="0"/>
              <a:t>MPLS TE</a:t>
            </a:r>
            <a:r>
              <a:rPr lang="zh-CN" altLang="en-US" sz="1800" dirty="0"/>
              <a:t>形成的</a:t>
            </a:r>
            <a:r>
              <a:rPr lang="en-US" altLang="zh-CN" sz="1800" dirty="0"/>
              <a:t>MPLS</a:t>
            </a:r>
            <a:r>
              <a:rPr lang="zh-CN" altLang="en-US" sz="1800" dirty="0"/>
              <a:t>隧道承载</a:t>
            </a:r>
            <a:r>
              <a:rPr lang="en-US" altLang="zh-CN" sz="1800" dirty="0"/>
              <a:t>VPN</a:t>
            </a:r>
            <a:r>
              <a:rPr lang="zh-CN" altLang="en-US" sz="1800" dirty="0"/>
              <a:t>业务。</a:t>
            </a:r>
            <a:endParaRPr lang="en-US" sz="1800" dirty="0"/>
          </a:p>
        </p:txBody>
      </p:sp>
      <p:sp>
        <p:nvSpPr>
          <p:cNvPr id="5" name="五边形 2">
            <a:extLst>
              <a:ext uri="{FF2B5EF4-FFF2-40B4-BE49-F238E27FC236}">
                <a16:creationId xmlns="" xmlns:a16="http://schemas.microsoft.com/office/drawing/2014/main" id="{7ECA465D-4B0F-450A-975B-56B67B58F3B9}"/>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6" name="燕尾形 3">
            <a:extLst>
              <a:ext uri="{FF2B5EF4-FFF2-40B4-BE49-F238E27FC236}">
                <a16:creationId xmlns="" xmlns:a16="http://schemas.microsoft.com/office/drawing/2014/main" id="{0A00E643-35D7-4FD6-925E-3DE67C49E224}"/>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56C4395F-11C2-42F6-A391-81EE75B745D5}"/>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6" name="Group 45">
            <a:extLst>
              <a:ext uri="{FF2B5EF4-FFF2-40B4-BE49-F238E27FC236}">
                <a16:creationId xmlns="" xmlns:a16="http://schemas.microsoft.com/office/drawing/2014/main" id="{59A4BF9A-AC4C-4458-A0E3-20932064D289}"/>
              </a:ext>
            </a:extLst>
          </p:cNvPr>
          <p:cNvGrpSpPr/>
          <p:nvPr/>
        </p:nvGrpSpPr>
        <p:grpSpPr bwMode="gray">
          <a:xfrm>
            <a:off x="2050039" y="3138364"/>
            <a:ext cx="7865249" cy="1852401"/>
            <a:chOff x="2050039" y="3138364"/>
            <a:chExt cx="7865249" cy="1852401"/>
          </a:xfrm>
        </p:grpSpPr>
        <p:pic>
          <p:nvPicPr>
            <p:cNvPr id="8" name="图片 31">
              <a:extLst>
                <a:ext uri="{FF2B5EF4-FFF2-40B4-BE49-F238E27FC236}">
                  <a16:creationId xmlns="" xmlns:a16="http://schemas.microsoft.com/office/drawing/2014/main" id="{8495CAA2-22A6-41FC-8E0D-9D515CA5423E}"/>
                </a:ext>
              </a:extLst>
            </p:cNvPr>
            <p:cNvPicPr>
              <a:picLocks noChangeAspect="1"/>
            </p:cNvPicPr>
            <p:nvPr/>
          </p:nvPicPr>
          <p:blipFill>
            <a:blip r:embed="rId3"/>
            <a:stretch>
              <a:fillRect/>
            </a:stretch>
          </p:blipFill>
          <p:spPr bwMode="gray">
            <a:xfrm>
              <a:off x="3966730" y="4008411"/>
              <a:ext cx="466668" cy="389308"/>
            </a:xfrm>
            <a:prstGeom prst="rect">
              <a:avLst/>
            </a:prstGeom>
          </p:spPr>
        </p:pic>
        <p:pic>
          <p:nvPicPr>
            <p:cNvPr id="9" name="图片 31">
              <a:extLst>
                <a:ext uri="{FF2B5EF4-FFF2-40B4-BE49-F238E27FC236}">
                  <a16:creationId xmlns="" xmlns:a16="http://schemas.microsoft.com/office/drawing/2014/main" id="{97099961-029B-47FD-B1AA-9CB26073619F}"/>
                </a:ext>
              </a:extLst>
            </p:cNvPr>
            <p:cNvPicPr>
              <a:picLocks noChangeAspect="1"/>
            </p:cNvPicPr>
            <p:nvPr/>
          </p:nvPicPr>
          <p:blipFill>
            <a:blip r:embed="rId3"/>
            <a:stretch>
              <a:fillRect/>
            </a:stretch>
          </p:blipFill>
          <p:spPr bwMode="gray">
            <a:xfrm>
              <a:off x="7619142" y="4008411"/>
              <a:ext cx="466668" cy="389308"/>
            </a:xfrm>
            <a:prstGeom prst="rect">
              <a:avLst/>
            </a:prstGeom>
          </p:spPr>
        </p:pic>
        <p:sp>
          <p:nvSpPr>
            <p:cNvPr id="10" name="Can 225">
              <a:extLst>
                <a:ext uri="{FF2B5EF4-FFF2-40B4-BE49-F238E27FC236}">
                  <a16:creationId xmlns="" xmlns:a16="http://schemas.microsoft.com/office/drawing/2014/main" id="{B8DC5C60-BB4D-4E33-993D-38DE436DF55C}"/>
                </a:ext>
              </a:extLst>
            </p:cNvPr>
            <p:cNvSpPr/>
            <p:nvPr/>
          </p:nvSpPr>
          <p:spPr bwMode="gray">
            <a:xfrm rot="5400000">
              <a:off x="5924831" y="2501135"/>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Can 41">
              <a:extLst>
                <a:ext uri="{FF2B5EF4-FFF2-40B4-BE49-F238E27FC236}">
                  <a16:creationId xmlns="" xmlns:a16="http://schemas.microsoft.com/office/drawing/2014/main" id="{01081262-C25A-43C7-A81B-EED72B279C3F}"/>
                </a:ext>
              </a:extLst>
            </p:cNvPr>
            <p:cNvSpPr/>
            <p:nvPr/>
          </p:nvSpPr>
          <p:spPr bwMode="gray">
            <a:xfrm rot="5400000">
              <a:off x="5924830" y="2745000"/>
              <a:ext cx="193926" cy="3155962"/>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416">
              <a:extLst>
                <a:ext uri="{FF2B5EF4-FFF2-40B4-BE49-F238E27FC236}">
                  <a16:creationId xmlns="" xmlns:a16="http://schemas.microsoft.com/office/drawing/2014/main" id="{420052F3-B6D3-40D8-B61D-CF8A954FC2B7}"/>
                </a:ext>
              </a:extLst>
            </p:cNvPr>
            <p:cNvSpPr txBox="1"/>
            <p:nvPr/>
          </p:nvSpPr>
          <p:spPr bwMode="gray">
            <a:xfrm>
              <a:off x="5279923" y="3975967"/>
              <a:ext cx="1333500"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en-US" altLang="zh-CN" sz="1400" kern="0" dirty="0">
                  <a:solidFill>
                    <a:srgbClr val="1D1D1A"/>
                  </a:solidFill>
                  <a:cs typeface="+mn-ea"/>
                  <a:sym typeface="Arial" panose="020B0604020202020204" pitchFamily="34" charset="0"/>
                </a:rPr>
                <a:t>MPLS LDP</a:t>
              </a:r>
              <a:r>
                <a:rPr lang="zh-CN" altLang="en-US" sz="1400" kern="0" dirty="0">
                  <a:solidFill>
                    <a:srgbClr val="1D1D1A"/>
                  </a:solidFill>
                  <a:cs typeface="+mn-ea"/>
                  <a:sym typeface="Arial" panose="020B0604020202020204" pitchFamily="34" charset="0"/>
                </a:rPr>
                <a:t>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14" name="TextBox 416">
              <a:extLst>
                <a:ext uri="{FF2B5EF4-FFF2-40B4-BE49-F238E27FC236}">
                  <a16:creationId xmlns="" xmlns:a16="http://schemas.microsoft.com/office/drawing/2014/main" id="{B29A3B53-6322-4B90-8470-05993EDC0985}"/>
                </a:ext>
              </a:extLst>
            </p:cNvPr>
            <p:cNvSpPr txBox="1"/>
            <p:nvPr/>
          </p:nvSpPr>
          <p:spPr bwMode="gray">
            <a:xfrm>
              <a:off x="5268867" y="4226564"/>
              <a:ext cx="1229177"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en-US" altLang="zh-CN" sz="1400" kern="0" dirty="0">
                  <a:solidFill>
                    <a:srgbClr val="1D1D1A"/>
                  </a:solidFill>
                  <a:cs typeface="+mn-ea"/>
                  <a:sym typeface="Arial" panose="020B0604020202020204" pitchFamily="34" charset="0"/>
                </a:rPr>
                <a:t>MPLS TE</a:t>
              </a:r>
              <a:r>
                <a:rPr lang="zh-CN" altLang="en-US" sz="1400" kern="0" dirty="0">
                  <a:solidFill>
                    <a:srgbClr val="1D1D1A"/>
                  </a:solidFill>
                  <a:cs typeface="+mn-ea"/>
                  <a:sym typeface="Arial" panose="020B0604020202020204" pitchFamily="34" charset="0"/>
                </a:rPr>
                <a:t>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cxnSp>
          <p:nvCxnSpPr>
            <p:cNvPr id="15" name="Straight Connector 14">
              <a:extLst>
                <a:ext uri="{FF2B5EF4-FFF2-40B4-BE49-F238E27FC236}">
                  <a16:creationId xmlns="" xmlns:a16="http://schemas.microsoft.com/office/drawing/2014/main" id="{08CAB646-980C-421F-AABA-EF3C8DAE2C3A}"/>
                </a:ext>
              </a:extLst>
            </p:cNvPr>
            <p:cNvCxnSpPr>
              <a:cxnSpLocks/>
              <a:stCxn id="9" idx="1"/>
              <a:endCxn id="8" idx="3"/>
            </p:cNvCxnSpPr>
            <p:nvPr/>
          </p:nvCxnSpPr>
          <p:spPr bwMode="gray">
            <a:xfrm flipH="1">
              <a:off x="4433398" y="4203065"/>
              <a:ext cx="318574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Freeform 159">
              <a:extLst>
                <a:ext uri="{FF2B5EF4-FFF2-40B4-BE49-F238E27FC236}">
                  <a16:creationId xmlns="" xmlns:a16="http://schemas.microsoft.com/office/drawing/2014/main" id="{F90CC1A5-70F0-48A7-A1A6-22F2E6EFFF2C}"/>
                </a:ext>
              </a:extLst>
            </p:cNvPr>
            <p:cNvSpPr/>
            <p:nvPr/>
          </p:nvSpPr>
          <p:spPr bwMode="gray">
            <a:xfrm flipH="1">
              <a:off x="2050039" y="340377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25" name="图片 31">
              <a:extLst>
                <a:ext uri="{FF2B5EF4-FFF2-40B4-BE49-F238E27FC236}">
                  <a16:creationId xmlns="" xmlns:a16="http://schemas.microsoft.com/office/drawing/2014/main" id="{6AA77C34-2523-4C86-8313-1199EE77C7A6}"/>
                </a:ext>
              </a:extLst>
            </p:cNvPr>
            <p:cNvPicPr>
              <a:picLocks noChangeAspect="1"/>
            </p:cNvPicPr>
            <p:nvPr/>
          </p:nvPicPr>
          <p:blipFill>
            <a:blip r:embed="rId3"/>
            <a:stretch>
              <a:fillRect/>
            </a:stretch>
          </p:blipFill>
          <p:spPr bwMode="gray">
            <a:xfrm>
              <a:off x="2876978" y="3475011"/>
              <a:ext cx="466668" cy="389308"/>
            </a:xfrm>
            <a:prstGeom prst="rect">
              <a:avLst/>
            </a:prstGeom>
          </p:spPr>
        </p:pic>
        <p:cxnSp>
          <p:nvCxnSpPr>
            <p:cNvPr id="26" name="Straight Connector 25">
              <a:extLst>
                <a:ext uri="{FF2B5EF4-FFF2-40B4-BE49-F238E27FC236}">
                  <a16:creationId xmlns="" xmlns:a16="http://schemas.microsoft.com/office/drawing/2014/main" id="{CC6B7C4F-074C-47D4-B79A-DD678B1A8C67}"/>
                </a:ext>
              </a:extLst>
            </p:cNvPr>
            <p:cNvCxnSpPr>
              <a:cxnSpLocks/>
              <a:stCxn id="8" idx="1"/>
              <a:endCxn id="25" idx="3"/>
            </p:cNvCxnSpPr>
            <p:nvPr/>
          </p:nvCxnSpPr>
          <p:spPr bwMode="gray">
            <a:xfrm flipH="1" flipV="1">
              <a:off x="3343646" y="3669665"/>
              <a:ext cx="623084" cy="5334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Freeform 159">
              <a:extLst>
                <a:ext uri="{FF2B5EF4-FFF2-40B4-BE49-F238E27FC236}">
                  <a16:creationId xmlns="" xmlns:a16="http://schemas.microsoft.com/office/drawing/2014/main" id="{8278E068-DFBE-40CE-8639-23CE58C7552B}"/>
                </a:ext>
              </a:extLst>
            </p:cNvPr>
            <p:cNvSpPr/>
            <p:nvPr/>
          </p:nvSpPr>
          <p:spPr bwMode="gray">
            <a:xfrm flipH="1">
              <a:off x="2127016" y="451668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VPN2</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31" name="图片 31">
              <a:extLst>
                <a:ext uri="{FF2B5EF4-FFF2-40B4-BE49-F238E27FC236}">
                  <a16:creationId xmlns="" xmlns:a16="http://schemas.microsoft.com/office/drawing/2014/main" id="{4922E3A5-4C92-47AA-824C-7577D30657CF}"/>
                </a:ext>
              </a:extLst>
            </p:cNvPr>
            <p:cNvPicPr>
              <a:picLocks noChangeAspect="1"/>
            </p:cNvPicPr>
            <p:nvPr/>
          </p:nvPicPr>
          <p:blipFill>
            <a:blip r:embed="rId3"/>
            <a:stretch>
              <a:fillRect/>
            </a:stretch>
          </p:blipFill>
          <p:spPr bwMode="gray">
            <a:xfrm>
              <a:off x="2876978" y="4587923"/>
              <a:ext cx="466668" cy="389308"/>
            </a:xfrm>
            <a:prstGeom prst="rect">
              <a:avLst/>
            </a:prstGeom>
          </p:spPr>
        </p:pic>
        <p:cxnSp>
          <p:nvCxnSpPr>
            <p:cNvPr id="32" name="Straight Connector 31">
              <a:extLst>
                <a:ext uri="{FF2B5EF4-FFF2-40B4-BE49-F238E27FC236}">
                  <a16:creationId xmlns="" xmlns:a16="http://schemas.microsoft.com/office/drawing/2014/main" id="{B5F0C68A-DC8D-41FC-AE98-838785AAD61B}"/>
                </a:ext>
              </a:extLst>
            </p:cNvPr>
            <p:cNvCxnSpPr>
              <a:cxnSpLocks/>
              <a:stCxn id="8" idx="1"/>
              <a:endCxn id="31" idx="3"/>
            </p:cNvCxnSpPr>
            <p:nvPr/>
          </p:nvCxnSpPr>
          <p:spPr bwMode="gray">
            <a:xfrm flipH="1">
              <a:off x="3343646" y="4203065"/>
              <a:ext cx="623084" cy="57951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5" name="Freeform 159">
              <a:extLst>
                <a:ext uri="{FF2B5EF4-FFF2-40B4-BE49-F238E27FC236}">
                  <a16:creationId xmlns="" xmlns:a16="http://schemas.microsoft.com/office/drawing/2014/main" id="{DFD43114-13A7-434E-B348-8D1AC7ED74BD}"/>
                </a:ext>
              </a:extLst>
            </p:cNvPr>
            <p:cNvSpPr/>
            <p:nvPr/>
          </p:nvSpPr>
          <p:spPr bwMode="gray">
            <a:xfrm flipH="1">
              <a:off x="9008350" y="343262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36" name="图片 31">
              <a:extLst>
                <a:ext uri="{FF2B5EF4-FFF2-40B4-BE49-F238E27FC236}">
                  <a16:creationId xmlns="" xmlns:a16="http://schemas.microsoft.com/office/drawing/2014/main" id="{7197D861-6470-4ACB-B8C5-CF4FBABA7C13}"/>
                </a:ext>
              </a:extLst>
            </p:cNvPr>
            <p:cNvPicPr>
              <a:picLocks noChangeAspect="1"/>
            </p:cNvPicPr>
            <p:nvPr/>
          </p:nvPicPr>
          <p:blipFill>
            <a:blip r:embed="rId3"/>
            <a:stretch>
              <a:fillRect/>
            </a:stretch>
          </p:blipFill>
          <p:spPr bwMode="gray">
            <a:xfrm>
              <a:off x="8696732" y="3511192"/>
              <a:ext cx="466668" cy="389308"/>
            </a:xfrm>
            <a:prstGeom prst="rect">
              <a:avLst/>
            </a:prstGeom>
          </p:spPr>
        </p:pic>
        <p:cxnSp>
          <p:nvCxnSpPr>
            <p:cNvPr id="37" name="Straight Connector 36">
              <a:extLst>
                <a:ext uri="{FF2B5EF4-FFF2-40B4-BE49-F238E27FC236}">
                  <a16:creationId xmlns="" xmlns:a16="http://schemas.microsoft.com/office/drawing/2014/main" id="{60EECFE0-24A3-47F3-8178-AF8B72259C7E}"/>
                </a:ext>
              </a:extLst>
            </p:cNvPr>
            <p:cNvCxnSpPr>
              <a:cxnSpLocks/>
              <a:stCxn id="36" idx="1"/>
              <a:endCxn id="9" idx="3"/>
            </p:cNvCxnSpPr>
            <p:nvPr/>
          </p:nvCxnSpPr>
          <p:spPr bwMode="gray">
            <a:xfrm flipH="1">
              <a:off x="8085810" y="3705846"/>
              <a:ext cx="610922" cy="49721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Freeform 159">
              <a:extLst>
                <a:ext uri="{FF2B5EF4-FFF2-40B4-BE49-F238E27FC236}">
                  <a16:creationId xmlns="" xmlns:a16="http://schemas.microsoft.com/office/drawing/2014/main" id="{49410518-2CE0-498C-940A-501C0562A6C4}"/>
                </a:ext>
              </a:extLst>
            </p:cNvPr>
            <p:cNvSpPr/>
            <p:nvPr/>
          </p:nvSpPr>
          <p:spPr bwMode="gray">
            <a:xfrm flipH="1">
              <a:off x="9008350" y="4422736"/>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VPN2</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41" name="图片 31">
              <a:extLst>
                <a:ext uri="{FF2B5EF4-FFF2-40B4-BE49-F238E27FC236}">
                  <a16:creationId xmlns="" xmlns:a16="http://schemas.microsoft.com/office/drawing/2014/main" id="{03BC4FD6-C4BE-440C-B440-CDC66B756CCD}"/>
                </a:ext>
              </a:extLst>
            </p:cNvPr>
            <p:cNvPicPr>
              <a:picLocks noChangeAspect="1"/>
            </p:cNvPicPr>
            <p:nvPr/>
          </p:nvPicPr>
          <p:blipFill>
            <a:blip r:embed="rId3"/>
            <a:stretch>
              <a:fillRect/>
            </a:stretch>
          </p:blipFill>
          <p:spPr bwMode="gray">
            <a:xfrm>
              <a:off x="8696732" y="4501305"/>
              <a:ext cx="466668" cy="389308"/>
            </a:xfrm>
            <a:prstGeom prst="rect">
              <a:avLst/>
            </a:prstGeom>
          </p:spPr>
        </p:pic>
        <p:cxnSp>
          <p:nvCxnSpPr>
            <p:cNvPr id="42" name="Straight Connector 41">
              <a:extLst>
                <a:ext uri="{FF2B5EF4-FFF2-40B4-BE49-F238E27FC236}">
                  <a16:creationId xmlns="" xmlns:a16="http://schemas.microsoft.com/office/drawing/2014/main" id="{F260545C-5840-42AA-B8FB-6F4F2A929E1B}"/>
                </a:ext>
              </a:extLst>
            </p:cNvPr>
            <p:cNvCxnSpPr>
              <a:cxnSpLocks/>
              <a:stCxn id="41" idx="1"/>
              <a:endCxn id="9" idx="3"/>
            </p:cNvCxnSpPr>
            <p:nvPr/>
          </p:nvCxnSpPr>
          <p:spPr bwMode="gray">
            <a:xfrm flipH="1" flipV="1">
              <a:off x="8085810" y="4203065"/>
              <a:ext cx="610922" cy="4928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Freeform: Shape 17">
              <a:extLst>
                <a:ext uri="{FF2B5EF4-FFF2-40B4-BE49-F238E27FC236}">
                  <a16:creationId xmlns="" xmlns:a16="http://schemas.microsoft.com/office/drawing/2014/main" id="{AA4F7E17-30E5-4877-A41E-8F273E2CFBA0}"/>
                </a:ext>
              </a:extLst>
            </p:cNvPr>
            <p:cNvSpPr/>
            <p:nvPr/>
          </p:nvSpPr>
          <p:spPr bwMode="gray">
            <a:xfrm>
              <a:off x="3110954" y="3669665"/>
              <a:ext cx="1333500" cy="403860"/>
            </a:xfrm>
            <a:custGeom>
              <a:avLst/>
              <a:gdLst>
                <a:gd name="connsiteX0" fmla="*/ 0 w 1333500"/>
                <a:gd name="connsiteY0" fmla="*/ 0 h 403860"/>
                <a:gd name="connsiteX1" fmla="*/ 548640 w 1333500"/>
                <a:gd name="connsiteY1" fmla="*/ 335280 h 403860"/>
                <a:gd name="connsiteX2" fmla="*/ 1333500 w 1333500"/>
                <a:gd name="connsiteY2" fmla="*/ 403860 h 403860"/>
              </a:gdLst>
              <a:ahLst/>
              <a:cxnLst>
                <a:cxn ang="0">
                  <a:pos x="connsiteX0" y="connsiteY0"/>
                </a:cxn>
                <a:cxn ang="0">
                  <a:pos x="connsiteX1" y="connsiteY1"/>
                </a:cxn>
                <a:cxn ang="0">
                  <a:pos x="connsiteX2" y="connsiteY2"/>
                </a:cxn>
              </a:cxnLst>
              <a:rect l="l" t="t" r="r" b="b"/>
              <a:pathLst>
                <a:path w="1333500" h="403860">
                  <a:moveTo>
                    <a:pt x="0" y="0"/>
                  </a:moveTo>
                  <a:cubicBezTo>
                    <a:pt x="163195" y="133985"/>
                    <a:pt x="326390" y="267970"/>
                    <a:pt x="548640" y="335280"/>
                  </a:cubicBezTo>
                  <a:cubicBezTo>
                    <a:pt x="770890" y="402590"/>
                    <a:pt x="1052195" y="403225"/>
                    <a:pt x="1333500" y="40386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19" name="Freeform: Shape 18">
              <a:extLst>
                <a:ext uri="{FF2B5EF4-FFF2-40B4-BE49-F238E27FC236}">
                  <a16:creationId xmlns="" xmlns:a16="http://schemas.microsoft.com/office/drawing/2014/main" id="{8395250C-BC16-47C8-85EA-3A3F671E8A12}"/>
                </a:ext>
              </a:extLst>
            </p:cNvPr>
            <p:cNvSpPr/>
            <p:nvPr/>
          </p:nvSpPr>
          <p:spPr bwMode="gray">
            <a:xfrm flipV="1">
              <a:off x="3110312" y="4332605"/>
              <a:ext cx="1333500" cy="403860"/>
            </a:xfrm>
            <a:custGeom>
              <a:avLst/>
              <a:gdLst>
                <a:gd name="connsiteX0" fmla="*/ 0 w 1333500"/>
                <a:gd name="connsiteY0" fmla="*/ 0 h 403860"/>
                <a:gd name="connsiteX1" fmla="*/ 548640 w 1333500"/>
                <a:gd name="connsiteY1" fmla="*/ 335280 h 403860"/>
                <a:gd name="connsiteX2" fmla="*/ 1333500 w 1333500"/>
                <a:gd name="connsiteY2" fmla="*/ 403860 h 403860"/>
              </a:gdLst>
              <a:ahLst/>
              <a:cxnLst>
                <a:cxn ang="0">
                  <a:pos x="connsiteX0" y="connsiteY0"/>
                </a:cxn>
                <a:cxn ang="0">
                  <a:pos x="connsiteX1" y="connsiteY1"/>
                </a:cxn>
                <a:cxn ang="0">
                  <a:pos x="connsiteX2" y="connsiteY2"/>
                </a:cxn>
              </a:cxnLst>
              <a:rect l="l" t="t" r="r" b="b"/>
              <a:pathLst>
                <a:path w="1333500" h="403860">
                  <a:moveTo>
                    <a:pt x="0" y="0"/>
                  </a:moveTo>
                  <a:cubicBezTo>
                    <a:pt x="163195" y="133985"/>
                    <a:pt x="326390" y="267970"/>
                    <a:pt x="548640" y="335280"/>
                  </a:cubicBezTo>
                  <a:cubicBezTo>
                    <a:pt x="770890" y="402590"/>
                    <a:pt x="1052195" y="403225"/>
                    <a:pt x="1333500" y="403860"/>
                  </a:cubicBezTo>
                </a:path>
              </a:pathLst>
            </a:custGeom>
            <a:noFill/>
            <a:ln w="28575">
              <a:solidFill>
                <a:srgbClr val="F2894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20" name="Freeform: Shape 19">
              <a:extLst>
                <a:ext uri="{FF2B5EF4-FFF2-40B4-BE49-F238E27FC236}">
                  <a16:creationId xmlns="" xmlns:a16="http://schemas.microsoft.com/office/drawing/2014/main" id="{95C9251B-54AC-4D0A-AB17-B1A42AB3C69F}"/>
                </a:ext>
              </a:extLst>
            </p:cNvPr>
            <p:cNvSpPr/>
            <p:nvPr/>
          </p:nvSpPr>
          <p:spPr bwMode="gray">
            <a:xfrm flipH="1">
              <a:off x="7558982" y="3669665"/>
              <a:ext cx="1333500" cy="403860"/>
            </a:xfrm>
            <a:custGeom>
              <a:avLst/>
              <a:gdLst>
                <a:gd name="connsiteX0" fmla="*/ 0 w 1333500"/>
                <a:gd name="connsiteY0" fmla="*/ 0 h 403860"/>
                <a:gd name="connsiteX1" fmla="*/ 548640 w 1333500"/>
                <a:gd name="connsiteY1" fmla="*/ 335280 h 403860"/>
                <a:gd name="connsiteX2" fmla="*/ 1333500 w 1333500"/>
                <a:gd name="connsiteY2" fmla="*/ 403860 h 403860"/>
              </a:gdLst>
              <a:ahLst/>
              <a:cxnLst>
                <a:cxn ang="0">
                  <a:pos x="connsiteX0" y="connsiteY0"/>
                </a:cxn>
                <a:cxn ang="0">
                  <a:pos x="connsiteX1" y="connsiteY1"/>
                </a:cxn>
                <a:cxn ang="0">
                  <a:pos x="connsiteX2" y="connsiteY2"/>
                </a:cxn>
              </a:cxnLst>
              <a:rect l="l" t="t" r="r" b="b"/>
              <a:pathLst>
                <a:path w="1333500" h="403860">
                  <a:moveTo>
                    <a:pt x="0" y="0"/>
                  </a:moveTo>
                  <a:cubicBezTo>
                    <a:pt x="163195" y="133985"/>
                    <a:pt x="326390" y="267970"/>
                    <a:pt x="548640" y="335280"/>
                  </a:cubicBezTo>
                  <a:cubicBezTo>
                    <a:pt x="770890" y="402590"/>
                    <a:pt x="1052195" y="403225"/>
                    <a:pt x="1333500" y="403860"/>
                  </a:cubicBezTo>
                </a:path>
              </a:pathLst>
            </a:custGeom>
            <a:noFill/>
            <a:ln w="28575">
              <a:solidFill>
                <a:srgbClr val="E28189"/>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21" name="Freeform: Shape 20">
              <a:extLst>
                <a:ext uri="{FF2B5EF4-FFF2-40B4-BE49-F238E27FC236}">
                  <a16:creationId xmlns="" xmlns:a16="http://schemas.microsoft.com/office/drawing/2014/main" id="{27326E54-01FF-4373-AE63-C286A2BD5C53}"/>
                </a:ext>
              </a:extLst>
            </p:cNvPr>
            <p:cNvSpPr/>
            <p:nvPr/>
          </p:nvSpPr>
          <p:spPr bwMode="gray">
            <a:xfrm flipH="1" flipV="1">
              <a:off x="7558340" y="4332605"/>
              <a:ext cx="1333500" cy="403860"/>
            </a:xfrm>
            <a:custGeom>
              <a:avLst/>
              <a:gdLst>
                <a:gd name="connsiteX0" fmla="*/ 0 w 1333500"/>
                <a:gd name="connsiteY0" fmla="*/ 0 h 403860"/>
                <a:gd name="connsiteX1" fmla="*/ 548640 w 1333500"/>
                <a:gd name="connsiteY1" fmla="*/ 335280 h 403860"/>
                <a:gd name="connsiteX2" fmla="*/ 1333500 w 1333500"/>
                <a:gd name="connsiteY2" fmla="*/ 403860 h 403860"/>
              </a:gdLst>
              <a:ahLst/>
              <a:cxnLst>
                <a:cxn ang="0">
                  <a:pos x="connsiteX0" y="connsiteY0"/>
                </a:cxn>
                <a:cxn ang="0">
                  <a:pos x="connsiteX1" y="connsiteY1"/>
                </a:cxn>
                <a:cxn ang="0">
                  <a:pos x="connsiteX2" y="connsiteY2"/>
                </a:cxn>
              </a:cxnLst>
              <a:rect l="l" t="t" r="r" b="b"/>
              <a:pathLst>
                <a:path w="1333500" h="403860">
                  <a:moveTo>
                    <a:pt x="0" y="0"/>
                  </a:moveTo>
                  <a:cubicBezTo>
                    <a:pt x="163195" y="133985"/>
                    <a:pt x="326390" y="267970"/>
                    <a:pt x="548640" y="335280"/>
                  </a:cubicBezTo>
                  <a:cubicBezTo>
                    <a:pt x="770890" y="402590"/>
                    <a:pt x="1052195" y="403225"/>
                    <a:pt x="1333500" y="403860"/>
                  </a:cubicBezTo>
                </a:path>
              </a:pathLst>
            </a:custGeom>
            <a:noFill/>
            <a:ln w="28575">
              <a:solidFill>
                <a:srgbClr val="F28944"/>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45" name="Rectangular Callout 26">
              <a:extLst>
                <a:ext uri="{FF2B5EF4-FFF2-40B4-BE49-F238E27FC236}">
                  <a16:creationId xmlns="" xmlns:a16="http://schemas.microsoft.com/office/drawing/2014/main" id="{6999B9CD-751E-4618-BC4E-E0BD821C698C}"/>
                </a:ext>
              </a:extLst>
            </p:cNvPr>
            <p:cNvSpPr/>
            <p:nvPr/>
          </p:nvSpPr>
          <p:spPr bwMode="gray">
            <a:xfrm>
              <a:off x="6186175" y="3138364"/>
              <a:ext cx="1294455" cy="588517"/>
            </a:xfrm>
            <a:prstGeom prst="wedgeRectCallout">
              <a:avLst>
                <a:gd name="adj1" fmla="val 9310"/>
                <a:gd name="adj2" fmla="val 10206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MPLS LDP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MPLS TE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技术形成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MPLS</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Tree>
    <p:extLst>
      <p:ext uri="{BB962C8B-B14F-4D97-AF65-F5344CB8AC3E}">
        <p14:creationId xmlns:p14="http://schemas.microsoft.com/office/powerpoint/2010/main" val="3705962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 name="直接连接符 95"/>
          <p:cNvCxnSpPr/>
          <p:nvPr/>
        </p:nvCxnSpPr>
        <p:spPr bwMode="gray">
          <a:xfrm rot="5400000">
            <a:off x="3842653" y="3047184"/>
            <a:ext cx="662814" cy="1266975"/>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bwMode="gray">
          <a:xfrm rot="16200000" flipH="1">
            <a:off x="3769315" y="2023194"/>
            <a:ext cx="662814" cy="1266974"/>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rot="5400000">
            <a:off x="3777364" y="2790519"/>
            <a:ext cx="602558" cy="1151795"/>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bwMode="gray">
          <a:xfrm rot="16200000" flipH="1">
            <a:off x="1957058" y="2692827"/>
            <a:ext cx="662814" cy="1266974"/>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rot="16200000">
            <a:off x="1852143" y="1652314"/>
            <a:ext cx="662814" cy="1266974"/>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bwMode="gray">
          <a:xfrm>
            <a:off x="452438" y="447468"/>
            <a:ext cx="11296649" cy="497095"/>
          </a:xfrm>
        </p:spPr>
        <p:txBody>
          <a:bodyPr>
            <a:normAutofit/>
          </a:bodyPr>
          <a:lstStyle/>
          <a:p>
            <a:r>
              <a:rPr lang="en-US" altLang="zh-CN" dirty="0">
                <a:sym typeface="Huawei Sans" panose="020C0503030203020204" pitchFamily="34" charset="0"/>
              </a:rPr>
              <a:t>MPLS LDP</a:t>
            </a:r>
            <a:r>
              <a:rPr lang="zh-CN" altLang="en-US" dirty="0">
                <a:sym typeface="Huawei Sans" panose="020C0503030203020204" pitchFamily="34" charset="0"/>
              </a:rPr>
              <a:t>与</a:t>
            </a:r>
            <a:r>
              <a:rPr lang="en-US" altLang="zh-CN" dirty="0">
                <a:sym typeface="Huawei Sans" panose="020C0503030203020204" pitchFamily="34" charset="0"/>
              </a:rPr>
              <a:t>RSVP-TE</a:t>
            </a:r>
            <a:r>
              <a:rPr lang="zh-CN" altLang="en-US" dirty="0">
                <a:sym typeface="Huawei Sans" panose="020C0503030203020204" pitchFamily="34" charset="0"/>
              </a:rPr>
              <a:t>存在的问题</a:t>
            </a:r>
          </a:p>
        </p:txBody>
      </p:sp>
      <p:grpSp>
        <p:nvGrpSpPr>
          <p:cNvPr id="11" name="组合 10"/>
          <p:cNvGrpSpPr/>
          <p:nvPr/>
        </p:nvGrpSpPr>
        <p:grpSpPr bwMode="gray">
          <a:xfrm rot="5400000">
            <a:off x="5250027" y="2818951"/>
            <a:ext cx="438911" cy="301085"/>
            <a:chOff x="674588" y="6196215"/>
            <a:chExt cx="399010" cy="226210"/>
          </a:xfrm>
        </p:grpSpPr>
        <p:cxnSp>
          <p:nvCxnSpPr>
            <p:cNvPr id="12" name="直接连接符 11"/>
            <p:cNvCxnSpPr/>
            <p:nvPr/>
          </p:nvCxnSpPr>
          <p:spPr bwMode="gray">
            <a:xfrm>
              <a:off x="874093" y="6196215"/>
              <a:ext cx="0" cy="2262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a:off x="674588" y="6196215"/>
              <a:ext cx="399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bwMode="gray">
          <a:xfrm rot="16200000">
            <a:off x="1231463" y="2131646"/>
            <a:ext cx="1764410" cy="1686342"/>
            <a:chOff x="6600056" y="4353447"/>
            <a:chExt cx="1296144" cy="833967"/>
          </a:xfrm>
        </p:grpSpPr>
        <p:cxnSp>
          <p:nvCxnSpPr>
            <p:cNvPr id="15" name="直接连接符 14"/>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bwMode="gray">
          <a:xfrm rot="5400000">
            <a:off x="3388642" y="2131646"/>
            <a:ext cx="1764410" cy="1686342"/>
            <a:chOff x="6600056" y="4353447"/>
            <a:chExt cx="1296144" cy="833967"/>
          </a:xfrm>
        </p:grpSpPr>
        <p:cxnSp>
          <p:nvCxnSpPr>
            <p:cNvPr id="18" name="直接连接符 17"/>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圆角矩形 19"/>
          <p:cNvSpPr/>
          <p:nvPr/>
        </p:nvSpPr>
        <p:spPr bwMode="gray">
          <a:xfrm>
            <a:off x="587041" y="1067913"/>
            <a:ext cx="5297710"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MPLS LDP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587041" y="1529329"/>
            <a:ext cx="5297710" cy="440571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6325031" y="1067913"/>
            <a:ext cx="5299200"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RSVP-TE</a:t>
            </a:r>
            <a:endPar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6325030" y="1529329"/>
            <a:ext cx="5299201" cy="440571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2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71961" y="2748094"/>
            <a:ext cx="540000" cy="442800"/>
          </a:xfrm>
          <a:prstGeom prst="rect">
            <a:avLst/>
          </a:prstGeom>
        </p:spPr>
      </p:pic>
      <p:grpSp>
        <p:nvGrpSpPr>
          <p:cNvPr id="25" name="组合 24"/>
          <p:cNvGrpSpPr/>
          <p:nvPr/>
        </p:nvGrpSpPr>
        <p:grpSpPr bwMode="gray">
          <a:xfrm>
            <a:off x="2944169" y="1847994"/>
            <a:ext cx="540000" cy="2243000"/>
            <a:chOff x="3071664" y="2780928"/>
            <a:chExt cx="540000" cy="2243000"/>
          </a:xfrm>
        </p:grpSpPr>
        <p:pic>
          <p:nvPicPr>
            <p:cNvPr id="26" name="图片 2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2780928"/>
              <a:ext cx="540000" cy="442800"/>
            </a:xfrm>
            <a:prstGeom prst="rect">
              <a:avLst/>
            </a:prstGeom>
          </p:spPr>
        </p:pic>
        <p:pic>
          <p:nvPicPr>
            <p:cNvPr id="27" name="图片 2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4581128"/>
              <a:ext cx="540000" cy="442800"/>
            </a:xfrm>
            <a:prstGeom prst="rect">
              <a:avLst/>
            </a:prstGeom>
          </p:spPr>
        </p:pic>
      </p:grpSp>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816377" y="2748094"/>
            <a:ext cx="540000" cy="442800"/>
          </a:xfrm>
          <a:prstGeom prst="rect">
            <a:avLst/>
          </a:prstGeom>
        </p:spPr>
      </p:pic>
      <p:sp>
        <p:nvSpPr>
          <p:cNvPr id="29" name="文本框 28"/>
          <p:cNvSpPr txBox="1"/>
          <p:nvPr/>
        </p:nvSpPr>
        <p:spPr bwMode="gray">
          <a:xfrm>
            <a:off x="678801" y="2815605"/>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3007221" y="2301441"/>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3007221" y="3309003"/>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4878021" y="3190894"/>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rot="19912812">
            <a:off x="1899831" y="2211386"/>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628001" y="4340237"/>
            <a:ext cx="5205950" cy="1323439"/>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本身并无算路能力，需依赖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进行路径计算。</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控制面需要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，设备之间需要发送大量的消息来维持邻居关系及路径状态，浪费了链路带宽及设备资源。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未同步，则可能出现数据转发问题。</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6325030" y="4251337"/>
            <a:ext cx="5299201" cy="1631216"/>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RSVP-TE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的配置复杂，不支持负载分担。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为了实现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，设备之间需要发送大量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报文来维持邻居关系及路径状态，浪费了链路带宽及设备资源。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RSVP-TE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本质上是分布式架构，每台设备只知道自己的状态，设备之间需要交互信令报文。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rot="1670758">
            <a:off x="3834576" y="2550089"/>
            <a:ext cx="537807" cy="161866"/>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rot="1660865">
            <a:off x="2026513" y="3238762"/>
            <a:ext cx="537807" cy="161866"/>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p:cNvSpPr txBox="1"/>
          <p:nvPr/>
        </p:nvSpPr>
        <p:spPr bwMode="gray">
          <a:xfrm rot="19997381">
            <a:off x="3815854" y="3297931"/>
            <a:ext cx="537807" cy="161866"/>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连接符 85"/>
          <p:cNvCxnSpPr/>
          <p:nvPr/>
        </p:nvCxnSpPr>
        <p:spPr bwMode="gray">
          <a:xfrm rot="16200000">
            <a:off x="1986665" y="2026812"/>
            <a:ext cx="602558" cy="1151795"/>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bwMode="gray">
          <a:xfrm rot="19912812">
            <a:off x="2016948" y="2551041"/>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8" name="直接连接符 87"/>
          <p:cNvCxnSpPr/>
          <p:nvPr/>
        </p:nvCxnSpPr>
        <p:spPr bwMode="gray">
          <a:xfrm rot="16200000" flipH="1">
            <a:off x="1797603" y="2928761"/>
            <a:ext cx="729095" cy="1393671"/>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bwMode="gray">
          <a:xfrm rot="1679142">
            <a:off x="1863224" y="3551831"/>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p:cNvSpPr txBox="1"/>
          <p:nvPr/>
        </p:nvSpPr>
        <p:spPr bwMode="gray">
          <a:xfrm rot="19882353">
            <a:off x="3939709" y="3588788"/>
            <a:ext cx="537807" cy="161866"/>
          </a:xfrm>
          <a:prstGeom prst="rect">
            <a:avLst/>
          </a:prstGeom>
          <a:solidFill>
            <a:schemeClr val="bg1"/>
          </a:solidFill>
        </p:spPr>
        <p:txBody>
          <a:bodyPr wrap="none" lIns="0" tIns="0" rIns="0" bIns="0" rtlCol="0" anchor="ctr" anchorCtr="0">
            <a:noAutofit/>
          </a:bodyPr>
          <a:lstStyle>
            <a:defPPr>
              <a:defRPr lang="zh-CN"/>
            </a:defPPr>
            <a:lvl1pPr algn="ctr">
              <a:defRPr sz="1400">
                <a:solidFill>
                  <a:srgbClr val="C00000"/>
                </a:solidFill>
              </a:defRPr>
            </a:lvl1pPr>
          </a:lstStyle>
          <a:p>
            <a:r>
              <a:rPr lang="en-US" altLang="zh-CN"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8" name="直接连接符 97"/>
          <p:cNvCxnSpPr/>
          <p:nvPr/>
        </p:nvCxnSpPr>
        <p:spPr bwMode="gray">
          <a:xfrm rot="16200000" flipH="1">
            <a:off x="3871776" y="1661277"/>
            <a:ext cx="662814" cy="1266974"/>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bwMode="gray">
          <a:xfrm rot="1670758">
            <a:off x="3940472" y="2235936"/>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3" name="组合 112"/>
          <p:cNvGrpSpPr/>
          <p:nvPr/>
        </p:nvGrpSpPr>
        <p:grpSpPr bwMode="gray">
          <a:xfrm rot="5400000">
            <a:off x="11149168" y="2818951"/>
            <a:ext cx="438911" cy="301085"/>
            <a:chOff x="674588" y="6196215"/>
            <a:chExt cx="399010" cy="226210"/>
          </a:xfrm>
        </p:grpSpPr>
        <p:cxnSp>
          <p:nvCxnSpPr>
            <p:cNvPr id="114" name="直接连接符 113"/>
            <p:cNvCxnSpPr/>
            <p:nvPr/>
          </p:nvCxnSpPr>
          <p:spPr bwMode="gray">
            <a:xfrm>
              <a:off x="874093" y="6196215"/>
              <a:ext cx="0" cy="2262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bwMode="gray">
            <a:xfrm>
              <a:off x="674588" y="6196215"/>
              <a:ext cx="399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 name="组合 115"/>
          <p:cNvGrpSpPr/>
          <p:nvPr/>
        </p:nvGrpSpPr>
        <p:grpSpPr bwMode="gray">
          <a:xfrm rot="16200000">
            <a:off x="7130604" y="2131646"/>
            <a:ext cx="1764410" cy="1686342"/>
            <a:chOff x="6600056" y="4353447"/>
            <a:chExt cx="1296144" cy="833967"/>
          </a:xfrm>
        </p:grpSpPr>
        <p:cxnSp>
          <p:nvCxnSpPr>
            <p:cNvPr id="117" name="直接连接符 116"/>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bwMode="gray">
          <a:xfrm rot="5400000">
            <a:off x="9287783" y="2131646"/>
            <a:ext cx="1764410" cy="1686342"/>
            <a:chOff x="6600056" y="4353447"/>
            <a:chExt cx="1296144" cy="833967"/>
          </a:xfrm>
        </p:grpSpPr>
        <p:cxnSp>
          <p:nvCxnSpPr>
            <p:cNvPr id="120" name="直接连接符 119"/>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2" name="图片 12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971102" y="2748094"/>
            <a:ext cx="540000" cy="442800"/>
          </a:xfrm>
          <a:prstGeom prst="rect">
            <a:avLst/>
          </a:prstGeom>
        </p:spPr>
      </p:pic>
      <p:grpSp>
        <p:nvGrpSpPr>
          <p:cNvPr id="123" name="组合 122"/>
          <p:cNvGrpSpPr/>
          <p:nvPr/>
        </p:nvGrpSpPr>
        <p:grpSpPr bwMode="gray">
          <a:xfrm>
            <a:off x="8843310" y="1847994"/>
            <a:ext cx="540000" cy="2243000"/>
            <a:chOff x="3071664" y="2780928"/>
            <a:chExt cx="540000" cy="2243000"/>
          </a:xfrm>
        </p:grpSpPr>
        <p:pic>
          <p:nvPicPr>
            <p:cNvPr id="124" name="图片 12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2780928"/>
              <a:ext cx="540000" cy="442800"/>
            </a:xfrm>
            <a:prstGeom prst="rect">
              <a:avLst/>
            </a:prstGeom>
          </p:spPr>
        </p:pic>
        <p:pic>
          <p:nvPicPr>
            <p:cNvPr id="125" name="图片 12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4581128"/>
              <a:ext cx="540000" cy="442800"/>
            </a:xfrm>
            <a:prstGeom prst="rect">
              <a:avLst/>
            </a:prstGeom>
          </p:spPr>
        </p:pic>
      </p:grpSp>
      <p:pic>
        <p:nvPicPr>
          <p:cNvPr id="126" name="图片 12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715518" y="2748094"/>
            <a:ext cx="540000" cy="442800"/>
          </a:xfrm>
          <a:prstGeom prst="rect">
            <a:avLst/>
          </a:prstGeom>
        </p:spPr>
      </p:pic>
      <p:sp>
        <p:nvSpPr>
          <p:cNvPr id="127" name="文本框 126"/>
          <p:cNvSpPr txBox="1"/>
          <p:nvPr/>
        </p:nvSpPr>
        <p:spPr bwMode="gray">
          <a:xfrm>
            <a:off x="6577942" y="2815605"/>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文本框 127"/>
          <p:cNvSpPr txBox="1"/>
          <p:nvPr/>
        </p:nvSpPr>
        <p:spPr bwMode="gray">
          <a:xfrm>
            <a:off x="8906362" y="2301441"/>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bwMode="gray">
          <a:xfrm>
            <a:off x="8906362" y="3309003"/>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10777162" y="3190894"/>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2" name="直接箭头连接符 141"/>
          <p:cNvCxnSpPr/>
          <p:nvPr/>
        </p:nvCxnSpPr>
        <p:spPr bwMode="gray">
          <a:xfrm>
            <a:off x="9447513" y="1942820"/>
            <a:ext cx="1382295" cy="719113"/>
          </a:xfrm>
          <a:prstGeom prst="straightConnector1">
            <a:avLst/>
          </a:prstGeom>
          <a:ln w="19050">
            <a:solidFill>
              <a:srgbClr val="C00000"/>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bwMode="gray">
          <a:xfrm flipV="1">
            <a:off x="7384441" y="1945148"/>
            <a:ext cx="1369969" cy="722993"/>
          </a:xfrm>
          <a:prstGeom prst="straightConnector1">
            <a:avLst/>
          </a:prstGeom>
          <a:ln w="19050">
            <a:solidFill>
              <a:srgbClr val="C00000"/>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46" name="文本框 145"/>
          <p:cNvSpPr txBox="1"/>
          <p:nvPr/>
        </p:nvSpPr>
        <p:spPr bwMode="gray">
          <a:xfrm rot="1670758">
            <a:off x="10157743" y="2184994"/>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响应</a:t>
            </a:r>
          </a:p>
        </p:txBody>
      </p:sp>
      <p:sp>
        <p:nvSpPr>
          <p:cNvPr id="147" name="文本框 146"/>
          <p:cNvSpPr txBox="1"/>
          <p:nvPr/>
        </p:nvSpPr>
        <p:spPr bwMode="gray">
          <a:xfrm rot="20055180">
            <a:off x="7899850" y="1876524"/>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响应</a:t>
            </a:r>
          </a:p>
        </p:txBody>
      </p:sp>
      <p:cxnSp>
        <p:nvCxnSpPr>
          <p:cNvPr id="74" name="直接箭头连接符 73"/>
          <p:cNvCxnSpPr/>
          <p:nvPr/>
        </p:nvCxnSpPr>
        <p:spPr bwMode="gray">
          <a:xfrm flipV="1">
            <a:off x="7560771" y="2343880"/>
            <a:ext cx="1245426" cy="657267"/>
          </a:xfrm>
          <a:prstGeom prst="straightConnector1">
            <a:avLst/>
          </a:prstGeom>
          <a:ln w="19050">
            <a:solidFill>
              <a:srgbClr val="C00000"/>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bwMode="gray">
          <a:xfrm>
            <a:off x="9324537" y="2307027"/>
            <a:ext cx="1256632" cy="653739"/>
          </a:xfrm>
          <a:prstGeom prst="straightConnector1">
            <a:avLst/>
          </a:prstGeom>
          <a:ln w="19050">
            <a:solidFill>
              <a:srgbClr val="C00000"/>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bwMode="gray">
          <a:xfrm rot="20055180">
            <a:off x="7679496" y="2815462"/>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请求</a:t>
            </a:r>
          </a:p>
        </p:txBody>
      </p:sp>
      <p:sp>
        <p:nvSpPr>
          <p:cNvPr id="77" name="文本框 76"/>
          <p:cNvSpPr txBox="1"/>
          <p:nvPr/>
        </p:nvSpPr>
        <p:spPr bwMode="gray">
          <a:xfrm rot="1672281">
            <a:off x="9389738" y="2579040"/>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请求</a:t>
            </a:r>
          </a:p>
        </p:txBody>
      </p:sp>
      <p:sp>
        <p:nvSpPr>
          <p:cNvPr id="73" name="五边形 2">
            <a:extLst>
              <a:ext uri="{FF2B5EF4-FFF2-40B4-BE49-F238E27FC236}">
                <a16:creationId xmlns="" xmlns:a16="http://schemas.microsoft.com/office/drawing/2014/main" id="{DA4212E8-2CE8-4667-9FA4-9424AABE909F}"/>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78" name="燕尾形 3">
            <a:extLst>
              <a:ext uri="{FF2B5EF4-FFF2-40B4-BE49-F238E27FC236}">
                <a16:creationId xmlns="" xmlns:a16="http://schemas.microsoft.com/office/drawing/2014/main" id="{C54857A7-A563-4DE8-89E6-A2B3125F5768}"/>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3">
            <a:extLst>
              <a:ext uri="{FF2B5EF4-FFF2-40B4-BE49-F238E27FC236}">
                <a16:creationId xmlns="" xmlns:a16="http://schemas.microsoft.com/office/drawing/2014/main" id="{556D787D-4751-47EB-9C76-7A93EA82D610}"/>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隧道规划</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014864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47">
            <a:extLst>
              <a:ext uri="{FF2B5EF4-FFF2-40B4-BE49-F238E27FC236}">
                <a16:creationId xmlns="" xmlns:a16="http://schemas.microsoft.com/office/drawing/2014/main" id="{229E43AC-E30A-4E22-8AD7-64F0E2198317}"/>
              </a:ext>
            </a:extLst>
          </p:cNvPr>
          <p:cNvSpPr txBox="1"/>
          <p:nvPr/>
        </p:nvSpPr>
        <p:spPr bwMode="gray">
          <a:xfrm>
            <a:off x="2793938" y="1576633"/>
            <a:ext cx="1377890" cy="251491"/>
          </a:xfrm>
          <a:prstGeom prst="rect">
            <a:avLst/>
          </a:prstGeom>
          <a:solidFill>
            <a:schemeClr val="bg1"/>
          </a:solidFill>
        </p:spPr>
        <p:txBody>
          <a:bodyPr wrap="none" lIns="0" tIns="0" rIns="0" bIns="0" rtlCol="0" anchor="ctr" anchorCtr="0">
            <a:noAutofit/>
          </a:bodyPr>
          <a:lstStyle/>
          <a:p>
            <a:pPr algn="ctr"/>
            <a:r>
              <a:rPr lang="zh-CN" altLang="en-US"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业务定义网络</a:t>
            </a: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Segment Routing</a:t>
            </a:r>
            <a:r>
              <a:rPr lang="zh-CN" altLang="en-US" dirty="0">
                <a:sym typeface="Huawei Sans" panose="020C0503030203020204" pitchFamily="34" charset="0"/>
              </a:rPr>
              <a:t>的解决思路</a:t>
            </a:r>
          </a:p>
        </p:txBody>
      </p:sp>
      <p:sp>
        <p:nvSpPr>
          <p:cNvPr id="3" name="文本占位符 2"/>
          <p:cNvSpPr>
            <a:spLocks noGrp="1"/>
          </p:cNvSpPr>
          <p:nvPr>
            <p:ph type="body" sz="quarter" idx="10"/>
          </p:nvPr>
        </p:nvSpPr>
        <p:spPr bwMode="gray">
          <a:xfrm>
            <a:off x="6096000" y="1047750"/>
            <a:ext cx="5653087" cy="4879805"/>
          </a:xfrm>
        </p:spPr>
        <p:txBody>
          <a:bodyPr/>
          <a:lstStyle/>
          <a:p>
            <a:r>
              <a:rPr lang="zh-CN" altLang="en-US" sz="1800" dirty="0">
                <a:sym typeface="Huawei Sans" panose="020C0503030203020204" pitchFamily="34" charset="0"/>
              </a:rPr>
              <a:t>简化协议，基于现有协议扩展：</a:t>
            </a:r>
          </a:p>
          <a:p>
            <a:pPr lvl="1"/>
            <a:r>
              <a:rPr lang="zh-CN" altLang="en-US" sz="1600" dirty="0">
                <a:sym typeface="Huawei Sans" panose="020C0503030203020204" pitchFamily="34" charset="0"/>
              </a:rPr>
              <a:t>扩展后的</a:t>
            </a:r>
            <a:r>
              <a:rPr lang="en-US" altLang="zh-CN" sz="1600" dirty="0">
                <a:sym typeface="Huawei Sans" panose="020C0503030203020204" pitchFamily="34" charset="0"/>
              </a:rPr>
              <a:t>IGP/BGP</a:t>
            </a:r>
            <a:r>
              <a:rPr lang="zh-CN" altLang="en-US" sz="1600" dirty="0">
                <a:sym typeface="Huawei Sans" panose="020C0503030203020204" pitchFamily="34" charset="0"/>
              </a:rPr>
              <a:t>具有标签分发能力，因此网络中无需</a:t>
            </a:r>
            <a:r>
              <a:rPr lang="en-US" altLang="zh-CN" sz="1600" dirty="0">
                <a:sym typeface="Huawei Sans" panose="020C0503030203020204" pitchFamily="34" charset="0"/>
              </a:rPr>
              <a:t>LDP</a:t>
            </a:r>
            <a:r>
              <a:rPr lang="zh-CN" altLang="en-US" sz="1600" dirty="0">
                <a:sym typeface="Huawei Sans" panose="020C0503030203020204" pitchFamily="34" charset="0"/>
              </a:rPr>
              <a:t>，实现协议简化。且设备仅需进行软件升级，无需进行硬件更换，保护现网投资。</a:t>
            </a:r>
          </a:p>
          <a:p>
            <a:pPr lvl="1"/>
            <a:r>
              <a:rPr lang="zh-CN" altLang="en-US" sz="1600" dirty="0">
                <a:sym typeface="Huawei Sans" panose="020C0503030203020204" pitchFamily="34" charset="0"/>
              </a:rPr>
              <a:t>引入源路由机制：通过在头端节点将转发策略实例化为标签列表，控制业务流量的转发路径。</a:t>
            </a:r>
          </a:p>
          <a:p>
            <a:r>
              <a:rPr lang="zh-CN" altLang="en-US" sz="1800" dirty="0">
                <a:sym typeface="Huawei Sans" panose="020C0503030203020204" pitchFamily="34" charset="0"/>
              </a:rPr>
              <a:t>由业务来定义网络：</a:t>
            </a:r>
          </a:p>
          <a:p>
            <a:pPr lvl="1"/>
            <a:r>
              <a:rPr lang="zh-CN" altLang="en-US" sz="1600" dirty="0">
                <a:sym typeface="Huawei Sans" panose="020C0503030203020204" pitchFamily="34" charset="0"/>
              </a:rPr>
              <a:t>由应用提出需求（时延、带宽、丢包率等），控制器收集网络拓扑、带宽利用率、时延等信息，根据业务需求计算显式路径。</a:t>
            </a:r>
          </a:p>
          <a:p>
            <a:endParaRPr lang="zh-CN" altLang="en-US" sz="1800" dirty="0">
              <a:sym typeface="Huawei Sans" panose="020C0503030203020204" pitchFamily="34" charset="0"/>
            </a:endParaRPr>
          </a:p>
        </p:txBody>
      </p:sp>
      <p:grpSp>
        <p:nvGrpSpPr>
          <p:cNvPr id="34" name="组合 33"/>
          <p:cNvGrpSpPr/>
          <p:nvPr/>
        </p:nvGrpSpPr>
        <p:grpSpPr bwMode="gray">
          <a:xfrm>
            <a:off x="1448581" y="3380369"/>
            <a:ext cx="4131022" cy="2134936"/>
            <a:chOff x="1214671" y="2730327"/>
            <a:chExt cx="4544124" cy="2134936"/>
          </a:xfrm>
        </p:grpSpPr>
        <p:cxnSp>
          <p:nvCxnSpPr>
            <p:cNvPr id="7" name="直接连接符 6"/>
            <p:cNvCxnSpPr/>
            <p:nvPr/>
          </p:nvCxnSpPr>
          <p:spPr bwMode="gray">
            <a:xfrm rot="16200000" flipH="1">
              <a:off x="1701174" y="3311292"/>
              <a:ext cx="1067468" cy="2040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rot="16200000">
              <a:off x="1701174" y="2243824"/>
              <a:ext cx="1067468" cy="2040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rot="5400000" flipH="1">
              <a:off x="4204824" y="2243824"/>
              <a:ext cx="1067468" cy="2040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rot="5400000">
              <a:off x="4204824" y="3311292"/>
              <a:ext cx="1067468" cy="2040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4" name="图片 1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266004" y="3110672"/>
            <a:ext cx="540000" cy="442800"/>
          </a:xfrm>
          <a:prstGeom prst="rect">
            <a:avLst/>
          </a:prstGeom>
        </p:spPr>
      </p:pic>
      <p:pic>
        <p:nvPicPr>
          <p:cNvPr id="15" name="图片 1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266004" y="5328937"/>
            <a:ext cx="540000" cy="442800"/>
          </a:xfrm>
          <a:prstGeom prst="rect">
            <a:avLst/>
          </a:prstGeom>
        </p:spPr>
      </p:pic>
      <p:sp>
        <p:nvSpPr>
          <p:cNvPr id="18" name="文本框 17"/>
          <p:cNvSpPr txBox="1"/>
          <p:nvPr/>
        </p:nvSpPr>
        <p:spPr bwMode="gray">
          <a:xfrm>
            <a:off x="3329056" y="3564119"/>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3329056" y="4989746"/>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252452" y="4219804"/>
            <a:ext cx="540000" cy="442800"/>
          </a:xfrm>
          <a:prstGeom prst="rect">
            <a:avLst/>
          </a:prstGeom>
        </p:spPr>
      </p:pic>
      <p:pic>
        <p:nvPicPr>
          <p:cNvPr id="16" name="图片 1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196521" y="4221114"/>
            <a:ext cx="540000" cy="442800"/>
          </a:xfrm>
          <a:prstGeom prst="rect">
            <a:avLst/>
          </a:prstGeom>
        </p:spPr>
      </p:pic>
      <p:sp>
        <p:nvSpPr>
          <p:cNvPr id="20" name="文本框 19"/>
          <p:cNvSpPr txBox="1"/>
          <p:nvPr/>
        </p:nvSpPr>
        <p:spPr bwMode="gray">
          <a:xfrm>
            <a:off x="5258165" y="4663914"/>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1139349" y="1551333"/>
            <a:ext cx="1061509"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Controller</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25" descr="通用网管-蓝.png"/>
          <p:cNvPicPr>
            <a:picLocks noChangeAspect="1"/>
          </p:cNvPicPr>
          <p:nvPr/>
        </p:nvPicPr>
        <p:blipFill>
          <a:blip r:embed="rId4" cstate="print"/>
          <a:stretch>
            <a:fillRect/>
          </a:stretch>
        </p:blipFill>
        <p:spPr bwMode="gray">
          <a:xfrm>
            <a:off x="2331288" y="1484313"/>
            <a:ext cx="540000" cy="441818"/>
          </a:xfrm>
          <a:prstGeom prst="rect">
            <a:avLst/>
          </a:prstGeom>
        </p:spPr>
      </p:pic>
      <p:sp>
        <p:nvSpPr>
          <p:cNvPr id="32" name="文本框 31"/>
          <p:cNvSpPr txBox="1"/>
          <p:nvPr/>
        </p:nvSpPr>
        <p:spPr bwMode="gray">
          <a:xfrm>
            <a:off x="2793938" y="4187560"/>
            <a:ext cx="1504078" cy="452688"/>
          </a:xfrm>
          <a:prstGeom prst="rect">
            <a:avLst/>
          </a:prstGeom>
          <a:solidFill>
            <a:schemeClr val="bg1"/>
          </a:solidFill>
        </p:spPr>
        <p:txBody>
          <a:bodyPr wrap="none" lIns="0" tIns="0" rIns="0" bIns="0" rtlCol="0" anchor="ctr" anchorCtr="0">
            <a:noAutofit/>
          </a:bodyPr>
          <a:lstStyle/>
          <a:p>
            <a:pPr algn="ctr"/>
            <a:r>
              <a:rPr lang="en-US" altLang="zh-CN" sz="16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IGP/BGP</a:t>
            </a:r>
            <a:endParaRPr lang="zh-CN" altLang="en-US" sz="16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87898" y="4663914"/>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箭头连接符 3">
            <a:extLst>
              <a:ext uri="{FF2B5EF4-FFF2-40B4-BE49-F238E27FC236}">
                <a16:creationId xmlns="" xmlns:a16="http://schemas.microsoft.com/office/drawing/2014/main" id="{208D46D0-1A04-4359-A090-4B977676CDFF}"/>
              </a:ext>
            </a:extLst>
          </p:cNvPr>
          <p:cNvCxnSpPr>
            <a:cxnSpLocks/>
            <a:stCxn id="26" idx="2"/>
            <a:endCxn id="12" idx="0"/>
          </p:cNvCxnSpPr>
          <p:nvPr/>
        </p:nvCxnSpPr>
        <p:spPr bwMode="gray">
          <a:xfrm flipH="1">
            <a:off x="1522452" y="1926131"/>
            <a:ext cx="1078836" cy="2293673"/>
          </a:xfrm>
          <a:prstGeom prst="straightConnector1">
            <a:avLst/>
          </a:prstGeom>
          <a:ln w="19050">
            <a:solidFill>
              <a:schemeClr val="accent1">
                <a:lumMod val="60000"/>
                <a:lumOff val="40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 xmlns:a16="http://schemas.microsoft.com/office/drawing/2014/main" id="{45D76DB3-4737-446D-9CCB-5EEE450F421A}"/>
              </a:ext>
            </a:extLst>
          </p:cNvPr>
          <p:cNvCxnSpPr>
            <a:cxnSpLocks/>
            <a:stCxn id="26" idx="2"/>
            <a:endCxn id="14" idx="0"/>
          </p:cNvCxnSpPr>
          <p:nvPr/>
        </p:nvCxnSpPr>
        <p:spPr bwMode="gray">
          <a:xfrm>
            <a:off x="2601288" y="1926131"/>
            <a:ext cx="934716" cy="1184541"/>
          </a:xfrm>
          <a:prstGeom prst="straightConnector1">
            <a:avLst/>
          </a:prstGeom>
          <a:ln w="19050">
            <a:solidFill>
              <a:schemeClr val="accent1">
                <a:lumMod val="60000"/>
                <a:lumOff val="40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 xmlns:a16="http://schemas.microsoft.com/office/drawing/2014/main" id="{A2983288-6F2F-47E9-9DAD-0084DD68DB6C}"/>
              </a:ext>
            </a:extLst>
          </p:cNvPr>
          <p:cNvCxnSpPr>
            <a:cxnSpLocks/>
            <a:stCxn id="26" idx="2"/>
            <a:endCxn id="16" idx="0"/>
          </p:cNvCxnSpPr>
          <p:nvPr/>
        </p:nvCxnSpPr>
        <p:spPr bwMode="gray">
          <a:xfrm>
            <a:off x="2601288" y="1926131"/>
            <a:ext cx="2865233" cy="2294983"/>
          </a:xfrm>
          <a:prstGeom prst="straightConnector1">
            <a:avLst/>
          </a:prstGeom>
          <a:ln w="19050">
            <a:solidFill>
              <a:schemeClr val="accent1">
                <a:lumMod val="60000"/>
                <a:lumOff val="40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 xmlns:a16="http://schemas.microsoft.com/office/drawing/2014/main" id="{AE02CF03-3B00-4D6D-9C74-A9EE9DF85203}"/>
              </a:ext>
            </a:extLst>
          </p:cNvPr>
          <p:cNvCxnSpPr>
            <a:cxnSpLocks/>
            <a:stCxn id="26" idx="2"/>
            <a:endCxn id="15" idx="0"/>
          </p:cNvCxnSpPr>
          <p:nvPr/>
        </p:nvCxnSpPr>
        <p:spPr bwMode="gray">
          <a:xfrm>
            <a:off x="2601288" y="1926131"/>
            <a:ext cx="934716" cy="3402806"/>
          </a:xfrm>
          <a:prstGeom prst="straightConnector1">
            <a:avLst/>
          </a:prstGeom>
          <a:ln w="19050">
            <a:solidFill>
              <a:schemeClr val="accent1">
                <a:lumMod val="60000"/>
                <a:lumOff val="40000"/>
              </a:schemeClr>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五边形 2">
            <a:extLst>
              <a:ext uri="{FF2B5EF4-FFF2-40B4-BE49-F238E27FC236}">
                <a16:creationId xmlns="" xmlns:a16="http://schemas.microsoft.com/office/drawing/2014/main" id="{87B9B015-0436-4781-9383-48A7E2E933CB}"/>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36" name="燕尾形 3">
            <a:extLst>
              <a:ext uri="{FF2B5EF4-FFF2-40B4-BE49-F238E27FC236}">
                <a16:creationId xmlns="" xmlns:a16="http://schemas.microsoft.com/office/drawing/2014/main" id="{64E5BD31-6602-4183-A809-1B4343BE9481}"/>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
            <a:extLst>
              <a:ext uri="{FF2B5EF4-FFF2-40B4-BE49-F238E27FC236}">
                <a16:creationId xmlns="" xmlns:a16="http://schemas.microsoft.com/office/drawing/2014/main" id="{EB11E7BC-BC24-4913-85B1-45670FF6AF95}"/>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837676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AAFA95A-BDCD-4034-8E0F-41C4B68423F3}"/>
              </a:ext>
            </a:extLst>
          </p:cNvPr>
          <p:cNvSpPr>
            <a:spLocks noGrp="1"/>
          </p:cNvSpPr>
          <p:nvPr>
            <p:ph type="title"/>
          </p:nvPr>
        </p:nvSpPr>
        <p:spPr bwMode="gray"/>
        <p:txBody>
          <a:bodyPr/>
          <a:lstStyle/>
          <a:p>
            <a:r>
              <a:rPr lang="en-US" dirty="0"/>
              <a:t>SR-MPLS</a:t>
            </a:r>
            <a:r>
              <a:rPr lang="zh-CN" altLang="en-US" dirty="0"/>
              <a:t>的分类</a:t>
            </a:r>
            <a:endParaRPr lang="en-US" dirty="0"/>
          </a:p>
        </p:txBody>
      </p:sp>
      <p:sp>
        <p:nvSpPr>
          <p:cNvPr id="8" name="圆角矩形 19">
            <a:extLst>
              <a:ext uri="{FF2B5EF4-FFF2-40B4-BE49-F238E27FC236}">
                <a16:creationId xmlns="" xmlns:a16="http://schemas.microsoft.com/office/drawing/2014/main" id="{337F61A6-0693-416C-A7CF-0C9C74B63243}"/>
              </a:ext>
            </a:extLst>
          </p:cNvPr>
          <p:cNvSpPr/>
          <p:nvPr/>
        </p:nvSpPr>
        <p:spPr bwMode="gray">
          <a:xfrm>
            <a:off x="560811" y="1179592"/>
            <a:ext cx="5402200" cy="400674"/>
          </a:xfrm>
          <a:prstGeom prst="roundRect">
            <a:avLst>
              <a:gd name="adj" fmla="val 8347"/>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SR-MPLS BE</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9" name="圆角矩形 20">
            <a:extLst>
              <a:ext uri="{FF2B5EF4-FFF2-40B4-BE49-F238E27FC236}">
                <a16:creationId xmlns="" xmlns:a16="http://schemas.microsoft.com/office/drawing/2014/main" id="{8DC655A3-D300-4061-90A0-A2C26AC112ED}"/>
              </a:ext>
            </a:extLst>
          </p:cNvPr>
          <p:cNvSpPr/>
          <p:nvPr/>
        </p:nvSpPr>
        <p:spPr bwMode="gray">
          <a:xfrm>
            <a:off x="560811" y="1638675"/>
            <a:ext cx="5402200" cy="4403180"/>
          </a:xfrm>
          <a:prstGeom prst="roundRect">
            <a:avLst>
              <a:gd name="adj" fmla="val 103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扩展后的</a:t>
            </a:r>
            <a:r>
              <a:rPr lang="en-US" altLang="zh-CN" sz="1400" dirty="0">
                <a:solidFill>
                  <a:prstClr val="black"/>
                </a:solidFill>
                <a:latin typeface="Huawei Sans" panose="020C0503030203020204" pitchFamily="34" charset="0"/>
                <a:ea typeface="方正兰亭黑简体" panose="02000000000000000000" pitchFamily="2" charset="-122"/>
              </a:rPr>
              <a:t>IGP</a:t>
            </a:r>
            <a:r>
              <a:rPr lang="zh-CN" altLang="en-US" sz="1400" dirty="0">
                <a:solidFill>
                  <a:prstClr val="black"/>
                </a:solidFill>
                <a:latin typeface="Huawei Sans" panose="020C0503030203020204" pitchFamily="34" charset="0"/>
                <a:ea typeface="方正兰亭黑简体" panose="02000000000000000000" pitchFamily="2" charset="-122"/>
              </a:rPr>
              <a:t>具有标签分发能力，通过</a:t>
            </a:r>
            <a:r>
              <a:rPr lang="en-US" altLang="zh-CN" sz="1400" dirty="0">
                <a:solidFill>
                  <a:prstClr val="black"/>
                </a:solidFill>
                <a:latin typeface="Huawei Sans" panose="020C0503030203020204" pitchFamily="34" charset="0"/>
                <a:ea typeface="方正兰亭黑简体" panose="02000000000000000000" pitchFamily="2" charset="-122"/>
              </a:rPr>
              <a:t>IGP</a:t>
            </a:r>
            <a:r>
              <a:rPr lang="zh-CN" altLang="en-US" sz="1400" dirty="0">
                <a:solidFill>
                  <a:prstClr val="black"/>
                </a:solidFill>
                <a:latin typeface="Huawei Sans" panose="020C0503030203020204" pitchFamily="34" charset="0"/>
                <a:ea typeface="方正兰亭黑简体" panose="02000000000000000000" pitchFamily="2" charset="-122"/>
              </a:rPr>
              <a:t>分发</a:t>
            </a:r>
            <a:r>
              <a:rPr lang="en-US" altLang="zh-CN" sz="1400" dirty="0">
                <a:solidFill>
                  <a:prstClr val="black"/>
                </a:solidFill>
                <a:latin typeface="Huawei Sans" panose="020C0503030203020204" pitchFamily="34" charset="0"/>
                <a:ea typeface="方正兰亭黑简体" panose="02000000000000000000" pitchFamily="2" charset="-122"/>
              </a:rPr>
              <a:t>SRGB</a:t>
            </a:r>
            <a:r>
              <a:rPr lang="zh-CN" altLang="en-US" sz="1400" dirty="0">
                <a:solidFill>
                  <a:prstClr val="black"/>
                </a:solidFill>
                <a:latin typeface="Huawei Sans" panose="020C0503030203020204" pitchFamily="34" charset="0"/>
                <a:ea typeface="方正兰亭黑简体" panose="02000000000000000000" pitchFamily="2" charset="-122"/>
              </a:rPr>
              <a:t>、</a:t>
            </a:r>
            <a:r>
              <a:rPr lang="en-US" altLang="zh-CN" sz="1400" dirty="0">
                <a:solidFill>
                  <a:prstClr val="black"/>
                </a:solidFill>
                <a:latin typeface="Huawei Sans" panose="020C0503030203020204" pitchFamily="34" charset="0"/>
                <a:ea typeface="方正兰亭黑简体" panose="02000000000000000000" pitchFamily="2" charset="-122"/>
              </a:rPr>
              <a:t>Prefix SID</a:t>
            </a:r>
            <a:r>
              <a:rPr lang="zh-CN" altLang="en-US" sz="1400" dirty="0">
                <a:solidFill>
                  <a:prstClr val="black"/>
                </a:solidFill>
                <a:latin typeface="Huawei Sans" panose="020C0503030203020204" pitchFamily="34" charset="0"/>
                <a:ea typeface="方正兰亭黑简体" panose="02000000000000000000" pitchFamily="2" charset="-122"/>
              </a:rPr>
              <a:t>、链路状态信息等，形成</a:t>
            </a:r>
            <a:r>
              <a:rPr lang="en-US" altLang="zh-CN" sz="1400" dirty="0">
                <a:solidFill>
                  <a:prstClr val="black"/>
                </a:solidFill>
                <a:latin typeface="Huawei Sans" panose="020C0503030203020204" pitchFamily="34" charset="0"/>
                <a:ea typeface="方正兰亭黑简体" panose="02000000000000000000" pitchFamily="2" charset="-122"/>
              </a:rPr>
              <a:t>LSDB</a:t>
            </a:r>
            <a:r>
              <a:rPr lang="zh-CN" altLang="en-US" sz="1400" dirty="0">
                <a:solidFill>
                  <a:prstClr val="black"/>
                </a:solidFill>
                <a:latin typeface="Huawei Sans" panose="020C0503030203020204" pitchFamily="34" charset="0"/>
                <a:ea typeface="方正兰亭黑简体" panose="02000000000000000000" pitchFamily="2" charset="-122"/>
              </a:rPr>
              <a:t>，使用</a:t>
            </a:r>
            <a:r>
              <a:rPr lang="en-US" altLang="zh-CN" sz="1400" dirty="0">
                <a:solidFill>
                  <a:prstClr val="black"/>
                </a:solidFill>
                <a:latin typeface="Huawei Sans" panose="020C0503030203020204" pitchFamily="34" charset="0"/>
                <a:ea typeface="方正兰亭黑简体" panose="02000000000000000000" pitchFamily="2" charset="-122"/>
              </a:rPr>
              <a:t>SPF</a:t>
            </a:r>
            <a:r>
              <a:rPr lang="zh-CN" altLang="en-US" sz="1400" dirty="0">
                <a:solidFill>
                  <a:prstClr val="black"/>
                </a:solidFill>
                <a:latin typeface="Huawei Sans" panose="020C0503030203020204" pitchFamily="34" charset="0"/>
                <a:ea typeface="方正兰亭黑简体" panose="02000000000000000000" pitchFamily="2" charset="-122"/>
              </a:rPr>
              <a:t>算法计算得出基于标签的最短转发路径，因此网络中无需</a:t>
            </a:r>
            <a:r>
              <a:rPr lang="en-US" altLang="zh-CN" sz="1400" dirty="0">
                <a:solidFill>
                  <a:prstClr val="black"/>
                </a:solidFill>
                <a:latin typeface="Huawei Sans" panose="020C0503030203020204" pitchFamily="34" charset="0"/>
                <a:ea typeface="方正兰亭黑简体" panose="02000000000000000000" pitchFamily="2" charset="-122"/>
              </a:rPr>
              <a:t>LDP</a:t>
            </a:r>
            <a:r>
              <a:rPr lang="zh-CN" altLang="en-US" sz="1400" dirty="0">
                <a:solidFill>
                  <a:prstClr val="black"/>
                </a:solidFill>
                <a:latin typeface="Huawei Sans" panose="020C0503030203020204" pitchFamily="34" charset="0"/>
                <a:ea typeface="方正兰亭黑简体" panose="02000000000000000000" pitchFamily="2" charset="-122"/>
              </a:rPr>
              <a:t>。</a:t>
            </a:r>
          </a:p>
          <a:p>
            <a:pPr marL="285750" indent="-200025">
              <a:lnSpc>
                <a:spcPts val="2400"/>
              </a:lnSpc>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只使用</a:t>
            </a:r>
            <a:r>
              <a:rPr lang="en-US" altLang="zh-CN" sz="1400" dirty="0">
                <a:solidFill>
                  <a:prstClr val="black"/>
                </a:solidFill>
                <a:latin typeface="Huawei Sans" panose="020C0503030203020204" pitchFamily="34" charset="0"/>
                <a:ea typeface="方正兰亭黑简体" panose="02000000000000000000" pitchFamily="2" charset="-122"/>
              </a:rPr>
              <a:t>IGP/BGP</a:t>
            </a:r>
            <a:r>
              <a:rPr lang="zh-CN" altLang="en-US" sz="1400" dirty="0">
                <a:solidFill>
                  <a:prstClr val="black"/>
                </a:solidFill>
                <a:latin typeface="Huawei Sans" panose="020C0503030203020204" pitchFamily="34" charset="0"/>
                <a:ea typeface="方正兰亭黑简体" panose="02000000000000000000" pitchFamily="2" charset="-122"/>
              </a:rPr>
              <a:t>协议，不存在流量黑洞问题，也不需要维持</a:t>
            </a:r>
            <a:r>
              <a:rPr lang="en-US" altLang="zh-CN" sz="1400" dirty="0">
                <a:solidFill>
                  <a:prstClr val="black"/>
                </a:solidFill>
                <a:latin typeface="Huawei Sans" panose="020C0503030203020204" pitchFamily="34" charset="0"/>
                <a:ea typeface="方正兰亭黑简体" panose="02000000000000000000" pitchFamily="2" charset="-122"/>
              </a:rPr>
              <a:t>LDP</a:t>
            </a:r>
            <a:r>
              <a:rPr lang="zh-CN" altLang="en-US" sz="1400" dirty="0">
                <a:solidFill>
                  <a:prstClr val="black"/>
                </a:solidFill>
                <a:latin typeface="Huawei Sans" panose="020C0503030203020204" pitchFamily="34" charset="0"/>
                <a:ea typeface="方正兰亭黑简体" panose="02000000000000000000" pitchFamily="2" charset="-122"/>
              </a:rPr>
              <a:t>邻居关系。</a:t>
            </a:r>
          </a:p>
        </p:txBody>
      </p:sp>
      <p:grpSp>
        <p:nvGrpSpPr>
          <p:cNvPr id="10" name="Group 9">
            <a:extLst>
              <a:ext uri="{FF2B5EF4-FFF2-40B4-BE49-F238E27FC236}">
                <a16:creationId xmlns="" xmlns:a16="http://schemas.microsoft.com/office/drawing/2014/main" id="{5C1BDC36-891B-4FF3-948A-460C21275774}"/>
              </a:ext>
            </a:extLst>
          </p:cNvPr>
          <p:cNvGrpSpPr/>
          <p:nvPr/>
        </p:nvGrpSpPr>
        <p:grpSpPr bwMode="gray">
          <a:xfrm>
            <a:off x="702351" y="1814172"/>
            <a:ext cx="4941224" cy="2528033"/>
            <a:chOff x="6369726" y="1941879"/>
            <a:chExt cx="4941224" cy="2528033"/>
          </a:xfrm>
        </p:grpSpPr>
        <p:cxnSp>
          <p:nvCxnSpPr>
            <p:cNvPr id="11" name="直接连接符 95">
              <a:extLst>
                <a:ext uri="{FF2B5EF4-FFF2-40B4-BE49-F238E27FC236}">
                  <a16:creationId xmlns="" xmlns:a16="http://schemas.microsoft.com/office/drawing/2014/main" id="{6F89CC4F-4062-4233-BCF9-FC4EE0A49E5C}"/>
                </a:ext>
              </a:extLst>
            </p:cNvPr>
            <p:cNvCxnSpPr/>
            <p:nvPr/>
          </p:nvCxnSpPr>
          <p:spPr bwMode="gray">
            <a:xfrm rot="5400000">
              <a:off x="9493605" y="2950147"/>
              <a:ext cx="662814" cy="1266975"/>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84">
              <a:extLst>
                <a:ext uri="{FF2B5EF4-FFF2-40B4-BE49-F238E27FC236}">
                  <a16:creationId xmlns="" xmlns:a16="http://schemas.microsoft.com/office/drawing/2014/main" id="{F1EC5D2C-228D-4D64-A157-70EFB30DAEA3}"/>
                </a:ext>
              </a:extLst>
            </p:cNvPr>
            <p:cNvCxnSpPr/>
            <p:nvPr/>
          </p:nvCxnSpPr>
          <p:spPr bwMode="gray">
            <a:xfrm flipV="1">
              <a:off x="7382583" y="2457249"/>
              <a:ext cx="1206469" cy="631161"/>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3" name="组合 10">
              <a:extLst>
                <a:ext uri="{FF2B5EF4-FFF2-40B4-BE49-F238E27FC236}">
                  <a16:creationId xmlns="" xmlns:a16="http://schemas.microsoft.com/office/drawing/2014/main" id="{10A88944-40C8-4CA4-8DFF-25DAA37BB1BD}"/>
                </a:ext>
              </a:extLst>
            </p:cNvPr>
            <p:cNvGrpSpPr/>
            <p:nvPr/>
          </p:nvGrpSpPr>
          <p:grpSpPr bwMode="gray">
            <a:xfrm rot="5400000">
              <a:off x="10940952" y="3054853"/>
              <a:ext cx="438911" cy="301085"/>
              <a:chOff x="674588" y="6196215"/>
              <a:chExt cx="399010" cy="226210"/>
            </a:xfrm>
          </p:grpSpPr>
          <p:cxnSp>
            <p:nvCxnSpPr>
              <p:cNvPr id="43" name="直接连接符 11">
                <a:extLst>
                  <a:ext uri="{FF2B5EF4-FFF2-40B4-BE49-F238E27FC236}">
                    <a16:creationId xmlns="" xmlns:a16="http://schemas.microsoft.com/office/drawing/2014/main" id="{E9FD9AAC-51A6-40A2-AB9A-4CE43080316B}"/>
                  </a:ext>
                </a:extLst>
              </p:cNvPr>
              <p:cNvCxnSpPr/>
              <p:nvPr/>
            </p:nvCxnSpPr>
            <p:spPr bwMode="gray">
              <a:xfrm>
                <a:off x="874093" y="6196215"/>
                <a:ext cx="0" cy="2262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12">
                <a:extLst>
                  <a:ext uri="{FF2B5EF4-FFF2-40B4-BE49-F238E27FC236}">
                    <a16:creationId xmlns="" xmlns:a16="http://schemas.microsoft.com/office/drawing/2014/main" id="{A0DA32E6-71D0-4474-9EEF-C4ADF4513FAB}"/>
                  </a:ext>
                </a:extLst>
              </p:cNvPr>
              <p:cNvCxnSpPr/>
              <p:nvPr/>
            </p:nvCxnSpPr>
            <p:spPr bwMode="gray">
              <a:xfrm>
                <a:off x="674588" y="6196215"/>
                <a:ext cx="399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 xmlns:a16="http://schemas.microsoft.com/office/drawing/2014/main" id="{652276E5-16B3-4E95-96A6-D220FD970DB4}"/>
                </a:ext>
              </a:extLst>
            </p:cNvPr>
            <p:cNvGrpSpPr/>
            <p:nvPr/>
          </p:nvGrpSpPr>
          <p:grpSpPr bwMode="gray">
            <a:xfrm rot="16200000">
              <a:off x="6922388" y="2367548"/>
              <a:ext cx="1764410" cy="1686342"/>
              <a:chOff x="6600056" y="4353447"/>
              <a:chExt cx="1296144" cy="833967"/>
            </a:xfrm>
          </p:grpSpPr>
          <p:cxnSp>
            <p:nvCxnSpPr>
              <p:cNvPr id="41" name="直接连接符 14">
                <a:extLst>
                  <a:ext uri="{FF2B5EF4-FFF2-40B4-BE49-F238E27FC236}">
                    <a16:creationId xmlns="" xmlns:a16="http://schemas.microsoft.com/office/drawing/2014/main" id="{3978AD79-1FB5-4BC1-BB3D-43D874D17AF5}"/>
                  </a:ext>
                </a:extLst>
              </p:cNvPr>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15">
                <a:extLst>
                  <a:ext uri="{FF2B5EF4-FFF2-40B4-BE49-F238E27FC236}">
                    <a16:creationId xmlns="" xmlns:a16="http://schemas.microsoft.com/office/drawing/2014/main" id="{0EE685A6-CDCC-4291-A3CB-C3875BF5E71D}"/>
                  </a:ext>
                </a:extLst>
              </p:cNvPr>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6">
              <a:extLst>
                <a:ext uri="{FF2B5EF4-FFF2-40B4-BE49-F238E27FC236}">
                  <a16:creationId xmlns="" xmlns:a16="http://schemas.microsoft.com/office/drawing/2014/main" id="{0CC09646-2750-4A5E-9DE7-831B7BCDDD30}"/>
                </a:ext>
              </a:extLst>
            </p:cNvPr>
            <p:cNvGrpSpPr/>
            <p:nvPr/>
          </p:nvGrpSpPr>
          <p:grpSpPr bwMode="gray">
            <a:xfrm rot="5400000">
              <a:off x="9079567" y="2367548"/>
              <a:ext cx="1764410" cy="1686342"/>
              <a:chOff x="6600056" y="4353447"/>
              <a:chExt cx="1296144" cy="833967"/>
            </a:xfrm>
          </p:grpSpPr>
          <p:cxnSp>
            <p:nvCxnSpPr>
              <p:cNvPr id="39" name="直接连接符 17">
                <a:extLst>
                  <a:ext uri="{FF2B5EF4-FFF2-40B4-BE49-F238E27FC236}">
                    <a16:creationId xmlns="" xmlns:a16="http://schemas.microsoft.com/office/drawing/2014/main" id="{F6C90113-ABA0-48D0-9895-BA80A6519DFC}"/>
                  </a:ext>
                </a:extLst>
              </p:cNvPr>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18">
                <a:extLst>
                  <a:ext uri="{FF2B5EF4-FFF2-40B4-BE49-F238E27FC236}">
                    <a16:creationId xmlns="" xmlns:a16="http://schemas.microsoft.com/office/drawing/2014/main" id="{F42D506C-E4D5-4E5F-8152-BCCEDC265163}"/>
                  </a:ext>
                </a:extLst>
              </p:cNvPr>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6" name="图片 23">
              <a:extLst>
                <a:ext uri="{FF2B5EF4-FFF2-40B4-BE49-F238E27FC236}">
                  <a16:creationId xmlns="" xmlns:a16="http://schemas.microsoft.com/office/drawing/2014/main" id="{09FE14B2-C577-4795-BA6A-1EAD2BD68690}"/>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762886" y="2983996"/>
              <a:ext cx="540000" cy="442800"/>
            </a:xfrm>
            <a:prstGeom prst="rect">
              <a:avLst/>
            </a:prstGeom>
          </p:spPr>
        </p:pic>
        <p:grpSp>
          <p:nvGrpSpPr>
            <p:cNvPr id="17" name="组合 24">
              <a:extLst>
                <a:ext uri="{FF2B5EF4-FFF2-40B4-BE49-F238E27FC236}">
                  <a16:creationId xmlns="" xmlns:a16="http://schemas.microsoft.com/office/drawing/2014/main" id="{CA4311DA-08FA-428F-87A5-CD4C080B8FDD}"/>
                </a:ext>
              </a:extLst>
            </p:cNvPr>
            <p:cNvGrpSpPr/>
            <p:nvPr/>
          </p:nvGrpSpPr>
          <p:grpSpPr bwMode="gray">
            <a:xfrm>
              <a:off x="8635094" y="2083896"/>
              <a:ext cx="540000" cy="2243000"/>
              <a:chOff x="3071664" y="2780928"/>
              <a:chExt cx="540000" cy="2243000"/>
            </a:xfrm>
          </p:grpSpPr>
          <p:pic>
            <p:nvPicPr>
              <p:cNvPr id="37" name="图片 25">
                <a:extLst>
                  <a:ext uri="{FF2B5EF4-FFF2-40B4-BE49-F238E27FC236}">
                    <a16:creationId xmlns="" xmlns:a16="http://schemas.microsoft.com/office/drawing/2014/main" id="{DE583E40-18D5-465A-A97F-C8DD7CAEF22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2780928"/>
                <a:ext cx="540000" cy="442800"/>
              </a:xfrm>
              <a:prstGeom prst="rect">
                <a:avLst/>
              </a:prstGeom>
            </p:spPr>
          </p:pic>
          <p:pic>
            <p:nvPicPr>
              <p:cNvPr id="38" name="图片 26">
                <a:extLst>
                  <a:ext uri="{FF2B5EF4-FFF2-40B4-BE49-F238E27FC236}">
                    <a16:creationId xmlns="" xmlns:a16="http://schemas.microsoft.com/office/drawing/2014/main" id="{A7D5A117-9988-4BA0-A5C3-4254C6261CC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4581128"/>
                <a:ext cx="540000" cy="442800"/>
              </a:xfrm>
              <a:prstGeom prst="rect">
                <a:avLst/>
              </a:prstGeom>
            </p:spPr>
          </p:pic>
        </p:grpSp>
        <p:pic>
          <p:nvPicPr>
            <p:cNvPr id="18" name="图片 27">
              <a:extLst>
                <a:ext uri="{FF2B5EF4-FFF2-40B4-BE49-F238E27FC236}">
                  <a16:creationId xmlns="" xmlns:a16="http://schemas.microsoft.com/office/drawing/2014/main" id="{3206ADF9-33EA-4DE7-96D2-21E32B1687C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507302" y="2983996"/>
              <a:ext cx="540000" cy="442800"/>
            </a:xfrm>
            <a:prstGeom prst="rect">
              <a:avLst/>
            </a:prstGeom>
          </p:spPr>
        </p:pic>
        <p:sp>
          <p:nvSpPr>
            <p:cNvPr id="19" name="文本框 28">
              <a:extLst>
                <a:ext uri="{FF2B5EF4-FFF2-40B4-BE49-F238E27FC236}">
                  <a16:creationId xmlns="" xmlns:a16="http://schemas.microsoft.com/office/drawing/2014/main" id="{D2FF18A0-720A-4E9E-AF93-D575E2AACEBA}"/>
                </a:ext>
              </a:extLst>
            </p:cNvPr>
            <p:cNvSpPr txBox="1"/>
            <p:nvPr/>
          </p:nvSpPr>
          <p:spPr bwMode="gray">
            <a:xfrm>
              <a:off x="6369726" y="3051507"/>
              <a:ext cx="413896" cy="307777"/>
            </a:xfrm>
            <a:prstGeom prst="rect">
              <a:avLst/>
            </a:prstGeom>
            <a:noFill/>
          </p:spPr>
          <p:txBody>
            <a:bodyPr wrap="none" rtlCol="0">
              <a:spAutoFit/>
            </a:bodyPr>
            <a:lstStyle/>
            <a:p>
              <a:r>
                <a:rPr lang="en-US" altLang="zh-CN" sz="1400" b="1" dirty="0"/>
                <a:t>R1</a:t>
              </a:r>
              <a:endParaRPr lang="zh-CN" altLang="en-US" sz="1400" b="1"/>
            </a:p>
          </p:txBody>
        </p:sp>
        <p:sp>
          <p:nvSpPr>
            <p:cNvPr id="20" name="文本框 29">
              <a:extLst>
                <a:ext uri="{FF2B5EF4-FFF2-40B4-BE49-F238E27FC236}">
                  <a16:creationId xmlns="" xmlns:a16="http://schemas.microsoft.com/office/drawing/2014/main" id="{A7047B6B-369F-4931-9F48-5528D3FD4FAD}"/>
                </a:ext>
              </a:extLst>
            </p:cNvPr>
            <p:cNvSpPr txBox="1"/>
            <p:nvPr/>
          </p:nvSpPr>
          <p:spPr bwMode="gray">
            <a:xfrm>
              <a:off x="8698146" y="2537343"/>
              <a:ext cx="413896" cy="307777"/>
            </a:xfrm>
            <a:prstGeom prst="rect">
              <a:avLst/>
            </a:prstGeom>
            <a:noFill/>
          </p:spPr>
          <p:txBody>
            <a:bodyPr wrap="none" rtlCol="0">
              <a:spAutoFit/>
            </a:bodyPr>
            <a:lstStyle/>
            <a:p>
              <a:r>
                <a:rPr lang="en-US" altLang="zh-CN" sz="1400" b="1" dirty="0"/>
                <a:t>R2</a:t>
              </a:r>
              <a:endParaRPr lang="zh-CN" altLang="en-US" sz="1400" b="1"/>
            </a:p>
          </p:txBody>
        </p:sp>
        <p:sp>
          <p:nvSpPr>
            <p:cNvPr id="21" name="文本框 30">
              <a:extLst>
                <a:ext uri="{FF2B5EF4-FFF2-40B4-BE49-F238E27FC236}">
                  <a16:creationId xmlns="" xmlns:a16="http://schemas.microsoft.com/office/drawing/2014/main" id="{4A6A2582-D283-48D0-9672-60627F5D38BA}"/>
                </a:ext>
              </a:extLst>
            </p:cNvPr>
            <p:cNvSpPr txBox="1"/>
            <p:nvPr/>
          </p:nvSpPr>
          <p:spPr bwMode="gray">
            <a:xfrm>
              <a:off x="8698146" y="3544905"/>
              <a:ext cx="413896" cy="307777"/>
            </a:xfrm>
            <a:prstGeom prst="rect">
              <a:avLst/>
            </a:prstGeom>
            <a:noFill/>
          </p:spPr>
          <p:txBody>
            <a:bodyPr wrap="none" rtlCol="0">
              <a:spAutoFit/>
            </a:bodyPr>
            <a:lstStyle/>
            <a:p>
              <a:r>
                <a:rPr lang="en-US" altLang="zh-CN" sz="1400" b="1" dirty="0"/>
                <a:t>R4</a:t>
              </a:r>
              <a:endParaRPr lang="zh-CN" altLang="en-US" sz="1400" b="1"/>
            </a:p>
          </p:txBody>
        </p:sp>
        <p:sp>
          <p:nvSpPr>
            <p:cNvPr id="22" name="文本框 31">
              <a:extLst>
                <a:ext uri="{FF2B5EF4-FFF2-40B4-BE49-F238E27FC236}">
                  <a16:creationId xmlns="" xmlns:a16="http://schemas.microsoft.com/office/drawing/2014/main" id="{4FDEDC1A-C77E-42EB-B37E-27784210AF98}"/>
                </a:ext>
              </a:extLst>
            </p:cNvPr>
            <p:cNvSpPr txBox="1"/>
            <p:nvPr/>
          </p:nvSpPr>
          <p:spPr bwMode="gray">
            <a:xfrm>
              <a:off x="10568946" y="3426796"/>
              <a:ext cx="413896" cy="307777"/>
            </a:xfrm>
            <a:prstGeom prst="rect">
              <a:avLst/>
            </a:prstGeom>
            <a:noFill/>
          </p:spPr>
          <p:txBody>
            <a:bodyPr wrap="none" rtlCol="0">
              <a:spAutoFit/>
            </a:bodyPr>
            <a:lstStyle/>
            <a:p>
              <a:r>
                <a:rPr lang="en-US" altLang="zh-CN" sz="1400" b="1" dirty="0"/>
                <a:t>R3</a:t>
              </a:r>
              <a:endParaRPr lang="zh-CN" altLang="en-US" sz="1400" b="1"/>
            </a:p>
          </p:txBody>
        </p:sp>
        <p:sp>
          <p:nvSpPr>
            <p:cNvPr id="23" name="文本框 35">
              <a:extLst>
                <a:ext uri="{FF2B5EF4-FFF2-40B4-BE49-F238E27FC236}">
                  <a16:creationId xmlns="" xmlns:a16="http://schemas.microsoft.com/office/drawing/2014/main" id="{A65F4A21-DB70-41E4-B445-51079987EBA8}"/>
                </a:ext>
              </a:extLst>
            </p:cNvPr>
            <p:cNvSpPr txBox="1"/>
            <p:nvPr/>
          </p:nvSpPr>
          <p:spPr bwMode="gray">
            <a:xfrm rot="19912812">
              <a:off x="7721893" y="2744958"/>
              <a:ext cx="537807" cy="161866"/>
            </a:xfrm>
            <a:prstGeom prst="rect">
              <a:avLst/>
            </a:prstGeom>
            <a:solidFill>
              <a:schemeClr val="bg1"/>
            </a:solidFill>
            <a:ln>
              <a:noFill/>
            </a:ln>
          </p:spPr>
          <p:txBody>
            <a:bodyPr wrap="none" lIns="0" tIns="0" rIns="0" bIns="0" rtlCol="0" anchor="ctr" anchorCtr="0">
              <a:noAutofit/>
            </a:bodyPr>
            <a:lstStyle/>
            <a:p>
              <a:pPr algn="ctr"/>
              <a:r>
                <a:rPr lang="zh-CN" altLang="en-US" sz="1400" dirty="0">
                  <a:solidFill>
                    <a:srgbClr val="8BC9A0"/>
                  </a:solidFill>
                </a:rPr>
                <a:t>扩展</a:t>
              </a:r>
              <a:r>
                <a:rPr lang="en-US" altLang="zh-CN" sz="1400" dirty="0">
                  <a:solidFill>
                    <a:srgbClr val="8BC9A0"/>
                  </a:solidFill>
                </a:rPr>
                <a:t>IGP</a:t>
              </a:r>
              <a:endParaRPr lang="zh-CN" altLang="en-US" sz="1400" dirty="0">
                <a:solidFill>
                  <a:srgbClr val="8BC9A0"/>
                </a:solidFill>
              </a:endParaRPr>
            </a:p>
          </p:txBody>
        </p:sp>
        <p:cxnSp>
          <p:nvCxnSpPr>
            <p:cNvPr id="24" name="直接连接符 87">
              <a:extLst>
                <a:ext uri="{FF2B5EF4-FFF2-40B4-BE49-F238E27FC236}">
                  <a16:creationId xmlns="" xmlns:a16="http://schemas.microsoft.com/office/drawing/2014/main" id="{BAAA8850-8013-48B1-9616-B52CFC9E45D4}"/>
                </a:ext>
              </a:extLst>
            </p:cNvPr>
            <p:cNvCxnSpPr/>
            <p:nvPr/>
          </p:nvCxnSpPr>
          <p:spPr bwMode="gray">
            <a:xfrm>
              <a:off x="7325242" y="3276312"/>
              <a:ext cx="1288621" cy="674138"/>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文本框 88">
              <a:extLst>
                <a:ext uri="{FF2B5EF4-FFF2-40B4-BE49-F238E27FC236}">
                  <a16:creationId xmlns="" xmlns:a16="http://schemas.microsoft.com/office/drawing/2014/main" id="{E7CADED4-3EBB-4022-B5AC-4D188214665A}"/>
                </a:ext>
              </a:extLst>
            </p:cNvPr>
            <p:cNvSpPr txBox="1"/>
            <p:nvPr/>
          </p:nvSpPr>
          <p:spPr bwMode="gray">
            <a:xfrm rot="1679142">
              <a:off x="7702579" y="3545450"/>
              <a:ext cx="537807" cy="161866"/>
            </a:xfrm>
            <a:prstGeom prst="rect">
              <a:avLst/>
            </a:prstGeom>
            <a:solidFill>
              <a:schemeClr val="bg1"/>
            </a:solidFill>
            <a:ln>
              <a:noFill/>
            </a:ln>
          </p:spPr>
          <p:txBody>
            <a:bodyPr wrap="none" lIns="0" tIns="0" rIns="0" bIns="0" rtlCol="0" anchor="ctr" anchorCtr="0">
              <a:noAutofit/>
            </a:bodyPr>
            <a:lstStyle/>
            <a:p>
              <a:pPr algn="ctr"/>
              <a:r>
                <a:rPr lang="zh-CN" altLang="en-US" sz="1400" dirty="0">
                  <a:solidFill>
                    <a:srgbClr val="8BC9A0"/>
                  </a:solidFill>
                </a:rPr>
                <a:t>扩展</a:t>
              </a:r>
              <a:r>
                <a:rPr lang="en-US" altLang="zh-CN" sz="1400" dirty="0">
                  <a:solidFill>
                    <a:srgbClr val="8BC9A0"/>
                  </a:solidFill>
                </a:rPr>
                <a:t>IGP</a:t>
              </a:r>
              <a:endParaRPr lang="zh-CN" altLang="en-US" sz="1400" dirty="0">
                <a:solidFill>
                  <a:srgbClr val="8BC9A0"/>
                </a:solidFill>
              </a:endParaRPr>
            </a:p>
          </p:txBody>
        </p:sp>
        <p:sp>
          <p:nvSpPr>
            <p:cNvPr id="26" name="文本框 96">
              <a:extLst>
                <a:ext uri="{FF2B5EF4-FFF2-40B4-BE49-F238E27FC236}">
                  <a16:creationId xmlns="" xmlns:a16="http://schemas.microsoft.com/office/drawing/2014/main" id="{88D7B869-F379-4A90-81C3-548F1CE0703A}"/>
                </a:ext>
              </a:extLst>
            </p:cNvPr>
            <p:cNvSpPr txBox="1"/>
            <p:nvPr/>
          </p:nvSpPr>
          <p:spPr bwMode="gray">
            <a:xfrm rot="19882353">
              <a:off x="9563402" y="3492046"/>
              <a:ext cx="537807" cy="161866"/>
            </a:xfrm>
            <a:prstGeom prst="rect">
              <a:avLst/>
            </a:prstGeom>
            <a:solidFill>
              <a:schemeClr val="bg1"/>
            </a:solidFill>
            <a:ln>
              <a:noFill/>
            </a:ln>
          </p:spPr>
          <p:txBody>
            <a:bodyPr wrap="none" lIns="0" tIns="0" rIns="0" bIns="0" rtlCol="0" anchor="ctr" anchorCtr="0">
              <a:noAutofit/>
            </a:bodyPr>
            <a:lstStyle>
              <a:defPPr>
                <a:defRPr lang="zh-CN"/>
              </a:defPPr>
              <a:lvl1pPr algn="ctr">
                <a:defRPr sz="1400">
                  <a:solidFill>
                    <a:srgbClr val="C00000"/>
                  </a:solidFill>
                </a:defRPr>
              </a:lvl1pPr>
            </a:lstStyle>
            <a:p>
              <a:r>
                <a:rPr lang="zh-CN" altLang="en-US" dirty="0">
                  <a:solidFill>
                    <a:srgbClr val="8BC9A0"/>
                  </a:solidFill>
                </a:rPr>
                <a:t>扩展</a:t>
              </a:r>
              <a:r>
                <a:rPr lang="en-US" altLang="zh-CN" dirty="0">
                  <a:solidFill>
                    <a:srgbClr val="8BC9A0"/>
                  </a:solidFill>
                </a:rPr>
                <a:t>IGP</a:t>
              </a:r>
              <a:endParaRPr lang="zh-CN" altLang="en-US" dirty="0">
                <a:solidFill>
                  <a:srgbClr val="8BC9A0"/>
                </a:solidFill>
              </a:endParaRPr>
            </a:p>
          </p:txBody>
        </p:sp>
        <p:cxnSp>
          <p:nvCxnSpPr>
            <p:cNvPr id="27" name="直接连接符 97">
              <a:extLst>
                <a:ext uri="{FF2B5EF4-FFF2-40B4-BE49-F238E27FC236}">
                  <a16:creationId xmlns="" xmlns:a16="http://schemas.microsoft.com/office/drawing/2014/main" id="{6459A30F-8774-4A00-9B2D-78DD723633E3}"/>
                </a:ext>
              </a:extLst>
            </p:cNvPr>
            <p:cNvCxnSpPr/>
            <p:nvPr/>
          </p:nvCxnSpPr>
          <p:spPr bwMode="gray">
            <a:xfrm>
              <a:off x="9231032" y="2516749"/>
              <a:ext cx="1163839" cy="608859"/>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文本框 98">
              <a:extLst>
                <a:ext uri="{FF2B5EF4-FFF2-40B4-BE49-F238E27FC236}">
                  <a16:creationId xmlns="" xmlns:a16="http://schemas.microsoft.com/office/drawing/2014/main" id="{02F65033-6DFD-4C5C-8904-307B7FD3B58E}"/>
                </a:ext>
              </a:extLst>
            </p:cNvPr>
            <p:cNvSpPr txBox="1"/>
            <p:nvPr/>
          </p:nvSpPr>
          <p:spPr bwMode="gray">
            <a:xfrm rot="1670758">
              <a:off x="9564163" y="2745912"/>
              <a:ext cx="537807" cy="161866"/>
            </a:xfrm>
            <a:prstGeom prst="rect">
              <a:avLst/>
            </a:prstGeom>
            <a:solidFill>
              <a:schemeClr val="bg1"/>
            </a:solidFill>
            <a:ln>
              <a:noFill/>
            </a:ln>
          </p:spPr>
          <p:txBody>
            <a:bodyPr wrap="none" lIns="0" tIns="0" rIns="0" bIns="0" rtlCol="0" anchor="ctr" anchorCtr="0">
              <a:noAutofit/>
            </a:bodyPr>
            <a:lstStyle/>
            <a:p>
              <a:pPr algn="ctr"/>
              <a:r>
                <a:rPr lang="zh-CN" altLang="en-US" sz="1400" dirty="0">
                  <a:solidFill>
                    <a:srgbClr val="8BC9A0"/>
                  </a:solidFill>
                </a:rPr>
                <a:t>扩展</a:t>
              </a:r>
              <a:r>
                <a:rPr lang="en-US" altLang="zh-CN" sz="1400" dirty="0">
                  <a:solidFill>
                    <a:srgbClr val="8BC9A0"/>
                  </a:solidFill>
                </a:rPr>
                <a:t>IGP</a:t>
              </a:r>
              <a:endParaRPr lang="zh-CN" altLang="en-US" sz="1400" dirty="0">
                <a:solidFill>
                  <a:srgbClr val="8BC9A0"/>
                </a:solidFill>
              </a:endParaRPr>
            </a:p>
          </p:txBody>
        </p:sp>
        <p:pic>
          <p:nvPicPr>
            <p:cNvPr id="29" name="图片 44" descr="数据库.png">
              <a:extLst>
                <a:ext uri="{FF2B5EF4-FFF2-40B4-BE49-F238E27FC236}">
                  <a16:creationId xmlns="" xmlns:a16="http://schemas.microsoft.com/office/drawing/2014/main" id="{39B8A976-1160-43A7-AD99-91FD87CB6E00}"/>
                </a:ext>
              </a:extLst>
            </p:cNvPr>
            <p:cNvPicPr>
              <a:picLocks noChangeAspect="1"/>
            </p:cNvPicPr>
            <p:nvPr/>
          </p:nvPicPr>
          <p:blipFill>
            <a:blip r:embed="rId4" cstate="print"/>
            <a:stretch>
              <a:fillRect/>
            </a:stretch>
          </p:blipFill>
          <p:spPr bwMode="gray">
            <a:xfrm>
              <a:off x="8932010" y="1941879"/>
              <a:ext cx="373179" cy="305328"/>
            </a:xfrm>
            <a:prstGeom prst="rect">
              <a:avLst/>
            </a:prstGeom>
          </p:spPr>
        </p:pic>
        <p:pic>
          <p:nvPicPr>
            <p:cNvPr id="30" name="图片 44" descr="数据库.png">
              <a:extLst>
                <a:ext uri="{FF2B5EF4-FFF2-40B4-BE49-F238E27FC236}">
                  <a16:creationId xmlns="" xmlns:a16="http://schemas.microsoft.com/office/drawing/2014/main" id="{E287C3D8-EA9D-4086-A108-24B2D70865E3}"/>
                </a:ext>
              </a:extLst>
            </p:cNvPr>
            <p:cNvPicPr>
              <a:picLocks noChangeAspect="1"/>
            </p:cNvPicPr>
            <p:nvPr/>
          </p:nvPicPr>
          <p:blipFill>
            <a:blip r:embed="rId4" cstate="print"/>
            <a:stretch>
              <a:fillRect/>
            </a:stretch>
          </p:blipFill>
          <p:spPr bwMode="gray">
            <a:xfrm>
              <a:off x="6640279" y="3266795"/>
              <a:ext cx="373179" cy="305328"/>
            </a:xfrm>
            <a:prstGeom prst="rect">
              <a:avLst/>
            </a:prstGeom>
          </p:spPr>
        </p:pic>
        <p:pic>
          <p:nvPicPr>
            <p:cNvPr id="31" name="图片 44" descr="数据库.png">
              <a:extLst>
                <a:ext uri="{FF2B5EF4-FFF2-40B4-BE49-F238E27FC236}">
                  <a16:creationId xmlns="" xmlns:a16="http://schemas.microsoft.com/office/drawing/2014/main" id="{9C119CAC-4A4B-4EEF-BB56-ADCDB6FA7489}"/>
                </a:ext>
              </a:extLst>
            </p:cNvPr>
            <p:cNvPicPr>
              <a:picLocks noChangeAspect="1"/>
            </p:cNvPicPr>
            <p:nvPr/>
          </p:nvPicPr>
          <p:blipFill>
            <a:blip r:embed="rId4" cstate="print"/>
            <a:stretch>
              <a:fillRect/>
            </a:stretch>
          </p:blipFill>
          <p:spPr bwMode="gray">
            <a:xfrm>
              <a:off x="8988504" y="4164584"/>
              <a:ext cx="373179" cy="305328"/>
            </a:xfrm>
            <a:prstGeom prst="rect">
              <a:avLst/>
            </a:prstGeom>
          </p:spPr>
        </p:pic>
        <p:pic>
          <p:nvPicPr>
            <p:cNvPr id="32" name="图片 44" descr="数据库.png">
              <a:extLst>
                <a:ext uri="{FF2B5EF4-FFF2-40B4-BE49-F238E27FC236}">
                  <a16:creationId xmlns="" xmlns:a16="http://schemas.microsoft.com/office/drawing/2014/main" id="{22F228D8-0A9F-4AB4-BBCD-D90440DAF9D9}"/>
                </a:ext>
              </a:extLst>
            </p:cNvPr>
            <p:cNvPicPr>
              <a:picLocks noChangeAspect="1"/>
            </p:cNvPicPr>
            <p:nvPr/>
          </p:nvPicPr>
          <p:blipFill>
            <a:blip r:embed="rId4" cstate="print"/>
            <a:stretch>
              <a:fillRect/>
            </a:stretch>
          </p:blipFill>
          <p:spPr bwMode="gray">
            <a:xfrm>
              <a:off x="10745737" y="2836655"/>
              <a:ext cx="373179" cy="305328"/>
            </a:xfrm>
            <a:prstGeom prst="rect">
              <a:avLst/>
            </a:prstGeom>
          </p:spPr>
        </p:pic>
        <p:sp>
          <p:nvSpPr>
            <p:cNvPr id="33" name="文本框 98">
              <a:extLst>
                <a:ext uri="{FF2B5EF4-FFF2-40B4-BE49-F238E27FC236}">
                  <a16:creationId xmlns="" xmlns:a16="http://schemas.microsoft.com/office/drawing/2014/main" id="{EDD085F5-FF5C-4AD3-B1E5-154428D644C2}"/>
                </a:ext>
              </a:extLst>
            </p:cNvPr>
            <p:cNvSpPr txBox="1"/>
            <p:nvPr/>
          </p:nvSpPr>
          <p:spPr bwMode="gray">
            <a:xfrm>
              <a:off x="9346271" y="2033680"/>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34" name="文本框 98">
              <a:extLst>
                <a:ext uri="{FF2B5EF4-FFF2-40B4-BE49-F238E27FC236}">
                  <a16:creationId xmlns="" xmlns:a16="http://schemas.microsoft.com/office/drawing/2014/main" id="{18A53281-E375-4E60-B98E-39B7329396EB}"/>
                </a:ext>
              </a:extLst>
            </p:cNvPr>
            <p:cNvSpPr txBox="1"/>
            <p:nvPr/>
          </p:nvSpPr>
          <p:spPr bwMode="gray">
            <a:xfrm>
              <a:off x="10675557" y="2667527"/>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35" name="文本框 98">
              <a:extLst>
                <a:ext uri="{FF2B5EF4-FFF2-40B4-BE49-F238E27FC236}">
                  <a16:creationId xmlns="" xmlns:a16="http://schemas.microsoft.com/office/drawing/2014/main" id="{A8E20016-283B-4850-AA02-834B025D3E5F}"/>
                </a:ext>
              </a:extLst>
            </p:cNvPr>
            <p:cNvSpPr txBox="1"/>
            <p:nvPr/>
          </p:nvSpPr>
          <p:spPr bwMode="gray">
            <a:xfrm>
              <a:off x="6557272" y="3599151"/>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36" name="文本框 98">
              <a:extLst>
                <a:ext uri="{FF2B5EF4-FFF2-40B4-BE49-F238E27FC236}">
                  <a16:creationId xmlns="" xmlns:a16="http://schemas.microsoft.com/office/drawing/2014/main" id="{8B4E993C-3615-415C-A23E-D05C47A64AF0}"/>
                </a:ext>
              </a:extLst>
            </p:cNvPr>
            <p:cNvSpPr txBox="1"/>
            <p:nvPr/>
          </p:nvSpPr>
          <p:spPr bwMode="gray">
            <a:xfrm>
              <a:off x="9361683" y="4236315"/>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grpSp>
      <p:sp>
        <p:nvSpPr>
          <p:cNvPr id="45" name="Rectangle 44">
            <a:extLst>
              <a:ext uri="{FF2B5EF4-FFF2-40B4-BE49-F238E27FC236}">
                <a16:creationId xmlns="" xmlns:a16="http://schemas.microsoft.com/office/drawing/2014/main" id="{C02BC657-8C87-418D-971B-2097104C60BF}"/>
              </a:ext>
            </a:extLst>
          </p:cNvPr>
          <p:cNvSpPr/>
          <p:nvPr/>
        </p:nvSpPr>
        <p:spPr bwMode="gray">
          <a:xfrm>
            <a:off x="594188" y="1633125"/>
            <a:ext cx="1785790" cy="597759"/>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kumimoji="0" lang="zh-CN" altLang="en-US" sz="1400" b="1" i="0" u="none" strike="noStrike" cap="none" normalizeH="0" dirty="0">
                <a:ln>
                  <a:noFill/>
                </a:ln>
                <a:solidFill>
                  <a:srgbClr val="C7000B"/>
                </a:solidFill>
                <a:effectLst/>
                <a:latin typeface="+mn-lt"/>
                <a:ea typeface="微软雅黑" panose="020B0503020204020204" pitchFamily="34" charset="-122"/>
              </a:rPr>
              <a:t>使用</a:t>
            </a:r>
            <a:r>
              <a:rPr kumimoji="0" lang="en-US" altLang="zh-CN" sz="1400" b="1" i="0" u="none" strike="noStrike" cap="none" normalizeH="0" dirty="0">
                <a:ln>
                  <a:noFill/>
                </a:ln>
                <a:solidFill>
                  <a:srgbClr val="C7000B"/>
                </a:solidFill>
                <a:effectLst/>
                <a:latin typeface="+mn-lt"/>
                <a:ea typeface="微软雅黑" panose="020B0503020204020204" pitchFamily="34" charset="-122"/>
              </a:rPr>
              <a:t>IGP</a:t>
            </a:r>
            <a:r>
              <a:rPr kumimoji="0" lang="zh-CN" altLang="en-US" sz="1400" b="1" i="0" u="none" strike="noStrike" cap="none" normalizeH="0" dirty="0">
                <a:ln>
                  <a:noFill/>
                </a:ln>
                <a:solidFill>
                  <a:srgbClr val="C7000B"/>
                </a:solidFill>
                <a:effectLst/>
                <a:latin typeface="+mn-lt"/>
                <a:ea typeface="微软雅黑" panose="020B0503020204020204" pitchFamily="34" charset="-122"/>
              </a:rPr>
              <a:t>分发标签，无需使用</a:t>
            </a:r>
            <a:r>
              <a:rPr kumimoji="0" lang="en-US" altLang="zh-CN" sz="1400" b="1" i="0" u="none" strike="noStrike" cap="none" normalizeH="0" dirty="0">
                <a:ln>
                  <a:noFill/>
                </a:ln>
                <a:solidFill>
                  <a:srgbClr val="C7000B"/>
                </a:solidFill>
                <a:effectLst/>
                <a:latin typeface="+mn-lt"/>
                <a:ea typeface="微软雅黑" panose="020B0503020204020204" pitchFamily="34" charset="-122"/>
              </a:rPr>
              <a:t>LDP</a:t>
            </a:r>
            <a:r>
              <a:rPr kumimoji="0" lang="zh-CN" altLang="en-US" sz="1400" b="1" i="0" u="none" strike="noStrike" cap="none" normalizeH="0" dirty="0">
                <a:ln>
                  <a:noFill/>
                </a:ln>
                <a:solidFill>
                  <a:srgbClr val="C7000B"/>
                </a:solidFill>
                <a:effectLst/>
                <a:latin typeface="+mn-lt"/>
                <a:ea typeface="微软雅黑" panose="020B0503020204020204" pitchFamily="34" charset="-122"/>
              </a:rPr>
              <a:t>。</a:t>
            </a:r>
          </a:p>
        </p:txBody>
      </p:sp>
      <p:sp>
        <p:nvSpPr>
          <p:cNvPr id="46" name="圆角矩形 19">
            <a:extLst>
              <a:ext uri="{FF2B5EF4-FFF2-40B4-BE49-F238E27FC236}">
                <a16:creationId xmlns="" xmlns:a16="http://schemas.microsoft.com/office/drawing/2014/main" id="{BD2B076C-26B3-4B6B-A72A-DF5B122C0CFF}"/>
              </a:ext>
            </a:extLst>
          </p:cNvPr>
          <p:cNvSpPr/>
          <p:nvPr/>
        </p:nvSpPr>
        <p:spPr bwMode="gray">
          <a:xfrm>
            <a:off x="6228186" y="1179592"/>
            <a:ext cx="5402200" cy="400674"/>
          </a:xfrm>
          <a:prstGeom prst="roundRect">
            <a:avLst>
              <a:gd name="adj" fmla="val 8347"/>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SR-MPLS Policy</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47" name="圆角矩形 20">
            <a:extLst>
              <a:ext uri="{FF2B5EF4-FFF2-40B4-BE49-F238E27FC236}">
                <a16:creationId xmlns="" xmlns:a16="http://schemas.microsoft.com/office/drawing/2014/main" id="{69871D36-1B51-446C-B8EE-3676F157857C}"/>
              </a:ext>
            </a:extLst>
          </p:cNvPr>
          <p:cNvSpPr/>
          <p:nvPr/>
        </p:nvSpPr>
        <p:spPr bwMode="gray">
          <a:xfrm>
            <a:off x="6228186" y="1628622"/>
            <a:ext cx="5402200" cy="4417379"/>
          </a:xfrm>
          <a:prstGeom prst="roundRect">
            <a:avLst>
              <a:gd name="adj" fmla="val 1085"/>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r>
              <a:rPr lang="zh-CN" altLang="en-US" sz="1400" dirty="0">
                <a:solidFill>
                  <a:schemeClr val="tx1"/>
                </a:solidFill>
              </a:rPr>
              <a:t>通过扩展后的</a:t>
            </a:r>
            <a:r>
              <a:rPr lang="en-US" altLang="zh-CN" sz="1400" dirty="0">
                <a:solidFill>
                  <a:schemeClr val="tx1"/>
                </a:solidFill>
              </a:rPr>
              <a:t>BGP/IGP</a:t>
            </a:r>
            <a:r>
              <a:rPr lang="zh-CN" altLang="en-US" sz="1400" dirty="0">
                <a:solidFill>
                  <a:schemeClr val="tx1"/>
                </a:solidFill>
              </a:rPr>
              <a:t>将带有标签信息的</a:t>
            </a:r>
            <a:r>
              <a:rPr lang="en-US" altLang="zh-CN" sz="1400" dirty="0">
                <a:solidFill>
                  <a:schemeClr val="tx1"/>
                </a:solidFill>
              </a:rPr>
              <a:t>LSDB</a:t>
            </a:r>
            <a:r>
              <a:rPr lang="zh-CN" altLang="en-US" sz="1400" dirty="0">
                <a:solidFill>
                  <a:schemeClr val="tx1"/>
                </a:solidFill>
              </a:rPr>
              <a:t>发送给控制器，基于控制器全局算路，无需</a:t>
            </a:r>
            <a:r>
              <a:rPr lang="en-US" altLang="zh-CN" sz="1400" dirty="0">
                <a:solidFill>
                  <a:schemeClr val="tx1"/>
                </a:solidFill>
              </a:rPr>
              <a:t>RSVP-TE</a:t>
            </a:r>
            <a:r>
              <a:rPr lang="zh-CN" altLang="en-US" sz="1400" dirty="0">
                <a:solidFill>
                  <a:schemeClr val="tx1"/>
                </a:solidFill>
              </a:rPr>
              <a:t>使用报文申请路径或者维持路径状态。</a:t>
            </a:r>
          </a:p>
          <a:p>
            <a:pPr marL="285750" indent="-200025">
              <a:lnSpc>
                <a:spcPts val="2400"/>
              </a:lnSpc>
              <a:spcAft>
                <a:spcPts val="600"/>
              </a:spcAft>
              <a:buFont typeface="Arial" panose="020B0604020202020204" pitchFamily="34" charset="0"/>
              <a:buChar char="•"/>
            </a:pPr>
            <a:r>
              <a:rPr lang="zh-CN" altLang="en-US" sz="1400" dirty="0">
                <a:solidFill>
                  <a:schemeClr val="tx1"/>
                </a:solidFill>
              </a:rPr>
              <a:t>通过</a:t>
            </a:r>
            <a:r>
              <a:rPr lang="en-US" altLang="zh-CN" sz="1400" dirty="0">
                <a:solidFill>
                  <a:schemeClr val="tx1"/>
                </a:solidFill>
              </a:rPr>
              <a:t>Node SID</a:t>
            </a:r>
            <a:r>
              <a:rPr lang="zh-CN" altLang="en-US" sz="1400" dirty="0">
                <a:solidFill>
                  <a:schemeClr val="tx1"/>
                </a:solidFill>
              </a:rPr>
              <a:t>和</a:t>
            </a:r>
            <a:r>
              <a:rPr lang="en-US" altLang="zh-CN" sz="1400" dirty="0">
                <a:solidFill>
                  <a:schemeClr val="tx1"/>
                </a:solidFill>
              </a:rPr>
              <a:t>Adjacency SID</a:t>
            </a:r>
            <a:r>
              <a:rPr lang="zh-CN" altLang="en-US" sz="1400" dirty="0">
                <a:solidFill>
                  <a:schemeClr val="tx1"/>
                </a:solidFill>
              </a:rPr>
              <a:t>实现负载分担和严格路径。</a:t>
            </a:r>
          </a:p>
          <a:p>
            <a:pPr marL="285750" indent="-200025">
              <a:lnSpc>
                <a:spcPts val="2400"/>
              </a:lnSpc>
              <a:spcAft>
                <a:spcPts val="600"/>
              </a:spcAft>
              <a:buFont typeface="Arial" panose="020B0604020202020204" pitchFamily="34" charset="0"/>
              <a:buChar char="•"/>
            </a:pPr>
            <a:r>
              <a:rPr lang="zh-CN" altLang="en-US" sz="1400" dirty="0">
                <a:solidFill>
                  <a:schemeClr val="tx1"/>
                </a:solidFill>
              </a:rPr>
              <a:t>路径计算和业务下发基于控制器，简化配置。</a:t>
            </a:r>
          </a:p>
        </p:txBody>
      </p:sp>
      <p:grpSp>
        <p:nvGrpSpPr>
          <p:cNvPr id="48" name="Group 47">
            <a:extLst>
              <a:ext uri="{FF2B5EF4-FFF2-40B4-BE49-F238E27FC236}">
                <a16:creationId xmlns="" xmlns:a16="http://schemas.microsoft.com/office/drawing/2014/main" id="{73D5F05E-5A51-4372-ABAF-FCA57466F10F}"/>
              </a:ext>
            </a:extLst>
          </p:cNvPr>
          <p:cNvGrpSpPr/>
          <p:nvPr/>
        </p:nvGrpSpPr>
        <p:grpSpPr bwMode="gray">
          <a:xfrm>
            <a:off x="6290906" y="1625959"/>
            <a:ext cx="5193362" cy="2578330"/>
            <a:chOff x="6231230" y="1881868"/>
            <a:chExt cx="5193362" cy="2578330"/>
          </a:xfrm>
        </p:grpSpPr>
        <p:cxnSp>
          <p:nvCxnSpPr>
            <p:cNvPr id="49" name="直接连接符 95">
              <a:extLst>
                <a:ext uri="{FF2B5EF4-FFF2-40B4-BE49-F238E27FC236}">
                  <a16:creationId xmlns="" xmlns:a16="http://schemas.microsoft.com/office/drawing/2014/main" id="{59716BCC-9011-473C-A952-3AB31167D714}"/>
                </a:ext>
              </a:extLst>
            </p:cNvPr>
            <p:cNvCxnSpPr/>
            <p:nvPr/>
          </p:nvCxnSpPr>
          <p:spPr bwMode="gray">
            <a:xfrm rot="5400000">
              <a:off x="9607247" y="2890136"/>
              <a:ext cx="662814" cy="1266975"/>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84">
              <a:extLst>
                <a:ext uri="{FF2B5EF4-FFF2-40B4-BE49-F238E27FC236}">
                  <a16:creationId xmlns="" xmlns:a16="http://schemas.microsoft.com/office/drawing/2014/main" id="{C62EA1B4-294F-484D-83F1-AE10DC936BFB}"/>
                </a:ext>
              </a:extLst>
            </p:cNvPr>
            <p:cNvCxnSpPr>
              <a:stCxn id="80" idx="1"/>
              <a:endCxn id="76" idx="3"/>
            </p:cNvCxnSpPr>
            <p:nvPr/>
          </p:nvCxnSpPr>
          <p:spPr bwMode="gray">
            <a:xfrm flipH="1">
              <a:off x="7804933" y="4045485"/>
              <a:ext cx="943803" cy="131455"/>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51" name="组合 10">
              <a:extLst>
                <a:ext uri="{FF2B5EF4-FFF2-40B4-BE49-F238E27FC236}">
                  <a16:creationId xmlns="" xmlns:a16="http://schemas.microsoft.com/office/drawing/2014/main" id="{AC307C1A-B734-455E-8578-0C249BFAA536}"/>
                </a:ext>
              </a:extLst>
            </p:cNvPr>
            <p:cNvGrpSpPr/>
            <p:nvPr/>
          </p:nvGrpSpPr>
          <p:grpSpPr bwMode="gray">
            <a:xfrm rot="5400000">
              <a:off x="11054594" y="2994842"/>
              <a:ext cx="438911" cy="301085"/>
              <a:chOff x="674588" y="6196215"/>
              <a:chExt cx="399010" cy="226210"/>
            </a:xfrm>
          </p:grpSpPr>
          <p:cxnSp>
            <p:nvCxnSpPr>
              <p:cNvPr id="85" name="直接连接符 11">
                <a:extLst>
                  <a:ext uri="{FF2B5EF4-FFF2-40B4-BE49-F238E27FC236}">
                    <a16:creationId xmlns="" xmlns:a16="http://schemas.microsoft.com/office/drawing/2014/main" id="{24E76FEB-0AC8-48B8-99F5-AE882C99AA19}"/>
                  </a:ext>
                </a:extLst>
              </p:cNvPr>
              <p:cNvCxnSpPr/>
              <p:nvPr/>
            </p:nvCxnSpPr>
            <p:spPr bwMode="gray">
              <a:xfrm>
                <a:off x="874093" y="6196215"/>
                <a:ext cx="0" cy="2262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12">
                <a:extLst>
                  <a:ext uri="{FF2B5EF4-FFF2-40B4-BE49-F238E27FC236}">
                    <a16:creationId xmlns="" xmlns:a16="http://schemas.microsoft.com/office/drawing/2014/main" id="{9DD9B0E3-1906-42A9-A9C6-8015C1DC4B1D}"/>
                  </a:ext>
                </a:extLst>
              </p:cNvPr>
              <p:cNvCxnSpPr/>
              <p:nvPr/>
            </p:nvCxnSpPr>
            <p:spPr bwMode="gray">
              <a:xfrm>
                <a:off x="674588" y="6196215"/>
                <a:ext cx="399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组合 13">
              <a:extLst>
                <a:ext uri="{FF2B5EF4-FFF2-40B4-BE49-F238E27FC236}">
                  <a16:creationId xmlns="" xmlns:a16="http://schemas.microsoft.com/office/drawing/2014/main" id="{A7679028-7406-4B21-9192-6D3B9E6C7E32}"/>
                </a:ext>
              </a:extLst>
            </p:cNvPr>
            <p:cNvGrpSpPr/>
            <p:nvPr/>
          </p:nvGrpSpPr>
          <p:grpSpPr bwMode="gray">
            <a:xfrm rot="16200000">
              <a:off x="7036030" y="2307537"/>
              <a:ext cx="1764410" cy="1686342"/>
              <a:chOff x="6600056" y="4353447"/>
              <a:chExt cx="1296144" cy="833967"/>
            </a:xfrm>
          </p:grpSpPr>
          <p:cxnSp>
            <p:nvCxnSpPr>
              <p:cNvPr id="83" name="直接连接符 14">
                <a:extLst>
                  <a:ext uri="{FF2B5EF4-FFF2-40B4-BE49-F238E27FC236}">
                    <a16:creationId xmlns="" xmlns:a16="http://schemas.microsoft.com/office/drawing/2014/main" id="{FC5B8426-8045-479D-B384-1D5F8E5AF02A}"/>
                  </a:ext>
                </a:extLst>
              </p:cNvPr>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15">
                <a:extLst>
                  <a:ext uri="{FF2B5EF4-FFF2-40B4-BE49-F238E27FC236}">
                    <a16:creationId xmlns="" xmlns:a16="http://schemas.microsoft.com/office/drawing/2014/main" id="{3B6EF085-9E3C-41C2-87EB-00359A51EDA1}"/>
                  </a:ext>
                </a:extLst>
              </p:cNvPr>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组合 16">
              <a:extLst>
                <a:ext uri="{FF2B5EF4-FFF2-40B4-BE49-F238E27FC236}">
                  <a16:creationId xmlns="" xmlns:a16="http://schemas.microsoft.com/office/drawing/2014/main" id="{EEB48168-D75A-4D5F-9F7B-E53BAD9945E6}"/>
                </a:ext>
              </a:extLst>
            </p:cNvPr>
            <p:cNvGrpSpPr/>
            <p:nvPr/>
          </p:nvGrpSpPr>
          <p:grpSpPr bwMode="gray">
            <a:xfrm rot="5400000">
              <a:off x="9193209" y="2307537"/>
              <a:ext cx="1764410" cy="1686342"/>
              <a:chOff x="6600056" y="4353447"/>
              <a:chExt cx="1296144" cy="833967"/>
            </a:xfrm>
          </p:grpSpPr>
          <p:cxnSp>
            <p:nvCxnSpPr>
              <p:cNvPr id="81" name="直接连接符 17">
                <a:extLst>
                  <a:ext uri="{FF2B5EF4-FFF2-40B4-BE49-F238E27FC236}">
                    <a16:creationId xmlns="" xmlns:a16="http://schemas.microsoft.com/office/drawing/2014/main" id="{855375B8-E899-4072-9D3F-3BEF6AACF7E9}"/>
                  </a:ext>
                </a:extLst>
              </p:cNvPr>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18">
                <a:extLst>
                  <a:ext uri="{FF2B5EF4-FFF2-40B4-BE49-F238E27FC236}">
                    <a16:creationId xmlns="" xmlns:a16="http://schemas.microsoft.com/office/drawing/2014/main" id="{64957862-0A8D-49E0-A7A3-63E1821CD4D3}"/>
                  </a:ext>
                </a:extLst>
              </p:cNvPr>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4" name="图片 23">
              <a:extLst>
                <a:ext uri="{FF2B5EF4-FFF2-40B4-BE49-F238E27FC236}">
                  <a16:creationId xmlns="" xmlns:a16="http://schemas.microsoft.com/office/drawing/2014/main" id="{28CB6898-8478-4A21-BA2F-6D3150A78DE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876528" y="2923985"/>
              <a:ext cx="540000" cy="442800"/>
            </a:xfrm>
            <a:prstGeom prst="rect">
              <a:avLst/>
            </a:prstGeom>
          </p:spPr>
        </p:pic>
        <p:grpSp>
          <p:nvGrpSpPr>
            <p:cNvPr id="55" name="组合 24">
              <a:extLst>
                <a:ext uri="{FF2B5EF4-FFF2-40B4-BE49-F238E27FC236}">
                  <a16:creationId xmlns="" xmlns:a16="http://schemas.microsoft.com/office/drawing/2014/main" id="{88CB13F9-6EE0-4C54-AEAD-8A720DE61798}"/>
                </a:ext>
              </a:extLst>
            </p:cNvPr>
            <p:cNvGrpSpPr/>
            <p:nvPr/>
          </p:nvGrpSpPr>
          <p:grpSpPr bwMode="gray">
            <a:xfrm>
              <a:off x="8748736" y="2023885"/>
              <a:ext cx="540000" cy="2243000"/>
              <a:chOff x="3071664" y="2780928"/>
              <a:chExt cx="540000" cy="2243000"/>
            </a:xfrm>
          </p:grpSpPr>
          <p:pic>
            <p:nvPicPr>
              <p:cNvPr id="79" name="图片 25">
                <a:extLst>
                  <a:ext uri="{FF2B5EF4-FFF2-40B4-BE49-F238E27FC236}">
                    <a16:creationId xmlns="" xmlns:a16="http://schemas.microsoft.com/office/drawing/2014/main" id="{CA40F644-9546-4260-971F-9839E09DA7E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2780928"/>
                <a:ext cx="540000" cy="442800"/>
              </a:xfrm>
              <a:prstGeom prst="rect">
                <a:avLst/>
              </a:prstGeom>
            </p:spPr>
          </p:pic>
          <p:pic>
            <p:nvPicPr>
              <p:cNvPr id="80" name="图片 26">
                <a:extLst>
                  <a:ext uri="{FF2B5EF4-FFF2-40B4-BE49-F238E27FC236}">
                    <a16:creationId xmlns="" xmlns:a16="http://schemas.microsoft.com/office/drawing/2014/main" id="{5BD8CCBD-5190-4FBC-A2A9-D680F2BF30A8}"/>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71664" y="4581128"/>
                <a:ext cx="540000" cy="442800"/>
              </a:xfrm>
              <a:prstGeom prst="rect">
                <a:avLst/>
              </a:prstGeom>
            </p:spPr>
          </p:pic>
        </p:grpSp>
        <p:pic>
          <p:nvPicPr>
            <p:cNvPr id="56" name="图片 27">
              <a:extLst>
                <a:ext uri="{FF2B5EF4-FFF2-40B4-BE49-F238E27FC236}">
                  <a16:creationId xmlns="" xmlns:a16="http://schemas.microsoft.com/office/drawing/2014/main" id="{C793F979-0FF4-43A8-8072-00254A95AB87}"/>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620944" y="2923985"/>
              <a:ext cx="540000" cy="442800"/>
            </a:xfrm>
            <a:prstGeom prst="rect">
              <a:avLst/>
            </a:prstGeom>
          </p:spPr>
        </p:pic>
        <p:sp>
          <p:nvSpPr>
            <p:cNvPr id="57" name="文本框 28">
              <a:extLst>
                <a:ext uri="{FF2B5EF4-FFF2-40B4-BE49-F238E27FC236}">
                  <a16:creationId xmlns="" xmlns:a16="http://schemas.microsoft.com/office/drawing/2014/main" id="{DF8E3F6F-124C-4676-9E80-3A73BE77CDB0}"/>
                </a:ext>
              </a:extLst>
            </p:cNvPr>
            <p:cNvSpPr txBox="1"/>
            <p:nvPr/>
          </p:nvSpPr>
          <p:spPr bwMode="gray">
            <a:xfrm>
              <a:off x="6483368" y="2991496"/>
              <a:ext cx="413896" cy="307777"/>
            </a:xfrm>
            <a:prstGeom prst="rect">
              <a:avLst/>
            </a:prstGeom>
            <a:noFill/>
          </p:spPr>
          <p:txBody>
            <a:bodyPr wrap="none" rtlCol="0">
              <a:spAutoFit/>
            </a:bodyPr>
            <a:lstStyle/>
            <a:p>
              <a:r>
                <a:rPr lang="en-US" altLang="zh-CN" sz="1400" b="1" dirty="0"/>
                <a:t>R1</a:t>
              </a:r>
              <a:endParaRPr lang="zh-CN" altLang="en-US" sz="1400" b="1"/>
            </a:p>
          </p:txBody>
        </p:sp>
        <p:sp>
          <p:nvSpPr>
            <p:cNvPr id="58" name="文本框 29">
              <a:extLst>
                <a:ext uri="{FF2B5EF4-FFF2-40B4-BE49-F238E27FC236}">
                  <a16:creationId xmlns="" xmlns:a16="http://schemas.microsoft.com/office/drawing/2014/main" id="{4A61939E-B29D-447A-BBC4-29475E47C160}"/>
                </a:ext>
              </a:extLst>
            </p:cNvPr>
            <p:cNvSpPr txBox="1"/>
            <p:nvPr/>
          </p:nvSpPr>
          <p:spPr bwMode="gray">
            <a:xfrm>
              <a:off x="8811788" y="2477332"/>
              <a:ext cx="413896" cy="307777"/>
            </a:xfrm>
            <a:prstGeom prst="rect">
              <a:avLst/>
            </a:prstGeom>
            <a:noFill/>
          </p:spPr>
          <p:txBody>
            <a:bodyPr wrap="none" rtlCol="0">
              <a:spAutoFit/>
            </a:bodyPr>
            <a:lstStyle/>
            <a:p>
              <a:r>
                <a:rPr lang="en-US" altLang="zh-CN" sz="1400" b="1" dirty="0"/>
                <a:t>R2</a:t>
              </a:r>
              <a:endParaRPr lang="zh-CN" altLang="en-US" sz="1400" b="1"/>
            </a:p>
          </p:txBody>
        </p:sp>
        <p:sp>
          <p:nvSpPr>
            <p:cNvPr id="59" name="文本框 30">
              <a:extLst>
                <a:ext uri="{FF2B5EF4-FFF2-40B4-BE49-F238E27FC236}">
                  <a16:creationId xmlns="" xmlns:a16="http://schemas.microsoft.com/office/drawing/2014/main" id="{7AD13836-21EC-49E8-8D97-4980CA7B54A1}"/>
                </a:ext>
              </a:extLst>
            </p:cNvPr>
            <p:cNvSpPr txBox="1"/>
            <p:nvPr/>
          </p:nvSpPr>
          <p:spPr bwMode="gray">
            <a:xfrm>
              <a:off x="8811788" y="3484894"/>
              <a:ext cx="413896" cy="307777"/>
            </a:xfrm>
            <a:prstGeom prst="rect">
              <a:avLst/>
            </a:prstGeom>
            <a:noFill/>
          </p:spPr>
          <p:txBody>
            <a:bodyPr wrap="none" rtlCol="0">
              <a:spAutoFit/>
            </a:bodyPr>
            <a:lstStyle/>
            <a:p>
              <a:r>
                <a:rPr lang="en-US" altLang="zh-CN" sz="1400" b="1" dirty="0"/>
                <a:t>R4</a:t>
              </a:r>
              <a:endParaRPr lang="zh-CN" altLang="en-US" sz="1400" b="1"/>
            </a:p>
          </p:txBody>
        </p:sp>
        <p:sp>
          <p:nvSpPr>
            <p:cNvPr id="60" name="文本框 31">
              <a:extLst>
                <a:ext uri="{FF2B5EF4-FFF2-40B4-BE49-F238E27FC236}">
                  <a16:creationId xmlns="" xmlns:a16="http://schemas.microsoft.com/office/drawing/2014/main" id="{35A468E5-048E-4B1E-98EA-DA3C5A08B135}"/>
                </a:ext>
              </a:extLst>
            </p:cNvPr>
            <p:cNvSpPr txBox="1"/>
            <p:nvPr/>
          </p:nvSpPr>
          <p:spPr bwMode="gray">
            <a:xfrm>
              <a:off x="10682588" y="3366785"/>
              <a:ext cx="413896" cy="307777"/>
            </a:xfrm>
            <a:prstGeom prst="rect">
              <a:avLst/>
            </a:prstGeom>
            <a:noFill/>
          </p:spPr>
          <p:txBody>
            <a:bodyPr wrap="none" rtlCol="0">
              <a:spAutoFit/>
            </a:bodyPr>
            <a:lstStyle/>
            <a:p>
              <a:r>
                <a:rPr lang="en-US" altLang="zh-CN" sz="1400" b="1" dirty="0"/>
                <a:t>R3</a:t>
              </a:r>
              <a:endParaRPr lang="zh-CN" altLang="en-US" sz="1400" b="1" dirty="0"/>
            </a:p>
          </p:txBody>
        </p:sp>
        <p:sp>
          <p:nvSpPr>
            <p:cNvPr id="61" name="文本框 35">
              <a:extLst>
                <a:ext uri="{FF2B5EF4-FFF2-40B4-BE49-F238E27FC236}">
                  <a16:creationId xmlns="" xmlns:a16="http://schemas.microsoft.com/office/drawing/2014/main" id="{44FF9C92-97FB-49CC-BD9E-7F62CD48F839}"/>
                </a:ext>
              </a:extLst>
            </p:cNvPr>
            <p:cNvSpPr txBox="1"/>
            <p:nvPr/>
          </p:nvSpPr>
          <p:spPr bwMode="gray">
            <a:xfrm rot="21195657">
              <a:off x="8041957" y="4167447"/>
              <a:ext cx="537807" cy="292751"/>
            </a:xfrm>
            <a:prstGeom prst="rect">
              <a:avLst/>
            </a:prstGeom>
            <a:solidFill>
              <a:schemeClr val="bg1"/>
            </a:solidFill>
            <a:ln>
              <a:noFill/>
            </a:ln>
          </p:spPr>
          <p:txBody>
            <a:bodyPr wrap="none" lIns="0" tIns="0" rIns="0" bIns="0" rtlCol="0" anchor="ctr" anchorCtr="0">
              <a:noAutofit/>
            </a:bodyPr>
            <a:lstStyle/>
            <a:p>
              <a:pPr algn="ctr"/>
              <a:r>
                <a:rPr lang="en-US" altLang="zh-CN" sz="1400" dirty="0">
                  <a:solidFill>
                    <a:srgbClr val="8BC9A0"/>
                  </a:solidFill>
                </a:rPr>
                <a:t>BGP LS</a:t>
              </a:r>
              <a:endParaRPr lang="zh-CN" altLang="en-US" sz="1400" dirty="0">
                <a:solidFill>
                  <a:srgbClr val="8BC9A0"/>
                </a:solidFill>
              </a:endParaRPr>
            </a:p>
          </p:txBody>
        </p:sp>
        <p:cxnSp>
          <p:nvCxnSpPr>
            <p:cNvPr id="62" name="直接连接符 87">
              <a:extLst>
                <a:ext uri="{FF2B5EF4-FFF2-40B4-BE49-F238E27FC236}">
                  <a16:creationId xmlns="" xmlns:a16="http://schemas.microsoft.com/office/drawing/2014/main" id="{226CA836-F1E4-4A8F-AA1C-DD1EFBBA56C3}"/>
                </a:ext>
              </a:extLst>
            </p:cNvPr>
            <p:cNvCxnSpPr/>
            <p:nvPr/>
          </p:nvCxnSpPr>
          <p:spPr bwMode="gray">
            <a:xfrm>
              <a:off x="7438884" y="3216301"/>
              <a:ext cx="1288621" cy="674138"/>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文本框 88">
              <a:extLst>
                <a:ext uri="{FF2B5EF4-FFF2-40B4-BE49-F238E27FC236}">
                  <a16:creationId xmlns="" xmlns:a16="http://schemas.microsoft.com/office/drawing/2014/main" id="{5393415D-D1B1-4B6E-BBE2-5C2A5E8C9ED7}"/>
                </a:ext>
              </a:extLst>
            </p:cNvPr>
            <p:cNvSpPr txBox="1"/>
            <p:nvPr/>
          </p:nvSpPr>
          <p:spPr bwMode="gray">
            <a:xfrm rot="1679142">
              <a:off x="7816221" y="3485439"/>
              <a:ext cx="537807" cy="161866"/>
            </a:xfrm>
            <a:prstGeom prst="rect">
              <a:avLst/>
            </a:prstGeom>
            <a:solidFill>
              <a:schemeClr val="bg1"/>
            </a:solidFill>
            <a:ln>
              <a:noFill/>
            </a:ln>
          </p:spPr>
          <p:txBody>
            <a:bodyPr wrap="none" lIns="0" tIns="0" rIns="0" bIns="0" rtlCol="0" anchor="ctr" anchorCtr="0">
              <a:noAutofit/>
            </a:bodyPr>
            <a:lstStyle/>
            <a:p>
              <a:pPr algn="ctr"/>
              <a:r>
                <a:rPr lang="zh-CN" altLang="en-US" sz="1400" dirty="0">
                  <a:solidFill>
                    <a:srgbClr val="8BC9A0"/>
                  </a:solidFill>
                </a:rPr>
                <a:t>扩展</a:t>
              </a:r>
              <a:r>
                <a:rPr lang="en-US" altLang="zh-CN" sz="1400" dirty="0">
                  <a:solidFill>
                    <a:srgbClr val="8BC9A0"/>
                  </a:solidFill>
                </a:rPr>
                <a:t>IGP</a:t>
              </a:r>
              <a:endParaRPr lang="zh-CN" altLang="en-US" sz="1400" dirty="0">
                <a:solidFill>
                  <a:srgbClr val="8BC9A0"/>
                </a:solidFill>
              </a:endParaRPr>
            </a:p>
          </p:txBody>
        </p:sp>
        <p:sp>
          <p:nvSpPr>
            <p:cNvPr id="64" name="文本框 96">
              <a:extLst>
                <a:ext uri="{FF2B5EF4-FFF2-40B4-BE49-F238E27FC236}">
                  <a16:creationId xmlns="" xmlns:a16="http://schemas.microsoft.com/office/drawing/2014/main" id="{E194CC31-3E17-4289-84E8-EAE8A89A38CD}"/>
                </a:ext>
              </a:extLst>
            </p:cNvPr>
            <p:cNvSpPr txBox="1"/>
            <p:nvPr/>
          </p:nvSpPr>
          <p:spPr bwMode="gray">
            <a:xfrm rot="19882353">
              <a:off x="9677044" y="3432035"/>
              <a:ext cx="537807" cy="161866"/>
            </a:xfrm>
            <a:prstGeom prst="rect">
              <a:avLst/>
            </a:prstGeom>
            <a:solidFill>
              <a:schemeClr val="bg1"/>
            </a:solidFill>
            <a:ln>
              <a:noFill/>
            </a:ln>
          </p:spPr>
          <p:txBody>
            <a:bodyPr wrap="none" lIns="0" tIns="0" rIns="0" bIns="0" rtlCol="0" anchor="ctr" anchorCtr="0">
              <a:noAutofit/>
            </a:bodyPr>
            <a:lstStyle>
              <a:defPPr>
                <a:defRPr lang="zh-CN"/>
              </a:defPPr>
              <a:lvl1pPr algn="ctr">
                <a:defRPr sz="1400">
                  <a:solidFill>
                    <a:srgbClr val="C00000"/>
                  </a:solidFill>
                </a:defRPr>
              </a:lvl1pPr>
            </a:lstStyle>
            <a:p>
              <a:r>
                <a:rPr lang="zh-CN" altLang="en-US" dirty="0">
                  <a:solidFill>
                    <a:srgbClr val="8BC9A0"/>
                  </a:solidFill>
                </a:rPr>
                <a:t>扩展</a:t>
              </a:r>
              <a:r>
                <a:rPr lang="en-US" altLang="zh-CN" dirty="0">
                  <a:solidFill>
                    <a:srgbClr val="8BC9A0"/>
                  </a:solidFill>
                </a:rPr>
                <a:t>IGP</a:t>
              </a:r>
              <a:endParaRPr lang="zh-CN" altLang="en-US" dirty="0">
                <a:solidFill>
                  <a:srgbClr val="8BC9A0"/>
                </a:solidFill>
              </a:endParaRPr>
            </a:p>
          </p:txBody>
        </p:sp>
        <p:cxnSp>
          <p:nvCxnSpPr>
            <p:cNvPr id="65" name="直接连接符 97">
              <a:extLst>
                <a:ext uri="{FF2B5EF4-FFF2-40B4-BE49-F238E27FC236}">
                  <a16:creationId xmlns="" xmlns:a16="http://schemas.microsoft.com/office/drawing/2014/main" id="{DAEF69FB-978F-4482-9B02-96A4D1FBA448}"/>
                </a:ext>
              </a:extLst>
            </p:cNvPr>
            <p:cNvCxnSpPr/>
            <p:nvPr/>
          </p:nvCxnSpPr>
          <p:spPr bwMode="gray">
            <a:xfrm>
              <a:off x="9344674" y="2456738"/>
              <a:ext cx="1163839" cy="608859"/>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文本框 98">
              <a:extLst>
                <a:ext uri="{FF2B5EF4-FFF2-40B4-BE49-F238E27FC236}">
                  <a16:creationId xmlns="" xmlns:a16="http://schemas.microsoft.com/office/drawing/2014/main" id="{45D0F882-CAF6-4C20-9CB9-D98784C4B476}"/>
                </a:ext>
              </a:extLst>
            </p:cNvPr>
            <p:cNvSpPr txBox="1"/>
            <p:nvPr/>
          </p:nvSpPr>
          <p:spPr bwMode="gray">
            <a:xfrm rot="1670758">
              <a:off x="9677805" y="2685901"/>
              <a:ext cx="537807" cy="161866"/>
            </a:xfrm>
            <a:prstGeom prst="rect">
              <a:avLst/>
            </a:prstGeom>
            <a:solidFill>
              <a:schemeClr val="bg1"/>
            </a:solidFill>
            <a:ln>
              <a:noFill/>
            </a:ln>
          </p:spPr>
          <p:txBody>
            <a:bodyPr wrap="none" lIns="0" tIns="0" rIns="0" bIns="0" rtlCol="0" anchor="ctr" anchorCtr="0">
              <a:noAutofit/>
            </a:bodyPr>
            <a:lstStyle/>
            <a:p>
              <a:pPr algn="ctr"/>
              <a:r>
                <a:rPr lang="zh-CN" altLang="en-US" sz="1400" dirty="0">
                  <a:solidFill>
                    <a:srgbClr val="8BC9A0"/>
                  </a:solidFill>
                </a:rPr>
                <a:t>扩展</a:t>
              </a:r>
              <a:r>
                <a:rPr lang="en-US" altLang="zh-CN" sz="1400" dirty="0">
                  <a:solidFill>
                    <a:srgbClr val="8BC9A0"/>
                  </a:solidFill>
                </a:rPr>
                <a:t>IGP</a:t>
              </a:r>
              <a:endParaRPr lang="zh-CN" altLang="en-US" sz="1400" dirty="0">
                <a:solidFill>
                  <a:srgbClr val="8BC9A0"/>
                </a:solidFill>
              </a:endParaRPr>
            </a:p>
          </p:txBody>
        </p:sp>
        <p:pic>
          <p:nvPicPr>
            <p:cNvPr id="67" name="图片 44" descr="数据库.png">
              <a:extLst>
                <a:ext uri="{FF2B5EF4-FFF2-40B4-BE49-F238E27FC236}">
                  <a16:creationId xmlns="" xmlns:a16="http://schemas.microsoft.com/office/drawing/2014/main" id="{361A2754-03EF-49B8-A6CF-F3A072244D23}"/>
                </a:ext>
              </a:extLst>
            </p:cNvPr>
            <p:cNvPicPr>
              <a:picLocks noChangeAspect="1"/>
            </p:cNvPicPr>
            <p:nvPr/>
          </p:nvPicPr>
          <p:blipFill>
            <a:blip r:embed="rId4" cstate="print"/>
            <a:stretch>
              <a:fillRect/>
            </a:stretch>
          </p:blipFill>
          <p:spPr bwMode="gray">
            <a:xfrm>
              <a:off x="9045652" y="1881868"/>
              <a:ext cx="373179" cy="305328"/>
            </a:xfrm>
            <a:prstGeom prst="rect">
              <a:avLst/>
            </a:prstGeom>
          </p:spPr>
        </p:pic>
        <p:pic>
          <p:nvPicPr>
            <p:cNvPr id="68" name="图片 44" descr="数据库.png">
              <a:extLst>
                <a:ext uri="{FF2B5EF4-FFF2-40B4-BE49-F238E27FC236}">
                  <a16:creationId xmlns="" xmlns:a16="http://schemas.microsoft.com/office/drawing/2014/main" id="{08ADF531-2104-487A-B389-C2BC422725AC}"/>
                </a:ext>
              </a:extLst>
            </p:cNvPr>
            <p:cNvPicPr>
              <a:picLocks noChangeAspect="1"/>
            </p:cNvPicPr>
            <p:nvPr/>
          </p:nvPicPr>
          <p:blipFill>
            <a:blip r:embed="rId4" cstate="print"/>
            <a:stretch>
              <a:fillRect/>
            </a:stretch>
          </p:blipFill>
          <p:spPr bwMode="gray">
            <a:xfrm>
              <a:off x="6753921" y="3206784"/>
              <a:ext cx="373179" cy="305328"/>
            </a:xfrm>
            <a:prstGeom prst="rect">
              <a:avLst/>
            </a:prstGeom>
          </p:spPr>
        </p:pic>
        <p:pic>
          <p:nvPicPr>
            <p:cNvPr id="69" name="图片 44" descr="数据库.png">
              <a:extLst>
                <a:ext uri="{FF2B5EF4-FFF2-40B4-BE49-F238E27FC236}">
                  <a16:creationId xmlns="" xmlns:a16="http://schemas.microsoft.com/office/drawing/2014/main" id="{08F4CA5C-C6D2-4F6E-B9B9-D24FB7A84485}"/>
                </a:ext>
              </a:extLst>
            </p:cNvPr>
            <p:cNvPicPr>
              <a:picLocks noChangeAspect="1"/>
            </p:cNvPicPr>
            <p:nvPr/>
          </p:nvPicPr>
          <p:blipFill>
            <a:blip r:embed="rId4" cstate="print"/>
            <a:stretch>
              <a:fillRect/>
            </a:stretch>
          </p:blipFill>
          <p:spPr bwMode="gray">
            <a:xfrm>
              <a:off x="9102146" y="4104573"/>
              <a:ext cx="373179" cy="305328"/>
            </a:xfrm>
            <a:prstGeom prst="rect">
              <a:avLst/>
            </a:prstGeom>
          </p:spPr>
        </p:pic>
        <p:pic>
          <p:nvPicPr>
            <p:cNvPr id="70" name="图片 44" descr="数据库.png">
              <a:extLst>
                <a:ext uri="{FF2B5EF4-FFF2-40B4-BE49-F238E27FC236}">
                  <a16:creationId xmlns="" xmlns:a16="http://schemas.microsoft.com/office/drawing/2014/main" id="{D9718E63-7FDC-4E23-964C-D10AEF2D7000}"/>
                </a:ext>
              </a:extLst>
            </p:cNvPr>
            <p:cNvPicPr>
              <a:picLocks noChangeAspect="1"/>
            </p:cNvPicPr>
            <p:nvPr/>
          </p:nvPicPr>
          <p:blipFill>
            <a:blip r:embed="rId4" cstate="print"/>
            <a:stretch>
              <a:fillRect/>
            </a:stretch>
          </p:blipFill>
          <p:spPr bwMode="gray">
            <a:xfrm>
              <a:off x="10859379" y="2776644"/>
              <a:ext cx="373179" cy="305328"/>
            </a:xfrm>
            <a:prstGeom prst="rect">
              <a:avLst/>
            </a:prstGeom>
          </p:spPr>
        </p:pic>
        <p:sp>
          <p:nvSpPr>
            <p:cNvPr id="71" name="文本框 98">
              <a:extLst>
                <a:ext uri="{FF2B5EF4-FFF2-40B4-BE49-F238E27FC236}">
                  <a16:creationId xmlns="" xmlns:a16="http://schemas.microsoft.com/office/drawing/2014/main" id="{D81A33D3-C40F-4EBE-AA37-33DEA7BCD47D}"/>
                </a:ext>
              </a:extLst>
            </p:cNvPr>
            <p:cNvSpPr txBox="1"/>
            <p:nvPr/>
          </p:nvSpPr>
          <p:spPr bwMode="gray">
            <a:xfrm>
              <a:off x="9459913" y="1973669"/>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72" name="文本框 98">
              <a:extLst>
                <a:ext uri="{FF2B5EF4-FFF2-40B4-BE49-F238E27FC236}">
                  <a16:creationId xmlns="" xmlns:a16="http://schemas.microsoft.com/office/drawing/2014/main" id="{58A7ADA7-023B-4E38-9803-CA7CF8FC6736}"/>
                </a:ext>
              </a:extLst>
            </p:cNvPr>
            <p:cNvSpPr txBox="1"/>
            <p:nvPr/>
          </p:nvSpPr>
          <p:spPr bwMode="gray">
            <a:xfrm>
              <a:off x="10789199" y="2607516"/>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73" name="文本框 98">
              <a:extLst>
                <a:ext uri="{FF2B5EF4-FFF2-40B4-BE49-F238E27FC236}">
                  <a16:creationId xmlns="" xmlns:a16="http://schemas.microsoft.com/office/drawing/2014/main" id="{6348B211-461B-4993-A985-D7C7BC1288FA}"/>
                </a:ext>
              </a:extLst>
            </p:cNvPr>
            <p:cNvSpPr txBox="1"/>
            <p:nvPr/>
          </p:nvSpPr>
          <p:spPr bwMode="gray">
            <a:xfrm>
              <a:off x="6670914" y="3539140"/>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74" name="文本框 98">
              <a:extLst>
                <a:ext uri="{FF2B5EF4-FFF2-40B4-BE49-F238E27FC236}">
                  <a16:creationId xmlns="" xmlns:a16="http://schemas.microsoft.com/office/drawing/2014/main" id="{E60605BE-ED95-485D-AEB4-D92864421CAD}"/>
                </a:ext>
              </a:extLst>
            </p:cNvPr>
            <p:cNvSpPr txBox="1"/>
            <p:nvPr/>
          </p:nvSpPr>
          <p:spPr bwMode="gray">
            <a:xfrm>
              <a:off x="9475325" y="4176304"/>
              <a:ext cx="537807" cy="161866"/>
            </a:xfrm>
            <a:prstGeom prst="rect">
              <a:avLst/>
            </a:prstGeom>
            <a:solidFill>
              <a:schemeClr val="bg1"/>
            </a:solidFill>
          </p:spPr>
          <p:txBody>
            <a:bodyPr wrap="none" lIns="0" tIns="0" rIns="0" bIns="0" rtlCol="0" anchor="ctr" anchorCtr="0">
              <a:noAutofit/>
            </a:bodyPr>
            <a:lstStyle/>
            <a:p>
              <a:pPr algn="ctr"/>
              <a:r>
                <a:rPr lang="en-US" altLang="zh-CN" sz="1400" dirty="0"/>
                <a:t>LSDB</a:t>
              </a:r>
              <a:endParaRPr lang="zh-CN" altLang="en-US" sz="1400" dirty="0"/>
            </a:p>
          </p:txBody>
        </p:sp>
        <p:sp>
          <p:nvSpPr>
            <p:cNvPr id="75" name="文本框 24">
              <a:extLst>
                <a:ext uri="{FF2B5EF4-FFF2-40B4-BE49-F238E27FC236}">
                  <a16:creationId xmlns="" xmlns:a16="http://schemas.microsoft.com/office/drawing/2014/main" id="{4D8F270D-093E-4A76-B65F-34B4FEB3EAF1}"/>
                </a:ext>
              </a:extLst>
            </p:cNvPr>
            <p:cNvSpPr txBox="1"/>
            <p:nvPr/>
          </p:nvSpPr>
          <p:spPr bwMode="gray">
            <a:xfrm>
              <a:off x="6231230" y="4030375"/>
              <a:ext cx="1040670" cy="307777"/>
            </a:xfrm>
            <a:prstGeom prst="rect">
              <a:avLst/>
            </a:prstGeom>
            <a:noFill/>
          </p:spPr>
          <p:txBody>
            <a:bodyPr wrap="none" rtlCol="0">
              <a:spAutoFit/>
            </a:bodyPr>
            <a:lstStyle/>
            <a:p>
              <a:r>
                <a:rPr lang="en-US" altLang="zh-CN" sz="1400" b="1" dirty="0"/>
                <a:t>Controller</a:t>
              </a:r>
              <a:endParaRPr lang="zh-CN" altLang="en-US" sz="1400" b="1" dirty="0"/>
            </a:p>
          </p:txBody>
        </p:sp>
        <p:pic>
          <p:nvPicPr>
            <p:cNvPr id="76" name="图片 25" descr="通用网管-蓝.png">
              <a:extLst>
                <a:ext uri="{FF2B5EF4-FFF2-40B4-BE49-F238E27FC236}">
                  <a16:creationId xmlns="" xmlns:a16="http://schemas.microsoft.com/office/drawing/2014/main" id="{571223C2-0010-423D-85D1-B28DA56A4272}"/>
                </a:ext>
              </a:extLst>
            </p:cNvPr>
            <p:cNvPicPr>
              <a:picLocks noChangeAspect="1"/>
            </p:cNvPicPr>
            <p:nvPr/>
          </p:nvPicPr>
          <p:blipFill>
            <a:blip r:embed="rId5" cstate="print"/>
            <a:stretch>
              <a:fillRect/>
            </a:stretch>
          </p:blipFill>
          <p:spPr bwMode="gray">
            <a:xfrm>
              <a:off x="7264933" y="3956031"/>
              <a:ext cx="540000" cy="441818"/>
            </a:xfrm>
            <a:prstGeom prst="rect">
              <a:avLst/>
            </a:prstGeom>
          </p:spPr>
        </p:pic>
        <p:cxnSp>
          <p:nvCxnSpPr>
            <p:cNvPr id="77" name="直接连接符 84">
              <a:extLst>
                <a:ext uri="{FF2B5EF4-FFF2-40B4-BE49-F238E27FC236}">
                  <a16:creationId xmlns="" xmlns:a16="http://schemas.microsoft.com/office/drawing/2014/main" id="{7EC7933F-B311-41C5-B85A-BDF43C65F90F}"/>
                </a:ext>
              </a:extLst>
            </p:cNvPr>
            <p:cNvCxnSpPr/>
            <p:nvPr/>
          </p:nvCxnSpPr>
          <p:spPr bwMode="gray">
            <a:xfrm flipV="1">
              <a:off x="7496225" y="2397238"/>
              <a:ext cx="1206469" cy="631161"/>
            </a:xfrm>
            <a:prstGeom prst="line">
              <a:avLst/>
            </a:prstGeom>
            <a:ln w="19050">
              <a:solidFill>
                <a:srgbClr val="8BC9A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文本框 35">
              <a:extLst>
                <a:ext uri="{FF2B5EF4-FFF2-40B4-BE49-F238E27FC236}">
                  <a16:creationId xmlns="" xmlns:a16="http://schemas.microsoft.com/office/drawing/2014/main" id="{5375D028-E8B4-4E99-ADC1-11C17E1EBE02}"/>
                </a:ext>
              </a:extLst>
            </p:cNvPr>
            <p:cNvSpPr txBox="1"/>
            <p:nvPr/>
          </p:nvSpPr>
          <p:spPr bwMode="gray">
            <a:xfrm rot="19912812">
              <a:off x="7835535" y="2684947"/>
              <a:ext cx="537807" cy="161866"/>
            </a:xfrm>
            <a:prstGeom prst="rect">
              <a:avLst/>
            </a:prstGeom>
            <a:solidFill>
              <a:schemeClr val="bg1"/>
            </a:solidFill>
            <a:ln>
              <a:noFill/>
            </a:ln>
          </p:spPr>
          <p:txBody>
            <a:bodyPr wrap="none" lIns="0" tIns="0" rIns="0" bIns="0" rtlCol="0" anchor="ctr" anchorCtr="0">
              <a:noAutofit/>
            </a:bodyPr>
            <a:lstStyle/>
            <a:p>
              <a:pPr algn="ctr"/>
              <a:r>
                <a:rPr lang="zh-CN" altLang="en-US" sz="1400" dirty="0">
                  <a:solidFill>
                    <a:srgbClr val="8BC9A0"/>
                  </a:solidFill>
                </a:rPr>
                <a:t>扩展</a:t>
              </a:r>
              <a:r>
                <a:rPr lang="en-US" altLang="zh-CN" sz="1400" dirty="0">
                  <a:solidFill>
                    <a:srgbClr val="8BC9A0"/>
                  </a:solidFill>
                </a:rPr>
                <a:t>IGP</a:t>
              </a:r>
              <a:endParaRPr lang="zh-CN" altLang="en-US" sz="1400" dirty="0">
                <a:solidFill>
                  <a:srgbClr val="8BC9A0"/>
                </a:solidFill>
              </a:endParaRPr>
            </a:p>
          </p:txBody>
        </p:sp>
      </p:grpSp>
      <p:sp>
        <p:nvSpPr>
          <p:cNvPr id="87" name="Rectangle 86">
            <a:extLst>
              <a:ext uri="{FF2B5EF4-FFF2-40B4-BE49-F238E27FC236}">
                <a16:creationId xmlns="" xmlns:a16="http://schemas.microsoft.com/office/drawing/2014/main" id="{39719081-09D5-4DF5-9BE5-A6E1F3A60A15}"/>
              </a:ext>
            </a:extLst>
          </p:cNvPr>
          <p:cNvSpPr/>
          <p:nvPr/>
        </p:nvSpPr>
        <p:spPr bwMode="gray">
          <a:xfrm>
            <a:off x="6228186" y="1623060"/>
            <a:ext cx="2499320" cy="57412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kumimoji="0" lang="zh-CN" altLang="en-US" sz="1400" b="1" i="0" u="none" strike="noStrike" cap="none" normalizeH="0" dirty="0">
                <a:ln>
                  <a:noFill/>
                </a:ln>
                <a:solidFill>
                  <a:srgbClr val="C7000B"/>
                </a:solidFill>
                <a:effectLst/>
                <a:latin typeface="+mn-lt"/>
                <a:ea typeface="微软雅黑" panose="020B0503020204020204" pitchFamily="34" charset="-122"/>
              </a:rPr>
              <a:t>去除</a:t>
            </a:r>
            <a:r>
              <a:rPr kumimoji="0" lang="en-US" altLang="zh-CN" sz="1400" b="1" i="0" u="none" strike="noStrike" cap="none" normalizeH="0" dirty="0">
                <a:ln>
                  <a:noFill/>
                </a:ln>
                <a:solidFill>
                  <a:srgbClr val="C7000B"/>
                </a:solidFill>
                <a:effectLst/>
                <a:latin typeface="+mn-lt"/>
                <a:ea typeface="微软雅黑" panose="020B0503020204020204" pitchFamily="34" charset="-122"/>
              </a:rPr>
              <a:t>RSVP-TE</a:t>
            </a:r>
            <a:r>
              <a:rPr kumimoji="0" lang="zh-CN" altLang="en-US" sz="1400" b="1" i="0" u="none" strike="noStrike" cap="none" normalizeH="0" dirty="0">
                <a:ln>
                  <a:noFill/>
                </a:ln>
                <a:solidFill>
                  <a:srgbClr val="C7000B"/>
                </a:solidFill>
                <a:effectLst/>
                <a:latin typeface="+mn-lt"/>
                <a:ea typeface="微软雅黑" panose="020B0503020204020204" pitchFamily="34" charset="-122"/>
              </a:rPr>
              <a:t>，</a:t>
            </a:r>
            <a:r>
              <a:rPr lang="zh-CN" altLang="en-US" sz="1400" b="1" dirty="0">
                <a:solidFill>
                  <a:srgbClr val="C7000B"/>
                </a:solidFill>
                <a:ea typeface="微软雅黑" panose="020B0503020204020204" pitchFamily="34" charset="-122"/>
              </a:rPr>
              <a:t>简化配置，</a:t>
            </a:r>
            <a:endParaRPr kumimoji="0" lang="en-US" altLang="zh-CN" sz="1400" b="1" i="0" u="none" strike="noStrike" cap="none" normalizeH="0" dirty="0">
              <a:ln>
                <a:noFill/>
              </a:ln>
              <a:solidFill>
                <a:srgbClr val="C7000B"/>
              </a:solidFill>
              <a:effectLst/>
              <a:latin typeface="+mn-lt"/>
              <a:ea typeface="微软雅黑" panose="020B0503020204020204" pitchFamily="34" charset="-122"/>
            </a:endParaRPr>
          </a:p>
          <a:p>
            <a:r>
              <a:rPr kumimoji="0" lang="zh-CN" altLang="en-US" sz="1400" b="1" i="0" u="none" strike="noStrike" cap="none" normalizeH="0" dirty="0">
                <a:ln>
                  <a:noFill/>
                </a:ln>
                <a:solidFill>
                  <a:srgbClr val="C7000B"/>
                </a:solidFill>
                <a:effectLst/>
                <a:latin typeface="+mn-lt"/>
                <a:ea typeface="微软雅黑" panose="020B0503020204020204" pitchFamily="34" charset="-122"/>
              </a:rPr>
              <a:t>支持负载分担和严格路径。</a:t>
            </a:r>
            <a:endParaRPr kumimoji="0" lang="en-US" altLang="zh-CN" sz="1400" b="1" i="0" u="none" strike="noStrike" cap="none" normalizeH="0" dirty="0">
              <a:ln>
                <a:noFill/>
              </a:ln>
              <a:solidFill>
                <a:srgbClr val="C7000B"/>
              </a:solidFill>
              <a:effectLst/>
              <a:latin typeface="+mn-lt"/>
              <a:ea typeface="微软雅黑" panose="020B0503020204020204" pitchFamily="34" charset="-122"/>
            </a:endParaRPr>
          </a:p>
        </p:txBody>
      </p:sp>
      <p:sp>
        <p:nvSpPr>
          <p:cNvPr id="88" name="五边形 2">
            <a:extLst>
              <a:ext uri="{FF2B5EF4-FFF2-40B4-BE49-F238E27FC236}">
                <a16:creationId xmlns="" xmlns:a16="http://schemas.microsoft.com/office/drawing/2014/main" id="{82511AF2-C4FE-4F85-A5E7-8F53B9425750}"/>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89" name="燕尾形 3">
            <a:extLst>
              <a:ext uri="{FF2B5EF4-FFF2-40B4-BE49-F238E27FC236}">
                <a16:creationId xmlns="" xmlns:a16="http://schemas.microsoft.com/office/drawing/2014/main" id="{86ECADE7-E654-4CBF-B999-E2B6978EB36A}"/>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燕尾形 3">
            <a:extLst>
              <a:ext uri="{FF2B5EF4-FFF2-40B4-BE49-F238E27FC236}">
                <a16:creationId xmlns="" xmlns:a16="http://schemas.microsoft.com/office/drawing/2014/main" id="{01DAE5FC-E512-4936-AC01-76C60DEC013A}"/>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61672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159">
            <a:extLst>
              <a:ext uri="{FF2B5EF4-FFF2-40B4-BE49-F238E27FC236}">
                <a16:creationId xmlns="" xmlns:a16="http://schemas.microsoft.com/office/drawing/2014/main" id="{43124F72-C461-42C9-BC98-463198DE0CA8}"/>
              </a:ext>
            </a:extLst>
          </p:cNvPr>
          <p:cNvSpPr/>
          <p:nvPr/>
        </p:nvSpPr>
        <p:spPr bwMode="gray">
          <a:xfrm flipH="1">
            <a:off x="10460973" y="219327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28" name="Freeform 159">
            <a:extLst>
              <a:ext uri="{FF2B5EF4-FFF2-40B4-BE49-F238E27FC236}">
                <a16:creationId xmlns="" xmlns:a16="http://schemas.microsoft.com/office/drawing/2014/main" id="{E7481F37-D18C-4D6D-B1E1-193FC94A3344}"/>
              </a:ext>
            </a:extLst>
          </p:cNvPr>
          <p:cNvSpPr/>
          <p:nvPr/>
        </p:nvSpPr>
        <p:spPr bwMode="gray">
          <a:xfrm flipH="1">
            <a:off x="2202351" y="218402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2" name="Title 1">
            <a:extLst>
              <a:ext uri="{FF2B5EF4-FFF2-40B4-BE49-F238E27FC236}">
                <a16:creationId xmlns="" xmlns:a16="http://schemas.microsoft.com/office/drawing/2014/main" id="{6D3CEBDE-EE9A-47D7-AC9C-C299C14B654B}"/>
              </a:ext>
            </a:extLst>
          </p:cNvPr>
          <p:cNvSpPr>
            <a:spLocks noGrp="1"/>
          </p:cNvSpPr>
          <p:nvPr>
            <p:ph type="title"/>
          </p:nvPr>
        </p:nvSpPr>
        <p:spPr bwMode="gray"/>
        <p:txBody>
          <a:bodyPr/>
          <a:lstStyle/>
          <a:p>
            <a:r>
              <a:rPr lang="zh-CN" altLang="en-US" dirty="0"/>
              <a:t>基于</a:t>
            </a:r>
            <a:r>
              <a:rPr lang="en-US" altLang="zh-CN" dirty="0"/>
              <a:t>SR-MPLS</a:t>
            </a:r>
            <a:r>
              <a:rPr lang="zh-CN" altLang="en-US" dirty="0"/>
              <a:t>承载</a:t>
            </a:r>
            <a:r>
              <a:rPr lang="en-US" altLang="zh-CN" dirty="0"/>
              <a:t>VPN</a:t>
            </a:r>
            <a:r>
              <a:rPr lang="zh-CN" altLang="en-US" dirty="0"/>
              <a:t>流量</a:t>
            </a:r>
            <a:endParaRPr lang="en-US" dirty="0"/>
          </a:p>
        </p:txBody>
      </p:sp>
      <p:pic>
        <p:nvPicPr>
          <p:cNvPr id="4" name="图片 48">
            <a:extLst>
              <a:ext uri="{FF2B5EF4-FFF2-40B4-BE49-F238E27FC236}">
                <a16:creationId xmlns="" xmlns:a16="http://schemas.microsoft.com/office/drawing/2014/main" id="{ED4FA540-B971-4EEE-A783-056CC064D3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63518" y="2343337"/>
            <a:ext cx="378863" cy="310667"/>
          </a:xfrm>
          <a:prstGeom prst="rect">
            <a:avLst/>
          </a:prstGeom>
        </p:spPr>
      </p:pic>
      <p:pic>
        <p:nvPicPr>
          <p:cNvPr id="5" name="图片 48">
            <a:extLst>
              <a:ext uri="{FF2B5EF4-FFF2-40B4-BE49-F238E27FC236}">
                <a16:creationId xmlns="" xmlns:a16="http://schemas.microsoft.com/office/drawing/2014/main" id="{9E81F24A-31D8-4858-9DA6-A5B094378F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6568" y="2340403"/>
            <a:ext cx="378863" cy="310667"/>
          </a:xfrm>
          <a:prstGeom prst="rect">
            <a:avLst/>
          </a:prstGeom>
        </p:spPr>
      </p:pic>
      <p:pic>
        <p:nvPicPr>
          <p:cNvPr id="6" name="图片 48">
            <a:extLst>
              <a:ext uri="{FF2B5EF4-FFF2-40B4-BE49-F238E27FC236}">
                <a16:creationId xmlns="" xmlns:a16="http://schemas.microsoft.com/office/drawing/2014/main" id="{D1E85D9C-107A-4BC8-87C1-F9111DC64B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49618" y="2337469"/>
            <a:ext cx="378863" cy="310667"/>
          </a:xfrm>
          <a:prstGeom prst="rect">
            <a:avLst/>
          </a:prstGeom>
        </p:spPr>
      </p:pic>
      <p:cxnSp>
        <p:nvCxnSpPr>
          <p:cNvPr id="7" name="Straight Connector 6">
            <a:extLst>
              <a:ext uri="{FF2B5EF4-FFF2-40B4-BE49-F238E27FC236}">
                <a16:creationId xmlns="" xmlns:a16="http://schemas.microsoft.com/office/drawing/2014/main" id="{1E2DD63E-0684-4132-A166-B6EBA0B82EDC}"/>
              </a:ext>
            </a:extLst>
          </p:cNvPr>
          <p:cNvCxnSpPr>
            <a:cxnSpLocks/>
            <a:stCxn id="4" idx="3"/>
            <a:endCxn id="5" idx="1"/>
          </p:cNvCxnSpPr>
          <p:nvPr/>
        </p:nvCxnSpPr>
        <p:spPr bwMode="gray">
          <a:xfrm flipV="1">
            <a:off x="4742381" y="2495737"/>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2BC62B70-6DB9-4892-841E-AC7166F08DA9}"/>
              </a:ext>
            </a:extLst>
          </p:cNvPr>
          <p:cNvCxnSpPr>
            <a:cxnSpLocks/>
            <a:stCxn id="5" idx="3"/>
            <a:endCxn id="6" idx="1"/>
          </p:cNvCxnSpPr>
          <p:nvPr/>
        </p:nvCxnSpPr>
        <p:spPr bwMode="gray">
          <a:xfrm flipV="1">
            <a:off x="6285431" y="2492803"/>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 name="图片 48">
            <a:extLst>
              <a:ext uri="{FF2B5EF4-FFF2-40B4-BE49-F238E27FC236}">
                <a16:creationId xmlns="" xmlns:a16="http://schemas.microsoft.com/office/drawing/2014/main" id="{AE84C0C8-AC02-4766-97BA-62F13C5D81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7675" y="2337468"/>
            <a:ext cx="378863" cy="310667"/>
          </a:xfrm>
          <a:prstGeom prst="rect">
            <a:avLst/>
          </a:prstGeom>
        </p:spPr>
      </p:pic>
      <p:cxnSp>
        <p:nvCxnSpPr>
          <p:cNvPr id="14" name="Straight Connector 13">
            <a:extLst>
              <a:ext uri="{FF2B5EF4-FFF2-40B4-BE49-F238E27FC236}">
                <a16:creationId xmlns="" xmlns:a16="http://schemas.microsoft.com/office/drawing/2014/main" id="{3FDC14F8-30E1-42E9-AF15-F10DE43075A9}"/>
              </a:ext>
            </a:extLst>
          </p:cNvPr>
          <p:cNvCxnSpPr>
            <a:cxnSpLocks/>
            <a:stCxn id="13" idx="3"/>
            <a:endCxn id="4" idx="1"/>
          </p:cNvCxnSpPr>
          <p:nvPr/>
        </p:nvCxnSpPr>
        <p:spPr bwMode="gray">
          <a:xfrm>
            <a:off x="3366538" y="2492802"/>
            <a:ext cx="996980" cy="58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8" name="图片 48">
            <a:extLst>
              <a:ext uri="{FF2B5EF4-FFF2-40B4-BE49-F238E27FC236}">
                <a16:creationId xmlns="" xmlns:a16="http://schemas.microsoft.com/office/drawing/2014/main" id="{BA9B9593-9AAA-420E-BE53-8CD981A753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25462" y="2337467"/>
            <a:ext cx="378863" cy="310667"/>
          </a:xfrm>
          <a:prstGeom prst="rect">
            <a:avLst/>
          </a:prstGeom>
        </p:spPr>
      </p:pic>
      <p:cxnSp>
        <p:nvCxnSpPr>
          <p:cNvPr id="19" name="Straight Connector 18">
            <a:extLst>
              <a:ext uri="{FF2B5EF4-FFF2-40B4-BE49-F238E27FC236}">
                <a16:creationId xmlns="" xmlns:a16="http://schemas.microsoft.com/office/drawing/2014/main" id="{B46F0A4D-461D-443F-A7A3-F20A42E8F01F}"/>
              </a:ext>
            </a:extLst>
          </p:cNvPr>
          <p:cNvCxnSpPr>
            <a:cxnSpLocks/>
            <a:stCxn id="6" idx="3"/>
            <a:endCxn id="18" idx="1"/>
          </p:cNvCxnSpPr>
          <p:nvPr/>
        </p:nvCxnSpPr>
        <p:spPr bwMode="gray">
          <a:xfrm flipV="1">
            <a:off x="7828481" y="2492801"/>
            <a:ext cx="996981" cy="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98">
            <a:extLst>
              <a:ext uri="{FF2B5EF4-FFF2-40B4-BE49-F238E27FC236}">
                <a16:creationId xmlns="" xmlns:a16="http://schemas.microsoft.com/office/drawing/2014/main" id="{8C737BF4-0FF8-4182-87AF-EA7CCAF3FE12}"/>
              </a:ext>
            </a:extLst>
          </p:cNvPr>
          <p:cNvSpPr txBox="1"/>
          <p:nvPr/>
        </p:nvSpPr>
        <p:spPr bwMode="gray">
          <a:xfrm>
            <a:off x="4363517" y="2654004"/>
            <a:ext cx="378863" cy="161866"/>
          </a:xfrm>
          <a:prstGeom prst="rect">
            <a:avLst/>
          </a:prstGeom>
          <a:noFill/>
        </p:spPr>
        <p:txBody>
          <a:bodyPr wrap="none" lIns="0" tIns="0" rIns="0" bIns="0" rtlCol="0" anchor="ctr" anchorCtr="0">
            <a:noAutofit/>
          </a:bodyPr>
          <a:lstStyle/>
          <a:p>
            <a:pPr algn="ctr"/>
            <a:r>
              <a:rPr lang="en-US" altLang="zh-CN" sz="1400" dirty="0"/>
              <a:t>PE1</a:t>
            </a:r>
            <a:endParaRPr lang="zh-CN" altLang="en-US" sz="1400" dirty="0"/>
          </a:p>
        </p:txBody>
      </p:sp>
      <p:sp>
        <p:nvSpPr>
          <p:cNvPr id="24" name="文本框 98">
            <a:extLst>
              <a:ext uri="{FF2B5EF4-FFF2-40B4-BE49-F238E27FC236}">
                <a16:creationId xmlns="" xmlns:a16="http://schemas.microsoft.com/office/drawing/2014/main" id="{E9BF1A65-39CF-4E7C-9DAD-693F82FF57B9}"/>
              </a:ext>
            </a:extLst>
          </p:cNvPr>
          <p:cNvSpPr txBox="1"/>
          <p:nvPr/>
        </p:nvSpPr>
        <p:spPr bwMode="gray">
          <a:xfrm>
            <a:off x="7449618" y="2681503"/>
            <a:ext cx="378863" cy="161866"/>
          </a:xfrm>
          <a:prstGeom prst="rect">
            <a:avLst/>
          </a:prstGeom>
          <a:noFill/>
        </p:spPr>
        <p:txBody>
          <a:bodyPr wrap="none" lIns="0" tIns="0" rIns="0" bIns="0" rtlCol="0" anchor="ctr" anchorCtr="0">
            <a:noAutofit/>
          </a:bodyPr>
          <a:lstStyle/>
          <a:p>
            <a:pPr algn="ctr"/>
            <a:r>
              <a:rPr lang="en-US" altLang="zh-CN" sz="1400" dirty="0"/>
              <a:t>P2</a:t>
            </a:r>
            <a:endParaRPr lang="zh-CN" altLang="en-US" sz="1400" dirty="0"/>
          </a:p>
        </p:txBody>
      </p:sp>
      <p:sp>
        <p:nvSpPr>
          <p:cNvPr id="25" name="文本框 98">
            <a:extLst>
              <a:ext uri="{FF2B5EF4-FFF2-40B4-BE49-F238E27FC236}">
                <a16:creationId xmlns="" xmlns:a16="http://schemas.microsoft.com/office/drawing/2014/main" id="{B85694F8-F5C1-462C-946A-CEC0D9B96EB1}"/>
              </a:ext>
            </a:extLst>
          </p:cNvPr>
          <p:cNvSpPr txBox="1"/>
          <p:nvPr/>
        </p:nvSpPr>
        <p:spPr bwMode="gray">
          <a:xfrm>
            <a:off x="5912917" y="2658110"/>
            <a:ext cx="378863" cy="161866"/>
          </a:xfrm>
          <a:prstGeom prst="rect">
            <a:avLst/>
          </a:prstGeom>
          <a:noFill/>
        </p:spPr>
        <p:txBody>
          <a:bodyPr wrap="none" lIns="0" tIns="0" rIns="0" bIns="0" rtlCol="0" anchor="ctr" anchorCtr="0">
            <a:noAutofit/>
          </a:bodyPr>
          <a:lstStyle/>
          <a:p>
            <a:pPr algn="ctr"/>
            <a:r>
              <a:rPr lang="en-US" altLang="zh-CN" sz="1400" dirty="0"/>
              <a:t>P1</a:t>
            </a:r>
            <a:endParaRPr lang="zh-CN" altLang="en-US" sz="1400" dirty="0"/>
          </a:p>
        </p:txBody>
      </p:sp>
      <p:sp>
        <p:nvSpPr>
          <p:cNvPr id="26" name="文本框 98">
            <a:extLst>
              <a:ext uri="{FF2B5EF4-FFF2-40B4-BE49-F238E27FC236}">
                <a16:creationId xmlns="" xmlns:a16="http://schemas.microsoft.com/office/drawing/2014/main" id="{B811C322-CAA4-4C39-9A2C-2398ACBA2F0D}"/>
              </a:ext>
            </a:extLst>
          </p:cNvPr>
          <p:cNvSpPr txBox="1"/>
          <p:nvPr/>
        </p:nvSpPr>
        <p:spPr bwMode="gray">
          <a:xfrm>
            <a:off x="2987674" y="2658110"/>
            <a:ext cx="378863" cy="161866"/>
          </a:xfrm>
          <a:prstGeom prst="rect">
            <a:avLst/>
          </a:prstGeom>
          <a:noFill/>
        </p:spPr>
        <p:txBody>
          <a:bodyPr wrap="none" lIns="0" tIns="0" rIns="0" bIns="0" rtlCol="0" anchor="ctr" anchorCtr="0">
            <a:noAutofit/>
          </a:bodyPr>
          <a:lstStyle/>
          <a:p>
            <a:pPr algn="ctr"/>
            <a:r>
              <a:rPr lang="en-US" altLang="zh-CN" sz="1400" dirty="0"/>
              <a:t>CE1</a:t>
            </a:r>
            <a:endParaRPr lang="zh-CN" altLang="en-US" sz="1400" dirty="0"/>
          </a:p>
        </p:txBody>
      </p:sp>
      <p:sp>
        <p:nvSpPr>
          <p:cNvPr id="27" name="文本框 98">
            <a:extLst>
              <a:ext uri="{FF2B5EF4-FFF2-40B4-BE49-F238E27FC236}">
                <a16:creationId xmlns="" xmlns:a16="http://schemas.microsoft.com/office/drawing/2014/main" id="{3323714C-0874-4AC1-86BE-1244B368FE5B}"/>
              </a:ext>
            </a:extLst>
          </p:cNvPr>
          <p:cNvSpPr txBox="1"/>
          <p:nvPr/>
        </p:nvSpPr>
        <p:spPr bwMode="gray">
          <a:xfrm>
            <a:off x="8831811" y="2651070"/>
            <a:ext cx="378863" cy="161866"/>
          </a:xfrm>
          <a:prstGeom prst="rect">
            <a:avLst/>
          </a:prstGeom>
          <a:noFill/>
        </p:spPr>
        <p:txBody>
          <a:bodyPr wrap="none" lIns="0" tIns="0" rIns="0" bIns="0" rtlCol="0" anchor="ctr" anchorCtr="0">
            <a:noAutofit/>
          </a:bodyPr>
          <a:lstStyle/>
          <a:p>
            <a:pPr algn="ctr"/>
            <a:r>
              <a:rPr lang="en-US" altLang="zh-CN" sz="1400" dirty="0"/>
              <a:t>PE2</a:t>
            </a:r>
            <a:endParaRPr lang="zh-CN" altLang="en-US" sz="1400" dirty="0"/>
          </a:p>
        </p:txBody>
      </p:sp>
      <p:sp>
        <p:nvSpPr>
          <p:cNvPr id="30" name="圆角矩形 75">
            <a:extLst>
              <a:ext uri="{FF2B5EF4-FFF2-40B4-BE49-F238E27FC236}">
                <a16:creationId xmlns="" xmlns:a16="http://schemas.microsoft.com/office/drawing/2014/main" id="{CE1B8882-1313-43F7-9B08-FC50FC7011C9}"/>
              </a:ext>
            </a:extLst>
          </p:cNvPr>
          <p:cNvSpPr/>
          <p:nvPr/>
        </p:nvSpPr>
        <p:spPr bwMode="gray">
          <a:xfrm>
            <a:off x="4151860" y="1218413"/>
            <a:ext cx="5287212"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 name="TextBox 271">
            <a:extLst>
              <a:ext uri="{FF2B5EF4-FFF2-40B4-BE49-F238E27FC236}">
                <a16:creationId xmlns="" xmlns:a16="http://schemas.microsoft.com/office/drawing/2014/main" id="{9556AF14-71F3-4B1B-B22B-23B690834AAE}"/>
              </a:ext>
            </a:extLst>
          </p:cNvPr>
          <p:cNvSpPr txBox="1"/>
          <p:nvPr/>
        </p:nvSpPr>
        <p:spPr bwMode="gray">
          <a:xfrm>
            <a:off x="4191310" y="3117884"/>
            <a:ext cx="1091966" cy="307777"/>
          </a:xfrm>
          <a:prstGeom prst="rect">
            <a:avLst/>
          </a:prstGeom>
          <a:solidFill>
            <a:srgbClr val="56C4D2"/>
          </a:solidFill>
        </p:spPr>
        <p:txBody>
          <a:bodyPr wrap="none" rtlCol="0">
            <a:spAutoFit/>
          </a:bodyPr>
          <a:lstStyle/>
          <a:p>
            <a:pPr>
              <a:buFont typeface="Wingdings" pitchFamily="2" charset="2"/>
              <a:buNone/>
              <a:defRPr/>
            </a:pP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 Domain</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5" name="Table 35">
            <a:extLst>
              <a:ext uri="{FF2B5EF4-FFF2-40B4-BE49-F238E27FC236}">
                <a16:creationId xmlns="" xmlns:a16="http://schemas.microsoft.com/office/drawing/2014/main" id="{D7AF502E-F164-41B1-B785-C58783BF46DF}"/>
              </a:ext>
            </a:extLst>
          </p:cNvPr>
          <p:cNvGraphicFramePr>
            <a:graphicFrameLocks noGrp="1"/>
          </p:cNvGraphicFramePr>
          <p:nvPr>
            <p:extLst>
              <p:ext uri="{D42A27DB-BD31-4B8C-83A1-F6EECF244321}">
                <p14:modId xmlns:p14="http://schemas.microsoft.com/office/powerpoint/2010/main" val="1406304596"/>
              </p:ext>
            </p:extLst>
          </p:nvPr>
        </p:nvGraphicFramePr>
        <p:xfrm>
          <a:off x="4824005" y="1507470"/>
          <a:ext cx="647145" cy="82296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0">
                <a:tc>
                  <a:txBody>
                    <a:bodyPr/>
                    <a:lstStyle/>
                    <a:p>
                      <a:pPr algn="ctr"/>
                      <a:r>
                        <a:rPr lang="en-US" sz="1200" b="0" dirty="0">
                          <a:solidFill>
                            <a:schemeClr val="tx1"/>
                          </a:solidFill>
                        </a:rPr>
                        <a:t>1036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822609249"/>
                  </a:ext>
                </a:extLst>
              </a:tr>
              <a:tr h="130261">
                <a:tc>
                  <a:txBody>
                    <a:bodyPr/>
                    <a:lstStyle/>
                    <a:p>
                      <a:pPr algn="ctr"/>
                      <a:r>
                        <a:rPr lang="en-US" sz="1200" dirty="0"/>
                        <a:t>1024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36" name="Table 35">
            <a:extLst>
              <a:ext uri="{FF2B5EF4-FFF2-40B4-BE49-F238E27FC236}">
                <a16:creationId xmlns="" xmlns:a16="http://schemas.microsoft.com/office/drawing/2014/main" id="{121D1617-58BE-4EFB-81CE-E515E24C2070}"/>
              </a:ext>
            </a:extLst>
          </p:cNvPr>
          <p:cNvGraphicFramePr>
            <a:graphicFrameLocks noGrp="1"/>
          </p:cNvGraphicFramePr>
          <p:nvPr>
            <p:extLst>
              <p:ext uri="{D42A27DB-BD31-4B8C-83A1-F6EECF244321}">
                <p14:modId xmlns:p14="http://schemas.microsoft.com/office/powerpoint/2010/main" val="4129253224"/>
              </p:ext>
            </p:extLst>
          </p:nvPr>
        </p:nvGraphicFramePr>
        <p:xfrm>
          <a:off x="6317077" y="1507470"/>
          <a:ext cx="647145" cy="82296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0">
                <a:tc>
                  <a:txBody>
                    <a:bodyPr/>
                    <a:lstStyle/>
                    <a:p>
                      <a:pPr algn="ctr"/>
                      <a:r>
                        <a:rPr lang="en-US" sz="1200" b="0" dirty="0">
                          <a:solidFill>
                            <a:schemeClr val="tx1"/>
                          </a:solidFill>
                        </a:rPr>
                        <a:t>1031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822609249"/>
                  </a:ext>
                </a:extLst>
              </a:tr>
              <a:tr h="130261">
                <a:tc>
                  <a:txBody>
                    <a:bodyPr/>
                    <a:lstStyle/>
                    <a:p>
                      <a:pPr algn="ctr"/>
                      <a:r>
                        <a:rPr lang="en-US" sz="1200" dirty="0"/>
                        <a:t>1024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37" name="Table 35">
            <a:extLst>
              <a:ext uri="{FF2B5EF4-FFF2-40B4-BE49-F238E27FC236}">
                <a16:creationId xmlns="" xmlns:a16="http://schemas.microsoft.com/office/drawing/2014/main" id="{4F987ECA-8F6E-4E5A-8A56-00E75E92B2AE}"/>
              </a:ext>
            </a:extLst>
          </p:cNvPr>
          <p:cNvGraphicFramePr>
            <a:graphicFrameLocks noGrp="1"/>
          </p:cNvGraphicFramePr>
          <p:nvPr>
            <p:extLst>
              <p:ext uri="{D42A27DB-BD31-4B8C-83A1-F6EECF244321}">
                <p14:modId xmlns:p14="http://schemas.microsoft.com/office/powerpoint/2010/main" val="2061055135"/>
              </p:ext>
            </p:extLst>
          </p:nvPr>
        </p:nvGraphicFramePr>
        <p:xfrm>
          <a:off x="3401762" y="2048192"/>
          <a:ext cx="647145" cy="27432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130261">
                <a:tc>
                  <a:txBody>
                    <a:bodyPr/>
                    <a:lstStyle/>
                    <a:p>
                      <a:pPr algn="ctr"/>
                      <a:r>
                        <a:rPr lang="en-US" sz="1200" b="0" kern="1200" dirty="0">
                          <a:solidFill>
                            <a:schemeClr val="tx1"/>
                          </a:solidFill>
                          <a:latin typeface="+mn-lt"/>
                          <a:ea typeface="+mn-ea"/>
                          <a:cs typeface="+mn-cs"/>
                        </a:rPr>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38" name="Table 35">
            <a:extLst>
              <a:ext uri="{FF2B5EF4-FFF2-40B4-BE49-F238E27FC236}">
                <a16:creationId xmlns="" xmlns:a16="http://schemas.microsoft.com/office/drawing/2014/main" id="{804E4915-AD08-4EC6-952B-1958DC72DE8C}"/>
              </a:ext>
            </a:extLst>
          </p:cNvPr>
          <p:cNvGraphicFramePr>
            <a:graphicFrameLocks noGrp="1"/>
          </p:cNvGraphicFramePr>
          <p:nvPr>
            <p:extLst>
              <p:ext uri="{D42A27DB-BD31-4B8C-83A1-F6EECF244321}">
                <p14:modId xmlns:p14="http://schemas.microsoft.com/office/powerpoint/2010/main" val="1745811874"/>
              </p:ext>
            </p:extLst>
          </p:nvPr>
        </p:nvGraphicFramePr>
        <p:xfrm>
          <a:off x="9308374" y="2048192"/>
          <a:ext cx="647145" cy="27432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130261">
                <a:tc>
                  <a:txBody>
                    <a:bodyPr/>
                    <a:lstStyle/>
                    <a:p>
                      <a:pPr algn="ctr"/>
                      <a:r>
                        <a:rPr lang="en-US" sz="1200" b="0" kern="1200" dirty="0">
                          <a:solidFill>
                            <a:schemeClr val="tx1"/>
                          </a:solidFill>
                          <a:latin typeface="+mn-lt"/>
                          <a:ea typeface="+mn-ea"/>
                          <a:cs typeface="+mn-cs"/>
                        </a:rPr>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cxnSp>
        <p:nvCxnSpPr>
          <p:cNvPr id="40" name="Straight Arrow Connector 39">
            <a:extLst>
              <a:ext uri="{FF2B5EF4-FFF2-40B4-BE49-F238E27FC236}">
                <a16:creationId xmlns="" xmlns:a16="http://schemas.microsoft.com/office/drawing/2014/main" id="{E5B5623E-D572-4B6C-99F9-C6E3F18E459E}"/>
              </a:ext>
            </a:extLst>
          </p:cNvPr>
          <p:cNvCxnSpPr>
            <a:cxnSpLocks/>
          </p:cNvCxnSpPr>
          <p:nvPr/>
        </p:nvCxnSpPr>
        <p:spPr bwMode="gray">
          <a:xfrm>
            <a:off x="3443288" y="2419725"/>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 xmlns:a16="http://schemas.microsoft.com/office/drawing/2014/main" id="{EC412962-A897-49B4-BCFC-7BCF9F2D1C36}"/>
              </a:ext>
            </a:extLst>
          </p:cNvPr>
          <p:cNvCxnSpPr>
            <a:cxnSpLocks/>
          </p:cNvCxnSpPr>
          <p:nvPr/>
        </p:nvCxnSpPr>
        <p:spPr bwMode="gray">
          <a:xfrm>
            <a:off x="4786313" y="2419725"/>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3C170721-F38B-4355-936D-EFE4CF23AAB3}"/>
              </a:ext>
            </a:extLst>
          </p:cNvPr>
          <p:cNvCxnSpPr>
            <a:cxnSpLocks/>
          </p:cNvCxnSpPr>
          <p:nvPr/>
        </p:nvCxnSpPr>
        <p:spPr bwMode="gray">
          <a:xfrm>
            <a:off x="6317077" y="2419725"/>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 xmlns:a16="http://schemas.microsoft.com/office/drawing/2014/main" id="{AC15F8F7-D6FB-40F6-A65D-1776D8F75C08}"/>
              </a:ext>
            </a:extLst>
          </p:cNvPr>
          <p:cNvCxnSpPr>
            <a:cxnSpLocks/>
          </p:cNvCxnSpPr>
          <p:nvPr/>
        </p:nvCxnSpPr>
        <p:spPr bwMode="gray">
          <a:xfrm>
            <a:off x="7890669" y="2419725"/>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72" name="图片 24">
            <a:extLst>
              <a:ext uri="{FF2B5EF4-FFF2-40B4-BE49-F238E27FC236}">
                <a16:creationId xmlns="" xmlns:a16="http://schemas.microsoft.com/office/drawing/2014/main" id="{51785BD0-90E5-404F-B46F-1ADB816C2B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061364" y="3930628"/>
            <a:ext cx="1502493" cy="277100"/>
          </a:xfrm>
          <a:prstGeom prst="rect">
            <a:avLst/>
          </a:prstGeom>
        </p:spPr>
      </p:pic>
      <p:sp>
        <p:nvSpPr>
          <p:cNvPr id="73" name="圆角矩形 75">
            <a:extLst>
              <a:ext uri="{FF2B5EF4-FFF2-40B4-BE49-F238E27FC236}">
                <a16:creationId xmlns="" xmlns:a16="http://schemas.microsoft.com/office/drawing/2014/main" id="{1FD73CE5-0A23-4DCB-8564-C75122ADAA8B}"/>
              </a:ext>
            </a:extLst>
          </p:cNvPr>
          <p:cNvSpPr/>
          <p:nvPr/>
        </p:nvSpPr>
        <p:spPr bwMode="gray">
          <a:xfrm>
            <a:off x="10002891" y="3911902"/>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74" name="Straight Connector 73">
            <a:extLst>
              <a:ext uri="{FF2B5EF4-FFF2-40B4-BE49-F238E27FC236}">
                <a16:creationId xmlns="" xmlns:a16="http://schemas.microsoft.com/office/drawing/2014/main" id="{05004B01-DB8C-4E6D-8A5E-5368F58F048D}"/>
              </a:ext>
            </a:extLst>
          </p:cNvPr>
          <p:cNvCxnSpPr>
            <a:cxnSpLocks/>
            <a:endCxn id="73" idx="1"/>
          </p:cNvCxnSpPr>
          <p:nvPr/>
        </p:nvCxnSpPr>
        <p:spPr bwMode="gray">
          <a:xfrm>
            <a:off x="9439699" y="4065128"/>
            <a:ext cx="56319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7" name="图片 48">
            <a:extLst>
              <a:ext uri="{FF2B5EF4-FFF2-40B4-BE49-F238E27FC236}">
                <a16:creationId xmlns="" xmlns:a16="http://schemas.microsoft.com/office/drawing/2014/main" id="{AA8E65AF-C7A6-4E7B-8808-9139852076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14061" y="2340403"/>
            <a:ext cx="378863" cy="310667"/>
          </a:xfrm>
          <a:prstGeom prst="rect">
            <a:avLst/>
          </a:prstGeom>
        </p:spPr>
      </p:pic>
      <p:cxnSp>
        <p:nvCxnSpPr>
          <p:cNvPr id="78" name="Straight Connector 77">
            <a:extLst>
              <a:ext uri="{FF2B5EF4-FFF2-40B4-BE49-F238E27FC236}">
                <a16:creationId xmlns="" xmlns:a16="http://schemas.microsoft.com/office/drawing/2014/main" id="{E50FAD32-5A48-4F31-829B-F4601F5BADB1}"/>
              </a:ext>
            </a:extLst>
          </p:cNvPr>
          <p:cNvCxnSpPr>
            <a:cxnSpLocks/>
            <a:stCxn id="18" idx="3"/>
            <a:endCxn id="77" idx="1"/>
          </p:cNvCxnSpPr>
          <p:nvPr/>
        </p:nvCxnSpPr>
        <p:spPr bwMode="gray">
          <a:xfrm>
            <a:off x="9204325" y="2492801"/>
            <a:ext cx="1009736"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2" name="文本框 98">
            <a:extLst>
              <a:ext uri="{FF2B5EF4-FFF2-40B4-BE49-F238E27FC236}">
                <a16:creationId xmlns="" xmlns:a16="http://schemas.microsoft.com/office/drawing/2014/main" id="{D28AEE9F-02FF-49DC-AD7C-87A6EA31C2E8}"/>
              </a:ext>
            </a:extLst>
          </p:cNvPr>
          <p:cNvSpPr txBox="1"/>
          <p:nvPr/>
        </p:nvSpPr>
        <p:spPr bwMode="gray">
          <a:xfrm>
            <a:off x="10214060" y="2651070"/>
            <a:ext cx="378863" cy="161866"/>
          </a:xfrm>
          <a:prstGeom prst="rect">
            <a:avLst/>
          </a:prstGeom>
          <a:noFill/>
        </p:spPr>
        <p:txBody>
          <a:bodyPr wrap="none" lIns="0" tIns="0" rIns="0" bIns="0" rtlCol="0" anchor="ctr" anchorCtr="0">
            <a:noAutofit/>
          </a:bodyPr>
          <a:lstStyle/>
          <a:p>
            <a:pPr algn="ctr"/>
            <a:r>
              <a:rPr lang="en-US" altLang="zh-CN" sz="1400" dirty="0"/>
              <a:t>CE2</a:t>
            </a:r>
            <a:endParaRPr lang="zh-CN" altLang="en-US" sz="1400" dirty="0"/>
          </a:p>
        </p:txBody>
      </p:sp>
      <p:cxnSp>
        <p:nvCxnSpPr>
          <p:cNvPr id="83" name="Straight Arrow Connector 82">
            <a:extLst>
              <a:ext uri="{FF2B5EF4-FFF2-40B4-BE49-F238E27FC236}">
                <a16:creationId xmlns="" xmlns:a16="http://schemas.microsoft.com/office/drawing/2014/main" id="{FEACC621-937C-47BA-AE6F-D491578C59B7}"/>
              </a:ext>
            </a:extLst>
          </p:cNvPr>
          <p:cNvCxnSpPr>
            <a:cxnSpLocks/>
          </p:cNvCxnSpPr>
          <p:nvPr/>
        </p:nvCxnSpPr>
        <p:spPr bwMode="gray">
          <a:xfrm>
            <a:off x="9272891" y="2430311"/>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84" name="Table 83">
            <a:extLst>
              <a:ext uri="{FF2B5EF4-FFF2-40B4-BE49-F238E27FC236}">
                <a16:creationId xmlns="" xmlns:a16="http://schemas.microsoft.com/office/drawing/2014/main" id="{C31E5BAD-73E3-4175-93A8-133BDE7708C8}"/>
              </a:ext>
            </a:extLst>
          </p:cNvPr>
          <p:cNvGraphicFramePr>
            <a:graphicFrameLocks noGrp="1"/>
          </p:cNvGraphicFramePr>
          <p:nvPr>
            <p:extLst>
              <p:ext uri="{D42A27DB-BD31-4B8C-83A1-F6EECF244321}">
                <p14:modId xmlns:p14="http://schemas.microsoft.com/office/powerpoint/2010/main" val="1508522882"/>
              </p:ext>
            </p:extLst>
          </p:nvPr>
        </p:nvGraphicFramePr>
        <p:xfrm>
          <a:off x="7925590" y="1507470"/>
          <a:ext cx="647145" cy="82296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0">
                <a:tc>
                  <a:txBody>
                    <a:bodyPr/>
                    <a:lstStyle/>
                    <a:p>
                      <a:pPr algn="ctr"/>
                      <a:r>
                        <a:rPr lang="en-US" sz="1200" b="0" dirty="0">
                          <a:solidFill>
                            <a:schemeClr val="tx1"/>
                          </a:solidFill>
                        </a:rPr>
                        <a:t>1036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822609249"/>
                  </a:ext>
                </a:extLst>
              </a:tr>
              <a:tr h="130261">
                <a:tc>
                  <a:txBody>
                    <a:bodyPr/>
                    <a:lstStyle/>
                    <a:p>
                      <a:pPr algn="ctr"/>
                      <a:r>
                        <a:rPr lang="en-US" sz="1200" dirty="0"/>
                        <a:t>1024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sp>
        <p:nvSpPr>
          <p:cNvPr id="85" name="Freeform 159">
            <a:extLst>
              <a:ext uri="{FF2B5EF4-FFF2-40B4-BE49-F238E27FC236}">
                <a16:creationId xmlns="" xmlns:a16="http://schemas.microsoft.com/office/drawing/2014/main" id="{0F2781B2-9D34-495A-B800-2E0B079EC966}"/>
              </a:ext>
            </a:extLst>
          </p:cNvPr>
          <p:cNvSpPr/>
          <p:nvPr/>
        </p:nvSpPr>
        <p:spPr bwMode="gray">
          <a:xfrm flipH="1">
            <a:off x="10460973" y="482430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86" name="Freeform 159">
            <a:extLst>
              <a:ext uri="{FF2B5EF4-FFF2-40B4-BE49-F238E27FC236}">
                <a16:creationId xmlns="" xmlns:a16="http://schemas.microsoft.com/office/drawing/2014/main" id="{4CB38E65-2A68-4F3F-BE46-B90BF6FD6146}"/>
              </a:ext>
            </a:extLst>
          </p:cNvPr>
          <p:cNvSpPr/>
          <p:nvPr/>
        </p:nvSpPr>
        <p:spPr bwMode="gray">
          <a:xfrm flipH="1">
            <a:off x="2202351" y="481506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87" name="图片 48">
            <a:extLst>
              <a:ext uri="{FF2B5EF4-FFF2-40B4-BE49-F238E27FC236}">
                <a16:creationId xmlns="" xmlns:a16="http://schemas.microsoft.com/office/drawing/2014/main" id="{AA213C64-3C3B-4746-B87C-CEC4F3D804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63518" y="4974370"/>
            <a:ext cx="378863" cy="310667"/>
          </a:xfrm>
          <a:prstGeom prst="rect">
            <a:avLst/>
          </a:prstGeom>
        </p:spPr>
      </p:pic>
      <p:pic>
        <p:nvPicPr>
          <p:cNvPr id="88" name="图片 48">
            <a:extLst>
              <a:ext uri="{FF2B5EF4-FFF2-40B4-BE49-F238E27FC236}">
                <a16:creationId xmlns="" xmlns:a16="http://schemas.microsoft.com/office/drawing/2014/main" id="{9C9D9E5C-2BF3-420A-AE02-3B76EBAF59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6568" y="4971436"/>
            <a:ext cx="378863" cy="310667"/>
          </a:xfrm>
          <a:prstGeom prst="rect">
            <a:avLst/>
          </a:prstGeom>
        </p:spPr>
      </p:pic>
      <p:pic>
        <p:nvPicPr>
          <p:cNvPr id="89" name="图片 48">
            <a:extLst>
              <a:ext uri="{FF2B5EF4-FFF2-40B4-BE49-F238E27FC236}">
                <a16:creationId xmlns="" xmlns:a16="http://schemas.microsoft.com/office/drawing/2014/main" id="{114477C8-0553-48C8-9722-ACFEE20985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49618" y="4968502"/>
            <a:ext cx="378863" cy="310667"/>
          </a:xfrm>
          <a:prstGeom prst="rect">
            <a:avLst/>
          </a:prstGeom>
        </p:spPr>
      </p:pic>
      <p:cxnSp>
        <p:nvCxnSpPr>
          <p:cNvPr id="90" name="Straight Connector 89">
            <a:extLst>
              <a:ext uri="{FF2B5EF4-FFF2-40B4-BE49-F238E27FC236}">
                <a16:creationId xmlns="" xmlns:a16="http://schemas.microsoft.com/office/drawing/2014/main" id="{6C05EF6E-AC38-477E-A5C6-B3500D6E56C4}"/>
              </a:ext>
            </a:extLst>
          </p:cNvPr>
          <p:cNvCxnSpPr>
            <a:cxnSpLocks/>
            <a:stCxn id="87" idx="3"/>
            <a:endCxn id="88" idx="1"/>
          </p:cNvCxnSpPr>
          <p:nvPr/>
        </p:nvCxnSpPr>
        <p:spPr bwMode="gray">
          <a:xfrm flipV="1">
            <a:off x="4742381" y="5126770"/>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9FB10784-7059-41B8-8F3B-C719239F17E4}"/>
              </a:ext>
            </a:extLst>
          </p:cNvPr>
          <p:cNvCxnSpPr>
            <a:cxnSpLocks/>
            <a:stCxn id="88" idx="3"/>
            <a:endCxn id="89" idx="1"/>
          </p:cNvCxnSpPr>
          <p:nvPr/>
        </p:nvCxnSpPr>
        <p:spPr bwMode="gray">
          <a:xfrm flipV="1">
            <a:off x="6285431" y="5123836"/>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2" name="图片 48">
            <a:extLst>
              <a:ext uri="{FF2B5EF4-FFF2-40B4-BE49-F238E27FC236}">
                <a16:creationId xmlns="" xmlns:a16="http://schemas.microsoft.com/office/drawing/2014/main" id="{4A7A07A3-2E1B-4008-BD31-4E9B974D6D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7675" y="4968501"/>
            <a:ext cx="378863" cy="310667"/>
          </a:xfrm>
          <a:prstGeom prst="rect">
            <a:avLst/>
          </a:prstGeom>
        </p:spPr>
      </p:pic>
      <p:cxnSp>
        <p:nvCxnSpPr>
          <p:cNvPr id="93" name="Straight Connector 92">
            <a:extLst>
              <a:ext uri="{FF2B5EF4-FFF2-40B4-BE49-F238E27FC236}">
                <a16:creationId xmlns="" xmlns:a16="http://schemas.microsoft.com/office/drawing/2014/main" id="{BB08465E-2AA2-4263-8C23-05858EC525C8}"/>
              </a:ext>
            </a:extLst>
          </p:cNvPr>
          <p:cNvCxnSpPr>
            <a:cxnSpLocks/>
            <a:stCxn id="92" idx="3"/>
            <a:endCxn id="87" idx="1"/>
          </p:cNvCxnSpPr>
          <p:nvPr/>
        </p:nvCxnSpPr>
        <p:spPr bwMode="gray">
          <a:xfrm>
            <a:off x="3366538" y="5123835"/>
            <a:ext cx="996980" cy="58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4" name="图片 48">
            <a:extLst>
              <a:ext uri="{FF2B5EF4-FFF2-40B4-BE49-F238E27FC236}">
                <a16:creationId xmlns="" xmlns:a16="http://schemas.microsoft.com/office/drawing/2014/main" id="{51A8BBA9-11A8-455F-9094-6DFD125AAA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25462" y="4968500"/>
            <a:ext cx="378863" cy="310667"/>
          </a:xfrm>
          <a:prstGeom prst="rect">
            <a:avLst/>
          </a:prstGeom>
        </p:spPr>
      </p:pic>
      <p:cxnSp>
        <p:nvCxnSpPr>
          <p:cNvPr id="95" name="Straight Connector 94">
            <a:extLst>
              <a:ext uri="{FF2B5EF4-FFF2-40B4-BE49-F238E27FC236}">
                <a16:creationId xmlns="" xmlns:a16="http://schemas.microsoft.com/office/drawing/2014/main" id="{0226DAC4-C26A-4C4D-90BC-42680CA9A5F9}"/>
              </a:ext>
            </a:extLst>
          </p:cNvPr>
          <p:cNvCxnSpPr>
            <a:cxnSpLocks/>
            <a:stCxn id="89" idx="3"/>
            <a:endCxn id="94" idx="1"/>
          </p:cNvCxnSpPr>
          <p:nvPr/>
        </p:nvCxnSpPr>
        <p:spPr bwMode="gray">
          <a:xfrm flipV="1">
            <a:off x="7828481" y="5123834"/>
            <a:ext cx="996981" cy="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6" name="文本框 98">
            <a:extLst>
              <a:ext uri="{FF2B5EF4-FFF2-40B4-BE49-F238E27FC236}">
                <a16:creationId xmlns="" xmlns:a16="http://schemas.microsoft.com/office/drawing/2014/main" id="{030521E8-8FBF-41F1-A54D-753B05B63739}"/>
              </a:ext>
            </a:extLst>
          </p:cNvPr>
          <p:cNvSpPr txBox="1"/>
          <p:nvPr/>
        </p:nvSpPr>
        <p:spPr bwMode="gray">
          <a:xfrm>
            <a:off x="4363517" y="5285037"/>
            <a:ext cx="378863" cy="161866"/>
          </a:xfrm>
          <a:prstGeom prst="rect">
            <a:avLst/>
          </a:prstGeom>
          <a:noFill/>
        </p:spPr>
        <p:txBody>
          <a:bodyPr wrap="none" lIns="0" tIns="0" rIns="0" bIns="0" rtlCol="0" anchor="ctr" anchorCtr="0">
            <a:noAutofit/>
          </a:bodyPr>
          <a:lstStyle/>
          <a:p>
            <a:pPr algn="ctr"/>
            <a:r>
              <a:rPr lang="en-US" altLang="zh-CN" sz="1400" dirty="0"/>
              <a:t>PE1</a:t>
            </a:r>
            <a:endParaRPr lang="zh-CN" altLang="en-US" sz="1400" dirty="0"/>
          </a:p>
        </p:txBody>
      </p:sp>
      <p:sp>
        <p:nvSpPr>
          <p:cNvPr id="97" name="文本框 98">
            <a:extLst>
              <a:ext uri="{FF2B5EF4-FFF2-40B4-BE49-F238E27FC236}">
                <a16:creationId xmlns="" xmlns:a16="http://schemas.microsoft.com/office/drawing/2014/main" id="{52256ECB-282F-4AB6-BD6B-066CB6FC3AFC}"/>
              </a:ext>
            </a:extLst>
          </p:cNvPr>
          <p:cNvSpPr txBox="1"/>
          <p:nvPr/>
        </p:nvSpPr>
        <p:spPr bwMode="gray">
          <a:xfrm>
            <a:off x="7449618" y="5312536"/>
            <a:ext cx="378863" cy="161866"/>
          </a:xfrm>
          <a:prstGeom prst="rect">
            <a:avLst/>
          </a:prstGeom>
          <a:noFill/>
        </p:spPr>
        <p:txBody>
          <a:bodyPr wrap="none" lIns="0" tIns="0" rIns="0" bIns="0" rtlCol="0" anchor="ctr" anchorCtr="0">
            <a:noAutofit/>
          </a:bodyPr>
          <a:lstStyle/>
          <a:p>
            <a:pPr algn="ctr"/>
            <a:r>
              <a:rPr lang="en-US" altLang="zh-CN" sz="1400" dirty="0"/>
              <a:t>P2</a:t>
            </a:r>
            <a:endParaRPr lang="zh-CN" altLang="en-US" sz="1400" dirty="0"/>
          </a:p>
        </p:txBody>
      </p:sp>
      <p:sp>
        <p:nvSpPr>
          <p:cNvPr id="98" name="文本框 98">
            <a:extLst>
              <a:ext uri="{FF2B5EF4-FFF2-40B4-BE49-F238E27FC236}">
                <a16:creationId xmlns="" xmlns:a16="http://schemas.microsoft.com/office/drawing/2014/main" id="{1F182459-9251-4B06-8C27-9BE530DAD30B}"/>
              </a:ext>
            </a:extLst>
          </p:cNvPr>
          <p:cNvSpPr txBox="1"/>
          <p:nvPr/>
        </p:nvSpPr>
        <p:spPr bwMode="gray">
          <a:xfrm>
            <a:off x="5912917" y="5289143"/>
            <a:ext cx="378863" cy="161866"/>
          </a:xfrm>
          <a:prstGeom prst="rect">
            <a:avLst/>
          </a:prstGeom>
          <a:noFill/>
        </p:spPr>
        <p:txBody>
          <a:bodyPr wrap="none" lIns="0" tIns="0" rIns="0" bIns="0" rtlCol="0" anchor="ctr" anchorCtr="0">
            <a:noAutofit/>
          </a:bodyPr>
          <a:lstStyle/>
          <a:p>
            <a:pPr algn="ctr"/>
            <a:r>
              <a:rPr lang="en-US" altLang="zh-CN" sz="1400" dirty="0"/>
              <a:t>P1</a:t>
            </a:r>
            <a:endParaRPr lang="zh-CN" altLang="en-US" sz="1400" dirty="0"/>
          </a:p>
        </p:txBody>
      </p:sp>
      <p:sp>
        <p:nvSpPr>
          <p:cNvPr id="99" name="文本框 98">
            <a:extLst>
              <a:ext uri="{FF2B5EF4-FFF2-40B4-BE49-F238E27FC236}">
                <a16:creationId xmlns="" xmlns:a16="http://schemas.microsoft.com/office/drawing/2014/main" id="{A84073E5-7B6F-45E5-BA36-7AA6530729B2}"/>
              </a:ext>
            </a:extLst>
          </p:cNvPr>
          <p:cNvSpPr txBox="1"/>
          <p:nvPr/>
        </p:nvSpPr>
        <p:spPr bwMode="gray">
          <a:xfrm>
            <a:off x="2987674" y="5289143"/>
            <a:ext cx="378863" cy="161866"/>
          </a:xfrm>
          <a:prstGeom prst="rect">
            <a:avLst/>
          </a:prstGeom>
          <a:noFill/>
        </p:spPr>
        <p:txBody>
          <a:bodyPr wrap="none" lIns="0" tIns="0" rIns="0" bIns="0" rtlCol="0" anchor="ctr" anchorCtr="0">
            <a:noAutofit/>
          </a:bodyPr>
          <a:lstStyle/>
          <a:p>
            <a:pPr algn="ctr"/>
            <a:r>
              <a:rPr lang="en-US" altLang="zh-CN" sz="1400" dirty="0"/>
              <a:t>CE1</a:t>
            </a:r>
            <a:endParaRPr lang="zh-CN" altLang="en-US" sz="1400" dirty="0"/>
          </a:p>
        </p:txBody>
      </p:sp>
      <p:sp>
        <p:nvSpPr>
          <p:cNvPr id="100" name="文本框 98">
            <a:extLst>
              <a:ext uri="{FF2B5EF4-FFF2-40B4-BE49-F238E27FC236}">
                <a16:creationId xmlns="" xmlns:a16="http://schemas.microsoft.com/office/drawing/2014/main" id="{8A197915-E2B3-46BB-82DA-52790BB12848}"/>
              </a:ext>
            </a:extLst>
          </p:cNvPr>
          <p:cNvSpPr txBox="1"/>
          <p:nvPr/>
        </p:nvSpPr>
        <p:spPr bwMode="gray">
          <a:xfrm>
            <a:off x="8831811" y="5282103"/>
            <a:ext cx="378863" cy="161866"/>
          </a:xfrm>
          <a:prstGeom prst="rect">
            <a:avLst/>
          </a:prstGeom>
          <a:noFill/>
        </p:spPr>
        <p:txBody>
          <a:bodyPr wrap="none" lIns="0" tIns="0" rIns="0" bIns="0" rtlCol="0" anchor="ctr" anchorCtr="0">
            <a:noAutofit/>
          </a:bodyPr>
          <a:lstStyle/>
          <a:p>
            <a:pPr algn="ctr"/>
            <a:r>
              <a:rPr lang="en-US" altLang="zh-CN" sz="1400" dirty="0"/>
              <a:t>PE2</a:t>
            </a:r>
            <a:endParaRPr lang="zh-CN" altLang="en-US" sz="1400" dirty="0"/>
          </a:p>
        </p:txBody>
      </p:sp>
      <p:sp>
        <p:nvSpPr>
          <p:cNvPr id="101" name="圆角矩形 75">
            <a:extLst>
              <a:ext uri="{FF2B5EF4-FFF2-40B4-BE49-F238E27FC236}">
                <a16:creationId xmlns="" xmlns:a16="http://schemas.microsoft.com/office/drawing/2014/main" id="{609F662C-1EDB-4E83-AAC7-6D7C4190B187}"/>
              </a:ext>
            </a:extLst>
          </p:cNvPr>
          <p:cNvSpPr/>
          <p:nvPr/>
        </p:nvSpPr>
        <p:spPr bwMode="gray">
          <a:xfrm>
            <a:off x="4151860" y="3849446"/>
            <a:ext cx="5287212"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2" name="TextBox 271">
            <a:extLst>
              <a:ext uri="{FF2B5EF4-FFF2-40B4-BE49-F238E27FC236}">
                <a16:creationId xmlns="" xmlns:a16="http://schemas.microsoft.com/office/drawing/2014/main" id="{2A2CC9FA-0E51-466F-8E76-9D1C3EE39978}"/>
              </a:ext>
            </a:extLst>
          </p:cNvPr>
          <p:cNvSpPr txBox="1"/>
          <p:nvPr/>
        </p:nvSpPr>
        <p:spPr bwMode="gray">
          <a:xfrm>
            <a:off x="4191310" y="5748917"/>
            <a:ext cx="1091966" cy="307777"/>
          </a:xfrm>
          <a:prstGeom prst="rect">
            <a:avLst/>
          </a:prstGeom>
          <a:solidFill>
            <a:srgbClr val="56C4D2"/>
          </a:solidFill>
        </p:spPr>
        <p:txBody>
          <a:bodyPr wrap="none" rtlCol="0">
            <a:spAutoFit/>
          </a:bodyPr>
          <a:lstStyle/>
          <a:p>
            <a:pPr>
              <a:buFont typeface="Wingdings" pitchFamily="2" charset="2"/>
              <a:buNone/>
              <a:defRPr/>
            </a:pP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 Domain</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03" name="Table 35">
            <a:extLst>
              <a:ext uri="{FF2B5EF4-FFF2-40B4-BE49-F238E27FC236}">
                <a16:creationId xmlns="" xmlns:a16="http://schemas.microsoft.com/office/drawing/2014/main" id="{0DA70199-D817-4BA0-84D6-F5604B42E91B}"/>
              </a:ext>
            </a:extLst>
          </p:cNvPr>
          <p:cNvGraphicFramePr>
            <a:graphicFrameLocks noGrp="1"/>
          </p:cNvGraphicFramePr>
          <p:nvPr>
            <p:extLst>
              <p:ext uri="{D42A27DB-BD31-4B8C-83A1-F6EECF244321}">
                <p14:modId xmlns:p14="http://schemas.microsoft.com/office/powerpoint/2010/main" val="1366900854"/>
              </p:ext>
            </p:extLst>
          </p:nvPr>
        </p:nvGraphicFramePr>
        <p:xfrm>
          <a:off x="4786303" y="3891105"/>
          <a:ext cx="647145" cy="109728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0">
                <a:tc>
                  <a:txBody>
                    <a:bodyPr/>
                    <a:lstStyle/>
                    <a:p>
                      <a:pPr algn="ctr"/>
                      <a:r>
                        <a:rPr lang="en-US" sz="1200" b="0" dirty="0">
                          <a:solidFill>
                            <a:schemeClr val="tx1"/>
                          </a:solidFill>
                        </a:rPr>
                        <a:t>16001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3049574782"/>
                  </a:ext>
                </a:extLst>
              </a:tr>
              <a:tr h="0">
                <a:tc>
                  <a:txBody>
                    <a:bodyPr/>
                    <a:lstStyle/>
                    <a:p>
                      <a:pPr algn="ctr"/>
                      <a:r>
                        <a:rPr lang="en-US" sz="1200" b="0" dirty="0">
                          <a:solidFill>
                            <a:schemeClr val="tx1"/>
                          </a:solidFill>
                        </a:rPr>
                        <a:t>16002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822609249"/>
                  </a:ext>
                </a:extLst>
              </a:tr>
              <a:tr h="130261">
                <a:tc>
                  <a:txBody>
                    <a:bodyPr/>
                    <a:lstStyle/>
                    <a:p>
                      <a:pPr algn="ctr"/>
                      <a:r>
                        <a:rPr lang="en-US" sz="1200" dirty="0"/>
                        <a:t>1024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05" name="Table 35">
            <a:extLst>
              <a:ext uri="{FF2B5EF4-FFF2-40B4-BE49-F238E27FC236}">
                <a16:creationId xmlns="" xmlns:a16="http://schemas.microsoft.com/office/drawing/2014/main" id="{A0534339-EF84-4760-903F-41B1E3B89D67}"/>
              </a:ext>
            </a:extLst>
          </p:cNvPr>
          <p:cNvGraphicFramePr>
            <a:graphicFrameLocks noGrp="1"/>
          </p:cNvGraphicFramePr>
          <p:nvPr>
            <p:extLst>
              <p:ext uri="{D42A27DB-BD31-4B8C-83A1-F6EECF244321}">
                <p14:modId xmlns:p14="http://schemas.microsoft.com/office/powerpoint/2010/main" val="4010577308"/>
              </p:ext>
            </p:extLst>
          </p:nvPr>
        </p:nvGraphicFramePr>
        <p:xfrm>
          <a:off x="3401762" y="4679225"/>
          <a:ext cx="647145" cy="27432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130261">
                <a:tc>
                  <a:txBody>
                    <a:bodyPr/>
                    <a:lstStyle/>
                    <a:p>
                      <a:pPr algn="ctr"/>
                      <a:r>
                        <a:rPr lang="en-US" sz="1200" b="0" kern="1200" dirty="0">
                          <a:solidFill>
                            <a:schemeClr val="tx1"/>
                          </a:solidFill>
                          <a:latin typeface="+mn-lt"/>
                          <a:ea typeface="+mn-ea"/>
                          <a:cs typeface="+mn-cs"/>
                        </a:rPr>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06" name="Table 35">
            <a:extLst>
              <a:ext uri="{FF2B5EF4-FFF2-40B4-BE49-F238E27FC236}">
                <a16:creationId xmlns="" xmlns:a16="http://schemas.microsoft.com/office/drawing/2014/main" id="{7D8C9A59-C68F-4529-ABDC-69D0FE1D45A4}"/>
              </a:ext>
            </a:extLst>
          </p:cNvPr>
          <p:cNvGraphicFramePr>
            <a:graphicFrameLocks noGrp="1"/>
          </p:cNvGraphicFramePr>
          <p:nvPr>
            <p:extLst>
              <p:ext uri="{D42A27DB-BD31-4B8C-83A1-F6EECF244321}">
                <p14:modId xmlns:p14="http://schemas.microsoft.com/office/powerpoint/2010/main" val="1234080732"/>
              </p:ext>
            </p:extLst>
          </p:nvPr>
        </p:nvGraphicFramePr>
        <p:xfrm>
          <a:off x="9308374" y="4679225"/>
          <a:ext cx="647145" cy="27432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130261">
                <a:tc>
                  <a:txBody>
                    <a:bodyPr/>
                    <a:lstStyle/>
                    <a:p>
                      <a:pPr algn="ctr"/>
                      <a:r>
                        <a:rPr lang="en-US" sz="1200" b="0" kern="1200" dirty="0">
                          <a:solidFill>
                            <a:schemeClr val="tx1"/>
                          </a:solidFill>
                          <a:latin typeface="+mn-lt"/>
                          <a:ea typeface="+mn-ea"/>
                          <a:cs typeface="+mn-cs"/>
                        </a:rPr>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cxnSp>
        <p:nvCxnSpPr>
          <p:cNvPr id="107" name="Straight Arrow Connector 106">
            <a:extLst>
              <a:ext uri="{FF2B5EF4-FFF2-40B4-BE49-F238E27FC236}">
                <a16:creationId xmlns="" xmlns:a16="http://schemas.microsoft.com/office/drawing/2014/main" id="{2C3E8BD3-6380-4BE4-A6C1-95CECB6477AC}"/>
              </a:ext>
            </a:extLst>
          </p:cNvPr>
          <p:cNvCxnSpPr>
            <a:cxnSpLocks/>
          </p:cNvCxnSpPr>
          <p:nvPr/>
        </p:nvCxnSpPr>
        <p:spPr bwMode="gray">
          <a:xfrm>
            <a:off x="3443288" y="5050758"/>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 xmlns:a16="http://schemas.microsoft.com/office/drawing/2014/main" id="{2F77A861-8E08-43BD-A820-E98CC73744F5}"/>
              </a:ext>
            </a:extLst>
          </p:cNvPr>
          <p:cNvCxnSpPr>
            <a:cxnSpLocks/>
          </p:cNvCxnSpPr>
          <p:nvPr/>
        </p:nvCxnSpPr>
        <p:spPr bwMode="gray">
          <a:xfrm>
            <a:off x="4786313" y="5050758"/>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A5CD1679-C141-401F-A296-3C82EA488900}"/>
              </a:ext>
            </a:extLst>
          </p:cNvPr>
          <p:cNvCxnSpPr>
            <a:cxnSpLocks/>
          </p:cNvCxnSpPr>
          <p:nvPr/>
        </p:nvCxnSpPr>
        <p:spPr bwMode="gray">
          <a:xfrm>
            <a:off x="6317077" y="5050758"/>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 xmlns:a16="http://schemas.microsoft.com/office/drawing/2014/main" id="{CBEF6E87-A1C7-41AF-9935-87ACDC76F41B}"/>
              </a:ext>
            </a:extLst>
          </p:cNvPr>
          <p:cNvCxnSpPr>
            <a:cxnSpLocks/>
          </p:cNvCxnSpPr>
          <p:nvPr/>
        </p:nvCxnSpPr>
        <p:spPr bwMode="gray">
          <a:xfrm>
            <a:off x="7890669" y="5050758"/>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11" name="图片 48">
            <a:extLst>
              <a:ext uri="{FF2B5EF4-FFF2-40B4-BE49-F238E27FC236}">
                <a16:creationId xmlns="" xmlns:a16="http://schemas.microsoft.com/office/drawing/2014/main" id="{4A09DA22-22F3-42B2-9BB7-B30CBF0D2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14061" y="4971436"/>
            <a:ext cx="378863" cy="310667"/>
          </a:xfrm>
          <a:prstGeom prst="rect">
            <a:avLst/>
          </a:prstGeom>
        </p:spPr>
      </p:pic>
      <p:cxnSp>
        <p:nvCxnSpPr>
          <p:cNvPr id="112" name="Straight Connector 111">
            <a:extLst>
              <a:ext uri="{FF2B5EF4-FFF2-40B4-BE49-F238E27FC236}">
                <a16:creationId xmlns="" xmlns:a16="http://schemas.microsoft.com/office/drawing/2014/main" id="{16DF51E1-BF29-4DD4-A6E0-A0828F6271C8}"/>
              </a:ext>
            </a:extLst>
          </p:cNvPr>
          <p:cNvCxnSpPr>
            <a:cxnSpLocks/>
            <a:stCxn id="94" idx="3"/>
            <a:endCxn id="111" idx="1"/>
          </p:cNvCxnSpPr>
          <p:nvPr/>
        </p:nvCxnSpPr>
        <p:spPr bwMode="gray">
          <a:xfrm>
            <a:off x="9204325" y="5123834"/>
            <a:ext cx="1009736"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3" name="文本框 98">
            <a:extLst>
              <a:ext uri="{FF2B5EF4-FFF2-40B4-BE49-F238E27FC236}">
                <a16:creationId xmlns="" xmlns:a16="http://schemas.microsoft.com/office/drawing/2014/main" id="{A44AD2A4-C7B6-4D4D-A696-F6410A1C6F95}"/>
              </a:ext>
            </a:extLst>
          </p:cNvPr>
          <p:cNvSpPr txBox="1"/>
          <p:nvPr/>
        </p:nvSpPr>
        <p:spPr bwMode="gray">
          <a:xfrm>
            <a:off x="10214060" y="5282103"/>
            <a:ext cx="378863" cy="161866"/>
          </a:xfrm>
          <a:prstGeom prst="rect">
            <a:avLst/>
          </a:prstGeom>
          <a:noFill/>
        </p:spPr>
        <p:txBody>
          <a:bodyPr wrap="none" lIns="0" tIns="0" rIns="0" bIns="0" rtlCol="0" anchor="ctr" anchorCtr="0">
            <a:noAutofit/>
          </a:bodyPr>
          <a:lstStyle/>
          <a:p>
            <a:pPr algn="ctr"/>
            <a:r>
              <a:rPr lang="en-US" altLang="zh-CN" sz="1400" dirty="0"/>
              <a:t>CE2</a:t>
            </a:r>
            <a:endParaRPr lang="zh-CN" altLang="en-US" sz="1400" dirty="0"/>
          </a:p>
        </p:txBody>
      </p:sp>
      <p:cxnSp>
        <p:nvCxnSpPr>
          <p:cNvPr id="114" name="Straight Arrow Connector 113">
            <a:extLst>
              <a:ext uri="{FF2B5EF4-FFF2-40B4-BE49-F238E27FC236}">
                <a16:creationId xmlns="" xmlns:a16="http://schemas.microsoft.com/office/drawing/2014/main" id="{D43E8F67-B748-4630-B503-EFD680A91FDC}"/>
              </a:ext>
            </a:extLst>
          </p:cNvPr>
          <p:cNvCxnSpPr>
            <a:cxnSpLocks/>
          </p:cNvCxnSpPr>
          <p:nvPr/>
        </p:nvCxnSpPr>
        <p:spPr bwMode="gray">
          <a:xfrm>
            <a:off x="9272891" y="5061344"/>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116" name="Table 35">
            <a:extLst>
              <a:ext uri="{FF2B5EF4-FFF2-40B4-BE49-F238E27FC236}">
                <a16:creationId xmlns="" xmlns:a16="http://schemas.microsoft.com/office/drawing/2014/main" id="{9093808E-4F96-442B-AEC8-47F7886ED13E}"/>
              </a:ext>
            </a:extLst>
          </p:cNvPr>
          <p:cNvGraphicFramePr>
            <a:graphicFrameLocks noGrp="1"/>
          </p:cNvGraphicFramePr>
          <p:nvPr>
            <p:extLst>
              <p:ext uri="{D42A27DB-BD31-4B8C-83A1-F6EECF244321}">
                <p14:modId xmlns:p14="http://schemas.microsoft.com/office/powerpoint/2010/main" val="3326402049"/>
              </p:ext>
            </p:extLst>
          </p:nvPr>
        </p:nvGraphicFramePr>
        <p:xfrm>
          <a:off x="6303982" y="4138503"/>
          <a:ext cx="647145" cy="82296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0">
                <a:tc>
                  <a:txBody>
                    <a:bodyPr/>
                    <a:lstStyle/>
                    <a:p>
                      <a:pPr algn="ctr"/>
                      <a:r>
                        <a:rPr lang="en-US" sz="1200" b="0" dirty="0">
                          <a:solidFill>
                            <a:schemeClr val="tx1"/>
                          </a:solidFill>
                        </a:rPr>
                        <a:t>16002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822609249"/>
                  </a:ext>
                </a:extLst>
              </a:tr>
              <a:tr h="130261">
                <a:tc>
                  <a:txBody>
                    <a:bodyPr/>
                    <a:lstStyle/>
                    <a:p>
                      <a:pPr algn="ctr"/>
                      <a:r>
                        <a:rPr lang="en-US" sz="1200" dirty="0"/>
                        <a:t>1024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sp>
        <p:nvSpPr>
          <p:cNvPr id="117" name="文本框 98">
            <a:extLst>
              <a:ext uri="{FF2B5EF4-FFF2-40B4-BE49-F238E27FC236}">
                <a16:creationId xmlns="" xmlns:a16="http://schemas.microsoft.com/office/drawing/2014/main" id="{BA3B55DC-C006-49BD-A66F-A97EE23CEA24}"/>
              </a:ext>
            </a:extLst>
          </p:cNvPr>
          <p:cNvSpPr txBox="1"/>
          <p:nvPr/>
        </p:nvSpPr>
        <p:spPr bwMode="gray">
          <a:xfrm>
            <a:off x="6299230" y="5171780"/>
            <a:ext cx="491655" cy="190716"/>
          </a:xfrm>
          <a:prstGeom prst="rect">
            <a:avLst/>
          </a:prstGeom>
          <a:noFill/>
        </p:spPr>
        <p:txBody>
          <a:bodyPr wrap="none" lIns="0" tIns="0" rIns="0" bIns="0" rtlCol="0" anchor="ctr" anchorCtr="0">
            <a:noAutofit/>
          </a:bodyPr>
          <a:lstStyle/>
          <a:p>
            <a:pPr algn="ctr"/>
            <a:r>
              <a:rPr lang="en-US" altLang="zh-CN" sz="1400" dirty="0">
                <a:solidFill>
                  <a:srgbClr val="56C4D2"/>
                </a:solidFill>
              </a:rPr>
              <a:t>16001</a:t>
            </a:r>
            <a:endParaRPr lang="zh-CN" altLang="en-US" sz="1400" dirty="0">
              <a:solidFill>
                <a:srgbClr val="56C4D2"/>
              </a:solidFill>
            </a:endParaRPr>
          </a:p>
        </p:txBody>
      </p:sp>
      <p:sp>
        <p:nvSpPr>
          <p:cNvPr id="118" name="文本框 98">
            <a:extLst>
              <a:ext uri="{FF2B5EF4-FFF2-40B4-BE49-F238E27FC236}">
                <a16:creationId xmlns="" xmlns:a16="http://schemas.microsoft.com/office/drawing/2014/main" id="{B6F1D4B6-33F3-4ADB-9D03-A0032C6042E1}"/>
              </a:ext>
            </a:extLst>
          </p:cNvPr>
          <p:cNvSpPr txBox="1"/>
          <p:nvPr/>
        </p:nvSpPr>
        <p:spPr bwMode="gray">
          <a:xfrm>
            <a:off x="7857585" y="5155262"/>
            <a:ext cx="491655" cy="190716"/>
          </a:xfrm>
          <a:prstGeom prst="rect">
            <a:avLst/>
          </a:prstGeom>
          <a:noFill/>
        </p:spPr>
        <p:txBody>
          <a:bodyPr wrap="none" lIns="0" tIns="0" rIns="0" bIns="0" rtlCol="0" anchor="ctr" anchorCtr="0">
            <a:noAutofit/>
          </a:bodyPr>
          <a:lstStyle/>
          <a:p>
            <a:pPr algn="ctr"/>
            <a:r>
              <a:rPr lang="en-US" altLang="zh-CN" sz="1400" dirty="0">
                <a:solidFill>
                  <a:srgbClr val="56C4D2"/>
                </a:solidFill>
              </a:rPr>
              <a:t>16002</a:t>
            </a:r>
            <a:endParaRPr lang="zh-CN" altLang="en-US" sz="1400" dirty="0">
              <a:solidFill>
                <a:srgbClr val="56C4D2"/>
              </a:solidFill>
            </a:endParaRPr>
          </a:p>
        </p:txBody>
      </p:sp>
      <p:graphicFrame>
        <p:nvGraphicFramePr>
          <p:cNvPr id="119" name="Table 35">
            <a:extLst>
              <a:ext uri="{FF2B5EF4-FFF2-40B4-BE49-F238E27FC236}">
                <a16:creationId xmlns="" xmlns:a16="http://schemas.microsoft.com/office/drawing/2014/main" id="{F22DCF84-F66E-4C62-9584-969EFABEE41F}"/>
              </a:ext>
            </a:extLst>
          </p:cNvPr>
          <p:cNvGraphicFramePr>
            <a:graphicFrameLocks noGrp="1"/>
          </p:cNvGraphicFramePr>
          <p:nvPr>
            <p:extLst>
              <p:ext uri="{D42A27DB-BD31-4B8C-83A1-F6EECF244321}">
                <p14:modId xmlns:p14="http://schemas.microsoft.com/office/powerpoint/2010/main" val="19070379"/>
              </p:ext>
            </p:extLst>
          </p:nvPr>
        </p:nvGraphicFramePr>
        <p:xfrm>
          <a:off x="7892830" y="4414646"/>
          <a:ext cx="647145" cy="548640"/>
        </p:xfrm>
        <a:graphic>
          <a:graphicData uri="http://schemas.openxmlformats.org/drawingml/2006/table">
            <a:tbl>
              <a:tblPr firstRow="1" bandRow="1">
                <a:tableStyleId>{72833802-FEF1-4C79-8D5D-14CF1EAF98D9}</a:tableStyleId>
              </a:tblPr>
              <a:tblGrid>
                <a:gridCol w="647145">
                  <a:extLst>
                    <a:ext uri="{9D8B030D-6E8A-4147-A177-3AD203B41FA5}">
                      <a16:colId xmlns="" xmlns:a16="http://schemas.microsoft.com/office/drawing/2014/main" val="4262586327"/>
                    </a:ext>
                  </a:extLst>
                </a:gridCol>
              </a:tblGrid>
              <a:tr h="130261">
                <a:tc>
                  <a:txBody>
                    <a:bodyPr/>
                    <a:lstStyle/>
                    <a:p>
                      <a:pPr algn="ctr"/>
                      <a:r>
                        <a:rPr lang="en-US" sz="1200" b="0" dirty="0">
                          <a:solidFill>
                            <a:schemeClr val="tx1"/>
                          </a:solidFill>
                        </a:rPr>
                        <a:t>1024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sp>
        <p:nvSpPr>
          <p:cNvPr id="120" name="文本框 24">
            <a:extLst>
              <a:ext uri="{FF2B5EF4-FFF2-40B4-BE49-F238E27FC236}">
                <a16:creationId xmlns="" xmlns:a16="http://schemas.microsoft.com/office/drawing/2014/main" id="{3A5EE791-49F4-4306-B1AE-6F79C94D5CC2}"/>
              </a:ext>
            </a:extLst>
          </p:cNvPr>
          <p:cNvSpPr txBox="1"/>
          <p:nvPr/>
        </p:nvSpPr>
        <p:spPr bwMode="gray">
          <a:xfrm>
            <a:off x="550553" y="1311238"/>
            <a:ext cx="2954655"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SR-MPLS BE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承载</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a:t>
            </a:r>
          </a:p>
        </p:txBody>
      </p:sp>
      <p:sp>
        <p:nvSpPr>
          <p:cNvPr id="121" name="文本框 24">
            <a:extLst>
              <a:ext uri="{FF2B5EF4-FFF2-40B4-BE49-F238E27FC236}">
                <a16:creationId xmlns="" xmlns:a16="http://schemas.microsoft.com/office/drawing/2014/main" id="{320CF851-091E-4658-B94B-82D3335F4BD4}"/>
              </a:ext>
            </a:extLst>
          </p:cNvPr>
          <p:cNvSpPr txBox="1"/>
          <p:nvPr/>
        </p:nvSpPr>
        <p:spPr bwMode="gray">
          <a:xfrm>
            <a:off x="550552" y="3860911"/>
            <a:ext cx="3259226"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SR-MPLS Policy</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承载</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a:t>
            </a:r>
          </a:p>
        </p:txBody>
      </p:sp>
      <p:sp>
        <p:nvSpPr>
          <p:cNvPr id="75" name="五边形 2">
            <a:extLst>
              <a:ext uri="{FF2B5EF4-FFF2-40B4-BE49-F238E27FC236}">
                <a16:creationId xmlns="" xmlns:a16="http://schemas.microsoft.com/office/drawing/2014/main" id="{AC6FA642-02FC-4C6E-AC9C-E107440ACA54}"/>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76" name="燕尾形 3">
            <a:extLst>
              <a:ext uri="{FF2B5EF4-FFF2-40B4-BE49-F238E27FC236}">
                <a16:creationId xmlns="" xmlns:a16="http://schemas.microsoft.com/office/drawing/2014/main" id="{A73ED03D-B86A-40E5-A0A9-F161B1C0C1F0}"/>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3">
            <a:extLst>
              <a:ext uri="{FF2B5EF4-FFF2-40B4-BE49-F238E27FC236}">
                <a16:creationId xmlns="" xmlns:a16="http://schemas.microsoft.com/office/drawing/2014/main" id="{236F77DF-8381-4678-A71E-81300ECDFE4D}"/>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76249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220518-276F-4004-841D-1906FFB99BCC}"/>
              </a:ext>
            </a:extLst>
          </p:cNvPr>
          <p:cNvSpPr>
            <a:spLocks noGrp="1"/>
          </p:cNvSpPr>
          <p:nvPr>
            <p:ph type="title"/>
          </p:nvPr>
        </p:nvSpPr>
        <p:spPr bwMode="gray"/>
        <p:txBody>
          <a:bodyPr/>
          <a:lstStyle/>
          <a:p>
            <a:r>
              <a:rPr lang="en-US" dirty="0"/>
              <a:t>SR</a:t>
            </a:r>
            <a:r>
              <a:rPr lang="en-US" altLang="zh-CN" dirty="0"/>
              <a:t>v6</a:t>
            </a:r>
            <a:r>
              <a:rPr lang="zh-CN" altLang="en-US" dirty="0"/>
              <a:t>简介</a:t>
            </a:r>
            <a:endParaRPr lang="en-US" dirty="0"/>
          </a:p>
        </p:txBody>
      </p:sp>
      <p:sp>
        <p:nvSpPr>
          <p:cNvPr id="3" name="Text Placeholder 2">
            <a:extLst>
              <a:ext uri="{FF2B5EF4-FFF2-40B4-BE49-F238E27FC236}">
                <a16:creationId xmlns="" xmlns:a16="http://schemas.microsoft.com/office/drawing/2014/main" id="{F6039EAC-E96E-4583-AB5D-AA38AB055B78}"/>
              </a:ext>
            </a:extLst>
          </p:cNvPr>
          <p:cNvSpPr>
            <a:spLocks noGrp="1"/>
          </p:cNvSpPr>
          <p:nvPr>
            <p:ph type="body" sz="quarter" idx="10"/>
          </p:nvPr>
        </p:nvSpPr>
        <p:spPr bwMode="gray">
          <a:xfrm>
            <a:off x="455612" y="1047751"/>
            <a:ext cx="11293475" cy="1908548"/>
          </a:xfrm>
        </p:spPr>
        <p:txBody>
          <a:bodyPr/>
          <a:lstStyle/>
          <a:p>
            <a:r>
              <a:rPr lang="en-US" altLang="zh-CN" sz="1800" dirty="0"/>
              <a:t>SRv6</a:t>
            </a:r>
            <a:r>
              <a:rPr lang="zh-CN" altLang="en-US" sz="1800" dirty="0"/>
              <a:t>（</a:t>
            </a:r>
            <a:r>
              <a:rPr lang="en-US" altLang="zh-CN" sz="1800" dirty="0"/>
              <a:t>Segment Routing IPv6</a:t>
            </a:r>
            <a:r>
              <a:rPr lang="zh-CN" altLang="en-US" sz="1800" dirty="0"/>
              <a:t>）是基于源路由理念而设计的在网络上转发</a:t>
            </a:r>
            <a:r>
              <a:rPr lang="en-US" altLang="zh-CN" sz="1800" dirty="0"/>
              <a:t>IPv6</a:t>
            </a:r>
            <a:r>
              <a:rPr lang="zh-CN" altLang="en-US" sz="1800" dirty="0"/>
              <a:t>数据包的一种技术。</a:t>
            </a:r>
          </a:p>
          <a:p>
            <a:r>
              <a:rPr lang="en-US" altLang="zh-CN" sz="1800" dirty="0"/>
              <a:t>SRv6</a:t>
            </a:r>
            <a:r>
              <a:rPr lang="zh-CN" altLang="en-US" sz="1800" dirty="0"/>
              <a:t>转发不再基于</a:t>
            </a:r>
            <a:r>
              <a:rPr lang="en-US" altLang="zh-CN" sz="1800" dirty="0"/>
              <a:t>MPLS</a:t>
            </a:r>
            <a:r>
              <a:rPr lang="zh-CN" altLang="en-US" sz="1800" dirty="0"/>
              <a:t>，简化了转发面。</a:t>
            </a:r>
            <a:r>
              <a:rPr lang="en-US" altLang="zh-CN" sz="1800" dirty="0"/>
              <a:t>SRv6</a:t>
            </a:r>
            <a:r>
              <a:rPr lang="zh-CN" altLang="en-US" sz="1800" dirty="0"/>
              <a:t>在</a:t>
            </a:r>
            <a:r>
              <a:rPr lang="en-US" altLang="zh-CN" sz="1800" dirty="0"/>
              <a:t>IPv6</a:t>
            </a:r>
            <a:r>
              <a:rPr lang="zh-CN" altLang="en-US" sz="1800" dirty="0"/>
              <a:t>报文中插入一个路由扩展头</a:t>
            </a:r>
            <a:r>
              <a:rPr lang="en-US" altLang="zh-CN" sz="1800" dirty="0"/>
              <a:t>SRH</a:t>
            </a:r>
            <a:r>
              <a:rPr lang="zh-CN" altLang="en-US" sz="1800" dirty="0"/>
              <a:t>（</a:t>
            </a:r>
            <a:r>
              <a:rPr lang="en-US" altLang="zh-CN" sz="1800" dirty="0"/>
              <a:t>Segment Routing Header</a:t>
            </a:r>
            <a:r>
              <a:rPr lang="zh-CN" altLang="en-US" sz="1800" dirty="0"/>
              <a:t>），在</a:t>
            </a:r>
            <a:r>
              <a:rPr lang="en-US" altLang="zh-CN" sz="1800" dirty="0"/>
              <a:t>SRH</a:t>
            </a:r>
            <a:r>
              <a:rPr lang="zh-CN" altLang="en-US" sz="1800" dirty="0"/>
              <a:t>中压入一个显式的</a:t>
            </a:r>
            <a:r>
              <a:rPr lang="en-US" altLang="zh-CN" sz="1800" dirty="0"/>
              <a:t>IPv6</a:t>
            </a:r>
            <a:r>
              <a:rPr lang="zh-CN" altLang="en-US" sz="1800" dirty="0"/>
              <a:t>地址栈，通过中间节点不断地进行更新目的地址的操作来完成逐跳转发。</a:t>
            </a:r>
          </a:p>
        </p:txBody>
      </p:sp>
      <p:graphicFrame>
        <p:nvGraphicFramePr>
          <p:cNvPr id="7" name="表格 16">
            <a:extLst>
              <a:ext uri="{FF2B5EF4-FFF2-40B4-BE49-F238E27FC236}">
                <a16:creationId xmlns="" xmlns:a16="http://schemas.microsoft.com/office/drawing/2014/main" id="{15DDA94F-3996-4A93-895F-341FB9AA0AD3}"/>
              </a:ext>
            </a:extLst>
          </p:cNvPr>
          <p:cNvGraphicFramePr>
            <a:graphicFrameLocks noGrp="1"/>
          </p:cNvGraphicFramePr>
          <p:nvPr>
            <p:extLst>
              <p:ext uri="{D42A27DB-BD31-4B8C-83A1-F6EECF244321}">
                <p14:modId xmlns:p14="http://schemas.microsoft.com/office/powerpoint/2010/main" val="2570342475"/>
              </p:ext>
            </p:extLst>
          </p:nvPr>
        </p:nvGraphicFramePr>
        <p:xfrm>
          <a:off x="3872117" y="2979812"/>
          <a:ext cx="4447765" cy="2738076"/>
        </p:xfrm>
        <a:graphic>
          <a:graphicData uri="http://schemas.openxmlformats.org/drawingml/2006/table">
            <a:tbl>
              <a:tblPr/>
              <a:tblGrid>
                <a:gridCol w="1111941">
                  <a:extLst>
                    <a:ext uri="{9D8B030D-6E8A-4147-A177-3AD203B41FA5}">
                      <a16:colId xmlns="" xmlns:a16="http://schemas.microsoft.com/office/drawing/2014/main" val="20000"/>
                    </a:ext>
                  </a:extLst>
                </a:gridCol>
                <a:gridCol w="1111941">
                  <a:extLst>
                    <a:ext uri="{9D8B030D-6E8A-4147-A177-3AD203B41FA5}">
                      <a16:colId xmlns="" xmlns:a16="http://schemas.microsoft.com/office/drawing/2014/main" val="20001"/>
                    </a:ext>
                  </a:extLst>
                </a:gridCol>
                <a:gridCol w="277985">
                  <a:extLst>
                    <a:ext uri="{9D8B030D-6E8A-4147-A177-3AD203B41FA5}">
                      <a16:colId xmlns="" xmlns:a16="http://schemas.microsoft.com/office/drawing/2014/main" val="20002"/>
                    </a:ext>
                  </a:extLst>
                </a:gridCol>
                <a:gridCol w="833957">
                  <a:extLst>
                    <a:ext uri="{9D8B030D-6E8A-4147-A177-3AD203B41FA5}">
                      <a16:colId xmlns="" xmlns:a16="http://schemas.microsoft.com/office/drawing/2014/main" val="20003"/>
                    </a:ext>
                  </a:extLst>
                </a:gridCol>
                <a:gridCol w="1111941">
                  <a:extLst>
                    <a:ext uri="{9D8B030D-6E8A-4147-A177-3AD203B41FA5}">
                      <a16:colId xmlns="" xmlns:a16="http://schemas.microsoft.com/office/drawing/2014/main" val="20004"/>
                    </a:ext>
                  </a:extLst>
                </a:gridCol>
              </a:tblGrid>
              <a:tr h="248916">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Version</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Traffic Class</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Flow Label</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extLst>
                  <a:ext uri="{0D108BD9-81ED-4DB2-BD59-A6C34878D82A}">
                    <a16:rowId xmlns="" xmlns:a16="http://schemas.microsoft.com/office/drawing/2014/main" val="10000"/>
                  </a:ext>
                </a:extLst>
              </a:tr>
              <a:tr h="248916">
                <a:tc gridSpan="3">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Payload</a:t>
                      </a:r>
                      <a:r>
                        <a:rPr lang="en-US" altLang="zh-CN" sz="1200" b="0" i="0" u="none" strike="noStrike" baseline="0" dirty="0">
                          <a:solidFill>
                            <a:schemeClr val="tx1"/>
                          </a:solidFill>
                          <a:effectLst/>
                          <a:latin typeface="+mn-lt"/>
                          <a:ea typeface="宋体" panose="02010600030101010101" pitchFamily="2" charset="-122"/>
                          <a:cs typeface="Arial" panose="020B0604020202020204" pitchFamily="34" charset="0"/>
                        </a:rPr>
                        <a:t> Length</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bg1"/>
                          </a:solidFill>
                          <a:effectLst/>
                          <a:latin typeface="+mn-lt"/>
                          <a:ea typeface="宋体" panose="02010600030101010101" pitchFamily="2" charset="-122"/>
                          <a:cs typeface="Arial" panose="020B0604020202020204" pitchFamily="34" charset="0"/>
                        </a:rPr>
                        <a:t>Next=43</a:t>
                      </a:r>
                      <a:endParaRPr lang="zh-CN" altLang="en-US" sz="1200" b="0" i="0" u="none" strike="noStrike" dirty="0">
                        <a:solidFill>
                          <a:schemeClr val="bg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Hop Limit</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Source Address</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extLst>
                  <a:ext uri="{0D108BD9-81ED-4DB2-BD59-A6C34878D82A}">
                    <a16:rowId xmlns="" xmlns:a16="http://schemas.microsoft.com/office/drawing/2014/main" val="10002"/>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Destination Address</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extLst>
                  <a:ext uri="{0D108BD9-81ED-4DB2-BD59-A6C34878D82A}">
                    <a16:rowId xmlns="" xmlns:a16="http://schemas.microsoft.com/office/drawing/2014/main" val="10003"/>
                  </a:ext>
                </a:extLst>
              </a:tr>
              <a:tr h="248916">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Next </a:t>
                      </a:r>
                      <a:r>
                        <a:rPr lang="en-US" altLang="zh-CN" sz="1200" b="0" i="0" u="none" strike="noStrike" kern="1200" dirty="0">
                          <a:solidFill>
                            <a:schemeClr val="tx1"/>
                          </a:solidFill>
                          <a:effectLst/>
                          <a:latin typeface="+mn-lt"/>
                          <a:ea typeface="宋体" panose="02010600030101010101" pitchFamily="2" charset="-122"/>
                          <a:cs typeface="Arial" panose="020B0604020202020204" pitchFamily="34" charset="0"/>
                        </a:rPr>
                        <a:t>Header</a:t>
                      </a:r>
                      <a:endParaRPr lang="zh-CN" altLang="en-US" sz="1200" b="0" i="0" u="none" strike="noStrike" kern="1200"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err="1">
                          <a:solidFill>
                            <a:schemeClr val="tx1"/>
                          </a:solidFill>
                          <a:effectLst/>
                          <a:latin typeface="+mn-lt"/>
                          <a:ea typeface="宋体" panose="02010600030101010101" pitchFamily="2" charset="-122"/>
                          <a:cs typeface="Arial" panose="020B0604020202020204" pitchFamily="34" charset="0"/>
                        </a:rPr>
                        <a:t>Hdr</a:t>
                      </a:r>
                      <a:r>
                        <a:rPr lang="en-US" altLang="zh-CN" sz="1200" b="0" i="0" u="none" strike="noStrike" kern="1200" dirty="0">
                          <a:solidFill>
                            <a:schemeClr val="tx1"/>
                          </a:solidFill>
                          <a:effectLst/>
                          <a:latin typeface="+mn-lt"/>
                          <a:ea typeface="宋体" panose="02010600030101010101" pitchFamily="2" charset="-122"/>
                          <a:cs typeface="Arial" panose="020B0604020202020204" pitchFamily="34" charset="0"/>
                        </a:rPr>
                        <a:t> Ext Len</a:t>
                      </a:r>
                      <a:endParaRPr lang="zh-CN" altLang="en-US" sz="1200" b="0" i="0" u="none" strike="noStrike" kern="1200"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Routing Type=4 </a:t>
                      </a:r>
                      <a:endPar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Segments Left</a:t>
                      </a:r>
                      <a:endPar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extLst>
                  <a:ext uri="{0D108BD9-81ED-4DB2-BD59-A6C34878D82A}">
                    <a16:rowId xmlns="" xmlns:a16="http://schemas.microsoft.com/office/drawing/2014/main" val="10004"/>
                  </a:ext>
                </a:extLst>
              </a:tr>
              <a:tr h="248916">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a:solidFill>
                            <a:schemeClr val="tx1"/>
                          </a:solidFill>
                          <a:effectLst/>
                          <a:latin typeface="+mn-lt"/>
                          <a:ea typeface="宋体" panose="02010600030101010101" pitchFamily="2" charset="-122"/>
                          <a:cs typeface="Arial" panose="020B0604020202020204" pitchFamily="34" charset="0"/>
                        </a:rPr>
                        <a:t>Last Entry</a:t>
                      </a:r>
                      <a:endParaRPr lang="zh-CN" altLang="en-US" sz="1200" b="0" i="0" u="none" strike="noStrike" kern="1200"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a:solidFill>
                            <a:schemeClr val="tx1"/>
                          </a:solidFill>
                          <a:effectLst/>
                          <a:latin typeface="+mn-lt"/>
                          <a:ea typeface="宋体" panose="02010600030101010101" pitchFamily="2" charset="-122"/>
                          <a:cs typeface="Arial" panose="020B0604020202020204" pitchFamily="34" charset="0"/>
                        </a:rPr>
                        <a:t>Flags </a:t>
                      </a:r>
                      <a:endParaRPr lang="zh-CN" altLang="en-US" sz="1200" b="0" i="0" u="none" strike="noStrike" kern="1200"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a:solidFill>
                            <a:schemeClr val="tx1"/>
                          </a:solidFill>
                          <a:effectLst/>
                          <a:latin typeface="+mn-lt"/>
                          <a:ea typeface="宋体" panose="02010600030101010101" pitchFamily="2" charset="-122"/>
                          <a:cs typeface="Arial" panose="020B0604020202020204" pitchFamily="34" charset="0"/>
                        </a:rPr>
                        <a:t>Tag </a:t>
                      </a:r>
                      <a:endParaRPr lang="zh-CN" altLang="en-US" sz="1200" b="0" i="0" u="none" strike="noStrike" kern="1200"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extLst>
                  <a:ext uri="{0D108BD9-81ED-4DB2-BD59-A6C34878D82A}">
                    <a16:rowId xmlns="" xmlns:a16="http://schemas.microsoft.com/office/drawing/2014/main" val="10005"/>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algn="l" defTabSz="911273" rtl="0" eaLnBrk="1" fontAlgn="ctr" latinLnBrk="0" hangingPunct="1"/>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Segment List[0]</a:t>
                      </a:r>
                      <a:r>
                        <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rPr>
                        <a:t>（</a:t>
                      </a:r>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128 bit IPv6 address</a:t>
                      </a:r>
                      <a:r>
                        <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extLst>
                  <a:ext uri="{0D108BD9-81ED-4DB2-BD59-A6C34878D82A}">
                    <a16:rowId xmlns="" xmlns:a16="http://schemas.microsoft.com/office/drawing/2014/main" val="10006"/>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marR="0" lvl="0" indent="0" algn="l" defTabSz="911273" rtl="0" eaLnBrk="1" fontAlgn="ctr" latinLnBrk="0" hangingPunct="1">
                        <a:lnSpc>
                          <a:spcPct val="100000"/>
                        </a:lnSpc>
                        <a:spcBef>
                          <a:spcPts val="0"/>
                        </a:spcBef>
                        <a:spcAft>
                          <a:spcPts val="0"/>
                        </a:spcAft>
                        <a:buClrTx/>
                        <a:buSzTx/>
                        <a:buFontTx/>
                        <a:buNone/>
                        <a:tabLst/>
                        <a:defRPr/>
                      </a:pPr>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Segment List[1]</a:t>
                      </a:r>
                      <a:r>
                        <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rPr>
                        <a:t> （</a:t>
                      </a:r>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128 bit IPv6 address</a:t>
                      </a:r>
                      <a:r>
                        <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extLst>
                  <a:ext uri="{0D108BD9-81ED-4DB2-BD59-A6C34878D82A}">
                    <a16:rowId xmlns="" xmlns:a16="http://schemas.microsoft.com/office/drawing/2014/main" val="10007"/>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marR="0" lvl="0" indent="0" algn="l" defTabSz="911273" rtl="0" eaLnBrk="1" fontAlgn="ctr" latinLnBrk="0" hangingPunct="1">
                        <a:lnSpc>
                          <a:spcPct val="100000"/>
                        </a:lnSpc>
                        <a:spcBef>
                          <a:spcPts val="0"/>
                        </a:spcBef>
                        <a:spcAft>
                          <a:spcPts val="0"/>
                        </a:spcAft>
                        <a:buClrTx/>
                        <a:buSzTx/>
                        <a:buFontTx/>
                        <a:buNone/>
                        <a:tabLst/>
                        <a:defRPr/>
                      </a:pPr>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Segment List[2]</a:t>
                      </a:r>
                      <a:r>
                        <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rPr>
                        <a:t> （</a:t>
                      </a:r>
                      <a:r>
                        <a:rPr lang="en-US" altLang="zh-CN" sz="1200" b="0" i="0" u="none" strike="noStrike" kern="1200" dirty="0">
                          <a:solidFill>
                            <a:schemeClr val="bg1"/>
                          </a:solidFill>
                          <a:effectLst/>
                          <a:latin typeface="+mn-lt"/>
                          <a:ea typeface="宋体" panose="02010600030101010101" pitchFamily="2" charset="-122"/>
                          <a:cs typeface="Arial" panose="020B0604020202020204" pitchFamily="34" charset="0"/>
                        </a:rPr>
                        <a:t>128 bit IPv6 address</a:t>
                      </a:r>
                      <a:r>
                        <a:rPr lang="zh-CN" altLang="en-US" sz="1200" b="0" i="0" u="none" strike="noStrike" kern="1200" dirty="0">
                          <a:solidFill>
                            <a:schemeClr val="bg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extLst>
                  <a:ext uri="{0D108BD9-81ED-4DB2-BD59-A6C34878D82A}">
                    <a16:rowId xmlns="" xmlns:a16="http://schemas.microsoft.com/office/drawing/2014/main" val="10008"/>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marL="0" marR="0" lvl="0" indent="0" algn="l" defTabSz="911273" rtl="0" eaLnBrk="1" fontAlgn="ctr"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宋体" panose="02010600030101010101" pitchFamily="2" charset="-122"/>
                          <a:cs typeface="Arial" panose="020B0604020202020204" pitchFamily="34" charset="0"/>
                        </a:rPr>
                        <a:t>Optional TLV objects (variable)</a:t>
                      </a:r>
                      <a:endParaRPr lang="zh-CN" altLang="en-US" sz="1200" b="0" i="0" u="none" strike="noStrike" kern="1200"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9"/>
                  </a:ext>
                </a:extLst>
              </a:tr>
              <a:tr h="248916">
                <a:tc gridSpan="5">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l"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IP</a:t>
                      </a:r>
                      <a:r>
                        <a:rPr lang="en-US" altLang="zh-CN" sz="1200" b="0" i="0" u="none" strike="noStrike" baseline="0" dirty="0">
                          <a:solidFill>
                            <a:schemeClr val="tx1"/>
                          </a:solidFill>
                          <a:effectLst/>
                          <a:latin typeface="+mn-lt"/>
                          <a:ea typeface="宋体" panose="02010600030101010101" pitchFamily="2" charset="-122"/>
                          <a:cs typeface="Arial" panose="020B0604020202020204" pitchFamily="34" charset="0"/>
                        </a:rPr>
                        <a:t>v6  </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Payload</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chemeClr val="accent6">
                        <a:lumMod val="75000"/>
                      </a:schemeClr>
                    </a:solidFill>
                  </a:tcPr>
                </a:tc>
                <a:extLst>
                  <a:ext uri="{0D108BD9-81ED-4DB2-BD59-A6C34878D82A}">
                    <a16:rowId xmlns="" xmlns:a16="http://schemas.microsoft.com/office/drawing/2014/main" val="10010"/>
                  </a:ext>
                </a:extLst>
              </a:tr>
            </a:tbl>
          </a:graphicData>
        </a:graphic>
      </p:graphicFrame>
      <p:sp>
        <p:nvSpPr>
          <p:cNvPr id="8" name="Left Brace 7">
            <a:extLst>
              <a:ext uri="{FF2B5EF4-FFF2-40B4-BE49-F238E27FC236}">
                <a16:creationId xmlns="" xmlns:a16="http://schemas.microsoft.com/office/drawing/2014/main" id="{AC86035E-B85D-4A70-B946-5347231BEB6F}"/>
              </a:ext>
            </a:extLst>
          </p:cNvPr>
          <p:cNvSpPr/>
          <p:nvPr/>
        </p:nvSpPr>
        <p:spPr bwMode="gray">
          <a:xfrm>
            <a:off x="3675366" y="2979812"/>
            <a:ext cx="159851" cy="972108"/>
          </a:xfrm>
          <a:prstGeom prst="leftBrace">
            <a:avLst/>
          </a:prstGeom>
          <a:ln w="1905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Left Brace 8">
            <a:extLst>
              <a:ext uri="{FF2B5EF4-FFF2-40B4-BE49-F238E27FC236}">
                <a16:creationId xmlns="" xmlns:a16="http://schemas.microsoft.com/office/drawing/2014/main" id="{81F718EA-9354-4B36-B526-5D36DC8AB98B}"/>
              </a:ext>
            </a:extLst>
          </p:cNvPr>
          <p:cNvSpPr/>
          <p:nvPr/>
        </p:nvSpPr>
        <p:spPr bwMode="gray">
          <a:xfrm>
            <a:off x="3672516" y="3975434"/>
            <a:ext cx="159851" cy="1742454"/>
          </a:xfrm>
          <a:prstGeom prst="leftBrace">
            <a:avLst/>
          </a:prstGeom>
          <a:ln w="1905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TextBox 9">
            <a:extLst>
              <a:ext uri="{FF2B5EF4-FFF2-40B4-BE49-F238E27FC236}">
                <a16:creationId xmlns="" xmlns:a16="http://schemas.microsoft.com/office/drawing/2014/main" id="{742AA244-5BE5-49A4-AC07-CC5D8B4E17C3}"/>
              </a:ext>
            </a:extLst>
          </p:cNvPr>
          <p:cNvSpPr txBox="1"/>
          <p:nvPr/>
        </p:nvSpPr>
        <p:spPr bwMode="gray">
          <a:xfrm>
            <a:off x="3074410" y="3096534"/>
            <a:ext cx="598106" cy="738664"/>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rPr>
              <a:t>IPv6</a:t>
            </a:r>
            <a:r>
              <a:rPr lang="zh-CN" altLang="en-US" sz="1400" dirty="0">
                <a:latin typeface="Huawei Sans" panose="020C0503030203020204" pitchFamily="34" charset="0"/>
                <a:ea typeface="方正兰亭黑简体" panose="02000000000000000000" pitchFamily="2" charset="-122"/>
              </a:rPr>
              <a:t>标准头部</a:t>
            </a:r>
          </a:p>
        </p:txBody>
      </p:sp>
      <p:sp>
        <p:nvSpPr>
          <p:cNvPr id="11" name="TextBox 10">
            <a:extLst>
              <a:ext uri="{FF2B5EF4-FFF2-40B4-BE49-F238E27FC236}">
                <a16:creationId xmlns="" xmlns:a16="http://schemas.microsoft.com/office/drawing/2014/main" id="{1FD19F40-E335-4896-A563-4FECE318D58F}"/>
              </a:ext>
            </a:extLst>
          </p:cNvPr>
          <p:cNvSpPr txBox="1"/>
          <p:nvPr/>
        </p:nvSpPr>
        <p:spPr bwMode="gray">
          <a:xfrm>
            <a:off x="3074410" y="4369607"/>
            <a:ext cx="598106" cy="95410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rPr>
              <a:t>IPv6</a:t>
            </a:r>
            <a:r>
              <a:rPr lang="zh-CN" altLang="en-US" sz="1400" dirty="0">
                <a:latin typeface="Huawei Sans" panose="020C0503030203020204" pitchFamily="34" charset="0"/>
                <a:ea typeface="方正兰亭黑简体" panose="02000000000000000000" pitchFamily="2" charset="-122"/>
              </a:rPr>
              <a:t>扩展头部</a:t>
            </a:r>
            <a:r>
              <a:rPr lang="en-US" altLang="zh-CN" sz="1400" dirty="0">
                <a:latin typeface="Huawei Sans" panose="020C0503030203020204" pitchFamily="34" charset="0"/>
                <a:ea typeface="方正兰亭黑简体" panose="02000000000000000000" pitchFamily="2" charset="-122"/>
              </a:rPr>
              <a:t>(SRH)</a:t>
            </a:r>
            <a:endParaRPr lang="zh-CN" altLang="en-US" sz="1400" dirty="0">
              <a:latin typeface="Huawei Sans" panose="020C0503030203020204" pitchFamily="34" charset="0"/>
              <a:ea typeface="方正兰亭黑简体" panose="02000000000000000000" pitchFamily="2" charset="-122"/>
            </a:endParaRPr>
          </a:p>
        </p:txBody>
      </p:sp>
      <p:sp>
        <p:nvSpPr>
          <p:cNvPr id="12" name="五边形 2">
            <a:extLst>
              <a:ext uri="{FF2B5EF4-FFF2-40B4-BE49-F238E27FC236}">
                <a16:creationId xmlns="" xmlns:a16="http://schemas.microsoft.com/office/drawing/2014/main" id="{7F045C36-3E6A-4EF5-8DF7-39C76E0CAE99}"/>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13" name="燕尾形 3">
            <a:extLst>
              <a:ext uri="{FF2B5EF4-FFF2-40B4-BE49-F238E27FC236}">
                <a16:creationId xmlns="" xmlns:a16="http://schemas.microsoft.com/office/drawing/2014/main" id="{5BBD51D9-74AC-4B55-9683-7F77D94BA714}"/>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3">
            <a:extLst>
              <a:ext uri="{FF2B5EF4-FFF2-40B4-BE49-F238E27FC236}">
                <a16:creationId xmlns="" xmlns:a16="http://schemas.microsoft.com/office/drawing/2014/main" id="{AAEC5D36-ED41-4143-B83D-CB3021541D54}"/>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1985335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159">
            <a:extLst>
              <a:ext uri="{FF2B5EF4-FFF2-40B4-BE49-F238E27FC236}">
                <a16:creationId xmlns="" xmlns:a16="http://schemas.microsoft.com/office/drawing/2014/main" id="{43124F72-C461-42C9-BC98-463198DE0CA8}"/>
              </a:ext>
            </a:extLst>
          </p:cNvPr>
          <p:cNvSpPr/>
          <p:nvPr/>
        </p:nvSpPr>
        <p:spPr bwMode="gray">
          <a:xfrm flipH="1">
            <a:off x="10421912" y="2086015"/>
            <a:ext cx="1276798" cy="66742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p>
          <a:p>
            <a:pPr algn="ctr"/>
            <a:r>
              <a:rPr lang="en-US" altLang="zh-CN" sz="1200" dirty="0">
                <a:solidFill>
                  <a:srgbClr val="000000"/>
                </a:solidFill>
                <a:latin typeface="Huawei Sans" panose="020C0503030203020204" pitchFamily="34" charset="0"/>
                <a:ea typeface="方正兰亭黑简体" panose="02000000000000000000" pitchFamily="2" charset="-122"/>
              </a:rPr>
              <a:t>2001::</a:t>
            </a:r>
            <a:r>
              <a:rPr lang="zh-CN" altLang="en-US" sz="1200" dirty="0">
                <a:solidFill>
                  <a:srgbClr val="000000"/>
                </a:solidFill>
                <a:latin typeface="Huawei Sans" panose="020C0503030203020204" pitchFamily="34" charset="0"/>
                <a:ea typeface="方正兰亭黑简体" panose="02000000000000000000" pitchFamily="2" charset="-122"/>
              </a:rPr>
              <a:t> </a:t>
            </a:r>
            <a:r>
              <a:rPr lang="en-US" altLang="zh-CN" sz="1200" dirty="0">
                <a:solidFill>
                  <a:srgbClr val="000000"/>
                </a:solidFill>
                <a:latin typeface="Huawei Sans" panose="020C0503030203020204" pitchFamily="34" charset="0"/>
                <a:ea typeface="方正兰亭黑简体" panose="02000000000000000000" pitchFamily="2" charset="-122"/>
              </a:rPr>
              <a:t>64</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28" name="Freeform 159">
            <a:extLst>
              <a:ext uri="{FF2B5EF4-FFF2-40B4-BE49-F238E27FC236}">
                <a16:creationId xmlns="" xmlns:a16="http://schemas.microsoft.com/office/drawing/2014/main" id="{E7481F37-D18C-4D6D-B1E1-193FC94A3344}"/>
              </a:ext>
            </a:extLst>
          </p:cNvPr>
          <p:cNvSpPr/>
          <p:nvPr/>
        </p:nvSpPr>
        <p:spPr bwMode="gray">
          <a:xfrm flipH="1">
            <a:off x="2202351" y="218402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2" name="Title 1">
            <a:extLst>
              <a:ext uri="{FF2B5EF4-FFF2-40B4-BE49-F238E27FC236}">
                <a16:creationId xmlns="" xmlns:a16="http://schemas.microsoft.com/office/drawing/2014/main" id="{6D3CEBDE-EE9A-47D7-AC9C-C299C14B654B}"/>
              </a:ext>
            </a:extLst>
          </p:cNvPr>
          <p:cNvSpPr>
            <a:spLocks noGrp="1"/>
          </p:cNvSpPr>
          <p:nvPr>
            <p:ph type="title"/>
          </p:nvPr>
        </p:nvSpPr>
        <p:spPr bwMode="gray"/>
        <p:txBody>
          <a:bodyPr/>
          <a:lstStyle/>
          <a:p>
            <a:r>
              <a:rPr lang="zh-CN" altLang="en-US" dirty="0"/>
              <a:t>基于</a:t>
            </a:r>
            <a:r>
              <a:rPr lang="en-US" altLang="zh-CN" dirty="0"/>
              <a:t>SRv6</a:t>
            </a:r>
            <a:r>
              <a:rPr lang="zh-CN" altLang="en-US" dirty="0"/>
              <a:t>承载</a:t>
            </a:r>
            <a:r>
              <a:rPr lang="en-US" altLang="zh-CN" dirty="0"/>
              <a:t>VPN</a:t>
            </a:r>
            <a:r>
              <a:rPr lang="zh-CN" altLang="en-US" dirty="0"/>
              <a:t>流量</a:t>
            </a:r>
            <a:endParaRPr lang="en-US" dirty="0"/>
          </a:p>
        </p:txBody>
      </p:sp>
      <p:pic>
        <p:nvPicPr>
          <p:cNvPr id="4" name="图片 48">
            <a:extLst>
              <a:ext uri="{FF2B5EF4-FFF2-40B4-BE49-F238E27FC236}">
                <a16:creationId xmlns="" xmlns:a16="http://schemas.microsoft.com/office/drawing/2014/main" id="{ED4FA540-B971-4EEE-A783-056CC064D3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63518" y="2343337"/>
            <a:ext cx="378863" cy="310667"/>
          </a:xfrm>
          <a:prstGeom prst="rect">
            <a:avLst/>
          </a:prstGeom>
        </p:spPr>
      </p:pic>
      <p:pic>
        <p:nvPicPr>
          <p:cNvPr id="5" name="图片 48">
            <a:extLst>
              <a:ext uri="{FF2B5EF4-FFF2-40B4-BE49-F238E27FC236}">
                <a16:creationId xmlns="" xmlns:a16="http://schemas.microsoft.com/office/drawing/2014/main" id="{9E81F24A-31D8-4858-9DA6-A5B094378F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6568" y="2340403"/>
            <a:ext cx="378863" cy="310667"/>
          </a:xfrm>
          <a:prstGeom prst="rect">
            <a:avLst/>
          </a:prstGeom>
        </p:spPr>
      </p:pic>
      <p:pic>
        <p:nvPicPr>
          <p:cNvPr id="6" name="图片 48">
            <a:extLst>
              <a:ext uri="{FF2B5EF4-FFF2-40B4-BE49-F238E27FC236}">
                <a16:creationId xmlns="" xmlns:a16="http://schemas.microsoft.com/office/drawing/2014/main" id="{D1E85D9C-107A-4BC8-87C1-F9111DC64B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49618" y="2337469"/>
            <a:ext cx="378863" cy="310667"/>
          </a:xfrm>
          <a:prstGeom prst="rect">
            <a:avLst/>
          </a:prstGeom>
        </p:spPr>
      </p:pic>
      <p:cxnSp>
        <p:nvCxnSpPr>
          <p:cNvPr id="7" name="Straight Connector 6">
            <a:extLst>
              <a:ext uri="{FF2B5EF4-FFF2-40B4-BE49-F238E27FC236}">
                <a16:creationId xmlns="" xmlns:a16="http://schemas.microsoft.com/office/drawing/2014/main" id="{1E2DD63E-0684-4132-A166-B6EBA0B82EDC}"/>
              </a:ext>
            </a:extLst>
          </p:cNvPr>
          <p:cNvCxnSpPr>
            <a:cxnSpLocks/>
            <a:stCxn id="4" idx="3"/>
            <a:endCxn id="5" idx="1"/>
          </p:cNvCxnSpPr>
          <p:nvPr/>
        </p:nvCxnSpPr>
        <p:spPr bwMode="gray">
          <a:xfrm flipV="1">
            <a:off x="4742381" y="2495737"/>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2BC62B70-6DB9-4892-841E-AC7166F08DA9}"/>
              </a:ext>
            </a:extLst>
          </p:cNvPr>
          <p:cNvCxnSpPr>
            <a:cxnSpLocks/>
            <a:stCxn id="5" idx="3"/>
            <a:endCxn id="6" idx="1"/>
          </p:cNvCxnSpPr>
          <p:nvPr/>
        </p:nvCxnSpPr>
        <p:spPr bwMode="gray">
          <a:xfrm flipV="1">
            <a:off x="6285431" y="2492803"/>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 name="图片 48">
            <a:extLst>
              <a:ext uri="{FF2B5EF4-FFF2-40B4-BE49-F238E27FC236}">
                <a16:creationId xmlns="" xmlns:a16="http://schemas.microsoft.com/office/drawing/2014/main" id="{AE84C0C8-AC02-4766-97BA-62F13C5D81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7675" y="2337468"/>
            <a:ext cx="378863" cy="310667"/>
          </a:xfrm>
          <a:prstGeom prst="rect">
            <a:avLst/>
          </a:prstGeom>
        </p:spPr>
      </p:pic>
      <p:cxnSp>
        <p:nvCxnSpPr>
          <p:cNvPr id="14" name="Straight Connector 13">
            <a:extLst>
              <a:ext uri="{FF2B5EF4-FFF2-40B4-BE49-F238E27FC236}">
                <a16:creationId xmlns="" xmlns:a16="http://schemas.microsoft.com/office/drawing/2014/main" id="{3FDC14F8-30E1-42E9-AF15-F10DE43075A9}"/>
              </a:ext>
            </a:extLst>
          </p:cNvPr>
          <p:cNvCxnSpPr>
            <a:cxnSpLocks/>
            <a:stCxn id="13" idx="3"/>
            <a:endCxn id="4" idx="1"/>
          </p:cNvCxnSpPr>
          <p:nvPr/>
        </p:nvCxnSpPr>
        <p:spPr bwMode="gray">
          <a:xfrm>
            <a:off x="3366538" y="2492802"/>
            <a:ext cx="996980" cy="58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8" name="图片 48">
            <a:extLst>
              <a:ext uri="{FF2B5EF4-FFF2-40B4-BE49-F238E27FC236}">
                <a16:creationId xmlns="" xmlns:a16="http://schemas.microsoft.com/office/drawing/2014/main" id="{BA9B9593-9AAA-420E-BE53-8CD981A753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25462" y="2337467"/>
            <a:ext cx="378863" cy="310667"/>
          </a:xfrm>
          <a:prstGeom prst="rect">
            <a:avLst/>
          </a:prstGeom>
        </p:spPr>
      </p:pic>
      <p:cxnSp>
        <p:nvCxnSpPr>
          <p:cNvPr id="19" name="Straight Connector 18">
            <a:extLst>
              <a:ext uri="{FF2B5EF4-FFF2-40B4-BE49-F238E27FC236}">
                <a16:creationId xmlns="" xmlns:a16="http://schemas.microsoft.com/office/drawing/2014/main" id="{B46F0A4D-461D-443F-A7A3-F20A42E8F01F}"/>
              </a:ext>
            </a:extLst>
          </p:cNvPr>
          <p:cNvCxnSpPr>
            <a:cxnSpLocks/>
            <a:stCxn id="6" idx="3"/>
            <a:endCxn id="18" idx="1"/>
          </p:cNvCxnSpPr>
          <p:nvPr/>
        </p:nvCxnSpPr>
        <p:spPr bwMode="gray">
          <a:xfrm flipV="1">
            <a:off x="7828481" y="2492801"/>
            <a:ext cx="996981" cy="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98">
            <a:extLst>
              <a:ext uri="{FF2B5EF4-FFF2-40B4-BE49-F238E27FC236}">
                <a16:creationId xmlns="" xmlns:a16="http://schemas.microsoft.com/office/drawing/2014/main" id="{8C737BF4-0FF8-4182-87AF-EA7CCAF3FE12}"/>
              </a:ext>
            </a:extLst>
          </p:cNvPr>
          <p:cNvSpPr txBox="1"/>
          <p:nvPr/>
        </p:nvSpPr>
        <p:spPr bwMode="gray">
          <a:xfrm>
            <a:off x="4363517" y="2654004"/>
            <a:ext cx="378863" cy="161866"/>
          </a:xfrm>
          <a:prstGeom prst="rect">
            <a:avLst/>
          </a:prstGeom>
          <a:noFill/>
        </p:spPr>
        <p:txBody>
          <a:bodyPr wrap="none" lIns="0" tIns="0" rIns="0" bIns="0" rtlCol="0" anchor="ctr" anchorCtr="0">
            <a:noAutofit/>
          </a:bodyPr>
          <a:lstStyle/>
          <a:p>
            <a:pPr algn="ctr"/>
            <a:r>
              <a:rPr lang="en-US" altLang="zh-CN" sz="1400" dirty="0"/>
              <a:t>PE1</a:t>
            </a:r>
            <a:endParaRPr lang="zh-CN" altLang="en-US" sz="1400" dirty="0"/>
          </a:p>
        </p:txBody>
      </p:sp>
      <p:sp>
        <p:nvSpPr>
          <p:cNvPr id="24" name="文本框 98">
            <a:extLst>
              <a:ext uri="{FF2B5EF4-FFF2-40B4-BE49-F238E27FC236}">
                <a16:creationId xmlns="" xmlns:a16="http://schemas.microsoft.com/office/drawing/2014/main" id="{E9BF1A65-39CF-4E7C-9DAD-693F82FF57B9}"/>
              </a:ext>
            </a:extLst>
          </p:cNvPr>
          <p:cNvSpPr txBox="1"/>
          <p:nvPr/>
        </p:nvSpPr>
        <p:spPr bwMode="gray">
          <a:xfrm>
            <a:off x="7449618" y="2681503"/>
            <a:ext cx="378863" cy="161866"/>
          </a:xfrm>
          <a:prstGeom prst="rect">
            <a:avLst/>
          </a:prstGeom>
          <a:noFill/>
        </p:spPr>
        <p:txBody>
          <a:bodyPr wrap="none" lIns="0" tIns="0" rIns="0" bIns="0" rtlCol="0" anchor="ctr" anchorCtr="0">
            <a:noAutofit/>
          </a:bodyPr>
          <a:lstStyle/>
          <a:p>
            <a:pPr algn="ctr"/>
            <a:r>
              <a:rPr lang="en-US" altLang="zh-CN" sz="1400" dirty="0"/>
              <a:t>P2</a:t>
            </a:r>
            <a:endParaRPr lang="zh-CN" altLang="en-US" sz="1400" dirty="0"/>
          </a:p>
        </p:txBody>
      </p:sp>
      <p:sp>
        <p:nvSpPr>
          <p:cNvPr id="25" name="文本框 98">
            <a:extLst>
              <a:ext uri="{FF2B5EF4-FFF2-40B4-BE49-F238E27FC236}">
                <a16:creationId xmlns="" xmlns:a16="http://schemas.microsoft.com/office/drawing/2014/main" id="{B85694F8-F5C1-462C-946A-CEC0D9B96EB1}"/>
              </a:ext>
            </a:extLst>
          </p:cNvPr>
          <p:cNvSpPr txBox="1"/>
          <p:nvPr/>
        </p:nvSpPr>
        <p:spPr bwMode="gray">
          <a:xfrm>
            <a:off x="5912917" y="2658110"/>
            <a:ext cx="378863" cy="161866"/>
          </a:xfrm>
          <a:prstGeom prst="rect">
            <a:avLst/>
          </a:prstGeom>
          <a:noFill/>
        </p:spPr>
        <p:txBody>
          <a:bodyPr wrap="none" lIns="0" tIns="0" rIns="0" bIns="0" rtlCol="0" anchor="ctr" anchorCtr="0">
            <a:noAutofit/>
          </a:bodyPr>
          <a:lstStyle/>
          <a:p>
            <a:pPr algn="ctr"/>
            <a:r>
              <a:rPr lang="en-US" altLang="zh-CN" sz="1400" dirty="0"/>
              <a:t>P1</a:t>
            </a:r>
            <a:endParaRPr lang="zh-CN" altLang="en-US" sz="1400" dirty="0"/>
          </a:p>
        </p:txBody>
      </p:sp>
      <p:sp>
        <p:nvSpPr>
          <p:cNvPr id="26" name="文本框 98">
            <a:extLst>
              <a:ext uri="{FF2B5EF4-FFF2-40B4-BE49-F238E27FC236}">
                <a16:creationId xmlns="" xmlns:a16="http://schemas.microsoft.com/office/drawing/2014/main" id="{B811C322-CAA4-4C39-9A2C-2398ACBA2F0D}"/>
              </a:ext>
            </a:extLst>
          </p:cNvPr>
          <p:cNvSpPr txBox="1"/>
          <p:nvPr/>
        </p:nvSpPr>
        <p:spPr bwMode="gray">
          <a:xfrm>
            <a:off x="2987674" y="2658110"/>
            <a:ext cx="378863" cy="161866"/>
          </a:xfrm>
          <a:prstGeom prst="rect">
            <a:avLst/>
          </a:prstGeom>
          <a:noFill/>
        </p:spPr>
        <p:txBody>
          <a:bodyPr wrap="none" lIns="0" tIns="0" rIns="0" bIns="0" rtlCol="0" anchor="ctr" anchorCtr="0">
            <a:noAutofit/>
          </a:bodyPr>
          <a:lstStyle/>
          <a:p>
            <a:pPr algn="ctr"/>
            <a:r>
              <a:rPr lang="en-US" altLang="zh-CN" sz="1400" dirty="0"/>
              <a:t>CE1</a:t>
            </a:r>
            <a:endParaRPr lang="zh-CN" altLang="en-US" sz="1400" dirty="0"/>
          </a:p>
        </p:txBody>
      </p:sp>
      <p:sp>
        <p:nvSpPr>
          <p:cNvPr id="27" name="文本框 98">
            <a:extLst>
              <a:ext uri="{FF2B5EF4-FFF2-40B4-BE49-F238E27FC236}">
                <a16:creationId xmlns="" xmlns:a16="http://schemas.microsoft.com/office/drawing/2014/main" id="{3323714C-0874-4AC1-86BE-1244B368FE5B}"/>
              </a:ext>
            </a:extLst>
          </p:cNvPr>
          <p:cNvSpPr txBox="1"/>
          <p:nvPr/>
        </p:nvSpPr>
        <p:spPr bwMode="gray">
          <a:xfrm>
            <a:off x="8831811" y="2651070"/>
            <a:ext cx="378863" cy="161866"/>
          </a:xfrm>
          <a:prstGeom prst="rect">
            <a:avLst/>
          </a:prstGeom>
          <a:noFill/>
        </p:spPr>
        <p:txBody>
          <a:bodyPr wrap="none" lIns="0" tIns="0" rIns="0" bIns="0" rtlCol="0" anchor="ctr" anchorCtr="0">
            <a:noAutofit/>
          </a:bodyPr>
          <a:lstStyle/>
          <a:p>
            <a:pPr algn="ctr"/>
            <a:r>
              <a:rPr lang="en-US" altLang="zh-CN" sz="1400" dirty="0"/>
              <a:t>PE2</a:t>
            </a:r>
            <a:endParaRPr lang="zh-CN" altLang="en-US" sz="1400" dirty="0"/>
          </a:p>
        </p:txBody>
      </p:sp>
      <p:sp>
        <p:nvSpPr>
          <p:cNvPr id="30" name="圆角矩形 75">
            <a:extLst>
              <a:ext uri="{FF2B5EF4-FFF2-40B4-BE49-F238E27FC236}">
                <a16:creationId xmlns="" xmlns:a16="http://schemas.microsoft.com/office/drawing/2014/main" id="{CE1B8882-1313-43F7-9B08-FC50FC7011C9}"/>
              </a:ext>
            </a:extLst>
          </p:cNvPr>
          <p:cNvSpPr/>
          <p:nvPr/>
        </p:nvSpPr>
        <p:spPr bwMode="gray">
          <a:xfrm>
            <a:off x="4151860" y="1218413"/>
            <a:ext cx="5287212"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 name="TextBox 271">
            <a:extLst>
              <a:ext uri="{FF2B5EF4-FFF2-40B4-BE49-F238E27FC236}">
                <a16:creationId xmlns="" xmlns:a16="http://schemas.microsoft.com/office/drawing/2014/main" id="{9556AF14-71F3-4B1B-B22B-23B690834AAE}"/>
              </a:ext>
            </a:extLst>
          </p:cNvPr>
          <p:cNvSpPr txBox="1"/>
          <p:nvPr/>
        </p:nvSpPr>
        <p:spPr bwMode="gray">
          <a:xfrm>
            <a:off x="4191310" y="3117884"/>
            <a:ext cx="1229824" cy="307777"/>
          </a:xfrm>
          <a:prstGeom prst="rect">
            <a:avLst/>
          </a:prstGeom>
          <a:solidFill>
            <a:srgbClr val="56C4D2"/>
          </a:solidFill>
        </p:spPr>
        <p:txBody>
          <a:bodyPr wrap="none" rtlCol="0">
            <a:spAutoFit/>
          </a:bodyPr>
          <a:lstStyle/>
          <a:p>
            <a:pPr>
              <a:buFont typeface="Wingdings" pitchFamily="2" charset="2"/>
              <a:buNone/>
              <a:defRPr/>
            </a:pP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Domain</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5" name="Table 35">
            <a:extLst>
              <a:ext uri="{FF2B5EF4-FFF2-40B4-BE49-F238E27FC236}">
                <a16:creationId xmlns="" xmlns:a16="http://schemas.microsoft.com/office/drawing/2014/main" id="{D7AF502E-F164-41B1-B785-C58783BF46DF}"/>
              </a:ext>
            </a:extLst>
          </p:cNvPr>
          <p:cNvGraphicFramePr>
            <a:graphicFrameLocks noGrp="1"/>
          </p:cNvGraphicFramePr>
          <p:nvPr>
            <p:extLst>
              <p:ext uri="{D42A27DB-BD31-4B8C-83A1-F6EECF244321}">
                <p14:modId xmlns:p14="http://schemas.microsoft.com/office/powerpoint/2010/main" val="4222609852"/>
              </p:ext>
            </p:extLst>
          </p:nvPr>
        </p:nvGraphicFramePr>
        <p:xfrm>
          <a:off x="4805657" y="1508775"/>
          <a:ext cx="725787" cy="82296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algn="ctr"/>
                      <a:r>
                        <a:rPr lang="en-US" sz="1200" b="0" dirty="0">
                          <a:solidFill>
                            <a:schemeClr val="tx1"/>
                          </a:solidFill>
                        </a:rPr>
                        <a:t>FC01::1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658348728"/>
                  </a:ext>
                </a:extLst>
              </a:tr>
              <a:tr h="130261">
                <a:tc>
                  <a:txBody>
                    <a:bodyPr/>
                    <a:lstStyle/>
                    <a:p>
                      <a:pPr algn="ctr"/>
                      <a:r>
                        <a:rPr lang="en-US" sz="1200" dirty="0"/>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cxnSp>
        <p:nvCxnSpPr>
          <p:cNvPr id="40" name="Straight Arrow Connector 39">
            <a:extLst>
              <a:ext uri="{FF2B5EF4-FFF2-40B4-BE49-F238E27FC236}">
                <a16:creationId xmlns="" xmlns:a16="http://schemas.microsoft.com/office/drawing/2014/main" id="{E5B5623E-D572-4B6C-99F9-C6E3F18E459E}"/>
              </a:ext>
            </a:extLst>
          </p:cNvPr>
          <p:cNvCxnSpPr>
            <a:cxnSpLocks/>
          </p:cNvCxnSpPr>
          <p:nvPr/>
        </p:nvCxnSpPr>
        <p:spPr bwMode="gray">
          <a:xfrm>
            <a:off x="3443288" y="2419725"/>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 xmlns:a16="http://schemas.microsoft.com/office/drawing/2014/main" id="{EC412962-A897-49B4-BCFC-7BCF9F2D1C36}"/>
              </a:ext>
            </a:extLst>
          </p:cNvPr>
          <p:cNvCxnSpPr>
            <a:cxnSpLocks/>
          </p:cNvCxnSpPr>
          <p:nvPr/>
        </p:nvCxnSpPr>
        <p:spPr bwMode="gray">
          <a:xfrm>
            <a:off x="4786313" y="2419725"/>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3C170721-F38B-4355-936D-EFE4CF23AAB3}"/>
              </a:ext>
            </a:extLst>
          </p:cNvPr>
          <p:cNvCxnSpPr>
            <a:cxnSpLocks/>
          </p:cNvCxnSpPr>
          <p:nvPr/>
        </p:nvCxnSpPr>
        <p:spPr bwMode="gray">
          <a:xfrm>
            <a:off x="6317077" y="2419725"/>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 xmlns:a16="http://schemas.microsoft.com/office/drawing/2014/main" id="{AC15F8F7-D6FB-40F6-A65D-1776D8F75C08}"/>
              </a:ext>
            </a:extLst>
          </p:cNvPr>
          <p:cNvCxnSpPr>
            <a:cxnSpLocks/>
          </p:cNvCxnSpPr>
          <p:nvPr/>
        </p:nvCxnSpPr>
        <p:spPr bwMode="gray">
          <a:xfrm>
            <a:off x="7890669" y="2419725"/>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72" name="图片 24">
            <a:extLst>
              <a:ext uri="{FF2B5EF4-FFF2-40B4-BE49-F238E27FC236}">
                <a16:creationId xmlns="" xmlns:a16="http://schemas.microsoft.com/office/drawing/2014/main" id="{51785BD0-90E5-404F-B46F-1ADB816C2B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061364" y="3930628"/>
            <a:ext cx="1502493" cy="277100"/>
          </a:xfrm>
          <a:prstGeom prst="rect">
            <a:avLst/>
          </a:prstGeom>
        </p:spPr>
      </p:pic>
      <p:sp>
        <p:nvSpPr>
          <p:cNvPr id="73" name="圆角矩形 75">
            <a:extLst>
              <a:ext uri="{FF2B5EF4-FFF2-40B4-BE49-F238E27FC236}">
                <a16:creationId xmlns="" xmlns:a16="http://schemas.microsoft.com/office/drawing/2014/main" id="{1FD73CE5-0A23-4DCB-8564-C75122ADAA8B}"/>
              </a:ext>
            </a:extLst>
          </p:cNvPr>
          <p:cNvSpPr/>
          <p:nvPr/>
        </p:nvSpPr>
        <p:spPr bwMode="gray">
          <a:xfrm>
            <a:off x="10002891" y="3911902"/>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74" name="Straight Connector 73">
            <a:extLst>
              <a:ext uri="{FF2B5EF4-FFF2-40B4-BE49-F238E27FC236}">
                <a16:creationId xmlns="" xmlns:a16="http://schemas.microsoft.com/office/drawing/2014/main" id="{05004B01-DB8C-4E6D-8A5E-5368F58F048D}"/>
              </a:ext>
            </a:extLst>
          </p:cNvPr>
          <p:cNvCxnSpPr>
            <a:cxnSpLocks/>
            <a:endCxn id="73" idx="1"/>
          </p:cNvCxnSpPr>
          <p:nvPr/>
        </p:nvCxnSpPr>
        <p:spPr bwMode="gray">
          <a:xfrm>
            <a:off x="9439699" y="4065128"/>
            <a:ext cx="56319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7" name="图片 48">
            <a:extLst>
              <a:ext uri="{FF2B5EF4-FFF2-40B4-BE49-F238E27FC236}">
                <a16:creationId xmlns="" xmlns:a16="http://schemas.microsoft.com/office/drawing/2014/main" id="{AA8E65AF-C7A6-4E7B-8808-9139852076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14061" y="2340403"/>
            <a:ext cx="378863" cy="310667"/>
          </a:xfrm>
          <a:prstGeom prst="rect">
            <a:avLst/>
          </a:prstGeom>
        </p:spPr>
      </p:pic>
      <p:cxnSp>
        <p:nvCxnSpPr>
          <p:cNvPr id="78" name="Straight Connector 77">
            <a:extLst>
              <a:ext uri="{FF2B5EF4-FFF2-40B4-BE49-F238E27FC236}">
                <a16:creationId xmlns="" xmlns:a16="http://schemas.microsoft.com/office/drawing/2014/main" id="{E50FAD32-5A48-4F31-829B-F4601F5BADB1}"/>
              </a:ext>
            </a:extLst>
          </p:cNvPr>
          <p:cNvCxnSpPr>
            <a:cxnSpLocks/>
            <a:stCxn id="18" idx="3"/>
            <a:endCxn id="77" idx="1"/>
          </p:cNvCxnSpPr>
          <p:nvPr/>
        </p:nvCxnSpPr>
        <p:spPr bwMode="gray">
          <a:xfrm>
            <a:off x="9204325" y="2492801"/>
            <a:ext cx="1009736"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2" name="文本框 98">
            <a:extLst>
              <a:ext uri="{FF2B5EF4-FFF2-40B4-BE49-F238E27FC236}">
                <a16:creationId xmlns="" xmlns:a16="http://schemas.microsoft.com/office/drawing/2014/main" id="{D28AEE9F-02FF-49DC-AD7C-87A6EA31C2E8}"/>
              </a:ext>
            </a:extLst>
          </p:cNvPr>
          <p:cNvSpPr txBox="1"/>
          <p:nvPr/>
        </p:nvSpPr>
        <p:spPr bwMode="gray">
          <a:xfrm>
            <a:off x="10214060" y="2651070"/>
            <a:ext cx="378863" cy="161866"/>
          </a:xfrm>
          <a:prstGeom prst="rect">
            <a:avLst/>
          </a:prstGeom>
          <a:noFill/>
        </p:spPr>
        <p:txBody>
          <a:bodyPr wrap="none" lIns="0" tIns="0" rIns="0" bIns="0" rtlCol="0" anchor="ctr" anchorCtr="0">
            <a:noAutofit/>
          </a:bodyPr>
          <a:lstStyle/>
          <a:p>
            <a:pPr algn="ctr"/>
            <a:r>
              <a:rPr lang="en-US" altLang="zh-CN" sz="1400" dirty="0"/>
              <a:t>CE2</a:t>
            </a:r>
            <a:endParaRPr lang="zh-CN" altLang="en-US" sz="1400" dirty="0"/>
          </a:p>
        </p:txBody>
      </p:sp>
      <p:cxnSp>
        <p:nvCxnSpPr>
          <p:cNvPr id="83" name="Straight Arrow Connector 82">
            <a:extLst>
              <a:ext uri="{FF2B5EF4-FFF2-40B4-BE49-F238E27FC236}">
                <a16:creationId xmlns="" xmlns:a16="http://schemas.microsoft.com/office/drawing/2014/main" id="{FEACC621-937C-47BA-AE6F-D491578C59B7}"/>
              </a:ext>
            </a:extLst>
          </p:cNvPr>
          <p:cNvCxnSpPr>
            <a:cxnSpLocks/>
          </p:cNvCxnSpPr>
          <p:nvPr/>
        </p:nvCxnSpPr>
        <p:spPr bwMode="gray">
          <a:xfrm>
            <a:off x="9272891" y="2430311"/>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5" name="Freeform 159">
            <a:extLst>
              <a:ext uri="{FF2B5EF4-FFF2-40B4-BE49-F238E27FC236}">
                <a16:creationId xmlns="" xmlns:a16="http://schemas.microsoft.com/office/drawing/2014/main" id="{0F2781B2-9D34-495A-B800-2E0B079EC966}"/>
              </a:ext>
            </a:extLst>
          </p:cNvPr>
          <p:cNvSpPr/>
          <p:nvPr/>
        </p:nvSpPr>
        <p:spPr bwMode="gray">
          <a:xfrm flipH="1">
            <a:off x="10396523" y="4655773"/>
            <a:ext cx="1214251" cy="6615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p>
          <a:p>
            <a:pPr algn="ctr"/>
            <a:r>
              <a:rPr lang="en-US" altLang="zh-CN" sz="1200" dirty="0">
                <a:solidFill>
                  <a:srgbClr val="000000"/>
                </a:solidFill>
                <a:latin typeface="Huawei Sans" panose="020C0503030203020204" pitchFamily="34" charset="0"/>
                <a:ea typeface="方正兰亭黑简体" panose="02000000000000000000" pitchFamily="2" charset="-122"/>
              </a:rPr>
              <a:t>2001::</a:t>
            </a:r>
            <a:r>
              <a:rPr lang="zh-CN" altLang="en-US" sz="1200" dirty="0">
                <a:solidFill>
                  <a:srgbClr val="000000"/>
                </a:solidFill>
                <a:latin typeface="Huawei Sans" panose="020C0503030203020204" pitchFamily="34" charset="0"/>
                <a:ea typeface="方正兰亭黑简体" panose="02000000000000000000" pitchFamily="2" charset="-122"/>
              </a:rPr>
              <a:t> </a:t>
            </a:r>
            <a:r>
              <a:rPr lang="en-US" altLang="zh-CN" sz="1200" dirty="0">
                <a:solidFill>
                  <a:srgbClr val="000000"/>
                </a:solidFill>
                <a:latin typeface="Huawei Sans" panose="020C0503030203020204" pitchFamily="34" charset="0"/>
                <a:ea typeface="方正兰亭黑简体" panose="02000000000000000000" pitchFamily="2" charset="-122"/>
              </a:rPr>
              <a:t>64</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86" name="Freeform 159">
            <a:extLst>
              <a:ext uri="{FF2B5EF4-FFF2-40B4-BE49-F238E27FC236}">
                <a16:creationId xmlns="" xmlns:a16="http://schemas.microsoft.com/office/drawing/2014/main" id="{4CB38E65-2A68-4F3F-BE46-B90BF6FD6146}"/>
              </a:ext>
            </a:extLst>
          </p:cNvPr>
          <p:cNvSpPr/>
          <p:nvPr/>
        </p:nvSpPr>
        <p:spPr bwMode="gray">
          <a:xfrm flipH="1">
            <a:off x="2202351" y="481506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87" name="图片 48">
            <a:extLst>
              <a:ext uri="{FF2B5EF4-FFF2-40B4-BE49-F238E27FC236}">
                <a16:creationId xmlns="" xmlns:a16="http://schemas.microsoft.com/office/drawing/2014/main" id="{AA213C64-3C3B-4746-B87C-CEC4F3D804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63518" y="4974370"/>
            <a:ext cx="378863" cy="310667"/>
          </a:xfrm>
          <a:prstGeom prst="rect">
            <a:avLst/>
          </a:prstGeom>
        </p:spPr>
      </p:pic>
      <p:pic>
        <p:nvPicPr>
          <p:cNvPr id="88" name="图片 48">
            <a:extLst>
              <a:ext uri="{FF2B5EF4-FFF2-40B4-BE49-F238E27FC236}">
                <a16:creationId xmlns="" xmlns:a16="http://schemas.microsoft.com/office/drawing/2014/main" id="{9C9D9E5C-2BF3-420A-AE02-3B76EBAF59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6568" y="4971436"/>
            <a:ext cx="378863" cy="310667"/>
          </a:xfrm>
          <a:prstGeom prst="rect">
            <a:avLst/>
          </a:prstGeom>
        </p:spPr>
      </p:pic>
      <p:pic>
        <p:nvPicPr>
          <p:cNvPr id="89" name="图片 48">
            <a:extLst>
              <a:ext uri="{FF2B5EF4-FFF2-40B4-BE49-F238E27FC236}">
                <a16:creationId xmlns="" xmlns:a16="http://schemas.microsoft.com/office/drawing/2014/main" id="{114477C8-0553-48C8-9722-ACFEE20985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49618" y="4968502"/>
            <a:ext cx="378863" cy="310667"/>
          </a:xfrm>
          <a:prstGeom prst="rect">
            <a:avLst/>
          </a:prstGeom>
        </p:spPr>
      </p:pic>
      <p:cxnSp>
        <p:nvCxnSpPr>
          <p:cNvPr id="90" name="Straight Connector 89">
            <a:extLst>
              <a:ext uri="{FF2B5EF4-FFF2-40B4-BE49-F238E27FC236}">
                <a16:creationId xmlns="" xmlns:a16="http://schemas.microsoft.com/office/drawing/2014/main" id="{6C05EF6E-AC38-477E-A5C6-B3500D6E56C4}"/>
              </a:ext>
            </a:extLst>
          </p:cNvPr>
          <p:cNvCxnSpPr>
            <a:cxnSpLocks/>
            <a:stCxn id="87" idx="3"/>
            <a:endCxn id="88" idx="1"/>
          </p:cNvCxnSpPr>
          <p:nvPr/>
        </p:nvCxnSpPr>
        <p:spPr bwMode="gray">
          <a:xfrm flipV="1">
            <a:off x="4742381" y="5126770"/>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9FB10784-7059-41B8-8F3B-C719239F17E4}"/>
              </a:ext>
            </a:extLst>
          </p:cNvPr>
          <p:cNvCxnSpPr>
            <a:cxnSpLocks/>
            <a:stCxn id="88" idx="3"/>
            <a:endCxn id="89" idx="1"/>
          </p:cNvCxnSpPr>
          <p:nvPr/>
        </p:nvCxnSpPr>
        <p:spPr bwMode="gray">
          <a:xfrm flipV="1">
            <a:off x="6285431" y="5123836"/>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2" name="图片 48">
            <a:extLst>
              <a:ext uri="{FF2B5EF4-FFF2-40B4-BE49-F238E27FC236}">
                <a16:creationId xmlns="" xmlns:a16="http://schemas.microsoft.com/office/drawing/2014/main" id="{4A7A07A3-2E1B-4008-BD31-4E9B974D6D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7675" y="4968501"/>
            <a:ext cx="378863" cy="310667"/>
          </a:xfrm>
          <a:prstGeom prst="rect">
            <a:avLst/>
          </a:prstGeom>
        </p:spPr>
      </p:pic>
      <p:cxnSp>
        <p:nvCxnSpPr>
          <p:cNvPr id="93" name="Straight Connector 92">
            <a:extLst>
              <a:ext uri="{FF2B5EF4-FFF2-40B4-BE49-F238E27FC236}">
                <a16:creationId xmlns="" xmlns:a16="http://schemas.microsoft.com/office/drawing/2014/main" id="{BB08465E-2AA2-4263-8C23-05858EC525C8}"/>
              </a:ext>
            </a:extLst>
          </p:cNvPr>
          <p:cNvCxnSpPr>
            <a:cxnSpLocks/>
            <a:stCxn id="92" idx="3"/>
            <a:endCxn id="87" idx="1"/>
          </p:cNvCxnSpPr>
          <p:nvPr/>
        </p:nvCxnSpPr>
        <p:spPr bwMode="gray">
          <a:xfrm>
            <a:off x="3366538" y="5123835"/>
            <a:ext cx="996980" cy="58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4" name="图片 48">
            <a:extLst>
              <a:ext uri="{FF2B5EF4-FFF2-40B4-BE49-F238E27FC236}">
                <a16:creationId xmlns="" xmlns:a16="http://schemas.microsoft.com/office/drawing/2014/main" id="{51A8BBA9-11A8-455F-9094-6DFD125AAA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25462" y="4968500"/>
            <a:ext cx="378863" cy="310667"/>
          </a:xfrm>
          <a:prstGeom prst="rect">
            <a:avLst/>
          </a:prstGeom>
        </p:spPr>
      </p:pic>
      <p:cxnSp>
        <p:nvCxnSpPr>
          <p:cNvPr id="95" name="Straight Connector 94">
            <a:extLst>
              <a:ext uri="{FF2B5EF4-FFF2-40B4-BE49-F238E27FC236}">
                <a16:creationId xmlns="" xmlns:a16="http://schemas.microsoft.com/office/drawing/2014/main" id="{0226DAC4-C26A-4C4D-90BC-42680CA9A5F9}"/>
              </a:ext>
            </a:extLst>
          </p:cNvPr>
          <p:cNvCxnSpPr>
            <a:cxnSpLocks/>
            <a:stCxn id="89" idx="3"/>
            <a:endCxn id="94" idx="1"/>
          </p:cNvCxnSpPr>
          <p:nvPr/>
        </p:nvCxnSpPr>
        <p:spPr bwMode="gray">
          <a:xfrm flipV="1">
            <a:off x="7828481" y="5123834"/>
            <a:ext cx="996981" cy="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6" name="文本框 98">
            <a:extLst>
              <a:ext uri="{FF2B5EF4-FFF2-40B4-BE49-F238E27FC236}">
                <a16:creationId xmlns="" xmlns:a16="http://schemas.microsoft.com/office/drawing/2014/main" id="{030521E8-8FBF-41F1-A54D-753B05B63739}"/>
              </a:ext>
            </a:extLst>
          </p:cNvPr>
          <p:cNvSpPr txBox="1"/>
          <p:nvPr/>
        </p:nvSpPr>
        <p:spPr bwMode="gray">
          <a:xfrm>
            <a:off x="4363517" y="5285037"/>
            <a:ext cx="378863" cy="161866"/>
          </a:xfrm>
          <a:prstGeom prst="rect">
            <a:avLst/>
          </a:prstGeom>
          <a:noFill/>
        </p:spPr>
        <p:txBody>
          <a:bodyPr wrap="none" lIns="0" tIns="0" rIns="0" bIns="0" rtlCol="0" anchor="ctr" anchorCtr="0">
            <a:noAutofit/>
          </a:bodyPr>
          <a:lstStyle/>
          <a:p>
            <a:pPr algn="ctr"/>
            <a:r>
              <a:rPr lang="en-US" altLang="zh-CN" sz="1400" dirty="0"/>
              <a:t>PE1</a:t>
            </a:r>
            <a:endParaRPr lang="zh-CN" altLang="en-US" sz="1400" dirty="0"/>
          </a:p>
        </p:txBody>
      </p:sp>
      <p:sp>
        <p:nvSpPr>
          <p:cNvPr id="97" name="文本框 98">
            <a:extLst>
              <a:ext uri="{FF2B5EF4-FFF2-40B4-BE49-F238E27FC236}">
                <a16:creationId xmlns="" xmlns:a16="http://schemas.microsoft.com/office/drawing/2014/main" id="{52256ECB-282F-4AB6-BD6B-066CB6FC3AFC}"/>
              </a:ext>
            </a:extLst>
          </p:cNvPr>
          <p:cNvSpPr txBox="1"/>
          <p:nvPr/>
        </p:nvSpPr>
        <p:spPr bwMode="gray">
          <a:xfrm>
            <a:off x="7449618" y="5312536"/>
            <a:ext cx="378863" cy="161866"/>
          </a:xfrm>
          <a:prstGeom prst="rect">
            <a:avLst/>
          </a:prstGeom>
          <a:noFill/>
        </p:spPr>
        <p:txBody>
          <a:bodyPr wrap="none" lIns="0" tIns="0" rIns="0" bIns="0" rtlCol="0" anchor="ctr" anchorCtr="0">
            <a:noAutofit/>
          </a:bodyPr>
          <a:lstStyle/>
          <a:p>
            <a:pPr algn="ctr"/>
            <a:r>
              <a:rPr lang="en-US" altLang="zh-CN" sz="1400" dirty="0"/>
              <a:t>P2</a:t>
            </a:r>
            <a:endParaRPr lang="zh-CN" altLang="en-US" sz="1400" dirty="0"/>
          </a:p>
        </p:txBody>
      </p:sp>
      <p:sp>
        <p:nvSpPr>
          <p:cNvPr id="98" name="文本框 98">
            <a:extLst>
              <a:ext uri="{FF2B5EF4-FFF2-40B4-BE49-F238E27FC236}">
                <a16:creationId xmlns="" xmlns:a16="http://schemas.microsoft.com/office/drawing/2014/main" id="{1F182459-9251-4B06-8C27-9BE530DAD30B}"/>
              </a:ext>
            </a:extLst>
          </p:cNvPr>
          <p:cNvSpPr txBox="1"/>
          <p:nvPr/>
        </p:nvSpPr>
        <p:spPr bwMode="gray">
          <a:xfrm>
            <a:off x="5912917" y="5289143"/>
            <a:ext cx="378863" cy="161866"/>
          </a:xfrm>
          <a:prstGeom prst="rect">
            <a:avLst/>
          </a:prstGeom>
          <a:noFill/>
        </p:spPr>
        <p:txBody>
          <a:bodyPr wrap="none" lIns="0" tIns="0" rIns="0" bIns="0" rtlCol="0" anchor="ctr" anchorCtr="0">
            <a:noAutofit/>
          </a:bodyPr>
          <a:lstStyle/>
          <a:p>
            <a:pPr algn="ctr"/>
            <a:r>
              <a:rPr lang="en-US" altLang="zh-CN" sz="1400" dirty="0"/>
              <a:t>P1</a:t>
            </a:r>
            <a:endParaRPr lang="zh-CN" altLang="en-US" sz="1400" dirty="0"/>
          </a:p>
        </p:txBody>
      </p:sp>
      <p:sp>
        <p:nvSpPr>
          <p:cNvPr id="99" name="文本框 98">
            <a:extLst>
              <a:ext uri="{FF2B5EF4-FFF2-40B4-BE49-F238E27FC236}">
                <a16:creationId xmlns="" xmlns:a16="http://schemas.microsoft.com/office/drawing/2014/main" id="{A84073E5-7B6F-45E5-BA36-7AA6530729B2}"/>
              </a:ext>
            </a:extLst>
          </p:cNvPr>
          <p:cNvSpPr txBox="1"/>
          <p:nvPr/>
        </p:nvSpPr>
        <p:spPr bwMode="gray">
          <a:xfrm>
            <a:off x="2987674" y="5289143"/>
            <a:ext cx="378863" cy="161866"/>
          </a:xfrm>
          <a:prstGeom prst="rect">
            <a:avLst/>
          </a:prstGeom>
          <a:noFill/>
        </p:spPr>
        <p:txBody>
          <a:bodyPr wrap="none" lIns="0" tIns="0" rIns="0" bIns="0" rtlCol="0" anchor="ctr" anchorCtr="0">
            <a:noAutofit/>
          </a:bodyPr>
          <a:lstStyle/>
          <a:p>
            <a:pPr algn="ctr"/>
            <a:r>
              <a:rPr lang="en-US" altLang="zh-CN" sz="1400" dirty="0"/>
              <a:t>CE1</a:t>
            </a:r>
            <a:endParaRPr lang="zh-CN" altLang="en-US" sz="1400" dirty="0"/>
          </a:p>
        </p:txBody>
      </p:sp>
      <p:sp>
        <p:nvSpPr>
          <p:cNvPr id="100" name="文本框 98">
            <a:extLst>
              <a:ext uri="{FF2B5EF4-FFF2-40B4-BE49-F238E27FC236}">
                <a16:creationId xmlns="" xmlns:a16="http://schemas.microsoft.com/office/drawing/2014/main" id="{8A197915-E2B3-46BB-82DA-52790BB12848}"/>
              </a:ext>
            </a:extLst>
          </p:cNvPr>
          <p:cNvSpPr txBox="1"/>
          <p:nvPr/>
        </p:nvSpPr>
        <p:spPr bwMode="gray">
          <a:xfrm>
            <a:off x="8831811" y="5282103"/>
            <a:ext cx="378863" cy="161866"/>
          </a:xfrm>
          <a:prstGeom prst="rect">
            <a:avLst/>
          </a:prstGeom>
          <a:noFill/>
        </p:spPr>
        <p:txBody>
          <a:bodyPr wrap="none" lIns="0" tIns="0" rIns="0" bIns="0" rtlCol="0" anchor="ctr" anchorCtr="0">
            <a:noAutofit/>
          </a:bodyPr>
          <a:lstStyle/>
          <a:p>
            <a:pPr algn="ctr"/>
            <a:r>
              <a:rPr lang="en-US" altLang="zh-CN" sz="1400" dirty="0"/>
              <a:t>PE2</a:t>
            </a:r>
            <a:endParaRPr lang="zh-CN" altLang="en-US" sz="1400" dirty="0"/>
          </a:p>
        </p:txBody>
      </p:sp>
      <p:sp>
        <p:nvSpPr>
          <p:cNvPr id="101" name="圆角矩形 75">
            <a:extLst>
              <a:ext uri="{FF2B5EF4-FFF2-40B4-BE49-F238E27FC236}">
                <a16:creationId xmlns="" xmlns:a16="http://schemas.microsoft.com/office/drawing/2014/main" id="{609F662C-1EDB-4E83-AAC7-6D7C4190B187}"/>
              </a:ext>
            </a:extLst>
          </p:cNvPr>
          <p:cNvSpPr/>
          <p:nvPr/>
        </p:nvSpPr>
        <p:spPr bwMode="gray">
          <a:xfrm>
            <a:off x="4151860" y="3849446"/>
            <a:ext cx="5287212"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2" name="TextBox 271">
            <a:extLst>
              <a:ext uri="{FF2B5EF4-FFF2-40B4-BE49-F238E27FC236}">
                <a16:creationId xmlns="" xmlns:a16="http://schemas.microsoft.com/office/drawing/2014/main" id="{2A2CC9FA-0E51-466F-8E76-9D1C3EE39978}"/>
              </a:ext>
            </a:extLst>
          </p:cNvPr>
          <p:cNvSpPr txBox="1"/>
          <p:nvPr/>
        </p:nvSpPr>
        <p:spPr bwMode="gray">
          <a:xfrm>
            <a:off x="4191310" y="5748917"/>
            <a:ext cx="1229824" cy="307777"/>
          </a:xfrm>
          <a:prstGeom prst="rect">
            <a:avLst/>
          </a:prstGeom>
          <a:solidFill>
            <a:srgbClr val="56C4D2"/>
          </a:solidFill>
        </p:spPr>
        <p:txBody>
          <a:bodyPr wrap="none" rtlCol="0">
            <a:spAutoFit/>
          </a:bodyPr>
          <a:lstStyle/>
          <a:p>
            <a:pPr>
              <a:buFont typeface="Wingdings" pitchFamily="2" charset="2"/>
              <a:buNone/>
              <a:defRPr/>
            </a:pP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Domain</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7" name="Straight Arrow Connector 106">
            <a:extLst>
              <a:ext uri="{FF2B5EF4-FFF2-40B4-BE49-F238E27FC236}">
                <a16:creationId xmlns="" xmlns:a16="http://schemas.microsoft.com/office/drawing/2014/main" id="{2C3E8BD3-6380-4BE4-A6C1-95CECB6477AC}"/>
              </a:ext>
            </a:extLst>
          </p:cNvPr>
          <p:cNvCxnSpPr>
            <a:cxnSpLocks/>
          </p:cNvCxnSpPr>
          <p:nvPr/>
        </p:nvCxnSpPr>
        <p:spPr bwMode="gray">
          <a:xfrm>
            <a:off x="3443288" y="5050758"/>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 xmlns:a16="http://schemas.microsoft.com/office/drawing/2014/main" id="{2F77A861-8E08-43BD-A820-E98CC73744F5}"/>
              </a:ext>
            </a:extLst>
          </p:cNvPr>
          <p:cNvCxnSpPr>
            <a:cxnSpLocks/>
          </p:cNvCxnSpPr>
          <p:nvPr/>
        </p:nvCxnSpPr>
        <p:spPr bwMode="gray">
          <a:xfrm>
            <a:off x="4786313" y="5050758"/>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 xmlns:a16="http://schemas.microsoft.com/office/drawing/2014/main" id="{A5CD1679-C141-401F-A296-3C82EA488900}"/>
              </a:ext>
            </a:extLst>
          </p:cNvPr>
          <p:cNvCxnSpPr>
            <a:cxnSpLocks/>
          </p:cNvCxnSpPr>
          <p:nvPr/>
        </p:nvCxnSpPr>
        <p:spPr bwMode="gray">
          <a:xfrm>
            <a:off x="6317077" y="5050758"/>
            <a:ext cx="1076325"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 xmlns:a16="http://schemas.microsoft.com/office/drawing/2014/main" id="{CBEF6E87-A1C7-41AF-9935-87ACDC76F41B}"/>
              </a:ext>
            </a:extLst>
          </p:cNvPr>
          <p:cNvCxnSpPr>
            <a:cxnSpLocks/>
          </p:cNvCxnSpPr>
          <p:nvPr/>
        </p:nvCxnSpPr>
        <p:spPr bwMode="gray">
          <a:xfrm>
            <a:off x="7890669" y="5050758"/>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11" name="图片 48">
            <a:extLst>
              <a:ext uri="{FF2B5EF4-FFF2-40B4-BE49-F238E27FC236}">
                <a16:creationId xmlns="" xmlns:a16="http://schemas.microsoft.com/office/drawing/2014/main" id="{4A09DA22-22F3-42B2-9BB7-B30CBF0D25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14061" y="4971436"/>
            <a:ext cx="378863" cy="310667"/>
          </a:xfrm>
          <a:prstGeom prst="rect">
            <a:avLst/>
          </a:prstGeom>
        </p:spPr>
      </p:pic>
      <p:cxnSp>
        <p:nvCxnSpPr>
          <p:cNvPr id="112" name="Straight Connector 111">
            <a:extLst>
              <a:ext uri="{FF2B5EF4-FFF2-40B4-BE49-F238E27FC236}">
                <a16:creationId xmlns="" xmlns:a16="http://schemas.microsoft.com/office/drawing/2014/main" id="{16DF51E1-BF29-4DD4-A6E0-A0828F6271C8}"/>
              </a:ext>
            </a:extLst>
          </p:cNvPr>
          <p:cNvCxnSpPr>
            <a:cxnSpLocks/>
            <a:stCxn id="94" idx="3"/>
            <a:endCxn id="111" idx="1"/>
          </p:cNvCxnSpPr>
          <p:nvPr/>
        </p:nvCxnSpPr>
        <p:spPr bwMode="gray">
          <a:xfrm>
            <a:off x="9204325" y="5123834"/>
            <a:ext cx="1009736"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3" name="文本框 98">
            <a:extLst>
              <a:ext uri="{FF2B5EF4-FFF2-40B4-BE49-F238E27FC236}">
                <a16:creationId xmlns="" xmlns:a16="http://schemas.microsoft.com/office/drawing/2014/main" id="{A44AD2A4-C7B6-4D4D-A696-F6410A1C6F95}"/>
              </a:ext>
            </a:extLst>
          </p:cNvPr>
          <p:cNvSpPr txBox="1"/>
          <p:nvPr/>
        </p:nvSpPr>
        <p:spPr bwMode="gray">
          <a:xfrm>
            <a:off x="10214060" y="5282103"/>
            <a:ext cx="378863" cy="161866"/>
          </a:xfrm>
          <a:prstGeom prst="rect">
            <a:avLst/>
          </a:prstGeom>
          <a:noFill/>
        </p:spPr>
        <p:txBody>
          <a:bodyPr wrap="none" lIns="0" tIns="0" rIns="0" bIns="0" rtlCol="0" anchor="ctr" anchorCtr="0">
            <a:noAutofit/>
          </a:bodyPr>
          <a:lstStyle/>
          <a:p>
            <a:pPr algn="ctr"/>
            <a:r>
              <a:rPr lang="en-US" altLang="zh-CN" sz="1400" dirty="0"/>
              <a:t>CE2</a:t>
            </a:r>
            <a:endParaRPr lang="zh-CN" altLang="en-US" sz="1400" dirty="0"/>
          </a:p>
        </p:txBody>
      </p:sp>
      <p:cxnSp>
        <p:nvCxnSpPr>
          <p:cNvPr id="114" name="Straight Arrow Connector 113">
            <a:extLst>
              <a:ext uri="{FF2B5EF4-FFF2-40B4-BE49-F238E27FC236}">
                <a16:creationId xmlns="" xmlns:a16="http://schemas.microsoft.com/office/drawing/2014/main" id="{D43E8F67-B748-4630-B503-EFD680A91FDC}"/>
              </a:ext>
            </a:extLst>
          </p:cNvPr>
          <p:cNvCxnSpPr>
            <a:cxnSpLocks/>
          </p:cNvCxnSpPr>
          <p:nvPr/>
        </p:nvCxnSpPr>
        <p:spPr bwMode="gray">
          <a:xfrm>
            <a:off x="9272891" y="5061344"/>
            <a:ext cx="872604" cy="0"/>
          </a:xfrm>
          <a:prstGeom prst="straightConnector1">
            <a:avLst/>
          </a:prstGeom>
          <a:ln w="19050">
            <a:solidFill>
              <a:srgbClr val="E2818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文本框 24">
            <a:extLst>
              <a:ext uri="{FF2B5EF4-FFF2-40B4-BE49-F238E27FC236}">
                <a16:creationId xmlns="" xmlns:a16="http://schemas.microsoft.com/office/drawing/2014/main" id="{3A5EE791-49F4-4306-B1AE-6F79C94D5CC2}"/>
              </a:ext>
            </a:extLst>
          </p:cNvPr>
          <p:cNvSpPr txBox="1"/>
          <p:nvPr/>
        </p:nvSpPr>
        <p:spPr bwMode="gray">
          <a:xfrm>
            <a:off x="550553" y="1311238"/>
            <a:ext cx="2569934"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承载</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a:t>
            </a:r>
          </a:p>
        </p:txBody>
      </p:sp>
      <p:sp>
        <p:nvSpPr>
          <p:cNvPr id="121" name="文本框 24">
            <a:extLst>
              <a:ext uri="{FF2B5EF4-FFF2-40B4-BE49-F238E27FC236}">
                <a16:creationId xmlns="" xmlns:a16="http://schemas.microsoft.com/office/drawing/2014/main" id="{320CF851-091E-4658-B94B-82D3335F4BD4}"/>
              </a:ext>
            </a:extLst>
          </p:cNvPr>
          <p:cNvSpPr txBox="1"/>
          <p:nvPr/>
        </p:nvSpPr>
        <p:spPr bwMode="gray">
          <a:xfrm>
            <a:off x="550552" y="3860911"/>
            <a:ext cx="2874505"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承载</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流量</a:t>
            </a:r>
          </a:p>
        </p:txBody>
      </p:sp>
      <p:graphicFrame>
        <p:nvGraphicFramePr>
          <p:cNvPr id="79" name="Table 35">
            <a:extLst>
              <a:ext uri="{FF2B5EF4-FFF2-40B4-BE49-F238E27FC236}">
                <a16:creationId xmlns="" xmlns:a16="http://schemas.microsoft.com/office/drawing/2014/main" id="{DB6C3980-DAA4-45E9-86D2-DD7A550F6FE9}"/>
              </a:ext>
            </a:extLst>
          </p:cNvPr>
          <p:cNvGraphicFramePr>
            <a:graphicFrameLocks noGrp="1"/>
          </p:cNvGraphicFramePr>
          <p:nvPr>
            <p:extLst>
              <p:ext uri="{D42A27DB-BD31-4B8C-83A1-F6EECF244321}">
                <p14:modId xmlns:p14="http://schemas.microsoft.com/office/powerpoint/2010/main" val="1043781643"/>
              </p:ext>
            </p:extLst>
          </p:nvPr>
        </p:nvGraphicFramePr>
        <p:xfrm>
          <a:off x="6339501" y="1508775"/>
          <a:ext cx="725787" cy="82296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algn="ctr"/>
                      <a:r>
                        <a:rPr lang="en-US" sz="1200" b="0" dirty="0">
                          <a:solidFill>
                            <a:schemeClr val="tx1"/>
                          </a:solidFill>
                        </a:rPr>
                        <a:t>FC01::1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658348728"/>
                  </a:ext>
                </a:extLst>
              </a:tr>
              <a:tr h="130261">
                <a:tc>
                  <a:txBody>
                    <a:bodyPr/>
                    <a:lstStyle/>
                    <a:p>
                      <a:pPr algn="ctr"/>
                      <a:r>
                        <a:rPr lang="en-US" sz="1200" dirty="0"/>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80" name="Table 35">
            <a:extLst>
              <a:ext uri="{FF2B5EF4-FFF2-40B4-BE49-F238E27FC236}">
                <a16:creationId xmlns="" xmlns:a16="http://schemas.microsoft.com/office/drawing/2014/main" id="{F71415D7-E100-4257-B331-9500B26308D2}"/>
              </a:ext>
            </a:extLst>
          </p:cNvPr>
          <p:cNvGraphicFramePr>
            <a:graphicFrameLocks noGrp="1"/>
          </p:cNvGraphicFramePr>
          <p:nvPr>
            <p:extLst>
              <p:ext uri="{D42A27DB-BD31-4B8C-83A1-F6EECF244321}">
                <p14:modId xmlns:p14="http://schemas.microsoft.com/office/powerpoint/2010/main" val="1821302619"/>
              </p:ext>
            </p:extLst>
          </p:nvPr>
        </p:nvGraphicFramePr>
        <p:xfrm>
          <a:off x="7881716" y="1508775"/>
          <a:ext cx="725787" cy="82296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algn="ctr"/>
                      <a:r>
                        <a:rPr lang="en-US" sz="1200" b="0" dirty="0">
                          <a:solidFill>
                            <a:schemeClr val="tx1"/>
                          </a:solidFill>
                        </a:rPr>
                        <a:t>FC01::1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658348728"/>
                  </a:ext>
                </a:extLst>
              </a:tr>
              <a:tr h="130261">
                <a:tc>
                  <a:txBody>
                    <a:bodyPr/>
                    <a:lstStyle/>
                    <a:p>
                      <a:pPr algn="ctr"/>
                      <a:r>
                        <a:rPr lang="en-US" sz="1200" dirty="0"/>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81" name="Table 35">
            <a:extLst>
              <a:ext uri="{FF2B5EF4-FFF2-40B4-BE49-F238E27FC236}">
                <a16:creationId xmlns="" xmlns:a16="http://schemas.microsoft.com/office/drawing/2014/main" id="{8123AF3F-8B84-4742-B21E-F7D806C48A2A}"/>
              </a:ext>
            </a:extLst>
          </p:cNvPr>
          <p:cNvGraphicFramePr>
            <a:graphicFrameLocks noGrp="1"/>
          </p:cNvGraphicFramePr>
          <p:nvPr>
            <p:extLst>
              <p:ext uri="{D42A27DB-BD31-4B8C-83A1-F6EECF244321}">
                <p14:modId xmlns:p14="http://schemas.microsoft.com/office/powerpoint/2010/main" val="2381237860"/>
              </p:ext>
            </p:extLst>
          </p:nvPr>
        </p:nvGraphicFramePr>
        <p:xfrm>
          <a:off x="3394978" y="1785940"/>
          <a:ext cx="725787" cy="54864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04" name="Table 35">
            <a:extLst>
              <a:ext uri="{FF2B5EF4-FFF2-40B4-BE49-F238E27FC236}">
                <a16:creationId xmlns="" xmlns:a16="http://schemas.microsoft.com/office/drawing/2014/main" id="{BBD6910F-3FF7-4686-AEB2-6515BE13CFB2}"/>
              </a:ext>
            </a:extLst>
          </p:cNvPr>
          <p:cNvGraphicFramePr>
            <a:graphicFrameLocks noGrp="1"/>
          </p:cNvGraphicFramePr>
          <p:nvPr>
            <p:extLst>
              <p:ext uri="{D42A27DB-BD31-4B8C-83A1-F6EECF244321}">
                <p14:modId xmlns:p14="http://schemas.microsoft.com/office/powerpoint/2010/main" val="575373701"/>
              </p:ext>
            </p:extLst>
          </p:nvPr>
        </p:nvGraphicFramePr>
        <p:xfrm>
          <a:off x="9309145" y="1778086"/>
          <a:ext cx="725787" cy="54864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15" name="Table 35">
            <a:extLst>
              <a:ext uri="{FF2B5EF4-FFF2-40B4-BE49-F238E27FC236}">
                <a16:creationId xmlns="" xmlns:a16="http://schemas.microsoft.com/office/drawing/2014/main" id="{ABF208A9-71AD-47DD-AB4B-2BE3FB9A14ED}"/>
              </a:ext>
            </a:extLst>
          </p:cNvPr>
          <p:cNvGraphicFramePr>
            <a:graphicFrameLocks noGrp="1"/>
          </p:cNvGraphicFramePr>
          <p:nvPr>
            <p:extLst>
              <p:ext uri="{D42A27DB-BD31-4B8C-83A1-F6EECF244321}">
                <p14:modId xmlns:p14="http://schemas.microsoft.com/office/powerpoint/2010/main" val="995406609"/>
              </p:ext>
            </p:extLst>
          </p:nvPr>
        </p:nvGraphicFramePr>
        <p:xfrm>
          <a:off x="3394978" y="4452149"/>
          <a:ext cx="725787" cy="54864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22" name="Table 35">
            <a:extLst>
              <a:ext uri="{FF2B5EF4-FFF2-40B4-BE49-F238E27FC236}">
                <a16:creationId xmlns="" xmlns:a16="http://schemas.microsoft.com/office/drawing/2014/main" id="{588D3E0E-B842-4437-9BEC-2246D3C285CC}"/>
              </a:ext>
            </a:extLst>
          </p:cNvPr>
          <p:cNvGraphicFramePr>
            <a:graphicFrameLocks noGrp="1"/>
          </p:cNvGraphicFramePr>
          <p:nvPr>
            <p:extLst>
              <p:ext uri="{D42A27DB-BD31-4B8C-83A1-F6EECF244321}">
                <p14:modId xmlns:p14="http://schemas.microsoft.com/office/powerpoint/2010/main" val="3329547602"/>
              </p:ext>
            </p:extLst>
          </p:nvPr>
        </p:nvGraphicFramePr>
        <p:xfrm>
          <a:off x="9309145" y="4444295"/>
          <a:ext cx="725787" cy="54864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26" name="Table 35">
            <a:extLst>
              <a:ext uri="{FF2B5EF4-FFF2-40B4-BE49-F238E27FC236}">
                <a16:creationId xmlns="" xmlns:a16="http://schemas.microsoft.com/office/drawing/2014/main" id="{0FE619DF-9194-4D68-95BC-22082E08FC52}"/>
              </a:ext>
            </a:extLst>
          </p:cNvPr>
          <p:cNvGraphicFramePr>
            <a:graphicFrameLocks noGrp="1"/>
          </p:cNvGraphicFramePr>
          <p:nvPr>
            <p:extLst>
              <p:ext uri="{D42A27DB-BD31-4B8C-83A1-F6EECF244321}">
                <p14:modId xmlns:p14="http://schemas.microsoft.com/office/powerpoint/2010/main" val="4113701086"/>
              </p:ext>
            </p:extLst>
          </p:nvPr>
        </p:nvGraphicFramePr>
        <p:xfrm>
          <a:off x="4805657" y="4177829"/>
          <a:ext cx="725787" cy="82296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FC02::1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4138347974"/>
                  </a:ext>
                </a:extLst>
              </a:tr>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graphicFrame>
        <p:nvGraphicFramePr>
          <p:cNvPr id="127" name="Table 35">
            <a:extLst>
              <a:ext uri="{FF2B5EF4-FFF2-40B4-BE49-F238E27FC236}">
                <a16:creationId xmlns="" xmlns:a16="http://schemas.microsoft.com/office/drawing/2014/main" id="{A1A3ADEE-2A62-4390-AF30-C80CF81C29EC}"/>
              </a:ext>
            </a:extLst>
          </p:cNvPr>
          <p:cNvGraphicFramePr>
            <a:graphicFrameLocks noGrp="1"/>
          </p:cNvGraphicFramePr>
          <p:nvPr>
            <p:extLst>
              <p:ext uri="{D42A27DB-BD31-4B8C-83A1-F6EECF244321}">
                <p14:modId xmlns:p14="http://schemas.microsoft.com/office/powerpoint/2010/main" val="1306277478"/>
              </p:ext>
            </p:extLst>
          </p:nvPr>
        </p:nvGraphicFramePr>
        <p:xfrm>
          <a:off x="6329361" y="4176872"/>
          <a:ext cx="725787" cy="82296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FC03::1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4138347974"/>
                  </a:ext>
                </a:extLst>
              </a:tr>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sp>
        <p:nvSpPr>
          <p:cNvPr id="134" name="矩形: 圆角 52">
            <a:extLst>
              <a:ext uri="{FF2B5EF4-FFF2-40B4-BE49-F238E27FC236}">
                <a16:creationId xmlns="" xmlns:a16="http://schemas.microsoft.com/office/drawing/2014/main" id="{A70960E8-6EBA-4576-B6E4-88FC0E966D55}"/>
              </a:ext>
            </a:extLst>
          </p:cNvPr>
          <p:cNvSpPr/>
          <p:nvPr/>
        </p:nvSpPr>
        <p:spPr bwMode="gray">
          <a:xfrm>
            <a:off x="3844693" y="3455660"/>
            <a:ext cx="841605" cy="979645"/>
          </a:xfrm>
          <a:prstGeom prst="wedgeRectCallout">
            <a:avLst>
              <a:gd name="adj1" fmla="val 70412"/>
              <a:gd name="adj2" fmla="val 31476"/>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(SL=3)</a:t>
            </a:r>
          </a:p>
          <a:p>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FC01::10</a:t>
            </a:r>
          </a:p>
          <a:p>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FC01::</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p>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FC03::1</a:t>
            </a:r>
          </a:p>
          <a:p>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FC02::1</a:t>
            </a:r>
          </a:p>
        </p:txBody>
      </p:sp>
      <p:sp>
        <p:nvSpPr>
          <p:cNvPr id="135" name="矩形: 圆角 52">
            <a:extLst>
              <a:ext uri="{FF2B5EF4-FFF2-40B4-BE49-F238E27FC236}">
                <a16:creationId xmlns="" xmlns:a16="http://schemas.microsoft.com/office/drawing/2014/main" id="{0D1ABC95-D987-44A9-8075-4785CE462352}"/>
              </a:ext>
            </a:extLst>
          </p:cNvPr>
          <p:cNvSpPr/>
          <p:nvPr/>
        </p:nvSpPr>
        <p:spPr bwMode="gray">
          <a:xfrm>
            <a:off x="5489526" y="3447518"/>
            <a:ext cx="792917" cy="979645"/>
          </a:xfrm>
          <a:prstGeom prst="wedgeRectCallout">
            <a:avLst>
              <a:gd name="adj1" fmla="val 62603"/>
              <a:gd name="adj2" fmla="val 34393"/>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(SL=2)</a:t>
            </a:r>
          </a:p>
          <a:p>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FC01::10</a:t>
            </a:r>
          </a:p>
          <a:p>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FC01::</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p>
          <a:p>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FC03::1</a:t>
            </a:r>
          </a:p>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FC02::1</a:t>
            </a:r>
          </a:p>
        </p:txBody>
      </p:sp>
      <p:graphicFrame>
        <p:nvGraphicFramePr>
          <p:cNvPr id="137" name="Table 35">
            <a:extLst>
              <a:ext uri="{FF2B5EF4-FFF2-40B4-BE49-F238E27FC236}">
                <a16:creationId xmlns="" xmlns:a16="http://schemas.microsoft.com/office/drawing/2014/main" id="{FAACC7E6-DFD0-4AAE-BA25-B467B838D86E}"/>
              </a:ext>
            </a:extLst>
          </p:cNvPr>
          <p:cNvGraphicFramePr>
            <a:graphicFrameLocks noGrp="1"/>
          </p:cNvGraphicFramePr>
          <p:nvPr>
            <p:extLst>
              <p:ext uri="{D42A27DB-BD31-4B8C-83A1-F6EECF244321}">
                <p14:modId xmlns:p14="http://schemas.microsoft.com/office/powerpoint/2010/main" val="1316846241"/>
              </p:ext>
            </p:extLst>
          </p:nvPr>
        </p:nvGraphicFramePr>
        <p:xfrm>
          <a:off x="7860270" y="4148476"/>
          <a:ext cx="725787" cy="822960"/>
        </p:xfrm>
        <a:graphic>
          <a:graphicData uri="http://schemas.openxmlformats.org/drawingml/2006/table">
            <a:tbl>
              <a:tblPr firstRow="1" bandRow="1">
                <a:tableStyleId>{72833802-FEF1-4C79-8D5D-14CF1EAF98D9}</a:tableStyleId>
              </a:tblPr>
              <a:tblGrid>
                <a:gridCol w="725787">
                  <a:extLst>
                    <a:ext uri="{9D8B030D-6E8A-4147-A177-3AD203B41FA5}">
                      <a16:colId xmlns="" xmlns:a16="http://schemas.microsoft.com/office/drawing/2014/main" val="4262586327"/>
                    </a:ext>
                  </a:extLst>
                </a:gridCol>
              </a:tblGrid>
              <a:tr h="130261">
                <a:tc>
                  <a:txBody>
                    <a:bodyPr/>
                    <a:lstStyle/>
                    <a:p>
                      <a:pPr marL="0" algn="ctr" defTabSz="914034" rtl="0" eaLnBrk="1" latinLnBrk="0" hangingPunct="1"/>
                      <a:r>
                        <a:rPr lang="en-US" sz="1200" b="0" kern="1200" dirty="0">
                          <a:solidFill>
                            <a:schemeClr val="tx1"/>
                          </a:solidFill>
                          <a:latin typeface="+mn-lt"/>
                          <a:ea typeface="+mn-ea"/>
                          <a:cs typeface="+mn-cs"/>
                        </a:rPr>
                        <a:t>FC10::1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FD89C"/>
                    </a:solidFill>
                  </a:tcPr>
                </a:tc>
                <a:extLst>
                  <a:ext uri="{0D108BD9-81ED-4DB2-BD59-A6C34878D82A}">
                    <a16:rowId xmlns="" xmlns:a16="http://schemas.microsoft.com/office/drawing/2014/main" val="4138347974"/>
                  </a:ext>
                </a:extLst>
              </a:tr>
              <a:tr h="130261">
                <a:tc>
                  <a:txBody>
                    <a:bodyPr/>
                    <a:lstStyle/>
                    <a:p>
                      <a:pPr marL="0" algn="ctr" defTabSz="914034" rtl="0" eaLnBrk="1" latinLnBrk="0" hangingPunct="1"/>
                      <a:r>
                        <a:rPr lang="en-US" sz="1200" b="0" kern="1200" dirty="0">
                          <a:solidFill>
                            <a:schemeClr val="tx1"/>
                          </a:solidFill>
                          <a:latin typeface="+mn-lt"/>
                          <a:ea typeface="+mn-ea"/>
                          <a:cs typeface="+mn-cs"/>
                        </a:rPr>
                        <a:t>2001::1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6C4D2"/>
                    </a:solidFill>
                  </a:tcPr>
                </a:tc>
                <a:extLst>
                  <a:ext uri="{0D108BD9-81ED-4DB2-BD59-A6C34878D82A}">
                    <a16:rowId xmlns="" xmlns:a16="http://schemas.microsoft.com/office/drawing/2014/main" val="139777900"/>
                  </a:ext>
                </a:extLst>
              </a:tr>
              <a:tr h="130261">
                <a:tc>
                  <a:txBody>
                    <a:bodyPr/>
                    <a:lstStyle/>
                    <a:p>
                      <a:pPr algn="ctr"/>
                      <a:r>
                        <a:rPr lang="en-US" sz="1200" dirty="0"/>
                        <a:t>Data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8944"/>
                    </a:solidFill>
                  </a:tcPr>
                </a:tc>
                <a:extLst>
                  <a:ext uri="{0D108BD9-81ED-4DB2-BD59-A6C34878D82A}">
                    <a16:rowId xmlns="" xmlns:a16="http://schemas.microsoft.com/office/drawing/2014/main" val="4144228430"/>
                  </a:ext>
                </a:extLst>
              </a:tr>
            </a:tbl>
          </a:graphicData>
        </a:graphic>
      </p:graphicFrame>
      <p:sp>
        <p:nvSpPr>
          <p:cNvPr id="136" name="矩形: 圆角 52">
            <a:extLst>
              <a:ext uri="{FF2B5EF4-FFF2-40B4-BE49-F238E27FC236}">
                <a16:creationId xmlns="" xmlns:a16="http://schemas.microsoft.com/office/drawing/2014/main" id="{EA95C2DF-7044-4611-B7A6-564019429B4D}"/>
              </a:ext>
            </a:extLst>
          </p:cNvPr>
          <p:cNvSpPr/>
          <p:nvPr/>
        </p:nvSpPr>
        <p:spPr bwMode="gray">
          <a:xfrm>
            <a:off x="7007255" y="3447517"/>
            <a:ext cx="831860" cy="968239"/>
          </a:xfrm>
          <a:prstGeom prst="wedgeRectCallout">
            <a:avLst>
              <a:gd name="adj1" fmla="val 61402"/>
              <a:gd name="adj2" fmla="val 31476"/>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(SL=1)</a:t>
            </a:r>
          </a:p>
          <a:p>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FC01::10</a:t>
            </a:r>
          </a:p>
          <a:p>
            <a:r>
              <a:rPr lang="en-US" altLang="zh-CN"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FC01::</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p>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FC03::1</a:t>
            </a:r>
          </a:p>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FC02::1</a:t>
            </a:r>
          </a:p>
        </p:txBody>
      </p:sp>
      <p:sp>
        <p:nvSpPr>
          <p:cNvPr id="138" name="文本框 98">
            <a:extLst>
              <a:ext uri="{FF2B5EF4-FFF2-40B4-BE49-F238E27FC236}">
                <a16:creationId xmlns="" xmlns:a16="http://schemas.microsoft.com/office/drawing/2014/main" id="{0F478DA5-4C76-4D25-B6C5-009319726C40}"/>
              </a:ext>
            </a:extLst>
          </p:cNvPr>
          <p:cNvSpPr txBox="1"/>
          <p:nvPr/>
        </p:nvSpPr>
        <p:spPr bwMode="gray">
          <a:xfrm>
            <a:off x="6337533" y="5171780"/>
            <a:ext cx="491655" cy="190716"/>
          </a:xfrm>
          <a:prstGeom prst="rect">
            <a:avLst/>
          </a:prstGeom>
          <a:noFill/>
        </p:spPr>
        <p:txBody>
          <a:bodyPr wrap="none" lIns="0" tIns="0" rIns="0" bIns="0" rtlCol="0" anchor="ctr" anchorCtr="0">
            <a:noAutofit/>
          </a:bodyPr>
          <a:lstStyle/>
          <a:p>
            <a:pPr algn="ctr"/>
            <a:r>
              <a:rPr lang="en-US" altLang="zh-CN" sz="1400" dirty="0">
                <a:solidFill>
                  <a:srgbClr val="56C4D2"/>
                </a:solidFill>
              </a:rPr>
              <a:t>FC02::1</a:t>
            </a:r>
            <a:endParaRPr lang="zh-CN" altLang="en-US" sz="1400" dirty="0">
              <a:solidFill>
                <a:srgbClr val="56C4D2"/>
              </a:solidFill>
            </a:endParaRPr>
          </a:p>
        </p:txBody>
      </p:sp>
      <p:sp>
        <p:nvSpPr>
          <p:cNvPr id="139" name="文本框 98">
            <a:extLst>
              <a:ext uri="{FF2B5EF4-FFF2-40B4-BE49-F238E27FC236}">
                <a16:creationId xmlns="" xmlns:a16="http://schemas.microsoft.com/office/drawing/2014/main" id="{DC1BEFC7-7673-4E0B-A3FF-59FFFADBA5C3}"/>
              </a:ext>
            </a:extLst>
          </p:cNvPr>
          <p:cNvSpPr txBox="1"/>
          <p:nvPr/>
        </p:nvSpPr>
        <p:spPr bwMode="gray">
          <a:xfrm>
            <a:off x="7908944" y="5171780"/>
            <a:ext cx="491655" cy="190716"/>
          </a:xfrm>
          <a:prstGeom prst="rect">
            <a:avLst/>
          </a:prstGeom>
          <a:noFill/>
        </p:spPr>
        <p:txBody>
          <a:bodyPr wrap="none" lIns="0" tIns="0" rIns="0" bIns="0" rtlCol="0" anchor="ctr" anchorCtr="0">
            <a:noAutofit/>
          </a:bodyPr>
          <a:lstStyle/>
          <a:p>
            <a:pPr algn="ctr"/>
            <a:r>
              <a:rPr lang="en-US" altLang="zh-CN" sz="1400" dirty="0">
                <a:solidFill>
                  <a:srgbClr val="56C4D2"/>
                </a:solidFill>
              </a:rPr>
              <a:t>FC03::1</a:t>
            </a:r>
            <a:endParaRPr lang="zh-CN" altLang="en-US" sz="1400" dirty="0">
              <a:solidFill>
                <a:srgbClr val="56C4D2"/>
              </a:solidFill>
            </a:endParaRPr>
          </a:p>
        </p:txBody>
      </p:sp>
      <p:sp>
        <p:nvSpPr>
          <p:cNvPr id="105" name="五边形 2">
            <a:extLst>
              <a:ext uri="{FF2B5EF4-FFF2-40B4-BE49-F238E27FC236}">
                <a16:creationId xmlns="" xmlns:a16="http://schemas.microsoft.com/office/drawing/2014/main" id="{D06D4840-9C09-4363-9751-BAC969EEE619}"/>
              </a:ext>
            </a:extLst>
          </p:cNvPr>
          <p:cNvSpPr/>
          <p:nvPr/>
        </p:nvSpPr>
        <p:spPr bwMode="gray">
          <a:xfrm>
            <a:off x="7940942" y="44020"/>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106" name="燕尾形 3">
            <a:extLst>
              <a:ext uri="{FF2B5EF4-FFF2-40B4-BE49-F238E27FC236}">
                <a16:creationId xmlns="" xmlns:a16="http://schemas.microsoft.com/office/drawing/2014/main" id="{46598527-36D6-4C64-88B4-66B4664185B4}"/>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燕尾形 3">
            <a:extLst>
              <a:ext uri="{FF2B5EF4-FFF2-40B4-BE49-F238E27FC236}">
                <a16:creationId xmlns="" xmlns:a16="http://schemas.microsoft.com/office/drawing/2014/main" id="{D9061C6A-82A9-4814-A0C2-51C573C0C415}"/>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9850484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A1E57E-AF33-4BD6-A7AB-C030E7DE2572}"/>
              </a:ext>
            </a:extLst>
          </p:cNvPr>
          <p:cNvSpPr>
            <a:spLocks noGrp="1"/>
          </p:cNvSpPr>
          <p:nvPr>
            <p:ph type="title"/>
          </p:nvPr>
        </p:nvSpPr>
        <p:spPr bwMode="gray"/>
        <p:txBody>
          <a:bodyPr/>
          <a:lstStyle/>
          <a:p>
            <a:r>
              <a:rPr lang="en-US" dirty="0"/>
              <a:t>SR-MPLS</a:t>
            </a:r>
            <a:r>
              <a:rPr lang="zh-CN" altLang="en-US" dirty="0"/>
              <a:t>隧道设计原则</a:t>
            </a:r>
            <a:endParaRPr lang="en-US" dirty="0"/>
          </a:p>
        </p:txBody>
      </p:sp>
      <p:sp>
        <p:nvSpPr>
          <p:cNvPr id="3" name="Text Placeholder 2">
            <a:extLst>
              <a:ext uri="{FF2B5EF4-FFF2-40B4-BE49-F238E27FC236}">
                <a16:creationId xmlns="" xmlns:a16="http://schemas.microsoft.com/office/drawing/2014/main" id="{B3447204-C070-43C3-BFB1-56B4D96B931C}"/>
              </a:ext>
            </a:extLst>
          </p:cNvPr>
          <p:cNvSpPr>
            <a:spLocks noGrp="1"/>
          </p:cNvSpPr>
          <p:nvPr>
            <p:ph type="body" sz="quarter" idx="10"/>
          </p:nvPr>
        </p:nvSpPr>
        <p:spPr bwMode="gray"/>
        <p:txBody>
          <a:bodyPr/>
          <a:lstStyle/>
          <a:p>
            <a:r>
              <a:rPr lang="zh-CN" altLang="en-US" sz="1800" dirty="0"/>
              <a:t>隧道是为了更好的服务业务，在满足</a:t>
            </a:r>
            <a:r>
              <a:rPr lang="en-US" altLang="zh-CN" sz="1800" dirty="0"/>
              <a:t>VPN</a:t>
            </a:r>
            <a:r>
              <a:rPr lang="zh-CN" altLang="en-US" sz="1800" dirty="0"/>
              <a:t>承载前提下，关注调优诉求。在业务路径可视、业务保护、网络可维护性、网络可扩展性等方面达到平衡，需遵循如下原则：</a:t>
            </a:r>
            <a:endParaRPr lang="en-US" altLang="zh-CN" sz="1800" dirty="0"/>
          </a:p>
          <a:p>
            <a:pPr lvl="1"/>
            <a:r>
              <a:rPr lang="zh-CN" altLang="en-US" sz="1600" dirty="0"/>
              <a:t>业务可视性：业务流量和隧道关联，达到一定程度的路径可视能力。</a:t>
            </a:r>
          </a:p>
          <a:p>
            <a:pPr lvl="1"/>
            <a:r>
              <a:rPr lang="zh-CN" altLang="en-US" sz="1600" dirty="0"/>
              <a:t>可维护性：总体隧道数量不要太多，以减轻现网维护的压力，并减少调优的时间。</a:t>
            </a:r>
          </a:p>
          <a:p>
            <a:pPr lvl="1"/>
            <a:r>
              <a:rPr lang="zh-CN" altLang="en-US" sz="1600" dirty="0"/>
              <a:t>易调优性：单条隧道的流量不要太大，以方便带宽调优的进展。</a:t>
            </a:r>
          </a:p>
          <a:p>
            <a:pPr lvl="1"/>
            <a:r>
              <a:rPr lang="zh-CN" altLang="en-US" sz="1600" dirty="0"/>
              <a:t>可靠性：主要业务要有保护，关键业务要能够快速收敛。</a:t>
            </a:r>
          </a:p>
          <a:p>
            <a:pPr lvl="1"/>
            <a:r>
              <a:rPr lang="zh-CN" altLang="en-US" sz="1600" dirty="0"/>
              <a:t>可扩展性：考虑今后可能的网络规模扩充。</a:t>
            </a:r>
            <a:endParaRPr lang="en-US" sz="1600" dirty="0"/>
          </a:p>
        </p:txBody>
      </p:sp>
      <p:sp>
        <p:nvSpPr>
          <p:cNvPr id="7" name="五边形 2">
            <a:extLst>
              <a:ext uri="{FF2B5EF4-FFF2-40B4-BE49-F238E27FC236}">
                <a16:creationId xmlns="" xmlns:a16="http://schemas.microsoft.com/office/drawing/2014/main" id="{7A4D3E66-2CCD-4D43-B108-AEDDFCF83013}"/>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8" name="燕尾形 3">
            <a:extLst>
              <a:ext uri="{FF2B5EF4-FFF2-40B4-BE49-F238E27FC236}">
                <a16:creationId xmlns="" xmlns:a16="http://schemas.microsoft.com/office/drawing/2014/main" id="{93046976-EC84-48ED-AD8E-49A4BFCD5356}"/>
              </a:ext>
            </a:extLst>
          </p:cNvPr>
          <p:cNvSpPr/>
          <p:nvPr/>
        </p:nvSpPr>
        <p:spPr bwMode="gray">
          <a:xfrm>
            <a:off x="9067800" y="44020"/>
            <a:ext cx="14833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a:extLst>
              <a:ext uri="{FF2B5EF4-FFF2-40B4-BE49-F238E27FC236}">
                <a16:creationId xmlns="" xmlns:a16="http://schemas.microsoft.com/office/drawing/2014/main" id="{26AB145E-6C85-4D0D-9D07-CA6C35D8D2C7}"/>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75453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FEBCB7-E8CA-4A7A-935D-6C23D3965EF9}"/>
              </a:ext>
            </a:extLst>
          </p:cNvPr>
          <p:cNvSpPr>
            <a:spLocks noGrp="1"/>
          </p:cNvSpPr>
          <p:nvPr>
            <p:ph type="title"/>
          </p:nvPr>
        </p:nvSpPr>
        <p:spPr bwMode="gray"/>
        <p:txBody>
          <a:bodyPr/>
          <a:lstStyle/>
          <a:p>
            <a:r>
              <a:rPr lang="en-US" dirty="0"/>
              <a:t>SR-MPLS P</a:t>
            </a:r>
            <a:r>
              <a:rPr lang="en-US" altLang="zh-CN" dirty="0"/>
              <a:t>olicy</a:t>
            </a:r>
            <a:r>
              <a:rPr lang="zh-CN" altLang="en-US" dirty="0"/>
              <a:t>部署方式设计</a:t>
            </a:r>
            <a:endParaRPr lang="en-US" dirty="0"/>
          </a:p>
        </p:txBody>
      </p:sp>
      <p:sp>
        <p:nvSpPr>
          <p:cNvPr id="3" name="Text Placeholder 2">
            <a:extLst>
              <a:ext uri="{FF2B5EF4-FFF2-40B4-BE49-F238E27FC236}">
                <a16:creationId xmlns="" xmlns:a16="http://schemas.microsoft.com/office/drawing/2014/main" id="{D82F289C-95A4-4878-AA82-AB405453504C}"/>
              </a:ext>
            </a:extLst>
          </p:cNvPr>
          <p:cNvSpPr>
            <a:spLocks noGrp="1"/>
          </p:cNvSpPr>
          <p:nvPr>
            <p:ph type="body" sz="quarter" idx="10"/>
          </p:nvPr>
        </p:nvSpPr>
        <p:spPr bwMode="gray">
          <a:xfrm>
            <a:off x="455612" y="1047750"/>
            <a:ext cx="11293475" cy="1136225"/>
          </a:xfrm>
        </p:spPr>
        <p:txBody>
          <a:bodyPr/>
          <a:lstStyle/>
          <a:p>
            <a:r>
              <a:rPr lang="zh-CN" altLang="en-US" sz="1800" dirty="0"/>
              <a:t>企业中的承载网一般属于一个单独的</a:t>
            </a:r>
            <a:r>
              <a:rPr lang="en-US" altLang="zh-CN" sz="1800" dirty="0"/>
              <a:t>AS</a:t>
            </a:r>
            <a:r>
              <a:rPr lang="zh-CN" altLang="en-US" sz="1800" dirty="0"/>
              <a:t>，因此可以部署端到端的</a:t>
            </a:r>
            <a:r>
              <a:rPr lang="en-US" altLang="zh-CN" sz="1800" dirty="0"/>
              <a:t>SR-MPLS Policy</a:t>
            </a:r>
            <a:r>
              <a:rPr lang="zh-CN" altLang="en-US" sz="1800" dirty="0"/>
              <a:t>。</a:t>
            </a:r>
            <a:endParaRPr lang="en-US" altLang="zh-CN" sz="1800" dirty="0"/>
          </a:p>
          <a:p>
            <a:r>
              <a:rPr lang="zh-CN" altLang="en-US" sz="1800" dirty="0"/>
              <a:t>端到端隧道：在业务流量进入承载网的入口设备（</a:t>
            </a:r>
            <a:r>
              <a:rPr lang="en-US" altLang="zh-CN" sz="1800" dirty="0"/>
              <a:t>PE</a:t>
            </a:r>
            <a:r>
              <a:rPr lang="zh-CN" altLang="en-US" sz="1800" dirty="0"/>
              <a:t>）和离开骨干网的出口设备（</a:t>
            </a:r>
            <a:r>
              <a:rPr lang="en-US" altLang="zh-CN" sz="1800" dirty="0"/>
              <a:t>PE</a:t>
            </a:r>
            <a:r>
              <a:rPr lang="zh-CN" altLang="en-US" sz="1800" dirty="0"/>
              <a:t>）间部署端到端的隧道。</a:t>
            </a:r>
            <a:endParaRPr lang="en-US" sz="1800" dirty="0"/>
          </a:p>
        </p:txBody>
      </p:sp>
      <p:sp>
        <p:nvSpPr>
          <p:cNvPr id="4" name="五边形 2">
            <a:extLst>
              <a:ext uri="{FF2B5EF4-FFF2-40B4-BE49-F238E27FC236}">
                <a16:creationId xmlns="" xmlns:a16="http://schemas.microsoft.com/office/drawing/2014/main" id="{31950D92-B3A1-434A-897E-DBEC64DD368C}"/>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0E238582-F39A-4794-91E0-F0823AC81A46}"/>
              </a:ext>
            </a:extLst>
          </p:cNvPr>
          <p:cNvSpPr/>
          <p:nvPr/>
        </p:nvSpPr>
        <p:spPr bwMode="gray">
          <a:xfrm>
            <a:off x="9067800" y="44020"/>
            <a:ext cx="14833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3A413913-47F6-44B7-8C56-97AF2AAA5337}"/>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159">
            <a:extLst>
              <a:ext uri="{FF2B5EF4-FFF2-40B4-BE49-F238E27FC236}">
                <a16:creationId xmlns="" xmlns:a16="http://schemas.microsoft.com/office/drawing/2014/main" id="{B3CF27D1-4257-4A6B-9DBE-8D8F5D9D8C0D}"/>
              </a:ext>
            </a:extLst>
          </p:cNvPr>
          <p:cNvSpPr/>
          <p:nvPr/>
        </p:nvSpPr>
        <p:spPr bwMode="gray">
          <a:xfrm flipH="1">
            <a:off x="9755157" y="288826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B</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sp>
        <p:nvSpPr>
          <p:cNvPr id="39" name="Freeform 159">
            <a:extLst>
              <a:ext uri="{FF2B5EF4-FFF2-40B4-BE49-F238E27FC236}">
                <a16:creationId xmlns="" xmlns:a16="http://schemas.microsoft.com/office/drawing/2014/main" id="{F330B5F5-4676-4B50-B0C0-78FF87392936}"/>
              </a:ext>
            </a:extLst>
          </p:cNvPr>
          <p:cNvSpPr/>
          <p:nvPr/>
        </p:nvSpPr>
        <p:spPr bwMode="gray">
          <a:xfrm flipH="1">
            <a:off x="1496535" y="287901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rPr>
              <a:t>VPN1</a:t>
            </a:r>
          </a:p>
          <a:p>
            <a:pPr algn="ctr"/>
            <a:r>
              <a:rPr lang="zh-CN" altLang="en-US" sz="1200" dirty="0">
                <a:solidFill>
                  <a:srgbClr val="000000"/>
                </a:solidFill>
                <a:latin typeface="Huawei Sans" panose="020C0503030203020204" pitchFamily="34" charset="0"/>
                <a:ea typeface="方正兰亭黑简体" panose="02000000000000000000" pitchFamily="2" charset="-122"/>
              </a:rPr>
              <a:t>站点</a:t>
            </a:r>
            <a:r>
              <a:rPr lang="en-US" altLang="zh-CN" sz="1200" dirty="0">
                <a:solidFill>
                  <a:srgbClr val="000000"/>
                </a:solidFill>
                <a:latin typeface="Huawei Sans" panose="020C0503030203020204" pitchFamily="34" charset="0"/>
                <a:ea typeface="方正兰亭黑简体" panose="02000000000000000000" pitchFamily="2" charset="-122"/>
              </a:rPr>
              <a:t>A</a:t>
            </a:r>
            <a:endParaRPr lang="zh-CN" altLang="en-US" sz="1200" dirty="0">
              <a:solidFill>
                <a:srgbClr val="000000"/>
              </a:solidFill>
              <a:latin typeface="Huawei Sans" panose="020C0503030203020204" pitchFamily="34" charset="0"/>
              <a:ea typeface="方正兰亭黑简体" panose="02000000000000000000" pitchFamily="2" charset="-122"/>
            </a:endParaRPr>
          </a:p>
        </p:txBody>
      </p:sp>
      <p:pic>
        <p:nvPicPr>
          <p:cNvPr id="40" name="图片 48">
            <a:extLst>
              <a:ext uri="{FF2B5EF4-FFF2-40B4-BE49-F238E27FC236}">
                <a16:creationId xmlns="" xmlns:a16="http://schemas.microsoft.com/office/drawing/2014/main" id="{5CA0F4FF-183B-43D3-9030-6AE2F8C7D5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657702" y="3038327"/>
            <a:ext cx="378863" cy="310667"/>
          </a:xfrm>
          <a:prstGeom prst="rect">
            <a:avLst/>
          </a:prstGeom>
        </p:spPr>
      </p:pic>
      <p:pic>
        <p:nvPicPr>
          <p:cNvPr id="41" name="图片 48">
            <a:extLst>
              <a:ext uri="{FF2B5EF4-FFF2-40B4-BE49-F238E27FC236}">
                <a16:creationId xmlns="" xmlns:a16="http://schemas.microsoft.com/office/drawing/2014/main" id="{AF2515D5-C983-4798-BAB8-FE6D2D5848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200752" y="3035393"/>
            <a:ext cx="378863" cy="310667"/>
          </a:xfrm>
          <a:prstGeom prst="rect">
            <a:avLst/>
          </a:prstGeom>
        </p:spPr>
      </p:pic>
      <p:pic>
        <p:nvPicPr>
          <p:cNvPr id="42" name="图片 48">
            <a:extLst>
              <a:ext uri="{FF2B5EF4-FFF2-40B4-BE49-F238E27FC236}">
                <a16:creationId xmlns="" xmlns:a16="http://schemas.microsoft.com/office/drawing/2014/main" id="{6E67C3F1-93C6-4DD7-BD67-D45D626B71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743802" y="3032459"/>
            <a:ext cx="378863" cy="310667"/>
          </a:xfrm>
          <a:prstGeom prst="rect">
            <a:avLst/>
          </a:prstGeom>
        </p:spPr>
      </p:pic>
      <p:cxnSp>
        <p:nvCxnSpPr>
          <p:cNvPr id="43" name="Straight Connector 42">
            <a:extLst>
              <a:ext uri="{FF2B5EF4-FFF2-40B4-BE49-F238E27FC236}">
                <a16:creationId xmlns="" xmlns:a16="http://schemas.microsoft.com/office/drawing/2014/main" id="{EBB70A8E-85D0-4E76-AE8C-5E29C1C12108}"/>
              </a:ext>
            </a:extLst>
          </p:cNvPr>
          <p:cNvCxnSpPr>
            <a:cxnSpLocks/>
            <a:stCxn id="40" idx="3"/>
            <a:endCxn id="41" idx="1"/>
          </p:cNvCxnSpPr>
          <p:nvPr/>
        </p:nvCxnSpPr>
        <p:spPr bwMode="gray">
          <a:xfrm flipV="1">
            <a:off x="4036565" y="3190727"/>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 xmlns:a16="http://schemas.microsoft.com/office/drawing/2014/main" id="{A39C2F48-3BC6-4DC3-B37F-C5D49D0C7904}"/>
              </a:ext>
            </a:extLst>
          </p:cNvPr>
          <p:cNvCxnSpPr>
            <a:cxnSpLocks/>
            <a:stCxn id="41" idx="3"/>
            <a:endCxn id="42" idx="1"/>
          </p:cNvCxnSpPr>
          <p:nvPr/>
        </p:nvCxnSpPr>
        <p:spPr bwMode="gray">
          <a:xfrm flipV="1">
            <a:off x="5579615" y="3187793"/>
            <a:ext cx="116418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图片 48">
            <a:extLst>
              <a:ext uri="{FF2B5EF4-FFF2-40B4-BE49-F238E27FC236}">
                <a16:creationId xmlns="" xmlns:a16="http://schemas.microsoft.com/office/drawing/2014/main" id="{CD736B0C-9B07-4358-8434-005A4472E7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281859" y="3032458"/>
            <a:ext cx="378863" cy="310667"/>
          </a:xfrm>
          <a:prstGeom prst="rect">
            <a:avLst/>
          </a:prstGeom>
        </p:spPr>
      </p:pic>
      <p:cxnSp>
        <p:nvCxnSpPr>
          <p:cNvPr id="46" name="Straight Connector 45">
            <a:extLst>
              <a:ext uri="{FF2B5EF4-FFF2-40B4-BE49-F238E27FC236}">
                <a16:creationId xmlns="" xmlns:a16="http://schemas.microsoft.com/office/drawing/2014/main" id="{17327A80-BFEA-429E-8387-2CFDA06A961B}"/>
              </a:ext>
            </a:extLst>
          </p:cNvPr>
          <p:cNvCxnSpPr>
            <a:cxnSpLocks/>
            <a:stCxn id="45" idx="3"/>
            <a:endCxn id="40" idx="1"/>
          </p:cNvCxnSpPr>
          <p:nvPr/>
        </p:nvCxnSpPr>
        <p:spPr bwMode="gray">
          <a:xfrm>
            <a:off x="2660722" y="3187792"/>
            <a:ext cx="996980" cy="58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7" name="图片 48">
            <a:extLst>
              <a:ext uri="{FF2B5EF4-FFF2-40B4-BE49-F238E27FC236}">
                <a16:creationId xmlns="" xmlns:a16="http://schemas.microsoft.com/office/drawing/2014/main" id="{58FB73C3-27F3-4E0A-9651-D8FA590024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119646" y="3032457"/>
            <a:ext cx="378863" cy="310667"/>
          </a:xfrm>
          <a:prstGeom prst="rect">
            <a:avLst/>
          </a:prstGeom>
        </p:spPr>
      </p:pic>
      <p:cxnSp>
        <p:nvCxnSpPr>
          <p:cNvPr id="48" name="Straight Connector 47">
            <a:extLst>
              <a:ext uri="{FF2B5EF4-FFF2-40B4-BE49-F238E27FC236}">
                <a16:creationId xmlns="" xmlns:a16="http://schemas.microsoft.com/office/drawing/2014/main" id="{8F5339AF-E594-4176-B8C0-A64B55DBA0C4}"/>
              </a:ext>
            </a:extLst>
          </p:cNvPr>
          <p:cNvCxnSpPr>
            <a:cxnSpLocks/>
            <a:stCxn id="42" idx="3"/>
            <a:endCxn id="47" idx="1"/>
          </p:cNvCxnSpPr>
          <p:nvPr/>
        </p:nvCxnSpPr>
        <p:spPr bwMode="gray">
          <a:xfrm flipV="1">
            <a:off x="7122665" y="3187791"/>
            <a:ext cx="996981" cy="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9" name="文本框 98">
            <a:extLst>
              <a:ext uri="{FF2B5EF4-FFF2-40B4-BE49-F238E27FC236}">
                <a16:creationId xmlns="" xmlns:a16="http://schemas.microsoft.com/office/drawing/2014/main" id="{DD28A0F8-248C-4BFE-803B-C6788E131D07}"/>
              </a:ext>
            </a:extLst>
          </p:cNvPr>
          <p:cNvSpPr txBox="1"/>
          <p:nvPr/>
        </p:nvSpPr>
        <p:spPr bwMode="gray">
          <a:xfrm>
            <a:off x="3657701" y="2863219"/>
            <a:ext cx="378863" cy="161866"/>
          </a:xfrm>
          <a:prstGeom prst="rect">
            <a:avLst/>
          </a:prstGeom>
          <a:noFill/>
        </p:spPr>
        <p:txBody>
          <a:bodyPr wrap="none" lIns="0" tIns="0" rIns="0" bIns="0" rtlCol="0" anchor="ctr" anchorCtr="0">
            <a:noAutofit/>
          </a:bodyPr>
          <a:lstStyle/>
          <a:p>
            <a:pPr algn="ctr"/>
            <a:r>
              <a:rPr lang="en-US" altLang="zh-CN" sz="1400" dirty="0"/>
              <a:t>PE1</a:t>
            </a:r>
            <a:endParaRPr lang="zh-CN" altLang="en-US" sz="1400" dirty="0"/>
          </a:p>
        </p:txBody>
      </p:sp>
      <p:sp>
        <p:nvSpPr>
          <p:cNvPr id="50" name="文本框 98">
            <a:extLst>
              <a:ext uri="{FF2B5EF4-FFF2-40B4-BE49-F238E27FC236}">
                <a16:creationId xmlns="" xmlns:a16="http://schemas.microsoft.com/office/drawing/2014/main" id="{68187ACD-DA33-442A-A770-04A768BBE487}"/>
              </a:ext>
            </a:extLst>
          </p:cNvPr>
          <p:cNvSpPr txBox="1"/>
          <p:nvPr/>
        </p:nvSpPr>
        <p:spPr bwMode="gray">
          <a:xfrm>
            <a:off x="6743802" y="2890718"/>
            <a:ext cx="378863" cy="161866"/>
          </a:xfrm>
          <a:prstGeom prst="rect">
            <a:avLst/>
          </a:prstGeom>
          <a:noFill/>
        </p:spPr>
        <p:txBody>
          <a:bodyPr wrap="none" lIns="0" tIns="0" rIns="0" bIns="0" rtlCol="0" anchor="ctr" anchorCtr="0">
            <a:noAutofit/>
          </a:bodyPr>
          <a:lstStyle/>
          <a:p>
            <a:pPr algn="ctr"/>
            <a:r>
              <a:rPr lang="en-US" altLang="zh-CN" sz="1400" dirty="0"/>
              <a:t>P2</a:t>
            </a:r>
            <a:endParaRPr lang="zh-CN" altLang="en-US" sz="1400" dirty="0"/>
          </a:p>
        </p:txBody>
      </p:sp>
      <p:sp>
        <p:nvSpPr>
          <p:cNvPr id="51" name="文本框 98">
            <a:extLst>
              <a:ext uri="{FF2B5EF4-FFF2-40B4-BE49-F238E27FC236}">
                <a16:creationId xmlns="" xmlns:a16="http://schemas.microsoft.com/office/drawing/2014/main" id="{7634C53A-2DDE-4D80-916B-032A590062EA}"/>
              </a:ext>
            </a:extLst>
          </p:cNvPr>
          <p:cNvSpPr txBox="1"/>
          <p:nvPr/>
        </p:nvSpPr>
        <p:spPr bwMode="gray">
          <a:xfrm>
            <a:off x="5207101" y="2867325"/>
            <a:ext cx="378863" cy="161866"/>
          </a:xfrm>
          <a:prstGeom prst="rect">
            <a:avLst/>
          </a:prstGeom>
          <a:noFill/>
        </p:spPr>
        <p:txBody>
          <a:bodyPr wrap="none" lIns="0" tIns="0" rIns="0" bIns="0" rtlCol="0" anchor="ctr" anchorCtr="0">
            <a:noAutofit/>
          </a:bodyPr>
          <a:lstStyle/>
          <a:p>
            <a:pPr algn="ctr"/>
            <a:r>
              <a:rPr lang="en-US" altLang="zh-CN" sz="1400" dirty="0"/>
              <a:t>P1</a:t>
            </a:r>
            <a:endParaRPr lang="zh-CN" altLang="en-US" sz="1400" dirty="0"/>
          </a:p>
        </p:txBody>
      </p:sp>
      <p:sp>
        <p:nvSpPr>
          <p:cNvPr id="52" name="文本框 98">
            <a:extLst>
              <a:ext uri="{FF2B5EF4-FFF2-40B4-BE49-F238E27FC236}">
                <a16:creationId xmlns="" xmlns:a16="http://schemas.microsoft.com/office/drawing/2014/main" id="{FCED9920-0CD5-47F1-8A58-09649982BD9C}"/>
              </a:ext>
            </a:extLst>
          </p:cNvPr>
          <p:cNvSpPr txBox="1"/>
          <p:nvPr/>
        </p:nvSpPr>
        <p:spPr bwMode="gray">
          <a:xfrm>
            <a:off x="2281858" y="2867325"/>
            <a:ext cx="378863" cy="161866"/>
          </a:xfrm>
          <a:prstGeom prst="rect">
            <a:avLst/>
          </a:prstGeom>
          <a:noFill/>
        </p:spPr>
        <p:txBody>
          <a:bodyPr wrap="none" lIns="0" tIns="0" rIns="0" bIns="0" rtlCol="0" anchor="ctr" anchorCtr="0">
            <a:noAutofit/>
          </a:bodyPr>
          <a:lstStyle/>
          <a:p>
            <a:pPr algn="ctr"/>
            <a:r>
              <a:rPr lang="en-US" altLang="zh-CN" sz="1400" dirty="0"/>
              <a:t>CE1</a:t>
            </a:r>
            <a:endParaRPr lang="zh-CN" altLang="en-US" sz="1400" dirty="0"/>
          </a:p>
        </p:txBody>
      </p:sp>
      <p:sp>
        <p:nvSpPr>
          <p:cNvPr id="53" name="文本框 98">
            <a:extLst>
              <a:ext uri="{FF2B5EF4-FFF2-40B4-BE49-F238E27FC236}">
                <a16:creationId xmlns="" xmlns:a16="http://schemas.microsoft.com/office/drawing/2014/main" id="{80CB764E-A9BB-426F-BBB4-1B4A8D9986AE}"/>
              </a:ext>
            </a:extLst>
          </p:cNvPr>
          <p:cNvSpPr txBox="1"/>
          <p:nvPr/>
        </p:nvSpPr>
        <p:spPr bwMode="gray">
          <a:xfrm>
            <a:off x="8125995" y="2860285"/>
            <a:ext cx="378863" cy="161866"/>
          </a:xfrm>
          <a:prstGeom prst="rect">
            <a:avLst/>
          </a:prstGeom>
          <a:noFill/>
        </p:spPr>
        <p:txBody>
          <a:bodyPr wrap="none" lIns="0" tIns="0" rIns="0" bIns="0" rtlCol="0" anchor="ctr" anchorCtr="0">
            <a:noAutofit/>
          </a:bodyPr>
          <a:lstStyle/>
          <a:p>
            <a:pPr algn="ctr"/>
            <a:r>
              <a:rPr lang="en-US" altLang="zh-CN" sz="1400" dirty="0"/>
              <a:t>PE2</a:t>
            </a:r>
            <a:endParaRPr lang="zh-CN" altLang="en-US" sz="1400" dirty="0"/>
          </a:p>
        </p:txBody>
      </p:sp>
      <p:sp>
        <p:nvSpPr>
          <p:cNvPr id="54" name="圆角矩形 75">
            <a:extLst>
              <a:ext uri="{FF2B5EF4-FFF2-40B4-BE49-F238E27FC236}">
                <a16:creationId xmlns="" xmlns:a16="http://schemas.microsoft.com/office/drawing/2014/main" id="{2DB32F56-BC86-4593-95A0-B30497FADB01}"/>
              </a:ext>
            </a:extLst>
          </p:cNvPr>
          <p:cNvSpPr/>
          <p:nvPr/>
        </p:nvSpPr>
        <p:spPr bwMode="gray">
          <a:xfrm>
            <a:off x="3435709" y="2707222"/>
            <a:ext cx="5287212" cy="268638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5" name="TextBox 271">
            <a:extLst>
              <a:ext uri="{FF2B5EF4-FFF2-40B4-BE49-F238E27FC236}">
                <a16:creationId xmlns="" xmlns:a16="http://schemas.microsoft.com/office/drawing/2014/main" id="{14BCE3D2-9D6B-44AA-B8F7-F6B1B8BEE107}"/>
              </a:ext>
            </a:extLst>
          </p:cNvPr>
          <p:cNvSpPr txBox="1"/>
          <p:nvPr/>
        </p:nvSpPr>
        <p:spPr bwMode="gray">
          <a:xfrm>
            <a:off x="3610076" y="2416295"/>
            <a:ext cx="1091966" cy="307777"/>
          </a:xfrm>
          <a:prstGeom prst="rect">
            <a:avLst/>
          </a:prstGeom>
          <a:solidFill>
            <a:srgbClr val="56C4D2"/>
          </a:solidFill>
        </p:spPr>
        <p:txBody>
          <a:bodyPr wrap="none" rtlCol="0">
            <a:spAutoFit/>
          </a:bodyPr>
          <a:lstStyle/>
          <a:p>
            <a:pPr>
              <a:buFont typeface="Wingdings" pitchFamily="2" charset="2"/>
              <a:buNone/>
              <a:defRPr/>
            </a:pP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 Domain</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4" name="图片 48">
            <a:extLst>
              <a:ext uri="{FF2B5EF4-FFF2-40B4-BE49-F238E27FC236}">
                <a16:creationId xmlns="" xmlns:a16="http://schemas.microsoft.com/office/drawing/2014/main" id="{EB2C90B2-4A87-4A7D-AF8C-F8099531A9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508245" y="3035393"/>
            <a:ext cx="378863" cy="310667"/>
          </a:xfrm>
          <a:prstGeom prst="rect">
            <a:avLst/>
          </a:prstGeom>
        </p:spPr>
      </p:pic>
      <p:cxnSp>
        <p:nvCxnSpPr>
          <p:cNvPr id="65" name="Straight Connector 64">
            <a:extLst>
              <a:ext uri="{FF2B5EF4-FFF2-40B4-BE49-F238E27FC236}">
                <a16:creationId xmlns="" xmlns:a16="http://schemas.microsoft.com/office/drawing/2014/main" id="{EC2991B8-1C09-4CA1-975E-5D0761A2640C}"/>
              </a:ext>
            </a:extLst>
          </p:cNvPr>
          <p:cNvCxnSpPr>
            <a:cxnSpLocks/>
            <a:stCxn id="47" idx="3"/>
            <a:endCxn id="64" idx="1"/>
          </p:cNvCxnSpPr>
          <p:nvPr/>
        </p:nvCxnSpPr>
        <p:spPr bwMode="gray">
          <a:xfrm>
            <a:off x="8498509" y="3187791"/>
            <a:ext cx="1009736"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6" name="文本框 98">
            <a:extLst>
              <a:ext uri="{FF2B5EF4-FFF2-40B4-BE49-F238E27FC236}">
                <a16:creationId xmlns="" xmlns:a16="http://schemas.microsoft.com/office/drawing/2014/main" id="{14A5AB63-5153-4C19-8933-2461A2926881}"/>
              </a:ext>
            </a:extLst>
          </p:cNvPr>
          <p:cNvSpPr txBox="1"/>
          <p:nvPr/>
        </p:nvSpPr>
        <p:spPr bwMode="gray">
          <a:xfrm>
            <a:off x="9508244" y="2860285"/>
            <a:ext cx="378863" cy="161866"/>
          </a:xfrm>
          <a:prstGeom prst="rect">
            <a:avLst/>
          </a:prstGeom>
          <a:noFill/>
        </p:spPr>
        <p:txBody>
          <a:bodyPr wrap="none" lIns="0" tIns="0" rIns="0" bIns="0" rtlCol="0" anchor="ctr" anchorCtr="0">
            <a:noAutofit/>
          </a:bodyPr>
          <a:lstStyle/>
          <a:p>
            <a:pPr algn="ctr"/>
            <a:r>
              <a:rPr lang="en-US" altLang="zh-CN" sz="1400" dirty="0"/>
              <a:t>CE2</a:t>
            </a:r>
            <a:endParaRPr lang="zh-CN" altLang="en-US" sz="1400" dirty="0"/>
          </a:p>
        </p:txBody>
      </p:sp>
      <p:sp>
        <p:nvSpPr>
          <p:cNvPr id="71" name="Can 9">
            <a:extLst>
              <a:ext uri="{FF2B5EF4-FFF2-40B4-BE49-F238E27FC236}">
                <a16:creationId xmlns="" xmlns:a16="http://schemas.microsoft.com/office/drawing/2014/main" id="{06530604-4C0D-440E-8EAE-6D2A7D2371F1}"/>
              </a:ext>
            </a:extLst>
          </p:cNvPr>
          <p:cNvSpPr/>
          <p:nvPr/>
        </p:nvSpPr>
        <p:spPr bwMode="gray">
          <a:xfrm rot="5400000">
            <a:off x="5940984" y="1811108"/>
            <a:ext cx="287198" cy="5263975"/>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Can 9">
            <a:extLst>
              <a:ext uri="{FF2B5EF4-FFF2-40B4-BE49-F238E27FC236}">
                <a16:creationId xmlns="" xmlns:a16="http://schemas.microsoft.com/office/drawing/2014/main" id="{1DE8B9D5-9E5D-4C46-8A33-CEDFAFE86992}"/>
              </a:ext>
            </a:extLst>
          </p:cNvPr>
          <p:cNvSpPr/>
          <p:nvPr/>
        </p:nvSpPr>
        <p:spPr bwMode="gray">
          <a:xfrm rot="5400000">
            <a:off x="5958105" y="2188731"/>
            <a:ext cx="263089" cy="5263975"/>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Can 9">
            <a:extLst>
              <a:ext uri="{FF2B5EF4-FFF2-40B4-BE49-F238E27FC236}">
                <a16:creationId xmlns="" xmlns:a16="http://schemas.microsoft.com/office/drawing/2014/main" id="{152FE83A-CF34-4FE6-9E73-C04DC2A812A3}"/>
              </a:ext>
            </a:extLst>
          </p:cNvPr>
          <p:cNvSpPr/>
          <p:nvPr/>
        </p:nvSpPr>
        <p:spPr bwMode="gray">
          <a:xfrm rot="5400000">
            <a:off x="5627907" y="2232451"/>
            <a:ext cx="936804" cy="4804394"/>
          </a:xfrm>
          <a:prstGeom prst="can">
            <a:avLst>
              <a:gd name="adj" fmla="val 40000"/>
            </a:avLst>
          </a:prstGeom>
          <a:solidFill>
            <a:srgbClr val="F4FBFE">
              <a:alpha val="50000"/>
            </a:srgbClr>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Rectangular Callout 26">
            <a:extLst>
              <a:ext uri="{FF2B5EF4-FFF2-40B4-BE49-F238E27FC236}">
                <a16:creationId xmlns="" xmlns:a16="http://schemas.microsoft.com/office/drawing/2014/main" id="{24048F66-CB4B-4C18-B28C-CB875C8AE0F4}"/>
              </a:ext>
            </a:extLst>
          </p:cNvPr>
          <p:cNvSpPr/>
          <p:nvPr/>
        </p:nvSpPr>
        <p:spPr bwMode="gray">
          <a:xfrm>
            <a:off x="6179825" y="5228431"/>
            <a:ext cx="1294455" cy="464099"/>
          </a:xfrm>
          <a:prstGeom prst="wedgeRectCallout">
            <a:avLst>
              <a:gd name="adj1" fmla="val 18876"/>
              <a:gd name="adj2" fmla="val -8891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端到端</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SR-MPLS Policy</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4" name="Rectangular Callout 26">
            <a:extLst>
              <a:ext uri="{FF2B5EF4-FFF2-40B4-BE49-F238E27FC236}">
                <a16:creationId xmlns="" xmlns:a16="http://schemas.microsoft.com/office/drawing/2014/main" id="{90FCB5E9-5BF0-4C30-AA0E-4BED577F5E43}"/>
              </a:ext>
            </a:extLst>
          </p:cNvPr>
          <p:cNvSpPr/>
          <p:nvPr/>
        </p:nvSpPr>
        <p:spPr bwMode="gray">
          <a:xfrm>
            <a:off x="2648743" y="4220871"/>
            <a:ext cx="699784" cy="310668"/>
          </a:xfrm>
          <a:prstGeom prst="wedgeRectCallout">
            <a:avLst>
              <a:gd name="adj1" fmla="val 70599"/>
              <a:gd name="adj2" fmla="val 245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L2 VPN</a:t>
            </a:r>
          </a:p>
        </p:txBody>
      </p:sp>
      <p:sp>
        <p:nvSpPr>
          <p:cNvPr id="75" name="Rectangular Callout 26">
            <a:extLst>
              <a:ext uri="{FF2B5EF4-FFF2-40B4-BE49-F238E27FC236}">
                <a16:creationId xmlns="" xmlns:a16="http://schemas.microsoft.com/office/drawing/2014/main" id="{E8743A9E-62EA-4C86-8F23-E8126934998D}"/>
              </a:ext>
            </a:extLst>
          </p:cNvPr>
          <p:cNvSpPr/>
          <p:nvPr/>
        </p:nvSpPr>
        <p:spPr bwMode="gray">
          <a:xfrm>
            <a:off x="2657186" y="4641595"/>
            <a:ext cx="699784" cy="310668"/>
          </a:xfrm>
          <a:prstGeom prst="wedgeRectCallout">
            <a:avLst>
              <a:gd name="adj1" fmla="val 70599"/>
              <a:gd name="adj2" fmla="val 245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L3 VPN</a:t>
            </a:r>
          </a:p>
        </p:txBody>
      </p:sp>
      <p:cxnSp>
        <p:nvCxnSpPr>
          <p:cNvPr id="76" name="Straight Connector 75">
            <a:extLst>
              <a:ext uri="{FF2B5EF4-FFF2-40B4-BE49-F238E27FC236}">
                <a16:creationId xmlns="" xmlns:a16="http://schemas.microsoft.com/office/drawing/2014/main" id="{55C79A54-B152-45D7-9CD6-FA6265A60291}"/>
              </a:ext>
            </a:extLst>
          </p:cNvPr>
          <p:cNvCxnSpPr>
            <a:cxnSpLocks/>
            <a:endCxn id="40" idx="2"/>
          </p:cNvCxnSpPr>
          <p:nvPr/>
        </p:nvCxnSpPr>
        <p:spPr bwMode="gray">
          <a:xfrm flipV="1">
            <a:off x="3847134" y="3348994"/>
            <a:ext cx="0" cy="817251"/>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 xmlns:a16="http://schemas.microsoft.com/office/drawing/2014/main" id="{FAAFE6F5-4616-4191-91B8-BE4B4074846E}"/>
              </a:ext>
            </a:extLst>
          </p:cNvPr>
          <p:cNvCxnSpPr>
            <a:cxnSpLocks/>
            <a:endCxn id="47" idx="2"/>
          </p:cNvCxnSpPr>
          <p:nvPr/>
        </p:nvCxnSpPr>
        <p:spPr bwMode="gray">
          <a:xfrm flipV="1">
            <a:off x="8309078" y="3343124"/>
            <a:ext cx="0" cy="805585"/>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4152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FEBCB7-E8CA-4A7A-935D-6C23D3965EF9}"/>
              </a:ext>
            </a:extLst>
          </p:cNvPr>
          <p:cNvSpPr>
            <a:spLocks noGrp="1"/>
          </p:cNvSpPr>
          <p:nvPr>
            <p:ph type="title"/>
          </p:nvPr>
        </p:nvSpPr>
        <p:spPr/>
        <p:txBody>
          <a:bodyPr/>
          <a:lstStyle/>
          <a:p>
            <a:r>
              <a:rPr lang="en-US"/>
              <a:t>SR-MPLS P</a:t>
            </a:r>
            <a:r>
              <a:rPr lang="en-US" altLang="zh-CN"/>
              <a:t>olicy</a:t>
            </a:r>
            <a:r>
              <a:rPr lang="zh-CN" altLang="en-US"/>
              <a:t>路径规划</a:t>
            </a:r>
            <a:endParaRPr lang="en-US" dirty="0"/>
          </a:p>
        </p:txBody>
      </p:sp>
      <p:sp>
        <p:nvSpPr>
          <p:cNvPr id="8" name="Text Placeholder 7">
            <a:extLst>
              <a:ext uri="{FF2B5EF4-FFF2-40B4-BE49-F238E27FC236}">
                <a16:creationId xmlns="" xmlns:a16="http://schemas.microsoft.com/office/drawing/2014/main" id="{417F1E84-8F63-449C-A04C-87C9820B7DF7}"/>
              </a:ext>
            </a:extLst>
          </p:cNvPr>
          <p:cNvSpPr>
            <a:spLocks noGrp="1"/>
          </p:cNvSpPr>
          <p:nvPr>
            <p:ph type="body" sz="quarter" idx="10"/>
          </p:nvPr>
        </p:nvSpPr>
        <p:spPr/>
        <p:txBody>
          <a:bodyPr/>
          <a:lstStyle/>
          <a:p>
            <a:r>
              <a:rPr lang="en-US" sz="1800" dirty="0"/>
              <a:t>SR-MPLS P</a:t>
            </a:r>
            <a:r>
              <a:rPr lang="en-US" altLang="zh-CN" sz="1800" dirty="0"/>
              <a:t>olicy</a:t>
            </a:r>
            <a:r>
              <a:rPr lang="zh-CN" altLang="en-US" sz="1800" dirty="0"/>
              <a:t>可基于带宽、时延、路径分离等因素规划路径。</a:t>
            </a:r>
            <a:endParaRPr lang="en-US" altLang="zh-CN" sz="1800" dirty="0"/>
          </a:p>
          <a:p>
            <a:pPr lvl="1"/>
            <a:r>
              <a:rPr lang="zh-CN" altLang="en-US" sz="1600" dirty="0"/>
              <a:t>当基于带宽规划路径时需要预先设定各接口最大可用带宽。</a:t>
            </a:r>
            <a:endParaRPr lang="en-US" altLang="zh-CN" sz="1600" dirty="0"/>
          </a:p>
          <a:p>
            <a:pPr lvl="1"/>
            <a:r>
              <a:rPr lang="zh-CN" altLang="en-US" sz="1600" dirty="0"/>
              <a:t>当基于时延规划路径时需要预先部署</a:t>
            </a:r>
            <a:r>
              <a:rPr lang="en-US" altLang="zh-CN" sz="1600" dirty="0"/>
              <a:t>TWAMP</a:t>
            </a:r>
            <a:r>
              <a:rPr lang="zh-CN" altLang="en-US" sz="1600" dirty="0"/>
              <a:t>或</a:t>
            </a:r>
            <a:r>
              <a:rPr lang="en-US" altLang="zh-CN" sz="1600" dirty="0"/>
              <a:t>IFIT</a:t>
            </a:r>
            <a:r>
              <a:rPr lang="zh-CN" altLang="en-US" sz="1600" dirty="0"/>
              <a:t>用于感知网络实时时延。</a:t>
            </a:r>
            <a:endParaRPr lang="en-US" altLang="zh-CN" sz="1600" dirty="0"/>
          </a:p>
          <a:p>
            <a:r>
              <a:rPr lang="zh-CN" altLang="en-US" sz="1800" dirty="0"/>
              <a:t>使用控制器或静态配置规划</a:t>
            </a:r>
            <a:r>
              <a:rPr lang="en-US" altLang="zh-CN" sz="1800" dirty="0"/>
              <a:t>SR-MPLS Policy</a:t>
            </a:r>
            <a:r>
              <a:rPr lang="zh-CN" altLang="en-US" sz="1800" dirty="0"/>
              <a:t>路径时，有两种模式可选：</a:t>
            </a:r>
            <a:endParaRPr lang="en-US" altLang="zh-CN" sz="1800" dirty="0"/>
          </a:p>
          <a:p>
            <a:pPr lvl="1"/>
            <a:r>
              <a:rPr lang="zh-CN" altLang="en-US" sz="1600" dirty="0"/>
              <a:t>单候选路径多分段路径</a:t>
            </a:r>
            <a:endParaRPr lang="en-US" altLang="zh-CN" sz="1600" dirty="0"/>
          </a:p>
          <a:p>
            <a:pPr lvl="1"/>
            <a:r>
              <a:rPr lang="zh-CN" altLang="en-US" sz="1600" dirty="0"/>
              <a:t>多候选路径单分段路径</a:t>
            </a:r>
            <a:endParaRPr lang="en-US" altLang="zh-CN" sz="1600" dirty="0"/>
          </a:p>
        </p:txBody>
      </p:sp>
      <p:sp>
        <p:nvSpPr>
          <p:cNvPr id="4" name="五边形 2">
            <a:extLst>
              <a:ext uri="{FF2B5EF4-FFF2-40B4-BE49-F238E27FC236}">
                <a16:creationId xmlns="" xmlns:a16="http://schemas.microsoft.com/office/drawing/2014/main" id="{31950D92-B3A1-434A-897E-DBEC64DD368C}"/>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0E238582-F39A-4794-91E0-F0823AC81A46}"/>
              </a:ext>
            </a:extLst>
          </p:cNvPr>
          <p:cNvSpPr/>
          <p:nvPr/>
        </p:nvSpPr>
        <p:spPr bwMode="gray">
          <a:xfrm>
            <a:off x="9067800" y="44020"/>
            <a:ext cx="14833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3A413913-47F6-44B7-8C56-97AF2AAA5337}"/>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5">
            <a:extLst>
              <a:ext uri="{FF2B5EF4-FFF2-40B4-BE49-F238E27FC236}">
                <a16:creationId xmlns="" xmlns:a16="http://schemas.microsoft.com/office/drawing/2014/main" id="{E4C5853B-19A5-45CD-8A72-7C8BA94AAC4F}"/>
              </a:ext>
            </a:extLst>
          </p:cNvPr>
          <p:cNvSpPr/>
          <p:nvPr/>
        </p:nvSpPr>
        <p:spPr bwMode="gray">
          <a:xfrm>
            <a:off x="897999" y="5039522"/>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SR-MPLS Policy</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6">
            <a:extLst>
              <a:ext uri="{FF2B5EF4-FFF2-40B4-BE49-F238E27FC236}">
                <a16:creationId xmlns="" xmlns:a16="http://schemas.microsoft.com/office/drawing/2014/main" id="{784F8F4B-4F9F-4FC9-B41D-0A51A21E1B08}"/>
              </a:ext>
            </a:extLst>
          </p:cNvPr>
          <p:cNvSpPr/>
          <p:nvPr/>
        </p:nvSpPr>
        <p:spPr bwMode="gray">
          <a:xfrm>
            <a:off x="2488005" y="4676760"/>
            <a:ext cx="1434193" cy="39349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1" name="矩形 8">
            <a:extLst>
              <a:ext uri="{FF2B5EF4-FFF2-40B4-BE49-F238E27FC236}">
                <a16:creationId xmlns="" xmlns:a16="http://schemas.microsoft.com/office/drawing/2014/main" id="{8C9E3DC2-0CF9-4BF4-B564-7D5051DE5954}"/>
              </a:ext>
            </a:extLst>
          </p:cNvPr>
          <p:cNvSpPr/>
          <p:nvPr/>
        </p:nvSpPr>
        <p:spPr bwMode="gray">
          <a:xfrm>
            <a:off x="2488005" y="5415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2" name="矩形 10">
            <a:extLst>
              <a:ext uri="{FF2B5EF4-FFF2-40B4-BE49-F238E27FC236}">
                <a16:creationId xmlns="" xmlns:a16="http://schemas.microsoft.com/office/drawing/2014/main" id="{9D652180-827C-4B04-B0A2-DC0A4C5553EF}"/>
              </a:ext>
            </a:extLst>
          </p:cNvPr>
          <p:cNvSpPr/>
          <p:nvPr/>
        </p:nvSpPr>
        <p:spPr bwMode="gray">
          <a:xfrm>
            <a:off x="4361409" y="4676760"/>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14" name="直接连接符 17">
            <a:extLst>
              <a:ext uri="{FF2B5EF4-FFF2-40B4-BE49-F238E27FC236}">
                <a16:creationId xmlns="" xmlns:a16="http://schemas.microsoft.com/office/drawing/2014/main" id="{D08E7710-D611-4E26-B792-58F936D43A5C}"/>
              </a:ext>
            </a:extLst>
          </p:cNvPr>
          <p:cNvCxnSpPr>
            <a:cxnSpLocks/>
            <a:stCxn id="9" idx="3"/>
            <a:endCxn id="10" idx="1"/>
          </p:cNvCxnSpPr>
          <p:nvPr/>
        </p:nvCxnSpPr>
        <p:spPr bwMode="gray">
          <a:xfrm flipV="1">
            <a:off x="2025104" y="4873508"/>
            <a:ext cx="462901" cy="3640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8">
            <a:extLst>
              <a:ext uri="{FF2B5EF4-FFF2-40B4-BE49-F238E27FC236}">
                <a16:creationId xmlns="" xmlns:a16="http://schemas.microsoft.com/office/drawing/2014/main" id="{005CEB23-72F8-4FAD-81FB-0D7AD0D2313F}"/>
              </a:ext>
            </a:extLst>
          </p:cNvPr>
          <p:cNvCxnSpPr>
            <a:cxnSpLocks/>
            <a:stCxn id="12" idx="1"/>
            <a:endCxn id="10" idx="3"/>
          </p:cNvCxnSpPr>
          <p:nvPr/>
        </p:nvCxnSpPr>
        <p:spPr bwMode="gray">
          <a:xfrm flipH="1" flipV="1">
            <a:off x="3922198" y="4873508"/>
            <a:ext cx="439211" cy="6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24">
            <a:extLst>
              <a:ext uri="{FF2B5EF4-FFF2-40B4-BE49-F238E27FC236}">
                <a16:creationId xmlns="" xmlns:a16="http://schemas.microsoft.com/office/drawing/2014/main" id="{70DFA3DD-DE21-4F40-843C-4ADD2B49FF4B}"/>
              </a:ext>
            </a:extLst>
          </p:cNvPr>
          <p:cNvCxnSpPr>
            <a:cxnSpLocks/>
            <a:stCxn id="9" idx="3"/>
            <a:endCxn id="11" idx="1"/>
          </p:cNvCxnSpPr>
          <p:nvPr/>
        </p:nvCxnSpPr>
        <p:spPr bwMode="gray">
          <a:xfrm>
            <a:off x="2025104" y="5237563"/>
            <a:ext cx="462901" cy="37528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直接连接符 25">
            <a:extLst>
              <a:ext uri="{FF2B5EF4-FFF2-40B4-BE49-F238E27FC236}">
                <a16:creationId xmlns="" xmlns:a16="http://schemas.microsoft.com/office/drawing/2014/main" id="{3CEC3649-1D06-4424-A04A-55A452003ADD}"/>
              </a:ext>
            </a:extLst>
          </p:cNvPr>
          <p:cNvCxnSpPr>
            <a:cxnSpLocks/>
            <a:stCxn id="19" idx="1"/>
            <a:endCxn id="11" idx="3"/>
          </p:cNvCxnSpPr>
          <p:nvPr/>
        </p:nvCxnSpPr>
        <p:spPr bwMode="gray">
          <a:xfrm flipH="1">
            <a:off x="3922198" y="5612848"/>
            <a:ext cx="43921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9" name="矩形 31">
            <a:extLst>
              <a:ext uri="{FF2B5EF4-FFF2-40B4-BE49-F238E27FC236}">
                <a16:creationId xmlns="" xmlns:a16="http://schemas.microsoft.com/office/drawing/2014/main" id="{BB63AF3B-575C-4AFC-A63B-567FDA750718}"/>
              </a:ext>
            </a:extLst>
          </p:cNvPr>
          <p:cNvSpPr/>
          <p:nvPr/>
        </p:nvSpPr>
        <p:spPr bwMode="gray">
          <a:xfrm>
            <a:off x="4361408" y="5415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0" name="文本框 49">
            <a:extLst>
              <a:ext uri="{FF2B5EF4-FFF2-40B4-BE49-F238E27FC236}">
                <a16:creationId xmlns="" xmlns:a16="http://schemas.microsoft.com/office/drawing/2014/main" id="{81A2D4C2-5F9C-467C-854E-0BA94B981C2E}"/>
              </a:ext>
            </a:extLst>
          </p:cNvPr>
          <p:cNvSpPr txBox="1"/>
          <p:nvPr/>
        </p:nvSpPr>
        <p:spPr bwMode="gray">
          <a:xfrm>
            <a:off x="744454" y="4575357"/>
            <a:ext cx="1434193" cy="461665"/>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p>
        </p:txBody>
      </p:sp>
      <p:sp>
        <p:nvSpPr>
          <p:cNvPr id="21" name="圆角矩形 19">
            <a:extLst>
              <a:ext uri="{FF2B5EF4-FFF2-40B4-BE49-F238E27FC236}">
                <a16:creationId xmlns="" xmlns:a16="http://schemas.microsoft.com/office/drawing/2014/main" id="{F68FC39D-C5FA-41C9-887B-DB5082178866}"/>
              </a:ext>
            </a:extLst>
          </p:cNvPr>
          <p:cNvSpPr/>
          <p:nvPr/>
        </p:nvSpPr>
        <p:spPr bwMode="gray">
          <a:xfrm>
            <a:off x="6146654" y="3842584"/>
            <a:ext cx="5402200" cy="400674"/>
          </a:xfrm>
          <a:prstGeom prst="roundRect">
            <a:avLst>
              <a:gd name="adj" fmla="val 8347"/>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单候选路径多分段路径</a:t>
            </a:r>
          </a:p>
        </p:txBody>
      </p:sp>
      <p:sp>
        <p:nvSpPr>
          <p:cNvPr id="22" name="圆角矩形 20">
            <a:extLst>
              <a:ext uri="{FF2B5EF4-FFF2-40B4-BE49-F238E27FC236}">
                <a16:creationId xmlns="" xmlns:a16="http://schemas.microsoft.com/office/drawing/2014/main" id="{34134C65-47A6-4A4F-8B4C-80D86E6C02D9}"/>
              </a:ext>
            </a:extLst>
          </p:cNvPr>
          <p:cNvSpPr/>
          <p:nvPr/>
        </p:nvSpPr>
        <p:spPr bwMode="gray">
          <a:xfrm>
            <a:off x="6146654" y="4301667"/>
            <a:ext cx="5402200" cy="1740188"/>
          </a:xfrm>
          <a:prstGeom prst="roundRect">
            <a:avLst>
              <a:gd name="adj" fmla="val 103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p:txBody>
      </p:sp>
      <p:sp>
        <p:nvSpPr>
          <p:cNvPr id="23" name="矩形 5">
            <a:extLst>
              <a:ext uri="{FF2B5EF4-FFF2-40B4-BE49-F238E27FC236}">
                <a16:creationId xmlns="" xmlns:a16="http://schemas.microsoft.com/office/drawing/2014/main" id="{2525BB64-DBAA-45F4-A58D-9BA041442B06}"/>
              </a:ext>
            </a:extLst>
          </p:cNvPr>
          <p:cNvSpPr/>
          <p:nvPr/>
        </p:nvSpPr>
        <p:spPr bwMode="gray">
          <a:xfrm>
            <a:off x="6477201" y="5016033"/>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SR-MPLS Policy</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6">
            <a:extLst>
              <a:ext uri="{FF2B5EF4-FFF2-40B4-BE49-F238E27FC236}">
                <a16:creationId xmlns="" xmlns:a16="http://schemas.microsoft.com/office/drawing/2014/main" id="{FCB05DA2-133F-40B3-8B3D-5D7904E27C3A}"/>
              </a:ext>
            </a:extLst>
          </p:cNvPr>
          <p:cNvSpPr/>
          <p:nvPr/>
        </p:nvSpPr>
        <p:spPr bwMode="gray">
          <a:xfrm>
            <a:off x="8067207" y="5019031"/>
            <a:ext cx="1434193" cy="39349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6" name="矩形 10">
            <a:extLst>
              <a:ext uri="{FF2B5EF4-FFF2-40B4-BE49-F238E27FC236}">
                <a16:creationId xmlns="" xmlns:a16="http://schemas.microsoft.com/office/drawing/2014/main" id="{4B158573-A288-49FE-9778-C471DDD704D6}"/>
              </a:ext>
            </a:extLst>
          </p:cNvPr>
          <p:cNvSpPr/>
          <p:nvPr/>
        </p:nvSpPr>
        <p:spPr bwMode="gray">
          <a:xfrm>
            <a:off x="9940611" y="4803486"/>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7" name="矩形 14">
            <a:extLst>
              <a:ext uri="{FF2B5EF4-FFF2-40B4-BE49-F238E27FC236}">
                <a16:creationId xmlns="" xmlns:a16="http://schemas.microsoft.com/office/drawing/2014/main" id="{1DE6269F-1CC7-4010-B160-622BE865C526}"/>
              </a:ext>
            </a:extLst>
          </p:cNvPr>
          <p:cNvSpPr/>
          <p:nvPr/>
        </p:nvSpPr>
        <p:spPr bwMode="gray">
          <a:xfrm>
            <a:off x="9940611" y="5266264"/>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28" name="直接连接符 17">
            <a:extLst>
              <a:ext uri="{FF2B5EF4-FFF2-40B4-BE49-F238E27FC236}">
                <a16:creationId xmlns="" xmlns:a16="http://schemas.microsoft.com/office/drawing/2014/main" id="{905E4BAB-08B8-472B-BD58-407E848ED724}"/>
              </a:ext>
            </a:extLst>
          </p:cNvPr>
          <p:cNvCxnSpPr>
            <a:cxnSpLocks/>
            <a:stCxn id="23" idx="3"/>
            <a:endCxn id="24" idx="1"/>
          </p:cNvCxnSpPr>
          <p:nvPr/>
        </p:nvCxnSpPr>
        <p:spPr bwMode="gray">
          <a:xfrm>
            <a:off x="7604306" y="5214074"/>
            <a:ext cx="462901" cy="170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18">
            <a:extLst>
              <a:ext uri="{FF2B5EF4-FFF2-40B4-BE49-F238E27FC236}">
                <a16:creationId xmlns="" xmlns:a16="http://schemas.microsoft.com/office/drawing/2014/main" id="{3217E6E2-FB00-4B25-9EA0-A14E04FC3073}"/>
              </a:ext>
            </a:extLst>
          </p:cNvPr>
          <p:cNvCxnSpPr>
            <a:cxnSpLocks/>
            <a:stCxn id="26" idx="1"/>
            <a:endCxn id="24" idx="3"/>
          </p:cNvCxnSpPr>
          <p:nvPr/>
        </p:nvCxnSpPr>
        <p:spPr bwMode="gray">
          <a:xfrm flipH="1">
            <a:off x="9501400" y="5000889"/>
            <a:ext cx="439211" cy="2148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1">
            <a:extLst>
              <a:ext uri="{FF2B5EF4-FFF2-40B4-BE49-F238E27FC236}">
                <a16:creationId xmlns="" xmlns:a16="http://schemas.microsoft.com/office/drawing/2014/main" id="{FA70543C-88F5-40E7-8E5A-DAC4BB1F14A6}"/>
              </a:ext>
            </a:extLst>
          </p:cNvPr>
          <p:cNvCxnSpPr>
            <a:cxnSpLocks/>
            <a:stCxn id="27" idx="1"/>
            <a:endCxn id="24" idx="3"/>
          </p:cNvCxnSpPr>
          <p:nvPr/>
        </p:nvCxnSpPr>
        <p:spPr bwMode="gray">
          <a:xfrm flipH="1" flipV="1">
            <a:off x="9501400" y="5215779"/>
            <a:ext cx="439211" cy="2478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4" name="文本框 49">
            <a:extLst>
              <a:ext uri="{FF2B5EF4-FFF2-40B4-BE49-F238E27FC236}">
                <a16:creationId xmlns="" xmlns:a16="http://schemas.microsoft.com/office/drawing/2014/main" id="{49B9C03D-BBDE-44F3-898F-AA4804180458}"/>
              </a:ext>
            </a:extLst>
          </p:cNvPr>
          <p:cNvSpPr txBox="1"/>
          <p:nvPr/>
        </p:nvSpPr>
        <p:spPr bwMode="gray">
          <a:xfrm>
            <a:off x="6323656" y="4551868"/>
            <a:ext cx="1434193" cy="461665"/>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p>
        </p:txBody>
      </p:sp>
      <p:sp>
        <p:nvSpPr>
          <p:cNvPr id="35" name="圆角矩形 19">
            <a:extLst>
              <a:ext uri="{FF2B5EF4-FFF2-40B4-BE49-F238E27FC236}">
                <a16:creationId xmlns="" xmlns:a16="http://schemas.microsoft.com/office/drawing/2014/main" id="{41EC7FB2-8096-4164-8111-AB5D6EF81EAC}"/>
              </a:ext>
            </a:extLst>
          </p:cNvPr>
          <p:cNvSpPr/>
          <p:nvPr/>
        </p:nvSpPr>
        <p:spPr bwMode="gray">
          <a:xfrm>
            <a:off x="570404" y="3842584"/>
            <a:ext cx="5402200" cy="400674"/>
          </a:xfrm>
          <a:prstGeom prst="roundRect">
            <a:avLst>
              <a:gd name="adj" fmla="val 8347"/>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多候选路径单分段路径</a:t>
            </a:r>
          </a:p>
        </p:txBody>
      </p:sp>
      <p:sp>
        <p:nvSpPr>
          <p:cNvPr id="36" name="圆角矩形 20">
            <a:extLst>
              <a:ext uri="{FF2B5EF4-FFF2-40B4-BE49-F238E27FC236}">
                <a16:creationId xmlns="" xmlns:a16="http://schemas.microsoft.com/office/drawing/2014/main" id="{FF0E3D72-B103-482E-9B49-6411335B7A32}"/>
              </a:ext>
            </a:extLst>
          </p:cNvPr>
          <p:cNvSpPr/>
          <p:nvPr/>
        </p:nvSpPr>
        <p:spPr bwMode="gray">
          <a:xfrm>
            <a:off x="570404" y="4301667"/>
            <a:ext cx="5402200" cy="1740188"/>
          </a:xfrm>
          <a:prstGeom prst="roundRect">
            <a:avLst>
              <a:gd name="adj" fmla="val 103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p:txBody>
      </p:sp>
    </p:spTree>
    <p:extLst>
      <p:ext uri="{BB962C8B-B14F-4D97-AF65-F5344CB8AC3E}">
        <p14:creationId xmlns:p14="http://schemas.microsoft.com/office/powerpoint/2010/main" val="1236276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FEBCB7-E8CA-4A7A-935D-6C23D3965EF9}"/>
              </a:ext>
            </a:extLst>
          </p:cNvPr>
          <p:cNvSpPr>
            <a:spLocks noGrp="1"/>
          </p:cNvSpPr>
          <p:nvPr>
            <p:ph type="title"/>
          </p:nvPr>
        </p:nvSpPr>
        <p:spPr/>
        <p:txBody>
          <a:bodyPr/>
          <a:lstStyle/>
          <a:p>
            <a:r>
              <a:rPr lang="en-US"/>
              <a:t>SR-MPLS P</a:t>
            </a:r>
            <a:r>
              <a:rPr lang="en-US" altLang="zh-CN"/>
              <a:t>olicy</a:t>
            </a:r>
            <a:r>
              <a:rPr lang="zh-CN" altLang="en-US"/>
              <a:t>引流方式设计</a:t>
            </a:r>
            <a:endParaRPr lang="en-US" dirty="0"/>
          </a:p>
        </p:txBody>
      </p:sp>
      <p:sp>
        <p:nvSpPr>
          <p:cNvPr id="8" name="Text Placeholder 7">
            <a:extLst>
              <a:ext uri="{FF2B5EF4-FFF2-40B4-BE49-F238E27FC236}">
                <a16:creationId xmlns="" xmlns:a16="http://schemas.microsoft.com/office/drawing/2014/main" id="{417F1E84-8F63-449C-A04C-87C9820B7DF7}"/>
              </a:ext>
            </a:extLst>
          </p:cNvPr>
          <p:cNvSpPr>
            <a:spLocks noGrp="1"/>
          </p:cNvSpPr>
          <p:nvPr>
            <p:ph type="body" sz="quarter" idx="10"/>
          </p:nvPr>
        </p:nvSpPr>
        <p:spPr>
          <a:xfrm>
            <a:off x="455612" y="1047750"/>
            <a:ext cx="11293475" cy="2059147"/>
          </a:xfrm>
        </p:spPr>
        <p:txBody>
          <a:bodyPr/>
          <a:lstStyle/>
          <a:p>
            <a:r>
              <a:rPr lang="en-US" sz="1800" dirty="0"/>
              <a:t>SR-MPLS P</a:t>
            </a:r>
            <a:r>
              <a:rPr lang="en-US" altLang="zh-CN" sz="1800" dirty="0"/>
              <a:t>olicy</a:t>
            </a:r>
            <a:r>
              <a:rPr lang="zh-CN" altLang="en-US" sz="1800" dirty="0"/>
              <a:t>需要将业务流量引入隧道进行转发，这个过程称为引流，当前</a:t>
            </a:r>
            <a:r>
              <a:rPr lang="en-US" altLang="zh-CN" sz="1800" dirty="0"/>
              <a:t>SR-MPLS Policy</a:t>
            </a:r>
            <a:r>
              <a:rPr lang="zh-CN" altLang="en-US" sz="1800" dirty="0"/>
              <a:t>的引流方式主要包括：</a:t>
            </a:r>
            <a:endParaRPr lang="en-US" altLang="zh-CN" sz="1800" dirty="0"/>
          </a:p>
          <a:p>
            <a:pPr lvl="1"/>
            <a:r>
              <a:rPr lang="zh-CN" altLang="en-US" sz="1600" dirty="0"/>
              <a:t>基于</a:t>
            </a:r>
            <a:r>
              <a:rPr lang="en-US" altLang="zh-CN" sz="1600" dirty="0"/>
              <a:t>Color</a:t>
            </a:r>
            <a:r>
              <a:rPr lang="zh-CN" altLang="en-US" sz="1600" dirty="0"/>
              <a:t>引流：引流时，头端节点直接基于路由的扩展团体属性</a:t>
            </a:r>
            <a:r>
              <a:rPr lang="en-US" altLang="zh-CN" sz="1600" dirty="0"/>
              <a:t>Color</a:t>
            </a:r>
            <a:r>
              <a:rPr lang="zh-CN" altLang="en-US" sz="1600" dirty="0"/>
              <a:t>和目的地址迭代到</a:t>
            </a:r>
            <a:r>
              <a:rPr lang="en-US" altLang="zh-CN" sz="1600" dirty="0"/>
              <a:t>SR-MPLS Policy</a:t>
            </a:r>
            <a:r>
              <a:rPr lang="zh-CN" altLang="en-US" sz="1600" dirty="0"/>
              <a:t>。</a:t>
            </a:r>
            <a:endParaRPr lang="en-US" altLang="zh-CN" sz="1600" dirty="0"/>
          </a:p>
          <a:p>
            <a:pPr lvl="1"/>
            <a:r>
              <a:rPr lang="zh-CN" altLang="en-US" sz="1600" dirty="0"/>
              <a:t>基于</a:t>
            </a:r>
            <a:r>
              <a:rPr lang="en-US" altLang="zh-CN" sz="1600" dirty="0"/>
              <a:t>DSCP</a:t>
            </a:r>
            <a:r>
              <a:rPr lang="zh-CN" altLang="en-US" sz="1600" dirty="0"/>
              <a:t>引流：引流时，头端节点基于</a:t>
            </a:r>
            <a:r>
              <a:rPr lang="en-US" altLang="zh-CN" sz="1600" dirty="0"/>
              <a:t>Endpoint</a:t>
            </a:r>
            <a:r>
              <a:rPr lang="zh-CN" altLang="en-US" sz="1600" dirty="0"/>
              <a:t>匹配到</a:t>
            </a:r>
            <a:r>
              <a:rPr lang="en-US" altLang="zh-CN" sz="1600" dirty="0"/>
              <a:t>SR-MPLS Policy Group</a:t>
            </a:r>
            <a:r>
              <a:rPr lang="zh-CN" altLang="en-US" sz="1600" dirty="0"/>
              <a:t>，然后再根据报文携带的</a:t>
            </a:r>
            <a:r>
              <a:rPr lang="en-US" altLang="zh-CN" sz="1600" dirty="0"/>
              <a:t>DSCP</a:t>
            </a:r>
            <a:r>
              <a:rPr lang="zh-CN" altLang="en-US" sz="1600" dirty="0"/>
              <a:t>查找到对应的</a:t>
            </a:r>
            <a:r>
              <a:rPr lang="en-US" altLang="zh-CN" sz="1600" dirty="0"/>
              <a:t>SR-MPLS TE Policy</a:t>
            </a:r>
            <a:r>
              <a:rPr lang="zh-CN" altLang="en-US" sz="1600" dirty="0"/>
              <a:t>转发。</a:t>
            </a:r>
            <a:endParaRPr lang="en-US" sz="1600" dirty="0"/>
          </a:p>
        </p:txBody>
      </p:sp>
      <p:sp>
        <p:nvSpPr>
          <p:cNvPr id="4" name="五边形 2">
            <a:extLst>
              <a:ext uri="{FF2B5EF4-FFF2-40B4-BE49-F238E27FC236}">
                <a16:creationId xmlns="" xmlns:a16="http://schemas.microsoft.com/office/drawing/2014/main" id="{31950D92-B3A1-434A-897E-DBEC64DD368C}"/>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0E238582-F39A-4794-91E0-F0823AC81A46}"/>
              </a:ext>
            </a:extLst>
          </p:cNvPr>
          <p:cNvSpPr/>
          <p:nvPr/>
        </p:nvSpPr>
        <p:spPr bwMode="gray">
          <a:xfrm>
            <a:off x="9067800" y="44020"/>
            <a:ext cx="14833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3A413913-47F6-44B7-8C56-97AF2AAA5337}"/>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19">
            <a:extLst>
              <a:ext uri="{FF2B5EF4-FFF2-40B4-BE49-F238E27FC236}">
                <a16:creationId xmlns="" xmlns:a16="http://schemas.microsoft.com/office/drawing/2014/main" id="{09002A81-72EF-4322-82B6-92F41B00F1E0}"/>
              </a:ext>
            </a:extLst>
          </p:cNvPr>
          <p:cNvSpPr/>
          <p:nvPr/>
        </p:nvSpPr>
        <p:spPr bwMode="gray">
          <a:xfrm>
            <a:off x="536816" y="3125313"/>
            <a:ext cx="5489909"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引流</a:t>
            </a:r>
          </a:p>
        </p:txBody>
      </p:sp>
      <p:sp>
        <p:nvSpPr>
          <p:cNvPr id="57" name="圆角矩形 20">
            <a:extLst>
              <a:ext uri="{FF2B5EF4-FFF2-40B4-BE49-F238E27FC236}">
                <a16:creationId xmlns="" xmlns:a16="http://schemas.microsoft.com/office/drawing/2014/main" id="{70F90253-CEA7-49B1-8C16-4800137ADFF6}"/>
              </a:ext>
            </a:extLst>
          </p:cNvPr>
          <p:cNvSpPr/>
          <p:nvPr/>
        </p:nvSpPr>
        <p:spPr bwMode="gray">
          <a:xfrm>
            <a:off x="536816" y="3586729"/>
            <a:ext cx="5489909" cy="254737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19">
            <a:extLst>
              <a:ext uri="{FF2B5EF4-FFF2-40B4-BE49-F238E27FC236}">
                <a16:creationId xmlns="" xmlns:a16="http://schemas.microsoft.com/office/drawing/2014/main" id="{783EBFD4-F55F-4069-9557-E76121C46C00}"/>
              </a:ext>
            </a:extLst>
          </p:cNvPr>
          <p:cNvSpPr/>
          <p:nvPr/>
        </p:nvSpPr>
        <p:spPr bwMode="gray">
          <a:xfrm>
            <a:off x="6186006" y="3125313"/>
            <a:ext cx="5489909"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DSCP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引流</a:t>
            </a:r>
          </a:p>
        </p:txBody>
      </p:sp>
      <p:sp>
        <p:nvSpPr>
          <p:cNvPr id="59" name="圆角矩形 20">
            <a:extLst>
              <a:ext uri="{FF2B5EF4-FFF2-40B4-BE49-F238E27FC236}">
                <a16:creationId xmlns="" xmlns:a16="http://schemas.microsoft.com/office/drawing/2014/main" id="{E62EF821-3B38-40E1-93D9-FC4EB933D7B4}"/>
              </a:ext>
            </a:extLst>
          </p:cNvPr>
          <p:cNvSpPr/>
          <p:nvPr/>
        </p:nvSpPr>
        <p:spPr bwMode="gray">
          <a:xfrm>
            <a:off x="6186006" y="3586729"/>
            <a:ext cx="5489909" cy="2547371"/>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48">
            <a:extLst>
              <a:ext uri="{FF2B5EF4-FFF2-40B4-BE49-F238E27FC236}">
                <a16:creationId xmlns="" xmlns:a16="http://schemas.microsoft.com/office/drawing/2014/main" id="{78005F6C-272B-44EB-921D-68DDDA0C37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40840" y="4486005"/>
            <a:ext cx="378863" cy="310667"/>
          </a:xfrm>
          <a:prstGeom prst="rect">
            <a:avLst/>
          </a:prstGeom>
        </p:spPr>
      </p:pic>
      <p:pic>
        <p:nvPicPr>
          <p:cNvPr id="61" name="图片 48">
            <a:extLst>
              <a:ext uri="{FF2B5EF4-FFF2-40B4-BE49-F238E27FC236}">
                <a16:creationId xmlns="" xmlns:a16="http://schemas.microsoft.com/office/drawing/2014/main" id="{8E6CEF76-0D32-4AB2-B055-8453A10348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21147" y="3775960"/>
            <a:ext cx="378863" cy="310667"/>
          </a:xfrm>
          <a:prstGeom prst="rect">
            <a:avLst/>
          </a:prstGeom>
        </p:spPr>
      </p:pic>
      <p:pic>
        <p:nvPicPr>
          <p:cNvPr id="62" name="图片 48">
            <a:extLst>
              <a:ext uri="{FF2B5EF4-FFF2-40B4-BE49-F238E27FC236}">
                <a16:creationId xmlns="" xmlns:a16="http://schemas.microsoft.com/office/drawing/2014/main" id="{A2E5F65C-461E-4541-8197-42E92464E1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21146" y="5229141"/>
            <a:ext cx="378863" cy="310667"/>
          </a:xfrm>
          <a:prstGeom prst="rect">
            <a:avLst/>
          </a:prstGeom>
        </p:spPr>
      </p:pic>
      <p:pic>
        <p:nvPicPr>
          <p:cNvPr id="63" name="图片 48">
            <a:extLst>
              <a:ext uri="{FF2B5EF4-FFF2-40B4-BE49-F238E27FC236}">
                <a16:creationId xmlns="" xmlns:a16="http://schemas.microsoft.com/office/drawing/2014/main" id="{712C462C-F1BC-40EB-82A2-9A21DD7C41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962580" y="4486004"/>
            <a:ext cx="378863" cy="310667"/>
          </a:xfrm>
          <a:prstGeom prst="rect">
            <a:avLst/>
          </a:prstGeom>
        </p:spPr>
      </p:pic>
      <p:cxnSp>
        <p:nvCxnSpPr>
          <p:cNvPr id="67" name="Straight Connector 66">
            <a:extLst>
              <a:ext uri="{FF2B5EF4-FFF2-40B4-BE49-F238E27FC236}">
                <a16:creationId xmlns="" xmlns:a16="http://schemas.microsoft.com/office/drawing/2014/main" id="{44D05640-43F5-4D54-B831-11396CCCE849}"/>
              </a:ext>
            </a:extLst>
          </p:cNvPr>
          <p:cNvCxnSpPr>
            <a:cxnSpLocks/>
            <a:stCxn id="60" idx="0"/>
            <a:endCxn id="61" idx="1"/>
          </p:cNvCxnSpPr>
          <p:nvPr/>
        </p:nvCxnSpPr>
        <p:spPr bwMode="gray">
          <a:xfrm flipV="1">
            <a:off x="1830272" y="3931294"/>
            <a:ext cx="990875" cy="5547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 xmlns:a16="http://schemas.microsoft.com/office/drawing/2014/main" id="{B707593A-21BA-4481-9F84-DC59BBEA5EFA}"/>
              </a:ext>
            </a:extLst>
          </p:cNvPr>
          <p:cNvCxnSpPr>
            <a:cxnSpLocks/>
            <a:stCxn id="60" idx="2"/>
            <a:endCxn id="62" idx="1"/>
          </p:cNvCxnSpPr>
          <p:nvPr/>
        </p:nvCxnSpPr>
        <p:spPr bwMode="gray">
          <a:xfrm>
            <a:off x="1830272" y="4796672"/>
            <a:ext cx="990874" cy="5878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 xmlns:a16="http://schemas.microsoft.com/office/drawing/2014/main" id="{8F023BEB-6D1E-475F-9BE3-CEA780B73076}"/>
              </a:ext>
            </a:extLst>
          </p:cNvPr>
          <p:cNvCxnSpPr>
            <a:cxnSpLocks/>
            <a:stCxn id="61" idx="3"/>
            <a:endCxn id="63" idx="0"/>
          </p:cNvCxnSpPr>
          <p:nvPr/>
        </p:nvCxnSpPr>
        <p:spPr bwMode="gray">
          <a:xfrm>
            <a:off x="3200010" y="3931294"/>
            <a:ext cx="952002" cy="55471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 xmlns:a16="http://schemas.microsoft.com/office/drawing/2014/main" id="{F6BD0DF3-7DE0-4FC1-9F16-CB881EC8EEC9}"/>
              </a:ext>
            </a:extLst>
          </p:cNvPr>
          <p:cNvCxnSpPr>
            <a:cxnSpLocks/>
            <a:stCxn id="62" idx="3"/>
            <a:endCxn id="63" idx="2"/>
          </p:cNvCxnSpPr>
          <p:nvPr/>
        </p:nvCxnSpPr>
        <p:spPr bwMode="gray">
          <a:xfrm flipV="1">
            <a:off x="3200009" y="4796671"/>
            <a:ext cx="952003" cy="58780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9" name="图片 48">
            <a:extLst>
              <a:ext uri="{FF2B5EF4-FFF2-40B4-BE49-F238E27FC236}">
                <a16:creationId xmlns="" xmlns:a16="http://schemas.microsoft.com/office/drawing/2014/main" id="{3987F82A-67A1-4971-8297-8781737741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61768" y="4483069"/>
            <a:ext cx="378863" cy="310667"/>
          </a:xfrm>
          <a:prstGeom prst="rect">
            <a:avLst/>
          </a:prstGeom>
        </p:spPr>
      </p:pic>
      <p:cxnSp>
        <p:nvCxnSpPr>
          <p:cNvPr id="90" name="Straight Connector 89">
            <a:extLst>
              <a:ext uri="{FF2B5EF4-FFF2-40B4-BE49-F238E27FC236}">
                <a16:creationId xmlns="" xmlns:a16="http://schemas.microsoft.com/office/drawing/2014/main" id="{D4AF6F65-1FA9-4C66-B8A3-F96D9315EFDA}"/>
              </a:ext>
            </a:extLst>
          </p:cNvPr>
          <p:cNvCxnSpPr>
            <a:cxnSpLocks/>
            <a:stCxn id="89" idx="3"/>
            <a:endCxn id="60" idx="1"/>
          </p:cNvCxnSpPr>
          <p:nvPr/>
        </p:nvCxnSpPr>
        <p:spPr bwMode="gray">
          <a:xfrm>
            <a:off x="1140631" y="4638403"/>
            <a:ext cx="500209"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20502E42-1CFE-4072-AE3A-F0618180DA47}"/>
              </a:ext>
            </a:extLst>
          </p:cNvPr>
          <p:cNvCxnSpPr>
            <a:cxnSpLocks/>
            <a:stCxn id="63" idx="3"/>
            <a:endCxn id="92" idx="1"/>
          </p:cNvCxnSpPr>
          <p:nvPr/>
        </p:nvCxnSpPr>
        <p:spPr bwMode="gray">
          <a:xfrm>
            <a:off x="4341443" y="4641338"/>
            <a:ext cx="498825" cy="67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2" name="图片 14" descr="交换机.png">
            <a:extLst>
              <a:ext uri="{FF2B5EF4-FFF2-40B4-BE49-F238E27FC236}">
                <a16:creationId xmlns="" xmlns:a16="http://schemas.microsoft.com/office/drawing/2014/main" id="{201A72E5-0837-4DBD-ACA2-CF323F3E0BA7}"/>
              </a:ext>
            </a:extLst>
          </p:cNvPr>
          <p:cNvPicPr>
            <a:picLocks noChangeAspect="1"/>
          </p:cNvPicPr>
          <p:nvPr/>
        </p:nvPicPr>
        <p:blipFill>
          <a:blip r:embed="rId4" cstate="print"/>
          <a:stretch>
            <a:fillRect/>
          </a:stretch>
        </p:blipFill>
        <p:spPr bwMode="gray">
          <a:xfrm>
            <a:off x="4840268" y="4487343"/>
            <a:ext cx="378070" cy="309329"/>
          </a:xfrm>
          <a:prstGeom prst="rect">
            <a:avLst/>
          </a:prstGeom>
        </p:spPr>
      </p:pic>
      <p:sp>
        <p:nvSpPr>
          <p:cNvPr id="93" name="圆角矩形 75">
            <a:extLst>
              <a:ext uri="{FF2B5EF4-FFF2-40B4-BE49-F238E27FC236}">
                <a16:creationId xmlns="" xmlns:a16="http://schemas.microsoft.com/office/drawing/2014/main" id="{78C7FAA5-0F2C-4C7F-ABFA-AD1418A46D5D}"/>
              </a:ext>
            </a:extLst>
          </p:cNvPr>
          <p:cNvSpPr/>
          <p:nvPr/>
        </p:nvSpPr>
        <p:spPr bwMode="gray">
          <a:xfrm>
            <a:off x="5172936" y="4316296"/>
            <a:ext cx="608250"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94" name="圆角矩形 75">
            <a:extLst>
              <a:ext uri="{FF2B5EF4-FFF2-40B4-BE49-F238E27FC236}">
                <a16:creationId xmlns="" xmlns:a16="http://schemas.microsoft.com/office/drawing/2014/main" id="{0FAA63D1-A879-4C91-B123-F4C11DE8C989}"/>
              </a:ext>
            </a:extLst>
          </p:cNvPr>
          <p:cNvSpPr/>
          <p:nvPr/>
        </p:nvSpPr>
        <p:spPr bwMode="gray">
          <a:xfrm>
            <a:off x="5172936" y="4626980"/>
            <a:ext cx="697626"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30" name="Freeform: Shape 29">
            <a:extLst>
              <a:ext uri="{FF2B5EF4-FFF2-40B4-BE49-F238E27FC236}">
                <a16:creationId xmlns="" xmlns:a16="http://schemas.microsoft.com/office/drawing/2014/main" id="{D39D123F-5616-467B-979A-B63BE2054637}"/>
              </a:ext>
            </a:extLst>
          </p:cNvPr>
          <p:cNvSpPr/>
          <p:nvPr/>
        </p:nvSpPr>
        <p:spPr bwMode="gray">
          <a:xfrm>
            <a:off x="761768" y="4092219"/>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6" name="图片 48">
            <a:extLst>
              <a:ext uri="{FF2B5EF4-FFF2-40B4-BE49-F238E27FC236}">
                <a16:creationId xmlns="" xmlns:a16="http://schemas.microsoft.com/office/drawing/2014/main" id="{714F5139-8C72-40BF-9697-6260BB4EC0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24104" y="4467469"/>
            <a:ext cx="378863" cy="310667"/>
          </a:xfrm>
          <a:prstGeom prst="rect">
            <a:avLst/>
          </a:prstGeom>
        </p:spPr>
      </p:pic>
      <p:pic>
        <p:nvPicPr>
          <p:cNvPr id="97" name="图片 48">
            <a:extLst>
              <a:ext uri="{FF2B5EF4-FFF2-40B4-BE49-F238E27FC236}">
                <a16:creationId xmlns="" xmlns:a16="http://schemas.microsoft.com/office/drawing/2014/main" id="{7760E3C0-3FC5-4423-B220-85939207FF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04411" y="3757424"/>
            <a:ext cx="378863" cy="310667"/>
          </a:xfrm>
          <a:prstGeom prst="rect">
            <a:avLst/>
          </a:prstGeom>
        </p:spPr>
      </p:pic>
      <p:pic>
        <p:nvPicPr>
          <p:cNvPr id="98" name="图片 48">
            <a:extLst>
              <a:ext uri="{FF2B5EF4-FFF2-40B4-BE49-F238E27FC236}">
                <a16:creationId xmlns="" xmlns:a16="http://schemas.microsoft.com/office/drawing/2014/main" id="{454C00FF-899D-45DD-8C33-2F61F6FF30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04410" y="5210605"/>
            <a:ext cx="378863" cy="310667"/>
          </a:xfrm>
          <a:prstGeom prst="rect">
            <a:avLst/>
          </a:prstGeom>
        </p:spPr>
      </p:pic>
      <p:pic>
        <p:nvPicPr>
          <p:cNvPr id="99" name="图片 48">
            <a:extLst>
              <a:ext uri="{FF2B5EF4-FFF2-40B4-BE49-F238E27FC236}">
                <a16:creationId xmlns="" xmlns:a16="http://schemas.microsoft.com/office/drawing/2014/main" id="{2739A02B-376A-4C75-8D18-247EC04283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645844" y="4467468"/>
            <a:ext cx="378863" cy="310667"/>
          </a:xfrm>
          <a:prstGeom prst="rect">
            <a:avLst/>
          </a:prstGeom>
        </p:spPr>
      </p:pic>
      <p:cxnSp>
        <p:nvCxnSpPr>
          <p:cNvPr id="100" name="Straight Connector 99">
            <a:extLst>
              <a:ext uri="{FF2B5EF4-FFF2-40B4-BE49-F238E27FC236}">
                <a16:creationId xmlns="" xmlns:a16="http://schemas.microsoft.com/office/drawing/2014/main" id="{2EA632DB-1504-4B79-83BD-219166BC6EDF}"/>
              </a:ext>
            </a:extLst>
          </p:cNvPr>
          <p:cNvCxnSpPr>
            <a:cxnSpLocks/>
            <a:stCxn id="96" idx="0"/>
            <a:endCxn id="97" idx="1"/>
          </p:cNvCxnSpPr>
          <p:nvPr/>
        </p:nvCxnSpPr>
        <p:spPr bwMode="gray">
          <a:xfrm flipV="1">
            <a:off x="7513536" y="3912758"/>
            <a:ext cx="990875" cy="5547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 xmlns:a16="http://schemas.microsoft.com/office/drawing/2014/main" id="{2BC17FAD-9D98-43F1-B249-7F3834F6B044}"/>
              </a:ext>
            </a:extLst>
          </p:cNvPr>
          <p:cNvCxnSpPr>
            <a:cxnSpLocks/>
            <a:stCxn id="96" idx="2"/>
            <a:endCxn id="98" idx="1"/>
          </p:cNvCxnSpPr>
          <p:nvPr/>
        </p:nvCxnSpPr>
        <p:spPr bwMode="gray">
          <a:xfrm>
            <a:off x="7513536" y="4778136"/>
            <a:ext cx="990874" cy="5878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 xmlns:a16="http://schemas.microsoft.com/office/drawing/2014/main" id="{7DB2B7D2-4B4B-4F31-8405-0BC3EB6E18E3}"/>
              </a:ext>
            </a:extLst>
          </p:cNvPr>
          <p:cNvCxnSpPr>
            <a:cxnSpLocks/>
            <a:stCxn id="97" idx="3"/>
            <a:endCxn id="99" idx="0"/>
          </p:cNvCxnSpPr>
          <p:nvPr/>
        </p:nvCxnSpPr>
        <p:spPr bwMode="gray">
          <a:xfrm>
            <a:off x="8883274" y="3912758"/>
            <a:ext cx="952002" cy="55471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 xmlns:a16="http://schemas.microsoft.com/office/drawing/2014/main" id="{9AC6D7BF-B731-413D-9523-0F8BE13EF93F}"/>
              </a:ext>
            </a:extLst>
          </p:cNvPr>
          <p:cNvCxnSpPr>
            <a:cxnSpLocks/>
            <a:stCxn id="98" idx="3"/>
            <a:endCxn id="99" idx="2"/>
          </p:cNvCxnSpPr>
          <p:nvPr/>
        </p:nvCxnSpPr>
        <p:spPr bwMode="gray">
          <a:xfrm flipV="1">
            <a:off x="8883273" y="4778135"/>
            <a:ext cx="952003" cy="58780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4" name="图片 48">
            <a:extLst>
              <a:ext uri="{FF2B5EF4-FFF2-40B4-BE49-F238E27FC236}">
                <a16:creationId xmlns="" xmlns:a16="http://schemas.microsoft.com/office/drawing/2014/main" id="{C77B71B6-54E1-445E-A347-DFF25C140F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45032" y="4464533"/>
            <a:ext cx="378863" cy="310667"/>
          </a:xfrm>
          <a:prstGeom prst="rect">
            <a:avLst/>
          </a:prstGeom>
        </p:spPr>
      </p:pic>
      <p:cxnSp>
        <p:nvCxnSpPr>
          <p:cNvPr id="105" name="Straight Connector 104">
            <a:extLst>
              <a:ext uri="{FF2B5EF4-FFF2-40B4-BE49-F238E27FC236}">
                <a16:creationId xmlns="" xmlns:a16="http://schemas.microsoft.com/office/drawing/2014/main" id="{9D8C5B81-1046-4031-BA56-F52F5B295BBD}"/>
              </a:ext>
            </a:extLst>
          </p:cNvPr>
          <p:cNvCxnSpPr>
            <a:cxnSpLocks/>
            <a:stCxn id="104" idx="3"/>
            <a:endCxn id="96" idx="1"/>
          </p:cNvCxnSpPr>
          <p:nvPr/>
        </p:nvCxnSpPr>
        <p:spPr bwMode="gray">
          <a:xfrm>
            <a:off x="6823895" y="4619867"/>
            <a:ext cx="500209"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 xmlns:a16="http://schemas.microsoft.com/office/drawing/2014/main" id="{1794F586-2058-40BD-9053-F08EC54C3208}"/>
              </a:ext>
            </a:extLst>
          </p:cNvPr>
          <p:cNvCxnSpPr>
            <a:cxnSpLocks/>
            <a:stCxn id="99" idx="3"/>
            <a:endCxn id="107" idx="1"/>
          </p:cNvCxnSpPr>
          <p:nvPr/>
        </p:nvCxnSpPr>
        <p:spPr bwMode="gray">
          <a:xfrm>
            <a:off x="10024707" y="4622802"/>
            <a:ext cx="498825" cy="67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7" name="图片 14" descr="交换机.png">
            <a:extLst>
              <a:ext uri="{FF2B5EF4-FFF2-40B4-BE49-F238E27FC236}">
                <a16:creationId xmlns="" xmlns:a16="http://schemas.microsoft.com/office/drawing/2014/main" id="{996C1D80-14E3-40F6-BC1A-2F6DF29F6D75}"/>
              </a:ext>
            </a:extLst>
          </p:cNvPr>
          <p:cNvPicPr>
            <a:picLocks noChangeAspect="1"/>
          </p:cNvPicPr>
          <p:nvPr/>
        </p:nvPicPr>
        <p:blipFill>
          <a:blip r:embed="rId4" cstate="print"/>
          <a:stretch>
            <a:fillRect/>
          </a:stretch>
        </p:blipFill>
        <p:spPr bwMode="gray">
          <a:xfrm>
            <a:off x="10523532" y="4468807"/>
            <a:ext cx="378070" cy="309329"/>
          </a:xfrm>
          <a:prstGeom prst="rect">
            <a:avLst/>
          </a:prstGeom>
        </p:spPr>
      </p:pic>
      <p:sp>
        <p:nvSpPr>
          <p:cNvPr id="108" name="圆角矩形 75">
            <a:extLst>
              <a:ext uri="{FF2B5EF4-FFF2-40B4-BE49-F238E27FC236}">
                <a16:creationId xmlns="" xmlns:a16="http://schemas.microsoft.com/office/drawing/2014/main" id="{FB0EFB3B-FF07-4B41-89B3-22140CE3576A}"/>
              </a:ext>
            </a:extLst>
          </p:cNvPr>
          <p:cNvSpPr/>
          <p:nvPr/>
        </p:nvSpPr>
        <p:spPr bwMode="gray">
          <a:xfrm>
            <a:off x="10873298" y="4357212"/>
            <a:ext cx="608250"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109" name="圆角矩形 75">
            <a:extLst>
              <a:ext uri="{FF2B5EF4-FFF2-40B4-BE49-F238E27FC236}">
                <a16:creationId xmlns="" xmlns:a16="http://schemas.microsoft.com/office/drawing/2014/main" id="{603533D9-BEFE-49C7-AF69-4F6BAFB3DDC1}"/>
              </a:ext>
            </a:extLst>
          </p:cNvPr>
          <p:cNvSpPr/>
          <p:nvPr/>
        </p:nvSpPr>
        <p:spPr bwMode="gray">
          <a:xfrm>
            <a:off x="10867043" y="4635940"/>
            <a:ext cx="697626"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112" name="Freeform: Shape 111">
            <a:extLst>
              <a:ext uri="{FF2B5EF4-FFF2-40B4-BE49-F238E27FC236}">
                <a16:creationId xmlns="" xmlns:a16="http://schemas.microsoft.com/office/drawing/2014/main" id="{70E67D41-C6E9-4CF0-AE08-212284B6ADAB}"/>
              </a:ext>
            </a:extLst>
          </p:cNvPr>
          <p:cNvSpPr/>
          <p:nvPr/>
        </p:nvSpPr>
        <p:spPr bwMode="gray">
          <a:xfrm flipV="1">
            <a:off x="6455856" y="4692259"/>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 xmlns:a16="http://schemas.microsoft.com/office/drawing/2014/main" id="{393628A1-100A-49FD-824D-A8210B77A056}"/>
              </a:ext>
            </a:extLst>
          </p:cNvPr>
          <p:cNvSpPr/>
          <p:nvPr/>
        </p:nvSpPr>
        <p:spPr bwMode="gray">
          <a:xfrm>
            <a:off x="779967" y="3908368"/>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Shape 114">
            <a:extLst>
              <a:ext uri="{FF2B5EF4-FFF2-40B4-BE49-F238E27FC236}">
                <a16:creationId xmlns="" xmlns:a16="http://schemas.microsoft.com/office/drawing/2014/main" id="{9B3C2CE0-8EC1-4951-BE9C-C7CB99D054D1}"/>
              </a:ext>
            </a:extLst>
          </p:cNvPr>
          <p:cNvSpPr/>
          <p:nvPr/>
        </p:nvSpPr>
        <p:spPr bwMode="gray">
          <a:xfrm>
            <a:off x="6456813" y="3870619"/>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圆角矩形 75">
            <a:extLst>
              <a:ext uri="{FF2B5EF4-FFF2-40B4-BE49-F238E27FC236}">
                <a16:creationId xmlns="" xmlns:a16="http://schemas.microsoft.com/office/drawing/2014/main" id="{21ABAA77-736F-4AD4-BE5D-0A5F6484628E}"/>
              </a:ext>
            </a:extLst>
          </p:cNvPr>
          <p:cNvSpPr/>
          <p:nvPr/>
        </p:nvSpPr>
        <p:spPr bwMode="gray">
          <a:xfrm>
            <a:off x="1416510" y="3681445"/>
            <a:ext cx="3130687"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18" name="TextBox 271">
            <a:extLst>
              <a:ext uri="{FF2B5EF4-FFF2-40B4-BE49-F238E27FC236}">
                <a16:creationId xmlns="" xmlns:a16="http://schemas.microsoft.com/office/drawing/2014/main" id="{0BCE60BB-6263-47E9-A4C9-442481115C55}"/>
              </a:ext>
            </a:extLst>
          </p:cNvPr>
          <p:cNvSpPr txBox="1"/>
          <p:nvPr/>
        </p:nvSpPr>
        <p:spPr bwMode="gray">
          <a:xfrm rot="5400000">
            <a:off x="4328620" y="5024282"/>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119" name="圆角矩形 75">
            <a:extLst>
              <a:ext uri="{FF2B5EF4-FFF2-40B4-BE49-F238E27FC236}">
                <a16:creationId xmlns="" xmlns:a16="http://schemas.microsoft.com/office/drawing/2014/main" id="{60CA1E5E-4268-4B99-901C-E1009326033E}"/>
              </a:ext>
            </a:extLst>
          </p:cNvPr>
          <p:cNvSpPr/>
          <p:nvPr/>
        </p:nvSpPr>
        <p:spPr bwMode="gray">
          <a:xfrm>
            <a:off x="7127560" y="3665803"/>
            <a:ext cx="3130687"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0" name="TextBox 271">
            <a:extLst>
              <a:ext uri="{FF2B5EF4-FFF2-40B4-BE49-F238E27FC236}">
                <a16:creationId xmlns="" xmlns:a16="http://schemas.microsoft.com/office/drawing/2014/main" id="{C74B3199-93C8-4BE3-A951-EADF26BF96CF}"/>
              </a:ext>
            </a:extLst>
          </p:cNvPr>
          <p:cNvSpPr txBox="1"/>
          <p:nvPr/>
        </p:nvSpPr>
        <p:spPr bwMode="gray">
          <a:xfrm rot="5400000">
            <a:off x="10039670" y="5008640"/>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49" name="圆角矩形 20">
            <a:extLst>
              <a:ext uri="{FF2B5EF4-FFF2-40B4-BE49-F238E27FC236}">
                <a16:creationId xmlns="" xmlns:a16="http://schemas.microsoft.com/office/drawing/2014/main" id="{E62EF821-3B38-40E1-93D9-FC4EB933D7B4}"/>
              </a:ext>
            </a:extLst>
          </p:cNvPr>
          <p:cNvSpPr/>
          <p:nvPr/>
        </p:nvSpPr>
        <p:spPr bwMode="gray">
          <a:xfrm>
            <a:off x="6186006" y="5729786"/>
            <a:ext cx="5489909" cy="404313"/>
          </a:xfrm>
          <a:prstGeom prst="roundRect">
            <a:avLst>
              <a:gd name="adj" fmla="val 2222"/>
            </a:avLst>
          </a:prstGeom>
          <a:no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DSCP</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引流能更好地保障业务的质量。</a:t>
            </a: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738149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FEBCB7-E8CA-4A7A-935D-6C23D3965EF9}"/>
              </a:ext>
            </a:extLst>
          </p:cNvPr>
          <p:cNvSpPr>
            <a:spLocks noGrp="1"/>
          </p:cNvSpPr>
          <p:nvPr>
            <p:ph type="title"/>
          </p:nvPr>
        </p:nvSpPr>
        <p:spPr bwMode="gray"/>
        <p:txBody>
          <a:bodyPr/>
          <a:lstStyle/>
          <a:p>
            <a:r>
              <a:rPr lang="en-US" dirty="0"/>
              <a:t>SR-MPLS</a:t>
            </a:r>
            <a:r>
              <a:rPr lang="zh-CN" altLang="en-US" dirty="0"/>
              <a:t>隧道逃生设计</a:t>
            </a:r>
            <a:endParaRPr lang="en-US" dirty="0"/>
          </a:p>
        </p:txBody>
      </p:sp>
      <p:sp>
        <p:nvSpPr>
          <p:cNvPr id="4" name="五边形 2">
            <a:extLst>
              <a:ext uri="{FF2B5EF4-FFF2-40B4-BE49-F238E27FC236}">
                <a16:creationId xmlns="" xmlns:a16="http://schemas.microsoft.com/office/drawing/2014/main" id="{31950D92-B3A1-434A-897E-DBEC64DD368C}"/>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0E238582-F39A-4794-91E0-F0823AC81A46}"/>
              </a:ext>
            </a:extLst>
          </p:cNvPr>
          <p:cNvSpPr/>
          <p:nvPr/>
        </p:nvSpPr>
        <p:spPr bwMode="gray">
          <a:xfrm>
            <a:off x="9067800" y="44020"/>
            <a:ext cx="14833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3A413913-47F6-44B7-8C56-97AF2AAA5337}"/>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 Placeholder 7">
            <a:extLst>
              <a:ext uri="{FF2B5EF4-FFF2-40B4-BE49-F238E27FC236}">
                <a16:creationId xmlns="" xmlns:a16="http://schemas.microsoft.com/office/drawing/2014/main" id="{417F1E84-8F63-449C-A04C-87C9820B7DF7}"/>
              </a:ext>
            </a:extLst>
          </p:cNvPr>
          <p:cNvSpPr>
            <a:spLocks noGrp="1"/>
          </p:cNvSpPr>
          <p:nvPr>
            <p:ph type="body" sz="quarter" idx="10"/>
          </p:nvPr>
        </p:nvSpPr>
        <p:spPr bwMode="gray">
          <a:xfrm>
            <a:off x="455612" y="1047750"/>
            <a:ext cx="11293475" cy="2657901"/>
          </a:xfrm>
        </p:spPr>
        <p:txBody>
          <a:bodyPr/>
          <a:lstStyle/>
          <a:p>
            <a:r>
              <a:rPr lang="en-US" altLang="zh-CN" sz="1800" dirty="0"/>
              <a:t>VPN</a:t>
            </a:r>
            <a:r>
              <a:rPr lang="zh-CN" altLang="en-US" sz="1800" dirty="0"/>
              <a:t>业务可被承载于</a:t>
            </a:r>
            <a:r>
              <a:rPr lang="en-US" altLang="zh-CN" sz="1800" dirty="0"/>
              <a:t>SR-MPLS Policy</a:t>
            </a:r>
            <a:r>
              <a:rPr lang="zh-CN" altLang="en-US" sz="1800" dirty="0"/>
              <a:t>隧道或</a:t>
            </a:r>
            <a:r>
              <a:rPr lang="en-US" altLang="zh-CN" sz="1800" dirty="0"/>
              <a:t>SR-MPLS BE</a:t>
            </a:r>
            <a:r>
              <a:rPr lang="zh-CN" altLang="en-US" sz="1800" dirty="0"/>
              <a:t>隧道上。</a:t>
            </a:r>
            <a:endParaRPr lang="en-US" altLang="zh-CN" sz="1800" dirty="0"/>
          </a:p>
          <a:p>
            <a:r>
              <a:rPr lang="zh-CN" altLang="en-US" sz="1800" dirty="0"/>
              <a:t>一个</a:t>
            </a:r>
            <a:r>
              <a:rPr lang="en-US" altLang="zh-CN" sz="1800" dirty="0"/>
              <a:t>SR-MPLS Policy</a:t>
            </a:r>
            <a:r>
              <a:rPr lang="zh-CN" altLang="en-US" sz="1800" dirty="0"/>
              <a:t>可以包含多个候选路径（</a:t>
            </a:r>
            <a:r>
              <a:rPr lang="en-US" altLang="zh-CN" sz="1800" dirty="0"/>
              <a:t>Candidate Path</a:t>
            </a:r>
            <a:r>
              <a:rPr lang="zh-CN" altLang="en-US" sz="1800" dirty="0"/>
              <a:t>）。候选路径携带优先级属性（</a:t>
            </a:r>
            <a:r>
              <a:rPr lang="en-US" altLang="zh-CN" sz="1800" dirty="0"/>
              <a:t>Preference</a:t>
            </a:r>
            <a:r>
              <a:rPr lang="zh-CN" altLang="en-US" sz="1800" dirty="0"/>
              <a:t>）。优先级最高的有效候选路径为</a:t>
            </a:r>
            <a:r>
              <a:rPr lang="en-US" altLang="zh-CN" sz="1800" dirty="0"/>
              <a:t>SR-MPLS Policy</a:t>
            </a:r>
            <a:r>
              <a:rPr lang="zh-CN" altLang="en-US" sz="1800" dirty="0"/>
              <a:t>的主路径，优先级次高的有效路径为</a:t>
            </a:r>
            <a:r>
              <a:rPr lang="en-US" altLang="zh-CN" sz="1800" dirty="0"/>
              <a:t>SR-MPLS Policy</a:t>
            </a:r>
            <a:r>
              <a:rPr lang="zh-CN" altLang="en-US" sz="1800" dirty="0"/>
              <a:t>的热备份路径。</a:t>
            </a:r>
            <a:endParaRPr lang="en-US" altLang="zh-CN" sz="1800" dirty="0"/>
          </a:p>
          <a:p>
            <a:r>
              <a:rPr lang="zh-CN" altLang="en-US" sz="1800" dirty="0"/>
              <a:t>当所有</a:t>
            </a:r>
            <a:r>
              <a:rPr lang="en-US" altLang="zh-CN" sz="1800" dirty="0"/>
              <a:t>SR-MPLS Policy</a:t>
            </a:r>
            <a:r>
              <a:rPr lang="zh-CN" altLang="en-US" sz="1800" dirty="0"/>
              <a:t>隧道都失效后，</a:t>
            </a:r>
            <a:r>
              <a:rPr lang="en-US" altLang="zh-CN" sz="1800" dirty="0"/>
              <a:t>VPN</a:t>
            </a:r>
            <a:r>
              <a:rPr lang="zh-CN" altLang="en-US" sz="1800" dirty="0"/>
              <a:t>业务可被承载于</a:t>
            </a:r>
            <a:r>
              <a:rPr lang="en-US" altLang="zh-CN" sz="1800" dirty="0"/>
              <a:t>SR-MPLS BE</a:t>
            </a:r>
            <a:r>
              <a:rPr lang="zh-CN" altLang="en-US" sz="1800" dirty="0"/>
              <a:t>上。</a:t>
            </a:r>
            <a:endParaRPr lang="en-US" altLang="zh-CN" sz="1800" dirty="0"/>
          </a:p>
          <a:p>
            <a:r>
              <a:rPr lang="zh-CN" altLang="en-US" sz="1800" dirty="0"/>
              <a:t>推荐同时部署</a:t>
            </a:r>
            <a:r>
              <a:rPr lang="en-US" altLang="zh-CN" sz="1800" dirty="0"/>
              <a:t>SR-MPLS Policy</a:t>
            </a:r>
            <a:r>
              <a:rPr lang="zh-CN" altLang="en-US" sz="1800" dirty="0"/>
              <a:t>和</a:t>
            </a:r>
            <a:r>
              <a:rPr lang="en-US" altLang="zh-CN" sz="1800" dirty="0"/>
              <a:t>SR-MPLS BE</a:t>
            </a:r>
            <a:r>
              <a:rPr lang="zh-CN" altLang="en-US" sz="1800" dirty="0"/>
              <a:t>，隧道优先选择</a:t>
            </a:r>
            <a:r>
              <a:rPr lang="en-US" altLang="zh-CN" sz="1800" dirty="0"/>
              <a:t>SR-MPLS Policy</a:t>
            </a:r>
            <a:r>
              <a:rPr lang="zh-CN" altLang="en-US" sz="1800" dirty="0"/>
              <a:t>，备选</a:t>
            </a:r>
            <a:r>
              <a:rPr lang="en-US" altLang="zh-CN" sz="1800" dirty="0"/>
              <a:t>SR-MPLS BE</a:t>
            </a:r>
            <a:r>
              <a:rPr lang="zh-CN" altLang="en-US" sz="1800" dirty="0"/>
              <a:t>。</a:t>
            </a:r>
          </a:p>
        </p:txBody>
      </p:sp>
      <p:grpSp>
        <p:nvGrpSpPr>
          <p:cNvPr id="32" name="Group 31">
            <a:extLst>
              <a:ext uri="{FF2B5EF4-FFF2-40B4-BE49-F238E27FC236}">
                <a16:creationId xmlns="" xmlns:a16="http://schemas.microsoft.com/office/drawing/2014/main" id="{CB0F4C01-5C0C-498F-843C-FD807175A62F}"/>
              </a:ext>
            </a:extLst>
          </p:cNvPr>
          <p:cNvGrpSpPr/>
          <p:nvPr/>
        </p:nvGrpSpPr>
        <p:grpSpPr bwMode="gray">
          <a:xfrm>
            <a:off x="2348892" y="3739130"/>
            <a:ext cx="7494215" cy="2368633"/>
            <a:chOff x="2467437" y="3358215"/>
            <a:chExt cx="7494215" cy="2368633"/>
          </a:xfrm>
        </p:grpSpPr>
        <p:sp>
          <p:nvSpPr>
            <p:cNvPr id="43" name="矩形 5">
              <a:extLst>
                <a:ext uri="{FF2B5EF4-FFF2-40B4-BE49-F238E27FC236}">
                  <a16:creationId xmlns="" xmlns:a16="http://schemas.microsoft.com/office/drawing/2014/main" id="{8CC64E67-CE7B-4F2C-96F7-44426EF066D0}"/>
                </a:ext>
              </a:extLst>
            </p:cNvPr>
            <p:cNvSpPr/>
            <p:nvPr/>
          </p:nvSpPr>
          <p:spPr bwMode="gray">
            <a:xfrm>
              <a:off x="4446829" y="4016532"/>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SR-MPLS Policy</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6">
              <a:extLst>
                <a:ext uri="{FF2B5EF4-FFF2-40B4-BE49-F238E27FC236}">
                  <a16:creationId xmlns="" xmlns:a16="http://schemas.microsoft.com/office/drawing/2014/main" id="{85954FFC-33AB-486A-A5CC-AED64F446F17}"/>
                </a:ext>
              </a:extLst>
            </p:cNvPr>
            <p:cNvSpPr/>
            <p:nvPr/>
          </p:nvSpPr>
          <p:spPr bwMode="gray">
            <a:xfrm>
              <a:off x="6391165" y="3573760"/>
              <a:ext cx="1434193" cy="39349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6" name="矩形 8">
              <a:extLst>
                <a:ext uri="{FF2B5EF4-FFF2-40B4-BE49-F238E27FC236}">
                  <a16:creationId xmlns="" xmlns:a16="http://schemas.microsoft.com/office/drawing/2014/main" id="{764A86D2-8786-4233-9B68-3A7CDD0AF8CE}"/>
                </a:ext>
              </a:extLst>
            </p:cNvPr>
            <p:cNvSpPr/>
            <p:nvPr/>
          </p:nvSpPr>
          <p:spPr bwMode="gray">
            <a:xfrm>
              <a:off x="6391165" y="4312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8" name="矩形 10">
              <a:extLst>
                <a:ext uri="{FF2B5EF4-FFF2-40B4-BE49-F238E27FC236}">
                  <a16:creationId xmlns="" xmlns:a16="http://schemas.microsoft.com/office/drawing/2014/main" id="{2DF834C3-D6FC-4F49-80A6-63659C0E3F95}"/>
                </a:ext>
              </a:extLst>
            </p:cNvPr>
            <p:cNvSpPr/>
            <p:nvPr/>
          </p:nvSpPr>
          <p:spPr bwMode="gray">
            <a:xfrm>
              <a:off x="8527459" y="3358215"/>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0" name="矩形 14">
              <a:extLst>
                <a:ext uri="{FF2B5EF4-FFF2-40B4-BE49-F238E27FC236}">
                  <a16:creationId xmlns="" xmlns:a16="http://schemas.microsoft.com/office/drawing/2014/main" id="{7E4E4631-1C58-448D-8842-4B9646FD29E2}"/>
                </a:ext>
              </a:extLst>
            </p:cNvPr>
            <p:cNvSpPr/>
            <p:nvPr/>
          </p:nvSpPr>
          <p:spPr bwMode="gray">
            <a:xfrm>
              <a:off x="8527459" y="3820993"/>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52" name="直接连接符 17">
              <a:extLst>
                <a:ext uri="{FF2B5EF4-FFF2-40B4-BE49-F238E27FC236}">
                  <a16:creationId xmlns="" xmlns:a16="http://schemas.microsoft.com/office/drawing/2014/main" id="{6BD26C4E-85E2-413F-9CE8-3DB7CD83A5E4}"/>
                </a:ext>
              </a:extLst>
            </p:cNvPr>
            <p:cNvCxnSpPr>
              <a:cxnSpLocks/>
              <a:stCxn id="43" idx="3"/>
              <a:endCxn id="44" idx="1"/>
            </p:cNvCxnSpPr>
            <p:nvPr/>
          </p:nvCxnSpPr>
          <p:spPr bwMode="gray">
            <a:xfrm flipV="1">
              <a:off x="5573934" y="3770508"/>
              <a:ext cx="817231" cy="44406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直接连接符 18">
              <a:extLst>
                <a:ext uri="{FF2B5EF4-FFF2-40B4-BE49-F238E27FC236}">
                  <a16:creationId xmlns="" xmlns:a16="http://schemas.microsoft.com/office/drawing/2014/main" id="{8C2CF9E6-5B04-4C2D-8677-9E430ED4CD23}"/>
                </a:ext>
              </a:extLst>
            </p:cNvPr>
            <p:cNvCxnSpPr>
              <a:cxnSpLocks/>
              <a:stCxn id="48" idx="1"/>
              <a:endCxn id="44" idx="3"/>
            </p:cNvCxnSpPr>
            <p:nvPr/>
          </p:nvCxnSpPr>
          <p:spPr bwMode="gray">
            <a:xfrm flipH="1">
              <a:off x="7825358" y="3555618"/>
              <a:ext cx="702101" cy="2148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直接连接符 21">
              <a:extLst>
                <a:ext uri="{FF2B5EF4-FFF2-40B4-BE49-F238E27FC236}">
                  <a16:creationId xmlns="" xmlns:a16="http://schemas.microsoft.com/office/drawing/2014/main" id="{77740DAF-2CCA-4630-9874-C05740898CE7}"/>
                </a:ext>
              </a:extLst>
            </p:cNvPr>
            <p:cNvCxnSpPr>
              <a:cxnSpLocks/>
              <a:stCxn id="50" idx="1"/>
              <a:endCxn id="44" idx="3"/>
            </p:cNvCxnSpPr>
            <p:nvPr/>
          </p:nvCxnSpPr>
          <p:spPr bwMode="gray">
            <a:xfrm flipH="1" flipV="1">
              <a:off x="7825358" y="3770508"/>
              <a:ext cx="702101" cy="24788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直接连接符 24">
              <a:extLst>
                <a:ext uri="{FF2B5EF4-FFF2-40B4-BE49-F238E27FC236}">
                  <a16:creationId xmlns="" xmlns:a16="http://schemas.microsoft.com/office/drawing/2014/main" id="{FC3D461D-2767-4755-B128-727A5ECCCB38}"/>
                </a:ext>
              </a:extLst>
            </p:cNvPr>
            <p:cNvCxnSpPr>
              <a:cxnSpLocks/>
              <a:stCxn id="43" idx="3"/>
              <a:endCxn id="46" idx="1"/>
            </p:cNvCxnSpPr>
            <p:nvPr/>
          </p:nvCxnSpPr>
          <p:spPr bwMode="gray">
            <a:xfrm>
              <a:off x="5573934" y="4214573"/>
              <a:ext cx="817231" cy="29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直接连接符 25">
              <a:extLst>
                <a:ext uri="{FF2B5EF4-FFF2-40B4-BE49-F238E27FC236}">
                  <a16:creationId xmlns="" xmlns:a16="http://schemas.microsoft.com/office/drawing/2014/main" id="{DA4BA845-3DB9-4655-8F3A-EA399A3D5256}"/>
                </a:ext>
              </a:extLst>
            </p:cNvPr>
            <p:cNvCxnSpPr>
              <a:cxnSpLocks/>
              <a:stCxn id="65" idx="1"/>
              <a:endCxn id="46" idx="3"/>
            </p:cNvCxnSpPr>
            <p:nvPr/>
          </p:nvCxnSpPr>
          <p:spPr bwMode="gray">
            <a:xfrm flipH="1">
              <a:off x="7825358" y="4509848"/>
              <a:ext cx="7021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5" name="矩形 31">
              <a:extLst>
                <a:ext uri="{FF2B5EF4-FFF2-40B4-BE49-F238E27FC236}">
                  <a16:creationId xmlns="" xmlns:a16="http://schemas.microsoft.com/office/drawing/2014/main" id="{045CCC3C-9606-4864-BE94-CFB76B976D3F}"/>
                </a:ext>
              </a:extLst>
            </p:cNvPr>
            <p:cNvSpPr/>
            <p:nvPr/>
          </p:nvSpPr>
          <p:spPr bwMode="gray">
            <a:xfrm>
              <a:off x="8527458" y="4312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85" name="文本框 49">
              <a:extLst>
                <a:ext uri="{FF2B5EF4-FFF2-40B4-BE49-F238E27FC236}">
                  <a16:creationId xmlns="" xmlns:a16="http://schemas.microsoft.com/office/drawing/2014/main" id="{59011714-1A8D-4B93-BDFC-09BA92AB1B23}"/>
                </a:ext>
              </a:extLst>
            </p:cNvPr>
            <p:cNvSpPr txBox="1"/>
            <p:nvPr/>
          </p:nvSpPr>
          <p:spPr bwMode="gray">
            <a:xfrm>
              <a:off x="4293284" y="3552367"/>
              <a:ext cx="1434193" cy="461665"/>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p>
          </p:txBody>
        </p:sp>
        <p:sp>
          <p:nvSpPr>
            <p:cNvPr id="86" name="矩形 5">
              <a:extLst>
                <a:ext uri="{FF2B5EF4-FFF2-40B4-BE49-F238E27FC236}">
                  <a16:creationId xmlns="" xmlns:a16="http://schemas.microsoft.com/office/drawing/2014/main" id="{9FB837CD-C4EA-42DC-8C2D-F13B03E66E63}"/>
                </a:ext>
              </a:extLst>
            </p:cNvPr>
            <p:cNvSpPr/>
            <p:nvPr/>
          </p:nvSpPr>
          <p:spPr bwMode="gray">
            <a:xfrm>
              <a:off x="4446829" y="5330767"/>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SR-MPLS BE</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5">
              <a:extLst>
                <a:ext uri="{FF2B5EF4-FFF2-40B4-BE49-F238E27FC236}">
                  <a16:creationId xmlns="" xmlns:a16="http://schemas.microsoft.com/office/drawing/2014/main" id="{494D604F-3066-4E2F-8C16-9A085B0CCE43}"/>
                </a:ext>
              </a:extLst>
            </p:cNvPr>
            <p:cNvSpPr/>
            <p:nvPr/>
          </p:nvSpPr>
          <p:spPr bwMode="gray">
            <a:xfrm>
              <a:off x="2467437" y="4670188"/>
              <a:ext cx="1127105" cy="39608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隧道选择</a:t>
              </a:r>
            </a:p>
          </p:txBody>
        </p:sp>
        <p:cxnSp>
          <p:nvCxnSpPr>
            <p:cNvPr id="88" name="直接连接符 24">
              <a:extLst>
                <a:ext uri="{FF2B5EF4-FFF2-40B4-BE49-F238E27FC236}">
                  <a16:creationId xmlns="" xmlns:a16="http://schemas.microsoft.com/office/drawing/2014/main" id="{1005A5B7-EB04-4153-87BA-BC48FB9BE001}"/>
                </a:ext>
              </a:extLst>
            </p:cNvPr>
            <p:cNvCxnSpPr>
              <a:cxnSpLocks/>
              <a:stCxn id="87" idx="3"/>
              <a:endCxn id="43" idx="1"/>
            </p:cNvCxnSpPr>
            <p:nvPr/>
          </p:nvCxnSpPr>
          <p:spPr bwMode="gray">
            <a:xfrm flipV="1">
              <a:off x="3594542" y="4214573"/>
              <a:ext cx="852287" cy="6536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5" name="直接连接符 24">
              <a:extLst>
                <a:ext uri="{FF2B5EF4-FFF2-40B4-BE49-F238E27FC236}">
                  <a16:creationId xmlns="" xmlns:a16="http://schemas.microsoft.com/office/drawing/2014/main" id="{14B6B6B6-9ED0-40B6-AF4F-7D03F39C9AE7}"/>
                </a:ext>
              </a:extLst>
            </p:cNvPr>
            <p:cNvCxnSpPr>
              <a:cxnSpLocks/>
              <a:stCxn id="87" idx="3"/>
              <a:endCxn id="86" idx="1"/>
            </p:cNvCxnSpPr>
            <p:nvPr/>
          </p:nvCxnSpPr>
          <p:spPr bwMode="gray">
            <a:xfrm>
              <a:off x="3594542" y="4868229"/>
              <a:ext cx="852287" cy="660579"/>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 xmlns:a16="http://schemas.microsoft.com/office/drawing/2014/main" id="{2BC35BCF-04C6-4E9F-B2CB-851933807CCE}"/>
              </a:ext>
            </a:extLst>
          </p:cNvPr>
          <p:cNvSpPr txBox="1"/>
          <p:nvPr/>
        </p:nvSpPr>
        <p:spPr bwMode="gray">
          <a:xfrm rot="19321794">
            <a:off x="3372283" y="4646486"/>
            <a:ext cx="902811" cy="307777"/>
          </a:xfrm>
          <a:prstGeom prst="rect">
            <a:avLst/>
          </a:prstGeom>
          <a:noFill/>
        </p:spPr>
        <p:txBody>
          <a:bodyPr wrap="none" rtlCol="0">
            <a:spAutoFit/>
          </a:bodyPr>
          <a:lstStyle/>
          <a:p>
            <a:r>
              <a:rPr lang="zh-CN" altLang="en-US" sz="1400" dirty="0"/>
              <a:t>主用隧道</a:t>
            </a:r>
            <a:endParaRPr lang="en-US" sz="1400" dirty="0"/>
          </a:p>
        </p:txBody>
      </p:sp>
      <p:sp>
        <p:nvSpPr>
          <p:cNvPr id="110" name="TextBox 109">
            <a:extLst>
              <a:ext uri="{FF2B5EF4-FFF2-40B4-BE49-F238E27FC236}">
                <a16:creationId xmlns="" xmlns:a16="http://schemas.microsoft.com/office/drawing/2014/main" id="{C92F5A75-3967-4576-BFC0-F7DDCF003537}"/>
              </a:ext>
            </a:extLst>
          </p:cNvPr>
          <p:cNvSpPr txBox="1"/>
          <p:nvPr/>
        </p:nvSpPr>
        <p:spPr bwMode="gray">
          <a:xfrm rot="2249802">
            <a:off x="3370909" y="5576037"/>
            <a:ext cx="928459" cy="307777"/>
          </a:xfrm>
          <a:prstGeom prst="rect">
            <a:avLst/>
          </a:prstGeom>
          <a:noFill/>
        </p:spPr>
        <p:txBody>
          <a:bodyPr wrap="none" rtlCol="0">
            <a:spAutoFit/>
          </a:bodyPr>
          <a:lstStyle/>
          <a:p>
            <a:r>
              <a:rPr lang="zh-CN" altLang="en-US" sz="1400" dirty="0"/>
              <a:t>逃生隧道</a:t>
            </a:r>
            <a:endParaRPr lang="en-US" sz="1400" dirty="0"/>
          </a:p>
        </p:txBody>
      </p:sp>
    </p:spTree>
    <p:extLst>
      <p:ext uri="{BB962C8B-B14F-4D97-AF65-F5344CB8AC3E}">
        <p14:creationId xmlns:p14="http://schemas.microsoft.com/office/powerpoint/2010/main" val="63839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FEBCB7-E8CA-4A7A-935D-6C23D3965EF9}"/>
              </a:ext>
            </a:extLst>
          </p:cNvPr>
          <p:cNvSpPr>
            <a:spLocks noGrp="1"/>
          </p:cNvSpPr>
          <p:nvPr>
            <p:ph type="title"/>
          </p:nvPr>
        </p:nvSpPr>
        <p:spPr bwMode="gray"/>
        <p:txBody>
          <a:bodyPr/>
          <a:lstStyle/>
          <a:p>
            <a:r>
              <a:rPr lang="en-US" dirty="0"/>
              <a:t>SR</a:t>
            </a:r>
            <a:r>
              <a:rPr lang="en-US" altLang="zh-CN" dirty="0"/>
              <a:t>v6</a:t>
            </a:r>
            <a:r>
              <a:rPr lang="zh-CN" altLang="en-US" dirty="0"/>
              <a:t>隧道设计</a:t>
            </a:r>
            <a:endParaRPr lang="en-US" dirty="0"/>
          </a:p>
        </p:txBody>
      </p:sp>
      <p:sp>
        <p:nvSpPr>
          <p:cNvPr id="4" name="五边形 2">
            <a:extLst>
              <a:ext uri="{FF2B5EF4-FFF2-40B4-BE49-F238E27FC236}">
                <a16:creationId xmlns="" xmlns:a16="http://schemas.microsoft.com/office/drawing/2014/main" id="{31950D92-B3A1-434A-897E-DBEC64DD368C}"/>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0E238582-F39A-4794-91E0-F0823AC81A46}"/>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3A413913-47F6-44B7-8C56-97AF2AAA5337}"/>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 Placeholder 7">
            <a:extLst>
              <a:ext uri="{FF2B5EF4-FFF2-40B4-BE49-F238E27FC236}">
                <a16:creationId xmlns="" xmlns:a16="http://schemas.microsoft.com/office/drawing/2014/main" id="{417F1E84-8F63-449C-A04C-87C9820B7DF7}"/>
              </a:ext>
            </a:extLst>
          </p:cNvPr>
          <p:cNvSpPr>
            <a:spLocks noGrp="1"/>
          </p:cNvSpPr>
          <p:nvPr>
            <p:ph type="body" sz="quarter" idx="10"/>
          </p:nvPr>
        </p:nvSpPr>
        <p:spPr bwMode="gray">
          <a:xfrm>
            <a:off x="455612" y="1047750"/>
            <a:ext cx="11293475" cy="2312221"/>
          </a:xfrm>
        </p:spPr>
        <p:txBody>
          <a:bodyPr/>
          <a:lstStyle/>
          <a:p>
            <a:r>
              <a:rPr lang="en-US" altLang="zh-CN" sz="1800" dirty="0"/>
              <a:t>SRv6 BE</a:t>
            </a:r>
            <a:r>
              <a:rPr lang="zh-CN" altLang="en-US" sz="1800" dirty="0"/>
              <a:t>是按照路由协议最优路径进行流量转发，适合对路径</a:t>
            </a:r>
            <a:r>
              <a:rPr lang="en-US" altLang="zh-CN" sz="1800" dirty="0"/>
              <a:t>SLA</a:t>
            </a:r>
            <a:r>
              <a:rPr lang="zh-CN" altLang="en-US" sz="1800" dirty="0"/>
              <a:t>要求较低的业务。对路径</a:t>
            </a:r>
            <a:r>
              <a:rPr lang="en-US" altLang="zh-CN" sz="1800" dirty="0"/>
              <a:t>SLA</a:t>
            </a:r>
            <a:r>
              <a:rPr lang="zh-CN" altLang="en-US" sz="1800" dirty="0"/>
              <a:t>要求较高的业务，则需要用</a:t>
            </a:r>
            <a:r>
              <a:rPr lang="en-US" altLang="zh-CN" sz="1800" dirty="0"/>
              <a:t>SRv6 Policy</a:t>
            </a:r>
            <a:r>
              <a:rPr lang="zh-CN" altLang="en-US" sz="1800" dirty="0"/>
              <a:t>，通过控制器进行约束算路，来保障业务的</a:t>
            </a:r>
            <a:r>
              <a:rPr lang="en-US" altLang="zh-CN" sz="1800" dirty="0"/>
              <a:t>SLA</a:t>
            </a:r>
            <a:r>
              <a:rPr lang="zh-CN" altLang="en-US" sz="1800" dirty="0"/>
              <a:t>。</a:t>
            </a:r>
            <a:endParaRPr lang="en-US" altLang="zh-CN" sz="1800" dirty="0"/>
          </a:p>
          <a:p>
            <a:r>
              <a:rPr lang="en-US" altLang="zh-CN" sz="1800" dirty="0"/>
              <a:t>SRv6 Policy</a:t>
            </a:r>
            <a:r>
              <a:rPr lang="zh-CN" altLang="en-US" sz="1800" dirty="0"/>
              <a:t>隧道部署方式设计与流量引入方式设计与</a:t>
            </a:r>
            <a:r>
              <a:rPr lang="en-US" altLang="zh-CN" sz="1800" dirty="0"/>
              <a:t>SR-MPLS Policy</a:t>
            </a:r>
            <a:r>
              <a:rPr lang="zh-CN" altLang="en-US" sz="1800" dirty="0"/>
              <a:t>类似。</a:t>
            </a:r>
            <a:endParaRPr lang="en-US" altLang="zh-CN" sz="1800" dirty="0"/>
          </a:p>
          <a:p>
            <a:pPr lvl="1"/>
            <a:r>
              <a:rPr lang="zh-CN" altLang="en-US" sz="1600" dirty="0"/>
              <a:t>对于企业承载网推荐部署端到端的</a:t>
            </a:r>
            <a:r>
              <a:rPr lang="en-US" altLang="zh-CN" sz="1600" dirty="0"/>
              <a:t>SRv6</a:t>
            </a:r>
            <a:r>
              <a:rPr lang="zh-CN" altLang="en-US" sz="1600" dirty="0"/>
              <a:t>隧道，便于监控与运维。</a:t>
            </a:r>
            <a:endParaRPr lang="en-US" altLang="zh-CN" sz="1600" dirty="0"/>
          </a:p>
          <a:p>
            <a:pPr lvl="1"/>
            <a:r>
              <a:rPr lang="en-US" altLang="zh-CN" sz="1600" dirty="0"/>
              <a:t>SRv6</a:t>
            </a:r>
            <a:r>
              <a:rPr lang="zh-CN" altLang="en-US" sz="1600" dirty="0"/>
              <a:t>流量引入方式有基于</a:t>
            </a:r>
            <a:r>
              <a:rPr lang="en-US" altLang="zh-CN" sz="1600" dirty="0"/>
              <a:t>Color</a:t>
            </a:r>
            <a:r>
              <a:rPr lang="zh-CN" altLang="en-US" sz="1600" dirty="0"/>
              <a:t>和基于</a:t>
            </a:r>
            <a:r>
              <a:rPr lang="en-US" altLang="zh-CN" sz="1600" dirty="0"/>
              <a:t>DSCP</a:t>
            </a:r>
            <a:r>
              <a:rPr lang="zh-CN" altLang="en-US" sz="1600" dirty="0"/>
              <a:t>两种，其中基于</a:t>
            </a:r>
            <a:r>
              <a:rPr lang="en-US" altLang="zh-CN" sz="1600" dirty="0"/>
              <a:t>DSCP</a:t>
            </a:r>
            <a:r>
              <a:rPr lang="zh-CN" altLang="en-US" sz="1600" dirty="0"/>
              <a:t>的流量引入方式更能保障业务质量。</a:t>
            </a:r>
            <a:endParaRPr lang="en-US" altLang="zh-CN" sz="1600" dirty="0"/>
          </a:p>
          <a:p>
            <a:endParaRPr lang="zh-CN" altLang="en-US" sz="1800" dirty="0"/>
          </a:p>
        </p:txBody>
      </p:sp>
      <p:sp>
        <p:nvSpPr>
          <p:cNvPr id="38" name="圆角矩形 19">
            <a:extLst>
              <a:ext uri="{FF2B5EF4-FFF2-40B4-BE49-F238E27FC236}">
                <a16:creationId xmlns="" xmlns:a16="http://schemas.microsoft.com/office/drawing/2014/main" id="{20C8499F-0657-4639-9B85-104019632B01}"/>
              </a:ext>
            </a:extLst>
          </p:cNvPr>
          <p:cNvSpPr/>
          <p:nvPr/>
        </p:nvSpPr>
        <p:spPr bwMode="gray">
          <a:xfrm>
            <a:off x="536816" y="3315664"/>
            <a:ext cx="5489909"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引流</a:t>
            </a:r>
          </a:p>
        </p:txBody>
      </p:sp>
      <p:sp>
        <p:nvSpPr>
          <p:cNvPr id="39" name="圆角矩形 20">
            <a:extLst>
              <a:ext uri="{FF2B5EF4-FFF2-40B4-BE49-F238E27FC236}">
                <a16:creationId xmlns="" xmlns:a16="http://schemas.microsoft.com/office/drawing/2014/main" id="{B98FE6DF-F258-4369-8FD0-27DBBBFDA744}"/>
              </a:ext>
            </a:extLst>
          </p:cNvPr>
          <p:cNvSpPr/>
          <p:nvPr/>
        </p:nvSpPr>
        <p:spPr bwMode="gray">
          <a:xfrm>
            <a:off x="536816" y="3777080"/>
            <a:ext cx="5489909" cy="24071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19">
            <a:extLst>
              <a:ext uri="{FF2B5EF4-FFF2-40B4-BE49-F238E27FC236}">
                <a16:creationId xmlns="" xmlns:a16="http://schemas.microsoft.com/office/drawing/2014/main" id="{079C194A-AEE2-4B15-B7C6-B515D49A441D}"/>
              </a:ext>
            </a:extLst>
          </p:cNvPr>
          <p:cNvSpPr/>
          <p:nvPr/>
        </p:nvSpPr>
        <p:spPr bwMode="gray">
          <a:xfrm>
            <a:off x="6186006" y="3315664"/>
            <a:ext cx="5489909"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DSCP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引流</a:t>
            </a:r>
          </a:p>
        </p:txBody>
      </p:sp>
      <p:sp>
        <p:nvSpPr>
          <p:cNvPr id="41" name="圆角矩形 20">
            <a:extLst>
              <a:ext uri="{FF2B5EF4-FFF2-40B4-BE49-F238E27FC236}">
                <a16:creationId xmlns="" xmlns:a16="http://schemas.microsoft.com/office/drawing/2014/main" id="{579516F0-7EA1-42B4-8C39-34E836C43F7B}"/>
              </a:ext>
            </a:extLst>
          </p:cNvPr>
          <p:cNvSpPr/>
          <p:nvPr/>
        </p:nvSpPr>
        <p:spPr bwMode="gray">
          <a:xfrm>
            <a:off x="6186006" y="3777080"/>
            <a:ext cx="5489909" cy="24071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48">
            <a:extLst>
              <a:ext uri="{FF2B5EF4-FFF2-40B4-BE49-F238E27FC236}">
                <a16:creationId xmlns="" xmlns:a16="http://schemas.microsoft.com/office/drawing/2014/main" id="{A8EFB40E-6492-42A1-932A-A9A89B3654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40840" y="4676356"/>
            <a:ext cx="378863" cy="310667"/>
          </a:xfrm>
          <a:prstGeom prst="rect">
            <a:avLst/>
          </a:prstGeom>
        </p:spPr>
      </p:pic>
      <p:pic>
        <p:nvPicPr>
          <p:cNvPr id="56" name="图片 48">
            <a:extLst>
              <a:ext uri="{FF2B5EF4-FFF2-40B4-BE49-F238E27FC236}">
                <a16:creationId xmlns="" xmlns:a16="http://schemas.microsoft.com/office/drawing/2014/main" id="{AFAF0AC0-4AEE-4D14-A0DB-4B6F97E76F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21147" y="3966311"/>
            <a:ext cx="378863" cy="310667"/>
          </a:xfrm>
          <a:prstGeom prst="rect">
            <a:avLst/>
          </a:prstGeom>
        </p:spPr>
      </p:pic>
      <p:pic>
        <p:nvPicPr>
          <p:cNvPr id="57" name="图片 48">
            <a:extLst>
              <a:ext uri="{FF2B5EF4-FFF2-40B4-BE49-F238E27FC236}">
                <a16:creationId xmlns="" xmlns:a16="http://schemas.microsoft.com/office/drawing/2014/main" id="{74734367-E263-4A29-969D-17415ECD29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21146" y="5419492"/>
            <a:ext cx="378863" cy="310667"/>
          </a:xfrm>
          <a:prstGeom prst="rect">
            <a:avLst/>
          </a:prstGeom>
        </p:spPr>
      </p:pic>
      <p:pic>
        <p:nvPicPr>
          <p:cNvPr id="58" name="图片 48">
            <a:extLst>
              <a:ext uri="{FF2B5EF4-FFF2-40B4-BE49-F238E27FC236}">
                <a16:creationId xmlns="" xmlns:a16="http://schemas.microsoft.com/office/drawing/2014/main" id="{531FA7D6-B4E5-4711-B3A3-9F1542307F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962580" y="4676355"/>
            <a:ext cx="378863" cy="310667"/>
          </a:xfrm>
          <a:prstGeom prst="rect">
            <a:avLst/>
          </a:prstGeom>
        </p:spPr>
      </p:pic>
      <p:cxnSp>
        <p:nvCxnSpPr>
          <p:cNvPr id="59" name="Straight Connector 58">
            <a:extLst>
              <a:ext uri="{FF2B5EF4-FFF2-40B4-BE49-F238E27FC236}">
                <a16:creationId xmlns="" xmlns:a16="http://schemas.microsoft.com/office/drawing/2014/main" id="{23D2CF3E-21A1-4939-B0DB-9046E9C4C3EC}"/>
              </a:ext>
            </a:extLst>
          </p:cNvPr>
          <p:cNvCxnSpPr>
            <a:cxnSpLocks/>
            <a:stCxn id="42" idx="0"/>
            <a:endCxn id="56" idx="1"/>
          </p:cNvCxnSpPr>
          <p:nvPr/>
        </p:nvCxnSpPr>
        <p:spPr bwMode="gray">
          <a:xfrm flipV="1">
            <a:off x="1830272" y="4121645"/>
            <a:ext cx="990875" cy="5547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 xmlns:a16="http://schemas.microsoft.com/office/drawing/2014/main" id="{26A3ABFA-9096-43F5-9D0A-69142652B884}"/>
              </a:ext>
            </a:extLst>
          </p:cNvPr>
          <p:cNvCxnSpPr>
            <a:cxnSpLocks/>
            <a:stCxn id="42" idx="2"/>
            <a:endCxn id="57" idx="1"/>
          </p:cNvCxnSpPr>
          <p:nvPr/>
        </p:nvCxnSpPr>
        <p:spPr bwMode="gray">
          <a:xfrm>
            <a:off x="1830272" y="4987023"/>
            <a:ext cx="990874" cy="5878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 xmlns:a16="http://schemas.microsoft.com/office/drawing/2014/main" id="{9DCCF891-9ABF-48DA-98B3-A5DE87B296B7}"/>
              </a:ext>
            </a:extLst>
          </p:cNvPr>
          <p:cNvCxnSpPr>
            <a:cxnSpLocks/>
            <a:stCxn id="56" idx="3"/>
            <a:endCxn id="58" idx="0"/>
          </p:cNvCxnSpPr>
          <p:nvPr/>
        </p:nvCxnSpPr>
        <p:spPr bwMode="gray">
          <a:xfrm>
            <a:off x="3200010" y="4121645"/>
            <a:ext cx="952002" cy="55471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 xmlns:a16="http://schemas.microsoft.com/office/drawing/2014/main" id="{EAB86296-3D6C-430F-A4F1-A3527D097D5E}"/>
              </a:ext>
            </a:extLst>
          </p:cNvPr>
          <p:cNvCxnSpPr>
            <a:cxnSpLocks/>
            <a:stCxn id="57" idx="3"/>
            <a:endCxn id="58" idx="2"/>
          </p:cNvCxnSpPr>
          <p:nvPr/>
        </p:nvCxnSpPr>
        <p:spPr bwMode="gray">
          <a:xfrm flipV="1">
            <a:off x="3200009" y="4987022"/>
            <a:ext cx="952003" cy="58780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3" name="图片 48">
            <a:extLst>
              <a:ext uri="{FF2B5EF4-FFF2-40B4-BE49-F238E27FC236}">
                <a16:creationId xmlns="" xmlns:a16="http://schemas.microsoft.com/office/drawing/2014/main" id="{54890EAF-0499-4AC2-A6F8-71BE91D4E3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61768" y="4673420"/>
            <a:ext cx="378863" cy="310667"/>
          </a:xfrm>
          <a:prstGeom prst="rect">
            <a:avLst/>
          </a:prstGeom>
        </p:spPr>
      </p:pic>
      <p:cxnSp>
        <p:nvCxnSpPr>
          <p:cNvPr id="67" name="Straight Connector 66">
            <a:extLst>
              <a:ext uri="{FF2B5EF4-FFF2-40B4-BE49-F238E27FC236}">
                <a16:creationId xmlns="" xmlns:a16="http://schemas.microsoft.com/office/drawing/2014/main" id="{3E777D2C-B5A5-408D-B7D8-13F0A3796AD5}"/>
              </a:ext>
            </a:extLst>
          </p:cNvPr>
          <p:cNvCxnSpPr>
            <a:cxnSpLocks/>
            <a:stCxn id="63" idx="3"/>
            <a:endCxn id="42" idx="1"/>
          </p:cNvCxnSpPr>
          <p:nvPr/>
        </p:nvCxnSpPr>
        <p:spPr bwMode="gray">
          <a:xfrm>
            <a:off x="1140631" y="4828754"/>
            <a:ext cx="500209"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 xmlns:a16="http://schemas.microsoft.com/office/drawing/2014/main" id="{3CBAED83-6906-4180-A389-7AC226F47AC8}"/>
              </a:ext>
            </a:extLst>
          </p:cNvPr>
          <p:cNvCxnSpPr>
            <a:cxnSpLocks/>
            <a:stCxn id="58" idx="3"/>
            <a:endCxn id="69" idx="1"/>
          </p:cNvCxnSpPr>
          <p:nvPr/>
        </p:nvCxnSpPr>
        <p:spPr bwMode="gray">
          <a:xfrm>
            <a:off x="4341443" y="4831689"/>
            <a:ext cx="498825" cy="67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9" name="图片 14" descr="交换机.png">
            <a:extLst>
              <a:ext uri="{FF2B5EF4-FFF2-40B4-BE49-F238E27FC236}">
                <a16:creationId xmlns="" xmlns:a16="http://schemas.microsoft.com/office/drawing/2014/main" id="{3785317F-86C6-403F-9608-1F77E043B65A}"/>
              </a:ext>
            </a:extLst>
          </p:cNvPr>
          <p:cNvPicPr>
            <a:picLocks noChangeAspect="1"/>
          </p:cNvPicPr>
          <p:nvPr/>
        </p:nvPicPr>
        <p:blipFill>
          <a:blip r:embed="rId4" cstate="print"/>
          <a:stretch>
            <a:fillRect/>
          </a:stretch>
        </p:blipFill>
        <p:spPr bwMode="gray">
          <a:xfrm>
            <a:off x="4840268" y="4677694"/>
            <a:ext cx="378070" cy="309329"/>
          </a:xfrm>
          <a:prstGeom prst="rect">
            <a:avLst/>
          </a:prstGeom>
        </p:spPr>
      </p:pic>
      <p:sp>
        <p:nvSpPr>
          <p:cNvPr id="77" name="圆角矩形 75">
            <a:extLst>
              <a:ext uri="{FF2B5EF4-FFF2-40B4-BE49-F238E27FC236}">
                <a16:creationId xmlns="" xmlns:a16="http://schemas.microsoft.com/office/drawing/2014/main" id="{27C8F495-371A-4149-9BAC-7157727D4008}"/>
              </a:ext>
            </a:extLst>
          </p:cNvPr>
          <p:cNvSpPr/>
          <p:nvPr/>
        </p:nvSpPr>
        <p:spPr bwMode="gray">
          <a:xfrm>
            <a:off x="5155982" y="4516695"/>
            <a:ext cx="608250"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86" name="圆角矩形 75">
            <a:extLst>
              <a:ext uri="{FF2B5EF4-FFF2-40B4-BE49-F238E27FC236}">
                <a16:creationId xmlns="" xmlns:a16="http://schemas.microsoft.com/office/drawing/2014/main" id="{D094A222-D250-4BD0-9E19-44210E409702}"/>
              </a:ext>
            </a:extLst>
          </p:cNvPr>
          <p:cNvSpPr/>
          <p:nvPr/>
        </p:nvSpPr>
        <p:spPr bwMode="gray">
          <a:xfrm>
            <a:off x="5147056" y="4827379"/>
            <a:ext cx="697626"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87" name="Freeform: Shape 86">
            <a:extLst>
              <a:ext uri="{FF2B5EF4-FFF2-40B4-BE49-F238E27FC236}">
                <a16:creationId xmlns="" xmlns:a16="http://schemas.microsoft.com/office/drawing/2014/main" id="{FE6500B6-EEFE-4700-8B0D-041857487ECA}"/>
              </a:ext>
            </a:extLst>
          </p:cNvPr>
          <p:cNvSpPr/>
          <p:nvPr/>
        </p:nvSpPr>
        <p:spPr bwMode="gray">
          <a:xfrm>
            <a:off x="761768" y="4282570"/>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图片 48">
            <a:extLst>
              <a:ext uri="{FF2B5EF4-FFF2-40B4-BE49-F238E27FC236}">
                <a16:creationId xmlns="" xmlns:a16="http://schemas.microsoft.com/office/drawing/2014/main" id="{CBB3A774-D28D-4A5C-BC18-909CEBCBEB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24104" y="4657820"/>
            <a:ext cx="378863" cy="310667"/>
          </a:xfrm>
          <a:prstGeom prst="rect">
            <a:avLst/>
          </a:prstGeom>
        </p:spPr>
      </p:pic>
      <p:pic>
        <p:nvPicPr>
          <p:cNvPr id="89" name="图片 48">
            <a:extLst>
              <a:ext uri="{FF2B5EF4-FFF2-40B4-BE49-F238E27FC236}">
                <a16:creationId xmlns="" xmlns:a16="http://schemas.microsoft.com/office/drawing/2014/main" id="{2D4F3FDD-A9B9-48F0-A179-5B284995C9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04411" y="3947775"/>
            <a:ext cx="378863" cy="310667"/>
          </a:xfrm>
          <a:prstGeom prst="rect">
            <a:avLst/>
          </a:prstGeom>
        </p:spPr>
      </p:pic>
      <p:pic>
        <p:nvPicPr>
          <p:cNvPr id="90" name="图片 48">
            <a:extLst>
              <a:ext uri="{FF2B5EF4-FFF2-40B4-BE49-F238E27FC236}">
                <a16:creationId xmlns="" xmlns:a16="http://schemas.microsoft.com/office/drawing/2014/main" id="{3E571753-4A41-411D-9D94-46F3ABB640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04410" y="5400956"/>
            <a:ext cx="378863" cy="310667"/>
          </a:xfrm>
          <a:prstGeom prst="rect">
            <a:avLst/>
          </a:prstGeom>
        </p:spPr>
      </p:pic>
      <p:pic>
        <p:nvPicPr>
          <p:cNvPr id="91" name="图片 48">
            <a:extLst>
              <a:ext uri="{FF2B5EF4-FFF2-40B4-BE49-F238E27FC236}">
                <a16:creationId xmlns="" xmlns:a16="http://schemas.microsoft.com/office/drawing/2014/main" id="{20C2BA72-C02D-493D-8F5B-1537A2B0CA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645844" y="4657819"/>
            <a:ext cx="378863" cy="310667"/>
          </a:xfrm>
          <a:prstGeom prst="rect">
            <a:avLst/>
          </a:prstGeom>
        </p:spPr>
      </p:pic>
      <p:cxnSp>
        <p:nvCxnSpPr>
          <p:cNvPr id="92" name="Straight Connector 91">
            <a:extLst>
              <a:ext uri="{FF2B5EF4-FFF2-40B4-BE49-F238E27FC236}">
                <a16:creationId xmlns="" xmlns:a16="http://schemas.microsoft.com/office/drawing/2014/main" id="{256C8621-7C12-4AA5-860E-ADDE9746E632}"/>
              </a:ext>
            </a:extLst>
          </p:cNvPr>
          <p:cNvCxnSpPr>
            <a:cxnSpLocks/>
            <a:stCxn id="88" idx="0"/>
            <a:endCxn id="89" idx="1"/>
          </p:cNvCxnSpPr>
          <p:nvPr/>
        </p:nvCxnSpPr>
        <p:spPr bwMode="gray">
          <a:xfrm flipV="1">
            <a:off x="7513536" y="4103109"/>
            <a:ext cx="990875" cy="5547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 xmlns:a16="http://schemas.microsoft.com/office/drawing/2014/main" id="{027AE510-0849-4E5C-8125-75805B860879}"/>
              </a:ext>
            </a:extLst>
          </p:cNvPr>
          <p:cNvCxnSpPr>
            <a:cxnSpLocks/>
            <a:stCxn id="88" idx="2"/>
            <a:endCxn id="90" idx="1"/>
          </p:cNvCxnSpPr>
          <p:nvPr/>
        </p:nvCxnSpPr>
        <p:spPr bwMode="gray">
          <a:xfrm>
            <a:off x="7513536" y="4968487"/>
            <a:ext cx="990874" cy="58780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 xmlns:a16="http://schemas.microsoft.com/office/drawing/2014/main" id="{55FE774D-BE45-4D1F-AE01-AF2249B092BE}"/>
              </a:ext>
            </a:extLst>
          </p:cNvPr>
          <p:cNvCxnSpPr>
            <a:cxnSpLocks/>
            <a:stCxn id="89" idx="3"/>
            <a:endCxn id="91" idx="0"/>
          </p:cNvCxnSpPr>
          <p:nvPr/>
        </p:nvCxnSpPr>
        <p:spPr bwMode="gray">
          <a:xfrm>
            <a:off x="8883274" y="4103109"/>
            <a:ext cx="952002" cy="55471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8959D03F-8560-4830-9220-17958D0F5310}"/>
              </a:ext>
            </a:extLst>
          </p:cNvPr>
          <p:cNvCxnSpPr>
            <a:cxnSpLocks/>
            <a:stCxn id="90" idx="3"/>
            <a:endCxn id="91" idx="2"/>
          </p:cNvCxnSpPr>
          <p:nvPr/>
        </p:nvCxnSpPr>
        <p:spPr bwMode="gray">
          <a:xfrm flipV="1">
            <a:off x="8883273" y="4968486"/>
            <a:ext cx="952003" cy="58780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6" name="图片 48">
            <a:extLst>
              <a:ext uri="{FF2B5EF4-FFF2-40B4-BE49-F238E27FC236}">
                <a16:creationId xmlns="" xmlns:a16="http://schemas.microsoft.com/office/drawing/2014/main" id="{ABDBC436-9987-4B60-A557-FAF582DB57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45032" y="4654884"/>
            <a:ext cx="378863" cy="310667"/>
          </a:xfrm>
          <a:prstGeom prst="rect">
            <a:avLst/>
          </a:prstGeom>
        </p:spPr>
      </p:pic>
      <p:cxnSp>
        <p:nvCxnSpPr>
          <p:cNvPr id="97" name="Straight Connector 96">
            <a:extLst>
              <a:ext uri="{FF2B5EF4-FFF2-40B4-BE49-F238E27FC236}">
                <a16:creationId xmlns="" xmlns:a16="http://schemas.microsoft.com/office/drawing/2014/main" id="{990257A1-F3FB-40D8-8198-8055673D32A1}"/>
              </a:ext>
            </a:extLst>
          </p:cNvPr>
          <p:cNvCxnSpPr>
            <a:cxnSpLocks/>
            <a:stCxn id="96" idx="3"/>
            <a:endCxn id="88" idx="1"/>
          </p:cNvCxnSpPr>
          <p:nvPr/>
        </p:nvCxnSpPr>
        <p:spPr bwMode="gray">
          <a:xfrm>
            <a:off x="6823895" y="4810218"/>
            <a:ext cx="500209" cy="293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 xmlns:a16="http://schemas.microsoft.com/office/drawing/2014/main" id="{A825570E-CBA4-4A31-93B3-32C1ED1F1EEC}"/>
              </a:ext>
            </a:extLst>
          </p:cNvPr>
          <p:cNvCxnSpPr>
            <a:cxnSpLocks/>
            <a:stCxn id="91" idx="3"/>
            <a:endCxn id="99" idx="1"/>
          </p:cNvCxnSpPr>
          <p:nvPr/>
        </p:nvCxnSpPr>
        <p:spPr bwMode="gray">
          <a:xfrm>
            <a:off x="10024707" y="4813153"/>
            <a:ext cx="498825" cy="67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9" name="图片 14" descr="交换机.png">
            <a:extLst>
              <a:ext uri="{FF2B5EF4-FFF2-40B4-BE49-F238E27FC236}">
                <a16:creationId xmlns="" xmlns:a16="http://schemas.microsoft.com/office/drawing/2014/main" id="{035954E8-C5D9-4EB1-8CA8-59ACA33D7240}"/>
              </a:ext>
            </a:extLst>
          </p:cNvPr>
          <p:cNvPicPr>
            <a:picLocks noChangeAspect="1"/>
          </p:cNvPicPr>
          <p:nvPr/>
        </p:nvPicPr>
        <p:blipFill>
          <a:blip r:embed="rId4" cstate="print"/>
          <a:stretch>
            <a:fillRect/>
          </a:stretch>
        </p:blipFill>
        <p:spPr bwMode="gray">
          <a:xfrm>
            <a:off x="10523532" y="4659158"/>
            <a:ext cx="378070" cy="309329"/>
          </a:xfrm>
          <a:prstGeom prst="rect">
            <a:avLst/>
          </a:prstGeom>
        </p:spPr>
      </p:pic>
      <p:sp>
        <p:nvSpPr>
          <p:cNvPr id="100" name="圆角矩形 75">
            <a:extLst>
              <a:ext uri="{FF2B5EF4-FFF2-40B4-BE49-F238E27FC236}">
                <a16:creationId xmlns="" xmlns:a16="http://schemas.microsoft.com/office/drawing/2014/main" id="{A0A74C71-2FEE-440F-BF4E-A86EA0BD559D}"/>
              </a:ext>
            </a:extLst>
          </p:cNvPr>
          <p:cNvSpPr/>
          <p:nvPr/>
        </p:nvSpPr>
        <p:spPr bwMode="gray">
          <a:xfrm>
            <a:off x="10879888" y="4526026"/>
            <a:ext cx="608250"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101" name="圆角矩形 75">
            <a:extLst>
              <a:ext uri="{FF2B5EF4-FFF2-40B4-BE49-F238E27FC236}">
                <a16:creationId xmlns="" xmlns:a16="http://schemas.microsoft.com/office/drawing/2014/main" id="{A2B4CA79-AB7D-4E78-AA2A-0E0F04C6880C}"/>
              </a:ext>
            </a:extLst>
          </p:cNvPr>
          <p:cNvSpPr/>
          <p:nvPr/>
        </p:nvSpPr>
        <p:spPr bwMode="gray">
          <a:xfrm>
            <a:off x="10876056" y="4834889"/>
            <a:ext cx="697626"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p>
        </p:txBody>
      </p:sp>
      <p:sp>
        <p:nvSpPr>
          <p:cNvPr id="102" name="Freeform: Shape 101">
            <a:extLst>
              <a:ext uri="{FF2B5EF4-FFF2-40B4-BE49-F238E27FC236}">
                <a16:creationId xmlns="" xmlns:a16="http://schemas.microsoft.com/office/drawing/2014/main" id="{37CE4FF5-28A0-4724-8A75-F8089E4629EC}"/>
              </a:ext>
            </a:extLst>
          </p:cNvPr>
          <p:cNvSpPr/>
          <p:nvPr/>
        </p:nvSpPr>
        <p:spPr bwMode="gray">
          <a:xfrm flipV="1">
            <a:off x="6455856" y="4882610"/>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reeform: Shape 102">
            <a:extLst>
              <a:ext uri="{FF2B5EF4-FFF2-40B4-BE49-F238E27FC236}">
                <a16:creationId xmlns="" xmlns:a16="http://schemas.microsoft.com/office/drawing/2014/main" id="{0141212F-208E-4A8F-955A-1E8DE2226C69}"/>
              </a:ext>
            </a:extLst>
          </p:cNvPr>
          <p:cNvSpPr/>
          <p:nvPr/>
        </p:nvSpPr>
        <p:spPr bwMode="gray">
          <a:xfrm>
            <a:off x="779967" y="4098719"/>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reeform: Shape 103">
            <a:extLst>
              <a:ext uri="{FF2B5EF4-FFF2-40B4-BE49-F238E27FC236}">
                <a16:creationId xmlns="" xmlns:a16="http://schemas.microsoft.com/office/drawing/2014/main" id="{A56AB67E-1A54-488B-98AD-4BCE23590D0A}"/>
              </a:ext>
            </a:extLst>
          </p:cNvPr>
          <p:cNvSpPr/>
          <p:nvPr/>
        </p:nvSpPr>
        <p:spPr bwMode="gray">
          <a:xfrm>
            <a:off x="6456813" y="4060970"/>
            <a:ext cx="4446703" cy="610728"/>
          </a:xfrm>
          <a:custGeom>
            <a:avLst/>
            <a:gdLst>
              <a:gd name="connsiteX0" fmla="*/ 0 w 4395788"/>
              <a:gd name="connsiteY0" fmla="*/ 595316 h 610728"/>
              <a:gd name="connsiteX1" fmla="*/ 957263 w 4395788"/>
              <a:gd name="connsiteY1" fmla="*/ 538166 h 610728"/>
              <a:gd name="connsiteX2" fmla="*/ 2185988 w 4395788"/>
              <a:gd name="connsiteY2" fmla="*/ 4 h 610728"/>
              <a:gd name="connsiteX3" fmla="*/ 3367088 w 4395788"/>
              <a:gd name="connsiteY3" fmla="*/ 528641 h 610728"/>
              <a:gd name="connsiteX4" fmla="*/ 4395788 w 4395788"/>
              <a:gd name="connsiteY4" fmla="*/ 590554 h 610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5788" h="610728">
                <a:moveTo>
                  <a:pt x="0" y="595316"/>
                </a:moveTo>
                <a:cubicBezTo>
                  <a:pt x="299244" y="611191"/>
                  <a:pt x="592932" y="637385"/>
                  <a:pt x="957263" y="538166"/>
                </a:cubicBezTo>
                <a:cubicBezTo>
                  <a:pt x="1321594" y="438947"/>
                  <a:pt x="1784351" y="1591"/>
                  <a:pt x="2185988" y="4"/>
                </a:cubicBezTo>
                <a:cubicBezTo>
                  <a:pt x="2587626" y="-1584"/>
                  <a:pt x="2998788" y="430216"/>
                  <a:pt x="3367088" y="528641"/>
                </a:cubicBezTo>
                <a:cubicBezTo>
                  <a:pt x="3735388" y="627066"/>
                  <a:pt x="4065588" y="608810"/>
                  <a:pt x="4395788" y="590554"/>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圆角矩形 75">
            <a:extLst>
              <a:ext uri="{FF2B5EF4-FFF2-40B4-BE49-F238E27FC236}">
                <a16:creationId xmlns="" xmlns:a16="http://schemas.microsoft.com/office/drawing/2014/main" id="{C80FA021-E656-495B-A67F-C5E28A8AC461}"/>
              </a:ext>
            </a:extLst>
          </p:cNvPr>
          <p:cNvSpPr/>
          <p:nvPr/>
        </p:nvSpPr>
        <p:spPr bwMode="gray">
          <a:xfrm>
            <a:off x="1502083" y="3900859"/>
            <a:ext cx="3130687"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6" name="TextBox 271">
            <a:extLst>
              <a:ext uri="{FF2B5EF4-FFF2-40B4-BE49-F238E27FC236}">
                <a16:creationId xmlns="" xmlns:a16="http://schemas.microsoft.com/office/drawing/2014/main" id="{2F2C1B8A-5CC5-4248-9528-68F71048CA1C}"/>
              </a:ext>
            </a:extLst>
          </p:cNvPr>
          <p:cNvSpPr txBox="1"/>
          <p:nvPr/>
        </p:nvSpPr>
        <p:spPr bwMode="gray">
          <a:xfrm rot="5400000">
            <a:off x="4414193" y="5243696"/>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107" name="圆角矩形 75">
            <a:extLst>
              <a:ext uri="{FF2B5EF4-FFF2-40B4-BE49-F238E27FC236}">
                <a16:creationId xmlns="" xmlns:a16="http://schemas.microsoft.com/office/drawing/2014/main" id="{7B01345F-72CF-4BBF-8B98-3498067E2164}"/>
              </a:ext>
            </a:extLst>
          </p:cNvPr>
          <p:cNvSpPr/>
          <p:nvPr/>
        </p:nvSpPr>
        <p:spPr bwMode="gray">
          <a:xfrm>
            <a:off x="7016767" y="3871796"/>
            <a:ext cx="3130687" cy="190939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ctr" defTabSz="914400" eaLnBrk="1" fontAlgn="ctr" latinLnBrk="0" hangingPunct="1">
              <a:lnSpc>
                <a:spcPts val="1800"/>
              </a:lnSpc>
              <a:spcBef>
                <a:spcPts val="0"/>
              </a:spcBef>
              <a:spcAft>
                <a:spcPts val="300"/>
              </a:spcAft>
              <a:buClrTx/>
              <a:buSzTx/>
              <a:buFontTx/>
              <a:buNone/>
              <a:tabLst/>
              <a:defRPr/>
            </a:pPr>
            <a:endParaRPr kumimoji="0" lang="en-US" altLang="zh-CN"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8" name="TextBox 271">
            <a:extLst>
              <a:ext uri="{FF2B5EF4-FFF2-40B4-BE49-F238E27FC236}">
                <a16:creationId xmlns="" xmlns:a16="http://schemas.microsoft.com/office/drawing/2014/main" id="{0C569AA2-D59D-449D-8E17-173CF7BC7F73}"/>
              </a:ext>
            </a:extLst>
          </p:cNvPr>
          <p:cNvSpPr txBox="1"/>
          <p:nvPr/>
        </p:nvSpPr>
        <p:spPr bwMode="gray">
          <a:xfrm rot="5400000">
            <a:off x="9928877" y="5214633"/>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47" name="圆角矩形 20">
            <a:extLst>
              <a:ext uri="{FF2B5EF4-FFF2-40B4-BE49-F238E27FC236}">
                <a16:creationId xmlns="" xmlns:a16="http://schemas.microsoft.com/office/drawing/2014/main" id="{E62EF821-3B38-40E1-93D9-FC4EB933D7B4}"/>
              </a:ext>
            </a:extLst>
          </p:cNvPr>
          <p:cNvSpPr/>
          <p:nvPr/>
        </p:nvSpPr>
        <p:spPr bwMode="gray">
          <a:xfrm>
            <a:off x="6186006" y="5790013"/>
            <a:ext cx="5489909" cy="404313"/>
          </a:xfrm>
          <a:prstGeom prst="roundRect">
            <a:avLst>
              <a:gd name="adj" fmla="val 2222"/>
            </a:avLst>
          </a:prstGeom>
          <a:noFill/>
          <a:ln w="1270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DSCP</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引流能更好地保障业务的质量。</a:t>
            </a: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20731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FEBCB7-E8CA-4A7A-935D-6C23D3965EF9}"/>
              </a:ext>
            </a:extLst>
          </p:cNvPr>
          <p:cNvSpPr>
            <a:spLocks noGrp="1"/>
          </p:cNvSpPr>
          <p:nvPr>
            <p:ph type="title"/>
          </p:nvPr>
        </p:nvSpPr>
        <p:spPr bwMode="gray"/>
        <p:txBody>
          <a:bodyPr/>
          <a:lstStyle/>
          <a:p>
            <a:r>
              <a:rPr lang="en-US" dirty="0"/>
              <a:t>SR</a:t>
            </a:r>
            <a:r>
              <a:rPr lang="en-US" altLang="zh-CN" dirty="0"/>
              <a:t>v6</a:t>
            </a:r>
            <a:r>
              <a:rPr lang="en-US" dirty="0"/>
              <a:t> P</a:t>
            </a:r>
            <a:r>
              <a:rPr lang="en-US" altLang="zh-CN" dirty="0"/>
              <a:t>olicy</a:t>
            </a:r>
            <a:r>
              <a:rPr lang="zh-CN" altLang="en-US" dirty="0"/>
              <a:t>路径规划</a:t>
            </a:r>
            <a:endParaRPr lang="en-US" dirty="0"/>
          </a:p>
        </p:txBody>
      </p:sp>
      <p:sp>
        <p:nvSpPr>
          <p:cNvPr id="4" name="五边形 2">
            <a:extLst>
              <a:ext uri="{FF2B5EF4-FFF2-40B4-BE49-F238E27FC236}">
                <a16:creationId xmlns="" xmlns:a16="http://schemas.microsoft.com/office/drawing/2014/main" id="{31950D92-B3A1-434A-897E-DBEC64DD368C}"/>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0E238582-F39A-4794-91E0-F0823AC81A46}"/>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3A413913-47F6-44B7-8C56-97AF2AAA5337}"/>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 Placeholder 7">
            <a:extLst>
              <a:ext uri="{FF2B5EF4-FFF2-40B4-BE49-F238E27FC236}">
                <a16:creationId xmlns="" xmlns:a16="http://schemas.microsoft.com/office/drawing/2014/main" id="{417F1E84-8F63-449C-A04C-87C9820B7DF7}"/>
              </a:ext>
            </a:extLst>
          </p:cNvPr>
          <p:cNvSpPr>
            <a:spLocks noGrp="1"/>
          </p:cNvSpPr>
          <p:nvPr>
            <p:ph type="body" sz="quarter" idx="10"/>
          </p:nvPr>
        </p:nvSpPr>
        <p:spPr bwMode="gray">
          <a:xfrm>
            <a:off x="455612" y="1047751"/>
            <a:ext cx="11293475" cy="2777346"/>
          </a:xfrm>
        </p:spPr>
        <p:txBody>
          <a:bodyPr/>
          <a:lstStyle/>
          <a:p>
            <a:r>
              <a:rPr lang="en-US" sz="1800" dirty="0"/>
              <a:t>SR</a:t>
            </a:r>
            <a:r>
              <a:rPr lang="en-US" altLang="zh-CN" sz="1800" dirty="0"/>
              <a:t>v6</a:t>
            </a:r>
            <a:r>
              <a:rPr lang="en-US" sz="1800" dirty="0"/>
              <a:t> P</a:t>
            </a:r>
            <a:r>
              <a:rPr lang="en-US" altLang="zh-CN" sz="1800" dirty="0"/>
              <a:t>olicy</a:t>
            </a:r>
            <a:r>
              <a:rPr lang="zh-CN" altLang="en-US" sz="1800" dirty="0"/>
              <a:t>可基于带宽，时延，路径分离等规划路径。</a:t>
            </a:r>
            <a:endParaRPr lang="en-US" altLang="zh-CN" sz="1800" dirty="0"/>
          </a:p>
          <a:p>
            <a:pPr lvl="1"/>
            <a:r>
              <a:rPr lang="zh-CN" altLang="en-US" sz="1600" dirty="0"/>
              <a:t>当基于带宽规划路径时需要预先设定各接口最大可用带宽。</a:t>
            </a:r>
            <a:endParaRPr lang="en-US" altLang="zh-CN" sz="1600" dirty="0"/>
          </a:p>
          <a:p>
            <a:pPr lvl="1"/>
            <a:r>
              <a:rPr lang="zh-CN" altLang="en-US" sz="1600" dirty="0"/>
              <a:t>当基于时延规划路径时需要预先部署</a:t>
            </a:r>
            <a:r>
              <a:rPr lang="en-US" altLang="zh-CN" sz="1600" dirty="0"/>
              <a:t>TWAMP</a:t>
            </a:r>
            <a:r>
              <a:rPr lang="zh-CN" altLang="en-US" sz="1600" dirty="0"/>
              <a:t>或</a:t>
            </a:r>
            <a:r>
              <a:rPr lang="en-US" altLang="zh-CN" sz="1600" dirty="0"/>
              <a:t>IFIT</a:t>
            </a:r>
            <a:r>
              <a:rPr lang="zh-CN" altLang="en-US" sz="1600" dirty="0"/>
              <a:t>用于感知网络实时时延。</a:t>
            </a:r>
            <a:endParaRPr lang="en-US" altLang="zh-CN" sz="1600" dirty="0"/>
          </a:p>
          <a:p>
            <a:r>
              <a:rPr lang="zh-CN" altLang="en-US" sz="1800" dirty="0"/>
              <a:t>使用控制器或静态配置规划</a:t>
            </a:r>
            <a:r>
              <a:rPr lang="en-US" altLang="zh-CN" sz="1800" dirty="0"/>
              <a:t>SRv6 Policy</a:t>
            </a:r>
            <a:r>
              <a:rPr lang="zh-CN" altLang="en-US" sz="1800" dirty="0"/>
              <a:t>路径时，有两种模式可选：</a:t>
            </a:r>
            <a:endParaRPr lang="en-US" altLang="zh-CN" sz="1800" dirty="0"/>
          </a:p>
          <a:p>
            <a:pPr lvl="1"/>
            <a:r>
              <a:rPr lang="zh-CN" altLang="en-US" sz="1600" dirty="0"/>
              <a:t>单候选路径多分段路径</a:t>
            </a:r>
            <a:endParaRPr lang="en-US" altLang="zh-CN" sz="1600" dirty="0"/>
          </a:p>
          <a:p>
            <a:pPr lvl="1"/>
            <a:r>
              <a:rPr lang="zh-CN" altLang="en-US" sz="1600" dirty="0"/>
              <a:t>多候选路径单分段路径</a:t>
            </a:r>
            <a:endParaRPr lang="en-US" altLang="zh-CN" sz="1600" dirty="0"/>
          </a:p>
        </p:txBody>
      </p:sp>
      <p:sp>
        <p:nvSpPr>
          <p:cNvPr id="19" name="矩形 5">
            <a:extLst>
              <a:ext uri="{FF2B5EF4-FFF2-40B4-BE49-F238E27FC236}">
                <a16:creationId xmlns="" xmlns:a16="http://schemas.microsoft.com/office/drawing/2014/main" id="{6453D01E-E0FC-4DF9-99DA-DA78031D0CCA}"/>
              </a:ext>
            </a:extLst>
          </p:cNvPr>
          <p:cNvSpPr/>
          <p:nvPr/>
        </p:nvSpPr>
        <p:spPr bwMode="gray">
          <a:xfrm>
            <a:off x="897999" y="5039522"/>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6">
            <a:extLst>
              <a:ext uri="{FF2B5EF4-FFF2-40B4-BE49-F238E27FC236}">
                <a16:creationId xmlns="" xmlns:a16="http://schemas.microsoft.com/office/drawing/2014/main" id="{39F0D084-3FB9-4AF3-920C-9221036F1986}"/>
              </a:ext>
            </a:extLst>
          </p:cNvPr>
          <p:cNvSpPr/>
          <p:nvPr/>
        </p:nvSpPr>
        <p:spPr bwMode="gray">
          <a:xfrm>
            <a:off x="2488005" y="4676760"/>
            <a:ext cx="1434193" cy="39349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1" name="矩形 8">
            <a:extLst>
              <a:ext uri="{FF2B5EF4-FFF2-40B4-BE49-F238E27FC236}">
                <a16:creationId xmlns="" xmlns:a16="http://schemas.microsoft.com/office/drawing/2014/main" id="{E2D9579B-F5D4-4DFE-9E70-BBDD08A2089D}"/>
              </a:ext>
            </a:extLst>
          </p:cNvPr>
          <p:cNvSpPr/>
          <p:nvPr/>
        </p:nvSpPr>
        <p:spPr bwMode="gray">
          <a:xfrm>
            <a:off x="2488005" y="5415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2" name="矩形 10">
            <a:extLst>
              <a:ext uri="{FF2B5EF4-FFF2-40B4-BE49-F238E27FC236}">
                <a16:creationId xmlns="" xmlns:a16="http://schemas.microsoft.com/office/drawing/2014/main" id="{853AB60C-F819-4A5D-B9AC-38FF1D19684C}"/>
              </a:ext>
            </a:extLst>
          </p:cNvPr>
          <p:cNvSpPr/>
          <p:nvPr/>
        </p:nvSpPr>
        <p:spPr bwMode="gray">
          <a:xfrm>
            <a:off x="4361409" y="4676760"/>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23" name="直接连接符 17">
            <a:extLst>
              <a:ext uri="{FF2B5EF4-FFF2-40B4-BE49-F238E27FC236}">
                <a16:creationId xmlns="" xmlns:a16="http://schemas.microsoft.com/office/drawing/2014/main" id="{DE28D874-B66A-4570-8B67-AB9F60497F15}"/>
              </a:ext>
            </a:extLst>
          </p:cNvPr>
          <p:cNvCxnSpPr>
            <a:cxnSpLocks/>
            <a:stCxn id="19" idx="3"/>
            <a:endCxn id="20" idx="1"/>
          </p:cNvCxnSpPr>
          <p:nvPr/>
        </p:nvCxnSpPr>
        <p:spPr bwMode="gray">
          <a:xfrm flipV="1">
            <a:off x="2025104" y="4873508"/>
            <a:ext cx="462901" cy="3640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4" name="直接连接符 18">
            <a:extLst>
              <a:ext uri="{FF2B5EF4-FFF2-40B4-BE49-F238E27FC236}">
                <a16:creationId xmlns="" xmlns:a16="http://schemas.microsoft.com/office/drawing/2014/main" id="{7A8CD13B-DB11-482A-9A3E-63C4F50E56F9}"/>
              </a:ext>
            </a:extLst>
          </p:cNvPr>
          <p:cNvCxnSpPr>
            <a:cxnSpLocks/>
            <a:stCxn id="22" idx="1"/>
            <a:endCxn id="20" idx="3"/>
          </p:cNvCxnSpPr>
          <p:nvPr/>
        </p:nvCxnSpPr>
        <p:spPr bwMode="gray">
          <a:xfrm flipH="1" flipV="1">
            <a:off x="3922198" y="4873508"/>
            <a:ext cx="439211" cy="65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24">
            <a:extLst>
              <a:ext uri="{FF2B5EF4-FFF2-40B4-BE49-F238E27FC236}">
                <a16:creationId xmlns="" xmlns:a16="http://schemas.microsoft.com/office/drawing/2014/main" id="{60EE54C1-A856-45B1-BF95-4E2D31198CB8}"/>
              </a:ext>
            </a:extLst>
          </p:cNvPr>
          <p:cNvCxnSpPr>
            <a:cxnSpLocks/>
            <a:stCxn id="19" idx="3"/>
            <a:endCxn id="21" idx="1"/>
          </p:cNvCxnSpPr>
          <p:nvPr/>
        </p:nvCxnSpPr>
        <p:spPr bwMode="gray">
          <a:xfrm>
            <a:off x="2025104" y="5237563"/>
            <a:ext cx="462901" cy="37528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25">
            <a:extLst>
              <a:ext uri="{FF2B5EF4-FFF2-40B4-BE49-F238E27FC236}">
                <a16:creationId xmlns="" xmlns:a16="http://schemas.microsoft.com/office/drawing/2014/main" id="{59E5B9E1-7D3C-43F2-9F9A-40F13147B9E0}"/>
              </a:ext>
            </a:extLst>
          </p:cNvPr>
          <p:cNvCxnSpPr>
            <a:cxnSpLocks/>
            <a:stCxn id="39" idx="1"/>
            <a:endCxn id="21" idx="3"/>
          </p:cNvCxnSpPr>
          <p:nvPr/>
        </p:nvCxnSpPr>
        <p:spPr bwMode="gray">
          <a:xfrm flipH="1">
            <a:off x="3922198" y="5612848"/>
            <a:ext cx="43921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9" name="矩形 31">
            <a:extLst>
              <a:ext uri="{FF2B5EF4-FFF2-40B4-BE49-F238E27FC236}">
                <a16:creationId xmlns="" xmlns:a16="http://schemas.microsoft.com/office/drawing/2014/main" id="{CF339438-609C-44A1-A85F-EA1DB1A12A70}"/>
              </a:ext>
            </a:extLst>
          </p:cNvPr>
          <p:cNvSpPr/>
          <p:nvPr/>
        </p:nvSpPr>
        <p:spPr bwMode="gray">
          <a:xfrm>
            <a:off x="4361408" y="5415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0" name="文本框 49">
            <a:extLst>
              <a:ext uri="{FF2B5EF4-FFF2-40B4-BE49-F238E27FC236}">
                <a16:creationId xmlns="" xmlns:a16="http://schemas.microsoft.com/office/drawing/2014/main" id="{8D51FD1B-E475-497C-87BE-ED88D45D187D}"/>
              </a:ext>
            </a:extLst>
          </p:cNvPr>
          <p:cNvSpPr txBox="1"/>
          <p:nvPr/>
        </p:nvSpPr>
        <p:spPr bwMode="gray">
          <a:xfrm>
            <a:off x="744454" y="4575357"/>
            <a:ext cx="1434193" cy="461665"/>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p>
        </p:txBody>
      </p:sp>
      <p:sp>
        <p:nvSpPr>
          <p:cNvPr id="41" name="圆角矩形 19">
            <a:extLst>
              <a:ext uri="{FF2B5EF4-FFF2-40B4-BE49-F238E27FC236}">
                <a16:creationId xmlns="" xmlns:a16="http://schemas.microsoft.com/office/drawing/2014/main" id="{70E7B186-9353-49DD-8C7C-85B3DECE6D7F}"/>
              </a:ext>
            </a:extLst>
          </p:cNvPr>
          <p:cNvSpPr/>
          <p:nvPr/>
        </p:nvSpPr>
        <p:spPr bwMode="gray">
          <a:xfrm>
            <a:off x="6146654" y="3842584"/>
            <a:ext cx="5402200" cy="400674"/>
          </a:xfrm>
          <a:prstGeom prst="roundRect">
            <a:avLst>
              <a:gd name="adj" fmla="val 8347"/>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单候选路径多分段路径</a:t>
            </a:r>
          </a:p>
        </p:txBody>
      </p:sp>
      <p:sp>
        <p:nvSpPr>
          <p:cNvPr id="42" name="圆角矩形 20">
            <a:extLst>
              <a:ext uri="{FF2B5EF4-FFF2-40B4-BE49-F238E27FC236}">
                <a16:creationId xmlns="" xmlns:a16="http://schemas.microsoft.com/office/drawing/2014/main" id="{10A48EE1-7334-4C57-8BE9-5AFC02987AAE}"/>
              </a:ext>
            </a:extLst>
          </p:cNvPr>
          <p:cNvSpPr/>
          <p:nvPr/>
        </p:nvSpPr>
        <p:spPr bwMode="gray">
          <a:xfrm>
            <a:off x="6146654" y="4301667"/>
            <a:ext cx="5402200" cy="1740188"/>
          </a:xfrm>
          <a:prstGeom prst="roundRect">
            <a:avLst>
              <a:gd name="adj" fmla="val 103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p:txBody>
      </p:sp>
      <p:sp>
        <p:nvSpPr>
          <p:cNvPr id="43" name="矩形 5">
            <a:extLst>
              <a:ext uri="{FF2B5EF4-FFF2-40B4-BE49-F238E27FC236}">
                <a16:creationId xmlns="" xmlns:a16="http://schemas.microsoft.com/office/drawing/2014/main" id="{A383BBA9-B214-4FCE-97BC-BECAA3F14485}"/>
              </a:ext>
            </a:extLst>
          </p:cNvPr>
          <p:cNvSpPr/>
          <p:nvPr/>
        </p:nvSpPr>
        <p:spPr bwMode="gray">
          <a:xfrm>
            <a:off x="6477201" y="5016033"/>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6">
            <a:extLst>
              <a:ext uri="{FF2B5EF4-FFF2-40B4-BE49-F238E27FC236}">
                <a16:creationId xmlns="" xmlns:a16="http://schemas.microsoft.com/office/drawing/2014/main" id="{1AD6395C-D344-4458-BC65-9777F5D3238B}"/>
              </a:ext>
            </a:extLst>
          </p:cNvPr>
          <p:cNvSpPr/>
          <p:nvPr/>
        </p:nvSpPr>
        <p:spPr bwMode="gray">
          <a:xfrm>
            <a:off x="8067207" y="5019031"/>
            <a:ext cx="1434193" cy="39349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5" name="矩形 10">
            <a:extLst>
              <a:ext uri="{FF2B5EF4-FFF2-40B4-BE49-F238E27FC236}">
                <a16:creationId xmlns="" xmlns:a16="http://schemas.microsoft.com/office/drawing/2014/main" id="{5197B315-2BB3-4129-B4EE-EB31FF815AEA}"/>
              </a:ext>
            </a:extLst>
          </p:cNvPr>
          <p:cNvSpPr/>
          <p:nvPr/>
        </p:nvSpPr>
        <p:spPr bwMode="gray">
          <a:xfrm>
            <a:off x="9940611" y="4803486"/>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6" name="矩形 14">
            <a:extLst>
              <a:ext uri="{FF2B5EF4-FFF2-40B4-BE49-F238E27FC236}">
                <a16:creationId xmlns="" xmlns:a16="http://schemas.microsoft.com/office/drawing/2014/main" id="{4F69DE6A-FC57-426C-82D1-CB758BC398C9}"/>
              </a:ext>
            </a:extLst>
          </p:cNvPr>
          <p:cNvSpPr/>
          <p:nvPr/>
        </p:nvSpPr>
        <p:spPr bwMode="gray">
          <a:xfrm>
            <a:off x="9940611" y="5266264"/>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47" name="直接连接符 17">
            <a:extLst>
              <a:ext uri="{FF2B5EF4-FFF2-40B4-BE49-F238E27FC236}">
                <a16:creationId xmlns="" xmlns:a16="http://schemas.microsoft.com/office/drawing/2014/main" id="{5D6941A8-5EFD-4562-8C1F-F0A021AECADE}"/>
              </a:ext>
            </a:extLst>
          </p:cNvPr>
          <p:cNvCxnSpPr>
            <a:cxnSpLocks/>
            <a:stCxn id="43" idx="3"/>
            <a:endCxn id="44" idx="1"/>
          </p:cNvCxnSpPr>
          <p:nvPr/>
        </p:nvCxnSpPr>
        <p:spPr bwMode="gray">
          <a:xfrm>
            <a:off x="7604306" y="5214074"/>
            <a:ext cx="462901" cy="170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18">
            <a:extLst>
              <a:ext uri="{FF2B5EF4-FFF2-40B4-BE49-F238E27FC236}">
                <a16:creationId xmlns="" xmlns:a16="http://schemas.microsoft.com/office/drawing/2014/main" id="{AA8848FF-5A81-4FF0-A75F-44C9022A18FF}"/>
              </a:ext>
            </a:extLst>
          </p:cNvPr>
          <p:cNvCxnSpPr>
            <a:cxnSpLocks/>
            <a:stCxn id="45" idx="1"/>
            <a:endCxn id="44" idx="3"/>
          </p:cNvCxnSpPr>
          <p:nvPr/>
        </p:nvCxnSpPr>
        <p:spPr bwMode="gray">
          <a:xfrm flipH="1">
            <a:off x="9501400" y="5000889"/>
            <a:ext cx="439211" cy="2148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21">
            <a:extLst>
              <a:ext uri="{FF2B5EF4-FFF2-40B4-BE49-F238E27FC236}">
                <a16:creationId xmlns="" xmlns:a16="http://schemas.microsoft.com/office/drawing/2014/main" id="{8DF2BB08-71E5-4D1D-B0B1-AC5BC88C001E}"/>
              </a:ext>
            </a:extLst>
          </p:cNvPr>
          <p:cNvCxnSpPr>
            <a:cxnSpLocks/>
            <a:stCxn id="46" idx="1"/>
            <a:endCxn id="44" idx="3"/>
          </p:cNvCxnSpPr>
          <p:nvPr/>
        </p:nvCxnSpPr>
        <p:spPr bwMode="gray">
          <a:xfrm flipH="1" flipV="1">
            <a:off x="9501400" y="5215779"/>
            <a:ext cx="439211" cy="2478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 xmlns:a16="http://schemas.microsoft.com/office/drawing/2014/main" id="{F0DE6EC0-86C0-448E-963C-21A86A12B357}"/>
              </a:ext>
            </a:extLst>
          </p:cNvPr>
          <p:cNvSpPr txBox="1"/>
          <p:nvPr/>
        </p:nvSpPr>
        <p:spPr bwMode="gray">
          <a:xfrm>
            <a:off x="6323656" y="4551868"/>
            <a:ext cx="1434193" cy="461665"/>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p>
        </p:txBody>
      </p:sp>
      <p:sp>
        <p:nvSpPr>
          <p:cNvPr id="51" name="圆角矩形 19">
            <a:extLst>
              <a:ext uri="{FF2B5EF4-FFF2-40B4-BE49-F238E27FC236}">
                <a16:creationId xmlns="" xmlns:a16="http://schemas.microsoft.com/office/drawing/2014/main" id="{27B0A593-0592-4579-95EA-F6D3D88A672A}"/>
              </a:ext>
            </a:extLst>
          </p:cNvPr>
          <p:cNvSpPr/>
          <p:nvPr/>
        </p:nvSpPr>
        <p:spPr bwMode="gray">
          <a:xfrm>
            <a:off x="570404" y="3842584"/>
            <a:ext cx="5402200" cy="400674"/>
          </a:xfrm>
          <a:prstGeom prst="roundRect">
            <a:avLst>
              <a:gd name="adj" fmla="val 8347"/>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多候选路径单分段路径</a:t>
            </a:r>
          </a:p>
        </p:txBody>
      </p:sp>
      <p:sp>
        <p:nvSpPr>
          <p:cNvPr id="52" name="圆角矩形 20">
            <a:extLst>
              <a:ext uri="{FF2B5EF4-FFF2-40B4-BE49-F238E27FC236}">
                <a16:creationId xmlns="" xmlns:a16="http://schemas.microsoft.com/office/drawing/2014/main" id="{C6175293-2EB7-419A-812E-50A9807E68CF}"/>
              </a:ext>
            </a:extLst>
          </p:cNvPr>
          <p:cNvSpPr/>
          <p:nvPr/>
        </p:nvSpPr>
        <p:spPr bwMode="gray">
          <a:xfrm>
            <a:off x="570404" y="4301667"/>
            <a:ext cx="5402200" cy="1740188"/>
          </a:xfrm>
          <a:prstGeom prst="roundRect">
            <a:avLst>
              <a:gd name="adj" fmla="val 103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endParaRPr>
          </a:p>
        </p:txBody>
      </p:sp>
    </p:spTree>
    <p:extLst>
      <p:ext uri="{BB962C8B-B14F-4D97-AF65-F5344CB8AC3E}">
        <p14:creationId xmlns:p14="http://schemas.microsoft.com/office/powerpoint/2010/main" val="10085182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1EF7EB-CA8F-4619-BBEE-70693749D330}"/>
              </a:ext>
            </a:extLst>
          </p:cNvPr>
          <p:cNvSpPr>
            <a:spLocks noGrp="1"/>
          </p:cNvSpPr>
          <p:nvPr>
            <p:ph type="title"/>
          </p:nvPr>
        </p:nvSpPr>
        <p:spPr bwMode="gray"/>
        <p:txBody>
          <a:bodyPr/>
          <a:lstStyle/>
          <a:p>
            <a:r>
              <a:rPr lang="en-US" dirty="0"/>
              <a:t>SR</a:t>
            </a:r>
            <a:r>
              <a:rPr lang="en-US" altLang="zh-CN" dirty="0"/>
              <a:t>v6</a:t>
            </a:r>
            <a:r>
              <a:rPr lang="zh-CN" altLang="en-US" dirty="0"/>
              <a:t>隧道逃生设计</a:t>
            </a:r>
            <a:endParaRPr lang="en-US" dirty="0"/>
          </a:p>
        </p:txBody>
      </p:sp>
      <p:sp>
        <p:nvSpPr>
          <p:cNvPr id="3" name="Text Placeholder 2">
            <a:extLst>
              <a:ext uri="{FF2B5EF4-FFF2-40B4-BE49-F238E27FC236}">
                <a16:creationId xmlns="" xmlns:a16="http://schemas.microsoft.com/office/drawing/2014/main" id="{66D4C93B-88FD-471C-B515-6A5E1566CEA9}"/>
              </a:ext>
            </a:extLst>
          </p:cNvPr>
          <p:cNvSpPr>
            <a:spLocks noGrp="1"/>
          </p:cNvSpPr>
          <p:nvPr>
            <p:ph type="body" sz="quarter" idx="10"/>
          </p:nvPr>
        </p:nvSpPr>
        <p:spPr bwMode="gray">
          <a:xfrm>
            <a:off x="455612" y="1047751"/>
            <a:ext cx="11293475" cy="1655928"/>
          </a:xfrm>
        </p:spPr>
        <p:txBody>
          <a:bodyPr/>
          <a:lstStyle/>
          <a:p>
            <a:r>
              <a:rPr lang="en-US" sz="1800" dirty="0"/>
              <a:t>SR</a:t>
            </a:r>
            <a:r>
              <a:rPr lang="en-US" altLang="zh-CN" sz="1800" dirty="0"/>
              <a:t>v6</a:t>
            </a:r>
            <a:r>
              <a:rPr lang="zh-CN" altLang="en-US" sz="1800" dirty="0"/>
              <a:t>与</a:t>
            </a:r>
            <a:r>
              <a:rPr lang="en-US" altLang="zh-CN" sz="1800" dirty="0"/>
              <a:t>SR-MPLS</a:t>
            </a:r>
            <a:r>
              <a:rPr lang="zh-CN" altLang="en-US" sz="1800" dirty="0"/>
              <a:t>一样可以使用</a:t>
            </a:r>
            <a:r>
              <a:rPr lang="en-US" altLang="zh-CN" sz="1800" dirty="0"/>
              <a:t>SRv6 BE</a:t>
            </a:r>
            <a:r>
              <a:rPr lang="zh-CN" altLang="en-US" sz="1800" dirty="0"/>
              <a:t>隧道或</a:t>
            </a:r>
            <a:r>
              <a:rPr lang="en-US" altLang="zh-CN" sz="1800" dirty="0"/>
              <a:t>SRv6 Policy</a:t>
            </a:r>
            <a:r>
              <a:rPr lang="zh-CN" altLang="en-US" sz="1800" dirty="0"/>
              <a:t>隧道承载</a:t>
            </a:r>
            <a:r>
              <a:rPr lang="en-US" altLang="zh-CN" sz="1800" dirty="0"/>
              <a:t>VPN</a:t>
            </a:r>
            <a:r>
              <a:rPr lang="zh-CN" altLang="en-US" sz="1800" dirty="0"/>
              <a:t>业务。</a:t>
            </a:r>
            <a:endParaRPr lang="en-US" altLang="zh-CN" sz="1800" dirty="0"/>
          </a:p>
          <a:p>
            <a:r>
              <a:rPr lang="en-US" altLang="zh-CN" sz="1800" dirty="0"/>
              <a:t>SRv6 BE</a:t>
            </a:r>
            <a:r>
              <a:rPr lang="zh-CN" altLang="en-US" sz="1800" dirty="0"/>
              <a:t>路隧道一般被用作逃生隧道，当</a:t>
            </a:r>
            <a:r>
              <a:rPr lang="en-US" altLang="zh-CN" sz="1800" dirty="0"/>
              <a:t>SRv6 Policy</a:t>
            </a:r>
            <a:r>
              <a:rPr lang="zh-CN" altLang="en-US" sz="1800" dirty="0"/>
              <a:t>隧道全部失效后就使用</a:t>
            </a:r>
            <a:r>
              <a:rPr lang="en-US" altLang="zh-CN" sz="1800" dirty="0"/>
              <a:t>SRv6 BE</a:t>
            </a:r>
            <a:r>
              <a:rPr lang="zh-CN" altLang="en-US" sz="1800" dirty="0"/>
              <a:t>隧道承载业务。</a:t>
            </a:r>
            <a:endParaRPr lang="en-US" altLang="zh-CN" sz="1800" dirty="0"/>
          </a:p>
          <a:p>
            <a:r>
              <a:rPr lang="zh-CN" altLang="en-US" sz="1800" dirty="0"/>
              <a:t>推荐同时部署</a:t>
            </a:r>
            <a:r>
              <a:rPr lang="en-US" altLang="zh-CN" sz="1800" dirty="0"/>
              <a:t>SRv6 BE</a:t>
            </a:r>
            <a:r>
              <a:rPr lang="zh-CN" altLang="en-US" sz="1800" dirty="0"/>
              <a:t>与</a:t>
            </a:r>
            <a:r>
              <a:rPr lang="en-US" altLang="zh-CN" sz="1800" dirty="0"/>
              <a:t>SRv6 Policy</a:t>
            </a:r>
            <a:r>
              <a:rPr lang="zh-CN" altLang="en-US" sz="1800" dirty="0"/>
              <a:t>隧道，隧道优先选择</a:t>
            </a:r>
            <a:r>
              <a:rPr lang="en-US" altLang="zh-CN" sz="1800" dirty="0"/>
              <a:t>SRv6 Policy</a:t>
            </a:r>
            <a:r>
              <a:rPr lang="zh-CN" altLang="en-US" sz="1800" dirty="0"/>
              <a:t>隧道，备选</a:t>
            </a:r>
            <a:r>
              <a:rPr lang="en-US" altLang="zh-CN" sz="1800" dirty="0"/>
              <a:t>SRv6 BE</a:t>
            </a:r>
            <a:r>
              <a:rPr lang="zh-CN" altLang="en-US" sz="1800" dirty="0"/>
              <a:t>隧道。</a:t>
            </a:r>
            <a:endParaRPr lang="en-US" sz="1800" dirty="0"/>
          </a:p>
        </p:txBody>
      </p:sp>
      <p:sp>
        <p:nvSpPr>
          <p:cNvPr id="4" name="五边形 2">
            <a:extLst>
              <a:ext uri="{FF2B5EF4-FFF2-40B4-BE49-F238E27FC236}">
                <a16:creationId xmlns="" xmlns:a16="http://schemas.microsoft.com/office/drawing/2014/main" id="{C2D3F707-9AA8-41E5-B799-DE031F42F908}"/>
              </a:ext>
            </a:extLst>
          </p:cNvPr>
          <p:cNvSpPr/>
          <p:nvPr/>
        </p:nvSpPr>
        <p:spPr bwMode="gray">
          <a:xfrm>
            <a:off x="7940942" y="44020"/>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隧道基本概念</a:t>
            </a:r>
          </a:p>
        </p:txBody>
      </p:sp>
      <p:sp>
        <p:nvSpPr>
          <p:cNvPr id="5" name="燕尾形 3">
            <a:extLst>
              <a:ext uri="{FF2B5EF4-FFF2-40B4-BE49-F238E27FC236}">
                <a16:creationId xmlns="" xmlns:a16="http://schemas.microsoft.com/office/drawing/2014/main" id="{9A4FA539-21E5-4D9A-8BB3-466EF2CBD33B}"/>
              </a:ext>
            </a:extLst>
          </p:cNvPr>
          <p:cNvSpPr/>
          <p:nvPr/>
        </p:nvSpPr>
        <p:spPr bwMode="gray">
          <a:xfrm>
            <a:off x="9067800" y="44020"/>
            <a:ext cx="1483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DF7C2D04-BB6A-4C23-8707-2566FAD2D76B}"/>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6" name="Group 25">
            <a:extLst>
              <a:ext uri="{FF2B5EF4-FFF2-40B4-BE49-F238E27FC236}">
                <a16:creationId xmlns="" xmlns:a16="http://schemas.microsoft.com/office/drawing/2014/main" id="{8AFE638E-51BF-4663-9D07-D76E2A1E990C}"/>
              </a:ext>
            </a:extLst>
          </p:cNvPr>
          <p:cNvGrpSpPr/>
          <p:nvPr/>
        </p:nvGrpSpPr>
        <p:grpSpPr bwMode="gray">
          <a:xfrm>
            <a:off x="2355242" y="2965142"/>
            <a:ext cx="7494215" cy="2368633"/>
            <a:chOff x="2348891" y="3095061"/>
            <a:chExt cx="7494215" cy="2368633"/>
          </a:xfrm>
        </p:grpSpPr>
        <p:grpSp>
          <p:nvGrpSpPr>
            <p:cNvPr id="7" name="Group 6">
              <a:extLst>
                <a:ext uri="{FF2B5EF4-FFF2-40B4-BE49-F238E27FC236}">
                  <a16:creationId xmlns="" xmlns:a16="http://schemas.microsoft.com/office/drawing/2014/main" id="{6A25E8D2-E4CA-4F8E-8ECA-234DCD15603D}"/>
                </a:ext>
              </a:extLst>
            </p:cNvPr>
            <p:cNvGrpSpPr/>
            <p:nvPr/>
          </p:nvGrpSpPr>
          <p:grpSpPr bwMode="gray">
            <a:xfrm>
              <a:off x="2348891" y="3095061"/>
              <a:ext cx="7494215" cy="2368633"/>
              <a:chOff x="2467437" y="3358215"/>
              <a:chExt cx="7494215" cy="2368633"/>
            </a:xfrm>
          </p:grpSpPr>
          <p:sp>
            <p:nvSpPr>
              <p:cNvPr id="8" name="矩形 5">
                <a:extLst>
                  <a:ext uri="{FF2B5EF4-FFF2-40B4-BE49-F238E27FC236}">
                    <a16:creationId xmlns="" xmlns:a16="http://schemas.microsoft.com/office/drawing/2014/main" id="{C938A8BE-4885-4C05-8442-247B11E8D295}"/>
                  </a:ext>
                </a:extLst>
              </p:cNvPr>
              <p:cNvSpPr/>
              <p:nvPr/>
            </p:nvSpPr>
            <p:spPr bwMode="gray">
              <a:xfrm>
                <a:off x="4446829" y="4016532"/>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6">
                <a:extLst>
                  <a:ext uri="{FF2B5EF4-FFF2-40B4-BE49-F238E27FC236}">
                    <a16:creationId xmlns="" xmlns:a16="http://schemas.microsoft.com/office/drawing/2014/main" id="{3F5CB575-66A3-47C5-BD94-81F71270F62A}"/>
                  </a:ext>
                </a:extLst>
              </p:cNvPr>
              <p:cNvSpPr/>
              <p:nvPr/>
            </p:nvSpPr>
            <p:spPr bwMode="gray">
              <a:xfrm>
                <a:off x="6391165" y="3573760"/>
                <a:ext cx="1434193" cy="39349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0" name="矩形 8">
                <a:extLst>
                  <a:ext uri="{FF2B5EF4-FFF2-40B4-BE49-F238E27FC236}">
                    <a16:creationId xmlns="" xmlns:a16="http://schemas.microsoft.com/office/drawing/2014/main" id="{EF740503-7D23-490A-9224-BEB8BA6B8D5C}"/>
                  </a:ext>
                </a:extLst>
              </p:cNvPr>
              <p:cNvSpPr/>
              <p:nvPr/>
            </p:nvSpPr>
            <p:spPr bwMode="gray">
              <a:xfrm>
                <a:off x="6391165" y="4312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（优先级</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1" name="矩形 10">
                <a:extLst>
                  <a:ext uri="{FF2B5EF4-FFF2-40B4-BE49-F238E27FC236}">
                    <a16:creationId xmlns="" xmlns:a16="http://schemas.microsoft.com/office/drawing/2014/main" id="{135B46AD-FC61-4B72-9486-0268DCA6F198}"/>
                  </a:ext>
                </a:extLst>
              </p:cNvPr>
              <p:cNvSpPr/>
              <p:nvPr/>
            </p:nvSpPr>
            <p:spPr bwMode="gray">
              <a:xfrm>
                <a:off x="8527459" y="3358215"/>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2" name="矩形 14">
                <a:extLst>
                  <a:ext uri="{FF2B5EF4-FFF2-40B4-BE49-F238E27FC236}">
                    <a16:creationId xmlns="" xmlns:a16="http://schemas.microsoft.com/office/drawing/2014/main" id="{766D9D8F-76FE-45B5-818B-3F4FA7E22E45}"/>
                  </a:ext>
                </a:extLst>
              </p:cNvPr>
              <p:cNvSpPr/>
              <p:nvPr/>
            </p:nvSpPr>
            <p:spPr bwMode="gray">
              <a:xfrm>
                <a:off x="8527459" y="3820993"/>
                <a:ext cx="1434193" cy="394805"/>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2</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13" name="直接连接符 17">
                <a:extLst>
                  <a:ext uri="{FF2B5EF4-FFF2-40B4-BE49-F238E27FC236}">
                    <a16:creationId xmlns="" xmlns:a16="http://schemas.microsoft.com/office/drawing/2014/main" id="{70FE37CB-F258-45E6-8DDC-5EF7872959B0}"/>
                  </a:ext>
                </a:extLst>
              </p:cNvPr>
              <p:cNvCxnSpPr>
                <a:cxnSpLocks/>
                <a:stCxn id="8" idx="3"/>
                <a:endCxn id="9" idx="1"/>
              </p:cNvCxnSpPr>
              <p:nvPr/>
            </p:nvCxnSpPr>
            <p:spPr bwMode="gray">
              <a:xfrm flipV="1">
                <a:off x="5573934" y="3770508"/>
                <a:ext cx="817231" cy="44406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直接连接符 18">
                <a:extLst>
                  <a:ext uri="{FF2B5EF4-FFF2-40B4-BE49-F238E27FC236}">
                    <a16:creationId xmlns="" xmlns:a16="http://schemas.microsoft.com/office/drawing/2014/main" id="{417E2E0D-1923-4BB9-907A-A2DB863BDC9F}"/>
                  </a:ext>
                </a:extLst>
              </p:cNvPr>
              <p:cNvCxnSpPr>
                <a:cxnSpLocks/>
                <a:stCxn id="11" idx="1"/>
                <a:endCxn id="9" idx="3"/>
              </p:cNvCxnSpPr>
              <p:nvPr/>
            </p:nvCxnSpPr>
            <p:spPr bwMode="gray">
              <a:xfrm flipH="1">
                <a:off x="7825358" y="3555618"/>
                <a:ext cx="702101" cy="2148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21">
                <a:extLst>
                  <a:ext uri="{FF2B5EF4-FFF2-40B4-BE49-F238E27FC236}">
                    <a16:creationId xmlns="" xmlns:a16="http://schemas.microsoft.com/office/drawing/2014/main" id="{0BA26499-67E5-4DFC-92A9-382BDC37A53F}"/>
                  </a:ext>
                </a:extLst>
              </p:cNvPr>
              <p:cNvCxnSpPr>
                <a:cxnSpLocks/>
                <a:stCxn id="12" idx="1"/>
                <a:endCxn id="9" idx="3"/>
              </p:cNvCxnSpPr>
              <p:nvPr/>
            </p:nvCxnSpPr>
            <p:spPr bwMode="gray">
              <a:xfrm flipH="1" flipV="1">
                <a:off x="7825358" y="3770508"/>
                <a:ext cx="702101" cy="24788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24">
                <a:extLst>
                  <a:ext uri="{FF2B5EF4-FFF2-40B4-BE49-F238E27FC236}">
                    <a16:creationId xmlns="" xmlns:a16="http://schemas.microsoft.com/office/drawing/2014/main" id="{60E4349A-D0BA-4C1B-B771-3DA91B81DF3D}"/>
                  </a:ext>
                </a:extLst>
              </p:cNvPr>
              <p:cNvCxnSpPr>
                <a:cxnSpLocks/>
                <a:stCxn id="8" idx="3"/>
                <a:endCxn id="10" idx="1"/>
              </p:cNvCxnSpPr>
              <p:nvPr/>
            </p:nvCxnSpPr>
            <p:spPr bwMode="gray">
              <a:xfrm>
                <a:off x="5573934" y="4214573"/>
                <a:ext cx="817231" cy="2952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直接连接符 25">
                <a:extLst>
                  <a:ext uri="{FF2B5EF4-FFF2-40B4-BE49-F238E27FC236}">
                    <a16:creationId xmlns="" xmlns:a16="http://schemas.microsoft.com/office/drawing/2014/main" id="{C083F6A8-C1F4-4857-A3A8-9A7E77819385}"/>
                  </a:ext>
                </a:extLst>
              </p:cNvPr>
              <p:cNvCxnSpPr>
                <a:cxnSpLocks/>
                <a:stCxn id="18" idx="1"/>
                <a:endCxn id="10" idx="3"/>
              </p:cNvCxnSpPr>
              <p:nvPr/>
            </p:nvCxnSpPr>
            <p:spPr bwMode="gray">
              <a:xfrm flipH="1">
                <a:off x="7825358" y="4509848"/>
                <a:ext cx="7021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8" name="矩形 31">
                <a:extLst>
                  <a:ext uri="{FF2B5EF4-FFF2-40B4-BE49-F238E27FC236}">
                    <a16:creationId xmlns="" xmlns:a16="http://schemas.microsoft.com/office/drawing/2014/main" id="{843EFC17-8AF7-4A3A-AE86-6181FB826A2A}"/>
                  </a:ext>
                </a:extLst>
              </p:cNvPr>
              <p:cNvSpPr/>
              <p:nvPr/>
            </p:nvSpPr>
            <p:spPr bwMode="gray">
              <a:xfrm>
                <a:off x="8527458" y="4312445"/>
                <a:ext cx="1434193" cy="394805"/>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Segment List 1</a:t>
                </a:r>
              </a:p>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（权重</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9" name="文本框 49">
                <a:extLst>
                  <a:ext uri="{FF2B5EF4-FFF2-40B4-BE49-F238E27FC236}">
                    <a16:creationId xmlns="" xmlns:a16="http://schemas.microsoft.com/office/drawing/2014/main" id="{109A330E-B504-4A8A-9364-B88FB32BD4E3}"/>
                  </a:ext>
                </a:extLst>
              </p:cNvPr>
              <p:cNvSpPr txBox="1"/>
              <p:nvPr/>
            </p:nvSpPr>
            <p:spPr bwMode="gray">
              <a:xfrm>
                <a:off x="4293284" y="3552367"/>
                <a:ext cx="1434193" cy="461665"/>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p>
            </p:txBody>
          </p:sp>
          <p:sp>
            <p:nvSpPr>
              <p:cNvPr id="20" name="矩形 5">
                <a:extLst>
                  <a:ext uri="{FF2B5EF4-FFF2-40B4-BE49-F238E27FC236}">
                    <a16:creationId xmlns="" xmlns:a16="http://schemas.microsoft.com/office/drawing/2014/main" id="{B8EDE63B-3DCA-45FE-9079-57FC7867F958}"/>
                  </a:ext>
                </a:extLst>
              </p:cNvPr>
              <p:cNvSpPr/>
              <p:nvPr/>
            </p:nvSpPr>
            <p:spPr bwMode="gray">
              <a:xfrm>
                <a:off x="4446829" y="5330767"/>
                <a:ext cx="1127105" cy="39608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SRv6 BE</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5">
                <a:extLst>
                  <a:ext uri="{FF2B5EF4-FFF2-40B4-BE49-F238E27FC236}">
                    <a16:creationId xmlns="" xmlns:a16="http://schemas.microsoft.com/office/drawing/2014/main" id="{526CCB71-89BD-4D7C-87AF-FEA3C1B7C6B7}"/>
                  </a:ext>
                </a:extLst>
              </p:cNvPr>
              <p:cNvSpPr/>
              <p:nvPr/>
            </p:nvSpPr>
            <p:spPr bwMode="gray">
              <a:xfrm>
                <a:off x="2467437" y="4670188"/>
                <a:ext cx="1127105" cy="39608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隧道选择</a:t>
                </a:r>
              </a:p>
            </p:txBody>
          </p:sp>
          <p:cxnSp>
            <p:nvCxnSpPr>
              <p:cNvPr id="22" name="直接连接符 24">
                <a:extLst>
                  <a:ext uri="{FF2B5EF4-FFF2-40B4-BE49-F238E27FC236}">
                    <a16:creationId xmlns="" xmlns:a16="http://schemas.microsoft.com/office/drawing/2014/main" id="{842CB4E3-75E7-44D2-9125-A94097A6E75F}"/>
                  </a:ext>
                </a:extLst>
              </p:cNvPr>
              <p:cNvCxnSpPr>
                <a:cxnSpLocks/>
                <a:stCxn id="21" idx="3"/>
                <a:endCxn id="8" idx="1"/>
              </p:cNvCxnSpPr>
              <p:nvPr/>
            </p:nvCxnSpPr>
            <p:spPr bwMode="gray">
              <a:xfrm flipV="1">
                <a:off x="3594542" y="4214573"/>
                <a:ext cx="852287" cy="6536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直接连接符 24">
                <a:extLst>
                  <a:ext uri="{FF2B5EF4-FFF2-40B4-BE49-F238E27FC236}">
                    <a16:creationId xmlns="" xmlns:a16="http://schemas.microsoft.com/office/drawing/2014/main" id="{EB1D9F80-3491-4696-84E2-117383C7CB8B}"/>
                  </a:ext>
                </a:extLst>
              </p:cNvPr>
              <p:cNvCxnSpPr>
                <a:cxnSpLocks/>
                <a:stCxn id="21" idx="3"/>
                <a:endCxn id="20" idx="1"/>
              </p:cNvCxnSpPr>
              <p:nvPr/>
            </p:nvCxnSpPr>
            <p:spPr bwMode="gray">
              <a:xfrm>
                <a:off x="3594542" y="4868229"/>
                <a:ext cx="852287" cy="660579"/>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 xmlns:a16="http://schemas.microsoft.com/office/drawing/2014/main" id="{CFB9E78A-7211-495A-A864-563ED7C0EE07}"/>
                </a:ext>
              </a:extLst>
            </p:cNvPr>
            <p:cNvSpPr txBox="1"/>
            <p:nvPr/>
          </p:nvSpPr>
          <p:spPr bwMode="gray">
            <a:xfrm rot="19321794">
              <a:off x="3372282" y="4002417"/>
              <a:ext cx="902811" cy="307777"/>
            </a:xfrm>
            <a:prstGeom prst="rect">
              <a:avLst/>
            </a:prstGeom>
            <a:noFill/>
          </p:spPr>
          <p:txBody>
            <a:bodyPr wrap="none" rtlCol="0">
              <a:spAutoFit/>
            </a:bodyPr>
            <a:lstStyle/>
            <a:p>
              <a:r>
                <a:rPr lang="zh-CN" altLang="en-US" sz="1400" dirty="0"/>
                <a:t>主用隧道</a:t>
              </a:r>
              <a:endParaRPr lang="en-US" sz="1400" dirty="0"/>
            </a:p>
          </p:txBody>
        </p:sp>
        <p:sp>
          <p:nvSpPr>
            <p:cNvPr id="25" name="TextBox 24">
              <a:extLst>
                <a:ext uri="{FF2B5EF4-FFF2-40B4-BE49-F238E27FC236}">
                  <a16:creationId xmlns="" xmlns:a16="http://schemas.microsoft.com/office/drawing/2014/main" id="{F3A79A89-1801-4A39-8DC2-28971C6DA9BC}"/>
                </a:ext>
              </a:extLst>
            </p:cNvPr>
            <p:cNvSpPr txBox="1"/>
            <p:nvPr/>
          </p:nvSpPr>
          <p:spPr bwMode="gray">
            <a:xfrm rot="2249802">
              <a:off x="3370909" y="4905129"/>
              <a:ext cx="928459" cy="307777"/>
            </a:xfrm>
            <a:prstGeom prst="rect">
              <a:avLst/>
            </a:prstGeom>
            <a:noFill/>
          </p:spPr>
          <p:txBody>
            <a:bodyPr wrap="none" rtlCol="0">
              <a:spAutoFit/>
            </a:bodyPr>
            <a:lstStyle/>
            <a:p>
              <a:r>
                <a:rPr lang="zh-CN" altLang="en-US" sz="1400" dirty="0"/>
                <a:t>逃生隧道</a:t>
              </a:r>
              <a:endParaRPr lang="en-US" sz="1400" dirty="0"/>
            </a:p>
          </p:txBody>
        </p:sp>
      </p:grpSp>
    </p:spTree>
    <p:extLst>
      <p:ext uri="{BB962C8B-B14F-4D97-AF65-F5344CB8AC3E}">
        <p14:creationId xmlns:p14="http://schemas.microsoft.com/office/powerpoint/2010/main" val="3124858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a:t>
            </a:r>
            <a:r>
              <a:rPr lang="en-US" altLang="zh-CN" dirty="0"/>
              <a:t>VPN</a:t>
            </a:r>
            <a:r>
              <a:rPr lang="zh-CN" altLang="en-US" dirty="0"/>
              <a:t>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3165000"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隧道设计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3165000"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3362611" y="2360214"/>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隧道基本概念回顾</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6208569"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VPN</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6208569" y="2205517"/>
            <a:ext cx="2789367" cy="1744797"/>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3362611" y="285009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SR-MPLS</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隧道规划</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6426538"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划分</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6426538" y="284917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传递</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3362611" y="3338426"/>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隧道规划</a:t>
            </a:r>
          </a:p>
        </p:txBody>
      </p:sp>
      <p:sp>
        <p:nvSpPr>
          <p:cNvPr id="13" name="Arrow: Down 12">
            <a:extLst>
              <a:ext uri="{FF2B5EF4-FFF2-40B4-BE49-F238E27FC236}">
                <a16:creationId xmlns="" xmlns:a16="http://schemas.microsoft.com/office/drawing/2014/main" id="{11CC606A-B0CF-472F-A081-AE97F01D88C6}"/>
              </a:ext>
            </a:extLst>
          </p:cNvPr>
          <p:cNvSpPr/>
          <p:nvPr/>
        </p:nvSpPr>
        <p:spPr bwMode="gray">
          <a:xfrm>
            <a:off x="7447678"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12324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AA70B96-F279-4142-AF36-7973A7C32B8B}"/>
              </a:ext>
            </a:extLst>
          </p:cNvPr>
          <p:cNvSpPr>
            <a:spLocks noGrp="1"/>
          </p:cNvSpPr>
          <p:nvPr>
            <p:ph type="title"/>
          </p:nvPr>
        </p:nvSpPr>
        <p:spPr bwMode="gray"/>
        <p:txBody>
          <a:bodyPr/>
          <a:lstStyle/>
          <a:p>
            <a:r>
              <a:rPr lang="en-US" dirty="0"/>
              <a:t>VPN</a:t>
            </a:r>
            <a:r>
              <a:rPr lang="zh-CN" altLang="en-US" dirty="0"/>
              <a:t>划分</a:t>
            </a:r>
            <a:endParaRPr lang="en-US" dirty="0"/>
          </a:p>
        </p:txBody>
      </p:sp>
      <p:sp>
        <p:nvSpPr>
          <p:cNvPr id="4" name="Text Placeholder 3">
            <a:extLst>
              <a:ext uri="{FF2B5EF4-FFF2-40B4-BE49-F238E27FC236}">
                <a16:creationId xmlns="" xmlns:a16="http://schemas.microsoft.com/office/drawing/2014/main" id="{02314B4F-0FE6-437D-B91E-F403EF6FA10B}"/>
              </a:ext>
            </a:extLst>
          </p:cNvPr>
          <p:cNvSpPr>
            <a:spLocks noGrp="1"/>
          </p:cNvSpPr>
          <p:nvPr>
            <p:ph type="body" sz="quarter" idx="10"/>
          </p:nvPr>
        </p:nvSpPr>
        <p:spPr bwMode="gray">
          <a:xfrm>
            <a:off x="455612" y="1047751"/>
            <a:ext cx="11293475" cy="918038"/>
          </a:xfrm>
        </p:spPr>
        <p:txBody>
          <a:bodyPr/>
          <a:lstStyle/>
          <a:p>
            <a:r>
              <a:rPr lang="zh-CN" altLang="en-US" sz="1800" dirty="0"/>
              <a:t>不同企业对</a:t>
            </a:r>
            <a:r>
              <a:rPr lang="en-US" altLang="zh-CN" sz="1800" dirty="0"/>
              <a:t>VPN</a:t>
            </a:r>
            <a:r>
              <a:rPr lang="zh-CN" altLang="en-US" sz="1800" dirty="0"/>
              <a:t>的划分有不同的考虑，大部分企业一般会将主要业务（包括生产和办公）划分一个</a:t>
            </a:r>
            <a:r>
              <a:rPr lang="en-US" altLang="zh-CN" sz="1800" dirty="0"/>
              <a:t>VPN</a:t>
            </a:r>
            <a:r>
              <a:rPr lang="zh-CN" altLang="en-US" sz="1800" dirty="0"/>
              <a:t>，非主要业务划分一个</a:t>
            </a:r>
            <a:r>
              <a:rPr lang="en-US" altLang="zh-CN" sz="1800" dirty="0"/>
              <a:t>VPN</a:t>
            </a:r>
            <a:r>
              <a:rPr lang="zh-CN" altLang="en-US" sz="1800" dirty="0"/>
              <a:t>，外联业务划分一个</a:t>
            </a:r>
            <a:r>
              <a:rPr lang="en-US" altLang="zh-CN" sz="1800" dirty="0"/>
              <a:t>VPN</a:t>
            </a:r>
            <a:r>
              <a:rPr lang="zh-CN" altLang="en-US" sz="1800" dirty="0"/>
              <a:t>，互联网业务划分一个</a:t>
            </a:r>
            <a:r>
              <a:rPr lang="en-US" altLang="zh-CN" sz="1800" dirty="0"/>
              <a:t>VPN</a:t>
            </a:r>
            <a:r>
              <a:rPr lang="zh-CN" altLang="en-US" sz="1800" dirty="0"/>
              <a:t>。</a:t>
            </a:r>
            <a:endParaRPr lang="en-US" sz="1800" dirty="0"/>
          </a:p>
        </p:txBody>
      </p:sp>
      <p:sp>
        <p:nvSpPr>
          <p:cNvPr id="7" name="Rectangle: Rounded Corners 6">
            <a:extLst>
              <a:ext uri="{FF2B5EF4-FFF2-40B4-BE49-F238E27FC236}">
                <a16:creationId xmlns="" xmlns:a16="http://schemas.microsoft.com/office/drawing/2014/main" id="{949643CB-84E3-4290-A4D0-1A0311D10E62}"/>
              </a:ext>
            </a:extLst>
          </p:cNvPr>
          <p:cNvSpPr/>
          <p:nvPr/>
        </p:nvSpPr>
        <p:spPr bwMode="gray">
          <a:xfrm>
            <a:off x="4168303" y="3282490"/>
            <a:ext cx="3738911" cy="2786189"/>
          </a:xfrm>
          <a:prstGeom prst="roundRect">
            <a:avLst>
              <a:gd name="adj" fmla="val 188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图片 48">
            <a:extLst>
              <a:ext uri="{FF2B5EF4-FFF2-40B4-BE49-F238E27FC236}">
                <a16:creationId xmlns="" xmlns:a16="http://schemas.microsoft.com/office/drawing/2014/main" id="{44508B4D-E9BC-4C43-86B1-BF3A5D42A825}"/>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03818" y="4446208"/>
            <a:ext cx="378863" cy="310667"/>
          </a:xfrm>
          <a:prstGeom prst="rect">
            <a:avLst/>
          </a:prstGeom>
        </p:spPr>
      </p:pic>
      <p:pic>
        <p:nvPicPr>
          <p:cNvPr id="9" name="图片 48">
            <a:extLst>
              <a:ext uri="{FF2B5EF4-FFF2-40B4-BE49-F238E27FC236}">
                <a16:creationId xmlns="" xmlns:a16="http://schemas.microsoft.com/office/drawing/2014/main" id="{F5A06806-2CCF-4BBE-BCD0-FF6D8796B35A}"/>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03818" y="5312041"/>
            <a:ext cx="378863" cy="310667"/>
          </a:xfrm>
          <a:prstGeom prst="rect">
            <a:avLst/>
          </a:prstGeom>
        </p:spPr>
      </p:pic>
      <p:pic>
        <p:nvPicPr>
          <p:cNvPr id="10" name="图片 48">
            <a:extLst>
              <a:ext uri="{FF2B5EF4-FFF2-40B4-BE49-F238E27FC236}">
                <a16:creationId xmlns="" xmlns:a16="http://schemas.microsoft.com/office/drawing/2014/main" id="{CA6D3B6A-6D91-4A40-9505-75F18E6E9F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038" y="4446208"/>
            <a:ext cx="378863" cy="310667"/>
          </a:xfrm>
          <a:prstGeom prst="rect">
            <a:avLst/>
          </a:prstGeom>
        </p:spPr>
      </p:pic>
      <p:pic>
        <p:nvPicPr>
          <p:cNvPr id="11" name="图片 48">
            <a:extLst>
              <a:ext uri="{FF2B5EF4-FFF2-40B4-BE49-F238E27FC236}">
                <a16:creationId xmlns="" xmlns:a16="http://schemas.microsoft.com/office/drawing/2014/main" id="{F039EE70-01C0-4CA2-9DB9-E97CBB81AA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038" y="5312041"/>
            <a:ext cx="378863" cy="310667"/>
          </a:xfrm>
          <a:prstGeom prst="rect">
            <a:avLst/>
          </a:prstGeom>
        </p:spPr>
      </p:pic>
      <p:pic>
        <p:nvPicPr>
          <p:cNvPr id="12" name="图片 48">
            <a:extLst>
              <a:ext uri="{FF2B5EF4-FFF2-40B4-BE49-F238E27FC236}">
                <a16:creationId xmlns="" xmlns:a16="http://schemas.microsoft.com/office/drawing/2014/main" id="{3D56EB84-7D09-4DD1-BAD9-B044A2A039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34040" y="4446208"/>
            <a:ext cx="378863" cy="310667"/>
          </a:xfrm>
          <a:prstGeom prst="rect">
            <a:avLst/>
          </a:prstGeom>
        </p:spPr>
      </p:pic>
      <p:pic>
        <p:nvPicPr>
          <p:cNvPr id="13" name="图片 48">
            <a:extLst>
              <a:ext uri="{FF2B5EF4-FFF2-40B4-BE49-F238E27FC236}">
                <a16:creationId xmlns="" xmlns:a16="http://schemas.microsoft.com/office/drawing/2014/main" id="{23D76C84-9188-4980-A8A6-28D5EE614F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34040" y="5312041"/>
            <a:ext cx="378863" cy="310667"/>
          </a:xfrm>
          <a:prstGeom prst="rect">
            <a:avLst/>
          </a:prstGeom>
        </p:spPr>
      </p:pic>
      <p:pic>
        <p:nvPicPr>
          <p:cNvPr id="14" name="图片 48">
            <a:extLst>
              <a:ext uri="{FF2B5EF4-FFF2-40B4-BE49-F238E27FC236}">
                <a16:creationId xmlns="" xmlns:a16="http://schemas.microsoft.com/office/drawing/2014/main" id="{F98110D7-0573-4335-B887-A4B266002E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9830" y="4443274"/>
            <a:ext cx="378863" cy="310667"/>
          </a:xfrm>
          <a:prstGeom prst="rect">
            <a:avLst/>
          </a:prstGeom>
        </p:spPr>
      </p:pic>
      <p:pic>
        <p:nvPicPr>
          <p:cNvPr id="15" name="图片 48">
            <a:extLst>
              <a:ext uri="{FF2B5EF4-FFF2-40B4-BE49-F238E27FC236}">
                <a16:creationId xmlns="" xmlns:a16="http://schemas.microsoft.com/office/drawing/2014/main" id="{6F5A2F9B-60B0-40A2-8BB4-25EE386ED1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21299" y="5309107"/>
            <a:ext cx="378863" cy="310667"/>
          </a:xfrm>
          <a:prstGeom prst="rect">
            <a:avLst/>
          </a:prstGeom>
        </p:spPr>
      </p:pic>
      <p:pic>
        <p:nvPicPr>
          <p:cNvPr id="16" name="图片 48">
            <a:extLst>
              <a:ext uri="{FF2B5EF4-FFF2-40B4-BE49-F238E27FC236}">
                <a16:creationId xmlns="" xmlns:a16="http://schemas.microsoft.com/office/drawing/2014/main" id="{935F5E9D-CB31-420F-820B-9018638FB9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01625" y="5308685"/>
            <a:ext cx="378863" cy="310667"/>
          </a:xfrm>
          <a:prstGeom prst="rect">
            <a:avLst/>
          </a:prstGeom>
        </p:spPr>
      </p:pic>
      <p:pic>
        <p:nvPicPr>
          <p:cNvPr id="17" name="图片 48">
            <a:extLst>
              <a:ext uri="{FF2B5EF4-FFF2-40B4-BE49-F238E27FC236}">
                <a16:creationId xmlns="" xmlns:a16="http://schemas.microsoft.com/office/drawing/2014/main" id="{9E701ECB-0D83-445E-8268-AB995D6196B1}"/>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86077" y="4446208"/>
            <a:ext cx="378863" cy="310667"/>
          </a:xfrm>
          <a:prstGeom prst="rect">
            <a:avLst/>
          </a:prstGeom>
        </p:spPr>
      </p:pic>
      <p:pic>
        <p:nvPicPr>
          <p:cNvPr id="18" name="图片 48">
            <a:extLst>
              <a:ext uri="{FF2B5EF4-FFF2-40B4-BE49-F238E27FC236}">
                <a16:creationId xmlns="" xmlns:a16="http://schemas.microsoft.com/office/drawing/2014/main" id="{C2567046-E348-4EF6-ADED-F75411CF98F1}"/>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86077" y="5312041"/>
            <a:ext cx="378863" cy="310667"/>
          </a:xfrm>
          <a:prstGeom prst="rect">
            <a:avLst/>
          </a:prstGeom>
        </p:spPr>
      </p:pic>
      <p:pic>
        <p:nvPicPr>
          <p:cNvPr id="19" name="图片 48">
            <a:extLst>
              <a:ext uri="{FF2B5EF4-FFF2-40B4-BE49-F238E27FC236}">
                <a16:creationId xmlns="" xmlns:a16="http://schemas.microsoft.com/office/drawing/2014/main" id="{CFB21E40-EB4E-44E8-BC40-72492C3F9A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53995" y="3414576"/>
            <a:ext cx="378863" cy="310667"/>
          </a:xfrm>
          <a:prstGeom prst="rect">
            <a:avLst/>
          </a:prstGeom>
        </p:spPr>
      </p:pic>
      <p:pic>
        <p:nvPicPr>
          <p:cNvPr id="20" name="图片 48">
            <a:extLst>
              <a:ext uri="{FF2B5EF4-FFF2-40B4-BE49-F238E27FC236}">
                <a16:creationId xmlns="" xmlns:a16="http://schemas.microsoft.com/office/drawing/2014/main" id="{EE3FF952-7C10-499B-8042-BD74B54CC6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68929" y="3414577"/>
            <a:ext cx="378863" cy="310667"/>
          </a:xfrm>
          <a:prstGeom prst="rect">
            <a:avLst/>
          </a:prstGeom>
        </p:spPr>
      </p:pic>
      <p:pic>
        <p:nvPicPr>
          <p:cNvPr id="21" name="图片 48">
            <a:extLst>
              <a:ext uri="{FF2B5EF4-FFF2-40B4-BE49-F238E27FC236}">
                <a16:creationId xmlns="" xmlns:a16="http://schemas.microsoft.com/office/drawing/2014/main" id="{A9191977-3D05-4BA6-B344-0DEB4ECD339F}"/>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453995" y="2642540"/>
            <a:ext cx="378863" cy="310667"/>
          </a:xfrm>
          <a:prstGeom prst="rect">
            <a:avLst/>
          </a:prstGeom>
        </p:spPr>
      </p:pic>
      <p:pic>
        <p:nvPicPr>
          <p:cNvPr id="22" name="图片 48">
            <a:extLst>
              <a:ext uri="{FF2B5EF4-FFF2-40B4-BE49-F238E27FC236}">
                <a16:creationId xmlns="" xmlns:a16="http://schemas.microsoft.com/office/drawing/2014/main" id="{E62ABC71-FFAA-4045-A47C-2BF0F955F518}"/>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368929" y="2642541"/>
            <a:ext cx="378863" cy="310667"/>
          </a:xfrm>
          <a:prstGeom prst="rect">
            <a:avLst/>
          </a:prstGeom>
        </p:spPr>
      </p:pic>
      <p:cxnSp>
        <p:nvCxnSpPr>
          <p:cNvPr id="23" name="Straight Connector 22">
            <a:extLst>
              <a:ext uri="{FF2B5EF4-FFF2-40B4-BE49-F238E27FC236}">
                <a16:creationId xmlns="" xmlns:a16="http://schemas.microsoft.com/office/drawing/2014/main" id="{0CEC080E-CEB5-4690-99BF-FD936C34BB1C}"/>
              </a:ext>
            </a:extLst>
          </p:cNvPr>
          <p:cNvCxnSpPr>
            <a:cxnSpLocks/>
            <a:stCxn id="8" idx="3"/>
            <a:endCxn id="10" idx="1"/>
          </p:cNvCxnSpPr>
          <p:nvPr/>
        </p:nvCxnSpPr>
        <p:spPr bwMode="gray">
          <a:xfrm>
            <a:off x="3782681" y="4601542"/>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9DF5983E-95E0-4148-B036-92B4480CCBF7}"/>
              </a:ext>
            </a:extLst>
          </p:cNvPr>
          <p:cNvCxnSpPr>
            <a:cxnSpLocks/>
            <a:stCxn id="9" idx="3"/>
            <a:endCxn id="11" idx="1"/>
          </p:cNvCxnSpPr>
          <p:nvPr/>
        </p:nvCxnSpPr>
        <p:spPr bwMode="gray">
          <a:xfrm>
            <a:off x="3782681" y="5467375"/>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464D2406-2A21-49A0-A487-16A6D4290C2C}"/>
              </a:ext>
            </a:extLst>
          </p:cNvPr>
          <p:cNvCxnSpPr>
            <a:cxnSpLocks/>
            <a:stCxn id="11" idx="0"/>
            <a:endCxn id="10" idx="2"/>
          </p:cNvCxnSpPr>
          <p:nvPr/>
        </p:nvCxnSpPr>
        <p:spPr bwMode="gray">
          <a:xfrm flipV="1">
            <a:off x="4539470" y="4756875"/>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DF7224A2-07E5-4B52-BC82-EEC8BB848E4E}"/>
              </a:ext>
            </a:extLst>
          </p:cNvPr>
          <p:cNvCxnSpPr>
            <a:cxnSpLocks/>
            <a:stCxn id="14" idx="1"/>
            <a:endCxn id="10" idx="3"/>
          </p:cNvCxnSpPr>
          <p:nvPr/>
        </p:nvCxnSpPr>
        <p:spPr bwMode="gray">
          <a:xfrm flipH="1">
            <a:off x="4728901" y="4598608"/>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DFDACE95-25EF-4513-A4E1-D134E4E5F811}"/>
              </a:ext>
            </a:extLst>
          </p:cNvPr>
          <p:cNvCxnSpPr>
            <a:cxnSpLocks/>
            <a:stCxn id="15" idx="1"/>
            <a:endCxn id="11" idx="3"/>
          </p:cNvCxnSpPr>
          <p:nvPr/>
        </p:nvCxnSpPr>
        <p:spPr bwMode="gray">
          <a:xfrm flipH="1">
            <a:off x="4728901" y="5464441"/>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E364B332-63CA-4A53-8F1F-A8542E9319F8}"/>
              </a:ext>
            </a:extLst>
          </p:cNvPr>
          <p:cNvCxnSpPr>
            <a:cxnSpLocks/>
            <a:stCxn id="14" idx="1"/>
            <a:endCxn id="15" idx="0"/>
          </p:cNvCxnSpPr>
          <p:nvPr/>
        </p:nvCxnSpPr>
        <p:spPr bwMode="gray">
          <a:xfrm flipH="1">
            <a:off x="5510731" y="4598608"/>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B2FC039D-72F7-4803-AD4A-52EB45A0E2FE}"/>
              </a:ext>
            </a:extLst>
          </p:cNvPr>
          <p:cNvCxnSpPr>
            <a:cxnSpLocks/>
            <a:stCxn id="16" idx="1"/>
            <a:endCxn id="15" idx="3"/>
          </p:cNvCxnSpPr>
          <p:nvPr/>
        </p:nvCxnSpPr>
        <p:spPr bwMode="gray">
          <a:xfrm flipH="1">
            <a:off x="5700162" y="5464019"/>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73C1A26B-DBDD-4F6D-97F5-5F7998E0A99B}"/>
              </a:ext>
            </a:extLst>
          </p:cNvPr>
          <p:cNvCxnSpPr>
            <a:cxnSpLocks/>
            <a:stCxn id="16" idx="0"/>
            <a:endCxn id="14" idx="3"/>
          </p:cNvCxnSpPr>
          <p:nvPr/>
        </p:nvCxnSpPr>
        <p:spPr bwMode="gray">
          <a:xfrm flipH="1" flipV="1">
            <a:off x="6288693" y="4598608"/>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BC6FA49A-593F-4483-9A29-91807FD76C36}"/>
              </a:ext>
            </a:extLst>
          </p:cNvPr>
          <p:cNvCxnSpPr>
            <a:cxnSpLocks/>
            <a:stCxn id="12" idx="1"/>
            <a:endCxn id="14" idx="3"/>
          </p:cNvCxnSpPr>
          <p:nvPr/>
        </p:nvCxnSpPr>
        <p:spPr bwMode="gray">
          <a:xfrm flipH="1" flipV="1">
            <a:off x="6288693" y="4598608"/>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D6CA6A42-E60A-423F-909E-EEC22BE12E5B}"/>
              </a:ext>
            </a:extLst>
          </p:cNvPr>
          <p:cNvCxnSpPr>
            <a:cxnSpLocks/>
            <a:stCxn id="13" idx="1"/>
            <a:endCxn id="16" idx="3"/>
          </p:cNvCxnSpPr>
          <p:nvPr/>
        </p:nvCxnSpPr>
        <p:spPr bwMode="gray">
          <a:xfrm flipH="1" flipV="1">
            <a:off x="6880488" y="5464019"/>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6A93B207-D856-432F-895F-2C16325573FA}"/>
              </a:ext>
            </a:extLst>
          </p:cNvPr>
          <p:cNvCxnSpPr>
            <a:cxnSpLocks/>
            <a:stCxn id="12" idx="2"/>
            <a:endCxn id="13" idx="0"/>
          </p:cNvCxnSpPr>
          <p:nvPr/>
        </p:nvCxnSpPr>
        <p:spPr bwMode="gray">
          <a:xfrm>
            <a:off x="7523472" y="4756875"/>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 xmlns:a16="http://schemas.microsoft.com/office/drawing/2014/main" id="{F6314D30-C887-4BE3-A0A2-95C156227D1A}"/>
              </a:ext>
            </a:extLst>
          </p:cNvPr>
          <p:cNvCxnSpPr>
            <a:cxnSpLocks/>
            <a:stCxn id="12" idx="3"/>
            <a:endCxn id="17" idx="1"/>
          </p:cNvCxnSpPr>
          <p:nvPr/>
        </p:nvCxnSpPr>
        <p:spPr bwMode="gray">
          <a:xfrm>
            <a:off x="7712903" y="4601542"/>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 xmlns:a16="http://schemas.microsoft.com/office/drawing/2014/main" id="{C19ED471-56F6-4CC2-9592-93A39F939F9B}"/>
              </a:ext>
            </a:extLst>
          </p:cNvPr>
          <p:cNvCxnSpPr>
            <a:cxnSpLocks/>
            <a:stCxn id="13" idx="3"/>
            <a:endCxn id="18" idx="1"/>
          </p:cNvCxnSpPr>
          <p:nvPr/>
        </p:nvCxnSpPr>
        <p:spPr bwMode="gray">
          <a:xfrm>
            <a:off x="7712903" y="5467375"/>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F127146B-2AA3-492E-8FDA-952F447CB975}"/>
              </a:ext>
            </a:extLst>
          </p:cNvPr>
          <p:cNvCxnSpPr>
            <a:cxnSpLocks/>
            <a:stCxn id="20" idx="2"/>
            <a:endCxn id="14" idx="1"/>
          </p:cNvCxnSpPr>
          <p:nvPr/>
        </p:nvCxnSpPr>
        <p:spPr bwMode="gray">
          <a:xfrm>
            <a:off x="5558361" y="3725244"/>
            <a:ext cx="351469" cy="87336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A844549A-7EC9-49D6-8864-087B73D24671}"/>
              </a:ext>
            </a:extLst>
          </p:cNvPr>
          <p:cNvCxnSpPr>
            <a:cxnSpLocks/>
            <a:stCxn id="19" idx="2"/>
            <a:endCxn id="14" idx="3"/>
          </p:cNvCxnSpPr>
          <p:nvPr/>
        </p:nvCxnSpPr>
        <p:spPr bwMode="gray">
          <a:xfrm flipH="1">
            <a:off x="6288693" y="3725243"/>
            <a:ext cx="354734" cy="87336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 xmlns:a16="http://schemas.microsoft.com/office/drawing/2014/main" id="{E4B520B0-AE89-4D4B-9281-EC57F58E2E8C}"/>
              </a:ext>
            </a:extLst>
          </p:cNvPr>
          <p:cNvCxnSpPr>
            <a:cxnSpLocks/>
            <a:stCxn id="20" idx="3"/>
            <a:endCxn id="19" idx="1"/>
          </p:cNvCxnSpPr>
          <p:nvPr/>
        </p:nvCxnSpPr>
        <p:spPr bwMode="gray">
          <a:xfrm flipV="1">
            <a:off x="5747792" y="3569910"/>
            <a:ext cx="706203"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E81F985A-3092-4CBD-B1EF-77FD4A3EFDE5}"/>
              </a:ext>
            </a:extLst>
          </p:cNvPr>
          <p:cNvCxnSpPr>
            <a:cxnSpLocks/>
            <a:stCxn id="22" idx="2"/>
            <a:endCxn id="20" idx="0"/>
          </p:cNvCxnSpPr>
          <p:nvPr/>
        </p:nvCxnSpPr>
        <p:spPr bwMode="gray">
          <a:xfrm>
            <a:off x="5558361" y="2953208"/>
            <a:ext cx="0" cy="4613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 xmlns:a16="http://schemas.microsoft.com/office/drawing/2014/main" id="{42673214-25D2-4E86-806E-6567EE218A96}"/>
              </a:ext>
            </a:extLst>
          </p:cNvPr>
          <p:cNvCxnSpPr>
            <a:cxnSpLocks/>
            <a:stCxn id="21" idx="2"/>
            <a:endCxn id="19" idx="0"/>
          </p:cNvCxnSpPr>
          <p:nvPr/>
        </p:nvCxnSpPr>
        <p:spPr bwMode="gray">
          <a:xfrm>
            <a:off x="6643427" y="2953207"/>
            <a:ext cx="0" cy="46136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 xmlns:a16="http://schemas.microsoft.com/office/drawing/2014/main" id="{DCD692ED-6419-4DFA-945F-EDCA2AA2C822}"/>
              </a:ext>
            </a:extLst>
          </p:cNvPr>
          <p:cNvSpPr/>
          <p:nvPr/>
        </p:nvSpPr>
        <p:spPr bwMode="gray">
          <a:xfrm>
            <a:off x="2707388" y="4373373"/>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图片 51" descr="交换机.png">
            <a:extLst>
              <a:ext uri="{FF2B5EF4-FFF2-40B4-BE49-F238E27FC236}">
                <a16:creationId xmlns="" xmlns:a16="http://schemas.microsoft.com/office/drawing/2014/main" id="{C1251703-5073-43BC-AA13-DB278D621C10}"/>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859653" y="4446208"/>
            <a:ext cx="379705" cy="310667"/>
          </a:xfrm>
          <a:prstGeom prst="rect">
            <a:avLst/>
          </a:prstGeom>
        </p:spPr>
      </p:pic>
      <p:pic>
        <p:nvPicPr>
          <p:cNvPr id="43" name="图片 51" descr="交换机.png">
            <a:extLst>
              <a:ext uri="{FF2B5EF4-FFF2-40B4-BE49-F238E27FC236}">
                <a16:creationId xmlns="" xmlns:a16="http://schemas.microsoft.com/office/drawing/2014/main" id="{224A55A1-5678-4F28-A18B-A51B94E4D316}"/>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859653" y="4872850"/>
            <a:ext cx="379705" cy="310667"/>
          </a:xfrm>
          <a:prstGeom prst="rect">
            <a:avLst/>
          </a:prstGeom>
        </p:spPr>
      </p:pic>
      <p:pic>
        <p:nvPicPr>
          <p:cNvPr id="44" name="图片 51" descr="交换机.png">
            <a:extLst>
              <a:ext uri="{FF2B5EF4-FFF2-40B4-BE49-F238E27FC236}">
                <a16:creationId xmlns="" xmlns:a16="http://schemas.microsoft.com/office/drawing/2014/main" id="{78D8F909-2D9C-4DDC-A3A4-9BFA080917C4}"/>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856774" y="5297817"/>
            <a:ext cx="379705" cy="310667"/>
          </a:xfrm>
          <a:prstGeom prst="rect">
            <a:avLst/>
          </a:prstGeom>
        </p:spPr>
      </p:pic>
      <p:sp>
        <p:nvSpPr>
          <p:cNvPr id="45" name="Rectangle 44">
            <a:extLst>
              <a:ext uri="{FF2B5EF4-FFF2-40B4-BE49-F238E27FC236}">
                <a16:creationId xmlns="" xmlns:a16="http://schemas.microsoft.com/office/drawing/2014/main" id="{24E0178D-36C5-4F6C-AFC4-7067422C8966}"/>
              </a:ext>
            </a:extLst>
          </p:cNvPr>
          <p:cNvSpPr/>
          <p:nvPr/>
        </p:nvSpPr>
        <p:spPr bwMode="gray">
          <a:xfrm>
            <a:off x="8090009" y="4373373"/>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图片 67">
            <a:extLst>
              <a:ext uri="{FF2B5EF4-FFF2-40B4-BE49-F238E27FC236}">
                <a16:creationId xmlns="" xmlns:a16="http://schemas.microsoft.com/office/drawing/2014/main" id="{568A9674-30E2-4B0F-B699-BCE4CE54B679}"/>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847300" y="4449008"/>
            <a:ext cx="375447" cy="307867"/>
          </a:xfrm>
          <a:prstGeom prst="rect">
            <a:avLst/>
          </a:prstGeom>
        </p:spPr>
      </p:pic>
      <p:pic>
        <p:nvPicPr>
          <p:cNvPr id="47" name="图片 67">
            <a:extLst>
              <a:ext uri="{FF2B5EF4-FFF2-40B4-BE49-F238E27FC236}">
                <a16:creationId xmlns="" xmlns:a16="http://schemas.microsoft.com/office/drawing/2014/main" id="{E9B7E09B-67FF-4B23-B5CB-ADC75199D433}"/>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847300" y="4881626"/>
            <a:ext cx="375447" cy="307867"/>
          </a:xfrm>
          <a:prstGeom prst="rect">
            <a:avLst/>
          </a:prstGeom>
        </p:spPr>
      </p:pic>
      <p:pic>
        <p:nvPicPr>
          <p:cNvPr id="48" name="图片 67">
            <a:extLst>
              <a:ext uri="{FF2B5EF4-FFF2-40B4-BE49-F238E27FC236}">
                <a16:creationId xmlns="" xmlns:a16="http://schemas.microsoft.com/office/drawing/2014/main" id="{1563F0DE-CAB9-47EB-AAEC-42C16E8F3E12}"/>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847299" y="5305524"/>
            <a:ext cx="375447" cy="307867"/>
          </a:xfrm>
          <a:prstGeom prst="rect">
            <a:avLst/>
          </a:prstGeom>
        </p:spPr>
      </p:pic>
      <p:sp>
        <p:nvSpPr>
          <p:cNvPr id="49" name="Rectangle 48">
            <a:extLst>
              <a:ext uri="{FF2B5EF4-FFF2-40B4-BE49-F238E27FC236}">
                <a16:creationId xmlns="" xmlns:a16="http://schemas.microsoft.com/office/drawing/2014/main" id="{CAB2D7B7-A1AC-47AB-ACD1-8AB35CD96F66}"/>
              </a:ext>
            </a:extLst>
          </p:cNvPr>
          <p:cNvSpPr/>
          <p:nvPr/>
        </p:nvSpPr>
        <p:spPr bwMode="gray">
          <a:xfrm>
            <a:off x="5195086" y="2001965"/>
            <a:ext cx="1806851" cy="1070259"/>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图片 14" descr="交换机.png">
            <a:extLst>
              <a:ext uri="{FF2B5EF4-FFF2-40B4-BE49-F238E27FC236}">
                <a16:creationId xmlns="" xmlns:a16="http://schemas.microsoft.com/office/drawing/2014/main" id="{88E2BF7D-BD8D-4B2D-8217-69BCB1F40298}"/>
              </a:ext>
            </a:extLst>
          </p:cNvPr>
          <p:cNvPicPr>
            <a:picLocks noChangeAspect="1"/>
          </p:cNvPicPr>
          <p:nvPr/>
        </p:nvPicPr>
        <p:blipFill>
          <a:blip r:embed="rId6" cstate="print">
            <a:duotone>
              <a:schemeClr val="bg2">
                <a:shade val="45000"/>
                <a:satMod val="135000"/>
              </a:schemeClr>
              <a:prstClr val="white"/>
            </a:duotone>
          </a:blip>
          <a:stretch>
            <a:fillRect/>
          </a:stretch>
        </p:blipFill>
        <p:spPr bwMode="gray">
          <a:xfrm>
            <a:off x="5369722" y="2121122"/>
            <a:ext cx="378070" cy="309329"/>
          </a:xfrm>
          <a:prstGeom prst="rect">
            <a:avLst/>
          </a:prstGeom>
        </p:spPr>
      </p:pic>
      <p:pic>
        <p:nvPicPr>
          <p:cNvPr id="51" name="图片 14" descr="交换机.png">
            <a:extLst>
              <a:ext uri="{FF2B5EF4-FFF2-40B4-BE49-F238E27FC236}">
                <a16:creationId xmlns="" xmlns:a16="http://schemas.microsoft.com/office/drawing/2014/main" id="{A00DE650-73B4-4A15-B0F4-BBC666DD5E77}"/>
              </a:ext>
            </a:extLst>
          </p:cNvPr>
          <p:cNvPicPr>
            <a:picLocks noChangeAspect="1"/>
          </p:cNvPicPr>
          <p:nvPr/>
        </p:nvPicPr>
        <p:blipFill>
          <a:blip r:embed="rId6" cstate="print">
            <a:duotone>
              <a:schemeClr val="bg2">
                <a:shade val="45000"/>
                <a:satMod val="135000"/>
              </a:schemeClr>
              <a:prstClr val="white"/>
            </a:duotone>
          </a:blip>
          <a:stretch>
            <a:fillRect/>
          </a:stretch>
        </p:blipFill>
        <p:spPr bwMode="gray">
          <a:xfrm>
            <a:off x="6451642" y="2122945"/>
            <a:ext cx="378070" cy="309329"/>
          </a:xfrm>
          <a:prstGeom prst="rect">
            <a:avLst/>
          </a:prstGeom>
        </p:spPr>
      </p:pic>
      <p:pic>
        <p:nvPicPr>
          <p:cNvPr id="52" name="图片 14" descr="交换机.png">
            <a:extLst>
              <a:ext uri="{FF2B5EF4-FFF2-40B4-BE49-F238E27FC236}">
                <a16:creationId xmlns="" xmlns:a16="http://schemas.microsoft.com/office/drawing/2014/main" id="{0B87B80C-8C80-409F-A86B-CEB7BDC3E48F}"/>
              </a:ext>
            </a:extLst>
          </p:cNvPr>
          <p:cNvPicPr>
            <a:picLocks noChangeAspect="1"/>
          </p:cNvPicPr>
          <p:nvPr/>
        </p:nvPicPr>
        <p:blipFill>
          <a:blip r:embed="rId6" cstate="print">
            <a:duotone>
              <a:schemeClr val="bg2">
                <a:shade val="45000"/>
                <a:satMod val="135000"/>
              </a:schemeClr>
              <a:prstClr val="white"/>
            </a:duotone>
          </a:blip>
          <a:stretch>
            <a:fillRect/>
          </a:stretch>
        </p:blipFill>
        <p:spPr bwMode="gray">
          <a:xfrm>
            <a:off x="5911548" y="2126057"/>
            <a:ext cx="378070" cy="309329"/>
          </a:xfrm>
          <a:prstGeom prst="rect">
            <a:avLst/>
          </a:prstGeom>
        </p:spPr>
      </p:pic>
      <p:sp>
        <p:nvSpPr>
          <p:cNvPr id="53" name="TextBox 271">
            <a:extLst>
              <a:ext uri="{FF2B5EF4-FFF2-40B4-BE49-F238E27FC236}">
                <a16:creationId xmlns="" xmlns:a16="http://schemas.microsoft.com/office/drawing/2014/main" id="{0522F300-C1EA-4A3E-9CA9-F211C8C9181D}"/>
              </a:ext>
            </a:extLst>
          </p:cNvPr>
          <p:cNvSpPr txBox="1"/>
          <p:nvPr/>
        </p:nvSpPr>
        <p:spPr bwMode="gray">
          <a:xfrm>
            <a:off x="4360574" y="4202293"/>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TextBox 271">
            <a:extLst>
              <a:ext uri="{FF2B5EF4-FFF2-40B4-BE49-F238E27FC236}">
                <a16:creationId xmlns="" xmlns:a16="http://schemas.microsoft.com/office/drawing/2014/main" id="{8A827A11-B011-496F-9EC5-A353C0D5A9B4}"/>
              </a:ext>
            </a:extLst>
          </p:cNvPr>
          <p:cNvSpPr txBox="1"/>
          <p:nvPr/>
        </p:nvSpPr>
        <p:spPr bwMode="gray">
          <a:xfrm>
            <a:off x="4343402" y="559850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271">
            <a:extLst>
              <a:ext uri="{FF2B5EF4-FFF2-40B4-BE49-F238E27FC236}">
                <a16:creationId xmlns="" xmlns:a16="http://schemas.microsoft.com/office/drawing/2014/main" id="{14C27F3D-4D69-40BA-AADC-A9886427362E}"/>
              </a:ext>
            </a:extLst>
          </p:cNvPr>
          <p:cNvSpPr txBox="1"/>
          <p:nvPr/>
        </p:nvSpPr>
        <p:spPr bwMode="gray">
          <a:xfrm>
            <a:off x="5077602" y="3435801"/>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271">
            <a:extLst>
              <a:ext uri="{FF2B5EF4-FFF2-40B4-BE49-F238E27FC236}">
                <a16:creationId xmlns="" xmlns:a16="http://schemas.microsoft.com/office/drawing/2014/main" id="{23D3F45F-65D8-4967-AA17-AA564F38C7D7}"/>
              </a:ext>
            </a:extLst>
          </p:cNvPr>
          <p:cNvSpPr txBox="1"/>
          <p:nvPr/>
        </p:nvSpPr>
        <p:spPr bwMode="gray">
          <a:xfrm>
            <a:off x="6767392" y="342364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271">
            <a:extLst>
              <a:ext uri="{FF2B5EF4-FFF2-40B4-BE49-F238E27FC236}">
                <a16:creationId xmlns="" xmlns:a16="http://schemas.microsoft.com/office/drawing/2014/main" id="{994BF352-987F-4EF5-AEEE-0371661AB248}"/>
              </a:ext>
            </a:extLst>
          </p:cNvPr>
          <p:cNvSpPr txBox="1"/>
          <p:nvPr/>
        </p:nvSpPr>
        <p:spPr bwMode="gray">
          <a:xfrm>
            <a:off x="7331616" y="421981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271">
            <a:extLst>
              <a:ext uri="{FF2B5EF4-FFF2-40B4-BE49-F238E27FC236}">
                <a16:creationId xmlns="" xmlns:a16="http://schemas.microsoft.com/office/drawing/2014/main" id="{56F5AA04-72DC-48F0-854C-722EEA1F79D7}"/>
              </a:ext>
            </a:extLst>
          </p:cNvPr>
          <p:cNvSpPr txBox="1"/>
          <p:nvPr/>
        </p:nvSpPr>
        <p:spPr bwMode="gray">
          <a:xfrm>
            <a:off x="7333215" y="560848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271">
            <a:extLst>
              <a:ext uri="{FF2B5EF4-FFF2-40B4-BE49-F238E27FC236}">
                <a16:creationId xmlns="" xmlns:a16="http://schemas.microsoft.com/office/drawing/2014/main" id="{D378A40A-4CAE-4C9A-A7DD-DC85095644A2}"/>
              </a:ext>
            </a:extLst>
          </p:cNvPr>
          <p:cNvSpPr txBox="1"/>
          <p:nvPr/>
        </p:nvSpPr>
        <p:spPr bwMode="gray">
          <a:xfrm>
            <a:off x="5968865" y="4202293"/>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271">
            <a:extLst>
              <a:ext uri="{FF2B5EF4-FFF2-40B4-BE49-F238E27FC236}">
                <a16:creationId xmlns="" xmlns:a16="http://schemas.microsoft.com/office/drawing/2014/main" id="{2F6A643D-6863-44C1-9359-EE582605964D}"/>
              </a:ext>
            </a:extLst>
          </p:cNvPr>
          <p:cNvSpPr txBox="1"/>
          <p:nvPr/>
        </p:nvSpPr>
        <p:spPr bwMode="gray">
          <a:xfrm>
            <a:off x="5371140" y="5586205"/>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TextBox 271">
            <a:extLst>
              <a:ext uri="{FF2B5EF4-FFF2-40B4-BE49-F238E27FC236}">
                <a16:creationId xmlns="" xmlns:a16="http://schemas.microsoft.com/office/drawing/2014/main" id="{82C1594F-7BBF-43DF-89C8-7A2423648EB8}"/>
              </a:ext>
            </a:extLst>
          </p:cNvPr>
          <p:cNvSpPr txBox="1"/>
          <p:nvPr/>
        </p:nvSpPr>
        <p:spPr bwMode="gray">
          <a:xfrm>
            <a:off x="6552802" y="5608240"/>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271">
            <a:extLst>
              <a:ext uri="{FF2B5EF4-FFF2-40B4-BE49-F238E27FC236}">
                <a16:creationId xmlns="" xmlns:a16="http://schemas.microsoft.com/office/drawing/2014/main" id="{8DCB9A75-D437-4DB4-8341-D15F4A7912C6}"/>
              </a:ext>
            </a:extLst>
          </p:cNvPr>
          <p:cNvSpPr txBox="1"/>
          <p:nvPr/>
        </p:nvSpPr>
        <p:spPr bwMode="gray">
          <a:xfrm rot="16200000">
            <a:off x="3652778" y="3752714"/>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63" name="TextBox 62">
            <a:extLst>
              <a:ext uri="{FF2B5EF4-FFF2-40B4-BE49-F238E27FC236}">
                <a16:creationId xmlns="" xmlns:a16="http://schemas.microsoft.com/office/drawing/2014/main" id="{7D712E85-12AC-4D4A-B968-666FA5145469}"/>
              </a:ext>
            </a:extLst>
          </p:cNvPr>
          <p:cNvSpPr txBox="1"/>
          <p:nvPr/>
        </p:nvSpPr>
        <p:spPr bwMode="gray">
          <a:xfrm>
            <a:off x="4262810" y="3343468"/>
            <a:ext cx="702950" cy="646331"/>
          </a:xfrm>
          <a:prstGeom prst="rect">
            <a:avLst/>
          </a:prstGeom>
          <a:noFill/>
        </p:spPr>
        <p:txBody>
          <a:bodyPr wrap="square" rtlCol="0">
            <a:spAutoFit/>
          </a:bodyPr>
          <a:lstStyle/>
          <a:p>
            <a:r>
              <a:rPr lang="en-US" dirty="0"/>
              <a:t>IS-IS</a:t>
            </a:r>
          </a:p>
          <a:p>
            <a:r>
              <a:rPr lang="en-US" dirty="0"/>
              <a:t>BGP</a:t>
            </a:r>
          </a:p>
        </p:txBody>
      </p:sp>
      <p:pic>
        <p:nvPicPr>
          <p:cNvPr id="68" name="图片 48">
            <a:extLst>
              <a:ext uri="{FF2B5EF4-FFF2-40B4-BE49-F238E27FC236}">
                <a16:creationId xmlns="" xmlns:a16="http://schemas.microsoft.com/office/drawing/2014/main" id="{EF8E554C-BB78-4D81-A63B-532E2D97B9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4805" y="4952390"/>
            <a:ext cx="378863" cy="310667"/>
          </a:xfrm>
          <a:prstGeom prst="rect">
            <a:avLst/>
          </a:prstGeom>
        </p:spPr>
      </p:pic>
      <p:sp>
        <p:nvSpPr>
          <p:cNvPr id="69" name="TextBox 271">
            <a:extLst>
              <a:ext uri="{FF2B5EF4-FFF2-40B4-BE49-F238E27FC236}">
                <a16:creationId xmlns="" xmlns:a16="http://schemas.microsoft.com/office/drawing/2014/main" id="{10F7C809-63A3-4E43-9228-534B1B3B4940}"/>
              </a:ext>
            </a:extLst>
          </p:cNvPr>
          <p:cNvSpPr txBox="1"/>
          <p:nvPr/>
        </p:nvSpPr>
        <p:spPr bwMode="gray">
          <a:xfrm>
            <a:off x="5911060" y="5214155"/>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Straight Connector 69">
            <a:extLst>
              <a:ext uri="{FF2B5EF4-FFF2-40B4-BE49-F238E27FC236}">
                <a16:creationId xmlns="" xmlns:a16="http://schemas.microsoft.com/office/drawing/2014/main" id="{DF111AAF-0384-44D1-8B07-8F25A2A44580}"/>
              </a:ext>
            </a:extLst>
          </p:cNvPr>
          <p:cNvCxnSpPr>
            <a:cxnSpLocks/>
            <a:stCxn id="14" idx="2"/>
            <a:endCxn id="68" idx="0"/>
          </p:cNvCxnSpPr>
          <p:nvPr/>
        </p:nvCxnSpPr>
        <p:spPr bwMode="gray">
          <a:xfrm flipH="1">
            <a:off x="6094237" y="4753941"/>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3" name="Oval 41">
            <a:extLst>
              <a:ext uri="{FF2B5EF4-FFF2-40B4-BE49-F238E27FC236}">
                <a16:creationId xmlns="" xmlns:a16="http://schemas.microsoft.com/office/drawing/2014/main" id="{35060301-C08C-49A1-B8B3-F1830AB214B8}"/>
              </a:ext>
            </a:extLst>
          </p:cNvPr>
          <p:cNvSpPr>
            <a:spLocks noChangeAspect="1"/>
          </p:cNvSpPr>
          <p:nvPr/>
        </p:nvSpPr>
        <p:spPr bwMode="gray">
          <a:xfrm>
            <a:off x="4277449" y="452191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4" name="Oval 41">
            <a:extLst>
              <a:ext uri="{FF2B5EF4-FFF2-40B4-BE49-F238E27FC236}">
                <a16:creationId xmlns="" xmlns:a16="http://schemas.microsoft.com/office/drawing/2014/main" id="{C66F3BCA-78EA-4919-85C6-B1ACD8BC2AFC}"/>
              </a:ext>
            </a:extLst>
          </p:cNvPr>
          <p:cNvSpPr>
            <a:spLocks noChangeAspect="1"/>
          </p:cNvSpPr>
          <p:nvPr/>
        </p:nvSpPr>
        <p:spPr bwMode="gray">
          <a:xfrm>
            <a:off x="4258357" y="536861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5" name="Oval 41">
            <a:extLst>
              <a:ext uri="{FF2B5EF4-FFF2-40B4-BE49-F238E27FC236}">
                <a16:creationId xmlns="" xmlns:a16="http://schemas.microsoft.com/office/drawing/2014/main" id="{36C3BA8B-B2FB-466B-8D7D-D1257E535257}"/>
              </a:ext>
            </a:extLst>
          </p:cNvPr>
          <p:cNvSpPr>
            <a:spLocks noChangeAspect="1"/>
          </p:cNvSpPr>
          <p:nvPr/>
        </p:nvSpPr>
        <p:spPr bwMode="gray">
          <a:xfrm>
            <a:off x="5478138" y="333956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6" name="Oval 41">
            <a:extLst>
              <a:ext uri="{FF2B5EF4-FFF2-40B4-BE49-F238E27FC236}">
                <a16:creationId xmlns="" xmlns:a16="http://schemas.microsoft.com/office/drawing/2014/main" id="{D3B7D93C-D228-410B-86CE-DB7A987A156F}"/>
              </a:ext>
            </a:extLst>
          </p:cNvPr>
          <p:cNvSpPr>
            <a:spLocks noChangeAspect="1"/>
          </p:cNvSpPr>
          <p:nvPr/>
        </p:nvSpPr>
        <p:spPr bwMode="gray">
          <a:xfrm>
            <a:off x="6563796" y="333023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7" name="Oval 41">
            <a:extLst>
              <a:ext uri="{FF2B5EF4-FFF2-40B4-BE49-F238E27FC236}">
                <a16:creationId xmlns="" xmlns:a16="http://schemas.microsoft.com/office/drawing/2014/main" id="{95912569-4D9D-4345-801C-AA6F0960E396}"/>
              </a:ext>
            </a:extLst>
          </p:cNvPr>
          <p:cNvSpPr>
            <a:spLocks noChangeAspect="1"/>
          </p:cNvSpPr>
          <p:nvPr/>
        </p:nvSpPr>
        <p:spPr bwMode="gray">
          <a:xfrm>
            <a:off x="7639113" y="451992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8" name="Oval 41">
            <a:extLst>
              <a:ext uri="{FF2B5EF4-FFF2-40B4-BE49-F238E27FC236}">
                <a16:creationId xmlns="" xmlns:a16="http://schemas.microsoft.com/office/drawing/2014/main" id="{34B7716F-28F6-447B-9BD9-54B4E378188F}"/>
              </a:ext>
            </a:extLst>
          </p:cNvPr>
          <p:cNvSpPr>
            <a:spLocks noChangeAspect="1"/>
          </p:cNvSpPr>
          <p:nvPr/>
        </p:nvSpPr>
        <p:spPr bwMode="gray">
          <a:xfrm>
            <a:off x="7639113" y="538606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9" name="Oval 41">
            <a:extLst>
              <a:ext uri="{FF2B5EF4-FFF2-40B4-BE49-F238E27FC236}">
                <a16:creationId xmlns="" xmlns:a16="http://schemas.microsoft.com/office/drawing/2014/main" id="{5D42F6A3-1F87-420F-A718-57B33535E5C0}"/>
              </a:ext>
            </a:extLst>
          </p:cNvPr>
          <p:cNvSpPr>
            <a:spLocks noChangeAspect="1"/>
          </p:cNvSpPr>
          <p:nvPr/>
        </p:nvSpPr>
        <p:spPr bwMode="gray">
          <a:xfrm>
            <a:off x="8359941" y="587351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0" name="TextBox 271">
            <a:extLst>
              <a:ext uri="{FF2B5EF4-FFF2-40B4-BE49-F238E27FC236}">
                <a16:creationId xmlns="" xmlns:a16="http://schemas.microsoft.com/office/drawing/2014/main" id="{1CE12DBD-9795-434E-BA6B-D41F4A9DCE8E}"/>
              </a:ext>
            </a:extLst>
          </p:cNvPr>
          <p:cNvSpPr txBox="1"/>
          <p:nvPr/>
        </p:nvSpPr>
        <p:spPr bwMode="gray">
          <a:xfrm>
            <a:off x="8497469" y="5824787"/>
            <a:ext cx="949299"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接入点</a:t>
            </a:r>
          </a:p>
        </p:txBody>
      </p:sp>
      <p:sp>
        <p:nvSpPr>
          <p:cNvPr id="81" name="燕尾形 3">
            <a:extLst>
              <a:ext uri="{FF2B5EF4-FFF2-40B4-BE49-F238E27FC236}">
                <a16:creationId xmlns="" xmlns:a16="http://schemas.microsoft.com/office/drawing/2014/main" id="{21AB90C3-F85D-415A-86FD-F1CDE4DAC77C}"/>
              </a:ext>
            </a:extLst>
          </p:cNvPr>
          <p:cNvSpPr/>
          <p:nvPr/>
        </p:nvSpPr>
        <p:spPr bwMode="gray">
          <a:xfrm>
            <a:off x="9239250" y="44020"/>
            <a:ext cx="107061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划分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3">
            <a:extLst>
              <a:ext uri="{FF2B5EF4-FFF2-40B4-BE49-F238E27FC236}">
                <a16:creationId xmlns="" xmlns:a16="http://schemas.microsoft.com/office/drawing/2014/main" id="{4BC88F2C-7419-44C6-A9CE-B766F19DDC02}"/>
              </a:ext>
            </a:extLst>
          </p:cNvPr>
          <p:cNvSpPr/>
          <p:nvPr/>
        </p:nvSpPr>
        <p:spPr bwMode="gray">
          <a:xfrm>
            <a:off x="10234076" y="44020"/>
            <a:ext cx="151342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传递</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97986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AA70B96-F279-4142-AF36-7973A7C32B8B}"/>
              </a:ext>
            </a:extLst>
          </p:cNvPr>
          <p:cNvSpPr>
            <a:spLocks noGrp="1"/>
          </p:cNvSpPr>
          <p:nvPr>
            <p:ph type="title"/>
          </p:nvPr>
        </p:nvSpPr>
        <p:spPr bwMode="gray"/>
        <p:txBody>
          <a:bodyPr/>
          <a:lstStyle/>
          <a:p>
            <a:r>
              <a:rPr lang="en-US" dirty="0"/>
              <a:t>IP</a:t>
            </a:r>
            <a:r>
              <a:rPr lang="en-US" altLang="zh-CN" dirty="0"/>
              <a:t>v4 VPN</a:t>
            </a:r>
            <a:r>
              <a:rPr lang="zh-CN" altLang="en-US" dirty="0"/>
              <a:t>类型选择</a:t>
            </a:r>
            <a:endParaRPr lang="en-US" dirty="0"/>
          </a:p>
        </p:txBody>
      </p:sp>
      <p:sp>
        <p:nvSpPr>
          <p:cNvPr id="4" name="Text Placeholder 3">
            <a:extLst>
              <a:ext uri="{FF2B5EF4-FFF2-40B4-BE49-F238E27FC236}">
                <a16:creationId xmlns="" xmlns:a16="http://schemas.microsoft.com/office/drawing/2014/main" id="{02314B4F-0FE6-437D-B91E-F403EF6FA10B}"/>
              </a:ext>
            </a:extLst>
          </p:cNvPr>
          <p:cNvSpPr>
            <a:spLocks noGrp="1"/>
          </p:cNvSpPr>
          <p:nvPr>
            <p:ph type="body" sz="quarter" idx="10"/>
          </p:nvPr>
        </p:nvSpPr>
        <p:spPr bwMode="gray">
          <a:xfrm>
            <a:off x="455612" y="1047750"/>
            <a:ext cx="11293475" cy="2276475"/>
          </a:xfrm>
        </p:spPr>
        <p:txBody>
          <a:bodyPr/>
          <a:lstStyle/>
          <a:p>
            <a:r>
              <a:rPr lang="zh-CN" altLang="en-US" sz="1800" dirty="0"/>
              <a:t>当使用</a:t>
            </a:r>
            <a:r>
              <a:rPr lang="en-US" altLang="zh-CN" sz="1800" dirty="0"/>
              <a:t>SR-MPLS</a:t>
            </a:r>
            <a:r>
              <a:rPr lang="zh-CN" altLang="en-US" sz="1800" dirty="0"/>
              <a:t>承载</a:t>
            </a:r>
            <a:r>
              <a:rPr lang="en-US" altLang="zh-CN" sz="1800" dirty="0"/>
              <a:t>IPv4 L3VPN</a:t>
            </a:r>
            <a:r>
              <a:rPr lang="zh-CN" altLang="en-US" sz="1800" dirty="0"/>
              <a:t>流量时，可以使用</a:t>
            </a:r>
            <a:r>
              <a:rPr lang="en-US" altLang="zh-CN" sz="1800" dirty="0"/>
              <a:t>BGP VPNv4</a:t>
            </a:r>
            <a:r>
              <a:rPr lang="zh-CN" altLang="en-US" sz="1800" dirty="0"/>
              <a:t>地址族传递</a:t>
            </a:r>
            <a:r>
              <a:rPr lang="en-US" altLang="zh-CN" sz="1800" dirty="0"/>
              <a:t>VPN</a:t>
            </a:r>
            <a:r>
              <a:rPr lang="zh-CN" altLang="en-US" sz="1800" dirty="0"/>
              <a:t>路由，也可以使用</a:t>
            </a:r>
            <a:r>
              <a:rPr lang="en-US" altLang="zh-CN" sz="1800" dirty="0"/>
              <a:t>BGP EVPN</a:t>
            </a:r>
            <a:r>
              <a:rPr lang="zh-CN" altLang="en-US" sz="1800" dirty="0"/>
              <a:t>地址族传递</a:t>
            </a:r>
            <a:r>
              <a:rPr lang="en-US" altLang="zh-CN" sz="1800" dirty="0"/>
              <a:t>VPN</a:t>
            </a:r>
            <a:r>
              <a:rPr lang="zh-CN" altLang="en-US" sz="1800" dirty="0"/>
              <a:t>路由。</a:t>
            </a:r>
            <a:endParaRPr lang="en-US" altLang="zh-CN" sz="1800" dirty="0"/>
          </a:p>
          <a:p>
            <a:r>
              <a:rPr lang="zh-CN" altLang="en-US" sz="1800" dirty="0"/>
              <a:t>当使用</a:t>
            </a:r>
            <a:r>
              <a:rPr lang="en-US" altLang="zh-CN" sz="1800" dirty="0"/>
              <a:t>SRv6</a:t>
            </a:r>
            <a:r>
              <a:rPr lang="zh-CN" altLang="en-US" sz="1800" dirty="0"/>
              <a:t>承载</a:t>
            </a:r>
            <a:r>
              <a:rPr lang="en-US" altLang="zh-CN" sz="1800" dirty="0"/>
              <a:t>IPv4 L3VPN</a:t>
            </a:r>
            <a:r>
              <a:rPr lang="zh-CN" altLang="en-US" sz="1800" dirty="0"/>
              <a:t>流量时，考虑</a:t>
            </a:r>
            <a:r>
              <a:rPr lang="en-US" altLang="zh-CN" sz="1800" dirty="0"/>
              <a:t>IPv6</a:t>
            </a:r>
            <a:r>
              <a:rPr lang="zh-CN" altLang="en-US" sz="1800" dirty="0"/>
              <a:t>业务和</a:t>
            </a:r>
            <a:r>
              <a:rPr lang="en-US" altLang="zh-CN" sz="1800" dirty="0"/>
              <a:t>L2</a:t>
            </a:r>
            <a:r>
              <a:rPr lang="zh-CN" altLang="en-US" sz="1800" dirty="0"/>
              <a:t>业务的承载统一，推荐使用</a:t>
            </a:r>
            <a:r>
              <a:rPr lang="en-US" altLang="zh-CN" sz="1800" dirty="0"/>
              <a:t>BGP EVPN</a:t>
            </a:r>
            <a:r>
              <a:rPr lang="zh-CN" altLang="en-US" sz="1800" dirty="0"/>
              <a:t>地址族传递</a:t>
            </a:r>
            <a:r>
              <a:rPr lang="en-US" altLang="zh-CN" sz="1800" dirty="0"/>
              <a:t>VPN</a:t>
            </a:r>
            <a:r>
              <a:rPr lang="zh-CN" altLang="en-US" sz="1800" dirty="0"/>
              <a:t>路由。</a:t>
            </a:r>
            <a:endParaRPr lang="en-US" altLang="zh-CN" sz="1800" dirty="0"/>
          </a:p>
          <a:p>
            <a:r>
              <a:rPr lang="en-US" altLang="zh-CN" sz="1800" dirty="0"/>
              <a:t>VPNv4</a:t>
            </a:r>
            <a:r>
              <a:rPr lang="zh-CN" altLang="en-US" sz="1800" dirty="0"/>
              <a:t>和</a:t>
            </a:r>
            <a:r>
              <a:rPr lang="en-US" altLang="zh-CN" sz="1800" dirty="0"/>
              <a:t>EVPN</a:t>
            </a:r>
            <a:r>
              <a:rPr lang="zh-CN" altLang="en-US" sz="1800" dirty="0"/>
              <a:t>的</a:t>
            </a:r>
            <a:r>
              <a:rPr lang="en-US" altLang="zh-CN" sz="1800" dirty="0"/>
              <a:t>L3VPN</a:t>
            </a:r>
            <a:r>
              <a:rPr lang="zh-CN" altLang="en-US" sz="1800" dirty="0"/>
              <a:t>功能能够实现的能力基本一致，实现过程也基本一致。</a:t>
            </a:r>
          </a:p>
          <a:p>
            <a:pPr lvl="1"/>
            <a:endParaRPr lang="en-US" sz="1600" dirty="0"/>
          </a:p>
        </p:txBody>
      </p:sp>
      <p:sp>
        <p:nvSpPr>
          <p:cNvPr id="5" name="燕尾形 3">
            <a:extLst>
              <a:ext uri="{FF2B5EF4-FFF2-40B4-BE49-F238E27FC236}">
                <a16:creationId xmlns="" xmlns:a16="http://schemas.microsoft.com/office/drawing/2014/main" id="{206324BC-05EA-45FB-983E-67A6F913A4A1}"/>
              </a:ext>
            </a:extLst>
          </p:cNvPr>
          <p:cNvSpPr/>
          <p:nvPr/>
        </p:nvSpPr>
        <p:spPr bwMode="gray">
          <a:xfrm>
            <a:off x="9239250" y="44020"/>
            <a:ext cx="107061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划分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F8E80F7B-C7ED-47D9-AEBD-056E7D89D8AB}"/>
              </a:ext>
            </a:extLst>
          </p:cNvPr>
          <p:cNvSpPr/>
          <p:nvPr/>
        </p:nvSpPr>
        <p:spPr bwMode="gray">
          <a:xfrm>
            <a:off x="10234076" y="44020"/>
            <a:ext cx="151342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传递</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1" name="表格 8">
            <a:extLst>
              <a:ext uri="{FF2B5EF4-FFF2-40B4-BE49-F238E27FC236}">
                <a16:creationId xmlns="" xmlns:a16="http://schemas.microsoft.com/office/drawing/2014/main" id="{71950AF6-B34C-4A37-9AD1-8E73B81C1049}"/>
              </a:ext>
            </a:extLst>
          </p:cNvPr>
          <p:cNvGraphicFramePr>
            <a:graphicFrameLocks noGrp="1"/>
          </p:cNvGraphicFramePr>
          <p:nvPr>
            <p:extLst>
              <p:ext uri="{D42A27DB-BD31-4B8C-83A1-F6EECF244321}">
                <p14:modId xmlns:p14="http://schemas.microsoft.com/office/powerpoint/2010/main" val="496432357"/>
              </p:ext>
            </p:extLst>
          </p:nvPr>
        </p:nvGraphicFramePr>
        <p:xfrm>
          <a:off x="2068512" y="3429000"/>
          <a:ext cx="8067675" cy="2183864"/>
        </p:xfrm>
        <a:graphic>
          <a:graphicData uri="http://schemas.openxmlformats.org/drawingml/2006/table">
            <a:tbl>
              <a:tblPr firstRow="1" bandRow="1"/>
              <a:tblGrid>
                <a:gridCol w="2067332">
                  <a:extLst>
                    <a:ext uri="{9D8B030D-6E8A-4147-A177-3AD203B41FA5}">
                      <a16:colId xmlns="" xmlns:a16="http://schemas.microsoft.com/office/drawing/2014/main" val="20000"/>
                    </a:ext>
                  </a:extLst>
                </a:gridCol>
                <a:gridCol w="1395635">
                  <a:extLst>
                    <a:ext uri="{9D8B030D-6E8A-4147-A177-3AD203B41FA5}">
                      <a16:colId xmlns="" xmlns:a16="http://schemas.microsoft.com/office/drawing/2014/main" val="20001"/>
                    </a:ext>
                  </a:extLst>
                </a:gridCol>
                <a:gridCol w="1208958">
                  <a:extLst>
                    <a:ext uri="{9D8B030D-6E8A-4147-A177-3AD203B41FA5}">
                      <a16:colId xmlns="" xmlns:a16="http://schemas.microsoft.com/office/drawing/2014/main" val="20002"/>
                    </a:ext>
                  </a:extLst>
                </a:gridCol>
                <a:gridCol w="3395750">
                  <a:extLst>
                    <a:ext uri="{9D8B030D-6E8A-4147-A177-3AD203B41FA5}">
                      <a16:colId xmlns="" xmlns:a16="http://schemas.microsoft.com/office/drawing/2014/main" val="20003"/>
                    </a:ext>
                  </a:extLst>
                </a:gridCol>
              </a:tblGrid>
              <a:tr h="416426">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endParaRPr lang="zh-CN" altLang="en-US" sz="18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en-US" altLang="zh-CN"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VPNv4</a:t>
                      </a:r>
                      <a:endParaRPr lang="zh-CN" altLang="en-US"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en-US" altLang="zh-CN"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EVPNv4</a:t>
                      </a:r>
                      <a:endParaRPr lang="zh-CN" altLang="en-US"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zh-CN" altLang="en-US"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备注</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 xmlns:a16="http://schemas.microsoft.com/office/drawing/2014/main" val="10000"/>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转发平面</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MPLS/SRv6</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MPLS/SRv6</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无</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私网路由学习</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路由格式不一样</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是否支持</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反射路由</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无</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故障切换</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VPN FRR</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 FRR</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TE-HSB</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MPLS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CBTS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TI-LFA</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SRv6</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Mirror-SID</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9297161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CAA70B96-F279-4142-AF36-7973A7C32B8B}"/>
              </a:ext>
            </a:extLst>
          </p:cNvPr>
          <p:cNvSpPr>
            <a:spLocks noGrp="1"/>
          </p:cNvSpPr>
          <p:nvPr>
            <p:ph type="title"/>
          </p:nvPr>
        </p:nvSpPr>
        <p:spPr bwMode="gray"/>
        <p:txBody>
          <a:bodyPr/>
          <a:lstStyle/>
          <a:p>
            <a:r>
              <a:rPr lang="en-US" dirty="0"/>
              <a:t>IP</a:t>
            </a:r>
            <a:r>
              <a:rPr lang="en-US" altLang="zh-CN" dirty="0"/>
              <a:t>v6 VPN</a:t>
            </a:r>
            <a:r>
              <a:rPr lang="zh-CN" altLang="en-US" dirty="0"/>
              <a:t>类型选择</a:t>
            </a:r>
            <a:endParaRPr lang="en-US" dirty="0"/>
          </a:p>
        </p:txBody>
      </p:sp>
      <p:sp>
        <p:nvSpPr>
          <p:cNvPr id="4" name="Text Placeholder 3">
            <a:extLst>
              <a:ext uri="{FF2B5EF4-FFF2-40B4-BE49-F238E27FC236}">
                <a16:creationId xmlns="" xmlns:a16="http://schemas.microsoft.com/office/drawing/2014/main" id="{02314B4F-0FE6-437D-B91E-F403EF6FA10B}"/>
              </a:ext>
            </a:extLst>
          </p:cNvPr>
          <p:cNvSpPr>
            <a:spLocks noGrp="1"/>
          </p:cNvSpPr>
          <p:nvPr>
            <p:ph type="body" sz="quarter" idx="10"/>
          </p:nvPr>
        </p:nvSpPr>
        <p:spPr bwMode="gray">
          <a:xfrm>
            <a:off x="455612" y="1047750"/>
            <a:ext cx="11293475" cy="1400175"/>
          </a:xfrm>
        </p:spPr>
        <p:txBody>
          <a:bodyPr/>
          <a:lstStyle/>
          <a:p>
            <a:r>
              <a:rPr lang="zh-CN" altLang="en-US" sz="1800" dirty="0"/>
              <a:t>当使用</a:t>
            </a:r>
            <a:r>
              <a:rPr lang="en-US" altLang="zh-CN" sz="1800" dirty="0"/>
              <a:t>SR-MPLS</a:t>
            </a:r>
            <a:r>
              <a:rPr lang="zh-CN" altLang="en-US" sz="1800" dirty="0"/>
              <a:t>承载</a:t>
            </a:r>
            <a:r>
              <a:rPr lang="en-US" altLang="zh-CN" sz="1800" dirty="0"/>
              <a:t>IPv6 L3VPN</a:t>
            </a:r>
            <a:r>
              <a:rPr lang="zh-CN" altLang="en-US" sz="1800" dirty="0"/>
              <a:t>业务时，可使用</a:t>
            </a:r>
            <a:r>
              <a:rPr lang="en-US" altLang="zh-CN" sz="1800" dirty="0"/>
              <a:t>MP-VPNv6</a:t>
            </a:r>
            <a:r>
              <a:rPr lang="zh-CN" altLang="en-US" sz="1800" dirty="0"/>
              <a:t>地址族传递</a:t>
            </a:r>
            <a:r>
              <a:rPr lang="en-US" altLang="zh-CN" sz="1800" dirty="0"/>
              <a:t>VPN</a:t>
            </a:r>
            <a:r>
              <a:rPr lang="zh-CN" altLang="en-US" sz="1800" dirty="0"/>
              <a:t>路由或使用</a:t>
            </a:r>
            <a:r>
              <a:rPr lang="en-US" altLang="zh-CN" sz="1800" dirty="0"/>
              <a:t>BGP EVPN</a:t>
            </a:r>
            <a:r>
              <a:rPr lang="zh-CN" altLang="en-US" sz="1800" dirty="0"/>
              <a:t>地址族传递</a:t>
            </a:r>
            <a:r>
              <a:rPr lang="en-US" altLang="zh-CN" sz="1800" dirty="0"/>
              <a:t>VPN</a:t>
            </a:r>
            <a:r>
              <a:rPr lang="zh-CN" altLang="en-US" sz="1800" dirty="0"/>
              <a:t>路由。</a:t>
            </a:r>
            <a:endParaRPr lang="en-US" altLang="zh-CN" sz="1800" dirty="0"/>
          </a:p>
          <a:p>
            <a:r>
              <a:rPr lang="zh-CN" altLang="en-US" sz="1800" dirty="0"/>
              <a:t>当使用</a:t>
            </a:r>
            <a:r>
              <a:rPr lang="en-US" altLang="zh-CN" sz="1800" dirty="0"/>
              <a:t>SRv6</a:t>
            </a:r>
            <a:r>
              <a:rPr lang="zh-CN" altLang="en-US" sz="1800" dirty="0"/>
              <a:t>承载</a:t>
            </a:r>
            <a:r>
              <a:rPr lang="en-US" altLang="zh-CN" sz="1800" dirty="0"/>
              <a:t>IPv6</a:t>
            </a:r>
            <a:r>
              <a:rPr lang="zh-CN" altLang="en-US" sz="1800" dirty="0"/>
              <a:t>业务时，推荐使用</a:t>
            </a:r>
            <a:r>
              <a:rPr lang="en-US" altLang="zh-CN" sz="1800" dirty="0"/>
              <a:t>BGP EVPN</a:t>
            </a:r>
            <a:r>
              <a:rPr lang="zh-CN" altLang="en-US" sz="1800" dirty="0"/>
              <a:t>地址族传递</a:t>
            </a:r>
            <a:r>
              <a:rPr lang="en-US" altLang="zh-CN" sz="1800" dirty="0"/>
              <a:t>VPN</a:t>
            </a:r>
            <a:r>
              <a:rPr lang="zh-CN" altLang="en-US" sz="1800" dirty="0"/>
              <a:t>路由。</a:t>
            </a:r>
            <a:endParaRPr lang="en-US" sz="1600" dirty="0"/>
          </a:p>
        </p:txBody>
      </p:sp>
      <p:graphicFrame>
        <p:nvGraphicFramePr>
          <p:cNvPr id="81" name="表格 8">
            <a:extLst>
              <a:ext uri="{FF2B5EF4-FFF2-40B4-BE49-F238E27FC236}">
                <a16:creationId xmlns="" xmlns:a16="http://schemas.microsoft.com/office/drawing/2014/main" id="{71950AF6-B34C-4A37-9AD1-8E73B81C1049}"/>
              </a:ext>
            </a:extLst>
          </p:cNvPr>
          <p:cNvGraphicFramePr>
            <a:graphicFrameLocks noGrp="1"/>
          </p:cNvGraphicFramePr>
          <p:nvPr>
            <p:extLst>
              <p:ext uri="{D42A27DB-BD31-4B8C-83A1-F6EECF244321}">
                <p14:modId xmlns:p14="http://schemas.microsoft.com/office/powerpoint/2010/main" val="3620245777"/>
              </p:ext>
            </p:extLst>
          </p:nvPr>
        </p:nvGraphicFramePr>
        <p:xfrm>
          <a:off x="2068512" y="2905124"/>
          <a:ext cx="8067675" cy="2183864"/>
        </p:xfrm>
        <a:graphic>
          <a:graphicData uri="http://schemas.openxmlformats.org/drawingml/2006/table">
            <a:tbl>
              <a:tblPr firstRow="1" bandRow="1"/>
              <a:tblGrid>
                <a:gridCol w="2067332">
                  <a:extLst>
                    <a:ext uri="{9D8B030D-6E8A-4147-A177-3AD203B41FA5}">
                      <a16:colId xmlns="" xmlns:a16="http://schemas.microsoft.com/office/drawing/2014/main" val="20000"/>
                    </a:ext>
                  </a:extLst>
                </a:gridCol>
                <a:gridCol w="1395635">
                  <a:extLst>
                    <a:ext uri="{9D8B030D-6E8A-4147-A177-3AD203B41FA5}">
                      <a16:colId xmlns="" xmlns:a16="http://schemas.microsoft.com/office/drawing/2014/main" val="20001"/>
                    </a:ext>
                  </a:extLst>
                </a:gridCol>
                <a:gridCol w="1208958">
                  <a:extLst>
                    <a:ext uri="{9D8B030D-6E8A-4147-A177-3AD203B41FA5}">
                      <a16:colId xmlns="" xmlns:a16="http://schemas.microsoft.com/office/drawing/2014/main" val="20002"/>
                    </a:ext>
                  </a:extLst>
                </a:gridCol>
                <a:gridCol w="3395750">
                  <a:extLst>
                    <a:ext uri="{9D8B030D-6E8A-4147-A177-3AD203B41FA5}">
                      <a16:colId xmlns="" xmlns:a16="http://schemas.microsoft.com/office/drawing/2014/main" val="20003"/>
                    </a:ext>
                  </a:extLst>
                </a:gridCol>
              </a:tblGrid>
              <a:tr h="416426">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endParaRPr lang="zh-CN" altLang="en-US" sz="18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en-US" altLang="zh-CN"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VPNv6</a:t>
                      </a:r>
                      <a:endParaRPr lang="zh-CN" altLang="en-US"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en-US" altLang="zh-CN"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EVPNv6</a:t>
                      </a:r>
                      <a:endParaRPr lang="zh-CN" altLang="en-US"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zh-CN" altLang="en-US" sz="18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备注</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 xmlns:a16="http://schemas.microsoft.com/office/drawing/2014/main" val="10000"/>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转发平面</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MPLS/SRv6</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MPLS/SRv6</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无</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私网路由学习</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endPar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路由格式不一样</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是否支持</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反射路由</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无</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故障切换</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支持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VPN FRR</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 FRR</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TE-HSB</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CBTS</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TI-FLA</a:t>
                      </a:r>
                      <a:r>
                        <a:rPr lang="zh-CN" altLang="en-US"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Mirror-SID</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4"/>
                  </a:ext>
                </a:extLst>
              </a:tr>
            </a:tbl>
          </a:graphicData>
        </a:graphic>
      </p:graphicFrame>
      <p:sp>
        <p:nvSpPr>
          <p:cNvPr id="7" name="燕尾形 3">
            <a:extLst>
              <a:ext uri="{FF2B5EF4-FFF2-40B4-BE49-F238E27FC236}">
                <a16:creationId xmlns="" xmlns:a16="http://schemas.microsoft.com/office/drawing/2014/main" id="{DC5B0AF1-4C06-4FA8-B205-6528E487EBF7}"/>
              </a:ext>
            </a:extLst>
          </p:cNvPr>
          <p:cNvSpPr/>
          <p:nvPr/>
        </p:nvSpPr>
        <p:spPr bwMode="gray">
          <a:xfrm>
            <a:off x="9239250" y="44020"/>
            <a:ext cx="107061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划分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a:extLst>
              <a:ext uri="{FF2B5EF4-FFF2-40B4-BE49-F238E27FC236}">
                <a16:creationId xmlns="" xmlns:a16="http://schemas.microsoft.com/office/drawing/2014/main" id="{18A4F8B4-B382-411C-81EC-3D59D88E6166}"/>
              </a:ext>
            </a:extLst>
          </p:cNvPr>
          <p:cNvSpPr/>
          <p:nvPr/>
        </p:nvSpPr>
        <p:spPr bwMode="gray">
          <a:xfrm>
            <a:off x="10234076" y="44020"/>
            <a:ext cx="151342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传递</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73800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企业广域承载网络现状与挑战</a:t>
            </a:r>
            <a:endParaRPr lang="en-US" altLang="zh-CN" dirty="0">
              <a:solidFill>
                <a:schemeClr val="bg1">
                  <a:lumMod val="50000"/>
                </a:schemeClr>
              </a:solidFill>
            </a:endParaRPr>
          </a:p>
          <a:p>
            <a:r>
              <a:rPr lang="zh-CN" altLang="en-US" dirty="0">
                <a:solidFill>
                  <a:schemeClr val="bg1">
                    <a:lumMod val="50000"/>
                  </a:schemeClr>
                </a:solidFill>
              </a:rPr>
              <a:t>华为云广域网络解决方案概述</a:t>
            </a:r>
            <a:endParaRPr lang="en-US" altLang="zh-CN" dirty="0">
              <a:solidFill>
                <a:schemeClr val="bg1">
                  <a:lumMod val="50000"/>
                </a:schemeClr>
              </a:solidFill>
            </a:endParaRPr>
          </a:p>
          <a:p>
            <a:r>
              <a:rPr lang="zh-CN" altLang="en-US" dirty="0">
                <a:solidFill>
                  <a:schemeClr val="bg1">
                    <a:lumMod val="50000"/>
                  </a:schemeClr>
                </a:solidFill>
              </a:rPr>
              <a:t>企业广域承载基础网络设计</a:t>
            </a:r>
            <a:endParaRPr lang="en-US" altLang="zh-CN" dirty="0">
              <a:solidFill>
                <a:schemeClr val="bg1">
                  <a:lumMod val="50000"/>
                </a:schemeClr>
              </a:solidFill>
            </a:endParaRPr>
          </a:p>
          <a:p>
            <a:r>
              <a:rPr lang="zh-CN" altLang="en-US" dirty="0">
                <a:solidFill>
                  <a:schemeClr val="bg1">
                    <a:lumMod val="50000"/>
                  </a:schemeClr>
                </a:solidFill>
              </a:rPr>
              <a:t>企业广域承载网络隧道与</a:t>
            </a:r>
            <a:r>
              <a:rPr lang="en-US" altLang="zh-CN" dirty="0">
                <a:solidFill>
                  <a:schemeClr val="bg1">
                    <a:lumMod val="50000"/>
                  </a:schemeClr>
                </a:solidFill>
              </a:rPr>
              <a:t>VPN</a:t>
            </a:r>
            <a:r>
              <a:rPr lang="zh-CN" altLang="en-US" dirty="0">
                <a:solidFill>
                  <a:schemeClr val="bg1">
                    <a:lumMod val="50000"/>
                  </a:schemeClr>
                </a:solidFill>
              </a:rPr>
              <a:t>设计</a:t>
            </a:r>
            <a:endParaRPr lang="en-US" altLang="zh-CN" dirty="0">
              <a:solidFill>
                <a:schemeClr val="bg1">
                  <a:lumMod val="50000"/>
                </a:schemeClr>
              </a:solidFill>
            </a:endParaRPr>
          </a:p>
          <a:p>
            <a:r>
              <a:rPr lang="zh-CN" altLang="en-US" b="1" dirty="0"/>
              <a:t>企业广域承载网络</a:t>
            </a:r>
            <a:r>
              <a:rPr lang="en-US" altLang="zh-CN" b="1" dirty="0"/>
              <a:t>SLA</a:t>
            </a:r>
            <a:r>
              <a:rPr lang="zh-CN" altLang="en-US" b="1" dirty="0"/>
              <a:t>与可靠性设计</a:t>
            </a:r>
            <a:endParaRPr lang="en-US" altLang="zh-CN" b="1" dirty="0"/>
          </a:p>
          <a:p>
            <a:r>
              <a:rPr lang="zh-CN" altLang="en-US" dirty="0">
                <a:solidFill>
                  <a:schemeClr val="bg1">
                    <a:lumMod val="50000"/>
                  </a:schemeClr>
                </a:solidFill>
              </a:rPr>
              <a:t>企业广域承载网络优化与运维设计</a:t>
            </a:r>
            <a:endParaRPr lang="en-US" altLang="zh-CN" dirty="0">
              <a:solidFill>
                <a:schemeClr val="bg1">
                  <a:lumMod val="50000"/>
                </a:schemeClr>
              </a:solidFill>
            </a:endParaRPr>
          </a:p>
        </p:txBody>
      </p:sp>
    </p:spTree>
    <p:extLst>
      <p:ext uri="{BB962C8B-B14F-4D97-AF65-F5344CB8AC3E}">
        <p14:creationId xmlns:p14="http://schemas.microsoft.com/office/powerpoint/2010/main" val="2253691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271">
            <a:extLst>
              <a:ext uri="{FF2B5EF4-FFF2-40B4-BE49-F238E27FC236}">
                <a16:creationId xmlns="" xmlns:a16="http://schemas.microsoft.com/office/drawing/2014/main" id="{ED3A3FD3-D0DD-4503-8350-962BB83516F5}"/>
              </a:ext>
            </a:extLst>
          </p:cNvPr>
          <p:cNvSpPr txBox="1"/>
          <p:nvPr/>
        </p:nvSpPr>
        <p:spPr bwMode="gray">
          <a:xfrm>
            <a:off x="8149203" y="5334947"/>
            <a:ext cx="954107"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低时延切片</a:t>
            </a:r>
          </a:p>
        </p:txBody>
      </p:sp>
      <p:sp>
        <p:nvSpPr>
          <p:cNvPr id="102" name="TextBox 272">
            <a:extLst>
              <a:ext uri="{FF2B5EF4-FFF2-40B4-BE49-F238E27FC236}">
                <a16:creationId xmlns="" xmlns:a16="http://schemas.microsoft.com/office/drawing/2014/main" id="{5C20AE8D-C4A5-42C2-A453-9A734FCEFCA8}"/>
              </a:ext>
            </a:extLst>
          </p:cNvPr>
          <p:cNvSpPr txBox="1"/>
          <p:nvPr/>
        </p:nvSpPr>
        <p:spPr bwMode="gray">
          <a:xfrm>
            <a:off x="8155553" y="5716772"/>
            <a:ext cx="800219"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默认切片</a:t>
            </a:r>
          </a:p>
        </p:txBody>
      </p:sp>
      <p:sp>
        <p:nvSpPr>
          <p:cNvPr id="104" name="梯形 41">
            <a:extLst>
              <a:ext uri="{FF2B5EF4-FFF2-40B4-BE49-F238E27FC236}">
                <a16:creationId xmlns="" xmlns:a16="http://schemas.microsoft.com/office/drawing/2014/main" id="{07C937CA-95ED-41ED-A2B6-1669AF2FE2AC}"/>
              </a:ext>
            </a:extLst>
          </p:cNvPr>
          <p:cNvSpPr/>
          <p:nvPr/>
        </p:nvSpPr>
        <p:spPr bwMode="gray">
          <a:xfrm>
            <a:off x="4102764" y="5631700"/>
            <a:ext cx="4052789" cy="435941"/>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5" name="Straight Connector 104">
            <a:extLst>
              <a:ext uri="{FF2B5EF4-FFF2-40B4-BE49-F238E27FC236}">
                <a16:creationId xmlns="" xmlns:a16="http://schemas.microsoft.com/office/drawing/2014/main" id="{BE999F3F-D9EB-4634-94EB-D604E6BE022C}"/>
              </a:ext>
            </a:extLst>
          </p:cNvPr>
          <p:cNvCxnSpPr>
            <a:cxnSpLocks/>
          </p:cNvCxnSpPr>
          <p:nvPr/>
        </p:nvCxnSpPr>
        <p:spPr bwMode="gray">
          <a:xfrm>
            <a:off x="4183655" y="5849671"/>
            <a:ext cx="3965548" cy="5601"/>
          </a:xfrm>
          <a:prstGeom prst="line">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0" name="梯形 41">
            <a:extLst>
              <a:ext uri="{FF2B5EF4-FFF2-40B4-BE49-F238E27FC236}">
                <a16:creationId xmlns="" xmlns:a16="http://schemas.microsoft.com/office/drawing/2014/main" id="{0A0826C6-8F1B-4D37-8198-9785067AA3D2}"/>
              </a:ext>
            </a:extLst>
          </p:cNvPr>
          <p:cNvSpPr/>
          <p:nvPr/>
        </p:nvSpPr>
        <p:spPr bwMode="gray">
          <a:xfrm>
            <a:off x="4102764" y="5261257"/>
            <a:ext cx="4052789" cy="435941"/>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3" name="Straight Connector 102">
            <a:extLst>
              <a:ext uri="{FF2B5EF4-FFF2-40B4-BE49-F238E27FC236}">
                <a16:creationId xmlns="" xmlns:a16="http://schemas.microsoft.com/office/drawing/2014/main" id="{01F8E96B-9FCB-46AA-B177-03072A532FFE}"/>
              </a:ext>
            </a:extLst>
          </p:cNvPr>
          <p:cNvCxnSpPr>
            <a:cxnSpLocks/>
          </p:cNvCxnSpPr>
          <p:nvPr/>
        </p:nvCxnSpPr>
        <p:spPr bwMode="gray">
          <a:xfrm>
            <a:off x="4137113" y="5479228"/>
            <a:ext cx="4018440" cy="0"/>
          </a:xfrm>
          <a:prstGeom prst="line">
            <a:avLst/>
          </a:prstGeom>
          <a:ln w="28575">
            <a:solidFill>
              <a:srgbClr val="E2819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normAutofit/>
          </a:bodyPr>
          <a:lstStyle/>
          <a:p>
            <a:r>
              <a:rPr lang="zh-CN" altLang="en-US" dirty="0"/>
              <a:t>企业广域承载网络</a:t>
            </a:r>
            <a:r>
              <a:rPr lang="en-US" altLang="zh-CN" dirty="0"/>
              <a:t>SLA</a:t>
            </a:r>
            <a:r>
              <a:rPr lang="zh-CN" altLang="en-US" dirty="0"/>
              <a:t>与可靠性设计概览</a:t>
            </a:r>
            <a:endParaRPr lang="en-US" dirty="0"/>
          </a:p>
        </p:txBody>
      </p:sp>
      <p:sp>
        <p:nvSpPr>
          <p:cNvPr id="4" name="Text Placeholder 3">
            <a:extLst>
              <a:ext uri="{FF2B5EF4-FFF2-40B4-BE49-F238E27FC236}">
                <a16:creationId xmlns="" xmlns:a16="http://schemas.microsoft.com/office/drawing/2014/main" id="{D67DBC69-70DE-44BC-A30C-5AA6E2C10C5C}"/>
              </a:ext>
            </a:extLst>
          </p:cNvPr>
          <p:cNvSpPr>
            <a:spLocks noGrp="1"/>
          </p:cNvSpPr>
          <p:nvPr>
            <p:ph type="body" sz="quarter" idx="10"/>
          </p:nvPr>
        </p:nvSpPr>
        <p:spPr bwMode="gray">
          <a:xfrm>
            <a:off x="455612" y="1047750"/>
            <a:ext cx="11293475" cy="989337"/>
          </a:xfrm>
        </p:spPr>
        <p:txBody>
          <a:bodyPr/>
          <a:lstStyle/>
          <a:p>
            <a:r>
              <a:rPr lang="zh-CN" altLang="en-US" sz="2000" dirty="0"/>
              <a:t>企业广域承载网络通过可靠性技术与</a:t>
            </a:r>
            <a:r>
              <a:rPr lang="en-US" altLang="zh-CN" sz="2000" dirty="0"/>
              <a:t>SLA</a:t>
            </a:r>
            <a:r>
              <a:rPr lang="zh-CN" altLang="en-US" sz="2000" dirty="0"/>
              <a:t>技术可有效地保障被承载业务的质量，因此可靠性设计与</a:t>
            </a:r>
            <a:r>
              <a:rPr lang="en-US" altLang="zh-CN" sz="2000" dirty="0"/>
              <a:t>SLA</a:t>
            </a:r>
            <a:r>
              <a:rPr lang="zh-CN" altLang="en-US" sz="2000" dirty="0"/>
              <a:t>设计非常重要。</a:t>
            </a:r>
            <a:endParaRPr lang="en-US" sz="2000" dirty="0"/>
          </a:p>
        </p:txBody>
      </p:sp>
      <p:sp>
        <p:nvSpPr>
          <p:cNvPr id="68" name="梯形 41">
            <a:extLst>
              <a:ext uri="{FF2B5EF4-FFF2-40B4-BE49-F238E27FC236}">
                <a16:creationId xmlns="" xmlns:a16="http://schemas.microsoft.com/office/drawing/2014/main" id="{0B46D320-F22F-47FE-B2C5-27B0278315E8}"/>
              </a:ext>
            </a:extLst>
          </p:cNvPr>
          <p:cNvSpPr/>
          <p:nvPr/>
        </p:nvSpPr>
        <p:spPr bwMode="gray">
          <a:xfrm>
            <a:off x="2861474" y="3112099"/>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0" name="图片 31">
            <a:extLst>
              <a:ext uri="{FF2B5EF4-FFF2-40B4-BE49-F238E27FC236}">
                <a16:creationId xmlns="" xmlns:a16="http://schemas.microsoft.com/office/drawing/2014/main" id="{D87C2E1D-2540-4F79-B6B4-64A804FD6EA9}"/>
              </a:ext>
            </a:extLst>
          </p:cNvPr>
          <p:cNvPicPr>
            <a:picLocks noChangeAspect="1"/>
          </p:cNvPicPr>
          <p:nvPr/>
        </p:nvPicPr>
        <p:blipFill>
          <a:blip r:embed="rId3"/>
          <a:stretch>
            <a:fillRect/>
          </a:stretch>
        </p:blipFill>
        <p:spPr bwMode="gray">
          <a:xfrm>
            <a:off x="4460179" y="3393511"/>
            <a:ext cx="466668" cy="389308"/>
          </a:xfrm>
          <a:prstGeom prst="rect">
            <a:avLst/>
          </a:prstGeom>
        </p:spPr>
      </p:pic>
      <p:pic>
        <p:nvPicPr>
          <p:cNvPr id="81" name="图片 31">
            <a:extLst>
              <a:ext uri="{FF2B5EF4-FFF2-40B4-BE49-F238E27FC236}">
                <a16:creationId xmlns="" xmlns:a16="http://schemas.microsoft.com/office/drawing/2014/main" id="{55C8968D-B1FD-4785-B86C-7AE096E560FB}"/>
              </a:ext>
            </a:extLst>
          </p:cNvPr>
          <p:cNvPicPr>
            <a:picLocks noChangeAspect="1"/>
          </p:cNvPicPr>
          <p:nvPr/>
        </p:nvPicPr>
        <p:blipFill>
          <a:blip r:embed="rId3"/>
          <a:stretch>
            <a:fillRect/>
          </a:stretch>
        </p:blipFill>
        <p:spPr bwMode="gray">
          <a:xfrm>
            <a:off x="3788496" y="4519800"/>
            <a:ext cx="466668" cy="389308"/>
          </a:xfrm>
          <a:prstGeom prst="rect">
            <a:avLst/>
          </a:prstGeom>
        </p:spPr>
      </p:pic>
      <p:pic>
        <p:nvPicPr>
          <p:cNvPr id="82" name="图片 25">
            <a:extLst>
              <a:ext uri="{FF2B5EF4-FFF2-40B4-BE49-F238E27FC236}">
                <a16:creationId xmlns="" xmlns:a16="http://schemas.microsoft.com/office/drawing/2014/main" id="{2A188EBA-A493-47AD-8E7E-13191D75AA83}"/>
              </a:ext>
            </a:extLst>
          </p:cNvPr>
          <p:cNvPicPr>
            <a:picLocks noChangeAspect="1"/>
          </p:cNvPicPr>
          <p:nvPr/>
        </p:nvPicPr>
        <p:blipFill>
          <a:blip r:embed="rId3"/>
          <a:stretch>
            <a:fillRect/>
          </a:stretch>
        </p:blipFill>
        <p:spPr bwMode="gray">
          <a:xfrm>
            <a:off x="8034846" y="4522074"/>
            <a:ext cx="466668" cy="389308"/>
          </a:xfrm>
          <a:prstGeom prst="rect">
            <a:avLst/>
          </a:prstGeom>
        </p:spPr>
      </p:pic>
      <p:pic>
        <p:nvPicPr>
          <p:cNvPr id="83" name="图片 31">
            <a:extLst>
              <a:ext uri="{FF2B5EF4-FFF2-40B4-BE49-F238E27FC236}">
                <a16:creationId xmlns="" xmlns:a16="http://schemas.microsoft.com/office/drawing/2014/main" id="{8529291B-253C-47EC-AD45-714213BA9DA0}"/>
              </a:ext>
            </a:extLst>
          </p:cNvPr>
          <p:cNvPicPr>
            <a:picLocks noChangeAspect="1"/>
          </p:cNvPicPr>
          <p:nvPr/>
        </p:nvPicPr>
        <p:blipFill>
          <a:blip r:embed="rId3"/>
          <a:stretch>
            <a:fillRect/>
          </a:stretch>
        </p:blipFill>
        <p:spPr bwMode="gray">
          <a:xfrm>
            <a:off x="7242857" y="3393511"/>
            <a:ext cx="466668" cy="389308"/>
          </a:xfrm>
          <a:prstGeom prst="rect">
            <a:avLst/>
          </a:prstGeom>
        </p:spPr>
      </p:pic>
      <p:sp>
        <p:nvSpPr>
          <p:cNvPr id="84" name="TextBox 83">
            <a:extLst>
              <a:ext uri="{FF2B5EF4-FFF2-40B4-BE49-F238E27FC236}">
                <a16:creationId xmlns="" xmlns:a16="http://schemas.microsoft.com/office/drawing/2014/main" id="{68859E7A-CCD2-486C-B238-8E24A26C6E85}"/>
              </a:ext>
            </a:extLst>
          </p:cNvPr>
          <p:cNvSpPr txBox="1"/>
          <p:nvPr/>
        </p:nvSpPr>
        <p:spPr bwMode="gray">
          <a:xfrm>
            <a:off x="8299127" y="5014127"/>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cxnSp>
        <p:nvCxnSpPr>
          <p:cNvPr id="87" name="Straight Connector 86">
            <a:extLst>
              <a:ext uri="{FF2B5EF4-FFF2-40B4-BE49-F238E27FC236}">
                <a16:creationId xmlns="" xmlns:a16="http://schemas.microsoft.com/office/drawing/2014/main" id="{DA15037D-BFE8-4A91-B4D4-6F4CC81199BA}"/>
              </a:ext>
            </a:extLst>
          </p:cNvPr>
          <p:cNvCxnSpPr>
            <a:cxnSpLocks/>
            <a:stCxn id="80" idx="3"/>
            <a:endCxn id="93" idx="1"/>
          </p:cNvCxnSpPr>
          <p:nvPr/>
        </p:nvCxnSpPr>
        <p:spPr bwMode="gray">
          <a:xfrm flipV="1">
            <a:off x="4926847" y="3585891"/>
            <a:ext cx="1014459"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 xmlns:a16="http://schemas.microsoft.com/office/drawing/2014/main" id="{36CAE65D-7D3A-42CD-8CFE-3E2BD7826BB9}"/>
              </a:ext>
            </a:extLst>
          </p:cNvPr>
          <p:cNvCxnSpPr>
            <a:cxnSpLocks/>
            <a:stCxn id="81" idx="3"/>
            <a:endCxn id="93" idx="1"/>
          </p:cNvCxnSpPr>
          <p:nvPr/>
        </p:nvCxnSpPr>
        <p:spPr bwMode="gray">
          <a:xfrm flipV="1">
            <a:off x="4255164" y="3585891"/>
            <a:ext cx="1686142" cy="11285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 xmlns:a16="http://schemas.microsoft.com/office/drawing/2014/main" id="{1307FF04-7AD2-4CEB-933E-850EEC935A67}"/>
              </a:ext>
            </a:extLst>
          </p:cNvPr>
          <p:cNvCxnSpPr>
            <a:cxnSpLocks/>
            <a:stCxn id="81" idx="0"/>
            <a:endCxn id="80" idx="2"/>
          </p:cNvCxnSpPr>
          <p:nvPr/>
        </p:nvCxnSpPr>
        <p:spPr bwMode="gray">
          <a:xfrm flipV="1">
            <a:off x="4021830" y="3782819"/>
            <a:ext cx="671683" cy="7369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52F2F7C8-3A83-4EC7-ACB9-5DAA0B7BE3BA}"/>
              </a:ext>
            </a:extLst>
          </p:cNvPr>
          <p:cNvCxnSpPr>
            <a:cxnSpLocks/>
            <a:stCxn id="81" idx="3"/>
            <a:endCxn id="94" idx="1"/>
          </p:cNvCxnSpPr>
          <p:nvPr/>
        </p:nvCxnSpPr>
        <p:spPr bwMode="gray">
          <a:xfrm>
            <a:off x="4255164" y="4714454"/>
            <a:ext cx="1681432" cy="86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D82FBA6E-6D1E-44E9-AD2D-821E43BDE8F6}"/>
              </a:ext>
            </a:extLst>
          </p:cNvPr>
          <p:cNvCxnSpPr>
            <a:cxnSpLocks/>
            <a:stCxn id="82" idx="0"/>
            <a:endCxn id="83" idx="2"/>
          </p:cNvCxnSpPr>
          <p:nvPr/>
        </p:nvCxnSpPr>
        <p:spPr bwMode="gray">
          <a:xfrm flipH="1" flipV="1">
            <a:off x="7476191" y="3782819"/>
            <a:ext cx="791989" cy="7392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 xmlns:a16="http://schemas.microsoft.com/office/drawing/2014/main" id="{D684959B-9FAA-487E-B68F-E9F2A5F6E652}"/>
              </a:ext>
            </a:extLst>
          </p:cNvPr>
          <p:cNvCxnSpPr>
            <a:cxnSpLocks/>
            <a:stCxn id="94" idx="1"/>
            <a:endCxn id="80" idx="3"/>
          </p:cNvCxnSpPr>
          <p:nvPr/>
        </p:nvCxnSpPr>
        <p:spPr bwMode="gray">
          <a:xfrm flipH="1" flipV="1">
            <a:off x="4926847" y="3588165"/>
            <a:ext cx="1009749"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93" name="图片 31">
            <a:extLst>
              <a:ext uri="{FF2B5EF4-FFF2-40B4-BE49-F238E27FC236}">
                <a16:creationId xmlns="" xmlns:a16="http://schemas.microsoft.com/office/drawing/2014/main" id="{61D616B0-27D7-4BE5-9276-84A9E89B84DA}"/>
              </a:ext>
            </a:extLst>
          </p:cNvPr>
          <p:cNvPicPr>
            <a:picLocks noChangeAspect="1"/>
          </p:cNvPicPr>
          <p:nvPr/>
        </p:nvPicPr>
        <p:blipFill>
          <a:blip r:embed="rId3"/>
          <a:stretch>
            <a:fillRect/>
          </a:stretch>
        </p:blipFill>
        <p:spPr bwMode="gray">
          <a:xfrm>
            <a:off x="5941306" y="3391237"/>
            <a:ext cx="466668" cy="389308"/>
          </a:xfrm>
          <a:prstGeom prst="rect">
            <a:avLst/>
          </a:prstGeom>
        </p:spPr>
      </p:pic>
      <p:pic>
        <p:nvPicPr>
          <p:cNvPr id="94" name="图片 31">
            <a:extLst>
              <a:ext uri="{FF2B5EF4-FFF2-40B4-BE49-F238E27FC236}">
                <a16:creationId xmlns="" xmlns:a16="http://schemas.microsoft.com/office/drawing/2014/main" id="{1167EAE2-1CD9-4143-8045-9B4206F4620A}"/>
              </a:ext>
            </a:extLst>
          </p:cNvPr>
          <p:cNvPicPr>
            <a:picLocks noChangeAspect="1"/>
          </p:cNvPicPr>
          <p:nvPr/>
        </p:nvPicPr>
        <p:blipFill>
          <a:blip r:embed="rId3"/>
          <a:stretch>
            <a:fillRect/>
          </a:stretch>
        </p:blipFill>
        <p:spPr bwMode="gray">
          <a:xfrm>
            <a:off x="5936596" y="4528402"/>
            <a:ext cx="466668" cy="389308"/>
          </a:xfrm>
          <a:prstGeom prst="rect">
            <a:avLst/>
          </a:prstGeom>
        </p:spPr>
      </p:pic>
      <p:cxnSp>
        <p:nvCxnSpPr>
          <p:cNvPr id="95" name="Straight Connector 94">
            <a:extLst>
              <a:ext uri="{FF2B5EF4-FFF2-40B4-BE49-F238E27FC236}">
                <a16:creationId xmlns="" xmlns:a16="http://schemas.microsoft.com/office/drawing/2014/main" id="{CCD97E1C-7767-4D55-AD83-1D2816D21E74}"/>
              </a:ext>
            </a:extLst>
          </p:cNvPr>
          <p:cNvCxnSpPr>
            <a:cxnSpLocks/>
            <a:stCxn id="94" idx="3"/>
            <a:endCxn id="82" idx="1"/>
          </p:cNvCxnSpPr>
          <p:nvPr/>
        </p:nvCxnSpPr>
        <p:spPr bwMode="gray">
          <a:xfrm flipV="1">
            <a:off x="6403264" y="4716728"/>
            <a:ext cx="1631582" cy="63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0E57A6F3-04D1-4A63-91A7-520427DCA7D2}"/>
              </a:ext>
            </a:extLst>
          </p:cNvPr>
          <p:cNvCxnSpPr>
            <a:cxnSpLocks/>
            <a:stCxn id="83" idx="1"/>
            <a:endCxn id="93" idx="3"/>
          </p:cNvCxnSpPr>
          <p:nvPr/>
        </p:nvCxnSpPr>
        <p:spPr bwMode="gray">
          <a:xfrm flipH="1" flipV="1">
            <a:off x="6407974" y="3585891"/>
            <a:ext cx="834883"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78A57C7E-DB91-4202-97CD-D3B11513DB5B}"/>
              </a:ext>
            </a:extLst>
          </p:cNvPr>
          <p:cNvCxnSpPr>
            <a:cxnSpLocks/>
            <a:stCxn id="94" idx="0"/>
            <a:endCxn id="93" idx="2"/>
          </p:cNvCxnSpPr>
          <p:nvPr/>
        </p:nvCxnSpPr>
        <p:spPr bwMode="gray">
          <a:xfrm flipV="1">
            <a:off x="6169930" y="3780545"/>
            <a:ext cx="4710" cy="7478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 xmlns:a16="http://schemas.microsoft.com/office/drawing/2014/main" id="{FB80CDDA-E929-463A-8897-36478C9A4C36}"/>
              </a:ext>
            </a:extLst>
          </p:cNvPr>
          <p:cNvCxnSpPr>
            <a:cxnSpLocks/>
            <a:stCxn id="94" idx="3"/>
            <a:endCxn id="83" idx="1"/>
          </p:cNvCxnSpPr>
          <p:nvPr/>
        </p:nvCxnSpPr>
        <p:spPr bwMode="gray">
          <a:xfrm flipV="1">
            <a:off x="6403264" y="3588165"/>
            <a:ext cx="839593"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71F05610-BBAD-47DC-8676-77FF8EBB5A59}"/>
              </a:ext>
            </a:extLst>
          </p:cNvPr>
          <p:cNvCxnSpPr>
            <a:cxnSpLocks/>
            <a:stCxn id="82" idx="1"/>
            <a:endCxn id="93" idx="3"/>
          </p:cNvCxnSpPr>
          <p:nvPr/>
        </p:nvCxnSpPr>
        <p:spPr bwMode="gray">
          <a:xfrm flipH="1" flipV="1">
            <a:off x="6407974" y="3585891"/>
            <a:ext cx="1626872" cy="113083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 xmlns:a16="http://schemas.microsoft.com/office/drawing/2014/main" id="{ED87ACD7-0844-45A4-B2DF-815574C327C9}"/>
              </a:ext>
            </a:extLst>
          </p:cNvPr>
          <p:cNvCxnSpPr>
            <a:cxnSpLocks/>
          </p:cNvCxnSpPr>
          <p:nvPr/>
        </p:nvCxnSpPr>
        <p:spPr bwMode="gray">
          <a:xfrm flipV="1">
            <a:off x="4135856" y="3456979"/>
            <a:ext cx="1886118" cy="1261810"/>
          </a:xfrm>
          <a:prstGeom prst="line">
            <a:avLst/>
          </a:prstGeom>
          <a:ln w="5715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CABEF893-BD13-47D9-B2B9-CEC46E5E4476}"/>
              </a:ext>
            </a:extLst>
          </p:cNvPr>
          <p:cNvCxnSpPr>
            <a:cxnSpLocks/>
          </p:cNvCxnSpPr>
          <p:nvPr/>
        </p:nvCxnSpPr>
        <p:spPr bwMode="gray">
          <a:xfrm>
            <a:off x="6021974" y="3480482"/>
            <a:ext cx="1498327" cy="0"/>
          </a:xfrm>
          <a:prstGeom prst="line">
            <a:avLst/>
          </a:prstGeom>
          <a:ln w="5715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 xmlns:a16="http://schemas.microsoft.com/office/drawing/2014/main" id="{36193B2E-B918-4AA2-B0FA-D2D8662464B7}"/>
              </a:ext>
            </a:extLst>
          </p:cNvPr>
          <p:cNvCxnSpPr>
            <a:cxnSpLocks/>
          </p:cNvCxnSpPr>
          <p:nvPr/>
        </p:nvCxnSpPr>
        <p:spPr bwMode="gray">
          <a:xfrm>
            <a:off x="4189698" y="4813982"/>
            <a:ext cx="2319948" cy="0"/>
          </a:xfrm>
          <a:prstGeom prst="line">
            <a:avLst/>
          </a:prstGeom>
          <a:ln w="3810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 xmlns:a16="http://schemas.microsoft.com/office/drawing/2014/main" id="{B7C12D6C-FFDC-468C-B468-E8833A2650B6}"/>
              </a:ext>
            </a:extLst>
          </p:cNvPr>
          <p:cNvCxnSpPr>
            <a:cxnSpLocks/>
          </p:cNvCxnSpPr>
          <p:nvPr/>
        </p:nvCxnSpPr>
        <p:spPr bwMode="gray">
          <a:xfrm flipV="1">
            <a:off x="6530520" y="3552862"/>
            <a:ext cx="881058" cy="1254418"/>
          </a:xfrm>
          <a:prstGeom prst="line">
            <a:avLst/>
          </a:prstGeom>
          <a:ln w="3810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TextBox 416">
            <a:extLst>
              <a:ext uri="{FF2B5EF4-FFF2-40B4-BE49-F238E27FC236}">
                <a16:creationId xmlns="" xmlns:a16="http://schemas.microsoft.com/office/drawing/2014/main" id="{690FB3DF-171B-4D1E-B2DC-6C83B05B0DF2}"/>
              </a:ext>
            </a:extLst>
          </p:cNvPr>
          <p:cNvSpPr txBox="1"/>
          <p:nvPr/>
        </p:nvSpPr>
        <p:spPr bwMode="gray">
          <a:xfrm rot="19590761">
            <a:off x="4441511" y="3974787"/>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主隧道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125" name="TextBox 416">
            <a:extLst>
              <a:ext uri="{FF2B5EF4-FFF2-40B4-BE49-F238E27FC236}">
                <a16:creationId xmlns="" xmlns:a16="http://schemas.microsoft.com/office/drawing/2014/main" id="{1714A9B0-2BB0-4559-B2C9-3C4299B01D8E}"/>
              </a:ext>
            </a:extLst>
          </p:cNvPr>
          <p:cNvSpPr txBox="1"/>
          <p:nvPr/>
        </p:nvSpPr>
        <p:spPr bwMode="gray">
          <a:xfrm>
            <a:off x="4672087" y="4850907"/>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备隧道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72" name="Parallelogram 71">
            <a:extLst>
              <a:ext uri="{FF2B5EF4-FFF2-40B4-BE49-F238E27FC236}">
                <a16:creationId xmlns="" xmlns:a16="http://schemas.microsoft.com/office/drawing/2014/main" id="{1E0D9053-3A83-4E46-A0EC-947ED912E0FE}"/>
              </a:ext>
            </a:extLst>
          </p:cNvPr>
          <p:cNvSpPr/>
          <p:nvPr/>
        </p:nvSpPr>
        <p:spPr bwMode="gray">
          <a:xfrm>
            <a:off x="1409452" y="4258475"/>
            <a:ext cx="2125960"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59">
            <a:extLst>
              <a:ext uri="{FF2B5EF4-FFF2-40B4-BE49-F238E27FC236}">
                <a16:creationId xmlns="" xmlns:a16="http://schemas.microsoft.com/office/drawing/2014/main" id="{208A0967-8362-46F2-BD86-F59E02E072D3}"/>
              </a:ext>
            </a:extLst>
          </p:cNvPr>
          <p:cNvSpPr/>
          <p:nvPr/>
        </p:nvSpPr>
        <p:spPr bwMode="gray">
          <a:xfrm flipH="1">
            <a:off x="1659902" y="443691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74" name="图片 51" descr="交换机.png">
            <a:extLst>
              <a:ext uri="{FF2B5EF4-FFF2-40B4-BE49-F238E27FC236}">
                <a16:creationId xmlns="" xmlns:a16="http://schemas.microsoft.com/office/drawing/2014/main" id="{C4FDE4AD-BC8A-44A7-ABD5-FFA8E53B2CD4}"/>
              </a:ext>
            </a:extLst>
          </p:cNvPr>
          <p:cNvPicPr>
            <a:picLocks noChangeAspect="1"/>
          </p:cNvPicPr>
          <p:nvPr/>
        </p:nvPicPr>
        <p:blipFill>
          <a:blip r:embed="rId4" cstate="print"/>
          <a:stretch>
            <a:fillRect/>
          </a:stretch>
        </p:blipFill>
        <p:spPr bwMode="gray">
          <a:xfrm>
            <a:off x="1904789" y="4218847"/>
            <a:ext cx="417163" cy="341314"/>
          </a:xfrm>
          <a:prstGeom prst="rect">
            <a:avLst/>
          </a:prstGeom>
        </p:spPr>
      </p:pic>
      <p:pic>
        <p:nvPicPr>
          <p:cNvPr id="75" name="图片 31">
            <a:extLst>
              <a:ext uri="{FF2B5EF4-FFF2-40B4-BE49-F238E27FC236}">
                <a16:creationId xmlns="" xmlns:a16="http://schemas.microsoft.com/office/drawing/2014/main" id="{1659B3E4-FFB2-45D1-B60A-3F236F2E541D}"/>
              </a:ext>
            </a:extLst>
          </p:cNvPr>
          <p:cNvPicPr>
            <a:picLocks noChangeAspect="1"/>
          </p:cNvPicPr>
          <p:nvPr/>
        </p:nvPicPr>
        <p:blipFill>
          <a:blip r:embed="rId3"/>
          <a:stretch>
            <a:fillRect/>
          </a:stretch>
        </p:blipFill>
        <p:spPr bwMode="gray">
          <a:xfrm>
            <a:off x="2478919" y="4508158"/>
            <a:ext cx="466668" cy="389308"/>
          </a:xfrm>
          <a:prstGeom prst="rect">
            <a:avLst/>
          </a:prstGeom>
        </p:spPr>
      </p:pic>
      <p:sp>
        <p:nvSpPr>
          <p:cNvPr id="76" name="Parallelogram 75">
            <a:extLst>
              <a:ext uri="{FF2B5EF4-FFF2-40B4-BE49-F238E27FC236}">
                <a16:creationId xmlns="" xmlns:a16="http://schemas.microsoft.com/office/drawing/2014/main" id="{B4D36402-FB3D-4B1F-935C-A11E087FFC98}"/>
              </a:ext>
            </a:extLst>
          </p:cNvPr>
          <p:cNvSpPr/>
          <p:nvPr/>
        </p:nvSpPr>
        <p:spPr bwMode="gray">
          <a:xfrm flipH="1">
            <a:off x="7864521" y="3146173"/>
            <a:ext cx="2125960" cy="945302"/>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159">
            <a:extLst>
              <a:ext uri="{FF2B5EF4-FFF2-40B4-BE49-F238E27FC236}">
                <a16:creationId xmlns="" xmlns:a16="http://schemas.microsoft.com/office/drawing/2014/main" id="{469A614B-25C7-4126-B6FD-7AB84D73C937}"/>
              </a:ext>
            </a:extLst>
          </p:cNvPr>
          <p:cNvSpPr/>
          <p:nvPr/>
        </p:nvSpPr>
        <p:spPr bwMode="gray">
          <a:xfrm flipH="1">
            <a:off x="8783066" y="330880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总部</a:t>
            </a:r>
          </a:p>
        </p:txBody>
      </p:sp>
      <p:pic>
        <p:nvPicPr>
          <p:cNvPr id="78" name="图片 31">
            <a:extLst>
              <a:ext uri="{FF2B5EF4-FFF2-40B4-BE49-F238E27FC236}">
                <a16:creationId xmlns="" xmlns:a16="http://schemas.microsoft.com/office/drawing/2014/main" id="{5E33F8A1-00D3-4FB9-8D04-5410CD4EA532}"/>
              </a:ext>
            </a:extLst>
          </p:cNvPr>
          <p:cNvPicPr>
            <a:picLocks noChangeAspect="1"/>
          </p:cNvPicPr>
          <p:nvPr/>
        </p:nvPicPr>
        <p:blipFill>
          <a:blip r:embed="rId3"/>
          <a:stretch>
            <a:fillRect/>
          </a:stretch>
        </p:blipFill>
        <p:spPr bwMode="gray">
          <a:xfrm>
            <a:off x="8450886" y="3395856"/>
            <a:ext cx="466668" cy="389308"/>
          </a:xfrm>
          <a:prstGeom prst="rect">
            <a:avLst/>
          </a:prstGeom>
        </p:spPr>
      </p:pic>
      <p:pic>
        <p:nvPicPr>
          <p:cNvPr id="79" name="图片 67">
            <a:extLst>
              <a:ext uri="{FF2B5EF4-FFF2-40B4-BE49-F238E27FC236}">
                <a16:creationId xmlns="" xmlns:a16="http://schemas.microsoft.com/office/drawing/2014/main" id="{6337097B-7BED-4639-95E4-404D7924B40B}"/>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9027081" y="3106452"/>
            <a:ext cx="417163" cy="342074"/>
          </a:xfrm>
          <a:prstGeom prst="rect">
            <a:avLst/>
          </a:prstGeom>
        </p:spPr>
      </p:pic>
      <p:cxnSp>
        <p:nvCxnSpPr>
          <p:cNvPr id="85" name="Straight Connector 84">
            <a:extLst>
              <a:ext uri="{FF2B5EF4-FFF2-40B4-BE49-F238E27FC236}">
                <a16:creationId xmlns="" xmlns:a16="http://schemas.microsoft.com/office/drawing/2014/main" id="{5008ED2E-AC3B-48F6-8784-45911603F88A}"/>
              </a:ext>
            </a:extLst>
          </p:cNvPr>
          <p:cNvCxnSpPr>
            <a:cxnSpLocks/>
            <a:stCxn id="75" idx="3"/>
            <a:endCxn id="81" idx="1"/>
          </p:cNvCxnSpPr>
          <p:nvPr/>
        </p:nvCxnSpPr>
        <p:spPr bwMode="gray">
          <a:xfrm>
            <a:off x="2945587" y="4702812"/>
            <a:ext cx="842909" cy="1164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 xmlns:a16="http://schemas.microsoft.com/office/drawing/2014/main" id="{E77CA632-9CBF-4F57-9CFC-2CB150D826BF}"/>
              </a:ext>
            </a:extLst>
          </p:cNvPr>
          <p:cNvCxnSpPr>
            <a:cxnSpLocks/>
            <a:stCxn id="83" idx="3"/>
            <a:endCxn id="78" idx="1"/>
          </p:cNvCxnSpPr>
          <p:nvPr/>
        </p:nvCxnSpPr>
        <p:spPr bwMode="gray">
          <a:xfrm>
            <a:off x="7709525" y="3588165"/>
            <a:ext cx="741361" cy="234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5" name="图片 14" descr="交换机.png">
            <a:extLst>
              <a:ext uri="{FF2B5EF4-FFF2-40B4-BE49-F238E27FC236}">
                <a16:creationId xmlns="" xmlns:a16="http://schemas.microsoft.com/office/drawing/2014/main" id="{5E9D7C9C-ED3F-4963-8E8D-800D8C24C815}"/>
              </a:ext>
            </a:extLst>
          </p:cNvPr>
          <p:cNvPicPr>
            <a:picLocks noChangeAspect="1"/>
          </p:cNvPicPr>
          <p:nvPr/>
        </p:nvPicPr>
        <p:blipFill>
          <a:blip r:embed="rId6" cstate="print"/>
          <a:stretch>
            <a:fillRect/>
          </a:stretch>
        </p:blipFill>
        <p:spPr bwMode="gray">
          <a:xfrm>
            <a:off x="5344395" y="2165024"/>
            <a:ext cx="420751" cy="344250"/>
          </a:xfrm>
          <a:prstGeom prst="rect">
            <a:avLst/>
          </a:prstGeom>
        </p:spPr>
      </p:pic>
      <p:pic>
        <p:nvPicPr>
          <p:cNvPr id="56" name="图片 14" descr="交换机.png">
            <a:extLst>
              <a:ext uri="{FF2B5EF4-FFF2-40B4-BE49-F238E27FC236}">
                <a16:creationId xmlns="" xmlns:a16="http://schemas.microsoft.com/office/drawing/2014/main" id="{04FCF972-7FCB-4F1E-9F09-BCC9D17A68EB}"/>
              </a:ext>
            </a:extLst>
          </p:cNvPr>
          <p:cNvPicPr>
            <a:picLocks noChangeAspect="1"/>
          </p:cNvPicPr>
          <p:nvPr/>
        </p:nvPicPr>
        <p:blipFill>
          <a:blip r:embed="rId6" cstate="print"/>
          <a:stretch>
            <a:fillRect/>
          </a:stretch>
        </p:blipFill>
        <p:spPr bwMode="gray">
          <a:xfrm>
            <a:off x="6216979" y="2165024"/>
            <a:ext cx="420751" cy="344250"/>
          </a:xfrm>
          <a:prstGeom prst="rect">
            <a:avLst/>
          </a:prstGeom>
        </p:spPr>
      </p:pic>
      <p:cxnSp>
        <p:nvCxnSpPr>
          <p:cNvPr id="57" name="Straight Connector 56">
            <a:extLst>
              <a:ext uri="{FF2B5EF4-FFF2-40B4-BE49-F238E27FC236}">
                <a16:creationId xmlns="" xmlns:a16="http://schemas.microsoft.com/office/drawing/2014/main" id="{3A382557-616A-49C8-8206-77B3C1EA4DF8}"/>
              </a:ext>
            </a:extLst>
          </p:cNvPr>
          <p:cNvCxnSpPr>
            <a:cxnSpLocks/>
            <a:stCxn id="55" idx="3"/>
            <a:endCxn id="56" idx="1"/>
          </p:cNvCxnSpPr>
          <p:nvPr/>
        </p:nvCxnSpPr>
        <p:spPr bwMode="gray">
          <a:xfrm>
            <a:off x="5765146" y="2337149"/>
            <a:ext cx="45183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0" name="圆角矩形 75">
            <a:extLst>
              <a:ext uri="{FF2B5EF4-FFF2-40B4-BE49-F238E27FC236}">
                <a16:creationId xmlns="" xmlns:a16="http://schemas.microsoft.com/office/drawing/2014/main" id="{569D407D-BE0F-4005-B1EF-E07C949491A8}"/>
              </a:ext>
            </a:extLst>
          </p:cNvPr>
          <p:cNvSpPr/>
          <p:nvPr/>
        </p:nvSpPr>
        <p:spPr bwMode="gray">
          <a:xfrm>
            <a:off x="5296185" y="2074672"/>
            <a:ext cx="1404590" cy="52495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61" name="直接箭头连接符 84">
            <a:extLst>
              <a:ext uri="{FF2B5EF4-FFF2-40B4-BE49-F238E27FC236}">
                <a16:creationId xmlns="" xmlns:a16="http://schemas.microsoft.com/office/drawing/2014/main" id="{B8017346-8DB2-4D7B-86BB-BFA8BE192BF0}"/>
              </a:ext>
            </a:extLst>
          </p:cNvPr>
          <p:cNvCxnSpPr>
            <a:cxnSpLocks/>
            <a:stCxn id="60" idx="2"/>
            <a:endCxn id="80" idx="0"/>
          </p:cNvCxnSpPr>
          <p:nvPr/>
        </p:nvCxnSpPr>
        <p:spPr bwMode="gray">
          <a:xfrm flipH="1">
            <a:off x="4693513" y="2599626"/>
            <a:ext cx="1304967" cy="793885"/>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4" name="直接箭头连接符 84">
            <a:extLst>
              <a:ext uri="{FF2B5EF4-FFF2-40B4-BE49-F238E27FC236}">
                <a16:creationId xmlns="" xmlns:a16="http://schemas.microsoft.com/office/drawing/2014/main" id="{1F13FC16-5E95-4948-8BB9-A9E090E13125}"/>
              </a:ext>
            </a:extLst>
          </p:cNvPr>
          <p:cNvCxnSpPr>
            <a:cxnSpLocks/>
            <a:stCxn id="60" idx="2"/>
            <a:endCxn id="81" idx="0"/>
          </p:cNvCxnSpPr>
          <p:nvPr/>
        </p:nvCxnSpPr>
        <p:spPr bwMode="gray">
          <a:xfrm flipH="1">
            <a:off x="4021830" y="2599626"/>
            <a:ext cx="1976650" cy="1920174"/>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7" name="直接箭头连接符 84">
            <a:extLst>
              <a:ext uri="{FF2B5EF4-FFF2-40B4-BE49-F238E27FC236}">
                <a16:creationId xmlns="" xmlns:a16="http://schemas.microsoft.com/office/drawing/2014/main" id="{34C73AA1-1548-40A9-8709-AA611DE3A8DB}"/>
              </a:ext>
            </a:extLst>
          </p:cNvPr>
          <p:cNvCxnSpPr>
            <a:cxnSpLocks/>
            <a:stCxn id="60" idx="2"/>
            <a:endCxn id="83" idx="0"/>
          </p:cNvCxnSpPr>
          <p:nvPr/>
        </p:nvCxnSpPr>
        <p:spPr bwMode="gray">
          <a:xfrm>
            <a:off x="5998480" y="2599626"/>
            <a:ext cx="1477711" cy="793885"/>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0" name="直接箭头连接符 84">
            <a:extLst>
              <a:ext uri="{FF2B5EF4-FFF2-40B4-BE49-F238E27FC236}">
                <a16:creationId xmlns="" xmlns:a16="http://schemas.microsoft.com/office/drawing/2014/main" id="{0B2C1160-914D-42E2-97B6-5CD72A223B34}"/>
              </a:ext>
            </a:extLst>
          </p:cNvPr>
          <p:cNvCxnSpPr>
            <a:cxnSpLocks/>
            <a:stCxn id="60" idx="2"/>
            <a:endCxn id="82" idx="0"/>
          </p:cNvCxnSpPr>
          <p:nvPr/>
        </p:nvCxnSpPr>
        <p:spPr bwMode="gray">
          <a:xfrm>
            <a:off x="5998480" y="2599626"/>
            <a:ext cx="2269700" cy="1922448"/>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10" name="圆角矩形 75">
            <a:extLst>
              <a:ext uri="{FF2B5EF4-FFF2-40B4-BE49-F238E27FC236}">
                <a16:creationId xmlns="" xmlns:a16="http://schemas.microsoft.com/office/drawing/2014/main" id="{20666822-9BE0-459F-B48F-119FD4CFB29B}"/>
              </a:ext>
            </a:extLst>
          </p:cNvPr>
          <p:cNvSpPr/>
          <p:nvPr/>
        </p:nvSpPr>
        <p:spPr bwMode="gray">
          <a:xfrm>
            <a:off x="4102764" y="2461876"/>
            <a:ext cx="1247469"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111" name="圆角矩形 75">
            <a:extLst>
              <a:ext uri="{FF2B5EF4-FFF2-40B4-BE49-F238E27FC236}">
                <a16:creationId xmlns="" xmlns:a16="http://schemas.microsoft.com/office/drawing/2014/main" id="{57A7AA43-1578-4528-83E4-6A6F75EC801A}"/>
              </a:ext>
            </a:extLst>
          </p:cNvPr>
          <p:cNvSpPr/>
          <p:nvPr/>
        </p:nvSpPr>
        <p:spPr bwMode="gray">
          <a:xfrm>
            <a:off x="2814849" y="5571183"/>
            <a:ext cx="1247469"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SLA</a:t>
            </a: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Tree>
    <p:extLst>
      <p:ext uri="{BB962C8B-B14F-4D97-AF65-F5344CB8AC3E}">
        <p14:creationId xmlns:p14="http://schemas.microsoft.com/office/powerpoint/2010/main" val="41085581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a:t>
            </a:r>
            <a:r>
              <a:rPr lang="en-US" altLang="zh-CN" dirty="0"/>
              <a:t>SLA</a:t>
            </a:r>
            <a:r>
              <a:rPr lang="zh-CN" altLang="en-US" dirty="0"/>
              <a:t>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6223678"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6223678"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6421289" y="2360214"/>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控制器可靠性设计</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3178957"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SLA</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3178957"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6421289" y="285009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设备可靠性设计</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3396926"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3396926" y="284917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切片设计</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6421289" y="3338426"/>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网络可靠性设计</a:t>
            </a:r>
          </a:p>
        </p:txBody>
      </p:sp>
      <p:sp>
        <p:nvSpPr>
          <p:cNvPr id="13" name="Arrow: Down 12">
            <a:extLst>
              <a:ext uri="{FF2B5EF4-FFF2-40B4-BE49-F238E27FC236}">
                <a16:creationId xmlns="" xmlns:a16="http://schemas.microsoft.com/office/drawing/2014/main" id="{9589B339-B817-405D-AC47-4FF50CEC3EB3}"/>
              </a:ext>
            </a:extLst>
          </p:cNvPr>
          <p:cNvSpPr/>
          <p:nvPr/>
        </p:nvSpPr>
        <p:spPr bwMode="gray">
          <a:xfrm>
            <a:off x="4418066"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7383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DA97D0-ADBF-42C8-AE0C-94F0900C20CF}"/>
              </a:ext>
            </a:extLst>
          </p:cNvPr>
          <p:cNvSpPr>
            <a:spLocks noGrp="1"/>
          </p:cNvSpPr>
          <p:nvPr>
            <p:ph type="title"/>
          </p:nvPr>
        </p:nvSpPr>
        <p:spPr bwMode="gray"/>
        <p:txBody>
          <a:bodyPr/>
          <a:lstStyle/>
          <a:p>
            <a:r>
              <a:rPr lang="en-US" altLang="zh-CN" dirty="0"/>
              <a:t>SLA</a:t>
            </a:r>
            <a:r>
              <a:rPr lang="zh-CN" altLang="en-US" dirty="0"/>
              <a:t>技术介绍</a:t>
            </a:r>
            <a:endParaRPr lang="en-US" dirty="0"/>
          </a:p>
        </p:txBody>
      </p:sp>
      <p:sp>
        <p:nvSpPr>
          <p:cNvPr id="3" name="Text Placeholder 2">
            <a:extLst>
              <a:ext uri="{FF2B5EF4-FFF2-40B4-BE49-F238E27FC236}">
                <a16:creationId xmlns="" xmlns:a16="http://schemas.microsoft.com/office/drawing/2014/main" id="{D7139E9A-FD2B-4E74-87E2-130A009D4A36}"/>
              </a:ext>
            </a:extLst>
          </p:cNvPr>
          <p:cNvSpPr>
            <a:spLocks noGrp="1"/>
          </p:cNvSpPr>
          <p:nvPr>
            <p:ph type="body" sz="quarter" idx="10"/>
          </p:nvPr>
        </p:nvSpPr>
        <p:spPr bwMode="gray">
          <a:xfrm>
            <a:off x="455612" y="1047751"/>
            <a:ext cx="11293475" cy="2668588"/>
          </a:xfrm>
        </p:spPr>
        <p:txBody>
          <a:bodyPr/>
          <a:lstStyle/>
          <a:p>
            <a:r>
              <a:rPr lang="zh-CN" altLang="en-US" sz="1800" dirty="0"/>
              <a:t>在华为云广域网络解决方案中，</a:t>
            </a:r>
            <a:r>
              <a:rPr lang="en-US" altLang="zh-CN" sz="1800" dirty="0" err="1"/>
              <a:t>iMaster</a:t>
            </a:r>
            <a:r>
              <a:rPr lang="en-US" altLang="zh-CN" sz="1800" dirty="0"/>
              <a:t> NCE-IP</a:t>
            </a:r>
            <a:r>
              <a:rPr lang="zh-CN" altLang="en-US" sz="1800" dirty="0"/>
              <a:t>控制器可基于带宽算路，并将转发路径（</a:t>
            </a:r>
            <a:r>
              <a:rPr lang="en-US" altLang="zh-CN" sz="1800" dirty="0"/>
              <a:t>SR Policy</a:t>
            </a:r>
            <a:r>
              <a:rPr lang="zh-CN" altLang="en-US" sz="1800" dirty="0"/>
              <a:t>）下发给网络设备。</a:t>
            </a:r>
            <a:endParaRPr lang="en-US" altLang="zh-CN" sz="1800" dirty="0"/>
          </a:p>
          <a:p>
            <a:r>
              <a:rPr lang="zh-CN" altLang="en-US" sz="1800" dirty="0"/>
              <a:t>虽然控制器能基于带宽算路，但是下发的路径信息里并不包含流量限速策略，因此转发路径（</a:t>
            </a:r>
            <a:r>
              <a:rPr lang="en-US" altLang="zh-CN" sz="1800" dirty="0"/>
              <a:t>SR Policy</a:t>
            </a:r>
            <a:r>
              <a:rPr lang="zh-CN" altLang="en-US" sz="1800" dirty="0"/>
              <a:t>）承载的流量有可能会超过规划的带宽。</a:t>
            </a:r>
            <a:endParaRPr lang="en-US" altLang="zh-CN" sz="1800" dirty="0"/>
          </a:p>
          <a:p>
            <a:r>
              <a:rPr lang="zh-CN" altLang="en-US" sz="1800" dirty="0"/>
              <a:t>为了保证流量不会超过规划的带宽，网络需要部署</a:t>
            </a:r>
            <a:r>
              <a:rPr lang="en-US" altLang="zh-CN" sz="1800" dirty="0"/>
              <a:t>SLA</a:t>
            </a:r>
            <a:r>
              <a:rPr lang="zh-CN" altLang="en-US" sz="1800" dirty="0"/>
              <a:t>技术，限制流量所用带宽。</a:t>
            </a:r>
            <a:endParaRPr lang="en-US" altLang="zh-CN" sz="1800" dirty="0"/>
          </a:p>
          <a:p>
            <a:r>
              <a:rPr lang="en-US" altLang="zh-CN" sz="1800" dirty="0"/>
              <a:t>SLA</a:t>
            </a:r>
            <a:r>
              <a:rPr lang="zh-CN" altLang="en-US" sz="1800" dirty="0"/>
              <a:t>技术主要包括</a:t>
            </a:r>
            <a:r>
              <a:rPr lang="en-US" altLang="zh-CN" sz="1800" dirty="0"/>
              <a:t>QoS</a:t>
            </a:r>
            <a:r>
              <a:rPr lang="zh-CN" altLang="en-US" sz="1800" dirty="0"/>
              <a:t>与网络切片。</a:t>
            </a:r>
            <a:endParaRPr lang="en-US" altLang="zh-CN" sz="1800" dirty="0"/>
          </a:p>
        </p:txBody>
      </p:sp>
      <p:grpSp>
        <p:nvGrpSpPr>
          <p:cNvPr id="127" name="Group 126">
            <a:extLst>
              <a:ext uri="{FF2B5EF4-FFF2-40B4-BE49-F238E27FC236}">
                <a16:creationId xmlns="" xmlns:a16="http://schemas.microsoft.com/office/drawing/2014/main" id="{A12C4DC3-3874-4847-B615-A0BEA7EEB609}"/>
              </a:ext>
            </a:extLst>
          </p:cNvPr>
          <p:cNvGrpSpPr/>
          <p:nvPr/>
        </p:nvGrpSpPr>
        <p:grpSpPr bwMode="gray">
          <a:xfrm>
            <a:off x="4802389" y="3429000"/>
            <a:ext cx="6205335" cy="2678105"/>
            <a:chOff x="2552309" y="3413078"/>
            <a:chExt cx="6205335" cy="2678105"/>
          </a:xfrm>
        </p:grpSpPr>
        <p:sp>
          <p:nvSpPr>
            <p:cNvPr id="58" name="Oval 41">
              <a:extLst>
                <a:ext uri="{FF2B5EF4-FFF2-40B4-BE49-F238E27FC236}">
                  <a16:creationId xmlns="" xmlns:a16="http://schemas.microsoft.com/office/drawing/2014/main" id="{5DDB3FAE-61D5-45DC-93D8-C10F1B3F0E8D}"/>
                </a:ext>
              </a:extLst>
            </p:cNvPr>
            <p:cNvSpPr>
              <a:spLocks noChangeAspect="1"/>
            </p:cNvSpPr>
            <p:nvPr/>
          </p:nvSpPr>
          <p:spPr bwMode="gray">
            <a:xfrm>
              <a:off x="5307501" y="364890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9" name="Oval 41">
              <a:extLst>
                <a:ext uri="{FF2B5EF4-FFF2-40B4-BE49-F238E27FC236}">
                  <a16:creationId xmlns="" xmlns:a16="http://schemas.microsoft.com/office/drawing/2014/main" id="{1DEC696A-7B4A-48CF-9635-117F59147836}"/>
                </a:ext>
              </a:extLst>
            </p:cNvPr>
            <p:cNvSpPr>
              <a:spLocks noChangeAspect="1"/>
            </p:cNvSpPr>
            <p:nvPr/>
          </p:nvSpPr>
          <p:spPr bwMode="gray">
            <a:xfrm>
              <a:off x="6033508" y="364277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1" name="Oval 41">
              <a:extLst>
                <a:ext uri="{FF2B5EF4-FFF2-40B4-BE49-F238E27FC236}">
                  <a16:creationId xmlns="" xmlns:a16="http://schemas.microsoft.com/office/drawing/2014/main" id="{C1239C69-F4D0-4F6A-B6CE-18886538C422}"/>
                </a:ext>
              </a:extLst>
            </p:cNvPr>
            <p:cNvSpPr>
              <a:spLocks noChangeAspect="1"/>
            </p:cNvSpPr>
            <p:nvPr/>
          </p:nvSpPr>
          <p:spPr bwMode="gray">
            <a:xfrm>
              <a:off x="6761467" y="364890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pic>
          <p:nvPicPr>
            <p:cNvPr id="63" name="图片 31">
              <a:extLst>
                <a:ext uri="{FF2B5EF4-FFF2-40B4-BE49-F238E27FC236}">
                  <a16:creationId xmlns="" xmlns:a16="http://schemas.microsoft.com/office/drawing/2014/main" id="{55BCE58C-830F-4D8B-AFFD-B5D2CEC2B9C5}"/>
                </a:ext>
              </a:extLst>
            </p:cNvPr>
            <p:cNvPicPr>
              <a:picLocks noChangeAspect="1"/>
            </p:cNvPicPr>
            <p:nvPr/>
          </p:nvPicPr>
          <p:blipFill>
            <a:blip r:embed="rId3"/>
            <a:stretch>
              <a:fillRect/>
            </a:stretch>
          </p:blipFill>
          <p:spPr bwMode="gray">
            <a:xfrm>
              <a:off x="4312316" y="5440478"/>
              <a:ext cx="466668" cy="389308"/>
            </a:xfrm>
            <a:prstGeom prst="rect">
              <a:avLst/>
            </a:prstGeom>
          </p:spPr>
        </p:pic>
        <p:pic>
          <p:nvPicPr>
            <p:cNvPr id="65" name="图片 31">
              <a:extLst>
                <a:ext uri="{FF2B5EF4-FFF2-40B4-BE49-F238E27FC236}">
                  <a16:creationId xmlns="" xmlns:a16="http://schemas.microsoft.com/office/drawing/2014/main" id="{39EB17EB-F558-44DC-8616-7B62C94BBF20}"/>
                </a:ext>
              </a:extLst>
            </p:cNvPr>
            <p:cNvPicPr>
              <a:picLocks noChangeAspect="1"/>
            </p:cNvPicPr>
            <p:nvPr/>
          </p:nvPicPr>
          <p:blipFill>
            <a:blip r:embed="rId3"/>
            <a:stretch>
              <a:fillRect/>
            </a:stretch>
          </p:blipFill>
          <p:spPr bwMode="gray">
            <a:xfrm>
              <a:off x="5855366" y="5436695"/>
              <a:ext cx="466668" cy="389308"/>
            </a:xfrm>
            <a:prstGeom prst="rect">
              <a:avLst/>
            </a:prstGeom>
          </p:spPr>
        </p:pic>
        <p:pic>
          <p:nvPicPr>
            <p:cNvPr id="67" name="图片 31">
              <a:extLst>
                <a:ext uri="{FF2B5EF4-FFF2-40B4-BE49-F238E27FC236}">
                  <a16:creationId xmlns="" xmlns:a16="http://schemas.microsoft.com/office/drawing/2014/main" id="{E0340CA4-EE3C-4EAD-BBC6-8E360813D161}"/>
                </a:ext>
              </a:extLst>
            </p:cNvPr>
            <p:cNvPicPr>
              <a:picLocks noChangeAspect="1"/>
            </p:cNvPicPr>
            <p:nvPr/>
          </p:nvPicPr>
          <p:blipFill>
            <a:blip r:embed="rId3"/>
            <a:stretch>
              <a:fillRect/>
            </a:stretch>
          </p:blipFill>
          <p:spPr bwMode="gray">
            <a:xfrm>
              <a:off x="7398416" y="5440478"/>
              <a:ext cx="466668" cy="389308"/>
            </a:xfrm>
            <a:prstGeom prst="rect">
              <a:avLst/>
            </a:prstGeom>
          </p:spPr>
        </p:pic>
        <p:cxnSp>
          <p:nvCxnSpPr>
            <p:cNvPr id="69" name="Straight Connector 68">
              <a:extLst>
                <a:ext uri="{FF2B5EF4-FFF2-40B4-BE49-F238E27FC236}">
                  <a16:creationId xmlns="" xmlns:a16="http://schemas.microsoft.com/office/drawing/2014/main" id="{058A39B1-F28E-497E-B6C7-5D7A494939F4}"/>
                </a:ext>
              </a:extLst>
            </p:cNvPr>
            <p:cNvCxnSpPr>
              <a:cxnSpLocks/>
              <a:stCxn id="63" idx="3"/>
              <a:endCxn id="65" idx="1"/>
            </p:cNvCxnSpPr>
            <p:nvPr/>
          </p:nvCxnSpPr>
          <p:spPr bwMode="gray">
            <a:xfrm flipV="1">
              <a:off x="4778984" y="5631349"/>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 xmlns:a16="http://schemas.microsoft.com/office/drawing/2014/main" id="{7EE42343-A60D-4B62-B744-2C6C2BAC2413}"/>
                </a:ext>
              </a:extLst>
            </p:cNvPr>
            <p:cNvCxnSpPr>
              <a:cxnSpLocks/>
              <a:stCxn id="67" idx="1"/>
              <a:endCxn id="65" idx="3"/>
            </p:cNvCxnSpPr>
            <p:nvPr/>
          </p:nvCxnSpPr>
          <p:spPr bwMode="gray">
            <a:xfrm flipH="1" flipV="1">
              <a:off x="6322034" y="5631349"/>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6" name="TextBox 271">
              <a:extLst>
                <a:ext uri="{FF2B5EF4-FFF2-40B4-BE49-F238E27FC236}">
                  <a16:creationId xmlns="" xmlns:a16="http://schemas.microsoft.com/office/drawing/2014/main" id="{1DD0EDC4-D590-44B8-9839-7F8242546A35}"/>
                </a:ext>
              </a:extLst>
            </p:cNvPr>
            <p:cNvSpPr txBox="1"/>
            <p:nvPr/>
          </p:nvSpPr>
          <p:spPr bwMode="gray">
            <a:xfrm>
              <a:off x="6099143" y="5219634"/>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271">
              <a:extLst>
                <a:ext uri="{FF2B5EF4-FFF2-40B4-BE49-F238E27FC236}">
                  <a16:creationId xmlns="" xmlns:a16="http://schemas.microsoft.com/office/drawing/2014/main" id="{6DB16408-B53D-40D1-B97B-9A704CE4B6CE}"/>
                </a:ext>
              </a:extLst>
            </p:cNvPr>
            <p:cNvSpPr txBox="1"/>
            <p:nvPr/>
          </p:nvSpPr>
          <p:spPr bwMode="gray">
            <a:xfrm>
              <a:off x="4163913" y="5219634"/>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271">
              <a:extLst>
                <a:ext uri="{FF2B5EF4-FFF2-40B4-BE49-F238E27FC236}">
                  <a16:creationId xmlns="" xmlns:a16="http://schemas.microsoft.com/office/drawing/2014/main" id="{03190513-F431-48AB-8730-F020460855C0}"/>
                </a:ext>
              </a:extLst>
            </p:cNvPr>
            <p:cNvSpPr txBox="1"/>
            <p:nvPr/>
          </p:nvSpPr>
          <p:spPr bwMode="gray">
            <a:xfrm>
              <a:off x="7578091" y="5223788"/>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2" name="图片 24">
              <a:extLst>
                <a:ext uri="{FF2B5EF4-FFF2-40B4-BE49-F238E27FC236}">
                  <a16:creationId xmlns="" xmlns:a16="http://schemas.microsoft.com/office/drawing/2014/main" id="{A58CA172-D719-46ED-B9C2-BBDA4385EF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110529" y="4048679"/>
              <a:ext cx="1977229" cy="364654"/>
            </a:xfrm>
            <a:prstGeom prst="rect">
              <a:avLst/>
            </a:prstGeom>
          </p:spPr>
        </p:pic>
        <p:sp>
          <p:nvSpPr>
            <p:cNvPr id="83" name="圆角矩形 75">
              <a:extLst>
                <a:ext uri="{FF2B5EF4-FFF2-40B4-BE49-F238E27FC236}">
                  <a16:creationId xmlns="" xmlns:a16="http://schemas.microsoft.com/office/drawing/2014/main" id="{F55DD6B3-3743-4238-8A67-35151DDAA724}"/>
                </a:ext>
              </a:extLst>
            </p:cNvPr>
            <p:cNvSpPr/>
            <p:nvPr/>
          </p:nvSpPr>
          <p:spPr bwMode="gray">
            <a:xfrm>
              <a:off x="5028539" y="4022333"/>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84" name="直接箭头连接符 84">
              <a:extLst>
                <a:ext uri="{FF2B5EF4-FFF2-40B4-BE49-F238E27FC236}">
                  <a16:creationId xmlns="" xmlns:a16="http://schemas.microsoft.com/office/drawing/2014/main" id="{AA43CB32-5306-4E1A-819E-57ABA197930A}"/>
                </a:ext>
              </a:extLst>
            </p:cNvPr>
            <p:cNvCxnSpPr>
              <a:cxnSpLocks/>
              <a:stCxn id="65" idx="0"/>
              <a:endCxn id="83" idx="2"/>
            </p:cNvCxnSpPr>
            <p:nvPr/>
          </p:nvCxnSpPr>
          <p:spPr bwMode="gray">
            <a:xfrm flipH="1" flipV="1">
              <a:off x="6086498" y="4425613"/>
              <a:ext cx="2202" cy="1011082"/>
            </a:xfrm>
            <a:prstGeom prst="straightConnector1">
              <a:avLst/>
            </a:prstGeom>
            <a:ln w="19050" cap="flat" cmpd="sng" algn="ctr">
              <a:solidFill>
                <a:srgbClr val="56C4D2"/>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86" name="TextBox 271">
              <a:extLst>
                <a:ext uri="{FF2B5EF4-FFF2-40B4-BE49-F238E27FC236}">
                  <a16:creationId xmlns="" xmlns:a16="http://schemas.microsoft.com/office/drawing/2014/main" id="{9E200490-9DD4-46CA-A999-FA475D140612}"/>
                </a:ext>
              </a:extLst>
            </p:cNvPr>
            <p:cNvSpPr txBox="1"/>
            <p:nvPr/>
          </p:nvSpPr>
          <p:spPr bwMode="gray">
            <a:xfrm rot="19599356">
              <a:off x="4383506" y="4759643"/>
              <a:ext cx="1577676"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SR-Policy/PCEP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7" name="图片 31">
              <a:extLst>
                <a:ext uri="{FF2B5EF4-FFF2-40B4-BE49-F238E27FC236}">
                  <a16:creationId xmlns="" xmlns:a16="http://schemas.microsoft.com/office/drawing/2014/main" id="{047EDD7C-B4EE-4FFE-9C3B-33091EBDD986}"/>
                </a:ext>
              </a:extLst>
            </p:cNvPr>
            <p:cNvPicPr>
              <a:picLocks noChangeAspect="1"/>
            </p:cNvPicPr>
            <p:nvPr/>
          </p:nvPicPr>
          <p:blipFill>
            <a:blip r:embed="rId3"/>
            <a:stretch>
              <a:fillRect/>
            </a:stretch>
          </p:blipFill>
          <p:spPr bwMode="gray">
            <a:xfrm>
              <a:off x="3435452" y="5440478"/>
              <a:ext cx="466668" cy="389308"/>
            </a:xfrm>
            <a:prstGeom prst="rect">
              <a:avLst/>
            </a:prstGeom>
          </p:spPr>
        </p:pic>
        <p:pic>
          <p:nvPicPr>
            <p:cNvPr id="88" name="图片 31">
              <a:extLst>
                <a:ext uri="{FF2B5EF4-FFF2-40B4-BE49-F238E27FC236}">
                  <a16:creationId xmlns="" xmlns:a16="http://schemas.microsoft.com/office/drawing/2014/main" id="{D33A6EE3-D42D-4B9F-8966-2A65CA4A12BB}"/>
                </a:ext>
              </a:extLst>
            </p:cNvPr>
            <p:cNvPicPr>
              <a:picLocks noChangeAspect="1"/>
            </p:cNvPicPr>
            <p:nvPr/>
          </p:nvPicPr>
          <p:blipFill>
            <a:blip r:embed="rId3"/>
            <a:stretch>
              <a:fillRect/>
            </a:stretch>
          </p:blipFill>
          <p:spPr bwMode="gray">
            <a:xfrm>
              <a:off x="8290976" y="5436695"/>
              <a:ext cx="466668" cy="389308"/>
            </a:xfrm>
            <a:prstGeom prst="rect">
              <a:avLst/>
            </a:prstGeom>
          </p:spPr>
        </p:pic>
        <p:cxnSp>
          <p:nvCxnSpPr>
            <p:cNvPr id="89" name="Straight Connector 88">
              <a:extLst>
                <a:ext uri="{FF2B5EF4-FFF2-40B4-BE49-F238E27FC236}">
                  <a16:creationId xmlns="" xmlns:a16="http://schemas.microsoft.com/office/drawing/2014/main" id="{96AA19CF-8713-4702-B0FF-F4D85C0A5109}"/>
                </a:ext>
              </a:extLst>
            </p:cNvPr>
            <p:cNvCxnSpPr>
              <a:cxnSpLocks/>
              <a:stCxn id="87" idx="3"/>
              <a:endCxn id="63" idx="1"/>
            </p:cNvCxnSpPr>
            <p:nvPr/>
          </p:nvCxnSpPr>
          <p:spPr bwMode="gray">
            <a:xfrm>
              <a:off x="3902120" y="5635132"/>
              <a:ext cx="41019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80CC8A23-F2F5-4CB2-AF8C-51790916E8E3}"/>
                </a:ext>
              </a:extLst>
            </p:cNvPr>
            <p:cNvCxnSpPr>
              <a:cxnSpLocks/>
              <a:stCxn id="88" idx="1"/>
              <a:endCxn id="67" idx="3"/>
            </p:cNvCxnSpPr>
            <p:nvPr/>
          </p:nvCxnSpPr>
          <p:spPr bwMode="gray">
            <a:xfrm flipH="1">
              <a:off x="7865084" y="5631349"/>
              <a:ext cx="42589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直接箭头连接符 84">
              <a:extLst>
                <a:ext uri="{FF2B5EF4-FFF2-40B4-BE49-F238E27FC236}">
                  <a16:creationId xmlns="" xmlns:a16="http://schemas.microsoft.com/office/drawing/2014/main" id="{C006030F-B4F6-441C-BFAE-AE9D386F7F5A}"/>
                </a:ext>
              </a:extLst>
            </p:cNvPr>
            <p:cNvCxnSpPr>
              <a:cxnSpLocks/>
              <a:stCxn id="82" idx="2"/>
              <a:endCxn id="63" idx="0"/>
            </p:cNvCxnSpPr>
            <p:nvPr/>
          </p:nvCxnSpPr>
          <p:spPr bwMode="gray">
            <a:xfrm flipH="1">
              <a:off x="4545650" y="4413333"/>
              <a:ext cx="1553494" cy="1027145"/>
            </a:xfrm>
            <a:prstGeom prst="straightConnector1">
              <a:avLst/>
            </a:prstGeom>
            <a:ln w="19050" cap="flat" cmpd="sng" algn="ctr">
              <a:solidFill>
                <a:srgbClr val="E28198"/>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2" name="Straight Connector 111">
              <a:extLst>
                <a:ext uri="{FF2B5EF4-FFF2-40B4-BE49-F238E27FC236}">
                  <a16:creationId xmlns="" xmlns:a16="http://schemas.microsoft.com/office/drawing/2014/main" id="{C5DB631C-D1C3-4F9A-BCC9-6AD567F548C2}"/>
                </a:ext>
              </a:extLst>
            </p:cNvPr>
            <p:cNvCxnSpPr>
              <a:cxnSpLocks/>
            </p:cNvCxnSpPr>
            <p:nvPr/>
          </p:nvCxnSpPr>
          <p:spPr bwMode="gray">
            <a:xfrm>
              <a:off x="5435029" y="3728540"/>
              <a:ext cx="678110"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 xmlns:a16="http://schemas.microsoft.com/office/drawing/2014/main" id="{668E8C3B-7C6F-48D0-92CF-E9DB5442AF92}"/>
                </a:ext>
              </a:extLst>
            </p:cNvPr>
            <p:cNvCxnSpPr>
              <a:cxnSpLocks/>
            </p:cNvCxnSpPr>
            <p:nvPr/>
          </p:nvCxnSpPr>
          <p:spPr bwMode="gray">
            <a:xfrm>
              <a:off x="6123415" y="3722400"/>
              <a:ext cx="742289"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9" name="圆角矩形 75">
              <a:extLst>
                <a:ext uri="{FF2B5EF4-FFF2-40B4-BE49-F238E27FC236}">
                  <a16:creationId xmlns="" xmlns:a16="http://schemas.microsoft.com/office/drawing/2014/main" id="{87EB849E-1AC4-49FD-A168-6A78B6BBA3A2}"/>
                </a:ext>
              </a:extLst>
            </p:cNvPr>
            <p:cNvSpPr/>
            <p:nvPr/>
          </p:nvSpPr>
          <p:spPr bwMode="gray">
            <a:xfrm>
              <a:off x="5028539" y="3413078"/>
              <a:ext cx="2115918" cy="609253"/>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00" name="图片 7">
              <a:extLst>
                <a:ext uri="{FF2B5EF4-FFF2-40B4-BE49-F238E27FC236}">
                  <a16:creationId xmlns="" xmlns:a16="http://schemas.microsoft.com/office/drawing/2014/main" id="{9B16B3AC-00A1-402E-95A3-C6D087400F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022443" y="4037668"/>
              <a:ext cx="444352" cy="363854"/>
            </a:xfrm>
            <a:prstGeom prst="rect">
              <a:avLst/>
            </a:prstGeom>
          </p:spPr>
        </p:pic>
        <p:sp>
          <p:nvSpPr>
            <p:cNvPr id="101" name="文本框 24">
              <a:extLst>
                <a:ext uri="{FF2B5EF4-FFF2-40B4-BE49-F238E27FC236}">
                  <a16:creationId xmlns="" xmlns:a16="http://schemas.microsoft.com/office/drawing/2014/main" id="{04B2A98C-F900-4128-8C38-1F0D57D79F2F}"/>
                </a:ext>
              </a:extLst>
            </p:cNvPr>
            <p:cNvSpPr txBox="1"/>
            <p:nvPr/>
          </p:nvSpPr>
          <p:spPr bwMode="gray">
            <a:xfrm>
              <a:off x="7751993" y="4379742"/>
              <a:ext cx="954107"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网络管理员</a:t>
              </a:r>
            </a:p>
          </p:txBody>
        </p:sp>
        <p:cxnSp>
          <p:nvCxnSpPr>
            <p:cNvPr id="102" name="Straight Arrow Connector 101">
              <a:extLst>
                <a:ext uri="{FF2B5EF4-FFF2-40B4-BE49-F238E27FC236}">
                  <a16:creationId xmlns="" xmlns:a16="http://schemas.microsoft.com/office/drawing/2014/main" id="{CD1FE326-5774-45B3-A66D-44D380A49661}"/>
                </a:ext>
              </a:extLst>
            </p:cNvPr>
            <p:cNvCxnSpPr>
              <a:cxnSpLocks/>
            </p:cNvCxnSpPr>
            <p:nvPr/>
          </p:nvCxnSpPr>
          <p:spPr bwMode="gray">
            <a:xfrm flipH="1">
              <a:off x="7226447" y="4219595"/>
              <a:ext cx="728775"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文本框 24">
              <a:extLst>
                <a:ext uri="{FF2B5EF4-FFF2-40B4-BE49-F238E27FC236}">
                  <a16:creationId xmlns="" xmlns:a16="http://schemas.microsoft.com/office/drawing/2014/main" id="{20A2EF8D-8050-4EB0-ABC8-7F339CDF0E5B}"/>
                </a:ext>
              </a:extLst>
            </p:cNvPr>
            <p:cNvSpPr txBox="1"/>
            <p:nvPr/>
          </p:nvSpPr>
          <p:spPr bwMode="gray">
            <a:xfrm>
              <a:off x="7087757" y="3749686"/>
              <a:ext cx="1009723" cy="461665"/>
            </a:xfrm>
            <a:prstGeom prst="rect">
              <a:avLst/>
            </a:prstGeom>
            <a:noFill/>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部署带宽为</a:t>
              </a:r>
              <a:r>
                <a:rPr lang="en-US" altLang="zh-CN" sz="1200" b="1" dirty="0" smtClean="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 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的隧道</a:t>
              </a:r>
            </a:p>
          </p:txBody>
        </p:sp>
        <p:sp>
          <p:nvSpPr>
            <p:cNvPr id="105" name="Rectangular Callout 26">
              <a:extLst>
                <a:ext uri="{FF2B5EF4-FFF2-40B4-BE49-F238E27FC236}">
                  <a16:creationId xmlns="" xmlns:a16="http://schemas.microsoft.com/office/drawing/2014/main" id="{7C4BB756-283C-4EEE-AB21-ACA7DD067BA7}"/>
                </a:ext>
              </a:extLst>
            </p:cNvPr>
            <p:cNvSpPr/>
            <p:nvPr/>
          </p:nvSpPr>
          <p:spPr bwMode="gray">
            <a:xfrm>
              <a:off x="3544403" y="3664420"/>
              <a:ext cx="971334" cy="388952"/>
            </a:xfrm>
            <a:prstGeom prst="wedgeRectCallout">
              <a:avLst>
                <a:gd name="adj1" fmla="val 64204"/>
                <a:gd name="adj2" fmla="val 1857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基于带宽需求规划路径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Shape 105">
              <a:extLst>
                <a:ext uri="{FF2B5EF4-FFF2-40B4-BE49-F238E27FC236}">
                  <a16:creationId xmlns="" xmlns:a16="http://schemas.microsoft.com/office/drawing/2014/main" id="{B3FC56EE-A65A-4FA5-93E4-E7EB9C908E3F}"/>
                </a:ext>
              </a:extLst>
            </p:cNvPr>
            <p:cNvSpPr/>
            <p:nvPr/>
          </p:nvSpPr>
          <p:spPr bwMode="gray">
            <a:xfrm>
              <a:off x="4689374" y="3756512"/>
              <a:ext cx="304812" cy="438150"/>
            </a:xfrm>
            <a:custGeom>
              <a:avLst/>
              <a:gdLst>
                <a:gd name="connsiteX0" fmla="*/ 304812 w 304812"/>
                <a:gd name="connsiteY0" fmla="*/ 438150 h 438150"/>
                <a:gd name="connsiteX1" fmla="*/ 12 w 304812"/>
                <a:gd name="connsiteY1" fmla="*/ 200025 h 438150"/>
                <a:gd name="connsiteX2" fmla="*/ 295287 w 304812"/>
                <a:gd name="connsiteY2" fmla="*/ 0 h 438150"/>
              </a:gdLst>
              <a:ahLst/>
              <a:cxnLst>
                <a:cxn ang="0">
                  <a:pos x="connsiteX0" y="connsiteY0"/>
                </a:cxn>
                <a:cxn ang="0">
                  <a:pos x="connsiteX1" y="connsiteY1"/>
                </a:cxn>
                <a:cxn ang="0">
                  <a:pos x="connsiteX2" y="connsiteY2"/>
                </a:cxn>
              </a:cxnLst>
              <a:rect l="l" t="t" r="r" b="b"/>
              <a:pathLst>
                <a:path w="304812" h="438150">
                  <a:moveTo>
                    <a:pt x="304812" y="438150"/>
                  </a:moveTo>
                  <a:cubicBezTo>
                    <a:pt x="153205" y="355600"/>
                    <a:pt x="1599" y="273050"/>
                    <a:pt x="12" y="200025"/>
                  </a:cubicBezTo>
                  <a:cubicBezTo>
                    <a:pt x="-1575" y="127000"/>
                    <a:pt x="146856" y="63500"/>
                    <a:pt x="295287" y="0"/>
                  </a:cubicBezTo>
                </a:path>
              </a:pathLst>
            </a:custGeom>
            <a:noFill/>
            <a:ln w="28575">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Can 225">
              <a:extLst>
                <a:ext uri="{FF2B5EF4-FFF2-40B4-BE49-F238E27FC236}">
                  <a16:creationId xmlns="" xmlns:a16="http://schemas.microsoft.com/office/drawing/2014/main" id="{FBE2A9FB-8D93-4AC7-B648-C939C633BCE3}"/>
                </a:ext>
              </a:extLst>
            </p:cNvPr>
            <p:cNvSpPr/>
            <p:nvPr/>
          </p:nvSpPr>
          <p:spPr bwMode="gray">
            <a:xfrm rot="5400000">
              <a:off x="5918250" y="4087305"/>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0" name="TextBox 271">
              <a:extLst>
                <a:ext uri="{FF2B5EF4-FFF2-40B4-BE49-F238E27FC236}">
                  <a16:creationId xmlns="" xmlns:a16="http://schemas.microsoft.com/office/drawing/2014/main" id="{F982B805-129E-4A07-8BBE-99FE875EA5A6}"/>
                </a:ext>
              </a:extLst>
            </p:cNvPr>
            <p:cNvSpPr txBox="1"/>
            <p:nvPr/>
          </p:nvSpPr>
          <p:spPr bwMode="gray">
            <a:xfrm>
              <a:off x="5508704" y="5523085"/>
              <a:ext cx="1119217"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 Policy</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123" name="Arrow: Right 122">
              <a:extLst>
                <a:ext uri="{FF2B5EF4-FFF2-40B4-BE49-F238E27FC236}">
                  <a16:creationId xmlns="" xmlns:a16="http://schemas.microsoft.com/office/drawing/2014/main" id="{53705937-3023-4DEE-93BB-EBF6AFE51292}"/>
                </a:ext>
              </a:extLst>
            </p:cNvPr>
            <p:cNvSpPr/>
            <p:nvPr/>
          </p:nvSpPr>
          <p:spPr bwMode="gray">
            <a:xfrm>
              <a:off x="2552309" y="5237065"/>
              <a:ext cx="1016231" cy="849037"/>
            </a:xfrm>
            <a:prstGeom prst="rightArrow">
              <a:avLst>
                <a:gd name="adj1" fmla="val 50000"/>
                <a:gd name="adj2" fmla="val 32948"/>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2G</a:t>
              </a:r>
              <a:r>
                <a:rPr lang="zh-CN" altLang="en-US" sz="1400" dirty="0">
                  <a:solidFill>
                    <a:schemeClr val="tx1"/>
                  </a:solidFill>
                </a:rPr>
                <a:t>流量</a:t>
              </a:r>
              <a:endParaRPr lang="en-US" sz="1400" dirty="0">
                <a:solidFill>
                  <a:schemeClr val="tx1"/>
                </a:solidFill>
              </a:endParaRPr>
            </a:p>
          </p:txBody>
        </p:sp>
        <p:sp>
          <p:nvSpPr>
            <p:cNvPr id="124" name="Rectangle 123">
              <a:extLst>
                <a:ext uri="{FF2B5EF4-FFF2-40B4-BE49-F238E27FC236}">
                  <a16:creationId xmlns="" xmlns:a16="http://schemas.microsoft.com/office/drawing/2014/main" id="{2D0F35D5-E189-4997-8204-E0E52E6581DF}"/>
                </a:ext>
              </a:extLst>
            </p:cNvPr>
            <p:cNvSpPr/>
            <p:nvPr/>
          </p:nvSpPr>
          <p:spPr bwMode="gray">
            <a:xfrm rot="16200000">
              <a:off x="3340993" y="5498775"/>
              <a:ext cx="849038" cy="335778"/>
            </a:xfrm>
            <a:prstGeom prst="rect">
              <a:avLst/>
            </a:prstGeom>
            <a:solidFill>
              <a:srgbClr val="AFD89C"/>
            </a:solidFill>
            <a:ln>
              <a:solidFill>
                <a:srgbClr val="AFD8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SLA</a:t>
              </a:r>
              <a:r>
                <a:rPr lang="zh-CN" altLang="en-US" sz="1400" dirty="0">
                  <a:solidFill>
                    <a:schemeClr val="tx1"/>
                  </a:solidFill>
                </a:rPr>
                <a:t>技术</a:t>
              </a:r>
              <a:endParaRPr lang="en-US" sz="1400" dirty="0">
                <a:solidFill>
                  <a:schemeClr val="tx1"/>
                </a:solidFill>
              </a:endParaRPr>
            </a:p>
          </p:txBody>
        </p:sp>
        <p:sp>
          <p:nvSpPr>
            <p:cNvPr id="125" name="Arrow: Right 124">
              <a:extLst>
                <a:ext uri="{FF2B5EF4-FFF2-40B4-BE49-F238E27FC236}">
                  <a16:creationId xmlns="" xmlns:a16="http://schemas.microsoft.com/office/drawing/2014/main" id="{77D093CE-C324-4F81-B1D7-70429711C59C}"/>
                </a:ext>
              </a:extLst>
            </p:cNvPr>
            <p:cNvSpPr/>
            <p:nvPr/>
          </p:nvSpPr>
          <p:spPr bwMode="gray">
            <a:xfrm>
              <a:off x="3970563" y="5495644"/>
              <a:ext cx="1016231" cy="343421"/>
            </a:xfrm>
            <a:prstGeom prst="rightArrow">
              <a:avLst>
                <a:gd name="adj1" fmla="val 50000"/>
                <a:gd name="adj2" fmla="val 32948"/>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1G</a:t>
              </a:r>
              <a:r>
                <a:rPr lang="zh-CN" altLang="en-US" sz="1400" dirty="0">
                  <a:solidFill>
                    <a:schemeClr val="tx1"/>
                  </a:solidFill>
                </a:rPr>
                <a:t>流量</a:t>
              </a:r>
              <a:endParaRPr lang="en-US" sz="1400" dirty="0">
                <a:solidFill>
                  <a:schemeClr val="tx1"/>
                </a:solidFill>
              </a:endParaRPr>
            </a:p>
          </p:txBody>
        </p:sp>
        <p:sp>
          <p:nvSpPr>
            <p:cNvPr id="126" name="Rectangular Callout 26">
              <a:extLst>
                <a:ext uri="{FF2B5EF4-FFF2-40B4-BE49-F238E27FC236}">
                  <a16:creationId xmlns="" xmlns:a16="http://schemas.microsoft.com/office/drawing/2014/main" id="{476B5E0C-E96A-446C-982E-77B461F83F75}"/>
                </a:ext>
              </a:extLst>
            </p:cNvPr>
            <p:cNvSpPr/>
            <p:nvPr/>
          </p:nvSpPr>
          <p:spPr bwMode="gray">
            <a:xfrm>
              <a:off x="2793738" y="4466134"/>
              <a:ext cx="1283427" cy="628237"/>
            </a:xfrm>
            <a:prstGeom prst="wedgeRectCallout">
              <a:avLst>
                <a:gd name="adj1" fmla="val 23813"/>
                <a:gd name="adj2" fmla="val 7911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技术保证流量不会超过规划带宽</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6851215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p:txBody>
          <a:bodyPr/>
          <a:lstStyle/>
          <a:p>
            <a:r>
              <a:rPr lang="en-US"/>
              <a:t>Q</a:t>
            </a:r>
            <a:r>
              <a:rPr lang="en-US" altLang="zh-CN"/>
              <a:t>oS</a:t>
            </a:r>
            <a:r>
              <a:rPr lang="zh-CN" altLang="en-US"/>
              <a:t>规划原则</a:t>
            </a:r>
            <a:endParaRPr lang="en-US" dirty="0"/>
          </a:p>
        </p:txBody>
      </p:sp>
      <p:sp>
        <p:nvSpPr>
          <p:cNvPr id="4" name="Text Placeholder 3">
            <a:extLst>
              <a:ext uri="{FF2B5EF4-FFF2-40B4-BE49-F238E27FC236}">
                <a16:creationId xmlns="" xmlns:a16="http://schemas.microsoft.com/office/drawing/2014/main" id="{D3E2D748-1B41-4E36-90A3-F5F911DB6467}"/>
              </a:ext>
            </a:extLst>
          </p:cNvPr>
          <p:cNvSpPr>
            <a:spLocks noGrp="1"/>
          </p:cNvSpPr>
          <p:nvPr>
            <p:ph type="body" sz="quarter" idx="10"/>
          </p:nvPr>
        </p:nvSpPr>
        <p:spPr/>
        <p:txBody>
          <a:bodyPr/>
          <a:lstStyle/>
          <a:p>
            <a:r>
              <a:rPr lang="zh-CN" altLang="en-US" sz="1800" dirty="0"/>
              <a:t>企业承载网需要为各类业务提供不同的服务质量保障。通过</a:t>
            </a:r>
            <a:r>
              <a:rPr lang="en-US" altLang="zh-CN" sz="1800" dirty="0" err="1"/>
              <a:t>QoS</a:t>
            </a:r>
            <a:r>
              <a:rPr lang="zh-CN" altLang="en-US" sz="1800" dirty="0"/>
              <a:t>规划，保障各类业务在承载网上得到合理的转发，</a:t>
            </a:r>
            <a:r>
              <a:rPr lang="en-US" altLang="zh-CN" sz="1800" dirty="0" err="1"/>
              <a:t>QoS</a:t>
            </a:r>
            <a:r>
              <a:rPr lang="zh-CN" altLang="en-US" sz="1800" dirty="0"/>
              <a:t>规划主要遵循如下四个原则：</a:t>
            </a:r>
            <a:endParaRPr lang="en-US" altLang="zh-CN" sz="1800" dirty="0"/>
          </a:p>
          <a:p>
            <a:pPr lvl="1"/>
            <a:r>
              <a:rPr lang="zh-CN" altLang="en-US" sz="1600" dirty="0"/>
              <a:t>合理性：基于业务的重要性，分配合理的资源。</a:t>
            </a:r>
          </a:p>
          <a:p>
            <a:pPr lvl="1"/>
            <a:r>
              <a:rPr lang="zh-CN" altLang="en-US" sz="1600" dirty="0"/>
              <a:t>一致性：</a:t>
            </a:r>
            <a:r>
              <a:rPr lang="en-US" altLang="zh-CN" sz="1600" dirty="0" err="1"/>
              <a:t>QoS</a:t>
            </a:r>
            <a:r>
              <a:rPr lang="zh-CN" altLang="en-US" sz="1600" dirty="0"/>
              <a:t>规划涉及业务分类、标记、调度、限速等各类行为，整网需要保持一致。</a:t>
            </a:r>
          </a:p>
          <a:p>
            <a:pPr lvl="1"/>
            <a:r>
              <a:rPr lang="zh-CN" altLang="en-US" sz="1600" dirty="0"/>
              <a:t>可扩展性：当前制定的</a:t>
            </a:r>
            <a:r>
              <a:rPr lang="en-US" altLang="zh-CN" sz="1600" dirty="0" err="1"/>
              <a:t>QoS</a:t>
            </a:r>
            <a:r>
              <a:rPr lang="zh-CN" altLang="en-US" sz="1600" dirty="0"/>
              <a:t>策略，需要考虑后续的业务扩展。</a:t>
            </a:r>
          </a:p>
          <a:p>
            <a:pPr lvl="1"/>
            <a:r>
              <a:rPr lang="zh-CN" altLang="en-US" sz="1600" dirty="0"/>
              <a:t>可维护性：实际业务变化迅速，日常维护中可能需要经常进行</a:t>
            </a:r>
            <a:r>
              <a:rPr lang="en-US" altLang="zh-CN" sz="1600" dirty="0" err="1"/>
              <a:t>QoS</a:t>
            </a:r>
            <a:r>
              <a:rPr lang="zh-CN" altLang="en-US" sz="1600" dirty="0"/>
              <a:t>策略调整，需方便调整，维护简单。</a:t>
            </a:r>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36253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bwMode="gray"/>
        <p:txBody>
          <a:bodyPr/>
          <a:lstStyle/>
          <a:p>
            <a:r>
              <a:rPr lang="en-US" dirty="0"/>
              <a:t>Q</a:t>
            </a:r>
            <a:r>
              <a:rPr lang="en-US" altLang="zh-CN" dirty="0"/>
              <a:t>oS</a:t>
            </a:r>
            <a:r>
              <a:rPr lang="zh-CN" altLang="en-US" dirty="0"/>
              <a:t>规划建议</a:t>
            </a:r>
            <a:endParaRPr lang="en-US" dirty="0"/>
          </a:p>
        </p:txBody>
      </p:sp>
      <p:sp>
        <p:nvSpPr>
          <p:cNvPr id="4" name="Text Placeholder 3">
            <a:extLst>
              <a:ext uri="{FF2B5EF4-FFF2-40B4-BE49-F238E27FC236}">
                <a16:creationId xmlns="" xmlns:a16="http://schemas.microsoft.com/office/drawing/2014/main" id="{D3E2D748-1B41-4E36-90A3-F5F911DB6467}"/>
              </a:ext>
            </a:extLst>
          </p:cNvPr>
          <p:cNvSpPr>
            <a:spLocks noGrp="1"/>
          </p:cNvSpPr>
          <p:nvPr>
            <p:ph type="body" sz="quarter" idx="10"/>
          </p:nvPr>
        </p:nvSpPr>
        <p:spPr bwMode="gray">
          <a:xfrm>
            <a:off x="455612" y="1047750"/>
            <a:ext cx="11293475" cy="1752599"/>
          </a:xfrm>
        </p:spPr>
        <p:txBody>
          <a:bodyPr/>
          <a:lstStyle/>
          <a:p>
            <a:r>
              <a:rPr lang="zh-CN" altLang="en-US" sz="1800" dirty="0"/>
              <a:t>在网络正常的情况下，企业内不同的业务可规划在不同的链路上，相互之间不会互相影响，但发生链路故障的情况下，受影响业务将切换到其他链路上，多种链路之间可能形成带宽竞争。为了确保关键业务需要统一部署</a:t>
            </a:r>
            <a:r>
              <a:rPr lang="en-US" altLang="zh-CN" sz="1800" dirty="0"/>
              <a:t>QoS</a:t>
            </a:r>
            <a:r>
              <a:rPr lang="zh-CN" altLang="en-US" sz="1800" dirty="0"/>
              <a:t>策略。</a:t>
            </a:r>
            <a:endParaRPr lang="en-US" altLang="zh-CN" sz="1800" dirty="0"/>
          </a:p>
          <a:p>
            <a:r>
              <a:rPr lang="zh-CN" altLang="en-US" sz="1800" dirty="0"/>
              <a:t>如果企业业务超过</a:t>
            </a:r>
            <a:r>
              <a:rPr lang="en-US" altLang="zh-CN" sz="1800" dirty="0"/>
              <a:t>8</a:t>
            </a:r>
            <a:r>
              <a:rPr lang="zh-CN" altLang="en-US" sz="1800" dirty="0"/>
              <a:t>种，需要进行适当归类与合并，以下是企业常见业务规划的一个示例：</a:t>
            </a:r>
            <a:endParaRPr lang="en-US" sz="1800" dirty="0"/>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 name="表格 8">
            <a:extLst>
              <a:ext uri="{FF2B5EF4-FFF2-40B4-BE49-F238E27FC236}">
                <a16:creationId xmlns="" xmlns:a16="http://schemas.microsoft.com/office/drawing/2014/main" id="{5F1D76A2-F10B-4A4A-AB8A-0E9273F46F97}"/>
              </a:ext>
            </a:extLst>
          </p:cNvPr>
          <p:cNvGraphicFramePr>
            <a:graphicFrameLocks noGrp="1"/>
          </p:cNvGraphicFramePr>
          <p:nvPr>
            <p:extLst>
              <p:ext uri="{D42A27DB-BD31-4B8C-83A1-F6EECF244321}">
                <p14:modId xmlns:p14="http://schemas.microsoft.com/office/powerpoint/2010/main" val="4088020678"/>
              </p:ext>
            </p:extLst>
          </p:nvPr>
        </p:nvGraphicFramePr>
        <p:xfrm>
          <a:off x="1362074" y="2800349"/>
          <a:ext cx="9534525" cy="3331408"/>
        </p:xfrm>
        <a:graphic>
          <a:graphicData uri="http://schemas.openxmlformats.org/drawingml/2006/table">
            <a:tbl>
              <a:tblPr firstRow="1" bandRow="1"/>
              <a:tblGrid>
                <a:gridCol w="952501">
                  <a:extLst>
                    <a:ext uri="{9D8B030D-6E8A-4147-A177-3AD203B41FA5}">
                      <a16:colId xmlns="" xmlns:a16="http://schemas.microsoft.com/office/drawing/2014/main" val="20000"/>
                    </a:ext>
                  </a:extLst>
                </a:gridCol>
                <a:gridCol w="1400175">
                  <a:extLst>
                    <a:ext uri="{9D8B030D-6E8A-4147-A177-3AD203B41FA5}">
                      <a16:colId xmlns="" xmlns:a16="http://schemas.microsoft.com/office/drawing/2014/main" val="20001"/>
                    </a:ext>
                  </a:extLst>
                </a:gridCol>
                <a:gridCol w="1352550">
                  <a:extLst>
                    <a:ext uri="{9D8B030D-6E8A-4147-A177-3AD203B41FA5}">
                      <a16:colId xmlns="" xmlns:a16="http://schemas.microsoft.com/office/drawing/2014/main" val="20002"/>
                    </a:ext>
                  </a:extLst>
                </a:gridCol>
                <a:gridCol w="1471471">
                  <a:extLst>
                    <a:ext uri="{9D8B030D-6E8A-4147-A177-3AD203B41FA5}">
                      <a16:colId xmlns="" xmlns:a16="http://schemas.microsoft.com/office/drawing/2014/main" val="20003"/>
                    </a:ext>
                  </a:extLst>
                </a:gridCol>
                <a:gridCol w="2643329">
                  <a:extLst>
                    <a:ext uri="{9D8B030D-6E8A-4147-A177-3AD203B41FA5}">
                      <a16:colId xmlns="" xmlns:a16="http://schemas.microsoft.com/office/drawing/2014/main" val="1533391008"/>
                    </a:ext>
                  </a:extLst>
                </a:gridCol>
                <a:gridCol w="1714499">
                  <a:extLst>
                    <a:ext uri="{9D8B030D-6E8A-4147-A177-3AD203B41FA5}">
                      <a16:colId xmlns="" xmlns:a16="http://schemas.microsoft.com/office/drawing/2014/main" val="1995056355"/>
                    </a:ext>
                  </a:extLst>
                </a:gridCol>
              </a:tblGrid>
              <a:tr h="416426">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优先级</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调度方式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1187798" rtl="0" eaLnBrk="1" latinLnBrk="0" hangingPunct="1">
                        <a:defRPr sz="2338" b="1" kern="1200">
                          <a:solidFill>
                            <a:schemeClr val="lt1"/>
                          </a:solidFill>
                          <a:latin typeface="Arial"/>
                          <a:ea typeface="微软雅黑"/>
                        </a:defRPr>
                      </a:lvl1pPr>
                      <a:lvl2pPr marL="593900" algn="l" defTabSz="1187798" rtl="0" eaLnBrk="1" latinLnBrk="0" hangingPunct="1">
                        <a:defRPr sz="2338" b="1" kern="1200">
                          <a:solidFill>
                            <a:schemeClr val="lt1"/>
                          </a:solidFill>
                          <a:latin typeface="Arial"/>
                          <a:ea typeface="微软雅黑"/>
                        </a:defRPr>
                      </a:lvl2pPr>
                      <a:lvl3pPr marL="1187798" algn="l" defTabSz="1187798" rtl="0" eaLnBrk="1" latinLnBrk="0" hangingPunct="1">
                        <a:defRPr sz="2338" b="1" kern="1200">
                          <a:solidFill>
                            <a:schemeClr val="lt1"/>
                          </a:solidFill>
                          <a:latin typeface="Arial"/>
                          <a:ea typeface="微软雅黑"/>
                        </a:defRPr>
                      </a:lvl3pPr>
                      <a:lvl4pPr marL="1781699" algn="l" defTabSz="1187798" rtl="0" eaLnBrk="1" latinLnBrk="0" hangingPunct="1">
                        <a:defRPr sz="2338" b="1" kern="1200">
                          <a:solidFill>
                            <a:schemeClr val="lt1"/>
                          </a:solidFill>
                          <a:latin typeface="Arial"/>
                          <a:ea typeface="微软雅黑"/>
                        </a:defRPr>
                      </a:lvl4pPr>
                      <a:lvl5pPr marL="2375598" algn="l" defTabSz="1187798" rtl="0" eaLnBrk="1" latinLnBrk="0" hangingPunct="1">
                        <a:defRPr sz="2338" b="1" kern="1200">
                          <a:solidFill>
                            <a:schemeClr val="lt1"/>
                          </a:solidFill>
                          <a:latin typeface="Arial"/>
                          <a:ea typeface="微软雅黑"/>
                        </a:defRPr>
                      </a:lvl5pPr>
                      <a:lvl6pPr marL="2969497" algn="l" defTabSz="1187798" rtl="0" eaLnBrk="1" latinLnBrk="0" hangingPunct="1">
                        <a:defRPr sz="2338" b="1" kern="1200">
                          <a:solidFill>
                            <a:schemeClr val="lt1"/>
                          </a:solidFill>
                          <a:latin typeface="Arial"/>
                          <a:ea typeface="微软雅黑"/>
                        </a:defRPr>
                      </a:lvl6pPr>
                      <a:lvl7pPr marL="3563396" algn="l" defTabSz="1187798" rtl="0" eaLnBrk="1" latinLnBrk="0" hangingPunct="1">
                        <a:defRPr sz="2338" b="1" kern="1200">
                          <a:solidFill>
                            <a:schemeClr val="lt1"/>
                          </a:solidFill>
                          <a:latin typeface="Arial"/>
                          <a:ea typeface="微软雅黑"/>
                        </a:defRPr>
                      </a:lvl7pPr>
                      <a:lvl8pPr marL="4157297" algn="l" defTabSz="1187798" rtl="0" eaLnBrk="1" latinLnBrk="0" hangingPunct="1">
                        <a:defRPr sz="2338" b="1" kern="1200">
                          <a:solidFill>
                            <a:schemeClr val="lt1"/>
                          </a:solidFill>
                          <a:latin typeface="Arial"/>
                          <a:ea typeface="微软雅黑"/>
                        </a:defRPr>
                      </a:lvl8pPr>
                      <a:lvl9pPr marL="4751195" algn="l" defTabSz="1187798" rtl="0" eaLnBrk="1" latinLnBrk="0" hangingPunct="1">
                        <a:defRPr sz="2338" b="1" kern="1200">
                          <a:solidFill>
                            <a:schemeClr val="lt1"/>
                          </a:solidFill>
                          <a:latin typeface="Arial"/>
                          <a:ea typeface="微软雅黑"/>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权重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流量整形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丢弃方式</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 xmlns:a16="http://schemas.microsoft.com/office/drawing/2014/main" val="10000"/>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CS6/CS7</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协议报文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PQ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尾丢弃</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EF</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生产业务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PQ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034"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尾丢弃</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AF4</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VoIP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，视频会议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PQ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配置限速，避免饿死低优先级业务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尾丢弃</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416426">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AF3</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视频监控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WFQ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根据现网确定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WRED</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4"/>
                  </a:ext>
                </a:extLst>
              </a:tr>
              <a:tr h="416426">
                <a:tc>
                  <a:txBody>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AF2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办公业务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WFQ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根据现网确定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WRED</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548620283"/>
                  </a:ext>
                </a:extLst>
              </a:tr>
              <a:tr h="416426">
                <a:tc>
                  <a:txBody>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AF1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OA</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LPQ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尾丢弃</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3308280798"/>
                  </a:ext>
                </a:extLst>
              </a:tr>
              <a:tr h="416426">
                <a:tc>
                  <a:txBody>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其他业务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LPQ</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187798" rtl="0" eaLnBrk="1" latinLnBrk="0" hangingPunct="1">
                        <a:defRPr sz="2338" kern="1200">
                          <a:solidFill>
                            <a:schemeClr val="dk1"/>
                          </a:solidFill>
                          <a:latin typeface="Arial"/>
                          <a:ea typeface="微软雅黑"/>
                        </a:defRPr>
                      </a:lvl1pPr>
                      <a:lvl2pPr marL="593900" algn="l" defTabSz="1187798" rtl="0" eaLnBrk="1" latinLnBrk="0" hangingPunct="1">
                        <a:defRPr sz="2338" kern="1200">
                          <a:solidFill>
                            <a:schemeClr val="dk1"/>
                          </a:solidFill>
                          <a:latin typeface="Arial"/>
                          <a:ea typeface="微软雅黑"/>
                        </a:defRPr>
                      </a:lvl2pPr>
                      <a:lvl3pPr marL="1187798" algn="l" defTabSz="1187798" rtl="0" eaLnBrk="1" latinLnBrk="0" hangingPunct="1">
                        <a:defRPr sz="2338" kern="1200">
                          <a:solidFill>
                            <a:schemeClr val="dk1"/>
                          </a:solidFill>
                          <a:latin typeface="Arial"/>
                          <a:ea typeface="微软雅黑"/>
                        </a:defRPr>
                      </a:lvl3pPr>
                      <a:lvl4pPr marL="1781699" algn="l" defTabSz="1187798" rtl="0" eaLnBrk="1" latinLnBrk="0" hangingPunct="1">
                        <a:defRPr sz="2338" kern="1200">
                          <a:solidFill>
                            <a:schemeClr val="dk1"/>
                          </a:solidFill>
                          <a:latin typeface="Arial"/>
                          <a:ea typeface="微软雅黑"/>
                        </a:defRPr>
                      </a:lvl4pPr>
                      <a:lvl5pPr marL="2375598" algn="l" defTabSz="1187798" rtl="0" eaLnBrk="1" latinLnBrk="0" hangingPunct="1">
                        <a:defRPr sz="2338" kern="1200">
                          <a:solidFill>
                            <a:schemeClr val="dk1"/>
                          </a:solidFill>
                          <a:latin typeface="Arial"/>
                          <a:ea typeface="微软雅黑"/>
                        </a:defRPr>
                      </a:lvl5pPr>
                      <a:lvl6pPr marL="2969497" algn="l" defTabSz="1187798" rtl="0" eaLnBrk="1" latinLnBrk="0" hangingPunct="1">
                        <a:defRPr sz="2338" kern="1200">
                          <a:solidFill>
                            <a:schemeClr val="dk1"/>
                          </a:solidFill>
                          <a:latin typeface="Arial"/>
                          <a:ea typeface="微软雅黑"/>
                        </a:defRPr>
                      </a:lvl6pPr>
                      <a:lvl7pPr marL="3563396" algn="l" defTabSz="1187798" rtl="0" eaLnBrk="1" latinLnBrk="0" hangingPunct="1">
                        <a:defRPr sz="2338" kern="1200">
                          <a:solidFill>
                            <a:schemeClr val="dk1"/>
                          </a:solidFill>
                          <a:latin typeface="Arial"/>
                          <a:ea typeface="微软雅黑"/>
                        </a:defRPr>
                      </a:lvl7pPr>
                      <a:lvl8pPr marL="4157297" algn="l" defTabSz="1187798" rtl="0" eaLnBrk="1" latinLnBrk="0" hangingPunct="1">
                        <a:defRPr sz="2338" kern="1200">
                          <a:solidFill>
                            <a:schemeClr val="dk1"/>
                          </a:solidFill>
                          <a:latin typeface="Arial"/>
                          <a:ea typeface="微软雅黑"/>
                        </a:defRPr>
                      </a:lvl8pPr>
                      <a:lvl9pPr marL="4751195" algn="l" defTabSz="1187798" rtl="0" eaLnBrk="1" latinLnBrk="0" hangingPunct="1">
                        <a:defRPr sz="2338" kern="1200">
                          <a:solidFill>
                            <a:schemeClr val="dk1"/>
                          </a:solidFill>
                          <a:latin typeface="Arial"/>
                          <a:ea typeface="微软雅黑"/>
                        </a:defRPr>
                      </a:lvl9pPr>
                    </a:lstStyle>
                    <a:p>
                      <a:pPr marL="0" marR="0" lvl="0" indent="0" algn="l" defTabSz="1187798"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尾丢弃</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2975759169"/>
                  </a:ext>
                </a:extLst>
              </a:tr>
            </a:tbl>
          </a:graphicData>
        </a:graphic>
      </p:graphicFrame>
    </p:spTree>
    <p:extLst>
      <p:ext uri="{BB962C8B-B14F-4D97-AF65-F5344CB8AC3E}">
        <p14:creationId xmlns:p14="http://schemas.microsoft.com/office/powerpoint/2010/main" val="682248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bwMode="gray"/>
        <p:txBody>
          <a:bodyPr/>
          <a:lstStyle/>
          <a:p>
            <a:r>
              <a:rPr lang="en-US" dirty="0"/>
              <a:t>Q</a:t>
            </a:r>
            <a:r>
              <a:rPr lang="en-US" altLang="zh-CN" dirty="0"/>
              <a:t>oS</a:t>
            </a:r>
            <a:r>
              <a:rPr lang="zh-CN" altLang="en-US" dirty="0"/>
              <a:t>部署设计</a:t>
            </a:r>
            <a:endParaRPr lang="en-US" dirty="0"/>
          </a:p>
        </p:txBody>
      </p:sp>
      <p:sp>
        <p:nvSpPr>
          <p:cNvPr id="4" name="Text Placeholder 3">
            <a:extLst>
              <a:ext uri="{FF2B5EF4-FFF2-40B4-BE49-F238E27FC236}">
                <a16:creationId xmlns="" xmlns:a16="http://schemas.microsoft.com/office/drawing/2014/main" id="{D3E2D748-1B41-4E36-90A3-F5F911DB6467}"/>
              </a:ext>
            </a:extLst>
          </p:cNvPr>
          <p:cNvSpPr>
            <a:spLocks noGrp="1"/>
          </p:cNvSpPr>
          <p:nvPr>
            <p:ph type="body" sz="quarter" idx="10"/>
          </p:nvPr>
        </p:nvSpPr>
        <p:spPr bwMode="gray">
          <a:xfrm>
            <a:off x="455612" y="1047750"/>
            <a:ext cx="11293475" cy="812815"/>
          </a:xfrm>
        </p:spPr>
        <p:txBody>
          <a:bodyPr/>
          <a:lstStyle/>
          <a:p>
            <a:r>
              <a:rPr lang="en-US" altLang="zh-CN" sz="1800" dirty="0"/>
              <a:t>QoS</a:t>
            </a:r>
            <a:r>
              <a:rPr lang="zh-CN" altLang="en-US" sz="1800" dirty="0"/>
              <a:t>规划生效需要将相关</a:t>
            </a:r>
            <a:r>
              <a:rPr lang="en-US" altLang="zh-CN" sz="1800" dirty="0"/>
              <a:t>QoS</a:t>
            </a:r>
            <a:r>
              <a:rPr lang="zh-CN" altLang="en-US" sz="1800" dirty="0"/>
              <a:t>特性合理地部署在网络中的不同位置，下图中简单地列出了不同特性在网络中的部署关系：</a:t>
            </a:r>
            <a:endParaRPr lang="en-US" sz="1800" dirty="0"/>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48">
            <a:extLst>
              <a:ext uri="{FF2B5EF4-FFF2-40B4-BE49-F238E27FC236}">
                <a16:creationId xmlns="" xmlns:a16="http://schemas.microsoft.com/office/drawing/2014/main" id="{681D56DC-F6E5-447C-8CEB-A4FF564505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76960" y="3477128"/>
            <a:ext cx="378863" cy="310667"/>
          </a:xfrm>
          <a:prstGeom prst="rect">
            <a:avLst/>
          </a:prstGeom>
        </p:spPr>
      </p:pic>
      <p:pic>
        <p:nvPicPr>
          <p:cNvPr id="9" name="图片 48">
            <a:extLst>
              <a:ext uri="{FF2B5EF4-FFF2-40B4-BE49-F238E27FC236}">
                <a16:creationId xmlns="" xmlns:a16="http://schemas.microsoft.com/office/drawing/2014/main" id="{0BE8A939-EA60-455B-869F-7FFA829F66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76960" y="4489389"/>
            <a:ext cx="378863" cy="310667"/>
          </a:xfrm>
          <a:prstGeom prst="rect">
            <a:avLst/>
          </a:prstGeom>
        </p:spPr>
      </p:pic>
      <p:pic>
        <p:nvPicPr>
          <p:cNvPr id="10" name="图片 48">
            <a:extLst>
              <a:ext uri="{FF2B5EF4-FFF2-40B4-BE49-F238E27FC236}">
                <a16:creationId xmlns="" xmlns:a16="http://schemas.microsoft.com/office/drawing/2014/main" id="{97D05B4F-703B-4EAB-8F3E-5686F408B0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7772" y="3478808"/>
            <a:ext cx="378863" cy="310667"/>
          </a:xfrm>
          <a:prstGeom prst="rect">
            <a:avLst/>
          </a:prstGeom>
        </p:spPr>
      </p:pic>
      <p:pic>
        <p:nvPicPr>
          <p:cNvPr id="11" name="图片 48">
            <a:extLst>
              <a:ext uri="{FF2B5EF4-FFF2-40B4-BE49-F238E27FC236}">
                <a16:creationId xmlns="" xmlns:a16="http://schemas.microsoft.com/office/drawing/2014/main" id="{41B1B20E-D9A6-4320-90C2-5245EEF962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7772" y="4491069"/>
            <a:ext cx="378863" cy="310667"/>
          </a:xfrm>
          <a:prstGeom prst="rect">
            <a:avLst/>
          </a:prstGeom>
        </p:spPr>
      </p:pic>
      <p:pic>
        <p:nvPicPr>
          <p:cNvPr id="12" name="图片 48">
            <a:extLst>
              <a:ext uri="{FF2B5EF4-FFF2-40B4-BE49-F238E27FC236}">
                <a16:creationId xmlns="" xmlns:a16="http://schemas.microsoft.com/office/drawing/2014/main" id="{B0697B65-3681-4C62-8125-7F2DFA77A9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60214" y="3480488"/>
            <a:ext cx="378863" cy="310667"/>
          </a:xfrm>
          <a:prstGeom prst="rect">
            <a:avLst/>
          </a:prstGeom>
        </p:spPr>
      </p:pic>
      <p:pic>
        <p:nvPicPr>
          <p:cNvPr id="13" name="图片 48">
            <a:extLst>
              <a:ext uri="{FF2B5EF4-FFF2-40B4-BE49-F238E27FC236}">
                <a16:creationId xmlns="" xmlns:a16="http://schemas.microsoft.com/office/drawing/2014/main" id="{B6025CF2-EBE8-44AF-BB7E-0AE0173AD2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60214" y="4492749"/>
            <a:ext cx="378863" cy="310667"/>
          </a:xfrm>
          <a:prstGeom prst="rect">
            <a:avLst/>
          </a:prstGeom>
        </p:spPr>
      </p:pic>
      <p:sp>
        <p:nvSpPr>
          <p:cNvPr id="14" name="圆角矩形 75">
            <a:extLst>
              <a:ext uri="{FF2B5EF4-FFF2-40B4-BE49-F238E27FC236}">
                <a16:creationId xmlns="" xmlns:a16="http://schemas.microsoft.com/office/drawing/2014/main" id="{682A4842-C15D-44AE-8375-E3253CA67D68}"/>
              </a:ext>
            </a:extLst>
          </p:cNvPr>
          <p:cNvSpPr/>
          <p:nvPr/>
        </p:nvSpPr>
        <p:spPr bwMode="gray">
          <a:xfrm>
            <a:off x="4021328" y="3111215"/>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5" name="Straight Connector 14">
            <a:extLst>
              <a:ext uri="{FF2B5EF4-FFF2-40B4-BE49-F238E27FC236}">
                <a16:creationId xmlns="" xmlns:a16="http://schemas.microsoft.com/office/drawing/2014/main" id="{2B66F7F6-BD01-49C4-8CCB-58D760B57123}"/>
              </a:ext>
            </a:extLst>
          </p:cNvPr>
          <p:cNvCxnSpPr>
            <a:cxnSpLocks/>
            <a:stCxn id="9" idx="0"/>
            <a:endCxn id="8" idx="2"/>
          </p:cNvCxnSpPr>
          <p:nvPr/>
        </p:nvCxnSpPr>
        <p:spPr bwMode="gray">
          <a:xfrm flipV="1">
            <a:off x="4466392" y="3787795"/>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2B8ACB5F-4E4A-4751-9164-83C6A9CFC55F}"/>
              </a:ext>
            </a:extLst>
          </p:cNvPr>
          <p:cNvCxnSpPr>
            <a:cxnSpLocks/>
            <a:stCxn id="10" idx="1"/>
            <a:endCxn id="8" idx="3"/>
          </p:cNvCxnSpPr>
          <p:nvPr/>
        </p:nvCxnSpPr>
        <p:spPr bwMode="gray">
          <a:xfrm flipH="1" flipV="1">
            <a:off x="4655823" y="3632462"/>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6BF25CB5-F2D5-4530-97AD-17CC99796579}"/>
              </a:ext>
            </a:extLst>
          </p:cNvPr>
          <p:cNvCxnSpPr>
            <a:cxnSpLocks/>
            <a:stCxn id="12" idx="1"/>
            <a:endCxn id="10" idx="3"/>
          </p:cNvCxnSpPr>
          <p:nvPr/>
        </p:nvCxnSpPr>
        <p:spPr bwMode="gray">
          <a:xfrm flipH="1" flipV="1">
            <a:off x="6296635" y="3634142"/>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BEE663C2-98F8-40E6-9316-5A8AD9A9678E}"/>
              </a:ext>
            </a:extLst>
          </p:cNvPr>
          <p:cNvCxnSpPr>
            <a:cxnSpLocks/>
            <a:stCxn id="13" idx="1"/>
            <a:endCxn id="11" idx="3"/>
          </p:cNvCxnSpPr>
          <p:nvPr/>
        </p:nvCxnSpPr>
        <p:spPr bwMode="gray">
          <a:xfrm flipH="1" flipV="1">
            <a:off x="6296635" y="4646403"/>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613E9C16-57DF-4CF8-81D2-002A69F19767}"/>
              </a:ext>
            </a:extLst>
          </p:cNvPr>
          <p:cNvCxnSpPr>
            <a:cxnSpLocks/>
            <a:stCxn id="11" idx="1"/>
            <a:endCxn id="9" idx="3"/>
          </p:cNvCxnSpPr>
          <p:nvPr/>
        </p:nvCxnSpPr>
        <p:spPr bwMode="gray">
          <a:xfrm flipH="1" flipV="1">
            <a:off x="4655823" y="4644723"/>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7EB54D54-B62F-474E-9A99-B7BE483AD0E5}"/>
              </a:ext>
            </a:extLst>
          </p:cNvPr>
          <p:cNvCxnSpPr>
            <a:cxnSpLocks/>
            <a:stCxn id="11" idx="0"/>
            <a:endCxn id="10" idx="2"/>
          </p:cNvCxnSpPr>
          <p:nvPr/>
        </p:nvCxnSpPr>
        <p:spPr bwMode="gray">
          <a:xfrm flipV="1">
            <a:off x="6107204" y="3789475"/>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6B10CDEA-84E9-4D3D-B5AA-8D9E796C60AD}"/>
              </a:ext>
            </a:extLst>
          </p:cNvPr>
          <p:cNvCxnSpPr>
            <a:cxnSpLocks/>
            <a:stCxn id="13" idx="0"/>
            <a:endCxn id="12" idx="2"/>
          </p:cNvCxnSpPr>
          <p:nvPr/>
        </p:nvCxnSpPr>
        <p:spPr bwMode="gray">
          <a:xfrm flipV="1">
            <a:off x="7749646" y="3791155"/>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9761BD41-FB9D-40B2-9583-E57549BC2A19}"/>
              </a:ext>
            </a:extLst>
          </p:cNvPr>
          <p:cNvCxnSpPr>
            <a:cxnSpLocks/>
            <a:stCxn id="23" idx="3"/>
            <a:endCxn id="8" idx="1"/>
          </p:cNvCxnSpPr>
          <p:nvPr/>
        </p:nvCxnSpPr>
        <p:spPr bwMode="gray">
          <a:xfrm>
            <a:off x="3360558" y="3632461"/>
            <a:ext cx="91640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3" name="图片 48">
            <a:extLst>
              <a:ext uri="{FF2B5EF4-FFF2-40B4-BE49-F238E27FC236}">
                <a16:creationId xmlns="" xmlns:a16="http://schemas.microsoft.com/office/drawing/2014/main" id="{A2C2438F-F153-40AA-86EF-30043752FB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1695" y="3477127"/>
            <a:ext cx="378863" cy="310667"/>
          </a:xfrm>
          <a:prstGeom prst="rect">
            <a:avLst/>
          </a:prstGeom>
        </p:spPr>
      </p:pic>
      <p:pic>
        <p:nvPicPr>
          <p:cNvPr id="24" name="图片 48">
            <a:extLst>
              <a:ext uri="{FF2B5EF4-FFF2-40B4-BE49-F238E27FC236}">
                <a16:creationId xmlns="" xmlns:a16="http://schemas.microsoft.com/office/drawing/2014/main" id="{7982E28F-7176-4419-AB67-CC66340CD5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81695" y="4491187"/>
            <a:ext cx="378863" cy="310667"/>
          </a:xfrm>
          <a:prstGeom prst="rect">
            <a:avLst/>
          </a:prstGeom>
        </p:spPr>
      </p:pic>
      <p:cxnSp>
        <p:nvCxnSpPr>
          <p:cNvPr id="25" name="Straight Connector 24">
            <a:extLst>
              <a:ext uri="{FF2B5EF4-FFF2-40B4-BE49-F238E27FC236}">
                <a16:creationId xmlns="" xmlns:a16="http://schemas.microsoft.com/office/drawing/2014/main" id="{373616D5-179E-4442-B113-23B1FC99E3A7}"/>
              </a:ext>
            </a:extLst>
          </p:cNvPr>
          <p:cNvCxnSpPr>
            <a:cxnSpLocks/>
            <a:stCxn id="24" idx="3"/>
            <a:endCxn id="9" idx="1"/>
          </p:cNvCxnSpPr>
          <p:nvPr/>
        </p:nvCxnSpPr>
        <p:spPr bwMode="gray">
          <a:xfrm flipV="1">
            <a:off x="3360558" y="4644723"/>
            <a:ext cx="91640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6" name="图片 48">
            <a:extLst>
              <a:ext uri="{FF2B5EF4-FFF2-40B4-BE49-F238E27FC236}">
                <a16:creationId xmlns="" xmlns:a16="http://schemas.microsoft.com/office/drawing/2014/main" id="{2618315D-B85C-4EA5-8162-382353B5B3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37475" y="3480488"/>
            <a:ext cx="378863" cy="310667"/>
          </a:xfrm>
          <a:prstGeom prst="rect">
            <a:avLst/>
          </a:prstGeom>
        </p:spPr>
      </p:pic>
      <p:pic>
        <p:nvPicPr>
          <p:cNvPr id="27" name="图片 48">
            <a:extLst>
              <a:ext uri="{FF2B5EF4-FFF2-40B4-BE49-F238E27FC236}">
                <a16:creationId xmlns="" xmlns:a16="http://schemas.microsoft.com/office/drawing/2014/main" id="{27E1A616-74F1-46BA-A405-979C404C79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37475" y="4494548"/>
            <a:ext cx="378863" cy="310667"/>
          </a:xfrm>
          <a:prstGeom prst="rect">
            <a:avLst/>
          </a:prstGeom>
        </p:spPr>
      </p:pic>
      <p:cxnSp>
        <p:nvCxnSpPr>
          <p:cNvPr id="28" name="Straight Connector 27">
            <a:extLst>
              <a:ext uri="{FF2B5EF4-FFF2-40B4-BE49-F238E27FC236}">
                <a16:creationId xmlns="" xmlns:a16="http://schemas.microsoft.com/office/drawing/2014/main" id="{67562DB5-C1FB-4D5E-86CD-9D9FE4138D83}"/>
              </a:ext>
            </a:extLst>
          </p:cNvPr>
          <p:cNvCxnSpPr>
            <a:cxnSpLocks/>
            <a:stCxn id="13" idx="3"/>
            <a:endCxn id="27" idx="1"/>
          </p:cNvCxnSpPr>
          <p:nvPr/>
        </p:nvCxnSpPr>
        <p:spPr bwMode="gray">
          <a:xfrm>
            <a:off x="7939077" y="4648083"/>
            <a:ext cx="79839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70E28237-32A0-490E-A341-2D33B3188294}"/>
              </a:ext>
            </a:extLst>
          </p:cNvPr>
          <p:cNvCxnSpPr>
            <a:cxnSpLocks/>
            <a:stCxn id="12" idx="3"/>
            <a:endCxn id="26" idx="1"/>
          </p:cNvCxnSpPr>
          <p:nvPr/>
        </p:nvCxnSpPr>
        <p:spPr bwMode="gray">
          <a:xfrm>
            <a:off x="7939077" y="3635822"/>
            <a:ext cx="798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TextBox 271">
            <a:extLst>
              <a:ext uri="{FF2B5EF4-FFF2-40B4-BE49-F238E27FC236}">
                <a16:creationId xmlns="" xmlns:a16="http://schemas.microsoft.com/office/drawing/2014/main" id="{4216FDEA-D03C-42B2-98ED-FB694FA39F12}"/>
              </a:ext>
            </a:extLst>
          </p:cNvPr>
          <p:cNvSpPr txBox="1"/>
          <p:nvPr/>
        </p:nvSpPr>
        <p:spPr bwMode="gray">
          <a:xfrm>
            <a:off x="4287712" y="326760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271">
            <a:extLst>
              <a:ext uri="{FF2B5EF4-FFF2-40B4-BE49-F238E27FC236}">
                <a16:creationId xmlns="" xmlns:a16="http://schemas.microsoft.com/office/drawing/2014/main" id="{D7BE6A0D-2BCF-4382-91BA-1282CCF1F024}"/>
              </a:ext>
            </a:extLst>
          </p:cNvPr>
          <p:cNvSpPr txBox="1"/>
          <p:nvPr/>
        </p:nvSpPr>
        <p:spPr bwMode="gray">
          <a:xfrm>
            <a:off x="4287712" y="4760523"/>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271">
            <a:extLst>
              <a:ext uri="{FF2B5EF4-FFF2-40B4-BE49-F238E27FC236}">
                <a16:creationId xmlns="" xmlns:a16="http://schemas.microsoft.com/office/drawing/2014/main" id="{D5AFF3E2-0AEF-45F7-9BD6-2C3A8F994D38}"/>
              </a:ext>
            </a:extLst>
          </p:cNvPr>
          <p:cNvSpPr txBox="1"/>
          <p:nvPr/>
        </p:nvSpPr>
        <p:spPr bwMode="gray">
          <a:xfrm>
            <a:off x="7577672" y="4760523"/>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271">
            <a:extLst>
              <a:ext uri="{FF2B5EF4-FFF2-40B4-BE49-F238E27FC236}">
                <a16:creationId xmlns="" xmlns:a16="http://schemas.microsoft.com/office/drawing/2014/main" id="{DCC1EA64-6BAF-49FA-892C-0968349DCF38}"/>
              </a:ext>
            </a:extLst>
          </p:cNvPr>
          <p:cNvSpPr txBox="1"/>
          <p:nvPr/>
        </p:nvSpPr>
        <p:spPr bwMode="gray">
          <a:xfrm>
            <a:off x="5820143" y="3259976"/>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271">
            <a:extLst>
              <a:ext uri="{FF2B5EF4-FFF2-40B4-BE49-F238E27FC236}">
                <a16:creationId xmlns="" xmlns:a16="http://schemas.microsoft.com/office/drawing/2014/main" id="{CB2FE8BD-5D08-418B-B28B-8802C15FAF29}"/>
              </a:ext>
            </a:extLst>
          </p:cNvPr>
          <p:cNvSpPr txBox="1"/>
          <p:nvPr/>
        </p:nvSpPr>
        <p:spPr bwMode="gray">
          <a:xfrm>
            <a:off x="5830611" y="4758379"/>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271">
            <a:extLst>
              <a:ext uri="{FF2B5EF4-FFF2-40B4-BE49-F238E27FC236}">
                <a16:creationId xmlns="" xmlns:a16="http://schemas.microsoft.com/office/drawing/2014/main" id="{9B4B601E-E3C2-4AC6-AB6A-ACF1F378D444}"/>
              </a:ext>
            </a:extLst>
          </p:cNvPr>
          <p:cNvSpPr txBox="1"/>
          <p:nvPr/>
        </p:nvSpPr>
        <p:spPr bwMode="gray">
          <a:xfrm>
            <a:off x="2981694" y="4766401"/>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271">
            <a:extLst>
              <a:ext uri="{FF2B5EF4-FFF2-40B4-BE49-F238E27FC236}">
                <a16:creationId xmlns="" xmlns:a16="http://schemas.microsoft.com/office/drawing/2014/main" id="{C2BF7674-F9BB-49F2-B785-548FF9D6E3BC}"/>
              </a:ext>
            </a:extLst>
          </p:cNvPr>
          <p:cNvSpPr txBox="1"/>
          <p:nvPr/>
        </p:nvSpPr>
        <p:spPr bwMode="gray">
          <a:xfrm>
            <a:off x="2981694" y="3258400"/>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271">
            <a:extLst>
              <a:ext uri="{FF2B5EF4-FFF2-40B4-BE49-F238E27FC236}">
                <a16:creationId xmlns="" xmlns:a16="http://schemas.microsoft.com/office/drawing/2014/main" id="{F130828E-D078-44CB-B7C2-4D8C29BD0BC5}"/>
              </a:ext>
            </a:extLst>
          </p:cNvPr>
          <p:cNvSpPr txBox="1"/>
          <p:nvPr/>
        </p:nvSpPr>
        <p:spPr bwMode="gray">
          <a:xfrm>
            <a:off x="8732945" y="3272985"/>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271">
            <a:extLst>
              <a:ext uri="{FF2B5EF4-FFF2-40B4-BE49-F238E27FC236}">
                <a16:creationId xmlns="" xmlns:a16="http://schemas.microsoft.com/office/drawing/2014/main" id="{A3E9B17F-06A3-413C-B8A0-864A085C6378}"/>
              </a:ext>
            </a:extLst>
          </p:cNvPr>
          <p:cNvSpPr txBox="1"/>
          <p:nvPr/>
        </p:nvSpPr>
        <p:spPr bwMode="gray">
          <a:xfrm>
            <a:off x="8732945" y="4766401"/>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271">
            <a:extLst>
              <a:ext uri="{FF2B5EF4-FFF2-40B4-BE49-F238E27FC236}">
                <a16:creationId xmlns="" xmlns:a16="http://schemas.microsoft.com/office/drawing/2014/main" id="{ABBBE555-4D76-4CA3-8137-30A61579C4C9}"/>
              </a:ext>
            </a:extLst>
          </p:cNvPr>
          <p:cNvSpPr txBox="1"/>
          <p:nvPr/>
        </p:nvSpPr>
        <p:spPr bwMode="gray">
          <a:xfrm>
            <a:off x="7566845" y="3257110"/>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271">
            <a:extLst>
              <a:ext uri="{FF2B5EF4-FFF2-40B4-BE49-F238E27FC236}">
                <a16:creationId xmlns="" xmlns:a16="http://schemas.microsoft.com/office/drawing/2014/main" id="{DAE77027-6BE9-47E4-8425-0A63411FE555}"/>
              </a:ext>
            </a:extLst>
          </p:cNvPr>
          <p:cNvSpPr txBox="1"/>
          <p:nvPr/>
        </p:nvSpPr>
        <p:spPr bwMode="gray">
          <a:xfrm>
            <a:off x="4104754" y="5120891"/>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53" name="Oval 41">
            <a:extLst>
              <a:ext uri="{FF2B5EF4-FFF2-40B4-BE49-F238E27FC236}">
                <a16:creationId xmlns="" xmlns:a16="http://schemas.microsoft.com/office/drawing/2014/main" id="{117F86B5-A2D7-4868-9CF6-FE1FC247C783}"/>
              </a:ext>
            </a:extLst>
          </p:cNvPr>
          <p:cNvSpPr>
            <a:spLocks noChangeAspect="1"/>
          </p:cNvSpPr>
          <p:nvPr/>
        </p:nvSpPr>
        <p:spPr bwMode="gray">
          <a:xfrm>
            <a:off x="4169475" y="455957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4" name="Oval 41">
            <a:extLst>
              <a:ext uri="{FF2B5EF4-FFF2-40B4-BE49-F238E27FC236}">
                <a16:creationId xmlns="" xmlns:a16="http://schemas.microsoft.com/office/drawing/2014/main" id="{FE2746C5-8A8A-4A48-AB15-C4B5CC896B06}"/>
              </a:ext>
            </a:extLst>
          </p:cNvPr>
          <p:cNvSpPr>
            <a:spLocks noChangeAspect="1"/>
          </p:cNvSpPr>
          <p:nvPr/>
        </p:nvSpPr>
        <p:spPr bwMode="gray">
          <a:xfrm>
            <a:off x="4188023" y="354994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5" name="Rectangular Callout 26">
            <a:extLst>
              <a:ext uri="{FF2B5EF4-FFF2-40B4-BE49-F238E27FC236}">
                <a16:creationId xmlns="" xmlns:a16="http://schemas.microsoft.com/office/drawing/2014/main" id="{6C1404FF-DC4D-4C15-B5C3-DA11319709AC}"/>
              </a:ext>
            </a:extLst>
          </p:cNvPr>
          <p:cNvSpPr/>
          <p:nvPr/>
        </p:nvSpPr>
        <p:spPr bwMode="gray">
          <a:xfrm>
            <a:off x="2295526" y="2470046"/>
            <a:ext cx="2051760" cy="802939"/>
          </a:xfrm>
          <a:prstGeom prst="wedgeRectCallout">
            <a:avLst>
              <a:gd name="adj1" fmla="val 43325"/>
              <a:gd name="adj2" fmla="val 9142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1. </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当</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设备无法对业务进行分类和标记时，可以在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入口进行标记</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Oval 41">
            <a:extLst>
              <a:ext uri="{FF2B5EF4-FFF2-40B4-BE49-F238E27FC236}">
                <a16:creationId xmlns="" xmlns:a16="http://schemas.microsoft.com/office/drawing/2014/main" id="{0945E866-E73C-4D94-981B-75B567B42609}"/>
              </a:ext>
            </a:extLst>
          </p:cNvPr>
          <p:cNvSpPr>
            <a:spLocks noChangeAspect="1"/>
          </p:cNvSpPr>
          <p:nvPr/>
        </p:nvSpPr>
        <p:spPr bwMode="gray">
          <a:xfrm>
            <a:off x="6198148" y="353930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58" name="Rectangular Callout 26">
            <a:extLst>
              <a:ext uri="{FF2B5EF4-FFF2-40B4-BE49-F238E27FC236}">
                <a16:creationId xmlns="" xmlns:a16="http://schemas.microsoft.com/office/drawing/2014/main" id="{B018CB6B-3F7C-4E99-AA37-9D06D59CC6AC}"/>
              </a:ext>
            </a:extLst>
          </p:cNvPr>
          <p:cNvSpPr/>
          <p:nvPr/>
        </p:nvSpPr>
        <p:spPr bwMode="gray">
          <a:xfrm>
            <a:off x="6095370" y="2318709"/>
            <a:ext cx="1654276" cy="783065"/>
          </a:xfrm>
          <a:prstGeom prst="wedgeRectCallout">
            <a:avLst>
              <a:gd name="adj1" fmla="val -34218"/>
              <a:gd name="adj2" fmla="val 1046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3. </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所有承载网设备出方向均需部署拥塞避免和拥塞管理</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5" name="Rectangular Callout 26">
            <a:extLst>
              <a:ext uri="{FF2B5EF4-FFF2-40B4-BE49-F238E27FC236}">
                <a16:creationId xmlns="" xmlns:a16="http://schemas.microsoft.com/office/drawing/2014/main" id="{1B67D517-0670-478B-A6B1-E7123B938525}"/>
              </a:ext>
            </a:extLst>
          </p:cNvPr>
          <p:cNvSpPr/>
          <p:nvPr/>
        </p:nvSpPr>
        <p:spPr bwMode="gray">
          <a:xfrm>
            <a:off x="2222172" y="4992983"/>
            <a:ext cx="1819127" cy="745996"/>
          </a:xfrm>
          <a:prstGeom prst="wedgeRectCallout">
            <a:avLst>
              <a:gd name="adj1" fmla="val 57081"/>
              <a:gd name="adj2" fmla="val -8891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2. </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入口侧需要明确感兴趣流，并在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入口部署流量限速</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6398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D3E2D748-1B41-4E36-90A3-F5F911DB6467}"/>
              </a:ext>
            </a:extLst>
          </p:cNvPr>
          <p:cNvSpPr>
            <a:spLocks noGrp="1"/>
          </p:cNvSpPr>
          <p:nvPr>
            <p:ph type="body" sz="quarter" idx="10"/>
          </p:nvPr>
        </p:nvSpPr>
        <p:spPr bwMode="gray">
          <a:xfrm>
            <a:off x="455612" y="1047750"/>
            <a:ext cx="11293475" cy="1947835"/>
          </a:xfrm>
        </p:spPr>
        <p:txBody>
          <a:bodyPr/>
          <a:lstStyle/>
          <a:p>
            <a:r>
              <a:rPr lang="zh-CN" altLang="en-US" sz="1800" dirty="0"/>
              <a:t>网络切片技术可在网络中划分出独享的网络资源，用于承载高价值业务流量。</a:t>
            </a:r>
            <a:endParaRPr lang="en-US" altLang="zh-CN" sz="1800" dirty="0"/>
          </a:p>
          <a:p>
            <a:r>
              <a:rPr lang="zh-CN" altLang="en-US" sz="1800" dirty="0"/>
              <a:t>网络切片技术使用的层级与</a:t>
            </a:r>
            <a:r>
              <a:rPr lang="en-US" altLang="zh-CN" sz="1800" dirty="0"/>
              <a:t>SR</a:t>
            </a:r>
            <a:r>
              <a:rPr lang="zh-CN" altLang="en-US" sz="1800" dirty="0"/>
              <a:t>隧道不同，网络切片主要基于</a:t>
            </a:r>
            <a:r>
              <a:rPr lang="en-US" altLang="zh-CN" sz="1800" dirty="0"/>
              <a:t>1.5</a:t>
            </a:r>
            <a:r>
              <a:rPr lang="zh-CN" altLang="en-US" sz="1800" dirty="0"/>
              <a:t>层或</a:t>
            </a:r>
            <a:r>
              <a:rPr lang="en-US" altLang="zh-CN" sz="1800" dirty="0"/>
              <a:t>2</a:t>
            </a:r>
            <a:r>
              <a:rPr lang="zh-CN" altLang="en-US" sz="1800" dirty="0"/>
              <a:t>层网络进行资源预留，与</a:t>
            </a:r>
            <a:r>
              <a:rPr lang="en-US" altLang="zh-CN" sz="1800" dirty="0"/>
              <a:t>SR</a:t>
            </a:r>
            <a:r>
              <a:rPr lang="zh-CN" altLang="en-US" sz="1800" dirty="0"/>
              <a:t>隧道可同时使用。</a:t>
            </a:r>
            <a:endParaRPr lang="en-US" altLang="zh-CN" sz="1800" dirty="0"/>
          </a:p>
          <a:p>
            <a:r>
              <a:rPr lang="zh-CN" altLang="en-US" sz="1800" dirty="0"/>
              <a:t>实现网络切片的方式一般可基于信道化子接口或</a:t>
            </a:r>
            <a:r>
              <a:rPr lang="en-US" altLang="zh-CN" sz="1800" dirty="0" err="1"/>
              <a:t>FlexE</a:t>
            </a:r>
            <a:r>
              <a:rPr lang="zh-CN" altLang="en-US" sz="1800" dirty="0"/>
              <a:t>技术。</a:t>
            </a:r>
            <a:endParaRPr lang="en-US" sz="1800" dirty="0"/>
          </a:p>
        </p:txBody>
      </p:sp>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bwMode="gray"/>
        <p:txBody>
          <a:bodyPr/>
          <a:lstStyle/>
          <a:p>
            <a:r>
              <a:rPr lang="zh-CN" altLang="en-US" dirty="0"/>
              <a:t>网络切片介绍</a:t>
            </a:r>
            <a:endParaRPr lang="en-US" dirty="0"/>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19">
            <a:extLst>
              <a:ext uri="{FF2B5EF4-FFF2-40B4-BE49-F238E27FC236}">
                <a16:creationId xmlns="" xmlns:a16="http://schemas.microsoft.com/office/drawing/2014/main" id="{C05AC1EC-2185-481F-A53B-62CE4FD7C70B}"/>
              </a:ext>
            </a:extLst>
          </p:cNvPr>
          <p:cNvSpPr/>
          <p:nvPr/>
        </p:nvSpPr>
        <p:spPr bwMode="gray">
          <a:xfrm>
            <a:off x="536816" y="2978009"/>
            <a:ext cx="5489909"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信道化子接口</a:t>
            </a:r>
          </a:p>
        </p:txBody>
      </p:sp>
      <p:sp>
        <p:nvSpPr>
          <p:cNvPr id="46" name="圆角矩形 20">
            <a:extLst>
              <a:ext uri="{FF2B5EF4-FFF2-40B4-BE49-F238E27FC236}">
                <a16:creationId xmlns="" xmlns:a16="http://schemas.microsoft.com/office/drawing/2014/main" id="{67C06A72-17A2-4FFC-9975-B8C8991A4FF0}"/>
              </a:ext>
            </a:extLst>
          </p:cNvPr>
          <p:cNvSpPr/>
          <p:nvPr/>
        </p:nvSpPr>
        <p:spPr bwMode="gray">
          <a:xfrm>
            <a:off x="536816" y="3439425"/>
            <a:ext cx="5489909" cy="268514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信道化子接口：队列资源隔离，采用多层次调度实现接口资源灵活、精细化管理，提供带宽保障，并且结合控制器提供端到端资源预留。</a:t>
            </a:r>
          </a:p>
        </p:txBody>
      </p:sp>
      <p:sp>
        <p:nvSpPr>
          <p:cNvPr id="47" name="圆角矩形 19">
            <a:extLst>
              <a:ext uri="{FF2B5EF4-FFF2-40B4-BE49-F238E27FC236}">
                <a16:creationId xmlns="" xmlns:a16="http://schemas.microsoft.com/office/drawing/2014/main" id="{5FDBA4FF-7FC3-4FE7-8289-7B0CA18A223B}"/>
              </a:ext>
            </a:extLst>
          </p:cNvPr>
          <p:cNvSpPr/>
          <p:nvPr/>
        </p:nvSpPr>
        <p:spPr bwMode="gray">
          <a:xfrm>
            <a:off x="6179125" y="2978009"/>
            <a:ext cx="5489909"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err="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FlexE</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圆角矩形 20">
            <a:extLst>
              <a:ext uri="{FF2B5EF4-FFF2-40B4-BE49-F238E27FC236}">
                <a16:creationId xmlns="" xmlns:a16="http://schemas.microsoft.com/office/drawing/2014/main" id="{D517DE6D-F974-4768-94F9-64443F512570}"/>
              </a:ext>
            </a:extLst>
          </p:cNvPr>
          <p:cNvSpPr/>
          <p:nvPr/>
        </p:nvSpPr>
        <p:spPr bwMode="gray">
          <a:xfrm>
            <a:off x="6179125" y="3439426"/>
            <a:ext cx="5489909" cy="268514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FlexE</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：队列和接口资源隔离， 各个资源是按照</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TDM</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时隙划分，严格隔离，满足了资源独享与隔离的要求，实现对接口资源进行灵活、精细化的管理。</a:t>
            </a:r>
          </a:p>
        </p:txBody>
      </p:sp>
      <p:grpSp>
        <p:nvGrpSpPr>
          <p:cNvPr id="2" name="Group 1">
            <a:extLst>
              <a:ext uri="{FF2B5EF4-FFF2-40B4-BE49-F238E27FC236}">
                <a16:creationId xmlns="" xmlns:a16="http://schemas.microsoft.com/office/drawing/2014/main" id="{E60A411B-22B0-4128-85F6-6EAE66CC22A6}"/>
              </a:ext>
            </a:extLst>
          </p:cNvPr>
          <p:cNvGrpSpPr/>
          <p:nvPr/>
        </p:nvGrpSpPr>
        <p:grpSpPr bwMode="gray">
          <a:xfrm>
            <a:off x="799486" y="3656262"/>
            <a:ext cx="4781207" cy="1558815"/>
            <a:chOff x="799486" y="3512810"/>
            <a:chExt cx="4781207" cy="1558815"/>
          </a:xfrm>
        </p:grpSpPr>
        <p:sp>
          <p:nvSpPr>
            <p:cNvPr id="49" name="矩形 242">
              <a:extLst>
                <a:ext uri="{FF2B5EF4-FFF2-40B4-BE49-F238E27FC236}">
                  <a16:creationId xmlns="" xmlns:a16="http://schemas.microsoft.com/office/drawing/2014/main" id="{C996BAA1-6A56-43A7-8272-BDA72CC1D45D}"/>
                </a:ext>
              </a:extLst>
            </p:cNvPr>
            <p:cNvSpPr/>
            <p:nvPr/>
          </p:nvSpPr>
          <p:spPr bwMode="gray">
            <a:xfrm>
              <a:off x="2020339" y="3656254"/>
              <a:ext cx="386644"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矩形 243">
              <a:extLst>
                <a:ext uri="{FF2B5EF4-FFF2-40B4-BE49-F238E27FC236}">
                  <a16:creationId xmlns="" xmlns:a16="http://schemas.microsoft.com/office/drawing/2014/main" id="{E9EB3708-A482-460E-BEAE-9277D55EDDD8}"/>
                </a:ext>
              </a:extLst>
            </p:cNvPr>
            <p:cNvSpPr/>
            <p:nvPr/>
          </p:nvSpPr>
          <p:spPr bwMode="gray">
            <a:xfrm>
              <a:off x="2502228" y="3656254"/>
              <a:ext cx="413896"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GQ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矩形 244">
              <a:extLst>
                <a:ext uri="{FF2B5EF4-FFF2-40B4-BE49-F238E27FC236}">
                  <a16:creationId xmlns="" xmlns:a16="http://schemas.microsoft.com/office/drawing/2014/main" id="{85B3A422-2A7B-4B56-9D15-543BDD18A6EA}"/>
                </a:ext>
              </a:extLst>
            </p:cNvPr>
            <p:cNvSpPr/>
            <p:nvPr/>
          </p:nvSpPr>
          <p:spPr bwMode="gray">
            <a:xfrm>
              <a:off x="3041960" y="3656254"/>
              <a:ext cx="325730"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VI</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文本框 249">
              <a:extLst>
                <a:ext uri="{FF2B5EF4-FFF2-40B4-BE49-F238E27FC236}">
                  <a16:creationId xmlns="" xmlns:a16="http://schemas.microsoft.com/office/drawing/2014/main" id="{9BDE2DF5-659A-495D-877F-989A3CB9DB82}"/>
                </a:ext>
              </a:extLst>
            </p:cNvPr>
            <p:cNvSpPr txBox="1"/>
            <p:nvPr/>
          </p:nvSpPr>
          <p:spPr bwMode="gray">
            <a:xfrm>
              <a:off x="3556141" y="3658409"/>
              <a:ext cx="240450" cy="184666"/>
            </a:xfrm>
            <a:prstGeom prst="rect">
              <a:avLst/>
            </a:prstGeom>
          </p:spPr>
          <p:txBody>
            <a:bodyPr wrap="none" lIns="0" tIns="0" rIns="0" bIns="0" rtlCol="0">
              <a:spAutoFit/>
            </a:bodyPr>
            <a:lstStyle/>
            <a:p>
              <a:pPr defTabSz="991093" eaLnBrk="0" hangingPunct="0"/>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TM</a:t>
              </a:r>
              <a:endPar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9" name="文本框 250">
              <a:extLst>
                <a:ext uri="{FF2B5EF4-FFF2-40B4-BE49-F238E27FC236}">
                  <a16:creationId xmlns="" xmlns:a16="http://schemas.microsoft.com/office/drawing/2014/main" id="{D4DF8D7F-2A4A-4068-A410-086A4BC2A741}"/>
                </a:ext>
              </a:extLst>
            </p:cNvPr>
            <p:cNvSpPr txBox="1"/>
            <p:nvPr/>
          </p:nvSpPr>
          <p:spPr bwMode="gray">
            <a:xfrm>
              <a:off x="4167920" y="3667934"/>
              <a:ext cx="237244" cy="184666"/>
            </a:xfrm>
            <a:prstGeom prst="rect">
              <a:avLst/>
            </a:prstGeom>
          </p:spPr>
          <p:txBody>
            <a:bodyPr wrap="none" lIns="0" tIns="0" rIns="0" bIns="0" rtlCol="0">
              <a:spAutoFit/>
            </a:bodyPr>
            <a:lstStyle/>
            <a:p>
              <a:pPr defTabSz="991093" eaLnBrk="0" hangingPunct="0"/>
              <a:r>
                <a:rPr lang="en-US" altLang="zh-CN"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PIC</a:t>
              </a:r>
              <a:endParaRPr lang="zh-CN" altLang="en-US" sz="1200" b="1"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文本框 264">
              <a:extLst>
                <a:ext uri="{FF2B5EF4-FFF2-40B4-BE49-F238E27FC236}">
                  <a16:creationId xmlns="" xmlns:a16="http://schemas.microsoft.com/office/drawing/2014/main" id="{10347ACB-3A1F-4940-9B2C-431D929C065B}"/>
                </a:ext>
              </a:extLst>
            </p:cNvPr>
            <p:cNvSpPr txBox="1"/>
            <p:nvPr/>
          </p:nvSpPr>
          <p:spPr bwMode="gray">
            <a:xfrm>
              <a:off x="1975863" y="3512810"/>
              <a:ext cx="923330" cy="184666"/>
            </a:xfrm>
            <a:prstGeom prst="rect">
              <a:avLst/>
            </a:prstGeom>
          </p:spPr>
          <p:txBody>
            <a:bodyPr wrap="none" lIns="0" tIns="0" rIns="0" bIns="0" rtlCol="0">
              <a:spAutoFit/>
            </a:bodyPr>
            <a:lstStyle/>
            <a:p>
              <a:pPr defTabSz="991093" eaLnBrk="0" hangingPunct="0"/>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信道化子接口</a:t>
              </a:r>
            </a:p>
          </p:txBody>
        </p:sp>
        <p:sp>
          <p:nvSpPr>
            <p:cNvPr id="61" name="矩形 232">
              <a:extLst>
                <a:ext uri="{FF2B5EF4-FFF2-40B4-BE49-F238E27FC236}">
                  <a16:creationId xmlns="" xmlns:a16="http://schemas.microsoft.com/office/drawing/2014/main" id="{DE4067B0-309C-4AAF-AB08-BCFCB4200C62}"/>
                </a:ext>
              </a:extLst>
            </p:cNvPr>
            <p:cNvSpPr/>
            <p:nvPr/>
          </p:nvSpPr>
          <p:spPr bwMode="gray">
            <a:xfrm>
              <a:off x="4183113" y="4264917"/>
              <a:ext cx="1224356" cy="276999"/>
            </a:xfrm>
            <a:prstGeom prst="rect">
              <a:avLst/>
            </a:prstGeom>
            <a:solidFill>
              <a:schemeClr val="bg1"/>
            </a:solidFill>
            <a:ln>
              <a:solidFill>
                <a:srgbClr val="8CD5F0"/>
              </a:solidFill>
            </a:ln>
          </p:spPr>
          <p:txBody>
            <a:bodyPr wrap="square" rtlCol="0" anchor="ctr">
              <a:spAutoFit/>
            </a:bodyPr>
            <a:lstStyle/>
            <a:p>
              <a:pPr algn="ctr">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流程图: 汇总连接 233">
              <a:extLst>
                <a:ext uri="{FF2B5EF4-FFF2-40B4-BE49-F238E27FC236}">
                  <a16:creationId xmlns="" xmlns:a16="http://schemas.microsoft.com/office/drawing/2014/main" id="{B0E2B4D4-6E26-4DED-BD78-640A8679ED74}"/>
                </a:ext>
              </a:extLst>
            </p:cNvPr>
            <p:cNvSpPr/>
            <p:nvPr/>
          </p:nvSpPr>
          <p:spPr bwMode="gray">
            <a:xfrm>
              <a:off x="3576537" y="4323024"/>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流程图: 汇总连接 234">
              <a:extLst>
                <a:ext uri="{FF2B5EF4-FFF2-40B4-BE49-F238E27FC236}">
                  <a16:creationId xmlns="" xmlns:a16="http://schemas.microsoft.com/office/drawing/2014/main" id="{312B7B71-EA75-40BF-94C8-6974DDCB67B8}"/>
                </a:ext>
              </a:extLst>
            </p:cNvPr>
            <p:cNvSpPr/>
            <p:nvPr/>
          </p:nvSpPr>
          <p:spPr bwMode="gray">
            <a:xfrm>
              <a:off x="2099641" y="3863581"/>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流程图: 汇总连接 235">
              <a:extLst>
                <a:ext uri="{FF2B5EF4-FFF2-40B4-BE49-F238E27FC236}">
                  <a16:creationId xmlns="" xmlns:a16="http://schemas.microsoft.com/office/drawing/2014/main" id="{2FA5D34F-A4FE-4534-B081-ADA8975D0A8E}"/>
                </a:ext>
              </a:extLst>
            </p:cNvPr>
            <p:cNvSpPr/>
            <p:nvPr/>
          </p:nvSpPr>
          <p:spPr bwMode="gray">
            <a:xfrm>
              <a:off x="2593733" y="3863581"/>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流程图: 汇总连接 236">
              <a:extLst>
                <a:ext uri="{FF2B5EF4-FFF2-40B4-BE49-F238E27FC236}">
                  <a16:creationId xmlns="" xmlns:a16="http://schemas.microsoft.com/office/drawing/2014/main" id="{5A73A866-7135-416F-9A7A-C73A19B2A051}"/>
                </a:ext>
              </a:extLst>
            </p:cNvPr>
            <p:cNvSpPr/>
            <p:nvPr/>
          </p:nvSpPr>
          <p:spPr bwMode="gray">
            <a:xfrm>
              <a:off x="3087826" y="3863581"/>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6" name="直接连接符 237">
              <a:extLst>
                <a:ext uri="{FF2B5EF4-FFF2-40B4-BE49-F238E27FC236}">
                  <a16:creationId xmlns="" xmlns:a16="http://schemas.microsoft.com/office/drawing/2014/main" id="{F0927FCD-E2B1-40F5-A10F-EB6377DEBF90}"/>
                </a:ext>
              </a:extLst>
            </p:cNvPr>
            <p:cNvCxnSpPr>
              <a:stCxn id="63" idx="6"/>
              <a:endCxn id="64" idx="2"/>
            </p:cNvCxnSpPr>
            <p:nvPr/>
          </p:nvCxnSpPr>
          <p:spPr bwMode="gray">
            <a:xfrm>
              <a:off x="2279693" y="3943973"/>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直接连接符 238">
              <a:extLst>
                <a:ext uri="{FF2B5EF4-FFF2-40B4-BE49-F238E27FC236}">
                  <a16:creationId xmlns="" xmlns:a16="http://schemas.microsoft.com/office/drawing/2014/main" id="{8A2ABE41-1ABD-4D30-98DD-5088A7ABC99F}"/>
                </a:ext>
              </a:extLst>
            </p:cNvPr>
            <p:cNvCxnSpPr>
              <a:stCxn id="64" idx="6"/>
              <a:endCxn id="65" idx="2"/>
            </p:cNvCxnSpPr>
            <p:nvPr/>
          </p:nvCxnSpPr>
          <p:spPr bwMode="gray">
            <a:xfrm>
              <a:off x="2773786" y="3943973"/>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239">
              <a:extLst>
                <a:ext uri="{FF2B5EF4-FFF2-40B4-BE49-F238E27FC236}">
                  <a16:creationId xmlns="" xmlns:a16="http://schemas.microsoft.com/office/drawing/2014/main" id="{37B0BA5D-9D53-4AC7-A9B4-7BC5F4D64C17}"/>
                </a:ext>
              </a:extLst>
            </p:cNvPr>
            <p:cNvCxnSpPr>
              <a:stCxn id="65" idx="6"/>
              <a:endCxn id="62" idx="2"/>
            </p:cNvCxnSpPr>
            <p:nvPr/>
          </p:nvCxnSpPr>
          <p:spPr bwMode="gray">
            <a:xfrm>
              <a:off x="3267879" y="3943974"/>
              <a:ext cx="308659" cy="459443"/>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9" name="矩形 240">
              <a:extLst>
                <a:ext uri="{FF2B5EF4-FFF2-40B4-BE49-F238E27FC236}">
                  <a16:creationId xmlns="" xmlns:a16="http://schemas.microsoft.com/office/drawing/2014/main" id="{7B484ADE-00EB-4FD6-A412-A0F884415F0B}"/>
                </a:ext>
              </a:extLst>
            </p:cNvPr>
            <p:cNvSpPr/>
            <p:nvPr/>
          </p:nvSpPr>
          <p:spPr bwMode="gray">
            <a:xfrm>
              <a:off x="3566374" y="4126765"/>
              <a:ext cx="200376" cy="184666"/>
            </a:xfrm>
            <a:prstGeom prst="rect">
              <a:avLst/>
            </a:prstGeom>
            <a:ln>
              <a:noFill/>
            </a:ln>
          </p:spPr>
          <p:txBody>
            <a:bodyPr wrap="none" lIns="0" tIns="0" rIns="0" bIns="0"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0" name="矩形 241">
              <a:extLst>
                <a:ext uri="{FF2B5EF4-FFF2-40B4-BE49-F238E27FC236}">
                  <a16:creationId xmlns="" xmlns:a16="http://schemas.microsoft.com/office/drawing/2014/main" id="{55EE17CC-FBBB-4421-8C4C-6049211197BB}"/>
                </a:ext>
              </a:extLst>
            </p:cNvPr>
            <p:cNvSpPr/>
            <p:nvPr/>
          </p:nvSpPr>
          <p:spPr bwMode="gray">
            <a:xfrm>
              <a:off x="1072053" y="3686717"/>
              <a:ext cx="1944565" cy="514512"/>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圆角矩形 245">
              <a:extLst>
                <a:ext uri="{FF2B5EF4-FFF2-40B4-BE49-F238E27FC236}">
                  <a16:creationId xmlns="" xmlns:a16="http://schemas.microsoft.com/office/drawing/2014/main" id="{388667DC-87E9-4A87-9F73-7D12B9B0D0E4}"/>
                </a:ext>
              </a:extLst>
            </p:cNvPr>
            <p:cNvSpPr/>
            <p:nvPr/>
          </p:nvSpPr>
          <p:spPr bwMode="gray">
            <a:xfrm>
              <a:off x="4155953" y="4208660"/>
              <a:ext cx="634155" cy="389513"/>
            </a:xfrm>
            <a:prstGeom prst="roundRect">
              <a:avLst>
                <a:gd name="adj" fmla="val 50000"/>
              </a:avLst>
            </a:prstGeom>
            <a:ln>
              <a:solidFill>
                <a:srgbClr val="1AABE2"/>
              </a:solidFill>
            </a:ln>
          </p:spPr>
          <p:txBody>
            <a:bodyPr wrap="none" rtlCol="0" anchor="ctr">
              <a:spAutoFit/>
            </a:bodyPr>
            <a:lstStyle/>
            <a:p>
              <a:pPr algn="ct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2" name="圆角矩形 246">
              <a:extLst>
                <a:ext uri="{FF2B5EF4-FFF2-40B4-BE49-F238E27FC236}">
                  <a16:creationId xmlns="" xmlns:a16="http://schemas.microsoft.com/office/drawing/2014/main" id="{31231D4F-4CA3-4012-9444-8729F78657D7}"/>
                </a:ext>
              </a:extLst>
            </p:cNvPr>
            <p:cNvSpPr/>
            <p:nvPr/>
          </p:nvSpPr>
          <p:spPr bwMode="gray">
            <a:xfrm>
              <a:off x="4819062" y="4208660"/>
              <a:ext cx="586993" cy="389513"/>
            </a:xfrm>
            <a:prstGeom prst="roundRect">
              <a:avLst>
                <a:gd name="adj" fmla="val 50000"/>
              </a:avLst>
            </a:prstGeom>
            <a:ln>
              <a:solidFill>
                <a:srgbClr val="1AABE2"/>
              </a:solidFill>
            </a:ln>
          </p:spPr>
          <p:txBody>
            <a:bodyPr wrap="none" rtlCol="0" anchor="ctr">
              <a:spAutoFit/>
            </a:bodyPr>
            <a:lstStyle/>
            <a:p>
              <a:pPr algn="ct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PHY</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3" name="直接箭头连接符 247">
              <a:extLst>
                <a:ext uri="{FF2B5EF4-FFF2-40B4-BE49-F238E27FC236}">
                  <a16:creationId xmlns="" xmlns:a16="http://schemas.microsoft.com/office/drawing/2014/main" id="{8C1C2DFC-21EF-4680-81CA-E7329441378D}"/>
                </a:ext>
              </a:extLst>
            </p:cNvPr>
            <p:cNvCxnSpPr>
              <a:endCxn id="72" idx="1"/>
            </p:cNvCxnSpPr>
            <p:nvPr/>
          </p:nvCxnSpPr>
          <p:spPr bwMode="gray">
            <a:xfrm>
              <a:off x="4698621" y="4403416"/>
              <a:ext cx="120441" cy="1"/>
            </a:xfrm>
            <a:prstGeom prst="straightConnector1">
              <a:avLst/>
            </a:prstGeom>
            <a:noFill/>
            <a:ln w="9525" cap="flat" cmpd="sng" algn="ctr">
              <a:solidFill>
                <a:schemeClr val="bg1">
                  <a:lumMod val="50000"/>
                </a:schemeClr>
              </a:solidFill>
              <a:prstDash val="solid"/>
              <a:tailEnd type="triangle" w="med" len="lg"/>
            </a:ln>
            <a:effectLst/>
          </p:spPr>
        </p:cxnSp>
        <p:cxnSp>
          <p:nvCxnSpPr>
            <p:cNvPr id="74" name="直接箭头连接符 248">
              <a:extLst>
                <a:ext uri="{FF2B5EF4-FFF2-40B4-BE49-F238E27FC236}">
                  <a16:creationId xmlns="" xmlns:a16="http://schemas.microsoft.com/office/drawing/2014/main" id="{E892D046-99B5-46F7-88E0-61E8536211B7}"/>
                </a:ext>
              </a:extLst>
            </p:cNvPr>
            <p:cNvCxnSpPr/>
            <p:nvPr/>
          </p:nvCxnSpPr>
          <p:spPr bwMode="gray">
            <a:xfrm>
              <a:off x="5328620" y="4403417"/>
              <a:ext cx="252073" cy="1"/>
            </a:xfrm>
            <a:prstGeom prst="straightConnector1">
              <a:avLst/>
            </a:prstGeom>
            <a:noFill/>
            <a:ln w="9525" cap="flat" cmpd="sng" algn="ctr">
              <a:solidFill>
                <a:schemeClr val="bg1">
                  <a:lumMod val="50000"/>
                </a:schemeClr>
              </a:solidFill>
              <a:prstDash val="solid"/>
              <a:tailEnd type="triangle" w="med" len="lg"/>
            </a:ln>
            <a:effectLst/>
          </p:spPr>
        </p:cxnSp>
        <p:cxnSp>
          <p:nvCxnSpPr>
            <p:cNvPr id="75" name="直接连接符 251">
              <a:extLst>
                <a:ext uri="{FF2B5EF4-FFF2-40B4-BE49-F238E27FC236}">
                  <a16:creationId xmlns="" xmlns:a16="http://schemas.microsoft.com/office/drawing/2014/main" id="{5B69FF2C-7318-49B0-94C9-59F97F45FB09}"/>
                </a:ext>
              </a:extLst>
            </p:cNvPr>
            <p:cNvCxnSpPr>
              <a:endCxn id="61" idx="1"/>
            </p:cNvCxnSpPr>
            <p:nvPr/>
          </p:nvCxnSpPr>
          <p:spPr bwMode="gray">
            <a:xfrm>
              <a:off x="3756589" y="4403416"/>
              <a:ext cx="426524" cy="1"/>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任意多边形 252">
              <a:extLst>
                <a:ext uri="{FF2B5EF4-FFF2-40B4-BE49-F238E27FC236}">
                  <a16:creationId xmlns="" xmlns:a16="http://schemas.microsoft.com/office/drawing/2014/main" id="{2138E20E-BD54-4FD4-A7BA-BD7C5E0B8178}"/>
                </a:ext>
              </a:extLst>
            </p:cNvPr>
            <p:cNvSpPr/>
            <p:nvPr/>
          </p:nvSpPr>
          <p:spPr bwMode="gray">
            <a:xfrm>
              <a:off x="799486" y="3863554"/>
              <a:ext cx="461632" cy="77734"/>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7" name="矩形 253">
              <a:extLst>
                <a:ext uri="{FF2B5EF4-FFF2-40B4-BE49-F238E27FC236}">
                  <a16:creationId xmlns="" xmlns:a16="http://schemas.microsoft.com/office/drawing/2014/main" id="{1D4ACA11-16F3-4ACE-AC7D-079A9E2ACB7D}"/>
                </a:ext>
              </a:extLst>
            </p:cNvPr>
            <p:cNvSpPr/>
            <p:nvPr/>
          </p:nvSpPr>
          <p:spPr bwMode="gray">
            <a:xfrm>
              <a:off x="1364301" y="3752269"/>
              <a:ext cx="262892"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78" name="组合 254">
              <a:extLst>
                <a:ext uri="{FF2B5EF4-FFF2-40B4-BE49-F238E27FC236}">
                  <a16:creationId xmlns="" xmlns:a16="http://schemas.microsoft.com/office/drawing/2014/main" id="{72364F39-CD88-42A5-8F21-5B417CFE19DC}"/>
                </a:ext>
              </a:extLst>
            </p:cNvPr>
            <p:cNvGrpSpPr/>
            <p:nvPr/>
          </p:nvGrpSpPr>
          <p:grpSpPr bwMode="gray">
            <a:xfrm>
              <a:off x="1678952" y="3788373"/>
              <a:ext cx="395191" cy="321570"/>
              <a:chOff x="6796081" y="1776846"/>
              <a:chExt cx="395076" cy="345115"/>
            </a:xfrm>
          </p:grpSpPr>
          <p:sp>
            <p:nvSpPr>
              <p:cNvPr id="79" name="圆角矩形 199">
                <a:extLst>
                  <a:ext uri="{FF2B5EF4-FFF2-40B4-BE49-F238E27FC236}">
                    <a16:creationId xmlns="" xmlns:a16="http://schemas.microsoft.com/office/drawing/2014/main" id="{4BB6F52F-F52E-464A-BCB7-57386D143643}"/>
                  </a:ext>
                </a:extLst>
              </p:cNvPr>
              <p:cNvSpPr/>
              <p:nvPr/>
            </p:nvSpPr>
            <p:spPr bwMode="gray">
              <a:xfrm>
                <a:off x="6796081" y="177684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圆角矩形 200">
                <a:extLst>
                  <a:ext uri="{FF2B5EF4-FFF2-40B4-BE49-F238E27FC236}">
                    <a16:creationId xmlns="" xmlns:a16="http://schemas.microsoft.com/office/drawing/2014/main" id="{9D26B482-4FC4-4280-B40D-93620B112982}"/>
                  </a:ext>
                </a:extLst>
              </p:cNvPr>
              <p:cNvSpPr/>
              <p:nvPr/>
            </p:nvSpPr>
            <p:spPr bwMode="gray">
              <a:xfrm>
                <a:off x="6796081" y="182306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圆角矩形 201">
                <a:extLst>
                  <a:ext uri="{FF2B5EF4-FFF2-40B4-BE49-F238E27FC236}">
                    <a16:creationId xmlns="" xmlns:a16="http://schemas.microsoft.com/office/drawing/2014/main" id="{94B92FC8-6ECF-41DA-AAA4-DA202F3D2A15}"/>
                  </a:ext>
                </a:extLst>
              </p:cNvPr>
              <p:cNvSpPr/>
              <p:nvPr/>
            </p:nvSpPr>
            <p:spPr bwMode="gray">
              <a:xfrm>
                <a:off x="6796081" y="1869278"/>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圆角矩形 202">
                <a:extLst>
                  <a:ext uri="{FF2B5EF4-FFF2-40B4-BE49-F238E27FC236}">
                    <a16:creationId xmlns="" xmlns:a16="http://schemas.microsoft.com/office/drawing/2014/main" id="{28688C45-60B6-4243-83E8-D626D00310D9}"/>
                  </a:ext>
                </a:extLst>
              </p:cNvPr>
              <p:cNvSpPr/>
              <p:nvPr/>
            </p:nvSpPr>
            <p:spPr bwMode="gray">
              <a:xfrm>
                <a:off x="6796081" y="1915494"/>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3" name="圆角矩形 203">
                <a:extLst>
                  <a:ext uri="{FF2B5EF4-FFF2-40B4-BE49-F238E27FC236}">
                    <a16:creationId xmlns="" xmlns:a16="http://schemas.microsoft.com/office/drawing/2014/main" id="{363B394E-FDFB-4286-BBFA-0A50C09BEB45}"/>
                  </a:ext>
                </a:extLst>
              </p:cNvPr>
              <p:cNvSpPr/>
              <p:nvPr/>
            </p:nvSpPr>
            <p:spPr bwMode="gray">
              <a:xfrm>
                <a:off x="6796081" y="1961710"/>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4" name="圆角矩形 204">
                <a:extLst>
                  <a:ext uri="{FF2B5EF4-FFF2-40B4-BE49-F238E27FC236}">
                    <a16:creationId xmlns="" xmlns:a16="http://schemas.microsoft.com/office/drawing/2014/main" id="{74B8F565-C329-4984-84F9-248642AF1336}"/>
                  </a:ext>
                </a:extLst>
              </p:cNvPr>
              <p:cNvSpPr/>
              <p:nvPr/>
            </p:nvSpPr>
            <p:spPr bwMode="gray">
              <a:xfrm>
                <a:off x="6796081" y="200792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圆角矩形 205">
                <a:extLst>
                  <a:ext uri="{FF2B5EF4-FFF2-40B4-BE49-F238E27FC236}">
                    <a16:creationId xmlns="" xmlns:a16="http://schemas.microsoft.com/office/drawing/2014/main" id="{2D1E1FAE-E880-4381-81FE-85DA850ECE75}"/>
                  </a:ext>
                </a:extLst>
              </p:cNvPr>
              <p:cNvSpPr/>
              <p:nvPr/>
            </p:nvSpPr>
            <p:spPr bwMode="gray">
              <a:xfrm>
                <a:off x="6796081" y="205414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 name="圆角矩形 206">
                <a:extLst>
                  <a:ext uri="{FF2B5EF4-FFF2-40B4-BE49-F238E27FC236}">
                    <a16:creationId xmlns="" xmlns:a16="http://schemas.microsoft.com/office/drawing/2014/main" id="{C7E83082-C244-41B0-8486-B81CA74F8261}"/>
                  </a:ext>
                </a:extLst>
              </p:cNvPr>
              <p:cNvSpPr/>
              <p:nvPr/>
            </p:nvSpPr>
            <p:spPr bwMode="gray">
              <a:xfrm>
                <a:off x="6796081" y="210036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87" name="矩形 263">
              <a:extLst>
                <a:ext uri="{FF2B5EF4-FFF2-40B4-BE49-F238E27FC236}">
                  <a16:creationId xmlns="" xmlns:a16="http://schemas.microsoft.com/office/drawing/2014/main" id="{9EC4847E-FE2C-4C2F-B999-3B79A15FE671}"/>
                </a:ext>
              </a:extLst>
            </p:cNvPr>
            <p:cNvSpPr/>
            <p:nvPr/>
          </p:nvSpPr>
          <p:spPr bwMode="gray">
            <a:xfrm>
              <a:off x="1422025" y="3951298"/>
              <a:ext cx="177934"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 name="流程图: 汇总连接 265">
              <a:extLst>
                <a:ext uri="{FF2B5EF4-FFF2-40B4-BE49-F238E27FC236}">
                  <a16:creationId xmlns="" xmlns:a16="http://schemas.microsoft.com/office/drawing/2014/main" id="{E74A2CFF-99E0-4370-A0D4-5325C8A1A8AD}"/>
                </a:ext>
              </a:extLst>
            </p:cNvPr>
            <p:cNvSpPr/>
            <p:nvPr/>
          </p:nvSpPr>
          <p:spPr bwMode="gray">
            <a:xfrm>
              <a:off x="2099641" y="4733978"/>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9" name="流程图: 汇总连接 266">
              <a:extLst>
                <a:ext uri="{FF2B5EF4-FFF2-40B4-BE49-F238E27FC236}">
                  <a16:creationId xmlns="" xmlns:a16="http://schemas.microsoft.com/office/drawing/2014/main" id="{C67EA0CE-39C2-451E-97A5-41FB78326D61}"/>
                </a:ext>
              </a:extLst>
            </p:cNvPr>
            <p:cNvSpPr/>
            <p:nvPr/>
          </p:nvSpPr>
          <p:spPr bwMode="gray">
            <a:xfrm>
              <a:off x="2593733" y="4733978"/>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流程图: 汇总连接 267">
              <a:extLst>
                <a:ext uri="{FF2B5EF4-FFF2-40B4-BE49-F238E27FC236}">
                  <a16:creationId xmlns="" xmlns:a16="http://schemas.microsoft.com/office/drawing/2014/main" id="{283CC4F9-A8FB-48B0-97D3-D0FA2147F52C}"/>
                </a:ext>
              </a:extLst>
            </p:cNvPr>
            <p:cNvSpPr/>
            <p:nvPr/>
          </p:nvSpPr>
          <p:spPr bwMode="gray">
            <a:xfrm>
              <a:off x="3087826" y="4733978"/>
              <a:ext cx="180052" cy="160785"/>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91" name="直接连接符 268">
              <a:extLst>
                <a:ext uri="{FF2B5EF4-FFF2-40B4-BE49-F238E27FC236}">
                  <a16:creationId xmlns="" xmlns:a16="http://schemas.microsoft.com/office/drawing/2014/main" id="{5A594759-09A1-494D-885B-BD7CAA78D2A7}"/>
                </a:ext>
              </a:extLst>
            </p:cNvPr>
            <p:cNvCxnSpPr>
              <a:stCxn id="88" idx="6"/>
              <a:endCxn id="89" idx="2"/>
            </p:cNvCxnSpPr>
            <p:nvPr/>
          </p:nvCxnSpPr>
          <p:spPr bwMode="gray">
            <a:xfrm>
              <a:off x="2279693" y="4814369"/>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269">
              <a:extLst>
                <a:ext uri="{FF2B5EF4-FFF2-40B4-BE49-F238E27FC236}">
                  <a16:creationId xmlns="" xmlns:a16="http://schemas.microsoft.com/office/drawing/2014/main" id="{E41952CA-CF79-423F-AA02-7DD7709FAE7E}"/>
                </a:ext>
              </a:extLst>
            </p:cNvPr>
            <p:cNvCxnSpPr>
              <a:stCxn id="89" idx="6"/>
              <a:endCxn id="90" idx="2"/>
            </p:cNvCxnSpPr>
            <p:nvPr/>
          </p:nvCxnSpPr>
          <p:spPr bwMode="gray">
            <a:xfrm>
              <a:off x="2773786" y="4814369"/>
              <a:ext cx="314040"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矩形 270">
              <a:extLst>
                <a:ext uri="{FF2B5EF4-FFF2-40B4-BE49-F238E27FC236}">
                  <a16:creationId xmlns="" xmlns:a16="http://schemas.microsoft.com/office/drawing/2014/main" id="{DF8D0424-9773-41E9-AE97-8ECF108608BD}"/>
                </a:ext>
              </a:extLst>
            </p:cNvPr>
            <p:cNvSpPr/>
            <p:nvPr/>
          </p:nvSpPr>
          <p:spPr bwMode="gray">
            <a:xfrm>
              <a:off x="1072053" y="4557113"/>
              <a:ext cx="1944565" cy="514512"/>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 name="矩形 271">
              <a:extLst>
                <a:ext uri="{FF2B5EF4-FFF2-40B4-BE49-F238E27FC236}">
                  <a16:creationId xmlns="" xmlns:a16="http://schemas.microsoft.com/office/drawing/2014/main" id="{2028409E-631D-4D53-9506-782B457BCD48}"/>
                </a:ext>
              </a:extLst>
            </p:cNvPr>
            <p:cNvSpPr/>
            <p:nvPr/>
          </p:nvSpPr>
          <p:spPr bwMode="gray">
            <a:xfrm>
              <a:off x="1985274" y="4491552"/>
              <a:ext cx="386644"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 name="矩形 272">
              <a:extLst>
                <a:ext uri="{FF2B5EF4-FFF2-40B4-BE49-F238E27FC236}">
                  <a16:creationId xmlns="" xmlns:a16="http://schemas.microsoft.com/office/drawing/2014/main" id="{83BC2F02-2BEB-494C-8AC8-10C5F8BD96F5}"/>
                </a:ext>
              </a:extLst>
            </p:cNvPr>
            <p:cNvSpPr/>
            <p:nvPr/>
          </p:nvSpPr>
          <p:spPr bwMode="gray">
            <a:xfrm>
              <a:off x="2467307" y="4491552"/>
              <a:ext cx="413896"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GQ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6" name="矩形 273">
              <a:extLst>
                <a:ext uri="{FF2B5EF4-FFF2-40B4-BE49-F238E27FC236}">
                  <a16:creationId xmlns="" xmlns:a16="http://schemas.microsoft.com/office/drawing/2014/main" id="{1EA158E4-54B4-4CF8-80A4-E69A0E450CCA}"/>
                </a:ext>
              </a:extLst>
            </p:cNvPr>
            <p:cNvSpPr/>
            <p:nvPr/>
          </p:nvSpPr>
          <p:spPr bwMode="gray">
            <a:xfrm>
              <a:off x="3007183" y="4491552"/>
              <a:ext cx="325730" cy="276999"/>
            </a:xfrm>
            <a:prstGeom prst="rect">
              <a:avLst/>
            </a:prstGeom>
            <a:ln>
              <a:noFill/>
            </a:ln>
          </p:spPr>
          <p:txBody>
            <a:bodyPr wrap="none" rtlCol="0" anchor="ctr">
              <a:spAutoFit/>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VI</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7" name="任意多边形 274">
              <a:extLst>
                <a:ext uri="{FF2B5EF4-FFF2-40B4-BE49-F238E27FC236}">
                  <a16:creationId xmlns="" xmlns:a16="http://schemas.microsoft.com/office/drawing/2014/main" id="{487665E7-2C00-42F8-9781-B1832FEF62E8}"/>
                </a:ext>
              </a:extLst>
            </p:cNvPr>
            <p:cNvSpPr/>
            <p:nvPr/>
          </p:nvSpPr>
          <p:spPr bwMode="gray">
            <a:xfrm>
              <a:off x="799486" y="4733950"/>
              <a:ext cx="461632" cy="77734"/>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8" name="矩形 275">
              <a:extLst>
                <a:ext uri="{FF2B5EF4-FFF2-40B4-BE49-F238E27FC236}">
                  <a16:creationId xmlns="" xmlns:a16="http://schemas.microsoft.com/office/drawing/2014/main" id="{2DBEA1C8-0947-4F2E-80C0-5C7832E434F5}"/>
                </a:ext>
              </a:extLst>
            </p:cNvPr>
            <p:cNvSpPr/>
            <p:nvPr/>
          </p:nvSpPr>
          <p:spPr bwMode="gray">
            <a:xfrm>
              <a:off x="1364301" y="4622665"/>
              <a:ext cx="262892"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99" name="组合 276">
              <a:extLst>
                <a:ext uri="{FF2B5EF4-FFF2-40B4-BE49-F238E27FC236}">
                  <a16:creationId xmlns="" xmlns:a16="http://schemas.microsoft.com/office/drawing/2014/main" id="{C66819B0-A293-4037-8D5F-B06DA8432B26}"/>
                </a:ext>
              </a:extLst>
            </p:cNvPr>
            <p:cNvGrpSpPr/>
            <p:nvPr/>
          </p:nvGrpSpPr>
          <p:grpSpPr bwMode="gray">
            <a:xfrm>
              <a:off x="1678952" y="4658770"/>
              <a:ext cx="395191" cy="321570"/>
              <a:chOff x="6796081" y="2838617"/>
              <a:chExt cx="395076" cy="345115"/>
            </a:xfrm>
          </p:grpSpPr>
          <p:sp>
            <p:nvSpPr>
              <p:cNvPr id="100" name="圆角矩形 199">
                <a:extLst>
                  <a:ext uri="{FF2B5EF4-FFF2-40B4-BE49-F238E27FC236}">
                    <a16:creationId xmlns="" xmlns:a16="http://schemas.microsoft.com/office/drawing/2014/main" id="{30681BF1-9300-48F9-B30C-A11FEB8F7FE8}"/>
                  </a:ext>
                </a:extLst>
              </p:cNvPr>
              <p:cNvSpPr/>
              <p:nvPr/>
            </p:nvSpPr>
            <p:spPr bwMode="gray">
              <a:xfrm>
                <a:off x="6796081" y="2838617"/>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1" name="圆角矩形 200">
                <a:extLst>
                  <a:ext uri="{FF2B5EF4-FFF2-40B4-BE49-F238E27FC236}">
                    <a16:creationId xmlns="" xmlns:a16="http://schemas.microsoft.com/office/drawing/2014/main" id="{7CF940D3-26DC-4BC3-B270-816D54F49975}"/>
                  </a:ext>
                </a:extLst>
              </p:cNvPr>
              <p:cNvSpPr/>
              <p:nvPr/>
            </p:nvSpPr>
            <p:spPr bwMode="gray">
              <a:xfrm>
                <a:off x="6796081" y="2884833"/>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圆角矩形 201">
                <a:extLst>
                  <a:ext uri="{FF2B5EF4-FFF2-40B4-BE49-F238E27FC236}">
                    <a16:creationId xmlns="" xmlns:a16="http://schemas.microsoft.com/office/drawing/2014/main" id="{447EE911-31C9-4825-8679-4C5F88462BF5}"/>
                  </a:ext>
                </a:extLst>
              </p:cNvPr>
              <p:cNvSpPr/>
              <p:nvPr/>
            </p:nvSpPr>
            <p:spPr bwMode="gray">
              <a:xfrm>
                <a:off x="6796081" y="2931049"/>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3" name="圆角矩形 202">
                <a:extLst>
                  <a:ext uri="{FF2B5EF4-FFF2-40B4-BE49-F238E27FC236}">
                    <a16:creationId xmlns="" xmlns:a16="http://schemas.microsoft.com/office/drawing/2014/main" id="{381DF741-8D31-46CA-A5A7-C08832E65B1B}"/>
                  </a:ext>
                </a:extLst>
              </p:cNvPr>
              <p:cNvSpPr/>
              <p:nvPr/>
            </p:nvSpPr>
            <p:spPr bwMode="gray">
              <a:xfrm>
                <a:off x="6796081" y="2977265"/>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4" name="圆角矩形 203">
                <a:extLst>
                  <a:ext uri="{FF2B5EF4-FFF2-40B4-BE49-F238E27FC236}">
                    <a16:creationId xmlns="" xmlns:a16="http://schemas.microsoft.com/office/drawing/2014/main" id="{987D74C0-6C1F-4D01-B773-95E56A13EE71}"/>
                  </a:ext>
                </a:extLst>
              </p:cNvPr>
              <p:cNvSpPr/>
              <p:nvPr/>
            </p:nvSpPr>
            <p:spPr bwMode="gray">
              <a:xfrm>
                <a:off x="6796081" y="302348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5" name="圆角矩形 204">
                <a:extLst>
                  <a:ext uri="{FF2B5EF4-FFF2-40B4-BE49-F238E27FC236}">
                    <a16:creationId xmlns="" xmlns:a16="http://schemas.microsoft.com/office/drawing/2014/main" id="{988A4BC5-ED5D-4E3B-8BAC-20FDBF9D8C43}"/>
                  </a:ext>
                </a:extLst>
              </p:cNvPr>
              <p:cNvSpPr/>
              <p:nvPr/>
            </p:nvSpPr>
            <p:spPr bwMode="gray">
              <a:xfrm>
                <a:off x="6796081" y="3069697"/>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6" name="圆角矩形 205">
                <a:extLst>
                  <a:ext uri="{FF2B5EF4-FFF2-40B4-BE49-F238E27FC236}">
                    <a16:creationId xmlns="" xmlns:a16="http://schemas.microsoft.com/office/drawing/2014/main" id="{C59ED59B-4FF6-4872-A05C-0A3D2151CA10}"/>
                  </a:ext>
                </a:extLst>
              </p:cNvPr>
              <p:cNvSpPr/>
              <p:nvPr/>
            </p:nvSpPr>
            <p:spPr bwMode="gray">
              <a:xfrm>
                <a:off x="6796081" y="3115913"/>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7" name="圆角矩形 206">
                <a:extLst>
                  <a:ext uri="{FF2B5EF4-FFF2-40B4-BE49-F238E27FC236}">
                    <a16:creationId xmlns="" xmlns:a16="http://schemas.microsoft.com/office/drawing/2014/main" id="{47608C1B-B56E-4679-A7EF-A6153999AF52}"/>
                  </a:ext>
                </a:extLst>
              </p:cNvPr>
              <p:cNvSpPr/>
              <p:nvPr/>
            </p:nvSpPr>
            <p:spPr bwMode="gray">
              <a:xfrm>
                <a:off x="6796081" y="316213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08" name="矩形 285">
              <a:extLst>
                <a:ext uri="{FF2B5EF4-FFF2-40B4-BE49-F238E27FC236}">
                  <a16:creationId xmlns="" xmlns:a16="http://schemas.microsoft.com/office/drawing/2014/main" id="{F552F6BA-B666-4F0E-8B34-80FC4EB5B41D}"/>
                </a:ext>
              </a:extLst>
            </p:cNvPr>
            <p:cNvSpPr/>
            <p:nvPr/>
          </p:nvSpPr>
          <p:spPr bwMode="gray">
            <a:xfrm>
              <a:off x="1422025" y="4821694"/>
              <a:ext cx="177934" cy="184666"/>
            </a:xfrm>
            <a:prstGeom prst="rect">
              <a:avLst/>
            </a:prstGeom>
            <a:ln>
              <a:noFill/>
            </a:ln>
          </p:spPr>
          <p:txBody>
            <a:bodyPr wrap="none" lIns="0" tIns="0" rIns="0" bIns="0" rtlCol="0" anchor="ctr">
              <a:spAutoFit/>
            </a:bodyPr>
            <a:lstStyle/>
            <a:p>
              <a:pP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文本框 286">
              <a:extLst>
                <a:ext uri="{FF2B5EF4-FFF2-40B4-BE49-F238E27FC236}">
                  <a16:creationId xmlns="" xmlns:a16="http://schemas.microsoft.com/office/drawing/2014/main" id="{FF19170F-3030-48BD-9237-728432FA2E07}"/>
                </a:ext>
              </a:extLst>
            </p:cNvPr>
            <p:cNvSpPr txBox="1"/>
            <p:nvPr/>
          </p:nvSpPr>
          <p:spPr bwMode="gray">
            <a:xfrm>
              <a:off x="2027848" y="4368574"/>
              <a:ext cx="923330" cy="184666"/>
            </a:xfrm>
            <a:prstGeom prst="rect">
              <a:avLst/>
            </a:prstGeom>
          </p:spPr>
          <p:txBody>
            <a:bodyPr wrap="none" lIns="0" tIns="0" rIns="0" bIns="0" rtlCol="0">
              <a:spAutoFit/>
            </a:bodyPr>
            <a:lstStyle/>
            <a:p>
              <a:pPr defTabSz="991093" eaLnBrk="0" hangingPunct="0"/>
              <a:r>
                <a:rPr lang="zh-CN" altLang="en-US"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信道化子接口</a:t>
              </a:r>
            </a:p>
          </p:txBody>
        </p:sp>
        <p:sp>
          <p:nvSpPr>
            <p:cNvPr id="110" name="文本框 287">
              <a:extLst>
                <a:ext uri="{FF2B5EF4-FFF2-40B4-BE49-F238E27FC236}">
                  <a16:creationId xmlns="" xmlns:a16="http://schemas.microsoft.com/office/drawing/2014/main" id="{756E8099-9C67-4306-A394-D6E8195EDBB3}"/>
                </a:ext>
              </a:extLst>
            </p:cNvPr>
            <p:cNvSpPr txBox="1"/>
            <p:nvPr/>
          </p:nvSpPr>
          <p:spPr bwMode="gray">
            <a:xfrm>
              <a:off x="1850317" y="4272406"/>
              <a:ext cx="184666" cy="118622"/>
            </a:xfrm>
            <a:prstGeom prst="rect">
              <a:avLst/>
            </a:prstGeom>
            <a:noFill/>
          </p:spPr>
          <p:txBody>
            <a:bodyPr vert="eaVert" wrap="none" lIns="0" tIns="0" rIns="0" bIns="0" rtlCol="0" anchor="ctr">
              <a:spAutoFit/>
            </a:bodyPr>
            <a:lstStyle/>
            <a:p>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1" name="直接箭头连接符 288">
              <a:extLst>
                <a:ext uri="{FF2B5EF4-FFF2-40B4-BE49-F238E27FC236}">
                  <a16:creationId xmlns="" xmlns:a16="http://schemas.microsoft.com/office/drawing/2014/main" id="{4E070074-ACC8-4EC8-A0C5-2E1077D1E128}"/>
                </a:ext>
              </a:extLst>
            </p:cNvPr>
            <p:cNvCxnSpPr>
              <a:stCxn id="90" idx="6"/>
              <a:endCxn id="62" idx="2"/>
            </p:cNvCxnSpPr>
            <p:nvPr/>
          </p:nvCxnSpPr>
          <p:spPr bwMode="gray">
            <a:xfrm flipV="1">
              <a:off x="3267879" y="4403416"/>
              <a:ext cx="308659" cy="410954"/>
            </a:xfrm>
            <a:prstGeom prst="straightConnector1">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7" name="Group 6">
            <a:extLst>
              <a:ext uri="{FF2B5EF4-FFF2-40B4-BE49-F238E27FC236}">
                <a16:creationId xmlns="" xmlns:a16="http://schemas.microsoft.com/office/drawing/2014/main" id="{4617AAF1-627F-4EA5-B70E-103BF5612A7C}"/>
              </a:ext>
            </a:extLst>
          </p:cNvPr>
          <p:cNvGrpSpPr/>
          <p:nvPr/>
        </p:nvGrpSpPr>
        <p:grpSpPr bwMode="gray">
          <a:xfrm>
            <a:off x="6724848" y="3516099"/>
            <a:ext cx="4474741" cy="1445508"/>
            <a:chOff x="6724848" y="3516099"/>
            <a:chExt cx="4474741" cy="1445508"/>
          </a:xfrm>
        </p:grpSpPr>
        <p:sp>
          <p:nvSpPr>
            <p:cNvPr id="112" name="文本框 291">
              <a:extLst>
                <a:ext uri="{FF2B5EF4-FFF2-40B4-BE49-F238E27FC236}">
                  <a16:creationId xmlns="" xmlns:a16="http://schemas.microsoft.com/office/drawing/2014/main" id="{3C51BBE7-133A-4206-9D30-F734018BDA2E}"/>
                </a:ext>
              </a:extLst>
            </p:cNvPr>
            <p:cNvSpPr txBox="1"/>
            <p:nvPr/>
          </p:nvSpPr>
          <p:spPr bwMode="gray">
            <a:xfrm>
              <a:off x="7778491" y="3516099"/>
              <a:ext cx="240450" cy="184666"/>
            </a:xfrm>
            <a:prstGeom prst="rect">
              <a:avLst/>
            </a:prstGeom>
          </p:spPr>
          <p:txBody>
            <a:bodyPr wrap="none" lIns="0" tIns="0" rIns="0" bIns="0" rtlCol="0">
              <a:spAutoFit/>
            </a:bodyPr>
            <a:lstStyle>
              <a:defPPr>
                <a:defRPr lang="zh-CN"/>
              </a:defPPr>
              <a:lvl1pPr defTabSz="991093" eaLnBrk="0" fontAlgn="auto" hangingPunct="0">
                <a:spcBef>
                  <a:spcPts val="0"/>
                </a:spcBef>
                <a:spcAft>
                  <a:spcPts val="0"/>
                </a:spcAft>
                <a:defRPr sz="1000" b="1">
                  <a:solidFill>
                    <a:prstClr val="black"/>
                  </a:solidFill>
                  <a:latin typeface="Huawei Sans" panose="020C0503030203020204" pitchFamily="34" charset="0"/>
                  <a:ea typeface="宋体"/>
                  <a:cs typeface="Huawei Sans" panose="020C0503030203020204" pitchFamily="34" charset="0"/>
                </a:defRPr>
              </a:lvl1pPr>
            </a:lstStyle>
            <a:p>
              <a:r>
                <a:rPr lang="en-US" altLang="zh-CN" sz="1200" dirty="0">
                  <a:ea typeface="方正兰亭黑简体" panose="02000000000000000000" pitchFamily="2" charset="-122"/>
                  <a:cs typeface="+mn-ea"/>
                  <a:sym typeface="Huawei Sans" panose="020C0503030203020204" pitchFamily="34" charset="0"/>
                </a:rPr>
                <a:t>TM</a:t>
              </a:r>
              <a:endParaRPr lang="zh-CN" altLang="en-US" sz="1200" dirty="0">
                <a:ea typeface="方正兰亭黑简体" panose="02000000000000000000" pitchFamily="2" charset="-122"/>
                <a:cs typeface="+mn-ea"/>
                <a:sym typeface="Huawei Sans" panose="020C0503030203020204" pitchFamily="34" charset="0"/>
              </a:endParaRPr>
            </a:p>
          </p:txBody>
        </p:sp>
        <p:sp>
          <p:nvSpPr>
            <p:cNvPr id="113" name="文本框 292">
              <a:extLst>
                <a:ext uri="{FF2B5EF4-FFF2-40B4-BE49-F238E27FC236}">
                  <a16:creationId xmlns="" xmlns:a16="http://schemas.microsoft.com/office/drawing/2014/main" id="{77F38511-A4E0-48AF-94B9-6F2FA8108C21}"/>
                </a:ext>
              </a:extLst>
            </p:cNvPr>
            <p:cNvSpPr txBox="1"/>
            <p:nvPr/>
          </p:nvSpPr>
          <p:spPr bwMode="gray">
            <a:xfrm>
              <a:off x="9495915" y="3516099"/>
              <a:ext cx="237244" cy="184666"/>
            </a:xfrm>
            <a:prstGeom prst="rect">
              <a:avLst/>
            </a:prstGeom>
          </p:spPr>
          <p:txBody>
            <a:bodyPr wrap="none" lIns="0" tIns="0" rIns="0" bIns="0" rtlCol="0">
              <a:spAutoFit/>
            </a:bodyPr>
            <a:lstStyle>
              <a:defPPr>
                <a:defRPr lang="zh-CN"/>
              </a:defPPr>
              <a:lvl1pPr defTabSz="991093" eaLnBrk="0" fontAlgn="auto" hangingPunct="0">
                <a:spcBef>
                  <a:spcPts val="0"/>
                </a:spcBef>
                <a:spcAft>
                  <a:spcPts val="0"/>
                </a:spcAft>
                <a:defRPr sz="1000" b="1">
                  <a:solidFill>
                    <a:prstClr val="black"/>
                  </a:solidFill>
                  <a:latin typeface="Huawei Sans" panose="020C0503030203020204" pitchFamily="34" charset="0"/>
                  <a:ea typeface="宋体"/>
                  <a:cs typeface="Huawei Sans" panose="020C0503030203020204" pitchFamily="34" charset="0"/>
                </a:defRPr>
              </a:lvl1pPr>
            </a:lstStyle>
            <a:p>
              <a:r>
                <a:rPr lang="en-US" altLang="zh-CN" sz="1200" dirty="0">
                  <a:ea typeface="方正兰亭黑简体" panose="02000000000000000000" pitchFamily="2" charset="-122"/>
                  <a:cs typeface="+mn-ea"/>
                  <a:sym typeface="Huawei Sans" panose="020C0503030203020204" pitchFamily="34" charset="0"/>
                </a:rPr>
                <a:t>PIC</a:t>
              </a:r>
              <a:endParaRPr lang="zh-CN" altLang="en-US" sz="1200" dirty="0">
                <a:ea typeface="方正兰亭黑简体" panose="02000000000000000000" pitchFamily="2" charset="-122"/>
                <a:cs typeface="+mn-ea"/>
                <a:sym typeface="Huawei Sans" panose="020C0503030203020204" pitchFamily="34" charset="0"/>
              </a:endParaRPr>
            </a:p>
          </p:txBody>
        </p:sp>
        <p:sp>
          <p:nvSpPr>
            <p:cNvPr id="114" name="矩形 289">
              <a:extLst>
                <a:ext uri="{FF2B5EF4-FFF2-40B4-BE49-F238E27FC236}">
                  <a16:creationId xmlns="" xmlns:a16="http://schemas.microsoft.com/office/drawing/2014/main" id="{A4F44BC9-1F38-4C72-A6D0-8AD3D6ADC0FC}"/>
                </a:ext>
              </a:extLst>
            </p:cNvPr>
            <p:cNvSpPr/>
            <p:nvPr/>
          </p:nvSpPr>
          <p:spPr bwMode="gray">
            <a:xfrm>
              <a:off x="10637179" y="3718624"/>
              <a:ext cx="507922" cy="1187868"/>
            </a:xfrm>
            <a:prstGeom prst="rect">
              <a:avLst/>
            </a:prstGeom>
            <a:solidFill>
              <a:srgbClr val="1AABE2">
                <a:alpha val="2000"/>
              </a:srgbClr>
            </a:solidFill>
            <a:ln w="9525" cap="flat" cmpd="sng" algn="ctr">
              <a:solidFill>
                <a:srgbClr val="8CD5F0">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5" name="矩形 290">
              <a:extLst>
                <a:ext uri="{FF2B5EF4-FFF2-40B4-BE49-F238E27FC236}">
                  <a16:creationId xmlns="" xmlns:a16="http://schemas.microsoft.com/office/drawing/2014/main" id="{B909AAD5-4126-4E53-8532-576C992C956C}"/>
                </a:ext>
              </a:extLst>
            </p:cNvPr>
            <p:cNvSpPr/>
            <p:nvPr/>
          </p:nvSpPr>
          <p:spPr bwMode="gray">
            <a:xfrm>
              <a:off x="9638846" y="3718624"/>
              <a:ext cx="953627" cy="1187868"/>
            </a:xfrm>
            <a:prstGeom prst="rect">
              <a:avLst/>
            </a:prstGeom>
            <a:solidFill>
              <a:srgbClr val="1AABE2">
                <a:alpha val="2000"/>
              </a:srgbClr>
            </a:solidFill>
            <a:ln w="9525" cap="flat" cmpd="sng" algn="ctr">
              <a:solidFill>
                <a:srgbClr val="8CD5F0">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6" name="文本框 293">
              <a:extLst>
                <a:ext uri="{FF2B5EF4-FFF2-40B4-BE49-F238E27FC236}">
                  <a16:creationId xmlns="" xmlns:a16="http://schemas.microsoft.com/office/drawing/2014/main" id="{B8C53ADC-A344-4F63-BB67-BDD8B49FFED4}"/>
                </a:ext>
              </a:extLst>
            </p:cNvPr>
            <p:cNvSpPr txBox="1"/>
            <p:nvPr/>
          </p:nvSpPr>
          <p:spPr bwMode="gray">
            <a:xfrm>
              <a:off x="8045904" y="4236046"/>
              <a:ext cx="369332" cy="210955"/>
            </a:xfrm>
            <a:prstGeom prst="rect">
              <a:avLst/>
            </a:prstGeom>
            <a:noFill/>
          </p:spPr>
          <p:txBody>
            <a:bodyPr vert="eaVert" wrap="none" rtlCol="0">
              <a:spAutoFit/>
            </a:bodyPr>
            <a:lstStyle/>
            <a:p>
              <a:pPr>
                <a:buClr>
                  <a:srgbClr val="CC9900"/>
                </a:buClr>
                <a:defRPr/>
              </a:pPr>
              <a:r>
                <a:rPr lang="en-US" altLang="zh-CN"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1"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7" name="流程图: 汇总连接 294">
              <a:extLst>
                <a:ext uri="{FF2B5EF4-FFF2-40B4-BE49-F238E27FC236}">
                  <a16:creationId xmlns="" xmlns:a16="http://schemas.microsoft.com/office/drawing/2014/main" id="{E308ECCF-62ED-4829-9BE0-3DF3C9C310B7}"/>
                </a:ext>
              </a:extLst>
            </p:cNvPr>
            <p:cNvSpPr/>
            <p:nvPr/>
          </p:nvSpPr>
          <p:spPr bwMode="gray">
            <a:xfrm>
              <a:off x="8110445" y="3841750"/>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8" name="流程图: 汇总连接 295">
              <a:extLst>
                <a:ext uri="{FF2B5EF4-FFF2-40B4-BE49-F238E27FC236}">
                  <a16:creationId xmlns="" xmlns:a16="http://schemas.microsoft.com/office/drawing/2014/main" id="{68B66C93-3C82-4F6E-8F02-1739641682A1}"/>
                </a:ext>
              </a:extLst>
            </p:cNvPr>
            <p:cNvSpPr/>
            <p:nvPr/>
          </p:nvSpPr>
          <p:spPr bwMode="gray">
            <a:xfrm>
              <a:off x="8603922" y="3841750"/>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9" name="矩形 296">
              <a:extLst>
                <a:ext uri="{FF2B5EF4-FFF2-40B4-BE49-F238E27FC236}">
                  <a16:creationId xmlns="" xmlns:a16="http://schemas.microsoft.com/office/drawing/2014/main" id="{0587E60A-CB3F-406C-83DF-2EA64BF3ABA2}"/>
                </a:ext>
              </a:extLst>
            </p:cNvPr>
            <p:cNvSpPr/>
            <p:nvPr/>
          </p:nvSpPr>
          <p:spPr bwMode="gray">
            <a:xfrm>
              <a:off x="8136415" y="3657506"/>
              <a:ext cx="201979"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20" name="直接连接符 297">
              <a:extLst>
                <a:ext uri="{FF2B5EF4-FFF2-40B4-BE49-F238E27FC236}">
                  <a16:creationId xmlns="" xmlns:a16="http://schemas.microsoft.com/office/drawing/2014/main" id="{6E0501A3-DA38-4834-B7AD-962FCE6B3BC9}"/>
                </a:ext>
              </a:extLst>
            </p:cNvPr>
            <p:cNvCxnSpPr>
              <a:stCxn id="117" idx="6"/>
              <a:endCxn id="118" idx="2"/>
            </p:cNvCxnSpPr>
            <p:nvPr/>
          </p:nvCxnSpPr>
          <p:spPr bwMode="gray">
            <a:xfrm>
              <a:off x="8293834" y="3920941"/>
              <a:ext cx="310088"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矩形 298">
              <a:extLst>
                <a:ext uri="{FF2B5EF4-FFF2-40B4-BE49-F238E27FC236}">
                  <a16:creationId xmlns="" xmlns:a16="http://schemas.microsoft.com/office/drawing/2014/main" id="{7626AE1A-A7D5-42E4-B16A-9A1BA0E254C6}"/>
                </a:ext>
              </a:extLst>
            </p:cNvPr>
            <p:cNvSpPr/>
            <p:nvPr/>
          </p:nvSpPr>
          <p:spPr bwMode="gray">
            <a:xfrm>
              <a:off x="8595429" y="3657506"/>
              <a:ext cx="200376"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2" name="矩形 299">
              <a:extLst>
                <a:ext uri="{FF2B5EF4-FFF2-40B4-BE49-F238E27FC236}">
                  <a16:creationId xmlns="" xmlns:a16="http://schemas.microsoft.com/office/drawing/2014/main" id="{881AB237-CE32-40DA-971A-284F66810F73}"/>
                </a:ext>
              </a:extLst>
            </p:cNvPr>
            <p:cNvSpPr/>
            <p:nvPr/>
          </p:nvSpPr>
          <p:spPr bwMode="gray">
            <a:xfrm>
              <a:off x="7011827" y="3665788"/>
              <a:ext cx="1540475" cy="506821"/>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23" name="直接连接符 300">
              <a:extLst>
                <a:ext uri="{FF2B5EF4-FFF2-40B4-BE49-F238E27FC236}">
                  <a16:creationId xmlns="" xmlns:a16="http://schemas.microsoft.com/office/drawing/2014/main" id="{ABCB214A-3605-4BEA-BF3D-21991FBFF708}"/>
                </a:ext>
              </a:extLst>
            </p:cNvPr>
            <p:cNvCxnSpPr>
              <a:stCxn id="118" idx="6"/>
              <a:endCxn id="125" idx="1"/>
            </p:cNvCxnSpPr>
            <p:nvPr/>
          </p:nvCxnSpPr>
          <p:spPr bwMode="gray">
            <a:xfrm>
              <a:off x="8787312" y="3920941"/>
              <a:ext cx="462704" cy="0"/>
            </a:xfrm>
            <a:prstGeom prst="line">
              <a:avLst/>
            </a:prstGeom>
            <a:noFill/>
            <a:ln w="9525" cap="flat" cmpd="sng" algn="ctr">
              <a:solidFill>
                <a:schemeClr val="bg1">
                  <a:lumMod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 name="直接连接符 301">
              <a:extLst>
                <a:ext uri="{FF2B5EF4-FFF2-40B4-BE49-F238E27FC236}">
                  <a16:creationId xmlns="" xmlns:a16="http://schemas.microsoft.com/office/drawing/2014/main" id="{CED98F76-B803-43B8-A49F-34782BE3D711}"/>
                </a:ext>
              </a:extLst>
            </p:cNvPr>
            <p:cNvCxnSpPr>
              <a:stCxn id="134" idx="6"/>
              <a:endCxn id="132" idx="1"/>
            </p:cNvCxnSpPr>
            <p:nvPr/>
          </p:nvCxnSpPr>
          <p:spPr bwMode="gray">
            <a:xfrm flipV="1">
              <a:off x="8787312" y="4698771"/>
              <a:ext cx="525622" cy="6119"/>
            </a:xfrm>
            <a:prstGeom prst="line">
              <a:avLst/>
            </a:prstGeom>
            <a:noFill/>
            <a:ln w="9525" cap="flat" cmpd="sng" algn="ctr">
              <a:solidFill>
                <a:schemeClr val="bg1">
                  <a:lumMod val="50000"/>
                </a:schemeClr>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5" name="圆角矩形 302">
              <a:extLst>
                <a:ext uri="{FF2B5EF4-FFF2-40B4-BE49-F238E27FC236}">
                  <a16:creationId xmlns="" xmlns:a16="http://schemas.microsoft.com/office/drawing/2014/main" id="{39676100-FDD7-4C47-A762-21D7813CDBD6}"/>
                </a:ext>
              </a:extLst>
            </p:cNvPr>
            <p:cNvSpPr/>
            <p:nvPr/>
          </p:nvSpPr>
          <p:spPr bwMode="gray">
            <a:xfrm>
              <a:off x="9250016" y="3794235"/>
              <a:ext cx="1249970" cy="253410"/>
            </a:xfrm>
            <a:prstGeom prst="roundRect">
              <a:avLst>
                <a:gd name="adj" fmla="val 50000"/>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buClr>
                  <a:srgbClr val="CC9900"/>
                </a:buClr>
                <a:defRP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FlexE Client</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6" name="矩形 303">
              <a:extLst>
                <a:ext uri="{FF2B5EF4-FFF2-40B4-BE49-F238E27FC236}">
                  <a16:creationId xmlns="" xmlns:a16="http://schemas.microsoft.com/office/drawing/2014/main" id="{1A07216D-6839-4E47-83EE-1388D6ED20A6}"/>
                </a:ext>
              </a:extLst>
            </p:cNvPr>
            <p:cNvSpPr/>
            <p:nvPr/>
          </p:nvSpPr>
          <p:spPr bwMode="gray">
            <a:xfrm>
              <a:off x="9097473" y="3665787"/>
              <a:ext cx="2102116" cy="1295820"/>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7" name="任意多边形 304">
              <a:extLst>
                <a:ext uri="{FF2B5EF4-FFF2-40B4-BE49-F238E27FC236}">
                  <a16:creationId xmlns="" xmlns:a16="http://schemas.microsoft.com/office/drawing/2014/main" id="{A65619F4-D766-4D40-BF88-6681CF2FA944}"/>
                </a:ext>
              </a:extLst>
            </p:cNvPr>
            <p:cNvSpPr/>
            <p:nvPr/>
          </p:nvSpPr>
          <p:spPr bwMode="gray">
            <a:xfrm>
              <a:off x="6724848" y="3845455"/>
              <a:ext cx="476814" cy="97201"/>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8" name="矩形 305">
              <a:extLst>
                <a:ext uri="{FF2B5EF4-FFF2-40B4-BE49-F238E27FC236}">
                  <a16:creationId xmlns="" xmlns:a16="http://schemas.microsoft.com/office/drawing/2014/main" id="{80485C07-14C8-4D8C-9038-6D429DC6896B}"/>
                </a:ext>
              </a:extLst>
            </p:cNvPr>
            <p:cNvSpPr/>
            <p:nvPr/>
          </p:nvSpPr>
          <p:spPr bwMode="gray">
            <a:xfrm>
              <a:off x="9751692" y="4300169"/>
              <a:ext cx="763029"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FlexE Shim</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9" name="矩形 306">
              <a:extLst>
                <a:ext uri="{FF2B5EF4-FFF2-40B4-BE49-F238E27FC236}">
                  <a16:creationId xmlns="" xmlns:a16="http://schemas.microsoft.com/office/drawing/2014/main" id="{A4002522-208B-4B09-861F-FE7BCA991278}"/>
                </a:ext>
              </a:extLst>
            </p:cNvPr>
            <p:cNvSpPr/>
            <p:nvPr/>
          </p:nvSpPr>
          <p:spPr bwMode="gray">
            <a:xfrm>
              <a:off x="10745267" y="4312528"/>
              <a:ext cx="291747"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PHY</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0" name="矩形 307">
              <a:extLst>
                <a:ext uri="{FF2B5EF4-FFF2-40B4-BE49-F238E27FC236}">
                  <a16:creationId xmlns="" xmlns:a16="http://schemas.microsoft.com/office/drawing/2014/main" id="{AE8085CF-ED1E-4138-9D82-109CF8FA65F6}"/>
                </a:ext>
              </a:extLst>
            </p:cNvPr>
            <p:cNvSpPr/>
            <p:nvPr/>
          </p:nvSpPr>
          <p:spPr bwMode="gray">
            <a:xfrm>
              <a:off x="7285062" y="3747748"/>
              <a:ext cx="262893"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1" name="矩形 308">
              <a:extLst>
                <a:ext uri="{FF2B5EF4-FFF2-40B4-BE49-F238E27FC236}">
                  <a16:creationId xmlns="" xmlns:a16="http://schemas.microsoft.com/office/drawing/2014/main" id="{58280A90-3C7C-4B87-A253-A35F5ABDE9BD}"/>
                </a:ext>
              </a:extLst>
            </p:cNvPr>
            <p:cNvSpPr/>
            <p:nvPr/>
          </p:nvSpPr>
          <p:spPr bwMode="gray">
            <a:xfrm>
              <a:off x="7356938" y="3976048"/>
              <a:ext cx="177934"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2" name="圆角矩形 309">
              <a:extLst>
                <a:ext uri="{FF2B5EF4-FFF2-40B4-BE49-F238E27FC236}">
                  <a16:creationId xmlns="" xmlns:a16="http://schemas.microsoft.com/office/drawing/2014/main" id="{463459C0-3DD1-48C8-9174-EEBEF1213552}"/>
                </a:ext>
              </a:extLst>
            </p:cNvPr>
            <p:cNvSpPr/>
            <p:nvPr/>
          </p:nvSpPr>
          <p:spPr bwMode="gray">
            <a:xfrm>
              <a:off x="9312934" y="4578184"/>
              <a:ext cx="1187053" cy="241173"/>
            </a:xfrm>
            <a:prstGeom prst="roundRect">
              <a:avLst>
                <a:gd name="adj" fmla="val 50000"/>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FlexE Client</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3" name="流程图: 汇总连接 310">
              <a:extLst>
                <a:ext uri="{FF2B5EF4-FFF2-40B4-BE49-F238E27FC236}">
                  <a16:creationId xmlns="" xmlns:a16="http://schemas.microsoft.com/office/drawing/2014/main" id="{CF8E489F-51E9-4B6F-9709-A9D91F4B1934}"/>
                </a:ext>
              </a:extLst>
            </p:cNvPr>
            <p:cNvSpPr/>
            <p:nvPr/>
          </p:nvSpPr>
          <p:spPr bwMode="gray">
            <a:xfrm>
              <a:off x="8110445" y="4625699"/>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 name="流程图: 汇总连接 311">
              <a:extLst>
                <a:ext uri="{FF2B5EF4-FFF2-40B4-BE49-F238E27FC236}">
                  <a16:creationId xmlns="" xmlns:a16="http://schemas.microsoft.com/office/drawing/2014/main" id="{0A5A89F7-531B-4BD9-8BE9-DD7F9EAEE949}"/>
                </a:ext>
              </a:extLst>
            </p:cNvPr>
            <p:cNvSpPr/>
            <p:nvPr/>
          </p:nvSpPr>
          <p:spPr bwMode="gray">
            <a:xfrm>
              <a:off x="8603922" y="4625699"/>
              <a:ext cx="183390" cy="158382"/>
            </a:xfrm>
            <a:prstGeom prst="flowChartSummingJunction">
              <a:avLst/>
            </a:prstGeom>
            <a:noFill/>
            <a:ln w="9525" cap="flat" cmpd="sng" algn="ctr">
              <a:solidFill>
                <a:srgbClr val="1AABE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 name="矩形 312">
              <a:extLst>
                <a:ext uri="{FF2B5EF4-FFF2-40B4-BE49-F238E27FC236}">
                  <a16:creationId xmlns="" xmlns:a16="http://schemas.microsoft.com/office/drawing/2014/main" id="{67B7A38D-0F99-4BE5-B976-F35D10B2BFF0}"/>
                </a:ext>
              </a:extLst>
            </p:cNvPr>
            <p:cNvSpPr/>
            <p:nvPr/>
          </p:nvSpPr>
          <p:spPr bwMode="gray">
            <a:xfrm>
              <a:off x="8136415" y="4441455"/>
              <a:ext cx="201979"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SQ</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6" name="直接连接符 313">
              <a:extLst>
                <a:ext uri="{FF2B5EF4-FFF2-40B4-BE49-F238E27FC236}">
                  <a16:creationId xmlns="" xmlns:a16="http://schemas.microsoft.com/office/drawing/2014/main" id="{C2EA4258-1696-42EA-BBB6-305852DAB8C7}"/>
                </a:ext>
              </a:extLst>
            </p:cNvPr>
            <p:cNvCxnSpPr>
              <a:stCxn id="133" idx="6"/>
              <a:endCxn id="134" idx="2"/>
            </p:cNvCxnSpPr>
            <p:nvPr/>
          </p:nvCxnSpPr>
          <p:spPr bwMode="gray">
            <a:xfrm>
              <a:off x="8293834" y="4704890"/>
              <a:ext cx="310088" cy="0"/>
            </a:xfrm>
            <a:prstGeom prst="line">
              <a:avLst/>
            </a:prstGeom>
            <a:noFill/>
            <a:ln w="9525" cap="flat" cmpd="sng" algn="ctr">
              <a:solidFill>
                <a:schemeClr val="bg1">
                  <a:lumMod val="50000"/>
                </a:schemeClr>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 name="矩形 314">
              <a:extLst>
                <a:ext uri="{FF2B5EF4-FFF2-40B4-BE49-F238E27FC236}">
                  <a16:creationId xmlns="" xmlns:a16="http://schemas.microsoft.com/office/drawing/2014/main" id="{FF74B4AA-687B-4C07-86CC-43AAC0D4E149}"/>
                </a:ext>
              </a:extLst>
            </p:cNvPr>
            <p:cNvSpPr/>
            <p:nvPr/>
          </p:nvSpPr>
          <p:spPr bwMode="gray">
            <a:xfrm>
              <a:off x="8595429" y="4441455"/>
              <a:ext cx="200376"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DP</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 name="矩形 315">
              <a:extLst>
                <a:ext uri="{FF2B5EF4-FFF2-40B4-BE49-F238E27FC236}">
                  <a16:creationId xmlns="" xmlns:a16="http://schemas.microsoft.com/office/drawing/2014/main" id="{B170F0F6-037A-4283-93FD-46FB39E64143}"/>
                </a:ext>
              </a:extLst>
            </p:cNvPr>
            <p:cNvSpPr/>
            <p:nvPr/>
          </p:nvSpPr>
          <p:spPr bwMode="gray">
            <a:xfrm>
              <a:off x="7011827" y="4449737"/>
              <a:ext cx="1540475" cy="506821"/>
            </a:xfrm>
            <a:prstGeom prst="rect">
              <a:avLst/>
            </a:prstGeom>
            <a:noFill/>
            <a:ln w="9525" cap="flat" cmpd="sng" algn="ctr">
              <a:solidFill>
                <a:srgbClr val="8CD5F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defRPr/>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9" name="任意多边形 316">
              <a:extLst>
                <a:ext uri="{FF2B5EF4-FFF2-40B4-BE49-F238E27FC236}">
                  <a16:creationId xmlns="" xmlns:a16="http://schemas.microsoft.com/office/drawing/2014/main" id="{CE0A8440-BBB8-4276-9B74-97620B30858C}"/>
                </a:ext>
              </a:extLst>
            </p:cNvPr>
            <p:cNvSpPr/>
            <p:nvPr/>
          </p:nvSpPr>
          <p:spPr bwMode="gray">
            <a:xfrm>
              <a:off x="6724848" y="4629404"/>
              <a:ext cx="476814" cy="97201"/>
            </a:xfrm>
            <a:custGeom>
              <a:avLst/>
              <a:gdLst>
                <a:gd name="connsiteX0" fmla="*/ 0 w 590550"/>
                <a:gd name="connsiteY0" fmla="*/ 104775 h 112183"/>
                <a:gd name="connsiteX1" fmla="*/ 171450 w 590550"/>
                <a:gd name="connsiteY1" fmla="*/ 0 h 112183"/>
                <a:gd name="connsiteX2" fmla="*/ 409575 w 590550"/>
                <a:gd name="connsiteY2" fmla="*/ 104775 h 112183"/>
                <a:gd name="connsiteX3" fmla="*/ 590550 w 590550"/>
                <a:gd name="connsiteY3" fmla="*/ 95250 h 112183"/>
              </a:gdLst>
              <a:ahLst/>
              <a:cxnLst>
                <a:cxn ang="0">
                  <a:pos x="connsiteX0" y="connsiteY0"/>
                </a:cxn>
                <a:cxn ang="0">
                  <a:pos x="connsiteX1" y="connsiteY1"/>
                </a:cxn>
                <a:cxn ang="0">
                  <a:pos x="connsiteX2" y="connsiteY2"/>
                </a:cxn>
                <a:cxn ang="0">
                  <a:pos x="connsiteX3" y="connsiteY3"/>
                </a:cxn>
              </a:cxnLst>
              <a:rect l="l" t="t" r="r" b="b"/>
              <a:pathLst>
                <a:path w="590550" h="112183">
                  <a:moveTo>
                    <a:pt x="0" y="104775"/>
                  </a:moveTo>
                  <a:cubicBezTo>
                    <a:pt x="51594" y="52387"/>
                    <a:pt x="103188" y="0"/>
                    <a:pt x="171450" y="0"/>
                  </a:cubicBezTo>
                  <a:cubicBezTo>
                    <a:pt x="239712" y="0"/>
                    <a:pt x="339725" y="88900"/>
                    <a:pt x="409575" y="104775"/>
                  </a:cubicBezTo>
                  <a:cubicBezTo>
                    <a:pt x="479425" y="120650"/>
                    <a:pt x="534987" y="107950"/>
                    <a:pt x="590550" y="95250"/>
                  </a:cubicBezTo>
                </a:path>
              </a:pathLst>
            </a:custGeom>
            <a:noFill/>
            <a:ln w="9525" cap="flat" cmpd="sng" algn="ctr">
              <a:solidFill>
                <a:srgbClr val="EC706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0" name="矩形 317">
              <a:extLst>
                <a:ext uri="{FF2B5EF4-FFF2-40B4-BE49-F238E27FC236}">
                  <a16:creationId xmlns="" xmlns:a16="http://schemas.microsoft.com/office/drawing/2014/main" id="{18CD414A-8A48-4069-AAF0-5A7FF91E259F}"/>
                </a:ext>
              </a:extLst>
            </p:cNvPr>
            <p:cNvSpPr/>
            <p:nvPr/>
          </p:nvSpPr>
          <p:spPr bwMode="gray">
            <a:xfrm>
              <a:off x="7285062" y="4548459"/>
              <a:ext cx="262893"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CS7</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1" name="矩形 318">
              <a:extLst>
                <a:ext uri="{FF2B5EF4-FFF2-40B4-BE49-F238E27FC236}">
                  <a16:creationId xmlns="" xmlns:a16="http://schemas.microsoft.com/office/drawing/2014/main" id="{AB669211-BE3E-48BF-91D8-3D0CAD9A0A9F}"/>
                </a:ext>
              </a:extLst>
            </p:cNvPr>
            <p:cNvSpPr/>
            <p:nvPr/>
          </p:nvSpPr>
          <p:spPr bwMode="gray">
            <a:xfrm>
              <a:off x="7356938" y="4759997"/>
              <a:ext cx="177934"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BE</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42" name="组合 319">
              <a:extLst>
                <a:ext uri="{FF2B5EF4-FFF2-40B4-BE49-F238E27FC236}">
                  <a16:creationId xmlns="" xmlns:a16="http://schemas.microsoft.com/office/drawing/2014/main" id="{12BD52B8-AB8A-432C-BCC4-5CEE734BC5B0}"/>
                </a:ext>
              </a:extLst>
            </p:cNvPr>
            <p:cNvGrpSpPr/>
            <p:nvPr/>
          </p:nvGrpSpPr>
          <p:grpSpPr bwMode="gray">
            <a:xfrm>
              <a:off x="7642838" y="3766195"/>
              <a:ext cx="402516" cy="316763"/>
              <a:chOff x="6796081" y="1776846"/>
              <a:chExt cx="395076" cy="345115"/>
            </a:xfrm>
          </p:grpSpPr>
          <p:sp>
            <p:nvSpPr>
              <p:cNvPr id="143" name="圆角矩形 199">
                <a:extLst>
                  <a:ext uri="{FF2B5EF4-FFF2-40B4-BE49-F238E27FC236}">
                    <a16:creationId xmlns="" xmlns:a16="http://schemas.microsoft.com/office/drawing/2014/main" id="{8BB5E234-1D03-4A81-8B59-0D67325FFC66}"/>
                  </a:ext>
                </a:extLst>
              </p:cNvPr>
              <p:cNvSpPr/>
              <p:nvPr/>
            </p:nvSpPr>
            <p:spPr bwMode="gray">
              <a:xfrm>
                <a:off x="6796081" y="177684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 name="圆角矩形 200">
                <a:extLst>
                  <a:ext uri="{FF2B5EF4-FFF2-40B4-BE49-F238E27FC236}">
                    <a16:creationId xmlns="" xmlns:a16="http://schemas.microsoft.com/office/drawing/2014/main" id="{30C9A919-2C31-495B-84C6-9EFDC2279806}"/>
                  </a:ext>
                </a:extLst>
              </p:cNvPr>
              <p:cNvSpPr/>
              <p:nvPr/>
            </p:nvSpPr>
            <p:spPr bwMode="gray">
              <a:xfrm>
                <a:off x="6796081" y="182306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 name="圆角矩形 201">
                <a:extLst>
                  <a:ext uri="{FF2B5EF4-FFF2-40B4-BE49-F238E27FC236}">
                    <a16:creationId xmlns="" xmlns:a16="http://schemas.microsoft.com/office/drawing/2014/main" id="{B5A2B217-14D0-4D40-9AFA-1BD864754BDD}"/>
                  </a:ext>
                </a:extLst>
              </p:cNvPr>
              <p:cNvSpPr/>
              <p:nvPr/>
            </p:nvSpPr>
            <p:spPr bwMode="gray">
              <a:xfrm>
                <a:off x="6796081" y="1869278"/>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 name="圆角矩形 202">
                <a:extLst>
                  <a:ext uri="{FF2B5EF4-FFF2-40B4-BE49-F238E27FC236}">
                    <a16:creationId xmlns="" xmlns:a16="http://schemas.microsoft.com/office/drawing/2014/main" id="{C9F7E9CE-3355-4128-AC8A-0ED85C21DBEF}"/>
                  </a:ext>
                </a:extLst>
              </p:cNvPr>
              <p:cNvSpPr/>
              <p:nvPr/>
            </p:nvSpPr>
            <p:spPr bwMode="gray">
              <a:xfrm>
                <a:off x="6796081" y="1915494"/>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7" name="圆角矩形 203">
                <a:extLst>
                  <a:ext uri="{FF2B5EF4-FFF2-40B4-BE49-F238E27FC236}">
                    <a16:creationId xmlns="" xmlns:a16="http://schemas.microsoft.com/office/drawing/2014/main" id="{ECDFE67C-DDF8-42F1-BA21-0C01CCDC1684}"/>
                  </a:ext>
                </a:extLst>
              </p:cNvPr>
              <p:cNvSpPr/>
              <p:nvPr/>
            </p:nvSpPr>
            <p:spPr bwMode="gray">
              <a:xfrm>
                <a:off x="6796081" y="1961710"/>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8" name="圆角矩形 204">
                <a:extLst>
                  <a:ext uri="{FF2B5EF4-FFF2-40B4-BE49-F238E27FC236}">
                    <a16:creationId xmlns="" xmlns:a16="http://schemas.microsoft.com/office/drawing/2014/main" id="{19328646-CDF9-4A84-ADC1-B37063AE668B}"/>
                  </a:ext>
                </a:extLst>
              </p:cNvPr>
              <p:cNvSpPr/>
              <p:nvPr/>
            </p:nvSpPr>
            <p:spPr bwMode="gray">
              <a:xfrm>
                <a:off x="6796081" y="200792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9" name="圆角矩形 205">
                <a:extLst>
                  <a:ext uri="{FF2B5EF4-FFF2-40B4-BE49-F238E27FC236}">
                    <a16:creationId xmlns="" xmlns:a16="http://schemas.microsoft.com/office/drawing/2014/main" id="{87AFF31C-4E2B-41BF-94BF-5744027667E5}"/>
                  </a:ext>
                </a:extLst>
              </p:cNvPr>
              <p:cNvSpPr/>
              <p:nvPr/>
            </p:nvSpPr>
            <p:spPr bwMode="gray">
              <a:xfrm>
                <a:off x="6796081" y="205414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0" name="圆角矩形 206">
                <a:extLst>
                  <a:ext uri="{FF2B5EF4-FFF2-40B4-BE49-F238E27FC236}">
                    <a16:creationId xmlns="" xmlns:a16="http://schemas.microsoft.com/office/drawing/2014/main" id="{CCDCF807-4662-400B-B879-F1F9D08BD944}"/>
                  </a:ext>
                </a:extLst>
              </p:cNvPr>
              <p:cNvSpPr/>
              <p:nvPr/>
            </p:nvSpPr>
            <p:spPr bwMode="gray">
              <a:xfrm>
                <a:off x="6796081" y="210036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151" name="组合 328">
              <a:extLst>
                <a:ext uri="{FF2B5EF4-FFF2-40B4-BE49-F238E27FC236}">
                  <a16:creationId xmlns="" xmlns:a16="http://schemas.microsoft.com/office/drawing/2014/main" id="{13548A9D-7977-4C2A-BAED-0B227F056F91}"/>
                </a:ext>
              </a:extLst>
            </p:cNvPr>
            <p:cNvGrpSpPr/>
            <p:nvPr/>
          </p:nvGrpSpPr>
          <p:grpSpPr bwMode="gray">
            <a:xfrm>
              <a:off x="7632936" y="4550626"/>
              <a:ext cx="402516" cy="316763"/>
              <a:chOff x="6796081" y="1776846"/>
              <a:chExt cx="395076" cy="345115"/>
            </a:xfrm>
          </p:grpSpPr>
          <p:sp>
            <p:nvSpPr>
              <p:cNvPr id="152" name="圆角矩形 199">
                <a:extLst>
                  <a:ext uri="{FF2B5EF4-FFF2-40B4-BE49-F238E27FC236}">
                    <a16:creationId xmlns="" xmlns:a16="http://schemas.microsoft.com/office/drawing/2014/main" id="{5382F86E-EC6F-4173-88C8-B750ABE8406E}"/>
                  </a:ext>
                </a:extLst>
              </p:cNvPr>
              <p:cNvSpPr/>
              <p:nvPr/>
            </p:nvSpPr>
            <p:spPr bwMode="gray">
              <a:xfrm>
                <a:off x="6796081" y="177684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3" name="圆角矩形 200">
                <a:extLst>
                  <a:ext uri="{FF2B5EF4-FFF2-40B4-BE49-F238E27FC236}">
                    <a16:creationId xmlns="" xmlns:a16="http://schemas.microsoft.com/office/drawing/2014/main" id="{0E2692F0-F0B9-4F23-9D9D-8617A8BFCFAA}"/>
                  </a:ext>
                </a:extLst>
              </p:cNvPr>
              <p:cNvSpPr/>
              <p:nvPr/>
            </p:nvSpPr>
            <p:spPr bwMode="gray">
              <a:xfrm>
                <a:off x="6796081" y="182306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4" name="圆角矩形 201">
                <a:extLst>
                  <a:ext uri="{FF2B5EF4-FFF2-40B4-BE49-F238E27FC236}">
                    <a16:creationId xmlns="" xmlns:a16="http://schemas.microsoft.com/office/drawing/2014/main" id="{650CD45A-E6AB-483A-A522-3F4E5FC5E875}"/>
                  </a:ext>
                </a:extLst>
              </p:cNvPr>
              <p:cNvSpPr/>
              <p:nvPr/>
            </p:nvSpPr>
            <p:spPr bwMode="gray">
              <a:xfrm>
                <a:off x="6796081" y="1869278"/>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5" name="圆角矩形 202">
                <a:extLst>
                  <a:ext uri="{FF2B5EF4-FFF2-40B4-BE49-F238E27FC236}">
                    <a16:creationId xmlns="" xmlns:a16="http://schemas.microsoft.com/office/drawing/2014/main" id="{F6E12EB0-6E46-4AF4-90F9-4B1240A9D5FF}"/>
                  </a:ext>
                </a:extLst>
              </p:cNvPr>
              <p:cNvSpPr/>
              <p:nvPr/>
            </p:nvSpPr>
            <p:spPr bwMode="gray">
              <a:xfrm>
                <a:off x="6796081" y="1915494"/>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6" name="圆角矩形 203">
                <a:extLst>
                  <a:ext uri="{FF2B5EF4-FFF2-40B4-BE49-F238E27FC236}">
                    <a16:creationId xmlns="" xmlns:a16="http://schemas.microsoft.com/office/drawing/2014/main" id="{6CDBBCB0-D437-4B6F-AAB8-1F6297058F64}"/>
                  </a:ext>
                </a:extLst>
              </p:cNvPr>
              <p:cNvSpPr/>
              <p:nvPr/>
            </p:nvSpPr>
            <p:spPr bwMode="gray">
              <a:xfrm>
                <a:off x="6796081" y="1961710"/>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 name="圆角矩形 204">
                <a:extLst>
                  <a:ext uri="{FF2B5EF4-FFF2-40B4-BE49-F238E27FC236}">
                    <a16:creationId xmlns="" xmlns:a16="http://schemas.microsoft.com/office/drawing/2014/main" id="{E52E5188-EF95-46BC-921E-85D1A3360B90}"/>
                  </a:ext>
                </a:extLst>
              </p:cNvPr>
              <p:cNvSpPr/>
              <p:nvPr/>
            </p:nvSpPr>
            <p:spPr bwMode="gray">
              <a:xfrm>
                <a:off x="6796081" y="2007926"/>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a:buClr>
                    <a:srgbClr val="CC9900"/>
                  </a:buClr>
                  <a:buFont typeface="Wingdings" pitchFamily="2" charset="2"/>
                  <a:buChar char="n"/>
                </a:pPr>
                <a:endParaRPr lang="zh-CN" altLang="en-US" sz="120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8" name="圆角矩形 205">
                <a:extLst>
                  <a:ext uri="{FF2B5EF4-FFF2-40B4-BE49-F238E27FC236}">
                    <a16:creationId xmlns="" xmlns:a16="http://schemas.microsoft.com/office/drawing/2014/main" id="{BC8D5A20-E12F-4B43-8BA0-DBB25DE9B3CD}"/>
                  </a:ext>
                </a:extLst>
              </p:cNvPr>
              <p:cNvSpPr/>
              <p:nvPr/>
            </p:nvSpPr>
            <p:spPr bwMode="gray">
              <a:xfrm>
                <a:off x="6796081" y="2054142"/>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9" name="圆角矩形 206">
                <a:extLst>
                  <a:ext uri="{FF2B5EF4-FFF2-40B4-BE49-F238E27FC236}">
                    <a16:creationId xmlns="" xmlns:a16="http://schemas.microsoft.com/office/drawing/2014/main" id="{243BD253-5FA6-438A-A980-6440F288227F}"/>
                  </a:ext>
                </a:extLst>
              </p:cNvPr>
              <p:cNvSpPr/>
              <p:nvPr/>
            </p:nvSpPr>
            <p:spPr bwMode="gray">
              <a:xfrm>
                <a:off x="6796081" y="2100361"/>
                <a:ext cx="395076" cy="21600"/>
              </a:xfrm>
              <a:prstGeom prst="roundRect">
                <a:avLst/>
              </a:prstGeom>
              <a:solidFill>
                <a:srgbClr val="D1EEF9"/>
              </a:solidFill>
              <a:ln>
                <a:noFill/>
              </a:ln>
              <a:effectLst/>
            </p:spPr>
            <p:txBody>
              <a:bodyPr vert="horz" wrap="square" lIns="91035" tIns="45518" rIns="91035" bIns="45518" numCol="1" rtlCol="0" anchor="t" anchorCtr="0" compatLnSpc="1">
                <a:prstTxWarp prst="textNoShape">
                  <a:avLst/>
                </a:prstTxWarp>
              </a:bodyPr>
              <a:lstStyle/>
              <a:p>
                <a:pPr defTabSz="910472">
                  <a:buClr>
                    <a:srgbClr val="CC9900"/>
                  </a:buClr>
                  <a:buFont typeface="Wingdings" pitchFamily="2" charset="2"/>
                  <a:buChar char="n"/>
                  <a:defRPr/>
                </a:pPr>
                <a:endParaRPr lang="zh-CN" altLang="en-US" sz="1200" kern="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160" name="矩形 337">
              <a:extLst>
                <a:ext uri="{FF2B5EF4-FFF2-40B4-BE49-F238E27FC236}">
                  <a16:creationId xmlns="" xmlns:a16="http://schemas.microsoft.com/office/drawing/2014/main" id="{F2BA418B-8AD1-41A4-95CC-3689AD456878}"/>
                </a:ext>
              </a:extLst>
            </p:cNvPr>
            <p:cNvSpPr/>
            <p:nvPr/>
          </p:nvSpPr>
          <p:spPr bwMode="gray">
            <a:xfrm>
              <a:off x="9180366" y="3695134"/>
              <a:ext cx="414134" cy="1211358"/>
            </a:xfrm>
            <a:prstGeom prst="rect">
              <a:avLst/>
            </a:prstGeom>
            <a:solidFill>
              <a:srgbClr val="1AABE2">
                <a:alpha val="2000"/>
              </a:srgbClr>
            </a:solidFill>
            <a:ln w="9525" cap="flat" cmpd="sng" algn="ctr">
              <a:solidFill>
                <a:srgbClr val="8CD5F0">
                  <a:alpha val="20000"/>
                </a:srgb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buClr>
                  <a:srgbClr val="CC9900"/>
                </a:buClr>
                <a:buFont typeface="Wingdings" pitchFamily="2" charset="2"/>
                <a:buChar char="n"/>
              </a:pPr>
              <a:endParaRPr lang="zh-CN" altLang="en-US" sz="1200" kern="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1" name="矩形 338">
              <a:extLst>
                <a:ext uri="{FF2B5EF4-FFF2-40B4-BE49-F238E27FC236}">
                  <a16:creationId xmlns="" xmlns:a16="http://schemas.microsoft.com/office/drawing/2014/main" id="{20A70005-A3FD-40DD-B50F-481A68642DD8}"/>
                </a:ext>
              </a:extLst>
            </p:cNvPr>
            <p:cNvSpPr/>
            <p:nvPr/>
          </p:nvSpPr>
          <p:spPr bwMode="gray">
            <a:xfrm>
              <a:off x="9202313" y="4312528"/>
              <a:ext cx="338234" cy="184666"/>
            </a:xfrm>
            <a:prstGeom prst="rect">
              <a:avLst/>
            </a:prstGeom>
            <a:ln>
              <a:noFill/>
            </a:ln>
          </p:spPr>
          <p:txBody>
            <a:bodyPr wrap="none" lIns="0" tIns="0" rIns="0" bIns="0" rtlCol="0" anchor="ctr">
              <a:spAutoFit/>
            </a:bodyPr>
            <a:lstStyle/>
            <a:p>
              <a:pPr algn="ctr">
                <a:buClr>
                  <a:srgbClr val="CC9900"/>
                </a:buClr>
              </a:pPr>
              <a:r>
                <a:rPr lang="en-US" altLang="zh-CN"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rPr>
                <a:t>MAC</a:t>
              </a:r>
              <a:endParaRPr lang="zh-CN" altLang="en-US" sz="1200" kern="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Tree>
    <p:extLst>
      <p:ext uri="{BB962C8B-B14F-4D97-AF65-F5344CB8AC3E}">
        <p14:creationId xmlns:p14="http://schemas.microsoft.com/office/powerpoint/2010/main" val="16176820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bwMode="gray"/>
        <p:txBody>
          <a:bodyPr/>
          <a:lstStyle/>
          <a:p>
            <a:r>
              <a:rPr lang="zh-CN" altLang="en-US" dirty="0"/>
              <a:t>网络切片设计</a:t>
            </a:r>
            <a:endParaRPr lang="en-US" dirty="0"/>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 Placeholder 7">
            <a:extLst>
              <a:ext uri="{FF2B5EF4-FFF2-40B4-BE49-F238E27FC236}">
                <a16:creationId xmlns="" xmlns:a16="http://schemas.microsoft.com/office/drawing/2014/main" id="{E82B5DB9-95BD-4461-B707-786663BF34A8}"/>
              </a:ext>
            </a:extLst>
          </p:cNvPr>
          <p:cNvSpPr>
            <a:spLocks noGrp="1"/>
          </p:cNvSpPr>
          <p:nvPr>
            <p:ph type="body" sz="quarter" idx="10"/>
          </p:nvPr>
        </p:nvSpPr>
        <p:spPr bwMode="gray">
          <a:xfrm>
            <a:off x="455612" y="1047750"/>
            <a:ext cx="11293475" cy="1007809"/>
          </a:xfrm>
        </p:spPr>
        <p:txBody>
          <a:bodyPr/>
          <a:lstStyle/>
          <a:p>
            <a:r>
              <a:rPr lang="zh-CN" altLang="en-US" sz="1800" dirty="0"/>
              <a:t>现有设备的网络切片主要基于带宽进行切片。</a:t>
            </a:r>
            <a:endParaRPr lang="en-US" altLang="zh-CN" sz="1800" dirty="0"/>
          </a:p>
          <a:p>
            <a:r>
              <a:rPr lang="zh-CN" altLang="en-US" sz="1800" dirty="0"/>
              <a:t>基于业务的实际需求，创建相应带宽的切片，并将</a:t>
            </a:r>
            <a:r>
              <a:rPr lang="en-US" altLang="zh-CN" sz="1800" dirty="0"/>
              <a:t>SR</a:t>
            </a:r>
            <a:r>
              <a:rPr lang="zh-CN" altLang="en-US" sz="1800" dirty="0"/>
              <a:t>隧道与切片进行绑定，使用特定切片承载</a:t>
            </a:r>
            <a:r>
              <a:rPr lang="en-US" altLang="zh-CN" sz="1800" dirty="0"/>
              <a:t>SR</a:t>
            </a:r>
            <a:r>
              <a:rPr lang="zh-CN" altLang="en-US" sz="1800" dirty="0"/>
              <a:t>隧道。</a:t>
            </a:r>
            <a:endParaRPr lang="en-US" sz="1800" dirty="0"/>
          </a:p>
        </p:txBody>
      </p:sp>
      <p:sp>
        <p:nvSpPr>
          <p:cNvPr id="162" name="梯形 41">
            <a:extLst>
              <a:ext uri="{FF2B5EF4-FFF2-40B4-BE49-F238E27FC236}">
                <a16:creationId xmlns="" xmlns:a16="http://schemas.microsoft.com/office/drawing/2014/main" id="{D2423B7C-31FB-42B7-B1DA-04ABD533AF85}"/>
              </a:ext>
            </a:extLst>
          </p:cNvPr>
          <p:cNvSpPr/>
          <p:nvPr/>
        </p:nvSpPr>
        <p:spPr bwMode="gray">
          <a:xfrm>
            <a:off x="767257" y="3865146"/>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3" name="图片 31">
            <a:extLst>
              <a:ext uri="{FF2B5EF4-FFF2-40B4-BE49-F238E27FC236}">
                <a16:creationId xmlns="" xmlns:a16="http://schemas.microsoft.com/office/drawing/2014/main" id="{5C2E9EF8-B5B7-44A7-8AA3-49158ABF078A}"/>
              </a:ext>
            </a:extLst>
          </p:cNvPr>
          <p:cNvPicPr>
            <a:picLocks noChangeAspect="1"/>
          </p:cNvPicPr>
          <p:nvPr/>
        </p:nvPicPr>
        <p:blipFill>
          <a:blip r:embed="rId3"/>
          <a:stretch>
            <a:fillRect/>
          </a:stretch>
        </p:blipFill>
        <p:spPr bwMode="gray">
          <a:xfrm>
            <a:off x="2365962" y="4146558"/>
            <a:ext cx="466668" cy="389308"/>
          </a:xfrm>
          <a:prstGeom prst="rect">
            <a:avLst/>
          </a:prstGeom>
        </p:spPr>
      </p:pic>
      <p:pic>
        <p:nvPicPr>
          <p:cNvPr id="164" name="图片 31">
            <a:extLst>
              <a:ext uri="{FF2B5EF4-FFF2-40B4-BE49-F238E27FC236}">
                <a16:creationId xmlns="" xmlns:a16="http://schemas.microsoft.com/office/drawing/2014/main" id="{E13882ED-A915-4BB8-9293-BBD6EB7DFDBA}"/>
              </a:ext>
            </a:extLst>
          </p:cNvPr>
          <p:cNvPicPr>
            <a:picLocks noChangeAspect="1"/>
          </p:cNvPicPr>
          <p:nvPr/>
        </p:nvPicPr>
        <p:blipFill>
          <a:blip r:embed="rId3"/>
          <a:stretch>
            <a:fillRect/>
          </a:stretch>
        </p:blipFill>
        <p:spPr bwMode="gray">
          <a:xfrm>
            <a:off x="1694279" y="5272847"/>
            <a:ext cx="466668" cy="389308"/>
          </a:xfrm>
          <a:prstGeom prst="rect">
            <a:avLst/>
          </a:prstGeom>
        </p:spPr>
      </p:pic>
      <p:pic>
        <p:nvPicPr>
          <p:cNvPr id="165" name="图片 25">
            <a:extLst>
              <a:ext uri="{FF2B5EF4-FFF2-40B4-BE49-F238E27FC236}">
                <a16:creationId xmlns="" xmlns:a16="http://schemas.microsoft.com/office/drawing/2014/main" id="{8D4F27D8-026E-4AD5-81D7-0C94027C3296}"/>
              </a:ext>
            </a:extLst>
          </p:cNvPr>
          <p:cNvPicPr>
            <a:picLocks noChangeAspect="1"/>
          </p:cNvPicPr>
          <p:nvPr/>
        </p:nvPicPr>
        <p:blipFill>
          <a:blip r:embed="rId3"/>
          <a:stretch>
            <a:fillRect/>
          </a:stretch>
        </p:blipFill>
        <p:spPr bwMode="gray">
          <a:xfrm>
            <a:off x="5940629" y="5275121"/>
            <a:ext cx="466668" cy="389308"/>
          </a:xfrm>
          <a:prstGeom prst="rect">
            <a:avLst/>
          </a:prstGeom>
        </p:spPr>
      </p:pic>
      <p:pic>
        <p:nvPicPr>
          <p:cNvPr id="166" name="图片 31">
            <a:extLst>
              <a:ext uri="{FF2B5EF4-FFF2-40B4-BE49-F238E27FC236}">
                <a16:creationId xmlns="" xmlns:a16="http://schemas.microsoft.com/office/drawing/2014/main" id="{6380AFD9-3AA2-4DF2-B6DA-6B1EC70BF17F}"/>
              </a:ext>
            </a:extLst>
          </p:cNvPr>
          <p:cNvPicPr>
            <a:picLocks noChangeAspect="1"/>
          </p:cNvPicPr>
          <p:nvPr/>
        </p:nvPicPr>
        <p:blipFill>
          <a:blip r:embed="rId3"/>
          <a:stretch>
            <a:fillRect/>
          </a:stretch>
        </p:blipFill>
        <p:spPr bwMode="gray">
          <a:xfrm>
            <a:off x="5148640" y="4146558"/>
            <a:ext cx="466668" cy="389308"/>
          </a:xfrm>
          <a:prstGeom prst="rect">
            <a:avLst/>
          </a:prstGeom>
        </p:spPr>
      </p:pic>
      <p:sp>
        <p:nvSpPr>
          <p:cNvPr id="167" name="TextBox 166">
            <a:extLst>
              <a:ext uri="{FF2B5EF4-FFF2-40B4-BE49-F238E27FC236}">
                <a16:creationId xmlns="" xmlns:a16="http://schemas.microsoft.com/office/drawing/2014/main" id="{F3987A5C-E87A-4057-987A-D32E378153C7}"/>
              </a:ext>
            </a:extLst>
          </p:cNvPr>
          <p:cNvSpPr txBox="1"/>
          <p:nvPr/>
        </p:nvSpPr>
        <p:spPr bwMode="gray">
          <a:xfrm>
            <a:off x="6204910" y="5767174"/>
            <a:ext cx="902811"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默认切片</a:t>
            </a:r>
          </a:p>
        </p:txBody>
      </p:sp>
      <p:cxnSp>
        <p:nvCxnSpPr>
          <p:cNvPr id="168" name="Straight Connector 167">
            <a:extLst>
              <a:ext uri="{FF2B5EF4-FFF2-40B4-BE49-F238E27FC236}">
                <a16:creationId xmlns="" xmlns:a16="http://schemas.microsoft.com/office/drawing/2014/main" id="{F21F9F5C-A401-423A-8BAA-68081D511914}"/>
              </a:ext>
            </a:extLst>
          </p:cNvPr>
          <p:cNvCxnSpPr>
            <a:cxnSpLocks/>
            <a:stCxn id="163" idx="3"/>
            <a:endCxn id="174" idx="1"/>
          </p:cNvCxnSpPr>
          <p:nvPr/>
        </p:nvCxnSpPr>
        <p:spPr bwMode="gray">
          <a:xfrm flipV="1">
            <a:off x="2832630" y="4338938"/>
            <a:ext cx="1014459"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 xmlns:a16="http://schemas.microsoft.com/office/drawing/2014/main" id="{97382841-2F9E-44B6-86E5-8CA25F245499}"/>
              </a:ext>
            </a:extLst>
          </p:cNvPr>
          <p:cNvCxnSpPr>
            <a:cxnSpLocks/>
            <a:stCxn id="164" idx="3"/>
            <a:endCxn id="174" idx="1"/>
          </p:cNvCxnSpPr>
          <p:nvPr/>
        </p:nvCxnSpPr>
        <p:spPr bwMode="gray">
          <a:xfrm flipV="1">
            <a:off x="2160947" y="4338938"/>
            <a:ext cx="1686142" cy="11285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 xmlns:a16="http://schemas.microsoft.com/office/drawing/2014/main" id="{982835B0-CFFE-4E8B-B01F-DC1EBE085D44}"/>
              </a:ext>
            </a:extLst>
          </p:cNvPr>
          <p:cNvCxnSpPr>
            <a:cxnSpLocks/>
            <a:stCxn id="164" idx="0"/>
            <a:endCxn id="163" idx="2"/>
          </p:cNvCxnSpPr>
          <p:nvPr/>
        </p:nvCxnSpPr>
        <p:spPr bwMode="gray">
          <a:xfrm flipV="1">
            <a:off x="1927613" y="4535866"/>
            <a:ext cx="671683" cy="7369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 xmlns:a16="http://schemas.microsoft.com/office/drawing/2014/main" id="{35CFF6ED-EF3A-4460-A024-CC5FC9A9F7C4}"/>
              </a:ext>
            </a:extLst>
          </p:cNvPr>
          <p:cNvCxnSpPr>
            <a:cxnSpLocks/>
            <a:stCxn id="164" idx="3"/>
            <a:endCxn id="175" idx="1"/>
          </p:cNvCxnSpPr>
          <p:nvPr/>
        </p:nvCxnSpPr>
        <p:spPr bwMode="gray">
          <a:xfrm>
            <a:off x="2160947" y="5467501"/>
            <a:ext cx="1681432" cy="86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 xmlns:a16="http://schemas.microsoft.com/office/drawing/2014/main" id="{9E78BAC8-B26E-4035-A077-2902D8E0DA1E}"/>
              </a:ext>
            </a:extLst>
          </p:cNvPr>
          <p:cNvCxnSpPr>
            <a:cxnSpLocks/>
            <a:stCxn id="165" idx="0"/>
            <a:endCxn id="166" idx="2"/>
          </p:cNvCxnSpPr>
          <p:nvPr/>
        </p:nvCxnSpPr>
        <p:spPr bwMode="gray">
          <a:xfrm flipH="1" flipV="1">
            <a:off x="5381974" y="4535866"/>
            <a:ext cx="791989" cy="7392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 xmlns:a16="http://schemas.microsoft.com/office/drawing/2014/main" id="{CB151A95-336B-4500-8F45-FC76621EF22A}"/>
              </a:ext>
            </a:extLst>
          </p:cNvPr>
          <p:cNvCxnSpPr>
            <a:cxnSpLocks/>
            <a:stCxn id="175" idx="1"/>
            <a:endCxn id="163" idx="3"/>
          </p:cNvCxnSpPr>
          <p:nvPr/>
        </p:nvCxnSpPr>
        <p:spPr bwMode="gray">
          <a:xfrm flipH="1" flipV="1">
            <a:off x="2832630" y="4341212"/>
            <a:ext cx="1009749"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74" name="图片 31">
            <a:extLst>
              <a:ext uri="{FF2B5EF4-FFF2-40B4-BE49-F238E27FC236}">
                <a16:creationId xmlns="" xmlns:a16="http://schemas.microsoft.com/office/drawing/2014/main" id="{7A1C3B81-8823-458A-8E08-BB4BA3F31A3F}"/>
              </a:ext>
            </a:extLst>
          </p:cNvPr>
          <p:cNvPicPr>
            <a:picLocks noChangeAspect="1"/>
          </p:cNvPicPr>
          <p:nvPr/>
        </p:nvPicPr>
        <p:blipFill>
          <a:blip r:embed="rId3"/>
          <a:stretch>
            <a:fillRect/>
          </a:stretch>
        </p:blipFill>
        <p:spPr bwMode="gray">
          <a:xfrm>
            <a:off x="3847089" y="4144284"/>
            <a:ext cx="466668" cy="389308"/>
          </a:xfrm>
          <a:prstGeom prst="rect">
            <a:avLst/>
          </a:prstGeom>
        </p:spPr>
      </p:pic>
      <p:pic>
        <p:nvPicPr>
          <p:cNvPr id="175" name="图片 31">
            <a:extLst>
              <a:ext uri="{FF2B5EF4-FFF2-40B4-BE49-F238E27FC236}">
                <a16:creationId xmlns="" xmlns:a16="http://schemas.microsoft.com/office/drawing/2014/main" id="{717C83B8-6396-4389-BCBD-18D2318B12F4}"/>
              </a:ext>
            </a:extLst>
          </p:cNvPr>
          <p:cNvPicPr>
            <a:picLocks noChangeAspect="1"/>
          </p:cNvPicPr>
          <p:nvPr/>
        </p:nvPicPr>
        <p:blipFill>
          <a:blip r:embed="rId3"/>
          <a:stretch>
            <a:fillRect/>
          </a:stretch>
        </p:blipFill>
        <p:spPr bwMode="gray">
          <a:xfrm>
            <a:off x="3842379" y="5281449"/>
            <a:ext cx="466668" cy="389308"/>
          </a:xfrm>
          <a:prstGeom prst="rect">
            <a:avLst/>
          </a:prstGeom>
        </p:spPr>
      </p:pic>
      <p:cxnSp>
        <p:nvCxnSpPr>
          <p:cNvPr id="176" name="Straight Connector 175">
            <a:extLst>
              <a:ext uri="{FF2B5EF4-FFF2-40B4-BE49-F238E27FC236}">
                <a16:creationId xmlns="" xmlns:a16="http://schemas.microsoft.com/office/drawing/2014/main" id="{31E44927-D786-4C62-A663-08A5EE34E00A}"/>
              </a:ext>
            </a:extLst>
          </p:cNvPr>
          <p:cNvCxnSpPr>
            <a:cxnSpLocks/>
            <a:stCxn id="175" idx="3"/>
            <a:endCxn id="165" idx="1"/>
          </p:cNvCxnSpPr>
          <p:nvPr/>
        </p:nvCxnSpPr>
        <p:spPr bwMode="gray">
          <a:xfrm flipV="1">
            <a:off x="4309047" y="5469775"/>
            <a:ext cx="1631582" cy="63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 xmlns:a16="http://schemas.microsoft.com/office/drawing/2014/main" id="{4338AB57-5129-491E-BCCB-A090D121035F}"/>
              </a:ext>
            </a:extLst>
          </p:cNvPr>
          <p:cNvCxnSpPr>
            <a:cxnSpLocks/>
            <a:stCxn id="166" idx="1"/>
            <a:endCxn id="174" idx="3"/>
          </p:cNvCxnSpPr>
          <p:nvPr/>
        </p:nvCxnSpPr>
        <p:spPr bwMode="gray">
          <a:xfrm flipH="1" flipV="1">
            <a:off x="4313757" y="4338938"/>
            <a:ext cx="834883"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 xmlns:a16="http://schemas.microsoft.com/office/drawing/2014/main" id="{8EEF5C80-A7DF-440C-93C7-E9255D3D7862}"/>
              </a:ext>
            </a:extLst>
          </p:cNvPr>
          <p:cNvCxnSpPr>
            <a:cxnSpLocks/>
            <a:stCxn id="175" idx="0"/>
            <a:endCxn id="174" idx="2"/>
          </p:cNvCxnSpPr>
          <p:nvPr/>
        </p:nvCxnSpPr>
        <p:spPr bwMode="gray">
          <a:xfrm flipV="1">
            <a:off x="4075713" y="4533592"/>
            <a:ext cx="4710" cy="7478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 xmlns:a16="http://schemas.microsoft.com/office/drawing/2014/main" id="{556DDBA4-5A36-4979-A2A3-334AB6F385B8}"/>
              </a:ext>
            </a:extLst>
          </p:cNvPr>
          <p:cNvCxnSpPr>
            <a:cxnSpLocks/>
            <a:stCxn id="175" idx="3"/>
            <a:endCxn id="166" idx="1"/>
          </p:cNvCxnSpPr>
          <p:nvPr/>
        </p:nvCxnSpPr>
        <p:spPr bwMode="gray">
          <a:xfrm flipV="1">
            <a:off x="4309047" y="4341212"/>
            <a:ext cx="839593"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 xmlns:a16="http://schemas.microsoft.com/office/drawing/2014/main" id="{F985DA1C-4F84-4E74-A535-5E868417BD9A}"/>
              </a:ext>
            </a:extLst>
          </p:cNvPr>
          <p:cNvCxnSpPr>
            <a:cxnSpLocks/>
            <a:stCxn id="165" idx="1"/>
            <a:endCxn id="174" idx="3"/>
          </p:cNvCxnSpPr>
          <p:nvPr/>
        </p:nvCxnSpPr>
        <p:spPr bwMode="gray">
          <a:xfrm flipH="1" flipV="1">
            <a:off x="4313757" y="4338938"/>
            <a:ext cx="1626872" cy="113083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 xmlns:a16="http://schemas.microsoft.com/office/drawing/2014/main" id="{19089627-4006-4604-9BE3-C7CC17A2818E}"/>
              </a:ext>
            </a:extLst>
          </p:cNvPr>
          <p:cNvCxnSpPr>
            <a:cxnSpLocks/>
          </p:cNvCxnSpPr>
          <p:nvPr/>
        </p:nvCxnSpPr>
        <p:spPr bwMode="gray">
          <a:xfrm flipV="1">
            <a:off x="2041639" y="4210026"/>
            <a:ext cx="1886118" cy="1261810"/>
          </a:xfrm>
          <a:prstGeom prst="line">
            <a:avLst/>
          </a:prstGeom>
          <a:ln w="5715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 xmlns:a16="http://schemas.microsoft.com/office/drawing/2014/main" id="{01FB9965-2120-418C-9415-90F831EBEF3E}"/>
              </a:ext>
            </a:extLst>
          </p:cNvPr>
          <p:cNvCxnSpPr>
            <a:cxnSpLocks/>
          </p:cNvCxnSpPr>
          <p:nvPr/>
        </p:nvCxnSpPr>
        <p:spPr bwMode="gray">
          <a:xfrm>
            <a:off x="3927757" y="4233529"/>
            <a:ext cx="1498327" cy="0"/>
          </a:xfrm>
          <a:prstGeom prst="line">
            <a:avLst/>
          </a:prstGeom>
          <a:ln w="5715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 xmlns:a16="http://schemas.microsoft.com/office/drawing/2014/main" id="{61A2EDE1-82DE-4573-8DFE-240A3D26E53B}"/>
              </a:ext>
            </a:extLst>
          </p:cNvPr>
          <p:cNvCxnSpPr>
            <a:cxnSpLocks/>
          </p:cNvCxnSpPr>
          <p:nvPr/>
        </p:nvCxnSpPr>
        <p:spPr bwMode="gray">
          <a:xfrm>
            <a:off x="2095481" y="5567029"/>
            <a:ext cx="2319948" cy="0"/>
          </a:xfrm>
          <a:prstGeom prst="line">
            <a:avLst/>
          </a:prstGeom>
          <a:ln w="3810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 xmlns:a16="http://schemas.microsoft.com/office/drawing/2014/main" id="{C9FDBC67-B15E-45DC-995F-5C5565005CB0}"/>
              </a:ext>
            </a:extLst>
          </p:cNvPr>
          <p:cNvCxnSpPr>
            <a:cxnSpLocks/>
          </p:cNvCxnSpPr>
          <p:nvPr/>
        </p:nvCxnSpPr>
        <p:spPr bwMode="gray">
          <a:xfrm flipV="1">
            <a:off x="4436303" y="4305909"/>
            <a:ext cx="881058" cy="1254418"/>
          </a:xfrm>
          <a:prstGeom prst="line">
            <a:avLst/>
          </a:prstGeom>
          <a:ln w="38100">
            <a:solidFill>
              <a:srgbClr val="E28189"/>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5" name="TextBox 416">
            <a:extLst>
              <a:ext uri="{FF2B5EF4-FFF2-40B4-BE49-F238E27FC236}">
                <a16:creationId xmlns="" xmlns:a16="http://schemas.microsoft.com/office/drawing/2014/main" id="{038F7D04-0442-42E5-8A49-6F98627CBE10}"/>
              </a:ext>
            </a:extLst>
          </p:cNvPr>
          <p:cNvSpPr txBox="1"/>
          <p:nvPr/>
        </p:nvSpPr>
        <p:spPr bwMode="gray">
          <a:xfrm rot="19590761">
            <a:off x="2347294" y="4727834"/>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主隧道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186" name="TextBox 416">
            <a:extLst>
              <a:ext uri="{FF2B5EF4-FFF2-40B4-BE49-F238E27FC236}">
                <a16:creationId xmlns="" xmlns:a16="http://schemas.microsoft.com/office/drawing/2014/main" id="{694D73FF-9707-41AE-AEA5-1360E15F7FCB}"/>
              </a:ext>
            </a:extLst>
          </p:cNvPr>
          <p:cNvSpPr txBox="1"/>
          <p:nvPr/>
        </p:nvSpPr>
        <p:spPr bwMode="gray">
          <a:xfrm>
            <a:off x="2577870" y="5603954"/>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备隧道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192" name="梯形 41">
            <a:extLst>
              <a:ext uri="{FF2B5EF4-FFF2-40B4-BE49-F238E27FC236}">
                <a16:creationId xmlns="" xmlns:a16="http://schemas.microsoft.com/office/drawing/2014/main" id="{05F12B69-790B-44C9-9BDD-24B03936A01A}"/>
              </a:ext>
            </a:extLst>
          </p:cNvPr>
          <p:cNvSpPr/>
          <p:nvPr/>
        </p:nvSpPr>
        <p:spPr bwMode="gray">
          <a:xfrm>
            <a:off x="767257" y="2191375"/>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3" name="图片 31">
            <a:extLst>
              <a:ext uri="{FF2B5EF4-FFF2-40B4-BE49-F238E27FC236}">
                <a16:creationId xmlns="" xmlns:a16="http://schemas.microsoft.com/office/drawing/2014/main" id="{4065831D-964F-4267-A743-5C705AA2A392}"/>
              </a:ext>
            </a:extLst>
          </p:cNvPr>
          <p:cNvPicPr>
            <a:picLocks noChangeAspect="1"/>
          </p:cNvPicPr>
          <p:nvPr/>
        </p:nvPicPr>
        <p:blipFill>
          <a:blip r:embed="rId3"/>
          <a:stretch>
            <a:fillRect/>
          </a:stretch>
        </p:blipFill>
        <p:spPr bwMode="gray">
          <a:xfrm>
            <a:off x="2365962" y="2472787"/>
            <a:ext cx="466668" cy="389308"/>
          </a:xfrm>
          <a:prstGeom prst="rect">
            <a:avLst/>
          </a:prstGeom>
        </p:spPr>
      </p:pic>
      <p:pic>
        <p:nvPicPr>
          <p:cNvPr id="194" name="图片 31">
            <a:extLst>
              <a:ext uri="{FF2B5EF4-FFF2-40B4-BE49-F238E27FC236}">
                <a16:creationId xmlns="" xmlns:a16="http://schemas.microsoft.com/office/drawing/2014/main" id="{FF7DA446-D2C1-4C1E-96BE-D4534CE42A52}"/>
              </a:ext>
            </a:extLst>
          </p:cNvPr>
          <p:cNvPicPr>
            <a:picLocks noChangeAspect="1"/>
          </p:cNvPicPr>
          <p:nvPr/>
        </p:nvPicPr>
        <p:blipFill>
          <a:blip r:embed="rId3"/>
          <a:stretch>
            <a:fillRect/>
          </a:stretch>
        </p:blipFill>
        <p:spPr bwMode="gray">
          <a:xfrm>
            <a:off x="1694279" y="3599076"/>
            <a:ext cx="466668" cy="389308"/>
          </a:xfrm>
          <a:prstGeom prst="rect">
            <a:avLst/>
          </a:prstGeom>
        </p:spPr>
      </p:pic>
      <p:pic>
        <p:nvPicPr>
          <p:cNvPr id="195" name="图片 25">
            <a:extLst>
              <a:ext uri="{FF2B5EF4-FFF2-40B4-BE49-F238E27FC236}">
                <a16:creationId xmlns="" xmlns:a16="http://schemas.microsoft.com/office/drawing/2014/main" id="{C60A23D8-AEBE-46CD-B3A4-13744D05173A}"/>
              </a:ext>
            </a:extLst>
          </p:cNvPr>
          <p:cNvPicPr>
            <a:picLocks noChangeAspect="1"/>
          </p:cNvPicPr>
          <p:nvPr/>
        </p:nvPicPr>
        <p:blipFill>
          <a:blip r:embed="rId3"/>
          <a:stretch>
            <a:fillRect/>
          </a:stretch>
        </p:blipFill>
        <p:spPr bwMode="gray">
          <a:xfrm>
            <a:off x="5940629" y="3601350"/>
            <a:ext cx="466668" cy="389308"/>
          </a:xfrm>
          <a:prstGeom prst="rect">
            <a:avLst/>
          </a:prstGeom>
        </p:spPr>
      </p:pic>
      <p:pic>
        <p:nvPicPr>
          <p:cNvPr id="196" name="图片 31">
            <a:extLst>
              <a:ext uri="{FF2B5EF4-FFF2-40B4-BE49-F238E27FC236}">
                <a16:creationId xmlns="" xmlns:a16="http://schemas.microsoft.com/office/drawing/2014/main" id="{1B0C9009-BF2B-4577-8F07-0CF1229F91DF}"/>
              </a:ext>
            </a:extLst>
          </p:cNvPr>
          <p:cNvPicPr>
            <a:picLocks noChangeAspect="1"/>
          </p:cNvPicPr>
          <p:nvPr/>
        </p:nvPicPr>
        <p:blipFill>
          <a:blip r:embed="rId3"/>
          <a:stretch>
            <a:fillRect/>
          </a:stretch>
        </p:blipFill>
        <p:spPr bwMode="gray">
          <a:xfrm>
            <a:off x="5148640" y="2472787"/>
            <a:ext cx="466668" cy="389308"/>
          </a:xfrm>
          <a:prstGeom prst="rect">
            <a:avLst/>
          </a:prstGeom>
        </p:spPr>
      </p:pic>
      <p:sp>
        <p:nvSpPr>
          <p:cNvPr id="197" name="TextBox 196">
            <a:extLst>
              <a:ext uri="{FF2B5EF4-FFF2-40B4-BE49-F238E27FC236}">
                <a16:creationId xmlns="" xmlns:a16="http://schemas.microsoft.com/office/drawing/2014/main" id="{01EF0BCE-AC24-4480-AB6E-8A6287F274C8}"/>
              </a:ext>
            </a:extLst>
          </p:cNvPr>
          <p:cNvSpPr txBox="1"/>
          <p:nvPr/>
        </p:nvSpPr>
        <p:spPr bwMode="gray">
          <a:xfrm>
            <a:off x="6204910" y="4093403"/>
            <a:ext cx="902811"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业务切片</a:t>
            </a:r>
          </a:p>
        </p:txBody>
      </p:sp>
      <p:cxnSp>
        <p:nvCxnSpPr>
          <p:cNvPr id="198" name="Straight Connector 197">
            <a:extLst>
              <a:ext uri="{FF2B5EF4-FFF2-40B4-BE49-F238E27FC236}">
                <a16:creationId xmlns="" xmlns:a16="http://schemas.microsoft.com/office/drawing/2014/main" id="{0892262C-C69E-445B-AFC4-FF9F5BF55C9A}"/>
              </a:ext>
            </a:extLst>
          </p:cNvPr>
          <p:cNvCxnSpPr>
            <a:cxnSpLocks/>
            <a:stCxn id="193" idx="3"/>
            <a:endCxn id="204" idx="1"/>
          </p:cNvCxnSpPr>
          <p:nvPr/>
        </p:nvCxnSpPr>
        <p:spPr bwMode="gray">
          <a:xfrm flipV="1">
            <a:off x="2832630" y="2665167"/>
            <a:ext cx="1014459"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 xmlns:a16="http://schemas.microsoft.com/office/drawing/2014/main" id="{4B871F30-B6AB-48DD-B2E0-4E3C3E708335}"/>
              </a:ext>
            </a:extLst>
          </p:cNvPr>
          <p:cNvCxnSpPr>
            <a:cxnSpLocks/>
            <a:stCxn id="194" idx="3"/>
            <a:endCxn id="204" idx="1"/>
          </p:cNvCxnSpPr>
          <p:nvPr/>
        </p:nvCxnSpPr>
        <p:spPr bwMode="gray">
          <a:xfrm flipV="1">
            <a:off x="2160947" y="2665167"/>
            <a:ext cx="1686142" cy="11285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 xmlns:a16="http://schemas.microsoft.com/office/drawing/2014/main" id="{655BB8A8-4B15-49ED-B05B-C92E334ACB03}"/>
              </a:ext>
            </a:extLst>
          </p:cNvPr>
          <p:cNvCxnSpPr>
            <a:cxnSpLocks/>
            <a:stCxn id="194" idx="0"/>
            <a:endCxn id="193" idx="2"/>
          </p:cNvCxnSpPr>
          <p:nvPr/>
        </p:nvCxnSpPr>
        <p:spPr bwMode="gray">
          <a:xfrm flipV="1">
            <a:off x="1927613" y="2862095"/>
            <a:ext cx="671683" cy="7369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 xmlns:a16="http://schemas.microsoft.com/office/drawing/2014/main" id="{3C18943A-33A1-43F8-88E1-8ED467C8438B}"/>
              </a:ext>
            </a:extLst>
          </p:cNvPr>
          <p:cNvCxnSpPr>
            <a:cxnSpLocks/>
            <a:stCxn id="194" idx="3"/>
            <a:endCxn id="205" idx="1"/>
          </p:cNvCxnSpPr>
          <p:nvPr/>
        </p:nvCxnSpPr>
        <p:spPr bwMode="gray">
          <a:xfrm>
            <a:off x="2160947" y="3793730"/>
            <a:ext cx="1681432" cy="860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 xmlns:a16="http://schemas.microsoft.com/office/drawing/2014/main" id="{8A2A8D0F-6299-457D-A4D3-4D40650F55C0}"/>
              </a:ext>
            </a:extLst>
          </p:cNvPr>
          <p:cNvCxnSpPr>
            <a:cxnSpLocks/>
            <a:stCxn id="195" idx="0"/>
            <a:endCxn id="196" idx="2"/>
          </p:cNvCxnSpPr>
          <p:nvPr/>
        </p:nvCxnSpPr>
        <p:spPr bwMode="gray">
          <a:xfrm flipH="1" flipV="1">
            <a:off x="5381974" y="2862095"/>
            <a:ext cx="791989" cy="7392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 xmlns:a16="http://schemas.microsoft.com/office/drawing/2014/main" id="{C8831C92-9C9F-4D40-B884-12CE41A95D1E}"/>
              </a:ext>
            </a:extLst>
          </p:cNvPr>
          <p:cNvCxnSpPr>
            <a:cxnSpLocks/>
            <a:stCxn id="205" idx="1"/>
            <a:endCxn id="193" idx="3"/>
          </p:cNvCxnSpPr>
          <p:nvPr/>
        </p:nvCxnSpPr>
        <p:spPr bwMode="gray">
          <a:xfrm flipH="1" flipV="1">
            <a:off x="2832630" y="2667441"/>
            <a:ext cx="1009749"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04" name="图片 31">
            <a:extLst>
              <a:ext uri="{FF2B5EF4-FFF2-40B4-BE49-F238E27FC236}">
                <a16:creationId xmlns="" xmlns:a16="http://schemas.microsoft.com/office/drawing/2014/main" id="{CD365CE9-30ED-4D1C-8D0B-204AE806026A}"/>
              </a:ext>
            </a:extLst>
          </p:cNvPr>
          <p:cNvPicPr>
            <a:picLocks noChangeAspect="1"/>
          </p:cNvPicPr>
          <p:nvPr/>
        </p:nvPicPr>
        <p:blipFill>
          <a:blip r:embed="rId3"/>
          <a:stretch>
            <a:fillRect/>
          </a:stretch>
        </p:blipFill>
        <p:spPr bwMode="gray">
          <a:xfrm>
            <a:off x="3847089" y="2470513"/>
            <a:ext cx="466668" cy="389308"/>
          </a:xfrm>
          <a:prstGeom prst="rect">
            <a:avLst/>
          </a:prstGeom>
        </p:spPr>
      </p:pic>
      <p:pic>
        <p:nvPicPr>
          <p:cNvPr id="205" name="图片 31">
            <a:extLst>
              <a:ext uri="{FF2B5EF4-FFF2-40B4-BE49-F238E27FC236}">
                <a16:creationId xmlns="" xmlns:a16="http://schemas.microsoft.com/office/drawing/2014/main" id="{CAC21F07-9BC9-42B4-AE12-9F81D3CC108D}"/>
              </a:ext>
            </a:extLst>
          </p:cNvPr>
          <p:cNvPicPr>
            <a:picLocks noChangeAspect="1"/>
          </p:cNvPicPr>
          <p:nvPr/>
        </p:nvPicPr>
        <p:blipFill>
          <a:blip r:embed="rId3"/>
          <a:stretch>
            <a:fillRect/>
          </a:stretch>
        </p:blipFill>
        <p:spPr bwMode="gray">
          <a:xfrm>
            <a:off x="3842379" y="3607678"/>
            <a:ext cx="466668" cy="389308"/>
          </a:xfrm>
          <a:prstGeom prst="rect">
            <a:avLst/>
          </a:prstGeom>
        </p:spPr>
      </p:pic>
      <p:cxnSp>
        <p:nvCxnSpPr>
          <p:cNvPr id="206" name="Straight Connector 205">
            <a:extLst>
              <a:ext uri="{FF2B5EF4-FFF2-40B4-BE49-F238E27FC236}">
                <a16:creationId xmlns="" xmlns:a16="http://schemas.microsoft.com/office/drawing/2014/main" id="{171D4855-EDDA-4711-AA93-7BBCC52C70D2}"/>
              </a:ext>
            </a:extLst>
          </p:cNvPr>
          <p:cNvCxnSpPr>
            <a:cxnSpLocks/>
            <a:stCxn id="205" idx="3"/>
            <a:endCxn id="195" idx="1"/>
          </p:cNvCxnSpPr>
          <p:nvPr/>
        </p:nvCxnSpPr>
        <p:spPr bwMode="gray">
          <a:xfrm flipV="1">
            <a:off x="4309047" y="3796004"/>
            <a:ext cx="1631582" cy="632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 xmlns:a16="http://schemas.microsoft.com/office/drawing/2014/main" id="{B6CA0C26-38BF-4EEE-85F3-52F99F3F7FB8}"/>
              </a:ext>
            </a:extLst>
          </p:cNvPr>
          <p:cNvCxnSpPr>
            <a:cxnSpLocks/>
            <a:stCxn id="196" idx="1"/>
            <a:endCxn id="204" idx="3"/>
          </p:cNvCxnSpPr>
          <p:nvPr/>
        </p:nvCxnSpPr>
        <p:spPr bwMode="gray">
          <a:xfrm flipH="1" flipV="1">
            <a:off x="4313757" y="2665167"/>
            <a:ext cx="834883" cy="2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 xmlns:a16="http://schemas.microsoft.com/office/drawing/2014/main" id="{6B9AEED2-A99F-4553-A6C6-363133644265}"/>
              </a:ext>
            </a:extLst>
          </p:cNvPr>
          <p:cNvCxnSpPr>
            <a:cxnSpLocks/>
            <a:stCxn id="205" idx="0"/>
            <a:endCxn id="204" idx="2"/>
          </p:cNvCxnSpPr>
          <p:nvPr/>
        </p:nvCxnSpPr>
        <p:spPr bwMode="gray">
          <a:xfrm flipV="1">
            <a:off x="4075713" y="2859821"/>
            <a:ext cx="4710" cy="74785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 xmlns:a16="http://schemas.microsoft.com/office/drawing/2014/main" id="{C0681443-BF60-475F-B54C-185075DF3A75}"/>
              </a:ext>
            </a:extLst>
          </p:cNvPr>
          <p:cNvCxnSpPr>
            <a:cxnSpLocks/>
            <a:stCxn id="205" idx="3"/>
            <a:endCxn id="196" idx="1"/>
          </p:cNvCxnSpPr>
          <p:nvPr/>
        </p:nvCxnSpPr>
        <p:spPr bwMode="gray">
          <a:xfrm flipV="1">
            <a:off x="4309047" y="2667441"/>
            <a:ext cx="839593" cy="113489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 xmlns:a16="http://schemas.microsoft.com/office/drawing/2014/main" id="{7407FED9-CBF2-4830-B495-E637E2037B35}"/>
              </a:ext>
            </a:extLst>
          </p:cNvPr>
          <p:cNvCxnSpPr>
            <a:cxnSpLocks/>
            <a:stCxn id="195" idx="1"/>
            <a:endCxn id="204" idx="3"/>
          </p:cNvCxnSpPr>
          <p:nvPr/>
        </p:nvCxnSpPr>
        <p:spPr bwMode="gray">
          <a:xfrm flipH="1" flipV="1">
            <a:off x="4313757" y="2665167"/>
            <a:ext cx="1626872" cy="113083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 xmlns:a16="http://schemas.microsoft.com/office/drawing/2014/main" id="{A1398353-F1C9-4DCA-B8BE-81894F7DF1F1}"/>
              </a:ext>
            </a:extLst>
          </p:cNvPr>
          <p:cNvCxnSpPr>
            <a:cxnSpLocks/>
          </p:cNvCxnSpPr>
          <p:nvPr/>
        </p:nvCxnSpPr>
        <p:spPr bwMode="gray">
          <a:xfrm flipV="1">
            <a:off x="2041639" y="2536255"/>
            <a:ext cx="1886118" cy="1261810"/>
          </a:xfrm>
          <a:prstGeom prst="line">
            <a:avLst/>
          </a:prstGeom>
          <a:ln w="57150">
            <a:solidFill>
              <a:srgbClr val="F2894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 xmlns:a16="http://schemas.microsoft.com/office/drawing/2014/main" id="{3B070D68-8FA8-4E6B-AD07-2DAC741DEA27}"/>
              </a:ext>
            </a:extLst>
          </p:cNvPr>
          <p:cNvCxnSpPr>
            <a:cxnSpLocks/>
          </p:cNvCxnSpPr>
          <p:nvPr/>
        </p:nvCxnSpPr>
        <p:spPr bwMode="gray">
          <a:xfrm>
            <a:off x="4080423" y="2613835"/>
            <a:ext cx="0" cy="1121927"/>
          </a:xfrm>
          <a:prstGeom prst="line">
            <a:avLst/>
          </a:prstGeom>
          <a:ln w="57150">
            <a:solidFill>
              <a:srgbClr val="F2894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 xmlns:a16="http://schemas.microsoft.com/office/drawing/2014/main" id="{7457B203-3FE4-49EE-ADB9-1B68D5D5DBCB}"/>
              </a:ext>
            </a:extLst>
          </p:cNvPr>
          <p:cNvCxnSpPr>
            <a:cxnSpLocks/>
          </p:cNvCxnSpPr>
          <p:nvPr/>
        </p:nvCxnSpPr>
        <p:spPr bwMode="gray">
          <a:xfrm>
            <a:off x="2095481" y="3893258"/>
            <a:ext cx="1938204" cy="0"/>
          </a:xfrm>
          <a:prstGeom prst="line">
            <a:avLst/>
          </a:prstGeom>
          <a:ln w="38100">
            <a:solidFill>
              <a:srgbClr val="F28944"/>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 xmlns:a16="http://schemas.microsoft.com/office/drawing/2014/main" id="{FE95AF1F-3F43-4DC9-A555-1051D2BE7314}"/>
              </a:ext>
            </a:extLst>
          </p:cNvPr>
          <p:cNvCxnSpPr>
            <a:cxnSpLocks/>
          </p:cNvCxnSpPr>
          <p:nvPr/>
        </p:nvCxnSpPr>
        <p:spPr bwMode="gray">
          <a:xfrm flipV="1">
            <a:off x="4259952" y="2634353"/>
            <a:ext cx="777881" cy="1107519"/>
          </a:xfrm>
          <a:prstGeom prst="line">
            <a:avLst/>
          </a:prstGeom>
          <a:ln w="57150">
            <a:solidFill>
              <a:srgbClr val="F2894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5" name="TextBox 416">
            <a:extLst>
              <a:ext uri="{FF2B5EF4-FFF2-40B4-BE49-F238E27FC236}">
                <a16:creationId xmlns="" xmlns:a16="http://schemas.microsoft.com/office/drawing/2014/main" id="{3A8206D3-0776-423E-91CD-7ABEDB31DF2A}"/>
              </a:ext>
            </a:extLst>
          </p:cNvPr>
          <p:cNvSpPr txBox="1"/>
          <p:nvPr/>
        </p:nvSpPr>
        <p:spPr bwMode="gray">
          <a:xfrm rot="19590761">
            <a:off x="2347294" y="3054063"/>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主隧道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sp>
        <p:nvSpPr>
          <p:cNvPr id="216" name="TextBox 416">
            <a:extLst>
              <a:ext uri="{FF2B5EF4-FFF2-40B4-BE49-F238E27FC236}">
                <a16:creationId xmlns="" xmlns:a16="http://schemas.microsoft.com/office/drawing/2014/main" id="{14408898-3ACE-46C2-8971-2C86BD939300}"/>
              </a:ext>
            </a:extLst>
          </p:cNvPr>
          <p:cNvSpPr txBox="1"/>
          <p:nvPr/>
        </p:nvSpPr>
        <p:spPr bwMode="gray">
          <a:xfrm>
            <a:off x="2587374" y="3933936"/>
            <a:ext cx="797736" cy="215444"/>
          </a:xfrm>
          <a:prstGeom prst="rect">
            <a:avLst/>
          </a:prstGeom>
          <a:noFill/>
        </p:spPr>
        <p:txBody>
          <a:bodyPr wrap="square" lIns="0" tIns="0" rIns="0" bIns="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lang="zh-CN" altLang="en-US" sz="1400" kern="0" dirty="0">
                <a:solidFill>
                  <a:srgbClr val="1D1D1A"/>
                </a:solidFill>
                <a:cs typeface="+mn-ea"/>
                <a:sym typeface="Arial" panose="020B0604020202020204" pitchFamily="34" charset="0"/>
              </a:rPr>
              <a:t>备隧道</a:t>
            </a:r>
            <a:endParaRPr kumimoji="0" lang="en-US" altLang="zh-CN" sz="1400" b="0" i="0" u="none" strike="noStrike" kern="0" cap="none" spc="0" normalizeH="0" baseline="0" noProof="0" dirty="0">
              <a:ln>
                <a:noFill/>
              </a:ln>
              <a:solidFill>
                <a:srgbClr val="1D1D1A"/>
              </a:solidFill>
              <a:effectLst/>
              <a:uLnTx/>
              <a:uFillTx/>
              <a:cs typeface="+mn-ea"/>
              <a:sym typeface="Arial" panose="020B0604020202020204" pitchFamily="34" charset="0"/>
            </a:endParaRPr>
          </a:p>
        </p:txBody>
      </p:sp>
      <p:cxnSp>
        <p:nvCxnSpPr>
          <p:cNvPr id="217" name="Straight Connector 216">
            <a:extLst>
              <a:ext uri="{FF2B5EF4-FFF2-40B4-BE49-F238E27FC236}">
                <a16:creationId xmlns="" xmlns:a16="http://schemas.microsoft.com/office/drawing/2014/main" id="{BEFD4802-6B27-4D69-ABAE-64771951FAA3}"/>
              </a:ext>
            </a:extLst>
          </p:cNvPr>
          <p:cNvCxnSpPr>
            <a:cxnSpLocks/>
          </p:cNvCxnSpPr>
          <p:nvPr/>
        </p:nvCxnSpPr>
        <p:spPr bwMode="gray">
          <a:xfrm>
            <a:off x="4259952" y="3893258"/>
            <a:ext cx="1914011" cy="0"/>
          </a:xfrm>
          <a:prstGeom prst="line">
            <a:avLst/>
          </a:prstGeom>
          <a:ln w="38100">
            <a:solidFill>
              <a:srgbClr val="F28944"/>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 xmlns:a16="http://schemas.microsoft.com/office/drawing/2014/main" id="{16F59543-2A88-4D22-B2FD-F6EF66616650}"/>
              </a:ext>
            </a:extLst>
          </p:cNvPr>
          <p:cNvCxnSpPr>
            <a:cxnSpLocks/>
          </p:cNvCxnSpPr>
          <p:nvPr/>
        </p:nvCxnSpPr>
        <p:spPr bwMode="gray">
          <a:xfrm flipH="1" flipV="1">
            <a:off x="5240779" y="2833088"/>
            <a:ext cx="900278" cy="854002"/>
          </a:xfrm>
          <a:prstGeom prst="line">
            <a:avLst/>
          </a:prstGeom>
          <a:ln w="38100">
            <a:solidFill>
              <a:srgbClr val="F28944"/>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9" name="矩形 535">
            <a:extLst>
              <a:ext uri="{FF2B5EF4-FFF2-40B4-BE49-F238E27FC236}">
                <a16:creationId xmlns="" xmlns:a16="http://schemas.microsoft.com/office/drawing/2014/main" id="{A07DF43F-5543-4B97-8EB3-5926D2F3610A}"/>
              </a:ext>
            </a:extLst>
          </p:cNvPr>
          <p:cNvSpPr/>
          <p:nvPr/>
        </p:nvSpPr>
        <p:spPr bwMode="gray">
          <a:xfrm>
            <a:off x="7380781" y="2569625"/>
            <a:ext cx="4366339" cy="2813078"/>
          </a:xfrm>
          <a:prstGeom prst="rect">
            <a:avLst/>
          </a:prstGeom>
        </p:spPr>
        <p:txBody>
          <a:bodyPr wrap="square">
            <a:spAutoFit/>
          </a:bodyPr>
          <a:lstStyle/>
          <a:p>
            <a:pPr marL="302279" indent="-302279" algn="just" defTabSz="914034" fontAlgn="ctr">
              <a:lnSpc>
                <a:spcPct val="140000"/>
              </a:lnSpc>
              <a:spcBef>
                <a:spcPts val="792"/>
              </a:spcBef>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默认切片内可部署</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SR BE</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或</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SR Policy</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隧道。</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defRPr/>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业务切片内部署</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SR Policy</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隧道。部署</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BFD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检测隧道状态，实现切片内</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Hot-standby</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热备可靠性保护，和</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VPN FRR</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保护。</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302279" indent="-302279" algn="just" defTabSz="914034" fontAlgn="ctr">
              <a:lnSpc>
                <a:spcPct val="140000"/>
              </a:lnSpc>
              <a:spcBef>
                <a:spcPts val="792"/>
              </a:spcBef>
              <a:buSzPct val="50000"/>
              <a:buFont typeface="Wingdings" panose="05000000000000000000" pitchFamily="2" charset="2"/>
              <a:buChar char="l"/>
              <a:defRPr/>
            </a:pP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 NCE-IP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基于亲和属性计算切片承载隧道。</a:t>
            </a:r>
          </a:p>
          <a:p>
            <a:pPr marL="302279" indent="-302279" algn="just" defTabSz="914034" fontAlgn="ctr">
              <a:lnSpc>
                <a:spcPct val="140000"/>
              </a:lnSpc>
              <a:spcBef>
                <a:spcPts val="792"/>
              </a:spcBef>
              <a:buSzPct val="50000"/>
              <a:buFont typeface="Wingdings" panose="05000000000000000000" pitchFamily="2" charset="2"/>
              <a:buChar char="l"/>
              <a:defRPr/>
            </a:pPr>
            <a:r>
              <a:rPr lang="en-US" altLang="zh-CN" sz="1600" dirty="0" err="1">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 NCE-IP</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在切片内实现流量调优。</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Tree>
    <p:extLst>
      <p:ext uri="{BB962C8B-B14F-4D97-AF65-F5344CB8AC3E}">
        <p14:creationId xmlns:p14="http://schemas.microsoft.com/office/powerpoint/2010/main" val="2246597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bwMode="gray"/>
        <p:txBody>
          <a:bodyPr/>
          <a:lstStyle/>
          <a:p>
            <a:r>
              <a:rPr lang="zh-CN" altLang="en-US" dirty="0"/>
              <a:t>网络切片技术使用场景</a:t>
            </a:r>
            <a:endParaRPr lang="en-US" dirty="0"/>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 Placeholder 7">
            <a:extLst>
              <a:ext uri="{FF2B5EF4-FFF2-40B4-BE49-F238E27FC236}">
                <a16:creationId xmlns="" xmlns:a16="http://schemas.microsoft.com/office/drawing/2014/main" id="{E82B5DB9-95BD-4461-B707-786663BF34A8}"/>
              </a:ext>
            </a:extLst>
          </p:cNvPr>
          <p:cNvSpPr>
            <a:spLocks noGrp="1"/>
          </p:cNvSpPr>
          <p:nvPr>
            <p:ph type="body" sz="quarter" idx="10"/>
          </p:nvPr>
        </p:nvSpPr>
        <p:spPr bwMode="gray">
          <a:xfrm>
            <a:off x="455612" y="1047751"/>
            <a:ext cx="11293475" cy="1758214"/>
          </a:xfrm>
        </p:spPr>
        <p:txBody>
          <a:bodyPr/>
          <a:lstStyle/>
          <a:p>
            <a:r>
              <a:rPr lang="zh-CN" altLang="en-US" sz="1800" dirty="0"/>
              <a:t>基于信道化子接口与基于</a:t>
            </a:r>
            <a:r>
              <a:rPr lang="en-US" altLang="zh-CN" sz="1800" dirty="0" err="1"/>
              <a:t>FlexE</a:t>
            </a:r>
            <a:r>
              <a:rPr lang="zh-CN" altLang="en-US" sz="1800" dirty="0"/>
              <a:t>的网络切片在使用场景上有一定区别。</a:t>
            </a:r>
            <a:endParaRPr lang="en-US" altLang="zh-CN" sz="1800" dirty="0"/>
          </a:p>
          <a:p>
            <a:pPr lvl="1"/>
            <a:r>
              <a:rPr lang="zh-CN" altLang="en-US" sz="1600" dirty="0"/>
              <a:t>组网中</a:t>
            </a:r>
            <a:r>
              <a:rPr lang="en-US" altLang="zh-CN" sz="1600" dirty="0"/>
              <a:t>50GE</a:t>
            </a:r>
            <a:r>
              <a:rPr lang="zh-CN" altLang="en-US" sz="1600" dirty="0"/>
              <a:t>及以上接口推荐采用</a:t>
            </a:r>
            <a:r>
              <a:rPr lang="en-US" altLang="zh-CN" sz="1600" dirty="0" err="1"/>
              <a:t>FlexE</a:t>
            </a:r>
            <a:r>
              <a:rPr lang="zh-CN" altLang="en-US" sz="1600" dirty="0"/>
              <a:t>技术进行资源预留，</a:t>
            </a:r>
            <a:r>
              <a:rPr lang="en-US" altLang="zh-CN" sz="1600" dirty="0"/>
              <a:t>50GE</a:t>
            </a:r>
            <a:r>
              <a:rPr lang="zh-CN" altLang="en-US" sz="1600" dirty="0"/>
              <a:t>以下接口推荐采用信道化子接口技术进行资源预留。</a:t>
            </a:r>
          </a:p>
          <a:p>
            <a:pPr lvl="1"/>
            <a:r>
              <a:rPr lang="zh-CN" altLang="en-US" sz="1600" dirty="0"/>
              <a:t>组网中跨越</a:t>
            </a:r>
            <a:r>
              <a:rPr lang="en-US" altLang="zh-CN" sz="1600" dirty="0"/>
              <a:t>MSTP</a:t>
            </a:r>
            <a:r>
              <a:rPr lang="zh-CN" altLang="en-US" sz="1600" dirty="0"/>
              <a:t>设备时只能部署基于信道化子接口的网络切片。</a:t>
            </a:r>
            <a:endParaRPr lang="en-US" altLang="zh-CN" sz="1600" dirty="0"/>
          </a:p>
          <a:p>
            <a:pPr lvl="1"/>
            <a:r>
              <a:rPr lang="zh-CN" altLang="en-US" sz="1600" dirty="0"/>
              <a:t>组网中跨越</a:t>
            </a:r>
            <a:r>
              <a:rPr lang="en-US" altLang="zh-CN" sz="1600" dirty="0"/>
              <a:t>OTN</a:t>
            </a:r>
            <a:r>
              <a:rPr lang="zh-CN" altLang="en-US" sz="1600" dirty="0"/>
              <a:t>设备时可根据需求部署基于</a:t>
            </a:r>
            <a:r>
              <a:rPr lang="en-US" altLang="zh-CN" sz="1600" dirty="0" err="1"/>
              <a:t>FlexE</a:t>
            </a:r>
            <a:r>
              <a:rPr lang="zh-CN" altLang="en-US" sz="1600" dirty="0"/>
              <a:t>或信道化子接口的网络切片。</a:t>
            </a:r>
            <a:endParaRPr lang="en-US" sz="1600" dirty="0"/>
          </a:p>
        </p:txBody>
      </p:sp>
      <p:sp>
        <p:nvSpPr>
          <p:cNvPr id="116" name="梯形 41">
            <a:extLst>
              <a:ext uri="{FF2B5EF4-FFF2-40B4-BE49-F238E27FC236}">
                <a16:creationId xmlns="" xmlns:a16="http://schemas.microsoft.com/office/drawing/2014/main" id="{84AF0C00-6621-48BF-81D6-EDA43AAFFBF1}"/>
              </a:ext>
            </a:extLst>
          </p:cNvPr>
          <p:cNvSpPr/>
          <p:nvPr/>
        </p:nvSpPr>
        <p:spPr bwMode="gray">
          <a:xfrm>
            <a:off x="697405" y="3966071"/>
            <a:ext cx="520368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椭圆 53">
            <a:extLst>
              <a:ext uri="{FF2B5EF4-FFF2-40B4-BE49-F238E27FC236}">
                <a16:creationId xmlns="" xmlns:a16="http://schemas.microsoft.com/office/drawing/2014/main" id="{D10AA29C-06F4-46B1-97F6-528AE057CEC4}"/>
              </a:ext>
            </a:extLst>
          </p:cNvPr>
          <p:cNvSpPr/>
          <p:nvPr/>
        </p:nvSpPr>
        <p:spPr bwMode="gray">
          <a:xfrm>
            <a:off x="1679497" y="4539757"/>
            <a:ext cx="3293341" cy="1529980"/>
          </a:xfrm>
          <a:prstGeom prst="ellips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txBody>
          <a:bodyPr rtlCol="0" anchor="ctr"/>
          <a:lst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a:lstStyle>
          <a:p>
            <a:pPr algn="ctr">
              <a:buNone/>
            </a:pPr>
            <a:endParaRPr lang="en-US" sz="1800" dirty="0">
              <a:latin typeface="Huawei Sans" panose="020C0503030203020204" pitchFamily="34" charset="0"/>
              <a:ea typeface="方正兰亭黑简体" panose="02000000000000000000" pitchFamily="2" charset="-122"/>
            </a:endParaRPr>
          </a:p>
        </p:txBody>
      </p:sp>
      <p:pic>
        <p:nvPicPr>
          <p:cNvPr id="118" name="图片 1118">
            <a:extLst>
              <a:ext uri="{FF2B5EF4-FFF2-40B4-BE49-F238E27FC236}">
                <a16:creationId xmlns="" xmlns:a16="http://schemas.microsoft.com/office/drawing/2014/main" id="{8778BB4B-C0A0-48AE-BC97-2FE8AEF0D052}"/>
              </a:ext>
            </a:extLst>
          </p:cNvPr>
          <p:cNvPicPr>
            <a:picLocks noChangeAspect="1"/>
          </p:cNvPicPr>
          <p:nvPr/>
        </p:nvPicPr>
        <p:blipFill>
          <a:blip r:embed="rId3"/>
          <a:stretch>
            <a:fillRect/>
          </a:stretch>
        </p:blipFill>
        <p:spPr bwMode="gray">
          <a:xfrm>
            <a:off x="1670593" y="5580857"/>
            <a:ext cx="450745" cy="361743"/>
          </a:xfrm>
          <a:prstGeom prst="rect">
            <a:avLst/>
          </a:prstGeom>
        </p:spPr>
      </p:pic>
      <p:pic>
        <p:nvPicPr>
          <p:cNvPr id="119" name="图片 1118">
            <a:extLst>
              <a:ext uri="{FF2B5EF4-FFF2-40B4-BE49-F238E27FC236}">
                <a16:creationId xmlns="" xmlns:a16="http://schemas.microsoft.com/office/drawing/2014/main" id="{E1148B56-1343-4B00-8477-9191ABDC436A}"/>
              </a:ext>
            </a:extLst>
          </p:cNvPr>
          <p:cNvPicPr>
            <a:picLocks noChangeAspect="1"/>
          </p:cNvPicPr>
          <p:nvPr/>
        </p:nvPicPr>
        <p:blipFill>
          <a:blip r:embed="rId3"/>
          <a:stretch>
            <a:fillRect/>
          </a:stretch>
        </p:blipFill>
        <p:spPr bwMode="gray">
          <a:xfrm>
            <a:off x="2342373" y="4454584"/>
            <a:ext cx="450745" cy="361743"/>
          </a:xfrm>
          <a:prstGeom prst="rect">
            <a:avLst/>
          </a:prstGeom>
        </p:spPr>
      </p:pic>
      <p:pic>
        <p:nvPicPr>
          <p:cNvPr id="120" name="图片 1118">
            <a:extLst>
              <a:ext uri="{FF2B5EF4-FFF2-40B4-BE49-F238E27FC236}">
                <a16:creationId xmlns="" xmlns:a16="http://schemas.microsoft.com/office/drawing/2014/main" id="{EB63AA45-C85F-40FC-83AC-9289E55C2A95}"/>
              </a:ext>
            </a:extLst>
          </p:cNvPr>
          <p:cNvPicPr>
            <a:picLocks noChangeAspect="1"/>
          </p:cNvPicPr>
          <p:nvPr/>
        </p:nvPicPr>
        <p:blipFill>
          <a:blip r:embed="rId3"/>
          <a:stretch>
            <a:fillRect/>
          </a:stretch>
        </p:blipFill>
        <p:spPr bwMode="gray">
          <a:xfrm>
            <a:off x="3860352" y="4452561"/>
            <a:ext cx="450745" cy="361743"/>
          </a:xfrm>
          <a:prstGeom prst="rect">
            <a:avLst/>
          </a:prstGeom>
        </p:spPr>
      </p:pic>
      <p:pic>
        <p:nvPicPr>
          <p:cNvPr id="121" name="图片 1118">
            <a:extLst>
              <a:ext uri="{FF2B5EF4-FFF2-40B4-BE49-F238E27FC236}">
                <a16:creationId xmlns="" xmlns:a16="http://schemas.microsoft.com/office/drawing/2014/main" id="{9497F4F4-6FD2-44B3-85F9-7C82FD9D1380}"/>
              </a:ext>
            </a:extLst>
          </p:cNvPr>
          <p:cNvPicPr>
            <a:picLocks noChangeAspect="1"/>
          </p:cNvPicPr>
          <p:nvPr/>
        </p:nvPicPr>
        <p:blipFill>
          <a:blip r:embed="rId3"/>
          <a:stretch>
            <a:fillRect/>
          </a:stretch>
        </p:blipFill>
        <p:spPr bwMode="gray">
          <a:xfrm>
            <a:off x="4639512" y="5576036"/>
            <a:ext cx="450745" cy="361743"/>
          </a:xfrm>
          <a:prstGeom prst="rect">
            <a:avLst/>
          </a:prstGeom>
        </p:spPr>
      </p:pic>
      <p:sp>
        <p:nvSpPr>
          <p:cNvPr id="122" name="TextBox 121">
            <a:extLst>
              <a:ext uri="{FF2B5EF4-FFF2-40B4-BE49-F238E27FC236}">
                <a16:creationId xmlns="" xmlns:a16="http://schemas.microsoft.com/office/drawing/2014/main" id="{D38F8CE5-8671-4B80-B71C-9EF1D3237E57}"/>
              </a:ext>
            </a:extLst>
          </p:cNvPr>
          <p:cNvSpPr txBox="1"/>
          <p:nvPr/>
        </p:nvSpPr>
        <p:spPr bwMode="gray">
          <a:xfrm>
            <a:off x="4714159" y="5892998"/>
            <a:ext cx="1082348"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传输承载网</a:t>
            </a:r>
          </a:p>
        </p:txBody>
      </p:sp>
      <p:cxnSp>
        <p:nvCxnSpPr>
          <p:cNvPr id="127" name="Straight Connector 126">
            <a:extLst>
              <a:ext uri="{FF2B5EF4-FFF2-40B4-BE49-F238E27FC236}">
                <a16:creationId xmlns="" xmlns:a16="http://schemas.microsoft.com/office/drawing/2014/main" id="{8592E782-2581-49A5-8589-AE7B6E087F55}"/>
              </a:ext>
            </a:extLst>
          </p:cNvPr>
          <p:cNvCxnSpPr>
            <a:cxnSpLocks/>
            <a:stCxn id="133" idx="2"/>
            <a:endCxn id="118" idx="0"/>
          </p:cNvCxnSpPr>
          <p:nvPr/>
        </p:nvCxnSpPr>
        <p:spPr bwMode="gray">
          <a:xfrm>
            <a:off x="1895966" y="4683304"/>
            <a:ext cx="0" cy="897553"/>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28" name="Straight Connector 127">
            <a:extLst>
              <a:ext uri="{FF2B5EF4-FFF2-40B4-BE49-F238E27FC236}">
                <a16:creationId xmlns="" xmlns:a16="http://schemas.microsoft.com/office/drawing/2014/main" id="{52F4D8EC-C525-49EF-BF5B-2A6E8BC7C934}"/>
              </a:ext>
            </a:extLst>
          </p:cNvPr>
          <p:cNvCxnSpPr>
            <a:cxnSpLocks/>
            <a:stCxn id="132" idx="2"/>
            <a:endCxn id="119" idx="0"/>
          </p:cNvCxnSpPr>
          <p:nvPr/>
        </p:nvCxnSpPr>
        <p:spPr bwMode="gray">
          <a:xfrm>
            <a:off x="2567649" y="3557015"/>
            <a:ext cx="97" cy="897569"/>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29" name="Straight Connector 128">
            <a:extLst>
              <a:ext uri="{FF2B5EF4-FFF2-40B4-BE49-F238E27FC236}">
                <a16:creationId xmlns="" xmlns:a16="http://schemas.microsoft.com/office/drawing/2014/main" id="{2C17338B-AE5E-4F28-83CF-868027DA0720}"/>
              </a:ext>
            </a:extLst>
          </p:cNvPr>
          <p:cNvCxnSpPr>
            <a:cxnSpLocks/>
            <a:stCxn id="135" idx="2"/>
            <a:endCxn id="120" idx="0"/>
          </p:cNvCxnSpPr>
          <p:nvPr/>
        </p:nvCxnSpPr>
        <p:spPr bwMode="gray">
          <a:xfrm>
            <a:off x="4085725" y="3557015"/>
            <a:ext cx="0" cy="895546"/>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30" name="Straight Connector 129">
            <a:extLst>
              <a:ext uri="{FF2B5EF4-FFF2-40B4-BE49-F238E27FC236}">
                <a16:creationId xmlns="" xmlns:a16="http://schemas.microsoft.com/office/drawing/2014/main" id="{BFD9DD19-8C97-4BEB-B5DA-5865BC277576}"/>
              </a:ext>
            </a:extLst>
          </p:cNvPr>
          <p:cNvCxnSpPr>
            <a:cxnSpLocks/>
            <a:stCxn id="134" idx="2"/>
            <a:endCxn id="121" idx="0"/>
          </p:cNvCxnSpPr>
          <p:nvPr/>
        </p:nvCxnSpPr>
        <p:spPr bwMode="gray">
          <a:xfrm flipH="1">
            <a:off x="4864885" y="4685578"/>
            <a:ext cx="12829" cy="890458"/>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131" name="梯形 41">
            <a:extLst>
              <a:ext uri="{FF2B5EF4-FFF2-40B4-BE49-F238E27FC236}">
                <a16:creationId xmlns="" xmlns:a16="http://schemas.microsoft.com/office/drawing/2014/main" id="{B96A565C-2ECA-4349-9F40-7E8930AF909C}"/>
              </a:ext>
            </a:extLst>
          </p:cNvPr>
          <p:cNvSpPr/>
          <p:nvPr/>
        </p:nvSpPr>
        <p:spPr bwMode="gray">
          <a:xfrm>
            <a:off x="707524" y="2887646"/>
            <a:ext cx="520368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2" name="图片 31">
            <a:extLst>
              <a:ext uri="{FF2B5EF4-FFF2-40B4-BE49-F238E27FC236}">
                <a16:creationId xmlns="" xmlns:a16="http://schemas.microsoft.com/office/drawing/2014/main" id="{1061BE08-6289-4A38-8950-433195FB8F0D}"/>
              </a:ext>
            </a:extLst>
          </p:cNvPr>
          <p:cNvPicPr>
            <a:picLocks noChangeAspect="1"/>
          </p:cNvPicPr>
          <p:nvPr/>
        </p:nvPicPr>
        <p:blipFill>
          <a:blip r:embed="rId4"/>
          <a:stretch>
            <a:fillRect/>
          </a:stretch>
        </p:blipFill>
        <p:spPr bwMode="gray">
          <a:xfrm>
            <a:off x="2334315" y="3167707"/>
            <a:ext cx="466668" cy="389308"/>
          </a:xfrm>
          <a:prstGeom prst="rect">
            <a:avLst/>
          </a:prstGeom>
        </p:spPr>
      </p:pic>
      <p:pic>
        <p:nvPicPr>
          <p:cNvPr id="133" name="图片 31">
            <a:extLst>
              <a:ext uri="{FF2B5EF4-FFF2-40B4-BE49-F238E27FC236}">
                <a16:creationId xmlns="" xmlns:a16="http://schemas.microsoft.com/office/drawing/2014/main" id="{298E116E-2C1C-43ED-B1A3-AEC9C29878AB}"/>
              </a:ext>
            </a:extLst>
          </p:cNvPr>
          <p:cNvPicPr>
            <a:picLocks noChangeAspect="1"/>
          </p:cNvPicPr>
          <p:nvPr/>
        </p:nvPicPr>
        <p:blipFill>
          <a:blip r:embed="rId4"/>
          <a:stretch>
            <a:fillRect/>
          </a:stretch>
        </p:blipFill>
        <p:spPr bwMode="gray">
          <a:xfrm>
            <a:off x="1662632" y="4293996"/>
            <a:ext cx="466668" cy="389308"/>
          </a:xfrm>
          <a:prstGeom prst="rect">
            <a:avLst/>
          </a:prstGeom>
        </p:spPr>
      </p:pic>
      <p:pic>
        <p:nvPicPr>
          <p:cNvPr id="134" name="图片 25">
            <a:extLst>
              <a:ext uri="{FF2B5EF4-FFF2-40B4-BE49-F238E27FC236}">
                <a16:creationId xmlns="" xmlns:a16="http://schemas.microsoft.com/office/drawing/2014/main" id="{2C78ECEA-37CE-45AD-AAA7-53BD09F27A79}"/>
              </a:ext>
            </a:extLst>
          </p:cNvPr>
          <p:cNvPicPr>
            <a:picLocks noChangeAspect="1"/>
          </p:cNvPicPr>
          <p:nvPr/>
        </p:nvPicPr>
        <p:blipFill>
          <a:blip r:embed="rId4"/>
          <a:stretch>
            <a:fillRect/>
          </a:stretch>
        </p:blipFill>
        <p:spPr bwMode="gray">
          <a:xfrm>
            <a:off x="4644380" y="4296270"/>
            <a:ext cx="466668" cy="389308"/>
          </a:xfrm>
          <a:prstGeom prst="rect">
            <a:avLst/>
          </a:prstGeom>
        </p:spPr>
      </p:pic>
      <p:pic>
        <p:nvPicPr>
          <p:cNvPr id="135" name="图片 31">
            <a:extLst>
              <a:ext uri="{FF2B5EF4-FFF2-40B4-BE49-F238E27FC236}">
                <a16:creationId xmlns="" xmlns:a16="http://schemas.microsoft.com/office/drawing/2014/main" id="{A42FA8DB-F51D-4F5A-85F7-166F50553B6F}"/>
              </a:ext>
            </a:extLst>
          </p:cNvPr>
          <p:cNvPicPr>
            <a:picLocks noChangeAspect="1"/>
          </p:cNvPicPr>
          <p:nvPr/>
        </p:nvPicPr>
        <p:blipFill>
          <a:blip r:embed="rId4"/>
          <a:stretch>
            <a:fillRect/>
          </a:stretch>
        </p:blipFill>
        <p:spPr bwMode="gray">
          <a:xfrm>
            <a:off x="3852391" y="3167707"/>
            <a:ext cx="466668" cy="389308"/>
          </a:xfrm>
          <a:prstGeom prst="rect">
            <a:avLst/>
          </a:prstGeom>
        </p:spPr>
      </p:pic>
      <p:sp>
        <p:nvSpPr>
          <p:cNvPr id="136" name="TextBox 135">
            <a:extLst>
              <a:ext uri="{FF2B5EF4-FFF2-40B4-BE49-F238E27FC236}">
                <a16:creationId xmlns="" xmlns:a16="http://schemas.microsoft.com/office/drawing/2014/main" id="{3F992B43-2D27-41AB-9FD3-B6DBB4D37FC7}"/>
              </a:ext>
            </a:extLst>
          </p:cNvPr>
          <p:cNvSpPr txBox="1"/>
          <p:nvPr/>
        </p:nvSpPr>
        <p:spPr bwMode="gray">
          <a:xfrm>
            <a:off x="4922946" y="4788323"/>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cxnSp>
        <p:nvCxnSpPr>
          <p:cNvPr id="141" name="Straight Connector 140">
            <a:extLst>
              <a:ext uri="{FF2B5EF4-FFF2-40B4-BE49-F238E27FC236}">
                <a16:creationId xmlns="" xmlns:a16="http://schemas.microsoft.com/office/drawing/2014/main" id="{0B46D86B-4BD8-4AFA-8269-5F936D7E7883}"/>
              </a:ext>
            </a:extLst>
          </p:cNvPr>
          <p:cNvCxnSpPr>
            <a:cxnSpLocks/>
            <a:stCxn id="132" idx="3"/>
            <a:endCxn id="135" idx="1"/>
          </p:cNvCxnSpPr>
          <p:nvPr/>
        </p:nvCxnSpPr>
        <p:spPr bwMode="gray">
          <a:xfrm>
            <a:off x="2800983" y="3362361"/>
            <a:ext cx="1051408" cy="0"/>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 xmlns:a16="http://schemas.microsoft.com/office/drawing/2014/main" id="{E387BEF3-BA61-49D3-8424-5C2E1F494C6A}"/>
              </a:ext>
            </a:extLst>
          </p:cNvPr>
          <p:cNvCxnSpPr>
            <a:cxnSpLocks/>
            <a:stCxn id="133" idx="0"/>
            <a:endCxn id="132" idx="2"/>
          </p:cNvCxnSpPr>
          <p:nvPr/>
        </p:nvCxnSpPr>
        <p:spPr bwMode="gray">
          <a:xfrm flipV="1">
            <a:off x="1895966" y="3557015"/>
            <a:ext cx="671683" cy="736981"/>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 xmlns:a16="http://schemas.microsoft.com/office/drawing/2014/main" id="{EB1FD7A7-1EE5-4C76-B99A-23E20C17585F}"/>
              </a:ext>
            </a:extLst>
          </p:cNvPr>
          <p:cNvCxnSpPr>
            <a:cxnSpLocks/>
            <a:stCxn id="133" idx="3"/>
            <a:endCxn id="134" idx="1"/>
          </p:cNvCxnSpPr>
          <p:nvPr/>
        </p:nvCxnSpPr>
        <p:spPr bwMode="gray">
          <a:xfrm>
            <a:off x="2129300" y="4488650"/>
            <a:ext cx="2515080" cy="2274"/>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 xmlns:a16="http://schemas.microsoft.com/office/drawing/2014/main" id="{282AFA74-94DF-42B8-87D3-86978315B29A}"/>
              </a:ext>
            </a:extLst>
          </p:cNvPr>
          <p:cNvCxnSpPr>
            <a:cxnSpLocks/>
            <a:stCxn id="134" idx="0"/>
            <a:endCxn id="135" idx="2"/>
          </p:cNvCxnSpPr>
          <p:nvPr/>
        </p:nvCxnSpPr>
        <p:spPr bwMode="gray">
          <a:xfrm flipH="1" flipV="1">
            <a:off x="4085725" y="3557015"/>
            <a:ext cx="791989" cy="739255"/>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 xmlns:a16="http://schemas.microsoft.com/office/drawing/2014/main" id="{13412113-D46A-4ACC-A6ED-05EC799AD9DF}"/>
              </a:ext>
            </a:extLst>
          </p:cNvPr>
          <p:cNvSpPr txBox="1"/>
          <p:nvPr/>
        </p:nvSpPr>
        <p:spPr bwMode="gray">
          <a:xfrm>
            <a:off x="2848803" y="5146905"/>
            <a:ext cx="1029449"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MSTP</a:t>
            </a:r>
            <a:r>
              <a:rPr lang="zh-CN" altLang="en-US" sz="1400" b="1" dirty="0">
                <a:latin typeface="Huawei Sans" panose="020C0503030203020204" pitchFamily="34" charset="0"/>
                <a:ea typeface="方正兰亭黑简体" panose="02000000000000000000" pitchFamily="2" charset="-122"/>
              </a:rPr>
              <a:t>网络</a:t>
            </a:r>
          </a:p>
        </p:txBody>
      </p:sp>
      <p:cxnSp>
        <p:nvCxnSpPr>
          <p:cNvPr id="148" name="Straight Connector 147">
            <a:extLst>
              <a:ext uri="{FF2B5EF4-FFF2-40B4-BE49-F238E27FC236}">
                <a16:creationId xmlns="" xmlns:a16="http://schemas.microsoft.com/office/drawing/2014/main" id="{F0A5A8C9-76A8-48FF-BE6F-2CAE0CE5B3DC}"/>
              </a:ext>
            </a:extLst>
          </p:cNvPr>
          <p:cNvCxnSpPr>
            <a:cxnSpLocks/>
          </p:cNvCxnSpPr>
          <p:nvPr/>
        </p:nvCxnSpPr>
        <p:spPr bwMode="gray">
          <a:xfrm flipV="1">
            <a:off x="1824458" y="3547141"/>
            <a:ext cx="671683" cy="73698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 xmlns:a16="http://schemas.microsoft.com/office/drawing/2014/main" id="{ADD75B5A-9563-4436-95AE-BC70455F2740}"/>
              </a:ext>
            </a:extLst>
          </p:cNvPr>
          <p:cNvCxnSpPr>
            <a:cxnSpLocks/>
          </p:cNvCxnSpPr>
          <p:nvPr/>
        </p:nvCxnSpPr>
        <p:spPr bwMode="gray">
          <a:xfrm flipV="1">
            <a:off x="1986312" y="3547141"/>
            <a:ext cx="671683" cy="736981"/>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 xmlns:a16="http://schemas.microsoft.com/office/drawing/2014/main" id="{BFBF22C9-E199-485A-A238-07C1B879EBE8}"/>
              </a:ext>
            </a:extLst>
          </p:cNvPr>
          <p:cNvCxnSpPr>
            <a:cxnSpLocks/>
          </p:cNvCxnSpPr>
          <p:nvPr/>
        </p:nvCxnSpPr>
        <p:spPr bwMode="gray">
          <a:xfrm>
            <a:off x="2800983" y="3300450"/>
            <a:ext cx="1051408"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 xmlns:a16="http://schemas.microsoft.com/office/drawing/2014/main" id="{DAC79D41-AE9E-4469-A779-9120D3CEF9F3}"/>
              </a:ext>
            </a:extLst>
          </p:cNvPr>
          <p:cNvCxnSpPr>
            <a:cxnSpLocks/>
          </p:cNvCxnSpPr>
          <p:nvPr/>
        </p:nvCxnSpPr>
        <p:spPr bwMode="gray">
          <a:xfrm>
            <a:off x="2800983" y="3424237"/>
            <a:ext cx="1051408" cy="0"/>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 xmlns:a16="http://schemas.microsoft.com/office/drawing/2014/main" id="{1AFECC45-EA37-43C1-B75E-3551DDF1047A}"/>
              </a:ext>
            </a:extLst>
          </p:cNvPr>
          <p:cNvCxnSpPr>
            <a:cxnSpLocks/>
          </p:cNvCxnSpPr>
          <p:nvPr/>
        </p:nvCxnSpPr>
        <p:spPr bwMode="gray">
          <a:xfrm flipH="1" flipV="1">
            <a:off x="3985715" y="3547141"/>
            <a:ext cx="791989" cy="739255"/>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 xmlns:a16="http://schemas.microsoft.com/office/drawing/2014/main" id="{60A818B4-8A21-43A8-9972-0D5DD604A472}"/>
              </a:ext>
            </a:extLst>
          </p:cNvPr>
          <p:cNvCxnSpPr>
            <a:cxnSpLocks/>
          </p:cNvCxnSpPr>
          <p:nvPr/>
        </p:nvCxnSpPr>
        <p:spPr bwMode="gray">
          <a:xfrm flipH="1" flipV="1">
            <a:off x="4164857" y="3547141"/>
            <a:ext cx="791989" cy="73925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 xmlns:a16="http://schemas.microsoft.com/office/drawing/2014/main" id="{7694A4BA-8067-49F4-93CA-BD7A5F56CCE0}"/>
              </a:ext>
            </a:extLst>
          </p:cNvPr>
          <p:cNvCxnSpPr>
            <a:cxnSpLocks/>
          </p:cNvCxnSpPr>
          <p:nvPr/>
        </p:nvCxnSpPr>
        <p:spPr bwMode="gray">
          <a:xfrm>
            <a:off x="2129300" y="4426075"/>
            <a:ext cx="2515080" cy="2274"/>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 xmlns:a16="http://schemas.microsoft.com/office/drawing/2014/main" id="{A4474E86-8E18-40E6-BD3D-8B3C5FFBA861}"/>
              </a:ext>
            </a:extLst>
          </p:cNvPr>
          <p:cNvCxnSpPr>
            <a:cxnSpLocks/>
          </p:cNvCxnSpPr>
          <p:nvPr/>
        </p:nvCxnSpPr>
        <p:spPr bwMode="gray">
          <a:xfrm>
            <a:off x="2129300" y="4549866"/>
            <a:ext cx="2515080" cy="227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156" name="Rectangular Callout 26">
            <a:extLst>
              <a:ext uri="{FF2B5EF4-FFF2-40B4-BE49-F238E27FC236}">
                <a16:creationId xmlns="" xmlns:a16="http://schemas.microsoft.com/office/drawing/2014/main" id="{6755BE48-473B-4924-B941-1466486FD2DF}"/>
              </a:ext>
            </a:extLst>
          </p:cNvPr>
          <p:cNvSpPr/>
          <p:nvPr/>
        </p:nvSpPr>
        <p:spPr bwMode="gray">
          <a:xfrm>
            <a:off x="716385" y="3296501"/>
            <a:ext cx="1513283" cy="471484"/>
          </a:xfrm>
          <a:prstGeom prst="wedgeRectCallout">
            <a:avLst>
              <a:gd name="adj1" fmla="val 36275"/>
              <a:gd name="adj2" fmla="val 8657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基于信道化子接口部署网络切片</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7" name="梯形 41">
            <a:extLst>
              <a:ext uri="{FF2B5EF4-FFF2-40B4-BE49-F238E27FC236}">
                <a16:creationId xmlns="" xmlns:a16="http://schemas.microsoft.com/office/drawing/2014/main" id="{2ABD3993-20C0-4391-85F9-23146D4D5258}"/>
              </a:ext>
            </a:extLst>
          </p:cNvPr>
          <p:cNvSpPr/>
          <p:nvPr/>
        </p:nvSpPr>
        <p:spPr bwMode="gray">
          <a:xfrm>
            <a:off x="6337377" y="3966071"/>
            <a:ext cx="520368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椭圆 53">
            <a:extLst>
              <a:ext uri="{FF2B5EF4-FFF2-40B4-BE49-F238E27FC236}">
                <a16:creationId xmlns="" xmlns:a16="http://schemas.microsoft.com/office/drawing/2014/main" id="{472E602C-E260-44DA-A94B-89EE7846B714}"/>
              </a:ext>
            </a:extLst>
          </p:cNvPr>
          <p:cNvSpPr/>
          <p:nvPr/>
        </p:nvSpPr>
        <p:spPr bwMode="gray">
          <a:xfrm>
            <a:off x="7319469" y="4539757"/>
            <a:ext cx="3293341" cy="1529980"/>
          </a:xfrm>
          <a:prstGeom prst="ellips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txBody>
          <a:bodyPr rtlCol="0" anchor="ctr"/>
          <a:lst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a:lstStyle>
          <a:p>
            <a:pPr algn="ctr">
              <a:buNone/>
            </a:pPr>
            <a:endParaRPr lang="en-US" sz="1800" dirty="0">
              <a:latin typeface="Huawei Sans" panose="020C0503030203020204" pitchFamily="34" charset="0"/>
              <a:ea typeface="方正兰亭黑简体" panose="02000000000000000000" pitchFamily="2" charset="-122"/>
            </a:endParaRPr>
          </a:p>
        </p:txBody>
      </p:sp>
      <p:pic>
        <p:nvPicPr>
          <p:cNvPr id="159" name="图片 1118">
            <a:extLst>
              <a:ext uri="{FF2B5EF4-FFF2-40B4-BE49-F238E27FC236}">
                <a16:creationId xmlns="" xmlns:a16="http://schemas.microsoft.com/office/drawing/2014/main" id="{ABC4B47E-BF49-46A9-8060-CF9C5C51F4D9}"/>
              </a:ext>
            </a:extLst>
          </p:cNvPr>
          <p:cNvPicPr>
            <a:picLocks noChangeAspect="1"/>
          </p:cNvPicPr>
          <p:nvPr/>
        </p:nvPicPr>
        <p:blipFill>
          <a:blip r:embed="rId3"/>
          <a:stretch>
            <a:fillRect/>
          </a:stretch>
        </p:blipFill>
        <p:spPr bwMode="gray">
          <a:xfrm>
            <a:off x="7310565" y="5580857"/>
            <a:ext cx="450745" cy="361743"/>
          </a:xfrm>
          <a:prstGeom prst="rect">
            <a:avLst/>
          </a:prstGeom>
        </p:spPr>
      </p:pic>
      <p:pic>
        <p:nvPicPr>
          <p:cNvPr id="160" name="图片 1118">
            <a:extLst>
              <a:ext uri="{FF2B5EF4-FFF2-40B4-BE49-F238E27FC236}">
                <a16:creationId xmlns="" xmlns:a16="http://schemas.microsoft.com/office/drawing/2014/main" id="{0E336A35-88C9-4A61-B604-8C5209788568}"/>
              </a:ext>
            </a:extLst>
          </p:cNvPr>
          <p:cNvPicPr>
            <a:picLocks noChangeAspect="1"/>
          </p:cNvPicPr>
          <p:nvPr/>
        </p:nvPicPr>
        <p:blipFill>
          <a:blip r:embed="rId3"/>
          <a:stretch>
            <a:fillRect/>
          </a:stretch>
        </p:blipFill>
        <p:spPr bwMode="gray">
          <a:xfrm>
            <a:off x="7982345" y="4454584"/>
            <a:ext cx="450745" cy="361743"/>
          </a:xfrm>
          <a:prstGeom prst="rect">
            <a:avLst/>
          </a:prstGeom>
        </p:spPr>
      </p:pic>
      <p:pic>
        <p:nvPicPr>
          <p:cNvPr id="161" name="图片 1118">
            <a:extLst>
              <a:ext uri="{FF2B5EF4-FFF2-40B4-BE49-F238E27FC236}">
                <a16:creationId xmlns="" xmlns:a16="http://schemas.microsoft.com/office/drawing/2014/main" id="{C65561A8-60C9-446B-9290-6B19C0C54D91}"/>
              </a:ext>
            </a:extLst>
          </p:cNvPr>
          <p:cNvPicPr>
            <a:picLocks noChangeAspect="1"/>
          </p:cNvPicPr>
          <p:nvPr/>
        </p:nvPicPr>
        <p:blipFill>
          <a:blip r:embed="rId3"/>
          <a:stretch>
            <a:fillRect/>
          </a:stretch>
        </p:blipFill>
        <p:spPr bwMode="gray">
          <a:xfrm>
            <a:off x="9500324" y="4452561"/>
            <a:ext cx="450745" cy="361743"/>
          </a:xfrm>
          <a:prstGeom prst="rect">
            <a:avLst/>
          </a:prstGeom>
        </p:spPr>
      </p:pic>
      <p:pic>
        <p:nvPicPr>
          <p:cNvPr id="187" name="图片 1118">
            <a:extLst>
              <a:ext uri="{FF2B5EF4-FFF2-40B4-BE49-F238E27FC236}">
                <a16:creationId xmlns="" xmlns:a16="http://schemas.microsoft.com/office/drawing/2014/main" id="{868FC521-7953-412C-B464-A2D9381BE268}"/>
              </a:ext>
            </a:extLst>
          </p:cNvPr>
          <p:cNvPicPr>
            <a:picLocks noChangeAspect="1"/>
          </p:cNvPicPr>
          <p:nvPr/>
        </p:nvPicPr>
        <p:blipFill>
          <a:blip r:embed="rId3"/>
          <a:stretch>
            <a:fillRect/>
          </a:stretch>
        </p:blipFill>
        <p:spPr bwMode="gray">
          <a:xfrm>
            <a:off x="10279484" y="5576036"/>
            <a:ext cx="450745" cy="361743"/>
          </a:xfrm>
          <a:prstGeom prst="rect">
            <a:avLst/>
          </a:prstGeom>
        </p:spPr>
      </p:pic>
      <p:sp>
        <p:nvSpPr>
          <p:cNvPr id="188" name="TextBox 187">
            <a:extLst>
              <a:ext uri="{FF2B5EF4-FFF2-40B4-BE49-F238E27FC236}">
                <a16:creationId xmlns="" xmlns:a16="http://schemas.microsoft.com/office/drawing/2014/main" id="{55D42F2C-CF69-4DC5-B8D0-1CE537448DAB}"/>
              </a:ext>
            </a:extLst>
          </p:cNvPr>
          <p:cNvSpPr txBox="1"/>
          <p:nvPr/>
        </p:nvSpPr>
        <p:spPr bwMode="gray">
          <a:xfrm>
            <a:off x="10354131" y="5892998"/>
            <a:ext cx="1082348"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传输承载网</a:t>
            </a:r>
          </a:p>
        </p:txBody>
      </p:sp>
      <p:cxnSp>
        <p:nvCxnSpPr>
          <p:cNvPr id="189" name="Straight Connector 188">
            <a:extLst>
              <a:ext uri="{FF2B5EF4-FFF2-40B4-BE49-F238E27FC236}">
                <a16:creationId xmlns="" xmlns:a16="http://schemas.microsoft.com/office/drawing/2014/main" id="{96FAC287-1EC0-46C2-9FC7-C2EBC33C2A45}"/>
              </a:ext>
            </a:extLst>
          </p:cNvPr>
          <p:cNvCxnSpPr>
            <a:cxnSpLocks/>
            <a:stCxn id="223" idx="2"/>
            <a:endCxn id="159" idx="0"/>
          </p:cNvCxnSpPr>
          <p:nvPr/>
        </p:nvCxnSpPr>
        <p:spPr bwMode="gray">
          <a:xfrm>
            <a:off x="7535938" y="4683304"/>
            <a:ext cx="0" cy="897553"/>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90" name="Straight Connector 189">
            <a:extLst>
              <a:ext uri="{FF2B5EF4-FFF2-40B4-BE49-F238E27FC236}">
                <a16:creationId xmlns="" xmlns:a16="http://schemas.microsoft.com/office/drawing/2014/main" id="{EFF575CF-7AA1-4CD8-9F50-7E9C35CA0130}"/>
              </a:ext>
            </a:extLst>
          </p:cNvPr>
          <p:cNvCxnSpPr>
            <a:cxnSpLocks/>
            <a:stCxn id="222" idx="2"/>
            <a:endCxn id="160" idx="0"/>
          </p:cNvCxnSpPr>
          <p:nvPr/>
        </p:nvCxnSpPr>
        <p:spPr bwMode="gray">
          <a:xfrm>
            <a:off x="8207621" y="3557015"/>
            <a:ext cx="97" cy="897569"/>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91" name="Straight Connector 190">
            <a:extLst>
              <a:ext uri="{FF2B5EF4-FFF2-40B4-BE49-F238E27FC236}">
                <a16:creationId xmlns="" xmlns:a16="http://schemas.microsoft.com/office/drawing/2014/main" id="{78658592-CA95-4A28-94F1-F821A828C019}"/>
              </a:ext>
            </a:extLst>
          </p:cNvPr>
          <p:cNvCxnSpPr>
            <a:cxnSpLocks/>
            <a:stCxn id="225" idx="2"/>
            <a:endCxn id="161" idx="0"/>
          </p:cNvCxnSpPr>
          <p:nvPr/>
        </p:nvCxnSpPr>
        <p:spPr bwMode="gray">
          <a:xfrm>
            <a:off x="9725697" y="3557015"/>
            <a:ext cx="0" cy="895546"/>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220" name="Straight Connector 219">
            <a:extLst>
              <a:ext uri="{FF2B5EF4-FFF2-40B4-BE49-F238E27FC236}">
                <a16:creationId xmlns="" xmlns:a16="http://schemas.microsoft.com/office/drawing/2014/main" id="{C5B4861C-32A2-441E-B397-860CBC17D206}"/>
              </a:ext>
            </a:extLst>
          </p:cNvPr>
          <p:cNvCxnSpPr>
            <a:cxnSpLocks/>
            <a:stCxn id="224" idx="2"/>
            <a:endCxn id="187" idx="0"/>
          </p:cNvCxnSpPr>
          <p:nvPr/>
        </p:nvCxnSpPr>
        <p:spPr bwMode="gray">
          <a:xfrm flipH="1">
            <a:off x="10504857" y="4685578"/>
            <a:ext cx="12829" cy="890458"/>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221" name="梯形 41">
            <a:extLst>
              <a:ext uri="{FF2B5EF4-FFF2-40B4-BE49-F238E27FC236}">
                <a16:creationId xmlns="" xmlns:a16="http://schemas.microsoft.com/office/drawing/2014/main" id="{C8320BAB-59AD-42F1-8450-B035C7450B95}"/>
              </a:ext>
            </a:extLst>
          </p:cNvPr>
          <p:cNvSpPr/>
          <p:nvPr/>
        </p:nvSpPr>
        <p:spPr bwMode="gray">
          <a:xfrm>
            <a:off x="6347496" y="2887646"/>
            <a:ext cx="5203685"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2" name="图片 31">
            <a:extLst>
              <a:ext uri="{FF2B5EF4-FFF2-40B4-BE49-F238E27FC236}">
                <a16:creationId xmlns="" xmlns:a16="http://schemas.microsoft.com/office/drawing/2014/main" id="{0D2F7087-F3A4-4409-96FF-0DE6A72D2BA6}"/>
              </a:ext>
            </a:extLst>
          </p:cNvPr>
          <p:cNvPicPr>
            <a:picLocks noChangeAspect="1"/>
          </p:cNvPicPr>
          <p:nvPr/>
        </p:nvPicPr>
        <p:blipFill>
          <a:blip r:embed="rId4"/>
          <a:stretch>
            <a:fillRect/>
          </a:stretch>
        </p:blipFill>
        <p:spPr bwMode="gray">
          <a:xfrm>
            <a:off x="7974287" y="3167707"/>
            <a:ext cx="466668" cy="389308"/>
          </a:xfrm>
          <a:prstGeom prst="rect">
            <a:avLst/>
          </a:prstGeom>
        </p:spPr>
      </p:pic>
      <p:pic>
        <p:nvPicPr>
          <p:cNvPr id="223" name="图片 31">
            <a:extLst>
              <a:ext uri="{FF2B5EF4-FFF2-40B4-BE49-F238E27FC236}">
                <a16:creationId xmlns="" xmlns:a16="http://schemas.microsoft.com/office/drawing/2014/main" id="{FC930FD0-D3D8-4E40-95EF-6AA1445AA3DD}"/>
              </a:ext>
            </a:extLst>
          </p:cNvPr>
          <p:cNvPicPr>
            <a:picLocks noChangeAspect="1"/>
          </p:cNvPicPr>
          <p:nvPr/>
        </p:nvPicPr>
        <p:blipFill>
          <a:blip r:embed="rId4"/>
          <a:stretch>
            <a:fillRect/>
          </a:stretch>
        </p:blipFill>
        <p:spPr bwMode="gray">
          <a:xfrm>
            <a:off x="7302604" y="4293996"/>
            <a:ext cx="466668" cy="389308"/>
          </a:xfrm>
          <a:prstGeom prst="rect">
            <a:avLst/>
          </a:prstGeom>
        </p:spPr>
      </p:pic>
      <p:pic>
        <p:nvPicPr>
          <p:cNvPr id="224" name="图片 25">
            <a:extLst>
              <a:ext uri="{FF2B5EF4-FFF2-40B4-BE49-F238E27FC236}">
                <a16:creationId xmlns="" xmlns:a16="http://schemas.microsoft.com/office/drawing/2014/main" id="{F9FEB4A1-B66D-4A71-8024-D1D6FB848074}"/>
              </a:ext>
            </a:extLst>
          </p:cNvPr>
          <p:cNvPicPr>
            <a:picLocks noChangeAspect="1"/>
          </p:cNvPicPr>
          <p:nvPr/>
        </p:nvPicPr>
        <p:blipFill>
          <a:blip r:embed="rId4"/>
          <a:stretch>
            <a:fillRect/>
          </a:stretch>
        </p:blipFill>
        <p:spPr bwMode="gray">
          <a:xfrm>
            <a:off x="10284352" y="4296270"/>
            <a:ext cx="466668" cy="389308"/>
          </a:xfrm>
          <a:prstGeom prst="rect">
            <a:avLst/>
          </a:prstGeom>
        </p:spPr>
      </p:pic>
      <p:pic>
        <p:nvPicPr>
          <p:cNvPr id="225" name="图片 31">
            <a:extLst>
              <a:ext uri="{FF2B5EF4-FFF2-40B4-BE49-F238E27FC236}">
                <a16:creationId xmlns="" xmlns:a16="http://schemas.microsoft.com/office/drawing/2014/main" id="{D2A4445D-80D8-4AC9-B437-8A6E7AEC5383}"/>
              </a:ext>
            </a:extLst>
          </p:cNvPr>
          <p:cNvPicPr>
            <a:picLocks noChangeAspect="1"/>
          </p:cNvPicPr>
          <p:nvPr/>
        </p:nvPicPr>
        <p:blipFill>
          <a:blip r:embed="rId4"/>
          <a:stretch>
            <a:fillRect/>
          </a:stretch>
        </p:blipFill>
        <p:spPr bwMode="gray">
          <a:xfrm>
            <a:off x="9492363" y="3167707"/>
            <a:ext cx="466668" cy="389308"/>
          </a:xfrm>
          <a:prstGeom prst="rect">
            <a:avLst/>
          </a:prstGeom>
        </p:spPr>
      </p:pic>
      <p:sp>
        <p:nvSpPr>
          <p:cNvPr id="226" name="TextBox 225">
            <a:extLst>
              <a:ext uri="{FF2B5EF4-FFF2-40B4-BE49-F238E27FC236}">
                <a16:creationId xmlns="" xmlns:a16="http://schemas.microsoft.com/office/drawing/2014/main" id="{0984CC9A-F8AB-4036-9D0C-CF7FED60742A}"/>
              </a:ext>
            </a:extLst>
          </p:cNvPr>
          <p:cNvSpPr txBox="1"/>
          <p:nvPr/>
        </p:nvSpPr>
        <p:spPr bwMode="gray">
          <a:xfrm>
            <a:off x="10562918" y="4788323"/>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cxnSp>
        <p:nvCxnSpPr>
          <p:cNvPr id="227" name="Straight Connector 226">
            <a:extLst>
              <a:ext uri="{FF2B5EF4-FFF2-40B4-BE49-F238E27FC236}">
                <a16:creationId xmlns="" xmlns:a16="http://schemas.microsoft.com/office/drawing/2014/main" id="{971C2D8E-5F6B-49DF-93BD-FF6F10F99F6C}"/>
              </a:ext>
            </a:extLst>
          </p:cNvPr>
          <p:cNvCxnSpPr>
            <a:cxnSpLocks/>
            <a:stCxn id="222" idx="3"/>
            <a:endCxn id="225" idx="1"/>
          </p:cNvCxnSpPr>
          <p:nvPr/>
        </p:nvCxnSpPr>
        <p:spPr bwMode="gray">
          <a:xfrm>
            <a:off x="8440955" y="3362361"/>
            <a:ext cx="1051408" cy="0"/>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 xmlns:a16="http://schemas.microsoft.com/office/drawing/2014/main" id="{5A8784FA-2DF1-42FC-9102-14433ED4DE99}"/>
              </a:ext>
            </a:extLst>
          </p:cNvPr>
          <p:cNvCxnSpPr>
            <a:cxnSpLocks/>
            <a:stCxn id="223" idx="0"/>
            <a:endCxn id="222" idx="2"/>
          </p:cNvCxnSpPr>
          <p:nvPr/>
        </p:nvCxnSpPr>
        <p:spPr bwMode="gray">
          <a:xfrm flipV="1">
            <a:off x="7535938" y="3557015"/>
            <a:ext cx="671683" cy="736981"/>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 xmlns:a16="http://schemas.microsoft.com/office/drawing/2014/main" id="{57E3550A-3A81-43C4-9C2D-6317C0CAFB53}"/>
              </a:ext>
            </a:extLst>
          </p:cNvPr>
          <p:cNvCxnSpPr>
            <a:cxnSpLocks/>
            <a:stCxn id="223" idx="3"/>
            <a:endCxn id="224" idx="1"/>
          </p:cNvCxnSpPr>
          <p:nvPr/>
        </p:nvCxnSpPr>
        <p:spPr bwMode="gray">
          <a:xfrm>
            <a:off x="7769272" y="4488650"/>
            <a:ext cx="2515080" cy="2274"/>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 xmlns:a16="http://schemas.microsoft.com/office/drawing/2014/main" id="{646A89DD-3AD5-4261-8AA6-AF13034EE4BC}"/>
              </a:ext>
            </a:extLst>
          </p:cNvPr>
          <p:cNvCxnSpPr>
            <a:cxnSpLocks/>
            <a:stCxn id="224" idx="0"/>
            <a:endCxn id="225" idx="2"/>
          </p:cNvCxnSpPr>
          <p:nvPr/>
        </p:nvCxnSpPr>
        <p:spPr bwMode="gray">
          <a:xfrm flipH="1" flipV="1">
            <a:off x="9725697" y="3557015"/>
            <a:ext cx="791989" cy="739255"/>
          </a:xfrm>
          <a:prstGeom prst="line">
            <a:avLst/>
          </a:prstGeom>
          <a:ln w="57150">
            <a:solidFill>
              <a:srgbClr val="E28189"/>
            </a:solidFill>
          </a:ln>
        </p:spPr>
        <p:style>
          <a:lnRef idx="1">
            <a:schemeClr val="accent1"/>
          </a:lnRef>
          <a:fillRef idx="0">
            <a:schemeClr val="accent1"/>
          </a:fillRef>
          <a:effectRef idx="0">
            <a:schemeClr val="accent1"/>
          </a:effectRef>
          <a:fontRef idx="minor">
            <a:schemeClr val="tx1"/>
          </a:fontRef>
        </p:style>
      </p:cxnSp>
      <p:sp>
        <p:nvSpPr>
          <p:cNvPr id="231" name="TextBox 230">
            <a:extLst>
              <a:ext uri="{FF2B5EF4-FFF2-40B4-BE49-F238E27FC236}">
                <a16:creationId xmlns="" xmlns:a16="http://schemas.microsoft.com/office/drawing/2014/main" id="{99CA22E8-D1BD-45C5-AC80-0BA2B5FC2DA4}"/>
              </a:ext>
            </a:extLst>
          </p:cNvPr>
          <p:cNvSpPr txBox="1"/>
          <p:nvPr/>
        </p:nvSpPr>
        <p:spPr bwMode="gray">
          <a:xfrm>
            <a:off x="8488775" y="5146905"/>
            <a:ext cx="938077"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OTN</a:t>
            </a:r>
            <a:r>
              <a:rPr lang="zh-CN" altLang="en-US" sz="1400" b="1" dirty="0">
                <a:latin typeface="Huawei Sans" panose="020C0503030203020204" pitchFamily="34" charset="0"/>
                <a:ea typeface="方正兰亭黑简体" panose="02000000000000000000" pitchFamily="2" charset="-122"/>
              </a:rPr>
              <a:t>网络</a:t>
            </a:r>
          </a:p>
        </p:txBody>
      </p:sp>
      <p:cxnSp>
        <p:nvCxnSpPr>
          <p:cNvPr id="232" name="Straight Connector 231">
            <a:extLst>
              <a:ext uri="{FF2B5EF4-FFF2-40B4-BE49-F238E27FC236}">
                <a16:creationId xmlns="" xmlns:a16="http://schemas.microsoft.com/office/drawing/2014/main" id="{814AA3E0-BDAB-4676-B5AA-EEF04AF76A40}"/>
              </a:ext>
            </a:extLst>
          </p:cNvPr>
          <p:cNvCxnSpPr>
            <a:cxnSpLocks/>
          </p:cNvCxnSpPr>
          <p:nvPr/>
        </p:nvCxnSpPr>
        <p:spPr bwMode="gray">
          <a:xfrm flipV="1">
            <a:off x="7464430" y="3547141"/>
            <a:ext cx="671683" cy="73698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 xmlns:a16="http://schemas.microsoft.com/office/drawing/2014/main" id="{3E49CB9B-B4DA-4165-AA43-0BF588F21B02}"/>
              </a:ext>
            </a:extLst>
          </p:cNvPr>
          <p:cNvCxnSpPr>
            <a:cxnSpLocks/>
          </p:cNvCxnSpPr>
          <p:nvPr/>
        </p:nvCxnSpPr>
        <p:spPr bwMode="gray">
          <a:xfrm flipV="1">
            <a:off x="7626284" y="3547141"/>
            <a:ext cx="671683" cy="736981"/>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 xmlns:a16="http://schemas.microsoft.com/office/drawing/2014/main" id="{764DB2A0-7DFD-40CA-9C11-562BA38FA4FE}"/>
              </a:ext>
            </a:extLst>
          </p:cNvPr>
          <p:cNvCxnSpPr>
            <a:cxnSpLocks/>
          </p:cNvCxnSpPr>
          <p:nvPr/>
        </p:nvCxnSpPr>
        <p:spPr bwMode="gray">
          <a:xfrm>
            <a:off x="8440955" y="3300450"/>
            <a:ext cx="1051408"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 xmlns:a16="http://schemas.microsoft.com/office/drawing/2014/main" id="{D74CD4C2-80C1-4BC0-AA24-8F32FA76025C}"/>
              </a:ext>
            </a:extLst>
          </p:cNvPr>
          <p:cNvCxnSpPr>
            <a:cxnSpLocks/>
          </p:cNvCxnSpPr>
          <p:nvPr/>
        </p:nvCxnSpPr>
        <p:spPr bwMode="gray">
          <a:xfrm>
            <a:off x="8440955" y="3424237"/>
            <a:ext cx="1051408" cy="0"/>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 xmlns:a16="http://schemas.microsoft.com/office/drawing/2014/main" id="{33C185C3-7633-4BBD-98CE-FF73C4BF42FB}"/>
              </a:ext>
            </a:extLst>
          </p:cNvPr>
          <p:cNvCxnSpPr>
            <a:cxnSpLocks/>
          </p:cNvCxnSpPr>
          <p:nvPr/>
        </p:nvCxnSpPr>
        <p:spPr bwMode="gray">
          <a:xfrm flipH="1" flipV="1">
            <a:off x="9625687" y="3547141"/>
            <a:ext cx="791989" cy="739255"/>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 xmlns:a16="http://schemas.microsoft.com/office/drawing/2014/main" id="{A98905D5-FD44-49F8-9941-64E7A495124C}"/>
              </a:ext>
            </a:extLst>
          </p:cNvPr>
          <p:cNvCxnSpPr>
            <a:cxnSpLocks/>
          </p:cNvCxnSpPr>
          <p:nvPr/>
        </p:nvCxnSpPr>
        <p:spPr bwMode="gray">
          <a:xfrm flipH="1" flipV="1">
            <a:off x="9804829" y="3547141"/>
            <a:ext cx="791989" cy="73925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 xmlns:a16="http://schemas.microsoft.com/office/drawing/2014/main" id="{AEF2FE22-A7DC-4C11-8B27-775679C52BD6}"/>
              </a:ext>
            </a:extLst>
          </p:cNvPr>
          <p:cNvCxnSpPr>
            <a:cxnSpLocks/>
          </p:cNvCxnSpPr>
          <p:nvPr/>
        </p:nvCxnSpPr>
        <p:spPr bwMode="gray">
          <a:xfrm>
            <a:off x="7769272" y="4426075"/>
            <a:ext cx="2515080" cy="2274"/>
          </a:xfrm>
          <a:prstGeom prst="line">
            <a:avLst/>
          </a:prstGeom>
          <a:ln w="571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 xmlns:a16="http://schemas.microsoft.com/office/drawing/2014/main" id="{ACBE203E-C3F0-484D-8083-2D1152D15E65}"/>
              </a:ext>
            </a:extLst>
          </p:cNvPr>
          <p:cNvCxnSpPr>
            <a:cxnSpLocks/>
          </p:cNvCxnSpPr>
          <p:nvPr/>
        </p:nvCxnSpPr>
        <p:spPr bwMode="gray">
          <a:xfrm>
            <a:off x="7769272" y="4549866"/>
            <a:ext cx="2515080" cy="227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240" name="Rectangular Callout 26">
            <a:extLst>
              <a:ext uri="{FF2B5EF4-FFF2-40B4-BE49-F238E27FC236}">
                <a16:creationId xmlns="" xmlns:a16="http://schemas.microsoft.com/office/drawing/2014/main" id="{38E8B91E-9E07-43A4-A12D-6221036E3724}"/>
              </a:ext>
            </a:extLst>
          </p:cNvPr>
          <p:cNvSpPr/>
          <p:nvPr/>
        </p:nvSpPr>
        <p:spPr bwMode="gray">
          <a:xfrm>
            <a:off x="6249453" y="3296501"/>
            <a:ext cx="1620187" cy="471484"/>
          </a:xfrm>
          <a:prstGeom prst="wedgeRectCallout">
            <a:avLst>
              <a:gd name="adj1" fmla="val 36275"/>
              <a:gd name="adj2" fmla="val 8657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FlexE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或信道化子接口部署网络切片</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774264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7BA909F-514C-422A-B78D-5273FD953E20}"/>
              </a:ext>
            </a:extLst>
          </p:cNvPr>
          <p:cNvSpPr>
            <a:spLocks noGrp="1"/>
          </p:cNvSpPr>
          <p:nvPr>
            <p:ph type="title"/>
          </p:nvPr>
        </p:nvSpPr>
        <p:spPr/>
        <p:txBody>
          <a:bodyPr/>
          <a:lstStyle/>
          <a:p>
            <a:r>
              <a:rPr lang="zh-CN" altLang="en-US"/>
              <a:t>网络切片典型规划</a:t>
            </a:r>
            <a:endParaRPr lang="en-US" dirty="0"/>
          </a:p>
        </p:txBody>
      </p:sp>
      <p:sp>
        <p:nvSpPr>
          <p:cNvPr id="8" name="Text Placeholder 7">
            <a:extLst>
              <a:ext uri="{FF2B5EF4-FFF2-40B4-BE49-F238E27FC236}">
                <a16:creationId xmlns="" xmlns:a16="http://schemas.microsoft.com/office/drawing/2014/main" id="{E82B5DB9-95BD-4461-B707-786663BF34A8}"/>
              </a:ext>
            </a:extLst>
          </p:cNvPr>
          <p:cNvSpPr>
            <a:spLocks noGrp="1"/>
          </p:cNvSpPr>
          <p:nvPr>
            <p:ph type="body" sz="quarter" idx="10"/>
          </p:nvPr>
        </p:nvSpPr>
        <p:spPr>
          <a:xfrm>
            <a:off x="455612" y="1047750"/>
            <a:ext cx="11293475" cy="452461"/>
          </a:xfrm>
        </p:spPr>
        <p:txBody>
          <a:bodyPr/>
          <a:lstStyle/>
          <a:p>
            <a:r>
              <a:rPr lang="zh-CN" altLang="en-US" sz="1800"/>
              <a:t>基于不同的应用类型可将业务放入不同的切片。同时基于传输线路（</a:t>
            </a:r>
            <a:r>
              <a:rPr lang="en-US" altLang="zh-CN" sz="1800"/>
              <a:t>MSTP</a:t>
            </a:r>
            <a:r>
              <a:rPr lang="zh-CN" altLang="en-US" sz="1800"/>
              <a:t>或</a:t>
            </a:r>
            <a:r>
              <a:rPr lang="en-US" altLang="zh-CN" sz="1800"/>
              <a:t>OTN</a:t>
            </a:r>
            <a:r>
              <a:rPr lang="zh-CN" altLang="en-US" sz="1800"/>
              <a:t>）可选用不同的切片技术。</a:t>
            </a:r>
            <a:endParaRPr lang="en-US" sz="1800" dirty="0"/>
          </a:p>
        </p:txBody>
      </p:sp>
      <p:sp>
        <p:nvSpPr>
          <p:cNvPr id="5" name="燕尾形 3">
            <a:extLst>
              <a:ext uri="{FF2B5EF4-FFF2-40B4-BE49-F238E27FC236}">
                <a16:creationId xmlns="" xmlns:a16="http://schemas.microsoft.com/office/drawing/2014/main" id="{7660BFBD-A116-4C00-B030-BB271878C1BA}"/>
              </a:ext>
            </a:extLst>
          </p:cNvPr>
          <p:cNvSpPr/>
          <p:nvPr/>
        </p:nvSpPr>
        <p:spPr bwMode="gray">
          <a:xfrm>
            <a:off x="9480550" y="44020"/>
            <a:ext cx="107061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74A4127F-F350-48F0-850F-650789935540}"/>
              </a:ext>
            </a:extLst>
          </p:cNvPr>
          <p:cNvSpPr/>
          <p:nvPr/>
        </p:nvSpPr>
        <p:spPr bwMode="gray">
          <a:xfrm>
            <a:off x="10475376" y="44020"/>
            <a:ext cx="127174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切片设计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梯形 41">
            <a:extLst>
              <a:ext uri="{FF2B5EF4-FFF2-40B4-BE49-F238E27FC236}">
                <a16:creationId xmlns="" xmlns:a16="http://schemas.microsoft.com/office/drawing/2014/main" id="{21B665C7-D495-426E-B33A-1EF24DB7EA59}"/>
              </a:ext>
            </a:extLst>
          </p:cNvPr>
          <p:cNvSpPr/>
          <p:nvPr/>
        </p:nvSpPr>
        <p:spPr bwMode="gray">
          <a:xfrm>
            <a:off x="695253" y="3711163"/>
            <a:ext cx="4393090" cy="1011561"/>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7" name="图片 1118">
            <a:extLst>
              <a:ext uri="{FF2B5EF4-FFF2-40B4-BE49-F238E27FC236}">
                <a16:creationId xmlns="" xmlns:a16="http://schemas.microsoft.com/office/drawing/2014/main" id="{A25DC462-6CDF-4F04-8D4C-786A0A00B6A1}"/>
              </a:ext>
            </a:extLst>
          </p:cNvPr>
          <p:cNvPicPr>
            <a:picLocks noChangeAspect="1"/>
          </p:cNvPicPr>
          <p:nvPr/>
        </p:nvPicPr>
        <p:blipFill>
          <a:blip r:embed="rId3"/>
          <a:stretch>
            <a:fillRect/>
          </a:stretch>
        </p:blipFill>
        <p:spPr bwMode="gray">
          <a:xfrm>
            <a:off x="1288438" y="4080132"/>
            <a:ext cx="450745" cy="361743"/>
          </a:xfrm>
          <a:prstGeom prst="rect">
            <a:avLst/>
          </a:prstGeom>
        </p:spPr>
      </p:pic>
      <p:pic>
        <p:nvPicPr>
          <p:cNvPr id="178" name="图片 1118">
            <a:extLst>
              <a:ext uri="{FF2B5EF4-FFF2-40B4-BE49-F238E27FC236}">
                <a16:creationId xmlns="" xmlns:a16="http://schemas.microsoft.com/office/drawing/2014/main" id="{AB9C0250-44C5-4DB0-AE63-2A350C799AE3}"/>
              </a:ext>
            </a:extLst>
          </p:cNvPr>
          <p:cNvPicPr>
            <a:picLocks noChangeAspect="1"/>
          </p:cNvPicPr>
          <p:nvPr/>
        </p:nvPicPr>
        <p:blipFill>
          <a:blip r:embed="rId3"/>
          <a:stretch>
            <a:fillRect/>
          </a:stretch>
        </p:blipFill>
        <p:spPr bwMode="gray">
          <a:xfrm>
            <a:off x="4063273" y="4075311"/>
            <a:ext cx="450745" cy="361743"/>
          </a:xfrm>
          <a:prstGeom prst="rect">
            <a:avLst/>
          </a:prstGeom>
        </p:spPr>
      </p:pic>
      <p:cxnSp>
        <p:nvCxnSpPr>
          <p:cNvPr id="179" name="Straight Connector 178">
            <a:extLst>
              <a:ext uri="{FF2B5EF4-FFF2-40B4-BE49-F238E27FC236}">
                <a16:creationId xmlns="" xmlns:a16="http://schemas.microsoft.com/office/drawing/2014/main" id="{7445D387-06E0-4F6E-8ED5-29CF8C01563C}"/>
              </a:ext>
            </a:extLst>
          </p:cNvPr>
          <p:cNvCxnSpPr>
            <a:cxnSpLocks/>
            <a:stCxn id="173" idx="2"/>
            <a:endCxn id="177" idx="0"/>
          </p:cNvCxnSpPr>
          <p:nvPr/>
        </p:nvCxnSpPr>
        <p:spPr bwMode="gray">
          <a:xfrm flipH="1">
            <a:off x="1513811" y="3623653"/>
            <a:ext cx="7961" cy="456479"/>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80" name="Straight Connector 179">
            <a:extLst>
              <a:ext uri="{FF2B5EF4-FFF2-40B4-BE49-F238E27FC236}">
                <a16:creationId xmlns="" xmlns:a16="http://schemas.microsoft.com/office/drawing/2014/main" id="{5EC4410E-1CB7-46EA-AB85-0317D0A4131D}"/>
              </a:ext>
            </a:extLst>
          </p:cNvPr>
          <p:cNvCxnSpPr>
            <a:cxnSpLocks/>
            <a:stCxn id="178" idx="1"/>
            <a:endCxn id="177" idx="3"/>
          </p:cNvCxnSpPr>
          <p:nvPr/>
        </p:nvCxnSpPr>
        <p:spPr bwMode="gray">
          <a:xfrm flipH="1">
            <a:off x="1739183" y="4256183"/>
            <a:ext cx="2324090" cy="4821"/>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181" name="Straight Connector 180">
            <a:extLst>
              <a:ext uri="{FF2B5EF4-FFF2-40B4-BE49-F238E27FC236}">
                <a16:creationId xmlns="" xmlns:a16="http://schemas.microsoft.com/office/drawing/2014/main" id="{323CDC2E-7870-4000-9113-E3D4B6498CD0}"/>
              </a:ext>
            </a:extLst>
          </p:cNvPr>
          <p:cNvCxnSpPr>
            <a:cxnSpLocks/>
            <a:stCxn id="178" idx="0"/>
            <a:endCxn id="174" idx="2"/>
          </p:cNvCxnSpPr>
          <p:nvPr/>
        </p:nvCxnSpPr>
        <p:spPr bwMode="gray">
          <a:xfrm flipV="1">
            <a:off x="4288646" y="3620354"/>
            <a:ext cx="7961" cy="454957"/>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172" name="梯形 41">
            <a:extLst>
              <a:ext uri="{FF2B5EF4-FFF2-40B4-BE49-F238E27FC236}">
                <a16:creationId xmlns="" xmlns:a16="http://schemas.microsoft.com/office/drawing/2014/main" id="{6ACB2F08-F622-45A8-847D-31E969FC4B55}"/>
              </a:ext>
            </a:extLst>
          </p:cNvPr>
          <p:cNvSpPr/>
          <p:nvPr/>
        </p:nvSpPr>
        <p:spPr bwMode="gray">
          <a:xfrm>
            <a:off x="669558" y="2923219"/>
            <a:ext cx="4393090" cy="1011561"/>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3" name="图片 31">
            <a:extLst>
              <a:ext uri="{FF2B5EF4-FFF2-40B4-BE49-F238E27FC236}">
                <a16:creationId xmlns="" xmlns:a16="http://schemas.microsoft.com/office/drawing/2014/main" id="{1C7DE33E-A29F-4A1E-8C79-867D9B546991}"/>
              </a:ext>
            </a:extLst>
          </p:cNvPr>
          <p:cNvPicPr>
            <a:picLocks noChangeAspect="1"/>
          </p:cNvPicPr>
          <p:nvPr/>
        </p:nvPicPr>
        <p:blipFill>
          <a:blip r:embed="rId4"/>
          <a:stretch>
            <a:fillRect/>
          </a:stretch>
        </p:blipFill>
        <p:spPr bwMode="gray">
          <a:xfrm>
            <a:off x="1288438" y="3234345"/>
            <a:ext cx="466668" cy="389308"/>
          </a:xfrm>
          <a:prstGeom prst="rect">
            <a:avLst/>
          </a:prstGeom>
        </p:spPr>
      </p:pic>
      <p:pic>
        <p:nvPicPr>
          <p:cNvPr id="174" name="图片 31">
            <a:extLst>
              <a:ext uri="{FF2B5EF4-FFF2-40B4-BE49-F238E27FC236}">
                <a16:creationId xmlns="" xmlns:a16="http://schemas.microsoft.com/office/drawing/2014/main" id="{5151C8FD-84E7-47AD-936C-7506C6B11D90}"/>
              </a:ext>
            </a:extLst>
          </p:cNvPr>
          <p:cNvPicPr>
            <a:picLocks noChangeAspect="1"/>
          </p:cNvPicPr>
          <p:nvPr/>
        </p:nvPicPr>
        <p:blipFill>
          <a:blip r:embed="rId4"/>
          <a:stretch>
            <a:fillRect/>
          </a:stretch>
        </p:blipFill>
        <p:spPr bwMode="gray">
          <a:xfrm>
            <a:off x="4063273" y="3231046"/>
            <a:ext cx="466668" cy="389308"/>
          </a:xfrm>
          <a:prstGeom prst="rect">
            <a:avLst/>
          </a:prstGeom>
        </p:spPr>
      </p:pic>
      <p:cxnSp>
        <p:nvCxnSpPr>
          <p:cNvPr id="175" name="Straight Connector 174">
            <a:extLst>
              <a:ext uri="{FF2B5EF4-FFF2-40B4-BE49-F238E27FC236}">
                <a16:creationId xmlns="" xmlns:a16="http://schemas.microsoft.com/office/drawing/2014/main" id="{895792BA-F695-4EAA-BC1D-4295E939391E}"/>
              </a:ext>
            </a:extLst>
          </p:cNvPr>
          <p:cNvCxnSpPr>
            <a:cxnSpLocks/>
            <a:stCxn id="173" idx="3"/>
            <a:endCxn id="174" idx="1"/>
          </p:cNvCxnSpPr>
          <p:nvPr/>
        </p:nvCxnSpPr>
        <p:spPr bwMode="gray">
          <a:xfrm flipV="1">
            <a:off x="1755106" y="3425700"/>
            <a:ext cx="2308167" cy="32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2" name="TextBox 181">
            <a:extLst>
              <a:ext uri="{FF2B5EF4-FFF2-40B4-BE49-F238E27FC236}">
                <a16:creationId xmlns="" xmlns:a16="http://schemas.microsoft.com/office/drawing/2014/main" id="{6E47E139-4F4A-4E81-8076-DFB98ECE6C2A}"/>
              </a:ext>
            </a:extLst>
          </p:cNvPr>
          <p:cNvSpPr txBox="1"/>
          <p:nvPr/>
        </p:nvSpPr>
        <p:spPr bwMode="gray">
          <a:xfrm>
            <a:off x="3884457" y="4459216"/>
            <a:ext cx="1082348"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传输承载网</a:t>
            </a:r>
          </a:p>
        </p:txBody>
      </p:sp>
      <p:sp>
        <p:nvSpPr>
          <p:cNvPr id="183" name="TextBox 182">
            <a:extLst>
              <a:ext uri="{FF2B5EF4-FFF2-40B4-BE49-F238E27FC236}">
                <a16:creationId xmlns="" xmlns:a16="http://schemas.microsoft.com/office/drawing/2014/main" id="{092AC660-29A9-4A4C-8DDB-1FA65B82BD4A}"/>
              </a:ext>
            </a:extLst>
          </p:cNvPr>
          <p:cNvSpPr txBox="1"/>
          <p:nvPr/>
        </p:nvSpPr>
        <p:spPr bwMode="gray">
          <a:xfrm>
            <a:off x="4075329" y="3664566"/>
            <a:ext cx="909223"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IP</a:t>
            </a:r>
            <a:r>
              <a:rPr lang="zh-CN" altLang="en-US" sz="1400" b="1" dirty="0">
                <a:latin typeface="Huawei Sans" panose="020C0503030203020204" pitchFamily="34" charset="0"/>
                <a:ea typeface="方正兰亭黑简体" panose="02000000000000000000" pitchFamily="2" charset="-122"/>
              </a:rPr>
              <a:t>承载网</a:t>
            </a:r>
          </a:p>
        </p:txBody>
      </p:sp>
      <p:sp>
        <p:nvSpPr>
          <p:cNvPr id="184" name="TextBox 183">
            <a:extLst>
              <a:ext uri="{FF2B5EF4-FFF2-40B4-BE49-F238E27FC236}">
                <a16:creationId xmlns="" xmlns:a16="http://schemas.microsoft.com/office/drawing/2014/main" id="{99FA2E2A-1E36-4D6A-A0F1-8B8AE5445093}"/>
              </a:ext>
            </a:extLst>
          </p:cNvPr>
          <p:cNvSpPr txBox="1"/>
          <p:nvPr/>
        </p:nvSpPr>
        <p:spPr bwMode="gray">
          <a:xfrm>
            <a:off x="2410990" y="4381686"/>
            <a:ext cx="1029449"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rPr>
              <a:t>MSTP</a:t>
            </a:r>
            <a:r>
              <a:rPr lang="zh-CN" altLang="en-US" sz="1400" b="1" dirty="0">
                <a:latin typeface="Huawei Sans" panose="020C0503030203020204" pitchFamily="34" charset="0"/>
                <a:ea typeface="方正兰亭黑简体" panose="02000000000000000000" pitchFamily="2" charset="-122"/>
              </a:rPr>
              <a:t>网络</a:t>
            </a:r>
          </a:p>
        </p:txBody>
      </p:sp>
      <p:sp>
        <p:nvSpPr>
          <p:cNvPr id="186" name="梯形 41">
            <a:extLst>
              <a:ext uri="{FF2B5EF4-FFF2-40B4-BE49-F238E27FC236}">
                <a16:creationId xmlns="" xmlns:a16="http://schemas.microsoft.com/office/drawing/2014/main" id="{4E216998-1C1D-41CC-ACCB-24D3861CFDD2}"/>
              </a:ext>
            </a:extLst>
          </p:cNvPr>
          <p:cNvSpPr/>
          <p:nvPr/>
        </p:nvSpPr>
        <p:spPr bwMode="gray">
          <a:xfrm>
            <a:off x="7458510" y="4746762"/>
            <a:ext cx="3444246" cy="787263"/>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梯形 41">
            <a:extLst>
              <a:ext uri="{FF2B5EF4-FFF2-40B4-BE49-F238E27FC236}">
                <a16:creationId xmlns="" xmlns:a16="http://schemas.microsoft.com/office/drawing/2014/main" id="{A95987BE-751C-494D-85D4-99B87EA1F8DA}"/>
              </a:ext>
            </a:extLst>
          </p:cNvPr>
          <p:cNvSpPr/>
          <p:nvPr/>
        </p:nvSpPr>
        <p:spPr bwMode="gray">
          <a:xfrm>
            <a:off x="7458510" y="3790610"/>
            <a:ext cx="3444246" cy="787263"/>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梯形 41">
            <a:extLst>
              <a:ext uri="{FF2B5EF4-FFF2-40B4-BE49-F238E27FC236}">
                <a16:creationId xmlns="" xmlns:a16="http://schemas.microsoft.com/office/drawing/2014/main" id="{FFBE1702-D28E-4650-B50F-7FF94B1ECAB8}"/>
              </a:ext>
            </a:extLst>
          </p:cNvPr>
          <p:cNvSpPr/>
          <p:nvPr/>
        </p:nvSpPr>
        <p:spPr bwMode="gray">
          <a:xfrm>
            <a:off x="7458510" y="2863032"/>
            <a:ext cx="3444246" cy="787263"/>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梯形 41">
            <a:extLst>
              <a:ext uri="{FF2B5EF4-FFF2-40B4-BE49-F238E27FC236}">
                <a16:creationId xmlns="" xmlns:a16="http://schemas.microsoft.com/office/drawing/2014/main" id="{723CBA9D-A22F-4C19-8D4E-2745E914D2F0}"/>
              </a:ext>
            </a:extLst>
          </p:cNvPr>
          <p:cNvSpPr/>
          <p:nvPr/>
        </p:nvSpPr>
        <p:spPr bwMode="gray">
          <a:xfrm>
            <a:off x="7458510" y="1935454"/>
            <a:ext cx="3444246" cy="787263"/>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TextBox 191">
            <a:extLst>
              <a:ext uri="{FF2B5EF4-FFF2-40B4-BE49-F238E27FC236}">
                <a16:creationId xmlns="" xmlns:a16="http://schemas.microsoft.com/office/drawing/2014/main" id="{A4ACD2A0-9A81-4B99-8632-233D55362F76}"/>
              </a:ext>
            </a:extLst>
          </p:cNvPr>
          <p:cNvSpPr txBox="1"/>
          <p:nvPr/>
        </p:nvSpPr>
        <p:spPr bwMode="gray">
          <a:xfrm>
            <a:off x="8497121" y="2159679"/>
            <a:ext cx="2270173"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内联业务切片（</a:t>
            </a:r>
            <a:r>
              <a:rPr lang="en-US" altLang="zh-CN" sz="1400" b="1" dirty="0" smtClean="0">
                <a:latin typeface="Huawei Sans" panose="020C0503030203020204" pitchFamily="34" charset="0"/>
                <a:ea typeface="方正兰亭黑简体" panose="02000000000000000000" pitchFamily="2" charset="-122"/>
              </a:rPr>
              <a:t>5 G</a:t>
            </a:r>
            <a:r>
              <a:rPr lang="zh-CN" altLang="en-US" sz="1400" b="1" dirty="0">
                <a:latin typeface="Huawei Sans" panose="020C0503030203020204" pitchFamily="34" charset="0"/>
                <a:ea typeface="方正兰亭黑简体" panose="02000000000000000000" pitchFamily="2" charset="-122"/>
              </a:rPr>
              <a:t>带宽）</a:t>
            </a:r>
          </a:p>
        </p:txBody>
      </p:sp>
      <p:sp>
        <p:nvSpPr>
          <p:cNvPr id="193" name="TextBox 192">
            <a:extLst>
              <a:ext uri="{FF2B5EF4-FFF2-40B4-BE49-F238E27FC236}">
                <a16:creationId xmlns="" xmlns:a16="http://schemas.microsoft.com/office/drawing/2014/main" id="{ED433943-B1DF-4DEC-80B7-D268F65317DA}"/>
              </a:ext>
            </a:extLst>
          </p:cNvPr>
          <p:cNvSpPr txBox="1"/>
          <p:nvPr/>
        </p:nvSpPr>
        <p:spPr bwMode="gray">
          <a:xfrm>
            <a:off x="8497121" y="3130175"/>
            <a:ext cx="2270173"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外联业务切片（</a:t>
            </a:r>
            <a:r>
              <a:rPr lang="en-US" altLang="zh-CN" sz="1400" b="1" dirty="0" smtClean="0">
                <a:latin typeface="Huawei Sans" panose="020C0503030203020204" pitchFamily="34" charset="0"/>
                <a:ea typeface="方正兰亭黑简体" panose="02000000000000000000" pitchFamily="2" charset="-122"/>
              </a:rPr>
              <a:t>5 G</a:t>
            </a:r>
            <a:r>
              <a:rPr lang="zh-CN" altLang="en-US" sz="1400" b="1" dirty="0">
                <a:latin typeface="Huawei Sans" panose="020C0503030203020204" pitchFamily="34" charset="0"/>
                <a:ea typeface="方正兰亭黑简体" panose="02000000000000000000" pitchFamily="2" charset="-122"/>
              </a:rPr>
              <a:t>带宽）</a:t>
            </a:r>
          </a:p>
        </p:txBody>
      </p:sp>
      <p:sp>
        <p:nvSpPr>
          <p:cNvPr id="194" name="TextBox 193">
            <a:extLst>
              <a:ext uri="{FF2B5EF4-FFF2-40B4-BE49-F238E27FC236}">
                <a16:creationId xmlns="" xmlns:a16="http://schemas.microsoft.com/office/drawing/2014/main" id="{77B54D49-3613-4B28-A636-99430F5E4679}"/>
              </a:ext>
            </a:extLst>
          </p:cNvPr>
          <p:cNvSpPr txBox="1"/>
          <p:nvPr/>
        </p:nvSpPr>
        <p:spPr bwMode="gray">
          <a:xfrm>
            <a:off x="8317585" y="4086108"/>
            <a:ext cx="2449710"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互联网业务切片（</a:t>
            </a:r>
            <a:r>
              <a:rPr lang="en-US" altLang="zh-CN" sz="1400" b="1" dirty="0" smtClean="0">
                <a:latin typeface="Huawei Sans" panose="020C0503030203020204" pitchFamily="34" charset="0"/>
                <a:ea typeface="方正兰亭黑简体" panose="02000000000000000000" pitchFamily="2" charset="-122"/>
              </a:rPr>
              <a:t>1 G</a:t>
            </a:r>
            <a:r>
              <a:rPr lang="zh-CN" altLang="en-US" sz="1400" b="1" dirty="0">
                <a:latin typeface="Huawei Sans" panose="020C0503030203020204" pitchFamily="34" charset="0"/>
                <a:ea typeface="方正兰亭黑简体" panose="02000000000000000000" pitchFamily="2" charset="-122"/>
              </a:rPr>
              <a:t>带宽）</a:t>
            </a:r>
          </a:p>
        </p:txBody>
      </p:sp>
      <p:sp>
        <p:nvSpPr>
          <p:cNvPr id="195" name="TextBox 194">
            <a:extLst>
              <a:ext uri="{FF2B5EF4-FFF2-40B4-BE49-F238E27FC236}">
                <a16:creationId xmlns="" xmlns:a16="http://schemas.microsoft.com/office/drawing/2014/main" id="{11FB98FB-8A84-4677-A2CB-1BAA85716A6C}"/>
              </a:ext>
            </a:extLst>
          </p:cNvPr>
          <p:cNvSpPr txBox="1"/>
          <p:nvPr/>
        </p:nvSpPr>
        <p:spPr bwMode="gray">
          <a:xfrm>
            <a:off x="8481893" y="5068748"/>
            <a:ext cx="2090637"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rPr>
              <a:t>新业务切片（</a:t>
            </a:r>
            <a:r>
              <a:rPr lang="en-US" altLang="zh-CN" sz="1400" b="1" dirty="0" smtClean="0">
                <a:latin typeface="Huawei Sans" panose="020C0503030203020204" pitchFamily="34" charset="0"/>
                <a:ea typeface="方正兰亭黑简体" panose="02000000000000000000" pitchFamily="2" charset="-122"/>
              </a:rPr>
              <a:t>1 G</a:t>
            </a:r>
            <a:r>
              <a:rPr lang="zh-CN" altLang="en-US" sz="1400" b="1" dirty="0">
                <a:latin typeface="Huawei Sans" panose="020C0503030203020204" pitchFamily="34" charset="0"/>
                <a:ea typeface="方正兰亭黑简体" panose="02000000000000000000" pitchFamily="2" charset="-122"/>
              </a:rPr>
              <a:t>带宽）</a:t>
            </a:r>
          </a:p>
        </p:txBody>
      </p:sp>
      <p:sp>
        <p:nvSpPr>
          <p:cNvPr id="196" name="Parallelogram 195">
            <a:extLst>
              <a:ext uri="{FF2B5EF4-FFF2-40B4-BE49-F238E27FC236}">
                <a16:creationId xmlns="" xmlns:a16="http://schemas.microsoft.com/office/drawing/2014/main" id="{269CB929-4724-4F44-BD8C-5CF69E6A4379}"/>
              </a:ext>
            </a:extLst>
          </p:cNvPr>
          <p:cNvSpPr/>
          <p:nvPr/>
        </p:nvSpPr>
        <p:spPr bwMode="gray">
          <a:xfrm>
            <a:off x="6732270" y="1935454"/>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生产业务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Parallelogram 196">
            <a:extLst>
              <a:ext uri="{FF2B5EF4-FFF2-40B4-BE49-F238E27FC236}">
                <a16:creationId xmlns="" xmlns:a16="http://schemas.microsoft.com/office/drawing/2014/main" id="{D3638EBA-8571-457B-BD38-6E164B01F7D9}"/>
              </a:ext>
            </a:extLst>
          </p:cNvPr>
          <p:cNvSpPr/>
          <p:nvPr/>
        </p:nvSpPr>
        <p:spPr bwMode="gray">
          <a:xfrm>
            <a:off x="6526747" y="2207006"/>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办公业务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Parallelogram 197">
            <a:extLst>
              <a:ext uri="{FF2B5EF4-FFF2-40B4-BE49-F238E27FC236}">
                <a16:creationId xmlns="" xmlns:a16="http://schemas.microsoft.com/office/drawing/2014/main" id="{0D5163BE-F38B-4F45-964F-77FC03E3C4C1}"/>
              </a:ext>
            </a:extLst>
          </p:cNvPr>
          <p:cNvSpPr/>
          <p:nvPr/>
        </p:nvSpPr>
        <p:spPr bwMode="gray">
          <a:xfrm>
            <a:off x="6321224" y="2500306"/>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测试业务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Parallelogram 198">
            <a:extLst>
              <a:ext uri="{FF2B5EF4-FFF2-40B4-BE49-F238E27FC236}">
                <a16:creationId xmlns="" xmlns:a16="http://schemas.microsoft.com/office/drawing/2014/main" id="{4BFA49D6-50E8-4A05-8799-AD16F610C404}"/>
              </a:ext>
            </a:extLst>
          </p:cNvPr>
          <p:cNvSpPr/>
          <p:nvPr/>
        </p:nvSpPr>
        <p:spPr bwMode="gray">
          <a:xfrm>
            <a:off x="6749346" y="2871358"/>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金牌业务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Parallelogram 199">
            <a:extLst>
              <a:ext uri="{FF2B5EF4-FFF2-40B4-BE49-F238E27FC236}">
                <a16:creationId xmlns="" xmlns:a16="http://schemas.microsoft.com/office/drawing/2014/main" id="{805F929D-04B0-4FB2-AA9D-016B3B851BB5}"/>
              </a:ext>
            </a:extLst>
          </p:cNvPr>
          <p:cNvSpPr/>
          <p:nvPr/>
        </p:nvSpPr>
        <p:spPr bwMode="gray">
          <a:xfrm>
            <a:off x="6543823" y="3142910"/>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银牌业务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Parallelogram 200">
            <a:extLst>
              <a:ext uri="{FF2B5EF4-FFF2-40B4-BE49-F238E27FC236}">
                <a16:creationId xmlns="" xmlns:a16="http://schemas.microsoft.com/office/drawing/2014/main" id="{480351A3-E512-496C-9FD3-B7ACA3899687}"/>
              </a:ext>
            </a:extLst>
          </p:cNvPr>
          <p:cNvSpPr/>
          <p:nvPr/>
        </p:nvSpPr>
        <p:spPr bwMode="gray">
          <a:xfrm>
            <a:off x="6338300" y="3436210"/>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铜牌业务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Parallelogram 201">
            <a:extLst>
              <a:ext uri="{FF2B5EF4-FFF2-40B4-BE49-F238E27FC236}">
                <a16:creationId xmlns="" xmlns:a16="http://schemas.microsoft.com/office/drawing/2014/main" id="{3DBAFEF0-9C5D-4052-BC5C-374C13E7370A}"/>
              </a:ext>
            </a:extLst>
          </p:cNvPr>
          <p:cNvSpPr/>
          <p:nvPr/>
        </p:nvSpPr>
        <p:spPr bwMode="gray">
          <a:xfrm>
            <a:off x="6680407" y="3884726"/>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Parallelogram 202">
            <a:extLst>
              <a:ext uri="{FF2B5EF4-FFF2-40B4-BE49-F238E27FC236}">
                <a16:creationId xmlns="" xmlns:a16="http://schemas.microsoft.com/office/drawing/2014/main" id="{8472A750-9AE5-4F18-8782-FBE7060B79C6}"/>
              </a:ext>
            </a:extLst>
          </p:cNvPr>
          <p:cNvSpPr/>
          <p:nvPr/>
        </p:nvSpPr>
        <p:spPr bwMode="gray">
          <a:xfrm>
            <a:off x="6474884" y="4178026"/>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上网业务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4" name="Parallelogram 203">
            <a:extLst>
              <a:ext uri="{FF2B5EF4-FFF2-40B4-BE49-F238E27FC236}">
                <a16:creationId xmlns="" xmlns:a16="http://schemas.microsoft.com/office/drawing/2014/main" id="{A944F922-5235-47CC-AFDB-B14B3FD43E33}"/>
              </a:ext>
            </a:extLst>
          </p:cNvPr>
          <p:cNvSpPr/>
          <p:nvPr/>
        </p:nvSpPr>
        <p:spPr bwMode="gray">
          <a:xfrm>
            <a:off x="6557399" y="5012322"/>
            <a:ext cx="1137285" cy="213121"/>
          </a:xfrm>
          <a:prstGeom prst="parallelogram">
            <a:avLst>
              <a:gd name="adj" fmla="val 75661"/>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新业务</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 name="Straight Connector 16">
            <a:extLst>
              <a:ext uri="{FF2B5EF4-FFF2-40B4-BE49-F238E27FC236}">
                <a16:creationId xmlns="" xmlns:a16="http://schemas.microsoft.com/office/drawing/2014/main" id="{790057CD-EDB0-4D42-98D9-D65BA097E346}"/>
              </a:ext>
            </a:extLst>
          </p:cNvPr>
          <p:cNvCxnSpPr>
            <a:cxnSpLocks/>
            <a:stCxn id="196" idx="2"/>
          </p:cNvCxnSpPr>
          <p:nvPr/>
        </p:nvCxnSpPr>
        <p:spPr bwMode="gray">
          <a:xfrm flipV="1">
            <a:off x="7788930" y="2042014"/>
            <a:ext cx="789788" cy="1"/>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 xmlns:a16="http://schemas.microsoft.com/office/drawing/2014/main" id="{6C4E5784-4801-4F82-B3C1-F44B227456C0}"/>
              </a:ext>
            </a:extLst>
          </p:cNvPr>
          <p:cNvCxnSpPr>
            <a:cxnSpLocks/>
            <a:stCxn id="197" idx="2"/>
          </p:cNvCxnSpPr>
          <p:nvPr/>
        </p:nvCxnSpPr>
        <p:spPr bwMode="gray">
          <a:xfrm flipV="1">
            <a:off x="7583407" y="2313566"/>
            <a:ext cx="794439" cy="1"/>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 xmlns:a16="http://schemas.microsoft.com/office/drawing/2014/main" id="{BBD98586-0F61-47FC-82C6-A4D85FCD2ED4}"/>
              </a:ext>
            </a:extLst>
          </p:cNvPr>
          <p:cNvCxnSpPr>
            <a:cxnSpLocks/>
            <a:stCxn id="198" idx="2"/>
          </p:cNvCxnSpPr>
          <p:nvPr/>
        </p:nvCxnSpPr>
        <p:spPr bwMode="gray">
          <a:xfrm>
            <a:off x="7377884" y="2606867"/>
            <a:ext cx="789994" cy="0"/>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 xmlns:a16="http://schemas.microsoft.com/office/drawing/2014/main" id="{32F3DA8D-2F7C-49F6-8E18-DAA5A6112AA1}"/>
              </a:ext>
            </a:extLst>
          </p:cNvPr>
          <p:cNvCxnSpPr>
            <a:cxnSpLocks/>
          </p:cNvCxnSpPr>
          <p:nvPr/>
        </p:nvCxnSpPr>
        <p:spPr bwMode="gray">
          <a:xfrm flipV="1">
            <a:off x="7793331" y="2990826"/>
            <a:ext cx="789788" cy="1"/>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 xmlns:a16="http://schemas.microsoft.com/office/drawing/2014/main" id="{9022D3BD-0705-4733-979E-89A69D28F071}"/>
              </a:ext>
            </a:extLst>
          </p:cNvPr>
          <p:cNvCxnSpPr>
            <a:cxnSpLocks/>
          </p:cNvCxnSpPr>
          <p:nvPr/>
        </p:nvCxnSpPr>
        <p:spPr bwMode="gray">
          <a:xfrm flipV="1">
            <a:off x="7587808" y="3262378"/>
            <a:ext cx="794439" cy="1"/>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 xmlns:a16="http://schemas.microsoft.com/office/drawing/2014/main" id="{44D59E72-56E6-4480-B402-72CF819350F2}"/>
              </a:ext>
            </a:extLst>
          </p:cNvPr>
          <p:cNvCxnSpPr>
            <a:cxnSpLocks/>
          </p:cNvCxnSpPr>
          <p:nvPr/>
        </p:nvCxnSpPr>
        <p:spPr bwMode="gray">
          <a:xfrm>
            <a:off x="7382285" y="3555679"/>
            <a:ext cx="789994" cy="0"/>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 xmlns:a16="http://schemas.microsoft.com/office/drawing/2014/main" id="{CA3C918A-6B8E-4DDB-B202-0C3A82957581}"/>
              </a:ext>
            </a:extLst>
          </p:cNvPr>
          <p:cNvCxnSpPr>
            <a:cxnSpLocks/>
          </p:cNvCxnSpPr>
          <p:nvPr/>
        </p:nvCxnSpPr>
        <p:spPr bwMode="gray">
          <a:xfrm flipV="1">
            <a:off x="7724707" y="3993601"/>
            <a:ext cx="794439" cy="1"/>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 xmlns:a16="http://schemas.microsoft.com/office/drawing/2014/main" id="{1FE5C7D6-E92E-4287-B60D-9272F5AFC57F}"/>
              </a:ext>
            </a:extLst>
          </p:cNvPr>
          <p:cNvCxnSpPr>
            <a:cxnSpLocks/>
          </p:cNvCxnSpPr>
          <p:nvPr/>
        </p:nvCxnSpPr>
        <p:spPr bwMode="gray">
          <a:xfrm>
            <a:off x="7519184" y="4286902"/>
            <a:ext cx="789994" cy="0"/>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 xmlns:a16="http://schemas.microsoft.com/office/drawing/2014/main" id="{A847BDC0-F98F-4EA0-ADC5-5D241122EFA5}"/>
              </a:ext>
            </a:extLst>
          </p:cNvPr>
          <p:cNvCxnSpPr>
            <a:cxnSpLocks/>
          </p:cNvCxnSpPr>
          <p:nvPr/>
        </p:nvCxnSpPr>
        <p:spPr bwMode="gray">
          <a:xfrm>
            <a:off x="7612169" y="5125102"/>
            <a:ext cx="789994" cy="0"/>
          </a:xfrm>
          <a:prstGeom prst="line">
            <a:avLst/>
          </a:prstGeom>
          <a:ln w="28575">
            <a:solidFill>
              <a:srgbClr val="EEB3B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3" name="Arrow: Right 22">
            <a:extLst>
              <a:ext uri="{FF2B5EF4-FFF2-40B4-BE49-F238E27FC236}">
                <a16:creationId xmlns="" xmlns:a16="http://schemas.microsoft.com/office/drawing/2014/main" id="{2D9066F2-67B9-4360-ACB8-4A45AB453CC4}"/>
              </a:ext>
            </a:extLst>
          </p:cNvPr>
          <p:cNvSpPr/>
          <p:nvPr/>
        </p:nvSpPr>
        <p:spPr bwMode="gray">
          <a:xfrm>
            <a:off x="5062649" y="3114295"/>
            <a:ext cx="1043984" cy="535036"/>
          </a:xfrm>
          <a:prstGeom prst="rightArrow">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网络切片</a:t>
            </a:r>
            <a:endParaRPr lang="en-US" sz="1400" dirty="0">
              <a:solidFill>
                <a:schemeClr val="tx1"/>
              </a:solidFill>
            </a:endParaRPr>
          </a:p>
        </p:txBody>
      </p:sp>
      <p:sp>
        <p:nvSpPr>
          <p:cNvPr id="214" name="Rectangular Callout 26">
            <a:extLst>
              <a:ext uri="{FF2B5EF4-FFF2-40B4-BE49-F238E27FC236}">
                <a16:creationId xmlns="" xmlns:a16="http://schemas.microsoft.com/office/drawing/2014/main" id="{DD5CEE0A-5EB3-4DB6-9659-EAC9146C06A4}"/>
              </a:ext>
            </a:extLst>
          </p:cNvPr>
          <p:cNvSpPr/>
          <p:nvPr/>
        </p:nvSpPr>
        <p:spPr bwMode="gray">
          <a:xfrm>
            <a:off x="1917265" y="4907179"/>
            <a:ext cx="1818394" cy="691338"/>
          </a:xfrm>
          <a:prstGeom prst="wedgeRectCallout">
            <a:avLst>
              <a:gd name="adj1" fmla="val 20794"/>
              <a:gd name="adj2" fmla="val -8515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传输网络使用</a:t>
            </a:r>
            <a:r>
              <a:rPr lang="en-US" altLang="zh-CN"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MSTP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，因此切片技术只能使用</a:t>
            </a:r>
            <a:r>
              <a:rPr lang="zh-CN" altLang="en-US" sz="14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信道化子接口</a:t>
            </a:r>
            <a:r>
              <a:rPr lang="zh-CN" altLang="en-US"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988870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企业广域承载网络可靠性设计思路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6223678"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可靠性设计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6223678"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6421289" y="236021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控制器可靠性设计</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3178957"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SLA</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3178957"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6421289" y="285009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设备可靠性设计</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3396926"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QoS</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设计</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3396926" y="2849178"/>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切片设计</a:t>
            </a:r>
          </a:p>
        </p:txBody>
      </p:sp>
      <p:sp>
        <p:nvSpPr>
          <p:cNvPr id="17" name="圆角矩形 6">
            <a:extLst>
              <a:ext uri="{FF2B5EF4-FFF2-40B4-BE49-F238E27FC236}">
                <a16:creationId xmlns="" xmlns:a16="http://schemas.microsoft.com/office/drawing/2014/main" id="{1FBBAE24-2317-4968-BD0A-FA05FAF357A6}"/>
              </a:ext>
            </a:extLst>
          </p:cNvPr>
          <p:cNvSpPr/>
          <p:nvPr/>
        </p:nvSpPr>
        <p:spPr bwMode="gray">
          <a:xfrm>
            <a:off x="6421289" y="3338426"/>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网络可靠性设计</a:t>
            </a:r>
          </a:p>
        </p:txBody>
      </p:sp>
      <p:sp>
        <p:nvSpPr>
          <p:cNvPr id="13" name="Arrow: Down 12">
            <a:extLst>
              <a:ext uri="{FF2B5EF4-FFF2-40B4-BE49-F238E27FC236}">
                <a16:creationId xmlns="" xmlns:a16="http://schemas.microsoft.com/office/drawing/2014/main" id="{4651A048-1DFC-42F3-BEC5-C6052E630BAD}"/>
              </a:ext>
            </a:extLst>
          </p:cNvPr>
          <p:cNvSpPr/>
          <p:nvPr/>
        </p:nvSpPr>
        <p:spPr bwMode="gray">
          <a:xfrm>
            <a:off x="7456436"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1349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F0B7096F-F887-4694-ACB4-659F305A9B0F}"/>
              </a:ext>
            </a:extLst>
          </p:cNvPr>
          <p:cNvSpPr>
            <a:spLocks noGrp="1"/>
          </p:cNvSpPr>
          <p:nvPr>
            <p:ph type="title"/>
          </p:nvPr>
        </p:nvSpPr>
        <p:spPr bwMode="gray"/>
        <p:txBody>
          <a:bodyPr/>
          <a:lstStyle/>
          <a:p>
            <a:r>
              <a:rPr lang="zh-CN" altLang="en-US" dirty="0"/>
              <a:t>控制器本地可靠性设计</a:t>
            </a:r>
            <a:endParaRPr lang="en-US" dirty="0"/>
          </a:p>
        </p:txBody>
      </p:sp>
      <p:sp>
        <p:nvSpPr>
          <p:cNvPr id="4" name="Text Placeholder 3">
            <a:extLst>
              <a:ext uri="{FF2B5EF4-FFF2-40B4-BE49-F238E27FC236}">
                <a16:creationId xmlns="" xmlns:a16="http://schemas.microsoft.com/office/drawing/2014/main" id="{D0A1A328-7FB5-4725-B468-E9D25A8077CA}"/>
              </a:ext>
            </a:extLst>
          </p:cNvPr>
          <p:cNvSpPr>
            <a:spLocks noGrp="1"/>
          </p:cNvSpPr>
          <p:nvPr>
            <p:ph type="body" sz="quarter" idx="10"/>
          </p:nvPr>
        </p:nvSpPr>
        <p:spPr bwMode="gray">
          <a:xfrm>
            <a:off x="455612" y="1047751"/>
            <a:ext cx="11293475" cy="2074944"/>
          </a:xfrm>
        </p:spPr>
        <p:txBody>
          <a:bodyPr/>
          <a:lstStyle/>
          <a:p>
            <a:r>
              <a:rPr lang="en-US" altLang="zh-CN" sz="1800" dirty="0" err="1"/>
              <a:t>iMaster</a:t>
            </a:r>
            <a:r>
              <a:rPr lang="en-US" altLang="zh-CN" sz="1800" dirty="0"/>
              <a:t> NCE-IP</a:t>
            </a:r>
            <a:r>
              <a:rPr lang="zh-CN" altLang="en-US" sz="1800" dirty="0"/>
              <a:t>控制器有两种高可靠性模式：</a:t>
            </a:r>
            <a:endParaRPr lang="en-US" altLang="zh-CN" sz="1800" dirty="0"/>
          </a:p>
          <a:p>
            <a:pPr lvl="1"/>
            <a:r>
              <a:rPr lang="zh-CN" altLang="en-US" sz="1600" dirty="0"/>
              <a:t>主备保护模式：只有主节点上的服务为运行状态。若主节点服务进程发生故障，控制器将自动启动备节点服务，切换至备节点服务实例提供服务。</a:t>
            </a:r>
          </a:p>
          <a:p>
            <a:pPr lvl="1"/>
            <a:r>
              <a:rPr lang="zh-CN" altLang="en-US" sz="1600" dirty="0"/>
              <a:t>集群保护模式：集群节点正常运行时，各节点为多活状态。若其中一个节点发生故障，其他节点将分担这个故障节点的负载能力，继续均衡地提供服务。</a:t>
            </a:r>
          </a:p>
          <a:p>
            <a:pPr lvl="1"/>
            <a:endParaRPr lang="en-US" sz="1600" dirty="0"/>
          </a:p>
        </p:txBody>
      </p:sp>
      <p:sp>
        <p:nvSpPr>
          <p:cNvPr id="5" name="燕尾形 3">
            <a:extLst>
              <a:ext uri="{FF2B5EF4-FFF2-40B4-BE49-F238E27FC236}">
                <a16:creationId xmlns="" xmlns:a16="http://schemas.microsoft.com/office/drawing/2014/main" id="{4401F90A-5138-478F-9990-B6CEFE9F4D59}"/>
              </a:ext>
            </a:extLst>
          </p:cNvPr>
          <p:cNvSpPr/>
          <p:nvPr/>
        </p:nvSpPr>
        <p:spPr bwMode="gray">
          <a:xfrm>
            <a:off x="10452100" y="44020"/>
            <a:ext cx="12992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6718B826-64D1-4045-991F-CE382CE6679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a:extLst>
              <a:ext uri="{FF2B5EF4-FFF2-40B4-BE49-F238E27FC236}">
                <a16:creationId xmlns="" xmlns:a16="http://schemas.microsoft.com/office/drawing/2014/main" id="{B475DF2D-52C0-4876-90B8-881F6D530963}"/>
              </a:ext>
            </a:extLst>
          </p:cNvPr>
          <p:cNvSpPr/>
          <p:nvPr/>
        </p:nvSpPr>
        <p:spPr bwMode="gray">
          <a:xfrm>
            <a:off x="7660593" y="44020"/>
            <a:ext cx="158602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94">
            <a:extLst>
              <a:ext uri="{FF2B5EF4-FFF2-40B4-BE49-F238E27FC236}">
                <a16:creationId xmlns="" xmlns:a16="http://schemas.microsoft.com/office/drawing/2014/main" id="{62582061-FFA4-4963-984B-0DF03CF96D70}"/>
              </a:ext>
            </a:extLst>
          </p:cNvPr>
          <p:cNvSpPr/>
          <p:nvPr/>
        </p:nvSpPr>
        <p:spPr bwMode="gray">
          <a:xfrm>
            <a:off x="1604126" y="3558601"/>
            <a:ext cx="651421" cy="2473746"/>
          </a:xfrm>
          <a:prstGeom prst="roundRect">
            <a:avLst>
              <a:gd name="adj" fmla="val 7980"/>
            </a:avLst>
          </a:prstGeom>
          <a:solidFill>
            <a:srgbClr val="1AABE2"/>
          </a:solidFill>
          <a:ln w="19050" cap="flat" cmpd="sng" algn="ctr">
            <a:noFill/>
            <a:prstDash val="dash"/>
            <a:round/>
            <a:headEnd type="none" w="med" len="med"/>
            <a:tailEnd type="none" w="med" len="med"/>
          </a:ln>
          <a:effectLst/>
        </p:spPr>
        <p:txBody>
          <a:bodyPr vert="horz" wrap="none" lIns="0" tIns="0" rIns="0" bIns="0" numCol="1" rtlCol="0" anchor="b" anchorCtr="0" compatLnSpc="1">
            <a:prstTxWarp prst="textNoShape">
              <a:avLst/>
            </a:prstTxWarp>
            <a:noAutofit/>
          </a:bodyPr>
          <a:lstStyle/>
          <a:p>
            <a:pPr algn="ctr" defTabSz="392096" fontAlgn="base">
              <a:spcBef>
                <a:spcPct val="0"/>
              </a:spcBef>
              <a:spcAft>
                <a:spcPct val="0"/>
              </a:spcAft>
              <a:buClr>
                <a:srgbClr val="A2A2A2"/>
              </a:buClr>
              <a:buSzPct val="70000"/>
            </a:pPr>
            <a:r>
              <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虚拟机</a:t>
            </a:r>
            <a:r>
              <a:rPr lang="en-US" altLang="zh-CN"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1</a:t>
            </a:r>
            <a:endPar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endParaRPr>
          </a:p>
        </p:txBody>
      </p:sp>
      <p:grpSp>
        <p:nvGrpSpPr>
          <p:cNvPr id="10" name="组合 1380">
            <a:extLst>
              <a:ext uri="{FF2B5EF4-FFF2-40B4-BE49-F238E27FC236}">
                <a16:creationId xmlns="" xmlns:a16="http://schemas.microsoft.com/office/drawing/2014/main" id="{263B7A83-A8CF-43C6-9777-F8D71558103C}"/>
              </a:ext>
            </a:extLst>
          </p:cNvPr>
          <p:cNvGrpSpPr/>
          <p:nvPr/>
        </p:nvGrpSpPr>
        <p:grpSpPr bwMode="gray">
          <a:xfrm>
            <a:off x="1631627" y="3689834"/>
            <a:ext cx="574783" cy="2110927"/>
            <a:chOff x="241834" y="10992835"/>
            <a:chExt cx="539999" cy="611330"/>
          </a:xfrm>
        </p:grpSpPr>
        <p:sp>
          <p:nvSpPr>
            <p:cNvPr id="11" name="圆角矩形 96">
              <a:extLst>
                <a:ext uri="{FF2B5EF4-FFF2-40B4-BE49-F238E27FC236}">
                  <a16:creationId xmlns="" xmlns:a16="http://schemas.microsoft.com/office/drawing/2014/main" id="{B633C130-D296-4886-B362-B60BB19FFCF1}"/>
                </a:ext>
              </a:extLst>
            </p:cNvPr>
            <p:cNvSpPr/>
            <p:nvPr/>
          </p:nvSpPr>
          <p:spPr bwMode="gray">
            <a:xfrm>
              <a:off x="241834" y="10992835"/>
              <a:ext cx="539999" cy="503373"/>
            </a:xfrm>
            <a:prstGeom prst="roundRect">
              <a:avLst>
                <a:gd name="adj" fmla="val 10344"/>
              </a:avLst>
            </a:prstGeom>
            <a:solidFill>
              <a:srgbClr val="FF990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管理面</a:t>
              </a:r>
            </a:p>
          </p:txBody>
        </p:sp>
        <p:sp>
          <p:nvSpPr>
            <p:cNvPr id="12" name="圆角矩形 97">
              <a:extLst>
                <a:ext uri="{FF2B5EF4-FFF2-40B4-BE49-F238E27FC236}">
                  <a16:creationId xmlns="" xmlns:a16="http://schemas.microsoft.com/office/drawing/2014/main" id="{650AB64F-75B6-4178-A68A-34BD3FBA64B6}"/>
                </a:ext>
              </a:extLst>
            </p:cNvPr>
            <p:cNvSpPr/>
            <p:nvPr/>
          </p:nvSpPr>
          <p:spPr bwMode="gray">
            <a:xfrm>
              <a:off x="288000" y="11520761"/>
              <a:ext cx="468000" cy="83404"/>
            </a:xfrm>
            <a:prstGeom prst="roundRect">
              <a:avLst>
                <a:gd name="adj" fmla="val 10344"/>
              </a:avLst>
            </a:prstGeom>
            <a:solidFill>
              <a:srgbClr val="92D05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en-US" altLang="zh-CN" sz="1200" kern="0" dirty="0">
                  <a:solidFill>
                    <a:srgbClr val="FFFFFF"/>
                  </a:solidFill>
                  <a:latin typeface="Huawei Sans" panose="020C0503030203020204" pitchFamily="34" charset="0"/>
                  <a:ea typeface="方正兰亭黑简体" panose="02000000000000000000" pitchFamily="2" charset="-122"/>
                  <a:sym typeface="Arial" panose="020B0604020202020204" pitchFamily="34" charset="0"/>
                </a:rPr>
                <a:t>OS/DB</a:t>
              </a:r>
            </a:p>
          </p:txBody>
        </p:sp>
      </p:grpSp>
      <p:sp>
        <p:nvSpPr>
          <p:cNvPr id="13" name="TextBox 624">
            <a:extLst>
              <a:ext uri="{FF2B5EF4-FFF2-40B4-BE49-F238E27FC236}">
                <a16:creationId xmlns="" xmlns:a16="http://schemas.microsoft.com/office/drawing/2014/main" id="{3BFB3F0F-BA29-4AB6-B99A-60F5D3E30664}"/>
              </a:ext>
            </a:extLst>
          </p:cNvPr>
          <p:cNvSpPr txBox="1"/>
          <p:nvPr/>
        </p:nvSpPr>
        <p:spPr bwMode="gray">
          <a:xfrm>
            <a:off x="3735915" y="4949533"/>
            <a:ext cx="459878" cy="276989"/>
          </a:xfrm>
          <a:prstGeom prst="rect">
            <a:avLst/>
          </a:prstGeom>
          <a:noFill/>
        </p:spPr>
        <p:txBody>
          <a:bodyPr wrap="square" lIns="91428" tIns="45715" rIns="91428" bIns="45715" rtlCol="0">
            <a:spAutoFit/>
          </a:bodyPr>
          <a:lstStyle/>
          <a:p>
            <a:pPr defTabSz="914311" fontAlgn="base">
              <a:spcBef>
                <a:spcPct val="0"/>
              </a:spcBef>
              <a:spcAft>
                <a:spcPct val="0"/>
              </a:spcAft>
            </a:pPr>
            <a:r>
              <a:rPr lang="en-US" altLang="zh-CN" sz="1200" dirty="0">
                <a:solidFill>
                  <a:srgbClr val="00B0F0"/>
                </a:solidFill>
                <a:latin typeface="Huawei Sans" panose="020C0503030203020204" pitchFamily="34" charset="0"/>
                <a:ea typeface="方正兰亭黑简体" panose="02000000000000000000" pitchFamily="2" charset="-122"/>
              </a:rPr>
              <a:t>…</a:t>
            </a:r>
            <a:endParaRPr lang="zh-CN" altLang="en-US" sz="1200" dirty="0">
              <a:solidFill>
                <a:srgbClr val="00B0F0"/>
              </a:solidFill>
              <a:latin typeface="Huawei Sans" panose="020C0503030203020204" pitchFamily="34" charset="0"/>
              <a:ea typeface="方正兰亭黑简体" panose="02000000000000000000" pitchFamily="2" charset="-122"/>
            </a:endParaRPr>
          </a:p>
        </p:txBody>
      </p:sp>
      <p:sp>
        <p:nvSpPr>
          <p:cNvPr id="14" name="圆角矩形 99">
            <a:extLst>
              <a:ext uri="{FF2B5EF4-FFF2-40B4-BE49-F238E27FC236}">
                <a16:creationId xmlns="" xmlns:a16="http://schemas.microsoft.com/office/drawing/2014/main" id="{7F38B5DB-9B30-4E5B-9E29-212297418436}"/>
              </a:ext>
            </a:extLst>
          </p:cNvPr>
          <p:cNvSpPr/>
          <p:nvPr/>
        </p:nvSpPr>
        <p:spPr bwMode="gray">
          <a:xfrm>
            <a:off x="4046378" y="3558618"/>
            <a:ext cx="651421" cy="2473746"/>
          </a:xfrm>
          <a:prstGeom prst="roundRect">
            <a:avLst>
              <a:gd name="adj" fmla="val 7980"/>
            </a:avLst>
          </a:prstGeom>
          <a:solidFill>
            <a:srgbClr val="1AABE2"/>
          </a:solidFill>
          <a:ln w="19050" cap="flat" cmpd="sng" algn="ctr">
            <a:noFill/>
            <a:prstDash val="dash"/>
            <a:round/>
            <a:headEnd type="none" w="med" len="med"/>
            <a:tailEnd type="none" w="med" len="med"/>
          </a:ln>
          <a:effectLst/>
        </p:spPr>
        <p:txBody>
          <a:bodyPr vert="horz" wrap="none" lIns="0" tIns="0" rIns="0" bIns="0" numCol="1" rtlCol="0" anchor="b" anchorCtr="0" compatLnSpc="1">
            <a:prstTxWarp prst="textNoShape">
              <a:avLst/>
            </a:prstTxWarp>
            <a:noAutofit/>
          </a:bodyPr>
          <a:lstStyle/>
          <a:p>
            <a:pPr algn="ctr" defTabSz="392096" fontAlgn="base">
              <a:spcBef>
                <a:spcPct val="0"/>
              </a:spcBef>
              <a:spcAft>
                <a:spcPct val="0"/>
              </a:spcAft>
              <a:buClr>
                <a:srgbClr val="A2A2A2"/>
              </a:buClr>
              <a:buSzPct val="70000"/>
            </a:pPr>
            <a:r>
              <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虚拟机</a:t>
            </a:r>
            <a:r>
              <a:rPr lang="en-US" altLang="zh-CN"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n</a:t>
            </a:r>
            <a:endPar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endParaRPr>
          </a:p>
        </p:txBody>
      </p:sp>
      <p:grpSp>
        <p:nvGrpSpPr>
          <p:cNvPr id="15" name="组合 475">
            <a:extLst>
              <a:ext uri="{FF2B5EF4-FFF2-40B4-BE49-F238E27FC236}">
                <a16:creationId xmlns="" xmlns:a16="http://schemas.microsoft.com/office/drawing/2014/main" id="{88B77098-C1DC-4EE2-806F-8E90E41904A1}"/>
              </a:ext>
            </a:extLst>
          </p:cNvPr>
          <p:cNvGrpSpPr/>
          <p:nvPr/>
        </p:nvGrpSpPr>
        <p:grpSpPr bwMode="gray">
          <a:xfrm>
            <a:off x="4083703" y="3691186"/>
            <a:ext cx="574783" cy="2113898"/>
            <a:chOff x="251067" y="10993059"/>
            <a:chExt cx="539999" cy="612190"/>
          </a:xfrm>
        </p:grpSpPr>
        <p:sp>
          <p:nvSpPr>
            <p:cNvPr id="16" name="圆角矩形 101">
              <a:extLst>
                <a:ext uri="{FF2B5EF4-FFF2-40B4-BE49-F238E27FC236}">
                  <a16:creationId xmlns="" xmlns:a16="http://schemas.microsoft.com/office/drawing/2014/main" id="{29690A75-76DD-4552-86F5-B113BD1E5FA7}"/>
                </a:ext>
              </a:extLst>
            </p:cNvPr>
            <p:cNvSpPr/>
            <p:nvPr/>
          </p:nvSpPr>
          <p:spPr bwMode="gray">
            <a:xfrm>
              <a:off x="251067" y="10993059"/>
              <a:ext cx="539999" cy="506360"/>
            </a:xfrm>
            <a:prstGeom prst="roundRect">
              <a:avLst>
                <a:gd name="adj" fmla="val 10344"/>
              </a:avLst>
            </a:prstGeom>
            <a:solidFill>
              <a:srgbClr val="FF990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网络</a:t>
              </a:r>
              <a:endParaRPr lang="en-US" altLang="zh-CN"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endParaRPr>
            </a:p>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分析</a:t>
              </a:r>
            </a:p>
          </p:txBody>
        </p:sp>
        <p:sp>
          <p:nvSpPr>
            <p:cNvPr id="17" name="圆角矩形 102">
              <a:extLst>
                <a:ext uri="{FF2B5EF4-FFF2-40B4-BE49-F238E27FC236}">
                  <a16:creationId xmlns="" xmlns:a16="http://schemas.microsoft.com/office/drawing/2014/main" id="{548C18D0-291F-46C9-ABD0-6F4437C12EF4}"/>
                </a:ext>
              </a:extLst>
            </p:cNvPr>
            <p:cNvSpPr/>
            <p:nvPr/>
          </p:nvSpPr>
          <p:spPr bwMode="gray">
            <a:xfrm>
              <a:off x="288000" y="11520198"/>
              <a:ext cx="468000" cy="85051"/>
            </a:xfrm>
            <a:prstGeom prst="roundRect">
              <a:avLst>
                <a:gd name="adj" fmla="val 10344"/>
              </a:avLst>
            </a:prstGeom>
            <a:solidFill>
              <a:srgbClr val="92D05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en-US" altLang="zh-CN" sz="1200" kern="0" dirty="0">
                  <a:solidFill>
                    <a:srgbClr val="FFFFFF"/>
                  </a:solidFill>
                  <a:latin typeface="Huawei Sans" panose="020C0503030203020204" pitchFamily="34" charset="0"/>
                  <a:ea typeface="方正兰亭黑简体" panose="02000000000000000000" pitchFamily="2" charset="-122"/>
                  <a:sym typeface="Arial" panose="020B0604020202020204" pitchFamily="34" charset="0"/>
                </a:rPr>
                <a:t>OS/DB</a:t>
              </a:r>
            </a:p>
          </p:txBody>
        </p:sp>
      </p:grpSp>
      <p:sp>
        <p:nvSpPr>
          <p:cNvPr id="18" name="圆角矩形 103">
            <a:extLst>
              <a:ext uri="{FF2B5EF4-FFF2-40B4-BE49-F238E27FC236}">
                <a16:creationId xmlns="" xmlns:a16="http://schemas.microsoft.com/office/drawing/2014/main" id="{FF7E7F5B-6CDC-4C22-9A28-7A5072A49905}"/>
              </a:ext>
            </a:extLst>
          </p:cNvPr>
          <p:cNvSpPr/>
          <p:nvPr/>
        </p:nvSpPr>
        <p:spPr bwMode="gray">
          <a:xfrm>
            <a:off x="2353154" y="3558601"/>
            <a:ext cx="651421" cy="2473745"/>
          </a:xfrm>
          <a:prstGeom prst="roundRect">
            <a:avLst>
              <a:gd name="adj" fmla="val 7980"/>
            </a:avLst>
          </a:prstGeom>
          <a:solidFill>
            <a:srgbClr val="1AABE2"/>
          </a:solidFill>
          <a:ln w="19050" cap="flat" cmpd="sng" algn="ctr">
            <a:noFill/>
            <a:prstDash val="dash"/>
            <a:round/>
            <a:headEnd type="none" w="med" len="med"/>
            <a:tailEnd type="none" w="med" len="med"/>
          </a:ln>
          <a:effectLst/>
        </p:spPr>
        <p:txBody>
          <a:bodyPr vert="horz" wrap="none" lIns="0" tIns="0" rIns="0" bIns="0" numCol="1" rtlCol="0" anchor="b" anchorCtr="0" compatLnSpc="1">
            <a:prstTxWarp prst="textNoShape">
              <a:avLst/>
            </a:prstTxWarp>
            <a:noAutofit/>
          </a:bodyPr>
          <a:lstStyle/>
          <a:p>
            <a:pPr algn="ctr" defTabSz="392096" fontAlgn="base">
              <a:spcBef>
                <a:spcPct val="0"/>
              </a:spcBef>
              <a:spcAft>
                <a:spcPct val="0"/>
              </a:spcAft>
              <a:buClr>
                <a:srgbClr val="A2A2A2"/>
              </a:buClr>
              <a:buSzPct val="70000"/>
            </a:pPr>
            <a:r>
              <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虚拟机</a:t>
            </a:r>
            <a:r>
              <a:rPr lang="en-US" altLang="zh-CN"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2</a:t>
            </a:r>
            <a:endPar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endParaRPr>
          </a:p>
        </p:txBody>
      </p:sp>
      <p:grpSp>
        <p:nvGrpSpPr>
          <p:cNvPr id="19" name="组合 509">
            <a:extLst>
              <a:ext uri="{FF2B5EF4-FFF2-40B4-BE49-F238E27FC236}">
                <a16:creationId xmlns="" xmlns:a16="http://schemas.microsoft.com/office/drawing/2014/main" id="{AA1062C2-3AC8-4F12-88FF-7BF1D253C007}"/>
              </a:ext>
            </a:extLst>
          </p:cNvPr>
          <p:cNvGrpSpPr/>
          <p:nvPr/>
        </p:nvGrpSpPr>
        <p:grpSpPr bwMode="gray">
          <a:xfrm>
            <a:off x="2390190" y="3689050"/>
            <a:ext cx="574783" cy="2116029"/>
            <a:chOff x="251068" y="10992443"/>
            <a:chExt cx="539999" cy="612807"/>
          </a:xfrm>
        </p:grpSpPr>
        <p:sp>
          <p:nvSpPr>
            <p:cNvPr id="20" name="圆角矩形 105">
              <a:extLst>
                <a:ext uri="{FF2B5EF4-FFF2-40B4-BE49-F238E27FC236}">
                  <a16:creationId xmlns="" xmlns:a16="http://schemas.microsoft.com/office/drawing/2014/main" id="{93A83D11-A7B9-4396-851E-1518E2175D56}"/>
                </a:ext>
              </a:extLst>
            </p:cNvPr>
            <p:cNvSpPr/>
            <p:nvPr/>
          </p:nvSpPr>
          <p:spPr bwMode="gray">
            <a:xfrm>
              <a:off x="251068" y="10992443"/>
              <a:ext cx="539999" cy="501627"/>
            </a:xfrm>
            <a:prstGeom prst="roundRect">
              <a:avLst>
                <a:gd name="adj" fmla="val 10344"/>
              </a:avLst>
            </a:prstGeom>
            <a:solidFill>
              <a:srgbClr val="FF990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网络</a:t>
              </a:r>
              <a:endParaRPr lang="en-US" altLang="zh-CN"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endParaRPr>
            </a:p>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管理</a:t>
              </a:r>
              <a:endParaRPr lang="en-US" altLang="zh-CN"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21" name="圆角矩形 106">
              <a:extLst>
                <a:ext uri="{FF2B5EF4-FFF2-40B4-BE49-F238E27FC236}">
                  <a16:creationId xmlns="" xmlns:a16="http://schemas.microsoft.com/office/drawing/2014/main" id="{8957E9D2-770A-4BB8-BB4D-852D7C278FA3}"/>
                </a:ext>
              </a:extLst>
            </p:cNvPr>
            <p:cNvSpPr/>
            <p:nvPr/>
          </p:nvSpPr>
          <p:spPr bwMode="gray">
            <a:xfrm>
              <a:off x="288000" y="11520201"/>
              <a:ext cx="468000" cy="85049"/>
            </a:xfrm>
            <a:prstGeom prst="roundRect">
              <a:avLst>
                <a:gd name="adj" fmla="val 10344"/>
              </a:avLst>
            </a:prstGeom>
            <a:solidFill>
              <a:srgbClr val="92D05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en-US" altLang="zh-CN" sz="1200" kern="0" dirty="0">
                  <a:solidFill>
                    <a:srgbClr val="FFFFFF"/>
                  </a:solidFill>
                  <a:latin typeface="Huawei Sans" panose="020C0503030203020204" pitchFamily="34" charset="0"/>
                  <a:ea typeface="方正兰亭黑简体" panose="02000000000000000000" pitchFamily="2" charset="-122"/>
                  <a:sym typeface="Arial" panose="020B0604020202020204" pitchFamily="34" charset="0"/>
                </a:rPr>
                <a:t>OS/DB</a:t>
              </a:r>
            </a:p>
          </p:txBody>
        </p:sp>
      </p:grpSp>
      <p:sp>
        <p:nvSpPr>
          <p:cNvPr id="22" name="圆角矩形 107">
            <a:extLst>
              <a:ext uri="{FF2B5EF4-FFF2-40B4-BE49-F238E27FC236}">
                <a16:creationId xmlns="" xmlns:a16="http://schemas.microsoft.com/office/drawing/2014/main" id="{B07ED3AE-3CD6-4182-82FA-5FCE5B886A22}"/>
              </a:ext>
            </a:extLst>
          </p:cNvPr>
          <p:cNvSpPr/>
          <p:nvPr/>
        </p:nvSpPr>
        <p:spPr bwMode="gray">
          <a:xfrm>
            <a:off x="3102176" y="3558601"/>
            <a:ext cx="651421" cy="2473745"/>
          </a:xfrm>
          <a:prstGeom prst="roundRect">
            <a:avLst>
              <a:gd name="adj" fmla="val 7980"/>
            </a:avLst>
          </a:prstGeom>
          <a:solidFill>
            <a:srgbClr val="1AABE2"/>
          </a:solidFill>
          <a:ln w="19050" cap="flat" cmpd="sng" algn="ctr">
            <a:noFill/>
            <a:prstDash val="dash"/>
            <a:round/>
            <a:headEnd type="none" w="med" len="med"/>
            <a:tailEnd type="none" w="med" len="med"/>
          </a:ln>
          <a:effectLst/>
        </p:spPr>
        <p:txBody>
          <a:bodyPr vert="horz" wrap="none" lIns="0" tIns="0" rIns="0" bIns="0" numCol="1" rtlCol="0" anchor="b" anchorCtr="0" compatLnSpc="1">
            <a:prstTxWarp prst="textNoShape">
              <a:avLst/>
            </a:prstTxWarp>
            <a:noAutofit/>
          </a:bodyPr>
          <a:lstStyle/>
          <a:p>
            <a:pPr algn="ctr" defTabSz="392096" fontAlgn="base">
              <a:spcBef>
                <a:spcPct val="0"/>
              </a:spcBef>
              <a:spcAft>
                <a:spcPct val="0"/>
              </a:spcAft>
              <a:buClr>
                <a:srgbClr val="A2A2A2"/>
              </a:buClr>
              <a:buSzPct val="70000"/>
            </a:pPr>
            <a:r>
              <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虚拟机</a:t>
            </a:r>
            <a:r>
              <a:rPr lang="en-US" altLang="zh-CN"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rPr>
              <a:t>3</a:t>
            </a:r>
            <a:endParaRPr lang="zh-CN" altLang="en-US" sz="1200" b="1" dirty="0">
              <a:solidFill>
                <a:prstClr val="white"/>
              </a:solidFill>
              <a:latin typeface="Huawei Sans" panose="020C0503030203020204" pitchFamily="34" charset="0"/>
              <a:ea typeface="方正兰亭黑简体" panose="02000000000000000000" pitchFamily="2" charset="-122"/>
              <a:sym typeface="Arial" panose="020B0604020202020204" pitchFamily="34" charset="0"/>
            </a:endParaRPr>
          </a:p>
        </p:txBody>
      </p:sp>
      <p:grpSp>
        <p:nvGrpSpPr>
          <p:cNvPr id="23" name="组合 542">
            <a:extLst>
              <a:ext uri="{FF2B5EF4-FFF2-40B4-BE49-F238E27FC236}">
                <a16:creationId xmlns="" xmlns:a16="http://schemas.microsoft.com/office/drawing/2014/main" id="{113288F7-68DF-4A6B-9F97-07A33527E4B7}"/>
              </a:ext>
            </a:extLst>
          </p:cNvPr>
          <p:cNvGrpSpPr/>
          <p:nvPr/>
        </p:nvGrpSpPr>
        <p:grpSpPr bwMode="gray">
          <a:xfrm>
            <a:off x="3140090" y="3689840"/>
            <a:ext cx="574782" cy="2120295"/>
            <a:chOff x="251068" y="10992822"/>
            <a:chExt cx="539999" cy="614042"/>
          </a:xfrm>
        </p:grpSpPr>
        <p:sp>
          <p:nvSpPr>
            <p:cNvPr id="24" name="圆角矩形 109">
              <a:extLst>
                <a:ext uri="{FF2B5EF4-FFF2-40B4-BE49-F238E27FC236}">
                  <a16:creationId xmlns="" xmlns:a16="http://schemas.microsoft.com/office/drawing/2014/main" id="{9A2B3A82-FA85-4CF5-A6A3-F7E3545CD6B6}"/>
                </a:ext>
              </a:extLst>
            </p:cNvPr>
            <p:cNvSpPr/>
            <p:nvPr/>
          </p:nvSpPr>
          <p:spPr bwMode="gray">
            <a:xfrm>
              <a:off x="251068" y="10992822"/>
              <a:ext cx="539999" cy="503354"/>
            </a:xfrm>
            <a:prstGeom prst="roundRect">
              <a:avLst>
                <a:gd name="adj" fmla="val 10344"/>
              </a:avLst>
            </a:prstGeom>
            <a:solidFill>
              <a:srgbClr val="FF990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网络</a:t>
              </a:r>
              <a:endParaRPr lang="en-US" altLang="zh-CN"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endParaRPr>
            </a:p>
            <a:p>
              <a:pPr algn="ctr" defTabSz="914311"/>
              <a:r>
                <a:rPr lang="zh-CN" altLang="en-US" sz="1200" kern="0" dirty="0">
                  <a:solidFill>
                    <a:prstClr val="black"/>
                  </a:solidFill>
                  <a:latin typeface="Huawei Sans" panose="020C0503030203020204" pitchFamily="34" charset="0"/>
                  <a:ea typeface="方正兰亭黑简体" panose="02000000000000000000" pitchFamily="2" charset="-122"/>
                  <a:sym typeface="Arial" panose="020B0604020202020204" pitchFamily="34" charset="0"/>
                </a:rPr>
                <a:t>控制</a:t>
              </a:r>
            </a:p>
          </p:txBody>
        </p:sp>
        <p:sp>
          <p:nvSpPr>
            <p:cNvPr id="25" name="圆角矩形 110">
              <a:extLst>
                <a:ext uri="{FF2B5EF4-FFF2-40B4-BE49-F238E27FC236}">
                  <a16:creationId xmlns="" xmlns:a16="http://schemas.microsoft.com/office/drawing/2014/main" id="{C677BE5A-8D08-4753-9901-6666AEC0727E}"/>
                </a:ext>
              </a:extLst>
            </p:cNvPr>
            <p:cNvSpPr/>
            <p:nvPr/>
          </p:nvSpPr>
          <p:spPr bwMode="gray">
            <a:xfrm>
              <a:off x="288000" y="11520351"/>
              <a:ext cx="468000" cy="86513"/>
            </a:xfrm>
            <a:prstGeom prst="roundRect">
              <a:avLst>
                <a:gd name="adj" fmla="val 10344"/>
              </a:avLst>
            </a:prstGeom>
            <a:solidFill>
              <a:srgbClr val="92D050"/>
            </a:solidFill>
            <a:ln w="9525" cap="flat" cmpd="sng" algn="ctr">
              <a:solidFill>
                <a:srgbClr val="FFFFFF"/>
              </a:solidFill>
              <a:prstDash val="solid"/>
              <a:round/>
              <a:headEnd type="none" w="med" len="med"/>
              <a:tailEnd type="none" w="med" len="med"/>
            </a:ln>
            <a:effectLst/>
          </p:spPr>
          <p:txBody>
            <a:bodyPr vert="horz" wrap="square" lIns="0" tIns="36589" rIns="0" bIns="36589" numCol="1" rtlCol="0" anchor="ctr" anchorCtr="0" compatLnSpc="1">
              <a:prstTxWarp prst="textNoShape">
                <a:avLst/>
              </a:prstTxWarp>
            </a:bodyPr>
            <a:lstStyle/>
            <a:p>
              <a:pPr algn="ctr" defTabSz="914311"/>
              <a:r>
                <a:rPr lang="en-US" altLang="zh-CN" sz="1200" kern="0" dirty="0">
                  <a:solidFill>
                    <a:srgbClr val="FFFFFF"/>
                  </a:solidFill>
                  <a:latin typeface="Huawei Sans" panose="020C0503030203020204" pitchFamily="34" charset="0"/>
                  <a:ea typeface="方正兰亭黑简体" panose="02000000000000000000" pitchFamily="2" charset="-122"/>
                  <a:sym typeface="Arial" panose="020B0604020202020204" pitchFamily="34" charset="0"/>
                </a:rPr>
                <a:t>OS/DB</a:t>
              </a:r>
            </a:p>
          </p:txBody>
        </p:sp>
      </p:grpSp>
      <p:graphicFrame>
        <p:nvGraphicFramePr>
          <p:cNvPr id="30" name="表格 35">
            <a:extLst>
              <a:ext uri="{FF2B5EF4-FFF2-40B4-BE49-F238E27FC236}">
                <a16:creationId xmlns="" xmlns:a16="http://schemas.microsoft.com/office/drawing/2014/main" id="{C7E4CD75-310C-4157-9ADF-F3DBDF999676}"/>
              </a:ext>
            </a:extLst>
          </p:cNvPr>
          <p:cNvGraphicFramePr>
            <a:graphicFrameLocks noGrp="1"/>
          </p:cNvGraphicFramePr>
          <p:nvPr>
            <p:extLst>
              <p:ext uri="{D42A27DB-BD31-4B8C-83A1-F6EECF244321}">
                <p14:modId xmlns:p14="http://schemas.microsoft.com/office/powerpoint/2010/main" val="4058716407"/>
              </p:ext>
            </p:extLst>
          </p:nvPr>
        </p:nvGraphicFramePr>
        <p:xfrm>
          <a:off x="5427105" y="3151658"/>
          <a:ext cx="5994667" cy="2890993"/>
        </p:xfrm>
        <a:graphic>
          <a:graphicData uri="http://schemas.openxmlformats.org/drawingml/2006/table">
            <a:tbl>
              <a:tblPr firstRow="1" bandRow="1"/>
              <a:tblGrid>
                <a:gridCol w="1398238">
                  <a:extLst>
                    <a:ext uri="{9D8B030D-6E8A-4147-A177-3AD203B41FA5}">
                      <a16:colId xmlns="" xmlns:a16="http://schemas.microsoft.com/office/drawing/2014/main" val="20000"/>
                    </a:ext>
                  </a:extLst>
                </a:gridCol>
                <a:gridCol w="1699323">
                  <a:extLst>
                    <a:ext uri="{9D8B030D-6E8A-4147-A177-3AD203B41FA5}">
                      <a16:colId xmlns="" xmlns:a16="http://schemas.microsoft.com/office/drawing/2014/main" val="20001"/>
                    </a:ext>
                  </a:extLst>
                </a:gridCol>
                <a:gridCol w="2897106">
                  <a:extLst>
                    <a:ext uri="{9D8B030D-6E8A-4147-A177-3AD203B41FA5}">
                      <a16:colId xmlns="" xmlns:a16="http://schemas.microsoft.com/office/drawing/2014/main" val="20002"/>
                    </a:ext>
                  </a:extLst>
                </a:gridCol>
              </a:tblGrid>
              <a:tr h="186529">
                <a:tc>
                  <a:txBody>
                    <a:bodyPr/>
                    <a:lstStyle>
                      <a:defPPr>
                        <a:defRPr lang="zh-CN"/>
                      </a:defPPr>
                      <a:lvl1pPr marL="0" algn="l" defTabSz="1027767" rtl="0" eaLnBrk="1" latinLnBrk="0" hangingPunct="1">
                        <a:defRPr sz="2100" b="1" kern="1200">
                          <a:solidFill>
                            <a:schemeClr val="lt1"/>
                          </a:solidFill>
                          <a:latin typeface="Arial"/>
                          <a:ea typeface="Microsoft YaHei"/>
                        </a:defRPr>
                      </a:lvl1pPr>
                      <a:lvl2pPr marL="513881" algn="l" defTabSz="1027767" rtl="0" eaLnBrk="1" latinLnBrk="0" hangingPunct="1">
                        <a:defRPr sz="2100" b="1" kern="1200">
                          <a:solidFill>
                            <a:schemeClr val="lt1"/>
                          </a:solidFill>
                          <a:latin typeface="Arial"/>
                          <a:ea typeface="Microsoft YaHei"/>
                        </a:defRPr>
                      </a:lvl2pPr>
                      <a:lvl3pPr marL="1027767" algn="l" defTabSz="1027767" rtl="0" eaLnBrk="1" latinLnBrk="0" hangingPunct="1">
                        <a:defRPr sz="2100" b="1" kern="1200">
                          <a:solidFill>
                            <a:schemeClr val="lt1"/>
                          </a:solidFill>
                          <a:latin typeface="Arial"/>
                          <a:ea typeface="Microsoft YaHei"/>
                        </a:defRPr>
                      </a:lvl3pPr>
                      <a:lvl4pPr marL="1541650" algn="l" defTabSz="1027767" rtl="0" eaLnBrk="1" latinLnBrk="0" hangingPunct="1">
                        <a:defRPr sz="2100" b="1" kern="1200">
                          <a:solidFill>
                            <a:schemeClr val="lt1"/>
                          </a:solidFill>
                          <a:latin typeface="Arial"/>
                          <a:ea typeface="Microsoft YaHei"/>
                        </a:defRPr>
                      </a:lvl4pPr>
                      <a:lvl5pPr marL="2055534" algn="l" defTabSz="1027767" rtl="0" eaLnBrk="1" latinLnBrk="0" hangingPunct="1">
                        <a:defRPr sz="2100" b="1" kern="1200">
                          <a:solidFill>
                            <a:schemeClr val="lt1"/>
                          </a:solidFill>
                          <a:latin typeface="Arial"/>
                          <a:ea typeface="Microsoft YaHei"/>
                        </a:defRPr>
                      </a:lvl5pPr>
                      <a:lvl6pPr marL="2569416" algn="l" defTabSz="1027767" rtl="0" eaLnBrk="1" latinLnBrk="0" hangingPunct="1">
                        <a:defRPr sz="2100" b="1" kern="1200">
                          <a:solidFill>
                            <a:schemeClr val="lt1"/>
                          </a:solidFill>
                          <a:latin typeface="Arial"/>
                          <a:ea typeface="Microsoft YaHei"/>
                        </a:defRPr>
                      </a:lvl6pPr>
                      <a:lvl7pPr marL="3083302" algn="l" defTabSz="1027767" rtl="0" eaLnBrk="1" latinLnBrk="0" hangingPunct="1">
                        <a:defRPr sz="2100" b="1" kern="1200">
                          <a:solidFill>
                            <a:schemeClr val="lt1"/>
                          </a:solidFill>
                          <a:latin typeface="Arial"/>
                          <a:ea typeface="Microsoft YaHei"/>
                        </a:defRPr>
                      </a:lvl7pPr>
                      <a:lvl8pPr marL="3597185" algn="l" defTabSz="1027767" rtl="0" eaLnBrk="1" latinLnBrk="0" hangingPunct="1">
                        <a:defRPr sz="2100" b="1" kern="1200">
                          <a:solidFill>
                            <a:schemeClr val="lt1"/>
                          </a:solidFill>
                          <a:latin typeface="Arial"/>
                          <a:ea typeface="Microsoft YaHei"/>
                        </a:defRPr>
                      </a:lvl8pPr>
                      <a:lvl9pPr marL="4111066" algn="l" defTabSz="1027767" rtl="0" eaLnBrk="1" latinLnBrk="0" hangingPunct="1">
                        <a:defRPr sz="2100" b="1" kern="1200">
                          <a:solidFill>
                            <a:schemeClr val="lt1"/>
                          </a:solidFill>
                          <a:latin typeface="Arial"/>
                          <a:ea typeface="Microsoft YaHei"/>
                        </a:defRPr>
                      </a:lvl9pPr>
                    </a:lstStyle>
                    <a:p>
                      <a:pPr marL="0" marR="0" indent="0" algn="ctr" defTabSz="914400" rtl="0" eaLnBrk="1" fontAlgn="auto" latinLnBrk="0" hangingPunct="1">
                        <a:lnSpc>
                          <a:spcPts val="1600"/>
                        </a:lnSpc>
                        <a:spcBef>
                          <a:spcPts val="0"/>
                        </a:spcBef>
                        <a:spcAft>
                          <a:spcPts val="0"/>
                        </a:spcAft>
                        <a:buClrTx/>
                        <a:buSzTx/>
                        <a:buFontTx/>
                        <a:buNone/>
                        <a:tabLst/>
                        <a:defRPr/>
                      </a:pPr>
                      <a:r>
                        <a:rPr lang="zh-CN" altLang="en-US" sz="14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保护层次</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defPPr>
                        <a:defRPr lang="zh-CN"/>
                      </a:defPPr>
                      <a:lvl1pPr marL="0" algn="l" defTabSz="1027767" rtl="0" eaLnBrk="1" latinLnBrk="0" hangingPunct="1">
                        <a:defRPr sz="2100" b="1" kern="1200">
                          <a:solidFill>
                            <a:schemeClr val="lt1"/>
                          </a:solidFill>
                          <a:latin typeface="Arial"/>
                          <a:ea typeface="Microsoft YaHei"/>
                        </a:defRPr>
                      </a:lvl1pPr>
                      <a:lvl2pPr marL="513881" algn="l" defTabSz="1027767" rtl="0" eaLnBrk="1" latinLnBrk="0" hangingPunct="1">
                        <a:defRPr sz="2100" b="1" kern="1200">
                          <a:solidFill>
                            <a:schemeClr val="lt1"/>
                          </a:solidFill>
                          <a:latin typeface="Arial"/>
                          <a:ea typeface="Microsoft YaHei"/>
                        </a:defRPr>
                      </a:lvl2pPr>
                      <a:lvl3pPr marL="1027767" algn="l" defTabSz="1027767" rtl="0" eaLnBrk="1" latinLnBrk="0" hangingPunct="1">
                        <a:defRPr sz="2100" b="1" kern="1200">
                          <a:solidFill>
                            <a:schemeClr val="lt1"/>
                          </a:solidFill>
                          <a:latin typeface="Arial"/>
                          <a:ea typeface="Microsoft YaHei"/>
                        </a:defRPr>
                      </a:lvl3pPr>
                      <a:lvl4pPr marL="1541650" algn="l" defTabSz="1027767" rtl="0" eaLnBrk="1" latinLnBrk="0" hangingPunct="1">
                        <a:defRPr sz="2100" b="1" kern="1200">
                          <a:solidFill>
                            <a:schemeClr val="lt1"/>
                          </a:solidFill>
                          <a:latin typeface="Arial"/>
                          <a:ea typeface="Microsoft YaHei"/>
                        </a:defRPr>
                      </a:lvl4pPr>
                      <a:lvl5pPr marL="2055534" algn="l" defTabSz="1027767" rtl="0" eaLnBrk="1" latinLnBrk="0" hangingPunct="1">
                        <a:defRPr sz="2100" b="1" kern="1200">
                          <a:solidFill>
                            <a:schemeClr val="lt1"/>
                          </a:solidFill>
                          <a:latin typeface="Arial"/>
                          <a:ea typeface="Microsoft YaHei"/>
                        </a:defRPr>
                      </a:lvl5pPr>
                      <a:lvl6pPr marL="2569416" algn="l" defTabSz="1027767" rtl="0" eaLnBrk="1" latinLnBrk="0" hangingPunct="1">
                        <a:defRPr sz="2100" b="1" kern="1200">
                          <a:solidFill>
                            <a:schemeClr val="lt1"/>
                          </a:solidFill>
                          <a:latin typeface="Arial"/>
                          <a:ea typeface="Microsoft YaHei"/>
                        </a:defRPr>
                      </a:lvl6pPr>
                      <a:lvl7pPr marL="3083302" algn="l" defTabSz="1027767" rtl="0" eaLnBrk="1" latinLnBrk="0" hangingPunct="1">
                        <a:defRPr sz="2100" b="1" kern="1200">
                          <a:solidFill>
                            <a:schemeClr val="lt1"/>
                          </a:solidFill>
                          <a:latin typeface="Arial"/>
                          <a:ea typeface="Microsoft YaHei"/>
                        </a:defRPr>
                      </a:lvl7pPr>
                      <a:lvl8pPr marL="3597185" algn="l" defTabSz="1027767" rtl="0" eaLnBrk="1" latinLnBrk="0" hangingPunct="1">
                        <a:defRPr sz="2100" b="1" kern="1200">
                          <a:solidFill>
                            <a:schemeClr val="lt1"/>
                          </a:solidFill>
                          <a:latin typeface="Arial"/>
                          <a:ea typeface="Microsoft YaHei"/>
                        </a:defRPr>
                      </a:lvl8pPr>
                      <a:lvl9pPr marL="4111066" algn="l" defTabSz="1027767" rtl="0" eaLnBrk="1" latinLnBrk="0" hangingPunct="1">
                        <a:defRPr sz="2100" b="1" kern="1200">
                          <a:solidFill>
                            <a:schemeClr val="lt1"/>
                          </a:solidFill>
                          <a:latin typeface="Arial"/>
                          <a:ea typeface="Microsoft YaHei"/>
                        </a:defRPr>
                      </a:lvl9pPr>
                    </a:lstStyle>
                    <a:p>
                      <a:pPr marL="0" marR="0" indent="0" algn="ctr" defTabSz="914400" rtl="0" eaLnBrk="1" fontAlgn="auto" latinLnBrk="0" hangingPunct="1">
                        <a:lnSpc>
                          <a:spcPts val="1600"/>
                        </a:lnSpc>
                        <a:spcBef>
                          <a:spcPts val="0"/>
                        </a:spcBef>
                        <a:spcAft>
                          <a:spcPts val="0"/>
                        </a:spcAft>
                        <a:buClrTx/>
                        <a:buSzTx/>
                        <a:buFontTx/>
                        <a:buNone/>
                        <a:tabLst/>
                        <a:defRPr/>
                      </a:pPr>
                      <a:r>
                        <a:rPr lang="zh-CN" altLang="en-US" sz="14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部件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ts val="1600"/>
                        </a:lnSpc>
                        <a:spcBef>
                          <a:spcPts val="0"/>
                        </a:spcBef>
                        <a:spcAft>
                          <a:spcPts val="0"/>
                        </a:spcAft>
                        <a:buClrTx/>
                        <a:buSzTx/>
                        <a:buFontTx/>
                        <a:buNone/>
                        <a:tabLst/>
                        <a:defRPr/>
                      </a:pPr>
                      <a:r>
                        <a:rPr lang="zh-CN" altLang="en-US" sz="1400" b="1"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备注</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 xmlns:a16="http://schemas.microsoft.com/office/drawing/2014/main" val="10000"/>
                  </a:ext>
                </a:extLst>
              </a:tr>
              <a:tr h="300647">
                <a:tc rowSpan="3">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应用层</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lvl="0" indent="0" algn="l" defTabSz="912409"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保护机制</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：应用主备保护</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p>
                      <a:pPr marL="0" marR="0" indent="0" algn="l" defTabSz="912409"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性能指标</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RPO=0s</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 </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RTO</a:t>
                      </a:r>
                      <a:r>
                        <a:rPr lang="zh-CN" altLang="en-US" sz="1200" baseline="0" dirty="0">
                          <a:solidFill>
                            <a:sysClr val="windowText" lastClr="000000"/>
                          </a:solidFill>
                          <a:latin typeface="Huawei Sans" panose="020C0503030203020204" pitchFamily="34" charset="0"/>
                          <a:ea typeface="方正兰亭黑简体" panose="02000000000000000000" pitchFamily="2" charset="-122"/>
                        </a:rPr>
                        <a:t>≤</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5</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分钟</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00647">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solidFill>
                        <a:latin typeface="微软雅黑" panose="020B0503020204020204" pitchFamily="34" charset="-122"/>
                        <a:ea typeface="微软雅黑" panose="020B0503020204020204" pitchFamily="34" charset="-122"/>
                      </a:endParaRPr>
                    </a:p>
                  </a:txBody>
                  <a:tcPr marT="45731" marB="45731" anchor="ctr">
                    <a:lnL w="19050" cap="flat" cmpd="sng" algn="ctr">
                      <a:solidFill>
                        <a:schemeClr val="tx2">
                          <a:lumMod val="60000"/>
                          <a:lumOff val="40000"/>
                        </a:schemeClr>
                      </a:solidFill>
                      <a:prstDash val="solid"/>
                      <a:round/>
                      <a:headEnd type="none" w="med" len="med"/>
                      <a:tailEnd type="none" w="med" len="med"/>
                    </a:lnL>
                    <a:lnR w="19050" cap="flat" cmpd="sng" algn="ctr">
                      <a:solidFill>
                        <a:schemeClr val="tx2">
                          <a:lumMod val="60000"/>
                          <a:lumOff val="40000"/>
                        </a:schemeClr>
                      </a:solidFill>
                      <a:prstDash val="solid"/>
                      <a:round/>
                      <a:headEnd type="none" w="med" len="med"/>
                      <a:tailEnd type="none" w="med" len="med"/>
                    </a:lnR>
                    <a:lnT w="19050" cap="flat" cmpd="sng" algn="ctr">
                      <a:solidFill>
                        <a:schemeClr val="tx2">
                          <a:lumMod val="60000"/>
                          <a:lumOff val="40000"/>
                        </a:schemeClr>
                      </a:solidFill>
                      <a:prstDash val="solid"/>
                      <a:round/>
                      <a:headEnd type="none" w="med" len="med"/>
                      <a:tailEnd type="none" w="med" len="med"/>
                    </a:lnT>
                    <a:lnB w="19050"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控制</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lvl="0" indent="0" algn="l" defTabSz="912409"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保护机制</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：应用主备</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p>
                      <a:pPr marL="0" marR="0" lvl="0" indent="0" algn="l" defTabSz="912409"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性能指标</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RPO=0s</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 </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RTO</a:t>
                      </a:r>
                      <a:r>
                        <a:rPr lang="zh-CN" altLang="en-US" sz="1200" baseline="0" dirty="0">
                          <a:solidFill>
                            <a:sysClr val="windowText" lastClr="000000"/>
                          </a:solidFill>
                          <a:latin typeface="Huawei Sans" panose="020C0503030203020204" pitchFamily="34" charset="0"/>
                          <a:ea typeface="方正兰亭黑简体" panose="02000000000000000000" pitchFamily="2" charset="-122"/>
                        </a:rPr>
                        <a:t>≤</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60s</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00647">
                <a:tc vMerge="1">
                  <a:txBody>
                    <a:bodyPr/>
                    <a:lstStyle/>
                    <a:p>
                      <a:pPr marL="0" marR="0" indent="0" algn="l" defTabSz="912409" rtl="0" eaLnBrk="1" fontAlgn="auto" latinLnBrk="0" hangingPunct="1">
                        <a:lnSpc>
                          <a:spcPct val="100000"/>
                        </a:lnSpc>
                        <a:spcBef>
                          <a:spcPts val="0"/>
                        </a:spcBef>
                        <a:spcAft>
                          <a:spcPts val="0"/>
                        </a:spcAft>
                        <a:buClrTx/>
                        <a:buSzTx/>
                        <a:buFontTx/>
                        <a:buNone/>
                        <a:tabLst/>
                        <a:defRPr/>
                      </a:pPr>
                      <a:endParaRPr lang="zh-CN" altLang="en-US" sz="1200" b="1" dirty="0">
                        <a:solidFill>
                          <a:schemeClr val="tx1"/>
                        </a:solidFill>
                        <a:latin typeface="微软雅黑" panose="020B0503020204020204" pitchFamily="34" charset="-122"/>
                        <a:ea typeface="微软雅黑" panose="020B0503020204020204" pitchFamily="34" charset="-122"/>
                      </a:endParaRPr>
                    </a:p>
                  </a:txBody>
                  <a:tcPr marT="45731" marB="45731" anchor="ctr">
                    <a:lnL w="19050" cap="flat" cmpd="sng" algn="ctr">
                      <a:solidFill>
                        <a:schemeClr val="tx2">
                          <a:lumMod val="60000"/>
                          <a:lumOff val="40000"/>
                        </a:schemeClr>
                      </a:solidFill>
                      <a:prstDash val="solid"/>
                      <a:round/>
                      <a:headEnd type="none" w="med" len="med"/>
                      <a:tailEnd type="none" w="med" len="med"/>
                    </a:lnL>
                    <a:lnR w="19050" cap="flat" cmpd="sng" algn="ctr">
                      <a:solidFill>
                        <a:schemeClr val="tx2">
                          <a:lumMod val="60000"/>
                          <a:lumOff val="40000"/>
                        </a:schemeClr>
                      </a:solidFill>
                      <a:prstDash val="solid"/>
                      <a:round/>
                      <a:headEnd type="none" w="med" len="med"/>
                      <a:tailEnd type="none" w="med" len="med"/>
                    </a:lnR>
                    <a:lnT w="19050" cap="flat" cmpd="sng" algn="ctr">
                      <a:solidFill>
                        <a:schemeClr val="tx2">
                          <a:lumMod val="60000"/>
                          <a:lumOff val="40000"/>
                        </a:schemeClr>
                      </a:solidFill>
                      <a:prstDash val="solid"/>
                      <a:round/>
                      <a:headEnd type="none" w="med" len="med"/>
                      <a:tailEnd type="none" w="med" len="med"/>
                    </a:lnT>
                    <a:lnB w="19050"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2409"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lvl="0" indent="0" algn="l" defTabSz="912409"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保护机制</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：主备保护</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p>
                      <a:pPr marL="0" marR="0" indent="0" algn="l" defTabSz="912409"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性能指标</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RPO=0s</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 </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RTO</a:t>
                      </a:r>
                      <a:r>
                        <a:rPr lang="zh-CN" altLang="en-US" sz="1200" baseline="0" dirty="0">
                          <a:solidFill>
                            <a:sysClr val="windowText" lastClr="000000"/>
                          </a:solidFill>
                          <a:latin typeface="Huawei Sans" panose="020C0503030203020204" pitchFamily="34" charset="0"/>
                          <a:ea typeface="方正兰亭黑简体" panose="02000000000000000000" pitchFamily="2" charset="-122"/>
                        </a:rPr>
                        <a:t>≤</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sym typeface="Arial" panose="020B0604020202020204" pitchFamily="34" charset="0"/>
                        </a:rPr>
                        <a:t>5</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分钟</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300648">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baseline="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DB</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DB</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lvl="0" indent="0" algn="l" defTabSz="912171"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6-GBK"/>
                          <a:sym typeface="Arial" panose="020B0604020202020204" pitchFamily="34" charset="0"/>
                        </a:rPr>
                        <a:t>保护机制</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：数据库主备保护</a:t>
                      </a:r>
                      <a:endPar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mn-cs"/>
                        <a:sym typeface="Arial" panose="020B0604020202020204" pitchFamily="34" charset="0"/>
                      </a:endParaRPr>
                    </a:p>
                    <a:p>
                      <a:pPr marL="0" marR="0" lvl="0" indent="0" algn="l" defTabSz="912171"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mn-cs"/>
                          <a:sym typeface="Arial" panose="020B0604020202020204" pitchFamily="34" charset="0"/>
                        </a:rPr>
                        <a:t>RPO = 60s</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mn-cs"/>
                          <a:sym typeface="Arial" panose="020B0604020202020204" pitchFamily="34" charset="0"/>
                        </a:rPr>
                        <a:t>； </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mn-cs"/>
                          <a:sym typeface="Arial" panose="020B0604020202020204" pitchFamily="34" charset="0"/>
                        </a:rPr>
                        <a:t>RTO </a:t>
                      </a:r>
                      <a:r>
                        <a:rPr lang="zh-CN" altLang="en-US" sz="1200" baseline="0" dirty="0">
                          <a:solidFill>
                            <a:sysClr val="windowText" lastClr="000000"/>
                          </a:solidFill>
                          <a:latin typeface="Huawei Sans" panose="020C0503030203020204" pitchFamily="34" charset="0"/>
                          <a:ea typeface="方正兰亭黑简体" panose="02000000000000000000" pitchFamily="2" charset="-122"/>
                        </a:rPr>
                        <a:t>≤ </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mn-cs"/>
                          <a:sym typeface="Arial" panose="020B0604020202020204" pitchFamily="34" charset="0"/>
                        </a:rPr>
                        <a:t>60s</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mn-cs"/>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6"/>
                  </a:ext>
                </a:extLst>
              </a:tr>
              <a:tr h="310353">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algn="l"/>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虚拟层</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algn="l"/>
                      <a:r>
                        <a:rPr lang="en-US" altLang="zh-CN" sz="1200" kern="1200" baseline="0" dirty="0" err="1">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FusionCompute</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NA</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7"/>
                  </a:ext>
                </a:extLst>
              </a:tr>
              <a:tr h="365133">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algn="l"/>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服务器</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defPPr>
                        <a:defRPr lang="zh-CN"/>
                      </a:defPPr>
                      <a:lvl1pPr marL="0" algn="l" defTabSz="1027767" rtl="0" eaLnBrk="1" latinLnBrk="0" hangingPunct="1">
                        <a:defRPr sz="2100" kern="1200">
                          <a:solidFill>
                            <a:schemeClr val="dk1"/>
                          </a:solidFill>
                          <a:latin typeface="Arial"/>
                          <a:ea typeface="Microsoft YaHei"/>
                        </a:defRPr>
                      </a:lvl1pPr>
                      <a:lvl2pPr marL="513881" algn="l" defTabSz="1027767" rtl="0" eaLnBrk="1" latinLnBrk="0" hangingPunct="1">
                        <a:defRPr sz="2100" kern="1200">
                          <a:solidFill>
                            <a:schemeClr val="dk1"/>
                          </a:solidFill>
                          <a:latin typeface="Arial"/>
                          <a:ea typeface="Microsoft YaHei"/>
                        </a:defRPr>
                      </a:lvl2pPr>
                      <a:lvl3pPr marL="1027767" algn="l" defTabSz="1027767" rtl="0" eaLnBrk="1" latinLnBrk="0" hangingPunct="1">
                        <a:defRPr sz="2100" kern="1200">
                          <a:solidFill>
                            <a:schemeClr val="dk1"/>
                          </a:solidFill>
                          <a:latin typeface="Arial"/>
                          <a:ea typeface="Microsoft YaHei"/>
                        </a:defRPr>
                      </a:lvl3pPr>
                      <a:lvl4pPr marL="1541650" algn="l" defTabSz="1027767" rtl="0" eaLnBrk="1" latinLnBrk="0" hangingPunct="1">
                        <a:defRPr sz="2100" kern="1200">
                          <a:solidFill>
                            <a:schemeClr val="dk1"/>
                          </a:solidFill>
                          <a:latin typeface="Arial"/>
                          <a:ea typeface="Microsoft YaHei"/>
                        </a:defRPr>
                      </a:lvl4pPr>
                      <a:lvl5pPr marL="2055534" algn="l" defTabSz="1027767" rtl="0" eaLnBrk="1" latinLnBrk="0" hangingPunct="1">
                        <a:defRPr sz="2100" kern="1200">
                          <a:solidFill>
                            <a:schemeClr val="dk1"/>
                          </a:solidFill>
                          <a:latin typeface="Arial"/>
                          <a:ea typeface="Microsoft YaHei"/>
                        </a:defRPr>
                      </a:lvl5pPr>
                      <a:lvl6pPr marL="2569416" algn="l" defTabSz="1027767" rtl="0" eaLnBrk="1" latinLnBrk="0" hangingPunct="1">
                        <a:defRPr sz="2100" kern="1200">
                          <a:solidFill>
                            <a:schemeClr val="dk1"/>
                          </a:solidFill>
                          <a:latin typeface="Arial"/>
                          <a:ea typeface="Microsoft YaHei"/>
                        </a:defRPr>
                      </a:lvl6pPr>
                      <a:lvl7pPr marL="3083302" algn="l" defTabSz="1027767" rtl="0" eaLnBrk="1" latinLnBrk="0" hangingPunct="1">
                        <a:defRPr sz="2100" kern="1200">
                          <a:solidFill>
                            <a:schemeClr val="dk1"/>
                          </a:solidFill>
                          <a:latin typeface="Arial"/>
                          <a:ea typeface="Microsoft YaHei"/>
                        </a:defRPr>
                      </a:lvl7pPr>
                      <a:lvl8pPr marL="3597185" algn="l" defTabSz="1027767" rtl="0" eaLnBrk="1" latinLnBrk="0" hangingPunct="1">
                        <a:defRPr sz="2100" kern="1200">
                          <a:solidFill>
                            <a:schemeClr val="dk1"/>
                          </a:solidFill>
                          <a:latin typeface="Arial"/>
                          <a:ea typeface="Microsoft YaHei"/>
                        </a:defRPr>
                      </a:lvl8pPr>
                      <a:lvl9pPr marL="4111066" algn="l" defTabSz="1027767" rtl="0" eaLnBrk="1" latinLnBrk="0" hangingPunct="1">
                        <a:defRPr sz="2100" kern="1200">
                          <a:solidFill>
                            <a:schemeClr val="dk1"/>
                          </a:solidFill>
                          <a:latin typeface="Arial"/>
                          <a:ea typeface="Microsoft YaHei"/>
                        </a:defRPr>
                      </a:lvl9pPr>
                    </a:lstStyle>
                    <a:p>
                      <a:pPr marL="0" marR="0" indent="0" algn="l" defTabSz="912409"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泰山</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/RH/E9000</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服务器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2409"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管理模块</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1+1</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，电源</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1+1</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p>
                      <a:pPr marL="0" marR="0" indent="0" algn="l" defTabSz="912409" rtl="0" eaLnBrk="1" fontAlgn="auto" latinLnBrk="0" hangingPunct="1">
                        <a:lnSpc>
                          <a:spcPct val="100000"/>
                        </a:lnSpc>
                        <a:spcBef>
                          <a:spcPts val="0"/>
                        </a:spcBef>
                        <a:spcAft>
                          <a:spcPts val="0"/>
                        </a:spcAft>
                        <a:buClrTx/>
                        <a:buSzTx/>
                        <a:buFontTx/>
                        <a:buNone/>
                        <a:tabLst/>
                        <a:defRPr/>
                      </a:pP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网口</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1+1</a:t>
                      </a:r>
                      <a:r>
                        <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，硬盘</a:t>
                      </a:r>
                      <a:r>
                        <a:rPr lang="en-US" altLang="zh-CN"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rPr>
                        <a:t>RAID1/RAID10</a:t>
                      </a:r>
                      <a:endParaRPr lang="zh-CN" altLang="en-US" sz="1200" kern="1200" baseline="0" dirty="0">
                        <a:solidFill>
                          <a:sysClr val="windowText" lastClr="000000"/>
                        </a:solidFill>
                        <a:latin typeface="Huawei Sans" panose="020C0503030203020204" pitchFamily="34" charset="0"/>
                        <a:ea typeface="方正兰亭黑简体" panose="02000000000000000000" pitchFamily="2" charset="-122"/>
                        <a:cs typeface="FZLanTingHei3-GBK"/>
                        <a:sym typeface="Arial" panose="020B0604020202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8"/>
                  </a:ext>
                </a:extLst>
              </a:tr>
            </a:tbl>
          </a:graphicData>
        </a:graphic>
      </p:graphicFrame>
      <p:sp>
        <p:nvSpPr>
          <p:cNvPr id="31" name="圆角矩形 75">
            <a:extLst>
              <a:ext uri="{FF2B5EF4-FFF2-40B4-BE49-F238E27FC236}">
                <a16:creationId xmlns="" xmlns:a16="http://schemas.microsoft.com/office/drawing/2014/main" id="{8F2A20D6-BF8E-4ED7-9D18-4A629967F23D}"/>
              </a:ext>
            </a:extLst>
          </p:cNvPr>
          <p:cNvSpPr/>
          <p:nvPr/>
        </p:nvSpPr>
        <p:spPr bwMode="gray">
          <a:xfrm>
            <a:off x="1323975" y="3429597"/>
            <a:ext cx="3683945" cy="2689896"/>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33" name="图片 24">
            <a:extLst>
              <a:ext uri="{FF2B5EF4-FFF2-40B4-BE49-F238E27FC236}">
                <a16:creationId xmlns="" xmlns:a16="http://schemas.microsoft.com/office/drawing/2014/main" id="{B432EF50-CFC1-4DD8-9902-BFF55B60F9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514665" y="3141420"/>
            <a:ext cx="1502493" cy="277100"/>
          </a:xfrm>
          <a:prstGeom prst="rect">
            <a:avLst/>
          </a:prstGeom>
        </p:spPr>
      </p:pic>
      <p:sp>
        <p:nvSpPr>
          <p:cNvPr id="34" name="圆角矩形 75">
            <a:extLst>
              <a:ext uri="{FF2B5EF4-FFF2-40B4-BE49-F238E27FC236}">
                <a16:creationId xmlns="" xmlns:a16="http://schemas.microsoft.com/office/drawing/2014/main" id="{705A30DC-D8F6-4156-ADA6-2722344C1508}"/>
              </a:ext>
            </a:extLst>
          </p:cNvPr>
          <p:cNvSpPr/>
          <p:nvPr/>
        </p:nvSpPr>
        <p:spPr bwMode="gray">
          <a:xfrm>
            <a:off x="1456192" y="3122694"/>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2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318772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右箭头 178">
            <a:extLst>
              <a:ext uri="{FF2B5EF4-FFF2-40B4-BE49-F238E27FC236}">
                <a16:creationId xmlns="" xmlns:a16="http://schemas.microsoft.com/office/drawing/2014/main" id="{510A62AD-1B72-47A3-A7D3-8C4D87A4840F}"/>
              </a:ext>
            </a:extLst>
          </p:cNvPr>
          <p:cNvSpPr/>
          <p:nvPr/>
        </p:nvSpPr>
        <p:spPr bwMode="gray">
          <a:xfrm>
            <a:off x="4924968" y="3922599"/>
            <a:ext cx="4073193" cy="1720011"/>
          </a:xfrm>
          <a:prstGeom prst="rightArrow">
            <a:avLst>
              <a:gd name="adj1" fmla="val 77629"/>
              <a:gd name="adj2" fmla="val 29387"/>
            </a:avLst>
          </a:prstGeom>
          <a:solidFill>
            <a:srgbClr val="768395">
              <a:lumMod val="60000"/>
              <a:lumOff val="40000"/>
              <a:alpha val="35000"/>
            </a:srgbClr>
          </a:solidFill>
          <a:ln w="3175" cap="flat" cmpd="sng" algn="ctr">
            <a:noFill/>
            <a:prstDash val="solid"/>
          </a:ln>
          <a:effectLst/>
        </p:spPr>
        <p:txBody>
          <a:bodyPr lIns="91428" tIns="45715" rIns="91428" bIns="45715" rtlCol="0" anchor="ctr"/>
          <a:lstStyle/>
          <a:p>
            <a:pPr algn="ctr" defTabSz="1219154"/>
            <a:endParaRPr lang="zh-CN" altLang="en-US" sz="3175" kern="0">
              <a:solidFill>
                <a:srgbClr val="FFFFFF"/>
              </a:solidFill>
              <a:latin typeface="Huawei Sans" panose="020C0503030203020204" pitchFamily="34" charset="0"/>
              <a:ea typeface="方正兰亭黑简体" panose="02000000000000000000" pitchFamily="2" charset="-122"/>
            </a:endParaRPr>
          </a:p>
        </p:txBody>
      </p:sp>
      <p:sp>
        <p:nvSpPr>
          <p:cNvPr id="3" name="Title 2">
            <a:extLst>
              <a:ext uri="{FF2B5EF4-FFF2-40B4-BE49-F238E27FC236}">
                <a16:creationId xmlns="" xmlns:a16="http://schemas.microsoft.com/office/drawing/2014/main" id="{F0B7096F-F887-4694-ACB4-659F305A9B0F}"/>
              </a:ext>
            </a:extLst>
          </p:cNvPr>
          <p:cNvSpPr>
            <a:spLocks noGrp="1"/>
          </p:cNvSpPr>
          <p:nvPr>
            <p:ph type="title"/>
          </p:nvPr>
        </p:nvSpPr>
        <p:spPr bwMode="gray"/>
        <p:txBody>
          <a:bodyPr/>
          <a:lstStyle/>
          <a:p>
            <a:r>
              <a:rPr lang="zh-CN" altLang="en-US" dirty="0"/>
              <a:t>控制器异地容灾可靠性设计</a:t>
            </a:r>
            <a:endParaRPr lang="en-US" dirty="0"/>
          </a:p>
        </p:txBody>
      </p:sp>
      <p:sp>
        <p:nvSpPr>
          <p:cNvPr id="4" name="Text Placeholder 3">
            <a:extLst>
              <a:ext uri="{FF2B5EF4-FFF2-40B4-BE49-F238E27FC236}">
                <a16:creationId xmlns="" xmlns:a16="http://schemas.microsoft.com/office/drawing/2014/main" id="{D0A1A328-7FB5-4725-B468-E9D25A8077CA}"/>
              </a:ext>
            </a:extLst>
          </p:cNvPr>
          <p:cNvSpPr>
            <a:spLocks noGrp="1"/>
          </p:cNvSpPr>
          <p:nvPr>
            <p:ph type="body" sz="quarter" idx="10"/>
          </p:nvPr>
        </p:nvSpPr>
        <p:spPr bwMode="gray">
          <a:xfrm>
            <a:off x="455612" y="1047751"/>
            <a:ext cx="11293475" cy="864770"/>
          </a:xfrm>
        </p:spPr>
        <p:txBody>
          <a:bodyPr/>
          <a:lstStyle/>
          <a:p>
            <a:r>
              <a:rPr lang="zh-CN" altLang="en-US" sz="1800" dirty="0"/>
              <a:t>使用两套硬件配置和业务方案等完全一致的控制器系统作为主备站点，主站点各数据库按各自同步策略实时同步至备站点。当主站点出现故障时，立即手动或者仲裁服务自动启动备站点，快速恢复控制器的使用。</a:t>
            </a:r>
            <a:endParaRPr lang="en-US" sz="1800" dirty="0"/>
          </a:p>
        </p:txBody>
      </p:sp>
      <p:sp>
        <p:nvSpPr>
          <p:cNvPr id="5" name="燕尾形 3">
            <a:extLst>
              <a:ext uri="{FF2B5EF4-FFF2-40B4-BE49-F238E27FC236}">
                <a16:creationId xmlns="" xmlns:a16="http://schemas.microsoft.com/office/drawing/2014/main" id="{4401F90A-5138-478F-9990-B6CEFE9F4D59}"/>
              </a:ext>
            </a:extLst>
          </p:cNvPr>
          <p:cNvSpPr/>
          <p:nvPr/>
        </p:nvSpPr>
        <p:spPr bwMode="gray">
          <a:xfrm>
            <a:off x="10452100" y="44020"/>
            <a:ext cx="12992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6718B826-64D1-4045-991F-CE382CE6679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a:extLst>
              <a:ext uri="{FF2B5EF4-FFF2-40B4-BE49-F238E27FC236}">
                <a16:creationId xmlns="" xmlns:a16="http://schemas.microsoft.com/office/drawing/2014/main" id="{B475DF2D-52C0-4876-90B8-881F6D530963}"/>
              </a:ext>
            </a:extLst>
          </p:cNvPr>
          <p:cNvSpPr/>
          <p:nvPr/>
        </p:nvSpPr>
        <p:spPr bwMode="gray">
          <a:xfrm>
            <a:off x="7660593" y="44020"/>
            <a:ext cx="158602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137">
            <a:extLst>
              <a:ext uri="{FF2B5EF4-FFF2-40B4-BE49-F238E27FC236}">
                <a16:creationId xmlns="" xmlns:a16="http://schemas.microsoft.com/office/drawing/2014/main" id="{51139597-50C9-4D82-A3DB-CB25D2863BAF}"/>
              </a:ext>
            </a:extLst>
          </p:cNvPr>
          <p:cNvSpPr/>
          <p:nvPr/>
        </p:nvSpPr>
        <p:spPr bwMode="gray">
          <a:xfrm>
            <a:off x="5596738" y="5475140"/>
            <a:ext cx="2601530" cy="406448"/>
          </a:xfrm>
          <a:prstGeom prst="rect">
            <a:avLst/>
          </a:prstGeom>
        </p:spPr>
        <p:txBody>
          <a:bodyPr wrap="square" lIns="91428" tIns="45715" rIns="91428" bIns="45715">
            <a:spAutoFit/>
          </a:bodyPr>
          <a:lstStyle/>
          <a:p>
            <a:pPr algn="ctr" defTabSz="1219154">
              <a:lnSpc>
                <a:spcPct val="150000"/>
              </a:lnSpc>
              <a:buClr>
                <a:srgbClr val="000000"/>
              </a:buClr>
              <a:buSzPct val="80000"/>
            </a:pPr>
            <a:r>
              <a:rPr lang="zh-CN" altLang="en-US" sz="1361" dirty="0">
                <a:latin typeface="Huawei Sans" panose="020C0503030203020204" pitchFamily="34" charset="0"/>
                <a:ea typeface="方正兰亭黑简体" panose="02000000000000000000" pitchFamily="2" charset="-122"/>
                <a:sym typeface="Arial" panose="020B0604020202020204" pitchFamily="34" charset="0"/>
              </a:rPr>
              <a:t>网络时延</a:t>
            </a:r>
            <a:r>
              <a:rPr lang="en-US" altLang="zh-CN" sz="1361" dirty="0">
                <a:latin typeface="Huawei Sans" panose="020C0503030203020204" pitchFamily="34" charset="0"/>
                <a:ea typeface="方正兰亭黑简体" panose="02000000000000000000" pitchFamily="2" charset="-122"/>
                <a:sym typeface="Arial" panose="020B0604020202020204" pitchFamily="34" charset="0"/>
              </a:rPr>
              <a:t>&lt;50 </a:t>
            </a:r>
            <a:r>
              <a:rPr lang="en-US" altLang="zh-CN" sz="1361" dirty="0" err="1">
                <a:latin typeface="Huawei Sans" panose="020C0503030203020204" pitchFamily="34" charset="0"/>
                <a:ea typeface="方正兰亭黑简体" panose="02000000000000000000" pitchFamily="2" charset="-122"/>
                <a:sym typeface="Arial" panose="020B0604020202020204" pitchFamily="34" charset="0"/>
              </a:rPr>
              <a:t>ms</a:t>
            </a:r>
            <a:r>
              <a:rPr lang="zh-CN" altLang="en-US" sz="1361" dirty="0">
                <a:latin typeface="Huawei Sans" panose="020C0503030203020204" pitchFamily="34" charset="0"/>
                <a:ea typeface="方正兰亭黑简体" panose="02000000000000000000" pitchFamily="2" charset="-122"/>
                <a:sym typeface="Arial" panose="020B0604020202020204" pitchFamily="34" charset="0"/>
              </a:rPr>
              <a:t>；丢包率</a:t>
            </a:r>
            <a:r>
              <a:rPr lang="en-US" altLang="zh-CN" sz="1361" dirty="0">
                <a:latin typeface="Huawei Sans" panose="020C0503030203020204" pitchFamily="34" charset="0"/>
                <a:ea typeface="方正兰亭黑简体" panose="02000000000000000000" pitchFamily="2" charset="-122"/>
                <a:sym typeface="Arial" panose="020B0604020202020204" pitchFamily="34" charset="0"/>
              </a:rPr>
              <a:t>&lt;1%</a:t>
            </a:r>
          </a:p>
        </p:txBody>
      </p:sp>
      <p:sp>
        <p:nvSpPr>
          <p:cNvPr id="32" name="矩形 140">
            <a:extLst>
              <a:ext uri="{FF2B5EF4-FFF2-40B4-BE49-F238E27FC236}">
                <a16:creationId xmlns="" xmlns:a16="http://schemas.microsoft.com/office/drawing/2014/main" id="{2AD7F309-D34F-409A-9A39-1B382CE4F36E}"/>
              </a:ext>
            </a:extLst>
          </p:cNvPr>
          <p:cNvSpPr/>
          <p:nvPr/>
        </p:nvSpPr>
        <p:spPr bwMode="gray">
          <a:xfrm>
            <a:off x="2565142" y="1912521"/>
            <a:ext cx="8712967" cy="4220838"/>
          </a:xfrm>
          <a:prstGeom prst="rect">
            <a:avLst/>
          </a:prstGeom>
          <a:noFill/>
          <a:ln w="12700" cap="flat" cmpd="sng" algn="ctr">
            <a:solidFill>
              <a:srgbClr val="FFFFFF">
                <a:lumMod val="75000"/>
              </a:srgbClr>
            </a:solidFill>
            <a:prstDash val="dash"/>
          </a:ln>
          <a:effectLst/>
        </p:spPr>
        <p:txBody>
          <a:bodyPr lIns="91428" tIns="45715" rIns="91428" bIns="45715" rtlCol="0" anchor="ctr"/>
          <a:lstStyle/>
          <a:p>
            <a:pPr algn="ctr" defTabSz="1219154"/>
            <a:endParaRPr lang="zh-CN" altLang="en-US" sz="2359" kern="0">
              <a:solidFill>
                <a:srgbClr val="FFFFFF"/>
              </a:solidFill>
              <a:latin typeface="Huawei Sans" panose="020C0503030203020204" pitchFamily="34" charset="0"/>
              <a:ea typeface="方正兰亭黑简体" panose="02000000000000000000" pitchFamily="2" charset="-122"/>
            </a:endParaRPr>
          </a:p>
        </p:txBody>
      </p:sp>
      <p:grpSp>
        <p:nvGrpSpPr>
          <p:cNvPr id="35" name="组合 141">
            <a:extLst>
              <a:ext uri="{FF2B5EF4-FFF2-40B4-BE49-F238E27FC236}">
                <a16:creationId xmlns="" xmlns:a16="http://schemas.microsoft.com/office/drawing/2014/main" id="{FFBDDD9F-2D4F-43A4-A255-D390C7FC658B}"/>
              </a:ext>
            </a:extLst>
          </p:cNvPr>
          <p:cNvGrpSpPr/>
          <p:nvPr/>
        </p:nvGrpSpPr>
        <p:grpSpPr bwMode="gray">
          <a:xfrm>
            <a:off x="2360713" y="3076105"/>
            <a:ext cx="2706080" cy="2917650"/>
            <a:chOff x="1603163" y="2288995"/>
            <a:chExt cx="2706080" cy="2917719"/>
          </a:xfrm>
        </p:grpSpPr>
        <p:sp>
          <p:nvSpPr>
            <p:cNvPr id="36" name="圆角矩形 142">
              <a:extLst>
                <a:ext uri="{FF2B5EF4-FFF2-40B4-BE49-F238E27FC236}">
                  <a16:creationId xmlns="" xmlns:a16="http://schemas.microsoft.com/office/drawing/2014/main" id="{91CFF417-FC6F-43EC-96E4-3525960CE07C}"/>
                </a:ext>
              </a:extLst>
            </p:cNvPr>
            <p:cNvSpPr/>
            <p:nvPr/>
          </p:nvSpPr>
          <p:spPr bwMode="gray">
            <a:xfrm>
              <a:off x="2004268" y="2288995"/>
              <a:ext cx="2304975" cy="2917719"/>
            </a:xfrm>
            <a:prstGeom prst="roundRect">
              <a:avLst>
                <a:gd name="adj" fmla="val 2520"/>
              </a:avLst>
            </a:prstGeom>
            <a:solidFill>
              <a:schemeClr val="bg1"/>
            </a:solidFill>
            <a:ln>
              <a:solidFill>
                <a:schemeClr val="bg1">
                  <a:lumMod val="95000"/>
                </a:schemeClr>
              </a:solidFill>
            </a:ln>
            <a:effectLst>
              <a:outerShdw blurRad="50800" dist="38100" dir="8100000" algn="tr" rotWithShape="0">
                <a:prstClr val="black">
                  <a:alpha val="40000"/>
                </a:prstClr>
              </a:outerShdw>
            </a:effectLst>
          </p:spPr>
          <p:txBody>
            <a:bodyPr vert="horz" wrap="square" lIns="82953" tIns="41476" rIns="82953" bIns="41476" numCol="1" rtlCol="0" anchor="t" anchorCtr="0" compatLnSpc="1">
              <a:prstTxWarp prst="textNoShape">
                <a:avLst/>
              </a:prstTxWarp>
            </a:bodyPr>
            <a:lstStyle/>
            <a:p>
              <a:pPr defTabSz="1219154">
                <a:defRPr/>
              </a:pPr>
              <a:endParaRPr lang="zh-CN" altLang="en-US" sz="1200" kern="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37" name="TextBox 140">
              <a:extLst>
                <a:ext uri="{FF2B5EF4-FFF2-40B4-BE49-F238E27FC236}">
                  <a16:creationId xmlns="" xmlns:a16="http://schemas.microsoft.com/office/drawing/2014/main" id="{1DE868BB-4409-4FBC-86F9-46D1BFEF88AF}"/>
                </a:ext>
              </a:extLst>
            </p:cNvPr>
            <p:cNvSpPr txBox="1"/>
            <p:nvPr/>
          </p:nvSpPr>
          <p:spPr bwMode="gray">
            <a:xfrm>
              <a:off x="1603163" y="2323624"/>
              <a:ext cx="1979518" cy="387807"/>
            </a:xfrm>
            <a:prstGeom prst="rect">
              <a:avLst/>
            </a:prstGeom>
            <a:noFill/>
          </p:spPr>
          <p:txBody>
            <a:bodyPr wrap="square" rtlCol="0">
              <a:spAutoFit/>
            </a:bodyPr>
            <a:lstStyle/>
            <a:p>
              <a:pPr algn="ctr" defTabSz="1219154">
                <a:lnSpc>
                  <a:spcPct val="120000"/>
                </a:lnSpc>
                <a:defRPr/>
              </a:pPr>
              <a:r>
                <a:rPr lang="zh-CN" altLang="en-US" sz="16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主站点</a:t>
              </a:r>
            </a:p>
          </p:txBody>
        </p:sp>
        <p:sp>
          <p:nvSpPr>
            <p:cNvPr id="38" name="圆角矩形 144">
              <a:extLst>
                <a:ext uri="{FF2B5EF4-FFF2-40B4-BE49-F238E27FC236}">
                  <a16:creationId xmlns="" xmlns:a16="http://schemas.microsoft.com/office/drawing/2014/main" id="{CE14A2A2-D609-4D8A-BEED-2841C247BF65}"/>
                </a:ext>
              </a:extLst>
            </p:cNvPr>
            <p:cNvSpPr/>
            <p:nvPr/>
          </p:nvSpPr>
          <p:spPr bwMode="gray">
            <a:xfrm>
              <a:off x="3358992" y="2703083"/>
              <a:ext cx="670875" cy="259713"/>
            </a:xfrm>
            <a:prstGeom prst="roundRect">
              <a:avLst/>
            </a:prstGeom>
            <a:solidFill>
              <a:srgbClr val="FFCC99"/>
            </a:solidFill>
            <a:ln>
              <a:solidFill>
                <a:srgbClr val="FFFFFF">
                  <a:lumMod val="50000"/>
                </a:srgb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DRMgr</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cxnSp>
          <p:nvCxnSpPr>
            <p:cNvPr id="39" name="直接箭头连接符 145">
              <a:extLst>
                <a:ext uri="{FF2B5EF4-FFF2-40B4-BE49-F238E27FC236}">
                  <a16:creationId xmlns="" xmlns:a16="http://schemas.microsoft.com/office/drawing/2014/main" id="{08F15F9C-464E-4E86-AAC8-EF9CD9BDAF55}"/>
                </a:ext>
              </a:extLst>
            </p:cNvPr>
            <p:cNvCxnSpPr>
              <a:stCxn id="52" idx="3"/>
              <a:endCxn id="43" idx="1"/>
            </p:cNvCxnSpPr>
            <p:nvPr/>
          </p:nvCxnSpPr>
          <p:spPr bwMode="gray">
            <a:xfrm flipV="1">
              <a:off x="3000708" y="3984213"/>
              <a:ext cx="273324" cy="0"/>
            </a:xfrm>
            <a:prstGeom prst="straightConnector1">
              <a:avLst/>
            </a:prstGeom>
            <a:solidFill>
              <a:srgbClr val="FFCC99">
                <a:alpha val="80000"/>
              </a:srgbClr>
            </a:solidFill>
            <a:ln w="9525" cap="flat" cmpd="sng" algn="ctr">
              <a:solidFill>
                <a:srgbClr val="969696"/>
              </a:solidFill>
              <a:prstDash val="solid"/>
              <a:round/>
              <a:headEnd type="none" w="med" len="med"/>
              <a:tailEnd type="triangle"/>
            </a:ln>
            <a:effectLst/>
          </p:spPr>
        </p:cxnSp>
        <p:sp>
          <p:nvSpPr>
            <p:cNvPr id="40" name="流程图: 磁盘 146">
              <a:extLst>
                <a:ext uri="{FF2B5EF4-FFF2-40B4-BE49-F238E27FC236}">
                  <a16:creationId xmlns="" xmlns:a16="http://schemas.microsoft.com/office/drawing/2014/main" id="{23E49904-770C-48F7-92CA-6C04C7943DE1}"/>
                </a:ext>
              </a:extLst>
            </p:cNvPr>
            <p:cNvSpPr/>
            <p:nvPr/>
          </p:nvSpPr>
          <p:spPr bwMode="gray">
            <a:xfrm>
              <a:off x="3377969" y="3321686"/>
              <a:ext cx="641674" cy="718424"/>
            </a:xfrm>
            <a:prstGeom prst="flowChartMagneticDisk">
              <a:avLst/>
            </a:prstGeom>
            <a:noFill/>
            <a:ln w="22225">
              <a:solidFill>
                <a:srgbClr val="4276AA">
                  <a:lumMod val="75000"/>
                </a:srgb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DB</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41" name="流程图: 多文档 147">
              <a:extLst>
                <a:ext uri="{FF2B5EF4-FFF2-40B4-BE49-F238E27FC236}">
                  <a16:creationId xmlns="" xmlns:a16="http://schemas.microsoft.com/office/drawing/2014/main" id="{D3143BD9-4879-496C-97EA-B0E934F9DA01}"/>
                </a:ext>
              </a:extLst>
            </p:cNvPr>
            <p:cNvSpPr/>
            <p:nvPr/>
          </p:nvSpPr>
          <p:spPr bwMode="gray">
            <a:xfrm>
              <a:off x="3491903" y="4126445"/>
              <a:ext cx="368369" cy="438245"/>
            </a:xfrm>
            <a:prstGeom prst="flowChartMultidocument">
              <a:avLst/>
            </a:prstGeom>
            <a:solidFill>
              <a:srgbClr val="FFFFFF"/>
            </a:solidFill>
            <a:ln w="9525" cap="flat" cmpd="sng" algn="ctr">
              <a:solidFill>
                <a:srgbClr val="00B0F0"/>
              </a:solidFill>
              <a:prstDash val="solid"/>
            </a:ln>
            <a:effectLst/>
          </p:spPr>
          <p:txBody>
            <a:bodyPr rtlCol="0" anchor="ctr"/>
            <a:lstStyle/>
            <a:p>
              <a:pPr algn="ctr" defTabSz="1219154"/>
              <a:endParaRPr lang="zh-CN" altLang="en-US" sz="1200" kern="0">
                <a:solidFill>
                  <a:srgbClr val="FFFFFF"/>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42" name="TextBox 107">
              <a:extLst>
                <a:ext uri="{FF2B5EF4-FFF2-40B4-BE49-F238E27FC236}">
                  <a16:creationId xmlns="" xmlns:a16="http://schemas.microsoft.com/office/drawing/2014/main" id="{4DB024DA-7A6D-445B-BA83-6CD8FF6EBD74}"/>
                </a:ext>
              </a:extLst>
            </p:cNvPr>
            <p:cNvSpPr txBox="1"/>
            <p:nvPr/>
          </p:nvSpPr>
          <p:spPr bwMode="gray">
            <a:xfrm>
              <a:off x="3404126" y="4234508"/>
              <a:ext cx="492443" cy="277006"/>
            </a:xfrm>
            <a:prstGeom prst="rect">
              <a:avLst/>
            </a:prstGeom>
            <a:noFill/>
          </p:spPr>
          <p:txBody>
            <a:bodyPr wrap="none">
              <a:spAutoFit/>
            </a:bodyPr>
            <a:lstStyle/>
            <a:p>
              <a:pPr defTabSz="1219154">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文件</a:t>
              </a:r>
            </a:p>
          </p:txBody>
        </p:sp>
        <p:sp>
          <p:nvSpPr>
            <p:cNvPr id="43" name="圆角矩形 149">
              <a:extLst>
                <a:ext uri="{FF2B5EF4-FFF2-40B4-BE49-F238E27FC236}">
                  <a16:creationId xmlns="" xmlns:a16="http://schemas.microsoft.com/office/drawing/2014/main" id="{FA51C819-A02D-474A-9991-0256E78151AD}"/>
                </a:ext>
              </a:extLst>
            </p:cNvPr>
            <p:cNvSpPr/>
            <p:nvPr/>
          </p:nvSpPr>
          <p:spPr bwMode="gray">
            <a:xfrm>
              <a:off x="3274032" y="3106289"/>
              <a:ext cx="840797" cy="1755848"/>
            </a:xfrm>
            <a:prstGeom prst="roundRect">
              <a:avLst/>
            </a:prstGeom>
            <a:noFill/>
            <a:ln w="9525" cap="flat" cmpd="sng" algn="ctr">
              <a:solidFill>
                <a:srgbClr val="000000">
                  <a:lumMod val="95000"/>
                  <a:lumOff val="5000"/>
                </a:srgbClr>
              </a:solidFill>
              <a:prstDash val="dash"/>
              <a:round/>
              <a:headEnd type="none" w="med" len="med"/>
              <a:tailEnd type="none" w="med" len="med"/>
            </a:ln>
            <a:effectLst/>
          </p:spPr>
          <p:txBody>
            <a:bodyPr vert="horz" wrap="square" lIns="82953" tIns="41476" rIns="82953" bIns="41476" numCol="1" rtlCol="0" anchor="ctr" anchorCtr="1" compatLnSpc="1">
              <a:prstTxWarp prst="textNoShape">
                <a:avLst/>
              </a:prstTxWarp>
            </a:bodyPr>
            <a:lstStyle/>
            <a:p>
              <a:pPr defTabSz="1219154"/>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44" name="TextBox 107">
              <a:extLst>
                <a:ext uri="{FF2B5EF4-FFF2-40B4-BE49-F238E27FC236}">
                  <a16:creationId xmlns="" xmlns:a16="http://schemas.microsoft.com/office/drawing/2014/main" id="{CAAD84F8-7404-401B-B00F-9753AB46A442}"/>
                </a:ext>
              </a:extLst>
            </p:cNvPr>
            <p:cNvSpPr txBox="1"/>
            <p:nvPr/>
          </p:nvSpPr>
          <p:spPr bwMode="gray">
            <a:xfrm>
              <a:off x="3442105" y="4614774"/>
              <a:ext cx="492443" cy="277006"/>
            </a:xfrm>
            <a:prstGeom prst="rect">
              <a:avLst/>
            </a:prstGeom>
            <a:noFill/>
          </p:spPr>
          <p:txBody>
            <a:bodyPr wrap="none">
              <a:spAutoFit/>
            </a:bodyPr>
            <a:lstStyle/>
            <a:p>
              <a:pPr defTabSz="1219154">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数据</a:t>
              </a:r>
            </a:p>
          </p:txBody>
        </p:sp>
        <p:sp>
          <p:nvSpPr>
            <p:cNvPr id="45" name="圆角矩形 151">
              <a:extLst>
                <a:ext uri="{FF2B5EF4-FFF2-40B4-BE49-F238E27FC236}">
                  <a16:creationId xmlns="" xmlns:a16="http://schemas.microsoft.com/office/drawing/2014/main" id="{782E66BD-ED0D-44CC-A04A-FD7EABD88116}"/>
                </a:ext>
              </a:extLst>
            </p:cNvPr>
            <p:cNvSpPr/>
            <p:nvPr/>
          </p:nvSpPr>
          <p:spPr bwMode="gray">
            <a:xfrm>
              <a:off x="3424959" y="2345970"/>
              <a:ext cx="570300" cy="245024"/>
            </a:xfrm>
            <a:prstGeom prst="roundRect">
              <a:avLst/>
            </a:prstGeom>
            <a:solidFill>
              <a:srgbClr val="FFCC99"/>
            </a:solidFill>
            <a:ln>
              <a:solidFill>
                <a:srgbClr val="FFFFFF">
                  <a:lumMod val="50000"/>
                </a:srgb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DR</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cxnSp>
          <p:nvCxnSpPr>
            <p:cNvPr id="46" name="直接箭头连接符 152">
              <a:extLst>
                <a:ext uri="{FF2B5EF4-FFF2-40B4-BE49-F238E27FC236}">
                  <a16:creationId xmlns="" xmlns:a16="http://schemas.microsoft.com/office/drawing/2014/main" id="{6CAF9183-D1B9-4F04-AB55-63C3A17DC576}"/>
                </a:ext>
              </a:extLst>
            </p:cNvPr>
            <p:cNvCxnSpPr/>
            <p:nvPr/>
          </p:nvCxnSpPr>
          <p:spPr bwMode="gray">
            <a:xfrm flipH="1">
              <a:off x="3720179" y="2959309"/>
              <a:ext cx="0" cy="157842"/>
            </a:xfrm>
            <a:prstGeom prst="straightConnector1">
              <a:avLst/>
            </a:prstGeom>
            <a:solidFill>
              <a:srgbClr val="FFCC99">
                <a:alpha val="80000"/>
              </a:srgbClr>
            </a:solidFill>
            <a:ln w="9525" cap="flat" cmpd="sng" algn="ctr">
              <a:solidFill>
                <a:srgbClr val="969696"/>
              </a:solidFill>
              <a:prstDash val="solid"/>
              <a:round/>
              <a:headEnd type="none" w="med" len="med"/>
              <a:tailEnd type="triangle"/>
            </a:ln>
            <a:effectLst/>
          </p:spPr>
        </p:cxnSp>
        <p:cxnSp>
          <p:nvCxnSpPr>
            <p:cNvPr id="47" name="直接箭头连接符 153">
              <a:extLst>
                <a:ext uri="{FF2B5EF4-FFF2-40B4-BE49-F238E27FC236}">
                  <a16:creationId xmlns="" xmlns:a16="http://schemas.microsoft.com/office/drawing/2014/main" id="{6B636778-F7DB-4ACD-AC0B-7CF3E115B359}"/>
                </a:ext>
              </a:extLst>
            </p:cNvPr>
            <p:cNvCxnSpPr/>
            <p:nvPr/>
          </p:nvCxnSpPr>
          <p:spPr bwMode="gray">
            <a:xfrm flipH="1">
              <a:off x="3719533" y="2573755"/>
              <a:ext cx="0" cy="157842"/>
            </a:xfrm>
            <a:prstGeom prst="straightConnector1">
              <a:avLst/>
            </a:prstGeom>
            <a:solidFill>
              <a:srgbClr val="FFCC99">
                <a:alpha val="80000"/>
              </a:srgbClr>
            </a:solidFill>
            <a:ln w="9525" cap="flat" cmpd="sng" algn="ctr">
              <a:solidFill>
                <a:srgbClr val="969696"/>
              </a:solidFill>
              <a:prstDash val="solid"/>
              <a:round/>
              <a:headEnd type="none" w="med" len="med"/>
              <a:tailEnd type="triangle"/>
            </a:ln>
            <a:effectLst/>
          </p:spPr>
        </p:cxnSp>
        <p:grpSp>
          <p:nvGrpSpPr>
            <p:cNvPr id="48" name="组合 108">
              <a:extLst>
                <a:ext uri="{FF2B5EF4-FFF2-40B4-BE49-F238E27FC236}">
                  <a16:creationId xmlns="" xmlns:a16="http://schemas.microsoft.com/office/drawing/2014/main" id="{7AA087B9-0ADC-4E31-8462-B41732C98560}"/>
                </a:ext>
              </a:extLst>
            </p:cNvPr>
            <p:cNvGrpSpPr/>
            <p:nvPr/>
          </p:nvGrpSpPr>
          <p:grpSpPr bwMode="gray">
            <a:xfrm>
              <a:off x="2159911" y="3106290"/>
              <a:ext cx="840797" cy="1780535"/>
              <a:chOff x="1066946" y="2384062"/>
              <a:chExt cx="849086" cy="1868713"/>
            </a:xfrm>
          </p:grpSpPr>
          <p:grpSp>
            <p:nvGrpSpPr>
              <p:cNvPr id="49" name="组合 109">
                <a:extLst>
                  <a:ext uri="{FF2B5EF4-FFF2-40B4-BE49-F238E27FC236}">
                    <a16:creationId xmlns="" xmlns:a16="http://schemas.microsoft.com/office/drawing/2014/main" id="{66861D0B-9952-4B5C-9C15-FC82EB46CA88}"/>
                  </a:ext>
                </a:extLst>
              </p:cNvPr>
              <p:cNvGrpSpPr/>
              <p:nvPr/>
            </p:nvGrpSpPr>
            <p:grpSpPr bwMode="gray">
              <a:xfrm>
                <a:off x="1066946" y="2384062"/>
                <a:ext cx="849086" cy="1866569"/>
                <a:chOff x="1066946" y="2384062"/>
                <a:chExt cx="849086" cy="1866569"/>
              </a:xfrm>
            </p:grpSpPr>
            <p:grpSp>
              <p:nvGrpSpPr>
                <p:cNvPr id="51" name="组合 111">
                  <a:extLst>
                    <a:ext uri="{FF2B5EF4-FFF2-40B4-BE49-F238E27FC236}">
                      <a16:creationId xmlns="" xmlns:a16="http://schemas.microsoft.com/office/drawing/2014/main" id="{ACC70300-0E87-4143-8EB0-53B5201B73F0}"/>
                    </a:ext>
                  </a:extLst>
                </p:cNvPr>
                <p:cNvGrpSpPr/>
                <p:nvPr/>
              </p:nvGrpSpPr>
              <p:grpSpPr bwMode="gray">
                <a:xfrm>
                  <a:off x="1168171" y="2573566"/>
                  <a:ext cx="648000" cy="1337517"/>
                  <a:chOff x="86482" y="2192894"/>
                  <a:chExt cx="648000" cy="1337517"/>
                </a:xfrm>
              </p:grpSpPr>
              <p:sp>
                <p:nvSpPr>
                  <p:cNvPr id="53" name="圆角矩形 159">
                    <a:extLst>
                      <a:ext uri="{FF2B5EF4-FFF2-40B4-BE49-F238E27FC236}">
                        <a16:creationId xmlns="" xmlns:a16="http://schemas.microsoft.com/office/drawing/2014/main" id="{8389D394-6FEF-4A28-B578-65EB4655F25B}"/>
                      </a:ext>
                    </a:extLst>
                  </p:cNvPr>
                  <p:cNvSpPr/>
                  <p:nvPr/>
                </p:nvSpPr>
                <p:spPr bwMode="gray">
                  <a:xfrm>
                    <a:off x="86482" y="2192894"/>
                    <a:ext cx="648000" cy="288000"/>
                  </a:xfrm>
                  <a:prstGeom prst="roundRect">
                    <a:avLst/>
                  </a:prstGeom>
                  <a:ln>
                    <a:solidFill>
                      <a:sysClr val="window" lastClr="FFFFFF">
                        <a:lumMod val="50000"/>
                      </a:sys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Service 1</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54" name="圆角矩形 160">
                    <a:extLst>
                      <a:ext uri="{FF2B5EF4-FFF2-40B4-BE49-F238E27FC236}">
                        <a16:creationId xmlns="" xmlns:a16="http://schemas.microsoft.com/office/drawing/2014/main" id="{D87AAA26-50E3-48EE-8254-954991775CDC}"/>
                      </a:ext>
                    </a:extLst>
                  </p:cNvPr>
                  <p:cNvSpPr/>
                  <p:nvPr/>
                </p:nvSpPr>
                <p:spPr bwMode="gray">
                  <a:xfrm>
                    <a:off x="86482" y="2565730"/>
                    <a:ext cx="648000" cy="288000"/>
                  </a:xfrm>
                  <a:prstGeom prst="roundRect">
                    <a:avLst/>
                  </a:prstGeom>
                  <a:ln>
                    <a:solidFill>
                      <a:sysClr val="window" lastClr="FFFFFF">
                        <a:lumMod val="50000"/>
                      </a:sys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Service 2</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55" name="圆角矩形 161">
                    <a:extLst>
                      <a:ext uri="{FF2B5EF4-FFF2-40B4-BE49-F238E27FC236}">
                        <a16:creationId xmlns="" xmlns:a16="http://schemas.microsoft.com/office/drawing/2014/main" id="{31B9ECD3-F726-4B07-A43E-3D8811A65A1B}"/>
                      </a:ext>
                    </a:extLst>
                  </p:cNvPr>
                  <p:cNvSpPr/>
                  <p:nvPr/>
                </p:nvSpPr>
                <p:spPr bwMode="gray">
                  <a:xfrm>
                    <a:off x="86482" y="3242411"/>
                    <a:ext cx="648000" cy="288000"/>
                  </a:xfrm>
                  <a:prstGeom prst="roundRect">
                    <a:avLst/>
                  </a:prstGeom>
                  <a:ln>
                    <a:solidFill>
                      <a:sysClr val="window" lastClr="FFFFFF">
                        <a:lumMod val="50000"/>
                      </a:sys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Service</a:t>
                    </a:r>
                    <a:r>
                      <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 </a:t>
                    </a: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n</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56" name="TextBox 29">
                    <a:extLst>
                      <a:ext uri="{FF2B5EF4-FFF2-40B4-BE49-F238E27FC236}">
                        <a16:creationId xmlns="" xmlns:a16="http://schemas.microsoft.com/office/drawing/2014/main" id="{7E7C0AA6-74DB-4286-AB1B-F297F3DDDA0C}"/>
                      </a:ext>
                    </a:extLst>
                  </p:cNvPr>
                  <p:cNvSpPr txBox="1"/>
                  <p:nvPr/>
                </p:nvSpPr>
                <p:spPr bwMode="gray">
                  <a:xfrm>
                    <a:off x="257820" y="2955494"/>
                    <a:ext cx="466836" cy="218043"/>
                  </a:xfrm>
                  <a:prstGeom prst="rect">
                    <a:avLst/>
                  </a:prstGeom>
                  <a:noFill/>
                </p:spPr>
                <p:txBody>
                  <a:bodyPr wrap="square" rtlCol="0">
                    <a:spAutoFit/>
                  </a:bodyPr>
                  <a:lstStyle/>
                  <a:p>
                    <a:pPr defTabSz="1219154">
                      <a:lnSpc>
                        <a:spcPts val="300"/>
                      </a:lnSpc>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p>
                  <a:p>
                    <a:pPr defTabSz="1219154">
                      <a:lnSpc>
                        <a:spcPts val="300"/>
                      </a:lnSpc>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p>
                  <a:p>
                    <a:pPr defTabSz="1219154">
                      <a:lnSpc>
                        <a:spcPts val="300"/>
                      </a:lnSpc>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grpSp>
            <p:sp>
              <p:nvSpPr>
                <p:cNvPr id="52" name="圆角矩形 158">
                  <a:extLst>
                    <a:ext uri="{FF2B5EF4-FFF2-40B4-BE49-F238E27FC236}">
                      <a16:creationId xmlns="" xmlns:a16="http://schemas.microsoft.com/office/drawing/2014/main" id="{C5541B37-4EA4-4B39-9649-16B7A9DAD07A}"/>
                    </a:ext>
                  </a:extLst>
                </p:cNvPr>
                <p:cNvSpPr/>
                <p:nvPr/>
              </p:nvSpPr>
              <p:spPr bwMode="gray">
                <a:xfrm>
                  <a:off x="1066946" y="2384062"/>
                  <a:ext cx="849086" cy="1866569"/>
                </a:xfrm>
                <a:prstGeom prst="roundRect">
                  <a:avLst/>
                </a:prstGeom>
                <a:noFill/>
                <a:ln w="9525" cap="flat" cmpd="sng" algn="ctr">
                  <a:solidFill>
                    <a:srgbClr val="000000">
                      <a:lumMod val="95000"/>
                      <a:lumOff val="5000"/>
                    </a:srgbClr>
                  </a:solidFill>
                  <a:prstDash val="dash"/>
                  <a:round/>
                  <a:headEnd type="none" w="med" len="med"/>
                  <a:tailEnd type="none" w="med" len="med"/>
                </a:ln>
                <a:effectLst/>
              </p:spPr>
              <p:txBody>
                <a:bodyPr vert="horz" wrap="square" lIns="82953" tIns="41476" rIns="82953" bIns="41476" numCol="1" rtlCol="0" anchor="ctr" anchorCtr="1" compatLnSpc="1">
                  <a:prstTxWarp prst="textNoShape">
                    <a:avLst/>
                  </a:prstTxWarp>
                </a:bodyPr>
                <a:lstStyle/>
                <a:p>
                  <a:pPr defTabSz="1219154"/>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grpSp>
          <p:sp>
            <p:nvSpPr>
              <p:cNvPr id="50" name="TextBox 107">
                <a:extLst>
                  <a:ext uri="{FF2B5EF4-FFF2-40B4-BE49-F238E27FC236}">
                    <a16:creationId xmlns="" xmlns:a16="http://schemas.microsoft.com/office/drawing/2014/main" id="{C153F702-A90B-4940-84AC-33F9E537F1B2}"/>
                  </a:ext>
                </a:extLst>
              </p:cNvPr>
              <p:cNvSpPr txBox="1"/>
              <p:nvPr/>
            </p:nvSpPr>
            <p:spPr bwMode="gray">
              <a:xfrm>
                <a:off x="1066946" y="3962051"/>
                <a:ext cx="808108" cy="290724"/>
              </a:xfrm>
              <a:prstGeom prst="rect">
                <a:avLst/>
              </a:prstGeom>
              <a:noFill/>
            </p:spPr>
            <p:txBody>
              <a:bodyPr wrap="none">
                <a:spAutoFit/>
              </a:bodyPr>
              <a:lstStyle/>
              <a:p>
                <a:pPr defTabSz="1219154">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业务服务</a:t>
                </a:r>
              </a:p>
            </p:txBody>
          </p:sp>
        </p:grpSp>
      </p:grpSp>
      <p:sp>
        <p:nvSpPr>
          <p:cNvPr id="59" name="矩形 165">
            <a:extLst>
              <a:ext uri="{FF2B5EF4-FFF2-40B4-BE49-F238E27FC236}">
                <a16:creationId xmlns="" xmlns:a16="http://schemas.microsoft.com/office/drawing/2014/main" id="{4A721D55-D98C-433A-9FBF-D17885B412F6}"/>
              </a:ext>
            </a:extLst>
          </p:cNvPr>
          <p:cNvSpPr/>
          <p:nvPr/>
        </p:nvSpPr>
        <p:spPr bwMode="gray">
          <a:xfrm>
            <a:off x="6129534" y="3331720"/>
            <a:ext cx="1361270" cy="738664"/>
          </a:xfrm>
          <a:prstGeom prst="rect">
            <a:avLst/>
          </a:prstGeom>
        </p:spPr>
        <p:txBody>
          <a:bodyPr wrap="none">
            <a:spAutoFit/>
          </a:bodyPr>
          <a:lstStyle/>
          <a:p>
            <a:pPr defTabSz="1219154"/>
            <a:r>
              <a:rPr lang="zh-CN" altLang="en-US"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自动</a:t>
            </a:r>
            <a:r>
              <a:rPr lang="en-US" altLang="zh-CN"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r>
              <a:rPr lang="zh-CN" altLang="en-US"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手工倒换</a:t>
            </a:r>
            <a:endParaRPr lang="en-US" altLang="zh-CN"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a:p>
            <a:pPr defTabSz="1219154"/>
            <a:r>
              <a:rPr lang="en-US" altLang="zh-CN"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RTO&lt;=15</a:t>
            </a:r>
            <a:r>
              <a:rPr lang="zh-CN" altLang="en-US"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分钟</a:t>
            </a:r>
            <a:endParaRPr lang="en-US" altLang="zh-CN"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a:p>
            <a:pPr defTabSz="1219154"/>
            <a:r>
              <a:rPr lang="en-US" altLang="zh-CN"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RPO&lt;=60</a:t>
            </a:r>
            <a:r>
              <a:rPr lang="zh-CN" altLang="en-US" sz="14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秒</a:t>
            </a:r>
          </a:p>
        </p:txBody>
      </p:sp>
      <p:grpSp>
        <p:nvGrpSpPr>
          <p:cNvPr id="61" name="组合 46">
            <a:extLst>
              <a:ext uri="{FF2B5EF4-FFF2-40B4-BE49-F238E27FC236}">
                <a16:creationId xmlns="" xmlns:a16="http://schemas.microsoft.com/office/drawing/2014/main" id="{0E08F8BC-5B34-493E-9FCA-2B67127D8E43}"/>
              </a:ext>
            </a:extLst>
          </p:cNvPr>
          <p:cNvGrpSpPr/>
          <p:nvPr/>
        </p:nvGrpSpPr>
        <p:grpSpPr bwMode="gray">
          <a:xfrm>
            <a:off x="5888075" y="2044878"/>
            <a:ext cx="2033922" cy="443082"/>
            <a:chOff x="7812014" y="1073152"/>
            <a:chExt cx="2033922" cy="443093"/>
          </a:xfrm>
        </p:grpSpPr>
        <p:sp>
          <p:nvSpPr>
            <p:cNvPr id="65" name="圆角矩形 171">
              <a:extLst>
                <a:ext uri="{FF2B5EF4-FFF2-40B4-BE49-F238E27FC236}">
                  <a16:creationId xmlns="" xmlns:a16="http://schemas.microsoft.com/office/drawing/2014/main" id="{D092E99C-3878-4D26-9B24-91B6BE61CBD1}"/>
                </a:ext>
              </a:extLst>
            </p:cNvPr>
            <p:cNvSpPr/>
            <p:nvPr/>
          </p:nvSpPr>
          <p:spPr bwMode="gray">
            <a:xfrm>
              <a:off x="7812014" y="1075658"/>
              <a:ext cx="2005205" cy="440587"/>
            </a:xfrm>
            <a:prstGeom prst="roundRect">
              <a:avLst>
                <a:gd name="adj" fmla="val 2520"/>
              </a:avLst>
            </a:prstGeom>
            <a:solidFill>
              <a:srgbClr val="1689A0">
                <a:lumMod val="40000"/>
                <a:lumOff val="60000"/>
              </a:srgbClr>
            </a:solidFill>
            <a:ln>
              <a:noFill/>
            </a:ln>
            <a:effectLst>
              <a:outerShdw blurRad="50800" dist="38100" dir="8100000" algn="tr" rotWithShape="0">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82953" tIns="41476" rIns="82953" bIns="41476" numCol="1" rtlCol="0" anchor="t" anchorCtr="0" compatLnSpc="1">
              <a:prstTxWarp prst="textNoShape">
                <a:avLst/>
              </a:prstTxWarp>
            </a:bodyPr>
            <a:lstStyle/>
            <a:p>
              <a:pPr defTabSz="1219154">
                <a:defRPr/>
              </a:pPr>
              <a:endParaRPr lang="zh-CN" altLang="en-US" sz="2359" kern="0">
                <a:solidFill>
                  <a:srgbClr val="000000"/>
                </a:solidFill>
                <a:latin typeface="Huawei Sans" panose="020C0503030203020204" pitchFamily="34" charset="0"/>
                <a:ea typeface="方正兰亭黑简体" panose="02000000000000000000" pitchFamily="2" charset="-122"/>
              </a:endParaRPr>
            </a:p>
          </p:txBody>
        </p:sp>
        <p:sp>
          <p:nvSpPr>
            <p:cNvPr id="66" name="TextBox 140">
              <a:extLst>
                <a:ext uri="{FF2B5EF4-FFF2-40B4-BE49-F238E27FC236}">
                  <a16:creationId xmlns="" xmlns:a16="http://schemas.microsoft.com/office/drawing/2014/main" id="{F940CD9F-9814-424A-A09C-F94A28F150C7}"/>
                </a:ext>
              </a:extLst>
            </p:cNvPr>
            <p:cNvSpPr txBox="1"/>
            <p:nvPr/>
          </p:nvSpPr>
          <p:spPr bwMode="gray">
            <a:xfrm>
              <a:off x="8890231" y="1073152"/>
              <a:ext cx="955705" cy="327277"/>
            </a:xfrm>
            <a:prstGeom prst="rect">
              <a:avLst/>
            </a:prstGeom>
            <a:noFill/>
          </p:spPr>
          <p:txBody>
            <a:bodyPr wrap="square" rtlCol="0">
              <a:spAutoFit/>
            </a:bodyPr>
            <a:lstStyle/>
            <a:p>
              <a:pPr algn="ctr" defTabSz="1219154">
                <a:lnSpc>
                  <a:spcPct val="120000"/>
                </a:lnSpc>
                <a:defRPr/>
              </a:pPr>
              <a:r>
                <a:rPr lang="zh-CN" altLang="en-US" sz="1361"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第三站点</a:t>
              </a:r>
            </a:p>
          </p:txBody>
        </p:sp>
        <p:sp>
          <p:nvSpPr>
            <p:cNvPr id="67" name="圆角矩形 173">
              <a:extLst>
                <a:ext uri="{FF2B5EF4-FFF2-40B4-BE49-F238E27FC236}">
                  <a16:creationId xmlns="" xmlns:a16="http://schemas.microsoft.com/office/drawing/2014/main" id="{B87C8129-FC10-449E-AEAE-34920F7AE348}"/>
                </a:ext>
              </a:extLst>
            </p:cNvPr>
            <p:cNvSpPr/>
            <p:nvPr/>
          </p:nvSpPr>
          <p:spPr bwMode="gray">
            <a:xfrm>
              <a:off x="8495796" y="1145639"/>
              <a:ext cx="476625" cy="223649"/>
            </a:xfrm>
            <a:prstGeom prst="roundRect">
              <a:avLst/>
            </a:prstGeom>
            <a:solidFill>
              <a:srgbClr val="5E5CA2">
                <a:lumMod val="20000"/>
                <a:lumOff val="80000"/>
              </a:srgbClr>
            </a:solidFill>
            <a:ln>
              <a:solidFill>
                <a:srgbClr val="4276AA"/>
              </a:solidFill>
              <a:prstDash val="dash"/>
            </a:ln>
          </p:spPr>
          <p:txBody>
            <a:bodyPr wrap="none" rtlCol="0" anchor="ctr">
              <a:noAutofit/>
            </a:bodyPr>
            <a:lstStyle/>
            <a:p>
              <a:pPr marL="492327" indent="-492327" algn="ctr" defTabSz="863280">
                <a:defRPr/>
              </a:pPr>
              <a:r>
                <a:rPr lang="zh-CN" altLang="en-US" sz="1361"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仲裁</a:t>
              </a:r>
              <a:endParaRPr lang="zh-CN" altLang="en-US" sz="1996"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grpSp>
      <p:cxnSp>
        <p:nvCxnSpPr>
          <p:cNvPr id="62" name="直接连接符 168">
            <a:extLst>
              <a:ext uri="{FF2B5EF4-FFF2-40B4-BE49-F238E27FC236}">
                <a16:creationId xmlns="" xmlns:a16="http://schemas.microsoft.com/office/drawing/2014/main" id="{18D3B8C9-035F-4032-9293-895DA9C791CD}"/>
              </a:ext>
            </a:extLst>
          </p:cNvPr>
          <p:cNvCxnSpPr>
            <a:cxnSpLocks/>
            <a:stCxn id="67" idx="2"/>
            <a:endCxn id="36" idx="0"/>
          </p:cNvCxnSpPr>
          <p:nvPr/>
        </p:nvCxnSpPr>
        <p:spPr bwMode="gray">
          <a:xfrm flipH="1">
            <a:off x="3914306" y="2341006"/>
            <a:ext cx="2895864" cy="735099"/>
          </a:xfrm>
          <a:prstGeom prst="line">
            <a:avLst/>
          </a:prstGeom>
          <a:solidFill>
            <a:srgbClr val="4276AA"/>
          </a:solidFill>
          <a:ln w="9525" cap="flat" cmpd="sng" algn="ctr">
            <a:solidFill>
              <a:srgbClr val="000000"/>
            </a:solidFill>
            <a:prstDash val="solid"/>
            <a:round/>
            <a:headEnd type="none" w="med" len="med"/>
            <a:tailEnd type="none" w="med" len="med"/>
          </a:ln>
          <a:effectLst/>
        </p:spPr>
      </p:cxnSp>
      <p:cxnSp>
        <p:nvCxnSpPr>
          <p:cNvPr id="63" name="直接连接符 169">
            <a:extLst>
              <a:ext uri="{FF2B5EF4-FFF2-40B4-BE49-F238E27FC236}">
                <a16:creationId xmlns="" xmlns:a16="http://schemas.microsoft.com/office/drawing/2014/main" id="{738AD457-C432-42DB-933C-99C7A11D63EA}"/>
              </a:ext>
            </a:extLst>
          </p:cNvPr>
          <p:cNvCxnSpPr>
            <a:cxnSpLocks/>
            <a:stCxn id="67" idx="2"/>
            <a:endCxn id="74" idx="0"/>
          </p:cNvCxnSpPr>
          <p:nvPr/>
        </p:nvCxnSpPr>
        <p:spPr bwMode="gray">
          <a:xfrm>
            <a:off x="6810170" y="2341006"/>
            <a:ext cx="3165695" cy="748419"/>
          </a:xfrm>
          <a:prstGeom prst="line">
            <a:avLst/>
          </a:prstGeom>
          <a:solidFill>
            <a:srgbClr val="4276AA"/>
          </a:solidFill>
          <a:ln w="9525" cap="flat" cmpd="sng" algn="ctr">
            <a:solidFill>
              <a:srgbClr val="000000"/>
            </a:solidFill>
            <a:prstDash val="solid"/>
            <a:round/>
            <a:headEnd type="none" w="med" len="med"/>
            <a:tailEnd type="none" w="med" len="med"/>
          </a:ln>
          <a:effectLst/>
        </p:spPr>
      </p:cxnSp>
      <p:sp>
        <p:nvSpPr>
          <p:cNvPr id="64" name="矩形 170">
            <a:extLst>
              <a:ext uri="{FF2B5EF4-FFF2-40B4-BE49-F238E27FC236}">
                <a16:creationId xmlns="" xmlns:a16="http://schemas.microsoft.com/office/drawing/2014/main" id="{ED3EBDBA-4534-4ADD-AD1E-70F1C1FB5E94}"/>
              </a:ext>
            </a:extLst>
          </p:cNvPr>
          <p:cNvSpPr/>
          <p:nvPr/>
        </p:nvSpPr>
        <p:spPr bwMode="gray">
          <a:xfrm rot="20759928">
            <a:off x="4192392" y="2478864"/>
            <a:ext cx="1757212" cy="301749"/>
          </a:xfrm>
          <a:prstGeom prst="rect">
            <a:avLst/>
          </a:prstGeom>
        </p:spPr>
        <p:txBody>
          <a:bodyPr wrap="none">
            <a:spAutoFit/>
          </a:bodyPr>
          <a:lstStyle/>
          <a:p>
            <a:pPr defTabSz="1219154"/>
            <a:r>
              <a:rPr lang="zh-CN" altLang="en-US" sz="1361" kern="0" dirty="0">
                <a:solidFill>
                  <a:srgbClr val="000000"/>
                </a:solidFill>
                <a:latin typeface="Huawei Sans" panose="020C0503030203020204" pitchFamily="34" charset="0"/>
                <a:ea typeface="方正兰亭黑简体" panose="02000000000000000000" pitchFamily="2" charset="-122"/>
              </a:rPr>
              <a:t>状态检测及自动倒换</a:t>
            </a:r>
          </a:p>
        </p:txBody>
      </p:sp>
      <p:grpSp>
        <p:nvGrpSpPr>
          <p:cNvPr id="68" name="组合 7">
            <a:extLst>
              <a:ext uri="{FF2B5EF4-FFF2-40B4-BE49-F238E27FC236}">
                <a16:creationId xmlns="" xmlns:a16="http://schemas.microsoft.com/office/drawing/2014/main" id="{2D471405-DCCF-44EF-A25C-CB66AD173541}"/>
              </a:ext>
            </a:extLst>
          </p:cNvPr>
          <p:cNvGrpSpPr/>
          <p:nvPr/>
        </p:nvGrpSpPr>
        <p:grpSpPr bwMode="gray">
          <a:xfrm>
            <a:off x="4908325" y="4596885"/>
            <a:ext cx="3896550" cy="461664"/>
            <a:chOff x="4036687" y="3372882"/>
            <a:chExt cx="3896550" cy="461676"/>
          </a:xfrm>
        </p:grpSpPr>
        <p:cxnSp>
          <p:nvCxnSpPr>
            <p:cNvPr id="69" name="直接连接符 175">
              <a:extLst>
                <a:ext uri="{FF2B5EF4-FFF2-40B4-BE49-F238E27FC236}">
                  <a16:creationId xmlns="" xmlns:a16="http://schemas.microsoft.com/office/drawing/2014/main" id="{CB244E0A-643B-4008-875D-10E0D47B8C4E}"/>
                </a:ext>
              </a:extLst>
            </p:cNvPr>
            <p:cNvCxnSpPr/>
            <p:nvPr/>
          </p:nvCxnSpPr>
          <p:spPr bwMode="gray">
            <a:xfrm>
              <a:off x="4036687" y="3603173"/>
              <a:ext cx="3896550" cy="0"/>
            </a:xfrm>
            <a:prstGeom prst="line">
              <a:avLst/>
            </a:prstGeom>
            <a:noFill/>
            <a:ln w="19050" cap="flat" cmpd="sng" algn="ctr">
              <a:solidFill>
                <a:srgbClr val="4276AA">
                  <a:shade val="95000"/>
                  <a:satMod val="105000"/>
                </a:srgbClr>
              </a:solidFill>
              <a:prstDash val="solid"/>
              <a:headEnd type="none" w="med" len="med"/>
              <a:tailEnd type="triangle" w="med" len="med"/>
            </a:ln>
            <a:effectLst/>
          </p:spPr>
        </p:cxnSp>
        <p:sp>
          <p:nvSpPr>
            <p:cNvPr id="70" name="TextBox 69">
              <a:extLst>
                <a:ext uri="{FF2B5EF4-FFF2-40B4-BE49-F238E27FC236}">
                  <a16:creationId xmlns="" xmlns:a16="http://schemas.microsoft.com/office/drawing/2014/main" id="{FBD1176E-AD48-41FD-A042-B15DAC5F62C6}"/>
                </a:ext>
              </a:extLst>
            </p:cNvPr>
            <p:cNvSpPr txBox="1"/>
            <p:nvPr/>
          </p:nvSpPr>
          <p:spPr bwMode="gray">
            <a:xfrm>
              <a:off x="4373209" y="3372882"/>
              <a:ext cx="1690099" cy="461676"/>
            </a:xfrm>
            <a:prstGeom prst="rect">
              <a:avLst/>
            </a:prstGeom>
            <a:solidFill>
              <a:srgbClr val="FFFFFF"/>
            </a:solidFill>
          </p:spPr>
          <p:txBody>
            <a:bodyPr wrap="square" rtlCol="0">
              <a:spAutoFit/>
            </a:bodyPr>
            <a:lstStyle>
              <a:defPPr>
                <a:defRPr lang="zh-CN"/>
              </a:defPPr>
              <a:lvl1pPr>
                <a:buFont typeface="Wingdings" pitchFamily="2" charset="2"/>
                <a:buNone/>
                <a:defRPr sz="1000">
                  <a:solidFill>
                    <a:srgbClr val="000000"/>
                  </a:solidFill>
                  <a:latin typeface="微软雅黑" panose="020B0503020204020204" pitchFamily="34" charset="-122"/>
                  <a:ea typeface="微软雅黑" panose="020B0503020204020204" pitchFamily="34" charset="-122"/>
                </a:defRPr>
              </a:lvl1pPr>
            </a:lstStyle>
            <a:p>
              <a:pPr algn="ctr" defTabSz="1219154"/>
              <a:r>
                <a:rPr lang="zh-CN" altLang="en-US" sz="1200" kern="0" dirty="0">
                  <a:latin typeface="Huawei Sans" panose="020C0503030203020204" pitchFamily="34" charset="0"/>
                  <a:ea typeface="方正兰亭黑简体" panose="02000000000000000000" pitchFamily="2" charset="-122"/>
                  <a:sym typeface="Arial" panose="020B0604020202020204" pitchFamily="34" charset="0"/>
                </a:rPr>
                <a:t>异步复制</a:t>
              </a:r>
              <a:r>
                <a:rPr lang="en-US" altLang="zh-CN" sz="1200" kern="0" dirty="0">
                  <a:latin typeface="Huawei Sans" panose="020C0503030203020204" pitchFamily="34" charset="0"/>
                  <a:ea typeface="方正兰亭黑简体" panose="02000000000000000000" pitchFamily="2" charset="-122"/>
                  <a:sym typeface="Arial" panose="020B0604020202020204" pitchFamily="34" charset="0"/>
                </a:rPr>
                <a:t>RPO&lt;=60</a:t>
              </a:r>
              <a:r>
                <a:rPr lang="zh-CN" altLang="en-US" sz="1200" kern="0" dirty="0">
                  <a:latin typeface="Huawei Sans" panose="020C0503030203020204" pitchFamily="34" charset="0"/>
                  <a:ea typeface="方正兰亭黑简体" panose="02000000000000000000" pitchFamily="2" charset="-122"/>
                  <a:sym typeface="Arial" panose="020B0604020202020204" pitchFamily="34" charset="0"/>
                </a:rPr>
                <a:t>秒（管控域业务数据）</a:t>
              </a:r>
            </a:p>
          </p:txBody>
        </p:sp>
      </p:grpSp>
      <p:sp>
        <p:nvSpPr>
          <p:cNvPr id="71" name="矩形 177">
            <a:extLst>
              <a:ext uri="{FF2B5EF4-FFF2-40B4-BE49-F238E27FC236}">
                <a16:creationId xmlns="" xmlns:a16="http://schemas.microsoft.com/office/drawing/2014/main" id="{37EF92F4-1E38-45A2-A843-B90A928169F7}"/>
              </a:ext>
            </a:extLst>
          </p:cNvPr>
          <p:cNvSpPr/>
          <p:nvPr/>
        </p:nvSpPr>
        <p:spPr bwMode="gray">
          <a:xfrm>
            <a:off x="4892123" y="5897863"/>
            <a:ext cx="3836091" cy="276989"/>
          </a:xfrm>
          <a:prstGeom prst="rect">
            <a:avLst/>
          </a:prstGeom>
        </p:spPr>
        <p:txBody>
          <a:bodyPr wrap="square" lIns="91428" tIns="45715" rIns="91428" bIns="45715">
            <a:spAutoFit/>
          </a:bodyPr>
          <a:lstStyle/>
          <a:p>
            <a:pPr algn="ctr" defTabSz="1219154"/>
            <a:r>
              <a:rPr lang="zh-CN" altLang="en-US" sz="1200" dirty="0">
                <a:latin typeface="Huawei Sans" panose="020C0503030203020204" pitchFamily="34" charset="0"/>
                <a:ea typeface="方正兰亭黑简体" panose="02000000000000000000" pitchFamily="2" charset="-122"/>
                <a:sym typeface="Arial" panose="020B0604020202020204" pitchFamily="34" charset="0"/>
              </a:rPr>
              <a:t>*建议复制采用冗余专线连接，切换时间</a:t>
            </a:r>
            <a:r>
              <a:rPr lang="en-US" altLang="zh-CN" sz="1200" dirty="0">
                <a:latin typeface="Huawei Sans" panose="020C0503030203020204" pitchFamily="34" charset="0"/>
                <a:ea typeface="方正兰亭黑简体" panose="02000000000000000000" pitchFamily="2" charset="-122"/>
                <a:sym typeface="Arial" panose="020B0604020202020204" pitchFamily="34" charset="0"/>
              </a:rPr>
              <a:t>&lt;1s</a:t>
            </a:r>
            <a:r>
              <a:rPr lang="zh-CN" altLang="en-US" sz="1200" dirty="0">
                <a:latin typeface="Huawei Sans" panose="020C0503030203020204" pitchFamily="34" charset="0"/>
                <a:ea typeface="方正兰亭黑简体" panose="02000000000000000000" pitchFamily="2" charset="-122"/>
                <a:sym typeface="Arial" panose="020B0604020202020204" pitchFamily="34" charset="0"/>
              </a:rPr>
              <a:t>。</a:t>
            </a:r>
          </a:p>
        </p:txBody>
      </p:sp>
      <p:grpSp>
        <p:nvGrpSpPr>
          <p:cNvPr id="73" name="组合 3">
            <a:extLst>
              <a:ext uri="{FF2B5EF4-FFF2-40B4-BE49-F238E27FC236}">
                <a16:creationId xmlns="" xmlns:a16="http://schemas.microsoft.com/office/drawing/2014/main" id="{FDF96A3C-57A4-4A61-9FA3-5F69A0CEF156}"/>
              </a:ext>
            </a:extLst>
          </p:cNvPr>
          <p:cNvGrpSpPr/>
          <p:nvPr/>
        </p:nvGrpSpPr>
        <p:grpSpPr bwMode="gray">
          <a:xfrm>
            <a:off x="8841434" y="3089425"/>
            <a:ext cx="2268862" cy="2936699"/>
            <a:chOff x="7875681" y="2302315"/>
            <a:chExt cx="2268862" cy="2936769"/>
          </a:xfrm>
        </p:grpSpPr>
        <p:sp>
          <p:nvSpPr>
            <p:cNvPr id="74" name="圆角矩形 180">
              <a:extLst>
                <a:ext uri="{FF2B5EF4-FFF2-40B4-BE49-F238E27FC236}">
                  <a16:creationId xmlns="" xmlns:a16="http://schemas.microsoft.com/office/drawing/2014/main" id="{16039FEA-2518-4452-9EFB-61D79B57E397}"/>
                </a:ext>
              </a:extLst>
            </p:cNvPr>
            <p:cNvSpPr/>
            <p:nvPr/>
          </p:nvSpPr>
          <p:spPr bwMode="gray">
            <a:xfrm>
              <a:off x="7875681" y="2302315"/>
              <a:ext cx="2268862" cy="2936769"/>
            </a:xfrm>
            <a:prstGeom prst="roundRect">
              <a:avLst>
                <a:gd name="adj" fmla="val 2520"/>
              </a:avLst>
            </a:prstGeom>
            <a:solidFill>
              <a:schemeClr val="bg1">
                <a:lumMod val="85000"/>
              </a:schemeClr>
            </a:solidFill>
            <a:ln>
              <a:noFill/>
            </a:ln>
            <a:effectLst>
              <a:outerShdw blurRad="50800" dist="38100" dir="8100000" algn="tr" rotWithShape="0">
                <a:prstClr val="black">
                  <a:alpha val="40000"/>
                </a:prstClr>
              </a:outer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82953" tIns="41476" rIns="82953" bIns="41476" numCol="1" rtlCol="0" anchor="t" anchorCtr="0" compatLnSpc="1">
              <a:prstTxWarp prst="textNoShape">
                <a:avLst/>
              </a:prstTxWarp>
            </a:bodyPr>
            <a:lstStyle/>
            <a:p>
              <a:pPr defTabSz="1219154">
                <a:defRPr/>
              </a:pPr>
              <a:endParaRPr lang="zh-CN" altLang="en-US" sz="1200" kern="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75" name="流程图: 磁盘 181">
              <a:extLst>
                <a:ext uri="{FF2B5EF4-FFF2-40B4-BE49-F238E27FC236}">
                  <a16:creationId xmlns="" xmlns:a16="http://schemas.microsoft.com/office/drawing/2014/main" id="{9DEDEE14-1439-41B7-BD34-F3D1DF86BC3A}"/>
                </a:ext>
              </a:extLst>
            </p:cNvPr>
            <p:cNvSpPr/>
            <p:nvPr/>
          </p:nvSpPr>
          <p:spPr bwMode="gray">
            <a:xfrm>
              <a:off x="8131969" y="3277158"/>
              <a:ext cx="641674" cy="724939"/>
            </a:xfrm>
            <a:prstGeom prst="flowChartMagneticDisk">
              <a:avLst/>
            </a:prstGeom>
            <a:noFill/>
            <a:ln w="22225">
              <a:solidFill>
                <a:srgbClr val="768395">
                  <a:lumMod val="40000"/>
                  <a:lumOff val="60000"/>
                </a:srgb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DB</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cxnSp>
          <p:nvCxnSpPr>
            <p:cNvPr id="76" name="直接箭头连接符 182">
              <a:extLst>
                <a:ext uri="{FF2B5EF4-FFF2-40B4-BE49-F238E27FC236}">
                  <a16:creationId xmlns="" xmlns:a16="http://schemas.microsoft.com/office/drawing/2014/main" id="{41FEBD7D-2467-4BAF-9A60-2736A0BD6A4A}"/>
                </a:ext>
              </a:extLst>
            </p:cNvPr>
            <p:cNvCxnSpPr>
              <a:stCxn id="89" idx="1"/>
              <a:endCxn id="94" idx="3"/>
            </p:cNvCxnSpPr>
            <p:nvPr/>
          </p:nvCxnSpPr>
          <p:spPr bwMode="gray">
            <a:xfrm flipH="1">
              <a:off x="8873204" y="3993069"/>
              <a:ext cx="266650" cy="0"/>
            </a:xfrm>
            <a:prstGeom prst="straightConnector1">
              <a:avLst/>
            </a:prstGeom>
            <a:solidFill>
              <a:srgbClr val="FFCC99">
                <a:alpha val="80000"/>
              </a:srgbClr>
            </a:solidFill>
            <a:ln w="9525" cap="flat" cmpd="sng" algn="ctr">
              <a:solidFill>
                <a:srgbClr val="969696"/>
              </a:solidFill>
              <a:prstDash val="solid"/>
              <a:round/>
              <a:headEnd type="none" w="med" len="med"/>
              <a:tailEnd type="triangle"/>
            </a:ln>
            <a:effectLst/>
          </p:spPr>
        </p:cxnSp>
        <p:cxnSp>
          <p:nvCxnSpPr>
            <p:cNvPr id="77" name="直接箭头连接符 183">
              <a:extLst>
                <a:ext uri="{FF2B5EF4-FFF2-40B4-BE49-F238E27FC236}">
                  <a16:creationId xmlns="" xmlns:a16="http://schemas.microsoft.com/office/drawing/2014/main" id="{5EC2D785-0582-4638-8411-A53F8251D96F}"/>
                </a:ext>
              </a:extLst>
            </p:cNvPr>
            <p:cNvCxnSpPr/>
            <p:nvPr/>
          </p:nvCxnSpPr>
          <p:spPr bwMode="gray">
            <a:xfrm flipH="1">
              <a:off x="8462928" y="2979509"/>
              <a:ext cx="0" cy="157842"/>
            </a:xfrm>
            <a:prstGeom prst="straightConnector1">
              <a:avLst/>
            </a:prstGeom>
            <a:solidFill>
              <a:srgbClr val="FFCC99">
                <a:alpha val="80000"/>
              </a:srgbClr>
            </a:solidFill>
            <a:ln w="9525" cap="flat" cmpd="sng" algn="ctr">
              <a:solidFill>
                <a:srgbClr val="969696"/>
              </a:solidFill>
              <a:prstDash val="solid"/>
              <a:round/>
              <a:headEnd type="none" w="med" len="med"/>
              <a:tailEnd type="triangle"/>
            </a:ln>
            <a:effectLst/>
          </p:spPr>
        </p:cxnSp>
        <p:sp>
          <p:nvSpPr>
            <p:cNvPr id="78" name="圆角矩形 184">
              <a:extLst>
                <a:ext uri="{FF2B5EF4-FFF2-40B4-BE49-F238E27FC236}">
                  <a16:creationId xmlns="" xmlns:a16="http://schemas.microsoft.com/office/drawing/2014/main" id="{026172DB-5393-4D58-81CC-F1A100C2689B}"/>
                </a:ext>
              </a:extLst>
            </p:cNvPr>
            <p:cNvSpPr/>
            <p:nvPr/>
          </p:nvSpPr>
          <p:spPr bwMode="gray">
            <a:xfrm>
              <a:off x="8118186" y="2746278"/>
              <a:ext cx="694058" cy="213032"/>
            </a:xfrm>
            <a:prstGeom prst="roundRect">
              <a:avLst/>
            </a:prstGeom>
            <a:solidFill>
              <a:srgbClr val="FFCC99"/>
            </a:solidFill>
            <a:ln>
              <a:solidFill>
                <a:srgbClr val="FFFFFF">
                  <a:lumMod val="50000"/>
                </a:srgb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DRMgr</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79" name="圆角矩形 185">
              <a:extLst>
                <a:ext uri="{FF2B5EF4-FFF2-40B4-BE49-F238E27FC236}">
                  <a16:creationId xmlns="" xmlns:a16="http://schemas.microsoft.com/office/drawing/2014/main" id="{0CEC04C4-76AB-4CF1-B1A8-1E9046D44A8B}"/>
                </a:ext>
              </a:extLst>
            </p:cNvPr>
            <p:cNvSpPr/>
            <p:nvPr/>
          </p:nvSpPr>
          <p:spPr bwMode="gray">
            <a:xfrm>
              <a:off x="8154054" y="2366148"/>
              <a:ext cx="589109" cy="234204"/>
            </a:xfrm>
            <a:prstGeom prst="roundRect">
              <a:avLst/>
            </a:prstGeom>
            <a:solidFill>
              <a:srgbClr val="FFCC99"/>
            </a:solidFill>
            <a:ln>
              <a:solidFill>
                <a:srgbClr val="FFFFFF">
                  <a:lumMod val="50000"/>
                </a:srgb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DR</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cxnSp>
          <p:nvCxnSpPr>
            <p:cNvPr id="80" name="直接箭头连接符 186">
              <a:extLst>
                <a:ext uri="{FF2B5EF4-FFF2-40B4-BE49-F238E27FC236}">
                  <a16:creationId xmlns="" xmlns:a16="http://schemas.microsoft.com/office/drawing/2014/main" id="{5E483626-6F82-49E7-AFBE-F8C35B9B90D5}"/>
                </a:ext>
              </a:extLst>
            </p:cNvPr>
            <p:cNvCxnSpPr/>
            <p:nvPr/>
          </p:nvCxnSpPr>
          <p:spPr bwMode="gray">
            <a:xfrm flipH="1">
              <a:off x="8456330" y="2590994"/>
              <a:ext cx="0" cy="157842"/>
            </a:xfrm>
            <a:prstGeom prst="straightConnector1">
              <a:avLst/>
            </a:prstGeom>
            <a:solidFill>
              <a:srgbClr val="FFCC99">
                <a:alpha val="80000"/>
              </a:srgbClr>
            </a:solidFill>
            <a:ln w="9525" cap="flat" cmpd="sng" algn="ctr">
              <a:solidFill>
                <a:srgbClr val="969696"/>
              </a:solidFill>
              <a:prstDash val="solid"/>
              <a:round/>
              <a:headEnd type="none" w="med" len="med"/>
              <a:tailEnd type="triangle"/>
            </a:ln>
            <a:effectLst/>
          </p:spPr>
        </p:cxnSp>
        <p:sp>
          <p:nvSpPr>
            <p:cNvPr id="81" name="TextBox 140">
              <a:extLst>
                <a:ext uri="{FF2B5EF4-FFF2-40B4-BE49-F238E27FC236}">
                  <a16:creationId xmlns="" xmlns:a16="http://schemas.microsoft.com/office/drawing/2014/main" id="{84DAD360-1F77-4EC4-ABC9-FE972471FBCC}"/>
                </a:ext>
              </a:extLst>
            </p:cNvPr>
            <p:cNvSpPr txBox="1"/>
            <p:nvPr/>
          </p:nvSpPr>
          <p:spPr bwMode="gray">
            <a:xfrm>
              <a:off x="8725073" y="2349707"/>
              <a:ext cx="1419470" cy="387807"/>
            </a:xfrm>
            <a:prstGeom prst="rect">
              <a:avLst/>
            </a:prstGeom>
            <a:noFill/>
          </p:spPr>
          <p:txBody>
            <a:bodyPr wrap="square" rtlCol="0">
              <a:spAutoFit/>
            </a:bodyPr>
            <a:lstStyle/>
            <a:p>
              <a:pPr algn="ctr" defTabSz="1219154">
                <a:lnSpc>
                  <a:spcPct val="120000"/>
                </a:lnSpc>
                <a:defRPr/>
              </a:pPr>
              <a:r>
                <a:rPr lang="zh-CN" altLang="en-US" sz="16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备站点</a:t>
              </a:r>
            </a:p>
          </p:txBody>
        </p:sp>
        <p:grpSp>
          <p:nvGrpSpPr>
            <p:cNvPr id="82" name="组合 114">
              <a:extLst>
                <a:ext uri="{FF2B5EF4-FFF2-40B4-BE49-F238E27FC236}">
                  <a16:creationId xmlns="" xmlns:a16="http://schemas.microsoft.com/office/drawing/2014/main" id="{6FF62137-34F8-4F4F-A828-192F54C64207}"/>
                </a:ext>
              </a:extLst>
            </p:cNvPr>
            <p:cNvGrpSpPr/>
            <p:nvPr/>
          </p:nvGrpSpPr>
          <p:grpSpPr bwMode="gray">
            <a:xfrm>
              <a:off x="8032407" y="3126466"/>
              <a:ext cx="840797" cy="1789585"/>
              <a:chOff x="2199061" y="2373178"/>
              <a:chExt cx="849086" cy="1811311"/>
            </a:xfrm>
          </p:grpSpPr>
          <p:sp>
            <p:nvSpPr>
              <p:cNvPr id="94" name="圆角矩形 200">
                <a:extLst>
                  <a:ext uri="{FF2B5EF4-FFF2-40B4-BE49-F238E27FC236}">
                    <a16:creationId xmlns="" xmlns:a16="http://schemas.microsoft.com/office/drawing/2014/main" id="{D0754A17-F572-4469-99F4-FC4DEA5959B1}"/>
                  </a:ext>
                </a:extLst>
              </p:cNvPr>
              <p:cNvSpPr/>
              <p:nvPr/>
            </p:nvSpPr>
            <p:spPr bwMode="gray">
              <a:xfrm>
                <a:off x="2199061" y="2373178"/>
                <a:ext cx="849086" cy="1777165"/>
              </a:xfrm>
              <a:prstGeom prst="roundRect">
                <a:avLst/>
              </a:prstGeom>
              <a:noFill/>
              <a:ln w="9525" cap="flat" cmpd="sng" algn="ctr">
                <a:solidFill>
                  <a:srgbClr val="000000">
                    <a:lumMod val="95000"/>
                    <a:lumOff val="5000"/>
                  </a:srgbClr>
                </a:solidFill>
                <a:prstDash val="dash"/>
                <a:round/>
                <a:headEnd type="none" w="med" len="med"/>
                <a:tailEnd type="none" w="med" len="med"/>
              </a:ln>
              <a:effectLst/>
            </p:spPr>
            <p:txBody>
              <a:bodyPr vert="horz" wrap="square" lIns="82953" tIns="41476" rIns="82953" bIns="41476" numCol="1" rtlCol="0" anchor="ctr" anchorCtr="1" compatLnSpc="1">
                <a:prstTxWarp prst="textNoShape">
                  <a:avLst/>
                </a:prstTxWarp>
              </a:bodyPr>
              <a:lstStyle/>
              <a:p>
                <a:pPr defTabSz="1219154"/>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95" name="TextBox 107">
                <a:extLst>
                  <a:ext uri="{FF2B5EF4-FFF2-40B4-BE49-F238E27FC236}">
                    <a16:creationId xmlns="" xmlns:a16="http://schemas.microsoft.com/office/drawing/2014/main" id="{29C7D843-C892-4C49-A78C-6194FAD500F8}"/>
                  </a:ext>
                </a:extLst>
              </p:cNvPr>
              <p:cNvSpPr txBox="1"/>
              <p:nvPr/>
            </p:nvSpPr>
            <p:spPr bwMode="gray">
              <a:xfrm>
                <a:off x="2359138" y="3904121"/>
                <a:ext cx="497298" cy="280368"/>
              </a:xfrm>
              <a:prstGeom prst="rect">
                <a:avLst/>
              </a:prstGeom>
              <a:noFill/>
            </p:spPr>
            <p:txBody>
              <a:bodyPr wrap="none">
                <a:spAutoFit/>
              </a:bodyPr>
              <a:lstStyle/>
              <a:p>
                <a:pPr defTabSz="1219154">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数据</a:t>
                </a:r>
              </a:p>
            </p:txBody>
          </p:sp>
        </p:grpSp>
        <p:grpSp>
          <p:nvGrpSpPr>
            <p:cNvPr id="83" name="组合 80">
              <a:extLst>
                <a:ext uri="{FF2B5EF4-FFF2-40B4-BE49-F238E27FC236}">
                  <a16:creationId xmlns="" xmlns:a16="http://schemas.microsoft.com/office/drawing/2014/main" id="{7ABB682D-1410-452E-83CB-BC58D4338D4F}"/>
                </a:ext>
              </a:extLst>
            </p:cNvPr>
            <p:cNvGrpSpPr/>
            <p:nvPr/>
          </p:nvGrpSpPr>
          <p:grpSpPr bwMode="gray">
            <a:xfrm>
              <a:off x="9125347" y="3103824"/>
              <a:ext cx="855304" cy="1811148"/>
              <a:chOff x="1052296" y="2384062"/>
              <a:chExt cx="863736" cy="1900842"/>
            </a:xfrm>
          </p:grpSpPr>
          <p:grpSp>
            <p:nvGrpSpPr>
              <p:cNvPr id="86" name="组合 81">
                <a:extLst>
                  <a:ext uri="{FF2B5EF4-FFF2-40B4-BE49-F238E27FC236}">
                    <a16:creationId xmlns="" xmlns:a16="http://schemas.microsoft.com/office/drawing/2014/main" id="{B0BD24C5-9795-47D4-AB5E-066141C730E3}"/>
                  </a:ext>
                </a:extLst>
              </p:cNvPr>
              <p:cNvGrpSpPr/>
              <p:nvPr/>
            </p:nvGrpSpPr>
            <p:grpSpPr bwMode="gray">
              <a:xfrm>
                <a:off x="1066946" y="2384062"/>
                <a:ext cx="849086" cy="1866569"/>
                <a:chOff x="1066946" y="2384062"/>
                <a:chExt cx="849086" cy="1866569"/>
              </a:xfrm>
            </p:grpSpPr>
            <p:grpSp>
              <p:nvGrpSpPr>
                <p:cNvPr id="88" name="组合 84">
                  <a:extLst>
                    <a:ext uri="{FF2B5EF4-FFF2-40B4-BE49-F238E27FC236}">
                      <a16:creationId xmlns="" xmlns:a16="http://schemas.microsoft.com/office/drawing/2014/main" id="{AB9FA2C1-5EC6-4A5E-92B1-102D563DD2B5}"/>
                    </a:ext>
                  </a:extLst>
                </p:cNvPr>
                <p:cNvGrpSpPr/>
                <p:nvPr/>
              </p:nvGrpSpPr>
              <p:grpSpPr bwMode="gray">
                <a:xfrm>
                  <a:off x="1168171" y="2573566"/>
                  <a:ext cx="648000" cy="1337517"/>
                  <a:chOff x="86482" y="2192894"/>
                  <a:chExt cx="648000" cy="1337517"/>
                </a:xfrm>
              </p:grpSpPr>
              <p:sp>
                <p:nvSpPr>
                  <p:cNvPr id="90" name="圆角矩形 196">
                    <a:extLst>
                      <a:ext uri="{FF2B5EF4-FFF2-40B4-BE49-F238E27FC236}">
                        <a16:creationId xmlns="" xmlns:a16="http://schemas.microsoft.com/office/drawing/2014/main" id="{FD95733F-35FF-4915-A25E-2278255E52ED}"/>
                      </a:ext>
                    </a:extLst>
                  </p:cNvPr>
                  <p:cNvSpPr/>
                  <p:nvPr/>
                </p:nvSpPr>
                <p:spPr bwMode="gray">
                  <a:xfrm>
                    <a:off x="86482" y="2192894"/>
                    <a:ext cx="648000" cy="288000"/>
                  </a:xfrm>
                  <a:prstGeom prst="roundRect">
                    <a:avLst/>
                  </a:prstGeom>
                  <a:ln>
                    <a:solidFill>
                      <a:sysClr val="window" lastClr="FFFFFF">
                        <a:lumMod val="50000"/>
                      </a:sys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Service 1</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91" name="圆角矩形 197">
                    <a:extLst>
                      <a:ext uri="{FF2B5EF4-FFF2-40B4-BE49-F238E27FC236}">
                        <a16:creationId xmlns="" xmlns:a16="http://schemas.microsoft.com/office/drawing/2014/main" id="{4D279C1C-8A43-4A1C-94D7-011B3ED4DD3C}"/>
                      </a:ext>
                    </a:extLst>
                  </p:cNvPr>
                  <p:cNvSpPr/>
                  <p:nvPr/>
                </p:nvSpPr>
                <p:spPr bwMode="gray">
                  <a:xfrm>
                    <a:off x="86482" y="2565730"/>
                    <a:ext cx="648000" cy="288000"/>
                  </a:xfrm>
                  <a:prstGeom prst="roundRect">
                    <a:avLst/>
                  </a:prstGeom>
                  <a:ln>
                    <a:solidFill>
                      <a:sysClr val="window" lastClr="FFFFFF">
                        <a:lumMod val="50000"/>
                      </a:sys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Service 2</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92" name="圆角矩形 198">
                    <a:extLst>
                      <a:ext uri="{FF2B5EF4-FFF2-40B4-BE49-F238E27FC236}">
                        <a16:creationId xmlns="" xmlns:a16="http://schemas.microsoft.com/office/drawing/2014/main" id="{ACC05C19-3EED-455C-8A84-3E543D59DA2C}"/>
                      </a:ext>
                    </a:extLst>
                  </p:cNvPr>
                  <p:cNvSpPr/>
                  <p:nvPr/>
                </p:nvSpPr>
                <p:spPr bwMode="gray">
                  <a:xfrm>
                    <a:off x="86482" y="3242411"/>
                    <a:ext cx="648000" cy="288000"/>
                  </a:xfrm>
                  <a:prstGeom prst="roundRect">
                    <a:avLst/>
                  </a:prstGeom>
                  <a:ln>
                    <a:solidFill>
                      <a:sysClr val="window" lastClr="FFFFFF">
                        <a:lumMod val="50000"/>
                      </a:sysClr>
                    </a:solidFill>
                  </a:ln>
                </p:spPr>
                <p:txBody>
                  <a:bodyPr wrap="none" rtlCol="0" anchor="ctr">
                    <a:noAutofit/>
                  </a:bodyPr>
                  <a:lstStyle/>
                  <a:p>
                    <a:pPr marL="492327" indent="-492327" algn="ctr" defTabSz="863280">
                      <a:defRPr/>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Service</a:t>
                    </a:r>
                    <a:r>
                      <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 </a:t>
                    </a: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n</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93" name="TextBox 29">
                    <a:extLst>
                      <a:ext uri="{FF2B5EF4-FFF2-40B4-BE49-F238E27FC236}">
                        <a16:creationId xmlns="" xmlns:a16="http://schemas.microsoft.com/office/drawing/2014/main" id="{2AA55CC7-D36D-4524-8DD4-D2573E986D30}"/>
                      </a:ext>
                    </a:extLst>
                  </p:cNvPr>
                  <p:cNvSpPr txBox="1"/>
                  <p:nvPr/>
                </p:nvSpPr>
                <p:spPr bwMode="gray">
                  <a:xfrm>
                    <a:off x="257820" y="2955494"/>
                    <a:ext cx="466836" cy="218043"/>
                  </a:xfrm>
                  <a:prstGeom prst="rect">
                    <a:avLst/>
                  </a:prstGeom>
                  <a:noFill/>
                </p:spPr>
                <p:txBody>
                  <a:bodyPr wrap="square" rtlCol="0">
                    <a:spAutoFit/>
                  </a:bodyPr>
                  <a:lstStyle/>
                  <a:p>
                    <a:pPr defTabSz="1219154">
                      <a:lnSpc>
                        <a:spcPts val="300"/>
                      </a:lnSpc>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p>
                  <a:p>
                    <a:pPr defTabSz="1219154">
                      <a:lnSpc>
                        <a:spcPts val="300"/>
                      </a:lnSpc>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p>
                  <a:p>
                    <a:pPr defTabSz="1219154">
                      <a:lnSpc>
                        <a:spcPts val="300"/>
                      </a:lnSpc>
                    </a:pPr>
                    <a:r>
                      <a:rPr lang="en-US" altLang="zh-CN"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a:t>
                    </a:r>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grpSp>
            <p:sp>
              <p:nvSpPr>
                <p:cNvPr id="89" name="圆角矩形 195">
                  <a:extLst>
                    <a:ext uri="{FF2B5EF4-FFF2-40B4-BE49-F238E27FC236}">
                      <a16:creationId xmlns="" xmlns:a16="http://schemas.microsoft.com/office/drawing/2014/main" id="{D746B2D8-314D-4C0C-BB10-8EE822802685}"/>
                    </a:ext>
                  </a:extLst>
                </p:cNvPr>
                <p:cNvSpPr/>
                <p:nvPr/>
              </p:nvSpPr>
              <p:spPr bwMode="gray">
                <a:xfrm>
                  <a:off x="1066946" y="2384062"/>
                  <a:ext cx="849086" cy="1866569"/>
                </a:xfrm>
                <a:prstGeom prst="roundRect">
                  <a:avLst/>
                </a:prstGeom>
                <a:noFill/>
                <a:ln w="9525" cap="flat" cmpd="sng" algn="ctr">
                  <a:solidFill>
                    <a:srgbClr val="000000">
                      <a:lumMod val="95000"/>
                      <a:lumOff val="5000"/>
                    </a:srgbClr>
                  </a:solidFill>
                  <a:prstDash val="dash"/>
                  <a:round/>
                  <a:headEnd type="none" w="med" len="med"/>
                  <a:tailEnd type="none" w="med" len="med"/>
                </a:ln>
                <a:effectLst/>
              </p:spPr>
              <p:txBody>
                <a:bodyPr vert="horz" wrap="square" lIns="82953" tIns="41476" rIns="82953" bIns="41476" numCol="1" rtlCol="0" anchor="ctr" anchorCtr="1" compatLnSpc="1">
                  <a:prstTxWarp prst="textNoShape">
                    <a:avLst/>
                  </a:prstTxWarp>
                </a:bodyPr>
                <a:lstStyle/>
                <a:p>
                  <a:pPr defTabSz="1219154"/>
                  <a:endParaRPr lang="zh-CN" altLang="en-US" sz="1200"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endParaRPr>
                </a:p>
              </p:txBody>
            </p:sp>
          </p:grpSp>
          <p:sp>
            <p:nvSpPr>
              <p:cNvPr id="87" name="TextBox 107">
                <a:extLst>
                  <a:ext uri="{FF2B5EF4-FFF2-40B4-BE49-F238E27FC236}">
                    <a16:creationId xmlns="" xmlns:a16="http://schemas.microsoft.com/office/drawing/2014/main" id="{8EB2C804-141F-4CF6-AA6C-70F7E16858BA}"/>
                  </a:ext>
                </a:extLst>
              </p:cNvPr>
              <p:cNvSpPr txBox="1"/>
              <p:nvPr/>
            </p:nvSpPr>
            <p:spPr bwMode="gray">
              <a:xfrm>
                <a:off x="1052296" y="3994180"/>
                <a:ext cx="808108" cy="290724"/>
              </a:xfrm>
              <a:prstGeom prst="rect">
                <a:avLst/>
              </a:prstGeom>
              <a:noFill/>
            </p:spPr>
            <p:txBody>
              <a:bodyPr wrap="none">
                <a:spAutoFit/>
              </a:bodyPr>
              <a:lstStyle/>
              <a:p>
                <a:pPr defTabSz="1219154">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业务服务</a:t>
                </a:r>
              </a:p>
            </p:txBody>
          </p:sp>
        </p:grpSp>
        <p:sp>
          <p:nvSpPr>
            <p:cNvPr id="84" name="流程图: 多文档 190">
              <a:extLst>
                <a:ext uri="{FF2B5EF4-FFF2-40B4-BE49-F238E27FC236}">
                  <a16:creationId xmlns="" xmlns:a16="http://schemas.microsoft.com/office/drawing/2014/main" id="{210CF86F-7BA2-4223-9E86-1E049F3CE60C}"/>
                </a:ext>
              </a:extLst>
            </p:cNvPr>
            <p:cNvSpPr/>
            <p:nvPr/>
          </p:nvSpPr>
          <p:spPr bwMode="gray">
            <a:xfrm>
              <a:off x="8277494" y="4092981"/>
              <a:ext cx="368369" cy="438245"/>
            </a:xfrm>
            <a:prstGeom prst="flowChartMultidocument">
              <a:avLst/>
            </a:prstGeom>
            <a:solidFill>
              <a:srgbClr val="FFFFFF"/>
            </a:solidFill>
            <a:ln w="9525" cap="flat" cmpd="sng" algn="ctr">
              <a:solidFill>
                <a:srgbClr val="00B0F0"/>
              </a:solidFill>
              <a:prstDash val="solid"/>
            </a:ln>
            <a:effectLst/>
          </p:spPr>
          <p:txBody>
            <a:bodyPr rtlCol="0" anchor="ctr"/>
            <a:lstStyle/>
            <a:p>
              <a:pPr algn="ctr" defTabSz="1219154"/>
              <a:endParaRPr lang="zh-CN" altLang="en-US" sz="1200" kern="0">
                <a:solidFill>
                  <a:srgbClr val="FFFFFF"/>
                </a:solidFill>
                <a:latin typeface="Huawei Sans" panose="020C0503030203020204" pitchFamily="34" charset="0"/>
                <a:ea typeface="方正兰亭黑简体" panose="02000000000000000000" pitchFamily="2" charset="-122"/>
                <a:sym typeface="Arial" panose="020B0604020202020204" pitchFamily="34" charset="0"/>
              </a:endParaRPr>
            </a:p>
          </p:txBody>
        </p:sp>
        <p:sp>
          <p:nvSpPr>
            <p:cNvPr id="85" name="TextBox 107">
              <a:extLst>
                <a:ext uri="{FF2B5EF4-FFF2-40B4-BE49-F238E27FC236}">
                  <a16:creationId xmlns="" xmlns:a16="http://schemas.microsoft.com/office/drawing/2014/main" id="{2016F275-738A-4BE0-A008-493FA6BC29E7}"/>
                </a:ext>
              </a:extLst>
            </p:cNvPr>
            <p:cNvSpPr txBox="1"/>
            <p:nvPr/>
          </p:nvSpPr>
          <p:spPr bwMode="gray">
            <a:xfrm>
              <a:off x="8187602" y="4201044"/>
              <a:ext cx="492443" cy="277006"/>
            </a:xfrm>
            <a:prstGeom prst="rect">
              <a:avLst/>
            </a:prstGeom>
            <a:noFill/>
          </p:spPr>
          <p:txBody>
            <a:bodyPr wrap="none">
              <a:spAutoFit/>
            </a:bodyPr>
            <a:lstStyle/>
            <a:p>
              <a:pPr defTabSz="1219154">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文件</a:t>
              </a:r>
            </a:p>
          </p:txBody>
        </p:sp>
      </p:grpSp>
      <p:sp>
        <p:nvSpPr>
          <p:cNvPr id="96" name="矩形 202">
            <a:extLst>
              <a:ext uri="{FF2B5EF4-FFF2-40B4-BE49-F238E27FC236}">
                <a16:creationId xmlns="" xmlns:a16="http://schemas.microsoft.com/office/drawing/2014/main" id="{AAC7220D-405A-4F6C-8A76-134D6673975D}"/>
              </a:ext>
            </a:extLst>
          </p:cNvPr>
          <p:cNvSpPr/>
          <p:nvPr/>
        </p:nvSpPr>
        <p:spPr bwMode="gray">
          <a:xfrm>
            <a:off x="975369" y="3654207"/>
            <a:ext cx="1153096" cy="463917"/>
          </a:xfrm>
          <a:prstGeom prst="rect">
            <a:avLst/>
          </a:prstGeom>
          <a:solidFill>
            <a:srgbClr val="92D050"/>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98845" tIns="49423" rIns="98845" bIns="49423" anchor="ctr"/>
          <a:lstStyle/>
          <a:p>
            <a:pPr algn="ctr" defTabSz="1000570" eaLnBrk="0" hangingPunct="0">
              <a:defRPr/>
            </a:pPr>
            <a:r>
              <a:rPr lang="en-US" altLang="zh-CN" sz="1200" i="1"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NCE DB</a:t>
            </a:r>
            <a:endParaRPr lang="zh-CN" altLang="en-US" sz="1200" i="1"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endParaRPr>
          </a:p>
        </p:txBody>
      </p:sp>
      <p:sp>
        <p:nvSpPr>
          <p:cNvPr id="97" name="矩形 203">
            <a:extLst>
              <a:ext uri="{FF2B5EF4-FFF2-40B4-BE49-F238E27FC236}">
                <a16:creationId xmlns="" xmlns:a16="http://schemas.microsoft.com/office/drawing/2014/main" id="{7663A9D6-936F-42FC-AE2B-23B431286F46}"/>
              </a:ext>
            </a:extLst>
          </p:cNvPr>
          <p:cNvSpPr/>
          <p:nvPr/>
        </p:nvSpPr>
        <p:spPr bwMode="gray">
          <a:xfrm>
            <a:off x="977364" y="4118122"/>
            <a:ext cx="1147476" cy="463917"/>
          </a:xfrm>
          <a:prstGeom prst="rect">
            <a:avLst/>
          </a:prstGeom>
          <a:solidFill>
            <a:srgbClr val="FFFFFF">
              <a:lumMod val="85000"/>
            </a:srgb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98845" tIns="49423" rIns="98845" bIns="49423" anchor="ctr"/>
          <a:lstStyle/>
          <a:p>
            <a:pPr algn="ctr" defTabSz="1000570" eaLnBrk="0" hangingPunct="0">
              <a:defRPr/>
            </a:pPr>
            <a:r>
              <a:rPr lang="en-US" altLang="zh-CN"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Linux</a:t>
            </a:r>
            <a:endPar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endParaRPr>
          </a:p>
        </p:txBody>
      </p:sp>
      <p:sp>
        <p:nvSpPr>
          <p:cNvPr id="98" name="圆角矩形 75">
            <a:extLst>
              <a:ext uri="{FF2B5EF4-FFF2-40B4-BE49-F238E27FC236}">
                <a16:creationId xmlns="" xmlns:a16="http://schemas.microsoft.com/office/drawing/2014/main" id="{C7C64208-5CA1-4631-8A39-948C99A9626C}"/>
              </a:ext>
            </a:extLst>
          </p:cNvPr>
          <p:cNvSpPr/>
          <p:nvPr/>
        </p:nvSpPr>
        <p:spPr bwMode="gray">
          <a:xfrm>
            <a:off x="975369" y="4647181"/>
            <a:ext cx="1149471" cy="475053"/>
          </a:xfrm>
          <a:prstGeom prst="roundRect">
            <a:avLst>
              <a:gd name="adj" fmla="val 10344"/>
            </a:avLst>
          </a:prstGeom>
          <a:solidFill>
            <a:srgbClr val="FFFFFF">
              <a:lumMod val="85000"/>
            </a:srgb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98845" tIns="49423" rIns="98845" bIns="49423" anchor="ctr"/>
          <a:lstStyle/>
          <a:p>
            <a:pPr algn="ctr" defTabSz="1000570" eaLnBrk="0" hangingPunct="0">
              <a:defRPr/>
            </a:pPr>
            <a:r>
              <a:rPr lang="en-US" altLang="zh-CN"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VM</a:t>
            </a:r>
          </a:p>
        </p:txBody>
      </p:sp>
      <p:sp>
        <p:nvSpPr>
          <p:cNvPr id="99" name="圆角矩形 86">
            <a:extLst>
              <a:ext uri="{FF2B5EF4-FFF2-40B4-BE49-F238E27FC236}">
                <a16:creationId xmlns="" xmlns:a16="http://schemas.microsoft.com/office/drawing/2014/main" id="{C403FDC2-62EE-40ED-83FC-3A72E13251FC}"/>
              </a:ext>
            </a:extLst>
          </p:cNvPr>
          <p:cNvSpPr/>
          <p:nvPr/>
        </p:nvSpPr>
        <p:spPr bwMode="gray">
          <a:xfrm>
            <a:off x="975369" y="5181950"/>
            <a:ext cx="1149471" cy="475053"/>
          </a:xfrm>
          <a:prstGeom prst="roundRect">
            <a:avLst>
              <a:gd name="adj" fmla="val 10344"/>
            </a:avLst>
          </a:prstGeom>
          <a:solidFill>
            <a:srgbClr val="FFFFFF">
              <a:lumMod val="85000"/>
            </a:srgbClr>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98845" tIns="49423" rIns="98845" bIns="49423" anchor="ctr"/>
          <a:lstStyle/>
          <a:p>
            <a:pPr algn="ctr" defTabSz="1000570" eaLnBrk="0" hangingPunct="0">
              <a:defRPr/>
            </a:pPr>
            <a:r>
              <a:rPr lang="en-US" altLang="zh-CN"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Hypervisor</a:t>
            </a:r>
          </a:p>
        </p:txBody>
      </p:sp>
      <p:sp>
        <p:nvSpPr>
          <p:cNvPr id="101" name="矩形 207">
            <a:extLst>
              <a:ext uri="{FF2B5EF4-FFF2-40B4-BE49-F238E27FC236}">
                <a16:creationId xmlns="" xmlns:a16="http://schemas.microsoft.com/office/drawing/2014/main" id="{E39A0E29-F664-4603-8C3D-FBBFAFA9DC21}"/>
              </a:ext>
            </a:extLst>
          </p:cNvPr>
          <p:cNvSpPr/>
          <p:nvPr/>
        </p:nvSpPr>
        <p:spPr bwMode="gray">
          <a:xfrm>
            <a:off x="978690" y="2292349"/>
            <a:ext cx="1153096" cy="411862"/>
          </a:xfrm>
          <a:prstGeom prst="rect">
            <a:avLst/>
          </a:prstGeom>
          <a:solidFill>
            <a:srgbClr val="FF9900"/>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74115" tIns="37057" rIns="74115" bIns="37057" anchor="ctr"/>
          <a:lstStyle/>
          <a:p>
            <a:pPr algn="ctr" defTabSz="750227">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复制管理</a:t>
            </a:r>
          </a:p>
        </p:txBody>
      </p:sp>
      <p:sp>
        <p:nvSpPr>
          <p:cNvPr id="102" name="矩形 208">
            <a:extLst>
              <a:ext uri="{FF2B5EF4-FFF2-40B4-BE49-F238E27FC236}">
                <a16:creationId xmlns="" xmlns:a16="http://schemas.microsoft.com/office/drawing/2014/main" id="{2BF45E3F-631E-44B1-9BAE-FD33F6FFF3E6}"/>
              </a:ext>
            </a:extLst>
          </p:cNvPr>
          <p:cNvSpPr/>
          <p:nvPr/>
        </p:nvSpPr>
        <p:spPr bwMode="gray">
          <a:xfrm>
            <a:off x="978690" y="2760390"/>
            <a:ext cx="1153096" cy="420750"/>
          </a:xfrm>
          <a:prstGeom prst="rect">
            <a:avLst/>
          </a:prstGeom>
          <a:solidFill>
            <a:srgbClr val="FF9900"/>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74115" tIns="37057" rIns="74115" bIns="37057" anchor="ctr"/>
          <a:lstStyle/>
          <a:p>
            <a:pPr algn="ctr" defTabSz="750227">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监控管理</a:t>
            </a:r>
          </a:p>
        </p:txBody>
      </p:sp>
      <p:sp>
        <p:nvSpPr>
          <p:cNvPr id="103" name="矩形 209">
            <a:extLst>
              <a:ext uri="{FF2B5EF4-FFF2-40B4-BE49-F238E27FC236}">
                <a16:creationId xmlns="" xmlns:a16="http://schemas.microsoft.com/office/drawing/2014/main" id="{6F07B4AC-6923-465E-BCEB-D1132DC743F7}"/>
              </a:ext>
            </a:extLst>
          </p:cNvPr>
          <p:cNvSpPr/>
          <p:nvPr/>
        </p:nvSpPr>
        <p:spPr bwMode="gray">
          <a:xfrm>
            <a:off x="978690" y="3250331"/>
            <a:ext cx="1153096" cy="347850"/>
          </a:xfrm>
          <a:prstGeom prst="rect">
            <a:avLst/>
          </a:prstGeom>
          <a:solidFill>
            <a:srgbClr val="FF9900"/>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lIns="74115" tIns="37057" rIns="74115" bIns="37057" anchor="ctr"/>
          <a:lstStyle/>
          <a:p>
            <a:pPr algn="ctr" defTabSz="750227">
              <a:defRPr/>
            </a:pPr>
            <a:r>
              <a:rPr lang="zh-CN" altLang="en-US" sz="1200" kern="0" dirty="0">
                <a:solidFill>
                  <a:srgbClr val="000000"/>
                </a:solidFill>
                <a:latin typeface="Huawei Sans" panose="020C0503030203020204" pitchFamily="34" charset="0"/>
                <a:ea typeface="方正兰亭黑简体" panose="02000000000000000000" pitchFamily="2" charset="-122"/>
                <a:cs typeface="Arial" pitchFamily="34" charset="0"/>
                <a:sym typeface="Arial" panose="020B0604020202020204" pitchFamily="34" charset="0"/>
              </a:rPr>
              <a:t>倒换管理</a:t>
            </a:r>
          </a:p>
        </p:txBody>
      </p:sp>
      <p:sp>
        <p:nvSpPr>
          <p:cNvPr id="104" name="矩形 210">
            <a:extLst>
              <a:ext uri="{FF2B5EF4-FFF2-40B4-BE49-F238E27FC236}">
                <a16:creationId xmlns="" xmlns:a16="http://schemas.microsoft.com/office/drawing/2014/main" id="{A6DA61B4-6E78-442A-8758-8726ADA39FA2}"/>
              </a:ext>
            </a:extLst>
          </p:cNvPr>
          <p:cNvSpPr/>
          <p:nvPr/>
        </p:nvSpPr>
        <p:spPr bwMode="gray">
          <a:xfrm>
            <a:off x="882155" y="2095931"/>
            <a:ext cx="1309317" cy="1548951"/>
          </a:xfrm>
          <a:prstGeom prst="rect">
            <a:avLst/>
          </a:prstGeom>
          <a:noFill/>
          <a:ln w="34925" cap="flat" cmpd="sng" algn="ctr">
            <a:solidFill>
              <a:srgbClr val="FF9900"/>
            </a:solidFill>
            <a:prstDash val="dash"/>
            <a:round/>
            <a:headEnd type="none" w="med" len="med"/>
            <a:tailEnd type="none" w="med" len="med"/>
          </a:ln>
          <a:effectLst/>
        </p:spPr>
        <p:txBody>
          <a:bodyPr vert="horz" wrap="square" lIns="26988" tIns="29687" rIns="26988" bIns="29687" numCol="1" rtlCol="0" anchor="t" anchorCtr="0" compatLnSpc="1">
            <a:prstTxWarp prst="textNoShape">
              <a:avLst/>
            </a:prstTxWarp>
            <a:noAutofit/>
          </a:bodyPr>
          <a:lstStyle/>
          <a:p>
            <a:pPr defTabSz="601023" eaLnBrk="0" fontAlgn="base" hangingPunct="0">
              <a:spcBef>
                <a:spcPct val="0"/>
              </a:spcBef>
              <a:spcAft>
                <a:spcPct val="0"/>
              </a:spcAft>
            </a:pPr>
            <a:r>
              <a:rPr lang="en-US" altLang="zh-CN" sz="12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rPr>
              <a:t>DRMgr</a:t>
            </a:r>
            <a:endParaRPr lang="zh-CN" altLang="en-US" sz="100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endParaRPr>
          </a:p>
        </p:txBody>
      </p:sp>
      <p:cxnSp>
        <p:nvCxnSpPr>
          <p:cNvPr id="106" name="直接连接符 213">
            <a:extLst>
              <a:ext uri="{FF2B5EF4-FFF2-40B4-BE49-F238E27FC236}">
                <a16:creationId xmlns="" xmlns:a16="http://schemas.microsoft.com/office/drawing/2014/main" id="{C6338C1C-7301-442F-83C7-7C89C21B20FD}"/>
              </a:ext>
            </a:extLst>
          </p:cNvPr>
          <p:cNvCxnSpPr/>
          <p:nvPr/>
        </p:nvCxnSpPr>
        <p:spPr bwMode="gray">
          <a:xfrm flipH="1" flipV="1">
            <a:off x="2298090" y="2521367"/>
            <a:ext cx="1755830" cy="894926"/>
          </a:xfrm>
          <a:prstGeom prst="line">
            <a:avLst/>
          </a:prstGeom>
          <a:noFill/>
          <a:ln w="9525" cap="flat" cmpd="sng" algn="ctr">
            <a:solidFill>
              <a:srgbClr val="4276AA">
                <a:shade val="95000"/>
                <a:satMod val="105000"/>
              </a:srgbClr>
            </a:solidFill>
            <a:prstDash val="dash"/>
          </a:ln>
          <a:effectLst/>
        </p:spPr>
      </p:cxnSp>
      <p:grpSp>
        <p:nvGrpSpPr>
          <p:cNvPr id="107" name="组合 5">
            <a:extLst>
              <a:ext uri="{FF2B5EF4-FFF2-40B4-BE49-F238E27FC236}">
                <a16:creationId xmlns="" xmlns:a16="http://schemas.microsoft.com/office/drawing/2014/main" id="{E2E8BF44-D40A-4D44-AF50-DB8FEB330C93}"/>
              </a:ext>
            </a:extLst>
          </p:cNvPr>
          <p:cNvGrpSpPr/>
          <p:nvPr/>
        </p:nvGrpSpPr>
        <p:grpSpPr bwMode="gray">
          <a:xfrm>
            <a:off x="4675960" y="4108769"/>
            <a:ext cx="4296522" cy="405090"/>
            <a:chOff x="3804320" y="3321694"/>
            <a:chExt cx="4296522" cy="405101"/>
          </a:xfrm>
        </p:grpSpPr>
        <p:cxnSp>
          <p:nvCxnSpPr>
            <p:cNvPr id="108" name="直接连接符 215">
              <a:extLst>
                <a:ext uri="{FF2B5EF4-FFF2-40B4-BE49-F238E27FC236}">
                  <a16:creationId xmlns="" xmlns:a16="http://schemas.microsoft.com/office/drawing/2014/main" id="{7BC0D890-9CA4-471C-B898-E48955AA6C78}"/>
                </a:ext>
              </a:extLst>
            </p:cNvPr>
            <p:cNvCxnSpPr>
              <a:stCxn id="38" idx="3"/>
              <a:endCxn id="78" idx="1"/>
            </p:cNvCxnSpPr>
            <p:nvPr/>
          </p:nvCxnSpPr>
          <p:spPr bwMode="gray">
            <a:xfrm>
              <a:off x="3804320" y="3706940"/>
              <a:ext cx="4296522" cy="19855"/>
            </a:xfrm>
            <a:prstGeom prst="line">
              <a:avLst/>
            </a:prstGeom>
            <a:noFill/>
            <a:ln w="9525" cap="flat" cmpd="sng" algn="ctr">
              <a:solidFill>
                <a:srgbClr val="C00000"/>
              </a:solidFill>
              <a:prstDash val="dash"/>
              <a:round/>
              <a:headEnd type="stealth" w="lg" len="lg"/>
              <a:tailEnd type="stealth" w="lg" len="lg"/>
            </a:ln>
            <a:effectLst/>
          </p:spPr>
        </p:cxnSp>
        <p:sp>
          <p:nvSpPr>
            <p:cNvPr id="109" name="TextBox 108">
              <a:extLst>
                <a:ext uri="{FF2B5EF4-FFF2-40B4-BE49-F238E27FC236}">
                  <a16:creationId xmlns="" xmlns:a16="http://schemas.microsoft.com/office/drawing/2014/main" id="{BF36C3D8-DD3B-4FC2-BF59-4B082518B893}"/>
                </a:ext>
              </a:extLst>
            </p:cNvPr>
            <p:cNvSpPr txBox="1"/>
            <p:nvPr/>
          </p:nvSpPr>
          <p:spPr bwMode="gray">
            <a:xfrm>
              <a:off x="5592228" y="3321694"/>
              <a:ext cx="600591" cy="343629"/>
            </a:xfrm>
            <a:prstGeom prst="rect">
              <a:avLst/>
            </a:prstGeom>
            <a:noFill/>
          </p:spPr>
          <p:txBody>
            <a:bodyPr wrap="square" rtlCol="0">
              <a:spAutoFit/>
            </a:bodyPr>
            <a:lstStyle/>
            <a:p>
              <a:pPr algn="ctr" defTabSz="1219154"/>
              <a:r>
                <a:rPr lang="zh-CN" altLang="en-US" sz="1633" kern="0" dirty="0">
                  <a:solidFill>
                    <a:srgbClr val="000000"/>
                  </a:solidFill>
                  <a:latin typeface="Huawei Sans" panose="020C0503030203020204" pitchFamily="34" charset="0"/>
                  <a:ea typeface="方正兰亭黑简体" panose="02000000000000000000" pitchFamily="2" charset="-122"/>
                  <a:sym typeface="Arial" panose="020B0604020202020204" pitchFamily="34" charset="0"/>
                </a:rPr>
                <a:t>心跳</a:t>
              </a:r>
            </a:p>
          </p:txBody>
        </p:sp>
      </p:grpSp>
      <p:pic>
        <p:nvPicPr>
          <p:cNvPr id="110" name="图片 24">
            <a:extLst>
              <a:ext uri="{FF2B5EF4-FFF2-40B4-BE49-F238E27FC236}">
                <a16:creationId xmlns="" xmlns:a16="http://schemas.microsoft.com/office/drawing/2014/main" id="{4F43EFD3-CAEC-4EAC-9D10-B28DDF4DC4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rot="16200000">
            <a:off x="-48798" y="2744600"/>
            <a:ext cx="1502493" cy="277100"/>
          </a:xfrm>
          <a:prstGeom prst="rect">
            <a:avLst/>
          </a:prstGeom>
        </p:spPr>
      </p:pic>
      <p:sp>
        <p:nvSpPr>
          <p:cNvPr id="105" name="TextBox 104">
            <a:extLst>
              <a:ext uri="{FF2B5EF4-FFF2-40B4-BE49-F238E27FC236}">
                <a16:creationId xmlns="" xmlns:a16="http://schemas.microsoft.com/office/drawing/2014/main" id="{2618D31D-4483-4C56-87A4-C3C816C59614}"/>
              </a:ext>
            </a:extLst>
          </p:cNvPr>
          <p:cNvSpPr txBox="1"/>
          <p:nvPr/>
        </p:nvSpPr>
        <p:spPr bwMode="gray">
          <a:xfrm>
            <a:off x="7208088" y="4818689"/>
            <a:ext cx="983888" cy="276999"/>
          </a:xfrm>
          <a:prstGeom prst="rect">
            <a:avLst/>
          </a:prstGeom>
          <a:noFill/>
        </p:spPr>
        <p:txBody>
          <a:bodyPr wrap="square" rtlCol="0">
            <a:spAutoFit/>
          </a:bodyPr>
          <a:lstStyle>
            <a:defPPr>
              <a:defRPr lang="zh-CN"/>
            </a:defPPr>
            <a:lvl1pPr>
              <a:buFont typeface="Wingdings" pitchFamily="2" charset="2"/>
              <a:buNone/>
              <a:defRPr sz="1000">
                <a:solidFill>
                  <a:srgbClr val="000000"/>
                </a:solidFill>
                <a:latin typeface="微软雅黑" panose="020B0503020204020204" pitchFamily="34" charset="-122"/>
                <a:ea typeface="微软雅黑" panose="020B0503020204020204" pitchFamily="34" charset="-122"/>
              </a:defRPr>
            </a:lvl1pPr>
          </a:lstStyle>
          <a:p>
            <a:pPr algn="ctr" defTabSz="1219154"/>
            <a:r>
              <a:rPr lang="zh-CN" altLang="en-US" sz="1200" kern="0" dirty="0">
                <a:latin typeface="Huawei Sans" panose="020C0503030203020204" pitchFamily="34" charset="0"/>
                <a:ea typeface="方正兰亭黑简体" panose="02000000000000000000" pitchFamily="2" charset="-122"/>
                <a:sym typeface="Arial" panose="020B0604020202020204" pitchFamily="34" charset="0"/>
              </a:rPr>
              <a:t>复制链路</a:t>
            </a:r>
          </a:p>
        </p:txBody>
      </p:sp>
    </p:spTree>
    <p:extLst>
      <p:ext uri="{BB962C8B-B14F-4D97-AF65-F5344CB8AC3E}">
        <p14:creationId xmlns:p14="http://schemas.microsoft.com/office/powerpoint/2010/main" val="3200271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F0B7096F-F887-4694-ACB4-659F305A9B0F}"/>
              </a:ext>
            </a:extLst>
          </p:cNvPr>
          <p:cNvSpPr>
            <a:spLocks noGrp="1"/>
          </p:cNvSpPr>
          <p:nvPr>
            <p:ph type="title"/>
          </p:nvPr>
        </p:nvSpPr>
        <p:spPr bwMode="gray"/>
        <p:txBody>
          <a:bodyPr/>
          <a:lstStyle/>
          <a:p>
            <a:r>
              <a:rPr lang="zh-CN" altLang="en-US" dirty="0"/>
              <a:t>控制器控制网络可靠性设计</a:t>
            </a:r>
            <a:endParaRPr lang="en-US" dirty="0"/>
          </a:p>
        </p:txBody>
      </p:sp>
      <p:sp>
        <p:nvSpPr>
          <p:cNvPr id="4" name="Text Placeholder 3">
            <a:extLst>
              <a:ext uri="{FF2B5EF4-FFF2-40B4-BE49-F238E27FC236}">
                <a16:creationId xmlns="" xmlns:a16="http://schemas.microsoft.com/office/drawing/2014/main" id="{D0A1A328-7FB5-4725-B468-E9D25A8077CA}"/>
              </a:ext>
            </a:extLst>
          </p:cNvPr>
          <p:cNvSpPr>
            <a:spLocks noGrp="1"/>
          </p:cNvSpPr>
          <p:nvPr>
            <p:ph type="body" sz="quarter" idx="10"/>
          </p:nvPr>
        </p:nvSpPr>
        <p:spPr bwMode="gray">
          <a:xfrm>
            <a:off x="455612" y="1047750"/>
            <a:ext cx="11293475" cy="875491"/>
          </a:xfrm>
        </p:spPr>
        <p:txBody>
          <a:bodyPr/>
          <a:lstStyle/>
          <a:p>
            <a:r>
              <a:rPr lang="zh-CN" altLang="en-US" sz="1800" dirty="0"/>
              <a:t>在控制器与设备上都需部署</a:t>
            </a:r>
            <a:r>
              <a:rPr lang="en-US" altLang="zh-CN" sz="1800" dirty="0"/>
              <a:t>GR</a:t>
            </a:r>
            <a:r>
              <a:rPr lang="zh-CN" altLang="en-US" sz="1800" dirty="0"/>
              <a:t>特性，当</a:t>
            </a:r>
            <a:r>
              <a:rPr lang="en-US" altLang="zh-CN" sz="1800" dirty="0" err="1"/>
              <a:t>iMaster</a:t>
            </a:r>
            <a:r>
              <a:rPr lang="en-US" altLang="zh-CN" sz="1800" dirty="0"/>
              <a:t> NCE-IP</a:t>
            </a:r>
            <a:r>
              <a:rPr lang="zh-CN" altLang="en-US" sz="1800" dirty="0"/>
              <a:t>故障、主备倒换、或维护升级时，转发器的</a:t>
            </a:r>
            <a:r>
              <a:rPr lang="en-US" altLang="zh-CN" sz="1800" dirty="0"/>
              <a:t>Policy</a:t>
            </a:r>
            <a:r>
              <a:rPr lang="zh-CN" altLang="en-US" sz="1800" dirty="0"/>
              <a:t>表项可以保留更长时间。</a:t>
            </a:r>
            <a:endParaRPr lang="en-US" altLang="zh-CN" sz="1800" dirty="0"/>
          </a:p>
          <a:p>
            <a:endParaRPr lang="en-US" sz="1800" dirty="0"/>
          </a:p>
        </p:txBody>
      </p:sp>
      <p:sp>
        <p:nvSpPr>
          <p:cNvPr id="5" name="燕尾形 3">
            <a:extLst>
              <a:ext uri="{FF2B5EF4-FFF2-40B4-BE49-F238E27FC236}">
                <a16:creationId xmlns="" xmlns:a16="http://schemas.microsoft.com/office/drawing/2014/main" id="{4401F90A-5138-478F-9990-B6CEFE9F4D59}"/>
              </a:ext>
            </a:extLst>
          </p:cNvPr>
          <p:cNvSpPr/>
          <p:nvPr/>
        </p:nvSpPr>
        <p:spPr bwMode="gray">
          <a:xfrm>
            <a:off x="10452100" y="44020"/>
            <a:ext cx="12992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6718B826-64D1-4045-991F-CE382CE6679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a:extLst>
              <a:ext uri="{FF2B5EF4-FFF2-40B4-BE49-F238E27FC236}">
                <a16:creationId xmlns="" xmlns:a16="http://schemas.microsoft.com/office/drawing/2014/main" id="{B475DF2D-52C0-4876-90B8-881F6D530963}"/>
              </a:ext>
            </a:extLst>
          </p:cNvPr>
          <p:cNvSpPr/>
          <p:nvPr/>
        </p:nvSpPr>
        <p:spPr bwMode="gray">
          <a:xfrm>
            <a:off x="7660593" y="44020"/>
            <a:ext cx="158602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3" name="图片 48">
            <a:extLst>
              <a:ext uri="{FF2B5EF4-FFF2-40B4-BE49-F238E27FC236}">
                <a16:creationId xmlns="" xmlns:a16="http://schemas.microsoft.com/office/drawing/2014/main" id="{4CE0B4BF-DBF0-427B-8BBA-040D10D6B8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71358" y="4090260"/>
            <a:ext cx="378863" cy="310667"/>
          </a:xfrm>
          <a:prstGeom prst="rect">
            <a:avLst/>
          </a:prstGeom>
        </p:spPr>
      </p:pic>
      <p:pic>
        <p:nvPicPr>
          <p:cNvPr id="114" name="图片 48">
            <a:extLst>
              <a:ext uri="{FF2B5EF4-FFF2-40B4-BE49-F238E27FC236}">
                <a16:creationId xmlns="" xmlns:a16="http://schemas.microsoft.com/office/drawing/2014/main" id="{8B8016EC-503B-4114-B996-2C67EFB2F7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71358" y="5102521"/>
            <a:ext cx="378863" cy="310667"/>
          </a:xfrm>
          <a:prstGeom prst="rect">
            <a:avLst/>
          </a:prstGeom>
        </p:spPr>
      </p:pic>
      <p:pic>
        <p:nvPicPr>
          <p:cNvPr id="115" name="图片 48">
            <a:extLst>
              <a:ext uri="{FF2B5EF4-FFF2-40B4-BE49-F238E27FC236}">
                <a16:creationId xmlns="" xmlns:a16="http://schemas.microsoft.com/office/drawing/2014/main" id="{683F822E-1D7A-4C3B-8580-C7A7523748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2170" y="4091940"/>
            <a:ext cx="378863" cy="310667"/>
          </a:xfrm>
          <a:prstGeom prst="rect">
            <a:avLst/>
          </a:prstGeom>
        </p:spPr>
      </p:pic>
      <p:pic>
        <p:nvPicPr>
          <p:cNvPr id="116" name="图片 48">
            <a:extLst>
              <a:ext uri="{FF2B5EF4-FFF2-40B4-BE49-F238E27FC236}">
                <a16:creationId xmlns="" xmlns:a16="http://schemas.microsoft.com/office/drawing/2014/main" id="{AA38CC0F-44EB-4FC8-9988-A4D3856981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12170" y="5104201"/>
            <a:ext cx="378863" cy="310667"/>
          </a:xfrm>
          <a:prstGeom prst="rect">
            <a:avLst/>
          </a:prstGeom>
        </p:spPr>
      </p:pic>
      <p:pic>
        <p:nvPicPr>
          <p:cNvPr id="117" name="图片 48">
            <a:extLst>
              <a:ext uri="{FF2B5EF4-FFF2-40B4-BE49-F238E27FC236}">
                <a16:creationId xmlns="" xmlns:a16="http://schemas.microsoft.com/office/drawing/2014/main" id="{8BF4DB26-A5E6-4933-9F73-6B0F9C59AF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54612" y="4093620"/>
            <a:ext cx="378863" cy="310667"/>
          </a:xfrm>
          <a:prstGeom prst="rect">
            <a:avLst/>
          </a:prstGeom>
        </p:spPr>
      </p:pic>
      <p:pic>
        <p:nvPicPr>
          <p:cNvPr id="118" name="图片 48">
            <a:extLst>
              <a:ext uri="{FF2B5EF4-FFF2-40B4-BE49-F238E27FC236}">
                <a16:creationId xmlns="" xmlns:a16="http://schemas.microsoft.com/office/drawing/2014/main" id="{EFBE3483-E3A8-46ED-A7B9-C89DBD40E5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54612" y="5105881"/>
            <a:ext cx="378863" cy="310667"/>
          </a:xfrm>
          <a:prstGeom prst="rect">
            <a:avLst/>
          </a:prstGeom>
        </p:spPr>
      </p:pic>
      <p:sp>
        <p:nvSpPr>
          <p:cNvPr id="119" name="圆角矩形 75">
            <a:extLst>
              <a:ext uri="{FF2B5EF4-FFF2-40B4-BE49-F238E27FC236}">
                <a16:creationId xmlns="" xmlns:a16="http://schemas.microsoft.com/office/drawing/2014/main" id="{7E0FF3F0-EA0D-48CD-8D96-5FC397D09478}"/>
              </a:ext>
            </a:extLst>
          </p:cNvPr>
          <p:cNvSpPr/>
          <p:nvPr/>
        </p:nvSpPr>
        <p:spPr bwMode="gray">
          <a:xfrm>
            <a:off x="4015726" y="3724347"/>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20" name="Straight Connector 119">
            <a:extLst>
              <a:ext uri="{FF2B5EF4-FFF2-40B4-BE49-F238E27FC236}">
                <a16:creationId xmlns="" xmlns:a16="http://schemas.microsoft.com/office/drawing/2014/main" id="{41257114-1161-42F2-AFAC-1A9F90909D30}"/>
              </a:ext>
            </a:extLst>
          </p:cNvPr>
          <p:cNvCxnSpPr>
            <a:cxnSpLocks/>
            <a:stCxn id="114" idx="0"/>
            <a:endCxn id="113" idx="2"/>
          </p:cNvCxnSpPr>
          <p:nvPr/>
        </p:nvCxnSpPr>
        <p:spPr bwMode="gray">
          <a:xfrm flipV="1">
            <a:off x="4460790" y="440092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 xmlns:a16="http://schemas.microsoft.com/office/drawing/2014/main" id="{3125E3B1-7AF1-4A6F-8C92-A434F79D23B1}"/>
              </a:ext>
            </a:extLst>
          </p:cNvPr>
          <p:cNvCxnSpPr>
            <a:cxnSpLocks/>
            <a:stCxn id="115" idx="1"/>
            <a:endCxn id="113" idx="3"/>
          </p:cNvCxnSpPr>
          <p:nvPr/>
        </p:nvCxnSpPr>
        <p:spPr bwMode="gray">
          <a:xfrm flipH="1" flipV="1">
            <a:off x="4650221" y="4245594"/>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 xmlns:a16="http://schemas.microsoft.com/office/drawing/2014/main" id="{1EC8F7C7-8EA3-4A86-AC7E-0F1780325CA7}"/>
              </a:ext>
            </a:extLst>
          </p:cNvPr>
          <p:cNvCxnSpPr>
            <a:cxnSpLocks/>
            <a:stCxn id="117" idx="1"/>
            <a:endCxn id="115" idx="3"/>
          </p:cNvCxnSpPr>
          <p:nvPr/>
        </p:nvCxnSpPr>
        <p:spPr bwMode="gray">
          <a:xfrm flipH="1" flipV="1">
            <a:off x="6291033" y="4247274"/>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 xmlns:a16="http://schemas.microsoft.com/office/drawing/2014/main" id="{7C9C11F3-31D5-46B1-B784-F79D6EB4A76F}"/>
              </a:ext>
            </a:extLst>
          </p:cNvPr>
          <p:cNvCxnSpPr>
            <a:cxnSpLocks/>
            <a:stCxn id="118" idx="1"/>
            <a:endCxn id="116" idx="3"/>
          </p:cNvCxnSpPr>
          <p:nvPr/>
        </p:nvCxnSpPr>
        <p:spPr bwMode="gray">
          <a:xfrm flipH="1" flipV="1">
            <a:off x="6291033" y="5259535"/>
            <a:ext cx="12635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 xmlns:a16="http://schemas.microsoft.com/office/drawing/2014/main" id="{C52CA012-561C-4865-B6D5-5E5CE4849842}"/>
              </a:ext>
            </a:extLst>
          </p:cNvPr>
          <p:cNvCxnSpPr>
            <a:cxnSpLocks/>
            <a:stCxn id="116" idx="1"/>
            <a:endCxn id="114" idx="3"/>
          </p:cNvCxnSpPr>
          <p:nvPr/>
        </p:nvCxnSpPr>
        <p:spPr bwMode="gray">
          <a:xfrm flipH="1" flipV="1">
            <a:off x="4650221" y="5257855"/>
            <a:ext cx="126194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 xmlns:a16="http://schemas.microsoft.com/office/drawing/2014/main" id="{F6999734-6AD5-4066-9E84-7E7B01D01AAD}"/>
              </a:ext>
            </a:extLst>
          </p:cNvPr>
          <p:cNvCxnSpPr>
            <a:cxnSpLocks/>
            <a:stCxn id="116" idx="0"/>
            <a:endCxn id="115" idx="2"/>
          </p:cNvCxnSpPr>
          <p:nvPr/>
        </p:nvCxnSpPr>
        <p:spPr bwMode="gray">
          <a:xfrm flipV="1">
            <a:off x="6101602" y="440260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 xmlns:a16="http://schemas.microsoft.com/office/drawing/2014/main" id="{3B06A7AF-9F94-4F0D-8979-90677A775007}"/>
              </a:ext>
            </a:extLst>
          </p:cNvPr>
          <p:cNvCxnSpPr>
            <a:cxnSpLocks/>
            <a:stCxn id="118" idx="0"/>
            <a:endCxn id="117" idx="2"/>
          </p:cNvCxnSpPr>
          <p:nvPr/>
        </p:nvCxnSpPr>
        <p:spPr bwMode="gray">
          <a:xfrm flipV="1">
            <a:off x="7744044" y="440428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 xmlns:a16="http://schemas.microsoft.com/office/drawing/2014/main" id="{CCF8CABE-B5C8-424A-A831-271B2579B36C}"/>
              </a:ext>
            </a:extLst>
          </p:cNvPr>
          <p:cNvCxnSpPr>
            <a:cxnSpLocks/>
            <a:stCxn id="128" idx="3"/>
            <a:endCxn id="113" idx="1"/>
          </p:cNvCxnSpPr>
          <p:nvPr/>
        </p:nvCxnSpPr>
        <p:spPr bwMode="gray">
          <a:xfrm>
            <a:off x="3354956" y="4245593"/>
            <a:ext cx="91640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28" name="图片 48">
            <a:extLst>
              <a:ext uri="{FF2B5EF4-FFF2-40B4-BE49-F238E27FC236}">
                <a16:creationId xmlns="" xmlns:a16="http://schemas.microsoft.com/office/drawing/2014/main" id="{51A2A9C4-DD9B-4336-A5BB-09E4B7DDEF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76093" y="4090259"/>
            <a:ext cx="378863" cy="310667"/>
          </a:xfrm>
          <a:prstGeom prst="rect">
            <a:avLst/>
          </a:prstGeom>
        </p:spPr>
      </p:pic>
      <p:pic>
        <p:nvPicPr>
          <p:cNvPr id="129" name="图片 48">
            <a:extLst>
              <a:ext uri="{FF2B5EF4-FFF2-40B4-BE49-F238E27FC236}">
                <a16:creationId xmlns="" xmlns:a16="http://schemas.microsoft.com/office/drawing/2014/main" id="{41541A7B-CE6D-415B-B8B1-896A4468CB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76093" y="5104319"/>
            <a:ext cx="378863" cy="310667"/>
          </a:xfrm>
          <a:prstGeom prst="rect">
            <a:avLst/>
          </a:prstGeom>
        </p:spPr>
      </p:pic>
      <p:cxnSp>
        <p:nvCxnSpPr>
          <p:cNvPr id="130" name="Straight Connector 129">
            <a:extLst>
              <a:ext uri="{FF2B5EF4-FFF2-40B4-BE49-F238E27FC236}">
                <a16:creationId xmlns="" xmlns:a16="http://schemas.microsoft.com/office/drawing/2014/main" id="{E6CC3508-9415-4A6A-AFAF-C03759C6B6CC}"/>
              </a:ext>
            </a:extLst>
          </p:cNvPr>
          <p:cNvCxnSpPr>
            <a:cxnSpLocks/>
            <a:stCxn id="129" idx="3"/>
            <a:endCxn id="114" idx="1"/>
          </p:cNvCxnSpPr>
          <p:nvPr/>
        </p:nvCxnSpPr>
        <p:spPr bwMode="gray">
          <a:xfrm flipV="1">
            <a:off x="3354956" y="5257855"/>
            <a:ext cx="91640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31" name="图片 48">
            <a:extLst>
              <a:ext uri="{FF2B5EF4-FFF2-40B4-BE49-F238E27FC236}">
                <a16:creationId xmlns="" xmlns:a16="http://schemas.microsoft.com/office/drawing/2014/main" id="{5325DF3D-D195-48C0-97B9-C2FD1BF5C3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31873" y="4093620"/>
            <a:ext cx="378863" cy="310667"/>
          </a:xfrm>
          <a:prstGeom prst="rect">
            <a:avLst/>
          </a:prstGeom>
        </p:spPr>
      </p:pic>
      <p:pic>
        <p:nvPicPr>
          <p:cNvPr id="132" name="图片 48">
            <a:extLst>
              <a:ext uri="{FF2B5EF4-FFF2-40B4-BE49-F238E27FC236}">
                <a16:creationId xmlns="" xmlns:a16="http://schemas.microsoft.com/office/drawing/2014/main" id="{11861317-B56E-4DEF-B317-65A59B54A5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31873" y="5107680"/>
            <a:ext cx="378863" cy="310667"/>
          </a:xfrm>
          <a:prstGeom prst="rect">
            <a:avLst/>
          </a:prstGeom>
        </p:spPr>
      </p:pic>
      <p:cxnSp>
        <p:nvCxnSpPr>
          <p:cNvPr id="133" name="Straight Connector 132">
            <a:extLst>
              <a:ext uri="{FF2B5EF4-FFF2-40B4-BE49-F238E27FC236}">
                <a16:creationId xmlns="" xmlns:a16="http://schemas.microsoft.com/office/drawing/2014/main" id="{B305922C-06A4-4BA0-B098-6DE2CB1423D2}"/>
              </a:ext>
            </a:extLst>
          </p:cNvPr>
          <p:cNvCxnSpPr>
            <a:cxnSpLocks/>
            <a:stCxn id="118" idx="3"/>
            <a:endCxn id="132" idx="1"/>
          </p:cNvCxnSpPr>
          <p:nvPr/>
        </p:nvCxnSpPr>
        <p:spPr bwMode="gray">
          <a:xfrm>
            <a:off x="7933475" y="5261215"/>
            <a:ext cx="79839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 xmlns:a16="http://schemas.microsoft.com/office/drawing/2014/main" id="{FD13F921-70DB-44C1-9C50-F268B3EE24D0}"/>
              </a:ext>
            </a:extLst>
          </p:cNvPr>
          <p:cNvCxnSpPr>
            <a:cxnSpLocks/>
            <a:stCxn id="117" idx="3"/>
            <a:endCxn id="131" idx="1"/>
          </p:cNvCxnSpPr>
          <p:nvPr/>
        </p:nvCxnSpPr>
        <p:spPr bwMode="gray">
          <a:xfrm>
            <a:off x="7933475" y="4248954"/>
            <a:ext cx="798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5" name="TextBox 271">
            <a:extLst>
              <a:ext uri="{FF2B5EF4-FFF2-40B4-BE49-F238E27FC236}">
                <a16:creationId xmlns="" xmlns:a16="http://schemas.microsoft.com/office/drawing/2014/main" id="{9669D2DE-0D73-4CBA-AA1D-DE1EA7614441}"/>
              </a:ext>
            </a:extLst>
          </p:cNvPr>
          <p:cNvSpPr txBox="1"/>
          <p:nvPr/>
        </p:nvSpPr>
        <p:spPr bwMode="gray">
          <a:xfrm>
            <a:off x="4282110" y="388073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TextBox 271">
            <a:extLst>
              <a:ext uri="{FF2B5EF4-FFF2-40B4-BE49-F238E27FC236}">
                <a16:creationId xmlns="" xmlns:a16="http://schemas.microsoft.com/office/drawing/2014/main" id="{4F4E3213-1FA0-4108-834E-1884AEF042CE}"/>
              </a:ext>
            </a:extLst>
          </p:cNvPr>
          <p:cNvSpPr txBox="1"/>
          <p:nvPr/>
        </p:nvSpPr>
        <p:spPr bwMode="gray">
          <a:xfrm>
            <a:off x="4282110" y="5373655"/>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TextBox 271">
            <a:extLst>
              <a:ext uri="{FF2B5EF4-FFF2-40B4-BE49-F238E27FC236}">
                <a16:creationId xmlns="" xmlns:a16="http://schemas.microsoft.com/office/drawing/2014/main" id="{A68CF2EF-A80A-42AF-BD50-D24E621B8F33}"/>
              </a:ext>
            </a:extLst>
          </p:cNvPr>
          <p:cNvSpPr txBox="1"/>
          <p:nvPr/>
        </p:nvSpPr>
        <p:spPr bwMode="gray">
          <a:xfrm>
            <a:off x="7572070" y="537365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TextBox 271">
            <a:extLst>
              <a:ext uri="{FF2B5EF4-FFF2-40B4-BE49-F238E27FC236}">
                <a16:creationId xmlns="" xmlns:a16="http://schemas.microsoft.com/office/drawing/2014/main" id="{7940FA0F-1314-4347-8600-2EC82A639746}"/>
              </a:ext>
            </a:extLst>
          </p:cNvPr>
          <p:cNvSpPr txBox="1"/>
          <p:nvPr/>
        </p:nvSpPr>
        <p:spPr bwMode="gray">
          <a:xfrm>
            <a:off x="5814541" y="3873108"/>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TextBox 271">
            <a:extLst>
              <a:ext uri="{FF2B5EF4-FFF2-40B4-BE49-F238E27FC236}">
                <a16:creationId xmlns="" xmlns:a16="http://schemas.microsoft.com/office/drawing/2014/main" id="{4AA85612-8F56-490F-94BA-BD4B3A3F11A5}"/>
              </a:ext>
            </a:extLst>
          </p:cNvPr>
          <p:cNvSpPr txBox="1"/>
          <p:nvPr/>
        </p:nvSpPr>
        <p:spPr bwMode="gray">
          <a:xfrm>
            <a:off x="5825009" y="5371511"/>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TextBox 271">
            <a:extLst>
              <a:ext uri="{FF2B5EF4-FFF2-40B4-BE49-F238E27FC236}">
                <a16:creationId xmlns="" xmlns:a16="http://schemas.microsoft.com/office/drawing/2014/main" id="{88CB82C7-40A1-4B3E-9B17-E650884A9BE5}"/>
              </a:ext>
            </a:extLst>
          </p:cNvPr>
          <p:cNvSpPr txBox="1"/>
          <p:nvPr/>
        </p:nvSpPr>
        <p:spPr bwMode="gray">
          <a:xfrm>
            <a:off x="2976092" y="537953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TextBox 271">
            <a:extLst>
              <a:ext uri="{FF2B5EF4-FFF2-40B4-BE49-F238E27FC236}">
                <a16:creationId xmlns="" xmlns:a16="http://schemas.microsoft.com/office/drawing/2014/main" id="{71D49820-A072-46C2-9806-98AA2E406D97}"/>
              </a:ext>
            </a:extLst>
          </p:cNvPr>
          <p:cNvSpPr txBox="1"/>
          <p:nvPr/>
        </p:nvSpPr>
        <p:spPr bwMode="gray">
          <a:xfrm>
            <a:off x="2976092" y="3871532"/>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TextBox 271">
            <a:extLst>
              <a:ext uri="{FF2B5EF4-FFF2-40B4-BE49-F238E27FC236}">
                <a16:creationId xmlns="" xmlns:a16="http://schemas.microsoft.com/office/drawing/2014/main" id="{E40779FF-D27B-4E8C-B2CB-EDA8F092732B}"/>
              </a:ext>
            </a:extLst>
          </p:cNvPr>
          <p:cNvSpPr txBox="1"/>
          <p:nvPr/>
        </p:nvSpPr>
        <p:spPr bwMode="gray">
          <a:xfrm>
            <a:off x="8727343" y="3886117"/>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TextBox 271">
            <a:extLst>
              <a:ext uri="{FF2B5EF4-FFF2-40B4-BE49-F238E27FC236}">
                <a16:creationId xmlns="" xmlns:a16="http://schemas.microsoft.com/office/drawing/2014/main" id="{2FB4B93F-EDF7-4519-AEFE-F20670C2EB01}"/>
              </a:ext>
            </a:extLst>
          </p:cNvPr>
          <p:cNvSpPr txBox="1"/>
          <p:nvPr/>
        </p:nvSpPr>
        <p:spPr bwMode="gray">
          <a:xfrm>
            <a:off x="8727343" y="537953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TextBox 271">
            <a:extLst>
              <a:ext uri="{FF2B5EF4-FFF2-40B4-BE49-F238E27FC236}">
                <a16:creationId xmlns="" xmlns:a16="http://schemas.microsoft.com/office/drawing/2014/main" id="{7EB14D90-CC46-4642-ACF0-497331650B2C}"/>
              </a:ext>
            </a:extLst>
          </p:cNvPr>
          <p:cNvSpPr txBox="1"/>
          <p:nvPr/>
        </p:nvSpPr>
        <p:spPr bwMode="gray">
          <a:xfrm>
            <a:off x="7561243" y="387024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TextBox 271">
            <a:extLst>
              <a:ext uri="{FF2B5EF4-FFF2-40B4-BE49-F238E27FC236}">
                <a16:creationId xmlns="" xmlns:a16="http://schemas.microsoft.com/office/drawing/2014/main" id="{0F57FC1F-8BAC-4C8F-B227-1568EB23DB39}"/>
              </a:ext>
            </a:extLst>
          </p:cNvPr>
          <p:cNvSpPr txBox="1"/>
          <p:nvPr/>
        </p:nvSpPr>
        <p:spPr bwMode="gray">
          <a:xfrm>
            <a:off x="4099152" y="5734023"/>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pic>
        <p:nvPicPr>
          <p:cNvPr id="149" name="图片 24">
            <a:extLst>
              <a:ext uri="{FF2B5EF4-FFF2-40B4-BE49-F238E27FC236}">
                <a16:creationId xmlns="" xmlns:a16="http://schemas.microsoft.com/office/drawing/2014/main" id="{C1BF3D57-DEC3-4D19-B476-50CF91D948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186555" y="2424360"/>
            <a:ext cx="1502493" cy="277100"/>
          </a:xfrm>
          <a:prstGeom prst="rect">
            <a:avLst/>
          </a:prstGeom>
        </p:spPr>
      </p:pic>
      <p:sp>
        <p:nvSpPr>
          <p:cNvPr id="150" name="圆角矩形 75">
            <a:extLst>
              <a:ext uri="{FF2B5EF4-FFF2-40B4-BE49-F238E27FC236}">
                <a16:creationId xmlns="" xmlns:a16="http://schemas.microsoft.com/office/drawing/2014/main" id="{FE294394-587F-4B03-A00D-62623BA9E66D}"/>
              </a:ext>
            </a:extLst>
          </p:cNvPr>
          <p:cNvSpPr/>
          <p:nvPr/>
        </p:nvSpPr>
        <p:spPr bwMode="gray">
          <a:xfrm>
            <a:off x="4128082" y="2405634"/>
            <a:ext cx="1607884" cy="306452"/>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51" name="图片 24">
            <a:extLst>
              <a:ext uri="{FF2B5EF4-FFF2-40B4-BE49-F238E27FC236}">
                <a16:creationId xmlns="" xmlns:a16="http://schemas.microsoft.com/office/drawing/2014/main" id="{B9635416-A08A-4236-B787-D6FD4B8BCB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529705" y="2424360"/>
            <a:ext cx="1502493" cy="277100"/>
          </a:xfrm>
          <a:prstGeom prst="rect">
            <a:avLst/>
          </a:prstGeom>
        </p:spPr>
      </p:pic>
      <p:sp>
        <p:nvSpPr>
          <p:cNvPr id="152" name="圆角矩形 75">
            <a:extLst>
              <a:ext uri="{FF2B5EF4-FFF2-40B4-BE49-F238E27FC236}">
                <a16:creationId xmlns="" xmlns:a16="http://schemas.microsoft.com/office/drawing/2014/main" id="{40F432D9-9D80-4432-BF2B-2E70CE15005E}"/>
              </a:ext>
            </a:extLst>
          </p:cNvPr>
          <p:cNvSpPr/>
          <p:nvPr/>
        </p:nvSpPr>
        <p:spPr bwMode="gray">
          <a:xfrm>
            <a:off x="6471232" y="2405634"/>
            <a:ext cx="1607884" cy="306452"/>
          </a:xfrm>
          <a:prstGeom prst="roundRect">
            <a:avLst>
              <a:gd name="adj" fmla="val 2420"/>
            </a:avLst>
          </a:prstGeom>
          <a:noFill/>
          <a:ln w="19050" cap="flat" cmpd="sng" algn="ctr">
            <a:solidFill>
              <a:schemeClr val="bg1">
                <a:lumMod val="50000"/>
              </a:schemeClr>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3" name="TextBox 271">
            <a:extLst>
              <a:ext uri="{FF2B5EF4-FFF2-40B4-BE49-F238E27FC236}">
                <a16:creationId xmlns="" xmlns:a16="http://schemas.microsoft.com/office/drawing/2014/main" id="{9E46BBCC-BD85-4DF1-9672-D87AFAE17BA1}"/>
              </a:ext>
            </a:extLst>
          </p:cNvPr>
          <p:cNvSpPr txBox="1"/>
          <p:nvPr/>
        </p:nvSpPr>
        <p:spPr bwMode="gray">
          <a:xfrm>
            <a:off x="4251307" y="2100002"/>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主站点</a:t>
            </a:r>
          </a:p>
        </p:txBody>
      </p:sp>
      <p:sp>
        <p:nvSpPr>
          <p:cNvPr id="154" name="TextBox 271">
            <a:extLst>
              <a:ext uri="{FF2B5EF4-FFF2-40B4-BE49-F238E27FC236}">
                <a16:creationId xmlns="" xmlns:a16="http://schemas.microsoft.com/office/drawing/2014/main" id="{D4815B76-5816-46D0-A3AE-DB1E6A3A8C4D}"/>
              </a:ext>
            </a:extLst>
          </p:cNvPr>
          <p:cNvSpPr txBox="1"/>
          <p:nvPr/>
        </p:nvSpPr>
        <p:spPr bwMode="gray">
          <a:xfrm>
            <a:off x="6562727" y="2099127"/>
            <a:ext cx="723275" cy="307777"/>
          </a:xfrm>
          <a:prstGeom prst="rect">
            <a:avLst/>
          </a:prstGeom>
          <a:solidFill>
            <a:schemeClr val="bg1">
              <a:lumMod val="50000"/>
            </a:schemeClr>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备站点</a:t>
            </a:r>
          </a:p>
        </p:txBody>
      </p:sp>
      <p:cxnSp>
        <p:nvCxnSpPr>
          <p:cNvPr id="155" name="Straight Connector 154">
            <a:extLst>
              <a:ext uri="{FF2B5EF4-FFF2-40B4-BE49-F238E27FC236}">
                <a16:creationId xmlns="" xmlns:a16="http://schemas.microsoft.com/office/drawing/2014/main" id="{84EE9916-2CBE-463A-8D08-61C4348CE081}"/>
              </a:ext>
            </a:extLst>
          </p:cNvPr>
          <p:cNvCxnSpPr>
            <a:cxnSpLocks/>
            <a:stCxn id="150" idx="2"/>
          </p:cNvCxnSpPr>
          <p:nvPr/>
        </p:nvCxnSpPr>
        <p:spPr bwMode="gray">
          <a:xfrm>
            <a:off x="4932024" y="2712086"/>
            <a:ext cx="0" cy="101058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 xmlns:a16="http://schemas.microsoft.com/office/drawing/2014/main" id="{96563F3A-A02D-4E57-A2B9-FA64A2DE47EB}"/>
              </a:ext>
            </a:extLst>
          </p:cNvPr>
          <p:cNvCxnSpPr>
            <a:cxnSpLocks/>
            <a:stCxn id="152" idx="2"/>
          </p:cNvCxnSpPr>
          <p:nvPr/>
        </p:nvCxnSpPr>
        <p:spPr bwMode="gray">
          <a:xfrm>
            <a:off x="7275174" y="2712086"/>
            <a:ext cx="0" cy="98662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 xmlns:a16="http://schemas.microsoft.com/office/drawing/2014/main" id="{AD4D3DA1-BADF-45C3-9E62-5A6C50F466BA}"/>
              </a:ext>
            </a:extLst>
          </p:cNvPr>
          <p:cNvCxnSpPr>
            <a:cxnSpLocks/>
            <a:stCxn id="150" idx="3"/>
            <a:endCxn id="152" idx="1"/>
          </p:cNvCxnSpPr>
          <p:nvPr/>
        </p:nvCxnSpPr>
        <p:spPr bwMode="gray">
          <a:xfrm>
            <a:off x="5735966" y="2558860"/>
            <a:ext cx="73526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8" name="TextBox 271">
            <a:extLst>
              <a:ext uri="{FF2B5EF4-FFF2-40B4-BE49-F238E27FC236}">
                <a16:creationId xmlns="" xmlns:a16="http://schemas.microsoft.com/office/drawing/2014/main" id="{B66DC727-51D3-4530-9AA3-DDC3407A00E0}"/>
              </a:ext>
            </a:extLst>
          </p:cNvPr>
          <p:cNvSpPr txBox="1"/>
          <p:nvPr/>
        </p:nvSpPr>
        <p:spPr bwMode="gray">
          <a:xfrm>
            <a:off x="5851033" y="2289813"/>
            <a:ext cx="492443" cy="276999"/>
          </a:xfrm>
          <a:prstGeom prst="rect">
            <a:avLst/>
          </a:prstGeom>
          <a:noFill/>
        </p:spPr>
        <p:txBody>
          <a:bodyPr wrap="none" rtlCol="0">
            <a:spAutoFit/>
          </a:bodyPr>
          <a:lstStyle/>
          <a:p>
            <a:pPr>
              <a:buFont typeface="Wingdings"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心跳</a:t>
            </a:r>
          </a:p>
        </p:txBody>
      </p:sp>
      <p:sp>
        <p:nvSpPr>
          <p:cNvPr id="159" name="TextBox 271">
            <a:extLst>
              <a:ext uri="{FF2B5EF4-FFF2-40B4-BE49-F238E27FC236}">
                <a16:creationId xmlns="" xmlns:a16="http://schemas.microsoft.com/office/drawing/2014/main" id="{1E662B6C-1659-497D-BC17-3B38BEE4E5B1}"/>
              </a:ext>
            </a:extLst>
          </p:cNvPr>
          <p:cNvSpPr txBox="1"/>
          <p:nvPr/>
        </p:nvSpPr>
        <p:spPr bwMode="gray">
          <a:xfrm>
            <a:off x="4548234" y="3070554"/>
            <a:ext cx="431528" cy="307777"/>
          </a:xfrm>
          <a:prstGeom prst="rect">
            <a:avLst/>
          </a:prstGeom>
          <a:noFill/>
        </p:spPr>
        <p:txBody>
          <a:bodyPr wrap="none" rtlCol="0">
            <a:spAutoFit/>
          </a:bodyPr>
          <a:lstStyle/>
          <a:p>
            <a:pPr>
              <a:buFont typeface="Wingdings" pitchFamily="2" charset="2"/>
              <a:buNone/>
              <a:defRPr/>
            </a:pPr>
            <a:r>
              <a:rPr lang="en-US" altLang="zh-CN" sz="14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zh-CN" altLang="en-US" sz="14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TextBox 271">
            <a:extLst>
              <a:ext uri="{FF2B5EF4-FFF2-40B4-BE49-F238E27FC236}">
                <a16:creationId xmlns="" xmlns:a16="http://schemas.microsoft.com/office/drawing/2014/main" id="{DBA1D917-56F8-47AD-A96E-4E4B82094476}"/>
              </a:ext>
            </a:extLst>
          </p:cNvPr>
          <p:cNvSpPr txBox="1"/>
          <p:nvPr/>
        </p:nvSpPr>
        <p:spPr bwMode="gray">
          <a:xfrm>
            <a:off x="6896779" y="3070554"/>
            <a:ext cx="431528" cy="307777"/>
          </a:xfrm>
          <a:prstGeom prst="rect">
            <a:avLst/>
          </a:prstGeom>
          <a:noFill/>
        </p:spPr>
        <p:txBody>
          <a:bodyPr wrap="none" rtlCol="0">
            <a:spAutoFit/>
          </a:bodyPr>
          <a:lstStyle/>
          <a:p>
            <a:pPr>
              <a:buFont typeface="Wingdings" pitchFamily="2" charset="2"/>
              <a:buNone/>
              <a:defRPr/>
            </a:pPr>
            <a:r>
              <a:rPr lang="en-US" altLang="zh-CN" sz="14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zh-CN" altLang="en-US" sz="14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76634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F0B7096F-F887-4694-ACB4-659F305A9B0F}"/>
              </a:ext>
            </a:extLst>
          </p:cNvPr>
          <p:cNvSpPr>
            <a:spLocks noGrp="1"/>
          </p:cNvSpPr>
          <p:nvPr>
            <p:ph type="title"/>
          </p:nvPr>
        </p:nvSpPr>
        <p:spPr bwMode="gray"/>
        <p:txBody>
          <a:bodyPr/>
          <a:lstStyle/>
          <a:p>
            <a:r>
              <a:rPr lang="zh-CN" altLang="en-US" dirty="0"/>
              <a:t>设备可靠性设计</a:t>
            </a:r>
            <a:endParaRPr lang="en-US" dirty="0"/>
          </a:p>
        </p:txBody>
      </p:sp>
      <p:sp>
        <p:nvSpPr>
          <p:cNvPr id="4" name="Text Placeholder 3">
            <a:extLst>
              <a:ext uri="{FF2B5EF4-FFF2-40B4-BE49-F238E27FC236}">
                <a16:creationId xmlns="" xmlns:a16="http://schemas.microsoft.com/office/drawing/2014/main" id="{D0A1A328-7FB5-4725-B468-E9D25A8077CA}"/>
              </a:ext>
            </a:extLst>
          </p:cNvPr>
          <p:cNvSpPr>
            <a:spLocks noGrp="1"/>
          </p:cNvSpPr>
          <p:nvPr>
            <p:ph type="body" sz="quarter" idx="10"/>
          </p:nvPr>
        </p:nvSpPr>
        <p:spPr bwMode="gray">
          <a:xfrm>
            <a:off x="455612" y="1047750"/>
            <a:ext cx="11293475" cy="2722389"/>
          </a:xfrm>
        </p:spPr>
        <p:txBody>
          <a:bodyPr/>
          <a:lstStyle/>
          <a:p>
            <a:r>
              <a:rPr lang="zh-CN" altLang="en-US" sz="1800" dirty="0"/>
              <a:t>设备的高可靠性能保证网络的有效运转。设备的高可靠性需从硬件、软件、保护机制等几方面体现。</a:t>
            </a:r>
            <a:endParaRPr lang="en-US" altLang="zh-CN" sz="1800" dirty="0"/>
          </a:p>
          <a:p>
            <a:r>
              <a:rPr lang="zh-CN" altLang="en-US" sz="1800" dirty="0"/>
              <a:t>设备可靠性部署：</a:t>
            </a:r>
            <a:endParaRPr lang="en-US" altLang="zh-CN" sz="1800" dirty="0"/>
          </a:p>
          <a:p>
            <a:pPr lvl="1"/>
            <a:r>
              <a:rPr lang="zh-CN" altLang="en-US" sz="1600" dirty="0"/>
              <a:t>设备主控板</a:t>
            </a:r>
            <a:r>
              <a:rPr lang="en-US" altLang="zh-CN" sz="1600" dirty="0"/>
              <a:t>1+1</a:t>
            </a:r>
            <a:r>
              <a:rPr lang="zh-CN" altLang="en-US" sz="1600" dirty="0"/>
              <a:t>主备备份（推荐部署</a:t>
            </a:r>
            <a:r>
              <a:rPr lang="en-US" altLang="zh-CN" sz="1600" dirty="0"/>
              <a:t>NSR</a:t>
            </a:r>
            <a:r>
              <a:rPr lang="zh-CN" altLang="en-US" sz="1600" dirty="0"/>
              <a:t>特性，使主备平滑倒换）。</a:t>
            </a:r>
            <a:endParaRPr lang="en-US" altLang="zh-CN" sz="1600" dirty="0"/>
          </a:p>
          <a:p>
            <a:pPr lvl="1"/>
            <a:r>
              <a:rPr lang="zh-CN" altLang="en-US" sz="1600" dirty="0"/>
              <a:t>接口板采取多微引擎负载分担。</a:t>
            </a:r>
            <a:endParaRPr lang="en-US" altLang="zh-CN" sz="1600" dirty="0"/>
          </a:p>
          <a:p>
            <a:pPr lvl="1"/>
            <a:r>
              <a:rPr lang="zh-CN" altLang="en-US" sz="1600" dirty="0"/>
              <a:t>电源采用最大备份方式。</a:t>
            </a:r>
            <a:endParaRPr lang="en-US" altLang="zh-CN" sz="1600" dirty="0"/>
          </a:p>
          <a:p>
            <a:pPr lvl="1"/>
            <a:r>
              <a:rPr lang="zh-CN" altLang="en-US" sz="1600" dirty="0"/>
              <a:t>其他关键部件使用冗余备份（如风扇模块）。</a:t>
            </a:r>
            <a:endParaRPr lang="en-US" sz="1600" dirty="0"/>
          </a:p>
        </p:txBody>
      </p:sp>
      <p:sp>
        <p:nvSpPr>
          <p:cNvPr id="5" name="燕尾形 3">
            <a:extLst>
              <a:ext uri="{FF2B5EF4-FFF2-40B4-BE49-F238E27FC236}">
                <a16:creationId xmlns="" xmlns:a16="http://schemas.microsoft.com/office/drawing/2014/main" id="{4401F90A-5138-478F-9990-B6CEFE9F4D59}"/>
              </a:ext>
            </a:extLst>
          </p:cNvPr>
          <p:cNvSpPr/>
          <p:nvPr/>
        </p:nvSpPr>
        <p:spPr bwMode="gray">
          <a:xfrm>
            <a:off x="10452100" y="44020"/>
            <a:ext cx="129921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6718B826-64D1-4045-991F-CE382CE66792}"/>
              </a:ext>
            </a:extLst>
          </p:cNvPr>
          <p:cNvSpPr/>
          <p:nvPr/>
        </p:nvSpPr>
        <p:spPr bwMode="gray">
          <a:xfrm>
            <a:off x="9169400" y="44020"/>
            <a:ext cx="13563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a:extLst>
              <a:ext uri="{FF2B5EF4-FFF2-40B4-BE49-F238E27FC236}">
                <a16:creationId xmlns="" xmlns:a16="http://schemas.microsoft.com/office/drawing/2014/main" id="{B475DF2D-52C0-4876-90B8-881F6D530963}"/>
              </a:ext>
            </a:extLst>
          </p:cNvPr>
          <p:cNvSpPr/>
          <p:nvPr/>
        </p:nvSpPr>
        <p:spPr bwMode="gray">
          <a:xfrm>
            <a:off x="7660593"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26" name="Picture 2">
            <a:extLst>
              <a:ext uri="{FF2B5EF4-FFF2-40B4-BE49-F238E27FC236}">
                <a16:creationId xmlns="" xmlns:a16="http://schemas.microsoft.com/office/drawing/2014/main" id="{EE634914-5430-4B71-9A70-E2A97EB5A8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6334125" y="3298655"/>
            <a:ext cx="49911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ular Callout 26">
            <a:extLst>
              <a:ext uri="{FF2B5EF4-FFF2-40B4-BE49-F238E27FC236}">
                <a16:creationId xmlns="" xmlns:a16="http://schemas.microsoft.com/office/drawing/2014/main" id="{E66A5435-3437-489C-87B0-36C1E6646079}"/>
              </a:ext>
            </a:extLst>
          </p:cNvPr>
          <p:cNvSpPr/>
          <p:nvPr/>
        </p:nvSpPr>
        <p:spPr bwMode="gray">
          <a:xfrm>
            <a:off x="5619750" y="4670255"/>
            <a:ext cx="1142404" cy="471484"/>
          </a:xfrm>
          <a:prstGeom prst="wedgeRectCallout">
            <a:avLst>
              <a:gd name="adj1" fmla="val 66741"/>
              <a:gd name="adj2" fmla="val 199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主控板</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1+1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主备备份</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7" name="Rectangular Callout 26">
            <a:extLst>
              <a:ext uri="{FF2B5EF4-FFF2-40B4-BE49-F238E27FC236}">
                <a16:creationId xmlns="" xmlns:a16="http://schemas.microsoft.com/office/drawing/2014/main" id="{08119AB2-D856-432C-9F21-3B1CF7FC6E51}"/>
              </a:ext>
            </a:extLst>
          </p:cNvPr>
          <p:cNvSpPr/>
          <p:nvPr/>
        </p:nvSpPr>
        <p:spPr bwMode="gray">
          <a:xfrm>
            <a:off x="5619750" y="5456071"/>
            <a:ext cx="984944" cy="471484"/>
          </a:xfrm>
          <a:prstGeom prst="wedgeRectCallout">
            <a:avLst>
              <a:gd name="adj1" fmla="val 66741"/>
              <a:gd name="adj2" fmla="val 199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电源最大备份</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410558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F0B7096F-F887-4694-ACB4-659F305A9B0F}"/>
              </a:ext>
            </a:extLst>
          </p:cNvPr>
          <p:cNvSpPr>
            <a:spLocks noGrp="1"/>
          </p:cNvSpPr>
          <p:nvPr>
            <p:ph type="title"/>
          </p:nvPr>
        </p:nvSpPr>
        <p:spPr bwMode="gray"/>
        <p:txBody>
          <a:bodyPr/>
          <a:lstStyle/>
          <a:p>
            <a:r>
              <a:rPr lang="zh-CN" altLang="en-US" dirty="0"/>
              <a:t>网络可靠性方案概览</a:t>
            </a:r>
            <a:endParaRPr lang="en-US" dirty="0"/>
          </a:p>
        </p:txBody>
      </p:sp>
      <p:sp>
        <p:nvSpPr>
          <p:cNvPr id="4" name="Text Placeholder 3">
            <a:extLst>
              <a:ext uri="{FF2B5EF4-FFF2-40B4-BE49-F238E27FC236}">
                <a16:creationId xmlns="" xmlns:a16="http://schemas.microsoft.com/office/drawing/2014/main" id="{D0A1A328-7FB5-4725-B468-E9D25A8077CA}"/>
              </a:ext>
            </a:extLst>
          </p:cNvPr>
          <p:cNvSpPr>
            <a:spLocks noGrp="1"/>
          </p:cNvSpPr>
          <p:nvPr>
            <p:ph type="body" sz="quarter" idx="10"/>
          </p:nvPr>
        </p:nvSpPr>
        <p:spPr bwMode="gray"/>
        <p:txBody>
          <a:bodyPr/>
          <a:lstStyle/>
          <a:p>
            <a:r>
              <a:rPr lang="zh-CN" altLang="en-US" sz="1800" dirty="0"/>
              <a:t>在承载网中可通过部署多种可靠性技术实现网络的端到端可靠性保护。</a:t>
            </a:r>
            <a:endParaRPr lang="en-US" altLang="zh-CN" sz="1800" dirty="0"/>
          </a:p>
          <a:p>
            <a:r>
              <a:rPr lang="zh-CN" altLang="en-US" sz="1800" dirty="0"/>
              <a:t>网络可靠性技术有如下几种：</a:t>
            </a:r>
            <a:endParaRPr lang="en-US" altLang="zh-CN" sz="1800" dirty="0"/>
          </a:p>
          <a:p>
            <a:pPr lvl="1"/>
            <a:r>
              <a:rPr lang="en-US" sz="1600" dirty="0"/>
              <a:t>BFD/SBFD</a:t>
            </a:r>
            <a:r>
              <a:rPr lang="zh-CN" altLang="en-US" sz="1600" dirty="0"/>
              <a:t>：主要用于检查网络连通性。</a:t>
            </a:r>
            <a:endParaRPr lang="en-US" altLang="zh-CN" sz="1600" dirty="0"/>
          </a:p>
          <a:p>
            <a:pPr lvl="1"/>
            <a:r>
              <a:rPr lang="en-US" sz="1600" dirty="0"/>
              <a:t>IP FRR</a:t>
            </a:r>
            <a:r>
              <a:rPr lang="zh-CN" altLang="en-US" sz="1600" dirty="0"/>
              <a:t>：主要为中间网络提供链路与节点保护，可基于</a:t>
            </a:r>
            <a:r>
              <a:rPr lang="en-US" altLang="zh-CN" sz="1600" dirty="0"/>
              <a:t>LFA/RLFA/TI-LFA</a:t>
            </a:r>
            <a:r>
              <a:rPr lang="zh-CN" altLang="en-US" sz="1600" dirty="0"/>
              <a:t>算法。</a:t>
            </a:r>
            <a:endParaRPr lang="en-US" altLang="zh-CN" sz="1600" dirty="0"/>
          </a:p>
          <a:p>
            <a:pPr lvl="1"/>
            <a:r>
              <a:rPr lang="en-US" sz="1600" dirty="0"/>
              <a:t>A</a:t>
            </a:r>
            <a:r>
              <a:rPr lang="en-US" altLang="zh-CN" sz="1600" dirty="0"/>
              <a:t>nycast FRR</a:t>
            </a:r>
            <a:r>
              <a:rPr lang="zh-CN" altLang="en-US" sz="1600" dirty="0"/>
              <a:t>：主要用于为特定节点（包括中间节点与尾节点）提供节点保护。</a:t>
            </a:r>
            <a:endParaRPr lang="en-US" altLang="zh-CN" sz="1600" dirty="0"/>
          </a:p>
          <a:p>
            <a:pPr lvl="1"/>
            <a:r>
              <a:rPr lang="en-US" sz="1600" dirty="0"/>
              <a:t>H</a:t>
            </a:r>
            <a:r>
              <a:rPr lang="en-US" altLang="zh-CN" sz="1600" dirty="0"/>
              <a:t>ot-Standby</a:t>
            </a:r>
            <a:r>
              <a:rPr lang="zh-CN" altLang="en-US" sz="1600" dirty="0"/>
              <a:t>：主要用于提供端到端的隧道保护。</a:t>
            </a:r>
            <a:endParaRPr lang="en-US" altLang="zh-CN" sz="1600" dirty="0"/>
          </a:p>
          <a:p>
            <a:pPr lvl="1"/>
            <a:r>
              <a:rPr lang="en-US" sz="1600" dirty="0"/>
              <a:t>Mirror</a:t>
            </a:r>
            <a:r>
              <a:rPr lang="en-US" altLang="zh-CN" sz="1600" dirty="0"/>
              <a:t> SID</a:t>
            </a:r>
            <a:r>
              <a:rPr lang="zh-CN" altLang="en-US" sz="1600" dirty="0"/>
              <a:t>：主要为尾节点提供节点保护。</a:t>
            </a:r>
            <a:endParaRPr lang="en-US" altLang="zh-CN" sz="1600" dirty="0"/>
          </a:p>
          <a:p>
            <a:pPr lvl="1"/>
            <a:r>
              <a:rPr lang="zh-CN" altLang="en-US" sz="1600" dirty="0"/>
              <a:t>防微环：主要用于防止因全网路由收敛时间不一致导致的短暂环路。</a:t>
            </a:r>
            <a:endParaRPr lang="en-US" altLang="zh-CN" sz="1600" dirty="0"/>
          </a:p>
          <a:p>
            <a:pPr lvl="1"/>
            <a:endParaRPr lang="en-US" sz="1600" dirty="0"/>
          </a:p>
        </p:txBody>
      </p:sp>
      <p:sp>
        <p:nvSpPr>
          <p:cNvPr id="5" name="燕尾形 3">
            <a:extLst>
              <a:ext uri="{FF2B5EF4-FFF2-40B4-BE49-F238E27FC236}">
                <a16:creationId xmlns="" xmlns:a16="http://schemas.microsoft.com/office/drawing/2014/main" id="{4401F90A-5138-478F-9990-B6CEFE9F4D59}"/>
              </a:ext>
            </a:extLst>
          </p:cNvPr>
          <p:cNvSpPr/>
          <p:nvPr/>
        </p:nvSpPr>
        <p:spPr bwMode="gray">
          <a:xfrm>
            <a:off x="10452100" y="44020"/>
            <a:ext cx="12992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6718B826-64D1-4045-991F-CE382CE6679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a:extLst>
              <a:ext uri="{FF2B5EF4-FFF2-40B4-BE49-F238E27FC236}">
                <a16:creationId xmlns="" xmlns:a16="http://schemas.microsoft.com/office/drawing/2014/main" id="{B475DF2D-52C0-4876-90B8-881F6D530963}"/>
              </a:ext>
            </a:extLst>
          </p:cNvPr>
          <p:cNvSpPr/>
          <p:nvPr/>
        </p:nvSpPr>
        <p:spPr bwMode="gray">
          <a:xfrm>
            <a:off x="7660593"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521054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 xmlns:a16="http://schemas.microsoft.com/office/drawing/2014/main" id="{CEA3E1D1-DE15-4704-9B88-D785BB194151}"/>
              </a:ext>
            </a:extLst>
          </p:cNvPr>
          <p:cNvSpPr/>
          <p:nvPr/>
        </p:nvSpPr>
        <p:spPr bwMode="gray">
          <a:xfrm>
            <a:off x="2639669" y="3870242"/>
            <a:ext cx="1712950" cy="1749536"/>
          </a:xfrm>
          <a:prstGeom prst="rect">
            <a:avLst/>
          </a:prstGeom>
          <a:noFill/>
          <a:ln w="19050" cap="flat" cmpd="sng" algn="ctr">
            <a:solidFill>
              <a:srgbClr val="E28189"/>
            </a:solidFill>
            <a:prstDash val="dash"/>
            <a:miter lim="800000"/>
          </a:ln>
          <a:effectLst/>
        </p:spPr>
        <p:txBody>
          <a:bodyPr wrap="square" lIns="108000" tIns="108000" rIns="108000" bIns="108000" rtlCol="0" anchor="ctr" anchorCtr="0">
            <a:noAutofit/>
          </a:bodyPr>
          <a:lstStyle/>
          <a:p>
            <a:pPr algn="just" defTabSz="914400" fontAlgn="ctr">
              <a:lnSpc>
                <a:spcPts val="1800"/>
              </a:lnSpc>
              <a:spcAft>
                <a:spcPts val="300"/>
              </a:spcAft>
            </a:pPr>
            <a:endParaRPr 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2" name="Title 1">
            <a:extLst>
              <a:ext uri="{FF2B5EF4-FFF2-40B4-BE49-F238E27FC236}">
                <a16:creationId xmlns="" xmlns:a16="http://schemas.microsoft.com/office/drawing/2014/main" id="{12A6F8B8-F5CA-49B3-8E5B-CEBBDFF4ABA3}"/>
              </a:ext>
            </a:extLst>
          </p:cNvPr>
          <p:cNvSpPr>
            <a:spLocks noGrp="1"/>
          </p:cNvSpPr>
          <p:nvPr>
            <p:ph type="title"/>
          </p:nvPr>
        </p:nvSpPr>
        <p:spPr bwMode="gray"/>
        <p:txBody>
          <a:bodyPr/>
          <a:lstStyle/>
          <a:p>
            <a:r>
              <a:rPr lang="zh-CN" altLang="en-US" dirty="0"/>
              <a:t>源端网络可靠性设计</a:t>
            </a:r>
            <a:endParaRPr lang="en-US" dirty="0"/>
          </a:p>
        </p:txBody>
      </p:sp>
      <p:sp>
        <p:nvSpPr>
          <p:cNvPr id="3" name="Text Placeholder 2">
            <a:extLst>
              <a:ext uri="{FF2B5EF4-FFF2-40B4-BE49-F238E27FC236}">
                <a16:creationId xmlns="" xmlns:a16="http://schemas.microsoft.com/office/drawing/2014/main" id="{96DB0194-5603-44FF-A31C-6A76DD3D0E8A}"/>
              </a:ext>
            </a:extLst>
          </p:cNvPr>
          <p:cNvSpPr>
            <a:spLocks noGrp="1"/>
          </p:cNvSpPr>
          <p:nvPr>
            <p:ph type="body" sz="quarter" idx="10"/>
          </p:nvPr>
        </p:nvSpPr>
        <p:spPr bwMode="gray">
          <a:xfrm>
            <a:off x="455612" y="1047751"/>
            <a:ext cx="11293475" cy="2617176"/>
          </a:xfrm>
        </p:spPr>
        <p:txBody>
          <a:bodyPr/>
          <a:lstStyle/>
          <a:p>
            <a:r>
              <a:rPr lang="zh-CN" altLang="en-US" sz="1800" dirty="0"/>
              <a:t>源端网络主要包括源端</a:t>
            </a:r>
            <a:r>
              <a:rPr lang="en-US" altLang="zh-CN" sz="1800" dirty="0"/>
              <a:t>CE</a:t>
            </a:r>
            <a:r>
              <a:rPr lang="zh-CN" altLang="en-US" sz="1800" dirty="0"/>
              <a:t>设备以及源端</a:t>
            </a:r>
            <a:r>
              <a:rPr lang="en-US" altLang="zh-CN" sz="1800" dirty="0"/>
              <a:t>CE</a:t>
            </a:r>
            <a:r>
              <a:rPr lang="zh-CN" altLang="en-US" sz="1800" dirty="0"/>
              <a:t>与源端</a:t>
            </a:r>
            <a:r>
              <a:rPr lang="en-US" altLang="zh-CN" sz="1800" dirty="0"/>
              <a:t>PE</a:t>
            </a:r>
            <a:r>
              <a:rPr lang="zh-CN" altLang="en-US" sz="1800" dirty="0"/>
              <a:t>互联的链路。源端网络可能出现的故障点主要有：</a:t>
            </a:r>
            <a:endParaRPr lang="en-US" altLang="zh-CN" sz="1800" dirty="0"/>
          </a:p>
          <a:p>
            <a:pPr marL="745939" lvl="1" indent="-342900">
              <a:buSzPct val="100000"/>
              <a:buFont typeface="+mj-lt"/>
              <a:buAutoNum type="arabicPeriod"/>
            </a:pPr>
            <a:r>
              <a:rPr lang="zh-CN" altLang="en-US" sz="1600" dirty="0"/>
              <a:t>源端</a:t>
            </a:r>
            <a:r>
              <a:rPr lang="en-US" altLang="zh-CN" sz="1600" dirty="0"/>
              <a:t>CE</a:t>
            </a:r>
            <a:r>
              <a:rPr lang="zh-CN" altLang="en-US" sz="1600" dirty="0"/>
              <a:t>设备故障</a:t>
            </a:r>
            <a:endParaRPr lang="en-US" altLang="zh-CN" sz="1600" dirty="0"/>
          </a:p>
          <a:p>
            <a:pPr marL="745939" lvl="1" indent="-342900">
              <a:buSzPct val="100000"/>
              <a:buFont typeface="+mj-lt"/>
              <a:buAutoNum type="arabicPeriod"/>
            </a:pPr>
            <a:r>
              <a:rPr lang="zh-CN" altLang="en-US" sz="1600" dirty="0"/>
              <a:t>源端</a:t>
            </a:r>
            <a:r>
              <a:rPr lang="en-US" altLang="zh-CN" sz="1600" dirty="0"/>
              <a:t>CE</a:t>
            </a:r>
            <a:r>
              <a:rPr lang="zh-CN" altLang="en-US" sz="1600" dirty="0"/>
              <a:t>与源端</a:t>
            </a:r>
            <a:r>
              <a:rPr lang="en-US" altLang="zh-CN" sz="1600" dirty="0"/>
              <a:t>PE</a:t>
            </a:r>
            <a:r>
              <a:rPr lang="zh-CN" altLang="en-US" sz="1600" dirty="0"/>
              <a:t>间链路故障</a:t>
            </a:r>
            <a:endParaRPr lang="en-US" altLang="zh-CN" sz="1600" dirty="0"/>
          </a:p>
          <a:p>
            <a:pPr marL="745939" lvl="1" indent="-342900">
              <a:buSzPct val="100000"/>
              <a:buFont typeface="+mj-lt"/>
              <a:buAutoNum type="arabicPeriod"/>
            </a:pPr>
            <a:r>
              <a:rPr lang="zh-CN" altLang="en-US" sz="1600" dirty="0"/>
              <a:t>源端</a:t>
            </a:r>
            <a:r>
              <a:rPr lang="en-US" altLang="zh-CN" sz="1600" dirty="0"/>
              <a:t>PE</a:t>
            </a:r>
            <a:r>
              <a:rPr lang="zh-CN" altLang="en-US" sz="1600" dirty="0"/>
              <a:t>设备故障</a:t>
            </a:r>
            <a:endParaRPr lang="en-US" altLang="zh-CN" sz="1600" dirty="0"/>
          </a:p>
          <a:p>
            <a:r>
              <a:rPr lang="zh-CN" altLang="en-US" sz="1800" dirty="0"/>
              <a:t>对于这三类故障可以通过部署</a:t>
            </a:r>
            <a:r>
              <a:rPr lang="en-US" altLang="zh-CN" sz="1800" dirty="0"/>
              <a:t>BFD</a:t>
            </a:r>
            <a:r>
              <a:rPr lang="zh-CN" altLang="en-US" sz="1800" dirty="0"/>
              <a:t>快速感知故障，并通过</a:t>
            </a:r>
            <a:r>
              <a:rPr lang="en-US" altLang="zh-CN" sz="1800" dirty="0"/>
              <a:t>IP FRR</a:t>
            </a:r>
            <a:r>
              <a:rPr lang="zh-CN" altLang="en-US" sz="1800" dirty="0"/>
              <a:t>（主要基于</a:t>
            </a:r>
            <a:r>
              <a:rPr lang="en-US" altLang="zh-CN" sz="1800" dirty="0"/>
              <a:t>LFA/RLFA</a:t>
            </a:r>
            <a:r>
              <a:rPr lang="zh-CN" altLang="en-US" sz="1800" dirty="0"/>
              <a:t>算法）计算备用链路，使得业务能快速切换到保护路径。</a:t>
            </a:r>
            <a:endParaRPr lang="en-US" sz="1800" dirty="0"/>
          </a:p>
        </p:txBody>
      </p:sp>
      <p:pic>
        <p:nvPicPr>
          <p:cNvPr id="4" name="图片 48">
            <a:extLst>
              <a:ext uri="{FF2B5EF4-FFF2-40B4-BE49-F238E27FC236}">
                <a16:creationId xmlns="" xmlns:a16="http://schemas.microsoft.com/office/drawing/2014/main" id="{70DD406D-80F0-48A4-AD05-51AC565A77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71358" y="4090260"/>
            <a:ext cx="378863" cy="310667"/>
          </a:xfrm>
          <a:prstGeom prst="rect">
            <a:avLst/>
          </a:prstGeom>
        </p:spPr>
      </p:pic>
      <p:pic>
        <p:nvPicPr>
          <p:cNvPr id="5" name="图片 48">
            <a:extLst>
              <a:ext uri="{FF2B5EF4-FFF2-40B4-BE49-F238E27FC236}">
                <a16:creationId xmlns="" xmlns:a16="http://schemas.microsoft.com/office/drawing/2014/main" id="{8485E833-415A-4C73-8D98-2A018C5D1C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71358" y="5102521"/>
            <a:ext cx="378863" cy="310667"/>
          </a:xfrm>
          <a:prstGeom prst="rect">
            <a:avLst/>
          </a:prstGeom>
        </p:spPr>
      </p:pic>
      <p:pic>
        <p:nvPicPr>
          <p:cNvPr id="6" name="图片 48">
            <a:extLst>
              <a:ext uri="{FF2B5EF4-FFF2-40B4-BE49-F238E27FC236}">
                <a16:creationId xmlns="" xmlns:a16="http://schemas.microsoft.com/office/drawing/2014/main" id="{BF3A5823-659C-416B-9860-AB1807048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07470" y="4091940"/>
            <a:ext cx="378863" cy="310667"/>
          </a:xfrm>
          <a:prstGeom prst="rect">
            <a:avLst/>
          </a:prstGeom>
        </p:spPr>
      </p:pic>
      <p:pic>
        <p:nvPicPr>
          <p:cNvPr id="7" name="图片 48">
            <a:extLst>
              <a:ext uri="{FF2B5EF4-FFF2-40B4-BE49-F238E27FC236}">
                <a16:creationId xmlns="" xmlns:a16="http://schemas.microsoft.com/office/drawing/2014/main" id="{723C1973-2476-43AB-B0FE-4391BC5C15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07470" y="5104201"/>
            <a:ext cx="378863" cy="310667"/>
          </a:xfrm>
          <a:prstGeom prst="rect">
            <a:avLst/>
          </a:prstGeom>
        </p:spPr>
      </p:pic>
      <p:pic>
        <p:nvPicPr>
          <p:cNvPr id="8" name="图片 48">
            <a:extLst>
              <a:ext uri="{FF2B5EF4-FFF2-40B4-BE49-F238E27FC236}">
                <a16:creationId xmlns="" xmlns:a16="http://schemas.microsoft.com/office/drawing/2014/main" id="{D704C025-D261-41D7-8067-9D333EDAB4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54612" y="4093620"/>
            <a:ext cx="378863" cy="310667"/>
          </a:xfrm>
          <a:prstGeom prst="rect">
            <a:avLst/>
          </a:prstGeom>
        </p:spPr>
      </p:pic>
      <p:pic>
        <p:nvPicPr>
          <p:cNvPr id="9" name="图片 48">
            <a:extLst>
              <a:ext uri="{FF2B5EF4-FFF2-40B4-BE49-F238E27FC236}">
                <a16:creationId xmlns="" xmlns:a16="http://schemas.microsoft.com/office/drawing/2014/main" id="{2D87E1F1-0802-4202-A176-298C74A030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554612" y="5105881"/>
            <a:ext cx="378863" cy="310667"/>
          </a:xfrm>
          <a:prstGeom prst="rect">
            <a:avLst/>
          </a:prstGeom>
        </p:spPr>
      </p:pic>
      <p:sp>
        <p:nvSpPr>
          <p:cNvPr id="10" name="圆角矩形 75">
            <a:extLst>
              <a:ext uri="{FF2B5EF4-FFF2-40B4-BE49-F238E27FC236}">
                <a16:creationId xmlns="" xmlns:a16="http://schemas.microsoft.com/office/drawing/2014/main" id="{4E1DEB56-87F6-428A-B815-8D36F89D2323}"/>
              </a:ext>
            </a:extLst>
          </p:cNvPr>
          <p:cNvSpPr/>
          <p:nvPr/>
        </p:nvSpPr>
        <p:spPr bwMode="gray">
          <a:xfrm>
            <a:off x="4015726" y="3724347"/>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1" name="Straight Connector 10">
            <a:extLst>
              <a:ext uri="{FF2B5EF4-FFF2-40B4-BE49-F238E27FC236}">
                <a16:creationId xmlns="" xmlns:a16="http://schemas.microsoft.com/office/drawing/2014/main" id="{1BD3EAEB-4A35-493F-88BF-B317BC3D0436}"/>
              </a:ext>
            </a:extLst>
          </p:cNvPr>
          <p:cNvCxnSpPr>
            <a:cxnSpLocks/>
            <a:stCxn id="5" idx="0"/>
            <a:endCxn id="4" idx="2"/>
          </p:cNvCxnSpPr>
          <p:nvPr/>
        </p:nvCxnSpPr>
        <p:spPr bwMode="gray">
          <a:xfrm flipV="1">
            <a:off x="4460790" y="440092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4937CD6B-F454-455C-A869-25A4BE677345}"/>
              </a:ext>
            </a:extLst>
          </p:cNvPr>
          <p:cNvCxnSpPr>
            <a:cxnSpLocks/>
            <a:stCxn id="60" idx="1"/>
            <a:endCxn id="4" idx="3"/>
          </p:cNvCxnSpPr>
          <p:nvPr/>
        </p:nvCxnSpPr>
        <p:spPr bwMode="gray">
          <a:xfrm flipH="1" flipV="1">
            <a:off x="4650221" y="4245594"/>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8184121E-11FA-41E0-96AE-5015C59A59BE}"/>
              </a:ext>
            </a:extLst>
          </p:cNvPr>
          <p:cNvCxnSpPr>
            <a:cxnSpLocks/>
            <a:stCxn id="8" idx="1"/>
            <a:endCxn id="6" idx="3"/>
          </p:cNvCxnSpPr>
          <p:nvPr/>
        </p:nvCxnSpPr>
        <p:spPr bwMode="gray">
          <a:xfrm flipH="1" flipV="1">
            <a:off x="6786333" y="4247274"/>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2E11083B-3710-4D61-A926-3950DD87B547}"/>
              </a:ext>
            </a:extLst>
          </p:cNvPr>
          <p:cNvCxnSpPr>
            <a:cxnSpLocks/>
            <a:stCxn id="9" idx="1"/>
            <a:endCxn id="7" idx="3"/>
          </p:cNvCxnSpPr>
          <p:nvPr/>
        </p:nvCxnSpPr>
        <p:spPr bwMode="gray">
          <a:xfrm flipH="1" flipV="1">
            <a:off x="6786333" y="5259535"/>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06EF6127-1A44-4E1B-8C80-0EB7C2198F26}"/>
              </a:ext>
            </a:extLst>
          </p:cNvPr>
          <p:cNvCxnSpPr>
            <a:cxnSpLocks/>
            <a:stCxn id="61" idx="1"/>
            <a:endCxn id="5" idx="3"/>
          </p:cNvCxnSpPr>
          <p:nvPr/>
        </p:nvCxnSpPr>
        <p:spPr bwMode="gray">
          <a:xfrm flipH="1" flipV="1">
            <a:off x="4650221" y="5257855"/>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8AB33871-7966-4FB5-9A4C-94278D174CE2}"/>
              </a:ext>
            </a:extLst>
          </p:cNvPr>
          <p:cNvCxnSpPr>
            <a:cxnSpLocks/>
            <a:stCxn id="7" idx="0"/>
            <a:endCxn id="6" idx="2"/>
          </p:cNvCxnSpPr>
          <p:nvPr/>
        </p:nvCxnSpPr>
        <p:spPr bwMode="gray">
          <a:xfrm flipV="1">
            <a:off x="6596902" y="440260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5C9602AA-2C3E-4A41-85D8-B8569D02C5EF}"/>
              </a:ext>
            </a:extLst>
          </p:cNvPr>
          <p:cNvCxnSpPr>
            <a:cxnSpLocks/>
            <a:stCxn id="9" idx="0"/>
            <a:endCxn id="8" idx="2"/>
          </p:cNvCxnSpPr>
          <p:nvPr/>
        </p:nvCxnSpPr>
        <p:spPr bwMode="gray">
          <a:xfrm flipV="1">
            <a:off x="7744044" y="440428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D4708166-25A1-4F1D-B887-6A0B2B582E83}"/>
              </a:ext>
            </a:extLst>
          </p:cNvPr>
          <p:cNvCxnSpPr>
            <a:cxnSpLocks/>
            <a:stCxn id="19" idx="3"/>
            <a:endCxn id="4" idx="1"/>
          </p:cNvCxnSpPr>
          <p:nvPr/>
        </p:nvCxnSpPr>
        <p:spPr bwMode="gray">
          <a:xfrm>
            <a:off x="3354956" y="4245593"/>
            <a:ext cx="91640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9" name="图片 48">
            <a:extLst>
              <a:ext uri="{FF2B5EF4-FFF2-40B4-BE49-F238E27FC236}">
                <a16:creationId xmlns="" xmlns:a16="http://schemas.microsoft.com/office/drawing/2014/main" id="{81028AEB-0763-43D8-BEB5-FA2118698D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76093" y="4090259"/>
            <a:ext cx="378863" cy="310667"/>
          </a:xfrm>
          <a:prstGeom prst="rect">
            <a:avLst/>
          </a:prstGeom>
        </p:spPr>
      </p:pic>
      <p:pic>
        <p:nvPicPr>
          <p:cNvPr id="20" name="图片 48">
            <a:extLst>
              <a:ext uri="{FF2B5EF4-FFF2-40B4-BE49-F238E27FC236}">
                <a16:creationId xmlns="" xmlns:a16="http://schemas.microsoft.com/office/drawing/2014/main" id="{5AE41BDC-DE29-466A-9B80-FD8000B1B5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976093" y="5104319"/>
            <a:ext cx="378863" cy="310667"/>
          </a:xfrm>
          <a:prstGeom prst="rect">
            <a:avLst/>
          </a:prstGeom>
        </p:spPr>
      </p:pic>
      <p:cxnSp>
        <p:nvCxnSpPr>
          <p:cNvPr id="21" name="Straight Connector 20">
            <a:extLst>
              <a:ext uri="{FF2B5EF4-FFF2-40B4-BE49-F238E27FC236}">
                <a16:creationId xmlns="" xmlns:a16="http://schemas.microsoft.com/office/drawing/2014/main" id="{0E3AE467-3976-4CC7-BF4F-C2B5C4A6400B}"/>
              </a:ext>
            </a:extLst>
          </p:cNvPr>
          <p:cNvCxnSpPr>
            <a:cxnSpLocks/>
            <a:stCxn id="20" idx="3"/>
            <a:endCxn id="5" idx="1"/>
          </p:cNvCxnSpPr>
          <p:nvPr/>
        </p:nvCxnSpPr>
        <p:spPr bwMode="gray">
          <a:xfrm flipV="1">
            <a:off x="3354956" y="5257855"/>
            <a:ext cx="91640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2" name="图片 48">
            <a:extLst>
              <a:ext uri="{FF2B5EF4-FFF2-40B4-BE49-F238E27FC236}">
                <a16:creationId xmlns="" xmlns:a16="http://schemas.microsoft.com/office/drawing/2014/main" id="{5E6DE60A-D8D3-41C8-9F09-C63D9A2B8D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31873" y="4093620"/>
            <a:ext cx="378863" cy="310667"/>
          </a:xfrm>
          <a:prstGeom prst="rect">
            <a:avLst/>
          </a:prstGeom>
        </p:spPr>
      </p:pic>
      <p:pic>
        <p:nvPicPr>
          <p:cNvPr id="23" name="图片 48">
            <a:extLst>
              <a:ext uri="{FF2B5EF4-FFF2-40B4-BE49-F238E27FC236}">
                <a16:creationId xmlns="" xmlns:a16="http://schemas.microsoft.com/office/drawing/2014/main" id="{583CCBD2-88B8-4FD2-A3FA-8391991946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731873" y="5107680"/>
            <a:ext cx="378863" cy="310667"/>
          </a:xfrm>
          <a:prstGeom prst="rect">
            <a:avLst/>
          </a:prstGeom>
        </p:spPr>
      </p:pic>
      <p:cxnSp>
        <p:nvCxnSpPr>
          <p:cNvPr id="24" name="Straight Connector 23">
            <a:extLst>
              <a:ext uri="{FF2B5EF4-FFF2-40B4-BE49-F238E27FC236}">
                <a16:creationId xmlns="" xmlns:a16="http://schemas.microsoft.com/office/drawing/2014/main" id="{1180E87F-AE1C-421E-9768-F39CF37FBC18}"/>
              </a:ext>
            </a:extLst>
          </p:cNvPr>
          <p:cNvCxnSpPr>
            <a:cxnSpLocks/>
            <a:stCxn id="9" idx="3"/>
            <a:endCxn id="23" idx="1"/>
          </p:cNvCxnSpPr>
          <p:nvPr/>
        </p:nvCxnSpPr>
        <p:spPr bwMode="gray">
          <a:xfrm>
            <a:off x="7933475" y="5261215"/>
            <a:ext cx="79839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FA3AC573-DBFC-40B8-94B6-573267E4BA1D}"/>
              </a:ext>
            </a:extLst>
          </p:cNvPr>
          <p:cNvCxnSpPr>
            <a:cxnSpLocks/>
            <a:stCxn id="8" idx="3"/>
            <a:endCxn id="22" idx="1"/>
          </p:cNvCxnSpPr>
          <p:nvPr/>
        </p:nvCxnSpPr>
        <p:spPr bwMode="gray">
          <a:xfrm>
            <a:off x="7933475" y="4248954"/>
            <a:ext cx="798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71">
            <a:extLst>
              <a:ext uri="{FF2B5EF4-FFF2-40B4-BE49-F238E27FC236}">
                <a16:creationId xmlns="" xmlns:a16="http://schemas.microsoft.com/office/drawing/2014/main" id="{3070EF66-EA46-49A1-8549-D98DA7F8BAED}"/>
              </a:ext>
            </a:extLst>
          </p:cNvPr>
          <p:cNvSpPr txBox="1"/>
          <p:nvPr/>
        </p:nvSpPr>
        <p:spPr bwMode="gray">
          <a:xfrm>
            <a:off x="4282110" y="388073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71">
            <a:extLst>
              <a:ext uri="{FF2B5EF4-FFF2-40B4-BE49-F238E27FC236}">
                <a16:creationId xmlns="" xmlns:a16="http://schemas.microsoft.com/office/drawing/2014/main" id="{28B17E38-0D62-4D05-85A2-2CBC7AA18BDF}"/>
              </a:ext>
            </a:extLst>
          </p:cNvPr>
          <p:cNvSpPr txBox="1"/>
          <p:nvPr/>
        </p:nvSpPr>
        <p:spPr bwMode="gray">
          <a:xfrm>
            <a:off x="4282110" y="5373655"/>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271">
            <a:extLst>
              <a:ext uri="{FF2B5EF4-FFF2-40B4-BE49-F238E27FC236}">
                <a16:creationId xmlns="" xmlns:a16="http://schemas.microsoft.com/office/drawing/2014/main" id="{4861FA15-4DAB-4EBF-AEB9-B5222CF78EEA}"/>
              </a:ext>
            </a:extLst>
          </p:cNvPr>
          <p:cNvSpPr txBox="1"/>
          <p:nvPr/>
        </p:nvSpPr>
        <p:spPr bwMode="gray">
          <a:xfrm>
            <a:off x="7572070" y="537365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271">
            <a:extLst>
              <a:ext uri="{FF2B5EF4-FFF2-40B4-BE49-F238E27FC236}">
                <a16:creationId xmlns="" xmlns:a16="http://schemas.microsoft.com/office/drawing/2014/main" id="{0F508229-4E09-4425-A164-6C7DDD95C0A3}"/>
              </a:ext>
            </a:extLst>
          </p:cNvPr>
          <p:cNvSpPr txBox="1"/>
          <p:nvPr/>
        </p:nvSpPr>
        <p:spPr bwMode="gray">
          <a:xfrm>
            <a:off x="6309841" y="3873108"/>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271">
            <a:extLst>
              <a:ext uri="{FF2B5EF4-FFF2-40B4-BE49-F238E27FC236}">
                <a16:creationId xmlns="" xmlns:a16="http://schemas.microsoft.com/office/drawing/2014/main" id="{CD2B022D-98BA-4F2E-82CC-5C14B9A27250}"/>
              </a:ext>
            </a:extLst>
          </p:cNvPr>
          <p:cNvSpPr txBox="1"/>
          <p:nvPr/>
        </p:nvSpPr>
        <p:spPr bwMode="gray">
          <a:xfrm>
            <a:off x="6320309" y="5371511"/>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271">
            <a:extLst>
              <a:ext uri="{FF2B5EF4-FFF2-40B4-BE49-F238E27FC236}">
                <a16:creationId xmlns="" xmlns:a16="http://schemas.microsoft.com/office/drawing/2014/main" id="{B5699116-3AAD-47DC-B542-46DBDE138580}"/>
              </a:ext>
            </a:extLst>
          </p:cNvPr>
          <p:cNvSpPr txBox="1"/>
          <p:nvPr/>
        </p:nvSpPr>
        <p:spPr bwMode="gray">
          <a:xfrm>
            <a:off x="2976092" y="537953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271">
            <a:extLst>
              <a:ext uri="{FF2B5EF4-FFF2-40B4-BE49-F238E27FC236}">
                <a16:creationId xmlns="" xmlns:a16="http://schemas.microsoft.com/office/drawing/2014/main" id="{7AA06A00-479F-4CDC-B6DC-6428259F8852}"/>
              </a:ext>
            </a:extLst>
          </p:cNvPr>
          <p:cNvSpPr txBox="1"/>
          <p:nvPr/>
        </p:nvSpPr>
        <p:spPr bwMode="gray">
          <a:xfrm>
            <a:off x="2976092" y="3871532"/>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271">
            <a:extLst>
              <a:ext uri="{FF2B5EF4-FFF2-40B4-BE49-F238E27FC236}">
                <a16:creationId xmlns="" xmlns:a16="http://schemas.microsoft.com/office/drawing/2014/main" id="{668C4DCA-39A9-485C-8481-7913A6898490}"/>
              </a:ext>
            </a:extLst>
          </p:cNvPr>
          <p:cNvSpPr txBox="1"/>
          <p:nvPr/>
        </p:nvSpPr>
        <p:spPr bwMode="gray">
          <a:xfrm>
            <a:off x="8727343" y="3886117"/>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271">
            <a:extLst>
              <a:ext uri="{FF2B5EF4-FFF2-40B4-BE49-F238E27FC236}">
                <a16:creationId xmlns="" xmlns:a16="http://schemas.microsoft.com/office/drawing/2014/main" id="{8BEF6331-CCF3-46E4-8222-F9E4D34D2503}"/>
              </a:ext>
            </a:extLst>
          </p:cNvPr>
          <p:cNvSpPr txBox="1"/>
          <p:nvPr/>
        </p:nvSpPr>
        <p:spPr bwMode="gray">
          <a:xfrm>
            <a:off x="8727343" y="537953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271">
            <a:extLst>
              <a:ext uri="{FF2B5EF4-FFF2-40B4-BE49-F238E27FC236}">
                <a16:creationId xmlns="" xmlns:a16="http://schemas.microsoft.com/office/drawing/2014/main" id="{BF1392DE-F1D3-4998-A2E4-A724D15E355B}"/>
              </a:ext>
            </a:extLst>
          </p:cNvPr>
          <p:cNvSpPr txBox="1"/>
          <p:nvPr/>
        </p:nvSpPr>
        <p:spPr bwMode="gray">
          <a:xfrm>
            <a:off x="7561243" y="387024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271">
            <a:extLst>
              <a:ext uri="{FF2B5EF4-FFF2-40B4-BE49-F238E27FC236}">
                <a16:creationId xmlns="" xmlns:a16="http://schemas.microsoft.com/office/drawing/2014/main" id="{611EE4F6-26DF-4C97-9685-D67EDAD55C79}"/>
              </a:ext>
            </a:extLst>
          </p:cNvPr>
          <p:cNvSpPr txBox="1"/>
          <p:nvPr/>
        </p:nvSpPr>
        <p:spPr bwMode="gray">
          <a:xfrm>
            <a:off x="4099152" y="5734023"/>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37" name="燕尾形 3">
            <a:extLst>
              <a:ext uri="{FF2B5EF4-FFF2-40B4-BE49-F238E27FC236}">
                <a16:creationId xmlns="" xmlns:a16="http://schemas.microsoft.com/office/drawing/2014/main" id="{BDAA1797-2E12-4F6F-BE9F-1B945BBDAA28}"/>
              </a:ext>
            </a:extLst>
          </p:cNvPr>
          <p:cNvSpPr/>
          <p:nvPr/>
        </p:nvSpPr>
        <p:spPr bwMode="gray">
          <a:xfrm>
            <a:off x="10452100" y="44020"/>
            <a:ext cx="12992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
            <a:extLst>
              <a:ext uri="{FF2B5EF4-FFF2-40B4-BE49-F238E27FC236}">
                <a16:creationId xmlns="" xmlns:a16="http://schemas.microsoft.com/office/drawing/2014/main" id="{CC6F5B92-CE3E-4282-87E2-DBD18D04206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 xmlns:a16="http://schemas.microsoft.com/office/drawing/2014/main" id="{FDC498E4-1393-4EC0-AD9D-48615DCE057A}"/>
              </a:ext>
            </a:extLst>
          </p:cNvPr>
          <p:cNvSpPr/>
          <p:nvPr/>
        </p:nvSpPr>
        <p:spPr bwMode="gray">
          <a:xfrm>
            <a:off x="7660593"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Straight Arrow Connector 40">
            <a:extLst>
              <a:ext uri="{FF2B5EF4-FFF2-40B4-BE49-F238E27FC236}">
                <a16:creationId xmlns="" xmlns:a16="http://schemas.microsoft.com/office/drawing/2014/main" id="{CAC3E5D2-FD46-4052-81BE-C046CEC16099}"/>
              </a:ext>
            </a:extLst>
          </p:cNvPr>
          <p:cNvCxnSpPr>
            <a:cxnSpLocks/>
          </p:cNvCxnSpPr>
          <p:nvPr/>
        </p:nvCxnSpPr>
        <p:spPr bwMode="gray">
          <a:xfrm>
            <a:off x="2895600" y="4163116"/>
            <a:ext cx="6448425" cy="0"/>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271">
            <a:extLst>
              <a:ext uri="{FF2B5EF4-FFF2-40B4-BE49-F238E27FC236}">
                <a16:creationId xmlns="" xmlns:a16="http://schemas.microsoft.com/office/drawing/2014/main" id="{CC8D12D1-0AD0-4A06-B389-95F45D174A03}"/>
              </a:ext>
            </a:extLst>
          </p:cNvPr>
          <p:cNvSpPr txBox="1"/>
          <p:nvPr/>
        </p:nvSpPr>
        <p:spPr bwMode="gray">
          <a:xfrm rot="16200000">
            <a:off x="2040584" y="4250398"/>
            <a:ext cx="902811" cy="307777"/>
          </a:xfrm>
          <a:prstGeom prst="rect">
            <a:avLst/>
          </a:prstGeom>
          <a:solidFill>
            <a:srgbClr val="E28189"/>
          </a:solidFill>
          <a:ln>
            <a:noFill/>
          </a:ln>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源端网络</a:t>
            </a:r>
          </a:p>
        </p:txBody>
      </p:sp>
      <p:cxnSp>
        <p:nvCxnSpPr>
          <p:cNvPr id="45" name="Straight Connector 44">
            <a:extLst>
              <a:ext uri="{FF2B5EF4-FFF2-40B4-BE49-F238E27FC236}">
                <a16:creationId xmlns="" xmlns:a16="http://schemas.microsoft.com/office/drawing/2014/main" id="{2B3E0413-DA7A-4238-AA94-69A619A1312F}"/>
              </a:ext>
            </a:extLst>
          </p:cNvPr>
          <p:cNvCxnSpPr>
            <a:cxnSpLocks/>
            <a:stCxn id="19" idx="2"/>
            <a:endCxn id="20" idx="0"/>
          </p:cNvCxnSpPr>
          <p:nvPr/>
        </p:nvCxnSpPr>
        <p:spPr bwMode="gray">
          <a:xfrm>
            <a:off x="3165525" y="4400926"/>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0F959E6B-6847-4344-9E39-EBDCE1C0E003}"/>
              </a:ext>
            </a:extLst>
          </p:cNvPr>
          <p:cNvCxnSpPr>
            <a:cxnSpLocks/>
            <a:stCxn id="22" idx="2"/>
            <a:endCxn id="23" idx="0"/>
          </p:cNvCxnSpPr>
          <p:nvPr/>
        </p:nvCxnSpPr>
        <p:spPr bwMode="gray">
          <a:xfrm>
            <a:off x="8921305" y="4404287"/>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 xmlns:a16="http://schemas.microsoft.com/office/drawing/2014/main" id="{A1C02C6B-3F5C-42B8-BDF0-4CFA784C3E9D}"/>
              </a:ext>
            </a:extLst>
          </p:cNvPr>
          <p:cNvSpPr>
            <a:spLocks noChangeAspect="1"/>
          </p:cNvSpPr>
          <p:nvPr/>
        </p:nvSpPr>
        <p:spPr bwMode="gray">
          <a:xfrm>
            <a:off x="3198695" y="4276800"/>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Oval 51">
            <a:extLst>
              <a:ext uri="{FF2B5EF4-FFF2-40B4-BE49-F238E27FC236}">
                <a16:creationId xmlns="" xmlns:a16="http://schemas.microsoft.com/office/drawing/2014/main" id="{CC317B13-1791-4492-9B97-FE650B59CBC5}"/>
              </a:ext>
            </a:extLst>
          </p:cNvPr>
          <p:cNvSpPr>
            <a:spLocks noChangeAspect="1"/>
          </p:cNvSpPr>
          <p:nvPr/>
        </p:nvSpPr>
        <p:spPr bwMode="gray">
          <a:xfrm>
            <a:off x="3731187" y="4143840"/>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52">
            <a:extLst>
              <a:ext uri="{FF2B5EF4-FFF2-40B4-BE49-F238E27FC236}">
                <a16:creationId xmlns="" xmlns:a16="http://schemas.microsoft.com/office/drawing/2014/main" id="{EFA93849-A2AC-4976-9E92-3694004D0121}"/>
              </a:ext>
            </a:extLst>
          </p:cNvPr>
          <p:cNvSpPr>
            <a:spLocks noChangeAspect="1"/>
          </p:cNvSpPr>
          <p:nvPr/>
        </p:nvSpPr>
        <p:spPr bwMode="gray">
          <a:xfrm>
            <a:off x="4237236" y="4296240"/>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Shape 56">
            <a:extLst>
              <a:ext uri="{FF2B5EF4-FFF2-40B4-BE49-F238E27FC236}">
                <a16:creationId xmlns="" xmlns:a16="http://schemas.microsoft.com/office/drawing/2014/main" id="{23DFAA60-B4E8-4A8C-B06E-93D5EC6BA96B}"/>
              </a:ext>
            </a:extLst>
          </p:cNvPr>
          <p:cNvSpPr/>
          <p:nvPr/>
        </p:nvSpPr>
        <p:spPr bwMode="gray">
          <a:xfrm>
            <a:off x="2895599" y="4252922"/>
            <a:ext cx="6448425" cy="972428"/>
          </a:xfrm>
          <a:custGeom>
            <a:avLst/>
            <a:gdLst>
              <a:gd name="connsiteX0" fmla="*/ 0 w 6419850"/>
              <a:gd name="connsiteY0" fmla="*/ 23803 h 972428"/>
              <a:gd name="connsiteX1" fmla="*/ 257175 w 6419850"/>
              <a:gd name="connsiteY1" fmla="*/ 109528 h 972428"/>
              <a:gd name="connsiteX2" fmla="*/ 523875 w 6419850"/>
              <a:gd name="connsiteY2" fmla="*/ 890578 h 972428"/>
              <a:gd name="connsiteX3" fmla="*/ 3248025 w 6419850"/>
              <a:gd name="connsiteY3" fmla="*/ 957253 h 972428"/>
              <a:gd name="connsiteX4" fmla="*/ 6419850 w 6419850"/>
              <a:gd name="connsiteY4" fmla="*/ 966778 h 972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9850" h="972428">
                <a:moveTo>
                  <a:pt x="0" y="23803"/>
                </a:moveTo>
                <a:cubicBezTo>
                  <a:pt x="88106" y="-4772"/>
                  <a:pt x="169862" y="-34935"/>
                  <a:pt x="257175" y="109528"/>
                </a:cubicBezTo>
                <a:cubicBezTo>
                  <a:pt x="344488" y="253991"/>
                  <a:pt x="25400" y="749291"/>
                  <a:pt x="523875" y="890578"/>
                </a:cubicBezTo>
                <a:cubicBezTo>
                  <a:pt x="1022350" y="1031866"/>
                  <a:pt x="2265363" y="944553"/>
                  <a:pt x="3248025" y="957253"/>
                </a:cubicBezTo>
                <a:lnTo>
                  <a:pt x="6419850" y="966778"/>
                </a:lnTo>
              </a:path>
            </a:pathLst>
          </a:custGeom>
          <a:noFill/>
          <a:ln w="28575">
            <a:solidFill>
              <a:srgbClr val="81C15F"/>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ular Callout 26">
            <a:extLst>
              <a:ext uri="{FF2B5EF4-FFF2-40B4-BE49-F238E27FC236}">
                <a16:creationId xmlns="" xmlns:a16="http://schemas.microsoft.com/office/drawing/2014/main" id="{DF74729C-3E90-41AE-A704-F3F7015EEA8D}"/>
              </a:ext>
            </a:extLst>
          </p:cNvPr>
          <p:cNvSpPr/>
          <p:nvPr/>
        </p:nvSpPr>
        <p:spPr bwMode="gray">
          <a:xfrm>
            <a:off x="4870156" y="5627733"/>
            <a:ext cx="971082" cy="331198"/>
          </a:xfrm>
          <a:prstGeom prst="wedgeRectCallout">
            <a:avLst>
              <a:gd name="adj1" fmla="val -47680"/>
              <a:gd name="adj2" fmla="val -16767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保护路径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0" name="图片 48">
            <a:extLst>
              <a:ext uri="{FF2B5EF4-FFF2-40B4-BE49-F238E27FC236}">
                <a16:creationId xmlns="" xmlns:a16="http://schemas.microsoft.com/office/drawing/2014/main" id="{B900C219-C5E0-4E1C-A574-EE9097D4A7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40130" y="4090774"/>
            <a:ext cx="378863" cy="310667"/>
          </a:xfrm>
          <a:prstGeom prst="rect">
            <a:avLst/>
          </a:prstGeom>
        </p:spPr>
      </p:pic>
      <p:pic>
        <p:nvPicPr>
          <p:cNvPr id="61" name="图片 48">
            <a:extLst>
              <a:ext uri="{FF2B5EF4-FFF2-40B4-BE49-F238E27FC236}">
                <a16:creationId xmlns="" xmlns:a16="http://schemas.microsoft.com/office/drawing/2014/main" id="{171112AE-92C2-4000-8BF6-BC796F5DC9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40130" y="5103035"/>
            <a:ext cx="378863" cy="310667"/>
          </a:xfrm>
          <a:prstGeom prst="rect">
            <a:avLst/>
          </a:prstGeom>
        </p:spPr>
      </p:pic>
      <p:cxnSp>
        <p:nvCxnSpPr>
          <p:cNvPr id="62" name="Straight Connector 61">
            <a:extLst>
              <a:ext uri="{FF2B5EF4-FFF2-40B4-BE49-F238E27FC236}">
                <a16:creationId xmlns="" xmlns:a16="http://schemas.microsoft.com/office/drawing/2014/main" id="{CC0D9718-FBD3-4034-B394-0EFD766CB8B4}"/>
              </a:ext>
            </a:extLst>
          </p:cNvPr>
          <p:cNvCxnSpPr>
            <a:cxnSpLocks/>
            <a:stCxn id="61" idx="0"/>
            <a:endCxn id="60" idx="2"/>
          </p:cNvCxnSpPr>
          <p:nvPr/>
        </p:nvCxnSpPr>
        <p:spPr bwMode="gray">
          <a:xfrm flipV="1">
            <a:off x="5529562" y="4401441"/>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3" name="TextBox 271">
            <a:extLst>
              <a:ext uri="{FF2B5EF4-FFF2-40B4-BE49-F238E27FC236}">
                <a16:creationId xmlns="" xmlns:a16="http://schemas.microsoft.com/office/drawing/2014/main" id="{AF1C7466-8B65-44A6-AE53-8CFBE8DF107F}"/>
              </a:ext>
            </a:extLst>
          </p:cNvPr>
          <p:cNvSpPr txBox="1"/>
          <p:nvPr/>
        </p:nvSpPr>
        <p:spPr bwMode="gray">
          <a:xfrm>
            <a:off x="5242501" y="3871942"/>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271">
            <a:extLst>
              <a:ext uri="{FF2B5EF4-FFF2-40B4-BE49-F238E27FC236}">
                <a16:creationId xmlns="" xmlns:a16="http://schemas.microsoft.com/office/drawing/2014/main" id="{761BC1F8-CCEA-4E99-9B5D-28465A6F25CD}"/>
              </a:ext>
            </a:extLst>
          </p:cNvPr>
          <p:cNvSpPr txBox="1"/>
          <p:nvPr/>
        </p:nvSpPr>
        <p:spPr bwMode="gray">
          <a:xfrm>
            <a:off x="5252969" y="5370345"/>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Straight Connector 65">
            <a:extLst>
              <a:ext uri="{FF2B5EF4-FFF2-40B4-BE49-F238E27FC236}">
                <a16:creationId xmlns="" xmlns:a16="http://schemas.microsoft.com/office/drawing/2014/main" id="{EC10965D-8342-4B12-BB8C-C6DE31978C07}"/>
              </a:ext>
            </a:extLst>
          </p:cNvPr>
          <p:cNvCxnSpPr>
            <a:cxnSpLocks/>
            <a:stCxn id="6" idx="1"/>
            <a:endCxn id="60" idx="3"/>
          </p:cNvCxnSpPr>
          <p:nvPr/>
        </p:nvCxnSpPr>
        <p:spPr bwMode="gray">
          <a:xfrm flipH="1" flipV="1">
            <a:off x="5718993" y="4246108"/>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 xmlns:a16="http://schemas.microsoft.com/office/drawing/2014/main" id="{8B78A827-C510-494B-AF65-FBBB123D1D1E}"/>
              </a:ext>
            </a:extLst>
          </p:cNvPr>
          <p:cNvCxnSpPr>
            <a:cxnSpLocks/>
            <a:stCxn id="7" idx="1"/>
            <a:endCxn id="61" idx="3"/>
          </p:cNvCxnSpPr>
          <p:nvPr/>
        </p:nvCxnSpPr>
        <p:spPr bwMode="gray">
          <a:xfrm flipH="1" flipV="1">
            <a:off x="5718993" y="5258369"/>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8" name="Rectangular Callout 26">
            <a:extLst>
              <a:ext uri="{FF2B5EF4-FFF2-40B4-BE49-F238E27FC236}">
                <a16:creationId xmlns="" xmlns:a16="http://schemas.microsoft.com/office/drawing/2014/main" id="{98DE1EFA-E1DD-4373-8748-59530DFA18D8}"/>
              </a:ext>
            </a:extLst>
          </p:cNvPr>
          <p:cNvSpPr/>
          <p:nvPr/>
        </p:nvSpPr>
        <p:spPr bwMode="gray">
          <a:xfrm>
            <a:off x="4666652" y="4469925"/>
            <a:ext cx="971082" cy="331198"/>
          </a:xfrm>
          <a:prstGeom prst="wedgeRectCallout">
            <a:avLst>
              <a:gd name="adj1" fmla="val -28062"/>
              <a:gd name="adj2" fmla="val -1504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原始路径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914507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75">
            <a:extLst>
              <a:ext uri="{FF2B5EF4-FFF2-40B4-BE49-F238E27FC236}">
                <a16:creationId xmlns="" xmlns:a16="http://schemas.microsoft.com/office/drawing/2014/main" id="{D64A87A0-58C9-45F1-BB83-6018BAA3883C}"/>
              </a:ext>
            </a:extLst>
          </p:cNvPr>
          <p:cNvSpPr/>
          <p:nvPr/>
        </p:nvSpPr>
        <p:spPr bwMode="gray">
          <a:xfrm>
            <a:off x="6676579" y="3526463"/>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 name="Title 1">
            <a:extLst>
              <a:ext uri="{FF2B5EF4-FFF2-40B4-BE49-F238E27FC236}">
                <a16:creationId xmlns="" xmlns:a16="http://schemas.microsoft.com/office/drawing/2014/main" id="{12A6F8B8-F5CA-49B3-8E5B-CEBBDFF4ABA3}"/>
              </a:ext>
            </a:extLst>
          </p:cNvPr>
          <p:cNvSpPr>
            <a:spLocks noGrp="1"/>
          </p:cNvSpPr>
          <p:nvPr>
            <p:ph type="title"/>
          </p:nvPr>
        </p:nvSpPr>
        <p:spPr bwMode="gray"/>
        <p:txBody>
          <a:bodyPr/>
          <a:lstStyle/>
          <a:p>
            <a:r>
              <a:rPr lang="zh-CN" altLang="en-US" dirty="0"/>
              <a:t>中间网络可靠性设计</a:t>
            </a:r>
            <a:endParaRPr lang="en-US" dirty="0"/>
          </a:p>
        </p:txBody>
      </p:sp>
      <p:sp>
        <p:nvSpPr>
          <p:cNvPr id="3" name="Text Placeholder 2">
            <a:extLst>
              <a:ext uri="{FF2B5EF4-FFF2-40B4-BE49-F238E27FC236}">
                <a16:creationId xmlns="" xmlns:a16="http://schemas.microsoft.com/office/drawing/2014/main" id="{96DB0194-5603-44FF-A31C-6A76DD3D0E8A}"/>
              </a:ext>
            </a:extLst>
          </p:cNvPr>
          <p:cNvSpPr>
            <a:spLocks noGrp="1"/>
          </p:cNvSpPr>
          <p:nvPr>
            <p:ph type="body" sz="quarter" idx="10"/>
          </p:nvPr>
        </p:nvSpPr>
        <p:spPr bwMode="gray"/>
        <p:txBody>
          <a:bodyPr/>
          <a:lstStyle/>
          <a:p>
            <a:r>
              <a:rPr lang="zh-CN" altLang="en-US" sz="1800" dirty="0"/>
              <a:t>中间网络主要包括</a:t>
            </a:r>
            <a:r>
              <a:rPr lang="en-US" altLang="zh-CN" sz="1800" dirty="0"/>
              <a:t>P</a:t>
            </a:r>
            <a:r>
              <a:rPr lang="zh-CN" altLang="en-US" sz="1800" dirty="0"/>
              <a:t>设备，</a:t>
            </a:r>
            <a:r>
              <a:rPr lang="en-US" altLang="zh-CN" sz="1800" dirty="0"/>
              <a:t>P</a:t>
            </a:r>
            <a:r>
              <a:rPr lang="zh-CN" altLang="en-US" sz="1800" dirty="0"/>
              <a:t>设备与源端</a:t>
            </a:r>
            <a:r>
              <a:rPr lang="en-US" altLang="zh-CN" sz="1800" dirty="0"/>
              <a:t>PE</a:t>
            </a:r>
            <a:r>
              <a:rPr lang="zh-CN" altLang="en-US" sz="1800" dirty="0"/>
              <a:t>之间的链路，以及</a:t>
            </a:r>
            <a:r>
              <a:rPr lang="en-US" altLang="zh-CN" sz="1800" dirty="0"/>
              <a:t>P</a:t>
            </a:r>
            <a:r>
              <a:rPr lang="zh-CN" altLang="en-US" sz="1800" dirty="0"/>
              <a:t>设备与</a:t>
            </a:r>
            <a:r>
              <a:rPr lang="en-US" altLang="zh-CN" sz="1800" dirty="0"/>
              <a:t>P</a:t>
            </a:r>
            <a:r>
              <a:rPr lang="zh-CN" altLang="en-US" sz="1800" dirty="0"/>
              <a:t>设备之间的链路。</a:t>
            </a:r>
            <a:endParaRPr lang="en-US" altLang="zh-CN" sz="1800" dirty="0"/>
          </a:p>
          <a:p>
            <a:r>
              <a:rPr lang="zh-CN" altLang="en-US" sz="1800" dirty="0"/>
              <a:t>中间网络可能出现的故障点主要有：</a:t>
            </a:r>
            <a:endParaRPr lang="en-US" altLang="zh-CN" sz="1800" dirty="0"/>
          </a:p>
          <a:p>
            <a:pPr marL="745939" lvl="1" indent="-342900">
              <a:buSzPct val="100000"/>
              <a:buFont typeface="+mj-lt"/>
              <a:buAutoNum type="arabicPeriod"/>
            </a:pPr>
            <a:r>
              <a:rPr lang="en-US" altLang="zh-CN" sz="1600" dirty="0"/>
              <a:t>P</a:t>
            </a:r>
            <a:r>
              <a:rPr lang="zh-CN" altLang="en-US" sz="1600" dirty="0"/>
              <a:t>设备故障</a:t>
            </a:r>
            <a:endParaRPr lang="en-US" altLang="zh-CN" sz="1600" dirty="0"/>
          </a:p>
          <a:p>
            <a:pPr marL="745939" lvl="1" indent="-342900">
              <a:buSzPct val="100000"/>
              <a:buFont typeface="+mj-lt"/>
              <a:buAutoNum type="arabicPeriod"/>
            </a:pPr>
            <a:r>
              <a:rPr lang="en-US" altLang="zh-CN" sz="1600" dirty="0"/>
              <a:t>P</a:t>
            </a:r>
            <a:r>
              <a:rPr lang="zh-CN" altLang="en-US" sz="1600" dirty="0"/>
              <a:t>设备与</a:t>
            </a:r>
            <a:r>
              <a:rPr lang="en-US" altLang="zh-CN" sz="1600" dirty="0"/>
              <a:t>PE</a:t>
            </a:r>
            <a:r>
              <a:rPr lang="zh-CN" altLang="en-US" sz="1600" dirty="0"/>
              <a:t>设备间链路以及</a:t>
            </a:r>
            <a:r>
              <a:rPr lang="en-US" altLang="zh-CN" sz="1600" dirty="0"/>
              <a:t>P</a:t>
            </a:r>
            <a:r>
              <a:rPr lang="zh-CN" altLang="en-US" sz="1600" dirty="0"/>
              <a:t>设备与</a:t>
            </a:r>
            <a:r>
              <a:rPr lang="en-US" altLang="zh-CN" sz="1600" dirty="0"/>
              <a:t>P</a:t>
            </a:r>
            <a:r>
              <a:rPr lang="zh-CN" altLang="en-US" sz="1600" dirty="0"/>
              <a:t>设备间链路故障</a:t>
            </a:r>
            <a:endParaRPr lang="en-US" altLang="zh-CN" sz="1600" dirty="0"/>
          </a:p>
          <a:p>
            <a:r>
              <a:rPr lang="zh-CN" altLang="en-US" sz="1800" dirty="0"/>
              <a:t>对于这两类故障可通过如下方式保障可靠性：</a:t>
            </a:r>
            <a:endParaRPr lang="en-US" altLang="zh-CN" sz="1800" dirty="0"/>
          </a:p>
        </p:txBody>
      </p:sp>
      <p:sp>
        <p:nvSpPr>
          <p:cNvPr id="37" name="燕尾形 3">
            <a:extLst>
              <a:ext uri="{FF2B5EF4-FFF2-40B4-BE49-F238E27FC236}">
                <a16:creationId xmlns="" xmlns:a16="http://schemas.microsoft.com/office/drawing/2014/main" id="{BDAA1797-2E12-4F6F-BE9F-1B945BBDAA28}"/>
              </a:ext>
            </a:extLst>
          </p:cNvPr>
          <p:cNvSpPr/>
          <p:nvPr/>
        </p:nvSpPr>
        <p:spPr bwMode="gray">
          <a:xfrm>
            <a:off x="10452100" y="44020"/>
            <a:ext cx="12992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
            <a:extLst>
              <a:ext uri="{FF2B5EF4-FFF2-40B4-BE49-F238E27FC236}">
                <a16:creationId xmlns="" xmlns:a16="http://schemas.microsoft.com/office/drawing/2014/main" id="{CC6F5B92-CE3E-4282-87E2-DBD18D04206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 xmlns:a16="http://schemas.microsoft.com/office/drawing/2014/main" id="{FDC498E4-1393-4EC0-AD9D-48615DCE057A}"/>
              </a:ext>
            </a:extLst>
          </p:cNvPr>
          <p:cNvSpPr/>
          <p:nvPr/>
        </p:nvSpPr>
        <p:spPr bwMode="gray">
          <a:xfrm>
            <a:off x="7660593"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le 54">
            <a:extLst>
              <a:ext uri="{FF2B5EF4-FFF2-40B4-BE49-F238E27FC236}">
                <a16:creationId xmlns="" xmlns:a16="http://schemas.microsoft.com/office/drawing/2014/main" id="{EB067117-D108-4151-A008-6F60D5DDCCBC}"/>
              </a:ext>
            </a:extLst>
          </p:cNvPr>
          <p:cNvSpPr/>
          <p:nvPr/>
        </p:nvSpPr>
        <p:spPr bwMode="gray">
          <a:xfrm>
            <a:off x="7253539" y="3412163"/>
            <a:ext cx="2547156" cy="1963559"/>
          </a:xfrm>
          <a:prstGeom prst="rect">
            <a:avLst/>
          </a:prstGeom>
          <a:noFill/>
          <a:ln w="19050" cap="flat" cmpd="sng" algn="ctr">
            <a:solidFill>
              <a:srgbClr val="E28189"/>
            </a:solidFill>
            <a:prstDash val="dash"/>
            <a:miter lim="800000"/>
          </a:ln>
          <a:effectLst/>
        </p:spPr>
        <p:txBody>
          <a:bodyPr wrap="square" lIns="108000" tIns="108000" rIns="108000" bIns="108000" rtlCol="0" anchor="ctr" anchorCtr="0">
            <a:noAutofit/>
          </a:bodyPr>
          <a:lstStyle/>
          <a:p>
            <a:pPr algn="just" defTabSz="914400" fontAlgn="ctr">
              <a:lnSpc>
                <a:spcPts val="1800"/>
              </a:lnSpc>
              <a:spcAft>
                <a:spcPts val="300"/>
              </a:spcAft>
            </a:pPr>
            <a:endParaRPr 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pic>
        <p:nvPicPr>
          <p:cNvPr id="56" name="图片 48">
            <a:extLst>
              <a:ext uri="{FF2B5EF4-FFF2-40B4-BE49-F238E27FC236}">
                <a16:creationId xmlns="" xmlns:a16="http://schemas.microsoft.com/office/drawing/2014/main" id="{12105ABD-1A4E-48F7-857B-3BE9D7C37C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32211" y="3892376"/>
            <a:ext cx="378863" cy="310667"/>
          </a:xfrm>
          <a:prstGeom prst="rect">
            <a:avLst/>
          </a:prstGeom>
        </p:spPr>
      </p:pic>
      <p:pic>
        <p:nvPicPr>
          <p:cNvPr id="60" name="图片 48">
            <a:extLst>
              <a:ext uri="{FF2B5EF4-FFF2-40B4-BE49-F238E27FC236}">
                <a16:creationId xmlns="" xmlns:a16="http://schemas.microsoft.com/office/drawing/2014/main" id="{22D5EDE9-C50B-45AB-876A-5AC18BDF2D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932211" y="4904637"/>
            <a:ext cx="378863" cy="310667"/>
          </a:xfrm>
          <a:prstGeom prst="rect">
            <a:avLst/>
          </a:prstGeom>
        </p:spPr>
      </p:pic>
      <p:pic>
        <p:nvPicPr>
          <p:cNvPr id="61" name="图片 48">
            <a:extLst>
              <a:ext uri="{FF2B5EF4-FFF2-40B4-BE49-F238E27FC236}">
                <a16:creationId xmlns="" xmlns:a16="http://schemas.microsoft.com/office/drawing/2014/main" id="{3118F557-8B4A-4D54-AC70-EE06E3D64F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068323" y="3894056"/>
            <a:ext cx="378863" cy="310667"/>
          </a:xfrm>
          <a:prstGeom prst="rect">
            <a:avLst/>
          </a:prstGeom>
        </p:spPr>
      </p:pic>
      <p:pic>
        <p:nvPicPr>
          <p:cNvPr id="62" name="图片 48">
            <a:extLst>
              <a:ext uri="{FF2B5EF4-FFF2-40B4-BE49-F238E27FC236}">
                <a16:creationId xmlns="" xmlns:a16="http://schemas.microsoft.com/office/drawing/2014/main" id="{123B6AA7-FE31-49CE-AC3C-ED3B927CB2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068323" y="4906317"/>
            <a:ext cx="378863" cy="310667"/>
          </a:xfrm>
          <a:prstGeom prst="rect">
            <a:avLst/>
          </a:prstGeom>
        </p:spPr>
      </p:pic>
      <p:pic>
        <p:nvPicPr>
          <p:cNvPr id="63" name="图片 48">
            <a:extLst>
              <a:ext uri="{FF2B5EF4-FFF2-40B4-BE49-F238E27FC236}">
                <a16:creationId xmlns="" xmlns:a16="http://schemas.microsoft.com/office/drawing/2014/main" id="{36D81CBE-848B-47E3-A580-A19DE938DF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15465" y="3895736"/>
            <a:ext cx="378863" cy="310667"/>
          </a:xfrm>
          <a:prstGeom prst="rect">
            <a:avLst/>
          </a:prstGeom>
        </p:spPr>
      </p:pic>
      <p:pic>
        <p:nvPicPr>
          <p:cNvPr id="64" name="图片 48">
            <a:extLst>
              <a:ext uri="{FF2B5EF4-FFF2-40B4-BE49-F238E27FC236}">
                <a16:creationId xmlns="" xmlns:a16="http://schemas.microsoft.com/office/drawing/2014/main" id="{9C720535-2694-4C31-9E06-F97CB188DB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15465" y="4907997"/>
            <a:ext cx="378863" cy="310667"/>
          </a:xfrm>
          <a:prstGeom prst="rect">
            <a:avLst/>
          </a:prstGeom>
        </p:spPr>
      </p:pic>
      <p:cxnSp>
        <p:nvCxnSpPr>
          <p:cNvPr id="65" name="Straight Connector 64">
            <a:extLst>
              <a:ext uri="{FF2B5EF4-FFF2-40B4-BE49-F238E27FC236}">
                <a16:creationId xmlns="" xmlns:a16="http://schemas.microsoft.com/office/drawing/2014/main" id="{302490DD-FC4D-4453-8076-65CBCDDA176F}"/>
              </a:ext>
            </a:extLst>
          </p:cNvPr>
          <p:cNvCxnSpPr>
            <a:cxnSpLocks/>
            <a:stCxn id="60" idx="0"/>
            <a:endCxn id="56" idx="2"/>
          </p:cNvCxnSpPr>
          <p:nvPr/>
        </p:nvCxnSpPr>
        <p:spPr bwMode="gray">
          <a:xfrm flipV="1">
            <a:off x="7121643" y="4203043"/>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 xmlns:a16="http://schemas.microsoft.com/office/drawing/2014/main" id="{CC326044-074E-4AEA-83EB-306DB9366B5D}"/>
              </a:ext>
            </a:extLst>
          </p:cNvPr>
          <p:cNvCxnSpPr>
            <a:cxnSpLocks/>
            <a:stCxn id="101" idx="1"/>
            <a:endCxn id="56" idx="3"/>
          </p:cNvCxnSpPr>
          <p:nvPr/>
        </p:nvCxnSpPr>
        <p:spPr bwMode="gray">
          <a:xfrm flipH="1" flipV="1">
            <a:off x="7311074" y="4047710"/>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 xmlns:a16="http://schemas.microsoft.com/office/drawing/2014/main" id="{1256D7B6-0F70-4D2D-8C5F-B397E23AB966}"/>
              </a:ext>
            </a:extLst>
          </p:cNvPr>
          <p:cNvCxnSpPr>
            <a:cxnSpLocks/>
            <a:stCxn id="63" idx="1"/>
            <a:endCxn id="61" idx="3"/>
          </p:cNvCxnSpPr>
          <p:nvPr/>
        </p:nvCxnSpPr>
        <p:spPr bwMode="gray">
          <a:xfrm flipH="1" flipV="1">
            <a:off x="9447186" y="4049390"/>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 xmlns:a16="http://schemas.microsoft.com/office/drawing/2014/main" id="{EECC0481-5C63-4FAC-A3B2-3A067D7B2011}"/>
              </a:ext>
            </a:extLst>
          </p:cNvPr>
          <p:cNvCxnSpPr>
            <a:cxnSpLocks/>
            <a:stCxn id="64" idx="1"/>
            <a:endCxn id="62" idx="3"/>
          </p:cNvCxnSpPr>
          <p:nvPr/>
        </p:nvCxnSpPr>
        <p:spPr bwMode="gray">
          <a:xfrm flipH="1" flipV="1">
            <a:off x="9447186" y="5061651"/>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 xmlns:a16="http://schemas.microsoft.com/office/drawing/2014/main" id="{1F023DED-88A7-4ABE-9F76-3EDFF4C90671}"/>
              </a:ext>
            </a:extLst>
          </p:cNvPr>
          <p:cNvCxnSpPr>
            <a:cxnSpLocks/>
            <a:stCxn id="102" idx="1"/>
            <a:endCxn id="60" idx="3"/>
          </p:cNvCxnSpPr>
          <p:nvPr/>
        </p:nvCxnSpPr>
        <p:spPr bwMode="gray">
          <a:xfrm flipH="1" flipV="1">
            <a:off x="7311074" y="5059971"/>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 xmlns:a16="http://schemas.microsoft.com/office/drawing/2014/main" id="{E6D48ADD-EB8F-4548-9490-EA4FABEE4719}"/>
              </a:ext>
            </a:extLst>
          </p:cNvPr>
          <p:cNvCxnSpPr>
            <a:cxnSpLocks/>
            <a:stCxn id="62" idx="0"/>
            <a:endCxn id="61" idx="2"/>
          </p:cNvCxnSpPr>
          <p:nvPr/>
        </p:nvCxnSpPr>
        <p:spPr bwMode="gray">
          <a:xfrm flipV="1">
            <a:off x="9257755" y="4204723"/>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 xmlns:a16="http://schemas.microsoft.com/office/drawing/2014/main" id="{A5A5DF20-CF58-4F72-80CE-8CD1905E4E9E}"/>
              </a:ext>
            </a:extLst>
          </p:cNvPr>
          <p:cNvCxnSpPr>
            <a:cxnSpLocks/>
            <a:stCxn id="64" idx="0"/>
            <a:endCxn id="63" idx="2"/>
          </p:cNvCxnSpPr>
          <p:nvPr/>
        </p:nvCxnSpPr>
        <p:spPr bwMode="gray">
          <a:xfrm flipV="1">
            <a:off x="10404897" y="4206403"/>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 xmlns:a16="http://schemas.microsoft.com/office/drawing/2014/main" id="{6BC61A2A-1FBA-4334-AA5D-37A0BEDE55AB}"/>
              </a:ext>
            </a:extLst>
          </p:cNvPr>
          <p:cNvCxnSpPr>
            <a:cxnSpLocks/>
            <a:stCxn id="73" idx="3"/>
            <a:endCxn id="56" idx="1"/>
          </p:cNvCxnSpPr>
          <p:nvPr/>
        </p:nvCxnSpPr>
        <p:spPr bwMode="gray">
          <a:xfrm>
            <a:off x="6330134" y="4047709"/>
            <a:ext cx="602077"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3" name="图片 48">
            <a:extLst>
              <a:ext uri="{FF2B5EF4-FFF2-40B4-BE49-F238E27FC236}">
                <a16:creationId xmlns="" xmlns:a16="http://schemas.microsoft.com/office/drawing/2014/main" id="{339C6F61-9B2C-4FEE-95F3-4764634965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51271" y="3892375"/>
            <a:ext cx="378863" cy="310667"/>
          </a:xfrm>
          <a:prstGeom prst="rect">
            <a:avLst/>
          </a:prstGeom>
        </p:spPr>
      </p:pic>
      <p:pic>
        <p:nvPicPr>
          <p:cNvPr id="74" name="图片 48">
            <a:extLst>
              <a:ext uri="{FF2B5EF4-FFF2-40B4-BE49-F238E27FC236}">
                <a16:creationId xmlns="" xmlns:a16="http://schemas.microsoft.com/office/drawing/2014/main" id="{607FDE63-3C55-4D79-9D6C-A79FC340CB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51271" y="4906435"/>
            <a:ext cx="378863" cy="310667"/>
          </a:xfrm>
          <a:prstGeom prst="rect">
            <a:avLst/>
          </a:prstGeom>
        </p:spPr>
      </p:pic>
      <p:cxnSp>
        <p:nvCxnSpPr>
          <p:cNvPr id="75" name="Straight Connector 74">
            <a:extLst>
              <a:ext uri="{FF2B5EF4-FFF2-40B4-BE49-F238E27FC236}">
                <a16:creationId xmlns="" xmlns:a16="http://schemas.microsoft.com/office/drawing/2014/main" id="{5635832D-056C-40AC-8C72-069545B84A5F}"/>
              </a:ext>
            </a:extLst>
          </p:cNvPr>
          <p:cNvCxnSpPr>
            <a:cxnSpLocks/>
            <a:stCxn id="74" idx="3"/>
            <a:endCxn id="60" idx="1"/>
          </p:cNvCxnSpPr>
          <p:nvPr/>
        </p:nvCxnSpPr>
        <p:spPr bwMode="gray">
          <a:xfrm flipV="1">
            <a:off x="6330134" y="5059971"/>
            <a:ext cx="602077"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6" name="图片 48">
            <a:extLst>
              <a:ext uri="{FF2B5EF4-FFF2-40B4-BE49-F238E27FC236}">
                <a16:creationId xmlns="" xmlns:a16="http://schemas.microsoft.com/office/drawing/2014/main" id="{B3CE1D43-8B04-456F-A0D8-294AFB5532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192701" y="3895736"/>
            <a:ext cx="378863" cy="310667"/>
          </a:xfrm>
          <a:prstGeom prst="rect">
            <a:avLst/>
          </a:prstGeom>
        </p:spPr>
      </p:pic>
      <p:pic>
        <p:nvPicPr>
          <p:cNvPr id="77" name="图片 48">
            <a:extLst>
              <a:ext uri="{FF2B5EF4-FFF2-40B4-BE49-F238E27FC236}">
                <a16:creationId xmlns="" xmlns:a16="http://schemas.microsoft.com/office/drawing/2014/main" id="{DB2A9FD4-28AC-4773-BD53-5222265710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192701" y="4909796"/>
            <a:ext cx="378863" cy="310667"/>
          </a:xfrm>
          <a:prstGeom prst="rect">
            <a:avLst/>
          </a:prstGeom>
        </p:spPr>
      </p:pic>
      <p:cxnSp>
        <p:nvCxnSpPr>
          <p:cNvPr id="78" name="Straight Connector 77">
            <a:extLst>
              <a:ext uri="{FF2B5EF4-FFF2-40B4-BE49-F238E27FC236}">
                <a16:creationId xmlns="" xmlns:a16="http://schemas.microsoft.com/office/drawing/2014/main" id="{8CB35667-B3E1-41FD-A385-45A72B4C0480}"/>
              </a:ext>
            </a:extLst>
          </p:cNvPr>
          <p:cNvCxnSpPr>
            <a:cxnSpLocks/>
            <a:stCxn id="64" idx="3"/>
            <a:endCxn id="77" idx="1"/>
          </p:cNvCxnSpPr>
          <p:nvPr/>
        </p:nvCxnSpPr>
        <p:spPr bwMode="gray">
          <a:xfrm>
            <a:off x="10594328" y="5063331"/>
            <a:ext cx="598373"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 xmlns:a16="http://schemas.microsoft.com/office/drawing/2014/main" id="{1FE3D5BE-C97F-4604-A212-D1A0E0BB19D2}"/>
              </a:ext>
            </a:extLst>
          </p:cNvPr>
          <p:cNvCxnSpPr>
            <a:cxnSpLocks/>
            <a:stCxn id="63" idx="3"/>
            <a:endCxn id="76" idx="1"/>
          </p:cNvCxnSpPr>
          <p:nvPr/>
        </p:nvCxnSpPr>
        <p:spPr bwMode="gray">
          <a:xfrm>
            <a:off x="10594328" y="4051070"/>
            <a:ext cx="59837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TextBox 271">
            <a:extLst>
              <a:ext uri="{FF2B5EF4-FFF2-40B4-BE49-F238E27FC236}">
                <a16:creationId xmlns="" xmlns:a16="http://schemas.microsoft.com/office/drawing/2014/main" id="{D6BD2C1B-1573-4005-8267-03E66B82C08D}"/>
              </a:ext>
            </a:extLst>
          </p:cNvPr>
          <p:cNvSpPr txBox="1"/>
          <p:nvPr/>
        </p:nvSpPr>
        <p:spPr bwMode="gray">
          <a:xfrm>
            <a:off x="6942963" y="368285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271">
            <a:extLst>
              <a:ext uri="{FF2B5EF4-FFF2-40B4-BE49-F238E27FC236}">
                <a16:creationId xmlns="" xmlns:a16="http://schemas.microsoft.com/office/drawing/2014/main" id="{B718C567-C977-4241-A4C1-11EAC7396147}"/>
              </a:ext>
            </a:extLst>
          </p:cNvPr>
          <p:cNvSpPr txBox="1"/>
          <p:nvPr/>
        </p:nvSpPr>
        <p:spPr bwMode="gray">
          <a:xfrm>
            <a:off x="6942963" y="5175771"/>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271">
            <a:extLst>
              <a:ext uri="{FF2B5EF4-FFF2-40B4-BE49-F238E27FC236}">
                <a16:creationId xmlns="" xmlns:a16="http://schemas.microsoft.com/office/drawing/2014/main" id="{C70149F7-C906-4BAC-95E5-0E8C88190786}"/>
              </a:ext>
            </a:extLst>
          </p:cNvPr>
          <p:cNvSpPr txBox="1"/>
          <p:nvPr/>
        </p:nvSpPr>
        <p:spPr bwMode="gray">
          <a:xfrm>
            <a:off x="10232923" y="5175771"/>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271">
            <a:extLst>
              <a:ext uri="{FF2B5EF4-FFF2-40B4-BE49-F238E27FC236}">
                <a16:creationId xmlns="" xmlns:a16="http://schemas.microsoft.com/office/drawing/2014/main" id="{59E49863-2830-44D8-BAF4-AADAF3E457B6}"/>
              </a:ext>
            </a:extLst>
          </p:cNvPr>
          <p:cNvSpPr txBox="1"/>
          <p:nvPr/>
        </p:nvSpPr>
        <p:spPr bwMode="gray">
          <a:xfrm>
            <a:off x="8970694" y="3675224"/>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271">
            <a:extLst>
              <a:ext uri="{FF2B5EF4-FFF2-40B4-BE49-F238E27FC236}">
                <a16:creationId xmlns="" xmlns:a16="http://schemas.microsoft.com/office/drawing/2014/main" id="{CB7F0498-83EF-4E02-AE17-C91575769F8D}"/>
              </a:ext>
            </a:extLst>
          </p:cNvPr>
          <p:cNvSpPr txBox="1"/>
          <p:nvPr/>
        </p:nvSpPr>
        <p:spPr bwMode="gray">
          <a:xfrm>
            <a:off x="8981162" y="5173627"/>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271">
            <a:extLst>
              <a:ext uri="{FF2B5EF4-FFF2-40B4-BE49-F238E27FC236}">
                <a16:creationId xmlns="" xmlns:a16="http://schemas.microsoft.com/office/drawing/2014/main" id="{A615628A-0F62-409D-90C5-92B82F71CB82}"/>
              </a:ext>
            </a:extLst>
          </p:cNvPr>
          <p:cNvSpPr txBox="1"/>
          <p:nvPr/>
        </p:nvSpPr>
        <p:spPr bwMode="gray">
          <a:xfrm>
            <a:off x="5951270" y="518164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271">
            <a:extLst>
              <a:ext uri="{FF2B5EF4-FFF2-40B4-BE49-F238E27FC236}">
                <a16:creationId xmlns="" xmlns:a16="http://schemas.microsoft.com/office/drawing/2014/main" id="{928F97B7-F610-4341-8A47-E3C9366430AB}"/>
              </a:ext>
            </a:extLst>
          </p:cNvPr>
          <p:cNvSpPr txBox="1"/>
          <p:nvPr/>
        </p:nvSpPr>
        <p:spPr bwMode="gray">
          <a:xfrm>
            <a:off x="5951270" y="3673648"/>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271">
            <a:extLst>
              <a:ext uri="{FF2B5EF4-FFF2-40B4-BE49-F238E27FC236}">
                <a16:creationId xmlns="" xmlns:a16="http://schemas.microsoft.com/office/drawing/2014/main" id="{9D984688-C91C-48AB-90FC-6C4A8A0ABF93}"/>
              </a:ext>
            </a:extLst>
          </p:cNvPr>
          <p:cNvSpPr txBox="1"/>
          <p:nvPr/>
        </p:nvSpPr>
        <p:spPr bwMode="gray">
          <a:xfrm>
            <a:off x="11188171" y="368823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271">
            <a:extLst>
              <a:ext uri="{FF2B5EF4-FFF2-40B4-BE49-F238E27FC236}">
                <a16:creationId xmlns="" xmlns:a16="http://schemas.microsoft.com/office/drawing/2014/main" id="{7555D1A9-A0BD-4925-85F7-9FBDA72E55D6}"/>
              </a:ext>
            </a:extLst>
          </p:cNvPr>
          <p:cNvSpPr txBox="1"/>
          <p:nvPr/>
        </p:nvSpPr>
        <p:spPr bwMode="gray">
          <a:xfrm>
            <a:off x="11188171" y="5181649"/>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271">
            <a:extLst>
              <a:ext uri="{FF2B5EF4-FFF2-40B4-BE49-F238E27FC236}">
                <a16:creationId xmlns="" xmlns:a16="http://schemas.microsoft.com/office/drawing/2014/main" id="{FD767824-E652-4B53-94C0-316364F5A6B8}"/>
              </a:ext>
            </a:extLst>
          </p:cNvPr>
          <p:cNvSpPr txBox="1"/>
          <p:nvPr/>
        </p:nvSpPr>
        <p:spPr bwMode="gray">
          <a:xfrm>
            <a:off x="10222096" y="367235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271">
            <a:extLst>
              <a:ext uri="{FF2B5EF4-FFF2-40B4-BE49-F238E27FC236}">
                <a16:creationId xmlns="" xmlns:a16="http://schemas.microsoft.com/office/drawing/2014/main" id="{F5C64826-207B-4380-BEE5-E8B13FE227DF}"/>
              </a:ext>
            </a:extLst>
          </p:cNvPr>
          <p:cNvSpPr txBox="1"/>
          <p:nvPr/>
        </p:nvSpPr>
        <p:spPr bwMode="gray">
          <a:xfrm>
            <a:off x="6891901" y="5536941"/>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92" name="TextBox 271">
            <a:extLst>
              <a:ext uri="{FF2B5EF4-FFF2-40B4-BE49-F238E27FC236}">
                <a16:creationId xmlns="" xmlns:a16="http://schemas.microsoft.com/office/drawing/2014/main" id="{1514CA4C-0E8D-4849-AE07-E0548861649E}"/>
              </a:ext>
            </a:extLst>
          </p:cNvPr>
          <p:cNvSpPr txBox="1"/>
          <p:nvPr/>
        </p:nvSpPr>
        <p:spPr bwMode="gray">
          <a:xfrm>
            <a:off x="7311074" y="3115034"/>
            <a:ext cx="902811" cy="307777"/>
          </a:xfrm>
          <a:prstGeom prst="rect">
            <a:avLst/>
          </a:prstGeom>
          <a:solidFill>
            <a:srgbClr val="E28189"/>
          </a:solidFill>
          <a:ln>
            <a:noFill/>
          </a:ln>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中间网络</a:t>
            </a:r>
          </a:p>
        </p:txBody>
      </p:sp>
      <p:cxnSp>
        <p:nvCxnSpPr>
          <p:cNvPr id="93" name="Straight Connector 92">
            <a:extLst>
              <a:ext uri="{FF2B5EF4-FFF2-40B4-BE49-F238E27FC236}">
                <a16:creationId xmlns="" xmlns:a16="http://schemas.microsoft.com/office/drawing/2014/main" id="{51C09DE3-5DF5-4619-936B-44244E40DACE}"/>
              </a:ext>
            </a:extLst>
          </p:cNvPr>
          <p:cNvCxnSpPr>
            <a:cxnSpLocks/>
            <a:stCxn id="73" idx="2"/>
            <a:endCxn id="74" idx="0"/>
          </p:cNvCxnSpPr>
          <p:nvPr/>
        </p:nvCxnSpPr>
        <p:spPr bwMode="gray">
          <a:xfrm>
            <a:off x="6140703" y="4203042"/>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 xmlns:a16="http://schemas.microsoft.com/office/drawing/2014/main" id="{92363B11-06FC-411A-AFF3-76A0FD51DA6D}"/>
              </a:ext>
            </a:extLst>
          </p:cNvPr>
          <p:cNvCxnSpPr>
            <a:cxnSpLocks/>
            <a:stCxn id="76" idx="2"/>
            <a:endCxn id="77" idx="0"/>
          </p:cNvCxnSpPr>
          <p:nvPr/>
        </p:nvCxnSpPr>
        <p:spPr bwMode="gray">
          <a:xfrm>
            <a:off x="11382133" y="4206403"/>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1" name="图片 48">
            <a:extLst>
              <a:ext uri="{FF2B5EF4-FFF2-40B4-BE49-F238E27FC236}">
                <a16:creationId xmlns="" xmlns:a16="http://schemas.microsoft.com/office/drawing/2014/main" id="{6EC36B00-840B-4C07-8F94-DA7D291241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00983" y="3892890"/>
            <a:ext cx="378863" cy="310667"/>
          </a:xfrm>
          <a:prstGeom prst="rect">
            <a:avLst/>
          </a:prstGeom>
        </p:spPr>
      </p:pic>
      <p:pic>
        <p:nvPicPr>
          <p:cNvPr id="102" name="图片 48">
            <a:extLst>
              <a:ext uri="{FF2B5EF4-FFF2-40B4-BE49-F238E27FC236}">
                <a16:creationId xmlns="" xmlns:a16="http://schemas.microsoft.com/office/drawing/2014/main" id="{667BC809-9C96-45CA-8C2D-6C48A93DE8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00983" y="4905151"/>
            <a:ext cx="378863" cy="310667"/>
          </a:xfrm>
          <a:prstGeom prst="rect">
            <a:avLst/>
          </a:prstGeom>
        </p:spPr>
      </p:pic>
      <p:cxnSp>
        <p:nvCxnSpPr>
          <p:cNvPr id="103" name="Straight Connector 102">
            <a:extLst>
              <a:ext uri="{FF2B5EF4-FFF2-40B4-BE49-F238E27FC236}">
                <a16:creationId xmlns="" xmlns:a16="http://schemas.microsoft.com/office/drawing/2014/main" id="{2C7F36FE-5A2A-4D37-B5F6-259C3833362F}"/>
              </a:ext>
            </a:extLst>
          </p:cNvPr>
          <p:cNvCxnSpPr>
            <a:cxnSpLocks/>
            <a:stCxn id="102" idx="0"/>
            <a:endCxn id="101" idx="2"/>
          </p:cNvCxnSpPr>
          <p:nvPr/>
        </p:nvCxnSpPr>
        <p:spPr bwMode="gray">
          <a:xfrm flipV="1">
            <a:off x="8190415" y="4203557"/>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4" name="TextBox 271">
            <a:extLst>
              <a:ext uri="{FF2B5EF4-FFF2-40B4-BE49-F238E27FC236}">
                <a16:creationId xmlns="" xmlns:a16="http://schemas.microsoft.com/office/drawing/2014/main" id="{43631CF6-A75D-4A71-B884-C3D34CC87AE7}"/>
              </a:ext>
            </a:extLst>
          </p:cNvPr>
          <p:cNvSpPr txBox="1"/>
          <p:nvPr/>
        </p:nvSpPr>
        <p:spPr bwMode="gray">
          <a:xfrm>
            <a:off x="7903354" y="3674058"/>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271">
            <a:extLst>
              <a:ext uri="{FF2B5EF4-FFF2-40B4-BE49-F238E27FC236}">
                <a16:creationId xmlns="" xmlns:a16="http://schemas.microsoft.com/office/drawing/2014/main" id="{87220004-C5B9-4E8F-A32A-DAB0927C9378}"/>
              </a:ext>
            </a:extLst>
          </p:cNvPr>
          <p:cNvSpPr txBox="1"/>
          <p:nvPr/>
        </p:nvSpPr>
        <p:spPr bwMode="gray">
          <a:xfrm>
            <a:off x="7913822" y="5172461"/>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Straight Connector 105">
            <a:extLst>
              <a:ext uri="{FF2B5EF4-FFF2-40B4-BE49-F238E27FC236}">
                <a16:creationId xmlns="" xmlns:a16="http://schemas.microsoft.com/office/drawing/2014/main" id="{512B8F2C-938A-471C-8289-DB2C05C19B2D}"/>
              </a:ext>
            </a:extLst>
          </p:cNvPr>
          <p:cNvCxnSpPr>
            <a:cxnSpLocks/>
            <a:stCxn id="61" idx="1"/>
            <a:endCxn id="101" idx="3"/>
          </p:cNvCxnSpPr>
          <p:nvPr/>
        </p:nvCxnSpPr>
        <p:spPr bwMode="gray">
          <a:xfrm flipH="1" flipV="1">
            <a:off x="8379846" y="4048224"/>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8AE57BB8-1319-4753-868F-5791587E0A64}"/>
              </a:ext>
            </a:extLst>
          </p:cNvPr>
          <p:cNvCxnSpPr>
            <a:cxnSpLocks/>
            <a:stCxn id="62" idx="1"/>
            <a:endCxn id="102" idx="3"/>
          </p:cNvCxnSpPr>
          <p:nvPr/>
        </p:nvCxnSpPr>
        <p:spPr bwMode="gray">
          <a:xfrm flipH="1" flipV="1">
            <a:off x="8379846" y="5060485"/>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 xmlns:a16="http://schemas.microsoft.com/office/drawing/2014/main" id="{C4BBEF19-88EF-4FA2-990F-914064022CD6}"/>
              </a:ext>
            </a:extLst>
          </p:cNvPr>
          <p:cNvSpPr>
            <a:spLocks noChangeAspect="1"/>
          </p:cNvSpPr>
          <p:nvPr/>
        </p:nvSpPr>
        <p:spPr bwMode="gray">
          <a:xfrm>
            <a:off x="9012598" y="3799295"/>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Oval 110">
            <a:extLst>
              <a:ext uri="{FF2B5EF4-FFF2-40B4-BE49-F238E27FC236}">
                <a16:creationId xmlns="" xmlns:a16="http://schemas.microsoft.com/office/drawing/2014/main" id="{F2FF89EF-635E-452D-B115-4C5C1EF392FF}"/>
              </a:ext>
            </a:extLst>
          </p:cNvPr>
          <p:cNvSpPr>
            <a:spLocks noChangeAspect="1"/>
          </p:cNvSpPr>
          <p:nvPr/>
        </p:nvSpPr>
        <p:spPr bwMode="gray">
          <a:xfrm>
            <a:off x="8647590" y="3954234"/>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Text Placeholder 2">
            <a:extLst>
              <a:ext uri="{FF2B5EF4-FFF2-40B4-BE49-F238E27FC236}">
                <a16:creationId xmlns="" xmlns:a16="http://schemas.microsoft.com/office/drawing/2014/main" id="{9BCB76A7-A36F-4896-A3AA-B229871EFC4D}"/>
              </a:ext>
            </a:extLst>
          </p:cNvPr>
          <p:cNvSpPr txBox="1">
            <a:spLocks/>
          </p:cNvSpPr>
          <p:nvPr/>
        </p:nvSpPr>
        <p:spPr bwMode="gray">
          <a:xfrm>
            <a:off x="466212" y="3338432"/>
            <a:ext cx="5049211" cy="244324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ctr"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lvl="1"/>
            <a:r>
              <a:rPr lang="zh-CN" altLang="en-US" sz="1600" dirty="0"/>
              <a:t>部署</a:t>
            </a:r>
            <a:r>
              <a:rPr lang="en-US" altLang="zh-CN" sz="1600" dirty="0"/>
              <a:t>BFD</a:t>
            </a:r>
            <a:r>
              <a:rPr lang="zh-CN" altLang="en-US" sz="1600" dirty="0"/>
              <a:t>快速检测网络链路问题。</a:t>
            </a:r>
            <a:endParaRPr lang="en-US" altLang="zh-CN" sz="1600" dirty="0"/>
          </a:p>
          <a:p>
            <a:pPr lvl="1"/>
            <a:r>
              <a:rPr lang="zh-CN" altLang="en-US" sz="1600" dirty="0"/>
              <a:t>通过</a:t>
            </a:r>
            <a:r>
              <a:rPr lang="en-US" altLang="zh-CN" sz="1600" dirty="0"/>
              <a:t>IP FRR</a:t>
            </a:r>
            <a:r>
              <a:rPr lang="zh-CN" altLang="en-US" sz="1600" dirty="0"/>
              <a:t>（主要基于</a:t>
            </a:r>
            <a:r>
              <a:rPr lang="en-US" altLang="zh-CN" sz="1600" dirty="0"/>
              <a:t>TI-LFA</a:t>
            </a:r>
            <a:r>
              <a:rPr lang="zh-CN" altLang="en-US" sz="1600" dirty="0"/>
              <a:t>算法）计算出备用路径。</a:t>
            </a:r>
            <a:endParaRPr lang="en-US" altLang="zh-CN" sz="1600" dirty="0"/>
          </a:p>
          <a:p>
            <a:pPr lvl="1"/>
            <a:r>
              <a:rPr lang="zh-CN" altLang="en-US" sz="1600" dirty="0"/>
              <a:t>当中间网络由于故障无法满足业务需求，则需要通过隧道</a:t>
            </a:r>
            <a:r>
              <a:rPr lang="en-US" altLang="zh-CN" sz="1600" dirty="0"/>
              <a:t>Hot-Standby</a:t>
            </a:r>
            <a:r>
              <a:rPr lang="zh-CN" altLang="en-US" sz="1600" dirty="0"/>
              <a:t>技术将流量切换到备用路径。</a:t>
            </a:r>
            <a:endParaRPr lang="en-US" sz="1600" dirty="0"/>
          </a:p>
        </p:txBody>
      </p:sp>
      <p:cxnSp>
        <p:nvCxnSpPr>
          <p:cNvPr id="113" name="Straight Arrow Connector 112">
            <a:extLst>
              <a:ext uri="{FF2B5EF4-FFF2-40B4-BE49-F238E27FC236}">
                <a16:creationId xmlns="" xmlns:a16="http://schemas.microsoft.com/office/drawing/2014/main" id="{5F330028-8E15-404A-BB9A-EFC0E3DB00D2}"/>
              </a:ext>
            </a:extLst>
          </p:cNvPr>
          <p:cNvCxnSpPr>
            <a:cxnSpLocks/>
          </p:cNvCxnSpPr>
          <p:nvPr/>
        </p:nvCxnSpPr>
        <p:spPr bwMode="gray">
          <a:xfrm>
            <a:off x="5788058" y="3965232"/>
            <a:ext cx="5963252" cy="0"/>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 xmlns:a16="http://schemas.microsoft.com/office/drawing/2014/main" id="{2DED91CF-352B-4661-8E78-2148FFC31DCF}"/>
              </a:ext>
            </a:extLst>
          </p:cNvPr>
          <p:cNvSpPr/>
          <p:nvPr/>
        </p:nvSpPr>
        <p:spPr bwMode="gray">
          <a:xfrm>
            <a:off x="5806911" y="4080305"/>
            <a:ext cx="5882326" cy="938846"/>
          </a:xfrm>
          <a:custGeom>
            <a:avLst/>
            <a:gdLst>
              <a:gd name="connsiteX0" fmla="*/ 0 w 5882326"/>
              <a:gd name="connsiteY0" fmla="*/ 39208 h 938846"/>
              <a:gd name="connsiteX1" fmla="*/ 2187019 w 5882326"/>
              <a:gd name="connsiteY1" fmla="*/ 86342 h 938846"/>
              <a:gd name="connsiteX2" fmla="*/ 2554664 w 5882326"/>
              <a:gd name="connsiteY2" fmla="*/ 802780 h 938846"/>
              <a:gd name="connsiteX3" fmla="*/ 4477732 w 5882326"/>
              <a:gd name="connsiteY3" fmla="*/ 878194 h 938846"/>
              <a:gd name="connsiteX4" fmla="*/ 4713402 w 5882326"/>
              <a:gd name="connsiteY4" fmla="*/ 124050 h 938846"/>
              <a:gd name="connsiteX5" fmla="*/ 5882326 w 5882326"/>
              <a:gd name="connsiteY5" fmla="*/ 10928 h 93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82326" h="938846">
                <a:moveTo>
                  <a:pt x="0" y="39208"/>
                </a:moveTo>
                <a:cubicBezTo>
                  <a:pt x="880621" y="-856"/>
                  <a:pt x="1761242" y="-40920"/>
                  <a:pt x="2187019" y="86342"/>
                </a:cubicBezTo>
                <a:cubicBezTo>
                  <a:pt x="2612796" y="213604"/>
                  <a:pt x="2172879" y="670805"/>
                  <a:pt x="2554664" y="802780"/>
                </a:cubicBezTo>
                <a:cubicBezTo>
                  <a:pt x="2936449" y="934755"/>
                  <a:pt x="4117942" y="991316"/>
                  <a:pt x="4477732" y="878194"/>
                </a:cubicBezTo>
                <a:cubicBezTo>
                  <a:pt x="4837522" y="765072"/>
                  <a:pt x="4479303" y="268594"/>
                  <a:pt x="4713402" y="124050"/>
                </a:cubicBezTo>
                <a:cubicBezTo>
                  <a:pt x="4947501" y="-20494"/>
                  <a:pt x="5414913" y="-4783"/>
                  <a:pt x="5882326" y="10928"/>
                </a:cubicBezTo>
              </a:path>
            </a:pathLst>
          </a:custGeom>
          <a:noFill/>
          <a:ln w="28575">
            <a:solidFill>
              <a:srgbClr val="81C15F"/>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Shape 113">
            <a:extLst>
              <a:ext uri="{FF2B5EF4-FFF2-40B4-BE49-F238E27FC236}">
                <a16:creationId xmlns="" xmlns:a16="http://schemas.microsoft.com/office/drawing/2014/main" id="{7AAED33E-1F2C-44FA-8A1E-C586E035A8F9}"/>
              </a:ext>
            </a:extLst>
          </p:cNvPr>
          <p:cNvSpPr/>
          <p:nvPr/>
        </p:nvSpPr>
        <p:spPr bwMode="gray">
          <a:xfrm>
            <a:off x="5866228" y="4124611"/>
            <a:ext cx="5806912" cy="1054004"/>
          </a:xfrm>
          <a:custGeom>
            <a:avLst/>
            <a:gdLst>
              <a:gd name="connsiteX0" fmla="*/ 0 w 5806912"/>
              <a:gd name="connsiteY0" fmla="*/ 145940 h 1054004"/>
              <a:gd name="connsiteX1" fmla="*/ 1065229 w 5806912"/>
              <a:gd name="connsiteY1" fmla="*/ 174221 h 1054004"/>
              <a:gd name="connsiteX2" fmla="*/ 1385741 w 5806912"/>
              <a:gd name="connsiteY2" fmla="*/ 909512 h 1054004"/>
              <a:gd name="connsiteX3" fmla="*/ 4345757 w 5806912"/>
              <a:gd name="connsiteY3" fmla="*/ 984926 h 1054004"/>
              <a:gd name="connsiteX4" fmla="*/ 4722829 w 5806912"/>
              <a:gd name="connsiteY4" fmla="*/ 127087 h 1054004"/>
              <a:gd name="connsiteX5" fmla="*/ 5806912 w 5806912"/>
              <a:gd name="connsiteY5" fmla="*/ 4538 h 1054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06912" h="1054004">
                <a:moveTo>
                  <a:pt x="0" y="145940"/>
                </a:moveTo>
                <a:cubicBezTo>
                  <a:pt x="417136" y="96449"/>
                  <a:pt x="834272" y="46959"/>
                  <a:pt x="1065229" y="174221"/>
                </a:cubicBezTo>
                <a:cubicBezTo>
                  <a:pt x="1296186" y="301483"/>
                  <a:pt x="838986" y="774395"/>
                  <a:pt x="1385741" y="909512"/>
                </a:cubicBezTo>
                <a:cubicBezTo>
                  <a:pt x="1932496" y="1044629"/>
                  <a:pt x="3789576" y="1115330"/>
                  <a:pt x="4345757" y="984926"/>
                </a:cubicBezTo>
                <a:cubicBezTo>
                  <a:pt x="4901938" y="854522"/>
                  <a:pt x="4479303" y="290485"/>
                  <a:pt x="4722829" y="127087"/>
                </a:cubicBezTo>
                <a:cubicBezTo>
                  <a:pt x="4966355" y="-36311"/>
                  <a:pt x="5806912" y="4538"/>
                  <a:pt x="5806912" y="4538"/>
                </a:cubicBezTo>
              </a:path>
            </a:pathLst>
          </a:custGeom>
          <a:noFill/>
          <a:ln w="28575">
            <a:solidFill>
              <a:srgbClr val="F28944"/>
            </a:solidFill>
            <a:prstDash val="dash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ular Callout 26">
            <a:extLst>
              <a:ext uri="{FF2B5EF4-FFF2-40B4-BE49-F238E27FC236}">
                <a16:creationId xmlns="" xmlns:a16="http://schemas.microsoft.com/office/drawing/2014/main" id="{A69575AF-F3B9-44C1-9A65-921DB6E6D951}"/>
              </a:ext>
            </a:extLst>
          </p:cNvPr>
          <p:cNvSpPr/>
          <p:nvPr/>
        </p:nvSpPr>
        <p:spPr bwMode="gray">
          <a:xfrm>
            <a:off x="9137477" y="3309038"/>
            <a:ext cx="971082" cy="331198"/>
          </a:xfrm>
          <a:prstGeom prst="wedgeRectCallout">
            <a:avLst>
              <a:gd name="adj1" fmla="val -10588"/>
              <a:gd name="adj2" fmla="val 13705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原始路径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6" name="Rectangular Callout 26">
            <a:extLst>
              <a:ext uri="{FF2B5EF4-FFF2-40B4-BE49-F238E27FC236}">
                <a16:creationId xmlns="" xmlns:a16="http://schemas.microsoft.com/office/drawing/2014/main" id="{A819BE4F-1EE0-4DAD-8426-5848A42DB1E6}"/>
              </a:ext>
            </a:extLst>
          </p:cNvPr>
          <p:cNvSpPr/>
          <p:nvPr/>
        </p:nvSpPr>
        <p:spPr bwMode="gray">
          <a:xfrm>
            <a:off x="8379846" y="4445919"/>
            <a:ext cx="971082" cy="310667"/>
          </a:xfrm>
          <a:prstGeom prst="wedgeRectCallout">
            <a:avLst>
              <a:gd name="adj1" fmla="val -37769"/>
              <a:gd name="adj2" fmla="val 7838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保护路径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7" name="Rectangular Callout 26">
            <a:extLst>
              <a:ext uri="{FF2B5EF4-FFF2-40B4-BE49-F238E27FC236}">
                <a16:creationId xmlns="" xmlns:a16="http://schemas.microsoft.com/office/drawing/2014/main" id="{6E66ED4C-9457-48AD-B3A0-3E27F6FBCF64}"/>
              </a:ext>
            </a:extLst>
          </p:cNvPr>
          <p:cNvSpPr/>
          <p:nvPr/>
        </p:nvSpPr>
        <p:spPr bwMode="gray">
          <a:xfrm>
            <a:off x="8286673" y="5517410"/>
            <a:ext cx="971082" cy="436819"/>
          </a:xfrm>
          <a:prstGeom prst="wedgeRectCallout">
            <a:avLst>
              <a:gd name="adj1" fmla="val -17383"/>
              <a:gd name="adj2" fmla="val -10936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隧道备份路径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3468963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75">
            <a:extLst>
              <a:ext uri="{FF2B5EF4-FFF2-40B4-BE49-F238E27FC236}">
                <a16:creationId xmlns="" xmlns:a16="http://schemas.microsoft.com/office/drawing/2014/main" id="{D64A87A0-58C9-45F1-BB83-6018BAA3883C}"/>
              </a:ext>
            </a:extLst>
          </p:cNvPr>
          <p:cNvSpPr/>
          <p:nvPr/>
        </p:nvSpPr>
        <p:spPr bwMode="gray">
          <a:xfrm>
            <a:off x="6156582" y="2325098"/>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 name="Title 1">
            <a:extLst>
              <a:ext uri="{FF2B5EF4-FFF2-40B4-BE49-F238E27FC236}">
                <a16:creationId xmlns="" xmlns:a16="http://schemas.microsoft.com/office/drawing/2014/main" id="{12A6F8B8-F5CA-49B3-8E5B-CEBBDFF4ABA3}"/>
              </a:ext>
            </a:extLst>
          </p:cNvPr>
          <p:cNvSpPr>
            <a:spLocks noGrp="1"/>
          </p:cNvSpPr>
          <p:nvPr>
            <p:ph type="title"/>
          </p:nvPr>
        </p:nvSpPr>
        <p:spPr bwMode="gray"/>
        <p:txBody>
          <a:bodyPr/>
          <a:lstStyle/>
          <a:p>
            <a:r>
              <a:rPr lang="zh-CN" altLang="en-US" dirty="0"/>
              <a:t>宿端网络可靠性设计</a:t>
            </a:r>
            <a:endParaRPr lang="en-US" dirty="0"/>
          </a:p>
        </p:txBody>
      </p:sp>
      <p:sp>
        <p:nvSpPr>
          <p:cNvPr id="3" name="Text Placeholder 2">
            <a:extLst>
              <a:ext uri="{FF2B5EF4-FFF2-40B4-BE49-F238E27FC236}">
                <a16:creationId xmlns="" xmlns:a16="http://schemas.microsoft.com/office/drawing/2014/main" id="{96DB0194-5603-44FF-A31C-6A76DD3D0E8A}"/>
              </a:ext>
            </a:extLst>
          </p:cNvPr>
          <p:cNvSpPr>
            <a:spLocks noGrp="1"/>
          </p:cNvSpPr>
          <p:nvPr>
            <p:ph type="body" sz="quarter" idx="10"/>
          </p:nvPr>
        </p:nvSpPr>
        <p:spPr bwMode="gray"/>
        <p:txBody>
          <a:bodyPr/>
          <a:lstStyle/>
          <a:p>
            <a:r>
              <a:rPr lang="zh-CN" altLang="en-US" sz="1600" dirty="0"/>
              <a:t>宿端网络主要包括宿端</a:t>
            </a:r>
            <a:r>
              <a:rPr lang="en-US" altLang="zh-CN" sz="1600" dirty="0"/>
              <a:t>PE</a:t>
            </a:r>
            <a:r>
              <a:rPr lang="zh-CN" altLang="en-US" sz="1600" dirty="0"/>
              <a:t>设备，宿端</a:t>
            </a:r>
            <a:r>
              <a:rPr lang="en-US" altLang="zh-CN" sz="1600" dirty="0"/>
              <a:t>CE</a:t>
            </a:r>
            <a:r>
              <a:rPr lang="zh-CN" altLang="en-US" sz="1600" dirty="0"/>
              <a:t>设备，宿端</a:t>
            </a:r>
            <a:r>
              <a:rPr lang="en-US" altLang="zh-CN" sz="1600" dirty="0"/>
              <a:t>PE</a:t>
            </a:r>
            <a:r>
              <a:rPr lang="zh-CN" altLang="en-US" sz="1600" dirty="0"/>
              <a:t>与</a:t>
            </a:r>
            <a:r>
              <a:rPr lang="en-US" altLang="zh-CN" sz="1600" dirty="0"/>
              <a:t>P</a:t>
            </a:r>
            <a:r>
              <a:rPr lang="zh-CN" altLang="en-US" sz="1600" dirty="0"/>
              <a:t>之间的链路，以及宿端</a:t>
            </a:r>
            <a:r>
              <a:rPr lang="en-US" altLang="zh-CN" sz="1600" dirty="0"/>
              <a:t>PE</a:t>
            </a:r>
            <a:r>
              <a:rPr lang="zh-CN" altLang="en-US" sz="1600" dirty="0"/>
              <a:t>与宿端</a:t>
            </a:r>
            <a:r>
              <a:rPr lang="en-US" altLang="zh-CN" sz="1600" dirty="0"/>
              <a:t>CE</a:t>
            </a:r>
            <a:r>
              <a:rPr lang="zh-CN" altLang="en-US" sz="1600" dirty="0"/>
              <a:t>之间的链路。</a:t>
            </a:r>
            <a:endParaRPr lang="en-US" altLang="zh-CN" sz="1600" dirty="0"/>
          </a:p>
          <a:p>
            <a:r>
              <a:rPr lang="zh-CN" altLang="en-US" sz="1600" dirty="0"/>
              <a:t>宿端网络可能出现的故障点主要有：</a:t>
            </a:r>
            <a:endParaRPr lang="en-US" altLang="zh-CN" sz="1600" dirty="0"/>
          </a:p>
          <a:p>
            <a:pPr marL="745939" lvl="1" indent="-342900">
              <a:buSzPct val="100000"/>
              <a:buFont typeface="+mj-lt"/>
              <a:buAutoNum type="arabicPeriod"/>
            </a:pPr>
            <a:r>
              <a:rPr lang="zh-CN" altLang="en-US" sz="1400" dirty="0"/>
              <a:t>宿端</a:t>
            </a:r>
            <a:r>
              <a:rPr lang="en-US" altLang="zh-CN" sz="1400" dirty="0"/>
              <a:t>PE</a:t>
            </a:r>
            <a:r>
              <a:rPr lang="zh-CN" altLang="en-US" sz="1400" dirty="0"/>
              <a:t>设备故障</a:t>
            </a:r>
            <a:endParaRPr lang="en-US" altLang="zh-CN" sz="1400" dirty="0"/>
          </a:p>
          <a:p>
            <a:pPr marL="745939" lvl="1" indent="-342900">
              <a:buSzPct val="100000"/>
              <a:buFont typeface="+mj-lt"/>
              <a:buAutoNum type="arabicPeriod"/>
            </a:pPr>
            <a:r>
              <a:rPr lang="zh-CN" altLang="en-US" sz="1400" dirty="0"/>
              <a:t>宿端</a:t>
            </a:r>
            <a:r>
              <a:rPr lang="en-US" altLang="zh-CN" sz="1400" dirty="0"/>
              <a:t>PE</a:t>
            </a:r>
            <a:r>
              <a:rPr lang="zh-CN" altLang="en-US" sz="1400" dirty="0"/>
              <a:t>与</a:t>
            </a:r>
            <a:r>
              <a:rPr lang="en-US" altLang="zh-CN" sz="1400" dirty="0"/>
              <a:t>P</a:t>
            </a:r>
            <a:r>
              <a:rPr lang="zh-CN" altLang="en-US" sz="1400" dirty="0"/>
              <a:t>之间的链路故障</a:t>
            </a:r>
            <a:endParaRPr lang="en-US" altLang="zh-CN" sz="1400" dirty="0"/>
          </a:p>
          <a:p>
            <a:pPr marL="745939" lvl="1" indent="-342900">
              <a:buSzPct val="100000"/>
              <a:buFont typeface="+mj-lt"/>
              <a:buAutoNum type="arabicPeriod"/>
            </a:pPr>
            <a:r>
              <a:rPr lang="zh-CN" altLang="en-US" sz="1400" dirty="0"/>
              <a:t>宿端</a:t>
            </a:r>
            <a:r>
              <a:rPr lang="en-US" altLang="zh-CN" sz="1400" dirty="0"/>
              <a:t>CE</a:t>
            </a:r>
            <a:r>
              <a:rPr lang="zh-CN" altLang="en-US" sz="1400" dirty="0"/>
              <a:t>设备故障</a:t>
            </a:r>
            <a:endParaRPr lang="en-US" altLang="zh-CN" sz="1400" dirty="0"/>
          </a:p>
          <a:p>
            <a:pPr marL="745939" lvl="1" indent="-342900">
              <a:buSzPct val="100000"/>
              <a:buFont typeface="+mj-lt"/>
              <a:buAutoNum type="arabicPeriod"/>
            </a:pPr>
            <a:r>
              <a:rPr lang="zh-CN" altLang="en-US" sz="1400" dirty="0"/>
              <a:t>宿端</a:t>
            </a:r>
            <a:r>
              <a:rPr lang="en-US" altLang="zh-CN" sz="1400" dirty="0"/>
              <a:t>PE</a:t>
            </a:r>
            <a:r>
              <a:rPr lang="zh-CN" altLang="en-US" sz="1400" dirty="0"/>
              <a:t>与宿端</a:t>
            </a:r>
            <a:r>
              <a:rPr lang="en-US" altLang="zh-CN" sz="1400" dirty="0"/>
              <a:t>CE</a:t>
            </a:r>
            <a:r>
              <a:rPr lang="zh-CN" altLang="en-US" sz="1400" dirty="0"/>
              <a:t>之间的链路故障</a:t>
            </a:r>
            <a:endParaRPr lang="en-US" altLang="zh-CN" sz="1400" dirty="0"/>
          </a:p>
          <a:p>
            <a:r>
              <a:rPr lang="zh-CN" altLang="en-US" sz="1600" dirty="0"/>
              <a:t>对于这</a:t>
            </a:r>
            <a:r>
              <a:rPr lang="en-US" altLang="zh-CN" sz="1600" dirty="0"/>
              <a:t>1</a:t>
            </a:r>
            <a:r>
              <a:rPr lang="zh-CN" altLang="en-US" sz="1600" dirty="0"/>
              <a:t>、</a:t>
            </a:r>
            <a:r>
              <a:rPr lang="en-US" altLang="zh-CN" sz="1600" dirty="0"/>
              <a:t>2</a:t>
            </a:r>
            <a:r>
              <a:rPr lang="zh-CN" altLang="en-US" sz="1600" dirty="0"/>
              <a:t>类故障可通过如下方式保障可靠性：</a:t>
            </a:r>
            <a:endParaRPr lang="en-US" altLang="zh-CN" sz="1600" dirty="0"/>
          </a:p>
          <a:p>
            <a:pPr lvl="1"/>
            <a:r>
              <a:rPr lang="zh-CN" altLang="en-US" sz="1400" dirty="0"/>
              <a:t>部署</a:t>
            </a:r>
            <a:r>
              <a:rPr lang="en-US" altLang="zh-CN" sz="1400" dirty="0"/>
              <a:t>BFD</a:t>
            </a:r>
            <a:r>
              <a:rPr lang="zh-CN" altLang="en-US" sz="1400" dirty="0"/>
              <a:t>快速检测网络链路问题。</a:t>
            </a:r>
            <a:endParaRPr lang="en-US" altLang="zh-CN" sz="1400" dirty="0"/>
          </a:p>
          <a:p>
            <a:pPr lvl="1"/>
            <a:r>
              <a:rPr lang="zh-CN" altLang="en-US" sz="1400" dirty="0"/>
              <a:t>通过</a:t>
            </a:r>
            <a:r>
              <a:rPr lang="en-US" altLang="zh-CN" sz="1400" dirty="0"/>
              <a:t>Mirror SID</a:t>
            </a:r>
            <a:r>
              <a:rPr lang="zh-CN" altLang="en-US" sz="1400" dirty="0"/>
              <a:t>或</a:t>
            </a:r>
            <a:r>
              <a:rPr lang="en-US" altLang="zh-CN" sz="1400" dirty="0"/>
              <a:t>Anycast FRR</a:t>
            </a:r>
            <a:r>
              <a:rPr lang="zh-CN" altLang="en-US" sz="1400" dirty="0"/>
              <a:t>将流量切换到备用宿端</a:t>
            </a:r>
            <a:r>
              <a:rPr lang="en-US" altLang="zh-CN" sz="1400" dirty="0"/>
              <a:t>PE</a:t>
            </a:r>
            <a:r>
              <a:rPr lang="zh-CN" altLang="en-US" sz="1400" dirty="0"/>
              <a:t>。</a:t>
            </a:r>
            <a:endParaRPr lang="en-US" altLang="zh-CN" sz="1400" dirty="0"/>
          </a:p>
          <a:p>
            <a:r>
              <a:rPr lang="zh-CN" altLang="en-US" sz="1600" dirty="0"/>
              <a:t>对于这</a:t>
            </a:r>
            <a:r>
              <a:rPr lang="en-US" altLang="zh-CN" sz="1600" dirty="0"/>
              <a:t>3</a:t>
            </a:r>
            <a:r>
              <a:rPr lang="zh-CN" altLang="en-US" sz="1600" dirty="0"/>
              <a:t>、</a:t>
            </a:r>
            <a:r>
              <a:rPr lang="en-US" altLang="zh-CN" sz="1600" dirty="0"/>
              <a:t>4</a:t>
            </a:r>
            <a:r>
              <a:rPr lang="zh-CN" altLang="en-US" sz="1600" dirty="0"/>
              <a:t>类故障可通过如下方式保障可靠性：</a:t>
            </a:r>
            <a:endParaRPr lang="en-US" altLang="zh-CN" sz="1600" dirty="0"/>
          </a:p>
          <a:p>
            <a:pPr lvl="1"/>
            <a:r>
              <a:rPr lang="zh-CN" altLang="en-US" sz="1400" dirty="0"/>
              <a:t>部署</a:t>
            </a:r>
            <a:r>
              <a:rPr lang="en-US" altLang="zh-CN" sz="1400" dirty="0"/>
              <a:t>BFD</a:t>
            </a:r>
            <a:r>
              <a:rPr lang="zh-CN" altLang="en-US" sz="1400" dirty="0"/>
              <a:t>快速检测网络链路问题。</a:t>
            </a:r>
            <a:endParaRPr lang="en-US" altLang="zh-CN" sz="1400" dirty="0"/>
          </a:p>
          <a:p>
            <a:pPr lvl="1"/>
            <a:r>
              <a:rPr lang="zh-CN" altLang="en-US" sz="1400" dirty="0"/>
              <a:t>通过</a:t>
            </a:r>
            <a:r>
              <a:rPr lang="en-US" altLang="zh-CN" sz="1400" dirty="0"/>
              <a:t>IP FRR</a:t>
            </a:r>
            <a:r>
              <a:rPr lang="zh-CN" altLang="en-US" sz="1400" dirty="0"/>
              <a:t>（主要基于</a:t>
            </a:r>
            <a:r>
              <a:rPr lang="en-US" altLang="zh-CN" sz="1400" dirty="0"/>
              <a:t>LFA</a:t>
            </a:r>
            <a:r>
              <a:rPr lang="zh-CN" altLang="en-US" sz="1400" dirty="0"/>
              <a:t>、</a:t>
            </a:r>
            <a:r>
              <a:rPr lang="en-US" altLang="zh-CN" sz="1400" dirty="0"/>
              <a:t>RLFA</a:t>
            </a:r>
            <a:r>
              <a:rPr lang="zh-CN" altLang="en-US" sz="1400" dirty="0"/>
              <a:t>算法）计算备用路径。</a:t>
            </a:r>
            <a:endParaRPr lang="en-US" altLang="zh-CN" sz="1400" dirty="0"/>
          </a:p>
        </p:txBody>
      </p:sp>
      <p:sp>
        <p:nvSpPr>
          <p:cNvPr id="37" name="燕尾形 3">
            <a:extLst>
              <a:ext uri="{FF2B5EF4-FFF2-40B4-BE49-F238E27FC236}">
                <a16:creationId xmlns="" xmlns:a16="http://schemas.microsoft.com/office/drawing/2014/main" id="{BDAA1797-2E12-4F6F-BE9F-1B945BBDAA28}"/>
              </a:ext>
            </a:extLst>
          </p:cNvPr>
          <p:cNvSpPr/>
          <p:nvPr/>
        </p:nvSpPr>
        <p:spPr bwMode="gray">
          <a:xfrm>
            <a:off x="10452100" y="44020"/>
            <a:ext cx="129921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网络可靠性设计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
            <a:extLst>
              <a:ext uri="{FF2B5EF4-FFF2-40B4-BE49-F238E27FC236}">
                <a16:creationId xmlns="" xmlns:a16="http://schemas.microsoft.com/office/drawing/2014/main" id="{CC6F5B92-CE3E-4282-87E2-DBD18D042062}"/>
              </a:ext>
            </a:extLst>
          </p:cNvPr>
          <p:cNvSpPr/>
          <p:nvPr/>
        </p:nvSpPr>
        <p:spPr bwMode="gray">
          <a:xfrm>
            <a:off x="9169400" y="44020"/>
            <a:ext cx="13563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设备可靠性设计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
            <a:extLst>
              <a:ext uri="{FF2B5EF4-FFF2-40B4-BE49-F238E27FC236}">
                <a16:creationId xmlns="" xmlns:a16="http://schemas.microsoft.com/office/drawing/2014/main" id="{FDC498E4-1393-4EC0-AD9D-48615DCE057A}"/>
              </a:ext>
            </a:extLst>
          </p:cNvPr>
          <p:cNvSpPr/>
          <p:nvPr/>
        </p:nvSpPr>
        <p:spPr bwMode="gray">
          <a:xfrm>
            <a:off x="7660593"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控制器可靠性设计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le 54">
            <a:extLst>
              <a:ext uri="{FF2B5EF4-FFF2-40B4-BE49-F238E27FC236}">
                <a16:creationId xmlns="" xmlns:a16="http://schemas.microsoft.com/office/drawing/2014/main" id="{EB067117-D108-4151-A008-6F60D5DDCCBC}"/>
              </a:ext>
            </a:extLst>
          </p:cNvPr>
          <p:cNvSpPr/>
          <p:nvPr/>
        </p:nvSpPr>
        <p:spPr bwMode="gray">
          <a:xfrm>
            <a:off x="9176522" y="2420762"/>
            <a:ext cx="2207944" cy="1827334"/>
          </a:xfrm>
          <a:prstGeom prst="rect">
            <a:avLst/>
          </a:prstGeom>
          <a:noFill/>
          <a:ln w="19050" cap="flat" cmpd="sng" algn="ctr">
            <a:solidFill>
              <a:srgbClr val="E28189"/>
            </a:solidFill>
            <a:prstDash val="dash"/>
            <a:miter lim="800000"/>
          </a:ln>
          <a:effectLst/>
        </p:spPr>
        <p:txBody>
          <a:bodyPr wrap="square" lIns="108000" tIns="108000" rIns="108000" bIns="108000" rtlCol="0" anchor="ctr" anchorCtr="0">
            <a:noAutofit/>
          </a:bodyPr>
          <a:lstStyle/>
          <a:p>
            <a:pPr algn="just" defTabSz="914400" fontAlgn="ctr">
              <a:lnSpc>
                <a:spcPts val="1800"/>
              </a:lnSpc>
              <a:spcAft>
                <a:spcPts val="300"/>
              </a:spcAft>
            </a:pPr>
            <a:endParaRPr 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pic>
        <p:nvPicPr>
          <p:cNvPr id="56" name="图片 48">
            <a:extLst>
              <a:ext uri="{FF2B5EF4-FFF2-40B4-BE49-F238E27FC236}">
                <a16:creationId xmlns="" xmlns:a16="http://schemas.microsoft.com/office/drawing/2014/main" id="{12105ABD-1A4E-48F7-857B-3BE9D7C37C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12214" y="2691011"/>
            <a:ext cx="378863" cy="310667"/>
          </a:xfrm>
          <a:prstGeom prst="rect">
            <a:avLst/>
          </a:prstGeom>
        </p:spPr>
      </p:pic>
      <p:pic>
        <p:nvPicPr>
          <p:cNvPr id="60" name="图片 48">
            <a:extLst>
              <a:ext uri="{FF2B5EF4-FFF2-40B4-BE49-F238E27FC236}">
                <a16:creationId xmlns="" xmlns:a16="http://schemas.microsoft.com/office/drawing/2014/main" id="{22D5EDE9-C50B-45AB-876A-5AC18BDF2D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12214" y="3703272"/>
            <a:ext cx="378863" cy="310667"/>
          </a:xfrm>
          <a:prstGeom prst="rect">
            <a:avLst/>
          </a:prstGeom>
        </p:spPr>
      </p:pic>
      <p:pic>
        <p:nvPicPr>
          <p:cNvPr id="61" name="图片 48">
            <a:extLst>
              <a:ext uri="{FF2B5EF4-FFF2-40B4-BE49-F238E27FC236}">
                <a16:creationId xmlns="" xmlns:a16="http://schemas.microsoft.com/office/drawing/2014/main" id="{3118F557-8B4A-4D54-AC70-EE06E3D64F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48326" y="2692691"/>
            <a:ext cx="378863" cy="310667"/>
          </a:xfrm>
          <a:prstGeom prst="rect">
            <a:avLst/>
          </a:prstGeom>
        </p:spPr>
      </p:pic>
      <p:pic>
        <p:nvPicPr>
          <p:cNvPr id="62" name="图片 48">
            <a:extLst>
              <a:ext uri="{FF2B5EF4-FFF2-40B4-BE49-F238E27FC236}">
                <a16:creationId xmlns="" xmlns:a16="http://schemas.microsoft.com/office/drawing/2014/main" id="{123B6AA7-FE31-49CE-AC3C-ED3B927CB2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48326" y="3704952"/>
            <a:ext cx="378863" cy="310667"/>
          </a:xfrm>
          <a:prstGeom prst="rect">
            <a:avLst/>
          </a:prstGeom>
        </p:spPr>
      </p:pic>
      <p:pic>
        <p:nvPicPr>
          <p:cNvPr id="63" name="图片 48">
            <a:extLst>
              <a:ext uri="{FF2B5EF4-FFF2-40B4-BE49-F238E27FC236}">
                <a16:creationId xmlns="" xmlns:a16="http://schemas.microsoft.com/office/drawing/2014/main" id="{36D81CBE-848B-47E3-A580-A19DE938DF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695468" y="2694371"/>
            <a:ext cx="378863" cy="310667"/>
          </a:xfrm>
          <a:prstGeom prst="rect">
            <a:avLst/>
          </a:prstGeom>
        </p:spPr>
      </p:pic>
      <p:pic>
        <p:nvPicPr>
          <p:cNvPr id="64" name="图片 48">
            <a:extLst>
              <a:ext uri="{FF2B5EF4-FFF2-40B4-BE49-F238E27FC236}">
                <a16:creationId xmlns="" xmlns:a16="http://schemas.microsoft.com/office/drawing/2014/main" id="{9C720535-2694-4C31-9E06-F97CB188DB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695468" y="3706632"/>
            <a:ext cx="378863" cy="310667"/>
          </a:xfrm>
          <a:prstGeom prst="rect">
            <a:avLst/>
          </a:prstGeom>
        </p:spPr>
      </p:pic>
      <p:cxnSp>
        <p:nvCxnSpPr>
          <p:cNvPr id="65" name="Straight Connector 64">
            <a:extLst>
              <a:ext uri="{FF2B5EF4-FFF2-40B4-BE49-F238E27FC236}">
                <a16:creationId xmlns="" xmlns:a16="http://schemas.microsoft.com/office/drawing/2014/main" id="{302490DD-FC4D-4453-8076-65CBCDDA176F}"/>
              </a:ext>
            </a:extLst>
          </p:cNvPr>
          <p:cNvCxnSpPr>
            <a:cxnSpLocks/>
            <a:stCxn id="60" idx="0"/>
            <a:endCxn id="56" idx="2"/>
          </p:cNvCxnSpPr>
          <p:nvPr/>
        </p:nvCxnSpPr>
        <p:spPr bwMode="gray">
          <a:xfrm flipV="1">
            <a:off x="6601646" y="3001678"/>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 xmlns:a16="http://schemas.microsoft.com/office/drawing/2014/main" id="{CC326044-074E-4AEA-83EB-306DB9366B5D}"/>
              </a:ext>
            </a:extLst>
          </p:cNvPr>
          <p:cNvCxnSpPr>
            <a:cxnSpLocks/>
            <a:stCxn id="101" idx="1"/>
            <a:endCxn id="56" idx="3"/>
          </p:cNvCxnSpPr>
          <p:nvPr/>
        </p:nvCxnSpPr>
        <p:spPr bwMode="gray">
          <a:xfrm flipH="1" flipV="1">
            <a:off x="6791077" y="2846345"/>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 xmlns:a16="http://schemas.microsoft.com/office/drawing/2014/main" id="{1256D7B6-0F70-4D2D-8C5F-B397E23AB966}"/>
              </a:ext>
            </a:extLst>
          </p:cNvPr>
          <p:cNvCxnSpPr>
            <a:cxnSpLocks/>
            <a:stCxn id="63" idx="1"/>
            <a:endCxn id="61" idx="3"/>
          </p:cNvCxnSpPr>
          <p:nvPr/>
        </p:nvCxnSpPr>
        <p:spPr bwMode="gray">
          <a:xfrm flipH="1" flipV="1">
            <a:off x="8927189" y="2848025"/>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 xmlns:a16="http://schemas.microsoft.com/office/drawing/2014/main" id="{EECC0481-5C63-4FAC-A3B2-3A067D7B2011}"/>
              </a:ext>
            </a:extLst>
          </p:cNvPr>
          <p:cNvCxnSpPr>
            <a:cxnSpLocks/>
            <a:stCxn id="64" idx="1"/>
            <a:endCxn id="62" idx="3"/>
          </p:cNvCxnSpPr>
          <p:nvPr/>
        </p:nvCxnSpPr>
        <p:spPr bwMode="gray">
          <a:xfrm flipH="1" flipV="1">
            <a:off x="8927189" y="3860286"/>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 xmlns:a16="http://schemas.microsoft.com/office/drawing/2014/main" id="{1F023DED-88A7-4ABE-9F76-3EDFF4C90671}"/>
              </a:ext>
            </a:extLst>
          </p:cNvPr>
          <p:cNvCxnSpPr>
            <a:cxnSpLocks/>
            <a:stCxn id="102" idx="1"/>
            <a:endCxn id="60" idx="3"/>
          </p:cNvCxnSpPr>
          <p:nvPr/>
        </p:nvCxnSpPr>
        <p:spPr bwMode="gray">
          <a:xfrm flipH="1" flipV="1">
            <a:off x="6791077" y="3858606"/>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 xmlns:a16="http://schemas.microsoft.com/office/drawing/2014/main" id="{E6D48ADD-EB8F-4548-9490-EA4FABEE4719}"/>
              </a:ext>
            </a:extLst>
          </p:cNvPr>
          <p:cNvCxnSpPr>
            <a:cxnSpLocks/>
            <a:stCxn id="62" idx="0"/>
            <a:endCxn id="61" idx="2"/>
          </p:cNvCxnSpPr>
          <p:nvPr/>
        </p:nvCxnSpPr>
        <p:spPr bwMode="gray">
          <a:xfrm flipV="1">
            <a:off x="8737758" y="3003358"/>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 xmlns:a16="http://schemas.microsoft.com/office/drawing/2014/main" id="{A5A5DF20-CF58-4F72-80CE-8CD1905E4E9E}"/>
              </a:ext>
            </a:extLst>
          </p:cNvPr>
          <p:cNvCxnSpPr>
            <a:cxnSpLocks/>
            <a:stCxn id="64" idx="0"/>
            <a:endCxn id="63" idx="2"/>
          </p:cNvCxnSpPr>
          <p:nvPr/>
        </p:nvCxnSpPr>
        <p:spPr bwMode="gray">
          <a:xfrm flipV="1">
            <a:off x="9884900" y="3005038"/>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 xmlns:a16="http://schemas.microsoft.com/office/drawing/2014/main" id="{6BC61A2A-1FBA-4334-AA5D-37A0BEDE55AB}"/>
              </a:ext>
            </a:extLst>
          </p:cNvPr>
          <p:cNvCxnSpPr>
            <a:cxnSpLocks/>
            <a:stCxn id="73" idx="3"/>
            <a:endCxn id="56" idx="1"/>
          </p:cNvCxnSpPr>
          <p:nvPr/>
        </p:nvCxnSpPr>
        <p:spPr bwMode="gray">
          <a:xfrm>
            <a:off x="5810137" y="2846344"/>
            <a:ext cx="602077"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3" name="图片 48">
            <a:extLst>
              <a:ext uri="{FF2B5EF4-FFF2-40B4-BE49-F238E27FC236}">
                <a16:creationId xmlns="" xmlns:a16="http://schemas.microsoft.com/office/drawing/2014/main" id="{339C6F61-9B2C-4FEE-95F3-4764634965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431274" y="2691010"/>
            <a:ext cx="378863" cy="310667"/>
          </a:xfrm>
          <a:prstGeom prst="rect">
            <a:avLst/>
          </a:prstGeom>
        </p:spPr>
      </p:pic>
      <p:pic>
        <p:nvPicPr>
          <p:cNvPr id="74" name="图片 48">
            <a:extLst>
              <a:ext uri="{FF2B5EF4-FFF2-40B4-BE49-F238E27FC236}">
                <a16:creationId xmlns="" xmlns:a16="http://schemas.microsoft.com/office/drawing/2014/main" id="{607FDE63-3C55-4D79-9D6C-A79FC340CB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431274" y="3705070"/>
            <a:ext cx="378863" cy="310667"/>
          </a:xfrm>
          <a:prstGeom prst="rect">
            <a:avLst/>
          </a:prstGeom>
        </p:spPr>
      </p:pic>
      <p:cxnSp>
        <p:nvCxnSpPr>
          <p:cNvPr id="75" name="Straight Connector 74">
            <a:extLst>
              <a:ext uri="{FF2B5EF4-FFF2-40B4-BE49-F238E27FC236}">
                <a16:creationId xmlns="" xmlns:a16="http://schemas.microsoft.com/office/drawing/2014/main" id="{5635832D-056C-40AC-8C72-069545B84A5F}"/>
              </a:ext>
            </a:extLst>
          </p:cNvPr>
          <p:cNvCxnSpPr>
            <a:cxnSpLocks/>
            <a:stCxn id="74" idx="3"/>
            <a:endCxn id="60" idx="1"/>
          </p:cNvCxnSpPr>
          <p:nvPr/>
        </p:nvCxnSpPr>
        <p:spPr bwMode="gray">
          <a:xfrm flipV="1">
            <a:off x="5810137" y="3858606"/>
            <a:ext cx="602077"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6" name="图片 48">
            <a:extLst>
              <a:ext uri="{FF2B5EF4-FFF2-40B4-BE49-F238E27FC236}">
                <a16:creationId xmlns="" xmlns:a16="http://schemas.microsoft.com/office/drawing/2014/main" id="{B3CE1D43-8B04-456F-A0D8-294AFB5532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672704" y="2694371"/>
            <a:ext cx="378863" cy="310667"/>
          </a:xfrm>
          <a:prstGeom prst="rect">
            <a:avLst/>
          </a:prstGeom>
        </p:spPr>
      </p:pic>
      <p:pic>
        <p:nvPicPr>
          <p:cNvPr id="77" name="图片 48">
            <a:extLst>
              <a:ext uri="{FF2B5EF4-FFF2-40B4-BE49-F238E27FC236}">
                <a16:creationId xmlns="" xmlns:a16="http://schemas.microsoft.com/office/drawing/2014/main" id="{DB2A9FD4-28AC-4773-BD53-5222265710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672704" y="3708431"/>
            <a:ext cx="378863" cy="310667"/>
          </a:xfrm>
          <a:prstGeom prst="rect">
            <a:avLst/>
          </a:prstGeom>
        </p:spPr>
      </p:pic>
      <p:cxnSp>
        <p:nvCxnSpPr>
          <p:cNvPr id="78" name="Straight Connector 77">
            <a:extLst>
              <a:ext uri="{FF2B5EF4-FFF2-40B4-BE49-F238E27FC236}">
                <a16:creationId xmlns="" xmlns:a16="http://schemas.microsoft.com/office/drawing/2014/main" id="{8CB35667-B3E1-41FD-A385-45A72B4C0480}"/>
              </a:ext>
            </a:extLst>
          </p:cNvPr>
          <p:cNvCxnSpPr>
            <a:cxnSpLocks/>
            <a:stCxn id="64" idx="3"/>
            <a:endCxn id="77" idx="1"/>
          </p:cNvCxnSpPr>
          <p:nvPr/>
        </p:nvCxnSpPr>
        <p:spPr bwMode="gray">
          <a:xfrm>
            <a:off x="10074331" y="3861966"/>
            <a:ext cx="598373"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 xmlns:a16="http://schemas.microsoft.com/office/drawing/2014/main" id="{1FE3D5BE-C97F-4604-A212-D1A0E0BB19D2}"/>
              </a:ext>
            </a:extLst>
          </p:cNvPr>
          <p:cNvCxnSpPr>
            <a:cxnSpLocks/>
            <a:stCxn id="63" idx="3"/>
            <a:endCxn id="76" idx="1"/>
          </p:cNvCxnSpPr>
          <p:nvPr/>
        </p:nvCxnSpPr>
        <p:spPr bwMode="gray">
          <a:xfrm>
            <a:off x="10074331" y="2849705"/>
            <a:ext cx="59837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TextBox 271">
            <a:extLst>
              <a:ext uri="{FF2B5EF4-FFF2-40B4-BE49-F238E27FC236}">
                <a16:creationId xmlns="" xmlns:a16="http://schemas.microsoft.com/office/drawing/2014/main" id="{D6BD2C1B-1573-4005-8267-03E66B82C08D}"/>
              </a:ext>
            </a:extLst>
          </p:cNvPr>
          <p:cNvSpPr txBox="1"/>
          <p:nvPr/>
        </p:nvSpPr>
        <p:spPr bwMode="gray">
          <a:xfrm>
            <a:off x="6422966" y="2481489"/>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271">
            <a:extLst>
              <a:ext uri="{FF2B5EF4-FFF2-40B4-BE49-F238E27FC236}">
                <a16:creationId xmlns="" xmlns:a16="http://schemas.microsoft.com/office/drawing/2014/main" id="{B718C567-C977-4241-A4C1-11EAC7396147}"/>
              </a:ext>
            </a:extLst>
          </p:cNvPr>
          <p:cNvSpPr txBox="1"/>
          <p:nvPr/>
        </p:nvSpPr>
        <p:spPr bwMode="gray">
          <a:xfrm>
            <a:off x="6422966" y="3974406"/>
            <a:ext cx="357790"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TextBox 271">
            <a:extLst>
              <a:ext uri="{FF2B5EF4-FFF2-40B4-BE49-F238E27FC236}">
                <a16:creationId xmlns="" xmlns:a16="http://schemas.microsoft.com/office/drawing/2014/main" id="{C70149F7-C906-4BAC-95E5-0E8C88190786}"/>
              </a:ext>
            </a:extLst>
          </p:cNvPr>
          <p:cNvSpPr txBox="1"/>
          <p:nvPr/>
        </p:nvSpPr>
        <p:spPr bwMode="gray">
          <a:xfrm>
            <a:off x="9712926" y="397440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271">
            <a:extLst>
              <a:ext uri="{FF2B5EF4-FFF2-40B4-BE49-F238E27FC236}">
                <a16:creationId xmlns="" xmlns:a16="http://schemas.microsoft.com/office/drawing/2014/main" id="{59E49863-2830-44D8-BAF4-AADAF3E457B6}"/>
              </a:ext>
            </a:extLst>
          </p:cNvPr>
          <p:cNvSpPr txBox="1"/>
          <p:nvPr/>
        </p:nvSpPr>
        <p:spPr bwMode="gray">
          <a:xfrm>
            <a:off x="8450697" y="2473859"/>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TextBox 271">
            <a:extLst>
              <a:ext uri="{FF2B5EF4-FFF2-40B4-BE49-F238E27FC236}">
                <a16:creationId xmlns="" xmlns:a16="http://schemas.microsoft.com/office/drawing/2014/main" id="{CB7F0498-83EF-4E02-AE17-C91575769F8D}"/>
              </a:ext>
            </a:extLst>
          </p:cNvPr>
          <p:cNvSpPr txBox="1"/>
          <p:nvPr/>
        </p:nvSpPr>
        <p:spPr bwMode="gray">
          <a:xfrm>
            <a:off x="8461165" y="3972262"/>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TextBox 271">
            <a:extLst>
              <a:ext uri="{FF2B5EF4-FFF2-40B4-BE49-F238E27FC236}">
                <a16:creationId xmlns="" xmlns:a16="http://schemas.microsoft.com/office/drawing/2014/main" id="{A615628A-0F62-409D-90C5-92B82F71CB82}"/>
              </a:ext>
            </a:extLst>
          </p:cNvPr>
          <p:cNvSpPr txBox="1"/>
          <p:nvPr/>
        </p:nvSpPr>
        <p:spPr bwMode="gray">
          <a:xfrm>
            <a:off x="5431273" y="398028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271">
            <a:extLst>
              <a:ext uri="{FF2B5EF4-FFF2-40B4-BE49-F238E27FC236}">
                <a16:creationId xmlns="" xmlns:a16="http://schemas.microsoft.com/office/drawing/2014/main" id="{928F97B7-F610-4341-8A47-E3C9366430AB}"/>
              </a:ext>
            </a:extLst>
          </p:cNvPr>
          <p:cNvSpPr txBox="1"/>
          <p:nvPr/>
        </p:nvSpPr>
        <p:spPr bwMode="gray">
          <a:xfrm>
            <a:off x="5431273" y="2472283"/>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TextBox 271">
            <a:extLst>
              <a:ext uri="{FF2B5EF4-FFF2-40B4-BE49-F238E27FC236}">
                <a16:creationId xmlns="" xmlns:a16="http://schemas.microsoft.com/office/drawing/2014/main" id="{9D984688-C91C-48AB-90FC-6C4A8A0ABF93}"/>
              </a:ext>
            </a:extLst>
          </p:cNvPr>
          <p:cNvSpPr txBox="1"/>
          <p:nvPr/>
        </p:nvSpPr>
        <p:spPr bwMode="gray">
          <a:xfrm>
            <a:off x="10668174" y="2486868"/>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TextBox 271">
            <a:extLst>
              <a:ext uri="{FF2B5EF4-FFF2-40B4-BE49-F238E27FC236}">
                <a16:creationId xmlns="" xmlns:a16="http://schemas.microsoft.com/office/drawing/2014/main" id="{7555D1A9-A0BD-4925-85F7-9FBDA72E55D6}"/>
              </a:ext>
            </a:extLst>
          </p:cNvPr>
          <p:cNvSpPr txBox="1"/>
          <p:nvPr/>
        </p:nvSpPr>
        <p:spPr bwMode="gray">
          <a:xfrm>
            <a:off x="10668174" y="3980284"/>
            <a:ext cx="378863" cy="276999"/>
          </a:xfrm>
          <a:prstGeom prst="rect">
            <a:avLst/>
          </a:prstGeom>
          <a:noFill/>
        </p:spPr>
        <p:txBody>
          <a:bodyPr wrap="squar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TextBox 271">
            <a:extLst>
              <a:ext uri="{FF2B5EF4-FFF2-40B4-BE49-F238E27FC236}">
                <a16:creationId xmlns="" xmlns:a16="http://schemas.microsoft.com/office/drawing/2014/main" id="{FD767824-E652-4B53-94C0-316364F5A6B8}"/>
              </a:ext>
            </a:extLst>
          </p:cNvPr>
          <p:cNvSpPr txBox="1"/>
          <p:nvPr/>
        </p:nvSpPr>
        <p:spPr bwMode="gray">
          <a:xfrm>
            <a:off x="9702099" y="2470993"/>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TextBox 271">
            <a:extLst>
              <a:ext uri="{FF2B5EF4-FFF2-40B4-BE49-F238E27FC236}">
                <a16:creationId xmlns="" xmlns:a16="http://schemas.microsoft.com/office/drawing/2014/main" id="{F5C64826-207B-4380-BEE5-E8B13FE227DF}"/>
              </a:ext>
            </a:extLst>
          </p:cNvPr>
          <p:cNvSpPr txBox="1"/>
          <p:nvPr/>
        </p:nvSpPr>
        <p:spPr bwMode="gray">
          <a:xfrm>
            <a:off x="6371904" y="4335576"/>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sp>
        <p:nvSpPr>
          <p:cNvPr id="92" name="TextBox 271">
            <a:extLst>
              <a:ext uri="{FF2B5EF4-FFF2-40B4-BE49-F238E27FC236}">
                <a16:creationId xmlns="" xmlns:a16="http://schemas.microsoft.com/office/drawing/2014/main" id="{1514CA4C-0E8D-4849-AE07-E0548861649E}"/>
              </a:ext>
            </a:extLst>
          </p:cNvPr>
          <p:cNvSpPr txBox="1"/>
          <p:nvPr/>
        </p:nvSpPr>
        <p:spPr bwMode="gray">
          <a:xfrm rot="5400000">
            <a:off x="11074298" y="2747181"/>
            <a:ext cx="902811" cy="307777"/>
          </a:xfrm>
          <a:prstGeom prst="rect">
            <a:avLst/>
          </a:prstGeom>
          <a:solidFill>
            <a:srgbClr val="E28189"/>
          </a:solidFill>
          <a:ln>
            <a:noFill/>
          </a:ln>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宿端网络</a:t>
            </a:r>
          </a:p>
        </p:txBody>
      </p:sp>
      <p:cxnSp>
        <p:nvCxnSpPr>
          <p:cNvPr id="93" name="Straight Connector 92">
            <a:extLst>
              <a:ext uri="{FF2B5EF4-FFF2-40B4-BE49-F238E27FC236}">
                <a16:creationId xmlns="" xmlns:a16="http://schemas.microsoft.com/office/drawing/2014/main" id="{51C09DE3-5DF5-4619-936B-44244E40DACE}"/>
              </a:ext>
            </a:extLst>
          </p:cNvPr>
          <p:cNvCxnSpPr>
            <a:cxnSpLocks/>
            <a:stCxn id="73" idx="2"/>
            <a:endCxn id="74" idx="0"/>
          </p:cNvCxnSpPr>
          <p:nvPr/>
        </p:nvCxnSpPr>
        <p:spPr bwMode="gray">
          <a:xfrm>
            <a:off x="5620706" y="3001677"/>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 xmlns:a16="http://schemas.microsoft.com/office/drawing/2014/main" id="{92363B11-06FC-411A-AFF3-76A0FD51DA6D}"/>
              </a:ext>
            </a:extLst>
          </p:cNvPr>
          <p:cNvCxnSpPr>
            <a:cxnSpLocks/>
            <a:stCxn id="76" idx="2"/>
            <a:endCxn id="77" idx="0"/>
          </p:cNvCxnSpPr>
          <p:nvPr/>
        </p:nvCxnSpPr>
        <p:spPr bwMode="gray">
          <a:xfrm>
            <a:off x="10862136" y="3005038"/>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1" name="图片 48">
            <a:extLst>
              <a:ext uri="{FF2B5EF4-FFF2-40B4-BE49-F238E27FC236}">
                <a16:creationId xmlns="" xmlns:a16="http://schemas.microsoft.com/office/drawing/2014/main" id="{6EC36B00-840B-4C07-8F94-DA7D291241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80986" y="2691525"/>
            <a:ext cx="378863" cy="310667"/>
          </a:xfrm>
          <a:prstGeom prst="rect">
            <a:avLst/>
          </a:prstGeom>
        </p:spPr>
      </p:pic>
      <p:pic>
        <p:nvPicPr>
          <p:cNvPr id="102" name="图片 48">
            <a:extLst>
              <a:ext uri="{FF2B5EF4-FFF2-40B4-BE49-F238E27FC236}">
                <a16:creationId xmlns="" xmlns:a16="http://schemas.microsoft.com/office/drawing/2014/main" id="{667BC809-9C96-45CA-8C2D-6C48A93DE89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80986" y="3703786"/>
            <a:ext cx="378863" cy="310667"/>
          </a:xfrm>
          <a:prstGeom prst="rect">
            <a:avLst/>
          </a:prstGeom>
        </p:spPr>
      </p:pic>
      <p:cxnSp>
        <p:nvCxnSpPr>
          <p:cNvPr id="103" name="Straight Connector 102">
            <a:extLst>
              <a:ext uri="{FF2B5EF4-FFF2-40B4-BE49-F238E27FC236}">
                <a16:creationId xmlns="" xmlns:a16="http://schemas.microsoft.com/office/drawing/2014/main" id="{2C7F36FE-5A2A-4D37-B5F6-259C3833362F}"/>
              </a:ext>
            </a:extLst>
          </p:cNvPr>
          <p:cNvCxnSpPr>
            <a:cxnSpLocks/>
            <a:stCxn id="102" idx="0"/>
            <a:endCxn id="101" idx="2"/>
          </p:cNvCxnSpPr>
          <p:nvPr/>
        </p:nvCxnSpPr>
        <p:spPr bwMode="gray">
          <a:xfrm flipV="1">
            <a:off x="7670418" y="3002192"/>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4" name="TextBox 271">
            <a:extLst>
              <a:ext uri="{FF2B5EF4-FFF2-40B4-BE49-F238E27FC236}">
                <a16:creationId xmlns="" xmlns:a16="http://schemas.microsoft.com/office/drawing/2014/main" id="{43631CF6-A75D-4A71-B884-C3D34CC87AE7}"/>
              </a:ext>
            </a:extLst>
          </p:cNvPr>
          <p:cNvSpPr txBox="1"/>
          <p:nvPr/>
        </p:nvSpPr>
        <p:spPr bwMode="gray">
          <a:xfrm>
            <a:off x="7383357" y="2472693"/>
            <a:ext cx="56542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TextBox 271">
            <a:extLst>
              <a:ext uri="{FF2B5EF4-FFF2-40B4-BE49-F238E27FC236}">
                <a16:creationId xmlns="" xmlns:a16="http://schemas.microsoft.com/office/drawing/2014/main" id="{87220004-C5B9-4E8F-A32A-DAB0927C9378}"/>
              </a:ext>
            </a:extLst>
          </p:cNvPr>
          <p:cNvSpPr txBox="1"/>
          <p:nvPr/>
        </p:nvSpPr>
        <p:spPr bwMode="gray">
          <a:xfrm>
            <a:off x="7393825" y="3971096"/>
            <a:ext cx="529519" cy="276999"/>
          </a:xfrm>
          <a:prstGeom prst="rect">
            <a:avLst/>
          </a:prstGeom>
          <a:noFill/>
        </p:spPr>
        <p:txBody>
          <a:bodyPr wrap="square" rtlCol="0">
            <a:spAutoFit/>
          </a:bodyPr>
          <a:lstStyle/>
          <a:p>
            <a:pPr algn="ct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Straight Connector 105">
            <a:extLst>
              <a:ext uri="{FF2B5EF4-FFF2-40B4-BE49-F238E27FC236}">
                <a16:creationId xmlns="" xmlns:a16="http://schemas.microsoft.com/office/drawing/2014/main" id="{512B8F2C-938A-471C-8289-DB2C05C19B2D}"/>
              </a:ext>
            </a:extLst>
          </p:cNvPr>
          <p:cNvCxnSpPr>
            <a:cxnSpLocks/>
            <a:stCxn id="61" idx="1"/>
            <a:endCxn id="101" idx="3"/>
          </p:cNvCxnSpPr>
          <p:nvPr/>
        </p:nvCxnSpPr>
        <p:spPr bwMode="gray">
          <a:xfrm flipH="1" flipV="1">
            <a:off x="7859849" y="2846859"/>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 xmlns:a16="http://schemas.microsoft.com/office/drawing/2014/main" id="{8AE57BB8-1319-4753-868F-5791587E0A64}"/>
              </a:ext>
            </a:extLst>
          </p:cNvPr>
          <p:cNvCxnSpPr>
            <a:cxnSpLocks/>
            <a:stCxn id="62" idx="1"/>
            <a:endCxn id="102" idx="3"/>
          </p:cNvCxnSpPr>
          <p:nvPr/>
        </p:nvCxnSpPr>
        <p:spPr bwMode="gray">
          <a:xfrm flipH="1" flipV="1">
            <a:off x="7859849" y="3859120"/>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9" name="Oval 108">
            <a:extLst>
              <a:ext uri="{FF2B5EF4-FFF2-40B4-BE49-F238E27FC236}">
                <a16:creationId xmlns="" xmlns:a16="http://schemas.microsoft.com/office/drawing/2014/main" id="{C4BBEF19-88EF-4FA2-990F-914064022CD6}"/>
              </a:ext>
            </a:extLst>
          </p:cNvPr>
          <p:cNvSpPr>
            <a:spLocks noChangeAspect="1"/>
          </p:cNvSpPr>
          <p:nvPr/>
        </p:nvSpPr>
        <p:spPr bwMode="gray">
          <a:xfrm>
            <a:off x="9604367" y="2619988"/>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Oval 110">
            <a:extLst>
              <a:ext uri="{FF2B5EF4-FFF2-40B4-BE49-F238E27FC236}">
                <a16:creationId xmlns="" xmlns:a16="http://schemas.microsoft.com/office/drawing/2014/main" id="{F2FF89EF-635E-452D-B115-4C5C1EF392FF}"/>
              </a:ext>
            </a:extLst>
          </p:cNvPr>
          <p:cNvSpPr>
            <a:spLocks noChangeAspect="1"/>
          </p:cNvSpPr>
          <p:nvPr/>
        </p:nvSpPr>
        <p:spPr bwMode="gray">
          <a:xfrm>
            <a:off x="9325513" y="2744136"/>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Oval 90">
            <a:extLst>
              <a:ext uri="{FF2B5EF4-FFF2-40B4-BE49-F238E27FC236}">
                <a16:creationId xmlns="" xmlns:a16="http://schemas.microsoft.com/office/drawing/2014/main" id="{1A35E8A5-F6AE-4AF8-AB20-8E34DB2A5CB5}"/>
              </a:ext>
            </a:extLst>
          </p:cNvPr>
          <p:cNvSpPr>
            <a:spLocks noChangeAspect="1"/>
          </p:cNvSpPr>
          <p:nvPr/>
        </p:nvSpPr>
        <p:spPr bwMode="gray">
          <a:xfrm>
            <a:off x="10581708" y="2616707"/>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Oval 94">
            <a:extLst>
              <a:ext uri="{FF2B5EF4-FFF2-40B4-BE49-F238E27FC236}">
                <a16:creationId xmlns="" xmlns:a16="http://schemas.microsoft.com/office/drawing/2014/main" id="{77FD507B-35FD-4662-8A04-EA7957A5CCDD}"/>
              </a:ext>
            </a:extLst>
          </p:cNvPr>
          <p:cNvSpPr>
            <a:spLocks noChangeAspect="1"/>
          </p:cNvSpPr>
          <p:nvPr/>
        </p:nvSpPr>
        <p:spPr bwMode="gray">
          <a:xfrm>
            <a:off x="10266991" y="2720352"/>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Straight Arrow Connector 95">
            <a:extLst>
              <a:ext uri="{FF2B5EF4-FFF2-40B4-BE49-F238E27FC236}">
                <a16:creationId xmlns="" xmlns:a16="http://schemas.microsoft.com/office/drawing/2014/main" id="{DD818BBA-96F1-4B58-AAFA-9A186DFB81AE}"/>
              </a:ext>
            </a:extLst>
          </p:cNvPr>
          <p:cNvCxnSpPr>
            <a:cxnSpLocks/>
          </p:cNvCxnSpPr>
          <p:nvPr/>
        </p:nvCxnSpPr>
        <p:spPr bwMode="gray">
          <a:xfrm>
            <a:off x="5299084" y="2758488"/>
            <a:ext cx="5963252" cy="0"/>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 name="Freeform: Shape 3">
            <a:extLst>
              <a:ext uri="{FF2B5EF4-FFF2-40B4-BE49-F238E27FC236}">
                <a16:creationId xmlns="" xmlns:a16="http://schemas.microsoft.com/office/drawing/2014/main" id="{B9524631-79F4-4877-8F82-580ED71F48A9}"/>
              </a:ext>
            </a:extLst>
          </p:cNvPr>
          <p:cNvSpPr/>
          <p:nvPr/>
        </p:nvSpPr>
        <p:spPr bwMode="gray">
          <a:xfrm>
            <a:off x="5297864" y="2812910"/>
            <a:ext cx="5910606" cy="1031214"/>
          </a:xfrm>
          <a:custGeom>
            <a:avLst/>
            <a:gdLst>
              <a:gd name="connsiteX0" fmla="*/ 0 w 5910606"/>
              <a:gd name="connsiteY0" fmla="*/ 62265 h 1031214"/>
              <a:gd name="connsiteX1" fmla="*/ 3186260 w 5910606"/>
              <a:gd name="connsiteY1" fmla="*/ 90546 h 1031214"/>
              <a:gd name="connsiteX2" fmla="*/ 3516198 w 5910606"/>
              <a:gd name="connsiteY2" fmla="*/ 929531 h 1031214"/>
              <a:gd name="connsiteX3" fmla="*/ 5910606 w 5910606"/>
              <a:gd name="connsiteY3" fmla="*/ 986092 h 1031214"/>
            </a:gdLst>
            <a:ahLst/>
            <a:cxnLst>
              <a:cxn ang="0">
                <a:pos x="connsiteX0" y="connsiteY0"/>
              </a:cxn>
              <a:cxn ang="0">
                <a:pos x="connsiteX1" y="connsiteY1"/>
              </a:cxn>
              <a:cxn ang="0">
                <a:pos x="connsiteX2" y="connsiteY2"/>
              </a:cxn>
              <a:cxn ang="0">
                <a:pos x="connsiteX3" y="connsiteY3"/>
              </a:cxn>
            </a:cxnLst>
            <a:rect l="l" t="t" r="r" b="b"/>
            <a:pathLst>
              <a:path w="5910606" h="1031214">
                <a:moveTo>
                  <a:pt x="0" y="62265"/>
                </a:moveTo>
                <a:cubicBezTo>
                  <a:pt x="1300113" y="4133"/>
                  <a:pt x="2600227" y="-53998"/>
                  <a:pt x="3186260" y="90546"/>
                </a:cubicBezTo>
                <a:cubicBezTo>
                  <a:pt x="3772293" y="235090"/>
                  <a:pt x="3062140" y="780273"/>
                  <a:pt x="3516198" y="929531"/>
                </a:cubicBezTo>
                <a:cubicBezTo>
                  <a:pt x="3970256" y="1078789"/>
                  <a:pt x="4940431" y="1032440"/>
                  <a:pt x="5910606" y="986092"/>
                </a:cubicBezTo>
              </a:path>
            </a:pathLst>
          </a:custGeom>
          <a:noFill/>
          <a:ln w="28575">
            <a:solidFill>
              <a:srgbClr val="81C15F"/>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ular Callout 26">
            <a:extLst>
              <a:ext uri="{FF2B5EF4-FFF2-40B4-BE49-F238E27FC236}">
                <a16:creationId xmlns="" xmlns:a16="http://schemas.microsoft.com/office/drawing/2014/main" id="{3AF65F3F-53FB-4153-BD6A-A87253C58FDA}"/>
              </a:ext>
            </a:extLst>
          </p:cNvPr>
          <p:cNvSpPr/>
          <p:nvPr/>
        </p:nvSpPr>
        <p:spPr bwMode="gray">
          <a:xfrm>
            <a:off x="7923344" y="2107756"/>
            <a:ext cx="971082" cy="331198"/>
          </a:xfrm>
          <a:prstGeom prst="wedgeRectCallout">
            <a:avLst>
              <a:gd name="adj1" fmla="val -10588"/>
              <a:gd name="adj2" fmla="val 13705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原始路径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8" name="Rectangular Callout 26">
            <a:extLst>
              <a:ext uri="{FF2B5EF4-FFF2-40B4-BE49-F238E27FC236}">
                <a16:creationId xmlns="" xmlns:a16="http://schemas.microsoft.com/office/drawing/2014/main" id="{9BB7AF41-33AF-487A-A970-EFA5E496457D}"/>
              </a:ext>
            </a:extLst>
          </p:cNvPr>
          <p:cNvSpPr/>
          <p:nvPr/>
        </p:nvSpPr>
        <p:spPr bwMode="gray">
          <a:xfrm>
            <a:off x="8844448" y="4158989"/>
            <a:ext cx="971082" cy="436819"/>
          </a:xfrm>
          <a:prstGeom prst="wedgeRectCallout">
            <a:avLst>
              <a:gd name="adj1" fmla="val -17171"/>
              <a:gd name="adj2" fmla="val -10696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节点链路保护路径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8369893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企业广域承载网络现状与挑战</a:t>
            </a:r>
            <a:endParaRPr lang="en-US" altLang="zh-CN" dirty="0">
              <a:solidFill>
                <a:schemeClr val="bg1">
                  <a:lumMod val="50000"/>
                </a:schemeClr>
              </a:solidFill>
            </a:endParaRPr>
          </a:p>
          <a:p>
            <a:r>
              <a:rPr lang="zh-CN" altLang="en-US" dirty="0">
                <a:solidFill>
                  <a:schemeClr val="bg1">
                    <a:lumMod val="50000"/>
                  </a:schemeClr>
                </a:solidFill>
              </a:rPr>
              <a:t>华为云广域网络解决方案概述</a:t>
            </a:r>
            <a:endParaRPr lang="en-US" altLang="zh-CN" dirty="0">
              <a:solidFill>
                <a:schemeClr val="bg1">
                  <a:lumMod val="50000"/>
                </a:schemeClr>
              </a:solidFill>
            </a:endParaRPr>
          </a:p>
          <a:p>
            <a:r>
              <a:rPr lang="zh-CN" altLang="en-US" dirty="0">
                <a:solidFill>
                  <a:schemeClr val="bg1">
                    <a:lumMod val="50000"/>
                  </a:schemeClr>
                </a:solidFill>
              </a:rPr>
              <a:t>企业广域承载基础网络设计</a:t>
            </a:r>
            <a:endParaRPr lang="en-US" altLang="zh-CN" dirty="0">
              <a:solidFill>
                <a:schemeClr val="bg1">
                  <a:lumMod val="50000"/>
                </a:schemeClr>
              </a:solidFill>
            </a:endParaRPr>
          </a:p>
          <a:p>
            <a:r>
              <a:rPr lang="zh-CN" altLang="en-US" dirty="0">
                <a:solidFill>
                  <a:schemeClr val="bg1">
                    <a:lumMod val="50000"/>
                  </a:schemeClr>
                </a:solidFill>
              </a:rPr>
              <a:t>企业广域承载网络隧道与</a:t>
            </a:r>
            <a:r>
              <a:rPr lang="en-US" altLang="zh-CN" dirty="0">
                <a:solidFill>
                  <a:schemeClr val="bg1">
                    <a:lumMod val="50000"/>
                  </a:schemeClr>
                </a:solidFill>
              </a:rPr>
              <a:t>VPN</a:t>
            </a:r>
            <a:r>
              <a:rPr lang="zh-CN" altLang="en-US" dirty="0">
                <a:solidFill>
                  <a:schemeClr val="bg1">
                    <a:lumMod val="50000"/>
                  </a:schemeClr>
                </a:solidFill>
              </a:rPr>
              <a:t>设计</a:t>
            </a:r>
            <a:endParaRPr lang="en-US" altLang="zh-CN" dirty="0">
              <a:solidFill>
                <a:schemeClr val="bg1">
                  <a:lumMod val="50000"/>
                </a:schemeClr>
              </a:solidFill>
            </a:endParaRPr>
          </a:p>
          <a:p>
            <a:r>
              <a:rPr lang="zh-CN" altLang="en-US" dirty="0">
                <a:solidFill>
                  <a:schemeClr val="bg1">
                    <a:lumMod val="50000"/>
                  </a:schemeClr>
                </a:solidFill>
              </a:rPr>
              <a:t>企业广域承载网络</a:t>
            </a:r>
            <a:r>
              <a:rPr lang="en-US" altLang="zh-CN" dirty="0">
                <a:solidFill>
                  <a:schemeClr val="bg1">
                    <a:lumMod val="50000"/>
                  </a:schemeClr>
                </a:solidFill>
              </a:rPr>
              <a:t>SLA</a:t>
            </a:r>
            <a:r>
              <a:rPr lang="zh-CN" altLang="en-US" dirty="0">
                <a:solidFill>
                  <a:schemeClr val="bg1">
                    <a:lumMod val="50000"/>
                  </a:schemeClr>
                </a:solidFill>
              </a:rPr>
              <a:t>与可靠性设计</a:t>
            </a:r>
            <a:endParaRPr lang="en-US" altLang="zh-CN" dirty="0">
              <a:solidFill>
                <a:schemeClr val="bg1">
                  <a:lumMod val="50000"/>
                </a:schemeClr>
              </a:solidFill>
            </a:endParaRPr>
          </a:p>
          <a:p>
            <a:r>
              <a:rPr lang="zh-CN" altLang="en-US" b="1" dirty="0"/>
              <a:t>企业广域承载网络优化与运维设计</a:t>
            </a:r>
            <a:endParaRPr lang="en-US" altLang="zh-CN" b="1" dirty="0"/>
          </a:p>
        </p:txBody>
      </p:sp>
    </p:spTree>
    <p:extLst>
      <p:ext uri="{BB962C8B-B14F-4D97-AF65-F5344CB8AC3E}">
        <p14:creationId xmlns:p14="http://schemas.microsoft.com/office/powerpoint/2010/main" val="1557960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604AD1CA-B786-485D-9E2C-7EDA94B94AA0}"/>
              </a:ext>
            </a:extLst>
          </p:cNvPr>
          <p:cNvSpPr>
            <a:spLocks noGrp="1"/>
          </p:cNvSpPr>
          <p:nvPr>
            <p:ph type="body" sz="quarter" idx="10"/>
          </p:nvPr>
        </p:nvSpPr>
        <p:spPr bwMode="gray">
          <a:xfrm>
            <a:off x="455612" y="1047751"/>
            <a:ext cx="11293475" cy="1023796"/>
          </a:xfrm>
        </p:spPr>
        <p:txBody>
          <a:bodyPr/>
          <a:lstStyle/>
          <a:p>
            <a:r>
              <a:rPr lang="zh-CN" altLang="en-US" sz="1800" dirty="0"/>
              <a:t>网络初期搭建完成后就需要开始关注网络的运行情况，保障网络良好运行就需要对网络进行优化和运维。</a:t>
            </a:r>
            <a:endParaRPr lang="en-US" altLang="zh-CN" sz="1800" dirty="0"/>
          </a:p>
          <a:p>
            <a:r>
              <a:rPr lang="zh-CN" altLang="en-US" sz="1800" dirty="0"/>
              <a:t>为了更好地支持后续的网络优化和运维，需要预先进行网络优化和运维设计。</a:t>
            </a:r>
            <a:endParaRPr lang="en-US" altLang="zh-CN" sz="1800" dirty="0"/>
          </a:p>
        </p:txBody>
      </p:sp>
      <p:sp>
        <p:nvSpPr>
          <p:cNvPr id="3" name="Title 2">
            <a:extLst>
              <a:ext uri="{FF2B5EF4-FFF2-40B4-BE49-F238E27FC236}">
                <a16:creationId xmlns="" xmlns:a16="http://schemas.microsoft.com/office/drawing/2014/main" id="{AFD05AB9-2BFC-45B0-9B6E-91FB64A73DE8}"/>
              </a:ext>
            </a:extLst>
          </p:cNvPr>
          <p:cNvSpPr>
            <a:spLocks noGrp="1"/>
          </p:cNvSpPr>
          <p:nvPr>
            <p:ph type="title"/>
          </p:nvPr>
        </p:nvSpPr>
        <p:spPr bwMode="gray"/>
        <p:txBody>
          <a:bodyPr>
            <a:normAutofit/>
          </a:bodyPr>
          <a:lstStyle/>
          <a:p>
            <a:r>
              <a:rPr lang="zh-CN" altLang="en-US" dirty="0"/>
              <a:t>企业广域承载网络优化与运维设计概览</a:t>
            </a:r>
            <a:endParaRPr lang="en-US" dirty="0"/>
          </a:p>
        </p:txBody>
      </p:sp>
      <p:sp>
        <p:nvSpPr>
          <p:cNvPr id="5" name="Rectangle: Rounded Corners 4">
            <a:extLst>
              <a:ext uri="{FF2B5EF4-FFF2-40B4-BE49-F238E27FC236}">
                <a16:creationId xmlns="" xmlns:a16="http://schemas.microsoft.com/office/drawing/2014/main" id="{77B83693-6BEF-4DCF-931B-269B1AA5BFC0}"/>
              </a:ext>
            </a:extLst>
          </p:cNvPr>
          <p:cNvSpPr/>
          <p:nvPr/>
        </p:nvSpPr>
        <p:spPr bwMode="gray">
          <a:xfrm>
            <a:off x="4168303" y="4105275"/>
            <a:ext cx="3738911" cy="1963404"/>
          </a:xfrm>
          <a:prstGeom prst="roundRect">
            <a:avLst>
              <a:gd name="adj" fmla="val 188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48">
            <a:extLst>
              <a:ext uri="{FF2B5EF4-FFF2-40B4-BE49-F238E27FC236}">
                <a16:creationId xmlns="" xmlns:a16="http://schemas.microsoft.com/office/drawing/2014/main" id="{5997FAEB-C742-42E7-AA62-A4250897F5C4}"/>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03818" y="4446208"/>
            <a:ext cx="378863" cy="310667"/>
          </a:xfrm>
          <a:prstGeom prst="rect">
            <a:avLst/>
          </a:prstGeom>
        </p:spPr>
      </p:pic>
      <p:pic>
        <p:nvPicPr>
          <p:cNvPr id="7" name="图片 48">
            <a:extLst>
              <a:ext uri="{FF2B5EF4-FFF2-40B4-BE49-F238E27FC236}">
                <a16:creationId xmlns="" xmlns:a16="http://schemas.microsoft.com/office/drawing/2014/main" id="{1886D069-BA4E-479B-9B69-372DB1B246F0}"/>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03818" y="5312041"/>
            <a:ext cx="378863" cy="310667"/>
          </a:xfrm>
          <a:prstGeom prst="rect">
            <a:avLst/>
          </a:prstGeom>
        </p:spPr>
      </p:pic>
      <p:pic>
        <p:nvPicPr>
          <p:cNvPr id="8" name="图片 48">
            <a:extLst>
              <a:ext uri="{FF2B5EF4-FFF2-40B4-BE49-F238E27FC236}">
                <a16:creationId xmlns="" xmlns:a16="http://schemas.microsoft.com/office/drawing/2014/main" id="{CAC48849-B8E1-4E0E-B081-88081094C1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038" y="4446208"/>
            <a:ext cx="378863" cy="310667"/>
          </a:xfrm>
          <a:prstGeom prst="rect">
            <a:avLst/>
          </a:prstGeom>
        </p:spPr>
      </p:pic>
      <p:pic>
        <p:nvPicPr>
          <p:cNvPr id="9" name="图片 48">
            <a:extLst>
              <a:ext uri="{FF2B5EF4-FFF2-40B4-BE49-F238E27FC236}">
                <a16:creationId xmlns="" xmlns:a16="http://schemas.microsoft.com/office/drawing/2014/main" id="{546DCB87-F903-45C7-AC5B-B5A1C0C2BC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50038" y="5312041"/>
            <a:ext cx="378863" cy="310667"/>
          </a:xfrm>
          <a:prstGeom prst="rect">
            <a:avLst/>
          </a:prstGeom>
        </p:spPr>
      </p:pic>
      <p:pic>
        <p:nvPicPr>
          <p:cNvPr id="10" name="图片 48">
            <a:extLst>
              <a:ext uri="{FF2B5EF4-FFF2-40B4-BE49-F238E27FC236}">
                <a16:creationId xmlns="" xmlns:a16="http://schemas.microsoft.com/office/drawing/2014/main" id="{50729279-E861-4A87-B9EC-BA0E02FA9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34040" y="4446208"/>
            <a:ext cx="378863" cy="310667"/>
          </a:xfrm>
          <a:prstGeom prst="rect">
            <a:avLst/>
          </a:prstGeom>
        </p:spPr>
      </p:pic>
      <p:pic>
        <p:nvPicPr>
          <p:cNvPr id="11" name="图片 48">
            <a:extLst>
              <a:ext uri="{FF2B5EF4-FFF2-40B4-BE49-F238E27FC236}">
                <a16:creationId xmlns="" xmlns:a16="http://schemas.microsoft.com/office/drawing/2014/main" id="{25B1DAAE-91A8-419D-A5B4-CA347D0471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34040" y="5312041"/>
            <a:ext cx="378863" cy="310667"/>
          </a:xfrm>
          <a:prstGeom prst="rect">
            <a:avLst/>
          </a:prstGeom>
        </p:spPr>
      </p:pic>
      <p:pic>
        <p:nvPicPr>
          <p:cNvPr id="12" name="图片 48">
            <a:extLst>
              <a:ext uri="{FF2B5EF4-FFF2-40B4-BE49-F238E27FC236}">
                <a16:creationId xmlns="" xmlns:a16="http://schemas.microsoft.com/office/drawing/2014/main" id="{C052CBC0-7E6A-4370-9F0F-50F272756E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9830" y="4443274"/>
            <a:ext cx="378863" cy="310667"/>
          </a:xfrm>
          <a:prstGeom prst="rect">
            <a:avLst/>
          </a:prstGeom>
        </p:spPr>
      </p:pic>
      <p:pic>
        <p:nvPicPr>
          <p:cNvPr id="13" name="图片 48">
            <a:extLst>
              <a:ext uri="{FF2B5EF4-FFF2-40B4-BE49-F238E27FC236}">
                <a16:creationId xmlns="" xmlns:a16="http://schemas.microsoft.com/office/drawing/2014/main" id="{67EFAF7D-34A9-4484-B482-F5B3080967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21299" y="5309107"/>
            <a:ext cx="378863" cy="310667"/>
          </a:xfrm>
          <a:prstGeom prst="rect">
            <a:avLst/>
          </a:prstGeom>
        </p:spPr>
      </p:pic>
      <p:pic>
        <p:nvPicPr>
          <p:cNvPr id="14" name="图片 48">
            <a:extLst>
              <a:ext uri="{FF2B5EF4-FFF2-40B4-BE49-F238E27FC236}">
                <a16:creationId xmlns="" xmlns:a16="http://schemas.microsoft.com/office/drawing/2014/main" id="{070FE710-2F57-473B-B0CC-A72F749219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01625" y="5308685"/>
            <a:ext cx="378863" cy="310667"/>
          </a:xfrm>
          <a:prstGeom prst="rect">
            <a:avLst/>
          </a:prstGeom>
        </p:spPr>
      </p:pic>
      <p:pic>
        <p:nvPicPr>
          <p:cNvPr id="15" name="图片 48">
            <a:extLst>
              <a:ext uri="{FF2B5EF4-FFF2-40B4-BE49-F238E27FC236}">
                <a16:creationId xmlns="" xmlns:a16="http://schemas.microsoft.com/office/drawing/2014/main" id="{82C0DF45-09CE-4496-8CFA-552F26333C32}"/>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86077" y="4446208"/>
            <a:ext cx="378863" cy="310667"/>
          </a:xfrm>
          <a:prstGeom prst="rect">
            <a:avLst/>
          </a:prstGeom>
        </p:spPr>
      </p:pic>
      <p:pic>
        <p:nvPicPr>
          <p:cNvPr id="16" name="图片 48">
            <a:extLst>
              <a:ext uri="{FF2B5EF4-FFF2-40B4-BE49-F238E27FC236}">
                <a16:creationId xmlns="" xmlns:a16="http://schemas.microsoft.com/office/drawing/2014/main" id="{27560E7D-4A44-46AB-8B6A-726308402F78}"/>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286077" y="5312041"/>
            <a:ext cx="378863" cy="310667"/>
          </a:xfrm>
          <a:prstGeom prst="rect">
            <a:avLst/>
          </a:prstGeom>
        </p:spPr>
      </p:pic>
      <p:cxnSp>
        <p:nvCxnSpPr>
          <p:cNvPr id="21" name="Straight Connector 20">
            <a:extLst>
              <a:ext uri="{FF2B5EF4-FFF2-40B4-BE49-F238E27FC236}">
                <a16:creationId xmlns="" xmlns:a16="http://schemas.microsoft.com/office/drawing/2014/main" id="{143CDB55-DBDE-46C6-8999-13F4DE213C53}"/>
              </a:ext>
            </a:extLst>
          </p:cNvPr>
          <p:cNvCxnSpPr>
            <a:cxnSpLocks/>
            <a:stCxn id="6" idx="3"/>
            <a:endCxn id="8" idx="1"/>
          </p:cNvCxnSpPr>
          <p:nvPr/>
        </p:nvCxnSpPr>
        <p:spPr bwMode="gray">
          <a:xfrm>
            <a:off x="3782681" y="4601542"/>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E54DEBC1-9DC1-4D28-B7CB-DB6082FEFFA8}"/>
              </a:ext>
            </a:extLst>
          </p:cNvPr>
          <p:cNvCxnSpPr>
            <a:cxnSpLocks/>
            <a:stCxn id="7" idx="3"/>
            <a:endCxn id="9" idx="1"/>
          </p:cNvCxnSpPr>
          <p:nvPr/>
        </p:nvCxnSpPr>
        <p:spPr bwMode="gray">
          <a:xfrm>
            <a:off x="3782681" y="5467375"/>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BC85F6B5-6F6D-4793-812F-FE1C7BD4986B}"/>
              </a:ext>
            </a:extLst>
          </p:cNvPr>
          <p:cNvCxnSpPr>
            <a:cxnSpLocks/>
            <a:stCxn id="9" idx="0"/>
            <a:endCxn id="8" idx="2"/>
          </p:cNvCxnSpPr>
          <p:nvPr/>
        </p:nvCxnSpPr>
        <p:spPr bwMode="gray">
          <a:xfrm flipV="1">
            <a:off x="4539470" y="4756875"/>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123D5AB9-8E8A-4489-9FCF-5674503A4BAE}"/>
              </a:ext>
            </a:extLst>
          </p:cNvPr>
          <p:cNvCxnSpPr>
            <a:cxnSpLocks/>
            <a:stCxn id="12" idx="1"/>
            <a:endCxn id="8" idx="3"/>
          </p:cNvCxnSpPr>
          <p:nvPr/>
        </p:nvCxnSpPr>
        <p:spPr bwMode="gray">
          <a:xfrm flipH="1">
            <a:off x="4728901" y="4598608"/>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F20FE227-2D14-4A44-A3D4-04B3B14906E4}"/>
              </a:ext>
            </a:extLst>
          </p:cNvPr>
          <p:cNvCxnSpPr>
            <a:cxnSpLocks/>
            <a:stCxn id="13" idx="1"/>
            <a:endCxn id="9" idx="3"/>
          </p:cNvCxnSpPr>
          <p:nvPr/>
        </p:nvCxnSpPr>
        <p:spPr bwMode="gray">
          <a:xfrm flipH="1">
            <a:off x="4728901" y="5464441"/>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0D061C88-919E-4581-B9F8-05D2EF0D6033}"/>
              </a:ext>
            </a:extLst>
          </p:cNvPr>
          <p:cNvCxnSpPr>
            <a:cxnSpLocks/>
            <a:stCxn id="12" idx="1"/>
            <a:endCxn id="13" idx="0"/>
          </p:cNvCxnSpPr>
          <p:nvPr/>
        </p:nvCxnSpPr>
        <p:spPr bwMode="gray">
          <a:xfrm flipH="1">
            <a:off x="5510731" y="4598608"/>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99338C90-C843-4D31-AFCA-F4FFB75CA43E}"/>
              </a:ext>
            </a:extLst>
          </p:cNvPr>
          <p:cNvCxnSpPr>
            <a:cxnSpLocks/>
            <a:stCxn id="14" idx="1"/>
            <a:endCxn id="13" idx="3"/>
          </p:cNvCxnSpPr>
          <p:nvPr/>
        </p:nvCxnSpPr>
        <p:spPr bwMode="gray">
          <a:xfrm flipH="1">
            <a:off x="5700162" y="5464019"/>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55406578-C2A0-406E-AB67-1868B90702EA}"/>
              </a:ext>
            </a:extLst>
          </p:cNvPr>
          <p:cNvCxnSpPr>
            <a:cxnSpLocks/>
            <a:stCxn id="14" idx="0"/>
            <a:endCxn id="12" idx="3"/>
          </p:cNvCxnSpPr>
          <p:nvPr/>
        </p:nvCxnSpPr>
        <p:spPr bwMode="gray">
          <a:xfrm flipH="1" flipV="1">
            <a:off x="6288693" y="4598608"/>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D622EB94-3904-4A2C-B428-65C1AAF77777}"/>
              </a:ext>
            </a:extLst>
          </p:cNvPr>
          <p:cNvCxnSpPr>
            <a:cxnSpLocks/>
            <a:stCxn id="10" idx="1"/>
            <a:endCxn id="12" idx="3"/>
          </p:cNvCxnSpPr>
          <p:nvPr/>
        </p:nvCxnSpPr>
        <p:spPr bwMode="gray">
          <a:xfrm flipH="1" flipV="1">
            <a:off x="6288693" y="4598608"/>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5FF34607-6D9D-4F8F-9348-7DC0E4B4B35D}"/>
              </a:ext>
            </a:extLst>
          </p:cNvPr>
          <p:cNvCxnSpPr>
            <a:cxnSpLocks/>
            <a:stCxn id="11" idx="1"/>
            <a:endCxn id="14" idx="3"/>
          </p:cNvCxnSpPr>
          <p:nvPr/>
        </p:nvCxnSpPr>
        <p:spPr bwMode="gray">
          <a:xfrm flipH="1" flipV="1">
            <a:off x="6880488" y="5464019"/>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08DACE5A-D6D4-4A58-85DE-C180EA3155FC}"/>
              </a:ext>
            </a:extLst>
          </p:cNvPr>
          <p:cNvCxnSpPr>
            <a:cxnSpLocks/>
            <a:stCxn id="10" idx="2"/>
            <a:endCxn id="11" idx="0"/>
          </p:cNvCxnSpPr>
          <p:nvPr/>
        </p:nvCxnSpPr>
        <p:spPr bwMode="gray">
          <a:xfrm>
            <a:off x="7523472" y="4756875"/>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5D6A2256-214B-47C4-A571-AA03F346751F}"/>
              </a:ext>
            </a:extLst>
          </p:cNvPr>
          <p:cNvCxnSpPr>
            <a:cxnSpLocks/>
            <a:stCxn id="10" idx="3"/>
            <a:endCxn id="15" idx="1"/>
          </p:cNvCxnSpPr>
          <p:nvPr/>
        </p:nvCxnSpPr>
        <p:spPr bwMode="gray">
          <a:xfrm>
            <a:off x="7712903" y="4601542"/>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68D83D08-5B9E-4706-BE96-73B53A6472DB}"/>
              </a:ext>
            </a:extLst>
          </p:cNvPr>
          <p:cNvCxnSpPr>
            <a:cxnSpLocks/>
            <a:stCxn id="11" idx="3"/>
            <a:endCxn id="16" idx="1"/>
          </p:cNvCxnSpPr>
          <p:nvPr/>
        </p:nvCxnSpPr>
        <p:spPr bwMode="gray">
          <a:xfrm>
            <a:off x="7712903" y="5467375"/>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 xmlns:a16="http://schemas.microsoft.com/office/drawing/2014/main" id="{63DEECC5-5AB4-4572-9343-55331BDBA10E}"/>
              </a:ext>
            </a:extLst>
          </p:cNvPr>
          <p:cNvSpPr/>
          <p:nvPr/>
        </p:nvSpPr>
        <p:spPr bwMode="gray">
          <a:xfrm>
            <a:off x="2707388" y="4373373"/>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图片 51" descr="交换机.png">
            <a:extLst>
              <a:ext uri="{FF2B5EF4-FFF2-40B4-BE49-F238E27FC236}">
                <a16:creationId xmlns="" xmlns:a16="http://schemas.microsoft.com/office/drawing/2014/main" id="{14D38A34-3BB4-4BBB-8D87-68BDA4DE43C7}"/>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859653" y="4446208"/>
            <a:ext cx="379705" cy="310667"/>
          </a:xfrm>
          <a:prstGeom prst="rect">
            <a:avLst/>
          </a:prstGeom>
        </p:spPr>
      </p:pic>
      <p:pic>
        <p:nvPicPr>
          <p:cNvPr id="41" name="图片 51" descr="交换机.png">
            <a:extLst>
              <a:ext uri="{FF2B5EF4-FFF2-40B4-BE49-F238E27FC236}">
                <a16:creationId xmlns="" xmlns:a16="http://schemas.microsoft.com/office/drawing/2014/main" id="{0851B3CC-78E0-4531-A14D-974152F0B781}"/>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859653" y="4872850"/>
            <a:ext cx="379705" cy="310667"/>
          </a:xfrm>
          <a:prstGeom prst="rect">
            <a:avLst/>
          </a:prstGeom>
        </p:spPr>
      </p:pic>
      <p:pic>
        <p:nvPicPr>
          <p:cNvPr id="42" name="图片 51" descr="交换机.png">
            <a:extLst>
              <a:ext uri="{FF2B5EF4-FFF2-40B4-BE49-F238E27FC236}">
                <a16:creationId xmlns="" xmlns:a16="http://schemas.microsoft.com/office/drawing/2014/main" id="{79204FE0-6416-4EE0-AC6B-6D02A7E13978}"/>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856774" y="5297817"/>
            <a:ext cx="379705" cy="310667"/>
          </a:xfrm>
          <a:prstGeom prst="rect">
            <a:avLst/>
          </a:prstGeom>
        </p:spPr>
      </p:pic>
      <p:sp>
        <p:nvSpPr>
          <p:cNvPr id="43" name="Rectangle 42">
            <a:extLst>
              <a:ext uri="{FF2B5EF4-FFF2-40B4-BE49-F238E27FC236}">
                <a16:creationId xmlns="" xmlns:a16="http://schemas.microsoft.com/office/drawing/2014/main" id="{368C7CD2-3A14-49A9-BFA5-AFFABE523F3B}"/>
              </a:ext>
            </a:extLst>
          </p:cNvPr>
          <p:cNvSpPr/>
          <p:nvPr/>
        </p:nvSpPr>
        <p:spPr bwMode="gray">
          <a:xfrm>
            <a:off x="8090009" y="4373373"/>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图片 67">
            <a:extLst>
              <a:ext uri="{FF2B5EF4-FFF2-40B4-BE49-F238E27FC236}">
                <a16:creationId xmlns="" xmlns:a16="http://schemas.microsoft.com/office/drawing/2014/main" id="{690A4E83-07C6-4358-8709-AEF9B74FAD97}"/>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847300" y="4449008"/>
            <a:ext cx="375447" cy="307867"/>
          </a:xfrm>
          <a:prstGeom prst="rect">
            <a:avLst/>
          </a:prstGeom>
        </p:spPr>
      </p:pic>
      <p:pic>
        <p:nvPicPr>
          <p:cNvPr id="45" name="图片 67">
            <a:extLst>
              <a:ext uri="{FF2B5EF4-FFF2-40B4-BE49-F238E27FC236}">
                <a16:creationId xmlns="" xmlns:a16="http://schemas.microsoft.com/office/drawing/2014/main" id="{3EFB3FD8-FE96-4110-B581-9E8592A45583}"/>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847300" y="4881626"/>
            <a:ext cx="375447" cy="307867"/>
          </a:xfrm>
          <a:prstGeom prst="rect">
            <a:avLst/>
          </a:prstGeom>
        </p:spPr>
      </p:pic>
      <p:pic>
        <p:nvPicPr>
          <p:cNvPr id="46" name="图片 67">
            <a:extLst>
              <a:ext uri="{FF2B5EF4-FFF2-40B4-BE49-F238E27FC236}">
                <a16:creationId xmlns="" xmlns:a16="http://schemas.microsoft.com/office/drawing/2014/main" id="{AE4F7290-D841-4543-A9FB-9D2697694B3F}"/>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847299" y="5305524"/>
            <a:ext cx="375447" cy="307867"/>
          </a:xfrm>
          <a:prstGeom prst="rect">
            <a:avLst/>
          </a:prstGeom>
        </p:spPr>
      </p:pic>
      <p:sp>
        <p:nvSpPr>
          <p:cNvPr id="51" name="TextBox 271">
            <a:extLst>
              <a:ext uri="{FF2B5EF4-FFF2-40B4-BE49-F238E27FC236}">
                <a16:creationId xmlns="" xmlns:a16="http://schemas.microsoft.com/office/drawing/2014/main" id="{3370C0C7-7702-4F11-8D8E-BEF2CB3BC514}"/>
              </a:ext>
            </a:extLst>
          </p:cNvPr>
          <p:cNvSpPr txBox="1"/>
          <p:nvPr/>
        </p:nvSpPr>
        <p:spPr bwMode="gray">
          <a:xfrm>
            <a:off x="4360574" y="4202293"/>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271">
            <a:extLst>
              <a:ext uri="{FF2B5EF4-FFF2-40B4-BE49-F238E27FC236}">
                <a16:creationId xmlns="" xmlns:a16="http://schemas.microsoft.com/office/drawing/2014/main" id="{CA08957E-5B38-4AD0-9484-6829C3F8AC3A}"/>
              </a:ext>
            </a:extLst>
          </p:cNvPr>
          <p:cNvSpPr txBox="1"/>
          <p:nvPr/>
        </p:nvSpPr>
        <p:spPr bwMode="gray">
          <a:xfrm>
            <a:off x="4343402" y="559850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271">
            <a:extLst>
              <a:ext uri="{FF2B5EF4-FFF2-40B4-BE49-F238E27FC236}">
                <a16:creationId xmlns="" xmlns:a16="http://schemas.microsoft.com/office/drawing/2014/main" id="{363F37F1-FB92-4323-827B-13F148B5C0B9}"/>
              </a:ext>
            </a:extLst>
          </p:cNvPr>
          <p:cNvSpPr txBox="1"/>
          <p:nvPr/>
        </p:nvSpPr>
        <p:spPr bwMode="gray">
          <a:xfrm>
            <a:off x="7331616" y="421981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271">
            <a:extLst>
              <a:ext uri="{FF2B5EF4-FFF2-40B4-BE49-F238E27FC236}">
                <a16:creationId xmlns="" xmlns:a16="http://schemas.microsoft.com/office/drawing/2014/main" id="{0DA421E5-9B5A-467A-B406-644EE1DADDB5}"/>
              </a:ext>
            </a:extLst>
          </p:cNvPr>
          <p:cNvSpPr txBox="1"/>
          <p:nvPr/>
        </p:nvSpPr>
        <p:spPr bwMode="gray">
          <a:xfrm>
            <a:off x="7333215" y="560848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271">
            <a:extLst>
              <a:ext uri="{FF2B5EF4-FFF2-40B4-BE49-F238E27FC236}">
                <a16:creationId xmlns="" xmlns:a16="http://schemas.microsoft.com/office/drawing/2014/main" id="{CA6EDFDA-DBC1-412D-B1E8-D550174F08DA}"/>
              </a:ext>
            </a:extLst>
          </p:cNvPr>
          <p:cNvSpPr txBox="1"/>
          <p:nvPr/>
        </p:nvSpPr>
        <p:spPr bwMode="gray">
          <a:xfrm>
            <a:off x="5968865" y="4202293"/>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271">
            <a:extLst>
              <a:ext uri="{FF2B5EF4-FFF2-40B4-BE49-F238E27FC236}">
                <a16:creationId xmlns="" xmlns:a16="http://schemas.microsoft.com/office/drawing/2014/main" id="{B68B1B76-1E49-4574-867B-8D74BB826F04}"/>
              </a:ext>
            </a:extLst>
          </p:cNvPr>
          <p:cNvSpPr txBox="1"/>
          <p:nvPr/>
        </p:nvSpPr>
        <p:spPr bwMode="gray">
          <a:xfrm>
            <a:off x="5371140" y="5586205"/>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271">
            <a:extLst>
              <a:ext uri="{FF2B5EF4-FFF2-40B4-BE49-F238E27FC236}">
                <a16:creationId xmlns="" xmlns:a16="http://schemas.microsoft.com/office/drawing/2014/main" id="{A4180A6F-0945-4F9E-8A1E-61EE017656C9}"/>
              </a:ext>
            </a:extLst>
          </p:cNvPr>
          <p:cNvSpPr txBox="1"/>
          <p:nvPr/>
        </p:nvSpPr>
        <p:spPr bwMode="gray">
          <a:xfrm>
            <a:off x="6552802" y="5608240"/>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TextBox 271">
            <a:extLst>
              <a:ext uri="{FF2B5EF4-FFF2-40B4-BE49-F238E27FC236}">
                <a16:creationId xmlns="" xmlns:a16="http://schemas.microsoft.com/office/drawing/2014/main" id="{0D440854-5572-43D2-85D5-4786E39C69A4}"/>
              </a:ext>
            </a:extLst>
          </p:cNvPr>
          <p:cNvSpPr txBox="1"/>
          <p:nvPr/>
        </p:nvSpPr>
        <p:spPr bwMode="gray">
          <a:xfrm>
            <a:off x="4301825" y="3804085"/>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pic>
        <p:nvPicPr>
          <p:cNvPr id="62" name="图片 48">
            <a:extLst>
              <a:ext uri="{FF2B5EF4-FFF2-40B4-BE49-F238E27FC236}">
                <a16:creationId xmlns="" xmlns:a16="http://schemas.microsoft.com/office/drawing/2014/main" id="{B015030A-F82A-42FC-A25C-D850A4A04E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04805" y="4952390"/>
            <a:ext cx="378863" cy="310667"/>
          </a:xfrm>
          <a:prstGeom prst="rect">
            <a:avLst/>
          </a:prstGeom>
        </p:spPr>
      </p:pic>
      <p:sp>
        <p:nvSpPr>
          <p:cNvPr id="63" name="TextBox 271">
            <a:extLst>
              <a:ext uri="{FF2B5EF4-FFF2-40B4-BE49-F238E27FC236}">
                <a16:creationId xmlns="" xmlns:a16="http://schemas.microsoft.com/office/drawing/2014/main" id="{F290BB32-02C8-4A7D-95E6-36ADB3426F65}"/>
              </a:ext>
            </a:extLst>
          </p:cNvPr>
          <p:cNvSpPr txBox="1"/>
          <p:nvPr/>
        </p:nvSpPr>
        <p:spPr bwMode="gray">
          <a:xfrm>
            <a:off x="5911060" y="5214155"/>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Straight Connector 63">
            <a:extLst>
              <a:ext uri="{FF2B5EF4-FFF2-40B4-BE49-F238E27FC236}">
                <a16:creationId xmlns="" xmlns:a16="http://schemas.microsoft.com/office/drawing/2014/main" id="{6A392749-E5A0-4573-B4D8-3F10589D0A7E}"/>
              </a:ext>
            </a:extLst>
          </p:cNvPr>
          <p:cNvCxnSpPr>
            <a:cxnSpLocks/>
            <a:stCxn id="12" idx="2"/>
            <a:endCxn id="62" idx="0"/>
          </p:cNvCxnSpPr>
          <p:nvPr/>
        </p:nvCxnSpPr>
        <p:spPr bwMode="gray">
          <a:xfrm flipH="1">
            <a:off x="6094237" y="4753941"/>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 xmlns:a16="http://schemas.microsoft.com/office/drawing/2014/main" id="{5EF0D6F3-DFAB-48E6-8B5B-6082958FA1DC}"/>
              </a:ext>
            </a:extLst>
          </p:cNvPr>
          <p:cNvCxnSpPr>
            <a:cxnSpLocks/>
          </p:cNvCxnSpPr>
          <p:nvPr/>
        </p:nvCxnSpPr>
        <p:spPr bwMode="gray">
          <a:xfrm>
            <a:off x="3860527" y="4496811"/>
            <a:ext cx="4338593" cy="0"/>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76" name="Plus Sign 75">
            <a:extLst>
              <a:ext uri="{FF2B5EF4-FFF2-40B4-BE49-F238E27FC236}">
                <a16:creationId xmlns="" xmlns:a16="http://schemas.microsoft.com/office/drawing/2014/main" id="{92984520-76AD-48FC-8A37-4C97481F4B9D}"/>
              </a:ext>
            </a:extLst>
          </p:cNvPr>
          <p:cNvSpPr/>
          <p:nvPr/>
        </p:nvSpPr>
        <p:spPr bwMode="gray">
          <a:xfrm rot="2700000">
            <a:off x="5250868" y="4401672"/>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Shape 78">
            <a:extLst>
              <a:ext uri="{FF2B5EF4-FFF2-40B4-BE49-F238E27FC236}">
                <a16:creationId xmlns="" xmlns:a16="http://schemas.microsoft.com/office/drawing/2014/main" id="{21BA73FC-C125-4F8B-919F-5B19C146B547}"/>
              </a:ext>
            </a:extLst>
          </p:cNvPr>
          <p:cNvSpPr/>
          <p:nvPr/>
        </p:nvSpPr>
        <p:spPr bwMode="gray">
          <a:xfrm>
            <a:off x="3873500" y="4622477"/>
            <a:ext cx="4279900" cy="805379"/>
          </a:xfrm>
          <a:custGeom>
            <a:avLst/>
            <a:gdLst>
              <a:gd name="connsiteX0" fmla="*/ 0 w 4279900"/>
              <a:gd name="connsiteY0" fmla="*/ 57473 h 805379"/>
              <a:gd name="connsiteX1" fmla="*/ 654050 w 4279900"/>
              <a:gd name="connsiteY1" fmla="*/ 63823 h 805379"/>
              <a:gd name="connsiteX2" fmla="*/ 850900 w 4279900"/>
              <a:gd name="connsiteY2" fmla="*/ 705173 h 805379"/>
              <a:gd name="connsiteX3" fmla="*/ 4279900 w 4279900"/>
              <a:gd name="connsiteY3" fmla="*/ 794073 h 805379"/>
            </a:gdLst>
            <a:ahLst/>
            <a:cxnLst>
              <a:cxn ang="0">
                <a:pos x="connsiteX0" y="connsiteY0"/>
              </a:cxn>
              <a:cxn ang="0">
                <a:pos x="connsiteX1" y="connsiteY1"/>
              </a:cxn>
              <a:cxn ang="0">
                <a:pos x="connsiteX2" y="connsiteY2"/>
              </a:cxn>
              <a:cxn ang="0">
                <a:pos x="connsiteX3" y="connsiteY3"/>
              </a:cxn>
            </a:cxnLst>
            <a:rect l="l" t="t" r="r" b="b"/>
            <a:pathLst>
              <a:path w="4279900" h="805379">
                <a:moveTo>
                  <a:pt x="0" y="57473"/>
                </a:moveTo>
                <a:cubicBezTo>
                  <a:pt x="256116" y="6673"/>
                  <a:pt x="512233" y="-44127"/>
                  <a:pt x="654050" y="63823"/>
                </a:cubicBezTo>
                <a:cubicBezTo>
                  <a:pt x="795867" y="171773"/>
                  <a:pt x="246592" y="583465"/>
                  <a:pt x="850900" y="705173"/>
                </a:cubicBezTo>
                <a:cubicBezTo>
                  <a:pt x="1455208" y="826881"/>
                  <a:pt x="2867554" y="810477"/>
                  <a:pt x="4279900" y="794073"/>
                </a:cubicBez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圆角矩形 75">
            <a:extLst>
              <a:ext uri="{FF2B5EF4-FFF2-40B4-BE49-F238E27FC236}">
                <a16:creationId xmlns="" xmlns:a16="http://schemas.microsoft.com/office/drawing/2014/main" id="{ED3B1E5A-A728-4E9F-8DB6-5CC9FCB9281E}"/>
              </a:ext>
            </a:extLst>
          </p:cNvPr>
          <p:cNvSpPr/>
          <p:nvPr/>
        </p:nvSpPr>
        <p:spPr bwMode="gray">
          <a:xfrm>
            <a:off x="4660197" y="4780744"/>
            <a:ext cx="126739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网络优化设计</a:t>
            </a:r>
          </a:p>
        </p:txBody>
      </p:sp>
      <p:pic>
        <p:nvPicPr>
          <p:cNvPr id="81" name="图片 24">
            <a:extLst>
              <a:ext uri="{FF2B5EF4-FFF2-40B4-BE49-F238E27FC236}">
                <a16:creationId xmlns="" xmlns:a16="http://schemas.microsoft.com/office/drawing/2014/main" id="{885532BB-87B0-4B0F-8EDF-4B425F84A5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061790" y="3119691"/>
            <a:ext cx="1977229" cy="364654"/>
          </a:xfrm>
          <a:prstGeom prst="rect">
            <a:avLst/>
          </a:prstGeom>
        </p:spPr>
      </p:pic>
      <p:sp>
        <p:nvSpPr>
          <p:cNvPr id="82" name="圆角矩形 75">
            <a:extLst>
              <a:ext uri="{FF2B5EF4-FFF2-40B4-BE49-F238E27FC236}">
                <a16:creationId xmlns="" xmlns:a16="http://schemas.microsoft.com/office/drawing/2014/main" id="{97F4F493-AD4A-41E2-8826-64621F107DC5}"/>
              </a:ext>
            </a:extLst>
          </p:cNvPr>
          <p:cNvSpPr/>
          <p:nvPr/>
        </p:nvSpPr>
        <p:spPr bwMode="gray">
          <a:xfrm>
            <a:off x="4979800" y="3093345"/>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3" name="圆角矩形 75">
            <a:extLst>
              <a:ext uri="{FF2B5EF4-FFF2-40B4-BE49-F238E27FC236}">
                <a16:creationId xmlns="" xmlns:a16="http://schemas.microsoft.com/office/drawing/2014/main" id="{1A7BE4B6-5585-4B01-A9DD-AC3E90A3EF59}"/>
              </a:ext>
            </a:extLst>
          </p:cNvPr>
          <p:cNvSpPr/>
          <p:nvPr/>
        </p:nvSpPr>
        <p:spPr bwMode="gray">
          <a:xfrm>
            <a:off x="4970974" y="2169761"/>
            <a:ext cx="2115918" cy="923584"/>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94" name="Straight Connector 93">
            <a:extLst>
              <a:ext uri="{FF2B5EF4-FFF2-40B4-BE49-F238E27FC236}">
                <a16:creationId xmlns="" xmlns:a16="http://schemas.microsoft.com/office/drawing/2014/main" id="{F1A2391D-937A-4F45-9ED0-55996F426F9C}"/>
              </a:ext>
            </a:extLst>
          </p:cNvPr>
          <p:cNvCxnSpPr>
            <a:cxnSpLocks/>
            <a:stCxn id="5" idx="0"/>
            <a:endCxn id="82" idx="2"/>
          </p:cNvCxnSpPr>
          <p:nvPr/>
        </p:nvCxnSpPr>
        <p:spPr bwMode="gray">
          <a:xfrm flipV="1">
            <a:off x="6037759" y="3496625"/>
            <a:ext cx="0" cy="60865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113FBF4C-10E7-4E12-A240-82EBEC9ECEF3}"/>
              </a:ext>
            </a:extLst>
          </p:cNvPr>
          <p:cNvCxnSpPr/>
          <p:nvPr/>
        </p:nvCxnSpPr>
        <p:spPr bwMode="gray">
          <a:xfrm>
            <a:off x="5188955" y="2712720"/>
            <a:ext cx="16366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898CDB40-6D23-4C0D-A18E-E3C72BDC4892}"/>
              </a:ext>
            </a:extLst>
          </p:cNvPr>
          <p:cNvCxnSpPr>
            <a:cxnSpLocks/>
          </p:cNvCxnSpPr>
          <p:nvPr/>
        </p:nvCxnSpPr>
        <p:spPr bwMode="gray">
          <a:xfrm>
            <a:off x="5188955" y="2636520"/>
            <a:ext cx="0" cy="1524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 xmlns:a16="http://schemas.microsoft.com/office/drawing/2014/main" id="{C149A335-A6F1-4571-817C-0037F6923446}"/>
              </a:ext>
            </a:extLst>
          </p:cNvPr>
          <p:cNvCxnSpPr>
            <a:cxnSpLocks/>
          </p:cNvCxnSpPr>
          <p:nvPr/>
        </p:nvCxnSpPr>
        <p:spPr bwMode="gray">
          <a:xfrm>
            <a:off x="6825634" y="2636520"/>
            <a:ext cx="0" cy="1524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 xmlns:a16="http://schemas.microsoft.com/office/drawing/2014/main" id="{39C88415-4188-4A9F-81F4-0471B07CFAB6}"/>
              </a:ext>
            </a:extLst>
          </p:cNvPr>
          <p:cNvCxnSpPr>
            <a:cxnSpLocks/>
          </p:cNvCxnSpPr>
          <p:nvPr/>
        </p:nvCxnSpPr>
        <p:spPr bwMode="gray">
          <a:xfrm>
            <a:off x="5617453" y="2636520"/>
            <a:ext cx="0" cy="152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 xmlns:a16="http://schemas.microsoft.com/office/drawing/2014/main" id="{A5F73F8F-B27F-497C-9D74-93C17B05F26D}"/>
              </a:ext>
            </a:extLst>
          </p:cNvPr>
          <p:cNvSpPr txBox="1"/>
          <p:nvPr/>
        </p:nvSpPr>
        <p:spPr bwMode="gray">
          <a:xfrm>
            <a:off x="4949146" y="2782044"/>
            <a:ext cx="479618" cy="276999"/>
          </a:xfrm>
          <a:prstGeom prst="rect">
            <a:avLst/>
          </a:prstGeom>
          <a:noFill/>
        </p:spPr>
        <p:txBody>
          <a:bodyPr wrap="none" rtlCol="0">
            <a:spAutoFit/>
          </a:bodyPr>
          <a:lstStyle/>
          <a:p>
            <a:r>
              <a:rPr lang="en-US" sz="1200" dirty="0"/>
              <a:t>0:00</a:t>
            </a:r>
          </a:p>
        </p:txBody>
      </p:sp>
      <p:sp>
        <p:nvSpPr>
          <p:cNvPr id="109" name="TextBox 108">
            <a:extLst>
              <a:ext uri="{FF2B5EF4-FFF2-40B4-BE49-F238E27FC236}">
                <a16:creationId xmlns="" xmlns:a16="http://schemas.microsoft.com/office/drawing/2014/main" id="{E6E07C8F-90F9-4C72-92C4-376E056339D1}"/>
              </a:ext>
            </a:extLst>
          </p:cNvPr>
          <p:cNvSpPr txBox="1"/>
          <p:nvPr/>
        </p:nvSpPr>
        <p:spPr bwMode="gray">
          <a:xfrm>
            <a:off x="5377644" y="2780183"/>
            <a:ext cx="479618" cy="276999"/>
          </a:xfrm>
          <a:prstGeom prst="rect">
            <a:avLst/>
          </a:prstGeom>
          <a:noFill/>
        </p:spPr>
        <p:txBody>
          <a:bodyPr wrap="none" rtlCol="0">
            <a:spAutoFit/>
          </a:bodyPr>
          <a:lstStyle/>
          <a:p>
            <a:r>
              <a:rPr lang="en-US" sz="1200" dirty="0"/>
              <a:t>8:00</a:t>
            </a:r>
          </a:p>
        </p:txBody>
      </p:sp>
      <p:sp>
        <p:nvSpPr>
          <p:cNvPr id="110" name="TextBox 109">
            <a:extLst>
              <a:ext uri="{FF2B5EF4-FFF2-40B4-BE49-F238E27FC236}">
                <a16:creationId xmlns="" xmlns:a16="http://schemas.microsoft.com/office/drawing/2014/main" id="{863B9995-37E1-4D83-B629-7F3E73B2DE01}"/>
              </a:ext>
            </a:extLst>
          </p:cNvPr>
          <p:cNvSpPr txBox="1"/>
          <p:nvPr/>
        </p:nvSpPr>
        <p:spPr bwMode="gray">
          <a:xfrm>
            <a:off x="6542543" y="2783364"/>
            <a:ext cx="566181" cy="276999"/>
          </a:xfrm>
          <a:prstGeom prst="rect">
            <a:avLst/>
          </a:prstGeom>
          <a:noFill/>
        </p:spPr>
        <p:txBody>
          <a:bodyPr wrap="none" rtlCol="0">
            <a:spAutoFit/>
          </a:bodyPr>
          <a:lstStyle/>
          <a:p>
            <a:r>
              <a:rPr lang="en-US" sz="1200" dirty="0"/>
              <a:t>24:00</a:t>
            </a:r>
          </a:p>
        </p:txBody>
      </p:sp>
      <p:sp>
        <p:nvSpPr>
          <p:cNvPr id="111" name="TextBox 110">
            <a:extLst>
              <a:ext uri="{FF2B5EF4-FFF2-40B4-BE49-F238E27FC236}">
                <a16:creationId xmlns="" xmlns:a16="http://schemas.microsoft.com/office/drawing/2014/main" id="{A2506AE0-2C6D-44D5-AE7D-00DC4673BC06}"/>
              </a:ext>
            </a:extLst>
          </p:cNvPr>
          <p:cNvSpPr txBox="1"/>
          <p:nvPr/>
        </p:nvSpPr>
        <p:spPr bwMode="gray">
          <a:xfrm>
            <a:off x="5133542" y="2244915"/>
            <a:ext cx="533589" cy="461665"/>
          </a:xfrm>
          <a:prstGeom prst="rect">
            <a:avLst/>
          </a:prstGeom>
          <a:noFill/>
        </p:spPr>
        <p:txBody>
          <a:bodyPr wrap="square" rtlCol="0">
            <a:spAutoFit/>
          </a:bodyPr>
          <a:lstStyle/>
          <a:p>
            <a:pPr algn="ctr"/>
            <a:r>
              <a:rPr lang="zh-CN" altLang="en-US" sz="1200" dirty="0"/>
              <a:t>维护窗口</a:t>
            </a:r>
            <a:endParaRPr lang="en-US" sz="1200" dirty="0"/>
          </a:p>
        </p:txBody>
      </p:sp>
      <p:sp>
        <p:nvSpPr>
          <p:cNvPr id="112" name="TextBox 111">
            <a:extLst>
              <a:ext uri="{FF2B5EF4-FFF2-40B4-BE49-F238E27FC236}">
                <a16:creationId xmlns="" xmlns:a16="http://schemas.microsoft.com/office/drawing/2014/main" id="{47854CDB-4F88-457F-B4F5-2CB74F923465}"/>
              </a:ext>
            </a:extLst>
          </p:cNvPr>
          <p:cNvSpPr txBox="1"/>
          <p:nvPr/>
        </p:nvSpPr>
        <p:spPr bwMode="gray">
          <a:xfrm>
            <a:off x="5950769" y="2249511"/>
            <a:ext cx="533589" cy="461665"/>
          </a:xfrm>
          <a:prstGeom prst="rect">
            <a:avLst/>
          </a:prstGeom>
          <a:noFill/>
        </p:spPr>
        <p:txBody>
          <a:bodyPr wrap="square" rtlCol="0">
            <a:spAutoFit/>
          </a:bodyPr>
          <a:lstStyle/>
          <a:p>
            <a:pPr algn="ctr"/>
            <a:r>
              <a:rPr lang="zh-CN" altLang="en-US" sz="1200" dirty="0"/>
              <a:t>正常运行</a:t>
            </a:r>
            <a:endParaRPr lang="en-US" sz="1200" dirty="0"/>
          </a:p>
        </p:txBody>
      </p:sp>
      <p:sp>
        <p:nvSpPr>
          <p:cNvPr id="113" name="圆角矩形 75">
            <a:extLst>
              <a:ext uri="{FF2B5EF4-FFF2-40B4-BE49-F238E27FC236}">
                <a16:creationId xmlns="" xmlns:a16="http://schemas.microsoft.com/office/drawing/2014/main" id="{25123D1B-E0F0-4479-B9D6-B52E192FD5B2}"/>
              </a:ext>
            </a:extLst>
          </p:cNvPr>
          <p:cNvSpPr/>
          <p:nvPr/>
        </p:nvSpPr>
        <p:spPr bwMode="gray">
          <a:xfrm>
            <a:off x="6889775" y="2211193"/>
            <a:ext cx="1267394" cy="396000"/>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运维设计</a:t>
            </a:r>
          </a:p>
        </p:txBody>
      </p:sp>
    </p:spTree>
    <p:extLst>
      <p:ext uri="{BB962C8B-B14F-4D97-AF65-F5344CB8AC3E}">
        <p14:creationId xmlns:p14="http://schemas.microsoft.com/office/powerpoint/2010/main" val="2672663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企业广域承载网络优化设计思路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6223678"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运维设计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6223678"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6421289" y="2360214"/>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3178957"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网络优化设计</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3178957"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6421289" y="285009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维护窗口</a:t>
            </a: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3396926" y="236021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网络性能监控设计</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3396926" y="2849178"/>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网络流量调优设计</a:t>
            </a:r>
          </a:p>
        </p:txBody>
      </p:sp>
      <p:sp>
        <p:nvSpPr>
          <p:cNvPr id="13" name="Arrow: Down 12">
            <a:extLst>
              <a:ext uri="{FF2B5EF4-FFF2-40B4-BE49-F238E27FC236}">
                <a16:creationId xmlns="" xmlns:a16="http://schemas.microsoft.com/office/drawing/2014/main" id="{0F3A7870-B7BC-4607-875E-CD12BF64E074}"/>
              </a:ext>
            </a:extLst>
          </p:cNvPr>
          <p:cNvSpPr/>
          <p:nvPr/>
        </p:nvSpPr>
        <p:spPr bwMode="gray">
          <a:xfrm>
            <a:off x="4418066" y="1354133"/>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圆角矩形 11">
            <a:extLst>
              <a:ext uri="{FF2B5EF4-FFF2-40B4-BE49-F238E27FC236}">
                <a16:creationId xmlns="" xmlns:a16="http://schemas.microsoft.com/office/drawing/2014/main" id="{DA3D4981-4AA0-4E22-B38C-8BB4C5659415}"/>
              </a:ext>
            </a:extLst>
          </p:cNvPr>
          <p:cNvSpPr/>
          <p:nvPr/>
        </p:nvSpPr>
        <p:spPr bwMode="gray">
          <a:xfrm>
            <a:off x="3396926" y="3338426"/>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应用优化设计</a:t>
            </a:r>
          </a:p>
        </p:txBody>
      </p:sp>
    </p:spTree>
    <p:extLst>
      <p:ext uri="{BB962C8B-B14F-4D97-AF65-F5344CB8AC3E}">
        <p14:creationId xmlns:p14="http://schemas.microsoft.com/office/powerpoint/2010/main" val="1001264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网络性能监控概述</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p:txBody>
          <a:bodyPr/>
          <a:lstStyle/>
          <a:p>
            <a:r>
              <a:rPr lang="zh-CN" altLang="en-US" sz="1800" dirty="0"/>
              <a:t>网络性能监控可以通过多种方式实现，比较常用的是</a:t>
            </a:r>
            <a:r>
              <a:rPr lang="en-US" altLang="zh-CN" sz="1800" dirty="0"/>
              <a:t>SNMP</a:t>
            </a:r>
            <a:r>
              <a:rPr lang="zh-CN" altLang="en-US" sz="1800" dirty="0"/>
              <a:t>。但是随着业务对网络要求的增加，需要有新的技术来快速地获取网络性能指标。</a:t>
            </a:r>
            <a:endParaRPr lang="en-US" altLang="zh-CN" sz="1800" dirty="0"/>
          </a:p>
          <a:p>
            <a:r>
              <a:rPr lang="zh-CN" altLang="en-US" sz="1800" dirty="0"/>
              <a:t>现有网络的常用网络性能监控技术包括：</a:t>
            </a:r>
            <a:endParaRPr lang="en-US" altLang="zh-CN" sz="1800" dirty="0"/>
          </a:p>
          <a:p>
            <a:pPr lvl="1"/>
            <a:r>
              <a:rPr lang="en-US" sz="1600" dirty="0"/>
              <a:t>SNMP</a:t>
            </a:r>
            <a:r>
              <a:rPr lang="zh-CN" altLang="en-US" sz="1600" dirty="0"/>
              <a:t>：</a:t>
            </a:r>
            <a:r>
              <a:rPr lang="en-US" altLang="zh-CN" sz="1600" dirty="0"/>
              <a:t>SNMP</a:t>
            </a:r>
            <a:r>
              <a:rPr lang="zh-CN" altLang="en-US" sz="1600" dirty="0"/>
              <a:t>在进行性能监控时，通过“询问</a:t>
            </a:r>
            <a:r>
              <a:rPr lang="en-US" altLang="zh-CN" sz="1600" dirty="0"/>
              <a:t>-</a:t>
            </a:r>
            <a:r>
              <a:rPr lang="zh-CN" altLang="en-US" sz="1600" dirty="0"/>
              <a:t>回答”的方式获取网络性能信息。当频繁获取信息时，</a:t>
            </a:r>
            <a:r>
              <a:rPr lang="en-US" altLang="zh-CN" sz="1600" dirty="0"/>
              <a:t>SNMP</a:t>
            </a:r>
            <a:r>
              <a:rPr lang="zh-CN" altLang="en-US" sz="1600" dirty="0"/>
              <a:t>会对设备产生较大压力。</a:t>
            </a:r>
            <a:endParaRPr lang="en-US" altLang="zh-CN" sz="1600" dirty="0"/>
          </a:p>
          <a:p>
            <a:pPr lvl="1"/>
            <a:r>
              <a:rPr lang="en-US" sz="1600" dirty="0"/>
              <a:t>T</a:t>
            </a:r>
            <a:r>
              <a:rPr lang="en-US" altLang="zh-CN" sz="1600" dirty="0"/>
              <a:t>elemetry</a:t>
            </a:r>
            <a:r>
              <a:rPr lang="zh-CN" altLang="en-US" sz="1600" dirty="0"/>
              <a:t>：</a:t>
            </a:r>
            <a:r>
              <a:rPr lang="en-US" altLang="zh-CN" sz="1600" dirty="0"/>
              <a:t>Telemetry</a:t>
            </a:r>
            <a:r>
              <a:rPr lang="zh-CN" altLang="en-US" sz="1600" dirty="0"/>
              <a:t>主要通过“订阅</a:t>
            </a:r>
            <a:r>
              <a:rPr lang="en-US" altLang="zh-CN" sz="1600" dirty="0"/>
              <a:t>-</a:t>
            </a:r>
            <a:r>
              <a:rPr lang="zh-CN" altLang="en-US" sz="1600" dirty="0"/>
              <a:t>上报”的方式获取网络性能信息。当频繁获取信息时，</a:t>
            </a:r>
            <a:r>
              <a:rPr lang="en-US" altLang="zh-CN" sz="1600" dirty="0"/>
              <a:t>Telemetry</a:t>
            </a:r>
            <a:r>
              <a:rPr lang="zh-CN" altLang="en-US" sz="1600" dirty="0"/>
              <a:t>对设备产生的压力相对较小。</a:t>
            </a:r>
            <a:endParaRPr lang="en-US" altLang="zh-CN" sz="1600" dirty="0"/>
          </a:p>
          <a:p>
            <a:pPr lvl="1"/>
            <a:r>
              <a:rPr lang="en-US" altLang="zh-CN" sz="1600" dirty="0"/>
              <a:t>NQA</a:t>
            </a:r>
            <a:r>
              <a:rPr lang="zh-CN" altLang="en-US" sz="1600" dirty="0"/>
              <a:t>：</a:t>
            </a:r>
            <a:r>
              <a:rPr lang="en-US" altLang="zh-CN" sz="1600" dirty="0"/>
              <a:t>NQA</a:t>
            </a:r>
            <a:r>
              <a:rPr lang="zh-CN" altLang="en-US" sz="1600" dirty="0"/>
              <a:t>主要用于检测网络质量，</a:t>
            </a:r>
            <a:r>
              <a:rPr lang="en-US" altLang="zh-CN" sz="1600" dirty="0"/>
              <a:t>NQA</a:t>
            </a:r>
            <a:r>
              <a:rPr lang="zh-CN" altLang="en-US" sz="1600" dirty="0"/>
              <a:t>使用模拟流量测试网络环境，因此测量不够准确。</a:t>
            </a:r>
            <a:endParaRPr lang="en-US" altLang="zh-CN" sz="1600" dirty="0"/>
          </a:p>
          <a:p>
            <a:pPr lvl="1"/>
            <a:r>
              <a:rPr lang="en-US" sz="1600" dirty="0"/>
              <a:t>TWAMP</a:t>
            </a:r>
            <a:r>
              <a:rPr lang="zh-CN" altLang="en-US" sz="1600" dirty="0"/>
              <a:t>：</a:t>
            </a:r>
            <a:r>
              <a:rPr lang="en-US" altLang="zh-CN" sz="1600" dirty="0"/>
              <a:t>TWAMP</a:t>
            </a:r>
            <a:r>
              <a:rPr lang="zh-CN" altLang="en-US" sz="1600" dirty="0"/>
              <a:t>主要用于检测网络质量，与</a:t>
            </a:r>
            <a:r>
              <a:rPr lang="en-US" altLang="zh-CN" sz="1600" dirty="0"/>
              <a:t>NQA</a:t>
            </a:r>
            <a:r>
              <a:rPr lang="zh-CN" altLang="en-US" sz="1600" dirty="0"/>
              <a:t>相比，</a:t>
            </a:r>
            <a:r>
              <a:rPr lang="en-US" altLang="zh-CN" sz="1600" dirty="0"/>
              <a:t>TWAMP</a:t>
            </a:r>
            <a:r>
              <a:rPr lang="zh-CN" altLang="en-US" sz="1600" dirty="0"/>
              <a:t>具有统一的检测模型和统一的报文格式，且部署方式简单。</a:t>
            </a:r>
            <a:endParaRPr lang="en-US" sz="16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45513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网络性能监控使用场景</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a:xfrm>
            <a:off x="455612" y="1047751"/>
            <a:ext cx="11293475" cy="982088"/>
          </a:xfrm>
        </p:spPr>
        <p:txBody>
          <a:bodyPr/>
          <a:lstStyle/>
          <a:p>
            <a:r>
              <a:rPr lang="zh-CN" altLang="en-US" sz="1800" dirty="0"/>
              <a:t>在华为云广域网络场景中</a:t>
            </a:r>
            <a:r>
              <a:rPr lang="en-US" altLang="zh-CN" sz="1800" dirty="0"/>
              <a:t>SNMP</a:t>
            </a:r>
            <a:r>
              <a:rPr lang="zh-CN" altLang="en-US" sz="1800" dirty="0"/>
              <a:t>主要用于获取常用的设备性能，对于需要秒级监控的信息主要通过</a:t>
            </a:r>
            <a:r>
              <a:rPr lang="en-US" altLang="zh-CN" sz="1800" dirty="0"/>
              <a:t>Telemetry</a:t>
            </a:r>
            <a:r>
              <a:rPr lang="zh-CN" altLang="en-US" sz="1800" dirty="0"/>
              <a:t>技术，而对于链路质量（包括丢包、时延、抖动）的检测主要通过</a:t>
            </a:r>
            <a:r>
              <a:rPr lang="en-US" altLang="zh-CN" sz="1800" dirty="0"/>
              <a:t>TWAMP</a:t>
            </a:r>
            <a:r>
              <a:rPr lang="zh-CN" altLang="en-US" sz="1800" dirty="0"/>
              <a:t>技术获取性能数据。</a:t>
            </a:r>
            <a:endParaRPr lang="en-US" sz="18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Rectangle: Rounded Corners 7">
            <a:extLst>
              <a:ext uri="{FF2B5EF4-FFF2-40B4-BE49-F238E27FC236}">
                <a16:creationId xmlns="" xmlns:a16="http://schemas.microsoft.com/office/drawing/2014/main" id="{64F11C77-30D9-4D40-B703-418F921F50CD}"/>
              </a:ext>
            </a:extLst>
          </p:cNvPr>
          <p:cNvSpPr/>
          <p:nvPr/>
        </p:nvSpPr>
        <p:spPr bwMode="gray">
          <a:xfrm>
            <a:off x="4224781" y="4125579"/>
            <a:ext cx="3738911" cy="1963404"/>
          </a:xfrm>
          <a:prstGeom prst="roundRect">
            <a:avLst>
              <a:gd name="adj" fmla="val 188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图片 48">
            <a:extLst>
              <a:ext uri="{FF2B5EF4-FFF2-40B4-BE49-F238E27FC236}">
                <a16:creationId xmlns="" xmlns:a16="http://schemas.microsoft.com/office/drawing/2014/main" id="{53E53029-3C47-47D1-9082-85120B8B2C23}"/>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60296" y="4466512"/>
            <a:ext cx="378863" cy="310667"/>
          </a:xfrm>
          <a:prstGeom prst="rect">
            <a:avLst/>
          </a:prstGeom>
        </p:spPr>
      </p:pic>
      <p:pic>
        <p:nvPicPr>
          <p:cNvPr id="10" name="图片 48">
            <a:extLst>
              <a:ext uri="{FF2B5EF4-FFF2-40B4-BE49-F238E27FC236}">
                <a16:creationId xmlns="" xmlns:a16="http://schemas.microsoft.com/office/drawing/2014/main" id="{7CA934FF-798A-40A9-8F1C-029C31CDAA1F}"/>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60296" y="5332345"/>
            <a:ext cx="378863" cy="310667"/>
          </a:xfrm>
          <a:prstGeom prst="rect">
            <a:avLst/>
          </a:prstGeom>
        </p:spPr>
      </p:pic>
      <p:pic>
        <p:nvPicPr>
          <p:cNvPr id="11" name="图片 48">
            <a:extLst>
              <a:ext uri="{FF2B5EF4-FFF2-40B4-BE49-F238E27FC236}">
                <a16:creationId xmlns="" xmlns:a16="http://schemas.microsoft.com/office/drawing/2014/main" id="{FC672B40-6CDF-42FC-9997-25A24E20B1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06516" y="4466512"/>
            <a:ext cx="378863" cy="310667"/>
          </a:xfrm>
          <a:prstGeom prst="rect">
            <a:avLst/>
          </a:prstGeom>
        </p:spPr>
      </p:pic>
      <p:pic>
        <p:nvPicPr>
          <p:cNvPr id="12" name="图片 48">
            <a:extLst>
              <a:ext uri="{FF2B5EF4-FFF2-40B4-BE49-F238E27FC236}">
                <a16:creationId xmlns="" xmlns:a16="http://schemas.microsoft.com/office/drawing/2014/main" id="{76FF98B5-0E6E-47E0-9374-35AA6C2B8A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06516" y="5332345"/>
            <a:ext cx="378863" cy="310667"/>
          </a:xfrm>
          <a:prstGeom prst="rect">
            <a:avLst/>
          </a:prstGeom>
        </p:spPr>
      </p:pic>
      <p:pic>
        <p:nvPicPr>
          <p:cNvPr id="13" name="图片 48">
            <a:extLst>
              <a:ext uri="{FF2B5EF4-FFF2-40B4-BE49-F238E27FC236}">
                <a16:creationId xmlns="" xmlns:a16="http://schemas.microsoft.com/office/drawing/2014/main" id="{9F6D41A0-0ED5-4911-8E2D-3E13473441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90518" y="4466512"/>
            <a:ext cx="378863" cy="310667"/>
          </a:xfrm>
          <a:prstGeom prst="rect">
            <a:avLst/>
          </a:prstGeom>
        </p:spPr>
      </p:pic>
      <p:pic>
        <p:nvPicPr>
          <p:cNvPr id="14" name="图片 48">
            <a:extLst>
              <a:ext uri="{FF2B5EF4-FFF2-40B4-BE49-F238E27FC236}">
                <a16:creationId xmlns="" xmlns:a16="http://schemas.microsoft.com/office/drawing/2014/main" id="{E5C527B6-1B83-489D-AF76-FA2058734B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90518" y="5332345"/>
            <a:ext cx="378863" cy="310667"/>
          </a:xfrm>
          <a:prstGeom prst="rect">
            <a:avLst/>
          </a:prstGeom>
        </p:spPr>
      </p:pic>
      <p:pic>
        <p:nvPicPr>
          <p:cNvPr id="15" name="图片 48">
            <a:extLst>
              <a:ext uri="{FF2B5EF4-FFF2-40B4-BE49-F238E27FC236}">
                <a16:creationId xmlns="" xmlns:a16="http://schemas.microsoft.com/office/drawing/2014/main" id="{DF24347F-9647-461C-9838-92D9B823C1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66308" y="4463578"/>
            <a:ext cx="378863" cy="310667"/>
          </a:xfrm>
          <a:prstGeom prst="rect">
            <a:avLst/>
          </a:prstGeom>
        </p:spPr>
      </p:pic>
      <p:pic>
        <p:nvPicPr>
          <p:cNvPr id="16" name="图片 48">
            <a:extLst>
              <a:ext uri="{FF2B5EF4-FFF2-40B4-BE49-F238E27FC236}">
                <a16:creationId xmlns="" xmlns:a16="http://schemas.microsoft.com/office/drawing/2014/main" id="{DBB20826-CFA5-4362-B9BF-4B71CED457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77777" y="5329411"/>
            <a:ext cx="378863" cy="310667"/>
          </a:xfrm>
          <a:prstGeom prst="rect">
            <a:avLst/>
          </a:prstGeom>
        </p:spPr>
      </p:pic>
      <p:pic>
        <p:nvPicPr>
          <p:cNvPr id="17" name="图片 48">
            <a:extLst>
              <a:ext uri="{FF2B5EF4-FFF2-40B4-BE49-F238E27FC236}">
                <a16:creationId xmlns="" xmlns:a16="http://schemas.microsoft.com/office/drawing/2014/main" id="{4BAE879C-69CF-469A-A378-EE01C60BE2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58103" y="5328989"/>
            <a:ext cx="378863" cy="310667"/>
          </a:xfrm>
          <a:prstGeom prst="rect">
            <a:avLst/>
          </a:prstGeom>
        </p:spPr>
      </p:pic>
      <p:pic>
        <p:nvPicPr>
          <p:cNvPr id="18" name="图片 48">
            <a:extLst>
              <a:ext uri="{FF2B5EF4-FFF2-40B4-BE49-F238E27FC236}">
                <a16:creationId xmlns="" xmlns:a16="http://schemas.microsoft.com/office/drawing/2014/main" id="{91950ABB-C69C-472A-BBEF-832D5712809C}"/>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342555" y="4466512"/>
            <a:ext cx="378863" cy="310667"/>
          </a:xfrm>
          <a:prstGeom prst="rect">
            <a:avLst/>
          </a:prstGeom>
        </p:spPr>
      </p:pic>
      <p:pic>
        <p:nvPicPr>
          <p:cNvPr id="19" name="图片 48">
            <a:extLst>
              <a:ext uri="{FF2B5EF4-FFF2-40B4-BE49-F238E27FC236}">
                <a16:creationId xmlns="" xmlns:a16="http://schemas.microsoft.com/office/drawing/2014/main" id="{E3D45111-81E6-4EE9-80B7-4D3EC71F16B8}"/>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342555" y="5332345"/>
            <a:ext cx="378863" cy="310667"/>
          </a:xfrm>
          <a:prstGeom prst="rect">
            <a:avLst/>
          </a:prstGeom>
        </p:spPr>
      </p:pic>
      <p:cxnSp>
        <p:nvCxnSpPr>
          <p:cNvPr id="20" name="Straight Connector 19">
            <a:extLst>
              <a:ext uri="{FF2B5EF4-FFF2-40B4-BE49-F238E27FC236}">
                <a16:creationId xmlns="" xmlns:a16="http://schemas.microsoft.com/office/drawing/2014/main" id="{6561432C-C791-4094-845A-0282343271E6}"/>
              </a:ext>
            </a:extLst>
          </p:cNvPr>
          <p:cNvCxnSpPr>
            <a:cxnSpLocks/>
            <a:stCxn id="9" idx="3"/>
            <a:endCxn id="11" idx="1"/>
          </p:cNvCxnSpPr>
          <p:nvPr/>
        </p:nvCxnSpPr>
        <p:spPr bwMode="gray">
          <a:xfrm>
            <a:off x="3839159" y="4621846"/>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CFBED6CB-A77D-4AE1-B9BC-8E5330DDF0B3}"/>
              </a:ext>
            </a:extLst>
          </p:cNvPr>
          <p:cNvCxnSpPr>
            <a:cxnSpLocks/>
            <a:stCxn id="10" idx="3"/>
            <a:endCxn id="12" idx="1"/>
          </p:cNvCxnSpPr>
          <p:nvPr/>
        </p:nvCxnSpPr>
        <p:spPr bwMode="gray">
          <a:xfrm>
            <a:off x="3839159" y="5487679"/>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DC7DB019-51FB-4F27-9311-3EDDF450A46F}"/>
              </a:ext>
            </a:extLst>
          </p:cNvPr>
          <p:cNvCxnSpPr>
            <a:cxnSpLocks/>
            <a:stCxn id="12" idx="0"/>
            <a:endCxn id="11" idx="2"/>
          </p:cNvCxnSpPr>
          <p:nvPr/>
        </p:nvCxnSpPr>
        <p:spPr bwMode="gray">
          <a:xfrm flipV="1">
            <a:off x="4595948" y="4777179"/>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BB72CFAD-4E6A-4E52-852D-09A9D5420A26}"/>
              </a:ext>
            </a:extLst>
          </p:cNvPr>
          <p:cNvCxnSpPr>
            <a:cxnSpLocks/>
            <a:stCxn id="15" idx="1"/>
            <a:endCxn id="11" idx="3"/>
          </p:cNvCxnSpPr>
          <p:nvPr/>
        </p:nvCxnSpPr>
        <p:spPr bwMode="gray">
          <a:xfrm flipH="1">
            <a:off x="4785379" y="4618912"/>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134F4B3E-644A-4287-ABAA-6F16E36CE7E6}"/>
              </a:ext>
            </a:extLst>
          </p:cNvPr>
          <p:cNvCxnSpPr>
            <a:cxnSpLocks/>
            <a:stCxn id="16" idx="1"/>
            <a:endCxn id="12" idx="3"/>
          </p:cNvCxnSpPr>
          <p:nvPr/>
        </p:nvCxnSpPr>
        <p:spPr bwMode="gray">
          <a:xfrm flipH="1">
            <a:off x="4785379" y="5484745"/>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F4B5DB16-80AB-4CAF-9664-0B733DD792F9}"/>
              </a:ext>
            </a:extLst>
          </p:cNvPr>
          <p:cNvCxnSpPr>
            <a:cxnSpLocks/>
            <a:stCxn id="15" idx="1"/>
            <a:endCxn id="16" idx="0"/>
          </p:cNvCxnSpPr>
          <p:nvPr/>
        </p:nvCxnSpPr>
        <p:spPr bwMode="gray">
          <a:xfrm flipH="1">
            <a:off x="5567209" y="4618912"/>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64D45CAE-B57E-4078-AF4F-EC4647046355}"/>
              </a:ext>
            </a:extLst>
          </p:cNvPr>
          <p:cNvCxnSpPr>
            <a:cxnSpLocks/>
            <a:stCxn id="17" idx="1"/>
            <a:endCxn id="16" idx="3"/>
          </p:cNvCxnSpPr>
          <p:nvPr/>
        </p:nvCxnSpPr>
        <p:spPr bwMode="gray">
          <a:xfrm flipH="1">
            <a:off x="5756640" y="5484323"/>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BC1DD33A-14E0-4F56-8172-B3338A2B3969}"/>
              </a:ext>
            </a:extLst>
          </p:cNvPr>
          <p:cNvCxnSpPr>
            <a:cxnSpLocks/>
            <a:stCxn id="17" idx="0"/>
            <a:endCxn id="15" idx="3"/>
          </p:cNvCxnSpPr>
          <p:nvPr/>
        </p:nvCxnSpPr>
        <p:spPr bwMode="gray">
          <a:xfrm flipH="1" flipV="1">
            <a:off x="6345171" y="4618912"/>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5E55D18A-6886-482E-942A-4E283A30193C}"/>
              </a:ext>
            </a:extLst>
          </p:cNvPr>
          <p:cNvCxnSpPr>
            <a:cxnSpLocks/>
            <a:stCxn id="13" idx="1"/>
            <a:endCxn id="15" idx="3"/>
          </p:cNvCxnSpPr>
          <p:nvPr/>
        </p:nvCxnSpPr>
        <p:spPr bwMode="gray">
          <a:xfrm flipH="1" flipV="1">
            <a:off x="6345171" y="4618912"/>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7EE11036-1A07-4240-853A-56021F2FB5D7}"/>
              </a:ext>
            </a:extLst>
          </p:cNvPr>
          <p:cNvCxnSpPr>
            <a:cxnSpLocks/>
            <a:stCxn id="14" idx="1"/>
            <a:endCxn id="17" idx="3"/>
          </p:cNvCxnSpPr>
          <p:nvPr/>
        </p:nvCxnSpPr>
        <p:spPr bwMode="gray">
          <a:xfrm flipH="1" flipV="1">
            <a:off x="6936966" y="5484323"/>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40A7238B-08A1-49E1-9CA8-77C9B879273C}"/>
              </a:ext>
            </a:extLst>
          </p:cNvPr>
          <p:cNvCxnSpPr>
            <a:cxnSpLocks/>
            <a:stCxn id="13" idx="2"/>
            <a:endCxn id="14" idx="0"/>
          </p:cNvCxnSpPr>
          <p:nvPr/>
        </p:nvCxnSpPr>
        <p:spPr bwMode="gray">
          <a:xfrm>
            <a:off x="7579950" y="4777179"/>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DB283C82-D8E4-4683-811D-1602C44F3327}"/>
              </a:ext>
            </a:extLst>
          </p:cNvPr>
          <p:cNvCxnSpPr>
            <a:cxnSpLocks/>
            <a:stCxn id="13" idx="3"/>
            <a:endCxn id="18" idx="1"/>
          </p:cNvCxnSpPr>
          <p:nvPr/>
        </p:nvCxnSpPr>
        <p:spPr bwMode="gray">
          <a:xfrm>
            <a:off x="7769381" y="4621846"/>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294F30EC-C26D-4769-AD56-A8EE9F69FE43}"/>
              </a:ext>
            </a:extLst>
          </p:cNvPr>
          <p:cNvCxnSpPr>
            <a:cxnSpLocks/>
            <a:stCxn id="14" idx="3"/>
            <a:endCxn id="19" idx="1"/>
          </p:cNvCxnSpPr>
          <p:nvPr/>
        </p:nvCxnSpPr>
        <p:spPr bwMode="gray">
          <a:xfrm>
            <a:off x="7769381" y="5487679"/>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 xmlns:a16="http://schemas.microsoft.com/office/drawing/2014/main" id="{057CC566-C090-4393-8352-B6B694F1CB6E}"/>
              </a:ext>
            </a:extLst>
          </p:cNvPr>
          <p:cNvSpPr/>
          <p:nvPr/>
        </p:nvSpPr>
        <p:spPr bwMode="gray">
          <a:xfrm>
            <a:off x="2763866" y="4393677"/>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图片 51" descr="交换机.png">
            <a:extLst>
              <a:ext uri="{FF2B5EF4-FFF2-40B4-BE49-F238E27FC236}">
                <a16:creationId xmlns="" xmlns:a16="http://schemas.microsoft.com/office/drawing/2014/main" id="{B75BF65A-97D2-4507-B32F-F9270AA972AA}"/>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916131" y="4466512"/>
            <a:ext cx="379705" cy="310667"/>
          </a:xfrm>
          <a:prstGeom prst="rect">
            <a:avLst/>
          </a:prstGeom>
        </p:spPr>
      </p:pic>
      <p:pic>
        <p:nvPicPr>
          <p:cNvPr id="35" name="图片 51" descr="交换机.png">
            <a:extLst>
              <a:ext uri="{FF2B5EF4-FFF2-40B4-BE49-F238E27FC236}">
                <a16:creationId xmlns="" xmlns:a16="http://schemas.microsoft.com/office/drawing/2014/main" id="{7FB362E2-92C7-4D28-83D0-201BCF4EDFAB}"/>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916131" y="4893154"/>
            <a:ext cx="379705" cy="310667"/>
          </a:xfrm>
          <a:prstGeom prst="rect">
            <a:avLst/>
          </a:prstGeom>
        </p:spPr>
      </p:pic>
      <p:pic>
        <p:nvPicPr>
          <p:cNvPr id="36" name="图片 51" descr="交换机.png">
            <a:extLst>
              <a:ext uri="{FF2B5EF4-FFF2-40B4-BE49-F238E27FC236}">
                <a16:creationId xmlns="" xmlns:a16="http://schemas.microsoft.com/office/drawing/2014/main" id="{A16A3F0E-F901-4F8D-9FD4-CDDCD5F3EAC2}"/>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2913252" y="5318121"/>
            <a:ext cx="379705" cy="310667"/>
          </a:xfrm>
          <a:prstGeom prst="rect">
            <a:avLst/>
          </a:prstGeom>
        </p:spPr>
      </p:pic>
      <p:sp>
        <p:nvSpPr>
          <p:cNvPr id="37" name="Rectangle 36">
            <a:extLst>
              <a:ext uri="{FF2B5EF4-FFF2-40B4-BE49-F238E27FC236}">
                <a16:creationId xmlns="" xmlns:a16="http://schemas.microsoft.com/office/drawing/2014/main" id="{D542507A-E442-48B6-88A4-D4B2A8D2F835}"/>
              </a:ext>
            </a:extLst>
          </p:cNvPr>
          <p:cNvSpPr/>
          <p:nvPr/>
        </p:nvSpPr>
        <p:spPr bwMode="gray">
          <a:xfrm>
            <a:off x="8146487" y="4393677"/>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图片 67">
            <a:extLst>
              <a:ext uri="{FF2B5EF4-FFF2-40B4-BE49-F238E27FC236}">
                <a16:creationId xmlns="" xmlns:a16="http://schemas.microsoft.com/office/drawing/2014/main" id="{3D59C7DB-1049-4F42-825A-869C952AF7C3}"/>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903778" y="4469312"/>
            <a:ext cx="375447" cy="307867"/>
          </a:xfrm>
          <a:prstGeom prst="rect">
            <a:avLst/>
          </a:prstGeom>
        </p:spPr>
      </p:pic>
      <p:pic>
        <p:nvPicPr>
          <p:cNvPr id="39" name="图片 67">
            <a:extLst>
              <a:ext uri="{FF2B5EF4-FFF2-40B4-BE49-F238E27FC236}">
                <a16:creationId xmlns="" xmlns:a16="http://schemas.microsoft.com/office/drawing/2014/main" id="{93286E69-90DC-4593-BBF7-19156943158C}"/>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903778" y="4901930"/>
            <a:ext cx="375447" cy="307867"/>
          </a:xfrm>
          <a:prstGeom prst="rect">
            <a:avLst/>
          </a:prstGeom>
        </p:spPr>
      </p:pic>
      <p:pic>
        <p:nvPicPr>
          <p:cNvPr id="40" name="图片 67">
            <a:extLst>
              <a:ext uri="{FF2B5EF4-FFF2-40B4-BE49-F238E27FC236}">
                <a16:creationId xmlns="" xmlns:a16="http://schemas.microsoft.com/office/drawing/2014/main" id="{0C5A0F8A-3D96-4A36-B560-D437D70259F3}"/>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903777" y="5325828"/>
            <a:ext cx="375447" cy="307867"/>
          </a:xfrm>
          <a:prstGeom prst="rect">
            <a:avLst/>
          </a:prstGeom>
        </p:spPr>
      </p:pic>
      <p:sp>
        <p:nvSpPr>
          <p:cNvPr id="41" name="TextBox 271">
            <a:extLst>
              <a:ext uri="{FF2B5EF4-FFF2-40B4-BE49-F238E27FC236}">
                <a16:creationId xmlns="" xmlns:a16="http://schemas.microsoft.com/office/drawing/2014/main" id="{09B62ED3-EFF4-45A9-B60C-5720095D662F}"/>
              </a:ext>
            </a:extLst>
          </p:cNvPr>
          <p:cNvSpPr txBox="1"/>
          <p:nvPr/>
        </p:nvSpPr>
        <p:spPr bwMode="gray">
          <a:xfrm>
            <a:off x="4417052" y="4222597"/>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271">
            <a:extLst>
              <a:ext uri="{FF2B5EF4-FFF2-40B4-BE49-F238E27FC236}">
                <a16:creationId xmlns="" xmlns:a16="http://schemas.microsoft.com/office/drawing/2014/main" id="{D2FBECD0-E629-49AF-8C00-D3D9FA49B3B3}"/>
              </a:ext>
            </a:extLst>
          </p:cNvPr>
          <p:cNvSpPr txBox="1"/>
          <p:nvPr/>
        </p:nvSpPr>
        <p:spPr bwMode="gray">
          <a:xfrm>
            <a:off x="4399880" y="561881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271">
            <a:extLst>
              <a:ext uri="{FF2B5EF4-FFF2-40B4-BE49-F238E27FC236}">
                <a16:creationId xmlns="" xmlns:a16="http://schemas.microsoft.com/office/drawing/2014/main" id="{0535B954-6223-499F-8D61-6941AE43E55C}"/>
              </a:ext>
            </a:extLst>
          </p:cNvPr>
          <p:cNvSpPr txBox="1"/>
          <p:nvPr/>
        </p:nvSpPr>
        <p:spPr bwMode="gray">
          <a:xfrm>
            <a:off x="7388094" y="424011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271">
            <a:extLst>
              <a:ext uri="{FF2B5EF4-FFF2-40B4-BE49-F238E27FC236}">
                <a16:creationId xmlns="" xmlns:a16="http://schemas.microsoft.com/office/drawing/2014/main" id="{50225A37-5188-498F-B6CF-D8F6FA5A7E20}"/>
              </a:ext>
            </a:extLst>
          </p:cNvPr>
          <p:cNvSpPr txBox="1"/>
          <p:nvPr/>
        </p:nvSpPr>
        <p:spPr bwMode="gray">
          <a:xfrm>
            <a:off x="7389693" y="5628788"/>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271">
            <a:extLst>
              <a:ext uri="{FF2B5EF4-FFF2-40B4-BE49-F238E27FC236}">
                <a16:creationId xmlns="" xmlns:a16="http://schemas.microsoft.com/office/drawing/2014/main" id="{BC12E642-0FB5-4659-B6C7-DA4182D34454}"/>
              </a:ext>
            </a:extLst>
          </p:cNvPr>
          <p:cNvSpPr txBox="1"/>
          <p:nvPr/>
        </p:nvSpPr>
        <p:spPr bwMode="gray">
          <a:xfrm>
            <a:off x="6025343" y="4222597"/>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271">
            <a:extLst>
              <a:ext uri="{FF2B5EF4-FFF2-40B4-BE49-F238E27FC236}">
                <a16:creationId xmlns="" xmlns:a16="http://schemas.microsoft.com/office/drawing/2014/main" id="{897CA4B7-E91C-4CFF-B5B4-245EEA7937AB}"/>
              </a:ext>
            </a:extLst>
          </p:cNvPr>
          <p:cNvSpPr txBox="1"/>
          <p:nvPr/>
        </p:nvSpPr>
        <p:spPr bwMode="gray">
          <a:xfrm>
            <a:off x="5427618" y="5606509"/>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271">
            <a:extLst>
              <a:ext uri="{FF2B5EF4-FFF2-40B4-BE49-F238E27FC236}">
                <a16:creationId xmlns="" xmlns:a16="http://schemas.microsoft.com/office/drawing/2014/main" id="{403002DD-50AA-4674-9AE8-12B0E5F560BD}"/>
              </a:ext>
            </a:extLst>
          </p:cNvPr>
          <p:cNvSpPr txBox="1"/>
          <p:nvPr/>
        </p:nvSpPr>
        <p:spPr bwMode="gray">
          <a:xfrm>
            <a:off x="6609280" y="5628544"/>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271">
            <a:extLst>
              <a:ext uri="{FF2B5EF4-FFF2-40B4-BE49-F238E27FC236}">
                <a16:creationId xmlns="" xmlns:a16="http://schemas.microsoft.com/office/drawing/2014/main" id="{16DD97E8-2E1D-4EAE-9E1A-24BC7238D186}"/>
              </a:ext>
            </a:extLst>
          </p:cNvPr>
          <p:cNvSpPr txBox="1"/>
          <p:nvPr/>
        </p:nvSpPr>
        <p:spPr bwMode="gray">
          <a:xfrm>
            <a:off x="4358303" y="3824389"/>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pic>
        <p:nvPicPr>
          <p:cNvPr id="49" name="图片 48">
            <a:extLst>
              <a:ext uri="{FF2B5EF4-FFF2-40B4-BE49-F238E27FC236}">
                <a16:creationId xmlns="" xmlns:a16="http://schemas.microsoft.com/office/drawing/2014/main" id="{CE7F8A20-63AC-4C5B-8026-2AF000B372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961283" y="4972694"/>
            <a:ext cx="378863" cy="310667"/>
          </a:xfrm>
          <a:prstGeom prst="rect">
            <a:avLst/>
          </a:prstGeom>
        </p:spPr>
      </p:pic>
      <p:sp>
        <p:nvSpPr>
          <p:cNvPr id="50" name="TextBox 271">
            <a:extLst>
              <a:ext uri="{FF2B5EF4-FFF2-40B4-BE49-F238E27FC236}">
                <a16:creationId xmlns="" xmlns:a16="http://schemas.microsoft.com/office/drawing/2014/main" id="{6B301EEA-D356-41F9-84CC-10344EC18DD1}"/>
              </a:ext>
            </a:extLst>
          </p:cNvPr>
          <p:cNvSpPr txBox="1"/>
          <p:nvPr/>
        </p:nvSpPr>
        <p:spPr bwMode="gray">
          <a:xfrm>
            <a:off x="5967538" y="5234459"/>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Straight Connector 50">
            <a:extLst>
              <a:ext uri="{FF2B5EF4-FFF2-40B4-BE49-F238E27FC236}">
                <a16:creationId xmlns="" xmlns:a16="http://schemas.microsoft.com/office/drawing/2014/main" id="{DB0BACD3-2927-478D-BECE-722175FE1FCF}"/>
              </a:ext>
            </a:extLst>
          </p:cNvPr>
          <p:cNvCxnSpPr>
            <a:cxnSpLocks/>
            <a:stCxn id="15" idx="2"/>
            <a:endCxn id="49" idx="0"/>
          </p:cNvCxnSpPr>
          <p:nvPr/>
        </p:nvCxnSpPr>
        <p:spPr bwMode="gray">
          <a:xfrm flipH="1">
            <a:off x="6150715" y="4774245"/>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6" name="图片 24">
            <a:extLst>
              <a:ext uri="{FF2B5EF4-FFF2-40B4-BE49-F238E27FC236}">
                <a16:creationId xmlns="" xmlns:a16="http://schemas.microsoft.com/office/drawing/2014/main" id="{7A51F4DC-9E57-4C6C-918A-2E6F3E2BBD5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118268" y="2463720"/>
            <a:ext cx="1977229" cy="364654"/>
          </a:xfrm>
          <a:prstGeom prst="rect">
            <a:avLst/>
          </a:prstGeom>
        </p:spPr>
      </p:pic>
      <p:sp>
        <p:nvSpPr>
          <p:cNvPr id="57" name="圆角矩形 75">
            <a:extLst>
              <a:ext uri="{FF2B5EF4-FFF2-40B4-BE49-F238E27FC236}">
                <a16:creationId xmlns="" xmlns:a16="http://schemas.microsoft.com/office/drawing/2014/main" id="{0A0F2022-2D57-4419-A503-A3B333B28103}"/>
              </a:ext>
            </a:extLst>
          </p:cNvPr>
          <p:cNvSpPr/>
          <p:nvPr/>
        </p:nvSpPr>
        <p:spPr bwMode="gray">
          <a:xfrm>
            <a:off x="5036278" y="2437374"/>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59" name="Straight Connector 58">
            <a:extLst>
              <a:ext uri="{FF2B5EF4-FFF2-40B4-BE49-F238E27FC236}">
                <a16:creationId xmlns="" xmlns:a16="http://schemas.microsoft.com/office/drawing/2014/main" id="{0690994B-C188-4D94-B260-807AC7E22D4A}"/>
              </a:ext>
            </a:extLst>
          </p:cNvPr>
          <p:cNvCxnSpPr>
            <a:cxnSpLocks/>
            <a:stCxn id="8" idx="0"/>
            <a:endCxn id="57" idx="2"/>
          </p:cNvCxnSpPr>
          <p:nvPr/>
        </p:nvCxnSpPr>
        <p:spPr bwMode="gray">
          <a:xfrm flipV="1">
            <a:off x="6094237" y="2840654"/>
            <a:ext cx="0" cy="128492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 xmlns:a16="http://schemas.microsoft.com/office/drawing/2014/main" id="{C5B796BB-FC16-42C3-9511-B44C908A2DAE}"/>
              </a:ext>
            </a:extLst>
          </p:cNvPr>
          <p:cNvCxnSpPr/>
          <p:nvPr/>
        </p:nvCxnSpPr>
        <p:spPr bwMode="gray">
          <a:xfrm flipV="1">
            <a:off x="5895975" y="2967037"/>
            <a:ext cx="0" cy="1000125"/>
          </a:xfrm>
          <a:prstGeom prst="straightConnector1">
            <a:avLst/>
          </a:prstGeom>
          <a:ln w="28575">
            <a:solidFill>
              <a:srgbClr val="F28944"/>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271">
            <a:extLst>
              <a:ext uri="{FF2B5EF4-FFF2-40B4-BE49-F238E27FC236}">
                <a16:creationId xmlns="" xmlns:a16="http://schemas.microsoft.com/office/drawing/2014/main" id="{2A22E2EE-864C-4B32-BB05-FAB305226775}"/>
              </a:ext>
            </a:extLst>
          </p:cNvPr>
          <p:cNvSpPr txBox="1"/>
          <p:nvPr/>
        </p:nvSpPr>
        <p:spPr bwMode="gray">
          <a:xfrm>
            <a:off x="5260073" y="3328372"/>
            <a:ext cx="614271"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SNMP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Straight Arrow Connector 71">
            <a:extLst>
              <a:ext uri="{FF2B5EF4-FFF2-40B4-BE49-F238E27FC236}">
                <a16:creationId xmlns="" xmlns:a16="http://schemas.microsoft.com/office/drawing/2014/main" id="{7C032C50-9930-4142-842F-C2D62F937C14}"/>
              </a:ext>
            </a:extLst>
          </p:cNvPr>
          <p:cNvCxnSpPr/>
          <p:nvPr/>
        </p:nvCxnSpPr>
        <p:spPr bwMode="gray">
          <a:xfrm flipV="1">
            <a:off x="6296026" y="2967037"/>
            <a:ext cx="0" cy="1000125"/>
          </a:xfrm>
          <a:prstGeom prst="straightConnector1">
            <a:avLst/>
          </a:prstGeom>
          <a:ln w="28575">
            <a:solidFill>
              <a:srgbClr val="AFD89C"/>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271">
            <a:extLst>
              <a:ext uri="{FF2B5EF4-FFF2-40B4-BE49-F238E27FC236}">
                <a16:creationId xmlns="" xmlns:a16="http://schemas.microsoft.com/office/drawing/2014/main" id="{2CFA8360-DCA9-4517-BC25-75DB8EABC5B9}"/>
              </a:ext>
            </a:extLst>
          </p:cNvPr>
          <p:cNvSpPr txBox="1"/>
          <p:nvPr/>
        </p:nvSpPr>
        <p:spPr bwMode="gray">
          <a:xfrm>
            <a:off x="6298175" y="3321707"/>
            <a:ext cx="886781"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Telemetry</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Rectangular Callout 26">
            <a:extLst>
              <a:ext uri="{FF2B5EF4-FFF2-40B4-BE49-F238E27FC236}">
                <a16:creationId xmlns="" xmlns:a16="http://schemas.microsoft.com/office/drawing/2014/main" id="{D8CEDA13-8613-4502-9706-08D68B583CA2}"/>
              </a:ext>
            </a:extLst>
          </p:cNvPr>
          <p:cNvSpPr/>
          <p:nvPr/>
        </p:nvSpPr>
        <p:spPr bwMode="gray">
          <a:xfrm>
            <a:off x="7340612" y="3134323"/>
            <a:ext cx="1432415" cy="714035"/>
          </a:xfrm>
          <a:prstGeom prst="wedgeRectCallout">
            <a:avLst>
              <a:gd name="adj1" fmla="val -63484"/>
              <a:gd name="adj2" fmla="val -470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秒级检测，包括</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隧道在内的网络性能</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5" name="Rectangular Callout 26">
            <a:extLst>
              <a:ext uri="{FF2B5EF4-FFF2-40B4-BE49-F238E27FC236}">
                <a16:creationId xmlns="" xmlns:a16="http://schemas.microsoft.com/office/drawing/2014/main" id="{912D9709-AC2C-41A9-859F-C0E68F8F17AD}"/>
              </a:ext>
            </a:extLst>
          </p:cNvPr>
          <p:cNvSpPr/>
          <p:nvPr/>
        </p:nvSpPr>
        <p:spPr bwMode="gray">
          <a:xfrm>
            <a:off x="3869735" y="3094903"/>
            <a:ext cx="1283564" cy="497784"/>
          </a:xfrm>
          <a:prstGeom prst="wedgeRectCallout">
            <a:avLst>
              <a:gd name="adj1" fmla="val 60199"/>
              <a:gd name="adj2" fmla="val 1530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用于检测常用的设备性能</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76" name="Straight Arrow Connector 75">
            <a:extLst>
              <a:ext uri="{FF2B5EF4-FFF2-40B4-BE49-F238E27FC236}">
                <a16:creationId xmlns="" xmlns:a16="http://schemas.microsoft.com/office/drawing/2014/main" id="{F86E66BE-6991-4F62-9184-0A71FF387910}"/>
              </a:ext>
            </a:extLst>
          </p:cNvPr>
          <p:cNvCxnSpPr>
            <a:cxnSpLocks/>
          </p:cNvCxnSpPr>
          <p:nvPr/>
        </p:nvCxnSpPr>
        <p:spPr bwMode="gray">
          <a:xfrm flipV="1">
            <a:off x="4895851" y="4539702"/>
            <a:ext cx="870907" cy="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 xmlns:a16="http://schemas.microsoft.com/office/drawing/2014/main" id="{09D3C56D-86C3-4558-B1BB-44419FAB2CF7}"/>
              </a:ext>
            </a:extLst>
          </p:cNvPr>
          <p:cNvCxnSpPr>
            <a:cxnSpLocks/>
          </p:cNvCxnSpPr>
          <p:nvPr/>
        </p:nvCxnSpPr>
        <p:spPr bwMode="gray">
          <a:xfrm flipV="1">
            <a:off x="6446658" y="4539702"/>
            <a:ext cx="870907" cy="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9" name="TextBox 271">
            <a:extLst>
              <a:ext uri="{FF2B5EF4-FFF2-40B4-BE49-F238E27FC236}">
                <a16:creationId xmlns="" xmlns:a16="http://schemas.microsoft.com/office/drawing/2014/main" id="{FEAE4C1F-4B98-4B67-8349-89FEF9BED862}"/>
              </a:ext>
            </a:extLst>
          </p:cNvPr>
          <p:cNvSpPr txBox="1"/>
          <p:nvPr/>
        </p:nvSpPr>
        <p:spPr bwMode="gray">
          <a:xfrm>
            <a:off x="5001712" y="4262704"/>
            <a:ext cx="752129"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TWAMP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271">
            <a:extLst>
              <a:ext uri="{FF2B5EF4-FFF2-40B4-BE49-F238E27FC236}">
                <a16:creationId xmlns="" xmlns:a16="http://schemas.microsoft.com/office/drawing/2014/main" id="{2D579518-CFA3-4F2E-952A-B5760BCBB182}"/>
              </a:ext>
            </a:extLst>
          </p:cNvPr>
          <p:cNvSpPr txBox="1"/>
          <p:nvPr/>
        </p:nvSpPr>
        <p:spPr bwMode="gray">
          <a:xfrm>
            <a:off x="6500182" y="4284763"/>
            <a:ext cx="752129"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TWAMP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Rectangular Callout 26">
            <a:extLst>
              <a:ext uri="{FF2B5EF4-FFF2-40B4-BE49-F238E27FC236}">
                <a16:creationId xmlns="" xmlns:a16="http://schemas.microsoft.com/office/drawing/2014/main" id="{5FB64E92-DBB8-4F2D-AC5F-84C2125A81E0}"/>
              </a:ext>
            </a:extLst>
          </p:cNvPr>
          <p:cNvSpPr/>
          <p:nvPr/>
        </p:nvSpPr>
        <p:spPr bwMode="gray">
          <a:xfrm>
            <a:off x="6994026" y="4749774"/>
            <a:ext cx="1151401" cy="547613"/>
          </a:xfrm>
          <a:prstGeom prst="wedgeRectCallout">
            <a:avLst>
              <a:gd name="adj1" fmla="val -36886"/>
              <a:gd name="adj2" fmla="val -6873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检测网络链路质量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311957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网络性能监控设计</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a:xfrm>
            <a:off x="455612" y="1047751"/>
            <a:ext cx="11293475" cy="2277518"/>
          </a:xfrm>
        </p:spPr>
        <p:txBody>
          <a:bodyPr/>
          <a:lstStyle/>
          <a:p>
            <a:r>
              <a:rPr lang="zh-CN" altLang="en-US" sz="1800" dirty="0"/>
              <a:t>对于广域网业务，比较重要的几个性能指标是：</a:t>
            </a:r>
            <a:endParaRPr lang="en-US" altLang="zh-CN" sz="1800" dirty="0"/>
          </a:p>
          <a:p>
            <a:pPr lvl="1"/>
            <a:r>
              <a:rPr lang="zh-CN" altLang="en-US" sz="1600" dirty="0"/>
              <a:t>链路带宽利用率：使用</a:t>
            </a:r>
            <a:r>
              <a:rPr lang="en-US" altLang="zh-CN" sz="1600" dirty="0"/>
              <a:t>Telemetry</a:t>
            </a:r>
            <a:r>
              <a:rPr lang="zh-CN" altLang="en-US" sz="1600" dirty="0"/>
              <a:t>监控</a:t>
            </a:r>
            <a:endParaRPr lang="en-US" altLang="zh-CN" sz="1600" dirty="0"/>
          </a:p>
          <a:p>
            <a:pPr lvl="1"/>
            <a:r>
              <a:rPr lang="zh-CN" altLang="en-US" sz="1600" dirty="0"/>
              <a:t>链路时延：使用</a:t>
            </a:r>
            <a:r>
              <a:rPr lang="en-US" altLang="zh-CN" sz="1600" dirty="0"/>
              <a:t>TWAMP</a:t>
            </a:r>
            <a:r>
              <a:rPr lang="zh-CN" altLang="en-US" sz="1600" dirty="0"/>
              <a:t>监控</a:t>
            </a:r>
            <a:endParaRPr lang="en-US" altLang="zh-CN" sz="1600" dirty="0"/>
          </a:p>
          <a:p>
            <a:pPr lvl="1"/>
            <a:r>
              <a:rPr lang="zh-CN" altLang="en-US" sz="1600" dirty="0"/>
              <a:t>隧道带宽利用率：使用</a:t>
            </a:r>
            <a:r>
              <a:rPr lang="en-US" altLang="zh-CN" sz="1600" dirty="0"/>
              <a:t>Telemetry</a:t>
            </a:r>
            <a:r>
              <a:rPr lang="zh-CN" altLang="en-US" sz="1600" dirty="0"/>
              <a:t>监控</a:t>
            </a:r>
            <a:endParaRPr lang="en-US" altLang="zh-CN" sz="1600" dirty="0"/>
          </a:p>
          <a:p>
            <a:pPr lvl="1"/>
            <a:r>
              <a:rPr lang="zh-CN" altLang="en-US" sz="1600" dirty="0"/>
              <a:t>隧道丢包率：使用</a:t>
            </a:r>
            <a:r>
              <a:rPr lang="en-US" altLang="zh-CN" sz="1600" dirty="0"/>
              <a:t>Telemetry</a:t>
            </a:r>
            <a:r>
              <a:rPr lang="zh-CN" altLang="en-US" sz="1600" dirty="0"/>
              <a:t>监控</a:t>
            </a:r>
            <a:endParaRPr lang="en-US" sz="16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Rectangle: Rounded Corners 64">
            <a:extLst>
              <a:ext uri="{FF2B5EF4-FFF2-40B4-BE49-F238E27FC236}">
                <a16:creationId xmlns="" xmlns:a16="http://schemas.microsoft.com/office/drawing/2014/main" id="{DE660DC3-8548-4987-9731-77CAF5DAA016}"/>
              </a:ext>
            </a:extLst>
          </p:cNvPr>
          <p:cNvSpPr/>
          <p:nvPr/>
        </p:nvSpPr>
        <p:spPr bwMode="gray">
          <a:xfrm>
            <a:off x="6260339" y="3068524"/>
            <a:ext cx="3738911" cy="1963404"/>
          </a:xfrm>
          <a:prstGeom prst="roundRect">
            <a:avLst>
              <a:gd name="adj" fmla="val 1880"/>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图片 48">
            <a:extLst>
              <a:ext uri="{FF2B5EF4-FFF2-40B4-BE49-F238E27FC236}">
                <a16:creationId xmlns="" xmlns:a16="http://schemas.microsoft.com/office/drawing/2014/main" id="{FAC64056-A3B6-4853-9775-7C367EC895D5}"/>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495854" y="3409457"/>
            <a:ext cx="378863" cy="310667"/>
          </a:xfrm>
          <a:prstGeom prst="rect">
            <a:avLst/>
          </a:prstGeom>
        </p:spPr>
      </p:pic>
      <p:pic>
        <p:nvPicPr>
          <p:cNvPr id="67" name="图片 48">
            <a:extLst>
              <a:ext uri="{FF2B5EF4-FFF2-40B4-BE49-F238E27FC236}">
                <a16:creationId xmlns="" xmlns:a16="http://schemas.microsoft.com/office/drawing/2014/main" id="{9E631A64-3C84-413A-B51B-0F441536F461}"/>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495854" y="4275290"/>
            <a:ext cx="378863" cy="310667"/>
          </a:xfrm>
          <a:prstGeom prst="rect">
            <a:avLst/>
          </a:prstGeom>
        </p:spPr>
      </p:pic>
      <p:pic>
        <p:nvPicPr>
          <p:cNvPr id="68" name="图片 48">
            <a:extLst>
              <a:ext uri="{FF2B5EF4-FFF2-40B4-BE49-F238E27FC236}">
                <a16:creationId xmlns="" xmlns:a16="http://schemas.microsoft.com/office/drawing/2014/main" id="{DDDCB1CB-EA38-4C73-806F-362BDC2E1A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42074" y="3409457"/>
            <a:ext cx="378863" cy="310667"/>
          </a:xfrm>
          <a:prstGeom prst="rect">
            <a:avLst/>
          </a:prstGeom>
        </p:spPr>
      </p:pic>
      <p:pic>
        <p:nvPicPr>
          <p:cNvPr id="69" name="图片 48">
            <a:extLst>
              <a:ext uri="{FF2B5EF4-FFF2-40B4-BE49-F238E27FC236}">
                <a16:creationId xmlns="" xmlns:a16="http://schemas.microsoft.com/office/drawing/2014/main" id="{33BF89D3-5746-4C2A-8FE2-3E1F7E4FE9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42074" y="4275290"/>
            <a:ext cx="378863" cy="310667"/>
          </a:xfrm>
          <a:prstGeom prst="rect">
            <a:avLst/>
          </a:prstGeom>
        </p:spPr>
      </p:pic>
      <p:pic>
        <p:nvPicPr>
          <p:cNvPr id="77" name="图片 48">
            <a:extLst>
              <a:ext uri="{FF2B5EF4-FFF2-40B4-BE49-F238E27FC236}">
                <a16:creationId xmlns="" xmlns:a16="http://schemas.microsoft.com/office/drawing/2014/main" id="{D1F4A580-A5B8-4B51-8791-99B990D629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426076" y="3409457"/>
            <a:ext cx="378863" cy="310667"/>
          </a:xfrm>
          <a:prstGeom prst="rect">
            <a:avLst/>
          </a:prstGeom>
        </p:spPr>
      </p:pic>
      <p:pic>
        <p:nvPicPr>
          <p:cNvPr id="82" name="图片 48">
            <a:extLst>
              <a:ext uri="{FF2B5EF4-FFF2-40B4-BE49-F238E27FC236}">
                <a16:creationId xmlns="" xmlns:a16="http://schemas.microsoft.com/office/drawing/2014/main" id="{31886031-4F08-43CC-B8D6-6BE1427F8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426076" y="4275290"/>
            <a:ext cx="378863" cy="310667"/>
          </a:xfrm>
          <a:prstGeom prst="rect">
            <a:avLst/>
          </a:prstGeom>
        </p:spPr>
      </p:pic>
      <p:pic>
        <p:nvPicPr>
          <p:cNvPr id="83" name="图片 48">
            <a:extLst>
              <a:ext uri="{FF2B5EF4-FFF2-40B4-BE49-F238E27FC236}">
                <a16:creationId xmlns="" xmlns:a16="http://schemas.microsoft.com/office/drawing/2014/main" id="{6758F616-15B2-4BD1-8D26-B3C477648D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01866" y="3406523"/>
            <a:ext cx="378863" cy="310667"/>
          </a:xfrm>
          <a:prstGeom prst="rect">
            <a:avLst/>
          </a:prstGeom>
        </p:spPr>
      </p:pic>
      <p:pic>
        <p:nvPicPr>
          <p:cNvPr id="84" name="图片 48">
            <a:extLst>
              <a:ext uri="{FF2B5EF4-FFF2-40B4-BE49-F238E27FC236}">
                <a16:creationId xmlns="" xmlns:a16="http://schemas.microsoft.com/office/drawing/2014/main" id="{B6B232AC-41BF-4343-B72A-49ECE9BF0F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13335" y="4272356"/>
            <a:ext cx="378863" cy="310667"/>
          </a:xfrm>
          <a:prstGeom prst="rect">
            <a:avLst/>
          </a:prstGeom>
        </p:spPr>
      </p:pic>
      <p:pic>
        <p:nvPicPr>
          <p:cNvPr id="85" name="图片 48">
            <a:extLst>
              <a:ext uri="{FF2B5EF4-FFF2-40B4-BE49-F238E27FC236}">
                <a16:creationId xmlns="" xmlns:a16="http://schemas.microsoft.com/office/drawing/2014/main" id="{4CC7A706-B128-4C75-A2C0-FBB919DD98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593661" y="4271934"/>
            <a:ext cx="378863" cy="310667"/>
          </a:xfrm>
          <a:prstGeom prst="rect">
            <a:avLst/>
          </a:prstGeom>
        </p:spPr>
      </p:pic>
      <p:pic>
        <p:nvPicPr>
          <p:cNvPr id="86" name="图片 48">
            <a:extLst>
              <a:ext uri="{FF2B5EF4-FFF2-40B4-BE49-F238E27FC236}">
                <a16:creationId xmlns="" xmlns:a16="http://schemas.microsoft.com/office/drawing/2014/main" id="{2A524E2B-A56F-4A1F-B3A7-9A26275AE0DB}"/>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378113" y="3409457"/>
            <a:ext cx="378863" cy="310667"/>
          </a:xfrm>
          <a:prstGeom prst="rect">
            <a:avLst/>
          </a:prstGeom>
        </p:spPr>
      </p:pic>
      <p:pic>
        <p:nvPicPr>
          <p:cNvPr id="87" name="图片 48">
            <a:extLst>
              <a:ext uri="{FF2B5EF4-FFF2-40B4-BE49-F238E27FC236}">
                <a16:creationId xmlns="" xmlns:a16="http://schemas.microsoft.com/office/drawing/2014/main" id="{3F793EAF-158B-46C2-82C4-B6D2FB75EFC0}"/>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378113" y="4275290"/>
            <a:ext cx="378863" cy="310667"/>
          </a:xfrm>
          <a:prstGeom prst="rect">
            <a:avLst/>
          </a:prstGeom>
        </p:spPr>
      </p:pic>
      <p:cxnSp>
        <p:nvCxnSpPr>
          <p:cNvPr id="88" name="Straight Connector 87">
            <a:extLst>
              <a:ext uri="{FF2B5EF4-FFF2-40B4-BE49-F238E27FC236}">
                <a16:creationId xmlns="" xmlns:a16="http://schemas.microsoft.com/office/drawing/2014/main" id="{D9563D9F-82A1-4A12-B7C8-243602164D52}"/>
              </a:ext>
            </a:extLst>
          </p:cNvPr>
          <p:cNvCxnSpPr>
            <a:cxnSpLocks/>
            <a:stCxn id="66" idx="3"/>
            <a:endCxn id="68" idx="1"/>
          </p:cNvCxnSpPr>
          <p:nvPr/>
        </p:nvCxnSpPr>
        <p:spPr bwMode="gray">
          <a:xfrm>
            <a:off x="5874717" y="3564791"/>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 xmlns:a16="http://schemas.microsoft.com/office/drawing/2014/main" id="{BA02ED78-6AEB-44FE-B406-81F0DFBC6AD2}"/>
              </a:ext>
            </a:extLst>
          </p:cNvPr>
          <p:cNvCxnSpPr>
            <a:cxnSpLocks/>
            <a:stCxn id="67" idx="3"/>
            <a:endCxn id="69" idx="1"/>
          </p:cNvCxnSpPr>
          <p:nvPr/>
        </p:nvCxnSpPr>
        <p:spPr bwMode="gray">
          <a:xfrm>
            <a:off x="5874717" y="4430624"/>
            <a:ext cx="567357"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D85A1E50-A4AF-4807-BD4B-2E8BC65DFDE0}"/>
              </a:ext>
            </a:extLst>
          </p:cNvPr>
          <p:cNvCxnSpPr>
            <a:cxnSpLocks/>
            <a:stCxn id="69" idx="0"/>
            <a:endCxn id="68" idx="2"/>
          </p:cNvCxnSpPr>
          <p:nvPr/>
        </p:nvCxnSpPr>
        <p:spPr bwMode="gray">
          <a:xfrm flipV="1">
            <a:off x="6631506" y="3720124"/>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24E8F65B-F7F7-43D4-BF77-AED8928BF9B2}"/>
              </a:ext>
            </a:extLst>
          </p:cNvPr>
          <p:cNvCxnSpPr>
            <a:cxnSpLocks/>
            <a:stCxn id="83" idx="1"/>
            <a:endCxn id="68" idx="3"/>
          </p:cNvCxnSpPr>
          <p:nvPr/>
        </p:nvCxnSpPr>
        <p:spPr bwMode="gray">
          <a:xfrm flipH="1">
            <a:off x="6820937" y="3561857"/>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 xmlns:a16="http://schemas.microsoft.com/office/drawing/2014/main" id="{99BBCEE7-1DA5-4BD4-BB4A-2BE91F8C09E5}"/>
              </a:ext>
            </a:extLst>
          </p:cNvPr>
          <p:cNvCxnSpPr>
            <a:cxnSpLocks/>
            <a:stCxn id="84" idx="1"/>
            <a:endCxn id="69" idx="3"/>
          </p:cNvCxnSpPr>
          <p:nvPr/>
        </p:nvCxnSpPr>
        <p:spPr bwMode="gray">
          <a:xfrm flipH="1">
            <a:off x="6820937" y="4427690"/>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 xmlns:a16="http://schemas.microsoft.com/office/drawing/2014/main" id="{B55EF57C-C691-4F67-B7CB-19400D225DE8}"/>
              </a:ext>
            </a:extLst>
          </p:cNvPr>
          <p:cNvCxnSpPr>
            <a:cxnSpLocks/>
            <a:stCxn id="83" idx="1"/>
            <a:endCxn id="84" idx="0"/>
          </p:cNvCxnSpPr>
          <p:nvPr/>
        </p:nvCxnSpPr>
        <p:spPr bwMode="gray">
          <a:xfrm flipH="1">
            <a:off x="7602767" y="3561857"/>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 xmlns:a16="http://schemas.microsoft.com/office/drawing/2014/main" id="{B4A06594-424A-4C58-A88A-953B97E691D8}"/>
              </a:ext>
            </a:extLst>
          </p:cNvPr>
          <p:cNvCxnSpPr>
            <a:cxnSpLocks/>
            <a:stCxn id="85" idx="1"/>
            <a:endCxn id="84" idx="3"/>
          </p:cNvCxnSpPr>
          <p:nvPr/>
        </p:nvCxnSpPr>
        <p:spPr bwMode="gray">
          <a:xfrm flipH="1">
            <a:off x="7792198" y="4427268"/>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89EE5BB2-A900-4A0D-B01D-CCC1BB899CF3}"/>
              </a:ext>
            </a:extLst>
          </p:cNvPr>
          <p:cNvCxnSpPr>
            <a:cxnSpLocks/>
            <a:stCxn id="85" idx="0"/>
            <a:endCxn id="83" idx="3"/>
          </p:cNvCxnSpPr>
          <p:nvPr/>
        </p:nvCxnSpPr>
        <p:spPr bwMode="gray">
          <a:xfrm flipH="1" flipV="1">
            <a:off x="8380729" y="3561857"/>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39F16647-7F5B-4BE5-94D9-2547258E4364}"/>
              </a:ext>
            </a:extLst>
          </p:cNvPr>
          <p:cNvCxnSpPr>
            <a:cxnSpLocks/>
            <a:stCxn id="77" idx="1"/>
            <a:endCxn id="83" idx="3"/>
          </p:cNvCxnSpPr>
          <p:nvPr/>
        </p:nvCxnSpPr>
        <p:spPr bwMode="gray">
          <a:xfrm flipH="1" flipV="1">
            <a:off x="8380729" y="3561857"/>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 xmlns:a16="http://schemas.microsoft.com/office/drawing/2014/main" id="{8E0FCE89-EF21-40B7-B6B0-19781362CCC7}"/>
              </a:ext>
            </a:extLst>
          </p:cNvPr>
          <p:cNvCxnSpPr>
            <a:cxnSpLocks/>
            <a:stCxn id="82" idx="1"/>
            <a:endCxn id="85" idx="3"/>
          </p:cNvCxnSpPr>
          <p:nvPr/>
        </p:nvCxnSpPr>
        <p:spPr bwMode="gray">
          <a:xfrm flipH="1" flipV="1">
            <a:off x="8972524" y="4427268"/>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 xmlns:a16="http://schemas.microsoft.com/office/drawing/2014/main" id="{D8C3B600-FFFE-45E3-9E88-5BFFB9B4D8D4}"/>
              </a:ext>
            </a:extLst>
          </p:cNvPr>
          <p:cNvCxnSpPr>
            <a:cxnSpLocks/>
            <a:stCxn id="77" idx="2"/>
            <a:endCxn id="82" idx="0"/>
          </p:cNvCxnSpPr>
          <p:nvPr/>
        </p:nvCxnSpPr>
        <p:spPr bwMode="gray">
          <a:xfrm>
            <a:off x="9615508" y="3720124"/>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2AE799DA-07B0-47F6-A421-66E2974664D4}"/>
              </a:ext>
            </a:extLst>
          </p:cNvPr>
          <p:cNvCxnSpPr>
            <a:cxnSpLocks/>
            <a:stCxn id="77" idx="3"/>
            <a:endCxn id="86" idx="1"/>
          </p:cNvCxnSpPr>
          <p:nvPr/>
        </p:nvCxnSpPr>
        <p:spPr bwMode="gray">
          <a:xfrm>
            <a:off x="9804939" y="3564791"/>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66B99C75-070F-4CF3-B377-D9AFDF4C26D6}"/>
              </a:ext>
            </a:extLst>
          </p:cNvPr>
          <p:cNvCxnSpPr>
            <a:cxnSpLocks/>
            <a:stCxn id="82" idx="3"/>
            <a:endCxn id="87" idx="1"/>
          </p:cNvCxnSpPr>
          <p:nvPr/>
        </p:nvCxnSpPr>
        <p:spPr bwMode="gray">
          <a:xfrm>
            <a:off x="9804939" y="4430624"/>
            <a:ext cx="57317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1" name="Rectangle 100">
            <a:extLst>
              <a:ext uri="{FF2B5EF4-FFF2-40B4-BE49-F238E27FC236}">
                <a16:creationId xmlns="" xmlns:a16="http://schemas.microsoft.com/office/drawing/2014/main" id="{018A7B59-7CD7-41B5-A85E-CDE17BFEEFED}"/>
              </a:ext>
            </a:extLst>
          </p:cNvPr>
          <p:cNvSpPr/>
          <p:nvPr/>
        </p:nvSpPr>
        <p:spPr bwMode="gray">
          <a:xfrm>
            <a:off x="4799424" y="3336622"/>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图片 51" descr="交换机.png">
            <a:extLst>
              <a:ext uri="{FF2B5EF4-FFF2-40B4-BE49-F238E27FC236}">
                <a16:creationId xmlns="" xmlns:a16="http://schemas.microsoft.com/office/drawing/2014/main" id="{2ABC4DAA-C62E-47D9-A842-287DC9637277}"/>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4951689" y="3409457"/>
            <a:ext cx="379705" cy="310667"/>
          </a:xfrm>
          <a:prstGeom prst="rect">
            <a:avLst/>
          </a:prstGeom>
        </p:spPr>
      </p:pic>
      <p:pic>
        <p:nvPicPr>
          <p:cNvPr id="103" name="图片 51" descr="交换机.png">
            <a:extLst>
              <a:ext uri="{FF2B5EF4-FFF2-40B4-BE49-F238E27FC236}">
                <a16:creationId xmlns="" xmlns:a16="http://schemas.microsoft.com/office/drawing/2014/main" id="{D14CEC0F-4E45-4455-8433-9ED430F700C0}"/>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4951689" y="3836099"/>
            <a:ext cx="379705" cy="310667"/>
          </a:xfrm>
          <a:prstGeom prst="rect">
            <a:avLst/>
          </a:prstGeom>
        </p:spPr>
      </p:pic>
      <p:pic>
        <p:nvPicPr>
          <p:cNvPr id="104" name="图片 51" descr="交换机.png">
            <a:extLst>
              <a:ext uri="{FF2B5EF4-FFF2-40B4-BE49-F238E27FC236}">
                <a16:creationId xmlns="" xmlns:a16="http://schemas.microsoft.com/office/drawing/2014/main" id="{781734A5-BCA6-45A1-87E6-EDE2145BBFD5}"/>
              </a:ext>
            </a:extLst>
          </p:cNvPr>
          <p:cNvPicPr>
            <a:picLocks noChangeAspect="1"/>
          </p:cNvPicPr>
          <p:nvPr/>
        </p:nvPicPr>
        <p:blipFill>
          <a:blip r:embed="rId4" cstate="print">
            <a:duotone>
              <a:schemeClr val="bg2">
                <a:shade val="45000"/>
                <a:satMod val="135000"/>
              </a:schemeClr>
              <a:prstClr val="white"/>
            </a:duotone>
          </a:blip>
          <a:stretch>
            <a:fillRect/>
          </a:stretch>
        </p:blipFill>
        <p:spPr bwMode="gray">
          <a:xfrm>
            <a:off x="4948810" y="4261066"/>
            <a:ext cx="379705" cy="310667"/>
          </a:xfrm>
          <a:prstGeom prst="rect">
            <a:avLst/>
          </a:prstGeom>
        </p:spPr>
      </p:pic>
      <p:sp>
        <p:nvSpPr>
          <p:cNvPr id="105" name="Rectangle 104">
            <a:extLst>
              <a:ext uri="{FF2B5EF4-FFF2-40B4-BE49-F238E27FC236}">
                <a16:creationId xmlns="" xmlns:a16="http://schemas.microsoft.com/office/drawing/2014/main" id="{C762AE52-5D96-4A32-8007-16CABE966526}"/>
              </a:ext>
            </a:extLst>
          </p:cNvPr>
          <p:cNvSpPr/>
          <p:nvPr/>
        </p:nvSpPr>
        <p:spPr bwMode="gray">
          <a:xfrm>
            <a:off x="10182045" y="3336622"/>
            <a:ext cx="1258908" cy="1309623"/>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 name="图片 67">
            <a:extLst>
              <a:ext uri="{FF2B5EF4-FFF2-40B4-BE49-F238E27FC236}">
                <a16:creationId xmlns="" xmlns:a16="http://schemas.microsoft.com/office/drawing/2014/main" id="{C20CA079-02B8-4507-81E2-98AE38437FCE}"/>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939336" y="3412257"/>
            <a:ext cx="375447" cy="307867"/>
          </a:xfrm>
          <a:prstGeom prst="rect">
            <a:avLst/>
          </a:prstGeom>
        </p:spPr>
      </p:pic>
      <p:pic>
        <p:nvPicPr>
          <p:cNvPr id="107" name="图片 67">
            <a:extLst>
              <a:ext uri="{FF2B5EF4-FFF2-40B4-BE49-F238E27FC236}">
                <a16:creationId xmlns="" xmlns:a16="http://schemas.microsoft.com/office/drawing/2014/main" id="{3CF6E7EE-5921-4A01-A797-3B505B386F14}"/>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939336" y="3844875"/>
            <a:ext cx="375447" cy="307867"/>
          </a:xfrm>
          <a:prstGeom prst="rect">
            <a:avLst/>
          </a:prstGeom>
        </p:spPr>
      </p:pic>
      <p:pic>
        <p:nvPicPr>
          <p:cNvPr id="108" name="图片 67">
            <a:extLst>
              <a:ext uri="{FF2B5EF4-FFF2-40B4-BE49-F238E27FC236}">
                <a16:creationId xmlns="" xmlns:a16="http://schemas.microsoft.com/office/drawing/2014/main" id="{896A8824-F990-4DA2-94F6-8D69070CC6F0}"/>
              </a:ext>
            </a:extLst>
          </p:cNvPr>
          <p:cNvPicPr>
            <a:picLocks/>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939335" y="4268773"/>
            <a:ext cx="375447" cy="307867"/>
          </a:xfrm>
          <a:prstGeom prst="rect">
            <a:avLst/>
          </a:prstGeom>
        </p:spPr>
      </p:pic>
      <p:sp>
        <p:nvSpPr>
          <p:cNvPr id="109" name="TextBox 271">
            <a:extLst>
              <a:ext uri="{FF2B5EF4-FFF2-40B4-BE49-F238E27FC236}">
                <a16:creationId xmlns="" xmlns:a16="http://schemas.microsoft.com/office/drawing/2014/main" id="{85265868-2FC2-40F1-8E96-D416BCAB58E4}"/>
              </a:ext>
            </a:extLst>
          </p:cNvPr>
          <p:cNvSpPr txBox="1"/>
          <p:nvPr/>
        </p:nvSpPr>
        <p:spPr bwMode="gray">
          <a:xfrm>
            <a:off x="6452610" y="3165542"/>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TextBox 271">
            <a:extLst>
              <a:ext uri="{FF2B5EF4-FFF2-40B4-BE49-F238E27FC236}">
                <a16:creationId xmlns="" xmlns:a16="http://schemas.microsoft.com/office/drawing/2014/main" id="{CF0AB054-69D9-4EE2-A346-55CD21CDFD70}"/>
              </a:ext>
            </a:extLst>
          </p:cNvPr>
          <p:cNvSpPr txBox="1"/>
          <p:nvPr/>
        </p:nvSpPr>
        <p:spPr bwMode="gray">
          <a:xfrm>
            <a:off x="6435438" y="4561757"/>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TextBox 271">
            <a:extLst>
              <a:ext uri="{FF2B5EF4-FFF2-40B4-BE49-F238E27FC236}">
                <a16:creationId xmlns="" xmlns:a16="http://schemas.microsoft.com/office/drawing/2014/main" id="{58705AAC-DA02-4A78-919F-00BD8D1E8DE6}"/>
              </a:ext>
            </a:extLst>
          </p:cNvPr>
          <p:cNvSpPr txBox="1"/>
          <p:nvPr/>
        </p:nvSpPr>
        <p:spPr bwMode="gray">
          <a:xfrm>
            <a:off x="9423652" y="3183061"/>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TextBox 271">
            <a:extLst>
              <a:ext uri="{FF2B5EF4-FFF2-40B4-BE49-F238E27FC236}">
                <a16:creationId xmlns="" xmlns:a16="http://schemas.microsoft.com/office/drawing/2014/main" id="{5E7AB616-AD3E-4008-BF5C-0D63629167DE}"/>
              </a:ext>
            </a:extLst>
          </p:cNvPr>
          <p:cNvSpPr txBox="1"/>
          <p:nvPr/>
        </p:nvSpPr>
        <p:spPr bwMode="gray">
          <a:xfrm>
            <a:off x="9425251" y="4571733"/>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271">
            <a:extLst>
              <a:ext uri="{FF2B5EF4-FFF2-40B4-BE49-F238E27FC236}">
                <a16:creationId xmlns="" xmlns:a16="http://schemas.microsoft.com/office/drawing/2014/main" id="{EDAA4B13-6485-4AB1-AD13-A689D306A215}"/>
              </a:ext>
            </a:extLst>
          </p:cNvPr>
          <p:cNvSpPr txBox="1"/>
          <p:nvPr/>
        </p:nvSpPr>
        <p:spPr bwMode="gray">
          <a:xfrm>
            <a:off x="8060901" y="3165542"/>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271">
            <a:extLst>
              <a:ext uri="{FF2B5EF4-FFF2-40B4-BE49-F238E27FC236}">
                <a16:creationId xmlns="" xmlns:a16="http://schemas.microsoft.com/office/drawing/2014/main" id="{51AA72AB-CC03-4625-9923-7D5B828BA81B}"/>
              </a:ext>
            </a:extLst>
          </p:cNvPr>
          <p:cNvSpPr txBox="1"/>
          <p:nvPr/>
        </p:nvSpPr>
        <p:spPr bwMode="gray">
          <a:xfrm>
            <a:off x="7463176" y="4549454"/>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271">
            <a:extLst>
              <a:ext uri="{FF2B5EF4-FFF2-40B4-BE49-F238E27FC236}">
                <a16:creationId xmlns="" xmlns:a16="http://schemas.microsoft.com/office/drawing/2014/main" id="{3E0697FF-1C23-42A0-A6CD-2C796CC7415F}"/>
              </a:ext>
            </a:extLst>
          </p:cNvPr>
          <p:cNvSpPr txBox="1"/>
          <p:nvPr/>
        </p:nvSpPr>
        <p:spPr bwMode="gray">
          <a:xfrm>
            <a:off x="8644838" y="4571489"/>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TextBox 271">
            <a:extLst>
              <a:ext uri="{FF2B5EF4-FFF2-40B4-BE49-F238E27FC236}">
                <a16:creationId xmlns="" xmlns:a16="http://schemas.microsoft.com/office/drawing/2014/main" id="{1CF57365-62EE-494A-95FA-A96810B9BDFC}"/>
              </a:ext>
            </a:extLst>
          </p:cNvPr>
          <p:cNvSpPr txBox="1"/>
          <p:nvPr/>
        </p:nvSpPr>
        <p:spPr bwMode="gray">
          <a:xfrm>
            <a:off x="6369914" y="5030439"/>
            <a:ext cx="723275" cy="307777"/>
          </a:xfrm>
          <a:prstGeom prst="rect">
            <a:avLst/>
          </a:prstGeom>
          <a:solidFill>
            <a:srgbClr val="56C4D2"/>
          </a:solidFill>
        </p:spPr>
        <p:txBody>
          <a:bodyPr wrap="none" rtlCol="0">
            <a:spAutoFit/>
          </a:bodyPr>
          <a:lstStyle/>
          <a:p>
            <a:pPr>
              <a:buFont typeface="Wingdings"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p>
        </p:txBody>
      </p:sp>
      <p:pic>
        <p:nvPicPr>
          <p:cNvPr id="117" name="图片 48">
            <a:extLst>
              <a:ext uri="{FF2B5EF4-FFF2-40B4-BE49-F238E27FC236}">
                <a16:creationId xmlns="" xmlns:a16="http://schemas.microsoft.com/office/drawing/2014/main" id="{99252286-80EB-45F0-B6ED-EF63F0D769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996841" y="3915639"/>
            <a:ext cx="378863" cy="310667"/>
          </a:xfrm>
          <a:prstGeom prst="rect">
            <a:avLst/>
          </a:prstGeom>
        </p:spPr>
      </p:pic>
      <p:sp>
        <p:nvSpPr>
          <p:cNvPr id="118" name="TextBox 271">
            <a:extLst>
              <a:ext uri="{FF2B5EF4-FFF2-40B4-BE49-F238E27FC236}">
                <a16:creationId xmlns="" xmlns:a16="http://schemas.microsoft.com/office/drawing/2014/main" id="{CA44F6A4-1EC8-4CA7-83B7-C3B086F550F2}"/>
              </a:ext>
            </a:extLst>
          </p:cNvPr>
          <p:cNvSpPr txBox="1"/>
          <p:nvPr/>
        </p:nvSpPr>
        <p:spPr bwMode="gray">
          <a:xfrm>
            <a:off x="8003096" y="4177404"/>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9" name="Straight Connector 118">
            <a:extLst>
              <a:ext uri="{FF2B5EF4-FFF2-40B4-BE49-F238E27FC236}">
                <a16:creationId xmlns="" xmlns:a16="http://schemas.microsoft.com/office/drawing/2014/main" id="{661E0E22-773A-4282-8AA0-F700BA3BD61E}"/>
              </a:ext>
            </a:extLst>
          </p:cNvPr>
          <p:cNvCxnSpPr>
            <a:cxnSpLocks/>
            <a:stCxn id="83" idx="2"/>
            <a:endCxn id="117" idx="0"/>
          </p:cNvCxnSpPr>
          <p:nvPr/>
        </p:nvCxnSpPr>
        <p:spPr bwMode="gray">
          <a:xfrm flipH="1">
            <a:off x="8186273" y="3717190"/>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 xmlns:a16="http://schemas.microsoft.com/office/drawing/2014/main" id="{F0D90C09-D834-417C-BA4C-65A616131C5F}"/>
              </a:ext>
            </a:extLst>
          </p:cNvPr>
          <p:cNvCxnSpPr>
            <a:cxnSpLocks/>
          </p:cNvCxnSpPr>
          <p:nvPr/>
        </p:nvCxnSpPr>
        <p:spPr bwMode="gray">
          <a:xfrm flipV="1">
            <a:off x="6931409" y="3482647"/>
            <a:ext cx="870907" cy="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 xmlns:a16="http://schemas.microsoft.com/office/drawing/2014/main" id="{58360E7E-C489-4B9A-BD78-5884F764A2C2}"/>
              </a:ext>
            </a:extLst>
          </p:cNvPr>
          <p:cNvCxnSpPr>
            <a:cxnSpLocks/>
          </p:cNvCxnSpPr>
          <p:nvPr/>
        </p:nvCxnSpPr>
        <p:spPr bwMode="gray">
          <a:xfrm flipV="1">
            <a:off x="8482216" y="3482647"/>
            <a:ext cx="870907" cy="1"/>
          </a:xfrm>
          <a:prstGeom prst="straightConnector1">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2" name="TextBox 271">
            <a:extLst>
              <a:ext uri="{FF2B5EF4-FFF2-40B4-BE49-F238E27FC236}">
                <a16:creationId xmlns="" xmlns:a16="http://schemas.microsoft.com/office/drawing/2014/main" id="{889AE726-0E28-4E45-9DC8-F9D8E59E3F35}"/>
              </a:ext>
            </a:extLst>
          </p:cNvPr>
          <p:cNvSpPr txBox="1"/>
          <p:nvPr/>
        </p:nvSpPr>
        <p:spPr bwMode="gray">
          <a:xfrm>
            <a:off x="7037270" y="3205649"/>
            <a:ext cx="752129"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TWAMP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TextBox 271">
            <a:extLst>
              <a:ext uri="{FF2B5EF4-FFF2-40B4-BE49-F238E27FC236}">
                <a16:creationId xmlns="" xmlns:a16="http://schemas.microsoft.com/office/drawing/2014/main" id="{828E02D0-1872-434A-AFD5-57110C907B4E}"/>
              </a:ext>
            </a:extLst>
          </p:cNvPr>
          <p:cNvSpPr txBox="1"/>
          <p:nvPr/>
        </p:nvSpPr>
        <p:spPr bwMode="gray">
          <a:xfrm>
            <a:off x="8535740" y="3227708"/>
            <a:ext cx="752129"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TWAMP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Rectangular Callout 26">
            <a:extLst>
              <a:ext uri="{FF2B5EF4-FFF2-40B4-BE49-F238E27FC236}">
                <a16:creationId xmlns="" xmlns:a16="http://schemas.microsoft.com/office/drawing/2014/main" id="{6A5A21CF-8E15-4E7E-989D-23D5CBD6EF51}"/>
              </a:ext>
            </a:extLst>
          </p:cNvPr>
          <p:cNvSpPr/>
          <p:nvPr/>
        </p:nvSpPr>
        <p:spPr bwMode="gray">
          <a:xfrm>
            <a:off x="8824894" y="2637840"/>
            <a:ext cx="1368581" cy="523162"/>
          </a:xfrm>
          <a:prstGeom prst="wedgeRectCallout">
            <a:avLst>
              <a:gd name="adj1" fmla="val -32335"/>
              <a:gd name="adj2" fmla="val 7381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TWAMP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检测链路时延</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6" name="Can 225">
            <a:extLst>
              <a:ext uri="{FF2B5EF4-FFF2-40B4-BE49-F238E27FC236}">
                <a16:creationId xmlns="" xmlns:a16="http://schemas.microsoft.com/office/drawing/2014/main" id="{B4F67904-4FFA-4470-9E4A-2B6DD88054AC}"/>
              </a:ext>
            </a:extLst>
          </p:cNvPr>
          <p:cNvSpPr/>
          <p:nvPr/>
        </p:nvSpPr>
        <p:spPr bwMode="gray">
          <a:xfrm rot="5400000">
            <a:off x="8019192" y="2097049"/>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7" name="TextBox 271">
            <a:extLst>
              <a:ext uri="{FF2B5EF4-FFF2-40B4-BE49-F238E27FC236}">
                <a16:creationId xmlns="" xmlns:a16="http://schemas.microsoft.com/office/drawing/2014/main" id="{499A7970-D80A-4569-BB43-7FCC523664E7}"/>
              </a:ext>
            </a:extLst>
          </p:cNvPr>
          <p:cNvSpPr txBox="1"/>
          <p:nvPr/>
        </p:nvSpPr>
        <p:spPr bwMode="gray">
          <a:xfrm>
            <a:off x="7678147" y="3541297"/>
            <a:ext cx="1119217"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 Policy</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pic>
        <p:nvPicPr>
          <p:cNvPr id="128" name="图片 24">
            <a:extLst>
              <a:ext uri="{FF2B5EF4-FFF2-40B4-BE49-F238E27FC236}">
                <a16:creationId xmlns="" xmlns:a16="http://schemas.microsoft.com/office/drawing/2014/main" id="{3B98289D-B087-4097-8212-B987722B670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7147743" y="1999175"/>
            <a:ext cx="1977229" cy="364654"/>
          </a:xfrm>
          <a:prstGeom prst="rect">
            <a:avLst/>
          </a:prstGeom>
        </p:spPr>
      </p:pic>
      <p:sp>
        <p:nvSpPr>
          <p:cNvPr id="129" name="圆角矩形 75">
            <a:extLst>
              <a:ext uri="{FF2B5EF4-FFF2-40B4-BE49-F238E27FC236}">
                <a16:creationId xmlns="" xmlns:a16="http://schemas.microsoft.com/office/drawing/2014/main" id="{0C907244-4978-423F-A104-0AB64DE04305}"/>
              </a:ext>
            </a:extLst>
          </p:cNvPr>
          <p:cNvSpPr/>
          <p:nvPr/>
        </p:nvSpPr>
        <p:spPr bwMode="gray">
          <a:xfrm>
            <a:off x="7065753" y="1972829"/>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30" name="Straight Connector 129">
            <a:extLst>
              <a:ext uri="{FF2B5EF4-FFF2-40B4-BE49-F238E27FC236}">
                <a16:creationId xmlns="" xmlns:a16="http://schemas.microsoft.com/office/drawing/2014/main" id="{036DF2AF-17AA-4AAA-BFBA-78B0C81CCF38}"/>
              </a:ext>
            </a:extLst>
          </p:cNvPr>
          <p:cNvCxnSpPr>
            <a:cxnSpLocks/>
            <a:stCxn id="65" idx="0"/>
            <a:endCxn id="129" idx="2"/>
          </p:cNvCxnSpPr>
          <p:nvPr/>
        </p:nvCxnSpPr>
        <p:spPr bwMode="gray">
          <a:xfrm flipH="1" flipV="1">
            <a:off x="8123712" y="2376109"/>
            <a:ext cx="6083" cy="69241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 xmlns:a16="http://schemas.microsoft.com/office/drawing/2014/main" id="{12D35445-79AA-42C7-AC69-B8FBCBA52D8A}"/>
              </a:ext>
            </a:extLst>
          </p:cNvPr>
          <p:cNvCxnSpPr>
            <a:cxnSpLocks/>
          </p:cNvCxnSpPr>
          <p:nvPr/>
        </p:nvCxnSpPr>
        <p:spPr bwMode="gray">
          <a:xfrm flipV="1">
            <a:off x="6714256" y="2473127"/>
            <a:ext cx="968860" cy="881096"/>
          </a:xfrm>
          <a:prstGeom prst="straightConnector1">
            <a:avLst/>
          </a:prstGeom>
          <a:ln w="28575">
            <a:solidFill>
              <a:srgbClr val="AFD89C"/>
            </a:solidFill>
            <a:tailEnd type="triangle"/>
          </a:ln>
        </p:spPr>
        <p:style>
          <a:lnRef idx="1">
            <a:schemeClr val="accent1"/>
          </a:lnRef>
          <a:fillRef idx="0">
            <a:schemeClr val="accent1"/>
          </a:fillRef>
          <a:effectRef idx="0">
            <a:schemeClr val="accent1"/>
          </a:effectRef>
          <a:fontRef idx="minor">
            <a:schemeClr val="tx1"/>
          </a:fontRef>
        </p:style>
      </p:cxnSp>
      <p:sp>
        <p:nvSpPr>
          <p:cNvPr id="132" name="TextBox 271">
            <a:extLst>
              <a:ext uri="{FF2B5EF4-FFF2-40B4-BE49-F238E27FC236}">
                <a16:creationId xmlns="" xmlns:a16="http://schemas.microsoft.com/office/drawing/2014/main" id="{1B9AFC0A-5DE8-46E3-AE4C-85CE73B442F0}"/>
              </a:ext>
            </a:extLst>
          </p:cNvPr>
          <p:cNvSpPr txBox="1"/>
          <p:nvPr/>
        </p:nvSpPr>
        <p:spPr bwMode="gray">
          <a:xfrm rot="19119187">
            <a:off x="6704352" y="2612844"/>
            <a:ext cx="886781"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Telemetry</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Rectangular Callout 26">
            <a:extLst>
              <a:ext uri="{FF2B5EF4-FFF2-40B4-BE49-F238E27FC236}">
                <a16:creationId xmlns="" xmlns:a16="http://schemas.microsoft.com/office/drawing/2014/main" id="{DA4B3C4E-F15D-4229-B7B7-1DB367263F1F}"/>
              </a:ext>
            </a:extLst>
          </p:cNvPr>
          <p:cNvSpPr/>
          <p:nvPr/>
        </p:nvSpPr>
        <p:spPr bwMode="gray">
          <a:xfrm>
            <a:off x="4951689" y="2067861"/>
            <a:ext cx="1745408" cy="987216"/>
          </a:xfrm>
          <a:prstGeom prst="wedgeRectCallout">
            <a:avLst>
              <a:gd name="adj1" fmla="val 59739"/>
              <a:gd name="adj2" fmla="val 224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Telemetry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检测链路带宽利用率，隧道带宽利用率，隧道丢包率</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559780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网络流量调优简介</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a:xfrm>
            <a:off x="455612" y="1047750"/>
            <a:ext cx="11293475" cy="1432507"/>
          </a:xfrm>
        </p:spPr>
        <p:txBody>
          <a:bodyPr/>
          <a:lstStyle/>
          <a:p>
            <a:r>
              <a:rPr lang="en-US" sz="1800" dirty="0"/>
              <a:t>MPLS TE</a:t>
            </a:r>
            <a:r>
              <a:rPr lang="zh-CN" altLang="en-US" sz="1800" dirty="0"/>
              <a:t>使用</a:t>
            </a:r>
            <a:r>
              <a:rPr lang="en-US" altLang="zh-CN" sz="1800" dirty="0"/>
              <a:t>CSPF</a:t>
            </a:r>
            <a:r>
              <a:rPr lang="zh-CN" altLang="en-US" sz="1800" dirty="0"/>
              <a:t>算法计算路径，但是这种分布式的计算和管理方式无法对网络带宽资源协同管理。</a:t>
            </a:r>
            <a:endParaRPr lang="en-US" altLang="zh-CN" sz="1800" dirty="0"/>
          </a:p>
          <a:p>
            <a:r>
              <a:rPr lang="zh-CN" altLang="en-US" sz="1800" dirty="0"/>
              <a:t>华为云广域网络解决方案通过</a:t>
            </a:r>
            <a:r>
              <a:rPr lang="en-US" altLang="zh-CN" sz="1800" dirty="0"/>
              <a:t>BGP-LS</a:t>
            </a:r>
            <a:r>
              <a:rPr lang="zh-CN" altLang="en-US" sz="1800" dirty="0"/>
              <a:t>（</a:t>
            </a:r>
            <a:r>
              <a:rPr lang="en-US" altLang="zh-CN" sz="1800" dirty="0"/>
              <a:t>SRv6 Policy</a:t>
            </a:r>
            <a:r>
              <a:rPr lang="zh-CN" altLang="en-US" sz="1800" dirty="0"/>
              <a:t>）或</a:t>
            </a:r>
            <a:r>
              <a:rPr lang="en-US" altLang="zh-CN" sz="1800" dirty="0"/>
              <a:t>BGP-LS+PCEP</a:t>
            </a:r>
            <a:r>
              <a:rPr lang="zh-CN" altLang="en-US" sz="1800" dirty="0"/>
              <a:t>（</a:t>
            </a:r>
            <a:r>
              <a:rPr lang="en-US" altLang="zh-CN" sz="1800" dirty="0"/>
              <a:t>SR-MPLS Policy</a:t>
            </a:r>
            <a:r>
              <a:rPr lang="zh-CN" altLang="en-US" sz="1800" dirty="0"/>
              <a:t>）方式获取隧道状态，并根据网络状态调整隧道路径。</a:t>
            </a:r>
            <a:endParaRPr lang="en-US" sz="18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 name="Group 7">
            <a:extLst>
              <a:ext uri="{FF2B5EF4-FFF2-40B4-BE49-F238E27FC236}">
                <a16:creationId xmlns="" xmlns:a16="http://schemas.microsoft.com/office/drawing/2014/main" id="{60FB43EE-FB26-49BB-BA35-68933B0F9FFC}"/>
              </a:ext>
            </a:extLst>
          </p:cNvPr>
          <p:cNvGrpSpPr/>
          <p:nvPr/>
        </p:nvGrpSpPr>
        <p:grpSpPr bwMode="gray">
          <a:xfrm>
            <a:off x="5584728" y="2158488"/>
            <a:ext cx="5313867" cy="3992325"/>
            <a:chOff x="5584728" y="2158488"/>
            <a:chExt cx="5313867" cy="3992325"/>
          </a:xfrm>
        </p:grpSpPr>
        <p:sp>
          <p:nvSpPr>
            <p:cNvPr id="64" name="Oval 41">
              <a:extLst>
                <a:ext uri="{FF2B5EF4-FFF2-40B4-BE49-F238E27FC236}">
                  <a16:creationId xmlns="" xmlns:a16="http://schemas.microsoft.com/office/drawing/2014/main" id="{45C3F9D2-B8BD-416B-A187-6AC7100D03E1}"/>
                </a:ext>
              </a:extLst>
            </p:cNvPr>
            <p:cNvSpPr>
              <a:spLocks noChangeAspect="1"/>
            </p:cNvSpPr>
            <p:nvPr/>
          </p:nvSpPr>
          <p:spPr bwMode="gray">
            <a:xfrm>
              <a:off x="7446665" y="226324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0" name="Oval 41">
              <a:extLst>
                <a:ext uri="{FF2B5EF4-FFF2-40B4-BE49-F238E27FC236}">
                  <a16:creationId xmlns="" xmlns:a16="http://schemas.microsoft.com/office/drawing/2014/main" id="{F67FE4C5-553A-4721-A7B6-6019BA88DD65}"/>
                </a:ext>
              </a:extLst>
            </p:cNvPr>
            <p:cNvSpPr>
              <a:spLocks noChangeAspect="1"/>
            </p:cNvSpPr>
            <p:nvPr/>
          </p:nvSpPr>
          <p:spPr bwMode="gray">
            <a:xfrm>
              <a:off x="8909016" y="226324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1" name="Oval 41">
              <a:extLst>
                <a:ext uri="{FF2B5EF4-FFF2-40B4-BE49-F238E27FC236}">
                  <a16:creationId xmlns="" xmlns:a16="http://schemas.microsoft.com/office/drawing/2014/main" id="{A42D67EC-1BD6-4483-8ED5-19F51818DA5E}"/>
                </a:ext>
              </a:extLst>
            </p:cNvPr>
            <p:cNvSpPr>
              <a:spLocks noChangeAspect="1"/>
            </p:cNvSpPr>
            <p:nvPr/>
          </p:nvSpPr>
          <p:spPr bwMode="gray">
            <a:xfrm>
              <a:off x="8155442" y="226324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2" name="Oval 41">
              <a:extLst>
                <a:ext uri="{FF2B5EF4-FFF2-40B4-BE49-F238E27FC236}">
                  <a16:creationId xmlns="" xmlns:a16="http://schemas.microsoft.com/office/drawing/2014/main" id="{F66C51FB-BA80-4FA1-BBD3-310B0FB5596F}"/>
                </a:ext>
              </a:extLst>
            </p:cNvPr>
            <p:cNvSpPr>
              <a:spLocks noChangeAspect="1"/>
            </p:cNvSpPr>
            <p:nvPr/>
          </p:nvSpPr>
          <p:spPr bwMode="gray">
            <a:xfrm>
              <a:off x="8905867" y="268200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pic>
          <p:nvPicPr>
            <p:cNvPr id="74" name="图片 31">
              <a:extLst>
                <a:ext uri="{FF2B5EF4-FFF2-40B4-BE49-F238E27FC236}">
                  <a16:creationId xmlns="" xmlns:a16="http://schemas.microsoft.com/office/drawing/2014/main" id="{ECDFE585-AA85-4278-B829-91A8F1727766}"/>
                </a:ext>
              </a:extLst>
            </p:cNvPr>
            <p:cNvPicPr>
              <a:picLocks noChangeAspect="1"/>
            </p:cNvPicPr>
            <p:nvPr/>
          </p:nvPicPr>
          <p:blipFill>
            <a:blip r:embed="rId3"/>
            <a:stretch>
              <a:fillRect/>
            </a:stretch>
          </p:blipFill>
          <p:spPr bwMode="gray">
            <a:xfrm>
              <a:off x="6491621" y="4370654"/>
              <a:ext cx="466668" cy="389308"/>
            </a:xfrm>
            <a:prstGeom prst="rect">
              <a:avLst/>
            </a:prstGeom>
          </p:spPr>
        </p:pic>
        <p:pic>
          <p:nvPicPr>
            <p:cNvPr id="75" name="图片 31">
              <a:extLst>
                <a:ext uri="{FF2B5EF4-FFF2-40B4-BE49-F238E27FC236}">
                  <a16:creationId xmlns="" xmlns:a16="http://schemas.microsoft.com/office/drawing/2014/main" id="{0F628EE5-AA75-4AF8-AA91-F7CBAA360EE7}"/>
                </a:ext>
              </a:extLst>
            </p:cNvPr>
            <p:cNvPicPr>
              <a:picLocks noChangeAspect="1"/>
            </p:cNvPicPr>
            <p:nvPr/>
          </p:nvPicPr>
          <p:blipFill>
            <a:blip r:embed="rId3"/>
            <a:stretch>
              <a:fillRect/>
            </a:stretch>
          </p:blipFill>
          <p:spPr bwMode="gray">
            <a:xfrm>
              <a:off x="6491621" y="5381892"/>
              <a:ext cx="466668" cy="389308"/>
            </a:xfrm>
            <a:prstGeom prst="rect">
              <a:avLst/>
            </a:prstGeom>
          </p:spPr>
        </p:pic>
        <p:pic>
          <p:nvPicPr>
            <p:cNvPr id="76" name="图片 31">
              <a:extLst>
                <a:ext uri="{FF2B5EF4-FFF2-40B4-BE49-F238E27FC236}">
                  <a16:creationId xmlns="" xmlns:a16="http://schemas.microsoft.com/office/drawing/2014/main" id="{1EE1DC37-6D4F-48EC-A99B-5B4A3D096EB1}"/>
                </a:ext>
              </a:extLst>
            </p:cNvPr>
            <p:cNvPicPr>
              <a:picLocks noChangeAspect="1"/>
            </p:cNvPicPr>
            <p:nvPr/>
          </p:nvPicPr>
          <p:blipFill>
            <a:blip r:embed="rId3"/>
            <a:stretch>
              <a:fillRect/>
            </a:stretch>
          </p:blipFill>
          <p:spPr bwMode="gray">
            <a:xfrm>
              <a:off x="8034671" y="4366871"/>
              <a:ext cx="466668" cy="389308"/>
            </a:xfrm>
            <a:prstGeom prst="rect">
              <a:avLst/>
            </a:prstGeom>
          </p:spPr>
        </p:pic>
        <p:pic>
          <p:nvPicPr>
            <p:cNvPr id="78" name="图片 31">
              <a:extLst>
                <a:ext uri="{FF2B5EF4-FFF2-40B4-BE49-F238E27FC236}">
                  <a16:creationId xmlns="" xmlns:a16="http://schemas.microsoft.com/office/drawing/2014/main" id="{11DF3B99-7F5F-47FE-A999-E807F2D8E9F0}"/>
                </a:ext>
              </a:extLst>
            </p:cNvPr>
            <p:cNvPicPr>
              <a:picLocks noChangeAspect="1"/>
            </p:cNvPicPr>
            <p:nvPr/>
          </p:nvPicPr>
          <p:blipFill>
            <a:blip r:embed="rId3"/>
            <a:stretch>
              <a:fillRect/>
            </a:stretch>
          </p:blipFill>
          <p:spPr bwMode="gray">
            <a:xfrm>
              <a:off x="8034671" y="5381892"/>
              <a:ext cx="466668" cy="389308"/>
            </a:xfrm>
            <a:prstGeom prst="rect">
              <a:avLst/>
            </a:prstGeom>
          </p:spPr>
        </p:pic>
        <p:pic>
          <p:nvPicPr>
            <p:cNvPr id="79" name="图片 31">
              <a:extLst>
                <a:ext uri="{FF2B5EF4-FFF2-40B4-BE49-F238E27FC236}">
                  <a16:creationId xmlns="" xmlns:a16="http://schemas.microsoft.com/office/drawing/2014/main" id="{00C98487-0C59-4C6E-805F-FB8BD662BE74}"/>
                </a:ext>
              </a:extLst>
            </p:cNvPr>
            <p:cNvPicPr>
              <a:picLocks noChangeAspect="1"/>
            </p:cNvPicPr>
            <p:nvPr/>
          </p:nvPicPr>
          <p:blipFill>
            <a:blip r:embed="rId3"/>
            <a:stretch>
              <a:fillRect/>
            </a:stretch>
          </p:blipFill>
          <p:spPr bwMode="gray">
            <a:xfrm>
              <a:off x="9577721" y="4370654"/>
              <a:ext cx="466668" cy="389308"/>
            </a:xfrm>
            <a:prstGeom prst="rect">
              <a:avLst/>
            </a:prstGeom>
          </p:spPr>
        </p:pic>
        <p:pic>
          <p:nvPicPr>
            <p:cNvPr id="80" name="图片 31">
              <a:extLst>
                <a:ext uri="{FF2B5EF4-FFF2-40B4-BE49-F238E27FC236}">
                  <a16:creationId xmlns="" xmlns:a16="http://schemas.microsoft.com/office/drawing/2014/main" id="{F398CFB6-4C03-48D0-AF38-95580ECB344C}"/>
                </a:ext>
              </a:extLst>
            </p:cNvPr>
            <p:cNvPicPr>
              <a:picLocks noChangeAspect="1"/>
            </p:cNvPicPr>
            <p:nvPr/>
          </p:nvPicPr>
          <p:blipFill>
            <a:blip r:embed="rId3"/>
            <a:stretch>
              <a:fillRect/>
            </a:stretch>
          </p:blipFill>
          <p:spPr bwMode="gray">
            <a:xfrm>
              <a:off x="9577721" y="5385675"/>
              <a:ext cx="466668" cy="389308"/>
            </a:xfrm>
            <a:prstGeom prst="rect">
              <a:avLst/>
            </a:prstGeom>
          </p:spPr>
        </p:pic>
        <p:cxnSp>
          <p:nvCxnSpPr>
            <p:cNvPr id="81" name="Straight Connector 80">
              <a:extLst>
                <a:ext uri="{FF2B5EF4-FFF2-40B4-BE49-F238E27FC236}">
                  <a16:creationId xmlns="" xmlns:a16="http://schemas.microsoft.com/office/drawing/2014/main" id="{91FF9031-947E-447B-964A-7D395337C97E}"/>
                </a:ext>
              </a:extLst>
            </p:cNvPr>
            <p:cNvCxnSpPr>
              <a:cxnSpLocks/>
              <a:stCxn id="74" idx="3"/>
              <a:endCxn id="76" idx="1"/>
            </p:cNvCxnSpPr>
            <p:nvPr/>
          </p:nvCxnSpPr>
          <p:spPr bwMode="gray">
            <a:xfrm flipV="1">
              <a:off x="6958289" y="4561525"/>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 xmlns:a16="http://schemas.microsoft.com/office/drawing/2014/main" id="{2A1D0650-5656-4870-B1F1-7FFF46D99555}"/>
                </a:ext>
              </a:extLst>
            </p:cNvPr>
            <p:cNvCxnSpPr>
              <a:cxnSpLocks/>
              <a:stCxn id="75" idx="3"/>
              <a:endCxn id="78" idx="1"/>
            </p:cNvCxnSpPr>
            <p:nvPr/>
          </p:nvCxnSpPr>
          <p:spPr bwMode="gray">
            <a:xfrm>
              <a:off x="6958289" y="5576546"/>
              <a:ext cx="10763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 xmlns:a16="http://schemas.microsoft.com/office/drawing/2014/main" id="{923AA836-EC6D-4DA2-9C8E-6B8C2F2BBC30}"/>
                </a:ext>
              </a:extLst>
            </p:cNvPr>
            <p:cNvCxnSpPr>
              <a:cxnSpLocks/>
              <a:stCxn id="74" idx="2"/>
              <a:endCxn id="75" idx="0"/>
            </p:cNvCxnSpPr>
            <p:nvPr/>
          </p:nvCxnSpPr>
          <p:spPr bwMode="gray">
            <a:xfrm>
              <a:off x="6724955" y="4759962"/>
              <a:ext cx="0" cy="62193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 xmlns:a16="http://schemas.microsoft.com/office/drawing/2014/main" id="{0ACFD47F-F166-43BD-AA13-F00A5E86CAAC}"/>
                </a:ext>
              </a:extLst>
            </p:cNvPr>
            <p:cNvCxnSpPr>
              <a:cxnSpLocks/>
              <a:stCxn id="76" idx="2"/>
              <a:endCxn id="78" idx="0"/>
            </p:cNvCxnSpPr>
            <p:nvPr/>
          </p:nvCxnSpPr>
          <p:spPr bwMode="gray">
            <a:xfrm>
              <a:off x="8268005" y="4756179"/>
              <a:ext cx="0" cy="625713"/>
            </a:xfrm>
            <a:prstGeom prst="line">
              <a:avLst/>
            </a:prstGeom>
            <a:ln w="19050">
              <a:solidFill>
                <a:srgbClr val="E28198"/>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 xmlns:a16="http://schemas.microsoft.com/office/drawing/2014/main" id="{BBC8C72B-F422-4B94-9F19-5BAF061A035D}"/>
                </a:ext>
              </a:extLst>
            </p:cNvPr>
            <p:cNvCxnSpPr>
              <a:cxnSpLocks/>
              <a:stCxn id="79" idx="2"/>
              <a:endCxn id="80" idx="0"/>
            </p:cNvCxnSpPr>
            <p:nvPr/>
          </p:nvCxnSpPr>
          <p:spPr bwMode="gray">
            <a:xfrm>
              <a:off x="9811055" y="4759962"/>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 xmlns:a16="http://schemas.microsoft.com/office/drawing/2014/main" id="{B41DF826-95B5-40E3-AB9B-0D69F4BD4A58}"/>
                </a:ext>
              </a:extLst>
            </p:cNvPr>
            <p:cNvCxnSpPr>
              <a:cxnSpLocks/>
              <a:stCxn id="80" idx="1"/>
              <a:endCxn id="78" idx="3"/>
            </p:cNvCxnSpPr>
            <p:nvPr/>
          </p:nvCxnSpPr>
          <p:spPr bwMode="gray">
            <a:xfrm flipH="1" flipV="1">
              <a:off x="8501339" y="5576546"/>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 xmlns:a16="http://schemas.microsoft.com/office/drawing/2014/main" id="{C8E312D2-3ABE-43EE-8010-5F1CACEC1FC8}"/>
                </a:ext>
              </a:extLst>
            </p:cNvPr>
            <p:cNvCxnSpPr>
              <a:cxnSpLocks/>
              <a:stCxn id="79" idx="1"/>
              <a:endCxn id="76" idx="3"/>
            </p:cNvCxnSpPr>
            <p:nvPr/>
          </p:nvCxnSpPr>
          <p:spPr bwMode="gray">
            <a:xfrm flipH="1" flipV="1">
              <a:off x="8501339" y="4561525"/>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9" name="TextBox 271">
              <a:extLst>
                <a:ext uri="{FF2B5EF4-FFF2-40B4-BE49-F238E27FC236}">
                  <a16:creationId xmlns="" xmlns:a16="http://schemas.microsoft.com/office/drawing/2014/main" id="{43B0DAEE-C5B1-4765-954F-E70E71A7EC86}"/>
                </a:ext>
              </a:extLst>
            </p:cNvPr>
            <p:cNvSpPr txBox="1"/>
            <p:nvPr/>
          </p:nvSpPr>
          <p:spPr bwMode="gray">
            <a:xfrm>
              <a:off x="7919054" y="4677617"/>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TextBox 271">
              <a:extLst>
                <a:ext uri="{FF2B5EF4-FFF2-40B4-BE49-F238E27FC236}">
                  <a16:creationId xmlns="" xmlns:a16="http://schemas.microsoft.com/office/drawing/2014/main" id="{F95DE7D6-A1AF-4A91-B41E-BFC6F123D3F5}"/>
                </a:ext>
              </a:extLst>
            </p:cNvPr>
            <p:cNvSpPr txBox="1"/>
            <p:nvPr/>
          </p:nvSpPr>
          <p:spPr bwMode="gray">
            <a:xfrm>
              <a:off x="6321140" y="4677617"/>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TextBox 271">
              <a:extLst>
                <a:ext uri="{FF2B5EF4-FFF2-40B4-BE49-F238E27FC236}">
                  <a16:creationId xmlns="" xmlns:a16="http://schemas.microsoft.com/office/drawing/2014/main" id="{2FD6E1AE-23C0-454A-AAA5-290932D1B36F}"/>
                </a:ext>
              </a:extLst>
            </p:cNvPr>
            <p:cNvSpPr txBox="1"/>
            <p:nvPr/>
          </p:nvSpPr>
          <p:spPr bwMode="gray">
            <a:xfrm>
              <a:off x="6321140" y="5161047"/>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TextBox 271">
              <a:extLst>
                <a:ext uri="{FF2B5EF4-FFF2-40B4-BE49-F238E27FC236}">
                  <a16:creationId xmlns="" xmlns:a16="http://schemas.microsoft.com/office/drawing/2014/main" id="{9F201601-D4E8-441C-BA66-C20FE4684E7D}"/>
                </a:ext>
              </a:extLst>
            </p:cNvPr>
            <p:cNvSpPr txBox="1"/>
            <p:nvPr/>
          </p:nvSpPr>
          <p:spPr bwMode="gray">
            <a:xfrm>
              <a:off x="7928206" y="5179850"/>
              <a:ext cx="359394"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TextBox 271">
              <a:extLst>
                <a:ext uri="{FF2B5EF4-FFF2-40B4-BE49-F238E27FC236}">
                  <a16:creationId xmlns="" xmlns:a16="http://schemas.microsoft.com/office/drawing/2014/main" id="{A19D23C2-F440-44DB-B7D2-74E4ACC7A48E}"/>
                </a:ext>
              </a:extLst>
            </p:cNvPr>
            <p:cNvSpPr txBox="1"/>
            <p:nvPr/>
          </p:nvSpPr>
          <p:spPr bwMode="gray">
            <a:xfrm>
              <a:off x="9875641" y="5179850"/>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TextBox 271">
              <a:extLst>
                <a:ext uri="{FF2B5EF4-FFF2-40B4-BE49-F238E27FC236}">
                  <a16:creationId xmlns="" xmlns:a16="http://schemas.microsoft.com/office/drawing/2014/main" id="{2996EFDC-5CDB-4CA7-A0D4-85062ED109B5}"/>
                </a:ext>
              </a:extLst>
            </p:cNvPr>
            <p:cNvSpPr txBox="1"/>
            <p:nvPr/>
          </p:nvSpPr>
          <p:spPr bwMode="gray">
            <a:xfrm>
              <a:off x="9890881" y="4685811"/>
              <a:ext cx="44435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5" name="图片 24">
              <a:extLst>
                <a:ext uri="{FF2B5EF4-FFF2-40B4-BE49-F238E27FC236}">
                  <a16:creationId xmlns="" xmlns:a16="http://schemas.microsoft.com/office/drawing/2014/main" id="{64D7961B-DB87-4E71-B3EC-6D618811C62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289834" y="2978855"/>
              <a:ext cx="1977229" cy="364654"/>
            </a:xfrm>
            <a:prstGeom prst="rect">
              <a:avLst/>
            </a:prstGeom>
          </p:spPr>
        </p:pic>
        <p:sp>
          <p:nvSpPr>
            <p:cNvPr id="146" name="圆角矩形 75">
              <a:extLst>
                <a:ext uri="{FF2B5EF4-FFF2-40B4-BE49-F238E27FC236}">
                  <a16:creationId xmlns="" xmlns:a16="http://schemas.microsoft.com/office/drawing/2014/main" id="{86925805-36AB-4FDD-9239-567DD6BEFB12}"/>
                </a:ext>
              </a:extLst>
            </p:cNvPr>
            <p:cNvSpPr/>
            <p:nvPr/>
          </p:nvSpPr>
          <p:spPr bwMode="gray">
            <a:xfrm>
              <a:off x="7207844" y="2952509"/>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47" name="直接箭头连接符 84">
              <a:extLst>
                <a:ext uri="{FF2B5EF4-FFF2-40B4-BE49-F238E27FC236}">
                  <a16:creationId xmlns="" xmlns:a16="http://schemas.microsoft.com/office/drawing/2014/main" id="{BE76BDBF-E1C5-4C5E-A527-79711C278976}"/>
                </a:ext>
              </a:extLst>
            </p:cNvPr>
            <p:cNvCxnSpPr>
              <a:cxnSpLocks/>
              <a:stCxn id="76" idx="0"/>
              <a:endCxn id="146" idx="2"/>
            </p:cNvCxnSpPr>
            <p:nvPr/>
          </p:nvCxnSpPr>
          <p:spPr bwMode="gray">
            <a:xfrm flipH="1" flipV="1">
              <a:off x="8265803" y="3355789"/>
              <a:ext cx="2202" cy="1011082"/>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48" name="TextBox 271">
              <a:extLst>
                <a:ext uri="{FF2B5EF4-FFF2-40B4-BE49-F238E27FC236}">
                  <a16:creationId xmlns="" xmlns:a16="http://schemas.microsoft.com/office/drawing/2014/main" id="{E3BD85B3-7565-4150-A119-80F0F4FF61E8}"/>
                </a:ext>
              </a:extLst>
            </p:cNvPr>
            <p:cNvSpPr txBox="1"/>
            <p:nvPr/>
          </p:nvSpPr>
          <p:spPr bwMode="gray">
            <a:xfrm rot="19599356">
              <a:off x="6380192" y="3704743"/>
              <a:ext cx="1577676"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SR-Policy/PCEP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9" name="图片 31">
              <a:extLst>
                <a:ext uri="{FF2B5EF4-FFF2-40B4-BE49-F238E27FC236}">
                  <a16:creationId xmlns="" xmlns:a16="http://schemas.microsoft.com/office/drawing/2014/main" id="{43C22541-68EC-4CA5-A321-B0E9D92F0531}"/>
                </a:ext>
              </a:extLst>
            </p:cNvPr>
            <p:cNvPicPr>
              <a:picLocks noChangeAspect="1"/>
            </p:cNvPicPr>
            <p:nvPr/>
          </p:nvPicPr>
          <p:blipFill>
            <a:blip r:embed="rId3"/>
            <a:stretch>
              <a:fillRect/>
            </a:stretch>
          </p:blipFill>
          <p:spPr bwMode="gray">
            <a:xfrm>
              <a:off x="5614757" y="4370654"/>
              <a:ext cx="466668" cy="389308"/>
            </a:xfrm>
            <a:prstGeom prst="rect">
              <a:avLst/>
            </a:prstGeom>
          </p:spPr>
        </p:pic>
        <p:pic>
          <p:nvPicPr>
            <p:cNvPr id="150" name="图片 31">
              <a:extLst>
                <a:ext uri="{FF2B5EF4-FFF2-40B4-BE49-F238E27FC236}">
                  <a16:creationId xmlns="" xmlns:a16="http://schemas.microsoft.com/office/drawing/2014/main" id="{C1A7CE81-9223-4E4C-9912-E4F91DFBD87D}"/>
                </a:ext>
              </a:extLst>
            </p:cNvPr>
            <p:cNvPicPr>
              <a:picLocks noChangeAspect="1"/>
            </p:cNvPicPr>
            <p:nvPr/>
          </p:nvPicPr>
          <p:blipFill>
            <a:blip r:embed="rId3"/>
            <a:stretch>
              <a:fillRect/>
            </a:stretch>
          </p:blipFill>
          <p:spPr bwMode="gray">
            <a:xfrm>
              <a:off x="10431927" y="5385675"/>
              <a:ext cx="466668" cy="389308"/>
            </a:xfrm>
            <a:prstGeom prst="rect">
              <a:avLst/>
            </a:prstGeom>
          </p:spPr>
        </p:pic>
        <p:cxnSp>
          <p:nvCxnSpPr>
            <p:cNvPr id="151" name="Straight Connector 150">
              <a:extLst>
                <a:ext uri="{FF2B5EF4-FFF2-40B4-BE49-F238E27FC236}">
                  <a16:creationId xmlns="" xmlns:a16="http://schemas.microsoft.com/office/drawing/2014/main" id="{2AB2770B-117E-41A4-9C01-EDB2233ED30D}"/>
                </a:ext>
              </a:extLst>
            </p:cNvPr>
            <p:cNvCxnSpPr>
              <a:cxnSpLocks/>
              <a:stCxn id="149" idx="3"/>
              <a:endCxn id="74" idx="1"/>
            </p:cNvCxnSpPr>
            <p:nvPr/>
          </p:nvCxnSpPr>
          <p:spPr bwMode="gray">
            <a:xfrm>
              <a:off x="6081425" y="4565308"/>
              <a:ext cx="41019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 xmlns:a16="http://schemas.microsoft.com/office/drawing/2014/main" id="{ADC798DF-0318-469B-BF5A-74B6B4A04522}"/>
                </a:ext>
              </a:extLst>
            </p:cNvPr>
            <p:cNvCxnSpPr>
              <a:cxnSpLocks/>
              <a:stCxn id="80" idx="3"/>
              <a:endCxn id="150" idx="1"/>
            </p:cNvCxnSpPr>
            <p:nvPr/>
          </p:nvCxnSpPr>
          <p:spPr bwMode="gray">
            <a:xfrm>
              <a:off x="10044389" y="5580329"/>
              <a:ext cx="38753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 xmlns:a16="http://schemas.microsoft.com/office/drawing/2014/main" id="{AFFF875B-E331-4EBF-8E67-BF3F4D10B159}"/>
                </a:ext>
              </a:extLst>
            </p:cNvPr>
            <p:cNvCxnSpPr>
              <a:cxnSpLocks/>
            </p:cNvCxnSpPr>
            <p:nvPr/>
          </p:nvCxnSpPr>
          <p:spPr bwMode="gray">
            <a:xfrm>
              <a:off x="6787570" y="4618763"/>
              <a:ext cx="1417820" cy="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 xmlns:a16="http://schemas.microsoft.com/office/drawing/2014/main" id="{EBEA7FBB-AE3C-48BC-BB53-A337DF8D1E0A}"/>
                </a:ext>
              </a:extLst>
            </p:cNvPr>
            <p:cNvCxnSpPr>
              <a:cxnSpLocks/>
            </p:cNvCxnSpPr>
            <p:nvPr/>
          </p:nvCxnSpPr>
          <p:spPr bwMode="gray">
            <a:xfrm>
              <a:off x="9869813" y="4612488"/>
              <a:ext cx="0" cy="89685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 xmlns:a16="http://schemas.microsoft.com/office/drawing/2014/main" id="{B0277725-57F2-4B7B-936D-F47C4CD1A934}"/>
                </a:ext>
              </a:extLst>
            </p:cNvPr>
            <p:cNvCxnSpPr>
              <a:cxnSpLocks/>
            </p:cNvCxnSpPr>
            <p:nvPr/>
          </p:nvCxnSpPr>
          <p:spPr bwMode="gray">
            <a:xfrm>
              <a:off x="8268005" y="4612488"/>
              <a:ext cx="1552006" cy="0"/>
            </a:xfrm>
            <a:prstGeom prst="line">
              <a:avLst/>
            </a:prstGeom>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6" name="直接箭头连接符 84">
              <a:extLst>
                <a:ext uri="{FF2B5EF4-FFF2-40B4-BE49-F238E27FC236}">
                  <a16:creationId xmlns="" xmlns:a16="http://schemas.microsoft.com/office/drawing/2014/main" id="{85848E88-604F-421F-8066-107C0E457923}"/>
                </a:ext>
              </a:extLst>
            </p:cNvPr>
            <p:cNvCxnSpPr>
              <a:cxnSpLocks/>
            </p:cNvCxnSpPr>
            <p:nvPr/>
          </p:nvCxnSpPr>
          <p:spPr bwMode="gray">
            <a:xfrm flipH="1">
              <a:off x="6542336" y="3358433"/>
              <a:ext cx="1553494" cy="1027145"/>
            </a:xfrm>
            <a:prstGeom prst="straightConnector1">
              <a:avLst/>
            </a:prstGeom>
            <a:ln w="19050" cap="flat" cmpd="sng" algn="ctr">
              <a:solidFill>
                <a:srgbClr val="E28198"/>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157" name="Group 156">
              <a:extLst>
                <a:ext uri="{FF2B5EF4-FFF2-40B4-BE49-F238E27FC236}">
                  <a16:creationId xmlns="" xmlns:a16="http://schemas.microsoft.com/office/drawing/2014/main" id="{FE31AB77-4527-44D4-AAC0-0983A9D8A0B4}"/>
                </a:ext>
              </a:extLst>
            </p:cNvPr>
            <p:cNvGrpSpPr/>
            <p:nvPr/>
          </p:nvGrpSpPr>
          <p:grpSpPr bwMode="gray">
            <a:xfrm>
              <a:off x="7568248" y="2342875"/>
              <a:ext cx="1420399" cy="434340"/>
              <a:chOff x="4527430" y="4730666"/>
              <a:chExt cx="2969826" cy="908134"/>
            </a:xfrm>
          </p:grpSpPr>
          <p:cxnSp>
            <p:nvCxnSpPr>
              <p:cNvPr id="179" name="Straight Connector 178">
                <a:extLst>
                  <a:ext uri="{FF2B5EF4-FFF2-40B4-BE49-F238E27FC236}">
                    <a16:creationId xmlns="" xmlns:a16="http://schemas.microsoft.com/office/drawing/2014/main" id="{167C8665-48BD-41D3-8B17-DF15E553FE6B}"/>
                  </a:ext>
                </a:extLst>
              </p:cNvPr>
              <p:cNvCxnSpPr>
                <a:cxnSpLocks/>
              </p:cNvCxnSpPr>
              <p:nvPr/>
            </p:nvCxnSpPr>
            <p:spPr bwMode="gray">
              <a:xfrm>
                <a:off x="4527430" y="4741950"/>
                <a:ext cx="1417820"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 xmlns:a16="http://schemas.microsoft.com/office/drawing/2014/main" id="{B8421396-D603-487B-B32E-CDA6DE2039EE}"/>
                  </a:ext>
                </a:extLst>
              </p:cNvPr>
              <p:cNvCxnSpPr>
                <a:cxnSpLocks/>
              </p:cNvCxnSpPr>
              <p:nvPr/>
            </p:nvCxnSpPr>
            <p:spPr bwMode="gray">
              <a:xfrm>
                <a:off x="7490672" y="4741950"/>
                <a:ext cx="0" cy="89685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 xmlns:a16="http://schemas.microsoft.com/office/drawing/2014/main" id="{864A518E-9E66-4732-8B5B-E20132D7CF4F}"/>
                  </a:ext>
                </a:extLst>
              </p:cNvPr>
              <p:cNvCxnSpPr>
                <a:cxnSpLocks/>
              </p:cNvCxnSpPr>
              <p:nvPr/>
            </p:nvCxnSpPr>
            <p:spPr bwMode="gray">
              <a:xfrm>
                <a:off x="5945249" y="4730666"/>
                <a:ext cx="1552007"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58" name="圆角矩形 75">
              <a:extLst>
                <a:ext uri="{FF2B5EF4-FFF2-40B4-BE49-F238E27FC236}">
                  <a16:creationId xmlns="" xmlns:a16="http://schemas.microsoft.com/office/drawing/2014/main" id="{F8D61983-8B29-4616-A18C-EC32CE865EEC}"/>
                </a:ext>
              </a:extLst>
            </p:cNvPr>
            <p:cNvSpPr/>
            <p:nvPr/>
          </p:nvSpPr>
          <p:spPr bwMode="gray">
            <a:xfrm>
              <a:off x="7207844" y="2158488"/>
              <a:ext cx="2115918" cy="79402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9" name="Rectangular Callout 26">
              <a:extLst>
                <a:ext uri="{FF2B5EF4-FFF2-40B4-BE49-F238E27FC236}">
                  <a16:creationId xmlns="" xmlns:a16="http://schemas.microsoft.com/office/drawing/2014/main" id="{6C5067FB-DF8F-46EE-87F2-8E181D3DDA57}"/>
                </a:ext>
              </a:extLst>
            </p:cNvPr>
            <p:cNvSpPr/>
            <p:nvPr/>
          </p:nvSpPr>
          <p:spPr bwMode="gray">
            <a:xfrm>
              <a:off x="5734074" y="2490355"/>
              <a:ext cx="971334" cy="573719"/>
            </a:xfrm>
            <a:prstGeom prst="wedgeRectCallout">
              <a:avLst>
                <a:gd name="adj1" fmla="val 62523"/>
                <a:gd name="adj2" fmla="val 203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控制器基于网络性能调优转发路径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Freeform: Shape 159">
              <a:extLst>
                <a:ext uri="{FF2B5EF4-FFF2-40B4-BE49-F238E27FC236}">
                  <a16:creationId xmlns="" xmlns:a16="http://schemas.microsoft.com/office/drawing/2014/main" id="{2882115D-A9B8-4568-9A8E-45834C109A8E}"/>
                </a:ext>
              </a:extLst>
            </p:cNvPr>
            <p:cNvSpPr/>
            <p:nvPr/>
          </p:nvSpPr>
          <p:spPr bwMode="gray">
            <a:xfrm>
              <a:off x="6868679" y="2686688"/>
              <a:ext cx="304812" cy="438150"/>
            </a:xfrm>
            <a:custGeom>
              <a:avLst/>
              <a:gdLst>
                <a:gd name="connsiteX0" fmla="*/ 304812 w 304812"/>
                <a:gd name="connsiteY0" fmla="*/ 438150 h 438150"/>
                <a:gd name="connsiteX1" fmla="*/ 12 w 304812"/>
                <a:gd name="connsiteY1" fmla="*/ 200025 h 438150"/>
                <a:gd name="connsiteX2" fmla="*/ 295287 w 304812"/>
                <a:gd name="connsiteY2" fmla="*/ 0 h 438150"/>
              </a:gdLst>
              <a:ahLst/>
              <a:cxnLst>
                <a:cxn ang="0">
                  <a:pos x="connsiteX0" y="connsiteY0"/>
                </a:cxn>
                <a:cxn ang="0">
                  <a:pos x="connsiteX1" y="connsiteY1"/>
                </a:cxn>
                <a:cxn ang="0">
                  <a:pos x="connsiteX2" y="connsiteY2"/>
                </a:cxn>
              </a:cxnLst>
              <a:rect l="l" t="t" r="r" b="b"/>
              <a:pathLst>
                <a:path w="304812" h="438150">
                  <a:moveTo>
                    <a:pt x="304812" y="438150"/>
                  </a:moveTo>
                  <a:cubicBezTo>
                    <a:pt x="153205" y="355600"/>
                    <a:pt x="1599" y="273050"/>
                    <a:pt x="12" y="200025"/>
                  </a:cubicBezTo>
                  <a:cubicBezTo>
                    <a:pt x="-1575" y="127000"/>
                    <a:pt x="146856" y="63500"/>
                    <a:pt x="295287" y="0"/>
                  </a:cubicBezTo>
                </a:path>
              </a:pathLst>
            </a:custGeom>
            <a:noFill/>
            <a:ln w="28575">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ular Callout 26">
              <a:extLst>
                <a:ext uri="{FF2B5EF4-FFF2-40B4-BE49-F238E27FC236}">
                  <a16:creationId xmlns="" xmlns:a16="http://schemas.microsoft.com/office/drawing/2014/main" id="{2D6F475C-BBE8-4229-81FC-613B6B0FFA8B}"/>
                </a:ext>
              </a:extLst>
            </p:cNvPr>
            <p:cNvSpPr/>
            <p:nvPr/>
          </p:nvSpPr>
          <p:spPr bwMode="gray">
            <a:xfrm>
              <a:off x="5584728" y="3463610"/>
              <a:ext cx="975057" cy="648104"/>
            </a:xfrm>
            <a:prstGeom prst="wedgeRectCallout">
              <a:avLst>
                <a:gd name="adj1" fmla="val 71187"/>
                <a:gd name="adj2" fmla="val 2137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控制器下发调优后的转发路径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2" name="直接箭头连接符 84">
              <a:extLst>
                <a:ext uri="{FF2B5EF4-FFF2-40B4-BE49-F238E27FC236}">
                  <a16:creationId xmlns="" xmlns:a16="http://schemas.microsoft.com/office/drawing/2014/main" id="{8F960098-417E-4F3B-A04A-60D2C17B8A6C}"/>
                </a:ext>
              </a:extLst>
            </p:cNvPr>
            <p:cNvCxnSpPr>
              <a:cxnSpLocks/>
              <a:stCxn id="74" idx="0"/>
              <a:endCxn id="146" idx="2"/>
            </p:cNvCxnSpPr>
            <p:nvPr/>
          </p:nvCxnSpPr>
          <p:spPr bwMode="gray">
            <a:xfrm flipV="1">
              <a:off x="6724955" y="3355789"/>
              <a:ext cx="1540848" cy="1014865"/>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3" name="直接箭头连接符 84">
              <a:extLst>
                <a:ext uri="{FF2B5EF4-FFF2-40B4-BE49-F238E27FC236}">
                  <a16:creationId xmlns="" xmlns:a16="http://schemas.microsoft.com/office/drawing/2014/main" id="{60322344-1347-4CBA-A0EF-E50C7E2C1B5D}"/>
                </a:ext>
              </a:extLst>
            </p:cNvPr>
            <p:cNvCxnSpPr>
              <a:cxnSpLocks/>
              <a:stCxn id="79" idx="0"/>
              <a:endCxn id="146" idx="2"/>
            </p:cNvCxnSpPr>
            <p:nvPr/>
          </p:nvCxnSpPr>
          <p:spPr bwMode="gray">
            <a:xfrm flipH="1" flipV="1">
              <a:off x="8265803" y="3355789"/>
              <a:ext cx="1545252" cy="1014865"/>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4" name="直接箭头连接符 84">
              <a:extLst>
                <a:ext uri="{FF2B5EF4-FFF2-40B4-BE49-F238E27FC236}">
                  <a16:creationId xmlns="" xmlns:a16="http://schemas.microsoft.com/office/drawing/2014/main" id="{3E72D703-566F-4C98-9ADC-55B254FCA6BB}"/>
                </a:ext>
              </a:extLst>
            </p:cNvPr>
            <p:cNvCxnSpPr>
              <a:cxnSpLocks/>
              <a:stCxn id="75" idx="0"/>
              <a:endCxn id="146" idx="2"/>
            </p:cNvCxnSpPr>
            <p:nvPr/>
          </p:nvCxnSpPr>
          <p:spPr bwMode="gray">
            <a:xfrm flipV="1">
              <a:off x="6724955" y="3355789"/>
              <a:ext cx="1540848" cy="2026103"/>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65" name="直接箭头连接符 84">
              <a:extLst>
                <a:ext uri="{FF2B5EF4-FFF2-40B4-BE49-F238E27FC236}">
                  <a16:creationId xmlns="" xmlns:a16="http://schemas.microsoft.com/office/drawing/2014/main" id="{73FEFECE-8220-45D1-9C91-1816A65A6CD8}"/>
                </a:ext>
              </a:extLst>
            </p:cNvPr>
            <p:cNvCxnSpPr>
              <a:cxnSpLocks/>
              <a:stCxn id="80" idx="0"/>
              <a:endCxn id="146" idx="2"/>
            </p:cNvCxnSpPr>
            <p:nvPr/>
          </p:nvCxnSpPr>
          <p:spPr bwMode="gray">
            <a:xfrm flipH="1" flipV="1">
              <a:off x="8265803" y="3355789"/>
              <a:ext cx="1545252" cy="2029886"/>
            </a:xfrm>
            <a:prstGeom prst="straightConnector1">
              <a:avLst/>
            </a:prstGeom>
            <a:ln w="19050" cap="flat" cmpd="sng" algn="ctr">
              <a:solidFill>
                <a:srgbClr val="56C4D2"/>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66" name="Rectangular Callout 139">
              <a:extLst>
                <a:ext uri="{FF2B5EF4-FFF2-40B4-BE49-F238E27FC236}">
                  <a16:creationId xmlns="" xmlns:a16="http://schemas.microsoft.com/office/drawing/2014/main" id="{AA29744B-A5F7-48D7-B59C-DC3533B6344B}"/>
                </a:ext>
              </a:extLst>
            </p:cNvPr>
            <p:cNvSpPr/>
            <p:nvPr/>
          </p:nvSpPr>
          <p:spPr bwMode="gray">
            <a:xfrm>
              <a:off x="7386295" y="3843146"/>
              <a:ext cx="1759013" cy="310556"/>
            </a:xfrm>
            <a:prstGeom prst="rect">
              <a:avLst/>
            </a:prstGeom>
            <a:solidFill>
              <a:schemeClr val="bg1"/>
            </a:solidFill>
            <a:ln w="19050">
              <a:no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rPr>
                <a:t>SNMP/FTP/Telemetry</a:t>
              </a:r>
              <a:endParaRPr lang="zh-CN" altLang="en-US" sz="1200" dirty="0">
                <a:solidFill>
                  <a:schemeClr val="bg1">
                    <a:lumMod val="50000"/>
                  </a:schemeClr>
                </a:solidFill>
              </a:endParaRPr>
            </a:p>
          </p:txBody>
        </p:sp>
        <p:cxnSp>
          <p:nvCxnSpPr>
            <p:cNvPr id="167" name="Straight Connector 166">
              <a:extLst>
                <a:ext uri="{FF2B5EF4-FFF2-40B4-BE49-F238E27FC236}">
                  <a16:creationId xmlns="" xmlns:a16="http://schemas.microsoft.com/office/drawing/2014/main" id="{A01643FD-0773-4044-918C-BA689BE34690}"/>
                </a:ext>
              </a:extLst>
            </p:cNvPr>
            <p:cNvCxnSpPr>
              <a:cxnSpLocks/>
            </p:cNvCxnSpPr>
            <p:nvPr/>
          </p:nvCxnSpPr>
          <p:spPr bwMode="gray">
            <a:xfrm>
              <a:off x="6724955" y="5775961"/>
              <a:ext cx="0" cy="28877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 xmlns:a16="http://schemas.microsoft.com/office/drawing/2014/main" id="{D7DBF8CF-D7FA-47B0-B046-BD318651025D}"/>
                </a:ext>
              </a:extLst>
            </p:cNvPr>
            <p:cNvCxnSpPr>
              <a:cxnSpLocks/>
            </p:cNvCxnSpPr>
            <p:nvPr/>
          </p:nvCxnSpPr>
          <p:spPr bwMode="gray">
            <a:xfrm>
              <a:off x="9820011" y="5779746"/>
              <a:ext cx="0" cy="288776"/>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9" name="直接箭头连接符 84">
              <a:extLst>
                <a:ext uri="{FF2B5EF4-FFF2-40B4-BE49-F238E27FC236}">
                  <a16:creationId xmlns="" xmlns:a16="http://schemas.microsoft.com/office/drawing/2014/main" id="{12B8C43F-1B55-4EBA-B526-A9D31C5E558A}"/>
                </a:ext>
              </a:extLst>
            </p:cNvPr>
            <p:cNvCxnSpPr>
              <a:cxnSpLocks/>
            </p:cNvCxnSpPr>
            <p:nvPr/>
          </p:nvCxnSpPr>
          <p:spPr bwMode="gray">
            <a:xfrm flipV="1">
              <a:off x="6787570" y="6007605"/>
              <a:ext cx="2960124" cy="1"/>
            </a:xfrm>
            <a:prstGeom prst="straightConnector1">
              <a:avLst/>
            </a:prstGeom>
            <a:ln w="19050" cap="flat" cmpd="sng" algn="ctr">
              <a:solidFill>
                <a:schemeClr val="bg1">
                  <a:lumMod val="50000"/>
                </a:schemeClr>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170" name="TextBox 271">
              <a:extLst>
                <a:ext uri="{FF2B5EF4-FFF2-40B4-BE49-F238E27FC236}">
                  <a16:creationId xmlns="" xmlns:a16="http://schemas.microsoft.com/office/drawing/2014/main" id="{218FFAA4-9E9A-45C8-9F8E-70BA0E168526}"/>
                </a:ext>
              </a:extLst>
            </p:cNvPr>
            <p:cNvSpPr txBox="1"/>
            <p:nvPr/>
          </p:nvSpPr>
          <p:spPr bwMode="gray">
            <a:xfrm>
              <a:off x="7891940" y="5873814"/>
              <a:ext cx="752129" cy="276999"/>
            </a:xfrm>
            <a:prstGeom prst="rect">
              <a:avLst/>
            </a:prstGeom>
            <a:solidFill>
              <a:schemeClr val="bg1"/>
            </a:solid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TWAMP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Rectangular Callout 26">
              <a:extLst>
                <a:ext uri="{FF2B5EF4-FFF2-40B4-BE49-F238E27FC236}">
                  <a16:creationId xmlns="" xmlns:a16="http://schemas.microsoft.com/office/drawing/2014/main" id="{D0D550F5-D452-499B-A4A7-EDF90DE1AEF6}"/>
                </a:ext>
              </a:extLst>
            </p:cNvPr>
            <p:cNvSpPr/>
            <p:nvPr/>
          </p:nvSpPr>
          <p:spPr bwMode="gray">
            <a:xfrm>
              <a:off x="8465573" y="4876386"/>
              <a:ext cx="862517" cy="388952"/>
            </a:xfrm>
            <a:prstGeom prst="wedgeRectCallout">
              <a:avLst>
                <a:gd name="adj1" fmla="val -65291"/>
                <a:gd name="adj2" fmla="val -217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链路产生大量丢包</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Rectangular Callout 26">
              <a:extLst>
                <a:ext uri="{FF2B5EF4-FFF2-40B4-BE49-F238E27FC236}">
                  <a16:creationId xmlns="" xmlns:a16="http://schemas.microsoft.com/office/drawing/2014/main" id="{6CAB377E-7A72-44D9-83E4-C15611124ECD}"/>
                </a:ext>
              </a:extLst>
            </p:cNvPr>
            <p:cNvSpPr/>
            <p:nvPr/>
          </p:nvSpPr>
          <p:spPr bwMode="gray">
            <a:xfrm>
              <a:off x="6863900" y="5418226"/>
              <a:ext cx="1417250" cy="388952"/>
            </a:xfrm>
            <a:prstGeom prst="wedgeRectCallout">
              <a:avLst>
                <a:gd name="adj1" fmla="val 27867"/>
                <a:gd name="adj2" fmla="val 8115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TWAMP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IFIT</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检查网络质量</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椭圆 15">
              <a:extLst>
                <a:ext uri="{FF2B5EF4-FFF2-40B4-BE49-F238E27FC236}">
                  <a16:creationId xmlns="" xmlns:a16="http://schemas.microsoft.com/office/drawing/2014/main" id="{1E576A83-5FEA-4412-A706-343780F809E9}"/>
                </a:ext>
              </a:extLst>
            </p:cNvPr>
            <p:cNvSpPr>
              <a:spLocks noChangeAspect="1"/>
            </p:cNvSpPr>
            <p:nvPr/>
          </p:nvSpPr>
          <p:spPr bwMode="gray">
            <a:xfrm>
              <a:off x="6741306" y="5342643"/>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椭圆 15">
              <a:extLst>
                <a:ext uri="{FF2B5EF4-FFF2-40B4-BE49-F238E27FC236}">
                  <a16:creationId xmlns="" xmlns:a16="http://schemas.microsoft.com/office/drawing/2014/main" id="{EF16C509-DBDD-45F4-BCEA-9DE32D1F8094}"/>
                </a:ext>
              </a:extLst>
            </p:cNvPr>
            <p:cNvSpPr>
              <a:spLocks noChangeAspect="1"/>
            </p:cNvSpPr>
            <p:nvPr/>
          </p:nvSpPr>
          <p:spPr bwMode="gray">
            <a:xfrm>
              <a:off x="9224572" y="4780983"/>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Rectangular Callout 26">
              <a:extLst>
                <a:ext uri="{FF2B5EF4-FFF2-40B4-BE49-F238E27FC236}">
                  <a16:creationId xmlns="" xmlns:a16="http://schemas.microsoft.com/office/drawing/2014/main" id="{47588047-FFC7-4DD8-BC60-A83AD4B4DB84}"/>
                </a:ext>
              </a:extLst>
            </p:cNvPr>
            <p:cNvSpPr/>
            <p:nvPr/>
          </p:nvSpPr>
          <p:spPr bwMode="gray">
            <a:xfrm>
              <a:off x="9376440" y="3526576"/>
              <a:ext cx="1351459" cy="388952"/>
            </a:xfrm>
            <a:prstGeom prst="wedgeRectCallout">
              <a:avLst>
                <a:gd name="adj1" fmla="val -60825"/>
                <a:gd name="adj2" fmla="val 4544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038">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设备上报网络性能数据至控制器</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椭圆 15">
              <a:extLst>
                <a:ext uri="{FF2B5EF4-FFF2-40B4-BE49-F238E27FC236}">
                  <a16:creationId xmlns="" xmlns:a16="http://schemas.microsoft.com/office/drawing/2014/main" id="{19273DB8-64A3-496A-923B-0B853D73A52C}"/>
                </a:ext>
              </a:extLst>
            </p:cNvPr>
            <p:cNvSpPr>
              <a:spLocks noChangeAspect="1"/>
            </p:cNvSpPr>
            <p:nvPr/>
          </p:nvSpPr>
          <p:spPr bwMode="gray">
            <a:xfrm>
              <a:off x="10632496" y="3431173"/>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椭圆 15">
              <a:extLst>
                <a:ext uri="{FF2B5EF4-FFF2-40B4-BE49-F238E27FC236}">
                  <a16:creationId xmlns="" xmlns:a16="http://schemas.microsoft.com/office/drawing/2014/main" id="{8DE69CEF-64A7-47D8-A143-8560187C0A0E}"/>
                </a:ext>
              </a:extLst>
            </p:cNvPr>
            <p:cNvSpPr>
              <a:spLocks noChangeAspect="1"/>
            </p:cNvSpPr>
            <p:nvPr/>
          </p:nvSpPr>
          <p:spPr bwMode="gray">
            <a:xfrm>
              <a:off x="6629552" y="2400531"/>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椭圆 15">
              <a:extLst>
                <a:ext uri="{FF2B5EF4-FFF2-40B4-BE49-F238E27FC236}">
                  <a16:creationId xmlns="" xmlns:a16="http://schemas.microsoft.com/office/drawing/2014/main" id="{AA33D10D-309B-4219-A224-9BAD2E47B4F1}"/>
                </a:ext>
              </a:extLst>
            </p:cNvPr>
            <p:cNvSpPr>
              <a:spLocks noChangeAspect="1"/>
            </p:cNvSpPr>
            <p:nvPr/>
          </p:nvSpPr>
          <p:spPr bwMode="gray">
            <a:xfrm>
              <a:off x="6469102" y="3376311"/>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8707750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网络流量调优设计</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p:txBody>
          <a:bodyPr/>
          <a:lstStyle/>
          <a:p>
            <a:r>
              <a:rPr lang="zh-CN" altLang="en-US" sz="1800" dirty="0"/>
              <a:t>网络调优设计需要关注两个问题：</a:t>
            </a:r>
            <a:r>
              <a:rPr lang="en-US" altLang="zh-CN" sz="1800" dirty="0"/>
              <a:t>1. </a:t>
            </a:r>
            <a:r>
              <a:rPr lang="zh-CN" altLang="en-US" sz="1800" dirty="0"/>
              <a:t>调什么，</a:t>
            </a:r>
            <a:r>
              <a:rPr lang="en-US" altLang="zh-CN" sz="1800" dirty="0"/>
              <a:t>2. </a:t>
            </a:r>
            <a:r>
              <a:rPr lang="zh-CN" altLang="en-US" sz="1800" dirty="0"/>
              <a:t>怎么调。</a:t>
            </a:r>
            <a:endParaRPr lang="en-US" altLang="zh-CN" sz="1800" dirty="0"/>
          </a:p>
          <a:p>
            <a:r>
              <a:rPr lang="zh-CN" altLang="en-US" sz="1800" dirty="0"/>
              <a:t>调什么：</a:t>
            </a:r>
            <a:endParaRPr lang="en-US" altLang="zh-CN" sz="1800" dirty="0"/>
          </a:p>
          <a:p>
            <a:pPr lvl="1"/>
            <a:r>
              <a:rPr lang="zh-CN" altLang="en-US" sz="1600" dirty="0"/>
              <a:t>通俗来讲，调优即优化业务路径（</a:t>
            </a:r>
            <a:r>
              <a:rPr lang="en-US" altLang="zh-CN" sz="1600" dirty="0"/>
              <a:t>LSP</a:t>
            </a:r>
            <a:r>
              <a:rPr lang="zh-CN" altLang="en-US" sz="1600" dirty="0"/>
              <a:t>），</a:t>
            </a:r>
            <a:r>
              <a:rPr lang="en-US" altLang="zh-CN" sz="1600" dirty="0"/>
              <a:t>LSP</a:t>
            </a:r>
            <a:r>
              <a:rPr lang="zh-CN" altLang="en-US" sz="1600" dirty="0"/>
              <a:t>是逻辑概念，等同为隧道；链路是物理概念。二者之间的关系是：一段链路可承载多条隧道，一条隧道（</a:t>
            </a:r>
            <a:r>
              <a:rPr lang="en-US" altLang="zh-CN" sz="1600" dirty="0"/>
              <a:t>LSP</a:t>
            </a:r>
            <a:r>
              <a:rPr lang="zh-CN" altLang="en-US" sz="1600" dirty="0"/>
              <a:t>）对应一条业务。因此，改变业务路径可基于链路和隧道两个维度进行。</a:t>
            </a:r>
            <a:endParaRPr lang="en-US" altLang="zh-CN" sz="1600" dirty="0"/>
          </a:p>
          <a:p>
            <a:pPr lvl="2"/>
            <a:r>
              <a:rPr lang="zh-CN" altLang="en-US" sz="1400" dirty="0"/>
              <a:t>链路调优：选中某条或多条链路进行调优，参与算路的是选中链路承载的所有</a:t>
            </a:r>
            <a:r>
              <a:rPr lang="en-US" altLang="zh-CN" sz="1400" dirty="0"/>
              <a:t>LSP</a:t>
            </a:r>
            <a:r>
              <a:rPr lang="zh-CN" altLang="en-US" sz="1400" dirty="0"/>
              <a:t>。</a:t>
            </a:r>
          </a:p>
          <a:p>
            <a:pPr lvl="2"/>
            <a:r>
              <a:rPr lang="zh-CN" altLang="en-US" sz="1400" dirty="0"/>
              <a:t>隧道调优：选中某条或多条隧道进行调优，参与算路的就是选中隧道对应的</a:t>
            </a:r>
            <a:r>
              <a:rPr lang="en-US" altLang="zh-CN" sz="1400" dirty="0"/>
              <a:t>LSP</a:t>
            </a:r>
            <a:r>
              <a:rPr lang="zh-CN" altLang="en-US" sz="1400" dirty="0"/>
              <a:t>。</a:t>
            </a:r>
            <a:endParaRPr lang="en-US" altLang="zh-CN" sz="1400" dirty="0"/>
          </a:p>
          <a:p>
            <a:r>
              <a:rPr lang="zh-CN" altLang="en-US" sz="1800" dirty="0"/>
              <a:t>怎么调：</a:t>
            </a:r>
            <a:endParaRPr lang="en-US" altLang="zh-CN" sz="1800" dirty="0"/>
          </a:p>
          <a:p>
            <a:pPr lvl="1"/>
            <a:r>
              <a:rPr lang="zh-CN" altLang="en-US" sz="1600" dirty="0"/>
              <a:t>调优方案提供自动调优和手动调优两种方式：</a:t>
            </a:r>
            <a:endParaRPr lang="en-US" altLang="zh-CN" sz="1600" dirty="0"/>
          </a:p>
          <a:p>
            <a:pPr lvl="2"/>
            <a:r>
              <a:rPr lang="zh-CN" altLang="en-US" sz="1400" dirty="0"/>
              <a:t>自动调优是流量自动分析，自动定期调整。</a:t>
            </a:r>
            <a:endParaRPr lang="en-US" altLang="zh-CN" sz="1400" dirty="0"/>
          </a:p>
          <a:p>
            <a:pPr lvl="2"/>
            <a:r>
              <a:rPr lang="zh-CN" altLang="en-US" sz="1400" dirty="0"/>
              <a:t>手动调优是用户根据网络状况随时调整。</a:t>
            </a:r>
            <a:endParaRPr lang="en-US" sz="14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012891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隧道自动调优设计</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p:txBody>
          <a:bodyPr/>
          <a:lstStyle/>
          <a:p>
            <a:r>
              <a:rPr lang="zh-CN" altLang="en-US" sz="1800" dirty="0"/>
              <a:t>当网络规模较大时，人工已经无法对隧道质量进行保障，可以通过自动调优，实现对于隧道质量自动分析、自动调整。降低人力维护成本，提高网络调整的时效性。</a:t>
            </a:r>
            <a:endParaRPr lang="en-US" altLang="zh-CN" sz="1800" dirty="0"/>
          </a:p>
          <a:p>
            <a:r>
              <a:rPr lang="zh-CN" altLang="en-US" sz="1800" dirty="0"/>
              <a:t>隧道自动调优有以下几种场景：</a:t>
            </a:r>
            <a:endParaRPr lang="en-US" altLang="zh-CN" sz="1800" dirty="0"/>
          </a:p>
          <a:p>
            <a:pPr lvl="1"/>
            <a:r>
              <a:rPr lang="zh-CN" altLang="en-US" sz="1600" b="0" i="0" dirty="0">
                <a:effectLst/>
                <a:latin typeface="Microsoft Yahei" panose="020B0503020204020204" pitchFamily="34" charset="-122"/>
                <a:ea typeface="Microsoft Yahei" panose="020B0503020204020204" pitchFamily="34" charset="-122"/>
              </a:rPr>
              <a:t>定时优化</a:t>
            </a:r>
            <a:endParaRPr lang="en-US" altLang="zh-CN" sz="1600" b="0" i="0" dirty="0">
              <a:effectLst/>
              <a:latin typeface="Microsoft Yahei" panose="020B0503020204020204" pitchFamily="34" charset="-122"/>
              <a:ea typeface="Microsoft Yahei" panose="020B0503020204020204" pitchFamily="34" charset="-122"/>
            </a:endParaRPr>
          </a:p>
          <a:p>
            <a:pPr lvl="1"/>
            <a:r>
              <a:rPr lang="zh-CN" altLang="en-US" sz="1600" b="0" i="0" dirty="0">
                <a:effectLst/>
                <a:latin typeface="Microsoft Yahei" panose="020B0503020204020204" pitchFamily="34" charset="-122"/>
                <a:ea typeface="Microsoft Yahei" panose="020B0503020204020204" pitchFamily="34" charset="-122"/>
              </a:rPr>
              <a:t>带宽越限时自动调优</a:t>
            </a:r>
            <a:endParaRPr lang="en-US" altLang="zh-CN" sz="1600" dirty="0">
              <a:latin typeface="Microsoft Yahei" panose="020B0503020204020204" pitchFamily="34" charset="-122"/>
              <a:ea typeface="Microsoft Yahei" panose="020B0503020204020204" pitchFamily="34" charset="-122"/>
            </a:endParaRPr>
          </a:p>
          <a:p>
            <a:pPr lvl="1"/>
            <a:r>
              <a:rPr lang="zh-CN" altLang="en-US" sz="1600" b="0" i="0" dirty="0">
                <a:effectLst/>
                <a:latin typeface="Microsoft Yahei" panose="020B0503020204020204" pitchFamily="34" charset="-122"/>
                <a:ea typeface="Microsoft Yahei" panose="020B0503020204020204" pitchFamily="34" charset="-122"/>
              </a:rPr>
              <a:t>维护窗口触发调优</a:t>
            </a:r>
            <a:endParaRPr lang="en-US" altLang="zh-CN" sz="1600" b="0" i="0" dirty="0">
              <a:effectLst/>
              <a:latin typeface="Microsoft Yahei" panose="020B0503020204020204" pitchFamily="34" charset="-122"/>
              <a:ea typeface="Microsoft Yahei" panose="020B0503020204020204" pitchFamily="34" charset="-122"/>
            </a:endParaRPr>
          </a:p>
          <a:p>
            <a:r>
              <a:rPr lang="zh-CN" altLang="en-US" sz="1800" dirty="0"/>
              <a:t>用户可选的调优触发方式有“流量”、“时延”、“时延</a:t>
            </a:r>
            <a:r>
              <a:rPr lang="en-US" altLang="zh-CN" sz="1800" dirty="0"/>
              <a:t>+</a:t>
            </a:r>
            <a:r>
              <a:rPr lang="zh-CN" altLang="en-US" sz="1800" dirty="0"/>
              <a:t>流量”三种。</a:t>
            </a:r>
            <a:endParaRPr lang="en-US" sz="18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159810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隧道手动调优设计</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p:txBody>
          <a:bodyPr/>
          <a:lstStyle/>
          <a:p>
            <a:r>
              <a:rPr lang="zh-CN" altLang="en-US" sz="1800" dirty="0"/>
              <a:t>手动调优是由操作员自己分析网络状态，并手动进行网络调整，手动调优可以根据用户需要随时进行调优。</a:t>
            </a:r>
          </a:p>
          <a:p>
            <a:r>
              <a:rPr lang="zh-CN" altLang="en-US" sz="1800" dirty="0"/>
              <a:t>此处列举出常见的三种应用场景：</a:t>
            </a:r>
            <a:endParaRPr lang="en-US" altLang="zh-CN" sz="1800" dirty="0"/>
          </a:p>
          <a:p>
            <a:pPr lvl="1"/>
            <a:r>
              <a:rPr lang="zh-CN" altLang="en-US" sz="1600" dirty="0"/>
              <a:t>若当前流量转发路径不满足用户期望，用户通过更改链路的约束属性，手动触发调优来改变转发路径。</a:t>
            </a:r>
            <a:endParaRPr lang="en-US" altLang="zh-CN" sz="1600" dirty="0"/>
          </a:p>
          <a:p>
            <a:pPr lvl="1"/>
            <a:r>
              <a:rPr lang="zh-CN" altLang="en-US" sz="1600" dirty="0"/>
              <a:t>当用户配置业务完成时，可选择手动进行网络重优化，保证当前所有隧道路径都是最优。</a:t>
            </a:r>
            <a:endParaRPr lang="en-US" altLang="zh-CN" sz="1600" dirty="0"/>
          </a:p>
          <a:p>
            <a:pPr lvl="1"/>
            <a:r>
              <a:rPr lang="zh-CN" altLang="en-US" sz="1600" dirty="0"/>
              <a:t>链路质量下降时（或没有达到自动调优的阈值，但带宽占用率很高时），以及当多条链路的带宽利用率不均匀时（有的链路带宽利用率很高，有的却空闲），可以采用手动局部</a:t>
            </a:r>
            <a:r>
              <a:rPr lang="en-US" altLang="zh-CN" sz="1600" dirty="0"/>
              <a:t>/</a:t>
            </a:r>
            <a:r>
              <a:rPr lang="zh-CN" altLang="en-US" sz="1600" dirty="0"/>
              <a:t>全局调优方式进行调优。</a:t>
            </a:r>
            <a:endParaRPr lang="en-US" sz="16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7254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应用调优介绍</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a:xfrm>
            <a:off x="455612" y="1047750"/>
            <a:ext cx="11293475" cy="1348941"/>
          </a:xfrm>
        </p:spPr>
        <p:txBody>
          <a:bodyPr/>
          <a:lstStyle/>
          <a:p>
            <a:r>
              <a:rPr lang="zh-CN" altLang="en-US" sz="1800" dirty="0"/>
              <a:t>在已部署</a:t>
            </a:r>
            <a:r>
              <a:rPr lang="en-US" altLang="zh-CN" sz="1800" dirty="0"/>
              <a:t>VPN</a:t>
            </a:r>
            <a:r>
              <a:rPr lang="zh-CN" altLang="en-US" sz="1800" dirty="0"/>
              <a:t>的网络上，需要增加基于不同应用的差异化</a:t>
            </a:r>
            <a:r>
              <a:rPr lang="en-US" altLang="zh-CN" sz="1800" dirty="0"/>
              <a:t>SLA</a:t>
            </a:r>
            <a:r>
              <a:rPr lang="zh-CN" altLang="en-US" sz="1800" dirty="0"/>
              <a:t>路径保障时，可对应用进行类别划分，并通过</a:t>
            </a:r>
            <a:r>
              <a:rPr lang="en-US" altLang="zh-CN" sz="1800" dirty="0"/>
              <a:t>DSCP</a:t>
            </a:r>
            <a:r>
              <a:rPr lang="zh-CN" altLang="en-US" sz="1800" dirty="0"/>
              <a:t>（</a:t>
            </a:r>
            <a:r>
              <a:rPr lang="en-US" altLang="zh-CN" sz="1800" dirty="0"/>
              <a:t>Differentiated Services Code Point </a:t>
            </a:r>
            <a:r>
              <a:rPr lang="zh-CN" altLang="en-US" sz="1800" dirty="0"/>
              <a:t>差分服务代码点）进行标识。</a:t>
            </a:r>
            <a:r>
              <a:rPr lang="en-US" altLang="zh-CN" sz="1800" dirty="0"/>
              <a:t>DSCP</a:t>
            </a:r>
            <a:r>
              <a:rPr lang="zh-CN" altLang="en-US" sz="1800" dirty="0"/>
              <a:t>对应于隧道的</a:t>
            </a:r>
            <a:r>
              <a:rPr lang="en-US" altLang="zh-CN" sz="1800" dirty="0"/>
              <a:t>Color</a:t>
            </a:r>
            <a:r>
              <a:rPr lang="zh-CN" altLang="en-US" sz="1800" dirty="0"/>
              <a:t>，根据</a:t>
            </a:r>
            <a:r>
              <a:rPr lang="en-US" altLang="zh-CN" sz="1800" dirty="0"/>
              <a:t>DSCP</a:t>
            </a:r>
            <a:r>
              <a:rPr lang="zh-CN" altLang="en-US" sz="1800" dirty="0"/>
              <a:t>标识将应用流量引入对应的隧道。</a:t>
            </a:r>
            <a:endParaRPr lang="en-US" sz="18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48">
            <a:extLst>
              <a:ext uri="{FF2B5EF4-FFF2-40B4-BE49-F238E27FC236}">
                <a16:creationId xmlns="" xmlns:a16="http://schemas.microsoft.com/office/drawing/2014/main" id="{EDFAAE19-5C0E-4C61-B21E-98578F090A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82142" y="3436170"/>
            <a:ext cx="378863" cy="310667"/>
          </a:xfrm>
          <a:prstGeom prst="rect">
            <a:avLst/>
          </a:prstGeom>
        </p:spPr>
      </p:pic>
      <p:pic>
        <p:nvPicPr>
          <p:cNvPr id="9" name="图片 48">
            <a:extLst>
              <a:ext uri="{FF2B5EF4-FFF2-40B4-BE49-F238E27FC236}">
                <a16:creationId xmlns="" xmlns:a16="http://schemas.microsoft.com/office/drawing/2014/main" id="{7A3B8E7A-753E-4FDB-9A50-7494CCC070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82142" y="4302003"/>
            <a:ext cx="378863" cy="310667"/>
          </a:xfrm>
          <a:prstGeom prst="rect">
            <a:avLst/>
          </a:prstGeom>
        </p:spPr>
      </p:pic>
      <p:pic>
        <p:nvPicPr>
          <p:cNvPr id="10" name="图片 48">
            <a:extLst>
              <a:ext uri="{FF2B5EF4-FFF2-40B4-BE49-F238E27FC236}">
                <a16:creationId xmlns="" xmlns:a16="http://schemas.microsoft.com/office/drawing/2014/main" id="{BBD62937-F21E-429C-9E62-1A579FA2E6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66144" y="3436170"/>
            <a:ext cx="378863" cy="310667"/>
          </a:xfrm>
          <a:prstGeom prst="rect">
            <a:avLst/>
          </a:prstGeom>
        </p:spPr>
      </p:pic>
      <p:pic>
        <p:nvPicPr>
          <p:cNvPr id="11" name="图片 48">
            <a:extLst>
              <a:ext uri="{FF2B5EF4-FFF2-40B4-BE49-F238E27FC236}">
                <a16:creationId xmlns="" xmlns:a16="http://schemas.microsoft.com/office/drawing/2014/main" id="{2556AFC9-FECC-456E-A133-B51DA44B91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66144" y="4302003"/>
            <a:ext cx="378863" cy="310667"/>
          </a:xfrm>
          <a:prstGeom prst="rect">
            <a:avLst/>
          </a:prstGeom>
        </p:spPr>
      </p:pic>
      <p:pic>
        <p:nvPicPr>
          <p:cNvPr id="12" name="图片 48">
            <a:extLst>
              <a:ext uri="{FF2B5EF4-FFF2-40B4-BE49-F238E27FC236}">
                <a16:creationId xmlns="" xmlns:a16="http://schemas.microsoft.com/office/drawing/2014/main" id="{2922B2D9-FEEC-4E04-AE57-2699BCF6F5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41934" y="3433236"/>
            <a:ext cx="378863" cy="310667"/>
          </a:xfrm>
          <a:prstGeom prst="rect">
            <a:avLst/>
          </a:prstGeom>
        </p:spPr>
      </p:pic>
      <p:pic>
        <p:nvPicPr>
          <p:cNvPr id="13" name="图片 48">
            <a:extLst>
              <a:ext uri="{FF2B5EF4-FFF2-40B4-BE49-F238E27FC236}">
                <a16:creationId xmlns="" xmlns:a16="http://schemas.microsoft.com/office/drawing/2014/main" id="{84E0172C-53CA-49A1-B1C5-C8A1DD60A4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253403" y="4299069"/>
            <a:ext cx="378863" cy="310667"/>
          </a:xfrm>
          <a:prstGeom prst="rect">
            <a:avLst/>
          </a:prstGeom>
        </p:spPr>
      </p:pic>
      <p:pic>
        <p:nvPicPr>
          <p:cNvPr id="14" name="图片 48">
            <a:extLst>
              <a:ext uri="{FF2B5EF4-FFF2-40B4-BE49-F238E27FC236}">
                <a16:creationId xmlns="" xmlns:a16="http://schemas.microsoft.com/office/drawing/2014/main" id="{4A9DA4FE-4DB8-4581-B467-B03E371A42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33729" y="4298647"/>
            <a:ext cx="378863" cy="310667"/>
          </a:xfrm>
          <a:prstGeom prst="rect">
            <a:avLst/>
          </a:prstGeom>
        </p:spPr>
      </p:pic>
      <p:cxnSp>
        <p:nvCxnSpPr>
          <p:cNvPr id="15" name="Straight Connector 14">
            <a:extLst>
              <a:ext uri="{FF2B5EF4-FFF2-40B4-BE49-F238E27FC236}">
                <a16:creationId xmlns="" xmlns:a16="http://schemas.microsoft.com/office/drawing/2014/main" id="{5D9AAEFE-88B1-4C47-82F3-F953E36EC8A8}"/>
              </a:ext>
            </a:extLst>
          </p:cNvPr>
          <p:cNvCxnSpPr>
            <a:cxnSpLocks/>
            <a:stCxn id="9" idx="0"/>
            <a:endCxn id="8" idx="2"/>
          </p:cNvCxnSpPr>
          <p:nvPr/>
        </p:nvCxnSpPr>
        <p:spPr bwMode="gray">
          <a:xfrm flipV="1">
            <a:off x="4471574" y="374683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BF10A4F5-2678-42EB-9B51-EFD7591ED0FA}"/>
              </a:ext>
            </a:extLst>
          </p:cNvPr>
          <p:cNvCxnSpPr>
            <a:cxnSpLocks/>
            <a:stCxn id="12" idx="1"/>
            <a:endCxn id="8" idx="3"/>
          </p:cNvCxnSpPr>
          <p:nvPr/>
        </p:nvCxnSpPr>
        <p:spPr bwMode="gray">
          <a:xfrm flipH="1">
            <a:off x="4661005" y="3588570"/>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3BFBD33A-5B03-468C-B043-65A962FB449E}"/>
              </a:ext>
            </a:extLst>
          </p:cNvPr>
          <p:cNvCxnSpPr>
            <a:cxnSpLocks/>
            <a:stCxn id="13" idx="1"/>
            <a:endCxn id="9" idx="3"/>
          </p:cNvCxnSpPr>
          <p:nvPr/>
        </p:nvCxnSpPr>
        <p:spPr bwMode="gray">
          <a:xfrm flipH="1">
            <a:off x="4661005" y="4454403"/>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1D190269-61D9-41BA-808D-D7439E76D32C}"/>
              </a:ext>
            </a:extLst>
          </p:cNvPr>
          <p:cNvCxnSpPr>
            <a:cxnSpLocks/>
            <a:stCxn id="12" idx="1"/>
            <a:endCxn id="13" idx="0"/>
          </p:cNvCxnSpPr>
          <p:nvPr/>
        </p:nvCxnSpPr>
        <p:spPr bwMode="gray">
          <a:xfrm flipH="1">
            <a:off x="5442835" y="3588570"/>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6D8A00BF-A2B5-49AB-9AF3-850B1810817A}"/>
              </a:ext>
            </a:extLst>
          </p:cNvPr>
          <p:cNvCxnSpPr>
            <a:cxnSpLocks/>
            <a:stCxn id="14" idx="1"/>
            <a:endCxn id="13" idx="3"/>
          </p:cNvCxnSpPr>
          <p:nvPr/>
        </p:nvCxnSpPr>
        <p:spPr bwMode="gray">
          <a:xfrm flipH="1">
            <a:off x="5632266" y="4453981"/>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5D79F294-507E-4E41-9C8A-79A84DC0309D}"/>
              </a:ext>
            </a:extLst>
          </p:cNvPr>
          <p:cNvCxnSpPr>
            <a:cxnSpLocks/>
            <a:stCxn id="14" idx="0"/>
            <a:endCxn id="12" idx="3"/>
          </p:cNvCxnSpPr>
          <p:nvPr/>
        </p:nvCxnSpPr>
        <p:spPr bwMode="gray">
          <a:xfrm flipH="1" flipV="1">
            <a:off x="6220797" y="3588570"/>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92C4B10E-9DA6-41E0-BE29-3CE1BF8C893C}"/>
              </a:ext>
            </a:extLst>
          </p:cNvPr>
          <p:cNvCxnSpPr>
            <a:cxnSpLocks/>
            <a:stCxn id="10" idx="1"/>
            <a:endCxn id="12" idx="3"/>
          </p:cNvCxnSpPr>
          <p:nvPr/>
        </p:nvCxnSpPr>
        <p:spPr bwMode="gray">
          <a:xfrm flipH="1" flipV="1">
            <a:off x="6220797" y="3588570"/>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01AE4939-E350-4A98-B531-8EE0E25D1F60}"/>
              </a:ext>
            </a:extLst>
          </p:cNvPr>
          <p:cNvCxnSpPr>
            <a:cxnSpLocks/>
            <a:stCxn id="11" idx="1"/>
            <a:endCxn id="14" idx="3"/>
          </p:cNvCxnSpPr>
          <p:nvPr/>
        </p:nvCxnSpPr>
        <p:spPr bwMode="gray">
          <a:xfrm flipH="1" flipV="1">
            <a:off x="6812592" y="4453981"/>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0E306366-CF9A-4854-8C37-EE77C8C1D25B}"/>
              </a:ext>
            </a:extLst>
          </p:cNvPr>
          <p:cNvCxnSpPr>
            <a:cxnSpLocks/>
            <a:stCxn id="10" idx="2"/>
            <a:endCxn id="11" idx="0"/>
          </p:cNvCxnSpPr>
          <p:nvPr/>
        </p:nvCxnSpPr>
        <p:spPr bwMode="gray">
          <a:xfrm>
            <a:off x="7455576" y="374683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71">
            <a:extLst>
              <a:ext uri="{FF2B5EF4-FFF2-40B4-BE49-F238E27FC236}">
                <a16:creationId xmlns="" xmlns:a16="http://schemas.microsoft.com/office/drawing/2014/main" id="{0A96288C-F909-4004-932E-74A6AC95FAB6}"/>
              </a:ext>
            </a:extLst>
          </p:cNvPr>
          <p:cNvSpPr txBox="1"/>
          <p:nvPr/>
        </p:nvSpPr>
        <p:spPr bwMode="gray">
          <a:xfrm>
            <a:off x="4292678" y="319225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271">
            <a:extLst>
              <a:ext uri="{FF2B5EF4-FFF2-40B4-BE49-F238E27FC236}">
                <a16:creationId xmlns="" xmlns:a16="http://schemas.microsoft.com/office/drawing/2014/main" id="{5EC06F22-AF32-42F4-9976-77C70E7377B9}"/>
              </a:ext>
            </a:extLst>
          </p:cNvPr>
          <p:cNvSpPr txBox="1"/>
          <p:nvPr/>
        </p:nvSpPr>
        <p:spPr bwMode="gray">
          <a:xfrm>
            <a:off x="4275506" y="4588470"/>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71">
            <a:extLst>
              <a:ext uri="{FF2B5EF4-FFF2-40B4-BE49-F238E27FC236}">
                <a16:creationId xmlns="" xmlns:a16="http://schemas.microsoft.com/office/drawing/2014/main" id="{173D0CCB-03B2-4781-8F17-E7AACEA19975}"/>
              </a:ext>
            </a:extLst>
          </p:cNvPr>
          <p:cNvSpPr txBox="1"/>
          <p:nvPr/>
        </p:nvSpPr>
        <p:spPr bwMode="gray">
          <a:xfrm>
            <a:off x="7263720" y="320977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71">
            <a:extLst>
              <a:ext uri="{FF2B5EF4-FFF2-40B4-BE49-F238E27FC236}">
                <a16:creationId xmlns="" xmlns:a16="http://schemas.microsoft.com/office/drawing/2014/main" id="{2786A320-0C4F-4736-8EB7-22A89817397A}"/>
              </a:ext>
            </a:extLst>
          </p:cNvPr>
          <p:cNvSpPr txBox="1"/>
          <p:nvPr/>
        </p:nvSpPr>
        <p:spPr bwMode="gray">
          <a:xfrm>
            <a:off x="7265319" y="459844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271">
            <a:extLst>
              <a:ext uri="{FF2B5EF4-FFF2-40B4-BE49-F238E27FC236}">
                <a16:creationId xmlns="" xmlns:a16="http://schemas.microsoft.com/office/drawing/2014/main" id="{64E611BB-ED99-48A3-AA52-B09F7F8C3600}"/>
              </a:ext>
            </a:extLst>
          </p:cNvPr>
          <p:cNvSpPr txBox="1"/>
          <p:nvPr/>
        </p:nvSpPr>
        <p:spPr bwMode="gray">
          <a:xfrm>
            <a:off x="5900969" y="3192255"/>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271">
            <a:extLst>
              <a:ext uri="{FF2B5EF4-FFF2-40B4-BE49-F238E27FC236}">
                <a16:creationId xmlns="" xmlns:a16="http://schemas.microsoft.com/office/drawing/2014/main" id="{A5327BA6-CA41-46C0-9890-4FD004CCF751}"/>
              </a:ext>
            </a:extLst>
          </p:cNvPr>
          <p:cNvSpPr txBox="1"/>
          <p:nvPr/>
        </p:nvSpPr>
        <p:spPr bwMode="gray">
          <a:xfrm>
            <a:off x="5303244" y="4576167"/>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271">
            <a:extLst>
              <a:ext uri="{FF2B5EF4-FFF2-40B4-BE49-F238E27FC236}">
                <a16:creationId xmlns="" xmlns:a16="http://schemas.microsoft.com/office/drawing/2014/main" id="{F49762CF-DA6F-4164-9378-F843119B4F9D}"/>
              </a:ext>
            </a:extLst>
          </p:cNvPr>
          <p:cNvSpPr txBox="1"/>
          <p:nvPr/>
        </p:nvSpPr>
        <p:spPr bwMode="gray">
          <a:xfrm>
            <a:off x="6484906" y="4598202"/>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48">
            <a:extLst>
              <a:ext uri="{FF2B5EF4-FFF2-40B4-BE49-F238E27FC236}">
                <a16:creationId xmlns="" xmlns:a16="http://schemas.microsoft.com/office/drawing/2014/main" id="{529F6D47-ADCE-4604-97C9-5B444A8E1B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36909" y="3942352"/>
            <a:ext cx="378863" cy="310667"/>
          </a:xfrm>
          <a:prstGeom prst="rect">
            <a:avLst/>
          </a:prstGeom>
        </p:spPr>
      </p:pic>
      <p:sp>
        <p:nvSpPr>
          <p:cNvPr id="32" name="TextBox 271">
            <a:extLst>
              <a:ext uri="{FF2B5EF4-FFF2-40B4-BE49-F238E27FC236}">
                <a16:creationId xmlns="" xmlns:a16="http://schemas.microsoft.com/office/drawing/2014/main" id="{6B6E17CA-C4F4-4F1A-808D-7417CF555A8F}"/>
              </a:ext>
            </a:extLst>
          </p:cNvPr>
          <p:cNvSpPr txBox="1"/>
          <p:nvPr/>
        </p:nvSpPr>
        <p:spPr bwMode="gray">
          <a:xfrm>
            <a:off x="5843164" y="4204117"/>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Straight Connector 32">
            <a:extLst>
              <a:ext uri="{FF2B5EF4-FFF2-40B4-BE49-F238E27FC236}">
                <a16:creationId xmlns="" xmlns:a16="http://schemas.microsoft.com/office/drawing/2014/main" id="{6B079038-16C8-4815-9E31-91D5FF74A266}"/>
              </a:ext>
            </a:extLst>
          </p:cNvPr>
          <p:cNvCxnSpPr>
            <a:cxnSpLocks/>
            <a:stCxn id="12" idx="2"/>
            <a:endCxn id="31" idx="0"/>
          </p:cNvCxnSpPr>
          <p:nvPr/>
        </p:nvCxnSpPr>
        <p:spPr bwMode="gray">
          <a:xfrm flipH="1">
            <a:off x="6026341" y="3743903"/>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Can 225">
            <a:extLst>
              <a:ext uri="{FF2B5EF4-FFF2-40B4-BE49-F238E27FC236}">
                <a16:creationId xmlns="" xmlns:a16="http://schemas.microsoft.com/office/drawing/2014/main" id="{34AD649A-9195-4118-BC46-C7A7FBB44D29}"/>
              </a:ext>
            </a:extLst>
          </p:cNvPr>
          <p:cNvSpPr/>
          <p:nvPr/>
        </p:nvSpPr>
        <p:spPr bwMode="gray">
          <a:xfrm rot="5400000">
            <a:off x="5866590" y="1958379"/>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Can 225">
            <a:extLst>
              <a:ext uri="{FF2B5EF4-FFF2-40B4-BE49-F238E27FC236}">
                <a16:creationId xmlns="" xmlns:a16="http://schemas.microsoft.com/office/drawing/2014/main" id="{CF037EC1-C0E9-4146-8A56-152B58C5B030}"/>
              </a:ext>
            </a:extLst>
          </p:cNvPr>
          <p:cNvSpPr/>
          <p:nvPr/>
        </p:nvSpPr>
        <p:spPr bwMode="gray">
          <a:xfrm rot="6139468">
            <a:off x="5805022" y="2479523"/>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2" name="图片 48">
            <a:extLst>
              <a:ext uri="{FF2B5EF4-FFF2-40B4-BE49-F238E27FC236}">
                <a16:creationId xmlns="" xmlns:a16="http://schemas.microsoft.com/office/drawing/2014/main" id="{50816941-2973-4FDF-BCD1-C3441A6724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321418" y="3436170"/>
            <a:ext cx="378863" cy="310667"/>
          </a:xfrm>
          <a:prstGeom prst="rect">
            <a:avLst/>
          </a:prstGeom>
        </p:spPr>
      </p:pic>
      <p:cxnSp>
        <p:nvCxnSpPr>
          <p:cNvPr id="43" name="Straight Connector 42">
            <a:extLst>
              <a:ext uri="{FF2B5EF4-FFF2-40B4-BE49-F238E27FC236}">
                <a16:creationId xmlns="" xmlns:a16="http://schemas.microsoft.com/office/drawing/2014/main" id="{EDE9C652-0459-4672-8D12-8DB4D58C9E4F}"/>
              </a:ext>
            </a:extLst>
          </p:cNvPr>
          <p:cNvCxnSpPr>
            <a:cxnSpLocks/>
            <a:stCxn id="8" idx="1"/>
            <a:endCxn id="42" idx="3"/>
          </p:cNvCxnSpPr>
          <p:nvPr/>
        </p:nvCxnSpPr>
        <p:spPr bwMode="gray">
          <a:xfrm flipH="1">
            <a:off x="3700281" y="3591504"/>
            <a:ext cx="58186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7" name="TextBox 271">
            <a:extLst>
              <a:ext uri="{FF2B5EF4-FFF2-40B4-BE49-F238E27FC236}">
                <a16:creationId xmlns="" xmlns:a16="http://schemas.microsoft.com/office/drawing/2014/main" id="{89A89C2D-C1CE-4A83-9D89-E6D164C2AF7E}"/>
              </a:ext>
            </a:extLst>
          </p:cNvPr>
          <p:cNvSpPr txBox="1"/>
          <p:nvPr/>
        </p:nvSpPr>
        <p:spPr bwMode="gray">
          <a:xfrm>
            <a:off x="3331954" y="3163218"/>
            <a:ext cx="36420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8">
            <a:extLst>
              <a:ext uri="{FF2B5EF4-FFF2-40B4-BE49-F238E27FC236}">
                <a16:creationId xmlns="" xmlns:a16="http://schemas.microsoft.com/office/drawing/2014/main" id="{B45912E3-AD73-44C3-BD55-C0B812763F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107602" y="3902170"/>
            <a:ext cx="378863" cy="310667"/>
          </a:xfrm>
          <a:prstGeom prst="rect">
            <a:avLst/>
          </a:prstGeom>
        </p:spPr>
      </p:pic>
      <p:cxnSp>
        <p:nvCxnSpPr>
          <p:cNvPr id="49" name="Straight Connector 48">
            <a:extLst>
              <a:ext uri="{FF2B5EF4-FFF2-40B4-BE49-F238E27FC236}">
                <a16:creationId xmlns="" xmlns:a16="http://schemas.microsoft.com/office/drawing/2014/main" id="{31E2916D-4609-464B-B8C1-1D6CFAFF0546}"/>
              </a:ext>
            </a:extLst>
          </p:cNvPr>
          <p:cNvCxnSpPr>
            <a:cxnSpLocks/>
            <a:stCxn id="10" idx="3"/>
            <a:endCxn id="48" idx="1"/>
          </p:cNvCxnSpPr>
          <p:nvPr/>
        </p:nvCxnSpPr>
        <p:spPr bwMode="gray">
          <a:xfrm>
            <a:off x="7645007" y="3591504"/>
            <a:ext cx="462595" cy="4660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36EC9847-7127-4E9E-A70E-6273367809CE}"/>
              </a:ext>
            </a:extLst>
          </p:cNvPr>
          <p:cNvCxnSpPr>
            <a:cxnSpLocks/>
            <a:stCxn id="11" idx="3"/>
            <a:endCxn id="48" idx="1"/>
          </p:cNvCxnSpPr>
          <p:nvPr/>
        </p:nvCxnSpPr>
        <p:spPr bwMode="gray">
          <a:xfrm flipV="1">
            <a:off x="7645007" y="4057504"/>
            <a:ext cx="462595" cy="39983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TextBox 271">
            <a:extLst>
              <a:ext uri="{FF2B5EF4-FFF2-40B4-BE49-F238E27FC236}">
                <a16:creationId xmlns="" xmlns:a16="http://schemas.microsoft.com/office/drawing/2014/main" id="{6163767D-ACD1-4B85-AB97-1E845001D48D}"/>
              </a:ext>
            </a:extLst>
          </p:cNvPr>
          <p:cNvSpPr txBox="1"/>
          <p:nvPr/>
        </p:nvSpPr>
        <p:spPr bwMode="gray">
          <a:xfrm>
            <a:off x="8101778" y="4185434"/>
            <a:ext cx="36420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Shape 59">
            <a:extLst>
              <a:ext uri="{FF2B5EF4-FFF2-40B4-BE49-F238E27FC236}">
                <a16:creationId xmlns="" xmlns:a16="http://schemas.microsoft.com/office/drawing/2014/main" id="{496D501B-5CBA-4924-915F-DB3172E0772C}"/>
              </a:ext>
            </a:extLst>
          </p:cNvPr>
          <p:cNvSpPr/>
          <p:nvPr/>
        </p:nvSpPr>
        <p:spPr bwMode="gray">
          <a:xfrm>
            <a:off x="3246120" y="3486773"/>
            <a:ext cx="5509260" cy="486460"/>
          </a:xfrm>
          <a:custGeom>
            <a:avLst/>
            <a:gdLst>
              <a:gd name="connsiteX0" fmla="*/ 0 w 5509260"/>
              <a:gd name="connsiteY0" fmla="*/ 50662 h 591121"/>
              <a:gd name="connsiteX1" fmla="*/ 3878580 w 5509260"/>
              <a:gd name="connsiteY1" fmla="*/ 43042 h 591121"/>
              <a:gd name="connsiteX2" fmla="*/ 4869180 w 5509260"/>
              <a:gd name="connsiteY2" fmla="*/ 515482 h 591121"/>
              <a:gd name="connsiteX3" fmla="*/ 5509260 w 5509260"/>
              <a:gd name="connsiteY3" fmla="*/ 584062 h 591121"/>
            </a:gdLst>
            <a:ahLst/>
            <a:cxnLst>
              <a:cxn ang="0">
                <a:pos x="connsiteX0" y="connsiteY0"/>
              </a:cxn>
              <a:cxn ang="0">
                <a:pos x="connsiteX1" y="connsiteY1"/>
              </a:cxn>
              <a:cxn ang="0">
                <a:pos x="connsiteX2" y="connsiteY2"/>
              </a:cxn>
              <a:cxn ang="0">
                <a:pos x="connsiteX3" y="connsiteY3"/>
              </a:cxn>
            </a:cxnLst>
            <a:rect l="l" t="t" r="r" b="b"/>
            <a:pathLst>
              <a:path w="5509260" h="591121">
                <a:moveTo>
                  <a:pt x="0" y="50662"/>
                </a:moveTo>
                <a:cubicBezTo>
                  <a:pt x="1533525" y="8117"/>
                  <a:pt x="3067050" y="-34428"/>
                  <a:pt x="3878580" y="43042"/>
                </a:cubicBezTo>
                <a:cubicBezTo>
                  <a:pt x="4690110" y="120512"/>
                  <a:pt x="4597400" y="425312"/>
                  <a:pt x="4869180" y="515482"/>
                </a:cubicBezTo>
                <a:cubicBezTo>
                  <a:pt x="5140960" y="605652"/>
                  <a:pt x="5325110" y="594857"/>
                  <a:pt x="5509260" y="584062"/>
                </a:cubicBezTo>
              </a:path>
            </a:pathLst>
          </a:custGeom>
          <a:noFill/>
          <a:ln w="28575">
            <a:solidFill>
              <a:srgbClr val="AFD89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 xmlns:a16="http://schemas.microsoft.com/office/drawing/2014/main" id="{86518261-7395-4FA6-A534-98FF02A81FE6}"/>
              </a:ext>
            </a:extLst>
          </p:cNvPr>
          <p:cNvSpPr/>
          <p:nvPr/>
        </p:nvSpPr>
        <p:spPr bwMode="gray">
          <a:xfrm>
            <a:off x="3208020" y="3620419"/>
            <a:ext cx="5494020" cy="779071"/>
          </a:xfrm>
          <a:custGeom>
            <a:avLst/>
            <a:gdLst>
              <a:gd name="connsiteX0" fmla="*/ 0 w 5494020"/>
              <a:gd name="connsiteY0" fmla="*/ 37181 h 779071"/>
              <a:gd name="connsiteX1" fmla="*/ 1051560 w 5494020"/>
              <a:gd name="connsiteY1" fmla="*/ 82901 h 779071"/>
              <a:gd name="connsiteX2" fmla="*/ 4175760 w 5494020"/>
              <a:gd name="connsiteY2" fmla="*/ 768701 h 779071"/>
              <a:gd name="connsiteX3" fmla="*/ 4968240 w 5494020"/>
              <a:gd name="connsiteY3" fmla="*/ 494381 h 779071"/>
              <a:gd name="connsiteX4" fmla="*/ 5494020 w 5494020"/>
              <a:gd name="connsiteY4" fmla="*/ 463901 h 779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4020" h="779071">
                <a:moveTo>
                  <a:pt x="0" y="37181"/>
                </a:moveTo>
                <a:cubicBezTo>
                  <a:pt x="177800" y="-919"/>
                  <a:pt x="355600" y="-39019"/>
                  <a:pt x="1051560" y="82901"/>
                </a:cubicBezTo>
                <a:cubicBezTo>
                  <a:pt x="1747520" y="204821"/>
                  <a:pt x="3522980" y="700121"/>
                  <a:pt x="4175760" y="768701"/>
                </a:cubicBezTo>
                <a:cubicBezTo>
                  <a:pt x="4828540" y="837281"/>
                  <a:pt x="4748530" y="545181"/>
                  <a:pt x="4968240" y="494381"/>
                </a:cubicBezTo>
                <a:cubicBezTo>
                  <a:pt x="5187950" y="443581"/>
                  <a:pt x="5340985" y="453741"/>
                  <a:pt x="5494020" y="463901"/>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 xmlns:a16="http://schemas.microsoft.com/office/drawing/2014/main" id="{84CE9DA0-105E-406B-B1D1-5CED736107EF}"/>
              </a:ext>
            </a:extLst>
          </p:cNvPr>
          <p:cNvSpPr txBox="1"/>
          <p:nvPr/>
        </p:nvSpPr>
        <p:spPr bwMode="gray">
          <a:xfrm>
            <a:off x="1942491" y="3254795"/>
            <a:ext cx="1386918" cy="307777"/>
          </a:xfrm>
          <a:prstGeom prst="rect">
            <a:avLst/>
          </a:prstGeom>
          <a:noFill/>
        </p:spPr>
        <p:txBody>
          <a:bodyPr wrap="none" rtlCol="0">
            <a:spAutoFit/>
          </a:bodyPr>
          <a:lstStyle/>
          <a:p>
            <a:r>
              <a:rPr lang="zh-CN" altLang="en-US" sz="1400" dirty="0"/>
              <a:t>业务</a:t>
            </a:r>
            <a:r>
              <a:rPr lang="en-US" altLang="zh-CN" sz="1400" dirty="0"/>
              <a:t>1 DSCP EF</a:t>
            </a:r>
            <a:endParaRPr lang="en-US" sz="1400" dirty="0"/>
          </a:p>
        </p:txBody>
      </p:sp>
      <p:sp>
        <p:nvSpPr>
          <p:cNvPr id="63" name="TextBox 62">
            <a:extLst>
              <a:ext uri="{FF2B5EF4-FFF2-40B4-BE49-F238E27FC236}">
                <a16:creationId xmlns="" xmlns:a16="http://schemas.microsoft.com/office/drawing/2014/main" id="{5DF0BF78-CDBF-4225-83B0-EDE1C368C7CD}"/>
              </a:ext>
            </a:extLst>
          </p:cNvPr>
          <p:cNvSpPr txBox="1"/>
          <p:nvPr/>
        </p:nvSpPr>
        <p:spPr bwMode="gray">
          <a:xfrm>
            <a:off x="1803992" y="3634575"/>
            <a:ext cx="1608133" cy="307777"/>
          </a:xfrm>
          <a:prstGeom prst="rect">
            <a:avLst/>
          </a:prstGeom>
          <a:noFill/>
        </p:spPr>
        <p:txBody>
          <a:bodyPr wrap="none" rtlCol="0">
            <a:spAutoFit/>
          </a:bodyPr>
          <a:lstStyle/>
          <a:p>
            <a:r>
              <a:rPr lang="zh-CN" altLang="en-US" sz="1400" dirty="0"/>
              <a:t>业务</a:t>
            </a:r>
            <a:r>
              <a:rPr lang="en-US" altLang="zh-CN" sz="1400" dirty="0"/>
              <a:t>2 DSCP AF41</a:t>
            </a:r>
            <a:endParaRPr lang="en-US" sz="1400" dirty="0"/>
          </a:p>
        </p:txBody>
      </p:sp>
      <p:sp>
        <p:nvSpPr>
          <p:cNvPr id="50" name="Can 225">
            <a:extLst>
              <a:ext uri="{FF2B5EF4-FFF2-40B4-BE49-F238E27FC236}">
                <a16:creationId xmlns="" xmlns:a16="http://schemas.microsoft.com/office/drawing/2014/main" id="{34AD649A-9195-4118-BC46-C7A7FBB44D29}"/>
              </a:ext>
            </a:extLst>
          </p:cNvPr>
          <p:cNvSpPr/>
          <p:nvPr/>
        </p:nvSpPr>
        <p:spPr bwMode="gray">
          <a:xfrm rot="5400000">
            <a:off x="8275583" y="4949484"/>
            <a:ext cx="193925" cy="541535"/>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TextBox 271">
            <a:extLst>
              <a:ext uri="{FF2B5EF4-FFF2-40B4-BE49-F238E27FC236}">
                <a16:creationId xmlns="" xmlns:a16="http://schemas.microsoft.com/office/drawing/2014/main" id="{9829FE29-7653-492D-93CD-944A88C0A921}"/>
              </a:ext>
            </a:extLst>
          </p:cNvPr>
          <p:cNvSpPr txBox="1"/>
          <p:nvPr/>
        </p:nvSpPr>
        <p:spPr bwMode="gray">
          <a:xfrm>
            <a:off x="8643313" y="5098509"/>
            <a:ext cx="1119217"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 Policy</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Tree>
    <p:extLst>
      <p:ext uri="{BB962C8B-B14F-4D97-AF65-F5344CB8AC3E}">
        <p14:creationId xmlns:p14="http://schemas.microsoft.com/office/powerpoint/2010/main" val="1539275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67EC2C-E878-4CA6-920B-0879E37B0384}"/>
              </a:ext>
            </a:extLst>
          </p:cNvPr>
          <p:cNvSpPr>
            <a:spLocks noGrp="1"/>
          </p:cNvSpPr>
          <p:nvPr>
            <p:ph type="title"/>
          </p:nvPr>
        </p:nvSpPr>
        <p:spPr bwMode="gray"/>
        <p:txBody>
          <a:bodyPr/>
          <a:lstStyle/>
          <a:p>
            <a:r>
              <a:rPr lang="zh-CN" altLang="en-US" dirty="0"/>
              <a:t>应用调优设计</a:t>
            </a:r>
            <a:endParaRPr lang="en-US" dirty="0"/>
          </a:p>
        </p:txBody>
      </p:sp>
      <p:sp>
        <p:nvSpPr>
          <p:cNvPr id="3" name="Text Placeholder 2">
            <a:extLst>
              <a:ext uri="{FF2B5EF4-FFF2-40B4-BE49-F238E27FC236}">
                <a16:creationId xmlns="" xmlns:a16="http://schemas.microsoft.com/office/drawing/2014/main" id="{D6362E54-7C32-43E1-B3EC-E27FA9C35A2E}"/>
              </a:ext>
            </a:extLst>
          </p:cNvPr>
          <p:cNvSpPr>
            <a:spLocks noGrp="1"/>
          </p:cNvSpPr>
          <p:nvPr>
            <p:ph type="body" sz="quarter" idx="10"/>
          </p:nvPr>
        </p:nvSpPr>
        <p:spPr bwMode="gray">
          <a:xfrm>
            <a:off x="455612" y="1047750"/>
            <a:ext cx="11293475" cy="944173"/>
          </a:xfrm>
        </p:spPr>
        <p:txBody>
          <a:bodyPr/>
          <a:lstStyle/>
          <a:p>
            <a:r>
              <a:rPr lang="zh-CN" altLang="en-US" sz="1800" dirty="0"/>
              <a:t>应用调优需要先将不同的应用赋予不同的</a:t>
            </a:r>
            <a:r>
              <a:rPr lang="en-US" altLang="zh-CN" sz="1800" dirty="0"/>
              <a:t>DSCP</a:t>
            </a:r>
            <a:r>
              <a:rPr lang="zh-CN" altLang="en-US" sz="1800" dirty="0"/>
              <a:t>值，一般在</a:t>
            </a:r>
            <a:r>
              <a:rPr lang="en-US" altLang="zh-CN" sz="1800" dirty="0"/>
              <a:t>CE</a:t>
            </a:r>
            <a:r>
              <a:rPr lang="zh-CN" altLang="en-US" sz="1800" dirty="0"/>
              <a:t>侧对应用数据赋值。</a:t>
            </a:r>
            <a:endParaRPr lang="en-US" altLang="zh-CN" sz="1800" dirty="0"/>
          </a:p>
          <a:p>
            <a:r>
              <a:rPr lang="zh-CN" altLang="en-US" sz="1800" dirty="0"/>
              <a:t>为了让不同类别的应用承载在不同的隧道上，一般需要通过</a:t>
            </a:r>
            <a:r>
              <a:rPr lang="en-US" altLang="zh-CN" sz="1800" dirty="0"/>
              <a:t>SR Policy </a:t>
            </a:r>
            <a:r>
              <a:rPr lang="en-US" altLang="zh-CN" sz="1800" dirty="0" err="1"/>
              <a:t>Group+DSCP</a:t>
            </a:r>
            <a:r>
              <a:rPr lang="zh-CN" altLang="en-US" sz="1800" dirty="0"/>
              <a:t>的方式实现。</a:t>
            </a:r>
            <a:endParaRPr lang="en-US" sz="1800" dirty="0"/>
          </a:p>
        </p:txBody>
      </p:sp>
      <p:sp>
        <p:nvSpPr>
          <p:cNvPr id="5" name="燕尾形 3">
            <a:extLst>
              <a:ext uri="{FF2B5EF4-FFF2-40B4-BE49-F238E27FC236}">
                <a16:creationId xmlns="" xmlns:a16="http://schemas.microsoft.com/office/drawing/2014/main" id="{404E9147-02B6-48E7-8BBA-60AAA02B3CA5}"/>
              </a:ext>
            </a:extLst>
          </p:cNvPr>
          <p:cNvSpPr/>
          <p:nvPr/>
        </p:nvSpPr>
        <p:spPr bwMode="gray">
          <a:xfrm>
            <a:off x="8994775" y="44020"/>
            <a:ext cx="147955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网络流量调优设计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a:extLst>
              <a:ext uri="{FF2B5EF4-FFF2-40B4-BE49-F238E27FC236}">
                <a16:creationId xmlns="" xmlns:a16="http://schemas.microsoft.com/office/drawing/2014/main" id="{984CEC33-A903-4820-B38B-D2D643CDABD3}"/>
              </a:ext>
            </a:extLst>
          </p:cNvPr>
          <p:cNvSpPr/>
          <p:nvPr/>
        </p:nvSpPr>
        <p:spPr bwMode="gray">
          <a:xfrm>
            <a:off x="7485968" y="44020"/>
            <a:ext cx="158602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网络性能监控设计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a:extLst>
              <a:ext uri="{FF2B5EF4-FFF2-40B4-BE49-F238E27FC236}">
                <a16:creationId xmlns="" xmlns:a16="http://schemas.microsoft.com/office/drawing/2014/main" id="{A57F8A97-F7BE-4B24-8BF2-B84F433F0212}"/>
              </a:ext>
            </a:extLst>
          </p:cNvPr>
          <p:cNvSpPr/>
          <p:nvPr/>
        </p:nvSpPr>
        <p:spPr bwMode="gray">
          <a:xfrm>
            <a:off x="10394950" y="44020"/>
            <a:ext cx="135255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应用优化设计</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0" name="图片 48">
            <a:extLst>
              <a:ext uri="{FF2B5EF4-FFF2-40B4-BE49-F238E27FC236}">
                <a16:creationId xmlns="" xmlns:a16="http://schemas.microsoft.com/office/drawing/2014/main" id="{04B5F373-015D-4A45-A6A3-4A8E4ED5A6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32136" y="4774030"/>
            <a:ext cx="378863" cy="310667"/>
          </a:xfrm>
          <a:prstGeom prst="rect">
            <a:avLst/>
          </a:prstGeom>
        </p:spPr>
      </p:pic>
      <p:pic>
        <p:nvPicPr>
          <p:cNvPr id="91" name="图片 48">
            <a:extLst>
              <a:ext uri="{FF2B5EF4-FFF2-40B4-BE49-F238E27FC236}">
                <a16:creationId xmlns="" xmlns:a16="http://schemas.microsoft.com/office/drawing/2014/main" id="{A278F5E2-FB8E-419F-BB57-1567F22430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332136" y="5639863"/>
            <a:ext cx="378863" cy="310667"/>
          </a:xfrm>
          <a:prstGeom prst="rect">
            <a:avLst/>
          </a:prstGeom>
        </p:spPr>
      </p:pic>
      <p:pic>
        <p:nvPicPr>
          <p:cNvPr id="92" name="图片 48">
            <a:extLst>
              <a:ext uri="{FF2B5EF4-FFF2-40B4-BE49-F238E27FC236}">
                <a16:creationId xmlns="" xmlns:a16="http://schemas.microsoft.com/office/drawing/2014/main" id="{FA7412B6-E4B9-4AB9-B1B1-0215FA97F4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16138" y="4774030"/>
            <a:ext cx="378863" cy="310667"/>
          </a:xfrm>
          <a:prstGeom prst="rect">
            <a:avLst/>
          </a:prstGeom>
        </p:spPr>
      </p:pic>
      <p:pic>
        <p:nvPicPr>
          <p:cNvPr id="93" name="图片 48">
            <a:extLst>
              <a:ext uri="{FF2B5EF4-FFF2-40B4-BE49-F238E27FC236}">
                <a16:creationId xmlns="" xmlns:a16="http://schemas.microsoft.com/office/drawing/2014/main" id="{52711DB9-B20A-4423-84C1-D2E420ACC3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316138" y="5639863"/>
            <a:ext cx="378863" cy="310667"/>
          </a:xfrm>
          <a:prstGeom prst="rect">
            <a:avLst/>
          </a:prstGeom>
        </p:spPr>
      </p:pic>
      <p:pic>
        <p:nvPicPr>
          <p:cNvPr id="94" name="图片 48">
            <a:extLst>
              <a:ext uri="{FF2B5EF4-FFF2-40B4-BE49-F238E27FC236}">
                <a16:creationId xmlns="" xmlns:a16="http://schemas.microsoft.com/office/drawing/2014/main" id="{59559E14-336D-44EE-8BC3-6F03AAE660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91928" y="4771096"/>
            <a:ext cx="378863" cy="310667"/>
          </a:xfrm>
          <a:prstGeom prst="rect">
            <a:avLst/>
          </a:prstGeom>
        </p:spPr>
      </p:pic>
      <p:pic>
        <p:nvPicPr>
          <p:cNvPr id="95" name="图片 48">
            <a:extLst>
              <a:ext uri="{FF2B5EF4-FFF2-40B4-BE49-F238E27FC236}">
                <a16:creationId xmlns="" xmlns:a16="http://schemas.microsoft.com/office/drawing/2014/main" id="{BDBAD788-63FB-4717-B8F6-C021740CF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03397" y="5636929"/>
            <a:ext cx="378863" cy="310667"/>
          </a:xfrm>
          <a:prstGeom prst="rect">
            <a:avLst/>
          </a:prstGeom>
        </p:spPr>
      </p:pic>
      <p:pic>
        <p:nvPicPr>
          <p:cNvPr id="96" name="图片 48">
            <a:extLst>
              <a:ext uri="{FF2B5EF4-FFF2-40B4-BE49-F238E27FC236}">
                <a16:creationId xmlns="" xmlns:a16="http://schemas.microsoft.com/office/drawing/2014/main" id="{8FF88F05-D3B3-49D2-9476-5178DF6FAF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83723" y="5636507"/>
            <a:ext cx="378863" cy="310667"/>
          </a:xfrm>
          <a:prstGeom prst="rect">
            <a:avLst/>
          </a:prstGeom>
        </p:spPr>
      </p:pic>
      <p:cxnSp>
        <p:nvCxnSpPr>
          <p:cNvPr id="97" name="Straight Connector 96">
            <a:extLst>
              <a:ext uri="{FF2B5EF4-FFF2-40B4-BE49-F238E27FC236}">
                <a16:creationId xmlns="" xmlns:a16="http://schemas.microsoft.com/office/drawing/2014/main" id="{B4D14D4D-580E-4372-A88C-87BFDE840827}"/>
              </a:ext>
            </a:extLst>
          </p:cNvPr>
          <p:cNvCxnSpPr>
            <a:cxnSpLocks/>
            <a:stCxn id="91" idx="0"/>
            <a:endCxn id="90" idx="2"/>
          </p:cNvCxnSpPr>
          <p:nvPr/>
        </p:nvCxnSpPr>
        <p:spPr bwMode="gray">
          <a:xfrm flipV="1">
            <a:off x="4521568" y="508469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 xmlns:a16="http://schemas.microsoft.com/office/drawing/2014/main" id="{79A8B2F5-FCEB-4B17-A0F4-8B4A9A31D1C2}"/>
              </a:ext>
            </a:extLst>
          </p:cNvPr>
          <p:cNvCxnSpPr>
            <a:cxnSpLocks/>
            <a:stCxn id="94" idx="1"/>
            <a:endCxn id="90" idx="3"/>
          </p:cNvCxnSpPr>
          <p:nvPr/>
        </p:nvCxnSpPr>
        <p:spPr bwMode="gray">
          <a:xfrm flipH="1">
            <a:off x="4710999" y="4926430"/>
            <a:ext cx="1180929"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 xmlns:a16="http://schemas.microsoft.com/office/drawing/2014/main" id="{E65CE3D7-9E79-4D84-9424-6E4A9D9AD7AF}"/>
              </a:ext>
            </a:extLst>
          </p:cNvPr>
          <p:cNvCxnSpPr>
            <a:cxnSpLocks/>
            <a:stCxn id="95" idx="1"/>
            <a:endCxn id="91" idx="3"/>
          </p:cNvCxnSpPr>
          <p:nvPr/>
        </p:nvCxnSpPr>
        <p:spPr bwMode="gray">
          <a:xfrm flipH="1">
            <a:off x="4710999" y="5792263"/>
            <a:ext cx="592398"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 xmlns:a16="http://schemas.microsoft.com/office/drawing/2014/main" id="{F85A954F-B429-4561-B359-6260050D9A55}"/>
              </a:ext>
            </a:extLst>
          </p:cNvPr>
          <p:cNvCxnSpPr>
            <a:cxnSpLocks/>
            <a:stCxn id="94" idx="1"/>
            <a:endCxn id="95" idx="0"/>
          </p:cNvCxnSpPr>
          <p:nvPr/>
        </p:nvCxnSpPr>
        <p:spPr bwMode="gray">
          <a:xfrm flipH="1">
            <a:off x="5492829" y="4926430"/>
            <a:ext cx="399099" cy="7104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 xmlns:a16="http://schemas.microsoft.com/office/drawing/2014/main" id="{7CB302A9-1C7C-4BE6-8EA9-737338CBC918}"/>
              </a:ext>
            </a:extLst>
          </p:cNvPr>
          <p:cNvCxnSpPr>
            <a:cxnSpLocks/>
            <a:stCxn id="96" idx="1"/>
            <a:endCxn id="95" idx="3"/>
          </p:cNvCxnSpPr>
          <p:nvPr/>
        </p:nvCxnSpPr>
        <p:spPr bwMode="gray">
          <a:xfrm flipH="1">
            <a:off x="5682260" y="5791841"/>
            <a:ext cx="801463" cy="42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 xmlns:a16="http://schemas.microsoft.com/office/drawing/2014/main" id="{D05B1DED-EEAF-4EE8-B681-34BF1D8435A7}"/>
              </a:ext>
            </a:extLst>
          </p:cNvPr>
          <p:cNvCxnSpPr>
            <a:cxnSpLocks/>
            <a:stCxn id="96" idx="0"/>
            <a:endCxn id="94" idx="3"/>
          </p:cNvCxnSpPr>
          <p:nvPr/>
        </p:nvCxnSpPr>
        <p:spPr bwMode="gray">
          <a:xfrm flipH="1" flipV="1">
            <a:off x="6270791" y="4926430"/>
            <a:ext cx="402364" cy="71007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 xmlns:a16="http://schemas.microsoft.com/office/drawing/2014/main" id="{623B300A-9659-47E2-BD07-4FF63A21CFD1}"/>
              </a:ext>
            </a:extLst>
          </p:cNvPr>
          <p:cNvCxnSpPr>
            <a:cxnSpLocks/>
            <a:stCxn id="92" idx="1"/>
            <a:endCxn id="94" idx="3"/>
          </p:cNvCxnSpPr>
          <p:nvPr/>
        </p:nvCxnSpPr>
        <p:spPr bwMode="gray">
          <a:xfrm flipH="1" flipV="1">
            <a:off x="6270791" y="4926430"/>
            <a:ext cx="1045347"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 xmlns:a16="http://schemas.microsoft.com/office/drawing/2014/main" id="{AE57138B-9200-47A4-901E-35FD43CFAFA9}"/>
              </a:ext>
            </a:extLst>
          </p:cNvPr>
          <p:cNvCxnSpPr>
            <a:cxnSpLocks/>
            <a:stCxn id="93" idx="1"/>
            <a:endCxn id="96" idx="3"/>
          </p:cNvCxnSpPr>
          <p:nvPr/>
        </p:nvCxnSpPr>
        <p:spPr bwMode="gray">
          <a:xfrm flipH="1" flipV="1">
            <a:off x="6862586" y="5791841"/>
            <a:ext cx="453552" cy="33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 xmlns:a16="http://schemas.microsoft.com/office/drawing/2014/main" id="{CDA9E30E-506F-4F66-9B0B-0DCA23054E23}"/>
              </a:ext>
            </a:extLst>
          </p:cNvPr>
          <p:cNvCxnSpPr>
            <a:cxnSpLocks/>
            <a:stCxn id="92" idx="2"/>
            <a:endCxn id="93" idx="0"/>
          </p:cNvCxnSpPr>
          <p:nvPr/>
        </p:nvCxnSpPr>
        <p:spPr bwMode="gray">
          <a:xfrm>
            <a:off x="7505570" y="508469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6" name="TextBox 271">
            <a:extLst>
              <a:ext uri="{FF2B5EF4-FFF2-40B4-BE49-F238E27FC236}">
                <a16:creationId xmlns="" xmlns:a16="http://schemas.microsoft.com/office/drawing/2014/main" id="{50769854-C101-4AD1-B8BD-5A1EDAF98277}"/>
              </a:ext>
            </a:extLst>
          </p:cNvPr>
          <p:cNvSpPr txBox="1"/>
          <p:nvPr/>
        </p:nvSpPr>
        <p:spPr bwMode="gray">
          <a:xfrm>
            <a:off x="4115708" y="5043665"/>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TextBox 271">
            <a:extLst>
              <a:ext uri="{FF2B5EF4-FFF2-40B4-BE49-F238E27FC236}">
                <a16:creationId xmlns="" xmlns:a16="http://schemas.microsoft.com/office/drawing/2014/main" id="{7907515B-8277-4E69-8B13-97D06306AB1B}"/>
              </a:ext>
            </a:extLst>
          </p:cNvPr>
          <p:cNvSpPr txBox="1"/>
          <p:nvPr/>
        </p:nvSpPr>
        <p:spPr bwMode="gray">
          <a:xfrm>
            <a:off x="4096076" y="543865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TextBox 271">
            <a:extLst>
              <a:ext uri="{FF2B5EF4-FFF2-40B4-BE49-F238E27FC236}">
                <a16:creationId xmlns="" xmlns:a16="http://schemas.microsoft.com/office/drawing/2014/main" id="{93D29970-E265-40A1-BDF4-6C814C5B0A41}"/>
              </a:ext>
            </a:extLst>
          </p:cNvPr>
          <p:cNvSpPr txBox="1"/>
          <p:nvPr/>
        </p:nvSpPr>
        <p:spPr bwMode="gray">
          <a:xfrm>
            <a:off x="7313714" y="4547634"/>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TextBox 271">
            <a:extLst>
              <a:ext uri="{FF2B5EF4-FFF2-40B4-BE49-F238E27FC236}">
                <a16:creationId xmlns="" xmlns:a16="http://schemas.microsoft.com/office/drawing/2014/main" id="{ADFF96A7-4378-40B6-B6B4-603DDCF6E91E}"/>
              </a:ext>
            </a:extLst>
          </p:cNvPr>
          <p:cNvSpPr txBox="1"/>
          <p:nvPr/>
        </p:nvSpPr>
        <p:spPr bwMode="gray">
          <a:xfrm>
            <a:off x="7315313" y="5936306"/>
            <a:ext cx="35779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TextBox 271">
            <a:extLst>
              <a:ext uri="{FF2B5EF4-FFF2-40B4-BE49-F238E27FC236}">
                <a16:creationId xmlns="" xmlns:a16="http://schemas.microsoft.com/office/drawing/2014/main" id="{6FB96082-7FDE-4E80-A5A4-76668B84F199}"/>
              </a:ext>
            </a:extLst>
          </p:cNvPr>
          <p:cNvSpPr txBox="1"/>
          <p:nvPr/>
        </p:nvSpPr>
        <p:spPr bwMode="gray">
          <a:xfrm>
            <a:off x="5950963" y="4530115"/>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TextBox 271">
            <a:extLst>
              <a:ext uri="{FF2B5EF4-FFF2-40B4-BE49-F238E27FC236}">
                <a16:creationId xmlns="" xmlns:a16="http://schemas.microsoft.com/office/drawing/2014/main" id="{7E2EDFCD-A634-45DF-BCDB-A8FD735896DB}"/>
              </a:ext>
            </a:extLst>
          </p:cNvPr>
          <p:cNvSpPr txBox="1"/>
          <p:nvPr/>
        </p:nvSpPr>
        <p:spPr bwMode="gray">
          <a:xfrm>
            <a:off x="5353238" y="5914027"/>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TextBox 271">
            <a:extLst>
              <a:ext uri="{FF2B5EF4-FFF2-40B4-BE49-F238E27FC236}">
                <a16:creationId xmlns="" xmlns:a16="http://schemas.microsoft.com/office/drawing/2014/main" id="{23C21D9E-9EAF-4BEA-856F-D55433C32D55}"/>
              </a:ext>
            </a:extLst>
          </p:cNvPr>
          <p:cNvSpPr txBox="1"/>
          <p:nvPr/>
        </p:nvSpPr>
        <p:spPr bwMode="gray">
          <a:xfrm>
            <a:off x="6534900" y="5936062"/>
            <a:ext cx="27283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3" name="图片 48">
            <a:extLst>
              <a:ext uri="{FF2B5EF4-FFF2-40B4-BE49-F238E27FC236}">
                <a16:creationId xmlns="" xmlns:a16="http://schemas.microsoft.com/office/drawing/2014/main" id="{474855FE-03E0-42D4-8096-3C5E1C97DE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886903" y="5280212"/>
            <a:ext cx="378863" cy="310667"/>
          </a:xfrm>
          <a:prstGeom prst="rect">
            <a:avLst/>
          </a:prstGeom>
        </p:spPr>
      </p:pic>
      <p:sp>
        <p:nvSpPr>
          <p:cNvPr id="114" name="TextBox 271">
            <a:extLst>
              <a:ext uri="{FF2B5EF4-FFF2-40B4-BE49-F238E27FC236}">
                <a16:creationId xmlns="" xmlns:a16="http://schemas.microsoft.com/office/drawing/2014/main" id="{B634A6D5-B4A4-43A5-A59B-80405AA757A4}"/>
              </a:ext>
            </a:extLst>
          </p:cNvPr>
          <p:cNvSpPr txBox="1"/>
          <p:nvPr/>
        </p:nvSpPr>
        <p:spPr bwMode="gray">
          <a:xfrm>
            <a:off x="5893158" y="5541977"/>
            <a:ext cx="373820"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5" name="Straight Connector 114">
            <a:extLst>
              <a:ext uri="{FF2B5EF4-FFF2-40B4-BE49-F238E27FC236}">
                <a16:creationId xmlns="" xmlns:a16="http://schemas.microsoft.com/office/drawing/2014/main" id="{E3373E64-B9F5-4218-AEE0-A82094572237}"/>
              </a:ext>
            </a:extLst>
          </p:cNvPr>
          <p:cNvCxnSpPr>
            <a:cxnSpLocks/>
            <a:stCxn id="94" idx="2"/>
            <a:endCxn id="113" idx="0"/>
          </p:cNvCxnSpPr>
          <p:nvPr/>
        </p:nvCxnSpPr>
        <p:spPr bwMode="gray">
          <a:xfrm flipH="1">
            <a:off x="6076335" y="5081763"/>
            <a:ext cx="5025" cy="19844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6" name="Can 225">
            <a:extLst>
              <a:ext uri="{FF2B5EF4-FFF2-40B4-BE49-F238E27FC236}">
                <a16:creationId xmlns="" xmlns:a16="http://schemas.microsoft.com/office/drawing/2014/main" id="{65995049-F91E-41C6-B178-3B0B7ADEB2FF}"/>
              </a:ext>
            </a:extLst>
          </p:cNvPr>
          <p:cNvSpPr/>
          <p:nvPr/>
        </p:nvSpPr>
        <p:spPr bwMode="gray">
          <a:xfrm rot="5400000">
            <a:off x="5916584" y="3296239"/>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9" name="Can 225">
            <a:extLst>
              <a:ext uri="{FF2B5EF4-FFF2-40B4-BE49-F238E27FC236}">
                <a16:creationId xmlns="" xmlns:a16="http://schemas.microsoft.com/office/drawing/2014/main" id="{1CBF0BB7-7CAB-4B6D-BBF8-6C16408A78E2}"/>
              </a:ext>
            </a:extLst>
          </p:cNvPr>
          <p:cNvSpPr/>
          <p:nvPr/>
        </p:nvSpPr>
        <p:spPr bwMode="gray">
          <a:xfrm rot="6139468">
            <a:off x="5855016" y="3817383"/>
            <a:ext cx="193925" cy="3155962"/>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21" name="图片 48">
            <a:extLst>
              <a:ext uri="{FF2B5EF4-FFF2-40B4-BE49-F238E27FC236}">
                <a16:creationId xmlns="" xmlns:a16="http://schemas.microsoft.com/office/drawing/2014/main" id="{81D8D400-8E16-4B34-8E3C-07616A7A62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371412" y="4774030"/>
            <a:ext cx="378863" cy="310667"/>
          </a:xfrm>
          <a:prstGeom prst="rect">
            <a:avLst/>
          </a:prstGeom>
        </p:spPr>
      </p:pic>
      <p:cxnSp>
        <p:nvCxnSpPr>
          <p:cNvPr id="122" name="Straight Connector 121">
            <a:extLst>
              <a:ext uri="{FF2B5EF4-FFF2-40B4-BE49-F238E27FC236}">
                <a16:creationId xmlns="" xmlns:a16="http://schemas.microsoft.com/office/drawing/2014/main" id="{FF8B150B-9490-4580-94F7-041E661E523E}"/>
              </a:ext>
            </a:extLst>
          </p:cNvPr>
          <p:cNvCxnSpPr>
            <a:cxnSpLocks/>
            <a:stCxn id="90" idx="1"/>
            <a:endCxn id="121" idx="3"/>
          </p:cNvCxnSpPr>
          <p:nvPr/>
        </p:nvCxnSpPr>
        <p:spPr bwMode="gray">
          <a:xfrm flipH="1">
            <a:off x="3750275" y="4929364"/>
            <a:ext cx="58186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3" name="TextBox 271">
            <a:extLst>
              <a:ext uri="{FF2B5EF4-FFF2-40B4-BE49-F238E27FC236}">
                <a16:creationId xmlns="" xmlns:a16="http://schemas.microsoft.com/office/drawing/2014/main" id="{9EDAF506-766C-4ADF-AC07-BD95D9321652}"/>
              </a:ext>
            </a:extLst>
          </p:cNvPr>
          <p:cNvSpPr txBox="1"/>
          <p:nvPr/>
        </p:nvSpPr>
        <p:spPr bwMode="gray">
          <a:xfrm>
            <a:off x="3381948" y="4501078"/>
            <a:ext cx="36420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4" name="图片 48">
            <a:extLst>
              <a:ext uri="{FF2B5EF4-FFF2-40B4-BE49-F238E27FC236}">
                <a16:creationId xmlns="" xmlns:a16="http://schemas.microsoft.com/office/drawing/2014/main" id="{E521E3FF-839F-4D47-8E9C-9051A5664B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157596" y="5240030"/>
            <a:ext cx="378863" cy="310667"/>
          </a:xfrm>
          <a:prstGeom prst="rect">
            <a:avLst/>
          </a:prstGeom>
        </p:spPr>
      </p:pic>
      <p:cxnSp>
        <p:nvCxnSpPr>
          <p:cNvPr id="125" name="Straight Connector 124">
            <a:extLst>
              <a:ext uri="{FF2B5EF4-FFF2-40B4-BE49-F238E27FC236}">
                <a16:creationId xmlns="" xmlns:a16="http://schemas.microsoft.com/office/drawing/2014/main" id="{1BDA36EA-E33D-4FA2-BB46-5D7F429741BB}"/>
              </a:ext>
            </a:extLst>
          </p:cNvPr>
          <p:cNvCxnSpPr>
            <a:cxnSpLocks/>
            <a:stCxn id="92" idx="3"/>
            <a:endCxn id="124" idx="1"/>
          </p:cNvCxnSpPr>
          <p:nvPr/>
        </p:nvCxnSpPr>
        <p:spPr bwMode="gray">
          <a:xfrm>
            <a:off x="7695001" y="4929364"/>
            <a:ext cx="462595" cy="4660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 xmlns:a16="http://schemas.microsoft.com/office/drawing/2014/main" id="{54A20262-4F34-4D52-8E26-03CCD143DECF}"/>
              </a:ext>
            </a:extLst>
          </p:cNvPr>
          <p:cNvCxnSpPr>
            <a:cxnSpLocks/>
            <a:stCxn id="93" idx="3"/>
            <a:endCxn id="124" idx="1"/>
          </p:cNvCxnSpPr>
          <p:nvPr/>
        </p:nvCxnSpPr>
        <p:spPr bwMode="gray">
          <a:xfrm flipV="1">
            <a:off x="7695001" y="5395364"/>
            <a:ext cx="462595" cy="39983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7" name="TextBox 271">
            <a:extLst>
              <a:ext uri="{FF2B5EF4-FFF2-40B4-BE49-F238E27FC236}">
                <a16:creationId xmlns="" xmlns:a16="http://schemas.microsoft.com/office/drawing/2014/main" id="{1B9DEBC4-1A59-48F3-B244-9DA849C12DFB}"/>
              </a:ext>
            </a:extLst>
          </p:cNvPr>
          <p:cNvSpPr txBox="1"/>
          <p:nvPr/>
        </p:nvSpPr>
        <p:spPr bwMode="gray">
          <a:xfrm>
            <a:off x="8151772" y="5523294"/>
            <a:ext cx="364202"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Shape 127">
            <a:extLst>
              <a:ext uri="{FF2B5EF4-FFF2-40B4-BE49-F238E27FC236}">
                <a16:creationId xmlns="" xmlns:a16="http://schemas.microsoft.com/office/drawing/2014/main" id="{3DBCB84E-10C4-44B4-BBC1-4AB883A109C5}"/>
              </a:ext>
            </a:extLst>
          </p:cNvPr>
          <p:cNvSpPr/>
          <p:nvPr/>
        </p:nvSpPr>
        <p:spPr bwMode="gray">
          <a:xfrm>
            <a:off x="3296114" y="4824633"/>
            <a:ext cx="5509260" cy="486460"/>
          </a:xfrm>
          <a:custGeom>
            <a:avLst/>
            <a:gdLst>
              <a:gd name="connsiteX0" fmla="*/ 0 w 5509260"/>
              <a:gd name="connsiteY0" fmla="*/ 50662 h 591121"/>
              <a:gd name="connsiteX1" fmla="*/ 3878580 w 5509260"/>
              <a:gd name="connsiteY1" fmla="*/ 43042 h 591121"/>
              <a:gd name="connsiteX2" fmla="*/ 4869180 w 5509260"/>
              <a:gd name="connsiteY2" fmla="*/ 515482 h 591121"/>
              <a:gd name="connsiteX3" fmla="*/ 5509260 w 5509260"/>
              <a:gd name="connsiteY3" fmla="*/ 584062 h 591121"/>
            </a:gdLst>
            <a:ahLst/>
            <a:cxnLst>
              <a:cxn ang="0">
                <a:pos x="connsiteX0" y="connsiteY0"/>
              </a:cxn>
              <a:cxn ang="0">
                <a:pos x="connsiteX1" y="connsiteY1"/>
              </a:cxn>
              <a:cxn ang="0">
                <a:pos x="connsiteX2" y="connsiteY2"/>
              </a:cxn>
              <a:cxn ang="0">
                <a:pos x="connsiteX3" y="connsiteY3"/>
              </a:cxn>
            </a:cxnLst>
            <a:rect l="l" t="t" r="r" b="b"/>
            <a:pathLst>
              <a:path w="5509260" h="591121">
                <a:moveTo>
                  <a:pt x="0" y="50662"/>
                </a:moveTo>
                <a:cubicBezTo>
                  <a:pt x="1533525" y="8117"/>
                  <a:pt x="3067050" y="-34428"/>
                  <a:pt x="3878580" y="43042"/>
                </a:cubicBezTo>
                <a:cubicBezTo>
                  <a:pt x="4690110" y="120512"/>
                  <a:pt x="4597400" y="425312"/>
                  <a:pt x="4869180" y="515482"/>
                </a:cubicBezTo>
                <a:cubicBezTo>
                  <a:pt x="5140960" y="605652"/>
                  <a:pt x="5325110" y="594857"/>
                  <a:pt x="5509260" y="584062"/>
                </a:cubicBezTo>
              </a:path>
            </a:pathLst>
          </a:custGeom>
          <a:noFill/>
          <a:ln w="28575">
            <a:solidFill>
              <a:srgbClr val="AFD89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Shape 128">
            <a:extLst>
              <a:ext uri="{FF2B5EF4-FFF2-40B4-BE49-F238E27FC236}">
                <a16:creationId xmlns="" xmlns:a16="http://schemas.microsoft.com/office/drawing/2014/main" id="{F9635A34-1527-4A05-AAA4-45DB2D9DAB0A}"/>
              </a:ext>
            </a:extLst>
          </p:cNvPr>
          <p:cNvSpPr/>
          <p:nvPr/>
        </p:nvSpPr>
        <p:spPr bwMode="gray">
          <a:xfrm>
            <a:off x="3258014" y="4958279"/>
            <a:ext cx="5494020" cy="779071"/>
          </a:xfrm>
          <a:custGeom>
            <a:avLst/>
            <a:gdLst>
              <a:gd name="connsiteX0" fmla="*/ 0 w 5494020"/>
              <a:gd name="connsiteY0" fmla="*/ 37181 h 779071"/>
              <a:gd name="connsiteX1" fmla="*/ 1051560 w 5494020"/>
              <a:gd name="connsiteY1" fmla="*/ 82901 h 779071"/>
              <a:gd name="connsiteX2" fmla="*/ 4175760 w 5494020"/>
              <a:gd name="connsiteY2" fmla="*/ 768701 h 779071"/>
              <a:gd name="connsiteX3" fmla="*/ 4968240 w 5494020"/>
              <a:gd name="connsiteY3" fmla="*/ 494381 h 779071"/>
              <a:gd name="connsiteX4" fmla="*/ 5494020 w 5494020"/>
              <a:gd name="connsiteY4" fmla="*/ 463901 h 779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4020" h="779071">
                <a:moveTo>
                  <a:pt x="0" y="37181"/>
                </a:moveTo>
                <a:cubicBezTo>
                  <a:pt x="177800" y="-919"/>
                  <a:pt x="355600" y="-39019"/>
                  <a:pt x="1051560" y="82901"/>
                </a:cubicBezTo>
                <a:cubicBezTo>
                  <a:pt x="1747520" y="204821"/>
                  <a:pt x="3522980" y="700121"/>
                  <a:pt x="4175760" y="768701"/>
                </a:cubicBezTo>
                <a:cubicBezTo>
                  <a:pt x="4828540" y="837281"/>
                  <a:pt x="4748530" y="545181"/>
                  <a:pt x="4968240" y="494381"/>
                </a:cubicBezTo>
                <a:cubicBezTo>
                  <a:pt x="5187950" y="443581"/>
                  <a:pt x="5340985" y="453741"/>
                  <a:pt x="5494020" y="463901"/>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 xmlns:a16="http://schemas.microsoft.com/office/drawing/2014/main" id="{E4A183C9-7A06-41E8-A0E1-7CA499490506}"/>
              </a:ext>
            </a:extLst>
          </p:cNvPr>
          <p:cNvSpPr txBox="1"/>
          <p:nvPr/>
        </p:nvSpPr>
        <p:spPr bwMode="gray">
          <a:xfrm>
            <a:off x="1992485" y="4592655"/>
            <a:ext cx="1386918" cy="307777"/>
          </a:xfrm>
          <a:prstGeom prst="rect">
            <a:avLst/>
          </a:prstGeom>
          <a:noFill/>
        </p:spPr>
        <p:txBody>
          <a:bodyPr wrap="none" rtlCol="0">
            <a:spAutoFit/>
          </a:bodyPr>
          <a:lstStyle/>
          <a:p>
            <a:r>
              <a:rPr lang="zh-CN" altLang="en-US" sz="1400" dirty="0"/>
              <a:t>业务</a:t>
            </a:r>
            <a:r>
              <a:rPr lang="en-US" altLang="zh-CN" sz="1400" dirty="0"/>
              <a:t>1 DSCP EF</a:t>
            </a:r>
            <a:endParaRPr lang="en-US" sz="1400" dirty="0"/>
          </a:p>
        </p:txBody>
      </p:sp>
      <p:sp>
        <p:nvSpPr>
          <p:cNvPr id="131" name="TextBox 130">
            <a:extLst>
              <a:ext uri="{FF2B5EF4-FFF2-40B4-BE49-F238E27FC236}">
                <a16:creationId xmlns="" xmlns:a16="http://schemas.microsoft.com/office/drawing/2014/main" id="{CFB75EA8-0C2A-4806-86A7-4FF27AB44FB4}"/>
              </a:ext>
            </a:extLst>
          </p:cNvPr>
          <p:cNvSpPr txBox="1"/>
          <p:nvPr/>
        </p:nvSpPr>
        <p:spPr bwMode="gray">
          <a:xfrm>
            <a:off x="1853986" y="4972435"/>
            <a:ext cx="1608133" cy="307777"/>
          </a:xfrm>
          <a:prstGeom prst="rect">
            <a:avLst/>
          </a:prstGeom>
          <a:noFill/>
        </p:spPr>
        <p:txBody>
          <a:bodyPr wrap="none" rtlCol="0">
            <a:spAutoFit/>
          </a:bodyPr>
          <a:lstStyle/>
          <a:p>
            <a:r>
              <a:rPr lang="zh-CN" altLang="en-US" sz="1400" dirty="0"/>
              <a:t>业务</a:t>
            </a:r>
            <a:r>
              <a:rPr lang="en-US" altLang="zh-CN" sz="1400" dirty="0"/>
              <a:t>2 DSCP AF41</a:t>
            </a:r>
            <a:endParaRPr lang="en-US" sz="1400" dirty="0"/>
          </a:p>
        </p:txBody>
      </p:sp>
      <p:sp>
        <p:nvSpPr>
          <p:cNvPr id="132" name="Oval 41">
            <a:extLst>
              <a:ext uri="{FF2B5EF4-FFF2-40B4-BE49-F238E27FC236}">
                <a16:creationId xmlns="" xmlns:a16="http://schemas.microsoft.com/office/drawing/2014/main" id="{A27944D8-7AC5-4D1F-8307-EF6CA7623457}"/>
              </a:ext>
            </a:extLst>
          </p:cNvPr>
          <p:cNvSpPr>
            <a:spLocks noChangeAspect="1"/>
          </p:cNvSpPr>
          <p:nvPr/>
        </p:nvSpPr>
        <p:spPr bwMode="gray">
          <a:xfrm>
            <a:off x="3687245" y="485079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35" name="Trapezoid 34">
            <a:extLst>
              <a:ext uri="{FF2B5EF4-FFF2-40B4-BE49-F238E27FC236}">
                <a16:creationId xmlns="" xmlns:a16="http://schemas.microsoft.com/office/drawing/2014/main" id="{8DC3C862-3E4D-42CB-A751-B5FB8E2394C9}"/>
              </a:ext>
            </a:extLst>
          </p:cNvPr>
          <p:cNvSpPr/>
          <p:nvPr/>
        </p:nvSpPr>
        <p:spPr bwMode="gray">
          <a:xfrm flipV="1">
            <a:off x="2487852" y="4027547"/>
            <a:ext cx="4067432" cy="741984"/>
          </a:xfrm>
          <a:prstGeom prst="trapezoid">
            <a:avLst>
              <a:gd name="adj" fmla="val 254439"/>
            </a:avLst>
          </a:prstGeom>
          <a:gradFill>
            <a:gsLst>
              <a:gs pos="0">
                <a:srgbClr val="56C4D2"/>
              </a:gs>
              <a:gs pos="100000">
                <a:schemeClr val="bg1">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 xmlns:a16="http://schemas.microsoft.com/office/drawing/2014/main" id="{2317A420-3362-41D8-86E3-D256E2D79ADC}"/>
              </a:ext>
            </a:extLst>
          </p:cNvPr>
          <p:cNvSpPr/>
          <p:nvPr/>
        </p:nvSpPr>
        <p:spPr bwMode="gray">
          <a:xfrm>
            <a:off x="3282217" y="3137023"/>
            <a:ext cx="928113" cy="384761"/>
          </a:xfrm>
          <a:prstGeom prst="roundRect">
            <a:avLst>
              <a:gd name="adj" fmla="val 8002"/>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VPN</a:t>
            </a:r>
            <a:r>
              <a:rPr lang="zh-CN" altLang="en-US" sz="1400" dirty="0">
                <a:solidFill>
                  <a:schemeClr val="tx1"/>
                </a:solidFill>
              </a:rPr>
              <a:t>实例</a:t>
            </a:r>
            <a:endParaRPr lang="en-US" sz="1400" dirty="0">
              <a:solidFill>
                <a:schemeClr val="tx1"/>
              </a:solidFill>
            </a:endParaRPr>
          </a:p>
        </p:txBody>
      </p:sp>
      <p:sp>
        <p:nvSpPr>
          <p:cNvPr id="135" name="Rectangle: Rounded Corners 134">
            <a:extLst>
              <a:ext uri="{FF2B5EF4-FFF2-40B4-BE49-F238E27FC236}">
                <a16:creationId xmlns="" xmlns:a16="http://schemas.microsoft.com/office/drawing/2014/main" id="{7EDFD55E-27F8-4B56-A31B-BFB2C98934DF}"/>
              </a:ext>
            </a:extLst>
          </p:cNvPr>
          <p:cNvSpPr/>
          <p:nvPr/>
        </p:nvSpPr>
        <p:spPr bwMode="gray">
          <a:xfrm>
            <a:off x="4594852" y="2812636"/>
            <a:ext cx="1087408" cy="421876"/>
          </a:xfrm>
          <a:prstGeom prst="roundRect">
            <a:avLst>
              <a:gd name="adj" fmla="val 8002"/>
            </a:avLst>
          </a:prstGeom>
          <a:solidFill>
            <a:srgbClr val="EEB3B8"/>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SR Policy G</a:t>
            </a:r>
            <a:r>
              <a:rPr lang="en-US" altLang="zh-CN" sz="1400" dirty="0">
                <a:solidFill>
                  <a:schemeClr val="tx1"/>
                </a:solidFill>
              </a:rPr>
              <a:t>roup1</a:t>
            </a:r>
            <a:endParaRPr lang="en-US" sz="1400" dirty="0">
              <a:solidFill>
                <a:schemeClr val="tx1"/>
              </a:solidFill>
            </a:endParaRPr>
          </a:p>
        </p:txBody>
      </p:sp>
      <p:sp>
        <p:nvSpPr>
          <p:cNvPr id="137" name="Rectangle: Rounded Corners 136">
            <a:extLst>
              <a:ext uri="{FF2B5EF4-FFF2-40B4-BE49-F238E27FC236}">
                <a16:creationId xmlns="" xmlns:a16="http://schemas.microsoft.com/office/drawing/2014/main" id="{4C79366D-DA74-4DE6-AC7C-EEE7CDE94BC1}"/>
              </a:ext>
            </a:extLst>
          </p:cNvPr>
          <p:cNvSpPr/>
          <p:nvPr/>
        </p:nvSpPr>
        <p:spPr bwMode="gray">
          <a:xfrm>
            <a:off x="4594852" y="3475819"/>
            <a:ext cx="1087408" cy="421876"/>
          </a:xfrm>
          <a:prstGeom prst="roundRect">
            <a:avLst>
              <a:gd name="adj" fmla="val 8002"/>
            </a:avLst>
          </a:prstGeom>
          <a:solidFill>
            <a:srgbClr val="EEB3B8"/>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SR Policy G</a:t>
            </a:r>
            <a:r>
              <a:rPr lang="en-US" altLang="zh-CN" sz="1400" dirty="0">
                <a:solidFill>
                  <a:schemeClr val="tx1"/>
                </a:solidFill>
              </a:rPr>
              <a:t>roup2</a:t>
            </a:r>
            <a:endParaRPr lang="en-US" sz="1400" dirty="0">
              <a:solidFill>
                <a:schemeClr val="tx1"/>
              </a:solidFill>
            </a:endParaRPr>
          </a:p>
        </p:txBody>
      </p:sp>
      <p:cxnSp>
        <p:nvCxnSpPr>
          <p:cNvPr id="44" name="Straight Arrow Connector 43">
            <a:extLst>
              <a:ext uri="{FF2B5EF4-FFF2-40B4-BE49-F238E27FC236}">
                <a16:creationId xmlns="" xmlns:a16="http://schemas.microsoft.com/office/drawing/2014/main" id="{218AC088-94AF-4A76-BA3C-0119613437E1}"/>
              </a:ext>
            </a:extLst>
          </p:cNvPr>
          <p:cNvCxnSpPr/>
          <p:nvPr/>
        </p:nvCxnSpPr>
        <p:spPr bwMode="gray">
          <a:xfrm>
            <a:off x="2689492" y="3211652"/>
            <a:ext cx="566519" cy="0"/>
          </a:xfrm>
          <a:prstGeom prst="straightConnector1">
            <a:avLst/>
          </a:prstGeom>
          <a:ln w="28575">
            <a:solidFill>
              <a:srgbClr val="AFD89C"/>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 xmlns:a16="http://schemas.microsoft.com/office/drawing/2014/main" id="{1E6FFAF4-15AD-46DD-80FE-99EFA7BB8EDA}"/>
              </a:ext>
            </a:extLst>
          </p:cNvPr>
          <p:cNvCxnSpPr/>
          <p:nvPr/>
        </p:nvCxnSpPr>
        <p:spPr bwMode="gray">
          <a:xfrm>
            <a:off x="2689492" y="3431633"/>
            <a:ext cx="566519"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 xmlns:a16="http://schemas.microsoft.com/office/drawing/2014/main" id="{EE0C5815-A308-46EB-961B-C4F28029F0E1}"/>
              </a:ext>
            </a:extLst>
          </p:cNvPr>
          <p:cNvCxnSpPr>
            <a:cxnSpLocks/>
          </p:cNvCxnSpPr>
          <p:nvPr/>
        </p:nvCxnSpPr>
        <p:spPr bwMode="gray">
          <a:xfrm flipV="1">
            <a:off x="4210330" y="2924514"/>
            <a:ext cx="384522" cy="305830"/>
          </a:xfrm>
          <a:prstGeom prst="bentConnector3">
            <a:avLst/>
          </a:prstGeom>
          <a:ln w="28575">
            <a:solidFill>
              <a:srgbClr val="AFD89C"/>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 xmlns:a16="http://schemas.microsoft.com/office/drawing/2014/main" id="{E74BA8D7-45E0-408B-8FA5-2F477CAA020B}"/>
              </a:ext>
            </a:extLst>
          </p:cNvPr>
          <p:cNvCxnSpPr>
            <a:cxnSpLocks/>
          </p:cNvCxnSpPr>
          <p:nvPr/>
        </p:nvCxnSpPr>
        <p:spPr bwMode="gray">
          <a:xfrm>
            <a:off x="4210330" y="3428637"/>
            <a:ext cx="384522" cy="305830"/>
          </a:xfrm>
          <a:prstGeom prst="bentConnector3">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 xmlns:a16="http://schemas.microsoft.com/office/drawing/2014/main" id="{0136F598-E4A0-4F5E-B425-4456D18A6C64}"/>
              </a:ext>
            </a:extLst>
          </p:cNvPr>
          <p:cNvCxnSpPr/>
          <p:nvPr/>
        </p:nvCxnSpPr>
        <p:spPr bwMode="gray">
          <a:xfrm>
            <a:off x="5699678" y="3023574"/>
            <a:ext cx="566519" cy="0"/>
          </a:xfrm>
          <a:prstGeom prst="straightConnector1">
            <a:avLst/>
          </a:prstGeom>
          <a:ln w="28575">
            <a:solidFill>
              <a:srgbClr val="AFD89C"/>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 xmlns:a16="http://schemas.microsoft.com/office/drawing/2014/main" id="{9BCE79F1-9055-4F03-9B5D-35D271F94C7C}"/>
              </a:ext>
            </a:extLst>
          </p:cNvPr>
          <p:cNvCxnSpPr/>
          <p:nvPr/>
        </p:nvCxnSpPr>
        <p:spPr bwMode="gray">
          <a:xfrm>
            <a:off x="5699677" y="3686757"/>
            <a:ext cx="566519"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43" name="圆角矩形 75">
            <a:extLst>
              <a:ext uri="{FF2B5EF4-FFF2-40B4-BE49-F238E27FC236}">
                <a16:creationId xmlns="" xmlns:a16="http://schemas.microsoft.com/office/drawing/2014/main" id="{6AF3C203-7272-4CBB-B922-454CDDC9E2F9}"/>
              </a:ext>
            </a:extLst>
          </p:cNvPr>
          <p:cNvSpPr/>
          <p:nvPr/>
        </p:nvSpPr>
        <p:spPr bwMode="gray">
          <a:xfrm>
            <a:off x="2619375" y="2683589"/>
            <a:ext cx="3724274" cy="1451928"/>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tabLst/>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44" name="Rectangular Callout 26">
            <a:extLst>
              <a:ext uri="{FF2B5EF4-FFF2-40B4-BE49-F238E27FC236}">
                <a16:creationId xmlns="" xmlns:a16="http://schemas.microsoft.com/office/drawing/2014/main" id="{B4BB87C1-C6F0-4B14-B703-0CCDC7433FEC}"/>
              </a:ext>
            </a:extLst>
          </p:cNvPr>
          <p:cNvSpPr/>
          <p:nvPr/>
        </p:nvSpPr>
        <p:spPr bwMode="gray">
          <a:xfrm>
            <a:off x="1803561" y="2465804"/>
            <a:ext cx="1368581" cy="523162"/>
          </a:xfrm>
          <a:prstGeom prst="wedgeRectCallout">
            <a:avLst>
              <a:gd name="adj1" fmla="val 26823"/>
              <a:gd name="adj2" fmla="val 810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同</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的应用通过</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DSCP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区分</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5" name="Rectangular Callout 26">
            <a:extLst>
              <a:ext uri="{FF2B5EF4-FFF2-40B4-BE49-F238E27FC236}">
                <a16:creationId xmlns="" xmlns:a16="http://schemas.microsoft.com/office/drawing/2014/main" id="{1CC563C6-5341-4657-A845-EB287280A8D5}"/>
              </a:ext>
            </a:extLst>
          </p:cNvPr>
          <p:cNvSpPr/>
          <p:nvPr/>
        </p:nvSpPr>
        <p:spPr bwMode="gray">
          <a:xfrm>
            <a:off x="2449147" y="5275294"/>
            <a:ext cx="1503659" cy="523162"/>
          </a:xfrm>
          <a:prstGeom prst="wedgeRectCallout">
            <a:avLst>
              <a:gd name="adj1" fmla="val 34479"/>
              <a:gd name="adj2" fmla="val -8640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侧对应用数据赋予</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DSCP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6" name="Rectangular Callout 26">
            <a:extLst>
              <a:ext uri="{FF2B5EF4-FFF2-40B4-BE49-F238E27FC236}">
                <a16:creationId xmlns="" xmlns:a16="http://schemas.microsoft.com/office/drawing/2014/main" id="{E960D1E9-161E-4905-8695-F5546E887059}"/>
              </a:ext>
            </a:extLst>
          </p:cNvPr>
          <p:cNvSpPr/>
          <p:nvPr/>
        </p:nvSpPr>
        <p:spPr bwMode="gray">
          <a:xfrm>
            <a:off x="3427670" y="1991923"/>
            <a:ext cx="1733866" cy="738333"/>
          </a:xfrm>
          <a:prstGeom prst="wedgeRectCallout">
            <a:avLst>
              <a:gd name="adj1" fmla="val 10502"/>
              <a:gd name="adj2" fmla="val 6644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DSCP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值，不同的应用使用不同的</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隧道承载</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Can 225">
            <a:extLst>
              <a:ext uri="{FF2B5EF4-FFF2-40B4-BE49-F238E27FC236}">
                <a16:creationId xmlns="" xmlns:a16="http://schemas.microsoft.com/office/drawing/2014/main" id="{CADA2D9E-5451-4EC5-92BE-D992252C4A2A}"/>
              </a:ext>
            </a:extLst>
          </p:cNvPr>
          <p:cNvSpPr/>
          <p:nvPr/>
        </p:nvSpPr>
        <p:spPr bwMode="gray">
          <a:xfrm rot="5400000">
            <a:off x="9293134" y="5634742"/>
            <a:ext cx="193925" cy="541535"/>
          </a:xfrm>
          <a:prstGeom prst="can">
            <a:avLst>
              <a:gd name="adj" fmla="val 50891"/>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TextBox 271">
            <a:extLst>
              <a:ext uri="{FF2B5EF4-FFF2-40B4-BE49-F238E27FC236}">
                <a16:creationId xmlns="" xmlns:a16="http://schemas.microsoft.com/office/drawing/2014/main" id="{B58D9CA8-5D41-4082-96EA-89B432F1298A}"/>
              </a:ext>
            </a:extLst>
          </p:cNvPr>
          <p:cNvSpPr txBox="1"/>
          <p:nvPr/>
        </p:nvSpPr>
        <p:spPr bwMode="gray">
          <a:xfrm>
            <a:off x="9660864" y="5772337"/>
            <a:ext cx="1119217" cy="276999"/>
          </a:xfrm>
          <a:prstGeom prst="rect">
            <a:avLst/>
          </a:prstGeom>
          <a:noFill/>
        </p:spPr>
        <p:txBody>
          <a:bodyPr wrap="none" rtlCol="0">
            <a:spAutoFit/>
          </a:bodyPr>
          <a:lstStyle/>
          <a:p>
            <a:pPr>
              <a:buFont typeface="Wingdings"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 Policy</a:t>
            </a: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Tree>
    <p:extLst>
      <p:ext uri="{BB962C8B-B14F-4D97-AF65-F5344CB8AC3E}">
        <p14:creationId xmlns:p14="http://schemas.microsoft.com/office/powerpoint/2010/main" val="621012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53246-7BE4-4AE7-BE5B-DF67B1084C5C}"/>
              </a:ext>
            </a:extLst>
          </p:cNvPr>
          <p:cNvSpPr>
            <a:spLocks noGrp="1"/>
          </p:cNvSpPr>
          <p:nvPr>
            <p:ph type="title"/>
          </p:nvPr>
        </p:nvSpPr>
        <p:spPr bwMode="gray"/>
        <p:txBody>
          <a:bodyPr/>
          <a:lstStyle/>
          <a:p>
            <a:r>
              <a:rPr lang="zh-CN" altLang="en-US" dirty="0"/>
              <a:t>企业广域承载网络优化设计思路</a:t>
            </a:r>
            <a:endParaRPr lang="en-US" dirty="0"/>
          </a:p>
        </p:txBody>
      </p:sp>
      <p:sp>
        <p:nvSpPr>
          <p:cNvPr id="5" name="圆角矩形 3">
            <a:extLst>
              <a:ext uri="{FF2B5EF4-FFF2-40B4-BE49-F238E27FC236}">
                <a16:creationId xmlns="" xmlns:a16="http://schemas.microsoft.com/office/drawing/2014/main" id="{11901331-6B80-4036-AA21-A3A10E33A5E6}"/>
              </a:ext>
            </a:extLst>
          </p:cNvPr>
          <p:cNvSpPr/>
          <p:nvPr/>
        </p:nvSpPr>
        <p:spPr bwMode="gray">
          <a:xfrm>
            <a:off x="6223678" y="1714690"/>
            <a:ext cx="2789367" cy="364249"/>
          </a:xfrm>
          <a:prstGeom prst="roundRect">
            <a:avLst/>
          </a:prstGeom>
          <a:solidFill>
            <a:srgbClr val="56C4D2"/>
          </a:solidFill>
          <a:ln>
            <a:solidFill>
              <a:srgbClr val="30B5C5"/>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运维设计</a:t>
            </a:r>
          </a:p>
        </p:txBody>
      </p:sp>
      <p:sp>
        <p:nvSpPr>
          <p:cNvPr id="6" name="圆角矩形 4">
            <a:extLst>
              <a:ext uri="{FF2B5EF4-FFF2-40B4-BE49-F238E27FC236}">
                <a16:creationId xmlns="" xmlns:a16="http://schemas.microsoft.com/office/drawing/2014/main" id="{ABC2C3EF-B0C2-45DF-B461-1573C46FD3DC}"/>
              </a:ext>
            </a:extLst>
          </p:cNvPr>
          <p:cNvSpPr/>
          <p:nvPr/>
        </p:nvSpPr>
        <p:spPr bwMode="gray">
          <a:xfrm>
            <a:off x="6223678"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5">
            <a:extLst>
              <a:ext uri="{FF2B5EF4-FFF2-40B4-BE49-F238E27FC236}">
                <a16:creationId xmlns="" xmlns:a16="http://schemas.microsoft.com/office/drawing/2014/main" id="{B6ABF4A6-A66C-4249-9A88-F71AC1389D38}"/>
              </a:ext>
            </a:extLst>
          </p:cNvPr>
          <p:cNvSpPr/>
          <p:nvPr/>
        </p:nvSpPr>
        <p:spPr bwMode="gray">
          <a:xfrm>
            <a:off x="6421289" y="2360214"/>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用户管理</a:t>
            </a:r>
          </a:p>
        </p:txBody>
      </p:sp>
      <p:sp>
        <p:nvSpPr>
          <p:cNvPr id="9" name="圆角矩形 9">
            <a:extLst>
              <a:ext uri="{FF2B5EF4-FFF2-40B4-BE49-F238E27FC236}">
                <a16:creationId xmlns="" xmlns:a16="http://schemas.microsoft.com/office/drawing/2014/main" id="{6AE0A19B-009A-497D-BEC7-925796AB0399}"/>
              </a:ext>
            </a:extLst>
          </p:cNvPr>
          <p:cNvSpPr/>
          <p:nvPr/>
        </p:nvSpPr>
        <p:spPr bwMode="gray">
          <a:xfrm>
            <a:off x="3178957" y="1714690"/>
            <a:ext cx="2789367" cy="364249"/>
          </a:xfrm>
          <a:prstGeom prst="roundRect">
            <a:avLst/>
          </a:prstGeom>
          <a:solidFill>
            <a:schemeClr val="bg1">
              <a:lumMod val="50000"/>
            </a:schemeClr>
          </a:solidFill>
          <a:ln>
            <a:solidFill>
              <a:schemeClr val="bg1">
                <a:lumMod val="50000"/>
              </a:schemeClr>
            </a:solidFill>
          </a:ln>
        </p:spPr>
        <p:txBody>
          <a:bodyPr wrap="square" rtlCol="0" anchor="ctr" anchorCtr="0">
            <a:noAutofit/>
          </a:bodyP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r>
              <a:rPr lang="en-US" altLang="zh-CN" sz="16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网络优化设计</a:t>
            </a:r>
          </a:p>
        </p:txBody>
      </p:sp>
      <p:sp>
        <p:nvSpPr>
          <p:cNvPr id="10" name="圆角矩形 10">
            <a:extLst>
              <a:ext uri="{FF2B5EF4-FFF2-40B4-BE49-F238E27FC236}">
                <a16:creationId xmlns="" xmlns:a16="http://schemas.microsoft.com/office/drawing/2014/main" id="{A53F8288-E1B0-495A-943D-DFB8E34F1F6A}"/>
              </a:ext>
            </a:extLst>
          </p:cNvPr>
          <p:cNvSpPr/>
          <p:nvPr/>
        </p:nvSpPr>
        <p:spPr bwMode="gray">
          <a:xfrm>
            <a:off x="3178957" y="2205518"/>
            <a:ext cx="2789367" cy="1709258"/>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12">
            <a:extLst>
              <a:ext uri="{FF2B5EF4-FFF2-40B4-BE49-F238E27FC236}">
                <a16:creationId xmlns="" xmlns:a16="http://schemas.microsoft.com/office/drawing/2014/main" id="{022EF5E9-66CB-44AB-812D-736461562717}"/>
              </a:ext>
            </a:extLst>
          </p:cNvPr>
          <p:cNvSpPr/>
          <p:nvPr/>
        </p:nvSpPr>
        <p:spPr bwMode="gray">
          <a:xfrm>
            <a:off x="6421289" y="2850093"/>
            <a:ext cx="2366130" cy="364249"/>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维护窗口</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6">
            <a:extLst>
              <a:ext uri="{FF2B5EF4-FFF2-40B4-BE49-F238E27FC236}">
                <a16:creationId xmlns="" xmlns:a16="http://schemas.microsoft.com/office/drawing/2014/main" id="{1FB65C94-9AAD-48AE-AE5F-F108437A8679}"/>
              </a:ext>
            </a:extLst>
          </p:cNvPr>
          <p:cNvSpPr/>
          <p:nvPr/>
        </p:nvSpPr>
        <p:spPr bwMode="gray">
          <a:xfrm>
            <a:off x="3396926" y="2360213"/>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网络性能监控设计</a:t>
            </a:r>
          </a:p>
        </p:txBody>
      </p:sp>
      <p:sp>
        <p:nvSpPr>
          <p:cNvPr id="16" name="圆角矩形 11">
            <a:extLst>
              <a:ext uri="{FF2B5EF4-FFF2-40B4-BE49-F238E27FC236}">
                <a16:creationId xmlns="" xmlns:a16="http://schemas.microsoft.com/office/drawing/2014/main" id="{A28C70A0-EEFC-42D6-8FAB-AC0939D93466}"/>
              </a:ext>
            </a:extLst>
          </p:cNvPr>
          <p:cNvSpPr/>
          <p:nvPr/>
        </p:nvSpPr>
        <p:spPr bwMode="gray">
          <a:xfrm>
            <a:off x="3396926" y="2849178"/>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网络流量调优设计</a:t>
            </a:r>
          </a:p>
        </p:txBody>
      </p:sp>
      <p:sp>
        <p:nvSpPr>
          <p:cNvPr id="13" name="Arrow: Down 12">
            <a:extLst>
              <a:ext uri="{FF2B5EF4-FFF2-40B4-BE49-F238E27FC236}">
                <a16:creationId xmlns="" xmlns:a16="http://schemas.microsoft.com/office/drawing/2014/main" id="{0F3A7870-B7BC-4607-875E-CD12BF64E074}"/>
              </a:ext>
            </a:extLst>
          </p:cNvPr>
          <p:cNvSpPr/>
          <p:nvPr/>
        </p:nvSpPr>
        <p:spPr bwMode="gray">
          <a:xfrm>
            <a:off x="7456436" y="1374904"/>
            <a:ext cx="323850" cy="260360"/>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圆角矩形 11">
            <a:extLst>
              <a:ext uri="{FF2B5EF4-FFF2-40B4-BE49-F238E27FC236}">
                <a16:creationId xmlns="" xmlns:a16="http://schemas.microsoft.com/office/drawing/2014/main" id="{DA3D4981-4AA0-4E22-B38C-8BB4C5659415}"/>
              </a:ext>
            </a:extLst>
          </p:cNvPr>
          <p:cNvSpPr/>
          <p:nvPr/>
        </p:nvSpPr>
        <p:spPr bwMode="gray">
          <a:xfrm>
            <a:off x="3396926" y="3338426"/>
            <a:ext cx="2366130" cy="364249"/>
          </a:xfrm>
          <a:prstGeom prst="roundRect">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应用优化设计</a:t>
            </a:r>
          </a:p>
        </p:txBody>
      </p:sp>
    </p:spTree>
    <p:extLst>
      <p:ext uri="{BB962C8B-B14F-4D97-AF65-F5344CB8AC3E}">
        <p14:creationId xmlns:p14="http://schemas.microsoft.com/office/powerpoint/2010/main" val="15330927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81951C-E64F-4B14-BD37-A0A8EE239FC8}"/>
              </a:ext>
            </a:extLst>
          </p:cNvPr>
          <p:cNvSpPr>
            <a:spLocks noGrp="1"/>
          </p:cNvSpPr>
          <p:nvPr>
            <p:ph type="title"/>
          </p:nvPr>
        </p:nvSpPr>
        <p:spPr bwMode="gray"/>
        <p:txBody>
          <a:bodyPr/>
          <a:lstStyle/>
          <a:p>
            <a:r>
              <a:rPr lang="zh-CN" altLang="en-US" dirty="0"/>
              <a:t>用户类型介绍</a:t>
            </a:r>
            <a:endParaRPr lang="en-US" dirty="0"/>
          </a:p>
        </p:txBody>
      </p:sp>
      <p:sp>
        <p:nvSpPr>
          <p:cNvPr id="3" name="Text Placeholder 2">
            <a:extLst>
              <a:ext uri="{FF2B5EF4-FFF2-40B4-BE49-F238E27FC236}">
                <a16:creationId xmlns="" xmlns:a16="http://schemas.microsoft.com/office/drawing/2014/main" id="{ECEAE2E5-C2F7-439D-9557-D07E26AF5879}"/>
              </a:ext>
            </a:extLst>
          </p:cNvPr>
          <p:cNvSpPr>
            <a:spLocks noGrp="1"/>
          </p:cNvSpPr>
          <p:nvPr>
            <p:ph type="body" sz="quarter" idx="10"/>
          </p:nvPr>
        </p:nvSpPr>
        <p:spPr bwMode="gray">
          <a:xfrm>
            <a:off x="455612" y="1047750"/>
            <a:ext cx="11293475" cy="2313801"/>
          </a:xfrm>
        </p:spPr>
        <p:txBody>
          <a:bodyPr/>
          <a:lstStyle/>
          <a:p>
            <a:r>
              <a:rPr lang="zh-CN" altLang="en-US" sz="1800" dirty="0"/>
              <a:t>通过不同的用户类型可以对云广域网络进行不同操作，</a:t>
            </a:r>
            <a:r>
              <a:rPr lang="en-US" altLang="zh-CN" sz="1800" dirty="0" err="1"/>
              <a:t>iMaster</a:t>
            </a:r>
            <a:r>
              <a:rPr lang="en-US" altLang="zh-CN" sz="1800" dirty="0"/>
              <a:t> NCE-IP</a:t>
            </a:r>
            <a:r>
              <a:rPr lang="zh-CN" altLang="en-US" sz="1800" dirty="0"/>
              <a:t>控制器默认有以下几种用户：</a:t>
            </a:r>
            <a:endParaRPr lang="en-US" altLang="zh-CN" sz="1800" dirty="0"/>
          </a:p>
          <a:p>
            <a:pPr lvl="1"/>
            <a:r>
              <a:rPr lang="en-US" altLang="zh-CN" sz="1600" dirty="0"/>
              <a:t>Administrators</a:t>
            </a:r>
            <a:r>
              <a:rPr lang="zh-CN" altLang="en-US" sz="1600" dirty="0"/>
              <a:t>：拥有用户管理、查询安全日志、查询个人安全日志和查看在线用户之外的所有权限。</a:t>
            </a:r>
          </a:p>
          <a:p>
            <a:pPr lvl="1"/>
            <a:r>
              <a:rPr lang="zh-CN" altLang="en-US" sz="1600" dirty="0"/>
              <a:t>安全管理员组：拥有用户管理、查询安全日志和查看在线用户的权限。</a:t>
            </a:r>
          </a:p>
          <a:p>
            <a:pPr lvl="1"/>
            <a:r>
              <a:rPr lang="zh-CN" altLang="en-US" sz="1600" dirty="0"/>
              <a:t>操作员组：拥有执行非安全功能类操作的权限。</a:t>
            </a:r>
          </a:p>
          <a:p>
            <a:pPr lvl="1"/>
            <a:r>
              <a:rPr lang="zh-CN" altLang="en-US" sz="1600" dirty="0"/>
              <a:t>监控员组：拥有查看非安全类功能的权限，没有操作权限。</a:t>
            </a:r>
            <a:endParaRPr lang="en-US" sz="1600" dirty="0"/>
          </a:p>
        </p:txBody>
      </p:sp>
      <p:sp>
        <p:nvSpPr>
          <p:cNvPr id="4" name="燕尾形 3">
            <a:extLst>
              <a:ext uri="{FF2B5EF4-FFF2-40B4-BE49-F238E27FC236}">
                <a16:creationId xmlns="" xmlns:a16="http://schemas.microsoft.com/office/drawing/2014/main" id="{D26C6BD8-0B80-4877-94F6-A8AC48A8BF06}"/>
              </a:ext>
            </a:extLst>
          </p:cNvPr>
          <p:cNvSpPr/>
          <p:nvPr/>
        </p:nvSpPr>
        <p:spPr bwMode="gray">
          <a:xfrm>
            <a:off x="10690225" y="44020"/>
            <a:ext cx="10572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维护窗口</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32C4E51F-6125-4762-84A5-46224E8EE15F}"/>
              </a:ext>
            </a:extLst>
          </p:cNvPr>
          <p:cNvSpPr/>
          <p:nvPr/>
        </p:nvSpPr>
        <p:spPr bwMode="gray">
          <a:xfrm>
            <a:off x="9804400" y="44020"/>
            <a:ext cx="9630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Oval 5">
            <a:extLst>
              <a:ext uri="{FF2B5EF4-FFF2-40B4-BE49-F238E27FC236}">
                <a16:creationId xmlns="" xmlns:a16="http://schemas.microsoft.com/office/drawing/2014/main" id="{99807FE3-0AAE-4D58-9489-44DA8FE4392B}"/>
              </a:ext>
            </a:extLst>
          </p:cNvPr>
          <p:cNvSpPr/>
          <p:nvPr/>
        </p:nvSpPr>
        <p:spPr bwMode="gray">
          <a:xfrm>
            <a:off x="3286192" y="3487652"/>
            <a:ext cx="5632315" cy="2554203"/>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 xmlns:a16="http://schemas.microsoft.com/office/drawing/2014/main" id="{A5BCF009-2121-4184-B0BB-2D4719093289}"/>
              </a:ext>
            </a:extLst>
          </p:cNvPr>
          <p:cNvSpPr/>
          <p:nvPr/>
        </p:nvSpPr>
        <p:spPr bwMode="gray">
          <a:xfrm>
            <a:off x="3957145" y="4095786"/>
            <a:ext cx="2788088" cy="1264372"/>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 xmlns:a16="http://schemas.microsoft.com/office/drawing/2014/main" id="{55D9CDAC-7528-4CD3-8BFD-7D1FE3E619F1}"/>
              </a:ext>
            </a:extLst>
          </p:cNvPr>
          <p:cNvSpPr/>
          <p:nvPr/>
        </p:nvSpPr>
        <p:spPr bwMode="gray">
          <a:xfrm>
            <a:off x="5450259" y="4101937"/>
            <a:ext cx="2788088" cy="1264372"/>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 xmlns:a16="http://schemas.microsoft.com/office/drawing/2014/main" id="{59EFE6A7-7FAF-49F4-BF37-01764A687FD6}"/>
              </a:ext>
            </a:extLst>
          </p:cNvPr>
          <p:cNvSpPr txBox="1"/>
          <p:nvPr/>
        </p:nvSpPr>
        <p:spPr bwMode="gray">
          <a:xfrm>
            <a:off x="5376403" y="3634755"/>
            <a:ext cx="1596912" cy="307777"/>
          </a:xfrm>
          <a:prstGeom prst="rect">
            <a:avLst/>
          </a:prstGeom>
          <a:noFill/>
        </p:spPr>
        <p:txBody>
          <a:bodyPr wrap="none" rtlCol="0">
            <a:spAutoFit/>
          </a:bodyPr>
          <a:lstStyle/>
          <a:p>
            <a:r>
              <a:rPr lang="zh-CN" altLang="en-US" sz="1400" dirty="0"/>
              <a:t>系统管理员</a:t>
            </a:r>
            <a:r>
              <a:rPr lang="en-US" altLang="zh-CN" sz="1400" dirty="0"/>
              <a:t>admin</a:t>
            </a:r>
            <a:endParaRPr lang="en-US" sz="1400" dirty="0"/>
          </a:p>
        </p:txBody>
      </p:sp>
      <p:sp>
        <p:nvSpPr>
          <p:cNvPr id="10" name="TextBox 9">
            <a:extLst>
              <a:ext uri="{FF2B5EF4-FFF2-40B4-BE49-F238E27FC236}">
                <a16:creationId xmlns="" xmlns:a16="http://schemas.microsoft.com/office/drawing/2014/main" id="{2E4B162C-907C-464D-8968-3CBCA009886A}"/>
              </a:ext>
            </a:extLst>
          </p:cNvPr>
          <p:cNvSpPr txBox="1"/>
          <p:nvPr/>
        </p:nvSpPr>
        <p:spPr bwMode="gray">
          <a:xfrm>
            <a:off x="3876225" y="4233095"/>
            <a:ext cx="1742785" cy="523220"/>
          </a:xfrm>
          <a:prstGeom prst="rect">
            <a:avLst/>
          </a:prstGeom>
          <a:noFill/>
        </p:spPr>
        <p:txBody>
          <a:bodyPr wrap="none" rtlCol="0">
            <a:spAutoFit/>
          </a:bodyPr>
          <a:lstStyle/>
          <a:p>
            <a:pPr algn="ctr"/>
            <a:r>
              <a:rPr lang="zh-CN" altLang="en-US" sz="1400" dirty="0"/>
              <a:t>管理员</a:t>
            </a:r>
            <a:endParaRPr lang="en-US" altLang="zh-CN" sz="1400" dirty="0"/>
          </a:p>
          <a:p>
            <a:pPr algn="ctr"/>
            <a:r>
              <a:rPr lang="zh-CN" altLang="en-US" sz="1400" dirty="0"/>
              <a:t>（</a:t>
            </a:r>
            <a:r>
              <a:rPr lang="en-US" altLang="zh-CN" sz="1400" dirty="0"/>
              <a:t>Administrators</a:t>
            </a:r>
            <a:r>
              <a:rPr lang="zh-CN" altLang="en-US" sz="1400" dirty="0"/>
              <a:t>）</a:t>
            </a:r>
            <a:endParaRPr lang="en-US" sz="1400" dirty="0"/>
          </a:p>
        </p:txBody>
      </p:sp>
      <p:sp>
        <p:nvSpPr>
          <p:cNvPr id="11" name="TextBox 10">
            <a:extLst>
              <a:ext uri="{FF2B5EF4-FFF2-40B4-BE49-F238E27FC236}">
                <a16:creationId xmlns="" xmlns:a16="http://schemas.microsoft.com/office/drawing/2014/main" id="{4A75A0CF-6F9F-4DE4-BCFC-5E22430AA1C2}"/>
              </a:ext>
            </a:extLst>
          </p:cNvPr>
          <p:cNvSpPr txBox="1"/>
          <p:nvPr/>
        </p:nvSpPr>
        <p:spPr bwMode="gray">
          <a:xfrm>
            <a:off x="4338910" y="4710837"/>
            <a:ext cx="1261885" cy="523220"/>
          </a:xfrm>
          <a:prstGeom prst="rect">
            <a:avLst/>
          </a:prstGeom>
          <a:noFill/>
        </p:spPr>
        <p:txBody>
          <a:bodyPr wrap="none" rtlCol="0">
            <a:spAutoFit/>
          </a:bodyPr>
          <a:lstStyle/>
          <a:p>
            <a:pPr algn="ctr"/>
            <a:r>
              <a:rPr lang="zh-CN" altLang="en-US" sz="1400" dirty="0"/>
              <a:t>操作员</a:t>
            </a:r>
            <a:endParaRPr lang="en-US" altLang="zh-CN" sz="1400" dirty="0"/>
          </a:p>
          <a:p>
            <a:pPr algn="ctr"/>
            <a:r>
              <a:rPr lang="zh-CN" altLang="en-US" sz="1400" dirty="0"/>
              <a:t>（操作员组）</a:t>
            </a:r>
            <a:endParaRPr lang="en-US" sz="1400" dirty="0"/>
          </a:p>
        </p:txBody>
      </p:sp>
      <p:sp>
        <p:nvSpPr>
          <p:cNvPr id="12" name="TextBox 11">
            <a:extLst>
              <a:ext uri="{FF2B5EF4-FFF2-40B4-BE49-F238E27FC236}">
                <a16:creationId xmlns="" xmlns:a16="http://schemas.microsoft.com/office/drawing/2014/main" id="{DDC0A4E7-00CF-4889-BEF1-C0791313FBCD}"/>
              </a:ext>
            </a:extLst>
          </p:cNvPr>
          <p:cNvSpPr txBox="1"/>
          <p:nvPr/>
        </p:nvSpPr>
        <p:spPr bwMode="gray">
          <a:xfrm>
            <a:off x="5471692" y="4386349"/>
            <a:ext cx="1261884" cy="523220"/>
          </a:xfrm>
          <a:prstGeom prst="rect">
            <a:avLst/>
          </a:prstGeom>
          <a:noFill/>
        </p:spPr>
        <p:txBody>
          <a:bodyPr wrap="none" rtlCol="0">
            <a:spAutoFit/>
          </a:bodyPr>
          <a:lstStyle/>
          <a:p>
            <a:pPr algn="ctr"/>
            <a:r>
              <a:rPr lang="zh-CN" altLang="en-US" sz="1400" dirty="0"/>
              <a:t>监控员</a:t>
            </a:r>
            <a:endParaRPr lang="en-US" altLang="zh-CN" sz="1400" dirty="0"/>
          </a:p>
          <a:p>
            <a:pPr algn="ctr"/>
            <a:r>
              <a:rPr lang="zh-CN" altLang="en-US" sz="1400" dirty="0"/>
              <a:t>（监控员组）</a:t>
            </a:r>
            <a:endParaRPr lang="en-US" sz="1400" dirty="0"/>
          </a:p>
        </p:txBody>
      </p:sp>
      <p:sp>
        <p:nvSpPr>
          <p:cNvPr id="13" name="TextBox 12">
            <a:extLst>
              <a:ext uri="{FF2B5EF4-FFF2-40B4-BE49-F238E27FC236}">
                <a16:creationId xmlns="" xmlns:a16="http://schemas.microsoft.com/office/drawing/2014/main" id="{DF054311-6D4B-43EC-A161-F394CE06BC39}"/>
              </a:ext>
            </a:extLst>
          </p:cNvPr>
          <p:cNvSpPr txBox="1"/>
          <p:nvPr/>
        </p:nvSpPr>
        <p:spPr bwMode="gray">
          <a:xfrm>
            <a:off x="6643385" y="4412191"/>
            <a:ext cx="1620957" cy="523220"/>
          </a:xfrm>
          <a:prstGeom prst="rect">
            <a:avLst/>
          </a:prstGeom>
          <a:noFill/>
        </p:spPr>
        <p:txBody>
          <a:bodyPr wrap="none" rtlCol="0">
            <a:spAutoFit/>
          </a:bodyPr>
          <a:lstStyle/>
          <a:p>
            <a:pPr algn="ctr"/>
            <a:r>
              <a:rPr lang="zh-CN" altLang="en-US" sz="1400" dirty="0"/>
              <a:t>安全管理员</a:t>
            </a:r>
            <a:endParaRPr lang="en-US" altLang="zh-CN" sz="1400" dirty="0"/>
          </a:p>
          <a:p>
            <a:pPr algn="ctr"/>
            <a:r>
              <a:rPr lang="zh-CN" altLang="en-US" sz="1400" dirty="0"/>
              <a:t>（安全管理员组）</a:t>
            </a:r>
            <a:endParaRPr lang="en-US" sz="1400" dirty="0"/>
          </a:p>
        </p:txBody>
      </p:sp>
    </p:spTree>
    <p:extLst>
      <p:ext uri="{BB962C8B-B14F-4D97-AF65-F5344CB8AC3E}">
        <p14:creationId xmlns:p14="http://schemas.microsoft.com/office/powerpoint/2010/main" val="1101035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81951C-E64F-4B14-BD37-A0A8EE239FC8}"/>
              </a:ext>
            </a:extLst>
          </p:cNvPr>
          <p:cNvSpPr>
            <a:spLocks noGrp="1"/>
          </p:cNvSpPr>
          <p:nvPr>
            <p:ph type="title"/>
          </p:nvPr>
        </p:nvSpPr>
        <p:spPr bwMode="gray"/>
        <p:txBody>
          <a:bodyPr/>
          <a:lstStyle/>
          <a:p>
            <a:r>
              <a:rPr lang="zh-CN" altLang="en-US" dirty="0"/>
              <a:t>用户监控介绍</a:t>
            </a:r>
            <a:endParaRPr lang="en-US" dirty="0"/>
          </a:p>
        </p:txBody>
      </p:sp>
      <p:sp>
        <p:nvSpPr>
          <p:cNvPr id="3" name="Text Placeholder 2">
            <a:extLst>
              <a:ext uri="{FF2B5EF4-FFF2-40B4-BE49-F238E27FC236}">
                <a16:creationId xmlns="" xmlns:a16="http://schemas.microsoft.com/office/drawing/2014/main" id="{ECEAE2E5-C2F7-439D-9557-D07E26AF5879}"/>
              </a:ext>
            </a:extLst>
          </p:cNvPr>
          <p:cNvSpPr>
            <a:spLocks noGrp="1"/>
          </p:cNvSpPr>
          <p:nvPr>
            <p:ph type="body" sz="quarter" idx="10"/>
          </p:nvPr>
        </p:nvSpPr>
        <p:spPr bwMode="gray"/>
        <p:txBody>
          <a:bodyPr/>
          <a:lstStyle/>
          <a:p>
            <a:r>
              <a:rPr lang="zh-CN" altLang="en-US" sz="1800" dirty="0"/>
              <a:t>通过用户监控会话，安全管理员可了解用户系统中有哪些在线用户以及这些用户访问系统的地址、访问的时间和所属角色等。监控到用户进行不规范操作时，可以给用户发送即时消息或强制注销用户。</a:t>
            </a:r>
            <a:endParaRPr lang="en-US" altLang="zh-CN" sz="1800" dirty="0"/>
          </a:p>
          <a:p>
            <a:pPr lvl="1"/>
            <a:r>
              <a:rPr lang="zh-CN" altLang="en-US" sz="1600" dirty="0"/>
              <a:t>用户会话是指用户和系统之间的连接。会话在用户登录时开始，在用户注销或退出时结束。一个用户可以产生多个会话。</a:t>
            </a:r>
          </a:p>
          <a:p>
            <a:pPr lvl="1"/>
            <a:r>
              <a:rPr lang="zh-CN" altLang="en-US" sz="1600" dirty="0"/>
              <a:t>用户支持登录的会话数由“最大在线会话数”参数设置。</a:t>
            </a:r>
          </a:p>
          <a:p>
            <a:pPr lvl="1"/>
            <a:r>
              <a:rPr lang="zh-CN" altLang="en-US" sz="1600" dirty="0"/>
              <a:t>监控用户会话功能不涉及用户的个人信息。</a:t>
            </a:r>
            <a:endParaRPr lang="en-US" sz="1600" dirty="0"/>
          </a:p>
        </p:txBody>
      </p:sp>
      <p:sp>
        <p:nvSpPr>
          <p:cNvPr id="4" name="燕尾形 3">
            <a:extLst>
              <a:ext uri="{FF2B5EF4-FFF2-40B4-BE49-F238E27FC236}">
                <a16:creationId xmlns="" xmlns:a16="http://schemas.microsoft.com/office/drawing/2014/main" id="{D26C6BD8-0B80-4877-94F6-A8AC48A8BF06}"/>
              </a:ext>
            </a:extLst>
          </p:cNvPr>
          <p:cNvSpPr/>
          <p:nvPr/>
        </p:nvSpPr>
        <p:spPr bwMode="gray">
          <a:xfrm>
            <a:off x="10690225" y="44020"/>
            <a:ext cx="10572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维护窗口</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32C4E51F-6125-4762-84A5-46224E8EE15F}"/>
              </a:ext>
            </a:extLst>
          </p:cNvPr>
          <p:cNvSpPr/>
          <p:nvPr/>
        </p:nvSpPr>
        <p:spPr bwMode="gray">
          <a:xfrm>
            <a:off x="9804400" y="44020"/>
            <a:ext cx="9630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用户管理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4235862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81951C-E64F-4B14-BD37-A0A8EE239FC8}"/>
              </a:ext>
            </a:extLst>
          </p:cNvPr>
          <p:cNvSpPr>
            <a:spLocks noGrp="1"/>
          </p:cNvSpPr>
          <p:nvPr>
            <p:ph type="title"/>
          </p:nvPr>
        </p:nvSpPr>
        <p:spPr bwMode="gray"/>
        <p:txBody>
          <a:bodyPr/>
          <a:lstStyle/>
          <a:p>
            <a:r>
              <a:rPr lang="zh-CN" altLang="en-US" dirty="0"/>
              <a:t>维护窗口介绍</a:t>
            </a:r>
            <a:endParaRPr lang="en-US" dirty="0"/>
          </a:p>
        </p:txBody>
      </p:sp>
      <p:sp>
        <p:nvSpPr>
          <p:cNvPr id="3" name="Text Placeholder 2">
            <a:extLst>
              <a:ext uri="{FF2B5EF4-FFF2-40B4-BE49-F238E27FC236}">
                <a16:creationId xmlns="" xmlns:a16="http://schemas.microsoft.com/office/drawing/2014/main" id="{ECEAE2E5-C2F7-439D-9557-D07E26AF5879}"/>
              </a:ext>
            </a:extLst>
          </p:cNvPr>
          <p:cNvSpPr>
            <a:spLocks noGrp="1"/>
          </p:cNvSpPr>
          <p:nvPr>
            <p:ph type="body" sz="quarter" idx="10"/>
          </p:nvPr>
        </p:nvSpPr>
        <p:spPr bwMode="gray">
          <a:xfrm>
            <a:off x="455612" y="1047751"/>
            <a:ext cx="11293475" cy="1471080"/>
          </a:xfrm>
        </p:spPr>
        <p:txBody>
          <a:bodyPr/>
          <a:lstStyle/>
          <a:p>
            <a:r>
              <a:rPr lang="zh-CN" altLang="en-US" sz="1800" dirty="0"/>
              <a:t>在设备和链路割接或维护的时候，可为其设置维护策略，网络路径导航支持设置网元和链路的维护策略。</a:t>
            </a:r>
            <a:endParaRPr lang="en-US" altLang="zh-CN" sz="1800" dirty="0"/>
          </a:p>
          <a:p>
            <a:r>
              <a:rPr lang="zh-CN" altLang="en-US" sz="1800" dirty="0"/>
              <a:t>维护开始，系统将生成新的绕行维护设备和链路的业务隧道路径，待维护结束触发一次调优算路。</a:t>
            </a:r>
            <a:endParaRPr lang="en-US" altLang="zh-CN" sz="1800" dirty="0"/>
          </a:p>
          <a:p>
            <a:r>
              <a:rPr lang="zh-CN" altLang="en-US" sz="1800" dirty="0"/>
              <a:t>维护窗口可设置维护时间，并对特定设备进行维护。维护时流量将不会流经被维护设备。</a:t>
            </a:r>
            <a:endParaRPr lang="en-US" sz="1800" dirty="0"/>
          </a:p>
        </p:txBody>
      </p:sp>
      <p:sp>
        <p:nvSpPr>
          <p:cNvPr id="4" name="燕尾形 3">
            <a:extLst>
              <a:ext uri="{FF2B5EF4-FFF2-40B4-BE49-F238E27FC236}">
                <a16:creationId xmlns="" xmlns:a16="http://schemas.microsoft.com/office/drawing/2014/main" id="{D26C6BD8-0B80-4877-94F6-A8AC48A8BF06}"/>
              </a:ext>
            </a:extLst>
          </p:cNvPr>
          <p:cNvSpPr/>
          <p:nvPr/>
        </p:nvSpPr>
        <p:spPr bwMode="gray">
          <a:xfrm>
            <a:off x="10690225" y="44020"/>
            <a:ext cx="1057275"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维护窗口</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a:extLst>
              <a:ext uri="{FF2B5EF4-FFF2-40B4-BE49-F238E27FC236}">
                <a16:creationId xmlns="" xmlns:a16="http://schemas.microsoft.com/office/drawing/2014/main" id="{32C4E51F-6125-4762-84A5-46224E8EE15F}"/>
              </a:ext>
            </a:extLst>
          </p:cNvPr>
          <p:cNvSpPr/>
          <p:nvPr/>
        </p:nvSpPr>
        <p:spPr bwMode="gray">
          <a:xfrm>
            <a:off x="9804400" y="44020"/>
            <a:ext cx="9630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用户管理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Straight Connector 6">
            <a:extLst>
              <a:ext uri="{FF2B5EF4-FFF2-40B4-BE49-F238E27FC236}">
                <a16:creationId xmlns="" xmlns:a16="http://schemas.microsoft.com/office/drawing/2014/main" id="{72981DCD-7B5B-4AF4-B846-D3485569A855}"/>
              </a:ext>
            </a:extLst>
          </p:cNvPr>
          <p:cNvCxnSpPr/>
          <p:nvPr/>
        </p:nvCxnSpPr>
        <p:spPr bwMode="gray">
          <a:xfrm>
            <a:off x="1665051" y="5832273"/>
            <a:ext cx="8861898" cy="0"/>
          </a:xfrm>
          <a:prstGeom prst="line">
            <a:avLst/>
          </a:prstGeom>
          <a:ln w="28575">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 xmlns:a16="http://schemas.microsoft.com/office/drawing/2014/main" id="{0DDBD72A-E176-406E-A13D-E8C9B51B4A5A}"/>
              </a:ext>
            </a:extLst>
          </p:cNvPr>
          <p:cNvCxnSpPr>
            <a:cxnSpLocks/>
          </p:cNvCxnSpPr>
          <p:nvPr/>
        </p:nvCxnSpPr>
        <p:spPr bwMode="gray">
          <a:xfrm flipV="1">
            <a:off x="1673157" y="5641502"/>
            <a:ext cx="0" cy="381541"/>
          </a:xfrm>
          <a:prstGeom prst="line">
            <a:avLst/>
          </a:prstGeom>
          <a:ln w="285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3755DAA3-D531-4EC6-95E2-427257763F04}"/>
              </a:ext>
            </a:extLst>
          </p:cNvPr>
          <p:cNvCxnSpPr>
            <a:cxnSpLocks/>
          </p:cNvCxnSpPr>
          <p:nvPr/>
        </p:nvCxnSpPr>
        <p:spPr bwMode="gray">
          <a:xfrm flipV="1">
            <a:off x="4811948" y="5651229"/>
            <a:ext cx="0" cy="381541"/>
          </a:xfrm>
          <a:prstGeom prst="line">
            <a:avLst/>
          </a:prstGeom>
          <a:ln w="285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AA5C6BBD-F515-4F4D-81B3-282A2DD4F6D4}"/>
              </a:ext>
            </a:extLst>
          </p:cNvPr>
          <p:cNvCxnSpPr>
            <a:cxnSpLocks/>
          </p:cNvCxnSpPr>
          <p:nvPr/>
        </p:nvCxnSpPr>
        <p:spPr bwMode="gray">
          <a:xfrm flipV="1">
            <a:off x="7872918" y="5614480"/>
            <a:ext cx="0" cy="381541"/>
          </a:xfrm>
          <a:prstGeom prst="line">
            <a:avLst/>
          </a:prstGeom>
          <a:ln w="285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TextBox 271">
            <a:extLst>
              <a:ext uri="{FF2B5EF4-FFF2-40B4-BE49-F238E27FC236}">
                <a16:creationId xmlns="" xmlns:a16="http://schemas.microsoft.com/office/drawing/2014/main" id="{DFDB8013-887D-4F30-93B9-7FB35C9DF305}"/>
              </a:ext>
            </a:extLst>
          </p:cNvPr>
          <p:cNvSpPr txBox="1"/>
          <p:nvPr/>
        </p:nvSpPr>
        <p:spPr bwMode="gray">
          <a:xfrm>
            <a:off x="2701379" y="5868349"/>
            <a:ext cx="902811"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业务忙时</a:t>
            </a:r>
          </a:p>
        </p:txBody>
      </p:sp>
      <p:sp>
        <p:nvSpPr>
          <p:cNvPr id="13" name="TextBox 271">
            <a:extLst>
              <a:ext uri="{FF2B5EF4-FFF2-40B4-BE49-F238E27FC236}">
                <a16:creationId xmlns="" xmlns:a16="http://schemas.microsoft.com/office/drawing/2014/main" id="{4997177C-DD3D-402C-88C8-3D121819A9E0}"/>
              </a:ext>
            </a:extLst>
          </p:cNvPr>
          <p:cNvSpPr txBox="1"/>
          <p:nvPr/>
        </p:nvSpPr>
        <p:spPr bwMode="gray">
          <a:xfrm>
            <a:off x="5891028" y="5866860"/>
            <a:ext cx="902811"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维护窗口</a:t>
            </a:r>
          </a:p>
        </p:txBody>
      </p:sp>
      <p:sp>
        <p:nvSpPr>
          <p:cNvPr id="14" name="TextBox 271">
            <a:extLst>
              <a:ext uri="{FF2B5EF4-FFF2-40B4-BE49-F238E27FC236}">
                <a16:creationId xmlns="" xmlns:a16="http://schemas.microsoft.com/office/drawing/2014/main" id="{FA8EBE83-4591-490C-A95D-896C3CFF551B}"/>
              </a:ext>
            </a:extLst>
          </p:cNvPr>
          <p:cNvSpPr txBox="1"/>
          <p:nvPr/>
        </p:nvSpPr>
        <p:spPr bwMode="gray">
          <a:xfrm>
            <a:off x="8901139" y="5862680"/>
            <a:ext cx="902811" cy="307777"/>
          </a:xfrm>
          <a:prstGeom prst="rect">
            <a:avLst/>
          </a:prstGeom>
          <a:noFill/>
        </p:spPr>
        <p:txBody>
          <a:bodyPr wrap="none" rtlCol="0">
            <a:spAutoFit/>
          </a:bodyPr>
          <a:lstStyle/>
          <a:p>
            <a:pPr>
              <a:buFont typeface="Wingdings" pitchFamily="2" charset="2"/>
              <a:buNone/>
              <a:defRPr/>
            </a:pP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业务忙时</a:t>
            </a:r>
          </a:p>
        </p:txBody>
      </p:sp>
      <p:pic>
        <p:nvPicPr>
          <p:cNvPr id="15" name="图片 48">
            <a:extLst>
              <a:ext uri="{FF2B5EF4-FFF2-40B4-BE49-F238E27FC236}">
                <a16:creationId xmlns="" xmlns:a16="http://schemas.microsoft.com/office/drawing/2014/main" id="{98306AED-0B25-405E-9C22-40EE7BA2AD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966959" y="3936226"/>
            <a:ext cx="378863" cy="310667"/>
          </a:xfrm>
          <a:prstGeom prst="rect">
            <a:avLst/>
          </a:prstGeom>
        </p:spPr>
      </p:pic>
      <p:pic>
        <p:nvPicPr>
          <p:cNvPr id="16" name="图片 48">
            <a:extLst>
              <a:ext uri="{FF2B5EF4-FFF2-40B4-BE49-F238E27FC236}">
                <a16:creationId xmlns="" xmlns:a16="http://schemas.microsoft.com/office/drawing/2014/main" id="{19737D3A-17FC-4307-A449-A7C92CA196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966959" y="4802059"/>
            <a:ext cx="378863" cy="310667"/>
          </a:xfrm>
          <a:prstGeom prst="rect">
            <a:avLst/>
          </a:prstGeom>
        </p:spPr>
      </p:pic>
      <p:pic>
        <p:nvPicPr>
          <p:cNvPr id="17" name="图片 48">
            <a:extLst>
              <a:ext uri="{FF2B5EF4-FFF2-40B4-BE49-F238E27FC236}">
                <a16:creationId xmlns="" xmlns:a16="http://schemas.microsoft.com/office/drawing/2014/main" id="{2CBF923B-E1F8-4A04-A7BF-CAA5CBE5F5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053214" y="3933292"/>
            <a:ext cx="378863" cy="310667"/>
          </a:xfrm>
          <a:prstGeom prst="rect">
            <a:avLst/>
          </a:prstGeom>
        </p:spPr>
      </p:pic>
      <p:pic>
        <p:nvPicPr>
          <p:cNvPr id="18" name="图片 48">
            <a:extLst>
              <a:ext uri="{FF2B5EF4-FFF2-40B4-BE49-F238E27FC236}">
                <a16:creationId xmlns="" xmlns:a16="http://schemas.microsoft.com/office/drawing/2014/main" id="{5A55C8F8-9A87-4ECD-B187-D3339E56DF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053214" y="4799125"/>
            <a:ext cx="378863" cy="310667"/>
          </a:xfrm>
          <a:prstGeom prst="rect">
            <a:avLst/>
          </a:prstGeom>
        </p:spPr>
      </p:pic>
      <p:pic>
        <p:nvPicPr>
          <p:cNvPr id="19" name="图片 48">
            <a:extLst>
              <a:ext uri="{FF2B5EF4-FFF2-40B4-BE49-F238E27FC236}">
                <a16:creationId xmlns="" xmlns:a16="http://schemas.microsoft.com/office/drawing/2014/main" id="{FC4D25B2-1CE8-4448-B47F-34F643DFEC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139469" y="3930358"/>
            <a:ext cx="378863" cy="310667"/>
          </a:xfrm>
          <a:prstGeom prst="rect">
            <a:avLst/>
          </a:prstGeom>
        </p:spPr>
      </p:pic>
      <p:pic>
        <p:nvPicPr>
          <p:cNvPr id="20" name="图片 48">
            <a:extLst>
              <a:ext uri="{FF2B5EF4-FFF2-40B4-BE49-F238E27FC236}">
                <a16:creationId xmlns="" xmlns:a16="http://schemas.microsoft.com/office/drawing/2014/main" id="{CD986F96-4A07-45DB-AB7B-F0C7D9D0A9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139469" y="4796191"/>
            <a:ext cx="378863" cy="310667"/>
          </a:xfrm>
          <a:prstGeom prst="rect">
            <a:avLst/>
          </a:prstGeom>
        </p:spPr>
      </p:pic>
      <p:cxnSp>
        <p:nvCxnSpPr>
          <p:cNvPr id="21" name="Straight Connector 20">
            <a:extLst>
              <a:ext uri="{FF2B5EF4-FFF2-40B4-BE49-F238E27FC236}">
                <a16:creationId xmlns="" xmlns:a16="http://schemas.microsoft.com/office/drawing/2014/main" id="{D0660B0A-6B96-4B0E-BC0E-D3AA6D4A917A}"/>
              </a:ext>
            </a:extLst>
          </p:cNvPr>
          <p:cNvCxnSpPr>
            <a:cxnSpLocks/>
            <a:stCxn id="16" idx="0"/>
            <a:endCxn id="15" idx="2"/>
          </p:cNvCxnSpPr>
          <p:nvPr/>
        </p:nvCxnSpPr>
        <p:spPr bwMode="gray">
          <a:xfrm flipV="1">
            <a:off x="2156391" y="4246893"/>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18E8CD3B-A3F4-4770-BF1A-2CE6DC08B9D4}"/>
              </a:ext>
            </a:extLst>
          </p:cNvPr>
          <p:cNvCxnSpPr>
            <a:cxnSpLocks/>
            <a:stCxn id="17" idx="1"/>
            <a:endCxn id="15" idx="3"/>
          </p:cNvCxnSpPr>
          <p:nvPr/>
        </p:nvCxnSpPr>
        <p:spPr bwMode="gray">
          <a:xfrm flipH="1">
            <a:off x="2345822" y="4088626"/>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AD53FA89-833F-442C-B498-8F82DB347147}"/>
              </a:ext>
            </a:extLst>
          </p:cNvPr>
          <p:cNvCxnSpPr>
            <a:cxnSpLocks/>
            <a:stCxn id="18" idx="1"/>
            <a:endCxn id="16" idx="3"/>
          </p:cNvCxnSpPr>
          <p:nvPr/>
        </p:nvCxnSpPr>
        <p:spPr bwMode="gray">
          <a:xfrm flipH="1">
            <a:off x="2345822" y="4954459"/>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993C4EDE-1BDC-4DE4-8549-2A36800322F8}"/>
              </a:ext>
            </a:extLst>
          </p:cNvPr>
          <p:cNvCxnSpPr>
            <a:cxnSpLocks/>
            <a:stCxn id="18" idx="0"/>
            <a:endCxn id="17" idx="2"/>
          </p:cNvCxnSpPr>
          <p:nvPr/>
        </p:nvCxnSpPr>
        <p:spPr bwMode="gray">
          <a:xfrm flipV="1">
            <a:off x="3242646" y="4243959"/>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52266BB2-CC30-409F-81F3-7B8A93A7D886}"/>
              </a:ext>
            </a:extLst>
          </p:cNvPr>
          <p:cNvCxnSpPr>
            <a:cxnSpLocks/>
            <a:stCxn id="19" idx="1"/>
            <a:endCxn id="17" idx="3"/>
          </p:cNvCxnSpPr>
          <p:nvPr/>
        </p:nvCxnSpPr>
        <p:spPr bwMode="gray">
          <a:xfrm flipH="1">
            <a:off x="3432077" y="4085692"/>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1180690F-A848-4F46-ABC7-8821284F73A0}"/>
              </a:ext>
            </a:extLst>
          </p:cNvPr>
          <p:cNvCxnSpPr>
            <a:cxnSpLocks/>
            <a:stCxn id="20" idx="1"/>
            <a:endCxn id="18" idx="3"/>
          </p:cNvCxnSpPr>
          <p:nvPr/>
        </p:nvCxnSpPr>
        <p:spPr bwMode="gray">
          <a:xfrm flipH="1">
            <a:off x="3432077" y="4951525"/>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B0CA9C25-60E2-4E3E-BD8F-57AF09389553}"/>
              </a:ext>
            </a:extLst>
          </p:cNvPr>
          <p:cNvCxnSpPr>
            <a:cxnSpLocks/>
            <a:stCxn id="20" idx="0"/>
            <a:endCxn id="19" idx="2"/>
          </p:cNvCxnSpPr>
          <p:nvPr/>
        </p:nvCxnSpPr>
        <p:spPr bwMode="gray">
          <a:xfrm flipV="1">
            <a:off x="4328901" y="4241025"/>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 xmlns:a16="http://schemas.microsoft.com/office/drawing/2014/main" id="{0CE6460B-EB92-4B11-8B9C-569127E371BF}"/>
              </a:ext>
            </a:extLst>
          </p:cNvPr>
          <p:cNvCxnSpPr>
            <a:cxnSpLocks/>
          </p:cNvCxnSpPr>
          <p:nvPr/>
        </p:nvCxnSpPr>
        <p:spPr bwMode="gray">
          <a:xfrm>
            <a:off x="1813111" y="4159320"/>
            <a:ext cx="2895076" cy="0"/>
          </a:xfrm>
          <a:prstGeom prst="straightConnector1">
            <a:avLst/>
          </a:prstGeom>
          <a:ln w="3810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ular Callout 26">
            <a:extLst>
              <a:ext uri="{FF2B5EF4-FFF2-40B4-BE49-F238E27FC236}">
                <a16:creationId xmlns="" xmlns:a16="http://schemas.microsoft.com/office/drawing/2014/main" id="{8DE7C8F1-B745-429F-8200-E0EFC9D929E3}"/>
              </a:ext>
            </a:extLst>
          </p:cNvPr>
          <p:cNvSpPr/>
          <p:nvPr/>
        </p:nvSpPr>
        <p:spPr bwMode="gray">
          <a:xfrm>
            <a:off x="2608484" y="3301928"/>
            <a:ext cx="823593" cy="467590"/>
          </a:xfrm>
          <a:prstGeom prst="wedgeRectCallout">
            <a:avLst>
              <a:gd name="adj1" fmla="val 26823"/>
              <a:gd name="adj2" fmla="val 810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需被维护设备</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6" name="图片 48">
            <a:extLst>
              <a:ext uri="{FF2B5EF4-FFF2-40B4-BE49-F238E27FC236}">
                <a16:creationId xmlns="" xmlns:a16="http://schemas.microsoft.com/office/drawing/2014/main" id="{61CA11F7-655E-4D31-AC84-7C959C3158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062565" y="3933292"/>
            <a:ext cx="378863" cy="310667"/>
          </a:xfrm>
          <a:prstGeom prst="rect">
            <a:avLst/>
          </a:prstGeom>
        </p:spPr>
      </p:pic>
      <p:pic>
        <p:nvPicPr>
          <p:cNvPr id="47" name="图片 48">
            <a:extLst>
              <a:ext uri="{FF2B5EF4-FFF2-40B4-BE49-F238E27FC236}">
                <a16:creationId xmlns="" xmlns:a16="http://schemas.microsoft.com/office/drawing/2014/main" id="{7B08212E-ED7D-4973-BBF4-EC1E839C42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062565" y="4799125"/>
            <a:ext cx="378863" cy="310667"/>
          </a:xfrm>
          <a:prstGeom prst="rect">
            <a:avLst/>
          </a:prstGeom>
        </p:spPr>
      </p:pic>
      <p:pic>
        <p:nvPicPr>
          <p:cNvPr id="48" name="图片 48">
            <a:extLst>
              <a:ext uri="{FF2B5EF4-FFF2-40B4-BE49-F238E27FC236}">
                <a16:creationId xmlns="" xmlns:a16="http://schemas.microsoft.com/office/drawing/2014/main" id="{3643290C-8956-45C7-AF4C-F5B5F864747C}"/>
              </a:ext>
            </a:extLst>
          </p:cNvPr>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148820" y="3930358"/>
            <a:ext cx="378863" cy="310667"/>
          </a:xfrm>
          <a:prstGeom prst="rect">
            <a:avLst/>
          </a:prstGeom>
        </p:spPr>
      </p:pic>
      <p:pic>
        <p:nvPicPr>
          <p:cNvPr id="49" name="图片 48">
            <a:extLst>
              <a:ext uri="{FF2B5EF4-FFF2-40B4-BE49-F238E27FC236}">
                <a16:creationId xmlns="" xmlns:a16="http://schemas.microsoft.com/office/drawing/2014/main" id="{352817C0-DA30-4E67-8215-7AA2DAC246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148820" y="4796191"/>
            <a:ext cx="378863" cy="310667"/>
          </a:xfrm>
          <a:prstGeom prst="rect">
            <a:avLst/>
          </a:prstGeom>
        </p:spPr>
      </p:pic>
      <p:pic>
        <p:nvPicPr>
          <p:cNvPr id="50" name="图片 48">
            <a:extLst>
              <a:ext uri="{FF2B5EF4-FFF2-40B4-BE49-F238E27FC236}">
                <a16:creationId xmlns="" xmlns:a16="http://schemas.microsoft.com/office/drawing/2014/main" id="{A06F0D60-872A-4933-A03E-94B979F8EC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35075" y="3927424"/>
            <a:ext cx="378863" cy="310667"/>
          </a:xfrm>
          <a:prstGeom prst="rect">
            <a:avLst/>
          </a:prstGeom>
        </p:spPr>
      </p:pic>
      <p:pic>
        <p:nvPicPr>
          <p:cNvPr id="51" name="图片 48">
            <a:extLst>
              <a:ext uri="{FF2B5EF4-FFF2-40B4-BE49-F238E27FC236}">
                <a16:creationId xmlns="" xmlns:a16="http://schemas.microsoft.com/office/drawing/2014/main" id="{E1214493-1B43-41BE-BF0F-B1D920B8D2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35075" y="4793257"/>
            <a:ext cx="378863" cy="310667"/>
          </a:xfrm>
          <a:prstGeom prst="rect">
            <a:avLst/>
          </a:prstGeom>
        </p:spPr>
      </p:pic>
      <p:cxnSp>
        <p:nvCxnSpPr>
          <p:cNvPr id="52" name="Straight Connector 51">
            <a:extLst>
              <a:ext uri="{FF2B5EF4-FFF2-40B4-BE49-F238E27FC236}">
                <a16:creationId xmlns="" xmlns:a16="http://schemas.microsoft.com/office/drawing/2014/main" id="{F5822F19-1EB9-4EFE-81E9-B6096BEDEAD5}"/>
              </a:ext>
            </a:extLst>
          </p:cNvPr>
          <p:cNvCxnSpPr>
            <a:cxnSpLocks/>
            <a:stCxn id="47" idx="0"/>
            <a:endCxn id="46" idx="2"/>
          </p:cNvCxnSpPr>
          <p:nvPr/>
        </p:nvCxnSpPr>
        <p:spPr bwMode="gray">
          <a:xfrm flipV="1">
            <a:off x="5251997" y="4243959"/>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55B3180C-2365-4702-9E26-54004AFFA0DC}"/>
              </a:ext>
            </a:extLst>
          </p:cNvPr>
          <p:cNvCxnSpPr>
            <a:cxnSpLocks/>
            <a:stCxn id="48" idx="1"/>
            <a:endCxn id="46" idx="3"/>
          </p:cNvCxnSpPr>
          <p:nvPr/>
        </p:nvCxnSpPr>
        <p:spPr bwMode="gray">
          <a:xfrm flipH="1">
            <a:off x="5441428" y="4085692"/>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1597F028-163C-48E8-9256-CFD6E4E0CC90}"/>
              </a:ext>
            </a:extLst>
          </p:cNvPr>
          <p:cNvCxnSpPr>
            <a:cxnSpLocks/>
            <a:stCxn id="49" idx="1"/>
            <a:endCxn id="47" idx="3"/>
          </p:cNvCxnSpPr>
          <p:nvPr/>
        </p:nvCxnSpPr>
        <p:spPr bwMode="gray">
          <a:xfrm flipH="1">
            <a:off x="5441428" y="4951525"/>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D942AA0C-0A9C-4591-8BEC-80C1D48E6FF0}"/>
              </a:ext>
            </a:extLst>
          </p:cNvPr>
          <p:cNvCxnSpPr>
            <a:cxnSpLocks/>
            <a:stCxn id="49" idx="0"/>
            <a:endCxn id="48" idx="2"/>
          </p:cNvCxnSpPr>
          <p:nvPr/>
        </p:nvCxnSpPr>
        <p:spPr bwMode="gray">
          <a:xfrm flipV="1">
            <a:off x="6338252" y="4241025"/>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8B4CFA33-5757-4781-92BD-9A60E103D49C}"/>
              </a:ext>
            </a:extLst>
          </p:cNvPr>
          <p:cNvCxnSpPr>
            <a:cxnSpLocks/>
            <a:stCxn id="50" idx="1"/>
            <a:endCxn id="48" idx="3"/>
          </p:cNvCxnSpPr>
          <p:nvPr/>
        </p:nvCxnSpPr>
        <p:spPr bwMode="gray">
          <a:xfrm flipH="1">
            <a:off x="6527683" y="4082758"/>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 xmlns:a16="http://schemas.microsoft.com/office/drawing/2014/main" id="{EDE8C834-8D3B-4197-AED2-C5B9850892F1}"/>
              </a:ext>
            </a:extLst>
          </p:cNvPr>
          <p:cNvCxnSpPr>
            <a:cxnSpLocks/>
            <a:stCxn id="51" idx="1"/>
            <a:endCxn id="49" idx="3"/>
          </p:cNvCxnSpPr>
          <p:nvPr/>
        </p:nvCxnSpPr>
        <p:spPr bwMode="gray">
          <a:xfrm flipH="1">
            <a:off x="6527683" y="4948591"/>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 xmlns:a16="http://schemas.microsoft.com/office/drawing/2014/main" id="{7F86717B-D5E5-4786-BAFC-6088391A9D1A}"/>
              </a:ext>
            </a:extLst>
          </p:cNvPr>
          <p:cNvCxnSpPr>
            <a:cxnSpLocks/>
            <a:stCxn id="51" idx="0"/>
            <a:endCxn id="50" idx="2"/>
          </p:cNvCxnSpPr>
          <p:nvPr/>
        </p:nvCxnSpPr>
        <p:spPr bwMode="gray">
          <a:xfrm flipV="1">
            <a:off x="7424507" y="4238091"/>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0" name="Rectangular Callout 26">
            <a:extLst>
              <a:ext uri="{FF2B5EF4-FFF2-40B4-BE49-F238E27FC236}">
                <a16:creationId xmlns="" xmlns:a16="http://schemas.microsoft.com/office/drawing/2014/main" id="{4265EA44-7659-4CDA-94BC-563FE801E12A}"/>
              </a:ext>
            </a:extLst>
          </p:cNvPr>
          <p:cNvSpPr/>
          <p:nvPr/>
        </p:nvSpPr>
        <p:spPr bwMode="gray">
          <a:xfrm>
            <a:off x="5704090" y="3298994"/>
            <a:ext cx="823593" cy="467590"/>
          </a:xfrm>
          <a:prstGeom prst="wedgeRectCallout">
            <a:avLst>
              <a:gd name="adj1" fmla="val 26823"/>
              <a:gd name="adj2" fmla="val 810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设备被维护</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Freeform: Shape 61">
            <a:extLst>
              <a:ext uri="{FF2B5EF4-FFF2-40B4-BE49-F238E27FC236}">
                <a16:creationId xmlns="" xmlns:a16="http://schemas.microsoft.com/office/drawing/2014/main" id="{82FCF5F0-5317-4FDC-A2E3-23AA664B47BE}"/>
              </a:ext>
            </a:extLst>
          </p:cNvPr>
          <p:cNvSpPr/>
          <p:nvPr/>
        </p:nvSpPr>
        <p:spPr bwMode="gray">
          <a:xfrm>
            <a:off x="4931923" y="4010997"/>
            <a:ext cx="2821022" cy="1007348"/>
          </a:xfrm>
          <a:custGeom>
            <a:avLst/>
            <a:gdLst>
              <a:gd name="connsiteX0" fmla="*/ 0 w 2821022"/>
              <a:gd name="connsiteY0" fmla="*/ 55162 h 1007348"/>
              <a:gd name="connsiteX1" fmla="*/ 321013 w 2821022"/>
              <a:gd name="connsiteY1" fmla="*/ 94072 h 1007348"/>
              <a:gd name="connsiteX2" fmla="*/ 408562 w 2821022"/>
              <a:gd name="connsiteY2" fmla="*/ 901468 h 1007348"/>
              <a:gd name="connsiteX3" fmla="*/ 2363822 w 2821022"/>
              <a:gd name="connsiteY3" fmla="*/ 911196 h 1007348"/>
              <a:gd name="connsiteX4" fmla="*/ 2480554 w 2821022"/>
              <a:gd name="connsiteY4" fmla="*/ 103800 h 1007348"/>
              <a:gd name="connsiteX5" fmla="*/ 2821022 w 2821022"/>
              <a:gd name="connsiteY5" fmla="*/ 35706 h 100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21022" h="1007348">
                <a:moveTo>
                  <a:pt x="0" y="55162"/>
                </a:moveTo>
                <a:cubicBezTo>
                  <a:pt x="126459" y="4091"/>
                  <a:pt x="252919" y="-46979"/>
                  <a:pt x="321013" y="94072"/>
                </a:cubicBezTo>
                <a:cubicBezTo>
                  <a:pt x="389107" y="235123"/>
                  <a:pt x="68094" y="765281"/>
                  <a:pt x="408562" y="901468"/>
                </a:cubicBezTo>
                <a:cubicBezTo>
                  <a:pt x="749030" y="1037655"/>
                  <a:pt x="2018490" y="1044141"/>
                  <a:pt x="2363822" y="911196"/>
                </a:cubicBezTo>
                <a:cubicBezTo>
                  <a:pt x="2709154" y="778251"/>
                  <a:pt x="2404354" y="249715"/>
                  <a:pt x="2480554" y="103800"/>
                </a:cubicBezTo>
                <a:cubicBezTo>
                  <a:pt x="2556754" y="-42115"/>
                  <a:pt x="2688888" y="-3205"/>
                  <a:pt x="2821022" y="35706"/>
                </a:cubicBezTo>
              </a:path>
            </a:pathLst>
          </a:custGeom>
          <a:noFill/>
          <a:ln w="38100">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ular Callout 26">
            <a:extLst>
              <a:ext uri="{FF2B5EF4-FFF2-40B4-BE49-F238E27FC236}">
                <a16:creationId xmlns="" xmlns:a16="http://schemas.microsoft.com/office/drawing/2014/main" id="{FD812DEA-F15E-4411-BADB-64BE0AAED5A6}"/>
              </a:ext>
            </a:extLst>
          </p:cNvPr>
          <p:cNvSpPr/>
          <p:nvPr/>
        </p:nvSpPr>
        <p:spPr bwMode="gray">
          <a:xfrm>
            <a:off x="6171948" y="5153507"/>
            <a:ext cx="1095732" cy="467590"/>
          </a:xfrm>
          <a:prstGeom prst="wedgeRectCallout">
            <a:avLst>
              <a:gd name="adj1" fmla="val 19721"/>
              <a:gd name="adj2" fmla="val -770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流量避开被维护设备</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4" name="图片 48">
            <a:extLst>
              <a:ext uri="{FF2B5EF4-FFF2-40B4-BE49-F238E27FC236}">
                <a16:creationId xmlns="" xmlns:a16="http://schemas.microsoft.com/office/drawing/2014/main" id="{79750BF2-BBB5-4359-8DCB-2FFAA7DE75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67989" y="3942094"/>
            <a:ext cx="378863" cy="310667"/>
          </a:xfrm>
          <a:prstGeom prst="rect">
            <a:avLst/>
          </a:prstGeom>
        </p:spPr>
      </p:pic>
      <p:pic>
        <p:nvPicPr>
          <p:cNvPr id="65" name="图片 48">
            <a:extLst>
              <a:ext uri="{FF2B5EF4-FFF2-40B4-BE49-F238E27FC236}">
                <a16:creationId xmlns="" xmlns:a16="http://schemas.microsoft.com/office/drawing/2014/main" id="{956A42F5-BD13-4A7F-BCB4-C504333BB9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67989" y="4807927"/>
            <a:ext cx="378863" cy="310667"/>
          </a:xfrm>
          <a:prstGeom prst="rect">
            <a:avLst/>
          </a:prstGeom>
        </p:spPr>
      </p:pic>
      <p:pic>
        <p:nvPicPr>
          <p:cNvPr id="66" name="图片 48">
            <a:extLst>
              <a:ext uri="{FF2B5EF4-FFF2-40B4-BE49-F238E27FC236}">
                <a16:creationId xmlns="" xmlns:a16="http://schemas.microsoft.com/office/drawing/2014/main" id="{D68C521B-C4B9-456F-9155-09C684271B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154244" y="3939160"/>
            <a:ext cx="378863" cy="310667"/>
          </a:xfrm>
          <a:prstGeom prst="rect">
            <a:avLst/>
          </a:prstGeom>
        </p:spPr>
      </p:pic>
      <p:pic>
        <p:nvPicPr>
          <p:cNvPr id="67" name="图片 48">
            <a:extLst>
              <a:ext uri="{FF2B5EF4-FFF2-40B4-BE49-F238E27FC236}">
                <a16:creationId xmlns="" xmlns:a16="http://schemas.microsoft.com/office/drawing/2014/main" id="{7E0D8BDB-4375-41F0-B091-5120CF6676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154244" y="4804993"/>
            <a:ext cx="378863" cy="310667"/>
          </a:xfrm>
          <a:prstGeom prst="rect">
            <a:avLst/>
          </a:prstGeom>
        </p:spPr>
      </p:pic>
      <p:pic>
        <p:nvPicPr>
          <p:cNvPr id="68" name="图片 48">
            <a:extLst>
              <a:ext uri="{FF2B5EF4-FFF2-40B4-BE49-F238E27FC236}">
                <a16:creationId xmlns="" xmlns:a16="http://schemas.microsoft.com/office/drawing/2014/main" id="{487D5EF0-E0CD-4655-9DD2-6A48EFFA0C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40499" y="3936226"/>
            <a:ext cx="378863" cy="310667"/>
          </a:xfrm>
          <a:prstGeom prst="rect">
            <a:avLst/>
          </a:prstGeom>
        </p:spPr>
      </p:pic>
      <p:pic>
        <p:nvPicPr>
          <p:cNvPr id="69" name="图片 48">
            <a:extLst>
              <a:ext uri="{FF2B5EF4-FFF2-40B4-BE49-F238E27FC236}">
                <a16:creationId xmlns="" xmlns:a16="http://schemas.microsoft.com/office/drawing/2014/main" id="{43495D7F-E3EB-4DAB-B4DE-2D92005110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240499" y="4802059"/>
            <a:ext cx="378863" cy="310667"/>
          </a:xfrm>
          <a:prstGeom prst="rect">
            <a:avLst/>
          </a:prstGeom>
        </p:spPr>
      </p:pic>
      <p:cxnSp>
        <p:nvCxnSpPr>
          <p:cNvPr id="70" name="Straight Connector 69">
            <a:extLst>
              <a:ext uri="{FF2B5EF4-FFF2-40B4-BE49-F238E27FC236}">
                <a16:creationId xmlns="" xmlns:a16="http://schemas.microsoft.com/office/drawing/2014/main" id="{278B68E8-F1EF-45CD-BDFF-C43EC1431C91}"/>
              </a:ext>
            </a:extLst>
          </p:cNvPr>
          <p:cNvCxnSpPr>
            <a:cxnSpLocks/>
            <a:stCxn id="65" idx="0"/>
            <a:endCxn id="64" idx="2"/>
          </p:cNvCxnSpPr>
          <p:nvPr/>
        </p:nvCxnSpPr>
        <p:spPr bwMode="gray">
          <a:xfrm flipV="1">
            <a:off x="8257421" y="4252761"/>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 xmlns:a16="http://schemas.microsoft.com/office/drawing/2014/main" id="{0B145CA3-7448-4B56-A2DD-E8467139D3D1}"/>
              </a:ext>
            </a:extLst>
          </p:cNvPr>
          <p:cNvCxnSpPr>
            <a:cxnSpLocks/>
            <a:stCxn id="66" idx="1"/>
            <a:endCxn id="64" idx="3"/>
          </p:cNvCxnSpPr>
          <p:nvPr/>
        </p:nvCxnSpPr>
        <p:spPr bwMode="gray">
          <a:xfrm flipH="1">
            <a:off x="8446852" y="4094494"/>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 xmlns:a16="http://schemas.microsoft.com/office/drawing/2014/main" id="{F6D0A2E2-3425-4868-ADCC-3E1C182E2D97}"/>
              </a:ext>
            </a:extLst>
          </p:cNvPr>
          <p:cNvCxnSpPr>
            <a:cxnSpLocks/>
            <a:stCxn id="67" idx="1"/>
            <a:endCxn id="65" idx="3"/>
          </p:cNvCxnSpPr>
          <p:nvPr/>
        </p:nvCxnSpPr>
        <p:spPr bwMode="gray">
          <a:xfrm flipH="1">
            <a:off x="8446852" y="4960327"/>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 xmlns:a16="http://schemas.microsoft.com/office/drawing/2014/main" id="{F1588333-9DA6-4498-B733-D79F105026C9}"/>
              </a:ext>
            </a:extLst>
          </p:cNvPr>
          <p:cNvCxnSpPr>
            <a:cxnSpLocks/>
            <a:stCxn id="67" idx="0"/>
            <a:endCxn id="66" idx="2"/>
          </p:cNvCxnSpPr>
          <p:nvPr/>
        </p:nvCxnSpPr>
        <p:spPr bwMode="gray">
          <a:xfrm flipV="1">
            <a:off x="9343676" y="4249827"/>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 xmlns:a16="http://schemas.microsoft.com/office/drawing/2014/main" id="{E626B96A-E694-4D85-B64B-EEC2F2A17517}"/>
              </a:ext>
            </a:extLst>
          </p:cNvPr>
          <p:cNvCxnSpPr>
            <a:cxnSpLocks/>
            <a:stCxn id="68" idx="1"/>
            <a:endCxn id="66" idx="3"/>
          </p:cNvCxnSpPr>
          <p:nvPr/>
        </p:nvCxnSpPr>
        <p:spPr bwMode="gray">
          <a:xfrm flipH="1">
            <a:off x="9533107" y="4091560"/>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 xmlns:a16="http://schemas.microsoft.com/office/drawing/2014/main" id="{F077EAE4-C3EA-4E1C-A034-4AABB1518A49}"/>
              </a:ext>
            </a:extLst>
          </p:cNvPr>
          <p:cNvCxnSpPr>
            <a:cxnSpLocks/>
            <a:stCxn id="69" idx="1"/>
            <a:endCxn id="67" idx="3"/>
          </p:cNvCxnSpPr>
          <p:nvPr/>
        </p:nvCxnSpPr>
        <p:spPr bwMode="gray">
          <a:xfrm flipH="1">
            <a:off x="9533107" y="4957393"/>
            <a:ext cx="707392" cy="293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 xmlns:a16="http://schemas.microsoft.com/office/drawing/2014/main" id="{A91514A1-0499-43F5-9F3E-1CC9F2375F8F}"/>
              </a:ext>
            </a:extLst>
          </p:cNvPr>
          <p:cNvCxnSpPr>
            <a:cxnSpLocks/>
            <a:stCxn id="69" idx="0"/>
            <a:endCxn id="68" idx="2"/>
          </p:cNvCxnSpPr>
          <p:nvPr/>
        </p:nvCxnSpPr>
        <p:spPr bwMode="gray">
          <a:xfrm flipV="1">
            <a:off x="10429931" y="4246893"/>
            <a:ext cx="0" cy="555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 xmlns:a16="http://schemas.microsoft.com/office/drawing/2014/main" id="{C06B70E8-4CD4-4B17-B30C-F34A54DEFA54}"/>
              </a:ext>
            </a:extLst>
          </p:cNvPr>
          <p:cNvCxnSpPr>
            <a:cxnSpLocks/>
          </p:cNvCxnSpPr>
          <p:nvPr/>
        </p:nvCxnSpPr>
        <p:spPr bwMode="gray">
          <a:xfrm>
            <a:off x="7914141" y="4165188"/>
            <a:ext cx="2895076" cy="0"/>
          </a:xfrm>
          <a:prstGeom prst="straightConnector1">
            <a:avLst/>
          </a:prstGeom>
          <a:ln w="3810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ular Callout 26">
            <a:extLst>
              <a:ext uri="{FF2B5EF4-FFF2-40B4-BE49-F238E27FC236}">
                <a16:creationId xmlns="" xmlns:a16="http://schemas.microsoft.com/office/drawing/2014/main" id="{46805D07-12D0-4EA7-A86B-D4CA41814EC5}"/>
              </a:ext>
            </a:extLst>
          </p:cNvPr>
          <p:cNvSpPr/>
          <p:nvPr/>
        </p:nvSpPr>
        <p:spPr bwMode="gray">
          <a:xfrm>
            <a:off x="7806925" y="3275640"/>
            <a:ext cx="1279854" cy="584750"/>
          </a:xfrm>
          <a:prstGeom prst="wedgeRectCallout">
            <a:avLst>
              <a:gd name="adj1" fmla="val 23280"/>
              <a:gd name="adj2" fmla="val 914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维护结束后流量恢复正常</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35522557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sym typeface="Huawei Sans" panose="020C0503030203020204" pitchFamily="34" charset="0"/>
              </a:rPr>
              <a:t>(</a:t>
            </a:r>
            <a:r>
              <a:rPr lang="zh-CN" altLang="en-US" dirty="0">
                <a:sym typeface="Huawei Sans" panose="020C0503030203020204" pitchFamily="34" charset="0"/>
              </a:rPr>
              <a:t>多选题</a:t>
            </a:r>
            <a:r>
              <a:rPr lang="en-US" altLang="zh-CN" dirty="0">
                <a:sym typeface="Huawei Sans" panose="020C0503030203020204" pitchFamily="34" charset="0"/>
              </a:rPr>
              <a:t>)IPv6</a:t>
            </a:r>
            <a:r>
              <a:rPr lang="zh-CN" altLang="en-US" dirty="0">
                <a:sym typeface="Huawei Sans" panose="020C0503030203020204" pitchFamily="34" charset="0"/>
              </a:rPr>
              <a:t>业务可被承载在以下哪些隧道之上？</a:t>
            </a:r>
            <a:r>
              <a:rPr lang="en-US" altLang="zh-CN" dirty="0">
                <a:sym typeface="Huawei Sans" panose="020C0503030203020204" pitchFamily="34" charset="0"/>
              </a:rPr>
              <a:t>(     )</a:t>
            </a:r>
          </a:p>
          <a:p>
            <a:pPr lvl="1"/>
            <a:r>
              <a:rPr lang="en-US" altLang="zh-CN" dirty="0">
                <a:sym typeface="Huawei Sans" panose="020C0503030203020204" pitchFamily="34" charset="0"/>
              </a:rPr>
              <a:t>SR-MPLS BE</a:t>
            </a:r>
            <a:r>
              <a:rPr lang="zh-CN" altLang="en-US" dirty="0">
                <a:sym typeface="Huawei Sans" panose="020C0503030203020204" pitchFamily="34" charset="0"/>
              </a:rPr>
              <a:t>隧道</a:t>
            </a:r>
            <a:endParaRPr lang="en-US" altLang="zh-CN" dirty="0">
              <a:sym typeface="Huawei Sans" panose="020C0503030203020204" pitchFamily="34" charset="0"/>
            </a:endParaRPr>
          </a:p>
          <a:p>
            <a:pPr lvl="1"/>
            <a:r>
              <a:rPr lang="en-US" altLang="zh-CN" dirty="0">
                <a:sym typeface="Huawei Sans" panose="020C0503030203020204" pitchFamily="34" charset="0"/>
              </a:rPr>
              <a:t>SRv6 BE</a:t>
            </a:r>
            <a:r>
              <a:rPr lang="zh-CN" altLang="en-US" dirty="0">
                <a:sym typeface="Huawei Sans" panose="020C0503030203020204" pitchFamily="34" charset="0"/>
              </a:rPr>
              <a:t>隧道</a:t>
            </a:r>
            <a:endParaRPr lang="en-US" altLang="zh-CN" dirty="0">
              <a:sym typeface="Huawei Sans" panose="020C0503030203020204" pitchFamily="34" charset="0"/>
            </a:endParaRPr>
          </a:p>
          <a:p>
            <a:pPr lvl="1"/>
            <a:r>
              <a:rPr lang="en-US" altLang="zh-CN" dirty="0">
                <a:sym typeface="Huawei Sans" panose="020C0503030203020204" pitchFamily="34" charset="0"/>
              </a:rPr>
              <a:t>SR-MPLS Policy</a:t>
            </a:r>
            <a:r>
              <a:rPr lang="zh-CN" altLang="en-US" dirty="0">
                <a:sym typeface="Huawei Sans" panose="020C0503030203020204" pitchFamily="34" charset="0"/>
              </a:rPr>
              <a:t>隧道</a:t>
            </a:r>
            <a:endParaRPr lang="en-US" altLang="zh-CN" dirty="0">
              <a:sym typeface="Huawei Sans" panose="020C0503030203020204" pitchFamily="34" charset="0"/>
            </a:endParaRPr>
          </a:p>
          <a:p>
            <a:pPr lvl="1"/>
            <a:r>
              <a:rPr lang="en-US" altLang="zh-CN" dirty="0">
                <a:sym typeface="Huawei Sans" panose="020C0503030203020204" pitchFamily="34" charset="0"/>
              </a:rPr>
              <a:t>SRv6 Policy</a:t>
            </a:r>
            <a:r>
              <a:rPr lang="zh-CN" altLang="en-US" dirty="0">
                <a:sym typeface="Huawei Sans" panose="020C0503030203020204" pitchFamily="34" charset="0"/>
              </a:rPr>
              <a:t>隧道</a:t>
            </a:r>
          </a:p>
        </p:txBody>
      </p:sp>
    </p:spTree>
    <p:extLst>
      <p:ext uri="{BB962C8B-B14F-4D97-AF65-F5344CB8AC3E}">
        <p14:creationId xmlns:p14="http://schemas.microsoft.com/office/powerpoint/2010/main" val="530091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D86A095-EE97-42C3-9544-ABAA9ECA867A}"/>
              </a:ext>
            </a:extLst>
          </p:cNvPr>
          <p:cNvSpPr>
            <a:spLocks noGrp="1"/>
          </p:cNvSpPr>
          <p:nvPr>
            <p:ph sz="quarter" idx="10"/>
          </p:nvPr>
        </p:nvSpPr>
        <p:spPr bwMode="gray"/>
        <p:txBody>
          <a:bodyPr/>
          <a:lstStyle/>
          <a:p>
            <a:r>
              <a:rPr lang="zh-CN" altLang="en-US" sz="1800" dirty="0"/>
              <a:t>企业广域承载网络需要先设计基础网络，包括物理网络、</a:t>
            </a:r>
            <a:r>
              <a:rPr lang="en-US" altLang="zh-CN" sz="1800" dirty="0"/>
              <a:t>IP/IPv6</a:t>
            </a:r>
            <a:r>
              <a:rPr lang="zh-CN" altLang="en-US" sz="1800" dirty="0"/>
              <a:t>地址、</a:t>
            </a:r>
            <a:r>
              <a:rPr lang="en-US" altLang="zh-CN" sz="1800" dirty="0"/>
              <a:t>IGP</a:t>
            </a:r>
            <a:r>
              <a:rPr lang="zh-CN" altLang="en-US" sz="1800" dirty="0"/>
              <a:t>协议。</a:t>
            </a:r>
            <a:endParaRPr lang="en-US" altLang="zh-CN" sz="1800" dirty="0"/>
          </a:p>
          <a:p>
            <a:r>
              <a:rPr lang="zh-CN" altLang="en-US" sz="1800" dirty="0"/>
              <a:t>在基础网络之上可以搭建隧道，隧道包括</a:t>
            </a:r>
            <a:r>
              <a:rPr lang="en-US" altLang="zh-CN" sz="1800" dirty="0"/>
              <a:t>SR-MPLS BE/SR-MPLS Policy/SRv6</a:t>
            </a:r>
            <a:r>
              <a:rPr lang="zh-CN" altLang="en-US" sz="1800" dirty="0"/>
              <a:t> </a:t>
            </a:r>
            <a:r>
              <a:rPr lang="en-US" altLang="zh-CN" sz="1800" dirty="0"/>
              <a:t>BE/SRv6</a:t>
            </a:r>
            <a:r>
              <a:rPr lang="zh-CN" altLang="en-US" sz="1800" dirty="0"/>
              <a:t> </a:t>
            </a:r>
            <a:r>
              <a:rPr lang="en-US" altLang="zh-CN" sz="1800" dirty="0"/>
              <a:t>Policy</a:t>
            </a:r>
            <a:r>
              <a:rPr lang="zh-CN" altLang="en-US" sz="1800" dirty="0"/>
              <a:t>隧道，隧道在设计时需要关注隧道路径规划，流量引流以及逃生方式。</a:t>
            </a:r>
            <a:endParaRPr lang="en-US" altLang="zh-CN" sz="1800" dirty="0"/>
          </a:p>
          <a:p>
            <a:r>
              <a:rPr lang="zh-CN" altLang="en-US" sz="1800" dirty="0"/>
              <a:t>隧道建立完成后即可承载</a:t>
            </a:r>
            <a:r>
              <a:rPr lang="en-US" altLang="zh-CN" sz="1800" dirty="0"/>
              <a:t>VPN</a:t>
            </a:r>
            <a:r>
              <a:rPr lang="zh-CN" altLang="en-US" sz="1800" dirty="0"/>
              <a:t>业务，</a:t>
            </a:r>
            <a:r>
              <a:rPr lang="en-US" altLang="zh-CN" sz="1800" dirty="0"/>
              <a:t>VPN</a:t>
            </a:r>
            <a:r>
              <a:rPr lang="zh-CN" altLang="en-US" sz="1800" dirty="0"/>
              <a:t>的规划需要基于企业业务类型和企业业务需求。</a:t>
            </a:r>
            <a:endParaRPr lang="en-US" altLang="zh-CN" sz="1800" dirty="0"/>
          </a:p>
          <a:p>
            <a:r>
              <a:rPr lang="zh-CN" altLang="en-US" sz="1800" dirty="0"/>
              <a:t>对于业务来说可靠性与</a:t>
            </a:r>
            <a:r>
              <a:rPr lang="en-US" altLang="zh-CN" sz="1800" dirty="0"/>
              <a:t>SLA</a:t>
            </a:r>
            <a:r>
              <a:rPr lang="zh-CN" altLang="en-US" sz="1800" dirty="0"/>
              <a:t>保障也非常重要，通过对</a:t>
            </a:r>
            <a:r>
              <a:rPr lang="en-US" altLang="zh-CN" sz="1800" dirty="0"/>
              <a:t>QoS</a:t>
            </a:r>
            <a:r>
              <a:rPr lang="zh-CN" altLang="en-US" sz="1800" dirty="0"/>
              <a:t>与网络分片的设计可以保障业务</a:t>
            </a:r>
            <a:r>
              <a:rPr lang="en-US" altLang="zh-CN" sz="1800" dirty="0"/>
              <a:t>SLA</a:t>
            </a:r>
            <a:r>
              <a:rPr lang="zh-CN" altLang="en-US" sz="1800" dirty="0"/>
              <a:t>，同时通过对控制器、设备、网络的高可靠性设计可以保证业务的高可靠性。</a:t>
            </a:r>
            <a:endParaRPr lang="en-US" altLang="zh-CN" sz="1800" dirty="0"/>
          </a:p>
          <a:p>
            <a:r>
              <a:rPr lang="zh-CN" altLang="en-US" sz="1800" dirty="0"/>
              <a:t>当网络搭建完成后，需要对网络进行调优和维护，调优设计需要从性能监管与流量调优两方面入手，对于维护需要基于用户等级划分维护范围，并在合适的时间维护网络。</a:t>
            </a:r>
            <a:endParaRPr lang="en-US" altLang="zh-CN" sz="1800" dirty="0"/>
          </a:p>
          <a:p>
            <a:endParaRPr lang="en-US" sz="1800" dirty="0"/>
          </a:p>
        </p:txBody>
      </p:sp>
    </p:spTree>
    <p:extLst>
      <p:ext uri="{BB962C8B-B14F-4D97-AF65-F5344CB8AC3E}">
        <p14:creationId xmlns:p14="http://schemas.microsoft.com/office/powerpoint/2010/main" val="26406588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96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kDujB_.mkqVAQYBPK6FfA"/>
</p:tagLst>
</file>

<file path=ppt/tags/tag2.xml><?xml version="1.0" encoding="utf-8"?>
<p:tagLst xmlns:a="http://schemas.openxmlformats.org/drawingml/2006/main" xmlns:r="http://schemas.openxmlformats.org/officeDocument/2006/relationships" xmlns:p="http://schemas.openxmlformats.org/presentationml/2006/main">
  <p:tag name="AS_UNIQUEID" val="12320"/>
</p:tagLst>
</file>

<file path=ppt/theme/theme1.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F53097-FA10-46F5-A6F8-4F38A619BBCF}"/>
</file>

<file path=customXml/itemProps2.xml><?xml version="1.0" encoding="utf-8"?>
<ds:datastoreItem xmlns:ds="http://schemas.openxmlformats.org/officeDocument/2006/customXml" ds:itemID="{18DCCE6B-63FB-4E3D-BF77-4DC043249A21}"/>
</file>

<file path=customXml/itemProps3.xml><?xml version="1.0" encoding="utf-8"?>
<ds:datastoreItem xmlns:ds="http://schemas.openxmlformats.org/officeDocument/2006/customXml" ds:itemID="{2369CAC4-64CA-418E-8E3F-3A5B315A04A6}"/>
</file>

<file path=docProps/app.xml><?xml version="1.0" encoding="utf-8"?>
<Properties xmlns="http://schemas.openxmlformats.org/officeDocument/2006/extended-properties" xmlns:vt="http://schemas.openxmlformats.org/officeDocument/2006/docPropsVTypes">
  <Template/>
  <TotalTime>32808</TotalTime>
  <Words>24665</Words>
  <Application>Microsoft Office PowerPoint</Application>
  <PresentationFormat>Widescreen</PresentationFormat>
  <Paragraphs>2589</Paragraphs>
  <Slides>112</Slides>
  <Notes>112</Notes>
  <HiddenSlides>1</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112</vt:i4>
      </vt:variant>
    </vt:vector>
  </HeadingPairs>
  <TitlesOfParts>
    <vt:vector size="130" baseType="lpstr">
      <vt:lpstr>Arial Unicode MS</vt:lpstr>
      <vt:lpstr>FZLanTingHei3-GBK</vt:lpstr>
      <vt:lpstr>FZLanTingHei6-GBK</vt:lpstr>
      <vt:lpstr>inherit</vt:lpstr>
      <vt:lpstr>Microsoft Yahei</vt:lpstr>
      <vt:lpstr>宋体</vt:lpstr>
      <vt:lpstr>微软雅黑</vt:lpstr>
      <vt:lpstr>微软雅黑</vt:lpstr>
      <vt:lpstr>方正兰亭黑简体</vt:lpstr>
      <vt:lpstr>Arial</vt:lpstr>
      <vt:lpstr>Calibri</vt:lpstr>
      <vt:lpstr>Huawei Sans</vt:lpstr>
      <vt:lpstr>Huawei Sans Light</vt:lpstr>
      <vt:lpstr>Wingdings</vt:lpstr>
      <vt:lpstr>3_功能页模板</vt:lpstr>
      <vt:lpstr>4_感谢页模板</vt:lpstr>
      <vt:lpstr>4_内容页模板</vt:lpstr>
      <vt:lpstr>2_标题页模板</vt:lpstr>
      <vt:lpstr>PowerPoint Presentation</vt:lpstr>
      <vt:lpstr>企业广域承载网络设计</vt:lpstr>
      <vt:lpstr>PowerPoint Presentation</vt:lpstr>
      <vt:lpstr>PowerPoint Presentation</vt:lpstr>
      <vt:lpstr>PowerPoint Presentation</vt:lpstr>
      <vt:lpstr>企业广域承载网介绍</vt:lpstr>
      <vt:lpstr>企业广域承载网架构介绍</vt:lpstr>
      <vt:lpstr>企业广域承载网的发展趋势</vt:lpstr>
      <vt:lpstr>企业广域承载网面临的挑战</vt:lpstr>
      <vt:lpstr>应对企业广域承载网的挑战</vt:lpstr>
      <vt:lpstr>PowerPoint Presentation</vt:lpstr>
      <vt:lpstr>华为云广域网络解决方案概览</vt:lpstr>
      <vt:lpstr>华为iMaster NCE-IP控制器框架图</vt:lpstr>
      <vt:lpstr>云广域网络产品介绍</vt:lpstr>
      <vt:lpstr>华为云广域网络解决方案主要功能</vt:lpstr>
      <vt:lpstr>路径规划部署概述</vt:lpstr>
      <vt:lpstr>网络性能监控与调优概述</vt:lpstr>
      <vt:lpstr>网络切片概述</vt:lpstr>
      <vt:lpstr>运维概述</vt:lpstr>
      <vt:lpstr>金融云广域场景</vt:lpstr>
      <vt:lpstr>PowerPoint Presentation</vt:lpstr>
      <vt:lpstr>企业广域承载基础网络设计概览</vt:lpstr>
      <vt:lpstr>企业广域承载物理网络设计思路</vt:lpstr>
      <vt:lpstr>核心层设计</vt:lpstr>
      <vt:lpstr>汇聚层设计</vt:lpstr>
      <vt:lpstr>接入层设计</vt:lpstr>
      <vt:lpstr>承载网专线选择</vt:lpstr>
      <vt:lpstr>企业广域承载网络IP地址规划思路</vt:lpstr>
      <vt:lpstr>IP地址规划全景图</vt:lpstr>
      <vt:lpstr>IPv4地址设计原则</vt:lpstr>
      <vt:lpstr>环回口地址设计原则</vt:lpstr>
      <vt:lpstr>IPv4地址规划建议</vt:lpstr>
      <vt:lpstr>IPv4地址典型规划</vt:lpstr>
      <vt:lpstr>IPv6地址规划需求与原则</vt:lpstr>
      <vt:lpstr>IPv6结构化规划介绍</vt:lpstr>
      <vt:lpstr>IPv6地址规划建议</vt:lpstr>
      <vt:lpstr>IPv6地址典型规划</vt:lpstr>
      <vt:lpstr>SRv6 SID介绍</vt:lpstr>
      <vt:lpstr>SRv6 Locator介绍</vt:lpstr>
      <vt:lpstr>SRv6 Locator规划建议</vt:lpstr>
      <vt:lpstr>SRv6 Locator典型规划</vt:lpstr>
      <vt:lpstr>企业广域承载网络路由设计思路</vt:lpstr>
      <vt:lpstr>路由设计全景图</vt:lpstr>
      <vt:lpstr>IGP介绍</vt:lpstr>
      <vt:lpstr>IGP路由规划</vt:lpstr>
      <vt:lpstr>IGP Metric规划</vt:lpstr>
      <vt:lpstr>IGP Metric规划建议</vt:lpstr>
      <vt:lpstr>BGP总体规划</vt:lpstr>
      <vt:lpstr>BGP AS规划</vt:lpstr>
      <vt:lpstr>BGP路由控制规划</vt:lpstr>
      <vt:lpstr>BGP路由防环防次优设计</vt:lpstr>
      <vt:lpstr>PowerPoint Presentation</vt:lpstr>
      <vt:lpstr>企业广域承载网络隧道与VPN设计概览</vt:lpstr>
      <vt:lpstr>企业广域承载网络隧道设计思路</vt:lpstr>
      <vt:lpstr>隧道技术概述</vt:lpstr>
      <vt:lpstr>MPLS LDP与RSVP-TE存在的问题</vt:lpstr>
      <vt:lpstr>Segment Routing的解决思路</vt:lpstr>
      <vt:lpstr>SR-MPLS的分类</vt:lpstr>
      <vt:lpstr>基于SR-MPLS承载VPN流量</vt:lpstr>
      <vt:lpstr>SRv6简介</vt:lpstr>
      <vt:lpstr>基于SRv6承载VPN流量</vt:lpstr>
      <vt:lpstr>SR-MPLS隧道设计原则</vt:lpstr>
      <vt:lpstr>SR-MPLS Policy部署方式设计</vt:lpstr>
      <vt:lpstr>SR-MPLS Policy路径规划</vt:lpstr>
      <vt:lpstr>SR-MPLS Policy引流方式设计</vt:lpstr>
      <vt:lpstr>SR-MPLS隧道逃生设计</vt:lpstr>
      <vt:lpstr>SRv6隧道设计</vt:lpstr>
      <vt:lpstr>SRv6 Policy路径规划</vt:lpstr>
      <vt:lpstr>SRv6隧道逃生设计</vt:lpstr>
      <vt:lpstr>企业广域承载网络VPN设计思路</vt:lpstr>
      <vt:lpstr>VPN划分</vt:lpstr>
      <vt:lpstr>IPv4 VPN类型选择</vt:lpstr>
      <vt:lpstr>IPv6 VPN类型选择</vt:lpstr>
      <vt:lpstr>PowerPoint Presentation</vt:lpstr>
      <vt:lpstr>企业广域承载网络SLA与可靠性设计概览</vt:lpstr>
      <vt:lpstr>企业广域承载网络SLA设计思路</vt:lpstr>
      <vt:lpstr>SLA技术介绍</vt:lpstr>
      <vt:lpstr>QoS规划原则</vt:lpstr>
      <vt:lpstr>QoS规划建议</vt:lpstr>
      <vt:lpstr>QoS部署设计</vt:lpstr>
      <vt:lpstr>网络切片介绍</vt:lpstr>
      <vt:lpstr>网络切片设计</vt:lpstr>
      <vt:lpstr>网络切片技术使用场景</vt:lpstr>
      <vt:lpstr>网络切片典型规划</vt:lpstr>
      <vt:lpstr>企业广域承载网络可靠性设计思路</vt:lpstr>
      <vt:lpstr>控制器本地可靠性设计</vt:lpstr>
      <vt:lpstr>控制器异地容灾可靠性设计</vt:lpstr>
      <vt:lpstr>控制器控制网络可靠性设计</vt:lpstr>
      <vt:lpstr>设备可靠性设计</vt:lpstr>
      <vt:lpstr>网络可靠性方案概览</vt:lpstr>
      <vt:lpstr>源端网络可靠性设计</vt:lpstr>
      <vt:lpstr>中间网络可靠性设计</vt:lpstr>
      <vt:lpstr>宿端网络可靠性设计</vt:lpstr>
      <vt:lpstr>PowerPoint Presentation</vt:lpstr>
      <vt:lpstr>企业广域承载网络优化与运维设计概览</vt:lpstr>
      <vt:lpstr>企业广域承载网络优化设计思路</vt:lpstr>
      <vt:lpstr>网络性能监控概述</vt:lpstr>
      <vt:lpstr>网络性能监控使用场景</vt:lpstr>
      <vt:lpstr>网络性能监控设计</vt:lpstr>
      <vt:lpstr>网络流量调优简介</vt:lpstr>
      <vt:lpstr>网络流量调优设计</vt:lpstr>
      <vt:lpstr>隧道自动调优设计</vt:lpstr>
      <vt:lpstr>隧道手动调优设计</vt:lpstr>
      <vt:lpstr>应用调优介绍</vt:lpstr>
      <vt:lpstr>应用调优设计</vt:lpstr>
      <vt:lpstr>企业广域承载网络优化设计思路</vt:lpstr>
      <vt:lpstr>用户类型介绍</vt:lpstr>
      <vt:lpstr>用户监控介绍</vt:lpstr>
      <vt:lpstr>维护窗口介绍</vt:lpstr>
      <vt:lpstr>PowerPoint Presentation</vt:lpstr>
      <vt:lpstr>PowerPoint Presentation</vt:lpstr>
      <vt:lpstr>PowerPoint Presentation</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Wuyuezjhw (Monk)</cp:lastModifiedBy>
  <cp:revision>1446</cp:revision>
  <dcterms:created xsi:type="dcterms:W3CDTF">2018-11-29T10:16:29Z</dcterms:created>
  <dcterms:modified xsi:type="dcterms:W3CDTF">2021-10-14T06:49:30Z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(3)3emoiVWK5tuiCM1n3mH7RyuEpHQIASS4wnWJfQqZxxgkYpMICfk4Rk8qYjimzTyYPEvX3HVM
nom1OUs03I9Z5RfWYkXML24LdUAZfiq3rZ8+3ARYMY1NIkwgSbO1pt9TVYQvECzR8aH1Zc1d
yYd1ubXg1OkojL6G0N+MFvflfRdgaF5tMAp3T53BjgqGG9rUC/cxOqeM3cwKj7QEY0jFadlR
wGyTaVzTOIVNtj6fWf</vt:lpwstr>
  </property>
  <property fmtid="{D5CDD505-2E9C-101B-9397-08002B2CF9AE}" pid="3" name="_2015_ms_pID_7253431">
    <vt:lpwstr>3ZVZ6HpmUYK70osqH5EHhgOffzTPhO3FkicPYhe2VykE+NJWRwZkH5
3I+NfDGFFBrFK+9jOibsdx8V9h1hOL54NPz4qYdOmfceLWvG6lAFOvJeWott4QMHdSEqrseb
g7ZG1HP8ppBr1/8A0uz8IJsMZDYhN0zfxIzysgrog9y9jfFrtE259z4pIESgStA1vElJbYcR
2GkV4T5mpOKNM7118rRrOaz6rJiJkJhHFvsh</vt:lpwstr>
  </property>
  <property fmtid="{D5CDD505-2E9C-101B-9397-08002B2CF9AE}" pid="4" name="_2015_ms_pID_7253432">
    <vt:lpwstr>COYFqT5yy3ZWpqELC47/qT4=</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1633652817</vt:lpwstr>
  </property>
  <property fmtid="{D5CDD505-2E9C-101B-9397-08002B2CF9AE}" pid="9" name="ContentTypeId">
    <vt:lpwstr>0x01010002C5B4B712841F4C8A7AAEE2CD191271</vt:lpwstr>
  </property>
</Properties>
</file>