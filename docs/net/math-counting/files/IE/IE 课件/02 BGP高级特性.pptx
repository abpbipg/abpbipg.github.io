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72" r:id="rId4"/>
    <p:sldMasterId id="2147483874" r:id="rId5"/>
    <p:sldMasterId id="2147483885" r:id="rId6"/>
    <p:sldMasterId id="2147483891" r:id="rId7"/>
  </p:sldMasterIdLst>
  <p:notesMasterIdLst>
    <p:notesMasterId r:id="rId68"/>
  </p:notesMasterIdLst>
  <p:handoutMasterIdLst>
    <p:handoutMasterId r:id="rId69"/>
  </p:handoutMasterIdLst>
  <p:sldIdLst>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312" r:id="rId26"/>
    <p:sldId id="311"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13" r:id="rId52"/>
    <p:sldId id="314" r:id="rId53"/>
    <p:sldId id="315" r:id="rId54"/>
    <p:sldId id="316" r:id="rId55"/>
    <p:sldId id="317" r:id="rId56"/>
    <p:sldId id="301" r:id="rId57"/>
    <p:sldId id="302" r:id="rId58"/>
    <p:sldId id="303" r:id="rId59"/>
    <p:sldId id="304" r:id="rId60"/>
    <p:sldId id="305" r:id="rId61"/>
    <p:sldId id="306" r:id="rId62"/>
    <p:sldId id="307" r:id="rId63"/>
    <p:sldId id="308" r:id="rId64"/>
    <p:sldId id="318" r:id="rId65"/>
    <p:sldId id="309" r:id="rId66"/>
    <p:sldId id="310" r:id="rId67"/>
  </p:sldIdLst>
  <p:sldSz cx="12192000" cy="6858000"/>
  <p:notesSz cx="7010400" cy="92964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3840" userDrawn="1">
          <p15:clr>
            <a:srgbClr val="A4A3A4"/>
          </p15:clr>
        </p15:guide>
        <p15:guide id="4" orient="horz" pos="663" userDrawn="1">
          <p15:clr>
            <a:srgbClr val="A4A3A4"/>
          </p15:clr>
        </p15:guide>
      </p15:sldGuideLst>
    </p:ext>
    <p:ext uri="{2D200454-40CA-4A62-9FC3-DE9A4176ACB9}">
      <p15:notesGuideLst xmlns:p15="http://schemas.microsoft.com/office/powerpoint/2012/main">
        <p15:guide id="1" orient="horz"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yueyuezjhw" initials="l" lastIdx="2" clrIdx="0">
    <p:extLst>
      <p:ext uri="{19B8F6BF-5375-455C-9EA6-DF929625EA0E}">
        <p15:presenceInfo xmlns:p15="http://schemas.microsoft.com/office/powerpoint/2012/main" userId="S-1-5-21-147214757-305610072-1517763936-4736116" providerId="AD"/>
      </p:ext>
    </p:extLst>
  </p:cmAuthor>
  <p:cmAuthor id="2" name="hejunjianzjhw" initials="h" lastIdx="4" clrIdx="1">
    <p:extLst>
      <p:ext uri="{19B8F6BF-5375-455C-9EA6-DF929625EA0E}">
        <p15:presenceInfo xmlns:p15="http://schemas.microsoft.com/office/powerpoint/2012/main" userId="S-1-5-21-147214757-305610072-1517763936-568267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B5C5"/>
    <a:srgbClr val="C7000B"/>
    <a:srgbClr val="ED6D00"/>
    <a:srgbClr val="ECF9FA"/>
    <a:srgbClr val="56C4D2"/>
    <a:srgbClr val="94DAE2"/>
    <a:srgbClr val="FDD351"/>
    <a:srgbClr val="FFFBEF"/>
    <a:srgbClr val="62B230"/>
    <a:srgbClr val="BEE9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256" autoAdjust="0"/>
    <p:restoredTop sz="77393" autoAdjust="0"/>
  </p:normalViewPr>
  <p:slideViewPr>
    <p:cSldViewPr snapToGrid="0" snapToObjects="1">
      <p:cViewPr varScale="1">
        <p:scale>
          <a:sx n="101" d="100"/>
          <a:sy n="101" d="100"/>
        </p:scale>
        <p:origin x="72" y="312"/>
      </p:cViewPr>
      <p:guideLst>
        <p:guide pos="3840"/>
        <p:guide orient="horz" pos="663"/>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66" d="100"/>
        <a:sy n="66" d="100"/>
      </p:scale>
      <p:origin x="0" y="0"/>
    </p:cViewPr>
  </p:sorterViewPr>
  <p:notesViewPr>
    <p:cSldViewPr snapToGrid="0" snapToObjects="1">
      <p:cViewPr>
        <p:scale>
          <a:sx n="125" d="100"/>
          <a:sy n="125" d="100"/>
        </p:scale>
        <p:origin x="2868" y="-2046"/>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74"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handoutMaster" Target="handoutMasters/handoutMaster1.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 Type="http://schemas.openxmlformats.org/officeDocument/2006/relationships/slideMaster" Target="slideMasters/slideMaster4.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8CC198DB-AFBD-584A-8986-364FF2B03F46}"/>
              </a:ext>
            </a:extLst>
          </p:cNvPr>
          <p:cNvSpPr>
            <a:spLocks noGrp="1"/>
          </p:cNvSpPr>
          <p:nvPr>
            <p:ph type="hdr" sz="quarter"/>
          </p:nvPr>
        </p:nvSpPr>
        <p:spPr>
          <a:xfrm>
            <a:off x="0" y="0"/>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a16="http://schemas.microsoft.com/office/drawing/2014/main" xmlns="" id="{AD01315C-523F-A043-8029-B9921497126E}"/>
              </a:ext>
            </a:extLst>
          </p:cNvPr>
          <p:cNvSpPr>
            <a:spLocks noGrp="1"/>
          </p:cNvSpPr>
          <p:nvPr>
            <p:ph type="dt" sz="quarter" idx="1"/>
          </p:nvPr>
        </p:nvSpPr>
        <p:spPr>
          <a:xfrm>
            <a:off x="3970938" y="0"/>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10/13/2021</a:t>
            </a:fld>
            <a:endParaRPr lang="en-US" dirty="0">
              <a:latin typeface="Huawei Sans" panose="020C0503030203020204" pitchFamily="34" charset="0"/>
            </a:endParaRPr>
          </a:p>
        </p:txBody>
      </p:sp>
      <p:sp>
        <p:nvSpPr>
          <p:cNvPr id="4" name="Footer Placeholder 3">
            <a:extLst>
              <a:ext uri="{FF2B5EF4-FFF2-40B4-BE49-F238E27FC236}">
                <a16:creationId xmlns:a16="http://schemas.microsoft.com/office/drawing/2014/main" xmlns="" id="{B9601424-70F4-1643-8E3A-557A0258D6B6}"/>
              </a:ext>
            </a:extLst>
          </p:cNvPr>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a16="http://schemas.microsoft.com/office/drawing/2014/main" xmlns="" id="{E85BF48A-FF5C-8145-95A7-EE66A87C73DF}"/>
              </a:ext>
            </a:extLst>
          </p:cNvPr>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31838" y="717550"/>
            <a:ext cx="5580062"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40000" indent="-180000" algn="l" defTabSz="1219304"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indent="-180000" algn="l" defTabSz="1219304"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mod="1">
    <p:ext uri="{620B2872-D7B9-4A21-9093-7833F8D536E1}">
      <p15:sldGuideLst xmlns:p15="http://schemas.microsoft.com/office/powerpoint/2012/main">
        <p15:guide id="2" orient="horz" pos="2704" userDrawn="1">
          <p15:clr>
            <a:srgbClr val="F26B43"/>
          </p15:clr>
        </p15:guide>
        <p15:guide id="3" orient="horz" pos="459" userDrawn="1">
          <p15:clr>
            <a:srgbClr val="F26B43"/>
          </p15:clr>
        </p15:guide>
        <p15:guide id="4" orient="horz" pos="2432" userDrawn="1">
          <p15:clr>
            <a:srgbClr val="F26B43"/>
          </p15:clr>
        </p15:guide>
        <p15:guide id="7" pos="461" userDrawn="1">
          <p15:clr>
            <a:srgbClr val="F26B43"/>
          </p15:clr>
        </p15:guide>
        <p15:guide id="9" pos="2207" userDrawn="1">
          <p15:clr>
            <a:srgbClr val="F26B43"/>
          </p15:clr>
        </p15:guide>
        <p15:guide id="10" pos="397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201128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10368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r>
              <a:rPr lang="en-US" altLang="zh-CN" dirty="0" smtClean="0"/>
              <a:t>AS</a:t>
            </a:r>
            <a:r>
              <a:rPr lang="zh-CN" altLang="en-US" dirty="0" smtClean="0"/>
              <a:t>：</a:t>
            </a:r>
            <a:r>
              <a:rPr lang="en-US" altLang="zh-CN" dirty="0" smtClean="0"/>
              <a:t>Autonomous System</a:t>
            </a:r>
            <a:r>
              <a:rPr lang="zh-CN" altLang="en-US" dirty="0" smtClean="0"/>
              <a:t>，自治系统</a:t>
            </a:r>
            <a:endParaRPr lang="zh-CN" altLang="en-US" dirty="0"/>
          </a:p>
        </p:txBody>
      </p:sp>
    </p:spTree>
    <p:extLst>
      <p:ext uri="{BB962C8B-B14F-4D97-AF65-F5344CB8AC3E}">
        <p14:creationId xmlns:p14="http://schemas.microsoft.com/office/powerpoint/2010/main" val="20679817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440674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574611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如图所示：</a:t>
            </a:r>
            <a:endParaRPr lang="en-US" altLang="zh-CN" dirty="0" smtClean="0"/>
          </a:p>
          <a:p>
            <a:pPr lvl="1"/>
            <a:r>
              <a:rPr lang="en-US" altLang="zh-CN" dirty="0" smtClean="0"/>
              <a:t>R1</a:t>
            </a:r>
            <a:r>
              <a:rPr lang="zh-CN" altLang="en-US" dirty="0" smtClean="0"/>
              <a:t>和</a:t>
            </a:r>
            <a:r>
              <a:rPr lang="en-US" altLang="zh-CN" dirty="0" smtClean="0"/>
              <a:t>R2</a:t>
            </a:r>
            <a:r>
              <a:rPr lang="zh-CN" altLang="en-US" dirty="0" smtClean="0"/>
              <a:t>在</a:t>
            </a:r>
            <a:r>
              <a:rPr lang="en-US" altLang="zh-CN" dirty="0" smtClean="0"/>
              <a:t>AS 101</a:t>
            </a:r>
            <a:r>
              <a:rPr lang="zh-CN" altLang="en-US" dirty="0" smtClean="0"/>
              <a:t>中，建立</a:t>
            </a:r>
            <a:r>
              <a:rPr lang="en-US" altLang="zh-CN" dirty="0" smtClean="0"/>
              <a:t>IBGP</a:t>
            </a:r>
            <a:r>
              <a:rPr lang="zh-CN" altLang="en-US" dirty="0" smtClean="0"/>
              <a:t>邻居关系；</a:t>
            </a:r>
            <a:r>
              <a:rPr lang="en-US" altLang="zh-CN" dirty="0" smtClean="0"/>
              <a:t>R3</a:t>
            </a:r>
            <a:r>
              <a:rPr lang="zh-CN" altLang="en-US" dirty="0" smtClean="0"/>
              <a:t>和</a:t>
            </a:r>
            <a:r>
              <a:rPr lang="en-US" altLang="zh-CN" dirty="0" smtClean="0"/>
              <a:t>R4</a:t>
            </a:r>
            <a:r>
              <a:rPr lang="zh-CN" altLang="en-US" dirty="0" smtClean="0"/>
              <a:t>在</a:t>
            </a:r>
            <a:r>
              <a:rPr lang="en-US" altLang="zh-CN" dirty="0" smtClean="0"/>
              <a:t>AS 102</a:t>
            </a:r>
            <a:r>
              <a:rPr lang="zh-CN" altLang="en-US" dirty="0" smtClean="0"/>
              <a:t>中，分别与</a:t>
            </a:r>
            <a:r>
              <a:rPr lang="en-US" altLang="zh-CN" dirty="0" smtClean="0"/>
              <a:t>R2</a:t>
            </a:r>
            <a:r>
              <a:rPr lang="zh-CN" altLang="en-US" dirty="0" smtClean="0"/>
              <a:t>建立</a:t>
            </a:r>
            <a:r>
              <a:rPr lang="en-US" altLang="zh-CN" dirty="0" smtClean="0"/>
              <a:t>EBGP</a:t>
            </a:r>
            <a:r>
              <a:rPr lang="zh-CN" altLang="en-US" dirty="0" smtClean="0"/>
              <a:t>邻居关系。</a:t>
            </a:r>
            <a:endParaRPr lang="en-US" altLang="zh-CN" dirty="0" smtClean="0"/>
          </a:p>
          <a:p>
            <a:pPr lvl="1"/>
            <a:r>
              <a:rPr lang="en-US" altLang="zh-CN" dirty="0" smtClean="0"/>
              <a:t>R1</a:t>
            </a:r>
            <a:r>
              <a:rPr lang="zh-CN" altLang="en-US" dirty="0" smtClean="0"/>
              <a:t>有三个直连网段</a:t>
            </a:r>
            <a:r>
              <a:rPr lang="en-US" altLang="zh-CN" dirty="0" smtClean="0"/>
              <a:t>Net1</a:t>
            </a:r>
            <a:r>
              <a:rPr lang="zh-CN" altLang="en-US" dirty="0" smtClean="0"/>
              <a:t>、</a:t>
            </a:r>
            <a:r>
              <a:rPr lang="en-US" altLang="zh-CN" dirty="0" smtClean="0"/>
              <a:t>Net2</a:t>
            </a:r>
            <a:r>
              <a:rPr lang="zh-CN" altLang="en-US" dirty="0" smtClean="0"/>
              <a:t>和</a:t>
            </a:r>
            <a:r>
              <a:rPr lang="en-US" altLang="zh-CN" dirty="0" smtClean="0"/>
              <a:t>Net3</a:t>
            </a:r>
            <a:r>
              <a:rPr lang="zh-CN" altLang="en-US" dirty="0" smtClean="0"/>
              <a:t>，并将三个网段通告进</a:t>
            </a:r>
            <a:r>
              <a:rPr lang="en-US" altLang="zh-CN" dirty="0" smtClean="0"/>
              <a:t>BGP</a:t>
            </a:r>
            <a:r>
              <a:rPr lang="zh-CN" altLang="en-US" dirty="0" smtClean="0"/>
              <a:t>路由中。</a:t>
            </a:r>
          </a:p>
          <a:p>
            <a:pPr lvl="1"/>
            <a:r>
              <a:rPr lang="zh-CN" altLang="en-US" dirty="0" smtClean="0"/>
              <a:t>在</a:t>
            </a:r>
            <a:r>
              <a:rPr lang="en-US" altLang="zh-CN" dirty="0" smtClean="0"/>
              <a:t>R2</a:t>
            </a:r>
            <a:r>
              <a:rPr lang="zh-CN" altLang="en-US" dirty="0" smtClean="0"/>
              <a:t>可以通过</a:t>
            </a:r>
            <a:r>
              <a:rPr lang="en-US" altLang="zh-CN" dirty="0" smtClean="0"/>
              <a:t>BGP</a:t>
            </a:r>
            <a:r>
              <a:rPr lang="zh-CN" altLang="en-US" dirty="0" smtClean="0"/>
              <a:t>路由控制，过滤</a:t>
            </a:r>
            <a:r>
              <a:rPr lang="en-US" altLang="zh-CN" dirty="0" smtClean="0"/>
              <a:t>Net2</a:t>
            </a:r>
            <a:r>
              <a:rPr lang="zh-CN" altLang="en-US" dirty="0" smtClean="0"/>
              <a:t>的路由，则</a:t>
            </a:r>
            <a:r>
              <a:rPr lang="en-US" altLang="zh-CN" dirty="0" smtClean="0"/>
              <a:t>R2</a:t>
            </a:r>
            <a:r>
              <a:rPr lang="zh-CN" altLang="en-US" dirty="0" smtClean="0"/>
              <a:t>的</a:t>
            </a:r>
            <a:r>
              <a:rPr lang="en-US" altLang="zh-CN" dirty="0" smtClean="0"/>
              <a:t>BGP</a:t>
            </a:r>
            <a:r>
              <a:rPr lang="zh-CN" altLang="en-US" dirty="0" smtClean="0"/>
              <a:t>路由表中就没有</a:t>
            </a:r>
            <a:r>
              <a:rPr lang="en-US" altLang="zh-CN" dirty="0" smtClean="0"/>
              <a:t>Net2</a:t>
            </a:r>
            <a:r>
              <a:rPr lang="zh-CN" altLang="en-US" dirty="0" smtClean="0"/>
              <a:t>的路由条目。</a:t>
            </a:r>
            <a:endParaRPr lang="en-US" altLang="zh-CN" dirty="0" smtClean="0"/>
          </a:p>
          <a:p>
            <a:pPr lvl="1"/>
            <a:r>
              <a:rPr lang="zh-CN" altLang="en-US" dirty="0" smtClean="0"/>
              <a:t>在</a:t>
            </a:r>
            <a:r>
              <a:rPr lang="en-US" altLang="zh-CN" dirty="0" smtClean="0"/>
              <a:t>R3</a:t>
            </a:r>
            <a:r>
              <a:rPr lang="zh-CN" altLang="en-US" dirty="0" smtClean="0"/>
              <a:t>和</a:t>
            </a:r>
            <a:r>
              <a:rPr lang="en-US" altLang="zh-CN" dirty="0" smtClean="0"/>
              <a:t>R4</a:t>
            </a:r>
            <a:r>
              <a:rPr lang="zh-CN" altLang="en-US" dirty="0" smtClean="0"/>
              <a:t>可以通过</a:t>
            </a:r>
            <a:r>
              <a:rPr lang="en-US" altLang="zh-CN" dirty="0" smtClean="0"/>
              <a:t>BGP</a:t>
            </a:r>
            <a:r>
              <a:rPr lang="zh-CN" altLang="en-US" dirty="0" smtClean="0"/>
              <a:t>路由控制，分别修改</a:t>
            </a:r>
            <a:r>
              <a:rPr lang="en-US" altLang="zh-CN" dirty="0" smtClean="0"/>
              <a:t>Net1</a:t>
            </a:r>
            <a:r>
              <a:rPr lang="zh-CN" altLang="en-US" dirty="0" smtClean="0"/>
              <a:t>和</a:t>
            </a:r>
            <a:r>
              <a:rPr lang="en-US" altLang="zh-CN" dirty="0" smtClean="0"/>
              <a:t>Net3</a:t>
            </a:r>
            <a:r>
              <a:rPr lang="zh-CN" altLang="en-US" dirty="0" smtClean="0"/>
              <a:t>的路由属性，控制路由优选，使</a:t>
            </a:r>
            <a:r>
              <a:rPr lang="en-US" altLang="zh-CN" dirty="0" smtClean="0"/>
              <a:t>AS 102</a:t>
            </a:r>
            <a:r>
              <a:rPr lang="zh-CN" altLang="en-US" dirty="0" smtClean="0"/>
              <a:t>中设备访问</a:t>
            </a:r>
            <a:r>
              <a:rPr lang="en-US" altLang="zh-CN" dirty="0" smtClean="0"/>
              <a:t>Net1</a:t>
            </a:r>
            <a:r>
              <a:rPr lang="zh-CN" altLang="en-US" dirty="0" smtClean="0"/>
              <a:t>优选</a:t>
            </a:r>
            <a:r>
              <a:rPr lang="en-US" altLang="zh-CN" dirty="0" smtClean="0"/>
              <a:t>R3</a:t>
            </a:r>
            <a:r>
              <a:rPr lang="zh-CN" altLang="en-US" dirty="0" smtClean="0"/>
              <a:t>作为出口设备，访问</a:t>
            </a:r>
            <a:r>
              <a:rPr lang="en-US" altLang="zh-CN" dirty="0" smtClean="0"/>
              <a:t>Net3</a:t>
            </a:r>
            <a:r>
              <a:rPr lang="zh-CN" altLang="en-US" dirty="0" smtClean="0"/>
              <a:t>优选</a:t>
            </a:r>
            <a:r>
              <a:rPr lang="en-US" altLang="zh-CN" dirty="0" smtClean="0"/>
              <a:t>R4</a:t>
            </a:r>
            <a:r>
              <a:rPr lang="zh-CN" altLang="en-US" dirty="0" smtClean="0"/>
              <a:t>作为出口设备。</a:t>
            </a:r>
            <a:endParaRPr lang="en-US" altLang="zh-CN" dirty="0" smtClean="0"/>
          </a:p>
          <a:p>
            <a:pPr lvl="0"/>
            <a:r>
              <a:rPr lang="zh-CN" altLang="en-US" dirty="0" smtClean="0"/>
              <a:t>说明：</a:t>
            </a:r>
            <a:r>
              <a:rPr lang="en-US" altLang="zh-CN" dirty="0" smtClean="0"/>
              <a:t>ACL</a:t>
            </a:r>
            <a:r>
              <a:rPr lang="zh-CN" altLang="en-US" dirty="0" smtClean="0"/>
              <a:t>、</a:t>
            </a:r>
            <a:r>
              <a:rPr lang="en-US" altLang="zh-CN" dirty="0" smtClean="0"/>
              <a:t>IP Prefix List</a:t>
            </a:r>
            <a:r>
              <a:rPr lang="zh-CN" altLang="en-US" dirty="0" smtClean="0"/>
              <a:t>、</a:t>
            </a:r>
            <a:r>
              <a:rPr lang="en-US" altLang="zh-CN" dirty="0" smtClean="0"/>
              <a:t>Filter-Policy</a:t>
            </a:r>
            <a:r>
              <a:rPr lang="zh-CN" altLang="en-US" dirty="0" smtClean="0"/>
              <a:t>、</a:t>
            </a:r>
            <a:r>
              <a:rPr lang="en-US" altLang="zh-CN" dirty="0" smtClean="0"/>
              <a:t>Route-Policy</a:t>
            </a:r>
            <a:r>
              <a:rPr lang="zh-CN" altLang="en-US" dirty="0" smtClean="0"/>
              <a:t>和</a:t>
            </a:r>
            <a:r>
              <a:rPr lang="en-US" altLang="zh-CN" dirty="0" smtClean="0"/>
              <a:t>BGP</a:t>
            </a:r>
            <a:r>
              <a:rPr lang="zh-CN" altLang="en-US" dirty="0" smtClean="0"/>
              <a:t>路径属性等内容本课程不再赘述，详细内容请参考</a:t>
            </a:r>
            <a:r>
              <a:rPr lang="en-US" altLang="zh-CN" dirty="0" smtClean="0"/>
              <a:t>《HCIP-</a:t>
            </a:r>
            <a:r>
              <a:rPr lang="en-US" altLang="zh-CN" dirty="0" err="1" smtClean="0"/>
              <a:t>Datacom</a:t>
            </a:r>
            <a:r>
              <a:rPr lang="en-US" altLang="zh-CN" dirty="0" smtClean="0"/>
              <a:t>-Core Technology》</a:t>
            </a:r>
            <a:r>
              <a:rPr lang="zh-CN" altLang="en-US" dirty="0" smtClean="0"/>
              <a:t>课程。</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2035002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正则表达式一般具有以下功能：</a:t>
            </a:r>
          </a:p>
          <a:p>
            <a:pPr lvl="1"/>
            <a:r>
              <a:rPr lang="zh-CN" altLang="en-US" smtClean="0"/>
              <a:t>检查字符串中符合某个规则的子字符串，并可以获取该子字符串。</a:t>
            </a:r>
          </a:p>
          <a:p>
            <a:pPr lvl="1"/>
            <a:r>
              <a:rPr lang="zh-CN" altLang="en-US" smtClean="0"/>
              <a:t>根据匹配规则对字符串进行替换操作。</a:t>
            </a: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6581637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说明：圆括号</a:t>
            </a:r>
            <a:r>
              <a:rPr lang="en-US" altLang="zh-CN" dirty="0" smtClean="0"/>
              <a:t>()</a:t>
            </a:r>
            <a:r>
              <a:rPr lang="zh-CN" altLang="en-US" dirty="0" smtClean="0"/>
              <a:t>可以用来定义操作符的范围和优先度。例如：</a:t>
            </a:r>
            <a:r>
              <a:rPr lang="en-US" altLang="zh-CN" dirty="0" smtClean="0"/>
              <a:t>gr(</a:t>
            </a:r>
            <a:r>
              <a:rPr lang="en-US" altLang="zh-CN" dirty="0" err="1" smtClean="0"/>
              <a:t>a|e</a:t>
            </a:r>
            <a:r>
              <a:rPr lang="en-US" altLang="zh-CN" dirty="0" smtClean="0"/>
              <a:t>)y</a:t>
            </a:r>
            <a:r>
              <a:rPr lang="zh-CN" altLang="en-US" dirty="0" smtClean="0"/>
              <a:t>等价于</a:t>
            </a:r>
            <a:r>
              <a:rPr lang="en-US" altLang="zh-CN" dirty="0" err="1" smtClean="0"/>
              <a:t>gray|grey</a:t>
            </a:r>
            <a:r>
              <a:rPr lang="zh-CN" altLang="en-US" dirty="0" smtClean="0"/>
              <a:t>。</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1417196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a:lnSpc>
                <a:spcPct val="100000"/>
              </a:lnSpc>
            </a:pPr>
            <a:r>
              <a:rPr lang="zh-CN" altLang="en-US" b="1" dirty="0" smtClean="0"/>
              <a:t>思考题答案：</a:t>
            </a:r>
            <a:endParaRPr lang="en-US" altLang="zh-CN" b="1" dirty="0" smtClean="0"/>
          </a:p>
          <a:p>
            <a:pPr>
              <a:lnSpc>
                <a:spcPct val="100000"/>
              </a:lnSpc>
            </a:pPr>
            <a:r>
              <a:rPr lang="zh-CN" altLang="en-US" dirty="0" smtClean="0"/>
              <a:t>类型</a:t>
            </a:r>
            <a:r>
              <a:rPr lang="en-US" altLang="zh-CN" dirty="0" smtClean="0"/>
              <a:t>1</a:t>
            </a:r>
            <a:r>
              <a:rPr lang="zh-CN" altLang="en-US" dirty="0" smtClean="0"/>
              <a:t>：</a:t>
            </a:r>
            <a:endParaRPr lang="en-US" altLang="zh-CN" dirty="0" smtClean="0"/>
          </a:p>
          <a:p>
            <a:pPr lvl="1">
              <a:lnSpc>
                <a:spcPct val="100000"/>
              </a:lnSpc>
            </a:pPr>
            <a:r>
              <a:rPr lang="en-US" altLang="zh-CN" b="1" dirty="0" smtClean="0"/>
              <a:t>^a.$</a:t>
            </a:r>
            <a:r>
              <a:rPr lang="zh-CN" altLang="en-US" b="1" dirty="0" smtClean="0"/>
              <a:t>：</a:t>
            </a:r>
            <a:r>
              <a:rPr lang="zh-CN" altLang="zh-CN" dirty="0" smtClean="0"/>
              <a:t>匹配一个以</a:t>
            </a:r>
            <a:r>
              <a:rPr lang="zh-CN" altLang="en-US" dirty="0" smtClean="0"/>
              <a:t>字符</a:t>
            </a:r>
            <a:r>
              <a:rPr lang="en-US" altLang="zh-CN" dirty="0" smtClean="0"/>
              <a:t>a</a:t>
            </a:r>
            <a:r>
              <a:rPr lang="zh-CN" altLang="zh-CN" dirty="0" smtClean="0"/>
              <a:t>开始，</a:t>
            </a:r>
            <a:r>
              <a:rPr lang="zh-CN" altLang="en-US" dirty="0" smtClean="0"/>
              <a:t>以</a:t>
            </a:r>
            <a:r>
              <a:rPr lang="zh-CN" altLang="zh-CN" dirty="0" smtClean="0"/>
              <a:t>任意单一字符结束的字符串，如</a:t>
            </a:r>
            <a:r>
              <a:rPr lang="en-US" altLang="zh-CN" dirty="0" smtClean="0"/>
              <a:t>a0</a:t>
            </a:r>
            <a:r>
              <a:rPr lang="zh-CN" altLang="en-US" dirty="0" smtClean="0"/>
              <a:t>、</a:t>
            </a:r>
            <a:r>
              <a:rPr lang="en-US" altLang="zh-CN" dirty="0" smtClean="0"/>
              <a:t>a!</a:t>
            </a:r>
            <a:r>
              <a:rPr lang="zh-CN" altLang="en-US" dirty="0" smtClean="0"/>
              <a:t>、</a:t>
            </a:r>
            <a:r>
              <a:rPr lang="en-US" altLang="zh-CN" dirty="0" smtClean="0"/>
              <a:t>ax</a:t>
            </a:r>
            <a:r>
              <a:rPr lang="zh-CN" altLang="zh-CN" dirty="0" smtClean="0"/>
              <a:t>等</a:t>
            </a:r>
            <a:r>
              <a:rPr lang="zh-CN" altLang="en-US" dirty="0" smtClean="0"/>
              <a:t>。</a:t>
            </a:r>
            <a:endParaRPr lang="zh-CN" altLang="zh-CN" dirty="0" smtClean="0"/>
          </a:p>
          <a:p>
            <a:pPr lvl="1">
              <a:lnSpc>
                <a:spcPct val="100000"/>
              </a:lnSpc>
            </a:pPr>
            <a:r>
              <a:rPr lang="en-US" altLang="zh-CN" b="1" dirty="0" smtClean="0"/>
              <a:t>^100_</a:t>
            </a:r>
            <a:r>
              <a:rPr lang="zh-CN" altLang="en-US" b="1" dirty="0" smtClean="0"/>
              <a:t>：</a:t>
            </a:r>
            <a:r>
              <a:rPr lang="zh-CN" altLang="zh-CN" dirty="0" smtClean="0"/>
              <a:t>匹配</a:t>
            </a:r>
            <a:r>
              <a:rPr lang="zh-CN" altLang="en-US" dirty="0" smtClean="0"/>
              <a:t>以</a:t>
            </a:r>
            <a:r>
              <a:rPr lang="en-US" altLang="zh-CN" dirty="0" smtClean="0"/>
              <a:t>100</a:t>
            </a:r>
            <a:r>
              <a:rPr lang="zh-CN" altLang="en-US" dirty="0" smtClean="0"/>
              <a:t>为起始的字符串，如：</a:t>
            </a:r>
            <a:r>
              <a:rPr lang="en-US" altLang="zh-CN" dirty="0" smtClean="0"/>
              <a:t>100</a:t>
            </a:r>
            <a:r>
              <a:rPr lang="zh-CN" altLang="zh-CN" dirty="0" smtClean="0"/>
              <a:t>、</a:t>
            </a:r>
            <a:r>
              <a:rPr lang="en-US" altLang="zh-CN" dirty="0" smtClean="0"/>
              <a:t>100 200</a:t>
            </a:r>
            <a:r>
              <a:rPr lang="zh-CN" altLang="zh-CN" dirty="0" smtClean="0"/>
              <a:t>、</a:t>
            </a:r>
            <a:r>
              <a:rPr lang="en-US" altLang="zh-CN" dirty="0" smtClean="0"/>
              <a:t>100 300 400</a:t>
            </a:r>
            <a:r>
              <a:rPr lang="zh-CN" altLang="zh-CN" dirty="0" smtClean="0"/>
              <a:t>等</a:t>
            </a:r>
            <a:r>
              <a:rPr lang="zh-CN" altLang="en-US" dirty="0" smtClean="0"/>
              <a:t>。</a:t>
            </a:r>
            <a:endParaRPr lang="zh-CN" altLang="zh-CN" dirty="0" smtClean="0"/>
          </a:p>
          <a:p>
            <a:pPr lvl="1">
              <a:lnSpc>
                <a:spcPct val="100000"/>
              </a:lnSpc>
            </a:pPr>
            <a:r>
              <a:rPr lang="en-US" altLang="zh-CN" b="1" dirty="0" smtClean="0"/>
              <a:t>^100$</a:t>
            </a:r>
            <a:r>
              <a:rPr lang="zh-CN" altLang="en-US" b="1" dirty="0" smtClean="0"/>
              <a:t>：</a:t>
            </a:r>
            <a:r>
              <a:rPr lang="zh-CN" altLang="en-US" dirty="0" smtClean="0"/>
              <a:t>只匹配</a:t>
            </a:r>
            <a:r>
              <a:rPr lang="en-US" altLang="zh-CN" dirty="0" smtClean="0"/>
              <a:t>100</a:t>
            </a:r>
            <a:r>
              <a:rPr lang="zh-CN" altLang="en-US" dirty="0" smtClean="0"/>
              <a:t>。</a:t>
            </a:r>
            <a:endParaRPr lang="zh-CN" altLang="zh-CN" dirty="0" smtClean="0"/>
          </a:p>
          <a:p>
            <a:pPr lvl="1">
              <a:lnSpc>
                <a:spcPct val="100000"/>
              </a:lnSpc>
            </a:pPr>
            <a:r>
              <a:rPr lang="en-US" altLang="zh-CN" b="1" dirty="0" smtClean="0"/>
              <a:t>100$|400$</a:t>
            </a:r>
            <a:r>
              <a:rPr lang="zh-CN" altLang="en-US" b="1" dirty="0" smtClean="0"/>
              <a:t>：</a:t>
            </a:r>
            <a:r>
              <a:rPr lang="zh-CN" altLang="zh-CN" dirty="0" smtClean="0"/>
              <a:t>匹配</a:t>
            </a:r>
            <a:r>
              <a:rPr lang="zh-CN" altLang="en-US" dirty="0" smtClean="0"/>
              <a:t>以</a:t>
            </a:r>
            <a:r>
              <a:rPr lang="en-US" altLang="zh-CN" dirty="0" smtClean="0"/>
              <a:t>100</a:t>
            </a:r>
            <a:r>
              <a:rPr lang="zh-CN" altLang="en-US" dirty="0" smtClean="0"/>
              <a:t>或</a:t>
            </a:r>
            <a:r>
              <a:rPr lang="en-US" altLang="zh-CN" dirty="0" smtClean="0"/>
              <a:t>400</a:t>
            </a:r>
            <a:r>
              <a:rPr lang="zh-CN" altLang="en-US" dirty="0" smtClean="0"/>
              <a:t>结束的字符串，如：</a:t>
            </a:r>
            <a:r>
              <a:rPr lang="en-US" altLang="zh-CN" dirty="0" smtClean="0"/>
              <a:t>100</a:t>
            </a:r>
            <a:r>
              <a:rPr lang="zh-CN" altLang="zh-CN" dirty="0" smtClean="0"/>
              <a:t>、</a:t>
            </a:r>
            <a:r>
              <a:rPr lang="en-US" altLang="zh-CN" dirty="0" smtClean="0"/>
              <a:t>1400</a:t>
            </a:r>
            <a:r>
              <a:rPr lang="zh-CN" altLang="zh-CN" dirty="0" smtClean="0"/>
              <a:t>、</a:t>
            </a:r>
            <a:r>
              <a:rPr lang="en-US" altLang="zh-CN" dirty="0" smtClean="0"/>
              <a:t>300 400</a:t>
            </a:r>
            <a:r>
              <a:rPr lang="zh-CN" altLang="zh-CN" dirty="0" smtClean="0"/>
              <a:t>等</a:t>
            </a:r>
            <a:r>
              <a:rPr lang="zh-CN" altLang="en-US" dirty="0" smtClean="0"/>
              <a:t>。</a:t>
            </a:r>
            <a:endParaRPr lang="zh-CN" altLang="zh-CN" dirty="0" smtClean="0"/>
          </a:p>
          <a:p>
            <a:pPr lvl="1">
              <a:lnSpc>
                <a:spcPct val="100000"/>
              </a:lnSpc>
            </a:pPr>
            <a:r>
              <a:rPr lang="en-US" altLang="zh-CN" b="1" dirty="0" smtClean="0"/>
              <a:t>^\(65000\)$</a:t>
            </a:r>
            <a:r>
              <a:rPr lang="zh-CN" altLang="en-US" b="1" dirty="0" smtClean="0"/>
              <a:t>：</a:t>
            </a:r>
            <a:r>
              <a:rPr lang="zh-CN" altLang="en-US" dirty="0" smtClean="0"/>
              <a:t>只</a:t>
            </a:r>
            <a:r>
              <a:rPr lang="zh-CN" altLang="zh-CN" dirty="0" smtClean="0"/>
              <a:t>匹配</a:t>
            </a:r>
            <a:r>
              <a:rPr lang="en-US" altLang="zh-CN" dirty="0" smtClean="0"/>
              <a:t>(65000)</a:t>
            </a:r>
            <a:r>
              <a:rPr lang="zh-CN" altLang="en-US" dirty="0" smtClean="0"/>
              <a:t>。</a:t>
            </a:r>
            <a:endParaRPr lang="zh-CN" altLang="zh-CN" dirty="0" smtClean="0"/>
          </a:p>
          <a:p>
            <a:pPr lvl="0">
              <a:lnSpc>
                <a:spcPct val="100000"/>
              </a:lnSpc>
            </a:pPr>
            <a:r>
              <a:rPr lang="zh-CN" altLang="en-US" dirty="0" smtClean="0"/>
              <a:t>类型</a:t>
            </a:r>
            <a:r>
              <a:rPr lang="en-US" altLang="zh-CN" dirty="0" smtClean="0"/>
              <a:t>2</a:t>
            </a:r>
            <a:r>
              <a:rPr lang="zh-CN" altLang="en-US" dirty="0" smtClean="0"/>
              <a:t>：</a:t>
            </a:r>
            <a:endParaRPr lang="en-US" altLang="zh-CN" dirty="0" smtClean="0"/>
          </a:p>
          <a:p>
            <a:pPr lvl="1">
              <a:lnSpc>
                <a:spcPct val="100000"/>
              </a:lnSpc>
            </a:pPr>
            <a:r>
              <a:rPr lang="pl-PL" altLang="zh-CN" b="1" dirty="0" smtClean="0"/>
              <a:t>abc*d</a:t>
            </a:r>
            <a:r>
              <a:rPr lang="zh-CN" altLang="en-US" b="1" dirty="0" smtClean="0"/>
              <a:t>：</a:t>
            </a:r>
            <a:r>
              <a:rPr lang="zh-CN" altLang="en-US" dirty="0" smtClean="0"/>
              <a:t>匹配</a:t>
            </a:r>
            <a:r>
              <a:rPr lang="en-US" altLang="zh-CN" dirty="0" smtClean="0"/>
              <a:t>c</a:t>
            </a:r>
            <a:r>
              <a:rPr lang="zh-CN" altLang="en-US" dirty="0" smtClean="0"/>
              <a:t>字符</a:t>
            </a:r>
            <a:r>
              <a:rPr lang="en-US" altLang="zh-CN" dirty="0" smtClean="0"/>
              <a:t>0</a:t>
            </a:r>
            <a:r>
              <a:rPr lang="zh-CN" altLang="en-US" dirty="0" smtClean="0"/>
              <a:t>次或多次，如：</a:t>
            </a:r>
            <a:r>
              <a:rPr lang="en-US" altLang="zh-CN" dirty="0" err="1" smtClean="0"/>
              <a:t>abd</a:t>
            </a:r>
            <a:r>
              <a:rPr lang="zh-CN" altLang="en-US" dirty="0" smtClean="0"/>
              <a:t>、</a:t>
            </a:r>
            <a:r>
              <a:rPr lang="en-US" altLang="zh-CN" dirty="0" err="1" smtClean="0"/>
              <a:t>abcd</a:t>
            </a:r>
            <a:r>
              <a:rPr lang="zh-CN" altLang="en-US" dirty="0" smtClean="0"/>
              <a:t>、</a:t>
            </a:r>
            <a:r>
              <a:rPr lang="en-US" altLang="zh-CN" dirty="0" err="1" smtClean="0"/>
              <a:t>abccd</a:t>
            </a:r>
            <a:r>
              <a:rPr lang="zh-CN" altLang="en-US" dirty="0" smtClean="0"/>
              <a:t>、</a:t>
            </a:r>
            <a:r>
              <a:rPr lang="en-US" altLang="zh-CN" dirty="0" err="1" smtClean="0"/>
              <a:t>abcccd</a:t>
            </a:r>
            <a:r>
              <a:rPr lang="zh-CN" altLang="en-US" dirty="0" smtClean="0"/>
              <a:t>、</a:t>
            </a:r>
            <a:r>
              <a:rPr lang="en-US" altLang="zh-CN" dirty="0" err="1" smtClean="0"/>
              <a:t>abccccdef</a:t>
            </a:r>
            <a:r>
              <a:rPr lang="zh-CN" altLang="en-US" dirty="0" smtClean="0"/>
              <a:t>等。</a:t>
            </a:r>
            <a:endParaRPr lang="pl-PL" altLang="zh-CN" dirty="0" smtClean="0"/>
          </a:p>
          <a:p>
            <a:pPr lvl="1">
              <a:lnSpc>
                <a:spcPct val="100000"/>
              </a:lnSpc>
            </a:pPr>
            <a:r>
              <a:rPr lang="pl-PL" altLang="zh-CN" b="1" dirty="0" smtClean="0"/>
              <a:t>abc+d</a:t>
            </a:r>
            <a:r>
              <a:rPr lang="zh-CN" altLang="en-US" b="1" dirty="0" smtClean="0"/>
              <a:t>：</a:t>
            </a:r>
            <a:r>
              <a:rPr lang="zh-CN" altLang="en-US" dirty="0" smtClean="0"/>
              <a:t>匹配</a:t>
            </a:r>
            <a:r>
              <a:rPr lang="en-US" altLang="zh-CN" dirty="0" smtClean="0"/>
              <a:t>c</a:t>
            </a:r>
            <a:r>
              <a:rPr lang="zh-CN" altLang="en-US" dirty="0" smtClean="0"/>
              <a:t>字符</a:t>
            </a:r>
            <a:r>
              <a:rPr lang="en-US" altLang="zh-CN" dirty="0" smtClean="0"/>
              <a:t>1</a:t>
            </a:r>
            <a:r>
              <a:rPr lang="zh-CN" altLang="en-US" dirty="0" smtClean="0"/>
              <a:t>次或多次，如：</a:t>
            </a:r>
            <a:r>
              <a:rPr lang="en-US" altLang="zh-CN" dirty="0" err="1" smtClean="0"/>
              <a:t>abcd</a:t>
            </a:r>
            <a:r>
              <a:rPr lang="zh-CN" altLang="en-US" dirty="0" smtClean="0"/>
              <a:t>、</a:t>
            </a:r>
            <a:r>
              <a:rPr lang="en-US" altLang="zh-CN" dirty="0" err="1" smtClean="0"/>
              <a:t>abccd</a:t>
            </a:r>
            <a:r>
              <a:rPr lang="zh-CN" altLang="en-US" dirty="0" smtClean="0"/>
              <a:t>、</a:t>
            </a:r>
            <a:r>
              <a:rPr lang="en-US" altLang="zh-CN" dirty="0" err="1" smtClean="0"/>
              <a:t>abcccd</a:t>
            </a:r>
            <a:r>
              <a:rPr lang="zh-CN" altLang="en-US" dirty="0" smtClean="0"/>
              <a:t>、</a:t>
            </a:r>
            <a:r>
              <a:rPr lang="en-US" altLang="zh-CN" dirty="0" err="1" smtClean="0"/>
              <a:t>abccccdef</a:t>
            </a:r>
            <a:r>
              <a:rPr lang="zh-CN" altLang="en-US" dirty="0" smtClean="0"/>
              <a:t>等。</a:t>
            </a:r>
            <a:endParaRPr lang="pl-PL" altLang="zh-CN" dirty="0" smtClean="0"/>
          </a:p>
          <a:p>
            <a:pPr lvl="1">
              <a:lnSpc>
                <a:spcPct val="100000"/>
              </a:lnSpc>
            </a:pPr>
            <a:r>
              <a:rPr lang="pl-PL" altLang="zh-CN" b="1" dirty="0" smtClean="0"/>
              <a:t>abc?d</a:t>
            </a:r>
            <a:r>
              <a:rPr lang="zh-CN" altLang="en-US" b="1" dirty="0" smtClean="0"/>
              <a:t>：</a:t>
            </a:r>
            <a:r>
              <a:rPr lang="zh-CN" altLang="en-US" dirty="0" smtClean="0"/>
              <a:t>匹配</a:t>
            </a:r>
            <a:r>
              <a:rPr lang="en-US" altLang="zh-CN" dirty="0" smtClean="0"/>
              <a:t>c</a:t>
            </a:r>
            <a:r>
              <a:rPr lang="zh-CN" altLang="en-US" dirty="0" smtClean="0"/>
              <a:t>字符</a:t>
            </a:r>
            <a:r>
              <a:rPr lang="en-US" altLang="zh-CN" dirty="0" smtClean="0"/>
              <a:t>0</a:t>
            </a:r>
            <a:r>
              <a:rPr lang="zh-CN" altLang="en-US" dirty="0" smtClean="0"/>
              <a:t>次或</a:t>
            </a:r>
            <a:r>
              <a:rPr lang="en-US" altLang="zh-CN" dirty="0" smtClean="0"/>
              <a:t>1</a:t>
            </a:r>
            <a:r>
              <a:rPr lang="zh-CN" altLang="en-US" dirty="0" smtClean="0"/>
              <a:t>次，如：</a:t>
            </a:r>
            <a:r>
              <a:rPr lang="en-US" altLang="zh-CN" dirty="0" err="1" smtClean="0"/>
              <a:t>abd</a:t>
            </a:r>
            <a:r>
              <a:rPr lang="zh-CN" altLang="en-US" dirty="0" smtClean="0"/>
              <a:t>、</a:t>
            </a:r>
            <a:r>
              <a:rPr lang="en-US" altLang="zh-CN" dirty="0" err="1" smtClean="0"/>
              <a:t>abcd</a:t>
            </a:r>
            <a:r>
              <a:rPr lang="zh-CN" altLang="en-US" dirty="0" smtClean="0"/>
              <a:t>、</a:t>
            </a:r>
            <a:r>
              <a:rPr lang="en-US" altLang="zh-CN" dirty="0" err="1" smtClean="0"/>
              <a:t>abcdef</a:t>
            </a:r>
            <a:r>
              <a:rPr lang="zh-CN" altLang="en-US" dirty="0" smtClean="0"/>
              <a:t>等。</a:t>
            </a:r>
            <a:endParaRPr lang="pl-PL" altLang="zh-CN" dirty="0" smtClean="0"/>
          </a:p>
          <a:p>
            <a:pPr lvl="1">
              <a:lnSpc>
                <a:spcPct val="100000"/>
              </a:lnSpc>
            </a:pPr>
            <a:r>
              <a:rPr lang="pl-PL" altLang="zh-CN" b="1" dirty="0" smtClean="0"/>
              <a:t>a(bc)?d</a:t>
            </a:r>
            <a:r>
              <a:rPr lang="zh-CN" altLang="en-US" b="1" dirty="0" smtClean="0"/>
              <a:t>：</a:t>
            </a:r>
            <a:r>
              <a:rPr lang="zh-CN" altLang="en-US" dirty="0" smtClean="0"/>
              <a:t>匹配</a:t>
            </a:r>
            <a:r>
              <a:rPr lang="en-US" altLang="zh-CN" dirty="0" err="1" smtClean="0"/>
              <a:t>bc</a:t>
            </a:r>
            <a:r>
              <a:rPr lang="zh-CN" altLang="en-US" dirty="0" smtClean="0"/>
              <a:t>字符串</a:t>
            </a:r>
            <a:r>
              <a:rPr lang="en-US" altLang="zh-CN" dirty="0" smtClean="0"/>
              <a:t>0</a:t>
            </a:r>
            <a:r>
              <a:rPr lang="zh-CN" altLang="en-US" dirty="0" smtClean="0"/>
              <a:t>次或</a:t>
            </a:r>
            <a:r>
              <a:rPr lang="en-US" altLang="zh-CN" dirty="0" smtClean="0"/>
              <a:t>1</a:t>
            </a:r>
            <a:r>
              <a:rPr lang="zh-CN" altLang="en-US" dirty="0" smtClean="0"/>
              <a:t>次，如：</a:t>
            </a:r>
            <a:r>
              <a:rPr lang="en-US" altLang="zh-CN" dirty="0" smtClean="0"/>
              <a:t>ad</a:t>
            </a:r>
            <a:r>
              <a:rPr lang="zh-CN" altLang="en-US" dirty="0" smtClean="0"/>
              <a:t>、</a:t>
            </a:r>
            <a:r>
              <a:rPr lang="en-US" altLang="zh-CN" dirty="0" err="1" smtClean="0"/>
              <a:t>abcd</a:t>
            </a:r>
            <a:r>
              <a:rPr lang="zh-CN" altLang="en-US" dirty="0" smtClean="0"/>
              <a:t>、</a:t>
            </a:r>
            <a:r>
              <a:rPr lang="en-US" altLang="zh-CN" dirty="0" err="1" smtClean="0"/>
              <a:t>aaabcdef</a:t>
            </a:r>
            <a:r>
              <a:rPr lang="zh-CN" altLang="en-US" dirty="0" smtClean="0"/>
              <a:t>等。</a:t>
            </a:r>
            <a:endParaRPr lang="pl-PL" altLang="zh-CN" dirty="0" smtClean="0"/>
          </a:p>
          <a:p>
            <a:pPr lvl="0">
              <a:lnSpc>
                <a:spcPct val="100000"/>
              </a:lnSpc>
            </a:pPr>
            <a:r>
              <a:rPr lang="zh-CN" altLang="en-US" dirty="0" smtClean="0"/>
              <a:t>类型</a:t>
            </a:r>
            <a:r>
              <a:rPr lang="en-US" altLang="zh-CN" dirty="0" smtClean="0"/>
              <a:t>3</a:t>
            </a:r>
            <a:r>
              <a:rPr lang="zh-CN" altLang="en-US" dirty="0" smtClean="0"/>
              <a:t>：</a:t>
            </a:r>
            <a:endParaRPr lang="en-US" altLang="zh-CN" dirty="0" smtClean="0"/>
          </a:p>
          <a:p>
            <a:pPr lvl="1">
              <a:lnSpc>
                <a:spcPct val="100000"/>
              </a:lnSpc>
            </a:pPr>
            <a:r>
              <a:rPr lang="en-US" altLang="zh-CN" b="1" dirty="0" smtClean="0"/>
              <a:t>[</a:t>
            </a:r>
            <a:r>
              <a:rPr lang="en-US" altLang="zh-CN" b="1" dirty="0" err="1" smtClean="0"/>
              <a:t>abcd</a:t>
            </a:r>
            <a:r>
              <a:rPr lang="en-US" altLang="zh-CN" b="1" dirty="0" smtClean="0"/>
              <a:t>]</a:t>
            </a:r>
            <a:r>
              <a:rPr lang="zh-CN" altLang="en-US" b="1" dirty="0" smtClean="0"/>
              <a:t>：</a:t>
            </a:r>
            <a:r>
              <a:rPr lang="zh-CN" altLang="en-US" dirty="0" smtClean="0"/>
              <a:t>匹配</a:t>
            </a:r>
            <a:r>
              <a:rPr lang="en-US" altLang="zh-CN" dirty="0" err="1" smtClean="0"/>
              <a:t>abcd</a:t>
            </a:r>
            <a:r>
              <a:rPr lang="zh-CN" altLang="en-US" dirty="0" smtClean="0"/>
              <a:t>中任意一个字符，即只要出现了</a:t>
            </a:r>
            <a:r>
              <a:rPr lang="en-US" altLang="zh-CN" dirty="0" smtClean="0"/>
              <a:t>a</a:t>
            </a:r>
            <a:r>
              <a:rPr lang="zh-CN" altLang="en-US" dirty="0" smtClean="0"/>
              <a:t>、</a:t>
            </a:r>
            <a:r>
              <a:rPr lang="en-US" altLang="zh-CN" dirty="0" smtClean="0"/>
              <a:t>b</a:t>
            </a:r>
            <a:r>
              <a:rPr lang="zh-CN" altLang="en-US" dirty="0" smtClean="0"/>
              <a:t>、</a:t>
            </a:r>
            <a:r>
              <a:rPr lang="en-US" altLang="zh-CN" dirty="0" smtClean="0"/>
              <a:t>c</a:t>
            </a:r>
            <a:r>
              <a:rPr lang="zh-CN" altLang="en-US" dirty="0" smtClean="0"/>
              <a:t>、</a:t>
            </a:r>
            <a:r>
              <a:rPr lang="en-US" altLang="zh-CN" dirty="0" smtClean="0"/>
              <a:t>d</a:t>
            </a:r>
            <a:r>
              <a:rPr lang="zh-CN" altLang="en-US" dirty="0" smtClean="0"/>
              <a:t>中的任意字符即可，如：</a:t>
            </a:r>
            <a:r>
              <a:rPr lang="en-US" altLang="zh-CN" dirty="0" smtClean="0"/>
              <a:t>ax</a:t>
            </a:r>
            <a:r>
              <a:rPr lang="zh-CN" altLang="en-US" dirty="0" smtClean="0"/>
              <a:t>、</a:t>
            </a:r>
            <a:r>
              <a:rPr lang="en-US" altLang="zh-CN" dirty="0" smtClean="0"/>
              <a:t>b</a:t>
            </a:r>
            <a:r>
              <a:rPr lang="zh-CN" altLang="en-US" dirty="0" smtClean="0"/>
              <a:t>！、</a:t>
            </a:r>
            <a:r>
              <a:rPr lang="en-US" altLang="zh-CN" dirty="0" err="1" smtClean="0"/>
              <a:t>abc</a:t>
            </a:r>
            <a:r>
              <a:rPr lang="zh-CN" altLang="en-US" dirty="0" smtClean="0"/>
              <a:t>、</a:t>
            </a:r>
            <a:r>
              <a:rPr lang="en-US" altLang="zh-CN" dirty="0" smtClean="0"/>
              <a:t>d0</a:t>
            </a:r>
            <a:r>
              <a:rPr lang="zh-CN" altLang="en-US" dirty="0" smtClean="0"/>
              <a:t>等。</a:t>
            </a:r>
            <a:endParaRPr lang="en-US" altLang="zh-CN" dirty="0" smtClean="0"/>
          </a:p>
          <a:p>
            <a:pPr lvl="1">
              <a:lnSpc>
                <a:spcPct val="100000"/>
              </a:lnSpc>
            </a:pPr>
            <a:r>
              <a:rPr lang="en-US" altLang="zh-CN" b="1" dirty="0" smtClean="0"/>
              <a:t>[a-c 1-2]$</a:t>
            </a:r>
            <a:r>
              <a:rPr lang="zh-CN" altLang="en-US" b="1" dirty="0" smtClean="0"/>
              <a:t>：</a:t>
            </a:r>
            <a:r>
              <a:rPr lang="zh-CN" altLang="en-US" dirty="0" smtClean="0"/>
              <a:t>匹配以字符</a:t>
            </a:r>
            <a:r>
              <a:rPr lang="en-US" altLang="zh-CN" dirty="0" smtClean="0"/>
              <a:t>a</a:t>
            </a:r>
            <a:r>
              <a:rPr lang="zh-CN" altLang="en-US" dirty="0" smtClean="0"/>
              <a:t>、</a:t>
            </a:r>
            <a:r>
              <a:rPr lang="en-US" altLang="zh-CN" dirty="0" smtClean="0"/>
              <a:t>b</a:t>
            </a:r>
            <a:r>
              <a:rPr lang="zh-CN" altLang="en-US" dirty="0" smtClean="0"/>
              <a:t>、</a:t>
            </a:r>
            <a:r>
              <a:rPr lang="en-US" altLang="zh-CN" dirty="0" smtClean="0"/>
              <a:t>c</a:t>
            </a:r>
            <a:r>
              <a:rPr lang="zh-CN" altLang="en-US" dirty="0" smtClean="0"/>
              <a:t>、</a:t>
            </a:r>
            <a:r>
              <a:rPr lang="en-US" altLang="zh-CN" dirty="0" smtClean="0"/>
              <a:t>1</a:t>
            </a:r>
            <a:r>
              <a:rPr lang="zh-CN" altLang="en-US" dirty="0" smtClean="0"/>
              <a:t>、</a:t>
            </a:r>
            <a:r>
              <a:rPr lang="en-US" altLang="zh-CN" dirty="0" smtClean="0"/>
              <a:t>2</a:t>
            </a:r>
            <a:r>
              <a:rPr lang="zh-CN" altLang="en-US" dirty="0" smtClean="0"/>
              <a:t>结束的字符串，如：</a:t>
            </a:r>
            <a:r>
              <a:rPr lang="en-US" altLang="zh-CN" dirty="0" smtClean="0"/>
              <a:t>a</a:t>
            </a:r>
            <a:r>
              <a:rPr lang="zh-CN" altLang="en-US" dirty="0" smtClean="0"/>
              <a:t>、</a:t>
            </a:r>
            <a:r>
              <a:rPr lang="en-US" altLang="zh-CN" dirty="0" smtClean="0"/>
              <a:t>a1</a:t>
            </a:r>
            <a:r>
              <a:rPr lang="zh-CN" altLang="en-US" dirty="0" smtClean="0"/>
              <a:t>、</a:t>
            </a:r>
            <a:r>
              <a:rPr lang="en-US" altLang="zh-CN" dirty="0" smtClean="0"/>
              <a:t>62</a:t>
            </a:r>
            <a:r>
              <a:rPr lang="zh-CN" altLang="en-US" dirty="0" smtClean="0"/>
              <a:t>、</a:t>
            </a:r>
            <a:r>
              <a:rPr lang="en-US" altLang="zh-CN" dirty="0" err="1" smtClean="0"/>
              <a:t>xb</a:t>
            </a:r>
            <a:r>
              <a:rPr lang="zh-CN" altLang="en-US" dirty="0" smtClean="0"/>
              <a:t>、</a:t>
            </a:r>
            <a:r>
              <a:rPr lang="en-US" altLang="zh-CN" dirty="0" smtClean="0"/>
              <a:t>7ac</a:t>
            </a:r>
            <a:r>
              <a:rPr lang="zh-CN" altLang="en-US" dirty="0" smtClean="0"/>
              <a:t>等。</a:t>
            </a:r>
            <a:endParaRPr lang="en-US" altLang="zh-CN" dirty="0" smtClean="0"/>
          </a:p>
          <a:p>
            <a:pPr lvl="1">
              <a:lnSpc>
                <a:spcPct val="100000"/>
              </a:lnSpc>
            </a:pPr>
            <a:r>
              <a:rPr lang="en-US" altLang="zh-CN" b="1" dirty="0" smtClean="0"/>
              <a:t>[^act]$</a:t>
            </a:r>
            <a:r>
              <a:rPr lang="zh-CN" altLang="en-US" b="1" dirty="0" smtClean="0"/>
              <a:t>：</a:t>
            </a:r>
            <a:r>
              <a:rPr lang="zh-CN" altLang="en-US" dirty="0" smtClean="0"/>
              <a:t>匹配不以字符</a:t>
            </a:r>
            <a:r>
              <a:rPr lang="en-US" altLang="zh-CN" dirty="0" smtClean="0"/>
              <a:t>a</a:t>
            </a:r>
            <a:r>
              <a:rPr lang="zh-CN" altLang="en-US" dirty="0" smtClean="0"/>
              <a:t>、</a:t>
            </a:r>
            <a:r>
              <a:rPr lang="en-US" altLang="zh-CN" dirty="0" smtClean="0"/>
              <a:t>c</a:t>
            </a:r>
            <a:r>
              <a:rPr lang="zh-CN" altLang="en-US" dirty="0" smtClean="0"/>
              <a:t>、</a:t>
            </a:r>
            <a:r>
              <a:rPr lang="en-US" altLang="zh-CN" dirty="0" smtClean="0"/>
              <a:t>t</a:t>
            </a:r>
            <a:r>
              <a:rPr lang="zh-CN" altLang="en-US" dirty="0" smtClean="0"/>
              <a:t>结束的字符串，如：</a:t>
            </a:r>
            <a:r>
              <a:rPr lang="en-US" altLang="zh-CN" dirty="0" smtClean="0"/>
              <a:t>ax</a:t>
            </a:r>
            <a:r>
              <a:rPr lang="zh-CN" altLang="en-US" dirty="0" smtClean="0"/>
              <a:t>、</a:t>
            </a:r>
            <a:r>
              <a:rPr lang="en-US" altLang="zh-CN" dirty="0" smtClean="0"/>
              <a:t>b</a:t>
            </a:r>
            <a:r>
              <a:rPr lang="zh-CN" altLang="en-US" dirty="0" smtClean="0"/>
              <a:t>！、</a:t>
            </a:r>
            <a:r>
              <a:rPr lang="en-US" altLang="zh-CN" dirty="0" smtClean="0"/>
              <a:t>d</a:t>
            </a:r>
            <a:r>
              <a:rPr lang="zh-CN" altLang="en-US" dirty="0" smtClean="0"/>
              <a:t>等。</a:t>
            </a:r>
            <a:endParaRPr lang="en-US" altLang="zh-CN" dirty="0" smtClean="0"/>
          </a:p>
          <a:p>
            <a:pPr lvl="1">
              <a:lnSpc>
                <a:spcPct val="100000"/>
              </a:lnSpc>
            </a:pPr>
            <a:r>
              <a:rPr lang="en-US" altLang="zh-CN" b="1" dirty="0" smtClean="0"/>
              <a:t>[123].[7-9]</a:t>
            </a:r>
            <a:r>
              <a:rPr lang="zh-CN" altLang="en-US" b="1" dirty="0" smtClean="0"/>
              <a:t>：</a:t>
            </a:r>
            <a:r>
              <a:rPr lang="zh-CN" altLang="en-US" dirty="0" smtClean="0"/>
              <a:t>匹配如：</a:t>
            </a:r>
            <a:r>
              <a:rPr lang="en-US" altLang="zh-CN" dirty="0" smtClean="0"/>
              <a:t>1 7</a:t>
            </a:r>
            <a:r>
              <a:rPr lang="zh-CN" altLang="en-US" dirty="0" smtClean="0"/>
              <a:t>、</a:t>
            </a:r>
            <a:r>
              <a:rPr lang="en-US" altLang="zh-CN" dirty="0" smtClean="0"/>
              <a:t>2x9</a:t>
            </a:r>
            <a:r>
              <a:rPr lang="zh-CN" altLang="en-US" dirty="0" smtClean="0"/>
              <a:t>、</a:t>
            </a:r>
            <a:r>
              <a:rPr lang="en-US" altLang="zh-CN" dirty="0" smtClean="0"/>
              <a:t>348</a:t>
            </a:r>
            <a:r>
              <a:rPr lang="zh-CN" altLang="en-US" dirty="0" smtClean="0"/>
              <a:t>等。</a:t>
            </a:r>
            <a:endParaRPr lang="en-US" altLang="zh-CN" dirty="0" smtClean="0"/>
          </a:p>
          <a:p>
            <a:pPr lvl="1">
              <a:lnSpc>
                <a:spcPct val="100000"/>
              </a:lnSpc>
            </a:pP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5122930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smtClean="0"/>
              <a:t>AS_Path</a:t>
            </a:r>
            <a:r>
              <a:rPr lang="zh-CN" altLang="en-US" smtClean="0"/>
              <a:t>属性是</a:t>
            </a:r>
            <a:r>
              <a:rPr lang="en-US" altLang="zh-CN" smtClean="0"/>
              <a:t>BGP</a:t>
            </a:r>
            <a:r>
              <a:rPr lang="zh-CN" altLang="en-US" smtClean="0"/>
              <a:t>的公认必遵属性，所有的</a:t>
            </a:r>
            <a:r>
              <a:rPr lang="en-US" altLang="zh-CN" smtClean="0"/>
              <a:t>BGP</a:t>
            </a:r>
            <a:r>
              <a:rPr lang="zh-CN" altLang="en-US" smtClean="0"/>
              <a:t>路由都必须携带该属性。这个属性记录了</a:t>
            </a:r>
            <a:r>
              <a:rPr lang="en-US" altLang="zh-CN" smtClean="0"/>
              <a:t>BGP</a:t>
            </a:r>
            <a:r>
              <a:rPr lang="zh-CN" altLang="en-US" smtClean="0"/>
              <a:t>路由在传递过程中所经过的所有</a:t>
            </a:r>
            <a:r>
              <a:rPr lang="en-US" altLang="zh-CN" smtClean="0"/>
              <a:t>AS</a:t>
            </a:r>
            <a:r>
              <a:rPr lang="zh-CN" altLang="en-US" smtClean="0"/>
              <a:t>的号码。</a:t>
            </a:r>
          </a:p>
          <a:p>
            <a:r>
              <a:rPr lang="en-US" altLang="zh-CN" smtClean="0"/>
              <a:t>AS_Path</a:t>
            </a:r>
            <a:r>
              <a:rPr lang="zh-CN" altLang="en-US" smtClean="0"/>
              <a:t>属性值可以是</a:t>
            </a:r>
            <a:r>
              <a:rPr lang="en-US" altLang="zh-CN" smtClean="0"/>
              <a:t>0</a:t>
            </a:r>
            <a:r>
              <a:rPr lang="zh-CN" altLang="en-US" smtClean="0"/>
              <a:t>个、</a:t>
            </a:r>
            <a:r>
              <a:rPr lang="en-US" altLang="zh-CN" smtClean="0"/>
              <a:t>1</a:t>
            </a:r>
            <a:r>
              <a:rPr lang="zh-CN" altLang="en-US" smtClean="0"/>
              <a:t>个或多个</a:t>
            </a:r>
            <a:r>
              <a:rPr lang="en-US" altLang="zh-CN" smtClean="0"/>
              <a:t>AS</a:t>
            </a:r>
            <a:r>
              <a:rPr lang="zh-CN" altLang="en-US" smtClean="0"/>
              <a:t>号码的集合。</a:t>
            </a:r>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6401964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401888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smtClean="0"/>
              <a:t>在同一个过滤器编号下，可以定义多条过滤规则（</a:t>
            </a:r>
            <a:r>
              <a:rPr lang="en-US" altLang="zh-CN" dirty="0" smtClean="0"/>
              <a:t>permit</a:t>
            </a:r>
            <a:r>
              <a:rPr lang="zh-CN" altLang="en-US" dirty="0" smtClean="0"/>
              <a:t>或</a:t>
            </a:r>
            <a:r>
              <a:rPr lang="en-US" altLang="zh-CN" dirty="0" smtClean="0"/>
              <a:t>deny</a:t>
            </a:r>
            <a:r>
              <a:rPr lang="zh-CN" altLang="en-US" dirty="0" smtClean="0"/>
              <a:t>模式）。在匹配过程中，这些规则之间是“或”的关系，即只要路由信息通过其中一项规则，就认为通过由该过滤器编号标识的这组</a:t>
            </a:r>
            <a:r>
              <a:rPr lang="en-US" altLang="zh-CN" dirty="0" err="1" smtClean="0"/>
              <a:t>AS_Path</a:t>
            </a:r>
            <a:r>
              <a:rPr lang="en-US" altLang="zh-CN" dirty="0" smtClean="0"/>
              <a:t> Filter</a:t>
            </a:r>
            <a:r>
              <a:rPr lang="zh-CN" altLang="en-US" dirty="0" smtClean="0"/>
              <a:t>。</a:t>
            </a:r>
          </a:p>
          <a:p>
            <a:pPr lvl="0"/>
            <a:r>
              <a:rPr lang="zh-CN" altLang="en-US" dirty="0" smtClean="0"/>
              <a:t>命令：</a:t>
            </a:r>
            <a:r>
              <a:rPr lang="en-US" altLang="zh-CN" dirty="0" smtClean="0"/>
              <a:t>[Huawei] </a:t>
            </a:r>
            <a:r>
              <a:rPr lang="en-US" altLang="zh-CN" b="1" dirty="0" err="1" smtClean="0"/>
              <a:t>ip</a:t>
            </a:r>
            <a:r>
              <a:rPr lang="en-US" altLang="zh-CN" b="1" dirty="0" smtClean="0"/>
              <a:t> as-path-filter</a:t>
            </a:r>
            <a:r>
              <a:rPr lang="en-US" altLang="zh-CN" dirty="0" smtClean="0"/>
              <a:t> { </a:t>
            </a:r>
            <a:r>
              <a:rPr lang="en-US" altLang="zh-CN" i="1" dirty="0" smtClean="0"/>
              <a:t>as-path-filter-number</a:t>
            </a:r>
            <a:r>
              <a:rPr lang="en-US" altLang="zh-CN" dirty="0" smtClean="0"/>
              <a:t> | </a:t>
            </a:r>
            <a:r>
              <a:rPr lang="en-US" altLang="zh-CN" i="1" dirty="0" smtClean="0"/>
              <a:t>as-path-filter-name</a:t>
            </a:r>
            <a:r>
              <a:rPr lang="en-US" altLang="zh-CN" dirty="0" smtClean="0"/>
              <a:t> } { </a:t>
            </a:r>
            <a:r>
              <a:rPr lang="en-US" altLang="zh-CN" b="1" dirty="0" smtClean="0"/>
              <a:t>deny | permit</a:t>
            </a:r>
            <a:r>
              <a:rPr lang="en-US" altLang="zh-CN" dirty="0" smtClean="0"/>
              <a:t> }</a:t>
            </a:r>
            <a:r>
              <a:rPr lang="en-US" altLang="zh-CN" b="1" dirty="0" smtClean="0"/>
              <a:t> regular-expression</a:t>
            </a:r>
            <a:endParaRPr lang="zh-CN" altLang="en-US" b="1" dirty="0" smtClean="0"/>
          </a:p>
          <a:p>
            <a:pPr lvl="1"/>
            <a:r>
              <a:rPr lang="en-US" altLang="zh-CN" i="1" dirty="0" smtClean="0"/>
              <a:t>as-path-filter-number</a:t>
            </a:r>
            <a:r>
              <a:rPr lang="zh-CN" altLang="en-US" i="1" dirty="0" smtClean="0"/>
              <a:t>：</a:t>
            </a:r>
            <a:r>
              <a:rPr lang="zh-CN" altLang="en-US" dirty="0" smtClean="0"/>
              <a:t>指定的</a:t>
            </a:r>
            <a:r>
              <a:rPr lang="en-US" altLang="zh-CN" dirty="0" smtClean="0"/>
              <a:t>AS</a:t>
            </a:r>
            <a:r>
              <a:rPr lang="zh-CN" altLang="en-US" dirty="0" smtClean="0"/>
              <a:t>路径过滤器号。整数形式，取值范围</a:t>
            </a:r>
            <a:r>
              <a:rPr lang="en-US" altLang="zh-CN" dirty="0" smtClean="0"/>
              <a:t>1~256</a:t>
            </a:r>
            <a:r>
              <a:rPr lang="zh-CN" altLang="en-US" dirty="0" smtClean="0"/>
              <a:t>。</a:t>
            </a:r>
          </a:p>
          <a:p>
            <a:pPr lvl="1"/>
            <a:r>
              <a:rPr lang="en-US" altLang="zh-CN" i="1" dirty="0" smtClean="0"/>
              <a:t>as-path-filter-name</a:t>
            </a:r>
            <a:r>
              <a:rPr lang="zh-CN" altLang="en-US" i="1" dirty="0" smtClean="0"/>
              <a:t>：</a:t>
            </a:r>
            <a:r>
              <a:rPr lang="zh-CN" altLang="en-US" dirty="0" smtClean="0"/>
              <a:t>指定的</a:t>
            </a:r>
            <a:r>
              <a:rPr lang="en-US" altLang="zh-CN" dirty="0" smtClean="0"/>
              <a:t>AS</a:t>
            </a:r>
            <a:r>
              <a:rPr lang="zh-CN" altLang="en-US" dirty="0" smtClean="0"/>
              <a:t>路径过滤器名称。字符串形式，区分大小写，不支持空格，长度范围是</a:t>
            </a:r>
            <a:r>
              <a:rPr lang="en-US" altLang="zh-CN" dirty="0" smtClean="0"/>
              <a:t>1~51</a:t>
            </a:r>
            <a:r>
              <a:rPr lang="zh-CN" altLang="en-US" dirty="0" smtClean="0"/>
              <a:t>，且不能都是数字。当输入的字符串两端使用双引号时，可在字符串中输入空格。</a:t>
            </a:r>
          </a:p>
          <a:p>
            <a:pPr lvl="1"/>
            <a:r>
              <a:rPr lang="en-US" altLang="zh-CN" b="1" dirty="0" smtClean="0"/>
              <a:t>deny</a:t>
            </a:r>
            <a:r>
              <a:rPr lang="zh-CN" altLang="en-US" b="1" dirty="0" smtClean="0"/>
              <a:t>：</a:t>
            </a:r>
            <a:r>
              <a:rPr lang="zh-CN" altLang="en-US" dirty="0" smtClean="0"/>
              <a:t>指定</a:t>
            </a:r>
            <a:r>
              <a:rPr lang="en-US" altLang="zh-CN" dirty="0" smtClean="0"/>
              <a:t>AS</a:t>
            </a:r>
            <a:r>
              <a:rPr lang="zh-CN" altLang="en-US" dirty="0" smtClean="0"/>
              <a:t>路径过滤器的匹配模式为拒绝。</a:t>
            </a:r>
          </a:p>
          <a:p>
            <a:pPr lvl="1"/>
            <a:r>
              <a:rPr lang="en-US" altLang="zh-CN" b="1" dirty="0" smtClean="0"/>
              <a:t>permit</a:t>
            </a:r>
            <a:r>
              <a:rPr lang="zh-CN" altLang="en-US" b="1" dirty="0" smtClean="0"/>
              <a:t>：</a:t>
            </a:r>
            <a:r>
              <a:rPr lang="zh-CN" altLang="en-US" dirty="0" smtClean="0"/>
              <a:t>指定</a:t>
            </a:r>
            <a:r>
              <a:rPr lang="en-US" altLang="zh-CN" dirty="0" smtClean="0"/>
              <a:t>AS</a:t>
            </a:r>
            <a:r>
              <a:rPr lang="zh-CN" altLang="en-US" dirty="0" smtClean="0"/>
              <a:t>路径过滤器的匹配模式为允许。</a:t>
            </a:r>
          </a:p>
          <a:p>
            <a:pPr lvl="1"/>
            <a:r>
              <a:rPr lang="en-US" altLang="zh-CN" b="1" dirty="0" smtClean="0"/>
              <a:t>regular-expression</a:t>
            </a:r>
            <a:r>
              <a:rPr lang="zh-CN" altLang="en-US" b="1" dirty="0" smtClean="0"/>
              <a:t>：</a:t>
            </a:r>
            <a:r>
              <a:rPr lang="zh-CN" altLang="en-US" dirty="0" smtClean="0"/>
              <a:t>指定</a:t>
            </a:r>
            <a:r>
              <a:rPr lang="en-US" altLang="zh-CN" dirty="0" smtClean="0"/>
              <a:t>AS</a:t>
            </a:r>
            <a:r>
              <a:rPr lang="zh-CN" altLang="en-US" dirty="0" smtClean="0"/>
              <a:t>路径正则表达式。字符串形式，支持空格，取值范围是</a:t>
            </a:r>
            <a:r>
              <a:rPr lang="en-US" altLang="zh-CN" dirty="0" smtClean="0"/>
              <a:t>1~255</a:t>
            </a:r>
            <a:r>
              <a:rPr lang="zh-CN" altLang="en-US" dirty="0" smtClean="0"/>
              <a:t>个字符。</a:t>
            </a:r>
          </a:p>
          <a:p>
            <a:pPr lvl="0"/>
            <a:r>
              <a:rPr lang="en-US" altLang="zh-CN" dirty="0" smtClean="0"/>
              <a:t>AS</a:t>
            </a:r>
            <a:r>
              <a:rPr lang="zh-CN" altLang="en-US" dirty="0" smtClean="0"/>
              <a:t>路径过滤器的默认行为是</a:t>
            </a:r>
            <a:r>
              <a:rPr lang="en-US" altLang="zh-CN" dirty="0" smtClean="0"/>
              <a:t>deny</a:t>
            </a:r>
            <a:r>
              <a:rPr lang="zh-CN" altLang="en-US" dirty="0" smtClean="0"/>
              <a:t>，即路由如果没有在某一次过滤中被</a:t>
            </a:r>
            <a:r>
              <a:rPr lang="en-US" altLang="zh-CN" dirty="0" smtClean="0"/>
              <a:t>permit</a:t>
            </a:r>
            <a:r>
              <a:rPr lang="zh-CN" altLang="en-US" dirty="0" smtClean="0"/>
              <a:t>则最终不能通过该过滤器的过滤。如果一个过滤器中的所有过滤规则都是</a:t>
            </a:r>
            <a:r>
              <a:rPr lang="en-US" altLang="zh-CN" dirty="0" smtClean="0"/>
              <a:t>deny</a:t>
            </a:r>
            <a:r>
              <a:rPr lang="zh-CN" altLang="en-US" dirty="0" smtClean="0"/>
              <a:t>，则没有路由能通过该过滤器的过滤，这种情况下需要在多次（或一次）</a:t>
            </a:r>
            <a:r>
              <a:rPr lang="en-US" altLang="zh-CN" dirty="0" smtClean="0"/>
              <a:t>deny</a:t>
            </a:r>
            <a:r>
              <a:rPr lang="zh-CN" altLang="en-US" dirty="0" smtClean="0"/>
              <a:t>之后设置一次</a:t>
            </a:r>
            <a:r>
              <a:rPr lang="en-US" altLang="zh-CN" dirty="0" smtClean="0"/>
              <a:t>permit</a:t>
            </a:r>
            <a:r>
              <a:rPr lang="zh-CN" altLang="en-US" dirty="0" smtClean="0"/>
              <a:t>，允许其余所有路由通过过滤器的过滤。</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2659535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803481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533843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315455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smtClean="0"/>
              <a:t>Community</a:t>
            </a:r>
            <a:r>
              <a:rPr lang="zh-CN" altLang="en-US" smtClean="0"/>
              <a:t>属性为可选过渡属性，可以标识具有相同特征的路由，而不用考虑零散路由前缀和繁多的</a:t>
            </a:r>
            <a:r>
              <a:rPr lang="en-US" altLang="zh-CN" smtClean="0"/>
              <a:t>AS</a:t>
            </a:r>
            <a:r>
              <a:rPr lang="zh-CN" altLang="en-US" smtClean="0"/>
              <a:t>号。即可以将某些路由分配特定的</a:t>
            </a:r>
            <a:r>
              <a:rPr lang="en-US" altLang="zh-CN" smtClean="0"/>
              <a:t>Community</a:t>
            </a:r>
            <a:r>
              <a:rPr lang="zh-CN" altLang="en-US" smtClean="0"/>
              <a:t>属性值，之后就可以基于</a:t>
            </a:r>
            <a:r>
              <a:rPr lang="en-US" altLang="zh-CN" smtClean="0"/>
              <a:t>Community</a:t>
            </a:r>
            <a:r>
              <a:rPr lang="zh-CN" altLang="en-US" smtClean="0"/>
              <a:t>值而不是网络号</a:t>
            </a:r>
            <a:r>
              <a:rPr lang="en-US" altLang="zh-CN" smtClean="0"/>
              <a:t>/</a:t>
            </a:r>
            <a:r>
              <a:rPr lang="zh-CN" altLang="en-US" smtClean="0"/>
              <a:t>掩码来匹配路由并执行相应的路由策略。</a:t>
            </a:r>
            <a:endParaRPr lang="en-US" altLang="zh-CN" dirty="0" smtClean="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2389025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408143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smtClean="0"/>
              <a:t>命令：</a:t>
            </a:r>
            <a:r>
              <a:rPr lang="en-US" altLang="zh-CN" dirty="0" smtClean="0"/>
              <a:t>[Huawei-route-policy] </a:t>
            </a:r>
            <a:r>
              <a:rPr lang="en-US" altLang="zh-CN" b="1" dirty="0" smtClean="0"/>
              <a:t>apply community </a:t>
            </a:r>
            <a:r>
              <a:rPr lang="en-US" altLang="zh-CN" dirty="0" smtClean="0"/>
              <a:t>{ </a:t>
            </a:r>
            <a:r>
              <a:rPr lang="en-US" altLang="zh-CN" i="1" dirty="0" smtClean="0"/>
              <a:t>community-number</a:t>
            </a:r>
            <a:r>
              <a:rPr lang="en-US" altLang="zh-CN" dirty="0" smtClean="0"/>
              <a:t> | </a:t>
            </a:r>
            <a:r>
              <a:rPr lang="en-US" altLang="zh-CN" i="1" dirty="0" err="1" smtClean="0"/>
              <a:t>aa:nn</a:t>
            </a:r>
            <a:r>
              <a:rPr lang="en-US" altLang="zh-CN" dirty="0" smtClean="0"/>
              <a:t> | </a:t>
            </a:r>
            <a:r>
              <a:rPr lang="en-US" altLang="zh-CN" b="1" dirty="0" smtClean="0"/>
              <a:t>internet | no-advertise | no-export | no-export-</a:t>
            </a:r>
            <a:r>
              <a:rPr lang="en-US" altLang="zh-CN" b="1" dirty="0" err="1" smtClean="0"/>
              <a:t>subconfed</a:t>
            </a:r>
            <a:r>
              <a:rPr lang="en-US" altLang="zh-CN" dirty="0" smtClean="0"/>
              <a:t> } [ </a:t>
            </a:r>
            <a:r>
              <a:rPr lang="en-US" altLang="zh-CN" b="1" dirty="0" smtClean="0"/>
              <a:t>additive </a:t>
            </a:r>
            <a:r>
              <a:rPr lang="en-US" altLang="zh-CN" dirty="0" smtClean="0"/>
              <a:t>]</a:t>
            </a:r>
            <a:endParaRPr lang="zh-CN" altLang="en-US" dirty="0" smtClean="0"/>
          </a:p>
          <a:p>
            <a:pPr lvl="1"/>
            <a:r>
              <a:rPr lang="en-US" altLang="zh-CN" i="1" dirty="0" smtClean="0"/>
              <a:t>community-number </a:t>
            </a:r>
            <a:r>
              <a:rPr lang="en-US" altLang="zh-CN" dirty="0" smtClean="0"/>
              <a:t>| </a:t>
            </a:r>
            <a:r>
              <a:rPr lang="en-US" altLang="zh-CN" i="1" dirty="0" err="1" smtClean="0"/>
              <a:t>aa:nn</a:t>
            </a:r>
            <a:r>
              <a:rPr lang="zh-CN" altLang="en-US" i="1" dirty="0" smtClean="0"/>
              <a:t>：</a:t>
            </a:r>
            <a:r>
              <a:rPr lang="zh-CN" altLang="en-US" dirty="0" smtClean="0"/>
              <a:t>指定团体属性中的团体号。一条命令中最多可以配置</a:t>
            </a:r>
            <a:r>
              <a:rPr lang="en-US" altLang="zh-CN" dirty="0" smtClean="0"/>
              <a:t>32</a:t>
            </a:r>
            <a:r>
              <a:rPr lang="zh-CN" altLang="en-US" dirty="0" smtClean="0"/>
              <a:t>个团体号。整数形式，</a:t>
            </a:r>
            <a:r>
              <a:rPr lang="en-US" altLang="zh-CN" dirty="0" smtClean="0"/>
              <a:t>community-number</a:t>
            </a:r>
            <a:r>
              <a:rPr lang="zh-CN" altLang="en-US" dirty="0" smtClean="0"/>
              <a:t>的取值范围是</a:t>
            </a:r>
            <a:r>
              <a:rPr lang="en-US" altLang="zh-CN" dirty="0" smtClean="0"/>
              <a:t>0~4294967295</a:t>
            </a:r>
            <a:r>
              <a:rPr lang="zh-CN" altLang="en-US" dirty="0" smtClean="0"/>
              <a:t>，</a:t>
            </a:r>
            <a:r>
              <a:rPr lang="en-US" altLang="zh-CN" i="1" dirty="0" err="1" smtClean="0"/>
              <a:t>aa</a:t>
            </a:r>
            <a:r>
              <a:rPr lang="zh-CN" altLang="en-US" dirty="0" smtClean="0"/>
              <a:t>和</a:t>
            </a:r>
            <a:r>
              <a:rPr lang="en-US" altLang="zh-CN" i="1" dirty="0" err="1" smtClean="0"/>
              <a:t>nn</a:t>
            </a:r>
            <a:r>
              <a:rPr lang="zh-CN" altLang="en-US" dirty="0" smtClean="0"/>
              <a:t>的取值范围都是</a:t>
            </a:r>
            <a:r>
              <a:rPr lang="en-US" altLang="zh-CN" dirty="0" smtClean="0"/>
              <a:t>0~65535</a:t>
            </a:r>
            <a:r>
              <a:rPr lang="zh-CN" altLang="en-US" dirty="0" smtClean="0"/>
              <a:t>。</a:t>
            </a:r>
            <a:endParaRPr lang="en-US" altLang="zh-CN" dirty="0" smtClean="0"/>
          </a:p>
          <a:p>
            <a:pPr lvl="1"/>
            <a:r>
              <a:rPr lang="en-US" altLang="zh-CN" b="1" dirty="0" smtClean="0"/>
              <a:t>internet</a:t>
            </a:r>
            <a:r>
              <a:rPr lang="zh-CN" altLang="en-US" b="1" dirty="0" smtClean="0"/>
              <a:t>：</a:t>
            </a:r>
            <a:r>
              <a:rPr lang="zh-CN" altLang="en-US" dirty="0" smtClean="0"/>
              <a:t>表示可以向任何对等体发送匹配的路由。缺省情况下，所有的路由都属于</a:t>
            </a:r>
            <a:r>
              <a:rPr lang="en-US" altLang="zh-CN" dirty="0" smtClean="0"/>
              <a:t>Internet</a:t>
            </a:r>
            <a:r>
              <a:rPr lang="zh-CN" altLang="en-US" dirty="0" smtClean="0"/>
              <a:t>团体。</a:t>
            </a:r>
            <a:endParaRPr lang="en-US" altLang="zh-CN" dirty="0" smtClean="0"/>
          </a:p>
          <a:p>
            <a:pPr lvl="1"/>
            <a:r>
              <a:rPr lang="en-US" altLang="zh-CN" b="1" dirty="0" smtClean="0"/>
              <a:t>no-advertise</a:t>
            </a:r>
            <a:r>
              <a:rPr lang="zh-CN" altLang="en-US" b="1" dirty="0" smtClean="0"/>
              <a:t>：</a:t>
            </a:r>
            <a:r>
              <a:rPr lang="zh-CN" altLang="en-US" dirty="0" smtClean="0"/>
              <a:t>表示不向任何对等体发送匹配的路由。即收到具有此属性的路由后，不能发布给任何其他的</a:t>
            </a:r>
            <a:r>
              <a:rPr lang="en-US" altLang="zh-CN" dirty="0" smtClean="0"/>
              <a:t>BGP</a:t>
            </a:r>
            <a:r>
              <a:rPr lang="zh-CN" altLang="en-US" dirty="0" smtClean="0"/>
              <a:t>对等体。</a:t>
            </a:r>
            <a:endParaRPr lang="en-US" altLang="zh-CN" dirty="0" smtClean="0"/>
          </a:p>
          <a:p>
            <a:pPr lvl="1"/>
            <a:r>
              <a:rPr lang="en-US" altLang="zh-CN" b="1" dirty="0" smtClean="0"/>
              <a:t>no-export</a:t>
            </a:r>
            <a:r>
              <a:rPr lang="zh-CN" altLang="en-US" b="1" dirty="0" smtClean="0"/>
              <a:t>：</a:t>
            </a:r>
            <a:r>
              <a:rPr lang="zh-CN" altLang="en-US" dirty="0" smtClean="0"/>
              <a:t>表示不向</a:t>
            </a:r>
            <a:r>
              <a:rPr lang="en-US" altLang="zh-CN" dirty="0" smtClean="0"/>
              <a:t>AS</a:t>
            </a:r>
            <a:r>
              <a:rPr lang="zh-CN" altLang="en-US" dirty="0" smtClean="0"/>
              <a:t>外发送匹配的路由，但发布给其它子自治系统。即收到具有此属性的路由后，不能发布到本地</a:t>
            </a:r>
            <a:r>
              <a:rPr lang="en-US" altLang="zh-CN" dirty="0" smtClean="0"/>
              <a:t>AS</a:t>
            </a:r>
            <a:r>
              <a:rPr lang="zh-CN" altLang="en-US" dirty="0" smtClean="0"/>
              <a:t>之外。</a:t>
            </a:r>
            <a:endParaRPr lang="en-US" altLang="zh-CN" dirty="0" smtClean="0"/>
          </a:p>
          <a:p>
            <a:pPr lvl="1"/>
            <a:r>
              <a:rPr lang="en-US" altLang="zh-CN" b="1" dirty="0" smtClean="0"/>
              <a:t>no-export-</a:t>
            </a:r>
            <a:r>
              <a:rPr lang="en-US" altLang="zh-CN" b="1" dirty="0" err="1" smtClean="0"/>
              <a:t>subconfed</a:t>
            </a:r>
            <a:r>
              <a:rPr lang="zh-CN" altLang="en-US" b="1" dirty="0" smtClean="0"/>
              <a:t>：</a:t>
            </a:r>
            <a:r>
              <a:rPr lang="zh-CN" altLang="en-US" dirty="0" smtClean="0"/>
              <a:t>表示不向</a:t>
            </a:r>
            <a:r>
              <a:rPr lang="en-US" altLang="zh-CN" dirty="0" smtClean="0"/>
              <a:t>AS</a:t>
            </a:r>
            <a:r>
              <a:rPr lang="zh-CN" altLang="en-US" dirty="0" smtClean="0"/>
              <a:t>外发送匹配的路由，也不发布给其它子自治系统，即收到具有此属性的路由后，不能发布给任何其他的子自治系统。</a:t>
            </a:r>
            <a:endParaRPr lang="en-US" altLang="zh-CN" dirty="0" smtClean="0"/>
          </a:p>
          <a:p>
            <a:pPr lvl="1"/>
            <a:r>
              <a:rPr lang="en-US" altLang="zh-CN" b="1" dirty="0" smtClean="0"/>
              <a:t>additive</a:t>
            </a:r>
            <a:r>
              <a:rPr lang="zh-CN" altLang="en-US" b="1" dirty="0" smtClean="0"/>
              <a:t>：</a:t>
            </a:r>
            <a:r>
              <a:rPr lang="zh-CN" altLang="en-US" dirty="0" smtClean="0"/>
              <a:t>表示追加路由的团体属性。</a:t>
            </a:r>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0405596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smtClean="0"/>
              <a:t>命令：</a:t>
            </a:r>
            <a:r>
              <a:rPr lang="en-US" altLang="zh-CN" dirty="0" smtClean="0"/>
              <a:t>[Huawei] </a:t>
            </a:r>
            <a:r>
              <a:rPr lang="en-US" altLang="zh-CN" b="1" dirty="0" err="1" smtClean="0"/>
              <a:t>ip</a:t>
            </a:r>
            <a:r>
              <a:rPr lang="en-US" altLang="zh-CN" b="1" dirty="0" smtClean="0"/>
              <a:t> community-filter</a:t>
            </a:r>
            <a:r>
              <a:rPr lang="en-US" altLang="zh-CN" dirty="0" smtClean="0"/>
              <a:t> {</a:t>
            </a:r>
            <a:r>
              <a:rPr lang="en-US" altLang="zh-CN" b="1" dirty="0" smtClean="0"/>
              <a:t> basic</a:t>
            </a:r>
            <a:r>
              <a:rPr lang="en-US" altLang="zh-CN" dirty="0" smtClean="0"/>
              <a:t> </a:t>
            </a:r>
            <a:r>
              <a:rPr lang="en-US" altLang="zh-CN" i="1" dirty="0" err="1" smtClean="0"/>
              <a:t>comm</a:t>
            </a:r>
            <a:r>
              <a:rPr lang="en-US" altLang="zh-CN" i="1" dirty="0" smtClean="0"/>
              <a:t>-filter-name | basic-</a:t>
            </a:r>
            <a:r>
              <a:rPr lang="en-US" altLang="zh-CN" i="1" dirty="0" err="1" smtClean="0"/>
              <a:t>comm</a:t>
            </a:r>
            <a:r>
              <a:rPr lang="en-US" altLang="zh-CN" i="1" dirty="0" smtClean="0"/>
              <a:t>-filter-</a:t>
            </a:r>
            <a:r>
              <a:rPr lang="en-US" altLang="zh-CN" i="1" dirty="0" err="1" smtClean="0"/>
              <a:t>num</a:t>
            </a:r>
            <a:r>
              <a:rPr lang="en-US" altLang="zh-CN" i="1" dirty="0" smtClean="0"/>
              <a:t> </a:t>
            </a:r>
            <a:r>
              <a:rPr lang="en-US" altLang="zh-CN" dirty="0" smtClean="0"/>
              <a:t>} { </a:t>
            </a:r>
            <a:r>
              <a:rPr lang="en-US" altLang="zh-CN" b="1" dirty="0" smtClean="0"/>
              <a:t>permit | deny </a:t>
            </a:r>
            <a:r>
              <a:rPr lang="en-US" altLang="zh-CN" dirty="0" smtClean="0"/>
              <a:t>} [</a:t>
            </a:r>
            <a:r>
              <a:rPr lang="en-US" altLang="zh-CN" i="1" dirty="0" smtClean="0"/>
              <a:t> community-number | </a:t>
            </a:r>
            <a:r>
              <a:rPr lang="en-US" altLang="zh-CN" i="1" dirty="0" err="1" smtClean="0"/>
              <a:t>aa:nn</a:t>
            </a:r>
            <a:r>
              <a:rPr lang="en-US" altLang="zh-CN" i="1" dirty="0" smtClean="0"/>
              <a:t> </a:t>
            </a:r>
            <a:r>
              <a:rPr lang="en-US" altLang="zh-CN" dirty="0" smtClean="0"/>
              <a:t>| </a:t>
            </a:r>
            <a:r>
              <a:rPr lang="en-US" altLang="zh-CN" b="1" dirty="0" smtClean="0"/>
              <a:t>internet | no-export-</a:t>
            </a:r>
            <a:r>
              <a:rPr lang="en-US" altLang="zh-CN" b="1" dirty="0" err="1" smtClean="0"/>
              <a:t>subconfed</a:t>
            </a:r>
            <a:r>
              <a:rPr lang="en-US" altLang="zh-CN" b="1" dirty="0" smtClean="0"/>
              <a:t> | no-advertise | no-export </a:t>
            </a:r>
            <a:r>
              <a:rPr lang="en-US" altLang="zh-CN" dirty="0" smtClean="0"/>
              <a:t>] </a:t>
            </a:r>
          </a:p>
          <a:p>
            <a:pPr lvl="1"/>
            <a:r>
              <a:rPr lang="en-US" altLang="zh-CN" i="1" dirty="0" smtClean="0"/>
              <a:t>basic </a:t>
            </a:r>
            <a:r>
              <a:rPr lang="en-US" altLang="zh-CN" i="1" dirty="0" err="1" smtClean="0"/>
              <a:t>comm</a:t>
            </a:r>
            <a:r>
              <a:rPr lang="en-US" altLang="zh-CN" i="1" dirty="0" smtClean="0"/>
              <a:t>-filter-name</a:t>
            </a:r>
            <a:r>
              <a:rPr lang="zh-CN" altLang="en-US" i="1" dirty="0" smtClean="0"/>
              <a:t>：</a:t>
            </a:r>
            <a:r>
              <a:rPr lang="zh-CN" altLang="en-US" dirty="0" smtClean="0"/>
              <a:t>指定基本团体属性过滤器名称。字符串形式，区分大小写，取值范围是</a:t>
            </a:r>
            <a:r>
              <a:rPr lang="en-US" altLang="zh-CN" dirty="0" smtClean="0"/>
              <a:t>1~51</a:t>
            </a:r>
            <a:r>
              <a:rPr lang="zh-CN" altLang="en-US" dirty="0" smtClean="0"/>
              <a:t>个字符，且不能都是数字。</a:t>
            </a:r>
          </a:p>
          <a:p>
            <a:pPr lvl="1"/>
            <a:r>
              <a:rPr lang="en-US" altLang="zh-CN" i="1" dirty="0" smtClean="0"/>
              <a:t>basic-</a:t>
            </a:r>
            <a:r>
              <a:rPr lang="en-US" altLang="zh-CN" i="1" dirty="0" err="1" smtClean="0"/>
              <a:t>comm</a:t>
            </a:r>
            <a:r>
              <a:rPr lang="en-US" altLang="zh-CN" i="1" dirty="0" smtClean="0"/>
              <a:t>-filter-</a:t>
            </a:r>
            <a:r>
              <a:rPr lang="en-US" altLang="zh-CN" i="1" dirty="0" err="1" smtClean="0"/>
              <a:t>num</a:t>
            </a:r>
            <a:r>
              <a:rPr lang="zh-CN" altLang="en-US" i="1" dirty="0" smtClean="0"/>
              <a:t>：</a:t>
            </a:r>
            <a:r>
              <a:rPr lang="zh-CN" altLang="en-US" dirty="0" smtClean="0"/>
              <a:t>指定基本团体属性过滤器号。整数形式，取值范围</a:t>
            </a:r>
            <a:r>
              <a:rPr lang="en-US" altLang="zh-CN" dirty="0" smtClean="0"/>
              <a:t>1~99</a:t>
            </a:r>
            <a:r>
              <a:rPr lang="zh-CN" altLang="en-US" dirty="0" smtClean="0"/>
              <a:t>。</a:t>
            </a:r>
          </a:p>
          <a:p>
            <a:pPr lvl="1"/>
            <a:r>
              <a:rPr lang="en-US" altLang="zh-CN" b="1" dirty="0" smtClean="0"/>
              <a:t>deny</a:t>
            </a:r>
            <a:r>
              <a:rPr lang="zh-CN" altLang="en-US" b="1" dirty="0" smtClean="0"/>
              <a:t>：</a:t>
            </a:r>
            <a:r>
              <a:rPr lang="zh-CN" altLang="en-US" dirty="0" smtClean="0"/>
              <a:t>指定团体属性过滤器的匹配模式为拒绝。</a:t>
            </a:r>
            <a:endParaRPr lang="en-US" altLang="zh-CN" dirty="0" smtClean="0"/>
          </a:p>
          <a:p>
            <a:pPr lvl="1"/>
            <a:r>
              <a:rPr lang="en-US" altLang="zh-CN" b="1" dirty="0" smtClean="0"/>
              <a:t>permit</a:t>
            </a:r>
            <a:r>
              <a:rPr lang="zh-CN" altLang="en-US" b="1" dirty="0" smtClean="0"/>
              <a:t>：</a:t>
            </a:r>
            <a:r>
              <a:rPr lang="zh-CN" altLang="en-US" dirty="0" smtClean="0"/>
              <a:t>指定团体属性过滤器的匹配模式为允许。</a:t>
            </a:r>
            <a:endParaRPr lang="zh-CN" altLang="en-US" b="1" dirty="0" smtClean="0"/>
          </a:p>
          <a:p>
            <a:pPr lvl="1"/>
            <a:r>
              <a:rPr lang="en-US" altLang="zh-CN" i="1" dirty="0" smtClean="0"/>
              <a:t>community-number</a:t>
            </a:r>
            <a:r>
              <a:rPr lang="zh-CN" altLang="en-US" i="1" dirty="0" smtClean="0"/>
              <a:t>：</a:t>
            </a:r>
            <a:r>
              <a:rPr lang="zh-CN" altLang="en-US" dirty="0" smtClean="0"/>
              <a:t>指定团体号。整数形式，取值范围</a:t>
            </a:r>
            <a:r>
              <a:rPr lang="en-US" altLang="zh-CN" dirty="0" smtClean="0"/>
              <a:t>0~4294967295</a:t>
            </a:r>
            <a:r>
              <a:rPr lang="zh-CN" altLang="en-US" dirty="0" smtClean="0"/>
              <a:t>。</a:t>
            </a:r>
            <a:endParaRPr lang="en-US" altLang="zh-CN" dirty="0" smtClean="0"/>
          </a:p>
          <a:p>
            <a:pPr lvl="1"/>
            <a:r>
              <a:rPr lang="en-US" altLang="zh-CN" i="1" dirty="0" err="1" smtClean="0"/>
              <a:t>aa:nn</a:t>
            </a:r>
            <a:r>
              <a:rPr lang="zh-CN" altLang="en-US" i="1" dirty="0" smtClean="0"/>
              <a:t>：</a:t>
            </a:r>
            <a:r>
              <a:rPr lang="zh-CN" altLang="en-US" dirty="0" smtClean="0"/>
              <a:t>指定团体号。一条命令最多可以指定</a:t>
            </a:r>
            <a:r>
              <a:rPr lang="en-US" altLang="zh-CN" dirty="0" smtClean="0"/>
              <a:t>20</a:t>
            </a:r>
            <a:r>
              <a:rPr lang="zh-CN" altLang="en-US" dirty="0" smtClean="0"/>
              <a:t>个团体属性号。</a:t>
            </a:r>
            <a:r>
              <a:rPr lang="en-US" altLang="zh-CN" i="1" dirty="0" err="1" smtClean="0"/>
              <a:t>aa</a:t>
            </a:r>
            <a:r>
              <a:rPr lang="zh-CN" altLang="en-US" dirty="0" smtClean="0"/>
              <a:t>和</a:t>
            </a:r>
            <a:r>
              <a:rPr lang="en-US" altLang="zh-CN" i="1" dirty="0" err="1" smtClean="0"/>
              <a:t>nn</a:t>
            </a:r>
            <a:r>
              <a:rPr lang="zh-CN" altLang="en-US" dirty="0" smtClean="0"/>
              <a:t>都是整数形式，取值范围都是</a:t>
            </a:r>
            <a:r>
              <a:rPr lang="en-US" altLang="zh-CN" dirty="0" smtClean="0"/>
              <a:t>0~65535</a:t>
            </a:r>
            <a:r>
              <a:rPr lang="zh-CN" altLang="en-US" dirty="0" smtClean="0"/>
              <a:t>。</a:t>
            </a:r>
            <a:endParaRPr lang="en-US" altLang="zh-CN" i="1" dirty="0" smtClean="0"/>
          </a:p>
          <a:p>
            <a:pPr lvl="1"/>
            <a:r>
              <a:rPr lang="en-US" altLang="zh-CN" b="1" dirty="0" smtClean="0"/>
              <a:t>internet</a:t>
            </a:r>
            <a:r>
              <a:rPr lang="zh-CN" altLang="en-US" b="1" dirty="0" smtClean="0"/>
              <a:t>：</a:t>
            </a:r>
            <a:r>
              <a:rPr lang="zh-CN" altLang="en-US" dirty="0" smtClean="0"/>
              <a:t>表示可以向任何对等体发送匹配的路由。</a:t>
            </a:r>
            <a:endParaRPr lang="en-US" altLang="zh-CN" dirty="0" smtClean="0"/>
          </a:p>
          <a:p>
            <a:pPr lvl="1"/>
            <a:r>
              <a:rPr lang="en-US" altLang="zh-CN" b="1" dirty="0" smtClean="0"/>
              <a:t>no-export-</a:t>
            </a:r>
            <a:r>
              <a:rPr lang="en-US" altLang="zh-CN" b="1" dirty="0" err="1" smtClean="0"/>
              <a:t>subconfed</a:t>
            </a:r>
            <a:r>
              <a:rPr lang="zh-CN" altLang="en-US" b="1" dirty="0" smtClean="0"/>
              <a:t>：</a:t>
            </a:r>
            <a:r>
              <a:rPr lang="zh-CN" altLang="en-US" dirty="0" smtClean="0"/>
              <a:t>指定不向自治系统外部通告路由。如果使用了联盟，则不会向联盟中的其他子自治系统通告路由。</a:t>
            </a:r>
            <a:endParaRPr lang="en-US" altLang="zh-CN" dirty="0" smtClean="0"/>
          </a:p>
          <a:p>
            <a:pPr lvl="1"/>
            <a:r>
              <a:rPr lang="en-US" altLang="zh-CN" b="1" dirty="0" smtClean="0"/>
              <a:t>no-advertise</a:t>
            </a:r>
            <a:r>
              <a:rPr lang="zh-CN" altLang="en-US" b="1" dirty="0" smtClean="0"/>
              <a:t>：</a:t>
            </a:r>
            <a:r>
              <a:rPr lang="zh-CN" altLang="en-US" dirty="0" smtClean="0"/>
              <a:t>指定不通告给其他对等体。</a:t>
            </a:r>
            <a:endParaRPr lang="en-US" altLang="zh-CN" dirty="0" smtClean="0"/>
          </a:p>
          <a:p>
            <a:pPr lvl="1"/>
            <a:r>
              <a:rPr lang="en-US" altLang="zh-CN" b="1" dirty="0" smtClean="0"/>
              <a:t>no-export</a:t>
            </a:r>
            <a:r>
              <a:rPr lang="zh-CN" altLang="en-US" b="1" dirty="0" smtClean="0"/>
              <a:t>：</a:t>
            </a:r>
            <a:r>
              <a:rPr lang="zh-CN" altLang="en-US" dirty="0" smtClean="0"/>
              <a:t>指定不向自治系统外部通告路由。如果使用了联盟，则不向联盟外部通告路由，但会通告给联盟中的其他子自治系统。</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6543025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728663"/>
            <a:ext cx="5580062" cy="8366172"/>
          </a:xfrm>
        </p:spPr>
        <p:txBody>
          <a:bodyPr/>
          <a:lstStyle/>
          <a:p>
            <a:pPr lvl="0"/>
            <a:r>
              <a:rPr lang="zh-CN" altLang="en-US" dirty="0" smtClean="0"/>
              <a:t>命令：</a:t>
            </a:r>
            <a:r>
              <a:rPr lang="en-US" altLang="zh-CN" dirty="0" smtClean="0"/>
              <a:t>[Huawei] </a:t>
            </a:r>
            <a:r>
              <a:rPr lang="en-US" altLang="zh-CN" b="1" dirty="0" err="1" smtClean="0"/>
              <a:t>ip</a:t>
            </a:r>
            <a:r>
              <a:rPr lang="en-US" altLang="zh-CN" b="1" dirty="0" smtClean="0"/>
              <a:t> community-filter</a:t>
            </a:r>
            <a:r>
              <a:rPr lang="en-US" altLang="zh-CN" dirty="0" smtClean="0"/>
              <a:t> { </a:t>
            </a:r>
            <a:r>
              <a:rPr lang="en-US" altLang="zh-CN" b="1" dirty="0" smtClean="0"/>
              <a:t>advanced </a:t>
            </a:r>
            <a:r>
              <a:rPr lang="en-US" altLang="zh-CN" i="1" dirty="0" err="1" smtClean="0"/>
              <a:t>comm</a:t>
            </a:r>
            <a:r>
              <a:rPr lang="en-US" altLang="zh-CN" i="1" dirty="0" smtClean="0"/>
              <a:t>-filter-name | </a:t>
            </a:r>
            <a:r>
              <a:rPr lang="en-US" altLang="zh-CN" i="1" dirty="0" err="1" smtClean="0"/>
              <a:t>adv</a:t>
            </a:r>
            <a:r>
              <a:rPr lang="en-US" altLang="zh-CN" i="1" dirty="0" smtClean="0"/>
              <a:t>-</a:t>
            </a:r>
            <a:r>
              <a:rPr lang="en-US" altLang="zh-CN" i="1" dirty="0" err="1" smtClean="0"/>
              <a:t>comm</a:t>
            </a:r>
            <a:r>
              <a:rPr lang="en-US" altLang="zh-CN" i="1" dirty="0" smtClean="0"/>
              <a:t>-filter-</a:t>
            </a:r>
            <a:r>
              <a:rPr lang="en-US" altLang="zh-CN" i="1" dirty="0" err="1" smtClean="0"/>
              <a:t>num</a:t>
            </a:r>
            <a:r>
              <a:rPr lang="en-US" altLang="zh-CN" dirty="0" smtClean="0"/>
              <a:t> } { </a:t>
            </a:r>
            <a:r>
              <a:rPr lang="en-US" altLang="zh-CN" b="1" dirty="0" smtClean="0"/>
              <a:t>permit | deny</a:t>
            </a:r>
            <a:r>
              <a:rPr lang="en-US" altLang="zh-CN" dirty="0" smtClean="0"/>
              <a:t> } </a:t>
            </a:r>
            <a:r>
              <a:rPr lang="en-US" altLang="zh-CN" b="1" dirty="0" smtClean="0"/>
              <a:t>regular-expression</a:t>
            </a:r>
            <a:endParaRPr lang="zh-CN" altLang="en-US" b="1" dirty="0" smtClean="0"/>
          </a:p>
          <a:p>
            <a:pPr lvl="1"/>
            <a:r>
              <a:rPr lang="en-US" altLang="zh-CN" b="1" dirty="0" smtClean="0"/>
              <a:t>advanced</a:t>
            </a:r>
            <a:r>
              <a:rPr lang="en-US" altLang="zh-CN" dirty="0" smtClean="0"/>
              <a:t> </a:t>
            </a:r>
            <a:r>
              <a:rPr lang="en-US" altLang="zh-CN" i="1" dirty="0" err="1" smtClean="0"/>
              <a:t>comm</a:t>
            </a:r>
            <a:r>
              <a:rPr lang="en-US" altLang="zh-CN" i="1" dirty="0" smtClean="0"/>
              <a:t>-filter-name</a:t>
            </a:r>
            <a:r>
              <a:rPr lang="zh-CN" altLang="en-US" i="1" dirty="0" smtClean="0"/>
              <a:t>：</a:t>
            </a:r>
            <a:r>
              <a:rPr lang="zh-CN" altLang="en-US" dirty="0" smtClean="0"/>
              <a:t>指定高级团体属性过滤器名称。字符串形式，区分大小写，取值范围是</a:t>
            </a:r>
            <a:r>
              <a:rPr lang="en-US" altLang="zh-CN" dirty="0" smtClean="0"/>
              <a:t>1~51</a:t>
            </a:r>
            <a:r>
              <a:rPr lang="zh-CN" altLang="en-US" dirty="0" smtClean="0"/>
              <a:t>个字符，且不能都是数字。</a:t>
            </a:r>
            <a:endParaRPr lang="en-US" altLang="zh-CN" dirty="0" smtClean="0"/>
          </a:p>
          <a:p>
            <a:pPr lvl="1"/>
            <a:r>
              <a:rPr lang="en-US" altLang="zh-CN" i="1" dirty="0" err="1" smtClean="0"/>
              <a:t>adv</a:t>
            </a:r>
            <a:r>
              <a:rPr lang="en-US" altLang="zh-CN" i="1" dirty="0" smtClean="0"/>
              <a:t>-</a:t>
            </a:r>
            <a:r>
              <a:rPr lang="en-US" altLang="zh-CN" i="1" dirty="0" err="1" smtClean="0"/>
              <a:t>comm</a:t>
            </a:r>
            <a:r>
              <a:rPr lang="en-US" altLang="zh-CN" i="1" dirty="0" smtClean="0"/>
              <a:t>-filter-</a:t>
            </a:r>
            <a:r>
              <a:rPr lang="en-US" altLang="zh-CN" i="1" dirty="0" err="1" smtClean="0"/>
              <a:t>num</a:t>
            </a:r>
            <a:r>
              <a:rPr lang="zh-CN" altLang="en-US" i="1" dirty="0" smtClean="0"/>
              <a:t>：</a:t>
            </a:r>
            <a:r>
              <a:rPr lang="zh-CN" altLang="en-US" dirty="0" smtClean="0"/>
              <a:t>指定高级团体属性过滤器号。整数形式，取值范围</a:t>
            </a:r>
            <a:r>
              <a:rPr lang="en-US" altLang="zh-CN" dirty="0" smtClean="0"/>
              <a:t>100~199</a:t>
            </a:r>
            <a:r>
              <a:rPr lang="zh-CN" altLang="en-US" dirty="0" smtClean="0"/>
              <a:t>。</a:t>
            </a:r>
          </a:p>
          <a:p>
            <a:pPr lvl="1"/>
            <a:r>
              <a:rPr lang="en-US" altLang="zh-CN" b="1" dirty="0" smtClean="0"/>
              <a:t>regular-expression</a:t>
            </a:r>
            <a:r>
              <a:rPr lang="zh-CN" altLang="en-US" b="1" dirty="0" smtClean="0"/>
              <a:t>：</a:t>
            </a:r>
            <a:r>
              <a:rPr lang="zh-CN" altLang="en-US" dirty="0" smtClean="0"/>
              <a:t>指定团体属性正则表达式。字符串形式，支持空格，区分大小写，取值范围是</a:t>
            </a:r>
            <a:r>
              <a:rPr lang="en-US" altLang="zh-CN" dirty="0" smtClean="0"/>
              <a:t>1~255</a:t>
            </a:r>
            <a:r>
              <a:rPr lang="zh-CN" altLang="en-US" dirty="0" smtClean="0"/>
              <a:t>。</a:t>
            </a:r>
            <a:endParaRPr lang="en-US" altLang="zh-CN" dirty="0" smtClean="0"/>
          </a:p>
          <a:p>
            <a:pPr lvl="0" fontAlgn="auto">
              <a:defRPr/>
            </a:pPr>
            <a:r>
              <a:rPr lang="zh-CN" altLang="en-US" dirty="0" smtClean="0"/>
              <a:t>命令：</a:t>
            </a:r>
            <a:r>
              <a:rPr lang="en-US" altLang="zh-CN" dirty="0" smtClean="0">
                <a:cs typeface="Courier New" panose="02070309020205020404" pitchFamily="49" charset="0"/>
              </a:rPr>
              <a:t>[Huawei-route-policy] </a:t>
            </a:r>
            <a:r>
              <a:rPr lang="en-US" altLang="zh-CN" b="1" dirty="0" smtClean="0"/>
              <a:t>if-match community-filter</a:t>
            </a:r>
            <a:r>
              <a:rPr lang="en-US" altLang="zh-CN" dirty="0" smtClean="0"/>
              <a:t> { </a:t>
            </a:r>
            <a:r>
              <a:rPr lang="en-US" altLang="zh-CN" i="1" dirty="0" smtClean="0"/>
              <a:t>basic-</a:t>
            </a:r>
            <a:r>
              <a:rPr lang="en-US" altLang="zh-CN" i="1" dirty="0" err="1" smtClean="0"/>
              <a:t>comm</a:t>
            </a:r>
            <a:r>
              <a:rPr lang="en-US" altLang="zh-CN" i="1" dirty="0" smtClean="0"/>
              <a:t>-filter-</a:t>
            </a:r>
            <a:r>
              <a:rPr lang="en-US" altLang="zh-CN" i="1" dirty="0" err="1" smtClean="0"/>
              <a:t>num</a:t>
            </a:r>
            <a:r>
              <a:rPr lang="en-US" altLang="zh-CN" dirty="0" smtClean="0"/>
              <a:t> [ </a:t>
            </a:r>
            <a:r>
              <a:rPr lang="en-US" altLang="zh-CN" b="1" dirty="0" smtClean="0"/>
              <a:t>whole-match</a:t>
            </a:r>
            <a:r>
              <a:rPr lang="en-US" altLang="zh-CN" dirty="0" smtClean="0"/>
              <a:t> ] | </a:t>
            </a:r>
            <a:r>
              <a:rPr lang="en-US" altLang="zh-CN" i="1" dirty="0" err="1" smtClean="0"/>
              <a:t>adv</a:t>
            </a:r>
            <a:r>
              <a:rPr lang="en-US" altLang="zh-CN" i="1" dirty="0" smtClean="0"/>
              <a:t>-</a:t>
            </a:r>
            <a:r>
              <a:rPr lang="en-US" altLang="zh-CN" i="1" dirty="0" err="1" smtClean="0"/>
              <a:t>comm</a:t>
            </a:r>
            <a:r>
              <a:rPr lang="en-US" altLang="zh-CN" i="1" dirty="0" smtClean="0"/>
              <a:t>-filter-</a:t>
            </a:r>
            <a:r>
              <a:rPr lang="en-US" altLang="zh-CN" i="1" dirty="0" err="1" smtClean="0"/>
              <a:t>num</a:t>
            </a:r>
            <a:r>
              <a:rPr lang="en-US" altLang="zh-CN" dirty="0" smtClean="0"/>
              <a:t> }</a:t>
            </a:r>
            <a:endParaRPr lang="zh-CN" altLang="en-US" dirty="0" smtClean="0">
              <a:cs typeface="Courier New" panose="02070309020205020404" pitchFamily="49" charset="0"/>
            </a:endParaRPr>
          </a:p>
          <a:p>
            <a:pPr lvl="0" fontAlgn="auto">
              <a:defRPr/>
            </a:pPr>
            <a:r>
              <a:rPr lang="zh-CN" altLang="en-US" dirty="0" smtClean="0"/>
              <a:t>命令：</a:t>
            </a:r>
            <a:r>
              <a:rPr lang="en-US" altLang="zh-CN" dirty="0" smtClean="0">
                <a:cs typeface="Courier New" panose="02070309020205020404" pitchFamily="49" charset="0"/>
              </a:rPr>
              <a:t>[Huawei-route-policy] </a:t>
            </a:r>
            <a:r>
              <a:rPr lang="en-US" altLang="zh-CN" b="1" dirty="0" smtClean="0"/>
              <a:t>if-match community-filter</a:t>
            </a:r>
            <a:r>
              <a:rPr lang="en-US" altLang="zh-CN" dirty="0" smtClean="0"/>
              <a:t> </a:t>
            </a:r>
            <a:r>
              <a:rPr lang="en-US" altLang="zh-CN" i="1" dirty="0" err="1" smtClean="0"/>
              <a:t>comm</a:t>
            </a:r>
            <a:r>
              <a:rPr lang="en-US" altLang="zh-CN" i="1" dirty="0" smtClean="0"/>
              <a:t>-filter-name</a:t>
            </a:r>
            <a:r>
              <a:rPr lang="en-US" altLang="zh-CN" dirty="0" smtClean="0"/>
              <a:t> [ </a:t>
            </a:r>
            <a:r>
              <a:rPr lang="en-US" altLang="zh-CN" b="1" dirty="0" smtClean="0"/>
              <a:t>whole-match</a:t>
            </a:r>
            <a:r>
              <a:rPr lang="en-US" altLang="zh-CN" dirty="0" smtClean="0"/>
              <a:t> ]</a:t>
            </a:r>
            <a:endParaRPr lang="zh-CN" altLang="en-US" dirty="0" smtClean="0">
              <a:cs typeface="Courier New" panose="02070309020205020404" pitchFamily="49" charset="0"/>
            </a:endParaRPr>
          </a:p>
          <a:p>
            <a:pPr lvl="1"/>
            <a:r>
              <a:rPr lang="en-US" altLang="zh-CN" i="1" dirty="0" smtClean="0"/>
              <a:t>basic-</a:t>
            </a:r>
            <a:r>
              <a:rPr lang="en-US" altLang="zh-CN" i="1" dirty="0" err="1" smtClean="0"/>
              <a:t>comm</a:t>
            </a:r>
            <a:r>
              <a:rPr lang="en-US" altLang="zh-CN" i="1" dirty="0" smtClean="0"/>
              <a:t>-filter-</a:t>
            </a:r>
            <a:r>
              <a:rPr lang="en-US" altLang="zh-CN" i="1" dirty="0" err="1" smtClean="0"/>
              <a:t>num</a:t>
            </a:r>
            <a:r>
              <a:rPr lang="zh-CN" altLang="en-US" dirty="0" smtClean="0"/>
              <a:t>：指定基本团体属性过滤器号。整数形式，取值范围是</a:t>
            </a:r>
            <a:r>
              <a:rPr lang="en-US" altLang="zh-CN" dirty="0" smtClean="0"/>
              <a:t>1~99</a:t>
            </a:r>
            <a:r>
              <a:rPr lang="zh-CN" altLang="en-US" dirty="0" smtClean="0"/>
              <a:t>。</a:t>
            </a:r>
          </a:p>
          <a:p>
            <a:pPr lvl="1"/>
            <a:r>
              <a:rPr lang="en-US" altLang="zh-CN" i="1" dirty="0" err="1" smtClean="0"/>
              <a:t>adv</a:t>
            </a:r>
            <a:r>
              <a:rPr lang="en-US" altLang="zh-CN" i="1" dirty="0" smtClean="0"/>
              <a:t>-</a:t>
            </a:r>
            <a:r>
              <a:rPr lang="en-US" altLang="zh-CN" i="1" dirty="0" err="1" smtClean="0"/>
              <a:t>comm</a:t>
            </a:r>
            <a:r>
              <a:rPr lang="en-US" altLang="zh-CN" i="1" dirty="0" smtClean="0"/>
              <a:t>-filter-</a:t>
            </a:r>
            <a:r>
              <a:rPr lang="en-US" altLang="zh-CN" i="1" dirty="0" err="1" smtClean="0"/>
              <a:t>num</a:t>
            </a:r>
            <a:r>
              <a:rPr lang="zh-CN" altLang="en-US" dirty="0" smtClean="0"/>
              <a:t>：指定高级团体属性过滤器号。整数形式，取值范围是</a:t>
            </a:r>
            <a:r>
              <a:rPr lang="en-US" altLang="zh-CN" dirty="0" smtClean="0"/>
              <a:t>100~199</a:t>
            </a:r>
            <a:r>
              <a:rPr lang="zh-CN" altLang="en-US" dirty="0" smtClean="0"/>
              <a:t>。</a:t>
            </a:r>
          </a:p>
          <a:p>
            <a:pPr lvl="1"/>
            <a:r>
              <a:rPr lang="en-US" altLang="zh-CN" i="1" dirty="0" err="1" smtClean="0"/>
              <a:t>comm</a:t>
            </a:r>
            <a:r>
              <a:rPr lang="en-US" altLang="zh-CN" i="1" dirty="0" smtClean="0"/>
              <a:t>-filter-name</a:t>
            </a:r>
            <a:r>
              <a:rPr lang="zh-CN" altLang="en-US" dirty="0" smtClean="0"/>
              <a:t>：指定团体属性过滤器名称。字符串形式，区分大小写，不支持空格，长度范围是</a:t>
            </a:r>
            <a:r>
              <a:rPr lang="en-US" altLang="zh-CN" dirty="0" smtClean="0"/>
              <a:t>1~51</a:t>
            </a:r>
            <a:r>
              <a:rPr lang="zh-CN" altLang="en-US" dirty="0" smtClean="0"/>
              <a:t>，且不能都是数字。当输入的字符串两端使用双引号时，可在字符串中输入空格。</a:t>
            </a:r>
          </a:p>
          <a:p>
            <a:pPr lvl="1"/>
            <a:r>
              <a:rPr lang="en-US" altLang="zh-CN" b="1" dirty="0" smtClean="0"/>
              <a:t>whole-match</a:t>
            </a:r>
            <a:r>
              <a:rPr lang="zh-CN" altLang="en-US" dirty="0" smtClean="0"/>
              <a:t>：表示完全匹配，即所有的团体都必须出现。仅对基本团体属性过滤器生效。</a:t>
            </a:r>
            <a:endParaRPr lang="en-US" altLang="zh-CN" dirty="0" smtClean="0"/>
          </a:p>
          <a:p>
            <a:pPr lvl="1"/>
            <a:endParaRPr lang="zh-CN" altLang="en-US" dirty="0" smtClean="0"/>
          </a:p>
          <a:p>
            <a:endParaRPr lang="zh-CN" altLang="en-US" dirty="0" smtClean="0"/>
          </a:p>
          <a:p>
            <a:endParaRPr lang="zh-CN" altLang="en-US" dirty="0"/>
          </a:p>
        </p:txBody>
      </p:sp>
    </p:spTree>
    <p:extLst>
      <p:ext uri="{BB962C8B-B14F-4D97-AF65-F5344CB8AC3E}">
        <p14:creationId xmlns:p14="http://schemas.microsoft.com/office/powerpoint/2010/main" val="28839327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灯片图像占位符 2"/>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222907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命令：</a:t>
            </a:r>
            <a:r>
              <a:rPr lang="en-US" altLang="zh-CN" dirty="0" smtClean="0"/>
              <a:t>[R1] </a:t>
            </a:r>
            <a:r>
              <a:rPr lang="en-US" altLang="zh-CN" b="1" dirty="0" smtClean="0"/>
              <a:t>route-policy Community permit node 20</a:t>
            </a:r>
            <a:r>
              <a:rPr lang="zh-CN" altLang="en-US" dirty="0" smtClean="0"/>
              <a:t>，通过配置该命令允许</a:t>
            </a:r>
            <a:r>
              <a:rPr lang="en-US" altLang="zh-CN" dirty="0" smtClean="0"/>
              <a:t>10.1.2.2/32</a:t>
            </a:r>
            <a:r>
              <a:rPr lang="zh-CN" altLang="en-US" dirty="0" smtClean="0"/>
              <a:t>路由被正常通告。</a:t>
            </a:r>
            <a:endParaRPr lang="en-US" altLang="zh-CN" dirty="0" smtClean="0"/>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6317697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545520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86795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1461182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586484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505328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837344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0019317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命令：</a:t>
            </a:r>
            <a:r>
              <a:rPr lang="en-US" altLang="zh-CN" dirty="0" smtClean="0"/>
              <a:t>[Huawei-bgp-af-ipv4] </a:t>
            </a:r>
            <a:r>
              <a:rPr lang="en-US" altLang="zh-CN" b="1" dirty="0" smtClean="0"/>
              <a:t>peer </a:t>
            </a:r>
            <a:r>
              <a:rPr lang="en-US" altLang="zh-CN" dirty="0" smtClean="0"/>
              <a:t>{ </a:t>
            </a:r>
            <a:r>
              <a:rPr lang="en-US" altLang="zh-CN" i="1" dirty="0" smtClean="0"/>
              <a:t>group-name | ipv4-address</a:t>
            </a:r>
            <a:r>
              <a:rPr lang="en-US" altLang="zh-CN" dirty="0" smtClean="0"/>
              <a:t> } </a:t>
            </a:r>
            <a:r>
              <a:rPr lang="en-US" altLang="zh-CN" b="1" dirty="0" err="1" smtClean="0"/>
              <a:t>ip</a:t>
            </a:r>
            <a:r>
              <a:rPr lang="en-US" altLang="zh-CN" b="1" dirty="0" smtClean="0"/>
              <a:t>-prefix</a:t>
            </a:r>
            <a:r>
              <a:rPr lang="en-US" altLang="zh-CN" dirty="0" smtClean="0"/>
              <a:t> </a:t>
            </a:r>
            <a:r>
              <a:rPr lang="en-US" altLang="zh-CN" i="1" dirty="0" err="1" smtClean="0"/>
              <a:t>ip</a:t>
            </a:r>
            <a:r>
              <a:rPr lang="en-US" altLang="zh-CN" i="1" dirty="0" smtClean="0"/>
              <a:t>-prefix-name</a:t>
            </a:r>
            <a:r>
              <a:rPr lang="en-US" altLang="zh-CN" dirty="0" smtClean="0"/>
              <a:t> { </a:t>
            </a:r>
            <a:r>
              <a:rPr lang="en-US" altLang="zh-CN" b="1" dirty="0" smtClean="0"/>
              <a:t>import | export</a:t>
            </a:r>
            <a:r>
              <a:rPr lang="en-US" altLang="zh-CN" dirty="0" smtClean="0"/>
              <a:t> }</a:t>
            </a:r>
            <a:endParaRPr lang="zh-CN" altLang="en-US" dirty="0" smtClean="0"/>
          </a:p>
          <a:p>
            <a:pPr lvl="1"/>
            <a:r>
              <a:rPr lang="en-US" altLang="zh-CN" b="1" dirty="0" smtClean="0"/>
              <a:t>import</a:t>
            </a:r>
            <a:r>
              <a:rPr lang="zh-CN" altLang="en-US" b="1" dirty="0" smtClean="0"/>
              <a:t>：</a:t>
            </a:r>
            <a:r>
              <a:rPr lang="zh-CN" altLang="en-US" dirty="0" smtClean="0"/>
              <a:t>对由指定对等体（组）接收的路由应用过滤策略。</a:t>
            </a:r>
            <a:endParaRPr lang="en-US" altLang="zh-CN" dirty="0" smtClean="0"/>
          </a:p>
          <a:p>
            <a:pPr lvl="1"/>
            <a:r>
              <a:rPr lang="en-US" altLang="zh-CN" b="1" dirty="0" smtClean="0"/>
              <a:t>export</a:t>
            </a:r>
            <a:r>
              <a:rPr lang="zh-CN" altLang="en-US" b="1" dirty="0" smtClean="0"/>
              <a:t>：</a:t>
            </a:r>
            <a:r>
              <a:rPr lang="zh-CN" altLang="en-US" dirty="0" smtClean="0"/>
              <a:t>对向指定对等体（组）发送的路由应用过滤策略。</a:t>
            </a:r>
            <a:endParaRPr lang="en-US" altLang="zh-CN" dirty="0" smtClean="0"/>
          </a:p>
          <a:p>
            <a:pPr lvl="0"/>
            <a:r>
              <a:rPr lang="zh-CN" altLang="en-US" dirty="0" smtClean="0"/>
              <a:t>命令：</a:t>
            </a:r>
            <a:r>
              <a:rPr lang="en-US" altLang="zh-CN" dirty="0" smtClean="0"/>
              <a:t>[Huawei-</a:t>
            </a:r>
            <a:r>
              <a:rPr lang="en-US" altLang="zh-CN" dirty="0" err="1" smtClean="0"/>
              <a:t>bgp</a:t>
            </a:r>
            <a:r>
              <a:rPr lang="en-US" altLang="zh-CN" dirty="0" smtClean="0"/>
              <a:t>] </a:t>
            </a:r>
            <a:r>
              <a:rPr lang="en-US" altLang="zh-CN" b="1" dirty="0" smtClean="0"/>
              <a:t>peer</a:t>
            </a:r>
            <a:r>
              <a:rPr lang="en-US" altLang="zh-CN" dirty="0" smtClean="0"/>
              <a:t> { </a:t>
            </a:r>
            <a:r>
              <a:rPr lang="en-US" altLang="zh-CN" i="1" dirty="0" smtClean="0"/>
              <a:t>group-name | ipv4-address</a:t>
            </a:r>
            <a:r>
              <a:rPr lang="en-US" altLang="zh-CN" dirty="0" smtClean="0"/>
              <a:t> } </a:t>
            </a:r>
            <a:r>
              <a:rPr lang="en-US" altLang="zh-CN" b="1" dirty="0" smtClean="0"/>
              <a:t>capability-advertise </a:t>
            </a:r>
            <a:r>
              <a:rPr lang="en-US" altLang="zh-CN" b="1" dirty="0" err="1" smtClean="0"/>
              <a:t>orf</a:t>
            </a:r>
            <a:r>
              <a:rPr lang="en-US" altLang="zh-CN" dirty="0" smtClean="0"/>
              <a:t> [ </a:t>
            </a:r>
            <a:r>
              <a:rPr lang="en-US" altLang="zh-CN" b="1" dirty="0" smtClean="0"/>
              <a:t>non-standard-compatible</a:t>
            </a:r>
            <a:r>
              <a:rPr lang="en-US" altLang="zh-CN" dirty="0" smtClean="0"/>
              <a:t> ] </a:t>
            </a:r>
            <a:r>
              <a:rPr lang="en-US" altLang="zh-CN" b="1" dirty="0" err="1" smtClean="0"/>
              <a:t>ip</a:t>
            </a:r>
            <a:r>
              <a:rPr lang="en-US" altLang="zh-CN" b="1" dirty="0" smtClean="0"/>
              <a:t>-prefix </a:t>
            </a:r>
            <a:r>
              <a:rPr lang="en-US" altLang="zh-CN" dirty="0" smtClean="0"/>
              <a:t>{ </a:t>
            </a:r>
            <a:r>
              <a:rPr lang="en-US" altLang="zh-CN" b="1" dirty="0" smtClean="0"/>
              <a:t>both | receive | send </a:t>
            </a:r>
            <a:r>
              <a:rPr lang="en-US" altLang="zh-CN" dirty="0" smtClean="0"/>
              <a:t>} [ </a:t>
            </a:r>
            <a:r>
              <a:rPr lang="en-US" altLang="zh-CN" b="1" dirty="0" smtClean="0"/>
              <a:t>standard-match </a:t>
            </a:r>
            <a:r>
              <a:rPr lang="en-US" altLang="zh-CN" dirty="0" smtClean="0"/>
              <a:t>]</a:t>
            </a:r>
            <a:endParaRPr lang="zh-CN" altLang="en-US" dirty="0" smtClean="0"/>
          </a:p>
          <a:p>
            <a:pPr lvl="1"/>
            <a:r>
              <a:rPr lang="en-US" altLang="zh-CN" b="1" dirty="0" smtClean="0"/>
              <a:t>non-standard-compatible</a:t>
            </a:r>
            <a:r>
              <a:rPr lang="zh-CN" altLang="en-US" b="1" dirty="0" smtClean="0"/>
              <a:t>：</a:t>
            </a:r>
            <a:r>
              <a:rPr lang="zh-CN" altLang="en-US" dirty="0" smtClean="0"/>
              <a:t>指定与非标准设备兼容。</a:t>
            </a:r>
            <a:endParaRPr lang="en-US" altLang="zh-CN" dirty="0" smtClean="0"/>
          </a:p>
          <a:p>
            <a:pPr lvl="1"/>
            <a:r>
              <a:rPr lang="en-US" altLang="zh-CN" b="1" dirty="0" smtClean="0"/>
              <a:t>both</a:t>
            </a:r>
            <a:r>
              <a:rPr lang="zh-CN" altLang="en-US" b="1" dirty="0" smtClean="0"/>
              <a:t>：</a:t>
            </a:r>
            <a:r>
              <a:rPr lang="zh-CN" altLang="en-US" dirty="0" smtClean="0"/>
              <a:t>表示允许发送和接收</a:t>
            </a:r>
            <a:r>
              <a:rPr lang="en-US" altLang="zh-CN" dirty="0" smtClean="0"/>
              <a:t>ORF</a:t>
            </a:r>
            <a:r>
              <a:rPr lang="zh-CN" altLang="en-US" dirty="0" smtClean="0"/>
              <a:t>报文。</a:t>
            </a:r>
            <a:endParaRPr lang="en-US" altLang="zh-CN" dirty="0" smtClean="0"/>
          </a:p>
          <a:p>
            <a:pPr lvl="1"/>
            <a:r>
              <a:rPr lang="en-US" altLang="zh-CN" b="1" dirty="0" smtClean="0"/>
              <a:t>receive</a:t>
            </a:r>
            <a:r>
              <a:rPr lang="zh-CN" altLang="en-US" b="1" dirty="0" smtClean="0"/>
              <a:t>：</a:t>
            </a:r>
            <a:r>
              <a:rPr lang="zh-CN" altLang="en-US" dirty="0" smtClean="0"/>
              <a:t>表示只允许接收</a:t>
            </a:r>
            <a:r>
              <a:rPr lang="en-US" altLang="zh-CN" dirty="0" smtClean="0"/>
              <a:t>ORF</a:t>
            </a:r>
            <a:r>
              <a:rPr lang="zh-CN" altLang="en-US" dirty="0" smtClean="0"/>
              <a:t>报文。</a:t>
            </a:r>
            <a:endParaRPr lang="en-US" altLang="zh-CN" dirty="0" smtClean="0"/>
          </a:p>
          <a:p>
            <a:pPr lvl="1"/>
            <a:r>
              <a:rPr lang="en-US" altLang="zh-CN" b="1" dirty="0" smtClean="0"/>
              <a:t>send</a:t>
            </a:r>
            <a:r>
              <a:rPr lang="zh-CN" altLang="en-US" b="1" dirty="0" smtClean="0"/>
              <a:t>：</a:t>
            </a:r>
            <a:r>
              <a:rPr lang="zh-CN" altLang="en-US" dirty="0" smtClean="0"/>
              <a:t>表示只允许发送</a:t>
            </a:r>
            <a:r>
              <a:rPr lang="en-US" altLang="zh-CN" dirty="0" smtClean="0"/>
              <a:t>ORF</a:t>
            </a:r>
            <a:r>
              <a:rPr lang="zh-CN" altLang="en-US" dirty="0" smtClean="0"/>
              <a:t>报文。</a:t>
            </a:r>
            <a:endParaRPr lang="en-US" altLang="zh-CN" dirty="0" smtClean="0"/>
          </a:p>
          <a:p>
            <a:pPr lvl="1"/>
            <a:r>
              <a:rPr lang="en-US" altLang="zh-CN" b="1" dirty="0" smtClean="0"/>
              <a:t>standard-match</a:t>
            </a:r>
            <a:r>
              <a:rPr lang="zh-CN" altLang="en-US" b="1" dirty="0" smtClean="0"/>
              <a:t>：</a:t>
            </a:r>
            <a:r>
              <a:rPr lang="zh-CN" altLang="en-US" dirty="0" smtClean="0"/>
              <a:t>指定按照</a:t>
            </a:r>
            <a:r>
              <a:rPr lang="en-US" altLang="zh-CN" dirty="0" smtClean="0"/>
              <a:t>RFC</a:t>
            </a:r>
            <a:r>
              <a:rPr lang="zh-CN" altLang="en-US" dirty="0" smtClean="0"/>
              <a:t>标准规定的前缀匹配规则来匹配路由。</a:t>
            </a:r>
            <a:endParaRPr lang="en-US" altLang="zh-CN" dirty="0" smtClean="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6216959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711000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243926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对等体组中的单个对等体也可以配置自己的发布路由与接收路由的策略。</a:t>
            </a: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4904802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命令：</a:t>
            </a:r>
            <a:r>
              <a:rPr lang="en-US" altLang="zh-CN" dirty="0" smtClean="0"/>
              <a:t>[Huawei-</a:t>
            </a:r>
            <a:r>
              <a:rPr lang="en-US" altLang="zh-CN" dirty="0" err="1" smtClean="0"/>
              <a:t>bgp</a:t>
            </a:r>
            <a:r>
              <a:rPr lang="en-US" altLang="zh-CN" dirty="0" smtClean="0"/>
              <a:t>] </a:t>
            </a:r>
            <a:r>
              <a:rPr lang="en-US" altLang="zh-CN" b="1" dirty="0" smtClean="0"/>
              <a:t>group</a:t>
            </a:r>
            <a:r>
              <a:rPr lang="en-US" altLang="zh-CN" dirty="0" smtClean="0"/>
              <a:t> </a:t>
            </a:r>
            <a:r>
              <a:rPr lang="en-US" altLang="zh-CN" i="1" dirty="0" smtClean="0"/>
              <a:t>group-name</a:t>
            </a:r>
            <a:r>
              <a:rPr lang="en-US" altLang="zh-CN" dirty="0" smtClean="0"/>
              <a:t> [ </a:t>
            </a:r>
            <a:r>
              <a:rPr lang="en-US" altLang="zh-CN" b="1" dirty="0" smtClean="0"/>
              <a:t>external | internal</a:t>
            </a:r>
            <a:r>
              <a:rPr lang="en-US" altLang="zh-CN" dirty="0" smtClean="0"/>
              <a:t> ]</a:t>
            </a:r>
            <a:endParaRPr lang="zh-CN" altLang="en-US" dirty="0" smtClean="0"/>
          </a:p>
          <a:p>
            <a:pPr lvl="1"/>
            <a:r>
              <a:rPr lang="en-US" altLang="zh-CN" i="1" dirty="0" smtClean="0"/>
              <a:t>group-name</a:t>
            </a:r>
            <a:r>
              <a:rPr lang="zh-CN" altLang="en-US" i="1" dirty="0" smtClean="0"/>
              <a:t>：</a:t>
            </a:r>
            <a:r>
              <a:rPr lang="zh-CN" altLang="en-US" dirty="0" smtClean="0"/>
              <a:t>指定对等体组的名称。字符串形式，区分大小写，不支持空格，长度范围是</a:t>
            </a:r>
            <a:r>
              <a:rPr lang="en-US" altLang="zh-CN" dirty="0" smtClean="0"/>
              <a:t>1~47</a:t>
            </a:r>
            <a:r>
              <a:rPr lang="zh-CN" altLang="en-US" dirty="0" smtClean="0"/>
              <a:t>。当输入的字符串两端使用双引号时，可在字符串中输入空格。</a:t>
            </a:r>
          </a:p>
          <a:p>
            <a:pPr lvl="1"/>
            <a:r>
              <a:rPr lang="en-US" altLang="zh-CN" b="1" dirty="0" smtClean="0"/>
              <a:t>external</a:t>
            </a:r>
            <a:r>
              <a:rPr lang="zh-CN" altLang="en-US" b="1" dirty="0" smtClean="0"/>
              <a:t>：</a:t>
            </a:r>
            <a:r>
              <a:rPr lang="zh-CN" altLang="en-US" dirty="0" smtClean="0"/>
              <a:t>表示创建</a:t>
            </a:r>
            <a:r>
              <a:rPr lang="en-US" altLang="zh-CN" dirty="0" smtClean="0"/>
              <a:t>EBGP</a:t>
            </a:r>
            <a:r>
              <a:rPr lang="zh-CN" altLang="en-US" dirty="0" smtClean="0"/>
              <a:t>对等体组。</a:t>
            </a:r>
            <a:endParaRPr lang="en-US" altLang="zh-CN" dirty="0" smtClean="0"/>
          </a:p>
          <a:p>
            <a:pPr lvl="1"/>
            <a:r>
              <a:rPr lang="en-US" altLang="zh-CN" b="1" dirty="0" smtClean="0"/>
              <a:t>internal</a:t>
            </a:r>
            <a:r>
              <a:rPr lang="zh-CN" altLang="en-US" b="1" dirty="0" smtClean="0"/>
              <a:t>：</a:t>
            </a:r>
            <a:r>
              <a:rPr lang="zh-CN" altLang="en-US" dirty="0" smtClean="0"/>
              <a:t>表示创建</a:t>
            </a:r>
            <a:r>
              <a:rPr lang="en-US" altLang="zh-CN" dirty="0" smtClean="0"/>
              <a:t>IBGP</a:t>
            </a:r>
            <a:r>
              <a:rPr lang="zh-CN" altLang="en-US" dirty="0" smtClean="0"/>
              <a:t>对等体组。</a:t>
            </a:r>
            <a:endParaRPr lang="en-US" altLang="zh-CN" dirty="0" smtClean="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7545474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如图所示：假设</a:t>
            </a:r>
            <a:r>
              <a:rPr lang="en-US" altLang="zh-CN" smtClean="0"/>
              <a:t>AS 102</a:t>
            </a:r>
            <a:r>
              <a:rPr lang="zh-CN" altLang="en-US" smtClean="0"/>
              <a:t>内，通过静态路由或</a:t>
            </a:r>
            <a:r>
              <a:rPr lang="en-US" altLang="zh-CN" smtClean="0"/>
              <a:t>OSPF</a:t>
            </a:r>
            <a:r>
              <a:rPr lang="zh-CN" altLang="en-US" smtClean="0"/>
              <a:t>实现</a:t>
            </a:r>
            <a:r>
              <a:rPr lang="en-US" altLang="zh-CN" smtClean="0"/>
              <a:t>AS 102</a:t>
            </a:r>
            <a:r>
              <a:rPr lang="zh-CN" altLang="en-US" smtClean="0"/>
              <a:t>内部网络可达，配置省略。</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61778573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068179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874520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smtClean="0"/>
              <a:t>BGP</a:t>
            </a:r>
            <a:r>
              <a:rPr lang="zh-CN" altLang="en-US" smtClean="0"/>
              <a:t>使用</a:t>
            </a:r>
            <a:r>
              <a:rPr lang="en-US" altLang="zh-CN" smtClean="0"/>
              <a:t>TCP</a:t>
            </a:r>
            <a:r>
              <a:rPr lang="zh-CN" altLang="en-US" smtClean="0"/>
              <a:t>作为传输协议，只要</a:t>
            </a:r>
            <a:r>
              <a:rPr lang="en-US" altLang="zh-CN" smtClean="0"/>
              <a:t>TCP</a:t>
            </a:r>
            <a:r>
              <a:rPr lang="zh-CN" altLang="en-US" smtClean="0"/>
              <a:t>数据包的源地址、目的地址、源端口、目的端口和</a:t>
            </a:r>
            <a:r>
              <a:rPr lang="en-US" altLang="zh-CN" smtClean="0"/>
              <a:t>TCP</a:t>
            </a:r>
            <a:r>
              <a:rPr lang="zh-CN" altLang="en-US" smtClean="0"/>
              <a:t>序号是正确的，</a:t>
            </a:r>
            <a:r>
              <a:rPr lang="en-US" altLang="zh-CN" smtClean="0"/>
              <a:t>BGP</a:t>
            </a:r>
            <a:r>
              <a:rPr lang="zh-CN" altLang="en-US" smtClean="0"/>
              <a:t>就会认为这个数据包有效，但数据包的大部分参数对于攻击者来说是不难获得的。为了保证</a:t>
            </a:r>
            <a:r>
              <a:rPr lang="en-US" altLang="zh-CN" smtClean="0"/>
              <a:t>BGP</a:t>
            </a:r>
            <a:r>
              <a:rPr lang="zh-CN" altLang="en-US" smtClean="0"/>
              <a:t>免受攻击，可以在</a:t>
            </a:r>
            <a:r>
              <a:rPr lang="en-US" altLang="zh-CN" smtClean="0"/>
              <a:t>BGP</a:t>
            </a:r>
            <a:r>
              <a:rPr lang="zh-CN" altLang="en-US" smtClean="0"/>
              <a:t>邻居之间使用</a:t>
            </a:r>
            <a:r>
              <a:rPr lang="en-US" altLang="zh-CN" smtClean="0"/>
              <a:t>MD5</a:t>
            </a:r>
            <a:r>
              <a:rPr lang="zh-CN" altLang="en-US" smtClean="0"/>
              <a:t>认证或者</a:t>
            </a:r>
            <a:r>
              <a:rPr lang="en-US" altLang="zh-CN" smtClean="0"/>
              <a:t>Keychain</a:t>
            </a:r>
            <a:r>
              <a:rPr lang="zh-CN" altLang="en-US" smtClean="0"/>
              <a:t>认证来降低被攻击的可能性。</a:t>
            </a:r>
            <a:endParaRPr lang="en-US" altLang="zh-CN" smtClean="0"/>
          </a:p>
          <a:p>
            <a:pPr lvl="1"/>
            <a:r>
              <a:rPr lang="en-US" altLang="zh-CN" smtClean="0"/>
              <a:t>MD5</a:t>
            </a:r>
            <a:r>
              <a:rPr lang="zh-CN" altLang="en-US" smtClean="0"/>
              <a:t>算法配置简单，配置后生成单一密码，需要人为干预才可以更换密码。</a:t>
            </a:r>
            <a:endParaRPr lang="en-US" altLang="zh-CN" smtClean="0"/>
          </a:p>
          <a:p>
            <a:pPr lvl="1"/>
            <a:r>
              <a:rPr lang="en-US" altLang="zh-CN" smtClean="0"/>
              <a:t>Keychain</a:t>
            </a:r>
            <a:r>
              <a:rPr lang="zh-CN" altLang="en-US" smtClean="0"/>
              <a:t>具有一组密码，可以根据配置自动切换，但是配置过程较为复杂，适用于对安全性能要求比较高的网络。</a:t>
            </a:r>
          </a:p>
          <a:p>
            <a:pPr lvl="0"/>
            <a:r>
              <a:rPr lang="zh-CN" altLang="en-US" smtClean="0"/>
              <a:t>注意：</a:t>
            </a:r>
            <a:r>
              <a:rPr lang="en-US" altLang="zh-CN" smtClean="0"/>
              <a:t>BGP</a:t>
            </a:r>
            <a:r>
              <a:rPr lang="zh-CN" altLang="en-US" smtClean="0"/>
              <a:t>的</a:t>
            </a:r>
            <a:r>
              <a:rPr lang="en-US" altLang="zh-CN" smtClean="0"/>
              <a:t>MD5</a:t>
            </a:r>
            <a:r>
              <a:rPr lang="zh-CN" altLang="en-US" smtClean="0"/>
              <a:t>认证与</a:t>
            </a:r>
            <a:r>
              <a:rPr lang="en-US" altLang="zh-CN" smtClean="0"/>
              <a:t>BGP</a:t>
            </a:r>
            <a:r>
              <a:rPr lang="zh-CN" altLang="en-US" smtClean="0"/>
              <a:t>的</a:t>
            </a:r>
            <a:r>
              <a:rPr lang="en-US" altLang="zh-CN" smtClean="0"/>
              <a:t>Keychain</a:t>
            </a:r>
            <a:r>
              <a:rPr lang="zh-CN" altLang="en-US" smtClean="0"/>
              <a:t>认证互斥。</a:t>
            </a:r>
            <a:endParaRPr lang="zh-CN" altLang="en-US" dirty="0" smtClean="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22845814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如图所示：如果没有使能</a:t>
            </a:r>
            <a:r>
              <a:rPr lang="en-US" altLang="zh-CN" smtClean="0"/>
              <a:t>BGP</a:t>
            </a:r>
            <a:r>
              <a:rPr lang="zh-CN" altLang="en-US" smtClean="0"/>
              <a:t>的</a:t>
            </a:r>
            <a:r>
              <a:rPr lang="en-US" altLang="zh-CN" smtClean="0"/>
              <a:t>GTSM</a:t>
            </a:r>
            <a:r>
              <a:rPr lang="zh-CN" altLang="en-US" smtClean="0"/>
              <a:t>功能，设备收到大量非法</a:t>
            </a:r>
            <a:r>
              <a:rPr lang="en-US" altLang="zh-CN" smtClean="0"/>
              <a:t>BGP</a:t>
            </a:r>
            <a:r>
              <a:rPr lang="zh-CN" altLang="en-US" smtClean="0"/>
              <a:t>报文后，发现是发送给本机的报文，会直接上送控制层面处理。这时将会因为控制层面处理大量攻击报文，导致设备</a:t>
            </a:r>
            <a:r>
              <a:rPr lang="en-US" altLang="zh-CN" smtClean="0"/>
              <a:t>CPU</a:t>
            </a:r>
            <a:r>
              <a:rPr lang="zh-CN" altLang="en-US" smtClean="0"/>
              <a:t>占用率高，系统异常繁忙。</a:t>
            </a:r>
            <a:endParaRPr lang="en-US" altLang="zh-CN" smtClean="0"/>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6529897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命令：</a:t>
            </a:r>
            <a:r>
              <a:rPr lang="en-US" altLang="zh-CN" dirty="0" smtClean="0"/>
              <a:t>[Huawei-</a:t>
            </a:r>
            <a:r>
              <a:rPr lang="en-US" altLang="zh-CN" dirty="0" err="1" smtClean="0"/>
              <a:t>bgp</a:t>
            </a:r>
            <a:r>
              <a:rPr lang="en-US" altLang="zh-CN" dirty="0" smtClean="0"/>
              <a:t>] </a:t>
            </a:r>
            <a:r>
              <a:rPr lang="en-US" altLang="zh-CN" b="1" dirty="0" smtClean="0"/>
              <a:t>peer </a:t>
            </a:r>
            <a:r>
              <a:rPr lang="en-US" altLang="zh-CN" dirty="0" smtClean="0"/>
              <a:t>{</a:t>
            </a:r>
            <a:r>
              <a:rPr lang="en-US" altLang="zh-CN" i="1" dirty="0" smtClean="0"/>
              <a:t> group-name</a:t>
            </a:r>
            <a:r>
              <a:rPr lang="en-US" altLang="zh-CN" dirty="0" smtClean="0"/>
              <a:t> |</a:t>
            </a:r>
            <a:r>
              <a:rPr lang="en-US" altLang="zh-CN" i="1" dirty="0" smtClean="0"/>
              <a:t> ipv4-address</a:t>
            </a:r>
            <a:r>
              <a:rPr lang="en-US" altLang="zh-CN" dirty="0" smtClean="0"/>
              <a:t> | </a:t>
            </a:r>
            <a:r>
              <a:rPr lang="en-US" altLang="zh-CN" i="1" dirty="0" smtClean="0"/>
              <a:t>ipv6-address</a:t>
            </a:r>
            <a:r>
              <a:rPr lang="en-US" altLang="zh-CN" dirty="0" smtClean="0"/>
              <a:t> } </a:t>
            </a:r>
            <a:r>
              <a:rPr lang="en-US" altLang="zh-CN" b="1" dirty="0" smtClean="0"/>
              <a:t>keychain</a:t>
            </a:r>
            <a:r>
              <a:rPr lang="en-US" altLang="zh-CN" dirty="0" smtClean="0"/>
              <a:t> </a:t>
            </a:r>
            <a:r>
              <a:rPr lang="en-US" altLang="zh-CN" i="1" dirty="0" smtClean="0"/>
              <a:t>keychain-name</a:t>
            </a:r>
            <a:endParaRPr lang="zh-CN" altLang="en-US" i="1" dirty="0" smtClean="0"/>
          </a:p>
          <a:p>
            <a:pPr lvl="1"/>
            <a:r>
              <a:rPr lang="en-US" altLang="zh-CN" i="1" dirty="0" smtClean="0"/>
              <a:t>keychain-name</a:t>
            </a:r>
            <a:r>
              <a:rPr lang="zh-CN" altLang="en-US" i="1" dirty="0" smtClean="0"/>
              <a:t>：</a:t>
            </a:r>
            <a:r>
              <a:rPr lang="zh-CN" altLang="en-US" dirty="0" smtClean="0"/>
              <a:t>指定</a:t>
            </a:r>
            <a:r>
              <a:rPr lang="en-US" altLang="zh-CN" dirty="0" smtClean="0"/>
              <a:t>Keychain</a:t>
            </a:r>
            <a:r>
              <a:rPr lang="zh-CN" altLang="en-US" dirty="0" smtClean="0"/>
              <a:t>名称。字符串形式，长度范围是</a:t>
            </a:r>
            <a:r>
              <a:rPr lang="en-US" altLang="zh-CN" dirty="0" smtClean="0"/>
              <a:t>1~47</a:t>
            </a:r>
            <a:r>
              <a:rPr lang="zh-CN" altLang="en-US" dirty="0" smtClean="0"/>
              <a:t>，不区分大小写。字符不包括问号和空格，但是当输入的字符串两端使用双引号时，可在字符串中输入空格。</a:t>
            </a:r>
            <a:endParaRPr lang="en-US" altLang="zh-CN" dirty="0" smtClean="0"/>
          </a:p>
          <a:p>
            <a:pPr lvl="0"/>
            <a:endParaRPr lang="en-US" altLang="zh-CN" dirty="0" smtClean="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518878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smtClean="0"/>
              <a:t>命令：</a:t>
            </a:r>
            <a:r>
              <a:rPr lang="en-US" altLang="zh-CN" dirty="0" smtClean="0"/>
              <a:t>[Huawei-</a:t>
            </a:r>
            <a:r>
              <a:rPr lang="en-US" altLang="zh-CN" dirty="0" err="1" smtClean="0"/>
              <a:t>bgp</a:t>
            </a:r>
            <a:r>
              <a:rPr lang="en-US" altLang="zh-CN" dirty="0" smtClean="0"/>
              <a:t>] </a:t>
            </a:r>
            <a:r>
              <a:rPr lang="en-US" altLang="zh-CN" b="1" dirty="0" smtClean="0"/>
              <a:t>peer</a:t>
            </a:r>
            <a:r>
              <a:rPr lang="en-US" altLang="zh-CN" dirty="0" smtClean="0"/>
              <a:t> {</a:t>
            </a:r>
            <a:r>
              <a:rPr lang="en-US" altLang="zh-CN" i="1" dirty="0" smtClean="0"/>
              <a:t> group-name | ipv4-address | ipv6-address</a:t>
            </a:r>
            <a:r>
              <a:rPr lang="en-US" altLang="zh-CN" dirty="0" smtClean="0"/>
              <a:t> } </a:t>
            </a:r>
            <a:r>
              <a:rPr lang="en-US" altLang="zh-CN" b="1" dirty="0" smtClean="0"/>
              <a:t>valid-</a:t>
            </a:r>
            <a:r>
              <a:rPr lang="en-US" altLang="zh-CN" b="1" dirty="0" err="1" smtClean="0"/>
              <a:t>ttl</a:t>
            </a:r>
            <a:r>
              <a:rPr lang="en-US" altLang="zh-CN" b="1" dirty="0" smtClean="0"/>
              <a:t>-hops </a:t>
            </a:r>
            <a:r>
              <a:rPr lang="en-US" altLang="zh-CN" dirty="0" smtClean="0"/>
              <a:t>[ </a:t>
            </a:r>
            <a:r>
              <a:rPr lang="en-US" altLang="zh-CN" i="1" dirty="0" smtClean="0"/>
              <a:t>hops </a:t>
            </a:r>
            <a:r>
              <a:rPr lang="en-US" altLang="zh-CN" dirty="0" smtClean="0"/>
              <a:t>]</a:t>
            </a:r>
            <a:endParaRPr lang="zh-CN" altLang="en-US" dirty="0" smtClean="0"/>
          </a:p>
          <a:p>
            <a:pPr lvl="1"/>
            <a:r>
              <a:rPr lang="en-US" altLang="zh-CN" i="1" dirty="0" smtClean="0"/>
              <a:t>hops</a:t>
            </a:r>
            <a:r>
              <a:rPr lang="zh-CN" altLang="en-US" i="1" dirty="0" smtClean="0"/>
              <a:t>：</a:t>
            </a:r>
            <a:r>
              <a:rPr lang="zh-CN" altLang="en-US" dirty="0" smtClean="0"/>
              <a:t>指定需要检测的</a:t>
            </a:r>
            <a:r>
              <a:rPr lang="en-US" altLang="zh-CN" dirty="0" smtClean="0"/>
              <a:t>TTL</a:t>
            </a:r>
            <a:r>
              <a:rPr lang="zh-CN" altLang="en-US" dirty="0" smtClean="0"/>
              <a:t>跳数值。整数形式，取值范围是</a:t>
            </a:r>
            <a:r>
              <a:rPr lang="en-US" altLang="zh-CN" dirty="0" smtClean="0"/>
              <a:t>1~255</a:t>
            </a:r>
            <a:r>
              <a:rPr lang="zh-CN" altLang="en-US" dirty="0" smtClean="0"/>
              <a:t>，缺省值是</a:t>
            </a:r>
            <a:r>
              <a:rPr lang="en-US" altLang="zh-CN" dirty="0" smtClean="0"/>
              <a:t>255</a:t>
            </a:r>
            <a:r>
              <a:rPr lang="zh-CN" altLang="en-US" dirty="0" smtClean="0"/>
              <a:t>。如果配置为</a:t>
            </a:r>
            <a:r>
              <a:rPr lang="en-US" altLang="zh-CN" dirty="0" smtClean="0"/>
              <a:t>hops</a:t>
            </a:r>
            <a:r>
              <a:rPr lang="zh-CN" altLang="en-US" dirty="0" smtClean="0"/>
              <a:t>，则被检测的报文的</a:t>
            </a:r>
            <a:r>
              <a:rPr lang="en-US" altLang="zh-CN" dirty="0" smtClean="0"/>
              <a:t>TTL</a:t>
            </a:r>
            <a:r>
              <a:rPr lang="zh-CN" altLang="en-US" dirty="0" smtClean="0"/>
              <a:t>值有效范围为</a:t>
            </a:r>
            <a:r>
              <a:rPr lang="en-US" altLang="zh-CN" dirty="0" smtClean="0"/>
              <a:t>[255–hops+1, 255]</a:t>
            </a:r>
            <a:r>
              <a:rPr lang="zh-CN" altLang="en-US" dirty="0" smtClean="0"/>
              <a:t>。</a:t>
            </a:r>
            <a:endParaRPr lang="en-US" altLang="zh-CN" dirty="0" smtClean="0"/>
          </a:p>
          <a:p>
            <a:pPr lvl="0"/>
            <a:r>
              <a:rPr lang="zh-CN" altLang="en-US" dirty="0" smtClean="0"/>
              <a:t>命令：</a:t>
            </a:r>
            <a:r>
              <a:rPr lang="en-US" altLang="zh-CN" dirty="0" smtClean="0"/>
              <a:t>[Huawei] </a:t>
            </a:r>
            <a:r>
              <a:rPr lang="en-US" altLang="zh-CN" b="1" dirty="0" err="1" smtClean="0"/>
              <a:t>gtsm</a:t>
            </a:r>
            <a:r>
              <a:rPr lang="en-US" altLang="zh-CN" b="1" dirty="0" smtClean="0"/>
              <a:t> default-action { drop | pass }</a:t>
            </a:r>
            <a:endParaRPr lang="zh-CN" altLang="en-US" b="1" dirty="0" smtClean="0"/>
          </a:p>
          <a:p>
            <a:pPr lvl="1"/>
            <a:r>
              <a:rPr lang="en-US" altLang="zh-CN" b="1" dirty="0" smtClean="0"/>
              <a:t>drop</a:t>
            </a:r>
            <a:r>
              <a:rPr lang="zh-CN" altLang="en-US" b="1" dirty="0" smtClean="0"/>
              <a:t>：</a:t>
            </a:r>
            <a:r>
              <a:rPr lang="zh-CN" altLang="en-US" dirty="0" smtClean="0"/>
              <a:t>未匹配</a:t>
            </a:r>
            <a:r>
              <a:rPr lang="en-US" altLang="zh-CN" dirty="0" smtClean="0"/>
              <a:t>GTSM</a:t>
            </a:r>
            <a:r>
              <a:rPr lang="zh-CN" altLang="en-US" dirty="0" smtClean="0"/>
              <a:t>策略的报文不能通过过滤，报文被丢弃。</a:t>
            </a:r>
            <a:endParaRPr lang="en-US" altLang="zh-CN" dirty="0" smtClean="0"/>
          </a:p>
          <a:p>
            <a:pPr lvl="1"/>
            <a:r>
              <a:rPr lang="en-US" altLang="zh-CN" b="1" dirty="0" smtClean="0"/>
              <a:t>pass</a:t>
            </a:r>
            <a:r>
              <a:rPr lang="zh-CN" altLang="en-US" b="1" dirty="0" smtClean="0"/>
              <a:t>：</a:t>
            </a:r>
            <a:r>
              <a:rPr lang="zh-CN" altLang="en-US" dirty="0" smtClean="0"/>
              <a:t>未匹配</a:t>
            </a:r>
            <a:r>
              <a:rPr lang="en-US" altLang="zh-CN" dirty="0" smtClean="0"/>
              <a:t>GTSM</a:t>
            </a:r>
            <a:r>
              <a:rPr lang="zh-CN" altLang="en-US" dirty="0" smtClean="0"/>
              <a:t>策略的报文可以通过过滤。</a:t>
            </a:r>
            <a:endParaRPr lang="en-US" altLang="zh-CN" dirty="0" smtClean="0"/>
          </a:p>
          <a:p>
            <a:pPr lvl="0"/>
            <a:r>
              <a:rPr lang="zh-CN" altLang="en-US" dirty="0" smtClean="0"/>
              <a:t>命令：</a:t>
            </a:r>
            <a:r>
              <a:rPr lang="en-US" altLang="zh-CN" dirty="0" smtClean="0"/>
              <a:t>[Huawei] </a:t>
            </a:r>
            <a:r>
              <a:rPr lang="en-US" altLang="zh-CN" b="1" dirty="0" err="1" smtClean="0"/>
              <a:t>gtsm</a:t>
            </a:r>
            <a:r>
              <a:rPr lang="en-US" altLang="zh-CN" b="1" dirty="0" smtClean="0"/>
              <a:t> log drop-packet all</a:t>
            </a:r>
            <a:endParaRPr lang="zh-CN" altLang="en-US" b="1" dirty="0" smtClean="0"/>
          </a:p>
          <a:p>
            <a:pPr lvl="1"/>
            <a:r>
              <a:rPr lang="en-US" altLang="zh-CN" b="1" dirty="0" smtClean="0"/>
              <a:t>all</a:t>
            </a:r>
            <a:r>
              <a:rPr lang="zh-CN" altLang="en-US" b="1" dirty="0" smtClean="0"/>
              <a:t>：</a:t>
            </a:r>
            <a:r>
              <a:rPr lang="zh-CN" altLang="en-US" dirty="0" smtClean="0"/>
              <a:t>所有单板。</a:t>
            </a:r>
            <a:endParaRPr lang="en-US" altLang="zh-CN" dirty="0" smtClean="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95054121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smtClean="0"/>
              <a:t>如图所示：</a:t>
            </a:r>
            <a:endParaRPr lang="en-US" altLang="zh-CN" dirty="0" smtClean="0"/>
          </a:p>
          <a:p>
            <a:pPr lvl="1"/>
            <a:r>
              <a:rPr lang="zh-CN" altLang="en-US" dirty="0" smtClean="0"/>
              <a:t>假设</a:t>
            </a:r>
            <a:r>
              <a:rPr lang="en-US" altLang="zh-CN" dirty="0" smtClean="0"/>
              <a:t>AS 101</a:t>
            </a:r>
            <a:r>
              <a:rPr lang="zh-CN" altLang="en-US" dirty="0" smtClean="0"/>
              <a:t>内，通过静态路由或</a:t>
            </a:r>
            <a:r>
              <a:rPr lang="en-US" altLang="zh-CN" dirty="0" smtClean="0"/>
              <a:t>OSPF</a:t>
            </a:r>
            <a:r>
              <a:rPr lang="zh-CN" altLang="en-US" dirty="0" smtClean="0"/>
              <a:t>实现</a:t>
            </a:r>
            <a:r>
              <a:rPr lang="en-US" altLang="zh-CN" dirty="0" smtClean="0"/>
              <a:t>AS 101</a:t>
            </a:r>
            <a:r>
              <a:rPr lang="zh-CN" altLang="en-US" dirty="0" smtClean="0"/>
              <a:t>内部网络可达，配置省略。</a:t>
            </a:r>
            <a:endParaRPr lang="en-US" altLang="zh-CN" dirty="0" smtClean="0"/>
          </a:p>
          <a:p>
            <a:pPr lvl="1"/>
            <a:r>
              <a:rPr lang="en-US" altLang="zh-CN" dirty="0" smtClean="0"/>
              <a:t>R1</a:t>
            </a:r>
            <a:r>
              <a:rPr lang="zh-CN" altLang="en-US" dirty="0" smtClean="0"/>
              <a:t>通告</a:t>
            </a:r>
            <a:r>
              <a:rPr lang="en-US" altLang="zh-CN" dirty="0" smtClean="0"/>
              <a:t>Loopback0</a:t>
            </a:r>
            <a:r>
              <a:rPr lang="zh-CN" altLang="en-US" dirty="0" smtClean="0"/>
              <a:t>接口地址到</a:t>
            </a:r>
            <a:r>
              <a:rPr lang="en-US" altLang="zh-CN" dirty="0" smtClean="0"/>
              <a:t>BGP</a:t>
            </a:r>
            <a:r>
              <a:rPr lang="zh-CN" altLang="en-US" dirty="0" smtClean="0"/>
              <a:t>中。</a:t>
            </a:r>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1238459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49812022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378702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smtClean="0"/>
              <a:t>4</a:t>
            </a:r>
            <a:r>
              <a:rPr lang="zh-CN" altLang="en-US" dirty="0" smtClean="0"/>
              <a:t>字节</a:t>
            </a:r>
            <a:r>
              <a:rPr lang="en-US" altLang="zh-CN" dirty="0" smtClean="0"/>
              <a:t>AS</a:t>
            </a:r>
            <a:r>
              <a:rPr lang="zh-CN" altLang="en-US" dirty="0" smtClean="0"/>
              <a:t>号是将</a:t>
            </a:r>
            <a:r>
              <a:rPr lang="en-US" altLang="zh-CN" dirty="0" smtClean="0"/>
              <a:t>AS</a:t>
            </a:r>
            <a:r>
              <a:rPr lang="zh-CN" altLang="en-US" dirty="0" smtClean="0"/>
              <a:t>号的编码范围由</a:t>
            </a:r>
            <a:r>
              <a:rPr lang="en-US" altLang="zh-CN" dirty="0" smtClean="0"/>
              <a:t>2</a:t>
            </a:r>
            <a:r>
              <a:rPr lang="zh-CN" altLang="en-US" dirty="0" smtClean="0"/>
              <a:t>字节扩大为</a:t>
            </a:r>
            <a:r>
              <a:rPr lang="en-US" altLang="zh-CN" dirty="0" smtClean="0"/>
              <a:t>4</a:t>
            </a:r>
            <a:r>
              <a:rPr lang="zh-CN" altLang="en-US" dirty="0" smtClean="0"/>
              <a:t>字节，并通过定义新的能力码和新的可选过渡属性来协商</a:t>
            </a:r>
            <a:r>
              <a:rPr lang="en-US" altLang="zh-CN" dirty="0" smtClean="0"/>
              <a:t>4</a:t>
            </a:r>
            <a:r>
              <a:rPr lang="zh-CN" altLang="en-US" dirty="0" smtClean="0"/>
              <a:t>字节</a:t>
            </a:r>
            <a:r>
              <a:rPr lang="en-US" altLang="zh-CN" dirty="0" smtClean="0"/>
              <a:t>AS</a:t>
            </a:r>
            <a:r>
              <a:rPr lang="zh-CN" altLang="en-US" dirty="0" smtClean="0"/>
              <a:t>号能力和传递</a:t>
            </a:r>
            <a:r>
              <a:rPr lang="en-US" altLang="zh-CN" dirty="0" smtClean="0"/>
              <a:t>4</a:t>
            </a:r>
            <a:r>
              <a:rPr lang="zh-CN" altLang="en-US" dirty="0" smtClean="0"/>
              <a:t>字节</a:t>
            </a:r>
            <a:r>
              <a:rPr lang="en-US" altLang="zh-CN" dirty="0" smtClean="0"/>
              <a:t>AS</a:t>
            </a:r>
            <a:r>
              <a:rPr lang="zh-CN" altLang="en-US" dirty="0" smtClean="0"/>
              <a:t>号信息，使</a:t>
            </a:r>
            <a:r>
              <a:rPr lang="en-US" altLang="zh-CN" dirty="0" smtClean="0"/>
              <a:t>New Speaker</a:t>
            </a:r>
            <a:r>
              <a:rPr lang="zh-CN" altLang="en-US" dirty="0" smtClean="0"/>
              <a:t>之间、</a:t>
            </a:r>
            <a:r>
              <a:rPr lang="en-US" altLang="zh-CN" dirty="0" smtClean="0"/>
              <a:t>New Speaker</a:t>
            </a:r>
            <a:r>
              <a:rPr lang="zh-CN" altLang="en-US" dirty="0" smtClean="0"/>
              <a:t>和</a:t>
            </a:r>
            <a:r>
              <a:rPr lang="en-US" altLang="zh-CN" dirty="0" smtClean="0"/>
              <a:t>2</a:t>
            </a:r>
            <a:r>
              <a:rPr lang="zh-CN" altLang="en-US" dirty="0" smtClean="0"/>
              <a:t>字节</a:t>
            </a:r>
            <a:r>
              <a:rPr lang="en-US" altLang="zh-CN" dirty="0" smtClean="0"/>
              <a:t>AS</a:t>
            </a:r>
            <a:r>
              <a:rPr lang="zh-CN" altLang="en-US" dirty="0" smtClean="0"/>
              <a:t>号的</a:t>
            </a:r>
            <a:r>
              <a:rPr lang="en-US" altLang="zh-CN" dirty="0" smtClean="0"/>
              <a:t>Old Speaker</a:t>
            </a:r>
            <a:r>
              <a:rPr lang="zh-CN" altLang="en-US" dirty="0" smtClean="0"/>
              <a:t>之间能够进行通信。</a:t>
            </a:r>
            <a:endParaRPr lang="en-US" altLang="zh-CN" dirty="0" smtClean="0"/>
          </a:p>
          <a:p>
            <a:pPr lvl="1"/>
            <a:r>
              <a:rPr lang="zh-CN" altLang="en-US" dirty="0" smtClean="0"/>
              <a:t>为了支持</a:t>
            </a:r>
            <a:r>
              <a:rPr lang="en-US" altLang="zh-CN" dirty="0" smtClean="0"/>
              <a:t>4</a:t>
            </a:r>
            <a:r>
              <a:rPr lang="zh-CN" altLang="en-US" dirty="0" smtClean="0"/>
              <a:t>字节</a:t>
            </a:r>
            <a:r>
              <a:rPr lang="en-US" altLang="zh-CN" dirty="0" smtClean="0"/>
              <a:t>AS</a:t>
            </a:r>
            <a:r>
              <a:rPr lang="zh-CN" altLang="en-US" dirty="0" smtClean="0"/>
              <a:t>号，标准协议定义了一种新的</a:t>
            </a:r>
            <a:r>
              <a:rPr lang="en-US" altLang="zh-CN" dirty="0" smtClean="0"/>
              <a:t>Open</a:t>
            </a:r>
            <a:r>
              <a:rPr lang="zh-CN" altLang="en-US" dirty="0" smtClean="0"/>
              <a:t>能力码（</a:t>
            </a:r>
            <a:r>
              <a:rPr lang="en-US" altLang="zh-CN" dirty="0" smtClean="0"/>
              <a:t>0x41</a:t>
            </a:r>
            <a:r>
              <a:rPr lang="zh-CN" altLang="en-US" dirty="0" smtClean="0"/>
              <a:t>，代表本端支持</a:t>
            </a:r>
            <a:r>
              <a:rPr lang="en-US" altLang="zh-CN" dirty="0" smtClean="0"/>
              <a:t>4</a:t>
            </a:r>
            <a:r>
              <a:rPr lang="zh-CN" altLang="en-US" dirty="0" smtClean="0"/>
              <a:t>字节能力扩展）用于进行</a:t>
            </a:r>
            <a:r>
              <a:rPr lang="en-US" altLang="zh-CN" dirty="0" smtClean="0"/>
              <a:t>BGP</a:t>
            </a:r>
            <a:r>
              <a:rPr lang="zh-CN" altLang="en-US" dirty="0" smtClean="0"/>
              <a:t>连接的能力协商。</a:t>
            </a:r>
          </a:p>
          <a:p>
            <a:pPr lvl="1"/>
            <a:r>
              <a:rPr lang="zh-CN" altLang="en-US" dirty="0" smtClean="0"/>
              <a:t>另外，标准协议还定义了</a:t>
            </a:r>
            <a:r>
              <a:rPr lang="en-US" altLang="zh-CN" dirty="0" smtClean="0"/>
              <a:t>2</a:t>
            </a:r>
            <a:r>
              <a:rPr lang="zh-CN" altLang="en-US" dirty="0" smtClean="0"/>
              <a:t>种新的可选过渡属性</a:t>
            </a:r>
            <a:r>
              <a:rPr lang="en-US" altLang="zh-CN" dirty="0" smtClean="0"/>
              <a:t>AS4_Path</a:t>
            </a:r>
            <a:r>
              <a:rPr lang="zh-CN" altLang="en-US" dirty="0" smtClean="0"/>
              <a:t>和</a:t>
            </a:r>
            <a:r>
              <a:rPr lang="en-US" altLang="zh-CN" dirty="0" smtClean="0"/>
              <a:t>AS4_Aggregator</a:t>
            </a:r>
            <a:r>
              <a:rPr lang="zh-CN" altLang="en-US" dirty="0" smtClean="0"/>
              <a:t>用于在</a:t>
            </a:r>
            <a:r>
              <a:rPr lang="en-US" altLang="zh-CN" dirty="0" smtClean="0"/>
              <a:t>Old Session</a:t>
            </a:r>
            <a:r>
              <a:rPr lang="zh-CN" altLang="en-US" dirty="0" smtClean="0"/>
              <a:t>上传递</a:t>
            </a:r>
            <a:r>
              <a:rPr lang="en-US" altLang="zh-CN" dirty="0" smtClean="0"/>
              <a:t>4</a:t>
            </a:r>
            <a:r>
              <a:rPr lang="zh-CN" altLang="en-US" dirty="0" smtClean="0"/>
              <a:t>字节</a:t>
            </a:r>
            <a:r>
              <a:rPr lang="en-US" altLang="zh-CN" dirty="0" smtClean="0"/>
              <a:t>AS</a:t>
            </a:r>
            <a:r>
              <a:rPr lang="zh-CN" altLang="en-US" dirty="0" smtClean="0"/>
              <a:t>信息。</a:t>
            </a:r>
          </a:p>
          <a:p>
            <a:pPr lvl="1"/>
            <a:r>
              <a:rPr lang="zh-CN" altLang="en-US" dirty="0" smtClean="0"/>
              <a:t>如果</a:t>
            </a:r>
            <a:r>
              <a:rPr lang="en-US" altLang="zh-CN" dirty="0" smtClean="0"/>
              <a:t>New Speaker</a:t>
            </a:r>
            <a:r>
              <a:rPr lang="zh-CN" altLang="en-US" dirty="0" smtClean="0"/>
              <a:t>和</a:t>
            </a:r>
            <a:r>
              <a:rPr lang="en-US" altLang="zh-CN" dirty="0" smtClean="0"/>
              <a:t>Old Speaker</a:t>
            </a:r>
            <a:r>
              <a:rPr lang="zh-CN" altLang="en-US" dirty="0" smtClean="0"/>
              <a:t>建立连接且</a:t>
            </a:r>
            <a:r>
              <a:rPr lang="en-US" altLang="zh-CN" dirty="0" smtClean="0"/>
              <a:t>New Speaker</a:t>
            </a:r>
            <a:r>
              <a:rPr lang="zh-CN" altLang="en-US" dirty="0" smtClean="0"/>
              <a:t>的</a:t>
            </a:r>
            <a:r>
              <a:rPr lang="en-US" altLang="zh-CN" dirty="0" smtClean="0"/>
              <a:t>AS</a:t>
            </a:r>
            <a:r>
              <a:rPr lang="zh-CN" altLang="en-US" dirty="0" smtClean="0"/>
              <a:t>号大于</a:t>
            </a:r>
            <a:r>
              <a:rPr lang="en-US" altLang="zh-CN" dirty="0" smtClean="0"/>
              <a:t>65535</a:t>
            </a:r>
            <a:r>
              <a:rPr lang="zh-CN" altLang="en-US" dirty="0" smtClean="0"/>
              <a:t>，则在</a:t>
            </a:r>
            <a:r>
              <a:rPr lang="en-US" altLang="zh-CN" dirty="0" smtClean="0"/>
              <a:t>Old Speaker</a:t>
            </a:r>
            <a:r>
              <a:rPr lang="zh-CN" altLang="en-US" dirty="0" smtClean="0"/>
              <a:t>端需指定对端</a:t>
            </a:r>
            <a:r>
              <a:rPr lang="en-US" altLang="zh-CN" dirty="0" smtClean="0"/>
              <a:t>AS</a:t>
            </a:r>
            <a:r>
              <a:rPr lang="zh-CN" altLang="en-US" dirty="0" smtClean="0"/>
              <a:t>号为</a:t>
            </a:r>
            <a:r>
              <a:rPr lang="en-US" altLang="zh-CN" dirty="0" smtClean="0"/>
              <a:t>AS_TRANS</a:t>
            </a:r>
            <a:r>
              <a:rPr lang="zh-CN" altLang="en-US" dirty="0" smtClean="0"/>
              <a:t>。其中</a:t>
            </a:r>
            <a:r>
              <a:rPr lang="en-US" altLang="zh-CN" dirty="0" smtClean="0"/>
              <a:t>AS_TRANS</a:t>
            </a:r>
            <a:r>
              <a:rPr lang="zh-CN" altLang="en-US" dirty="0" smtClean="0"/>
              <a:t>是保留</a:t>
            </a:r>
            <a:r>
              <a:rPr lang="en-US" altLang="zh-CN" dirty="0" smtClean="0"/>
              <a:t>AS</a:t>
            </a:r>
            <a:r>
              <a:rPr lang="zh-CN" altLang="en-US" dirty="0" smtClean="0"/>
              <a:t>号，值为</a:t>
            </a:r>
            <a:r>
              <a:rPr lang="en-US" altLang="zh-CN" dirty="0" smtClean="0"/>
              <a:t>23456</a:t>
            </a:r>
            <a:r>
              <a:rPr lang="zh-CN" altLang="en-US" dirty="0" smtClean="0"/>
              <a:t>。</a:t>
            </a:r>
            <a:endParaRPr lang="en-US" altLang="zh-CN" dirty="0" smtClean="0"/>
          </a:p>
          <a:p>
            <a:pPr lvl="0"/>
            <a:r>
              <a:rPr lang="en-US" altLang="zh-CN" dirty="0" err="1" smtClean="0"/>
              <a:t>NetEngine</a:t>
            </a:r>
            <a:r>
              <a:rPr lang="en-US" altLang="zh-CN" dirty="0" smtClean="0"/>
              <a:t> 8000</a:t>
            </a:r>
            <a:r>
              <a:rPr lang="zh-CN" altLang="en-US" dirty="0" smtClean="0"/>
              <a:t>系列路由器支持按照两种形式配置</a:t>
            </a:r>
            <a:r>
              <a:rPr lang="en-US" altLang="zh-CN" dirty="0" smtClean="0"/>
              <a:t>4</a:t>
            </a:r>
            <a:r>
              <a:rPr lang="zh-CN" altLang="en-US" dirty="0" smtClean="0"/>
              <a:t>字节</a:t>
            </a:r>
            <a:r>
              <a:rPr lang="en-US" altLang="zh-CN" dirty="0" smtClean="0"/>
              <a:t>AS</a:t>
            </a:r>
            <a:r>
              <a:rPr lang="zh-CN" altLang="en-US" dirty="0" smtClean="0"/>
              <a:t>号。配置文件里</a:t>
            </a:r>
            <a:r>
              <a:rPr lang="en-US" altLang="zh-CN" dirty="0" smtClean="0"/>
              <a:t>4</a:t>
            </a:r>
            <a:r>
              <a:rPr lang="zh-CN" altLang="en-US" dirty="0" smtClean="0"/>
              <a:t>字节</a:t>
            </a:r>
            <a:r>
              <a:rPr lang="en-US" altLang="zh-CN" dirty="0" smtClean="0"/>
              <a:t>AS</a:t>
            </a:r>
            <a:r>
              <a:rPr lang="zh-CN" altLang="en-US" dirty="0" smtClean="0"/>
              <a:t>号的格式与用户配置时使用的格式一致。</a:t>
            </a:r>
          </a:p>
          <a:p>
            <a:pPr lvl="0"/>
            <a:endParaRPr lang="zh-CN" altLang="en-US" dirty="0" smtClean="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87765045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42429214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说明：</a:t>
            </a:r>
            <a:r>
              <a:rPr lang="en-US" altLang="zh-CN" smtClean="0"/>
              <a:t>New Speaker</a:t>
            </a:r>
            <a:r>
              <a:rPr lang="zh-CN" altLang="en-US" smtClean="0"/>
              <a:t>向</a:t>
            </a:r>
            <a:r>
              <a:rPr lang="en-US" altLang="zh-CN" smtClean="0"/>
              <a:t>Old Speaker</a:t>
            </a:r>
            <a:r>
              <a:rPr lang="zh-CN" altLang="en-US" smtClean="0"/>
              <a:t>传递路由信息时，会同时携带</a:t>
            </a:r>
            <a:r>
              <a:rPr lang="en-US" altLang="zh-CN" smtClean="0"/>
              <a:t>AS_Path</a:t>
            </a:r>
            <a:r>
              <a:rPr lang="zh-CN" altLang="en-US" smtClean="0"/>
              <a:t>属性和</a:t>
            </a:r>
            <a:r>
              <a:rPr lang="en-US" altLang="zh-CN" smtClean="0"/>
              <a:t>AS4_Path</a:t>
            </a:r>
            <a:r>
              <a:rPr lang="zh-CN" altLang="en-US" smtClean="0"/>
              <a:t>属性，以此来辅助传递</a:t>
            </a:r>
            <a:r>
              <a:rPr lang="en-US" altLang="zh-CN" smtClean="0"/>
              <a:t>4</a:t>
            </a:r>
            <a:r>
              <a:rPr lang="zh-CN" altLang="en-US" smtClean="0"/>
              <a:t>字节</a:t>
            </a:r>
            <a:r>
              <a:rPr lang="en-US" altLang="zh-CN" smtClean="0"/>
              <a:t>AS</a:t>
            </a:r>
            <a:r>
              <a:rPr lang="zh-CN" altLang="en-US" smtClean="0"/>
              <a:t>号信息。</a:t>
            </a:r>
            <a:r>
              <a:rPr lang="en-US" altLang="zh-CN" smtClean="0"/>
              <a:t>AS4_Path</a:t>
            </a:r>
            <a:r>
              <a:rPr lang="zh-CN" altLang="en-US" smtClean="0"/>
              <a:t>属性可传递，当</a:t>
            </a:r>
            <a:r>
              <a:rPr lang="en-US" altLang="zh-CN" smtClean="0"/>
              <a:t>Old Speaker</a:t>
            </a:r>
            <a:r>
              <a:rPr lang="zh-CN" altLang="en-US" smtClean="0"/>
              <a:t>收到</a:t>
            </a:r>
            <a:r>
              <a:rPr lang="en-US" altLang="zh-CN" smtClean="0"/>
              <a:t>AS4_Path</a:t>
            </a:r>
            <a:r>
              <a:rPr lang="zh-CN" altLang="en-US" smtClean="0"/>
              <a:t>属性时，会向其他</a:t>
            </a:r>
            <a:r>
              <a:rPr lang="en-US" altLang="zh-CN" smtClean="0"/>
              <a:t>Speaker</a:t>
            </a:r>
            <a:r>
              <a:rPr lang="zh-CN" altLang="en-US" smtClean="0"/>
              <a:t>传递。</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6793271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当</a:t>
            </a:r>
            <a:r>
              <a:rPr lang="en-US" altLang="zh-CN" smtClean="0"/>
              <a:t>New Speaker</a:t>
            </a:r>
            <a:r>
              <a:rPr lang="zh-CN" altLang="en-US" smtClean="0"/>
              <a:t>向</a:t>
            </a:r>
            <a:r>
              <a:rPr lang="en-US" altLang="zh-CN" smtClean="0"/>
              <a:t>Old Speaker</a:t>
            </a:r>
            <a:r>
              <a:rPr lang="zh-CN" altLang="en-US" smtClean="0"/>
              <a:t>发送</a:t>
            </a:r>
            <a:r>
              <a:rPr lang="en-US" altLang="zh-CN" smtClean="0"/>
              <a:t>Update</a:t>
            </a:r>
            <a:r>
              <a:rPr lang="zh-CN" altLang="en-US" smtClean="0"/>
              <a:t>消息时，如果存在大于</a:t>
            </a:r>
            <a:r>
              <a:rPr lang="en-US" altLang="zh-CN" smtClean="0"/>
              <a:t>65535</a:t>
            </a:r>
            <a:r>
              <a:rPr lang="zh-CN" altLang="en-US" smtClean="0"/>
              <a:t>的</a:t>
            </a:r>
            <a:r>
              <a:rPr lang="en-US" altLang="zh-CN" smtClean="0"/>
              <a:t>AS</a:t>
            </a:r>
            <a:r>
              <a:rPr lang="zh-CN" altLang="en-US" smtClean="0"/>
              <a:t>号信息，会使用</a:t>
            </a:r>
            <a:r>
              <a:rPr lang="en-US" altLang="zh-CN" smtClean="0"/>
              <a:t>AS4_Path</a:t>
            </a:r>
            <a:r>
              <a:rPr lang="zh-CN" altLang="en-US" smtClean="0"/>
              <a:t>属性辅助</a:t>
            </a:r>
            <a:r>
              <a:rPr lang="en-US" altLang="zh-CN" smtClean="0"/>
              <a:t>AS_Path</a:t>
            </a:r>
            <a:r>
              <a:rPr lang="zh-CN" altLang="en-US" smtClean="0"/>
              <a:t>属性传递</a:t>
            </a:r>
            <a:r>
              <a:rPr lang="en-US" altLang="zh-CN" smtClean="0"/>
              <a:t>4</a:t>
            </a:r>
            <a:r>
              <a:rPr lang="zh-CN" altLang="en-US" smtClean="0"/>
              <a:t>字节</a:t>
            </a:r>
            <a:r>
              <a:rPr lang="en-US" altLang="zh-CN" smtClean="0"/>
              <a:t>AS</a:t>
            </a:r>
            <a:r>
              <a:rPr lang="zh-CN" altLang="en-US" smtClean="0"/>
              <a:t>号信息，</a:t>
            </a:r>
            <a:r>
              <a:rPr lang="en-US" altLang="zh-CN" smtClean="0"/>
              <a:t>AS4_Path</a:t>
            </a:r>
            <a:r>
              <a:rPr lang="zh-CN" altLang="en-US" smtClean="0"/>
              <a:t>属性对</a:t>
            </a:r>
            <a:r>
              <a:rPr lang="en-US" altLang="zh-CN" smtClean="0"/>
              <a:t>Old Speaker</a:t>
            </a:r>
            <a:r>
              <a:rPr lang="zh-CN" altLang="en-US" smtClean="0"/>
              <a:t>来说是完全透明的。</a:t>
            </a:r>
            <a:endParaRPr lang="en-US" altLang="zh-CN" smtClean="0"/>
          </a:p>
          <a:p>
            <a:pPr lvl="1"/>
            <a:r>
              <a:rPr lang="zh-CN" altLang="en-US" smtClean="0"/>
              <a:t>如图所示，当</a:t>
            </a:r>
            <a:r>
              <a:rPr lang="en-US" altLang="zh-CN" smtClean="0"/>
              <a:t>AS 2.2</a:t>
            </a:r>
            <a:r>
              <a:rPr lang="zh-CN" altLang="en-US" smtClean="0"/>
              <a:t>的</a:t>
            </a:r>
            <a:r>
              <a:rPr lang="en-US" altLang="zh-CN" smtClean="0"/>
              <a:t>New Speaker</a:t>
            </a:r>
            <a:r>
              <a:rPr lang="zh-CN" altLang="en-US" smtClean="0"/>
              <a:t>向</a:t>
            </a:r>
            <a:r>
              <a:rPr lang="en-US" altLang="zh-CN" smtClean="0"/>
              <a:t>AS 65002</a:t>
            </a:r>
            <a:r>
              <a:rPr lang="zh-CN" altLang="en-US" smtClean="0"/>
              <a:t>的</a:t>
            </a:r>
            <a:r>
              <a:rPr lang="en-US" altLang="zh-CN" smtClean="0"/>
              <a:t>Old Speaker</a:t>
            </a:r>
            <a:r>
              <a:rPr lang="zh-CN" altLang="en-US" smtClean="0"/>
              <a:t>发送</a:t>
            </a:r>
            <a:r>
              <a:rPr lang="en-US" altLang="zh-CN" smtClean="0"/>
              <a:t>Update</a:t>
            </a:r>
            <a:r>
              <a:rPr lang="zh-CN" altLang="en-US" smtClean="0"/>
              <a:t>消息时，</a:t>
            </a:r>
            <a:r>
              <a:rPr lang="en-US" altLang="zh-CN" smtClean="0"/>
              <a:t>Update</a:t>
            </a:r>
            <a:r>
              <a:rPr lang="zh-CN" altLang="en-US" smtClean="0"/>
              <a:t>消息里的</a:t>
            </a:r>
            <a:r>
              <a:rPr lang="en-US" altLang="zh-CN" smtClean="0"/>
              <a:t>AS_Path</a:t>
            </a:r>
            <a:r>
              <a:rPr lang="zh-CN" altLang="en-US" smtClean="0"/>
              <a:t>为（</a:t>
            </a:r>
            <a:r>
              <a:rPr lang="en-US" altLang="zh-CN" smtClean="0"/>
              <a:t>23456</a:t>
            </a:r>
            <a:r>
              <a:rPr lang="zh-CN" altLang="en-US" smtClean="0"/>
              <a:t>，</a:t>
            </a:r>
            <a:r>
              <a:rPr lang="en-US" altLang="zh-CN" smtClean="0"/>
              <a:t>23456</a:t>
            </a:r>
            <a:r>
              <a:rPr lang="zh-CN" altLang="en-US" smtClean="0"/>
              <a:t>，</a:t>
            </a:r>
            <a:r>
              <a:rPr lang="en-US" altLang="zh-CN" smtClean="0"/>
              <a:t>65001</a:t>
            </a:r>
            <a:r>
              <a:rPr lang="zh-CN" altLang="en-US" smtClean="0"/>
              <a:t>），</a:t>
            </a:r>
            <a:r>
              <a:rPr lang="en-US" altLang="zh-CN" smtClean="0"/>
              <a:t>AS4_Path</a:t>
            </a:r>
            <a:r>
              <a:rPr lang="zh-CN" altLang="en-US" smtClean="0"/>
              <a:t>为（</a:t>
            </a:r>
            <a:r>
              <a:rPr lang="en-US" altLang="zh-CN" smtClean="0"/>
              <a:t>2.2</a:t>
            </a:r>
            <a:r>
              <a:rPr lang="zh-CN" altLang="en-US" smtClean="0"/>
              <a:t>，</a:t>
            </a:r>
            <a:r>
              <a:rPr lang="en-US" altLang="zh-CN" smtClean="0"/>
              <a:t>1.1</a:t>
            </a:r>
            <a:r>
              <a:rPr lang="zh-CN" altLang="en-US" smtClean="0"/>
              <a:t>，</a:t>
            </a:r>
            <a:r>
              <a:rPr lang="en-US" altLang="zh-CN" smtClean="0"/>
              <a:t>65001</a:t>
            </a:r>
            <a:r>
              <a:rPr lang="zh-CN" altLang="en-US" smtClean="0"/>
              <a:t>），其中</a:t>
            </a:r>
            <a:r>
              <a:rPr lang="en-US" altLang="zh-CN" smtClean="0"/>
              <a:t>23456</a:t>
            </a:r>
            <a:r>
              <a:rPr lang="zh-CN" altLang="en-US" smtClean="0"/>
              <a:t>就是使用</a:t>
            </a:r>
            <a:r>
              <a:rPr lang="en-US" altLang="zh-CN" smtClean="0"/>
              <a:t>AS_TRANS</a:t>
            </a:r>
            <a:r>
              <a:rPr lang="zh-CN" altLang="en-US" smtClean="0"/>
              <a:t>替代</a:t>
            </a:r>
            <a:r>
              <a:rPr lang="en-US" altLang="zh-CN" smtClean="0"/>
              <a:t>1.1</a:t>
            </a:r>
            <a:r>
              <a:rPr lang="zh-CN" altLang="en-US" smtClean="0"/>
              <a:t>和</a:t>
            </a:r>
            <a:r>
              <a:rPr lang="en-US" altLang="zh-CN" smtClean="0"/>
              <a:t>2.2</a:t>
            </a:r>
            <a:r>
              <a:rPr lang="zh-CN" altLang="en-US" smtClean="0"/>
              <a:t>的结果。</a:t>
            </a:r>
            <a:r>
              <a:rPr lang="en-US" altLang="zh-CN" smtClean="0"/>
              <a:t>AS 65002</a:t>
            </a:r>
            <a:r>
              <a:rPr lang="zh-CN" altLang="en-US" smtClean="0"/>
              <a:t>的</a:t>
            </a:r>
            <a:r>
              <a:rPr lang="en-US" altLang="zh-CN" smtClean="0"/>
              <a:t>Old Speaker</a:t>
            </a:r>
            <a:r>
              <a:rPr lang="zh-CN" altLang="en-US" smtClean="0"/>
              <a:t>在向外发送路由时，不会对</a:t>
            </a:r>
            <a:r>
              <a:rPr lang="en-US" altLang="zh-CN" smtClean="0"/>
              <a:t>AS4_Path</a:t>
            </a:r>
            <a:r>
              <a:rPr lang="zh-CN" altLang="en-US" smtClean="0"/>
              <a:t>做任何改动，而是将（</a:t>
            </a:r>
            <a:r>
              <a:rPr lang="en-US" altLang="zh-CN" smtClean="0"/>
              <a:t>2.2</a:t>
            </a:r>
            <a:r>
              <a:rPr lang="zh-CN" altLang="en-US" smtClean="0"/>
              <a:t>，</a:t>
            </a:r>
            <a:r>
              <a:rPr lang="en-US" altLang="zh-CN" smtClean="0"/>
              <a:t>1.1</a:t>
            </a:r>
            <a:r>
              <a:rPr lang="zh-CN" altLang="en-US" smtClean="0"/>
              <a:t>，</a:t>
            </a:r>
            <a:r>
              <a:rPr lang="en-US" altLang="zh-CN" smtClean="0"/>
              <a:t>65001</a:t>
            </a:r>
            <a:r>
              <a:rPr lang="zh-CN" altLang="en-US" smtClean="0"/>
              <a:t>）透明传输给其他</a:t>
            </a:r>
            <a:r>
              <a:rPr lang="en-US" altLang="zh-CN" smtClean="0"/>
              <a:t>AS</a:t>
            </a:r>
            <a:r>
              <a:rPr lang="zh-CN" altLang="en-US" smtClean="0"/>
              <a:t>。</a:t>
            </a:r>
          </a:p>
          <a:p>
            <a:r>
              <a:rPr lang="zh-CN" altLang="en-US" smtClean="0"/>
              <a:t>当</a:t>
            </a:r>
            <a:r>
              <a:rPr lang="en-US" altLang="zh-CN" smtClean="0"/>
              <a:t>New Speaker</a:t>
            </a:r>
            <a:r>
              <a:rPr lang="zh-CN" altLang="en-US" smtClean="0"/>
              <a:t>从</a:t>
            </a:r>
            <a:r>
              <a:rPr lang="en-US" altLang="zh-CN" smtClean="0"/>
              <a:t>Old Speaker</a:t>
            </a:r>
            <a:r>
              <a:rPr lang="zh-CN" altLang="en-US" smtClean="0"/>
              <a:t>收到带有</a:t>
            </a:r>
            <a:r>
              <a:rPr lang="en-US" altLang="zh-CN" smtClean="0"/>
              <a:t>AS_Path</a:t>
            </a:r>
            <a:r>
              <a:rPr lang="zh-CN" altLang="en-US" smtClean="0"/>
              <a:t>属性、</a:t>
            </a:r>
            <a:r>
              <a:rPr lang="en-US" altLang="zh-CN" smtClean="0"/>
              <a:t>AS4_Path</a:t>
            </a:r>
            <a:r>
              <a:rPr lang="zh-CN" altLang="en-US" smtClean="0"/>
              <a:t>属性的</a:t>
            </a:r>
            <a:r>
              <a:rPr lang="en-US" altLang="zh-CN" smtClean="0"/>
              <a:t>Update</a:t>
            </a:r>
            <a:r>
              <a:rPr lang="zh-CN" altLang="en-US" smtClean="0"/>
              <a:t>消息时，会根据重构算法重构出真正的</a:t>
            </a:r>
            <a:r>
              <a:rPr lang="en-US" altLang="zh-CN" smtClean="0"/>
              <a:t>AS_Path</a:t>
            </a:r>
            <a:r>
              <a:rPr lang="zh-CN" altLang="en-US" smtClean="0"/>
              <a:t>属性。</a:t>
            </a:r>
            <a:endParaRPr lang="en-US" altLang="zh-CN" smtClean="0"/>
          </a:p>
          <a:p>
            <a:pPr lvl="1"/>
            <a:r>
              <a:rPr lang="zh-CN" altLang="en-US" smtClean="0"/>
              <a:t>如图所示，当</a:t>
            </a:r>
            <a:r>
              <a:rPr lang="en-US" altLang="zh-CN" smtClean="0"/>
              <a:t>AS 65003</a:t>
            </a:r>
            <a:r>
              <a:rPr lang="zh-CN" altLang="en-US" smtClean="0"/>
              <a:t>的</a:t>
            </a:r>
            <a:r>
              <a:rPr lang="en-US" altLang="zh-CN" smtClean="0"/>
              <a:t>New Speaker</a:t>
            </a:r>
            <a:r>
              <a:rPr lang="zh-CN" altLang="en-US" smtClean="0"/>
              <a:t>从</a:t>
            </a:r>
            <a:r>
              <a:rPr lang="en-US" altLang="zh-CN" smtClean="0"/>
              <a:t>AS 65002</a:t>
            </a:r>
            <a:r>
              <a:rPr lang="zh-CN" altLang="en-US" smtClean="0"/>
              <a:t>的</a:t>
            </a:r>
            <a:r>
              <a:rPr lang="en-US" altLang="zh-CN" smtClean="0"/>
              <a:t>Old Speaker</a:t>
            </a:r>
            <a:r>
              <a:rPr lang="zh-CN" altLang="en-US" smtClean="0"/>
              <a:t>收到带有</a:t>
            </a:r>
            <a:r>
              <a:rPr lang="en-US" altLang="zh-CN" smtClean="0"/>
              <a:t>AS_Path</a:t>
            </a:r>
            <a:r>
              <a:rPr lang="zh-CN" altLang="en-US" smtClean="0"/>
              <a:t>属性（</a:t>
            </a:r>
            <a:r>
              <a:rPr lang="en-US" altLang="zh-CN" smtClean="0"/>
              <a:t>65002</a:t>
            </a:r>
            <a:r>
              <a:rPr lang="zh-CN" altLang="en-US" smtClean="0"/>
              <a:t>，</a:t>
            </a:r>
            <a:r>
              <a:rPr lang="en-US" altLang="zh-CN" smtClean="0"/>
              <a:t>23456</a:t>
            </a:r>
            <a:r>
              <a:rPr lang="zh-CN" altLang="en-US" smtClean="0"/>
              <a:t>，</a:t>
            </a:r>
            <a:r>
              <a:rPr lang="en-US" altLang="zh-CN" smtClean="0"/>
              <a:t>23456</a:t>
            </a:r>
            <a:r>
              <a:rPr lang="zh-CN" altLang="en-US" smtClean="0"/>
              <a:t>，</a:t>
            </a:r>
            <a:r>
              <a:rPr lang="en-US" altLang="zh-CN" smtClean="0"/>
              <a:t>65001</a:t>
            </a:r>
            <a:r>
              <a:rPr lang="zh-CN" altLang="en-US" smtClean="0"/>
              <a:t>）和</a:t>
            </a:r>
            <a:r>
              <a:rPr lang="en-US" altLang="zh-CN" smtClean="0"/>
              <a:t>AS4_Path</a:t>
            </a:r>
            <a:r>
              <a:rPr lang="zh-CN" altLang="en-US" smtClean="0"/>
              <a:t>属性（</a:t>
            </a:r>
            <a:r>
              <a:rPr lang="en-US" altLang="zh-CN" smtClean="0"/>
              <a:t>2.2</a:t>
            </a:r>
            <a:r>
              <a:rPr lang="zh-CN" altLang="en-US" smtClean="0"/>
              <a:t>，</a:t>
            </a:r>
            <a:r>
              <a:rPr lang="en-US" altLang="zh-CN" smtClean="0"/>
              <a:t>1.1</a:t>
            </a:r>
            <a:r>
              <a:rPr lang="zh-CN" altLang="en-US" smtClean="0"/>
              <a:t>，</a:t>
            </a:r>
            <a:r>
              <a:rPr lang="en-US" altLang="zh-CN" smtClean="0"/>
              <a:t>65001</a:t>
            </a:r>
            <a:r>
              <a:rPr lang="zh-CN" altLang="en-US" smtClean="0"/>
              <a:t>）的</a:t>
            </a:r>
            <a:r>
              <a:rPr lang="en-US" altLang="zh-CN" smtClean="0"/>
              <a:t>Update</a:t>
            </a:r>
            <a:r>
              <a:rPr lang="zh-CN" altLang="en-US" smtClean="0"/>
              <a:t>消息后，重构出了真正的</a:t>
            </a:r>
            <a:r>
              <a:rPr lang="en-US" altLang="zh-CN" smtClean="0"/>
              <a:t>AS_Path</a:t>
            </a:r>
            <a:r>
              <a:rPr lang="zh-CN" altLang="en-US" smtClean="0"/>
              <a:t>属性（</a:t>
            </a:r>
            <a:r>
              <a:rPr lang="en-US" altLang="zh-CN" smtClean="0"/>
              <a:t>65002</a:t>
            </a:r>
            <a:r>
              <a:rPr lang="zh-CN" altLang="en-US" smtClean="0"/>
              <a:t>，</a:t>
            </a:r>
            <a:r>
              <a:rPr lang="en-US" altLang="zh-CN" smtClean="0"/>
              <a:t>2.2</a:t>
            </a:r>
            <a:r>
              <a:rPr lang="zh-CN" altLang="en-US" smtClean="0"/>
              <a:t>，</a:t>
            </a:r>
            <a:r>
              <a:rPr lang="en-US" altLang="zh-CN" smtClean="0"/>
              <a:t>1.1</a:t>
            </a:r>
            <a:r>
              <a:rPr lang="zh-CN" altLang="en-US" smtClean="0"/>
              <a:t>，</a:t>
            </a:r>
            <a:r>
              <a:rPr lang="en-US" altLang="zh-CN" smtClean="0"/>
              <a:t>65001</a:t>
            </a:r>
            <a:r>
              <a:rPr lang="zh-CN" altLang="en-US" smtClean="0"/>
              <a:t>）。</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56011400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如图所示：</a:t>
            </a:r>
          </a:p>
          <a:p>
            <a:pPr lvl="1"/>
            <a:r>
              <a:rPr lang="zh-CN" altLang="en-US" smtClean="0"/>
              <a:t>假设</a:t>
            </a:r>
            <a:r>
              <a:rPr lang="en-US" altLang="zh-CN" smtClean="0"/>
              <a:t>AS 1.1</a:t>
            </a:r>
            <a:r>
              <a:rPr lang="zh-CN" altLang="en-US" smtClean="0"/>
              <a:t>内，通过静态路由或</a:t>
            </a:r>
            <a:r>
              <a:rPr lang="en-US" altLang="zh-CN" smtClean="0"/>
              <a:t>OSPF</a:t>
            </a:r>
            <a:r>
              <a:rPr lang="zh-CN" altLang="en-US" smtClean="0"/>
              <a:t>实现</a:t>
            </a:r>
            <a:r>
              <a:rPr lang="en-US" altLang="zh-CN" smtClean="0"/>
              <a:t>AS 1.1</a:t>
            </a:r>
            <a:r>
              <a:rPr lang="zh-CN" altLang="en-US" smtClean="0"/>
              <a:t>内部网络可达，配置省略。</a:t>
            </a:r>
          </a:p>
          <a:p>
            <a:pPr lvl="1"/>
            <a:r>
              <a:rPr lang="en-US" altLang="zh-CN" smtClean="0"/>
              <a:t>R1</a:t>
            </a:r>
            <a:r>
              <a:rPr lang="zh-CN" altLang="en-US" smtClean="0"/>
              <a:t>通告</a:t>
            </a:r>
            <a:r>
              <a:rPr lang="en-US" altLang="zh-CN" smtClean="0"/>
              <a:t>Loopback0</a:t>
            </a:r>
            <a:r>
              <a:rPr lang="zh-CN" altLang="en-US" smtClean="0"/>
              <a:t>接口地址到</a:t>
            </a:r>
            <a:r>
              <a:rPr lang="en-US" altLang="zh-CN" smtClean="0"/>
              <a:t>BGP</a:t>
            </a:r>
            <a:r>
              <a:rPr lang="zh-CN" altLang="en-US" smtClean="0"/>
              <a:t>中，配置省略。</a:t>
            </a:r>
          </a:p>
          <a:p>
            <a:r>
              <a:rPr lang="zh-CN" altLang="en-US" smtClean="0"/>
              <a:t>注意：</a:t>
            </a:r>
            <a:endParaRPr lang="en-US" altLang="zh-CN" smtClean="0"/>
          </a:p>
          <a:p>
            <a:pPr lvl="1"/>
            <a:r>
              <a:rPr lang="zh-CN" altLang="en-US" smtClean="0"/>
              <a:t>本页配置以</a:t>
            </a:r>
            <a:r>
              <a:rPr lang="en-US" altLang="zh-CN" smtClean="0"/>
              <a:t>NetEngine 8000</a:t>
            </a:r>
            <a:r>
              <a:rPr lang="zh-CN" altLang="en-US" smtClean="0"/>
              <a:t>系列路由器为例，其他产品</a:t>
            </a:r>
            <a:r>
              <a:rPr lang="en-US" altLang="zh-CN" smtClean="0"/>
              <a:t>4</a:t>
            </a:r>
            <a:r>
              <a:rPr lang="zh-CN" altLang="en-US" smtClean="0"/>
              <a:t>字节</a:t>
            </a:r>
            <a:r>
              <a:rPr lang="en-US" altLang="zh-CN" smtClean="0"/>
              <a:t>AS</a:t>
            </a:r>
            <a:r>
              <a:rPr lang="zh-CN" altLang="en-US" smtClean="0"/>
              <a:t>号配置，请查阅相应产品文档。</a:t>
            </a:r>
            <a:endParaRPr lang="en-US" altLang="zh-CN" smtClean="0"/>
          </a:p>
          <a:p>
            <a:pPr lvl="1"/>
            <a:r>
              <a:rPr lang="zh-CN" altLang="en-US" smtClean="0"/>
              <a:t>调整</a:t>
            </a:r>
            <a:r>
              <a:rPr lang="en-US" altLang="zh-CN" smtClean="0"/>
              <a:t>4</a:t>
            </a:r>
            <a:r>
              <a:rPr lang="zh-CN" altLang="en-US" smtClean="0"/>
              <a:t>字节</a:t>
            </a:r>
            <a:r>
              <a:rPr lang="en-US" altLang="zh-CN" smtClean="0"/>
              <a:t>AS</a:t>
            </a:r>
            <a:r>
              <a:rPr lang="zh-CN" altLang="en-US" smtClean="0"/>
              <a:t>号的显示格式会影响</a:t>
            </a:r>
            <a:r>
              <a:rPr lang="en-US" altLang="zh-CN" smtClean="0"/>
              <a:t>AS-Path</a:t>
            </a:r>
            <a:r>
              <a:rPr lang="zh-CN" altLang="en-US" smtClean="0"/>
              <a:t>正则表达式和扩展团体属性过滤器的匹配结果，所以如果当前系统使用了</a:t>
            </a:r>
            <a:r>
              <a:rPr lang="en-US" altLang="zh-CN" smtClean="0"/>
              <a:t>AS-Path</a:t>
            </a:r>
            <a:r>
              <a:rPr lang="zh-CN" altLang="en-US" smtClean="0"/>
              <a:t>正则表达式或者扩展团体属性过滤器做为出口或者入口策略，配置</a:t>
            </a:r>
            <a:r>
              <a:rPr lang="en-US" altLang="zh-CN" smtClean="0"/>
              <a:t>BGP4</a:t>
            </a:r>
            <a:r>
              <a:rPr lang="zh-CN" altLang="en-US" smtClean="0"/>
              <a:t>字节</a:t>
            </a:r>
            <a:r>
              <a:rPr lang="en-US" altLang="zh-CN" smtClean="0"/>
              <a:t>AS</a:t>
            </a:r>
            <a:r>
              <a:rPr lang="zh-CN" altLang="en-US" smtClean="0"/>
              <a:t>号的显示格式后，需要重新配置</a:t>
            </a:r>
            <a:r>
              <a:rPr lang="en-US" altLang="zh-CN" smtClean="0"/>
              <a:t>AS-Path</a:t>
            </a:r>
            <a:r>
              <a:rPr lang="zh-CN" altLang="en-US" smtClean="0"/>
              <a:t>正则表达式和扩展团体属性过滤器，否则会导致路由不能匹配出口或者入口策略，产生网络故障。</a:t>
            </a:r>
            <a:endParaRPr lang="zh-CN" altLang="en-US" dirty="0" smtClean="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17302381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4026576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路由反射器相关角色：</a:t>
            </a:r>
            <a:endParaRPr lang="en-US" altLang="zh-CN" dirty="0" smtClean="0"/>
          </a:p>
          <a:p>
            <a:pPr lvl="1"/>
            <a:r>
              <a:rPr lang="en-US" altLang="zh-CN" dirty="0" smtClean="0"/>
              <a:t>RR</a:t>
            </a:r>
            <a:r>
              <a:rPr lang="zh-CN" altLang="en-US" dirty="0" smtClean="0"/>
              <a:t>：允许把从</a:t>
            </a:r>
            <a:r>
              <a:rPr lang="en-US" altLang="zh-CN" dirty="0" smtClean="0"/>
              <a:t>IBGP</a:t>
            </a:r>
            <a:r>
              <a:rPr lang="zh-CN" altLang="en-US" dirty="0" smtClean="0"/>
              <a:t>对等体学到的路由反射到其他</a:t>
            </a:r>
            <a:r>
              <a:rPr lang="en-US" altLang="zh-CN" dirty="0" smtClean="0"/>
              <a:t>IBGP</a:t>
            </a:r>
            <a:r>
              <a:rPr lang="zh-CN" altLang="en-US" dirty="0" smtClean="0"/>
              <a:t>对等体的</a:t>
            </a:r>
            <a:r>
              <a:rPr lang="en-US" altLang="zh-CN" dirty="0" smtClean="0"/>
              <a:t>BGP</a:t>
            </a:r>
            <a:r>
              <a:rPr lang="zh-CN" altLang="en-US" dirty="0" smtClean="0"/>
              <a:t>设备，类似</a:t>
            </a:r>
            <a:r>
              <a:rPr lang="en-US" altLang="zh-CN" dirty="0" smtClean="0"/>
              <a:t>OSPF</a:t>
            </a:r>
            <a:r>
              <a:rPr lang="zh-CN" altLang="en-US" dirty="0" smtClean="0"/>
              <a:t>网络中的</a:t>
            </a:r>
            <a:r>
              <a:rPr lang="en-US" altLang="zh-CN" dirty="0" smtClean="0"/>
              <a:t>DR</a:t>
            </a:r>
            <a:r>
              <a:rPr lang="zh-CN" altLang="en-US" dirty="0" smtClean="0"/>
              <a:t>。</a:t>
            </a:r>
          </a:p>
          <a:p>
            <a:pPr lvl="1"/>
            <a:r>
              <a:rPr lang="en-US" altLang="zh-CN" dirty="0" smtClean="0"/>
              <a:t>Client</a:t>
            </a:r>
            <a:r>
              <a:rPr lang="zh-CN" altLang="en-US" dirty="0" smtClean="0"/>
              <a:t>：与</a:t>
            </a:r>
            <a:r>
              <a:rPr lang="en-US" altLang="zh-CN" dirty="0" smtClean="0"/>
              <a:t>RR</a:t>
            </a:r>
            <a:r>
              <a:rPr lang="zh-CN" altLang="en-US" dirty="0" smtClean="0"/>
              <a:t>形成反射邻居关系的</a:t>
            </a:r>
            <a:r>
              <a:rPr lang="en-US" altLang="zh-CN" dirty="0" smtClean="0"/>
              <a:t>IBGP</a:t>
            </a:r>
            <a:r>
              <a:rPr lang="zh-CN" altLang="en-US" dirty="0" smtClean="0"/>
              <a:t>设备。在</a:t>
            </a:r>
            <a:r>
              <a:rPr lang="en-US" altLang="zh-CN" dirty="0" smtClean="0"/>
              <a:t>AS</a:t>
            </a:r>
            <a:r>
              <a:rPr lang="zh-CN" altLang="en-US" dirty="0" smtClean="0"/>
              <a:t>内部客户机只需要与</a:t>
            </a:r>
            <a:r>
              <a:rPr lang="en-US" altLang="zh-CN" dirty="0" smtClean="0"/>
              <a:t>RR</a:t>
            </a:r>
            <a:r>
              <a:rPr lang="zh-CN" altLang="en-US" dirty="0" smtClean="0"/>
              <a:t>直连。</a:t>
            </a:r>
          </a:p>
          <a:p>
            <a:pPr lvl="1"/>
            <a:r>
              <a:rPr lang="en-US" altLang="zh-CN" dirty="0" smtClean="0"/>
              <a:t>Non-Client</a:t>
            </a:r>
            <a:r>
              <a:rPr lang="zh-CN" altLang="en-US" dirty="0" smtClean="0"/>
              <a:t>：既不是</a:t>
            </a:r>
            <a:r>
              <a:rPr lang="en-US" altLang="zh-CN" dirty="0" smtClean="0"/>
              <a:t>RR</a:t>
            </a:r>
            <a:r>
              <a:rPr lang="zh-CN" altLang="en-US" dirty="0" smtClean="0"/>
              <a:t>也不是客户机的</a:t>
            </a:r>
            <a:r>
              <a:rPr lang="en-US" altLang="zh-CN" dirty="0" smtClean="0"/>
              <a:t>IBGP</a:t>
            </a:r>
            <a:r>
              <a:rPr lang="zh-CN" altLang="en-US" dirty="0" smtClean="0"/>
              <a:t>设备。在</a:t>
            </a:r>
            <a:r>
              <a:rPr lang="en-US" altLang="zh-CN" dirty="0" smtClean="0"/>
              <a:t>AS</a:t>
            </a:r>
            <a:r>
              <a:rPr lang="zh-CN" altLang="en-US" dirty="0" smtClean="0"/>
              <a:t>内部非客户机与</a:t>
            </a:r>
            <a:r>
              <a:rPr lang="en-US" altLang="zh-CN" dirty="0" smtClean="0"/>
              <a:t>RR</a:t>
            </a:r>
            <a:r>
              <a:rPr lang="zh-CN" altLang="en-US" dirty="0" smtClean="0"/>
              <a:t>之间，以及所有的非客户机之间仍然必须建立全互联关系。</a:t>
            </a:r>
            <a:endParaRPr lang="en-US" altLang="zh-CN" dirty="0" smtClean="0"/>
          </a:p>
          <a:p>
            <a:pPr lvl="1"/>
            <a:r>
              <a:rPr lang="en-US" altLang="zh-CN" dirty="0" smtClean="0"/>
              <a:t>Originator</a:t>
            </a:r>
            <a:r>
              <a:rPr lang="zh-CN" altLang="en-US" dirty="0" smtClean="0"/>
              <a:t>（始发者）：在</a:t>
            </a:r>
            <a:r>
              <a:rPr lang="en-US" altLang="zh-CN" dirty="0" smtClean="0"/>
              <a:t>AS</a:t>
            </a:r>
            <a:r>
              <a:rPr lang="zh-CN" altLang="en-US" dirty="0" smtClean="0"/>
              <a:t>内部始发路由的设备。</a:t>
            </a:r>
            <a:r>
              <a:rPr lang="en-US" altLang="zh-CN" dirty="0" err="1" smtClean="0"/>
              <a:t>Originator_ID</a:t>
            </a:r>
            <a:r>
              <a:rPr lang="zh-CN" altLang="en-US" dirty="0" smtClean="0"/>
              <a:t>属性用于防止集群内产生路由环路。</a:t>
            </a:r>
          </a:p>
          <a:p>
            <a:pPr lvl="1"/>
            <a:r>
              <a:rPr lang="en-US" altLang="zh-CN" dirty="0" smtClean="0"/>
              <a:t>Cluster</a:t>
            </a:r>
            <a:r>
              <a:rPr lang="zh-CN" altLang="en-US" dirty="0" smtClean="0"/>
              <a:t>（集群）：路由反射器及其客户机的集合。</a:t>
            </a:r>
            <a:r>
              <a:rPr lang="en-US" altLang="zh-CN" dirty="0" err="1" smtClean="0"/>
              <a:t>Cluster_List</a:t>
            </a:r>
            <a:r>
              <a:rPr lang="zh-CN" altLang="en-US" dirty="0" smtClean="0"/>
              <a:t>属性用于防止集群间产生路由环路。</a:t>
            </a:r>
            <a:endParaRPr lang="en-US" altLang="zh-CN" dirty="0" smtClean="0"/>
          </a:p>
          <a:p>
            <a:pPr lvl="0"/>
            <a:r>
              <a:rPr lang="zh-CN" altLang="en-US" dirty="0" smtClean="0"/>
              <a:t>将一台</a:t>
            </a:r>
            <a:r>
              <a:rPr lang="en-US" altLang="zh-CN" dirty="0" smtClean="0"/>
              <a:t>BGP</a:t>
            </a:r>
            <a:r>
              <a:rPr lang="zh-CN" altLang="en-US" dirty="0" smtClean="0"/>
              <a:t>路由器指定为</a:t>
            </a:r>
            <a:r>
              <a:rPr lang="en-US" altLang="zh-CN" dirty="0" smtClean="0"/>
              <a:t>RR</a:t>
            </a:r>
            <a:r>
              <a:rPr lang="zh-CN" altLang="en-US" dirty="0" smtClean="0"/>
              <a:t>的同时，还需要指定其</a:t>
            </a:r>
            <a:r>
              <a:rPr lang="en-US" altLang="zh-CN" dirty="0" smtClean="0"/>
              <a:t>Client</a:t>
            </a:r>
            <a:r>
              <a:rPr lang="zh-CN" altLang="en-US" dirty="0" smtClean="0"/>
              <a:t>。至于</a:t>
            </a:r>
            <a:r>
              <a:rPr lang="en-US" altLang="zh-CN" dirty="0" smtClean="0"/>
              <a:t>Client</a:t>
            </a:r>
            <a:r>
              <a:rPr lang="zh-CN" altLang="en-US" dirty="0" smtClean="0"/>
              <a:t>本身，无需做任何配置，它并不知晓网络中存在</a:t>
            </a:r>
            <a:r>
              <a:rPr lang="en-US" altLang="zh-CN" dirty="0" smtClean="0"/>
              <a:t>RR</a:t>
            </a:r>
            <a:r>
              <a:rPr lang="zh-CN" altLang="en-US" dirty="0" smtClean="0"/>
              <a:t>。</a:t>
            </a:r>
          </a:p>
          <a:p>
            <a:pPr lvl="0"/>
            <a:r>
              <a:rPr lang="en-US" altLang="zh-CN" dirty="0" smtClean="0"/>
              <a:t>RR</a:t>
            </a:r>
            <a:r>
              <a:rPr lang="zh-CN" altLang="en-US" dirty="0" smtClean="0"/>
              <a:t>发布路由规则：</a:t>
            </a:r>
            <a:endParaRPr lang="en-US" altLang="zh-CN" dirty="0" smtClean="0"/>
          </a:p>
          <a:p>
            <a:pPr lvl="1"/>
            <a:r>
              <a:rPr lang="zh-CN" altLang="en-US" dirty="0" smtClean="0"/>
              <a:t>从非客户机</a:t>
            </a:r>
            <a:r>
              <a:rPr lang="en-US" altLang="zh-CN" dirty="0" smtClean="0"/>
              <a:t>IBGP</a:t>
            </a:r>
            <a:r>
              <a:rPr lang="zh-CN" altLang="en-US" dirty="0" smtClean="0"/>
              <a:t>对等体学到的路由，发布给此</a:t>
            </a:r>
            <a:r>
              <a:rPr lang="en-US" altLang="zh-CN" dirty="0" smtClean="0"/>
              <a:t>RR</a:t>
            </a:r>
            <a:r>
              <a:rPr lang="zh-CN" altLang="en-US" dirty="0" smtClean="0"/>
              <a:t>的所有客户机。</a:t>
            </a:r>
          </a:p>
          <a:p>
            <a:pPr lvl="1"/>
            <a:r>
              <a:rPr lang="zh-CN" altLang="en-US" dirty="0" smtClean="0"/>
              <a:t>从客户机学到的路由，发布给此</a:t>
            </a:r>
            <a:r>
              <a:rPr lang="en-US" altLang="zh-CN" dirty="0" smtClean="0"/>
              <a:t>RR</a:t>
            </a:r>
            <a:r>
              <a:rPr lang="zh-CN" altLang="en-US" dirty="0" smtClean="0"/>
              <a:t>的所有非客户机和客户机。</a:t>
            </a:r>
          </a:p>
          <a:p>
            <a:pPr lvl="1"/>
            <a:r>
              <a:rPr lang="zh-CN" altLang="en-US" dirty="0" smtClean="0"/>
              <a:t>从</a:t>
            </a:r>
            <a:r>
              <a:rPr lang="en-US" altLang="zh-CN" dirty="0" smtClean="0"/>
              <a:t>EBGP</a:t>
            </a:r>
            <a:r>
              <a:rPr lang="zh-CN" altLang="en-US" dirty="0" smtClean="0"/>
              <a:t>对等体学到的路由，发布给所有的非客户机和客户机。</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51322902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1331735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4188042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smtClean="0"/>
              <a:t>分级</a:t>
            </a:r>
            <a:r>
              <a:rPr lang="en-US" altLang="zh-CN" smtClean="0"/>
              <a:t>RR</a:t>
            </a:r>
            <a:r>
              <a:rPr lang="zh-CN" altLang="en-US" smtClean="0"/>
              <a:t>与单级</a:t>
            </a:r>
            <a:r>
              <a:rPr lang="en-US" altLang="zh-CN" smtClean="0"/>
              <a:t>RR</a:t>
            </a:r>
            <a:r>
              <a:rPr lang="zh-CN" altLang="en-US" smtClean="0"/>
              <a:t>的路由发布规则相同。</a:t>
            </a:r>
            <a:endParaRPr lang="en-US" altLang="zh-CN" smtClean="0"/>
          </a:p>
          <a:p>
            <a:pPr lvl="0"/>
            <a:r>
              <a:rPr lang="zh-CN" altLang="en-US" smtClean="0"/>
              <a:t>分级</a:t>
            </a:r>
            <a:r>
              <a:rPr lang="en-US" altLang="zh-CN" smtClean="0"/>
              <a:t>RR</a:t>
            </a:r>
            <a:r>
              <a:rPr lang="zh-CN" altLang="en-US" smtClean="0"/>
              <a:t>设计需要考虑两个因素：</a:t>
            </a:r>
            <a:endParaRPr lang="en-US" altLang="zh-CN" smtClean="0"/>
          </a:p>
          <a:p>
            <a:pPr lvl="1"/>
            <a:r>
              <a:rPr lang="zh-CN" altLang="en-US" smtClean="0"/>
              <a:t>顶层全互联的拓扑大小：如果</a:t>
            </a:r>
            <a:r>
              <a:rPr lang="en-US" altLang="zh-CN" smtClean="0"/>
              <a:t>IBGP</a:t>
            </a:r>
            <a:r>
              <a:rPr lang="zh-CN" altLang="en-US" smtClean="0"/>
              <a:t>全互联数量已经多到难以管理了，则可考虑引入</a:t>
            </a:r>
            <a:r>
              <a:rPr lang="en-US" altLang="zh-CN" smtClean="0"/>
              <a:t>RR</a:t>
            </a:r>
            <a:r>
              <a:rPr lang="zh-CN" altLang="en-US" smtClean="0"/>
              <a:t>分级部署。</a:t>
            </a:r>
            <a:endParaRPr lang="en-US" altLang="zh-CN" smtClean="0"/>
          </a:p>
          <a:p>
            <a:pPr lvl="1"/>
            <a:r>
              <a:rPr lang="zh-CN" altLang="en-US" smtClean="0"/>
              <a:t>可替代路径的数量：该因素影响负载分担和资源消耗。越多的层次越会减少负载分担链路的数量，但需要的路由器资源更少。</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62663839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7722200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3783974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lvl="0" indent="-228600">
              <a:buFont typeface="+mj-lt"/>
              <a:buAutoNum type="arabicPeriod"/>
            </a:pPr>
            <a:r>
              <a:rPr lang="en-US" altLang="zh-CN" dirty="0" smtClean="0"/>
              <a:t>D</a:t>
            </a:r>
            <a:endParaRPr lang="en-US" altLang="zh-CN" dirty="0" smtClean="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1987728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lvl="0" indent="-228600">
              <a:buFont typeface="+mj-lt"/>
              <a:buAutoNum type="arabicPeriod" startAt="2"/>
            </a:pPr>
            <a:r>
              <a:rPr lang="en-US" altLang="zh-CN" dirty="0" smtClean="0"/>
              <a:t>B</a:t>
            </a:r>
            <a:endParaRPr lang="en-US" altLang="zh-CN" dirty="0" smtClean="0"/>
          </a:p>
          <a:p>
            <a:pPr marL="228600" lvl="0" indent="-228600">
              <a:buFont typeface="+mj-lt"/>
              <a:buAutoNum type="arabicPeriod" startAt="2"/>
            </a:pPr>
            <a:r>
              <a:rPr lang="en-US" altLang="zh-CN" dirty="0" smtClean="0"/>
              <a:t>A</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46703581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4639810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953811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 xmlns:a16="http://schemas.microsoft.com/office/drawing/2014/main"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 xmlns:a16="http://schemas.microsoft.com/office/drawing/2014/main" id="{2F43DA98-D48D-6947-95EF-BA3B05E68822}"/>
              </a:ext>
            </a:extLst>
          </p:cNvPr>
          <p:cNvSpPr>
            <a:spLocks noGrp="1"/>
          </p:cNvSpPr>
          <p:nvPr>
            <p:ph type="body" sz="quarter" idx="10" hasCustomPrompt="1"/>
          </p:nvPr>
        </p:nvSpPr>
        <p:spPr>
          <a:xfrm>
            <a:off x="916561" y="1949372"/>
            <a:ext cx="8125840" cy="643926"/>
          </a:xfrm>
          <a:prstGeom prst="rect">
            <a:avLst/>
          </a:prstGeom>
        </p:spPr>
        <p:txBody>
          <a:bodyPr vert="horz" lIns="0" tIns="0" rIns="0" bIns="0" rtlCol="0">
            <a:noAutofit/>
          </a:bodyPr>
          <a:lstStyle>
            <a:lvl1pPr marL="228600" indent="-228600" fontAlgn="base">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smtClean="0"/>
              <a:t>单击此处添加文本</a:t>
            </a:r>
            <a:endParaRPr lang="en-US" dirty="0"/>
          </a:p>
        </p:txBody>
      </p:sp>
    </p:spTree>
    <p:extLst>
      <p:ext uri="{BB962C8B-B14F-4D97-AF65-F5344CB8AC3E}">
        <p14:creationId xmlns:p14="http://schemas.microsoft.com/office/powerpoint/2010/main" val="139181382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extLst/>
          </p:nvPr>
        </p:nvGraphicFramePr>
        <p:xfrm>
          <a:off x="1007140" y="1398424"/>
          <a:ext cx="10194260" cy="1082675"/>
        </p:xfrm>
        <a:graphic>
          <a:graphicData uri="http://schemas.openxmlformats.org/drawingml/2006/table">
            <a:tbl>
              <a:tblPr/>
              <a:tblGrid>
                <a:gridCol w="3119031">
                  <a:extLst>
                    <a:ext uri="{9D8B030D-6E8A-4147-A177-3AD203B41FA5}">
                      <a16:colId xmlns="" xmlns:a16="http://schemas.microsoft.com/office/drawing/2014/main" val="20000"/>
                    </a:ext>
                  </a:extLst>
                </a:gridCol>
                <a:gridCol w="1967450">
                  <a:extLst>
                    <a:ext uri="{9D8B030D-6E8A-4147-A177-3AD203B41FA5}">
                      <a16:colId xmlns="" xmlns:a16="http://schemas.microsoft.com/office/drawing/2014/main" val="20001"/>
                    </a:ext>
                  </a:extLst>
                </a:gridCol>
                <a:gridCol w="3023155">
                  <a:extLst>
                    <a:ext uri="{9D8B030D-6E8A-4147-A177-3AD203B41FA5}">
                      <a16:colId xmlns="" xmlns:a16="http://schemas.microsoft.com/office/drawing/2014/main" val="20002"/>
                    </a:ext>
                  </a:extLst>
                </a:gridCol>
                <a:gridCol w="2084624">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bl>
          </a:graphicData>
        </a:graphic>
      </p:graphicFrame>
      <p:graphicFrame>
        <p:nvGraphicFramePr>
          <p:cNvPr id="4" name="Group 21"/>
          <p:cNvGraphicFramePr>
            <a:graphicFrameLocks noGrp="1"/>
          </p:cNvGraphicFramePr>
          <p:nvPr userDrawn="1">
            <p:extLst/>
          </p:nvPr>
        </p:nvGraphicFramePr>
        <p:xfrm>
          <a:off x="1007140" y="2920836"/>
          <a:ext cx="10177327" cy="2549525"/>
        </p:xfrm>
        <a:graphic>
          <a:graphicData uri="http://schemas.openxmlformats.org/drawingml/2006/table">
            <a:tbl>
              <a:tblPr/>
              <a:tblGrid>
                <a:gridCol w="3119030">
                  <a:extLst>
                    <a:ext uri="{9D8B030D-6E8A-4147-A177-3AD203B41FA5}">
                      <a16:colId xmlns="" xmlns:a16="http://schemas.microsoft.com/office/drawing/2014/main" val="20000"/>
                    </a:ext>
                  </a:extLst>
                </a:gridCol>
                <a:gridCol w="1967450">
                  <a:extLst>
                    <a:ext uri="{9D8B030D-6E8A-4147-A177-3AD203B41FA5}">
                      <a16:colId xmlns="" xmlns:a16="http://schemas.microsoft.com/office/drawing/2014/main" val="20001"/>
                    </a:ext>
                  </a:extLst>
                </a:gridCol>
                <a:gridCol w="3023155">
                  <a:extLst>
                    <a:ext uri="{9D8B030D-6E8A-4147-A177-3AD203B41FA5}">
                      <a16:colId xmlns="" xmlns:a16="http://schemas.microsoft.com/office/drawing/2014/main" val="20002"/>
                    </a:ext>
                  </a:extLst>
                </a:gridCol>
                <a:gridCol w="2067692">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V1.0</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ctr" hangingPunct="0">
              <a:spcBef>
                <a:spcPct val="0"/>
              </a:spcBef>
              <a:spcAft>
                <a:spcPct val="0"/>
              </a:spcAft>
            </a:pPr>
            <a:r>
              <a:rPr lang="zh-CN" altLang="en-US" sz="3499"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499907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4999074"/>
            <a:ext cx="1967450" cy="468052"/>
          </a:xfrm>
          <a:prstGeom prst="rect">
            <a:avLst/>
          </a:prstGeom>
        </p:spPr>
        <p:txBody>
          <a:bodyPr anchor="ctr"/>
          <a:lstStyle>
            <a:lvl1pPr algn="ctr" fontAlgn="base">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5" name="文本占位符 7"/>
          <p:cNvSpPr>
            <a:spLocks noGrp="1"/>
          </p:cNvSpPr>
          <p:nvPr>
            <p:ph type="body" sz="quarter" idx="31" hasCustomPrompt="1"/>
          </p:nvPr>
        </p:nvSpPr>
        <p:spPr>
          <a:xfrm>
            <a:off x="6093619" y="499907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4999074"/>
            <a:ext cx="208462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80025264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bwMode="auto">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auto">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auto">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auto">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auto">
              <a:defRPr baseline="0">
                <a:latin typeface="Huawei Sans" panose="020C0503030203020204" pitchFamily="34" charset="0"/>
                <a:ea typeface="方正兰亭黑简体" panose="02000000000000000000" pitchFamily="2" charset="-122"/>
              </a:defRPr>
            </a:lvl4pPr>
            <a:lvl5pPr marL="1802879" indent="-201519" fontAlgn="auto">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a:t>
            </a:r>
            <a:r>
              <a:rPr lang="zh-CN" altLang="en-US" dirty="0" smtClean="0"/>
              <a:t>级</a:t>
            </a:r>
            <a:endParaRPr lang="zh-CN" altLang="en-US" dirty="0"/>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前言</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191700454"/>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bwMode="auto">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auto"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auto">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auto">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auto">
              <a:defRPr baseline="0">
                <a:latin typeface="Huawei Sans" panose="020C0503030203020204" pitchFamily="34" charset="0"/>
                <a:ea typeface="方正兰亭黑简体" panose="02000000000000000000" pitchFamily="2" charset="-122"/>
              </a:defRPr>
            </a:lvl4pPr>
            <a:lvl5pPr marL="1802879" indent="-201519" fontAlgn="auto">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smtClean="0"/>
              <a:t>学完本课程后，您将能够：</a:t>
            </a:r>
            <a:endParaRPr lang="en-US" altLang="zh-CN" dirty="0" smtClean="0"/>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b="0" baseline="0" dirty="0" smtClean="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46285438"/>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bwMode="auto">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auto"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auto">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目录</a:t>
            </a:r>
          </a:p>
        </p:txBody>
      </p:sp>
    </p:spTree>
    <p:extLst>
      <p:ext uri="{BB962C8B-B14F-4D97-AF65-F5344CB8AC3E}">
        <p14:creationId xmlns:p14="http://schemas.microsoft.com/office/powerpoint/2010/main" val="3525239466"/>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b="0" baseline="0" dirty="0" smtClean="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endPar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1036787055"/>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base"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smtClean="0"/>
              <a:t>此</a:t>
            </a:r>
            <a:r>
              <a:rPr lang="zh-CN" altLang="en-US" dirty="0"/>
              <a:t>版式用于</a:t>
            </a:r>
            <a:r>
              <a:rPr lang="zh-CN" altLang="en-US" dirty="0" smtClean="0"/>
              <a:t>思考题具体格式</a:t>
            </a:r>
            <a:endParaRPr lang="en-US" altLang="zh-CN" dirty="0" smtClean="0"/>
          </a:p>
        </p:txBody>
      </p:sp>
      <p:cxnSp>
        <p:nvCxnSpPr>
          <p:cNvPr id="2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 xmlns:a16="http://schemas.microsoft.com/office/drawing/2014/main"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思考题</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355710467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smtClean="0"/>
              <a:t>此版式用于每一节的小结</a:t>
            </a:r>
          </a:p>
          <a:p>
            <a:pPr lvl="1"/>
            <a:r>
              <a:rPr lang="zh-CN" altLang="en-US" dirty="0" smtClean="0"/>
              <a:t>第二</a:t>
            </a:r>
            <a:r>
              <a:rPr lang="zh-CN" altLang="en-US" dirty="0"/>
              <a:t>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本节小结</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3295293137"/>
      </p:ext>
    </p:extLst>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本章总结</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1733786734"/>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更多信息</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105166838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学习推荐</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25976784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455612" y="447468"/>
            <a:ext cx="1129347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455612" y="1484312"/>
            <a:ext cx="11293476" cy="4443243"/>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64986249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455612" y="1047750"/>
            <a:ext cx="11293475" cy="4879805"/>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a:t>
            </a:r>
            <a:r>
              <a:rPr lang="zh-CN" altLang="en-US" dirty="0" smtClean="0"/>
              <a:t>此处输入</a:t>
            </a:r>
            <a:r>
              <a:rPr lang="zh-CN" altLang="en-US" dirty="0"/>
              <a:t>文字</a:t>
            </a:r>
          </a:p>
        </p:txBody>
      </p:sp>
    </p:spTree>
    <p:extLst>
      <p:ext uri="{BB962C8B-B14F-4D97-AF65-F5344CB8AC3E}">
        <p14:creationId xmlns:p14="http://schemas.microsoft.com/office/powerpoint/2010/main" val="1288804162"/>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5"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385192493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2438" y="447468"/>
            <a:ext cx="11296649"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99998166"/>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59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697958"/>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5#谢谢">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xmlns=""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algn="l"/>
            <a:r>
              <a:rPr lang="en-US" sz="4940" dirty="0" smtClean="0">
                <a:solidFill>
                  <a:schemeClr val="tx1"/>
                </a:solidFill>
              </a:rPr>
              <a:t>Thank you.</a:t>
            </a:r>
            <a:endParaRPr lang="en-US" sz="4940" dirty="0">
              <a:solidFill>
                <a:schemeClr val="tx1"/>
              </a:solidFill>
            </a:endParaRPr>
          </a:p>
        </p:txBody>
      </p:sp>
    </p:spTree>
    <p:extLst>
      <p:ext uri="{BB962C8B-B14F-4D97-AF65-F5344CB8AC3E}">
        <p14:creationId xmlns:p14="http://schemas.microsoft.com/office/powerpoint/2010/main" val="102829940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2"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3"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4"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5"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6"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7"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8"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9"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40"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1"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2"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3"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4"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5"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6"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7"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48"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49"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50"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51"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52"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53"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54"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55"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56"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57"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58"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59"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0"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61"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62"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63"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64"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65"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66"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67"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68"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69"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70"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4070073675"/>
      </p:ext>
    </p:extLst>
  </p:cSld>
  <p:clrMap bg1="lt1" tx1="dk1" bg2="lt2" tx2="dk2" accent1="accent1" accent2="accent2" accent3="accent3" accent4="accent4" accent5="accent5" accent6="accent6" hlink="hlink" folHlink="folHlink"/>
  <p:sldLayoutIdLst>
    <p:sldLayoutId id="2147483873"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3906">
          <p15:clr>
            <a:srgbClr val="F26B43"/>
          </p15:clr>
        </p15:guide>
        <p15:guide id="2" pos="574">
          <p15:clr>
            <a:srgbClr val="F26B43"/>
          </p15:clr>
        </p15:guide>
        <p15:guide id="3" orient="horz" pos="572">
          <p15:clr>
            <a:srgbClr val="F26B43"/>
          </p15:clr>
        </p15:guide>
        <p15:guide id="4" orient="horz" pos="1230">
          <p15:clr>
            <a:srgbClr val="F26B43"/>
          </p15:clr>
        </p15:guide>
        <p15:guide id="5" orient="horz" pos="2160">
          <p15:clr>
            <a:srgbClr val="F26B43"/>
          </p15:clr>
        </p15:guide>
        <p15:guide id="6"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29"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0"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1"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2"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3"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4"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5"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6"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7"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38"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39"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0"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1"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2"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3"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4"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5"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6"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7"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68"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9"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0"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1"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2"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3"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4"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5"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6"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7"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78"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79"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0"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1"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2"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3"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4"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5"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6"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7"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970965524"/>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Lst>
  <p:timing>
    <p:tnLst>
      <p:par>
        <p:cTn id="1" dur="indefinite" restart="never" nodeType="tmRoot"/>
      </p:par>
    </p:tnLst>
  </p:timing>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42">
          <p15:clr>
            <a:srgbClr val="F26B43"/>
          </p15:clr>
        </p15:guide>
        <p15:guide id="2" pos="7038">
          <p15:clr>
            <a:srgbClr val="F26B43"/>
          </p15:clr>
        </p15:guide>
        <p15:guide id="4" orient="horz" pos="3906">
          <p15:clr>
            <a:srgbClr val="F26B43"/>
          </p15:clr>
        </p15:guide>
        <p15:guide id="5" orient="horz" pos="1162">
          <p15:clr>
            <a:srgbClr val="F26B43"/>
          </p15:clr>
        </p15:guide>
        <p15:guide id="6" pos="3840">
          <p15:clr>
            <a:srgbClr val="F26B43"/>
          </p15:clr>
        </p15:guide>
        <p15:guide id="7" orient="horz" pos="731">
          <p15:clr>
            <a:srgbClr val="F26B43"/>
          </p15:clr>
        </p15:guide>
        <p15:guide id="8" orient="horz" pos="867">
          <p15:clr>
            <a:srgbClr val="F26B43"/>
          </p15:clr>
        </p15:guide>
        <p15:guide id="9" orient="horz" pos="234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91061"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455613" y="1484313"/>
            <a:ext cx="1129347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1"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2"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3"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4"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5"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6"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7"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8"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9"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0"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1"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2"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3"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4"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65"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66"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7"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8"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9"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70"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1"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2"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3"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4"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5"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6"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7"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8"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9"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80"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81"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2"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3"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4"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5"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6"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7"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8"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9"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855767675"/>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Lst>
  <p:timing>
    <p:tnLst>
      <p:par>
        <p:cTn id="1" dur="indefinite" restart="never" nodeType="tmRoot"/>
      </p:par>
    </p:tnLst>
  </p:timing>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auto"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auto"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auto"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auto"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auto"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279">
          <p15:clr>
            <a:srgbClr val="F26B43"/>
          </p15:clr>
        </p15:guide>
        <p15:guide id="2" pos="7401">
          <p15:clr>
            <a:srgbClr val="F26B43"/>
          </p15:clr>
        </p15:guide>
        <p15:guide id="3" orient="horz" pos="2341">
          <p15:clr>
            <a:srgbClr val="F26B43"/>
          </p15:clr>
        </p15:guide>
        <p15:guide id="4" orient="horz" pos="3906">
          <p15:clr>
            <a:srgbClr val="F26B43"/>
          </p15:clr>
        </p15:guide>
        <p15:guide id="5" orient="horz" pos="935">
          <p15:clr>
            <a:srgbClr val="F26B43"/>
          </p15:clr>
        </p15:guide>
        <p15:guide id="6" pos="3840">
          <p15:clr>
            <a:srgbClr val="F26B43"/>
          </p15:clr>
        </p15:guide>
        <p15:guide id="7" orient="horz" pos="278">
          <p15:clr>
            <a:srgbClr val="F26B43"/>
          </p15:clr>
        </p15:guide>
        <p15:guide id="8" orient="horz" pos="91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a16="http://schemas.microsoft.com/office/drawing/2014/main" xmlns=""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xmlns=""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xmlns=""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xmlns=""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xmlns=""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xmlns=""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xmlns=""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xmlns=""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xmlns=""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xmlns=""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xmlns=""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xmlns=""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xmlns=""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xmlns=""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xmlns=""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xmlns=""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5" name="矩形 13">
              <a:extLst>
                <a:ext uri="{FF2B5EF4-FFF2-40B4-BE49-F238E27FC236}">
                  <a16:creationId xmlns:a16="http://schemas.microsoft.com/office/drawing/2014/main" xmlns=""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6" name="矩形 13">
              <a:extLst>
                <a:ext uri="{FF2B5EF4-FFF2-40B4-BE49-F238E27FC236}">
                  <a16:creationId xmlns:a16="http://schemas.microsoft.com/office/drawing/2014/main" xmlns=""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7" name="矩形 13">
              <a:extLst>
                <a:ext uri="{FF2B5EF4-FFF2-40B4-BE49-F238E27FC236}">
                  <a16:creationId xmlns:a16="http://schemas.microsoft.com/office/drawing/2014/main" xmlns=""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8" name="矩形 13">
              <a:extLst>
                <a:ext uri="{FF2B5EF4-FFF2-40B4-BE49-F238E27FC236}">
                  <a16:creationId xmlns:a16="http://schemas.microsoft.com/office/drawing/2014/main" xmlns=""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49" name="矩形 13">
              <a:extLst>
                <a:ext uri="{FF2B5EF4-FFF2-40B4-BE49-F238E27FC236}">
                  <a16:creationId xmlns:a16="http://schemas.microsoft.com/office/drawing/2014/main" xmlns=""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0" name="矩形 13">
              <a:extLst>
                <a:ext uri="{FF2B5EF4-FFF2-40B4-BE49-F238E27FC236}">
                  <a16:creationId xmlns:a16="http://schemas.microsoft.com/office/drawing/2014/main" xmlns=""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1" name="矩形 13">
              <a:extLst>
                <a:ext uri="{FF2B5EF4-FFF2-40B4-BE49-F238E27FC236}">
                  <a16:creationId xmlns:a16="http://schemas.microsoft.com/office/drawing/2014/main" xmlns=""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2" name="矩形 13">
              <a:extLst>
                <a:ext uri="{FF2B5EF4-FFF2-40B4-BE49-F238E27FC236}">
                  <a16:creationId xmlns:a16="http://schemas.microsoft.com/office/drawing/2014/main" xmlns=""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3" name="矩形 13">
              <a:extLst>
                <a:ext uri="{FF2B5EF4-FFF2-40B4-BE49-F238E27FC236}">
                  <a16:creationId xmlns:a16="http://schemas.microsoft.com/office/drawing/2014/main" xmlns=""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4" name="矩形 13">
              <a:extLst>
                <a:ext uri="{FF2B5EF4-FFF2-40B4-BE49-F238E27FC236}">
                  <a16:creationId xmlns:a16="http://schemas.microsoft.com/office/drawing/2014/main" xmlns=""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5" name="矩形 13">
              <a:extLst>
                <a:ext uri="{FF2B5EF4-FFF2-40B4-BE49-F238E27FC236}">
                  <a16:creationId xmlns:a16="http://schemas.microsoft.com/office/drawing/2014/main" xmlns=""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6" name="矩形 13">
              <a:extLst>
                <a:ext uri="{FF2B5EF4-FFF2-40B4-BE49-F238E27FC236}">
                  <a16:creationId xmlns:a16="http://schemas.microsoft.com/office/drawing/2014/main" xmlns=""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7" name="矩形 13">
              <a:extLst>
                <a:ext uri="{FF2B5EF4-FFF2-40B4-BE49-F238E27FC236}">
                  <a16:creationId xmlns:a16="http://schemas.microsoft.com/office/drawing/2014/main" xmlns=""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8" name="矩形 13">
              <a:extLst>
                <a:ext uri="{FF2B5EF4-FFF2-40B4-BE49-F238E27FC236}">
                  <a16:creationId xmlns:a16="http://schemas.microsoft.com/office/drawing/2014/main" xmlns=""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59" name="矩形 13">
              <a:extLst>
                <a:ext uri="{FF2B5EF4-FFF2-40B4-BE49-F238E27FC236}">
                  <a16:creationId xmlns:a16="http://schemas.microsoft.com/office/drawing/2014/main" xmlns=""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0" name="矩形 13">
              <a:extLst>
                <a:ext uri="{FF2B5EF4-FFF2-40B4-BE49-F238E27FC236}">
                  <a16:creationId xmlns:a16="http://schemas.microsoft.com/office/drawing/2014/main" xmlns=""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1" name="矩形 13">
              <a:extLst>
                <a:ext uri="{FF2B5EF4-FFF2-40B4-BE49-F238E27FC236}">
                  <a16:creationId xmlns:a16="http://schemas.microsoft.com/office/drawing/2014/main" xmlns=""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2" name="矩形 13">
              <a:extLst>
                <a:ext uri="{FF2B5EF4-FFF2-40B4-BE49-F238E27FC236}">
                  <a16:creationId xmlns:a16="http://schemas.microsoft.com/office/drawing/2014/main" xmlns=""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3" name="矩形 13">
              <a:extLst>
                <a:ext uri="{FF2B5EF4-FFF2-40B4-BE49-F238E27FC236}">
                  <a16:creationId xmlns:a16="http://schemas.microsoft.com/office/drawing/2014/main" xmlns=""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4" name="矩形 13">
              <a:extLst>
                <a:ext uri="{FF2B5EF4-FFF2-40B4-BE49-F238E27FC236}">
                  <a16:creationId xmlns:a16="http://schemas.microsoft.com/office/drawing/2014/main" xmlns=""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5" name="矩形 13">
              <a:extLst>
                <a:ext uri="{FF2B5EF4-FFF2-40B4-BE49-F238E27FC236}">
                  <a16:creationId xmlns:a16="http://schemas.microsoft.com/office/drawing/2014/main" xmlns=""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6" name="矩形 13">
              <a:extLst>
                <a:ext uri="{FF2B5EF4-FFF2-40B4-BE49-F238E27FC236}">
                  <a16:creationId xmlns:a16="http://schemas.microsoft.com/office/drawing/2014/main" xmlns=""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7" name="矩形 13">
              <a:extLst>
                <a:ext uri="{FF2B5EF4-FFF2-40B4-BE49-F238E27FC236}">
                  <a16:creationId xmlns:a16="http://schemas.microsoft.com/office/drawing/2014/main" xmlns=""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8" name="矩形 13">
              <a:extLst>
                <a:ext uri="{FF2B5EF4-FFF2-40B4-BE49-F238E27FC236}">
                  <a16:creationId xmlns:a16="http://schemas.microsoft.com/office/drawing/2014/main" xmlns=""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69" name="矩形 13">
              <a:extLst>
                <a:ext uri="{FF2B5EF4-FFF2-40B4-BE49-F238E27FC236}">
                  <a16:creationId xmlns:a16="http://schemas.microsoft.com/office/drawing/2014/main" xmlns=""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70" name="Title Placeholder 1">
            <a:extLst>
              <a:ext uri="{FF2B5EF4-FFF2-40B4-BE49-F238E27FC236}">
                <a16:creationId xmlns:a16="http://schemas.microsoft.com/office/drawing/2014/main" xmlns=""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a16="http://schemas.microsoft.com/office/drawing/2014/main" xmlns=""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smtClean="0">
                <a:solidFill>
                  <a:srgbClr val="1D1D1B"/>
                </a:solidFill>
                <a:latin typeface="+mj-lt"/>
              </a:rPr>
              <a:t>Copyright©2021 </a:t>
            </a:r>
            <a:r>
              <a:rPr kumimoji="1" lang="en-US" altLang="zh-CN" sz="850" b="1" baseline="0" dirty="0">
                <a:solidFill>
                  <a:srgbClr val="1D1D1B"/>
                </a:solidFill>
                <a:latin typeface="+mj-lt"/>
              </a:rPr>
              <a:t>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r>
              <a:rPr kumimoji="1" lang="en-US" altLang="zh-CN" sz="779" dirty="0">
                <a:solidFill>
                  <a:srgbClr val="1D1D1B"/>
                </a:solidFill>
                <a:latin typeface="+mn-lt"/>
              </a:rPr>
              <a:t/>
            </a:r>
            <a:br>
              <a:rPr kumimoji="1" lang="en-US" altLang="zh-CN" sz="779" dirty="0">
                <a:solidFill>
                  <a:srgbClr val="1D1D1B"/>
                </a:solidFill>
                <a:latin typeface="+mn-lt"/>
              </a:rPr>
            </a:br>
            <a:r>
              <a:rPr kumimoji="1" lang="en-US" altLang="zh-CN" sz="779" dirty="0">
                <a:solidFill>
                  <a:srgbClr val="1D1D1B"/>
                </a:solidFill>
                <a:latin typeface="+mn-lt"/>
              </a:rPr>
              <a:t/>
            </a: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72" name="Subtitle 6">
            <a:extLst>
              <a:ext uri="{FF2B5EF4-FFF2-40B4-BE49-F238E27FC236}">
                <a16:creationId xmlns:a16="http://schemas.microsoft.com/office/drawing/2014/main" xmlns=""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r>
              <a:rPr kumimoji="1" lang="en-US" altLang="zh-CN" sz="1300" dirty="0">
                <a:solidFill>
                  <a:srgbClr val="1D1D1B"/>
                </a:solidFill>
                <a:latin typeface="Microsoft YaHei" charset="-122"/>
                <a:ea typeface="Microsoft YaHei" charset="-122"/>
                <a:cs typeface="Microsoft YaHei" charset="-122"/>
              </a:rPr>
              <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a16="http://schemas.microsoft.com/office/drawing/2014/main" xmlns=""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3019321380"/>
      </p:ext>
    </p:extLst>
  </p:cSld>
  <p:clrMap bg1="lt1" tx1="dk1" bg2="lt2" tx2="dk2" accent1="accent1" accent2="accent2" accent3="accent3" accent4="accent4" accent5="accent5" accent6="accent6" hlink="hlink" folHlink="folHlink"/>
  <p:sldLayoutIdLst>
    <p:sldLayoutId id="2147483892" r:id="rId1"/>
  </p:sldLayoutIdLst>
  <p:timing>
    <p:tnLst>
      <p:par>
        <p:cTn id="1" dur="indefinite" restart="never" nodeType="tmRoot"/>
      </p:par>
    </p:tnLst>
  </p:timing>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1">
          <p15:clr>
            <a:srgbClr val="F26B43"/>
          </p15:clr>
        </p15:guide>
        <p15:guide id="2" pos="3842">
          <p15:clr>
            <a:srgbClr val="F26B43"/>
          </p15:clr>
        </p15:guide>
        <p15:guide id="3" pos="461">
          <p15:clr>
            <a:srgbClr val="F26B43"/>
          </p15:clr>
        </p15:guide>
        <p15:guide id="4" pos="7197">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2" name="文本占位符 71"/>
          <p:cNvSpPr>
            <a:spLocks noGrp="1"/>
          </p:cNvSpPr>
          <p:nvPr>
            <p:ph type="body" sz="quarter" idx="17"/>
          </p:nvPr>
        </p:nvSpPr>
        <p:spPr/>
        <p:txBody>
          <a:bodyPr/>
          <a:lstStyle/>
          <a:p>
            <a:endParaRPr lang="zh-CN" altLang="en-US"/>
          </a:p>
        </p:txBody>
      </p:sp>
      <p:sp>
        <p:nvSpPr>
          <p:cNvPr id="51" name="文本占位符 50"/>
          <p:cNvSpPr>
            <a:spLocks noGrp="1"/>
          </p:cNvSpPr>
          <p:nvPr>
            <p:ph type="body" sz="quarter" idx="18"/>
          </p:nvPr>
        </p:nvSpPr>
        <p:spPr/>
        <p:txBody>
          <a:bodyPr/>
          <a:lstStyle/>
          <a:p>
            <a:r>
              <a:rPr lang="en-US" altLang="zh-CN" dirty="0" err="1" smtClean="0"/>
              <a:t>Datacom</a:t>
            </a:r>
            <a:endParaRPr lang="en-US" altLang="zh-CN" dirty="0" smtClean="0"/>
          </a:p>
        </p:txBody>
      </p:sp>
      <p:sp>
        <p:nvSpPr>
          <p:cNvPr id="73" name="文本占位符 72"/>
          <p:cNvSpPr>
            <a:spLocks noGrp="1"/>
          </p:cNvSpPr>
          <p:nvPr>
            <p:ph type="body" sz="quarter" idx="19"/>
          </p:nvPr>
        </p:nvSpPr>
        <p:spPr/>
        <p:txBody>
          <a:bodyPr/>
          <a:lstStyle/>
          <a:p>
            <a:r>
              <a:rPr lang="zh-CN" altLang="en-US" dirty="0" smtClean="0"/>
              <a:t>通用</a:t>
            </a:r>
            <a:endParaRPr lang="zh-CN" altLang="en-US" dirty="0"/>
          </a:p>
        </p:txBody>
      </p:sp>
      <p:sp>
        <p:nvSpPr>
          <p:cNvPr id="53" name="文本占位符 52"/>
          <p:cNvSpPr>
            <a:spLocks noGrp="1"/>
          </p:cNvSpPr>
          <p:nvPr>
            <p:ph type="body" sz="quarter" idx="20"/>
          </p:nvPr>
        </p:nvSpPr>
        <p:spPr/>
        <p:txBody>
          <a:bodyPr/>
          <a:lstStyle/>
          <a:p>
            <a:r>
              <a:rPr lang="en-US" altLang="zh-CN" smtClean="0"/>
              <a:t>V1.0</a:t>
            </a:r>
            <a:endParaRPr lang="zh-CN" altLang="en-US" dirty="0"/>
          </a:p>
        </p:txBody>
      </p:sp>
      <p:sp>
        <p:nvSpPr>
          <p:cNvPr id="6" name="文本占位符 5"/>
          <p:cNvSpPr>
            <a:spLocks noGrp="1"/>
          </p:cNvSpPr>
          <p:nvPr>
            <p:ph type="body" sz="quarter" idx="13"/>
          </p:nvPr>
        </p:nvSpPr>
        <p:spPr/>
        <p:txBody>
          <a:bodyPr/>
          <a:lstStyle/>
          <a:p>
            <a:r>
              <a:rPr lang="zh-CN" altLang="en-US"/>
              <a:t>卢玥玥</a:t>
            </a:r>
            <a:r>
              <a:rPr lang="en-US" altLang="zh-CN"/>
              <a:t>/WX445705</a:t>
            </a:r>
            <a:endParaRPr lang="zh-CN" altLang="en-US" dirty="0"/>
          </a:p>
        </p:txBody>
      </p:sp>
      <p:sp>
        <p:nvSpPr>
          <p:cNvPr id="7" name="文本占位符 6"/>
          <p:cNvSpPr>
            <a:spLocks noGrp="1"/>
          </p:cNvSpPr>
          <p:nvPr>
            <p:ph type="body" sz="quarter" idx="14"/>
          </p:nvPr>
        </p:nvSpPr>
        <p:spPr/>
        <p:txBody>
          <a:bodyPr/>
          <a:lstStyle/>
          <a:p>
            <a:r>
              <a:rPr lang="en-US" altLang="zh-CN" dirty="0" smtClean="0"/>
              <a:t>2020.06</a:t>
            </a:r>
            <a:r>
              <a:rPr lang="en-US" altLang="zh-CN" dirty="0" smtClean="0"/>
              <a:t>.15</a:t>
            </a:r>
            <a:endParaRPr lang="zh-CN" altLang="en-US" dirty="0"/>
          </a:p>
        </p:txBody>
      </p:sp>
      <p:sp>
        <p:nvSpPr>
          <p:cNvPr id="48" name="文本占位符 47"/>
          <p:cNvSpPr>
            <a:spLocks noGrp="1"/>
          </p:cNvSpPr>
          <p:nvPr>
            <p:ph type="body" sz="quarter" idx="15"/>
          </p:nvPr>
        </p:nvSpPr>
        <p:spPr/>
        <p:txBody>
          <a:bodyPr/>
          <a:lstStyle/>
          <a:p>
            <a:r>
              <a:rPr lang="zh-CN" altLang="en-US" dirty="0" smtClean="0"/>
              <a:t>朱仕耿</a:t>
            </a:r>
            <a:r>
              <a:rPr lang="en-US" altLang="zh-CN" dirty="0" smtClean="0"/>
              <a:t>/00261992</a:t>
            </a:r>
            <a:endParaRPr lang="zh-CN" altLang="en-US" dirty="0"/>
          </a:p>
        </p:txBody>
      </p:sp>
      <p:sp>
        <p:nvSpPr>
          <p:cNvPr id="49" name="文本占位符 48"/>
          <p:cNvSpPr>
            <a:spLocks noGrp="1"/>
          </p:cNvSpPr>
          <p:nvPr>
            <p:ph type="body" sz="quarter" idx="16"/>
          </p:nvPr>
        </p:nvSpPr>
        <p:spPr/>
        <p:txBody>
          <a:bodyPr/>
          <a:lstStyle/>
          <a:p>
            <a:r>
              <a:rPr lang="zh-CN" altLang="en-US" dirty="0" smtClean="0"/>
              <a:t>新开发</a:t>
            </a:r>
            <a:endParaRPr lang="zh-CN" altLang="en-US" dirty="0"/>
          </a:p>
        </p:txBody>
      </p:sp>
      <p:sp>
        <p:nvSpPr>
          <p:cNvPr id="74" name="文本占位符 73"/>
          <p:cNvSpPr>
            <a:spLocks noGrp="1"/>
          </p:cNvSpPr>
          <p:nvPr>
            <p:ph type="body" sz="quarter" idx="21"/>
          </p:nvPr>
        </p:nvSpPr>
        <p:spPr/>
        <p:txBody>
          <a:bodyPr/>
          <a:lstStyle/>
          <a:p>
            <a:r>
              <a:rPr lang="zh-CN" altLang="en-US" dirty="0"/>
              <a:t>卢玥玥</a:t>
            </a:r>
            <a:r>
              <a:rPr lang="en-US" altLang="zh-CN" dirty="0"/>
              <a:t>/</a:t>
            </a:r>
            <a:r>
              <a:rPr lang="en-US" altLang="zh-CN" dirty="0" smtClean="0"/>
              <a:t>WX445705</a:t>
            </a:r>
            <a:endParaRPr lang="zh-CN" altLang="en-US" dirty="0"/>
          </a:p>
        </p:txBody>
      </p:sp>
      <p:sp>
        <p:nvSpPr>
          <p:cNvPr id="75" name="文本占位符 74"/>
          <p:cNvSpPr>
            <a:spLocks noGrp="1"/>
          </p:cNvSpPr>
          <p:nvPr>
            <p:ph type="body" sz="quarter" idx="22"/>
          </p:nvPr>
        </p:nvSpPr>
        <p:spPr/>
        <p:txBody>
          <a:bodyPr/>
          <a:lstStyle/>
          <a:p>
            <a:r>
              <a:rPr lang="en-US" altLang="zh-CN" dirty="0" smtClean="0"/>
              <a:t>2021.07.15</a:t>
            </a:r>
            <a:endParaRPr lang="zh-CN" altLang="en-US" dirty="0"/>
          </a:p>
        </p:txBody>
      </p:sp>
      <p:sp>
        <p:nvSpPr>
          <p:cNvPr id="76" name="文本占位符 75"/>
          <p:cNvSpPr>
            <a:spLocks noGrp="1"/>
          </p:cNvSpPr>
          <p:nvPr>
            <p:ph type="body" sz="quarter" idx="23"/>
          </p:nvPr>
        </p:nvSpPr>
        <p:spPr/>
        <p:txBody>
          <a:bodyPr/>
          <a:lstStyle/>
          <a:p>
            <a:r>
              <a:rPr lang="zh-CN" altLang="en-US" dirty="0" smtClean="0"/>
              <a:t>何军建</a:t>
            </a:r>
            <a:r>
              <a:rPr lang="en-US" altLang="zh-CN" dirty="0" smtClean="0"/>
              <a:t>/WX580230</a:t>
            </a:r>
            <a:endParaRPr lang="zh-CN" altLang="en-US" dirty="0"/>
          </a:p>
        </p:txBody>
      </p:sp>
      <p:sp>
        <p:nvSpPr>
          <p:cNvPr id="77" name="文本占位符 76"/>
          <p:cNvSpPr>
            <a:spLocks noGrp="1"/>
          </p:cNvSpPr>
          <p:nvPr>
            <p:ph type="body" sz="quarter" idx="24"/>
          </p:nvPr>
        </p:nvSpPr>
        <p:spPr/>
        <p:txBody>
          <a:bodyPr/>
          <a:lstStyle/>
          <a:p>
            <a:r>
              <a:rPr lang="zh-CN" altLang="en-US" dirty="0" smtClean="0"/>
              <a:t>优化</a:t>
            </a:r>
            <a:endParaRPr lang="zh-CN" altLang="en-US" dirty="0"/>
          </a:p>
        </p:txBody>
      </p:sp>
      <p:sp>
        <p:nvSpPr>
          <p:cNvPr id="78" name="文本占位符 77"/>
          <p:cNvSpPr>
            <a:spLocks noGrp="1"/>
          </p:cNvSpPr>
          <p:nvPr>
            <p:ph type="body" sz="quarter" idx="25"/>
          </p:nvPr>
        </p:nvSpPr>
        <p:spPr/>
        <p:txBody>
          <a:bodyPr/>
          <a:lstStyle/>
          <a:p>
            <a:endParaRPr lang="zh-CN" altLang="en-US"/>
          </a:p>
        </p:txBody>
      </p:sp>
      <p:sp>
        <p:nvSpPr>
          <p:cNvPr id="79" name="文本占位符 78"/>
          <p:cNvSpPr>
            <a:spLocks noGrp="1"/>
          </p:cNvSpPr>
          <p:nvPr>
            <p:ph type="body" sz="quarter" idx="26"/>
          </p:nvPr>
        </p:nvSpPr>
        <p:spPr/>
        <p:txBody>
          <a:bodyPr/>
          <a:lstStyle/>
          <a:p>
            <a:endParaRPr lang="zh-CN" altLang="en-US"/>
          </a:p>
        </p:txBody>
      </p:sp>
      <p:sp>
        <p:nvSpPr>
          <p:cNvPr id="80" name="文本占位符 79"/>
          <p:cNvSpPr>
            <a:spLocks noGrp="1"/>
          </p:cNvSpPr>
          <p:nvPr>
            <p:ph type="body" sz="quarter" idx="27"/>
          </p:nvPr>
        </p:nvSpPr>
        <p:spPr/>
        <p:txBody>
          <a:bodyPr/>
          <a:lstStyle/>
          <a:p>
            <a:endParaRPr lang="zh-CN" altLang="en-US" dirty="0"/>
          </a:p>
        </p:txBody>
      </p:sp>
      <p:sp>
        <p:nvSpPr>
          <p:cNvPr id="81" name="文本占位符 80"/>
          <p:cNvSpPr>
            <a:spLocks noGrp="1"/>
          </p:cNvSpPr>
          <p:nvPr>
            <p:ph type="body" sz="quarter" idx="28"/>
          </p:nvPr>
        </p:nvSpPr>
        <p:spPr/>
        <p:txBody>
          <a:bodyPr/>
          <a:lstStyle/>
          <a:p>
            <a:endParaRPr lang="zh-CN" altLang="en-US"/>
          </a:p>
        </p:txBody>
      </p:sp>
      <p:sp>
        <p:nvSpPr>
          <p:cNvPr id="82" name="文本占位符 81"/>
          <p:cNvSpPr>
            <a:spLocks noGrp="1"/>
          </p:cNvSpPr>
          <p:nvPr>
            <p:ph type="body" sz="quarter" idx="29"/>
          </p:nvPr>
        </p:nvSpPr>
        <p:spPr/>
        <p:txBody>
          <a:bodyPr/>
          <a:lstStyle/>
          <a:p>
            <a:endParaRPr lang="zh-CN" altLang="en-US"/>
          </a:p>
        </p:txBody>
      </p:sp>
      <p:sp>
        <p:nvSpPr>
          <p:cNvPr id="83" name="文本占位符 82"/>
          <p:cNvSpPr>
            <a:spLocks noGrp="1"/>
          </p:cNvSpPr>
          <p:nvPr>
            <p:ph type="body" sz="quarter" idx="30"/>
          </p:nvPr>
        </p:nvSpPr>
        <p:spPr/>
        <p:txBody>
          <a:bodyPr/>
          <a:lstStyle/>
          <a:p>
            <a:endParaRPr lang="zh-CN" altLang="en-US"/>
          </a:p>
        </p:txBody>
      </p:sp>
      <p:sp>
        <p:nvSpPr>
          <p:cNvPr id="84" name="文本占位符 83"/>
          <p:cNvSpPr>
            <a:spLocks noGrp="1"/>
          </p:cNvSpPr>
          <p:nvPr>
            <p:ph type="body" sz="quarter" idx="31"/>
          </p:nvPr>
        </p:nvSpPr>
        <p:spPr/>
        <p:txBody>
          <a:bodyPr/>
          <a:lstStyle/>
          <a:p>
            <a:endParaRPr lang="zh-CN" altLang="en-US"/>
          </a:p>
        </p:txBody>
      </p:sp>
      <p:sp>
        <p:nvSpPr>
          <p:cNvPr id="85" name="文本占位符 84"/>
          <p:cNvSpPr>
            <a:spLocks noGrp="1"/>
          </p:cNvSpPr>
          <p:nvPr>
            <p:ph type="body" sz="quarter" idx="32"/>
          </p:nvPr>
        </p:nvSpPr>
        <p:spPr/>
        <p:txBody>
          <a:bodyPr/>
          <a:lstStyle/>
          <a:p>
            <a:endParaRPr lang="zh-CN" altLang="en-US"/>
          </a:p>
        </p:txBody>
      </p:sp>
    </p:spTree>
    <p:extLst>
      <p:ext uri="{BB962C8B-B14F-4D97-AF65-F5344CB8AC3E}">
        <p14:creationId xmlns:p14="http://schemas.microsoft.com/office/powerpoint/2010/main" val="31596983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smtClean="0"/>
              <a:t>BGP</a:t>
            </a:r>
            <a:r>
              <a:rPr lang="zh-CN" altLang="en-US" dirty="0" smtClean="0"/>
              <a:t>高级特性</a:t>
            </a:r>
            <a:endParaRPr lang="zh-CN" altLang="en-US" dirty="0"/>
          </a:p>
        </p:txBody>
      </p:sp>
    </p:spTree>
    <p:extLst>
      <p:ext uri="{BB962C8B-B14F-4D97-AF65-F5344CB8AC3E}">
        <p14:creationId xmlns:p14="http://schemas.microsoft.com/office/powerpoint/2010/main" val="21618331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zh-CN" altLang="en-US" dirty="0" smtClean="0"/>
              <a:t>在大型网络中通常会部署</a:t>
            </a:r>
            <a:r>
              <a:rPr lang="en-US" altLang="zh-CN" dirty="0" smtClean="0"/>
              <a:t>BGP</a:t>
            </a:r>
            <a:r>
              <a:rPr lang="zh-CN" altLang="en-US" dirty="0" smtClean="0"/>
              <a:t>，相比于</a:t>
            </a:r>
            <a:r>
              <a:rPr lang="en-US" altLang="zh-CN" dirty="0" smtClean="0"/>
              <a:t>IGP</a:t>
            </a:r>
            <a:r>
              <a:rPr lang="zh-CN" altLang="en-US" dirty="0" smtClean="0"/>
              <a:t>，</a:t>
            </a:r>
            <a:r>
              <a:rPr lang="en-US" altLang="zh-CN" dirty="0" smtClean="0"/>
              <a:t>BGP</a:t>
            </a:r>
            <a:r>
              <a:rPr lang="zh-CN" altLang="en-US" dirty="0" smtClean="0"/>
              <a:t>拥有更加灵活的路由控制能力。每一条</a:t>
            </a:r>
            <a:r>
              <a:rPr lang="en-US" altLang="zh-CN" dirty="0" smtClean="0"/>
              <a:t>BGP</a:t>
            </a:r>
            <a:r>
              <a:rPr lang="zh-CN" altLang="en-US" dirty="0" smtClean="0"/>
              <a:t>路由都可以携带多个路径属性，针对其属性也有特有的路由匹配工具，包括：</a:t>
            </a:r>
            <a:r>
              <a:rPr lang="en-US" altLang="zh-CN" dirty="0" err="1" smtClean="0"/>
              <a:t>AS_Path</a:t>
            </a:r>
            <a:r>
              <a:rPr lang="en-US" altLang="zh-CN" dirty="0" smtClean="0"/>
              <a:t> Filter</a:t>
            </a:r>
            <a:r>
              <a:rPr lang="zh-CN" altLang="en-US" dirty="0" smtClean="0"/>
              <a:t>和</a:t>
            </a:r>
            <a:r>
              <a:rPr lang="en-US" altLang="zh-CN" dirty="0" smtClean="0"/>
              <a:t>Community Filter</a:t>
            </a:r>
            <a:r>
              <a:rPr lang="zh-CN" altLang="en-US" dirty="0" smtClean="0"/>
              <a:t>。根据实际组网需求，可以实施路由策略，控制路由的接收和发布。</a:t>
            </a:r>
            <a:endParaRPr lang="en-US" altLang="zh-CN" dirty="0" smtClean="0"/>
          </a:p>
          <a:p>
            <a:r>
              <a:rPr lang="zh-CN" altLang="en-US" dirty="0" smtClean="0"/>
              <a:t>同时，为了提升网络性能，</a:t>
            </a:r>
            <a:r>
              <a:rPr lang="en-US" altLang="zh-CN" dirty="0" smtClean="0"/>
              <a:t>BGP</a:t>
            </a:r>
            <a:r>
              <a:rPr lang="zh-CN" altLang="en-US" dirty="0" smtClean="0"/>
              <a:t>提供了各种高级特性以及多种组网部署方案。</a:t>
            </a:r>
            <a:endParaRPr lang="en-US" altLang="zh-CN" dirty="0" smtClean="0"/>
          </a:p>
          <a:p>
            <a:r>
              <a:rPr lang="zh-CN" altLang="en-US" dirty="0" smtClean="0"/>
              <a:t>本课程将介绍</a:t>
            </a:r>
            <a:r>
              <a:rPr lang="en-US" altLang="zh-CN" dirty="0" smtClean="0"/>
              <a:t>BGP</a:t>
            </a:r>
            <a:r>
              <a:rPr lang="zh-CN" altLang="en-US" dirty="0" smtClean="0"/>
              <a:t>路由控制的原理与配置，介绍常用的</a:t>
            </a:r>
            <a:r>
              <a:rPr lang="en-US" altLang="zh-CN" dirty="0" smtClean="0"/>
              <a:t>BGP</a:t>
            </a:r>
            <a:r>
              <a:rPr lang="zh-CN" altLang="en-US" dirty="0" smtClean="0"/>
              <a:t>高级特性，包括：</a:t>
            </a:r>
            <a:r>
              <a:rPr lang="en-US" altLang="zh-CN" dirty="0" smtClean="0"/>
              <a:t>ORF</a:t>
            </a:r>
            <a:r>
              <a:rPr lang="zh-CN" altLang="en-US" dirty="0" smtClean="0"/>
              <a:t>、对等体组、安全特性、</a:t>
            </a:r>
            <a:r>
              <a:rPr lang="en-US" altLang="zh-CN" dirty="0" smtClean="0"/>
              <a:t>4</a:t>
            </a:r>
            <a:r>
              <a:rPr lang="zh-CN" altLang="en-US" dirty="0" smtClean="0"/>
              <a:t>字节</a:t>
            </a:r>
            <a:r>
              <a:rPr lang="en-US" altLang="zh-CN" dirty="0" smtClean="0"/>
              <a:t>AS</a:t>
            </a:r>
            <a:r>
              <a:rPr lang="zh-CN" altLang="en-US" dirty="0" smtClean="0"/>
              <a:t>号，还会介绍</a:t>
            </a:r>
            <a:r>
              <a:rPr lang="en-US" altLang="zh-CN" dirty="0" smtClean="0"/>
              <a:t>BGP</a:t>
            </a:r>
            <a:r>
              <a:rPr lang="zh-CN" altLang="en-US" dirty="0" smtClean="0"/>
              <a:t>路由反射器的组网部署方式。</a:t>
            </a:r>
          </a:p>
          <a:p>
            <a:endParaRPr lang="en-US" altLang="zh-CN" dirty="0"/>
          </a:p>
        </p:txBody>
      </p:sp>
    </p:spTree>
    <p:extLst>
      <p:ext uri="{BB962C8B-B14F-4D97-AF65-F5344CB8AC3E}">
        <p14:creationId xmlns:p14="http://schemas.microsoft.com/office/powerpoint/2010/main" val="23708699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smtClean="0"/>
              <a:t>学完本课程后，您将能够：</a:t>
            </a:r>
            <a:endParaRPr lang="en-US" altLang="zh-CN" dirty="0" smtClean="0"/>
          </a:p>
          <a:p>
            <a:pPr lvl="1"/>
            <a:r>
              <a:rPr lang="zh-CN" altLang="en-US" dirty="0" smtClean="0"/>
              <a:t>在配置</a:t>
            </a:r>
            <a:r>
              <a:rPr lang="en-US" altLang="zh-CN" dirty="0" err="1" smtClean="0"/>
              <a:t>AS_Path</a:t>
            </a:r>
            <a:r>
              <a:rPr lang="en-US" altLang="zh-CN" dirty="0" smtClean="0"/>
              <a:t> Filter</a:t>
            </a:r>
            <a:r>
              <a:rPr lang="zh-CN" altLang="en-US" dirty="0" smtClean="0"/>
              <a:t>和</a:t>
            </a:r>
            <a:r>
              <a:rPr lang="en-US" altLang="zh-CN" dirty="0" smtClean="0"/>
              <a:t>Community Filter</a:t>
            </a:r>
            <a:r>
              <a:rPr lang="zh-CN" altLang="en-US" dirty="0" smtClean="0"/>
              <a:t>过程中使用正则表达式</a:t>
            </a:r>
            <a:endParaRPr lang="en-US" altLang="zh-CN" dirty="0" smtClean="0"/>
          </a:p>
          <a:p>
            <a:pPr lvl="1"/>
            <a:r>
              <a:rPr lang="zh-CN" altLang="en-US" dirty="0" smtClean="0"/>
              <a:t>使用</a:t>
            </a:r>
            <a:r>
              <a:rPr lang="en-US" altLang="zh-CN" dirty="0" err="1" smtClean="0"/>
              <a:t>AS_Path</a:t>
            </a:r>
            <a:r>
              <a:rPr lang="en-US" altLang="zh-CN" dirty="0" smtClean="0"/>
              <a:t> Filter</a:t>
            </a:r>
            <a:r>
              <a:rPr lang="zh-CN" altLang="en-US" dirty="0" smtClean="0"/>
              <a:t>和</a:t>
            </a:r>
            <a:r>
              <a:rPr lang="en-US" altLang="zh-CN" dirty="0" smtClean="0"/>
              <a:t>Community Filter</a:t>
            </a:r>
            <a:r>
              <a:rPr lang="zh-CN" altLang="en-US" dirty="0" smtClean="0"/>
              <a:t>实现</a:t>
            </a:r>
            <a:r>
              <a:rPr lang="en-US" altLang="zh-CN" dirty="0" smtClean="0"/>
              <a:t>BGP</a:t>
            </a:r>
            <a:r>
              <a:rPr lang="zh-CN" altLang="en-US" dirty="0" smtClean="0"/>
              <a:t>路由控制</a:t>
            </a:r>
            <a:endParaRPr lang="en-US" altLang="zh-CN" dirty="0" smtClean="0"/>
          </a:p>
          <a:p>
            <a:pPr lvl="1"/>
            <a:r>
              <a:rPr lang="zh-CN" altLang="en-US" dirty="0" smtClean="0"/>
              <a:t>应用</a:t>
            </a:r>
            <a:r>
              <a:rPr lang="en-US" altLang="zh-CN" dirty="0" smtClean="0"/>
              <a:t>BGP</a:t>
            </a:r>
            <a:r>
              <a:rPr lang="zh-CN" altLang="en-US" dirty="0" smtClean="0"/>
              <a:t>的</a:t>
            </a:r>
            <a:r>
              <a:rPr lang="en-US" altLang="zh-CN" dirty="0" smtClean="0"/>
              <a:t>ORF</a:t>
            </a:r>
            <a:r>
              <a:rPr lang="zh-CN" altLang="en-US" dirty="0" smtClean="0"/>
              <a:t>功能、对等体组功能</a:t>
            </a:r>
            <a:endParaRPr lang="en-US" altLang="zh-CN" dirty="0" smtClean="0"/>
          </a:p>
          <a:p>
            <a:pPr lvl="1"/>
            <a:r>
              <a:rPr lang="zh-CN" altLang="en-US" dirty="0" smtClean="0"/>
              <a:t>实现</a:t>
            </a:r>
            <a:r>
              <a:rPr lang="en-US" altLang="zh-CN" dirty="0" smtClean="0"/>
              <a:t>BGP</a:t>
            </a:r>
            <a:r>
              <a:rPr lang="zh-CN" altLang="en-US" dirty="0" smtClean="0"/>
              <a:t>安全的基本配置</a:t>
            </a:r>
            <a:endParaRPr lang="en-US" altLang="zh-CN" dirty="0" smtClean="0"/>
          </a:p>
          <a:p>
            <a:pPr lvl="1"/>
            <a:r>
              <a:rPr lang="zh-CN" altLang="en-US" dirty="0" smtClean="0"/>
              <a:t>描述</a:t>
            </a:r>
            <a:r>
              <a:rPr lang="en-US" altLang="zh-CN" dirty="0" smtClean="0"/>
              <a:t>4</a:t>
            </a:r>
            <a:r>
              <a:rPr lang="zh-CN" altLang="en-US" dirty="0" smtClean="0"/>
              <a:t>字节</a:t>
            </a:r>
            <a:r>
              <a:rPr lang="en-US" altLang="zh-CN" dirty="0" smtClean="0"/>
              <a:t>AS</a:t>
            </a:r>
            <a:r>
              <a:rPr lang="zh-CN" altLang="en-US" dirty="0" smtClean="0"/>
              <a:t>号的概念及使用方法</a:t>
            </a:r>
            <a:endParaRPr lang="en-US" altLang="zh-CN" dirty="0" smtClean="0"/>
          </a:p>
          <a:p>
            <a:pPr lvl="1"/>
            <a:r>
              <a:rPr lang="zh-CN" altLang="en-US" dirty="0" smtClean="0"/>
              <a:t>描述</a:t>
            </a:r>
            <a:r>
              <a:rPr lang="en-US" altLang="zh-CN" dirty="0" smtClean="0"/>
              <a:t>BGP</a:t>
            </a:r>
            <a:r>
              <a:rPr lang="zh-CN" altLang="en-US" dirty="0" smtClean="0"/>
              <a:t>路由反射器的组网方式</a:t>
            </a:r>
            <a:endParaRPr lang="zh-CN" altLang="en-US" dirty="0"/>
          </a:p>
        </p:txBody>
      </p:sp>
    </p:spTree>
    <p:extLst>
      <p:ext uri="{BB962C8B-B14F-4D97-AF65-F5344CB8AC3E}">
        <p14:creationId xmlns:p14="http://schemas.microsoft.com/office/powerpoint/2010/main" val="15267528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b="1" dirty="0" smtClean="0"/>
              <a:t>BGP</a:t>
            </a:r>
            <a:r>
              <a:rPr lang="zh-CN" altLang="en-US" b="1" dirty="0" smtClean="0"/>
              <a:t>路由控制</a:t>
            </a:r>
            <a:endParaRPr lang="en-US" altLang="zh-CN" b="1" dirty="0" smtClean="0"/>
          </a:p>
          <a:p>
            <a:r>
              <a:rPr lang="en-US" altLang="zh-CN" dirty="0" smtClean="0">
                <a:solidFill>
                  <a:schemeClr val="bg1">
                    <a:lumMod val="50000"/>
                  </a:schemeClr>
                </a:solidFill>
              </a:rPr>
              <a:t>BGP</a:t>
            </a:r>
            <a:r>
              <a:rPr lang="zh-CN" altLang="en-US" dirty="0" smtClean="0">
                <a:solidFill>
                  <a:schemeClr val="bg1">
                    <a:lumMod val="50000"/>
                  </a:schemeClr>
                </a:solidFill>
              </a:rPr>
              <a:t>特性介绍</a:t>
            </a:r>
            <a:endParaRPr lang="en-US" altLang="zh-CN" dirty="0" smtClean="0">
              <a:solidFill>
                <a:schemeClr val="bg1">
                  <a:lumMod val="50000"/>
                </a:schemeClr>
              </a:solidFill>
            </a:endParaRPr>
          </a:p>
          <a:p>
            <a:r>
              <a:rPr lang="en-US" altLang="zh-CN" dirty="0" smtClean="0">
                <a:solidFill>
                  <a:schemeClr val="bg1">
                    <a:lumMod val="50000"/>
                  </a:schemeClr>
                </a:solidFill>
              </a:rPr>
              <a:t>BGP</a:t>
            </a:r>
            <a:r>
              <a:rPr lang="zh-CN" altLang="en-US" dirty="0" smtClean="0">
                <a:solidFill>
                  <a:schemeClr val="bg1">
                    <a:lumMod val="50000"/>
                  </a:schemeClr>
                </a:solidFill>
              </a:rPr>
              <a:t>路由反射器组网方式</a:t>
            </a:r>
            <a:endParaRPr lang="en-US" altLang="zh-CN" dirty="0" smtClean="0">
              <a:solidFill>
                <a:schemeClr val="bg1">
                  <a:lumMod val="50000"/>
                </a:schemeClr>
              </a:solidFill>
            </a:endParaRPr>
          </a:p>
        </p:txBody>
      </p:sp>
    </p:spTree>
    <p:extLst>
      <p:ext uri="{BB962C8B-B14F-4D97-AF65-F5344CB8AC3E}">
        <p14:creationId xmlns:p14="http://schemas.microsoft.com/office/powerpoint/2010/main" val="30477521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smtClean="0"/>
              <a:t>BGP</a:t>
            </a:r>
            <a:r>
              <a:rPr lang="zh-CN" altLang="en-US" smtClean="0"/>
              <a:t>路由控制概述</a:t>
            </a:r>
            <a:endParaRPr lang="zh-CN" altLang="en-US" dirty="0"/>
          </a:p>
        </p:txBody>
      </p:sp>
      <p:sp>
        <p:nvSpPr>
          <p:cNvPr id="4" name="文本占位符 3"/>
          <p:cNvSpPr>
            <a:spLocks noGrp="1"/>
          </p:cNvSpPr>
          <p:nvPr>
            <p:ph type="body" sz="quarter" idx="10"/>
          </p:nvPr>
        </p:nvSpPr>
        <p:spPr>
          <a:xfrm>
            <a:off x="455612" y="1047751"/>
            <a:ext cx="11293475" cy="668704"/>
          </a:xfrm>
        </p:spPr>
        <p:txBody>
          <a:bodyPr/>
          <a:lstStyle/>
          <a:p>
            <a:r>
              <a:rPr lang="en-US" altLang="zh-CN" sz="2000" dirty="0" smtClean="0"/>
              <a:t>BGP</a:t>
            </a:r>
            <a:r>
              <a:rPr lang="zh-CN" altLang="en-US" sz="2000" dirty="0" smtClean="0"/>
              <a:t>路由控制包括控制路由的发布和接收。</a:t>
            </a:r>
          </a:p>
        </p:txBody>
      </p:sp>
      <p:grpSp>
        <p:nvGrpSpPr>
          <p:cNvPr id="69" name="组合 68"/>
          <p:cNvGrpSpPr/>
          <p:nvPr/>
        </p:nvGrpSpPr>
        <p:grpSpPr bwMode="gray">
          <a:xfrm>
            <a:off x="536084" y="1838958"/>
            <a:ext cx="6707183" cy="4094063"/>
            <a:chOff x="867994" y="2029662"/>
            <a:chExt cx="6707183" cy="4094063"/>
          </a:xfrm>
        </p:grpSpPr>
        <p:sp>
          <p:nvSpPr>
            <p:cNvPr id="27" name="任意多边形 25"/>
            <p:cNvSpPr/>
            <p:nvPr/>
          </p:nvSpPr>
          <p:spPr bwMode="gray">
            <a:xfrm>
              <a:off x="4879464" y="2479518"/>
              <a:ext cx="1732940" cy="2743158"/>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2700">
              <a:solidFill>
                <a:srgbClr val="94DAE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任意多边形 25"/>
            <p:cNvSpPr/>
            <p:nvPr/>
          </p:nvSpPr>
          <p:spPr bwMode="gray">
            <a:xfrm>
              <a:off x="868098" y="2479518"/>
              <a:ext cx="3197834" cy="2743158"/>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2700">
              <a:solidFill>
                <a:srgbClr val="94DAE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 name="图片 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050727" y="2905631"/>
              <a:ext cx="540000" cy="442800"/>
            </a:xfrm>
            <a:prstGeom prst="rect">
              <a:avLst/>
            </a:prstGeom>
          </p:spPr>
        </p:pic>
        <p:pic>
          <p:nvPicPr>
            <p:cNvPr id="8" name="图片 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050727" y="4582031"/>
              <a:ext cx="540000" cy="442800"/>
            </a:xfrm>
            <a:prstGeom prst="rect">
              <a:avLst/>
            </a:prstGeom>
          </p:spPr>
        </p:pic>
        <p:pic>
          <p:nvPicPr>
            <p:cNvPr id="9" name="图片 8"/>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711781" y="3743831"/>
              <a:ext cx="540000" cy="442800"/>
            </a:xfrm>
            <a:prstGeom prst="rect">
              <a:avLst/>
            </a:prstGeom>
          </p:spPr>
        </p:pic>
        <p:cxnSp>
          <p:nvCxnSpPr>
            <p:cNvPr id="10" name="直接连接符 9"/>
            <p:cNvCxnSpPr>
              <a:stCxn id="9" idx="3"/>
              <a:endCxn id="6" idx="1"/>
            </p:cNvCxnSpPr>
            <p:nvPr/>
          </p:nvCxnSpPr>
          <p:spPr bwMode="gray">
            <a:xfrm>
              <a:off x="2251781" y="3965231"/>
              <a:ext cx="11779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6" idx="1"/>
              <a:endCxn id="7" idx="1"/>
            </p:cNvCxnSpPr>
            <p:nvPr/>
          </p:nvCxnSpPr>
          <p:spPr bwMode="gray">
            <a:xfrm flipV="1">
              <a:off x="3429745" y="3127031"/>
              <a:ext cx="1620982" cy="8382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6" idx="1"/>
              <a:endCxn id="8" idx="1"/>
            </p:cNvCxnSpPr>
            <p:nvPr/>
          </p:nvCxnSpPr>
          <p:spPr bwMode="gray">
            <a:xfrm>
              <a:off x="3429745" y="3965231"/>
              <a:ext cx="1620982" cy="8382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图片 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429745" y="3743831"/>
              <a:ext cx="540000" cy="442800"/>
            </a:xfrm>
            <a:prstGeom prst="rect">
              <a:avLst/>
            </a:prstGeom>
          </p:spPr>
        </p:pic>
        <p:cxnSp>
          <p:nvCxnSpPr>
            <p:cNvPr id="18" name="直接连接符 17"/>
            <p:cNvCxnSpPr>
              <a:stCxn id="7" idx="2"/>
              <a:endCxn id="8" idx="0"/>
            </p:cNvCxnSpPr>
            <p:nvPr/>
          </p:nvCxnSpPr>
          <p:spPr bwMode="gray">
            <a:xfrm>
              <a:off x="5320727" y="3348431"/>
              <a:ext cx="0" cy="12336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120">
              <a:extLst>
                <a:ext uri="{FF2B5EF4-FFF2-40B4-BE49-F238E27FC236}">
                  <a16:creationId xmlns="" xmlns:a16="http://schemas.microsoft.com/office/drawing/2014/main" id="{020D7A1D-EFAD-4C8C-B9DE-D0FAD269B77A}"/>
                </a:ext>
              </a:extLst>
            </p:cNvPr>
            <p:cNvSpPr txBox="1"/>
            <p:nvPr/>
          </p:nvSpPr>
          <p:spPr bwMode="gray">
            <a:xfrm>
              <a:off x="5907636" y="2507612"/>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TextBox 120">
              <a:extLst>
                <a:ext uri="{FF2B5EF4-FFF2-40B4-BE49-F238E27FC236}">
                  <a16:creationId xmlns="" xmlns:a16="http://schemas.microsoft.com/office/drawing/2014/main" id="{020D7A1D-EFAD-4C8C-B9DE-D0FAD269B77A}"/>
                </a:ext>
              </a:extLst>
            </p:cNvPr>
            <p:cNvSpPr txBox="1"/>
            <p:nvPr/>
          </p:nvSpPr>
          <p:spPr bwMode="gray">
            <a:xfrm>
              <a:off x="867994" y="2479518"/>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TextBox 120">
              <a:extLst>
                <a:ext uri="{FF2B5EF4-FFF2-40B4-BE49-F238E27FC236}">
                  <a16:creationId xmlns="" xmlns:a16="http://schemas.microsoft.com/office/drawing/2014/main" id="{020D7A1D-EFAD-4C8C-B9DE-D0FAD269B77A}"/>
                </a:ext>
              </a:extLst>
            </p:cNvPr>
            <p:cNvSpPr txBox="1"/>
            <p:nvPr/>
          </p:nvSpPr>
          <p:spPr bwMode="gray">
            <a:xfrm>
              <a:off x="1774849" y="3484206"/>
              <a:ext cx="413864" cy="307777"/>
            </a:xfrm>
            <a:prstGeom prst="rect">
              <a:avLst/>
            </a:prstGeom>
            <a:noFill/>
            <a:ln>
              <a:noFill/>
            </a:ln>
          </p:spPr>
          <p:txBody>
            <a:bodyPr wrap="squar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R1</a:t>
              </a:r>
            </a:p>
          </p:txBody>
        </p:sp>
        <p:cxnSp>
          <p:nvCxnSpPr>
            <p:cNvPr id="28" name="直接连接符 27"/>
            <p:cNvCxnSpPr>
              <a:endCxn id="9" idx="1"/>
            </p:cNvCxnSpPr>
            <p:nvPr/>
          </p:nvCxnSpPr>
          <p:spPr bwMode="gray">
            <a:xfrm>
              <a:off x="1462938" y="3965231"/>
              <a:ext cx="24884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bwMode="gray">
            <a:xfrm>
              <a:off x="1462938" y="3769269"/>
              <a:ext cx="0" cy="3919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Box 120">
              <a:extLst>
                <a:ext uri="{FF2B5EF4-FFF2-40B4-BE49-F238E27FC236}">
                  <a16:creationId xmlns="" xmlns:a16="http://schemas.microsoft.com/office/drawing/2014/main" id="{31930744-3D36-4F81-8426-6F129C1A6804}"/>
                </a:ext>
              </a:extLst>
            </p:cNvPr>
            <p:cNvSpPr txBox="1"/>
            <p:nvPr/>
          </p:nvSpPr>
          <p:spPr bwMode="gray">
            <a:xfrm>
              <a:off x="960105" y="3640047"/>
              <a:ext cx="556758" cy="671334"/>
            </a:xfrm>
            <a:prstGeom prst="roundRect">
              <a:avLst>
                <a:gd name="adj" fmla="val 6721"/>
              </a:avLst>
            </a:prstGeom>
            <a:noFill/>
            <a:ln w="12700">
              <a:noFill/>
            </a:ln>
          </p:spPr>
          <p:txBody>
            <a:bodyPr wrap="square" rtlCol="0" anchor="ctr">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Net1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Net2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Net3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TextBox 120">
              <a:extLst>
                <a:ext uri="{FF2B5EF4-FFF2-40B4-BE49-F238E27FC236}">
                  <a16:creationId xmlns="" xmlns:a16="http://schemas.microsoft.com/office/drawing/2014/main" id="{020D7A1D-EFAD-4C8C-B9DE-D0FAD269B77A}"/>
                </a:ext>
              </a:extLst>
            </p:cNvPr>
            <p:cNvSpPr txBox="1"/>
            <p:nvPr/>
          </p:nvSpPr>
          <p:spPr bwMode="gray">
            <a:xfrm>
              <a:off x="3493230" y="3484206"/>
              <a:ext cx="413864"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TextBox 120">
              <a:extLst>
                <a:ext uri="{FF2B5EF4-FFF2-40B4-BE49-F238E27FC236}">
                  <a16:creationId xmlns="" xmlns:a16="http://schemas.microsoft.com/office/drawing/2014/main" id="{020D7A1D-EFAD-4C8C-B9DE-D0FAD269B77A}"/>
                </a:ext>
              </a:extLst>
            </p:cNvPr>
            <p:cNvSpPr txBox="1"/>
            <p:nvPr/>
          </p:nvSpPr>
          <p:spPr bwMode="gray">
            <a:xfrm>
              <a:off x="5539002" y="2964906"/>
              <a:ext cx="413864"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R3</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TextBox 120">
              <a:extLst>
                <a:ext uri="{FF2B5EF4-FFF2-40B4-BE49-F238E27FC236}">
                  <a16:creationId xmlns="" xmlns:a16="http://schemas.microsoft.com/office/drawing/2014/main" id="{020D7A1D-EFAD-4C8C-B9DE-D0FAD269B77A}"/>
                </a:ext>
              </a:extLst>
            </p:cNvPr>
            <p:cNvSpPr txBox="1"/>
            <p:nvPr/>
          </p:nvSpPr>
          <p:spPr bwMode="gray">
            <a:xfrm>
              <a:off x="5539002" y="4641306"/>
              <a:ext cx="413864"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4" name="组合 43"/>
            <p:cNvGrpSpPr/>
            <p:nvPr/>
          </p:nvGrpSpPr>
          <p:grpSpPr bwMode="gray">
            <a:xfrm>
              <a:off x="2707021" y="5081608"/>
              <a:ext cx="1655547" cy="840805"/>
              <a:chOff x="10029245" y="3904214"/>
              <a:chExt cx="1655547" cy="840805"/>
            </a:xfrm>
          </p:grpSpPr>
          <p:sp>
            <p:nvSpPr>
              <p:cNvPr id="37" name="矩形: 圆角 52">
                <a:extLst>
                  <a:ext uri="{FF2B5EF4-FFF2-40B4-BE49-F238E27FC236}">
                    <a16:creationId xmlns="" xmlns:a16="http://schemas.microsoft.com/office/drawing/2014/main" id="{70ADCB91-E11A-40F5-B977-66A090F8EF3C}"/>
                  </a:ext>
                </a:extLst>
              </p:cNvPr>
              <p:cNvSpPr/>
              <p:nvPr/>
            </p:nvSpPr>
            <p:spPr bwMode="gray">
              <a:xfrm>
                <a:off x="10029245" y="3904214"/>
                <a:ext cx="1655547" cy="840805"/>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TextBox 120">
                <a:extLst>
                  <a:ext uri="{FF2B5EF4-FFF2-40B4-BE49-F238E27FC236}">
                    <a16:creationId xmlns="" xmlns:a16="http://schemas.microsoft.com/office/drawing/2014/main" id="{31930744-3D36-4F81-8426-6F129C1A6804}"/>
                  </a:ext>
                </a:extLst>
              </p:cNvPr>
              <p:cNvSpPr txBox="1"/>
              <p:nvPr/>
            </p:nvSpPr>
            <p:spPr bwMode="gray">
              <a:xfrm>
                <a:off x="10054686" y="3904214"/>
                <a:ext cx="1604664" cy="276999"/>
              </a:xfrm>
              <a:prstGeom prst="rect">
                <a:avLst/>
              </a:prstGeom>
              <a:noFill/>
            </p:spPr>
            <p:txBody>
              <a:bodyPr wrap="square" rtlCol="0">
                <a:spAutoFit/>
              </a:bodyPr>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BGP </a:t>
                </a:r>
                <a:r>
                  <a:rPr lang="en-US" altLang="zh-CN" sz="1200" b="1"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Routing-table</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TextBox 120">
                <a:extLst>
                  <a:ext uri="{FF2B5EF4-FFF2-40B4-BE49-F238E27FC236}">
                    <a16:creationId xmlns="" xmlns:a16="http://schemas.microsoft.com/office/drawing/2014/main" id="{31930744-3D36-4F81-8426-6F129C1A6804}"/>
                  </a:ext>
                </a:extLst>
              </p:cNvPr>
              <p:cNvSpPr txBox="1"/>
              <p:nvPr/>
            </p:nvSpPr>
            <p:spPr bwMode="gray">
              <a:xfrm>
                <a:off x="10056511" y="4218126"/>
                <a:ext cx="1601015" cy="479524"/>
              </a:xfrm>
              <a:prstGeom prst="rect">
                <a:avLst/>
              </a:prstGeom>
              <a:solidFill>
                <a:schemeClr val="bg1">
                  <a:lumMod val="95000"/>
                </a:schemeClr>
              </a:solidFill>
              <a:ln w="12700">
                <a:solidFill>
                  <a:schemeClr val="bg1">
                    <a:lumMod val="75000"/>
                  </a:schemeClr>
                </a:solidFill>
              </a:ln>
            </p:spPr>
            <p:txBody>
              <a:bodyPr wrap="square" lIns="72000" rIns="72000"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*&gt;  Net1</a:t>
                </a:r>
              </a:p>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*&gt;  </a:t>
                </a:r>
                <a:r>
                  <a:rPr lang="en-US" altLang="zh-CN" sz="12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Net3</a:t>
                </a:r>
                <a:endPar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43" name="组合 42"/>
            <p:cNvGrpSpPr/>
            <p:nvPr/>
          </p:nvGrpSpPr>
          <p:grpSpPr bwMode="gray">
            <a:xfrm>
              <a:off x="887184" y="5081097"/>
              <a:ext cx="1655547" cy="1042628"/>
              <a:chOff x="10029245" y="5021195"/>
              <a:chExt cx="1655547" cy="1042628"/>
            </a:xfrm>
          </p:grpSpPr>
          <p:sp>
            <p:nvSpPr>
              <p:cNvPr id="40" name="矩形: 圆角 52">
                <a:extLst>
                  <a:ext uri="{FF2B5EF4-FFF2-40B4-BE49-F238E27FC236}">
                    <a16:creationId xmlns="" xmlns:a16="http://schemas.microsoft.com/office/drawing/2014/main" id="{70ADCB91-E11A-40F5-B977-66A090F8EF3C}"/>
                  </a:ext>
                </a:extLst>
              </p:cNvPr>
              <p:cNvSpPr/>
              <p:nvPr/>
            </p:nvSpPr>
            <p:spPr bwMode="gray">
              <a:xfrm>
                <a:off x="10029245" y="5021195"/>
                <a:ext cx="1655547" cy="1042628"/>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extBox 120">
                <a:extLst>
                  <a:ext uri="{FF2B5EF4-FFF2-40B4-BE49-F238E27FC236}">
                    <a16:creationId xmlns="" xmlns:a16="http://schemas.microsoft.com/office/drawing/2014/main" id="{31930744-3D36-4F81-8426-6F129C1A6804}"/>
                  </a:ext>
                </a:extLst>
              </p:cNvPr>
              <p:cNvSpPr txBox="1"/>
              <p:nvPr/>
            </p:nvSpPr>
            <p:spPr bwMode="gray">
              <a:xfrm>
                <a:off x="10054686" y="5021195"/>
                <a:ext cx="1604664" cy="276999"/>
              </a:xfrm>
              <a:prstGeom prst="rect">
                <a:avLst/>
              </a:prstGeom>
              <a:noFill/>
            </p:spPr>
            <p:txBody>
              <a:bodyPr wrap="square" rtlCol="0">
                <a:spAutoFit/>
              </a:bodyPr>
              <a:lstStyle/>
              <a:p>
                <a:pPr algn="ctr"/>
                <a:r>
                  <a:rPr lang="en-US" altLang="zh-CN" sz="1200" b="1"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BGP Routing-table</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TextBox 120">
                <a:extLst>
                  <a:ext uri="{FF2B5EF4-FFF2-40B4-BE49-F238E27FC236}">
                    <a16:creationId xmlns="" xmlns:a16="http://schemas.microsoft.com/office/drawing/2014/main" id="{31930744-3D36-4F81-8426-6F129C1A6804}"/>
                  </a:ext>
                </a:extLst>
              </p:cNvPr>
              <p:cNvSpPr txBox="1"/>
              <p:nvPr/>
            </p:nvSpPr>
            <p:spPr bwMode="gray">
              <a:xfrm>
                <a:off x="10056511" y="5337069"/>
                <a:ext cx="1601015" cy="671334"/>
              </a:xfrm>
              <a:prstGeom prst="rect">
                <a:avLst/>
              </a:prstGeom>
              <a:solidFill>
                <a:schemeClr val="bg1">
                  <a:lumMod val="95000"/>
                </a:schemeClr>
              </a:solidFill>
              <a:ln w="12700">
                <a:solidFill>
                  <a:schemeClr val="bg1">
                    <a:lumMod val="75000"/>
                  </a:schemeClr>
                </a:solidFill>
              </a:ln>
            </p:spPr>
            <p:txBody>
              <a:bodyPr wrap="square" lIns="72000" rIns="72000"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*&gt;  </a:t>
                </a:r>
                <a:r>
                  <a:rPr lang="en-US" altLang="zh-CN" sz="12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Net1</a:t>
                </a:r>
              </a:p>
              <a:p>
                <a:r>
                  <a:rPr lang="zh-CN" altLang="en-US" sz="12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&gt;  Net2</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*&gt;  </a:t>
                </a:r>
                <a:r>
                  <a:rPr lang="en-US" altLang="zh-CN" sz="12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Net3</a:t>
                </a:r>
                <a:endPar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2" name="组合 51"/>
            <p:cNvGrpSpPr/>
            <p:nvPr/>
          </p:nvGrpSpPr>
          <p:grpSpPr bwMode="gray">
            <a:xfrm>
              <a:off x="5919629" y="4184026"/>
              <a:ext cx="1655547" cy="840805"/>
              <a:chOff x="10029245" y="2144870"/>
              <a:chExt cx="1655547" cy="840805"/>
            </a:xfrm>
          </p:grpSpPr>
          <p:sp>
            <p:nvSpPr>
              <p:cNvPr id="45" name="矩形: 圆角 52">
                <a:extLst>
                  <a:ext uri="{FF2B5EF4-FFF2-40B4-BE49-F238E27FC236}">
                    <a16:creationId xmlns="" xmlns:a16="http://schemas.microsoft.com/office/drawing/2014/main" id="{70ADCB91-E11A-40F5-B977-66A090F8EF3C}"/>
                  </a:ext>
                </a:extLst>
              </p:cNvPr>
              <p:cNvSpPr/>
              <p:nvPr/>
            </p:nvSpPr>
            <p:spPr bwMode="gray">
              <a:xfrm>
                <a:off x="10029245" y="2144870"/>
                <a:ext cx="1655547" cy="840805"/>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120">
                <a:extLst>
                  <a:ext uri="{FF2B5EF4-FFF2-40B4-BE49-F238E27FC236}">
                    <a16:creationId xmlns="" xmlns:a16="http://schemas.microsoft.com/office/drawing/2014/main" id="{31930744-3D36-4F81-8426-6F129C1A6804}"/>
                  </a:ext>
                </a:extLst>
              </p:cNvPr>
              <p:cNvSpPr txBox="1"/>
              <p:nvPr/>
            </p:nvSpPr>
            <p:spPr bwMode="gray">
              <a:xfrm>
                <a:off x="10054686" y="2144870"/>
                <a:ext cx="1604664" cy="276999"/>
              </a:xfrm>
              <a:prstGeom prst="rect">
                <a:avLst/>
              </a:prstGeom>
              <a:noFill/>
            </p:spPr>
            <p:txBody>
              <a:bodyPr wrap="square" rtlCol="0">
                <a:spAutoFit/>
              </a:bodyPr>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BGP </a:t>
                </a:r>
                <a:r>
                  <a:rPr lang="en-US" altLang="zh-CN" sz="1200" b="1"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Routing-table</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TextBox 120">
                <a:extLst>
                  <a:ext uri="{FF2B5EF4-FFF2-40B4-BE49-F238E27FC236}">
                    <a16:creationId xmlns="" xmlns:a16="http://schemas.microsoft.com/office/drawing/2014/main" id="{31930744-3D36-4F81-8426-6F129C1A6804}"/>
                  </a:ext>
                </a:extLst>
              </p:cNvPr>
              <p:cNvSpPr txBox="1"/>
              <p:nvPr/>
            </p:nvSpPr>
            <p:spPr bwMode="gray">
              <a:xfrm>
                <a:off x="10056511" y="2458782"/>
                <a:ext cx="1601015" cy="479524"/>
              </a:xfrm>
              <a:prstGeom prst="rect">
                <a:avLst/>
              </a:prstGeom>
              <a:solidFill>
                <a:schemeClr val="bg1">
                  <a:lumMod val="95000"/>
                </a:schemeClr>
              </a:solidFill>
              <a:ln w="12700">
                <a:solidFill>
                  <a:schemeClr val="bg1">
                    <a:lumMod val="75000"/>
                  </a:schemeClr>
                </a:solidFill>
              </a:ln>
            </p:spPr>
            <p:txBody>
              <a:bodyPr wrap="square" lIns="72000" rIns="72000"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*&gt;  Net1</a:t>
                </a:r>
              </a:p>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*&gt;  Net3 </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出口优选</a:t>
                </a:r>
                <a:r>
                  <a:rPr lang="en-US" altLang="zh-CN" sz="12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R4</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1" name="组合 50"/>
            <p:cNvGrpSpPr/>
            <p:nvPr/>
          </p:nvGrpSpPr>
          <p:grpSpPr bwMode="gray">
            <a:xfrm>
              <a:off x="5919630" y="2900065"/>
              <a:ext cx="1655547" cy="840805"/>
              <a:chOff x="7856091" y="1568081"/>
              <a:chExt cx="1655547" cy="840805"/>
            </a:xfrm>
          </p:grpSpPr>
          <p:sp>
            <p:nvSpPr>
              <p:cNvPr id="48" name="矩形: 圆角 52">
                <a:extLst>
                  <a:ext uri="{FF2B5EF4-FFF2-40B4-BE49-F238E27FC236}">
                    <a16:creationId xmlns="" xmlns:a16="http://schemas.microsoft.com/office/drawing/2014/main" id="{70ADCB91-E11A-40F5-B977-66A090F8EF3C}"/>
                  </a:ext>
                </a:extLst>
              </p:cNvPr>
              <p:cNvSpPr/>
              <p:nvPr/>
            </p:nvSpPr>
            <p:spPr bwMode="gray">
              <a:xfrm>
                <a:off x="7856091" y="1568081"/>
                <a:ext cx="1655547" cy="840805"/>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TextBox 120">
                <a:extLst>
                  <a:ext uri="{FF2B5EF4-FFF2-40B4-BE49-F238E27FC236}">
                    <a16:creationId xmlns="" xmlns:a16="http://schemas.microsoft.com/office/drawing/2014/main" id="{31930744-3D36-4F81-8426-6F129C1A6804}"/>
                  </a:ext>
                </a:extLst>
              </p:cNvPr>
              <p:cNvSpPr txBox="1"/>
              <p:nvPr/>
            </p:nvSpPr>
            <p:spPr bwMode="gray">
              <a:xfrm>
                <a:off x="7881532" y="1568081"/>
                <a:ext cx="1604664" cy="276999"/>
              </a:xfrm>
              <a:prstGeom prst="rect">
                <a:avLst/>
              </a:prstGeom>
              <a:noFill/>
            </p:spPr>
            <p:txBody>
              <a:bodyPr wrap="square" rtlCol="0">
                <a:spAutoFit/>
              </a:bodyPr>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BGP </a:t>
                </a:r>
                <a:r>
                  <a:rPr lang="en-US" altLang="zh-CN" sz="1200" b="1"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Routing-table</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TextBox 120">
                <a:extLst>
                  <a:ext uri="{FF2B5EF4-FFF2-40B4-BE49-F238E27FC236}">
                    <a16:creationId xmlns="" xmlns:a16="http://schemas.microsoft.com/office/drawing/2014/main" id="{31930744-3D36-4F81-8426-6F129C1A6804}"/>
                  </a:ext>
                </a:extLst>
              </p:cNvPr>
              <p:cNvSpPr txBox="1"/>
              <p:nvPr/>
            </p:nvSpPr>
            <p:spPr bwMode="gray">
              <a:xfrm>
                <a:off x="7883357" y="1881993"/>
                <a:ext cx="1601015" cy="479524"/>
              </a:xfrm>
              <a:prstGeom prst="rect">
                <a:avLst/>
              </a:prstGeom>
              <a:solidFill>
                <a:schemeClr val="bg1">
                  <a:lumMod val="95000"/>
                </a:schemeClr>
              </a:solidFill>
              <a:ln w="12700">
                <a:solidFill>
                  <a:schemeClr val="bg1">
                    <a:lumMod val="75000"/>
                  </a:schemeClr>
                </a:solidFill>
              </a:ln>
            </p:spPr>
            <p:txBody>
              <a:bodyPr wrap="square" lIns="72000" rIns="72000"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*&gt;  </a:t>
                </a:r>
                <a:r>
                  <a:rPr lang="en-US" altLang="zh-CN" sz="12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Net1 </a:t>
                </a:r>
                <a:r>
                  <a:rPr lang="zh-CN" altLang="en-US" sz="12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出口优选</a:t>
                </a:r>
                <a:r>
                  <a:rPr lang="en-US" altLang="zh-CN" sz="12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R3</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*&gt;  </a:t>
                </a:r>
                <a:r>
                  <a:rPr lang="en-US" altLang="zh-CN" sz="12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Net3</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53" name="直接连接符 55"/>
            <p:cNvCxnSpPr/>
            <p:nvPr/>
          </p:nvCxnSpPr>
          <p:spPr bwMode="gray">
            <a:xfrm flipH="1">
              <a:off x="2345265" y="4060167"/>
              <a:ext cx="918225" cy="0"/>
            </a:xfrm>
            <a:prstGeom prst="line">
              <a:avLst/>
            </a:prstGeom>
            <a:solidFill>
              <a:schemeClr val="accent1"/>
            </a:solidFill>
            <a:ln w="28575" cap="flat" cmpd="sng" algn="ctr">
              <a:solidFill>
                <a:schemeClr val="tx1"/>
              </a:solidFill>
              <a:prstDash val="solid"/>
              <a:round/>
              <a:headEnd type="triangle" w="med" len="med"/>
              <a:tailEnd type="none" w="med" len="med"/>
            </a:ln>
            <a:effectLst/>
          </p:spPr>
        </p:cxnSp>
        <p:cxnSp>
          <p:nvCxnSpPr>
            <p:cNvPr id="54" name="直接连接符 55"/>
            <p:cNvCxnSpPr/>
            <p:nvPr/>
          </p:nvCxnSpPr>
          <p:spPr bwMode="gray">
            <a:xfrm flipH="1">
              <a:off x="3969745" y="3090118"/>
              <a:ext cx="947320" cy="512575"/>
            </a:xfrm>
            <a:prstGeom prst="line">
              <a:avLst/>
            </a:prstGeom>
            <a:solidFill>
              <a:schemeClr val="accent1"/>
            </a:solidFill>
            <a:ln w="28575" cap="flat" cmpd="sng" algn="ctr">
              <a:solidFill>
                <a:schemeClr val="tx1"/>
              </a:solidFill>
              <a:prstDash val="solid"/>
              <a:round/>
              <a:headEnd type="triangle" w="med" len="med"/>
              <a:tailEnd type="none" w="med" len="med"/>
            </a:ln>
            <a:effectLst/>
          </p:spPr>
        </p:cxnSp>
        <p:sp>
          <p:nvSpPr>
            <p:cNvPr id="56" name="Rectangular Callout 115"/>
            <p:cNvSpPr/>
            <p:nvPr/>
          </p:nvSpPr>
          <p:spPr bwMode="gray">
            <a:xfrm>
              <a:off x="2025442" y="3050945"/>
              <a:ext cx="1428475" cy="383032"/>
            </a:xfrm>
            <a:prstGeom prst="wedgeRoundRectCallout">
              <a:avLst>
                <a:gd name="adj1" fmla="val 42931"/>
                <a:gd name="adj2" fmla="val 132807"/>
                <a:gd name="adj3" fmla="val 16667"/>
              </a:avLst>
            </a:prstGeom>
            <a:solidFill>
              <a:srgbClr val="FEF6DE"/>
            </a:solidFill>
            <a:ln w="19050">
              <a:solidFill>
                <a:srgbClr val="FDD35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C7000B"/>
                  </a:solidFill>
                </a:rPr>
                <a:t>过滤</a:t>
              </a:r>
              <a:r>
                <a:rPr lang="en-US" altLang="zh-CN" sz="1400" dirty="0">
                  <a:solidFill>
                    <a:schemeClr val="tx1"/>
                  </a:solidFill>
                </a:rPr>
                <a:t>Net2</a:t>
              </a:r>
              <a:r>
                <a:rPr lang="zh-CN" altLang="en-US" sz="1400" dirty="0">
                  <a:solidFill>
                    <a:schemeClr val="tx1"/>
                  </a:solidFill>
                </a:rPr>
                <a:t>路由</a:t>
              </a:r>
            </a:p>
          </p:txBody>
        </p:sp>
        <p:cxnSp>
          <p:nvCxnSpPr>
            <p:cNvPr id="61" name="直接连接符 55"/>
            <p:cNvCxnSpPr/>
            <p:nvPr/>
          </p:nvCxnSpPr>
          <p:spPr bwMode="gray">
            <a:xfrm flipH="1" flipV="1">
              <a:off x="3969745" y="4337139"/>
              <a:ext cx="946800" cy="511200"/>
            </a:xfrm>
            <a:prstGeom prst="line">
              <a:avLst/>
            </a:prstGeom>
            <a:solidFill>
              <a:schemeClr val="accent1"/>
            </a:solidFill>
            <a:ln w="28575" cap="flat" cmpd="sng" algn="ctr">
              <a:solidFill>
                <a:schemeClr val="tx1"/>
              </a:solidFill>
              <a:prstDash val="solid"/>
              <a:round/>
              <a:headEnd type="triangle" w="med" len="med"/>
              <a:tailEnd type="none" w="med" len="med"/>
            </a:ln>
            <a:effectLst/>
          </p:spPr>
        </p:cxnSp>
        <p:sp>
          <p:nvSpPr>
            <p:cNvPr id="63" name="Rectangular Callout 116"/>
            <p:cNvSpPr/>
            <p:nvPr/>
          </p:nvSpPr>
          <p:spPr bwMode="gray">
            <a:xfrm>
              <a:off x="4450595" y="5077481"/>
              <a:ext cx="1855264" cy="512745"/>
            </a:xfrm>
            <a:prstGeom prst="wedgeRoundRectCallout">
              <a:avLst>
                <a:gd name="adj1" fmla="val -21888"/>
                <a:gd name="adj2" fmla="val -88813"/>
                <a:gd name="adj3" fmla="val 16667"/>
              </a:avLst>
            </a:prstGeom>
            <a:solidFill>
              <a:srgbClr val="FEF6DE"/>
            </a:solidFill>
            <a:ln w="19050">
              <a:solidFill>
                <a:srgbClr val="FDD35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C7000B"/>
                  </a:solidFill>
                </a:rPr>
                <a:t>修改</a:t>
              </a:r>
              <a:r>
                <a:rPr lang="en-US" altLang="zh-CN" sz="1400" dirty="0">
                  <a:solidFill>
                    <a:schemeClr val="tx1"/>
                  </a:solidFill>
                </a:rPr>
                <a:t>Net1/Net3</a:t>
              </a:r>
              <a:r>
                <a:rPr lang="zh-CN" altLang="en-US" sz="1400" dirty="0" smtClean="0">
                  <a:solidFill>
                    <a:schemeClr val="tx1"/>
                  </a:solidFill>
                </a:rPr>
                <a:t>路由属性，</a:t>
              </a:r>
              <a:r>
                <a:rPr lang="zh-CN" altLang="en-US" sz="1400" dirty="0">
                  <a:solidFill>
                    <a:schemeClr val="tx1"/>
                  </a:solidFill>
                </a:rPr>
                <a:t>控制路由</a:t>
              </a:r>
              <a:r>
                <a:rPr lang="zh-CN" altLang="en-US" sz="1400" dirty="0" smtClean="0">
                  <a:solidFill>
                    <a:schemeClr val="tx1"/>
                  </a:solidFill>
                </a:rPr>
                <a:t>优选</a:t>
              </a:r>
              <a:endParaRPr lang="zh-CN" altLang="en-US" sz="1400" dirty="0">
                <a:solidFill>
                  <a:schemeClr val="tx1"/>
                </a:solidFill>
              </a:endParaRPr>
            </a:p>
          </p:txBody>
        </p:sp>
        <p:sp>
          <p:nvSpPr>
            <p:cNvPr id="64" name="Rectangular Callout 116"/>
            <p:cNvSpPr/>
            <p:nvPr/>
          </p:nvSpPr>
          <p:spPr bwMode="gray">
            <a:xfrm>
              <a:off x="4450595" y="2029662"/>
              <a:ext cx="1855264" cy="512745"/>
            </a:xfrm>
            <a:prstGeom prst="wedgeRoundRectCallout">
              <a:avLst>
                <a:gd name="adj1" fmla="val -18433"/>
                <a:gd name="adj2" fmla="val 118718"/>
                <a:gd name="adj3" fmla="val 16667"/>
              </a:avLst>
            </a:prstGeom>
            <a:solidFill>
              <a:srgbClr val="FEF6DE"/>
            </a:solidFill>
            <a:ln w="19050">
              <a:solidFill>
                <a:srgbClr val="FDD35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C7000B"/>
                  </a:solidFill>
                </a:rPr>
                <a:t>修改</a:t>
              </a:r>
              <a:r>
                <a:rPr lang="en-US" altLang="zh-CN" sz="1400" dirty="0">
                  <a:solidFill>
                    <a:schemeClr val="tx1"/>
                  </a:solidFill>
                </a:rPr>
                <a:t>Net1/Net3</a:t>
              </a:r>
              <a:r>
                <a:rPr lang="zh-CN" altLang="en-US" sz="1400" dirty="0" smtClean="0">
                  <a:solidFill>
                    <a:schemeClr val="tx1"/>
                  </a:solidFill>
                </a:rPr>
                <a:t>路由属性，</a:t>
              </a:r>
              <a:r>
                <a:rPr lang="zh-CN" altLang="en-US" sz="1400" dirty="0">
                  <a:solidFill>
                    <a:schemeClr val="tx1"/>
                  </a:solidFill>
                </a:rPr>
                <a:t>控制路由</a:t>
              </a:r>
              <a:r>
                <a:rPr lang="zh-CN" altLang="en-US" sz="1400" dirty="0" smtClean="0">
                  <a:solidFill>
                    <a:schemeClr val="tx1"/>
                  </a:solidFill>
                </a:rPr>
                <a:t>优选</a:t>
              </a:r>
              <a:endParaRPr lang="zh-CN" altLang="en-US" sz="1400" dirty="0">
                <a:solidFill>
                  <a:schemeClr val="tx1"/>
                </a:solidFill>
              </a:endParaRPr>
            </a:p>
          </p:txBody>
        </p:sp>
        <p:sp>
          <p:nvSpPr>
            <p:cNvPr id="65" name="TextBox 120">
              <a:extLst>
                <a:ext uri="{FF2B5EF4-FFF2-40B4-BE49-F238E27FC236}">
                  <a16:creationId xmlns="" xmlns:a16="http://schemas.microsoft.com/office/drawing/2014/main" id="{020D7A1D-EFAD-4C8C-B9DE-D0FAD269B77A}"/>
                </a:ext>
              </a:extLst>
            </p:cNvPr>
            <p:cNvSpPr txBox="1"/>
            <p:nvPr/>
          </p:nvSpPr>
          <p:spPr bwMode="gray">
            <a:xfrm>
              <a:off x="2378235" y="4060167"/>
              <a:ext cx="82709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Route</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TextBox 120">
              <a:extLst>
                <a:ext uri="{FF2B5EF4-FFF2-40B4-BE49-F238E27FC236}">
                  <a16:creationId xmlns="" xmlns:a16="http://schemas.microsoft.com/office/drawing/2014/main" id="{020D7A1D-EFAD-4C8C-B9DE-D0FAD269B77A}"/>
                </a:ext>
              </a:extLst>
            </p:cNvPr>
            <p:cNvSpPr txBox="1"/>
            <p:nvPr/>
          </p:nvSpPr>
          <p:spPr bwMode="gray">
            <a:xfrm rot="19967699">
              <a:off x="4059152" y="3007206"/>
              <a:ext cx="82709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Route</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TextBox 120">
              <a:extLst>
                <a:ext uri="{FF2B5EF4-FFF2-40B4-BE49-F238E27FC236}">
                  <a16:creationId xmlns="" xmlns:a16="http://schemas.microsoft.com/office/drawing/2014/main" id="{020D7A1D-EFAD-4C8C-B9DE-D0FAD269B77A}"/>
                </a:ext>
              </a:extLst>
            </p:cNvPr>
            <p:cNvSpPr txBox="1"/>
            <p:nvPr/>
          </p:nvSpPr>
          <p:spPr bwMode="gray">
            <a:xfrm rot="1724028">
              <a:off x="4059152" y="4589845"/>
              <a:ext cx="82709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Route</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68" name="文本占位符 3"/>
          <p:cNvSpPr txBox="1">
            <a:spLocks/>
          </p:cNvSpPr>
          <p:nvPr/>
        </p:nvSpPr>
        <p:spPr bwMode="auto">
          <a:xfrm>
            <a:off x="7132305" y="2012200"/>
            <a:ext cx="4596190" cy="3719509"/>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altLang="zh-CN" sz="1600" dirty="0" smtClean="0"/>
              <a:t>BGP</a:t>
            </a:r>
            <a:r>
              <a:rPr lang="zh-CN" altLang="en-US" sz="1600" dirty="0" smtClean="0"/>
              <a:t>路由控制一般通过路由策略实现，即通过路由匹配工具匹配特定路由，再通过路由策略工具对路由的发布和接收进行控制。</a:t>
            </a:r>
            <a:endParaRPr lang="en-US" altLang="zh-CN" sz="1600" dirty="0" smtClean="0"/>
          </a:p>
          <a:p>
            <a:pPr lvl="1"/>
            <a:r>
              <a:rPr lang="zh-CN" altLang="en-US" sz="1400" dirty="0" smtClean="0"/>
              <a:t>路由匹配工具：</a:t>
            </a:r>
            <a:r>
              <a:rPr lang="en-US" altLang="zh-CN" sz="1400" dirty="0" smtClean="0"/>
              <a:t>ACL</a:t>
            </a:r>
            <a:r>
              <a:rPr lang="zh-CN" altLang="en-US" sz="1400" dirty="0" smtClean="0"/>
              <a:t>（</a:t>
            </a:r>
            <a:r>
              <a:rPr lang="en-US" altLang="zh-CN" sz="1400" dirty="0" smtClean="0"/>
              <a:t>Access Control List</a:t>
            </a:r>
            <a:r>
              <a:rPr lang="zh-CN" altLang="en-US" sz="1400" dirty="0" smtClean="0"/>
              <a:t>，访问控制列表），</a:t>
            </a:r>
            <a:r>
              <a:rPr lang="en-US" altLang="zh-CN" sz="1400" dirty="0" smtClean="0"/>
              <a:t>IP Prefix List</a:t>
            </a:r>
            <a:r>
              <a:rPr lang="zh-CN" altLang="en-US" sz="1400" dirty="0" smtClean="0"/>
              <a:t>（地址前缀列表），</a:t>
            </a:r>
            <a:r>
              <a:rPr lang="en-US" altLang="zh-CN" sz="1400" dirty="0" smtClean="0"/>
              <a:t>AS_Path Filter</a:t>
            </a:r>
            <a:r>
              <a:rPr lang="zh-CN" altLang="en-US" sz="1400" dirty="0" smtClean="0"/>
              <a:t>（</a:t>
            </a:r>
            <a:r>
              <a:rPr lang="en-US" altLang="zh-CN" sz="1400" dirty="0" smtClean="0"/>
              <a:t>AS</a:t>
            </a:r>
            <a:r>
              <a:rPr lang="zh-CN" altLang="en-US" sz="1400" dirty="0" smtClean="0"/>
              <a:t>路径过滤器），</a:t>
            </a:r>
            <a:r>
              <a:rPr lang="en-US" altLang="zh-CN" sz="1400" dirty="0" smtClean="0"/>
              <a:t>Community Filter</a:t>
            </a:r>
            <a:r>
              <a:rPr lang="zh-CN" altLang="en-US" sz="1400" dirty="0" smtClean="0"/>
              <a:t>（团体属性过滤器）等。</a:t>
            </a:r>
            <a:endParaRPr lang="en-US" altLang="zh-CN" sz="1400" dirty="0" smtClean="0"/>
          </a:p>
          <a:p>
            <a:pPr lvl="1"/>
            <a:r>
              <a:rPr lang="zh-CN" altLang="en-US" sz="1400" dirty="0" smtClean="0"/>
              <a:t>路由策略工具：</a:t>
            </a:r>
            <a:r>
              <a:rPr lang="en-US" altLang="zh-CN" sz="1400" dirty="0" smtClean="0"/>
              <a:t>Filter-Policy</a:t>
            </a:r>
            <a:r>
              <a:rPr lang="zh-CN" altLang="en-US" sz="1400" dirty="0" smtClean="0"/>
              <a:t>和</a:t>
            </a:r>
            <a:r>
              <a:rPr lang="en-US" altLang="zh-CN" sz="1400" dirty="0" smtClean="0"/>
              <a:t>Route-Policy</a:t>
            </a:r>
            <a:r>
              <a:rPr lang="zh-CN" altLang="en-US" sz="1400" dirty="0" smtClean="0"/>
              <a:t>。</a:t>
            </a:r>
            <a:endParaRPr lang="en-US" altLang="zh-CN" sz="1400" dirty="0" smtClean="0"/>
          </a:p>
          <a:p>
            <a:r>
              <a:rPr lang="en-US" altLang="zh-CN" sz="1600" dirty="0" smtClean="0"/>
              <a:t>BGP</a:t>
            </a:r>
            <a:r>
              <a:rPr lang="zh-CN" altLang="en-US" sz="1600" dirty="0" smtClean="0"/>
              <a:t>可以通过匹配</a:t>
            </a:r>
            <a:r>
              <a:rPr lang="en-US" altLang="zh-CN" sz="1600" dirty="0" err="1" smtClean="0"/>
              <a:t>AS_Path</a:t>
            </a:r>
            <a:r>
              <a:rPr lang="zh-CN" altLang="en-US" sz="1600" dirty="0"/>
              <a:t>和</a:t>
            </a:r>
            <a:r>
              <a:rPr lang="en-US" altLang="zh-CN" sz="1600" dirty="0" smtClean="0"/>
              <a:t>Community</a:t>
            </a:r>
            <a:r>
              <a:rPr lang="zh-CN" altLang="en-US" sz="1600" dirty="0" smtClean="0"/>
              <a:t>等属性进行路由控制。</a:t>
            </a:r>
            <a:endParaRPr lang="en-US" altLang="zh-CN" sz="1600" dirty="0" smtClean="0"/>
          </a:p>
        </p:txBody>
      </p:sp>
      <p:sp>
        <p:nvSpPr>
          <p:cNvPr id="55" name="五边形 54"/>
          <p:cNvSpPr/>
          <p:nvPr/>
        </p:nvSpPr>
        <p:spPr bwMode="auto">
          <a:xfrm>
            <a:off x="8335082" y="100861"/>
            <a:ext cx="7812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58" name="燕尾形 57"/>
          <p:cNvSpPr/>
          <p:nvPr/>
        </p:nvSpPr>
        <p:spPr bwMode="auto">
          <a:xfrm>
            <a:off x="9029654" y="100861"/>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AS_Path Filter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燕尾形 58"/>
          <p:cNvSpPr/>
          <p:nvPr/>
        </p:nvSpPr>
        <p:spPr bwMode="auto">
          <a:xfrm>
            <a:off x="10203025" y="100861"/>
            <a:ext cx="154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Community Filter</a:t>
            </a:r>
          </a:p>
        </p:txBody>
      </p:sp>
    </p:spTree>
    <p:extLst>
      <p:ext uri="{BB962C8B-B14F-4D97-AF65-F5344CB8AC3E}">
        <p14:creationId xmlns:p14="http://schemas.microsoft.com/office/powerpoint/2010/main" val="3424131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正则表达式</a:t>
            </a:r>
            <a:endParaRPr lang="zh-CN" altLang="en-US" dirty="0"/>
          </a:p>
        </p:txBody>
      </p:sp>
      <p:sp>
        <p:nvSpPr>
          <p:cNvPr id="3" name="文本占位符 2"/>
          <p:cNvSpPr>
            <a:spLocks noGrp="1"/>
          </p:cNvSpPr>
          <p:nvPr>
            <p:ph type="body" sz="quarter" idx="10"/>
          </p:nvPr>
        </p:nvSpPr>
        <p:spPr/>
        <p:txBody>
          <a:bodyPr/>
          <a:lstStyle/>
          <a:p>
            <a:r>
              <a:rPr lang="zh-CN" altLang="en-US" sz="2000" dirty="0" smtClean="0"/>
              <a:t>正则表达式是按照一定的模板来匹配字符串的公式，由普通字符（如字符</a:t>
            </a:r>
            <a:r>
              <a:rPr lang="en-US" altLang="zh-CN" sz="2000" dirty="0" smtClean="0"/>
              <a:t>a</a:t>
            </a:r>
            <a:r>
              <a:rPr lang="zh-CN" altLang="en-US" sz="2000" dirty="0" smtClean="0"/>
              <a:t>到</a:t>
            </a:r>
            <a:r>
              <a:rPr lang="en-US" altLang="zh-CN" sz="2000" dirty="0" smtClean="0"/>
              <a:t>z</a:t>
            </a:r>
            <a:r>
              <a:rPr lang="zh-CN" altLang="en-US" sz="2000" dirty="0" smtClean="0"/>
              <a:t>）和特殊字符组成。</a:t>
            </a:r>
            <a:endParaRPr lang="en-US" altLang="zh-CN" sz="2000" dirty="0" smtClean="0"/>
          </a:p>
          <a:p>
            <a:r>
              <a:rPr lang="zh-CN" altLang="en-US" sz="2000" dirty="0" smtClean="0"/>
              <a:t>普通字符：匹配的对象是普通字符本身。</a:t>
            </a:r>
            <a:endParaRPr lang="en-US" altLang="zh-CN" sz="2000" dirty="0" smtClean="0"/>
          </a:p>
          <a:p>
            <a:pPr lvl="1"/>
            <a:r>
              <a:rPr lang="zh-CN" altLang="en-US" sz="1800" dirty="0" smtClean="0"/>
              <a:t>包括所有的大写和小写字母、数字、标点符号以及一些特殊符号。</a:t>
            </a:r>
            <a:endParaRPr lang="en-US" altLang="zh-CN" sz="1800" dirty="0" smtClean="0"/>
          </a:p>
          <a:p>
            <a:pPr lvl="1"/>
            <a:r>
              <a:rPr lang="zh-CN" altLang="en-US" sz="1800" dirty="0" smtClean="0"/>
              <a:t>例如：</a:t>
            </a:r>
            <a:r>
              <a:rPr lang="en-US" altLang="zh-CN" sz="1800" dirty="0" smtClean="0"/>
              <a:t>a</a:t>
            </a:r>
            <a:r>
              <a:rPr lang="zh-CN" altLang="en-US" sz="1800" dirty="0" smtClean="0"/>
              <a:t>匹配</a:t>
            </a:r>
            <a:r>
              <a:rPr lang="en-US" altLang="zh-CN" sz="1800" dirty="0" err="1" smtClean="0"/>
              <a:t>abc</a:t>
            </a:r>
            <a:r>
              <a:rPr lang="zh-CN" altLang="en-US" sz="1800" dirty="0" smtClean="0"/>
              <a:t>中的</a:t>
            </a:r>
            <a:r>
              <a:rPr lang="en-US" altLang="zh-CN" sz="1800" dirty="0" smtClean="0"/>
              <a:t>a</a:t>
            </a:r>
            <a:r>
              <a:rPr lang="zh-CN" altLang="en-US" sz="1800" dirty="0" smtClean="0"/>
              <a:t>，</a:t>
            </a:r>
            <a:r>
              <a:rPr lang="en-US" altLang="zh-CN" sz="1800" dirty="0" smtClean="0"/>
              <a:t>10</a:t>
            </a:r>
            <a:r>
              <a:rPr lang="zh-CN" altLang="en-US" sz="1800" dirty="0" smtClean="0"/>
              <a:t>匹配</a:t>
            </a:r>
            <a:r>
              <a:rPr lang="en-US" altLang="zh-CN" sz="1800" dirty="0" smtClean="0"/>
              <a:t>10.113.25.155</a:t>
            </a:r>
            <a:r>
              <a:rPr lang="zh-CN" altLang="en-US" sz="1800" dirty="0" smtClean="0"/>
              <a:t>中的</a:t>
            </a:r>
            <a:r>
              <a:rPr lang="en-US" altLang="zh-CN" sz="1800" dirty="0" smtClean="0"/>
              <a:t>10</a:t>
            </a:r>
            <a:r>
              <a:rPr lang="zh-CN" altLang="en-US" sz="1800" dirty="0" smtClean="0"/>
              <a:t>，</a:t>
            </a:r>
            <a:r>
              <a:rPr lang="en-US" altLang="zh-CN" sz="1800" dirty="0" smtClean="0"/>
              <a:t>@</a:t>
            </a:r>
            <a:r>
              <a:rPr lang="zh-CN" altLang="en-US" sz="1800" dirty="0" smtClean="0"/>
              <a:t>匹配</a:t>
            </a:r>
            <a:r>
              <a:rPr lang="en-US" altLang="zh-CN" sz="1800" dirty="0" smtClean="0"/>
              <a:t>xxx@xxx.com</a:t>
            </a:r>
            <a:r>
              <a:rPr lang="zh-CN" altLang="en-US" sz="1800" dirty="0" smtClean="0"/>
              <a:t>中的</a:t>
            </a:r>
            <a:r>
              <a:rPr lang="en-US" altLang="zh-CN" sz="1800" dirty="0" smtClean="0"/>
              <a:t>@</a:t>
            </a:r>
            <a:r>
              <a:rPr lang="zh-CN" altLang="en-US" sz="1800" dirty="0" smtClean="0"/>
              <a:t>。</a:t>
            </a:r>
            <a:endParaRPr lang="en-US" altLang="zh-CN" sz="1800" dirty="0" smtClean="0"/>
          </a:p>
          <a:p>
            <a:r>
              <a:rPr lang="zh-CN" altLang="en-US" sz="2000" dirty="0" smtClean="0"/>
              <a:t>特殊字符：配合普通字符匹配复杂或特殊的字符串组合。</a:t>
            </a:r>
            <a:endParaRPr lang="en-US" altLang="zh-CN" sz="2000" dirty="0" smtClean="0"/>
          </a:p>
          <a:p>
            <a:pPr lvl="1"/>
            <a:r>
              <a:rPr lang="zh-CN" altLang="en-US" sz="1800" dirty="0" smtClean="0"/>
              <a:t>位于普通字符之前或之后用来限制或扩充普通字符的独立控制字符或占位符。</a:t>
            </a:r>
            <a:endParaRPr lang="en-US" altLang="zh-CN" sz="1800" dirty="0" smtClean="0"/>
          </a:p>
          <a:p>
            <a:pPr lvl="1"/>
            <a:r>
              <a:rPr lang="zh-CN" altLang="en-US" sz="1800" dirty="0" smtClean="0"/>
              <a:t>用来描述它前面的字符的重复使用方式。</a:t>
            </a:r>
            <a:endParaRPr lang="en-US" altLang="zh-CN" sz="1800" dirty="0" smtClean="0"/>
          </a:p>
          <a:p>
            <a:pPr lvl="1"/>
            <a:r>
              <a:rPr lang="zh-CN" altLang="en-US" sz="1800" dirty="0" smtClean="0"/>
              <a:t>限定一个完整的范围。</a:t>
            </a:r>
            <a:endParaRPr lang="en-US" altLang="zh-CN" sz="2000" dirty="0" smtClean="0"/>
          </a:p>
        </p:txBody>
      </p:sp>
      <p:sp>
        <p:nvSpPr>
          <p:cNvPr id="10" name="五边形 9"/>
          <p:cNvSpPr/>
          <p:nvPr/>
        </p:nvSpPr>
        <p:spPr bwMode="auto">
          <a:xfrm>
            <a:off x="8335082" y="100861"/>
            <a:ext cx="7812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11" name="燕尾形 10"/>
          <p:cNvSpPr/>
          <p:nvPr/>
        </p:nvSpPr>
        <p:spPr bwMode="auto">
          <a:xfrm>
            <a:off x="9029654" y="100861"/>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AS_Path Filter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燕尾形 11"/>
          <p:cNvSpPr/>
          <p:nvPr/>
        </p:nvSpPr>
        <p:spPr bwMode="auto">
          <a:xfrm>
            <a:off x="10203025" y="100861"/>
            <a:ext cx="154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Community Filter</a:t>
            </a:r>
          </a:p>
        </p:txBody>
      </p:sp>
    </p:spTree>
    <p:extLst>
      <p:ext uri="{BB962C8B-B14F-4D97-AF65-F5344CB8AC3E}">
        <p14:creationId xmlns:p14="http://schemas.microsoft.com/office/powerpoint/2010/main" val="4795729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特殊字符举例 </a:t>
            </a:r>
            <a:r>
              <a:rPr lang="en-US" altLang="zh-CN" smtClean="0"/>
              <a:t>(1)</a:t>
            </a:r>
            <a:endParaRPr lang="zh-CN" altLang="en-US" dirty="0"/>
          </a:p>
        </p:txBody>
      </p:sp>
      <p:sp>
        <p:nvSpPr>
          <p:cNvPr id="3" name="文本占位符 2"/>
          <p:cNvSpPr>
            <a:spLocks noGrp="1"/>
          </p:cNvSpPr>
          <p:nvPr>
            <p:ph type="body" sz="quarter" idx="10"/>
          </p:nvPr>
        </p:nvSpPr>
        <p:spPr>
          <a:xfrm>
            <a:off x="455613" y="1047750"/>
            <a:ext cx="2916238" cy="436563"/>
          </a:xfrm>
        </p:spPr>
        <p:txBody>
          <a:bodyPr/>
          <a:lstStyle/>
          <a:p>
            <a:r>
              <a:rPr lang="zh-CN" altLang="en-US" sz="2000" dirty="0" smtClean="0"/>
              <a:t>类型</a:t>
            </a:r>
            <a:r>
              <a:rPr lang="en-US" altLang="zh-CN" sz="2000" dirty="0" smtClean="0"/>
              <a:t>1</a:t>
            </a:r>
            <a:r>
              <a:rPr lang="zh-CN" altLang="en-US" sz="2000" dirty="0" smtClean="0"/>
              <a:t>：</a:t>
            </a:r>
            <a:endParaRPr lang="en-US" altLang="zh-CN" sz="2000" dirty="0"/>
          </a:p>
        </p:txBody>
      </p:sp>
      <p:graphicFrame>
        <p:nvGraphicFramePr>
          <p:cNvPr id="5" name="表格 13"/>
          <p:cNvGraphicFramePr>
            <a:graphicFrameLocks noGrp="1"/>
          </p:cNvGraphicFramePr>
          <p:nvPr>
            <p:extLst>
              <p:ext uri="{D42A27DB-BD31-4B8C-83A1-F6EECF244321}">
                <p14:modId xmlns:p14="http://schemas.microsoft.com/office/powerpoint/2010/main" val="1830986341"/>
              </p:ext>
            </p:extLst>
          </p:nvPr>
        </p:nvGraphicFramePr>
        <p:xfrm>
          <a:off x="897412" y="1544953"/>
          <a:ext cx="10524526" cy="2834640"/>
        </p:xfrm>
        <a:graphic>
          <a:graphicData uri="http://schemas.openxmlformats.org/drawingml/2006/table">
            <a:tbl>
              <a:tblPr firstRow="1" firstCol="1" bandRow="1"/>
              <a:tblGrid>
                <a:gridCol w="403260">
                  <a:extLst>
                    <a:ext uri="{9D8B030D-6E8A-4147-A177-3AD203B41FA5}">
                      <a16:colId xmlns="" xmlns:a16="http://schemas.microsoft.com/office/drawing/2014/main" val="20000"/>
                    </a:ext>
                  </a:extLst>
                </a:gridCol>
                <a:gridCol w="6684229">
                  <a:extLst>
                    <a:ext uri="{9D8B030D-6E8A-4147-A177-3AD203B41FA5}">
                      <a16:colId xmlns="" xmlns:a16="http://schemas.microsoft.com/office/drawing/2014/main" val="20001"/>
                    </a:ext>
                  </a:extLst>
                </a:gridCol>
                <a:gridCol w="3437037"/>
              </a:tblGrid>
              <a:tr h="262775">
                <a:tc>
                  <a:txBody>
                    <a:bodyPr/>
                    <a:lstStyle/>
                    <a:p>
                      <a:pPr indent="0" algn="ctr">
                        <a:lnSpc>
                          <a:spcPct val="100000"/>
                        </a:lnSpc>
                        <a:spcAft>
                          <a:spcPts val="0"/>
                        </a:spcAft>
                      </a:pPr>
                      <a:r>
                        <a:rPr lang="en-US" sz="1600" b="1" kern="100" dirty="0">
                          <a:effectLst/>
                        </a:rPr>
                        <a:t>.</a:t>
                      </a:r>
                      <a:endParaRPr lang="zh-CN" sz="1600" b="1" kern="100" dirty="0">
                        <a:solidFill>
                          <a:schemeClr val="tx1"/>
                        </a:solidFill>
                        <a:effectLst/>
                        <a:latin typeface="+mn-lt"/>
                        <a:ea typeface="+mn-ea"/>
                        <a:cs typeface="Times New Roman"/>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indent="0" algn="just">
                        <a:lnSpc>
                          <a:spcPct val="100000"/>
                        </a:lnSpc>
                        <a:spcAft>
                          <a:spcPts val="0"/>
                        </a:spcAft>
                      </a:pPr>
                      <a:r>
                        <a:rPr lang="zh-CN" altLang="en-US" sz="1400" kern="100" dirty="0" smtClean="0">
                          <a:effectLst/>
                        </a:rPr>
                        <a:t>匹配任意单个</a:t>
                      </a:r>
                      <a:r>
                        <a:rPr lang="zh-CN" altLang="en-US" sz="1400" kern="100" dirty="0">
                          <a:effectLst/>
                        </a:rPr>
                        <a:t>的字符</a:t>
                      </a:r>
                      <a:r>
                        <a:rPr lang="zh-CN" sz="1400" kern="100" dirty="0">
                          <a:effectLst/>
                        </a:rPr>
                        <a:t>，包括</a:t>
                      </a:r>
                      <a:r>
                        <a:rPr lang="zh-CN" sz="1400" kern="100" dirty="0" smtClean="0">
                          <a:effectLst/>
                        </a:rPr>
                        <a:t>空格</a:t>
                      </a:r>
                      <a:endParaRPr lang="zh-CN" sz="1400" kern="100" dirty="0">
                        <a:effectLst/>
                        <a:latin typeface="+mn-lt"/>
                        <a:ea typeface="+mn-ea"/>
                        <a:cs typeface="Times New Roman"/>
                      </a:endParaRPr>
                    </a:p>
                  </a:txBody>
                  <a:tcPr anchor="ctr">
                    <a:lnT w="28575" cap="flat" cmpd="sng" algn="ctr">
                      <a:solidFill>
                        <a:schemeClr val="tx1"/>
                      </a:solidFill>
                      <a:prstDash val="solid"/>
                      <a:round/>
                      <a:headEnd type="none" w="med" len="med"/>
                      <a:tailEnd type="none" w="med" len="med"/>
                    </a:lnT>
                  </a:tcPr>
                </a:tc>
                <a:tc>
                  <a:txBody>
                    <a:bodyPr/>
                    <a:lstStyle/>
                    <a:p>
                      <a:pPr indent="0" algn="just">
                        <a:lnSpc>
                          <a:spcPct val="100000"/>
                        </a:lnSpc>
                        <a:spcAft>
                          <a:spcPts val="0"/>
                        </a:spcAft>
                      </a:pPr>
                      <a:r>
                        <a:rPr lang="en-US" altLang="zh-CN" sz="1400" kern="100" dirty="0" smtClean="0">
                          <a:effectLst/>
                        </a:rPr>
                        <a:t>0.0   </a:t>
                      </a:r>
                      <a:r>
                        <a:rPr lang="zh-CN" altLang="en-US" sz="1400" kern="100" dirty="0" smtClean="0">
                          <a:effectLst/>
                        </a:rPr>
                        <a:t>匹配</a:t>
                      </a:r>
                      <a:r>
                        <a:rPr lang="en-US" altLang="zh-CN" sz="1400" kern="100" dirty="0" smtClean="0">
                          <a:effectLst/>
                        </a:rPr>
                        <a:t>0x0</a:t>
                      </a:r>
                      <a:r>
                        <a:rPr lang="zh-CN" altLang="en-US" sz="1400" kern="100" dirty="0" smtClean="0">
                          <a:effectLst/>
                        </a:rPr>
                        <a:t>、</a:t>
                      </a:r>
                      <a:r>
                        <a:rPr lang="en-US" altLang="zh-CN" sz="1400" kern="100" dirty="0" smtClean="0">
                          <a:effectLst/>
                        </a:rPr>
                        <a:t>020…</a:t>
                      </a:r>
                      <a:endParaRPr lang="zh-CN" sz="1400" kern="100" dirty="0">
                        <a:effectLst/>
                        <a:latin typeface="+mn-lt"/>
                        <a:ea typeface="+mn-ea"/>
                        <a:cs typeface="Times New Roman"/>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extLst>
                  <a:ext uri="{0D108BD9-81ED-4DB2-BD59-A6C34878D82A}">
                    <a16:rowId xmlns="" xmlns:a16="http://schemas.microsoft.com/office/drawing/2014/main" val="10000"/>
                  </a:ext>
                </a:extLst>
              </a:tr>
              <a:tr h="262775">
                <a:tc>
                  <a:txBody>
                    <a:bodyPr/>
                    <a:lstStyle/>
                    <a:p>
                      <a:pPr indent="0" algn="ctr">
                        <a:lnSpc>
                          <a:spcPct val="100000"/>
                        </a:lnSpc>
                        <a:spcAft>
                          <a:spcPts val="0"/>
                        </a:spcAft>
                      </a:pPr>
                      <a:r>
                        <a:rPr lang="en-US" sz="1600" b="1" kern="100" dirty="0">
                          <a:effectLst/>
                        </a:rPr>
                        <a:t>^</a:t>
                      </a:r>
                      <a:endParaRPr lang="zh-CN" sz="1600" b="1" kern="100" dirty="0">
                        <a:solidFill>
                          <a:schemeClr val="tx1"/>
                        </a:solidFill>
                        <a:effectLst/>
                        <a:latin typeface="+mn-lt"/>
                        <a:ea typeface="+mn-ea"/>
                        <a:cs typeface="Times New Roman"/>
                      </a:endParaRPr>
                    </a:p>
                  </a:txBody>
                  <a:tcPr anchor="ctr">
                    <a:lnL w="28575" cap="flat" cmpd="sng" algn="ctr">
                      <a:solidFill>
                        <a:schemeClr val="tx1"/>
                      </a:solidFill>
                      <a:prstDash val="solid"/>
                      <a:round/>
                      <a:headEnd type="none" w="med" len="med"/>
                      <a:tailEnd type="none" w="med" len="med"/>
                    </a:lnL>
                    <a:solidFill>
                      <a:schemeClr val="bg1">
                        <a:lumMod val="85000"/>
                      </a:schemeClr>
                    </a:solidFill>
                  </a:tcPr>
                </a:tc>
                <a:tc>
                  <a:txBody>
                    <a:bodyPr/>
                    <a:lstStyle/>
                    <a:p>
                      <a:pPr indent="0" algn="just">
                        <a:lnSpc>
                          <a:spcPct val="100000"/>
                        </a:lnSpc>
                        <a:spcAft>
                          <a:spcPts val="0"/>
                        </a:spcAft>
                      </a:pPr>
                      <a:r>
                        <a:rPr lang="zh-CN" altLang="en-US" sz="1400" kern="100" dirty="0" smtClean="0">
                          <a:effectLst/>
                        </a:rPr>
                        <a:t>匹配行首的位置，即一个字符串的开始</a:t>
                      </a:r>
                      <a:endParaRPr lang="zh-CN" sz="1400" kern="100" dirty="0">
                        <a:effectLst/>
                        <a:latin typeface="+mn-lt"/>
                        <a:ea typeface="+mn-ea"/>
                        <a:cs typeface="Times New Roman"/>
                      </a:endParaRPr>
                    </a:p>
                  </a:txBody>
                  <a:tcPr anchor="ctr"/>
                </a:tc>
                <a:tc>
                  <a:txBody>
                    <a:bodyPr/>
                    <a:lstStyle/>
                    <a:p>
                      <a:pPr indent="0" algn="just">
                        <a:lnSpc>
                          <a:spcPct val="100000"/>
                        </a:lnSpc>
                        <a:spcAft>
                          <a:spcPts val="0"/>
                        </a:spcAft>
                      </a:pPr>
                      <a:r>
                        <a:rPr lang="en-US" altLang="zh-CN" sz="1400" kern="100" dirty="0" smtClean="0">
                          <a:effectLst/>
                        </a:rPr>
                        <a:t>^10  </a:t>
                      </a:r>
                      <a:r>
                        <a:rPr lang="zh-CN" altLang="en-US" sz="1400" kern="100" dirty="0" smtClean="0">
                          <a:effectLst/>
                        </a:rPr>
                        <a:t>匹配</a:t>
                      </a:r>
                      <a:r>
                        <a:rPr lang="en-US" altLang="zh-CN" sz="1400" kern="100" dirty="0" smtClean="0">
                          <a:effectLst/>
                        </a:rPr>
                        <a:t>10.1.1.1</a:t>
                      </a:r>
                      <a:r>
                        <a:rPr lang="zh-CN" altLang="en-US" sz="1400" kern="100" dirty="0" smtClean="0">
                          <a:effectLst/>
                        </a:rPr>
                        <a:t>，不匹配</a:t>
                      </a:r>
                      <a:r>
                        <a:rPr lang="en-US" altLang="zh-CN" sz="1400" kern="100" dirty="0" smtClean="0">
                          <a:effectLst/>
                        </a:rPr>
                        <a:t>20.1.1.1</a:t>
                      </a:r>
                      <a:endParaRPr lang="zh-CN" sz="1400" kern="100" dirty="0">
                        <a:effectLst/>
                        <a:latin typeface="+mn-lt"/>
                        <a:ea typeface="+mn-ea"/>
                        <a:cs typeface="Times New Roman"/>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 xmlns:a16="http://schemas.microsoft.com/office/drawing/2014/main" val="10001"/>
                  </a:ext>
                </a:extLst>
              </a:tr>
              <a:tr h="262775">
                <a:tc>
                  <a:txBody>
                    <a:bodyPr/>
                    <a:lstStyle/>
                    <a:p>
                      <a:pPr indent="0" algn="ctr">
                        <a:lnSpc>
                          <a:spcPct val="100000"/>
                        </a:lnSpc>
                        <a:spcAft>
                          <a:spcPts val="0"/>
                        </a:spcAft>
                      </a:pPr>
                      <a:r>
                        <a:rPr lang="en-US" sz="1600" b="1" kern="100" dirty="0">
                          <a:effectLst/>
                        </a:rPr>
                        <a:t>$</a:t>
                      </a:r>
                      <a:endParaRPr lang="zh-CN" sz="1600" b="1" kern="100" dirty="0">
                        <a:solidFill>
                          <a:schemeClr val="tx1"/>
                        </a:solidFill>
                        <a:effectLst/>
                        <a:latin typeface="+mn-lt"/>
                        <a:ea typeface="+mn-ea"/>
                        <a:cs typeface="Times New Roman"/>
                      </a:endParaRPr>
                    </a:p>
                  </a:txBody>
                  <a:tcPr anchor="ctr">
                    <a:lnL w="28575" cap="flat" cmpd="sng" algn="ctr">
                      <a:solidFill>
                        <a:schemeClr val="tx1"/>
                      </a:solidFill>
                      <a:prstDash val="solid"/>
                      <a:round/>
                      <a:headEnd type="none" w="med" len="med"/>
                      <a:tailEnd type="none" w="med" len="med"/>
                    </a:lnL>
                    <a:solidFill>
                      <a:schemeClr val="bg1">
                        <a:lumMod val="85000"/>
                      </a:schemeClr>
                    </a:solidFill>
                  </a:tcPr>
                </a:tc>
                <a:tc>
                  <a:txBody>
                    <a:bodyPr/>
                    <a:lstStyle/>
                    <a:p>
                      <a:pPr indent="0" algn="just">
                        <a:lnSpc>
                          <a:spcPct val="100000"/>
                        </a:lnSpc>
                        <a:spcAft>
                          <a:spcPts val="0"/>
                        </a:spcAft>
                      </a:pPr>
                      <a:r>
                        <a:rPr lang="zh-CN" altLang="en-US" sz="1400" kern="100" dirty="0" smtClean="0">
                          <a:effectLst/>
                        </a:rPr>
                        <a:t>匹配行尾的位置，即</a:t>
                      </a:r>
                      <a:r>
                        <a:rPr lang="zh-CN" sz="1400" kern="100" dirty="0" smtClean="0">
                          <a:effectLst/>
                        </a:rPr>
                        <a:t>一</a:t>
                      </a:r>
                      <a:r>
                        <a:rPr lang="zh-CN" sz="1400" kern="100" dirty="0">
                          <a:effectLst/>
                        </a:rPr>
                        <a:t>个字符串的</a:t>
                      </a:r>
                      <a:r>
                        <a:rPr lang="zh-CN" sz="1400" kern="100" dirty="0" smtClean="0">
                          <a:effectLst/>
                        </a:rPr>
                        <a:t>结束</a:t>
                      </a:r>
                      <a:endParaRPr lang="zh-CN" sz="1400" kern="100" dirty="0">
                        <a:effectLst/>
                        <a:latin typeface="+mn-lt"/>
                        <a:ea typeface="+mn-ea"/>
                        <a:cs typeface="Times New Roman"/>
                      </a:endParaRPr>
                    </a:p>
                  </a:txBody>
                  <a:tcPr anchor="ctr"/>
                </a:tc>
                <a:tc>
                  <a:txBody>
                    <a:bodyPr/>
                    <a:lstStyle/>
                    <a:p>
                      <a:pPr indent="0" algn="just">
                        <a:lnSpc>
                          <a:spcPct val="100000"/>
                        </a:lnSpc>
                        <a:spcAft>
                          <a:spcPts val="0"/>
                        </a:spcAft>
                      </a:pPr>
                      <a:r>
                        <a:rPr lang="en-US" altLang="zh-CN" sz="1400" kern="100" dirty="0" smtClean="0">
                          <a:effectLst/>
                        </a:rPr>
                        <a:t>1$    </a:t>
                      </a:r>
                      <a:r>
                        <a:rPr lang="zh-CN" altLang="en-US" sz="1400" kern="100" dirty="0" smtClean="0">
                          <a:effectLst/>
                        </a:rPr>
                        <a:t>匹配</a:t>
                      </a:r>
                      <a:r>
                        <a:rPr lang="en-US" altLang="zh-CN" sz="1400" kern="100" dirty="0" smtClean="0">
                          <a:effectLst/>
                        </a:rPr>
                        <a:t>10.1.1.1</a:t>
                      </a:r>
                      <a:r>
                        <a:rPr lang="zh-CN" altLang="en-US" sz="1400" kern="100" dirty="0" smtClean="0">
                          <a:effectLst/>
                        </a:rPr>
                        <a:t>，不匹配</a:t>
                      </a:r>
                      <a:r>
                        <a:rPr lang="en-US" altLang="zh-CN" sz="1400" kern="100" dirty="0" smtClean="0">
                          <a:effectLst/>
                        </a:rPr>
                        <a:t>10.1.1.2</a:t>
                      </a:r>
                      <a:endParaRPr lang="zh-CN" sz="1400" kern="100" dirty="0">
                        <a:effectLst/>
                        <a:latin typeface="+mn-lt"/>
                        <a:ea typeface="+mn-ea"/>
                        <a:cs typeface="Times New Roman"/>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 xmlns:a16="http://schemas.microsoft.com/office/drawing/2014/main" val="10002"/>
                  </a:ext>
                </a:extLst>
              </a:tr>
              <a:tr h="262775">
                <a:tc>
                  <a:txBody>
                    <a:bodyPr/>
                    <a:lstStyle/>
                    <a:p>
                      <a:pPr indent="0" algn="ctr">
                        <a:lnSpc>
                          <a:spcPct val="100000"/>
                        </a:lnSpc>
                        <a:spcAft>
                          <a:spcPts val="0"/>
                        </a:spcAft>
                      </a:pPr>
                      <a:r>
                        <a:rPr lang="en-US" sz="1600" b="1" kern="100" dirty="0" smtClean="0">
                          <a:effectLst/>
                        </a:rPr>
                        <a:t>_</a:t>
                      </a:r>
                      <a:endParaRPr lang="zh-CN" sz="1600" b="1" kern="100" dirty="0">
                        <a:solidFill>
                          <a:schemeClr val="tx1"/>
                        </a:solidFill>
                        <a:effectLst/>
                        <a:latin typeface="+mn-lt"/>
                        <a:ea typeface="+mn-ea"/>
                        <a:cs typeface="Times New Roman"/>
                      </a:endParaRPr>
                    </a:p>
                  </a:txBody>
                  <a:tcPr anchor="ctr">
                    <a:lnL w="28575" cap="flat" cmpd="sng" algn="ctr">
                      <a:solidFill>
                        <a:schemeClr val="tx1"/>
                      </a:solidFill>
                      <a:prstDash val="solid"/>
                      <a:round/>
                      <a:headEnd type="none" w="med" len="med"/>
                      <a:tailEnd type="none" w="med" len="med"/>
                    </a:lnL>
                    <a:solidFill>
                      <a:schemeClr val="bg1">
                        <a:lumMod val="85000"/>
                      </a:schemeClr>
                    </a:solidFill>
                  </a:tcPr>
                </a:tc>
                <a:tc>
                  <a:txBody>
                    <a:bodyPr/>
                    <a:lstStyle/>
                    <a:p>
                      <a:pPr indent="0" algn="just">
                        <a:lnSpc>
                          <a:spcPct val="100000"/>
                        </a:lnSpc>
                        <a:spcAft>
                          <a:spcPts val="0"/>
                        </a:spcAft>
                      </a:pPr>
                      <a:r>
                        <a:rPr lang="zh-CN" altLang="en-US" sz="1400" kern="100" dirty="0" smtClean="0">
                          <a:effectLst/>
                        </a:rPr>
                        <a:t>下划线，匹配</a:t>
                      </a:r>
                      <a:r>
                        <a:rPr lang="zh-CN" sz="1400" kern="100" dirty="0" smtClean="0">
                          <a:effectLst/>
                        </a:rPr>
                        <a:t>任意的一个分隔符</a:t>
                      </a:r>
                      <a:endParaRPr lang="en-US" altLang="zh-CN" sz="1400" kern="100" dirty="0" smtClean="0">
                        <a:effectLst/>
                      </a:endParaRPr>
                    </a:p>
                    <a:p>
                      <a:pPr indent="0" algn="just">
                        <a:lnSpc>
                          <a:spcPct val="100000"/>
                        </a:lnSpc>
                        <a:spcAft>
                          <a:spcPts val="0"/>
                        </a:spcAft>
                      </a:pPr>
                      <a:r>
                        <a:rPr lang="zh-CN" altLang="en-US" sz="1400" kern="100" dirty="0" smtClean="0">
                          <a:effectLst/>
                        </a:rPr>
                        <a:t>匹配一个逗号（</a:t>
                      </a:r>
                      <a:r>
                        <a:rPr lang="en-US" altLang="zh-CN" sz="1400" kern="100" dirty="0" smtClean="0">
                          <a:effectLst/>
                        </a:rPr>
                        <a:t>,</a:t>
                      </a:r>
                      <a:r>
                        <a:rPr lang="zh-CN" altLang="en-US" sz="1400" kern="100" dirty="0" smtClean="0">
                          <a:effectLst/>
                        </a:rPr>
                        <a:t>）、左花括号（</a:t>
                      </a:r>
                      <a:r>
                        <a:rPr lang="en-US" altLang="zh-CN" sz="1400" kern="100" dirty="0" smtClean="0">
                          <a:effectLst/>
                        </a:rPr>
                        <a:t>{</a:t>
                      </a:r>
                      <a:r>
                        <a:rPr lang="zh-CN" altLang="en-US" sz="1400" kern="100" dirty="0" smtClean="0">
                          <a:effectLst/>
                        </a:rPr>
                        <a:t>）、右花括号（</a:t>
                      </a:r>
                      <a:r>
                        <a:rPr lang="en-US" altLang="zh-CN" sz="1400" kern="100" dirty="0" smtClean="0">
                          <a:effectLst/>
                        </a:rPr>
                        <a:t>}</a:t>
                      </a:r>
                      <a:r>
                        <a:rPr lang="zh-CN" altLang="en-US" sz="1400" kern="100" dirty="0" smtClean="0">
                          <a:effectLst/>
                        </a:rPr>
                        <a:t>）、左圆括号、右圆括号</a:t>
                      </a:r>
                      <a:endParaRPr lang="en-US" altLang="zh-CN" sz="1400" kern="100" dirty="0" smtClean="0">
                        <a:effectLst/>
                      </a:endParaRPr>
                    </a:p>
                    <a:p>
                      <a:pPr indent="0" algn="just">
                        <a:lnSpc>
                          <a:spcPct val="100000"/>
                        </a:lnSpc>
                        <a:spcAft>
                          <a:spcPts val="0"/>
                        </a:spcAft>
                      </a:pPr>
                      <a:r>
                        <a:rPr lang="zh-CN" altLang="en-US" sz="1400" kern="100" dirty="0" smtClean="0">
                          <a:effectLst/>
                        </a:rPr>
                        <a:t>匹配输入字符串的开始位置（同</a:t>
                      </a:r>
                      <a:r>
                        <a:rPr lang="en-US" altLang="zh-CN" sz="1400" kern="100" dirty="0" smtClean="0">
                          <a:effectLst/>
                        </a:rPr>
                        <a:t>^</a:t>
                      </a:r>
                      <a:r>
                        <a:rPr lang="zh-CN" altLang="en-US" sz="1400" kern="100" dirty="0" smtClean="0">
                          <a:effectLst/>
                        </a:rPr>
                        <a:t>）</a:t>
                      </a:r>
                      <a:endParaRPr lang="en-US" altLang="zh-CN" sz="1400" kern="100" dirty="0" smtClean="0">
                        <a:effectLst/>
                      </a:endParaRPr>
                    </a:p>
                    <a:p>
                      <a:pPr indent="0" algn="just">
                        <a:lnSpc>
                          <a:spcPct val="100000"/>
                        </a:lnSpc>
                        <a:spcAft>
                          <a:spcPts val="0"/>
                        </a:spcAft>
                      </a:pPr>
                      <a:r>
                        <a:rPr lang="zh-CN" altLang="en-US" sz="1400" kern="100" dirty="0" smtClean="0">
                          <a:effectLst/>
                        </a:rPr>
                        <a:t>匹配输入字符串的结束位置（同</a:t>
                      </a:r>
                      <a:r>
                        <a:rPr lang="en-US" altLang="zh-CN" sz="1400" kern="100" dirty="0" smtClean="0">
                          <a:effectLst/>
                        </a:rPr>
                        <a:t>$</a:t>
                      </a:r>
                      <a:r>
                        <a:rPr lang="zh-CN" altLang="en-US" sz="1400" kern="100" dirty="0" smtClean="0">
                          <a:effectLst/>
                        </a:rPr>
                        <a:t>）</a:t>
                      </a:r>
                      <a:endParaRPr lang="en-US" altLang="zh-CN" sz="1400" kern="100" dirty="0" smtClean="0">
                        <a:effectLst/>
                      </a:endParaRPr>
                    </a:p>
                    <a:p>
                      <a:pPr indent="0" algn="just">
                        <a:lnSpc>
                          <a:spcPct val="100000"/>
                        </a:lnSpc>
                        <a:spcAft>
                          <a:spcPts val="0"/>
                        </a:spcAft>
                      </a:pPr>
                      <a:r>
                        <a:rPr lang="zh-CN" altLang="en-US" sz="1400" kern="100" dirty="0" smtClean="0">
                          <a:effectLst/>
                        </a:rPr>
                        <a:t>匹配一个空格</a:t>
                      </a:r>
                      <a:endParaRPr lang="zh-CN" sz="1400" kern="100" dirty="0">
                        <a:effectLst/>
                        <a:latin typeface="+mn-lt"/>
                        <a:ea typeface="+mn-ea"/>
                        <a:cs typeface="Times New Roman"/>
                      </a:endParaRPr>
                    </a:p>
                  </a:txBody>
                  <a:tcPr anchor="ctr"/>
                </a:tc>
                <a:tc>
                  <a:txBody>
                    <a:bodyPr/>
                    <a:lstStyle/>
                    <a:p>
                      <a:pPr indent="0" algn="just">
                        <a:lnSpc>
                          <a:spcPct val="100000"/>
                        </a:lnSpc>
                        <a:spcAft>
                          <a:spcPts val="0"/>
                        </a:spcAft>
                      </a:pPr>
                      <a:r>
                        <a:rPr lang="en-US" altLang="zh-CN" sz="1400" kern="100" dirty="0" smtClean="0">
                          <a:effectLst/>
                        </a:rPr>
                        <a:t>_10   </a:t>
                      </a:r>
                      <a:r>
                        <a:rPr lang="zh-CN" altLang="en-US" sz="1400" kern="100" dirty="0" smtClean="0">
                          <a:effectLst/>
                        </a:rPr>
                        <a:t>匹配</a:t>
                      </a:r>
                      <a:r>
                        <a:rPr lang="en-US" altLang="zh-CN" sz="1400" kern="100" baseline="0" dirty="0" smtClean="0">
                          <a:effectLst/>
                        </a:rPr>
                        <a:t>(10</a:t>
                      </a:r>
                      <a:r>
                        <a:rPr lang="zh-CN" altLang="en-US" sz="1400" kern="100" baseline="0" dirty="0" smtClean="0">
                          <a:effectLst/>
                        </a:rPr>
                        <a:t>、</a:t>
                      </a:r>
                      <a:r>
                        <a:rPr lang="en-US" altLang="zh-CN" sz="1400" kern="100" baseline="0" dirty="0" smtClean="0">
                          <a:effectLst/>
                        </a:rPr>
                        <a:t>{10</a:t>
                      </a:r>
                      <a:r>
                        <a:rPr lang="zh-CN" altLang="en-US" sz="1400" kern="100" baseline="0" dirty="0" smtClean="0">
                          <a:effectLst/>
                        </a:rPr>
                        <a:t>、空格</a:t>
                      </a:r>
                      <a:r>
                        <a:rPr lang="en-US" altLang="zh-CN" sz="1400" kern="100" baseline="0" dirty="0" smtClean="0">
                          <a:effectLst/>
                        </a:rPr>
                        <a:t>10</a:t>
                      </a:r>
                      <a:r>
                        <a:rPr lang="zh-CN" altLang="en-US" sz="1400" kern="100" baseline="0" dirty="0" smtClean="0">
                          <a:effectLst/>
                        </a:rPr>
                        <a:t>等</a:t>
                      </a:r>
                      <a:endParaRPr lang="en-US" altLang="zh-CN" sz="1400" kern="100" baseline="0" dirty="0" smtClean="0">
                        <a:effectLst/>
                      </a:endParaRPr>
                    </a:p>
                    <a:p>
                      <a:pPr indent="0" algn="just">
                        <a:lnSpc>
                          <a:spcPct val="100000"/>
                        </a:lnSpc>
                        <a:spcAft>
                          <a:spcPts val="0"/>
                        </a:spcAft>
                      </a:pPr>
                      <a:r>
                        <a:rPr lang="en-US" altLang="zh-CN" sz="1400" kern="100" baseline="0" dirty="0" smtClean="0">
                          <a:effectLst/>
                        </a:rPr>
                        <a:t>10_   </a:t>
                      </a:r>
                      <a:r>
                        <a:rPr lang="zh-CN" altLang="en-US" sz="1400" kern="100" baseline="0" dirty="0" smtClean="0">
                          <a:effectLst/>
                        </a:rPr>
                        <a:t>匹配</a:t>
                      </a:r>
                      <a:r>
                        <a:rPr lang="en-US" altLang="zh-CN" sz="1400" kern="100" baseline="0" dirty="0" smtClean="0">
                          <a:effectLst/>
                        </a:rPr>
                        <a:t>10)</a:t>
                      </a:r>
                      <a:r>
                        <a:rPr lang="zh-CN" altLang="en-US" sz="1400" kern="100" baseline="0" dirty="0" smtClean="0">
                          <a:effectLst/>
                        </a:rPr>
                        <a:t>、</a:t>
                      </a:r>
                      <a:r>
                        <a:rPr lang="en-US" altLang="zh-CN" sz="1400" kern="100" baseline="0" dirty="0" smtClean="0">
                          <a:effectLst/>
                        </a:rPr>
                        <a:t>10}</a:t>
                      </a:r>
                      <a:r>
                        <a:rPr lang="zh-CN" altLang="en-US" sz="1400" kern="100" baseline="0" dirty="0" smtClean="0">
                          <a:effectLst/>
                        </a:rPr>
                        <a:t>、</a:t>
                      </a:r>
                      <a:r>
                        <a:rPr lang="en-US" altLang="zh-CN" sz="1400" kern="100" baseline="0" dirty="0" smtClean="0">
                          <a:effectLst/>
                        </a:rPr>
                        <a:t>10</a:t>
                      </a:r>
                      <a:r>
                        <a:rPr lang="zh-CN" altLang="en-US" sz="1400" kern="100" baseline="0" dirty="0" smtClean="0">
                          <a:effectLst/>
                        </a:rPr>
                        <a:t>空格等</a:t>
                      </a:r>
                      <a:endParaRPr lang="zh-CN" sz="1400" kern="100" dirty="0">
                        <a:effectLst/>
                        <a:latin typeface="+mn-lt"/>
                        <a:ea typeface="+mn-ea"/>
                        <a:cs typeface="Times New Roman"/>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 xmlns:a16="http://schemas.microsoft.com/office/drawing/2014/main" val="10003"/>
                  </a:ext>
                </a:extLst>
              </a:tr>
              <a:tr h="262775">
                <a:tc>
                  <a:txBody>
                    <a:bodyPr/>
                    <a:lstStyle/>
                    <a:p>
                      <a:pPr indent="0" algn="ctr">
                        <a:lnSpc>
                          <a:spcPct val="100000"/>
                        </a:lnSpc>
                        <a:spcAft>
                          <a:spcPts val="0"/>
                        </a:spcAft>
                      </a:pPr>
                      <a:r>
                        <a:rPr lang="en-US" altLang="zh-CN" sz="1600" b="1" kern="100" dirty="0">
                          <a:effectLst/>
                        </a:rPr>
                        <a:t>|</a:t>
                      </a:r>
                      <a:endParaRPr lang="zh-CN" sz="1600" b="1" kern="100" dirty="0">
                        <a:solidFill>
                          <a:schemeClr val="tx1"/>
                        </a:solidFill>
                        <a:effectLst/>
                        <a:latin typeface="+mn-lt"/>
                        <a:ea typeface="+mn-ea"/>
                        <a:cs typeface="Times New Roman"/>
                      </a:endParaRPr>
                    </a:p>
                  </a:txBody>
                  <a:tcPr anchor="ctr">
                    <a:lnL w="28575" cap="flat" cmpd="sng" algn="ctr">
                      <a:solidFill>
                        <a:schemeClr val="tx1"/>
                      </a:solidFill>
                      <a:prstDash val="solid"/>
                      <a:round/>
                      <a:headEnd type="none" w="med" len="med"/>
                      <a:tailEnd type="none" w="med" len="med"/>
                    </a:lnL>
                    <a:solidFill>
                      <a:schemeClr val="bg1">
                        <a:lumMod val="85000"/>
                      </a:schemeClr>
                    </a:solidFill>
                  </a:tcPr>
                </a:tc>
                <a:tc>
                  <a:txBody>
                    <a:bodyPr/>
                    <a:lstStyle/>
                    <a:p>
                      <a:pPr indent="0" algn="just">
                        <a:lnSpc>
                          <a:spcPct val="100000"/>
                        </a:lnSpc>
                        <a:spcAft>
                          <a:spcPts val="0"/>
                        </a:spcAft>
                      </a:pPr>
                      <a:r>
                        <a:rPr lang="zh-CN" altLang="en-US" sz="1400" kern="100" dirty="0" smtClean="0">
                          <a:effectLst/>
                        </a:rPr>
                        <a:t>管道字符</a:t>
                      </a:r>
                      <a:r>
                        <a:rPr lang="zh-CN" altLang="en-US" sz="1400" kern="100" dirty="0">
                          <a:effectLst/>
                        </a:rPr>
                        <a:t>，逻辑</a:t>
                      </a:r>
                      <a:r>
                        <a:rPr lang="zh-CN" altLang="en-US" sz="1400" kern="100" dirty="0" smtClean="0">
                          <a:effectLst/>
                        </a:rPr>
                        <a:t>或。如：</a:t>
                      </a:r>
                      <a:r>
                        <a:rPr lang="en-US" altLang="zh-CN" sz="1400" kern="100" dirty="0" err="1" smtClean="0">
                          <a:effectLst/>
                        </a:rPr>
                        <a:t>x|y</a:t>
                      </a:r>
                      <a:r>
                        <a:rPr lang="zh-CN" altLang="en-US" sz="1400" kern="100" dirty="0" smtClean="0">
                          <a:effectLst/>
                        </a:rPr>
                        <a:t>，匹配</a:t>
                      </a:r>
                      <a:r>
                        <a:rPr lang="en-US" altLang="zh-CN" sz="1400" kern="100" dirty="0" smtClean="0">
                          <a:effectLst/>
                        </a:rPr>
                        <a:t>x</a:t>
                      </a:r>
                      <a:r>
                        <a:rPr lang="zh-CN" altLang="en-US" sz="1400" kern="100" dirty="0" smtClean="0">
                          <a:effectLst/>
                        </a:rPr>
                        <a:t>或</a:t>
                      </a:r>
                      <a:r>
                        <a:rPr lang="en-US" altLang="zh-CN" sz="1400" kern="100" dirty="0" smtClean="0">
                          <a:effectLst/>
                        </a:rPr>
                        <a:t>y</a:t>
                      </a:r>
                      <a:endParaRPr lang="zh-CN" sz="1400" kern="100" dirty="0">
                        <a:effectLst/>
                        <a:latin typeface="+mn-lt"/>
                        <a:ea typeface="+mn-ea"/>
                        <a:cs typeface="Times New Roman"/>
                      </a:endParaRPr>
                    </a:p>
                  </a:txBody>
                  <a:tcPr anchor="ctr"/>
                </a:tc>
                <a:tc>
                  <a:txBody>
                    <a:bodyPr/>
                    <a:lstStyle/>
                    <a:p>
                      <a:pPr indent="0" algn="just">
                        <a:lnSpc>
                          <a:spcPct val="100000"/>
                        </a:lnSpc>
                        <a:spcAft>
                          <a:spcPts val="0"/>
                        </a:spcAft>
                      </a:pPr>
                      <a:r>
                        <a:rPr lang="en-US" altLang="zh-CN" sz="1400" kern="100" dirty="0" smtClean="0">
                          <a:effectLst/>
                        </a:rPr>
                        <a:t>100|200  </a:t>
                      </a:r>
                      <a:r>
                        <a:rPr lang="zh-CN" altLang="en-US" sz="1400" kern="100" dirty="0" smtClean="0">
                          <a:effectLst/>
                        </a:rPr>
                        <a:t>匹配</a:t>
                      </a:r>
                      <a:r>
                        <a:rPr lang="en-US" altLang="zh-CN" sz="1400" kern="100" dirty="0" smtClean="0">
                          <a:effectLst/>
                        </a:rPr>
                        <a:t>100</a:t>
                      </a:r>
                      <a:r>
                        <a:rPr lang="zh-CN" altLang="en-US" sz="1400" kern="100" dirty="0" smtClean="0">
                          <a:effectLst/>
                        </a:rPr>
                        <a:t>或者</a:t>
                      </a:r>
                      <a:r>
                        <a:rPr lang="en-US" altLang="zh-CN" sz="1400" kern="100" dirty="0" smtClean="0">
                          <a:effectLst/>
                        </a:rPr>
                        <a:t>200</a:t>
                      </a:r>
                      <a:endParaRPr lang="zh-CN" sz="1400" kern="100" dirty="0">
                        <a:effectLst/>
                        <a:latin typeface="+mn-lt"/>
                        <a:ea typeface="+mn-ea"/>
                        <a:cs typeface="Times New Roman"/>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 xmlns:a16="http://schemas.microsoft.com/office/drawing/2014/main" val="10004"/>
                  </a:ext>
                </a:extLst>
              </a:tr>
              <a:tr h="262775">
                <a:tc>
                  <a:txBody>
                    <a:bodyPr/>
                    <a:lstStyle/>
                    <a:p>
                      <a:pPr indent="0" algn="ctr">
                        <a:lnSpc>
                          <a:spcPct val="100000"/>
                        </a:lnSpc>
                        <a:spcAft>
                          <a:spcPts val="0"/>
                        </a:spcAft>
                      </a:pPr>
                      <a:r>
                        <a:rPr lang="en-US" altLang="zh-CN" sz="1600" b="1" kern="100" dirty="0">
                          <a:effectLst/>
                        </a:rPr>
                        <a:t>\</a:t>
                      </a:r>
                      <a:endParaRPr lang="zh-CN" sz="1600" b="1" kern="100" dirty="0">
                        <a:solidFill>
                          <a:schemeClr val="tx1"/>
                        </a:solidFill>
                        <a:effectLst/>
                        <a:latin typeface="+mn-lt"/>
                        <a:ea typeface="+mn-ea"/>
                        <a:cs typeface="Times New Roman"/>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indent="0" algn="just">
                        <a:lnSpc>
                          <a:spcPct val="100000"/>
                        </a:lnSpc>
                        <a:spcAft>
                          <a:spcPts val="0"/>
                        </a:spcAft>
                      </a:pPr>
                      <a:r>
                        <a:rPr lang="zh-CN" altLang="en-US" sz="1400" kern="100" dirty="0" smtClean="0">
                          <a:effectLst/>
                        </a:rPr>
                        <a:t>转义字符</a:t>
                      </a:r>
                      <a:r>
                        <a:rPr lang="zh-CN" altLang="en-US" sz="1400" kern="100" dirty="0">
                          <a:effectLst/>
                        </a:rPr>
                        <a:t>，</a:t>
                      </a:r>
                      <a:r>
                        <a:rPr lang="zh-CN" altLang="en-US" sz="1400" kern="100" dirty="0" smtClean="0">
                          <a:effectLst/>
                        </a:rPr>
                        <a:t>用来将下一个字符（特殊字符或普通字符）标记为普通字符</a:t>
                      </a:r>
                      <a:endParaRPr lang="zh-CN" altLang="en-US" sz="1400" kern="100" dirty="0">
                        <a:effectLst/>
                        <a:latin typeface="+mn-lt"/>
                        <a:ea typeface="+mn-ea"/>
                      </a:endParaRPr>
                    </a:p>
                  </a:txBody>
                  <a:tcPr anchor="ctr">
                    <a:lnB w="28575" cap="flat" cmpd="sng" algn="ctr">
                      <a:solidFill>
                        <a:schemeClr val="tx1"/>
                      </a:solidFill>
                      <a:prstDash val="solid"/>
                      <a:round/>
                      <a:headEnd type="none" w="med" len="med"/>
                      <a:tailEnd type="none" w="med" len="med"/>
                    </a:lnB>
                  </a:tcPr>
                </a:tc>
                <a:tc>
                  <a:txBody>
                    <a:bodyPr/>
                    <a:lstStyle/>
                    <a:p>
                      <a:pPr indent="0" algn="just">
                        <a:lnSpc>
                          <a:spcPct val="100000"/>
                        </a:lnSpc>
                        <a:spcAft>
                          <a:spcPts val="0"/>
                        </a:spcAft>
                      </a:pPr>
                      <a:r>
                        <a:rPr lang="en-US" altLang="zh-CN" sz="1400" kern="100" dirty="0" smtClean="0">
                          <a:effectLst/>
                        </a:rPr>
                        <a:t>\*</a:t>
                      </a:r>
                      <a:r>
                        <a:rPr lang="en-US" altLang="zh-CN" sz="1400" kern="100" baseline="0" dirty="0" smtClean="0">
                          <a:effectLst/>
                        </a:rPr>
                        <a:t>           </a:t>
                      </a:r>
                      <a:r>
                        <a:rPr lang="zh-CN" altLang="en-US" sz="1400" kern="100" baseline="0" dirty="0" smtClean="0">
                          <a:effectLst/>
                        </a:rPr>
                        <a:t>匹配*</a:t>
                      </a:r>
                      <a:endParaRPr lang="zh-CN" altLang="en-US" sz="1400" kern="100" dirty="0">
                        <a:effectLst/>
                        <a:latin typeface="+mn-lt"/>
                        <a:ea typeface="+mn-ea"/>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5"/>
                  </a:ext>
                </a:extLst>
              </a:tr>
            </a:tbl>
          </a:graphicData>
        </a:graphic>
      </p:graphicFrame>
      <p:graphicFrame>
        <p:nvGraphicFramePr>
          <p:cNvPr id="6" name="表格 13"/>
          <p:cNvGraphicFramePr>
            <a:graphicFrameLocks noGrp="1"/>
          </p:cNvGraphicFramePr>
          <p:nvPr>
            <p:extLst>
              <p:ext uri="{D42A27DB-BD31-4B8C-83A1-F6EECF244321}">
                <p14:modId xmlns:p14="http://schemas.microsoft.com/office/powerpoint/2010/main" val="1811023244"/>
              </p:ext>
            </p:extLst>
          </p:nvPr>
        </p:nvGraphicFramePr>
        <p:xfrm>
          <a:off x="897412" y="5028392"/>
          <a:ext cx="10524527" cy="1005840"/>
        </p:xfrm>
        <a:graphic>
          <a:graphicData uri="http://schemas.openxmlformats.org/drawingml/2006/table">
            <a:tbl>
              <a:tblPr firstRow="1" firstCol="1" bandRow="1"/>
              <a:tblGrid>
                <a:gridCol w="411268">
                  <a:extLst>
                    <a:ext uri="{9D8B030D-6E8A-4147-A177-3AD203B41FA5}">
                      <a16:colId xmlns="" xmlns:a16="http://schemas.microsoft.com/office/drawing/2014/main" val="20000"/>
                    </a:ext>
                  </a:extLst>
                </a:gridCol>
                <a:gridCol w="3250441">
                  <a:extLst>
                    <a:ext uri="{9D8B030D-6E8A-4147-A177-3AD203B41FA5}">
                      <a16:colId xmlns="" xmlns:a16="http://schemas.microsoft.com/office/drawing/2014/main" val="20001"/>
                    </a:ext>
                  </a:extLst>
                </a:gridCol>
                <a:gridCol w="3431409"/>
                <a:gridCol w="3431409"/>
              </a:tblGrid>
              <a:tr h="262775">
                <a:tc>
                  <a:txBody>
                    <a:bodyPr/>
                    <a:lstStyle/>
                    <a:p>
                      <a:pPr indent="0" algn="ctr">
                        <a:lnSpc>
                          <a:spcPct val="100000"/>
                        </a:lnSpc>
                        <a:spcAft>
                          <a:spcPts val="0"/>
                        </a:spcAft>
                      </a:pPr>
                      <a:r>
                        <a:rPr lang="zh-CN" altLang="en-US" sz="1600" b="1" kern="100" dirty="0" smtClean="0">
                          <a:effectLst/>
                        </a:rPr>
                        <a:t>*</a:t>
                      </a:r>
                      <a:endParaRPr lang="zh-CN" sz="1600" b="1" kern="100" dirty="0">
                        <a:solidFill>
                          <a:schemeClr val="tx1"/>
                        </a:solidFill>
                        <a:effectLst/>
                        <a:latin typeface="+mn-lt"/>
                        <a:ea typeface="+mn-ea"/>
                        <a:cs typeface="Times New Roman"/>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indent="0" algn="just">
                        <a:lnSpc>
                          <a:spcPct val="100000"/>
                        </a:lnSpc>
                        <a:spcAft>
                          <a:spcPts val="0"/>
                        </a:spcAft>
                      </a:pPr>
                      <a:r>
                        <a:rPr lang="zh-CN" altLang="en-US" sz="1400" kern="100" dirty="0" smtClean="0">
                          <a:effectLst/>
                        </a:rPr>
                        <a:t>匹配前面的子正则表达式</a:t>
                      </a:r>
                      <a:r>
                        <a:rPr lang="en-US" altLang="zh-CN" sz="1400" kern="100" dirty="0" smtClean="0">
                          <a:effectLst/>
                        </a:rPr>
                        <a:t>0</a:t>
                      </a:r>
                      <a:r>
                        <a:rPr lang="zh-CN" altLang="en-US" sz="1400" kern="100" dirty="0" smtClean="0">
                          <a:effectLst/>
                        </a:rPr>
                        <a:t>次或多次</a:t>
                      </a:r>
                      <a:endParaRPr lang="zh-CN" sz="1400" kern="100" dirty="0">
                        <a:effectLst/>
                        <a:latin typeface="+mn-lt"/>
                        <a:ea typeface="+mn-ea"/>
                        <a:cs typeface="Times New Roman"/>
                      </a:endParaRPr>
                    </a:p>
                  </a:txBody>
                  <a:tcPr anchor="ctr">
                    <a:lnT w="28575" cap="flat" cmpd="sng" algn="ctr">
                      <a:solidFill>
                        <a:schemeClr val="tx1"/>
                      </a:solidFill>
                      <a:prstDash val="solid"/>
                      <a:round/>
                      <a:headEnd type="none" w="med" len="med"/>
                      <a:tailEnd type="none" w="med" len="med"/>
                    </a:lnT>
                  </a:tcPr>
                </a:tc>
                <a:tc>
                  <a:txBody>
                    <a:bodyPr/>
                    <a:lstStyle/>
                    <a:p>
                      <a:pPr indent="0" algn="just">
                        <a:lnSpc>
                          <a:spcPct val="100000"/>
                        </a:lnSpc>
                        <a:spcAft>
                          <a:spcPts val="0"/>
                        </a:spcAft>
                      </a:pPr>
                      <a:r>
                        <a:rPr lang="en-US" altLang="zh-CN" sz="1400" kern="100" dirty="0" smtClean="0">
                          <a:effectLst/>
                        </a:rPr>
                        <a:t>10</a:t>
                      </a:r>
                      <a:r>
                        <a:rPr lang="zh-CN" altLang="en-US" sz="1400" kern="100" dirty="0" smtClean="0">
                          <a:effectLst/>
                        </a:rPr>
                        <a:t>*   匹配</a:t>
                      </a:r>
                      <a:r>
                        <a:rPr lang="en-US" altLang="zh-CN" sz="1400" kern="100" dirty="0" smtClean="0">
                          <a:effectLst/>
                        </a:rPr>
                        <a:t>1</a:t>
                      </a:r>
                      <a:r>
                        <a:rPr lang="zh-CN" altLang="en-US" sz="1400" kern="100" dirty="0" smtClean="0">
                          <a:effectLst/>
                        </a:rPr>
                        <a:t>、</a:t>
                      </a:r>
                      <a:r>
                        <a:rPr lang="en-US" altLang="zh-CN" sz="1400" kern="100" dirty="0" smtClean="0">
                          <a:effectLst/>
                        </a:rPr>
                        <a:t>10</a:t>
                      </a:r>
                      <a:r>
                        <a:rPr lang="zh-CN" altLang="en-US" sz="1400" kern="100" dirty="0" smtClean="0">
                          <a:effectLst/>
                        </a:rPr>
                        <a:t>、</a:t>
                      </a:r>
                      <a:r>
                        <a:rPr lang="en-US" altLang="zh-CN" sz="1400" kern="100" dirty="0" smtClean="0">
                          <a:effectLst/>
                        </a:rPr>
                        <a:t>100</a:t>
                      </a:r>
                      <a:r>
                        <a:rPr lang="zh-CN" altLang="en-US" sz="1400" kern="100" dirty="0" smtClean="0">
                          <a:effectLst/>
                        </a:rPr>
                        <a:t>、</a:t>
                      </a:r>
                      <a:r>
                        <a:rPr lang="en-US" altLang="zh-CN" sz="1400" kern="100" dirty="0" smtClean="0">
                          <a:effectLst/>
                        </a:rPr>
                        <a:t>1000</a:t>
                      </a:r>
                      <a:r>
                        <a:rPr lang="zh-CN" altLang="en-US" sz="1400" kern="100" dirty="0" smtClean="0">
                          <a:effectLst/>
                        </a:rPr>
                        <a:t>、</a:t>
                      </a:r>
                      <a:r>
                        <a:rPr lang="en-US" altLang="zh-CN" sz="1400" kern="100" dirty="0" smtClean="0">
                          <a:effectLst/>
                        </a:rPr>
                        <a:t>…</a:t>
                      </a:r>
                      <a:endParaRPr lang="zh-CN" sz="1400" kern="100" dirty="0">
                        <a:effectLst/>
                        <a:latin typeface="+mn-lt"/>
                        <a:ea typeface="+mn-ea"/>
                        <a:cs typeface="Times New Roman"/>
                      </a:endParaRPr>
                    </a:p>
                  </a:txBody>
                  <a:tcPr anchor="ctr">
                    <a:lnT w="28575" cap="flat" cmpd="sng" algn="ctr">
                      <a:solidFill>
                        <a:schemeClr val="tx1"/>
                      </a:solidFill>
                      <a:prstDash val="solid"/>
                      <a:round/>
                      <a:headEnd type="none" w="med" len="med"/>
                      <a:tailEnd type="none" w="med" len="med"/>
                    </a:lnT>
                  </a:tcPr>
                </a:tc>
                <a:tc>
                  <a:txBody>
                    <a:bodyPr/>
                    <a:lstStyle/>
                    <a:p>
                      <a:pPr marL="0" marR="0" lvl="0" indent="0" algn="just" defTabSz="914034" rtl="0" eaLnBrk="1" fontAlgn="auto" latinLnBrk="0" hangingPunct="1">
                        <a:lnSpc>
                          <a:spcPct val="100000"/>
                        </a:lnSpc>
                        <a:spcBef>
                          <a:spcPts val="0"/>
                        </a:spcBef>
                        <a:spcAft>
                          <a:spcPts val="0"/>
                        </a:spcAft>
                        <a:buClrTx/>
                        <a:buSzTx/>
                        <a:buFontTx/>
                        <a:buNone/>
                        <a:tabLst/>
                        <a:defRPr/>
                      </a:pPr>
                      <a:r>
                        <a:rPr lang="en-US" altLang="zh-CN" sz="1400" kern="100" dirty="0" smtClean="0">
                          <a:effectLst/>
                        </a:rPr>
                        <a:t>(10)</a:t>
                      </a:r>
                      <a:r>
                        <a:rPr lang="zh-CN" altLang="en-US" sz="1400" kern="100" dirty="0" smtClean="0">
                          <a:effectLst/>
                        </a:rPr>
                        <a:t>*   匹配空、</a:t>
                      </a:r>
                      <a:r>
                        <a:rPr lang="en-US" altLang="zh-CN" sz="1400" kern="100" dirty="0" smtClean="0">
                          <a:effectLst/>
                        </a:rPr>
                        <a:t>10</a:t>
                      </a:r>
                      <a:r>
                        <a:rPr lang="zh-CN" altLang="en-US" sz="1400" kern="100" dirty="0" smtClean="0">
                          <a:effectLst/>
                        </a:rPr>
                        <a:t>、</a:t>
                      </a:r>
                      <a:r>
                        <a:rPr lang="en-US" altLang="zh-CN" sz="1400" kern="100" dirty="0" smtClean="0">
                          <a:effectLst/>
                        </a:rPr>
                        <a:t>1010</a:t>
                      </a:r>
                      <a:r>
                        <a:rPr lang="zh-CN" altLang="en-US" sz="1400" kern="100" dirty="0" smtClean="0">
                          <a:effectLst/>
                        </a:rPr>
                        <a:t>、</a:t>
                      </a:r>
                      <a:r>
                        <a:rPr lang="en-US" altLang="zh-CN" sz="1400" kern="100" dirty="0" smtClean="0">
                          <a:effectLst/>
                        </a:rPr>
                        <a:t>101010…</a:t>
                      </a:r>
                      <a:endParaRPr lang="zh-CN" altLang="zh-CN" sz="1400" kern="100" dirty="0" smtClean="0">
                        <a:effectLst/>
                        <a:latin typeface="+mn-lt"/>
                        <a:ea typeface="+mn-ea"/>
                        <a:cs typeface="Times New Roman"/>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tr>
              <a:tr h="262775">
                <a:tc>
                  <a:txBody>
                    <a:bodyPr/>
                    <a:lstStyle/>
                    <a:p>
                      <a:pPr indent="0" algn="ctr">
                        <a:lnSpc>
                          <a:spcPct val="100000"/>
                        </a:lnSpc>
                        <a:spcAft>
                          <a:spcPts val="0"/>
                        </a:spcAft>
                      </a:pPr>
                      <a:r>
                        <a:rPr lang="en-US" altLang="zh-CN" sz="1600" b="1" kern="100" dirty="0" smtClean="0">
                          <a:effectLst/>
                        </a:rPr>
                        <a:t>+</a:t>
                      </a:r>
                      <a:endParaRPr lang="zh-CN" sz="1600" b="1" kern="100" dirty="0">
                        <a:solidFill>
                          <a:schemeClr val="tx1"/>
                        </a:solidFill>
                        <a:effectLst/>
                        <a:latin typeface="+mn-lt"/>
                        <a:ea typeface="+mn-ea"/>
                        <a:cs typeface="Times New Roman"/>
                      </a:endParaRPr>
                    </a:p>
                  </a:txBody>
                  <a:tcPr anchor="ctr">
                    <a:lnL w="28575" cap="flat" cmpd="sng" algn="ctr">
                      <a:solidFill>
                        <a:schemeClr val="tx1"/>
                      </a:solidFill>
                      <a:prstDash val="solid"/>
                      <a:round/>
                      <a:headEnd type="none" w="med" len="med"/>
                      <a:tailEnd type="none" w="med" len="med"/>
                    </a:lnL>
                    <a:solidFill>
                      <a:schemeClr val="bg1">
                        <a:lumMod val="85000"/>
                      </a:schemeClr>
                    </a:solidFill>
                  </a:tcPr>
                </a:tc>
                <a:tc>
                  <a:txBody>
                    <a:bodyPr/>
                    <a:lstStyle/>
                    <a:p>
                      <a:pPr indent="0" algn="just">
                        <a:lnSpc>
                          <a:spcPct val="100000"/>
                        </a:lnSpc>
                        <a:spcAft>
                          <a:spcPts val="0"/>
                        </a:spcAft>
                      </a:pPr>
                      <a:r>
                        <a:rPr lang="zh-CN" altLang="en-US" sz="1400" kern="100" dirty="0" smtClean="0">
                          <a:effectLst/>
                        </a:rPr>
                        <a:t>匹配前面的子正则表达式</a:t>
                      </a:r>
                      <a:r>
                        <a:rPr lang="en-US" altLang="zh-CN" sz="1400" kern="100" dirty="0" smtClean="0">
                          <a:effectLst/>
                        </a:rPr>
                        <a:t>1</a:t>
                      </a:r>
                      <a:r>
                        <a:rPr lang="zh-CN" altLang="en-US" sz="1400" kern="100" dirty="0" smtClean="0">
                          <a:effectLst/>
                        </a:rPr>
                        <a:t>次或多次</a:t>
                      </a:r>
                      <a:endParaRPr lang="zh-CN" sz="1400" kern="100" dirty="0">
                        <a:effectLst/>
                        <a:latin typeface="+mn-lt"/>
                        <a:ea typeface="+mn-ea"/>
                        <a:cs typeface="Times New Roman"/>
                      </a:endParaRPr>
                    </a:p>
                  </a:txBody>
                  <a:tcPr anchor="ctr"/>
                </a:tc>
                <a:tc>
                  <a:txBody>
                    <a:bodyPr/>
                    <a:lstStyle/>
                    <a:p>
                      <a:pPr indent="0" algn="just">
                        <a:lnSpc>
                          <a:spcPct val="100000"/>
                        </a:lnSpc>
                        <a:spcAft>
                          <a:spcPts val="0"/>
                        </a:spcAft>
                      </a:pPr>
                      <a:r>
                        <a:rPr lang="en-US" altLang="zh-CN" sz="1400" kern="100" dirty="0" smtClean="0">
                          <a:effectLst/>
                        </a:rPr>
                        <a:t>10+  </a:t>
                      </a:r>
                      <a:r>
                        <a:rPr lang="zh-CN" altLang="en-US" sz="1400" kern="100" dirty="0" smtClean="0">
                          <a:effectLst/>
                        </a:rPr>
                        <a:t>匹配</a:t>
                      </a:r>
                      <a:r>
                        <a:rPr lang="en-US" altLang="zh-CN" sz="1400" kern="100" dirty="0" smtClean="0">
                          <a:effectLst/>
                        </a:rPr>
                        <a:t>10</a:t>
                      </a:r>
                      <a:r>
                        <a:rPr lang="zh-CN" altLang="en-US" sz="1400" kern="100" dirty="0" smtClean="0">
                          <a:effectLst/>
                        </a:rPr>
                        <a:t>、</a:t>
                      </a:r>
                      <a:r>
                        <a:rPr lang="en-US" altLang="zh-CN" sz="1400" kern="100" dirty="0" smtClean="0">
                          <a:effectLst/>
                        </a:rPr>
                        <a:t>100</a:t>
                      </a:r>
                      <a:r>
                        <a:rPr lang="zh-CN" altLang="en-US" sz="1400" kern="100" dirty="0" smtClean="0">
                          <a:effectLst/>
                        </a:rPr>
                        <a:t>、</a:t>
                      </a:r>
                      <a:r>
                        <a:rPr lang="en-US" altLang="zh-CN" sz="1400" kern="100" dirty="0" smtClean="0">
                          <a:effectLst/>
                        </a:rPr>
                        <a:t>1000</a:t>
                      </a:r>
                      <a:r>
                        <a:rPr lang="zh-CN" altLang="en-US" sz="1400" kern="100" dirty="0" smtClean="0">
                          <a:effectLst/>
                        </a:rPr>
                        <a:t>、</a:t>
                      </a:r>
                      <a:r>
                        <a:rPr lang="en-US" altLang="zh-CN" sz="1400" kern="100" dirty="0" smtClean="0">
                          <a:effectLst/>
                        </a:rPr>
                        <a:t>…</a:t>
                      </a:r>
                      <a:endParaRPr lang="zh-CN" sz="1400" kern="100" dirty="0">
                        <a:effectLst/>
                        <a:latin typeface="+mn-lt"/>
                        <a:ea typeface="+mn-ea"/>
                        <a:cs typeface="Times New Roman"/>
                      </a:endParaRPr>
                    </a:p>
                  </a:txBody>
                  <a:tcPr anchor="ctr"/>
                </a:tc>
                <a:tc>
                  <a:txBody>
                    <a:bodyPr/>
                    <a:lstStyle/>
                    <a:p>
                      <a:pPr indent="0" algn="just">
                        <a:lnSpc>
                          <a:spcPct val="100000"/>
                        </a:lnSpc>
                        <a:spcAft>
                          <a:spcPts val="0"/>
                        </a:spcAft>
                      </a:pPr>
                      <a:r>
                        <a:rPr lang="en-US" altLang="zh-CN" sz="1400" kern="100" dirty="0" smtClean="0">
                          <a:effectLst/>
                        </a:rPr>
                        <a:t>(10)+   </a:t>
                      </a:r>
                      <a:r>
                        <a:rPr lang="zh-CN" altLang="en-US" sz="1400" kern="100" dirty="0" smtClean="0">
                          <a:effectLst/>
                        </a:rPr>
                        <a:t>匹配</a:t>
                      </a:r>
                      <a:r>
                        <a:rPr lang="en-US" altLang="zh-CN" sz="1400" kern="100" dirty="0" smtClean="0">
                          <a:effectLst/>
                        </a:rPr>
                        <a:t>10</a:t>
                      </a:r>
                      <a:r>
                        <a:rPr lang="zh-CN" altLang="en-US" sz="1400" kern="100" dirty="0" smtClean="0">
                          <a:effectLst/>
                        </a:rPr>
                        <a:t>、</a:t>
                      </a:r>
                      <a:r>
                        <a:rPr lang="en-US" altLang="zh-CN" sz="1400" kern="100" dirty="0" smtClean="0">
                          <a:effectLst/>
                        </a:rPr>
                        <a:t>1010</a:t>
                      </a:r>
                      <a:r>
                        <a:rPr lang="zh-CN" altLang="en-US" sz="1400" kern="100" dirty="0" smtClean="0">
                          <a:effectLst/>
                        </a:rPr>
                        <a:t>、</a:t>
                      </a:r>
                      <a:r>
                        <a:rPr lang="en-US" altLang="zh-CN" sz="1400" kern="100" dirty="0" smtClean="0">
                          <a:effectLst/>
                        </a:rPr>
                        <a:t>101010…</a:t>
                      </a:r>
                      <a:endParaRPr lang="zh-CN" sz="1400" kern="100" dirty="0">
                        <a:effectLst/>
                        <a:latin typeface="+mn-lt"/>
                        <a:ea typeface="+mn-ea"/>
                        <a:cs typeface="Times New Roman"/>
                      </a:endParaRPr>
                    </a:p>
                  </a:txBody>
                  <a:tcPr anchor="ctr">
                    <a:lnR w="28575" cap="flat" cmpd="sng" algn="ctr">
                      <a:solidFill>
                        <a:schemeClr val="tx1"/>
                      </a:solidFill>
                      <a:prstDash val="solid"/>
                      <a:round/>
                      <a:headEnd type="none" w="med" len="med"/>
                      <a:tailEnd type="none" w="med" len="med"/>
                    </a:lnR>
                  </a:tcPr>
                </a:tc>
              </a:tr>
              <a:tr h="262775">
                <a:tc>
                  <a:txBody>
                    <a:bodyPr/>
                    <a:lstStyle/>
                    <a:p>
                      <a:pPr indent="0" algn="ctr">
                        <a:lnSpc>
                          <a:spcPct val="100000"/>
                        </a:lnSpc>
                        <a:spcAft>
                          <a:spcPts val="0"/>
                        </a:spcAft>
                      </a:pPr>
                      <a:r>
                        <a:rPr lang="en-US" altLang="zh-CN" sz="1600" b="1" kern="100" dirty="0" smtClean="0">
                          <a:effectLst/>
                        </a:rPr>
                        <a:t>?</a:t>
                      </a:r>
                      <a:endParaRPr lang="zh-CN" sz="1600" b="1" kern="100" dirty="0">
                        <a:solidFill>
                          <a:schemeClr val="tx1"/>
                        </a:solidFill>
                        <a:effectLst/>
                        <a:latin typeface="+mn-lt"/>
                        <a:ea typeface="+mn-ea"/>
                        <a:cs typeface="Times New Roman"/>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indent="0" algn="just">
                        <a:lnSpc>
                          <a:spcPct val="100000"/>
                        </a:lnSpc>
                        <a:spcAft>
                          <a:spcPts val="0"/>
                        </a:spcAft>
                      </a:pPr>
                      <a:r>
                        <a:rPr lang="zh-CN" altLang="en-US" sz="1400" kern="100" dirty="0" smtClean="0">
                          <a:effectLst/>
                        </a:rPr>
                        <a:t>匹配前面的子正则表达式</a:t>
                      </a:r>
                      <a:r>
                        <a:rPr lang="en-US" altLang="zh-CN" sz="1400" kern="100" dirty="0" smtClean="0">
                          <a:effectLst/>
                        </a:rPr>
                        <a:t>0</a:t>
                      </a:r>
                      <a:r>
                        <a:rPr lang="zh-CN" altLang="en-US" sz="1400" kern="100" dirty="0" smtClean="0">
                          <a:effectLst/>
                        </a:rPr>
                        <a:t>次或</a:t>
                      </a:r>
                      <a:r>
                        <a:rPr lang="en-US" altLang="zh-CN" sz="1400" kern="100" dirty="0" smtClean="0">
                          <a:effectLst/>
                        </a:rPr>
                        <a:t>1</a:t>
                      </a:r>
                      <a:r>
                        <a:rPr lang="zh-CN" altLang="en-US" sz="1400" kern="100" dirty="0" smtClean="0">
                          <a:effectLst/>
                        </a:rPr>
                        <a:t>次</a:t>
                      </a:r>
                      <a:endParaRPr lang="zh-CN" sz="1400" kern="100" dirty="0">
                        <a:effectLst/>
                        <a:latin typeface="+mn-lt"/>
                        <a:ea typeface="+mn-ea"/>
                        <a:cs typeface="Times New Roman"/>
                      </a:endParaRPr>
                    </a:p>
                  </a:txBody>
                  <a:tcPr anchor="ctr">
                    <a:lnB w="28575" cap="flat" cmpd="sng" algn="ctr">
                      <a:solidFill>
                        <a:schemeClr val="tx1"/>
                      </a:solidFill>
                      <a:prstDash val="solid"/>
                      <a:round/>
                      <a:headEnd type="none" w="med" len="med"/>
                      <a:tailEnd type="none" w="med" len="med"/>
                    </a:lnB>
                  </a:tcPr>
                </a:tc>
                <a:tc>
                  <a:txBody>
                    <a:bodyPr/>
                    <a:lstStyle/>
                    <a:p>
                      <a:pPr indent="0" algn="just">
                        <a:lnSpc>
                          <a:spcPct val="100000"/>
                        </a:lnSpc>
                        <a:spcAft>
                          <a:spcPts val="0"/>
                        </a:spcAft>
                      </a:pPr>
                      <a:r>
                        <a:rPr lang="en-US" altLang="zh-CN" sz="1400" kern="100" dirty="0" smtClean="0">
                          <a:effectLst/>
                        </a:rPr>
                        <a:t>10?</a:t>
                      </a:r>
                      <a:r>
                        <a:rPr lang="en-US" altLang="zh-CN" sz="1400" kern="100" baseline="0" dirty="0" smtClean="0">
                          <a:effectLst/>
                        </a:rPr>
                        <a:t>  </a:t>
                      </a:r>
                      <a:r>
                        <a:rPr lang="zh-CN" altLang="en-US" sz="1400" kern="100" baseline="0" dirty="0" smtClean="0">
                          <a:effectLst/>
                        </a:rPr>
                        <a:t>匹配</a:t>
                      </a:r>
                      <a:r>
                        <a:rPr lang="en-US" altLang="zh-CN" sz="1400" kern="100" baseline="0" dirty="0" smtClean="0">
                          <a:effectLst/>
                        </a:rPr>
                        <a:t>1</a:t>
                      </a:r>
                      <a:r>
                        <a:rPr lang="zh-CN" altLang="en-US" sz="1400" kern="100" baseline="0" dirty="0" smtClean="0">
                          <a:effectLst/>
                        </a:rPr>
                        <a:t>或</a:t>
                      </a:r>
                      <a:r>
                        <a:rPr lang="en-US" altLang="zh-CN" sz="1400" kern="100" baseline="0" dirty="0" smtClean="0">
                          <a:effectLst/>
                        </a:rPr>
                        <a:t>10</a:t>
                      </a:r>
                      <a:endParaRPr lang="zh-CN" sz="1400" kern="100" dirty="0">
                        <a:effectLst/>
                        <a:latin typeface="+mn-lt"/>
                        <a:ea typeface="+mn-ea"/>
                        <a:cs typeface="Times New Roman"/>
                      </a:endParaRPr>
                    </a:p>
                  </a:txBody>
                  <a:tcPr anchor="ctr">
                    <a:lnB w="28575" cap="flat" cmpd="sng" algn="ctr">
                      <a:solidFill>
                        <a:schemeClr val="tx1"/>
                      </a:solidFill>
                      <a:prstDash val="solid"/>
                      <a:round/>
                      <a:headEnd type="none" w="med" len="med"/>
                      <a:tailEnd type="none" w="med" len="med"/>
                    </a:lnB>
                  </a:tcPr>
                </a:tc>
                <a:tc>
                  <a:txBody>
                    <a:bodyPr/>
                    <a:lstStyle/>
                    <a:p>
                      <a:pPr marL="0" marR="0" lvl="0" indent="0" algn="just" defTabSz="914034" rtl="0" eaLnBrk="1" fontAlgn="auto" latinLnBrk="0" hangingPunct="1">
                        <a:lnSpc>
                          <a:spcPct val="100000"/>
                        </a:lnSpc>
                        <a:spcBef>
                          <a:spcPts val="0"/>
                        </a:spcBef>
                        <a:spcAft>
                          <a:spcPts val="0"/>
                        </a:spcAft>
                        <a:buClrTx/>
                        <a:buSzTx/>
                        <a:buFontTx/>
                        <a:buNone/>
                        <a:tabLst/>
                        <a:defRPr/>
                      </a:pPr>
                      <a:r>
                        <a:rPr lang="en-US" altLang="zh-CN" sz="1400" kern="100" baseline="0" dirty="0" smtClean="0">
                          <a:effectLst/>
                        </a:rPr>
                        <a:t>(10)?   </a:t>
                      </a:r>
                      <a:r>
                        <a:rPr lang="zh-CN" altLang="en-US" sz="1400" kern="100" baseline="0" dirty="0" smtClean="0">
                          <a:effectLst/>
                        </a:rPr>
                        <a:t>匹配空或</a:t>
                      </a:r>
                      <a:r>
                        <a:rPr lang="en-US" altLang="zh-CN" sz="1400" kern="100" baseline="0" dirty="0" smtClean="0">
                          <a:effectLst/>
                        </a:rPr>
                        <a:t>10</a:t>
                      </a:r>
                      <a:endParaRPr lang="zh-CN" altLang="zh-CN" sz="1400" kern="100" dirty="0" smtClean="0">
                        <a:effectLst/>
                        <a:latin typeface="+mn-lt"/>
                        <a:ea typeface="+mn-ea"/>
                        <a:cs typeface="Times New Roman"/>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7" name="文本占位符 2"/>
          <p:cNvSpPr txBox="1">
            <a:spLocks/>
          </p:cNvSpPr>
          <p:nvPr/>
        </p:nvSpPr>
        <p:spPr bwMode="auto">
          <a:xfrm>
            <a:off x="468317" y="4531993"/>
            <a:ext cx="2903533" cy="463864"/>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fontAlgn="ctr">
              <a:buSzPct val="50000"/>
              <a:buFont typeface="Wingdings" panose="05000000000000000000" pitchFamily="2" charset="2"/>
              <a:buChar char="l"/>
            </a:pPr>
            <a:r>
              <a:rPr lang="zh-CN" altLang="en-US" sz="2000" dirty="0">
                <a:latin typeface="Huawei Sans" panose="020C0503030203020204" pitchFamily="34" charset="0"/>
                <a:ea typeface="方正兰亭黑简体" panose="02000000000000000000" pitchFamily="2" charset="-122"/>
                <a:cs typeface="Huawei Sans" panose="020C0503030203020204" pitchFamily="34" charset="0"/>
              </a:rPr>
              <a:t>类型</a:t>
            </a:r>
            <a:r>
              <a:rPr lang="en-US" altLang="zh-CN" sz="2000" dirty="0">
                <a:latin typeface="Huawei Sans" panose="020C0503030203020204" pitchFamily="34" charset="0"/>
                <a:ea typeface="方正兰亭黑简体" panose="02000000000000000000" pitchFamily="2" charset="-122"/>
                <a:cs typeface="Huawei Sans" panose="020C0503030203020204" pitchFamily="34" charset="0"/>
              </a:rPr>
              <a:t>2</a:t>
            </a:r>
            <a:r>
              <a:rPr lang="zh-CN" altLang="en-US" sz="2000" dirty="0">
                <a:latin typeface="Huawei Sans" panose="020C0503030203020204" pitchFamily="34" charset="0"/>
                <a:ea typeface="方正兰亭黑简体" panose="02000000000000000000" pitchFamily="2" charset="-122"/>
                <a:cs typeface="Huawei Sans" panose="020C0503030203020204" pitchFamily="34" charset="0"/>
              </a:rPr>
              <a:t>：</a:t>
            </a:r>
            <a:endParaRPr lang="en-US" altLang="zh-CN" sz="20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3" name="五边形 12"/>
          <p:cNvSpPr/>
          <p:nvPr/>
        </p:nvSpPr>
        <p:spPr bwMode="auto">
          <a:xfrm>
            <a:off x="8335082" y="100861"/>
            <a:ext cx="7812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14" name="燕尾形 13"/>
          <p:cNvSpPr/>
          <p:nvPr/>
        </p:nvSpPr>
        <p:spPr bwMode="auto">
          <a:xfrm>
            <a:off x="9029654" y="100861"/>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AS_Path Filter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燕尾形 14"/>
          <p:cNvSpPr/>
          <p:nvPr/>
        </p:nvSpPr>
        <p:spPr bwMode="auto">
          <a:xfrm>
            <a:off x="10203025" y="100861"/>
            <a:ext cx="154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Community Filter</a:t>
            </a:r>
          </a:p>
        </p:txBody>
      </p:sp>
    </p:spTree>
    <p:extLst>
      <p:ext uri="{BB962C8B-B14F-4D97-AF65-F5344CB8AC3E}">
        <p14:creationId xmlns:p14="http://schemas.microsoft.com/office/powerpoint/2010/main" val="3067772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特殊字符举例 </a:t>
            </a:r>
            <a:r>
              <a:rPr lang="en-US" altLang="zh-CN" smtClean="0"/>
              <a:t>(2)</a:t>
            </a:r>
            <a:endParaRPr lang="zh-CN" altLang="en-US" dirty="0"/>
          </a:p>
        </p:txBody>
      </p:sp>
      <p:sp>
        <p:nvSpPr>
          <p:cNvPr id="3" name="文本占位符 2"/>
          <p:cNvSpPr>
            <a:spLocks noGrp="1"/>
          </p:cNvSpPr>
          <p:nvPr>
            <p:ph type="body" sz="quarter" idx="10"/>
          </p:nvPr>
        </p:nvSpPr>
        <p:spPr>
          <a:xfrm>
            <a:off x="455612" y="1047751"/>
            <a:ext cx="11293475" cy="514350"/>
          </a:xfrm>
        </p:spPr>
        <p:txBody>
          <a:bodyPr/>
          <a:lstStyle/>
          <a:p>
            <a:r>
              <a:rPr lang="zh-CN" altLang="en-US" sz="2000" dirty="0" smtClean="0"/>
              <a:t>类型</a:t>
            </a:r>
            <a:r>
              <a:rPr lang="en-US" altLang="zh-CN" sz="2000" dirty="0" smtClean="0"/>
              <a:t>3</a:t>
            </a:r>
            <a:r>
              <a:rPr lang="zh-CN" altLang="en-US" sz="2000" dirty="0" smtClean="0"/>
              <a:t>：</a:t>
            </a:r>
            <a:endParaRPr lang="en-US" altLang="zh-CN" sz="2000" dirty="0" smtClean="0"/>
          </a:p>
        </p:txBody>
      </p:sp>
      <p:graphicFrame>
        <p:nvGraphicFramePr>
          <p:cNvPr id="4" name="表格 13"/>
          <p:cNvGraphicFramePr>
            <a:graphicFrameLocks noGrp="1"/>
          </p:cNvGraphicFramePr>
          <p:nvPr>
            <p:extLst>
              <p:ext uri="{D42A27DB-BD31-4B8C-83A1-F6EECF244321}">
                <p14:modId xmlns:p14="http://schemas.microsoft.com/office/powerpoint/2010/main" val="1746129228"/>
              </p:ext>
            </p:extLst>
          </p:nvPr>
        </p:nvGraphicFramePr>
        <p:xfrm>
          <a:off x="897411" y="1640203"/>
          <a:ext cx="10524525" cy="1341120"/>
        </p:xfrm>
        <a:graphic>
          <a:graphicData uri="http://schemas.openxmlformats.org/drawingml/2006/table">
            <a:tbl>
              <a:tblPr firstRow="1" firstCol="1" bandRow="1"/>
              <a:tblGrid>
                <a:gridCol w="918510">
                  <a:extLst>
                    <a:ext uri="{9D8B030D-6E8A-4147-A177-3AD203B41FA5}">
                      <a16:colId xmlns="" xmlns:a16="http://schemas.microsoft.com/office/drawing/2014/main" val="20000"/>
                    </a:ext>
                  </a:extLst>
                </a:gridCol>
                <a:gridCol w="4275786">
                  <a:extLst>
                    <a:ext uri="{9D8B030D-6E8A-4147-A177-3AD203B41FA5}">
                      <a16:colId xmlns="" xmlns:a16="http://schemas.microsoft.com/office/drawing/2014/main" val="20001"/>
                    </a:ext>
                  </a:extLst>
                </a:gridCol>
                <a:gridCol w="5330229"/>
              </a:tblGrid>
              <a:tr h="262775">
                <a:tc>
                  <a:txBody>
                    <a:bodyPr/>
                    <a:lstStyle/>
                    <a:p>
                      <a:pPr indent="0" algn="ctr">
                        <a:lnSpc>
                          <a:spcPct val="100000"/>
                        </a:lnSpc>
                        <a:spcAft>
                          <a:spcPts val="0"/>
                        </a:spcAft>
                      </a:pPr>
                      <a:r>
                        <a:rPr lang="en-US" altLang="zh-CN" sz="1600" b="1" kern="100" dirty="0" smtClean="0">
                          <a:effectLst/>
                        </a:rPr>
                        <a:t>[xyz]</a:t>
                      </a:r>
                      <a:endParaRPr lang="zh-CN" sz="1600" b="1" kern="100" dirty="0">
                        <a:solidFill>
                          <a:schemeClr val="tx1"/>
                        </a:solidFill>
                        <a:effectLst/>
                        <a:latin typeface="+mn-lt"/>
                        <a:ea typeface="+mn-ea"/>
                        <a:cs typeface="Times New Roman"/>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indent="0" algn="just">
                        <a:lnSpc>
                          <a:spcPct val="100000"/>
                        </a:lnSpc>
                        <a:spcAft>
                          <a:spcPts val="0"/>
                        </a:spcAft>
                      </a:pPr>
                      <a:r>
                        <a:rPr lang="zh-CN" altLang="en-US" sz="1400" kern="100" dirty="0" smtClean="0">
                          <a:effectLst/>
                        </a:rPr>
                        <a:t>匹配正则表达式中包含的任意一个字符</a:t>
                      </a:r>
                      <a:endParaRPr lang="zh-CN" altLang="en-US" sz="1400" kern="100" dirty="0" smtClean="0">
                        <a:effectLst/>
                        <a:latin typeface="+mn-lt"/>
                        <a:ea typeface="+mn-ea"/>
                        <a:cs typeface="Times New Roman"/>
                      </a:endParaRPr>
                    </a:p>
                  </a:txBody>
                  <a:tcPr anchor="ctr">
                    <a:lnT w="28575" cap="flat" cmpd="sng" algn="ctr">
                      <a:solidFill>
                        <a:schemeClr val="tx1"/>
                      </a:solidFill>
                      <a:prstDash val="solid"/>
                      <a:round/>
                      <a:headEnd type="none" w="med" len="med"/>
                      <a:tailEnd type="none" w="med" len="med"/>
                    </a:lnT>
                  </a:tcPr>
                </a:tc>
                <a:tc>
                  <a:txBody>
                    <a:bodyPr/>
                    <a:lstStyle/>
                    <a:p>
                      <a:pPr indent="0" algn="just">
                        <a:lnSpc>
                          <a:spcPct val="100000"/>
                        </a:lnSpc>
                        <a:spcAft>
                          <a:spcPts val="0"/>
                        </a:spcAft>
                      </a:pPr>
                      <a:r>
                        <a:rPr lang="en-US" altLang="zh-CN" sz="1400" kern="100" dirty="0" smtClean="0">
                          <a:effectLst/>
                        </a:rPr>
                        <a:t>[123]     </a:t>
                      </a:r>
                      <a:r>
                        <a:rPr lang="zh-CN" altLang="en-US" sz="1400" kern="100" dirty="0" smtClean="0">
                          <a:effectLst/>
                        </a:rPr>
                        <a:t>匹配</a:t>
                      </a:r>
                      <a:r>
                        <a:rPr lang="en-US" altLang="zh-CN" sz="1400" kern="100" dirty="0" smtClean="0">
                          <a:effectLst/>
                        </a:rPr>
                        <a:t>255</a:t>
                      </a:r>
                      <a:r>
                        <a:rPr lang="zh-CN" altLang="en-US" sz="1400" kern="100" dirty="0" smtClean="0">
                          <a:effectLst/>
                        </a:rPr>
                        <a:t>中的</a:t>
                      </a:r>
                      <a:r>
                        <a:rPr lang="en-US" altLang="zh-CN" sz="1400" kern="100" dirty="0" smtClean="0">
                          <a:effectLst/>
                        </a:rPr>
                        <a:t>2</a:t>
                      </a:r>
                      <a:endParaRPr lang="zh-CN" altLang="en-US" sz="1400" kern="100" dirty="0" smtClean="0">
                        <a:effectLst/>
                        <a:latin typeface="+mn-lt"/>
                        <a:ea typeface="+mn-ea"/>
                        <a:cs typeface="Times New Roman"/>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tr>
              <a:tr h="262775">
                <a:tc>
                  <a:txBody>
                    <a:bodyPr/>
                    <a:lstStyle/>
                    <a:p>
                      <a:pPr indent="0" algn="ctr">
                        <a:lnSpc>
                          <a:spcPct val="100000"/>
                        </a:lnSpc>
                        <a:spcAft>
                          <a:spcPts val="0"/>
                        </a:spcAft>
                      </a:pPr>
                      <a:r>
                        <a:rPr lang="en-US" altLang="zh-CN" sz="1600" b="1" kern="100" dirty="0" smtClean="0">
                          <a:effectLst/>
                        </a:rPr>
                        <a:t>[^xyz]</a:t>
                      </a:r>
                      <a:endParaRPr lang="zh-CN" sz="1600" b="1" kern="100" dirty="0">
                        <a:solidFill>
                          <a:schemeClr val="tx1"/>
                        </a:solidFill>
                        <a:effectLst/>
                        <a:latin typeface="+mn-lt"/>
                        <a:ea typeface="+mn-ea"/>
                        <a:cs typeface="Times New Roman"/>
                      </a:endParaRPr>
                    </a:p>
                  </a:txBody>
                  <a:tcPr anchor="ctr">
                    <a:lnL w="28575" cap="flat" cmpd="sng" algn="ctr">
                      <a:solidFill>
                        <a:schemeClr val="tx1"/>
                      </a:solidFill>
                      <a:prstDash val="solid"/>
                      <a:round/>
                      <a:headEnd type="none" w="med" len="med"/>
                      <a:tailEnd type="none" w="med" len="med"/>
                    </a:lnL>
                    <a:solidFill>
                      <a:schemeClr val="bg1">
                        <a:lumMod val="85000"/>
                      </a:schemeClr>
                    </a:solidFill>
                  </a:tcPr>
                </a:tc>
                <a:tc>
                  <a:txBody>
                    <a:bodyPr/>
                    <a:lstStyle/>
                    <a:p>
                      <a:pPr indent="0" algn="just">
                        <a:lnSpc>
                          <a:spcPct val="100000"/>
                        </a:lnSpc>
                        <a:spcAft>
                          <a:spcPts val="0"/>
                        </a:spcAft>
                      </a:pPr>
                      <a:r>
                        <a:rPr lang="zh-CN" altLang="en-US" sz="1400" kern="100" dirty="0" smtClean="0">
                          <a:effectLst/>
                        </a:rPr>
                        <a:t>匹配正则表达式中未包含的字符</a:t>
                      </a:r>
                      <a:endParaRPr lang="zh-CN" altLang="en-US" sz="1400" kern="100" dirty="0" smtClean="0">
                        <a:effectLst/>
                        <a:latin typeface="+mn-lt"/>
                        <a:ea typeface="+mn-ea"/>
                        <a:cs typeface="Times New Roman"/>
                      </a:endParaRPr>
                    </a:p>
                  </a:txBody>
                  <a:tcPr anchor="ctr"/>
                </a:tc>
                <a:tc>
                  <a:txBody>
                    <a:bodyPr/>
                    <a:lstStyle/>
                    <a:p>
                      <a:pPr indent="0" algn="just">
                        <a:lnSpc>
                          <a:spcPct val="100000"/>
                        </a:lnSpc>
                        <a:spcAft>
                          <a:spcPts val="0"/>
                        </a:spcAft>
                      </a:pPr>
                      <a:r>
                        <a:rPr lang="en-US" altLang="zh-CN" sz="1400" kern="100" dirty="0" smtClean="0">
                          <a:effectLst/>
                        </a:rPr>
                        <a:t>[^123]   </a:t>
                      </a:r>
                      <a:r>
                        <a:rPr lang="zh-CN" altLang="en-US" sz="1400" kern="100" dirty="0" smtClean="0">
                          <a:effectLst/>
                        </a:rPr>
                        <a:t>匹配</a:t>
                      </a:r>
                      <a:r>
                        <a:rPr lang="en-US" altLang="zh-CN" sz="1400" kern="100" dirty="0" smtClean="0">
                          <a:effectLst/>
                        </a:rPr>
                        <a:t>123</a:t>
                      </a:r>
                      <a:r>
                        <a:rPr lang="zh-CN" altLang="en-US" sz="1400" kern="100" dirty="0" smtClean="0">
                          <a:effectLst/>
                        </a:rPr>
                        <a:t>之外的任何字符</a:t>
                      </a:r>
                      <a:endParaRPr lang="zh-CN" altLang="en-US" sz="1400" kern="100" dirty="0" smtClean="0">
                        <a:effectLst/>
                        <a:latin typeface="+mn-lt"/>
                        <a:ea typeface="+mn-ea"/>
                        <a:cs typeface="Times New Roman"/>
                      </a:endParaRPr>
                    </a:p>
                  </a:txBody>
                  <a:tcPr anchor="ctr">
                    <a:lnR w="28575" cap="flat" cmpd="sng" algn="ctr">
                      <a:solidFill>
                        <a:schemeClr val="tx1"/>
                      </a:solidFill>
                      <a:prstDash val="solid"/>
                      <a:round/>
                      <a:headEnd type="none" w="med" len="med"/>
                      <a:tailEnd type="none" w="med" len="med"/>
                    </a:lnR>
                  </a:tcPr>
                </a:tc>
              </a:tr>
              <a:tr h="262775">
                <a:tc>
                  <a:txBody>
                    <a:bodyPr/>
                    <a:lstStyle/>
                    <a:p>
                      <a:pPr indent="0" algn="ctr">
                        <a:lnSpc>
                          <a:spcPct val="100000"/>
                        </a:lnSpc>
                        <a:spcAft>
                          <a:spcPts val="0"/>
                        </a:spcAft>
                      </a:pPr>
                      <a:r>
                        <a:rPr lang="en-US" altLang="zh-CN" sz="1600" b="1" kern="100" dirty="0" smtClean="0">
                          <a:effectLst/>
                        </a:rPr>
                        <a:t>[a-z]</a:t>
                      </a:r>
                      <a:endParaRPr lang="zh-CN" sz="1600" b="1" kern="100" dirty="0">
                        <a:solidFill>
                          <a:schemeClr val="tx1"/>
                        </a:solidFill>
                        <a:effectLst/>
                        <a:latin typeface="+mn-lt"/>
                        <a:ea typeface="+mn-ea"/>
                        <a:cs typeface="Times New Roman"/>
                      </a:endParaRPr>
                    </a:p>
                  </a:txBody>
                  <a:tcPr anchor="ctr">
                    <a:lnL w="28575" cap="flat" cmpd="sng" algn="ctr">
                      <a:solidFill>
                        <a:schemeClr val="tx1"/>
                      </a:solidFill>
                      <a:prstDash val="solid"/>
                      <a:round/>
                      <a:headEnd type="none" w="med" len="med"/>
                      <a:tailEnd type="none" w="med" len="med"/>
                    </a:lnL>
                    <a:solidFill>
                      <a:schemeClr val="bg1">
                        <a:lumMod val="85000"/>
                      </a:schemeClr>
                    </a:solidFill>
                  </a:tcPr>
                </a:tc>
                <a:tc>
                  <a:txBody>
                    <a:bodyPr/>
                    <a:lstStyle/>
                    <a:p>
                      <a:pPr indent="0" algn="just">
                        <a:lnSpc>
                          <a:spcPct val="100000"/>
                        </a:lnSpc>
                        <a:spcAft>
                          <a:spcPts val="0"/>
                        </a:spcAft>
                      </a:pPr>
                      <a:r>
                        <a:rPr lang="zh-CN" altLang="en-US" sz="1400" kern="100" dirty="0" smtClean="0">
                          <a:effectLst/>
                        </a:rPr>
                        <a:t>匹配正则表达式指定范围内的任意字符</a:t>
                      </a:r>
                      <a:endParaRPr lang="zh-CN" altLang="en-US" sz="1400" kern="100" dirty="0" smtClean="0">
                        <a:effectLst/>
                        <a:latin typeface="+mn-lt"/>
                        <a:ea typeface="+mn-ea"/>
                        <a:cs typeface="Times New Roman"/>
                      </a:endParaRPr>
                    </a:p>
                  </a:txBody>
                  <a:tcPr anchor="ctr"/>
                </a:tc>
                <a:tc>
                  <a:txBody>
                    <a:bodyPr/>
                    <a:lstStyle/>
                    <a:p>
                      <a:pPr indent="0" algn="just">
                        <a:lnSpc>
                          <a:spcPct val="100000"/>
                        </a:lnSpc>
                        <a:spcAft>
                          <a:spcPts val="0"/>
                        </a:spcAft>
                      </a:pPr>
                      <a:r>
                        <a:rPr lang="en-US" altLang="zh-CN" sz="1400" kern="100" dirty="0" smtClean="0">
                          <a:effectLst/>
                        </a:rPr>
                        <a:t>[0-9]     </a:t>
                      </a:r>
                      <a:r>
                        <a:rPr lang="zh-CN" altLang="en-US" sz="1400" kern="100" dirty="0" smtClean="0">
                          <a:effectLst/>
                        </a:rPr>
                        <a:t>匹配</a:t>
                      </a:r>
                      <a:r>
                        <a:rPr lang="en-US" altLang="zh-CN" sz="1400" kern="100" dirty="0" smtClean="0">
                          <a:effectLst/>
                        </a:rPr>
                        <a:t>0</a:t>
                      </a:r>
                      <a:r>
                        <a:rPr lang="zh-CN" altLang="en-US" sz="1400" kern="100" dirty="0" smtClean="0">
                          <a:effectLst/>
                        </a:rPr>
                        <a:t>到</a:t>
                      </a:r>
                      <a:r>
                        <a:rPr lang="en-US" altLang="zh-CN" sz="1400" kern="100" dirty="0" smtClean="0">
                          <a:effectLst/>
                        </a:rPr>
                        <a:t>9</a:t>
                      </a:r>
                      <a:r>
                        <a:rPr lang="zh-CN" altLang="en-US" sz="1400" kern="100" dirty="0" smtClean="0">
                          <a:effectLst/>
                        </a:rPr>
                        <a:t>之间的所有数字</a:t>
                      </a:r>
                      <a:endParaRPr lang="zh-CN" altLang="en-US" sz="1400" kern="100" dirty="0" smtClean="0">
                        <a:effectLst/>
                        <a:latin typeface="+mn-lt"/>
                        <a:ea typeface="+mn-ea"/>
                        <a:cs typeface="Times New Roman"/>
                      </a:endParaRPr>
                    </a:p>
                  </a:txBody>
                  <a:tcPr anchor="ctr">
                    <a:lnR w="28575" cap="flat" cmpd="sng" algn="ctr">
                      <a:solidFill>
                        <a:schemeClr val="tx1"/>
                      </a:solidFill>
                      <a:prstDash val="solid"/>
                      <a:round/>
                      <a:headEnd type="none" w="med" len="med"/>
                      <a:tailEnd type="none" w="med" len="med"/>
                    </a:lnR>
                  </a:tcPr>
                </a:tc>
              </a:tr>
              <a:tr h="262775">
                <a:tc>
                  <a:txBody>
                    <a:bodyPr/>
                    <a:lstStyle/>
                    <a:p>
                      <a:pPr indent="0" algn="ctr">
                        <a:lnSpc>
                          <a:spcPct val="100000"/>
                        </a:lnSpc>
                        <a:spcAft>
                          <a:spcPts val="0"/>
                        </a:spcAft>
                      </a:pPr>
                      <a:r>
                        <a:rPr lang="en-US" altLang="zh-CN" sz="1600" b="1" kern="100" dirty="0" smtClean="0">
                          <a:effectLst/>
                        </a:rPr>
                        <a:t>[^a-z]</a:t>
                      </a:r>
                      <a:endParaRPr lang="zh-CN" sz="1600" b="1" kern="100" dirty="0">
                        <a:solidFill>
                          <a:schemeClr val="tx1"/>
                        </a:solidFill>
                        <a:effectLst/>
                        <a:latin typeface="+mn-lt"/>
                        <a:ea typeface="+mn-ea"/>
                        <a:cs typeface="Times New Roman"/>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indent="0" algn="just">
                        <a:lnSpc>
                          <a:spcPct val="100000"/>
                        </a:lnSpc>
                        <a:spcAft>
                          <a:spcPts val="0"/>
                        </a:spcAft>
                      </a:pPr>
                      <a:r>
                        <a:rPr lang="zh-CN" altLang="en-US" sz="1400" kern="100" dirty="0" smtClean="0">
                          <a:effectLst/>
                        </a:rPr>
                        <a:t>匹配正则表达式指定范围外的任意字符</a:t>
                      </a:r>
                      <a:endParaRPr lang="zh-CN" altLang="en-US" sz="1400" kern="100" dirty="0" smtClean="0">
                        <a:effectLst/>
                        <a:latin typeface="+mn-lt"/>
                        <a:ea typeface="+mn-ea"/>
                        <a:cs typeface="Times New Roman"/>
                      </a:endParaRPr>
                    </a:p>
                  </a:txBody>
                  <a:tcPr anchor="ctr">
                    <a:lnB w="28575" cap="flat" cmpd="sng" algn="ctr">
                      <a:solidFill>
                        <a:schemeClr val="tx1"/>
                      </a:solidFill>
                      <a:prstDash val="solid"/>
                      <a:round/>
                      <a:headEnd type="none" w="med" len="med"/>
                      <a:tailEnd type="none" w="med" len="med"/>
                    </a:lnB>
                  </a:tcPr>
                </a:tc>
                <a:tc>
                  <a:txBody>
                    <a:bodyPr/>
                    <a:lstStyle/>
                    <a:p>
                      <a:pPr indent="0" algn="just">
                        <a:lnSpc>
                          <a:spcPct val="100000"/>
                        </a:lnSpc>
                        <a:spcAft>
                          <a:spcPts val="0"/>
                        </a:spcAft>
                      </a:pPr>
                      <a:r>
                        <a:rPr lang="en-US" altLang="zh-CN" sz="1400" kern="100" dirty="0" smtClean="0">
                          <a:effectLst/>
                        </a:rPr>
                        <a:t>[^0-9]   </a:t>
                      </a:r>
                      <a:r>
                        <a:rPr lang="zh-CN" altLang="en-US" sz="1400" kern="100" dirty="0" smtClean="0">
                          <a:effectLst/>
                        </a:rPr>
                        <a:t>匹配所有非数字字符（即匹配</a:t>
                      </a:r>
                      <a:r>
                        <a:rPr lang="en-US" altLang="zh-CN" sz="1400" kern="100" dirty="0" smtClean="0">
                          <a:effectLst/>
                        </a:rPr>
                        <a:t>0</a:t>
                      </a:r>
                      <a:r>
                        <a:rPr lang="zh-CN" altLang="en-US" sz="1400" kern="100" dirty="0" smtClean="0">
                          <a:effectLst/>
                        </a:rPr>
                        <a:t>到</a:t>
                      </a:r>
                      <a:r>
                        <a:rPr lang="en-US" altLang="zh-CN" sz="1400" kern="100" dirty="0" smtClean="0">
                          <a:effectLst/>
                        </a:rPr>
                        <a:t>9</a:t>
                      </a:r>
                      <a:r>
                        <a:rPr lang="zh-CN" altLang="en-US" sz="1400" kern="100" dirty="0" smtClean="0">
                          <a:effectLst/>
                        </a:rPr>
                        <a:t>之外的任何字符）</a:t>
                      </a:r>
                      <a:endParaRPr lang="zh-CN" altLang="en-US" sz="1400" kern="100" dirty="0" smtClean="0">
                        <a:effectLst/>
                        <a:latin typeface="+mn-lt"/>
                        <a:ea typeface="+mn-ea"/>
                        <a:cs typeface="Times New Roman"/>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7" name="文本占位符 2"/>
          <p:cNvSpPr txBox="1">
            <a:spLocks/>
          </p:cNvSpPr>
          <p:nvPr/>
        </p:nvSpPr>
        <p:spPr bwMode="auto">
          <a:xfrm>
            <a:off x="468317" y="3270405"/>
            <a:ext cx="11276183" cy="44593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fontAlgn="ctr">
              <a:buSzPct val="50000"/>
              <a:buFont typeface="Wingdings" panose="05000000000000000000" pitchFamily="2" charset="2"/>
              <a:buChar char="l"/>
            </a:pPr>
            <a:r>
              <a:rPr lang="zh-CN" altLang="en-US" sz="1800" dirty="0">
                <a:latin typeface="Huawei Sans" panose="020C0503030203020204" pitchFamily="34" charset="0"/>
                <a:ea typeface="方正兰亭黑简体" panose="02000000000000000000" pitchFamily="2" charset="-122"/>
                <a:cs typeface="Huawei Sans" panose="020C0503030203020204" pitchFamily="34" charset="0"/>
              </a:rPr>
              <a:t>请思考以下方框内的正则表达式可以匹配哪些字符串。</a:t>
            </a:r>
            <a:endParaRPr lang="en-US" altLang="zh-CN" sz="1800" dirty="0">
              <a:latin typeface="Huawei Sans" panose="020C0503030203020204" pitchFamily="34" charset="0"/>
              <a:ea typeface="方正兰亭黑简体" panose="02000000000000000000" pitchFamily="2" charset="-122"/>
              <a:cs typeface="Huawei Sans" panose="020C0503030203020204" pitchFamily="34" charset="0"/>
            </a:endParaRPr>
          </a:p>
          <a:p>
            <a:pPr marL="403039" lvl="1" indent="0">
              <a:buNone/>
            </a:pPr>
            <a:r>
              <a:rPr lang="zh-CN" altLang="en-US" sz="1600" dirty="0" smtClean="0"/>
              <a:t>类型</a:t>
            </a:r>
            <a:r>
              <a:rPr lang="en-US" altLang="zh-CN" sz="1600" dirty="0" smtClean="0"/>
              <a:t>1			</a:t>
            </a:r>
            <a:r>
              <a:rPr lang="zh-CN" altLang="en-US" sz="1600" dirty="0" smtClean="0"/>
              <a:t>类型</a:t>
            </a:r>
            <a:r>
              <a:rPr lang="en-US" altLang="zh-CN" sz="1600" dirty="0" smtClean="0"/>
              <a:t>2				</a:t>
            </a:r>
            <a:r>
              <a:rPr lang="zh-CN" altLang="en-US" sz="1600" dirty="0" smtClean="0"/>
              <a:t>类型</a:t>
            </a:r>
            <a:r>
              <a:rPr lang="en-US" altLang="zh-CN" sz="1600" dirty="0" smtClean="0"/>
              <a:t>3</a:t>
            </a:r>
          </a:p>
          <a:p>
            <a:pPr lvl="1"/>
            <a:endParaRPr lang="en-US" altLang="zh-CN" sz="1600" dirty="0" smtClean="0"/>
          </a:p>
          <a:p>
            <a:pPr lvl="1"/>
            <a:endParaRPr lang="en-US" altLang="zh-CN" sz="1600" dirty="0" smtClean="0"/>
          </a:p>
        </p:txBody>
      </p:sp>
      <p:sp>
        <p:nvSpPr>
          <p:cNvPr id="9" name="圆角矩形 75"/>
          <p:cNvSpPr/>
          <p:nvPr/>
        </p:nvSpPr>
        <p:spPr bwMode="gray">
          <a:xfrm>
            <a:off x="948927" y="4187651"/>
            <a:ext cx="2050592" cy="1637027"/>
          </a:xfrm>
          <a:prstGeom prst="roundRect">
            <a:avLst>
              <a:gd name="adj" fmla="val 874"/>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a:spcAft>
                <a:spcPts val="600"/>
              </a:spcAft>
            </a:pPr>
            <a:r>
              <a:rPr lang="en-US" altLang="zh-CN" sz="1600" dirty="0">
                <a:solidFill>
                  <a:prstClr val="black"/>
                </a:solidFill>
                <a:latin typeface="Huawei Sans" panose="020C0503030203020204" pitchFamily="34" charset="0"/>
                <a:ea typeface="方正兰亭黑简体" panose="02000000000000000000" pitchFamily="2" charset="-122"/>
              </a:rPr>
              <a:t>^a.$</a:t>
            </a:r>
            <a:endParaRPr lang="zh-CN" altLang="zh-CN" sz="1600" dirty="0">
              <a:solidFill>
                <a:prstClr val="black"/>
              </a:solidFill>
              <a:latin typeface="Huawei Sans" panose="020C0503030203020204" pitchFamily="34" charset="0"/>
              <a:ea typeface="方正兰亭黑简体" panose="02000000000000000000" pitchFamily="2" charset="-122"/>
            </a:endParaRPr>
          </a:p>
          <a:p>
            <a:pPr algn="just">
              <a:spcAft>
                <a:spcPts val="600"/>
              </a:spcAft>
            </a:pPr>
            <a:r>
              <a:rPr lang="en-US" altLang="zh-CN" sz="1600" dirty="0">
                <a:solidFill>
                  <a:prstClr val="black"/>
                </a:solidFill>
                <a:latin typeface="Huawei Sans" panose="020C0503030203020204" pitchFamily="34" charset="0"/>
                <a:ea typeface="方正兰亭黑简体" panose="02000000000000000000" pitchFamily="2" charset="-122"/>
              </a:rPr>
              <a:t>^100_</a:t>
            </a:r>
            <a:endParaRPr lang="zh-CN" altLang="zh-CN" sz="1600" dirty="0">
              <a:solidFill>
                <a:prstClr val="black"/>
              </a:solidFill>
              <a:latin typeface="Huawei Sans" panose="020C0503030203020204" pitchFamily="34" charset="0"/>
              <a:ea typeface="方正兰亭黑简体" panose="02000000000000000000" pitchFamily="2" charset="-122"/>
            </a:endParaRPr>
          </a:p>
          <a:p>
            <a:pPr algn="just">
              <a:spcAft>
                <a:spcPts val="600"/>
              </a:spcAft>
            </a:pPr>
            <a:r>
              <a:rPr lang="en-US" altLang="zh-CN" sz="1600" dirty="0">
                <a:solidFill>
                  <a:prstClr val="black"/>
                </a:solidFill>
                <a:latin typeface="Huawei Sans" panose="020C0503030203020204" pitchFamily="34" charset="0"/>
                <a:ea typeface="方正兰亭黑简体" panose="02000000000000000000" pitchFamily="2" charset="-122"/>
              </a:rPr>
              <a:t>^100$</a:t>
            </a:r>
            <a:endParaRPr lang="zh-CN" altLang="zh-CN" sz="1600" dirty="0">
              <a:solidFill>
                <a:prstClr val="black"/>
              </a:solidFill>
              <a:latin typeface="Huawei Sans" panose="020C0503030203020204" pitchFamily="34" charset="0"/>
              <a:ea typeface="方正兰亭黑简体" panose="02000000000000000000" pitchFamily="2" charset="-122"/>
            </a:endParaRPr>
          </a:p>
          <a:p>
            <a:pPr algn="just">
              <a:spcAft>
                <a:spcPts val="600"/>
              </a:spcAft>
            </a:pPr>
            <a:r>
              <a:rPr lang="en-US" altLang="zh-CN" sz="1600" dirty="0">
                <a:solidFill>
                  <a:prstClr val="black"/>
                </a:solidFill>
                <a:latin typeface="Huawei Sans" panose="020C0503030203020204" pitchFamily="34" charset="0"/>
                <a:ea typeface="方正兰亭黑简体" panose="02000000000000000000" pitchFamily="2" charset="-122"/>
              </a:rPr>
              <a:t>100$|400$</a:t>
            </a:r>
            <a:endParaRPr lang="zh-CN" altLang="zh-CN" sz="1600" dirty="0">
              <a:solidFill>
                <a:prstClr val="black"/>
              </a:solidFill>
              <a:latin typeface="Huawei Sans" panose="020C0503030203020204" pitchFamily="34" charset="0"/>
              <a:ea typeface="方正兰亭黑简体" panose="02000000000000000000" pitchFamily="2" charset="-122"/>
            </a:endParaRPr>
          </a:p>
          <a:p>
            <a:pPr algn="just">
              <a:spcAft>
                <a:spcPts val="600"/>
              </a:spcAft>
            </a:pPr>
            <a:r>
              <a:rPr lang="en-US" altLang="zh-CN" sz="1600" dirty="0">
                <a:solidFill>
                  <a:prstClr val="black"/>
                </a:solidFill>
                <a:latin typeface="Huawei Sans" panose="020C0503030203020204" pitchFamily="34" charset="0"/>
                <a:ea typeface="方正兰亭黑简体" panose="02000000000000000000" pitchFamily="2" charset="-122"/>
              </a:rPr>
              <a:t>^\(65000</a:t>
            </a:r>
            <a:r>
              <a:rPr lang="en-US" altLang="zh-CN" sz="1600" dirty="0" smtClean="0">
                <a:solidFill>
                  <a:prstClr val="black"/>
                </a:solidFill>
                <a:latin typeface="Huawei Sans" panose="020C0503030203020204" pitchFamily="34" charset="0"/>
                <a:ea typeface="方正兰亭黑简体" panose="02000000000000000000" pitchFamily="2" charset="-122"/>
              </a:rPr>
              <a:t>\)$</a:t>
            </a:r>
            <a:endParaRPr lang="en-US" altLang="zh-CN" sz="1600" dirty="0">
              <a:solidFill>
                <a:prstClr val="black"/>
              </a:solidFill>
              <a:latin typeface="Huawei Sans" panose="020C0503030203020204" pitchFamily="34" charset="0"/>
              <a:ea typeface="方正兰亭黑简体" panose="02000000000000000000" pitchFamily="2" charset="-122"/>
            </a:endParaRPr>
          </a:p>
        </p:txBody>
      </p:sp>
      <p:sp>
        <p:nvSpPr>
          <p:cNvPr id="10" name="圆角矩形 75"/>
          <p:cNvSpPr/>
          <p:nvPr/>
        </p:nvSpPr>
        <p:spPr bwMode="gray">
          <a:xfrm>
            <a:off x="4218339" y="4187648"/>
            <a:ext cx="2050592" cy="1637027"/>
          </a:xfrm>
          <a:prstGeom prst="roundRect">
            <a:avLst>
              <a:gd name="adj" fmla="val 874"/>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a:spcAft>
                <a:spcPts val="600"/>
              </a:spcAft>
            </a:pPr>
            <a:r>
              <a:rPr lang="en-US" altLang="zh-CN" sz="1600" dirty="0" err="1" smtClean="0">
                <a:solidFill>
                  <a:prstClr val="black"/>
                </a:solidFill>
                <a:latin typeface="Huawei Sans" panose="020C0503030203020204" pitchFamily="34" charset="0"/>
                <a:ea typeface="方正兰亭黑简体" panose="02000000000000000000" pitchFamily="2" charset="-122"/>
              </a:rPr>
              <a:t>abc</a:t>
            </a:r>
            <a:r>
              <a:rPr lang="en-US" altLang="zh-CN" sz="1600" dirty="0" smtClean="0">
                <a:solidFill>
                  <a:prstClr val="black"/>
                </a:solidFill>
                <a:latin typeface="Huawei Sans" panose="020C0503030203020204" pitchFamily="34" charset="0"/>
                <a:ea typeface="方正兰亭黑简体" panose="02000000000000000000" pitchFamily="2" charset="-122"/>
              </a:rPr>
              <a:t>*d</a:t>
            </a:r>
            <a:endParaRPr lang="zh-CN" altLang="zh-CN" sz="1600" dirty="0">
              <a:solidFill>
                <a:prstClr val="black"/>
              </a:solidFill>
              <a:latin typeface="Huawei Sans" panose="020C0503030203020204" pitchFamily="34" charset="0"/>
              <a:ea typeface="方正兰亭黑简体" panose="02000000000000000000" pitchFamily="2" charset="-122"/>
            </a:endParaRPr>
          </a:p>
          <a:p>
            <a:pPr algn="just">
              <a:spcAft>
                <a:spcPts val="600"/>
              </a:spcAft>
            </a:pPr>
            <a:r>
              <a:rPr lang="en-US" altLang="zh-CN" sz="1600" dirty="0" err="1">
                <a:solidFill>
                  <a:prstClr val="black"/>
                </a:solidFill>
                <a:latin typeface="Huawei Sans" panose="020C0503030203020204" pitchFamily="34" charset="0"/>
                <a:ea typeface="方正兰亭黑简体" panose="02000000000000000000" pitchFamily="2" charset="-122"/>
              </a:rPr>
              <a:t>abc+d</a:t>
            </a:r>
            <a:endParaRPr lang="zh-CN" altLang="zh-CN" sz="1600" dirty="0">
              <a:solidFill>
                <a:prstClr val="black"/>
              </a:solidFill>
              <a:latin typeface="Huawei Sans" panose="020C0503030203020204" pitchFamily="34" charset="0"/>
              <a:ea typeface="方正兰亭黑简体" panose="02000000000000000000" pitchFamily="2" charset="-122"/>
            </a:endParaRPr>
          </a:p>
          <a:p>
            <a:pPr algn="just">
              <a:spcAft>
                <a:spcPts val="600"/>
              </a:spcAft>
            </a:pPr>
            <a:r>
              <a:rPr lang="en-US" altLang="zh-CN" sz="1600" dirty="0" err="1">
                <a:solidFill>
                  <a:prstClr val="black"/>
                </a:solidFill>
                <a:latin typeface="Huawei Sans" panose="020C0503030203020204" pitchFamily="34" charset="0"/>
                <a:ea typeface="方正兰亭黑简体" panose="02000000000000000000" pitchFamily="2" charset="-122"/>
              </a:rPr>
              <a:t>abc?d</a:t>
            </a:r>
            <a:endParaRPr lang="zh-CN" altLang="zh-CN" sz="1600" dirty="0">
              <a:solidFill>
                <a:prstClr val="black"/>
              </a:solidFill>
              <a:latin typeface="Huawei Sans" panose="020C0503030203020204" pitchFamily="34" charset="0"/>
              <a:ea typeface="方正兰亭黑简体" panose="02000000000000000000" pitchFamily="2" charset="-122"/>
            </a:endParaRPr>
          </a:p>
          <a:p>
            <a:pPr algn="just">
              <a:spcAft>
                <a:spcPts val="600"/>
              </a:spcAft>
            </a:pPr>
            <a:r>
              <a:rPr lang="en-US" altLang="zh-CN" sz="1600" dirty="0">
                <a:solidFill>
                  <a:prstClr val="black"/>
                </a:solidFill>
                <a:latin typeface="Huawei Sans" panose="020C0503030203020204" pitchFamily="34" charset="0"/>
                <a:ea typeface="方正兰亭黑简体" panose="02000000000000000000" pitchFamily="2" charset="-122"/>
              </a:rPr>
              <a:t>a(</a:t>
            </a:r>
            <a:r>
              <a:rPr lang="en-US" altLang="zh-CN" sz="1600" dirty="0" err="1">
                <a:solidFill>
                  <a:prstClr val="black"/>
                </a:solidFill>
                <a:latin typeface="Huawei Sans" panose="020C0503030203020204" pitchFamily="34" charset="0"/>
                <a:ea typeface="方正兰亭黑简体" panose="02000000000000000000" pitchFamily="2" charset="-122"/>
              </a:rPr>
              <a:t>bc</a:t>
            </a:r>
            <a:r>
              <a:rPr lang="en-US" altLang="zh-CN" sz="1600" dirty="0">
                <a:solidFill>
                  <a:prstClr val="black"/>
                </a:solidFill>
                <a:latin typeface="Huawei Sans" panose="020C0503030203020204" pitchFamily="34" charset="0"/>
                <a:ea typeface="方正兰亭黑简体" panose="02000000000000000000" pitchFamily="2" charset="-122"/>
              </a:rPr>
              <a:t>)?</a:t>
            </a:r>
            <a:r>
              <a:rPr lang="en-US" altLang="zh-CN" sz="1600" dirty="0" smtClean="0">
                <a:solidFill>
                  <a:prstClr val="black"/>
                </a:solidFill>
                <a:latin typeface="Huawei Sans" panose="020C0503030203020204" pitchFamily="34" charset="0"/>
                <a:ea typeface="方正兰亭黑简体" panose="02000000000000000000" pitchFamily="2" charset="-122"/>
              </a:rPr>
              <a:t>d</a:t>
            </a:r>
            <a:endParaRPr lang="zh-CN" altLang="zh-CN" sz="1600" dirty="0">
              <a:solidFill>
                <a:prstClr val="black"/>
              </a:solidFill>
              <a:latin typeface="Huawei Sans" panose="020C0503030203020204" pitchFamily="34" charset="0"/>
              <a:ea typeface="方正兰亭黑简体" panose="02000000000000000000" pitchFamily="2" charset="-122"/>
            </a:endParaRPr>
          </a:p>
        </p:txBody>
      </p:sp>
      <p:sp>
        <p:nvSpPr>
          <p:cNvPr id="11" name="圆角矩形 75"/>
          <p:cNvSpPr/>
          <p:nvPr/>
        </p:nvSpPr>
        <p:spPr bwMode="gray">
          <a:xfrm>
            <a:off x="7848361" y="4187649"/>
            <a:ext cx="2050592" cy="1637027"/>
          </a:xfrm>
          <a:prstGeom prst="roundRect">
            <a:avLst>
              <a:gd name="adj" fmla="val 874"/>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a:spcAft>
                <a:spcPts val="600"/>
              </a:spcAft>
            </a:pPr>
            <a:r>
              <a:rPr lang="en-US" altLang="zh-CN" sz="1600" dirty="0" smtClean="0">
                <a:solidFill>
                  <a:prstClr val="black"/>
                </a:solidFill>
                <a:latin typeface="Huawei Sans" panose="020C0503030203020204" pitchFamily="34" charset="0"/>
                <a:ea typeface="方正兰亭黑简体" panose="02000000000000000000" pitchFamily="2" charset="-122"/>
              </a:rPr>
              <a:t>[</a:t>
            </a:r>
            <a:r>
              <a:rPr lang="en-US" altLang="zh-CN" sz="1600" dirty="0" err="1">
                <a:solidFill>
                  <a:prstClr val="black"/>
                </a:solidFill>
                <a:latin typeface="Huawei Sans" panose="020C0503030203020204" pitchFamily="34" charset="0"/>
                <a:ea typeface="方正兰亭黑简体" panose="02000000000000000000" pitchFamily="2" charset="-122"/>
              </a:rPr>
              <a:t>abcd</a:t>
            </a:r>
            <a:r>
              <a:rPr lang="en-US" altLang="zh-CN" sz="1600" dirty="0">
                <a:solidFill>
                  <a:prstClr val="black"/>
                </a:solidFill>
                <a:latin typeface="Huawei Sans" panose="020C0503030203020204" pitchFamily="34" charset="0"/>
                <a:ea typeface="方正兰亭黑简体" panose="02000000000000000000" pitchFamily="2" charset="-122"/>
              </a:rPr>
              <a:t>]</a:t>
            </a:r>
            <a:endParaRPr lang="zh-CN" altLang="zh-CN" sz="1600" dirty="0">
              <a:solidFill>
                <a:prstClr val="black"/>
              </a:solidFill>
              <a:latin typeface="Huawei Sans" panose="020C0503030203020204" pitchFamily="34" charset="0"/>
              <a:ea typeface="方正兰亭黑简体" panose="02000000000000000000" pitchFamily="2" charset="-122"/>
            </a:endParaRPr>
          </a:p>
          <a:p>
            <a:pPr algn="just">
              <a:spcAft>
                <a:spcPts val="600"/>
              </a:spcAft>
            </a:pPr>
            <a:r>
              <a:rPr lang="en-US" altLang="zh-CN" sz="1600" dirty="0">
                <a:solidFill>
                  <a:prstClr val="black"/>
                </a:solidFill>
                <a:latin typeface="Huawei Sans" panose="020C0503030203020204" pitchFamily="34" charset="0"/>
                <a:ea typeface="方正兰亭黑简体" panose="02000000000000000000" pitchFamily="2" charset="-122"/>
              </a:rPr>
              <a:t>[a-c 1-2]$</a:t>
            </a:r>
            <a:endParaRPr lang="zh-CN" altLang="zh-CN" sz="1600" dirty="0">
              <a:solidFill>
                <a:prstClr val="black"/>
              </a:solidFill>
              <a:latin typeface="Huawei Sans" panose="020C0503030203020204" pitchFamily="34" charset="0"/>
              <a:ea typeface="方正兰亭黑简体" panose="02000000000000000000" pitchFamily="2" charset="-122"/>
            </a:endParaRPr>
          </a:p>
          <a:p>
            <a:pPr algn="just">
              <a:spcAft>
                <a:spcPts val="600"/>
              </a:spcAft>
            </a:pPr>
            <a:r>
              <a:rPr lang="en-US" altLang="zh-CN" sz="1600" dirty="0">
                <a:solidFill>
                  <a:prstClr val="black"/>
                </a:solidFill>
                <a:latin typeface="Huawei Sans" panose="020C0503030203020204" pitchFamily="34" charset="0"/>
                <a:ea typeface="方正兰亭黑简体" panose="02000000000000000000" pitchFamily="2" charset="-122"/>
              </a:rPr>
              <a:t>[^act]$</a:t>
            </a:r>
            <a:endParaRPr lang="zh-CN" altLang="zh-CN" sz="1600" dirty="0">
              <a:solidFill>
                <a:prstClr val="black"/>
              </a:solidFill>
              <a:latin typeface="Huawei Sans" panose="020C0503030203020204" pitchFamily="34" charset="0"/>
              <a:ea typeface="方正兰亭黑简体" panose="02000000000000000000" pitchFamily="2" charset="-122"/>
            </a:endParaRPr>
          </a:p>
          <a:p>
            <a:pPr algn="just">
              <a:spcAft>
                <a:spcPts val="600"/>
              </a:spcAft>
            </a:pPr>
            <a:r>
              <a:rPr lang="en-US" altLang="zh-CN" sz="1600" dirty="0">
                <a:solidFill>
                  <a:prstClr val="black"/>
                </a:solidFill>
                <a:latin typeface="Huawei Sans" panose="020C0503030203020204" pitchFamily="34" charset="0"/>
                <a:ea typeface="方正兰亭黑简体" panose="02000000000000000000" pitchFamily="2" charset="-122"/>
              </a:rPr>
              <a:t>[123].[7-9]</a:t>
            </a:r>
            <a:endParaRPr lang="zh-CN" altLang="zh-CN" sz="1600" dirty="0">
              <a:solidFill>
                <a:prstClr val="black"/>
              </a:solidFill>
              <a:latin typeface="Huawei Sans" panose="020C0503030203020204" pitchFamily="34" charset="0"/>
              <a:ea typeface="方正兰亭黑简体" panose="02000000000000000000" pitchFamily="2" charset="-122"/>
            </a:endParaRPr>
          </a:p>
        </p:txBody>
      </p:sp>
      <p:sp>
        <p:nvSpPr>
          <p:cNvPr id="15" name="五边形 14"/>
          <p:cNvSpPr/>
          <p:nvPr/>
        </p:nvSpPr>
        <p:spPr bwMode="auto">
          <a:xfrm>
            <a:off x="8335082" y="100861"/>
            <a:ext cx="7812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16" name="燕尾形 15"/>
          <p:cNvSpPr/>
          <p:nvPr/>
        </p:nvSpPr>
        <p:spPr bwMode="auto">
          <a:xfrm>
            <a:off x="9029654" y="100861"/>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AS_Path Filter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燕尾形 16"/>
          <p:cNvSpPr/>
          <p:nvPr/>
        </p:nvSpPr>
        <p:spPr bwMode="auto">
          <a:xfrm>
            <a:off x="10203025" y="100861"/>
            <a:ext cx="154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Community Filter</a:t>
            </a:r>
          </a:p>
        </p:txBody>
      </p:sp>
    </p:spTree>
    <p:extLst>
      <p:ext uri="{BB962C8B-B14F-4D97-AF65-F5344CB8AC3E}">
        <p14:creationId xmlns:p14="http://schemas.microsoft.com/office/powerpoint/2010/main" val="13009644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路由匹配工具：</a:t>
            </a:r>
            <a:r>
              <a:rPr lang="en-US" altLang="zh-CN" smtClean="0"/>
              <a:t>AS_Path Filter</a:t>
            </a:r>
            <a:endParaRPr lang="zh-CN" altLang="en-US" dirty="0"/>
          </a:p>
        </p:txBody>
      </p:sp>
      <p:sp>
        <p:nvSpPr>
          <p:cNvPr id="5" name="文本占位符 4"/>
          <p:cNvSpPr>
            <a:spLocks noGrp="1"/>
          </p:cNvSpPr>
          <p:nvPr>
            <p:ph type="body" sz="quarter" idx="10"/>
          </p:nvPr>
        </p:nvSpPr>
        <p:spPr>
          <a:xfrm>
            <a:off x="455612" y="1047751"/>
            <a:ext cx="11293475" cy="2085916"/>
          </a:xfrm>
        </p:spPr>
        <p:txBody>
          <a:bodyPr/>
          <a:lstStyle/>
          <a:p>
            <a:r>
              <a:rPr lang="en-US" altLang="zh-CN" sz="2000" smtClean="0"/>
              <a:t>AS_Path Filter</a:t>
            </a:r>
            <a:r>
              <a:rPr lang="zh-CN" altLang="en-US" sz="2000" smtClean="0"/>
              <a:t>是将</a:t>
            </a:r>
            <a:r>
              <a:rPr lang="en-US" altLang="zh-CN" sz="2000" smtClean="0"/>
              <a:t>BGP</a:t>
            </a:r>
            <a:r>
              <a:rPr lang="zh-CN" altLang="en-US" sz="2000" smtClean="0"/>
              <a:t>中的</a:t>
            </a:r>
            <a:r>
              <a:rPr lang="en-US" altLang="zh-CN" sz="2000" smtClean="0"/>
              <a:t>AS_Path</a:t>
            </a:r>
            <a:r>
              <a:rPr lang="zh-CN" altLang="en-US" sz="2000" smtClean="0"/>
              <a:t>属性作为匹配条件的过滤器，利用</a:t>
            </a:r>
            <a:r>
              <a:rPr lang="en-US" altLang="zh-CN" sz="2000" smtClean="0"/>
              <a:t>BGP</a:t>
            </a:r>
            <a:r>
              <a:rPr lang="zh-CN" altLang="en-US" sz="2000" smtClean="0"/>
              <a:t>路由携带的</a:t>
            </a:r>
            <a:r>
              <a:rPr lang="en-US" altLang="zh-CN" sz="2000" smtClean="0"/>
              <a:t>AS_Path</a:t>
            </a:r>
            <a:r>
              <a:rPr lang="zh-CN" altLang="en-US" sz="2000" smtClean="0"/>
              <a:t>列表对路由进行过滤。</a:t>
            </a:r>
          </a:p>
          <a:p>
            <a:r>
              <a:rPr lang="zh-CN" altLang="en-US" sz="2000" smtClean="0"/>
              <a:t>在不希望接收某些</a:t>
            </a:r>
            <a:r>
              <a:rPr lang="en-US" altLang="zh-CN" sz="2000" smtClean="0"/>
              <a:t>AS</a:t>
            </a:r>
            <a:r>
              <a:rPr lang="zh-CN" altLang="en-US" sz="2000" smtClean="0"/>
              <a:t>的路由时，可以利用</a:t>
            </a:r>
            <a:r>
              <a:rPr lang="en-US" altLang="zh-CN" sz="2000" smtClean="0"/>
              <a:t>AS_Path Filter</a:t>
            </a:r>
            <a:r>
              <a:rPr lang="zh-CN" altLang="en-US" sz="2000" smtClean="0"/>
              <a:t>对携带这些</a:t>
            </a:r>
            <a:r>
              <a:rPr lang="en-US" altLang="zh-CN" sz="2000" smtClean="0"/>
              <a:t>AS</a:t>
            </a:r>
            <a:r>
              <a:rPr lang="zh-CN" altLang="en-US" sz="2000" smtClean="0"/>
              <a:t>号的路由进行过滤，从而实现拒绝某些路由。</a:t>
            </a:r>
            <a:endParaRPr lang="en-US" altLang="zh-CN" sz="2000" dirty="0" smtClean="0"/>
          </a:p>
        </p:txBody>
      </p:sp>
      <p:grpSp>
        <p:nvGrpSpPr>
          <p:cNvPr id="77" name="组合 76"/>
          <p:cNvGrpSpPr/>
          <p:nvPr/>
        </p:nvGrpSpPr>
        <p:grpSpPr bwMode="gray">
          <a:xfrm>
            <a:off x="1160400" y="3526465"/>
            <a:ext cx="7200243" cy="2122578"/>
            <a:chOff x="451609" y="3948378"/>
            <a:chExt cx="7200243" cy="2122578"/>
          </a:xfrm>
        </p:grpSpPr>
        <p:sp>
          <p:nvSpPr>
            <p:cNvPr id="64" name="任意多边形 25"/>
            <p:cNvSpPr/>
            <p:nvPr/>
          </p:nvSpPr>
          <p:spPr bwMode="gray">
            <a:xfrm>
              <a:off x="6347036" y="3948378"/>
              <a:ext cx="1304816" cy="1244051"/>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2700">
              <a:solidFill>
                <a:srgbClr val="94DAE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TextBox 120">
              <a:extLst>
                <a:ext uri="{FF2B5EF4-FFF2-40B4-BE49-F238E27FC236}">
                  <a16:creationId xmlns="" xmlns:a16="http://schemas.microsoft.com/office/drawing/2014/main" id="{020D7A1D-EFAD-4C8C-B9DE-D0FAD269B77A}"/>
                </a:ext>
              </a:extLst>
            </p:cNvPr>
            <p:cNvSpPr txBox="1"/>
            <p:nvPr/>
          </p:nvSpPr>
          <p:spPr bwMode="gray">
            <a:xfrm>
              <a:off x="6310386" y="3982031"/>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104</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任意多边形 25"/>
            <p:cNvSpPr/>
            <p:nvPr/>
          </p:nvSpPr>
          <p:spPr bwMode="gray">
            <a:xfrm>
              <a:off x="4627418" y="3948378"/>
              <a:ext cx="1304816" cy="1244051"/>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2700">
              <a:solidFill>
                <a:srgbClr val="94DAE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TextBox 120">
              <a:extLst>
                <a:ext uri="{FF2B5EF4-FFF2-40B4-BE49-F238E27FC236}">
                  <a16:creationId xmlns="" xmlns:a16="http://schemas.microsoft.com/office/drawing/2014/main" id="{020D7A1D-EFAD-4C8C-B9DE-D0FAD269B77A}"/>
                </a:ext>
              </a:extLst>
            </p:cNvPr>
            <p:cNvSpPr txBox="1"/>
            <p:nvPr/>
          </p:nvSpPr>
          <p:spPr bwMode="gray">
            <a:xfrm>
              <a:off x="4590768" y="3982031"/>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103</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任意多边形 25"/>
            <p:cNvSpPr/>
            <p:nvPr/>
          </p:nvSpPr>
          <p:spPr bwMode="gray">
            <a:xfrm>
              <a:off x="2944374" y="3948378"/>
              <a:ext cx="1304816" cy="1244051"/>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2700">
              <a:solidFill>
                <a:srgbClr val="94DAE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TextBox 120">
              <a:extLst>
                <a:ext uri="{FF2B5EF4-FFF2-40B4-BE49-F238E27FC236}">
                  <a16:creationId xmlns="" xmlns:a16="http://schemas.microsoft.com/office/drawing/2014/main" id="{020D7A1D-EFAD-4C8C-B9DE-D0FAD269B77A}"/>
                </a:ext>
              </a:extLst>
            </p:cNvPr>
            <p:cNvSpPr txBox="1"/>
            <p:nvPr/>
          </p:nvSpPr>
          <p:spPr bwMode="gray">
            <a:xfrm>
              <a:off x="2907724" y="3982031"/>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任意多边形 25"/>
            <p:cNvSpPr/>
            <p:nvPr/>
          </p:nvSpPr>
          <p:spPr bwMode="gray">
            <a:xfrm>
              <a:off x="504967" y="3948378"/>
              <a:ext cx="1978098" cy="1244051"/>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2700">
              <a:solidFill>
                <a:srgbClr val="94DAE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 name="图片 12"/>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604638" y="4468843"/>
              <a:ext cx="540000" cy="442800"/>
            </a:xfrm>
            <a:prstGeom prst="rect">
              <a:avLst/>
            </a:prstGeom>
          </p:spPr>
        </p:pic>
        <p:cxnSp>
          <p:nvCxnSpPr>
            <p:cNvPr id="14" name="直接连接符 13"/>
            <p:cNvCxnSpPr>
              <a:stCxn id="13" idx="3"/>
              <a:endCxn id="17" idx="1"/>
            </p:cNvCxnSpPr>
            <p:nvPr/>
          </p:nvCxnSpPr>
          <p:spPr bwMode="gray">
            <a:xfrm>
              <a:off x="2144638" y="4690243"/>
              <a:ext cx="11779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7" name="图片 1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322602" y="4468843"/>
              <a:ext cx="540000" cy="442800"/>
            </a:xfrm>
            <a:prstGeom prst="rect">
              <a:avLst/>
            </a:prstGeom>
          </p:spPr>
        </p:pic>
        <p:sp>
          <p:nvSpPr>
            <p:cNvPr id="20" name="TextBox 120">
              <a:extLst>
                <a:ext uri="{FF2B5EF4-FFF2-40B4-BE49-F238E27FC236}">
                  <a16:creationId xmlns="" xmlns:a16="http://schemas.microsoft.com/office/drawing/2014/main" id="{020D7A1D-EFAD-4C8C-B9DE-D0FAD269B77A}"/>
                </a:ext>
              </a:extLst>
            </p:cNvPr>
            <p:cNvSpPr txBox="1"/>
            <p:nvPr/>
          </p:nvSpPr>
          <p:spPr bwMode="gray">
            <a:xfrm>
              <a:off x="468317" y="3982031"/>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TextBox 120">
              <a:extLst>
                <a:ext uri="{FF2B5EF4-FFF2-40B4-BE49-F238E27FC236}">
                  <a16:creationId xmlns="" xmlns:a16="http://schemas.microsoft.com/office/drawing/2014/main" id="{020D7A1D-EFAD-4C8C-B9DE-D0FAD269B77A}"/>
                </a:ext>
              </a:extLst>
            </p:cNvPr>
            <p:cNvSpPr txBox="1"/>
            <p:nvPr/>
          </p:nvSpPr>
          <p:spPr bwMode="gray">
            <a:xfrm>
              <a:off x="1667706" y="4209218"/>
              <a:ext cx="413864" cy="307777"/>
            </a:xfrm>
            <a:prstGeom prst="rect">
              <a:avLst/>
            </a:prstGeom>
            <a:noFill/>
            <a:ln>
              <a:noFill/>
            </a:ln>
          </p:spPr>
          <p:txBody>
            <a:bodyPr wrap="squar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R1</a:t>
              </a:r>
            </a:p>
          </p:txBody>
        </p:sp>
        <p:cxnSp>
          <p:nvCxnSpPr>
            <p:cNvPr id="22" name="直接连接符 21"/>
            <p:cNvCxnSpPr>
              <a:endCxn id="13" idx="1"/>
            </p:cNvCxnSpPr>
            <p:nvPr/>
          </p:nvCxnSpPr>
          <p:spPr bwMode="gray">
            <a:xfrm>
              <a:off x="1355795" y="4690243"/>
              <a:ext cx="24884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bwMode="gray">
            <a:xfrm>
              <a:off x="1355795" y="4494281"/>
              <a:ext cx="0" cy="3919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120">
              <a:extLst>
                <a:ext uri="{FF2B5EF4-FFF2-40B4-BE49-F238E27FC236}">
                  <a16:creationId xmlns="" xmlns:a16="http://schemas.microsoft.com/office/drawing/2014/main" id="{31930744-3D36-4F81-8426-6F129C1A6804}"/>
                </a:ext>
              </a:extLst>
            </p:cNvPr>
            <p:cNvSpPr txBox="1"/>
            <p:nvPr/>
          </p:nvSpPr>
          <p:spPr bwMode="gray">
            <a:xfrm>
              <a:off x="451609" y="4552072"/>
              <a:ext cx="984700" cy="287715"/>
            </a:xfrm>
            <a:prstGeom prst="roundRect">
              <a:avLst>
                <a:gd name="adj" fmla="val 6721"/>
              </a:avLst>
            </a:prstGeom>
            <a:noFill/>
            <a:ln w="12700">
              <a:noFill/>
            </a:ln>
          </p:spPr>
          <p:txBody>
            <a:bodyPr wrap="square" rtlCol="0" anchor="ctr">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10.1.1.0/24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TextBox 120">
              <a:extLst>
                <a:ext uri="{FF2B5EF4-FFF2-40B4-BE49-F238E27FC236}">
                  <a16:creationId xmlns="" xmlns:a16="http://schemas.microsoft.com/office/drawing/2014/main" id="{020D7A1D-EFAD-4C8C-B9DE-D0FAD269B77A}"/>
                </a:ext>
              </a:extLst>
            </p:cNvPr>
            <p:cNvSpPr txBox="1"/>
            <p:nvPr/>
          </p:nvSpPr>
          <p:spPr bwMode="gray">
            <a:xfrm>
              <a:off x="3386087" y="4209218"/>
              <a:ext cx="413864"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2" name="直接连接符 55"/>
            <p:cNvCxnSpPr/>
            <p:nvPr/>
          </p:nvCxnSpPr>
          <p:spPr bwMode="gray">
            <a:xfrm flipH="1">
              <a:off x="2238122" y="4785179"/>
              <a:ext cx="918225" cy="0"/>
            </a:xfrm>
            <a:prstGeom prst="line">
              <a:avLst/>
            </a:prstGeom>
            <a:solidFill>
              <a:schemeClr val="accent1"/>
            </a:solidFill>
            <a:ln w="38100" cap="flat" cmpd="sng" algn="ctr">
              <a:solidFill>
                <a:schemeClr val="tx1"/>
              </a:solidFill>
              <a:prstDash val="dash"/>
              <a:round/>
              <a:headEnd type="triangle" w="med" len="med"/>
              <a:tailEnd type="none" w="med" len="med"/>
            </a:ln>
            <a:effectLst/>
          </p:spPr>
        </p:cxnSp>
        <p:sp>
          <p:nvSpPr>
            <p:cNvPr id="34" name="Rectangular Callout 115"/>
            <p:cNvSpPr/>
            <p:nvPr/>
          </p:nvSpPr>
          <p:spPr bwMode="gray">
            <a:xfrm>
              <a:off x="1160400" y="5538030"/>
              <a:ext cx="1428475" cy="532926"/>
            </a:xfrm>
            <a:prstGeom prst="roundRect">
              <a:avLst/>
            </a:prstGeom>
            <a:solidFill>
              <a:srgbClr val="FEF6DE"/>
            </a:solidFill>
            <a:ln w="19050">
              <a:solidFill>
                <a:srgbClr val="FDD35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smtClean="0">
                  <a:solidFill>
                    <a:schemeClr val="tx1"/>
                  </a:solidFill>
                </a:rPr>
                <a:t>10.1.1.0/24</a:t>
              </a:r>
            </a:p>
            <a:p>
              <a:r>
                <a:rPr lang="en-US" altLang="zh-CN" sz="1400" dirty="0" err="1" smtClean="0">
                  <a:solidFill>
                    <a:schemeClr val="tx1"/>
                  </a:solidFill>
                </a:rPr>
                <a:t>AS_Path</a:t>
              </a:r>
              <a:r>
                <a:rPr lang="en-US" altLang="zh-CN" sz="1400" dirty="0" smtClean="0">
                  <a:solidFill>
                    <a:schemeClr val="tx1"/>
                  </a:solidFill>
                </a:rPr>
                <a:t>=101</a:t>
              </a:r>
              <a:endParaRPr lang="zh-CN" altLang="en-US" sz="1400" dirty="0">
                <a:solidFill>
                  <a:schemeClr val="tx1"/>
                </a:solidFill>
              </a:endParaRPr>
            </a:p>
          </p:txBody>
        </p:sp>
        <p:sp>
          <p:nvSpPr>
            <p:cNvPr id="38" name="TextBox 120">
              <a:extLst>
                <a:ext uri="{FF2B5EF4-FFF2-40B4-BE49-F238E27FC236}">
                  <a16:creationId xmlns="" xmlns:a16="http://schemas.microsoft.com/office/drawing/2014/main" id="{020D7A1D-EFAD-4C8C-B9DE-D0FAD269B77A}"/>
                </a:ext>
              </a:extLst>
            </p:cNvPr>
            <p:cNvSpPr txBox="1"/>
            <p:nvPr/>
          </p:nvSpPr>
          <p:spPr bwMode="gray">
            <a:xfrm>
              <a:off x="2393514" y="4402382"/>
              <a:ext cx="676830"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Route</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4" name="直接连接符 53"/>
            <p:cNvCxnSpPr>
              <a:stCxn id="17" idx="3"/>
              <a:endCxn id="55" idx="1"/>
            </p:cNvCxnSpPr>
            <p:nvPr/>
          </p:nvCxnSpPr>
          <p:spPr bwMode="gray">
            <a:xfrm>
              <a:off x="3862602" y="4690243"/>
              <a:ext cx="11796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5" name="图片 5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042220" y="4468843"/>
              <a:ext cx="540000" cy="442800"/>
            </a:xfrm>
            <a:prstGeom prst="rect">
              <a:avLst/>
            </a:prstGeom>
          </p:spPr>
        </p:pic>
        <p:cxnSp>
          <p:nvCxnSpPr>
            <p:cNvPr id="56" name="直接连接符 55"/>
            <p:cNvCxnSpPr>
              <a:stCxn id="55" idx="3"/>
              <a:endCxn id="57" idx="1"/>
            </p:cNvCxnSpPr>
            <p:nvPr/>
          </p:nvCxnSpPr>
          <p:spPr bwMode="gray">
            <a:xfrm>
              <a:off x="5582220" y="4690243"/>
              <a:ext cx="11779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7" name="图片 5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6760184" y="4468843"/>
              <a:ext cx="540000" cy="442800"/>
            </a:xfrm>
            <a:prstGeom prst="rect">
              <a:avLst/>
            </a:prstGeom>
          </p:spPr>
        </p:pic>
        <p:cxnSp>
          <p:nvCxnSpPr>
            <p:cNvPr id="66" name="直接连接符 55"/>
            <p:cNvCxnSpPr/>
            <p:nvPr/>
          </p:nvCxnSpPr>
          <p:spPr bwMode="gray">
            <a:xfrm flipH="1">
              <a:off x="4034916" y="4785179"/>
              <a:ext cx="918225" cy="0"/>
            </a:xfrm>
            <a:prstGeom prst="line">
              <a:avLst/>
            </a:prstGeom>
            <a:solidFill>
              <a:schemeClr val="accent1"/>
            </a:solidFill>
            <a:ln w="38100" cap="flat" cmpd="sng" algn="ctr">
              <a:solidFill>
                <a:schemeClr val="tx1"/>
              </a:solidFill>
              <a:prstDash val="dash"/>
              <a:round/>
              <a:headEnd type="triangle" w="med" len="med"/>
              <a:tailEnd type="none" w="med" len="med"/>
            </a:ln>
            <a:effectLst/>
          </p:spPr>
        </p:cxnSp>
        <p:sp>
          <p:nvSpPr>
            <p:cNvPr id="67" name="Rectangular Callout 115"/>
            <p:cNvSpPr/>
            <p:nvPr/>
          </p:nvSpPr>
          <p:spPr bwMode="gray">
            <a:xfrm>
              <a:off x="2957194" y="5538030"/>
              <a:ext cx="1833170" cy="532926"/>
            </a:xfrm>
            <a:prstGeom prst="roundRect">
              <a:avLst/>
            </a:prstGeom>
            <a:solidFill>
              <a:srgbClr val="FEF6DE"/>
            </a:solidFill>
            <a:ln w="19050">
              <a:solidFill>
                <a:srgbClr val="FDD35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smtClean="0">
                  <a:solidFill>
                    <a:schemeClr val="tx1"/>
                  </a:solidFill>
                </a:rPr>
                <a:t>10.1.1.0/24</a:t>
              </a:r>
            </a:p>
            <a:p>
              <a:r>
                <a:rPr lang="en-US" altLang="zh-CN" sz="1400" dirty="0" smtClean="0">
                  <a:solidFill>
                    <a:schemeClr val="tx1"/>
                  </a:solidFill>
                </a:rPr>
                <a:t>AS_Path=102 101</a:t>
              </a:r>
              <a:endParaRPr lang="zh-CN" altLang="en-US" sz="1400" dirty="0">
                <a:solidFill>
                  <a:schemeClr val="tx1"/>
                </a:solidFill>
              </a:endParaRPr>
            </a:p>
          </p:txBody>
        </p:sp>
        <p:sp>
          <p:nvSpPr>
            <p:cNvPr id="69" name="Rectangular Callout 115"/>
            <p:cNvSpPr/>
            <p:nvPr/>
          </p:nvSpPr>
          <p:spPr bwMode="gray">
            <a:xfrm>
              <a:off x="4977063" y="5538030"/>
              <a:ext cx="1896632" cy="532926"/>
            </a:xfrm>
            <a:prstGeom prst="roundRect">
              <a:avLst/>
            </a:prstGeom>
            <a:solidFill>
              <a:srgbClr val="FEF6DE"/>
            </a:solidFill>
            <a:ln w="19050">
              <a:solidFill>
                <a:srgbClr val="FDD35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smtClean="0">
                  <a:solidFill>
                    <a:srgbClr val="ED6D00"/>
                  </a:solidFill>
                </a:rPr>
                <a:t>始发于</a:t>
              </a:r>
              <a:r>
                <a:rPr lang="en-US" altLang="zh-CN" sz="1400" dirty="0" smtClean="0">
                  <a:solidFill>
                    <a:srgbClr val="ED6D00"/>
                  </a:solidFill>
                </a:rPr>
                <a:t>AS 101</a:t>
              </a:r>
              <a:r>
                <a:rPr lang="zh-CN" altLang="en-US" sz="1400" dirty="0" smtClean="0">
                  <a:solidFill>
                    <a:srgbClr val="ED6D00"/>
                  </a:solidFill>
                </a:rPr>
                <a:t>的</a:t>
              </a:r>
              <a:r>
                <a:rPr lang="en-US" altLang="zh-CN" sz="1400" dirty="0" smtClean="0">
                  <a:solidFill>
                    <a:srgbClr val="ED6D00"/>
                  </a:solidFill>
                </a:rPr>
                <a:t>BGP</a:t>
              </a:r>
              <a:r>
                <a:rPr lang="zh-CN" altLang="en-US" sz="1400" dirty="0" smtClean="0">
                  <a:solidFill>
                    <a:srgbClr val="ED6D00"/>
                  </a:solidFill>
                </a:rPr>
                <a:t>路由被过滤。</a:t>
              </a:r>
              <a:endParaRPr lang="zh-CN" altLang="en-US" sz="1400" dirty="0">
                <a:solidFill>
                  <a:srgbClr val="ED6D00"/>
                </a:solidFill>
              </a:endParaRPr>
            </a:p>
          </p:txBody>
        </p:sp>
        <p:cxnSp>
          <p:nvCxnSpPr>
            <p:cNvPr id="71" name="直接箭头连接符 70"/>
            <p:cNvCxnSpPr>
              <a:stCxn id="34" idx="0"/>
            </p:cNvCxnSpPr>
            <p:nvPr/>
          </p:nvCxnSpPr>
          <p:spPr bwMode="gray">
            <a:xfrm flipV="1">
              <a:off x="1874638" y="4839787"/>
              <a:ext cx="714237" cy="698243"/>
            </a:xfrm>
            <a:prstGeom prst="straightConnector1">
              <a:avLst/>
            </a:prstGeom>
            <a:ln w="19050">
              <a:solidFill>
                <a:srgbClr val="FFD17D"/>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p:nvPr/>
          </p:nvCxnSpPr>
          <p:spPr bwMode="gray">
            <a:xfrm flipV="1">
              <a:off x="3799479" y="4839787"/>
              <a:ext cx="714237" cy="698243"/>
            </a:xfrm>
            <a:prstGeom prst="straightConnector1">
              <a:avLst/>
            </a:prstGeom>
            <a:ln w="19050">
              <a:solidFill>
                <a:srgbClr val="FFD17D"/>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p:nvPr/>
          </p:nvCxnSpPr>
          <p:spPr bwMode="gray">
            <a:xfrm flipV="1">
              <a:off x="5575115" y="5090678"/>
              <a:ext cx="446198" cy="447353"/>
            </a:xfrm>
            <a:prstGeom prst="straightConnector1">
              <a:avLst/>
            </a:prstGeom>
            <a:ln w="19050">
              <a:solidFill>
                <a:srgbClr val="FFD17D"/>
              </a:solidFill>
              <a:tailEnd type="triangle"/>
            </a:ln>
          </p:spPr>
          <p:style>
            <a:lnRef idx="1">
              <a:schemeClr val="accent1"/>
            </a:lnRef>
            <a:fillRef idx="0">
              <a:schemeClr val="accent1"/>
            </a:fillRef>
            <a:effectRef idx="0">
              <a:schemeClr val="accent1"/>
            </a:effectRef>
            <a:fontRef idx="minor">
              <a:schemeClr val="tx1"/>
            </a:fontRef>
          </p:style>
        </p:cxnSp>
        <p:sp>
          <p:nvSpPr>
            <p:cNvPr id="75" name="TextBox 120">
              <a:extLst>
                <a:ext uri="{FF2B5EF4-FFF2-40B4-BE49-F238E27FC236}">
                  <a16:creationId xmlns="" xmlns:a16="http://schemas.microsoft.com/office/drawing/2014/main" id="{020D7A1D-EFAD-4C8C-B9DE-D0FAD269B77A}"/>
                </a:ext>
              </a:extLst>
            </p:cNvPr>
            <p:cNvSpPr txBox="1"/>
            <p:nvPr/>
          </p:nvSpPr>
          <p:spPr bwMode="gray">
            <a:xfrm>
              <a:off x="4086710" y="4402382"/>
              <a:ext cx="676830"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Route</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9" name="直接连接符 55"/>
            <p:cNvCxnSpPr/>
            <p:nvPr/>
          </p:nvCxnSpPr>
          <p:spPr bwMode="gray">
            <a:xfrm flipH="1">
              <a:off x="5706016" y="4785179"/>
              <a:ext cx="918225" cy="0"/>
            </a:xfrm>
            <a:prstGeom prst="line">
              <a:avLst/>
            </a:prstGeom>
            <a:solidFill>
              <a:schemeClr val="accent1"/>
            </a:solidFill>
            <a:ln w="38100" cap="flat" cmpd="sng" algn="ctr">
              <a:solidFill>
                <a:schemeClr val="tx1"/>
              </a:solidFill>
              <a:prstDash val="dash"/>
              <a:round/>
              <a:headEnd type="triangle" w="med" len="med"/>
              <a:tailEnd type="none" w="med" len="med"/>
            </a:ln>
            <a:effectLst/>
          </p:spPr>
        </p:cxnSp>
        <p:sp>
          <p:nvSpPr>
            <p:cNvPr id="50" name="TextBox 120">
              <a:extLst>
                <a:ext uri="{FF2B5EF4-FFF2-40B4-BE49-F238E27FC236}">
                  <a16:creationId xmlns="" xmlns:a16="http://schemas.microsoft.com/office/drawing/2014/main" id="{020D7A1D-EFAD-4C8C-B9DE-D0FAD269B77A}"/>
                </a:ext>
              </a:extLst>
            </p:cNvPr>
            <p:cNvSpPr txBox="1"/>
            <p:nvPr/>
          </p:nvSpPr>
          <p:spPr bwMode="gray">
            <a:xfrm>
              <a:off x="5757810" y="4402382"/>
              <a:ext cx="676830"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Route</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9" name="椭圆 38"/>
          <p:cNvSpPr/>
          <p:nvPr/>
        </p:nvSpPr>
        <p:spPr bwMode="gray">
          <a:xfrm>
            <a:off x="6213486" y="4197901"/>
            <a:ext cx="150125" cy="152230"/>
          </a:xfrm>
          <a:prstGeom prst="ellipse">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任意多边形 2"/>
          <p:cNvSpPr/>
          <p:nvPr/>
        </p:nvSpPr>
        <p:spPr bwMode="gray">
          <a:xfrm>
            <a:off x="6283906" y="3337502"/>
            <a:ext cx="2641730" cy="887105"/>
          </a:xfrm>
          <a:custGeom>
            <a:avLst/>
            <a:gdLst>
              <a:gd name="connsiteX0" fmla="*/ 0 w 3179928"/>
              <a:gd name="connsiteY0" fmla="*/ 887105 h 887105"/>
              <a:gd name="connsiteX1" fmla="*/ 464024 w 3179928"/>
              <a:gd name="connsiteY1" fmla="*/ 0 h 887105"/>
              <a:gd name="connsiteX2" fmla="*/ 3179928 w 3179928"/>
              <a:gd name="connsiteY2" fmla="*/ 0 h 887105"/>
            </a:gdLst>
            <a:ahLst/>
            <a:cxnLst>
              <a:cxn ang="0">
                <a:pos x="connsiteX0" y="connsiteY0"/>
              </a:cxn>
              <a:cxn ang="0">
                <a:pos x="connsiteX1" y="connsiteY1"/>
              </a:cxn>
              <a:cxn ang="0">
                <a:pos x="connsiteX2" y="connsiteY2"/>
              </a:cxn>
            </a:cxnLst>
            <a:rect l="l" t="t" r="r" b="b"/>
            <a:pathLst>
              <a:path w="3179928" h="887105">
                <a:moveTo>
                  <a:pt x="0" y="887105"/>
                </a:moveTo>
                <a:lnTo>
                  <a:pt x="464024" y="0"/>
                </a:lnTo>
                <a:lnTo>
                  <a:pt x="3179928" y="0"/>
                </a:lnTo>
              </a:path>
            </a:pathLst>
          </a:custGeom>
          <a:noFill/>
          <a:ln w="19050">
            <a:solidFill>
              <a:srgbClr val="FDD3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p:nvGrpSpPr>
        <p:grpSpPr bwMode="gray">
          <a:xfrm>
            <a:off x="6713028" y="4307692"/>
            <a:ext cx="288000" cy="288000"/>
            <a:chOff x="856677" y="2615810"/>
            <a:chExt cx="288000" cy="288000"/>
          </a:xfrm>
          <a:solidFill>
            <a:srgbClr val="C7000B"/>
          </a:solidFill>
        </p:grpSpPr>
        <p:sp>
          <p:nvSpPr>
            <p:cNvPr id="42" name="椭圆 41"/>
            <p:cNvSpPr/>
            <p:nvPr/>
          </p:nvSpPr>
          <p:spPr bwMode="gray">
            <a:xfrm>
              <a:off x="856677" y="2615810"/>
              <a:ext cx="288000" cy="288000"/>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3" name="组合 42"/>
            <p:cNvGrpSpPr/>
            <p:nvPr/>
          </p:nvGrpSpPr>
          <p:grpSpPr bwMode="gray">
            <a:xfrm>
              <a:off x="923444" y="2692169"/>
              <a:ext cx="144001" cy="144002"/>
              <a:chOff x="898853" y="2657982"/>
              <a:chExt cx="203649" cy="203652"/>
            </a:xfrm>
            <a:grpFill/>
          </p:grpSpPr>
          <p:cxnSp>
            <p:nvCxnSpPr>
              <p:cNvPr id="44" name="直接连接符 43"/>
              <p:cNvCxnSpPr>
                <a:stCxn id="42" idx="3"/>
                <a:endCxn id="42" idx="7"/>
              </p:cNvCxnSpPr>
              <p:nvPr/>
            </p:nvCxnSpPr>
            <p:spPr bwMode="gray">
              <a:xfrm flipV="1">
                <a:off x="898853" y="2657986"/>
                <a:ext cx="203648" cy="203648"/>
              </a:xfrm>
              <a:prstGeom prst="line">
                <a:avLst/>
              </a:prstGeom>
              <a:grp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45" name="直接连接符 44"/>
              <p:cNvCxnSpPr>
                <a:stCxn id="42" idx="1"/>
                <a:endCxn id="42" idx="5"/>
              </p:cNvCxnSpPr>
              <p:nvPr/>
            </p:nvCxnSpPr>
            <p:spPr bwMode="gray">
              <a:xfrm>
                <a:off x="898853" y="2657986"/>
                <a:ext cx="203648" cy="203648"/>
              </a:xfrm>
              <a:prstGeom prst="line">
                <a:avLst/>
              </a:prstGeom>
              <a:grp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sp>
        <p:nvSpPr>
          <p:cNvPr id="51" name="五边形 50"/>
          <p:cNvSpPr/>
          <p:nvPr/>
        </p:nvSpPr>
        <p:spPr bwMode="auto">
          <a:xfrm>
            <a:off x="8335082" y="100861"/>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52" name="燕尾形 51"/>
          <p:cNvSpPr/>
          <p:nvPr/>
        </p:nvSpPr>
        <p:spPr bwMode="auto">
          <a:xfrm>
            <a:off x="9029654" y="100861"/>
            <a:ext cx="126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AS_Path Filter</a:t>
            </a:r>
          </a:p>
        </p:txBody>
      </p:sp>
      <p:sp>
        <p:nvSpPr>
          <p:cNvPr id="53" name="燕尾形 52"/>
          <p:cNvSpPr/>
          <p:nvPr/>
        </p:nvSpPr>
        <p:spPr bwMode="auto">
          <a:xfrm>
            <a:off x="10203025" y="100861"/>
            <a:ext cx="154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Community Filter</a:t>
            </a:r>
          </a:p>
        </p:txBody>
      </p:sp>
      <p:sp>
        <p:nvSpPr>
          <p:cNvPr id="79" name="文本占位符 3"/>
          <p:cNvSpPr txBox="1">
            <a:spLocks/>
          </p:cNvSpPr>
          <p:nvPr/>
        </p:nvSpPr>
        <p:spPr bwMode="gray">
          <a:xfrm>
            <a:off x="8775446" y="3188130"/>
            <a:ext cx="2808284" cy="679765"/>
          </a:xfrm>
          <a:prstGeom prst="rect">
            <a:avLst/>
          </a:prstGeom>
          <a:solidFill>
            <a:srgbClr val="FEF6DE"/>
          </a:solidFill>
          <a:ln w="9525">
            <a:solidFill>
              <a:srgbClr val="FDD351"/>
            </a:solidFill>
            <a:miter lim="800000"/>
            <a:headEnd/>
            <a:tailEnd/>
          </a:ln>
        </p:spPr>
        <p:txBody>
          <a:bodyPr vert="horz" wrap="square" lIns="108000" tIns="40071" rIns="108000" bIns="40071" numCol="1" anchor="ctr"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zh-CN" altLang="en-US" sz="1600" b="1" dirty="0" smtClean="0"/>
              <a:t>设置</a:t>
            </a:r>
            <a:r>
              <a:rPr lang="en-US" altLang="zh-CN" sz="1600" b="1" dirty="0" err="1" smtClean="0"/>
              <a:t>AS_Path</a:t>
            </a:r>
            <a:r>
              <a:rPr lang="en-US" altLang="zh-CN" sz="1600" b="1" dirty="0" smtClean="0"/>
              <a:t> Filter</a:t>
            </a:r>
            <a:r>
              <a:rPr lang="zh-CN" altLang="en-US" sz="1600" b="1" dirty="0" smtClean="0"/>
              <a:t>，拒绝</a:t>
            </a:r>
            <a:r>
              <a:rPr lang="zh-CN" altLang="en-US" sz="1600" b="1" dirty="0"/>
              <a:t>发布</a:t>
            </a:r>
            <a:r>
              <a:rPr lang="zh-CN" altLang="en-US" sz="1600" b="1" dirty="0" smtClean="0"/>
              <a:t>包含</a:t>
            </a:r>
            <a:r>
              <a:rPr lang="en-US" altLang="zh-CN" sz="1600" b="1" dirty="0" smtClean="0"/>
              <a:t>AS 101</a:t>
            </a:r>
            <a:r>
              <a:rPr lang="zh-CN" altLang="en-US" sz="1600" b="1" dirty="0" smtClean="0"/>
              <a:t>的</a:t>
            </a:r>
            <a:r>
              <a:rPr lang="en-US" altLang="zh-CN" sz="1600" b="1" dirty="0" smtClean="0"/>
              <a:t>BGP</a:t>
            </a:r>
            <a:r>
              <a:rPr lang="zh-CN" altLang="en-US" sz="1600" b="1" dirty="0" smtClean="0"/>
              <a:t>路由。</a:t>
            </a:r>
          </a:p>
        </p:txBody>
      </p:sp>
    </p:spTree>
    <p:extLst>
      <p:ext uri="{BB962C8B-B14F-4D97-AF65-F5344CB8AC3E}">
        <p14:creationId xmlns:p14="http://schemas.microsoft.com/office/powerpoint/2010/main" val="167650409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使用正则表达式匹配</a:t>
            </a:r>
            <a:r>
              <a:rPr lang="en-US" altLang="zh-CN" smtClean="0"/>
              <a:t>AS_Path</a:t>
            </a:r>
            <a:endParaRPr lang="zh-CN" altLang="en-US" dirty="0"/>
          </a:p>
        </p:txBody>
      </p:sp>
      <p:sp>
        <p:nvSpPr>
          <p:cNvPr id="44" name="文本占位符 43"/>
          <p:cNvSpPr>
            <a:spLocks noGrp="1"/>
          </p:cNvSpPr>
          <p:nvPr>
            <p:ph type="body" sz="quarter" idx="10"/>
          </p:nvPr>
        </p:nvSpPr>
        <p:spPr bwMode="gray">
          <a:xfrm>
            <a:off x="455612" y="1047750"/>
            <a:ext cx="6166861" cy="1147353"/>
          </a:xfrm>
        </p:spPr>
        <p:txBody>
          <a:bodyPr/>
          <a:lstStyle/>
          <a:p>
            <a:r>
              <a:rPr lang="zh-CN" altLang="en-US" sz="2000" dirty="0" smtClean="0"/>
              <a:t>可以通过正则表达式，来匹配路由的</a:t>
            </a:r>
            <a:r>
              <a:rPr lang="en-US" altLang="zh-CN" sz="2000" dirty="0" err="1" smtClean="0"/>
              <a:t>AS_Path</a:t>
            </a:r>
            <a:r>
              <a:rPr lang="zh-CN" altLang="en-US" sz="2000" dirty="0" smtClean="0"/>
              <a:t>。</a:t>
            </a:r>
            <a:endParaRPr lang="en-US" altLang="zh-CN" sz="2000" dirty="0" smtClean="0"/>
          </a:p>
          <a:p>
            <a:pPr lvl="1"/>
            <a:r>
              <a:rPr lang="zh-CN" altLang="en-US" sz="1800" dirty="0" smtClean="0"/>
              <a:t>例如：匹配</a:t>
            </a:r>
            <a:r>
              <a:rPr lang="en-US" altLang="zh-CN" sz="1800" dirty="0" err="1" smtClean="0"/>
              <a:t>AS_Path</a:t>
            </a:r>
            <a:r>
              <a:rPr lang="en-US" altLang="zh-CN" sz="1800" dirty="0" smtClean="0"/>
              <a:t>=103 102 101</a:t>
            </a:r>
            <a:r>
              <a:rPr lang="zh-CN" altLang="en-US" sz="1800" dirty="0" smtClean="0"/>
              <a:t>中的</a:t>
            </a:r>
            <a:r>
              <a:rPr lang="en-US" altLang="zh-CN" sz="1800" dirty="0" smtClean="0"/>
              <a:t>AS 103</a:t>
            </a:r>
            <a:r>
              <a:rPr lang="zh-CN" altLang="en-US" sz="1800" dirty="0" smtClean="0"/>
              <a:t>。</a:t>
            </a:r>
            <a:endParaRPr lang="en-US" altLang="zh-CN" sz="1800" dirty="0" smtClean="0"/>
          </a:p>
        </p:txBody>
      </p:sp>
      <p:sp>
        <p:nvSpPr>
          <p:cNvPr id="17" name="Rectangular Callout 115"/>
          <p:cNvSpPr/>
          <p:nvPr/>
        </p:nvSpPr>
        <p:spPr bwMode="gray">
          <a:xfrm>
            <a:off x="1529548" y="2128457"/>
            <a:ext cx="1189437" cy="375881"/>
          </a:xfrm>
          <a:prstGeom prst="rect">
            <a:avLst/>
          </a:prstGeom>
          <a:noFill/>
          <a:ln w="19050">
            <a:no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600" b="1" dirty="0" smtClean="0">
                <a:solidFill>
                  <a:schemeClr val="tx1"/>
                </a:solidFill>
              </a:rPr>
              <a:t>AS_Path</a:t>
            </a:r>
            <a:r>
              <a:rPr lang="zh-CN" altLang="en-US" sz="1600" b="1" dirty="0" smtClean="0">
                <a:solidFill>
                  <a:schemeClr val="tx1"/>
                </a:solidFill>
              </a:rPr>
              <a:t>：</a:t>
            </a:r>
            <a:endParaRPr lang="zh-CN" altLang="en-US" sz="1400" dirty="0">
              <a:solidFill>
                <a:schemeClr val="tx1"/>
              </a:solidFill>
            </a:endParaRPr>
          </a:p>
        </p:txBody>
      </p:sp>
      <p:sp>
        <p:nvSpPr>
          <p:cNvPr id="18" name="Rectangular Callout 115"/>
          <p:cNvSpPr/>
          <p:nvPr/>
        </p:nvSpPr>
        <p:spPr bwMode="gray">
          <a:xfrm>
            <a:off x="2797469" y="2145213"/>
            <a:ext cx="638685" cy="342369"/>
          </a:xfrm>
          <a:prstGeom prst="rect">
            <a:avLst/>
          </a:prstGeom>
          <a:solidFill>
            <a:srgbClr val="F5FCFD"/>
          </a:solidFill>
          <a:ln w="19050">
            <a:solidFill>
              <a:srgbClr val="94DAE2"/>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solidFill>
                  <a:schemeClr val="tx1"/>
                </a:solidFill>
              </a:rPr>
              <a:t>103</a:t>
            </a:r>
            <a:endParaRPr lang="zh-CN" altLang="en-US" sz="1600" dirty="0">
              <a:solidFill>
                <a:schemeClr val="tx1"/>
              </a:solidFill>
            </a:endParaRPr>
          </a:p>
        </p:txBody>
      </p:sp>
      <p:sp>
        <p:nvSpPr>
          <p:cNvPr id="19" name="Rectangular Callout 115"/>
          <p:cNvSpPr/>
          <p:nvPr/>
        </p:nvSpPr>
        <p:spPr bwMode="gray">
          <a:xfrm>
            <a:off x="3584314" y="2145213"/>
            <a:ext cx="638685" cy="342369"/>
          </a:xfrm>
          <a:prstGeom prst="rect">
            <a:avLst/>
          </a:prstGeom>
          <a:solidFill>
            <a:srgbClr val="F5FCFD"/>
          </a:solidFill>
          <a:ln w="19050">
            <a:solidFill>
              <a:srgbClr val="94DAE2"/>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solidFill>
                  <a:schemeClr val="tx1"/>
                </a:solidFill>
              </a:rPr>
              <a:t>102</a:t>
            </a:r>
            <a:endParaRPr lang="zh-CN" altLang="en-US" sz="1600" dirty="0">
              <a:solidFill>
                <a:schemeClr val="tx1"/>
              </a:solidFill>
            </a:endParaRPr>
          </a:p>
        </p:txBody>
      </p:sp>
      <p:sp>
        <p:nvSpPr>
          <p:cNvPr id="20" name="Rectangular Callout 115"/>
          <p:cNvSpPr/>
          <p:nvPr/>
        </p:nvSpPr>
        <p:spPr bwMode="gray">
          <a:xfrm>
            <a:off x="4371159" y="2145213"/>
            <a:ext cx="638685" cy="342369"/>
          </a:xfrm>
          <a:prstGeom prst="rect">
            <a:avLst/>
          </a:prstGeom>
          <a:solidFill>
            <a:srgbClr val="F5FCFD"/>
          </a:solidFill>
          <a:ln w="19050">
            <a:solidFill>
              <a:srgbClr val="94DAE2"/>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solidFill>
                  <a:schemeClr val="tx1"/>
                </a:solidFill>
              </a:rPr>
              <a:t>101</a:t>
            </a:r>
            <a:endParaRPr lang="zh-CN" altLang="en-US" sz="1600" dirty="0">
              <a:solidFill>
                <a:schemeClr val="tx1"/>
              </a:solidFill>
            </a:endParaRPr>
          </a:p>
        </p:txBody>
      </p:sp>
      <p:sp>
        <p:nvSpPr>
          <p:cNvPr id="21" name="Rectangular Callout 115"/>
          <p:cNvSpPr/>
          <p:nvPr/>
        </p:nvSpPr>
        <p:spPr bwMode="gray">
          <a:xfrm>
            <a:off x="1529548" y="2702509"/>
            <a:ext cx="1189437" cy="375881"/>
          </a:xfrm>
          <a:prstGeom prst="rect">
            <a:avLst/>
          </a:prstGeom>
          <a:noFill/>
          <a:ln w="19050">
            <a:no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b="1" dirty="0" smtClean="0">
                <a:solidFill>
                  <a:schemeClr val="tx1"/>
                </a:solidFill>
              </a:rPr>
              <a:t>字符串：</a:t>
            </a:r>
            <a:endParaRPr lang="zh-CN" altLang="en-US" sz="1400" dirty="0">
              <a:solidFill>
                <a:schemeClr val="tx1"/>
              </a:solidFill>
            </a:endParaRPr>
          </a:p>
        </p:txBody>
      </p:sp>
      <p:sp>
        <p:nvSpPr>
          <p:cNvPr id="23" name="Rectangular Callout 115"/>
          <p:cNvSpPr/>
          <p:nvPr/>
        </p:nvSpPr>
        <p:spPr bwMode="gray">
          <a:xfrm>
            <a:off x="2797469" y="2693754"/>
            <a:ext cx="638685" cy="342369"/>
          </a:xfrm>
          <a:prstGeom prst="rect">
            <a:avLst/>
          </a:prstGeom>
          <a:noFill/>
          <a:ln w="19050">
            <a:no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solidFill>
                  <a:schemeClr val="tx1"/>
                </a:solidFill>
              </a:rPr>
              <a:t>103</a:t>
            </a:r>
            <a:endParaRPr lang="zh-CN" altLang="en-US" sz="1600" dirty="0">
              <a:solidFill>
                <a:schemeClr val="tx1"/>
              </a:solidFill>
            </a:endParaRPr>
          </a:p>
        </p:txBody>
      </p:sp>
      <p:sp>
        <p:nvSpPr>
          <p:cNvPr id="24" name="Rectangular Callout 115"/>
          <p:cNvSpPr/>
          <p:nvPr/>
        </p:nvSpPr>
        <p:spPr bwMode="gray">
          <a:xfrm>
            <a:off x="3584314" y="2693754"/>
            <a:ext cx="638685" cy="342369"/>
          </a:xfrm>
          <a:prstGeom prst="rect">
            <a:avLst/>
          </a:prstGeom>
          <a:noFill/>
          <a:ln w="19050">
            <a:no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solidFill>
                  <a:schemeClr val="tx1"/>
                </a:solidFill>
              </a:rPr>
              <a:t>102</a:t>
            </a:r>
            <a:endParaRPr lang="zh-CN" altLang="en-US" sz="1600" dirty="0">
              <a:solidFill>
                <a:schemeClr val="tx1"/>
              </a:solidFill>
            </a:endParaRPr>
          </a:p>
        </p:txBody>
      </p:sp>
      <p:sp>
        <p:nvSpPr>
          <p:cNvPr id="25" name="Rectangular Callout 115"/>
          <p:cNvSpPr/>
          <p:nvPr/>
        </p:nvSpPr>
        <p:spPr bwMode="gray">
          <a:xfrm>
            <a:off x="4371159" y="2693754"/>
            <a:ext cx="638685" cy="342369"/>
          </a:xfrm>
          <a:prstGeom prst="rect">
            <a:avLst/>
          </a:prstGeom>
          <a:noFill/>
          <a:ln w="19050">
            <a:no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solidFill>
                  <a:schemeClr val="tx1"/>
                </a:solidFill>
              </a:rPr>
              <a:t>101</a:t>
            </a:r>
            <a:endParaRPr lang="zh-CN" altLang="en-US" sz="1600" dirty="0">
              <a:solidFill>
                <a:schemeClr val="tx1"/>
              </a:solidFill>
            </a:endParaRPr>
          </a:p>
        </p:txBody>
      </p:sp>
      <p:sp>
        <p:nvSpPr>
          <p:cNvPr id="26" name="Rectangular Callout 115"/>
          <p:cNvSpPr/>
          <p:nvPr/>
        </p:nvSpPr>
        <p:spPr bwMode="gray">
          <a:xfrm>
            <a:off x="1136552" y="3185517"/>
            <a:ext cx="1582433" cy="375881"/>
          </a:xfrm>
          <a:prstGeom prst="rect">
            <a:avLst/>
          </a:prstGeom>
          <a:noFill/>
          <a:ln w="19050">
            <a:no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b="1" dirty="0" smtClean="0">
                <a:solidFill>
                  <a:schemeClr val="tx1"/>
                </a:solidFill>
              </a:rPr>
              <a:t>正则表达式：</a:t>
            </a:r>
            <a:endParaRPr lang="zh-CN" altLang="en-US" sz="1400" dirty="0">
              <a:solidFill>
                <a:schemeClr val="tx1"/>
              </a:solidFill>
            </a:endParaRPr>
          </a:p>
        </p:txBody>
      </p:sp>
      <p:sp>
        <p:nvSpPr>
          <p:cNvPr id="27" name="Rectangular Callout 115"/>
          <p:cNvSpPr/>
          <p:nvPr/>
        </p:nvSpPr>
        <p:spPr bwMode="gray">
          <a:xfrm>
            <a:off x="2638444" y="3176762"/>
            <a:ext cx="1774531" cy="342369"/>
          </a:xfrm>
          <a:prstGeom prst="rect">
            <a:avLst/>
          </a:prstGeom>
          <a:noFill/>
          <a:ln w="19050">
            <a:no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solidFill>
                  <a:srgbClr val="C7000B"/>
                </a:solidFill>
              </a:rPr>
              <a:t>^103</a:t>
            </a:r>
            <a:r>
              <a:rPr lang="zh-CN" altLang="en-US" sz="1600" dirty="0" smtClean="0">
                <a:solidFill>
                  <a:srgbClr val="C7000B"/>
                </a:solidFill>
              </a:rPr>
              <a:t>，</a:t>
            </a:r>
            <a:r>
              <a:rPr lang="en-US" altLang="zh-CN" sz="1600" dirty="0" smtClean="0">
                <a:solidFill>
                  <a:srgbClr val="C7000B"/>
                </a:solidFill>
              </a:rPr>
              <a:t>^103_</a:t>
            </a:r>
            <a:r>
              <a:rPr lang="zh-CN" altLang="en-US" sz="1600" dirty="0" smtClean="0">
                <a:solidFill>
                  <a:srgbClr val="C7000B"/>
                </a:solidFill>
              </a:rPr>
              <a:t>等</a:t>
            </a:r>
            <a:endParaRPr lang="zh-CN" altLang="en-US" sz="1600" dirty="0">
              <a:solidFill>
                <a:srgbClr val="C7000B"/>
              </a:solidFill>
            </a:endParaRPr>
          </a:p>
        </p:txBody>
      </p:sp>
      <p:cxnSp>
        <p:nvCxnSpPr>
          <p:cNvPr id="4" name="直接箭头连接符 3"/>
          <p:cNvCxnSpPr>
            <a:stCxn id="19" idx="2"/>
            <a:endCxn id="24" idx="0"/>
          </p:cNvCxnSpPr>
          <p:nvPr/>
        </p:nvCxnSpPr>
        <p:spPr bwMode="gray">
          <a:xfrm>
            <a:off x="3903657" y="2487582"/>
            <a:ext cx="0" cy="206172"/>
          </a:xfrm>
          <a:prstGeom prst="straightConnector1">
            <a:avLst/>
          </a:prstGeom>
          <a:ln w="19050">
            <a:solidFill>
              <a:srgbClr val="94DAE2"/>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bwMode="gray">
          <a:xfrm>
            <a:off x="3903657" y="2997486"/>
            <a:ext cx="0" cy="206172"/>
          </a:xfrm>
          <a:prstGeom prst="straightConnector1">
            <a:avLst/>
          </a:prstGeom>
          <a:ln w="19050">
            <a:solidFill>
              <a:srgbClr val="C7000B"/>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6" name="表格 35"/>
          <p:cNvGraphicFramePr>
            <a:graphicFrameLocks noGrp="1"/>
          </p:cNvGraphicFramePr>
          <p:nvPr>
            <p:extLst>
              <p:ext uri="{D42A27DB-BD31-4B8C-83A1-F6EECF244321}">
                <p14:modId xmlns:p14="http://schemas.microsoft.com/office/powerpoint/2010/main" val="3002280394"/>
              </p:ext>
            </p:extLst>
          </p:nvPr>
        </p:nvGraphicFramePr>
        <p:xfrm>
          <a:off x="780971" y="4060406"/>
          <a:ext cx="6198256" cy="2112234"/>
        </p:xfrm>
        <a:graphic>
          <a:graphicData uri="http://schemas.openxmlformats.org/drawingml/2006/table">
            <a:tbl>
              <a:tblPr firstRow="1" firstCol="1" bandRow="1">
                <a:tableStyleId>{2D5ABB26-0587-4C30-8999-92F81FD0307C}</a:tableStyleId>
              </a:tblPr>
              <a:tblGrid>
                <a:gridCol w="1656184"/>
                <a:gridCol w="4542072"/>
              </a:tblGrid>
              <a:tr h="352039">
                <a:tc>
                  <a:txBody>
                    <a:bodyPr/>
                    <a:lstStyle/>
                    <a:p>
                      <a:pPr algn="l"/>
                      <a:r>
                        <a:rPr lang="en-US" altLang="zh-CN" sz="1600" dirty="0" smtClean="0"/>
                        <a:t>^$</a:t>
                      </a:r>
                      <a:endParaRPr lang="zh-CN" altLang="en-US" sz="1600" b="1" dirty="0">
                        <a:solidFill>
                          <a:schemeClr val="bg1"/>
                        </a:solidFill>
                        <a:latin typeface="+mn-lt"/>
                        <a:ea typeface="+mn-ea"/>
                      </a:endParaRPr>
                    </a:p>
                  </a:txBody>
                  <a:tcPr anchor="ctr"/>
                </a:tc>
                <a:tc>
                  <a:txBody>
                    <a:bodyPr/>
                    <a:lstStyle/>
                    <a:p>
                      <a:pPr indent="0" algn="l">
                        <a:lnSpc>
                          <a:spcPct val="100000"/>
                        </a:lnSpc>
                        <a:spcAft>
                          <a:spcPts val="0"/>
                        </a:spcAft>
                      </a:pPr>
                      <a:r>
                        <a:rPr lang="zh-CN" altLang="en-US" sz="1400" kern="100" dirty="0" smtClean="0">
                          <a:effectLst/>
                        </a:rPr>
                        <a:t>匹配不包含任何</a:t>
                      </a:r>
                      <a:r>
                        <a:rPr lang="en-US" altLang="zh-CN" sz="1400" kern="100" dirty="0" smtClean="0">
                          <a:effectLst/>
                        </a:rPr>
                        <a:t>AS</a:t>
                      </a:r>
                      <a:r>
                        <a:rPr lang="zh-CN" altLang="en-US" sz="1400" kern="100" dirty="0" smtClean="0">
                          <a:effectLst/>
                        </a:rPr>
                        <a:t>号的</a:t>
                      </a:r>
                      <a:r>
                        <a:rPr lang="en-US" altLang="zh-CN" sz="1400" kern="100" dirty="0" smtClean="0">
                          <a:effectLst/>
                        </a:rPr>
                        <a:t>AS_Path</a:t>
                      </a:r>
                      <a:r>
                        <a:rPr lang="zh-CN" altLang="en-US" sz="1400" kern="100" dirty="0" smtClean="0">
                          <a:effectLst/>
                        </a:rPr>
                        <a:t>，也就是本</a:t>
                      </a:r>
                      <a:r>
                        <a:rPr lang="en-US" altLang="zh-CN" sz="1400" kern="100" dirty="0" smtClean="0">
                          <a:effectLst/>
                        </a:rPr>
                        <a:t>AS</a:t>
                      </a:r>
                      <a:r>
                        <a:rPr lang="zh-CN" altLang="en-US" sz="1400" kern="100" dirty="0" smtClean="0">
                          <a:effectLst/>
                        </a:rPr>
                        <a:t>内的路由</a:t>
                      </a:r>
                      <a:endParaRPr lang="zh-CN" sz="1400" kern="100" dirty="0">
                        <a:effectLst/>
                        <a:latin typeface="+mn-lt"/>
                        <a:ea typeface="+mn-ea"/>
                        <a:cs typeface="Times New Roman"/>
                      </a:endParaRPr>
                    </a:p>
                  </a:txBody>
                  <a:tcPr anchor="ctr"/>
                </a:tc>
              </a:tr>
              <a:tr h="352039">
                <a:tc>
                  <a:txBody>
                    <a:bodyPr/>
                    <a:lstStyle/>
                    <a:p>
                      <a:pPr indent="0" algn="l">
                        <a:lnSpc>
                          <a:spcPct val="100000"/>
                        </a:lnSpc>
                        <a:spcAft>
                          <a:spcPts val="0"/>
                        </a:spcAft>
                      </a:pPr>
                      <a:r>
                        <a:rPr lang="en-US" altLang="zh-CN" sz="1600" kern="100" dirty="0" smtClean="0">
                          <a:effectLst/>
                        </a:rPr>
                        <a:t>.*</a:t>
                      </a:r>
                      <a:endParaRPr lang="zh-CN" sz="1600" b="1" kern="100" dirty="0">
                        <a:solidFill>
                          <a:schemeClr val="bg1"/>
                        </a:solidFill>
                        <a:effectLst/>
                        <a:latin typeface="+mn-lt"/>
                        <a:ea typeface="+mn-ea"/>
                        <a:cs typeface="Times New Roman"/>
                      </a:endParaRPr>
                    </a:p>
                  </a:txBody>
                  <a:tcPr anchor="ctr"/>
                </a:tc>
                <a:tc>
                  <a:txBody>
                    <a:bodyPr/>
                    <a:lstStyle/>
                    <a:p>
                      <a:pPr indent="0" algn="l">
                        <a:lnSpc>
                          <a:spcPct val="100000"/>
                        </a:lnSpc>
                        <a:spcAft>
                          <a:spcPts val="0"/>
                        </a:spcAft>
                      </a:pPr>
                      <a:r>
                        <a:rPr lang="zh-CN" altLang="en-US" sz="1400" kern="100" dirty="0" smtClean="0">
                          <a:effectLst/>
                        </a:rPr>
                        <a:t>匹配所有，任何路由</a:t>
                      </a:r>
                      <a:endParaRPr lang="zh-CN" sz="1400" kern="100" dirty="0">
                        <a:effectLst/>
                        <a:latin typeface="+mn-lt"/>
                        <a:ea typeface="+mn-ea"/>
                        <a:cs typeface="Times New Roman"/>
                      </a:endParaRPr>
                    </a:p>
                  </a:txBody>
                  <a:tcPr anchor="ctr"/>
                </a:tc>
              </a:tr>
              <a:tr h="35203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kern="100" dirty="0" smtClean="0">
                          <a:effectLst/>
                        </a:rPr>
                        <a:t>^10[012349]$</a:t>
                      </a:r>
                      <a:endParaRPr lang="zh-CN" altLang="zh-CN" sz="1600" b="1" kern="100" dirty="0" smtClean="0">
                        <a:solidFill>
                          <a:schemeClr val="bg1"/>
                        </a:solidFill>
                        <a:effectLst/>
                        <a:latin typeface="+mn-lt"/>
                        <a:ea typeface="+mn-ea"/>
                        <a:cs typeface="Times New Roman"/>
                      </a:endParaRPr>
                    </a:p>
                  </a:txBody>
                  <a:tcPr anchor="ctr"/>
                </a:tc>
                <a:tc>
                  <a:txBody>
                    <a:bodyPr/>
                    <a:lstStyle/>
                    <a:p>
                      <a:pPr indent="0" algn="l">
                        <a:lnSpc>
                          <a:spcPct val="100000"/>
                        </a:lnSpc>
                        <a:spcAft>
                          <a:spcPts val="0"/>
                        </a:spcAft>
                      </a:pPr>
                      <a:r>
                        <a:rPr lang="zh-CN" altLang="en-US" sz="1400" kern="100" dirty="0" smtClean="0">
                          <a:effectLst/>
                        </a:rPr>
                        <a:t>匹配</a:t>
                      </a:r>
                      <a:r>
                        <a:rPr lang="en-US" altLang="zh-CN" sz="1400" kern="100" dirty="0" smtClean="0">
                          <a:effectLst/>
                        </a:rPr>
                        <a:t>100</a:t>
                      </a:r>
                      <a:r>
                        <a:rPr lang="zh-CN" altLang="en-US" sz="1400" kern="100" dirty="0" smtClean="0">
                          <a:effectLst/>
                        </a:rPr>
                        <a:t>、</a:t>
                      </a:r>
                      <a:r>
                        <a:rPr lang="en-US" altLang="zh-CN" sz="1400" kern="100" dirty="0" smtClean="0">
                          <a:effectLst/>
                        </a:rPr>
                        <a:t>101</a:t>
                      </a:r>
                      <a:r>
                        <a:rPr lang="zh-CN" altLang="en-US" sz="1400" kern="100" dirty="0" smtClean="0">
                          <a:effectLst/>
                        </a:rPr>
                        <a:t>、</a:t>
                      </a:r>
                      <a:r>
                        <a:rPr lang="en-US" altLang="zh-CN" sz="1400" kern="100" dirty="0" smtClean="0">
                          <a:effectLst/>
                        </a:rPr>
                        <a:t>102</a:t>
                      </a:r>
                      <a:r>
                        <a:rPr lang="zh-CN" altLang="en-US" sz="1400" kern="100" dirty="0" smtClean="0">
                          <a:effectLst/>
                        </a:rPr>
                        <a:t>、</a:t>
                      </a:r>
                      <a:r>
                        <a:rPr lang="en-US" altLang="zh-CN" sz="1400" kern="100" dirty="0" smtClean="0">
                          <a:effectLst/>
                        </a:rPr>
                        <a:t>103</a:t>
                      </a:r>
                      <a:r>
                        <a:rPr lang="zh-CN" altLang="en-US" sz="1400" kern="100" dirty="0" smtClean="0">
                          <a:effectLst/>
                        </a:rPr>
                        <a:t>、</a:t>
                      </a:r>
                      <a:r>
                        <a:rPr lang="en-US" altLang="zh-CN" sz="1400" kern="100" dirty="0" smtClean="0">
                          <a:effectLst/>
                        </a:rPr>
                        <a:t>104</a:t>
                      </a:r>
                      <a:r>
                        <a:rPr lang="zh-CN" altLang="en-US" sz="1400" kern="100" dirty="0" smtClean="0">
                          <a:effectLst/>
                        </a:rPr>
                        <a:t>、</a:t>
                      </a:r>
                      <a:r>
                        <a:rPr lang="en-US" altLang="zh-CN" sz="1400" kern="100" dirty="0" smtClean="0">
                          <a:effectLst/>
                        </a:rPr>
                        <a:t>109</a:t>
                      </a:r>
                      <a:endParaRPr lang="zh-CN" sz="1400" kern="100" dirty="0">
                        <a:effectLst/>
                        <a:latin typeface="+mn-lt"/>
                        <a:ea typeface="+mn-ea"/>
                        <a:cs typeface="Times New Roman"/>
                      </a:endParaRPr>
                    </a:p>
                  </a:txBody>
                  <a:tcPr anchor="ctr"/>
                </a:tc>
              </a:tr>
              <a:tr h="35203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kern="100" dirty="0" smtClean="0">
                          <a:effectLst/>
                        </a:rPr>
                        <a:t>^10[^0-6]$</a:t>
                      </a:r>
                      <a:endParaRPr lang="zh-CN" altLang="zh-CN" sz="1600" b="1" kern="100" dirty="0" smtClean="0">
                        <a:solidFill>
                          <a:schemeClr val="bg1"/>
                        </a:solidFill>
                        <a:effectLst/>
                        <a:latin typeface="+mn-lt"/>
                        <a:ea typeface="+mn-ea"/>
                        <a:cs typeface="Times New Roman"/>
                      </a:endParaRPr>
                    </a:p>
                  </a:txBody>
                  <a:tcPr anchor="ctr"/>
                </a:tc>
                <a:tc>
                  <a:txBody>
                    <a:bodyPr/>
                    <a:lstStyle/>
                    <a:p>
                      <a:pPr indent="0" algn="l">
                        <a:lnSpc>
                          <a:spcPct val="100000"/>
                        </a:lnSpc>
                        <a:spcAft>
                          <a:spcPts val="0"/>
                        </a:spcAft>
                      </a:pPr>
                      <a:r>
                        <a:rPr lang="zh-CN" altLang="en-US" sz="1400" kern="100" dirty="0" smtClean="0">
                          <a:effectLst/>
                        </a:rPr>
                        <a:t>匹配除</a:t>
                      </a:r>
                      <a:r>
                        <a:rPr lang="en-US" altLang="zh-CN" sz="1400" kern="100" dirty="0" smtClean="0">
                          <a:effectLst/>
                        </a:rPr>
                        <a:t>100~106</a:t>
                      </a:r>
                      <a:r>
                        <a:rPr lang="zh-CN" altLang="en-US" sz="1400" kern="100" dirty="0" smtClean="0">
                          <a:effectLst/>
                        </a:rPr>
                        <a:t>以外的</a:t>
                      </a:r>
                      <a:r>
                        <a:rPr lang="en-US" altLang="zh-CN" sz="1400" kern="100" dirty="0" smtClean="0">
                          <a:effectLst/>
                        </a:rPr>
                        <a:t>AS_Path</a:t>
                      </a:r>
                      <a:endParaRPr lang="zh-CN" sz="1400" kern="100" dirty="0">
                        <a:effectLst/>
                        <a:latin typeface="+mn-lt"/>
                        <a:ea typeface="+mn-ea"/>
                        <a:cs typeface="Times New Roman"/>
                      </a:endParaRPr>
                    </a:p>
                  </a:txBody>
                  <a:tcPr anchor="ctr"/>
                </a:tc>
              </a:tr>
              <a:tr h="35203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kern="100" dirty="0" smtClean="0">
                          <a:effectLst/>
                        </a:rPr>
                        <a:t>^10.</a:t>
                      </a:r>
                      <a:endParaRPr lang="zh-CN" altLang="zh-CN" sz="1600" b="1" kern="100" dirty="0" smtClean="0">
                        <a:solidFill>
                          <a:schemeClr val="bg1"/>
                        </a:solidFill>
                        <a:effectLst/>
                        <a:latin typeface="+mn-lt"/>
                        <a:ea typeface="+mn-ea"/>
                        <a:cs typeface="Times New Roman"/>
                      </a:endParaRPr>
                    </a:p>
                  </a:txBody>
                  <a:tcPr anchor="ctr"/>
                </a:tc>
                <a:tc>
                  <a:txBody>
                    <a:bodyPr/>
                    <a:lstStyle/>
                    <a:p>
                      <a:pPr indent="0" algn="l">
                        <a:lnSpc>
                          <a:spcPct val="100000"/>
                        </a:lnSpc>
                        <a:spcAft>
                          <a:spcPts val="0"/>
                        </a:spcAft>
                      </a:pPr>
                      <a:r>
                        <a:rPr lang="zh-CN" altLang="en-US" sz="1400" kern="100" dirty="0" smtClean="0">
                          <a:effectLst/>
                        </a:rPr>
                        <a:t>匹配</a:t>
                      </a:r>
                      <a:r>
                        <a:rPr lang="en-US" altLang="zh-CN" sz="1400" kern="100" dirty="0" smtClean="0">
                          <a:effectLst/>
                        </a:rPr>
                        <a:t>100~109</a:t>
                      </a:r>
                      <a:r>
                        <a:rPr lang="zh-CN" altLang="en-US" sz="1400" kern="100" dirty="0" smtClean="0">
                          <a:effectLst/>
                        </a:rPr>
                        <a:t>，以及</a:t>
                      </a:r>
                      <a:r>
                        <a:rPr lang="en-US" altLang="zh-CN" sz="1400" kern="100" dirty="0" smtClean="0">
                          <a:effectLst/>
                        </a:rPr>
                        <a:t>10</a:t>
                      </a:r>
                      <a:endParaRPr lang="zh-CN" sz="1400" kern="100" dirty="0">
                        <a:effectLst/>
                        <a:latin typeface="+mn-lt"/>
                        <a:ea typeface="+mn-ea"/>
                        <a:cs typeface="Times New Roman"/>
                      </a:endParaRPr>
                    </a:p>
                  </a:txBody>
                  <a:tcPr anchor="ctr"/>
                </a:tc>
              </a:tr>
              <a:tr h="35203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kern="100" dirty="0" smtClean="0">
                          <a:effectLst/>
                        </a:rPr>
                        <a:t>^12(_34)?_56$</a:t>
                      </a:r>
                      <a:endParaRPr lang="zh-CN" altLang="zh-CN" sz="1600" b="1" kern="100" dirty="0" smtClean="0">
                        <a:solidFill>
                          <a:schemeClr val="bg1"/>
                        </a:solidFill>
                        <a:effectLst/>
                        <a:latin typeface="+mn-lt"/>
                        <a:ea typeface="+mn-ea"/>
                        <a:cs typeface="Times New Roman"/>
                      </a:endParaRPr>
                    </a:p>
                  </a:txBody>
                  <a:tcPr anchor="ctr"/>
                </a:tc>
                <a:tc>
                  <a:txBody>
                    <a:bodyPr/>
                    <a:lstStyle/>
                    <a:p>
                      <a:pPr indent="0" algn="l">
                        <a:lnSpc>
                          <a:spcPct val="100000"/>
                        </a:lnSpc>
                        <a:spcAft>
                          <a:spcPts val="0"/>
                        </a:spcAft>
                      </a:pPr>
                      <a:r>
                        <a:rPr lang="zh-CN" altLang="en-US" sz="1400" kern="100" dirty="0" smtClean="0">
                          <a:effectLst/>
                        </a:rPr>
                        <a:t>匹配</a:t>
                      </a:r>
                      <a:r>
                        <a:rPr lang="en-US" altLang="zh-CN" sz="1400" kern="100" dirty="0" smtClean="0">
                          <a:effectLst/>
                        </a:rPr>
                        <a:t>12 56</a:t>
                      </a:r>
                      <a:r>
                        <a:rPr lang="zh-CN" altLang="en-US" sz="1400" kern="100" dirty="0" smtClean="0">
                          <a:effectLst/>
                        </a:rPr>
                        <a:t>，及</a:t>
                      </a:r>
                      <a:r>
                        <a:rPr lang="en-US" altLang="zh-CN" sz="1400" kern="100" dirty="0" smtClean="0">
                          <a:effectLst/>
                        </a:rPr>
                        <a:t>12 34 56</a:t>
                      </a:r>
                      <a:endParaRPr lang="zh-CN" sz="1400" kern="100" dirty="0">
                        <a:effectLst/>
                        <a:latin typeface="+mn-lt"/>
                        <a:ea typeface="+mn-ea"/>
                        <a:cs typeface="Times New Roman"/>
                      </a:endParaRPr>
                    </a:p>
                  </a:txBody>
                  <a:tcPr anchor="ctr"/>
                </a:tc>
              </a:tr>
            </a:tbl>
          </a:graphicData>
        </a:graphic>
      </p:graphicFrame>
      <p:sp>
        <p:nvSpPr>
          <p:cNvPr id="37" name="文本占位符 43"/>
          <p:cNvSpPr txBox="1">
            <a:spLocks/>
          </p:cNvSpPr>
          <p:nvPr/>
        </p:nvSpPr>
        <p:spPr bwMode="gray">
          <a:xfrm>
            <a:off x="468317" y="3594647"/>
            <a:ext cx="5627683" cy="492264"/>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2000" dirty="0" smtClean="0"/>
              <a:t>其他举例：</a:t>
            </a:r>
            <a:endParaRPr lang="en-US" altLang="zh-CN" sz="2000" dirty="0" smtClean="0"/>
          </a:p>
        </p:txBody>
      </p:sp>
      <p:sp>
        <p:nvSpPr>
          <p:cNvPr id="34" name="五边形 33"/>
          <p:cNvSpPr/>
          <p:nvPr/>
        </p:nvSpPr>
        <p:spPr bwMode="auto">
          <a:xfrm>
            <a:off x="8335082" y="100861"/>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41" name="燕尾形 40"/>
          <p:cNvSpPr/>
          <p:nvPr/>
        </p:nvSpPr>
        <p:spPr bwMode="auto">
          <a:xfrm>
            <a:off x="9029654" y="100861"/>
            <a:ext cx="126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AS_Path Filter</a:t>
            </a:r>
          </a:p>
        </p:txBody>
      </p:sp>
      <p:sp>
        <p:nvSpPr>
          <p:cNvPr id="42" name="燕尾形 41"/>
          <p:cNvSpPr/>
          <p:nvPr/>
        </p:nvSpPr>
        <p:spPr bwMode="auto">
          <a:xfrm>
            <a:off x="10203025" y="100861"/>
            <a:ext cx="154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Community Filter</a:t>
            </a:r>
          </a:p>
        </p:txBody>
      </p:sp>
      <p:sp>
        <p:nvSpPr>
          <p:cNvPr id="43" name="Rectangular Callout 115"/>
          <p:cNvSpPr/>
          <p:nvPr/>
        </p:nvSpPr>
        <p:spPr bwMode="gray">
          <a:xfrm>
            <a:off x="7278802" y="5290543"/>
            <a:ext cx="4286894" cy="882097"/>
          </a:xfrm>
          <a:prstGeom prst="rect">
            <a:avLst/>
          </a:prstGeom>
          <a:solidFill>
            <a:srgbClr val="F5FCFD"/>
          </a:solidFill>
          <a:ln w="19050">
            <a:solidFill>
              <a:srgbClr val="94DAE2"/>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rPr>
              <a:t>针对不同的需求，可以用正字表达式匹配，如：</a:t>
            </a:r>
            <a:r>
              <a:rPr lang="en-US" altLang="zh-CN" sz="1600" dirty="0">
                <a:solidFill>
                  <a:schemeClr val="tx1"/>
                </a:solidFill>
              </a:rPr>
              <a:t>^101$</a:t>
            </a:r>
            <a:r>
              <a:rPr lang="zh-CN" altLang="en-US" sz="1600" dirty="0">
                <a:solidFill>
                  <a:schemeClr val="tx1"/>
                </a:solidFill>
              </a:rPr>
              <a:t>（匹配</a:t>
            </a:r>
            <a:r>
              <a:rPr lang="en-US" altLang="zh-CN" sz="1600">
                <a:solidFill>
                  <a:schemeClr val="tx1"/>
                </a:solidFill>
              </a:rPr>
              <a:t>AS101</a:t>
            </a:r>
            <a:r>
              <a:rPr lang="zh-CN" altLang="en-US" sz="1600" smtClean="0">
                <a:solidFill>
                  <a:schemeClr val="tx1"/>
                </a:solidFill>
              </a:rPr>
              <a:t>）</a:t>
            </a:r>
            <a:endParaRPr lang="en-US" altLang="zh-CN" sz="1600" dirty="0">
              <a:solidFill>
                <a:schemeClr val="tx1"/>
              </a:solidFill>
            </a:endParaRPr>
          </a:p>
          <a:p>
            <a:r>
              <a:rPr lang="en-US" altLang="zh-CN" sz="1600" dirty="0">
                <a:solidFill>
                  <a:schemeClr val="tx1"/>
                </a:solidFill>
              </a:rPr>
              <a:t>_101$</a:t>
            </a:r>
            <a:r>
              <a:rPr lang="zh-CN" altLang="en-US" sz="1600" dirty="0">
                <a:solidFill>
                  <a:schemeClr val="tx1"/>
                </a:solidFill>
              </a:rPr>
              <a:t>（匹配以</a:t>
            </a:r>
            <a:r>
              <a:rPr lang="en-US" altLang="zh-CN" sz="1600" dirty="0">
                <a:solidFill>
                  <a:schemeClr val="tx1"/>
                </a:solidFill>
              </a:rPr>
              <a:t>AS101</a:t>
            </a:r>
            <a:r>
              <a:rPr lang="zh-CN" altLang="en-US" sz="1600" dirty="0">
                <a:solidFill>
                  <a:schemeClr val="tx1"/>
                </a:solidFill>
              </a:rPr>
              <a:t>结束的</a:t>
            </a:r>
            <a:r>
              <a:rPr lang="en-US" altLang="zh-CN" sz="1600" dirty="0">
                <a:solidFill>
                  <a:schemeClr val="tx1"/>
                </a:solidFill>
              </a:rPr>
              <a:t>AS_Path</a:t>
            </a:r>
            <a:r>
              <a:rPr lang="zh-CN" altLang="en-US" sz="1600" dirty="0">
                <a:solidFill>
                  <a:schemeClr val="tx1"/>
                </a:solidFill>
              </a:rPr>
              <a:t>）</a:t>
            </a:r>
          </a:p>
        </p:txBody>
      </p:sp>
      <p:grpSp>
        <p:nvGrpSpPr>
          <p:cNvPr id="45" name="组合 44"/>
          <p:cNvGrpSpPr/>
          <p:nvPr/>
        </p:nvGrpSpPr>
        <p:grpSpPr bwMode="gray">
          <a:xfrm>
            <a:off x="7277388" y="1131439"/>
            <a:ext cx="4288308" cy="3924179"/>
            <a:chOff x="7457606" y="1340548"/>
            <a:chExt cx="4288308" cy="3924179"/>
          </a:xfrm>
        </p:grpSpPr>
        <p:sp>
          <p:nvSpPr>
            <p:cNvPr id="55" name="任意多边形 25"/>
            <p:cNvSpPr/>
            <p:nvPr/>
          </p:nvSpPr>
          <p:spPr bwMode="gray">
            <a:xfrm>
              <a:off x="10578082" y="1975416"/>
              <a:ext cx="1167832" cy="1098555"/>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94DAE2"/>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sym typeface="Huawei Sans" panose="020C0503030203020204" pitchFamily="34" charset="0"/>
              </a:endParaRPr>
            </a:p>
          </p:txBody>
        </p:sp>
        <p:sp>
          <p:nvSpPr>
            <p:cNvPr id="57" name="TextBox 120">
              <a:extLst>
                <a:ext uri="{FF2B5EF4-FFF2-40B4-BE49-F238E27FC236}">
                  <a16:creationId xmlns="" xmlns:a16="http://schemas.microsoft.com/office/drawing/2014/main" id="{020D7A1D-EFAD-4C8C-B9DE-D0FAD269B77A}"/>
                </a:ext>
              </a:extLst>
            </p:cNvPr>
            <p:cNvSpPr txBox="1"/>
            <p:nvPr/>
          </p:nvSpPr>
          <p:spPr bwMode="gray">
            <a:xfrm>
              <a:off x="10577683" y="1970957"/>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104</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8" name="直接连接符 57"/>
            <p:cNvCxnSpPr>
              <a:endCxn id="59" idx="1"/>
            </p:cNvCxnSpPr>
            <p:nvPr/>
          </p:nvCxnSpPr>
          <p:spPr bwMode="gray">
            <a:xfrm>
              <a:off x="7578436" y="2717281"/>
              <a:ext cx="341279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9" name="图片 58"/>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0991229" y="2495881"/>
              <a:ext cx="540000" cy="442800"/>
            </a:xfrm>
            <a:prstGeom prst="rect">
              <a:avLst/>
            </a:prstGeom>
          </p:spPr>
        </p:pic>
        <p:cxnSp>
          <p:nvCxnSpPr>
            <p:cNvPr id="60" name="直接连接符 55"/>
            <p:cNvCxnSpPr/>
            <p:nvPr/>
          </p:nvCxnSpPr>
          <p:spPr bwMode="gray">
            <a:xfrm flipH="1">
              <a:off x="7578436" y="2548446"/>
              <a:ext cx="3356377" cy="0"/>
            </a:xfrm>
            <a:prstGeom prst="line">
              <a:avLst/>
            </a:prstGeom>
            <a:solidFill>
              <a:schemeClr val="accent1"/>
            </a:solidFill>
            <a:ln w="38100" cap="flat" cmpd="sng" algn="ctr">
              <a:solidFill>
                <a:schemeClr val="tx1"/>
              </a:solidFill>
              <a:prstDash val="dash"/>
              <a:round/>
              <a:headEnd type="triangle" w="med" len="med"/>
              <a:tailEnd type="none" w="med" len="med"/>
            </a:ln>
            <a:effectLst/>
          </p:spPr>
        </p:cxnSp>
        <p:sp>
          <p:nvSpPr>
            <p:cNvPr id="61" name="Rectangular Callout 115"/>
            <p:cNvSpPr/>
            <p:nvPr/>
          </p:nvSpPr>
          <p:spPr bwMode="gray">
            <a:xfrm>
              <a:off x="7457606" y="1340548"/>
              <a:ext cx="3192484" cy="1197950"/>
            </a:xfrm>
            <a:prstGeom prst="rect">
              <a:avLst/>
            </a:prstGeom>
            <a:noFill/>
            <a:ln w="19050">
              <a:no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b="1" dirty="0" smtClean="0">
                  <a:solidFill>
                    <a:schemeClr val="tx1"/>
                  </a:solidFill>
                </a:rPr>
                <a:t>Route</a:t>
              </a:r>
            </a:p>
            <a:p>
              <a:r>
                <a:rPr lang="en-US" altLang="zh-CN" sz="1400" dirty="0" smtClean="0">
                  <a:solidFill>
                    <a:schemeClr val="tx1"/>
                  </a:solidFill>
                </a:rPr>
                <a:t>10.1.12.0/24  AS_Path=103 102 101</a:t>
              </a:r>
            </a:p>
            <a:p>
              <a:r>
                <a:rPr lang="en-US" altLang="zh-CN" sz="1400" dirty="0" smtClean="0">
                  <a:solidFill>
                    <a:schemeClr val="tx1"/>
                  </a:solidFill>
                </a:rPr>
                <a:t>10.1.15.0/24  AS_Path=103 105 101</a:t>
              </a:r>
            </a:p>
            <a:p>
              <a:r>
                <a:rPr lang="en-US" altLang="zh-CN" sz="1400" dirty="0" smtClean="0">
                  <a:solidFill>
                    <a:schemeClr val="tx1"/>
                  </a:solidFill>
                </a:rPr>
                <a:t>10.1.78.0/24  AS_Path=103 107 108</a:t>
              </a:r>
            </a:p>
            <a:p>
              <a:r>
                <a:rPr lang="en-US" altLang="zh-CN" sz="1400" dirty="0" smtClean="0">
                  <a:solidFill>
                    <a:schemeClr val="tx1"/>
                  </a:solidFill>
                </a:rPr>
                <a:t>……</a:t>
              </a:r>
              <a:endParaRPr lang="zh-CN" altLang="en-US" sz="1400" dirty="0">
                <a:solidFill>
                  <a:schemeClr val="tx1"/>
                </a:solidFill>
              </a:endParaRPr>
            </a:p>
          </p:txBody>
        </p:sp>
        <p:sp>
          <p:nvSpPr>
            <p:cNvPr id="62" name="Rectangular Callout 115"/>
            <p:cNvSpPr/>
            <p:nvPr/>
          </p:nvSpPr>
          <p:spPr bwMode="gray">
            <a:xfrm>
              <a:off x="7457606" y="3449852"/>
              <a:ext cx="4288308" cy="1814875"/>
            </a:xfrm>
            <a:prstGeom prst="roundRect">
              <a:avLst>
                <a:gd name="adj" fmla="val 2194"/>
              </a:avLst>
            </a:prstGeom>
            <a:solidFill>
              <a:srgbClr val="FFFBEF"/>
            </a:solidFill>
            <a:ln w="19050">
              <a:solidFill>
                <a:srgbClr val="FDD35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30000"/>
                </a:lnSpc>
              </a:pPr>
              <a:r>
                <a:rPr lang="en-US" altLang="zh-CN" sz="1400" dirty="0">
                  <a:solidFill>
                    <a:schemeClr val="tx1"/>
                  </a:solidFill>
                </a:rPr>
                <a:t>R1</a:t>
              </a:r>
              <a:r>
                <a:rPr lang="zh-CN" altLang="en-US" sz="1400" dirty="0">
                  <a:solidFill>
                    <a:schemeClr val="tx1"/>
                  </a:solidFill>
                </a:rPr>
                <a:t>收到许多</a:t>
              </a:r>
              <a:r>
                <a:rPr lang="en-US" altLang="zh-CN" sz="1400" dirty="0">
                  <a:solidFill>
                    <a:schemeClr val="tx1"/>
                  </a:solidFill>
                </a:rPr>
                <a:t>BGP</a:t>
              </a:r>
              <a:r>
                <a:rPr lang="zh-CN" altLang="en-US" sz="1400" dirty="0" smtClean="0">
                  <a:solidFill>
                    <a:schemeClr val="tx1"/>
                  </a:solidFill>
                </a:rPr>
                <a:t>路由前缀，这些前缀都</a:t>
              </a:r>
              <a:r>
                <a:rPr lang="zh-CN" altLang="en-US" sz="1400" dirty="0">
                  <a:solidFill>
                    <a:schemeClr val="tx1"/>
                  </a:solidFill>
                </a:rPr>
                <a:t>有各自的</a:t>
              </a:r>
              <a:r>
                <a:rPr lang="en-US" altLang="zh-CN" sz="1400" dirty="0">
                  <a:solidFill>
                    <a:schemeClr val="tx1"/>
                  </a:solidFill>
                </a:rPr>
                <a:t>AS_Path</a:t>
              </a:r>
              <a:r>
                <a:rPr lang="zh-CN" altLang="en-US" sz="1400" dirty="0">
                  <a:solidFill>
                    <a:schemeClr val="tx1"/>
                  </a:solidFill>
                </a:rPr>
                <a:t>属性值</a:t>
              </a:r>
              <a:r>
                <a:rPr lang="zh-CN" altLang="en-US" sz="1400" dirty="0" smtClean="0">
                  <a:solidFill>
                    <a:schemeClr val="tx1"/>
                  </a:solidFill>
                </a:rPr>
                <a:t>。</a:t>
              </a:r>
              <a:endParaRPr lang="en-US" altLang="zh-CN" sz="1400" dirty="0" smtClean="0">
                <a:solidFill>
                  <a:schemeClr val="tx1"/>
                </a:solidFill>
              </a:endParaRPr>
            </a:p>
            <a:p>
              <a:pPr>
                <a:lnSpc>
                  <a:spcPct val="130000"/>
                </a:lnSpc>
              </a:pPr>
              <a:r>
                <a:rPr lang="zh-CN" altLang="en-US" sz="1400" dirty="0" smtClean="0">
                  <a:solidFill>
                    <a:schemeClr val="tx1"/>
                  </a:solidFill>
                </a:rPr>
                <a:t>现在</a:t>
              </a:r>
              <a:r>
                <a:rPr lang="zh-CN" altLang="en-US" sz="1400" dirty="0">
                  <a:solidFill>
                    <a:schemeClr val="tx1"/>
                  </a:solidFill>
                </a:rPr>
                <a:t>基于某种需求，</a:t>
              </a:r>
              <a:r>
                <a:rPr lang="en-US" altLang="zh-CN" sz="1400" dirty="0">
                  <a:solidFill>
                    <a:schemeClr val="tx1"/>
                  </a:solidFill>
                </a:rPr>
                <a:t>R1</a:t>
              </a:r>
              <a:r>
                <a:rPr lang="zh-CN" altLang="en-US" sz="1400" dirty="0">
                  <a:solidFill>
                    <a:schemeClr val="tx1"/>
                  </a:solidFill>
                </a:rPr>
                <a:t>需要针对</a:t>
              </a:r>
              <a:r>
                <a:rPr lang="en-US" altLang="zh-CN" sz="1400" dirty="0">
                  <a:solidFill>
                    <a:schemeClr val="tx1"/>
                  </a:solidFill>
                </a:rPr>
                <a:t>AS_Path</a:t>
              </a:r>
              <a:r>
                <a:rPr lang="zh-CN" altLang="en-US" sz="1400" dirty="0">
                  <a:solidFill>
                    <a:schemeClr val="tx1"/>
                  </a:solidFill>
                </a:rPr>
                <a:t>中包含“</a:t>
              </a:r>
              <a:r>
                <a:rPr lang="en-US" altLang="zh-CN" sz="1400" dirty="0" smtClean="0">
                  <a:solidFill>
                    <a:srgbClr val="C7000B"/>
                  </a:solidFill>
                </a:rPr>
                <a:t>101</a:t>
              </a:r>
              <a:r>
                <a:rPr lang="zh-CN" altLang="en-US" sz="1400" dirty="0" smtClean="0">
                  <a:solidFill>
                    <a:schemeClr val="tx1"/>
                  </a:solidFill>
                </a:rPr>
                <a:t>”的</a:t>
              </a:r>
              <a:r>
                <a:rPr lang="en-US" altLang="zh-CN" sz="1400" dirty="0">
                  <a:solidFill>
                    <a:schemeClr val="tx1"/>
                  </a:solidFill>
                </a:rPr>
                <a:t>AS</a:t>
              </a:r>
              <a:r>
                <a:rPr lang="zh-CN" altLang="en-US" sz="1400" dirty="0">
                  <a:solidFill>
                    <a:schemeClr val="tx1"/>
                  </a:solidFill>
                </a:rPr>
                <a:t>号的路由</a:t>
              </a:r>
              <a:r>
                <a:rPr lang="zh-CN" altLang="en-US" sz="1400" dirty="0" smtClean="0">
                  <a:solidFill>
                    <a:schemeClr val="tx1"/>
                  </a:solidFill>
                </a:rPr>
                <a:t>执行策略</a:t>
              </a:r>
              <a:r>
                <a:rPr lang="zh-CN" altLang="en-US" sz="1400" dirty="0">
                  <a:solidFill>
                    <a:schemeClr val="tx1"/>
                  </a:solidFill>
                </a:rPr>
                <a:t>，那么就可以</a:t>
              </a:r>
              <a:r>
                <a:rPr lang="zh-CN" altLang="en-US" sz="1400" dirty="0" smtClean="0">
                  <a:solidFill>
                    <a:schemeClr val="tx1"/>
                  </a:solidFill>
                </a:rPr>
                <a:t>用</a:t>
              </a:r>
              <a:r>
                <a:rPr lang="en-US" altLang="zh-CN" sz="1400" dirty="0" err="1" smtClean="0">
                  <a:solidFill>
                    <a:schemeClr val="tx1"/>
                  </a:solidFill>
                </a:rPr>
                <a:t>As_Path</a:t>
              </a:r>
              <a:r>
                <a:rPr lang="en-US" altLang="zh-CN" sz="1400" dirty="0">
                  <a:solidFill>
                    <a:schemeClr val="tx1"/>
                  </a:solidFill>
                </a:rPr>
                <a:t> </a:t>
              </a:r>
              <a:r>
                <a:rPr lang="en-US" altLang="zh-CN" sz="1400" dirty="0" smtClean="0">
                  <a:solidFill>
                    <a:schemeClr val="tx1"/>
                  </a:solidFill>
                </a:rPr>
                <a:t>Filter</a:t>
              </a:r>
              <a:r>
                <a:rPr lang="zh-CN" altLang="en-US" sz="1400" dirty="0">
                  <a:solidFill>
                    <a:schemeClr val="tx1"/>
                  </a:solidFill>
                </a:rPr>
                <a:t>工具关联正则表达式来匹配路由，而不用关心具体的</a:t>
              </a:r>
              <a:r>
                <a:rPr lang="zh-CN" altLang="en-US" sz="1400" dirty="0" smtClean="0">
                  <a:solidFill>
                    <a:schemeClr val="tx1"/>
                  </a:solidFill>
                </a:rPr>
                <a:t>路由前缀。</a:t>
              </a:r>
              <a:endParaRPr lang="zh-CN" altLang="en-US" sz="1400" dirty="0">
                <a:solidFill>
                  <a:schemeClr val="tx1"/>
                </a:solidFill>
              </a:endParaRPr>
            </a:p>
          </p:txBody>
        </p:sp>
        <p:cxnSp>
          <p:nvCxnSpPr>
            <p:cNvPr id="63" name="直接箭头连接符 62"/>
            <p:cNvCxnSpPr/>
            <p:nvPr/>
          </p:nvCxnSpPr>
          <p:spPr bwMode="gray">
            <a:xfrm flipV="1">
              <a:off x="11258713" y="2938681"/>
              <a:ext cx="0" cy="511171"/>
            </a:xfrm>
            <a:prstGeom prst="straightConnector1">
              <a:avLst/>
            </a:prstGeom>
            <a:ln w="19050">
              <a:solidFill>
                <a:srgbClr val="FFD17D"/>
              </a:solidFill>
              <a:tailEnd type="triangle"/>
            </a:ln>
          </p:spPr>
          <p:style>
            <a:lnRef idx="1">
              <a:schemeClr val="accent1"/>
            </a:lnRef>
            <a:fillRef idx="0">
              <a:schemeClr val="accent1"/>
            </a:fillRef>
            <a:effectRef idx="0">
              <a:schemeClr val="accent1"/>
            </a:effectRef>
            <a:fontRef idx="minor">
              <a:schemeClr val="tx1"/>
            </a:fontRef>
          </p:style>
        </p:cxnSp>
        <p:sp>
          <p:nvSpPr>
            <p:cNvPr id="66" name="TextBox 120">
              <a:extLst>
                <a:ext uri="{FF2B5EF4-FFF2-40B4-BE49-F238E27FC236}">
                  <a16:creationId xmlns="" xmlns:a16="http://schemas.microsoft.com/office/drawing/2014/main" id="{020D7A1D-EFAD-4C8C-B9DE-D0FAD269B77A}"/>
                </a:ext>
              </a:extLst>
            </p:cNvPr>
            <p:cNvSpPr txBox="1"/>
            <p:nvPr/>
          </p:nvSpPr>
          <p:spPr bwMode="gray">
            <a:xfrm>
              <a:off x="10847683" y="2240669"/>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67" name="下箭头 63"/>
          <p:cNvSpPr/>
          <p:nvPr/>
        </p:nvSpPr>
        <p:spPr bwMode="gray">
          <a:xfrm rot="10800000" flipV="1">
            <a:off x="9006660" y="5055618"/>
            <a:ext cx="829759" cy="234925"/>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BEE9EE"/>
              </a:gs>
              <a:gs pos="100000">
                <a:schemeClr val="bg1">
                  <a:alpha val="0"/>
                </a:schemeClr>
              </a:gs>
            </a:gsLst>
            <a:lin ang="16200000" scaled="1"/>
            <a:tileRect/>
          </a:gradFill>
          <a:ln w="19050">
            <a:gradFill flip="none" rotWithShape="1">
              <a:gsLst>
                <a:gs pos="100000">
                  <a:schemeClr val="bg1">
                    <a:lumMod val="100000"/>
                    <a:alpha val="0"/>
                  </a:schemeClr>
                </a:gs>
                <a:gs pos="31000">
                  <a:srgbClr val="94DAE2"/>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937116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43" grpId="0" animBg="1"/>
      <p:bldP spid="6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AS_Path Filter</a:t>
            </a:r>
            <a:r>
              <a:rPr lang="zh-CN" altLang="en-US" smtClean="0"/>
              <a:t>的基础配置命令</a:t>
            </a:r>
            <a:endParaRPr lang="zh-CN" altLang="en-US" dirty="0"/>
          </a:p>
        </p:txBody>
      </p:sp>
      <p:sp>
        <p:nvSpPr>
          <p:cNvPr id="4" name="矩形 3"/>
          <p:cNvSpPr/>
          <p:nvPr/>
        </p:nvSpPr>
        <p:spPr>
          <a:xfrm>
            <a:off x="1031917" y="1673634"/>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cs typeface="Courier New" panose="02070309020205020404" pitchFamily="49" charset="0"/>
              </a:rPr>
              <a:t>[Huawei] </a:t>
            </a:r>
            <a:r>
              <a:rPr lang="en-US" altLang="zh-CN" sz="1600" b="1" dirty="0"/>
              <a:t>ip as-path-filter</a:t>
            </a:r>
            <a:r>
              <a:rPr lang="en-US" altLang="zh-CN" sz="1600" dirty="0"/>
              <a:t> { </a:t>
            </a:r>
            <a:r>
              <a:rPr lang="en-US" altLang="zh-CN" sz="1600" i="1" dirty="0"/>
              <a:t>as-path-filter-number</a:t>
            </a:r>
            <a:r>
              <a:rPr lang="en-US" altLang="zh-CN" sz="1600" dirty="0"/>
              <a:t> | </a:t>
            </a:r>
            <a:r>
              <a:rPr lang="en-US" altLang="zh-CN" sz="1600" i="1" dirty="0"/>
              <a:t>as-path-filter-name</a:t>
            </a:r>
            <a:r>
              <a:rPr lang="en-US" altLang="zh-CN" sz="1600" dirty="0"/>
              <a:t> } { </a:t>
            </a:r>
            <a:r>
              <a:rPr lang="en-US" altLang="zh-CN" sz="1600" b="1" dirty="0"/>
              <a:t>deny</a:t>
            </a:r>
            <a:r>
              <a:rPr lang="en-US" altLang="zh-CN" sz="1600" dirty="0"/>
              <a:t> | </a:t>
            </a:r>
            <a:r>
              <a:rPr lang="en-US" altLang="zh-CN" sz="1600" b="1" dirty="0"/>
              <a:t>permit</a:t>
            </a:r>
            <a:r>
              <a:rPr lang="en-US" altLang="zh-CN" sz="1600" dirty="0"/>
              <a:t> } </a:t>
            </a:r>
            <a:r>
              <a:rPr lang="en-US" altLang="zh-CN" sz="1600" i="1" dirty="0"/>
              <a:t>regular-expression</a:t>
            </a:r>
            <a:endParaRPr lang="zh-CN" altLang="en-US" sz="1600" dirty="0">
              <a:cs typeface="Courier New" panose="02070309020205020404" pitchFamily="49" charset="0"/>
            </a:endParaRPr>
          </a:p>
        </p:txBody>
      </p:sp>
      <p:sp>
        <p:nvSpPr>
          <p:cNvPr id="5" name="矩形 4"/>
          <p:cNvSpPr/>
          <p:nvPr/>
        </p:nvSpPr>
        <p:spPr>
          <a:xfrm>
            <a:off x="551384" y="1241487"/>
            <a:ext cx="11089232" cy="338554"/>
          </a:xfrm>
          <a:prstGeom prst="rect">
            <a:avLst/>
          </a:prstGeom>
        </p:spPr>
        <p:txBody>
          <a:bodyPr wrap="square">
            <a:spAutoFit/>
          </a:bodyPr>
          <a:lstStyle/>
          <a:p>
            <a:pPr marL="342900" indent="-342900" fontAlgn="auto">
              <a:buFont typeface="+mj-lt"/>
              <a:buAutoNum type="arabicPeriod"/>
            </a:pPr>
            <a:r>
              <a:rPr lang="zh-CN" altLang="en-US" sz="1600" dirty="0" smtClean="0">
                <a:cs typeface="Courier New" panose="02070309020205020404" pitchFamily="49" charset="0"/>
              </a:rPr>
              <a:t>创建</a:t>
            </a:r>
            <a:r>
              <a:rPr lang="en-US" altLang="zh-CN" sz="1600" dirty="0" err="1">
                <a:cs typeface="Courier New" panose="02070309020205020404" pitchFamily="49" charset="0"/>
              </a:rPr>
              <a:t>AS_Path</a:t>
            </a:r>
            <a:r>
              <a:rPr lang="en-US" altLang="zh-CN" sz="1600" dirty="0">
                <a:cs typeface="Courier New" panose="02070309020205020404" pitchFamily="49" charset="0"/>
              </a:rPr>
              <a:t> </a:t>
            </a:r>
            <a:r>
              <a:rPr lang="en-US" altLang="zh-CN" sz="1600" dirty="0" smtClean="0">
                <a:cs typeface="Courier New" panose="02070309020205020404" pitchFamily="49" charset="0"/>
              </a:rPr>
              <a:t>Filter</a:t>
            </a:r>
            <a:r>
              <a:rPr lang="zh-CN" altLang="en-US" sz="1600" dirty="0" smtClean="0">
                <a:cs typeface="Courier New" panose="02070309020205020404" pitchFamily="49" charset="0"/>
              </a:rPr>
              <a:t>。</a:t>
            </a:r>
            <a:endParaRPr lang="zh-CN" altLang="en-US" sz="1600" dirty="0">
              <a:cs typeface="Courier New" panose="02070309020205020404" pitchFamily="49" charset="0"/>
            </a:endParaRPr>
          </a:p>
        </p:txBody>
      </p:sp>
      <p:sp>
        <p:nvSpPr>
          <p:cNvPr id="6" name="矩形 5"/>
          <p:cNvSpPr/>
          <p:nvPr/>
        </p:nvSpPr>
        <p:spPr>
          <a:xfrm>
            <a:off x="1031917" y="2026269"/>
            <a:ext cx="10608699" cy="707886"/>
          </a:xfrm>
          <a:prstGeom prst="rect">
            <a:avLst/>
          </a:prstGeom>
        </p:spPr>
        <p:txBody>
          <a:bodyPr wrap="square">
            <a:spAutoFit/>
          </a:bodyPr>
          <a:lstStyle/>
          <a:p>
            <a:pPr fontAlgn="auto">
              <a:lnSpc>
                <a:spcPts val="2400"/>
              </a:lnSpc>
            </a:pPr>
            <a:r>
              <a:rPr lang="en-US" altLang="zh-CN" sz="1600" dirty="0">
                <a:cs typeface="Courier New" panose="02070309020205020404" pitchFamily="49" charset="0"/>
              </a:rPr>
              <a:t>AS_Path Filter</a:t>
            </a:r>
            <a:r>
              <a:rPr lang="zh-CN" altLang="en-US" sz="1600" dirty="0" smtClean="0">
                <a:cs typeface="Courier New" panose="02070309020205020404" pitchFamily="49" charset="0"/>
              </a:rPr>
              <a:t>使用</a:t>
            </a:r>
            <a:r>
              <a:rPr lang="zh-CN" altLang="en-US" sz="1600" dirty="0">
                <a:cs typeface="Courier New" panose="02070309020205020404" pitchFamily="49" charset="0"/>
              </a:rPr>
              <a:t>正则表达式来定义匹配规则</a:t>
            </a:r>
            <a:r>
              <a:rPr lang="zh-CN" altLang="en-US" sz="1600" dirty="0" smtClean="0">
                <a:cs typeface="Courier New" panose="02070309020205020404" pitchFamily="49" charset="0"/>
              </a:rPr>
              <a:t>。</a:t>
            </a:r>
            <a:endParaRPr lang="en-US" altLang="zh-CN" sz="1600" dirty="0" smtClean="0">
              <a:cs typeface="Courier New" panose="02070309020205020404" pitchFamily="49" charset="0"/>
            </a:endParaRPr>
          </a:p>
          <a:p>
            <a:pPr fontAlgn="auto">
              <a:lnSpc>
                <a:spcPts val="2400"/>
              </a:lnSpc>
            </a:pPr>
            <a:r>
              <a:rPr lang="zh-CN" altLang="en-US" sz="1600" dirty="0" smtClean="0">
                <a:cs typeface="Courier New" panose="02070309020205020404" pitchFamily="49" charset="0"/>
              </a:rPr>
              <a:t>注意：</a:t>
            </a:r>
            <a:r>
              <a:rPr lang="en-US" altLang="zh-CN" sz="1600" dirty="0">
                <a:cs typeface="Courier New" panose="02070309020205020404" pitchFamily="49" charset="0"/>
              </a:rPr>
              <a:t>AS_Path Filter</a:t>
            </a:r>
            <a:r>
              <a:rPr lang="zh-CN" altLang="en-US" sz="1600" dirty="0" smtClean="0">
                <a:cs typeface="Courier New" panose="02070309020205020404" pitchFamily="49" charset="0"/>
              </a:rPr>
              <a:t>的</a:t>
            </a:r>
            <a:r>
              <a:rPr lang="zh-CN" altLang="en-US" sz="1600" dirty="0">
                <a:cs typeface="Courier New" panose="02070309020205020404" pitchFamily="49" charset="0"/>
              </a:rPr>
              <a:t>默认行为是</a:t>
            </a:r>
            <a:r>
              <a:rPr lang="en-US" altLang="zh-CN" sz="1600" b="1" dirty="0" smtClean="0">
                <a:cs typeface="Courier New" panose="02070309020205020404" pitchFamily="49" charset="0"/>
              </a:rPr>
              <a:t>deny</a:t>
            </a:r>
            <a:r>
              <a:rPr lang="zh-CN" altLang="en-US" sz="1600" dirty="0" smtClean="0">
                <a:cs typeface="Courier New" panose="02070309020205020404" pitchFamily="49" charset="0"/>
              </a:rPr>
              <a:t>。</a:t>
            </a:r>
            <a:endParaRPr lang="zh-CN" altLang="en-US" sz="1600" dirty="0">
              <a:cs typeface="Courier New" panose="02070309020205020404" pitchFamily="49" charset="0"/>
            </a:endParaRPr>
          </a:p>
        </p:txBody>
      </p:sp>
      <p:sp>
        <p:nvSpPr>
          <p:cNvPr id="20" name="矩形 19"/>
          <p:cNvSpPr/>
          <p:nvPr/>
        </p:nvSpPr>
        <p:spPr>
          <a:xfrm>
            <a:off x="1031917" y="3450919"/>
            <a:ext cx="10608699" cy="584775"/>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[Huawei-bgp-af-ipv4] </a:t>
            </a:r>
            <a:r>
              <a:rPr lang="en-US" altLang="zh-CN" sz="1600" b="1" dirty="0"/>
              <a:t>peer</a:t>
            </a:r>
            <a:r>
              <a:rPr lang="en-US" altLang="zh-CN" sz="1600" dirty="0"/>
              <a:t> { </a:t>
            </a:r>
            <a:r>
              <a:rPr lang="en-US" altLang="zh-CN" sz="1600" i="1" dirty="0"/>
              <a:t>group-name</a:t>
            </a:r>
            <a:r>
              <a:rPr lang="en-US" altLang="zh-CN" sz="1600" dirty="0"/>
              <a:t> | </a:t>
            </a:r>
            <a:r>
              <a:rPr lang="en-US" altLang="zh-CN" sz="1600" i="1" dirty="0"/>
              <a:t>ipv4-address</a:t>
            </a:r>
            <a:r>
              <a:rPr lang="en-US" altLang="zh-CN" sz="1600" dirty="0"/>
              <a:t> | </a:t>
            </a:r>
            <a:r>
              <a:rPr lang="en-US" altLang="zh-CN" sz="1600" i="1" dirty="0"/>
              <a:t>ipv6-address</a:t>
            </a:r>
            <a:r>
              <a:rPr lang="en-US" altLang="zh-CN" sz="1600" dirty="0"/>
              <a:t> } </a:t>
            </a:r>
            <a:r>
              <a:rPr lang="en-US" altLang="zh-CN" sz="1600" b="1" dirty="0"/>
              <a:t>as-path-filter</a:t>
            </a:r>
            <a:r>
              <a:rPr lang="en-US" altLang="zh-CN" sz="1600" dirty="0"/>
              <a:t> { </a:t>
            </a:r>
            <a:r>
              <a:rPr lang="en-US" altLang="zh-CN" sz="1600" i="1" dirty="0"/>
              <a:t>as-path-filter-number</a:t>
            </a:r>
            <a:r>
              <a:rPr lang="en-US" altLang="zh-CN" sz="1600" dirty="0"/>
              <a:t> | </a:t>
            </a:r>
            <a:r>
              <a:rPr lang="en-US" altLang="zh-CN" sz="1600" i="1" dirty="0"/>
              <a:t>as-path-filter-name</a:t>
            </a:r>
            <a:r>
              <a:rPr lang="en-US" altLang="zh-CN" sz="1600" dirty="0"/>
              <a:t> } { </a:t>
            </a:r>
            <a:r>
              <a:rPr lang="en-US" altLang="zh-CN" sz="1600" b="1" dirty="0"/>
              <a:t>import</a:t>
            </a:r>
            <a:r>
              <a:rPr lang="en-US" altLang="zh-CN" sz="1600" dirty="0"/>
              <a:t> | </a:t>
            </a:r>
            <a:r>
              <a:rPr lang="en-US" altLang="zh-CN" sz="1600" b="1" dirty="0"/>
              <a:t>export</a:t>
            </a:r>
            <a:r>
              <a:rPr lang="en-US" altLang="zh-CN" sz="1600" dirty="0"/>
              <a:t> </a:t>
            </a:r>
            <a:r>
              <a:rPr lang="en-US" altLang="zh-CN" sz="1600" dirty="0" smtClean="0"/>
              <a:t>}</a:t>
            </a:r>
            <a:endParaRPr lang="zh-CN" altLang="en-US" sz="1600" dirty="0">
              <a:cs typeface="Courier New" panose="02070309020205020404" pitchFamily="49" charset="0"/>
            </a:endParaRPr>
          </a:p>
        </p:txBody>
      </p:sp>
      <p:sp>
        <p:nvSpPr>
          <p:cNvPr id="21" name="矩形 20"/>
          <p:cNvSpPr/>
          <p:nvPr/>
        </p:nvSpPr>
        <p:spPr>
          <a:xfrm>
            <a:off x="551384" y="3018772"/>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cs typeface="Courier New" panose="02070309020205020404" pitchFamily="49" charset="0"/>
              </a:rPr>
              <a:t>应用</a:t>
            </a:r>
            <a:r>
              <a:rPr lang="en-US" altLang="zh-CN" sz="1600" dirty="0" err="1" smtClean="0">
                <a:cs typeface="Courier New" panose="02070309020205020404" pitchFamily="49" charset="0"/>
              </a:rPr>
              <a:t>AS_Path</a:t>
            </a:r>
            <a:r>
              <a:rPr lang="en-US" altLang="zh-CN" sz="1600" dirty="0" smtClean="0">
                <a:cs typeface="Courier New" panose="02070309020205020404" pitchFamily="49" charset="0"/>
              </a:rPr>
              <a:t> Filter</a:t>
            </a:r>
            <a:r>
              <a:rPr lang="zh-CN" altLang="en-US" sz="1600" dirty="0" smtClean="0">
                <a:cs typeface="Courier New" panose="02070309020205020404" pitchFamily="49" charset="0"/>
              </a:rPr>
              <a:t>。</a:t>
            </a:r>
            <a:endParaRPr lang="zh-CN" altLang="en-US" sz="1600" dirty="0">
              <a:cs typeface="Courier New" panose="02070309020205020404" pitchFamily="49" charset="0"/>
            </a:endParaRPr>
          </a:p>
        </p:txBody>
      </p:sp>
      <p:sp>
        <p:nvSpPr>
          <p:cNvPr id="22" name="矩形 21"/>
          <p:cNvSpPr/>
          <p:nvPr/>
        </p:nvSpPr>
        <p:spPr>
          <a:xfrm>
            <a:off x="1031917" y="4048725"/>
            <a:ext cx="10608699" cy="400110"/>
          </a:xfrm>
          <a:prstGeom prst="rect">
            <a:avLst/>
          </a:prstGeom>
        </p:spPr>
        <p:txBody>
          <a:bodyPr wrap="square">
            <a:spAutoFit/>
          </a:bodyPr>
          <a:lstStyle/>
          <a:p>
            <a:pPr fontAlgn="auto">
              <a:lnSpc>
                <a:spcPts val="2400"/>
              </a:lnSpc>
            </a:pPr>
            <a:r>
              <a:rPr lang="zh-CN" altLang="en-US" sz="1600" dirty="0" smtClean="0">
                <a:cs typeface="Courier New" panose="02070309020205020404" pitchFamily="49" charset="0"/>
              </a:rPr>
              <a:t>在</a:t>
            </a:r>
            <a:r>
              <a:rPr lang="en-US" altLang="zh-CN" sz="1600" dirty="0" smtClean="0">
                <a:cs typeface="Courier New" panose="02070309020205020404" pitchFamily="49" charset="0"/>
              </a:rPr>
              <a:t>BGP</a:t>
            </a:r>
            <a:r>
              <a:rPr lang="zh-CN" altLang="en-US" sz="1600" dirty="0" smtClean="0">
                <a:cs typeface="Courier New" panose="02070309020205020404" pitchFamily="49" charset="0"/>
              </a:rPr>
              <a:t>地址族视图下，对</a:t>
            </a:r>
            <a:r>
              <a:rPr lang="en-US" altLang="zh-CN" sz="1600" dirty="0">
                <a:cs typeface="Courier New" panose="02070309020205020404" pitchFamily="49" charset="0"/>
              </a:rPr>
              <a:t>BGP</a:t>
            </a:r>
            <a:r>
              <a:rPr lang="zh-CN" altLang="en-US" sz="1600" dirty="0">
                <a:cs typeface="Courier New" panose="02070309020205020404" pitchFamily="49" charset="0"/>
              </a:rPr>
              <a:t>路由信息应用路由策略时，</a:t>
            </a:r>
            <a:r>
              <a:rPr lang="zh-CN" altLang="en-US" sz="1600" dirty="0" smtClean="0">
                <a:cs typeface="Courier New" panose="02070309020205020404" pitchFamily="49" charset="0"/>
              </a:rPr>
              <a:t>基于</a:t>
            </a:r>
            <a:r>
              <a:rPr lang="en-US" altLang="zh-CN" sz="1600" dirty="0">
                <a:cs typeface="Courier New" panose="02070309020205020404" pitchFamily="49" charset="0"/>
              </a:rPr>
              <a:t>AS_Path Filter</a:t>
            </a:r>
            <a:r>
              <a:rPr lang="zh-CN" altLang="en-US" sz="1600" dirty="0" smtClean="0">
                <a:cs typeface="Courier New" panose="02070309020205020404" pitchFamily="49" charset="0"/>
              </a:rPr>
              <a:t>过滤</a:t>
            </a:r>
            <a:r>
              <a:rPr lang="zh-CN" altLang="en-US" sz="1600" dirty="0">
                <a:cs typeface="Courier New" panose="02070309020205020404" pitchFamily="49" charset="0"/>
              </a:rPr>
              <a:t>掉不符合条件的路由</a:t>
            </a:r>
            <a:r>
              <a:rPr lang="zh-CN" altLang="en-US" sz="1600" dirty="0" smtClean="0">
                <a:cs typeface="Courier New" panose="02070309020205020404" pitchFamily="49" charset="0"/>
              </a:rPr>
              <a:t>信息。</a:t>
            </a:r>
            <a:endParaRPr lang="zh-CN" altLang="en-US" sz="1600" dirty="0">
              <a:cs typeface="Courier New" panose="02070309020205020404" pitchFamily="49" charset="0"/>
            </a:endParaRPr>
          </a:p>
        </p:txBody>
      </p:sp>
      <p:sp>
        <p:nvSpPr>
          <p:cNvPr id="24" name="矩形 23"/>
          <p:cNvSpPr/>
          <p:nvPr/>
        </p:nvSpPr>
        <p:spPr>
          <a:xfrm>
            <a:off x="1031917" y="4900717"/>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[Huawei-route-policy] </a:t>
            </a:r>
            <a:r>
              <a:rPr lang="en-US" altLang="zh-CN" sz="1600" b="1" dirty="0"/>
              <a:t>if-match as-path-filter</a:t>
            </a:r>
            <a:r>
              <a:rPr lang="en-US" altLang="zh-CN" sz="1600" dirty="0"/>
              <a:t> { </a:t>
            </a:r>
            <a:r>
              <a:rPr lang="en-US" altLang="zh-CN" sz="1600" i="1" dirty="0" smtClean="0"/>
              <a:t>as-path-filter-number</a:t>
            </a:r>
            <a:r>
              <a:rPr lang="en-US" altLang="zh-CN" sz="1600" dirty="0" smtClean="0"/>
              <a:t> </a:t>
            </a:r>
            <a:r>
              <a:rPr lang="en-US" altLang="zh-CN" sz="1600" dirty="0"/>
              <a:t>| </a:t>
            </a:r>
            <a:r>
              <a:rPr lang="en-US" altLang="zh-CN" sz="1600" i="1" dirty="0"/>
              <a:t>as-path-filter-name</a:t>
            </a:r>
            <a:r>
              <a:rPr lang="en-US" altLang="zh-CN" sz="1600" dirty="0"/>
              <a:t> }</a:t>
            </a:r>
            <a:endParaRPr lang="zh-CN" altLang="en-US" sz="1600" dirty="0">
              <a:cs typeface="Courier New" panose="02070309020205020404" pitchFamily="49" charset="0"/>
            </a:endParaRPr>
          </a:p>
        </p:txBody>
      </p:sp>
      <p:sp>
        <p:nvSpPr>
          <p:cNvPr id="25" name="矩形 24"/>
          <p:cNvSpPr/>
          <p:nvPr/>
        </p:nvSpPr>
        <p:spPr>
          <a:xfrm>
            <a:off x="1031917" y="5252150"/>
            <a:ext cx="10608699" cy="400110"/>
          </a:xfrm>
          <a:prstGeom prst="rect">
            <a:avLst/>
          </a:prstGeom>
        </p:spPr>
        <p:txBody>
          <a:bodyPr wrap="square">
            <a:spAutoFit/>
          </a:bodyPr>
          <a:lstStyle/>
          <a:p>
            <a:pPr fontAlgn="auto">
              <a:lnSpc>
                <a:spcPts val="2400"/>
              </a:lnSpc>
            </a:pPr>
            <a:r>
              <a:rPr lang="zh-CN" altLang="en-US" sz="1600" dirty="0" smtClean="0">
                <a:cs typeface="Courier New" panose="02070309020205020404" pitchFamily="49" charset="0"/>
              </a:rPr>
              <a:t>在</a:t>
            </a:r>
            <a:r>
              <a:rPr lang="en-US" altLang="zh-CN" sz="1600" dirty="0" smtClean="0">
                <a:cs typeface="Courier New" panose="02070309020205020404" pitchFamily="49" charset="0"/>
              </a:rPr>
              <a:t>Route-Policy</a:t>
            </a:r>
            <a:r>
              <a:rPr lang="zh-CN" altLang="en-US" sz="1600" dirty="0" smtClean="0">
                <a:cs typeface="Courier New" panose="02070309020205020404" pitchFamily="49" charset="0"/>
              </a:rPr>
              <a:t>视图</a:t>
            </a:r>
            <a:r>
              <a:rPr lang="zh-CN" altLang="en-US" sz="1600" dirty="0">
                <a:cs typeface="Courier New" panose="02070309020205020404" pitchFamily="49" charset="0"/>
              </a:rPr>
              <a:t>下，创建一个</a:t>
            </a:r>
            <a:r>
              <a:rPr lang="zh-CN" altLang="en-US" sz="1600" dirty="0" smtClean="0">
                <a:cs typeface="Courier New" panose="02070309020205020404" pitchFamily="49" charset="0"/>
              </a:rPr>
              <a:t>基于</a:t>
            </a:r>
            <a:r>
              <a:rPr lang="en-US" altLang="zh-CN" sz="1600" dirty="0">
                <a:cs typeface="Courier New" panose="02070309020205020404" pitchFamily="49" charset="0"/>
              </a:rPr>
              <a:t>AS_Path Filter</a:t>
            </a:r>
            <a:r>
              <a:rPr lang="zh-CN" altLang="en-US" sz="1600" dirty="0" smtClean="0">
                <a:cs typeface="Courier New" panose="02070309020205020404" pitchFamily="49" charset="0"/>
              </a:rPr>
              <a:t>的</a:t>
            </a:r>
            <a:r>
              <a:rPr lang="zh-CN" altLang="en-US" sz="1600" dirty="0">
                <a:cs typeface="Courier New" panose="02070309020205020404" pitchFamily="49" charset="0"/>
              </a:rPr>
              <a:t>匹配</a:t>
            </a:r>
            <a:r>
              <a:rPr lang="zh-CN" altLang="en-US" sz="1600" dirty="0" smtClean="0">
                <a:cs typeface="Courier New" panose="02070309020205020404" pitchFamily="49" charset="0"/>
              </a:rPr>
              <a:t>规则。</a:t>
            </a:r>
            <a:endParaRPr lang="zh-CN" altLang="en-US" sz="1600" dirty="0">
              <a:cs typeface="Courier New" panose="02070309020205020404" pitchFamily="49" charset="0"/>
            </a:endParaRPr>
          </a:p>
        </p:txBody>
      </p:sp>
      <p:sp>
        <p:nvSpPr>
          <p:cNvPr id="15" name="五边形 14"/>
          <p:cNvSpPr/>
          <p:nvPr/>
        </p:nvSpPr>
        <p:spPr bwMode="auto">
          <a:xfrm>
            <a:off x="8335082" y="100861"/>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16" name="燕尾形 15"/>
          <p:cNvSpPr/>
          <p:nvPr/>
        </p:nvSpPr>
        <p:spPr bwMode="auto">
          <a:xfrm>
            <a:off x="9029654" y="100861"/>
            <a:ext cx="126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AS_Path Filter</a:t>
            </a:r>
          </a:p>
        </p:txBody>
      </p:sp>
      <p:sp>
        <p:nvSpPr>
          <p:cNvPr id="17" name="燕尾形 16"/>
          <p:cNvSpPr/>
          <p:nvPr/>
        </p:nvSpPr>
        <p:spPr bwMode="auto">
          <a:xfrm>
            <a:off x="10203025" y="100861"/>
            <a:ext cx="154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Community Filter</a:t>
            </a:r>
          </a:p>
        </p:txBody>
      </p:sp>
    </p:spTree>
    <p:extLst>
      <p:ext uri="{BB962C8B-B14F-4D97-AF65-F5344CB8AC3E}">
        <p14:creationId xmlns:p14="http://schemas.microsoft.com/office/powerpoint/2010/main" val="19242272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AS_Path Filter</a:t>
            </a:r>
            <a:r>
              <a:rPr lang="zh-CN" altLang="en-US" smtClean="0"/>
              <a:t>的配置举例 </a:t>
            </a:r>
            <a:r>
              <a:rPr lang="en-US" altLang="zh-CN" smtClean="0"/>
              <a:t>(1)</a:t>
            </a:r>
            <a:endParaRPr lang="zh-CN" altLang="en-US" dirty="0"/>
          </a:p>
        </p:txBody>
      </p:sp>
      <p:sp>
        <p:nvSpPr>
          <p:cNvPr id="15" name="文本占位符 2"/>
          <p:cNvSpPr txBox="1">
            <a:spLocks/>
          </p:cNvSpPr>
          <p:nvPr/>
        </p:nvSpPr>
        <p:spPr bwMode="auto">
          <a:xfrm>
            <a:off x="446088" y="4186294"/>
            <a:ext cx="5627683" cy="1591052"/>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en-US" altLang="zh-CN" sz="1800" dirty="0"/>
              <a:t>R2</a:t>
            </a:r>
            <a:r>
              <a:rPr lang="zh-CN" altLang="en-US" sz="1800" dirty="0"/>
              <a:t>传递</a:t>
            </a:r>
            <a:r>
              <a:rPr lang="en-US" altLang="zh-CN" sz="1800" dirty="0"/>
              <a:t>EBGP</a:t>
            </a:r>
            <a:r>
              <a:rPr lang="zh-CN" altLang="en-US" sz="1800" dirty="0"/>
              <a:t>路由给</a:t>
            </a:r>
            <a:r>
              <a:rPr lang="en-US" altLang="zh-CN" sz="1800" dirty="0" smtClean="0"/>
              <a:t>R3</a:t>
            </a:r>
            <a:r>
              <a:rPr lang="zh-CN" altLang="en-US" sz="1800" dirty="0" smtClean="0"/>
              <a:t>，</a:t>
            </a:r>
            <a:r>
              <a:rPr lang="zh-CN" altLang="en-US" sz="1800" dirty="0"/>
              <a:t>其中部分路由为</a:t>
            </a:r>
            <a:r>
              <a:rPr lang="en-US" altLang="zh-CN" sz="1800" dirty="0"/>
              <a:t>R2</a:t>
            </a:r>
            <a:r>
              <a:rPr lang="zh-CN" altLang="en-US" sz="1800" dirty="0"/>
              <a:t>本地始发，另一部分为</a:t>
            </a:r>
            <a:r>
              <a:rPr lang="en-US" altLang="zh-CN" sz="1800" dirty="0" smtClean="0"/>
              <a:t>AS 101</a:t>
            </a:r>
            <a:r>
              <a:rPr lang="zh-CN" altLang="en-US" sz="1800" dirty="0" smtClean="0"/>
              <a:t>传递</a:t>
            </a:r>
            <a:r>
              <a:rPr lang="zh-CN" altLang="en-US" sz="1800" dirty="0"/>
              <a:t>给</a:t>
            </a:r>
            <a:r>
              <a:rPr lang="en-US" altLang="zh-CN" sz="1800" dirty="0"/>
              <a:t>R2</a:t>
            </a:r>
            <a:r>
              <a:rPr lang="zh-CN" altLang="en-US" sz="1800" dirty="0"/>
              <a:t>再由</a:t>
            </a:r>
            <a:r>
              <a:rPr lang="en-US" altLang="zh-CN" sz="1800" dirty="0"/>
              <a:t>R2</a:t>
            </a:r>
            <a:r>
              <a:rPr lang="zh-CN" altLang="en-US" sz="1800" dirty="0"/>
              <a:t>更新给</a:t>
            </a:r>
            <a:r>
              <a:rPr lang="en-US" altLang="zh-CN" sz="1800" dirty="0" smtClean="0"/>
              <a:t>R3</a:t>
            </a:r>
            <a:r>
              <a:rPr lang="zh-CN" altLang="en-US" sz="1800" dirty="0" smtClean="0"/>
              <a:t>。</a:t>
            </a:r>
            <a:endParaRPr lang="en-US" altLang="zh-CN" sz="1800" dirty="0" smtClean="0"/>
          </a:p>
          <a:p>
            <a:pPr marL="0" indent="0">
              <a:buNone/>
            </a:pPr>
            <a:r>
              <a:rPr lang="zh-CN" altLang="en-US" sz="1800" dirty="0" smtClean="0"/>
              <a:t>现在</a:t>
            </a:r>
            <a:r>
              <a:rPr lang="en-US" altLang="zh-CN" sz="1800" dirty="0" smtClean="0"/>
              <a:t>R2</a:t>
            </a:r>
            <a:r>
              <a:rPr lang="zh-CN" altLang="en-US" sz="1800" dirty="0" smtClean="0"/>
              <a:t>上</a:t>
            </a:r>
            <a:r>
              <a:rPr lang="zh-CN" altLang="en-US" sz="1800" dirty="0"/>
              <a:t>部署路由策略</a:t>
            </a:r>
            <a:r>
              <a:rPr lang="zh-CN" altLang="en-US" sz="1800" dirty="0" smtClean="0"/>
              <a:t>，</a:t>
            </a:r>
            <a:r>
              <a:rPr lang="zh-CN" altLang="en-US" sz="1800" dirty="0"/>
              <a:t>拒绝</a:t>
            </a:r>
            <a:r>
              <a:rPr lang="zh-CN" altLang="en-US" sz="1800" dirty="0" smtClean="0"/>
              <a:t>始</a:t>
            </a:r>
            <a:r>
              <a:rPr lang="zh-CN" altLang="en-US" sz="1800" dirty="0"/>
              <a:t>发于</a:t>
            </a:r>
            <a:r>
              <a:rPr lang="en-US" altLang="zh-CN" sz="1800" dirty="0" smtClean="0"/>
              <a:t>AS 101</a:t>
            </a:r>
            <a:r>
              <a:rPr lang="zh-CN" altLang="en-US" sz="1800" dirty="0" smtClean="0"/>
              <a:t>的</a:t>
            </a:r>
            <a:r>
              <a:rPr lang="zh-CN" altLang="en-US" sz="1800" dirty="0"/>
              <a:t>路由。</a:t>
            </a:r>
          </a:p>
        </p:txBody>
      </p:sp>
      <p:sp>
        <p:nvSpPr>
          <p:cNvPr id="76" name="文本框 75"/>
          <p:cNvSpPr txBox="1"/>
          <p:nvPr/>
        </p:nvSpPr>
        <p:spPr>
          <a:xfrm>
            <a:off x="6681862" y="1744893"/>
            <a:ext cx="5066782" cy="523220"/>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smtClean="0">
                <a:solidFill>
                  <a:prstClr val="black"/>
                </a:solidFill>
                <a:cs typeface="Courier New" panose="02070309020205020404" pitchFamily="49" charset="0"/>
              </a:rPr>
              <a:t>[R2] </a:t>
            </a:r>
            <a:r>
              <a:rPr lang="en-US" altLang="zh-CN" sz="1400" dirty="0">
                <a:solidFill>
                  <a:srgbClr val="C7000B"/>
                </a:solidFill>
                <a:cs typeface="Courier New" panose="02070309020205020404" pitchFamily="49" charset="0"/>
              </a:rPr>
              <a:t>ip as-path-filter </a:t>
            </a:r>
            <a:r>
              <a:rPr lang="en-US" altLang="zh-CN" sz="1400" dirty="0" smtClean="0">
                <a:solidFill>
                  <a:srgbClr val="C7000B"/>
                </a:solidFill>
                <a:cs typeface="Courier New" panose="02070309020205020404" pitchFamily="49" charset="0"/>
              </a:rPr>
              <a:t>1 </a:t>
            </a:r>
            <a:r>
              <a:rPr lang="en-US" altLang="zh-CN" sz="1400" dirty="0">
                <a:solidFill>
                  <a:srgbClr val="C7000B"/>
                </a:solidFill>
                <a:cs typeface="Courier New" panose="02070309020205020404" pitchFamily="49" charset="0"/>
              </a:rPr>
              <a:t>deny </a:t>
            </a:r>
            <a:r>
              <a:rPr lang="en-US" altLang="zh-CN" sz="1400" dirty="0">
                <a:solidFill>
                  <a:prstClr val="black"/>
                </a:solidFill>
                <a:cs typeface="Courier New" panose="02070309020205020404" pitchFamily="49" charset="0"/>
              </a:rPr>
              <a:t>_101$ </a:t>
            </a:r>
            <a:endParaRPr lang="en-US" altLang="zh-CN" sz="1400" dirty="0" smtClean="0">
              <a:solidFill>
                <a:prstClr val="black"/>
              </a:solidFill>
              <a:cs typeface="Courier New" panose="02070309020205020404" pitchFamily="49" charset="0"/>
            </a:endParaRPr>
          </a:p>
          <a:p>
            <a:pPr fontAlgn="auto">
              <a:spcBef>
                <a:spcPts val="0"/>
              </a:spcBef>
              <a:spcAft>
                <a:spcPts val="0"/>
              </a:spcAft>
            </a:pPr>
            <a:r>
              <a:rPr lang="en-US" altLang="zh-CN" sz="1400" dirty="0" smtClean="0">
                <a:solidFill>
                  <a:prstClr val="black"/>
                </a:solidFill>
                <a:cs typeface="Courier New" panose="02070309020205020404" pitchFamily="49" charset="0"/>
              </a:rPr>
              <a:t>[R2] </a:t>
            </a:r>
            <a:r>
              <a:rPr lang="en-US" altLang="zh-CN" sz="1400" dirty="0">
                <a:solidFill>
                  <a:srgbClr val="C7000B"/>
                </a:solidFill>
                <a:cs typeface="Courier New" panose="02070309020205020404" pitchFamily="49" charset="0"/>
              </a:rPr>
              <a:t>ip as-path-filter </a:t>
            </a:r>
            <a:r>
              <a:rPr lang="en-US" altLang="zh-CN" sz="1400" dirty="0" smtClean="0">
                <a:solidFill>
                  <a:srgbClr val="C7000B"/>
                </a:solidFill>
                <a:cs typeface="Courier New" panose="02070309020205020404" pitchFamily="49" charset="0"/>
              </a:rPr>
              <a:t>1 </a:t>
            </a:r>
            <a:r>
              <a:rPr lang="en-US" altLang="zh-CN" sz="1400" dirty="0">
                <a:solidFill>
                  <a:srgbClr val="C7000B"/>
                </a:solidFill>
                <a:cs typeface="Courier New" panose="02070309020205020404" pitchFamily="49" charset="0"/>
              </a:rPr>
              <a:t>permit </a:t>
            </a:r>
            <a:r>
              <a:rPr lang="en-US" altLang="zh-CN" sz="1400" dirty="0">
                <a:solidFill>
                  <a:prstClr val="black"/>
                </a:solidFill>
                <a:cs typeface="Courier New" panose="02070309020205020404" pitchFamily="49" charset="0"/>
              </a:rPr>
              <a:t>.*</a:t>
            </a:r>
            <a:endParaRPr lang="en-US" altLang="zh-CN" sz="1400" dirty="0" smtClean="0">
              <a:solidFill>
                <a:prstClr val="black"/>
              </a:solidFill>
              <a:cs typeface="Courier New" panose="02070309020205020404" pitchFamily="49" charset="0"/>
            </a:endParaRPr>
          </a:p>
        </p:txBody>
      </p:sp>
      <p:sp>
        <p:nvSpPr>
          <p:cNvPr id="77" name="文本框 76"/>
          <p:cNvSpPr txBox="1"/>
          <p:nvPr/>
        </p:nvSpPr>
        <p:spPr>
          <a:xfrm>
            <a:off x="6338670" y="1326810"/>
            <a:ext cx="2428870" cy="338554"/>
          </a:xfrm>
          <a:prstGeom prst="rect">
            <a:avLst/>
          </a:prstGeom>
          <a:noFill/>
        </p:spPr>
        <p:txBody>
          <a:bodyPr wrap="none" rtlCol="0">
            <a:spAutoFit/>
          </a:bodyPr>
          <a:lstStyle/>
          <a:p>
            <a:pPr fontAlgn="auto">
              <a:spcBef>
                <a:spcPts val="0"/>
              </a:spcBef>
              <a:spcAft>
                <a:spcPts val="0"/>
              </a:spcAft>
            </a:pPr>
            <a:r>
              <a:rPr lang="en-US" altLang="zh-CN" sz="1600" dirty="0" smtClean="0">
                <a:solidFill>
                  <a:prstClr val="black"/>
                </a:solidFill>
              </a:rPr>
              <a:t>1</a:t>
            </a:r>
            <a:r>
              <a:rPr lang="zh-CN" altLang="en-US" sz="1600" dirty="0">
                <a:solidFill>
                  <a:prstClr val="black"/>
                </a:solidFill>
              </a:rPr>
              <a:t>、</a:t>
            </a:r>
            <a:r>
              <a:rPr lang="zh-CN" altLang="en-US" sz="1600" dirty="0" smtClean="0">
                <a:solidFill>
                  <a:prstClr val="black"/>
                </a:solidFill>
              </a:rPr>
              <a:t>创建</a:t>
            </a:r>
            <a:r>
              <a:rPr lang="en-US" altLang="zh-CN" sz="1600" dirty="0">
                <a:solidFill>
                  <a:prstClr val="black"/>
                </a:solidFill>
              </a:rPr>
              <a:t>AS_Path </a:t>
            </a:r>
            <a:r>
              <a:rPr lang="en-US" altLang="zh-CN" sz="1600" dirty="0" smtClean="0">
                <a:solidFill>
                  <a:prstClr val="black"/>
                </a:solidFill>
              </a:rPr>
              <a:t>Filter</a:t>
            </a:r>
            <a:r>
              <a:rPr lang="zh-CN" altLang="en-US" sz="1600" dirty="0" smtClean="0">
                <a:solidFill>
                  <a:prstClr val="black"/>
                </a:solidFill>
              </a:rPr>
              <a:t>。</a:t>
            </a:r>
            <a:endParaRPr lang="zh-CN" altLang="en-US" sz="1600" dirty="0">
              <a:solidFill>
                <a:prstClr val="black"/>
              </a:solidFill>
            </a:endParaRPr>
          </a:p>
        </p:txBody>
      </p:sp>
      <p:sp>
        <p:nvSpPr>
          <p:cNvPr id="78" name="文本框 77"/>
          <p:cNvSpPr txBox="1"/>
          <p:nvPr/>
        </p:nvSpPr>
        <p:spPr>
          <a:xfrm>
            <a:off x="6338670" y="3014200"/>
            <a:ext cx="4070345" cy="338554"/>
          </a:xfrm>
          <a:prstGeom prst="rect">
            <a:avLst/>
          </a:prstGeom>
          <a:noFill/>
        </p:spPr>
        <p:txBody>
          <a:bodyPr wrap="none" rtlCol="0">
            <a:spAutoFit/>
          </a:bodyPr>
          <a:lstStyle/>
          <a:p>
            <a:pPr fontAlgn="auto">
              <a:spcBef>
                <a:spcPts val="0"/>
              </a:spcBef>
              <a:spcAft>
                <a:spcPts val="0"/>
              </a:spcAft>
            </a:pPr>
            <a:r>
              <a:rPr lang="en-US" altLang="zh-CN" sz="1600" dirty="0">
                <a:solidFill>
                  <a:prstClr val="black"/>
                </a:solidFill>
              </a:rPr>
              <a:t>2</a:t>
            </a:r>
            <a:r>
              <a:rPr lang="zh-CN" altLang="en-US" sz="1600" dirty="0" smtClean="0">
                <a:solidFill>
                  <a:prstClr val="black"/>
                </a:solidFill>
              </a:rPr>
              <a:t>、（直接调用方式）应用</a:t>
            </a:r>
            <a:r>
              <a:rPr lang="en-US" altLang="zh-CN" sz="1600" dirty="0" smtClean="0">
                <a:solidFill>
                  <a:prstClr val="black"/>
                </a:solidFill>
              </a:rPr>
              <a:t>AS_Path Filter</a:t>
            </a:r>
            <a:r>
              <a:rPr lang="zh-CN" altLang="en-US" sz="1600" dirty="0" smtClean="0">
                <a:solidFill>
                  <a:prstClr val="black"/>
                </a:solidFill>
              </a:rPr>
              <a:t>。</a:t>
            </a:r>
            <a:endParaRPr lang="zh-CN" altLang="en-US" sz="1600" dirty="0">
              <a:solidFill>
                <a:prstClr val="black"/>
              </a:solidFill>
            </a:endParaRPr>
          </a:p>
        </p:txBody>
      </p:sp>
      <p:sp>
        <p:nvSpPr>
          <p:cNvPr id="79" name="矩形 78"/>
          <p:cNvSpPr/>
          <p:nvPr/>
        </p:nvSpPr>
        <p:spPr>
          <a:xfrm>
            <a:off x="6675163" y="2263667"/>
            <a:ext cx="4649448" cy="400110"/>
          </a:xfrm>
          <a:prstGeom prst="rect">
            <a:avLst/>
          </a:prstGeom>
        </p:spPr>
        <p:txBody>
          <a:bodyPr wrap="square">
            <a:spAutoFit/>
          </a:bodyPr>
          <a:lstStyle/>
          <a:p>
            <a:pPr fontAlgn="auto">
              <a:lnSpc>
                <a:spcPts val="2400"/>
              </a:lnSpc>
            </a:pPr>
            <a:r>
              <a:rPr lang="zh-CN" altLang="en-US" sz="1400" dirty="0">
                <a:cs typeface="Courier New" panose="02070309020205020404" pitchFamily="49" charset="0"/>
              </a:rPr>
              <a:t>拒绝</a:t>
            </a:r>
            <a:r>
              <a:rPr lang="zh-CN" altLang="en-US" sz="1400" dirty="0" smtClean="0">
                <a:cs typeface="Courier New" panose="02070309020205020404" pitchFamily="49" charset="0"/>
              </a:rPr>
              <a:t>始发于</a:t>
            </a:r>
            <a:r>
              <a:rPr lang="en-US" altLang="zh-CN" sz="1400" dirty="0" smtClean="0">
                <a:cs typeface="Courier New" panose="02070309020205020404" pitchFamily="49" charset="0"/>
              </a:rPr>
              <a:t>AS 101</a:t>
            </a:r>
            <a:r>
              <a:rPr lang="zh-CN" altLang="en-US" sz="1400" dirty="0" smtClean="0">
                <a:cs typeface="Courier New" panose="02070309020205020404" pitchFamily="49" charset="0"/>
              </a:rPr>
              <a:t>的路由，但其他路由可以通过。</a:t>
            </a:r>
            <a:endParaRPr lang="en-US" altLang="zh-CN" sz="1400" dirty="0" smtClean="0">
              <a:cs typeface="Courier New" panose="02070309020205020404" pitchFamily="49" charset="0"/>
            </a:endParaRPr>
          </a:p>
        </p:txBody>
      </p:sp>
      <p:sp>
        <p:nvSpPr>
          <p:cNvPr id="80" name="文本框 79"/>
          <p:cNvSpPr txBox="1"/>
          <p:nvPr/>
        </p:nvSpPr>
        <p:spPr>
          <a:xfrm>
            <a:off x="6681861" y="3427837"/>
            <a:ext cx="5066783" cy="954107"/>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a:solidFill>
                  <a:prstClr val="black"/>
                </a:solidFill>
                <a:cs typeface="Courier New" panose="02070309020205020404" pitchFamily="49" charset="0"/>
              </a:rPr>
              <a:t>[R2] bgp 102</a:t>
            </a:r>
          </a:p>
          <a:p>
            <a:pPr fontAlgn="auto">
              <a:spcBef>
                <a:spcPts val="0"/>
              </a:spcBef>
              <a:spcAft>
                <a:spcPts val="0"/>
              </a:spcAft>
            </a:pPr>
            <a:r>
              <a:rPr lang="en-US" altLang="zh-CN" sz="1400" dirty="0">
                <a:solidFill>
                  <a:prstClr val="black"/>
                </a:solidFill>
                <a:cs typeface="Courier New" panose="02070309020205020404" pitchFamily="49" charset="0"/>
              </a:rPr>
              <a:t>[R2-bgp] peer </a:t>
            </a:r>
            <a:r>
              <a:rPr lang="en-US" altLang="zh-CN" sz="1400" dirty="0" smtClean="0">
                <a:solidFill>
                  <a:prstClr val="black"/>
                </a:solidFill>
                <a:cs typeface="Courier New" panose="02070309020205020404" pitchFamily="49" charset="0"/>
              </a:rPr>
              <a:t>10.1.23.3 </a:t>
            </a:r>
            <a:r>
              <a:rPr lang="en-US" altLang="zh-CN" sz="1400" dirty="0">
                <a:solidFill>
                  <a:prstClr val="black"/>
                </a:solidFill>
                <a:cs typeface="Courier New" panose="02070309020205020404" pitchFamily="49" charset="0"/>
              </a:rPr>
              <a:t>as-number </a:t>
            </a:r>
            <a:r>
              <a:rPr lang="en-US" altLang="zh-CN" sz="1400" dirty="0" smtClean="0">
                <a:solidFill>
                  <a:prstClr val="black"/>
                </a:solidFill>
                <a:cs typeface="Courier New" panose="02070309020205020404" pitchFamily="49" charset="0"/>
              </a:rPr>
              <a:t>103</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[R2-bgp] </a:t>
            </a:r>
            <a:r>
              <a:rPr lang="en-US" altLang="zh-CN" sz="1400" dirty="0" smtClean="0">
                <a:solidFill>
                  <a:prstClr val="black"/>
                </a:solidFill>
                <a:cs typeface="Courier New" panose="02070309020205020404" pitchFamily="49" charset="0"/>
              </a:rPr>
              <a:t>ipv4-family unicast</a:t>
            </a:r>
          </a:p>
          <a:p>
            <a:pPr fontAlgn="auto">
              <a:spcBef>
                <a:spcPts val="0"/>
              </a:spcBef>
              <a:spcAft>
                <a:spcPts val="0"/>
              </a:spcAft>
            </a:pPr>
            <a:r>
              <a:rPr lang="en-US" altLang="zh-CN" sz="1400" dirty="0" smtClean="0">
                <a:solidFill>
                  <a:prstClr val="black"/>
                </a:solidFill>
                <a:cs typeface="Courier New" panose="02070309020205020404" pitchFamily="49" charset="0"/>
              </a:rPr>
              <a:t>[R2-bgp-af-ipv4] </a:t>
            </a:r>
            <a:r>
              <a:rPr lang="en-US" altLang="zh-CN" sz="1400" b="1" dirty="0" smtClean="0">
                <a:solidFill>
                  <a:prstClr val="black"/>
                </a:solidFill>
                <a:cs typeface="Courier New" panose="02070309020205020404" pitchFamily="49" charset="0"/>
              </a:rPr>
              <a:t>peer</a:t>
            </a:r>
            <a:r>
              <a:rPr lang="en-US" altLang="zh-CN" sz="1400" dirty="0" smtClean="0">
                <a:solidFill>
                  <a:prstClr val="black"/>
                </a:solidFill>
                <a:cs typeface="Courier New" panose="02070309020205020404" pitchFamily="49" charset="0"/>
              </a:rPr>
              <a:t> 10.1.23.3 </a:t>
            </a:r>
            <a:r>
              <a:rPr lang="en-US" altLang="zh-CN" sz="1400" dirty="0" smtClean="0">
                <a:solidFill>
                  <a:srgbClr val="C7000B"/>
                </a:solidFill>
                <a:cs typeface="Courier New" panose="02070309020205020404" pitchFamily="49" charset="0"/>
              </a:rPr>
              <a:t>as-path-filter 1 export</a:t>
            </a:r>
            <a:endParaRPr lang="en-US" altLang="zh-CN" sz="1400" dirty="0">
              <a:solidFill>
                <a:srgbClr val="C7000B"/>
              </a:solidFill>
              <a:cs typeface="Courier New" panose="02070309020205020404" pitchFamily="49" charset="0"/>
            </a:endParaRPr>
          </a:p>
        </p:txBody>
      </p:sp>
      <p:sp>
        <p:nvSpPr>
          <p:cNvPr id="88" name="任意多边形 25"/>
          <p:cNvSpPr/>
          <p:nvPr/>
        </p:nvSpPr>
        <p:spPr bwMode="gray">
          <a:xfrm>
            <a:off x="2704767" y="2684890"/>
            <a:ext cx="1479980" cy="901782"/>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sp>
        <p:nvSpPr>
          <p:cNvPr id="89" name="任意多边形 25"/>
          <p:cNvSpPr/>
          <p:nvPr/>
        </p:nvSpPr>
        <p:spPr bwMode="gray">
          <a:xfrm>
            <a:off x="2704767" y="1484833"/>
            <a:ext cx="1479980" cy="819046"/>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sp>
        <p:nvSpPr>
          <p:cNvPr id="90" name="任意多边形 25"/>
          <p:cNvSpPr/>
          <p:nvPr/>
        </p:nvSpPr>
        <p:spPr bwMode="gray">
          <a:xfrm>
            <a:off x="4633217" y="1941690"/>
            <a:ext cx="1479980" cy="1167178"/>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sp>
        <p:nvSpPr>
          <p:cNvPr id="91" name="TextBox 120">
            <a:extLst>
              <a:ext uri="{FF2B5EF4-FFF2-40B4-BE49-F238E27FC236}">
                <a16:creationId xmlns="" xmlns:a16="http://schemas.microsoft.com/office/drawing/2014/main" id="{020D7A1D-EFAD-4C8C-B9DE-D0FAD269B77A}"/>
              </a:ext>
            </a:extLst>
          </p:cNvPr>
          <p:cNvSpPr txBox="1"/>
          <p:nvPr/>
        </p:nvSpPr>
        <p:spPr bwMode="gray">
          <a:xfrm>
            <a:off x="2718622" y="2005009"/>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104</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2" name="直接连接符 91"/>
          <p:cNvCxnSpPr>
            <a:stCxn id="93" idx="3"/>
            <a:endCxn id="96" idx="3"/>
          </p:cNvCxnSpPr>
          <p:nvPr/>
        </p:nvCxnSpPr>
        <p:spPr bwMode="gray">
          <a:xfrm>
            <a:off x="3939103" y="1925659"/>
            <a:ext cx="1704104" cy="5996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93" name="图片 92"/>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399103" y="1704259"/>
            <a:ext cx="540000" cy="442800"/>
          </a:xfrm>
          <a:prstGeom prst="rect">
            <a:avLst/>
          </a:prstGeom>
        </p:spPr>
      </p:pic>
      <p:pic>
        <p:nvPicPr>
          <p:cNvPr id="94" name="图片 9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399103" y="2903500"/>
            <a:ext cx="540000" cy="442800"/>
          </a:xfrm>
          <a:prstGeom prst="rect">
            <a:avLst/>
          </a:prstGeom>
        </p:spPr>
      </p:pic>
      <p:cxnSp>
        <p:nvCxnSpPr>
          <p:cNvPr id="95" name="直接连接符 94"/>
          <p:cNvCxnSpPr>
            <a:stCxn id="94" idx="3"/>
            <a:endCxn id="96" idx="3"/>
          </p:cNvCxnSpPr>
          <p:nvPr/>
        </p:nvCxnSpPr>
        <p:spPr bwMode="gray">
          <a:xfrm flipV="1">
            <a:off x="3939103" y="2525279"/>
            <a:ext cx="1704104" cy="5996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96" name="图片 9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103207" y="2303879"/>
            <a:ext cx="540000" cy="442800"/>
          </a:xfrm>
          <a:prstGeom prst="rect">
            <a:avLst/>
          </a:prstGeom>
        </p:spPr>
      </p:pic>
      <p:sp>
        <p:nvSpPr>
          <p:cNvPr id="97" name="任意多边形 25"/>
          <p:cNvSpPr/>
          <p:nvPr/>
        </p:nvSpPr>
        <p:spPr bwMode="gray">
          <a:xfrm>
            <a:off x="522288" y="2684890"/>
            <a:ext cx="1879121" cy="901782"/>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pic>
        <p:nvPicPr>
          <p:cNvPr id="98" name="图片 9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615765" y="2903500"/>
            <a:ext cx="540000" cy="442800"/>
          </a:xfrm>
          <a:prstGeom prst="rect">
            <a:avLst/>
          </a:prstGeom>
        </p:spPr>
      </p:pic>
      <p:sp>
        <p:nvSpPr>
          <p:cNvPr id="99" name="TextBox 120">
            <a:extLst>
              <a:ext uri="{FF2B5EF4-FFF2-40B4-BE49-F238E27FC236}">
                <a16:creationId xmlns="" xmlns:a16="http://schemas.microsoft.com/office/drawing/2014/main" id="{020D7A1D-EFAD-4C8C-B9DE-D0FAD269B77A}"/>
              </a:ext>
            </a:extLst>
          </p:cNvPr>
          <p:cNvSpPr txBox="1"/>
          <p:nvPr/>
        </p:nvSpPr>
        <p:spPr bwMode="gray">
          <a:xfrm>
            <a:off x="473567" y="3317276"/>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TextBox 120">
            <a:extLst>
              <a:ext uri="{FF2B5EF4-FFF2-40B4-BE49-F238E27FC236}">
                <a16:creationId xmlns="" xmlns:a16="http://schemas.microsoft.com/office/drawing/2014/main" id="{020D7A1D-EFAD-4C8C-B9DE-D0FAD269B77A}"/>
              </a:ext>
            </a:extLst>
          </p:cNvPr>
          <p:cNvSpPr txBox="1"/>
          <p:nvPr/>
        </p:nvSpPr>
        <p:spPr bwMode="gray">
          <a:xfrm>
            <a:off x="2704767" y="3317276"/>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1" name="直接连接符 100"/>
          <p:cNvCxnSpPr>
            <a:stCxn id="98" idx="3"/>
            <a:endCxn id="94" idx="1"/>
          </p:cNvCxnSpPr>
          <p:nvPr/>
        </p:nvCxnSpPr>
        <p:spPr bwMode="gray">
          <a:xfrm>
            <a:off x="2155765" y="3124900"/>
            <a:ext cx="124333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a:endCxn id="98" idx="1"/>
          </p:cNvCxnSpPr>
          <p:nvPr/>
        </p:nvCxnSpPr>
        <p:spPr bwMode="gray">
          <a:xfrm>
            <a:off x="1501167" y="3124900"/>
            <a:ext cx="1145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bwMode="gray">
          <a:xfrm>
            <a:off x="1490438" y="3014200"/>
            <a:ext cx="0" cy="221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4" name="TextBox 120">
            <a:extLst>
              <a:ext uri="{FF2B5EF4-FFF2-40B4-BE49-F238E27FC236}">
                <a16:creationId xmlns="" xmlns:a16="http://schemas.microsoft.com/office/drawing/2014/main" id="{020D7A1D-EFAD-4C8C-B9DE-D0FAD269B77A}"/>
              </a:ext>
            </a:extLst>
          </p:cNvPr>
          <p:cNvSpPr txBox="1"/>
          <p:nvPr/>
        </p:nvSpPr>
        <p:spPr bwMode="gray">
          <a:xfrm>
            <a:off x="1464726" y="2657073"/>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TextBox 120">
            <a:extLst>
              <a:ext uri="{FF2B5EF4-FFF2-40B4-BE49-F238E27FC236}">
                <a16:creationId xmlns="" xmlns:a16="http://schemas.microsoft.com/office/drawing/2014/main" id="{020D7A1D-EFAD-4C8C-B9DE-D0FAD269B77A}"/>
              </a:ext>
            </a:extLst>
          </p:cNvPr>
          <p:cNvSpPr txBox="1"/>
          <p:nvPr/>
        </p:nvSpPr>
        <p:spPr bwMode="gray">
          <a:xfrm>
            <a:off x="3264705" y="2657073"/>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TextBox 120">
            <a:extLst>
              <a:ext uri="{FF2B5EF4-FFF2-40B4-BE49-F238E27FC236}">
                <a16:creationId xmlns="" xmlns:a16="http://schemas.microsoft.com/office/drawing/2014/main" id="{020D7A1D-EFAD-4C8C-B9DE-D0FAD269B77A}"/>
              </a:ext>
            </a:extLst>
          </p:cNvPr>
          <p:cNvSpPr txBox="1"/>
          <p:nvPr/>
        </p:nvSpPr>
        <p:spPr bwMode="gray">
          <a:xfrm>
            <a:off x="3264705" y="1437116"/>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R4</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TextBox 120">
            <a:extLst>
              <a:ext uri="{FF2B5EF4-FFF2-40B4-BE49-F238E27FC236}">
                <a16:creationId xmlns="" xmlns:a16="http://schemas.microsoft.com/office/drawing/2014/main" id="{020D7A1D-EFAD-4C8C-B9DE-D0FAD269B77A}"/>
              </a:ext>
            </a:extLst>
          </p:cNvPr>
          <p:cNvSpPr txBox="1"/>
          <p:nvPr/>
        </p:nvSpPr>
        <p:spPr bwMode="gray">
          <a:xfrm>
            <a:off x="4959661" y="2057923"/>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R3</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8" name="直接箭头连接符 107"/>
          <p:cNvCxnSpPr/>
          <p:nvPr/>
        </p:nvCxnSpPr>
        <p:spPr bwMode="gray">
          <a:xfrm flipV="1">
            <a:off x="4087089" y="2992617"/>
            <a:ext cx="1034385" cy="395417"/>
          </a:xfrm>
          <a:prstGeom prst="straightConnector1">
            <a:avLst/>
          </a:prstGeom>
          <a:ln w="28575">
            <a:solidFill>
              <a:srgbClr val="ED6D00"/>
            </a:solidFill>
            <a:tailEnd type="triangle"/>
          </a:ln>
        </p:spPr>
        <p:style>
          <a:lnRef idx="1">
            <a:schemeClr val="accent1"/>
          </a:lnRef>
          <a:fillRef idx="0">
            <a:schemeClr val="accent1"/>
          </a:fillRef>
          <a:effectRef idx="0">
            <a:schemeClr val="accent1"/>
          </a:effectRef>
          <a:fontRef idx="minor">
            <a:schemeClr val="tx1"/>
          </a:fontRef>
        </p:style>
      </p:cxnSp>
      <p:sp>
        <p:nvSpPr>
          <p:cNvPr id="109" name="TextBox 120">
            <a:extLst>
              <a:ext uri="{FF2B5EF4-FFF2-40B4-BE49-F238E27FC236}">
                <a16:creationId xmlns="" xmlns:a16="http://schemas.microsoft.com/office/drawing/2014/main" id="{020D7A1D-EFAD-4C8C-B9DE-D0FAD269B77A}"/>
              </a:ext>
            </a:extLst>
          </p:cNvPr>
          <p:cNvSpPr txBox="1"/>
          <p:nvPr/>
        </p:nvSpPr>
        <p:spPr bwMode="gray">
          <a:xfrm rot="20395611">
            <a:off x="4348815" y="3110855"/>
            <a:ext cx="827092" cy="307777"/>
          </a:xfrm>
          <a:prstGeom prst="rect">
            <a:avLst/>
          </a:prstGeom>
          <a:noFill/>
          <a:ln>
            <a:noFill/>
          </a:ln>
        </p:spPr>
        <p:txBody>
          <a:bodyPr wrap="square" rtlCol="0">
            <a:spAutoFit/>
          </a:bodyPr>
          <a:lstStyle/>
          <a:p>
            <a:r>
              <a:rPr lang="en-US" altLang="zh-CN" sz="1400" b="1"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Route</a:t>
            </a:r>
            <a:endParaRPr lang="en-US" altLang="zh-CN" sz="1400" b="1"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TextBox 120">
            <a:extLst>
              <a:ext uri="{FF2B5EF4-FFF2-40B4-BE49-F238E27FC236}">
                <a16:creationId xmlns="" xmlns:a16="http://schemas.microsoft.com/office/drawing/2014/main" id="{020D7A1D-EFAD-4C8C-B9DE-D0FAD269B77A}"/>
              </a:ext>
            </a:extLst>
          </p:cNvPr>
          <p:cNvSpPr txBox="1"/>
          <p:nvPr/>
        </p:nvSpPr>
        <p:spPr bwMode="gray">
          <a:xfrm rot="1108285">
            <a:off x="3978794" y="1874524"/>
            <a:ext cx="128158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10.1.34.0/24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TextBox 120">
            <a:extLst>
              <a:ext uri="{FF2B5EF4-FFF2-40B4-BE49-F238E27FC236}">
                <a16:creationId xmlns="" xmlns:a16="http://schemas.microsoft.com/office/drawing/2014/main" id="{020D7A1D-EFAD-4C8C-B9DE-D0FAD269B77A}"/>
              </a:ext>
            </a:extLst>
          </p:cNvPr>
          <p:cNvSpPr txBox="1"/>
          <p:nvPr/>
        </p:nvSpPr>
        <p:spPr bwMode="gray">
          <a:xfrm rot="20396470">
            <a:off x="3888328" y="3074957"/>
            <a:ext cx="408727"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TextBox 120">
            <a:extLst>
              <a:ext uri="{FF2B5EF4-FFF2-40B4-BE49-F238E27FC236}">
                <a16:creationId xmlns="" xmlns:a16="http://schemas.microsoft.com/office/drawing/2014/main" id="{020D7A1D-EFAD-4C8C-B9DE-D0FAD269B77A}"/>
              </a:ext>
            </a:extLst>
          </p:cNvPr>
          <p:cNvSpPr txBox="1"/>
          <p:nvPr/>
        </p:nvSpPr>
        <p:spPr bwMode="gray">
          <a:xfrm rot="20396470">
            <a:off x="4940520" y="2672414"/>
            <a:ext cx="408727"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3" name="TextBox 120">
            <a:extLst>
              <a:ext uri="{FF2B5EF4-FFF2-40B4-BE49-F238E27FC236}">
                <a16:creationId xmlns="" xmlns:a16="http://schemas.microsoft.com/office/drawing/2014/main" id="{020D7A1D-EFAD-4C8C-B9DE-D0FAD269B77A}"/>
              </a:ext>
            </a:extLst>
          </p:cNvPr>
          <p:cNvSpPr txBox="1"/>
          <p:nvPr/>
        </p:nvSpPr>
        <p:spPr bwMode="gray">
          <a:xfrm>
            <a:off x="466233" y="2824830"/>
            <a:ext cx="1105885" cy="523220"/>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Loopback0</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10.1.1.1/32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TextBox 120">
            <a:extLst>
              <a:ext uri="{FF2B5EF4-FFF2-40B4-BE49-F238E27FC236}">
                <a16:creationId xmlns="" xmlns:a16="http://schemas.microsoft.com/office/drawing/2014/main" id="{020D7A1D-EFAD-4C8C-B9DE-D0FAD269B77A}"/>
              </a:ext>
            </a:extLst>
          </p:cNvPr>
          <p:cNvSpPr txBox="1"/>
          <p:nvPr/>
        </p:nvSpPr>
        <p:spPr bwMode="gray">
          <a:xfrm>
            <a:off x="2199412" y="2867626"/>
            <a:ext cx="128158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10.1.12.0/24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5" name="TextBox 120">
            <a:extLst>
              <a:ext uri="{FF2B5EF4-FFF2-40B4-BE49-F238E27FC236}">
                <a16:creationId xmlns="" xmlns:a16="http://schemas.microsoft.com/office/drawing/2014/main" id="{020D7A1D-EFAD-4C8C-B9DE-D0FAD269B77A}"/>
              </a:ext>
            </a:extLst>
          </p:cNvPr>
          <p:cNvSpPr txBox="1"/>
          <p:nvPr/>
        </p:nvSpPr>
        <p:spPr bwMode="gray">
          <a:xfrm>
            <a:off x="2131293" y="3112714"/>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6" name="TextBox 120">
            <a:extLst>
              <a:ext uri="{FF2B5EF4-FFF2-40B4-BE49-F238E27FC236}">
                <a16:creationId xmlns="" xmlns:a16="http://schemas.microsoft.com/office/drawing/2014/main" id="{020D7A1D-EFAD-4C8C-B9DE-D0FAD269B77A}"/>
              </a:ext>
            </a:extLst>
          </p:cNvPr>
          <p:cNvSpPr txBox="1"/>
          <p:nvPr/>
        </p:nvSpPr>
        <p:spPr bwMode="gray">
          <a:xfrm>
            <a:off x="3142958" y="3112714"/>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7" name="TextBox 120">
            <a:extLst>
              <a:ext uri="{FF2B5EF4-FFF2-40B4-BE49-F238E27FC236}">
                <a16:creationId xmlns="" xmlns:a16="http://schemas.microsoft.com/office/drawing/2014/main" id="{020D7A1D-EFAD-4C8C-B9DE-D0FAD269B77A}"/>
              </a:ext>
            </a:extLst>
          </p:cNvPr>
          <p:cNvSpPr txBox="1"/>
          <p:nvPr/>
        </p:nvSpPr>
        <p:spPr bwMode="gray">
          <a:xfrm rot="1108285">
            <a:off x="3900383" y="1964941"/>
            <a:ext cx="36453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8" name="TextBox 120">
            <a:extLst>
              <a:ext uri="{FF2B5EF4-FFF2-40B4-BE49-F238E27FC236}">
                <a16:creationId xmlns="" xmlns:a16="http://schemas.microsoft.com/office/drawing/2014/main" id="{020D7A1D-EFAD-4C8C-B9DE-D0FAD269B77A}"/>
              </a:ext>
            </a:extLst>
          </p:cNvPr>
          <p:cNvSpPr txBox="1"/>
          <p:nvPr/>
        </p:nvSpPr>
        <p:spPr bwMode="gray">
          <a:xfrm rot="1108285">
            <a:off x="4761007" y="2271372"/>
            <a:ext cx="36453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9" name="TextBox 120">
            <a:extLst>
              <a:ext uri="{FF2B5EF4-FFF2-40B4-BE49-F238E27FC236}">
                <a16:creationId xmlns="" xmlns:a16="http://schemas.microsoft.com/office/drawing/2014/main" id="{020D7A1D-EFAD-4C8C-B9DE-D0FAD269B77A}"/>
              </a:ext>
            </a:extLst>
          </p:cNvPr>
          <p:cNvSpPr txBox="1"/>
          <p:nvPr/>
        </p:nvSpPr>
        <p:spPr bwMode="gray">
          <a:xfrm rot="20383017">
            <a:off x="3909116" y="2621153"/>
            <a:ext cx="128158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10.1.23.0/24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0" name="TextBox 120">
            <a:extLst>
              <a:ext uri="{FF2B5EF4-FFF2-40B4-BE49-F238E27FC236}">
                <a16:creationId xmlns="" xmlns:a16="http://schemas.microsoft.com/office/drawing/2014/main" id="{020D7A1D-EFAD-4C8C-B9DE-D0FAD269B77A}"/>
              </a:ext>
            </a:extLst>
          </p:cNvPr>
          <p:cNvSpPr txBox="1"/>
          <p:nvPr/>
        </p:nvSpPr>
        <p:spPr bwMode="gray">
          <a:xfrm>
            <a:off x="5385925" y="2800166"/>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103</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1" name="椭圆 120"/>
          <p:cNvSpPr/>
          <p:nvPr/>
        </p:nvSpPr>
        <p:spPr bwMode="gray">
          <a:xfrm>
            <a:off x="3841804" y="3063410"/>
            <a:ext cx="150125" cy="152230"/>
          </a:xfrm>
          <a:prstGeom prst="ellips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椭圆 121"/>
          <p:cNvSpPr/>
          <p:nvPr/>
        </p:nvSpPr>
        <p:spPr bwMode="gray">
          <a:xfrm>
            <a:off x="5071813" y="3818918"/>
            <a:ext cx="150125" cy="152230"/>
          </a:xfrm>
          <a:prstGeom prst="ellips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TextBox 120">
            <a:extLst>
              <a:ext uri="{FF2B5EF4-FFF2-40B4-BE49-F238E27FC236}">
                <a16:creationId xmlns="" xmlns:a16="http://schemas.microsoft.com/office/drawing/2014/main" id="{020D7A1D-EFAD-4C8C-B9DE-D0FAD269B77A}"/>
              </a:ext>
            </a:extLst>
          </p:cNvPr>
          <p:cNvSpPr txBox="1"/>
          <p:nvPr/>
        </p:nvSpPr>
        <p:spPr bwMode="gray">
          <a:xfrm>
            <a:off x="5233350" y="3741146"/>
            <a:ext cx="910791" cy="307777"/>
          </a:xfrm>
          <a:prstGeom prst="rect">
            <a:avLst/>
          </a:prstGeom>
          <a:noFill/>
          <a:ln>
            <a:noFill/>
          </a:ln>
        </p:spPr>
        <p:txBody>
          <a:bodyPr wrap="squar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路由过滤</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五边形 48"/>
          <p:cNvSpPr/>
          <p:nvPr/>
        </p:nvSpPr>
        <p:spPr bwMode="auto">
          <a:xfrm>
            <a:off x="8335082" y="100861"/>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50" name="燕尾形 49"/>
          <p:cNvSpPr/>
          <p:nvPr/>
        </p:nvSpPr>
        <p:spPr bwMode="auto">
          <a:xfrm>
            <a:off x="9029654" y="100861"/>
            <a:ext cx="126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AS_Path Filter</a:t>
            </a:r>
          </a:p>
        </p:txBody>
      </p:sp>
      <p:sp>
        <p:nvSpPr>
          <p:cNvPr id="51" name="燕尾形 50"/>
          <p:cNvSpPr/>
          <p:nvPr/>
        </p:nvSpPr>
        <p:spPr bwMode="auto">
          <a:xfrm>
            <a:off x="10203025" y="100861"/>
            <a:ext cx="154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Community Filter</a:t>
            </a:r>
          </a:p>
        </p:txBody>
      </p:sp>
    </p:spTree>
    <p:extLst>
      <p:ext uri="{BB962C8B-B14F-4D97-AF65-F5344CB8AC3E}">
        <p14:creationId xmlns:p14="http://schemas.microsoft.com/office/powerpoint/2010/main" val="185082190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AS_Path Filter</a:t>
            </a:r>
            <a:r>
              <a:rPr lang="zh-CN" altLang="en-US" smtClean="0"/>
              <a:t>的配置举例 </a:t>
            </a:r>
            <a:r>
              <a:rPr lang="en-US" altLang="zh-CN" smtClean="0"/>
              <a:t>(2)</a:t>
            </a:r>
            <a:endParaRPr lang="zh-CN" altLang="en-US" dirty="0"/>
          </a:p>
        </p:txBody>
      </p:sp>
      <p:sp>
        <p:nvSpPr>
          <p:cNvPr id="15" name="文本占位符 2"/>
          <p:cNvSpPr txBox="1">
            <a:spLocks/>
          </p:cNvSpPr>
          <p:nvPr/>
        </p:nvSpPr>
        <p:spPr bwMode="auto">
          <a:xfrm>
            <a:off x="446088" y="4186294"/>
            <a:ext cx="5627683" cy="1591052"/>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en-US" altLang="zh-CN" sz="1800" dirty="0"/>
              <a:t>R2</a:t>
            </a:r>
            <a:r>
              <a:rPr lang="zh-CN" altLang="en-US" sz="1800" dirty="0"/>
              <a:t>传递</a:t>
            </a:r>
            <a:r>
              <a:rPr lang="en-US" altLang="zh-CN" sz="1800" dirty="0"/>
              <a:t>EBGP</a:t>
            </a:r>
            <a:r>
              <a:rPr lang="zh-CN" altLang="en-US" sz="1800" dirty="0"/>
              <a:t>路由给</a:t>
            </a:r>
            <a:r>
              <a:rPr lang="en-US" altLang="zh-CN" sz="1800" dirty="0" smtClean="0"/>
              <a:t>R3</a:t>
            </a:r>
            <a:r>
              <a:rPr lang="zh-CN" altLang="en-US" sz="1800" dirty="0" smtClean="0"/>
              <a:t>，</a:t>
            </a:r>
            <a:r>
              <a:rPr lang="zh-CN" altLang="en-US" sz="1800" dirty="0"/>
              <a:t>其中部分路由为</a:t>
            </a:r>
            <a:r>
              <a:rPr lang="en-US" altLang="zh-CN" sz="1800" dirty="0"/>
              <a:t>R2</a:t>
            </a:r>
            <a:r>
              <a:rPr lang="zh-CN" altLang="en-US" sz="1800" dirty="0"/>
              <a:t>本地始发，另一部分为</a:t>
            </a:r>
            <a:r>
              <a:rPr lang="en-US" altLang="zh-CN" sz="1800" dirty="0" smtClean="0"/>
              <a:t>AS 101</a:t>
            </a:r>
            <a:r>
              <a:rPr lang="zh-CN" altLang="en-US" sz="1800" dirty="0" smtClean="0"/>
              <a:t>传递</a:t>
            </a:r>
            <a:r>
              <a:rPr lang="zh-CN" altLang="en-US" sz="1800" dirty="0"/>
              <a:t>给</a:t>
            </a:r>
            <a:r>
              <a:rPr lang="en-US" altLang="zh-CN" sz="1800" dirty="0"/>
              <a:t>R2</a:t>
            </a:r>
            <a:r>
              <a:rPr lang="zh-CN" altLang="en-US" sz="1800" dirty="0"/>
              <a:t>再由</a:t>
            </a:r>
            <a:r>
              <a:rPr lang="en-US" altLang="zh-CN" sz="1800" dirty="0"/>
              <a:t>R2</a:t>
            </a:r>
            <a:r>
              <a:rPr lang="zh-CN" altLang="en-US" sz="1800" dirty="0"/>
              <a:t>更新给</a:t>
            </a:r>
            <a:r>
              <a:rPr lang="en-US" altLang="zh-CN" sz="1800" dirty="0" smtClean="0"/>
              <a:t>R3</a:t>
            </a:r>
            <a:r>
              <a:rPr lang="zh-CN" altLang="en-US" sz="1800" dirty="0" smtClean="0"/>
              <a:t>。</a:t>
            </a:r>
            <a:endParaRPr lang="en-US" altLang="zh-CN" sz="1800" dirty="0" smtClean="0"/>
          </a:p>
          <a:p>
            <a:pPr marL="0" indent="0">
              <a:buNone/>
            </a:pPr>
            <a:r>
              <a:rPr lang="zh-CN" altLang="en-US" sz="1800" dirty="0" smtClean="0"/>
              <a:t>现在</a:t>
            </a:r>
            <a:r>
              <a:rPr lang="en-US" altLang="zh-CN" sz="1800" dirty="0" smtClean="0"/>
              <a:t>R2</a:t>
            </a:r>
            <a:r>
              <a:rPr lang="zh-CN" altLang="en-US" sz="1800" dirty="0" smtClean="0"/>
              <a:t>上</a:t>
            </a:r>
            <a:r>
              <a:rPr lang="zh-CN" altLang="en-US" sz="1800" dirty="0"/>
              <a:t>部署路由策略</a:t>
            </a:r>
            <a:r>
              <a:rPr lang="zh-CN" altLang="en-US" sz="1800" dirty="0" smtClean="0"/>
              <a:t>，</a:t>
            </a:r>
            <a:r>
              <a:rPr lang="zh-CN" altLang="en-US" sz="1800" dirty="0"/>
              <a:t>拒绝</a:t>
            </a:r>
            <a:r>
              <a:rPr lang="zh-CN" altLang="en-US" sz="1800" dirty="0" smtClean="0"/>
              <a:t>始</a:t>
            </a:r>
            <a:r>
              <a:rPr lang="zh-CN" altLang="en-US" sz="1800" dirty="0"/>
              <a:t>发于</a:t>
            </a:r>
            <a:r>
              <a:rPr lang="en-US" altLang="zh-CN" sz="1800" dirty="0" smtClean="0"/>
              <a:t>AS 101</a:t>
            </a:r>
            <a:r>
              <a:rPr lang="zh-CN" altLang="en-US" sz="1800" dirty="0" smtClean="0"/>
              <a:t>的</a:t>
            </a:r>
            <a:r>
              <a:rPr lang="zh-CN" altLang="en-US" sz="1800" dirty="0"/>
              <a:t>路由。</a:t>
            </a:r>
          </a:p>
        </p:txBody>
      </p:sp>
      <p:sp>
        <p:nvSpPr>
          <p:cNvPr id="66" name="文本框 65"/>
          <p:cNvSpPr txBox="1"/>
          <p:nvPr/>
        </p:nvSpPr>
        <p:spPr>
          <a:xfrm>
            <a:off x="6338670" y="1326810"/>
            <a:ext cx="2428870" cy="338554"/>
          </a:xfrm>
          <a:prstGeom prst="rect">
            <a:avLst/>
          </a:prstGeom>
          <a:noFill/>
        </p:spPr>
        <p:txBody>
          <a:bodyPr wrap="none" rtlCol="0">
            <a:spAutoFit/>
          </a:bodyPr>
          <a:lstStyle/>
          <a:p>
            <a:pPr fontAlgn="auto">
              <a:spcBef>
                <a:spcPts val="0"/>
              </a:spcBef>
              <a:spcAft>
                <a:spcPts val="0"/>
              </a:spcAft>
            </a:pPr>
            <a:r>
              <a:rPr lang="en-US" altLang="zh-CN" sz="1600" dirty="0" smtClean="0">
                <a:solidFill>
                  <a:prstClr val="black"/>
                </a:solidFill>
              </a:rPr>
              <a:t>1</a:t>
            </a:r>
            <a:r>
              <a:rPr lang="zh-CN" altLang="en-US" sz="1600" dirty="0">
                <a:solidFill>
                  <a:prstClr val="black"/>
                </a:solidFill>
              </a:rPr>
              <a:t>、</a:t>
            </a:r>
            <a:r>
              <a:rPr lang="zh-CN" altLang="en-US" sz="1600" dirty="0" smtClean="0">
                <a:solidFill>
                  <a:prstClr val="black"/>
                </a:solidFill>
              </a:rPr>
              <a:t>创建</a:t>
            </a:r>
            <a:r>
              <a:rPr lang="en-US" altLang="zh-CN" sz="1600" dirty="0">
                <a:solidFill>
                  <a:prstClr val="black"/>
                </a:solidFill>
              </a:rPr>
              <a:t>AS_Path </a:t>
            </a:r>
            <a:r>
              <a:rPr lang="en-US" altLang="zh-CN" sz="1600" dirty="0" smtClean="0">
                <a:solidFill>
                  <a:prstClr val="black"/>
                </a:solidFill>
              </a:rPr>
              <a:t>Filter</a:t>
            </a:r>
            <a:r>
              <a:rPr lang="zh-CN" altLang="en-US" sz="1600" dirty="0" smtClean="0">
                <a:solidFill>
                  <a:prstClr val="black"/>
                </a:solidFill>
              </a:rPr>
              <a:t>。</a:t>
            </a:r>
            <a:endParaRPr lang="zh-CN" altLang="en-US" sz="1600" dirty="0">
              <a:solidFill>
                <a:prstClr val="black"/>
              </a:solidFill>
            </a:endParaRPr>
          </a:p>
        </p:txBody>
      </p:sp>
      <p:sp>
        <p:nvSpPr>
          <p:cNvPr id="67" name="文本框 66"/>
          <p:cNvSpPr txBox="1"/>
          <p:nvPr/>
        </p:nvSpPr>
        <p:spPr>
          <a:xfrm>
            <a:off x="6338670" y="3014200"/>
            <a:ext cx="4070345" cy="338554"/>
          </a:xfrm>
          <a:prstGeom prst="rect">
            <a:avLst/>
          </a:prstGeom>
          <a:noFill/>
        </p:spPr>
        <p:txBody>
          <a:bodyPr wrap="none" rtlCol="0">
            <a:spAutoFit/>
          </a:bodyPr>
          <a:lstStyle/>
          <a:p>
            <a:pPr fontAlgn="auto">
              <a:spcBef>
                <a:spcPts val="0"/>
              </a:spcBef>
              <a:spcAft>
                <a:spcPts val="0"/>
              </a:spcAft>
            </a:pPr>
            <a:r>
              <a:rPr lang="en-US" altLang="zh-CN" sz="1600" dirty="0">
                <a:solidFill>
                  <a:prstClr val="black"/>
                </a:solidFill>
              </a:rPr>
              <a:t>2</a:t>
            </a:r>
            <a:r>
              <a:rPr lang="zh-CN" altLang="en-US" sz="1600" dirty="0" smtClean="0">
                <a:solidFill>
                  <a:prstClr val="black"/>
                </a:solidFill>
              </a:rPr>
              <a:t>、（路由策略方式）应用</a:t>
            </a:r>
            <a:r>
              <a:rPr lang="en-US" altLang="zh-CN" sz="1600" dirty="0" smtClean="0">
                <a:solidFill>
                  <a:prstClr val="black"/>
                </a:solidFill>
              </a:rPr>
              <a:t>AS_Path Filter</a:t>
            </a:r>
            <a:r>
              <a:rPr lang="zh-CN" altLang="en-US" sz="1600" dirty="0" smtClean="0">
                <a:solidFill>
                  <a:prstClr val="black"/>
                </a:solidFill>
              </a:rPr>
              <a:t>。</a:t>
            </a:r>
            <a:endParaRPr lang="zh-CN" altLang="en-US" sz="1600" dirty="0">
              <a:solidFill>
                <a:prstClr val="black"/>
              </a:solidFill>
            </a:endParaRPr>
          </a:p>
        </p:txBody>
      </p:sp>
      <p:sp>
        <p:nvSpPr>
          <p:cNvPr id="69" name="矩形 68"/>
          <p:cNvSpPr/>
          <p:nvPr/>
        </p:nvSpPr>
        <p:spPr>
          <a:xfrm>
            <a:off x="6675163" y="2263667"/>
            <a:ext cx="4649448" cy="400110"/>
          </a:xfrm>
          <a:prstGeom prst="rect">
            <a:avLst/>
          </a:prstGeom>
        </p:spPr>
        <p:txBody>
          <a:bodyPr wrap="square">
            <a:spAutoFit/>
          </a:bodyPr>
          <a:lstStyle/>
          <a:p>
            <a:pPr fontAlgn="auto">
              <a:lnSpc>
                <a:spcPts val="2400"/>
              </a:lnSpc>
            </a:pPr>
            <a:r>
              <a:rPr lang="zh-CN" altLang="en-US" sz="1400" dirty="0">
                <a:cs typeface="Courier New" panose="02070309020205020404" pitchFamily="49" charset="0"/>
              </a:rPr>
              <a:t>拒绝</a:t>
            </a:r>
            <a:r>
              <a:rPr lang="zh-CN" altLang="en-US" sz="1400" dirty="0" smtClean="0">
                <a:cs typeface="Courier New" panose="02070309020205020404" pitchFamily="49" charset="0"/>
              </a:rPr>
              <a:t>始发于</a:t>
            </a:r>
            <a:r>
              <a:rPr lang="en-US" altLang="zh-CN" sz="1400" dirty="0" smtClean="0">
                <a:cs typeface="Courier New" panose="02070309020205020404" pitchFamily="49" charset="0"/>
              </a:rPr>
              <a:t>AS 101</a:t>
            </a:r>
            <a:r>
              <a:rPr lang="zh-CN" altLang="en-US" sz="1400" dirty="0" smtClean="0">
                <a:cs typeface="Courier New" panose="02070309020205020404" pitchFamily="49" charset="0"/>
              </a:rPr>
              <a:t>的路由，但其他路由可以通过。</a:t>
            </a:r>
            <a:endParaRPr lang="en-US" altLang="zh-CN" sz="1400" dirty="0" smtClean="0">
              <a:cs typeface="Courier New" panose="02070309020205020404" pitchFamily="49" charset="0"/>
            </a:endParaRPr>
          </a:p>
        </p:txBody>
      </p:sp>
      <p:sp>
        <p:nvSpPr>
          <p:cNvPr id="70" name="文本框 69"/>
          <p:cNvSpPr txBox="1"/>
          <p:nvPr/>
        </p:nvSpPr>
        <p:spPr>
          <a:xfrm>
            <a:off x="6681861" y="3427837"/>
            <a:ext cx="5066783" cy="1600438"/>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pl-PL" altLang="zh-CN" sz="1400" dirty="0" smtClean="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R2</a:t>
            </a:r>
            <a:r>
              <a:rPr lang="pl-PL" altLang="zh-CN" sz="1400" dirty="0" smtClean="0">
                <a:solidFill>
                  <a:prstClr val="black"/>
                </a:solidFill>
                <a:cs typeface="Courier New" panose="02070309020205020404" pitchFamily="49" charset="0"/>
              </a:rPr>
              <a:t>] </a:t>
            </a:r>
            <a:r>
              <a:rPr lang="pl-PL" altLang="zh-CN" sz="1400" dirty="0">
                <a:solidFill>
                  <a:prstClr val="black"/>
                </a:solidFill>
                <a:cs typeface="Courier New" panose="02070309020205020404" pitchFamily="49" charset="0"/>
              </a:rPr>
              <a:t>route-policy </a:t>
            </a:r>
            <a:r>
              <a:rPr lang="en-US" altLang="zh-CN" sz="1400" dirty="0" smtClean="0">
                <a:solidFill>
                  <a:prstClr val="black"/>
                </a:solidFill>
                <a:cs typeface="Courier New" panose="02070309020205020404" pitchFamily="49" charset="0"/>
              </a:rPr>
              <a:t>AS_Path</a:t>
            </a:r>
            <a:r>
              <a:rPr lang="pl-PL" altLang="zh-CN" sz="1400" dirty="0" smtClean="0">
                <a:solidFill>
                  <a:prstClr val="black"/>
                </a:solidFill>
                <a:cs typeface="Courier New" panose="02070309020205020404" pitchFamily="49" charset="0"/>
              </a:rPr>
              <a:t> </a:t>
            </a:r>
            <a:r>
              <a:rPr lang="pl-PL" altLang="zh-CN" sz="1400" dirty="0">
                <a:solidFill>
                  <a:prstClr val="black"/>
                </a:solidFill>
                <a:cs typeface="Courier New" panose="02070309020205020404" pitchFamily="49" charset="0"/>
              </a:rPr>
              <a:t>permit node 10</a:t>
            </a:r>
          </a:p>
          <a:p>
            <a:pPr fontAlgn="auto">
              <a:spcBef>
                <a:spcPts val="0"/>
              </a:spcBef>
              <a:spcAft>
                <a:spcPts val="0"/>
              </a:spcAft>
            </a:pPr>
            <a:r>
              <a:rPr lang="pl-PL" altLang="zh-CN" sz="1400" dirty="0" smtClean="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R2</a:t>
            </a:r>
            <a:r>
              <a:rPr lang="pl-PL" altLang="zh-CN" sz="1400" dirty="0" smtClean="0">
                <a:solidFill>
                  <a:prstClr val="black"/>
                </a:solidFill>
                <a:cs typeface="Courier New" panose="02070309020205020404" pitchFamily="49" charset="0"/>
              </a:rPr>
              <a:t>-route-policy]</a:t>
            </a:r>
            <a:r>
              <a:rPr lang="en-US" altLang="zh-CN" sz="1400" dirty="0">
                <a:solidFill>
                  <a:prstClr val="black"/>
                </a:solidFill>
                <a:cs typeface="Courier New" panose="02070309020205020404" pitchFamily="49" charset="0"/>
              </a:rPr>
              <a:t> </a:t>
            </a:r>
            <a:r>
              <a:rPr lang="en-US" altLang="zh-CN" sz="1400" dirty="0">
                <a:solidFill>
                  <a:srgbClr val="C7000B"/>
                </a:solidFill>
                <a:cs typeface="Courier New" panose="02070309020205020404" pitchFamily="49" charset="0"/>
              </a:rPr>
              <a:t>if-match </a:t>
            </a:r>
            <a:r>
              <a:rPr lang="en-US" altLang="zh-CN" sz="1400" dirty="0" smtClean="0">
                <a:solidFill>
                  <a:srgbClr val="C7000B"/>
                </a:solidFill>
                <a:cs typeface="Courier New" panose="02070309020205020404" pitchFamily="49" charset="0"/>
              </a:rPr>
              <a:t>as-path-filter </a:t>
            </a:r>
            <a:r>
              <a:rPr lang="en-US" altLang="zh-CN" sz="1400" dirty="0" smtClean="0">
                <a:solidFill>
                  <a:prstClr val="black"/>
                </a:solidFill>
                <a:cs typeface="Courier New" panose="02070309020205020404" pitchFamily="49" charset="0"/>
              </a:rPr>
              <a:t>1</a:t>
            </a:r>
          </a:p>
          <a:p>
            <a:pPr fontAlgn="auto">
              <a:spcBef>
                <a:spcPts val="0"/>
              </a:spcBef>
              <a:spcAft>
                <a:spcPts val="0"/>
              </a:spcAft>
            </a:pPr>
            <a:r>
              <a:rPr lang="pl-PL" altLang="zh-CN" sz="1400" dirty="0">
                <a:solidFill>
                  <a:prstClr val="black"/>
                </a:solidFill>
                <a:cs typeface="Courier New" panose="02070309020205020404" pitchFamily="49" charset="0"/>
              </a:rPr>
              <a:t>[</a:t>
            </a:r>
            <a:r>
              <a:rPr lang="en-US" altLang="zh-CN" sz="1400" dirty="0">
                <a:solidFill>
                  <a:prstClr val="black"/>
                </a:solidFill>
                <a:cs typeface="Courier New" panose="02070309020205020404" pitchFamily="49" charset="0"/>
              </a:rPr>
              <a:t>R2</a:t>
            </a:r>
            <a:r>
              <a:rPr lang="pl-PL" altLang="zh-CN" sz="1400" dirty="0">
                <a:solidFill>
                  <a:prstClr val="black"/>
                </a:solidFill>
                <a:cs typeface="Courier New" panose="02070309020205020404" pitchFamily="49" charset="0"/>
              </a:rPr>
              <a:t>-route-policy</a:t>
            </a:r>
            <a:r>
              <a:rPr lang="pl-PL" altLang="zh-CN" sz="1400" dirty="0" smtClean="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 quit</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smtClean="0">
                <a:solidFill>
                  <a:prstClr val="black"/>
                </a:solidFill>
                <a:cs typeface="Courier New" panose="02070309020205020404" pitchFamily="49" charset="0"/>
              </a:rPr>
              <a:t>[R2] </a:t>
            </a:r>
            <a:r>
              <a:rPr lang="en-US" altLang="zh-CN" sz="1400" dirty="0">
                <a:solidFill>
                  <a:prstClr val="black"/>
                </a:solidFill>
                <a:cs typeface="Courier New" panose="02070309020205020404" pitchFamily="49" charset="0"/>
              </a:rPr>
              <a:t>bgp </a:t>
            </a:r>
            <a:r>
              <a:rPr lang="en-US" altLang="zh-CN" sz="1400" dirty="0" smtClean="0">
                <a:solidFill>
                  <a:prstClr val="black"/>
                </a:solidFill>
                <a:cs typeface="Courier New" panose="02070309020205020404" pitchFamily="49" charset="0"/>
              </a:rPr>
              <a:t>102</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smtClean="0">
                <a:solidFill>
                  <a:prstClr val="black"/>
                </a:solidFill>
                <a:cs typeface="Courier New" panose="02070309020205020404" pitchFamily="49" charset="0"/>
              </a:rPr>
              <a:t>[R2-bgp] peer 10.1.23.3 as-number 103</a:t>
            </a:r>
          </a:p>
          <a:p>
            <a:pPr fontAlgn="auto">
              <a:spcBef>
                <a:spcPts val="0"/>
              </a:spcBef>
              <a:spcAft>
                <a:spcPts val="0"/>
              </a:spcAft>
            </a:pPr>
            <a:r>
              <a:rPr lang="en-US" altLang="zh-CN" sz="1400" dirty="0" smtClean="0">
                <a:solidFill>
                  <a:prstClr val="black"/>
                </a:solidFill>
                <a:cs typeface="Courier New" panose="02070309020205020404" pitchFamily="49" charset="0"/>
              </a:rPr>
              <a:t>[R2-bgp</a:t>
            </a:r>
            <a:r>
              <a:rPr lang="en-US" altLang="zh-CN" sz="1400" dirty="0">
                <a:solidFill>
                  <a:prstClr val="black"/>
                </a:solidFill>
                <a:cs typeface="Courier New" panose="02070309020205020404" pitchFamily="49" charset="0"/>
              </a:rPr>
              <a:t>] ipv4-family unicast</a:t>
            </a:r>
          </a:p>
          <a:p>
            <a:pPr fontAlgn="auto">
              <a:spcBef>
                <a:spcPts val="0"/>
              </a:spcBef>
              <a:spcAft>
                <a:spcPts val="0"/>
              </a:spcAft>
            </a:pPr>
            <a:r>
              <a:rPr lang="en-US" altLang="zh-CN" sz="1400" dirty="0" smtClean="0">
                <a:solidFill>
                  <a:prstClr val="black"/>
                </a:solidFill>
                <a:cs typeface="Courier New" panose="02070309020205020404" pitchFamily="49" charset="0"/>
              </a:rPr>
              <a:t>[R2-bgp-af-ipv4</a:t>
            </a:r>
            <a:r>
              <a:rPr lang="en-US" altLang="zh-CN" sz="1400" dirty="0">
                <a:solidFill>
                  <a:prstClr val="black"/>
                </a:solidFill>
                <a:cs typeface="Courier New" panose="02070309020205020404" pitchFamily="49" charset="0"/>
              </a:rPr>
              <a:t>] peer </a:t>
            </a:r>
            <a:r>
              <a:rPr lang="en-US" altLang="zh-CN" sz="1400" dirty="0" smtClean="0">
                <a:solidFill>
                  <a:prstClr val="black"/>
                </a:solidFill>
                <a:cs typeface="Courier New" panose="02070309020205020404" pitchFamily="49" charset="0"/>
              </a:rPr>
              <a:t>10.1.23.3 </a:t>
            </a:r>
            <a:r>
              <a:rPr lang="en-US" altLang="zh-CN" sz="1400" dirty="0">
                <a:solidFill>
                  <a:prstClr val="black"/>
                </a:solidFill>
                <a:cs typeface="Courier New" panose="02070309020205020404" pitchFamily="49" charset="0"/>
              </a:rPr>
              <a:t>route-policy </a:t>
            </a:r>
            <a:r>
              <a:rPr lang="en-US" altLang="zh-CN" sz="1400" dirty="0" smtClean="0">
                <a:solidFill>
                  <a:prstClr val="black"/>
                </a:solidFill>
                <a:cs typeface="Courier New" panose="02070309020205020404" pitchFamily="49" charset="0"/>
              </a:rPr>
              <a:t>AS_Path </a:t>
            </a:r>
            <a:r>
              <a:rPr lang="en-US" altLang="zh-CN" sz="1400" dirty="0">
                <a:solidFill>
                  <a:prstClr val="black"/>
                </a:solidFill>
                <a:cs typeface="Courier New" panose="02070309020205020404" pitchFamily="49" charset="0"/>
              </a:rPr>
              <a:t>export</a:t>
            </a:r>
            <a:endParaRPr lang="en-US" altLang="zh-CN" sz="1400" dirty="0" smtClean="0">
              <a:solidFill>
                <a:prstClr val="black"/>
              </a:solidFill>
              <a:cs typeface="Courier New" panose="02070309020205020404" pitchFamily="49" charset="0"/>
            </a:endParaRPr>
          </a:p>
        </p:txBody>
      </p:sp>
      <p:sp>
        <p:nvSpPr>
          <p:cNvPr id="48" name="文本框 47"/>
          <p:cNvSpPr txBox="1"/>
          <p:nvPr/>
        </p:nvSpPr>
        <p:spPr>
          <a:xfrm>
            <a:off x="6681862" y="1744893"/>
            <a:ext cx="5066782" cy="523220"/>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smtClean="0">
                <a:solidFill>
                  <a:prstClr val="black"/>
                </a:solidFill>
                <a:cs typeface="Courier New" panose="02070309020205020404" pitchFamily="49" charset="0"/>
              </a:rPr>
              <a:t>[R2] </a:t>
            </a:r>
            <a:r>
              <a:rPr lang="en-US" altLang="zh-CN" sz="1400" dirty="0">
                <a:solidFill>
                  <a:srgbClr val="C7000B"/>
                </a:solidFill>
                <a:cs typeface="Courier New" panose="02070309020205020404" pitchFamily="49" charset="0"/>
              </a:rPr>
              <a:t>ip as-path-filter </a:t>
            </a:r>
            <a:r>
              <a:rPr lang="en-US" altLang="zh-CN" sz="1400" dirty="0" smtClean="0">
                <a:solidFill>
                  <a:srgbClr val="C7000B"/>
                </a:solidFill>
                <a:cs typeface="Courier New" panose="02070309020205020404" pitchFamily="49" charset="0"/>
              </a:rPr>
              <a:t>1 </a:t>
            </a:r>
            <a:r>
              <a:rPr lang="en-US" altLang="zh-CN" sz="1400" dirty="0">
                <a:solidFill>
                  <a:srgbClr val="C7000B"/>
                </a:solidFill>
                <a:cs typeface="Courier New" panose="02070309020205020404" pitchFamily="49" charset="0"/>
              </a:rPr>
              <a:t>deny </a:t>
            </a:r>
            <a:r>
              <a:rPr lang="en-US" altLang="zh-CN" sz="1400" dirty="0">
                <a:solidFill>
                  <a:prstClr val="black"/>
                </a:solidFill>
                <a:cs typeface="Courier New" panose="02070309020205020404" pitchFamily="49" charset="0"/>
              </a:rPr>
              <a:t>_101$ </a:t>
            </a:r>
            <a:endParaRPr lang="en-US" altLang="zh-CN" sz="1400" dirty="0" smtClean="0">
              <a:solidFill>
                <a:prstClr val="black"/>
              </a:solidFill>
              <a:cs typeface="Courier New" panose="02070309020205020404" pitchFamily="49" charset="0"/>
            </a:endParaRPr>
          </a:p>
          <a:p>
            <a:pPr fontAlgn="auto">
              <a:spcBef>
                <a:spcPts val="0"/>
              </a:spcBef>
              <a:spcAft>
                <a:spcPts val="0"/>
              </a:spcAft>
            </a:pPr>
            <a:r>
              <a:rPr lang="en-US" altLang="zh-CN" sz="1400" dirty="0" smtClean="0">
                <a:solidFill>
                  <a:prstClr val="black"/>
                </a:solidFill>
                <a:cs typeface="Courier New" panose="02070309020205020404" pitchFamily="49" charset="0"/>
              </a:rPr>
              <a:t>[R2] </a:t>
            </a:r>
            <a:r>
              <a:rPr lang="en-US" altLang="zh-CN" sz="1400" dirty="0">
                <a:solidFill>
                  <a:srgbClr val="C7000B"/>
                </a:solidFill>
                <a:cs typeface="Courier New" panose="02070309020205020404" pitchFamily="49" charset="0"/>
              </a:rPr>
              <a:t>ip as-path-filter </a:t>
            </a:r>
            <a:r>
              <a:rPr lang="en-US" altLang="zh-CN" sz="1400" dirty="0" smtClean="0">
                <a:solidFill>
                  <a:srgbClr val="C7000B"/>
                </a:solidFill>
                <a:cs typeface="Courier New" panose="02070309020205020404" pitchFamily="49" charset="0"/>
              </a:rPr>
              <a:t>1 </a:t>
            </a:r>
            <a:r>
              <a:rPr lang="en-US" altLang="zh-CN" sz="1400" dirty="0">
                <a:solidFill>
                  <a:srgbClr val="C7000B"/>
                </a:solidFill>
                <a:cs typeface="Courier New" panose="02070309020205020404" pitchFamily="49" charset="0"/>
              </a:rPr>
              <a:t>permit </a:t>
            </a:r>
            <a:r>
              <a:rPr lang="en-US" altLang="zh-CN" sz="1400" dirty="0">
                <a:solidFill>
                  <a:prstClr val="black"/>
                </a:solidFill>
                <a:cs typeface="Courier New" panose="02070309020205020404" pitchFamily="49" charset="0"/>
              </a:rPr>
              <a:t>.*</a:t>
            </a:r>
            <a:endParaRPr lang="en-US" altLang="zh-CN" sz="1400" dirty="0" smtClean="0">
              <a:solidFill>
                <a:prstClr val="black"/>
              </a:solidFill>
              <a:cs typeface="Courier New" panose="02070309020205020404" pitchFamily="49" charset="0"/>
            </a:endParaRPr>
          </a:p>
        </p:txBody>
      </p:sp>
      <p:sp>
        <p:nvSpPr>
          <p:cNvPr id="49" name="五边形 48"/>
          <p:cNvSpPr/>
          <p:nvPr/>
        </p:nvSpPr>
        <p:spPr bwMode="auto">
          <a:xfrm>
            <a:off x="8335082" y="100861"/>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50" name="燕尾形 49"/>
          <p:cNvSpPr/>
          <p:nvPr/>
        </p:nvSpPr>
        <p:spPr bwMode="auto">
          <a:xfrm>
            <a:off x="9029654" y="100861"/>
            <a:ext cx="126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AS_Path Filter</a:t>
            </a:r>
          </a:p>
        </p:txBody>
      </p:sp>
      <p:sp>
        <p:nvSpPr>
          <p:cNvPr id="51" name="燕尾形 50"/>
          <p:cNvSpPr/>
          <p:nvPr/>
        </p:nvSpPr>
        <p:spPr bwMode="auto">
          <a:xfrm>
            <a:off x="10203025" y="100861"/>
            <a:ext cx="154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Community Filter</a:t>
            </a:r>
          </a:p>
        </p:txBody>
      </p:sp>
      <p:sp>
        <p:nvSpPr>
          <p:cNvPr id="52" name="任意多边形 25"/>
          <p:cNvSpPr/>
          <p:nvPr/>
        </p:nvSpPr>
        <p:spPr bwMode="gray">
          <a:xfrm>
            <a:off x="2704767" y="2684890"/>
            <a:ext cx="1479980" cy="901782"/>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sp>
        <p:nvSpPr>
          <p:cNvPr id="53" name="任意多边形 25"/>
          <p:cNvSpPr/>
          <p:nvPr/>
        </p:nvSpPr>
        <p:spPr bwMode="gray">
          <a:xfrm>
            <a:off x="2704767" y="1484833"/>
            <a:ext cx="1479980" cy="819046"/>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sp>
        <p:nvSpPr>
          <p:cNvPr id="54" name="任意多边形 25"/>
          <p:cNvSpPr/>
          <p:nvPr/>
        </p:nvSpPr>
        <p:spPr bwMode="gray">
          <a:xfrm>
            <a:off x="4633217" y="1941690"/>
            <a:ext cx="1479980" cy="1167178"/>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sp>
        <p:nvSpPr>
          <p:cNvPr id="55" name="TextBox 120">
            <a:extLst>
              <a:ext uri="{FF2B5EF4-FFF2-40B4-BE49-F238E27FC236}">
                <a16:creationId xmlns="" xmlns:a16="http://schemas.microsoft.com/office/drawing/2014/main" id="{020D7A1D-EFAD-4C8C-B9DE-D0FAD269B77A}"/>
              </a:ext>
            </a:extLst>
          </p:cNvPr>
          <p:cNvSpPr txBox="1"/>
          <p:nvPr/>
        </p:nvSpPr>
        <p:spPr bwMode="gray">
          <a:xfrm>
            <a:off x="2718622" y="2005009"/>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104</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6" name="直接连接符 55"/>
          <p:cNvCxnSpPr>
            <a:stCxn id="57" idx="3"/>
            <a:endCxn id="60" idx="3"/>
          </p:cNvCxnSpPr>
          <p:nvPr/>
        </p:nvCxnSpPr>
        <p:spPr bwMode="gray">
          <a:xfrm>
            <a:off x="3939103" y="1925659"/>
            <a:ext cx="1704104" cy="5996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7" name="图片 5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399103" y="1704259"/>
            <a:ext cx="540000" cy="442800"/>
          </a:xfrm>
          <a:prstGeom prst="rect">
            <a:avLst/>
          </a:prstGeom>
        </p:spPr>
      </p:pic>
      <p:pic>
        <p:nvPicPr>
          <p:cNvPr id="58" name="图片 5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399103" y="2903500"/>
            <a:ext cx="540000" cy="442800"/>
          </a:xfrm>
          <a:prstGeom prst="rect">
            <a:avLst/>
          </a:prstGeom>
        </p:spPr>
      </p:pic>
      <p:cxnSp>
        <p:nvCxnSpPr>
          <p:cNvPr id="59" name="直接连接符 58"/>
          <p:cNvCxnSpPr>
            <a:stCxn id="58" idx="3"/>
            <a:endCxn id="60" idx="3"/>
          </p:cNvCxnSpPr>
          <p:nvPr/>
        </p:nvCxnSpPr>
        <p:spPr bwMode="gray">
          <a:xfrm flipV="1">
            <a:off x="3939103" y="2525279"/>
            <a:ext cx="1704104" cy="5996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0" name="图片 59"/>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103207" y="2303879"/>
            <a:ext cx="540000" cy="442800"/>
          </a:xfrm>
          <a:prstGeom prst="rect">
            <a:avLst/>
          </a:prstGeom>
        </p:spPr>
      </p:pic>
      <p:sp>
        <p:nvSpPr>
          <p:cNvPr id="61" name="任意多边形 25"/>
          <p:cNvSpPr/>
          <p:nvPr/>
        </p:nvSpPr>
        <p:spPr bwMode="gray">
          <a:xfrm>
            <a:off x="522288" y="2684890"/>
            <a:ext cx="1879121" cy="901782"/>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pic>
        <p:nvPicPr>
          <p:cNvPr id="62" name="图片 61"/>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615765" y="2903500"/>
            <a:ext cx="540000" cy="442800"/>
          </a:xfrm>
          <a:prstGeom prst="rect">
            <a:avLst/>
          </a:prstGeom>
        </p:spPr>
      </p:pic>
      <p:sp>
        <p:nvSpPr>
          <p:cNvPr id="63" name="TextBox 120">
            <a:extLst>
              <a:ext uri="{FF2B5EF4-FFF2-40B4-BE49-F238E27FC236}">
                <a16:creationId xmlns="" xmlns:a16="http://schemas.microsoft.com/office/drawing/2014/main" id="{020D7A1D-EFAD-4C8C-B9DE-D0FAD269B77A}"/>
              </a:ext>
            </a:extLst>
          </p:cNvPr>
          <p:cNvSpPr txBox="1"/>
          <p:nvPr/>
        </p:nvSpPr>
        <p:spPr bwMode="gray">
          <a:xfrm>
            <a:off x="473567" y="3317276"/>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TextBox 120">
            <a:extLst>
              <a:ext uri="{FF2B5EF4-FFF2-40B4-BE49-F238E27FC236}">
                <a16:creationId xmlns="" xmlns:a16="http://schemas.microsoft.com/office/drawing/2014/main" id="{020D7A1D-EFAD-4C8C-B9DE-D0FAD269B77A}"/>
              </a:ext>
            </a:extLst>
          </p:cNvPr>
          <p:cNvSpPr txBox="1"/>
          <p:nvPr/>
        </p:nvSpPr>
        <p:spPr bwMode="gray">
          <a:xfrm>
            <a:off x="2704767" y="3317276"/>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5" name="直接连接符 64"/>
          <p:cNvCxnSpPr>
            <a:stCxn id="62" idx="3"/>
            <a:endCxn id="58" idx="1"/>
          </p:cNvCxnSpPr>
          <p:nvPr/>
        </p:nvCxnSpPr>
        <p:spPr bwMode="gray">
          <a:xfrm>
            <a:off x="2155765" y="3124900"/>
            <a:ext cx="124333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a:endCxn id="62" idx="1"/>
          </p:cNvCxnSpPr>
          <p:nvPr/>
        </p:nvCxnSpPr>
        <p:spPr bwMode="gray">
          <a:xfrm>
            <a:off x="1501167" y="3124900"/>
            <a:ext cx="1145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bwMode="gray">
          <a:xfrm>
            <a:off x="1490438" y="3014200"/>
            <a:ext cx="0" cy="221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TextBox 120">
            <a:extLst>
              <a:ext uri="{FF2B5EF4-FFF2-40B4-BE49-F238E27FC236}">
                <a16:creationId xmlns="" xmlns:a16="http://schemas.microsoft.com/office/drawing/2014/main" id="{020D7A1D-EFAD-4C8C-B9DE-D0FAD269B77A}"/>
              </a:ext>
            </a:extLst>
          </p:cNvPr>
          <p:cNvSpPr txBox="1"/>
          <p:nvPr/>
        </p:nvSpPr>
        <p:spPr bwMode="gray">
          <a:xfrm>
            <a:off x="1464726" y="2657073"/>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TextBox 120">
            <a:extLst>
              <a:ext uri="{FF2B5EF4-FFF2-40B4-BE49-F238E27FC236}">
                <a16:creationId xmlns="" xmlns:a16="http://schemas.microsoft.com/office/drawing/2014/main" id="{020D7A1D-EFAD-4C8C-B9DE-D0FAD269B77A}"/>
              </a:ext>
            </a:extLst>
          </p:cNvPr>
          <p:cNvSpPr txBox="1"/>
          <p:nvPr/>
        </p:nvSpPr>
        <p:spPr bwMode="gray">
          <a:xfrm>
            <a:off x="3264705" y="2657073"/>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TextBox 120">
            <a:extLst>
              <a:ext uri="{FF2B5EF4-FFF2-40B4-BE49-F238E27FC236}">
                <a16:creationId xmlns="" xmlns:a16="http://schemas.microsoft.com/office/drawing/2014/main" id="{020D7A1D-EFAD-4C8C-B9DE-D0FAD269B77A}"/>
              </a:ext>
            </a:extLst>
          </p:cNvPr>
          <p:cNvSpPr txBox="1"/>
          <p:nvPr/>
        </p:nvSpPr>
        <p:spPr bwMode="gray">
          <a:xfrm>
            <a:off x="3264705" y="1437116"/>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R4</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TextBox 120">
            <a:extLst>
              <a:ext uri="{FF2B5EF4-FFF2-40B4-BE49-F238E27FC236}">
                <a16:creationId xmlns="" xmlns:a16="http://schemas.microsoft.com/office/drawing/2014/main" id="{020D7A1D-EFAD-4C8C-B9DE-D0FAD269B77A}"/>
              </a:ext>
            </a:extLst>
          </p:cNvPr>
          <p:cNvSpPr txBox="1"/>
          <p:nvPr/>
        </p:nvSpPr>
        <p:spPr bwMode="gray">
          <a:xfrm>
            <a:off x="4959661" y="2057923"/>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R3</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6" name="直接箭头连接符 75"/>
          <p:cNvCxnSpPr/>
          <p:nvPr/>
        </p:nvCxnSpPr>
        <p:spPr bwMode="gray">
          <a:xfrm flipV="1">
            <a:off x="4087089" y="2992617"/>
            <a:ext cx="1034385" cy="395417"/>
          </a:xfrm>
          <a:prstGeom prst="straightConnector1">
            <a:avLst/>
          </a:prstGeom>
          <a:ln w="28575">
            <a:solidFill>
              <a:srgbClr val="ED6D00"/>
            </a:solidFill>
            <a:tailEnd type="triangle"/>
          </a:ln>
        </p:spPr>
        <p:style>
          <a:lnRef idx="1">
            <a:schemeClr val="accent1"/>
          </a:lnRef>
          <a:fillRef idx="0">
            <a:schemeClr val="accent1"/>
          </a:fillRef>
          <a:effectRef idx="0">
            <a:schemeClr val="accent1"/>
          </a:effectRef>
          <a:fontRef idx="minor">
            <a:schemeClr val="tx1"/>
          </a:fontRef>
        </p:style>
      </p:cxnSp>
      <p:sp>
        <p:nvSpPr>
          <p:cNvPr id="77" name="TextBox 120">
            <a:extLst>
              <a:ext uri="{FF2B5EF4-FFF2-40B4-BE49-F238E27FC236}">
                <a16:creationId xmlns="" xmlns:a16="http://schemas.microsoft.com/office/drawing/2014/main" id="{020D7A1D-EFAD-4C8C-B9DE-D0FAD269B77A}"/>
              </a:ext>
            </a:extLst>
          </p:cNvPr>
          <p:cNvSpPr txBox="1"/>
          <p:nvPr/>
        </p:nvSpPr>
        <p:spPr bwMode="gray">
          <a:xfrm rot="20395611">
            <a:off x="4348815" y="3110855"/>
            <a:ext cx="827092" cy="307777"/>
          </a:xfrm>
          <a:prstGeom prst="rect">
            <a:avLst/>
          </a:prstGeom>
          <a:noFill/>
          <a:ln>
            <a:noFill/>
          </a:ln>
        </p:spPr>
        <p:txBody>
          <a:bodyPr wrap="square" rtlCol="0">
            <a:spAutoFit/>
          </a:bodyPr>
          <a:lstStyle/>
          <a:p>
            <a:r>
              <a:rPr lang="en-US" altLang="zh-CN" sz="1400" b="1"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Route</a:t>
            </a:r>
            <a:endParaRPr lang="en-US" altLang="zh-CN" sz="1400" b="1"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TextBox 120">
            <a:extLst>
              <a:ext uri="{FF2B5EF4-FFF2-40B4-BE49-F238E27FC236}">
                <a16:creationId xmlns="" xmlns:a16="http://schemas.microsoft.com/office/drawing/2014/main" id="{020D7A1D-EFAD-4C8C-B9DE-D0FAD269B77A}"/>
              </a:ext>
            </a:extLst>
          </p:cNvPr>
          <p:cNvSpPr txBox="1"/>
          <p:nvPr/>
        </p:nvSpPr>
        <p:spPr bwMode="gray">
          <a:xfrm rot="1108285">
            <a:off x="3978794" y="1874524"/>
            <a:ext cx="128158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10.1.34.0/24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TextBox 120">
            <a:extLst>
              <a:ext uri="{FF2B5EF4-FFF2-40B4-BE49-F238E27FC236}">
                <a16:creationId xmlns="" xmlns:a16="http://schemas.microsoft.com/office/drawing/2014/main" id="{020D7A1D-EFAD-4C8C-B9DE-D0FAD269B77A}"/>
              </a:ext>
            </a:extLst>
          </p:cNvPr>
          <p:cNvSpPr txBox="1"/>
          <p:nvPr/>
        </p:nvSpPr>
        <p:spPr bwMode="gray">
          <a:xfrm rot="20396470">
            <a:off x="3888328" y="3074957"/>
            <a:ext cx="408727"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TextBox 120">
            <a:extLst>
              <a:ext uri="{FF2B5EF4-FFF2-40B4-BE49-F238E27FC236}">
                <a16:creationId xmlns="" xmlns:a16="http://schemas.microsoft.com/office/drawing/2014/main" id="{020D7A1D-EFAD-4C8C-B9DE-D0FAD269B77A}"/>
              </a:ext>
            </a:extLst>
          </p:cNvPr>
          <p:cNvSpPr txBox="1"/>
          <p:nvPr/>
        </p:nvSpPr>
        <p:spPr bwMode="gray">
          <a:xfrm rot="20396470">
            <a:off x="4940520" y="2672414"/>
            <a:ext cx="408727"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TextBox 120">
            <a:extLst>
              <a:ext uri="{FF2B5EF4-FFF2-40B4-BE49-F238E27FC236}">
                <a16:creationId xmlns="" xmlns:a16="http://schemas.microsoft.com/office/drawing/2014/main" id="{020D7A1D-EFAD-4C8C-B9DE-D0FAD269B77A}"/>
              </a:ext>
            </a:extLst>
          </p:cNvPr>
          <p:cNvSpPr txBox="1"/>
          <p:nvPr/>
        </p:nvSpPr>
        <p:spPr bwMode="gray">
          <a:xfrm>
            <a:off x="466233" y="2824830"/>
            <a:ext cx="1105885" cy="523220"/>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Loopback0</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10.1.1.1/32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TextBox 120">
            <a:extLst>
              <a:ext uri="{FF2B5EF4-FFF2-40B4-BE49-F238E27FC236}">
                <a16:creationId xmlns="" xmlns:a16="http://schemas.microsoft.com/office/drawing/2014/main" id="{020D7A1D-EFAD-4C8C-B9DE-D0FAD269B77A}"/>
              </a:ext>
            </a:extLst>
          </p:cNvPr>
          <p:cNvSpPr txBox="1"/>
          <p:nvPr/>
        </p:nvSpPr>
        <p:spPr bwMode="gray">
          <a:xfrm>
            <a:off x="2199412" y="2867626"/>
            <a:ext cx="128158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10.1.12.0/24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TextBox 120">
            <a:extLst>
              <a:ext uri="{FF2B5EF4-FFF2-40B4-BE49-F238E27FC236}">
                <a16:creationId xmlns="" xmlns:a16="http://schemas.microsoft.com/office/drawing/2014/main" id="{020D7A1D-EFAD-4C8C-B9DE-D0FAD269B77A}"/>
              </a:ext>
            </a:extLst>
          </p:cNvPr>
          <p:cNvSpPr txBox="1"/>
          <p:nvPr/>
        </p:nvSpPr>
        <p:spPr bwMode="gray">
          <a:xfrm>
            <a:off x="2131293" y="3112714"/>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TextBox 120">
            <a:extLst>
              <a:ext uri="{FF2B5EF4-FFF2-40B4-BE49-F238E27FC236}">
                <a16:creationId xmlns="" xmlns:a16="http://schemas.microsoft.com/office/drawing/2014/main" id="{020D7A1D-EFAD-4C8C-B9DE-D0FAD269B77A}"/>
              </a:ext>
            </a:extLst>
          </p:cNvPr>
          <p:cNvSpPr txBox="1"/>
          <p:nvPr/>
        </p:nvSpPr>
        <p:spPr bwMode="gray">
          <a:xfrm>
            <a:off x="3142958" y="3112714"/>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TextBox 120">
            <a:extLst>
              <a:ext uri="{FF2B5EF4-FFF2-40B4-BE49-F238E27FC236}">
                <a16:creationId xmlns="" xmlns:a16="http://schemas.microsoft.com/office/drawing/2014/main" id="{020D7A1D-EFAD-4C8C-B9DE-D0FAD269B77A}"/>
              </a:ext>
            </a:extLst>
          </p:cNvPr>
          <p:cNvSpPr txBox="1"/>
          <p:nvPr/>
        </p:nvSpPr>
        <p:spPr bwMode="gray">
          <a:xfrm rot="1108285">
            <a:off x="3900383" y="1964941"/>
            <a:ext cx="36453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TextBox 120">
            <a:extLst>
              <a:ext uri="{FF2B5EF4-FFF2-40B4-BE49-F238E27FC236}">
                <a16:creationId xmlns="" xmlns:a16="http://schemas.microsoft.com/office/drawing/2014/main" id="{020D7A1D-EFAD-4C8C-B9DE-D0FAD269B77A}"/>
              </a:ext>
            </a:extLst>
          </p:cNvPr>
          <p:cNvSpPr txBox="1"/>
          <p:nvPr/>
        </p:nvSpPr>
        <p:spPr bwMode="gray">
          <a:xfrm rot="1108285">
            <a:off x="4761007" y="2271372"/>
            <a:ext cx="36453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TextBox 120">
            <a:extLst>
              <a:ext uri="{FF2B5EF4-FFF2-40B4-BE49-F238E27FC236}">
                <a16:creationId xmlns="" xmlns:a16="http://schemas.microsoft.com/office/drawing/2014/main" id="{020D7A1D-EFAD-4C8C-B9DE-D0FAD269B77A}"/>
              </a:ext>
            </a:extLst>
          </p:cNvPr>
          <p:cNvSpPr txBox="1"/>
          <p:nvPr/>
        </p:nvSpPr>
        <p:spPr bwMode="gray">
          <a:xfrm rot="20383017">
            <a:off x="3909116" y="2621153"/>
            <a:ext cx="128158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10.1.23.0/24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TextBox 120">
            <a:extLst>
              <a:ext uri="{FF2B5EF4-FFF2-40B4-BE49-F238E27FC236}">
                <a16:creationId xmlns="" xmlns:a16="http://schemas.microsoft.com/office/drawing/2014/main" id="{020D7A1D-EFAD-4C8C-B9DE-D0FAD269B77A}"/>
              </a:ext>
            </a:extLst>
          </p:cNvPr>
          <p:cNvSpPr txBox="1"/>
          <p:nvPr/>
        </p:nvSpPr>
        <p:spPr bwMode="gray">
          <a:xfrm>
            <a:off x="5385925" y="2800166"/>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103</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椭圆 88"/>
          <p:cNvSpPr/>
          <p:nvPr/>
        </p:nvSpPr>
        <p:spPr bwMode="gray">
          <a:xfrm>
            <a:off x="3841804" y="3063410"/>
            <a:ext cx="150125" cy="152230"/>
          </a:xfrm>
          <a:prstGeom prst="ellips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p:cNvSpPr/>
          <p:nvPr/>
        </p:nvSpPr>
        <p:spPr bwMode="gray">
          <a:xfrm>
            <a:off x="5071813" y="3818918"/>
            <a:ext cx="150125" cy="152230"/>
          </a:xfrm>
          <a:prstGeom prst="ellips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TextBox 120">
            <a:extLst>
              <a:ext uri="{FF2B5EF4-FFF2-40B4-BE49-F238E27FC236}">
                <a16:creationId xmlns="" xmlns:a16="http://schemas.microsoft.com/office/drawing/2014/main" id="{020D7A1D-EFAD-4C8C-B9DE-D0FAD269B77A}"/>
              </a:ext>
            </a:extLst>
          </p:cNvPr>
          <p:cNvSpPr txBox="1"/>
          <p:nvPr/>
        </p:nvSpPr>
        <p:spPr bwMode="gray">
          <a:xfrm>
            <a:off x="5233350" y="3741146"/>
            <a:ext cx="910791" cy="307777"/>
          </a:xfrm>
          <a:prstGeom prst="rect">
            <a:avLst/>
          </a:prstGeom>
          <a:noFill/>
          <a:ln>
            <a:noFill/>
          </a:ln>
        </p:spPr>
        <p:txBody>
          <a:bodyPr wrap="squar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路由过滤</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0300600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查看</a:t>
            </a:r>
            <a:r>
              <a:rPr lang="en-US" altLang="zh-CN" smtClean="0"/>
              <a:t>AS_Path Filter</a:t>
            </a:r>
            <a:r>
              <a:rPr lang="zh-CN" altLang="en-US" smtClean="0"/>
              <a:t>相关信息</a:t>
            </a:r>
            <a:endParaRPr lang="zh-CN" altLang="en-US" dirty="0"/>
          </a:p>
        </p:txBody>
      </p:sp>
      <p:sp>
        <p:nvSpPr>
          <p:cNvPr id="65" name="文本框 64"/>
          <p:cNvSpPr txBox="1"/>
          <p:nvPr/>
        </p:nvSpPr>
        <p:spPr>
          <a:xfrm>
            <a:off x="6470073" y="1744893"/>
            <a:ext cx="5278571" cy="954107"/>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a:solidFill>
                  <a:prstClr val="black"/>
                </a:solidFill>
                <a:cs typeface="Courier New" panose="02070309020205020404" pitchFamily="49" charset="0"/>
              </a:rPr>
              <a:t>[R2]display ip as-path-filter </a:t>
            </a:r>
            <a:r>
              <a:rPr lang="en-US" altLang="zh-CN" sz="1400" dirty="0" smtClean="0">
                <a:solidFill>
                  <a:prstClr val="black"/>
                </a:solidFill>
                <a:cs typeface="Courier New" panose="02070309020205020404" pitchFamily="49" charset="0"/>
              </a:rPr>
              <a:t>1</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As path filter number: 2</a:t>
            </a:r>
          </a:p>
          <a:p>
            <a:pPr fontAlgn="auto">
              <a:spcBef>
                <a:spcPts val="0"/>
              </a:spcBef>
              <a:spcAft>
                <a:spcPts val="0"/>
              </a:spcAft>
            </a:pPr>
            <a:r>
              <a:rPr lang="en-US" altLang="zh-CN" sz="1400" dirty="0">
                <a:solidFill>
                  <a:prstClr val="black"/>
                </a:solidFill>
                <a:cs typeface="Courier New" panose="02070309020205020404" pitchFamily="49" charset="0"/>
              </a:rPr>
              <a:t>	deny          _101$</a:t>
            </a:r>
          </a:p>
          <a:p>
            <a:pPr fontAlgn="auto">
              <a:spcBef>
                <a:spcPts val="0"/>
              </a:spcBef>
              <a:spcAft>
                <a:spcPts val="0"/>
              </a:spcAft>
            </a:pPr>
            <a:r>
              <a:rPr lang="en-US" altLang="zh-CN" sz="1400" dirty="0">
                <a:solidFill>
                  <a:prstClr val="black"/>
                </a:solidFill>
                <a:cs typeface="Courier New" panose="02070309020205020404" pitchFamily="49" charset="0"/>
              </a:rPr>
              <a:t>	permit        .*</a:t>
            </a:r>
          </a:p>
        </p:txBody>
      </p:sp>
      <p:sp>
        <p:nvSpPr>
          <p:cNvPr id="66" name="文本框 65"/>
          <p:cNvSpPr txBox="1"/>
          <p:nvPr/>
        </p:nvSpPr>
        <p:spPr>
          <a:xfrm>
            <a:off x="6338670" y="1326810"/>
            <a:ext cx="2428870" cy="338554"/>
          </a:xfrm>
          <a:prstGeom prst="rect">
            <a:avLst/>
          </a:prstGeom>
          <a:noFill/>
        </p:spPr>
        <p:txBody>
          <a:bodyPr wrap="none" rtlCol="0">
            <a:spAutoFit/>
          </a:bodyPr>
          <a:lstStyle/>
          <a:p>
            <a:pPr fontAlgn="auto">
              <a:spcBef>
                <a:spcPts val="0"/>
              </a:spcBef>
              <a:spcAft>
                <a:spcPts val="0"/>
              </a:spcAft>
            </a:pPr>
            <a:r>
              <a:rPr lang="en-US" altLang="zh-CN" sz="1600" dirty="0" smtClean="0">
                <a:solidFill>
                  <a:prstClr val="black"/>
                </a:solidFill>
              </a:rPr>
              <a:t>1</a:t>
            </a:r>
            <a:r>
              <a:rPr lang="zh-CN" altLang="en-US" sz="1600" dirty="0" smtClean="0">
                <a:solidFill>
                  <a:prstClr val="black"/>
                </a:solidFill>
              </a:rPr>
              <a:t>、查看</a:t>
            </a:r>
            <a:r>
              <a:rPr lang="en-US" altLang="zh-CN" sz="1600" dirty="0" smtClean="0">
                <a:solidFill>
                  <a:prstClr val="black"/>
                </a:solidFill>
              </a:rPr>
              <a:t>AS_Path Filter</a:t>
            </a:r>
            <a:r>
              <a:rPr lang="zh-CN" altLang="en-US" sz="1600" dirty="0" smtClean="0">
                <a:solidFill>
                  <a:prstClr val="black"/>
                </a:solidFill>
              </a:rPr>
              <a:t>。</a:t>
            </a:r>
            <a:endParaRPr lang="zh-CN" altLang="en-US" sz="1600" dirty="0">
              <a:solidFill>
                <a:prstClr val="black"/>
              </a:solidFill>
            </a:endParaRPr>
          </a:p>
        </p:txBody>
      </p:sp>
      <p:sp>
        <p:nvSpPr>
          <p:cNvPr id="67" name="文本框 66"/>
          <p:cNvSpPr txBox="1"/>
          <p:nvPr/>
        </p:nvSpPr>
        <p:spPr>
          <a:xfrm>
            <a:off x="6338670" y="3014200"/>
            <a:ext cx="5554726" cy="338554"/>
          </a:xfrm>
          <a:prstGeom prst="rect">
            <a:avLst/>
          </a:prstGeom>
          <a:noFill/>
        </p:spPr>
        <p:txBody>
          <a:bodyPr wrap="none" rtlCol="0">
            <a:spAutoFit/>
          </a:bodyPr>
          <a:lstStyle/>
          <a:p>
            <a:pPr fontAlgn="auto">
              <a:spcBef>
                <a:spcPts val="0"/>
              </a:spcBef>
              <a:spcAft>
                <a:spcPts val="0"/>
              </a:spcAft>
            </a:pPr>
            <a:r>
              <a:rPr lang="en-US" altLang="zh-CN" sz="1600" dirty="0">
                <a:solidFill>
                  <a:prstClr val="black"/>
                </a:solidFill>
              </a:rPr>
              <a:t>2</a:t>
            </a:r>
            <a:r>
              <a:rPr lang="zh-CN" altLang="en-US" sz="1600" dirty="0">
                <a:solidFill>
                  <a:prstClr val="black"/>
                </a:solidFill>
              </a:rPr>
              <a:t>、显示</a:t>
            </a:r>
            <a:r>
              <a:rPr lang="en-US" altLang="zh-CN" sz="1600" dirty="0">
                <a:solidFill>
                  <a:prstClr val="black"/>
                </a:solidFill>
              </a:rPr>
              <a:t>BGP</a:t>
            </a:r>
            <a:r>
              <a:rPr lang="zh-CN" altLang="en-US" sz="1600" dirty="0">
                <a:solidFill>
                  <a:prstClr val="black"/>
                </a:solidFill>
              </a:rPr>
              <a:t>表中所有</a:t>
            </a:r>
            <a:r>
              <a:rPr lang="en-US" altLang="zh-CN" sz="1600" dirty="0">
                <a:solidFill>
                  <a:prstClr val="black"/>
                </a:solidFill>
              </a:rPr>
              <a:t>AS_Path</a:t>
            </a:r>
            <a:r>
              <a:rPr lang="zh-CN" altLang="en-US" sz="1600" dirty="0">
                <a:solidFill>
                  <a:prstClr val="black"/>
                </a:solidFill>
              </a:rPr>
              <a:t>被该正则表达式匹配的路由。</a:t>
            </a:r>
          </a:p>
        </p:txBody>
      </p:sp>
      <p:sp>
        <p:nvSpPr>
          <p:cNvPr id="70" name="文本框 69"/>
          <p:cNvSpPr txBox="1"/>
          <p:nvPr/>
        </p:nvSpPr>
        <p:spPr>
          <a:xfrm>
            <a:off x="6470073" y="3443493"/>
            <a:ext cx="5275840" cy="2246769"/>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pl-PL" altLang="zh-CN" sz="1400" dirty="0">
                <a:solidFill>
                  <a:prstClr val="black"/>
                </a:solidFill>
                <a:cs typeface="Courier New" panose="02070309020205020404" pitchFamily="49" charset="0"/>
              </a:rPr>
              <a:t>[R2]display bgp routing-table regular-expression _101$</a:t>
            </a:r>
          </a:p>
          <a:p>
            <a:pPr fontAlgn="auto">
              <a:spcBef>
                <a:spcPts val="0"/>
              </a:spcBef>
              <a:spcAft>
                <a:spcPts val="0"/>
              </a:spcAft>
            </a:pPr>
            <a:endParaRPr lang="pl-PL" altLang="zh-CN" sz="1400" dirty="0">
              <a:solidFill>
                <a:prstClr val="black"/>
              </a:solidFill>
              <a:cs typeface="Courier New" panose="02070309020205020404" pitchFamily="49" charset="0"/>
            </a:endParaRPr>
          </a:p>
          <a:p>
            <a:pPr fontAlgn="auto">
              <a:spcBef>
                <a:spcPts val="0"/>
              </a:spcBef>
              <a:spcAft>
                <a:spcPts val="0"/>
              </a:spcAft>
            </a:pPr>
            <a:r>
              <a:rPr lang="pl-PL" altLang="zh-CN" sz="1400" dirty="0">
                <a:solidFill>
                  <a:prstClr val="black"/>
                </a:solidFill>
                <a:cs typeface="Courier New" panose="02070309020205020404" pitchFamily="49" charset="0"/>
              </a:rPr>
              <a:t> Total Number of Routes: 1</a:t>
            </a:r>
          </a:p>
          <a:p>
            <a:pPr fontAlgn="auto">
              <a:spcBef>
                <a:spcPts val="0"/>
              </a:spcBef>
              <a:spcAft>
                <a:spcPts val="0"/>
              </a:spcAft>
            </a:pPr>
            <a:endParaRPr lang="pl-PL" altLang="zh-CN" sz="1400" dirty="0">
              <a:solidFill>
                <a:prstClr val="black"/>
              </a:solidFill>
              <a:cs typeface="Courier New" panose="02070309020205020404" pitchFamily="49" charset="0"/>
            </a:endParaRPr>
          </a:p>
          <a:p>
            <a:pPr fontAlgn="auto">
              <a:spcBef>
                <a:spcPts val="0"/>
              </a:spcBef>
              <a:spcAft>
                <a:spcPts val="0"/>
              </a:spcAft>
            </a:pPr>
            <a:r>
              <a:rPr lang="pl-PL" altLang="zh-CN" sz="1400" dirty="0">
                <a:solidFill>
                  <a:prstClr val="black"/>
                </a:solidFill>
                <a:cs typeface="Courier New" panose="02070309020205020404" pitchFamily="49" charset="0"/>
              </a:rPr>
              <a:t> BGP Local router ID is 10.1.12.2 </a:t>
            </a:r>
          </a:p>
          <a:p>
            <a:pPr fontAlgn="auto">
              <a:spcBef>
                <a:spcPts val="0"/>
              </a:spcBef>
              <a:spcAft>
                <a:spcPts val="0"/>
              </a:spcAft>
            </a:pPr>
            <a:r>
              <a:rPr lang="pl-PL" altLang="zh-CN" sz="1400" dirty="0">
                <a:solidFill>
                  <a:prstClr val="black"/>
                </a:solidFill>
                <a:cs typeface="Courier New" panose="02070309020205020404" pitchFamily="49" charset="0"/>
              </a:rPr>
              <a:t> Status codes: * - valid, &gt; - best, d - damped,</a:t>
            </a:r>
          </a:p>
          <a:p>
            <a:pPr fontAlgn="auto">
              <a:spcBef>
                <a:spcPts val="0"/>
              </a:spcBef>
              <a:spcAft>
                <a:spcPts val="0"/>
              </a:spcAft>
            </a:pPr>
            <a:r>
              <a:rPr lang="pl-PL" altLang="zh-CN" sz="1400" dirty="0">
                <a:solidFill>
                  <a:prstClr val="black"/>
                </a:solidFill>
                <a:cs typeface="Courier New" panose="02070309020205020404" pitchFamily="49" charset="0"/>
              </a:rPr>
              <a:t>               h - history,  i - internal, s - suppressed, S - Stale</a:t>
            </a:r>
          </a:p>
          <a:p>
            <a:pPr fontAlgn="auto">
              <a:spcBef>
                <a:spcPts val="0"/>
              </a:spcBef>
              <a:spcAft>
                <a:spcPts val="0"/>
              </a:spcAft>
            </a:pPr>
            <a:r>
              <a:rPr lang="pl-PL" altLang="zh-CN" sz="1400" dirty="0">
                <a:solidFill>
                  <a:prstClr val="black"/>
                </a:solidFill>
                <a:cs typeface="Courier New" panose="02070309020205020404" pitchFamily="49" charset="0"/>
              </a:rPr>
              <a:t>               Origin : i - IGP, e - EGP, ? - incomplete</a:t>
            </a:r>
          </a:p>
          <a:p>
            <a:pPr fontAlgn="auto">
              <a:spcBef>
                <a:spcPts val="0"/>
              </a:spcBef>
              <a:spcAft>
                <a:spcPts val="0"/>
              </a:spcAft>
            </a:pPr>
            <a:r>
              <a:rPr lang="pl-PL" altLang="zh-CN" sz="1400" dirty="0" smtClean="0">
                <a:solidFill>
                  <a:prstClr val="black"/>
                </a:solidFill>
                <a:cs typeface="Courier New" panose="02070309020205020404" pitchFamily="49" charset="0"/>
              </a:rPr>
              <a:t>      </a:t>
            </a:r>
            <a:r>
              <a:rPr lang="pl-PL" altLang="zh-CN" sz="1400" dirty="0">
                <a:solidFill>
                  <a:prstClr val="black"/>
                </a:solidFill>
                <a:cs typeface="Courier New" panose="02070309020205020404" pitchFamily="49" charset="0"/>
              </a:rPr>
              <a:t>Network        </a:t>
            </a:r>
            <a:r>
              <a:rPr lang="pl-PL" altLang="zh-CN" sz="1400" dirty="0" smtClean="0">
                <a:solidFill>
                  <a:prstClr val="black"/>
                </a:solidFill>
                <a:cs typeface="Courier New" panose="02070309020205020404" pitchFamily="49" charset="0"/>
              </a:rPr>
              <a:t>NextHop    MED  LocPrf  PrefVal </a:t>
            </a:r>
            <a:r>
              <a:rPr lang="en-US" altLang="zh-CN" sz="1400" dirty="0" smtClean="0">
                <a:solidFill>
                  <a:prstClr val="black"/>
                </a:solidFill>
                <a:cs typeface="Courier New" panose="02070309020205020404" pitchFamily="49" charset="0"/>
              </a:rPr>
              <a:t> </a:t>
            </a:r>
            <a:r>
              <a:rPr lang="pl-PL" altLang="zh-CN" sz="1400" dirty="0" smtClean="0">
                <a:solidFill>
                  <a:prstClr val="black"/>
                </a:solidFill>
                <a:cs typeface="Courier New" panose="02070309020205020404" pitchFamily="49" charset="0"/>
              </a:rPr>
              <a:t>Path/Ogn</a:t>
            </a:r>
            <a:endParaRPr lang="pl-PL" altLang="zh-CN" sz="1400" dirty="0">
              <a:solidFill>
                <a:prstClr val="black"/>
              </a:solidFill>
              <a:cs typeface="Courier New" panose="02070309020205020404" pitchFamily="49" charset="0"/>
            </a:endParaRPr>
          </a:p>
          <a:p>
            <a:pPr fontAlgn="auto">
              <a:spcBef>
                <a:spcPts val="0"/>
              </a:spcBef>
              <a:spcAft>
                <a:spcPts val="0"/>
              </a:spcAft>
            </a:pPr>
            <a:r>
              <a:rPr lang="pl-PL" altLang="zh-CN" sz="1400" dirty="0" smtClean="0">
                <a:solidFill>
                  <a:prstClr val="black"/>
                </a:solidFill>
                <a:cs typeface="Courier New" panose="02070309020205020404" pitchFamily="49" charset="0"/>
              </a:rPr>
              <a:t> </a:t>
            </a:r>
            <a:r>
              <a:rPr lang="pl-PL" altLang="zh-CN" sz="1400" dirty="0">
                <a:solidFill>
                  <a:prstClr val="black"/>
                </a:solidFill>
                <a:cs typeface="Courier New" panose="02070309020205020404" pitchFamily="49" charset="0"/>
              </a:rPr>
              <a:t>*&gt; </a:t>
            </a:r>
            <a:r>
              <a:rPr lang="en-US" altLang="zh-CN" sz="1400" dirty="0" smtClean="0">
                <a:solidFill>
                  <a:prstClr val="black"/>
                </a:solidFill>
                <a:cs typeface="Courier New" panose="02070309020205020404" pitchFamily="49" charset="0"/>
              </a:rPr>
              <a:t> </a:t>
            </a:r>
            <a:r>
              <a:rPr lang="pl-PL" altLang="zh-CN" sz="1400" dirty="0" smtClean="0">
                <a:solidFill>
                  <a:srgbClr val="C7000B"/>
                </a:solidFill>
                <a:cs typeface="Courier New" panose="02070309020205020404" pitchFamily="49" charset="0"/>
              </a:rPr>
              <a:t>10.1.1.1/32    10.1.12.1   </a:t>
            </a:r>
            <a:r>
              <a:rPr lang="en-US" altLang="zh-CN" sz="1400" dirty="0" smtClean="0">
                <a:solidFill>
                  <a:srgbClr val="C7000B"/>
                </a:solidFill>
                <a:cs typeface="Courier New" panose="02070309020205020404" pitchFamily="49" charset="0"/>
              </a:rPr>
              <a:t>  </a:t>
            </a:r>
            <a:r>
              <a:rPr lang="pl-PL" altLang="zh-CN" sz="1400" dirty="0" smtClean="0">
                <a:solidFill>
                  <a:srgbClr val="C7000B"/>
                </a:solidFill>
                <a:cs typeface="Courier New" panose="02070309020205020404" pitchFamily="49" charset="0"/>
              </a:rPr>
              <a:t>0                     0      </a:t>
            </a:r>
            <a:r>
              <a:rPr lang="en-US" altLang="zh-CN" sz="1400" dirty="0" smtClean="0">
                <a:solidFill>
                  <a:srgbClr val="C7000B"/>
                </a:solidFill>
                <a:cs typeface="Courier New" panose="02070309020205020404" pitchFamily="49" charset="0"/>
              </a:rPr>
              <a:t>  </a:t>
            </a:r>
            <a:r>
              <a:rPr lang="pl-PL" altLang="zh-CN" sz="1400" dirty="0" smtClean="0">
                <a:solidFill>
                  <a:srgbClr val="C7000B"/>
                </a:solidFill>
                <a:cs typeface="Courier New" panose="02070309020205020404" pitchFamily="49" charset="0"/>
              </a:rPr>
              <a:t>101i</a:t>
            </a:r>
            <a:endParaRPr lang="pl-PL" altLang="zh-CN" sz="1400" dirty="0">
              <a:solidFill>
                <a:srgbClr val="C7000B"/>
              </a:solidFill>
              <a:cs typeface="Courier New" panose="02070309020205020404" pitchFamily="49" charset="0"/>
            </a:endParaRPr>
          </a:p>
        </p:txBody>
      </p:sp>
      <p:sp>
        <p:nvSpPr>
          <p:cNvPr id="43" name="文本占位符 3"/>
          <p:cNvSpPr txBox="1">
            <a:spLocks/>
          </p:cNvSpPr>
          <p:nvPr/>
        </p:nvSpPr>
        <p:spPr bwMode="gray">
          <a:xfrm>
            <a:off x="2099611" y="5014995"/>
            <a:ext cx="3138983" cy="679765"/>
          </a:xfrm>
          <a:prstGeom prst="rect">
            <a:avLst/>
          </a:prstGeom>
          <a:solidFill>
            <a:srgbClr val="FFFBEF"/>
          </a:solidFill>
          <a:ln w="9525">
            <a:solidFill>
              <a:srgbClr val="FDD351"/>
            </a:solidFill>
            <a:miter lim="800000"/>
            <a:headEnd/>
            <a:tailEnd/>
          </a:ln>
        </p:spPr>
        <p:txBody>
          <a:bodyPr vert="horz" wrap="square" lIns="108000" tIns="40071" rIns="108000" bIns="40071" numCol="1" anchor="ctr"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zh-CN" altLang="en-US" sz="1600" dirty="0" smtClean="0"/>
              <a:t>始发于</a:t>
            </a:r>
            <a:r>
              <a:rPr lang="en-US" altLang="zh-CN" sz="1600" dirty="0" smtClean="0"/>
              <a:t>AS 101</a:t>
            </a:r>
            <a:r>
              <a:rPr lang="zh-CN" altLang="en-US" sz="1600" dirty="0" smtClean="0"/>
              <a:t>的</a:t>
            </a:r>
            <a:r>
              <a:rPr lang="en-US" altLang="zh-CN" sz="1600" dirty="0" smtClean="0"/>
              <a:t>10.1.1.1/32</a:t>
            </a:r>
            <a:r>
              <a:rPr lang="zh-CN" altLang="en-US" sz="1600" dirty="0" smtClean="0"/>
              <a:t>路由被</a:t>
            </a:r>
            <a:r>
              <a:rPr lang="en-US" altLang="zh-CN" sz="1600" dirty="0" smtClean="0"/>
              <a:t>AS_Path Filter</a:t>
            </a:r>
            <a:r>
              <a:rPr lang="zh-CN" altLang="en-US" sz="1600" dirty="0" smtClean="0"/>
              <a:t>过滤。</a:t>
            </a:r>
          </a:p>
        </p:txBody>
      </p:sp>
      <p:cxnSp>
        <p:nvCxnSpPr>
          <p:cNvPr id="4" name="直接箭头连接符 3"/>
          <p:cNvCxnSpPr>
            <a:stCxn id="43" idx="3"/>
          </p:cNvCxnSpPr>
          <p:nvPr/>
        </p:nvCxnSpPr>
        <p:spPr bwMode="gray">
          <a:xfrm flipV="1">
            <a:off x="5238594" y="5354877"/>
            <a:ext cx="1231479" cy="1"/>
          </a:xfrm>
          <a:prstGeom prst="straightConnector1">
            <a:avLst/>
          </a:prstGeom>
          <a:ln w="19050">
            <a:solidFill>
              <a:srgbClr val="FDD351"/>
            </a:solidFill>
            <a:tailEnd type="triangle"/>
          </a:ln>
        </p:spPr>
        <p:style>
          <a:lnRef idx="1">
            <a:schemeClr val="accent1"/>
          </a:lnRef>
          <a:fillRef idx="0">
            <a:schemeClr val="accent1"/>
          </a:fillRef>
          <a:effectRef idx="0">
            <a:schemeClr val="accent1"/>
          </a:effectRef>
          <a:fontRef idx="minor">
            <a:schemeClr val="tx1"/>
          </a:fontRef>
        </p:style>
      </p:cxnSp>
      <p:sp>
        <p:nvSpPr>
          <p:cNvPr id="59" name="五边形 58"/>
          <p:cNvSpPr/>
          <p:nvPr/>
        </p:nvSpPr>
        <p:spPr bwMode="auto">
          <a:xfrm>
            <a:off x="8335082" y="100861"/>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61" name="燕尾形 60"/>
          <p:cNvSpPr/>
          <p:nvPr/>
        </p:nvSpPr>
        <p:spPr bwMode="auto">
          <a:xfrm>
            <a:off x="9029654" y="100861"/>
            <a:ext cx="126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AS_Path Filter</a:t>
            </a:r>
          </a:p>
        </p:txBody>
      </p:sp>
      <p:sp>
        <p:nvSpPr>
          <p:cNvPr id="64" name="燕尾形 63"/>
          <p:cNvSpPr/>
          <p:nvPr/>
        </p:nvSpPr>
        <p:spPr bwMode="auto">
          <a:xfrm>
            <a:off x="10203025" y="100861"/>
            <a:ext cx="154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Community Filter</a:t>
            </a:r>
          </a:p>
        </p:txBody>
      </p:sp>
      <p:sp>
        <p:nvSpPr>
          <p:cNvPr id="55" name="任意多边形 25"/>
          <p:cNvSpPr/>
          <p:nvPr/>
        </p:nvSpPr>
        <p:spPr bwMode="gray">
          <a:xfrm>
            <a:off x="2704767" y="2684890"/>
            <a:ext cx="1479980" cy="901782"/>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sp>
        <p:nvSpPr>
          <p:cNvPr id="57" name="任意多边形 25"/>
          <p:cNvSpPr/>
          <p:nvPr/>
        </p:nvSpPr>
        <p:spPr bwMode="gray">
          <a:xfrm>
            <a:off x="2704767" y="1484833"/>
            <a:ext cx="1479980" cy="819046"/>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sp>
        <p:nvSpPr>
          <p:cNvPr id="58" name="任意多边形 25"/>
          <p:cNvSpPr/>
          <p:nvPr/>
        </p:nvSpPr>
        <p:spPr bwMode="gray">
          <a:xfrm>
            <a:off x="4633217" y="1941690"/>
            <a:ext cx="1479980" cy="1167178"/>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sp>
        <p:nvSpPr>
          <p:cNvPr id="69" name="TextBox 120">
            <a:extLst>
              <a:ext uri="{FF2B5EF4-FFF2-40B4-BE49-F238E27FC236}">
                <a16:creationId xmlns="" xmlns:a16="http://schemas.microsoft.com/office/drawing/2014/main" id="{020D7A1D-EFAD-4C8C-B9DE-D0FAD269B77A}"/>
              </a:ext>
            </a:extLst>
          </p:cNvPr>
          <p:cNvSpPr txBox="1"/>
          <p:nvPr/>
        </p:nvSpPr>
        <p:spPr bwMode="gray">
          <a:xfrm>
            <a:off x="2718622" y="2005009"/>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104</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1" name="直接连接符 70"/>
          <p:cNvCxnSpPr>
            <a:stCxn id="72" idx="3"/>
            <a:endCxn id="94" idx="3"/>
          </p:cNvCxnSpPr>
          <p:nvPr/>
        </p:nvCxnSpPr>
        <p:spPr bwMode="gray">
          <a:xfrm>
            <a:off x="3939103" y="1925659"/>
            <a:ext cx="1704104" cy="5996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72" name="图片 71"/>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399103" y="1704259"/>
            <a:ext cx="540000" cy="442800"/>
          </a:xfrm>
          <a:prstGeom prst="rect">
            <a:avLst/>
          </a:prstGeom>
        </p:spPr>
      </p:pic>
      <p:pic>
        <p:nvPicPr>
          <p:cNvPr id="73" name="图片 72"/>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399103" y="2903500"/>
            <a:ext cx="540000" cy="442800"/>
          </a:xfrm>
          <a:prstGeom prst="rect">
            <a:avLst/>
          </a:prstGeom>
        </p:spPr>
      </p:pic>
      <p:cxnSp>
        <p:nvCxnSpPr>
          <p:cNvPr id="93" name="直接连接符 92"/>
          <p:cNvCxnSpPr>
            <a:stCxn id="73" idx="3"/>
            <a:endCxn id="94" idx="3"/>
          </p:cNvCxnSpPr>
          <p:nvPr/>
        </p:nvCxnSpPr>
        <p:spPr bwMode="gray">
          <a:xfrm flipV="1">
            <a:off x="3939103" y="2525279"/>
            <a:ext cx="1704104" cy="5996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94" name="图片 9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103207" y="2303879"/>
            <a:ext cx="540000" cy="442800"/>
          </a:xfrm>
          <a:prstGeom prst="rect">
            <a:avLst/>
          </a:prstGeom>
        </p:spPr>
      </p:pic>
      <p:sp>
        <p:nvSpPr>
          <p:cNvPr id="95" name="任意多边形 25"/>
          <p:cNvSpPr/>
          <p:nvPr/>
        </p:nvSpPr>
        <p:spPr bwMode="gray">
          <a:xfrm>
            <a:off x="522288" y="2684890"/>
            <a:ext cx="1879121" cy="901782"/>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pic>
        <p:nvPicPr>
          <p:cNvPr id="96" name="图片 9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615765" y="2903500"/>
            <a:ext cx="540000" cy="442800"/>
          </a:xfrm>
          <a:prstGeom prst="rect">
            <a:avLst/>
          </a:prstGeom>
        </p:spPr>
      </p:pic>
      <p:sp>
        <p:nvSpPr>
          <p:cNvPr id="97" name="TextBox 120">
            <a:extLst>
              <a:ext uri="{FF2B5EF4-FFF2-40B4-BE49-F238E27FC236}">
                <a16:creationId xmlns="" xmlns:a16="http://schemas.microsoft.com/office/drawing/2014/main" id="{020D7A1D-EFAD-4C8C-B9DE-D0FAD269B77A}"/>
              </a:ext>
            </a:extLst>
          </p:cNvPr>
          <p:cNvSpPr txBox="1"/>
          <p:nvPr/>
        </p:nvSpPr>
        <p:spPr bwMode="gray">
          <a:xfrm>
            <a:off x="473567" y="3317276"/>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TextBox 120">
            <a:extLst>
              <a:ext uri="{FF2B5EF4-FFF2-40B4-BE49-F238E27FC236}">
                <a16:creationId xmlns="" xmlns:a16="http://schemas.microsoft.com/office/drawing/2014/main" id="{020D7A1D-EFAD-4C8C-B9DE-D0FAD269B77A}"/>
              </a:ext>
            </a:extLst>
          </p:cNvPr>
          <p:cNvSpPr txBox="1"/>
          <p:nvPr/>
        </p:nvSpPr>
        <p:spPr bwMode="gray">
          <a:xfrm>
            <a:off x="2704767" y="3317276"/>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9" name="直接连接符 98"/>
          <p:cNvCxnSpPr>
            <a:stCxn id="96" idx="3"/>
            <a:endCxn id="73" idx="1"/>
          </p:cNvCxnSpPr>
          <p:nvPr/>
        </p:nvCxnSpPr>
        <p:spPr bwMode="gray">
          <a:xfrm>
            <a:off x="2155765" y="3124900"/>
            <a:ext cx="124333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a:endCxn id="96" idx="1"/>
          </p:cNvCxnSpPr>
          <p:nvPr/>
        </p:nvCxnSpPr>
        <p:spPr bwMode="gray">
          <a:xfrm>
            <a:off x="1501167" y="3124900"/>
            <a:ext cx="1145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bwMode="gray">
          <a:xfrm>
            <a:off x="1490438" y="3014200"/>
            <a:ext cx="0" cy="221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2" name="TextBox 120">
            <a:extLst>
              <a:ext uri="{FF2B5EF4-FFF2-40B4-BE49-F238E27FC236}">
                <a16:creationId xmlns="" xmlns:a16="http://schemas.microsoft.com/office/drawing/2014/main" id="{020D7A1D-EFAD-4C8C-B9DE-D0FAD269B77A}"/>
              </a:ext>
            </a:extLst>
          </p:cNvPr>
          <p:cNvSpPr txBox="1"/>
          <p:nvPr/>
        </p:nvSpPr>
        <p:spPr bwMode="gray">
          <a:xfrm>
            <a:off x="1464726" y="2657073"/>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TextBox 120">
            <a:extLst>
              <a:ext uri="{FF2B5EF4-FFF2-40B4-BE49-F238E27FC236}">
                <a16:creationId xmlns="" xmlns:a16="http://schemas.microsoft.com/office/drawing/2014/main" id="{020D7A1D-EFAD-4C8C-B9DE-D0FAD269B77A}"/>
              </a:ext>
            </a:extLst>
          </p:cNvPr>
          <p:cNvSpPr txBox="1"/>
          <p:nvPr/>
        </p:nvSpPr>
        <p:spPr bwMode="gray">
          <a:xfrm>
            <a:off x="3264705" y="2657073"/>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TextBox 120">
            <a:extLst>
              <a:ext uri="{FF2B5EF4-FFF2-40B4-BE49-F238E27FC236}">
                <a16:creationId xmlns="" xmlns:a16="http://schemas.microsoft.com/office/drawing/2014/main" id="{020D7A1D-EFAD-4C8C-B9DE-D0FAD269B77A}"/>
              </a:ext>
            </a:extLst>
          </p:cNvPr>
          <p:cNvSpPr txBox="1"/>
          <p:nvPr/>
        </p:nvSpPr>
        <p:spPr bwMode="gray">
          <a:xfrm>
            <a:off x="3264705" y="1437116"/>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R4</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TextBox 120">
            <a:extLst>
              <a:ext uri="{FF2B5EF4-FFF2-40B4-BE49-F238E27FC236}">
                <a16:creationId xmlns="" xmlns:a16="http://schemas.microsoft.com/office/drawing/2014/main" id="{020D7A1D-EFAD-4C8C-B9DE-D0FAD269B77A}"/>
              </a:ext>
            </a:extLst>
          </p:cNvPr>
          <p:cNvSpPr txBox="1"/>
          <p:nvPr/>
        </p:nvSpPr>
        <p:spPr bwMode="gray">
          <a:xfrm>
            <a:off x="4959661" y="2057923"/>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R3</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6" name="直接箭头连接符 105"/>
          <p:cNvCxnSpPr/>
          <p:nvPr/>
        </p:nvCxnSpPr>
        <p:spPr bwMode="gray">
          <a:xfrm flipV="1">
            <a:off x="4087089" y="2992617"/>
            <a:ext cx="1034385" cy="395417"/>
          </a:xfrm>
          <a:prstGeom prst="straightConnector1">
            <a:avLst/>
          </a:prstGeom>
          <a:ln w="28575">
            <a:solidFill>
              <a:srgbClr val="ED6D00"/>
            </a:solidFill>
            <a:tailEnd type="triangle"/>
          </a:ln>
        </p:spPr>
        <p:style>
          <a:lnRef idx="1">
            <a:schemeClr val="accent1"/>
          </a:lnRef>
          <a:fillRef idx="0">
            <a:schemeClr val="accent1"/>
          </a:fillRef>
          <a:effectRef idx="0">
            <a:schemeClr val="accent1"/>
          </a:effectRef>
          <a:fontRef idx="minor">
            <a:schemeClr val="tx1"/>
          </a:fontRef>
        </p:style>
      </p:cxnSp>
      <p:sp>
        <p:nvSpPr>
          <p:cNvPr id="107" name="TextBox 120">
            <a:extLst>
              <a:ext uri="{FF2B5EF4-FFF2-40B4-BE49-F238E27FC236}">
                <a16:creationId xmlns="" xmlns:a16="http://schemas.microsoft.com/office/drawing/2014/main" id="{020D7A1D-EFAD-4C8C-B9DE-D0FAD269B77A}"/>
              </a:ext>
            </a:extLst>
          </p:cNvPr>
          <p:cNvSpPr txBox="1"/>
          <p:nvPr/>
        </p:nvSpPr>
        <p:spPr bwMode="gray">
          <a:xfrm rot="20395611">
            <a:off x="4348815" y="3110855"/>
            <a:ext cx="827092" cy="307777"/>
          </a:xfrm>
          <a:prstGeom prst="rect">
            <a:avLst/>
          </a:prstGeom>
          <a:noFill/>
          <a:ln>
            <a:noFill/>
          </a:ln>
        </p:spPr>
        <p:txBody>
          <a:bodyPr wrap="square" rtlCol="0">
            <a:spAutoFit/>
          </a:bodyPr>
          <a:lstStyle/>
          <a:p>
            <a:r>
              <a:rPr lang="en-US" altLang="zh-CN" sz="1400" b="1"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Route</a:t>
            </a:r>
            <a:endParaRPr lang="en-US" altLang="zh-CN" sz="1400" b="1"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TextBox 120">
            <a:extLst>
              <a:ext uri="{FF2B5EF4-FFF2-40B4-BE49-F238E27FC236}">
                <a16:creationId xmlns="" xmlns:a16="http://schemas.microsoft.com/office/drawing/2014/main" id="{020D7A1D-EFAD-4C8C-B9DE-D0FAD269B77A}"/>
              </a:ext>
            </a:extLst>
          </p:cNvPr>
          <p:cNvSpPr txBox="1"/>
          <p:nvPr/>
        </p:nvSpPr>
        <p:spPr bwMode="gray">
          <a:xfrm rot="1108285">
            <a:off x="3978794" y="1874524"/>
            <a:ext cx="128158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10.1.34.0/24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TextBox 120">
            <a:extLst>
              <a:ext uri="{FF2B5EF4-FFF2-40B4-BE49-F238E27FC236}">
                <a16:creationId xmlns="" xmlns:a16="http://schemas.microsoft.com/office/drawing/2014/main" id="{020D7A1D-EFAD-4C8C-B9DE-D0FAD269B77A}"/>
              </a:ext>
            </a:extLst>
          </p:cNvPr>
          <p:cNvSpPr txBox="1"/>
          <p:nvPr/>
        </p:nvSpPr>
        <p:spPr bwMode="gray">
          <a:xfrm rot="20396470">
            <a:off x="3888328" y="3074957"/>
            <a:ext cx="408727"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TextBox 120">
            <a:extLst>
              <a:ext uri="{FF2B5EF4-FFF2-40B4-BE49-F238E27FC236}">
                <a16:creationId xmlns="" xmlns:a16="http://schemas.microsoft.com/office/drawing/2014/main" id="{020D7A1D-EFAD-4C8C-B9DE-D0FAD269B77A}"/>
              </a:ext>
            </a:extLst>
          </p:cNvPr>
          <p:cNvSpPr txBox="1"/>
          <p:nvPr/>
        </p:nvSpPr>
        <p:spPr bwMode="gray">
          <a:xfrm rot="20396470">
            <a:off x="4940520" y="2672414"/>
            <a:ext cx="408727"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TextBox 120">
            <a:extLst>
              <a:ext uri="{FF2B5EF4-FFF2-40B4-BE49-F238E27FC236}">
                <a16:creationId xmlns="" xmlns:a16="http://schemas.microsoft.com/office/drawing/2014/main" id="{020D7A1D-EFAD-4C8C-B9DE-D0FAD269B77A}"/>
              </a:ext>
            </a:extLst>
          </p:cNvPr>
          <p:cNvSpPr txBox="1"/>
          <p:nvPr/>
        </p:nvSpPr>
        <p:spPr bwMode="gray">
          <a:xfrm>
            <a:off x="466233" y="2824830"/>
            <a:ext cx="1105885" cy="523220"/>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Loopback0</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10.1.1.1/32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TextBox 120">
            <a:extLst>
              <a:ext uri="{FF2B5EF4-FFF2-40B4-BE49-F238E27FC236}">
                <a16:creationId xmlns="" xmlns:a16="http://schemas.microsoft.com/office/drawing/2014/main" id="{020D7A1D-EFAD-4C8C-B9DE-D0FAD269B77A}"/>
              </a:ext>
            </a:extLst>
          </p:cNvPr>
          <p:cNvSpPr txBox="1"/>
          <p:nvPr/>
        </p:nvSpPr>
        <p:spPr bwMode="gray">
          <a:xfrm>
            <a:off x="2199412" y="2867626"/>
            <a:ext cx="128158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10.1.12.0/24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3" name="TextBox 120">
            <a:extLst>
              <a:ext uri="{FF2B5EF4-FFF2-40B4-BE49-F238E27FC236}">
                <a16:creationId xmlns="" xmlns:a16="http://schemas.microsoft.com/office/drawing/2014/main" id="{020D7A1D-EFAD-4C8C-B9DE-D0FAD269B77A}"/>
              </a:ext>
            </a:extLst>
          </p:cNvPr>
          <p:cNvSpPr txBox="1"/>
          <p:nvPr/>
        </p:nvSpPr>
        <p:spPr bwMode="gray">
          <a:xfrm>
            <a:off x="2131293" y="3112714"/>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TextBox 120">
            <a:extLst>
              <a:ext uri="{FF2B5EF4-FFF2-40B4-BE49-F238E27FC236}">
                <a16:creationId xmlns="" xmlns:a16="http://schemas.microsoft.com/office/drawing/2014/main" id="{020D7A1D-EFAD-4C8C-B9DE-D0FAD269B77A}"/>
              </a:ext>
            </a:extLst>
          </p:cNvPr>
          <p:cNvSpPr txBox="1"/>
          <p:nvPr/>
        </p:nvSpPr>
        <p:spPr bwMode="gray">
          <a:xfrm>
            <a:off x="3142958" y="3112714"/>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5" name="TextBox 120">
            <a:extLst>
              <a:ext uri="{FF2B5EF4-FFF2-40B4-BE49-F238E27FC236}">
                <a16:creationId xmlns="" xmlns:a16="http://schemas.microsoft.com/office/drawing/2014/main" id="{020D7A1D-EFAD-4C8C-B9DE-D0FAD269B77A}"/>
              </a:ext>
            </a:extLst>
          </p:cNvPr>
          <p:cNvSpPr txBox="1"/>
          <p:nvPr/>
        </p:nvSpPr>
        <p:spPr bwMode="gray">
          <a:xfrm rot="1108285">
            <a:off x="3900383" y="1964941"/>
            <a:ext cx="36453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6" name="TextBox 120">
            <a:extLst>
              <a:ext uri="{FF2B5EF4-FFF2-40B4-BE49-F238E27FC236}">
                <a16:creationId xmlns="" xmlns:a16="http://schemas.microsoft.com/office/drawing/2014/main" id="{020D7A1D-EFAD-4C8C-B9DE-D0FAD269B77A}"/>
              </a:ext>
            </a:extLst>
          </p:cNvPr>
          <p:cNvSpPr txBox="1"/>
          <p:nvPr/>
        </p:nvSpPr>
        <p:spPr bwMode="gray">
          <a:xfrm rot="1108285">
            <a:off x="4761007" y="2271372"/>
            <a:ext cx="36453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7" name="TextBox 120">
            <a:extLst>
              <a:ext uri="{FF2B5EF4-FFF2-40B4-BE49-F238E27FC236}">
                <a16:creationId xmlns="" xmlns:a16="http://schemas.microsoft.com/office/drawing/2014/main" id="{020D7A1D-EFAD-4C8C-B9DE-D0FAD269B77A}"/>
              </a:ext>
            </a:extLst>
          </p:cNvPr>
          <p:cNvSpPr txBox="1"/>
          <p:nvPr/>
        </p:nvSpPr>
        <p:spPr bwMode="gray">
          <a:xfrm rot="20383017">
            <a:off x="3909116" y="2621153"/>
            <a:ext cx="128158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10.1.23.0/24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8" name="TextBox 120">
            <a:extLst>
              <a:ext uri="{FF2B5EF4-FFF2-40B4-BE49-F238E27FC236}">
                <a16:creationId xmlns="" xmlns:a16="http://schemas.microsoft.com/office/drawing/2014/main" id="{020D7A1D-EFAD-4C8C-B9DE-D0FAD269B77A}"/>
              </a:ext>
            </a:extLst>
          </p:cNvPr>
          <p:cNvSpPr txBox="1"/>
          <p:nvPr/>
        </p:nvSpPr>
        <p:spPr bwMode="gray">
          <a:xfrm>
            <a:off x="5385925" y="2800166"/>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103</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9" name="椭圆 118"/>
          <p:cNvSpPr/>
          <p:nvPr/>
        </p:nvSpPr>
        <p:spPr bwMode="gray">
          <a:xfrm>
            <a:off x="3841804" y="3063410"/>
            <a:ext cx="150125" cy="152230"/>
          </a:xfrm>
          <a:prstGeom prst="ellips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bwMode="gray">
          <a:xfrm>
            <a:off x="5071813" y="3818918"/>
            <a:ext cx="150125" cy="152230"/>
          </a:xfrm>
          <a:prstGeom prst="ellips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TextBox 120">
            <a:extLst>
              <a:ext uri="{FF2B5EF4-FFF2-40B4-BE49-F238E27FC236}">
                <a16:creationId xmlns="" xmlns:a16="http://schemas.microsoft.com/office/drawing/2014/main" id="{020D7A1D-EFAD-4C8C-B9DE-D0FAD269B77A}"/>
              </a:ext>
            </a:extLst>
          </p:cNvPr>
          <p:cNvSpPr txBox="1"/>
          <p:nvPr/>
        </p:nvSpPr>
        <p:spPr bwMode="gray">
          <a:xfrm>
            <a:off x="5233350" y="3741146"/>
            <a:ext cx="910791" cy="307777"/>
          </a:xfrm>
          <a:prstGeom prst="rect">
            <a:avLst/>
          </a:prstGeom>
          <a:noFill/>
          <a:ln>
            <a:noFill/>
          </a:ln>
        </p:spPr>
        <p:txBody>
          <a:bodyPr wrap="squar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路由过滤</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73104276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任意多边形 25"/>
          <p:cNvSpPr/>
          <p:nvPr/>
        </p:nvSpPr>
        <p:spPr bwMode="gray">
          <a:xfrm>
            <a:off x="3622911" y="3921803"/>
            <a:ext cx="1304816" cy="1244051"/>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sp>
        <p:nvSpPr>
          <p:cNvPr id="33" name="TextBox 120">
            <a:extLst>
              <a:ext uri="{FF2B5EF4-FFF2-40B4-BE49-F238E27FC236}">
                <a16:creationId xmlns="" xmlns:a16="http://schemas.microsoft.com/office/drawing/2014/main" id="{020D7A1D-EFAD-4C8C-B9DE-D0FAD269B77A}"/>
              </a:ext>
            </a:extLst>
          </p:cNvPr>
          <p:cNvSpPr txBox="1"/>
          <p:nvPr/>
        </p:nvSpPr>
        <p:spPr bwMode="gray">
          <a:xfrm>
            <a:off x="3586261" y="3955456"/>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p:txBody>
          <a:bodyPr/>
          <a:lstStyle/>
          <a:p>
            <a:r>
              <a:rPr lang="zh-CN" altLang="en-US" smtClean="0"/>
              <a:t>路由匹配工具：</a:t>
            </a:r>
            <a:r>
              <a:rPr lang="en-US" altLang="zh-CN" smtClean="0"/>
              <a:t>Community Filter</a:t>
            </a:r>
            <a:endParaRPr lang="zh-CN" altLang="en-US" dirty="0"/>
          </a:p>
        </p:txBody>
      </p:sp>
      <p:sp>
        <p:nvSpPr>
          <p:cNvPr id="5" name="文本占位符 4"/>
          <p:cNvSpPr>
            <a:spLocks noGrp="1"/>
          </p:cNvSpPr>
          <p:nvPr>
            <p:ph type="body" sz="quarter" idx="10"/>
          </p:nvPr>
        </p:nvSpPr>
        <p:spPr>
          <a:xfrm>
            <a:off x="455612" y="1047750"/>
            <a:ext cx="11293475" cy="2398081"/>
          </a:xfrm>
        </p:spPr>
        <p:txBody>
          <a:bodyPr/>
          <a:lstStyle/>
          <a:p>
            <a:r>
              <a:rPr lang="en-US" altLang="zh-CN" sz="2000" dirty="0" smtClean="0"/>
              <a:t>Community Filter</a:t>
            </a:r>
            <a:r>
              <a:rPr lang="zh-CN" altLang="en-US" sz="2000" dirty="0" smtClean="0"/>
              <a:t>与</a:t>
            </a:r>
            <a:r>
              <a:rPr lang="en-US" altLang="zh-CN" sz="2000" dirty="0" smtClean="0"/>
              <a:t>Community</a:t>
            </a:r>
            <a:r>
              <a:rPr lang="zh-CN" altLang="en-US" sz="2000" dirty="0" smtClean="0"/>
              <a:t>属性配合使用，可以在不便使用</a:t>
            </a:r>
            <a:r>
              <a:rPr lang="en-US" altLang="zh-CN" sz="2000" dirty="0" smtClean="0"/>
              <a:t>IP Prefix List</a:t>
            </a:r>
            <a:r>
              <a:rPr lang="zh-CN" altLang="en-US" sz="2000" dirty="0" smtClean="0"/>
              <a:t>和</a:t>
            </a:r>
            <a:r>
              <a:rPr lang="en-US" altLang="zh-CN" sz="2000" dirty="0" err="1" smtClean="0"/>
              <a:t>AS_Path</a:t>
            </a:r>
            <a:r>
              <a:rPr lang="en-US" altLang="zh-CN" sz="2000" dirty="0" smtClean="0"/>
              <a:t> Filter</a:t>
            </a:r>
            <a:r>
              <a:rPr lang="zh-CN" altLang="en-US" sz="2000" dirty="0" smtClean="0"/>
              <a:t>时，降低路由管理难度。</a:t>
            </a:r>
            <a:endParaRPr lang="en-US" altLang="zh-CN" sz="2000" dirty="0" smtClean="0"/>
          </a:p>
          <a:p>
            <a:r>
              <a:rPr lang="zh-CN" altLang="en-US" sz="2000" dirty="0" smtClean="0"/>
              <a:t>团体属性过滤器有两种类型：</a:t>
            </a:r>
            <a:endParaRPr lang="en-US" altLang="zh-CN" sz="2000" dirty="0" smtClean="0"/>
          </a:p>
          <a:p>
            <a:pPr lvl="1"/>
            <a:r>
              <a:rPr lang="zh-CN" altLang="en-US" sz="1800" dirty="0" smtClean="0"/>
              <a:t>基本</a:t>
            </a:r>
            <a:r>
              <a:rPr lang="en-US" altLang="zh-CN" sz="1800" dirty="0" smtClean="0"/>
              <a:t>Community Filter</a:t>
            </a:r>
            <a:r>
              <a:rPr lang="zh-CN" altLang="en-US" sz="1800" dirty="0" smtClean="0"/>
              <a:t>。匹配团体号或公认</a:t>
            </a:r>
            <a:r>
              <a:rPr lang="en-US" altLang="zh-CN" sz="1800" dirty="0" smtClean="0"/>
              <a:t>Community</a:t>
            </a:r>
            <a:r>
              <a:rPr lang="zh-CN" altLang="en-US" sz="1800" dirty="0" smtClean="0"/>
              <a:t>属性。</a:t>
            </a:r>
            <a:endParaRPr lang="en-US" altLang="zh-CN" sz="1800" dirty="0" smtClean="0"/>
          </a:p>
          <a:p>
            <a:pPr lvl="1"/>
            <a:r>
              <a:rPr lang="zh-CN" altLang="en-US" sz="1800" dirty="0" smtClean="0"/>
              <a:t>高级</a:t>
            </a:r>
            <a:r>
              <a:rPr lang="en-US" altLang="zh-CN" sz="1800" dirty="0" smtClean="0"/>
              <a:t>Community Filter</a:t>
            </a:r>
            <a:r>
              <a:rPr lang="zh-CN" altLang="en-US" sz="1800" dirty="0" smtClean="0"/>
              <a:t>。使用正则表达式匹配团体号。</a:t>
            </a:r>
            <a:endParaRPr lang="zh-CN" altLang="en-US" sz="1800" dirty="0"/>
          </a:p>
        </p:txBody>
      </p:sp>
      <p:sp>
        <p:nvSpPr>
          <p:cNvPr id="9" name="任意多边形 25"/>
          <p:cNvSpPr/>
          <p:nvPr/>
        </p:nvSpPr>
        <p:spPr bwMode="gray">
          <a:xfrm>
            <a:off x="5336209" y="3921803"/>
            <a:ext cx="1304816" cy="1244051"/>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sp>
        <p:nvSpPr>
          <p:cNvPr id="10" name="TextBox 120">
            <a:extLst>
              <a:ext uri="{FF2B5EF4-FFF2-40B4-BE49-F238E27FC236}">
                <a16:creationId xmlns="" xmlns:a16="http://schemas.microsoft.com/office/drawing/2014/main" id="{020D7A1D-EFAD-4C8C-B9DE-D0FAD269B77A}"/>
              </a:ext>
            </a:extLst>
          </p:cNvPr>
          <p:cNvSpPr txBox="1"/>
          <p:nvPr/>
        </p:nvSpPr>
        <p:spPr bwMode="gray">
          <a:xfrm>
            <a:off x="5299559" y="3955456"/>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103</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任意多边形 25"/>
          <p:cNvSpPr/>
          <p:nvPr/>
        </p:nvSpPr>
        <p:spPr bwMode="gray">
          <a:xfrm>
            <a:off x="1213578" y="3906593"/>
            <a:ext cx="1950857" cy="1259261"/>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pic>
        <p:nvPicPr>
          <p:cNvPr id="14" name="图片 1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313429" y="4442268"/>
            <a:ext cx="540000" cy="442800"/>
          </a:xfrm>
          <a:prstGeom prst="rect">
            <a:avLst/>
          </a:prstGeom>
        </p:spPr>
      </p:pic>
      <p:cxnSp>
        <p:nvCxnSpPr>
          <p:cNvPr id="15" name="直接连接符 14"/>
          <p:cNvCxnSpPr>
            <a:stCxn id="14" idx="3"/>
            <a:endCxn id="16" idx="1"/>
          </p:cNvCxnSpPr>
          <p:nvPr/>
        </p:nvCxnSpPr>
        <p:spPr bwMode="gray">
          <a:xfrm>
            <a:off x="2853429" y="4663668"/>
            <a:ext cx="11779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6" name="图片 1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031393" y="4442268"/>
            <a:ext cx="540000" cy="442800"/>
          </a:xfrm>
          <a:prstGeom prst="rect">
            <a:avLst/>
          </a:prstGeom>
        </p:spPr>
      </p:pic>
      <p:sp>
        <p:nvSpPr>
          <p:cNvPr id="17" name="TextBox 120">
            <a:extLst>
              <a:ext uri="{FF2B5EF4-FFF2-40B4-BE49-F238E27FC236}">
                <a16:creationId xmlns="" xmlns:a16="http://schemas.microsoft.com/office/drawing/2014/main" id="{020D7A1D-EFAD-4C8C-B9DE-D0FAD269B77A}"/>
              </a:ext>
            </a:extLst>
          </p:cNvPr>
          <p:cNvSpPr txBox="1"/>
          <p:nvPr/>
        </p:nvSpPr>
        <p:spPr bwMode="gray">
          <a:xfrm>
            <a:off x="1177108" y="3955456"/>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TextBox 120">
            <a:extLst>
              <a:ext uri="{FF2B5EF4-FFF2-40B4-BE49-F238E27FC236}">
                <a16:creationId xmlns="" xmlns:a16="http://schemas.microsoft.com/office/drawing/2014/main" id="{020D7A1D-EFAD-4C8C-B9DE-D0FAD269B77A}"/>
              </a:ext>
            </a:extLst>
          </p:cNvPr>
          <p:cNvSpPr txBox="1"/>
          <p:nvPr/>
        </p:nvSpPr>
        <p:spPr bwMode="gray">
          <a:xfrm>
            <a:off x="2376497" y="4182643"/>
            <a:ext cx="413864" cy="307777"/>
          </a:xfrm>
          <a:prstGeom prst="rect">
            <a:avLst/>
          </a:prstGeom>
          <a:noFill/>
          <a:ln>
            <a:noFill/>
          </a:ln>
        </p:spPr>
        <p:txBody>
          <a:bodyPr wrap="squar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R1</a:t>
            </a:r>
          </a:p>
        </p:txBody>
      </p:sp>
      <p:cxnSp>
        <p:nvCxnSpPr>
          <p:cNvPr id="19" name="直接连接符 18"/>
          <p:cNvCxnSpPr>
            <a:endCxn id="14" idx="1"/>
          </p:cNvCxnSpPr>
          <p:nvPr/>
        </p:nvCxnSpPr>
        <p:spPr bwMode="gray">
          <a:xfrm>
            <a:off x="2064586" y="4663668"/>
            <a:ext cx="24884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gray">
          <a:xfrm>
            <a:off x="2064586" y="4467706"/>
            <a:ext cx="0" cy="3919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120">
            <a:extLst>
              <a:ext uri="{FF2B5EF4-FFF2-40B4-BE49-F238E27FC236}">
                <a16:creationId xmlns="" xmlns:a16="http://schemas.microsoft.com/office/drawing/2014/main" id="{31930744-3D36-4F81-8426-6F129C1A6804}"/>
              </a:ext>
            </a:extLst>
          </p:cNvPr>
          <p:cNvSpPr txBox="1"/>
          <p:nvPr/>
        </p:nvSpPr>
        <p:spPr bwMode="gray">
          <a:xfrm>
            <a:off x="1160400" y="4429593"/>
            <a:ext cx="984700" cy="479524"/>
          </a:xfrm>
          <a:prstGeom prst="roundRect">
            <a:avLst>
              <a:gd name="adj" fmla="val 6721"/>
            </a:avLst>
          </a:prstGeom>
          <a:noFill/>
          <a:ln w="12700">
            <a:noFill/>
          </a:ln>
        </p:spPr>
        <p:txBody>
          <a:bodyPr wrap="square" rtlCol="0" anchor="ctr">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10.1.1.0/24</a:t>
            </a:r>
          </a:p>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10.1.2.0/24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TextBox 120">
            <a:extLst>
              <a:ext uri="{FF2B5EF4-FFF2-40B4-BE49-F238E27FC236}">
                <a16:creationId xmlns="" xmlns:a16="http://schemas.microsoft.com/office/drawing/2014/main" id="{020D7A1D-EFAD-4C8C-B9DE-D0FAD269B77A}"/>
              </a:ext>
            </a:extLst>
          </p:cNvPr>
          <p:cNvSpPr txBox="1"/>
          <p:nvPr/>
        </p:nvSpPr>
        <p:spPr bwMode="gray">
          <a:xfrm>
            <a:off x="4094878" y="4182643"/>
            <a:ext cx="413864"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3" name="直接连接符 55"/>
          <p:cNvCxnSpPr/>
          <p:nvPr/>
        </p:nvCxnSpPr>
        <p:spPr bwMode="gray">
          <a:xfrm flipH="1">
            <a:off x="2946913" y="4758604"/>
            <a:ext cx="918225" cy="0"/>
          </a:xfrm>
          <a:prstGeom prst="line">
            <a:avLst/>
          </a:prstGeom>
          <a:solidFill>
            <a:schemeClr val="accent1"/>
          </a:solidFill>
          <a:ln w="38100" cap="flat" cmpd="sng" algn="ctr">
            <a:solidFill>
              <a:schemeClr val="tx1"/>
            </a:solidFill>
            <a:prstDash val="dash"/>
            <a:round/>
            <a:headEnd type="triangle" w="med" len="med"/>
            <a:tailEnd type="none" w="med" len="med"/>
          </a:ln>
          <a:effectLst/>
        </p:spPr>
      </p:cxnSp>
      <p:sp>
        <p:nvSpPr>
          <p:cNvPr id="24" name="Rectangular Callout 115"/>
          <p:cNvSpPr/>
          <p:nvPr/>
        </p:nvSpPr>
        <p:spPr bwMode="gray">
          <a:xfrm>
            <a:off x="1173151" y="5511455"/>
            <a:ext cx="2691987" cy="532926"/>
          </a:xfrm>
          <a:prstGeom prst="roundRect">
            <a:avLst/>
          </a:prstGeom>
          <a:solidFill>
            <a:srgbClr val="FFFBEF"/>
          </a:solidFill>
          <a:ln w="19050">
            <a:solidFill>
              <a:srgbClr val="FDD35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rPr>
              <a:t>10.1.1.0/24 Community </a:t>
            </a:r>
            <a:r>
              <a:rPr lang="en-US" altLang="zh-CN" sz="1400" dirty="0" smtClean="0">
                <a:solidFill>
                  <a:schemeClr val="tx1"/>
                </a:solidFill>
              </a:rPr>
              <a:t>101:1</a:t>
            </a:r>
            <a:endParaRPr lang="en-US" altLang="zh-CN" sz="1400" dirty="0">
              <a:solidFill>
                <a:schemeClr val="tx1"/>
              </a:solidFill>
            </a:endParaRPr>
          </a:p>
          <a:p>
            <a:r>
              <a:rPr lang="en-US" altLang="zh-CN" sz="1400" dirty="0" smtClean="0">
                <a:solidFill>
                  <a:schemeClr val="tx1"/>
                </a:solidFill>
              </a:rPr>
              <a:t>10.1.2.0/24</a:t>
            </a:r>
            <a:endParaRPr lang="zh-CN" altLang="en-US" sz="1400" dirty="0">
              <a:solidFill>
                <a:schemeClr val="tx1"/>
              </a:solidFill>
            </a:endParaRPr>
          </a:p>
        </p:txBody>
      </p:sp>
      <p:sp>
        <p:nvSpPr>
          <p:cNvPr id="25" name="TextBox 120">
            <a:extLst>
              <a:ext uri="{FF2B5EF4-FFF2-40B4-BE49-F238E27FC236}">
                <a16:creationId xmlns="" xmlns:a16="http://schemas.microsoft.com/office/drawing/2014/main" id="{020D7A1D-EFAD-4C8C-B9DE-D0FAD269B77A}"/>
              </a:ext>
            </a:extLst>
          </p:cNvPr>
          <p:cNvSpPr txBox="1"/>
          <p:nvPr/>
        </p:nvSpPr>
        <p:spPr bwMode="gray">
          <a:xfrm>
            <a:off x="3102305" y="4375807"/>
            <a:ext cx="676830"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Route</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6" name="直接连接符 25"/>
          <p:cNvCxnSpPr>
            <a:stCxn id="16" idx="3"/>
            <a:endCxn id="27" idx="1"/>
          </p:cNvCxnSpPr>
          <p:nvPr/>
        </p:nvCxnSpPr>
        <p:spPr bwMode="gray">
          <a:xfrm>
            <a:off x="4571393" y="4663668"/>
            <a:ext cx="11796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7" name="图片 2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751011" y="4442268"/>
            <a:ext cx="540000" cy="442800"/>
          </a:xfrm>
          <a:prstGeom prst="rect">
            <a:avLst/>
          </a:prstGeom>
        </p:spPr>
      </p:pic>
      <p:cxnSp>
        <p:nvCxnSpPr>
          <p:cNvPr id="30" name="直接连接符 55"/>
          <p:cNvCxnSpPr/>
          <p:nvPr/>
        </p:nvCxnSpPr>
        <p:spPr bwMode="gray">
          <a:xfrm flipH="1">
            <a:off x="4661819" y="4758604"/>
            <a:ext cx="918225" cy="0"/>
          </a:xfrm>
          <a:prstGeom prst="line">
            <a:avLst/>
          </a:prstGeom>
          <a:solidFill>
            <a:schemeClr val="accent1"/>
          </a:solidFill>
          <a:ln w="38100" cap="flat" cmpd="sng" algn="ctr">
            <a:solidFill>
              <a:schemeClr val="tx1"/>
            </a:solidFill>
            <a:prstDash val="dash"/>
            <a:round/>
            <a:headEnd type="triangle" w="med" len="med"/>
            <a:tailEnd type="none" w="med" len="med"/>
          </a:ln>
          <a:effectLst/>
        </p:spPr>
      </p:cxnSp>
      <p:cxnSp>
        <p:nvCxnSpPr>
          <p:cNvPr id="34" name="直接箭头连接符 33"/>
          <p:cNvCxnSpPr/>
          <p:nvPr/>
        </p:nvCxnSpPr>
        <p:spPr bwMode="gray">
          <a:xfrm flipV="1">
            <a:off x="2774990" y="4813212"/>
            <a:ext cx="714237" cy="698243"/>
          </a:xfrm>
          <a:prstGeom prst="straightConnector1">
            <a:avLst/>
          </a:prstGeom>
          <a:ln w="19050">
            <a:solidFill>
              <a:srgbClr val="FDD351"/>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120">
            <a:extLst>
              <a:ext uri="{FF2B5EF4-FFF2-40B4-BE49-F238E27FC236}">
                <a16:creationId xmlns="" xmlns:a16="http://schemas.microsoft.com/office/drawing/2014/main" id="{020D7A1D-EFAD-4C8C-B9DE-D0FAD269B77A}"/>
              </a:ext>
            </a:extLst>
          </p:cNvPr>
          <p:cNvSpPr txBox="1"/>
          <p:nvPr/>
        </p:nvSpPr>
        <p:spPr bwMode="gray">
          <a:xfrm>
            <a:off x="4795501" y="4375807"/>
            <a:ext cx="676830"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Route</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占位符 3"/>
          <p:cNvSpPr txBox="1">
            <a:spLocks/>
          </p:cNvSpPr>
          <p:nvPr/>
        </p:nvSpPr>
        <p:spPr bwMode="gray">
          <a:xfrm>
            <a:off x="7779226" y="3583468"/>
            <a:ext cx="3142059" cy="679765"/>
          </a:xfrm>
          <a:prstGeom prst="rect">
            <a:avLst/>
          </a:prstGeom>
          <a:solidFill>
            <a:srgbClr val="FFFBEF"/>
          </a:solidFill>
          <a:ln w="9525">
            <a:solidFill>
              <a:srgbClr val="FDD351"/>
            </a:solidFill>
            <a:miter lim="800000"/>
            <a:headEnd/>
            <a:tailEnd/>
          </a:ln>
        </p:spPr>
        <p:txBody>
          <a:bodyPr vert="horz" wrap="square" lIns="108000" tIns="40071" rIns="108000" bIns="40071" numCol="1" anchor="ctr"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zh-CN" altLang="en-US" sz="1600" b="1" dirty="0" smtClean="0"/>
              <a:t>设置</a:t>
            </a:r>
            <a:r>
              <a:rPr lang="en-US" altLang="zh-CN" sz="1600" b="1" dirty="0"/>
              <a:t>Community </a:t>
            </a:r>
            <a:r>
              <a:rPr lang="en-US" altLang="zh-CN" sz="1600" b="1" dirty="0" smtClean="0"/>
              <a:t>Filter</a:t>
            </a:r>
            <a:r>
              <a:rPr lang="zh-CN" altLang="en-US" sz="1600" b="1" dirty="0" smtClean="0"/>
              <a:t>，拒绝</a:t>
            </a:r>
            <a:r>
              <a:rPr lang="zh-CN" altLang="en-US" sz="1600" b="1" dirty="0"/>
              <a:t>发布</a:t>
            </a:r>
            <a:r>
              <a:rPr lang="zh-CN" altLang="en-US" sz="1600" b="1" dirty="0" smtClean="0"/>
              <a:t>团体属性值为</a:t>
            </a:r>
            <a:r>
              <a:rPr lang="en-US" altLang="zh-CN" sz="1600" b="1" dirty="0" smtClean="0"/>
              <a:t>101:1</a:t>
            </a:r>
            <a:r>
              <a:rPr lang="zh-CN" altLang="en-US" sz="1600" b="1" dirty="0" smtClean="0"/>
              <a:t>的路由。</a:t>
            </a:r>
          </a:p>
        </p:txBody>
      </p:sp>
      <p:sp>
        <p:nvSpPr>
          <p:cNvPr id="38" name="椭圆 37"/>
          <p:cNvSpPr/>
          <p:nvPr/>
        </p:nvSpPr>
        <p:spPr bwMode="gray">
          <a:xfrm>
            <a:off x="4530047" y="4593239"/>
            <a:ext cx="150125" cy="152230"/>
          </a:xfrm>
          <a:prstGeom prst="ellipse">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38"/>
          <p:cNvSpPr/>
          <p:nvPr/>
        </p:nvSpPr>
        <p:spPr bwMode="gray">
          <a:xfrm>
            <a:off x="4599298" y="3732840"/>
            <a:ext cx="3179928" cy="887105"/>
          </a:xfrm>
          <a:custGeom>
            <a:avLst/>
            <a:gdLst>
              <a:gd name="connsiteX0" fmla="*/ 0 w 3179928"/>
              <a:gd name="connsiteY0" fmla="*/ 887105 h 887105"/>
              <a:gd name="connsiteX1" fmla="*/ 464024 w 3179928"/>
              <a:gd name="connsiteY1" fmla="*/ 0 h 887105"/>
              <a:gd name="connsiteX2" fmla="*/ 3179928 w 3179928"/>
              <a:gd name="connsiteY2" fmla="*/ 0 h 887105"/>
            </a:gdLst>
            <a:ahLst/>
            <a:cxnLst>
              <a:cxn ang="0">
                <a:pos x="connsiteX0" y="connsiteY0"/>
              </a:cxn>
              <a:cxn ang="0">
                <a:pos x="connsiteX1" y="connsiteY1"/>
              </a:cxn>
              <a:cxn ang="0">
                <a:pos x="connsiteX2" y="connsiteY2"/>
              </a:cxn>
            </a:cxnLst>
            <a:rect l="l" t="t" r="r" b="b"/>
            <a:pathLst>
              <a:path w="3179928" h="887105">
                <a:moveTo>
                  <a:pt x="0" y="887105"/>
                </a:moveTo>
                <a:lnTo>
                  <a:pt x="464024" y="0"/>
                </a:lnTo>
                <a:lnTo>
                  <a:pt x="3179928" y="0"/>
                </a:lnTo>
              </a:path>
            </a:pathLst>
          </a:custGeom>
          <a:noFill/>
          <a:ln w="19050">
            <a:solidFill>
              <a:srgbClr val="FDD3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Rectangular Callout 115"/>
          <p:cNvSpPr/>
          <p:nvPr/>
        </p:nvSpPr>
        <p:spPr bwMode="gray">
          <a:xfrm>
            <a:off x="4113777" y="5511455"/>
            <a:ext cx="1222432" cy="532926"/>
          </a:xfrm>
          <a:prstGeom prst="roundRect">
            <a:avLst/>
          </a:prstGeom>
          <a:solidFill>
            <a:srgbClr val="FFFBEF"/>
          </a:solidFill>
          <a:ln w="19050">
            <a:solidFill>
              <a:srgbClr val="FDD35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smtClean="0">
                <a:solidFill>
                  <a:schemeClr val="tx1"/>
                </a:solidFill>
              </a:rPr>
              <a:t>10.1.2.0/24</a:t>
            </a:r>
          </a:p>
        </p:txBody>
      </p:sp>
      <p:cxnSp>
        <p:nvCxnSpPr>
          <p:cNvPr id="52" name="直接箭头连接符 51"/>
          <p:cNvCxnSpPr/>
          <p:nvPr/>
        </p:nvCxnSpPr>
        <p:spPr bwMode="gray">
          <a:xfrm flipV="1">
            <a:off x="4508742" y="4813212"/>
            <a:ext cx="714237" cy="698243"/>
          </a:xfrm>
          <a:prstGeom prst="straightConnector1">
            <a:avLst/>
          </a:prstGeom>
          <a:ln w="19050">
            <a:solidFill>
              <a:srgbClr val="FDD351"/>
            </a:solidFill>
            <a:tailEnd type="triangle"/>
          </a:ln>
        </p:spPr>
        <p:style>
          <a:lnRef idx="1">
            <a:schemeClr val="accent1"/>
          </a:lnRef>
          <a:fillRef idx="0">
            <a:schemeClr val="accent1"/>
          </a:fillRef>
          <a:effectRef idx="0">
            <a:schemeClr val="accent1"/>
          </a:effectRef>
          <a:fontRef idx="minor">
            <a:schemeClr val="tx1"/>
          </a:fontRef>
        </p:style>
      </p:cxnSp>
      <p:sp>
        <p:nvSpPr>
          <p:cNvPr id="53" name="Rectangular Callout 115"/>
          <p:cNvSpPr/>
          <p:nvPr/>
        </p:nvSpPr>
        <p:spPr bwMode="gray">
          <a:xfrm>
            <a:off x="5527607" y="5511455"/>
            <a:ext cx="2058049" cy="532926"/>
          </a:xfrm>
          <a:prstGeom prst="roundRect">
            <a:avLst/>
          </a:prstGeom>
          <a:solidFill>
            <a:srgbClr val="FFFBEF"/>
          </a:solidFill>
          <a:ln w="19050">
            <a:solidFill>
              <a:srgbClr val="FDD35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smtClean="0">
                <a:solidFill>
                  <a:srgbClr val="ED6D00"/>
                </a:solidFill>
              </a:rPr>
              <a:t>携带</a:t>
            </a:r>
            <a:r>
              <a:rPr lang="en-US" altLang="zh-CN" sz="1400" dirty="0" smtClean="0">
                <a:solidFill>
                  <a:srgbClr val="ED6D00"/>
                </a:solidFill>
              </a:rPr>
              <a:t>101:1</a:t>
            </a:r>
            <a:r>
              <a:rPr lang="zh-CN" altLang="en-US" sz="1400" dirty="0" smtClean="0">
                <a:solidFill>
                  <a:srgbClr val="ED6D00"/>
                </a:solidFill>
              </a:rPr>
              <a:t>团体属性的</a:t>
            </a:r>
            <a:r>
              <a:rPr lang="en-US" altLang="zh-CN" sz="1400" dirty="0" smtClean="0">
                <a:solidFill>
                  <a:srgbClr val="ED6D00"/>
                </a:solidFill>
              </a:rPr>
              <a:t>10.1.1.0/24</a:t>
            </a:r>
            <a:r>
              <a:rPr lang="zh-CN" altLang="en-US" sz="1400" dirty="0" smtClean="0">
                <a:solidFill>
                  <a:srgbClr val="ED6D00"/>
                </a:solidFill>
              </a:rPr>
              <a:t>路由被过滤。</a:t>
            </a:r>
            <a:endParaRPr lang="zh-CN" altLang="en-US" sz="1400" dirty="0">
              <a:solidFill>
                <a:srgbClr val="ED6D00"/>
              </a:solidFill>
            </a:endParaRPr>
          </a:p>
        </p:txBody>
      </p:sp>
      <p:sp>
        <p:nvSpPr>
          <p:cNvPr id="31" name="TextBox 120">
            <a:extLst>
              <a:ext uri="{FF2B5EF4-FFF2-40B4-BE49-F238E27FC236}">
                <a16:creationId xmlns="" xmlns:a16="http://schemas.microsoft.com/office/drawing/2014/main" id="{020D7A1D-EFAD-4C8C-B9DE-D0FAD269B77A}"/>
              </a:ext>
            </a:extLst>
          </p:cNvPr>
          <p:cNvSpPr txBox="1"/>
          <p:nvPr/>
        </p:nvSpPr>
        <p:spPr bwMode="gray">
          <a:xfrm>
            <a:off x="5825105" y="4182643"/>
            <a:ext cx="413864"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R3</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五边形 41"/>
          <p:cNvSpPr/>
          <p:nvPr/>
        </p:nvSpPr>
        <p:spPr bwMode="auto">
          <a:xfrm>
            <a:off x="8335082" y="100861"/>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43" name="燕尾形 42"/>
          <p:cNvSpPr/>
          <p:nvPr/>
        </p:nvSpPr>
        <p:spPr bwMode="auto">
          <a:xfrm>
            <a:off x="9029654" y="100861"/>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AS_Path Filter</a:t>
            </a:r>
          </a:p>
        </p:txBody>
      </p:sp>
      <p:sp>
        <p:nvSpPr>
          <p:cNvPr id="44" name="燕尾形 43"/>
          <p:cNvSpPr/>
          <p:nvPr/>
        </p:nvSpPr>
        <p:spPr bwMode="auto">
          <a:xfrm>
            <a:off x="10203025" y="100861"/>
            <a:ext cx="1548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Community Filter</a:t>
            </a:r>
          </a:p>
        </p:txBody>
      </p:sp>
    </p:spTree>
    <p:extLst>
      <p:ext uri="{BB962C8B-B14F-4D97-AF65-F5344CB8AC3E}">
        <p14:creationId xmlns:p14="http://schemas.microsoft.com/office/powerpoint/2010/main" val="238897946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Community</a:t>
            </a:r>
            <a:r>
              <a:rPr lang="zh-CN" altLang="en-US" smtClean="0"/>
              <a:t>属性</a:t>
            </a:r>
            <a:endParaRPr lang="zh-CN" altLang="en-US" dirty="0"/>
          </a:p>
        </p:txBody>
      </p:sp>
      <p:sp>
        <p:nvSpPr>
          <p:cNvPr id="3" name="文本占位符 2"/>
          <p:cNvSpPr>
            <a:spLocks noGrp="1"/>
          </p:cNvSpPr>
          <p:nvPr>
            <p:ph type="body" sz="quarter" idx="10"/>
          </p:nvPr>
        </p:nvSpPr>
        <p:spPr>
          <a:xfrm>
            <a:off x="455612" y="1047750"/>
            <a:ext cx="11293475" cy="560333"/>
          </a:xfrm>
        </p:spPr>
        <p:txBody>
          <a:bodyPr/>
          <a:lstStyle/>
          <a:p>
            <a:r>
              <a:rPr lang="zh-CN" altLang="en-US" sz="2000" dirty="0" smtClean="0"/>
              <a:t>公认</a:t>
            </a:r>
            <a:r>
              <a:rPr lang="en-US" altLang="zh-CN" sz="2000" dirty="0" smtClean="0"/>
              <a:t>Community</a:t>
            </a:r>
            <a:r>
              <a:rPr lang="zh-CN" altLang="en-US" sz="2000" dirty="0" smtClean="0"/>
              <a:t>属性</a:t>
            </a:r>
            <a:endParaRPr lang="zh-CN" altLang="en-US" sz="2000" dirty="0"/>
          </a:p>
        </p:txBody>
      </p:sp>
      <p:graphicFrame>
        <p:nvGraphicFramePr>
          <p:cNvPr id="4" name="Table 3"/>
          <p:cNvGraphicFramePr>
            <a:graphicFrameLocks noGrp="1"/>
          </p:cNvGraphicFramePr>
          <p:nvPr>
            <p:extLst>
              <p:ext uri="{D42A27DB-BD31-4B8C-83A1-F6EECF244321}">
                <p14:modId xmlns:p14="http://schemas.microsoft.com/office/powerpoint/2010/main" val="3073875"/>
              </p:ext>
            </p:extLst>
          </p:nvPr>
        </p:nvGraphicFramePr>
        <p:xfrm>
          <a:off x="828750" y="1689941"/>
          <a:ext cx="10826221" cy="2195256"/>
        </p:xfrm>
        <a:graphic>
          <a:graphicData uri="http://schemas.openxmlformats.org/drawingml/2006/table">
            <a:tbl>
              <a:tblPr firstRow="1" bandRow="1"/>
              <a:tblGrid>
                <a:gridCol w="2234446"/>
                <a:gridCol w="2424521"/>
                <a:gridCol w="6167254"/>
              </a:tblGrid>
              <a:tr h="395256">
                <a:tc>
                  <a:txBody>
                    <a:bodyPr/>
                    <a:lstStyle/>
                    <a:p>
                      <a:pPr algn="ctr"/>
                      <a:r>
                        <a:rPr lang="zh-CN" altLang="en-US" sz="1600" b="1" dirty="0" smtClean="0">
                          <a:sym typeface="Huawei Sans" panose="020C0503030203020204" pitchFamily="34" charset="0"/>
                        </a:rPr>
                        <a:t>团体属性名称</a:t>
                      </a:r>
                      <a:endParaRPr lang="zh-CN" altLang="en-US" sz="1600" b="1" dirty="0">
                        <a:solidFill>
                          <a:schemeClr val="bg1"/>
                        </a:solidFill>
                        <a:latin typeface="+mn-lt"/>
                        <a:ea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600" b="1" dirty="0" smtClean="0">
                          <a:sym typeface="Huawei Sans" panose="020C0503030203020204" pitchFamily="34" charset="0"/>
                        </a:rPr>
                        <a:t>团体属性号</a:t>
                      </a:r>
                      <a:endParaRPr lang="zh-CN" altLang="en-US" sz="1600" b="1" dirty="0">
                        <a:solidFill>
                          <a:schemeClr val="bg1"/>
                        </a:solidFill>
                        <a:latin typeface="+mn-lt"/>
                        <a:ea typeface="+mn-ea"/>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600" b="1" dirty="0" smtClean="0">
                          <a:sym typeface="Huawei Sans" panose="020C0503030203020204" pitchFamily="34" charset="0"/>
                        </a:rPr>
                        <a:t>说明</a:t>
                      </a:r>
                      <a:endParaRPr lang="zh-CN" altLang="en-US" sz="1600" b="1" dirty="0">
                        <a:solidFill>
                          <a:schemeClr val="bg1"/>
                        </a:solidFill>
                        <a:latin typeface="+mn-lt"/>
                        <a:ea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540000">
                <a:tc>
                  <a:txBody>
                    <a:bodyPr/>
                    <a:lstStyle/>
                    <a:p>
                      <a:pPr algn="ctr"/>
                      <a:r>
                        <a:rPr lang="en-US" altLang="zh-CN" sz="1400" kern="1200" dirty="0" smtClean="0">
                          <a:effectLst/>
                        </a:rPr>
                        <a:t>Internet</a:t>
                      </a:r>
                      <a:endParaRPr lang="zh-CN" altLang="en-US" sz="1200" dirty="0">
                        <a:latin typeface="+mn-lt"/>
                        <a:ea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p>
                      <a:pPr algn="ctr"/>
                      <a:r>
                        <a:rPr lang="en-US" sz="1400" dirty="0" smtClean="0">
                          <a:effectLst/>
                        </a:rPr>
                        <a:t>0（0x00000000</a:t>
                      </a:r>
                      <a:r>
                        <a:rPr lang="en-US" sz="1400" dirty="0">
                          <a:effectLst/>
                        </a:rPr>
                        <a:t>）</a:t>
                      </a:r>
                      <a:endParaRPr lang="en-US" sz="1400" dirty="0">
                        <a:effectLst/>
                        <a:latin typeface="+mn-lt"/>
                        <a:ea typeface="+mn-ea"/>
                      </a:endParaRPr>
                    </a:p>
                  </a:txBody>
                  <a:tcPr anchor="ct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US" sz="1400" kern="1200" dirty="0" smtClean="0">
                          <a:effectLst/>
                        </a:rPr>
                        <a:t>设备在收到具有此属性的路由后，可以向任何</a:t>
                      </a:r>
                      <a:r>
                        <a:rPr lang="en-US" altLang="zh-CN" sz="1400" kern="1200" dirty="0" smtClean="0">
                          <a:effectLst/>
                        </a:rPr>
                        <a:t>BGP</a:t>
                      </a:r>
                      <a:r>
                        <a:rPr lang="zh-CN" altLang="en-US" sz="1400" kern="1200" dirty="0" smtClean="0">
                          <a:effectLst/>
                        </a:rPr>
                        <a:t>对等体发送该路由。缺省情况下，所有的路由都属于</a:t>
                      </a:r>
                      <a:r>
                        <a:rPr lang="en-US" altLang="zh-CN" sz="1400" kern="1200" dirty="0" smtClean="0">
                          <a:effectLst/>
                        </a:rPr>
                        <a:t>Internet</a:t>
                      </a:r>
                      <a:r>
                        <a:rPr lang="zh-CN" altLang="en-US" sz="1400" kern="1200" dirty="0" smtClean="0">
                          <a:effectLst/>
                        </a:rPr>
                        <a:t>团体。</a:t>
                      </a:r>
                      <a:endParaRPr lang="zh-CN" altLang="en-US" sz="1200" dirty="0" smtClean="0">
                        <a:latin typeface="+mn-lt"/>
                        <a:ea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360000">
                <a:tc>
                  <a:txBody>
                    <a:bodyPr/>
                    <a:lstStyle/>
                    <a:p>
                      <a:pPr algn="ctr"/>
                      <a:r>
                        <a:rPr lang="en-US" altLang="zh-CN" sz="1400" kern="1200" dirty="0" err="1" smtClean="0">
                          <a:effectLst/>
                        </a:rPr>
                        <a:t>No_Advertise</a:t>
                      </a:r>
                      <a:endParaRPr lang="zh-CN" altLang="en-US" sz="1200" dirty="0">
                        <a:latin typeface="+mn-lt"/>
                        <a:ea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p>
                      <a:pPr algn="ctr"/>
                      <a:r>
                        <a:rPr lang="en-US" altLang="zh-CN" sz="1400" kern="1200" dirty="0" smtClean="0">
                          <a:effectLst/>
                        </a:rPr>
                        <a:t>4294967042</a:t>
                      </a:r>
                      <a:r>
                        <a:rPr lang="zh-CN" altLang="en-US" sz="1400" kern="1200" dirty="0" smtClean="0">
                          <a:effectLst/>
                        </a:rPr>
                        <a:t>（</a:t>
                      </a:r>
                      <a:r>
                        <a:rPr lang="en-US" altLang="zh-CN" sz="1400" kern="1200" dirty="0" smtClean="0">
                          <a:effectLst/>
                        </a:rPr>
                        <a:t>0xFFFFFF02</a:t>
                      </a:r>
                      <a:r>
                        <a:rPr lang="zh-CN" altLang="en-US" sz="1400" kern="1200" dirty="0" smtClean="0">
                          <a:effectLst/>
                        </a:rPr>
                        <a:t>）</a:t>
                      </a:r>
                      <a:endParaRPr lang="zh-CN" altLang="en-US" sz="1400" dirty="0">
                        <a:latin typeface="+mn-lt"/>
                        <a:ea typeface="+mn-ea"/>
                        <a:sym typeface="Huawei Sans" panose="020C0503030203020204" pitchFamily="34" charset="0"/>
                      </a:endParaRPr>
                    </a:p>
                  </a:txBody>
                  <a:tcPr anchor="ct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US" sz="1400" kern="1200" dirty="0" smtClean="0">
                          <a:effectLst/>
                        </a:rPr>
                        <a:t>设备收到具有此属性的路由后，将不向任何</a:t>
                      </a:r>
                      <a:r>
                        <a:rPr lang="en-US" altLang="zh-CN" sz="1400" kern="1200" dirty="0" smtClean="0">
                          <a:effectLst/>
                        </a:rPr>
                        <a:t>BGP</a:t>
                      </a:r>
                      <a:r>
                        <a:rPr lang="zh-CN" altLang="en-US" sz="1400" kern="1200" dirty="0" smtClean="0">
                          <a:effectLst/>
                        </a:rPr>
                        <a:t>对等体发送该路由。</a:t>
                      </a:r>
                      <a:endParaRPr lang="zh-CN" altLang="en-US" sz="1200" dirty="0" smtClean="0">
                        <a:latin typeface="+mn-lt"/>
                        <a:ea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360000">
                <a:tc>
                  <a:txBody>
                    <a:bodyPr/>
                    <a:lstStyle/>
                    <a:p>
                      <a:pPr algn="ctr"/>
                      <a:r>
                        <a:rPr lang="en-US" altLang="zh-CN" sz="1400" kern="1200" dirty="0" err="1" smtClean="0">
                          <a:effectLst/>
                        </a:rPr>
                        <a:t>No_Export</a:t>
                      </a:r>
                      <a:endParaRPr lang="zh-CN" altLang="en-US" sz="1200" dirty="0">
                        <a:latin typeface="+mn-lt"/>
                        <a:ea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p>
                      <a:pPr algn="ctr"/>
                      <a:r>
                        <a:rPr lang="en-US" altLang="zh-CN" sz="1400" kern="1200" dirty="0" smtClean="0">
                          <a:effectLst/>
                        </a:rPr>
                        <a:t>4294967041</a:t>
                      </a:r>
                      <a:r>
                        <a:rPr lang="zh-CN" altLang="en-US" sz="1400" kern="1200" dirty="0" smtClean="0">
                          <a:effectLst/>
                        </a:rPr>
                        <a:t>（</a:t>
                      </a:r>
                      <a:r>
                        <a:rPr lang="en-US" altLang="zh-CN" sz="1400" kern="1200" dirty="0" smtClean="0">
                          <a:effectLst/>
                        </a:rPr>
                        <a:t>0xFFFFFF01</a:t>
                      </a:r>
                      <a:r>
                        <a:rPr lang="zh-CN" altLang="en-US" sz="1400" kern="1200" dirty="0" smtClean="0">
                          <a:effectLst/>
                        </a:rPr>
                        <a:t>）</a:t>
                      </a:r>
                      <a:endParaRPr lang="zh-CN" altLang="en-US" sz="1400" dirty="0">
                        <a:latin typeface="+mn-lt"/>
                        <a:ea typeface="+mn-ea"/>
                        <a:sym typeface="Huawei Sans" panose="020C0503030203020204" pitchFamily="34" charset="0"/>
                      </a:endParaRPr>
                    </a:p>
                  </a:txBody>
                  <a:tcPr anchor="ct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US" sz="1400" kern="1200" dirty="0" smtClean="0">
                          <a:effectLst/>
                        </a:rPr>
                        <a:t>设备收到具有此属性的路由后，将不向</a:t>
                      </a:r>
                      <a:r>
                        <a:rPr lang="en-US" altLang="zh-CN" sz="1400" kern="1200" dirty="0" smtClean="0">
                          <a:effectLst/>
                        </a:rPr>
                        <a:t>AS</a:t>
                      </a:r>
                      <a:r>
                        <a:rPr lang="zh-CN" altLang="en-US" sz="1400" kern="1200" dirty="0" smtClean="0">
                          <a:effectLst/>
                        </a:rPr>
                        <a:t>外发送该路由。</a:t>
                      </a:r>
                      <a:endParaRPr lang="zh-CN" altLang="en-US" sz="1200" dirty="0" smtClean="0">
                        <a:latin typeface="+mn-lt"/>
                        <a:ea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540000">
                <a:tc>
                  <a:txBody>
                    <a:bodyPr/>
                    <a:lstStyle/>
                    <a:p>
                      <a:pPr algn="ctr"/>
                      <a:r>
                        <a:rPr lang="en-US" altLang="zh-CN" sz="1400" kern="1200" dirty="0" err="1" smtClean="0">
                          <a:effectLst/>
                        </a:rPr>
                        <a:t>No_Export_Subconfed</a:t>
                      </a:r>
                      <a:endParaRPr lang="zh-CN" altLang="en-US" sz="1200" dirty="0">
                        <a:latin typeface="+mn-lt"/>
                        <a:ea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altLang="zh-CN" sz="1400" kern="1200" dirty="0" smtClean="0">
                          <a:effectLst/>
                        </a:rPr>
                        <a:t>4294967043</a:t>
                      </a:r>
                      <a:r>
                        <a:rPr lang="zh-CN" altLang="en-US" sz="1400" kern="1200" dirty="0" smtClean="0">
                          <a:effectLst/>
                        </a:rPr>
                        <a:t>（</a:t>
                      </a:r>
                      <a:r>
                        <a:rPr lang="en-US" altLang="zh-CN" sz="1400" kern="1200" dirty="0" smtClean="0">
                          <a:effectLst/>
                        </a:rPr>
                        <a:t>0xFFFFFF03</a:t>
                      </a:r>
                      <a:r>
                        <a:rPr lang="zh-CN" altLang="en-US" sz="1400" kern="1200" dirty="0" smtClean="0">
                          <a:effectLst/>
                        </a:rPr>
                        <a:t>）</a:t>
                      </a:r>
                      <a:endParaRPr lang="zh-CN" altLang="en-US" sz="1400" dirty="0">
                        <a:latin typeface="+mn-lt"/>
                        <a:ea typeface="+mn-ea"/>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US" sz="1400" kern="1200" dirty="0" smtClean="0">
                          <a:effectLst/>
                        </a:rPr>
                        <a:t>设备收到具有此属性的路由后，将不向</a:t>
                      </a:r>
                      <a:r>
                        <a:rPr lang="en-US" altLang="zh-CN" sz="1400" kern="1200" dirty="0" smtClean="0">
                          <a:effectLst/>
                        </a:rPr>
                        <a:t>AS</a:t>
                      </a:r>
                      <a:r>
                        <a:rPr lang="zh-CN" altLang="en-US" sz="1400" kern="1200" dirty="0" smtClean="0">
                          <a:effectLst/>
                        </a:rPr>
                        <a:t>外发送该路由。如果使用了联盟，也不向联盟内其他子</a:t>
                      </a:r>
                      <a:r>
                        <a:rPr lang="en-US" altLang="zh-CN" sz="1400" kern="1200" dirty="0" smtClean="0">
                          <a:effectLst/>
                        </a:rPr>
                        <a:t>AS</a:t>
                      </a:r>
                      <a:r>
                        <a:rPr lang="zh-CN" altLang="en-US" sz="1400" kern="1200" dirty="0" smtClean="0">
                          <a:effectLst/>
                        </a:rPr>
                        <a:t>发布此路由。</a:t>
                      </a:r>
                      <a:endParaRPr lang="zh-CN" altLang="en-US" sz="1200" dirty="0" smtClean="0">
                        <a:latin typeface="+mn-lt"/>
                        <a:ea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5" name="文本占位符 2"/>
          <p:cNvSpPr txBox="1">
            <a:spLocks/>
          </p:cNvSpPr>
          <p:nvPr/>
        </p:nvSpPr>
        <p:spPr bwMode="auto">
          <a:xfrm>
            <a:off x="474842" y="4045295"/>
            <a:ext cx="11276183" cy="213356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altLang="zh-CN" sz="2000" dirty="0" smtClean="0"/>
              <a:t>Community</a:t>
            </a:r>
            <a:r>
              <a:rPr lang="zh-CN" altLang="en-US" sz="2000" dirty="0" smtClean="0"/>
              <a:t>属性格式：</a:t>
            </a:r>
            <a:endParaRPr lang="en-US" altLang="zh-CN" sz="2000" dirty="0" smtClean="0"/>
          </a:p>
          <a:p>
            <a:pPr lvl="1"/>
            <a:r>
              <a:rPr lang="zh-CN" altLang="en-US" sz="1800" dirty="0" smtClean="0"/>
              <a:t>一个</a:t>
            </a:r>
            <a:r>
              <a:rPr lang="en-US" altLang="zh-CN" sz="1800" dirty="0" smtClean="0"/>
              <a:t>Community</a:t>
            </a:r>
            <a:r>
              <a:rPr lang="zh-CN" altLang="en-US" sz="1800" dirty="0"/>
              <a:t>属性</a:t>
            </a:r>
            <a:r>
              <a:rPr lang="zh-CN" altLang="en-US" sz="1800" dirty="0" smtClean="0"/>
              <a:t>值的长度</a:t>
            </a:r>
            <a:r>
              <a:rPr lang="zh-CN" altLang="en-US" sz="1800" dirty="0"/>
              <a:t>为</a:t>
            </a:r>
            <a:r>
              <a:rPr lang="en-US" altLang="zh-CN" sz="1800" dirty="0" smtClean="0"/>
              <a:t>32 bit</a:t>
            </a:r>
            <a:r>
              <a:rPr lang="zh-CN" altLang="en-US" sz="1800" dirty="0"/>
              <a:t>，</a:t>
            </a:r>
            <a:r>
              <a:rPr lang="zh-CN" altLang="en-US" sz="1800" dirty="0" smtClean="0"/>
              <a:t>可</a:t>
            </a:r>
            <a:r>
              <a:rPr lang="zh-CN" altLang="en-US" sz="1800" dirty="0"/>
              <a:t>使用两种形式呈现：</a:t>
            </a:r>
          </a:p>
          <a:p>
            <a:pPr lvl="2"/>
            <a:r>
              <a:rPr lang="zh-CN" altLang="en-US" sz="1600" dirty="0"/>
              <a:t>十进制整数格式。</a:t>
            </a:r>
          </a:p>
          <a:p>
            <a:pPr lvl="2"/>
            <a:r>
              <a:rPr lang="en-US" altLang="zh-CN" sz="1600" dirty="0"/>
              <a:t>AA</a:t>
            </a:r>
            <a:r>
              <a:rPr lang="zh-CN" altLang="en-US" sz="1600" dirty="0"/>
              <a:t>：</a:t>
            </a:r>
            <a:r>
              <a:rPr lang="en-US" altLang="zh-CN" sz="1600" dirty="0"/>
              <a:t>NN</a:t>
            </a:r>
            <a:r>
              <a:rPr lang="zh-CN" altLang="en-US" sz="1600" dirty="0"/>
              <a:t>格式，其中</a:t>
            </a:r>
            <a:r>
              <a:rPr lang="en-US" altLang="zh-CN" sz="1600" dirty="0"/>
              <a:t>AA</a:t>
            </a:r>
            <a:r>
              <a:rPr lang="zh-CN" altLang="en-US" sz="1600" dirty="0"/>
              <a:t>表示</a:t>
            </a:r>
            <a:r>
              <a:rPr lang="en-US" altLang="zh-CN" sz="1600" dirty="0"/>
              <a:t>AS</a:t>
            </a:r>
            <a:r>
              <a:rPr lang="zh-CN" altLang="en-US" sz="1600" dirty="0"/>
              <a:t>号，</a:t>
            </a:r>
            <a:r>
              <a:rPr lang="en-US" altLang="zh-CN" sz="1600" dirty="0"/>
              <a:t>NN</a:t>
            </a:r>
            <a:r>
              <a:rPr lang="zh-CN" altLang="en-US" sz="1600" dirty="0"/>
              <a:t>是自定义的编号</a:t>
            </a:r>
            <a:r>
              <a:rPr lang="zh-CN" altLang="en-US" sz="1600" dirty="0" smtClean="0"/>
              <a:t>。</a:t>
            </a:r>
            <a:endParaRPr lang="zh-CN" altLang="en-US" sz="1800" dirty="0"/>
          </a:p>
        </p:txBody>
      </p:sp>
      <p:sp>
        <p:nvSpPr>
          <p:cNvPr id="10" name="五边形 9"/>
          <p:cNvSpPr/>
          <p:nvPr/>
        </p:nvSpPr>
        <p:spPr bwMode="auto">
          <a:xfrm>
            <a:off x="8335082" y="100861"/>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11" name="燕尾形 10"/>
          <p:cNvSpPr/>
          <p:nvPr/>
        </p:nvSpPr>
        <p:spPr bwMode="auto">
          <a:xfrm>
            <a:off x="9029654" y="100861"/>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AS_Path Filter</a:t>
            </a:r>
          </a:p>
        </p:txBody>
      </p:sp>
      <p:sp>
        <p:nvSpPr>
          <p:cNvPr id="12" name="燕尾形 11"/>
          <p:cNvSpPr/>
          <p:nvPr/>
        </p:nvSpPr>
        <p:spPr bwMode="auto">
          <a:xfrm>
            <a:off x="10203025" y="100861"/>
            <a:ext cx="1548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Community Filter</a:t>
            </a:r>
          </a:p>
        </p:txBody>
      </p:sp>
    </p:spTree>
    <p:extLst>
      <p:ext uri="{BB962C8B-B14F-4D97-AF65-F5344CB8AC3E}">
        <p14:creationId xmlns:p14="http://schemas.microsoft.com/office/powerpoint/2010/main" val="37352096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设置</a:t>
            </a:r>
            <a:r>
              <a:rPr lang="en-US" altLang="zh-CN" smtClean="0"/>
              <a:t>Community</a:t>
            </a:r>
            <a:r>
              <a:rPr lang="zh-CN" altLang="en-US" smtClean="0"/>
              <a:t>的基础配置命令</a:t>
            </a:r>
            <a:endParaRPr lang="zh-CN" altLang="en-US" dirty="0"/>
          </a:p>
        </p:txBody>
      </p:sp>
      <p:sp>
        <p:nvSpPr>
          <p:cNvPr id="4" name="矩形 3"/>
          <p:cNvSpPr/>
          <p:nvPr/>
        </p:nvSpPr>
        <p:spPr>
          <a:xfrm>
            <a:off x="1031917" y="1670713"/>
            <a:ext cx="10608699" cy="584775"/>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[Huawei-route-policy] </a:t>
            </a:r>
            <a:r>
              <a:rPr lang="en-US" altLang="zh-CN" sz="1600" b="1" dirty="0"/>
              <a:t>apply community</a:t>
            </a:r>
            <a:r>
              <a:rPr lang="en-US" altLang="zh-CN" sz="1600" dirty="0"/>
              <a:t> { </a:t>
            </a:r>
            <a:r>
              <a:rPr lang="en-US" altLang="zh-CN" sz="1600" i="1" dirty="0"/>
              <a:t>community-number</a:t>
            </a:r>
            <a:r>
              <a:rPr lang="en-US" altLang="zh-CN" sz="1600" dirty="0"/>
              <a:t> | </a:t>
            </a:r>
            <a:r>
              <a:rPr lang="en-US" altLang="zh-CN" sz="1600" i="1" dirty="0" err="1"/>
              <a:t>aa:nn</a:t>
            </a:r>
            <a:r>
              <a:rPr lang="en-US" altLang="zh-CN" sz="1600" dirty="0"/>
              <a:t> | </a:t>
            </a:r>
            <a:r>
              <a:rPr lang="en-US" altLang="zh-CN" sz="1600" b="1" dirty="0"/>
              <a:t>internet</a:t>
            </a:r>
            <a:r>
              <a:rPr lang="en-US" altLang="zh-CN" sz="1600" dirty="0"/>
              <a:t> | </a:t>
            </a:r>
            <a:r>
              <a:rPr lang="en-US" altLang="zh-CN" sz="1600" b="1" dirty="0"/>
              <a:t>no-advertise</a:t>
            </a:r>
            <a:r>
              <a:rPr lang="en-US" altLang="zh-CN" sz="1600" dirty="0"/>
              <a:t> | </a:t>
            </a:r>
            <a:r>
              <a:rPr lang="en-US" altLang="zh-CN" sz="1600" b="1" dirty="0"/>
              <a:t>no-export</a:t>
            </a:r>
            <a:r>
              <a:rPr lang="en-US" altLang="zh-CN" sz="1600" dirty="0"/>
              <a:t> | </a:t>
            </a:r>
            <a:r>
              <a:rPr lang="en-US" altLang="zh-CN" sz="1600" b="1" dirty="0"/>
              <a:t>no-export-</a:t>
            </a:r>
            <a:r>
              <a:rPr lang="en-US" altLang="zh-CN" sz="1600" b="1" dirty="0" err="1"/>
              <a:t>subconfed</a:t>
            </a:r>
            <a:r>
              <a:rPr lang="en-US" altLang="zh-CN" sz="1600" dirty="0"/>
              <a:t> } [ </a:t>
            </a:r>
            <a:r>
              <a:rPr lang="en-US" altLang="zh-CN" sz="1600" b="1" dirty="0"/>
              <a:t>additive</a:t>
            </a:r>
            <a:r>
              <a:rPr lang="en-US" altLang="zh-CN" sz="1600" dirty="0"/>
              <a:t> ]</a:t>
            </a:r>
            <a:endParaRPr lang="zh-CN" altLang="en-US" sz="1600" dirty="0">
              <a:cs typeface="Courier New" panose="02070309020205020404" pitchFamily="49" charset="0"/>
            </a:endParaRPr>
          </a:p>
        </p:txBody>
      </p:sp>
      <p:sp>
        <p:nvSpPr>
          <p:cNvPr id="5" name="矩形 4"/>
          <p:cNvSpPr/>
          <p:nvPr/>
        </p:nvSpPr>
        <p:spPr>
          <a:xfrm>
            <a:off x="551384" y="1238566"/>
            <a:ext cx="11089232" cy="338554"/>
          </a:xfrm>
          <a:prstGeom prst="rect">
            <a:avLst/>
          </a:prstGeom>
        </p:spPr>
        <p:txBody>
          <a:bodyPr wrap="square">
            <a:spAutoFit/>
          </a:bodyPr>
          <a:lstStyle/>
          <a:p>
            <a:pPr marL="342900" indent="-342900" fontAlgn="auto">
              <a:buFont typeface="+mj-lt"/>
              <a:buAutoNum type="arabicPeriod"/>
            </a:pPr>
            <a:r>
              <a:rPr lang="zh-CN" altLang="en-US" sz="1600" dirty="0" smtClean="0">
                <a:cs typeface="Courier New" panose="02070309020205020404" pitchFamily="49" charset="0"/>
              </a:rPr>
              <a:t>在路由</a:t>
            </a:r>
            <a:r>
              <a:rPr lang="zh-CN" altLang="en-US" sz="1600" dirty="0">
                <a:cs typeface="Courier New" panose="02070309020205020404" pitchFamily="49" charset="0"/>
              </a:rPr>
              <a:t>策略中，设置路由的</a:t>
            </a:r>
            <a:r>
              <a:rPr lang="en-US" altLang="zh-CN" sz="1600" dirty="0">
                <a:cs typeface="Courier New" panose="02070309020205020404" pitchFamily="49" charset="0"/>
              </a:rPr>
              <a:t>Community</a:t>
            </a:r>
            <a:r>
              <a:rPr lang="zh-CN" altLang="en-US" sz="1600" dirty="0">
                <a:cs typeface="Courier New" panose="02070309020205020404" pitchFamily="49" charset="0"/>
              </a:rPr>
              <a:t>属性</a:t>
            </a:r>
            <a:r>
              <a:rPr lang="zh-CN" altLang="en-US" sz="1600" dirty="0" smtClean="0">
                <a:cs typeface="Courier New" panose="02070309020205020404" pitchFamily="49" charset="0"/>
              </a:rPr>
              <a:t>值。</a:t>
            </a:r>
            <a:endParaRPr lang="zh-CN" altLang="en-US" sz="1600" dirty="0">
              <a:cs typeface="Courier New" panose="02070309020205020404" pitchFamily="49" charset="0"/>
            </a:endParaRPr>
          </a:p>
        </p:txBody>
      </p:sp>
      <p:sp>
        <p:nvSpPr>
          <p:cNvPr id="14" name="矩形 13"/>
          <p:cNvSpPr/>
          <p:nvPr/>
        </p:nvSpPr>
        <p:spPr>
          <a:xfrm>
            <a:off x="1031917" y="3593354"/>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[Huawei-bgp-af-ipv4] </a:t>
            </a:r>
            <a:r>
              <a:rPr lang="en-US" altLang="zh-CN" sz="1600" b="1" dirty="0"/>
              <a:t>peer</a:t>
            </a:r>
            <a:r>
              <a:rPr lang="en-US" altLang="zh-CN" sz="1600" dirty="0"/>
              <a:t> { </a:t>
            </a:r>
            <a:r>
              <a:rPr lang="en-US" altLang="zh-CN" sz="1600" i="1" dirty="0"/>
              <a:t>group-name</a:t>
            </a:r>
            <a:r>
              <a:rPr lang="en-US" altLang="zh-CN" sz="1600" dirty="0"/>
              <a:t> | </a:t>
            </a:r>
            <a:r>
              <a:rPr lang="en-US" altLang="zh-CN" sz="1600" i="1" dirty="0"/>
              <a:t>ipv4-address</a:t>
            </a:r>
            <a:r>
              <a:rPr lang="en-US" altLang="zh-CN" sz="1600" dirty="0"/>
              <a:t> | </a:t>
            </a:r>
            <a:r>
              <a:rPr lang="en-US" altLang="zh-CN" sz="1600" i="1" dirty="0"/>
              <a:t>ipv6-address</a:t>
            </a:r>
            <a:r>
              <a:rPr lang="en-US" altLang="zh-CN" sz="1600" dirty="0"/>
              <a:t> } </a:t>
            </a:r>
            <a:r>
              <a:rPr lang="en-US" altLang="zh-CN" sz="1600" b="1" dirty="0"/>
              <a:t>advertise-community</a:t>
            </a:r>
            <a:endParaRPr lang="zh-CN" altLang="en-US" sz="1600" dirty="0">
              <a:cs typeface="Courier New" panose="02070309020205020404" pitchFamily="49" charset="0"/>
            </a:endParaRPr>
          </a:p>
        </p:txBody>
      </p:sp>
      <p:sp>
        <p:nvSpPr>
          <p:cNvPr id="17" name="矩形 16"/>
          <p:cNvSpPr/>
          <p:nvPr/>
        </p:nvSpPr>
        <p:spPr>
          <a:xfrm>
            <a:off x="551384" y="3161207"/>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cs typeface="Courier New" panose="02070309020205020404" pitchFamily="49" charset="0"/>
              </a:rPr>
              <a:t>将团体属性发布给对等</a:t>
            </a:r>
            <a:r>
              <a:rPr lang="zh-CN" altLang="en-US" sz="1600" dirty="0" smtClean="0">
                <a:cs typeface="Courier New" panose="02070309020205020404" pitchFamily="49" charset="0"/>
              </a:rPr>
              <a:t>体（组）。</a:t>
            </a:r>
            <a:endParaRPr lang="en-US" altLang="zh-CN" sz="1600" dirty="0">
              <a:cs typeface="Courier New" panose="02070309020205020404" pitchFamily="49" charset="0"/>
            </a:endParaRPr>
          </a:p>
        </p:txBody>
      </p:sp>
      <p:sp>
        <p:nvSpPr>
          <p:cNvPr id="20" name="矩形 19"/>
          <p:cNvSpPr/>
          <p:nvPr/>
        </p:nvSpPr>
        <p:spPr>
          <a:xfrm>
            <a:off x="1031917" y="3935032"/>
            <a:ext cx="10608699" cy="400110"/>
          </a:xfrm>
          <a:prstGeom prst="rect">
            <a:avLst/>
          </a:prstGeom>
        </p:spPr>
        <p:txBody>
          <a:bodyPr wrap="square">
            <a:spAutoFit/>
          </a:bodyPr>
          <a:lstStyle/>
          <a:p>
            <a:pPr fontAlgn="auto">
              <a:lnSpc>
                <a:spcPts val="2400"/>
              </a:lnSpc>
            </a:pPr>
            <a:r>
              <a:rPr lang="zh-CN" altLang="en-US" sz="1600" dirty="0">
                <a:cs typeface="Courier New" panose="02070309020205020404" pitchFamily="49" charset="0"/>
              </a:rPr>
              <a:t>缺省情况下，</a:t>
            </a:r>
            <a:r>
              <a:rPr lang="en-US" altLang="zh-CN" sz="1600" dirty="0">
                <a:cs typeface="Courier New" panose="02070309020205020404" pitchFamily="49" charset="0"/>
              </a:rPr>
              <a:t>BGP</a:t>
            </a:r>
            <a:r>
              <a:rPr lang="zh-CN" altLang="en-US" sz="1600" dirty="0">
                <a:cs typeface="Courier New" panose="02070309020205020404" pitchFamily="49" charset="0"/>
              </a:rPr>
              <a:t>不将团体属性发布给任何对等体（组</a:t>
            </a:r>
            <a:r>
              <a:rPr lang="zh-CN" altLang="en-US" sz="1600" dirty="0" smtClean="0">
                <a:cs typeface="Courier New" panose="02070309020205020404" pitchFamily="49" charset="0"/>
              </a:rPr>
              <a:t>）。</a:t>
            </a:r>
            <a:endParaRPr lang="zh-CN" altLang="en-US" sz="1600" dirty="0">
              <a:cs typeface="Courier New" panose="02070309020205020404" pitchFamily="49" charset="0"/>
            </a:endParaRPr>
          </a:p>
        </p:txBody>
      </p:sp>
      <p:sp>
        <p:nvSpPr>
          <p:cNvPr id="12" name="五边形 11"/>
          <p:cNvSpPr/>
          <p:nvPr/>
        </p:nvSpPr>
        <p:spPr bwMode="auto">
          <a:xfrm>
            <a:off x="8335082" y="100861"/>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13" name="燕尾形 12"/>
          <p:cNvSpPr/>
          <p:nvPr/>
        </p:nvSpPr>
        <p:spPr bwMode="auto">
          <a:xfrm>
            <a:off x="9029654" y="100861"/>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AS_Path Filter</a:t>
            </a:r>
          </a:p>
        </p:txBody>
      </p:sp>
      <p:sp>
        <p:nvSpPr>
          <p:cNvPr id="16" name="燕尾形 15"/>
          <p:cNvSpPr/>
          <p:nvPr/>
        </p:nvSpPr>
        <p:spPr bwMode="auto">
          <a:xfrm>
            <a:off x="10203025" y="100861"/>
            <a:ext cx="1548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Community Filter</a:t>
            </a:r>
          </a:p>
        </p:txBody>
      </p:sp>
    </p:spTree>
    <p:extLst>
      <p:ext uri="{BB962C8B-B14F-4D97-AF65-F5344CB8AC3E}">
        <p14:creationId xmlns:p14="http://schemas.microsoft.com/office/powerpoint/2010/main" val="106687385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Community Filter</a:t>
            </a:r>
            <a:r>
              <a:rPr lang="zh-CN" altLang="en-US" dirty="0" smtClean="0"/>
              <a:t>的基础配置命令</a:t>
            </a:r>
            <a:endParaRPr lang="zh-CN" altLang="en-US" dirty="0"/>
          </a:p>
        </p:txBody>
      </p:sp>
      <p:sp>
        <p:nvSpPr>
          <p:cNvPr id="3" name="矩形 2"/>
          <p:cNvSpPr/>
          <p:nvPr/>
        </p:nvSpPr>
        <p:spPr>
          <a:xfrm>
            <a:off x="1031917" y="1597776"/>
            <a:ext cx="10608699" cy="584775"/>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 </a:t>
            </a:r>
            <a:r>
              <a:rPr lang="en-US" altLang="zh-CN" sz="1600" b="1" dirty="0" err="1"/>
              <a:t>ip</a:t>
            </a:r>
            <a:r>
              <a:rPr lang="en-US" altLang="zh-CN" sz="1600" b="1" dirty="0"/>
              <a:t> community-filter</a:t>
            </a:r>
            <a:r>
              <a:rPr lang="en-US" altLang="zh-CN" sz="1600" dirty="0"/>
              <a:t> { </a:t>
            </a:r>
            <a:r>
              <a:rPr lang="en-US" altLang="zh-CN" sz="1600" b="1" dirty="0"/>
              <a:t>basic</a:t>
            </a:r>
            <a:r>
              <a:rPr lang="en-US" altLang="zh-CN" sz="1600" dirty="0"/>
              <a:t> </a:t>
            </a:r>
            <a:r>
              <a:rPr lang="en-US" altLang="zh-CN" sz="1600" i="1" dirty="0" err="1"/>
              <a:t>comm</a:t>
            </a:r>
            <a:r>
              <a:rPr lang="en-US" altLang="zh-CN" sz="1600" i="1" dirty="0"/>
              <a:t>-filter-name</a:t>
            </a:r>
            <a:r>
              <a:rPr lang="en-US" altLang="zh-CN" sz="1600" dirty="0"/>
              <a:t> | </a:t>
            </a:r>
            <a:r>
              <a:rPr lang="en-US" altLang="zh-CN" sz="1600" i="1" dirty="0"/>
              <a:t>basic-</a:t>
            </a:r>
            <a:r>
              <a:rPr lang="en-US" altLang="zh-CN" sz="1600" i="1" dirty="0" err="1"/>
              <a:t>comm</a:t>
            </a:r>
            <a:r>
              <a:rPr lang="en-US" altLang="zh-CN" sz="1600" i="1" dirty="0"/>
              <a:t>-filter-</a:t>
            </a:r>
            <a:r>
              <a:rPr lang="en-US" altLang="zh-CN" sz="1600" i="1" dirty="0" err="1"/>
              <a:t>num</a:t>
            </a:r>
            <a:r>
              <a:rPr lang="en-US" altLang="zh-CN" sz="1600" dirty="0"/>
              <a:t> } { </a:t>
            </a:r>
            <a:r>
              <a:rPr lang="en-US" altLang="zh-CN" sz="1600" b="1" dirty="0"/>
              <a:t>permit</a:t>
            </a:r>
            <a:r>
              <a:rPr lang="en-US" altLang="zh-CN" sz="1600" dirty="0"/>
              <a:t> | </a:t>
            </a:r>
            <a:r>
              <a:rPr lang="en-US" altLang="zh-CN" sz="1600" b="1" dirty="0"/>
              <a:t>deny</a:t>
            </a:r>
            <a:r>
              <a:rPr lang="en-US" altLang="zh-CN" sz="1600" dirty="0"/>
              <a:t> } [ </a:t>
            </a:r>
            <a:r>
              <a:rPr lang="en-US" altLang="zh-CN" sz="1600" i="1" dirty="0"/>
              <a:t>community-number</a:t>
            </a:r>
            <a:r>
              <a:rPr lang="en-US" altLang="zh-CN" sz="1600" dirty="0"/>
              <a:t> | </a:t>
            </a:r>
            <a:r>
              <a:rPr lang="en-US" altLang="zh-CN" sz="1600" i="1" dirty="0" err="1"/>
              <a:t>aa:nn</a:t>
            </a:r>
            <a:r>
              <a:rPr lang="en-US" altLang="zh-CN" sz="1600" dirty="0"/>
              <a:t> | </a:t>
            </a:r>
            <a:r>
              <a:rPr lang="en-US" altLang="zh-CN" sz="1600" b="1" dirty="0"/>
              <a:t>internet</a:t>
            </a:r>
            <a:r>
              <a:rPr lang="en-US" altLang="zh-CN" sz="1600" dirty="0"/>
              <a:t> | </a:t>
            </a:r>
            <a:r>
              <a:rPr lang="en-US" altLang="zh-CN" sz="1600" b="1" dirty="0"/>
              <a:t>no-export-</a:t>
            </a:r>
            <a:r>
              <a:rPr lang="en-US" altLang="zh-CN" sz="1600" b="1" dirty="0" err="1"/>
              <a:t>subconfed</a:t>
            </a:r>
            <a:r>
              <a:rPr lang="en-US" altLang="zh-CN" sz="1600" dirty="0"/>
              <a:t> | </a:t>
            </a:r>
            <a:r>
              <a:rPr lang="en-US" altLang="zh-CN" sz="1600" b="1" dirty="0"/>
              <a:t>no-advertise</a:t>
            </a:r>
            <a:r>
              <a:rPr lang="en-US" altLang="zh-CN" sz="1600" dirty="0"/>
              <a:t> | </a:t>
            </a:r>
            <a:r>
              <a:rPr lang="en-US" altLang="zh-CN" sz="1600" b="1" dirty="0"/>
              <a:t>no-export</a:t>
            </a:r>
            <a:r>
              <a:rPr lang="en-US" altLang="zh-CN" sz="1600" dirty="0"/>
              <a:t> ]</a:t>
            </a:r>
            <a:endParaRPr lang="zh-CN" altLang="en-US" sz="1600" dirty="0">
              <a:cs typeface="Courier New" panose="02070309020205020404" pitchFamily="49" charset="0"/>
            </a:endParaRPr>
          </a:p>
        </p:txBody>
      </p:sp>
      <p:sp>
        <p:nvSpPr>
          <p:cNvPr id="4" name="矩形 3"/>
          <p:cNvSpPr/>
          <p:nvPr/>
        </p:nvSpPr>
        <p:spPr>
          <a:xfrm>
            <a:off x="551384" y="1244010"/>
            <a:ext cx="11089232" cy="338554"/>
          </a:xfrm>
          <a:prstGeom prst="rect">
            <a:avLst/>
          </a:prstGeom>
        </p:spPr>
        <p:txBody>
          <a:bodyPr wrap="square">
            <a:spAutoFit/>
          </a:bodyPr>
          <a:lstStyle/>
          <a:p>
            <a:pPr marL="342900" indent="-342900" fontAlgn="auto">
              <a:buFont typeface="+mj-lt"/>
              <a:buAutoNum type="arabicPeriod"/>
            </a:pPr>
            <a:r>
              <a:rPr lang="zh-CN" altLang="en-US" sz="1600" dirty="0">
                <a:cs typeface="Courier New" panose="02070309020205020404" pitchFamily="49" charset="0"/>
              </a:rPr>
              <a:t>创建基本</a:t>
            </a:r>
            <a:r>
              <a:rPr lang="en-US" altLang="zh-CN" sz="1600" dirty="0">
                <a:cs typeface="Courier New" panose="02070309020205020404" pitchFamily="49" charset="0"/>
              </a:rPr>
              <a:t>Community </a:t>
            </a:r>
            <a:r>
              <a:rPr lang="en-US" altLang="zh-CN" sz="1600" dirty="0" smtClean="0">
                <a:cs typeface="Courier New" panose="02070309020205020404" pitchFamily="49" charset="0"/>
              </a:rPr>
              <a:t>Filter</a:t>
            </a:r>
            <a:r>
              <a:rPr lang="zh-CN" altLang="en-US" sz="1600" dirty="0" smtClean="0">
                <a:cs typeface="Courier New" panose="02070309020205020404" pitchFamily="49" charset="0"/>
              </a:rPr>
              <a:t>。</a:t>
            </a:r>
            <a:endParaRPr lang="en-US" altLang="zh-CN" sz="1600" dirty="0">
              <a:cs typeface="Courier New" panose="02070309020205020404" pitchFamily="49" charset="0"/>
            </a:endParaRPr>
          </a:p>
        </p:txBody>
      </p:sp>
      <p:sp>
        <p:nvSpPr>
          <p:cNvPr id="5" name="矩形 4"/>
          <p:cNvSpPr/>
          <p:nvPr/>
        </p:nvSpPr>
        <p:spPr>
          <a:xfrm>
            <a:off x="1031917" y="3103349"/>
            <a:ext cx="10608699" cy="584775"/>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 </a:t>
            </a:r>
            <a:r>
              <a:rPr lang="en-US" altLang="zh-CN" sz="1600" b="1" dirty="0" err="1"/>
              <a:t>ip</a:t>
            </a:r>
            <a:r>
              <a:rPr lang="en-US" altLang="zh-CN" sz="1600" b="1" dirty="0"/>
              <a:t> community-filter</a:t>
            </a:r>
            <a:r>
              <a:rPr lang="en-US" altLang="zh-CN" sz="1600" dirty="0"/>
              <a:t> { </a:t>
            </a:r>
            <a:r>
              <a:rPr lang="en-US" altLang="zh-CN" sz="1600" b="1" dirty="0"/>
              <a:t>advanced</a:t>
            </a:r>
            <a:r>
              <a:rPr lang="en-US" altLang="zh-CN" sz="1600" dirty="0"/>
              <a:t> </a:t>
            </a:r>
            <a:r>
              <a:rPr lang="en-US" altLang="zh-CN" sz="1600" i="1" dirty="0" err="1"/>
              <a:t>comm</a:t>
            </a:r>
            <a:r>
              <a:rPr lang="en-US" altLang="zh-CN" sz="1600" i="1" dirty="0"/>
              <a:t>-filter-name</a:t>
            </a:r>
            <a:r>
              <a:rPr lang="en-US" altLang="zh-CN" sz="1600" dirty="0"/>
              <a:t> | </a:t>
            </a:r>
            <a:r>
              <a:rPr lang="en-US" altLang="zh-CN" sz="1600" i="1" dirty="0" err="1"/>
              <a:t>adv</a:t>
            </a:r>
            <a:r>
              <a:rPr lang="en-US" altLang="zh-CN" sz="1600" i="1" dirty="0"/>
              <a:t>-</a:t>
            </a:r>
            <a:r>
              <a:rPr lang="en-US" altLang="zh-CN" sz="1600" i="1" dirty="0" err="1"/>
              <a:t>comm</a:t>
            </a:r>
            <a:r>
              <a:rPr lang="en-US" altLang="zh-CN" sz="1600" i="1" dirty="0"/>
              <a:t>-filter-</a:t>
            </a:r>
            <a:r>
              <a:rPr lang="en-US" altLang="zh-CN" sz="1600" i="1" dirty="0" err="1"/>
              <a:t>num</a:t>
            </a:r>
            <a:r>
              <a:rPr lang="en-US" altLang="zh-CN" sz="1600" dirty="0"/>
              <a:t> } { </a:t>
            </a:r>
            <a:r>
              <a:rPr lang="en-US" altLang="zh-CN" sz="1600" b="1" dirty="0"/>
              <a:t>permit</a:t>
            </a:r>
            <a:r>
              <a:rPr lang="en-US" altLang="zh-CN" sz="1600" dirty="0"/>
              <a:t> | </a:t>
            </a:r>
            <a:r>
              <a:rPr lang="en-US" altLang="zh-CN" sz="1600" b="1" dirty="0"/>
              <a:t>deny</a:t>
            </a:r>
            <a:r>
              <a:rPr lang="en-US" altLang="zh-CN" sz="1600" dirty="0"/>
              <a:t> } </a:t>
            </a:r>
            <a:r>
              <a:rPr lang="en-US" altLang="zh-CN" sz="1600" i="1" dirty="0"/>
              <a:t>regular-expression</a:t>
            </a:r>
            <a:endParaRPr lang="zh-CN" altLang="en-US" sz="1600" dirty="0">
              <a:cs typeface="Courier New" panose="02070309020205020404" pitchFamily="49" charset="0"/>
            </a:endParaRPr>
          </a:p>
        </p:txBody>
      </p:sp>
      <p:sp>
        <p:nvSpPr>
          <p:cNvPr id="6" name="矩形 5"/>
          <p:cNvSpPr/>
          <p:nvPr/>
        </p:nvSpPr>
        <p:spPr>
          <a:xfrm>
            <a:off x="551384" y="2749583"/>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cs typeface="Courier New" panose="02070309020205020404" pitchFamily="49" charset="0"/>
              </a:rPr>
              <a:t>创建高级</a:t>
            </a:r>
            <a:r>
              <a:rPr lang="en-US" altLang="zh-CN" sz="1600" dirty="0">
                <a:cs typeface="Courier New" panose="02070309020205020404" pitchFamily="49" charset="0"/>
              </a:rPr>
              <a:t>Community </a:t>
            </a:r>
            <a:r>
              <a:rPr lang="en-US" altLang="zh-CN" sz="1600" dirty="0" smtClean="0">
                <a:cs typeface="Courier New" panose="02070309020205020404" pitchFamily="49" charset="0"/>
              </a:rPr>
              <a:t>Filter</a:t>
            </a:r>
            <a:r>
              <a:rPr lang="zh-CN" altLang="en-US" sz="1600" dirty="0" smtClean="0">
                <a:cs typeface="Courier New" panose="02070309020205020404" pitchFamily="49" charset="0"/>
              </a:rPr>
              <a:t>。</a:t>
            </a:r>
            <a:endParaRPr lang="en-US" altLang="zh-CN" sz="1600" dirty="0">
              <a:cs typeface="Courier New" panose="02070309020205020404" pitchFamily="49" charset="0"/>
            </a:endParaRPr>
          </a:p>
        </p:txBody>
      </p:sp>
      <p:sp>
        <p:nvSpPr>
          <p:cNvPr id="7" name="矩形 6"/>
          <p:cNvSpPr/>
          <p:nvPr/>
        </p:nvSpPr>
        <p:spPr>
          <a:xfrm>
            <a:off x="1031917" y="3704337"/>
            <a:ext cx="10608699" cy="377732"/>
          </a:xfrm>
          <a:prstGeom prst="rect">
            <a:avLst/>
          </a:prstGeom>
        </p:spPr>
        <p:txBody>
          <a:bodyPr wrap="square">
            <a:spAutoFit/>
          </a:bodyPr>
          <a:lstStyle/>
          <a:p>
            <a:pPr fontAlgn="auto">
              <a:lnSpc>
                <a:spcPts val="2400"/>
              </a:lnSpc>
            </a:pPr>
            <a:r>
              <a:rPr lang="zh-CN" altLang="en-US" sz="1600" dirty="0">
                <a:cs typeface="Courier New" panose="02070309020205020404" pitchFamily="49" charset="0"/>
              </a:rPr>
              <a:t>高级</a:t>
            </a:r>
            <a:r>
              <a:rPr lang="en-US" altLang="zh-CN" sz="1600" dirty="0">
                <a:cs typeface="Courier New" panose="02070309020205020404" pitchFamily="49" charset="0"/>
              </a:rPr>
              <a:t>Community Filter</a:t>
            </a:r>
            <a:r>
              <a:rPr lang="zh-CN" altLang="en-US" sz="1600" dirty="0">
                <a:cs typeface="Courier New" panose="02070309020205020404" pitchFamily="49" charset="0"/>
              </a:rPr>
              <a:t>编号范围：</a:t>
            </a:r>
            <a:r>
              <a:rPr lang="en-US" altLang="zh-CN" sz="1600" dirty="0">
                <a:cs typeface="Courier New" panose="02070309020205020404" pitchFamily="49" charset="0"/>
              </a:rPr>
              <a:t>100~199</a:t>
            </a:r>
            <a:r>
              <a:rPr lang="zh-CN" altLang="en-US" sz="1600" dirty="0">
                <a:cs typeface="Courier New" panose="02070309020205020404" pitchFamily="49" charset="0"/>
              </a:rPr>
              <a:t>。在高级</a:t>
            </a:r>
            <a:r>
              <a:rPr lang="en-US" altLang="zh-CN" sz="1600" dirty="0">
                <a:cs typeface="Courier New" panose="02070309020205020404" pitchFamily="49" charset="0"/>
              </a:rPr>
              <a:t>Community Filter</a:t>
            </a:r>
            <a:r>
              <a:rPr lang="zh-CN" altLang="en-US" sz="1600" dirty="0">
                <a:cs typeface="Courier New" panose="02070309020205020404" pitchFamily="49" charset="0"/>
              </a:rPr>
              <a:t>中可以指定正则表达式作为匹配条件。</a:t>
            </a:r>
          </a:p>
        </p:txBody>
      </p:sp>
      <p:sp>
        <p:nvSpPr>
          <p:cNvPr id="11" name="矩形 10"/>
          <p:cNvSpPr/>
          <p:nvPr/>
        </p:nvSpPr>
        <p:spPr>
          <a:xfrm>
            <a:off x="1031917" y="2204633"/>
            <a:ext cx="10608699" cy="400110"/>
          </a:xfrm>
          <a:prstGeom prst="rect">
            <a:avLst/>
          </a:prstGeom>
        </p:spPr>
        <p:txBody>
          <a:bodyPr wrap="square">
            <a:spAutoFit/>
          </a:bodyPr>
          <a:lstStyle/>
          <a:p>
            <a:pPr fontAlgn="auto">
              <a:lnSpc>
                <a:spcPts val="2400"/>
              </a:lnSpc>
            </a:pPr>
            <a:r>
              <a:rPr lang="zh-CN" altLang="en-US" sz="1600" dirty="0" smtClean="0">
                <a:cs typeface="Courier New" panose="02070309020205020404" pitchFamily="49" charset="0"/>
              </a:rPr>
              <a:t>基本</a:t>
            </a:r>
            <a:r>
              <a:rPr lang="en-US" altLang="zh-CN" sz="1600" dirty="0">
                <a:cs typeface="Courier New" panose="02070309020205020404" pitchFamily="49" charset="0"/>
              </a:rPr>
              <a:t>Community Filter</a:t>
            </a:r>
            <a:r>
              <a:rPr lang="zh-CN" altLang="en-US" sz="1600" dirty="0" smtClean="0">
                <a:cs typeface="Courier New" panose="02070309020205020404" pitchFamily="49" charset="0"/>
              </a:rPr>
              <a:t>编号</a:t>
            </a:r>
            <a:r>
              <a:rPr lang="zh-CN" altLang="en-US" sz="1600" dirty="0">
                <a:cs typeface="Courier New" panose="02070309020205020404" pitchFamily="49" charset="0"/>
              </a:rPr>
              <a:t>范围：</a:t>
            </a:r>
            <a:r>
              <a:rPr lang="en-US" altLang="zh-CN" sz="1600" dirty="0">
                <a:cs typeface="Courier New" panose="02070309020205020404" pitchFamily="49" charset="0"/>
              </a:rPr>
              <a:t>1~99</a:t>
            </a:r>
            <a:r>
              <a:rPr lang="zh-CN" altLang="en-US" sz="1600" dirty="0">
                <a:cs typeface="Courier New" panose="02070309020205020404" pitchFamily="49" charset="0"/>
              </a:rPr>
              <a:t>。在</a:t>
            </a:r>
            <a:r>
              <a:rPr lang="zh-CN" altLang="en-US" sz="1600" dirty="0" smtClean="0">
                <a:cs typeface="Courier New" panose="02070309020205020404" pitchFamily="49" charset="0"/>
              </a:rPr>
              <a:t>基本</a:t>
            </a:r>
            <a:r>
              <a:rPr lang="en-US" altLang="zh-CN" sz="1600" dirty="0">
                <a:cs typeface="Courier New" panose="02070309020205020404" pitchFamily="49" charset="0"/>
              </a:rPr>
              <a:t>Community </a:t>
            </a:r>
            <a:r>
              <a:rPr lang="en-US" altLang="zh-CN" sz="1600" dirty="0" smtClean="0">
                <a:cs typeface="Courier New" panose="02070309020205020404" pitchFamily="49" charset="0"/>
              </a:rPr>
              <a:t>Filter</a:t>
            </a:r>
            <a:r>
              <a:rPr lang="zh-CN" altLang="en-US" sz="1600" dirty="0" smtClean="0">
                <a:cs typeface="Courier New" panose="02070309020205020404" pitchFamily="49" charset="0"/>
              </a:rPr>
              <a:t>中只能</a:t>
            </a:r>
            <a:r>
              <a:rPr lang="zh-CN" altLang="en-US" sz="1600" dirty="0">
                <a:cs typeface="Courier New" panose="02070309020205020404" pitchFamily="49" charset="0"/>
              </a:rPr>
              <a:t>指定团体号或知名团体属性。</a:t>
            </a:r>
          </a:p>
        </p:txBody>
      </p:sp>
      <p:sp>
        <p:nvSpPr>
          <p:cNvPr id="15" name="五边形 14"/>
          <p:cNvSpPr/>
          <p:nvPr/>
        </p:nvSpPr>
        <p:spPr bwMode="auto">
          <a:xfrm>
            <a:off x="8335082" y="100861"/>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16" name="燕尾形 15"/>
          <p:cNvSpPr/>
          <p:nvPr/>
        </p:nvSpPr>
        <p:spPr bwMode="auto">
          <a:xfrm>
            <a:off x="9029654" y="100861"/>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AS_Path Filter</a:t>
            </a:r>
          </a:p>
        </p:txBody>
      </p:sp>
      <p:sp>
        <p:nvSpPr>
          <p:cNvPr id="17" name="燕尾形 16"/>
          <p:cNvSpPr/>
          <p:nvPr/>
        </p:nvSpPr>
        <p:spPr bwMode="auto">
          <a:xfrm>
            <a:off x="10203025" y="100861"/>
            <a:ext cx="1548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Community Filter</a:t>
            </a:r>
          </a:p>
        </p:txBody>
      </p:sp>
      <p:sp>
        <p:nvSpPr>
          <p:cNvPr id="12" name="矩形 11"/>
          <p:cNvSpPr/>
          <p:nvPr/>
        </p:nvSpPr>
        <p:spPr>
          <a:xfrm>
            <a:off x="1031917" y="4606241"/>
            <a:ext cx="10608699" cy="584775"/>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[Huawei-route-policy] </a:t>
            </a:r>
            <a:r>
              <a:rPr lang="en-US" altLang="zh-CN" sz="1600" b="1" dirty="0"/>
              <a:t>if-match community-filter</a:t>
            </a:r>
            <a:r>
              <a:rPr lang="en-US" altLang="zh-CN" sz="1600" dirty="0"/>
              <a:t> { </a:t>
            </a:r>
            <a:r>
              <a:rPr lang="en-US" altLang="zh-CN" sz="1600" i="1" dirty="0"/>
              <a:t>basic-</a:t>
            </a:r>
            <a:r>
              <a:rPr lang="en-US" altLang="zh-CN" sz="1600" i="1" dirty="0" err="1"/>
              <a:t>comm</a:t>
            </a:r>
            <a:r>
              <a:rPr lang="en-US" altLang="zh-CN" sz="1600" i="1" dirty="0"/>
              <a:t>-filter-</a:t>
            </a:r>
            <a:r>
              <a:rPr lang="en-US" altLang="zh-CN" sz="1600" i="1" dirty="0" err="1"/>
              <a:t>num</a:t>
            </a:r>
            <a:r>
              <a:rPr lang="en-US" altLang="zh-CN" sz="1600" dirty="0"/>
              <a:t> [ </a:t>
            </a:r>
            <a:r>
              <a:rPr lang="en-US" altLang="zh-CN" sz="1600" b="1" dirty="0"/>
              <a:t>whole-match</a:t>
            </a:r>
            <a:r>
              <a:rPr lang="en-US" altLang="zh-CN" sz="1600" dirty="0"/>
              <a:t> ] | </a:t>
            </a:r>
            <a:r>
              <a:rPr lang="en-US" altLang="zh-CN" sz="1600" i="1" dirty="0" err="1"/>
              <a:t>adv</a:t>
            </a:r>
            <a:r>
              <a:rPr lang="en-US" altLang="zh-CN" sz="1600" i="1" dirty="0"/>
              <a:t>-</a:t>
            </a:r>
            <a:r>
              <a:rPr lang="en-US" altLang="zh-CN" sz="1600" i="1" dirty="0" err="1"/>
              <a:t>comm</a:t>
            </a:r>
            <a:r>
              <a:rPr lang="en-US" altLang="zh-CN" sz="1600" i="1" dirty="0"/>
              <a:t>-filter-</a:t>
            </a:r>
            <a:r>
              <a:rPr lang="en-US" altLang="zh-CN" sz="1600" i="1" dirty="0" err="1"/>
              <a:t>num</a:t>
            </a:r>
            <a:r>
              <a:rPr lang="en-US" altLang="zh-CN" sz="1600" dirty="0"/>
              <a:t> }</a:t>
            </a:r>
            <a:endParaRPr lang="zh-CN" altLang="en-US" sz="1600" dirty="0">
              <a:cs typeface="Courier New" panose="02070309020205020404" pitchFamily="49" charset="0"/>
            </a:endParaRPr>
          </a:p>
        </p:txBody>
      </p:sp>
      <p:sp>
        <p:nvSpPr>
          <p:cNvPr id="13" name="矩形 12"/>
          <p:cNvSpPr/>
          <p:nvPr/>
        </p:nvSpPr>
        <p:spPr>
          <a:xfrm>
            <a:off x="551384" y="4252475"/>
            <a:ext cx="11089232" cy="338554"/>
          </a:xfrm>
          <a:prstGeom prst="rect">
            <a:avLst/>
          </a:prstGeom>
        </p:spPr>
        <p:txBody>
          <a:bodyPr wrap="square">
            <a:spAutoFit/>
          </a:bodyPr>
          <a:lstStyle/>
          <a:p>
            <a:pPr marL="342900" indent="-342900" fontAlgn="auto">
              <a:buFont typeface="+mj-lt"/>
              <a:buAutoNum type="arabicPeriod" startAt="3"/>
            </a:pPr>
            <a:r>
              <a:rPr lang="zh-CN" altLang="en-US" sz="1600" dirty="0" smtClean="0">
                <a:cs typeface="Courier New" panose="02070309020205020404" pitchFamily="49" charset="0"/>
              </a:rPr>
              <a:t>应用</a:t>
            </a:r>
            <a:r>
              <a:rPr lang="en-US" altLang="zh-CN" sz="1600" dirty="0" smtClean="0">
                <a:cs typeface="Courier New" panose="02070309020205020404" pitchFamily="49" charset="0"/>
              </a:rPr>
              <a:t>Community Filter</a:t>
            </a:r>
            <a:r>
              <a:rPr lang="zh-CN" altLang="en-US" sz="1600" dirty="0" smtClean="0">
                <a:cs typeface="Courier New" panose="02070309020205020404" pitchFamily="49" charset="0"/>
              </a:rPr>
              <a:t>。</a:t>
            </a:r>
            <a:endParaRPr lang="zh-CN" altLang="en-US" sz="1600" dirty="0">
              <a:cs typeface="Courier New" panose="02070309020205020404" pitchFamily="49" charset="0"/>
            </a:endParaRPr>
          </a:p>
        </p:txBody>
      </p:sp>
      <p:sp>
        <p:nvSpPr>
          <p:cNvPr id="14" name="矩形 13"/>
          <p:cNvSpPr/>
          <p:nvPr/>
        </p:nvSpPr>
        <p:spPr>
          <a:xfrm>
            <a:off x="1031917" y="5722284"/>
            <a:ext cx="10608699" cy="400110"/>
          </a:xfrm>
          <a:prstGeom prst="rect">
            <a:avLst/>
          </a:prstGeom>
        </p:spPr>
        <p:txBody>
          <a:bodyPr wrap="square">
            <a:spAutoFit/>
          </a:bodyPr>
          <a:lstStyle/>
          <a:p>
            <a:pPr>
              <a:lnSpc>
                <a:spcPts val="2400"/>
              </a:lnSpc>
            </a:pPr>
            <a:r>
              <a:rPr lang="zh-CN" altLang="en-US" sz="1600" dirty="0">
                <a:cs typeface="Courier New" panose="02070309020205020404" pitchFamily="49" charset="0"/>
              </a:rPr>
              <a:t>在</a:t>
            </a:r>
            <a:r>
              <a:rPr lang="en-US" altLang="zh-CN" sz="1600" dirty="0">
                <a:cs typeface="Courier New" panose="02070309020205020404" pitchFamily="49" charset="0"/>
              </a:rPr>
              <a:t>Route-Policy</a:t>
            </a:r>
            <a:r>
              <a:rPr lang="zh-CN" altLang="en-US" sz="1600" dirty="0">
                <a:cs typeface="Courier New" panose="02070309020205020404" pitchFamily="49" charset="0"/>
              </a:rPr>
              <a:t>视图下，创建一个</a:t>
            </a:r>
            <a:r>
              <a:rPr lang="zh-CN" altLang="en-US" sz="1600" dirty="0" smtClean="0">
                <a:cs typeface="Courier New" panose="02070309020205020404" pitchFamily="49" charset="0"/>
              </a:rPr>
              <a:t>基于</a:t>
            </a:r>
            <a:r>
              <a:rPr lang="en-US" altLang="zh-CN" sz="1600" dirty="0">
                <a:cs typeface="Courier New" panose="02070309020205020404" pitchFamily="49" charset="0"/>
              </a:rPr>
              <a:t>Community Filter</a:t>
            </a:r>
            <a:r>
              <a:rPr lang="zh-CN" altLang="en-US" sz="1600" dirty="0" smtClean="0">
                <a:cs typeface="Courier New" panose="02070309020205020404" pitchFamily="49" charset="0"/>
              </a:rPr>
              <a:t>的</a:t>
            </a:r>
            <a:r>
              <a:rPr lang="zh-CN" altLang="en-US" sz="1600" dirty="0">
                <a:cs typeface="Courier New" panose="02070309020205020404" pitchFamily="49" charset="0"/>
              </a:rPr>
              <a:t>匹配规则。</a:t>
            </a:r>
          </a:p>
        </p:txBody>
      </p:sp>
      <p:sp>
        <p:nvSpPr>
          <p:cNvPr id="18" name="矩形 17"/>
          <p:cNvSpPr/>
          <p:nvPr/>
        </p:nvSpPr>
        <p:spPr>
          <a:xfrm>
            <a:off x="1031917" y="5367738"/>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[Huawei-route-policy] </a:t>
            </a:r>
            <a:r>
              <a:rPr lang="en-US" altLang="zh-CN" sz="1600" b="1" dirty="0"/>
              <a:t>if-match community-filter</a:t>
            </a:r>
            <a:r>
              <a:rPr lang="en-US" altLang="zh-CN" sz="1600" dirty="0"/>
              <a:t> </a:t>
            </a:r>
            <a:r>
              <a:rPr lang="en-US" altLang="zh-CN" sz="1600" i="1" dirty="0" err="1"/>
              <a:t>comm</a:t>
            </a:r>
            <a:r>
              <a:rPr lang="en-US" altLang="zh-CN" sz="1600" i="1" dirty="0"/>
              <a:t>-filter-name</a:t>
            </a:r>
            <a:r>
              <a:rPr lang="en-US" altLang="zh-CN" sz="1600" dirty="0"/>
              <a:t> [ </a:t>
            </a:r>
            <a:r>
              <a:rPr lang="en-US" altLang="zh-CN" sz="1600" b="1" dirty="0"/>
              <a:t>whole-match</a:t>
            </a:r>
            <a:r>
              <a:rPr lang="en-US" altLang="zh-CN" sz="1600" dirty="0"/>
              <a:t> ]</a:t>
            </a:r>
            <a:endParaRPr lang="zh-CN" altLang="en-US" sz="1600" dirty="0">
              <a:cs typeface="Courier New" panose="02070309020205020404" pitchFamily="49" charset="0"/>
            </a:endParaRPr>
          </a:p>
        </p:txBody>
      </p:sp>
    </p:spTree>
    <p:extLst>
      <p:ext uri="{BB962C8B-B14F-4D97-AF65-F5344CB8AC3E}">
        <p14:creationId xmlns:p14="http://schemas.microsoft.com/office/powerpoint/2010/main" val="5511588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79046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Community Filter</a:t>
            </a:r>
            <a:r>
              <a:rPr lang="zh-CN" altLang="en-US" smtClean="0"/>
              <a:t>的配置举例</a:t>
            </a:r>
            <a:endParaRPr lang="zh-CN" altLang="en-US" dirty="0"/>
          </a:p>
        </p:txBody>
      </p:sp>
      <p:sp>
        <p:nvSpPr>
          <p:cNvPr id="4" name="矩形 3"/>
          <p:cNvSpPr/>
          <p:nvPr/>
        </p:nvSpPr>
        <p:spPr>
          <a:xfrm>
            <a:off x="939153" y="2014464"/>
            <a:ext cx="4640013"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ip community-filter 1 permit 100:1 200:1 300:1</a:t>
            </a:r>
          </a:p>
        </p:txBody>
      </p:sp>
      <p:sp>
        <p:nvSpPr>
          <p:cNvPr id="5" name="矩形 4"/>
          <p:cNvSpPr/>
          <p:nvPr/>
        </p:nvSpPr>
        <p:spPr>
          <a:xfrm>
            <a:off x="551384" y="1251012"/>
            <a:ext cx="11089232" cy="338554"/>
          </a:xfrm>
          <a:prstGeom prst="rect">
            <a:avLst/>
          </a:prstGeom>
        </p:spPr>
        <p:txBody>
          <a:bodyPr wrap="square">
            <a:spAutoFit/>
          </a:bodyPr>
          <a:lstStyle/>
          <a:p>
            <a:pPr marL="342900" indent="-342900" fontAlgn="auto">
              <a:buFont typeface="+mj-lt"/>
              <a:buAutoNum type="arabicPeriod"/>
            </a:pPr>
            <a:r>
              <a:rPr lang="zh-CN" altLang="en-US" sz="1600" dirty="0" smtClean="0">
                <a:cs typeface="Courier New" panose="02070309020205020404" pitchFamily="49" charset="0"/>
              </a:rPr>
              <a:t>基本</a:t>
            </a:r>
            <a:r>
              <a:rPr lang="en-US" altLang="zh-CN" sz="1600" dirty="0" smtClean="0">
                <a:cs typeface="Courier New" panose="02070309020205020404" pitchFamily="49" charset="0"/>
              </a:rPr>
              <a:t>Community</a:t>
            </a:r>
            <a:r>
              <a:rPr lang="zh-CN" altLang="en-US" sz="1600" dirty="0">
                <a:cs typeface="Courier New" panose="02070309020205020404" pitchFamily="49" charset="0"/>
              </a:rPr>
              <a:t> </a:t>
            </a:r>
            <a:r>
              <a:rPr lang="en-US" altLang="zh-CN" sz="1600" dirty="0" smtClean="0">
                <a:cs typeface="Courier New" panose="02070309020205020404" pitchFamily="49" charset="0"/>
              </a:rPr>
              <a:t>Filter</a:t>
            </a:r>
            <a:r>
              <a:rPr lang="zh-CN" altLang="en-US" sz="1600" dirty="0" smtClean="0">
                <a:cs typeface="Courier New" panose="02070309020205020404" pitchFamily="49" charset="0"/>
              </a:rPr>
              <a:t>举例：</a:t>
            </a:r>
            <a:endParaRPr lang="zh-CN" altLang="en-US" sz="1600" dirty="0">
              <a:cs typeface="Courier New" panose="02070309020205020404" pitchFamily="49" charset="0"/>
            </a:endParaRPr>
          </a:p>
        </p:txBody>
      </p:sp>
      <p:sp>
        <p:nvSpPr>
          <p:cNvPr id="16" name="矩形 15"/>
          <p:cNvSpPr/>
          <p:nvPr/>
        </p:nvSpPr>
        <p:spPr>
          <a:xfrm>
            <a:off x="872893" y="1635676"/>
            <a:ext cx="10608699" cy="400110"/>
          </a:xfrm>
          <a:prstGeom prst="rect">
            <a:avLst/>
          </a:prstGeom>
        </p:spPr>
        <p:txBody>
          <a:bodyPr wrap="square">
            <a:spAutoFit/>
          </a:bodyPr>
          <a:lstStyle/>
          <a:p>
            <a:pPr fontAlgn="auto">
              <a:lnSpc>
                <a:spcPts val="2400"/>
              </a:lnSpc>
            </a:pPr>
            <a:r>
              <a:rPr lang="zh-CN" altLang="en-US" sz="1600" dirty="0">
                <a:cs typeface="Courier New" panose="02070309020205020404" pitchFamily="49" charset="0"/>
              </a:rPr>
              <a:t>匹配</a:t>
            </a:r>
            <a:r>
              <a:rPr lang="zh-CN" altLang="en-US" sz="1600" dirty="0" smtClean="0">
                <a:cs typeface="Courier New" panose="02070309020205020404" pitchFamily="49" charset="0"/>
              </a:rPr>
              <a:t>同时携带</a:t>
            </a:r>
            <a:r>
              <a:rPr lang="en-US" altLang="zh-CN" sz="1600" dirty="0" smtClean="0">
                <a:cs typeface="Courier New" panose="02070309020205020404" pitchFamily="49" charset="0"/>
              </a:rPr>
              <a:t>Community</a:t>
            </a:r>
            <a:r>
              <a:rPr lang="zh-CN" altLang="en-US" sz="1600" dirty="0">
                <a:cs typeface="Courier New" panose="02070309020205020404" pitchFamily="49" charset="0"/>
              </a:rPr>
              <a:t>值 </a:t>
            </a:r>
            <a:r>
              <a:rPr lang="en-US" altLang="zh-CN" sz="1600" dirty="0">
                <a:cs typeface="Courier New" panose="02070309020205020404" pitchFamily="49" charset="0"/>
              </a:rPr>
              <a:t>[100:1</a:t>
            </a:r>
            <a:r>
              <a:rPr lang="zh-CN" altLang="en-US" sz="1600" dirty="0">
                <a:cs typeface="Courier New" panose="02070309020205020404" pitchFamily="49" charset="0"/>
              </a:rPr>
              <a:t>，</a:t>
            </a:r>
            <a:r>
              <a:rPr lang="en-US" altLang="zh-CN" sz="1600" dirty="0">
                <a:cs typeface="Courier New" panose="02070309020205020404" pitchFamily="49" charset="0"/>
              </a:rPr>
              <a:t>200:1</a:t>
            </a:r>
            <a:r>
              <a:rPr lang="zh-CN" altLang="en-US" sz="1600" dirty="0">
                <a:cs typeface="Courier New" panose="02070309020205020404" pitchFamily="49" charset="0"/>
              </a:rPr>
              <a:t>，</a:t>
            </a:r>
            <a:r>
              <a:rPr lang="en-US" altLang="zh-CN" sz="1600" dirty="0">
                <a:cs typeface="Courier New" panose="02070309020205020404" pitchFamily="49" charset="0"/>
              </a:rPr>
              <a:t>300:1]</a:t>
            </a:r>
            <a:r>
              <a:rPr lang="zh-CN" altLang="en-US" sz="1600" dirty="0">
                <a:cs typeface="Courier New" panose="02070309020205020404" pitchFamily="49" charset="0"/>
              </a:rPr>
              <a:t>的路由</a:t>
            </a:r>
            <a:r>
              <a:rPr lang="zh-CN" altLang="en-US" sz="1600" dirty="0" smtClean="0">
                <a:cs typeface="Courier New" panose="02070309020205020404" pitchFamily="49" charset="0"/>
              </a:rPr>
              <a:t>。（多个</a:t>
            </a:r>
            <a:r>
              <a:rPr lang="en-US" altLang="zh-CN" sz="1600" dirty="0" smtClean="0">
                <a:cs typeface="Courier New" panose="02070309020205020404" pitchFamily="49" charset="0"/>
              </a:rPr>
              <a:t>Community</a:t>
            </a:r>
            <a:r>
              <a:rPr lang="zh-CN" altLang="en-US" sz="1600" dirty="0">
                <a:cs typeface="Courier New" panose="02070309020205020404" pitchFamily="49" charset="0"/>
              </a:rPr>
              <a:t>值之间是“与”的</a:t>
            </a:r>
            <a:r>
              <a:rPr lang="zh-CN" altLang="en-US" sz="1600" dirty="0" smtClean="0">
                <a:cs typeface="Courier New" panose="02070309020205020404" pitchFamily="49" charset="0"/>
              </a:rPr>
              <a:t>关系。）</a:t>
            </a:r>
            <a:endParaRPr lang="en-US" altLang="zh-CN" sz="1600" dirty="0">
              <a:cs typeface="Courier New" panose="02070309020205020404" pitchFamily="49" charset="0"/>
            </a:endParaRPr>
          </a:p>
        </p:txBody>
      </p:sp>
      <p:sp>
        <p:nvSpPr>
          <p:cNvPr id="14" name="矩形 13"/>
          <p:cNvSpPr/>
          <p:nvPr/>
        </p:nvSpPr>
        <p:spPr>
          <a:xfrm>
            <a:off x="939153" y="3007812"/>
            <a:ext cx="4640013" cy="584775"/>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ip community-filter 1 permit 100:1</a:t>
            </a:r>
          </a:p>
          <a:p>
            <a:pPr fontAlgn="base"/>
            <a:r>
              <a:rPr lang="en-US" altLang="zh-CN" sz="1600" dirty="0">
                <a:cs typeface="Courier New" panose="02070309020205020404" pitchFamily="49" charset="0"/>
              </a:rPr>
              <a:t>ip community-filter 1 permit 200:1 300:1</a:t>
            </a:r>
          </a:p>
        </p:txBody>
      </p:sp>
      <p:sp>
        <p:nvSpPr>
          <p:cNvPr id="15" name="矩形 14"/>
          <p:cNvSpPr/>
          <p:nvPr/>
        </p:nvSpPr>
        <p:spPr>
          <a:xfrm>
            <a:off x="872893" y="2629024"/>
            <a:ext cx="10608699" cy="400110"/>
          </a:xfrm>
          <a:prstGeom prst="rect">
            <a:avLst/>
          </a:prstGeom>
        </p:spPr>
        <p:txBody>
          <a:bodyPr wrap="square">
            <a:spAutoFit/>
          </a:bodyPr>
          <a:lstStyle/>
          <a:p>
            <a:pPr fontAlgn="auto">
              <a:lnSpc>
                <a:spcPts val="2400"/>
              </a:lnSpc>
            </a:pPr>
            <a:r>
              <a:rPr lang="zh-CN" altLang="en-US" sz="1600" dirty="0" smtClean="0">
                <a:cs typeface="Courier New" panose="02070309020205020404" pitchFamily="49" charset="0"/>
              </a:rPr>
              <a:t>匹配携带</a:t>
            </a:r>
            <a:r>
              <a:rPr lang="en-US" altLang="zh-CN" sz="1600" dirty="0" smtClean="0">
                <a:cs typeface="Courier New" panose="02070309020205020404" pitchFamily="49" charset="0"/>
              </a:rPr>
              <a:t>Community</a:t>
            </a:r>
            <a:r>
              <a:rPr lang="zh-CN" altLang="en-US" sz="1600" dirty="0">
                <a:cs typeface="Courier New" panose="02070309020205020404" pitchFamily="49" charset="0"/>
              </a:rPr>
              <a:t>值</a:t>
            </a:r>
            <a:r>
              <a:rPr lang="en-US" altLang="zh-CN" sz="1600" dirty="0">
                <a:cs typeface="Courier New" panose="02070309020205020404" pitchFamily="49" charset="0"/>
              </a:rPr>
              <a:t>[100:1]</a:t>
            </a:r>
            <a:r>
              <a:rPr lang="zh-CN" altLang="en-US" sz="1600" dirty="0">
                <a:cs typeface="Courier New" panose="02070309020205020404" pitchFamily="49" charset="0"/>
              </a:rPr>
              <a:t>或</a:t>
            </a:r>
            <a:r>
              <a:rPr lang="en-US" altLang="zh-CN" sz="1600" dirty="0">
                <a:cs typeface="Courier New" panose="02070309020205020404" pitchFamily="49" charset="0"/>
              </a:rPr>
              <a:t>[200:1</a:t>
            </a:r>
            <a:r>
              <a:rPr lang="zh-CN" altLang="en-US" sz="1600" dirty="0">
                <a:cs typeface="Courier New" panose="02070309020205020404" pitchFamily="49" charset="0"/>
              </a:rPr>
              <a:t>，</a:t>
            </a:r>
            <a:r>
              <a:rPr lang="en-US" altLang="zh-CN" sz="1600" dirty="0">
                <a:cs typeface="Courier New" panose="02070309020205020404" pitchFamily="49" charset="0"/>
              </a:rPr>
              <a:t>300:1]</a:t>
            </a:r>
            <a:r>
              <a:rPr lang="zh-CN" altLang="en-US" sz="1600" dirty="0">
                <a:cs typeface="Courier New" panose="02070309020205020404" pitchFamily="49" charset="0"/>
              </a:rPr>
              <a:t>的路由</a:t>
            </a:r>
            <a:r>
              <a:rPr lang="zh-CN" altLang="en-US" sz="1600" dirty="0" smtClean="0">
                <a:cs typeface="Courier New" panose="02070309020205020404" pitchFamily="49" charset="0"/>
              </a:rPr>
              <a:t>。（多</a:t>
            </a:r>
            <a:r>
              <a:rPr lang="zh-CN" altLang="en-US" sz="1600" dirty="0">
                <a:cs typeface="Courier New" panose="02070309020205020404" pitchFamily="49" charset="0"/>
              </a:rPr>
              <a:t>组</a:t>
            </a:r>
            <a:r>
              <a:rPr lang="en-US" altLang="zh-CN" sz="1600" dirty="0">
                <a:cs typeface="Courier New" panose="02070309020205020404" pitchFamily="49" charset="0"/>
              </a:rPr>
              <a:t>Community</a:t>
            </a:r>
            <a:r>
              <a:rPr lang="zh-CN" altLang="en-US" sz="1600" dirty="0">
                <a:cs typeface="Courier New" panose="02070309020205020404" pitchFamily="49" charset="0"/>
              </a:rPr>
              <a:t>值之间是</a:t>
            </a:r>
            <a:r>
              <a:rPr lang="zh-CN" altLang="en-US" sz="1600" dirty="0" smtClean="0">
                <a:cs typeface="Courier New" panose="02070309020205020404" pitchFamily="49" charset="0"/>
              </a:rPr>
              <a:t>“或”</a:t>
            </a:r>
            <a:r>
              <a:rPr lang="zh-CN" altLang="en-US" sz="1600" dirty="0">
                <a:cs typeface="Courier New" panose="02070309020205020404" pitchFamily="49" charset="0"/>
              </a:rPr>
              <a:t>的</a:t>
            </a:r>
            <a:r>
              <a:rPr lang="zh-CN" altLang="en-US" sz="1600" dirty="0" smtClean="0">
                <a:cs typeface="Courier New" panose="02070309020205020404" pitchFamily="49" charset="0"/>
              </a:rPr>
              <a:t>关系。）</a:t>
            </a:r>
            <a:endParaRPr lang="en-US" altLang="zh-CN" sz="1600" dirty="0">
              <a:cs typeface="Courier New" panose="02070309020205020404" pitchFamily="49" charset="0"/>
            </a:endParaRPr>
          </a:p>
        </p:txBody>
      </p:sp>
      <p:sp>
        <p:nvSpPr>
          <p:cNvPr id="17" name="矩形 16"/>
          <p:cNvSpPr/>
          <p:nvPr/>
        </p:nvSpPr>
        <p:spPr>
          <a:xfrm>
            <a:off x="939153" y="4850430"/>
            <a:ext cx="4640013"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ip community-filter 100 permit ^10</a:t>
            </a:r>
          </a:p>
        </p:txBody>
      </p:sp>
      <p:sp>
        <p:nvSpPr>
          <p:cNvPr id="18" name="矩形 17"/>
          <p:cNvSpPr/>
          <p:nvPr/>
        </p:nvSpPr>
        <p:spPr>
          <a:xfrm>
            <a:off x="551384" y="4086978"/>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cs typeface="Courier New" panose="02070309020205020404" pitchFamily="49" charset="0"/>
              </a:rPr>
              <a:t>高级</a:t>
            </a:r>
            <a:r>
              <a:rPr lang="en-US" altLang="zh-CN" sz="1600" dirty="0" smtClean="0">
                <a:cs typeface="Courier New" panose="02070309020205020404" pitchFamily="49" charset="0"/>
              </a:rPr>
              <a:t>Community</a:t>
            </a:r>
            <a:r>
              <a:rPr lang="zh-CN" altLang="en-US" sz="1600" dirty="0" smtClean="0">
                <a:cs typeface="Courier New" panose="02070309020205020404" pitchFamily="49" charset="0"/>
              </a:rPr>
              <a:t> </a:t>
            </a:r>
            <a:r>
              <a:rPr lang="en-US" altLang="zh-CN" sz="1600" dirty="0" smtClean="0">
                <a:cs typeface="Courier New" panose="02070309020205020404" pitchFamily="49" charset="0"/>
              </a:rPr>
              <a:t>Filter</a:t>
            </a:r>
            <a:r>
              <a:rPr lang="zh-CN" altLang="en-US" sz="1600" dirty="0" smtClean="0">
                <a:cs typeface="Courier New" panose="02070309020205020404" pitchFamily="49" charset="0"/>
              </a:rPr>
              <a:t>举例：</a:t>
            </a:r>
            <a:endParaRPr lang="zh-CN" altLang="en-US" sz="1600" dirty="0">
              <a:cs typeface="Courier New" panose="02070309020205020404" pitchFamily="49" charset="0"/>
            </a:endParaRPr>
          </a:p>
        </p:txBody>
      </p:sp>
      <p:sp>
        <p:nvSpPr>
          <p:cNvPr id="19" name="矩形 18"/>
          <p:cNvSpPr/>
          <p:nvPr/>
        </p:nvSpPr>
        <p:spPr>
          <a:xfrm>
            <a:off x="872893" y="4471642"/>
            <a:ext cx="10608699" cy="400110"/>
          </a:xfrm>
          <a:prstGeom prst="rect">
            <a:avLst/>
          </a:prstGeom>
        </p:spPr>
        <p:txBody>
          <a:bodyPr wrap="square">
            <a:spAutoFit/>
          </a:bodyPr>
          <a:lstStyle/>
          <a:p>
            <a:pPr fontAlgn="auto">
              <a:lnSpc>
                <a:spcPts val="2400"/>
              </a:lnSpc>
            </a:pPr>
            <a:r>
              <a:rPr lang="zh-CN" altLang="en-US" sz="1600" dirty="0">
                <a:cs typeface="Courier New" panose="02070309020205020404" pitchFamily="49" charset="0"/>
              </a:rPr>
              <a:t>匹配</a:t>
            </a:r>
            <a:r>
              <a:rPr lang="zh-CN" altLang="en-US" sz="1600" dirty="0" smtClean="0">
                <a:cs typeface="Courier New" panose="02070309020205020404" pitchFamily="49" charset="0"/>
              </a:rPr>
              <a:t>携带以</a:t>
            </a:r>
            <a:r>
              <a:rPr lang="en-US" altLang="zh-CN" sz="1600" dirty="0" smtClean="0">
                <a:cs typeface="Courier New" panose="02070309020205020404" pitchFamily="49" charset="0"/>
              </a:rPr>
              <a:t>10</a:t>
            </a:r>
            <a:r>
              <a:rPr lang="zh-CN" altLang="en-US" sz="1600" dirty="0" smtClean="0">
                <a:cs typeface="Courier New" panose="02070309020205020404" pitchFamily="49" charset="0"/>
              </a:rPr>
              <a:t>开头的</a:t>
            </a:r>
            <a:r>
              <a:rPr lang="en-US" altLang="zh-CN" sz="1600" dirty="0" smtClean="0">
                <a:cs typeface="Courier New" panose="02070309020205020404" pitchFamily="49" charset="0"/>
              </a:rPr>
              <a:t>Community</a:t>
            </a:r>
            <a:r>
              <a:rPr lang="zh-CN" altLang="en-US" sz="1600" dirty="0">
                <a:cs typeface="Courier New" panose="02070309020205020404" pitchFamily="49" charset="0"/>
              </a:rPr>
              <a:t>值的路由。</a:t>
            </a:r>
          </a:p>
        </p:txBody>
      </p:sp>
      <p:sp>
        <p:nvSpPr>
          <p:cNvPr id="20" name="五边形 19"/>
          <p:cNvSpPr/>
          <p:nvPr/>
        </p:nvSpPr>
        <p:spPr bwMode="auto">
          <a:xfrm>
            <a:off x="8335082" y="100861"/>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21" name="燕尾形 20"/>
          <p:cNvSpPr/>
          <p:nvPr/>
        </p:nvSpPr>
        <p:spPr bwMode="auto">
          <a:xfrm>
            <a:off x="9029654" y="100861"/>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AS_Path Filter</a:t>
            </a:r>
          </a:p>
        </p:txBody>
      </p:sp>
      <p:sp>
        <p:nvSpPr>
          <p:cNvPr id="22" name="燕尾形 21"/>
          <p:cNvSpPr/>
          <p:nvPr/>
        </p:nvSpPr>
        <p:spPr bwMode="auto">
          <a:xfrm>
            <a:off x="10203025" y="100861"/>
            <a:ext cx="1548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Community Filter</a:t>
            </a:r>
          </a:p>
        </p:txBody>
      </p:sp>
    </p:spTree>
    <p:extLst>
      <p:ext uri="{BB962C8B-B14F-4D97-AF65-F5344CB8AC3E}">
        <p14:creationId xmlns:p14="http://schemas.microsoft.com/office/powerpoint/2010/main" val="85077738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配置</a:t>
            </a:r>
            <a:r>
              <a:rPr lang="en-US" altLang="zh-CN" smtClean="0"/>
              <a:t>Community</a:t>
            </a:r>
            <a:r>
              <a:rPr lang="zh-CN" altLang="en-US" smtClean="0"/>
              <a:t>属性 </a:t>
            </a:r>
            <a:r>
              <a:rPr lang="en-US" altLang="zh-CN" smtClean="0"/>
              <a:t>(1)</a:t>
            </a:r>
            <a:endParaRPr lang="zh-CN" altLang="en-US" dirty="0"/>
          </a:p>
        </p:txBody>
      </p:sp>
      <p:sp>
        <p:nvSpPr>
          <p:cNvPr id="24" name="文本框 23"/>
          <p:cNvSpPr txBox="1"/>
          <p:nvPr/>
        </p:nvSpPr>
        <p:spPr>
          <a:xfrm>
            <a:off x="6475690" y="1956306"/>
            <a:ext cx="5153933" cy="2893100"/>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smtClean="0">
                <a:solidFill>
                  <a:prstClr val="black"/>
                </a:solidFill>
                <a:cs typeface="Courier New" panose="02070309020205020404" pitchFamily="49" charset="0"/>
              </a:rPr>
              <a:t>[R1] ip </a:t>
            </a:r>
            <a:r>
              <a:rPr lang="en-US" altLang="zh-CN" sz="1400" dirty="0">
                <a:solidFill>
                  <a:prstClr val="black"/>
                </a:solidFill>
                <a:cs typeface="Courier New" panose="02070309020205020404" pitchFamily="49" charset="0"/>
              </a:rPr>
              <a:t>ip-prefix 1 permit </a:t>
            </a:r>
            <a:r>
              <a:rPr lang="en-US" altLang="zh-CN" sz="1400" dirty="0" smtClean="0">
                <a:solidFill>
                  <a:prstClr val="black"/>
                </a:solidFill>
                <a:cs typeface="Courier New" panose="02070309020205020404" pitchFamily="49" charset="0"/>
              </a:rPr>
              <a:t>10.1.1.1 32</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smtClean="0">
                <a:solidFill>
                  <a:prstClr val="black"/>
                </a:solidFill>
                <a:cs typeface="Courier New" panose="02070309020205020404" pitchFamily="49" charset="0"/>
              </a:rPr>
              <a:t>[R1] route-policy Community </a:t>
            </a:r>
            <a:r>
              <a:rPr lang="en-US" altLang="zh-CN" sz="1400" dirty="0">
                <a:solidFill>
                  <a:prstClr val="black"/>
                </a:solidFill>
                <a:cs typeface="Courier New" panose="02070309020205020404" pitchFamily="49" charset="0"/>
              </a:rPr>
              <a:t>permit node 10</a:t>
            </a:r>
          </a:p>
          <a:p>
            <a:pPr fontAlgn="auto">
              <a:spcBef>
                <a:spcPts val="0"/>
              </a:spcBef>
              <a:spcAft>
                <a:spcPts val="0"/>
              </a:spcAft>
            </a:pPr>
            <a:r>
              <a:rPr lang="en-US" altLang="zh-CN" sz="1400" dirty="0" smtClean="0">
                <a:solidFill>
                  <a:prstClr val="black"/>
                </a:solidFill>
                <a:cs typeface="Courier New" panose="02070309020205020404" pitchFamily="49" charset="0"/>
              </a:rPr>
              <a:t>[R1-route-policy</a:t>
            </a:r>
            <a:r>
              <a:rPr lang="en-US" altLang="zh-CN" sz="1400" dirty="0">
                <a:solidFill>
                  <a:prstClr val="black"/>
                </a:solidFill>
                <a:cs typeface="Courier New" panose="02070309020205020404" pitchFamily="49" charset="0"/>
              </a:rPr>
              <a:t>] </a:t>
            </a:r>
            <a:r>
              <a:rPr lang="en-US" altLang="zh-CN" sz="1400" dirty="0" smtClean="0">
                <a:solidFill>
                  <a:prstClr val="black"/>
                </a:solidFill>
                <a:cs typeface="Courier New" panose="02070309020205020404" pitchFamily="49" charset="0"/>
              </a:rPr>
              <a:t>if-match </a:t>
            </a:r>
            <a:r>
              <a:rPr lang="en-US" altLang="zh-CN" sz="1400" dirty="0">
                <a:solidFill>
                  <a:prstClr val="black"/>
                </a:solidFill>
                <a:cs typeface="Courier New" panose="02070309020205020404" pitchFamily="49" charset="0"/>
              </a:rPr>
              <a:t>ip-prefix 1</a:t>
            </a:r>
          </a:p>
          <a:p>
            <a:pPr fontAlgn="auto">
              <a:spcBef>
                <a:spcPts val="0"/>
              </a:spcBef>
              <a:spcAft>
                <a:spcPts val="0"/>
              </a:spcAft>
            </a:pPr>
            <a:r>
              <a:rPr lang="en-US" altLang="zh-CN" sz="1400" dirty="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R1-route-policy</a:t>
            </a:r>
            <a:r>
              <a:rPr lang="en-US" altLang="zh-CN" sz="1400" dirty="0">
                <a:solidFill>
                  <a:prstClr val="black"/>
                </a:solidFill>
                <a:cs typeface="Courier New" panose="02070309020205020404" pitchFamily="49" charset="0"/>
              </a:rPr>
              <a:t>] </a:t>
            </a:r>
            <a:r>
              <a:rPr lang="en-US" altLang="zh-CN" sz="1400" dirty="0" smtClean="0">
                <a:solidFill>
                  <a:srgbClr val="C7000B"/>
                </a:solidFill>
                <a:cs typeface="Courier New" panose="02070309020205020404" pitchFamily="49" charset="0"/>
              </a:rPr>
              <a:t>apply </a:t>
            </a:r>
            <a:r>
              <a:rPr lang="en-US" altLang="zh-CN" sz="1400" dirty="0">
                <a:solidFill>
                  <a:srgbClr val="C7000B"/>
                </a:solidFill>
                <a:cs typeface="Courier New" panose="02070309020205020404" pitchFamily="49" charset="0"/>
              </a:rPr>
              <a:t>community </a:t>
            </a:r>
            <a:r>
              <a:rPr lang="en-US" altLang="zh-CN" sz="1400" dirty="0" smtClean="0">
                <a:solidFill>
                  <a:srgbClr val="C7000B"/>
                </a:solidFill>
                <a:cs typeface="Courier New" panose="02070309020205020404" pitchFamily="49" charset="0"/>
              </a:rPr>
              <a:t>101:1</a:t>
            </a:r>
          </a:p>
          <a:p>
            <a:pPr fontAlgn="auto">
              <a:spcBef>
                <a:spcPts val="0"/>
              </a:spcBef>
              <a:spcAft>
                <a:spcPts val="0"/>
              </a:spcAft>
            </a:pPr>
            <a:r>
              <a:rPr lang="en-US" altLang="zh-CN" sz="1400" dirty="0">
                <a:solidFill>
                  <a:prstClr val="black"/>
                </a:solidFill>
                <a:cs typeface="Courier New" panose="02070309020205020404" pitchFamily="49" charset="0"/>
              </a:rPr>
              <a:t>[R1-route-policy</a:t>
            </a:r>
            <a:r>
              <a:rPr lang="en-US" altLang="zh-CN" sz="1400" dirty="0" smtClean="0">
                <a:solidFill>
                  <a:prstClr val="black"/>
                </a:solidFill>
                <a:cs typeface="Courier New" panose="02070309020205020404" pitchFamily="49" charset="0"/>
              </a:rPr>
              <a:t>] quit</a:t>
            </a:r>
            <a:endParaRPr lang="en-US" altLang="zh-CN" sz="1400" dirty="0">
              <a:solidFill>
                <a:srgbClr val="EC7061"/>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R1] route-policy </a:t>
            </a:r>
            <a:r>
              <a:rPr lang="en-US" altLang="zh-CN" sz="1400" dirty="0">
                <a:solidFill>
                  <a:prstClr val="black"/>
                </a:solidFill>
                <a:cs typeface="Courier New" panose="02070309020205020404" pitchFamily="49" charset="0"/>
              </a:rPr>
              <a:t>Community</a:t>
            </a:r>
            <a:r>
              <a:rPr lang="en-US" altLang="zh-CN" sz="1400" dirty="0" smtClean="0">
                <a:solidFill>
                  <a:prstClr val="black"/>
                </a:solidFill>
                <a:cs typeface="Courier New" panose="02070309020205020404" pitchFamily="49" charset="0"/>
              </a:rPr>
              <a:t> </a:t>
            </a:r>
            <a:r>
              <a:rPr lang="en-US" altLang="zh-CN" sz="1400" dirty="0">
                <a:solidFill>
                  <a:prstClr val="black"/>
                </a:solidFill>
                <a:cs typeface="Courier New" panose="02070309020205020404" pitchFamily="49" charset="0"/>
              </a:rPr>
              <a:t>permit node 20</a:t>
            </a:r>
          </a:p>
          <a:p>
            <a:r>
              <a:rPr lang="en-US" altLang="zh-CN" sz="1400" dirty="0">
                <a:solidFill>
                  <a:prstClr val="black"/>
                </a:solidFill>
                <a:cs typeface="Courier New" panose="02070309020205020404" pitchFamily="49" charset="0"/>
              </a:rPr>
              <a:t>[R1-route-policy] quit</a:t>
            </a:r>
            <a:endParaRPr lang="en-US" altLang="zh-CN" sz="1400" dirty="0">
              <a:solidFill>
                <a:srgbClr val="EC7061"/>
              </a:solidFill>
              <a:cs typeface="Courier New" panose="02070309020205020404" pitchFamily="49" charset="0"/>
            </a:endParaRPr>
          </a:p>
          <a:p>
            <a:pPr fontAlgn="auto">
              <a:spcBef>
                <a:spcPts val="0"/>
              </a:spcBef>
              <a:spcAft>
                <a:spcPts val="0"/>
              </a:spcAft>
            </a:pPr>
            <a:r>
              <a:rPr lang="en-US" altLang="zh-CN" sz="1400" dirty="0" smtClean="0">
                <a:solidFill>
                  <a:prstClr val="black"/>
                </a:solidFill>
                <a:cs typeface="Courier New" panose="02070309020205020404" pitchFamily="49" charset="0"/>
              </a:rPr>
              <a:t>[R1] bgp 101</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smtClean="0">
                <a:solidFill>
                  <a:prstClr val="black"/>
                </a:solidFill>
                <a:cs typeface="Courier New" panose="02070309020205020404" pitchFamily="49" charset="0"/>
              </a:rPr>
              <a:t>[R1-bgp] peer </a:t>
            </a:r>
            <a:r>
              <a:rPr lang="en-US" altLang="zh-CN" sz="1400" dirty="0">
                <a:solidFill>
                  <a:prstClr val="black"/>
                </a:solidFill>
                <a:cs typeface="Courier New" panose="02070309020205020404" pitchFamily="49" charset="0"/>
              </a:rPr>
              <a:t>10.1.12.2 as-number </a:t>
            </a:r>
            <a:r>
              <a:rPr lang="en-US" altLang="zh-CN" sz="1400" dirty="0" smtClean="0">
                <a:solidFill>
                  <a:prstClr val="black"/>
                </a:solidFill>
                <a:cs typeface="Courier New" panose="02070309020205020404" pitchFamily="49" charset="0"/>
              </a:rPr>
              <a:t>102</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smtClean="0">
                <a:solidFill>
                  <a:prstClr val="black"/>
                </a:solidFill>
                <a:cs typeface="Courier New" panose="02070309020205020404" pitchFamily="49" charset="0"/>
              </a:rPr>
              <a:t>[R1-bgp</a:t>
            </a:r>
            <a:r>
              <a:rPr lang="en-US" altLang="zh-CN" sz="1400" dirty="0">
                <a:solidFill>
                  <a:prstClr val="black"/>
                </a:solidFill>
                <a:cs typeface="Courier New" panose="02070309020205020404" pitchFamily="49" charset="0"/>
              </a:rPr>
              <a:t>] </a:t>
            </a:r>
            <a:r>
              <a:rPr lang="en-US" altLang="zh-CN" sz="1400" dirty="0" smtClean="0">
                <a:solidFill>
                  <a:prstClr val="black"/>
                </a:solidFill>
                <a:cs typeface="Courier New" panose="02070309020205020404" pitchFamily="49" charset="0"/>
              </a:rPr>
              <a:t>peer </a:t>
            </a:r>
            <a:r>
              <a:rPr lang="en-US" altLang="zh-CN" sz="1400" dirty="0">
                <a:solidFill>
                  <a:prstClr val="black"/>
                </a:solidFill>
                <a:cs typeface="Courier New" panose="02070309020205020404" pitchFamily="49" charset="0"/>
              </a:rPr>
              <a:t>10.1.12.2 route-policy Community</a:t>
            </a:r>
            <a:r>
              <a:rPr lang="en-US" altLang="zh-CN" sz="1400" dirty="0" smtClean="0">
                <a:solidFill>
                  <a:prstClr val="black"/>
                </a:solidFill>
                <a:cs typeface="Courier New" panose="02070309020205020404" pitchFamily="49" charset="0"/>
              </a:rPr>
              <a:t> </a:t>
            </a:r>
            <a:r>
              <a:rPr lang="en-US" altLang="zh-CN" sz="1400" dirty="0">
                <a:solidFill>
                  <a:prstClr val="black"/>
                </a:solidFill>
                <a:cs typeface="Courier New" panose="02070309020205020404" pitchFamily="49" charset="0"/>
              </a:rPr>
              <a:t>export</a:t>
            </a:r>
          </a:p>
          <a:p>
            <a:pPr fontAlgn="auto">
              <a:spcBef>
                <a:spcPts val="0"/>
              </a:spcBef>
              <a:spcAft>
                <a:spcPts val="0"/>
              </a:spcAft>
            </a:pPr>
            <a:r>
              <a:rPr lang="en-US" altLang="zh-CN" sz="1400" dirty="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R1-bgp] </a:t>
            </a:r>
            <a:r>
              <a:rPr lang="en-US" altLang="zh-CN" sz="1400" dirty="0">
                <a:solidFill>
                  <a:srgbClr val="C7000B"/>
                </a:solidFill>
                <a:cs typeface="Courier New" panose="02070309020205020404" pitchFamily="49" charset="0"/>
              </a:rPr>
              <a:t>peer 10.1.12.2 advertise-community </a:t>
            </a:r>
          </a:p>
          <a:p>
            <a:pPr fontAlgn="auto">
              <a:spcBef>
                <a:spcPts val="0"/>
              </a:spcBef>
              <a:spcAft>
                <a:spcPts val="0"/>
              </a:spcAft>
            </a:pPr>
            <a:r>
              <a:rPr lang="en-US" altLang="zh-CN" sz="1400" dirty="0" smtClean="0">
                <a:solidFill>
                  <a:prstClr val="black"/>
                </a:solidFill>
                <a:cs typeface="Courier New" panose="02070309020205020404" pitchFamily="49" charset="0"/>
              </a:rPr>
              <a:t>[R1-bgp</a:t>
            </a:r>
            <a:r>
              <a:rPr lang="en-US" altLang="zh-CN" sz="1400" dirty="0">
                <a:solidFill>
                  <a:prstClr val="black"/>
                </a:solidFill>
                <a:cs typeface="Courier New" panose="02070309020205020404" pitchFamily="49" charset="0"/>
              </a:rPr>
              <a:t>] </a:t>
            </a:r>
            <a:r>
              <a:rPr lang="en-US" altLang="zh-CN" sz="1400" dirty="0" smtClean="0">
                <a:solidFill>
                  <a:prstClr val="black"/>
                </a:solidFill>
                <a:cs typeface="Courier New" panose="02070309020205020404" pitchFamily="49" charset="0"/>
              </a:rPr>
              <a:t>network 10.1.1.1 32</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R1-bgp</a:t>
            </a:r>
            <a:r>
              <a:rPr lang="en-US" altLang="zh-CN" sz="1400" dirty="0">
                <a:solidFill>
                  <a:prstClr val="black"/>
                </a:solidFill>
                <a:cs typeface="Courier New" panose="02070309020205020404" pitchFamily="49" charset="0"/>
              </a:rPr>
              <a:t>] </a:t>
            </a:r>
            <a:r>
              <a:rPr lang="en-US" altLang="zh-CN" sz="1400" dirty="0" smtClean="0">
                <a:solidFill>
                  <a:prstClr val="black"/>
                </a:solidFill>
                <a:cs typeface="Courier New" panose="02070309020205020404" pitchFamily="49" charset="0"/>
              </a:rPr>
              <a:t>network 10.1.2.2 32</a:t>
            </a:r>
            <a:endParaRPr lang="en-US" altLang="zh-CN" sz="1400" dirty="0">
              <a:solidFill>
                <a:prstClr val="black"/>
              </a:solidFill>
              <a:cs typeface="Courier New" panose="02070309020205020404" pitchFamily="49" charset="0"/>
            </a:endParaRPr>
          </a:p>
        </p:txBody>
      </p:sp>
      <p:sp>
        <p:nvSpPr>
          <p:cNvPr id="58" name="文本框 57"/>
          <p:cNvSpPr txBox="1"/>
          <p:nvPr/>
        </p:nvSpPr>
        <p:spPr>
          <a:xfrm>
            <a:off x="6338670" y="1326810"/>
            <a:ext cx="5407243" cy="584775"/>
          </a:xfrm>
          <a:prstGeom prst="rect">
            <a:avLst/>
          </a:prstGeom>
          <a:noFill/>
        </p:spPr>
        <p:txBody>
          <a:bodyPr wrap="square" rtlCol="0">
            <a:spAutoFit/>
          </a:bodyPr>
          <a:lstStyle/>
          <a:p>
            <a:pPr fontAlgn="auto">
              <a:spcBef>
                <a:spcPts val="0"/>
              </a:spcBef>
              <a:spcAft>
                <a:spcPts val="0"/>
              </a:spcAft>
            </a:pPr>
            <a:r>
              <a:rPr lang="en-US" altLang="zh-CN" sz="1600" dirty="0" smtClean="0">
                <a:solidFill>
                  <a:prstClr val="black"/>
                </a:solidFill>
              </a:rPr>
              <a:t>1</a:t>
            </a:r>
            <a:r>
              <a:rPr lang="zh-CN" altLang="en-US" sz="1600" dirty="0" smtClean="0">
                <a:solidFill>
                  <a:prstClr val="black"/>
                </a:solidFill>
              </a:rPr>
              <a:t>、</a:t>
            </a:r>
            <a:r>
              <a:rPr lang="en-US" altLang="zh-CN" sz="1600" dirty="0" smtClean="0">
                <a:solidFill>
                  <a:prstClr val="black"/>
                </a:solidFill>
              </a:rPr>
              <a:t>R1</a:t>
            </a:r>
            <a:r>
              <a:rPr lang="zh-CN" altLang="en-US" sz="1600" dirty="0" smtClean="0">
                <a:solidFill>
                  <a:prstClr val="black"/>
                </a:solidFill>
              </a:rPr>
              <a:t>上部署路由策略为路由添加</a:t>
            </a:r>
            <a:r>
              <a:rPr lang="en-US" altLang="zh-CN" sz="1600" dirty="0" smtClean="0">
                <a:solidFill>
                  <a:prstClr val="black"/>
                </a:solidFill>
              </a:rPr>
              <a:t>Community</a:t>
            </a:r>
            <a:r>
              <a:rPr lang="zh-CN" altLang="en-US" sz="1600" dirty="0">
                <a:solidFill>
                  <a:prstClr val="black"/>
                </a:solidFill>
              </a:rPr>
              <a:t>属性</a:t>
            </a:r>
            <a:r>
              <a:rPr lang="zh-CN" altLang="en-US" sz="1600" dirty="0" smtClean="0">
                <a:solidFill>
                  <a:prstClr val="black"/>
                </a:solidFill>
              </a:rPr>
              <a:t>，并允许将</a:t>
            </a:r>
            <a:r>
              <a:rPr lang="en-US" altLang="zh-CN" sz="1600" dirty="0" smtClean="0">
                <a:solidFill>
                  <a:prstClr val="black"/>
                </a:solidFill>
              </a:rPr>
              <a:t>Community</a:t>
            </a:r>
            <a:r>
              <a:rPr lang="zh-CN" altLang="en-US" sz="1600" dirty="0" smtClean="0">
                <a:solidFill>
                  <a:prstClr val="black"/>
                </a:solidFill>
              </a:rPr>
              <a:t>属性</a:t>
            </a:r>
            <a:r>
              <a:rPr lang="zh-CN" altLang="en-US" sz="1600" dirty="0">
                <a:solidFill>
                  <a:prstClr val="black"/>
                </a:solidFill>
              </a:rPr>
              <a:t>传</a:t>
            </a:r>
            <a:r>
              <a:rPr lang="zh-CN" altLang="en-US" sz="1600" dirty="0" smtClean="0">
                <a:solidFill>
                  <a:prstClr val="black"/>
                </a:solidFill>
              </a:rPr>
              <a:t>给</a:t>
            </a:r>
            <a:r>
              <a:rPr lang="en-US" altLang="zh-CN" sz="1600" dirty="0" smtClean="0">
                <a:solidFill>
                  <a:prstClr val="black"/>
                </a:solidFill>
              </a:rPr>
              <a:t>EBGP</a:t>
            </a:r>
            <a:r>
              <a:rPr lang="zh-CN" altLang="en-US" sz="1600" dirty="0" smtClean="0">
                <a:solidFill>
                  <a:prstClr val="black"/>
                </a:solidFill>
              </a:rPr>
              <a:t>对等体</a:t>
            </a:r>
            <a:r>
              <a:rPr lang="en-US" altLang="zh-CN" sz="1600" dirty="0" smtClean="0">
                <a:solidFill>
                  <a:prstClr val="black"/>
                </a:solidFill>
              </a:rPr>
              <a:t>R2</a:t>
            </a:r>
            <a:r>
              <a:rPr lang="zh-CN" altLang="en-US" sz="1600" dirty="0" smtClean="0">
                <a:solidFill>
                  <a:prstClr val="black"/>
                </a:solidFill>
              </a:rPr>
              <a:t>。</a:t>
            </a:r>
            <a:endParaRPr lang="zh-CN" altLang="en-US" sz="1600" dirty="0">
              <a:solidFill>
                <a:prstClr val="black"/>
              </a:solidFill>
            </a:endParaRPr>
          </a:p>
        </p:txBody>
      </p:sp>
      <p:sp>
        <p:nvSpPr>
          <p:cNvPr id="61" name="任意多边形 25"/>
          <p:cNvSpPr/>
          <p:nvPr/>
        </p:nvSpPr>
        <p:spPr bwMode="gray">
          <a:xfrm>
            <a:off x="3301098" y="1516987"/>
            <a:ext cx="1282895" cy="1350517"/>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sp>
        <p:nvSpPr>
          <p:cNvPr id="63" name="任意多边形 25"/>
          <p:cNvSpPr/>
          <p:nvPr/>
        </p:nvSpPr>
        <p:spPr bwMode="gray">
          <a:xfrm>
            <a:off x="4903674" y="1515848"/>
            <a:ext cx="1183887" cy="1351778"/>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pic>
        <p:nvPicPr>
          <p:cNvPr id="67" name="图片 6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669560" y="2057865"/>
            <a:ext cx="540000" cy="442800"/>
          </a:xfrm>
          <a:prstGeom prst="rect">
            <a:avLst/>
          </a:prstGeom>
        </p:spPr>
      </p:pic>
      <p:cxnSp>
        <p:nvCxnSpPr>
          <p:cNvPr id="68" name="直接连接符 67"/>
          <p:cNvCxnSpPr>
            <a:stCxn id="67" idx="3"/>
            <a:endCxn id="69" idx="3"/>
          </p:cNvCxnSpPr>
          <p:nvPr/>
        </p:nvCxnSpPr>
        <p:spPr bwMode="gray">
          <a:xfrm>
            <a:off x="4209560" y="2279265"/>
            <a:ext cx="17041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9" name="图片 68"/>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373664" y="2057865"/>
            <a:ext cx="540000" cy="442800"/>
          </a:xfrm>
          <a:prstGeom prst="rect">
            <a:avLst/>
          </a:prstGeom>
        </p:spPr>
      </p:pic>
      <p:sp>
        <p:nvSpPr>
          <p:cNvPr id="70" name="任意多边形 25"/>
          <p:cNvSpPr/>
          <p:nvPr/>
        </p:nvSpPr>
        <p:spPr bwMode="gray">
          <a:xfrm>
            <a:off x="522288" y="1516987"/>
            <a:ext cx="2208768" cy="1350517"/>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pic>
        <p:nvPicPr>
          <p:cNvPr id="71" name="图片 7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886222" y="2057865"/>
            <a:ext cx="540000" cy="442800"/>
          </a:xfrm>
          <a:prstGeom prst="rect">
            <a:avLst/>
          </a:prstGeom>
        </p:spPr>
      </p:pic>
      <p:sp>
        <p:nvSpPr>
          <p:cNvPr id="72" name="TextBox 120">
            <a:extLst>
              <a:ext uri="{FF2B5EF4-FFF2-40B4-BE49-F238E27FC236}">
                <a16:creationId xmlns="" xmlns:a16="http://schemas.microsoft.com/office/drawing/2014/main" id="{020D7A1D-EFAD-4C8C-B9DE-D0FAD269B77A}"/>
              </a:ext>
            </a:extLst>
          </p:cNvPr>
          <p:cNvSpPr txBox="1"/>
          <p:nvPr/>
        </p:nvSpPr>
        <p:spPr bwMode="gray">
          <a:xfrm>
            <a:off x="482039" y="1515848"/>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TextBox 120">
            <a:extLst>
              <a:ext uri="{FF2B5EF4-FFF2-40B4-BE49-F238E27FC236}">
                <a16:creationId xmlns="" xmlns:a16="http://schemas.microsoft.com/office/drawing/2014/main" id="{020D7A1D-EFAD-4C8C-B9DE-D0FAD269B77A}"/>
              </a:ext>
            </a:extLst>
          </p:cNvPr>
          <p:cNvSpPr txBox="1"/>
          <p:nvPr/>
        </p:nvSpPr>
        <p:spPr bwMode="gray">
          <a:xfrm>
            <a:off x="3261107" y="1515848"/>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4" name="直接连接符 73"/>
          <p:cNvCxnSpPr>
            <a:stCxn id="71" idx="3"/>
            <a:endCxn id="67" idx="1"/>
          </p:cNvCxnSpPr>
          <p:nvPr/>
        </p:nvCxnSpPr>
        <p:spPr bwMode="gray">
          <a:xfrm>
            <a:off x="2426222" y="2279265"/>
            <a:ext cx="124333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TextBox 120">
            <a:extLst>
              <a:ext uri="{FF2B5EF4-FFF2-40B4-BE49-F238E27FC236}">
                <a16:creationId xmlns="" xmlns:a16="http://schemas.microsoft.com/office/drawing/2014/main" id="{020D7A1D-EFAD-4C8C-B9DE-D0FAD269B77A}"/>
              </a:ext>
            </a:extLst>
          </p:cNvPr>
          <p:cNvSpPr txBox="1"/>
          <p:nvPr/>
        </p:nvSpPr>
        <p:spPr bwMode="gray">
          <a:xfrm>
            <a:off x="4889573" y="1513506"/>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103</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6" name="直接连接符 75"/>
          <p:cNvCxnSpPr>
            <a:endCxn id="71" idx="1"/>
          </p:cNvCxnSpPr>
          <p:nvPr/>
        </p:nvCxnSpPr>
        <p:spPr bwMode="gray">
          <a:xfrm>
            <a:off x="1771624" y="2276188"/>
            <a:ext cx="114598" cy="30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bwMode="gray">
          <a:xfrm>
            <a:off x="1760895" y="2165488"/>
            <a:ext cx="0" cy="221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TextBox 120">
            <a:extLst>
              <a:ext uri="{FF2B5EF4-FFF2-40B4-BE49-F238E27FC236}">
                <a16:creationId xmlns="" xmlns:a16="http://schemas.microsoft.com/office/drawing/2014/main" id="{020D7A1D-EFAD-4C8C-B9DE-D0FAD269B77A}"/>
              </a:ext>
            </a:extLst>
          </p:cNvPr>
          <p:cNvSpPr txBox="1"/>
          <p:nvPr/>
        </p:nvSpPr>
        <p:spPr bwMode="gray">
          <a:xfrm>
            <a:off x="1735183" y="1808361"/>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TextBox 120">
            <a:extLst>
              <a:ext uri="{FF2B5EF4-FFF2-40B4-BE49-F238E27FC236}">
                <a16:creationId xmlns="" xmlns:a16="http://schemas.microsoft.com/office/drawing/2014/main" id="{020D7A1D-EFAD-4C8C-B9DE-D0FAD269B77A}"/>
              </a:ext>
            </a:extLst>
          </p:cNvPr>
          <p:cNvSpPr txBox="1"/>
          <p:nvPr/>
        </p:nvSpPr>
        <p:spPr bwMode="gray">
          <a:xfrm>
            <a:off x="3535162" y="1808361"/>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TextBox 120">
            <a:extLst>
              <a:ext uri="{FF2B5EF4-FFF2-40B4-BE49-F238E27FC236}">
                <a16:creationId xmlns="" xmlns:a16="http://schemas.microsoft.com/office/drawing/2014/main" id="{020D7A1D-EFAD-4C8C-B9DE-D0FAD269B77A}"/>
              </a:ext>
            </a:extLst>
          </p:cNvPr>
          <p:cNvSpPr txBox="1"/>
          <p:nvPr/>
        </p:nvSpPr>
        <p:spPr bwMode="gray">
          <a:xfrm>
            <a:off x="5230118" y="1802418"/>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R3</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2" name="直接箭头连接符 81"/>
          <p:cNvCxnSpPr/>
          <p:nvPr/>
        </p:nvCxnSpPr>
        <p:spPr bwMode="gray">
          <a:xfrm flipV="1">
            <a:off x="2489816" y="2644643"/>
            <a:ext cx="990470" cy="1"/>
          </a:xfrm>
          <a:prstGeom prst="straightConnector1">
            <a:avLst/>
          </a:prstGeom>
          <a:ln w="28575">
            <a:solidFill>
              <a:srgbClr val="ED6D00"/>
            </a:solidFill>
            <a:tailEnd type="triangle"/>
          </a:ln>
        </p:spPr>
        <p:style>
          <a:lnRef idx="1">
            <a:schemeClr val="accent1"/>
          </a:lnRef>
          <a:fillRef idx="0">
            <a:schemeClr val="accent1"/>
          </a:fillRef>
          <a:effectRef idx="0">
            <a:schemeClr val="accent1"/>
          </a:effectRef>
          <a:fontRef idx="minor">
            <a:schemeClr val="tx1"/>
          </a:fontRef>
        </p:style>
      </p:cxnSp>
      <p:sp>
        <p:nvSpPr>
          <p:cNvPr id="83" name="TextBox 120">
            <a:extLst>
              <a:ext uri="{FF2B5EF4-FFF2-40B4-BE49-F238E27FC236}">
                <a16:creationId xmlns="" xmlns:a16="http://schemas.microsoft.com/office/drawing/2014/main" id="{020D7A1D-EFAD-4C8C-B9DE-D0FAD269B77A}"/>
              </a:ext>
            </a:extLst>
          </p:cNvPr>
          <p:cNvSpPr txBox="1"/>
          <p:nvPr/>
        </p:nvSpPr>
        <p:spPr bwMode="auto">
          <a:xfrm>
            <a:off x="2376067" y="2662236"/>
            <a:ext cx="2882597" cy="523220"/>
          </a:xfrm>
          <a:prstGeom prst="rect">
            <a:avLst/>
          </a:prstGeom>
          <a:noFill/>
          <a:ln>
            <a:noFill/>
          </a:ln>
        </p:spPr>
        <p:txBody>
          <a:bodyPr wrap="square" rtlCol="0">
            <a:spAutoFit/>
          </a:bodyPr>
          <a:lstStyle/>
          <a:p>
            <a:r>
              <a:rPr lang="en-US" altLang="zh-CN"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10.1.1.1/32 Community=101:1</a:t>
            </a:r>
          </a:p>
          <a:p>
            <a:r>
              <a:rPr lang="en-US" altLang="zh-CN"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10.1.2.2/32</a:t>
            </a:r>
            <a:endParaRPr lang="en-US" altLang="zh-CN"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TextBox 120">
            <a:extLst>
              <a:ext uri="{FF2B5EF4-FFF2-40B4-BE49-F238E27FC236}">
                <a16:creationId xmlns="" xmlns:a16="http://schemas.microsoft.com/office/drawing/2014/main" id="{020D7A1D-EFAD-4C8C-B9DE-D0FAD269B77A}"/>
              </a:ext>
            </a:extLst>
          </p:cNvPr>
          <p:cNvSpPr txBox="1"/>
          <p:nvPr/>
        </p:nvSpPr>
        <p:spPr bwMode="gray">
          <a:xfrm>
            <a:off x="594860" y="1823625"/>
            <a:ext cx="1169713" cy="95410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Loopback0</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10.1.1.1/32</a:t>
            </a:r>
          </a:p>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Loopback1</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10.1.2.2/32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TextBox 120">
            <a:extLst>
              <a:ext uri="{FF2B5EF4-FFF2-40B4-BE49-F238E27FC236}">
                <a16:creationId xmlns="" xmlns:a16="http://schemas.microsoft.com/office/drawing/2014/main" id="{020D7A1D-EFAD-4C8C-B9DE-D0FAD269B77A}"/>
              </a:ext>
            </a:extLst>
          </p:cNvPr>
          <p:cNvSpPr txBox="1"/>
          <p:nvPr/>
        </p:nvSpPr>
        <p:spPr bwMode="gray">
          <a:xfrm>
            <a:off x="2469869" y="2018914"/>
            <a:ext cx="128158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10.1.12.0/24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TextBox 120">
            <a:extLst>
              <a:ext uri="{FF2B5EF4-FFF2-40B4-BE49-F238E27FC236}">
                <a16:creationId xmlns="" xmlns:a16="http://schemas.microsoft.com/office/drawing/2014/main" id="{020D7A1D-EFAD-4C8C-B9DE-D0FAD269B77A}"/>
              </a:ext>
            </a:extLst>
          </p:cNvPr>
          <p:cNvSpPr txBox="1"/>
          <p:nvPr/>
        </p:nvSpPr>
        <p:spPr bwMode="gray">
          <a:xfrm>
            <a:off x="2401750" y="2264002"/>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TextBox 120">
            <a:extLst>
              <a:ext uri="{FF2B5EF4-FFF2-40B4-BE49-F238E27FC236}">
                <a16:creationId xmlns="" xmlns:a16="http://schemas.microsoft.com/office/drawing/2014/main" id="{020D7A1D-EFAD-4C8C-B9DE-D0FAD269B77A}"/>
              </a:ext>
            </a:extLst>
          </p:cNvPr>
          <p:cNvSpPr txBox="1"/>
          <p:nvPr/>
        </p:nvSpPr>
        <p:spPr bwMode="gray">
          <a:xfrm>
            <a:off x="3413415" y="2264002"/>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TextBox 120">
            <a:extLst>
              <a:ext uri="{FF2B5EF4-FFF2-40B4-BE49-F238E27FC236}">
                <a16:creationId xmlns="" xmlns:a16="http://schemas.microsoft.com/office/drawing/2014/main" id="{020D7A1D-EFAD-4C8C-B9DE-D0FAD269B77A}"/>
              </a:ext>
            </a:extLst>
          </p:cNvPr>
          <p:cNvSpPr txBox="1"/>
          <p:nvPr/>
        </p:nvSpPr>
        <p:spPr bwMode="gray">
          <a:xfrm>
            <a:off x="4183974" y="2018914"/>
            <a:ext cx="128158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10.1.23.0/24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TextBox 120">
            <a:extLst>
              <a:ext uri="{FF2B5EF4-FFF2-40B4-BE49-F238E27FC236}">
                <a16:creationId xmlns="" xmlns:a16="http://schemas.microsoft.com/office/drawing/2014/main" id="{020D7A1D-EFAD-4C8C-B9DE-D0FAD269B77A}"/>
              </a:ext>
            </a:extLst>
          </p:cNvPr>
          <p:cNvSpPr txBox="1"/>
          <p:nvPr/>
        </p:nvSpPr>
        <p:spPr bwMode="gray">
          <a:xfrm>
            <a:off x="4115855" y="2264002"/>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TextBox 120">
            <a:extLst>
              <a:ext uri="{FF2B5EF4-FFF2-40B4-BE49-F238E27FC236}">
                <a16:creationId xmlns="" xmlns:a16="http://schemas.microsoft.com/office/drawing/2014/main" id="{020D7A1D-EFAD-4C8C-B9DE-D0FAD269B77A}"/>
              </a:ext>
            </a:extLst>
          </p:cNvPr>
          <p:cNvSpPr txBox="1"/>
          <p:nvPr/>
        </p:nvSpPr>
        <p:spPr bwMode="gray">
          <a:xfrm>
            <a:off x="5127520" y="2264002"/>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文本占位符 2"/>
          <p:cNvSpPr txBox="1">
            <a:spLocks/>
          </p:cNvSpPr>
          <p:nvPr/>
        </p:nvSpPr>
        <p:spPr bwMode="auto">
          <a:xfrm>
            <a:off x="472592" y="3718881"/>
            <a:ext cx="5627683" cy="129871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zh-CN" altLang="en-US" sz="1800" dirty="0"/>
              <a:t>在</a:t>
            </a:r>
            <a:r>
              <a:rPr lang="en-US" altLang="zh-CN" sz="1800" dirty="0"/>
              <a:t>R1</a:t>
            </a:r>
            <a:r>
              <a:rPr lang="zh-CN" altLang="en-US" sz="1800" dirty="0"/>
              <a:t>上部署路由策略，</a:t>
            </a:r>
            <a:r>
              <a:rPr lang="zh-CN" altLang="en-US" sz="1800" dirty="0" smtClean="0"/>
              <a:t>使其</a:t>
            </a:r>
            <a:r>
              <a:rPr lang="zh-CN" altLang="en-US" sz="1800" dirty="0"/>
              <a:t>在通告</a:t>
            </a:r>
            <a:r>
              <a:rPr lang="en-US" altLang="zh-CN" sz="1800" dirty="0"/>
              <a:t>BGP</a:t>
            </a:r>
            <a:r>
              <a:rPr lang="zh-CN" altLang="en-US" sz="1800" dirty="0"/>
              <a:t>路由</a:t>
            </a:r>
            <a:r>
              <a:rPr lang="en-US" altLang="zh-CN" sz="1800" dirty="0" smtClean="0"/>
              <a:t>10.1.1.1/32</a:t>
            </a:r>
            <a:r>
              <a:rPr lang="zh-CN" altLang="en-US" sz="1800" dirty="0" smtClean="0"/>
              <a:t>时</a:t>
            </a:r>
            <a:r>
              <a:rPr lang="zh-CN" altLang="en-US" sz="1800" dirty="0"/>
              <a:t>携带</a:t>
            </a:r>
            <a:r>
              <a:rPr lang="en-US" altLang="zh-CN" sz="1800" dirty="0"/>
              <a:t>Community</a:t>
            </a:r>
            <a:r>
              <a:rPr lang="zh-CN" altLang="en-US" sz="1800" dirty="0"/>
              <a:t>属性值</a:t>
            </a:r>
            <a:r>
              <a:rPr lang="en-US" altLang="zh-CN" sz="1800" dirty="0" smtClean="0"/>
              <a:t>101:1</a:t>
            </a:r>
            <a:r>
              <a:rPr lang="zh-CN" altLang="en-US" sz="1800" dirty="0"/>
              <a:t>，其他</a:t>
            </a:r>
            <a:r>
              <a:rPr lang="zh-CN" altLang="en-US" sz="1800" dirty="0" smtClean="0"/>
              <a:t>路由不</a:t>
            </a:r>
            <a:r>
              <a:rPr lang="zh-CN" altLang="en-US" sz="1800" dirty="0"/>
              <a:t>携带</a:t>
            </a:r>
            <a:r>
              <a:rPr lang="zh-CN" altLang="en-US" sz="1800" dirty="0" smtClean="0"/>
              <a:t>。</a:t>
            </a:r>
            <a:endParaRPr lang="zh-CN" altLang="en-US" sz="1800" dirty="0"/>
          </a:p>
        </p:txBody>
      </p:sp>
      <p:sp>
        <p:nvSpPr>
          <p:cNvPr id="35" name="五边形 34"/>
          <p:cNvSpPr/>
          <p:nvPr/>
        </p:nvSpPr>
        <p:spPr bwMode="auto">
          <a:xfrm>
            <a:off x="8335082" y="100861"/>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36" name="燕尾形 35"/>
          <p:cNvSpPr/>
          <p:nvPr/>
        </p:nvSpPr>
        <p:spPr bwMode="auto">
          <a:xfrm>
            <a:off x="9029654" y="100861"/>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AS_Path Filter</a:t>
            </a:r>
          </a:p>
        </p:txBody>
      </p:sp>
      <p:sp>
        <p:nvSpPr>
          <p:cNvPr id="37" name="燕尾形 36"/>
          <p:cNvSpPr/>
          <p:nvPr/>
        </p:nvSpPr>
        <p:spPr bwMode="auto">
          <a:xfrm>
            <a:off x="10203025" y="100861"/>
            <a:ext cx="1548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Community Filter</a:t>
            </a:r>
          </a:p>
        </p:txBody>
      </p:sp>
    </p:spTree>
    <p:extLst>
      <p:ext uri="{BB962C8B-B14F-4D97-AF65-F5344CB8AC3E}">
        <p14:creationId xmlns:p14="http://schemas.microsoft.com/office/powerpoint/2010/main" val="38516548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配置</a:t>
            </a:r>
            <a:r>
              <a:rPr lang="en-US" altLang="zh-CN" smtClean="0"/>
              <a:t>Community</a:t>
            </a:r>
            <a:r>
              <a:rPr lang="zh-CN" altLang="en-US" smtClean="0"/>
              <a:t>属性 </a:t>
            </a:r>
            <a:r>
              <a:rPr lang="en-US" altLang="zh-CN" smtClean="0"/>
              <a:t>(2)</a:t>
            </a:r>
            <a:endParaRPr lang="zh-CN" altLang="en-US" dirty="0"/>
          </a:p>
        </p:txBody>
      </p:sp>
      <p:sp>
        <p:nvSpPr>
          <p:cNvPr id="24" name="文本框 23"/>
          <p:cNvSpPr txBox="1"/>
          <p:nvPr/>
        </p:nvSpPr>
        <p:spPr>
          <a:xfrm>
            <a:off x="6475690" y="1744446"/>
            <a:ext cx="5153933" cy="2677656"/>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a:solidFill>
                  <a:prstClr val="black"/>
                </a:solidFill>
                <a:cs typeface="Courier New" panose="02070309020205020404" pitchFamily="49" charset="0"/>
              </a:rPr>
              <a:t>[R2] </a:t>
            </a:r>
            <a:r>
              <a:rPr lang="en-US" altLang="zh-CN" sz="1400" dirty="0" err="1">
                <a:solidFill>
                  <a:prstClr val="black"/>
                </a:solidFill>
                <a:cs typeface="Courier New" panose="02070309020205020404" pitchFamily="49" charset="0"/>
              </a:rPr>
              <a:t>ip</a:t>
            </a:r>
            <a:r>
              <a:rPr lang="en-US" altLang="zh-CN" sz="1400" dirty="0">
                <a:solidFill>
                  <a:prstClr val="black"/>
                </a:solidFill>
                <a:cs typeface="Courier New" panose="02070309020205020404" pitchFamily="49" charset="0"/>
              </a:rPr>
              <a:t> </a:t>
            </a:r>
            <a:r>
              <a:rPr lang="en-US" altLang="zh-CN" sz="1400" dirty="0" err="1">
                <a:solidFill>
                  <a:prstClr val="black"/>
                </a:solidFill>
                <a:cs typeface="Courier New" panose="02070309020205020404" pitchFamily="49" charset="0"/>
              </a:rPr>
              <a:t>ip</a:t>
            </a:r>
            <a:r>
              <a:rPr lang="en-US" altLang="zh-CN" sz="1400" dirty="0">
                <a:solidFill>
                  <a:prstClr val="black"/>
                </a:solidFill>
                <a:cs typeface="Courier New" panose="02070309020205020404" pitchFamily="49" charset="0"/>
              </a:rPr>
              <a:t>-prefix 1 permit 10.1.1.1 32</a:t>
            </a:r>
          </a:p>
          <a:p>
            <a:pPr fontAlgn="auto">
              <a:spcBef>
                <a:spcPts val="0"/>
              </a:spcBef>
              <a:spcAft>
                <a:spcPts val="0"/>
              </a:spcAft>
            </a:pPr>
            <a:r>
              <a:rPr lang="en-US" altLang="zh-CN" sz="1400" dirty="0">
                <a:solidFill>
                  <a:prstClr val="black"/>
                </a:solidFill>
                <a:cs typeface="Courier New" panose="02070309020205020404" pitchFamily="49" charset="0"/>
              </a:rPr>
              <a:t>[R2] route-policy Community permit node 10</a:t>
            </a:r>
          </a:p>
          <a:p>
            <a:pPr fontAlgn="auto">
              <a:spcBef>
                <a:spcPts val="0"/>
              </a:spcBef>
              <a:spcAft>
                <a:spcPts val="0"/>
              </a:spcAft>
            </a:pPr>
            <a:r>
              <a:rPr lang="en-US" altLang="zh-CN" sz="1400" dirty="0">
                <a:solidFill>
                  <a:prstClr val="black"/>
                </a:solidFill>
                <a:cs typeface="Courier New" panose="02070309020205020404" pitchFamily="49" charset="0"/>
              </a:rPr>
              <a:t>[R2-route-policy] if-match </a:t>
            </a:r>
            <a:r>
              <a:rPr lang="en-US" altLang="zh-CN" sz="1400" dirty="0" err="1">
                <a:solidFill>
                  <a:prstClr val="black"/>
                </a:solidFill>
                <a:cs typeface="Courier New" panose="02070309020205020404" pitchFamily="49" charset="0"/>
              </a:rPr>
              <a:t>ip</a:t>
            </a:r>
            <a:r>
              <a:rPr lang="en-US" altLang="zh-CN" sz="1400" dirty="0">
                <a:solidFill>
                  <a:prstClr val="black"/>
                </a:solidFill>
                <a:cs typeface="Courier New" panose="02070309020205020404" pitchFamily="49" charset="0"/>
              </a:rPr>
              <a:t>-prefix 1</a:t>
            </a:r>
          </a:p>
          <a:p>
            <a:pPr fontAlgn="auto">
              <a:spcBef>
                <a:spcPts val="0"/>
              </a:spcBef>
              <a:spcAft>
                <a:spcPts val="0"/>
              </a:spcAft>
            </a:pPr>
            <a:r>
              <a:rPr lang="en-US" altLang="zh-CN" sz="1400" dirty="0">
                <a:solidFill>
                  <a:prstClr val="black"/>
                </a:solidFill>
                <a:cs typeface="Courier New" panose="02070309020205020404" pitchFamily="49" charset="0"/>
              </a:rPr>
              <a:t>[R2-route-policy] </a:t>
            </a:r>
            <a:r>
              <a:rPr lang="en-US" altLang="zh-CN" sz="1400" dirty="0">
                <a:solidFill>
                  <a:srgbClr val="C7000B"/>
                </a:solidFill>
                <a:cs typeface="Courier New" panose="02070309020205020404" pitchFamily="49" charset="0"/>
              </a:rPr>
              <a:t>apply community no-expert </a:t>
            </a:r>
            <a:r>
              <a:rPr lang="en-US" altLang="zh-CN" sz="1400" b="1" dirty="0">
                <a:solidFill>
                  <a:srgbClr val="C7000B"/>
                </a:solidFill>
                <a:cs typeface="Courier New" panose="02070309020205020404" pitchFamily="49" charset="0"/>
              </a:rPr>
              <a:t>additive</a:t>
            </a:r>
          </a:p>
          <a:p>
            <a:pPr fontAlgn="auto">
              <a:spcBef>
                <a:spcPts val="0"/>
              </a:spcBef>
              <a:spcAft>
                <a:spcPts val="0"/>
              </a:spcAft>
            </a:pPr>
            <a:r>
              <a:rPr lang="en-US" altLang="zh-CN" sz="1400" dirty="0">
                <a:solidFill>
                  <a:prstClr val="black"/>
                </a:solidFill>
                <a:cs typeface="Courier New" panose="02070309020205020404" pitchFamily="49" charset="0"/>
              </a:rPr>
              <a:t>[R2-route-policy] quit</a:t>
            </a:r>
          </a:p>
          <a:p>
            <a:pPr fontAlgn="auto">
              <a:spcBef>
                <a:spcPts val="0"/>
              </a:spcBef>
              <a:spcAft>
                <a:spcPts val="0"/>
              </a:spcAft>
            </a:pPr>
            <a:r>
              <a:rPr lang="en-US" altLang="zh-CN" sz="1400" dirty="0">
                <a:solidFill>
                  <a:prstClr val="black"/>
                </a:solidFill>
                <a:cs typeface="Courier New" panose="02070309020205020404" pitchFamily="49" charset="0"/>
              </a:rPr>
              <a:t>[R2] route-policy Community permit node 20</a:t>
            </a:r>
          </a:p>
          <a:p>
            <a:pPr fontAlgn="auto">
              <a:spcBef>
                <a:spcPts val="0"/>
              </a:spcBef>
              <a:spcAft>
                <a:spcPts val="0"/>
              </a:spcAft>
            </a:pPr>
            <a:r>
              <a:rPr lang="en-US" altLang="zh-CN" sz="1400" dirty="0">
                <a:solidFill>
                  <a:prstClr val="black"/>
                </a:solidFill>
                <a:cs typeface="Courier New" panose="02070309020205020404" pitchFamily="49" charset="0"/>
              </a:rPr>
              <a:t>[R2-route-policy] quit</a:t>
            </a:r>
          </a:p>
          <a:p>
            <a:pPr fontAlgn="auto">
              <a:spcBef>
                <a:spcPts val="0"/>
              </a:spcBef>
              <a:spcAft>
                <a:spcPts val="0"/>
              </a:spcAft>
            </a:pPr>
            <a:r>
              <a:rPr lang="en-US" altLang="zh-CN" sz="1400" dirty="0">
                <a:solidFill>
                  <a:prstClr val="black"/>
                </a:solidFill>
                <a:cs typeface="Courier New" panose="02070309020205020404" pitchFamily="49" charset="0"/>
              </a:rPr>
              <a:t>[R2] </a:t>
            </a:r>
            <a:r>
              <a:rPr lang="en-US" altLang="zh-CN" sz="1400" dirty="0" err="1">
                <a:solidFill>
                  <a:prstClr val="black"/>
                </a:solidFill>
                <a:cs typeface="Courier New" panose="02070309020205020404" pitchFamily="49" charset="0"/>
              </a:rPr>
              <a:t>bgp</a:t>
            </a:r>
            <a:r>
              <a:rPr lang="en-US" altLang="zh-CN" sz="1400" dirty="0">
                <a:solidFill>
                  <a:prstClr val="black"/>
                </a:solidFill>
                <a:cs typeface="Courier New" panose="02070309020205020404" pitchFamily="49" charset="0"/>
              </a:rPr>
              <a:t> 102</a:t>
            </a:r>
          </a:p>
          <a:p>
            <a:pPr fontAlgn="auto">
              <a:spcBef>
                <a:spcPts val="0"/>
              </a:spcBef>
              <a:spcAft>
                <a:spcPts val="0"/>
              </a:spcAft>
            </a:pPr>
            <a:r>
              <a:rPr lang="en-US" altLang="zh-CN" sz="1400" dirty="0">
                <a:solidFill>
                  <a:prstClr val="black"/>
                </a:solidFill>
                <a:cs typeface="Courier New" panose="02070309020205020404" pitchFamily="49" charset="0"/>
              </a:rPr>
              <a:t>[R2-bgp] peer 10.1.12.1 as-number 101</a:t>
            </a:r>
          </a:p>
          <a:p>
            <a:pPr fontAlgn="auto">
              <a:spcBef>
                <a:spcPts val="0"/>
              </a:spcBef>
              <a:spcAft>
                <a:spcPts val="0"/>
              </a:spcAft>
            </a:pPr>
            <a:r>
              <a:rPr lang="en-US" altLang="zh-CN" sz="1400" dirty="0">
                <a:solidFill>
                  <a:prstClr val="black"/>
                </a:solidFill>
                <a:cs typeface="Courier New" panose="02070309020205020404" pitchFamily="49" charset="0"/>
              </a:rPr>
              <a:t>[R2-bgp] peer 10.1.23.3 as-number 102</a:t>
            </a:r>
          </a:p>
          <a:p>
            <a:pPr fontAlgn="auto">
              <a:spcBef>
                <a:spcPts val="0"/>
              </a:spcBef>
              <a:spcAft>
                <a:spcPts val="0"/>
              </a:spcAft>
            </a:pPr>
            <a:r>
              <a:rPr lang="en-US" altLang="zh-CN" sz="1400" dirty="0">
                <a:solidFill>
                  <a:prstClr val="black"/>
                </a:solidFill>
                <a:cs typeface="Courier New" panose="02070309020205020404" pitchFamily="49" charset="0"/>
              </a:rPr>
              <a:t>[R2-bgp] </a:t>
            </a:r>
            <a:r>
              <a:rPr lang="en-US" altLang="zh-CN" sz="1400" dirty="0">
                <a:solidFill>
                  <a:srgbClr val="C7000B"/>
                </a:solidFill>
                <a:cs typeface="Courier New" panose="02070309020205020404" pitchFamily="49" charset="0"/>
              </a:rPr>
              <a:t>peer 10.1.23.3 advertise-community </a:t>
            </a:r>
          </a:p>
          <a:p>
            <a:pPr fontAlgn="auto">
              <a:spcBef>
                <a:spcPts val="0"/>
              </a:spcBef>
              <a:spcAft>
                <a:spcPts val="0"/>
              </a:spcAft>
            </a:pPr>
            <a:r>
              <a:rPr lang="en-US" altLang="zh-CN" sz="1400" dirty="0">
                <a:solidFill>
                  <a:prstClr val="black"/>
                </a:solidFill>
                <a:cs typeface="Courier New" panose="02070309020205020404" pitchFamily="49" charset="0"/>
              </a:rPr>
              <a:t>[R2-bgp] peer 10.1.23.3 route-policy Community export</a:t>
            </a:r>
          </a:p>
        </p:txBody>
      </p:sp>
      <p:sp>
        <p:nvSpPr>
          <p:cNvPr id="58" name="文本框 57"/>
          <p:cNvSpPr txBox="1"/>
          <p:nvPr/>
        </p:nvSpPr>
        <p:spPr>
          <a:xfrm>
            <a:off x="6338670" y="1326810"/>
            <a:ext cx="4562467" cy="338554"/>
          </a:xfrm>
          <a:prstGeom prst="rect">
            <a:avLst/>
          </a:prstGeom>
          <a:noFill/>
        </p:spPr>
        <p:txBody>
          <a:bodyPr wrap="none" rtlCol="0">
            <a:spAutoFit/>
          </a:bodyPr>
          <a:lstStyle/>
          <a:p>
            <a:pPr fontAlgn="auto">
              <a:spcBef>
                <a:spcPts val="0"/>
              </a:spcBef>
              <a:spcAft>
                <a:spcPts val="0"/>
              </a:spcAft>
            </a:pPr>
            <a:r>
              <a:rPr lang="en-US" altLang="zh-CN" sz="1600" dirty="0" smtClean="0">
                <a:solidFill>
                  <a:prstClr val="black"/>
                </a:solidFill>
              </a:rPr>
              <a:t>2</a:t>
            </a:r>
            <a:r>
              <a:rPr lang="zh-CN" altLang="en-US" sz="1600" dirty="0" smtClean="0">
                <a:solidFill>
                  <a:prstClr val="black"/>
                </a:solidFill>
              </a:rPr>
              <a:t>、</a:t>
            </a:r>
            <a:r>
              <a:rPr lang="en-US" altLang="zh-CN" sz="1600" dirty="0" smtClean="0">
                <a:solidFill>
                  <a:prstClr val="black"/>
                </a:solidFill>
              </a:rPr>
              <a:t>R2</a:t>
            </a:r>
            <a:r>
              <a:rPr lang="zh-CN" altLang="en-US" sz="1600" dirty="0">
                <a:solidFill>
                  <a:prstClr val="black"/>
                </a:solidFill>
              </a:rPr>
              <a:t>配置允许将团体属性传</a:t>
            </a:r>
            <a:r>
              <a:rPr lang="zh-CN" altLang="en-US" sz="1600" dirty="0" smtClean="0">
                <a:solidFill>
                  <a:prstClr val="black"/>
                </a:solidFill>
              </a:rPr>
              <a:t>给</a:t>
            </a:r>
            <a:r>
              <a:rPr lang="en-US" altLang="zh-CN" sz="1600" dirty="0" smtClean="0">
                <a:solidFill>
                  <a:prstClr val="black"/>
                </a:solidFill>
              </a:rPr>
              <a:t>EBGP</a:t>
            </a:r>
            <a:r>
              <a:rPr lang="zh-CN" altLang="en-US" sz="1600" dirty="0" smtClean="0">
                <a:solidFill>
                  <a:prstClr val="black"/>
                </a:solidFill>
              </a:rPr>
              <a:t>对等体</a:t>
            </a:r>
            <a:r>
              <a:rPr lang="en-US" altLang="zh-CN" sz="1600" dirty="0" smtClean="0">
                <a:solidFill>
                  <a:prstClr val="black"/>
                </a:solidFill>
              </a:rPr>
              <a:t>R3</a:t>
            </a:r>
            <a:r>
              <a:rPr lang="zh-CN" altLang="en-US" sz="1600" dirty="0" smtClean="0">
                <a:solidFill>
                  <a:prstClr val="black"/>
                </a:solidFill>
              </a:rPr>
              <a:t>。</a:t>
            </a:r>
            <a:endParaRPr lang="zh-CN" altLang="en-US" sz="1600" dirty="0">
              <a:solidFill>
                <a:prstClr val="black"/>
              </a:solidFill>
            </a:endParaRPr>
          </a:p>
        </p:txBody>
      </p:sp>
      <p:sp>
        <p:nvSpPr>
          <p:cNvPr id="61" name="任意多边形 25"/>
          <p:cNvSpPr/>
          <p:nvPr/>
        </p:nvSpPr>
        <p:spPr bwMode="gray">
          <a:xfrm>
            <a:off x="3301098" y="1516987"/>
            <a:ext cx="1282895" cy="1350517"/>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sp>
        <p:nvSpPr>
          <p:cNvPr id="63" name="任意多边形 25"/>
          <p:cNvSpPr/>
          <p:nvPr/>
        </p:nvSpPr>
        <p:spPr bwMode="gray">
          <a:xfrm>
            <a:off x="4903674" y="1515848"/>
            <a:ext cx="1183887" cy="1351778"/>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pic>
        <p:nvPicPr>
          <p:cNvPr id="67" name="图片 6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669560" y="2057865"/>
            <a:ext cx="540000" cy="442800"/>
          </a:xfrm>
          <a:prstGeom prst="rect">
            <a:avLst/>
          </a:prstGeom>
        </p:spPr>
      </p:pic>
      <p:cxnSp>
        <p:nvCxnSpPr>
          <p:cNvPr id="68" name="直接连接符 67"/>
          <p:cNvCxnSpPr>
            <a:stCxn id="67" idx="3"/>
            <a:endCxn id="69" idx="3"/>
          </p:cNvCxnSpPr>
          <p:nvPr/>
        </p:nvCxnSpPr>
        <p:spPr bwMode="gray">
          <a:xfrm>
            <a:off x="4209560" y="2279265"/>
            <a:ext cx="17041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9" name="图片 68"/>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373664" y="2057865"/>
            <a:ext cx="540000" cy="442800"/>
          </a:xfrm>
          <a:prstGeom prst="rect">
            <a:avLst/>
          </a:prstGeom>
        </p:spPr>
      </p:pic>
      <p:sp>
        <p:nvSpPr>
          <p:cNvPr id="70" name="任意多边形 25"/>
          <p:cNvSpPr/>
          <p:nvPr/>
        </p:nvSpPr>
        <p:spPr bwMode="gray">
          <a:xfrm>
            <a:off x="522288" y="1516987"/>
            <a:ext cx="2208768" cy="1350517"/>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pic>
        <p:nvPicPr>
          <p:cNvPr id="71" name="图片 7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886222" y="2057865"/>
            <a:ext cx="540000" cy="442800"/>
          </a:xfrm>
          <a:prstGeom prst="rect">
            <a:avLst/>
          </a:prstGeom>
        </p:spPr>
      </p:pic>
      <p:sp>
        <p:nvSpPr>
          <p:cNvPr id="72" name="TextBox 120">
            <a:extLst>
              <a:ext uri="{FF2B5EF4-FFF2-40B4-BE49-F238E27FC236}">
                <a16:creationId xmlns="" xmlns:a16="http://schemas.microsoft.com/office/drawing/2014/main" id="{020D7A1D-EFAD-4C8C-B9DE-D0FAD269B77A}"/>
              </a:ext>
            </a:extLst>
          </p:cNvPr>
          <p:cNvSpPr txBox="1"/>
          <p:nvPr/>
        </p:nvSpPr>
        <p:spPr bwMode="gray">
          <a:xfrm>
            <a:off x="482039" y="1515848"/>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TextBox 120">
            <a:extLst>
              <a:ext uri="{FF2B5EF4-FFF2-40B4-BE49-F238E27FC236}">
                <a16:creationId xmlns="" xmlns:a16="http://schemas.microsoft.com/office/drawing/2014/main" id="{020D7A1D-EFAD-4C8C-B9DE-D0FAD269B77A}"/>
              </a:ext>
            </a:extLst>
          </p:cNvPr>
          <p:cNvSpPr txBox="1"/>
          <p:nvPr/>
        </p:nvSpPr>
        <p:spPr bwMode="gray">
          <a:xfrm>
            <a:off x="3261107" y="1515848"/>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4" name="直接连接符 73"/>
          <p:cNvCxnSpPr>
            <a:stCxn id="71" idx="3"/>
            <a:endCxn id="67" idx="1"/>
          </p:cNvCxnSpPr>
          <p:nvPr/>
        </p:nvCxnSpPr>
        <p:spPr bwMode="gray">
          <a:xfrm>
            <a:off x="2426222" y="2279265"/>
            <a:ext cx="124333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TextBox 120">
            <a:extLst>
              <a:ext uri="{FF2B5EF4-FFF2-40B4-BE49-F238E27FC236}">
                <a16:creationId xmlns="" xmlns:a16="http://schemas.microsoft.com/office/drawing/2014/main" id="{020D7A1D-EFAD-4C8C-B9DE-D0FAD269B77A}"/>
              </a:ext>
            </a:extLst>
          </p:cNvPr>
          <p:cNvSpPr txBox="1"/>
          <p:nvPr/>
        </p:nvSpPr>
        <p:spPr bwMode="gray">
          <a:xfrm>
            <a:off x="4889573" y="1513506"/>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103</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6" name="直接连接符 75"/>
          <p:cNvCxnSpPr>
            <a:endCxn id="71" idx="1"/>
          </p:cNvCxnSpPr>
          <p:nvPr/>
        </p:nvCxnSpPr>
        <p:spPr bwMode="gray">
          <a:xfrm>
            <a:off x="1771624" y="2276188"/>
            <a:ext cx="114598" cy="30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bwMode="gray">
          <a:xfrm>
            <a:off x="1760895" y="2165488"/>
            <a:ext cx="0" cy="221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TextBox 120">
            <a:extLst>
              <a:ext uri="{FF2B5EF4-FFF2-40B4-BE49-F238E27FC236}">
                <a16:creationId xmlns="" xmlns:a16="http://schemas.microsoft.com/office/drawing/2014/main" id="{020D7A1D-EFAD-4C8C-B9DE-D0FAD269B77A}"/>
              </a:ext>
            </a:extLst>
          </p:cNvPr>
          <p:cNvSpPr txBox="1"/>
          <p:nvPr/>
        </p:nvSpPr>
        <p:spPr bwMode="gray">
          <a:xfrm>
            <a:off x="1735183" y="1808361"/>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TextBox 120">
            <a:extLst>
              <a:ext uri="{FF2B5EF4-FFF2-40B4-BE49-F238E27FC236}">
                <a16:creationId xmlns="" xmlns:a16="http://schemas.microsoft.com/office/drawing/2014/main" id="{020D7A1D-EFAD-4C8C-B9DE-D0FAD269B77A}"/>
              </a:ext>
            </a:extLst>
          </p:cNvPr>
          <p:cNvSpPr txBox="1"/>
          <p:nvPr/>
        </p:nvSpPr>
        <p:spPr bwMode="gray">
          <a:xfrm>
            <a:off x="3535162" y="1808361"/>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TextBox 120">
            <a:extLst>
              <a:ext uri="{FF2B5EF4-FFF2-40B4-BE49-F238E27FC236}">
                <a16:creationId xmlns="" xmlns:a16="http://schemas.microsoft.com/office/drawing/2014/main" id="{020D7A1D-EFAD-4C8C-B9DE-D0FAD269B77A}"/>
              </a:ext>
            </a:extLst>
          </p:cNvPr>
          <p:cNvSpPr txBox="1"/>
          <p:nvPr/>
        </p:nvSpPr>
        <p:spPr bwMode="gray">
          <a:xfrm>
            <a:off x="5230118" y="1802418"/>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R3</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TextBox 120">
            <a:extLst>
              <a:ext uri="{FF2B5EF4-FFF2-40B4-BE49-F238E27FC236}">
                <a16:creationId xmlns="" xmlns:a16="http://schemas.microsoft.com/office/drawing/2014/main" id="{020D7A1D-EFAD-4C8C-B9DE-D0FAD269B77A}"/>
              </a:ext>
            </a:extLst>
          </p:cNvPr>
          <p:cNvSpPr txBox="1"/>
          <p:nvPr/>
        </p:nvSpPr>
        <p:spPr bwMode="gray">
          <a:xfrm>
            <a:off x="594860" y="1823625"/>
            <a:ext cx="1169713" cy="95410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Loopback0</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10.1.1.1/32</a:t>
            </a:r>
          </a:p>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Loopback1</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10.1.2.2/32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TextBox 120">
            <a:extLst>
              <a:ext uri="{FF2B5EF4-FFF2-40B4-BE49-F238E27FC236}">
                <a16:creationId xmlns="" xmlns:a16="http://schemas.microsoft.com/office/drawing/2014/main" id="{020D7A1D-EFAD-4C8C-B9DE-D0FAD269B77A}"/>
              </a:ext>
            </a:extLst>
          </p:cNvPr>
          <p:cNvSpPr txBox="1"/>
          <p:nvPr/>
        </p:nvSpPr>
        <p:spPr bwMode="gray">
          <a:xfrm>
            <a:off x="2469869" y="2018914"/>
            <a:ext cx="128158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10.1.12.0/24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TextBox 120">
            <a:extLst>
              <a:ext uri="{FF2B5EF4-FFF2-40B4-BE49-F238E27FC236}">
                <a16:creationId xmlns="" xmlns:a16="http://schemas.microsoft.com/office/drawing/2014/main" id="{020D7A1D-EFAD-4C8C-B9DE-D0FAD269B77A}"/>
              </a:ext>
            </a:extLst>
          </p:cNvPr>
          <p:cNvSpPr txBox="1"/>
          <p:nvPr/>
        </p:nvSpPr>
        <p:spPr bwMode="gray">
          <a:xfrm>
            <a:off x="2401750" y="2264002"/>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TextBox 120">
            <a:extLst>
              <a:ext uri="{FF2B5EF4-FFF2-40B4-BE49-F238E27FC236}">
                <a16:creationId xmlns="" xmlns:a16="http://schemas.microsoft.com/office/drawing/2014/main" id="{020D7A1D-EFAD-4C8C-B9DE-D0FAD269B77A}"/>
              </a:ext>
            </a:extLst>
          </p:cNvPr>
          <p:cNvSpPr txBox="1"/>
          <p:nvPr/>
        </p:nvSpPr>
        <p:spPr bwMode="gray">
          <a:xfrm>
            <a:off x="3413415" y="2264002"/>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TextBox 120">
            <a:extLst>
              <a:ext uri="{FF2B5EF4-FFF2-40B4-BE49-F238E27FC236}">
                <a16:creationId xmlns="" xmlns:a16="http://schemas.microsoft.com/office/drawing/2014/main" id="{020D7A1D-EFAD-4C8C-B9DE-D0FAD269B77A}"/>
              </a:ext>
            </a:extLst>
          </p:cNvPr>
          <p:cNvSpPr txBox="1"/>
          <p:nvPr/>
        </p:nvSpPr>
        <p:spPr bwMode="gray">
          <a:xfrm>
            <a:off x="4183974" y="2018914"/>
            <a:ext cx="128158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10.1.23.0/24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TextBox 120">
            <a:extLst>
              <a:ext uri="{FF2B5EF4-FFF2-40B4-BE49-F238E27FC236}">
                <a16:creationId xmlns="" xmlns:a16="http://schemas.microsoft.com/office/drawing/2014/main" id="{020D7A1D-EFAD-4C8C-B9DE-D0FAD269B77A}"/>
              </a:ext>
            </a:extLst>
          </p:cNvPr>
          <p:cNvSpPr txBox="1"/>
          <p:nvPr/>
        </p:nvSpPr>
        <p:spPr bwMode="gray">
          <a:xfrm>
            <a:off x="4115855" y="2264002"/>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TextBox 120">
            <a:extLst>
              <a:ext uri="{FF2B5EF4-FFF2-40B4-BE49-F238E27FC236}">
                <a16:creationId xmlns="" xmlns:a16="http://schemas.microsoft.com/office/drawing/2014/main" id="{020D7A1D-EFAD-4C8C-B9DE-D0FAD269B77A}"/>
              </a:ext>
            </a:extLst>
          </p:cNvPr>
          <p:cNvSpPr txBox="1"/>
          <p:nvPr/>
        </p:nvSpPr>
        <p:spPr bwMode="gray">
          <a:xfrm>
            <a:off x="5127520" y="2264002"/>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4" name="直接箭头连接符 33"/>
          <p:cNvCxnSpPr/>
          <p:nvPr/>
        </p:nvCxnSpPr>
        <p:spPr bwMode="gray">
          <a:xfrm flipV="1">
            <a:off x="4345563" y="2644643"/>
            <a:ext cx="990470" cy="1"/>
          </a:xfrm>
          <a:prstGeom prst="straightConnector1">
            <a:avLst/>
          </a:prstGeom>
          <a:ln w="28575">
            <a:solidFill>
              <a:srgbClr val="ED6D00"/>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120">
            <a:extLst>
              <a:ext uri="{FF2B5EF4-FFF2-40B4-BE49-F238E27FC236}">
                <a16:creationId xmlns="" xmlns:a16="http://schemas.microsoft.com/office/drawing/2014/main" id="{020D7A1D-EFAD-4C8C-B9DE-D0FAD269B77A}"/>
              </a:ext>
            </a:extLst>
          </p:cNvPr>
          <p:cNvSpPr txBox="1"/>
          <p:nvPr/>
        </p:nvSpPr>
        <p:spPr bwMode="auto">
          <a:xfrm>
            <a:off x="2985051" y="2662236"/>
            <a:ext cx="3525948" cy="523220"/>
          </a:xfrm>
          <a:prstGeom prst="rect">
            <a:avLst/>
          </a:prstGeom>
          <a:noFill/>
          <a:ln>
            <a:noFill/>
          </a:ln>
        </p:spPr>
        <p:txBody>
          <a:bodyPr wrap="square" rtlCol="0">
            <a:spAutoFit/>
          </a:bodyPr>
          <a:lstStyle/>
          <a:p>
            <a:r>
              <a:rPr lang="en-US" altLang="zh-CN"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10.1.1.1/32 Community=101:1 no-export</a:t>
            </a:r>
          </a:p>
          <a:p>
            <a:r>
              <a:rPr lang="en-US" altLang="zh-CN"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10.1.2.2/32</a:t>
            </a:r>
            <a:endParaRPr lang="en-US" altLang="zh-CN"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占位符 2"/>
          <p:cNvSpPr txBox="1">
            <a:spLocks/>
          </p:cNvSpPr>
          <p:nvPr/>
        </p:nvSpPr>
        <p:spPr bwMode="auto">
          <a:xfrm>
            <a:off x="472592" y="3374406"/>
            <a:ext cx="5627683" cy="2106889"/>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zh-CN" altLang="en-US" sz="1800" dirty="0"/>
              <a:t>在</a:t>
            </a:r>
            <a:r>
              <a:rPr lang="en-US" altLang="zh-CN" sz="1800" dirty="0"/>
              <a:t>R1</a:t>
            </a:r>
            <a:r>
              <a:rPr lang="zh-CN" altLang="en-US" sz="1800" dirty="0"/>
              <a:t>上部署路由策略，</a:t>
            </a:r>
            <a:r>
              <a:rPr lang="zh-CN" altLang="en-US" sz="1800" dirty="0" smtClean="0"/>
              <a:t>使其</a:t>
            </a:r>
            <a:r>
              <a:rPr lang="zh-CN" altLang="en-US" sz="1800" dirty="0"/>
              <a:t>在通告</a:t>
            </a:r>
            <a:r>
              <a:rPr lang="en-US" altLang="zh-CN" sz="1800" dirty="0"/>
              <a:t>BGP</a:t>
            </a:r>
            <a:r>
              <a:rPr lang="zh-CN" altLang="en-US" sz="1800" dirty="0"/>
              <a:t>路由</a:t>
            </a:r>
            <a:r>
              <a:rPr lang="en-US" altLang="zh-CN" sz="1800" dirty="0" smtClean="0"/>
              <a:t>10.1.1.1/32</a:t>
            </a:r>
            <a:r>
              <a:rPr lang="zh-CN" altLang="en-US" sz="1800" dirty="0" smtClean="0"/>
              <a:t>时</a:t>
            </a:r>
            <a:r>
              <a:rPr lang="zh-CN" altLang="en-US" sz="1800" dirty="0"/>
              <a:t>携带</a:t>
            </a:r>
            <a:r>
              <a:rPr lang="en-US" altLang="zh-CN" sz="1800" dirty="0"/>
              <a:t>Community</a:t>
            </a:r>
            <a:r>
              <a:rPr lang="zh-CN" altLang="en-US" sz="1800" dirty="0"/>
              <a:t>属性值</a:t>
            </a:r>
            <a:r>
              <a:rPr lang="en-US" altLang="zh-CN" sz="1800" dirty="0" smtClean="0"/>
              <a:t>101:1</a:t>
            </a:r>
            <a:r>
              <a:rPr lang="zh-CN" altLang="en-US" sz="1800" dirty="0"/>
              <a:t>，其他</a:t>
            </a:r>
            <a:r>
              <a:rPr lang="zh-CN" altLang="en-US" sz="1800" dirty="0" smtClean="0"/>
              <a:t>路由不</a:t>
            </a:r>
            <a:r>
              <a:rPr lang="zh-CN" altLang="en-US" sz="1800" dirty="0"/>
              <a:t>携带</a:t>
            </a:r>
            <a:r>
              <a:rPr lang="zh-CN" altLang="en-US" sz="1800" dirty="0" smtClean="0"/>
              <a:t>。</a:t>
            </a:r>
            <a:endParaRPr lang="en-US" altLang="zh-CN" sz="1800" dirty="0" smtClean="0"/>
          </a:p>
          <a:p>
            <a:pPr marL="0" indent="0">
              <a:buNone/>
            </a:pPr>
            <a:r>
              <a:rPr lang="zh-CN" altLang="en-US" sz="1800" dirty="0" smtClean="0"/>
              <a:t>在</a:t>
            </a:r>
            <a:r>
              <a:rPr lang="en-US" altLang="zh-CN" sz="1800" dirty="0" smtClean="0"/>
              <a:t>R2</a:t>
            </a:r>
            <a:r>
              <a:rPr lang="zh-CN" altLang="en-US" sz="1800" dirty="0" smtClean="0"/>
              <a:t>上部署路由策略，使其在通告</a:t>
            </a:r>
            <a:r>
              <a:rPr lang="en-US" altLang="zh-CN" sz="1800" dirty="0" smtClean="0"/>
              <a:t>BGP</a:t>
            </a:r>
            <a:r>
              <a:rPr lang="zh-CN" altLang="en-US" sz="1800" dirty="0" smtClean="0"/>
              <a:t>路由</a:t>
            </a:r>
            <a:r>
              <a:rPr lang="en-US" altLang="zh-CN" sz="1800" dirty="0" smtClean="0"/>
              <a:t>10.1.1.1/32</a:t>
            </a:r>
            <a:r>
              <a:rPr lang="zh-CN" altLang="en-US" sz="1800" dirty="0" smtClean="0"/>
              <a:t>时追加</a:t>
            </a:r>
            <a:r>
              <a:rPr lang="en-US" altLang="zh-CN" sz="1800" dirty="0" smtClean="0"/>
              <a:t>Community</a:t>
            </a:r>
            <a:r>
              <a:rPr lang="zh-CN" altLang="en-US" sz="1800" dirty="0" smtClean="0"/>
              <a:t>属性</a:t>
            </a:r>
            <a:r>
              <a:rPr lang="en-US" altLang="zh-CN" sz="1800" dirty="0" smtClean="0"/>
              <a:t>no-expert</a:t>
            </a:r>
            <a:r>
              <a:rPr lang="zh-CN" altLang="en-US" sz="1800" dirty="0" smtClean="0"/>
              <a:t>。</a:t>
            </a:r>
            <a:endParaRPr lang="zh-CN" altLang="en-US" sz="1800" dirty="0"/>
          </a:p>
        </p:txBody>
      </p:sp>
      <p:sp>
        <p:nvSpPr>
          <p:cNvPr id="36" name="五边形 35"/>
          <p:cNvSpPr/>
          <p:nvPr/>
        </p:nvSpPr>
        <p:spPr bwMode="auto">
          <a:xfrm>
            <a:off x="8335082" y="100861"/>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41" name="燕尾形 40"/>
          <p:cNvSpPr/>
          <p:nvPr/>
        </p:nvSpPr>
        <p:spPr bwMode="auto">
          <a:xfrm>
            <a:off x="9029654" y="100861"/>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AS_Path Filter</a:t>
            </a:r>
          </a:p>
        </p:txBody>
      </p:sp>
      <p:sp>
        <p:nvSpPr>
          <p:cNvPr id="42" name="燕尾形 41"/>
          <p:cNvSpPr/>
          <p:nvPr/>
        </p:nvSpPr>
        <p:spPr bwMode="auto">
          <a:xfrm>
            <a:off x="10203025" y="100861"/>
            <a:ext cx="1548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Community Filter</a:t>
            </a:r>
          </a:p>
        </p:txBody>
      </p:sp>
    </p:spTree>
    <p:extLst>
      <p:ext uri="{BB962C8B-B14F-4D97-AF65-F5344CB8AC3E}">
        <p14:creationId xmlns:p14="http://schemas.microsoft.com/office/powerpoint/2010/main" val="250134020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配置</a:t>
            </a:r>
            <a:r>
              <a:rPr lang="en-US" altLang="zh-CN" smtClean="0"/>
              <a:t>Community</a:t>
            </a:r>
            <a:r>
              <a:rPr lang="zh-CN" altLang="en-US" smtClean="0"/>
              <a:t>属性 </a:t>
            </a:r>
            <a:r>
              <a:rPr lang="en-US" altLang="zh-CN" smtClean="0"/>
              <a:t>(3)</a:t>
            </a:r>
            <a:endParaRPr lang="zh-CN" altLang="en-US" dirty="0"/>
          </a:p>
        </p:txBody>
      </p:sp>
      <p:sp>
        <p:nvSpPr>
          <p:cNvPr id="24" name="文本框 23"/>
          <p:cNvSpPr txBox="1"/>
          <p:nvPr/>
        </p:nvSpPr>
        <p:spPr>
          <a:xfrm>
            <a:off x="6799014" y="1745639"/>
            <a:ext cx="4830609" cy="3970318"/>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R3] </a:t>
            </a:r>
            <a:r>
              <a:rPr lang="en-US" altLang="zh-CN" sz="1400" dirty="0">
                <a:solidFill>
                  <a:prstClr val="black"/>
                </a:solidFill>
                <a:cs typeface="Courier New" panose="02070309020205020404" pitchFamily="49" charset="0"/>
              </a:rPr>
              <a:t>bgp </a:t>
            </a:r>
            <a:r>
              <a:rPr lang="en-US" altLang="zh-CN" sz="1400" dirty="0" smtClean="0">
                <a:solidFill>
                  <a:prstClr val="black"/>
                </a:solidFill>
                <a:cs typeface="Courier New" panose="02070309020205020404" pitchFamily="49" charset="0"/>
              </a:rPr>
              <a:t>103</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R3-bgp</a:t>
            </a:r>
            <a:r>
              <a:rPr lang="en-US" altLang="zh-CN" sz="1400" dirty="0">
                <a:solidFill>
                  <a:prstClr val="black"/>
                </a:solidFill>
                <a:cs typeface="Courier New" panose="02070309020205020404" pitchFamily="49" charset="0"/>
              </a:rPr>
              <a:t>] peer </a:t>
            </a:r>
            <a:r>
              <a:rPr lang="en-US" altLang="zh-CN" sz="1400" dirty="0" smtClean="0">
                <a:solidFill>
                  <a:prstClr val="black"/>
                </a:solidFill>
                <a:cs typeface="Courier New" panose="02070309020205020404" pitchFamily="49" charset="0"/>
              </a:rPr>
              <a:t>10.1.23.2 </a:t>
            </a:r>
            <a:r>
              <a:rPr lang="en-US" altLang="zh-CN" sz="1400" dirty="0">
                <a:solidFill>
                  <a:prstClr val="black"/>
                </a:solidFill>
                <a:cs typeface="Courier New" panose="02070309020205020404" pitchFamily="49" charset="0"/>
              </a:rPr>
              <a:t>as-number </a:t>
            </a:r>
            <a:r>
              <a:rPr lang="en-US" altLang="zh-CN" sz="1400" dirty="0" smtClean="0">
                <a:solidFill>
                  <a:prstClr val="black"/>
                </a:solidFill>
                <a:cs typeface="Courier New" panose="02070309020205020404" pitchFamily="49" charset="0"/>
              </a:rPr>
              <a:t>102</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[R3-bgp</a:t>
            </a:r>
            <a:r>
              <a:rPr lang="en-US" altLang="zh-CN" sz="1400" dirty="0" smtClean="0">
                <a:solidFill>
                  <a:prstClr val="black"/>
                </a:solidFill>
                <a:cs typeface="Courier New" panose="02070309020205020404" pitchFamily="49" charset="0"/>
              </a:rPr>
              <a:t>] quit</a:t>
            </a:r>
          </a:p>
          <a:p>
            <a:pPr fontAlgn="auto">
              <a:spcBef>
                <a:spcPts val="0"/>
              </a:spcBef>
              <a:spcAft>
                <a:spcPts val="0"/>
              </a:spcAft>
            </a:pPr>
            <a:endParaRPr lang="en-US" altLang="zh-CN" sz="1400" dirty="0" smtClean="0">
              <a:solidFill>
                <a:prstClr val="black"/>
              </a:solidFill>
              <a:cs typeface="Courier New" panose="02070309020205020404" pitchFamily="49" charset="0"/>
            </a:endParaRPr>
          </a:p>
          <a:p>
            <a:pPr fontAlgn="auto">
              <a:spcBef>
                <a:spcPts val="0"/>
              </a:spcBef>
              <a:spcAft>
                <a:spcPts val="0"/>
              </a:spcAft>
            </a:pPr>
            <a:r>
              <a:rPr lang="en-US" altLang="zh-CN" sz="1400" dirty="0" smtClean="0">
                <a:solidFill>
                  <a:prstClr val="black"/>
                </a:solidFill>
                <a:cs typeface="Courier New" panose="02070309020205020404" pitchFamily="49" charset="0"/>
              </a:rPr>
              <a:t>[</a:t>
            </a:r>
            <a:r>
              <a:rPr lang="en-US" altLang="zh-CN" sz="1400" dirty="0">
                <a:solidFill>
                  <a:prstClr val="black"/>
                </a:solidFill>
                <a:cs typeface="Courier New" panose="02070309020205020404" pitchFamily="49" charset="0"/>
              </a:rPr>
              <a:t>R3</a:t>
            </a:r>
            <a:r>
              <a:rPr lang="en-US" altLang="zh-CN" sz="1400" dirty="0" smtClean="0">
                <a:solidFill>
                  <a:prstClr val="black"/>
                </a:solidFill>
                <a:cs typeface="Courier New" panose="02070309020205020404" pitchFamily="49" charset="0"/>
              </a:rPr>
              <a:t>] display </a:t>
            </a:r>
            <a:r>
              <a:rPr lang="en-US" altLang="zh-CN" sz="1400" dirty="0">
                <a:solidFill>
                  <a:prstClr val="black"/>
                </a:solidFill>
                <a:cs typeface="Courier New" panose="02070309020205020404" pitchFamily="49" charset="0"/>
              </a:rPr>
              <a:t>bgp routing-table 10.1.1.1</a:t>
            </a:r>
          </a:p>
          <a:p>
            <a:pPr fontAlgn="auto">
              <a:spcBef>
                <a:spcPts val="0"/>
              </a:spcBef>
              <a:spcAft>
                <a:spcPts val="0"/>
              </a:spcAft>
            </a:pPr>
            <a:r>
              <a:rPr lang="en-US" altLang="zh-CN" sz="1400" dirty="0" smtClean="0">
                <a:solidFill>
                  <a:prstClr val="black"/>
                </a:solidFill>
                <a:cs typeface="Courier New" panose="02070309020205020404" pitchFamily="49" charset="0"/>
              </a:rPr>
              <a:t> </a:t>
            </a:r>
            <a:r>
              <a:rPr lang="en-US" altLang="zh-CN" sz="1400" dirty="0">
                <a:solidFill>
                  <a:prstClr val="black"/>
                </a:solidFill>
                <a:cs typeface="Courier New" panose="02070309020205020404" pitchFamily="49" charset="0"/>
              </a:rPr>
              <a:t>BGP local router ID : 10.1.23.3</a:t>
            </a:r>
          </a:p>
          <a:p>
            <a:pPr fontAlgn="auto">
              <a:spcBef>
                <a:spcPts val="0"/>
              </a:spcBef>
              <a:spcAft>
                <a:spcPts val="0"/>
              </a:spcAft>
            </a:pPr>
            <a:r>
              <a:rPr lang="en-US" altLang="zh-CN" sz="1400" dirty="0">
                <a:solidFill>
                  <a:prstClr val="black"/>
                </a:solidFill>
                <a:cs typeface="Courier New" panose="02070309020205020404" pitchFamily="49" charset="0"/>
              </a:rPr>
              <a:t> Local AS number : 103</a:t>
            </a:r>
          </a:p>
          <a:p>
            <a:pPr fontAlgn="auto">
              <a:spcBef>
                <a:spcPts val="0"/>
              </a:spcBef>
              <a:spcAft>
                <a:spcPts val="0"/>
              </a:spcAft>
            </a:pPr>
            <a:r>
              <a:rPr lang="en-US" altLang="zh-CN" sz="1400" dirty="0">
                <a:solidFill>
                  <a:prstClr val="black"/>
                </a:solidFill>
                <a:cs typeface="Courier New" panose="02070309020205020404" pitchFamily="49" charset="0"/>
              </a:rPr>
              <a:t> Paths:   1 available, 1 best, 1 select</a:t>
            </a:r>
          </a:p>
          <a:p>
            <a:pPr fontAlgn="auto">
              <a:spcBef>
                <a:spcPts val="0"/>
              </a:spcBef>
              <a:spcAft>
                <a:spcPts val="0"/>
              </a:spcAft>
            </a:pPr>
            <a:r>
              <a:rPr lang="en-US" altLang="zh-CN" sz="1400" dirty="0">
                <a:solidFill>
                  <a:prstClr val="black"/>
                </a:solidFill>
                <a:cs typeface="Courier New" panose="02070309020205020404" pitchFamily="49" charset="0"/>
              </a:rPr>
              <a:t> BGP routing table entry information of 10.1.1.1/32:</a:t>
            </a:r>
          </a:p>
          <a:p>
            <a:pPr fontAlgn="auto">
              <a:spcBef>
                <a:spcPts val="0"/>
              </a:spcBef>
              <a:spcAft>
                <a:spcPts val="0"/>
              </a:spcAft>
            </a:pPr>
            <a:r>
              <a:rPr lang="en-US" altLang="zh-CN" sz="1400" dirty="0">
                <a:solidFill>
                  <a:prstClr val="black"/>
                </a:solidFill>
                <a:cs typeface="Courier New" panose="02070309020205020404" pitchFamily="49" charset="0"/>
              </a:rPr>
              <a:t> From: 10.1.23.2 (10.1.12.2)</a:t>
            </a:r>
          </a:p>
          <a:p>
            <a:pPr fontAlgn="auto">
              <a:spcBef>
                <a:spcPts val="0"/>
              </a:spcBef>
              <a:spcAft>
                <a:spcPts val="0"/>
              </a:spcAft>
            </a:pPr>
            <a:r>
              <a:rPr lang="en-US" altLang="zh-CN" sz="1400" dirty="0">
                <a:solidFill>
                  <a:prstClr val="black"/>
                </a:solidFill>
                <a:cs typeface="Courier New" panose="02070309020205020404" pitchFamily="49" charset="0"/>
              </a:rPr>
              <a:t> Route Duration: 00h00m21s  </a:t>
            </a:r>
          </a:p>
          <a:p>
            <a:pPr fontAlgn="auto">
              <a:spcBef>
                <a:spcPts val="0"/>
              </a:spcBef>
              <a:spcAft>
                <a:spcPts val="0"/>
              </a:spcAft>
            </a:pPr>
            <a:r>
              <a:rPr lang="en-US" altLang="zh-CN" sz="1400" dirty="0">
                <a:solidFill>
                  <a:prstClr val="black"/>
                </a:solidFill>
                <a:cs typeface="Courier New" panose="02070309020205020404" pitchFamily="49" charset="0"/>
              </a:rPr>
              <a:t> Direct Out-interface: GigabitEthernet0/0/2</a:t>
            </a:r>
          </a:p>
          <a:p>
            <a:pPr fontAlgn="auto">
              <a:spcBef>
                <a:spcPts val="0"/>
              </a:spcBef>
              <a:spcAft>
                <a:spcPts val="0"/>
              </a:spcAft>
            </a:pPr>
            <a:r>
              <a:rPr lang="en-US" altLang="zh-CN" sz="1400" dirty="0">
                <a:solidFill>
                  <a:prstClr val="black"/>
                </a:solidFill>
                <a:cs typeface="Courier New" panose="02070309020205020404" pitchFamily="49" charset="0"/>
              </a:rPr>
              <a:t> Original </a:t>
            </a:r>
            <a:r>
              <a:rPr lang="en-US" altLang="zh-CN" sz="1400" dirty="0" err="1">
                <a:solidFill>
                  <a:prstClr val="black"/>
                </a:solidFill>
                <a:cs typeface="Courier New" panose="02070309020205020404" pitchFamily="49" charset="0"/>
              </a:rPr>
              <a:t>nexthop</a:t>
            </a:r>
            <a:r>
              <a:rPr lang="en-US" altLang="zh-CN" sz="1400" dirty="0">
                <a:solidFill>
                  <a:prstClr val="black"/>
                </a:solidFill>
                <a:cs typeface="Courier New" panose="02070309020205020404" pitchFamily="49" charset="0"/>
              </a:rPr>
              <a:t>: 10.1.23.2</a:t>
            </a:r>
          </a:p>
          <a:p>
            <a:pPr fontAlgn="auto">
              <a:spcBef>
                <a:spcPts val="0"/>
              </a:spcBef>
              <a:spcAft>
                <a:spcPts val="0"/>
              </a:spcAft>
            </a:pPr>
            <a:r>
              <a:rPr lang="en-US" altLang="zh-CN" sz="1400" dirty="0">
                <a:solidFill>
                  <a:prstClr val="black"/>
                </a:solidFill>
                <a:cs typeface="Courier New" panose="02070309020205020404" pitchFamily="49" charset="0"/>
              </a:rPr>
              <a:t> </a:t>
            </a:r>
            <a:r>
              <a:rPr lang="en-US" altLang="zh-CN" sz="1400" dirty="0" err="1">
                <a:solidFill>
                  <a:prstClr val="black"/>
                </a:solidFill>
                <a:cs typeface="Courier New" panose="02070309020205020404" pitchFamily="49" charset="0"/>
              </a:rPr>
              <a:t>Qos</a:t>
            </a:r>
            <a:r>
              <a:rPr lang="en-US" altLang="zh-CN" sz="1400" dirty="0">
                <a:solidFill>
                  <a:prstClr val="black"/>
                </a:solidFill>
                <a:cs typeface="Courier New" panose="02070309020205020404" pitchFamily="49" charset="0"/>
              </a:rPr>
              <a:t> information : 0x0</a:t>
            </a:r>
          </a:p>
          <a:p>
            <a:pPr fontAlgn="auto">
              <a:spcBef>
                <a:spcPts val="0"/>
              </a:spcBef>
              <a:spcAft>
                <a:spcPts val="0"/>
              </a:spcAft>
            </a:pPr>
            <a:r>
              <a:rPr lang="en-US" altLang="zh-CN" sz="1400" dirty="0">
                <a:solidFill>
                  <a:srgbClr val="EC7061"/>
                </a:solidFill>
                <a:cs typeface="Courier New" panose="02070309020205020404" pitchFamily="49" charset="0"/>
              </a:rPr>
              <a:t> </a:t>
            </a:r>
            <a:r>
              <a:rPr lang="en-US" altLang="zh-CN" sz="1400" dirty="0">
                <a:solidFill>
                  <a:srgbClr val="C7000B"/>
                </a:solidFill>
                <a:cs typeface="Courier New" panose="02070309020205020404" pitchFamily="49" charset="0"/>
              </a:rPr>
              <a:t>Community:&lt;101:1&gt;, no-export</a:t>
            </a:r>
          </a:p>
          <a:p>
            <a:pPr fontAlgn="auto">
              <a:spcBef>
                <a:spcPts val="0"/>
              </a:spcBef>
              <a:spcAft>
                <a:spcPts val="0"/>
              </a:spcAft>
            </a:pPr>
            <a:r>
              <a:rPr lang="en-US" altLang="zh-CN" sz="1400" dirty="0">
                <a:solidFill>
                  <a:prstClr val="black"/>
                </a:solidFill>
                <a:cs typeface="Courier New" panose="02070309020205020404" pitchFamily="49" charset="0"/>
              </a:rPr>
              <a:t> AS-path 102 101, origin </a:t>
            </a:r>
            <a:r>
              <a:rPr lang="en-US" altLang="zh-CN" sz="1400" dirty="0" err="1">
                <a:solidFill>
                  <a:prstClr val="black"/>
                </a:solidFill>
                <a:cs typeface="Courier New" panose="02070309020205020404" pitchFamily="49" charset="0"/>
              </a:rPr>
              <a:t>igp</a:t>
            </a:r>
            <a:r>
              <a:rPr lang="en-US" altLang="zh-CN" sz="1400" dirty="0">
                <a:solidFill>
                  <a:prstClr val="black"/>
                </a:solidFill>
                <a:cs typeface="Courier New" panose="02070309020205020404" pitchFamily="49" charset="0"/>
              </a:rPr>
              <a:t>, </a:t>
            </a:r>
            <a:r>
              <a:rPr lang="en-US" altLang="zh-CN" sz="1400" dirty="0" err="1">
                <a:solidFill>
                  <a:prstClr val="black"/>
                </a:solidFill>
                <a:cs typeface="Courier New" panose="02070309020205020404" pitchFamily="49" charset="0"/>
              </a:rPr>
              <a:t>pref-val</a:t>
            </a:r>
            <a:r>
              <a:rPr lang="en-US" altLang="zh-CN" sz="1400" dirty="0">
                <a:solidFill>
                  <a:prstClr val="black"/>
                </a:solidFill>
                <a:cs typeface="Courier New" panose="02070309020205020404" pitchFamily="49" charset="0"/>
              </a:rPr>
              <a:t> 0, valid, external, best, select, </a:t>
            </a:r>
            <a:r>
              <a:rPr lang="en-US" altLang="zh-CN" sz="1400" dirty="0" smtClean="0">
                <a:solidFill>
                  <a:prstClr val="black"/>
                </a:solidFill>
                <a:cs typeface="Courier New" panose="02070309020205020404" pitchFamily="49" charset="0"/>
              </a:rPr>
              <a:t>active, pre </a:t>
            </a:r>
            <a:r>
              <a:rPr lang="en-US" altLang="zh-CN" sz="1400" dirty="0">
                <a:solidFill>
                  <a:prstClr val="black"/>
                </a:solidFill>
                <a:cs typeface="Courier New" panose="02070309020205020404" pitchFamily="49" charset="0"/>
              </a:rPr>
              <a:t>255</a:t>
            </a:r>
          </a:p>
          <a:p>
            <a:pPr fontAlgn="auto">
              <a:spcBef>
                <a:spcPts val="0"/>
              </a:spcBef>
              <a:spcAft>
                <a:spcPts val="0"/>
              </a:spcAft>
            </a:pPr>
            <a:r>
              <a:rPr lang="en-US" altLang="zh-CN" sz="1400" dirty="0">
                <a:solidFill>
                  <a:prstClr val="black"/>
                </a:solidFill>
                <a:cs typeface="Courier New" panose="02070309020205020404" pitchFamily="49" charset="0"/>
              </a:rPr>
              <a:t> Not advertised to any peer yet</a:t>
            </a:r>
            <a:endParaRPr lang="en-US" altLang="zh-CN" sz="1400" dirty="0">
              <a:solidFill>
                <a:srgbClr val="EC7061"/>
              </a:solidFill>
              <a:cs typeface="Courier New" panose="02070309020205020404" pitchFamily="49" charset="0"/>
            </a:endParaRPr>
          </a:p>
        </p:txBody>
      </p:sp>
      <p:sp>
        <p:nvSpPr>
          <p:cNvPr id="58" name="文本框 57"/>
          <p:cNvSpPr txBox="1"/>
          <p:nvPr/>
        </p:nvSpPr>
        <p:spPr>
          <a:xfrm>
            <a:off x="6650161" y="1326810"/>
            <a:ext cx="2978701" cy="338554"/>
          </a:xfrm>
          <a:prstGeom prst="rect">
            <a:avLst/>
          </a:prstGeom>
          <a:noFill/>
        </p:spPr>
        <p:txBody>
          <a:bodyPr wrap="none" rtlCol="0">
            <a:spAutoFit/>
          </a:bodyPr>
          <a:lstStyle/>
          <a:p>
            <a:pPr fontAlgn="auto">
              <a:spcBef>
                <a:spcPts val="0"/>
              </a:spcBef>
              <a:spcAft>
                <a:spcPts val="0"/>
              </a:spcAft>
            </a:pPr>
            <a:r>
              <a:rPr lang="en-US" altLang="zh-CN" sz="1600" dirty="0" smtClean="0">
                <a:solidFill>
                  <a:prstClr val="black"/>
                </a:solidFill>
              </a:rPr>
              <a:t>3</a:t>
            </a:r>
            <a:r>
              <a:rPr lang="zh-CN" altLang="en-US" sz="1600" dirty="0" smtClean="0">
                <a:solidFill>
                  <a:prstClr val="black"/>
                </a:solidFill>
              </a:rPr>
              <a:t>、在</a:t>
            </a:r>
            <a:r>
              <a:rPr lang="en-US" altLang="zh-CN" sz="1600" dirty="0" smtClean="0">
                <a:solidFill>
                  <a:prstClr val="black"/>
                </a:solidFill>
              </a:rPr>
              <a:t>R3</a:t>
            </a:r>
            <a:r>
              <a:rPr lang="zh-CN" altLang="en-US" sz="1600" dirty="0" smtClean="0">
                <a:solidFill>
                  <a:prstClr val="black"/>
                </a:solidFill>
              </a:rPr>
              <a:t>上查看</a:t>
            </a:r>
            <a:r>
              <a:rPr lang="en-US" altLang="zh-CN" sz="1600" dirty="0" smtClean="0">
                <a:solidFill>
                  <a:prstClr val="black"/>
                </a:solidFill>
              </a:rPr>
              <a:t>BGP</a:t>
            </a:r>
            <a:r>
              <a:rPr lang="zh-CN" altLang="en-US" sz="1600" dirty="0" smtClean="0">
                <a:solidFill>
                  <a:prstClr val="black"/>
                </a:solidFill>
              </a:rPr>
              <a:t>路由信息。</a:t>
            </a:r>
            <a:endParaRPr lang="zh-CN" altLang="en-US" sz="1600" dirty="0">
              <a:solidFill>
                <a:prstClr val="black"/>
              </a:solidFill>
            </a:endParaRPr>
          </a:p>
        </p:txBody>
      </p:sp>
      <p:sp>
        <p:nvSpPr>
          <p:cNvPr id="61" name="任意多边形 25"/>
          <p:cNvSpPr/>
          <p:nvPr/>
        </p:nvSpPr>
        <p:spPr bwMode="gray">
          <a:xfrm>
            <a:off x="3301098" y="1516987"/>
            <a:ext cx="1282895" cy="1350517"/>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sp>
        <p:nvSpPr>
          <p:cNvPr id="63" name="任意多边形 25"/>
          <p:cNvSpPr/>
          <p:nvPr/>
        </p:nvSpPr>
        <p:spPr bwMode="gray">
          <a:xfrm>
            <a:off x="4903674" y="1515848"/>
            <a:ext cx="1183887" cy="1351778"/>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pic>
        <p:nvPicPr>
          <p:cNvPr id="67" name="图片 6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669560" y="2057865"/>
            <a:ext cx="540000" cy="442800"/>
          </a:xfrm>
          <a:prstGeom prst="rect">
            <a:avLst/>
          </a:prstGeom>
        </p:spPr>
      </p:pic>
      <p:cxnSp>
        <p:nvCxnSpPr>
          <p:cNvPr id="68" name="直接连接符 67"/>
          <p:cNvCxnSpPr>
            <a:stCxn id="67" idx="3"/>
            <a:endCxn id="69" idx="3"/>
          </p:cNvCxnSpPr>
          <p:nvPr/>
        </p:nvCxnSpPr>
        <p:spPr bwMode="gray">
          <a:xfrm>
            <a:off x="4209560" y="2279265"/>
            <a:ext cx="17041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9" name="图片 68"/>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373664" y="2057865"/>
            <a:ext cx="540000" cy="442800"/>
          </a:xfrm>
          <a:prstGeom prst="rect">
            <a:avLst/>
          </a:prstGeom>
        </p:spPr>
      </p:pic>
      <p:sp>
        <p:nvSpPr>
          <p:cNvPr id="70" name="任意多边形 25"/>
          <p:cNvSpPr/>
          <p:nvPr/>
        </p:nvSpPr>
        <p:spPr bwMode="gray">
          <a:xfrm>
            <a:off x="522288" y="1516987"/>
            <a:ext cx="2208768" cy="1350517"/>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pic>
        <p:nvPicPr>
          <p:cNvPr id="71" name="图片 7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886222" y="2057865"/>
            <a:ext cx="540000" cy="442800"/>
          </a:xfrm>
          <a:prstGeom prst="rect">
            <a:avLst/>
          </a:prstGeom>
        </p:spPr>
      </p:pic>
      <p:sp>
        <p:nvSpPr>
          <p:cNvPr id="72" name="TextBox 120">
            <a:extLst>
              <a:ext uri="{FF2B5EF4-FFF2-40B4-BE49-F238E27FC236}">
                <a16:creationId xmlns="" xmlns:a16="http://schemas.microsoft.com/office/drawing/2014/main" id="{020D7A1D-EFAD-4C8C-B9DE-D0FAD269B77A}"/>
              </a:ext>
            </a:extLst>
          </p:cNvPr>
          <p:cNvSpPr txBox="1"/>
          <p:nvPr/>
        </p:nvSpPr>
        <p:spPr bwMode="gray">
          <a:xfrm>
            <a:off x="482039" y="1515848"/>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TextBox 120">
            <a:extLst>
              <a:ext uri="{FF2B5EF4-FFF2-40B4-BE49-F238E27FC236}">
                <a16:creationId xmlns="" xmlns:a16="http://schemas.microsoft.com/office/drawing/2014/main" id="{020D7A1D-EFAD-4C8C-B9DE-D0FAD269B77A}"/>
              </a:ext>
            </a:extLst>
          </p:cNvPr>
          <p:cNvSpPr txBox="1"/>
          <p:nvPr/>
        </p:nvSpPr>
        <p:spPr bwMode="gray">
          <a:xfrm>
            <a:off x="3261107" y="1515848"/>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4" name="直接连接符 73"/>
          <p:cNvCxnSpPr>
            <a:stCxn id="71" idx="3"/>
            <a:endCxn id="67" idx="1"/>
          </p:cNvCxnSpPr>
          <p:nvPr/>
        </p:nvCxnSpPr>
        <p:spPr bwMode="gray">
          <a:xfrm>
            <a:off x="2426222" y="2279265"/>
            <a:ext cx="124333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TextBox 120">
            <a:extLst>
              <a:ext uri="{FF2B5EF4-FFF2-40B4-BE49-F238E27FC236}">
                <a16:creationId xmlns="" xmlns:a16="http://schemas.microsoft.com/office/drawing/2014/main" id="{020D7A1D-EFAD-4C8C-B9DE-D0FAD269B77A}"/>
              </a:ext>
            </a:extLst>
          </p:cNvPr>
          <p:cNvSpPr txBox="1"/>
          <p:nvPr/>
        </p:nvSpPr>
        <p:spPr bwMode="gray">
          <a:xfrm>
            <a:off x="4889573" y="1513506"/>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103</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6" name="直接连接符 75"/>
          <p:cNvCxnSpPr>
            <a:endCxn id="71" idx="1"/>
          </p:cNvCxnSpPr>
          <p:nvPr/>
        </p:nvCxnSpPr>
        <p:spPr bwMode="gray">
          <a:xfrm>
            <a:off x="1771624" y="2276188"/>
            <a:ext cx="114598" cy="30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bwMode="gray">
          <a:xfrm>
            <a:off x="1760895" y="2165488"/>
            <a:ext cx="0" cy="221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TextBox 120">
            <a:extLst>
              <a:ext uri="{FF2B5EF4-FFF2-40B4-BE49-F238E27FC236}">
                <a16:creationId xmlns="" xmlns:a16="http://schemas.microsoft.com/office/drawing/2014/main" id="{020D7A1D-EFAD-4C8C-B9DE-D0FAD269B77A}"/>
              </a:ext>
            </a:extLst>
          </p:cNvPr>
          <p:cNvSpPr txBox="1"/>
          <p:nvPr/>
        </p:nvSpPr>
        <p:spPr bwMode="gray">
          <a:xfrm>
            <a:off x="1735183" y="1808361"/>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TextBox 120">
            <a:extLst>
              <a:ext uri="{FF2B5EF4-FFF2-40B4-BE49-F238E27FC236}">
                <a16:creationId xmlns="" xmlns:a16="http://schemas.microsoft.com/office/drawing/2014/main" id="{020D7A1D-EFAD-4C8C-B9DE-D0FAD269B77A}"/>
              </a:ext>
            </a:extLst>
          </p:cNvPr>
          <p:cNvSpPr txBox="1"/>
          <p:nvPr/>
        </p:nvSpPr>
        <p:spPr bwMode="gray">
          <a:xfrm>
            <a:off x="3535162" y="1808361"/>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TextBox 120">
            <a:extLst>
              <a:ext uri="{FF2B5EF4-FFF2-40B4-BE49-F238E27FC236}">
                <a16:creationId xmlns="" xmlns:a16="http://schemas.microsoft.com/office/drawing/2014/main" id="{020D7A1D-EFAD-4C8C-B9DE-D0FAD269B77A}"/>
              </a:ext>
            </a:extLst>
          </p:cNvPr>
          <p:cNvSpPr txBox="1"/>
          <p:nvPr/>
        </p:nvSpPr>
        <p:spPr bwMode="gray">
          <a:xfrm>
            <a:off x="5230118" y="1802418"/>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R3</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2" name="直接箭头连接符 81"/>
          <p:cNvCxnSpPr/>
          <p:nvPr/>
        </p:nvCxnSpPr>
        <p:spPr bwMode="gray">
          <a:xfrm flipV="1">
            <a:off x="2489816" y="2644643"/>
            <a:ext cx="990470" cy="1"/>
          </a:xfrm>
          <a:prstGeom prst="straightConnector1">
            <a:avLst/>
          </a:prstGeom>
          <a:ln w="28575">
            <a:solidFill>
              <a:srgbClr val="ED6D00"/>
            </a:solidFill>
            <a:tailEnd type="triangle"/>
          </a:ln>
        </p:spPr>
        <p:style>
          <a:lnRef idx="1">
            <a:schemeClr val="accent1"/>
          </a:lnRef>
          <a:fillRef idx="0">
            <a:schemeClr val="accent1"/>
          </a:fillRef>
          <a:effectRef idx="0">
            <a:schemeClr val="accent1"/>
          </a:effectRef>
          <a:fontRef idx="minor">
            <a:schemeClr val="tx1"/>
          </a:fontRef>
        </p:style>
      </p:cxnSp>
      <p:sp>
        <p:nvSpPr>
          <p:cNvPr id="87" name="TextBox 120">
            <a:extLst>
              <a:ext uri="{FF2B5EF4-FFF2-40B4-BE49-F238E27FC236}">
                <a16:creationId xmlns="" xmlns:a16="http://schemas.microsoft.com/office/drawing/2014/main" id="{020D7A1D-EFAD-4C8C-B9DE-D0FAD269B77A}"/>
              </a:ext>
            </a:extLst>
          </p:cNvPr>
          <p:cNvSpPr txBox="1"/>
          <p:nvPr/>
        </p:nvSpPr>
        <p:spPr bwMode="gray">
          <a:xfrm>
            <a:off x="594860" y="1823625"/>
            <a:ext cx="1169713" cy="95410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Loopback0</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10.1.1.1/32</a:t>
            </a:r>
          </a:p>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Loopback1</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10.1.2.2/32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TextBox 120">
            <a:extLst>
              <a:ext uri="{FF2B5EF4-FFF2-40B4-BE49-F238E27FC236}">
                <a16:creationId xmlns="" xmlns:a16="http://schemas.microsoft.com/office/drawing/2014/main" id="{020D7A1D-EFAD-4C8C-B9DE-D0FAD269B77A}"/>
              </a:ext>
            </a:extLst>
          </p:cNvPr>
          <p:cNvSpPr txBox="1"/>
          <p:nvPr/>
        </p:nvSpPr>
        <p:spPr bwMode="gray">
          <a:xfrm>
            <a:off x="2469869" y="2018914"/>
            <a:ext cx="128158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10.1.12.0/24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TextBox 120">
            <a:extLst>
              <a:ext uri="{FF2B5EF4-FFF2-40B4-BE49-F238E27FC236}">
                <a16:creationId xmlns="" xmlns:a16="http://schemas.microsoft.com/office/drawing/2014/main" id="{020D7A1D-EFAD-4C8C-B9DE-D0FAD269B77A}"/>
              </a:ext>
            </a:extLst>
          </p:cNvPr>
          <p:cNvSpPr txBox="1"/>
          <p:nvPr/>
        </p:nvSpPr>
        <p:spPr bwMode="gray">
          <a:xfrm>
            <a:off x="2401750" y="2264002"/>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TextBox 120">
            <a:extLst>
              <a:ext uri="{FF2B5EF4-FFF2-40B4-BE49-F238E27FC236}">
                <a16:creationId xmlns="" xmlns:a16="http://schemas.microsoft.com/office/drawing/2014/main" id="{020D7A1D-EFAD-4C8C-B9DE-D0FAD269B77A}"/>
              </a:ext>
            </a:extLst>
          </p:cNvPr>
          <p:cNvSpPr txBox="1"/>
          <p:nvPr/>
        </p:nvSpPr>
        <p:spPr bwMode="gray">
          <a:xfrm>
            <a:off x="3413415" y="2264002"/>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TextBox 120">
            <a:extLst>
              <a:ext uri="{FF2B5EF4-FFF2-40B4-BE49-F238E27FC236}">
                <a16:creationId xmlns="" xmlns:a16="http://schemas.microsoft.com/office/drawing/2014/main" id="{020D7A1D-EFAD-4C8C-B9DE-D0FAD269B77A}"/>
              </a:ext>
            </a:extLst>
          </p:cNvPr>
          <p:cNvSpPr txBox="1"/>
          <p:nvPr/>
        </p:nvSpPr>
        <p:spPr bwMode="gray">
          <a:xfrm>
            <a:off x="4183974" y="2018914"/>
            <a:ext cx="128158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10.1.23.0/24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TextBox 120">
            <a:extLst>
              <a:ext uri="{FF2B5EF4-FFF2-40B4-BE49-F238E27FC236}">
                <a16:creationId xmlns="" xmlns:a16="http://schemas.microsoft.com/office/drawing/2014/main" id="{020D7A1D-EFAD-4C8C-B9DE-D0FAD269B77A}"/>
              </a:ext>
            </a:extLst>
          </p:cNvPr>
          <p:cNvSpPr txBox="1"/>
          <p:nvPr/>
        </p:nvSpPr>
        <p:spPr bwMode="gray">
          <a:xfrm>
            <a:off x="4115063" y="2264002"/>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TextBox 120">
            <a:extLst>
              <a:ext uri="{FF2B5EF4-FFF2-40B4-BE49-F238E27FC236}">
                <a16:creationId xmlns="" xmlns:a16="http://schemas.microsoft.com/office/drawing/2014/main" id="{020D7A1D-EFAD-4C8C-B9DE-D0FAD269B77A}"/>
              </a:ext>
            </a:extLst>
          </p:cNvPr>
          <p:cNvSpPr txBox="1"/>
          <p:nvPr/>
        </p:nvSpPr>
        <p:spPr bwMode="gray">
          <a:xfrm>
            <a:off x="5127520" y="2264002"/>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4" name="直接箭头连接符 33"/>
          <p:cNvCxnSpPr/>
          <p:nvPr/>
        </p:nvCxnSpPr>
        <p:spPr bwMode="gray">
          <a:xfrm flipV="1">
            <a:off x="4345563" y="2644643"/>
            <a:ext cx="990470" cy="1"/>
          </a:xfrm>
          <a:prstGeom prst="straightConnector1">
            <a:avLst/>
          </a:prstGeom>
          <a:ln w="28575">
            <a:solidFill>
              <a:srgbClr val="ED6D00"/>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120">
            <a:extLst>
              <a:ext uri="{FF2B5EF4-FFF2-40B4-BE49-F238E27FC236}">
                <a16:creationId xmlns="" xmlns:a16="http://schemas.microsoft.com/office/drawing/2014/main" id="{020D7A1D-EFAD-4C8C-B9DE-D0FAD269B77A}"/>
              </a:ext>
            </a:extLst>
          </p:cNvPr>
          <p:cNvSpPr txBox="1"/>
          <p:nvPr/>
        </p:nvSpPr>
        <p:spPr bwMode="auto">
          <a:xfrm>
            <a:off x="3364546" y="2662236"/>
            <a:ext cx="3525948" cy="523220"/>
          </a:xfrm>
          <a:prstGeom prst="rect">
            <a:avLst/>
          </a:prstGeom>
          <a:noFill/>
          <a:ln>
            <a:noFill/>
          </a:ln>
        </p:spPr>
        <p:txBody>
          <a:bodyPr wrap="square" rtlCol="0">
            <a:spAutoFit/>
          </a:bodyPr>
          <a:lstStyle/>
          <a:p>
            <a:r>
              <a:rPr lang="en-US" altLang="zh-CN"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10.1.1.1/32 Community=101:1 no-export</a:t>
            </a:r>
          </a:p>
          <a:p>
            <a:r>
              <a:rPr lang="en-US" altLang="zh-CN"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10.1.2.2/32</a:t>
            </a:r>
            <a:endParaRPr lang="en-US" altLang="zh-CN"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0" name="直接箭头连接符 39"/>
          <p:cNvCxnSpPr/>
          <p:nvPr/>
        </p:nvCxnSpPr>
        <p:spPr bwMode="gray">
          <a:xfrm flipV="1">
            <a:off x="6338670" y="4901777"/>
            <a:ext cx="551824" cy="758194"/>
          </a:xfrm>
          <a:prstGeom prst="straightConnector1">
            <a:avLst/>
          </a:prstGeom>
          <a:ln w="19050">
            <a:solidFill>
              <a:srgbClr val="FDD351"/>
            </a:solidFill>
            <a:tailEnd type="triangle"/>
          </a:ln>
        </p:spPr>
        <p:style>
          <a:lnRef idx="1">
            <a:schemeClr val="accent1"/>
          </a:lnRef>
          <a:fillRef idx="0">
            <a:schemeClr val="accent1"/>
          </a:fillRef>
          <a:effectRef idx="0">
            <a:schemeClr val="accent1"/>
          </a:effectRef>
          <a:fontRef idx="minor">
            <a:schemeClr val="tx1"/>
          </a:fontRef>
        </p:style>
      </p:cxnSp>
      <p:sp>
        <p:nvSpPr>
          <p:cNvPr id="37" name="文本占位符 2"/>
          <p:cNvSpPr txBox="1">
            <a:spLocks/>
          </p:cNvSpPr>
          <p:nvPr/>
        </p:nvSpPr>
        <p:spPr bwMode="gray">
          <a:xfrm>
            <a:off x="472592" y="3374404"/>
            <a:ext cx="5627683" cy="2106889"/>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zh-CN" altLang="en-US" sz="1800" dirty="0"/>
              <a:t>在</a:t>
            </a:r>
            <a:r>
              <a:rPr lang="en-US" altLang="zh-CN" sz="1800" dirty="0"/>
              <a:t>R1</a:t>
            </a:r>
            <a:r>
              <a:rPr lang="zh-CN" altLang="en-US" sz="1800" dirty="0"/>
              <a:t>上部署路由策略，</a:t>
            </a:r>
            <a:r>
              <a:rPr lang="zh-CN" altLang="en-US" sz="1800" dirty="0" smtClean="0"/>
              <a:t>使其</a:t>
            </a:r>
            <a:r>
              <a:rPr lang="zh-CN" altLang="en-US" sz="1800" dirty="0"/>
              <a:t>在通告</a:t>
            </a:r>
            <a:r>
              <a:rPr lang="en-US" altLang="zh-CN" sz="1800" dirty="0"/>
              <a:t>BGP</a:t>
            </a:r>
            <a:r>
              <a:rPr lang="zh-CN" altLang="en-US" sz="1800" dirty="0"/>
              <a:t>路由</a:t>
            </a:r>
            <a:r>
              <a:rPr lang="en-US" altLang="zh-CN" sz="1800" dirty="0" smtClean="0"/>
              <a:t>10.1.1.1/32</a:t>
            </a:r>
            <a:r>
              <a:rPr lang="zh-CN" altLang="en-US" sz="1800" dirty="0" smtClean="0"/>
              <a:t>时</a:t>
            </a:r>
            <a:r>
              <a:rPr lang="zh-CN" altLang="en-US" sz="1800" dirty="0"/>
              <a:t>携带</a:t>
            </a:r>
            <a:r>
              <a:rPr lang="en-US" altLang="zh-CN" sz="1800" dirty="0"/>
              <a:t>Community</a:t>
            </a:r>
            <a:r>
              <a:rPr lang="zh-CN" altLang="en-US" sz="1800" dirty="0"/>
              <a:t>属性值</a:t>
            </a:r>
            <a:r>
              <a:rPr lang="en-US" altLang="zh-CN" sz="1800" dirty="0" smtClean="0"/>
              <a:t>101:1</a:t>
            </a:r>
            <a:r>
              <a:rPr lang="zh-CN" altLang="en-US" sz="1800" dirty="0"/>
              <a:t>，其他</a:t>
            </a:r>
            <a:r>
              <a:rPr lang="zh-CN" altLang="en-US" sz="1800" dirty="0" smtClean="0"/>
              <a:t>路由不</a:t>
            </a:r>
            <a:r>
              <a:rPr lang="zh-CN" altLang="en-US" sz="1800" dirty="0"/>
              <a:t>携带</a:t>
            </a:r>
            <a:r>
              <a:rPr lang="zh-CN" altLang="en-US" sz="1800" dirty="0" smtClean="0"/>
              <a:t>。</a:t>
            </a:r>
            <a:endParaRPr lang="en-US" altLang="zh-CN" sz="1800" dirty="0" smtClean="0"/>
          </a:p>
          <a:p>
            <a:pPr marL="0" indent="0">
              <a:buNone/>
            </a:pPr>
            <a:r>
              <a:rPr lang="zh-CN" altLang="en-US" sz="1800" dirty="0" smtClean="0"/>
              <a:t>在</a:t>
            </a:r>
            <a:r>
              <a:rPr lang="en-US" altLang="zh-CN" sz="1800" dirty="0" smtClean="0"/>
              <a:t>R2</a:t>
            </a:r>
            <a:r>
              <a:rPr lang="zh-CN" altLang="en-US" sz="1800" dirty="0" smtClean="0"/>
              <a:t>上部署路由策略，使其在通告</a:t>
            </a:r>
            <a:r>
              <a:rPr lang="en-US" altLang="zh-CN" sz="1800" dirty="0" smtClean="0"/>
              <a:t>BGP</a:t>
            </a:r>
            <a:r>
              <a:rPr lang="zh-CN" altLang="en-US" sz="1800" dirty="0" smtClean="0"/>
              <a:t>路由</a:t>
            </a:r>
            <a:r>
              <a:rPr lang="en-US" altLang="zh-CN" sz="1800" dirty="0" smtClean="0"/>
              <a:t>10.1.1.1/32</a:t>
            </a:r>
            <a:r>
              <a:rPr lang="zh-CN" altLang="en-US" sz="1800" dirty="0" smtClean="0"/>
              <a:t>时追加</a:t>
            </a:r>
            <a:r>
              <a:rPr lang="en-US" altLang="zh-CN" sz="1800" dirty="0" smtClean="0"/>
              <a:t>Community</a:t>
            </a:r>
            <a:r>
              <a:rPr lang="zh-CN" altLang="en-US" sz="1800" dirty="0" smtClean="0"/>
              <a:t>属性</a:t>
            </a:r>
            <a:r>
              <a:rPr lang="en-US" altLang="zh-CN" sz="1800" dirty="0" smtClean="0"/>
              <a:t>no-expert</a:t>
            </a:r>
            <a:r>
              <a:rPr lang="zh-CN" altLang="en-US" sz="1800" dirty="0" smtClean="0"/>
              <a:t>。</a:t>
            </a:r>
            <a:endParaRPr lang="zh-CN" altLang="en-US" sz="1800" dirty="0"/>
          </a:p>
        </p:txBody>
      </p:sp>
      <p:sp>
        <p:nvSpPr>
          <p:cNvPr id="38" name="五边形 37"/>
          <p:cNvSpPr/>
          <p:nvPr/>
        </p:nvSpPr>
        <p:spPr bwMode="auto">
          <a:xfrm>
            <a:off x="8335082" y="100861"/>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41" name="燕尾形 40"/>
          <p:cNvSpPr/>
          <p:nvPr/>
        </p:nvSpPr>
        <p:spPr bwMode="auto">
          <a:xfrm>
            <a:off x="9029654" y="100861"/>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AS_Path Filter</a:t>
            </a:r>
          </a:p>
        </p:txBody>
      </p:sp>
      <p:sp>
        <p:nvSpPr>
          <p:cNvPr id="45" name="燕尾形 44"/>
          <p:cNvSpPr/>
          <p:nvPr/>
        </p:nvSpPr>
        <p:spPr bwMode="auto">
          <a:xfrm>
            <a:off x="10203025" y="100861"/>
            <a:ext cx="1548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Community Filter</a:t>
            </a:r>
          </a:p>
        </p:txBody>
      </p:sp>
      <p:sp>
        <p:nvSpPr>
          <p:cNvPr id="39" name="文本占位符 3"/>
          <p:cNvSpPr txBox="1">
            <a:spLocks/>
          </p:cNvSpPr>
          <p:nvPr/>
        </p:nvSpPr>
        <p:spPr bwMode="gray">
          <a:xfrm>
            <a:off x="3110660" y="5470021"/>
            <a:ext cx="3349883" cy="679765"/>
          </a:xfrm>
          <a:prstGeom prst="rect">
            <a:avLst/>
          </a:prstGeom>
          <a:solidFill>
            <a:srgbClr val="FFFBEF"/>
          </a:solidFill>
          <a:ln w="9525">
            <a:solidFill>
              <a:srgbClr val="FDD351"/>
            </a:solidFill>
            <a:miter lim="800000"/>
            <a:headEnd/>
            <a:tailEnd/>
          </a:ln>
        </p:spPr>
        <p:txBody>
          <a:bodyPr vert="horz" wrap="square" lIns="108000" tIns="40071" rIns="108000" bIns="40071" numCol="1" anchor="ctr"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zh-CN" altLang="en-US" sz="1600" dirty="0" smtClean="0"/>
              <a:t>在</a:t>
            </a:r>
            <a:r>
              <a:rPr lang="en-US" altLang="zh-CN" sz="1600" dirty="0" smtClean="0"/>
              <a:t>R3</a:t>
            </a:r>
            <a:r>
              <a:rPr lang="zh-CN" altLang="en-US" sz="1600" dirty="0" smtClean="0"/>
              <a:t>上查看</a:t>
            </a:r>
            <a:r>
              <a:rPr lang="en-US" altLang="zh-CN" sz="1600" dirty="0" smtClean="0"/>
              <a:t>10.1.1.1/32</a:t>
            </a:r>
            <a:r>
              <a:rPr lang="zh-CN" altLang="en-US" sz="1600" dirty="0" smtClean="0"/>
              <a:t>路由，发现携带</a:t>
            </a:r>
            <a:r>
              <a:rPr lang="en-US" altLang="zh-CN" sz="1600" dirty="0" smtClean="0"/>
              <a:t>101:1 no-export</a:t>
            </a:r>
            <a:r>
              <a:rPr lang="zh-CN" altLang="en-US" sz="1600" dirty="0"/>
              <a:t>两</a:t>
            </a:r>
            <a:r>
              <a:rPr lang="zh-CN" altLang="en-US" sz="1600" dirty="0" smtClean="0"/>
              <a:t>个团体属性。</a:t>
            </a:r>
          </a:p>
        </p:txBody>
      </p:sp>
    </p:spTree>
    <p:extLst>
      <p:ext uri="{BB962C8B-B14F-4D97-AF65-F5344CB8AC3E}">
        <p14:creationId xmlns:p14="http://schemas.microsoft.com/office/powerpoint/2010/main" val="47774369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配置</a:t>
            </a:r>
            <a:r>
              <a:rPr lang="en-US" altLang="zh-CN" smtClean="0"/>
              <a:t>Community Filter (1)</a:t>
            </a:r>
            <a:endParaRPr lang="zh-CN" altLang="en-US" dirty="0"/>
          </a:p>
        </p:txBody>
      </p:sp>
      <p:sp>
        <p:nvSpPr>
          <p:cNvPr id="3" name="任意多边形 2"/>
          <p:cNvSpPr/>
          <p:nvPr/>
        </p:nvSpPr>
        <p:spPr bwMode="gray">
          <a:xfrm>
            <a:off x="4820440" y="1559567"/>
            <a:ext cx="1304816" cy="1244051"/>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sp>
        <p:nvSpPr>
          <p:cNvPr id="4" name="TextBox 120">
            <a:extLst>
              <a:ext uri="{FF2B5EF4-FFF2-40B4-BE49-F238E27FC236}">
                <a16:creationId xmlns="" xmlns:a16="http://schemas.microsoft.com/office/drawing/2014/main" id="{020D7A1D-EFAD-4C8C-B9DE-D0FAD269B77A}"/>
              </a:ext>
            </a:extLst>
          </p:cNvPr>
          <p:cNvSpPr txBox="1"/>
          <p:nvPr/>
        </p:nvSpPr>
        <p:spPr bwMode="gray">
          <a:xfrm>
            <a:off x="4783790" y="1593220"/>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任意多边形 25"/>
          <p:cNvSpPr/>
          <p:nvPr/>
        </p:nvSpPr>
        <p:spPr bwMode="gray">
          <a:xfrm>
            <a:off x="6968115" y="1559567"/>
            <a:ext cx="1304816" cy="1244051"/>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sp>
        <p:nvSpPr>
          <p:cNvPr id="6" name="TextBox 120">
            <a:extLst>
              <a:ext uri="{FF2B5EF4-FFF2-40B4-BE49-F238E27FC236}">
                <a16:creationId xmlns="" xmlns:a16="http://schemas.microsoft.com/office/drawing/2014/main" id="{020D7A1D-EFAD-4C8C-B9DE-D0FAD269B77A}"/>
              </a:ext>
            </a:extLst>
          </p:cNvPr>
          <p:cNvSpPr txBox="1"/>
          <p:nvPr/>
        </p:nvSpPr>
        <p:spPr bwMode="gray">
          <a:xfrm>
            <a:off x="6931465" y="1593220"/>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103</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任意多边形 25"/>
          <p:cNvSpPr/>
          <p:nvPr/>
        </p:nvSpPr>
        <p:spPr bwMode="gray">
          <a:xfrm>
            <a:off x="516646" y="1559567"/>
            <a:ext cx="1990168" cy="1244051"/>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pic>
        <p:nvPicPr>
          <p:cNvPr id="8" name="图片 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616317" y="2080032"/>
            <a:ext cx="540000" cy="442800"/>
          </a:xfrm>
          <a:prstGeom prst="rect">
            <a:avLst/>
          </a:prstGeom>
        </p:spPr>
      </p:pic>
      <p:cxnSp>
        <p:nvCxnSpPr>
          <p:cNvPr id="9" name="直接连接符 8"/>
          <p:cNvCxnSpPr>
            <a:stCxn id="8" idx="3"/>
            <a:endCxn id="10" idx="1"/>
          </p:cNvCxnSpPr>
          <p:nvPr/>
        </p:nvCxnSpPr>
        <p:spPr bwMode="gray">
          <a:xfrm>
            <a:off x="2156317" y="2301432"/>
            <a:ext cx="311855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图片 9"/>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274869" y="2080032"/>
            <a:ext cx="540000" cy="442800"/>
          </a:xfrm>
          <a:prstGeom prst="rect">
            <a:avLst/>
          </a:prstGeom>
        </p:spPr>
      </p:pic>
      <p:sp>
        <p:nvSpPr>
          <p:cNvPr id="11" name="TextBox 120">
            <a:extLst>
              <a:ext uri="{FF2B5EF4-FFF2-40B4-BE49-F238E27FC236}">
                <a16:creationId xmlns="" xmlns:a16="http://schemas.microsoft.com/office/drawing/2014/main" id="{020D7A1D-EFAD-4C8C-B9DE-D0FAD269B77A}"/>
              </a:ext>
            </a:extLst>
          </p:cNvPr>
          <p:cNvSpPr txBox="1"/>
          <p:nvPr/>
        </p:nvSpPr>
        <p:spPr bwMode="gray">
          <a:xfrm>
            <a:off x="479996" y="1593220"/>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TextBox 120">
            <a:extLst>
              <a:ext uri="{FF2B5EF4-FFF2-40B4-BE49-F238E27FC236}">
                <a16:creationId xmlns="" xmlns:a16="http://schemas.microsoft.com/office/drawing/2014/main" id="{020D7A1D-EFAD-4C8C-B9DE-D0FAD269B77A}"/>
              </a:ext>
            </a:extLst>
          </p:cNvPr>
          <p:cNvSpPr txBox="1"/>
          <p:nvPr/>
        </p:nvSpPr>
        <p:spPr bwMode="gray">
          <a:xfrm>
            <a:off x="1679385" y="1820407"/>
            <a:ext cx="413864" cy="307777"/>
          </a:xfrm>
          <a:prstGeom prst="rect">
            <a:avLst/>
          </a:prstGeom>
          <a:noFill/>
          <a:ln>
            <a:noFill/>
          </a:ln>
        </p:spPr>
        <p:txBody>
          <a:bodyPr wrap="squar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R1</a:t>
            </a:r>
          </a:p>
        </p:txBody>
      </p:sp>
      <p:cxnSp>
        <p:nvCxnSpPr>
          <p:cNvPr id="13" name="直接连接符 12"/>
          <p:cNvCxnSpPr>
            <a:endCxn id="8" idx="1"/>
          </p:cNvCxnSpPr>
          <p:nvPr/>
        </p:nvCxnSpPr>
        <p:spPr bwMode="gray">
          <a:xfrm>
            <a:off x="1367474" y="2301432"/>
            <a:ext cx="24884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gray">
          <a:xfrm>
            <a:off x="1367474" y="2105470"/>
            <a:ext cx="0" cy="3919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20">
            <a:extLst>
              <a:ext uri="{FF2B5EF4-FFF2-40B4-BE49-F238E27FC236}">
                <a16:creationId xmlns="" xmlns:a16="http://schemas.microsoft.com/office/drawing/2014/main" id="{31930744-3D36-4F81-8426-6F129C1A6804}"/>
              </a:ext>
            </a:extLst>
          </p:cNvPr>
          <p:cNvSpPr txBox="1"/>
          <p:nvPr/>
        </p:nvSpPr>
        <p:spPr bwMode="gray">
          <a:xfrm>
            <a:off x="463288" y="2067357"/>
            <a:ext cx="984700" cy="479524"/>
          </a:xfrm>
          <a:prstGeom prst="roundRect">
            <a:avLst>
              <a:gd name="adj" fmla="val 6721"/>
            </a:avLst>
          </a:prstGeom>
          <a:noFill/>
          <a:ln w="12700">
            <a:noFill/>
          </a:ln>
        </p:spPr>
        <p:txBody>
          <a:bodyPr wrap="square" rtlCol="0" anchor="ctr">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10.1.1.1/32</a:t>
            </a:r>
          </a:p>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10.1.2.2/32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TextBox 120">
            <a:extLst>
              <a:ext uri="{FF2B5EF4-FFF2-40B4-BE49-F238E27FC236}">
                <a16:creationId xmlns="" xmlns:a16="http://schemas.microsoft.com/office/drawing/2014/main" id="{020D7A1D-EFAD-4C8C-B9DE-D0FAD269B77A}"/>
              </a:ext>
            </a:extLst>
          </p:cNvPr>
          <p:cNvSpPr txBox="1"/>
          <p:nvPr/>
        </p:nvSpPr>
        <p:spPr bwMode="gray">
          <a:xfrm>
            <a:off x="5341801" y="1820407"/>
            <a:ext cx="413864"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7" name="直接连接符 55"/>
          <p:cNvCxnSpPr/>
          <p:nvPr/>
        </p:nvCxnSpPr>
        <p:spPr bwMode="gray">
          <a:xfrm flipH="1">
            <a:off x="2850606" y="2217431"/>
            <a:ext cx="918225" cy="0"/>
          </a:xfrm>
          <a:prstGeom prst="line">
            <a:avLst/>
          </a:prstGeom>
          <a:solidFill>
            <a:schemeClr val="accent1"/>
          </a:solidFill>
          <a:ln w="38100" cap="flat" cmpd="sng" algn="ctr">
            <a:solidFill>
              <a:schemeClr val="tx1"/>
            </a:solidFill>
            <a:prstDash val="dash"/>
            <a:round/>
            <a:headEnd type="triangle" w="med" len="med"/>
            <a:tailEnd type="none" w="med" len="med"/>
          </a:ln>
          <a:effectLst/>
        </p:spPr>
      </p:cxnSp>
      <p:sp>
        <p:nvSpPr>
          <p:cNvPr id="18" name="TextBox 120">
            <a:extLst>
              <a:ext uri="{FF2B5EF4-FFF2-40B4-BE49-F238E27FC236}">
                <a16:creationId xmlns="" xmlns:a16="http://schemas.microsoft.com/office/drawing/2014/main" id="{020D7A1D-EFAD-4C8C-B9DE-D0FAD269B77A}"/>
              </a:ext>
            </a:extLst>
          </p:cNvPr>
          <p:cNvSpPr txBox="1"/>
          <p:nvPr/>
        </p:nvSpPr>
        <p:spPr bwMode="auto">
          <a:xfrm>
            <a:off x="2173402" y="1451075"/>
            <a:ext cx="3432042" cy="738664"/>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Route:</a:t>
            </a:r>
          </a:p>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10.1.1.1/32 </a:t>
            </a:r>
            <a:r>
              <a:rPr lang="en-US" altLang="zh-CN"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Community=101:1</a:t>
            </a:r>
          </a:p>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10.1.2.2/32 </a:t>
            </a:r>
            <a:r>
              <a:rPr lang="en-US" altLang="zh-CN"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Community=101:2</a:t>
            </a:r>
            <a:endParaRPr lang="en-US" altLang="zh-CN"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9" name="直接连接符 18"/>
          <p:cNvCxnSpPr>
            <a:stCxn id="10" idx="3"/>
            <a:endCxn id="20" idx="1"/>
          </p:cNvCxnSpPr>
          <p:nvPr/>
        </p:nvCxnSpPr>
        <p:spPr bwMode="gray">
          <a:xfrm>
            <a:off x="5814869" y="2301432"/>
            <a:ext cx="156804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0" name="图片 19"/>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382917" y="2080032"/>
            <a:ext cx="540000" cy="442800"/>
          </a:xfrm>
          <a:prstGeom prst="rect">
            <a:avLst/>
          </a:prstGeom>
        </p:spPr>
      </p:pic>
      <p:cxnSp>
        <p:nvCxnSpPr>
          <p:cNvPr id="21" name="直接连接符 55"/>
          <p:cNvCxnSpPr/>
          <p:nvPr/>
        </p:nvCxnSpPr>
        <p:spPr bwMode="gray">
          <a:xfrm flipH="1">
            <a:off x="6060207" y="2217431"/>
            <a:ext cx="918225" cy="0"/>
          </a:xfrm>
          <a:prstGeom prst="line">
            <a:avLst/>
          </a:prstGeom>
          <a:solidFill>
            <a:schemeClr val="accent1"/>
          </a:solidFill>
          <a:ln w="38100" cap="flat" cmpd="sng" algn="ctr">
            <a:solidFill>
              <a:schemeClr val="tx1"/>
            </a:solidFill>
            <a:prstDash val="dash"/>
            <a:round/>
            <a:headEnd type="triangle" w="med" len="med"/>
            <a:tailEnd type="none" w="med" len="med"/>
          </a:ln>
          <a:effectLst/>
        </p:spPr>
      </p:cxnSp>
      <p:sp>
        <p:nvSpPr>
          <p:cNvPr id="23" name="TextBox 120">
            <a:extLst>
              <a:ext uri="{FF2B5EF4-FFF2-40B4-BE49-F238E27FC236}">
                <a16:creationId xmlns="" xmlns:a16="http://schemas.microsoft.com/office/drawing/2014/main" id="{020D7A1D-EFAD-4C8C-B9DE-D0FAD269B77A}"/>
              </a:ext>
            </a:extLst>
          </p:cNvPr>
          <p:cNvSpPr txBox="1"/>
          <p:nvPr/>
        </p:nvSpPr>
        <p:spPr bwMode="gray">
          <a:xfrm>
            <a:off x="7445985" y="1820407"/>
            <a:ext cx="413864"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R3</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框 24"/>
          <p:cNvSpPr txBox="1"/>
          <p:nvPr/>
        </p:nvSpPr>
        <p:spPr>
          <a:xfrm>
            <a:off x="1017100" y="3832088"/>
            <a:ext cx="5078899" cy="307777"/>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R2] ip </a:t>
            </a:r>
            <a:r>
              <a:rPr lang="en-US" altLang="zh-CN" sz="1400" dirty="0">
                <a:solidFill>
                  <a:prstClr val="black"/>
                </a:solidFill>
                <a:cs typeface="Courier New" panose="02070309020205020404" pitchFamily="49" charset="0"/>
              </a:rPr>
              <a:t>community-filter 1 permit</a:t>
            </a:r>
            <a:r>
              <a:rPr lang="en-US" altLang="zh-CN" sz="1400" dirty="0" smtClean="0">
                <a:solidFill>
                  <a:prstClr val="black"/>
                </a:solidFill>
                <a:cs typeface="Courier New" panose="02070309020205020404" pitchFamily="49" charset="0"/>
              </a:rPr>
              <a:t> 101:1</a:t>
            </a:r>
            <a:endParaRPr lang="en-US" altLang="zh-CN" sz="1400" dirty="0">
              <a:solidFill>
                <a:prstClr val="black"/>
              </a:solidFill>
              <a:cs typeface="Courier New" panose="02070309020205020404" pitchFamily="49" charset="0"/>
            </a:endParaRPr>
          </a:p>
        </p:txBody>
      </p:sp>
      <p:sp>
        <p:nvSpPr>
          <p:cNvPr id="34" name="椭圆 33"/>
          <p:cNvSpPr/>
          <p:nvPr/>
        </p:nvSpPr>
        <p:spPr bwMode="gray">
          <a:xfrm>
            <a:off x="5739987" y="2217431"/>
            <a:ext cx="172278" cy="172800"/>
          </a:xfrm>
          <a:prstGeom prst="ellips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120">
            <a:extLst>
              <a:ext uri="{FF2B5EF4-FFF2-40B4-BE49-F238E27FC236}">
                <a16:creationId xmlns="" xmlns:a16="http://schemas.microsoft.com/office/drawing/2014/main" id="{020D7A1D-EFAD-4C8C-B9DE-D0FAD269B77A}"/>
              </a:ext>
            </a:extLst>
          </p:cNvPr>
          <p:cNvSpPr txBox="1"/>
          <p:nvPr/>
        </p:nvSpPr>
        <p:spPr bwMode="gray">
          <a:xfrm>
            <a:off x="2774859" y="2312871"/>
            <a:ext cx="1239372"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10.1.12.0/24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TextBox 120">
            <a:extLst>
              <a:ext uri="{FF2B5EF4-FFF2-40B4-BE49-F238E27FC236}">
                <a16:creationId xmlns="" xmlns:a16="http://schemas.microsoft.com/office/drawing/2014/main" id="{020D7A1D-EFAD-4C8C-B9DE-D0FAD269B77A}"/>
              </a:ext>
            </a:extLst>
          </p:cNvPr>
          <p:cNvSpPr txBox="1"/>
          <p:nvPr/>
        </p:nvSpPr>
        <p:spPr bwMode="gray">
          <a:xfrm>
            <a:off x="2100247" y="2264110"/>
            <a:ext cx="422527"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TextBox 120">
            <a:extLst>
              <a:ext uri="{FF2B5EF4-FFF2-40B4-BE49-F238E27FC236}">
                <a16:creationId xmlns="" xmlns:a16="http://schemas.microsoft.com/office/drawing/2014/main" id="{020D7A1D-EFAD-4C8C-B9DE-D0FAD269B77A}"/>
              </a:ext>
            </a:extLst>
          </p:cNvPr>
          <p:cNvSpPr txBox="1"/>
          <p:nvPr/>
        </p:nvSpPr>
        <p:spPr bwMode="gray">
          <a:xfrm>
            <a:off x="4923418" y="2264110"/>
            <a:ext cx="422527"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TextBox 120">
            <a:extLst>
              <a:ext uri="{FF2B5EF4-FFF2-40B4-BE49-F238E27FC236}">
                <a16:creationId xmlns="" xmlns:a16="http://schemas.microsoft.com/office/drawing/2014/main" id="{020D7A1D-EFAD-4C8C-B9DE-D0FAD269B77A}"/>
              </a:ext>
            </a:extLst>
          </p:cNvPr>
          <p:cNvSpPr txBox="1"/>
          <p:nvPr/>
        </p:nvSpPr>
        <p:spPr bwMode="gray">
          <a:xfrm>
            <a:off x="5786349" y="2264110"/>
            <a:ext cx="422527"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TextBox 120">
            <a:extLst>
              <a:ext uri="{FF2B5EF4-FFF2-40B4-BE49-F238E27FC236}">
                <a16:creationId xmlns="" xmlns:a16="http://schemas.microsoft.com/office/drawing/2014/main" id="{020D7A1D-EFAD-4C8C-B9DE-D0FAD269B77A}"/>
              </a:ext>
            </a:extLst>
          </p:cNvPr>
          <p:cNvSpPr txBox="1"/>
          <p:nvPr/>
        </p:nvSpPr>
        <p:spPr bwMode="gray">
          <a:xfrm>
            <a:off x="7051735" y="2264110"/>
            <a:ext cx="422527"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TextBox 120">
            <a:extLst>
              <a:ext uri="{FF2B5EF4-FFF2-40B4-BE49-F238E27FC236}">
                <a16:creationId xmlns="" xmlns:a16="http://schemas.microsoft.com/office/drawing/2014/main" id="{020D7A1D-EFAD-4C8C-B9DE-D0FAD269B77A}"/>
              </a:ext>
            </a:extLst>
          </p:cNvPr>
          <p:cNvSpPr txBox="1"/>
          <p:nvPr/>
        </p:nvSpPr>
        <p:spPr bwMode="gray">
          <a:xfrm>
            <a:off x="6009661" y="2312871"/>
            <a:ext cx="1239372"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10.1.23.0/24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文本占位符 2"/>
          <p:cNvSpPr txBox="1">
            <a:spLocks/>
          </p:cNvSpPr>
          <p:nvPr/>
        </p:nvSpPr>
        <p:spPr bwMode="auto">
          <a:xfrm>
            <a:off x="8501514" y="1391320"/>
            <a:ext cx="3128109" cy="158054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en-US" altLang="zh-CN" sz="1800" dirty="0"/>
              <a:t>R2</a:t>
            </a:r>
            <a:r>
              <a:rPr lang="zh-CN" altLang="en-US" sz="1800" dirty="0" smtClean="0"/>
              <a:t>传递路由给</a:t>
            </a:r>
            <a:r>
              <a:rPr lang="en-US" altLang="zh-CN" sz="1800" dirty="0" smtClean="0"/>
              <a:t>EBGP</a:t>
            </a:r>
            <a:r>
              <a:rPr lang="zh-CN" altLang="en-US" sz="1800" dirty="0" smtClean="0"/>
              <a:t>对等体</a:t>
            </a:r>
            <a:r>
              <a:rPr lang="en-US" altLang="zh-CN" sz="1800" dirty="0" smtClean="0"/>
              <a:t>R3</a:t>
            </a:r>
            <a:r>
              <a:rPr lang="zh-CN" altLang="en-US" sz="1800" dirty="0" smtClean="0"/>
              <a:t>，在</a:t>
            </a:r>
            <a:r>
              <a:rPr lang="en-US" altLang="zh-CN" sz="1800" dirty="0" smtClean="0"/>
              <a:t>R2</a:t>
            </a:r>
            <a:r>
              <a:rPr lang="zh-CN" altLang="en-US" sz="1800" dirty="0" smtClean="0"/>
              <a:t>上</a:t>
            </a:r>
            <a:r>
              <a:rPr lang="zh-CN" altLang="en-US" sz="1800" dirty="0"/>
              <a:t>部署路由策略，过滤</a:t>
            </a:r>
            <a:r>
              <a:rPr lang="zh-CN" altLang="en-US" sz="1800" dirty="0" smtClean="0"/>
              <a:t>掉携带</a:t>
            </a:r>
            <a:r>
              <a:rPr lang="en-US" altLang="zh-CN" sz="1800" dirty="0" smtClean="0"/>
              <a:t>101:1</a:t>
            </a:r>
            <a:r>
              <a:rPr lang="zh-CN" altLang="en-US" sz="1800" dirty="0" smtClean="0"/>
              <a:t>的</a:t>
            </a:r>
            <a:r>
              <a:rPr lang="en-US" altLang="zh-CN" sz="1800" dirty="0" smtClean="0"/>
              <a:t>Community</a:t>
            </a:r>
            <a:r>
              <a:rPr lang="zh-CN" altLang="en-US" sz="1800" dirty="0" smtClean="0"/>
              <a:t>属性值的路由。</a:t>
            </a:r>
            <a:endParaRPr lang="zh-CN" altLang="en-US" sz="1800" dirty="0"/>
          </a:p>
        </p:txBody>
      </p:sp>
      <p:sp>
        <p:nvSpPr>
          <p:cNvPr id="70" name="文本框 69"/>
          <p:cNvSpPr txBox="1"/>
          <p:nvPr/>
        </p:nvSpPr>
        <p:spPr>
          <a:xfrm>
            <a:off x="670881" y="3410103"/>
            <a:ext cx="6307551" cy="338554"/>
          </a:xfrm>
          <a:prstGeom prst="rect">
            <a:avLst/>
          </a:prstGeom>
          <a:noFill/>
        </p:spPr>
        <p:txBody>
          <a:bodyPr wrap="square" rtlCol="0">
            <a:spAutoFit/>
          </a:bodyPr>
          <a:lstStyle/>
          <a:p>
            <a:pPr fontAlgn="auto">
              <a:spcBef>
                <a:spcPts val="0"/>
              </a:spcBef>
              <a:spcAft>
                <a:spcPts val="0"/>
              </a:spcAft>
            </a:pPr>
            <a:r>
              <a:rPr lang="en-US" altLang="zh-CN" sz="1600" dirty="0">
                <a:solidFill>
                  <a:prstClr val="black"/>
                </a:solidFill>
              </a:rPr>
              <a:t>1</a:t>
            </a:r>
            <a:r>
              <a:rPr lang="zh-CN" altLang="en-US" sz="1600" dirty="0">
                <a:solidFill>
                  <a:prstClr val="black"/>
                </a:solidFill>
              </a:rPr>
              <a:t>、配置</a:t>
            </a:r>
            <a:r>
              <a:rPr lang="en-US" altLang="zh-CN" sz="1600" dirty="0">
                <a:solidFill>
                  <a:prstClr val="black"/>
                </a:solidFill>
              </a:rPr>
              <a:t>Community </a:t>
            </a:r>
            <a:r>
              <a:rPr lang="en-US" altLang="zh-CN" sz="1600" dirty="0" smtClean="0">
                <a:solidFill>
                  <a:prstClr val="black"/>
                </a:solidFill>
              </a:rPr>
              <a:t>Filter</a:t>
            </a:r>
            <a:r>
              <a:rPr lang="zh-CN" altLang="en-US" sz="1600" dirty="0">
                <a:solidFill>
                  <a:prstClr val="black"/>
                </a:solidFill>
              </a:rPr>
              <a:t>，匹配</a:t>
            </a:r>
            <a:r>
              <a:rPr lang="en-US" altLang="zh-CN" sz="1600" dirty="0">
                <a:solidFill>
                  <a:prstClr val="black"/>
                </a:solidFill>
              </a:rPr>
              <a:t>Community</a:t>
            </a:r>
            <a:r>
              <a:rPr lang="zh-CN" altLang="en-US" sz="1600" dirty="0">
                <a:solidFill>
                  <a:prstClr val="black"/>
                </a:solidFill>
              </a:rPr>
              <a:t>中包含</a:t>
            </a:r>
            <a:r>
              <a:rPr lang="en-US" altLang="zh-CN" sz="1600" dirty="0">
                <a:solidFill>
                  <a:prstClr val="black"/>
                </a:solidFill>
              </a:rPr>
              <a:t>101:1</a:t>
            </a:r>
            <a:r>
              <a:rPr lang="zh-CN" altLang="en-US" sz="1600" dirty="0">
                <a:solidFill>
                  <a:prstClr val="black"/>
                </a:solidFill>
              </a:rPr>
              <a:t>的路由。</a:t>
            </a:r>
          </a:p>
        </p:txBody>
      </p:sp>
      <p:sp>
        <p:nvSpPr>
          <p:cNvPr id="73" name="TextBox 120">
            <a:extLst>
              <a:ext uri="{FF2B5EF4-FFF2-40B4-BE49-F238E27FC236}">
                <a16:creationId xmlns="" xmlns:a16="http://schemas.microsoft.com/office/drawing/2014/main" id="{020D7A1D-EFAD-4C8C-B9DE-D0FAD269B77A}"/>
              </a:ext>
            </a:extLst>
          </p:cNvPr>
          <p:cNvSpPr txBox="1"/>
          <p:nvPr/>
        </p:nvSpPr>
        <p:spPr bwMode="auto">
          <a:xfrm>
            <a:off x="5807617" y="1451075"/>
            <a:ext cx="1666645" cy="738664"/>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Route</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10.1.2.2/32 </a:t>
            </a:r>
            <a:r>
              <a:rPr lang="en-US" altLang="zh-CN"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Community=101:2</a:t>
            </a:r>
            <a:endParaRPr lang="en-US" altLang="zh-CN"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椭圆 73"/>
          <p:cNvSpPr/>
          <p:nvPr/>
        </p:nvSpPr>
        <p:spPr bwMode="gray">
          <a:xfrm>
            <a:off x="6947060" y="2942904"/>
            <a:ext cx="150125" cy="152230"/>
          </a:xfrm>
          <a:prstGeom prst="ellips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TextBox 120">
            <a:extLst>
              <a:ext uri="{FF2B5EF4-FFF2-40B4-BE49-F238E27FC236}">
                <a16:creationId xmlns="" xmlns:a16="http://schemas.microsoft.com/office/drawing/2014/main" id="{020D7A1D-EFAD-4C8C-B9DE-D0FAD269B77A}"/>
              </a:ext>
            </a:extLst>
          </p:cNvPr>
          <p:cNvSpPr txBox="1"/>
          <p:nvPr/>
        </p:nvSpPr>
        <p:spPr bwMode="gray">
          <a:xfrm>
            <a:off x="7108597" y="2865132"/>
            <a:ext cx="910791" cy="307777"/>
          </a:xfrm>
          <a:prstGeom prst="rect">
            <a:avLst/>
          </a:prstGeom>
          <a:noFill/>
          <a:ln>
            <a:noFill/>
          </a:ln>
        </p:spPr>
        <p:txBody>
          <a:bodyPr wrap="squar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路由过滤</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文本框 78"/>
          <p:cNvSpPr txBox="1"/>
          <p:nvPr/>
        </p:nvSpPr>
        <p:spPr>
          <a:xfrm>
            <a:off x="1019377" y="4588472"/>
            <a:ext cx="5076622" cy="1600438"/>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smtClean="0">
                <a:solidFill>
                  <a:prstClr val="black"/>
                </a:solidFill>
                <a:cs typeface="Courier New" panose="02070309020205020404" pitchFamily="49" charset="0"/>
              </a:rPr>
              <a:t>[R2] route-policy Community deny </a:t>
            </a:r>
            <a:r>
              <a:rPr lang="en-US" altLang="zh-CN" sz="1400" dirty="0">
                <a:solidFill>
                  <a:prstClr val="black"/>
                </a:solidFill>
                <a:cs typeface="Courier New" panose="02070309020205020404" pitchFamily="49" charset="0"/>
              </a:rPr>
              <a:t>node 10</a:t>
            </a:r>
          </a:p>
          <a:p>
            <a:pPr fontAlgn="auto">
              <a:spcBef>
                <a:spcPts val="0"/>
              </a:spcBef>
              <a:spcAft>
                <a:spcPts val="0"/>
              </a:spcAft>
            </a:pPr>
            <a:r>
              <a:rPr lang="en-US" altLang="zh-CN" sz="1400" dirty="0" smtClean="0">
                <a:solidFill>
                  <a:prstClr val="black"/>
                </a:solidFill>
                <a:cs typeface="Courier New" panose="02070309020205020404" pitchFamily="49" charset="0"/>
              </a:rPr>
              <a:t>[R2-route-policy</a:t>
            </a:r>
            <a:r>
              <a:rPr lang="en-US" altLang="zh-CN" sz="1400" dirty="0">
                <a:solidFill>
                  <a:prstClr val="black"/>
                </a:solidFill>
                <a:cs typeface="Courier New" panose="02070309020205020404" pitchFamily="49" charset="0"/>
              </a:rPr>
              <a:t>] </a:t>
            </a:r>
            <a:r>
              <a:rPr lang="en-US" altLang="zh-CN" sz="1400" dirty="0" smtClean="0">
                <a:solidFill>
                  <a:prstClr val="black"/>
                </a:solidFill>
                <a:cs typeface="Courier New" panose="02070309020205020404" pitchFamily="49" charset="0"/>
              </a:rPr>
              <a:t>if-match community-filter 1</a:t>
            </a:r>
          </a:p>
          <a:p>
            <a:pPr fontAlgn="auto">
              <a:spcBef>
                <a:spcPts val="0"/>
              </a:spcBef>
              <a:spcAft>
                <a:spcPts val="0"/>
              </a:spcAft>
            </a:pPr>
            <a:r>
              <a:rPr lang="en-US" altLang="zh-CN" sz="1400" dirty="0" smtClean="0">
                <a:solidFill>
                  <a:prstClr val="black"/>
                </a:solidFill>
                <a:cs typeface="Courier New" panose="02070309020205020404" pitchFamily="49" charset="0"/>
              </a:rPr>
              <a:t>[R2-route-policy] quit</a:t>
            </a:r>
            <a:endParaRPr lang="en-US" altLang="zh-CN" sz="1400" dirty="0">
              <a:solidFill>
                <a:srgbClr val="EC7061"/>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R2] route-policy </a:t>
            </a:r>
            <a:r>
              <a:rPr lang="en-US" altLang="zh-CN" sz="1400" dirty="0">
                <a:solidFill>
                  <a:prstClr val="black"/>
                </a:solidFill>
                <a:cs typeface="Courier New" panose="02070309020205020404" pitchFamily="49" charset="0"/>
              </a:rPr>
              <a:t>Community</a:t>
            </a:r>
            <a:r>
              <a:rPr lang="en-US" altLang="zh-CN" sz="1400" dirty="0" smtClean="0">
                <a:solidFill>
                  <a:prstClr val="black"/>
                </a:solidFill>
                <a:cs typeface="Courier New" panose="02070309020205020404" pitchFamily="49" charset="0"/>
              </a:rPr>
              <a:t> </a:t>
            </a:r>
            <a:r>
              <a:rPr lang="en-US" altLang="zh-CN" sz="1400" dirty="0">
                <a:solidFill>
                  <a:prstClr val="black"/>
                </a:solidFill>
                <a:cs typeface="Courier New" panose="02070309020205020404" pitchFamily="49" charset="0"/>
              </a:rPr>
              <a:t>permit node 20</a:t>
            </a:r>
          </a:p>
          <a:p>
            <a:r>
              <a:rPr lang="en-US" altLang="zh-CN" sz="1400" dirty="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R2-route-policy</a:t>
            </a:r>
            <a:r>
              <a:rPr lang="en-US" altLang="zh-CN" sz="1400" dirty="0">
                <a:solidFill>
                  <a:prstClr val="black"/>
                </a:solidFill>
                <a:cs typeface="Courier New" panose="02070309020205020404" pitchFamily="49" charset="0"/>
              </a:rPr>
              <a:t>] quit</a:t>
            </a:r>
            <a:endParaRPr lang="en-US" altLang="zh-CN" sz="1400" dirty="0">
              <a:solidFill>
                <a:srgbClr val="EC7061"/>
              </a:solidFill>
              <a:cs typeface="Courier New" panose="02070309020205020404" pitchFamily="49" charset="0"/>
            </a:endParaRPr>
          </a:p>
          <a:p>
            <a:pPr fontAlgn="auto">
              <a:spcBef>
                <a:spcPts val="0"/>
              </a:spcBef>
              <a:spcAft>
                <a:spcPts val="0"/>
              </a:spcAft>
            </a:pPr>
            <a:r>
              <a:rPr lang="en-US" altLang="zh-CN" sz="1400" dirty="0" smtClean="0">
                <a:solidFill>
                  <a:prstClr val="black"/>
                </a:solidFill>
                <a:cs typeface="Courier New" panose="02070309020205020404" pitchFamily="49" charset="0"/>
              </a:rPr>
              <a:t>[R2] bgp 102</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smtClean="0">
                <a:solidFill>
                  <a:prstClr val="black"/>
                </a:solidFill>
                <a:cs typeface="Courier New" panose="02070309020205020404" pitchFamily="49" charset="0"/>
              </a:rPr>
              <a:t>[R2-bgp</a:t>
            </a:r>
            <a:r>
              <a:rPr lang="en-US" altLang="zh-CN" sz="1400" dirty="0">
                <a:solidFill>
                  <a:prstClr val="black"/>
                </a:solidFill>
                <a:cs typeface="Courier New" panose="02070309020205020404" pitchFamily="49" charset="0"/>
              </a:rPr>
              <a:t>] </a:t>
            </a:r>
            <a:r>
              <a:rPr lang="en-US" altLang="zh-CN" sz="1400" dirty="0" smtClean="0">
                <a:solidFill>
                  <a:prstClr val="black"/>
                </a:solidFill>
                <a:cs typeface="Courier New" panose="02070309020205020404" pitchFamily="49" charset="0"/>
              </a:rPr>
              <a:t>peer 10.1.23.3 </a:t>
            </a:r>
            <a:r>
              <a:rPr lang="en-US" altLang="zh-CN" sz="1400" dirty="0">
                <a:solidFill>
                  <a:prstClr val="black"/>
                </a:solidFill>
                <a:cs typeface="Courier New" panose="02070309020205020404" pitchFamily="49" charset="0"/>
              </a:rPr>
              <a:t>route-policy Community</a:t>
            </a:r>
            <a:r>
              <a:rPr lang="en-US" altLang="zh-CN" sz="1400" dirty="0" smtClean="0">
                <a:solidFill>
                  <a:prstClr val="black"/>
                </a:solidFill>
                <a:cs typeface="Courier New" panose="02070309020205020404" pitchFamily="49" charset="0"/>
              </a:rPr>
              <a:t> export</a:t>
            </a:r>
            <a:endParaRPr lang="en-US" altLang="zh-CN" sz="1400" dirty="0">
              <a:solidFill>
                <a:prstClr val="black"/>
              </a:solidFill>
              <a:cs typeface="Courier New" panose="02070309020205020404" pitchFamily="49" charset="0"/>
            </a:endParaRPr>
          </a:p>
        </p:txBody>
      </p:sp>
      <p:sp>
        <p:nvSpPr>
          <p:cNvPr id="80" name="文本框 79"/>
          <p:cNvSpPr txBox="1"/>
          <p:nvPr/>
        </p:nvSpPr>
        <p:spPr>
          <a:xfrm>
            <a:off x="673909" y="4265989"/>
            <a:ext cx="5425118" cy="338554"/>
          </a:xfrm>
          <a:prstGeom prst="rect">
            <a:avLst/>
          </a:prstGeom>
          <a:noFill/>
        </p:spPr>
        <p:txBody>
          <a:bodyPr wrap="square" rtlCol="0">
            <a:spAutoFit/>
          </a:bodyPr>
          <a:lstStyle/>
          <a:p>
            <a:pPr fontAlgn="auto">
              <a:spcBef>
                <a:spcPts val="0"/>
              </a:spcBef>
              <a:spcAft>
                <a:spcPts val="0"/>
              </a:spcAft>
            </a:pPr>
            <a:r>
              <a:rPr lang="en-US" altLang="zh-CN" sz="1600" dirty="0">
                <a:solidFill>
                  <a:prstClr val="black"/>
                </a:solidFill>
              </a:rPr>
              <a:t>2</a:t>
            </a:r>
            <a:r>
              <a:rPr lang="zh-CN" altLang="en-US" sz="1600" dirty="0" smtClean="0">
                <a:solidFill>
                  <a:prstClr val="black"/>
                </a:solidFill>
              </a:rPr>
              <a:t>、调用</a:t>
            </a:r>
            <a:r>
              <a:rPr lang="en-US" altLang="zh-CN" sz="1600" dirty="0" smtClean="0">
                <a:solidFill>
                  <a:prstClr val="black"/>
                </a:solidFill>
              </a:rPr>
              <a:t>Community Filter</a:t>
            </a:r>
            <a:r>
              <a:rPr lang="zh-CN" altLang="en-US" sz="1600" dirty="0" smtClean="0">
                <a:solidFill>
                  <a:prstClr val="black"/>
                </a:solidFill>
              </a:rPr>
              <a:t>。</a:t>
            </a:r>
            <a:endParaRPr lang="zh-CN" altLang="en-US" sz="1600" dirty="0">
              <a:solidFill>
                <a:prstClr val="black"/>
              </a:solidFill>
            </a:endParaRPr>
          </a:p>
        </p:txBody>
      </p:sp>
      <p:sp>
        <p:nvSpPr>
          <p:cNvPr id="81" name="文本框 80"/>
          <p:cNvSpPr txBox="1"/>
          <p:nvPr/>
        </p:nvSpPr>
        <p:spPr>
          <a:xfrm>
            <a:off x="6978432" y="3407470"/>
            <a:ext cx="3609570" cy="338554"/>
          </a:xfrm>
          <a:prstGeom prst="rect">
            <a:avLst/>
          </a:prstGeom>
          <a:noFill/>
        </p:spPr>
        <p:txBody>
          <a:bodyPr wrap="square" rtlCol="0">
            <a:spAutoFit/>
          </a:bodyPr>
          <a:lstStyle/>
          <a:p>
            <a:pPr fontAlgn="auto">
              <a:spcBef>
                <a:spcPts val="0"/>
              </a:spcBef>
              <a:spcAft>
                <a:spcPts val="0"/>
              </a:spcAft>
            </a:pPr>
            <a:r>
              <a:rPr lang="en-US" altLang="zh-CN" sz="1600" dirty="0">
                <a:solidFill>
                  <a:prstClr val="black"/>
                </a:solidFill>
              </a:rPr>
              <a:t>3</a:t>
            </a:r>
            <a:r>
              <a:rPr lang="zh-CN" altLang="en-US" sz="1600" dirty="0" smtClean="0">
                <a:solidFill>
                  <a:prstClr val="black"/>
                </a:solidFill>
              </a:rPr>
              <a:t>、查看</a:t>
            </a:r>
            <a:r>
              <a:rPr lang="en-US" altLang="zh-CN" sz="1600" dirty="0" smtClean="0">
                <a:solidFill>
                  <a:prstClr val="black"/>
                </a:solidFill>
              </a:rPr>
              <a:t>R2</a:t>
            </a:r>
            <a:r>
              <a:rPr lang="zh-CN" altLang="en-US" sz="1600" dirty="0" smtClean="0">
                <a:solidFill>
                  <a:prstClr val="black"/>
                </a:solidFill>
              </a:rPr>
              <a:t>的</a:t>
            </a:r>
            <a:r>
              <a:rPr lang="en-US" altLang="zh-CN" sz="1600" dirty="0" smtClean="0">
                <a:solidFill>
                  <a:prstClr val="black"/>
                </a:solidFill>
              </a:rPr>
              <a:t>Community Filter</a:t>
            </a:r>
            <a:r>
              <a:rPr lang="zh-CN" altLang="en-US" sz="1600" dirty="0" smtClean="0">
                <a:solidFill>
                  <a:prstClr val="black"/>
                </a:solidFill>
              </a:rPr>
              <a:t>信息。</a:t>
            </a:r>
            <a:endParaRPr lang="zh-CN" altLang="en-US" sz="1600" dirty="0">
              <a:solidFill>
                <a:prstClr val="black"/>
              </a:solidFill>
            </a:endParaRPr>
          </a:p>
        </p:txBody>
      </p:sp>
      <p:sp>
        <p:nvSpPr>
          <p:cNvPr id="82" name="文本框 81"/>
          <p:cNvSpPr txBox="1"/>
          <p:nvPr/>
        </p:nvSpPr>
        <p:spPr>
          <a:xfrm>
            <a:off x="7337495" y="3832088"/>
            <a:ext cx="4369209" cy="738664"/>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a:solidFill>
                  <a:prstClr val="black"/>
                </a:solidFill>
                <a:cs typeface="Courier New" panose="02070309020205020404" pitchFamily="49" charset="0"/>
              </a:rPr>
              <a:t>[R2]display ip community-filter 1</a:t>
            </a:r>
          </a:p>
          <a:p>
            <a:pPr fontAlgn="auto">
              <a:spcBef>
                <a:spcPts val="0"/>
              </a:spcBef>
              <a:spcAft>
                <a:spcPts val="0"/>
              </a:spcAft>
            </a:pPr>
            <a:r>
              <a:rPr lang="en-US" altLang="zh-CN" sz="1400" dirty="0">
                <a:solidFill>
                  <a:srgbClr val="C7000B"/>
                </a:solidFill>
                <a:cs typeface="Courier New" panose="02070309020205020404" pitchFamily="49" charset="0"/>
              </a:rPr>
              <a:t>Community filter Number: 1</a:t>
            </a:r>
          </a:p>
          <a:p>
            <a:pPr fontAlgn="auto">
              <a:spcBef>
                <a:spcPts val="0"/>
              </a:spcBef>
              <a:spcAft>
                <a:spcPts val="0"/>
              </a:spcAft>
            </a:pPr>
            <a:r>
              <a:rPr lang="en-US" altLang="zh-CN" sz="1400" dirty="0">
                <a:solidFill>
                  <a:srgbClr val="C7000B"/>
                </a:solidFill>
                <a:cs typeface="Courier New" panose="02070309020205020404" pitchFamily="49" charset="0"/>
              </a:rPr>
              <a:t>         permit 101:1</a:t>
            </a:r>
          </a:p>
        </p:txBody>
      </p:sp>
      <p:sp>
        <p:nvSpPr>
          <p:cNvPr id="44" name="五边形 43"/>
          <p:cNvSpPr/>
          <p:nvPr/>
        </p:nvSpPr>
        <p:spPr bwMode="auto">
          <a:xfrm>
            <a:off x="8335082" y="100861"/>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45" name="燕尾形 44"/>
          <p:cNvSpPr/>
          <p:nvPr/>
        </p:nvSpPr>
        <p:spPr bwMode="auto">
          <a:xfrm>
            <a:off x="9029654" y="100861"/>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AS_Path Filter</a:t>
            </a:r>
          </a:p>
        </p:txBody>
      </p:sp>
      <p:sp>
        <p:nvSpPr>
          <p:cNvPr id="46" name="燕尾形 45"/>
          <p:cNvSpPr/>
          <p:nvPr/>
        </p:nvSpPr>
        <p:spPr bwMode="auto">
          <a:xfrm>
            <a:off x="10203025" y="100861"/>
            <a:ext cx="1548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Community Filter</a:t>
            </a:r>
          </a:p>
        </p:txBody>
      </p:sp>
    </p:spTree>
    <p:extLst>
      <p:ext uri="{BB962C8B-B14F-4D97-AF65-F5344CB8AC3E}">
        <p14:creationId xmlns:p14="http://schemas.microsoft.com/office/powerpoint/2010/main" val="342483415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t>配置</a:t>
            </a:r>
            <a:r>
              <a:rPr lang="en-US" altLang="zh-CN" smtClean="0"/>
              <a:t>Community Filter (2)</a:t>
            </a:r>
            <a:endParaRPr lang="zh-CN" altLang="en-US" dirty="0"/>
          </a:p>
        </p:txBody>
      </p:sp>
      <p:sp>
        <p:nvSpPr>
          <p:cNvPr id="31" name="文本框 30"/>
          <p:cNvSpPr txBox="1"/>
          <p:nvPr/>
        </p:nvSpPr>
        <p:spPr bwMode="gray">
          <a:xfrm>
            <a:off x="670882" y="2945257"/>
            <a:ext cx="3609570" cy="338554"/>
          </a:xfrm>
          <a:prstGeom prst="rect">
            <a:avLst/>
          </a:prstGeom>
          <a:noFill/>
        </p:spPr>
        <p:txBody>
          <a:bodyPr wrap="square" rtlCol="0">
            <a:spAutoFit/>
          </a:bodyPr>
          <a:lstStyle/>
          <a:p>
            <a:pPr fontAlgn="auto">
              <a:spcBef>
                <a:spcPts val="0"/>
              </a:spcBef>
              <a:spcAft>
                <a:spcPts val="0"/>
              </a:spcAft>
            </a:pPr>
            <a:r>
              <a:rPr lang="en-US" altLang="zh-CN" sz="1600" dirty="0" smtClean="0">
                <a:solidFill>
                  <a:prstClr val="black"/>
                </a:solidFill>
              </a:rPr>
              <a:t>4</a:t>
            </a:r>
            <a:r>
              <a:rPr lang="zh-CN" altLang="en-US" sz="1600" dirty="0" smtClean="0">
                <a:solidFill>
                  <a:prstClr val="black"/>
                </a:solidFill>
              </a:rPr>
              <a:t>、</a:t>
            </a:r>
            <a:r>
              <a:rPr lang="zh-CN" altLang="en-US" sz="1600" dirty="0">
                <a:solidFill>
                  <a:prstClr val="black"/>
                </a:solidFill>
              </a:rPr>
              <a:t>查看</a:t>
            </a:r>
            <a:r>
              <a:rPr lang="en-US" altLang="zh-CN" sz="1600" dirty="0">
                <a:solidFill>
                  <a:prstClr val="black"/>
                </a:solidFill>
              </a:rPr>
              <a:t>R2</a:t>
            </a:r>
            <a:r>
              <a:rPr lang="zh-CN" altLang="en-US" sz="1600" dirty="0">
                <a:solidFill>
                  <a:prstClr val="black"/>
                </a:solidFill>
              </a:rPr>
              <a:t>的</a:t>
            </a:r>
            <a:r>
              <a:rPr lang="en-US" altLang="zh-CN" sz="1600" dirty="0">
                <a:solidFill>
                  <a:prstClr val="black"/>
                </a:solidFill>
              </a:rPr>
              <a:t>BGP</a:t>
            </a:r>
            <a:r>
              <a:rPr lang="zh-CN" altLang="en-US" sz="1600" dirty="0">
                <a:solidFill>
                  <a:prstClr val="black"/>
                </a:solidFill>
              </a:rPr>
              <a:t>路由信息。</a:t>
            </a:r>
          </a:p>
        </p:txBody>
      </p:sp>
      <p:sp>
        <p:nvSpPr>
          <p:cNvPr id="69" name="文本占位符 2"/>
          <p:cNvSpPr txBox="1">
            <a:spLocks/>
          </p:cNvSpPr>
          <p:nvPr/>
        </p:nvSpPr>
        <p:spPr bwMode="gray">
          <a:xfrm>
            <a:off x="8501514" y="1391320"/>
            <a:ext cx="3128109" cy="158054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en-US" altLang="zh-CN" sz="1800" dirty="0"/>
              <a:t>R2</a:t>
            </a:r>
            <a:r>
              <a:rPr lang="zh-CN" altLang="en-US" sz="1800" dirty="0"/>
              <a:t>传递路由给</a:t>
            </a:r>
            <a:r>
              <a:rPr lang="en-US" altLang="zh-CN" sz="1800" dirty="0"/>
              <a:t>EBGP</a:t>
            </a:r>
            <a:r>
              <a:rPr lang="zh-CN" altLang="en-US" sz="1800" dirty="0"/>
              <a:t>对等体</a:t>
            </a:r>
            <a:r>
              <a:rPr lang="en-US" altLang="zh-CN" sz="1800" dirty="0"/>
              <a:t>R3</a:t>
            </a:r>
            <a:r>
              <a:rPr lang="zh-CN" altLang="en-US" sz="1800" dirty="0"/>
              <a:t>，在</a:t>
            </a:r>
            <a:r>
              <a:rPr lang="en-US" altLang="zh-CN" sz="1800" dirty="0"/>
              <a:t>R2</a:t>
            </a:r>
            <a:r>
              <a:rPr lang="zh-CN" altLang="en-US" sz="1800" dirty="0"/>
              <a:t>上部署路由策略，过滤掉携带</a:t>
            </a:r>
            <a:r>
              <a:rPr lang="en-US" altLang="zh-CN" sz="1800" dirty="0"/>
              <a:t>101:1</a:t>
            </a:r>
            <a:r>
              <a:rPr lang="zh-CN" altLang="en-US" sz="1800" dirty="0"/>
              <a:t>的</a:t>
            </a:r>
            <a:r>
              <a:rPr lang="en-US" altLang="zh-CN" sz="1800" dirty="0"/>
              <a:t>Community</a:t>
            </a:r>
            <a:r>
              <a:rPr lang="zh-CN" altLang="en-US" sz="1800" dirty="0"/>
              <a:t>属性值的路由。</a:t>
            </a:r>
          </a:p>
        </p:txBody>
      </p:sp>
      <p:sp>
        <p:nvSpPr>
          <p:cNvPr id="43" name="文本框 42"/>
          <p:cNvSpPr txBox="1"/>
          <p:nvPr/>
        </p:nvSpPr>
        <p:spPr bwMode="gray">
          <a:xfrm>
            <a:off x="1015690" y="3287486"/>
            <a:ext cx="7153482" cy="2893100"/>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smtClean="0">
                <a:solidFill>
                  <a:prstClr val="black"/>
                </a:solidFill>
                <a:cs typeface="Courier New" panose="02070309020205020404" pitchFamily="49" charset="0"/>
              </a:rPr>
              <a:t>[R2]dis bgp routing-table 10.1.1.1</a:t>
            </a:r>
          </a:p>
          <a:p>
            <a:pPr fontAlgn="auto">
              <a:spcBef>
                <a:spcPts val="0"/>
              </a:spcBef>
              <a:spcAft>
                <a:spcPts val="0"/>
              </a:spcAft>
            </a:pPr>
            <a:r>
              <a:rPr lang="en-US" altLang="zh-CN" sz="1400" dirty="0" smtClean="0">
                <a:solidFill>
                  <a:prstClr val="black"/>
                </a:solidFill>
                <a:cs typeface="Courier New" panose="02070309020205020404" pitchFamily="49" charset="0"/>
              </a:rPr>
              <a:t> BGP local router ID : 10.1.12.2</a:t>
            </a:r>
          </a:p>
          <a:p>
            <a:pPr fontAlgn="auto">
              <a:spcBef>
                <a:spcPts val="0"/>
              </a:spcBef>
              <a:spcAft>
                <a:spcPts val="0"/>
              </a:spcAft>
            </a:pPr>
            <a:r>
              <a:rPr lang="en-US" altLang="zh-CN" sz="1400" dirty="0" smtClean="0">
                <a:solidFill>
                  <a:prstClr val="black"/>
                </a:solidFill>
                <a:cs typeface="Courier New" panose="02070309020205020404" pitchFamily="49" charset="0"/>
              </a:rPr>
              <a:t> Local AS number : 102</a:t>
            </a:r>
          </a:p>
          <a:p>
            <a:pPr fontAlgn="auto">
              <a:spcBef>
                <a:spcPts val="0"/>
              </a:spcBef>
              <a:spcAft>
                <a:spcPts val="0"/>
              </a:spcAft>
            </a:pPr>
            <a:r>
              <a:rPr lang="en-US" altLang="zh-CN" sz="1400" dirty="0" smtClean="0">
                <a:solidFill>
                  <a:prstClr val="black"/>
                </a:solidFill>
                <a:cs typeface="Courier New" panose="02070309020205020404" pitchFamily="49" charset="0"/>
              </a:rPr>
              <a:t> Paths:   1 available, 1 best, 1 select</a:t>
            </a:r>
          </a:p>
          <a:p>
            <a:pPr fontAlgn="auto">
              <a:spcBef>
                <a:spcPts val="0"/>
              </a:spcBef>
              <a:spcAft>
                <a:spcPts val="0"/>
              </a:spcAft>
            </a:pPr>
            <a:r>
              <a:rPr lang="en-US" altLang="zh-CN" sz="1400" dirty="0" smtClean="0">
                <a:solidFill>
                  <a:prstClr val="black"/>
                </a:solidFill>
                <a:cs typeface="Courier New" panose="02070309020205020404" pitchFamily="49" charset="0"/>
              </a:rPr>
              <a:t> BGP routing table entry information of 10.1.1.1/32:</a:t>
            </a:r>
          </a:p>
          <a:p>
            <a:pPr fontAlgn="auto">
              <a:spcBef>
                <a:spcPts val="0"/>
              </a:spcBef>
              <a:spcAft>
                <a:spcPts val="0"/>
              </a:spcAft>
            </a:pPr>
            <a:r>
              <a:rPr lang="en-US" altLang="zh-CN" sz="1400" dirty="0" smtClean="0">
                <a:solidFill>
                  <a:prstClr val="black"/>
                </a:solidFill>
                <a:cs typeface="Courier New" panose="02070309020205020404" pitchFamily="49" charset="0"/>
              </a:rPr>
              <a:t> From: 10.1.12.1 (10.1.1.1)</a:t>
            </a:r>
          </a:p>
          <a:p>
            <a:pPr fontAlgn="auto">
              <a:spcBef>
                <a:spcPts val="0"/>
              </a:spcBef>
              <a:spcAft>
                <a:spcPts val="0"/>
              </a:spcAft>
            </a:pPr>
            <a:r>
              <a:rPr lang="en-US" altLang="zh-CN" sz="1400" dirty="0" smtClean="0">
                <a:solidFill>
                  <a:prstClr val="black"/>
                </a:solidFill>
                <a:cs typeface="Courier New" panose="02070309020205020404" pitchFamily="49" charset="0"/>
              </a:rPr>
              <a:t> Route Duration: 00h13m39s  </a:t>
            </a:r>
          </a:p>
          <a:p>
            <a:pPr fontAlgn="auto">
              <a:spcBef>
                <a:spcPts val="0"/>
              </a:spcBef>
              <a:spcAft>
                <a:spcPts val="0"/>
              </a:spcAft>
            </a:pPr>
            <a:r>
              <a:rPr lang="en-US" altLang="zh-CN" sz="1400" dirty="0" smtClean="0">
                <a:solidFill>
                  <a:prstClr val="black"/>
                </a:solidFill>
                <a:cs typeface="Courier New" panose="02070309020205020404" pitchFamily="49" charset="0"/>
              </a:rPr>
              <a:t> Direct Out-interface: GigabitEthernet0/0/1</a:t>
            </a:r>
          </a:p>
          <a:p>
            <a:pPr fontAlgn="auto">
              <a:spcBef>
                <a:spcPts val="0"/>
              </a:spcBef>
              <a:spcAft>
                <a:spcPts val="0"/>
              </a:spcAft>
            </a:pPr>
            <a:r>
              <a:rPr lang="en-US" altLang="zh-CN" sz="1400" dirty="0" smtClean="0">
                <a:solidFill>
                  <a:prstClr val="black"/>
                </a:solidFill>
                <a:cs typeface="Courier New" panose="02070309020205020404" pitchFamily="49" charset="0"/>
              </a:rPr>
              <a:t> Original </a:t>
            </a:r>
            <a:r>
              <a:rPr lang="en-US" altLang="zh-CN" sz="1400" dirty="0" err="1" smtClean="0">
                <a:solidFill>
                  <a:prstClr val="black"/>
                </a:solidFill>
                <a:cs typeface="Courier New" panose="02070309020205020404" pitchFamily="49" charset="0"/>
              </a:rPr>
              <a:t>nexthop</a:t>
            </a:r>
            <a:r>
              <a:rPr lang="en-US" altLang="zh-CN" sz="1400" dirty="0" smtClean="0">
                <a:solidFill>
                  <a:prstClr val="black"/>
                </a:solidFill>
                <a:cs typeface="Courier New" panose="02070309020205020404" pitchFamily="49" charset="0"/>
              </a:rPr>
              <a:t>: 10.1.12.1</a:t>
            </a:r>
          </a:p>
          <a:p>
            <a:pPr fontAlgn="auto">
              <a:spcBef>
                <a:spcPts val="0"/>
              </a:spcBef>
              <a:spcAft>
                <a:spcPts val="0"/>
              </a:spcAft>
            </a:pPr>
            <a:r>
              <a:rPr lang="en-US" altLang="zh-CN" sz="1400" dirty="0" smtClean="0">
                <a:solidFill>
                  <a:prstClr val="black"/>
                </a:solidFill>
                <a:cs typeface="Courier New" panose="02070309020205020404" pitchFamily="49" charset="0"/>
              </a:rPr>
              <a:t> </a:t>
            </a:r>
            <a:r>
              <a:rPr lang="en-US" altLang="zh-CN" sz="1400" dirty="0" err="1" smtClean="0">
                <a:solidFill>
                  <a:prstClr val="black"/>
                </a:solidFill>
                <a:cs typeface="Courier New" panose="02070309020205020404" pitchFamily="49" charset="0"/>
              </a:rPr>
              <a:t>Qos</a:t>
            </a:r>
            <a:r>
              <a:rPr lang="en-US" altLang="zh-CN" sz="1400" dirty="0" smtClean="0">
                <a:solidFill>
                  <a:prstClr val="black"/>
                </a:solidFill>
                <a:cs typeface="Courier New" panose="02070309020205020404" pitchFamily="49" charset="0"/>
              </a:rPr>
              <a:t> information : 0x0</a:t>
            </a:r>
          </a:p>
          <a:p>
            <a:pPr fontAlgn="auto">
              <a:spcBef>
                <a:spcPts val="0"/>
              </a:spcBef>
              <a:spcAft>
                <a:spcPts val="0"/>
              </a:spcAft>
            </a:pPr>
            <a:r>
              <a:rPr lang="en-US" altLang="zh-CN" sz="1400" dirty="0" smtClean="0">
                <a:solidFill>
                  <a:prstClr val="black"/>
                </a:solidFill>
                <a:cs typeface="Courier New" panose="02070309020205020404" pitchFamily="49" charset="0"/>
              </a:rPr>
              <a:t> </a:t>
            </a:r>
            <a:r>
              <a:rPr lang="en-US" altLang="zh-CN" sz="1400" dirty="0" smtClean="0">
                <a:solidFill>
                  <a:srgbClr val="C7000B"/>
                </a:solidFill>
                <a:cs typeface="Courier New" panose="02070309020205020404" pitchFamily="49" charset="0"/>
              </a:rPr>
              <a:t>Community:&lt;101:1&gt;</a:t>
            </a:r>
          </a:p>
          <a:p>
            <a:pPr fontAlgn="auto">
              <a:spcBef>
                <a:spcPts val="0"/>
              </a:spcBef>
              <a:spcAft>
                <a:spcPts val="0"/>
              </a:spcAft>
            </a:pPr>
            <a:r>
              <a:rPr lang="en-US" altLang="zh-CN" sz="1400" dirty="0" smtClean="0">
                <a:solidFill>
                  <a:prstClr val="black"/>
                </a:solidFill>
                <a:cs typeface="Courier New" panose="02070309020205020404" pitchFamily="49" charset="0"/>
              </a:rPr>
              <a:t> AS-path 101, origin </a:t>
            </a:r>
            <a:r>
              <a:rPr lang="en-US" altLang="zh-CN" sz="1400" dirty="0" err="1" smtClean="0">
                <a:solidFill>
                  <a:prstClr val="black"/>
                </a:solidFill>
                <a:cs typeface="Courier New" panose="02070309020205020404" pitchFamily="49" charset="0"/>
              </a:rPr>
              <a:t>igp</a:t>
            </a:r>
            <a:r>
              <a:rPr lang="en-US" altLang="zh-CN" sz="1400" dirty="0" smtClean="0">
                <a:solidFill>
                  <a:prstClr val="black"/>
                </a:solidFill>
                <a:cs typeface="Courier New" panose="02070309020205020404" pitchFamily="49" charset="0"/>
              </a:rPr>
              <a:t>, MED 0, </a:t>
            </a:r>
            <a:r>
              <a:rPr lang="en-US" altLang="zh-CN" sz="1400" dirty="0" err="1" smtClean="0">
                <a:solidFill>
                  <a:prstClr val="black"/>
                </a:solidFill>
                <a:cs typeface="Courier New" panose="02070309020205020404" pitchFamily="49" charset="0"/>
              </a:rPr>
              <a:t>pref-val</a:t>
            </a:r>
            <a:r>
              <a:rPr lang="en-US" altLang="zh-CN" sz="1400" dirty="0" smtClean="0">
                <a:solidFill>
                  <a:prstClr val="black"/>
                </a:solidFill>
                <a:cs typeface="Courier New" panose="02070309020205020404" pitchFamily="49" charset="0"/>
              </a:rPr>
              <a:t> 0, valid, external, best, select, active, pre 255</a:t>
            </a:r>
          </a:p>
          <a:p>
            <a:pPr fontAlgn="auto">
              <a:spcBef>
                <a:spcPts val="0"/>
              </a:spcBef>
              <a:spcAft>
                <a:spcPts val="0"/>
              </a:spcAft>
            </a:pPr>
            <a:r>
              <a:rPr lang="en-US" altLang="zh-CN" sz="1400" dirty="0" smtClean="0">
                <a:solidFill>
                  <a:prstClr val="black"/>
                </a:solidFill>
                <a:cs typeface="Courier New" panose="02070309020205020404" pitchFamily="49" charset="0"/>
              </a:rPr>
              <a:t> Not advertised to any peer yet</a:t>
            </a:r>
            <a:endParaRPr lang="en-US" altLang="zh-CN" sz="1400" dirty="0">
              <a:solidFill>
                <a:prstClr val="black"/>
              </a:solidFill>
              <a:cs typeface="Courier New" panose="02070309020205020404" pitchFamily="49" charset="0"/>
            </a:endParaRPr>
          </a:p>
        </p:txBody>
      </p:sp>
      <p:sp>
        <p:nvSpPr>
          <p:cNvPr id="47" name="文本占位符 3"/>
          <p:cNvSpPr txBox="1">
            <a:spLocks/>
          </p:cNvSpPr>
          <p:nvPr/>
        </p:nvSpPr>
        <p:spPr bwMode="gray">
          <a:xfrm>
            <a:off x="8501514" y="4729961"/>
            <a:ext cx="2744242" cy="1450625"/>
          </a:xfrm>
          <a:prstGeom prst="rect">
            <a:avLst/>
          </a:prstGeom>
          <a:solidFill>
            <a:srgbClr val="FFFBEF"/>
          </a:solidFill>
          <a:ln w="9525">
            <a:solidFill>
              <a:srgbClr val="FDD351"/>
            </a:solidFill>
            <a:miter lim="800000"/>
            <a:headEnd/>
            <a:tailEnd/>
          </a:ln>
        </p:spPr>
        <p:txBody>
          <a:bodyPr vert="horz" wrap="square" lIns="108000" tIns="40071" rIns="108000" bIns="40071" numCol="1" anchor="ctr"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zh-CN" altLang="en-US" sz="1600" dirty="0" smtClean="0"/>
              <a:t>在</a:t>
            </a:r>
            <a:r>
              <a:rPr lang="en-US" altLang="zh-CN" sz="1600" dirty="0" smtClean="0"/>
              <a:t>R2</a:t>
            </a:r>
            <a:r>
              <a:rPr lang="zh-CN" altLang="en-US" sz="1600" dirty="0" smtClean="0"/>
              <a:t>上查看</a:t>
            </a:r>
            <a:r>
              <a:rPr lang="en-US" altLang="zh-CN" sz="1600" dirty="0" smtClean="0"/>
              <a:t>10.1.1.1/32</a:t>
            </a:r>
            <a:r>
              <a:rPr lang="zh-CN" altLang="en-US" sz="1600" dirty="0" smtClean="0"/>
              <a:t>路由，发现携带</a:t>
            </a:r>
            <a:r>
              <a:rPr lang="en-US" altLang="zh-CN" sz="1600" dirty="0" smtClean="0"/>
              <a:t>101:1</a:t>
            </a:r>
            <a:r>
              <a:rPr lang="zh-CN" altLang="en-US" sz="1600" dirty="0" smtClean="0"/>
              <a:t>团体属性。</a:t>
            </a:r>
            <a:endParaRPr lang="en-US" altLang="zh-CN" sz="1600" dirty="0" smtClean="0"/>
          </a:p>
          <a:p>
            <a:pPr marL="0" indent="0">
              <a:buNone/>
            </a:pPr>
            <a:r>
              <a:rPr lang="zh-CN" altLang="en-US" sz="1600" dirty="0"/>
              <a:t>通过</a:t>
            </a:r>
            <a:r>
              <a:rPr lang="en-US" altLang="zh-CN" sz="1600" dirty="0"/>
              <a:t>Community Filter</a:t>
            </a:r>
            <a:r>
              <a:rPr lang="zh-CN" altLang="en-US" sz="1600" dirty="0"/>
              <a:t>对其进行过滤</a:t>
            </a:r>
            <a:r>
              <a:rPr lang="zh-CN" altLang="en-US" sz="1600" dirty="0" smtClean="0"/>
              <a:t>。</a:t>
            </a:r>
            <a:endParaRPr lang="zh-CN" altLang="en-US" sz="1600" dirty="0"/>
          </a:p>
        </p:txBody>
      </p:sp>
      <p:cxnSp>
        <p:nvCxnSpPr>
          <p:cNvPr id="48" name="直接箭头连接符 47"/>
          <p:cNvCxnSpPr>
            <a:stCxn id="47" idx="1"/>
          </p:cNvCxnSpPr>
          <p:nvPr/>
        </p:nvCxnSpPr>
        <p:spPr bwMode="invGray">
          <a:xfrm flipH="1">
            <a:off x="7674424" y="5455274"/>
            <a:ext cx="827090" cy="0"/>
          </a:xfrm>
          <a:prstGeom prst="straightConnector1">
            <a:avLst/>
          </a:prstGeom>
          <a:ln w="19050">
            <a:solidFill>
              <a:srgbClr val="FDD351"/>
            </a:solidFill>
            <a:tailEnd type="triangle"/>
          </a:ln>
        </p:spPr>
        <p:style>
          <a:lnRef idx="1">
            <a:schemeClr val="accent1"/>
          </a:lnRef>
          <a:fillRef idx="0">
            <a:schemeClr val="accent1"/>
          </a:fillRef>
          <a:effectRef idx="0">
            <a:schemeClr val="accent1"/>
          </a:effectRef>
          <a:fontRef idx="minor">
            <a:schemeClr val="tx1"/>
          </a:fontRef>
        </p:style>
      </p:cxnSp>
      <p:sp>
        <p:nvSpPr>
          <p:cNvPr id="42" name="五边形 41"/>
          <p:cNvSpPr/>
          <p:nvPr/>
        </p:nvSpPr>
        <p:spPr bwMode="gray">
          <a:xfrm>
            <a:off x="8335082" y="100861"/>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44" name="燕尾形 43"/>
          <p:cNvSpPr/>
          <p:nvPr/>
        </p:nvSpPr>
        <p:spPr bwMode="gray">
          <a:xfrm>
            <a:off x="9029654" y="100861"/>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AS_Path Filter</a:t>
            </a:r>
          </a:p>
        </p:txBody>
      </p:sp>
      <p:sp>
        <p:nvSpPr>
          <p:cNvPr id="45" name="燕尾形 44"/>
          <p:cNvSpPr/>
          <p:nvPr/>
        </p:nvSpPr>
        <p:spPr bwMode="gray">
          <a:xfrm>
            <a:off x="10203025" y="100861"/>
            <a:ext cx="1548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Community Filter</a:t>
            </a:r>
          </a:p>
        </p:txBody>
      </p:sp>
      <p:sp>
        <p:nvSpPr>
          <p:cNvPr id="41" name="任意多边形 40"/>
          <p:cNvSpPr/>
          <p:nvPr/>
        </p:nvSpPr>
        <p:spPr bwMode="gray">
          <a:xfrm>
            <a:off x="4820440" y="1559567"/>
            <a:ext cx="1304816" cy="1244051"/>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sp>
        <p:nvSpPr>
          <p:cNvPr id="51" name="TextBox 120">
            <a:extLst>
              <a:ext uri="{FF2B5EF4-FFF2-40B4-BE49-F238E27FC236}">
                <a16:creationId xmlns="" xmlns:a16="http://schemas.microsoft.com/office/drawing/2014/main" id="{020D7A1D-EFAD-4C8C-B9DE-D0FAD269B77A}"/>
              </a:ext>
            </a:extLst>
          </p:cNvPr>
          <p:cNvSpPr txBox="1"/>
          <p:nvPr/>
        </p:nvSpPr>
        <p:spPr bwMode="gray">
          <a:xfrm>
            <a:off x="4783790" y="1593220"/>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任意多边形 25"/>
          <p:cNvSpPr/>
          <p:nvPr/>
        </p:nvSpPr>
        <p:spPr bwMode="gray">
          <a:xfrm>
            <a:off x="6968115" y="1559567"/>
            <a:ext cx="1304816" cy="1244051"/>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sp>
        <p:nvSpPr>
          <p:cNvPr id="53" name="TextBox 120">
            <a:extLst>
              <a:ext uri="{FF2B5EF4-FFF2-40B4-BE49-F238E27FC236}">
                <a16:creationId xmlns="" xmlns:a16="http://schemas.microsoft.com/office/drawing/2014/main" id="{020D7A1D-EFAD-4C8C-B9DE-D0FAD269B77A}"/>
              </a:ext>
            </a:extLst>
          </p:cNvPr>
          <p:cNvSpPr txBox="1"/>
          <p:nvPr/>
        </p:nvSpPr>
        <p:spPr bwMode="gray">
          <a:xfrm>
            <a:off x="6931465" y="1593220"/>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103</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任意多边形 25"/>
          <p:cNvSpPr/>
          <p:nvPr/>
        </p:nvSpPr>
        <p:spPr bwMode="gray">
          <a:xfrm>
            <a:off x="516646" y="1559567"/>
            <a:ext cx="1990168" cy="1244051"/>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pic>
        <p:nvPicPr>
          <p:cNvPr id="55" name="图片 5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616317" y="2080032"/>
            <a:ext cx="540000" cy="442800"/>
          </a:xfrm>
          <a:prstGeom prst="rect">
            <a:avLst/>
          </a:prstGeom>
        </p:spPr>
      </p:pic>
      <p:cxnSp>
        <p:nvCxnSpPr>
          <p:cNvPr id="56" name="直接连接符 55"/>
          <p:cNvCxnSpPr>
            <a:stCxn id="55" idx="3"/>
            <a:endCxn id="57" idx="1"/>
          </p:cNvCxnSpPr>
          <p:nvPr/>
        </p:nvCxnSpPr>
        <p:spPr bwMode="gray">
          <a:xfrm>
            <a:off x="2156317" y="2301432"/>
            <a:ext cx="311855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7" name="图片 5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274869" y="2080032"/>
            <a:ext cx="540000" cy="442800"/>
          </a:xfrm>
          <a:prstGeom prst="rect">
            <a:avLst/>
          </a:prstGeom>
        </p:spPr>
      </p:pic>
      <p:sp>
        <p:nvSpPr>
          <p:cNvPr id="58" name="TextBox 120">
            <a:extLst>
              <a:ext uri="{FF2B5EF4-FFF2-40B4-BE49-F238E27FC236}">
                <a16:creationId xmlns="" xmlns:a16="http://schemas.microsoft.com/office/drawing/2014/main" id="{020D7A1D-EFAD-4C8C-B9DE-D0FAD269B77A}"/>
              </a:ext>
            </a:extLst>
          </p:cNvPr>
          <p:cNvSpPr txBox="1"/>
          <p:nvPr/>
        </p:nvSpPr>
        <p:spPr bwMode="gray">
          <a:xfrm>
            <a:off x="479996" y="1593220"/>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TextBox 120">
            <a:extLst>
              <a:ext uri="{FF2B5EF4-FFF2-40B4-BE49-F238E27FC236}">
                <a16:creationId xmlns="" xmlns:a16="http://schemas.microsoft.com/office/drawing/2014/main" id="{020D7A1D-EFAD-4C8C-B9DE-D0FAD269B77A}"/>
              </a:ext>
            </a:extLst>
          </p:cNvPr>
          <p:cNvSpPr txBox="1"/>
          <p:nvPr/>
        </p:nvSpPr>
        <p:spPr bwMode="gray">
          <a:xfrm>
            <a:off x="1679385" y="1820407"/>
            <a:ext cx="413864" cy="307777"/>
          </a:xfrm>
          <a:prstGeom prst="rect">
            <a:avLst/>
          </a:prstGeom>
          <a:noFill/>
          <a:ln>
            <a:noFill/>
          </a:ln>
        </p:spPr>
        <p:txBody>
          <a:bodyPr wrap="squar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R1</a:t>
            </a:r>
          </a:p>
        </p:txBody>
      </p:sp>
      <p:cxnSp>
        <p:nvCxnSpPr>
          <p:cNvPr id="60" name="直接连接符 59"/>
          <p:cNvCxnSpPr>
            <a:endCxn id="55" idx="1"/>
          </p:cNvCxnSpPr>
          <p:nvPr/>
        </p:nvCxnSpPr>
        <p:spPr bwMode="gray">
          <a:xfrm>
            <a:off x="1367474" y="2301432"/>
            <a:ext cx="24884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bwMode="gray">
          <a:xfrm>
            <a:off x="1367474" y="2105470"/>
            <a:ext cx="0" cy="3919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TextBox 120">
            <a:extLst>
              <a:ext uri="{FF2B5EF4-FFF2-40B4-BE49-F238E27FC236}">
                <a16:creationId xmlns="" xmlns:a16="http://schemas.microsoft.com/office/drawing/2014/main" id="{31930744-3D36-4F81-8426-6F129C1A6804}"/>
              </a:ext>
            </a:extLst>
          </p:cNvPr>
          <p:cNvSpPr txBox="1"/>
          <p:nvPr/>
        </p:nvSpPr>
        <p:spPr bwMode="gray">
          <a:xfrm>
            <a:off x="463288" y="2067357"/>
            <a:ext cx="984700" cy="479524"/>
          </a:xfrm>
          <a:prstGeom prst="roundRect">
            <a:avLst>
              <a:gd name="adj" fmla="val 6721"/>
            </a:avLst>
          </a:prstGeom>
          <a:noFill/>
          <a:ln w="12700">
            <a:noFill/>
          </a:ln>
        </p:spPr>
        <p:txBody>
          <a:bodyPr wrap="square" rtlCol="0" anchor="ctr">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10.1.1.1/32</a:t>
            </a:r>
          </a:p>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10.1.2.2/32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TextBox 120">
            <a:extLst>
              <a:ext uri="{FF2B5EF4-FFF2-40B4-BE49-F238E27FC236}">
                <a16:creationId xmlns="" xmlns:a16="http://schemas.microsoft.com/office/drawing/2014/main" id="{020D7A1D-EFAD-4C8C-B9DE-D0FAD269B77A}"/>
              </a:ext>
            </a:extLst>
          </p:cNvPr>
          <p:cNvSpPr txBox="1"/>
          <p:nvPr/>
        </p:nvSpPr>
        <p:spPr bwMode="gray">
          <a:xfrm>
            <a:off x="5341801" y="1820407"/>
            <a:ext cx="413864"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4" name="直接连接符 55"/>
          <p:cNvCxnSpPr/>
          <p:nvPr/>
        </p:nvCxnSpPr>
        <p:spPr bwMode="gray">
          <a:xfrm flipH="1">
            <a:off x="2850606" y="2217431"/>
            <a:ext cx="918225" cy="0"/>
          </a:xfrm>
          <a:prstGeom prst="line">
            <a:avLst/>
          </a:prstGeom>
          <a:solidFill>
            <a:schemeClr val="accent1"/>
          </a:solidFill>
          <a:ln w="38100" cap="flat" cmpd="sng" algn="ctr">
            <a:solidFill>
              <a:schemeClr val="tx1"/>
            </a:solidFill>
            <a:prstDash val="dash"/>
            <a:round/>
            <a:headEnd type="triangle" w="med" len="med"/>
            <a:tailEnd type="none" w="med" len="med"/>
          </a:ln>
          <a:effectLst/>
        </p:spPr>
      </p:cxnSp>
      <p:sp>
        <p:nvSpPr>
          <p:cNvPr id="65" name="TextBox 120">
            <a:extLst>
              <a:ext uri="{FF2B5EF4-FFF2-40B4-BE49-F238E27FC236}">
                <a16:creationId xmlns="" xmlns:a16="http://schemas.microsoft.com/office/drawing/2014/main" id="{020D7A1D-EFAD-4C8C-B9DE-D0FAD269B77A}"/>
              </a:ext>
            </a:extLst>
          </p:cNvPr>
          <p:cNvSpPr txBox="1"/>
          <p:nvPr/>
        </p:nvSpPr>
        <p:spPr bwMode="auto">
          <a:xfrm>
            <a:off x="2173402" y="1451075"/>
            <a:ext cx="3432042" cy="738664"/>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Route:</a:t>
            </a:r>
          </a:p>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10.1.1.1/32 </a:t>
            </a:r>
            <a:r>
              <a:rPr lang="en-US" altLang="zh-CN"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Community=101:1</a:t>
            </a:r>
          </a:p>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10.1.2.2/32 </a:t>
            </a:r>
            <a:r>
              <a:rPr lang="en-US" altLang="zh-CN"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Community=101:2</a:t>
            </a:r>
            <a:endParaRPr lang="en-US" altLang="zh-CN"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6" name="直接连接符 65"/>
          <p:cNvCxnSpPr>
            <a:stCxn id="57" idx="3"/>
            <a:endCxn id="67" idx="1"/>
          </p:cNvCxnSpPr>
          <p:nvPr/>
        </p:nvCxnSpPr>
        <p:spPr bwMode="gray">
          <a:xfrm>
            <a:off x="5814869" y="2301432"/>
            <a:ext cx="156804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7" name="图片 6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382917" y="2080032"/>
            <a:ext cx="540000" cy="442800"/>
          </a:xfrm>
          <a:prstGeom prst="rect">
            <a:avLst/>
          </a:prstGeom>
        </p:spPr>
      </p:pic>
      <p:cxnSp>
        <p:nvCxnSpPr>
          <p:cNvPr id="68" name="直接连接符 55"/>
          <p:cNvCxnSpPr/>
          <p:nvPr/>
        </p:nvCxnSpPr>
        <p:spPr bwMode="gray">
          <a:xfrm flipH="1">
            <a:off x="6060207" y="2217431"/>
            <a:ext cx="918225" cy="0"/>
          </a:xfrm>
          <a:prstGeom prst="line">
            <a:avLst/>
          </a:prstGeom>
          <a:solidFill>
            <a:schemeClr val="accent1"/>
          </a:solidFill>
          <a:ln w="38100" cap="flat" cmpd="sng" algn="ctr">
            <a:solidFill>
              <a:schemeClr val="tx1"/>
            </a:solidFill>
            <a:prstDash val="dash"/>
            <a:round/>
            <a:headEnd type="triangle" w="med" len="med"/>
            <a:tailEnd type="none" w="med" len="med"/>
          </a:ln>
          <a:effectLst/>
        </p:spPr>
      </p:cxnSp>
      <p:sp>
        <p:nvSpPr>
          <p:cNvPr id="70" name="TextBox 120">
            <a:extLst>
              <a:ext uri="{FF2B5EF4-FFF2-40B4-BE49-F238E27FC236}">
                <a16:creationId xmlns="" xmlns:a16="http://schemas.microsoft.com/office/drawing/2014/main" id="{020D7A1D-EFAD-4C8C-B9DE-D0FAD269B77A}"/>
              </a:ext>
            </a:extLst>
          </p:cNvPr>
          <p:cNvSpPr txBox="1"/>
          <p:nvPr/>
        </p:nvSpPr>
        <p:spPr bwMode="gray">
          <a:xfrm>
            <a:off x="7445985" y="1820407"/>
            <a:ext cx="413864"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R3</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椭圆 70"/>
          <p:cNvSpPr/>
          <p:nvPr/>
        </p:nvSpPr>
        <p:spPr bwMode="gray">
          <a:xfrm>
            <a:off x="5739987" y="2217431"/>
            <a:ext cx="172278" cy="172800"/>
          </a:xfrm>
          <a:prstGeom prst="ellips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TextBox 120">
            <a:extLst>
              <a:ext uri="{FF2B5EF4-FFF2-40B4-BE49-F238E27FC236}">
                <a16:creationId xmlns="" xmlns:a16="http://schemas.microsoft.com/office/drawing/2014/main" id="{020D7A1D-EFAD-4C8C-B9DE-D0FAD269B77A}"/>
              </a:ext>
            </a:extLst>
          </p:cNvPr>
          <p:cNvSpPr txBox="1"/>
          <p:nvPr/>
        </p:nvSpPr>
        <p:spPr bwMode="gray">
          <a:xfrm>
            <a:off x="2774859" y="2312871"/>
            <a:ext cx="1239372"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10.1.12.0/24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TextBox 120">
            <a:extLst>
              <a:ext uri="{FF2B5EF4-FFF2-40B4-BE49-F238E27FC236}">
                <a16:creationId xmlns="" xmlns:a16="http://schemas.microsoft.com/office/drawing/2014/main" id="{020D7A1D-EFAD-4C8C-B9DE-D0FAD269B77A}"/>
              </a:ext>
            </a:extLst>
          </p:cNvPr>
          <p:cNvSpPr txBox="1"/>
          <p:nvPr/>
        </p:nvSpPr>
        <p:spPr bwMode="gray">
          <a:xfrm>
            <a:off x="2100247" y="2264110"/>
            <a:ext cx="422527"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TextBox 120">
            <a:extLst>
              <a:ext uri="{FF2B5EF4-FFF2-40B4-BE49-F238E27FC236}">
                <a16:creationId xmlns="" xmlns:a16="http://schemas.microsoft.com/office/drawing/2014/main" id="{020D7A1D-EFAD-4C8C-B9DE-D0FAD269B77A}"/>
              </a:ext>
            </a:extLst>
          </p:cNvPr>
          <p:cNvSpPr txBox="1"/>
          <p:nvPr/>
        </p:nvSpPr>
        <p:spPr bwMode="gray">
          <a:xfrm>
            <a:off x="4923418" y="2264110"/>
            <a:ext cx="422527"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TextBox 120">
            <a:extLst>
              <a:ext uri="{FF2B5EF4-FFF2-40B4-BE49-F238E27FC236}">
                <a16:creationId xmlns="" xmlns:a16="http://schemas.microsoft.com/office/drawing/2014/main" id="{020D7A1D-EFAD-4C8C-B9DE-D0FAD269B77A}"/>
              </a:ext>
            </a:extLst>
          </p:cNvPr>
          <p:cNvSpPr txBox="1"/>
          <p:nvPr/>
        </p:nvSpPr>
        <p:spPr bwMode="gray">
          <a:xfrm>
            <a:off x="5786349" y="2264110"/>
            <a:ext cx="422527"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TextBox 120">
            <a:extLst>
              <a:ext uri="{FF2B5EF4-FFF2-40B4-BE49-F238E27FC236}">
                <a16:creationId xmlns="" xmlns:a16="http://schemas.microsoft.com/office/drawing/2014/main" id="{020D7A1D-EFAD-4C8C-B9DE-D0FAD269B77A}"/>
              </a:ext>
            </a:extLst>
          </p:cNvPr>
          <p:cNvSpPr txBox="1"/>
          <p:nvPr/>
        </p:nvSpPr>
        <p:spPr bwMode="gray">
          <a:xfrm>
            <a:off x="7051735" y="2264110"/>
            <a:ext cx="422527"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TextBox 120">
            <a:extLst>
              <a:ext uri="{FF2B5EF4-FFF2-40B4-BE49-F238E27FC236}">
                <a16:creationId xmlns="" xmlns:a16="http://schemas.microsoft.com/office/drawing/2014/main" id="{020D7A1D-EFAD-4C8C-B9DE-D0FAD269B77A}"/>
              </a:ext>
            </a:extLst>
          </p:cNvPr>
          <p:cNvSpPr txBox="1"/>
          <p:nvPr/>
        </p:nvSpPr>
        <p:spPr bwMode="gray">
          <a:xfrm>
            <a:off x="6009661" y="2312871"/>
            <a:ext cx="1239372"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10.1.23.0/24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TextBox 120">
            <a:extLst>
              <a:ext uri="{FF2B5EF4-FFF2-40B4-BE49-F238E27FC236}">
                <a16:creationId xmlns="" xmlns:a16="http://schemas.microsoft.com/office/drawing/2014/main" id="{020D7A1D-EFAD-4C8C-B9DE-D0FAD269B77A}"/>
              </a:ext>
            </a:extLst>
          </p:cNvPr>
          <p:cNvSpPr txBox="1"/>
          <p:nvPr/>
        </p:nvSpPr>
        <p:spPr bwMode="auto">
          <a:xfrm>
            <a:off x="5807617" y="1451075"/>
            <a:ext cx="1666645" cy="738664"/>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Route</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10.1.2.2/32 </a:t>
            </a:r>
            <a:r>
              <a:rPr lang="en-US" altLang="zh-CN"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Community=101:2</a:t>
            </a:r>
            <a:endParaRPr lang="en-US" altLang="zh-CN"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椭圆 78"/>
          <p:cNvSpPr/>
          <p:nvPr/>
        </p:nvSpPr>
        <p:spPr bwMode="gray">
          <a:xfrm>
            <a:off x="6947060" y="2942904"/>
            <a:ext cx="150125" cy="152230"/>
          </a:xfrm>
          <a:prstGeom prst="ellips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TextBox 120">
            <a:extLst>
              <a:ext uri="{FF2B5EF4-FFF2-40B4-BE49-F238E27FC236}">
                <a16:creationId xmlns="" xmlns:a16="http://schemas.microsoft.com/office/drawing/2014/main" id="{020D7A1D-EFAD-4C8C-B9DE-D0FAD269B77A}"/>
              </a:ext>
            </a:extLst>
          </p:cNvPr>
          <p:cNvSpPr txBox="1"/>
          <p:nvPr/>
        </p:nvSpPr>
        <p:spPr bwMode="gray">
          <a:xfrm>
            <a:off x="7108597" y="2865132"/>
            <a:ext cx="910791" cy="307777"/>
          </a:xfrm>
          <a:prstGeom prst="rect">
            <a:avLst/>
          </a:prstGeom>
          <a:noFill/>
          <a:ln>
            <a:noFill/>
          </a:ln>
        </p:spPr>
        <p:txBody>
          <a:bodyPr wrap="squar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路由过滤</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17175178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文本框 42"/>
          <p:cNvSpPr txBox="1"/>
          <p:nvPr/>
        </p:nvSpPr>
        <p:spPr bwMode="gray">
          <a:xfrm>
            <a:off x="1094401" y="3474102"/>
            <a:ext cx="7153482" cy="1815882"/>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a:solidFill>
                  <a:prstClr val="black"/>
                </a:solidFill>
                <a:cs typeface="Courier New" panose="02070309020205020404" pitchFamily="49" charset="0"/>
              </a:rPr>
              <a:t>[R3]display bgp routing-table </a:t>
            </a:r>
          </a:p>
          <a:p>
            <a:pPr fontAlgn="auto">
              <a:spcBef>
                <a:spcPts val="0"/>
              </a:spcBef>
              <a:spcAft>
                <a:spcPts val="0"/>
              </a:spcAft>
            </a:pPr>
            <a:r>
              <a:rPr lang="en-US" altLang="zh-CN" sz="1400" dirty="0" smtClean="0">
                <a:solidFill>
                  <a:prstClr val="black"/>
                </a:solidFill>
                <a:cs typeface="Courier New" panose="02070309020205020404" pitchFamily="49" charset="0"/>
              </a:rPr>
              <a:t> </a:t>
            </a:r>
            <a:r>
              <a:rPr lang="en-US" altLang="zh-CN" sz="1400" dirty="0">
                <a:solidFill>
                  <a:prstClr val="black"/>
                </a:solidFill>
                <a:cs typeface="Courier New" panose="02070309020205020404" pitchFamily="49" charset="0"/>
              </a:rPr>
              <a:t>BGP Local router ID is 10.1.23.3 </a:t>
            </a:r>
          </a:p>
          <a:p>
            <a:pPr fontAlgn="auto">
              <a:spcBef>
                <a:spcPts val="0"/>
              </a:spcBef>
              <a:spcAft>
                <a:spcPts val="0"/>
              </a:spcAft>
            </a:pPr>
            <a:r>
              <a:rPr lang="en-US" altLang="zh-CN" sz="1400" dirty="0">
                <a:solidFill>
                  <a:prstClr val="black"/>
                </a:solidFill>
                <a:cs typeface="Courier New" panose="02070309020205020404" pitchFamily="49" charset="0"/>
              </a:rPr>
              <a:t> Status codes: * - valid, &gt; - best, d - damped,</a:t>
            </a:r>
          </a:p>
          <a:p>
            <a:pPr fontAlgn="auto">
              <a:spcBef>
                <a:spcPts val="0"/>
              </a:spcBef>
              <a:spcAft>
                <a:spcPts val="0"/>
              </a:spcAft>
            </a:pPr>
            <a:r>
              <a:rPr lang="en-US" altLang="zh-CN" sz="1400" dirty="0">
                <a:solidFill>
                  <a:prstClr val="black"/>
                </a:solidFill>
                <a:cs typeface="Courier New" panose="02070309020205020404" pitchFamily="49" charset="0"/>
              </a:rPr>
              <a:t>               h - history,  </a:t>
            </a:r>
            <a:r>
              <a:rPr lang="en-US" altLang="zh-CN" sz="1400" dirty="0" err="1">
                <a:solidFill>
                  <a:prstClr val="black"/>
                </a:solidFill>
                <a:cs typeface="Courier New" panose="02070309020205020404" pitchFamily="49" charset="0"/>
              </a:rPr>
              <a:t>i</a:t>
            </a:r>
            <a:r>
              <a:rPr lang="en-US" altLang="zh-CN" sz="1400" dirty="0">
                <a:solidFill>
                  <a:prstClr val="black"/>
                </a:solidFill>
                <a:cs typeface="Courier New" panose="02070309020205020404" pitchFamily="49" charset="0"/>
              </a:rPr>
              <a:t> - internal, s - suppressed, S - Stale</a:t>
            </a:r>
          </a:p>
          <a:p>
            <a:pPr fontAlgn="auto">
              <a:spcBef>
                <a:spcPts val="0"/>
              </a:spcBef>
              <a:spcAft>
                <a:spcPts val="0"/>
              </a:spcAft>
            </a:pPr>
            <a:r>
              <a:rPr lang="en-US" altLang="zh-CN" sz="1400" dirty="0">
                <a:solidFill>
                  <a:prstClr val="black"/>
                </a:solidFill>
                <a:cs typeface="Courier New" panose="02070309020205020404" pitchFamily="49" charset="0"/>
              </a:rPr>
              <a:t>               Origin : </a:t>
            </a:r>
            <a:r>
              <a:rPr lang="en-US" altLang="zh-CN" sz="1400" dirty="0" err="1">
                <a:solidFill>
                  <a:prstClr val="black"/>
                </a:solidFill>
                <a:cs typeface="Courier New" panose="02070309020205020404" pitchFamily="49" charset="0"/>
              </a:rPr>
              <a:t>i</a:t>
            </a:r>
            <a:r>
              <a:rPr lang="en-US" altLang="zh-CN" sz="1400" dirty="0">
                <a:solidFill>
                  <a:prstClr val="black"/>
                </a:solidFill>
                <a:cs typeface="Courier New" panose="02070309020205020404" pitchFamily="49" charset="0"/>
              </a:rPr>
              <a:t> - IGP, e - EGP, ? - incomplete</a:t>
            </a:r>
          </a:p>
          <a:p>
            <a:pPr fontAlgn="auto">
              <a:spcBef>
                <a:spcPts val="0"/>
              </a:spcBef>
              <a:spcAft>
                <a:spcPts val="0"/>
              </a:spcAft>
            </a:pPr>
            <a:r>
              <a:rPr lang="en-US" altLang="zh-CN" sz="1400" dirty="0" smtClean="0">
                <a:solidFill>
                  <a:prstClr val="black"/>
                </a:solidFill>
                <a:cs typeface="Courier New" panose="02070309020205020404" pitchFamily="49" charset="0"/>
              </a:rPr>
              <a:t> </a:t>
            </a:r>
            <a:r>
              <a:rPr lang="en-US" altLang="zh-CN" sz="1400" dirty="0">
                <a:solidFill>
                  <a:prstClr val="black"/>
                </a:solidFill>
                <a:cs typeface="Courier New" panose="02070309020205020404" pitchFamily="49" charset="0"/>
              </a:rPr>
              <a:t>Total Number of Routes: 1</a:t>
            </a:r>
          </a:p>
          <a:p>
            <a:pPr fontAlgn="auto">
              <a:spcBef>
                <a:spcPts val="0"/>
              </a:spcBef>
              <a:spcAft>
                <a:spcPts val="0"/>
              </a:spcAft>
            </a:pPr>
            <a:r>
              <a:rPr lang="en-US" altLang="zh-CN" sz="1400" dirty="0">
                <a:solidFill>
                  <a:prstClr val="black"/>
                </a:solidFill>
                <a:cs typeface="Courier New" panose="02070309020205020404" pitchFamily="49" charset="0"/>
              </a:rPr>
              <a:t>      </a:t>
            </a:r>
            <a:r>
              <a:rPr lang="en-US" altLang="zh-CN" sz="1400" dirty="0" smtClean="0">
                <a:solidFill>
                  <a:prstClr val="black"/>
                </a:solidFill>
                <a:cs typeface="Courier New" panose="02070309020205020404" pitchFamily="49" charset="0"/>
              </a:rPr>
              <a:t> Network        </a:t>
            </a:r>
            <a:r>
              <a:rPr lang="en-US" altLang="zh-CN" sz="1400" dirty="0" err="1">
                <a:solidFill>
                  <a:prstClr val="black"/>
                </a:solidFill>
                <a:cs typeface="Courier New" panose="02070309020205020404" pitchFamily="49" charset="0"/>
              </a:rPr>
              <a:t>NextHop</a:t>
            </a:r>
            <a:r>
              <a:rPr lang="en-US" altLang="zh-CN" sz="1400" dirty="0">
                <a:solidFill>
                  <a:prstClr val="black"/>
                </a:solidFill>
                <a:cs typeface="Courier New" panose="02070309020205020404" pitchFamily="49" charset="0"/>
              </a:rPr>
              <a:t>      MED     </a:t>
            </a:r>
            <a:r>
              <a:rPr lang="en-US" altLang="zh-CN" sz="1400" dirty="0" err="1">
                <a:solidFill>
                  <a:prstClr val="black"/>
                </a:solidFill>
                <a:cs typeface="Courier New" panose="02070309020205020404" pitchFamily="49" charset="0"/>
              </a:rPr>
              <a:t>LocPrf</a:t>
            </a:r>
            <a:r>
              <a:rPr lang="en-US" altLang="zh-CN" sz="1400" dirty="0">
                <a:solidFill>
                  <a:prstClr val="black"/>
                </a:solidFill>
                <a:cs typeface="Courier New" panose="02070309020205020404" pitchFamily="49" charset="0"/>
              </a:rPr>
              <a:t>    </a:t>
            </a:r>
            <a:r>
              <a:rPr lang="en-US" altLang="zh-CN" sz="1400" dirty="0" err="1">
                <a:solidFill>
                  <a:prstClr val="black"/>
                </a:solidFill>
                <a:cs typeface="Courier New" panose="02070309020205020404" pitchFamily="49" charset="0"/>
              </a:rPr>
              <a:t>PrefVal</a:t>
            </a:r>
            <a:r>
              <a:rPr lang="en-US" altLang="zh-CN" sz="1400" dirty="0">
                <a:solidFill>
                  <a:prstClr val="black"/>
                </a:solidFill>
                <a:cs typeface="Courier New" panose="02070309020205020404" pitchFamily="49" charset="0"/>
              </a:rPr>
              <a:t> </a:t>
            </a:r>
            <a:r>
              <a:rPr lang="en-US" altLang="zh-CN" sz="1400" dirty="0" smtClean="0">
                <a:solidFill>
                  <a:prstClr val="black"/>
                </a:solidFill>
                <a:cs typeface="Courier New" panose="02070309020205020404" pitchFamily="49" charset="0"/>
              </a:rPr>
              <a:t> Path/</a:t>
            </a:r>
            <a:r>
              <a:rPr lang="en-US" altLang="zh-CN" sz="1400" dirty="0" err="1" smtClean="0">
                <a:solidFill>
                  <a:prstClr val="black"/>
                </a:solidFill>
                <a:cs typeface="Courier New" panose="02070309020205020404" pitchFamily="49" charset="0"/>
              </a:rPr>
              <a:t>Ogn</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 *&gt;  </a:t>
            </a:r>
            <a:r>
              <a:rPr lang="en-US" altLang="zh-CN" sz="1400">
                <a:solidFill>
                  <a:prstClr val="black"/>
                </a:solidFill>
                <a:cs typeface="Courier New" panose="02070309020205020404" pitchFamily="49" charset="0"/>
              </a:rPr>
              <a:t>10.1.2.2/32    </a:t>
            </a:r>
            <a:r>
              <a:rPr lang="en-US" altLang="zh-CN" sz="1400" smtClean="0">
                <a:solidFill>
                  <a:prstClr val="black"/>
                </a:solidFill>
                <a:cs typeface="Courier New" panose="02070309020205020404" pitchFamily="49" charset="0"/>
              </a:rPr>
              <a:t> 10.1.23.2</a:t>
            </a:r>
            <a:r>
              <a:rPr lang="en-US" altLang="zh-CN" sz="1400" dirty="0">
                <a:solidFill>
                  <a:prstClr val="black"/>
                </a:solidFill>
                <a:cs typeface="Courier New" panose="02070309020205020404" pitchFamily="49" charset="0"/>
              </a:rPr>
              <a:t>		     </a:t>
            </a:r>
            <a:r>
              <a:rPr lang="en-US" altLang="zh-CN" sz="1400" dirty="0" smtClean="0">
                <a:solidFill>
                  <a:prstClr val="black"/>
                </a:solidFill>
                <a:cs typeface="Courier New" panose="02070309020205020404" pitchFamily="49" charset="0"/>
              </a:rPr>
              <a:t> 0      </a:t>
            </a:r>
            <a:r>
              <a:rPr lang="en-US" altLang="zh-CN" sz="1400" dirty="0">
                <a:solidFill>
                  <a:prstClr val="black"/>
                </a:solidFill>
                <a:cs typeface="Courier New" panose="02070309020205020404" pitchFamily="49" charset="0"/>
              </a:rPr>
              <a:t>	</a:t>
            </a:r>
            <a:r>
              <a:rPr lang="en-US" altLang="zh-CN" sz="1400" dirty="0" smtClean="0">
                <a:solidFill>
                  <a:prstClr val="black"/>
                </a:solidFill>
                <a:cs typeface="Courier New" panose="02070309020205020404" pitchFamily="49" charset="0"/>
              </a:rPr>
              <a:t>  102 </a:t>
            </a:r>
            <a:r>
              <a:rPr lang="en-US" altLang="zh-CN" sz="1400" dirty="0">
                <a:solidFill>
                  <a:prstClr val="black"/>
                </a:solidFill>
                <a:cs typeface="Courier New" panose="02070309020205020404" pitchFamily="49" charset="0"/>
              </a:rPr>
              <a:t>101i</a:t>
            </a:r>
          </a:p>
        </p:txBody>
      </p:sp>
      <p:sp>
        <p:nvSpPr>
          <p:cNvPr id="2" name="标题 1"/>
          <p:cNvSpPr>
            <a:spLocks noGrp="1"/>
          </p:cNvSpPr>
          <p:nvPr>
            <p:ph type="title"/>
          </p:nvPr>
        </p:nvSpPr>
        <p:spPr bwMode="gray"/>
        <p:txBody>
          <a:bodyPr/>
          <a:lstStyle/>
          <a:p>
            <a:r>
              <a:rPr lang="zh-CN" altLang="en-US" smtClean="0"/>
              <a:t>配置</a:t>
            </a:r>
            <a:r>
              <a:rPr lang="en-US" altLang="zh-CN" smtClean="0"/>
              <a:t>Community Filter (3)</a:t>
            </a:r>
            <a:endParaRPr lang="zh-CN" altLang="en-US" dirty="0"/>
          </a:p>
        </p:txBody>
      </p:sp>
      <p:sp>
        <p:nvSpPr>
          <p:cNvPr id="69" name="文本占位符 2"/>
          <p:cNvSpPr txBox="1">
            <a:spLocks/>
          </p:cNvSpPr>
          <p:nvPr/>
        </p:nvSpPr>
        <p:spPr bwMode="gray">
          <a:xfrm>
            <a:off x="8501514" y="1391320"/>
            <a:ext cx="3128109" cy="158054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en-US" altLang="zh-CN" sz="1800" dirty="0"/>
              <a:t>R2</a:t>
            </a:r>
            <a:r>
              <a:rPr lang="zh-CN" altLang="en-US" sz="1800" dirty="0"/>
              <a:t>传递路由给</a:t>
            </a:r>
            <a:r>
              <a:rPr lang="en-US" altLang="zh-CN" sz="1800" dirty="0"/>
              <a:t>EBGP</a:t>
            </a:r>
            <a:r>
              <a:rPr lang="zh-CN" altLang="en-US" sz="1800" dirty="0"/>
              <a:t>对等体</a:t>
            </a:r>
            <a:r>
              <a:rPr lang="en-US" altLang="zh-CN" sz="1800" dirty="0"/>
              <a:t>R3</a:t>
            </a:r>
            <a:r>
              <a:rPr lang="zh-CN" altLang="en-US" sz="1800" dirty="0"/>
              <a:t>，在</a:t>
            </a:r>
            <a:r>
              <a:rPr lang="en-US" altLang="zh-CN" sz="1800" dirty="0"/>
              <a:t>R2</a:t>
            </a:r>
            <a:r>
              <a:rPr lang="zh-CN" altLang="en-US" sz="1800" dirty="0"/>
              <a:t>上部署路由策略，过滤掉携带</a:t>
            </a:r>
            <a:r>
              <a:rPr lang="en-US" altLang="zh-CN" sz="1800" dirty="0"/>
              <a:t>101:1</a:t>
            </a:r>
            <a:r>
              <a:rPr lang="zh-CN" altLang="en-US" sz="1800" dirty="0"/>
              <a:t>的</a:t>
            </a:r>
            <a:r>
              <a:rPr lang="en-US" altLang="zh-CN" sz="1800" dirty="0"/>
              <a:t>Community</a:t>
            </a:r>
            <a:r>
              <a:rPr lang="zh-CN" altLang="en-US" sz="1800" dirty="0"/>
              <a:t>属性值的路由。</a:t>
            </a:r>
          </a:p>
        </p:txBody>
      </p:sp>
      <p:sp>
        <p:nvSpPr>
          <p:cNvPr id="42" name="文本框 41"/>
          <p:cNvSpPr txBox="1"/>
          <p:nvPr/>
        </p:nvSpPr>
        <p:spPr bwMode="gray">
          <a:xfrm>
            <a:off x="670882" y="3123498"/>
            <a:ext cx="5425118" cy="338554"/>
          </a:xfrm>
          <a:prstGeom prst="rect">
            <a:avLst/>
          </a:prstGeom>
          <a:noFill/>
        </p:spPr>
        <p:txBody>
          <a:bodyPr wrap="square" rtlCol="0">
            <a:spAutoFit/>
          </a:bodyPr>
          <a:lstStyle/>
          <a:p>
            <a:pPr fontAlgn="auto">
              <a:spcBef>
                <a:spcPts val="0"/>
              </a:spcBef>
              <a:spcAft>
                <a:spcPts val="0"/>
              </a:spcAft>
            </a:pPr>
            <a:r>
              <a:rPr lang="en-US" altLang="zh-CN" sz="1600" dirty="0" smtClean="0">
                <a:solidFill>
                  <a:prstClr val="black"/>
                </a:solidFill>
              </a:rPr>
              <a:t>5</a:t>
            </a:r>
            <a:r>
              <a:rPr lang="zh-CN" altLang="en-US" sz="1600" dirty="0" smtClean="0">
                <a:solidFill>
                  <a:prstClr val="black"/>
                </a:solidFill>
              </a:rPr>
              <a:t>、</a:t>
            </a:r>
            <a:r>
              <a:rPr lang="zh-CN" altLang="en-US" sz="1600" dirty="0">
                <a:solidFill>
                  <a:prstClr val="black"/>
                </a:solidFill>
              </a:rPr>
              <a:t>查看</a:t>
            </a:r>
            <a:r>
              <a:rPr lang="en-US" altLang="zh-CN" sz="1600" dirty="0">
                <a:solidFill>
                  <a:prstClr val="black"/>
                </a:solidFill>
              </a:rPr>
              <a:t>R3</a:t>
            </a:r>
            <a:r>
              <a:rPr lang="zh-CN" altLang="en-US" sz="1600" dirty="0">
                <a:solidFill>
                  <a:prstClr val="black"/>
                </a:solidFill>
              </a:rPr>
              <a:t>的路由表项。</a:t>
            </a:r>
          </a:p>
        </p:txBody>
      </p:sp>
      <p:sp>
        <p:nvSpPr>
          <p:cNvPr id="45" name="文本占位符 3"/>
          <p:cNvSpPr txBox="1">
            <a:spLocks/>
          </p:cNvSpPr>
          <p:nvPr/>
        </p:nvSpPr>
        <p:spPr bwMode="gray">
          <a:xfrm>
            <a:off x="1094400" y="5634288"/>
            <a:ext cx="3941425" cy="509150"/>
          </a:xfrm>
          <a:prstGeom prst="rect">
            <a:avLst/>
          </a:prstGeom>
          <a:solidFill>
            <a:srgbClr val="FFFBEF"/>
          </a:solidFill>
          <a:ln w="9525">
            <a:solidFill>
              <a:srgbClr val="FDD351"/>
            </a:solidFill>
            <a:miter lim="800000"/>
            <a:headEnd/>
            <a:tailEnd/>
          </a:ln>
        </p:spPr>
        <p:txBody>
          <a:bodyPr vert="horz" wrap="square" lIns="108000" tIns="40071" rIns="108000" bIns="40071" numCol="1" anchor="ctr"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en-US" altLang="zh-CN" sz="1600" dirty="0" smtClean="0"/>
              <a:t>R3</a:t>
            </a:r>
            <a:r>
              <a:rPr lang="zh-CN" altLang="en-US" sz="1600" dirty="0" smtClean="0"/>
              <a:t>接收不到</a:t>
            </a:r>
            <a:r>
              <a:rPr lang="en-US" altLang="zh-CN" sz="1600" dirty="0" smtClean="0"/>
              <a:t>10.1.1.1/32</a:t>
            </a:r>
            <a:r>
              <a:rPr lang="zh-CN" altLang="en-US" sz="1600" dirty="0" smtClean="0"/>
              <a:t>的</a:t>
            </a:r>
            <a:r>
              <a:rPr lang="en-US" altLang="zh-CN" sz="1600" dirty="0" smtClean="0"/>
              <a:t>BGP</a:t>
            </a:r>
            <a:r>
              <a:rPr lang="zh-CN" altLang="en-US" sz="1600" dirty="0" smtClean="0"/>
              <a:t>路由信息。</a:t>
            </a:r>
          </a:p>
        </p:txBody>
      </p:sp>
      <p:cxnSp>
        <p:nvCxnSpPr>
          <p:cNvPr id="46" name="直接箭头连接符 45"/>
          <p:cNvCxnSpPr>
            <a:stCxn id="45" idx="0"/>
          </p:cNvCxnSpPr>
          <p:nvPr/>
        </p:nvCxnSpPr>
        <p:spPr bwMode="gray">
          <a:xfrm flipV="1">
            <a:off x="3065113" y="5289984"/>
            <a:ext cx="0" cy="344304"/>
          </a:xfrm>
          <a:prstGeom prst="straightConnector1">
            <a:avLst/>
          </a:prstGeom>
          <a:ln w="19050">
            <a:solidFill>
              <a:srgbClr val="FDD351"/>
            </a:solidFill>
            <a:tailEnd type="triangle"/>
          </a:ln>
        </p:spPr>
        <p:style>
          <a:lnRef idx="1">
            <a:schemeClr val="accent1"/>
          </a:lnRef>
          <a:fillRef idx="0">
            <a:schemeClr val="accent1"/>
          </a:fillRef>
          <a:effectRef idx="0">
            <a:schemeClr val="accent1"/>
          </a:effectRef>
          <a:fontRef idx="minor">
            <a:schemeClr val="tx1"/>
          </a:fontRef>
        </p:style>
      </p:cxnSp>
      <p:sp>
        <p:nvSpPr>
          <p:cNvPr id="52" name="五边形 51"/>
          <p:cNvSpPr/>
          <p:nvPr/>
        </p:nvSpPr>
        <p:spPr bwMode="gray">
          <a:xfrm>
            <a:off x="8335082" y="100861"/>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53" name="燕尾形 52"/>
          <p:cNvSpPr/>
          <p:nvPr/>
        </p:nvSpPr>
        <p:spPr bwMode="gray">
          <a:xfrm>
            <a:off x="9029654" y="100861"/>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AS_Path Filter</a:t>
            </a:r>
          </a:p>
        </p:txBody>
      </p:sp>
      <p:sp>
        <p:nvSpPr>
          <p:cNvPr id="54" name="燕尾形 53"/>
          <p:cNvSpPr/>
          <p:nvPr/>
        </p:nvSpPr>
        <p:spPr bwMode="gray">
          <a:xfrm>
            <a:off x="10203025" y="100861"/>
            <a:ext cx="1548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Community Filter</a:t>
            </a:r>
          </a:p>
        </p:txBody>
      </p:sp>
      <p:sp>
        <p:nvSpPr>
          <p:cNvPr id="41" name="任意多边形 40"/>
          <p:cNvSpPr/>
          <p:nvPr/>
        </p:nvSpPr>
        <p:spPr bwMode="gray">
          <a:xfrm>
            <a:off x="4820440" y="1559567"/>
            <a:ext cx="1304816" cy="1244051"/>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sp>
        <p:nvSpPr>
          <p:cNvPr id="49" name="TextBox 120">
            <a:extLst>
              <a:ext uri="{FF2B5EF4-FFF2-40B4-BE49-F238E27FC236}">
                <a16:creationId xmlns="" xmlns:a16="http://schemas.microsoft.com/office/drawing/2014/main" id="{020D7A1D-EFAD-4C8C-B9DE-D0FAD269B77A}"/>
              </a:ext>
            </a:extLst>
          </p:cNvPr>
          <p:cNvSpPr txBox="1"/>
          <p:nvPr/>
        </p:nvSpPr>
        <p:spPr bwMode="gray">
          <a:xfrm>
            <a:off x="4783790" y="1593220"/>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任意多边形 25"/>
          <p:cNvSpPr/>
          <p:nvPr/>
        </p:nvSpPr>
        <p:spPr bwMode="gray">
          <a:xfrm>
            <a:off x="6968115" y="1559567"/>
            <a:ext cx="1304816" cy="1244051"/>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sp>
        <p:nvSpPr>
          <p:cNvPr id="51" name="TextBox 120">
            <a:extLst>
              <a:ext uri="{FF2B5EF4-FFF2-40B4-BE49-F238E27FC236}">
                <a16:creationId xmlns="" xmlns:a16="http://schemas.microsoft.com/office/drawing/2014/main" id="{020D7A1D-EFAD-4C8C-B9DE-D0FAD269B77A}"/>
              </a:ext>
            </a:extLst>
          </p:cNvPr>
          <p:cNvSpPr txBox="1"/>
          <p:nvPr/>
        </p:nvSpPr>
        <p:spPr bwMode="gray">
          <a:xfrm>
            <a:off x="6931465" y="1593220"/>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103</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任意多边形 25"/>
          <p:cNvSpPr/>
          <p:nvPr/>
        </p:nvSpPr>
        <p:spPr bwMode="gray">
          <a:xfrm>
            <a:off x="516646" y="1559567"/>
            <a:ext cx="1990168" cy="1244051"/>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pic>
        <p:nvPicPr>
          <p:cNvPr id="56" name="图片 5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616317" y="2080032"/>
            <a:ext cx="540000" cy="442800"/>
          </a:xfrm>
          <a:prstGeom prst="rect">
            <a:avLst/>
          </a:prstGeom>
        </p:spPr>
      </p:pic>
      <p:cxnSp>
        <p:nvCxnSpPr>
          <p:cNvPr id="57" name="直接连接符 56"/>
          <p:cNvCxnSpPr>
            <a:stCxn id="56" idx="3"/>
            <a:endCxn id="58" idx="1"/>
          </p:cNvCxnSpPr>
          <p:nvPr/>
        </p:nvCxnSpPr>
        <p:spPr bwMode="gray">
          <a:xfrm>
            <a:off x="2156317" y="2301432"/>
            <a:ext cx="311855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8" name="图片 5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274869" y="2080032"/>
            <a:ext cx="540000" cy="442800"/>
          </a:xfrm>
          <a:prstGeom prst="rect">
            <a:avLst/>
          </a:prstGeom>
        </p:spPr>
      </p:pic>
      <p:sp>
        <p:nvSpPr>
          <p:cNvPr id="59" name="TextBox 120">
            <a:extLst>
              <a:ext uri="{FF2B5EF4-FFF2-40B4-BE49-F238E27FC236}">
                <a16:creationId xmlns="" xmlns:a16="http://schemas.microsoft.com/office/drawing/2014/main" id="{020D7A1D-EFAD-4C8C-B9DE-D0FAD269B77A}"/>
              </a:ext>
            </a:extLst>
          </p:cNvPr>
          <p:cNvSpPr txBox="1"/>
          <p:nvPr/>
        </p:nvSpPr>
        <p:spPr bwMode="gray">
          <a:xfrm>
            <a:off x="479996" y="1593220"/>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TextBox 120">
            <a:extLst>
              <a:ext uri="{FF2B5EF4-FFF2-40B4-BE49-F238E27FC236}">
                <a16:creationId xmlns="" xmlns:a16="http://schemas.microsoft.com/office/drawing/2014/main" id="{020D7A1D-EFAD-4C8C-B9DE-D0FAD269B77A}"/>
              </a:ext>
            </a:extLst>
          </p:cNvPr>
          <p:cNvSpPr txBox="1"/>
          <p:nvPr/>
        </p:nvSpPr>
        <p:spPr bwMode="gray">
          <a:xfrm>
            <a:off x="1679385" y="1820407"/>
            <a:ext cx="413864" cy="307777"/>
          </a:xfrm>
          <a:prstGeom prst="rect">
            <a:avLst/>
          </a:prstGeom>
          <a:noFill/>
          <a:ln>
            <a:noFill/>
          </a:ln>
        </p:spPr>
        <p:txBody>
          <a:bodyPr wrap="squar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R1</a:t>
            </a:r>
          </a:p>
        </p:txBody>
      </p:sp>
      <p:cxnSp>
        <p:nvCxnSpPr>
          <p:cNvPr id="61" name="直接连接符 60"/>
          <p:cNvCxnSpPr>
            <a:endCxn id="56" idx="1"/>
          </p:cNvCxnSpPr>
          <p:nvPr/>
        </p:nvCxnSpPr>
        <p:spPr bwMode="gray">
          <a:xfrm>
            <a:off x="1367474" y="2301432"/>
            <a:ext cx="24884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bwMode="gray">
          <a:xfrm>
            <a:off x="1367474" y="2105470"/>
            <a:ext cx="0" cy="3919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3" name="TextBox 120">
            <a:extLst>
              <a:ext uri="{FF2B5EF4-FFF2-40B4-BE49-F238E27FC236}">
                <a16:creationId xmlns="" xmlns:a16="http://schemas.microsoft.com/office/drawing/2014/main" id="{31930744-3D36-4F81-8426-6F129C1A6804}"/>
              </a:ext>
            </a:extLst>
          </p:cNvPr>
          <p:cNvSpPr txBox="1"/>
          <p:nvPr/>
        </p:nvSpPr>
        <p:spPr bwMode="gray">
          <a:xfrm>
            <a:off x="463288" y="2067357"/>
            <a:ext cx="984700" cy="479524"/>
          </a:xfrm>
          <a:prstGeom prst="roundRect">
            <a:avLst>
              <a:gd name="adj" fmla="val 6721"/>
            </a:avLst>
          </a:prstGeom>
          <a:noFill/>
          <a:ln w="12700">
            <a:noFill/>
          </a:ln>
        </p:spPr>
        <p:txBody>
          <a:bodyPr wrap="square" rtlCol="0" anchor="ctr">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10.1.1.1/32</a:t>
            </a:r>
          </a:p>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10.1.2.2/32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TextBox 120">
            <a:extLst>
              <a:ext uri="{FF2B5EF4-FFF2-40B4-BE49-F238E27FC236}">
                <a16:creationId xmlns="" xmlns:a16="http://schemas.microsoft.com/office/drawing/2014/main" id="{020D7A1D-EFAD-4C8C-B9DE-D0FAD269B77A}"/>
              </a:ext>
            </a:extLst>
          </p:cNvPr>
          <p:cNvSpPr txBox="1"/>
          <p:nvPr/>
        </p:nvSpPr>
        <p:spPr bwMode="gray">
          <a:xfrm>
            <a:off x="5341801" y="1820407"/>
            <a:ext cx="413864"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5" name="直接连接符 55"/>
          <p:cNvCxnSpPr/>
          <p:nvPr/>
        </p:nvCxnSpPr>
        <p:spPr bwMode="gray">
          <a:xfrm flipH="1">
            <a:off x="2850606" y="2217431"/>
            <a:ext cx="918225" cy="0"/>
          </a:xfrm>
          <a:prstGeom prst="line">
            <a:avLst/>
          </a:prstGeom>
          <a:solidFill>
            <a:schemeClr val="accent1"/>
          </a:solidFill>
          <a:ln w="38100" cap="flat" cmpd="sng" algn="ctr">
            <a:solidFill>
              <a:schemeClr val="tx1"/>
            </a:solidFill>
            <a:prstDash val="dash"/>
            <a:round/>
            <a:headEnd type="triangle" w="med" len="med"/>
            <a:tailEnd type="none" w="med" len="med"/>
          </a:ln>
          <a:effectLst/>
        </p:spPr>
      </p:cxnSp>
      <p:sp>
        <p:nvSpPr>
          <p:cNvPr id="66" name="TextBox 120">
            <a:extLst>
              <a:ext uri="{FF2B5EF4-FFF2-40B4-BE49-F238E27FC236}">
                <a16:creationId xmlns="" xmlns:a16="http://schemas.microsoft.com/office/drawing/2014/main" id="{020D7A1D-EFAD-4C8C-B9DE-D0FAD269B77A}"/>
              </a:ext>
            </a:extLst>
          </p:cNvPr>
          <p:cNvSpPr txBox="1"/>
          <p:nvPr/>
        </p:nvSpPr>
        <p:spPr bwMode="auto">
          <a:xfrm>
            <a:off x="2173402" y="1451075"/>
            <a:ext cx="3432042" cy="738664"/>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Route:</a:t>
            </a:r>
          </a:p>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10.1.1.1/32 </a:t>
            </a:r>
            <a:r>
              <a:rPr lang="en-US" altLang="zh-CN"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Community=101:1</a:t>
            </a:r>
          </a:p>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10.1.2.2/32 </a:t>
            </a:r>
            <a:r>
              <a:rPr lang="en-US" altLang="zh-CN"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Community=101:2</a:t>
            </a:r>
            <a:endParaRPr lang="en-US" altLang="zh-CN"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7" name="直接连接符 66"/>
          <p:cNvCxnSpPr>
            <a:stCxn id="58" idx="3"/>
            <a:endCxn id="68" idx="1"/>
          </p:cNvCxnSpPr>
          <p:nvPr/>
        </p:nvCxnSpPr>
        <p:spPr bwMode="gray">
          <a:xfrm>
            <a:off x="5814869" y="2301432"/>
            <a:ext cx="156804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8" name="图片 6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382917" y="2080032"/>
            <a:ext cx="540000" cy="442800"/>
          </a:xfrm>
          <a:prstGeom prst="rect">
            <a:avLst/>
          </a:prstGeom>
        </p:spPr>
      </p:pic>
      <p:cxnSp>
        <p:nvCxnSpPr>
          <p:cNvPr id="70" name="直接连接符 55"/>
          <p:cNvCxnSpPr/>
          <p:nvPr/>
        </p:nvCxnSpPr>
        <p:spPr bwMode="gray">
          <a:xfrm flipH="1">
            <a:off x="6060207" y="2217431"/>
            <a:ext cx="918225" cy="0"/>
          </a:xfrm>
          <a:prstGeom prst="line">
            <a:avLst/>
          </a:prstGeom>
          <a:solidFill>
            <a:schemeClr val="accent1"/>
          </a:solidFill>
          <a:ln w="38100" cap="flat" cmpd="sng" algn="ctr">
            <a:solidFill>
              <a:schemeClr val="tx1"/>
            </a:solidFill>
            <a:prstDash val="dash"/>
            <a:round/>
            <a:headEnd type="triangle" w="med" len="med"/>
            <a:tailEnd type="none" w="med" len="med"/>
          </a:ln>
          <a:effectLst/>
        </p:spPr>
      </p:cxnSp>
      <p:sp>
        <p:nvSpPr>
          <p:cNvPr id="71" name="TextBox 120">
            <a:extLst>
              <a:ext uri="{FF2B5EF4-FFF2-40B4-BE49-F238E27FC236}">
                <a16:creationId xmlns="" xmlns:a16="http://schemas.microsoft.com/office/drawing/2014/main" id="{020D7A1D-EFAD-4C8C-B9DE-D0FAD269B77A}"/>
              </a:ext>
            </a:extLst>
          </p:cNvPr>
          <p:cNvSpPr txBox="1"/>
          <p:nvPr/>
        </p:nvSpPr>
        <p:spPr bwMode="gray">
          <a:xfrm>
            <a:off x="7445985" y="1820407"/>
            <a:ext cx="413864"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R3</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椭圆 71"/>
          <p:cNvSpPr/>
          <p:nvPr/>
        </p:nvSpPr>
        <p:spPr bwMode="gray">
          <a:xfrm>
            <a:off x="5739987" y="2217431"/>
            <a:ext cx="172278" cy="172800"/>
          </a:xfrm>
          <a:prstGeom prst="ellips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TextBox 120">
            <a:extLst>
              <a:ext uri="{FF2B5EF4-FFF2-40B4-BE49-F238E27FC236}">
                <a16:creationId xmlns="" xmlns:a16="http://schemas.microsoft.com/office/drawing/2014/main" id="{020D7A1D-EFAD-4C8C-B9DE-D0FAD269B77A}"/>
              </a:ext>
            </a:extLst>
          </p:cNvPr>
          <p:cNvSpPr txBox="1"/>
          <p:nvPr/>
        </p:nvSpPr>
        <p:spPr bwMode="gray">
          <a:xfrm>
            <a:off x="2774859" y="2312871"/>
            <a:ext cx="1239372"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10.1.12.0/24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TextBox 120">
            <a:extLst>
              <a:ext uri="{FF2B5EF4-FFF2-40B4-BE49-F238E27FC236}">
                <a16:creationId xmlns="" xmlns:a16="http://schemas.microsoft.com/office/drawing/2014/main" id="{020D7A1D-EFAD-4C8C-B9DE-D0FAD269B77A}"/>
              </a:ext>
            </a:extLst>
          </p:cNvPr>
          <p:cNvSpPr txBox="1"/>
          <p:nvPr/>
        </p:nvSpPr>
        <p:spPr bwMode="gray">
          <a:xfrm>
            <a:off x="2100247" y="2264110"/>
            <a:ext cx="422527"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TextBox 120">
            <a:extLst>
              <a:ext uri="{FF2B5EF4-FFF2-40B4-BE49-F238E27FC236}">
                <a16:creationId xmlns="" xmlns:a16="http://schemas.microsoft.com/office/drawing/2014/main" id="{020D7A1D-EFAD-4C8C-B9DE-D0FAD269B77A}"/>
              </a:ext>
            </a:extLst>
          </p:cNvPr>
          <p:cNvSpPr txBox="1"/>
          <p:nvPr/>
        </p:nvSpPr>
        <p:spPr bwMode="gray">
          <a:xfrm>
            <a:off x="4923418" y="2264110"/>
            <a:ext cx="422527"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TextBox 120">
            <a:extLst>
              <a:ext uri="{FF2B5EF4-FFF2-40B4-BE49-F238E27FC236}">
                <a16:creationId xmlns="" xmlns:a16="http://schemas.microsoft.com/office/drawing/2014/main" id="{020D7A1D-EFAD-4C8C-B9DE-D0FAD269B77A}"/>
              </a:ext>
            </a:extLst>
          </p:cNvPr>
          <p:cNvSpPr txBox="1"/>
          <p:nvPr/>
        </p:nvSpPr>
        <p:spPr bwMode="gray">
          <a:xfrm>
            <a:off x="5786349" y="2264110"/>
            <a:ext cx="422527"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TextBox 120">
            <a:extLst>
              <a:ext uri="{FF2B5EF4-FFF2-40B4-BE49-F238E27FC236}">
                <a16:creationId xmlns="" xmlns:a16="http://schemas.microsoft.com/office/drawing/2014/main" id="{020D7A1D-EFAD-4C8C-B9DE-D0FAD269B77A}"/>
              </a:ext>
            </a:extLst>
          </p:cNvPr>
          <p:cNvSpPr txBox="1"/>
          <p:nvPr/>
        </p:nvSpPr>
        <p:spPr bwMode="gray">
          <a:xfrm>
            <a:off x="7051735" y="2264110"/>
            <a:ext cx="422527"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TextBox 120">
            <a:extLst>
              <a:ext uri="{FF2B5EF4-FFF2-40B4-BE49-F238E27FC236}">
                <a16:creationId xmlns="" xmlns:a16="http://schemas.microsoft.com/office/drawing/2014/main" id="{020D7A1D-EFAD-4C8C-B9DE-D0FAD269B77A}"/>
              </a:ext>
            </a:extLst>
          </p:cNvPr>
          <p:cNvSpPr txBox="1"/>
          <p:nvPr/>
        </p:nvSpPr>
        <p:spPr bwMode="gray">
          <a:xfrm>
            <a:off x="6009661" y="2312871"/>
            <a:ext cx="1239372"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10.1.23.0/24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TextBox 120">
            <a:extLst>
              <a:ext uri="{FF2B5EF4-FFF2-40B4-BE49-F238E27FC236}">
                <a16:creationId xmlns="" xmlns:a16="http://schemas.microsoft.com/office/drawing/2014/main" id="{020D7A1D-EFAD-4C8C-B9DE-D0FAD269B77A}"/>
              </a:ext>
            </a:extLst>
          </p:cNvPr>
          <p:cNvSpPr txBox="1"/>
          <p:nvPr/>
        </p:nvSpPr>
        <p:spPr bwMode="auto">
          <a:xfrm>
            <a:off x="5807617" y="1451075"/>
            <a:ext cx="1666645" cy="738664"/>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Route</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10.1.2.2/32 </a:t>
            </a:r>
            <a:r>
              <a:rPr lang="en-US" altLang="zh-CN"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Community=101:2</a:t>
            </a:r>
            <a:endParaRPr lang="en-US" altLang="zh-CN"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椭圆 79"/>
          <p:cNvSpPr/>
          <p:nvPr/>
        </p:nvSpPr>
        <p:spPr bwMode="gray">
          <a:xfrm>
            <a:off x="6947060" y="2942904"/>
            <a:ext cx="150125" cy="152230"/>
          </a:xfrm>
          <a:prstGeom prst="ellips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TextBox 120">
            <a:extLst>
              <a:ext uri="{FF2B5EF4-FFF2-40B4-BE49-F238E27FC236}">
                <a16:creationId xmlns="" xmlns:a16="http://schemas.microsoft.com/office/drawing/2014/main" id="{020D7A1D-EFAD-4C8C-B9DE-D0FAD269B77A}"/>
              </a:ext>
            </a:extLst>
          </p:cNvPr>
          <p:cNvSpPr txBox="1"/>
          <p:nvPr/>
        </p:nvSpPr>
        <p:spPr bwMode="gray">
          <a:xfrm>
            <a:off x="7108597" y="2865132"/>
            <a:ext cx="910791" cy="307777"/>
          </a:xfrm>
          <a:prstGeom prst="rect">
            <a:avLst/>
          </a:prstGeom>
          <a:noFill/>
          <a:ln>
            <a:noFill/>
          </a:ln>
        </p:spPr>
        <p:txBody>
          <a:bodyPr wrap="squar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路由过滤</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15417097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smtClean="0">
                <a:solidFill>
                  <a:schemeClr val="bg1">
                    <a:lumMod val="50000"/>
                  </a:schemeClr>
                </a:solidFill>
              </a:rPr>
              <a:t>BGP</a:t>
            </a:r>
            <a:r>
              <a:rPr lang="zh-CN" altLang="en-US" dirty="0" smtClean="0">
                <a:solidFill>
                  <a:schemeClr val="bg1">
                    <a:lumMod val="50000"/>
                  </a:schemeClr>
                </a:solidFill>
              </a:rPr>
              <a:t>路由控制</a:t>
            </a:r>
            <a:endParaRPr lang="en-US" altLang="zh-CN" dirty="0" smtClean="0">
              <a:solidFill>
                <a:schemeClr val="bg1">
                  <a:lumMod val="50000"/>
                </a:schemeClr>
              </a:solidFill>
            </a:endParaRPr>
          </a:p>
          <a:p>
            <a:r>
              <a:rPr lang="en-US" altLang="zh-CN" b="1" dirty="0"/>
              <a:t>BGP</a:t>
            </a:r>
            <a:r>
              <a:rPr lang="zh-CN" altLang="en-US" b="1" dirty="0"/>
              <a:t>特性介绍</a:t>
            </a:r>
            <a:endParaRPr lang="en-US" altLang="zh-CN" b="1" dirty="0"/>
          </a:p>
          <a:p>
            <a:r>
              <a:rPr lang="en-US" altLang="zh-CN" dirty="0" smtClean="0">
                <a:solidFill>
                  <a:schemeClr val="bg1">
                    <a:lumMod val="50000"/>
                  </a:schemeClr>
                </a:solidFill>
              </a:rPr>
              <a:t>BGP</a:t>
            </a:r>
            <a:r>
              <a:rPr lang="zh-CN" altLang="en-US" dirty="0" smtClean="0">
                <a:solidFill>
                  <a:schemeClr val="bg1">
                    <a:lumMod val="50000"/>
                  </a:schemeClr>
                </a:solidFill>
              </a:rPr>
              <a:t>路由反射器组网方式</a:t>
            </a:r>
            <a:endParaRPr lang="en-US" altLang="zh-CN" dirty="0" smtClean="0">
              <a:solidFill>
                <a:schemeClr val="bg1">
                  <a:lumMod val="50000"/>
                </a:schemeClr>
              </a:solidFill>
            </a:endParaRPr>
          </a:p>
        </p:txBody>
      </p:sp>
    </p:spTree>
    <p:extLst>
      <p:ext uri="{BB962C8B-B14F-4D97-AF65-F5344CB8AC3E}">
        <p14:creationId xmlns:p14="http://schemas.microsoft.com/office/powerpoint/2010/main" val="25636643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任意多边形 12"/>
          <p:cNvSpPr/>
          <p:nvPr/>
        </p:nvSpPr>
        <p:spPr bwMode="gray">
          <a:xfrm>
            <a:off x="6893538" y="2637551"/>
            <a:ext cx="1304816" cy="1078788"/>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sp>
        <p:nvSpPr>
          <p:cNvPr id="14" name="任意多边形 25"/>
          <p:cNvSpPr/>
          <p:nvPr/>
        </p:nvSpPr>
        <p:spPr bwMode="gray">
          <a:xfrm>
            <a:off x="3137472" y="2637551"/>
            <a:ext cx="1990168" cy="1078788"/>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sp>
        <p:nvSpPr>
          <p:cNvPr id="15" name="TextBox 120">
            <a:extLst>
              <a:ext uri="{FF2B5EF4-FFF2-40B4-BE49-F238E27FC236}">
                <a16:creationId xmlns="" xmlns:a16="http://schemas.microsoft.com/office/drawing/2014/main" id="{020D7A1D-EFAD-4C8C-B9DE-D0FAD269B77A}"/>
              </a:ext>
            </a:extLst>
          </p:cNvPr>
          <p:cNvSpPr txBox="1"/>
          <p:nvPr/>
        </p:nvSpPr>
        <p:spPr bwMode="gray">
          <a:xfrm>
            <a:off x="3079543" y="2645646"/>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6" name="直接连接符 15"/>
          <p:cNvCxnSpPr/>
          <p:nvPr/>
        </p:nvCxnSpPr>
        <p:spPr bwMode="gray">
          <a:xfrm>
            <a:off x="4132556" y="3246895"/>
            <a:ext cx="24884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bwMode="gray">
          <a:xfrm>
            <a:off x="4132556" y="3050933"/>
            <a:ext cx="0" cy="3919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20">
            <a:extLst>
              <a:ext uri="{FF2B5EF4-FFF2-40B4-BE49-F238E27FC236}">
                <a16:creationId xmlns="" xmlns:a16="http://schemas.microsoft.com/office/drawing/2014/main" id="{31930744-3D36-4F81-8426-6F129C1A6804}"/>
              </a:ext>
            </a:extLst>
          </p:cNvPr>
          <p:cNvSpPr txBox="1"/>
          <p:nvPr/>
        </p:nvSpPr>
        <p:spPr bwMode="gray">
          <a:xfrm>
            <a:off x="3228370" y="3012820"/>
            <a:ext cx="984700" cy="479524"/>
          </a:xfrm>
          <a:prstGeom prst="roundRect">
            <a:avLst>
              <a:gd name="adj" fmla="val 6721"/>
            </a:avLst>
          </a:prstGeom>
          <a:noFill/>
          <a:ln w="12700">
            <a:noFill/>
          </a:ln>
        </p:spPr>
        <p:txBody>
          <a:bodyPr wrap="square" rtlCol="0" anchor="ctr">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10.1.1.1/32</a:t>
            </a:r>
          </a:p>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10.1.2.2/32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标题 2"/>
          <p:cNvSpPr>
            <a:spLocks noGrp="1"/>
          </p:cNvSpPr>
          <p:nvPr>
            <p:ph type="title"/>
          </p:nvPr>
        </p:nvSpPr>
        <p:spPr bwMode="gray"/>
        <p:txBody>
          <a:bodyPr/>
          <a:lstStyle/>
          <a:p>
            <a:r>
              <a:rPr lang="zh-CN" altLang="en-US" smtClean="0"/>
              <a:t>邻居按需发布路由</a:t>
            </a:r>
            <a:endParaRPr lang="zh-CN" altLang="en-US" dirty="0"/>
          </a:p>
        </p:txBody>
      </p:sp>
      <p:sp>
        <p:nvSpPr>
          <p:cNvPr id="4" name="文本占位符 3"/>
          <p:cNvSpPr>
            <a:spLocks noGrp="1"/>
          </p:cNvSpPr>
          <p:nvPr>
            <p:ph type="body" sz="quarter" idx="10"/>
          </p:nvPr>
        </p:nvSpPr>
        <p:spPr bwMode="gray">
          <a:xfrm>
            <a:off x="455612" y="1047751"/>
            <a:ext cx="11293475" cy="1373900"/>
          </a:xfrm>
        </p:spPr>
        <p:txBody>
          <a:bodyPr/>
          <a:lstStyle/>
          <a:p>
            <a:r>
              <a:rPr lang="zh-CN" altLang="en-US" sz="2000" dirty="0" smtClean="0"/>
              <a:t>如果设备希望只接收自己需要的路由，但对端设备又无法针对每个与它连接的设备维护不同的出口策略。此时，可以通过配置</a:t>
            </a:r>
            <a:r>
              <a:rPr lang="en-US" altLang="zh-CN" sz="2000" dirty="0" smtClean="0"/>
              <a:t>BGP</a:t>
            </a:r>
            <a:r>
              <a:rPr lang="zh-CN" altLang="en-US" sz="2000" dirty="0" smtClean="0"/>
              <a:t>基于前缀的</a:t>
            </a:r>
            <a:r>
              <a:rPr lang="en-US" altLang="zh-CN" sz="2000" dirty="0" smtClean="0"/>
              <a:t>ORF</a:t>
            </a:r>
            <a:r>
              <a:rPr lang="zh-CN" altLang="en-US" sz="2000" dirty="0" smtClean="0"/>
              <a:t>（</a:t>
            </a:r>
            <a:r>
              <a:rPr lang="en-US" altLang="zh-CN" sz="2000" dirty="0" smtClean="0"/>
              <a:t>Outbound Route Filters</a:t>
            </a:r>
            <a:r>
              <a:rPr lang="zh-CN" altLang="en-US" sz="2000" dirty="0" smtClean="0"/>
              <a:t>，出口路由过滤器）来满足两端设备的需求。</a:t>
            </a:r>
            <a:endParaRPr lang="en-US" altLang="zh-CN" sz="2000" dirty="0" smtClean="0"/>
          </a:p>
        </p:txBody>
      </p:sp>
      <p:pic>
        <p:nvPicPr>
          <p:cNvPr id="5" name="图片 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333013" y="3038176"/>
            <a:ext cx="540000" cy="442800"/>
          </a:xfrm>
          <a:prstGeom prst="rect">
            <a:avLst/>
          </a:prstGeom>
        </p:spPr>
      </p:pic>
      <p:pic>
        <p:nvPicPr>
          <p:cNvPr id="6" name="图片 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169930" y="3038176"/>
            <a:ext cx="540000" cy="442800"/>
          </a:xfrm>
          <a:prstGeom prst="rect">
            <a:avLst/>
          </a:prstGeom>
        </p:spPr>
      </p:pic>
      <p:sp>
        <p:nvSpPr>
          <p:cNvPr id="8" name="TextBox 120">
            <a:extLst>
              <a:ext uri="{FF2B5EF4-FFF2-40B4-BE49-F238E27FC236}">
                <a16:creationId xmlns="" xmlns:a16="http://schemas.microsoft.com/office/drawing/2014/main" id="{020D7A1D-EFAD-4C8C-B9DE-D0FAD269B77A}"/>
              </a:ext>
            </a:extLst>
          </p:cNvPr>
          <p:cNvSpPr txBox="1"/>
          <p:nvPr/>
        </p:nvSpPr>
        <p:spPr bwMode="gray">
          <a:xfrm>
            <a:off x="4396081" y="2744885"/>
            <a:ext cx="413864" cy="307777"/>
          </a:xfrm>
          <a:prstGeom prst="rect">
            <a:avLst/>
          </a:prstGeom>
          <a:noFill/>
          <a:ln>
            <a:noFill/>
          </a:ln>
        </p:spPr>
        <p:txBody>
          <a:bodyPr wrap="squar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R1</a:t>
            </a:r>
          </a:p>
        </p:txBody>
      </p:sp>
      <p:sp>
        <p:nvSpPr>
          <p:cNvPr id="9" name="TextBox 120">
            <a:extLst>
              <a:ext uri="{FF2B5EF4-FFF2-40B4-BE49-F238E27FC236}">
                <a16:creationId xmlns="" xmlns:a16="http://schemas.microsoft.com/office/drawing/2014/main" id="{020D7A1D-EFAD-4C8C-B9DE-D0FAD269B77A}"/>
              </a:ext>
            </a:extLst>
          </p:cNvPr>
          <p:cNvSpPr txBox="1"/>
          <p:nvPr/>
        </p:nvSpPr>
        <p:spPr bwMode="gray">
          <a:xfrm>
            <a:off x="7232998" y="2744885"/>
            <a:ext cx="413864"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 name="直接连接符 10"/>
          <p:cNvCxnSpPr>
            <a:stCxn id="5" idx="3"/>
            <a:endCxn id="6" idx="1"/>
          </p:cNvCxnSpPr>
          <p:nvPr/>
        </p:nvCxnSpPr>
        <p:spPr bwMode="gray">
          <a:xfrm>
            <a:off x="4873013" y="3259576"/>
            <a:ext cx="22969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20">
            <a:extLst>
              <a:ext uri="{FF2B5EF4-FFF2-40B4-BE49-F238E27FC236}">
                <a16:creationId xmlns="" xmlns:a16="http://schemas.microsoft.com/office/drawing/2014/main" id="{020D7A1D-EFAD-4C8C-B9DE-D0FAD269B77A}"/>
              </a:ext>
            </a:extLst>
          </p:cNvPr>
          <p:cNvSpPr txBox="1"/>
          <p:nvPr/>
        </p:nvSpPr>
        <p:spPr bwMode="gray">
          <a:xfrm>
            <a:off x="7479469" y="2645646"/>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0" name="直接连接符 55"/>
          <p:cNvCxnSpPr/>
          <p:nvPr/>
        </p:nvCxnSpPr>
        <p:spPr bwMode="gray">
          <a:xfrm flipH="1">
            <a:off x="5374380" y="3132194"/>
            <a:ext cx="918225" cy="0"/>
          </a:xfrm>
          <a:prstGeom prst="line">
            <a:avLst/>
          </a:prstGeom>
          <a:solidFill>
            <a:schemeClr val="accent1"/>
          </a:solidFill>
          <a:ln w="38100" cap="flat" cmpd="sng" algn="ctr">
            <a:solidFill>
              <a:schemeClr val="tx1"/>
            </a:solidFill>
            <a:prstDash val="dash"/>
            <a:round/>
            <a:headEnd type="triangle" w="med" len="med"/>
            <a:tailEnd type="none" w="med" len="med"/>
          </a:ln>
          <a:effectLst/>
        </p:spPr>
      </p:cxnSp>
      <p:sp>
        <p:nvSpPr>
          <p:cNvPr id="21" name="TextBox 120">
            <a:extLst>
              <a:ext uri="{FF2B5EF4-FFF2-40B4-BE49-F238E27FC236}">
                <a16:creationId xmlns="" xmlns:a16="http://schemas.microsoft.com/office/drawing/2014/main" id="{020D7A1D-EFAD-4C8C-B9DE-D0FAD269B77A}"/>
              </a:ext>
            </a:extLst>
          </p:cNvPr>
          <p:cNvSpPr txBox="1"/>
          <p:nvPr/>
        </p:nvSpPr>
        <p:spPr bwMode="gray">
          <a:xfrm>
            <a:off x="5343071" y="2379962"/>
            <a:ext cx="1481497" cy="738664"/>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rPr>
              <a:t>路由通告：</a:t>
            </a:r>
            <a:endPar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10.1.1.1/32</a:t>
            </a:r>
          </a:p>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10.1.2.2/32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椭圆 21"/>
          <p:cNvSpPr/>
          <p:nvPr/>
        </p:nvSpPr>
        <p:spPr bwMode="gray">
          <a:xfrm>
            <a:off x="7082873" y="3183461"/>
            <a:ext cx="150125" cy="152230"/>
          </a:xfrm>
          <a:prstGeom prst="ellips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箭头连接符 25"/>
          <p:cNvCxnSpPr/>
          <p:nvPr/>
        </p:nvCxnSpPr>
        <p:spPr bwMode="gray">
          <a:xfrm flipV="1">
            <a:off x="7169930" y="3532537"/>
            <a:ext cx="0" cy="535880"/>
          </a:xfrm>
          <a:prstGeom prst="straightConnector1">
            <a:avLst/>
          </a:prstGeom>
          <a:ln w="19050">
            <a:solidFill>
              <a:srgbClr val="FDD351"/>
            </a:solidFill>
            <a:tailEnd type="triangle"/>
          </a:ln>
        </p:spPr>
        <p:style>
          <a:lnRef idx="1">
            <a:schemeClr val="accent1"/>
          </a:lnRef>
          <a:fillRef idx="0">
            <a:schemeClr val="accent1"/>
          </a:fillRef>
          <a:effectRef idx="0">
            <a:schemeClr val="accent1"/>
          </a:effectRef>
          <a:fontRef idx="minor">
            <a:schemeClr val="tx1"/>
          </a:fontRef>
        </p:style>
      </p:cxnSp>
      <p:sp>
        <p:nvSpPr>
          <p:cNvPr id="24" name="文本占位符 3"/>
          <p:cNvSpPr txBox="1">
            <a:spLocks/>
          </p:cNvSpPr>
          <p:nvPr/>
        </p:nvSpPr>
        <p:spPr bwMode="gray">
          <a:xfrm>
            <a:off x="6893537" y="3957716"/>
            <a:ext cx="4751067" cy="1294740"/>
          </a:xfrm>
          <a:prstGeom prst="rect">
            <a:avLst/>
          </a:prstGeom>
          <a:solidFill>
            <a:srgbClr val="FFFBEF"/>
          </a:solidFill>
          <a:ln w="9525">
            <a:solidFill>
              <a:srgbClr val="FDD351"/>
            </a:solidFill>
            <a:miter lim="800000"/>
            <a:headEnd/>
            <a:tailEnd/>
          </a:ln>
        </p:spPr>
        <p:txBody>
          <a:bodyPr vert="horz" wrap="square" lIns="108000" tIns="40071" rIns="108000" bIns="40071" numCol="1" anchor="ctr"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en-US" altLang="zh-CN" sz="1600" dirty="0" smtClean="0"/>
              <a:t>R2</a:t>
            </a:r>
            <a:r>
              <a:rPr lang="zh-CN" altLang="en-US" sz="1600" dirty="0" smtClean="0"/>
              <a:t>在接收口进行路由过滤，仅接收路由</a:t>
            </a:r>
            <a:r>
              <a:rPr lang="en-US" altLang="zh-CN" sz="1600" dirty="0" smtClean="0"/>
              <a:t>10.1.1.1/32</a:t>
            </a:r>
            <a:r>
              <a:rPr lang="zh-CN" altLang="en-US" sz="1600" dirty="0" smtClean="0"/>
              <a:t>。</a:t>
            </a:r>
            <a:endParaRPr lang="en-US" altLang="zh-CN" sz="1600" dirty="0" smtClean="0"/>
          </a:p>
          <a:p>
            <a:pPr marL="0" indent="0">
              <a:buNone/>
            </a:pPr>
            <a:r>
              <a:rPr lang="zh-CN" altLang="en-US" sz="1600" dirty="0" smtClean="0"/>
              <a:t>对于被</a:t>
            </a:r>
            <a:r>
              <a:rPr lang="zh-CN" altLang="en-US" sz="1600" dirty="0"/>
              <a:t>过滤掉的</a:t>
            </a:r>
            <a:r>
              <a:rPr lang="zh-CN" altLang="en-US" sz="1600" dirty="0" smtClean="0"/>
              <a:t>路由（如：</a:t>
            </a:r>
            <a:r>
              <a:rPr lang="en-US" altLang="zh-CN" sz="1600" dirty="0" smtClean="0"/>
              <a:t>10.1.2.2/32</a:t>
            </a:r>
            <a:r>
              <a:rPr lang="zh-CN" altLang="en-US" sz="1600" dirty="0" smtClean="0"/>
              <a:t>）而言</a:t>
            </a:r>
            <a:r>
              <a:rPr lang="zh-CN" altLang="en-US" sz="1600" dirty="0"/>
              <a:t>，实际上</a:t>
            </a:r>
            <a:r>
              <a:rPr lang="en-US" altLang="zh-CN" sz="1600" dirty="0"/>
              <a:t>R1</a:t>
            </a:r>
            <a:r>
              <a:rPr lang="zh-CN" altLang="en-US" sz="1600" dirty="0"/>
              <a:t>没有必要通告给</a:t>
            </a:r>
            <a:r>
              <a:rPr lang="en-US" altLang="zh-CN" sz="1600" dirty="0"/>
              <a:t>R2</a:t>
            </a:r>
            <a:r>
              <a:rPr lang="zh-CN" altLang="en-US" sz="1600" dirty="0" smtClean="0"/>
              <a:t>。</a:t>
            </a:r>
            <a:endParaRPr lang="zh-CN" altLang="en-US" sz="1600" dirty="0"/>
          </a:p>
        </p:txBody>
      </p:sp>
      <p:sp>
        <p:nvSpPr>
          <p:cNvPr id="29" name="椭圆 28"/>
          <p:cNvSpPr/>
          <p:nvPr/>
        </p:nvSpPr>
        <p:spPr bwMode="gray">
          <a:xfrm>
            <a:off x="8489821" y="3512350"/>
            <a:ext cx="150125" cy="152230"/>
          </a:xfrm>
          <a:prstGeom prst="ellips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TextBox 120">
            <a:extLst>
              <a:ext uri="{FF2B5EF4-FFF2-40B4-BE49-F238E27FC236}">
                <a16:creationId xmlns="" xmlns:a16="http://schemas.microsoft.com/office/drawing/2014/main" id="{020D7A1D-EFAD-4C8C-B9DE-D0FAD269B77A}"/>
              </a:ext>
            </a:extLst>
          </p:cNvPr>
          <p:cNvSpPr txBox="1"/>
          <p:nvPr/>
        </p:nvSpPr>
        <p:spPr bwMode="gray">
          <a:xfrm>
            <a:off x="8651358" y="3434578"/>
            <a:ext cx="910791" cy="307777"/>
          </a:xfrm>
          <a:prstGeom prst="rect">
            <a:avLst/>
          </a:prstGeom>
          <a:noFill/>
          <a:ln>
            <a:noFill/>
          </a:ln>
        </p:spPr>
        <p:txBody>
          <a:bodyPr wrap="squar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路由过滤</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文本占位符 3"/>
          <p:cNvSpPr txBox="1">
            <a:spLocks/>
          </p:cNvSpPr>
          <p:nvPr/>
        </p:nvSpPr>
        <p:spPr bwMode="gray">
          <a:xfrm>
            <a:off x="468317" y="3977174"/>
            <a:ext cx="6131266" cy="2186844"/>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altLang="zh-CN" sz="1600" dirty="0"/>
              <a:t>BGP</a:t>
            </a:r>
            <a:r>
              <a:rPr lang="zh-CN" altLang="en-US" sz="1600" dirty="0"/>
              <a:t>基于前缀的</a:t>
            </a:r>
            <a:r>
              <a:rPr lang="en-US" altLang="zh-CN" sz="1600" dirty="0" smtClean="0"/>
              <a:t>ORF</a:t>
            </a:r>
            <a:r>
              <a:rPr lang="zh-CN" altLang="en-US" sz="1600" dirty="0" smtClean="0"/>
              <a:t>能力</a:t>
            </a:r>
            <a:r>
              <a:rPr lang="zh-CN" altLang="en-US" sz="1600" dirty="0"/>
              <a:t>，能将本端设备配置的基于前缀的入口策略通过路由</a:t>
            </a:r>
            <a:r>
              <a:rPr lang="zh-CN" altLang="en-US" sz="1600" dirty="0" smtClean="0"/>
              <a:t>刷新报文</a:t>
            </a:r>
            <a:r>
              <a:rPr lang="zh-CN" altLang="en-US" sz="1600" dirty="0"/>
              <a:t>发送给</a:t>
            </a:r>
            <a:r>
              <a:rPr lang="en-US" altLang="zh-CN" sz="1600" dirty="0"/>
              <a:t>BGP</a:t>
            </a:r>
            <a:r>
              <a:rPr lang="zh-CN" altLang="en-US" sz="1600" dirty="0"/>
              <a:t>邻居。</a:t>
            </a:r>
            <a:r>
              <a:rPr lang="en-US" altLang="zh-CN" sz="1600" dirty="0"/>
              <a:t>BGP</a:t>
            </a:r>
            <a:r>
              <a:rPr lang="zh-CN" altLang="en-US" sz="1600" dirty="0"/>
              <a:t>邻居根据这些</a:t>
            </a:r>
            <a:r>
              <a:rPr lang="zh-CN" altLang="en-US" sz="1600" dirty="0" smtClean="0"/>
              <a:t>策略（刷新报文中）构造</a:t>
            </a:r>
            <a:r>
              <a:rPr lang="zh-CN" altLang="en-US" sz="1600" dirty="0"/>
              <a:t>出口策略，在路由发送时对路由进行过滤</a:t>
            </a:r>
            <a:r>
              <a:rPr lang="zh-CN" altLang="en-US" sz="1600" dirty="0" smtClean="0"/>
              <a:t>。</a:t>
            </a:r>
            <a:endParaRPr lang="en-US" altLang="zh-CN" sz="1600" dirty="0" smtClean="0"/>
          </a:p>
          <a:p>
            <a:r>
              <a:rPr lang="zh-CN" altLang="en-US" sz="1600" dirty="0" smtClean="0"/>
              <a:t>这样</a:t>
            </a:r>
            <a:r>
              <a:rPr lang="zh-CN" altLang="en-US" sz="1600" dirty="0"/>
              <a:t>不仅避免了本端设备接收大量无用的路由，降低了本端设备的</a:t>
            </a:r>
            <a:r>
              <a:rPr lang="en-US" altLang="zh-CN" sz="1600" dirty="0"/>
              <a:t>CPU</a:t>
            </a:r>
            <a:r>
              <a:rPr lang="zh-CN" altLang="en-US" sz="1600" dirty="0"/>
              <a:t>使用率，还有效减少了</a:t>
            </a:r>
            <a:r>
              <a:rPr lang="en-US" altLang="zh-CN" sz="1600" dirty="0"/>
              <a:t>BGP</a:t>
            </a:r>
            <a:r>
              <a:rPr lang="zh-CN" altLang="en-US" sz="1600" dirty="0"/>
              <a:t>邻居的配置工作，降低了链路带宽的占用率。</a:t>
            </a:r>
            <a:endParaRPr lang="en-US" altLang="zh-CN" sz="1600" dirty="0" smtClean="0"/>
          </a:p>
        </p:txBody>
      </p:sp>
      <p:sp>
        <p:nvSpPr>
          <p:cNvPr id="32" name="五边形 31"/>
          <p:cNvSpPr/>
          <p:nvPr/>
        </p:nvSpPr>
        <p:spPr bwMode="gray">
          <a:xfrm>
            <a:off x="8421350" y="99742"/>
            <a:ext cx="72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ORF</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燕尾形 32"/>
          <p:cNvSpPr/>
          <p:nvPr/>
        </p:nvSpPr>
        <p:spPr bwMode="gray">
          <a:xfrm>
            <a:off x="9061791" y="99742"/>
            <a:ext cx="93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对等体组</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燕尾形 33"/>
          <p:cNvSpPr/>
          <p:nvPr/>
        </p:nvSpPr>
        <p:spPr bwMode="gray">
          <a:xfrm>
            <a:off x="9918233" y="99742"/>
            <a:ext cx="93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安全特性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燕尾形 26"/>
          <p:cNvSpPr/>
          <p:nvPr/>
        </p:nvSpPr>
        <p:spPr bwMode="gray">
          <a:xfrm>
            <a:off x="10774674" y="99742"/>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字节</a:t>
            </a: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AS</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号</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47163634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ORF</a:t>
            </a:r>
            <a:r>
              <a:rPr lang="zh-CN" altLang="en-US" smtClean="0"/>
              <a:t>的基础配置命令</a:t>
            </a:r>
            <a:endParaRPr lang="zh-CN" altLang="en-US" dirty="0"/>
          </a:p>
        </p:txBody>
      </p:sp>
      <p:sp>
        <p:nvSpPr>
          <p:cNvPr id="4" name="矩形 3"/>
          <p:cNvSpPr/>
          <p:nvPr/>
        </p:nvSpPr>
        <p:spPr>
          <a:xfrm>
            <a:off x="1031917" y="1676160"/>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[Huawei-bgp-af-ipv4] </a:t>
            </a:r>
            <a:r>
              <a:rPr lang="en-US" altLang="zh-CN" sz="1600" b="1" dirty="0"/>
              <a:t>peer</a:t>
            </a:r>
            <a:r>
              <a:rPr lang="en-US" altLang="zh-CN" sz="1600" dirty="0"/>
              <a:t> { </a:t>
            </a:r>
            <a:r>
              <a:rPr lang="en-US" altLang="zh-CN" sz="1600" i="1" dirty="0"/>
              <a:t>group-name</a:t>
            </a:r>
            <a:r>
              <a:rPr lang="en-US" altLang="zh-CN" sz="1600" dirty="0"/>
              <a:t> | </a:t>
            </a:r>
            <a:r>
              <a:rPr lang="en-US" altLang="zh-CN" sz="1600" i="1" dirty="0"/>
              <a:t>ipv4-address</a:t>
            </a:r>
            <a:r>
              <a:rPr lang="en-US" altLang="zh-CN" sz="1600" dirty="0"/>
              <a:t> } </a:t>
            </a:r>
            <a:r>
              <a:rPr lang="en-US" altLang="zh-CN" sz="1600" b="1" dirty="0"/>
              <a:t>ip-prefix</a:t>
            </a:r>
            <a:r>
              <a:rPr lang="en-US" altLang="zh-CN" sz="1600" dirty="0"/>
              <a:t> </a:t>
            </a:r>
            <a:r>
              <a:rPr lang="en-US" altLang="zh-CN" sz="1600" i="1" dirty="0"/>
              <a:t>ip-prefix-name</a:t>
            </a:r>
            <a:r>
              <a:rPr lang="en-US" altLang="zh-CN" sz="1600" dirty="0"/>
              <a:t> { </a:t>
            </a:r>
            <a:r>
              <a:rPr lang="en-US" altLang="zh-CN" sz="1600" b="1" dirty="0"/>
              <a:t>import</a:t>
            </a:r>
            <a:r>
              <a:rPr lang="en-US" altLang="zh-CN" sz="1600" dirty="0"/>
              <a:t> | </a:t>
            </a:r>
            <a:r>
              <a:rPr lang="en-US" altLang="zh-CN" sz="1600" b="1" dirty="0"/>
              <a:t>export</a:t>
            </a:r>
            <a:r>
              <a:rPr lang="en-US" altLang="zh-CN" sz="1600" dirty="0"/>
              <a:t> }</a:t>
            </a:r>
            <a:endParaRPr lang="zh-CN" altLang="en-US" sz="1600" dirty="0">
              <a:cs typeface="Courier New" panose="02070309020205020404" pitchFamily="49" charset="0"/>
            </a:endParaRPr>
          </a:p>
        </p:txBody>
      </p:sp>
      <p:sp>
        <p:nvSpPr>
          <p:cNvPr id="5" name="矩形 4"/>
          <p:cNvSpPr/>
          <p:nvPr/>
        </p:nvSpPr>
        <p:spPr>
          <a:xfrm>
            <a:off x="551384" y="1244013"/>
            <a:ext cx="11089232" cy="338554"/>
          </a:xfrm>
          <a:prstGeom prst="rect">
            <a:avLst/>
          </a:prstGeom>
        </p:spPr>
        <p:txBody>
          <a:bodyPr wrap="square">
            <a:spAutoFit/>
          </a:bodyPr>
          <a:lstStyle/>
          <a:p>
            <a:pPr marL="342900" indent="-342900" fontAlgn="auto">
              <a:buFont typeface="+mj-lt"/>
              <a:buAutoNum type="arabicPeriod"/>
            </a:pPr>
            <a:r>
              <a:rPr lang="zh-CN" altLang="en-US" sz="1600" dirty="0">
                <a:cs typeface="Courier New" panose="02070309020205020404" pitchFamily="49" charset="0"/>
              </a:rPr>
              <a:t>配置对等体（组）基于</a:t>
            </a:r>
            <a:r>
              <a:rPr lang="en-US" altLang="zh-CN" sz="1600" dirty="0">
                <a:cs typeface="Courier New" panose="02070309020205020404" pitchFamily="49" charset="0"/>
              </a:rPr>
              <a:t>IP</a:t>
            </a:r>
            <a:r>
              <a:rPr lang="zh-CN" altLang="en-US" sz="1600" dirty="0">
                <a:cs typeface="Courier New" panose="02070309020205020404" pitchFamily="49" charset="0"/>
              </a:rPr>
              <a:t>地址前缀列表的路由过滤策略。</a:t>
            </a:r>
          </a:p>
        </p:txBody>
      </p:sp>
      <p:sp>
        <p:nvSpPr>
          <p:cNvPr id="9" name="矩形 8"/>
          <p:cNvSpPr/>
          <p:nvPr/>
        </p:nvSpPr>
        <p:spPr>
          <a:xfrm>
            <a:off x="1031917" y="3002254"/>
            <a:ext cx="10608699" cy="584775"/>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a:t>
            </a:r>
            <a:r>
              <a:rPr lang="en-US" altLang="zh-CN" sz="1600" dirty="0" smtClean="0">
                <a:cs typeface="Courier New" panose="02070309020205020404" pitchFamily="49" charset="0"/>
              </a:rPr>
              <a:t>Huawei-bgp] </a:t>
            </a:r>
            <a:r>
              <a:rPr lang="en-US" altLang="zh-CN" sz="1600" b="1" dirty="0"/>
              <a:t>peer</a:t>
            </a:r>
            <a:r>
              <a:rPr lang="en-US" altLang="zh-CN" sz="1600" dirty="0"/>
              <a:t> { </a:t>
            </a:r>
            <a:r>
              <a:rPr lang="en-US" altLang="zh-CN" sz="1600" i="1" dirty="0"/>
              <a:t>group-name</a:t>
            </a:r>
            <a:r>
              <a:rPr lang="en-US" altLang="zh-CN" sz="1600" dirty="0"/>
              <a:t> | </a:t>
            </a:r>
            <a:r>
              <a:rPr lang="en-US" altLang="zh-CN" sz="1600" i="1" dirty="0"/>
              <a:t>ipv4-address</a:t>
            </a:r>
            <a:r>
              <a:rPr lang="en-US" altLang="zh-CN" sz="1600" dirty="0"/>
              <a:t> } </a:t>
            </a:r>
            <a:r>
              <a:rPr lang="en-US" altLang="zh-CN" sz="1600" b="1" dirty="0"/>
              <a:t>capability-advertise </a:t>
            </a:r>
            <a:r>
              <a:rPr lang="en-US" altLang="zh-CN" sz="1600" b="1" dirty="0" err="1"/>
              <a:t>orf</a:t>
            </a:r>
            <a:r>
              <a:rPr lang="en-US" altLang="zh-CN" sz="1600" dirty="0"/>
              <a:t> [ </a:t>
            </a:r>
            <a:r>
              <a:rPr lang="en-US" altLang="zh-CN" sz="1600" b="1" dirty="0"/>
              <a:t>non-standard-compatible</a:t>
            </a:r>
            <a:r>
              <a:rPr lang="en-US" altLang="zh-CN" sz="1600" dirty="0"/>
              <a:t> ] </a:t>
            </a:r>
            <a:r>
              <a:rPr lang="en-US" altLang="zh-CN" sz="1600" b="1" dirty="0"/>
              <a:t>ip-prefix</a:t>
            </a:r>
            <a:r>
              <a:rPr lang="en-US" altLang="zh-CN" sz="1600" dirty="0"/>
              <a:t> { </a:t>
            </a:r>
            <a:r>
              <a:rPr lang="en-US" altLang="zh-CN" sz="1600" b="1" dirty="0"/>
              <a:t>both</a:t>
            </a:r>
            <a:r>
              <a:rPr lang="en-US" altLang="zh-CN" sz="1600" dirty="0"/>
              <a:t> | </a:t>
            </a:r>
            <a:r>
              <a:rPr lang="en-US" altLang="zh-CN" sz="1600" b="1" dirty="0"/>
              <a:t>receive</a:t>
            </a:r>
            <a:r>
              <a:rPr lang="en-US" altLang="zh-CN" sz="1600" dirty="0"/>
              <a:t> | </a:t>
            </a:r>
            <a:r>
              <a:rPr lang="en-US" altLang="zh-CN" sz="1600" b="1" dirty="0"/>
              <a:t>send</a:t>
            </a:r>
            <a:r>
              <a:rPr lang="en-US" altLang="zh-CN" sz="1600" dirty="0"/>
              <a:t> } [ </a:t>
            </a:r>
            <a:r>
              <a:rPr lang="en-US" altLang="zh-CN" sz="1600" b="1" dirty="0"/>
              <a:t>standard-match</a:t>
            </a:r>
            <a:r>
              <a:rPr lang="en-US" altLang="zh-CN" sz="1600" dirty="0"/>
              <a:t> ]</a:t>
            </a:r>
            <a:endParaRPr lang="zh-CN" altLang="en-US" sz="1600" dirty="0">
              <a:cs typeface="Courier New" panose="02070309020205020404" pitchFamily="49" charset="0"/>
            </a:endParaRPr>
          </a:p>
        </p:txBody>
      </p:sp>
      <p:sp>
        <p:nvSpPr>
          <p:cNvPr id="10" name="矩形 9"/>
          <p:cNvSpPr/>
          <p:nvPr/>
        </p:nvSpPr>
        <p:spPr>
          <a:xfrm>
            <a:off x="551384" y="2570107"/>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cs typeface="Courier New" panose="02070309020205020404" pitchFamily="49" charset="0"/>
              </a:rPr>
              <a:t>使能</a:t>
            </a:r>
            <a:r>
              <a:rPr lang="en-US" altLang="zh-CN" sz="1600" dirty="0">
                <a:cs typeface="Courier New" panose="02070309020205020404" pitchFamily="49" charset="0"/>
              </a:rPr>
              <a:t>BGP</a:t>
            </a:r>
            <a:r>
              <a:rPr lang="zh-CN" altLang="en-US" sz="1600" dirty="0">
                <a:cs typeface="Courier New" panose="02070309020205020404" pitchFamily="49" charset="0"/>
              </a:rPr>
              <a:t>对等体（组）基于地址前缀的</a:t>
            </a:r>
            <a:r>
              <a:rPr lang="en-US" altLang="zh-CN" sz="1600" dirty="0">
                <a:cs typeface="Courier New" panose="02070309020205020404" pitchFamily="49" charset="0"/>
              </a:rPr>
              <a:t>ORF</a:t>
            </a:r>
            <a:r>
              <a:rPr lang="zh-CN" altLang="en-US" sz="1600" dirty="0" smtClean="0">
                <a:cs typeface="Courier New" panose="02070309020205020404" pitchFamily="49" charset="0"/>
              </a:rPr>
              <a:t>功能。</a:t>
            </a:r>
            <a:endParaRPr lang="zh-CN" altLang="en-US" sz="1600" dirty="0">
              <a:cs typeface="Courier New" panose="02070309020205020404" pitchFamily="49" charset="0"/>
            </a:endParaRPr>
          </a:p>
        </p:txBody>
      </p:sp>
      <p:sp>
        <p:nvSpPr>
          <p:cNvPr id="12" name="矩形 11"/>
          <p:cNvSpPr/>
          <p:nvPr/>
        </p:nvSpPr>
        <p:spPr>
          <a:xfrm>
            <a:off x="1031917" y="3601317"/>
            <a:ext cx="10608699" cy="400110"/>
          </a:xfrm>
          <a:prstGeom prst="rect">
            <a:avLst/>
          </a:prstGeom>
        </p:spPr>
        <p:txBody>
          <a:bodyPr wrap="square">
            <a:spAutoFit/>
          </a:bodyPr>
          <a:lstStyle/>
          <a:p>
            <a:pPr>
              <a:lnSpc>
                <a:spcPts val="2400"/>
              </a:lnSpc>
            </a:pPr>
            <a:r>
              <a:rPr lang="zh-CN" altLang="en-US" sz="1600" dirty="0" smtClean="0">
                <a:cs typeface="Courier New" panose="02070309020205020404" pitchFamily="49" charset="0"/>
              </a:rPr>
              <a:t>注意：</a:t>
            </a:r>
            <a:r>
              <a:rPr lang="en-US" altLang="zh-CN" sz="1600" dirty="0" smtClean="0">
                <a:cs typeface="Courier New" panose="02070309020205020404" pitchFamily="49" charset="0"/>
              </a:rPr>
              <a:t>ORF</a:t>
            </a:r>
            <a:r>
              <a:rPr lang="zh-CN" altLang="en-US" sz="1600" dirty="0" smtClean="0">
                <a:cs typeface="Courier New" panose="02070309020205020404" pitchFamily="49" charset="0"/>
              </a:rPr>
              <a:t>功能需要对等体两端同时开启。</a:t>
            </a:r>
            <a:endParaRPr lang="zh-CN" altLang="en-US" sz="1600" dirty="0">
              <a:cs typeface="Courier New" panose="02070309020205020404" pitchFamily="49" charset="0"/>
            </a:endParaRPr>
          </a:p>
        </p:txBody>
      </p:sp>
      <p:sp>
        <p:nvSpPr>
          <p:cNvPr id="14" name="五边形 13"/>
          <p:cNvSpPr/>
          <p:nvPr/>
        </p:nvSpPr>
        <p:spPr bwMode="gray">
          <a:xfrm>
            <a:off x="8421350" y="99742"/>
            <a:ext cx="72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ORF</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燕尾形 15"/>
          <p:cNvSpPr/>
          <p:nvPr/>
        </p:nvSpPr>
        <p:spPr bwMode="gray">
          <a:xfrm>
            <a:off x="9061791" y="99742"/>
            <a:ext cx="93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对等体组</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燕尾形 16"/>
          <p:cNvSpPr/>
          <p:nvPr/>
        </p:nvSpPr>
        <p:spPr bwMode="gray">
          <a:xfrm>
            <a:off x="9918233" y="99742"/>
            <a:ext cx="93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安全特性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燕尾形 17"/>
          <p:cNvSpPr/>
          <p:nvPr/>
        </p:nvSpPr>
        <p:spPr bwMode="gray">
          <a:xfrm>
            <a:off x="10774674" y="99742"/>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字节</a:t>
            </a: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AS</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号</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31774655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ORF</a:t>
            </a:r>
            <a:r>
              <a:rPr lang="zh-CN" altLang="en-US" smtClean="0"/>
              <a:t>配置举例</a:t>
            </a:r>
            <a:endParaRPr lang="zh-CN" altLang="en-US" dirty="0"/>
          </a:p>
        </p:txBody>
      </p:sp>
      <p:sp>
        <p:nvSpPr>
          <p:cNvPr id="24" name="文本框 23"/>
          <p:cNvSpPr txBox="1"/>
          <p:nvPr/>
        </p:nvSpPr>
        <p:spPr>
          <a:xfrm>
            <a:off x="6100276" y="1956306"/>
            <a:ext cx="5645637" cy="1169551"/>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smtClean="0">
                <a:solidFill>
                  <a:prstClr val="black"/>
                </a:solidFill>
                <a:cs typeface="Courier New" panose="02070309020205020404" pitchFamily="49" charset="0"/>
              </a:rPr>
              <a:t>[R2] ip </a:t>
            </a:r>
            <a:r>
              <a:rPr lang="en-US" altLang="zh-CN" sz="1400" dirty="0">
                <a:solidFill>
                  <a:prstClr val="black"/>
                </a:solidFill>
                <a:cs typeface="Courier New" panose="02070309020205020404" pitchFamily="49" charset="0"/>
              </a:rPr>
              <a:t>ip-prefix 1 permit </a:t>
            </a:r>
            <a:r>
              <a:rPr lang="en-US" altLang="zh-CN" sz="1400" dirty="0" smtClean="0">
                <a:solidFill>
                  <a:prstClr val="black"/>
                </a:solidFill>
                <a:cs typeface="Courier New" panose="02070309020205020404" pitchFamily="49" charset="0"/>
              </a:rPr>
              <a:t>10.1.1.1 32</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smtClean="0">
                <a:solidFill>
                  <a:prstClr val="black"/>
                </a:solidFill>
                <a:cs typeface="Courier New" panose="02070309020205020404" pitchFamily="49" charset="0"/>
              </a:rPr>
              <a:t>[R2] bgp 102</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smtClean="0">
                <a:solidFill>
                  <a:prstClr val="black"/>
                </a:solidFill>
                <a:cs typeface="Courier New" panose="02070309020205020404" pitchFamily="49" charset="0"/>
              </a:rPr>
              <a:t>[R2-bgp] peer 10.1.12.1 </a:t>
            </a:r>
            <a:r>
              <a:rPr lang="en-US" altLang="zh-CN" sz="1400" dirty="0">
                <a:solidFill>
                  <a:prstClr val="black"/>
                </a:solidFill>
                <a:cs typeface="Courier New" panose="02070309020205020404" pitchFamily="49" charset="0"/>
              </a:rPr>
              <a:t>as-number </a:t>
            </a:r>
            <a:r>
              <a:rPr lang="en-US" altLang="zh-CN" sz="1400" dirty="0" smtClean="0">
                <a:solidFill>
                  <a:prstClr val="black"/>
                </a:solidFill>
                <a:cs typeface="Courier New" panose="02070309020205020404" pitchFamily="49" charset="0"/>
              </a:rPr>
              <a:t>101</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smtClean="0">
                <a:solidFill>
                  <a:prstClr val="black"/>
                </a:solidFill>
                <a:cs typeface="Courier New" panose="02070309020205020404" pitchFamily="49" charset="0"/>
              </a:rPr>
              <a:t>[R2-bgp</a:t>
            </a:r>
            <a:r>
              <a:rPr lang="en-US" altLang="zh-CN" sz="1400" dirty="0">
                <a:solidFill>
                  <a:prstClr val="black"/>
                </a:solidFill>
                <a:cs typeface="Courier New" panose="02070309020205020404" pitchFamily="49" charset="0"/>
              </a:rPr>
              <a:t>] </a:t>
            </a:r>
            <a:r>
              <a:rPr lang="en-US" altLang="zh-CN" sz="1400" dirty="0" smtClean="0">
                <a:solidFill>
                  <a:srgbClr val="C7000B"/>
                </a:solidFill>
                <a:cs typeface="Courier New" panose="02070309020205020404" pitchFamily="49" charset="0"/>
              </a:rPr>
              <a:t>peer 10.1.12.1 ip-prefix 1 import</a:t>
            </a:r>
          </a:p>
          <a:p>
            <a:pPr fontAlgn="auto">
              <a:spcBef>
                <a:spcPts val="0"/>
              </a:spcBef>
              <a:spcAft>
                <a:spcPts val="0"/>
              </a:spcAft>
            </a:pPr>
            <a:r>
              <a:rPr lang="en-US" altLang="zh-CN" sz="1400" dirty="0" smtClean="0">
                <a:solidFill>
                  <a:prstClr val="black"/>
                </a:solidFill>
                <a:cs typeface="Courier New" panose="02070309020205020404" pitchFamily="49" charset="0"/>
              </a:rPr>
              <a:t>[R2-bgp] </a:t>
            </a:r>
            <a:r>
              <a:rPr lang="en-US" altLang="zh-CN" sz="1400" dirty="0">
                <a:solidFill>
                  <a:srgbClr val="C7000B"/>
                </a:solidFill>
                <a:cs typeface="Courier New" panose="02070309020205020404" pitchFamily="49" charset="0"/>
              </a:rPr>
              <a:t>peer 10.1.12.1 capability-advertise </a:t>
            </a:r>
            <a:r>
              <a:rPr lang="en-US" altLang="zh-CN" sz="1400" dirty="0" err="1">
                <a:solidFill>
                  <a:srgbClr val="C7000B"/>
                </a:solidFill>
                <a:cs typeface="Courier New" panose="02070309020205020404" pitchFamily="49" charset="0"/>
              </a:rPr>
              <a:t>orf</a:t>
            </a:r>
            <a:r>
              <a:rPr lang="en-US" altLang="zh-CN" sz="1400" dirty="0">
                <a:solidFill>
                  <a:srgbClr val="C7000B"/>
                </a:solidFill>
                <a:cs typeface="Courier New" panose="02070309020205020404" pitchFamily="49" charset="0"/>
              </a:rPr>
              <a:t> ip-prefix send </a:t>
            </a:r>
          </a:p>
        </p:txBody>
      </p:sp>
      <p:sp>
        <p:nvSpPr>
          <p:cNvPr id="58" name="文本框 57"/>
          <p:cNvSpPr txBox="1"/>
          <p:nvPr/>
        </p:nvSpPr>
        <p:spPr>
          <a:xfrm>
            <a:off x="6100276" y="1326810"/>
            <a:ext cx="5645638" cy="584775"/>
          </a:xfrm>
          <a:prstGeom prst="rect">
            <a:avLst/>
          </a:prstGeom>
          <a:noFill/>
        </p:spPr>
        <p:txBody>
          <a:bodyPr wrap="square" rtlCol="0">
            <a:spAutoFit/>
          </a:bodyPr>
          <a:lstStyle/>
          <a:p>
            <a:pPr fontAlgn="auto">
              <a:spcBef>
                <a:spcPts val="0"/>
              </a:spcBef>
              <a:spcAft>
                <a:spcPts val="0"/>
              </a:spcAft>
            </a:pPr>
            <a:r>
              <a:rPr lang="en-US" altLang="zh-CN" sz="1600" dirty="0" smtClean="0">
                <a:solidFill>
                  <a:prstClr val="black"/>
                </a:solidFill>
              </a:rPr>
              <a:t>1</a:t>
            </a:r>
            <a:r>
              <a:rPr lang="zh-CN" altLang="en-US" sz="1600" dirty="0" smtClean="0">
                <a:solidFill>
                  <a:prstClr val="black"/>
                </a:solidFill>
              </a:rPr>
              <a:t>、</a:t>
            </a:r>
            <a:r>
              <a:rPr lang="en-US" altLang="zh-CN" sz="1600" dirty="0" smtClean="0">
                <a:solidFill>
                  <a:prstClr val="black"/>
                </a:solidFill>
              </a:rPr>
              <a:t>R2</a:t>
            </a:r>
            <a:r>
              <a:rPr lang="zh-CN" altLang="en-US" sz="1600" dirty="0">
                <a:solidFill>
                  <a:prstClr val="black"/>
                </a:solidFill>
              </a:rPr>
              <a:t>上</a:t>
            </a:r>
            <a:r>
              <a:rPr lang="zh-CN" altLang="en-US" sz="1600" dirty="0" smtClean="0">
                <a:solidFill>
                  <a:prstClr val="black"/>
                </a:solidFill>
              </a:rPr>
              <a:t>配置基于</a:t>
            </a:r>
            <a:r>
              <a:rPr lang="en-US" altLang="zh-CN" sz="1600" dirty="0" smtClean="0">
                <a:solidFill>
                  <a:prstClr val="black"/>
                </a:solidFill>
              </a:rPr>
              <a:t>10.1.1.1/32</a:t>
            </a:r>
            <a:r>
              <a:rPr lang="zh-CN" altLang="en-US" sz="1600" dirty="0" smtClean="0">
                <a:solidFill>
                  <a:prstClr val="black"/>
                </a:solidFill>
              </a:rPr>
              <a:t>的</a:t>
            </a:r>
            <a:r>
              <a:rPr lang="zh-CN" altLang="en-US" sz="1600" dirty="0">
                <a:solidFill>
                  <a:prstClr val="black"/>
                </a:solidFill>
              </a:rPr>
              <a:t>路由过滤</a:t>
            </a:r>
            <a:r>
              <a:rPr lang="zh-CN" altLang="en-US" sz="1600" dirty="0" smtClean="0">
                <a:solidFill>
                  <a:prstClr val="black"/>
                </a:solidFill>
              </a:rPr>
              <a:t>策略，并使能</a:t>
            </a:r>
            <a:r>
              <a:rPr lang="en-US" altLang="zh-CN" sz="1600" dirty="0" smtClean="0">
                <a:solidFill>
                  <a:prstClr val="black"/>
                </a:solidFill>
              </a:rPr>
              <a:t>ORF</a:t>
            </a:r>
            <a:r>
              <a:rPr lang="zh-CN" altLang="en-US" sz="1600" dirty="0" smtClean="0">
                <a:solidFill>
                  <a:prstClr val="black"/>
                </a:solidFill>
              </a:rPr>
              <a:t>功能，发送</a:t>
            </a:r>
            <a:r>
              <a:rPr lang="en-US" altLang="zh-CN" sz="1600" dirty="0" smtClean="0">
                <a:solidFill>
                  <a:prstClr val="black"/>
                </a:solidFill>
              </a:rPr>
              <a:t>ORF</a:t>
            </a:r>
            <a:r>
              <a:rPr lang="zh-CN" altLang="en-US" sz="1600" dirty="0" smtClean="0">
                <a:solidFill>
                  <a:prstClr val="black"/>
                </a:solidFill>
              </a:rPr>
              <a:t>报文。</a:t>
            </a:r>
            <a:endParaRPr lang="zh-CN" altLang="en-US" sz="1600" dirty="0">
              <a:solidFill>
                <a:prstClr val="black"/>
              </a:solidFill>
            </a:endParaRPr>
          </a:p>
        </p:txBody>
      </p:sp>
      <p:sp>
        <p:nvSpPr>
          <p:cNvPr id="61" name="任意多边形 25"/>
          <p:cNvSpPr/>
          <p:nvPr/>
        </p:nvSpPr>
        <p:spPr bwMode="gray">
          <a:xfrm>
            <a:off x="4414280" y="1516987"/>
            <a:ext cx="1282895" cy="1350517"/>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pic>
        <p:nvPicPr>
          <p:cNvPr id="67" name="图片 6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849002" y="2057865"/>
            <a:ext cx="540000" cy="442800"/>
          </a:xfrm>
          <a:prstGeom prst="rect">
            <a:avLst/>
          </a:prstGeom>
        </p:spPr>
      </p:pic>
      <p:sp>
        <p:nvSpPr>
          <p:cNvPr id="70" name="任意多边形 25"/>
          <p:cNvSpPr/>
          <p:nvPr/>
        </p:nvSpPr>
        <p:spPr bwMode="gray">
          <a:xfrm>
            <a:off x="522288" y="1516987"/>
            <a:ext cx="2208768" cy="1350517"/>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pic>
        <p:nvPicPr>
          <p:cNvPr id="71" name="图片 7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886222" y="2057865"/>
            <a:ext cx="540000" cy="442800"/>
          </a:xfrm>
          <a:prstGeom prst="rect">
            <a:avLst/>
          </a:prstGeom>
        </p:spPr>
      </p:pic>
      <p:sp>
        <p:nvSpPr>
          <p:cNvPr id="72" name="TextBox 120">
            <a:extLst>
              <a:ext uri="{FF2B5EF4-FFF2-40B4-BE49-F238E27FC236}">
                <a16:creationId xmlns="" xmlns:a16="http://schemas.microsoft.com/office/drawing/2014/main" id="{020D7A1D-EFAD-4C8C-B9DE-D0FAD269B77A}"/>
              </a:ext>
            </a:extLst>
          </p:cNvPr>
          <p:cNvSpPr txBox="1"/>
          <p:nvPr/>
        </p:nvSpPr>
        <p:spPr bwMode="gray">
          <a:xfrm>
            <a:off x="482039" y="1515848"/>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TextBox 120">
            <a:extLst>
              <a:ext uri="{FF2B5EF4-FFF2-40B4-BE49-F238E27FC236}">
                <a16:creationId xmlns="" xmlns:a16="http://schemas.microsoft.com/office/drawing/2014/main" id="{020D7A1D-EFAD-4C8C-B9DE-D0FAD269B77A}"/>
              </a:ext>
            </a:extLst>
          </p:cNvPr>
          <p:cNvSpPr txBox="1"/>
          <p:nvPr/>
        </p:nvSpPr>
        <p:spPr bwMode="gray">
          <a:xfrm>
            <a:off x="4404337" y="1515848"/>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4" name="直接连接符 73"/>
          <p:cNvCxnSpPr>
            <a:stCxn id="71" idx="3"/>
            <a:endCxn id="67" idx="1"/>
          </p:cNvCxnSpPr>
          <p:nvPr/>
        </p:nvCxnSpPr>
        <p:spPr bwMode="gray">
          <a:xfrm>
            <a:off x="2426222" y="2279265"/>
            <a:ext cx="24227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a:endCxn id="71" idx="1"/>
          </p:cNvCxnSpPr>
          <p:nvPr/>
        </p:nvCxnSpPr>
        <p:spPr bwMode="gray">
          <a:xfrm>
            <a:off x="1771624" y="2276188"/>
            <a:ext cx="114598" cy="30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bwMode="gray">
          <a:xfrm>
            <a:off x="1760895" y="2165488"/>
            <a:ext cx="0" cy="221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TextBox 120">
            <a:extLst>
              <a:ext uri="{FF2B5EF4-FFF2-40B4-BE49-F238E27FC236}">
                <a16:creationId xmlns="" xmlns:a16="http://schemas.microsoft.com/office/drawing/2014/main" id="{020D7A1D-EFAD-4C8C-B9DE-D0FAD269B77A}"/>
              </a:ext>
            </a:extLst>
          </p:cNvPr>
          <p:cNvSpPr txBox="1"/>
          <p:nvPr/>
        </p:nvSpPr>
        <p:spPr bwMode="gray">
          <a:xfrm>
            <a:off x="1735183" y="1808361"/>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TextBox 120">
            <a:extLst>
              <a:ext uri="{FF2B5EF4-FFF2-40B4-BE49-F238E27FC236}">
                <a16:creationId xmlns="" xmlns:a16="http://schemas.microsoft.com/office/drawing/2014/main" id="{020D7A1D-EFAD-4C8C-B9DE-D0FAD269B77A}"/>
              </a:ext>
            </a:extLst>
          </p:cNvPr>
          <p:cNvSpPr txBox="1"/>
          <p:nvPr/>
        </p:nvSpPr>
        <p:spPr bwMode="gray">
          <a:xfrm>
            <a:off x="4714604" y="1808361"/>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2" name="直接箭头连接符 81"/>
          <p:cNvCxnSpPr/>
          <p:nvPr/>
        </p:nvCxnSpPr>
        <p:spPr bwMode="gray">
          <a:xfrm flipV="1">
            <a:off x="2809886" y="2511649"/>
            <a:ext cx="990470" cy="1"/>
          </a:xfrm>
          <a:prstGeom prst="straightConnector1">
            <a:avLst/>
          </a:prstGeom>
          <a:ln w="28575">
            <a:solidFill>
              <a:srgbClr val="ED6D00"/>
            </a:solidFill>
            <a:tailEnd type="triangle"/>
          </a:ln>
        </p:spPr>
        <p:style>
          <a:lnRef idx="1">
            <a:schemeClr val="accent1"/>
          </a:lnRef>
          <a:fillRef idx="0">
            <a:schemeClr val="accent1"/>
          </a:fillRef>
          <a:effectRef idx="0">
            <a:schemeClr val="accent1"/>
          </a:effectRef>
          <a:fontRef idx="minor">
            <a:schemeClr val="tx1"/>
          </a:fontRef>
        </p:style>
      </p:cxnSp>
      <p:sp>
        <p:nvSpPr>
          <p:cNvPr id="83" name="TextBox 120">
            <a:extLst>
              <a:ext uri="{FF2B5EF4-FFF2-40B4-BE49-F238E27FC236}">
                <a16:creationId xmlns="" xmlns:a16="http://schemas.microsoft.com/office/drawing/2014/main" id="{020D7A1D-EFAD-4C8C-B9DE-D0FAD269B77A}"/>
              </a:ext>
            </a:extLst>
          </p:cNvPr>
          <p:cNvSpPr txBox="1"/>
          <p:nvPr/>
        </p:nvSpPr>
        <p:spPr bwMode="gray">
          <a:xfrm>
            <a:off x="2801692" y="2508807"/>
            <a:ext cx="1211167" cy="523220"/>
          </a:xfrm>
          <a:prstGeom prst="rect">
            <a:avLst/>
          </a:prstGeom>
          <a:noFill/>
          <a:ln>
            <a:noFill/>
          </a:ln>
        </p:spPr>
        <p:txBody>
          <a:bodyPr wrap="square" rtlCol="0">
            <a:spAutoFit/>
          </a:bodyPr>
          <a:lstStyle/>
          <a:p>
            <a:r>
              <a:rPr lang="en-US" altLang="zh-CN"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Route</a:t>
            </a:r>
            <a:r>
              <a:rPr lang="zh-CN" altLang="en-US"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10.1.1.1/32</a:t>
            </a:r>
          </a:p>
        </p:txBody>
      </p:sp>
      <p:sp>
        <p:nvSpPr>
          <p:cNvPr id="87" name="TextBox 120">
            <a:extLst>
              <a:ext uri="{FF2B5EF4-FFF2-40B4-BE49-F238E27FC236}">
                <a16:creationId xmlns="" xmlns:a16="http://schemas.microsoft.com/office/drawing/2014/main" id="{020D7A1D-EFAD-4C8C-B9DE-D0FAD269B77A}"/>
              </a:ext>
            </a:extLst>
          </p:cNvPr>
          <p:cNvSpPr txBox="1"/>
          <p:nvPr/>
        </p:nvSpPr>
        <p:spPr bwMode="gray">
          <a:xfrm>
            <a:off x="714128" y="1903137"/>
            <a:ext cx="1169713" cy="738664"/>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10.1.1.1/32</a:t>
            </a:r>
          </a:p>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10.1.2.2/32</a:t>
            </a:r>
          </a:p>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10.1.3.3/32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TextBox 120">
            <a:extLst>
              <a:ext uri="{FF2B5EF4-FFF2-40B4-BE49-F238E27FC236}">
                <a16:creationId xmlns="" xmlns:a16="http://schemas.microsoft.com/office/drawing/2014/main" id="{020D7A1D-EFAD-4C8C-B9DE-D0FAD269B77A}"/>
              </a:ext>
            </a:extLst>
          </p:cNvPr>
          <p:cNvSpPr txBox="1"/>
          <p:nvPr/>
        </p:nvSpPr>
        <p:spPr bwMode="gray">
          <a:xfrm>
            <a:off x="3013210" y="2018914"/>
            <a:ext cx="128158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10.1.12.0/24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TextBox 120">
            <a:extLst>
              <a:ext uri="{FF2B5EF4-FFF2-40B4-BE49-F238E27FC236}">
                <a16:creationId xmlns="" xmlns:a16="http://schemas.microsoft.com/office/drawing/2014/main" id="{020D7A1D-EFAD-4C8C-B9DE-D0FAD269B77A}"/>
              </a:ext>
            </a:extLst>
          </p:cNvPr>
          <p:cNvSpPr txBox="1"/>
          <p:nvPr/>
        </p:nvSpPr>
        <p:spPr bwMode="gray">
          <a:xfrm>
            <a:off x="2401750" y="2264002"/>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TextBox 120">
            <a:extLst>
              <a:ext uri="{FF2B5EF4-FFF2-40B4-BE49-F238E27FC236}">
                <a16:creationId xmlns="" xmlns:a16="http://schemas.microsoft.com/office/drawing/2014/main" id="{020D7A1D-EFAD-4C8C-B9DE-D0FAD269B77A}"/>
              </a:ext>
            </a:extLst>
          </p:cNvPr>
          <p:cNvSpPr txBox="1"/>
          <p:nvPr/>
        </p:nvSpPr>
        <p:spPr bwMode="gray">
          <a:xfrm>
            <a:off x="4592857" y="2264002"/>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文本占位符 2"/>
          <p:cNvSpPr txBox="1">
            <a:spLocks/>
          </p:cNvSpPr>
          <p:nvPr/>
        </p:nvSpPr>
        <p:spPr bwMode="auto">
          <a:xfrm>
            <a:off x="472592" y="4108174"/>
            <a:ext cx="5627683" cy="129871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en-US" altLang="zh-CN" sz="1800" dirty="0"/>
              <a:t>R2</a:t>
            </a:r>
            <a:r>
              <a:rPr lang="zh-CN" altLang="en-US" sz="1800" dirty="0"/>
              <a:t>只期望</a:t>
            </a:r>
            <a:r>
              <a:rPr lang="en-US" altLang="zh-CN" sz="1800" dirty="0" smtClean="0"/>
              <a:t>R1</a:t>
            </a:r>
            <a:r>
              <a:rPr lang="zh-CN" altLang="en-US" sz="1800" dirty="0" smtClean="0"/>
              <a:t>通告</a:t>
            </a:r>
            <a:r>
              <a:rPr lang="en-US" altLang="zh-CN" sz="1800" dirty="0" smtClean="0"/>
              <a:t>10.1.1.1/32</a:t>
            </a:r>
            <a:r>
              <a:rPr lang="zh-CN" altLang="en-US" sz="1800" dirty="0" smtClean="0"/>
              <a:t>路由</a:t>
            </a:r>
            <a:r>
              <a:rPr lang="zh-CN" altLang="en-US" sz="1800" dirty="0"/>
              <a:t>，</a:t>
            </a:r>
            <a:r>
              <a:rPr lang="en-US" altLang="zh-CN" sz="1800" dirty="0"/>
              <a:t>R2</a:t>
            </a:r>
            <a:r>
              <a:rPr lang="zh-CN" altLang="en-US" sz="1800" dirty="0"/>
              <a:t>通过向</a:t>
            </a:r>
            <a:r>
              <a:rPr lang="en-US" altLang="zh-CN" sz="1800" dirty="0"/>
              <a:t>R1</a:t>
            </a:r>
            <a:r>
              <a:rPr lang="zh-CN" altLang="en-US" sz="1800" dirty="0"/>
              <a:t>推送</a:t>
            </a:r>
            <a:r>
              <a:rPr lang="en-US" altLang="zh-CN" sz="1800" dirty="0" smtClean="0"/>
              <a:t>ORF</a:t>
            </a:r>
            <a:r>
              <a:rPr lang="zh-CN" altLang="en-US" sz="1800" dirty="0" smtClean="0"/>
              <a:t>报文来</a:t>
            </a:r>
            <a:r>
              <a:rPr lang="zh-CN" altLang="en-US" sz="1800" dirty="0"/>
              <a:t>达到这个目的。</a:t>
            </a:r>
          </a:p>
        </p:txBody>
      </p:sp>
      <p:sp>
        <p:nvSpPr>
          <p:cNvPr id="34" name="文本框 33"/>
          <p:cNvSpPr txBox="1"/>
          <p:nvPr/>
        </p:nvSpPr>
        <p:spPr>
          <a:xfrm>
            <a:off x="6100276" y="4018970"/>
            <a:ext cx="5645637" cy="1384995"/>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smtClean="0">
                <a:solidFill>
                  <a:prstClr val="black"/>
                </a:solidFill>
                <a:cs typeface="Courier New" panose="02070309020205020404" pitchFamily="49" charset="0"/>
              </a:rPr>
              <a:t>[R1] bgp 101</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smtClean="0">
                <a:solidFill>
                  <a:prstClr val="black"/>
                </a:solidFill>
                <a:cs typeface="Courier New" panose="02070309020205020404" pitchFamily="49" charset="0"/>
              </a:rPr>
              <a:t>[R1-bgp] peer 10.1.12.2 </a:t>
            </a:r>
            <a:r>
              <a:rPr lang="en-US" altLang="zh-CN" sz="1400" dirty="0">
                <a:solidFill>
                  <a:prstClr val="black"/>
                </a:solidFill>
                <a:cs typeface="Courier New" panose="02070309020205020404" pitchFamily="49" charset="0"/>
              </a:rPr>
              <a:t>as-number </a:t>
            </a:r>
            <a:r>
              <a:rPr lang="en-US" altLang="zh-CN" sz="1400" dirty="0" smtClean="0">
                <a:solidFill>
                  <a:prstClr val="black"/>
                </a:solidFill>
                <a:cs typeface="Courier New" panose="02070309020205020404" pitchFamily="49" charset="0"/>
              </a:rPr>
              <a:t>102</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smtClean="0">
                <a:solidFill>
                  <a:prstClr val="black"/>
                </a:solidFill>
                <a:cs typeface="Courier New" panose="02070309020205020404" pitchFamily="49" charset="0"/>
              </a:rPr>
              <a:t>[R1-bgp] </a:t>
            </a:r>
            <a:r>
              <a:rPr lang="en-US" altLang="zh-CN" sz="1400" dirty="0">
                <a:solidFill>
                  <a:srgbClr val="C7000B"/>
                </a:solidFill>
                <a:cs typeface="Courier New" panose="02070309020205020404" pitchFamily="49" charset="0"/>
              </a:rPr>
              <a:t>peer </a:t>
            </a:r>
            <a:r>
              <a:rPr lang="en-US" altLang="zh-CN" sz="1400" dirty="0" smtClean="0">
                <a:solidFill>
                  <a:srgbClr val="C7000B"/>
                </a:solidFill>
                <a:cs typeface="Courier New" panose="02070309020205020404" pitchFamily="49" charset="0"/>
              </a:rPr>
              <a:t>10.1.12.2 </a:t>
            </a:r>
            <a:r>
              <a:rPr lang="en-US" altLang="zh-CN" sz="1400" dirty="0">
                <a:solidFill>
                  <a:srgbClr val="C7000B"/>
                </a:solidFill>
                <a:cs typeface="Courier New" panose="02070309020205020404" pitchFamily="49" charset="0"/>
              </a:rPr>
              <a:t>capability-advertise </a:t>
            </a:r>
            <a:r>
              <a:rPr lang="en-US" altLang="zh-CN" sz="1400" dirty="0" err="1">
                <a:solidFill>
                  <a:srgbClr val="C7000B"/>
                </a:solidFill>
                <a:cs typeface="Courier New" panose="02070309020205020404" pitchFamily="49" charset="0"/>
              </a:rPr>
              <a:t>orf</a:t>
            </a:r>
            <a:r>
              <a:rPr lang="en-US" altLang="zh-CN" sz="1400" dirty="0">
                <a:solidFill>
                  <a:srgbClr val="C7000B"/>
                </a:solidFill>
                <a:cs typeface="Courier New" panose="02070309020205020404" pitchFamily="49" charset="0"/>
              </a:rPr>
              <a:t> ip-prefix </a:t>
            </a:r>
            <a:r>
              <a:rPr lang="en-US" altLang="zh-CN" sz="1400" dirty="0" smtClean="0">
                <a:solidFill>
                  <a:srgbClr val="C7000B"/>
                </a:solidFill>
                <a:cs typeface="Courier New" panose="02070309020205020404" pitchFamily="49" charset="0"/>
              </a:rPr>
              <a:t>receive</a:t>
            </a:r>
          </a:p>
          <a:p>
            <a:r>
              <a:rPr lang="en-US" altLang="zh-CN" sz="1400" dirty="0">
                <a:solidFill>
                  <a:prstClr val="black"/>
                </a:solidFill>
                <a:cs typeface="Courier New" panose="02070309020205020404" pitchFamily="49" charset="0"/>
              </a:rPr>
              <a:t>[R1-bgp] </a:t>
            </a:r>
            <a:r>
              <a:rPr lang="en-US" altLang="zh-CN" sz="1400" dirty="0" smtClean="0">
                <a:solidFill>
                  <a:prstClr val="black"/>
                </a:solidFill>
                <a:cs typeface="Courier New" panose="02070309020205020404" pitchFamily="49" charset="0"/>
              </a:rPr>
              <a:t>network 10.1.1.1 32</a:t>
            </a:r>
            <a:endParaRPr lang="en-US" altLang="zh-CN" sz="1400" dirty="0">
              <a:solidFill>
                <a:prstClr val="black"/>
              </a:solidFill>
              <a:cs typeface="Courier New" panose="02070309020205020404" pitchFamily="49" charset="0"/>
            </a:endParaRPr>
          </a:p>
          <a:p>
            <a:r>
              <a:rPr lang="en-US" altLang="zh-CN" sz="1400" dirty="0">
                <a:solidFill>
                  <a:prstClr val="black"/>
                </a:solidFill>
                <a:cs typeface="Courier New" panose="02070309020205020404" pitchFamily="49" charset="0"/>
              </a:rPr>
              <a:t>[R1-bgp] </a:t>
            </a:r>
            <a:r>
              <a:rPr lang="en-US" altLang="zh-CN" sz="1400" dirty="0" smtClean="0">
                <a:solidFill>
                  <a:prstClr val="black"/>
                </a:solidFill>
                <a:cs typeface="Courier New" panose="02070309020205020404" pitchFamily="49" charset="0"/>
              </a:rPr>
              <a:t>network 10.1.2.2 32</a:t>
            </a:r>
            <a:r>
              <a:rPr lang="en-US" altLang="zh-CN" sz="1400" dirty="0" smtClean="0">
                <a:solidFill>
                  <a:srgbClr val="EC7061"/>
                </a:solidFill>
                <a:cs typeface="Courier New" panose="02070309020205020404" pitchFamily="49" charset="0"/>
              </a:rPr>
              <a:t> </a:t>
            </a:r>
          </a:p>
          <a:p>
            <a:r>
              <a:rPr lang="en-US" altLang="zh-CN" sz="1400" dirty="0">
                <a:solidFill>
                  <a:prstClr val="black"/>
                </a:solidFill>
                <a:cs typeface="Courier New" panose="02070309020205020404" pitchFamily="49" charset="0"/>
              </a:rPr>
              <a:t>[R1-bgp] network </a:t>
            </a:r>
            <a:r>
              <a:rPr lang="en-US" altLang="zh-CN" sz="1400" dirty="0" smtClean="0">
                <a:solidFill>
                  <a:prstClr val="black"/>
                </a:solidFill>
                <a:cs typeface="Courier New" panose="02070309020205020404" pitchFamily="49" charset="0"/>
              </a:rPr>
              <a:t>10.1.3.3 </a:t>
            </a:r>
            <a:r>
              <a:rPr lang="en-US" altLang="zh-CN" sz="1400" dirty="0">
                <a:solidFill>
                  <a:prstClr val="black"/>
                </a:solidFill>
                <a:cs typeface="Courier New" panose="02070309020205020404" pitchFamily="49" charset="0"/>
              </a:rPr>
              <a:t>32</a:t>
            </a:r>
            <a:r>
              <a:rPr lang="en-US" altLang="zh-CN" sz="1400" dirty="0">
                <a:solidFill>
                  <a:srgbClr val="EC7061"/>
                </a:solidFill>
                <a:cs typeface="Courier New" panose="02070309020205020404" pitchFamily="49" charset="0"/>
              </a:rPr>
              <a:t> </a:t>
            </a:r>
          </a:p>
        </p:txBody>
      </p:sp>
      <p:sp>
        <p:nvSpPr>
          <p:cNvPr id="35" name="文本框 34"/>
          <p:cNvSpPr txBox="1"/>
          <p:nvPr/>
        </p:nvSpPr>
        <p:spPr>
          <a:xfrm>
            <a:off x="6100276" y="3607840"/>
            <a:ext cx="5645637" cy="338554"/>
          </a:xfrm>
          <a:prstGeom prst="rect">
            <a:avLst/>
          </a:prstGeom>
          <a:noFill/>
        </p:spPr>
        <p:txBody>
          <a:bodyPr wrap="square" rtlCol="0">
            <a:spAutoFit/>
          </a:bodyPr>
          <a:lstStyle/>
          <a:p>
            <a:pPr fontAlgn="auto">
              <a:spcBef>
                <a:spcPts val="0"/>
              </a:spcBef>
              <a:spcAft>
                <a:spcPts val="0"/>
              </a:spcAft>
            </a:pPr>
            <a:r>
              <a:rPr lang="en-US" altLang="zh-CN" sz="1600" dirty="0">
                <a:solidFill>
                  <a:prstClr val="black"/>
                </a:solidFill>
              </a:rPr>
              <a:t>2</a:t>
            </a:r>
            <a:r>
              <a:rPr lang="zh-CN" altLang="en-US" sz="1600" dirty="0" smtClean="0">
                <a:solidFill>
                  <a:prstClr val="black"/>
                </a:solidFill>
              </a:rPr>
              <a:t>、</a:t>
            </a:r>
            <a:r>
              <a:rPr lang="en-US" altLang="zh-CN" sz="1600" dirty="0" smtClean="0">
                <a:solidFill>
                  <a:prstClr val="black"/>
                </a:solidFill>
              </a:rPr>
              <a:t>R1</a:t>
            </a:r>
            <a:r>
              <a:rPr lang="zh-CN" altLang="en-US" sz="1600" dirty="0" smtClean="0">
                <a:solidFill>
                  <a:prstClr val="black"/>
                </a:solidFill>
              </a:rPr>
              <a:t>上使能</a:t>
            </a:r>
            <a:r>
              <a:rPr lang="en-US" altLang="zh-CN" sz="1600" dirty="0" smtClean="0">
                <a:solidFill>
                  <a:prstClr val="black"/>
                </a:solidFill>
              </a:rPr>
              <a:t>ORF</a:t>
            </a:r>
            <a:r>
              <a:rPr lang="zh-CN" altLang="en-US" sz="1600" dirty="0" smtClean="0">
                <a:solidFill>
                  <a:prstClr val="black"/>
                </a:solidFill>
              </a:rPr>
              <a:t>功能，接收</a:t>
            </a:r>
            <a:r>
              <a:rPr lang="en-US" altLang="zh-CN" sz="1600" dirty="0" smtClean="0">
                <a:solidFill>
                  <a:prstClr val="black"/>
                </a:solidFill>
              </a:rPr>
              <a:t>ORF</a:t>
            </a:r>
            <a:r>
              <a:rPr lang="zh-CN" altLang="en-US" sz="1600" dirty="0" smtClean="0">
                <a:solidFill>
                  <a:prstClr val="black"/>
                </a:solidFill>
              </a:rPr>
              <a:t>报文。</a:t>
            </a:r>
            <a:endParaRPr lang="zh-CN" altLang="en-US" sz="1600" dirty="0">
              <a:solidFill>
                <a:prstClr val="black"/>
              </a:solidFill>
            </a:endParaRPr>
          </a:p>
        </p:txBody>
      </p:sp>
      <p:cxnSp>
        <p:nvCxnSpPr>
          <p:cNvPr id="36" name="直接箭头连接符 35"/>
          <p:cNvCxnSpPr/>
          <p:nvPr/>
        </p:nvCxnSpPr>
        <p:spPr bwMode="gray">
          <a:xfrm flipH="1" flipV="1">
            <a:off x="3307413" y="1911625"/>
            <a:ext cx="990470" cy="1"/>
          </a:xfrm>
          <a:prstGeom prst="straightConnector1">
            <a:avLst/>
          </a:prstGeom>
          <a:ln w="28575">
            <a:solidFill>
              <a:srgbClr val="ED6D00"/>
            </a:solidFill>
            <a:tailEnd type="triangle"/>
          </a:ln>
        </p:spPr>
        <p:style>
          <a:lnRef idx="1">
            <a:schemeClr val="accent1"/>
          </a:lnRef>
          <a:fillRef idx="0">
            <a:schemeClr val="accent1"/>
          </a:fillRef>
          <a:effectRef idx="0">
            <a:schemeClr val="accent1"/>
          </a:effectRef>
          <a:fontRef idx="minor">
            <a:schemeClr val="tx1"/>
          </a:fontRef>
        </p:style>
      </p:cxnSp>
      <p:sp>
        <p:nvSpPr>
          <p:cNvPr id="37" name="Oval 4"/>
          <p:cNvSpPr>
            <a:spLocks noChangeAspect="1"/>
          </p:cNvSpPr>
          <p:nvPr/>
        </p:nvSpPr>
        <p:spPr bwMode="gray">
          <a:xfrm>
            <a:off x="4178735" y="1821625"/>
            <a:ext cx="180000" cy="180000"/>
          </a:xfrm>
          <a:prstGeom prst="ellipse">
            <a:avLst/>
          </a:prstGeom>
          <a:solidFill>
            <a:srgbClr val="ED6D00"/>
          </a:solidFill>
          <a:ln w="12700">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TextBox 120">
            <a:extLst>
              <a:ext uri="{FF2B5EF4-FFF2-40B4-BE49-F238E27FC236}">
                <a16:creationId xmlns="" xmlns:a16="http://schemas.microsoft.com/office/drawing/2014/main" id="{020D7A1D-EFAD-4C8C-B9DE-D0FAD269B77A}"/>
              </a:ext>
            </a:extLst>
          </p:cNvPr>
          <p:cNvSpPr txBox="1"/>
          <p:nvPr/>
        </p:nvSpPr>
        <p:spPr bwMode="gray">
          <a:xfrm>
            <a:off x="3587234" y="1626115"/>
            <a:ext cx="541508" cy="307777"/>
          </a:xfrm>
          <a:prstGeom prst="rect">
            <a:avLst/>
          </a:prstGeom>
          <a:noFill/>
          <a:ln>
            <a:noFill/>
          </a:ln>
        </p:spPr>
        <p:txBody>
          <a:bodyPr wrap="square" rtlCol="0">
            <a:spAutoFit/>
          </a:bodyPr>
          <a:lstStyle/>
          <a:p>
            <a:r>
              <a:rPr lang="en-US" altLang="zh-CN"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ORF</a:t>
            </a:r>
            <a:endParaRPr lang="en-US" altLang="zh-CN"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Oval 4"/>
          <p:cNvSpPr>
            <a:spLocks noChangeAspect="1"/>
          </p:cNvSpPr>
          <p:nvPr/>
        </p:nvSpPr>
        <p:spPr bwMode="gray">
          <a:xfrm>
            <a:off x="2689014" y="2417761"/>
            <a:ext cx="180000" cy="180000"/>
          </a:xfrm>
          <a:prstGeom prst="ellipse">
            <a:avLst/>
          </a:prstGeom>
          <a:solidFill>
            <a:srgbClr val="ED6D00"/>
          </a:solidFill>
          <a:ln w="12700">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五边形 39"/>
          <p:cNvSpPr/>
          <p:nvPr/>
        </p:nvSpPr>
        <p:spPr bwMode="gray">
          <a:xfrm>
            <a:off x="8421350" y="99742"/>
            <a:ext cx="72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ORF</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燕尾形 40"/>
          <p:cNvSpPr/>
          <p:nvPr/>
        </p:nvSpPr>
        <p:spPr bwMode="gray">
          <a:xfrm>
            <a:off x="9061791" y="99742"/>
            <a:ext cx="93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对等体组</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燕尾形 41"/>
          <p:cNvSpPr/>
          <p:nvPr/>
        </p:nvSpPr>
        <p:spPr bwMode="gray">
          <a:xfrm>
            <a:off x="9918233" y="99742"/>
            <a:ext cx="93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安全特性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燕尾形 43"/>
          <p:cNvSpPr/>
          <p:nvPr/>
        </p:nvSpPr>
        <p:spPr bwMode="gray">
          <a:xfrm>
            <a:off x="10774674" y="99742"/>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字节</a:t>
            </a: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AS</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号</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99279415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查看</a:t>
            </a:r>
            <a:r>
              <a:rPr lang="en-US" altLang="zh-CN" smtClean="0"/>
              <a:t>ORF</a:t>
            </a:r>
            <a:r>
              <a:rPr lang="zh-CN" altLang="en-US" smtClean="0"/>
              <a:t>配置</a:t>
            </a:r>
            <a:endParaRPr lang="zh-CN" altLang="en-US" dirty="0"/>
          </a:p>
        </p:txBody>
      </p:sp>
      <p:sp>
        <p:nvSpPr>
          <p:cNvPr id="24" name="文本框 23"/>
          <p:cNvSpPr txBox="1"/>
          <p:nvPr/>
        </p:nvSpPr>
        <p:spPr>
          <a:xfrm>
            <a:off x="6096000" y="1665364"/>
            <a:ext cx="5649913" cy="954107"/>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a:solidFill>
                  <a:prstClr val="black"/>
                </a:solidFill>
                <a:cs typeface="Courier New" panose="02070309020205020404" pitchFamily="49" charset="0"/>
              </a:rPr>
              <a:t>[R1]display bgp peer 10.1.12.2 </a:t>
            </a:r>
            <a:r>
              <a:rPr lang="en-US" altLang="zh-CN" sz="1400" dirty="0" err="1">
                <a:solidFill>
                  <a:prstClr val="black"/>
                </a:solidFill>
                <a:cs typeface="Courier New" panose="02070309020205020404" pitchFamily="49" charset="0"/>
              </a:rPr>
              <a:t>orf</a:t>
            </a:r>
            <a:r>
              <a:rPr lang="en-US" altLang="zh-CN" sz="1400" dirty="0">
                <a:solidFill>
                  <a:prstClr val="black"/>
                </a:solidFill>
                <a:cs typeface="Courier New" panose="02070309020205020404" pitchFamily="49" charset="0"/>
              </a:rPr>
              <a:t> ip-prefix </a:t>
            </a:r>
          </a:p>
          <a:p>
            <a:pPr fontAlgn="auto">
              <a:spcBef>
                <a:spcPts val="0"/>
              </a:spcBef>
              <a:spcAft>
                <a:spcPts val="0"/>
              </a:spcAft>
            </a:pPr>
            <a:r>
              <a:rPr lang="en-US" altLang="zh-CN" sz="1400" dirty="0">
                <a:solidFill>
                  <a:prstClr val="black"/>
                </a:solidFill>
                <a:cs typeface="Courier New" panose="02070309020205020404" pitchFamily="49" charset="0"/>
              </a:rPr>
              <a:t> Total number of ip-prefix received: 1</a:t>
            </a:r>
          </a:p>
          <a:p>
            <a:pPr fontAlgn="auto">
              <a:spcBef>
                <a:spcPts val="0"/>
              </a:spcBef>
              <a:spcAft>
                <a:spcPts val="0"/>
              </a:spcAft>
            </a:pPr>
            <a:r>
              <a:rPr lang="en-US" altLang="zh-CN" sz="1400" dirty="0">
                <a:solidFill>
                  <a:prstClr val="black"/>
                </a:solidFill>
                <a:cs typeface="Courier New" panose="02070309020205020404" pitchFamily="49" charset="0"/>
              </a:rPr>
              <a:t> </a:t>
            </a:r>
            <a:r>
              <a:rPr lang="en-US" altLang="zh-CN" sz="1400" dirty="0" smtClean="0">
                <a:solidFill>
                  <a:prstClr val="black"/>
                </a:solidFill>
                <a:cs typeface="Courier New" panose="02070309020205020404" pitchFamily="49" charset="0"/>
              </a:rPr>
              <a:t>Index	Action	Prefix           </a:t>
            </a:r>
            <a:r>
              <a:rPr lang="en-US" altLang="zh-CN" sz="1400" dirty="0" err="1">
                <a:solidFill>
                  <a:prstClr val="black"/>
                </a:solidFill>
                <a:cs typeface="Courier New" panose="02070309020205020404" pitchFamily="49" charset="0"/>
              </a:rPr>
              <a:t>MaskLen</a:t>
            </a:r>
            <a:r>
              <a:rPr lang="en-US" altLang="zh-CN" sz="1400" dirty="0">
                <a:solidFill>
                  <a:prstClr val="black"/>
                </a:solidFill>
                <a:cs typeface="Courier New" panose="02070309020205020404" pitchFamily="49" charset="0"/>
              </a:rPr>
              <a:t>  </a:t>
            </a:r>
            <a:r>
              <a:rPr lang="en-US" altLang="zh-CN" sz="1400" dirty="0" err="1">
                <a:solidFill>
                  <a:prstClr val="black"/>
                </a:solidFill>
                <a:cs typeface="Courier New" panose="02070309020205020404" pitchFamily="49" charset="0"/>
              </a:rPr>
              <a:t>MinLen</a:t>
            </a:r>
            <a:r>
              <a:rPr lang="en-US" altLang="zh-CN" sz="1400" dirty="0">
                <a:solidFill>
                  <a:prstClr val="black"/>
                </a:solidFill>
                <a:cs typeface="Courier New" panose="02070309020205020404" pitchFamily="49" charset="0"/>
              </a:rPr>
              <a:t>  </a:t>
            </a:r>
            <a:r>
              <a:rPr lang="en-US" altLang="zh-CN" sz="1400" dirty="0" err="1">
                <a:solidFill>
                  <a:prstClr val="black"/>
                </a:solidFill>
                <a:cs typeface="Courier New" panose="02070309020205020404" pitchFamily="49" charset="0"/>
              </a:rPr>
              <a:t>MaxLen</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srgbClr val="EC7061"/>
                </a:solidFill>
                <a:cs typeface="Courier New" panose="02070309020205020404" pitchFamily="49" charset="0"/>
              </a:rPr>
              <a:t> </a:t>
            </a:r>
            <a:r>
              <a:rPr lang="en-US" altLang="zh-CN" sz="1400" dirty="0" smtClean="0">
                <a:solidFill>
                  <a:srgbClr val="C7000B"/>
                </a:solidFill>
                <a:cs typeface="Courier New" panose="02070309020205020404" pitchFamily="49" charset="0"/>
              </a:rPr>
              <a:t>10	Permit  	10.1.1.1         </a:t>
            </a:r>
            <a:r>
              <a:rPr lang="en-US" altLang="zh-CN" sz="1400" dirty="0">
                <a:solidFill>
                  <a:srgbClr val="C7000B"/>
                </a:solidFill>
                <a:cs typeface="Courier New" panose="02070309020205020404" pitchFamily="49" charset="0"/>
              </a:rPr>
              <a:t>32 </a:t>
            </a:r>
          </a:p>
        </p:txBody>
      </p:sp>
      <p:sp>
        <p:nvSpPr>
          <p:cNvPr id="58" name="文本框 57"/>
          <p:cNvSpPr txBox="1"/>
          <p:nvPr/>
        </p:nvSpPr>
        <p:spPr>
          <a:xfrm>
            <a:off x="6096000" y="1326810"/>
            <a:ext cx="5649913" cy="338554"/>
          </a:xfrm>
          <a:prstGeom prst="rect">
            <a:avLst/>
          </a:prstGeom>
          <a:noFill/>
        </p:spPr>
        <p:txBody>
          <a:bodyPr wrap="square" rtlCol="0">
            <a:spAutoFit/>
          </a:bodyPr>
          <a:lstStyle/>
          <a:p>
            <a:pPr fontAlgn="auto">
              <a:spcBef>
                <a:spcPts val="0"/>
              </a:spcBef>
              <a:spcAft>
                <a:spcPts val="0"/>
              </a:spcAft>
            </a:pPr>
            <a:r>
              <a:rPr lang="en-US" altLang="zh-CN" sz="1600" dirty="0" smtClean="0">
                <a:solidFill>
                  <a:prstClr val="black"/>
                </a:solidFill>
              </a:rPr>
              <a:t>1</a:t>
            </a:r>
            <a:r>
              <a:rPr lang="zh-CN" altLang="en-US" sz="1600" dirty="0" smtClean="0">
                <a:solidFill>
                  <a:prstClr val="black"/>
                </a:solidFill>
              </a:rPr>
              <a:t>、在</a:t>
            </a:r>
            <a:r>
              <a:rPr lang="en-US" altLang="zh-CN" sz="1600" dirty="0" smtClean="0">
                <a:solidFill>
                  <a:prstClr val="black"/>
                </a:solidFill>
              </a:rPr>
              <a:t>R1</a:t>
            </a:r>
            <a:r>
              <a:rPr lang="zh-CN" altLang="en-US" sz="1600" dirty="0" smtClean="0">
                <a:solidFill>
                  <a:prstClr val="black"/>
                </a:solidFill>
              </a:rPr>
              <a:t>上查看</a:t>
            </a:r>
            <a:r>
              <a:rPr lang="en-US" altLang="zh-CN" sz="1600" dirty="0" smtClean="0">
                <a:solidFill>
                  <a:prstClr val="black"/>
                </a:solidFill>
              </a:rPr>
              <a:t>R2</a:t>
            </a:r>
            <a:r>
              <a:rPr lang="zh-CN" altLang="en-US" sz="1600" dirty="0" smtClean="0">
                <a:solidFill>
                  <a:prstClr val="black"/>
                </a:solidFill>
              </a:rPr>
              <a:t>发出的</a:t>
            </a:r>
            <a:r>
              <a:rPr lang="zh-CN" altLang="en-US" sz="1600" dirty="0">
                <a:solidFill>
                  <a:prstClr val="black"/>
                </a:solidFill>
              </a:rPr>
              <a:t>基于地址前缀的</a:t>
            </a:r>
            <a:r>
              <a:rPr lang="en-US" altLang="zh-CN" sz="1600" dirty="0">
                <a:solidFill>
                  <a:prstClr val="black"/>
                </a:solidFill>
              </a:rPr>
              <a:t>ORF</a:t>
            </a:r>
            <a:r>
              <a:rPr lang="zh-CN" altLang="en-US" sz="1600" dirty="0">
                <a:solidFill>
                  <a:prstClr val="black"/>
                </a:solidFill>
              </a:rPr>
              <a:t>信息。</a:t>
            </a:r>
          </a:p>
        </p:txBody>
      </p:sp>
      <p:sp>
        <p:nvSpPr>
          <p:cNvPr id="34" name="文本框 33"/>
          <p:cNvSpPr txBox="1"/>
          <p:nvPr/>
        </p:nvSpPr>
        <p:spPr>
          <a:xfrm>
            <a:off x="6096000" y="3474569"/>
            <a:ext cx="5649913" cy="2246769"/>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a:solidFill>
                  <a:prstClr val="black"/>
                </a:solidFill>
                <a:cs typeface="Courier New" panose="02070309020205020404" pitchFamily="49" charset="0"/>
              </a:rPr>
              <a:t>[R2]display bgp routing-table peer 10.1.12.1 received-routes </a:t>
            </a:r>
          </a:p>
          <a:p>
            <a:pPr fontAlgn="auto">
              <a:spcBef>
                <a:spcPts val="0"/>
              </a:spcBef>
              <a:spcAft>
                <a:spcPts val="0"/>
              </a:spcAft>
            </a:pP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 BGP Local router ID is 10.1.12.2 </a:t>
            </a:r>
          </a:p>
          <a:p>
            <a:pPr fontAlgn="auto">
              <a:spcBef>
                <a:spcPts val="0"/>
              </a:spcBef>
              <a:spcAft>
                <a:spcPts val="0"/>
              </a:spcAft>
            </a:pPr>
            <a:r>
              <a:rPr lang="en-US" altLang="zh-CN" sz="1400" dirty="0">
                <a:solidFill>
                  <a:prstClr val="black"/>
                </a:solidFill>
                <a:cs typeface="Courier New" panose="02070309020205020404" pitchFamily="49" charset="0"/>
              </a:rPr>
              <a:t> Status codes: * - valid, &gt; - best, d - damped,</a:t>
            </a:r>
          </a:p>
          <a:p>
            <a:pPr fontAlgn="auto">
              <a:spcBef>
                <a:spcPts val="0"/>
              </a:spcBef>
              <a:spcAft>
                <a:spcPts val="0"/>
              </a:spcAft>
            </a:pPr>
            <a:r>
              <a:rPr lang="en-US" altLang="zh-CN" sz="1400" dirty="0">
                <a:solidFill>
                  <a:prstClr val="black"/>
                </a:solidFill>
                <a:cs typeface="Courier New" panose="02070309020205020404" pitchFamily="49" charset="0"/>
              </a:rPr>
              <a:t>               h - history,  </a:t>
            </a:r>
            <a:r>
              <a:rPr lang="en-US" altLang="zh-CN" sz="1400" dirty="0" err="1">
                <a:solidFill>
                  <a:prstClr val="black"/>
                </a:solidFill>
                <a:cs typeface="Courier New" panose="02070309020205020404" pitchFamily="49" charset="0"/>
              </a:rPr>
              <a:t>i</a:t>
            </a:r>
            <a:r>
              <a:rPr lang="en-US" altLang="zh-CN" sz="1400" dirty="0">
                <a:solidFill>
                  <a:prstClr val="black"/>
                </a:solidFill>
                <a:cs typeface="Courier New" panose="02070309020205020404" pitchFamily="49" charset="0"/>
              </a:rPr>
              <a:t> - internal, s - suppressed, S - Stale</a:t>
            </a:r>
          </a:p>
          <a:p>
            <a:pPr fontAlgn="auto">
              <a:spcBef>
                <a:spcPts val="0"/>
              </a:spcBef>
              <a:spcAft>
                <a:spcPts val="0"/>
              </a:spcAft>
            </a:pPr>
            <a:r>
              <a:rPr lang="en-US" altLang="zh-CN" sz="1400" dirty="0">
                <a:solidFill>
                  <a:prstClr val="black"/>
                </a:solidFill>
                <a:cs typeface="Courier New" panose="02070309020205020404" pitchFamily="49" charset="0"/>
              </a:rPr>
              <a:t>               Origin : </a:t>
            </a:r>
            <a:r>
              <a:rPr lang="en-US" altLang="zh-CN" sz="1400" dirty="0" err="1">
                <a:solidFill>
                  <a:prstClr val="black"/>
                </a:solidFill>
                <a:cs typeface="Courier New" panose="02070309020205020404" pitchFamily="49" charset="0"/>
              </a:rPr>
              <a:t>i</a:t>
            </a:r>
            <a:r>
              <a:rPr lang="en-US" altLang="zh-CN" sz="1400" dirty="0">
                <a:solidFill>
                  <a:prstClr val="black"/>
                </a:solidFill>
                <a:cs typeface="Courier New" panose="02070309020205020404" pitchFamily="49" charset="0"/>
              </a:rPr>
              <a:t> - IGP, e - EGP, ? - incomplete</a:t>
            </a:r>
          </a:p>
          <a:p>
            <a:pPr fontAlgn="auto">
              <a:spcBef>
                <a:spcPts val="0"/>
              </a:spcBef>
              <a:spcAft>
                <a:spcPts val="0"/>
              </a:spcAft>
            </a:pP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smtClean="0">
                <a:solidFill>
                  <a:prstClr val="black"/>
                </a:solidFill>
                <a:cs typeface="Courier New" panose="02070309020205020404" pitchFamily="49" charset="0"/>
              </a:rPr>
              <a:t> </a:t>
            </a:r>
            <a:r>
              <a:rPr lang="en-US" altLang="zh-CN" sz="1400" dirty="0">
                <a:solidFill>
                  <a:prstClr val="black"/>
                </a:solidFill>
                <a:cs typeface="Courier New" panose="02070309020205020404" pitchFamily="49" charset="0"/>
              </a:rPr>
              <a:t>Total Number of Routes: 1</a:t>
            </a:r>
          </a:p>
          <a:p>
            <a:pPr fontAlgn="auto">
              <a:spcBef>
                <a:spcPts val="0"/>
              </a:spcBef>
              <a:spcAft>
                <a:spcPts val="0"/>
              </a:spcAft>
            </a:pPr>
            <a:r>
              <a:rPr lang="en-US" altLang="zh-CN" sz="1400" dirty="0">
                <a:solidFill>
                  <a:prstClr val="black"/>
                </a:solidFill>
                <a:cs typeface="Courier New" panose="02070309020205020404" pitchFamily="49" charset="0"/>
              </a:rPr>
              <a:t>     </a:t>
            </a:r>
            <a:r>
              <a:rPr lang="en-US" altLang="zh-CN" sz="1400" dirty="0" smtClean="0">
                <a:solidFill>
                  <a:prstClr val="black"/>
                </a:solidFill>
                <a:cs typeface="Courier New" panose="02070309020205020404" pitchFamily="49" charset="0"/>
              </a:rPr>
              <a:t>Network       </a:t>
            </a:r>
            <a:r>
              <a:rPr lang="en-US" altLang="zh-CN" sz="1400" dirty="0" err="1" smtClean="0">
                <a:solidFill>
                  <a:prstClr val="black"/>
                </a:solidFill>
                <a:cs typeface="Courier New" panose="02070309020205020404" pitchFamily="49" charset="0"/>
              </a:rPr>
              <a:t>NextHop</a:t>
            </a:r>
            <a:r>
              <a:rPr lang="en-US" altLang="zh-CN" sz="1400" dirty="0" smtClean="0">
                <a:solidFill>
                  <a:prstClr val="black"/>
                </a:solidFill>
                <a:cs typeface="Courier New" panose="02070309020205020404" pitchFamily="49" charset="0"/>
              </a:rPr>
              <a:t>      MED      </a:t>
            </a:r>
            <a:r>
              <a:rPr lang="en-US" altLang="zh-CN" sz="1400" dirty="0" err="1" smtClean="0">
                <a:solidFill>
                  <a:prstClr val="black"/>
                </a:solidFill>
                <a:cs typeface="Courier New" panose="02070309020205020404" pitchFamily="49" charset="0"/>
              </a:rPr>
              <a:t>LocPrf</a:t>
            </a:r>
            <a:r>
              <a:rPr lang="en-US" altLang="zh-CN" sz="1400" dirty="0" smtClean="0">
                <a:solidFill>
                  <a:prstClr val="black"/>
                </a:solidFill>
                <a:cs typeface="Courier New" panose="02070309020205020404" pitchFamily="49" charset="0"/>
              </a:rPr>
              <a:t>    </a:t>
            </a:r>
            <a:r>
              <a:rPr lang="en-US" altLang="zh-CN" sz="1400" dirty="0" err="1">
                <a:solidFill>
                  <a:prstClr val="black"/>
                </a:solidFill>
                <a:cs typeface="Courier New" panose="02070309020205020404" pitchFamily="49" charset="0"/>
              </a:rPr>
              <a:t>PrefVal</a:t>
            </a:r>
            <a:r>
              <a:rPr lang="en-US" altLang="zh-CN" sz="1400" dirty="0">
                <a:solidFill>
                  <a:prstClr val="black"/>
                </a:solidFill>
                <a:cs typeface="Courier New" panose="02070309020205020404" pitchFamily="49" charset="0"/>
              </a:rPr>
              <a:t> </a:t>
            </a:r>
            <a:r>
              <a:rPr lang="en-US" altLang="zh-CN" sz="1400" dirty="0" smtClean="0">
                <a:solidFill>
                  <a:prstClr val="black"/>
                </a:solidFill>
                <a:cs typeface="Courier New" panose="02070309020205020404" pitchFamily="49" charset="0"/>
              </a:rPr>
              <a:t>  Path/</a:t>
            </a:r>
            <a:r>
              <a:rPr lang="en-US" altLang="zh-CN" sz="1400" dirty="0" err="1" smtClean="0">
                <a:solidFill>
                  <a:prstClr val="black"/>
                </a:solidFill>
                <a:cs typeface="Courier New" panose="02070309020205020404" pitchFamily="49" charset="0"/>
              </a:rPr>
              <a:t>Ogn</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smtClean="0">
                <a:solidFill>
                  <a:prstClr val="black"/>
                </a:solidFill>
                <a:cs typeface="Courier New" panose="02070309020205020404" pitchFamily="49" charset="0"/>
              </a:rPr>
              <a:t> </a:t>
            </a:r>
            <a:r>
              <a:rPr lang="en-US" altLang="zh-CN" sz="1400" dirty="0">
                <a:solidFill>
                  <a:prstClr val="black"/>
                </a:solidFill>
                <a:cs typeface="Courier New" panose="02070309020205020404" pitchFamily="49" charset="0"/>
              </a:rPr>
              <a:t>*&gt; </a:t>
            </a:r>
            <a:r>
              <a:rPr lang="en-US" altLang="zh-CN" sz="1400" dirty="0" smtClean="0">
                <a:solidFill>
                  <a:srgbClr val="C7000B"/>
                </a:solidFill>
                <a:cs typeface="Courier New" panose="02070309020205020404" pitchFamily="49" charset="0"/>
              </a:rPr>
              <a:t>10.1.1.1/32   10.1.12.1       </a:t>
            </a:r>
            <a:r>
              <a:rPr lang="en-US" altLang="zh-CN" sz="1400" dirty="0">
                <a:solidFill>
                  <a:srgbClr val="C7000B"/>
                </a:solidFill>
                <a:cs typeface="Courier New" panose="02070309020205020404" pitchFamily="49" charset="0"/>
              </a:rPr>
              <a:t>0                      </a:t>
            </a:r>
            <a:r>
              <a:rPr lang="en-US" altLang="zh-CN" sz="1400" dirty="0" smtClean="0">
                <a:solidFill>
                  <a:srgbClr val="C7000B"/>
                </a:solidFill>
                <a:cs typeface="Courier New" panose="02070309020205020404" pitchFamily="49" charset="0"/>
              </a:rPr>
              <a:t>  0           101i</a:t>
            </a:r>
            <a:endParaRPr lang="en-US" altLang="zh-CN" sz="1400" dirty="0">
              <a:solidFill>
                <a:srgbClr val="C7000B"/>
              </a:solidFill>
              <a:cs typeface="Courier New" panose="02070309020205020404" pitchFamily="49" charset="0"/>
            </a:endParaRPr>
          </a:p>
        </p:txBody>
      </p:sp>
      <p:sp>
        <p:nvSpPr>
          <p:cNvPr id="35" name="文本框 34"/>
          <p:cNvSpPr txBox="1"/>
          <p:nvPr/>
        </p:nvSpPr>
        <p:spPr>
          <a:xfrm>
            <a:off x="6096000" y="3117509"/>
            <a:ext cx="5649913" cy="338554"/>
          </a:xfrm>
          <a:prstGeom prst="rect">
            <a:avLst/>
          </a:prstGeom>
          <a:noFill/>
        </p:spPr>
        <p:txBody>
          <a:bodyPr wrap="square" rtlCol="0">
            <a:spAutoFit/>
          </a:bodyPr>
          <a:lstStyle/>
          <a:p>
            <a:pPr fontAlgn="auto">
              <a:spcBef>
                <a:spcPts val="0"/>
              </a:spcBef>
              <a:spcAft>
                <a:spcPts val="0"/>
              </a:spcAft>
            </a:pPr>
            <a:r>
              <a:rPr lang="en-US" altLang="zh-CN" sz="1600" dirty="0">
                <a:solidFill>
                  <a:prstClr val="black"/>
                </a:solidFill>
              </a:rPr>
              <a:t>2</a:t>
            </a:r>
            <a:r>
              <a:rPr lang="zh-CN" altLang="en-US" sz="1600" dirty="0" smtClean="0">
                <a:solidFill>
                  <a:prstClr val="black"/>
                </a:solidFill>
              </a:rPr>
              <a:t>、在</a:t>
            </a:r>
            <a:r>
              <a:rPr lang="en-US" altLang="zh-CN" sz="1600" dirty="0" smtClean="0">
                <a:solidFill>
                  <a:prstClr val="black"/>
                </a:solidFill>
              </a:rPr>
              <a:t>R2</a:t>
            </a:r>
            <a:r>
              <a:rPr lang="zh-CN" altLang="en-US" sz="1600" dirty="0" smtClean="0">
                <a:solidFill>
                  <a:prstClr val="black"/>
                </a:solidFill>
              </a:rPr>
              <a:t>上查看</a:t>
            </a:r>
            <a:r>
              <a:rPr lang="en-US" altLang="zh-CN" sz="1600" dirty="0" smtClean="0">
                <a:solidFill>
                  <a:prstClr val="black"/>
                </a:solidFill>
              </a:rPr>
              <a:t>BGP</a:t>
            </a:r>
            <a:r>
              <a:rPr lang="zh-CN" altLang="en-US" sz="1600" dirty="0" smtClean="0">
                <a:solidFill>
                  <a:prstClr val="black"/>
                </a:solidFill>
              </a:rPr>
              <a:t>路由信息。</a:t>
            </a:r>
            <a:endParaRPr lang="zh-CN" altLang="en-US" sz="1600" dirty="0">
              <a:solidFill>
                <a:prstClr val="black"/>
              </a:solidFill>
            </a:endParaRPr>
          </a:p>
        </p:txBody>
      </p:sp>
      <p:cxnSp>
        <p:nvCxnSpPr>
          <p:cNvPr id="29" name="直接箭头连接符 28"/>
          <p:cNvCxnSpPr/>
          <p:nvPr/>
        </p:nvCxnSpPr>
        <p:spPr bwMode="gray">
          <a:xfrm flipV="1">
            <a:off x="4817883" y="3966350"/>
            <a:ext cx="879292" cy="487847"/>
          </a:xfrm>
          <a:prstGeom prst="straightConnector1">
            <a:avLst/>
          </a:prstGeom>
          <a:ln w="19050">
            <a:solidFill>
              <a:srgbClr val="FDD351"/>
            </a:solidFill>
            <a:tailEnd type="triangle"/>
          </a:ln>
        </p:spPr>
        <p:style>
          <a:lnRef idx="1">
            <a:schemeClr val="accent1"/>
          </a:lnRef>
          <a:fillRef idx="0">
            <a:schemeClr val="accent1"/>
          </a:fillRef>
          <a:effectRef idx="0">
            <a:schemeClr val="accent1"/>
          </a:effectRef>
          <a:fontRef idx="minor">
            <a:schemeClr val="tx1"/>
          </a:fontRef>
        </p:style>
      </p:cxnSp>
      <p:sp>
        <p:nvSpPr>
          <p:cNvPr id="30" name="文本占位符 3"/>
          <p:cNvSpPr txBox="1">
            <a:spLocks/>
          </p:cNvSpPr>
          <p:nvPr/>
        </p:nvSpPr>
        <p:spPr bwMode="gray">
          <a:xfrm>
            <a:off x="522289" y="4426598"/>
            <a:ext cx="5019408" cy="1294740"/>
          </a:xfrm>
          <a:prstGeom prst="rect">
            <a:avLst/>
          </a:prstGeom>
          <a:solidFill>
            <a:srgbClr val="FFFBEF"/>
          </a:solidFill>
          <a:ln w="9525">
            <a:solidFill>
              <a:srgbClr val="FDD351"/>
            </a:solidFill>
            <a:miter lim="800000"/>
            <a:headEnd/>
            <a:tailEnd/>
          </a:ln>
        </p:spPr>
        <p:txBody>
          <a:bodyPr vert="horz" wrap="square" lIns="108000" tIns="40071" rIns="108000" bIns="40071" numCol="1" anchor="ctr"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zh-CN" altLang="en-US" sz="1600" dirty="0"/>
              <a:t>在</a:t>
            </a:r>
            <a:r>
              <a:rPr lang="en-US" altLang="zh-CN" sz="1600" dirty="0"/>
              <a:t>R1</a:t>
            </a:r>
            <a:r>
              <a:rPr lang="zh-CN" altLang="en-US" sz="1600" dirty="0"/>
              <a:t>上查看</a:t>
            </a:r>
            <a:r>
              <a:rPr lang="en-US" altLang="zh-CN" sz="1600" dirty="0"/>
              <a:t>ORF</a:t>
            </a:r>
            <a:r>
              <a:rPr lang="zh-CN" altLang="en-US" sz="1600" dirty="0"/>
              <a:t>信息，发现需要提供</a:t>
            </a:r>
            <a:r>
              <a:rPr lang="en-US" altLang="zh-CN" sz="1600" dirty="0"/>
              <a:t>10.1.1.1/32</a:t>
            </a:r>
            <a:r>
              <a:rPr lang="zh-CN" altLang="en-US" sz="1600" dirty="0"/>
              <a:t>路由。</a:t>
            </a:r>
          </a:p>
          <a:p>
            <a:pPr marL="0" indent="0">
              <a:buNone/>
            </a:pPr>
            <a:r>
              <a:rPr lang="zh-CN" altLang="en-US" sz="1600" dirty="0"/>
              <a:t>在</a:t>
            </a:r>
            <a:r>
              <a:rPr lang="en-US" altLang="zh-CN" sz="1600" dirty="0"/>
              <a:t>R2</a:t>
            </a:r>
            <a:r>
              <a:rPr lang="zh-CN" altLang="en-US" sz="1600" dirty="0"/>
              <a:t>上查看</a:t>
            </a:r>
            <a:r>
              <a:rPr lang="en-US" altLang="zh-CN" sz="1600" dirty="0"/>
              <a:t>BGP</a:t>
            </a:r>
            <a:r>
              <a:rPr lang="zh-CN" altLang="en-US" sz="1600" dirty="0"/>
              <a:t>路由信息，发现只接收到了</a:t>
            </a:r>
            <a:r>
              <a:rPr lang="en-US" altLang="zh-CN" sz="1600" dirty="0"/>
              <a:t>10.1.1.1/32</a:t>
            </a:r>
            <a:r>
              <a:rPr lang="zh-CN" altLang="en-US" sz="1600" dirty="0"/>
              <a:t>路由。</a:t>
            </a:r>
          </a:p>
        </p:txBody>
      </p:sp>
      <p:sp>
        <p:nvSpPr>
          <p:cNvPr id="45" name="任意多边形 25"/>
          <p:cNvSpPr/>
          <p:nvPr/>
        </p:nvSpPr>
        <p:spPr bwMode="gray">
          <a:xfrm>
            <a:off x="4414280" y="1516987"/>
            <a:ext cx="1282895" cy="1350517"/>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pic>
        <p:nvPicPr>
          <p:cNvPr id="46" name="图片 4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849002" y="2057865"/>
            <a:ext cx="540000" cy="442800"/>
          </a:xfrm>
          <a:prstGeom prst="rect">
            <a:avLst/>
          </a:prstGeom>
        </p:spPr>
      </p:pic>
      <p:sp>
        <p:nvSpPr>
          <p:cNvPr id="47" name="任意多边形 25"/>
          <p:cNvSpPr/>
          <p:nvPr/>
        </p:nvSpPr>
        <p:spPr bwMode="gray">
          <a:xfrm>
            <a:off x="522288" y="1516987"/>
            <a:ext cx="2208768" cy="1350517"/>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pic>
        <p:nvPicPr>
          <p:cNvPr id="48" name="图片 4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886222" y="2057865"/>
            <a:ext cx="540000" cy="442800"/>
          </a:xfrm>
          <a:prstGeom prst="rect">
            <a:avLst/>
          </a:prstGeom>
        </p:spPr>
      </p:pic>
      <p:sp>
        <p:nvSpPr>
          <p:cNvPr id="49" name="TextBox 120">
            <a:extLst>
              <a:ext uri="{FF2B5EF4-FFF2-40B4-BE49-F238E27FC236}">
                <a16:creationId xmlns="" xmlns:a16="http://schemas.microsoft.com/office/drawing/2014/main" id="{020D7A1D-EFAD-4C8C-B9DE-D0FAD269B77A}"/>
              </a:ext>
            </a:extLst>
          </p:cNvPr>
          <p:cNvSpPr txBox="1"/>
          <p:nvPr/>
        </p:nvSpPr>
        <p:spPr bwMode="gray">
          <a:xfrm>
            <a:off x="482039" y="1515848"/>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TextBox 120">
            <a:extLst>
              <a:ext uri="{FF2B5EF4-FFF2-40B4-BE49-F238E27FC236}">
                <a16:creationId xmlns="" xmlns:a16="http://schemas.microsoft.com/office/drawing/2014/main" id="{020D7A1D-EFAD-4C8C-B9DE-D0FAD269B77A}"/>
              </a:ext>
            </a:extLst>
          </p:cNvPr>
          <p:cNvSpPr txBox="1"/>
          <p:nvPr/>
        </p:nvSpPr>
        <p:spPr bwMode="gray">
          <a:xfrm>
            <a:off x="4404337" y="1515848"/>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1" name="直接连接符 50"/>
          <p:cNvCxnSpPr>
            <a:stCxn id="48" idx="3"/>
            <a:endCxn id="46" idx="1"/>
          </p:cNvCxnSpPr>
          <p:nvPr/>
        </p:nvCxnSpPr>
        <p:spPr bwMode="gray">
          <a:xfrm>
            <a:off x="2426222" y="2279265"/>
            <a:ext cx="24227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a:endCxn id="48" idx="1"/>
          </p:cNvCxnSpPr>
          <p:nvPr/>
        </p:nvCxnSpPr>
        <p:spPr bwMode="gray">
          <a:xfrm>
            <a:off x="1771624" y="2276188"/>
            <a:ext cx="114598" cy="30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bwMode="gray">
          <a:xfrm>
            <a:off x="1760895" y="2165488"/>
            <a:ext cx="0" cy="221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Box 120">
            <a:extLst>
              <a:ext uri="{FF2B5EF4-FFF2-40B4-BE49-F238E27FC236}">
                <a16:creationId xmlns="" xmlns:a16="http://schemas.microsoft.com/office/drawing/2014/main" id="{020D7A1D-EFAD-4C8C-B9DE-D0FAD269B77A}"/>
              </a:ext>
            </a:extLst>
          </p:cNvPr>
          <p:cNvSpPr txBox="1"/>
          <p:nvPr/>
        </p:nvSpPr>
        <p:spPr bwMode="gray">
          <a:xfrm>
            <a:off x="1735183" y="1808361"/>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TextBox 120">
            <a:extLst>
              <a:ext uri="{FF2B5EF4-FFF2-40B4-BE49-F238E27FC236}">
                <a16:creationId xmlns="" xmlns:a16="http://schemas.microsoft.com/office/drawing/2014/main" id="{020D7A1D-EFAD-4C8C-B9DE-D0FAD269B77A}"/>
              </a:ext>
            </a:extLst>
          </p:cNvPr>
          <p:cNvSpPr txBox="1"/>
          <p:nvPr/>
        </p:nvSpPr>
        <p:spPr bwMode="gray">
          <a:xfrm>
            <a:off x="4714604" y="1808361"/>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6" name="直接箭头连接符 55"/>
          <p:cNvCxnSpPr/>
          <p:nvPr/>
        </p:nvCxnSpPr>
        <p:spPr bwMode="gray">
          <a:xfrm flipV="1">
            <a:off x="2809886" y="2511649"/>
            <a:ext cx="990470" cy="1"/>
          </a:xfrm>
          <a:prstGeom prst="straightConnector1">
            <a:avLst/>
          </a:prstGeom>
          <a:ln w="28575">
            <a:solidFill>
              <a:srgbClr val="ED6D00"/>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120">
            <a:extLst>
              <a:ext uri="{FF2B5EF4-FFF2-40B4-BE49-F238E27FC236}">
                <a16:creationId xmlns="" xmlns:a16="http://schemas.microsoft.com/office/drawing/2014/main" id="{020D7A1D-EFAD-4C8C-B9DE-D0FAD269B77A}"/>
              </a:ext>
            </a:extLst>
          </p:cNvPr>
          <p:cNvSpPr txBox="1"/>
          <p:nvPr/>
        </p:nvSpPr>
        <p:spPr bwMode="gray">
          <a:xfrm>
            <a:off x="2801692" y="2508807"/>
            <a:ext cx="1211167" cy="523220"/>
          </a:xfrm>
          <a:prstGeom prst="rect">
            <a:avLst/>
          </a:prstGeom>
          <a:noFill/>
          <a:ln>
            <a:noFill/>
          </a:ln>
        </p:spPr>
        <p:txBody>
          <a:bodyPr wrap="square" rtlCol="0">
            <a:spAutoFit/>
          </a:bodyPr>
          <a:lstStyle/>
          <a:p>
            <a:r>
              <a:rPr lang="en-US" altLang="zh-CN"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Route</a:t>
            </a:r>
            <a:r>
              <a:rPr lang="zh-CN" altLang="en-US"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10.1.1.1/32</a:t>
            </a:r>
          </a:p>
        </p:txBody>
      </p:sp>
      <p:sp>
        <p:nvSpPr>
          <p:cNvPr id="59" name="TextBox 120">
            <a:extLst>
              <a:ext uri="{FF2B5EF4-FFF2-40B4-BE49-F238E27FC236}">
                <a16:creationId xmlns="" xmlns:a16="http://schemas.microsoft.com/office/drawing/2014/main" id="{020D7A1D-EFAD-4C8C-B9DE-D0FAD269B77A}"/>
              </a:ext>
            </a:extLst>
          </p:cNvPr>
          <p:cNvSpPr txBox="1"/>
          <p:nvPr/>
        </p:nvSpPr>
        <p:spPr bwMode="gray">
          <a:xfrm>
            <a:off x="714128" y="1903137"/>
            <a:ext cx="1169713" cy="738664"/>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10.1.1.1/32</a:t>
            </a:r>
          </a:p>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10.1.2.2/32</a:t>
            </a:r>
          </a:p>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10.1.3.3/32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TextBox 120">
            <a:extLst>
              <a:ext uri="{FF2B5EF4-FFF2-40B4-BE49-F238E27FC236}">
                <a16:creationId xmlns="" xmlns:a16="http://schemas.microsoft.com/office/drawing/2014/main" id="{020D7A1D-EFAD-4C8C-B9DE-D0FAD269B77A}"/>
              </a:ext>
            </a:extLst>
          </p:cNvPr>
          <p:cNvSpPr txBox="1"/>
          <p:nvPr/>
        </p:nvSpPr>
        <p:spPr bwMode="gray">
          <a:xfrm>
            <a:off x="3013210" y="2018914"/>
            <a:ext cx="128158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10.1.12.0/24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TextBox 120">
            <a:extLst>
              <a:ext uri="{FF2B5EF4-FFF2-40B4-BE49-F238E27FC236}">
                <a16:creationId xmlns="" xmlns:a16="http://schemas.microsoft.com/office/drawing/2014/main" id="{020D7A1D-EFAD-4C8C-B9DE-D0FAD269B77A}"/>
              </a:ext>
            </a:extLst>
          </p:cNvPr>
          <p:cNvSpPr txBox="1"/>
          <p:nvPr/>
        </p:nvSpPr>
        <p:spPr bwMode="gray">
          <a:xfrm>
            <a:off x="2401750" y="2264002"/>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TextBox 120">
            <a:extLst>
              <a:ext uri="{FF2B5EF4-FFF2-40B4-BE49-F238E27FC236}">
                <a16:creationId xmlns="" xmlns:a16="http://schemas.microsoft.com/office/drawing/2014/main" id="{020D7A1D-EFAD-4C8C-B9DE-D0FAD269B77A}"/>
              </a:ext>
            </a:extLst>
          </p:cNvPr>
          <p:cNvSpPr txBox="1"/>
          <p:nvPr/>
        </p:nvSpPr>
        <p:spPr bwMode="gray">
          <a:xfrm>
            <a:off x="4592857" y="2264002"/>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4" name="直接箭头连接符 63"/>
          <p:cNvCxnSpPr/>
          <p:nvPr/>
        </p:nvCxnSpPr>
        <p:spPr bwMode="gray">
          <a:xfrm flipH="1" flipV="1">
            <a:off x="3307413" y="1911625"/>
            <a:ext cx="990470" cy="1"/>
          </a:xfrm>
          <a:prstGeom prst="straightConnector1">
            <a:avLst/>
          </a:prstGeom>
          <a:ln w="28575">
            <a:solidFill>
              <a:srgbClr val="ED6D00"/>
            </a:solidFill>
            <a:tailEnd type="triangle"/>
          </a:ln>
        </p:spPr>
        <p:style>
          <a:lnRef idx="1">
            <a:schemeClr val="accent1"/>
          </a:lnRef>
          <a:fillRef idx="0">
            <a:schemeClr val="accent1"/>
          </a:fillRef>
          <a:effectRef idx="0">
            <a:schemeClr val="accent1"/>
          </a:effectRef>
          <a:fontRef idx="minor">
            <a:schemeClr val="tx1"/>
          </a:fontRef>
        </p:style>
      </p:cxnSp>
      <p:sp>
        <p:nvSpPr>
          <p:cNvPr id="65" name="Oval 4"/>
          <p:cNvSpPr>
            <a:spLocks noChangeAspect="1"/>
          </p:cNvSpPr>
          <p:nvPr/>
        </p:nvSpPr>
        <p:spPr bwMode="gray">
          <a:xfrm>
            <a:off x="4178735" y="1821625"/>
            <a:ext cx="180000" cy="180000"/>
          </a:xfrm>
          <a:prstGeom prst="ellipse">
            <a:avLst/>
          </a:prstGeom>
          <a:solidFill>
            <a:srgbClr val="ED6D00"/>
          </a:solidFill>
          <a:ln w="12700">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TextBox 120">
            <a:extLst>
              <a:ext uri="{FF2B5EF4-FFF2-40B4-BE49-F238E27FC236}">
                <a16:creationId xmlns="" xmlns:a16="http://schemas.microsoft.com/office/drawing/2014/main" id="{020D7A1D-EFAD-4C8C-B9DE-D0FAD269B77A}"/>
              </a:ext>
            </a:extLst>
          </p:cNvPr>
          <p:cNvSpPr txBox="1"/>
          <p:nvPr/>
        </p:nvSpPr>
        <p:spPr bwMode="gray">
          <a:xfrm>
            <a:off x="3587234" y="1626115"/>
            <a:ext cx="541508" cy="307777"/>
          </a:xfrm>
          <a:prstGeom prst="rect">
            <a:avLst/>
          </a:prstGeom>
          <a:noFill/>
          <a:ln>
            <a:noFill/>
          </a:ln>
        </p:spPr>
        <p:txBody>
          <a:bodyPr wrap="square" rtlCol="0">
            <a:spAutoFit/>
          </a:bodyPr>
          <a:lstStyle/>
          <a:p>
            <a:r>
              <a:rPr lang="en-US" altLang="zh-CN"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ORF</a:t>
            </a:r>
            <a:endParaRPr lang="en-US" altLang="zh-CN"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Oval 4"/>
          <p:cNvSpPr>
            <a:spLocks noChangeAspect="1"/>
          </p:cNvSpPr>
          <p:nvPr/>
        </p:nvSpPr>
        <p:spPr bwMode="gray">
          <a:xfrm>
            <a:off x="2689014" y="2417761"/>
            <a:ext cx="180000" cy="180000"/>
          </a:xfrm>
          <a:prstGeom prst="ellipse">
            <a:avLst/>
          </a:prstGeom>
          <a:solidFill>
            <a:srgbClr val="ED6D00"/>
          </a:solidFill>
          <a:ln w="12700">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五边形 32"/>
          <p:cNvSpPr/>
          <p:nvPr/>
        </p:nvSpPr>
        <p:spPr bwMode="gray">
          <a:xfrm>
            <a:off x="8421350" y="99742"/>
            <a:ext cx="72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ORF</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燕尾形 35"/>
          <p:cNvSpPr/>
          <p:nvPr/>
        </p:nvSpPr>
        <p:spPr bwMode="gray">
          <a:xfrm>
            <a:off x="9061791" y="99742"/>
            <a:ext cx="93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对等体组</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燕尾形 36"/>
          <p:cNvSpPr/>
          <p:nvPr/>
        </p:nvSpPr>
        <p:spPr bwMode="gray">
          <a:xfrm>
            <a:off x="9918233" y="99742"/>
            <a:ext cx="93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安全特性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燕尾形 37"/>
          <p:cNvSpPr/>
          <p:nvPr/>
        </p:nvSpPr>
        <p:spPr bwMode="gray">
          <a:xfrm>
            <a:off x="10774674" y="99742"/>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字节</a:t>
            </a: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AS</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号</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62027392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BGP</a:t>
            </a:r>
            <a:r>
              <a:rPr lang="zh-CN" altLang="en-US" smtClean="0"/>
              <a:t>对等体组</a:t>
            </a:r>
            <a:endParaRPr lang="zh-CN" altLang="en-US" dirty="0"/>
          </a:p>
        </p:txBody>
      </p:sp>
      <p:sp>
        <p:nvSpPr>
          <p:cNvPr id="3" name="文本占位符 2"/>
          <p:cNvSpPr>
            <a:spLocks noGrp="1"/>
          </p:cNvSpPr>
          <p:nvPr>
            <p:ph type="body" sz="quarter" idx="10"/>
          </p:nvPr>
        </p:nvSpPr>
        <p:spPr/>
        <p:txBody>
          <a:bodyPr/>
          <a:lstStyle/>
          <a:p>
            <a:r>
              <a:rPr lang="zh-CN" altLang="en-US" sz="2000" dirty="0" smtClean="0"/>
              <a:t>对等体组（</a:t>
            </a:r>
            <a:r>
              <a:rPr lang="en-US" altLang="zh-CN" sz="2000" dirty="0" smtClean="0"/>
              <a:t>Peer Group</a:t>
            </a:r>
            <a:r>
              <a:rPr lang="zh-CN" altLang="en-US" sz="2000" dirty="0" smtClean="0"/>
              <a:t>）是一些具有某些相同策略的对等体的集合。当一个对等体加入对等体组中时，该对等体将获得与所在对等体组相同的配置。当对等体组的配置改变时，组内成员的配置也相应改变。</a:t>
            </a:r>
          </a:p>
          <a:p>
            <a:r>
              <a:rPr lang="zh-CN" altLang="en-US" sz="2000" dirty="0" smtClean="0"/>
              <a:t>在大型</a:t>
            </a:r>
            <a:r>
              <a:rPr lang="en-US" altLang="zh-CN" sz="2000" dirty="0" smtClean="0"/>
              <a:t>BGP</a:t>
            </a:r>
            <a:r>
              <a:rPr lang="zh-CN" altLang="en-US" sz="2000" dirty="0" smtClean="0"/>
              <a:t>网络中，对等体的数量会很多，其中很多对等体具有相同的策略，在配置时会重复使用一些命令，利用对等体组可以简化配置。</a:t>
            </a:r>
            <a:endParaRPr lang="en-US" altLang="zh-CN" sz="2000" dirty="0" smtClean="0"/>
          </a:p>
          <a:p>
            <a:endParaRPr lang="zh-CN" altLang="en-US" sz="2000" dirty="0"/>
          </a:p>
        </p:txBody>
      </p:sp>
      <p:sp>
        <p:nvSpPr>
          <p:cNvPr id="10" name="五边形 9"/>
          <p:cNvSpPr/>
          <p:nvPr/>
        </p:nvSpPr>
        <p:spPr bwMode="gray">
          <a:xfrm>
            <a:off x="8421350" y="99742"/>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ORF</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燕尾形 10"/>
          <p:cNvSpPr/>
          <p:nvPr/>
        </p:nvSpPr>
        <p:spPr bwMode="gray">
          <a:xfrm>
            <a:off x="9061791" y="99742"/>
            <a:ext cx="936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对等体组</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燕尾形 11"/>
          <p:cNvSpPr/>
          <p:nvPr/>
        </p:nvSpPr>
        <p:spPr bwMode="gray">
          <a:xfrm>
            <a:off x="9918233" y="99742"/>
            <a:ext cx="93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安全特性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燕尾形 12"/>
          <p:cNvSpPr/>
          <p:nvPr/>
        </p:nvSpPr>
        <p:spPr bwMode="gray">
          <a:xfrm>
            <a:off x="10774674" y="99742"/>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字节</a:t>
            </a: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AS</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号</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98454947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BGP</a:t>
            </a:r>
            <a:r>
              <a:rPr lang="zh-CN" altLang="en-US" smtClean="0"/>
              <a:t>对等体组的基础配置命令</a:t>
            </a:r>
            <a:endParaRPr lang="zh-CN" altLang="en-US" dirty="0"/>
          </a:p>
        </p:txBody>
      </p:sp>
      <p:sp>
        <p:nvSpPr>
          <p:cNvPr id="4" name="矩形 3"/>
          <p:cNvSpPr/>
          <p:nvPr/>
        </p:nvSpPr>
        <p:spPr>
          <a:xfrm>
            <a:off x="1031917" y="1797459"/>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a:t>
            </a:r>
            <a:r>
              <a:rPr lang="en-US" altLang="zh-CN" sz="1600" dirty="0" smtClean="0">
                <a:cs typeface="Courier New" panose="02070309020205020404" pitchFamily="49" charset="0"/>
              </a:rPr>
              <a:t>Huawei-bgp] </a:t>
            </a:r>
            <a:r>
              <a:rPr lang="en-US" altLang="zh-CN" sz="1600" b="1" dirty="0"/>
              <a:t>group</a:t>
            </a:r>
            <a:r>
              <a:rPr lang="en-US" altLang="zh-CN" sz="1600" dirty="0"/>
              <a:t> </a:t>
            </a:r>
            <a:r>
              <a:rPr lang="en-US" altLang="zh-CN" sz="1600" i="1" dirty="0"/>
              <a:t>group-name</a:t>
            </a:r>
            <a:r>
              <a:rPr lang="en-US" altLang="zh-CN" sz="1600" dirty="0"/>
              <a:t> [ </a:t>
            </a:r>
            <a:r>
              <a:rPr lang="en-US" altLang="zh-CN" sz="1600" b="1" dirty="0"/>
              <a:t>external</a:t>
            </a:r>
            <a:r>
              <a:rPr lang="en-US" altLang="zh-CN" sz="1600" dirty="0"/>
              <a:t> | </a:t>
            </a:r>
            <a:r>
              <a:rPr lang="en-US" altLang="zh-CN" sz="1600" b="1" dirty="0"/>
              <a:t>internal</a:t>
            </a:r>
            <a:r>
              <a:rPr lang="en-US" altLang="zh-CN" sz="1600" dirty="0"/>
              <a:t> ]</a:t>
            </a:r>
            <a:endParaRPr lang="zh-CN" altLang="en-US" sz="1600" dirty="0">
              <a:cs typeface="Courier New" panose="02070309020205020404" pitchFamily="49" charset="0"/>
            </a:endParaRPr>
          </a:p>
        </p:txBody>
      </p:sp>
      <p:sp>
        <p:nvSpPr>
          <p:cNvPr id="5" name="矩形 4"/>
          <p:cNvSpPr/>
          <p:nvPr/>
        </p:nvSpPr>
        <p:spPr>
          <a:xfrm>
            <a:off x="551384" y="1365312"/>
            <a:ext cx="11089232" cy="338554"/>
          </a:xfrm>
          <a:prstGeom prst="rect">
            <a:avLst/>
          </a:prstGeom>
        </p:spPr>
        <p:txBody>
          <a:bodyPr wrap="square">
            <a:spAutoFit/>
          </a:bodyPr>
          <a:lstStyle/>
          <a:p>
            <a:pPr marL="342900" indent="-342900" fontAlgn="auto">
              <a:buFont typeface="+mj-lt"/>
              <a:buAutoNum type="arabicPeriod"/>
            </a:pPr>
            <a:r>
              <a:rPr lang="zh-CN" altLang="en-US" sz="1600" dirty="0" smtClean="0">
                <a:cs typeface="Courier New" panose="02070309020205020404" pitchFamily="49" charset="0"/>
              </a:rPr>
              <a:t>创建</a:t>
            </a:r>
            <a:r>
              <a:rPr lang="zh-CN" altLang="en-US" sz="1600" dirty="0">
                <a:cs typeface="Courier New" panose="02070309020205020404" pitchFamily="49" charset="0"/>
              </a:rPr>
              <a:t>对等体</a:t>
            </a:r>
            <a:r>
              <a:rPr lang="zh-CN" altLang="en-US" sz="1600" dirty="0" smtClean="0">
                <a:cs typeface="Courier New" panose="02070309020205020404" pitchFamily="49" charset="0"/>
              </a:rPr>
              <a:t>组。</a:t>
            </a:r>
            <a:endParaRPr lang="zh-CN" altLang="en-US" sz="1600" dirty="0">
              <a:cs typeface="Courier New" panose="02070309020205020404" pitchFamily="49" charset="0"/>
            </a:endParaRPr>
          </a:p>
        </p:txBody>
      </p:sp>
      <p:sp>
        <p:nvSpPr>
          <p:cNvPr id="9" name="矩形 8"/>
          <p:cNvSpPr/>
          <p:nvPr/>
        </p:nvSpPr>
        <p:spPr>
          <a:xfrm>
            <a:off x="1031917" y="3242821"/>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a:t>
            </a:r>
            <a:r>
              <a:rPr lang="en-US" altLang="zh-CN" sz="1600" dirty="0" smtClean="0">
                <a:cs typeface="Courier New" panose="02070309020205020404" pitchFamily="49" charset="0"/>
              </a:rPr>
              <a:t>Huawei-bgp] </a:t>
            </a:r>
            <a:r>
              <a:rPr lang="en-US" altLang="zh-CN" sz="1600" b="1" dirty="0"/>
              <a:t>peer</a:t>
            </a:r>
            <a:r>
              <a:rPr lang="en-US" altLang="zh-CN" sz="1600" dirty="0"/>
              <a:t> </a:t>
            </a:r>
            <a:r>
              <a:rPr lang="en-US" altLang="zh-CN" sz="1600" i="1" dirty="0" smtClean="0"/>
              <a:t>group-name</a:t>
            </a:r>
            <a:r>
              <a:rPr lang="en-US" altLang="zh-CN" sz="1600" dirty="0" smtClean="0"/>
              <a:t> </a:t>
            </a:r>
            <a:r>
              <a:rPr lang="en-US" altLang="zh-CN" sz="1600" b="1" dirty="0" smtClean="0"/>
              <a:t>as-number</a:t>
            </a:r>
            <a:r>
              <a:rPr lang="en-US" altLang="zh-CN" sz="1600" dirty="0"/>
              <a:t> { </a:t>
            </a:r>
            <a:r>
              <a:rPr lang="en-US" altLang="zh-CN" sz="1600" i="1" dirty="0"/>
              <a:t>as-number-plain</a:t>
            </a:r>
            <a:r>
              <a:rPr lang="en-US" altLang="zh-CN" sz="1600" dirty="0"/>
              <a:t> | </a:t>
            </a:r>
            <a:r>
              <a:rPr lang="en-US" altLang="zh-CN" sz="1600" i="1" dirty="0"/>
              <a:t>as-number-dot</a:t>
            </a:r>
            <a:r>
              <a:rPr lang="en-US" altLang="zh-CN" sz="1600" dirty="0"/>
              <a:t> }</a:t>
            </a:r>
            <a:endParaRPr lang="zh-CN" altLang="en-US" sz="1600" dirty="0">
              <a:cs typeface="Courier New" panose="02070309020205020404" pitchFamily="49" charset="0"/>
            </a:endParaRPr>
          </a:p>
        </p:txBody>
      </p:sp>
      <p:sp>
        <p:nvSpPr>
          <p:cNvPr id="10" name="矩形 9"/>
          <p:cNvSpPr/>
          <p:nvPr/>
        </p:nvSpPr>
        <p:spPr>
          <a:xfrm>
            <a:off x="551384" y="2810674"/>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smtClean="0">
                <a:cs typeface="Courier New" panose="02070309020205020404" pitchFamily="49" charset="0"/>
              </a:rPr>
              <a:t>（可选）为</a:t>
            </a:r>
            <a:r>
              <a:rPr lang="zh-CN" altLang="en-US" sz="1600" dirty="0">
                <a:cs typeface="Courier New" panose="02070309020205020404" pitchFamily="49" charset="0"/>
              </a:rPr>
              <a:t>指定</a:t>
            </a:r>
            <a:r>
              <a:rPr lang="zh-CN" altLang="en-US" sz="1600" dirty="0" smtClean="0">
                <a:cs typeface="Courier New" panose="02070309020205020404" pitchFamily="49" charset="0"/>
              </a:rPr>
              <a:t>的对等</a:t>
            </a:r>
            <a:r>
              <a:rPr lang="zh-CN" altLang="en-US" sz="1600" dirty="0">
                <a:cs typeface="Courier New" panose="02070309020205020404" pitchFamily="49" charset="0"/>
              </a:rPr>
              <a:t>体组配置</a:t>
            </a:r>
            <a:r>
              <a:rPr lang="en-US" altLang="zh-CN" sz="1600" dirty="0">
                <a:cs typeface="Courier New" panose="02070309020205020404" pitchFamily="49" charset="0"/>
              </a:rPr>
              <a:t>AS</a:t>
            </a:r>
            <a:r>
              <a:rPr lang="zh-CN" altLang="en-US" sz="1600" dirty="0">
                <a:cs typeface="Courier New" panose="02070309020205020404" pitchFamily="49" charset="0"/>
              </a:rPr>
              <a:t>号。</a:t>
            </a:r>
          </a:p>
        </p:txBody>
      </p:sp>
      <p:sp>
        <p:nvSpPr>
          <p:cNvPr id="11" name="矩形 10"/>
          <p:cNvSpPr/>
          <p:nvPr/>
        </p:nvSpPr>
        <p:spPr>
          <a:xfrm>
            <a:off x="1031917" y="2147289"/>
            <a:ext cx="10608699" cy="377732"/>
          </a:xfrm>
          <a:prstGeom prst="rect">
            <a:avLst/>
          </a:prstGeom>
        </p:spPr>
        <p:txBody>
          <a:bodyPr wrap="square">
            <a:spAutoFit/>
          </a:bodyPr>
          <a:lstStyle/>
          <a:p>
            <a:pPr>
              <a:lnSpc>
                <a:spcPts val="2400"/>
              </a:lnSpc>
            </a:pPr>
            <a:r>
              <a:rPr lang="zh-CN" altLang="en-US" sz="1600" dirty="0">
                <a:cs typeface="Courier New" panose="02070309020205020404" pitchFamily="49" charset="0"/>
              </a:rPr>
              <a:t>在</a:t>
            </a:r>
            <a:r>
              <a:rPr lang="en-US" altLang="zh-CN" sz="1600" dirty="0">
                <a:cs typeface="Courier New" panose="02070309020205020404" pitchFamily="49" charset="0"/>
              </a:rPr>
              <a:t>BGP</a:t>
            </a:r>
            <a:r>
              <a:rPr lang="zh-CN" altLang="en-US" sz="1600" dirty="0">
                <a:cs typeface="Courier New" panose="02070309020205020404" pitchFamily="49" charset="0"/>
              </a:rPr>
              <a:t>视图、</a:t>
            </a:r>
            <a:r>
              <a:rPr lang="en-US" altLang="zh-CN" sz="1600" dirty="0">
                <a:cs typeface="Courier New" panose="02070309020205020404" pitchFamily="49" charset="0"/>
              </a:rPr>
              <a:t>BGP-VPN</a:t>
            </a:r>
            <a:r>
              <a:rPr lang="zh-CN" altLang="en-US" sz="1600" dirty="0">
                <a:cs typeface="Courier New" panose="02070309020205020404" pitchFamily="49" charset="0"/>
              </a:rPr>
              <a:t>实例</a:t>
            </a:r>
            <a:r>
              <a:rPr lang="en-US" altLang="zh-CN" sz="1600" dirty="0">
                <a:cs typeface="Courier New" panose="02070309020205020404" pitchFamily="49" charset="0"/>
              </a:rPr>
              <a:t>IPv4</a:t>
            </a:r>
            <a:r>
              <a:rPr lang="zh-CN" altLang="en-US" sz="1600" dirty="0">
                <a:cs typeface="Courier New" panose="02070309020205020404" pitchFamily="49" charset="0"/>
              </a:rPr>
              <a:t>地址族视图、</a:t>
            </a:r>
            <a:r>
              <a:rPr lang="en-US" altLang="zh-CN" sz="1600" dirty="0">
                <a:cs typeface="Courier New" panose="02070309020205020404" pitchFamily="49" charset="0"/>
              </a:rPr>
              <a:t>BGP-VPN</a:t>
            </a:r>
            <a:r>
              <a:rPr lang="zh-CN" altLang="en-US" sz="1600" dirty="0">
                <a:cs typeface="Courier New" panose="02070309020205020404" pitchFamily="49" charset="0"/>
              </a:rPr>
              <a:t>实例</a:t>
            </a:r>
            <a:r>
              <a:rPr lang="en-US" altLang="zh-CN" sz="1600" dirty="0">
                <a:cs typeface="Courier New" panose="02070309020205020404" pitchFamily="49" charset="0"/>
              </a:rPr>
              <a:t>IPv6</a:t>
            </a:r>
            <a:r>
              <a:rPr lang="zh-CN" altLang="en-US" sz="1600" dirty="0">
                <a:cs typeface="Courier New" panose="02070309020205020404" pitchFamily="49" charset="0"/>
              </a:rPr>
              <a:t>地址族视图下创建对等体组。</a:t>
            </a:r>
          </a:p>
        </p:txBody>
      </p:sp>
      <p:sp>
        <p:nvSpPr>
          <p:cNvPr id="12" name="矩形 11"/>
          <p:cNvSpPr/>
          <p:nvPr/>
        </p:nvSpPr>
        <p:spPr>
          <a:xfrm>
            <a:off x="1031917" y="4674056"/>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a:t>
            </a:r>
            <a:r>
              <a:rPr lang="en-US" altLang="zh-CN" sz="1600" dirty="0" smtClean="0">
                <a:cs typeface="Courier New" panose="02070309020205020404" pitchFamily="49" charset="0"/>
              </a:rPr>
              <a:t>Huawei-bgp] </a:t>
            </a:r>
            <a:r>
              <a:rPr lang="en-US" altLang="zh-CN" sz="1600" b="1" dirty="0"/>
              <a:t>peer</a:t>
            </a:r>
            <a:r>
              <a:rPr lang="en-US" altLang="zh-CN" sz="1600" dirty="0"/>
              <a:t> { </a:t>
            </a:r>
            <a:r>
              <a:rPr lang="en-US" altLang="zh-CN" sz="1600" i="1" dirty="0"/>
              <a:t>ipv4-address</a:t>
            </a:r>
            <a:r>
              <a:rPr lang="en-US" altLang="zh-CN" sz="1600" dirty="0"/>
              <a:t> | </a:t>
            </a:r>
            <a:r>
              <a:rPr lang="en-US" altLang="zh-CN" sz="1600" i="1" dirty="0"/>
              <a:t>ipv6-address</a:t>
            </a:r>
            <a:r>
              <a:rPr lang="en-US" altLang="zh-CN" sz="1600" dirty="0"/>
              <a:t> } </a:t>
            </a:r>
            <a:r>
              <a:rPr lang="en-US" altLang="zh-CN" sz="1600" b="1" dirty="0"/>
              <a:t>group</a:t>
            </a:r>
            <a:r>
              <a:rPr lang="en-US" altLang="zh-CN" sz="1600" dirty="0"/>
              <a:t> </a:t>
            </a:r>
            <a:r>
              <a:rPr lang="en-US" altLang="zh-CN" sz="1600" i="1" dirty="0"/>
              <a:t>group-name</a:t>
            </a:r>
            <a:endParaRPr lang="zh-CN" altLang="en-US" sz="1600" dirty="0">
              <a:cs typeface="Courier New" panose="02070309020205020404" pitchFamily="49" charset="0"/>
            </a:endParaRPr>
          </a:p>
        </p:txBody>
      </p:sp>
      <p:sp>
        <p:nvSpPr>
          <p:cNvPr id="13" name="矩形 12"/>
          <p:cNvSpPr/>
          <p:nvPr/>
        </p:nvSpPr>
        <p:spPr>
          <a:xfrm>
            <a:off x="551384" y="4241909"/>
            <a:ext cx="11089232" cy="338554"/>
          </a:xfrm>
          <a:prstGeom prst="rect">
            <a:avLst/>
          </a:prstGeom>
        </p:spPr>
        <p:txBody>
          <a:bodyPr wrap="square">
            <a:spAutoFit/>
          </a:bodyPr>
          <a:lstStyle/>
          <a:p>
            <a:pPr marL="342900" indent="-342900" fontAlgn="auto">
              <a:buFont typeface="+mj-lt"/>
              <a:buAutoNum type="arabicPeriod" startAt="3"/>
            </a:pPr>
            <a:r>
              <a:rPr lang="zh-CN" altLang="en-US" sz="1600" dirty="0">
                <a:cs typeface="Courier New" panose="02070309020205020404" pitchFamily="49" charset="0"/>
              </a:rPr>
              <a:t>将对等体加入对等体组。</a:t>
            </a:r>
          </a:p>
        </p:txBody>
      </p:sp>
      <p:sp>
        <p:nvSpPr>
          <p:cNvPr id="15" name="矩形 14"/>
          <p:cNvSpPr/>
          <p:nvPr/>
        </p:nvSpPr>
        <p:spPr>
          <a:xfrm>
            <a:off x="1031917" y="5826994"/>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a:t>
            </a:r>
            <a:r>
              <a:rPr lang="en-US" altLang="zh-CN" sz="1600" dirty="0" smtClean="0">
                <a:cs typeface="Courier New" panose="02070309020205020404" pitchFamily="49" charset="0"/>
              </a:rPr>
              <a:t>Huawei-bgp] </a:t>
            </a:r>
            <a:r>
              <a:rPr lang="en-US" altLang="zh-CN" sz="1600" b="1" dirty="0"/>
              <a:t>peer</a:t>
            </a:r>
            <a:r>
              <a:rPr lang="en-US" altLang="zh-CN" sz="1600" dirty="0"/>
              <a:t> </a:t>
            </a:r>
            <a:r>
              <a:rPr lang="en-US" altLang="zh-CN" sz="1600" i="1" dirty="0" smtClean="0"/>
              <a:t>group-name</a:t>
            </a:r>
            <a:r>
              <a:rPr lang="en-US" altLang="zh-CN" sz="1600" dirty="0"/>
              <a:t> </a:t>
            </a:r>
            <a:r>
              <a:rPr lang="en-US" altLang="zh-CN" sz="1600" b="1" dirty="0" smtClean="0"/>
              <a:t>connect-interface</a:t>
            </a:r>
            <a:r>
              <a:rPr lang="en-US" altLang="zh-CN" sz="1600" dirty="0"/>
              <a:t> </a:t>
            </a:r>
            <a:r>
              <a:rPr lang="en-US" altLang="zh-CN" sz="1600" i="1" dirty="0"/>
              <a:t>interface-type</a:t>
            </a:r>
            <a:r>
              <a:rPr lang="en-US" altLang="zh-CN" sz="1600" dirty="0"/>
              <a:t> </a:t>
            </a:r>
            <a:r>
              <a:rPr lang="en-US" altLang="zh-CN" sz="1600" i="1" dirty="0"/>
              <a:t>interface-number</a:t>
            </a:r>
            <a:r>
              <a:rPr lang="en-US" altLang="zh-CN" sz="1600" dirty="0"/>
              <a:t> [ </a:t>
            </a:r>
            <a:r>
              <a:rPr lang="en-US" altLang="zh-CN" sz="1600" i="1" dirty="0"/>
              <a:t>ipv4-source-address</a:t>
            </a:r>
            <a:r>
              <a:rPr lang="en-US" altLang="zh-CN" sz="1600" dirty="0"/>
              <a:t> ]</a:t>
            </a:r>
            <a:endParaRPr lang="zh-CN" altLang="en-US" sz="1600" dirty="0">
              <a:cs typeface="Courier New" panose="02070309020205020404" pitchFamily="49" charset="0"/>
            </a:endParaRPr>
          </a:p>
        </p:txBody>
      </p:sp>
      <p:sp>
        <p:nvSpPr>
          <p:cNvPr id="16" name="矩形 15"/>
          <p:cNvSpPr/>
          <p:nvPr/>
        </p:nvSpPr>
        <p:spPr>
          <a:xfrm>
            <a:off x="551384" y="5394847"/>
            <a:ext cx="11089232" cy="338554"/>
          </a:xfrm>
          <a:prstGeom prst="rect">
            <a:avLst/>
          </a:prstGeom>
        </p:spPr>
        <p:txBody>
          <a:bodyPr wrap="square">
            <a:spAutoFit/>
          </a:bodyPr>
          <a:lstStyle/>
          <a:p>
            <a:pPr marL="342900" indent="-342900" fontAlgn="auto">
              <a:buFont typeface="+mj-lt"/>
              <a:buAutoNum type="arabicPeriod" startAt="4"/>
            </a:pPr>
            <a:r>
              <a:rPr lang="zh-CN" altLang="en-US" sz="1600" dirty="0">
                <a:cs typeface="Courier New" panose="02070309020205020404" pitchFamily="49" charset="0"/>
              </a:rPr>
              <a:t>指定发送</a:t>
            </a:r>
            <a:r>
              <a:rPr lang="en-US" altLang="zh-CN" sz="1600" dirty="0">
                <a:cs typeface="Courier New" panose="02070309020205020404" pitchFamily="49" charset="0"/>
              </a:rPr>
              <a:t>BGP</a:t>
            </a:r>
            <a:r>
              <a:rPr lang="zh-CN" altLang="en-US" sz="1600" dirty="0">
                <a:cs typeface="Courier New" panose="02070309020205020404" pitchFamily="49" charset="0"/>
              </a:rPr>
              <a:t>报文的源接口，</a:t>
            </a:r>
            <a:r>
              <a:rPr lang="zh-CN" altLang="en-US" sz="1600" dirty="0" smtClean="0">
                <a:cs typeface="Courier New" panose="02070309020205020404" pitchFamily="49" charset="0"/>
              </a:rPr>
              <a:t>并指定</a:t>
            </a:r>
            <a:r>
              <a:rPr lang="zh-CN" altLang="en-US" sz="1600" dirty="0">
                <a:cs typeface="Courier New" panose="02070309020205020404" pitchFamily="49" charset="0"/>
              </a:rPr>
              <a:t>发起连接时使用的</a:t>
            </a:r>
            <a:r>
              <a:rPr lang="zh-CN" altLang="en-US" sz="1600" dirty="0" smtClean="0">
                <a:cs typeface="Courier New" panose="02070309020205020404" pitchFamily="49" charset="0"/>
              </a:rPr>
              <a:t>源地址。</a:t>
            </a:r>
            <a:endParaRPr lang="zh-CN" altLang="en-US" sz="1600" dirty="0">
              <a:cs typeface="Courier New" panose="02070309020205020404" pitchFamily="49" charset="0"/>
            </a:endParaRPr>
          </a:p>
        </p:txBody>
      </p:sp>
      <p:sp>
        <p:nvSpPr>
          <p:cNvPr id="18" name="矩形 17"/>
          <p:cNvSpPr/>
          <p:nvPr/>
        </p:nvSpPr>
        <p:spPr>
          <a:xfrm>
            <a:off x="1031917" y="3585880"/>
            <a:ext cx="10608699" cy="400110"/>
          </a:xfrm>
          <a:prstGeom prst="rect">
            <a:avLst/>
          </a:prstGeom>
        </p:spPr>
        <p:txBody>
          <a:bodyPr wrap="square">
            <a:spAutoFit/>
          </a:bodyPr>
          <a:lstStyle/>
          <a:p>
            <a:pPr>
              <a:lnSpc>
                <a:spcPts val="2400"/>
              </a:lnSpc>
            </a:pPr>
            <a:r>
              <a:rPr lang="zh-CN" altLang="en-US" sz="1600" dirty="0">
                <a:cs typeface="Courier New" panose="02070309020205020404" pitchFamily="49" charset="0"/>
              </a:rPr>
              <a:t>配置</a:t>
            </a:r>
            <a:r>
              <a:rPr lang="en-US" altLang="zh-CN" sz="1600" dirty="0">
                <a:cs typeface="Courier New" panose="02070309020205020404" pitchFamily="49" charset="0"/>
              </a:rPr>
              <a:t>EBGP</a:t>
            </a:r>
            <a:r>
              <a:rPr lang="zh-CN" altLang="en-US" sz="1600" dirty="0">
                <a:cs typeface="Courier New" panose="02070309020205020404" pitchFamily="49" charset="0"/>
              </a:rPr>
              <a:t>对等体组的</a:t>
            </a:r>
            <a:r>
              <a:rPr lang="en-US" altLang="zh-CN" sz="1600" dirty="0">
                <a:cs typeface="Courier New" panose="02070309020205020404" pitchFamily="49" charset="0"/>
              </a:rPr>
              <a:t>AS</a:t>
            </a:r>
            <a:r>
              <a:rPr lang="zh-CN" altLang="en-US" sz="1600" dirty="0" smtClean="0">
                <a:cs typeface="Courier New" panose="02070309020205020404" pitchFamily="49" charset="0"/>
              </a:rPr>
              <a:t>号。对于</a:t>
            </a:r>
            <a:r>
              <a:rPr lang="en-US" altLang="zh-CN" sz="1600" dirty="0" smtClean="0">
                <a:cs typeface="Courier New" panose="02070309020205020404" pitchFamily="49" charset="0"/>
              </a:rPr>
              <a:t>IBGP</a:t>
            </a:r>
            <a:r>
              <a:rPr lang="zh-CN" altLang="en-US" sz="1600" dirty="0" smtClean="0">
                <a:cs typeface="Courier New" panose="02070309020205020404" pitchFamily="49" charset="0"/>
              </a:rPr>
              <a:t>对等体组，</a:t>
            </a:r>
            <a:r>
              <a:rPr lang="en-US" altLang="zh-CN" sz="1600" dirty="0" smtClean="0">
                <a:cs typeface="Courier New" panose="02070309020205020404" pitchFamily="49" charset="0"/>
              </a:rPr>
              <a:t>AS</a:t>
            </a:r>
            <a:r>
              <a:rPr lang="zh-CN" altLang="en-US" sz="1600" dirty="0" smtClean="0">
                <a:cs typeface="Courier New" panose="02070309020205020404" pitchFamily="49" charset="0"/>
              </a:rPr>
              <a:t>号为</a:t>
            </a:r>
            <a:r>
              <a:rPr lang="en-US" altLang="zh-CN" sz="1600" dirty="0" smtClean="0">
                <a:cs typeface="Courier New" panose="02070309020205020404" pitchFamily="49" charset="0"/>
              </a:rPr>
              <a:t>IBGP</a:t>
            </a:r>
            <a:r>
              <a:rPr lang="zh-CN" altLang="en-US" sz="1600" dirty="0" smtClean="0">
                <a:cs typeface="Courier New" panose="02070309020205020404" pitchFamily="49" charset="0"/>
              </a:rPr>
              <a:t>的本地</a:t>
            </a:r>
            <a:r>
              <a:rPr lang="en-US" altLang="zh-CN" sz="1600" dirty="0" smtClean="0">
                <a:cs typeface="Courier New" panose="02070309020205020404" pitchFamily="49" charset="0"/>
              </a:rPr>
              <a:t>AS</a:t>
            </a:r>
            <a:r>
              <a:rPr lang="zh-CN" altLang="en-US" sz="1600" dirty="0" smtClean="0">
                <a:cs typeface="Courier New" panose="02070309020205020404" pitchFamily="49" charset="0"/>
              </a:rPr>
              <a:t>号。</a:t>
            </a:r>
            <a:endParaRPr lang="zh-CN" altLang="en-US" sz="1600" dirty="0">
              <a:cs typeface="Courier New" panose="02070309020205020404" pitchFamily="49" charset="0"/>
            </a:endParaRPr>
          </a:p>
        </p:txBody>
      </p:sp>
      <p:sp>
        <p:nvSpPr>
          <p:cNvPr id="17" name="五边形 16"/>
          <p:cNvSpPr/>
          <p:nvPr/>
        </p:nvSpPr>
        <p:spPr bwMode="gray">
          <a:xfrm>
            <a:off x="8421350" y="99742"/>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ORF</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燕尾形 19"/>
          <p:cNvSpPr/>
          <p:nvPr/>
        </p:nvSpPr>
        <p:spPr bwMode="gray">
          <a:xfrm>
            <a:off x="9061791" y="99742"/>
            <a:ext cx="936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对等体组</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燕尾形 22"/>
          <p:cNvSpPr/>
          <p:nvPr/>
        </p:nvSpPr>
        <p:spPr bwMode="gray">
          <a:xfrm>
            <a:off x="9918233" y="99742"/>
            <a:ext cx="93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安全特性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燕尾形 23"/>
          <p:cNvSpPr/>
          <p:nvPr/>
        </p:nvSpPr>
        <p:spPr bwMode="gray">
          <a:xfrm>
            <a:off x="10774674" y="99742"/>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字节</a:t>
            </a: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AS</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号</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18743847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任意多边形 25"/>
          <p:cNvSpPr/>
          <p:nvPr/>
        </p:nvSpPr>
        <p:spPr bwMode="gray">
          <a:xfrm>
            <a:off x="3187167" y="1071330"/>
            <a:ext cx="2908833" cy="2482850"/>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sp>
        <p:nvSpPr>
          <p:cNvPr id="70" name="任意多边形 25"/>
          <p:cNvSpPr/>
          <p:nvPr/>
        </p:nvSpPr>
        <p:spPr bwMode="gray">
          <a:xfrm>
            <a:off x="466101" y="1071330"/>
            <a:ext cx="2051038" cy="2482850"/>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sp>
        <p:nvSpPr>
          <p:cNvPr id="2" name="标题 1"/>
          <p:cNvSpPr>
            <a:spLocks noGrp="1"/>
          </p:cNvSpPr>
          <p:nvPr>
            <p:ph type="title"/>
          </p:nvPr>
        </p:nvSpPr>
        <p:spPr/>
        <p:txBody>
          <a:bodyPr/>
          <a:lstStyle/>
          <a:p>
            <a:r>
              <a:rPr lang="en-US" altLang="zh-CN" smtClean="0"/>
              <a:t>BGP</a:t>
            </a:r>
            <a:r>
              <a:rPr lang="zh-CN" altLang="en-US" smtClean="0"/>
              <a:t>对等体组配置举例</a:t>
            </a:r>
            <a:endParaRPr lang="zh-CN" altLang="en-US" dirty="0"/>
          </a:p>
        </p:txBody>
      </p:sp>
      <p:sp>
        <p:nvSpPr>
          <p:cNvPr id="24" name="文本框 23"/>
          <p:cNvSpPr txBox="1"/>
          <p:nvPr/>
        </p:nvSpPr>
        <p:spPr>
          <a:xfrm>
            <a:off x="6657917" y="1479135"/>
            <a:ext cx="5087996" cy="738664"/>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a:solidFill>
                  <a:prstClr val="black"/>
                </a:solidFill>
                <a:cs typeface="Courier New" panose="02070309020205020404" pitchFamily="49" charset="0"/>
              </a:rPr>
              <a:t>[R1] bgp 101</a:t>
            </a:r>
          </a:p>
          <a:p>
            <a:pPr fontAlgn="auto">
              <a:spcBef>
                <a:spcPts val="0"/>
              </a:spcBef>
              <a:spcAft>
                <a:spcPts val="0"/>
              </a:spcAft>
            </a:pPr>
            <a:r>
              <a:rPr lang="en-US" altLang="zh-CN" sz="1400" dirty="0">
                <a:solidFill>
                  <a:prstClr val="black"/>
                </a:solidFill>
                <a:cs typeface="Courier New" panose="02070309020205020404" pitchFamily="49" charset="0"/>
              </a:rPr>
              <a:t>[R1-bgp] peer 10.1.12.2 as-number 102</a:t>
            </a:r>
          </a:p>
          <a:p>
            <a:r>
              <a:rPr lang="en-US" altLang="zh-CN" sz="1400" dirty="0" smtClean="0">
                <a:solidFill>
                  <a:prstClr val="black"/>
                </a:solidFill>
                <a:cs typeface="Courier New" panose="02070309020205020404" pitchFamily="49" charset="0"/>
              </a:rPr>
              <a:t>[</a:t>
            </a:r>
            <a:r>
              <a:rPr lang="en-US" altLang="zh-CN" sz="1400" dirty="0">
                <a:solidFill>
                  <a:prstClr val="black"/>
                </a:solidFill>
                <a:cs typeface="Courier New" panose="02070309020205020404" pitchFamily="49" charset="0"/>
              </a:rPr>
              <a:t>R1-bgp] network 10.1.1.1 </a:t>
            </a:r>
            <a:r>
              <a:rPr lang="en-US" altLang="zh-CN" sz="1400" dirty="0" smtClean="0">
                <a:solidFill>
                  <a:prstClr val="black"/>
                </a:solidFill>
                <a:cs typeface="Courier New" panose="02070309020205020404" pitchFamily="49" charset="0"/>
              </a:rPr>
              <a:t>32</a:t>
            </a:r>
            <a:endParaRPr lang="en-US" altLang="zh-CN" sz="1400" dirty="0">
              <a:solidFill>
                <a:prstClr val="black"/>
              </a:solidFill>
              <a:cs typeface="Courier New" panose="02070309020205020404" pitchFamily="49" charset="0"/>
            </a:endParaRPr>
          </a:p>
        </p:txBody>
      </p:sp>
      <p:sp>
        <p:nvSpPr>
          <p:cNvPr id="58" name="文本框 57"/>
          <p:cNvSpPr txBox="1"/>
          <p:nvPr/>
        </p:nvSpPr>
        <p:spPr>
          <a:xfrm>
            <a:off x="6338670" y="1116498"/>
            <a:ext cx="5407243" cy="338554"/>
          </a:xfrm>
          <a:prstGeom prst="rect">
            <a:avLst/>
          </a:prstGeom>
          <a:noFill/>
        </p:spPr>
        <p:txBody>
          <a:bodyPr wrap="square" rtlCol="0">
            <a:spAutoFit/>
          </a:bodyPr>
          <a:lstStyle/>
          <a:p>
            <a:pPr fontAlgn="auto">
              <a:spcBef>
                <a:spcPts val="0"/>
              </a:spcBef>
              <a:spcAft>
                <a:spcPts val="0"/>
              </a:spcAft>
            </a:pPr>
            <a:r>
              <a:rPr lang="en-US" altLang="zh-CN" sz="1600" dirty="0" smtClean="0">
                <a:solidFill>
                  <a:prstClr val="black"/>
                </a:solidFill>
              </a:rPr>
              <a:t>1</a:t>
            </a:r>
            <a:r>
              <a:rPr lang="zh-CN" altLang="en-US" sz="1600" dirty="0" smtClean="0">
                <a:solidFill>
                  <a:prstClr val="black"/>
                </a:solidFill>
              </a:rPr>
              <a:t>、完成</a:t>
            </a:r>
            <a:r>
              <a:rPr lang="en-US" altLang="zh-CN" sz="1600" dirty="0" smtClean="0">
                <a:solidFill>
                  <a:prstClr val="black"/>
                </a:solidFill>
              </a:rPr>
              <a:t>R1</a:t>
            </a:r>
            <a:r>
              <a:rPr lang="zh-CN" altLang="en-US" sz="1600" dirty="0">
                <a:solidFill>
                  <a:prstClr val="black"/>
                </a:solidFill>
              </a:rPr>
              <a:t>的</a:t>
            </a:r>
            <a:r>
              <a:rPr lang="en-US" altLang="zh-CN" sz="1600" dirty="0" smtClean="0">
                <a:solidFill>
                  <a:prstClr val="black"/>
                </a:solidFill>
              </a:rPr>
              <a:t>BGP</a:t>
            </a:r>
            <a:r>
              <a:rPr lang="zh-CN" altLang="en-US" sz="1600" dirty="0" smtClean="0">
                <a:solidFill>
                  <a:prstClr val="black"/>
                </a:solidFill>
              </a:rPr>
              <a:t>基本配置。</a:t>
            </a:r>
            <a:endParaRPr lang="zh-CN" altLang="en-US" sz="1600" dirty="0">
              <a:solidFill>
                <a:prstClr val="black"/>
              </a:solidFill>
            </a:endParaRPr>
          </a:p>
        </p:txBody>
      </p:sp>
      <p:pic>
        <p:nvPicPr>
          <p:cNvPr id="67" name="图片 6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459945" y="2141610"/>
            <a:ext cx="540000" cy="442800"/>
          </a:xfrm>
          <a:prstGeom prst="rect">
            <a:avLst/>
          </a:prstGeom>
        </p:spPr>
      </p:pic>
      <p:sp>
        <p:nvSpPr>
          <p:cNvPr id="72" name="TextBox 120">
            <a:extLst>
              <a:ext uri="{FF2B5EF4-FFF2-40B4-BE49-F238E27FC236}">
                <a16:creationId xmlns="" xmlns:a16="http://schemas.microsoft.com/office/drawing/2014/main" id="{020D7A1D-EFAD-4C8C-B9DE-D0FAD269B77A}"/>
              </a:ext>
            </a:extLst>
          </p:cNvPr>
          <p:cNvSpPr txBox="1"/>
          <p:nvPr/>
        </p:nvSpPr>
        <p:spPr bwMode="gray">
          <a:xfrm>
            <a:off x="472592" y="1108948"/>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4" name="直接连接符 73"/>
          <p:cNvCxnSpPr>
            <a:stCxn id="71" idx="3"/>
            <a:endCxn id="67" idx="1"/>
          </p:cNvCxnSpPr>
          <p:nvPr/>
        </p:nvCxnSpPr>
        <p:spPr bwMode="gray">
          <a:xfrm>
            <a:off x="3964818" y="2363010"/>
            <a:ext cx="149512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a:endCxn id="46" idx="1"/>
          </p:cNvCxnSpPr>
          <p:nvPr/>
        </p:nvCxnSpPr>
        <p:spPr bwMode="gray">
          <a:xfrm>
            <a:off x="1506421" y="2363010"/>
            <a:ext cx="2224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bwMode="gray">
          <a:xfrm>
            <a:off x="1506421" y="2249233"/>
            <a:ext cx="0" cy="221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TextBox 120">
            <a:extLst>
              <a:ext uri="{FF2B5EF4-FFF2-40B4-BE49-F238E27FC236}">
                <a16:creationId xmlns="" xmlns:a16="http://schemas.microsoft.com/office/drawing/2014/main" id="{020D7A1D-EFAD-4C8C-B9DE-D0FAD269B77A}"/>
              </a:ext>
            </a:extLst>
          </p:cNvPr>
          <p:cNvSpPr txBox="1"/>
          <p:nvPr/>
        </p:nvSpPr>
        <p:spPr bwMode="gray">
          <a:xfrm>
            <a:off x="3294139" y="1892106"/>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TextBox 120">
            <a:extLst>
              <a:ext uri="{FF2B5EF4-FFF2-40B4-BE49-F238E27FC236}">
                <a16:creationId xmlns="" xmlns:a16="http://schemas.microsoft.com/office/drawing/2014/main" id="{020D7A1D-EFAD-4C8C-B9DE-D0FAD269B77A}"/>
              </a:ext>
            </a:extLst>
          </p:cNvPr>
          <p:cNvSpPr txBox="1"/>
          <p:nvPr/>
        </p:nvSpPr>
        <p:spPr bwMode="gray">
          <a:xfrm>
            <a:off x="5325547" y="1892106"/>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R4</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TextBox 120">
            <a:extLst>
              <a:ext uri="{FF2B5EF4-FFF2-40B4-BE49-F238E27FC236}">
                <a16:creationId xmlns="" xmlns:a16="http://schemas.microsoft.com/office/drawing/2014/main" id="{020D7A1D-EFAD-4C8C-B9DE-D0FAD269B77A}"/>
              </a:ext>
            </a:extLst>
          </p:cNvPr>
          <p:cNvSpPr txBox="1"/>
          <p:nvPr/>
        </p:nvSpPr>
        <p:spPr bwMode="gray">
          <a:xfrm>
            <a:off x="459654" y="2213556"/>
            <a:ext cx="1169713"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10.1.1.1/32</a:t>
            </a:r>
          </a:p>
        </p:txBody>
      </p:sp>
      <p:sp>
        <p:nvSpPr>
          <p:cNvPr id="88" name="TextBox 120">
            <a:extLst>
              <a:ext uri="{FF2B5EF4-FFF2-40B4-BE49-F238E27FC236}">
                <a16:creationId xmlns="" xmlns:a16="http://schemas.microsoft.com/office/drawing/2014/main" id="{020D7A1D-EFAD-4C8C-B9DE-D0FAD269B77A}"/>
              </a:ext>
            </a:extLst>
          </p:cNvPr>
          <p:cNvSpPr txBox="1"/>
          <p:nvPr/>
        </p:nvSpPr>
        <p:spPr bwMode="gray">
          <a:xfrm>
            <a:off x="2215010" y="2056518"/>
            <a:ext cx="128158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10.1.12.0/24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TextBox 120">
            <a:extLst>
              <a:ext uri="{FF2B5EF4-FFF2-40B4-BE49-F238E27FC236}">
                <a16:creationId xmlns="" xmlns:a16="http://schemas.microsoft.com/office/drawing/2014/main" id="{020D7A1D-EFAD-4C8C-B9DE-D0FAD269B77A}"/>
              </a:ext>
            </a:extLst>
          </p:cNvPr>
          <p:cNvSpPr txBox="1"/>
          <p:nvPr/>
        </p:nvSpPr>
        <p:spPr bwMode="gray">
          <a:xfrm>
            <a:off x="2253400" y="2325154"/>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TextBox 120">
            <a:extLst>
              <a:ext uri="{FF2B5EF4-FFF2-40B4-BE49-F238E27FC236}">
                <a16:creationId xmlns="" xmlns:a16="http://schemas.microsoft.com/office/drawing/2014/main" id="{020D7A1D-EFAD-4C8C-B9DE-D0FAD269B77A}"/>
              </a:ext>
            </a:extLst>
          </p:cNvPr>
          <p:cNvSpPr txBox="1"/>
          <p:nvPr/>
        </p:nvSpPr>
        <p:spPr bwMode="gray">
          <a:xfrm>
            <a:off x="5203800" y="2321231"/>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文本占位符 2"/>
          <p:cNvSpPr txBox="1">
            <a:spLocks/>
          </p:cNvSpPr>
          <p:nvPr/>
        </p:nvSpPr>
        <p:spPr bwMode="auto">
          <a:xfrm>
            <a:off x="480297" y="3695500"/>
            <a:ext cx="5627683" cy="1127674"/>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en-US" altLang="zh-CN" sz="1600" dirty="0" smtClean="0"/>
              <a:t>R2</a:t>
            </a:r>
            <a:r>
              <a:rPr lang="zh-CN" altLang="en-US" sz="1600" dirty="0" smtClean="0"/>
              <a:t>作为</a:t>
            </a:r>
            <a:r>
              <a:rPr lang="en-US" altLang="zh-CN" sz="1600" dirty="0" smtClean="0"/>
              <a:t>ASBR</a:t>
            </a:r>
            <a:r>
              <a:rPr lang="zh-CN" altLang="en-US" sz="1600" dirty="0" smtClean="0"/>
              <a:t>从</a:t>
            </a:r>
            <a:r>
              <a:rPr lang="en-US" altLang="zh-CN" sz="1600" dirty="0" smtClean="0"/>
              <a:t>EBGP</a:t>
            </a:r>
            <a:r>
              <a:rPr lang="zh-CN" altLang="en-US" sz="1600" dirty="0" smtClean="0"/>
              <a:t>邻居</a:t>
            </a:r>
            <a:r>
              <a:rPr lang="en-US" altLang="zh-CN" sz="1600" dirty="0" smtClean="0"/>
              <a:t>R1</a:t>
            </a:r>
            <a:r>
              <a:rPr lang="zh-CN" altLang="en-US" sz="1600" dirty="0" smtClean="0"/>
              <a:t>收</a:t>
            </a:r>
            <a:r>
              <a:rPr lang="zh-CN" altLang="en-US" sz="1600" dirty="0"/>
              <a:t>到</a:t>
            </a:r>
            <a:r>
              <a:rPr lang="zh-CN" altLang="en-US" sz="1600" dirty="0" smtClean="0"/>
              <a:t>路由</a:t>
            </a:r>
            <a:r>
              <a:rPr lang="zh-CN" altLang="en-US" sz="1600" dirty="0"/>
              <a:t>后，会向所有</a:t>
            </a:r>
            <a:r>
              <a:rPr lang="en-US" altLang="zh-CN" sz="1600" dirty="0"/>
              <a:t>IBGP</a:t>
            </a:r>
            <a:r>
              <a:rPr lang="zh-CN" altLang="en-US" sz="1600" dirty="0" smtClean="0"/>
              <a:t>邻居（</a:t>
            </a:r>
            <a:r>
              <a:rPr lang="en-US" altLang="zh-CN" sz="1600" dirty="0" smtClean="0"/>
              <a:t>R3</a:t>
            </a:r>
            <a:r>
              <a:rPr lang="zh-CN" altLang="en-US" sz="1600" dirty="0" smtClean="0"/>
              <a:t>、</a:t>
            </a:r>
            <a:r>
              <a:rPr lang="en-US" altLang="zh-CN" sz="1600" dirty="0" smtClean="0"/>
              <a:t>R4</a:t>
            </a:r>
            <a:r>
              <a:rPr lang="zh-CN" altLang="en-US" sz="1600" dirty="0" smtClean="0"/>
              <a:t>、</a:t>
            </a:r>
            <a:r>
              <a:rPr lang="en-US" altLang="zh-CN" sz="1600" dirty="0" smtClean="0"/>
              <a:t>R5</a:t>
            </a:r>
            <a:r>
              <a:rPr lang="zh-CN" altLang="en-US" sz="1600" dirty="0" smtClean="0"/>
              <a:t>）发送</a:t>
            </a:r>
            <a:r>
              <a:rPr lang="zh-CN" altLang="en-US" sz="1600" dirty="0"/>
              <a:t>。如果</a:t>
            </a:r>
            <a:r>
              <a:rPr lang="en-US" altLang="zh-CN" sz="1600" dirty="0" smtClean="0"/>
              <a:t>R2</a:t>
            </a:r>
            <a:r>
              <a:rPr lang="zh-CN" altLang="en-US" sz="1600" dirty="0" smtClean="0"/>
              <a:t>支持</a:t>
            </a:r>
            <a:r>
              <a:rPr lang="en-US" altLang="zh-CN" sz="1600" dirty="0" smtClean="0"/>
              <a:t>BGP</a:t>
            </a:r>
            <a:r>
              <a:rPr lang="zh-CN" altLang="en-US" sz="1600" dirty="0" smtClean="0"/>
              <a:t>对等体组功能，那么</a:t>
            </a:r>
            <a:r>
              <a:rPr lang="en-US" altLang="zh-CN" sz="1600" dirty="0" smtClean="0"/>
              <a:t>R2</a:t>
            </a:r>
            <a:r>
              <a:rPr lang="zh-CN" altLang="en-US" sz="1600" dirty="0" smtClean="0"/>
              <a:t>可以节省内存，并提升路由转发效率。</a:t>
            </a:r>
            <a:endParaRPr lang="zh-CN" altLang="en-US" sz="1600" dirty="0"/>
          </a:p>
        </p:txBody>
      </p:sp>
      <p:sp>
        <p:nvSpPr>
          <p:cNvPr id="34" name="文本框 33"/>
          <p:cNvSpPr txBox="1"/>
          <p:nvPr/>
        </p:nvSpPr>
        <p:spPr>
          <a:xfrm>
            <a:off x="6657917" y="2729554"/>
            <a:ext cx="5087996" cy="1600438"/>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R2] </a:t>
            </a:r>
            <a:r>
              <a:rPr lang="en-US" altLang="zh-CN" sz="1400" dirty="0">
                <a:solidFill>
                  <a:prstClr val="black"/>
                </a:solidFill>
                <a:cs typeface="Courier New" panose="02070309020205020404" pitchFamily="49" charset="0"/>
              </a:rPr>
              <a:t>bgp </a:t>
            </a:r>
            <a:r>
              <a:rPr lang="en-US" altLang="zh-CN" sz="1400" dirty="0" smtClean="0">
                <a:solidFill>
                  <a:prstClr val="black"/>
                </a:solidFill>
                <a:cs typeface="Courier New" panose="02070309020205020404" pitchFamily="49" charset="0"/>
              </a:rPr>
              <a:t>102</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R2-bgp</a:t>
            </a:r>
            <a:r>
              <a:rPr lang="en-US" altLang="zh-CN" sz="1400" dirty="0">
                <a:solidFill>
                  <a:prstClr val="black"/>
                </a:solidFill>
                <a:cs typeface="Courier New" panose="02070309020205020404" pitchFamily="49" charset="0"/>
              </a:rPr>
              <a:t>] peer </a:t>
            </a:r>
            <a:r>
              <a:rPr lang="en-US" altLang="zh-CN" sz="1400" dirty="0" smtClean="0">
                <a:solidFill>
                  <a:prstClr val="black"/>
                </a:solidFill>
                <a:cs typeface="Courier New" panose="02070309020205020404" pitchFamily="49" charset="0"/>
              </a:rPr>
              <a:t>10.1.12.1 </a:t>
            </a:r>
            <a:r>
              <a:rPr lang="en-US" altLang="zh-CN" sz="1400" dirty="0">
                <a:solidFill>
                  <a:prstClr val="black"/>
                </a:solidFill>
                <a:cs typeface="Courier New" panose="02070309020205020404" pitchFamily="49" charset="0"/>
              </a:rPr>
              <a:t>as-number </a:t>
            </a:r>
            <a:r>
              <a:rPr lang="en-US" altLang="zh-CN" sz="1400" dirty="0" smtClean="0">
                <a:solidFill>
                  <a:prstClr val="black"/>
                </a:solidFill>
                <a:cs typeface="Courier New" panose="02070309020205020404" pitchFamily="49" charset="0"/>
              </a:rPr>
              <a:t>101</a:t>
            </a:r>
          </a:p>
          <a:p>
            <a:pPr fontAlgn="auto">
              <a:spcBef>
                <a:spcPts val="0"/>
              </a:spcBef>
              <a:spcAft>
                <a:spcPts val="0"/>
              </a:spcAft>
            </a:pPr>
            <a:r>
              <a:rPr lang="en-US" altLang="zh-CN" sz="1400" dirty="0">
                <a:solidFill>
                  <a:prstClr val="black"/>
                </a:solidFill>
                <a:cs typeface="Courier New" panose="02070309020205020404" pitchFamily="49" charset="0"/>
              </a:rPr>
              <a:t>[R2-bgp] </a:t>
            </a:r>
            <a:r>
              <a:rPr lang="en-US" altLang="zh-CN" sz="1400" b="1" dirty="0">
                <a:solidFill>
                  <a:srgbClr val="C7000B"/>
                </a:solidFill>
                <a:cs typeface="Courier New" panose="02070309020205020404" pitchFamily="49" charset="0"/>
              </a:rPr>
              <a:t>group in internal</a:t>
            </a:r>
          </a:p>
          <a:p>
            <a:pPr fontAlgn="auto">
              <a:spcBef>
                <a:spcPts val="0"/>
              </a:spcBef>
              <a:spcAft>
                <a:spcPts val="0"/>
              </a:spcAft>
            </a:pPr>
            <a:r>
              <a:rPr lang="en-US" altLang="zh-CN" sz="1400" dirty="0">
                <a:solidFill>
                  <a:prstClr val="black"/>
                </a:solidFill>
                <a:cs typeface="Courier New" panose="02070309020205020404" pitchFamily="49" charset="0"/>
              </a:rPr>
              <a:t>[R2-bgp] </a:t>
            </a:r>
            <a:r>
              <a:rPr lang="en-US" altLang="zh-CN" sz="1400" dirty="0">
                <a:solidFill>
                  <a:srgbClr val="C7000B"/>
                </a:solidFill>
                <a:cs typeface="Courier New" panose="02070309020205020404" pitchFamily="49" charset="0"/>
              </a:rPr>
              <a:t>peer 10.1.3.3 group </a:t>
            </a:r>
            <a:r>
              <a:rPr lang="en-US" altLang="zh-CN" sz="1400" b="1" dirty="0">
                <a:solidFill>
                  <a:srgbClr val="C7000B"/>
                </a:solidFill>
                <a:cs typeface="Courier New" panose="02070309020205020404" pitchFamily="49" charset="0"/>
              </a:rPr>
              <a:t>in</a:t>
            </a:r>
          </a:p>
          <a:p>
            <a:r>
              <a:rPr lang="en-US" altLang="zh-CN" sz="1400" dirty="0">
                <a:solidFill>
                  <a:prstClr val="black"/>
                </a:solidFill>
                <a:cs typeface="Courier New" panose="02070309020205020404" pitchFamily="49" charset="0"/>
              </a:rPr>
              <a:t>[R2-bgp] </a:t>
            </a:r>
            <a:r>
              <a:rPr lang="en-US" altLang="zh-CN" sz="1400" dirty="0">
                <a:solidFill>
                  <a:srgbClr val="C7000B"/>
                </a:solidFill>
                <a:cs typeface="Courier New" panose="02070309020205020404" pitchFamily="49" charset="0"/>
              </a:rPr>
              <a:t>peer 10.1.4.4 group </a:t>
            </a:r>
            <a:r>
              <a:rPr lang="en-US" altLang="zh-CN" sz="1400" b="1" dirty="0">
                <a:solidFill>
                  <a:srgbClr val="C7000B"/>
                </a:solidFill>
                <a:cs typeface="Courier New" panose="02070309020205020404" pitchFamily="49" charset="0"/>
              </a:rPr>
              <a:t>in</a:t>
            </a:r>
          </a:p>
          <a:p>
            <a:r>
              <a:rPr lang="en-US" altLang="zh-CN" sz="1400" dirty="0">
                <a:solidFill>
                  <a:prstClr val="black"/>
                </a:solidFill>
                <a:cs typeface="Courier New" panose="02070309020205020404" pitchFamily="49" charset="0"/>
              </a:rPr>
              <a:t>[R2-bgp] </a:t>
            </a:r>
            <a:r>
              <a:rPr lang="en-US" altLang="zh-CN" sz="1400" dirty="0">
                <a:solidFill>
                  <a:srgbClr val="C7000B"/>
                </a:solidFill>
                <a:cs typeface="Courier New" panose="02070309020205020404" pitchFamily="49" charset="0"/>
              </a:rPr>
              <a:t>peer 10.1.5.5 group </a:t>
            </a:r>
            <a:r>
              <a:rPr lang="en-US" altLang="zh-CN" sz="1400" b="1" dirty="0">
                <a:solidFill>
                  <a:srgbClr val="C7000B"/>
                </a:solidFill>
                <a:cs typeface="Courier New" panose="02070309020205020404" pitchFamily="49" charset="0"/>
              </a:rPr>
              <a:t>in</a:t>
            </a:r>
          </a:p>
          <a:p>
            <a:r>
              <a:rPr lang="en-US" altLang="zh-CN" sz="1400" dirty="0">
                <a:solidFill>
                  <a:prstClr val="black"/>
                </a:solidFill>
                <a:cs typeface="Courier New" panose="02070309020205020404" pitchFamily="49" charset="0"/>
              </a:rPr>
              <a:t>[R2-bgp] </a:t>
            </a:r>
            <a:r>
              <a:rPr lang="en-US" altLang="zh-CN" sz="1400" dirty="0">
                <a:solidFill>
                  <a:srgbClr val="C7000B"/>
                </a:solidFill>
                <a:cs typeface="Courier New" panose="02070309020205020404" pitchFamily="49" charset="0"/>
              </a:rPr>
              <a:t>peer </a:t>
            </a:r>
            <a:r>
              <a:rPr lang="en-US" altLang="zh-CN" sz="1400" b="1" dirty="0">
                <a:solidFill>
                  <a:srgbClr val="C7000B"/>
                </a:solidFill>
                <a:cs typeface="Courier New" panose="02070309020205020404" pitchFamily="49" charset="0"/>
              </a:rPr>
              <a:t>in</a:t>
            </a:r>
            <a:r>
              <a:rPr lang="en-US" altLang="zh-CN" sz="1400" dirty="0">
                <a:solidFill>
                  <a:srgbClr val="C7000B"/>
                </a:solidFill>
                <a:cs typeface="Courier New" panose="02070309020205020404" pitchFamily="49" charset="0"/>
              </a:rPr>
              <a:t> connect-interface </a:t>
            </a:r>
            <a:r>
              <a:rPr lang="en-US" altLang="zh-CN" sz="1400" dirty="0" smtClean="0">
                <a:solidFill>
                  <a:srgbClr val="C7000B"/>
                </a:solidFill>
                <a:cs typeface="Courier New" panose="02070309020205020404" pitchFamily="49" charset="0"/>
              </a:rPr>
              <a:t>Loopback 0</a:t>
            </a:r>
            <a:endParaRPr lang="en-US" altLang="zh-CN" sz="1400" dirty="0">
              <a:solidFill>
                <a:srgbClr val="C7000B"/>
              </a:solidFill>
              <a:cs typeface="Courier New" panose="02070309020205020404" pitchFamily="49" charset="0"/>
            </a:endParaRPr>
          </a:p>
        </p:txBody>
      </p:sp>
      <p:sp>
        <p:nvSpPr>
          <p:cNvPr id="35" name="文本框 34"/>
          <p:cNvSpPr txBox="1"/>
          <p:nvPr/>
        </p:nvSpPr>
        <p:spPr>
          <a:xfrm>
            <a:off x="6338670" y="2385441"/>
            <a:ext cx="5407243" cy="338554"/>
          </a:xfrm>
          <a:prstGeom prst="rect">
            <a:avLst/>
          </a:prstGeom>
          <a:noFill/>
        </p:spPr>
        <p:txBody>
          <a:bodyPr wrap="square" rtlCol="0">
            <a:spAutoFit/>
          </a:bodyPr>
          <a:lstStyle/>
          <a:p>
            <a:pPr fontAlgn="auto">
              <a:spcBef>
                <a:spcPts val="0"/>
              </a:spcBef>
              <a:spcAft>
                <a:spcPts val="0"/>
              </a:spcAft>
            </a:pPr>
            <a:r>
              <a:rPr lang="en-US" altLang="zh-CN" sz="1600" dirty="0">
                <a:solidFill>
                  <a:prstClr val="black"/>
                </a:solidFill>
              </a:rPr>
              <a:t>2</a:t>
            </a:r>
            <a:r>
              <a:rPr lang="zh-CN" altLang="en-US" sz="1600" dirty="0" smtClean="0">
                <a:solidFill>
                  <a:prstClr val="black"/>
                </a:solidFill>
              </a:rPr>
              <a:t>、完成</a:t>
            </a:r>
            <a:r>
              <a:rPr lang="en-US" altLang="zh-CN" sz="1600" dirty="0" smtClean="0">
                <a:solidFill>
                  <a:prstClr val="black"/>
                </a:solidFill>
              </a:rPr>
              <a:t>R2</a:t>
            </a:r>
            <a:r>
              <a:rPr lang="zh-CN" altLang="en-US" sz="1600" dirty="0" smtClean="0">
                <a:solidFill>
                  <a:prstClr val="black"/>
                </a:solidFill>
              </a:rPr>
              <a:t>的</a:t>
            </a:r>
            <a:r>
              <a:rPr lang="en-US" altLang="zh-CN" sz="1600" dirty="0" smtClean="0">
                <a:solidFill>
                  <a:prstClr val="black"/>
                </a:solidFill>
              </a:rPr>
              <a:t>EBGP</a:t>
            </a:r>
            <a:r>
              <a:rPr lang="zh-CN" altLang="en-US" sz="1600" dirty="0" smtClean="0">
                <a:solidFill>
                  <a:prstClr val="black"/>
                </a:solidFill>
              </a:rPr>
              <a:t>基本配置和</a:t>
            </a:r>
            <a:r>
              <a:rPr lang="en-US" altLang="zh-CN" sz="1600" dirty="0" smtClean="0">
                <a:solidFill>
                  <a:prstClr val="black"/>
                </a:solidFill>
              </a:rPr>
              <a:t>IBGP</a:t>
            </a:r>
            <a:r>
              <a:rPr lang="zh-CN" altLang="en-US" sz="1600" dirty="0" smtClean="0">
                <a:solidFill>
                  <a:prstClr val="black"/>
                </a:solidFill>
              </a:rPr>
              <a:t>对等体组基本配置。</a:t>
            </a:r>
            <a:endParaRPr lang="zh-CN" altLang="en-US" sz="1600" dirty="0">
              <a:solidFill>
                <a:prstClr val="black"/>
              </a:solidFill>
            </a:endParaRPr>
          </a:p>
        </p:txBody>
      </p:sp>
      <p:pic>
        <p:nvPicPr>
          <p:cNvPr id="33" name="图片 32"/>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459945" y="1355898"/>
            <a:ext cx="540000" cy="442800"/>
          </a:xfrm>
          <a:prstGeom prst="rect">
            <a:avLst/>
          </a:prstGeom>
        </p:spPr>
      </p:pic>
      <p:pic>
        <p:nvPicPr>
          <p:cNvPr id="43" name="图片 42"/>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459945" y="2931535"/>
            <a:ext cx="540000" cy="442800"/>
          </a:xfrm>
          <a:prstGeom prst="rect">
            <a:avLst/>
          </a:prstGeom>
        </p:spPr>
      </p:pic>
      <p:cxnSp>
        <p:nvCxnSpPr>
          <p:cNvPr id="44" name="直接连接符 43"/>
          <p:cNvCxnSpPr>
            <a:stCxn id="71" idx="1"/>
            <a:endCxn id="33" idx="1"/>
          </p:cNvCxnSpPr>
          <p:nvPr/>
        </p:nvCxnSpPr>
        <p:spPr bwMode="gray">
          <a:xfrm flipV="1">
            <a:off x="3424818" y="1577298"/>
            <a:ext cx="2035127" cy="7857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a:stCxn id="71" idx="1"/>
            <a:endCxn id="43" idx="1"/>
          </p:cNvCxnSpPr>
          <p:nvPr/>
        </p:nvCxnSpPr>
        <p:spPr bwMode="gray">
          <a:xfrm>
            <a:off x="3424818" y="2363010"/>
            <a:ext cx="2035127" cy="7899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71" name="图片 7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424818" y="2141610"/>
            <a:ext cx="540000" cy="442800"/>
          </a:xfrm>
          <a:prstGeom prst="rect">
            <a:avLst/>
          </a:prstGeom>
        </p:spPr>
      </p:pic>
      <p:pic>
        <p:nvPicPr>
          <p:cNvPr id="46" name="图片 4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728846" y="2141610"/>
            <a:ext cx="540000" cy="442800"/>
          </a:xfrm>
          <a:prstGeom prst="rect">
            <a:avLst/>
          </a:prstGeom>
        </p:spPr>
      </p:pic>
      <p:cxnSp>
        <p:nvCxnSpPr>
          <p:cNvPr id="48" name="直接连接符 47"/>
          <p:cNvCxnSpPr>
            <a:stCxn id="46" idx="3"/>
            <a:endCxn id="71" idx="1"/>
          </p:cNvCxnSpPr>
          <p:nvPr/>
        </p:nvCxnSpPr>
        <p:spPr bwMode="gray">
          <a:xfrm>
            <a:off x="2268846" y="2363010"/>
            <a:ext cx="115597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TextBox 120">
            <a:extLst>
              <a:ext uri="{FF2B5EF4-FFF2-40B4-BE49-F238E27FC236}">
                <a16:creationId xmlns="" xmlns:a16="http://schemas.microsoft.com/office/drawing/2014/main" id="{020D7A1D-EFAD-4C8C-B9DE-D0FAD269B77A}"/>
              </a:ext>
            </a:extLst>
          </p:cNvPr>
          <p:cNvSpPr txBox="1"/>
          <p:nvPr/>
        </p:nvSpPr>
        <p:spPr bwMode="gray">
          <a:xfrm>
            <a:off x="3168896" y="2325154"/>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TextBox 120">
            <a:extLst>
              <a:ext uri="{FF2B5EF4-FFF2-40B4-BE49-F238E27FC236}">
                <a16:creationId xmlns="" xmlns:a16="http://schemas.microsoft.com/office/drawing/2014/main" id="{020D7A1D-EFAD-4C8C-B9DE-D0FAD269B77A}"/>
              </a:ext>
            </a:extLst>
          </p:cNvPr>
          <p:cNvSpPr txBox="1"/>
          <p:nvPr/>
        </p:nvSpPr>
        <p:spPr bwMode="gray">
          <a:xfrm>
            <a:off x="1585300" y="1892106"/>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TextBox 120">
            <a:extLst>
              <a:ext uri="{FF2B5EF4-FFF2-40B4-BE49-F238E27FC236}">
                <a16:creationId xmlns="" xmlns:a16="http://schemas.microsoft.com/office/drawing/2014/main" id="{020D7A1D-EFAD-4C8C-B9DE-D0FAD269B77A}"/>
              </a:ext>
            </a:extLst>
          </p:cNvPr>
          <p:cNvSpPr txBox="1"/>
          <p:nvPr/>
        </p:nvSpPr>
        <p:spPr bwMode="gray">
          <a:xfrm>
            <a:off x="5325547" y="1085882"/>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R3</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TextBox 120">
            <a:extLst>
              <a:ext uri="{FF2B5EF4-FFF2-40B4-BE49-F238E27FC236}">
                <a16:creationId xmlns="" xmlns:a16="http://schemas.microsoft.com/office/drawing/2014/main" id="{020D7A1D-EFAD-4C8C-B9DE-D0FAD269B77A}"/>
              </a:ext>
            </a:extLst>
          </p:cNvPr>
          <p:cNvSpPr txBox="1"/>
          <p:nvPr/>
        </p:nvSpPr>
        <p:spPr bwMode="gray">
          <a:xfrm>
            <a:off x="5325547" y="2676180"/>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R5</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TextBox 120">
            <a:extLst>
              <a:ext uri="{FF2B5EF4-FFF2-40B4-BE49-F238E27FC236}">
                <a16:creationId xmlns="" xmlns:a16="http://schemas.microsoft.com/office/drawing/2014/main" id="{020D7A1D-EFAD-4C8C-B9DE-D0FAD269B77A}"/>
              </a:ext>
            </a:extLst>
          </p:cNvPr>
          <p:cNvSpPr txBox="1"/>
          <p:nvPr/>
        </p:nvSpPr>
        <p:spPr bwMode="gray">
          <a:xfrm rot="20339608">
            <a:off x="4089612" y="1536457"/>
            <a:ext cx="128158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10.1.23.0/24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TextBox 120">
            <a:extLst>
              <a:ext uri="{FF2B5EF4-FFF2-40B4-BE49-F238E27FC236}">
                <a16:creationId xmlns="" xmlns:a16="http://schemas.microsoft.com/office/drawing/2014/main" id="{020D7A1D-EFAD-4C8C-B9DE-D0FAD269B77A}"/>
              </a:ext>
            </a:extLst>
          </p:cNvPr>
          <p:cNvSpPr txBox="1"/>
          <p:nvPr/>
        </p:nvSpPr>
        <p:spPr bwMode="gray">
          <a:xfrm>
            <a:off x="4172019" y="2093089"/>
            <a:ext cx="128158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10.1.24.0/24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TextBox 120">
            <a:extLst>
              <a:ext uri="{FF2B5EF4-FFF2-40B4-BE49-F238E27FC236}">
                <a16:creationId xmlns="" xmlns:a16="http://schemas.microsoft.com/office/drawing/2014/main" id="{020D7A1D-EFAD-4C8C-B9DE-D0FAD269B77A}"/>
              </a:ext>
            </a:extLst>
          </p:cNvPr>
          <p:cNvSpPr txBox="1"/>
          <p:nvPr/>
        </p:nvSpPr>
        <p:spPr bwMode="gray">
          <a:xfrm rot="1339552">
            <a:off x="4146994" y="2639075"/>
            <a:ext cx="128158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10.1.25.0/24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TextBox 120">
            <a:extLst>
              <a:ext uri="{FF2B5EF4-FFF2-40B4-BE49-F238E27FC236}">
                <a16:creationId xmlns="" xmlns:a16="http://schemas.microsoft.com/office/drawing/2014/main" id="{020D7A1D-EFAD-4C8C-B9DE-D0FAD269B77A}"/>
              </a:ext>
            </a:extLst>
          </p:cNvPr>
          <p:cNvSpPr txBox="1"/>
          <p:nvPr/>
        </p:nvSpPr>
        <p:spPr bwMode="gray">
          <a:xfrm>
            <a:off x="3907663" y="2320840"/>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TextBox 120">
            <a:extLst>
              <a:ext uri="{FF2B5EF4-FFF2-40B4-BE49-F238E27FC236}">
                <a16:creationId xmlns="" xmlns:a16="http://schemas.microsoft.com/office/drawing/2014/main" id="{020D7A1D-EFAD-4C8C-B9DE-D0FAD269B77A}"/>
              </a:ext>
            </a:extLst>
          </p:cNvPr>
          <p:cNvSpPr txBox="1"/>
          <p:nvPr/>
        </p:nvSpPr>
        <p:spPr bwMode="gray">
          <a:xfrm rot="20347040">
            <a:off x="3907663" y="2044783"/>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TextBox 120">
            <a:extLst>
              <a:ext uri="{FF2B5EF4-FFF2-40B4-BE49-F238E27FC236}">
                <a16:creationId xmlns="" xmlns:a16="http://schemas.microsoft.com/office/drawing/2014/main" id="{020D7A1D-EFAD-4C8C-B9DE-D0FAD269B77A}"/>
              </a:ext>
            </a:extLst>
          </p:cNvPr>
          <p:cNvSpPr txBox="1"/>
          <p:nvPr/>
        </p:nvSpPr>
        <p:spPr bwMode="gray">
          <a:xfrm rot="1207878">
            <a:off x="3907663" y="2586749"/>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TextBox 120">
            <a:extLst>
              <a:ext uri="{FF2B5EF4-FFF2-40B4-BE49-F238E27FC236}">
                <a16:creationId xmlns="" xmlns:a16="http://schemas.microsoft.com/office/drawing/2014/main" id="{020D7A1D-EFAD-4C8C-B9DE-D0FAD269B77A}"/>
              </a:ext>
            </a:extLst>
          </p:cNvPr>
          <p:cNvSpPr txBox="1"/>
          <p:nvPr/>
        </p:nvSpPr>
        <p:spPr bwMode="gray">
          <a:xfrm rot="20347040">
            <a:off x="5181560" y="1581650"/>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TextBox 120">
            <a:extLst>
              <a:ext uri="{FF2B5EF4-FFF2-40B4-BE49-F238E27FC236}">
                <a16:creationId xmlns="" xmlns:a16="http://schemas.microsoft.com/office/drawing/2014/main" id="{020D7A1D-EFAD-4C8C-B9DE-D0FAD269B77A}"/>
              </a:ext>
            </a:extLst>
          </p:cNvPr>
          <p:cNvSpPr txBox="1"/>
          <p:nvPr/>
        </p:nvSpPr>
        <p:spPr bwMode="gray">
          <a:xfrm rot="1207878">
            <a:off x="5179702" y="3075406"/>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.5</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TextBox 120">
            <a:extLst>
              <a:ext uri="{FF2B5EF4-FFF2-40B4-BE49-F238E27FC236}">
                <a16:creationId xmlns="" xmlns:a16="http://schemas.microsoft.com/office/drawing/2014/main" id="{020D7A1D-EFAD-4C8C-B9DE-D0FAD269B77A}"/>
              </a:ext>
            </a:extLst>
          </p:cNvPr>
          <p:cNvSpPr txBox="1"/>
          <p:nvPr/>
        </p:nvSpPr>
        <p:spPr bwMode="gray">
          <a:xfrm>
            <a:off x="3187267" y="1108948"/>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75" name="表格 74"/>
          <p:cNvGraphicFramePr>
            <a:graphicFrameLocks noGrp="1"/>
          </p:cNvGraphicFramePr>
          <p:nvPr>
            <p:extLst>
              <p:ext uri="{D42A27DB-BD31-4B8C-83A1-F6EECF244321}">
                <p14:modId xmlns:p14="http://schemas.microsoft.com/office/powerpoint/2010/main" val="2765730098"/>
              </p:ext>
            </p:extLst>
          </p:nvPr>
        </p:nvGraphicFramePr>
        <p:xfrm>
          <a:off x="594138" y="4895042"/>
          <a:ext cx="5400000" cy="1219200"/>
        </p:xfrm>
        <a:graphic>
          <a:graphicData uri="http://schemas.openxmlformats.org/drawingml/2006/table">
            <a:tbl>
              <a:tblPr firstRow="1" bandRow="1"/>
              <a:tblGrid>
                <a:gridCol w="540000"/>
                <a:gridCol w="1080000"/>
                <a:gridCol w="1080000"/>
                <a:gridCol w="540000"/>
                <a:gridCol w="1080000"/>
                <a:gridCol w="1080000"/>
              </a:tblGrid>
              <a:tr h="283456">
                <a:tc>
                  <a:txBody>
                    <a:bodyPr/>
                    <a:lstStyle/>
                    <a:p>
                      <a:pPr algn="ctr"/>
                      <a:r>
                        <a:rPr lang="zh-CN" altLang="en-US" sz="1400" b="1" dirty="0" smtClean="0"/>
                        <a:t>设备</a:t>
                      </a:r>
                      <a:endParaRPr lang="zh-CN" altLang="en-US" sz="1400" b="1" dirty="0">
                        <a:solidFill>
                          <a:schemeClr val="bg1"/>
                        </a:solidFill>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smtClean="0"/>
                        <a:t>接口</a:t>
                      </a:r>
                      <a:endParaRPr lang="zh-CN" altLang="en-US" sz="1400" b="1" dirty="0">
                        <a:solidFill>
                          <a:schemeClr val="bg1"/>
                        </a:solidFill>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smtClean="0"/>
                        <a:t>接口地址</a:t>
                      </a:r>
                      <a:endParaRPr lang="zh-CN" altLang="en-US" sz="1400" b="1" dirty="0">
                        <a:solidFill>
                          <a:schemeClr val="bg1"/>
                        </a:solidFill>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smtClean="0"/>
                        <a:t>设备</a:t>
                      </a:r>
                      <a:endParaRPr lang="zh-CN" altLang="en-US" sz="1400" b="1" dirty="0">
                        <a:solidFill>
                          <a:schemeClr val="bg1"/>
                        </a:solidFill>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smtClean="0"/>
                        <a:t>接口</a:t>
                      </a:r>
                      <a:endParaRPr lang="zh-CN" altLang="en-US" sz="1400" b="1" dirty="0">
                        <a:solidFill>
                          <a:schemeClr val="bg1"/>
                        </a:solidFill>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smtClean="0"/>
                        <a:t>接口地址</a:t>
                      </a:r>
                      <a:endParaRPr lang="zh-CN" altLang="en-US" sz="1400" b="1" dirty="0">
                        <a:solidFill>
                          <a:schemeClr val="bg1"/>
                        </a:solidFill>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283456">
                <a:tc>
                  <a:txBody>
                    <a:bodyPr/>
                    <a:lstStyle/>
                    <a:p>
                      <a:pPr algn="ctr"/>
                      <a:r>
                        <a:rPr lang="en-US" altLang="zh-CN" sz="1400" dirty="0" smtClean="0"/>
                        <a:t>R1</a:t>
                      </a:r>
                      <a:endParaRPr lang="zh-CN" altLang="en-US" sz="1400" dirty="0">
                        <a:solidFill>
                          <a:schemeClr val="tx1"/>
                        </a:solidFill>
                      </a:endParaRPr>
                    </a:p>
                  </a:txBody>
                  <a:tcPr anchor="ctr">
                    <a:lnL w="28575" cap="flat" cmpd="sng" algn="ctr">
                      <a:solidFill>
                        <a:schemeClr val="tx1"/>
                      </a:solidFill>
                      <a:prstDash val="solid"/>
                      <a:round/>
                      <a:headEnd type="none" w="med" len="med"/>
                      <a:tailEnd type="none" w="med" len="med"/>
                    </a:lnL>
                  </a:tcPr>
                </a:tc>
                <a:tc>
                  <a:txBody>
                    <a:bodyPr/>
                    <a:lstStyle/>
                    <a:p>
                      <a:pPr algn="ctr"/>
                      <a:r>
                        <a:rPr lang="en-US" altLang="zh-CN" sz="1400" dirty="0" smtClean="0"/>
                        <a:t>Loopback0</a:t>
                      </a:r>
                      <a:endParaRPr lang="en-US" altLang="zh-CN" sz="1400" dirty="0" smtClean="0">
                        <a:solidFill>
                          <a:schemeClr val="tx1"/>
                        </a:solidFill>
                      </a:endParaRPr>
                    </a:p>
                  </a:txBody>
                  <a:tcPr anchor="ctr"/>
                </a:tc>
                <a:tc>
                  <a:txBody>
                    <a:bodyPr/>
                    <a:lstStyle/>
                    <a:p>
                      <a:pPr algn="l"/>
                      <a:r>
                        <a:rPr lang="en-US" altLang="zh-CN" sz="1400" dirty="0" smtClean="0"/>
                        <a:t>10.1.1.1/32</a:t>
                      </a:r>
                      <a:endParaRPr lang="en-US" altLang="zh-CN" sz="1400" dirty="0" smtClean="0">
                        <a:solidFill>
                          <a:schemeClr val="tx1"/>
                        </a:solidFill>
                      </a:endParaRPr>
                    </a:p>
                  </a:txBody>
                  <a:tcPr anchor="ctr"/>
                </a:tc>
                <a:tc>
                  <a:txBody>
                    <a:bodyPr/>
                    <a:lstStyle/>
                    <a:p>
                      <a:pPr algn="ctr"/>
                      <a:r>
                        <a:rPr lang="en-US" altLang="zh-CN" sz="1400" dirty="0" smtClean="0"/>
                        <a:t>R4</a:t>
                      </a:r>
                      <a:endParaRPr lang="zh-CN" altLang="en-US" sz="1400" dirty="0">
                        <a:solidFill>
                          <a:schemeClr val="tx1"/>
                        </a:solidFill>
                      </a:endParaRPr>
                    </a:p>
                  </a:txBody>
                  <a:tcPr anchor="ctr"/>
                </a:tc>
                <a:tc>
                  <a:txBody>
                    <a:bodyPr/>
                    <a:lstStyle/>
                    <a:p>
                      <a:pPr algn="ctr"/>
                      <a:r>
                        <a:rPr lang="en-US" altLang="zh-CN" sz="1400" dirty="0" smtClean="0"/>
                        <a:t>Loopback0</a:t>
                      </a:r>
                      <a:endParaRPr lang="zh-CN" altLang="en-US" sz="1400" dirty="0">
                        <a:solidFill>
                          <a:schemeClr val="tx1"/>
                        </a:solidFill>
                      </a:endParaRPr>
                    </a:p>
                  </a:txBody>
                  <a:tcPr anchor="ct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US" altLang="zh-CN" sz="1400" dirty="0" smtClean="0"/>
                        <a:t>10.1.4.4/32</a:t>
                      </a:r>
                      <a:endParaRPr lang="en-US" altLang="zh-CN" sz="1400" dirty="0" smtClean="0">
                        <a:solidFill>
                          <a:schemeClr val="tx1"/>
                        </a:solidFill>
                      </a:endParaRPr>
                    </a:p>
                  </a:txBody>
                  <a:tcPr anchor="ctr">
                    <a:lnR w="28575" cap="flat" cmpd="sng" algn="ctr">
                      <a:solidFill>
                        <a:schemeClr val="tx1"/>
                      </a:solidFill>
                      <a:prstDash val="solid"/>
                      <a:round/>
                      <a:headEnd type="none" w="med" len="med"/>
                      <a:tailEnd type="none" w="med" len="med"/>
                    </a:lnR>
                  </a:tcPr>
                </a:tc>
              </a:tr>
              <a:tr h="283456">
                <a:tc>
                  <a:txBody>
                    <a:bodyPr/>
                    <a:lstStyle/>
                    <a:p>
                      <a:pPr algn="ctr"/>
                      <a:r>
                        <a:rPr lang="en-US" altLang="zh-CN" sz="1400" dirty="0" smtClean="0"/>
                        <a:t>R2</a:t>
                      </a:r>
                      <a:endParaRPr lang="zh-CN" altLang="en-US" sz="1400" dirty="0">
                        <a:solidFill>
                          <a:schemeClr val="tx1"/>
                        </a:solidFill>
                      </a:endParaRPr>
                    </a:p>
                  </a:txBody>
                  <a:tcPr anchor="ctr">
                    <a:lnL w="28575" cap="flat" cmpd="sng" algn="ctr">
                      <a:solidFill>
                        <a:schemeClr val="tx1"/>
                      </a:solidFill>
                      <a:prstDash val="solid"/>
                      <a:round/>
                      <a:headEnd type="none" w="med" len="med"/>
                      <a:tailEnd type="none" w="med" len="med"/>
                    </a:lnL>
                  </a:tcPr>
                </a:tc>
                <a:tc>
                  <a:txBody>
                    <a:bodyPr/>
                    <a:lstStyle/>
                    <a:p>
                      <a:pPr algn="ctr"/>
                      <a:r>
                        <a:rPr lang="en-US" altLang="zh-CN" sz="1400" dirty="0" smtClean="0"/>
                        <a:t>Loopback0</a:t>
                      </a:r>
                      <a:endParaRPr lang="en-US" altLang="zh-CN" sz="1400" dirty="0" smtClean="0">
                        <a:solidFill>
                          <a:schemeClr val="tx1"/>
                        </a:solidFill>
                      </a:endParaRPr>
                    </a:p>
                  </a:txBody>
                  <a:tcPr anchor="ct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US" altLang="zh-CN" sz="1400" dirty="0" smtClean="0"/>
                        <a:t>10.1.2.2/32</a:t>
                      </a:r>
                      <a:endParaRPr lang="en-US" altLang="zh-CN" sz="1400" dirty="0" smtClean="0">
                        <a:solidFill>
                          <a:schemeClr val="tx1"/>
                        </a:solidFill>
                      </a:endParaRPr>
                    </a:p>
                  </a:txBody>
                  <a:tcPr anchor="ctr"/>
                </a:tc>
                <a:tc>
                  <a:txBody>
                    <a:bodyPr/>
                    <a:lstStyle/>
                    <a:p>
                      <a:pPr algn="ctr"/>
                      <a:r>
                        <a:rPr lang="en-US" altLang="zh-CN" sz="1400" dirty="0" smtClean="0"/>
                        <a:t>R5</a:t>
                      </a:r>
                      <a:endParaRPr lang="zh-CN" altLang="en-US" sz="1400" dirty="0">
                        <a:solidFill>
                          <a:schemeClr val="tx1"/>
                        </a:solidFill>
                      </a:endParaRPr>
                    </a:p>
                  </a:txBody>
                  <a:tcPr anchor="ct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smtClean="0"/>
                        <a:t>Loopback0</a:t>
                      </a:r>
                      <a:endParaRPr lang="en-US" altLang="zh-CN" sz="1400" dirty="0" smtClean="0">
                        <a:solidFill>
                          <a:schemeClr val="tx1"/>
                        </a:solidFill>
                      </a:endParaRPr>
                    </a:p>
                  </a:txBody>
                  <a:tcPr anchor="ct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US" altLang="zh-CN" sz="1400" dirty="0" smtClean="0"/>
                        <a:t>10.1.5.5/32</a:t>
                      </a:r>
                      <a:endParaRPr lang="en-US" altLang="zh-CN" sz="1400" dirty="0" smtClean="0">
                        <a:solidFill>
                          <a:schemeClr val="tx1"/>
                        </a:solidFill>
                      </a:endParaRPr>
                    </a:p>
                  </a:txBody>
                  <a:tcPr anchor="ctr">
                    <a:lnR w="28575" cap="flat" cmpd="sng" algn="ctr">
                      <a:solidFill>
                        <a:schemeClr val="tx1"/>
                      </a:solidFill>
                      <a:prstDash val="solid"/>
                      <a:round/>
                      <a:headEnd type="none" w="med" len="med"/>
                      <a:tailEnd type="none" w="med" len="med"/>
                    </a:lnR>
                  </a:tcPr>
                </a:tc>
              </a:tr>
              <a:tr h="283456">
                <a:tc>
                  <a:txBody>
                    <a:bodyPr/>
                    <a:lstStyle/>
                    <a:p>
                      <a:pPr algn="ctr"/>
                      <a:r>
                        <a:rPr lang="en-US" altLang="zh-CN" sz="1400" dirty="0" smtClean="0"/>
                        <a:t>R3</a:t>
                      </a:r>
                      <a:endParaRPr lang="zh-CN" altLang="en-US" sz="1400" dirty="0">
                        <a:solidFill>
                          <a:schemeClr val="tx1"/>
                        </a:solidFill>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altLang="zh-CN" sz="1400" dirty="0" smtClean="0"/>
                        <a:t>Loopback0</a:t>
                      </a:r>
                      <a:endParaRPr lang="en-US" altLang="zh-CN" sz="1400" dirty="0" smtClean="0">
                        <a:solidFill>
                          <a:schemeClr val="tx1"/>
                        </a:solidFill>
                      </a:endParaRPr>
                    </a:p>
                  </a:txBody>
                  <a:tcPr anchor="ctr">
                    <a:lnB w="28575"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US" altLang="zh-CN" sz="1400" dirty="0" smtClean="0"/>
                        <a:t>10.1.3.3/32</a:t>
                      </a:r>
                      <a:endParaRPr lang="en-US" altLang="zh-CN" sz="1400" dirty="0" smtClean="0">
                        <a:solidFill>
                          <a:schemeClr val="tx1"/>
                        </a:solidFill>
                      </a:endParaRPr>
                    </a:p>
                  </a:txBody>
                  <a:tcPr anchor="ctr">
                    <a:lnB w="28575" cap="flat" cmpd="sng" algn="ctr">
                      <a:solidFill>
                        <a:schemeClr val="tx1"/>
                      </a:solidFill>
                      <a:prstDash val="solid"/>
                      <a:round/>
                      <a:headEnd type="none" w="med" len="med"/>
                      <a:tailEnd type="none" w="med" len="med"/>
                    </a:lnB>
                  </a:tcPr>
                </a:tc>
                <a:tc gridSpan="3">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smtClean="0"/>
                        <a:t>/</a:t>
                      </a:r>
                      <a:endParaRPr lang="en-US" altLang="zh-CN" sz="1400" dirty="0" smtClean="0">
                        <a:solidFill>
                          <a:schemeClr val="tx1"/>
                        </a:solidFill>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hMerge="1">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endParaRPr lang="en-US" altLang="zh-CN" sz="1400" dirty="0" smtClean="0">
                        <a:solidFill>
                          <a:schemeClr val="tx1"/>
                        </a:solidFill>
                      </a:endParaRPr>
                    </a:p>
                  </a:txBody>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hMerge="1">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endParaRPr lang="en-US" altLang="zh-CN" sz="1400" dirty="0" smtClean="0">
                        <a:solidFill>
                          <a:schemeClr val="tx1"/>
                        </a:solidFill>
                      </a:endParaRPr>
                    </a:p>
                  </a:txBody>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r>
            </a:tbl>
          </a:graphicData>
        </a:graphic>
      </p:graphicFrame>
      <p:sp>
        <p:nvSpPr>
          <p:cNvPr id="80" name="文本框 79"/>
          <p:cNvSpPr txBox="1"/>
          <p:nvPr/>
        </p:nvSpPr>
        <p:spPr>
          <a:xfrm>
            <a:off x="6657917" y="4836650"/>
            <a:ext cx="5087996" cy="738664"/>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a:cs typeface="Courier New" panose="02070309020205020404" pitchFamily="49" charset="0"/>
              </a:rPr>
              <a:t>[</a:t>
            </a:r>
            <a:r>
              <a:rPr lang="en-US" altLang="zh-CN" sz="1400" dirty="0" smtClean="0">
                <a:cs typeface="Courier New" panose="02070309020205020404" pitchFamily="49" charset="0"/>
              </a:rPr>
              <a:t>R3] </a:t>
            </a:r>
            <a:r>
              <a:rPr lang="en-US" altLang="zh-CN" sz="1400" dirty="0">
                <a:cs typeface="Courier New" panose="02070309020205020404" pitchFamily="49" charset="0"/>
              </a:rPr>
              <a:t>bgp </a:t>
            </a:r>
            <a:r>
              <a:rPr lang="en-US" altLang="zh-CN" sz="1400" dirty="0" smtClean="0">
                <a:cs typeface="Courier New" panose="02070309020205020404" pitchFamily="49" charset="0"/>
              </a:rPr>
              <a:t>102</a:t>
            </a:r>
            <a:endParaRPr lang="en-US" altLang="zh-CN" sz="1400" dirty="0">
              <a:cs typeface="Courier New" panose="02070309020205020404" pitchFamily="49" charset="0"/>
            </a:endParaRPr>
          </a:p>
          <a:p>
            <a:pPr fontAlgn="auto">
              <a:spcBef>
                <a:spcPts val="0"/>
              </a:spcBef>
              <a:spcAft>
                <a:spcPts val="0"/>
              </a:spcAft>
            </a:pPr>
            <a:r>
              <a:rPr lang="en-US" altLang="zh-CN" sz="1400" dirty="0">
                <a:cs typeface="Courier New" panose="02070309020205020404" pitchFamily="49" charset="0"/>
              </a:rPr>
              <a:t>[</a:t>
            </a:r>
            <a:r>
              <a:rPr lang="en-US" altLang="zh-CN" sz="1400" dirty="0" smtClean="0">
                <a:cs typeface="Courier New" panose="02070309020205020404" pitchFamily="49" charset="0"/>
              </a:rPr>
              <a:t>R3-bgp</a:t>
            </a:r>
            <a:r>
              <a:rPr lang="en-US" altLang="zh-CN" sz="1400" dirty="0">
                <a:cs typeface="Courier New" panose="02070309020205020404" pitchFamily="49" charset="0"/>
              </a:rPr>
              <a:t>] peer </a:t>
            </a:r>
            <a:r>
              <a:rPr lang="en-US" altLang="zh-CN" sz="1400" dirty="0" smtClean="0">
                <a:cs typeface="Courier New" panose="02070309020205020404" pitchFamily="49" charset="0"/>
              </a:rPr>
              <a:t>10.1.2.2 </a:t>
            </a:r>
            <a:r>
              <a:rPr lang="en-US" altLang="zh-CN" sz="1400" dirty="0">
                <a:cs typeface="Courier New" panose="02070309020205020404" pitchFamily="49" charset="0"/>
              </a:rPr>
              <a:t>as-number </a:t>
            </a:r>
            <a:r>
              <a:rPr lang="en-US" altLang="zh-CN" sz="1400" dirty="0" smtClean="0">
                <a:cs typeface="Courier New" panose="02070309020205020404" pitchFamily="49" charset="0"/>
              </a:rPr>
              <a:t>102</a:t>
            </a:r>
          </a:p>
          <a:p>
            <a:r>
              <a:rPr lang="en-US" altLang="zh-CN" sz="1400" dirty="0" smtClean="0">
                <a:cs typeface="Courier New" panose="02070309020205020404" pitchFamily="49" charset="0"/>
              </a:rPr>
              <a:t>[R3-bgp</a:t>
            </a:r>
            <a:r>
              <a:rPr lang="en-US" altLang="zh-CN" sz="1400" dirty="0">
                <a:cs typeface="Courier New" panose="02070309020205020404" pitchFamily="49" charset="0"/>
              </a:rPr>
              <a:t>] peer 1</a:t>
            </a:r>
            <a:r>
              <a:rPr lang="en-US" altLang="zh-CN" sz="1400" dirty="0" smtClean="0">
                <a:cs typeface="Courier New" panose="02070309020205020404" pitchFamily="49" charset="0"/>
              </a:rPr>
              <a:t>0.1.2.2 </a:t>
            </a:r>
            <a:r>
              <a:rPr lang="en-US" altLang="zh-CN" sz="1400" dirty="0">
                <a:cs typeface="Courier New" panose="02070309020205020404" pitchFamily="49" charset="0"/>
              </a:rPr>
              <a:t>connect-interface </a:t>
            </a:r>
            <a:r>
              <a:rPr lang="en-US" altLang="zh-CN" sz="1400" dirty="0" smtClean="0">
                <a:cs typeface="Courier New" panose="02070309020205020404" pitchFamily="49" charset="0"/>
              </a:rPr>
              <a:t>Loopback 0</a:t>
            </a:r>
            <a:endParaRPr lang="en-US" altLang="zh-CN" sz="1400" dirty="0">
              <a:cs typeface="Courier New" panose="02070309020205020404" pitchFamily="49" charset="0"/>
            </a:endParaRPr>
          </a:p>
        </p:txBody>
      </p:sp>
      <p:sp>
        <p:nvSpPr>
          <p:cNvPr id="81" name="文本框 80"/>
          <p:cNvSpPr txBox="1"/>
          <p:nvPr/>
        </p:nvSpPr>
        <p:spPr>
          <a:xfrm>
            <a:off x="6338670" y="4492537"/>
            <a:ext cx="5407243" cy="338554"/>
          </a:xfrm>
          <a:prstGeom prst="rect">
            <a:avLst/>
          </a:prstGeom>
          <a:noFill/>
        </p:spPr>
        <p:txBody>
          <a:bodyPr wrap="square" rtlCol="0">
            <a:spAutoFit/>
          </a:bodyPr>
          <a:lstStyle/>
          <a:p>
            <a:pPr fontAlgn="auto">
              <a:spcBef>
                <a:spcPts val="0"/>
              </a:spcBef>
              <a:spcAft>
                <a:spcPts val="0"/>
              </a:spcAft>
            </a:pPr>
            <a:r>
              <a:rPr lang="en-US" altLang="zh-CN" sz="1600" dirty="0" smtClean="0">
                <a:solidFill>
                  <a:prstClr val="black"/>
                </a:solidFill>
              </a:rPr>
              <a:t>3</a:t>
            </a:r>
            <a:r>
              <a:rPr lang="zh-CN" altLang="en-US" sz="1600" dirty="0" smtClean="0">
                <a:solidFill>
                  <a:prstClr val="black"/>
                </a:solidFill>
              </a:rPr>
              <a:t>、完成</a:t>
            </a:r>
            <a:r>
              <a:rPr lang="en-US" altLang="zh-CN" sz="1600" dirty="0" smtClean="0">
                <a:solidFill>
                  <a:prstClr val="black"/>
                </a:solidFill>
              </a:rPr>
              <a:t>R3</a:t>
            </a:r>
            <a:r>
              <a:rPr lang="zh-CN" altLang="en-US" sz="1600" dirty="0" smtClean="0">
                <a:solidFill>
                  <a:prstClr val="black"/>
                </a:solidFill>
              </a:rPr>
              <a:t>的</a:t>
            </a:r>
            <a:r>
              <a:rPr lang="en-US" altLang="zh-CN" sz="1600" dirty="0" smtClean="0">
                <a:solidFill>
                  <a:prstClr val="black"/>
                </a:solidFill>
              </a:rPr>
              <a:t>IBGP</a:t>
            </a:r>
            <a:r>
              <a:rPr lang="zh-CN" altLang="en-US" sz="1600" dirty="0" smtClean="0">
                <a:solidFill>
                  <a:prstClr val="black"/>
                </a:solidFill>
              </a:rPr>
              <a:t>基本配置。</a:t>
            </a:r>
            <a:endParaRPr lang="zh-CN" altLang="en-US" sz="1600" dirty="0">
              <a:solidFill>
                <a:prstClr val="black"/>
              </a:solidFill>
            </a:endParaRPr>
          </a:p>
        </p:txBody>
      </p:sp>
      <p:sp>
        <p:nvSpPr>
          <p:cNvPr id="84" name="文本占位符 2"/>
          <p:cNvSpPr txBox="1">
            <a:spLocks/>
          </p:cNvSpPr>
          <p:nvPr/>
        </p:nvSpPr>
        <p:spPr bwMode="auto">
          <a:xfrm>
            <a:off x="8759687" y="5814869"/>
            <a:ext cx="2986226" cy="356569"/>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en-US" altLang="zh-CN" sz="1400" dirty="0" smtClean="0"/>
              <a:t>R4</a:t>
            </a:r>
            <a:r>
              <a:rPr lang="zh-CN" altLang="en-US" sz="1400" dirty="0" smtClean="0"/>
              <a:t>与</a:t>
            </a:r>
            <a:r>
              <a:rPr lang="en-US" altLang="zh-CN" sz="1400" dirty="0" smtClean="0"/>
              <a:t>R5</a:t>
            </a:r>
            <a:r>
              <a:rPr lang="zh-CN" altLang="en-US" sz="1400" dirty="0" smtClean="0"/>
              <a:t>的配置与</a:t>
            </a:r>
            <a:r>
              <a:rPr lang="en-US" altLang="zh-CN" sz="1400" dirty="0" smtClean="0"/>
              <a:t>R3</a:t>
            </a:r>
            <a:r>
              <a:rPr lang="zh-CN" altLang="en-US" sz="1400" dirty="0" smtClean="0"/>
              <a:t>相似，不再赘述。</a:t>
            </a:r>
            <a:endParaRPr lang="zh-CN" altLang="en-US" sz="1400" dirty="0"/>
          </a:p>
        </p:txBody>
      </p:sp>
      <p:sp>
        <p:nvSpPr>
          <p:cNvPr id="68" name="五边形 67"/>
          <p:cNvSpPr/>
          <p:nvPr/>
        </p:nvSpPr>
        <p:spPr bwMode="gray">
          <a:xfrm>
            <a:off x="8421350" y="99742"/>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ORF</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燕尾形 68"/>
          <p:cNvSpPr/>
          <p:nvPr/>
        </p:nvSpPr>
        <p:spPr bwMode="gray">
          <a:xfrm>
            <a:off x="9061791" y="99742"/>
            <a:ext cx="936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对等体组</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燕尾形 72"/>
          <p:cNvSpPr/>
          <p:nvPr/>
        </p:nvSpPr>
        <p:spPr bwMode="gray">
          <a:xfrm>
            <a:off x="9918233" y="99742"/>
            <a:ext cx="93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安全特性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燕尾形 81"/>
          <p:cNvSpPr/>
          <p:nvPr/>
        </p:nvSpPr>
        <p:spPr bwMode="gray">
          <a:xfrm>
            <a:off x="10774674" y="99742"/>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字节</a:t>
            </a: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AS</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号</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61674273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任意多边形 25"/>
          <p:cNvSpPr/>
          <p:nvPr/>
        </p:nvSpPr>
        <p:spPr bwMode="gray">
          <a:xfrm>
            <a:off x="1179842" y="1258084"/>
            <a:ext cx="2908833" cy="2482850"/>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sp>
        <p:nvSpPr>
          <p:cNvPr id="2" name="标题 1"/>
          <p:cNvSpPr>
            <a:spLocks noGrp="1"/>
          </p:cNvSpPr>
          <p:nvPr>
            <p:ph type="title"/>
          </p:nvPr>
        </p:nvSpPr>
        <p:spPr/>
        <p:txBody>
          <a:bodyPr/>
          <a:lstStyle/>
          <a:p>
            <a:r>
              <a:rPr lang="zh-CN" altLang="en-US" smtClean="0"/>
              <a:t>查看</a:t>
            </a:r>
            <a:r>
              <a:rPr lang="en-US" altLang="zh-CN" smtClean="0"/>
              <a:t>BGP</a:t>
            </a:r>
            <a:r>
              <a:rPr lang="zh-CN" altLang="en-US" smtClean="0"/>
              <a:t>对等体组配置</a:t>
            </a:r>
            <a:endParaRPr lang="zh-CN" altLang="en-US" dirty="0"/>
          </a:p>
        </p:txBody>
      </p:sp>
      <p:sp>
        <p:nvSpPr>
          <p:cNvPr id="24" name="文本框 23"/>
          <p:cNvSpPr txBox="1"/>
          <p:nvPr/>
        </p:nvSpPr>
        <p:spPr>
          <a:xfrm>
            <a:off x="5363024" y="1594400"/>
            <a:ext cx="6382889" cy="4401205"/>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a:solidFill>
                  <a:prstClr val="black"/>
                </a:solidFill>
                <a:cs typeface="Courier New" panose="02070309020205020404" pitchFamily="49" charset="0"/>
              </a:rPr>
              <a:t>[R2]display bgp group </a:t>
            </a:r>
            <a:r>
              <a:rPr lang="en-US" altLang="zh-CN" sz="1400" dirty="0">
                <a:cs typeface="Courier New" panose="02070309020205020404" pitchFamily="49" charset="0"/>
              </a:rPr>
              <a:t>in</a:t>
            </a:r>
          </a:p>
          <a:p>
            <a:pPr fontAlgn="auto">
              <a:spcBef>
                <a:spcPts val="0"/>
              </a:spcBef>
              <a:spcAft>
                <a:spcPts val="0"/>
              </a:spcAft>
            </a:pPr>
            <a:r>
              <a:rPr lang="en-US" altLang="zh-CN" sz="1400" dirty="0" smtClean="0">
                <a:solidFill>
                  <a:prstClr val="black"/>
                </a:solidFill>
                <a:cs typeface="Courier New" panose="02070309020205020404" pitchFamily="49" charset="0"/>
              </a:rPr>
              <a:t> </a:t>
            </a:r>
            <a:r>
              <a:rPr lang="en-US" altLang="zh-CN" sz="1400" dirty="0">
                <a:solidFill>
                  <a:prstClr val="black"/>
                </a:solidFill>
                <a:cs typeface="Courier New" panose="02070309020205020404" pitchFamily="49" charset="0"/>
              </a:rPr>
              <a:t>BGP peer-group: </a:t>
            </a:r>
            <a:r>
              <a:rPr lang="en-US" altLang="zh-CN" sz="1400" dirty="0">
                <a:solidFill>
                  <a:srgbClr val="C7000B"/>
                </a:solidFill>
                <a:cs typeface="Courier New" panose="02070309020205020404" pitchFamily="49" charset="0"/>
              </a:rPr>
              <a:t>in</a:t>
            </a:r>
          </a:p>
          <a:p>
            <a:pPr fontAlgn="auto">
              <a:spcBef>
                <a:spcPts val="0"/>
              </a:spcBef>
              <a:spcAft>
                <a:spcPts val="0"/>
              </a:spcAft>
            </a:pPr>
            <a:r>
              <a:rPr lang="en-US" altLang="zh-CN" sz="1400" dirty="0">
                <a:solidFill>
                  <a:prstClr val="black"/>
                </a:solidFill>
                <a:cs typeface="Courier New" panose="02070309020205020404" pitchFamily="49" charset="0"/>
              </a:rPr>
              <a:t> Remote AS: 102</a:t>
            </a:r>
          </a:p>
          <a:p>
            <a:pPr fontAlgn="auto">
              <a:spcBef>
                <a:spcPts val="0"/>
              </a:spcBef>
              <a:spcAft>
                <a:spcPts val="0"/>
              </a:spcAft>
            </a:pPr>
            <a:r>
              <a:rPr lang="en-US" altLang="zh-CN" sz="1400" dirty="0">
                <a:solidFill>
                  <a:prstClr val="black"/>
                </a:solidFill>
                <a:cs typeface="Courier New" panose="02070309020205020404" pitchFamily="49" charset="0"/>
              </a:rPr>
              <a:t> Authentication type configured: None</a:t>
            </a:r>
          </a:p>
          <a:p>
            <a:pPr fontAlgn="auto">
              <a:spcBef>
                <a:spcPts val="0"/>
              </a:spcBef>
              <a:spcAft>
                <a:spcPts val="0"/>
              </a:spcAft>
            </a:pPr>
            <a:r>
              <a:rPr lang="en-US" altLang="zh-CN" sz="1400" dirty="0">
                <a:solidFill>
                  <a:prstClr val="black"/>
                </a:solidFill>
                <a:cs typeface="Courier New" panose="02070309020205020404" pitchFamily="49" charset="0"/>
              </a:rPr>
              <a:t> Type : </a:t>
            </a:r>
            <a:r>
              <a:rPr lang="en-US" altLang="zh-CN" sz="1400" dirty="0">
                <a:solidFill>
                  <a:srgbClr val="C7000B"/>
                </a:solidFill>
                <a:cs typeface="Courier New" panose="02070309020205020404" pitchFamily="49" charset="0"/>
              </a:rPr>
              <a:t>internal</a:t>
            </a:r>
          </a:p>
          <a:p>
            <a:pPr fontAlgn="auto">
              <a:spcBef>
                <a:spcPts val="0"/>
              </a:spcBef>
              <a:spcAft>
                <a:spcPts val="0"/>
              </a:spcAft>
            </a:pPr>
            <a:r>
              <a:rPr lang="en-US" altLang="zh-CN" sz="1400" dirty="0">
                <a:solidFill>
                  <a:prstClr val="black"/>
                </a:solidFill>
                <a:cs typeface="Courier New" panose="02070309020205020404" pitchFamily="49" charset="0"/>
              </a:rPr>
              <a:t> Configured hold timer value: 180</a:t>
            </a:r>
          </a:p>
          <a:p>
            <a:pPr fontAlgn="auto">
              <a:spcBef>
                <a:spcPts val="0"/>
              </a:spcBef>
              <a:spcAft>
                <a:spcPts val="0"/>
              </a:spcAft>
            </a:pPr>
            <a:r>
              <a:rPr lang="en-US" altLang="zh-CN" sz="1400" dirty="0">
                <a:solidFill>
                  <a:prstClr val="black"/>
                </a:solidFill>
                <a:cs typeface="Courier New" panose="02070309020205020404" pitchFamily="49" charset="0"/>
              </a:rPr>
              <a:t> </a:t>
            </a:r>
            <a:r>
              <a:rPr lang="en-US" altLang="zh-CN" sz="1400" dirty="0" err="1">
                <a:solidFill>
                  <a:prstClr val="black"/>
                </a:solidFill>
                <a:cs typeface="Courier New" panose="02070309020205020404" pitchFamily="49" charset="0"/>
              </a:rPr>
              <a:t>Keepalive</a:t>
            </a:r>
            <a:r>
              <a:rPr lang="en-US" altLang="zh-CN" sz="1400" dirty="0">
                <a:solidFill>
                  <a:prstClr val="black"/>
                </a:solidFill>
                <a:cs typeface="Courier New" panose="02070309020205020404" pitchFamily="49" charset="0"/>
              </a:rPr>
              <a:t> timer value: 60</a:t>
            </a:r>
          </a:p>
          <a:p>
            <a:pPr fontAlgn="auto">
              <a:spcBef>
                <a:spcPts val="0"/>
              </a:spcBef>
              <a:spcAft>
                <a:spcPts val="0"/>
              </a:spcAft>
            </a:pPr>
            <a:r>
              <a:rPr lang="en-US" altLang="zh-CN" sz="1400" dirty="0">
                <a:solidFill>
                  <a:prstClr val="black"/>
                </a:solidFill>
                <a:cs typeface="Courier New" panose="02070309020205020404" pitchFamily="49" charset="0"/>
              </a:rPr>
              <a:t> Connect-retry timer value: 32</a:t>
            </a:r>
          </a:p>
          <a:p>
            <a:pPr fontAlgn="auto">
              <a:spcBef>
                <a:spcPts val="0"/>
              </a:spcBef>
              <a:spcAft>
                <a:spcPts val="0"/>
              </a:spcAft>
            </a:pPr>
            <a:r>
              <a:rPr lang="en-US" altLang="zh-CN" sz="1400" dirty="0">
                <a:solidFill>
                  <a:prstClr val="black"/>
                </a:solidFill>
                <a:cs typeface="Courier New" panose="02070309020205020404" pitchFamily="49" charset="0"/>
              </a:rPr>
              <a:t> Minimum route advertisement interval is 15 seconds</a:t>
            </a:r>
          </a:p>
          <a:p>
            <a:pPr fontAlgn="auto">
              <a:spcBef>
                <a:spcPts val="0"/>
              </a:spcBef>
              <a:spcAft>
                <a:spcPts val="0"/>
              </a:spcAft>
            </a:pPr>
            <a:r>
              <a:rPr lang="en-US" altLang="zh-CN" sz="1400" dirty="0">
                <a:solidFill>
                  <a:prstClr val="black"/>
                </a:solidFill>
                <a:cs typeface="Courier New" panose="02070309020205020404" pitchFamily="49" charset="0"/>
              </a:rPr>
              <a:t> Connect-interface has been configured</a:t>
            </a:r>
          </a:p>
          <a:p>
            <a:pPr fontAlgn="auto">
              <a:spcBef>
                <a:spcPts val="0"/>
              </a:spcBef>
              <a:spcAft>
                <a:spcPts val="0"/>
              </a:spcAft>
            </a:pPr>
            <a:r>
              <a:rPr lang="en-US" altLang="zh-CN" sz="1400" dirty="0">
                <a:solidFill>
                  <a:prstClr val="black"/>
                </a:solidFill>
                <a:cs typeface="Courier New" panose="02070309020205020404" pitchFamily="49" charset="0"/>
              </a:rPr>
              <a:t> </a:t>
            </a:r>
            <a:r>
              <a:rPr lang="en-US" altLang="zh-CN" sz="1400" dirty="0" err="1">
                <a:solidFill>
                  <a:prstClr val="black"/>
                </a:solidFill>
                <a:cs typeface="Courier New" panose="02070309020205020404" pitchFamily="49" charset="0"/>
              </a:rPr>
              <a:t>PeerSession</a:t>
            </a:r>
            <a:r>
              <a:rPr lang="en-US" altLang="zh-CN" sz="1400" dirty="0">
                <a:solidFill>
                  <a:prstClr val="black"/>
                </a:solidFill>
                <a:cs typeface="Courier New" panose="02070309020205020404" pitchFamily="49" charset="0"/>
              </a:rPr>
              <a:t> Members:</a:t>
            </a:r>
          </a:p>
          <a:p>
            <a:pPr fontAlgn="auto">
              <a:spcBef>
                <a:spcPts val="0"/>
              </a:spcBef>
              <a:spcAft>
                <a:spcPts val="0"/>
              </a:spcAft>
            </a:pPr>
            <a:r>
              <a:rPr lang="en-US" altLang="zh-CN" sz="1400" dirty="0">
                <a:solidFill>
                  <a:prstClr val="black"/>
                </a:solidFill>
                <a:cs typeface="Courier New" panose="02070309020205020404" pitchFamily="49" charset="0"/>
              </a:rPr>
              <a:t>   </a:t>
            </a:r>
            <a:r>
              <a:rPr lang="en-US" altLang="zh-CN" sz="1400" dirty="0">
                <a:solidFill>
                  <a:srgbClr val="C7000B"/>
                </a:solidFill>
                <a:cs typeface="Courier New" panose="02070309020205020404" pitchFamily="49" charset="0"/>
              </a:rPr>
              <a:t>10.1.3.3           10.1.4.4           10.1.5.5        </a:t>
            </a:r>
          </a:p>
          <a:p>
            <a:pPr fontAlgn="auto">
              <a:spcBef>
                <a:spcPts val="0"/>
              </a:spcBef>
              <a:spcAft>
                <a:spcPts val="0"/>
              </a:spcAft>
            </a:pP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 Peer Preferred Value: 0</a:t>
            </a:r>
          </a:p>
          <a:p>
            <a:pPr fontAlgn="auto">
              <a:spcBef>
                <a:spcPts val="0"/>
              </a:spcBef>
              <a:spcAft>
                <a:spcPts val="0"/>
              </a:spcAft>
            </a:pPr>
            <a:r>
              <a:rPr lang="en-US" altLang="zh-CN" sz="1400" dirty="0">
                <a:solidFill>
                  <a:prstClr val="black"/>
                </a:solidFill>
                <a:cs typeface="Courier New" panose="02070309020205020404" pitchFamily="49" charset="0"/>
              </a:rPr>
              <a:t> No routing policy is configured</a:t>
            </a:r>
          </a:p>
          <a:p>
            <a:pPr fontAlgn="auto">
              <a:spcBef>
                <a:spcPts val="0"/>
              </a:spcBef>
              <a:spcAft>
                <a:spcPts val="0"/>
              </a:spcAft>
            </a:pPr>
            <a:r>
              <a:rPr lang="en-US" altLang="zh-CN" sz="1400" dirty="0">
                <a:solidFill>
                  <a:prstClr val="black"/>
                </a:solidFill>
                <a:cs typeface="Courier New" panose="02070309020205020404" pitchFamily="49" charset="0"/>
              </a:rPr>
              <a:t> Peer Members:</a:t>
            </a:r>
          </a:p>
          <a:p>
            <a:pPr fontAlgn="auto">
              <a:spcBef>
                <a:spcPts val="0"/>
              </a:spcBef>
              <a:spcAft>
                <a:spcPts val="0"/>
              </a:spcAft>
            </a:pPr>
            <a:r>
              <a:rPr lang="en-US" altLang="zh-CN" sz="1400" dirty="0">
                <a:solidFill>
                  <a:prstClr val="black"/>
                </a:solidFill>
                <a:cs typeface="Courier New" panose="02070309020205020404" pitchFamily="49" charset="0"/>
              </a:rPr>
              <a:t>  Peer       </a:t>
            </a:r>
            <a:r>
              <a:rPr lang="en-US" altLang="zh-CN" sz="1400" dirty="0" smtClean="0">
                <a:solidFill>
                  <a:prstClr val="black"/>
                </a:solidFill>
                <a:cs typeface="Courier New" panose="02070309020205020404" pitchFamily="49" charset="0"/>
              </a:rPr>
              <a:t>V    AS  </a:t>
            </a:r>
            <a:r>
              <a:rPr lang="en-US" altLang="zh-CN" sz="1400" dirty="0" err="1">
                <a:solidFill>
                  <a:prstClr val="black"/>
                </a:solidFill>
                <a:cs typeface="Courier New" panose="02070309020205020404" pitchFamily="49" charset="0"/>
              </a:rPr>
              <a:t>MsgRcvd</a:t>
            </a:r>
            <a:r>
              <a:rPr lang="en-US" altLang="zh-CN" sz="1400" dirty="0">
                <a:solidFill>
                  <a:prstClr val="black"/>
                </a:solidFill>
                <a:cs typeface="Courier New" panose="02070309020205020404" pitchFamily="49" charset="0"/>
              </a:rPr>
              <a:t> </a:t>
            </a:r>
            <a:r>
              <a:rPr lang="en-US" altLang="zh-CN" sz="1400" dirty="0" smtClean="0">
                <a:solidFill>
                  <a:prstClr val="black"/>
                </a:solidFill>
                <a:cs typeface="Courier New" panose="02070309020205020404" pitchFamily="49" charset="0"/>
              </a:rPr>
              <a:t> </a:t>
            </a:r>
            <a:r>
              <a:rPr lang="en-US" altLang="zh-CN" sz="1400" dirty="0" err="1" smtClean="0">
                <a:solidFill>
                  <a:prstClr val="black"/>
                </a:solidFill>
                <a:cs typeface="Courier New" panose="02070309020205020404" pitchFamily="49" charset="0"/>
              </a:rPr>
              <a:t>MsgSent</a:t>
            </a:r>
            <a:r>
              <a:rPr lang="en-US" altLang="zh-CN" sz="1400" dirty="0" smtClean="0">
                <a:solidFill>
                  <a:prstClr val="black"/>
                </a:solidFill>
                <a:cs typeface="Courier New" panose="02070309020205020404" pitchFamily="49" charset="0"/>
              </a:rPr>
              <a:t>  </a:t>
            </a:r>
            <a:r>
              <a:rPr lang="en-US" altLang="zh-CN" sz="1400" dirty="0" err="1">
                <a:solidFill>
                  <a:prstClr val="black"/>
                </a:solidFill>
                <a:cs typeface="Courier New" panose="02070309020205020404" pitchFamily="49" charset="0"/>
              </a:rPr>
              <a:t>OutQ</a:t>
            </a:r>
            <a:r>
              <a:rPr lang="en-US" altLang="zh-CN" sz="1400" dirty="0">
                <a:solidFill>
                  <a:prstClr val="black"/>
                </a:solidFill>
                <a:cs typeface="Courier New" panose="02070309020205020404" pitchFamily="49" charset="0"/>
              </a:rPr>
              <a:t>  Up/Down  </a:t>
            </a:r>
            <a:r>
              <a:rPr lang="en-US" altLang="zh-CN" sz="1400" dirty="0" smtClean="0">
                <a:solidFill>
                  <a:prstClr val="black"/>
                </a:solidFill>
                <a:cs typeface="Courier New" panose="02070309020205020404" pitchFamily="49" charset="0"/>
              </a:rPr>
              <a:t>State         </a:t>
            </a:r>
            <a:r>
              <a:rPr lang="en-US" altLang="zh-CN" sz="1400" dirty="0" err="1" smtClean="0">
                <a:solidFill>
                  <a:prstClr val="black"/>
                </a:solidFill>
                <a:cs typeface="Courier New" panose="02070309020205020404" pitchFamily="49" charset="0"/>
              </a:rPr>
              <a:t>PrefRcv</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smtClean="0">
                <a:solidFill>
                  <a:prstClr val="black"/>
                </a:solidFill>
                <a:cs typeface="Courier New" panose="02070309020205020404" pitchFamily="49" charset="0"/>
              </a:rPr>
              <a:t>  </a:t>
            </a:r>
            <a:r>
              <a:rPr lang="en-US" altLang="zh-CN" sz="1400" dirty="0">
                <a:solidFill>
                  <a:prstClr val="black"/>
                </a:solidFill>
                <a:cs typeface="Courier New" panose="02070309020205020404" pitchFamily="49" charset="0"/>
              </a:rPr>
              <a:t>10.1.3.3  </a:t>
            </a:r>
            <a:r>
              <a:rPr lang="en-US" altLang="zh-CN" sz="1400" dirty="0" smtClean="0">
                <a:solidFill>
                  <a:prstClr val="black"/>
                </a:solidFill>
                <a:cs typeface="Courier New" panose="02070309020205020404" pitchFamily="49" charset="0"/>
              </a:rPr>
              <a:t> 4  102        </a:t>
            </a:r>
            <a:r>
              <a:rPr lang="en-US" altLang="zh-CN" sz="1400" dirty="0">
                <a:solidFill>
                  <a:prstClr val="black"/>
                </a:solidFill>
                <a:cs typeface="Courier New" panose="02070309020205020404" pitchFamily="49" charset="0"/>
              </a:rPr>
              <a:t>5        7     </a:t>
            </a:r>
            <a:r>
              <a:rPr lang="en-US" altLang="zh-CN" sz="1400" dirty="0" smtClean="0">
                <a:solidFill>
                  <a:prstClr val="black"/>
                </a:solidFill>
                <a:cs typeface="Courier New" panose="02070309020205020404" pitchFamily="49" charset="0"/>
              </a:rPr>
              <a:t>        0       </a:t>
            </a:r>
            <a:r>
              <a:rPr lang="en-US" altLang="zh-CN" sz="1400" dirty="0">
                <a:solidFill>
                  <a:prstClr val="black"/>
                </a:solidFill>
                <a:cs typeface="Courier New" panose="02070309020205020404" pitchFamily="49" charset="0"/>
              </a:rPr>
              <a:t>00:03:33 </a:t>
            </a:r>
            <a:r>
              <a:rPr lang="en-US" altLang="zh-CN" sz="1400" dirty="0" smtClean="0">
                <a:solidFill>
                  <a:prstClr val="black"/>
                </a:solidFill>
                <a:cs typeface="Courier New" panose="02070309020205020404" pitchFamily="49" charset="0"/>
              </a:rPr>
              <a:t>   Established    0</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  10.1.4.4   </a:t>
            </a:r>
            <a:r>
              <a:rPr lang="en-US" altLang="zh-CN" sz="1400" dirty="0" smtClean="0">
                <a:solidFill>
                  <a:prstClr val="black"/>
                </a:solidFill>
                <a:cs typeface="Courier New" panose="02070309020205020404" pitchFamily="49" charset="0"/>
              </a:rPr>
              <a:t>4  102        </a:t>
            </a:r>
            <a:r>
              <a:rPr lang="en-US" altLang="zh-CN" sz="1400" dirty="0">
                <a:solidFill>
                  <a:prstClr val="black"/>
                </a:solidFill>
                <a:cs typeface="Courier New" panose="02070309020205020404" pitchFamily="49" charset="0"/>
              </a:rPr>
              <a:t>5        6     </a:t>
            </a:r>
            <a:r>
              <a:rPr lang="en-US" altLang="zh-CN" sz="1400" dirty="0" smtClean="0">
                <a:solidFill>
                  <a:prstClr val="black"/>
                </a:solidFill>
                <a:cs typeface="Courier New" panose="02070309020205020404" pitchFamily="49" charset="0"/>
              </a:rPr>
              <a:t>        0       00:03:11    Established    0</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  10.1.5.5   </a:t>
            </a:r>
            <a:r>
              <a:rPr lang="en-US" altLang="zh-CN" sz="1400" dirty="0" smtClean="0">
                <a:solidFill>
                  <a:prstClr val="black"/>
                </a:solidFill>
                <a:cs typeface="Courier New" panose="02070309020205020404" pitchFamily="49" charset="0"/>
              </a:rPr>
              <a:t>4  102        </a:t>
            </a:r>
            <a:r>
              <a:rPr lang="en-US" altLang="zh-CN" sz="1400" dirty="0">
                <a:solidFill>
                  <a:prstClr val="black"/>
                </a:solidFill>
                <a:cs typeface="Courier New" panose="02070309020205020404" pitchFamily="49" charset="0"/>
              </a:rPr>
              <a:t>4        6  </a:t>
            </a:r>
            <a:r>
              <a:rPr lang="en-US" altLang="zh-CN" sz="1400" dirty="0" smtClean="0">
                <a:solidFill>
                  <a:prstClr val="black"/>
                </a:solidFill>
                <a:cs typeface="Courier New" panose="02070309020205020404" pitchFamily="49" charset="0"/>
              </a:rPr>
              <a:t>           0       00:02:52    Established    0</a:t>
            </a:r>
            <a:endParaRPr lang="en-US" altLang="zh-CN" sz="1400" dirty="0">
              <a:solidFill>
                <a:prstClr val="black"/>
              </a:solidFill>
              <a:cs typeface="Courier New" panose="02070309020205020404" pitchFamily="49" charset="0"/>
            </a:endParaRPr>
          </a:p>
        </p:txBody>
      </p:sp>
      <p:sp>
        <p:nvSpPr>
          <p:cNvPr id="58" name="文本框 57"/>
          <p:cNvSpPr txBox="1"/>
          <p:nvPr/>
        </p:nvSpPr>
        <p:spPr>
          <a:xfrm>
            <a:off x="5304322" y="1143930"/>
            <a:ext cx="5407243" cy="338554"/>
          </a:xfrm>
          <a:prstGeom prst="rect">
            <a:avLst/>
          </a:prstGeom>
          <a:noFill/>
        </p:spPr>
        <p:txBody>
          <a:bodyPr wrap="square" rtlCol="0">
            <a:spAutoFit/>
          </a:bodyPr>
          <a:lstStyle/>
          <a:p>
            <a:pPr fontAlgn="auto">
              <a:spcBef>
                <a:spcPts val="0"/>
              </a:spcBef>
              <a:spcAft>
                <a:spcPts val="0"/>
              </a:spcAft>
            </a:pPr>
            <a:r>
              <a:rPr lang="en-US" altLang="zh-CN" sz="1600" dirty="0" smtClean="0">
                <a:solidFill>
                  <a:prstClr val="black"/>
                </a:solidFill>
              </a:rPr>
              <a:t>1</a:t>
            </a:r>
            <a:r>
              <a:rPr lang="zh-CN" altLang="en-US" sz="1600" dirty="0" smtClean="0">
                <a:solidFill>
                  <a:prstClr val="black"/>
                </a:solidFill>
              </a:rPr>
              <a:t>、查看</a:t>
            </a:r>
            <a:r>
              <a:rPr lang="en-US" altLang="zh-CN" sz="1600" dirty="0" smtClean="0">
                <a:solidFill>
                  <a:prstClr val="black"/>
                </a:solidFill>
              </a:rPr>
              <a:t>R2</a:t>
            </a:r>
            <a:r>
              <a:rPr lang="zh-CN" altLang="en-US" sz="1600" dirty="0" smtClean="0">
                <a:solidFill>
                  <a:prstClr val="black"/>
                </a:solidFill>
              </a:rPr>
              <a:t>的</a:t>
            </a:r>
            <a:r>
              <a:rPr lang="en-US" altLang="zh-CN" sz="1600" dirty="0" smtClean="0">
                <a:solidFill>
                  <a:prstClr val="black"/>
                </a:solidFill>
              </a:rPr>
              <a:t>BGP</a:t>
            </a:r>
            <a:r>
              <a:rPr lang="zh-CN" altLang="en-US" sz="1600" dirty="0" smtClean="0">
                <a:solidFill>
                  <a:prstClr val="black"/>
                </a:solidFill>
              </a:rPr>
              <a:t>对等体组信息。</a:t>
            </a:r>
            <a:endParaRPr lang="zh-CN" altLang="en-US" sz="1600" dirty="0">
              <a:solidFill>
                <a:prstClr val="black"/>
              </a:solidFill>
            </a:endParaRPr>
          </a:p>
        </p:txBody>
      </p:sp>
      <p:pic>
        <p:nvPicPr>
          <p:cNvPr id="67" name="图片 6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452620" y="2328364"/>
            <a:ext cx="540000" cy="442800"/>
          </a:xfrm>
          <a:prstGeom prst="rect">
            <a:avLst/>
          </a:prstGeom>
        </p:spPr>
      </p:pic>
      <p:cxnSp>
        <p:nvCxnSpPr>
          <p:cNvPr id="74" name="直接连接符 73"/>
          <p:cNvCxnSpPr>
            <a:stCxn id="71" idx="3"/>
            <a:endCxn id="67" idx="1"/>
          </p:cNvCxnSpPr>
          <p:nvPr/>
        </p:nvCxnSpPr>
        <p:spPr bwMode="gray">
          <a:xfrm>
            <a:off x="1957493" y="2549764"/>
            <a:ext cx="149512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TextBox 120">
            <a:extLst>
              <a:ext uri="{FF2B5EF4-FFF2-40B4-BE49-F238E27FC236}">
                <a16:creationId xmlns="" xmlns:a16="http://schemas.microsoft.com/office/drawing/2014/main" id="{020D7A1D-EFAD-4C8C-B9DE-D0FAD269B77A}"/>
              </a:ext>
            </a:extLst>
          </p:cNvPr>
          <p:cNvSpPr txBox="1"/>
          <p:nvPr/>
        </p:nvSpPr>
        <p:spPr bwMode="gray">
          <a:xfrm>
            <a:off x="1286814" y="2078860"/>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TextBox 120">
            <a:extLst>
              <a:ext uri="{FF2B5EF4-FFF2-40B4-BE49-F238E27FC236}">
                <a16:creationId xmlns="" xmlns:a16="http://schemas.microsoft.com/office/drawing/2014/main" id="{020D7A1D-EFAD-4C8C-B9DE-D0FAD269B77A}"/>
              </a:ext>
            </a:extLst>
          </p:cNvPr>
          <p:cNvSpPr txBox="1"/>
          <p:nvPr/>
        </p:nvSpPr>
        <p:spPr bwMode="gray">
          <a:xfrm>
            <a:off x="3318222" y="2078860"/>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R4</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TextBox 120">
            <a:extLst>
              <a:ext uri="{FF2B5EF4-FFF2-40B4-BE49-F238E27FC236}">
                <a16:creationId xmlns="" xmlns:a16="http://schemas.microsoft.com/office/drawing/2014/main" id="{020D7A1D-EFAD-4C8C-B9DE-D0FAD269B77A}"/>
              </a:ext>
            </a:extLst>
          </p:cNvPr>
          <p:cNvSpPr txBox="1"/>
          <p:nvPr/>
        </p:nvSpPr>
        <p:spPr bwMode="gray">
          <a:xfrm>
            <a:off x="3196475" y="2507985"/>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3" name="图片 32"/>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452620" y="1542652"/>
            <a:ext cx="540000" cy="442800"/>
          </a:xfrm>
          <a:prstGeom prst="rect">
            <a:avLst/>
          </a:prstGeom>
        </p:spPr>
      </p:pic>
      <p:pic>
        <p:nvPicPr>
          <p:cNvPr id="43" name="图片 42"/>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452620" y="3118289"/>
            <a:ext cx="540000" cy="442800"/>
          </a:xfrm>
          <a:prstGeom prst="rect">
            <a:avLst/>
          </a:prstGeom>
        </p:spPr>
      </p:pic>
      <p:cxnSp>
        <p:nvCxnSpPr>
          <p:cNvPr id="44" name="直接连接符 43"/>
          <p:cNvCxnSpPr>
            <a:stCxn id="71" idx="1"/>
            <a:endCxn id="33" idx="1"/>
          </p:cNvCxnSpPr>
          <p:nvPr/>
        </p:nvCxnSpPr>
        <p:spPr bwMode="gray">
          <a:xfrm flipV="1">
            <a:off x="1417493" y="1764052"/>
            <a:ext cx="2035127" cy="7857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a:stCxn id="71" idx="1"/>
            <a:endCxn id="43" idx="1"/>
          </p:cNvCxnSpPr>
          <p:nvPr/>
        </p:nvCxnSpPr>
        <p:spPr bwMode="gray">
          <a:xfrm>
            <a:off x="1417493" y="2549764"/>
            <a:ext cx="2035127" cy="7899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71" name="图片 7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417493" y="2328364"/>
            <a:ext cx="540000" cy="442800"/>
          </a:xfrm>
          <a:prstGeom prst="rect">
            <a:avLst/>
          </a:prstGeom>
        </p:spPr>
      </p:pic>
      <p:cxnSp>
        <p:nvCxnSpPr>
          <p:cNvPr id="48" name="直接连接符 47"/>
          <p:cNvCxnSpPr>
            <a:endCxn id="71" idx="1"/>
          </p:cNvCxnSpPr>
          <p:nvPr/>
        </p:nvCxnSpPr>
        <p:spPr bwMode="gray">
          <a:xfrm flipV="1">
            <a:off x="1014171" y="2549764"/>
            <a:ext cx="403322" cy="128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TextBox 120">
            <a:extLst>
              <a:ext uri="{FF2B5EF4-FFF2-40B4-BE49-F238E27FC236}">
                <a16:creationId xmlns="" xmlns:a16="http://schemas.microsoft.com/office/drawing/2014/main" id="{020D7A1D-EFAD-4C8C-B9DE-D0FAD269B77A}"/>
              </a:ext>
            </a:extLst>
          </p:cNvPr>
          <p:cNvSpPr txBox="1"/>
          <p:nvPr/>
        </p:nvSpPr>
        <p:spPr bwMode="gray">
          <a:xfrm>
            <a:off x="1161571" y="2511908"/>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TextBox 120">
            <a:extLst>
              <a:ext uri="{FF2B5EF4-FFF2-40B4-BE49-F238E27FC236}">
                <a16:creationId xmlns="" xmlns:a16="http://schemas.microsoft.com/office/drawing/2014/main" id="{020D7A1D-EFAD-4C8C-B9DE-D0FAD269B77A}"/>
              </a:ext>
            </a:extLst>
          </p:cNvPr>
          <p:cNvSpPr txBox="1"/>
          <p:nvPr/>
        </p:nvSpPr>
        <p:spPr bwMode="gray">
          <a:xfrm>
            <a:off x="3318222" y="1272636"/>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R3</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TextBox 120">
            <a:extLst>
              <a:ext uri="{FF2B5EF4-FFF2-40B4-BE49-F238E27FC236}">
                <a16:creationId xmlns="" xmlns:a16="http://schemas.microsoft.com/office/drawing/2014/main" id="{020D7A1D-EFAD-4C8C-B9DE-D0FAD269B77A}"/>
              </a:ext>
            </a:extLst>
          </p:cNvPr>
          <p:cNvSpPr txBox="1"/>
          <p:nvPr/>
        </p:nvSpPr>
        <p:spPr bwMode="gray">
          <a:xfrm>
            <a:off x="3318222" y="2862934"/>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R5</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TextBox 120">
            <a:extLst>
              <a:ext uri="{FF2B5EF4-FFF2-40B4-BE49-F238E27FC236}">
                <a16:creationId xmlns="" xmlns:a16="http://schemas.microsoft.com/office/drawing/2014/main" id="{020D7A1D-EFAD-4C8C-B9DE-D0FAD269B77A}"/>
              </a:ext>
            </a:extLst>
          </p:cNvPr>
          <p:cNvSpPr txBox="1"/>
          <p:nvPr/>
        </p:nvSpPr>
        <p:spPr bwMode="gray">
          <a:xfrm rot="20339608">
            <a:off x="2082287" y="1723211"/>
            <a:ext cx="128158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10.1.23.0/24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TextBox 120">
            <a:extLst>
              <a:ext uri="{FF2B5EF4-FFF2-40B4-BE49-F238E27FC236}">
                <a16:creationId xmlns="" xmlns:a16="http://schemas.microsoft.com/office/drawing/2014/main" id="{020D7A1D-EFAD-4C8C-B9DE-D0FAD269B77A}"/>
              </a:ext>
            </a:extLst>
          </p:cNvPr>
          <p:cNvSpPr txBox="1"/>
          <p:nvPr/>
        </p:nvSpPr>
        <p:spPr bwMode="gray">
          <a:xfrm>
            <a:off x="2164694" y="2279843"/>
            <a:ext cx="128158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10.1.24.0/24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TextBox 120">
            <a:extLst>
              <a:ext uri="{FF2B5EF4-FFF2-40B4-BE49-F238E27FC236}">
                <a16:creationId xmlns="" xmlns:a16="http://schemas.microsoft.com/office/drawing/2014/main" id="{020D7A1D-EFAD-4C8C-B9DE-D0FAD269B77A}"/>
              </a:ext>
            </a:extLst>
          </p:cNvPr>
          <p:cNvSpPr txBox="1"/>
          <p:nvPr/>
        </p:nvSpPr>
        <p:spPr bwMode="gray">
          <a:xfrm rot="1339552">
            <a:off x="2139669" y="2825829"/>
            <a:ext cx="128158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10.1.25.0/24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TextBox 120">
            <a:extLst>
              <a:ext uri="{FF2B5EF4-FFF2-40B4-BE49-F238E27FC236}">
                <a16:creationId xmlns="" xmlns:a16="http://schemas.microsoft.com/office/drawing/2014/main" id="{020D7A1D-EFAD-4C8C-B9DE-D0FAD269B77A}"/>
              </a:ext>
            </a:extLst>
          </p:cNvPr>
          <p:cNvSpPr txBox="1"/>
          <p:nvPr/>
        </p:nvSpPr>
        <p:spPr bwMode="gray">
          <a:xfrm>
            <a:off x="1900338" y="2507594"/>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TextBox 120">
            <a:extLst>
              <a:ext uri="{FF2B5EF4-FFF2-40B4-BE49-F238E27FC236}">
                <a16:creationId xmlns="" xmlns:a16="http://schemas.microsoft.com/office/drawing/2014/main" id="{020D7A1D-EFAD-4C8C-B9DE-D0FAD269B77A}"/>
              </a:ext>
            </a:extLst>
          </p:cNvPr>
          <p:cNvSpPr txBox="1"/>
          <p:nvPr/>
        </p:nvSpPr>
        <p:spPr bwMode="gray">
          <a:xfrm rot="20347040">
            <a:off x="1900338" y="2231537"/>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TextBox 120">
            <a:extLst>
              <a:ext uri="{FF2B5EF4-FFF2-40B4-BE49-F238E27FC236}">
                <a16:creationId xmlns="" xmlns:a16="http://schemas.microsoft.com/office/drawing/2014/main" id="{020D7A1D-EFAD-4C8C-B9DE-D0FAD269B77A}"/>
              </a:ext>
            </a:extLst>
          </p:cNvPr>
          <p:cNvSpPr txBox="1"/>
          <p:nvPr/>
        </p:nvSpPr>
        <p:spPr bwMode="gray">
          <a:xfrm rot="1207878">
            <a:off x="1900338" y="2773503"/>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TextBox 120">
            <a:extLst>
              <a:ext uri="{FF2B5EF4-FFF2-40B4-BE49-F238E27FC236}">
                <a16:creationId xmlns="" xmlns:a16="http://schemas.microsoft.com/office/drawing/2014/main" id="{020D7A1D-EFAD-4C8C-B9DE-D0FAD269B77A}"/>
              </a:ext>
            </a:extLst>
          </p:cNvPr>
          <p:cNvSpPr txBox="1"/>
          <p:nvPr/>
        </p:nvSpPr>
        <p:spPr bwMode="gray">
          <a:xfrm rot="20347040">
            <a:off x="3174235" y="1768404"/>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TextBox 120">
            <a:extLst>
              <a:ext uri="{FF2B5EF4-FFF2-40B4-BE49-F238E27FC236}">
                <a16:creationId xmlns="" xmlns:a16="http://schemas.microsoft.com/office/drawing/2014/main" id="{020D7A1D-EFAD-4C8C-B9DE-D0FAD269B77A}"/>
              </a:ext>
            </a:extLst>
          </p:cNvPr>
          <p:cNvSpPr txBox="1"/>
          <p:nvPr/>
        </p:nvSpPr>
        <p:spPr bwMode="gray">
          <a:xfrm rot="1207878">
            <a:off x="3172377" y="3262160"/>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.5</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TextBox 120">
            <a:extLst>
              <a:ext uri="{FF2B5EF4-FFF2-40B4-BE49-F238E27FC236}">
                <a16:creationId xmlns="" xmlns:a16="http://schemas.microsoft.com/office/drawing/2014/main" id="{020D7A1D-EFAD-4C8C-B9DE-D0FAD269B77A}"/>
              </a:ext>
            </a:extLst>
          </p:cNvPr>
          <p:cNvSpPr txBox="1"/>
          <p:nvPr/>
        </p:nvSpPr>
        <p:spPr bwMode="gray">
          <a:xfrm>
            <a:off x="1179942" y="1295702"/>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0" name="直接箭头连接符 49"/>
          <p:cNvCxnSpPr/>
          <p:nvPr/>
        </p:nvCxnSpPr>
        <p:spPr bwMode="gray">
          <a:xfrm flipV="1">
            <a:off x="4817883" y="4182374"/>
            <a:ext cx="486439" cy="327482"/>
          </a:xfrm>
          <a:prstGeom prst="straightConnector1">
            <a:avLst/>
          </a:prstGeom>
          <a:ln w="19050">
            <a:solidFill>
              <a:srgbClr val="FDD351"/>
            </a:solidFill>
            <a:tailEnd type="triangle"/>
          </a:ln>
        </p:spPr>
        <p:style>
          <a:lnRef idx="1">
            <a:schemeClr val="accent1"/>
          </a:lnRef>
          <a:fillRef idx="0">
            <a:schemeClr val="accent1"/>
          </a:fillRef>
          <a:effectRef idx="0">
            <a:schemeClr val="accent1"/>
          </a:effectRef>
          <a:fontRef idx="minor">
            <a:schemeClr val="tx1"/>
          </a:fontRef>
        </p:style>
      </p:cxnSp>
      <p:sp>
        <p:nvSpPr>
          <p:cNvPr id="61" name="文本占位符 3"/>
          <p:cNvSpPr txBox="1">
            <a:spLocks/>
          </p:cNvSpPr>
          <p:nvPr/>
        </p:nvSpPr>
        <p:spPr bwMode="gray">
          <a:xfrm>
            <a:off x="542288" y="4482255"/>
            <a:ext cx="4599556" cy="1294740"/>
          </a:xfrm>
          <a:prstGeom prst="rect">
            <a:avLst/>
          </a:prstGeom>
          <a:solidFill>
            <a:srgbClr val="FFFBEF"/>
          </a:solidFill>
          <a:ln w="9525">
            <a:solidFill>
              <a:srgbClr val="FDD351"/>
            </a:solidFill>
            <a:miter lim="800000"/>
            <a:headEnd/>
            <a:tailEnd/>
          </a:ln>
        </p:spPr>
        <p:txBody>
          <a:bodyPr vert="horz" wrap="square" lIns="108000" tIns="40071" rIns="108000" bIns="40071" numCol="1" anchor="ctr"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zh-CN" altLang="en-US" sz="1600" dirty="0" smtClean="0"/>
              <a:t>可以看出，</a:t>
            </a:r>
            <a:r>
              <a:rPr lang="en-US" altLang="zh-CN" sz="1600" dirty="0" smtClean="0"/>
              <a:t>R2</a:t>
            </a:r>
            <a:r>
              <a:rPr lang="zh-CN" altLang="en-US" sz="1600" dirty="0" smtClean="0"/>
              <a:t>的对等体组名为</a:t>
            </a:r>
            <a:r>
              <a:rPr lang="en-US" altLang="zh-CN" sz="1600" b="1" dirty="0" smtClean="0">
                <a:solidFill>
                  <a:srgbClr val="C7000B"/>
                </a:solidFill>
              </a:rPr>
              <a:t>in</a:t>
            </a:r>
            <a:r>
              <a:rPr lang="zh-CN" altLang="en-US" sz="1600" dirty="0" smtClean="0"/>
              <a:t>，对等体组中有三个</a:t>
            </a:r>
            <a:r>
              <a:rPr lang="en-US" altLang="zh-CN" sz="1600" b="1" dirty="0" smtClean="0">
                <a:solidFill>
                  <a:srgbClr val="C7000B"/>
                </a:solidFill>
              </a:rPr>
              <a:t>IBGP</a:t>
            </a:r>
            <a:r>
              <a:rPr lang="zh-CN" altLang="en-US" sz="1600" dirty="0" smtClean="0"/>
              <a:t>成员，分别为：</a:t>
            </a:r>
            <a:r>
              <a:rPr lang="en-US" altLang="zh-CN" sz="1600" dirty="0" smtClean="0"/>
              <a:t>10.1.3.3</a:t>
            </a:r>
            <a:r>
              <a:rPr lang="zh-CN" altLang="en-US" sz="1600" dirty="0" smtClean="0"/>
              <a:t>、</a:t>
            </a:r>
            <a:r>
              <a:rPr lang="en-US" altLang="zh-CN" sz="1600" dirty="0" smtClean="0"/>
              <a:t>10.1.4.4</a:t>
            </a:r>
            <a:r>
              <a:rPr lang="zh-CN" altLang="en-US" sz="1600" dirty="0" smtClean="0"/>
              <a:t>、</a:t>
            </a:r>
            <a:r>
              <a:rPr lang="en-US" altLang="zh-CN" sz="1600" dirty="0" smtClean="0"/>
              <a:t>10.1.5.5</a:t>
            </a:r>
            <a:r>
              <a:rPr lang="zh-CN" altLang="en-US" sz="1600" dirty="0" smtClean="0"/>
              <a:t>，并且都成功建立了邻居关系。</a:t>
            </a:r>
            <a:endParaRPr lang="zh-CN" altLang="en-US" sz="1600" dirty="0"/>
          </a:p>
        </p:txBody>
      </p:sp>
      <p:sp>
        <p:nvSpPr>
          <p:cNvPr id="37" name="五边形 36"/>
          <p:cNvSpPr/>
          <p:nvPr/>
        </p:nvSpPr>
        <p:spPr bwMode="gray">
          <a:xfrm>
            <a:off x="8421350" y="99742"/>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ORF</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燕尾形 37"/>
          <p:cNvSpPr/>
          <p:nvPr/>
        </p:nvSpPr>
        <p:spPr bwMode="gray">
          <a:xfrm>
            <a:off x="9061791" y="99742"/>
            <a:ext cx="936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对等体组</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燕尾形 38"/>
          <p:cNvSpPr/>
          <p:nvPr/>
        </p:nvSpPr>
        <p:spPr bwMode="gray">
          <a:xfrm>
            <a:off x="9918233" y="99742"/>
            <a:ext cx="93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安全特性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燕尾形 39"/>
          <p:cNvSpPr/>
          <p:nvPr/>
        </p:nvSpPr>
        <p:spPr bwMode="gray">
          <a:xfrm>
            <a:off x="10774674" y="99742"/>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字节</a:t>
            </a: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AS</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号</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59792968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BGP</a:t>
            </a:r>
            <a:r>
              <a:rPr lang="zh-CN" altLang="en-US" smtClean="0"/>
              <a:t>安全性</a:t>
            </a:r>
            <a:endParaRPr lang="zh-CN" altLang="en-US" dirty="0"/>
          </a:p>
        </p:txBody>
      </p:sp>
      <p:sp>
        <p:nvSpPr>
          <p:cNvPr id="3" name="文本占位符 2"/>
          <p:cNvSpPr>
            <a:spLocks noGrp="1"/>
          </p:cNvSpPr>
          <p:nvPr>
            <p:ph type="body" sz="quarter" idx="10"/>
          </p:nvPr>
        </p:nvSpPr>
        <p:spPr>
          <a:xfrm>
            <a:off x="455612" y="1047751"/>
            <a:ext cx="11293475" cy="1397452"/>
          </a:xfrm>
        </p:spPr>
        <p:txBody>
          <a:bodyPr/>
          <a:lstStyle/>
          <a:p>
            <a:r>
              <a:rPr lang="zh-CN" altLang="en-US" sz="2000" dirty="0"/>
              <a:t>常见</a:t>
            </a:r>
            <a:r>
              <a:rPr lang="en-US" altLang="zh-CN" sz="2000" dirty="0" smtClean="0"/>
              <a:t>BGP</a:t>
            </a:r>
            <a:r>
              <a:rPr lang="zh-CN" altLang="en-US" sz="2000" dirty="0" smtClean="0"/>
              <a:t>攻击主要</a:t>
            </a:r>
            <a:r>
              <a:rPr lang="zh-CN" altLang="en-US" sz="2000" dirty="0"/>
              <a:t>有</a:t>
            </a:r>
            <a:r>
              <a:rPr lang="zh-CN" altLang="en-US" sz="2000" dirty="0" smtClean="0"/>
              <a:t>两种：</a:t>
            </a:r>
            <a:endParaRPr lang="zh-CN" altLang="en-US" sz="2000" dirty="0"/>
          </a:p>
          <a:p>
            <a:pPr lvl="1"/>
            <a:r>
              <a:rPr lang="zh-CN" altLang="en-US" sz="1800" dirty="0" smtClean="0"/>
              <a:t>建立非法</a:t>
            </a:r>
            <a:r>
              <a:rPr lang="en-US" altLang="zh-CN" sz="1800" dirty="0" smtClean="0"/>
              <a:t>BGP</a:t>
            </a:r>
            <a:r>
              <a:rPr lang="zh-CN" altLang="en-US" sz="1800" dirty="0" smtClean="0"/>
              <a:t>邻居关系，通告非法路由条目，</a:t>
            </a:r>
            <a:r>
              <a:rPr lang="zh-CN" altLang="en-US" sz="1800" dirty="0"/>
              <a:t>干扰正常路由表。</a:t>
            </a:r>
          </a:p>
          <a:p>
            <a:pPr lvl="1"/>
            <a:r>
              <a:rPr lang="zh-CN" altLang="en-US" sz="1800" dirty="0" smtClean="0"/>
              <a:t>发送</a:t>
            </a:r>
            <a:r>
              <a:rPr lang="zh-CN" altLang="en-US" sz="1800" dirty="0"/>
              <a:t>大量非法</a:t>
            </a:r>
            <a:r>
              <a:rPr lang="en-US" altLang="zh-CN" sz="1800" dirty="0"/>
              <a:t>BGP</a:t>
            </a:r>
            <a:r>
              <a:rPr lang="zh-CN" altLang="en-US" sz="1800" dirty="0"/>
              <a:t>报文，路由器收到后上送</a:t>
            </a:r>
            <a:r>
              <a:rPr lang="en-US" altLang="zh-CN" sz="1800" dirty="0" smtClean="0"/>
              <a:t>CPU</a:t>
            </a:r>
            <a:r>
              <a:rPr lang="zh-CN" altLang="en-US" sz="1800" dirty="0" smtClean="0"/>
              <a:t>，导致</a:t>
            </a:r>
            <a:r>
              <a:rPr lang="en-US" altLang="zh-CN" sz="1800" dirty="0"/>
              <a:t>CPU</a:t>
            </a:r>
            <a:r>
              <a:rPr lang="zh-CN" altLang="en-US" sz="1800" dirty="0"/>
              <a:t>利用率</a:t>
            </a:r>
            <a:r>
              <a:rPr lang="zh-CN" altLang="en-US" sz="1800" dirty="0" smtClean="0"/>
              <a:t>升高</a:t>
            </a:r>
            <a:endParaRPr lang="en-US" altLang="zh-CN" sz="1800" dirty="0" smtClean="0"/>
          </a:p>
        </p:txBody>
      </p:sp>
      <p:sp>
        <p:nvSpPr>
          <p:cNvPr id="7" name="任意多边形 25"/>
          <p:cNvSpPr/>
          <p:nvPr/>
        </p:nvSpPr>
        <p:spPr bwMode="gray">
          <a:xfrm>
            <a:off x="1223644" y="2505729"/>
            <a:ext cx="7726942" cy="2586240"/>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pic>
        <p:nvPicPr>
          <p:cNvPr id="9" name="Picture 12" descr="E:\2016.01\1.12 扁平化图标\蓝色\AR-蓝色最新-40.png">
            <a:extLst>
              <a:ext uri="{FF2B5EF4-FFF2-40B4-BE49-F238E27FC236}">
                <a16:creationId xmlns:a16="http://schemas.microsoft.com/office/drawing/2014/main" xmlns="" id="{1D8E071F-501D-48FF-8ED1-076998A80BB3}"/>
              </a:ext>
            </a:extLst>
          </p:cNvPr>
          <p:cNvPicPr>
            <a:picLocks noChangeAspect="1" noChangeArrowheads="1"/>
          </p:cNvPicPr>
          <p:nvPr/>
        </p:nvPicPr>
        <p:blipFill>
          <a:blip r:embed="rId3" cstate="print"/>
          <a:srcRect/>
          <a:stretch>
            <a:fillRect/>
          </a:stretch>
        </p:blipFill>
        <p:spPr bwMode="gray">
          <a:xfrm>
            <a:off x="2172269" y="3241370"/>
            <a:ext cx="527556" cy="431636"/>
          </a:xfrm>
          <a:prstGeom prst="rect">
            <a:avLst/>
          </a:prstGeom>
          <a:noFill/>
        </p:spPr>
      </p:pic>
      <p:cxnSp>
        <p:nvCxnSpPr>
          <p:cNvPr id="10" name="直接连接符 9">
            <a:extLst>
              <a:ext uri="{FF2B5EF4-FFF2-40B4-BE49-F238E27FC236}">
                <a16:creationId xmlns:a16="http://schemas.microsoft.com/office/drawing/2014/main" xmlns="" id="{94275FFE-3BE6-4C12-8737-FDFE3456C4A2}"/>
              </a:ext>
            </a:extLst>
          </p:cNvPr>
          <p:cNvCxnSpPr>
            <a:stCxn id="8" idx="1"/>
            <a:endCxn id="9" idx="3"/>
          </p:cNvCxnSpPr>
          <p:nvPr/>
        </p:nvCxnSpPr>
        <p:spPr bwMode="gray">
          <a:xfrm flipH="1">
            <a:off x="2699825" y="3457188"/>
            <a:ext cx="2280468" cy="0"/>
          </a:xfrm>
          <a:prstGeom prst="line">
            <a:avLst/>
          </a:prstGeom>
          <a:noFill/>
          <a:ln w="19050" cap="flat" cmpd="sng" algn="ctr">
            <a:solidFill>
              <a:schemeClr val="tx1"/>
            </a:solidFill>
            <a:prstDash val="solid"/>
          </a:ln>
          <a:effectLst/>
        </p:spPr>
      </p:cxnSp>
      <p:sp>
        <p:nvSpPr>
          <p:cNvPr id="11" name="TextBox 120">
            <a:extLst>
              <a:ext uri="{FF2B5EF4-FFF2-40B4-BE49-F238E27FC236}">
                <a16:creationId xmlns:a16="http://schemas.microsoft.com/office/drawing/2014/main" xmlns="" id="{020D7A1D-EFAD-4C8C-B9DE-D0FAD269B77A}"/>
              </a:ext>
            </a:extLst>
          </p:cNvPr>
          <p:cNvSpPr txBox="1"/>
          <p:nvPr/>
        </p:nvSpPr>
        <p:spPr bwMode="gray">
          <a:xfrm rot="20678414">
            <a:off x="3303093" y="3662905"/>
            <a:ext cx="1267250" cy="523220"/>
          </a:xfrm>
          <a:prstGeom prst="rect">
            <a:avLst/>
          </a:prstGeom>
          <a:noFill/>
          <a:ln>
            <a:noFill/>
          </a:ln>
        </p:spPr>
        <p:txBody>
          <a:bodyPr wrap="square" rtlCol="0">
            <a:spAutoFit/>
          </a:bodyPr>
          <a:lstStyle/>
          <a:p>
            <a:pPr algn="ctr"/>
            <a:r>
              <a:rPr lang="zh-CN" altLang="en-US" sz="1400" dirty="0">
                <a:solidFill>
                  <a:srgbClr val="62B230"/>
                </a:solidFill>
                <a:sym typeface="Huawei Sans" panose="020C0503030203020204" pitchFamily="34" charset="0"/>
              </a:rPr>
              <a:t>发送大量非法</a:t>
            </a:r>
            <a:r>
              <a:rPr lang="en-US" altLang="zh-CN" sz="1400" dirty="0">
                <a:solidFill>
                  <a:srgbClr val="62B230"/>
                </a:solidFill>
                <a:sym typeface="Huawei Sans" panose="020C0503030203020204" pitchFamily="34" charset="0"/>
              </a:rPr>
              <a:t>BGP</a:t>
            </a:r>
            <a:r>
              <a:rPr lang="zh-CN" altLang="en-US" sz="1400" dirty="0">
                <a:solidFill>
                  <a:srgbClr val="62B230"/>
                </a:solidFill>
                <a:sym typeface="Huawei Sans" panose="020C0503030203020204" pitchFamily="34" charset="0"/>
              </a:rPr>
              <a:t>报文</a:t>
            </a:r>
            <a:endParaRPr lang="en-US" altLang="zh-CN" sz="1400" dirty="0">
              <a:solidFill>
                <a:srgbClr val="62B230"/>
              </a:solidFill>
              <a:sym typeface="Huawei Sans" panose="020C0503030203020204" pitchFamily="34" charset="0"/>
            </a:endParaRPr>
          </a:p>
        </p:txBody>
      </p:sp>
      <p:sp>
        <p:nvSpPr>
          <p:cNvPr id="12" name="TextBox 120">
            <a:extLst>
              <a:ext uri="{FF2B5EF4-FFF2-40B4-BE49-F238E27FC236}">
                <a16:creationId xmlns:a16="http://schemas.microsoft.com/office/drawing/2014/main" xmlns="" id="{020D7A1D-EFAD-4C8C-B9DE-D0FAD269B77A}"/>
              </a:ext>
            </a:extLst>
          </p:cNvPr>
          <p:cNvSpPr txBox="1"/>
          <p:nvPr/>
        </p:nvSpPr>
        <p:spPr bwMode="gray">
          <a:xfrm>
            <a:off x="1825068" y="2951842"/>
            <a:ext cx="1221957" cy="307777"/>
          </a:xfrm>
          <a:prstGeom prst="rect">
            <a:avLst/>
          </a:prstGeom>
          <a:noFill/>
          <a:ln>
            <a:noFill/>
          </a:ln>
        </p:spPr>
        <p:txBody>
          <a:bodyPr wrap="square" rtlCol="0">
            <a:spAutoFit/>
          </a:bodyPr>
          <a:lstStyle/>
          <a:p>
            <a:pPr algn="ctr"/>
            <a:r>
              <a:rPr lang="zh-CN" altLang="en-US" sz="1400" b="1" dirty="0" smtClean="0">
                <a:sym typeface="Huawei Sans" panose="020C0503030203020204" pitchFamily="34" charset="0"/>
              </a:rPr>
              <a:t>非法路由器</a:t>
            </a:r>
            <a:endParaRPr lang="en-US" altLang="zh-CN" sz="1400" b="1" dirty="0">
              <a:sym typeface="Huawei Sans" panose="020C0503030203020204" pitchFamily="34" charset="0"/>
            </a:endParaRPr>
          </a:p>
        </p:txBody>
      </p:sp>
      <p:sp>
        <p:nvSpPr>
          <p:cNvPr id="13" name="TextBox 120">
            <a:extLst>
              <a:ext uri="{FF2B5EF4-FFF2-40B4-BE49-F238E27FC236}">
                <a16:creationId xmlns:a16="http://schemas.microsoft.com/office/drawing/2014/main" xmlns="" id="{020D7A1D-EFAD-4C8C-B9DE-D0FAD269B77A}"/>
              </a:ext>
            </a:extLst>
          </p:cNvPr>
          <p:cNvSpPr txBox="1"/>
          <p:nvPr/>
        </p:nvSpPr>
        <p:spPr bwMode="gray">
          <a:xfrm>
            <a:off x="4986310" y="2978742"/>
            <a:ext cx="539591" cy="307777"/>
          </a:xfrm>
          <a:prstGeom prst="rect">
            <a:avLst/>
          </a:prstGeom>
          <a:noFill/>
          <a:ln>
            <a:noFill/>
          </a:ln>
        </p:spPr>
        <p:txBody>
          <a:bodyPr wrap="square" rtlCol="0">
            <a:spAutoFit/>
          </a:bodyPr>
          <a:lstStyle/>
          <a:p>
            <a:pPr algn="ctr"/>
            <a:r>
              <a:rPr lang="en-US" altLang="zh-CN" sz="1400" dirty="0" smtClean="0">
                <a:sym typeface="Huawei Sans" panose="020C0503030203020204" pitchFamily="34" charset="0"/>
              </a:rPr>
              <a:t>R1</a:t>
            </a:r>
            <a:endParaRPr lang="en-US" altLang="zh-CN" sz="1400" dirty="0">
              <a:sym typeface="Huawei Sans" panose="020C0503030203020204" pitchFamily="34" charset="0"/>
            </a:endParaRPr>
          </a:p>
        </p:txBody>
      </p:sp>
      <p:pic>
        <p:nvPicPr>
          <p:cNvPr id="14" name="图片 65"/>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166047" y="4175955"/>
            <a:ext cx="540000" cy="442800"/>
          </a:xfrm>
          <a:prstGeom prst="rect">
            <a:avLst/>
          </a:prstGeom>
        </p:spPr>
      </p:pic>
      <p:sp>
        <p:nvSpPr>
          <p:cNvPr id="15" name="TextBox 120">
            <a:extLst>
              <a:ext uri="{FF2B5EF4-FFF2-40B4-BE49-F238E27FC236}">
                <a16:creationId xmlns:a16="http://schemas.microsoft.com/office/drawing/2014/main" xmlns="" id="{020D7A1D-EFAD-4C8C-B9DE-D0FAD269B77A}"/>
              </a:ext>
            </a:extLst>
          </p:cNvPr>
          <p:cNvSpPr txBox="1"/>
          <p:nvPr/>
        </p:nvSpPr>
        <p:spPr bwMode="gray">
          <a:xfrm>
            <a:off x="2076915" y="4683704"/>
            <a:ext cx="718265" cy="307777"/>
          </a:xfrm>
          <a:prstGeom prst="rect">
            <a:avLst/>
          </a:prstGeom>
          <a:noFill/>
          <a:ln>
            <a:noFill/>
          </a:ln>
        </p:spPr>
        <p:txBody>
          <a:bodyPr wrap="square" rtlCol="0">
            <a:spAutoFit/>
          </a:bodyPr>
          <a:lstStyle/>
          <a:p>
            <a:r>
              <a:rPr lang="zh-CN" altLang="en-US" sz="1400" b="1" dirty="0">
                <a:sym typeface="Huawei Sans" panose="020C0503030203020204" pitchFamily="34" charset="0"/>
              </a:rPr>
              <a:t>攻击者</a:t>
            </a:r>
            <a:endParaRPr lang="en-US" altLang="zh-CN" sz="1400" b="1" dirty="0">
              <a:sym typeface="Huawei Sans" panose="020C0503030203020204" pitchFamily="34" charset="0"/>
            </a:endParaRPr>
          </a:p>
        </p:txBody>
      </p:sp>
      <p:cxnSp>
        <p:nvCxnSpPr>
          <p:cNvPr id="16" name="直接连接符 10">
            <a:extLst>
              <a:ext uri="{FF2B5EF4-FFF2-40B4-BE49-F238E27FC236}">
                <a16:creationId xmlns:a16="http://schemas.microsoft.com/office/drawing/2014/main" xmlns="" id="{94275FFE-3BE6-4C12-8737-FDFE3456C4A2}"/>
              </a:ext>
            </a:extLst>
          </p:cNvPr>
          <p:cNvCxnSpPr>
            <a:stCxn id="8" idx="2"/>
            <a:endCxn id="41" idx="0"/>
          </p:cNvCxnSpPr>
          <p:nvPr/>
        </p:nvCxnSpPr>
        <p:spPr bwMode="gray">
          <a:xfrm>
            <a:off x="5244071" y="3673006"/>
            <a:ext cx="0" cy="508531"/>
          </a:xfrm>
          <a:prstGeom prst="line">
            <a:avLst/>
          </a:prstGeom>
          <a:noFill/>
          <a:ln w="19050" cap="flat" cmpd="sng" algn="ctr">
            <a:solidFill>
              <a:schemeClr val="tx1"/>
            </a:solidFill>
            <a:prstDash val="solid"/>
          </a:ln>
          <a:effectLst/>
        </p:spPr>
      </p:cxnSp>
      <p:sp>
        <p:nvSpPr>
          <p:cNvPr id="17" name="TextBox 120">
            <a:extLst>
              <a:ext uri="{FF2B5EF4-FFF2-40B4-BE49-F238E27FC236}">
                <a16:creationId xmlns:a16="http://schemas.microsoft.com/office/drawing/2014/main" xmlns="" id="{020D7A1D-EFAD-4C8C-B9DE-D0FAD269B77A}"/>
              </a:ext>
            </a:extLst>
          </p:cNvPr>
          <p:cNvSpPr txBox="1"/>
          <p:nvPr/>
        </p:nvSpPr>
        <p:spPr bwMode="blackGray">
          <a:xfrm>
            <a:off x="3194847" y="2756431"/>
            <a:ext cx="2003505" cy="523220"/>
          </a:xfrm>
          <a:prstGeom prst="rect">
            <a:avLst/>
          </a:prstGeom>
          <a:noFill/>
          <a:ln>
            <a:noFill/>
          </a:ln>
        </p:spPr>
        <p:txBody>
          <a:bodyPr wrap="square" rtlCol="0">
            <a:spAutoFit/>
          </a:bodyPr>
          <a:lstStyle/>
          <a:p>
            <a:r>
              <a:rPr lang="zh-CN" altLang="en-US" sz="1400" dirty="0" smtClean="0">
                <a:solidFill>
                  <a:srgbClr val="ED6D00"/>
                </a:solidFill>
                <a:sym typeface="Huawei Sans" panose="020C0503030203020204" pitchFamily="34" charset="0"/>
              </a:rPr>
              <a:t>建立非法</a:t>
            </a:r>
            <a:r>
              <a:rPr lang="en-US" altLang="zh-CN" sz="1400" dirty="0" smtClean="0">
                <a:solidFill>
                  <a:srgbClr val="ED6D00"/>
                </a:solidFill>
                <a:sym typeface="Huawei Sans" panose="020C0503030203020204" pitchFamily="34" charset="0"/>
              </a:rPr>
              <a:t>IBGP</a:t>
            </a:r>
            <a:r>
              <a:rPr lang="zh-CN" altLang="en-US" sz="1400" dirty="0" smtClean="0">
                <a:solidFill>
                  <a:srgbClr val="ED6D00"/>
                </a:solidFill>
                <a:sym typeface="Huawei Sans" panose="020C0503030203020204" pitchFamily="34" charset="0"/>
              </a:rPr>
              <a:t>邻居关系，通告</a:t>
            </a:r>
            <a:r>
              <a:rPr lang="zh-CN" altLang="en-US" sz="1400" dirty="0">
                <a:solidFill>
                  <a:srgbClr val="ED6D00"/>
                </a:solidFill>
                <a:sym typeface="Huawei Sans" panose="020C0503030203020204" pitchFamily="34" charset="0"/>
              </a:rPr>
              <a:t>非法</a:t>
            </a:r>
            <a:r>
              <a:rPr lang="zh-CN" altLang="en-US" sz="1400" dirty="0" smtClean="0">
                <a:solidFill>
                  <a:srgbClr val="ED6D00"/>
                </a:solidFill>
                <a:sym typeface="Huawei Sans" panose="020C0503030203020204" pitchFamily="34" charset="0"/>
              </a:rPr>
              <a:t>路由</a:t>
            </a:r>
            <a:r>
              <a:rPr lang="en-US" altLang="zh-CN" sz="1400" dirty="0" smtClean="0">
                <a:solidFill>
                  <a:srgbClr val="ED6D00"/>
                </a:solidFill>
                <a:sym typeface="Huawei Sans" panose="020C0503030203020204" pitchFamily="34" charset="0"/>
              </a:rPr>
              <a:t>Net1</a:t>
            </a:r>
            <a:endParaRPr lang="en-US" altLang="zh-CN" sz="1400" dirty="0">
              <a:solidFill>
                <a:srgbClr val="ED6D00"/>
              </a:solidFill>
              <a:sym typeface="Huawei Sans" panose="020C0503030203020204" pitchFamily="34" charset="0"/>
            </a:endParaRPr>
          </a:p>
        </p:txBody>
      </p:sp>
      <p:sp>
        <p:nvSpPr>
          <p:cNvPr id="18" name="TextBox 120">
            <a:extLst>
              <a:ext uri="{FF2B5EF4-FFF2-40B4-BE49-F238E27FC236}">
                <a16:creationId xmlns:a16="http://schemas.microsoft.com/office/drawing/2014/main" xmlns="" id="{020D7A1D-EFAD-4C8C-B9DE-D0FAD269B77A}"/>
              </a:ext>
            </a:extLst>
          </p:cNvPr>
          <p:cNvSpPr txBox="1"/>
          <p:nvPr/>
        </p:nvSpPr>
        <p:spPr bwMode="gray">
          <a:xfrm rot="20372602">
            <a:off x="4108219" y="4073147"/>
            <a:ext cx="698155" cy="307777"/>
          </a:xfrm>
          <a:prstGeom prst="rect">
            <a:avLst/>
          </a:prstGeom>
          <a:noFill/>
          <a:ln>
            <a:noFill/>
          </a:ln>
        </p:spPr>
        <p:txBody>
          <a:bodyPr wrap="square" rtlCol="0">
            <a:spAutoFit/>
          </a:bodyPr>
          <a:lstStyle/>
          <a:p>
            <a:pPr algn="ctr"/>
            <a:r>
              <a:rPr lang="en-US" altLang="zh-CN" sz="1400" dirty="0" smtClean="0">
                <a:sym typeface="Huawei Sans" panose="020C0503030203020204" pitchFamily="34" charset="0"/>
              </a:rPr>
              <a:t>IBGP</a:t>
            </a:r>
            <a:endParaRPr lang="en-US" altLang="zh-CN" sz="1400" dirty="0">
              <a:sym typeface="Huawei Sans" panose="020C0503030203020204" pitchFamily="34" charset="0"/>
            </a:endParaRPr>
          </a:p>
        </p:txBody>
      </p:sp>
      <p:sp>
        <p:nvSpPr>
          <p:cNvPr id="19" name="任意多边形 18"/>
          <p:cNvSpPr/>
          <p:nvPr/>
        </p:nvSpPr>
        <p:spPr bwMode="gray">
          <a:xfrm>
            <a:off x="2774793" y="3613721"/>
            <a:ext cx="2185291" cy="665128"/>
          </a:xfrm>
          <a:custGeom>
            <a:avLst/>
            <a:gdLst>
              <a:gd name="connsiteX0" fmla="*/ 0 w 1444487"/>
              <a:gd name="connsiteY0" fmla="*/ 755373 h 755373"/>
              <a:gd name="connsiteX1" fmla="*/ 980661 w 1444487"/>
              <a:gd name="connsiteY1" fmla="*/ 583095 h 755373"/>
              <a:gd name="connsiteX2" fmla="*/ 1444487 w 1444487"/>
              <a:gd name="connsiteY2" fmla="*/ 0 h 755373"/>
            </a:gdLst>
            <a:ahLst/>
            <a:cxnLst>
              <a:cxn ang="0">
                <a:pos x="connsiteX0" y="connsiteY0"/>
              </a:cxn>
              <a:cxn ang="0">
                <a:pos x="connsiteX1" y="connsiteY1"/>
              </a:cxn>
              <a:cxn ang="0">
                <a:pos x="connsiteX2" y="connsiteY2"/>
              </a:cxn>
            </a:cxnLst>
            <a:rect l="l" t="t" r="r" b="b"/>
            <a:pathLst>
              <a:path w="1444487" h="755373">
                <a:moveTo>
                  <a:pt x="0" y="755373"/>
                </a:moveTo>
                <a:cubicBezTo>
                  <a:pt x="369956" y="732181"/>
                  <a:pt x="739913" y="708990"/>
                  <a:pt x="980661" y="583095"/>
                </a:cubicBezTo>
                <a:cubicBezTo>
                  <a:pt x="1221409" y="457200"/>
                  <a:pt x="1332948" y="228600"/>
                  <a:pt x="1444487" y="0"/>
                </a:cubicBezTo>
              </a:path>
            </a:pathLst>
          </a:custGeom>
          <a:noFill/>
          <a:ln w="28575">
            <a:solidFill>
              <a:srgbClr val="62B230"/>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120">
            <a:extLst>
              <a:ext uri="{FF2B5EF4-FFF2-40B4-BE49-F238E27FC236}">
                <a16:creationId xmlns="" xmlns:a16="http://schemas.microsoft.com/office/drawing/2014/main" id="{020D7A1D-EFAD-4C8C-B9DE-D0FAD269B77A}"/>
              </a:ext>
            </a:extLst>
          </p:cNvPr>
          <p:cNvSpPr txBox="1"/>
          <p:nvPr/>
        </p:nvSpPr>
        <p:spPr bwMode="gray">
          <a:xfrm>
            <a:off x="1236348" y="2574730"/>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4" name="Picture 12" descr="E:\2016.01\1.12 扁平化图标\蓝色\AR-蓝色最新-40.png">
            <a:extLst>
              <a:ext uri="{FF2B5EF4-FFF2-40B4-BE49-F238E27FC236}">
                <a16:creationId xmlns:a16="http://schemas.microsoft.com/office/drawing/2014/main" xmlns="" id="{1D8E071F-501D-48FF-8ED1-076998A80BB3}"/>
              </a:ext>
            </a:extLst>
          </p:cNvPr>
          <p:cNvPicPr>
            <a:picLocks noChangeAspect="1" noChangeArrowheads="1"/>
          </p:cNvPicPr>
          <p:nvPr/>
        </p:nvPicPr>
        <p:blipFill>
          <a:blip r:embed="rId3" cstate="print"/>
          <a:srcRect/>
          <a:stretch>
            <a:fillRect/>
          </a:stretch>
        </p:blipFill>
        <p:spPr bwMode="gray">
          <a:xfrm>
            <a:off x="6507793" y="3241370"/>
            <a:ext cx="527556" cy="431636"/>
          </a:xfrm>
          <a:prstGeom prst="rect">
            <a:avLst/>
          </a:prstGeom>
          <a:noFill/>
        </p:spPr>
      </p:pic>
      <p:sp>
        <p:nvSpPr>
          <p:cNvPr id="25" name="TextBox 120">
            <a:extLst>
              <a:ext uri="{FF2B5EF4-FFF2-40B4-BE49-F238E27FC236}">
                <a16:creationId xmlns:a16="http://schemas.microsoft.com/office/drawing/2014/main" xmlns="" id="{020D7A1D-EFAD-4C8C-B9DE-D0FAD269B77A}"/>
              </a:ext>
            </a:extLst>
          </p:cNvPr>
          <p:cNvSpPr txBox="1"/>
          <p:nvPr/>
        </p:nvSpPr>
        <p:spPr bwMode="gray">
          <a:xfrm>
            <a:off x="6513810" y="2978742"/>
            <a:ext cx="539591" cy="307777"/>
          </a:xfrm>
          <a:prstGeom prst="rect">
            <a:avLst/>
          </a:prstGeom>
          <a:noFill/>
          <a:ln>
            <a:noFill/>
          </a:ln>
        </p:spPr>
        <p:txBody>
          <a:bodyPr wrap="square" rtlCol="0">
            <a:spAutoFit/>
          </a:bodyPr>
          <a:lstStyle/>
          <a:p>
            <a:pPr algn="ctr"/>
            <a:r>
              <a:rPr lang="en-US" altLang="zh-CN" sz="1400" dirty="0" smtClean="0">
                <a:sym typeface="Huawei Sans" panose="020C0503030203020204" pitchFamily="34" charset="0"/>
              </a:rPr>
              <a:t>R2</a:t>
            </a:r>
            <a:endParaRPr lang="en-US" altLang="zh-CN" sz="1400" dirty="0">
              <a:sym typeface="Huawei Sans" panose="020C0503030203020204" pitchFamily="34" charset="0"/>
            </a:endParaRPr>
          </a:p>
        </p:txBody>
      </p:sp>
      <p:cxnSp>
        <p:nvCxnSpPr>
          <p:cNvPr id="26" name="直接连接符 25">
            <a:extLst>
              <a:ext uri="{FF2B5EF4-FFF2-40B4-BE49-F238E27FC236}">
                <a16:creationId xmlns:a16="http://schemas.microsoft.com/office/drawing/2014/main" xmlns="" id="{94275FFE-3BE6-4C12-8737-FDFE3456C4A2}"/>
              </a:ext>
            </a:extLst>
          </p:cNvPr>
          <p:cNvCxnSpPr>
            <a:stCxn id="24" idx="1"/>
            <a:endCxn id="8" idx="3"/>
          </p:cNvCxnSpPr>
          <p:nvPr/>
        </p:nvCxnSpPr>
        <p:spPr bwMode="gray">
          <a:xfrm flipH="1">
            <a:off x="5507849" y="3457188"/>
            <a:ext cx="999944" cy="0"/>
          </a:xfrm>
          <a:prstGeom prst="line">
            <a:avLst/>
          </a:prstGeom>
          <a:noFill/>
          <a:ln w="19050" cap="flat" cmpd="sng" algn="ctr">
            <a:solidFill>
              <a:schemeClr val="tx1"/>
            </a:solidFill>
            <a:prstDash val="solid"/>
          </a:ln>
          <a:effectLst/>
        </p:spPr>
      </p:cxnSp>
      <p:pic>
        <p:nvPicPr>
          <p:cNvPr id="8" name="Picture 12" descr="E:\2016.01\1.12 扁平化图标\蓝色\AR-蓝色最新-40.png">
            <a:extLst>
              <a:ext uri="{FF2B5EF4-FFF2-40B4-BE49-F238E27FC236}">
                <a16:creationId xmlns:a16="http://schemas.microsoft.com/office/drawing/2014/main" xmlns="" id="{1D8E071F-501D-48FF-8ED1-076998A80BB3}"/>
              </a:ext>
            </a:extLst>
          </p:cNvPr>
          <p:cNvPicPr>
            <a:picLocks noChangeAspect="1" noChangeArrowheads="1"/>
          </p:cNvPicPr>
          <p:nvPr/>
        </p:nvPicPr>
        <p:blipFill>
          <a:blip r:embed="rId3" cstate="print"/>
          <a:srcRect/>
          <a:stretch>
            <a:fillRect/>
          </a:stretch>
        </p:blipFill>
        <p:spPr bwMode="gray">
          <a:xfrm>
            <a:off x="4980293" y="3241370"/>
            <a:ext cx="527556" cy="431636"/>
          </a:xfrm>
          <a:prstGeom prst="rect">
            <a:avLst/>
          </a:prstGeom>
          <a:noFill/>
        </p:spPr>
      </p:pic>
      <p:cxnSp>
        <p:nvCxnSpPr>
          <p:cNvPr id="31" name="直接箭头连接符 30"/>
          <p:cNvCxnSpPr/>
          <p:nvPr/>
        </p:nvCxnSpPr>
        <p:spPr bwMode="gray">
          <a:xfrm>
            <a:off x="3031699" y="3320608"/>
            <a:ext cx="1730534" cy="0"/>
          </a:xfrm>
          <a:prstGeom prst="straightConnector1">
            <a:avLst/>
          </a:prstGeom>
          <a:ln w="28575">
            <a:solidFill>
              <a:srgbClr val="ED6D00"/>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120">
            <a:extLst>
              <a:ext uri="{FF2B5EF4-FFF2-40B4-BE49-F238E27FC236}">
                <a16:creationId xmlns:a16="http://schemas.microsoft.com/office/drawing/2014/main" xmlns="" id="{020D7A1D-EFAD-4C8C-B9DE-D0FAD269B77A}"/>
              </a:ext>
            </a:extLst>
          </p:cNvPr>
          <p:cNvSpPr txBox="1"/>
          <p:nvPr/>
        </p:nvSpPr>
        <p:spPr bwMode="gray">
          <a:xfrm>
            <a:off x="5677562" y="3202488"/>
            <a:ext cx="698155" cy="307777"/>
          </a:xfrm>
          <a:prstGeom prst="rect">
            <a:avLst/>
          </a:prstGeom>
          <a:noFill/>
          <a:ln>
            <a:noFill/>
          </a:ln>
        </p:spPr>
        <p:txBody>
          <a:bodyPr wrap="square" rtlCol="0">
            <a:spAutoFit/>
          </a:bodyPr>
          <a:lstStyle/>
          <a:p>
            <a:pPr algn="ctr"/>
            <a:r>
              <a:rPr lang="en-US" altLang="zh-CN" sz="1400" dirty="0" smtClean="0">
                <a:sym typeface="Huawei Sans" panose="020C0503030203020204" pitchFamily="34" charset="0"/>
              </a:rPr>
              <a:t>IBGP</a:t>
            </a:r>
            <a:endParaRPr lang="en-US" altLang="zh-CN" sz="1400" dirty="0">
              <a:sym typeface="Huawei Sans" panose="020C0503030203020204" pitchFamily="34" charset="0"/>
            </a:endParaRPr>
          </a:p>
        </p:txBody>
      </p:sp>
      <p:sp>
        <p:nvSpPr>
          <p:cNvPr id="34" name="Oval 4"/>
          <p:cNvSpPr>
            <a:spLocks noChangeAspect="1"/>
          </p:cNvSpPr>
          <p:nvPr/>
        </p:nvSpPr>
        <p:spPr bwMode="blackGray">
          <a:xfrm>
            <a:off x="3006247" y="2813173"/>
            <a:ext cx="180000" cy="180000"/>
          </a:xfrm>
          <a:prstGeom prst="ellipse">
            <a:avLst/>
          </a:prstGeom>
          <a:solidFill>
            <a:srgbClr val="ED6D00"/>
          </a:solidFill>
          <a:ln w="12700">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Oval 4"/>
          <p:cNvSpPr>
            <a:spLocks noChangeAspect="1"/>
          </p:cNvSpPr>
          <p:nvPr/>
        </p:nvSpPr>
        <p:spPr bwMode="gray">
          <a:xfrm rot="20762227">
            <a:off x="3202536" y="3920592"/>
            <a:ext cx="180000" cy="180000"/>
          </a:xfrm>
          <a:prstGeom prst="ellipse">
            <a:avLst/>
          </a:prstGeom>
          <a:solidFill>
            <a:srgbClr val="62B23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矩形: 圆角 52">
            <a:extLst>
              <a:ext uri="{FF2B5EF4-FFF2-40B4-BE49-F238E27FC236}">
                <a16:creationId xmlns:a16="http://schemas.microsoft.com/office/drawing/2014/main" xmlns="" xmlns:lc="http://schemas.openxmlformats.org/drawingml/2006/lockedCanvas" id="{70ADCB91-E11A-40F5-B977-66A090F8EF3C}"/>
              </a:ext>
            </a:extLst>
          </p:cNvPr>
          <p:cNvSpPr/>
          <p:nvPr/>
        </p:nvSpPr>
        <p:spPr bwMode="gray">
          <a:xfrm>
            <a:off x="7123110" y="2622663"/>
            <a:ext cx="1655547" cy="697945"/>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zh-CN" altLang="en-US">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TextBox 120">
            <a:extLst>
              <a:ext uri="{FF2B5EF4-FFF2-40B4-BE49-F238E27FC236}">
                <a16:creationId xmlns:a16="http://schemas.microsoft.com/office/drawing/2014/main" xmlns="" xmlns:lc="http://schemas.openxmlformats.org/drawingml/2006/lockedCanvas" id="{31930744-3D36-4F81-8426-6F129C1A6804}"/>
              </a:ext>
            </a:extLst>
          </p:cNvPr>
          <p:cNvSpPr txBox="1"/>
          <p:nvPr/>
        </p:nvSpPr>
        <p:spPr bwMode="gray">
          <a:xfrm>
            <a:off x="7148551" y="2622663"/>
            <a:ext cx="1604664" cy="276999"/>
          </a:xfrm>
          <a:prstGeom prst="rect">
            <a:avLst/>
          </a:prstGeom>
          <a:noFill/>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BGP </a:t>
            </a:r>
            <a:r>
              <a:rPr lang="en-US" altLang="zh-CN" sz="1200" b="1"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Routing-table</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TextBox 120">
            <a:extLst>
              <a:ext uri="{FF2B5EF4-FFF2-40B4-BE49-F238E27FC236}">
                <a16:creationId xmlns:a16="http://schemas.microsoft.com/office/drawing/2014/main" xmlns="" xmlns:lc="http://schemas.openxmlformats.org/drawingml/2006/lockedCanvas" id="{31930744-3D36-4F81-8426-6F129C1A6804}"/>
              </a:ext>
            </a:extLst>
          </p:cNvPr>
          <p:cNvSpPr txBox="1"/>
          <p:nvPr/>
        </p:nvSpPr>
        <p:spPr bwMode="gray">
          <a:xfrm>
            <a:off x="7150376" y="2942301"/>
            <a:ext cx="1601015" cy="276999"/>
          </a:xfrm>
          <a:prstGeom prst="rect">
            <a:avLst/>
          </a:prstGeom>
          <a:solidFill>
            <a:schemeClr val="bg1">
              <a:lumMod val="95000"/>
            </a:schemeClr>
          </a:solidFill>
          <a:ln w="12700">
            <a:solidFill>
              <a:schemeClr val="bg1">
                <a:lumMod val="75000"/>
              </a:schemeClr>
            </a:solidFill>
          </a:ln>
        </p:spPr>
        <p:txBody>
          <a:bodyPr wrap="square" lIns="72000" rIns="72000" rtlCol="0" anchor="ctr">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*&gt;  </a:t>
            </a:r>
            <a:r>
              <a:rPr lang="en-US" altLang="zh-CN" sz="12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Net1</a:t>
            </a:r>
          </a:p>
        </p:txBody>
      </p:sp>
      <p:sp>
        <p:nvSpPr>
          <p:cNvPr id="39" name="TextBox 120">
            <a:extLst>
              <a:ext uri="{FF2B5EF4-FFF2-40B4-BE49-F238E27FC236}">
                <a16:creationId xmlns:a16="http://schemas.microsoft.com/office/drawing/2014/main" xmlns="" id="{020D7A1D-EFAD-4C8C-B9DE-D0FAD269B77A}"/>
              </a:ext>
            </a:extLst>
          </p:cNvPr>
          <p:cNvSpPr txBox="1"/>
          <p:nvPr/>
        </p:nvSpPr>
        <p:spPr bwMode="blackGray">
          <a:xfrm>
            <a:off x="7123109" y="3401588"/>
            <a:ext cx="1655548" cy="523220"/>
          </a:xfrm>
          <a:prstGeom prst="rect">
            <a:avLst/>
          </a:prstGeom>
          <a:noFill/>
          <a:ln>
            <a:noFill/>
          </a:ln>
        </p:spPr>
        <p:txBody>
          <a:bodyPr wrap="square" rtlCol="0">
            <a:spAutoFit/>
          </a:bodyPr>
          <a:lstStyle/>
          <a:p>
            <a:r>
              <a:rPr lang="zh-CN" altLang="en-US" sz="1400" b="1" dirty="0" smtClean="0">
                <a:solidFill>
                  <a:srgbClr val="ED6D00"/>
                </a:solidFill>
                <a:sym typeface="Huawei Sans" panose="020C0503030203020204" pitchFamily="34" charset="0"/>
              </a:rPr>
              <a:t>干扰合法路由器的路由表</a:t>
            </a:r>
            <a:endParaRPr lang="en-US" altLang="zh-CN" sz="1400" b="1" dirty="0">
              <a:solidFill>
                <a:srgbClr val="ED6D00"/>
              </a:solidFill>
              <a:sym typeface="Huawei Sans" panose="020C0503030203020204" pitchFamily="34" charset="0"/>
            </a:endParaRPr>
          </a:p>
        </p:txBody>
      </p:sp>
      <p:sp>
        <p:nvSpPr>
          <p:cNvPr id="40" name="TextBox 120">
            <a:extLst>
              <a:ext uri="{FF2B5EF4-FFF2-40B4-BE49-F238E27FC236}">
                <a16:creationId xmlns:a16="http://schemas.microsoft.com/office/drawing/2014/main" xmlns="" id="{020D7A1D-EFAD-4C8C-B9DE-D0FAD269B77A}"/>
              </a:ext>
            </a:extLst>
          </p:cNvPr>
          <p:cNvSpPr txBox="1"/>
          <p:nvPr/>
        </p:nvSpPr>
        <p:spPr bwMode="gray">
          <a:xfrm>
            <a:off x="5382149" y="3673006"/>
            <a:ext cx="1438623" cy="307777"/>
          </a:xfrm>
          <a:prstGeom prst="rect">
            <a:avLst/>
          </a:prstGeom>
          <a:noFill/>
          <a:ln>
            <a:noFill/>
          </a:ln>
        </p:spPr>
        <p:txBody>
          <a:bodyPr wrap="square" rtlCol="0">
            <a:spAutoFit/>
          </a:bodyPr>
          <a:lstStyle/>
          <a:p>
            <a:pPr algn="ctr"/>
            <a:r>
              <a:rPr lang="en-US" altLang="zh-CN" sz="1400" b="1" dirty="0" smtClean="0">
                <a:solidFill>
                  <a:srgbClr val="62B230"/>
                </a:solidFill>
                <a:sym typeface="Huawei Sans" panose="020C0503030203020204" pitchFamily="34" charset="0"/>
              </a:rPr>
              <a:t>CPU</a:t>
            </a:r>
            <a:r>
              <a:rPr lang="zh-CN" altLang="en-US" sz="1400" b="1" dirty="0" smtClean="0">
                <a:solidFill>
                  <a:srgbClr val="62B230"/>
                </a:solidFill>
                <a:sym typeface="Huawei Sans" panose="020C0503030203020204" pitchFamily="34" charset="0"/>
              </a:rPr>
              <a:t>利用率上升</a:t>
            </a:r>
            <a:endParaRPr lang="en-US" altLang="zh-CN" sz="1400" b="1" dirty="0">
              <a:solidFill>
                <a:srgbClr val="62B230"/>
              </a:solidFill>
              <a:sym typeface="Huawei Sans" panose="020C0503030203020204" pitchFamily="34" charset="0"/>
            </a:endParaRPr>
          </a:p>
        </p:txBody>
      </p:sp>
      <p:sp>
        <p:nvSpPr>
          <p:cNvPr id="42" name="文本占位符 2"/>
          <p:cNvSpPr txBox="1">
            <a:spLocks/>
          </p:cNvSpPr>
          <p:nvPr/>
        </p:nvSpPr>
        <p:spPr bwMode="auto">
          <a:xfrm>
            <a:off x="468317" y="5289539"/>
            <a:ext cx="11276183" cy="909332"/>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altLang="zh-CN" sz="2000" dirty="0" smtClean="0"/>
              <a:t>BGP</a:t>
            </a:r>
            <a:r>
              <a:rPr lang="zh-CN" altLang="en-US" sz="2000" dirty="0" smtClean="0"/>
              <a:t>使用认证和</a:t>
            </a:r>
            <a:r>
              <a:rPr lang="en-US" altLang="zh-CN" sz="2000" dirty="0" smtClean="0"/>
              <a:t>GTSM</a:t>
            </a:r>
            <a:r>
              <a:rPr lang="zh-CN" altLang="en-US" sz="2000" dirty="0" smtClean="0"/>
              <a:t>（</a:t>
            </a:r>
            <a:r>
              <a:rPr lang="en-US" altLang="zh-CN" sz="2000" dirty="0" smtClean="0"/>
              <a:t>Generalized TTL Security Mechanism</a:t>
            </a:r>
            <a:r>
              <a:rPr lang="zh-CN" altLang="en-US" sz="2000" dirty="0" smtClean="0"/>
              <a:t>，通用</a:t>
            </a:r>
            <a:r>
              <a:rPr lang="en-US" altLang="zh-CN" sz="2000" dirty="0" smtClean="0"/>
              <a:t>TTL</a:t>
            </a:r>
            <a:r>
              <a:rPr lang="zh-CN" altLang="en-US" sz="2000" dirty="0" smtClean="0"/>
              <a:t>安全保护机制）两个方法保证</a:t>
            </a:r>
            <a:r>
              <a:rPr lang="en-US" altLang="zh-CN" sz="2000" dirty="0" smtClean="0"/>
              <a:t>BGP</a:t>
            </a:r>
            <a:r>
              <a:rPr lang="zh-CN" altLang="en-US" sz="2000" dirty="0" smtClean="0"/>
              <a:t>对等体间的交互安全。</a:t>
            </a:r>
            <a:endParaRPr lang="zh-CN" altLang="en-US" sz="2000" dirty="0"/>
          </a:p>
        </p:txBody>
      </p:sp>
      <p:pic>
        <p:nvPicPr>
          <p:cNvPr id="41" name="Picture 12" descr="E:\2016.01\1.12 扁平化图标\蓝色\AR-蓝色最新-40.png">
            <a:extLst>
              <a:ext uri="{FF2B5EF4-FFF2-40B4-BE49-F238E27FC236}">
                <a16:creationId xmlns:a16="http://schemas.microsoft.com/office/drawing/2014/main" xmlns="" id="{1D8E071F-501D-48FF-8ED1-076998A80BB3}"/>
              </a:ext>
            </a:extLst>
          </p:cNvPr>
          <p:cNvPicPr>
            <a:picLocks noChangeAspect="1" noChangeArrowheads="1"/>
          </p:cNvPicPr>
          <p:nvPr/>
        </p:nvPicPr>
        <p:blipFill>
          <a:blip r:embed="rId3" cstate="print"/>
          <a:srcRect/>
          <a:stretch>
            <a:fillRect/>
          </a:stretch>
        </p:blipFill>
        <p:spPr bwMode="gray">
          <a:xfrm>
            <a:off x="4980293" y="4181537"/>
            <a:ext cx="527556" cy="431636"/>
          </a:xfrm>
          <a:prstGeom prst="rect">
            <a:avLst/>
          </a:prstGeom>
          <a:noFill/>
        </p:spPr>
      </p:pic>
      <p:cxnSp>
        <p:nvCxnSpPr>
          <p:cNvPr id="43" name="直接连接符 10">
            <a:extLst>
              <a:ext uri="{FF2B5EF4-FFF2-40B4-BE49-F238E27FC236}">
                <a16:creationId xmlns:a16="http://schemas.microsoft.com/office/drawing/2014/main" xmlns="" id="{94275FFE-3BE6-4C12-8737-FDFE3456C4A2}"/>
              </a:ext>
            </a:extLst>
          </p:cNvPr>
          <p:cNvCxnSpPr>
            <a:stCxn id="14" idx="3"/>
            <a:endCxn id="41" idx="1"/>
          </p:cNvCxnSpPr>
          <p:nvPr/>
        </p:nvCxnSpPr>
        <p:spPr bwMode="gray">
          <a:xfrm>
            <a:off x="2706047" y="4397355"/>
            <a:ext cx="2274246" cy="0"/>
          </a:xfrm>
          <a:prstGeom prst="line">
            <a:avLst/>
          </a:prstGeom>
          <a:noFill/>
          <a:ln w="19050" cap="flat" cmpd="sng" algn="ctr">
            <a:solidFill>
              <a:schemeClr val="tx1"/>
            </a:solidFill>
            <a:prstDash val="solid"/>
          </a:ln>
          <a:effectLst/>
        </p:spPr>
      </p:cxnSp>
      <p:sp>
        <p:nvSpPr>
          <p:cNvPr id="44" name="TextBox 120">
            <a:extLst>
              <a:ext uri="{FF2B5EF4-FFF2-40B4-BE49-F238E27FC236}">
                <a16:creationId xmlns:a16="http://schemas.microsoft.com/office/drawing/2014/main" xmlns="" id="{020D7A1D-EFAD-4C8C-B9DE-D0FAD269B77A}"/>
              </a:ext>
            </a:extLst>
          </p:cNvPr>
          <p:cNvSpPr txBox="1"/>
          <p:nvPr/>
        </p:nvSpPr>
        <p:spPr bwMode="gray">
          <a:xfrm>
            <a:off x="4986310" y="4624465"/>
            <a:ext cx="539591" cy="307777"/>
          </a:xfrm>
          <a:prstGeom prst="rect">
            <a:avLst/>
          </a:prstGeom>
          <a:noFill/>
          <a:ln>
            <a:noFill/>
          </a:ln>
        </p:spPr>
        <p:txBody>
          <a:bodyPr wrap="square" rtlCol="0">
            <a:spAutoFit/>
          </a:bodyPr>
          <a:lstStyle/>
          <a:p>
            <a:pPr algn="ctr"/>
            <a:r>
              <a:rPr lang="en-US" altLang="zh-CN" sz="1400" dirty="0" smtClean="0">
                <a:sym typeface="Huawei Sans" panose="020C0503030203020204" pitchFamily="34" charset="0"/>
              </a:rPr>
              <a:t>R3</a:t>
            </a:r>
            <a:endParaRPr lang="en-US" altLang="zh-CN" sz="1400" dirty="0">
              <a:sym typeface="Huawei Sans" panose="020C0503030203020204" pitchFamily="34" charset="0"/>
            </a:endParaRPr>
          </a:p>
        </p:txBody>
      </p:sp>
      <p:sp>
        <p:nvSpPr>
          <p:cNvPr id="48" name="五边形 47"/>
          <p:cNvSpPr/>
          <p:nvPr/>
        </p:nvSpPr>
        <p:spPr bwMode="gray">
          <a:xfrm>
            <a:off x="8421350" y="99742"/>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ORF</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48"/>
          <p:cNvSpPr/>
          <p:nvPr/>
        </p:nvSpPr>
        <p:spPr bwMode="gray">
          <a:xfrm>
            <a:off x="9061791" y="99742"/>
            <a:ext cx="93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对等体组</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燕尾形 49"/>
          <p:cNvSpPr/>
          <p:nvPr/>
        </p:nvSpPr>
        <p:spPr bwMode="gray">
          <a:xfrm>
            <a:off x="9918233" y="99742"/>
            <a:ext cx="936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安全特性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燕尾形 50"/>
          <p:cNvSpPr/>
          <p:nvPr/>
        </p:nvSpPr>
        <p:spPr bwMode="gray">
          <a:xfrm>
            <a:off x="10774674" y="99742"/>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字节</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AS</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号</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29605409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t>BGP</a:t>
            </a:r>
            <a:r>
              <a:rPr lang="zh-CN" altLang="en-US" smtClean="0"/>
              <a:t>认证</a:t>
            </a:r>
            <a:endParaRPr lang="zh-CN" altLang="en-US" dirty="0"/>
          </a:p>
        </p:txBody>
      </p:sp>
      <p:sp>
        <p:nvSpPr>
          <p:cNvPr id="3" name="文本占位符 2"/>
          <p:cNvSpPr>
            <a:spLocks noGrp="1"/>
          </p:cNvSpPr>
          <p:nvPr>
            <p:ph type="body" sz="quarter" idx="10"/>
          </p:nvPr>
        </p:nvSpPr>
        <p:spPr bwMode="gray">
          <a:xfrm>
            <a:off x="455612" y="1047751"/>
            <a:ext cx="11293475" cy="485992"/>
          </a:xfrm>
        </p:spPr>
        <p:txBody>
          <a:bodyPr/>
          <a:lstStyle/>
          <a:p>
            <a:r>
              <a:rPr lang="en-US" altLang="zh-CN" sz="2000" smtClean="0"/>
              <a:t>BGP</a:t>
            </a:r>
            <a:r>
              <a:rPr lang="zh-CN" altLang="en-US" sz="2000" dirty="0" smtClean="0"/>
              <a:t>认证分为</a:t>
            </a:r>
            <a:r>
              <a:rPr lang="en-US" altLang="zh-CN" sz="2000" dirty="0" smtClean="0"/>
              <a:t>MD5</a:t>
            </a:r>
            <a:r>
              <a:rPr lang="zh-CN" altLang="en-US" sz="2000" dirty="0" smtClean="0"/>
              <a:t>认证和</a:t>
            </a:r>
            <a:r>
              <a:rPr lang="en-US" altLang="zh-CN" sz="2000" dirty="0" smtClean="0"/>
              <a:t>Keychain</a:t>
            </a:r>
            <a:r>
              <a:rPr lang="zh-CN" altLang="en-US" sz="2000" dirty="0" smtClean="0"/>
              <a:t>认证，对</a:t>
            </a:r>
            <a:r>
              <a:rPr lang="en-US" altLang="zh-CN" sz="2000" dirty="0" smtClean="0"/>
              <a:t>BGP</a:t>
            </a:r>
            <a:r>
              <a:rPr lang="zh-CN" altLang="en-US" sz="2000" dirty="0" smtClean="0"/>
              <a:t>对等体关系进行认证可以预防非法</a:t>
            </a:r>
            <a:r>
              <a:rPr lang="en-US" altLang="zh-CN" sz="2000" dirty="0" smtClean="0"/>
              <a:t>BGP</a:t>
            </a:r>
            <a:r>
              <a:rPr lang="zh-CN" altLang="en-US" sz="2000" dirty="0" smtClean="0"/>
              <a:t>邻居建立。</a:t>
            </a:r>
            <a:endParaRPr lang="zh-CN" altLang="en-US" sz="2000" dirty="0"/>
          </a:p>
        </p:txBody>
      </p:sp>
      <p:sp>
        <p:nvSpPr>
          <p:cNvPr id="7" name="圆角矩形 75"/>
          <p:cNvSpPr/>
          <p:nvPr/>
        </p:nvSpPr>
        <p:spPr bwMode="gray">
          <a:xfrm>
            <a:off x="459703" y="1908472"/>
            <a:ext cx="5611207" cy="421724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a:lnSpc>
                <a:spcPts val="2600"/>
              </a:lnSpc>
              <a:spcAft>
                <a:spcPts val="600"/>
              </a:spcAft>
              <a:buFont typeface="Arial" panose="020B0604020202020204" pitchFamily="34" charset="0"/>
              <a:buChar char="•"/>
            </a:pPr>
            <a:endParaRPr lang="en-US" altLang="zh-CN" sz="1400" dirty="0" smtClean="0">
              <a:solidFill>
                <a:schemeClr val="tx1"/>
              </a:solidFill>
            </a:endParaRPr>
          </a:p>
        </p:txBody>
      </p:sp>
      <p:sp>
        <p:nvSpPr>
          <p:cNvPr id="8" name="圆角矩形 75"/>
          <p:cNvSpPr/>
          <p:nvPr/>
        </p:nvSpPr>
        <p:spPr bwMode="gray">
          <a:xfrm>
            <a:off x="447846" y="1544596"/>
            <a:ext cx="5625806" cy="322786"/>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MD5</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认证</a:t>
            </a:r>
          </a:p>
        </p:txBody>
      </p:sp>
      <p:pic>
        <p:nvPicPr>
          <p:cNvPr id="9" name="Picture 12" descr="E:\2016.01\1.12 扁平化图标\蓝色\AR-蓝色最新-40.png">
            <a:extLst>
              <a:ext uri="{FF2B5EF4-FFF2-40B4-BE49-F238E27FC236}">
                <a16:creationId xmlns:a16="http://schemas.microsoft.com/office/drawing/2014/main" xmlns="" id="{1D8E071F-501D-48FF-8ED1-076998A80BB3}"/>
              </a:ext>
            </a:extLst>
          </p:cNvPr>
          <p:cNvPicPr>
            <a:picLocks noChangeAspect="1" noChangeArrowheads="1"/>
          </p:cNvPicPr>
          <p:nvPr/>
        </p:nvPicPr>
        <p:blipFill>
          <a:blip r:embed="rId3" cstate="print"/>
          <a:srcRect/>
          <a:stretch>
            <a:fillRect/>
          </a:stretch>
        </p:blipFill>
        <p:spPr bwMode="gray">
          <a:xfrm>
            <a:off x="1753124" y="2372525"/>
            <a:ext cx="527556" cy="431636"/>
          </a:xfrm>
          <a:prstGeom prst="rect">
            <a:avLst/>
          </a:prstGeom>
          <a:noFill/>
        </p:spPr>
      </p:pic>
      <p:sp>
        <p:nvSpPr>
          <p:cNvPr id="10" name="TextBox 120">
            <a:extLst>
              <a:ext uri="{FF2B5EF4-FFF2-40B4-BE49-F238E27FC236}">
                <a16:creationId xmlns:a16="http://schemas.microsoft.com/office/drawing/2014/main" xmlns="" id="{020D7A1D-EFAD-4C8C-B9DE-D0FAD269B77A}"/>
              </a:ext>
            </a:extLst>
          </p:cNvPr>
          <p:cNvSpPr txBox="1"/>
          <p:nvPr/>
        </p:nvSpPr>
        <p:spPr bwMode="gray">
          <a:xfrm>
            <a:off x="1315125" y="2064748"/>
            <a:ext cx="1403553" cy="307777"/>
          </a:xfrm>
          <a:prstGeom prst="rect">
            <a:avLst/>
          </a:prstGeom>
          <a:noFill/>
          <a:ln>
            <a:noFill/>
          </a:ln>
        </p:spPr>
        <p:txBody>
          <a:bodyPr wrap="square" rtlCol="0">
            <a:spAutoFit/>
          </a:bodyPr>
          <a:lstStyle/>
          <a:p>
            <a:pPr algn="ctr"/>
            <a:r>
              <a:rPr lang="en-US" altLang="zh-CN" sz="1400" dirty="0" smtClean="0">
                <a:sym typeface="Huawei Sans" panose="020C0503030203020204" pitchFamily="34" charset="0"/>
              </a:rPr>
              <a:t>R1</a:t>
            </a:r>
            <a:endParaRPr lang="en-US" altLang="zh-CN" sz="1400" dirty="0">
              <a:sym typeface="Huawei Sans" panose="020C0503030203020204" pitchFamily="34" charset="0"/>
            </a:endParaRPr>
          </a:p>
        </p:txBody>
      </p:sp>
      <p:cxnSp>
        <p:nvCxnSpPr>
          <p:cNvPr id="11" name="直接箭头连接符 16">
            <a:extLst>
              <a:ext uri="{FF2B5EF4-FFF2-40B4-BE49-F238E27FC236}">
                <a16:creationId xmlns:a16="http://schemas.microsoft.com/office/drawing/2014/main" xmlns="" id="{25FFCF9E-B77D-4002-8CAE-8C36C256A152}"/>
              </a:ext>
            </a:extLst>
          </p:cNvPr>
          <p:cNvCxnSpPr>
            <a:cxnSpLocks/>
            <a:stCxn id="12" idx="1"/>
            <a:endCxn id="9" idx="3"/>
          </p:cNvCxnSpPr>
          <p:nvPr/>
        </p:nvCxnSpPr>
        <p:spPr bwMode="gray">
          <a:xfrm flipH="1">
            <a:off x="2280680" y="2588343"/>
            <a:ext cx="2736958" cy="0"/>
          </a:xfrm>
          <a:prstGeom prst="straightConnector1">
            <a:avLst/>
          </a:prstGeom>
          <a:noFill/>
          <a:ln w="25400" cap="flat" cmpd="sng" algn="ctr">
            <a:solidFill>
              <a:schemeClr val="tx1"/>
            </a:solidFill>
            <a:prstDash val="solid"/>
            <a:headEnd type="arrow" w="med" len="med"/>
            <a:tailEnd type="arrow" w="med" len="med"/>
          </a:ln>
          <a:effectLst>
            <a:outerShdw blurRad="152400" dist="38100" dir="5400000" algn="t" rotWithShape="0">
              <a:prstClr val="black">
                <a:alpha val="12000"/>
              </a:prstClr>
            </a:outerShdw>
          </a:effectLst>
        </p:spPr>
      </p:cxnSp>
      <p:pic>
        <p:nvPicPr>
          <p:cNvPr id="12" name="Picture 12" descr="E:\2016.01\1.12 扁平化图标\蓝色\AR-蓝色最新-40.png">
            <a:extLst>
              <a:ext uri="{FF2B5EF4-FFF2-40B4-BE49-F238E27FC236}">
                <a16:creationId xmlns:a16="http://schemas.microsoft.com/office/drawing/2014/main" xmlns="" id="{1D8E071F-501D-48FF-8ED1-076998A80BB3}"/>
              </a:ext>
            </a:extLst>
          </p:cNvPr>
          <p:cNvPicPr>
            <a:picLocks noChangeAspect="1" noChangeArrowheads="1"/>
          </p:cNvPicPr>
          <p:nvPr/>
        </p:nvPicPr>
        <p:blipFill>
          <a:blip r:embed="rId3" cstate="print"/>
          <a:srcRect/>
          <a:stretch>
            <a:fillRect/>
          </a:stretch>
        </p:blipFill>
        <p:spPr bwMode="gray">
          <a:xfrm>
            <a:off x="5017638" y="2372525"/>
            <a:ext cx="527556" cy="431636"/>
          </a:xfrm>
          <a:prstGeom prst="rect">
            <a:avLst/>
          </a:prstGeom>
          <a:noFill/>
        </p:spPr>
      </p:pic>
      <p:cxnSp>
        <p:nvCxnSpPr>
          <p:cNvPr id="13" name="Straight Connector 34"/>
          <p:cNvCxnSpPr>
            <a:stCxn id="9" idx="2"/>
          </p:cNvCxnSpPr>
          <p:nvPr/>
        </p:nvCxnSpPr>
        <p:spPr bwMode="gray">
          <a:xfrm>
            <a:off x="2016902" y="2804161"/>
            <a:ext cx="0" cy="2023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37"/>
          <p:cNvCxnSpPr>
            <a:stCxn id="12" idx="2"/>
          </p:cNvCxnSpPr>
          <p:nvPr/>
        </p:nvCxnSpPr>
        <p:spPr bwMode="gray">
          <a:xfrm flipH="1">
            <a:off x="5273809" y="2804161"/>
            <a:ext cx="0" cy="2023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20">
            <a:extLst>
              <a:ext uri="{FF2B5EF4-FFF2-40B4-BE49-F238E27FC236}">
                <a16:creationId xmlns:a16="http://schemas.microsoft.com/office/drawing/2014/main" xmlns="" id="{020D7A1D-EFAD-4C8C-B9DE-D0FAD269B77A}"/>
              </a:ext>
            </a:extLst>
          </p:cNvPr>
          <p:cNvSpPr txBox="1"/>
          <p:nvPr/>
        </p:nvSpPr>
        <p:spPr bwMode="gray">
          <a:xfrm>
            <a:off x="4579639" y="2084760"/>
            <a:ext cx="1403553" cy="307777"/>
          </a:xfrm>
          <a:prstGeom prst="rect">
            <a:avLst/>
          </a:prstGeom>
          <a:noFill/>
          <a:ln>
            <a:noFill/>
          </a:ln>
        </p:spPr>
        <p:txBody>
          <a:bodyPr wrap="square" rtlCol="0">
            <a:spAutoFit/>
          </a:bodyPr>
          <a:lstStyle/>
          <a:p>
            <a:pPr algn="ctr"/>
            <a:r>
              <a:rPr lang="en-US" altLang="zh-CN" sz="1400" dirty="0" smtClean="0">
                <a:sym typeface="Huawei Sans" panose="020C0503030203020204" pitchFamily="34" charset="0"/>
              </a:rPr>
              <a:t>R2</a:t>
            </a:r>
            <a:endParaRPr lang="en-US" altLang="zh-CN" sz="1400" dirty="0">
              <a:sym typeface="Huawei Sans" panose="020C0503030203020204" pitchFamily="34" charset="0"/>
            </a:endParaRPr>
          </a:p>
        </p:txBody>
      </p:sp>
      <p:cxnSp>
        <p:nvCxnSpPr>
          <p:cNvPr id="16" name="Straight Connector 40"/>
          <p:cNvCxnSpPr/>
          <p:nvPr/>
        </p:nvCxnSpPr>
        <p:spPr bwMode="gray">
          <a:xfrm flipV="1">
            <a:off x="2257310" y="3063862"/>
            <a:ext cx="2783697" cy="0"/>
          </a:xfrm>
          <a:prstGeom prst="line">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43"/>
          <p:cNvCxnSpPr/>
          <p:nvPr/>
        </p:nvCxnSpPr>
        <p:spPr bwMode="gray">
          <a:xfrm flipV="1">
            <a:off x="2257310" y="3423902"/>
            <a:ext cx="2783697" cy="0"/>
          </a:xfrm>
          <a:prstGeom prst="line">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Connector 44"/>
          <p:cNvCxnSpPr/>
          <p:nvPr/>
        </p:nvCxnSpPr>
        <p:spPr bwMode="gray">
          <a:xfrm flipV="1">
            <a:off x="2257310" y="3816109"/>
            <a:ext cx="2783697" cy="0"/>
          </a:xfrm>
          <a:prstGeom prst="line">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45"/>
          <p:cNvCxnSpPr/>
          <p:nvPr/>
        </p:nvCxnSpPr>
        <p:spPr bwMode="gray">
          <a:xfrm flipV="1">
            <a:off x="2257310" y="4179986"/>
            <a:ext cx="2783697" cy="0"/>
          </a:xfrm>
          <a:prstGeom prst="line">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TextBox 120">
            <a:extLst>
              <a:ext uri="{FF2B5EF4-FFF2-40B4-BE49-F238E27FC236}">
                <a16:creationId xmlns:a16="http://schemas.microsoft.com/office/drawing/2014/main" xmlns="" id="{020D7A1D-EFAD-4C8C-B9DE-D0FAD269B77A}"/>
              </a:ext>
            </a:extLst>
          </p:cNvPr>
          <p:cNvSpPr txBox="1"/>
          <p:nvPr/>
        </p:nvSpPr>
        <p:spPr bwMode="gray">
          <a:xfrm>
            <a:off x="2797478" y="2749031"/>
            <a:ext cx="1695755" cy="307777"/>
          </a:xfrm>
          <a:prstGeom prst="rect">
            <a:avLst/>
          </a:prstGeom>
          <a:noFill/>
          <a:ln>
            <a:noFill/>
          </a:ln>
        </p:spPr>
        <p:txBody>
          <a:bodyPr wrap="square" rtlCol="0">
            <a:spAutoFit/>
          </a:bodyPr>
          <a:lstStyle/>
          <a:p>
            <a:pPr algn="ctr"/>
            <a:r>
              <a:rPr lang="en-US" altLang="zh-CN" sz="1400" dirty="0">
                <a:sym typeface="Huawei Sans" panose="020C0503030203020204" pitchFamily="34" charset="0"/>
              </a:rPr>
              <a:t>TCP</a:t>
            </a:r>
            <a:r>
              <a:rPr lang="zh-CN" altLang="en-US" sz="1400" dirty="0">
                <a:sym typeface="Huawei Sans" panose="020C0503030203020204" pitchFamily="34" charset="0"/>
              </a:rPr>
              <a:t>三次握手报文</a:t>
            </a:r>
            <a:endParaRPr lang="en-US" altLang="zh-CN" sz="1400" dirty="0">
              <a:sym typeface="Huawei Sans" panose="020C0503030203020204" pitchFamily="34" charset="0"/>
            </a:endParaRPr>
          </a:p>
        </p:txBody>
      </p:sp>
      <p:sp>
        <p:nvSpPr>
          <p:cNvPr id="21" name="TextBox 120">
            <a:extLst>
              <a:ext uri="{FF2B5EF4-FFF2-40B4-BE49-F238E27FC236}">
                <a16:creationId xmlns:a16="http://schemas.microsoft.com/office/drawing/2014/main" xmlns="" id="{020D7A1D-EFAD-4C8C-B9DE-D0FAD269B77A}"/>
              </a:ext>
            </a:extLst>
          </p:cNvPr>
          <p:cNvSpPr txBox="1"/>
          <p:nvPr/>
        </p:nvSpPr>
        <p:spPr bwMode="gray">
          <a:xfrm>
            <a:off x="3034838" y="3097380"/>
            <a:ext cx="1036171" cy="307777"/>
          </a:xfrm>
          <a:prstGeom prst="rect">
            <a:avLst/>
          </a:prstGeom>
          <a:noFill/>
          <a:ln>
            <a:noFill/>
          </a:ln>
        </p:spPr>
        <p:txBody>
          <a:bodyPr wrap="square" rtlCol="0">
            <a:spAutoFit/>
          </a:bodyPr>
          <a:lstStyle/>
          <a:p>
            <a:pPr algn="ctr"/>
            <a:r>
              <a:rPr lang="en-US" altLang="zh-CN" sz="1400" dirty="0">
                <a:sym typeface="Huawei Sans" panose="020C0503030203020204" pitchFamily="34" charset="0"/>
              </a:rPr>
              <a:t>Open</a:t>
            </a:r>
            <a:r>
              <a:rPr lang="zh-CN" altLang="en-US" sz="1400" dirty="0">
                <a:sym typeface="Huawei Sans" panose="020C0503030203020204" pitchFamily="34" charset="0"/>
              </a:rPr>
              <a:t>报文</a:t>
            </a:r>
            <a:endParaRPr lang="en-US" altLang="zh-CN" sz="1400" dirty="0">
              <a:sym typeface="Huawei Sans" panose="020C0503030203020204" pitchFamily="34" charset="0"/>
            </a:endParaRPr>
          </a:p>
        </p:txBody>
      </p:sp>
      <p:sp>
        <p:nvSpPr>
          <p:cNvPr id="22" name="TextBox 120">
            <a:extLst>
              <a:ext uri="{FF2B5EF4-FFF2-40B4-BE49-F238E27FC236}">
                <a16:creationId xmlns:a16="http://schemas.microsoft.com/office/drawing/2014/main" xmlns="" id="{020D7A1D-EFAD-4C8C-B9DE-D0FAD269B77A}"/>
              </a:ext>
            </a:extLst>
          </p:cNvPr>
          <p:cNvSpPr txBox="1"/>
          <p:nvPr/>
        </p:nvSpPr>
        <p:spPr bwMode="gray">
          <a:xfrm>
            <a:off x="2939674" y="3480283"/>
            <a:ext cx="1226498" cy="307777"/>
          </a:xfrm>
          <a:prstGeom prst="rect">
            <a:avLst/>
          </a:prstGeom>
          <a:noFill/>
          <a:ln>
            <a:noFill/>
          </a:ln>
        </p:spPr>
        <p:txBody>
          <a:bodyPr wrap="square" rtlCol="0">
            <a:spAutoFit/>
          </a:bodyPr>
          <a:lstStyle/>
          <a:p>
            <a:pPr algn="ctr"/>
            <a:r>
              <a:rPr lang="en-US" altLang="zh-CN" sz="1400" dirty="0">
                <a:sym typeface="Huawei Sans" panose="020C0503030203020204" pitchFamily="34" charset="0"/>
              </a:rPr>
              <a:t>Update</a:t>
            </a:r>
            <a:r>
              <a:rPr lang="zh-CN" altLang="en-US" sz="1400" dirty="0">
                <a:sym typeface="Huawei Sans" panose="020C0503030203020204" pitchFamily="34" charset="0"/>
              </a:rPr>
              <a:t>报文</a:t>
            </a:r>
            <a:endParaRPr lang="en-US" altLang="zh-CN" sz="1400" dirty="0">
              <a:sym typeface="Huawei Sans" panose="020C0503030203020204" pitchFamily="34" charset="0"/>
            </a:endParaRPr>
          </a:p>
        </p:txBody>
      </p:sp>
      <p:sp>
        <p:nvSpPr>
          <p:cNvPr id="23" name="TextBox 120">
            <a:extLst>
              <a:ext uri="{FF2B5EF4-FFF2-40B4-BE49-F238E27FC236}">
                <a16:creationId xmlns:a16="http://schemas.microsoft.com/office/drawing/2014/main" xmlns="" id="{020D7A1D-EFAD-4C8C-B9DE-D0FAD269B77A}"/>
              </a:ext>
            </a:extLst>
          </p:cNvPr>
          <p:cNvSpPr txBox="1"/>
          <p:nvPr/>
        </p:nvSpPr>
        <p:spPr bwMode="gray">
          <a:xfrm>
            <a:off x="2939673" y="3857200"/>
            <a:ext cx="1398031" cy="307777"/>
          </a:xfrm>
          <a:prstGeom prst="rect">
            <a:avLst/>
          </a:prstGeom>
          <a:noFill/>
          <a:ln>
            <a:noFill/>
          </a:ln>
        </p:spPr>
        <p:txBody>
          <a:bodyPr wrap="square" rtlCol="0">
            <a:spAutoFit/>
          </a:bodyPr>
          <a:lstStyle/>
          <a:p>
            <a:pPr algn="ctr"/>
            <a:r>
              <a:rPr lang="en-US" altLang="zh-CN" sz="1400" dirty="0" err="1">
                <a:sym typeface="Huawei Sans" panose="020C0503030203020204" pitchFamily="34" charset="0"/>
              </a:rPr>
              <a:t>Keepalive</a:t>
            </a:r>
            <a:r>
              <a:rPr lang="zh-CN" altLang="en-US" sz="1400" dirty="0">
                <a:sym typeface="Huawei Sans" panose="020C0503030203020204" pitchFamily="34" charset="0"/>
              </a:rPr>
              <a:t>报文</a:t>
            </a:r>
            <a:endParaRPr lang="en-US" altLang="zh-CN" sz="1400" dirty="0">
              <a:sym typeface="Huawei Sans" panose="020C0503030203020204" pitchFamily="34" charset="0"/>
            </a:endParaRPr>
          </a:p>
        </p:txBody>
      </p:sp>
      <p:cxnSp>
        <p:nvCxnSpPr>
          <p:cNvPr id="24" name="Straight Connector 50"/>
          <p:cNvCxnSpPr/>
          <p:nvPr/>
        </p:nvCxnSpPr>
        <p:spPr bwMode="gray">
          <a:xfrm flipV="1">
            <a:off x="2257310" y="4548765"/>
            <a:ext cx="2783697" cy="0"/>
          </a:xfrm>
          <a:prstGeom prst="line">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5" name="TextBox 120">
            <a:extLst>
              <a:ext uri="{FF2B5EF4-FFF2-40B4-BE49-F238E27FC236}">
                <a16:creationId xmlns:a16="http://schemas.microsoft.com/office/drawing/2014/main" xmlns="" id="{020D7A1D-EFAD-4C8C-B9DE-D0FAD269B77A}"/>
              </a:ext>
            </a:extLst>
          </p:cNvPr>
          <p:cNvSpPr txBox="1"/>
          <p:nvPr/>
        </p:nvSpPr>
        <p:spPr bwMode="gray">
          <a:xfrm>
            <a:off x="2743410" y="4229641"/>
            <a:ext cx="1619026" cy="307777"/>
          </a:xfrm>
          <a:prstGeom prst="rect">
            <a:avLst/>
          </a:prstGeom>
          <a:noFill/>
          <a:ln>
            <a:noFill/>
          </a:ln>
        </p:spPr>
        <p:txBody>
          <a:bodyPr wrap="square" rtlCol="0">
            <a:spAutoFit/>
          </a:bodyPr>
          <a:lstStyle/>
          <a:p>
            <a:pPr algn="ctr"/>
            <a:r>
              <a:rPr lang="en-US" altLang="zh-CN" sz="1400" dirty="0">
                <a:sym typeface="Huawei Sans" panose="020C0503030203020204" pitchFamily="34" charset="0"/>
              </a:rPr>
              <a:t>Notification</a:t>
            </a:r>
            <a:r>
              <a:rPr lang="zh-CN" altLang="en-US" sz="1400" dirty="0">
                <a:sym typeface="Huawei Sans" panose="020C0503030203020204" pitchFamily="34" charset="0"/>
              </a:rPr>
              <a:t>报文</a:t>
            </a:r>
            <a:endParaRPr lang="en-US" altLang="zh-CN" sz="1400" dirty="0">
              <a:sym typeface="Huawei Sans" panose="020C0503030203020204" pitchFamily="34" charset="0"/>
            </a:endParaRPr>
          </a:p>
        </p:txBody>
      </p:sp>
      <p:sp>
        <p:nvSpPr>
          <p:cNvPr id="26" name="Left Brace 52"/>
          <p:cNvSpPr/>
          <p:nvPr/>
        </p:nvSpPr>
        <p:spPr bwMode="gray">
          <a:xfrm>
            <a:off x="1702383" y="2986449"/>
            <a:ext cx="289355" cy="1551363"/>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TextBox 120">
            <a:extLst>
              <a:ext uri="{FF2B5EF4-FFF2-40B4-BE49-F238E27FC236}">
                <a16:creationId xmlns:a16="http://schemas.microsoft.com/office/drawing/2014/main" xmlns="" id="{020D7A1D-EFAD-4C8C-B9DE-D0FAD269B77A}"/>
              </a:ext>
            </a:extLst>
          </p:cNvPr>
          <p:cNvSpPr txBox="1"/>
          <p:nvPr/>
        </p:nvSpPr>
        <p:spPr bwMode="gray">
          <a:xfrm>
            <a:off x="499924" y="3392798"/>
            <a:ext cx="1236712" cy="738664"/>
          </a:xfrm>
          <a:prstGeom prst="rect">
            <a:avLst/>
          </a:prstGeom>
          <a:noFill/>
          <a:ln>
            <a:noFill/>
          </a:ln>
        </p:spPr>
        <p:txBody>
          <a:bodyPr wrap="square" rtlCol="0">
            <a:spAutoFit/>
          </a:bodyPr>
          <a:lstStyle/>
          <a:p>
            <a:pPr fontAlgn="auto"/>
            <a:r>
              <a:rPr lang="zh-CN" altLang="en-US" sz="1400" dirty="0" smtClean="0">
                <a:sym typeface="Huawei Sans" panose="020C0503030203020204" pitchFamily="34" charset="0"/>
              </a:rPr>
              <a:t>使用</a:t>
            </a:r>
            <a:r>
              <a:rPr lang="en-US" altLang="zh-CN" sz="1400" dirty="0">
                <a:sym typeface="Huawei Sans" panose="020C0503030203020204" pitchFamily="34" charset="0"/>
              </a:rPr>
              <a:t>TCP</a:t>
            </a:r>
            <a:r>
              <a:rPr lang="zh-CN" altLang="en-US" sz="1400" dirty="0">
                <a:sym typeface="Huawei Sans" panose="020C0503030203020204" pitchFamily="34" charset="0"/>
              </a:rPr>
              <a:t>报文的</a:t>
            </a:r>
            <a:r>
              <a:rPr lang="en-US" altLang="zh-CN" sz="1400" dirty="0">
                <a:sym typeface="Huawei Sans" panose="020C0503030203020204" pitchFamily="34" charset="0"/>
              </a:rPr>
              <a:t>MD5</a:t>
            </a:r>
            <a:r>
              <a:rPr lang="zh-CN" altLang="en-US" sz="1400" dirty="0">
                <a:sym typeface="Huawei Sans" panose="020C0503030203020204" pitchFamily="34" charset="0"/>
              </a:rPr>
              <a:t>字段进行认证。</a:t>
            </a:r>
            <a:endParaRPr lang="en-US" altLang="zh-CN" sz="1400" dirty="0">
              <a:sym typeface="Huawei Sans" panose="020C0503030203020204" pitchFamily="34" charset="0"/>
            </a:endParaRPr>
          </a:p>
        </p:txBody>
      </p:sp>
      <p:sp>
        <p:nvSpPr>
          <p:cNvPr id="28" name="圆角矩形 75"/>
          <p:cNvSpPr/>
          <p:nvPr/>
        </p:nvSpPr>
        <p:spPr bwMode="gray">
          <a:xfrm>
            <a:off x="6130552" y="1908472"/>
            <a:ext cx="5611207" cy="421724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r>
              <a:rPr lang="en-US" altLang="zh-CN" sz="1400" dirty="0">
                <a:solidFill>
                  <a:schemeClr val="tx1"/>
                </a:solidFill>
              </a:rPr>
              <a:t>Keychain</a:t>
            </a:r>
            <a:r>
              <a:rPr lang="zh-CN" altLang="en-US" sz="1400" dirty="0">
                <a:solidFill>
                  <a:schemeClr val="tx1"/>
                </a:solidFill>
              </a:rPr>
              <a:t>是一系列</a:t>
            </a:r>
            <a:r>
              <a:rPr lang="en-US" altLang="zh-CN" sz="1400" dirty="0">
                <a:solidFill>
                  <a:schemeClr val="tx1"/>
                </a:solidFill>
              </a:rPr>
              <a:t>key-id</a:t>
            </a:r>
            <a:r>
              <a:rPr lang="zh-CN" altLang="en-US" sz="1400" dirty="0">
                <a:solidFill>
                  <a:schemeClr val="tx1"/>
                </a:solidFill>
              </a:rPr>
              <a:t>的集合，</a:t>
            </a:r>
            <a:r>
              <a:rPr lang="en-US" altLang="zh-CN" sz="1400" dirty="0" smtClean="0">
                <a:solidFill>
                  <a:schemeClr val="tx1"/>
                </a:solidFill>
              </a:rPr>
              <a:t>key-id</a:t>
            </a:r>
            <a:r>
              <a:rPr lang="zh-CN" altLang="en-US" sz="1400" dirty="0" smtClean="0">
                <a:solidFill>
                  <a:schemeClr val="tx1"/>
                </a:solidFill>
              </a:rPr>
              <a:t>唯一</a:t>
            </a:r>
            <a:r>
              <a:rPr lang="zh-CN" altLang="en-US" sz="1400" dirty="0">
                <a:solidFill>
                  <a:schemeClr val="tx1"/>
                </a:solidFill>
              </a:rPr>
              <a:t>标识认证</a:t>
            </a:r>
            <a:r>
              <a:rPr lang="zh-CN" altLang="en-US" sz="1400" dirty="0" smtClean="0">
                <a:solidFill>
                  <a:schemeClr val="tx1"/>
                </a:solidFill>
              </a:rPr>
              <a:t>信息，认证</a:t>
            </a:r>
            <a:r>
              <a:rPr lang="zh-CN" altLang="en-US" sz="1400" dirty="0">
                <a:solidFill>
                  <a:schemeClr val="tx1"/>
                </a:solidFill>
              </a:rPr>
              <a:t>信息包括认证密码和认证算法</a:t>
            </a:r>
            <a:r>
              <a:rPr lang="zh-CN" altLang="en-US" sz="1400" dirty="0" smtClean="0">
                <a:solidFill>
                  <a:schemeClr val="tx1"/>
                </a:solidFill>
              </a:rPr>
              <a:t>。</a:t>
            </a:r>
            <a:endParaRPr lang="en-US" altLang="zh-CN" sz="1400" dirty="0">
              <a:solidFill>
                <a:schemeClr val="tx1"/>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schemeClr val="tx1"/>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schemeClr val="tx1"/>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schemeClr val="tx1"/>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schemeClr val="tx1"/>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schemeClr val="tx1"/>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smtClean="0">
              <a:solidFill>
                <a:schemeClr val="tx1"/>
              </a:solidFill>
            </a:endParaRPr>
          </a:p>
          <a:p>
            <a:pPr marL="177800" indent="-177800" algn="just" fontAlgn="auto">
              <a:lnSpc>
                <a:spcPts val="2600"/>
              </a:lnSpc>
              <a:spcBef>
                <a:spcPts val="0"/>
              </a:spcBef>
              <a:spcAft>
                <a:spcPts val="600"/>
              </a:spcAft>
              <a:buFont typeface="Arial" panose="020B0604020202020204" pitchFamily="34" charset="0"/>
              <a:buChar char="•"/>
            </a:pPr>
            <a:r>
              <a:rPr lang="en-US" altLang="zh-CN" sz="1400" dirty="0" smtClean="0">
                <a:solidFill>
                  <a:schemeClr val="tx1"/>
                </a:solidFill>
              </a:rPr>
              <a:t>BGP</a:t>
            </a:r>
            <a:r>
              <a:rPr lang="zh-CN" altLang="en-US" sz="1400" dirty="0">
                <a:solidFill>
                  <a:schemeClr val="tx1"/>
                </a:solidFill>
              </a:rPr>
              <a:t>对等体两端必须都配置针对使用</a:t>
            </a:r>
            <a:r>
              <a:rPr lang="en-US" altLang="zh-CN" sz="1400" dirty="0">
                <a:solidFill>
                  <a:schemeClr val="tx1"/>
                </a:solidFill>
              </a:rPr>
              <a:t>TCP</a:t>
            </a:r>
            <a:r>
              <a:rPr lang="zh-CN" altLang="en-US" sz="1400" dirty="0">
                <a:solidFill>
                  <a:schemeClr val="tx1"/>
                </a:solidFill>
              </a:rPr>
              <a:t>连接的应用程序的</a:t>
            </a:r>
            <a:r>
              <a:rPr lang="en-US" altLang="zh-CN" sz="1400" dirty="0">
                <a:solidFill>
                  <a:schemeClr val="tx1"/>
                </a:solidFill>
              </a:rPr>
              <a:t>Keychain</a:t>
            </a:r>
            <a:r>
              <a:rPr lang="zh-CN" altLang="en-US" sz="1400" dirty="0">
                <a:solidFill>
                  <a:schemeClr val="tx1"/>
                </a:solidFill>
              </a:rPr>
              <a:t>认证，且配置的</a:t>
            </a:r>
            <a:r>
              <a:rPr lang="en-US" altLang="zh-CN" sz="1400" dirty="0">
                <a:solidFill>
                  <a:schemeClr val="tx1"/>
                </a:solidFill>
              </a:rPr>
              <a:t>Keychain</a:t>
            </a:r>
            <a:r>
              <a:rPr lang="zh-CN" altLang="en-US" sz="1400" dirty="0">
                <a:solidFill>
                  <a:schemeClr val="tx1"/>
                </a:solidFill>
              </a:rPr>
              <a:t>必须使用相同的加密算法和密码，才能正常建立</a:t>
            </a:r>
            <a:r>
              <a:rPr lang="en-US" altLang="zh-CN" sz="1400" dirty="0">
                <a:solidFill>
                  <a:schemeClr val="tx1"/>
                </a:solidFill>
              </a:rPr>
              <a:t>TCP</a:t>
            </a:r>
            <a:r>
              <a:rPr lang="zh-CN" altLang="en-US" sz="1400" dirty="0">
                <a:solidFill>
                  <a:schemeClr val="tx1"/>
                </a:solidFill>
              </a:rPr>
              <a:t>连接，交互</a:t>
            </a:r>
            <a:r>
              <a:rPr lang="en-US" altLang="zh-CN" sz="1400" dirty="0">
                <a:solidFill>
                  <a:schemeClr val="tx1"/>
                </a:solidFill>
              </a:rPr>
              <a:t>BGP</a:t>
            </a:r>
            <a:r>
              <a:rPr lang="zh-CN" altLang="en-US" sz="1400" dirty="0" smtClean="0">
                <a:solidFill>
                  <a:schemeClr val="tx1"/>
                </a:solidFill>
              </a:rPr>
              <a:t>消息。</a:t>
            </a:r>
            <a:endParaRPr lang="en-US" altLang="zh-CN" sz="1400" dirty="0">
              <a:solidFill>
                <a:schemeClr val="tx1"/>
              </a:solidFill>
            </a:endParaRPr>
          </a:p>
        </p:txBody>
      </p:sp>
      <p:sp>
        <p:nvSpPr>
          <p:cNvPr id="29" name="圆角矩形 75"/>
          <p:cNvSpPr/>
          <p:nvPr/>
        </p:nvSpPr>
        <p:spPr bwMode="gray">
          <a:xfrm>
            <a:off x="6118695" y="1544596"/>
            <a:ext cx="5625806" cy="322786"/>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Keychain</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认证</a:t>
            </a:r>
          </a:p>
        </p:txBody>
      </p:sp>
      <p:pic>
        <p:nvPicPr>
          <p:cNvPr id="30" name="Picture 12" descr="E:\2016.01\1.12 扁平化图标\蓝色\AR-蓝色最新-40.png">
            <a:extLst>
              <a:ext uri="{FF2B5EF4-FFF2-40B4-BE49-F238E27FC236}">
                <a16:creationId xmlns:a16="http://schemas.microsoft.com/office/drawing/2014/main" xmlns="" id="{1D8E071F-501D-48FF-8ED1-076998A80BB3}"/>
              </a:ext>
            </a:extLst>
          </p:cNvPr>
          <p:cNvPicPr>
            <a:picLocks noChangeAspect="1" noChangeArrowheads="1"/>
          </p:cNvPicPr>
          <p:nvPr/>
        </p:nvPicPr>
        <p:blipFill>
          <a:blip r:embed="rId3" cstate="print"/>
          <a:srcRect/>
          <a:stretch>
            <a:fillRect/>
          </a:stretch>
        </p:blipFill>
        <p:spPr bwMode="gray">
          <a:xfrm>
            <a:off x="7427577" y="2915863"/>
            <a:ext cx="527556" cy="431636"/>
          </a:xfrm>
          <a:prstGeom prst="rect">
            <a:avLst/>
          </a:prstGeom>
          <a:noFill/>
        </p:spPr>
      </p:pic>
      <p:sp>
        <p:nvSpPr>
          <p:cNvPr id="31" name="TextBox 120">
            <a:extLst>
              <a:ext uri="{FF2B5EF4-FFF2-40B4-BE49-F238E27FC236}">
                <a16:creationId xmlns:a16="http://schemas.microsoft.com/office/drawing/2014/main" xmlns="" id="{020D7A1D-EFAD-4C8C-B9DE-D0FAD269B77A}"/>
              </a:ext>
            </a:extLst>
          </p:cNvPr>
          <p:cNvSpPr txBox="1"/>
          <p:nvPr/>
        </p:nvSpPr>
        <p:spPr bwMode="gray">
          <a:xfrm>
            <a:off x="6989578" y="2608086"/>
            <a:ext cx="1403553" cy="307777"/>
          </a:xfrm>
          <a:prstGeom prst="rect">
            <a:avLst/>
          </a:prstGeom>
          <a:noFill/>
          <a:ln>
            <a:noFill/>
          </a:ln>
        </p:spPr>
        <p:txBody>
          <a:bodyPr wrap="square" rtlCol="0">
            <a:spAutoFit/>
          </a:bodyPr>
          <a:lstStyle/>
          <a:p>
            <a:pPr algn="ctr"/>
            <a:r>
              <a:rPr lang="en-US" altLang="zh-CN" sz="1400" dirty="0" smtClean="0">
                <a:sym typeface="Huawei Sans" panose="020C0503030203020204" pitchFamily="34" charset="0"/>
              </a:rPr>
              <a:t>R1</a:t>
            </a:r>
            <a:endParaRPr lang="en-US" altLang="zh-CN" sz="1400" dirty="0">
              <a:sym typeface="Huawei Sans" panose="020C0503030203020204" pitchFamily="34" charset="0"/>
            </a:endParaRPr>
          </a:p>
        </p:txBody>
      </p:sp>
      <p:cxnSp>
        <p:nvCxnSpPr>
          <p:cNvPr id="32" name="直接箭头连接符 16">
            <a:extLst>
              <a:ext uri="{FF2B5EF4-FFF2-40B4-BE49-F238E27FC236}">
                <a16:creationId xmlns:a16="http://schemas.microsoft.com/office/drawing/2014/main" xmlns="" id="{25FFCF9E-B77D-4002-8CAE-8C36C256A152}"/>
              </a:ext>
            </a:extLst>
          </p:cNvPr>
          <p:cNvCxnSpPr>
            <a:cxnSpLocks/>
            <a:stCxn id="33" idx="1"/>
            <a:endCxn id="30" idx="3"/>
          </p:cNvCxnSpPr>
          <p:nvPr/>
        </p:nvCxnSpPr>
        <p:spPr bwMode="gray">
          <a:xfrm flipH="1">
            <a:off x="7955133" y="3131681"/>
            <a:ext cx="2391097" cy="0"/>
          </a:xfrm>
          <a:prstGeom prst="straightConnector1">
            <a:avLst/>
          </a:prstGeom>
          <a:noFill/>
          <a:ln w="25400" cap="flat" cmpd="sng" algn="ctr">
            <a:solidFill>
              <a:schemeClr val="tx1"/>
            </a:solidFill>
            <a:prstDash val="solid"/>
            <a:headEnd type="arrow" w="med" len="med"/>
            <a:tailEnd type="arrow" w="med" len="med"/>
          </a:ln>
          <a:effectLst>
            <a:outerShdw blurRad="152400" dist="38100" dir="5400000" algn="t" rotWithShape="0">
              <a:prstClr val="black">
                <a:alpha val="12000"/>
              </a:prstClr>
            </a:outerShdw>
          </a:effectLst>
        </p:spPr>
      </p:cxnSp>
      <p:pic>
        <p:nvPicPr>
          <p:cNvPr id="33" name="Picture 12" descr="E:\2016.01\1.12 扁平化图标\蓝色\AR-蓝色最新-40.png">
            <a:extLst>
              <a:ext uri="{FF2B5EF4-FFF2-40B4-BE49-F238E27FC236}">
                <a16:creationId xmlns:a16="http://schemas.microsoft.com/office/drawing/2014/main" xmlns="" id="{1D8E071F-501D-48FF-8ED1-076998A80BB3}"/>
              </a:ext>
            </a:extLst>
          </p:cNvPr>
          <p:cNvPicPr>
            <a:picLocks noChangeAspect="1" noChangeArrowheads="1"/>
          </p:cNvPicPr>
          <p:nvPr/>
        </p:nvPicPr>
        <p:blipFill>
          <a:blip r:embed="rId3" cstate="print"/>
          <a:srcRect/>
          <a:stretch>
            <a:fillRect/>
          </a:stretch>
        </p:blipFill>
        <p:spPr bwMode="gray">
          <a:xfrm>
            <a:off x="10346230" y="2915863"/>
            <a:ext cx="527556" cy="431636"/>
          </a:xfrm>
          <a:prstGeom prst="rect">
            <a:avLst/>
          </a:prstGeom>
          <a:noFill/>
        </p:spPr>
      </p:pic>
      <p:cxnSp>
        <p:nvCxnSpPr>
          <p:cNvPr id="34" name="Straight Connector 60"/>
          <p:cNvCxnSpPr>
            <a:stCxn id="30" idx="2"/>
          </p:cNvCxnSpPr>
          <p:nvPr/>
        </p:nvCxnSpPr>
        <p:spPr bwMode="gray">
          <a:xfrm>
            <a:off x="7691355" y="3347499"/>
            <a:ext cx="0" cy="15856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61"/>
          <p:cNvCxnSpPr>
            <a:stCxn id="33" idx="2"/>
          </p:cNvCxnSpPr>
          <p:nvPr/>
        </p:nvCxnSpPr>
        <p:spPr bwMode="gray">
          <a:xfrm flipH="1">
            <a:off x="10602401" y="3347499"/>
            <a:ext cx="0" cy="15856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TextBox 120">
            <a:extLst>
              <a:ext uri="{FF2B5EF4-FFF2-40B4-BE49-F238E27FC236}">
                <a16:creationId xmlns:a16="http://schemas.microsoft.com/office/drawing/2014/main" xmlns="" id="{020D7A1D-EFAD-4C8C-B9DE-D0FAD269B77A}"/>
              </a:ext>
            </a:extLst>
          </p:cNvPr>
          <p:cNvSpPr txBox="1"/>
          <p:nvPr/>
        </p:nvSpPr>
        <p:spPr bwMode="gray">
          <a:xfrm>
            <a:off x="10278965" y="2607268"/>
            <a:ext cx="646872" cy="307777"/>
          </a:xfrm>
          <a:prstGeom prst="rect">
            <a:avLst/>
          </a:prstGeom>
          <a:noFill/>
          <a:ln>
            <a:noFill/>
          </a:ln>
        </p:spPr>
        <p:txBody>
          <a:bodyPr wrap="square" rtlCol="0">
            <a:spAutoFit/>
          </a:bodyPr>
          <a:lstStyle/>
          <a:p>
            <a:pPr algn="ctr"/>
            <a:r>
              <a:rPr lang="en-US" altLang="zh-CN" sz="1400" dirty="0" smtClean="0">
                <a:sym typeface="Huawei Sans" panose="020C0503030203020204" pitchFamily="34" charset="0"/>
              </a:rPr>
              <a:t>R2</a:t>
            </a:r>
            <a:endParaRPr lang="en-US" altLang="zh-CN" sz="1400" dirty="0">
              <a:sym typeface="Huawei Sans" panose="020C0503030203020204" pitchFamily="34" charset="0"/>
            </a:endParaRPr>
          </a:p>
        </p:txBody>
      </p:sp>
      <p:sp>
        <p:nvSpPr>
          <p:cNvPr id="37" name="TextBox 120">
            <a:extLst>
              <a:ext uri="{FF2B5EF4-FFF2-40B4-BE49-F238E27FC236}">
                <a16:creationId xmlns:a16="http://schemas.microsoft.com/office/drawing/2014/main" xmlns="" id="{020D7A1D-EFAD-4C8C-B9DE-D0FAD269B77A}"/>
              </a:ext>
            </a:extLst>
          </p:cNvPr>
          <p:cNvSpPr txBox="1"/>
          <p:nvPr/>
        </p:nvSpPr>
        <p:spPr bwMode="gray">
          <a:xfrm>
            <a:off x="6160163" y="3324560"/>
            <a:ext cx="1523586" cy="1384995"/>
          </a:xfrm>
          <a:prstGeom prst="rect">
            <a:avLst/>
          </a:prstGeom>
          <a:noFill/>
          <a:ln>
            <a:noFill/>
          </a:ln>
        </p:spPr>
        <p:txBody>
          <a:bodyPr wrap="square" rtlCol="0">
            <a:spAutoFit/>
          </a:bodyPr>
          <a:lstStyle/>
          <a:p>
            <a:pPr fontAlgn="auto"/>
            <a:r>
              <a:rPr lang="zh-CN" altLang="en-US" sz="1200" dirty="0" smtClean="0">
                <a:sym typeface="Huawei Sans" panose="020C0503030203020204" pitchFamily="34" charset="0"/>
              </a:rPr>
              <a:t>当</a:t>
            </a:r>
            <a:r>
              <a:rPr lang="zh-CN" altLang="en-US" sz="1200" dirty="0">
                <a:sym typeface="Huawei Sans" panose="020C0503030203020204" pitchFamily="34" charset="0"/>
              </a:rPr>
              <a:t>应用程序发送</a:t>
            </a:r>
            <a:r>
              <a:rPr lang="zh-CN" altLang="en-US" sz="1200" dirty="0" smtClean="0">
                <a:sym typeface="Huawei Sans" panose="020C0503030203020204" pitchFamily="34" charset="0"/>
              </a:rPr>
              <a:t>报文时，</a:t>
            </a:r>
            <a:r>
              <a:rPr lang="zh-CN" altLang="en-US" sz="1200" dirty="0">
                <a:sym typeface="Huawei Sans" panose="020C0503030203020204" pitchFamily="34" charset="0"/>
              </a:rPr>
              <a:t>使用</a:t>
            </a:r>
            <a:r>
              <a:rPr lang="en-US" altLang="zh-CN" sz="1200" dirty="0">
                <a:sym typeface="Huawei Sans" panose="020C0503030203020204" pitchFamily="34" charset="0"/>
              </a:rPr>
              <a:t>key-id</a:t>
            </a:r>
            <a:r>
              <a:rPr lang="zh-CN" altLang="en-US" sz="1200" dirty="0">
                <a:sym typeface="Huawei Sans" panose="020C0503030203020204" pitchFamily="34" charset="0"/>
              </a:rPr>
              <a:t>携带的认证信息</a:t>
            </a:r>
            <a:r>
              <a:rPr lang="zh-CN" altLang="en-US" sz="1200" dirty="0" smtClean="0">
                <a:sym typeface="Huawei Sans" panose="020C0503030203020204" pitchFamily="34" charset="0"/>
              </a:rPr>
              <a:t>生成</a:t>
            </a:r>
            <a:r>
              <a:rPr lang="zh-CN" altLang="en-US" sz="1200" dirty="0">
                <a:sym typeface="Huawei Sans" panose="020C0503030203020204" pitchFamily="34" charset="0"/>
              </a:rPr>
              <a:t>信息认证码</a:t>
            </a:r>
            <a:r>
              <a:rPr lang="en-US" altLang="zh-CN" sz="1200" dirty="0">
                <a:sym typeface="Huawei Sans" panose="020C0503030203020204" pitchFamily="34" charset="0"/>
              </a:rPr>
              <a:t>MAC</a:t>
            </a:r>
            <a:r>
              <a:rPr lang="zh-CN" altLang="en-US" sz="1200" dirty="0">
                <a:sym typeface="Huawei Sans" panose="020C0503030203020204" pitchFamily="34" charset="0"/>
              </a:rPr>
              <a:t>（</a:t>
            </a:r>
            <a:r>
              <a:rPr lang="en-US" altLang="zh-CN" sz="1200" dirty="0">
                <a:sym typeface="Huawei Sans" panose="020C0503030203020204" pitchFamily="34" charset="0"/>
              </a:rPr>
              <a:t>Message Authentication Code</a:t>
            </a:r>
            <a:r>
              <a:rPr lang="zh-CN" altLang="en-US" sz="1200" dirty="0" smtClean="0">
                <a:sym typeface="Huawei Sans" panose="020C0503030203020204" pitchFamily="34" charset="0"/>
              </a:rPr>
              <a:t>）。</a:t>
            </a:r>
            <a:endParaRPr lang="en-US" altLang="zh-CN" sz="1200" dirty="0">
              <a:sym typeface="Huawei Sans" panose="020C0503030203020204" pitchFamily="34" charset="0"/>
            </a:endParaRPr>
          </a:p>
        </p:txBody>
      </p:sp>
      <p:sp>
        <p:nvSpPr>
          <p:cNvPr id="38" name="TextBox 120">
            <a:extLst>
              <a:ext uri="{FF2B5EF4-FFF2-40B4-BE49-F238E27FC236}">
                <a16:creationId xmlns:a16="http://schemas.microsoft.com/office/drawing/2014/main" xmlns="" id="{020D7A1D-EFAD-4C8C-B9DE-D0FAD269B77A}"/>
              </a:ext>
            </a:extLst>
          </p:cNvPr>
          <p:cNvSpPr txBox="1"/>
          <p:nvPr/>
        </p:nvSpPr>
        <p:spPr bwMode="gray">
          <a:xfrm>
            <a:off x="7786674" y="3529022"/>
            <a:ext cx="2665810" cy="523220"/>
          </a:xfrm>
          <a:prstGeom prst="rect">
            <a:avLst/>
          </a:prstGeom>
          <a:noFill/>
          <a:ln>
            <a:noFill/>
          </a:ln>
        </p:spPr>
        <p:txBody>
          <a:bodyPr wrap="square" rtlCol="0">
            <a:spAutoFit/>
          </a:bodyPr>
          <a:lstStyle/>
          <a:p>
            <a:pPr algn="ctr"/>
            <a:r>
              <a:rPr lang="zh-CN" altLang="en-US" sz="1400" dirty="0" smtClean="0">
                <a:sym typeface="Huawei Sans" panose="020C0503030203020204" pitchFamily="34" charset="0"/>
              </a:rPr>
              <a:t>将</a:t>
            </a:r>
            <a:r>
              <a:rPr lang="zh-CN" altLang="en-US" sz="1400" dirty="0">
                <a:sym typeface="Huawei Sans" panose="020C0503030203020204" pitchFamily="34" charset="0"/>
              </a:rPr>
              <a:t>获取的</a:t>
            </a:r>
            <a:r>
              <a:rPr lang="en-US" altLang="zh-CN" sz="1400" dirty="0" smtClean="0">
                <a:sym typeface="Huawei Sans" panose="020C0503030203020204" pitchFamily="34" charset="0"/>
              </a:rPr>
              <a:t>MAC</a:t>
            </a:r>
            <a:r>
              <a:rPr lang="zh-CN" altLang="en-US" sz="1400" dirty="0" smtClean="0">
                <a:sym typeface="Huawei Sans" panose="020C0503030203020204" pitchFamily="34" charset="0"/>
              </a:rPr>
              <a:t>信息</a:t>
            </a:r>
            <a:endParaRPr lang="en-US" altLang="zh-CN" sz="1400" dirty="0" smtClean="0">
              <a:sym typeface="Huawei Sans" panose="020C0503030203020204" pitchFamily="34" charset="0"/>
            </a:endParaRPr>
          </a:p>
          <a:p>
            <a:pPr algn="ctr"/>
            <a:r>
              <a:rPr lang="zh-CN" altLang="en-US" sz="1400" dirty="0" smtClean="0">
                <a:sym typeface="Huawei Sans" panose="020C0503030203020204" pitchFamily="34" charset="0"/>
              </a:rPr>
              <a:t>填充</a:t>
            </a:r>
            <a:r>
              <a:rPr lang="zh-CN" altLang="en-US" sz="1400" dirty="0">
                <a:sym typeface="Huawei Sans" panose="020C0503030203020204" pitchFamily="34" charset="0"/>
              </a:rPr>
              <a:t>到</a:t>
            </a:r>
            <a:r>
              <a:rPr lang="en-US" altLang="zh-CN" sz="1400" dirty="0">
                <a:sym typeface="Huawei Sans" panose="020C0503030203020204" pitchFamily="34" charset="0"/>
              </a:rPr>
              <a:t>TCP</a:t>
            </a:r>
            <a:r>
              <a:rPr lang="zh-CN" altLang="en-US" sz="1400" dirty="0">
                <a:sym typeface="Huawei Sans" panose="020C0503030203020204" pitchFamily="34" charset="0"/>
              </a:rPr>
              <a:t>增强认证</a:t>
            </a:r>
            <a:r>
              <a:rPr lang="zh-CN" altLang="en-US" sz="1400" dirty="0" smtClean="0">
                <a:sym typeface="Huawei Sans" panose="020C0503030203020204" pitchFamily="34" charset="0"/>
              </a:rPr>
              <a:t>选项中</a:t>
            </a:r>
            <a:endParaRPr lang="en-US" altLang="zh-CN" sz="1400" dirty="0">
              <a:sym typeface="Huawei Sans" panose="020C0503030203020204" pitchFamily="34" charset="0"/>
            </a:endParaRPr>
          </a:p>
        </p:txBody>
      </p:sp>
      <p:cxnSp>
        <p:nvCxnSpPr>
          <p:cNvPr id="39" name="Straight Connector 79"/>
          <p:cNvCxnSpPr/>
          <p:nvPr/>
        </p:nvCxnSpPr>
        <p:spPr bwMode="gray">
          <a:xfrm>
            <a:off x="7946999" y="4032094"/>
            <a:ext cx="2431316" cy="0"/>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0" name="TextBox 120">
            <a:extLst>
              <a:ext uri="{FF2B5EF4-FFF2-40B4-BE49-F238E27FC236}">
                <a16:creationId xmlns:a16="http://schemas.microsoft.com/office/drawing/2014/main" xmlns="" id="{020D7A1D-EFAD-4C8C-B9DE-D0FAD269B77A}"/>
              </a:ext>
            </a:extLst>
          </p:cNvPr>
          <p:cNvSpPr txBox="1"/>
          <p:nvPr/>
        </p:nvSpPr>
        <p:spPr bwMode="gray">
          <a:xfrm>
            <a:off x="10616051" y="3986049"/>
            <a:ext cx="1125708" cy="1015663"/>
          </a:xfrm>
          <a:prstGeom prst="rect">
            <a:avLst/>
          </a:prstGeom>
          <a:noFill/>
          <a:ln>
            <a:noFill/>
          </a:ln>
        </p:spPr>
        <p:txBody>
          <a:bodyPr wrap="square" rtlCol="0">
            <a:spAutoFit/>
          </a:bodyPr>
          <a:lstStyle/>
          <a:p>
            <a:r>
              <a:rPr lang="zh-CN" altLang="en-US" sz="1200" dirty="0" smtClean="0">
                <a:sym typeface="Huawei Sans" panose="020C0503030203020204" pitchFamily="34" charset="0"/>
              </a:rPr>
              <a:t>当应用程序接收报文时，使用</a:t>
            </a:r>
            <a:r>
              <a:rPr lang="en-US" altLang="zh-CN" sz="1200" dirty="0" smtClean="0">
                <a:sym typeface="Huawei Sans" panose="020C0503030203020204" pitchFamily="34" charset="0"/>
              </a:rPr>
              <a:t>key-id</a:t>
            </a:r>
            <a:r>
              <a:rPr lang="zh-CN" altLang="en-US" sz="1200" dirty="0" smtClean="0">
                <a:sym typeface="Huawei Sans" panose="020C0503030203020204" pitchFamily="34" charset="0"/>
              </a:rPr>
              <a:t>携带的认证信息验证</a:t>
            </a:r>
            <a:r>
              <a:rPr lang="en-US" altLang="zh-CN" sz="1200" dirty="0" smtClean="0">
                <a:sym typeface="Huawei Sans" panose="020C0503030203020204" pitchFamily="34" charset="0"/>
              </a:rPr>
              <a:t>MAC</a:t>
            </a:r>
            <a:r>
              <a:rPr lang="zh-CN" altLang="en-US" sz="1200" dirty="0" smtClean="0">
                <a:sym typeface="Huawei Sans" panose="020C0503030203020204" pitchFamily="34" charset="0"/>
              </a:rPr>
              <a:t>。</a:t>
            </a:r>
            <a:endParaRPr lang="en-US" altLang="zh-CN" sz="1200" dirty="0">
              <a:sym typeface="Huawei Sans" panose="020C0503030203020204" pitchFamily="34" charset="0"/>
            </a:endParaRPr>
          </a:p>
        </p:txBody>
      </p:sp>
      <p:cxnSp>
        <p:nvCxnSpPr>
          <p:cNvPr id="41" name="Straight Connector 82"/>
          <p:cNvCxnSpPr/>
          <p:nvPr/>
        </p:nvCxnSpPr>
        <p:spPr bwMode="gray">
          <a:xfrm>
            <a:off x="7955133" y="4564731"/>
            <a:ext cx="2431316" cy="0"/>
          </a:xfrm>
          <a:prstGeom prst="line">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2" name="TextBox 120">
            <a:extLst>
              <a:ext uri="{FF2B5EF4-FFF2-40B4-BE49-F238E27FC236}">
                <a16:creationId xmlns:a16="http://schemas.microsoft.com/office/drawing/2014/main" xmlns="" id="{020D7A1D-EFAD-4C8C-B9DE-D0FAD269B77A}"/>
              </a:ext>
            </a:extLst>
          </p:cNvPr>
          <p:cNvSpPr txBox="1"/>
          <p:nvPr/>
        </p:nvSpPr>
        <p:spPr bwMode="gray">
          <a:xfrm>
            <a:off x="7837886" y="4233682"/>
            <a:ext cx="2665810" cy="307777"/>
          </a:xfrm>
          <a:prstGeom prst="rect">
            <a:avLst/>
          </a:prstGeom>
          <a:noFill/>
          <a:ln>
            <a:noFill/>
          </a:ln>
        </p:spPr>
        <p:txBody>
          <a:bodyPr wrap="square" rtlCol="0">
            <a:spAutoFit/>
          </a:bodyPr>
          <a:lstStyle/>
          <a:p>
            <a:pPr algn="ctr"/>
            <a:r>
              <a:rPr lang="zh-CN" altLang="en-US" sz="1400" dirty="0">
                <a:sym typeface="Huawei Sans" panose="020C0503030203020204" pitchFamily="34" charset="0"/>
              </a:rPr>
              <a:t>返回</a:t>
            </a:r>
            <a:r>
              <a:rPr lang="zh-CN" altLang="en-US" sz="1400" dirty="0" smtClean="0">
                <a:sym typeface="Huawei Sans" panose="020C0503030203020204" pitchFamily="34" charset="0"/>
              </a:rPr>
              <a:t>结果（认证</a:t>
            </a:r>
            <a:r>
              <a:rPr lang="zh-CN" altLang="en-US" sz="1400" dirty="0">
                <a:sym typeface="Huawei Sans" panose="020C0503030203020204" pitchFamily="34" charset="0"/>
              </a:rPr>
              <a:t>成功</a:t>
            </a:r>
            <a:r>
              <a:rPr lang="en-US" altLang="zh-CN" sz="1400" dirty="0">
                <a:sym typeface="Huawei Sans" panose="020C0503030203020204" pitchFamily="34" charset="0"/>
              </a:rPr>
              <a:t>/</a:t>
            </a:r>
            <a:r>
              <a:rPr lang="zh-CN" altLang="en-US" sz="1400" dirty="0">
                <a:sym typeface="Huawei Sans" panose="020C0503030203020204" pitchFamily="34" charset="0"/>
              </a:rPr>
              <a:t>认证</a:t>
            </a:r>
            <a:r>
              <a:rPr lang="zh-CN" altLang="en-US" sz="1400" dirty="0" smtClean="0">
                <a:sym typeface="Huawei Sans" panose="020C0503030203020204" pitchFamily="34" charset="0"/>
              </a:rPr>
              <a:t>失败）</a:t>
            </a:r>
            <a:endParaRPr lang="en-US" altLang="zh-CN" sz="1400" dirty="0">
              <a:sym typeface="Huawei Sans" panose="020C0503030203020204" pitchFamily="34" charset="0"/>
            </a:endParaRPr>
          </a:p>
        </p:txBody>
      </p:sp>
      <p:sp>
        <p:nvSpPr>
          <p:cNvPr id="43" name="TextBox 120">
            <a:extLst>
              <a:ext uri="{FF2B5EF4-FFF2-40B4-BE49-F238E27FC236}">
                <a16:creationId xmlns:a16="http://schemas.microsoft.com/office/drawing/2014/main" xmlns="" id="{020D7A1D-EFAD-4C8C-B9DE-D0FAD269B77A}"/>
              </a:ext>
            </a:extLst>
          </p:cNvPr>
          <p:cNvSpPr txBox="1"/>
          <p:nvPr/>
        </p:nvSpPr>
        <p:spPr bwMode="gray">
          <a:xfrm>
            <a:off x="2851146" y="2272503"/>
            <a:ext cx="1403553" cy="307777"/>
          </a:xfrm>
          <a:prstGeom prst="rect">
            <a:avLst/>
          </a:prstGeom>
          <a:noFill/>
          <a:ln>
            <a:noFill/>
          </a:ln>
        </p:spPr>
        <p:txBody>
          <a:bodyPr wrap="square" rtlCol="0">
            <a:spAutoFit/>
          </a:bodyPr>
          <a:lstStyle/>
          <a:p>
            <a:pPr algn="ctr"/>
            <a:r>
              <a:rPr lang="en-US" altLang="zh-CN" sz="1400" dirty="0" smtClean="0">
                <a:sym typeface="Huawei Sans" panose="020C0503030203020204" pitchFamily="34" charset="0"/>
              </a:rPr>
              <a:t>BGP</a:t>
            </a:r>
            <a:r>
              <a:rPr lang="zh-CN" altLang="en-US" sz="1400" dirty="0" smtClean="0">
                <a:sym typeface="Huawei Sans" panose="020C0503030203020204" pitchFamily="34" charset="0"/>
              </a:rPr>
              <a:t>邻居</a:t>
            </a:r>
            <a:endParaRPr lang="en-US" altLang="zh-CN" sz="1400" dirty="0">
              <a:sym typeface="Huawei Sans" panose="020C0503030203020204" pitchFamily="34" charset="0"/>
            </a:endParaRPr>
          </a:p>
        </p:txBody>
      </p:sp>
      <p:sp>
        <p:nvSpPr>
          <p:cNvPr id="44" name="TextBox 120">
            <a:extLst>
              <a:ext uri="{FF2B5EF4-FFF2-40B4-BE49-F238E27FC236}">
                <a16:creationId xmlns:a16="http://schemas.microsoft.com/office/drawing/2014/main" xmlns="" id="{020D7A1D-EFAD-4C8C-B9DE-D0FAD269B77A}"/>
              </a:ext>
            </a:extLst>
          </p:cNvPr>
          <p:cNvSpPr txBox="1"/>
          <p:nvPr/>
        </p:nvSpPr>
        <p:spPr bwMode="gray">
          <a:xfrm>
            <a:off x="8469014" y="2832560"/>
            <a:ext cx="1403553" cy="307777"/>
          </a:xfrm>
          <a:prstGeom prst="rect">
            <a:avLst/>
          </a:prstGeom>
          <a:noFill/>
          <a:ln>
            <a:noFill/>
          </a:ln>
        </p:spPr>
        <p:txBody>
          <a:bodyPr wrap="square" rtlCol="0">
            <a:spAutoFit/>
          </a:bodyPr>
          <a:lstStyle/>
          <a:p>
            <a:pPr algn="ctr"/>
            <a:r>
              <a:rPr lang="en-US" altLang="zh-CN" sz="1400" dirty="0" smtClean="0">
                <a:sym typeface="Huawei Sans" panose="020C0503030203020204" pitchFamily="34" charset="0"/>
              </a:rPr>
              <a:t>BGP</a:t>
            </a:r>
            <a:r>
              <a:rPr lang="zh-CN" altLang="en-US" sz="1400" dirty="0" smtClean="0">
                <a:sym typeface="Huawei Sans" panose="020C0503030203020204" pitchFamily="34" charset="0"/>
              </a:rPr>
              <a:t>邻居</a:t>
            </a:r>
            <a:endParaRPr lang="en-US" altLang="zh-CN" sz="1400" dirty="0">
              <a:sym typeface="Huawei Sans" panose="020C0503030203020204" pitchFamily="34" charset="0"/>
            </a:endParaRPr>
          </a:p>
        </p:txBody>
      </p:sp>
      <p:sp>
        <p:nvSpPr>
          <p:cNvPr id="50" name="圆角矩形 75"/>
          <p:cNvSpPr/>
          <p:nvPr/>
        </p:nvSpPr>
        <p:spPr bwMode="gray">
          <a:xfrm>
            <a:off x="462445" y="5081209"/>
            <a:ext cx="5611207" cy="981037"/>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a:lnSpc>
                <a:spcPts val="2600"/>
              </a:lnSpc>
              <a:spcAft>
                <a:spcPts val="600"/>
              </a:spcAft>
              <a:buFont typeface="Arial" panose="020B0604020202020204" pitchFamily="34" charset="0"/>
              <a:buChar char="•"/>
            </a:pPr>
            <a:r>
              <a:rPr lang="en-US" altLang="zh-CN" sz="1400" dirty="0" smtClean="0">
                <a:solidFill>
                  <a:schemeClr val="tx1"/>
                </a:solidFill>
              </a:rPr>
              <a:t>BGP</a:t>
            </a:r>
            <a:r>
              <a:rPr lang="zh-CN" altLang="en-US" sz="1400" dirty="0">
                <a:solidFill>
                  <a:schemeClr val="tx1"/>
                </a:solidFill>
              </a:rPr>
              <a:t>使用</a:t>
            </a:r>
            <a:r>
              <a:rPr lang="en-US" altLang="zh-CN" sz="1400" dirty="0">
                <a:solidFill>
                  <a:schemeClr val="tx1"/>
                </a:solidFill>
              </a:rPr>
              <a:t>TCP</a:t>
            </a:r>
            <a:r>
              <a:rPr lang="zh-CN" altLang="en-US" sz="1400" dirty="0">
                <a:solidFill>
                  <a:schemeClr val="tx1"/>
                </a:solidFill>
              </a:rPr>
              <a:t>作为传输层协议，为提高</a:t>
            </a:r>
            <a:r>
              <a:rPr lang="en-US" altLang="zh-CN" sz="1400" dirty="0">
                <a:solidFill>
                  <a:schemeClr val="tx1"/>
                </a:solidFill>
              </a:rPr>
              <a:t>BGP</a:t>
            </a:r>
            <a:r>
              <a:rPr lang="zh-CN" altLang="en-US" sz="1400" dirty="0">
                <a:solidFill>
                  <a:schemeClr val="tx1"/>
                </a:solidFill>
              </a:rPr>
              <a:t>的安全性，可以在建立</a:t>
            </a:r>
            <a:r>
              <a:rPr lang="en-US" altLang="zh-CN" sz="1400" dirty="0">
                <a:solidFill>
                  <a:schemeClr val="tx1"/>
                </a:solidFill>
              </a:rPr>
              <a:t>TCP</a:t>
            </a:r>
            <a:r>
              <a:rPr lang="zh-CN" altLang="en-US" sz="1400" dirty="0">
                <a:solidFill>
                  <a:schemeClr val="tx1"/>
                </a:solidFill>
              </a:rPr>
              <a:t>连接时进行</a:t>
            </a:r>
            <a:r>
              <a:rPr lang="en-US" altLang="zh-CN" sz="1400" dirty="0">
                <a:solidFill>
                  <a:schemeClr val="tx1"/>
                </a:solidFill>
              </a:rPr>
              <a:t>MD5</a:t>
            </a:r>
            <a:r>
              <a:rPr lang="zh-CN" altLang="en-US" sz="1400" dirty="0">
                <a:solidFill>
                  <a:schemeClr val="tx1"/>
                </a:solidFill>
              </a:rPr>
              <a:t>认证。</a:t>
            </a:r>
            <a:r>
              <a:rPr lang="en-US" altLang="zh-CN" sz="1400" dirty="0">
                <a:solidFill>
                  <a:schemeClr val="tx1"/>
                </a:solidFill>
              </a:rPr>
              <a:t>BGP</a:t>
            </a:r>
            <a:r>
              <a:rPr lang="zh-CN" altLang="en-US" sz="1400" dirty="0">
                <a:solidFill>
                  <a:schemeClr val="tx1"/>
                </a:solidFill>
              </a:rPr>
              <a:t>的</a:t>
            </a:r>
            <a:r>
              <a:rPr lang="en-US" altLang="zh-CN" sz="1400" dirty="0">
                <a:solidFill>
                  <a:schemeClr val="tx1"/>
                </a:solidFill>
              </a:rPr>
              <a:t>MD5</a:t>
            </a:r>
            <a:r>
              <a:rPr lang="zh-CN" altLang="en-US" sz="1400" dirty="0">
                <a:solidFill>
                  <a:schemeClr val="tx1"/>
                </a:solidFill>
              </a:rPr>
              <a:t>认证只是为</a:t>
            </a:r>
            <a:r>
              <a:rPr lang="en-US" altLang="zh-CN" sz="1400" dirty="0">
                <a:solidFill>
                  <a:schemeClr val="tx1"/>
                </a:solidFill>
              </a:rPr>
              <a:t>TCP</a:t>
            </a:r>
            <a:r>
              <a:rPr lang="zh-CN" altLang="en-US" sz="1400" dirty="0">
                <a:solidFill>
                  <a:schemeClr val="tx1"/>
                </a:solidFill>
              </a:rPr>
              <a:t>连接设置</a:t>
            </a:r>
            <a:r>
              <a:rPr lang="en-US" altLang="zh-CN" sz="1400" dirty="0">
                <a:solidFill>
                  <a:schemeClr val="tx1"/>
                </a:solidFill>
              </a:rPr>
              <a:t>MD5</a:t>
            </a:r>
            <a:r>
              <a:rPr lang="zh-CN" altLang="en-US" sz="1400" dirty="0">
                <a:solidFill>
                  <a:schemeClr val="tx1"/>
                </a:solidFill>
              </a:rPr>
              <a:t>认证密码，由</a:t>
            </a:r>
            <a:r>
              <a:rPr lang="en-US" altLang="zh-CN" sz="1400" dirty="0">
                <a:solidFill>
                  <a:schemeClr val="tx1"/>
                </a:solidFill>
              </a:rPr>
              <a:t>TCP</a:t>
            </a:r>
            <a:r>
              <a:rPr lang="zh-CN" altLang="en-US" sz="1400" dirty="0">
                <a:solidFill>
                  <a:schemeClr val="tx1"/>
                </a:solidFill>
              </a:rPr>
              <a:t>完成认证。</a:t>
            </a:r>
            <a:endParaRPr lang="en-US" altLang="zh-CN" sz="1400" dirty="0">
              <a:solidFill>
                <a:schemeClr val="tx1"/>
              </a:solidFill>
            </a:endParaRPr>
          </a:p>
        </p:txBody>
      </p:sp>
      <p:sp>
        <p:nvSpPr>
          <p:cNvPr id="48" name="五边形 47"/>
          <p:cNvSpPr/>
          <p:nvPr/>
        </p:nvSpPr>
        <p:spPr bwMode="gray">
          <a:xfrm>
            <a:off x="8421350" y="99742"/>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ORF</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48"/>
          <p:cNvSpPr/>
          <p:nvPr/>
        </p:nvSpPr>
        <p:spPr bwMode="gray">
          <a:xfrm>
            <a:off x="9061791" y="99742"/>
            <a:ext cx="93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对等体组</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燕尾形 50"/>
          <p:cNvSpPr/>
          <p:nvPr/>
        </p:nvSpPr>
        <p:spPr bwMode="gray">
          <a:xfrm>
            <a:off x="9918233" y="99742"/>
            <a:ext cx="936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安全特性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燕尾形 51"/>
          <p:cNvSpPr/>
          <p:nvPr/>
        </p:nvSpPr>
        <p:spPr bwMode="gray">
          <a:xfrm>
            <a:off x="10774674" y="99742"/>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字节</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AS</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号</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99446334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任意多边形 25"/>
          <p:cNvSpPr/>
          <p:nvPr/>
        </p:nvSpPr>
        <p:spPr bwMode="gray">
          <a:xfrm>
            <a:off x="1002865" y="2658501"/>
            <a:ext cx="2908833" cy="2482850"/>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sp>
        <p:nvSpPr>
          <p:cNvPr id="2" name="标题 1"/>
          <p:cNvSpPr>
            <a:spLocks noGrp="1"/>
          </p:cNvSpPr>
          <p:nvPr>
            <p:ph type="title"/>
          </p:nvPr>
        </p:nvSpPr>
        <p:spPr/>
        <p:txBody>
          <a:bodyPr/>
          <a:lstStyle/>
          <a:p>
            <a:r>
              <a:rPr lang="en-US" altLang="zh-CN" smtClean="0"/>
              <a:t>BGP</a:t>
            </a:r>
            <a:r>
              <a:rPr lang="zh-CN" altLang="en-US" smtClean="0"/>
              <a:t>的</a:t>
            </a:r>
            <a:r>
              <a:rPr lang="en-US" altLang="zh-CN" smtClean="0"/>
              <a:t>GTSM</a:t>
            </a:r>
            <a:endParaRPr lang="zh-CN" altLang="en-US" dirty="0"/>
          </a:p>
        </p:txBody>
      </p:sp>
      <p:sp>
        <p:nvSpPr>
          <p:cNvPr id="3" name="文本占位符 2"/>
          <p:cNvSpPr>
            <a:spLocks noGrp="1"/>
          </p:cNvSpPr>
          <p:nvPr>
            <p:ph type="body" sz="quarter" idx="10"/>
          </p:nvPr>
        </p:nvSpPr>
        <p:spPr>
          <a:xfrm>
            <a:off x="455612" y="1047750"/>
            <a:ext cx="11293475" cy="1002223"/>
          </a:xfrm>
        </p:spPr>
        <p:txBody>
          <a:bodyPr/>
          <a:lstStyle/>
          <a:p>
            <a:r>
              <a:rPr lang="en-US" altLang="zh-CN" sz="2000" dirty="0" smtClean="0"/>
              <a:t>BGP</a:t>
            </a:r>
            <a:r>
              <a:rPr lang="zh-CN" altLang="en-US" sz="2000" dirty="0" smtClean="0"/>
              <a:t>的</a:t>
            </a:r>
            <a:r>
              <a:rPr lang="en-US" altLang="zh-CN" sz="2000" dirty="0" smtClean="0"/>
              <a:t>GTSM</a:t>
            </a:r>
            <a:r>
              <a:rPr lang="zh-CN" altLang="en-US" sz="2000" dirty="0" smtClean="0"/>
              <a:t>功能检测</a:t>
            </a:r>
            <a:r>
              <a:rPr lang="en-US" altLang="zh-CN" sz="2000" dirty="0" smtClean="0"/>
              <a:t>IP</a:t>
            </a:r>
            <a:r>
              <a:rPr lang="zh-CN" altLang="en-US" sz="2000" dirty="0" smtClean="0"/>
              <a:t>报文头中的</a:t>
            </a:r>
            <a:r>
              <a:rPr lang="en-US" altLang="zh-CN" sz="2000" dirty="0" smtClean="0"/>
              <a:t>TTL</a:t>
            </a:r>
            <a:r>
              <a:rPr lang="zh-CN" altLang="en-US" sz="2000" dirty="0" smtClean="0"/>
              <a:t>（</a:t>
            </a:r>
            <a:r>
              <a:rPr lang="en-US" altLang="zh-CN" sz="2000" dirty="0" smtClean="0"/>
              <a:t>Time-to-Live</a:t>
            </a:r>
            <a:r>
              <a:rPr lang="zh-CN" altLang="en-US" sz="2000" dirty="0" smtClean="0"/>
              <a:t>）值是否在一个预先设置好的特定范围内，并对不符合</a:t>
            </a:r>
            <a:r>
              <a:rPr lang="en-US" altLang="zh-CN" sz="2000" dirty="0" smtClean="0"/>
              <a:t>TTL</a:t>
            </a:r>
            <a:r>
              <a:rPr lang="zh-CN" altLang="en-US" sz="2000" dirty="0" smtClean="0"/>
              <a:t>值范围的报文进行丢弃，这样就避免了网络攻击者模拟“合法”</a:t>
            </a:r>
            <a:r>
              <a:rPr lang="en-US" altLang="zh-CN" sz="2000" dirty="0" smtClean="0"/>
              <a:t>BGP</a:t>
            </a:r>
            <a:r>
              <a:rPr lang="zh-CN" altLang="en-US" sz="2000" dirty="0" smtClean="0"/>
              <a:t>报文攻击设备。</a:t>
            </a:r>
            <a:endParaRPr lang="en-US" altLang="zh-CN" sz="2000" dirty="0" smtClean="0"/>
          </a:p>
        </p:txBody>
      </p:sp>
      <p:pic>
        <p:nvPicPr>
          <p:cNvPr id="4" name="Picture 12" descr="E:\2016.01\1.12 扁平化图标\蓝色\AR-蓝色最新-40.png">
            <a:extLst>
              <a:ext uri="{FF2B5EF4-FFF2-40B4-BE49-F238E27FC236}">
                <a16:creationId xmlns:a16="http://schemas.microsoft.com/office/drawing/2014/main" xmlns="" id="{1D8E071F-501D-48FF-8ED1-076998A80BB3}"/>
              </a:ext>
            </a:extLst>
          </p:cNvPr>
          <p:cNvPicPr>
            <a:picLocks noChangeAspect="1" noChangeArrowheads="1"/>
          </p:cNvPicPr>
          <p:nvPr/>
        </p:nvPicPr>
        <p:blipFill>
          <a:blip r:embed="rId3" cstate="print"/>
          <a:srcRect/>
          <a:stretch>
            <a:fillRect/>
          </a:stretch>
        </p:blipFill>
        <p:spPr bwMode="gray">
          <a:xfrm>
            <a:off x="3161676" y="3239659"/>
            <a:ext cx="527556" cy="431636"/>
          </a:xfrm>
          <a:prstGeom prst="rect">
            <a:avLst/>
          </a:prstGeom>
          <a:noFill/>
        </p:spPr>
      </p:pic>
      <p:pic>
        <p:nvPicPr>
          <p:cNvPr id="5" name="Picture 12" descr="E:\2016.01\1.12 扁平化图标\蓝色\AR-蓝色最新-40.png">
            <a:extLst>
              <a:ext uri="{FF2B5EF4-FFF2-40B4-BE49-F238E27FC236}">
                <a16:creationId xmlns:a16="http://schemas.microsoft.com/office/drawing/2014/main" xmlns="" id="{1D8E071F-501D-48FF-8ED1-076998A80BB3}"/>
              </a:ext>
            </a:extLst>
          </p:cNvPr>
          <p:cNvPicPr>
            <a:picLocks noChangeAspect="1" noChangeArrowheads="1"/>
          </p:cNvPicPr>
          <p:nvPr/>
        </p:nvPicPr>
        <p:blipFill>
          <a:blip r:embed="rId3" cstate="print"/>
          <a:srcRect/>
          <a:stretch>
            <a:fillRect/>
          </a:stretch>
        </p:blipFill>
        <p:spPr bwMode="gray">
          <a:xfrm>
            <a:off x="1418180" y="3239659"/>
            <a:ext cx="527556" cy="431636"/>
          </a:xfrm>
          <a:prstGeom prst="rect">
            <a:avLst/>
          </a:prstGeom>
          <a:noFill/>
        </p:spPr>
      </p:pic>
      <p:cxnSp>
        <p:nvCxnSpPr>
          <p:cNvPr id="6" name="直接连接符 5">
            <a:extLst>
              <a:ext uri="{FF2B5EF4-FFF2-40B4-BE49-F238E27FC236}">
                <a16:creationId xmlns:a16="http://schemas.microsoft.com/office/drawing/2014/main" xmlns="" id="{94275FFE-3BE6-4C12-8737-FDFE3456C4A2}"/>
              </a:ext>
            </a:extLst>
          </p:cNvPr>
          <p:cNvCxnSpPr>
            <a:stCxn id="4" idx="1"/>
            <a:endCxn id="5" idx="3"/>
          </p:cNvCxnSpPr>
          <p:nvPr/>
        </p:nvCxnSpPr>
        <p:spPr bwMode="gray">
          <a:xfrm flipH="1">
            <a:off x="1945736" y="3455477"/>
            <a:ext cx="1215940" cy="0"/>
          </a:xfrm>
          <a:prstGeom prst="line">
            <a:avLst/>
          </a:prstGeom>
          <a:noFill/>
          <a:ln w="19050" cap="flat" cmpd="sng" algn="ctr">
            <a:solidFill>
              <a:schemeClr val="tx1"/>
            </a:solidFill>
            <a:prstDash val="solid"/>
          </a:ln>
          <a:effectLst/>
        </p:spPr>
      </p:cxnSp>
      <p:sp>
        <p:nvSpPr>
          <p:cNvPr id="10" name="TextBox 120">
            <a:extLst>
              <a:ext uri="{FF2B5EF4-FFF2-40B4-BE49-F238E27FC236}">
                <a16:creationId xmlns:a16="http://schemas.microsoft.com/office/drawing/2014/main" xmlns="" id="{020D7A1D-EFAD-4C8C-B9DE-D0FAD269B77A}"/>
              </a:ext>
            </a:extLst>
          </p:cNvPr>
          <p:cNvSpPr txBox="1"/>
          <p:nvPr/>
        </p:nvSpPr>
        <p:spPr bwMode="gray">
          <a:xfrm rot="19865300">
            <a:off x="2409195" y="4273784"/>
            <a:ext cx="1267250" cy="523220"/>
          </a:xfrm>
          <a:prstGeom prst="rect">
            <a:avLst/>
          </a:prstGeom>
          <a:noFill/>
          <a:ln>
            <a:noFill/>
          </a:ln>
        </p:spPr>
        <p:txBody>
          <a:bodyPr wrap="square" rtlCol="0">
            <a:spAutoFit/>
          </a:bodyPr>
          <a:lstStyle/>
          <a:p>
            <a:pPr algn="ctr"/>
            <a:r>
              <a:rPr lang="zh-CN" altLang="en-US" sz="1400" b="1" dirty="0">
                <a:solidFill>
                  <a:srgbClr val="ED6D00"/>
                </a:solidFill>
                <a:sym typeface="Huawei Sans" panose="020C0503030203020204" pitchFamily="34" charset="0"/>
              </a:rPr>
              <a:t>发送大量非法</a:t>
            </a:r>
            <a:r>
              <a:rPr lang="en-US" altLang="zh-CN" sz="1400" b="1" dirty="0">
                <a:solidFill>
                  <a:srgbClr val="ED6D00"/>
                </a:solidFill>
                <a:sym typeface="Huawei Sans" panose="020C0503030203020204" pitchFamily="34" charset="0"/>
              </a:rPr>
              <a:t>BGP</a:t>
            </a:r>
            <a:r>
              <a:rPr lang="zh-CN" altLang="en-US" sz="1400" b="1" dirty="0">
                <a:solidFill>
                  <a:srgbClr val="ED6D00"/>
                </a:solidFill>
                <a:sym typeface="Huawei Sans" panose="020C0503030203020204" pitchFamily="34" charset="0"/>
              </a:rPr>
              <a:t>报文</a:t>
            </a:r>
            <a:endParaRPr lang="en-US" altLang="zh-CN" sz="1400" b="1" dirty="0">
              <a:solidFill>
                <a:srgbClr val="ED6D00"/>
              </a:solidFill>
              <a:sym typeface="Huawei Sans" panose="020C0503030203020204" pitchFamily="34" charset="0"/>
            </a:endParaRPr>
          </a:p>
        </p:txBody>
      </p:sp>
      <p:sp>
        <p:nvSpPr>
          <p:cNvPr id="13" name="Rectangular Callout 47"/>
          <p:cNvSpPr/>
          <p:nvPr/>
        </p:nvSpPr>
        <p:spPr bwMode="gray">
          <a:xfrm>
            <a:off x="4067815" y="2501500"/>
            <a:ext cx="2278393" cy="556731"/>
          </a:xfrm>
          <a:prstGeom prst="wedgeRoundRectCallout">
            <a:avLst>
              <a:gd name="adj1" fmla="val -67191"/>
              <a:gd name="adj2" fmla="val 64951"/>
              <a:gd name="adj3" fmla="val 16667"/>
            </a:avLst>
          </a:prstGeom>
          <a:solidFill>
            <a:srgbClr val="FFFBEF"/>
          </a:solidFill>
          <a:ln w="19050">
            <a:solidFill>
              <a:srgbClr val="FDD35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rPr>
              <a:t>部署</a:t>
            </a:r>
            <a:r>
              <a:rPr lang="en-US" altLang="zh-CN" sz="1400" dirty="0" smtClean="0">
                <a:solidFill>
                  <a:schemeClr val="tx1"/>
                </a:solidFill>
              </a:rPr>
              <a:t>GTSM</a:t>
            </a:r>
            <a:r>
              <a:rPr lang="zh-CN" altLang="en-US" sz="1400" dirty="0" smtClean="0">
                <a:solidFill>
                  <a:schemeClr val="tx1"/>
                </a:solidFill>
              </a:rPr>
              <a:t>，</a:t>
            </a:r>
            <a:r>
              <a:rPr lang="zh-CN" altLang="en-US" sz="1400" dirty="0">
                <a:solidFill>
                  <a:schemeClr val="tx1"/>
                </a:solidFill>
              </a:rPr>
              <a:t>设置收到</a:t>
            </a:r>
            <a:r>
              <a:rPr lang="en-US" altLang="zh-CN" sz="1400" dirty="0">
                <a:solidFill>
                  <a:schemeClr val="tx1"/>
                </a:solidFill>
              </a:rPr>
              <a:t>BGP</a:t>
            </a:r>
            <a:r>
              <a:rPr lang="zh-CN" altLang="en-US" sz="1400" dirty="0">
                <a:solidFill>
                  <a:schemeClr val="tx1"/>
                </a:solidFill>
              </a:rPr>
              <a:t>报文的最小</a:t>
            </a:r>
            <a:r>
              <a:rPr lang="en-US" altLang="zh-CN" sz="1400" dirty="0" smtClean="0">
                <a:solidFill>
                  <a:schemeClr val="tx1"/>
                </a:solidFill>
              </a:rPr>
              <a:t>TTL</a:t>
            </a:r>
            <a:r>
              <a:rPr lang="zh-CN" altLang="en-US" sz="1400" dirty="0" smtClean="0">
                <a:solidFill>
                  <a:schemeClr val="tx1"/>
                </a:solidFill>
              </a:rPr>
              <a:t>为</a:t>
            </a:r>
            <a:r>
              <a:rPr lang="en-US" altLang="zh-CN" sz="1400" dirty="0" smtClean="0">
                <a:solidFill>
                  <a:schemeClr val="tx1"/>
                </a:solidFill>
              </a:rPr>
              <a:t>255</a:t>
            </a:r>
            <a:r>
              <a:rPr lang="zh-CN" altLang="en-US" sz="1400" dirty="0" smtClean="0">
                <a:solidFill>
                  <a:schemeClr val="tx1"/>
                </a:solidFill>
              </a:rPr>
              <a:t>。</a:t>
            </a:r>
            <a:endParaRPr lang="zh-CN" altLang="en-US" sz="1400" dirty="0">
              <a:solidFill>
                <a:schemeClr val="tx1"/>
              </a:solidFill>
            </a:endParaRPr>
          </a:p>
        </p:txBody>
      </p:sp>
      <p:sp>
        <p:nvSpPr>
          <p:cNvPr id="15" name="Rectangular Callout 51"/>
          <p:cNvSpPr/>
          <p:nvPr/>
        </p:nvSpPr>
        <p:spPr bwMode="gray">
          <a:xfrm>
            <a:off x="3626546" y="4025401"/>
            <a:ext cx="1434678" cy="671232"/>
          </a:xfrm>
          <a:prstGeom prst="wedgeRoundRectCallout">
            <a:avLst>
              <a:gd name="adj1" fmla="val -56858"/>
              <a:gd name="adj2" fmla="val -53984"/>
              <a:gd name="adj3" fmla="val 16667"/>
            </a:avLst>
          </a:prstGeom>
          <a:solidFill>
            <a:srgbClr val="FFFBEF"/>
          </a:solidFill>
          <a:ln w="19050">
            <a:solidFill>
              <a:srgbClr val="FDD35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rPr>
              <a:t>非法</a:t>
            </a:r>
            <a:r>
              <a:rPr lang="en-US" altLang="zh-CN" sz="1400" dirty="0">
                <a:solidFill>
                  <a:schemeClr val="tx1"/>
                </a:solidFill>
              </a:rPr>
              <a:t>BGP</a:t>
            </a:r>
            <a:r>
              <a:rPr lang="zh-CN" altLang="en-US" sz="1400" dirty="0">
                <a:solidFill>
                  <a:schemeClr val="tx1"/>
                </a:solidFill>
              </a:rPr>
              <a:t>报文剩余</a:t>
            </a:r>
            <a:r>
              <a:rPr lang="en-US" altLang="zh-CN" sz="1400" dirty="0">
                <a:solidFill>
                  <a:schemeClr val="tx1"/>
                </a:solidFill>
              </a:rPr>
              <a:t>TTL</a:t>
            </a:r>
            <a:r>
              <a:rPr lang="zh-CN" altLang="en-US" sz="1400" dirty="0">
                <a:solidFill>
                  <a:schemeClr val="tx1"/>
                </a:solidFill>
              </a:rPr>
              <a:t>值过小，报文被</a:t>
            </a:r>
            <a:r>
              <a:rPr lang="zh-CN" altLang="en-US" sz="1400" dirty="0" smtClean="0">
                <a:solidFill>
                  <a:schemeClr val="tx1"/>
                </a:solidFill>
              </a:rPr>
              <a:t>丢弃。</a:t>
            </a:r>
            <a:endParaRPr lang="zh-CN" altLang="en-US" sz="1400" dirty="0">
              <a:solidFill>
                <a:schemeClr val="tx1"/>
              </a:solidFill>
            </a:endParaRPr>
          </a:p>
        </p:txBody>
      </p:sp>
      <p:sp>
        <p:nvSpPr>
          <p:cNvPr id="17" name="TextBox 120">
            <a:extLst>
              <a:ext uri="{FF2B5EF4-FFF2-40B4-BE49-F238E27FC236}">
                <a16:creationId xmlns:a16="http://schemas.microsoft.com/office/drawing/2014/main" xmlns="" id="{020D7A1D-EFAD-4C8C-B9DE-D0FAD269B77A}"/>
              </a:ext>
            </a:extLst>
          </p:cNvPr>
          <p:cNvSpPr txBox="1"/>
          <p:nvPr/>
        </p:nvSpPr>
        <p:spPr bwMode="gray">
          <a:xfrm>
            <a:off x="1412163" y="2977031"/>
            <a:ext cx="539591" cy="307777"/>
          </a:xfrm>
          <a:prstGeom prst="rect">
            <a:avLst/>
          </a:prstGeom>
          <a:noFill/>
          <a:ln>
            <a:noFill/>
          </a:ln>
        </p:spPr>
        <p:txBody>
          <a:bodyPr wrap="square" rtlCol="0">
            <a:spAutoFit/>
          </a:bodyPr>
          <a:lstStyle/>
          <a:p>
            <a:pPr algn="ctr"/>
            <a:r>
              <a:rPr lang="en-US" altLang="zh-CN" sz="1400" dirty="0" smtClean="0">
                <a:sym typeface="Huawei Sans" panose="020C0503030203020204" pitchFamily="34" charset="0"/>
              </a:rPr>
              <a:t>R1</a:t>
            </a:r>
            <a:endParaRPr lang="en-US" altLang="zh-CN" sz="1400" dirty="0">
              <a:sym typeface="Huawei Sans" panose="020C0503030203020204" pitchFamily="34" charset="0"/>
            </a:endParaRPr>
          </a:p>
        </p:txBody>
      </p:sp>
      <p:sp>
        <p:nvSpPr>
          <p:cNvPr id="18" name="TextBox 120">
            <a:extLst>
              <a:ext uri="{FF2B5EF4-FFF2-40B4-BE49-F238E27FC236}">
                <a16:creationId xmlns:a16="http://schemas.microsoft.com/office/drawing/2014/main" xmlns="" id="{020D7A1D-EFAD-4C8C-B9DE-D0FAD269B77A}"/>
              </a:ext>
            </a:extLst>
          </p:cNvPr>
          <p:cNvSpPr txBox="1"/>
          <p:nvPr/>
        </p:nvSpPr>
        <p:spPr bwMode="gray">
          <a:xfrm>
            <a:off x="3167693" y="2977031"/>
            <a:ext cx="539591" cy="307777"/>
          </a:xfrm>
          <a:prstGeom prst="rect">
            <a:avLst/>
          </a:prstGeom>
          <a:noFill/>
          <a:ln>
            <a:noFill/>
          </a:ln>
        </p:spPr>
        <p:txBody>
          <a:bodyPr wrap="square" rtlCol="0">
            <a:spAutoFit/>
          </a:bodyPr>
          <a:lstStyle/>
          <a:p>
            <a:pPr algn="ctr"/>
            <a:r>
              <a:rPr lang="en-US" altLang="zh-CN" sz="1400" dirty="0" smtClean="0">
                <a:sym typeface="Huawei Sans" panose="020C0503030203020204" pitchFamily="34" charset="0"/>
              </a:rPr>
              <a:t>R2</a:t>
            </a:r>
            <a:endParaRPr lang="en-US" altLang="zh-CN" sz="1400" dirty="0">
              <a:sym typeface="Huawei Sans" panose="020C0503030203020204" pitchFamily="34" charset="0"/>
            </a:endParaRPr>
          </a:p>
        </p:txBody>
      </p:sp>
      <p:pic>
        <p:nvPicPr>
          <p:cNvPr id="21" name="图片 65"/>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411958" y="4207676"/>
            <a:ext cx="540000" cy="442800"/>
          </a:xfrm>
          <a:prstGeom prst="rect">
            <a:avLst/>
          </a:prstGeom>
        </p:spPr>
      </p:pic>
      <p:sp>
        <p:nvSpPr>
          <p:cNvPr id="22" name="TextBox 120">
            <a:extLst>
              <a:ext uri="{FF2B5EF4-FFF2-40B4-BE49-F238E27FC236}">
                <a16:creationId xmlns:a16="http://schemas.microsoft.com/office/drawing/2014/main" xmlns="" id="{020D7A1D-EFAD-4C8C-B9DE-D0FAD269B77A}"/>
              </a:ext>
            </a:extLst>
          </p:cNvPr>
          <p:cNvSpPr txBox="1"/>
          <p:nvPr/>
        </p:nvSpPr>
        <p:spPr bwMode="gray">
          <a:xfrm>
            <a:off x="1322826" y="4681993"/>
            <a:ext cx="718265" cy="307777"/>
          </a:xfrm>
          <a:prstGeom prst="rect">
            <a:avLst/>
          </a:prstGeom>
          <a:noFill/>
          <a:ln>
            <a:noFill/>
          </a:ln>
        </p:spPr>
        <p:txBody>
          <a:bodyPr wrap="square" rtlCol="0">
            <a:spAutoFit/>
          </a:bodyPr>
          <a:lstStyle/>
          <a:p>
            <a:r>
              <a:rPr lang="zh-CN" altLang="en-US" sz="1400" b="1" dirty="0">
                <a:sym typeface="Huawei Sans" panose="020C0503030203020204" pitchFamily="34" charset="0"/>
              </a:rPr>
              <a:t>攻击者</a:t>
            </a:r>
            <a:endParaRPr lang="en-US" altLang="zh-CN" sz="1400" b="1" dirty="0">
              <a:sym typeface="Huawei Sans" panose="020C0503030203020204" pitchFamily="34" charset="0"/>
            </a:endParaRPr>
          </a:p>
        </p:txBody>
      </p:sp>
      <p:cxnSp>
        <p:nvCxnSpPr>
          <p:cNvPr id="23" name="直接连接符 10">
            <a:extLst>
              <a:ext uri="{FF2B5EF4-FFF2-40B4-BE49-F238E27FC236}">
                <a16:creationId xmlns:a16="http://schemas.microsoft.com/office/drawing/2014/main" xmlns="" id="{94275FFE-3BE6-4C12-8737-FDFE3456C4A2}"/>
              </a:ext>
            </a:extLst>
          </p:cNvPr>
          <p:cNvCxnSpPr/>
          <p:nvPr/>
        </p:nvCxnSpPr>
        <p:spPr bwMode="gray">
          <a:xfrm flipH="1">
            <a:off x="1990828" y="3735549"/>
            <a:ext cx="1215735" cy="712632"/>
          </a:xfrm>
          <a:prstGeom prst="line">
            <a:avLst/>
          </a:prstGeom>
          <a:noFill/>
          <a:ln w="19050" cap="flat" cmpd="sng" algn="ctr">
            <a:solidFill>
              <a:schemeClr val="tx1"/>
            </a:solidFill>
            <a:prstDash val="dash"/>
            <a:headEnd type="triangle" w="med" len="med"/>
            <a:tailEnd type="triangle" w="med" len="med"/>
          </a:ln>
          <a:effectLst/>
        </p:spPr>
      </p:cxnSp>
      <p:sp>
        <p:nvSpPr>
          <p:cNvPr id="27" name="TextBox 120">
            <a:extLst>
              <a:ext uri="{FF2B5EF4-FFF2-40B4-BE49-F238E27FC236}">
                <a16:creationId xmlns:a16="http://schemas.microsoft.com/office/drawing/2014/main" xmlns="" id="{020D7A1D-EFAD-4C8C-B9DE-D0FAD269B77A}"/>
              </a:ext>
            </a:extLst>
          </p:cNvPr>
          <p:cNvSpPr txBox="1"/>
          <p:nvPr/>
        </p:nvSpPr>
        <p:spPr bwMode="gray">
          <a:xfrm rot="19897175">
            <a:off x="2175743" y="3825997"/>
            <a:ext cx="698155" cy="307777"/>
          </a:xfrm>
          <a:prstGeom prst="rect">
            <a:avLst/>
          </a:prstGeom>
          <a:noFill/>
          <a:ln>
            <a:noFill/>
          </a:ln>
        </p:spPr>
        <p:txBody>
          <a:bodyPr wrap="square" rtlCol="0">
            <a:spAutoFit/>
          </a:bodyPr>
          <a:lstStyle/>
          <a:p>
            <a:pPr algn="ctr"/>
            <a:r>
              <a:rPr lang="en-US" altLang="zh-CN" sz="1400" dirty="0" smtClean="0">
                <a:sym typeface="Huawei Sans" panose="020C0503030203020204" pitchFamily="34" charset="0"/>
              </a:rPr>
              <a:t>IBGP</a:t>
            </a:r>
            <a:endParaRPr lang="en-US" altLang="zh-CN" sz="1400" dirty="0">
              <a:sym typeface="Huawei Sans" panose="020C0503030203020204" pitchFamily="34" charset="0"/>
            </a:endParaRPr>
          </a:p>
        </p:txBody>
      </p:sp>
      <p:sp>
        <p:nvSpPr>
          <p:cNvPr id="28" name="任意多边形 27"/>
          <p:cNvSpPr/>
          <p:nvPr/>
        </p:nvSpPr>
        <p:spPr bwMode="gray">
          <a:xfrm rot="21380981">
            <a:off x="1971507" y="3802301"/>
            <a:ext cx="1400022" cy="665128"/>
          </a:xfrm>
          <a:custGeom>
            <a:avLst/>
            <a:gdLst>
              <a:gd name="connsiteX0" fmla="*/ 0 w 1444487"/>
              <a:gd name="connsiteY0" fmla="*/ 755373 h 755373"/>
              <a:gd name="connsiteX1" fmla="*/ 980661 w 1444487"/>
              <a:gd name="connsiteY1" fmla="*/ 583095 h 755373"/>
              <a:gd name="connsiteX2" fmla="*/ 1444487 w 1444487"/>
              <a:gd name="connsiteY2" fmla="*/ 0 h 755373"/>
            </a:gdLst>
            <a:ahLst/>
            <a:cxnLst>
              <a:cxn ang="0">
                <a:pos x="connsiteX0" y="connsiteY0"/>
              </a:cxn>
              <a:cxn ang="0">
                <a:pos x="connsiteX1" y="connsiteY1"/>
              </a:cxn>
              <a:cxn ang="0">
                <a:pos x="connsiteX2" y="connsiteY2"/>
              </a:cxn>
            </a:cxnLst>
            <a:rect l="l" t="t" r="r" b="b"/>
            <a:pathLst>
              <a:path w="1444487" h="755373">
                <a:moveTo>
                  <a:pt x="0" y="755373"/>
                </a:moveTo>
                <a:cubicBezTo>
                  <a:pt x="369956" y="732181"/>
                  <a:pt x="739913" y="708990"/>
                  <a:pt x="980661" y="583095"/>
                </a:cubicBezTo>
                <a:cubicBezTo>
                  <a:pt x="1221409" y="457200"/>
                  <a:pt x="1332948" y="228600"/>
                  <a:pt x="1444487" y="0"/>
                </a:cubicBezTo>
              </a:path>
            </a:pathLst>
          </a:custGeom>
          <a:noFill/>
          <a:ln w="28575">
            <a:solidFill>
              <a:srgbClr val="ED6D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十字形 19"/>
          <p:cNvSpPr/>
          <p:nvPr/>
        </p:nvSpPr>
        <p:spPr bwMode="gray">
          <a:xfrm rot="1625821">
            <a:off x="3220049" y="3793537"/>
            <a:ext cx="251824" cy="254968"/>
          </a:xfrm>
          <a:prstGeom prst="plus">
            <a:avLst>
              <a:gd name="adj" fmla="val 39697"/>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900">
              <a:solidFill>
                <a:prstClr val="white"/>
              </a:solidFill>
            </a:endParaRPr>
          </a:p>
        </p:txBody>
      </p:sp>
      <p:sp>
        <p:nvSpPr>
          <p:cNvPr id="29" name="文本占位符 2"/>
          <p:cNvSpPr txBox="1">
            <a:spLocks/>
          </p:cNvSpPr>
          <p:nvPr/>
        </p:nvSpPr>
        <p:spPr bwMode="auto">
          <a:xfrm>
            <a:off x="6096000" y="3025818"/>
            <a:ext cx="5648500" cy="229351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600" dirty="0" smtClean="0"/>
              <a:t>当</a:t>
            </a:r>
            <a:r>
              <a:rPr lang="zh-CN" altLang="en-US" sz="1600" dirty="0"/>
              <a:t>攻击者模拟合法的</a:t>
            </a:r>
            <a:r>
              <a:rPr lang="en-US" altLang="zh-CN" sz="1600" dirty="0" smtClean="0"/>
              <a:t>BGP</a:t>
            </a:r>
            <a:r>
              <a:rPr lang="zh-CN" altLang="en-US" sz="1600" dirty="0" smtClean="0"/>
              <a:t>报文</a:t>
            </a:r>
            <a:r>
              <a:rPr lang="zh-CN" altLang="en-US" sz="1600" dirty="0"/>
              <a:t>，</a:t>
            </a:r>
            <a:r>
              <a:rPr lang="zh-CN" altLang="en-US" sz="1600" dirty="0" smtClean="0"/>
              <a:t>对</a:t>
            </a:r>
            <a:r>
              <a:rPr lang="en-US" altLang="zh-CN" sz="1600" dirty="0"/>
              <a:t>R2</a:t>
            </a:r>
            <a:r>
              <a:rPr lang="zh-CN" altLang="en-US" sz="1600" dirty="0" smtClean="0"/>
              <a:t>不断</a:t>
            </a:r>
            <a:r>
              <a:rPr lang="zh-CN" altLang="en-US" sz="1600" dirty="0"/>
              <a:t>地</a:t>
            </a:r>
            <a:r>
              <a:rPr lang="zh-CN" altLang="en-US" sz="1600" dirty="0" smtClean="0"/>
              <a:t>发送非法报文</a:t>
            </a:r>
            <a:r>
              <a:rPr lang="zh-CN" altLang="en-US" sz="1600" dirty="0"/>
              <a:t>进行攻击时，</a:t>
            </a:r>
            <a:r>
              <a:rPr lang="en-US" altLang="zh-CN" sz="1600" dirty="0"/>
              <a:t>TTL</a:t>
            </a:r>
            <a:r>
              <a:rPr lang="zh-CN" altLang="en-US" sz="1600" dirty="0"/>
              <a:t>值必然小于</a:t>
            </a:r>
            <a:r>
              <a:rPr lang="en-US" altLang="zh-CN" sz="1600" dirty="0" smtClean="0"/>
              <a:t>255</a:t>
            </a:r>
            <a:r>
              <a:rPr lang="zh-CN" altLang="en-US" sz="1600" dirty="0" smtClean="0"/>
              <a:t>。</a:t>
            </a:r>
            <a:endParaRPr lang="en-US" altLang="zh-CN" sz="1600" dirty="0" smtClean="0"/>
          </a:p>
          <a:p>
            <a:r>
              <a:rPr lang="zh-CN" altLang="en-US" sz="1600" dirty="0" smtClean="0"/>
              <a:t>如果</a:t>
            </a:r>
            <a:r>
              <a:rPr lang="en-US" altLang="zh-CN" sz="1600" dirty="0" smtClean="0"/>
              <a:t>R2</a:t>
            </a:r>
            <a:r>
              <a:rPr lang="zh-CN" altLang="en-US" sz="1600" dirty="0" smtClean="0"/>
              <a:t>使</a:t>
            </a:r>
            <a:r>
              <a:rPr lang="zh-CN" altLang="en-US" sz="1600" dirty="0"/>
              <a:t>能</a:t>
            </a:r>
            <a:r>
              <a:rPr lang="en-US" altLang="zh-CN" sz="1600" dirty="0" smtClean="0"/>
              <a:t>BGP</a:t>
            </a:r>
            <a:r>
              <a:rPr lang="zh-CN" altLang="en-US" sz="1600" dirty="0" smtClean="0"/>
              <a:t>的</a:t>
            </a:r>
            <a:r>
              <a:rPr lang="en-US" altLang="zh-CN" sz="1600" dirty="0" smtClean="0"/>
              <a:t>GTSM</a:t>
            </a:r>
            <a:r>
              <a:rPr lang="zh-CN" altLang="en-US" sz="1600" dirty="0"/>
              <a:t>功能，将</a:t>
            </a:r>
            <a:r>
              <a:rPr lang="en-US" altLang="zh-CN" sz="1600" dirty="0"/>
              <a:t>IBGP</a:t>
            </a:r>
            <a:r>
              <a:rPr lang="zh-CN" altLang="en-US" sz="1600" dirty="0"/>
              <a:t>对等体报文的</a:t>
            </a:r>
            <a:r>
              <a:rPr lang="en-US" altLang="zh-CN" sz="1600" dirty="0"/>
              <a:t>TTL</a:t>
            </a:r>
            <a:r>
              <a:rPr lang="zh-CN" altLang="en-US" sz="1600" dirty="0"/>
              <a:t>的有效范围设为</a:t>
            </a:r>
            <a:r>
              <a:rPr lang="en-US" altLang="zh-CN" sz="1600" dirty="0"/>
              <a:t>[255,255</a:t>
            </a:r>
            <a:r>
              <a:rPr lang="en-US" altLang="zh-CN" sz="1600" dirty="0" smtClean="0"/>
              <a:t>]</a:t>
            </a:r>
            <a:r>
              <a:rPr lang="zh-CN" altLang="en-US" sz="1600" dirty="0" smtClean="0"/>
              <a:t>，系统</a:t>
            </a:r>
            <a:r>
              <a:rPr lang="zh-CN" altLang="en-US" sz="1600" dirty="0"/>
              <a:t>会对所有</a:t>
            </a:r>
            <a:r>
              <a:rPr lang="en-US" altLang="zh-CN" sz="1600" dirty="0"/>
              <a:t>BGP</a:t>
            </a:r>
            <a:r>
              <a:rPr lang="zh-CN" altLang="en-US" sz="1600" dirty="0"/>
              <a:t>报文的</a:t>
            </a:r>
            <a:r>
              <a:rPr lang="en-US" altLang="zh-CN" sz="1600" dirty="0"/>
              <a:t>TTL</a:t>
            </a:r>
            <a:r>
              <a:rPr lang="zh-CN" altLang="en-US" sz="1600" dirty="0"/>
              <a:t>值进行检查，丢弃</a:t>
            </a:r>
            <a:r>
              <a:rPr lang="en-US" altLang="zh-CN" sz="1600" dirty="0"/>
              <a:t>TTL</a:t>
            </a:r>
            <a:r>
              <a:rPr lang="zh-CN" altLang="en-US" sz="1600" dirty="0"/>
              <a:t>值小于</a:t>
            </a:r>
            <a:r>
              <a:rPr lang="en-US" altLang="zh-CN" sz="1600" dirty="0" smtClean="0"/>
              <a:t>255</a:t>
            </a:r>
            <a:r>
              <a:rPr lang="zh-CN" altLang="en-US" sz="1600" dirty="0" smtClean="0"/>
              <a:t>的</a:t>
            </a:r>
            <a:r>
              <a:rPr lang="zh-CN" altLang="en-US" sz="1600" dirty="0"/>
              <a:t>攻击报文，从而避免了因网络攻击报文导致</a:t>
            </a:r>
            <a:r>
              <a:rPr lang="en-US" altLang="zh-CN" sz="1600" dirty="0"/>
              <a:t>CPU</a:t>
            </a:r>
            <a:r>
              <a:rPr lang="zh-CN" altLang="en-US" sz="1600" dirty="0"/>
              <a:t>占用率高的问题。</a:t>
            </a:r>
          </a:p>
        </p:txBody>
      </p:sp>
      <p:sp>
        <p:nvSpPr>
          <p:cNvPr id="31" name="TextBox 120">
            <a:extLst>
              <a:ext uri="{FF2B5EF4-FFF2-40B4-BE49-F238E27FC236}">
                <a16:creationId xmlns="" xmlns:a16="http://schemas.microsoft.com/office/drawing/2014/main" id="{020D7A1D-EFAD-4C8C-B9DE-D0FAD269B77A}"/>
              </a:ext>
            </a:extLst>
          </p:cNvPr>
          <p:cNvSpPr txBox="1"/>
          <p:nvPr/>
        </p:nvSpPr>
        <p:spPr bwMode="gray">
          <a:xfrm>
            <a:off x="972958" y="2680036"/>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AS10</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1</a:t>
            </a:r>
          </a:p>
        </p:txBody>
      </p:sp>
      <p:cxnSp>
        <p:nvCxnSpPr>
          <p:cNvPr id="35" name="直接连接符 10">
            <a:extLst>
              <a:ext uri="{FF2B5EF4-FFF2-40B4-BE49-F238E27FC236}">
                <a16:creationId xmlns:a16="http://schemas.microsoft.com/office/drawing/2014/main" xmlns="" id="{94275FFE-3BE6-4C12-8737-FDFE3456C4A2}"/>
              </a:ext>
            </a:extLst>
          </p:cNvPr>
          <p:cNvCxnSpPr>
            <a:stCxn id="5" idx="2"/>
            <a:endCxn id="21" idx="0"/>
          </p:cNvCxnSpPr>
          <p:nvPr/>
        </p:nvCxnSpPr>
        <p:spPr bwMode="gray">
          <a:xfrm>
            <a:off x="1681958" y="3671295"/>
            <a:ext cx="0" cy="536381"/>
          </a:xfrm>
          <a:prstGeom prst="line">
            <a:avLst/>
          </a:prstGeom>
          <a:noFill/>
          <a:ln w="19050" cap="flat" cmpd="sng" algn="ctr">
            <a:solidFill>
              <a:schemeClr val="tx1"/>
            </a:solidFill>
            <a:prstDash val="solid"/>
          </a:ln>
          <a:effectLst/>
        </p:spPr>
      </p:cxnSp>
      <p:sp>
        <p:nvSpPr>
          <p:cNvPr id="32" name="五边形 31"/>
          <p:cNvSpPr/>
          <p:nvPr/>
        </p:nvSpPr>
        <p:spPr bwMode="gray">
          <a:xfrm>
            <a:off x="8421350" y="99742"/>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ORF</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燕尾形 32"/>
          <p:cNvSpPr/>
          <p:nvPr/>
        </p:nvSpPr>
        <p:spPr bwMode="gray">
          <a:xfrm>
            <a:off x="9061791" y="99742"/>
            <a:ext cx="93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对等体组</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燕尾形 33"/>
          <p:cNvSpPr/>
          <p:nvPr/>
        </p:nvSpPr>
        <p:spPr bwMode="gray">
          <a:xfrm>
            <a:off x="9918233" y="99742"/>
            <a:ext cx="936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安全特性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燕尾形 36"/>
          <p:cNvSpPr/>
          <p:nvPr/>
        </p:nvSpPr>
        <p:spPr bwMode="gray">
          <a:xfrm>
            <a:off x="10774674" y="99742"/>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字节</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AS</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号</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28090178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BGP</a:t>
            </a:r>
            <a:r>
              <a:rPr lang="zh-CN" altLang="en-US" smtClean="0"/>
              <a:t>认证的基础配置命令</a:t>
            </a:r>
            <a:endParaRPr lang="zh-CN" altLang="en-US" dirty="0"/>
          </a:p>
        </p:txBody>
      </p:sp>
      <p:sp>
        <p:nvSpPr>
          <p:cNvPr id="4" name="矩形 3"/>
          <p:cNvSpPr/>
          <p:nvPr/>
        </p:nvSpPr>
        <p:spPr>
          <a:xfrm>
            <a:off x="1031917" y="1672331"/>
            <a:ext cx="10608699" cy="584775"/>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a:t>
            </a:r>
            <a:r>
              <a:rPr lang="en-US" altLang="zh-CN" sz="1600" dirty="0" smtClean="0">
                <a:cs typeface="Courier New" panose="02070309020205020404" pitchFamily="49" charset="0"/>
              </a:rPr>
              <a:t>Huawei-bgp] </a:t>
            </a:r>
            <a:r>
              <a:rPr lang="en-US" altLang="zh-CN" sz="1600" b="1" dirty="0"/>
              <a:t>peer</a:t>
            </a:r>
            <a:r>
              <a:rPr lang="en-US" altLang="zh-CN" sz="1600" dirty="0"/>
              <a:t> { </a:t>
            </a:r>
            <a:r>
              <a:rPr lang="en-US" altLang="zh-CN" sz="1600" i="1" dirty="0"/>
              <a:t>group-name</a:t>
            </a:r>
            <a:r>
              <a:rPr lang="en-US" altLang="zh-CN" sz="1600" dirty="0"/>
              <a:t> | </a:t>
            </a:r>
            <a:r>
              <a:rPr lang="en-US" altLang="zh-CN" sz="1600" i="1" dirty="0"/>
              <a:t>ipv4-address</a:t>
            </a:r>
            <a:r>
              <a:rPr lang="en-US" altLang="zh-CN" sz="1600" dirty="0"/>
              <a:t> | </a:t>
            </a:r>
            <a:r>
              <a:rPr lang="en-US" altLang="zh-CN" sz="1600" i="1" dirty="0"/>
              <a:t>ipv6-address</a:t>
            </a:r>
            <a:r>
              <a:rPr lang="en-US" altLang="zh-CN" sz="1600" dirty="0"/>
              <a:t> } </a:t>
            </a:r>
            <a:r>
              <a:rPr lang="en-US" altLang="zh-CN" sz="1600" b="1" dirty="0"/>
              <a:t>password</a:t>
            </a:r>
            <a:r>
              <a:rPr lang="en-US" altLang="zh-CN" sz="1600" dirty="0"/>
              <a:t> { </a:t>
            </a:r>
            <a:r>
              <a:rPr lang="en-US" altLang="zh-CN" sz="1600" b="1" dirty="0"/>
              <a:t>cipher</a:t>
            </a:r>
            <a:r>
              <a:rPr lang="en-US" altLang="zh-CN" sz="1600" dirty="0"/>
              <a:t> </a:t>
            </a:r>
            <a:r>
              <a:rPr lang="en-US" altLang="zh-CN" sz="1600" i="1" dirty="0"/>
              <a:t>cipher-password</a:t>
            </a:r>
            <a:r>
              <a:rPr lang="en-US" altLang="zh-CN" sz="1600" dirty="0"/>
              <a:t> | </a:t>
            </a:r>
            <a:r>
              <a:rPr lang="en-US" altLang="zh-CN" sz="1600" b="1" dirty="0"/>
              <a:t>simple</a:t>
            </a:r>
            <a:r>
              <a:rPr lang="en-US" altLang="zh-CN" sz="1600" dirty="0"/>
              <a:t> </a:t>
            </a:r>
            <a:r>
              <a:rPr lang="en-US" altLang="zh-CN" sz="1600" i="1" dirty="0"/>
              <a:t>simple-password</a:t>
            </a:r>
            <a:r>
              <a:rPr lang="en-US" altLang="zh-CN" sz="1600" dirty="0"/>
              <a:t> }</a:t>
            </a:r>
            <a:endParaRPr lang="zh-CN" altLang="en-US" sz="1600" dirty="0">
              <a:cs typeface="Courier New" panose="02070309020205020404" pitchFamily="49" charset="0"/>
            </a:endParaRPr>
          </a:p>
        </p:txBody>
      </p:sp>
      <p:sp>
        <p:nvSpPr>
          <p:cNvPr id="5" name="矩形 4"/>
          <p:cNvSpPr/>
          <p:nvPr/>
        </p:nvSpPr>
        <p:spPr>
          <a:xfrm>
            <a:off x="551384" y="1240184"/>
            <a:ext cx="11089232" cy="338554"/>
          </a:xfrm>
          <a:prstGeom prst="rect">
            <a:avLst/>
          </a:prstGeom>
        </p:spPr>
        <p:txBody>
          <a:bodyPr wrap="square">
            <a:spAutoFit/>
          </a:bodyPr>
          <a:lstStyle/>
          <a:p>
            <a:pPr marL="342900" indent="-342900" fontAlgn="auto">
              <a:buFont typeface="+mj-lt"/>
              <a:buAutoNum type="arabicPeriod"/>
            </a:pPr>
            <a:r>
              <a:rPr lang="zh-CN" altLang="en-US" sz="1600" dirty="0" smtClean="0">
                <a:cs typeface="Courier New" panose="02070309020205020404" pitchFamily="49" charset="0"/>
              </a:rPr>
              <a:t>配置</a:t>
            </a:r>
            <a:r>
              <a:rPr lang="en-US" altLang="zh-CN" sz="1600" dirty="0">
                <a:cs typeface="Courier New" panose="02070309020205020404" pitchFamily="49" charset="0"/>
              </a:rPr>
              <a:t>BGP</a:t>
            </a:r>
            <a:r>
              <a:rPr lang="zh-CN" altLang="en-US" sz="1600" dirty="0">
                <a:cs typeface="Courier New" panose="02070309020205020404" pitchFamily="49" charset="0"/>
              </a:rPr>
              <a:t>对等体在建立</a:t>
            </a:r>
            <a:r>
              <a:rPr lang="en-US" altLang="zh-CN" sz="1600" dirty="0">
                <a:cs typeface="Courier New" panose="02070309020205020404" pitchFamily="49" charset="0"/>
              </a:rPr>
              <a:t>TCP</a:t>
            </a:r>
            <a:r>
              <a:rPr lang="zh-CN" altLang="en-US" sz="1600" dirty="0">
                <a:cs typeface="Courier New" panose="02070309020205020404" pitchFamily="49" charset="0"/>
              </a:rPr>
              <a:t>连接时对</a:t>
            </a:r>
            <a:r>
              <a:rPr lang="en-US" altLang="zh-CN" sz="1600" dirty="0">
                <a:cs typeface="Courier New" panose="02070309020205020404" pitchFamily="49" charset="0"/>
              </a:rPr>
              <a:t>BGP</a:t>
            </a:r>
            <a:r>
              <a:rPr lang="zh-CN" altLang="en-US" sz="1600" dirty="0">
                <a:cs typeface="Courier New" panose="02070309020205020404" pitchFamily="49" charset="0"/>
              </a:rPr>
              <a:t>消息进行</a:t>
            </a:r>
            <a:r>
              <a:rPr lang="en-US" altLang="zh-CN" sz="1600" dirty="0">
                <a:cs typeface="Courier New" panose="02070309020205020404" pitchFamily="49" charset="0"/>
              </a:rPr>
              <a:t>MD5</a:t>
            </a:r>
            <a:r>
              <a:rPr lang="zh-CN" altLang="en-US" sz="1600" dirty="0" smtClean="0">
                <a:cs typeface="Courier New" panose="02070309020205020404" pitchFamily="49" charset="0"/>
              </a:rPr>
              <a:t>认证。</a:t>
            </a:r>
            <a:endParaRPr lang="zh-CN" altLang="en-US" sz="1600" dirty="0">
              <a:cs typeface="Courier New" panose="02070309020205020404" pitchFamily="49" charset="0"/>
            </a:endParaRPr>
          </a:p>
        </p:txBody>
      </p:sp>
      <p:sp>
        <p:nvSpPr>
          <p:cNvPr id="9" name="矩形 8"/>
          <p:cNvSpPr/>
          <p:nvPr/>
        </p:nvSpPr>
        <p:spPr>
          <a:xfrm>
            <a:off x="1031917" y="3253381"/>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a:t>
            </a:r>
            <a:r>
              <a:rPr lang="en-US" altLang="zh-CN" sz="1600" dirty="0" smtClean="0">
                <a:cs typeface="Courier New" panose="02070309020205020404" pitchFamily="49" charset="0"/>
              </a:rPr>
              <a:t>Huawei-bgp] </a:t>
            </a:r>
            <a:r>
              <a:rPr lang="en-US" altLang="zh-CN" sz="1600" b="1" dirty="0"/>
              <a:t>peer</a:t>
            </a:r>
            <a:r>
              <a:rPr lang="en-US" altLang="zh-CN" sz="1600" dirty="0"/>
              <a:t> { </a:t>
            </a:r>
            <a:r>
              <a:rPr lang="en-US" altLang="zh-CN" sz="1600" i="1" dirty="0"/>
              <a:t>group-name</a:t>
            </a:r>
            <a:r>
              <a:rPr lang="en-US" altLang="zh-CN" sz="1600" dirty="0"/>
              <a:t> | </a:t>
            </a:r>
            <a:r>
              <a:rPr lang="en-US" altLang="zh-CN" sz="1600" i="1" dirty="0"/>
              <a:t>ipv4-address</a:t>
            </a:r>
            <a:r>
              <a:rPr lang="en-US" altLang="zh-CN" sz="1600" dirty="0"/>
              <a:t> | </a:t>
            </a:r>
            <a:r>
              <a:rPr lang="en-US" altLang="zh-CN" sz="1600" i="1" dirty="0"/>
              <a:t>ipv6-address</a:t>
            </a:r>
            <a:r>
              <a:rPr lang="en-US" altLang="zh-CN" sz="1600" dirty="0"/>
              <a:t> } </a:t>
            </a:r>
            <a:r>
              <a:rPr lang="en-US" altLang="zh-CN" sz="1600" b="1" dirty="0"/>
              <a:t>keychain</a:t>
            </a:r>
            <a:r>
              <a:rPr lang="en-US" altLang="zh-CN" sz="1600" dirty="0"/>
              <a:t> </a:t>
            </a:r>
            <a:r>
              <a:rPr lang="en-US" altLang="zh-CN" sz="1600" i="1" dirty="0"/>
              <a:t>keychain-name</a:t>
            </a:r>
            <a:endParaRPr lang="zh-CN" altLang="en-US" sz="1600" dirty="0">
              <a:cs typeface="Courier New" panose="02070309020205020404" pitchFamily="49" charset="0"/>
            </a:endParaRPr>
          </a:p>
        </p:txBody>
      </p:sp>
      <p:sp>
        <p:nvSpPr>
          <p:cNvPr id="10" name="矩形 9"/>
          <p:cNvSpPr/>
          <p:nvPr/>
        </p:nvSpPr>
        <p:spPr>
          <a:xfrm>
            <a:off x="551384" y="2821234"/>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cs typeface="Courier New" panose="02070309020205020404" pitchFamily="49" charset="0"/>
              </a:rPr>
              <a:t>配置</a:t>
            </a:r>
            <a:r>
              <a:rPr lang="en-US" altLang="zh-CN" sz="1600" dirty="0">
                <a:cs typeface="Courier New" panose="02070309020205020404" pitchFamily="49" charset="0"/>
              </a:rPr>
              <a:t>BGP</a:t>
            </a:r>
            <a:r>
              <a:rPr lang="zh-CN" altLang="en-US" sz="1600" dirty="0">
                <a:cs typeface="Courier New" panose="02070309020205020404" pitchFamily="49" charset="0"/>
              </a:rPr>
              <a:t>对等</a:t>
            </a:r>
            <a:r>
              <a:rPr lang="zh-CN" altLang="en-US" sz="1600" dirty="0" smtClean="0">
                <a:cs typeface="Courier New" panose="02070309020205020404" pitchFamily="49" charset="0"/>
              </a:rPr>
              <a:t>体在建立</a:t>
            </a:r>
            <a:r>
              <a:rPr lang="en-US" altLang="zh-CN" sz="1600" dirty="0">
                <a:cs typeface="Courier New" panose="02070309020205020404" pitchFamily="49" charset="0"/>
              </a:rPr>
              <a:t>TCP</a:t>
            </a:r>
            <a:r>
              <a:rPr lang="zh-CN" altLang="en-US" sz="1600" dirty="0">
                <a:cs typeface="Courier New" panose="02070309020205020404" pitchFamily="49" charset="0"/>
              </a:rPr>
              <a:t>连接时的</a:t>
            </a:r>
            <a:r>
              <a:rPr lang="en-US" altLang="zh-CN" sz="1600" dirty="0">
                <a:cs typeface="Courier New" panose="02070309020205020404" pitchFamily="49" charset="0"/>
              </a:rPr>
              <a:t>Keychain</a:t>
            </a:r>
            <a:r>
              <a:rPr lang="zh-CN" altLang="en-US" sz="1600" dirty="0" smtClean="0">
                <a:cs typeface="Courier New" panose="02070309020205020404" pitchFamily="49" charset="0"/>
              </a:rPr>
              <a:t>认证。</a:t>
            </a:r>
            <a:endParaRPr lang="zh-CN" altLang="en-US" sz="1600" dirty="0">
              <a:cs typeface="Courier New" panose="02070309020205020404" pitchFamily="49" charset="0"/>
            </a:endParaRPr>
          </a:p>
        </p:txBody>
      </p:sp>
      <p:sp>
        <p:nvSpPr>
          <p:cNvPr id="14" name="五边形 13"/>
          <p:cNvSpPr/>
          <p:nvPr/>
        </p:nvSpPr>
        <p:spPr bwMode="gray">
          <a:xfrm>
            <a:off x="8421350" y="99742"/>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ORF</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燕尾形 14"/>
          <p:cNvSpPr/>
          <p:nvPr/>
        </p:nvSpPr>
        <p:spPr bwMode="gray">
          <a:xfrm>
            <a:off x="9061791" y="99742"/>
            <a:ext cx="93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对等体组</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燕尾形 15"/>
          <p:cNvSpPr/>
          <p:nvPr/>
        </p:nvSpPr>
        <p:spPr bwMode="gray">
          <a:xfrm>
            <a:off x="9918233" y="99742"/>
            <a:ext cx="936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安全特性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燕尾形 16"/>
          <p:cNvSpPr/>
          <p:nvPr/>
        </p:nvSpPr>
        <p:spPr bwMode="gray">
          <a:xfrm>
            <a:off x="10774674" y="99742"/>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字节</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AS</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号</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00228551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GTSM</a:t>
            </a:r>
            <a:r>
              <a:rPr lang="zh-CN" altLang="en-US" smtClean="0"/>
              <a:t>功能的基础配置命令</a:t>
            </a:r>
            <a:endParaRPr lang="zh-CN" altLang="en-US" dirty="0"/>
          </a:p>
        </p:txBody>
      </p:sp>
      <p:sp>
        <p:nvSpPr>
          <p:cNvPr id="4" name="矩形 3"/>
          <p:cNvSpPr/>
          <p:nvPr/>
        </p:nvSpPr>
        <p:spPr>
          <a:xfrm>
            <a:off x="1031917" y="1672333"/>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[Huawei-bgp] </a:t>
            </a:r>
            <a:r>
              <a:rPr lang="en-US" altLang="zh-CN" sz="1600" b="1" dirty="0"/>
              <a:t>peer</a:t>
            </a:r>
            <a:r>
              <a:rPr lang="en-US" altLang="zh-CN" sz="1600" dirty="0"/>
              <a:t> { </a:t>
            </a:r>
            <a:r>
              <a:rPr lang="en-US" altLang="zh-CN" sz="1600" i="1" dirty="0"/>
              <a:t>group-name</a:t>
            </a:r>
            <a:r>
              <a:rPr lang="en-US" altLang="zh-CN" sz="1600" dirty="0"/>
              <a:t> | </a:t>
            </a:r>
            <a:r>
              <a:rPr lang="en-US" altLang="zh-CN" sz="1600" i="1" dirty="0"/>
              <a:t>ipv4-address</a:t>
            </a:r>
            <a:r>
              <a:rPr lang="en-US" altLang="zh-CN" sz="1600" dirty="0"/>
              <a:t> | </a:t>
            </a:r>
            <a:r>
              <a:rPr lang="en-US" altLang="zh-CN" sz="1600" i="1" dirty="0"/>
              <a:t>ipv6-address</a:t>
            </a:r>
            <a:r>
              <a:rPr lang="en-US" altLang="zh-CN" sz="1600" dirty="0"/>
              <a:t> } </a:t>
            </a:r>
            <a:r>
              <a:rPr lang="en-US" altLang="zh-CN" sz="1600" b="1" dirty="0"/>
              <a:t>valid-</a:t>
            </a:r>
            <a:r>
              <a:rPr lang="en-US" altLang="zh-CN" sz="1600" b="1" dirty="0" err="1"/>
              <a:t>ttl</a:t>
            </a:r>
            <a:r>
              <a:rPr lang="en-US" altLang="zh-CN" sz="1600" b="1" dirty="0"/>
              <a:t>-hops</a:t>
            </a:r>
            <a:r>
              <a:rPr lang="en-US" altLang="zh-CN" sz="1600" dirty="0"/>
              <a:t> [ </a:t>
            </a:r>
            <a:r>
              <a:rPr lang="en-US" altLang="zh-CN" sz="1600" i="1" dirty="0"/>
              <a:t>hops</a:t>
            </a:r>
            <a:r>
              <a:rPr lang="en-US" altLang="zh-CN" sz="1600" dirty="0"/>
              <a:t> ]</a:t>
            </a:r>
            <a:endParaRPr lang="zh-CN" altLang="en-US" sz="1600" dirty="0">
              <a:cs typeface="Courier New" panose="02070309020205020404" pitchFamily="49" charset="0"/>
            </a:endParaRPr>
          </a:p>
        </p:txBody>
      </p:sp>
      <p:sp>
        <p:nvSpPr>
          <p:cNvPr id="5" name="矩形 4"/>
          <p:cNvSpPr/>
          <p:nvPr/>
        </p:nvSpPr>
        <p:spPr>
          <a:xfrm>
            <a:off x="551384" y="1240186"/>
            <a:ext cx="11089232" cy="338554"/>
          </a:xfrm>
          <a:prstGeom prst="rect">
            <a:avLst/>
          </a:prstGeom>
        </p:spPr>
        <p:txBody>
          <a:bodyPr wrap="square">
            <a:spAutoFit/>
          </a:bodyPr>
          <a:lstStyle/>
          <a:p>
            <a:pPr marL="342900" indent="-342900" fontAlgn="auto">
              <a:buFont typeface="+mj-lt"/>
              <a:buAutoNum type="arabicPeriod"/>
            </a:pPr>
            <a:r>
              <a:rPr lang="zh-CN" altLang="en-US" sz="1600" dirty="0">
                <a:cs typeface="Courier New" panose="02070309020205020404" pitchFamily="49" charset="0"/>
              </a:rPr>
              <a:t>在</a:t>
            </a:r>
            <a:r>
              <a:rPr lang="en-US" altLang="zh-CN" sz="1600" dirty="0">
                <a:cs typeface="Courier New" panose="02070309020205020404" pitchFamily="49" charset="0"/>
              </a:rPr>
              <a:t>BGP</a:t>
            </a:r>
            <a:r>
              <a:rPr lang="zh-CN" altLang="en-US" sz="1600" dirty="0">
                <a:cs typeface="Courier New" panose="02070309020205020404" pitchFamily="49" charset="0"/>
              </a:rPr>
              <a:t>对等体（组）上应用</a:t>
            </a:r>
            <a:r>
              <a:rPr lang="en-US" altLang="zh-CN" sz="1600" dirty="0">
                <a:cs typeface="Courier New" panose="02070309020205020404" pitchFamily="49" charset="0"/>
              </a:rPr>
              <a:t>GTSM</a:t>
            </a:r>
            <a:r>
              <a:rPr lang="zh-CN" altLang="en-US" sz="1600" dirty="0">
                <a:cs typeface="Courier New" panose="02070309020205020404" pitchFamily="49" charset="0"/>
              </a:rPr>
              <a:t>功能。</a:t>
            </a:r>
          </a:p>
        </p:txBody>
      </p:sp>
      <p:sp>
        <p:nvSpPr>
          <p:cNvPr id="9" name="矩形 8"/>
          <p:cNvSpPr/>
          <p:nvPr/>
        </p:nvSpPr>
        <p:spPr>
          <a:xfrm>
            <a:off x="1031917" y="3253383"/>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a:t>
            </a:r>
            <a:r>
              <a:rPr lang="en-US" altLang="zh-CN" sz="1600" dirty="0" smtClean="0">
                <a:cs typeface="Courier New" panose="02070309020205020404" pitchFamily="49" charset="0"/>
              </a:rPr>
              <a:t>Huawei] </a:t>
            </a:r>
            <a:r>
              <a:rPr lang="en-US" altLang="zh-CN" sz="1600" b="1" dirty="0" err="1"/>
              <a:t>gtsm</a:t>
            </a:r>
            <a:r>
              <a:rPr lang="en-US" altLang="zh-CN" sz="1600" b="1" dirty="0"/>
              <a:t> default-action</a:t>
            </a:r>
            <a:r>
              <a:rPr lang="en-US" altLang="zh-CN" sz="1600" dirty="0"/>
              <a:t> { </a:t>
            </a:r>
            <a:r>
              <a:rPr lang="en-US" altLang="zh-CN" sz="1600" b="1" dirty="0"/>
              <a:t>drop</a:t>
            </a:r>
            <a:r>
              <a:rPr lang="en-US" altLang="zh-CN" sz="1600" dirty="0"/>
              <a:t> | </a:t>
            </a:r>
            <a:r>
              <a:rPr lang="en-US" altLang="zh-CN" sz="1600" b="1" dirty="0"/>
              <a:t>pass</a:t>
            </a:r>
            <a:r>
              <a:rPr lang="en-US" altLang="zh-CN" sz="1600" dirty="0"/>
              <a:t> }</a:t>
            </a:r>
            <a:endParaRPr lang="zh-CN" altLang="en-US" sz="1600" dirty="0">
              <a:cs typeface="Courier New" panose="02070309020205020404" pitchFamily="49" charset="0"/>
            </a:endParaRPr>
          </a:p>
        </p:txBody>
      </p:sp>
      <p:sp>
        <p:nvSpPr>
          <p:cNvPr id="10" name="矩形 9"/>
          <p:cNvSpPr/>
          <p:nvPr/>
        </p:nvSpPr>
        <p:spPr>
          <a:xfrm>
            <a:off x="551384" y="2821236"/>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smtClean="0">
                <a:cs typeface="Courier New" panose="02070309020205020404" pitchFamily="49" charset="0"/>
              </a:rPr>
              <a:t>（</a:t>
            </a:r>
            <a:r>
              <a:rPr lang="zh-CN" altLang="en-US" sz="1600" dirty="0">
                <a:cs typeface="Courier New" panose="02070309020205020404" pitchFamily="49" charset="0"/>
              </a:rPr>
              <a:t>可选）设置未匹配</a:t>
            </a:r>
            <a:r>
              <a:rPr lang="en-US" altLang="zh-CN" sz="1600" dirty="0">
                <a:cs typeface="Courier New" panose="02070309020205020404" pitchFamily="49" charset="0"/>
              </a:rPr>
              <a:t>GTSM</a:t>
            </a:r>
            <a:r>
              <a:rPr lang="zh-CN" altLang="en-US" sz="1600" dirty="0">
                <a:cs typeface="Courier New" panose="02070309020205020404" pitchFamily="49" charset="0"/>
              </a:rPr>
              <a:t>策略的报文的缺省</a:t>
            </a:r>
            <a:r>
              <a:rPr lang="zh-CN" altLang="en-US" sz="1600" dirty="0" smtClean="0">
                <a:cs typeface="Courier New" panose="02070309020205020404" pitchFamily="49" charset="0"/>
              </a:rPr>
              <a:t>动作。</a:t>
            </a:r>
            <a:endParaRPr lang="zh-CN" altLang="en-US" sz="1600" dirty="0">
              <a:cs typeface="Courier New" panose="02070309020205020404" pitchFamily="49" charset="0"/>
            </a:endParaRPr>
          </a:p>
        </p:txBody>
      </p:sp>
      <p:sp>
        <p:nvSpPr>
          <p:cNvPr id="12" name="矩形 11"/>
          <p:cNvSpPr/>
          <p:nvPr/>
        </p:nvSpPr>
        <p:spPr>
          <a:xfrm>
            <a:off x="1031917" y="4893487"/>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a:t>
            </a:r>
            <a:r>
              <a:rPr lang="en-US" altLang="zh-CN" sz="1600" dirty="0" smtClean="0">
                <a:cs typeface="Courier New" panose="02070309020205020404" pitchFamily="49" charset="0"/>
              </a:rPr>
              <a:t>Huawei] </a:t>
            </a:r>
            <a:r>
              <a:rPr lang="en-US" altLang="zh-CN" sz="1600" b="1" dirty="0" err="1"/>
              <a:t>gtsm</a:t>
            </a:r>
            <a:r>
              <a:rPr lang="en-US" altLang="zh-CN" sz="1600" b="1" dirty="0"/>
              <a:t> log drop-packet</a:t>
            </a:r>
            <a:r>
              <a:rPr lang="en-US" altLang="zh-CN" sz="1600" dirty="0"/>
              <a:t> </a:t>
            </a:r>
            <a:r>
              <a:rPr lang="en-US" altLang="zh-CN" sz="1600" b="1" dirty="0"/>
              <a:t>all</a:t>
            </a:r>
            <a:endParaRPr lang="zh-CN" altLang="en-US" sz="1600" dirty="0">
              <a:cs typeface="Courier New" panose="02070309020205020404" pitchFamily="49" charset="0"/>
            </a:endParaRPr>
          </a:p>
        </p:txBody>
      </p:sp>
      <p:sp>
        <p:nvSpPr>
          <p:cNvPr id="13" name="矩形 12"/>
          <p:cNvSpPr/>
          <p:nvPr/>
        </p:nvSpPr>
        <p:spPr>
          <a:xfrm>
            <a:off x="551384" y="4461340"/>
            <a:ext cx="11089232" cy="338554"/>
          </a:xfrm>
          <a:prstGeom prst="rect">
            <a:avLst/>
          </a:prstGeom>
        </p:spPr>
        <p:txBody>
          <a:bodyPr wrap="square">
            <a:spAutoFit/>
          </a:bodyPr>
          <a:lstStyle/>
          <a:p>
            <a:pPr marL="342900" indent="-342900" fontAlgn="auto">
              <a:buFont typeface="+mj-lt"/>
              <a:buAutoNum type="arabicPeriod" startAt="3"/>
            </a:pPr>
            <a:r>
              <a:rPr lang="zh-CN" altLang="en-US" sz="1600" dirty="0" smtClean="0">
                <a:cs typeface="Courier New" panose="02070309020205020404" pitchFamily="49" charset="0"/>
              </a:rPr>
              <a:t>（</a:t>
            </a:r>
            <a:r>
              <a:rPr lang="zh-CN" altLang="en-US" sz="1600" dirty="0">
                <a:cs typeface="Courier New" panose="02070309020205020404" pitchFamily="49" charset="0"/>
              </a:rPr>
              <a:t>可选）打开单板的</a:t>
            </a:r>
            <a:r>
              <a:rPr lang="en-US" altLang="zh-CN" sz="1600" dirty="0">
                <a:cs typeface="Courier New" panose="02070309020205020404" pitchFamily="49" charset="0"/>
              </a:rPr>
              <a:t>LOG</a:t>
            </a:r>
            <a:r>
              <a:rPr lang="zh-CN" altLang="en-US" sz="1600" dirty="0">
                <a:cs typeface="Courier New" panose="02070309020205020404" pitchFamily="49" charset="0"/>
              </a:rPr>
              <a:t>信息开关，在单板</a:t>
            </a:r>
            <a:r>
              <a:rPr lang="en-US" altLang="zh-CN" sz="1600" dirty="0">
                <a:cs typeface="Courier New" panose="02070309020205020404" pitchFamily="49" charset="0"/>
              </a:rPr>
              <a:t>GTSM</a:t>
            </a:r>
            <a:r>
              <a:rPr lang="zh-CN" altLang="en-US" sz="1600" dirty="0">
                <a:cs typeface="Courier New" panose="02070309020205020404" pitchFamily="49" charset="0"/>
              </a:rPr>
              <a:t>丢弃报文时记录</a:t>
            </a:r>
            <a:r>
              <a:rPr lang="en-US" altLang="zh-CN" sz="1600" dirty="0">
                <a:cs typeface="Courier New" panose="02070309020205020404" pitchFamily="49" charset="0"/>
              </a:rPr>
              <a:t>LOG</a:t>
            </a:r>
            <a:r>
              <a:rPr lang="zh-CN" altLang="en-US" sz="1600" dirty="0" smtClean="0">
                <a:cs typeface="Courier New" panose="02070309020205020404" pitchFamily="49" charset="0"/>
              </a:rPr>
              <a:t>信息。</a:t>
            </a:r>
            <a:endParaRPr lang="zh-CN" altLang="en-US" sz="1600" dirty="0">
              <a:cs typeface="Courier New" panose="02070309020205020404" pitchFamily="49" charset="0"/>
            </a:endParaRPr>
          </a:p>
        </p:txBody>
      </p:sp>
      <p:sp>
        <p:nvSpPr>
          <p:cNvPr id="23" name="矩形 22"/>
          <p:cNvSpPr/>
          <p:nvPr/>
        </p:nvSpPr>
        <p:spPr>
          <a:xfrm>
            <a:off x="1031917" y="5242250"/>
            <a:ext cx="10608699" cy="707886"/>
          </a:xfrm>
          <a:prstGeom prst="rect">
            <a:avLst/>
          </a:prstGeom>
        </p:spPr>
        <p:txBody>
          <a:bodyPr wrap="square">
            <a:spAutoFit/>
          </a:bodyPr>
          <a:lstStyle/>
          <a:p>
            <a:pPr>
              <a:lnSpc>
                <a:spcPts val="2400"/>
              </a:lnSpc>
            </a:pPr>
            <a:r>
              <a:rPr lang="zh-CN" altLang="en-US" sz="1600" dirty="0">
                <a:cs typeface="Courier New" panose="02070309020205020404" pitchFamily="49" charset="0"/>
              </a:rPr>
              <a:t>缺省情况下，在单板</a:t>
            </a:r>
            <a:r>
              <a:rPr lang="en-US" altLang="zh-CN" sz="1600" dirty="0">
                <a:cs typeface="Courier New" panose="02070309020205020404" pitchFamily="49" charset="0"/>
              </a:rPr>
              <a:t>GTSM</a:t>
            </a:r>
            <a:r>
              <a:rPr lang="zh-CN" altLang="en-US" sz="1600" dirty="0">
                <a:cs typeface="Courier New" panose="02070309020205020404" pitchFamily="49" charset="0"/>
              </a:rPr>
              <a:t>丢弃报文时不记录</a:t>
            </a:r>
            <a:r>
              <a:rPr lang="en-US" altLang="zh-CN" sz="1600" dirty="0">
                <a:cs typeface="Courier New" panose="02070309020205020404" pitchFamily="49" charset="0"/>
              </a:rPr>
              <a:t>LOG</a:t>
            </a:r>
            <a:r>
              <a:rPr lang="zh-CN" altLang="en-US" sz="1600" dirty="0">
                <a:cs typeface="Courier New" panose="02070309020205020404" pitchFamily="49" charset="0"/>
              </a:rPr>
              <a:t>信息</a:t>
            </a:r>
            <a:r>
              <a:rPr lang="zh-CN" altLang="en-US" sz="1600" dirty="0" smtClean="0">
                <a:cs typeface="Courier New" panose="02070309020205020404" pitchFamily="49" charset="0"/>
              </a:rPr>
              <a:t>。</a:t>
            </a:r>
            <a:endParaRPr lang="en-US" altLang="zh-CN" sz="1600" dirty="0" smtClean="0">
              <a:cs typeface="Courier New" panose="02070309020205020404" pitchFamily="49" charset="0"/>
            </a:endParaRPr>
          </a:p>
          <a:p>
            <a:pPr>
              <a:lnSpc>
                <a:spcPts val="2400"/>
              </a:lnSpc>
            </a:pPr>
            <a:r>
              <a:rPr lang="zh-CN" altLang="en-US" sz="1600" dirty="0" smtClean="0">
                <a:cs typeface="Courier New" panose="02070309020205020404" pitchFamily="49" charset="0"/>
              </a:rPr>
              <a:t>对于</a:t>
            </a:r>
            <a:r>
              <a:rPr lang="zh-CN" altLang="en-US" sz="1600" dirty="0">
                <a:cs typeface="Courier New" panose="02070309020205020404" pitchFamily="49" charset="0"/>
              </a:rPr>
              <a:t>丢弃的报文，可以</a:t>
            </a:r>
            <a:r>
              <a:rPr lang="zh-CN" altLang="en-US" sz="1600" dirty="0" smtClean="0">
                <a:cs typeface="Courier New" panose="02070309020205020404" pitchFamily="49" charset="0"/>
              </a:rPr>
              <a:t>通过该命令打开</a:t>
            </a:r>
            <a:r>
              <a:rPr lang="en-US" altLang="zh-CN" sz="1600" dirty="0">
                <a:cs typeface="Courier New" panose="02070309020205020404" pitchFamily="49" charset="0"/>
              </a:rPr>
              <a:t>LOG</a:t>
            </a:r>
            <a:r>
              <a:rPr lang="zh-CN" altLang="en-US" sz="1600" dirty="0">
                <a:cs typeface="Courier New" panose="02070309020205020404" pitchFamily="49" charset="0"/>
              </a:rPr>
              <a:t>信息开关，控制是否对报文被丢弃的情况记录日志，以方便故障的定位。</a:t>
            </a:r>
          </a:p>
        </p:txBody>
      </p:sp>
      <p:sp>
        <p:nvSpPr>
          <p:cNvPr id="14" name="矩形 13"/>
          <p:cNvSpPr/>
          <p:nvPr/>
        </p:nvSpPr>
        <p:spPr>
          <a:xfrm>
            <a:off x="1031917" y="3602146"/>
            <a:ext cx="10608699" cy="377732"/>
          </a:xfrm>
          <a:prstGeom prst="rect">
            <a:avLst/>
          </a:prstGeom>
        </p:spPr>
        <p:txBody>
          <a:bodyPr wrap="square">
            <a:spAutoFit/>
          </a:bodyPr>
          <a:lstStyle/>
          <a:p>
            <a:pPr>
              <a:lnSpc>
                <a:spcPts val="2400"/>
              </a:lnSpc>
            </a:pPr>
            <a:r>
              <a:rPr lang="zh-CN" altLang="en-US" sz="1600" dirty="0">
                <a:cs typeface="Courier New" panose="02070309020205020404" pitchFamily="49" charset="0"/>
              </a:rPr>
              <a:t>缺省情况下，未匹配</a:t>
            </a:r>
            <a:r>
              <a:rPr lang="en-US" altLang="zh-CN" sz="1600" dirty="0">
                <a:cs typeface="Courier New" panose="02070309020205020404" pitchFamily="49" charset="0"/>
              </a:rPr>
              <a:t>GTSM</a:t>
            </a:r>
            <a:r>
              <a:rPr lang="zh-CN" altLang="en-US" sz="1600" dirty="0">
                <a:cs typeface="Courier New" panose="02070309020205020404" pitchFamily="49" charset="0"/>
              </a:rPr>
              <a:t>策略的报文可以通过过滤。</a:t>
            </a:r>
          </a:p>
        </p:txBody>
      </p:sp>
      <p:sp>
        <p:nvSpPr>
          <p:cNvPr id="15" name="矩形 14"/>
          <p:cNvSpPr/>
          <p:nvPr/>
        </p:nvSpPr>
        <p:spPr>
          <a:xfrm>
            <a:off x="1031917" y="2034744"/>
            <a:ext cx="10608699" cy="400110"/>
          </a:xfrm>
          <a:prstGeom prst="rect">
            <a:avLst/>
          </a:prstGeom>
        </p:spPr>
        <p:txBody>
          <a:bodyPr wrap="square">
            <a:spAutoFit/>
          </a:bodyPr>
          <a:lstStyle/>
          <a:p>
            <a:pPr>
              <a:lnSpc>
                <a:spcPts val="2400"/>
              </a:lnSpc>
            </a:pPr>
            <a:r>
              <a:rPr lang="en-US" altLang="zh-CN" sz="1600" dirty="0">
                <a:cs typeface="Courier New" panose="02070309020205020404" pitchFamily="49" charset="0"/>
              </a:rPr>
              <a:t>GTSM</a:t>
            </a:r>
            <a:r>
              <a:rPr lang="zh-CN" altLang="en-US" sz="1600" dirty="0">
                <a:cs typeface="Courier New" panose="02070309020205020404" pitchFamily="49" charset="0"/>
              </a:rPr>
              <a:t>的配置是对称的，需要在</a:t>
            </a:r>
            <a:r>
              <a:rPr lang="en-US" altLang="zh-CN" sz="1600" dirty="0" smtClean="0">
                <a:cs typeface="Courier New" panose="02070309020205020404" pitchFamily="49" charset="0"/>
              </a:rPr>
              <a:t>BGP</a:t>
            </a:r>
            <a:r>
              <a:rPr lang="zh-CN" altLang="en-US" sz="1600" dirty="0" smtClean="0">
                <a:cs typeface="Courier New" panose="02070309020205020404" pitchFamily="49" charset="0"/>
              </a:rPr>
              <a:t>对等体间同时</a:t>
            </a:r>
            <a:r>
              <a:rPr lang="zh-CN" altLang="en-US" sz="1600" dirty="0">
                <a:cs typeface="Courier New" panose="02070309020205020404" pitchFamily="49" charset="0"/>
              </a:rPr>
              <a:t>使能</a:t>
            </a:r>
            <a:r>
              <a:rPr lang="en-US" altLang="zh-CN" sz="1600" dirty="0">
                <a:cs typeface="Courier New" panose="02070309020205020404" pitchFamily="49" charset="0"/>
              </a:rPr>
              <a:t>GTSM</a:t>
            </a:r>
            <a:r>
              <a:rPr lang="zh-CN" altLang="en-US" sz="1600" dirty="0">
                <a:cs typeface="Courier New" panose="02070309020205020404" pitchFamily="49" charset="0"/>
              </a:rPr>
              <a:t>。</a:t>
            </a:r>
          </a:p>
        </p:txBody>
      </p:sp>
      <p:sp>
        <p:nvSpPr>
          <p:cNvPr id="19" name="五边形 18"/>
          <p:cNvSpPr/>
          <p:nvPr/>
        </p:nvSpPr>
        <p:spPr bwMode="gray">
          <a:xfrm>
            <a:off x="8421350" y="99742"/>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ORF</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燕尾形 19"/>
          <p:cNvSpPr/>
          <p:nvPr/>
        </p:nvSpPr>
        <p:spPr bwMode="gray">
          <a:xfrm>
            <a:off x="9061791" y="99742"/>
            <a:ext cx="93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对等体组</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燕尾形 20"/>
          <p:cNvSpPr/>
          <p:nvPr/>
        </p:nvSpPr>
        <p:spPr bwMode="gray">
          <a:xfrm>
            <a:off x="9918233" y="99742"/>
            <a:ext cx="936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安全特性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gray">
          <a:xfrm>
            <a:off x="10774674" y="99742"/>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字节</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AS</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号</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24396333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任意多边形 25"/>
          <p:cNvSpPr/>
          <p:nvPr/>
        </p:nvSpPr>
        <p:spPr bwMode="gray">
          <a:xfrm>
            <a:off x="1237925" y="1013513"/>
            <a:ext cx="3699566" cy="2631079"/>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sp>
        <p:nvSpPr>
          <p:cNvPr id="2" name="标题 1"/>
          <p:cNvSpPr>
            <a:spLocks noGrp="1"/>
          </p:cNvSpPr>
          <p:nvPr>
            <p:ph type="title"/>
          </p:nvPr>
        </p:nvSpPr>
        <p:spPr/>
        <p:txBody>
          <a:bodyPr/>
          <a:lstStyle/>
          <a:p>
            <a:r>
              <a:rPr lang="en-US" altLang="zh-CN" smtClean="0"/>
              <a:t>GTSM</a:t>
            </a:r>
            <a:r>
              <a:rPr lang="zh-CN" altLang="en-US" smtClean="0"/>
              <a:t>配置举例 </a:t>
            </a:r>
            <a:r>
              <a:rPr lang="en-US" altLang="zh-CN" smtClean="0"/>
              <a:t>(1)</a:t>
            </a:r>
            <a:endParaRPr lang="zh-CN" altLang="en-US" dirty="0"/>
          </a:p>
        </p:txBody>
      </p:sp>
      <p:sp>
        <p:nvSpPr>
          <p:cNvPr id="24" name="文本框 23"/>
          <p:cNvSpPr txBox="1"/>
          <p:nvPr/>
        </p:nvSpPr>
        <p:spPr>
          <a:xfrm>
            <a:off x="6489960" y="1689447"/>
            <a:ext cx="5087996" cy="1384995"/>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R1] </a:t>
            </a:r>
            <a:r>
              <a:rPr lang="en-US" altLang="zh-CN" sz="1400" dirty="0">
                <a:solidFill>
                  <a:prstClr val="black"/>
                </a:solidFill>
                <a:cs typeface="Courier New" panose="02070309020205020404" pitchFamily="49" charset="0"/>
              </a:rPr>
              <a:t>bgp </a:t>
            </a:r>
            <a:r>
              <a:rPr lang="en-US" altLang="zh-CN" sz="1400" dirty="0" smtClean="0">
                <a:solidFill>
                  <a:prstClr val="black"/>
                </a:solidFill>
                <a:cs typeface="Courier New" panose="02070309020205020404" pitchFamily="49" charset="0"/>
              </a:rPr>
              <a:t>101</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R1-bgp</a:t>
            </a:r>
            <a:r>
              <a:rPr lang="en-US" altLang="zh-CN" sz="1400" dirty="0">
                <a:solidFill>
                  <a:prstClr val="black"/>
                </a:solidFill>
                <a:cs typeface="Courier New" panose="02070309020205020404" pitchFamily="49" charset="0"/>
              </a:rPr>
              <a:t>] peer 10.1.2.2 as-number </a:t>
            </a:r>
            <a:r>
              <a:rPr lang="en-US" altLang="zh-CN" sz="1400" dirty="0" smtClean="0">
                <a:solidFill>
                  <a:prstClr val="black"/>
                </a:solidFill>
                <a:cs typeface="Courier New" panose="02070309020205020404" pitchFamily="49" charset="0"/>
              </a:rPr>
              <a:t>101</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R1-bgp</a:t>
            </a:r>
            <a:r>
              <a:rPr lang="en-US" altLang="zh-CN" sz="1400" dirty="0">
                <a:solidFill>
                  <a:prstClr val="black"/>
                </a:solidFill>
                <a:cs typeface="Courier New" panose="02070309020205020404" pitchFamily="49" charset="0"/>
              </a:rPr>
              <a:t>] peer 10.1.2.2 connect-interface Loopback </a:t>
            </a:r>
            <a:r>
              <a:rPr lang="en-US" altLang="zh-CN" sz="1400" dirty="0" smtClean="0">
                <a:solidFill>
                  <a:prstClr val="black"/>
                </a:solidFill>
                <a:cs typeface="Courier New" panose="02070309020205020404" pitchFamily="49" charset="0"/>
              </a:rPr>
              <a:t>0</a:t>
            </a:r>
          </a:p>
          <a:p>
            <a:pPr fontAlgn="auto">
              <a:spcBef>
                <a:spcPts val="0"/>
              </a:spcBef>
              <a:spcAft>
                <a:spcPts val="0"/>
              </a:spcAft>
            </a:pPr>
            <a:r>
              <a:rPr lang="en-US" altLang="zh-CN" sz="1400" dirty="0">
                <a:solidFill>
                  <a:prstClr val="black"/>
                </a:solidFill>
                <a:cs typeface="Courier New" panose="02070309020205020404" pitchFamily="49" charset="0"/>
              </a:rPr>
              <a:t>[R1-bgp] peer </a:t>
            </a:r>
            <a:r>
              <a:rPr lang="en-US" altLang="zh-CN" sz="1400" dirty="0" smtClean="0">
                <a:solidFill>
                  <a:prstClr val="black"/>
                </a:solidFill>
                <a:cs typeface="Courier New" panose="02070309020205020404" pitchFamily="49" charset="0"/>
              </a:rPr>
              <a:t>10.1.3.3 </a:t>
            </a:r>
            <a:r>
              <a:rPr lang="en-US" altLang="zh-CN" sz="1400" dirty="0">
                <a:solidFill>
                  <a:prstClr val="black"/>
                </a:solidFill>
                <a:cs typeface="Courier New" panose="02070309020205020404" pitchFamily="49" charset="0"/>
              </a:rPr>
              <a:t>as-number 101</a:t>
            </a:r>
          </a:p>
          <a:p>
            <a:pPr fontAlgn="auto">
              <a:spcBef>
                <a:spcPts val="0"/>
              </a:spcBef>
              <a:spcAft>
                <a:spcPts val="0"/>
              </a:spcAft>
            </a:pPr>
            <a:r>
              <a:rPr lang="en-US" altLang="zh-CN" sz="1400" dirty="0">
                <a:solidFill>
                  <a:prstClr val="black"/>
                </a:solidFill>
                <a:cs typeface="Courier New" panose="02070309020205020404" pitchFamily="49" charset="0"/>
              </a:rPr>
              <a:t>[R1-bgp] peer </a:t>
            </a:r>
            <a:r>
              <a:rPr lang="en-US" altLang="zh-CN" sz="1400" dirty="0" smtClean="0">
                <a:solidFill>
                  <a:prstClr val="black"/>
                </a:solidFill>
                <a:cs typeface="Courier New" panose="02070309020205020404" pitchFamily="49" charset="0"/>
              </a:rPr>
              <a:t>10.1.3.3 </a:t>
            </a:r>
            <a:r>
              <a:rPr lang="en-US" altLang="zh-CN" sz="1400" dirty="0">
                <a:solidFill>
                  <a:prstClr val="black"/>
                </a:solidFill>
                <a:cs typeface="Courier New" panose="02070309020205020404" pitchFamily="49" charset="0"/>
              </a:rPr>
              <a:t>connect-interface Loopback </a:t>
            </a:r>
            <a:r>
              <a:rPr lang="en-US" altLang="zh-CN" sz="1400" dirty="0" smtClean="0">
                <a:solidFill>
                  <a:prstClr val="black"/>
                </a:solidFill>
                <a:cs typeface="Courier New" panose="02070309020205020404" pitchFamily="49" charset="0"/>
              </a:rPr>
              <a:t>0</a:t>
            </a:r>
          </a:p>
          <a:p>
            <a:r>
              <a:rPr lang="en-US" altLang="zh-CN" sz="1400" dirty="0">
                <a:solidFill>
                  <a:prstClr val="black"/>
                </a:solidFill>
                <a:cs typeface="Courier New" panose="02070309020205020404" pitchFamily="49" charset="0"/>
              </a:rPr>
              <a:t>[R1-bgp] </a:t>
            </a:r>
            <a:r>
              <a:rPr lang="en-US" altLang="zh-CN" sz="1400" dirty="0" smtClean="0">
                <a:solidFill>
                  <a:prstClr val="black"/>
                </a:solidFill>
                <a:cs typeface="Courier New" panose="02070309020205020404" pitchFamily="49" charset="0"/>
              </a:rPr>
              <a:t>network 10.1.1.1 32</a:t>
            </a:r>
            <a:endParaRPr lang="en-US" altLang="zh-CN" sz="1400" dirty="0">
              <a:solidFill>
                <a:prstClr val="black"/>
              </a:solidFill>
              <a:cs typeface="Courier New" panose="02070309020205020404" pitchFamily="49" charset="0"/>
            </a:endParaRPr>
          </a:p>
        </p:txBody>
      </p:sp>
      <p:sp>
        <p:nvSpPr>
          <p:cNvPr id="58" name="文本框 57"/>
          <p:cNvSpPr txBox="1"/>
          <p:nvPr/>
        </p:nvSpPr>
        <p:spPr>
          <a:xfrm>
            <a:off x="6338670" y="1326810"/>
            <a:ext cx="5407243" cy="338554"/>
          </a:xfrm>
          <a:prstGeom prst="rect">
            <a:avLst/>
          </a:prstGeom>
          <a:noFill/>
        </p:spPr>
        <p:txBody>
          <a:bodyPr wrap="square" rtlCol="0">
            <a:spAutoFit/>
          </a:bodyPr>
          <a:lstStyle/>
          <a:p>
            <a:pPr fontAlgn="auto">
              <a:spcBef>
                <a:spcPts val="0"/>
              </a:spcBef>
              <a:spcAft>
                <a:spcPts val="0"/>
              </a:spcAft>
            </a:pPr>
            <a:r>
              <a:rPr lang="en-US" altLang="zh-CN" sz="1600" dirty="0" smtClean="0">
                <a:solidFill>
                  <a:prstClr val="black"/>
                </a:solidFill>
              </a:rPr>
              <a:t>1</a:t>
            </a:r>
            <a:r>
              <a:rPr lang="zh-CN" altLang="en-US" sz="1600" dirty="0" smtClean="0">
                <a:solidFill>
                  <a:prstClr val="black"/>
                </a:solidFill>
              </a:rPr>
              <a:t>、建立</a:t>
            </a:r>
            <a:r>
              <a:rPr lang="en-US" altLang="zh-CN" sz="1600" dirty="0" smtClean="0">
                <a:solidFill>
                  <a:prstClr val="black"/>
                </a:solidFill>
              </a:rPr>
              <a:t>IBGP</a:t>
            </a:r>
            <a:r>
              <a:rPr lang="zh-CN" altLang="en-US" sz="1600" dirty="0" smtClean="0">
                <a:solidFill>
                  <a:prstClr val="black"/>
                </a:solidFill>
              </a:rPr>
              <a:t>全互联。</a:t>
            </a:r>
            <a:endParaRPr lang="zh-CN" altLang="en-US" sz="1600" dirty="0">
              <a:solidFill>
                <a:prstClr val="black"/>
              </a:solidFill>
            </a:endParaRPr>
          </a:p>
        </p:txBody>
      </p:sp>
      <p:pic>
        <p:nvPicPr>
          <p:cNvPr id="67" name="图片 6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736636" y="1524072"/>
            <a:ext cx="540000" cy="442800"/>
          </a:xfrm>
          <a:prstGeom prst="rect">
            <a:avLst/>
          </a:prstGeom>
        </p:spPr>
      </p:pic>
      <p:cxnSp>
        <p:nvCxnSpPr>
          <p:cNvPr id="74" name="直接连接符 73"/>
          <p:cNvCxnSpPr>
            <a:stCxn id="71" idx="3"/>
            <a:endCxn id="67" idx="1"/>
          </p:cNvCxnSpPr>
          <p:nvPr/>
        </p:nvCxnSpPr>
        <p:spPr bwMode="gray">
          <a:xfrm>
            <a:off x="2241509" y="1745472"/>
            <a:ext cx="149512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TextBox 120">
            <a:extLst>
              <a:ext uri="{FF2B5EF4-FFF2-40B4-BE49-F238E27FC236}">
                <a16:creationId xmlns="" xmlns:a16="http://schemas.microsoft.com/office/drawing/2014/main" id="{020D7A1D-EFAD-4C8C-B9DE-D0FAD269B77A}"/>
              </a:ext>
            </a:extLst>
          </p:cNvPr>
          <p:cNvSpPr txBox="1"/>
          <p:nvPr/>
        </p:nvSpPr>
        <p:spPr bwMode="gray">
          <a:xfrm>
            <a:off x="1570830" y="1274568"/>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TextBox 120">
            <a:extLst>
              <a:ext uri="{FF2B5EF4-FFF2-40B4-BE49-F238E27FC236}">
                <a16:creationId xmlns="" xmlns:a16="http://schemas.microsoft.com/office/drawing/2014/main" id="{020D7A1D-EFAD-4C8C-B9DE-D0FAD269B77A}"/>
              </a:ext>
            </a:extLst>
          </p:cNvPr>
          <p:cNvSpPr txBox="1"/>
          <p:nvPr/>
        </p:nvSpPr>
        <p:spPr bwMode="gray">
          <a:xfrm>
            <a:off x="3602238" y="1274568"/>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TextBox 120">
            <a:extLst>
              <a:ext uri="{FF2B5EF4-FFF2-40B4-BE49-F238E27FC236}">
                <a16:creationId xmlns="" xmlns:a16="http://schemas.microsoft.com/office/drawing/2014/main" id="{020D7A1D-EFAD-4C8C-B9DE-D0FAD269B77A}"/>
              </a:ext>
            </a:extLst>
          </p:cNvPr>
          <p:cNvSpPr txBox="1"/>
          <p:nvPr/>
        </p:nvSpPr>
        <p:spPr bwMode="gray">
          <a:xfrm>
            <a:off x="3480491" y="1703693"/>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文本占位符 2"/>
          <p:cNvSpPr txBox="1">
            <a:spLocks/>
          </p:cNvSpPr>
          <p:nvPr/>
        </p:nvSpPr>
        <p:spPr bwMode="auto">
          <a:xfrm>
            <a:off x="480297" y="3617457"/>
            <a:ext cx="5627683" cy="129871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en-US" altLang="zh-CN" sz="1800" dirty="0" smtClean="0"/>
              <a:t>R1</a:t>
            </a:r>
            <a:r>
              <a:rPr lang="zh-CN" altLang="en-US" sz="1800" dirty="0" smtClean="0"/>
              <a:t>、</a:t>
            </a:r>
            <a:r>
              <a:rPr lang="en-US" altLang="zh-CN" sz="1800" dirty="0" smtClean="0"/>
              <a:t>R2</a:t>
            </a:r>
            <a:r>
              <a:rPr lang="zh-CN" altLang="en-US" sz="1800" dirty="0" smtClean="0"/>
              <a:t>、</a:t>
            </a:r>
            <a:r>
              <a:rPr lang="en-US" altLang="zh-CN" sz="1800" dirty="0" smtClean="0"/>
              <a:t>R3</a:t>
            </a:r>
            <a:r>
              <a:rPr lang="zh-CN" altLang="en-US" sz="1800" dirty="0" smtClean="0"/>
              <a:t>均处于</a:t>
            </a:r>
            <a:r>
              <a:rPr lang="en-US" altLang="zh-CN" sz="1800" dirty="0" smtClean="0"/>
              <a:t>AS 101</a:t>
            </a:r>
            <a:r>
              <a:rPr lang="zh-CN" altLang="en-US" sz="1800" dirty="0" smtClean="0"/>
              <a:t>中，且使用</a:t>
            </a:r>
            <a:r>
              <a:rPr lang="en-US" altLang="zh-CN" sz="1800" dirty="0" smtClean="0"/>
              <a:t>Loopback0</a:t>
            </a:r>
            <a:r>
              <a:rPr lang="zh-CN" altLang="en-US" sz="1800" dirty="0" smtClean="0"/>
              <a:t>接口建立</a:t>
            </a:r>
            <a:r>
              <a:rPr lang="en-US" altLang="zh-CN" sz="1800" dirty="0" smtClean="0"/>
              <a:t>IBGP</a:t>
            </a:r>
            <a:r>
              <a:rPr lang="zh-CN" altLang="en-US" sz="1800" dirty="0" smtClean="0"/>
              <a:t>全互联。同时需要在三台路由器上开启</a:t>
            </a:r>
            <a:r>
              <a:rPr lang="en-US" altLang="zh-CN" sz="1800" dirty="0" smtClean="0"/>
              <a:t>GTSM</a:t>
            </a:r>
            <a:r>
              <a:rPr lang="zh-CN" altLang="en-US" sz="1800" dirty="0" smtClean="0"/>
              <a:t>功能，防止</a:t>
            </a:r>
            <a:r>
              <a:rPr lang="en-US" altLang="zh-CN" sz="1800" dirty="0" smtClean="0"/>
              <a:t>CPU</a:t>
            </a:r>
            <a:r>
              <a:rPr lang="zh-CN" altLang="en-US" sz="1800" dirty="0" smtClean="0"/>
              <a:t>类型的攻击。</a:t>
            </a:r>
            <a:endParaRPr lang="zh-CN" altLang="en-US" sz="1800" dirty="0"/>
          </a:p>
        </p:txBody>
      </p:sp>
      <p:pic>
        <p:nvPicPr>
          <p:cNvPr id="43" name="图片 42"/>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736636" y="3095873"/>
            <a:ext cx="540000" cy="442800"/>
          </a:xfrm>
          <a:prstGeom prst="rect">
            <a:avLst/>
          </a:prstGeom>
        </p:spPr>
      </p:pic>
      <p:cxnSp>
        <p:nvCxnSpPr>
          <p:cNvPr id="45" name="直接连接符 44"/>
          <p:cNvCxnSpPr>
            <a:stCxn id="67" idx="2"/>
            <a:endCxn id="43" idx="0"/>
          </p:cNvCxnSpPr>
          <p:nvPr/>
        </p:nvCxnSpPr>
        <p:spPr bwMode="gray">
          <a:xfrm>
            <a:off x="4006636" y="1966872"/>
            <a:ext cx="0" cy="112900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71" name="图片 7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701509" y="1524072"/>
            <a:ext cx="540000" cy="442800"/>
          </a:xfrm>
          <a:prstGeom prst="rect">
            <a:avLst/>
          </a:prstGeom>
        </p:spPr>
      </p:pic>
      <p:sp>
        <p:nvSpPr>
          <p:cNvPr id="55" name="TextBox 120">
            <a:extLst>
              <a:ext uri="{FF2B5EF4-FFF2-40B4-BE49-F238E27FC236}">
                <a16:creationId xmlns="" xmlns:a16="http://schemas.microsoft.com/office/drawing/2014/main" id="{020D7A1D-EFAD-4C8C-B9DE-D0FAD269B77A}"/>
              </a:ext>
            </a:extLst>
          </p:cNvPr>
          <p:cNvSpPr txBox="1"/>
          <p:nvPr/>
        </p:nvSpPr>
        <p:spPr bwMode="gray">
          <a:xfrm>
            <a:off x="4027281" y="3161357"/>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R3</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TextBox 120">
            <a:extLst>
              <a:ext uri="{FF2B5EF4-FFF2-40B4-BE49-F238E27FC236}">
                <a16:creationId xmlns="" xmlns:a16="http://schemas.microsoft.com/office/drawing/2014/main" id="{020D7A1D-EFAD-4C8C-B9DE-D0FAD269B77A}"/>
              </a:ext>
            </a:extLst>
          </p:cNvPr>
          <p:cNvSpPr txBox="1"/>
          <p:nvPr/>
        </p:nvSpPr>
        <p:spPr bwMode="gray">
          <a:xfrm>
            <a:off x="2448710" y="1475551"/>
            <a:ext cx="128158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10.1.12.0/24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TextBox 120">
            <a:extLst>
              <a:ext uri="{FF2B5EF4-FFF2-40B4-BE49-F238E27FC236}">
                <a16:creationId xmlns="" xmlns:a16="http://schemas.microsoft.com/office/drawing/2014/main" id="{020D7A1D-EFAD-4C8C-B9DE-D0FAD269B77A}"/>
              </a:ext>
            </a:extLst>
          </p:cNvPr>
          <p:cNvSpPr txBox="1"/>
          <p:nvPr/>
        </p:nvSpPr>
        <p:spPr bwMode="gray">
          <a:xfrm rot="16200000">
            <a:off x="3541237" y="2294907"/>
            <a:ext cx="128158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10.1.23.0/24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TextBox 120">
            <a:extLst>
              <a:ext uri="{FF2B5EF4-FFF2-40B4-BE49-F238E27FC236}">
                <a16:creationId xmlns="" xmlns:a16="http://schemas.microsoft.com/office/drawing/2014/main" id="{020D7A1D-EFAD-4C8C-B9DE-D0FAD269B77A}"/>
              </a:ext>
            </a:extLst>
          </p:cNvPr>
          <p:cNvSpPr txBox="1"/>
          <p:nvPr/>
        </p:nvSpPr>
        <p:spPr bwMode="gray">
          <a:xfrm>
            <a:off x="2184354" y="1703302"/>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TextBox 120">
            <a:extLst>
              <a:ext uri="{FF2B5EF4-FFF2-40B4-BE49-F238E27FC236}">
                <a16:creationId xmlns="" xmlns:a16="http://schemas.microsoft.com/office/drawing/2014/main" id="{020D7A1D-EFAD-4C8C-B9DE-D0FAD269B77A}"/>
              </a:ext>
            </a:extLst>
          </p:cNvPr>
          <p:cNvSpPr txBox="1"/>
          <p:nvPr/>
        </p:nvSpPr>
        <p:spPr bwMode="gray">
          <a:xfrm>
            <a:off x="1238025" y="1051132"/>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75" name="表格 74"/>
          <p:cNvGraphicFramePr>
            <a:graphicFrameLocks noGrp="1"/>
          </p:cNvGraphicFramePr>
          <p:nvPr>
            <p:extLst>
              <p:ext uri="{D42A27DB-BD31-4B8C-83A1-F6EECF244321}">
                <p14:modId xmlns:p14="http://schemas.microsoft.com/office/powerpoint/2010/main" val="1048084869"/>
              </p:ext>
            </p:extLst>
          </p:nvPr>
        </p:nvGraphicFramePr>
        <p:xfrm>
          <a:off x="1237925" y="4871122"/>
          <a:ext cx="4348923" cy="1219200"/>
        </p:xfrm>
        <a:graphic>
          <a:graphicData uri="http://schemas.openxmlformats.org/drawingml/2006/table">
            <a:tbl>
              <a:tblPr firstRow="1" bandRow="1"/>
              <a:tblGrid>
                <a:gridCol w="869785"/>
                <a:gridCol w="1739569"/>
                <a:gridCol w="1739569"/>
              </a:tblGrid>
              <a:tr h="283456">
                <a:tc>
                  <a:txBody>
                    <a:bodyPr/>
                    <a:lstStyle/>
                    <a:p>
                      <a:pPr algn="ctr"/>
                      <a:r>
                        <a:rPr lang="zh-CN" altLang="en-US" sz="1400" b="1" dirty="0" smtClean="0"/>
                        <a:t>设备</a:t>
                      </a:r>
                      <a:endParaRPr lang="zh-CN" altLang="en-US" sz="1400" b="1" dirty="0">
                        <a:solidFill>
                          <a:schemeClr val="bg1"/>
                        </a:solidFill>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smtClean="0"/>
                        <a:t>接口</a:t>
                      </a:r>
                      <a:endParaRPr lang="zh-CN" altLang="en-US" sz="1400" b="1" dirty="0">
                        <a:solidFill>
                          <a:schemeClr val="bg1"/>
                        </a:solidFill>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smtClean="0"/>
                        <a:t>接口地址</a:t>
                      </a:r>
                      <a:endParaRPr lang="zh-CN" altLang="en-US" sz="1400" b="1" dirty="0">
                        <a:solidFill>
                          <a:schemeClr val="bg1"/>
                        </a:solidFill>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283456">
                <a:tc>
                  <a:txBody>
                    <a:bodyPr/>
                    <a:lstStyle/>
                    <a:p>
                      <a:pPr algn="ctr"/>
                      <a:r>
                        <a:rPr lang="en-US" altLang="zh-CN" sz="1400" dirty="0" smtClean="0"/>
                        <a:t>R1</a:t>
                      </a:r>
                      <a:endParaRPr lang="zh-CN" altLang="en-US" sz="1400" dirty="0">
                        <a:solidFill>
                          <a:schemeClr val="tx1"/>
                        </a:solidFill>
                      </a:endParaRPr>
                    </a:p>
                  </a:txBody>
                  <a:tcPr anchor="ctr">
                    <a:lnL w="28575" cap="flat" cmpd="sng" algn="ctr">
                      <a:solidFill>
                        <a:schemeClr val="tx1"/>
                      </a:solidFill>
                      <a:prstDash val="solid"/>
                      <a:round/>
                      <a:headEnd type="none" w="med" len="med"/>
                      <a:tailEnd type="none" w="med" len="med"/>
                    </a:lnL>
                  </a:tcPr>
                </a:tc>
                <a:tc>
                  <a:txBody>
                    <a:bodyPr/>
                    <a:lstStyle/>
                    <a:p>
                      <a:pPr algn="ctr"/>
                      <a:r>
                        <a:rPr lang="en-US" altLang="zh-CN" sz="1400" dirty="0" smtClean="0"/>
                        <a:t>Loopback0</a:t>
                      </a:r>
                      <a:endParaRPr lang="en-US" altLang="zh-CN" sz="1400" dirty="0" smtClean="0">
                        <a:solidFill>
                          <a:schemeClr val="tx1"/>
                        </a:solidFill>
                      </a:endParaRPr>
                    </a:p>
                  </a:txBody>
                  <a:tcPr anchor="ctr"/>
                </a:tc>
                <a:tc>
                  <a:txBody>
                    <a:bodyPr/>
                    <a:lstStyle/>
                    <a:p>
                      <a:pPr algn="ctr"/>
                      <a:r>
                        <a:rPr lang="en-US" altLang="zh-CN" sz="1400" dirty="0" smtClean="0"/>
                        <a:t>10.1.1.1/32</a:t>
                      </a:r>
                      <a:endParaRPr lang="en-US" altLang="zh-CN" sz="1400" dirty="0" smtClean="0">
                        <a:solidFill>
                          <a:schemeClr val="tx1"/>
                        </a:solidFill>
                      </a:endParaRPr>
                    </a:p>
                  </a:txBody>
                  <a:tcPr anchor="ctr">
                    <a:lnR w="28575" cap="flat" cmpd="sng" algn="ctr">
                      <a:solidFill>
                        <a:schemeClr val="tx1"/>
                      </a:solidFill>
                      <a:prstDash val="solid"/>
                      <a:round/>
                      <a:headEnd type="none" w="med" len="med"/>
                      <a:tailEnd type="none" w="med" len="med"/>
                    </a:lnR>
                  </a:tcPr>
                </a:tc>
              </a:tr>
              <a:tr h="283456">
                <a:tc>
                  <a:txBody>
                    <a:bodyPr/>
                    <a:lstStyle/>
                    <a:p>
                      <a:pPr algn="ctr"/>
                      <a:r>
                        <a:rPr lang="en-US" altLang="zh-CN" sz="1400" dirty="0" smtClean="0"/>
                        <a:t>R2</a:t>
                      </a:r>
                      <a:endParaRPr lang="zh-CN" altLang="en-US" sz="1400" dirty="0">
                        <a:solidFill>
                          <a:schemeClr val="tx1"/>
                        </a:solidFill>
                      </a:endParaRPr>
                    </a:p>
                  </a:txBody>
                  <a:tcPr anchor="ctr">
                    <a:lnL w="28575" cap="flat" cmpd="sng" algn="ctr">
                      <a:solidFill>
                        <a:schemeClr val="tx1"/>
                      </a:solidFill>
                      <a:prstDash val="solid"/>
                      <a:round/>
                      <a:headEnd type="none" w="med" len="med"/>
                      <a:tailEnd type="none" w="med" len="med"/>
                    </a:lnL>
                  </a:tcPr>
                </a:tc>
                <a:tc>
                  <a:txBody>
                    <a:bodyPr/>
                    <a:lstStyle/>
                    <a:p>
                      <a:pPr algn="ctr"/>
                      <a:r>
                        <a:rPr lang="en-US" altLang="zh-CN" sz="1400" dirty="0" smtClean="0"/>
                        <a:t>Loopback0</a:t>
                      </a:r>
                      <a:endParaRPr lang="en-US" altLang="zh-CN" sz="1400" dirty="0" smtClean="0">
                        <a:solidFill>
                          <a:schemeClr val="tx1"/>
                        </a:solidFill>
                      </a:endParaRPr>
                    </a:p>
                  </a:txBody>
                  <a:tcPr anchor="ct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smtClean="0"/>
                        <a:t>10.1.2.2/32</a:t>
                      </a:r>
                      <a:endParaRPr lang="en-US" altLang="zh-CN" sz="1400" dirty="0" smtClean="0">
                        <a:solidFill>
                          <a:schemeClr val="tx1"/>
                        </a:solidFill>
                      </a:endParaRPr>
                    </a:p>
                  </a:txBody>
                  <a:tcPr anchor="ctr">
                    <a:lnR w="28575" cap="flat" cmpd="sng" algn="ctr">
                      <a:solidFill>
                        <a:schemeClr val="tx1"/>
                      </a:solidFill>
                      <a:prstDash val="solid"/>
                      <a:round/>
                      <a:headEnd type="none" w="med" len="med"/>
                      <a:tailEnd type="none" w="med" len="med"/>
                    </a:lnR>
                  </a:tcPr>
                </a:tc>
              </a:tr>
              <a:tr h="283456">
                <a:tc>
                  <a:txBody>
                    <a:bodyPr/>
                    <a:lstStyle/>
                    <a:p>
                      <a:pPr algn="ctr"/>
                      <a:r>
                        <a:rPr lang="en-US" altLang="zh-CN" sz="1400" dirty="0" smtClean="0"/>
                        <a:t>R3</a:t>
                      </a:r>
                      <a:endParaRPr lang="zh-CN" altLang="en-US" sz="1400" dirty="0">
                        <a:solidFill>
                          <a:schemeClr val="tx1"/>
                        </a:solidFill>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altLang="zh-CN" sz="1400" dirty="0" smtClean="0"/>
                        <a:t>Loopback0</a:t>
                      </a:r>
                      <a:endParaRPr lang="en-US" altLang="zh-CN" sz="1400" dirty="0" smtClean="0">
                        <a:solidFill>
                          <a:schemeClr val="tx1"/>
                        </a:solidFill>
                      </a:endParaRPr>
                    </a:p>
                  </a:txBody>
                  <a:tcPr anchor="ctr">
                    <a:lnB w="28575" cap="flat" cmpd="sng" algn="ctr">
                      <a:solidFill>
                        <a:schemeClr val="tx1"/>
                      </a:solidFill>
                      <a:prstDash val="solid"/>
                      <a:round/>
                      <a:headEnd type="none" w="med" len="med"/>
                      <a:tailEnd type="none" w="med" len="med"/>
                    </a:lnB>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smtClean="0"/>
                        <a:t>10.1.3.3/32</a:t>
                      </a:r>
                      <a:endParaRPr lang="en-US" altLang="zh-CN" sz="1400" dirty="0" smtClean="0">
                        <a:solidFill>
                          <a:schemeClr val="tx1"/>
                        </a:solidFill>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61" name="TextBox 120">
            <a:extLst>
              <a:ext uri="{FF2B5EF4-FFF2-40B4-BE49-F238E27FC236}">
                <a16:creationId xmlns="" xmlns:a16="http://schemas.microsoft.com/office/drawing/2014/main" id="{020D7A1D-EFAD-4C8C-B9DE-D0FAD269B77A}"/>
              </a:ext>
            </a:extLst>
          </p:cNvPr>
          <p:cNvSpPr txBox="1"/>
          <p:nvPr/>
        </p:nvSpPr>
        <p:spPr bwMode="gray">
          <a:xfrm>
            <a:off x="3717132" y="1915364"/>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TextBox 120">
            <a:extLst>
              <a:ext uri="{FF2B5EF4-FFF2-40B4-BE49-F238E27FC236}">
                <a16:creationId xmlns="" xmlns:a16="http://schemas.microsoft.com/office/drawing/2014/main" id="{020D7A1D-EFAD-4C8C-B9DE-D0FAD269B77A}"/>
              </a:ext>
            </a:extLst>
          </p:cNvPr>
          <p:cNvSpPr txBox="1"/>
          <p:nvPr/>
        </p:nvSpPr>
        <p:spPr bwMode="gray">
          <a:xfrm>
            <a:off x="3717132" y="2816579"/>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9" name="直接连接符 68"/>
          <p:cNvCxnSpPr/>
          <p:nvPr/>
        </p:nvCxnSpPr>
        <p:spPr bwMode="gray">
          <a:xfrm>
            <a:off x="2241509" y="2032832"/>
            <a:ext cx="1402139" cy="1245164"/>
          </a:xfrm>
          <a:prstGeom prst="line">
            <a:avLst/>
          </a:prstGeom>
          <a:ln w="19050">
            <a:solidFill>
              <a:schemeClr val="tx1"/>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3" name="TextBox 120">
            <a:extLst>
              <a:ext uri="{FF2B5EF4-FFF2-40B4-BE49-F238E27FC236}">
                <a16:creationId xmlns="" xmlns:a16="http://schemas.microsoft.com/office/drawing/2014/main" id="{020D7A1D-EFAD-4C8C-B9DE-D0FAD269B77A}"/>
              </a:ext>
            </a:extLst>
          </p:cNvPr>
          <p:cNvSpPr txBox="1"/>
          <p:nvPr/>
        </p:nvSpPr>
        <p:spPr bwMode="gray">
          <a:xfrm rot="2581641">
            <a:off x="2256243" y="2556252"/>
            <a:ext cx="962132" cy="307777"/>
          </a:xfrm>
          <a:prstGeom prst="rect">
            <a:avLst/>
          </a:prstGeom>
          <a:noFill/>
          <a:ln>
            <a:noFill/>
          </a:ln>
        </p:spPr>
        <p:txBody>
          <a:bodyPr wrap="square" rtlCol="0">
            <a:spAutoFit/>
          </a:bodyPr>
          <a:lstStyle/>
          <a:p>
            <a:pPr algn="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IBGP</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邻居</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3" name="直接连接符 82"/>
          <p:cNvCxnSpPr/>
          <p:nvPr/>
        </p:nvCxnSpPr>
        <p:spPr bwMode="gray">
          <a:xfrm>
            <a:off x="2337530" y="1428456"/>
            <a:ext cx="1306118" cy="0"/>
          </a:xfrm>
          <a:prstGeom prst="line">
            <a:avLst/>
          </a:prstGeom>
          <a:ln w="19050">
            <a:solidFill>
              <a:schemeClr val="tx1"/>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5" name="TextBox 120">
            <a:extLst>
              <a:ext uri="{FF2B5EF4-FFF2-40B4-BE49-F238E27FC236}">
                <a16:creationId xmlns="" xmlns:a16="http://schemas.microsoft.com/office/drawing/2014/main" id="{020D7A1D-EFAD-4C8C-B9DE-D0FAD269B77A}"/>
              </a:ext>
            </a:extLst>
          </p:cNvPr>
          <p:cNvSpPr txBox="1"/>
          <p:nvPr/>
        </p:nvSpPr>
        <p:spPr bwMode="gray">
          <a:xfrm>
            <a:off x="2514850" y="1112846"/>
            <a:ext cx="962132" cy="307777"/>
          </a:xfrm>
          <a:prstGeom prst="rect">
            <a:avLst/>
          </a:prstGeom>
          <a:noFill/>
          <a:ln>
            <a:noFill/>
          </a:ln>
        </p:spPr>
        <p:txBody>
          <a:bodyPr wrap="square" rtlCol="0">
            <a:spAutoFit/>
          </a:bodyPr>
          <a:lstStyle/>
          <a:p>
            <a:pPr algn="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IBGP</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邻居</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6" name="直接连接符 85"/>
          <p:cNvCxnSpPr/>
          <p:nvPr/>
        </p:nvCxnSpPr>
        <p:spPr bwMode="gray">
          <a:xfrm>
            <a:off x="4374349" y="1973953"/>
            <a:ext cx="0" cy="1023948"/>
          </a:xfrm>
          <a:prstGeom prst="line">
            <a:avLst/>
          </a:prstGeom>
          <a:ln w="19050">
            <a:solidFill>
              <a:schemeClr val="tx1"/>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1" name="TextBox 120">
            <a:extLst>
              <a:ext uri="{FF2B5EF4-FFF2-40B4-BE49-F238E27FC236}">
                <a16:creationId xmlns="" xmlns:a16="http://schemas.microsoft.com/office/drawing/2014/main" id="{020D7A1D-EFAD-4C8C-B9DE-D0FAD269B77A}"/>
              </a:ext>
            </a:extLst>
          </p:cNvPr>
          <p:cNvSpPr txBox="1"/>
          <p:nvPr/>
        </p:nvSpPr>
        <p:spPr bwMode="gray">
          <a:xfrm rot="16200000">
            <a:off x="4085189" y="2332038"/>
            <a:ext cx="962132" cy="307777"/>
          </a:xfrm>
          <a:prstGeom prst="rect">
            <a:avLst/>
          </a:prstGeom>
          <a:noFill/>
          <a:ln>
            <a:noFill/>
          </a:ln>
        </p:spPr>
        <p:txBody>
          <a:bodyPr wrap="square" rtlCol="0">
            <a:spAutoFit/>
          </a:bodyPr>
          <a:lstStyle/>
          <a:p>
            <a:pPr algn="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IBGP</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邻居</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文本框 91"/>
          <p:cNvSpPr txBox="1"/>
          <p:nvPr/>
        </p:nvSpPr>
        <p:spPr>
          <a:xfrm>
            <a:off x="6489960" y="3220597"/>
            <a:ext cx="5087996" cy="1169551"/>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R2] </a:t>
            </a:r>
            <a:r>
              <a:rPr lang="en-US" altLang="zh-CN" sz="1400" dirty="0">
                <a:solidFill>
                  <a:prstClr val="black"/>
                </a:solidFill>
                <a:cs typeface="Courier New" panose="02070309020205020404" pitchFamily="49" charset="0"/>
              </a:rPr>
              <a:t>bgp </a:t>
            </a:r>
            <a:r>
              <a:rPr lang="en-US" altLang="zh-CN" sz="1400" dirty="0" smtClean="0">
                <a:solidFill>
                  <a:prstClr val="black"/>
                </a:solidFill>
                <a:cs typeface="Courier New" panose="02070309020205020404" pitchFamily="49" charset="0"/>
              </a:rPr>
              <a:t>101</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R2-bgp</a:t>
            </a:r>
            <a:r>
              <a:rPr lang="en-US" altLang="zh-CN" sz="1400" dirty="0">
                <a:solidFill>
                  <a:prstClr val="black"/>
                </a:solidFill>
                <a:cs typeface="Courier New" panose="02070309020205020404" pitchFamily="49" charset="0"/>
              </a:rPr>
              <a:t>] peer </a:t>
            </a:r>
            <a:r>
              <a:rPr lang="en-US" altLang="zh-CN" sz="1400" dirty="0" smtClean="0">
                <a:solidFill>
                  <a:prstClr val="black"/>
                </a:solidFill>
                <a:cs typeface="Courier New" panose="02070309020205020404" pitchFamily="49" charset="0"/>
              </a:rPr>
              <a:t>10.1.1.1 </a:t>
            </a:r>
            <a:r>
              <a:rPr lang="en-US" altLang="zh-CN" sz="1400" dirty="0">
                <a:solidFill>
                  <a:prstClr val="black"/>
                </a:solidFill>
                <a:cs typeface="Courier New" panose="02070309020205020404" pitchFamily="49" charset="0"/>
              </a:rPr>
              <a:t>as-number </a:t>
            </a:r>
            <a:r>
              <a:rPr lang="en-US" altLang="zh-CN" sz="1400" dirty="0" smtClean="0">
                <a:solidFill>
                  <a:prstClr val="black"/>
                </a:solidFill>
                <a:cs typeface="Courier New" panose="02070309020205020404" pitchFamily="49" charset="0"/>
              </a:rPr>
              <a:t>101</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R2-bgp</a:t>
            </a:r>
            <a:r>
              <a:rPr lang="en-US" altLang="zh-CN" sz="1400" dirty="0">
                <a:solidFill>
                  <a:prstClr val="black"/>
                </a:solidFill>
                <a:cs typeface="Courier New" panose="02070309020205020404" pitchFamily="49" charset="0"/>
              </a:rPr>
              <a:t>] peer </a:t>
            </a:r>
            <a:r>
              <a:rPr lang="en-US" altLang="zh-CN" sz="1400" dirty="0" smtClean="0">
                <a:solidFill>
                  <a:prstClr val="black"/>
                </a:solidFill>
                <a:cs typeface="Courier New" panose="02070309020205020404" pitchFamily="49" charset="0"/>
              </a:rPr>
              <a:t>10.1.1.1 </a:t>
            </a:r>
            <a:r>
              <a:rPr lang="en-US" altLang="zh-CN" sz="1400" dirty="0">
                <a:solidFill>
                  <a:prstClr val="black"/>
                </a:solidFill>
                <a:cs typeface="Courier New" panose="02070309020205020404" pitchFamily="49" charset="0"/>
              </a:rPr>
              <a:t>connect-interface Loopback </a:t>
            </a:r>
            <a:r>
              <a:rPr lang="en-US" altLang="zh-CN" sz="1400" dirty="0" smtClean="0">
                <a:solidFill>
                  <a:prstClr val="black"/>
                </a:solidFill>
                <a:cs typeface="Courier New" panose="02070309020205020404" pitchFamily="49" charset="0"/>
              </a:rPr>
              <a:t>0</a:t>
            </a:r>
          </a:p>
          <a:p>
            <a:pPr fontAlgn="auto">
              <a:spcBef>
                <a:spcPts val="0"/>
              </a:spcBef>
              <a:spcAft>
                <a:spcPts val="0"/>
              </a:spcAft>
            </a:pPr>
            <a:r>
              <a:rPr lang="en-US" altLang="zh-CN" sz="1400" dirty="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R2-bgp</a:t>
            </a:r>
            <a:r>
              <a:rPr lang="en-US" altLang="zh-CN" sz="1400" dirty="0">
                <a:solidFill>
                  <a:prstClr val="black"/>
                </a:solidFill>
                <a:cs typeface="Courier New" panose="02070309020205020404" pitchFamily="49" charset="0"/>
              </a:rPr>
              <a:t>] peer </a:t>
            </a:r>
            <a:r>
              <a:rPr lang="en-US" altLang="zh-CN" sz="1400" dirty="0" smtClean="0">
                <a:solidFill>
                  <a:prstClr val="black"/>
                </a:solidFill>
                <a:cs typeface="Courier New" panose="02070309020205020404" pitchFamily="49" charset="0"/>
              </a:rPr>
              <a:t>10.1.3.3 </a:t>
            </a:r>
            <a:r>
              <a:rPr lang="en-US" altLang="zh-CN" sz="1400" dirty="0">
                <a:solidFill>
                  <a:prstClr val="black"/>
                </a:solidFill>
                <a:cs typeface="Courier New" panose="02070309020205020404" pitchFamily="49" charset="0"/>
              </a:rPr>
              <a:t>as-number 101</a:t>
            </a:r>
          </a:p>
          <a:p>
            <a:pPr fontAlgn="auto">
              <a:spcBef>
                <a:spcPts val="0"/>
              </a:spcBef>
              <a:spcAft>
                <a:spcPts val="0"/>
              </a:spcAft>
            </a:pPr>
            <a:r>
              <a:rPr lang="en-US" altLang="zh-CN" sz="1400" dirty="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R2-bgp</a:t>
            </a:r>
            <a:r>
              <a:rPr lang="en-US" altLang="zh-CN" sz="1400" dirty="0">
                <a:solidFill>
                  <a:prstClr val="black"/>
                </a:solidFill>
                <a:cs typeface="Courier New" panose="02070309020205020404" pitchFamily="49" charset="0"/>
              </a:rPr>
              <a:t>] peer </a:t>
            </a:r>
            <a:r>
              <a:rPr lang="en-US" altLang="zh-CN" sz="1400" dirty="0" smtClean="0">
                <a:solidFill>
                  <a:prstClr val="black"/>
                </a:solidFill>
                <a:cs typeface="Courier New" panose="02070309020205020404" pitchFamily="49" charset="0"/>
              </a:rPr>
              <a:t>10.1.3.3 </a:t>
            </a:r>
            <a:r>
              <a:rPr lang="en-US" altLang="zh-CN" sz="1400" dirty="0">
                <a:solidFill>
                  <a:prstClr val="black"/>
                </a:solidFill>
                <a:cs typeface="Courier New" panose="02070309020205020404" pitchFamily="49" charset="0"/>
              </a:rPr>
              <a:t>connect-interface Loopback </a:t>
            </a:r>
            <a:r>
              <a:rPr lang="en-US" altLang="zh-CN" sz="1400" dirty="0" smtClean="0">
                <a:solidFill>
                  <a:prstClr val="black"/>
                </a:solidFill>
                <a:cs typeface="Courier New" panose="02070309020205020404" pitchFamily="49" charset="0"/>
              </a:rPr>
              <a:t>0</a:t>
            </a:r>
            <a:endParaRPr lang="en-US" altLang="zh-CN" sz="1400" dirty="0">
              <a:solidFill>
                <a:prstClr val="black"/>
              </a:solidFill>
              <a:cs typeface="Courier New" panose="02070309020205020404" pitchFamily="49" charset="0"/>
            </a:endParaRPr>
          </a:p>
        </p:txBody>
      </p:sp>
      <p:sp>
        <p:nvSpPr>
          <p:cNvPr id="93" name="文本框 92"/>
          <p:cNvSpPr txBox="1"/>
          <p:nvPr/>
        </p:nvSpPr>
        <p:spPr>
          <a:xfrm>
            <a:off x="6489960" y="4528319"/>
            <a:ext cx="5087996" cy="1169551"/>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R3] </a:t>
            </a:r>
            <a:r>
              <a:rPr lang="en-US" altLang="zh-CN" sz="1400" dirty="0">
                <a:solidFill>
                  <a:prstClr val="black"/>
                </a:solidFill>
                <a:cs typeface="Courier New" panose="02070309020205020404" pitchFamily="49" charset="0"/>
              </a:rPr>
              <a:t>bgp </a:t>
            </a:r>
            <a:r>
              <a:rPr lang="en-US" altLang="zh-CN" sz="1400" dirty="0" smtClean="0">
                <a:solidFill>
                  <a:prstClr val="black"/>
                </a:solidFill>
                <a:cs typeface="Courier New" panose="02070309020205020404" pitchFamily="49" charset="0"/>
              </a:rPr>
              <a:t>101</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R3-bgp</a:t>
            </a:r>
            <a:r>
              <a:rPr lang="en-US" altLang="zh-CN" sz="1400" dirty="0">
                <a:solidFill>
                  <a:prstClr val="black"/>
                </a:solidFill>
                <a:cs typeface="Courier New" panose="02070309020205020404" pitchFamily="49" charset="0"/>
              </a:rPr>
              <a:t>] peer </a:t>
            </a:r>
            <a:r>
              <a:rPr lang="en-US" altLang="zh-CN" sz="1400" dirty="0" smtClean="0">
                <a:solidFill>
                  <a:prstClr val="black"/>
                </a:solidFill>
                <a:cs typeface="Courier New" panose="02070309020205020404" pitchFamily="49" charset="0"/>
              </a:rPr>
              <a:t>10.1.1.1 </a:t>
            </a:r>
            <a:r>
              <a:rPr lang="en-US" altLang="zh-CN" sz="1400" dirty="0">
                <a:solidFill>
                  <a:prstClr val="black"/>
                </a:solidFill>
                <a:cs typeface="Courier New" panose="02070309020205020404" pitchFamily="49" charset="0"/>
              </a:rPr>
              <a:t>as-number </a:t>
            </a:r>
            <a:r>
              <a:rPr lang="en-US" altLang="zh-CN" sz="1400" dirty="0" smtClean="0">
                <a:solidFill>
                  <a:prstClr val="black"/>
                </a:solidFill>
                <a:cs typeface="Courier New" panose="02070309020205020404" pitchFamily="49" charset="0"/>
              </a:rPr>
              <a:t>101</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R3-bgp</a:t>
            </a:r>
            <a:r>
              <a:rPr lang="en-US" altLang="zh-CN" sz="1400" dirty="0">
                <a:solidFill>
                  <a:prstClr val="black"/>
                </a:solidFill>
                <a:cs typeface="Courier New" panose="02070309020205020404" pitchFamily="49" charset="0"/>
              </a:rPr>
              <a:t>] peer </a:t>
            </a:r>
            <a:r>
              <a:rPr lang="en-US" altLang="zh-CN" sz="1400" dirty="0" smtClean="0">
                <a:solidFill>
                  <a:prstClr val="black"/>
                </a:solidFill>
                <a:cs typeface="Courier New" panose="02070309020205020404" pitchFamily="49" charset="0"/>
              </a:rPr>
              <a:t>10.1.1.1 </a:t>
            </a:r>
            <a:r>
              <a:rPr lang="en-US" altLang="zh-CN" sz="1400" dirty="0">
                <a:solidFill>
                  <a:prstClr val="black"/>
                </a:solidFill>
                <a:cs typeface="Courier New" panose="02070309020205020404" pitchFamily="49" charset="0"/>
              </a:rPr>
              <a:t>connect-interface Loopback </a:t>
            </a:r>
            <a:r>
              <a:rPr lang="en-US" altLang="zh-CN" sz="1400" dirty="0" smtClean="0">
                <a:solidFill>
                  <a:prstClr val="black"/>
                </a:solidFill>
                <a:cs typeface="Courier New" panose="02070309020205020404" pitchFamily="49" charset="0"/>
              </a:rPr>
              <a:t>0</a:t>
            </a:r>
          </a:p>
          <a:p>
            <a:pPr fontAlgn="auto">
              <a:spcBef>
                <a:spcPts val="0"/>
              </a:spcBef>
              <a:spcAft>
                <a:spcPts val="0"/>
              </a:spcAft>
            </a:pPr>
            <a:r>
              <a:rPr lang="en-US" altLang="zh-CN" sz="1400" dirty="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R3-bgp</a:t>
            </a:r>
            <a:r>
              <a:rPr lang="en-US" altLang="zh-CN" sz="1400" dirty="0">
                <a:solidFill>
                  <a:prstClr val="black"/>
                </a:solidFill>
                <a:cs typeface="Courier New" panose="02070309020205020404" pitchFamily="49" charset="0"/>
              </a:rPr>
              <a:t>] peer </a:t>
            </a:r>
            <a:r>
              <a:rPr lang="en-US" altLang="zh-CN" sz="1400" dirty="0" smtClean="0">
                <a:solidFill>
                  <a:prstClr val="black"/>
                </a:solidFill>
                <a:cs typeface="Courier New" panose="02070309020205020404" pitchFamily="49" charset="0"/>
              </a:rPr>
              <a:t>10.1.2.2 </a:t>
            </a:r>
            <a:r>
              <a:rPr lang="en-US" altLang="zh-CN" sz="1400" dirty="0">
                <a:solidFill>
                  <a:prstClr val="black"/>
                </a:solidFill>
                <a:cs typeface="Courier New" panose="02070309020205020404" pitchFamily="49" charset="0"/>
              </a:rPr>
              <a:t>as-number 101</a:t>
            </a:r>
          </a:p>
          <a:p>
            <a:pPr fontAlgn="auto">
              <a:spcBef>
                <a:spcPts val="0"/>
              </a:spcBef>
              <a:spcAft>
                <a:spcPts val="0"/>
              </a:spcAft>
            </a:pPr>
            <a:r>
              <a:rPr lang="en-US" altLang="zh-CN" sz="1400" dirty="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R3-bgp</a:t>
            </a:r>
            <a:r>
              <a:rPr lang="en-US" altLang="zh-CN" sz="1400" dirty="0">
                <a:solidFill>
                  <a:prstClr val="black"/>
                </a:solidFill>
                <a:cs typeface="Courier New" panose="02070309020205020404" pitchFamily="49" charset="0"/>
              </a:rPr>
              <a:t>] peer </a:t>
            </a:r>
            <a:r>
              <a:rPr lang="en-US" altLang="zh-CN" sz="1400" dirty="0" smtClean="0">
                <a:solidFill>
                  <a:prstClr val="black"/>
                </a:solidFill>
                <a:cs typeface="Courier New" panose="02070309020205020404" pitchFamily="49" charset="0"/>
              </a:rPr>
              <a:t>10.1.2.2 </a:t>
            </a:r>
            <a:r>
              <a:rPr lang="en-US" altLang="zh-CN" sz="1400" dirty="0">
                <a:solidFill>
                  <a:prstClr val="black"/>
                </a:solidFill>
                <a:cs typeface="Courier New" panose="02070309020205020404" pitchFamily="49" charset="0"/>
              </a:rPr>
              <a:t>connect-interface Loopback </a:t>
            </a:r>
            <a:r>
              <a:rPr lang="en-US" altLang="zh-CN" sz="1400" dirty="0" smtClean="0">
                <a:solidFill>
                  <a:prstClr val="black"/>
                </a:solidFill>
                <a:cs typeface="Courier New" panose="02070309020205020404" pitchFamily="49" charset="0"/>
              </a:rPr>
              <a:t>0</a:t>
            </a:r>
            <a:endParaRPr lang="en-US" altLang="zh-CN" sz="1400" dirty="0">
              <a:solidFill>
                <a:prstClr val="black"/>
              </a:solidFill>
              <a:cs typeface="Courier New" panose="02070309020205020404" pitchFamily="49" charset="0"/>
            </a:endParaRPr>
          </a:p>
        </p:txBody>
      </p:sp>
      <p:sp>
        <p:nvSpPr>
          <p:cNvPr id="37" name="五边形 36"/>
          <p:cNvSpPr/>
          <p:nvPr/>
        </p:nvSpPr>
        <p:spPr bwMode="gray">
          <a:xfrm>
            <a:off x="8421350" y="99742"/>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ORF</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燕尾形 37"/>
          <p:cNvSpPr/>
          <p:nvPr/>
        </p:nvSpPr>
        <p:spPr bwMode="gray">
          <a:xfrm>
            <a:off x="9061791" y="99742"/>
            <a:ext cx="93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对等体组</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燕尾形 38"/>
          <p:cNvSpPr/>
          <p:nvPr/>
        </p:nvSpPr>
        <p:spPr bwMode="gray">
          <a:xfrm>
            <a:off x="9918233" y="99742"/>
            <a:ext cx="936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安全特性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燕尾形 39"/>
          <p:cNvSpPr/>
          <p:nvPr/>
        </p:nvSpPr>
        <p:spPr bwMode="gray">
          <a:xfrm>
            <a:off x="10774674" y="99742"/>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字节</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AS</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号</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22807044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GTSM</a:t>
            </a:r>
            <a:r>
              <a:rPr lang="zh-CN" altLang="en-US" smtClean="0"/>
              <a:t>配置举例 </a:t>
            </a:r>
            <a:r>
              <a:rPr lang="en-US" altLang="zh-CN" smtClean="0"/>
              <a:t>(2)</a:t>
            </a:r>
            <a:endParaRPr lang="zh-CN" altLang="en-US" dirty="0"/>
          </a:p>
        </p:txBody>
      </p:sp>
      <p:sp>
        <p:nvSpPr>
          <p:cNvPr id="24" name="文本框 23"/>
          <p:cNvSpPr txBox="1"/>
          <p:nvPr/>
        </p:nvSpPr>
        <p:spPr>
          <a:xfrm>
            <a:off x="6470968" y="1943939"/>
            <a:ext cx="5087996" cy="307777"/>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smtClean="0">
                <a:solidFill>
                  <a:prstClr val="black"/>
                </a:solidFill>
                <a:cs typeface="Courier New" panose="02070309020205020404" pitchFamily="49" charset="0"/>
              </a:rPr>
              <a:t>[R1-bgp</a:t>
            </a:r>
            <a:r>
              <a:rPr lang="en-US" altLang="zh-CN" sz="1400" dirty="0">
                <a:solidFill>
                  <a:prstClr val="black"/>
                </a:solidFill>
                <a:cs typeface="Courier New" panose="02070309020205020404" pitchFamily="49" charset="0"/>
              </a:rPr>
              <a:t>] peer 10.1.2.2 valid-</a:t>
            </a:r>
            <a:r>
              <a:rPr lang="en-US" altLang="zh-CN" sz="1400" dirty="0" err="1">
                <a:solidFill>
                  <a:prstClr val="black"/>
                </a:solidFill>
                <a:cs typeface="Courier New" panose="02070309020205020404" pitchFamily="49" charset="0"/>
              </a:rPr>
              <a:t>ttl</a:t>
            </a:r>
            <a:r>
              <a:rPr lang="en-US" altLang="zh-CN" sz="1400" dirty="0">
                <a:solidFill>
                  <a:prstClr val="black"/>
                </a:solidFill>
                <a:cs typeface="Courier New" panose="02070309020205020404" pitchFamily="49" charset="0"/>
              </a:rPr>
              <a:t>-hops 1 </a:t>
            </a:r>
            <a:endParaRPr lang="en-US" altLang="zh-CN" sz="1400" dirty="0" smtClean="0">
              <a:solidFill>
                <a:prstClr val="black"/>
              </a:solidFill>
              <a:cs typeface="Courier New" panose="02070309020205020404" pitchFamily="49" charset="0"/>
            </a:endParaRPr>
          </a:p>
        </p:txBody>
      </p:sp>
      <p:sp>
        <p:nvSpPr>
          <p:cNvPr id="58" name="文本框 57"/>
          <p:cNvSpPr txBox="1"/>
          <p:nvPr/>
        </p:nvSpPr>
        <p:spPr>
          <a:xfrm>
            <a:off x="6338670" y="1088685"/>
            <a:ext cx="5407243" cy="830997"/>
          </a:xfrm>
          <a:prstGeom prst="rect">
            <a:avLst/>
          </a:prstGeom>
          <a:noFill/>
        </p:spPr>
        <p:txBody>
          <a:bodyPr wrap="square" rtlCol="0">
            <a:spAutoFit/>
          </a:bodyPr>
          <a:lstStyle/>
          <a:p>
            <a:pPr fontAlgn="auto">
              <a:spcBef>
                <a:spcPts val="0"/>
              </a:spcBef>
              <a:spcAft>
                <a:spcPts val="0"/>
              </a:spcAft>
            </a:pPr>
            <a:r>
              <a:rPr lang="en-US" altLang="zh-CN" sz="1600" dirty="0">
                <a:solidFill>
                  <a:prstClr val="black"/>
                </a:solidFill>
              </a:rPr>
              <a:t>2</a:t>
            </a:r>
            <a:r>
              <a:rPr lang="zh-CN" altLang="en-US" sz="1600" dirty="0" smtClean="0">
                <a:solidFill>
                  <a:prstClr val="black"/>
                </a:solidFill>
              </a:rPr>
              <a:t>、在</a:t>
            </a:r>
            <a:r>
              <a:rPr lang="en-US" altLang="zh-CN" sz="1600" dirty="0" smtClean="0">
                <a:solidFill>
                  <a:prstClr val="black"/>
                </a:solidFill>
              </a:rPr>
              <a:t>R1</a:t>
            </a:r>
            <a:r>
              <a:rPr lang="zh-CN" altLang="en-US" sz="1600" dirty="0" smtClean="0">
                <a:solidFill>
                  <a:prstClr val="black"/>
                </a:solidFill>
              </a:rPr>
              <a:t>与</a:t>
            </a:r>
            <a:r>
              <a:rPr lang="en-US" altLang="zh-CN" sz="1600" dirty="0" smtClean="0">
                <a:solidFill>
                  <a:prstClr val="black"/>
                </a:solidFill>
              </a:rPr>
              <a:t>R2</a:t>
            </a:r>
            <a:r>
              <a:rPr lang="zh-CN" altLang="en-US" sz="1600" dirty="0" smtClean="0">
                <a:solidFill>
                  <a:prstClr val="black"/>
                </a:solidFill>
              </a:rPr>
              <a:t>间开启</a:t>
            </a:r>
            <a:r>
              <a:rPr lang="en-US" altLang="zh-CN" sz="1600" dirty="0" smtClean="0">
                <a:solidFill>
                  <a:prstClr val="black"/>
                </a:solidFill>
              </a:rPr>
              <a:t>GTSM</a:t>
            </a:r>
            <a:r>
              <a:rPr lang="zh-CN" altLang="en-US" sz="1600" dirty="0">
                <a:solidFill>
                  <a:prstClr val="black"/>
                </a:solidFill>
              </a:rPr>
              <a:t>。由于两台路由器直连，因此</a:t>
            </a:r>
            <a:r>
              <a:rPr lang="en-US" altLang="zh-CN" sz="1600" dirty="0">
                <a:solidFill>
                  <a:prstClr val="black"/>
                </a:solidFill>
              </a:rPr>
              <a:t>TTL</a:t>
            </a:r>
            <a:r>
              <a:rPr lang="zh-CN" altLang="en-US" sz="1600" dirty="0">
                <a:solidFill>
                  <a:prstClr val="black"/>
                </a:solidFill>
              </a:rPr>
              <a:t>到达对方的有效范围是</a:t>
            </a:r>
            <a:r>
              <a:rPr lang="en-US" altLang="zh-CN" sz="1600" dirty="0">
                <a:solidFill>
                  <a:prstClr val="black"/>
                </a:solidFill>
              </a:rPr>
              <a:t>[255, 255]</a:t>
            </a:r>
            <a:r>
              <a:rPr lang="zh-CN" altLang="en-US" sz="1600" dirty="0">
                <a:solidFill>
                  <a:prstClr val="black"/>
                </a:solidFill>
              </a:rPr>
              <a:t>，所以此处的</a:t>
            </a:r>
            <a:r>
              <a:rPr lang="en-US" altLang="zh-CN" sz="1600" dirty="0">
                <a:solidFill>
                  <a:prstClr val="black"/>
                </a:solidFill>
              </a:rPr>
              <a:t>valid-</a:t>
            </a:r>
            <a:r>
              <a:rPr lang="en-US" altLang="zh-CN" sz="1600" dirty="0" err="1">
                <a:solidFill>
                  <a:prstClr val="black"/>
                </a:solidFill>
              </a:rPr>
              <a:t>ttl</a:t>
            </a:r>
            <a:r>
              <a:rPr lang="en-US" altLang="zh-CN" sz="1600" dirty="0">
                <a:solidFill>
                  <a:prstClr val="black"/>
                </a:solidFill>
              </a:rPr>
              <a:t>-hops</a:t>
            </a:r>
            <a:r>
              <a:rPr lang="zh-CN" altLang="en-US" sz="1600" dirty="0">
                <a:solidFill>
                  <a:prstClr val="black"/>
                </a:solidFill>
              </a:rPr>
              <a:t>值取</a:t>
            </a:r>
            <a:r>
              <a:rPr lang="en-US" altLang="zh-CN" sz="1600" dirty="0">
                <a:solidFill>
                  <a:prstClr val="black"/>
                </a:solidFill>
              </a:rPr>
              <a:t>1</a:t>
            </a:r>
            <a:r>
              <a:rPr lang="zh-CN" altLang="en-US" sz="1600" dirty="0">
                <a:solidFill>
                  <a:prstClr val="black"/>
                </a:solidFill>
              </a:rPr>
              <a:t>。</a:t>
            </a:r>
          </a:p>
        </p:txBody>
      </p:sp>
      <p:sp>
        <p:nvSpPr>
          <p:cNvPr id="34" name="文本框 33"/>
          <p:cNvSpPr txBox="1"/>
          <p:nvPr/>
        </p:nvSpPr>
        <p:spPr>
          <a:xfrm>
            <a:off x="6470968" y="2357627"/>
            <a:ext cx="5087996" cy="307777"/>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smtClean="0">
                <a:solidFill>
                  <a:prstClr val="black"/>
                </a:solidFill>
                <a:cs typeface="Courier New" panose="02070309020205020404" pitchFamily="49" charset="0"/>
              </a:rPr>
              <a:t>[R2-bgp</a:t>
            </a:r>
            <a:r>
              <a:rPr lang="en-US" altLang="zh-CN" sz="1400" dirty="0">
                <a:solidFill>
                  <a:prstClr val="black"/>
                </a:solidFill>
                <a:cs typeface="Courier New" panose="02070309020205020404" pitchFamily="49" charset="0"/>
              </a:rPr>
              <a:t>] peer </a:t>
            </a:r>
            <a:r>
              <a:rPr lang="en-US" altLang="zh-CN" sz="1400" dirty="0" smtClean="0">
                <a:solidFill>
                  <a:prstClr val="black"/>
                </a:solidFill>
                <a:cs typeface="Courier New" panose="02070309020205020404" pitchFamily="49" charset="0"/>
              </a:rPr>
              <a:t>10.1.1.1 </a:t>
            </a:r>
            <a:r>
              <a:rPr lang="en-US" altLang="zh-CN" sz="1400" dirty="0">
                <a:solidFill>
                  <a:prstClr val="black"/>
                </a:solidFill>
                <a:cs typeface="Courier New" panose="02070309020205020404" pitchFamily="49" charset="0"/>
              </a:rPr>
              <a:t>valid-</a:t>
            </a:r>
            <a:r>
              <a:rPr lang="en-US" altLang="zh-CN" sz="1400" dirty="0" err="1">
                <a:solidFill>
                  <a:prstClr val="black"/>
                </a:solidFill>
                <a:cs typeface="Courier New" panose="02070309020205020404" pitchFamily="49" charset="0"/>
              </a:rPr>
              <a:t>ttl</a:t>
            </a:r>
            <a:r>
              <a:rPr lang="en-US" altLang="zh-CN" sz="1400" dirty="0">
                <a:solidFill>
                  <a:prstClr val="black"/>
                </a:solidFill>
                <a:cs typeface="Courier New" panose="02070309020205020404" pitchFamily="49" charset="0"/>
              </a:rPr>
              <a:t>-hops 1 </a:t>
            </a:r>
            <a:endParaRPr lang="en-US" altLang="zh-CN" sz="1400" dirty="0" smtClean="0">
              <a:solidFill>
                <a:prstClr val="black"/>
              </a:solidFill>
              <a:cs typeface="Courier New" panose="02070309020205020404" pitchFamily="49" charset="0"/>
            </a:endParaRPr>
          </a:p>
        </p:txBody>
      </p:sp>
      <p:sp>
        <p:nvSpPr>
          <p:cNvPr id="35" name="文本框 34"/>
          <p:cNvSpPr txBox="1"/>
          <p:nvPr/>
        </p:nvSpPr>
        <p:spPr>
          <a:xfrm>
            <a:off x="6470968" y="3675207"/>
            <a:ext cx="5087996" cy="307777"/>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smtClean="0">
                <a:solidFill>
                  <a:prstClr val="black"/>
                </a:solidFill>
                <a:cs typeface="Courier New" panose="02070309020205020404" pitchFamily="49" charset="0"/>
              </a:rPr>
              <a:t>[R2-bgp</a:t>
            </a:r>
            <a:r>
              <a:rPr lang="en-US" altLang="zh-CN" sz="1400" dirty="0">
                <a:solidFill>
                  <a:prstClr val="black"/>
                </a:solidFill>
                <a:cs typeface="Courier New" panose="02070309020205020404" pitchFamily="49" charset="0"/>
              </a:rPr>
              <a:t>] peer </a:t>
            </a:r>
            <a:r>
              <a:rPr lang="en-US" altLang="zh-CN" sz="1400" dirty="0" smtClean="0">
                <a:solidFill>
                  <a:prstClr val="black"/>
                </a:solidFill>
                <a:cs typeface="Courier New" panose="02070309020205020404" pitchFamily="49" charset="0"/>
              </a:rPr>
              <a:t>10.1.3.3 </a:t>
            </a:r>
            <a:r>
              <a:rPr lang="en-US" altLang="zh-CN" sz="1400" dirty="0">
                <a:solidFill>
                  <a:prstClr val="black"/>
                </a:solidFill>
                <a:cs typeface="Courier New" panose="02070309020205020404" pitchFamily="49" charset="0"/>
              </a:rPr>
              <a:t>valid-</a:t>
            </a:r>
            <a:r>
              <a:rPr lang="en-US" altLang="zh-CN" sz="1400" dirty="0" err="1">
                <a:solidFill>
                  <a:prstClr val="black"/>
                </a:solidFill>
                <a:cs typeface="Courier New" panose="02070309020205020404" pitchFamily="49" charset="0"/>
              </a:rPr>
              <a:t>ttl</a:t>
            </a:r>
            <a:r>
              <a:rPr lang="en-US" altLang="zh-CN" sz="1400" dirty="0">
                <a:solidFill>
                  <a:prstClr val="black"/>
                </a:solidFill>
                <a:cs typeface="Courier New" panose="02070309020205020404" pitchFamily="49" charset="0"/>
              </a:rPr>
              <a:t>-hops 1 </a:t>
            </a:r>
            <a:endParaRPr lang="en-US" altLang="zh-CN" sz="1400" dirty="0" smtClean="0">
              <a:solidFill>
                <a:prstClr val="black"/>
              </a:solidFill>
              <a:cs typeface="Courier New" panose="02070309020205020404" pitchFamily="49" charset="0"/>
            </a:endParaRPr>
          </a:p>
        </p:txBody>
      </p:sp>
      <p:sp>
        <p:nvSpPr>
          <p:cNvPr id="36" name="文本框 35"/>
          <p:cNvSpPr txBox="1"/>
          <p:nvPr/>
        </p:nvSpPr>
        <p:spPr>
          <a:xfrm>
            <a:off x="6338670" y="2819953"/>
            <a:ext cx="5407243" cy="830997"/>
          </a:xfrm>
          <a:prstGeom prst="rect">
            <a:avLst/>
          </a:prstGeom>
          <a:noFill/>
        </p:spPr>
        <p:txBody>
          <a:bodyPr wrap="square" rtlCol="0">
            <a:spAutoFit/>
          </a:bodyPr>
          <a:lstStyle/>
          <a:p>
            <a:pPr fontAlgn="auto">
              <a:spcBef>
                <a:spcPts val="0"/>
              </a:spcBef>
              <a:spcAft>
                <a:spcPts val="0"/>
              </a:spcAft>
            </a:pPr>
            <a:r>
              <a:rPr lang="en-US" altLang="zh-CN" sz="1600" dirty="0" smtClean="0">
                <a:solidFill>
                  <a:prstClr val="black"/>
                </a:solidFill>
              </a:rPr>
              <a:t>3</a:t>
            </a:r>
            <a:r>
              <a:rPr lang="zh-CN" altLang="en-US" sz="1600" dirty="0" smtClean="0">
                <a:solidFill>
                  <a:prstClr val="black"/>
                </a:solidFill>
              </a:rPr>
              <a:t>、在</a:t>
            </a:r>
            <a:r>
              <a:rPr lang="en-US" altLang="zh-CN" sz="1600" dirty="0" smtClean="0">
                <a:solidFill>
                  <a:prstClr val="black"/>
                </a:solidFill>
              </a:rPr>
              <a:t>R2</a:t>
            </a:r>
            <a:r>
              <a:rPr lang="zh-CN" altLang="en-US" sz="1600" dirty="0" smtClean="0">
                <a:solidFill>
                  <a:prstClr val="black"/>
                </a:solidFill>
              </a:rPr>
              <a:t>与</a:t>
            </a:r>
            <a:r>
              <a:rPr lang="en-US" altLang="zh-CN" sz="1600" dirty="0" smtClean="0">
                <a:solidFill>
                  <a:prstClr val="black"/>
                </a:solidFill>
              </a:rPr>
              <a:t>R3</a:t>
            </a:r>
            <a:r>
              <a:rPr lang="zh-CN" altLang="en-US" sz="1600" dirty="0" smtClean="0">
                <a:solidFill>
                  <a:prstClr val="black"/>
                </a:solidFill>
              </a:rPr>
              <a:t>间开启</a:t>
            </a:r>
            <a:r>
              <a:rPr lang="en-US" altLang="zh-CN" sz="1600" dirty="0" smtClean="0">
                <a:solidFill>
                  <a:prstClr val="black"/>
                </a:solidFill>
              </a:rPr>
              <a:t>GTSM</a:t>
            </a:r>
            <a:r>
              <a:rPr lang="zh-CN" altLang="en-US" sz="1600" dirty="0" smtClean="0">
                <a:solidFill>
                  <a:prstClr val="black"/>
                </a:solidFill>
              </a:rPr>
              <a:t>。由于两台路由器直连，因此</a:t>
            </a:r>
            <a:r>
              <a:rPr lang="en-US" altLang="zh-CN" sz="1600" dirty="0" smtClean="0">
                <a:solidFill>
                  <a:prstClr val="black"/>
                </a:solidFill>
              </a:rPr>
              <a:t>TTL</a:t>
            </a:r>
            <a:r>
              <a:rPr lang="zh-CN" altLang="en-US" sz="1600" dirty="0" smtClean="0">
                <a:solidFill>
                  <a:prstClr val="black"/>
                </a:solidFill>
              </a:rPr>
              <a:t>到达对方的有效范围是</a:t>
            </a:r>
            <a:r>
              <a:rPr lang="en-US" altLang="zh-CN" sz="1600" dirty="0" smtClean="0">
                <a:solidFill>
                  <a:prstClr val="black"/>
                </a:solidFill>
              </a:rPr>
              <a:t>[255, 255]</a:t>
            </a:r>
            <a:r>
              <a:rPr lang="zh-CN" altLang="en-US" sz="1600" dirty="0" smtClean="0">
                <a:solidFill>
                  <a:prstClr val="black"/>
                </a:solidFill>
              </a:rPr>
              <a:t>，所以此处的</a:t>
            </a:r>
            <a:r>
              <a:rPr lang="en-US" altLang="zh-CN" sz="1600" dirty="0" smtClean="0">
                <a:solidFill>
                  <a:prstClr val="black"/>
                </a:solidFill>
              </a:rPr>
              <a:t>valid-</a:t>
            </a:r>
            <a:r>
              <a:rPr lang="en-US" altLang="zh-CN" sz="1600" dirty="0" err="1" smtClean="0">
                <a:solidFill>
                  <a:prstClr val="black"/>
                </a:solidFill>
              </a:rPr>
              <a:t>ttl</a:t>
            </a:r>
            <a:r>
              <a:rPr lang="en-US" altLang="zh-CN" sz="1600" dirty="0" smtClean="0">
                <a:solidFill>
                  <a:prstClr val="black"/>
                </a:solidFill>
              </a:rPr>
              <a:t>-hops</a:t>
            </a:r>
            <a:r>
              <a:rPr lang="zh-CN" altLang="en-US" sz="1600" dirty="0" smtClean="0">
                <a:solidFill>
                  <a:prstClr val="black"/>
                </a:solidFill>
              </a:rPr>
              <a:t>值取</a:t>
            </a:r>
            <a:r>
              <a:rPr lang="en-US" altLang="zh-CN" sz="1600" dirty="0" smtClean="0">
                <a:solidFill>
                  <a:prstClr val="black"/>
                </a:solidFill>
              </a:rPr>
              <a:t>1</a:t>
            </a:r>
            <a:r>
              <a:rPr lang="zh-CN" altLang="en-US" sz="1600" dirty="0" smtClean="0">
                <a:solidFill>
                  <a:prstClr val="black"/>
                </a:solidFill>
              </a:rPr>
              <a:t>。</a:t>
            </a:r>
            <a:endParaRPr lang="zh-CN" altLang="en-US" sz="1600" dirty="0">
              <a:solidFill>
                <a:prstClr val="black"/>
              </a:solidFill>
            </a:endParaRPr>
          </a:p>
        </p:txBody>
      </p:sp>
      <p:sp>
        <p:nvSpPr>
          <p:cNvPr id="37" name="文本框 36"/>
          <p:cNvSpPr txBox="1"/>
          <p:nvPr/>
        </p:nvSpPr>
        <p:spPr>
          <a:xfrm>
            <a:off x="6470968" y="4088895"/>
            <a:ext cx="5087996" cy="307777"/>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smtClean="0">
                <a:solidFill>
                  <a:prstClr val="black"/>
                </a:solidFill>
                <a:cs typeface="Courier New" panose="02070309020205020404" pitchFamily="49" charset="0"/>
              </a:rPr>
              <a:t>[R3-bgp</a:t>
            </a:r>
            <a:r>
              <a:rPr lang="en-US" altLang="zh-CN" sz="1400" dirty="0">
                <a:solidFill>
                  <a:prstClr val="black"/>
                </a:solidFill>
                <a:cs typeface="Courier New" panose="02070309020205020404" pitchFamily="49" charset="0"/>
              </a:rPr>
              <a:t>] peer </a:t>
            </a:r>
            <a:r>
              <a:rPr lang="en-US" altLang="zh-CN" sz="1400" dirty="0" smtClean="0">
                <a:solidFill>
                  <a:prstClr val="black"/>
                </a:solidFill>
                <a:cs typeface="Courier New" panose="02070309020205020404" pitchFamily="49" charset="0"/>
              </a:rPr>
              <a:t>10.1.2.2 </a:t>
            </a:r>
            <a:r>
              <a:rPr lang="en-US" altLang="zh-CN" sz="1400" dirty="0">
                <a:solidFill>
                  <a:prstClr val="black"/>
                </a:solidFill>
                <a:cs typeface="Courier New" panose="02070309020205020404" pitchFamily="49" charset="0"/>
              </a:rPr>
              <a:t>valid-</a:t>
            </a:r>
            <a:r>
              <a:rPr lang="en-US" altLang="zh-CN" sz="1400" dirty="0" err="1">
                <a:solidFill>
                  <a:prstClr val="black"/>
                </a:solidFill>
                <a:cs typeface="Courier New" panose="02070309020205020404" pitchFamily="49" charset="0"/>
              </a:rPr>
              <a:t>ttl</a:t>
            </a:r>
            <a:r>
              <a:rPr lang="en-US" altLang="zh-CN" sz="1400" dirty="0">
                <a:solidFill>
                  <a:prstClr val="black"/>
                </a:solidFill>
                <a:cs typeface="Courier New" panose="02070309020205020404" pitchFamily="49" charset="0"/>
              </a:rPr>
              <a:t>-hops 1 </a:t>
            </a:r>
            <a:endParaRPr lang="en-US" altLang="zh-CN" sz="1400" dirty="0" smtClean="0">
              <a:solidFill>
                <a:prstClr val="black"/>
              </a:solidFill>
              <a:cs typeface="Courier New" panose="02070309020205020404" pitchFamily="49" charset="0"/>
            </a:endParaRPr>
          </a:p>
        </p:txBody>
      </p:sp>
      <p:sp>
        <p:nvSpPr>
          <p:cNvPr id="38" name="文本框 37"/>
          <p:cNvSpPr txBox="1"/>
          <p:nvPr/>
        </p:nvSpPr>
        <p:spPr>
          <a:xfrm>
            <a:off x="6470968" y="5430590"/>
            <a:ext cx="5087996" cy="307777"/>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smtClean="0">
                <a:solidFill>
                  <a:prstClr val="black"/>
                </a:solidFill>
                <a:cs typeface="Courier New" panose="02070309020205020404" pitchFamily="49" charset="0"/>
              </a:rPr>
              <a:t>[R1-bgp</a:t>
            </a:r>
            <a:r>
              <a:rPr lang="en-US" altLang="zh-CN" sz="1400" dirty="0">
                <a:solidFill>
                  <a:prstClr val="black"/>
                </a:solidFill>
                <a:cs typeface="Courier New" panose="02070309020205020404" pitchFamily="49" charset="0"/>
              </a:rPr>
              <a:t>] peer </a:t>
            </a:r>
            <a:r>
              <a:rPr lang="en-US" altLang="zh-CN" sz="1400" dirty="0" smtClean="0">
                <a:solidFill>
                  <a:prstClr val="black"/>
                </a:solidFill>
                <a:cs typeface="Courier New" panose="02070309020205020404" pitchFamily="49" charset="0"/>
              </a:rPr>
              <a:t>10.1.3.3 </a:t>
            </a:r>
            <a:r>
              <a:rPr lang="en-US" altLang="zh-CN" sz="1400" dirty="0">
                <a:solidFill>
                  <a:prstClr val="black"/>
                </a:solidFill>
                <a:cs typeface="Courier New" panose="02070309020205020404" pitchFamily="49" charset="0"/>
              </a:rPr>
              <a:t>valid-</a:t>
            </a:r>
            <a:r>
              <a:rPr lang="en-US" altLang="zh-CN" sz="1400" dirty="0" err="1">
                <a:solidFill>
                  <a:prstClr val="black"/>
                </a:solidFill>
                <a:cs typeface="Courier New" panose="02070309020205020404" pitchFamily="49" charset="0"/>
              </a:rPr>
              <a:t>ttl</a:t>
            </a:r>
            <a:r>
              <a:rPr lang="en-US" altLang="zh-CN" sz="1400" dirty="0">
                <a:solidFill>
                  <a:prstClr val="black"/>
                </a:solidFill>
                <a:cs typeface="Courier New" panose="02070309020205020404" pitchFamily="49" charset="0"/>
              </a:rPr>
              <a:t>-hops </a:t>
            </a:r>
            <a:r>
              <a:rPr lang="en-US" altLang="zh-CN" sz="1400" dirty="0" smtClean="0">
                <a:solidFill>
                  <a:prstClr val="black"/>
                </a:solidFill>
                <a:cs typeface="Courier New" panose="02070309020205020404" pitchFamily="49" charset="0"/>
              </a:rPr>
              <a:t>2 </a:t>
            </a:r>
          </a:p>
        </p:txBody>
      </p:sp>
      <p:sp>
        <p:nvSpPr>
          <p:cNvPr id="39" name="文本框 38"/>
          <p:cNvSpPr txBox="1"/>
          <p:nvPr/>
        </p:nvSpPr>
        <p:spPr>
          <a:xfrm>
            <a:off x="6338670" y="4575336"/>
            <a:ext cx="5407243" cy="830997"/>
          </a:xfrm>
          <a:prstGeom prst="rect">
            <a:avLst/>
          </a:prstGeom>
          <a:noFill/>
        </p:spPr>
        <p:txBody>
          <a:bodyPr wrap="square" rtlCol="0">
            <a:spAutoFit/>
          </a:bodyPr>
          <a:lstStyle/>
          <a:p>
            <a:pPr fontAlgn="auto">
              <a:spcBef>
                <a:spcPts val="0"/>
              </a:spcBef>
              <a:spcAft>
                <a:spcPts val="0"/>
              </a:spcAft>
            </a:pPr>
            <a:r>
              <a:rPr lang="en-US" altLang="zh-CN" sz="1600" dirty="0">
                <a:solidFill>
                  <a:prstClr val="black"/>
                </a:solidFill>
              </a:rPr>
              <a:t>4</a:t>
            </a:r>
            <a:r>
              <a:rPr lang="zh-CN" altLang="en-US" sz="1600" dirty="0" smtClean="0">
                <a:solidFill>
                  <a:prstClr val="black"/>
                </a:solidFill>
              </a:rPr>
              <a:t>、在</a:t>
            </a:r>
            <a:r>
              <a:rPr lang="en-US" altLang="zh-CN" sz="1600" dirty="0" smtClean="0">
                <a:solidFill>
                  <a:prstClr val="black"/>
                </a:solidFill>
              </a:rPr>
              <a:t>R1</a:t>
            </a:r>
            <a:r>
              <a:rPr lang="zh-CN" altLang="en-US" sz="1600" dirty="0" smtClean="0">
                <a:solidFill>
                  <a:prstClr val="black"/>
                </a:solidFill>
              </a:rPr>
              <a:t>与</a:t>
            </a:r>
            <a:r>
              <a:rPr lang="en-US" altLang="zh-CN" sz="1600" dirty="0" smtClean="0">
                <a:solidFill>
                  <a:prstClr val="black"/>
                </a:solidFill>
              </a:rPr>
              <a:t>R3</a:t>
            </a:r>
            <a:r>
              <a:rPr lang="zh-CN" altLang="en-US" sz="1600" dirty="0" smtClean="0">
                <a:solidFill>
                  <a:prstClr val="black"/>
                </a:solidFill>
              </a:rPr>
              <a:t>间开启</a:t>
            </a:r>
            <a:r>
              <a:rPr lang="en-US" altLang="zh-CN" sz="1600" dirty="0" smtClean="0">
                <a:solidFill>
                  <a:prstClr val="black"/>
                </a:solidFill>
              </a:rPr>
              <a:t>GTSM</a:t>
            </a:r>
            <a:r>
              <a:rPr lang="zh-CN" altLang="en-US" sz="1600" dirty="0">
                <a:solidFill>
                  <a:prstClr val="black"/>
                </a:solidFill>
              </a:rPr>
              <a:t>。由于两台路由器</a:t>
            </a:r>
            <a:r>
              <a:rPr lang="zh-CN" altLang="en-US" sz="1600" dirty="0" smtClean="0">
                <a:solidFill>
                  <a:prstClr val="black"/>
                </a:solidFill>
              </a:rPr>
              <a:t>经过</a:t>
            </a:r>
            <a:r>
              <a:rPr lang="en-US" altLang="zh-CN" sz="1600" dirty="0" smtClean="0">
                <a:solidFill>
                  <a:prstClr val="black"/>
                </a:solidFill>
              </a:rPr>
              <a:t>R2</a:t>
            </a:r>
            <a:r>
              <a:rPr lang="zh-CN" altLang="en-US" sz="1600" dirty="0" smtClean="0">
                <a:solidFill>
                  <a:prstClr val="black"/>
                </a:solidFill>
              </a:rPr>
              <a:t>连接</a:t>
            </a:r>
            <a:r>
              <a:rPr lang="zh-CN" altLang="en-US" sz="1600" dirty="0">
                <a:solidFill>
                  <a:prstClr val="black"/>
                </a:solidFill>
              </a:rPr>
              <a:t>，经过一跳后，</a:t>
            </a:r>
            <a:r>
              <a:rPr lang="en-US" altLang="zh-CN" sz="1600" dirty="0">
                <a:solidFill>
                  <a:prstClr val="black"/>
                </a:solidFill>
              </a:rPr>
              <a:t>TTL</a:t>
            </a:r>
            <a:r>
              <a:rPr lang="zh-CN" altLang="en-US" sz="1600" dirty="0">
                <a:solidFill>
                  <a:prstClr val="black"/>
                </a:solidFill>
              </a:rPr>
              <a:t>到达对方的有效范围是</a:t>
            </a:r>
            <a:r>
              <a:rPr lang="en-US" altLang="zh-CN" sz="1600" dirty="0">
                <a:solidFill>
                  <a:prstClr val="black"/>
                </a:solidFill>
              </a:rPr>
              <a:t>[254, 255]</a:t>
            </a:r>
            <a:r>
              <a:rPr lang="zh-CN" altLang="en-US" sz="1600" dirty="0">
                <a:solidFill>
                  <a:prstClr val="black"/>
                </a:solidFill>
              </a:rPr>
              <a:t>，所以此处的</a:t>
            </a:r>
            <a:r>
              <a:rPr lang="en-US" altLang="zh-CN" sz="1600" dirty="0">
                <a:solidFill>
                  <a:prstClr val="black"/>
                </a:solidFill>
              </a:rPr>
              <a:t>valid-</a:t>
            </a:r>
            <a:r>
              <a:rPr lang="en-US" altLang="zh-CN" sz="1600" dirty="0" err="1">
                <a:solidFill>
                  <a:prstClr val="black"/>
                </a:solidFill>
              </a:rPr>
              <a:t>ttl</a:t>
            </a:r>
            <a:r>
              <a:rPr lang="en-US" altLang="zh-CN" sz="1600" dirty="0">
                <a:solidFill>
                  <a:prstClr val="black"/>
                </a:solidFill>
              </a:rPr>
              <a:t>-hops</a:t>
            </a:r>
            <a:r>
              <a:rPr lang="zh-CN" altLang="en-US" sz="1600" dirty="0">
                <a:solidFill>
                  <a:prstClr val="black"/>
                </a:solidFill>
              </a:rPr>
              <a:t>值取</a:t>
            </a:r>
            <a:r>
              <a:rPr lang="en-US" altLang="zh-CN" sz="1600" dirty="0" smtClean="0">
                <a:solidFill>
                  <a:prstClr val="black"/>
                </a:solidFill>
              </a:rPr>
              <a:t>2</a:t>
            </a:r>
            <a:r>
              <a:rPr lang="zh-CN" altLang="en-US" sz="1600" dirty="0" smtClean="0">
                <a:solidFill>
                  <a:prstClr val="black"/>
                </a:solidFill>
              </a:rPr>
              <a:t>。</a:t>
            </a:r>
            <a:endParaRPr lang="zh-CN" altLang="en-US" sz="1600" dirty="0">
              <a:solidFill>
                <a:prstClr val="black"/>
              </a:solidFill>
            </a:endParaRPr>
          </a:p>
        </p:txBody>
      </p:sp>
      <p:sp>
        <p:nvSpPr>
          <p:cNvPr id="44" name="文本框 43"/>
          <p:cNvSpPr txBox="1"/>
          <p:nvPr/>
        </p:nvSpPr>
        <p:spPr>
          <a:xfrm>
            <a:off x="6470968" y="5844278"/>
            <a:ext cx="5087996" cy="307777"/>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smtClean="0">
                <a:solidFill>
                  <a:prstClr val="black"/>
                </a:solidFill>
                <a:cs typeface="Courier New" panose="02070309020205020404" pitchFamily="49" charset="0"/>
              </a:rPr>
              <a:t>[R3-bgp</a:t>
            </a:r>
            <a:r>
              <a:rPr lang="en-US" altLang="zh-CN" sz="1400" dirty="0">
                <a:solidFill>
                  <a:prstClr val="black"/>
                </a:solidFill>
                <a:cs typeface="Courier New" panose="02070309020205020404" pitchFamily="49" charset="0"/>
              </a:rPr>
              <a:t>] peer </a:t>
            </a:r>
            <a:r>
              <a:rPr lang="en-US" altLang="zh-CN" sz="1400" dirty="0" smtClean="0">
                <a:solidFill>
                  <a:prstClr val="black"/>
                </a:solidFill>
                <a:cs typeface="Courier New" panose="02070309020205020404" pitchFamily="49" charset="0"/>
              </a:rPr>
              <a:t>10.1.1.1 </a:t>
            </a:r>
            <a:r>
              <a:rPr lang="en-US" altLang="zh-CN" sz="1400" dirty="0">
                <a:solidFill>
                  <a:prstClr val="black"/>
                </a:solidFill>
                <a:cs typeface="Courier New" panose="02070309020205020404" pitchFamily="49" charset="0"/>
              </a:rPr>
              <a:t>valid-</a:t>
            </a:r>
            <a:r>
              <a:rPr lang="en-US" altLang="zh-CN" sz="1400" dirty="0" err="1">
                <a:solidFill>
                  <a:prstClr val="black"/>
                </a:solidFill>
                <a:cs typeface="Courier New" panose="02070309020205020404" pitchFamily="49" charset="0"/>
              </a:rPr>
              <a:t>ttl</a:t>
            </a:r>
            <a:r>
              <a:rPr lang="en-US" altLang="zh-CN" sz="1400" dirty="0">
                <a:solidFill>
                  <a:prstClr val="black"/>
                </a:solidFill>
                <a:cs typeface="Courier New" panose="02070309020205020404" pitchFamily="49" charset="0"/>
              </a:rPr>
              <a:t>-hops </a:t>
            </a:r>
            <a:r>
              <a:rPr lang="en-US" altLang="zh-CN" sz="1400" dirty="0" smtClean="0">
                <a:solidFill>
                  <a:prstClr val="black"/>
                </a:solidFill>
                <a:cs typeface="Courier New" panose="02070309020205020404" pitchFamily="49" charset="0"/>
              </a:rPr>
              <a:t>2 </a:t>
            </a:r>
          </a:p>
        </p:txBody>
      </p:sp>
      <p:sp>
        <p:nvSpPr>
          <p:cNvPr id="49" name="任意多边形 25"/>
          <p:cNvSpPr/>
          <p:nvPr/>
        </p:nvSpPr>
        <p:spPr bwMode="gray">
          <a:xfrm>
            <a:off x="1237925" y="1013513"/>
            <a:ext cx="3699566" cy="2631079"/>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pic>
        <p:nvPicPr>
          <p:cNvPr id="50" name="图片 49"/>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736636" y="1524072"/>
            <a:ext cx="540000" cy="442800"/>
          </a:xfrm>
          <a:prstGeom prst="rect">
            <a:avLst/>
          </a:prstGeom>
        </p:spPr>
      </p:pic>
      <p:cxnSp>
        <p:nvCxnSpPr>
          <p:cNvPr id="52" name="直接连接符 51"/>
          <p:cNvCxnSpPr>
            <a:stCxn id="65" idx="3"/>
            <a:endCxn id="50" idx="1"/>
          </p:cNvCxnSpPr>
          <p:nvPr/>
        </p:nvCxnSpPr>
        <p:spPr bwMode="gray">
          <a:xfrm>
            <a:off x="2241509" y="1745472"/>
            <a:ext cx="149512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TextBox 120">
            <a:extLst>
              <a:ext uri="{FF2B5EF4-FFF2-40B4-BE49-F238E27FC236}">
                <a16:creationId xmlns="" xmlns:a16="http://schemas.microsoft.com/office/drawing/2014/main" id="{020D7A1D-EFAD-4C8C-B9DE-D0FAD269B77A}"/>
              </a:ext>
            </a:extLst>
          </p:cNvPr>
          <p:cNvSpPr txBox="1"/>
          <p:nvPr/>
        </p:nvSpPr>
        <p:spPr bwMode="gray">
          <a:xfrm>
            <a:off x="1570830" y="1274568"/>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TextBox 120">
            <a:extLst>
              <a:ext uri="{FF2B5EF4-FFF2-40B4-BE49-F238E27FC236}">
                <a16:creationId xmlns="" xmlns:a16="http://schemas.microsoft.com/office/drawing/2014/main" id="{020D7A1D-EFAD-4C8C-B9DE-D0FAD269B77A}"/>
              </a:ext>
            </a:extLst>
          </p:cNvPr>
          <p:cNvSpPr txBox="1"/>
          <p:nvPr/>
        </p:nvSpPr>
        <p:spPr bwMode="gray">
          <a:xfrm>
            <a:off x="3602238" y="1274568"/>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TextBox 120">
            <a:extLst>
              <a:ext uri="{FF2B5EF4-FFF2-40B4-BE49-F238E27FC236}">
                <a16:creationId xmlns="" xmlns:a16="http://schemas.microsoft.com/office/drawing/2014/main" id="{020D7A1D-EFAD-4C8C-B9DE-D0FAD269B77A}"/>
              </a:ext>
            </a:extLst>
          </p:cNvPr>
          <p:cNvSpPr txBox="1"/>
          <p:nvPr/>
        </p:nvSpPr>
        <p:spPr bwMode="gray">
          <a:xfrm>
            <a:off x="3480491" y="1703693"/>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文本占位符 2"/>
          <p:cNvSpPr txBox="1">
            <a:spLocks/>
          </p:cNvSpPr>
          <p:nvPr/>
        </p:nvSpPr>
        <p:spPr bwMode="auto">
          <a:xfrm>
            <a:off x="480297" y="3617457"/>
            <a:ext cx="5627683" cy="129871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en-US" altLang="zh-CN" sz="1800" dirty="0" smtClean="0"/>
              <a:t>R1</a:t>
            </a:r>
            <a:r>
              <a:rPr lang="zh-CN" altLang="en-US" sz="1800" dirty="0" smtClean="0"/>
              <a:t>、</a:t>
            </a:r>
            <a:r>
              <a:rPr lang="en-US" altLang="zh-CN" sz="1800" dirty="0" smtClean="0"/>
              <a:t>R2</a:t>
            </a:r>
            <a:r>
              <a:rPr lang="zh-CN" altLang="en-US" sz="1800" dirty="0" smtClean="0"/>
              <a:t>、</a:t>
            </a:r>
            <a:r>
              <a:rPr lang="en-US" altLang="zh-CN" sz="1800" dirty="0" smtClean="0"/>
              <a:t>R3</a:t>
            </a:r>
            <a:r>
              <a:rPr lang="zh-CN" altLang="en-US" sz="1800" dirty="0" smtClean="0"/>
              <a:t>均处于</a:t>
            </a:r>
            <a:r>
              <a:rPr lang="en-US" altLang="zh-CN" sz="1800" dirty="0" smtClean="0"/>
              <a:t>AS 101</a:t>
            </a:r>
            <a:r>
              <a:rPr lang="zh-CN" altLang="en-US" sz="1800" dirty="0" smtClean="0"/>
              <a:t>中，且使用</a:t>
            </a:r>
            <a:r>
              <a:rPr lang="en-US" altLang="zh-CN" sz="1800" dirty="0" smtClean="0"/>
              <a:t>Loopback0</a:t>
            </a:r>
            <a:r>
              <a:rPr lang="zh-CN" altLang="en-US" sz="1800" dirty="0" smtClean="0"/>
              <a:t>接口建立</a:t>
            </a:r>
            <a:r>
              <a:rPr lang="en-US" altLang="zh-CN" sz="1800" dirty="0" smtClean="0"/>
              <a:t>IBGP</a:t>
            </a:r>
            <a:r>
              <a:rPr lang="zh-CN" altLang="en-US" sz="1800" dirty="0" smtClean="0"/>
              <a:t>全互联。同时需要在三台路由器上开启</a:t>
            </a:r>
            <a:r>
              <a:rPr lang="en-US" altLang="zh-CN" sz="1800" dirty="0" smtClean="0"/>
              <a:t>GTSM</a:t>
            </a:r>
            <a:r>
              <a:rPr lang="zh-CN" altLang="en-US" sz="1800" dirty="0" smtClean="0"/>
              <a:t>功能，防止</a:t>
            </a:r>
            <a:r>
              <a:rPr lang="en-US" altLang="zh-CN" sz="1800" dirty="0" smtClean="0"/>
              <a:t>CPU</a:t>
            </a:r>
            <a:r>
              <a:rPr lang="zh-CN" altLang="en-US" sz="1800" dirty="0" smtClean="0"/>
              <a:t>类型的攻击。</a:t>
            </a:r>
            <a:endParaRPr lang="zh-CN" altLang="en-US" sz="1800" dirty="0"/>
          </a:p>
        </p:txBody>
      </p:sp>
      <p:pic>
        <p:nvPicPr>
          <p:cNvPr id="63" name="图片 62"/>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736636" y="3095873"/>
            <a:ext cx="540000" cy="442800"/>
          </a:xfrm>
          <a:prstGeom prst="rect">
            <a:avLst/>
          </a:prstGeom>
        </p:spPr>
      </p:pic>
      <p:cxnSp>
        <p:nvCxnSpPr>
          <p:cNvPr id="64" name="直接连接符 63"/>
          <p:cNvCxnSpPr>
            <a:stCxn id="50" idx="2"/>
            <a:endCxn id="63" idx="0"/>
          </p:cNvCxnSpPr>
          <p:nvPr/>
        </p:nvCxnSpPr>
        <p:spPr bwMode="gray">
          <a:xfrm>
            <a:off x="4006636" y="1966872"/>
            <a:ext cx="0" cy="112900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5" name="图片 6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701509" y="1524072"/>
            <a:ext cx="540000" cy="442800"/>
          </a:xfrm>
          <a:prstGeom prst="rect">
            <a:avLst/>
          </a:prstGeom>
        </p:spPr>
      </p:pic>
      <p:sp>
        <p:nvSpPr>
          <p:cNvPr id="70" name="TextBox 120">
            <a:extLst>
              <a:ext uri="{FF2B5EF4-FFF2-40B4-BE49-F238E27FC236}">
                <a16:creationId xmlns="" xmlns:a16="http://schemas.microsoft.com/office/drawing/2014/main" id="{020D7A1D-EFAD-4C8C-B9DE-D0FAD269B77A}"/>
              </a:ext>
            </a:extLst>
          </p:cNvPr>
          <p:cNvSpPr txBox="1"/>
          <p:nvPr/>
        </p:nvSpPr>
        <p:spPr bwMode="gray">
          <a:xfrm>
            <a:off x="4027281" y="3161357"/>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R3</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TextBox 120">
            <a:extLst>
              <a:ext uri="{FF2B5EF4-FFF2-40B4-BE49-F238E27FC236}">
                <a16:creationId xmlns="" xmlns:a16="http://schemas.microsoft.com/office/drawing/2014/main" id="{020D7A1D-EFAD-4C8C-B9DE-D0FAD269B77A}"/>
              </a:ext>
            </a:extLst>
          </p:cNvPr>
          <p:cNvSpPr txBox="1"/>
          <p:nvPr/>
        </p:nvSpPr>
        <p:spPr bwMode="gray">
          <a:xfrm>
            <a:off x="2448710" y="1475551"/>
            <a:ext cx="128158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10.1.12.0/24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TextBox 120">
            <a:extLst>
              <a:ext uri="{FF2B5EF4-FFF2-40B4-BE49-F238E27FC236}">
                <a16:creationId xmlns="" xmlns:a16="http://schemas.microsoft.com/office/drawing/2014/main" id="{020D7A1D-EFAD-4C8C-B9DE-D0FAD269B77A}"/>
              </a:ext>
            </a:extLst>
          </p:cNvPr>
          <p:cNvSpPr txBox="1"/>
          <p:nvPr/>
        </p:nvSpPr>
        <p:spPr bwMode="gray">
          <a:xfrm rot="16200000">
            <a:off x="3541237" y="2294907"/>
            <a:ext cx="128158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10.1.23.0/24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TextBox 120">
            <a:extLst>
              <a:ext uri="{FF2B5EF4-FFF2-40B4-BE49-F238E27FC236}">
                <a16:creationId xmlns="" xmlns:a16="http://schemas.microsoft.com/office/drawing/2014/main" id="{020D7A1D-EFAD-4C8C-B9DE-D0FAD269B77A}"/>
              </a:ext>
            </a:extLst>
          </p:cNvPr>
          <p:cNvSpPr txBox="1"/>
          <p:nvPr/>
        </p:nvSpPr>
        <p:spPr bwMode="gray">
          <a:xfrm>
            <a:off x="2184354" y="1703302"/>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TextBox 120">
            <a:extLst>
              <a:ext uri="{FF2B5EF4-FFF2-40B4-BE49-F238E27FC236}">
                <a16:creationId xmlns="" xmlns:a16="http://schemas.microsoft.com/office/drawing/2014/main" id="{020D7A1D-EFAD-4C8C-B9DE-D0FAD269B77A}"/>
              </a:ext>
            </a:extLst>
          </p:cNvPr>
          <p:cNvSpPr txBox="1"/>
          <p:nvPr/>
        </p:nvSpPr>
        <p:spPr bwMode="gray">
          <a:xfrm>
            <a:off x="1238025" y="1051132"/>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101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81" name="表格 80"/>
          <p:cNvGraphicFramePr>
            <a:graphicFrameLocks noGrp="1"/>
          </p:cNvGraphicFramePr>
          <p:nvPr>
            <p:extLst>
              <p:ext uri="{D42A27DB-BD31-4B8C-83A1-F6EECF244321}">
                <p14:modId xmlns:p14="http://schemas.microsoft.com/office/powerpoint/2010/main" val="2503194550"/>
              </p:ext>
            </p:extLst>
          </p:nvPr>
        </p:nvGraphicFramePr>
        <p:xfrm>
          <a:off x="1237925" y="4871122"/>
          <a:ext cx="4348923" cy="1219200"/>
        </p:xfrm>
        <a:graphic>
          <a:graphicData uri="http://schemas.openxmlformats.org/drawingml/2006/table">
            <a:tbl>
              <a:tblPr firstRow="1" bandRow="1"/>
              <a:tblGrid>
                <a:gridCol w="869785"/>
                <a:gridCol w="1739569"/>
                <a:gridCol w="1739569"/>
              </a:tblGrid>
              <a:tr h="283456">
                <a:tc>
                  <a:txBody>
                    <a:bodyPr/>
                    <a:lstStyle/>
                    <a:p>
                      <a:pPr algn="ctr"/>
                      <a:r>
                        <a:rPr lang="zh-CN" altLang="en-US" sz="1400" b="1" dirty="0" smtClean="0"/>
                        <a:t>设备</a:t>
                      </a:r>
                      <a:endParaRPr lang="zh-CN" altLang="en-US" sz="1400" b="1" dirty="0">
                        <a:solidFill>
                          <a:schemeClr val="bg1"/>
                        </a:solidFill>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smtClean="0"/>
                        <a:t>接口</a:t>
                      </a:r>
                      <a:endParaRPr lang="zh-CN" altLang="en-US" sz="1400" b="1" dirty="0">
                        <a:solidFill>
                          <a:schemeClr val="bg1"/>
                        </a:solidFill>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smtClean="0"/>
                        <a:t>接口地址</a:t>
                      </a:r>
                      <a:endParaRPr lang="zh-CN" altLang="en-US" sz="1400" b="1" dirty="0">
                        <a:solidFill>
                          <a:schemeClr val="bg1"/>
                        </a:solidFill>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283456">
                <a:tc>
                  <a:txBody>
                    <a:bodyPr/>
                    <a:lstStyle/>
                    <a:p>
                      <a:pPr algn="ctr"/>
                      <a:r>
                        <a:rPr lang="en-US" altLang="zh-CN" sz="1400" dirty="0" smtClean="0"/>
                        <a:t>R1</a:t>
                      </a:r>
                      <a:endParaRPr lang="zh-CN" altLang="en-US" sz="1400" dirty="0">
                        <a:solidFill>
                          <a:schemeClr val="tx1"/>
                        </a:solidFill>
                      </a:endParaRPr>
                    </a:p>
                  </a:txBody>
                  <a:tcPr anchor="ctr">
                    <a:lnL w="28575" cap="flat" cmpd="sng" algn="ctr">
                      <a:solidFill>
                        <a:schemeClr val="tx1"/>
                      </a:solidFill>
                      <a:prstDash val="solid"/>
                      <a:round/>
                      <a:headEnd type="none" w="med" len="med"/>
                      <a:tailEnd type="none" w="med" len="med"/>
                    </a:lnL>
                  </a:tcPr>
                </a:tc>
                <a:tc>
                  <a:txBody>
                    <a:bodyPr/>
                    <a:lstStyle/>
                    <a:p>
                      <a:pPr algn="ctr"/>
                      <a:r>
                        <a:rPr lang="en-US" altLang="zh-CN" sz="1400" dirty="0" smtClean="0"/>
                        <a:t>Loopback0</a:t>
                      </a:r>
                      <a:endParaRPr lang="en-US" altLang="zh-CN" sz="1400" dirty="0" smtClean="0">
                        <a:solidFill>
                          <a:schemeClr val="tx1"/>
                        </a:solidFill>
                      </a:endParaRPr>
                    </a:p>
                  </a:txBody>
                  <a:tcPr anchor="ctr"/>
                </a:tc>
                <a:tc>
                  <a:txBody>
                    <a:bodyPr/>
                    <a:lstStyle/>
                    <a:p>
                      <a:pPr algn="ctr"/>
                      <a:r>
                        <a:rPr lang="en-US" altLang="zh-CN" sz="1400" dirty="0" smtClean="0"/>
                        <a:t>10.1.1.1/32</a:t>
                      </a:r>
                      <a:endParaRPr lang="en-US" altLang="zh-CN" sz="1400" dirty="0" smtClean="0">
                        <a:solidFill>
                          <a:schemeClr val="tx1"/>
                        </a:solidFill>
                      </a:endParaRPr>
                    </a:p>
                  </a:txBody>
                  <a:tcPr anchor="ctr">
                    <a:lnR w="28575" cap="flat" cmpd="sng" algn="ctr">
                      <a:solidFill>
                        <a:schemeClr val="tx1"/>
                      </a:solidFill>
                      <a:prstDash val="solid"/>
                      <a:round/>
                      <a:headEnd type="none" w="med" len="med"/>
                      <a:tailEnd type="none" w="med" len="med"/>
                    </a:lnR>
                  </a:tcPr>
                </a:tc>
              </a:tr>
              <a:tr h="283456">
                <a:tc>
                  <a:txBody>
                    <a:bodyPr/>
                    <a:lstStyle/>
                    <a:p>
                      <a:pPr algn="ctr"/>
                      <a:r>
                        <a:rPr lang="en-US" altLang="zh-CN" sz="1400" dirty="0" smtClean="0"/>
                        <a:t>R2</a:t>
                      </a:r>
                      <a:endParaRPr lang="zh-CN" altLang="en-US" sz="1400" dirty="0">
                        <a:solidFill>
                          <a:schemeClr val="tx1"/>
                        </a:solidFill>
                      </a:endParaRPr>
                    </a:p>
                  </a:txBody>
                  <a:tcPr anchor="ctr">
                    <a:lnL w="28575" cap="flat" cmpd="sng" algn="ctr">
                      <a:solidFill>
                        <a:schemeClr val="tx1"/>
                      </a:solidFill>
                      <a:prstDash val="solid"/>
                      <a:round/>
                      <a:headEnd type="none" w="med" len="med"/>
                      <a:tailEnd type="none" w="med" len="med"/>
                    </a:lnL>
                  </a:tcPr>
                </a:tc>
                <a:tc>
                  <a:txBody>
                    <a:bodyPr/>
                    <a:lstStyle/>
                    <a:p>
                      <a:pPr algn="ctr"/>
                      <a:r>
                        <a:rPr lang="en-US" altLang="zh-CN" sz="1400" dirty="0" smtClean="0"/>
                        <a:t>Loopback0</a:t>
                      </a:r>
                      <a:endParaRPr lang="en-US" altLang="zh-CN" sz="1400" dirty="0" smtClean="0">
                        <a:solidFill>
                          <a:schemeClr val="tx1"/>
                        </a:solidFill>
                      </a:endParaRPr>
                    </a:p>
                  </a:txBody>
                  <a:tcPr anchor="ct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smtClean="0"/>
                        <a:t>10.1.2.2/32</a:t>
                      </a:r>
                      <a:endParaRPr lang="en-US" altLang="zh-CN" sz="1400" dirty="0" smtClean="0">
                        <a:solidFill>
                          <a:schemeClr val="tx1"/>
                        </a:solidFill>
                      </a:endParaRPr>
                    </a:p>
                  </a:txBody>
                  <a:tcPr anchor="ctr">
                    <a:lnR w="28575" cap="flat" cmpd="sng" algn="ctr">
                      <a:solidFill>
                        <a:schemeClr val="tx1"/>
                      </a:solidFill>
                      <a:prstDash val="solid"/>
                      <a:round/>
                      <a:headEnd type="none" w="med" len="med"/>
                      <a:tailEnd type="none" w="med" len="med"/>
                    </a:lnR>
                  </a:tcPr>
                </a:tc>
              </a:tr>
              <a:tr h="283456">
                <a:tc>
                  <a:txBody>
                    <a:bodyPr/>
                    <a:lstStyle/>
                    <a:p>
                      <a:pPr algn="ctr"/>
                      <a:r>
                        <a:rPr lang="en-US" altLang="zh-CN" sz="1400" dirty="0" smtClean="0"/>
                        <a:t>R3</a:t>
                      </a:r>
                      <a:endParaRPr lang="zh-CN" altLang="en-US" sz="1400" dirty="0">
                        <a:solidFill>
                          <a:schemeClr val="tx1"/>
                        </a:solidFill>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altLang="zh-CN" sz="1400" dirty="0" smtClean="0"/>
                        <a:t>Loopback0</a:t>
                      </a:r>
                      <a:endParaRPr lang="en-US" altLang="zh-CN" sz="1400" dirty="0" smtClean="0">
                        <a:solidFill>
                          <a:schemeClr val="tx1"/>
                        </a:solidFill>
                      </a:endParaRPr>
                    </a:p>
                  </a:txBody>
                  <a:tcPr anchor="ctr">
                    <a:lnB w="28575" cap="flat" cmpd="sng" algn="ctr">
                      <a:solidFill>
                        <a:schemeClr val="tx1"/>
                      </a:solidFill>
                      <a:prstDash val="solid"/>
                      <a:round/>
                      <a:headEnd type="none" w="med" len="med"/>
                      <a:tailEnd type="none" w="med" len="med"/>
                    </a:lnB>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smtClean="0"/>
                        <a:t>10.1.3.3/32</a:t>
                      </a:r>
                      <a:endParaRPr lang="en-US" altLang="zh-CN" sz="1400" dirty="0" smtClean="0">
                        <a:solidFill>
                          <a:schemeClr val="tx1"/>
                        </a:solidFill>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82" name="TextBox 120">
            <a:extLst>
              <a:ext uri="{FF2B5EF4-FFF2-40B4-BE49-F238E27FC236}">
                <a16:creationId xmlns="" xmlns:a16="http://schemas.microsoft.com/office/drawing/2014/main" id="{020D7A1D-EFAD-4C8C-B9DE-D0FAD269B77A}"/>
              </a:ext>
            </a:extLst>
          </p:cNvPr>
          <p:cNvSpPr txBox="1"/>
          <p:nvPr/>
        </p:nvSpPr>
        <p:spPr bwMode="gray">
          <a:xfrm>
            <a:off x="3717132" y="1915364"/>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TextBox 120">
            <a:extLst>
              <a:ext uri="{FF2B5EF4-FFF2-40B4-BE49-F238E27FC236}">
                <a16:creationId xmlns="" xmlns:a16="http://schemas.microsoft.com/office/drawing/2014/main" id="{020D7A1D-EFAD-4C8C-B9DE-D0FAD269B77A}"/>
              </a:ext>
            </a:extLst>
          </p:cNvPr>
          <p:cNvSpPr txBox="1"/>
          <p:nvPr/>
        </p:nvSpPr>
        <p:spPr bwMode="gray">
          <a:xfrm>
            <a:off x="3717132" y="2816579"/>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7" name="直接连接符 86"/>
          <p:cNvCxnSpPr/>
          <p:nvPr/>
        </p:nvCxnSpPr>
        <p:spPr bwMode="gray">
          <a:xfrm>
            <a:off x="2241509" y="2032832"/>
            <a:ext cx="1402139" cy="1245164"/>
          </a:xfrm>
          <a:prstGeom prst="line">
            <a:avLst/>
          </a:prstGeom>
          <a:ln w="19050">
            <a:solidFill>
              <a:schemeClr val="tx1"/>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8" name="TextBox 120">
            <a:extLst>
              <a:ext uri="{FF2B5EF4-FFF2-40B4-BE49-F238E27FC236}">
                <a16:creationId xmlns="" xmlns:a16="http://schemas.microsoft.com/office/drawing/2014/main" id="{020D7A1D-EFAD-4C8C-B9DE-D0FAD269B77A}"/>
              </a:ext>
            </a:extLst>
          </p:cNvPr>
          <p:cNvSpPr txBox="1"/>
          <p:nvPr/>
        </p:nvSpPr>
        <p:spPr bwMode="gray">
          <a:xfrm rot="2581641">
            <a:off x="2256243" y="2556252"/>
            <a:ext cx="962132" cy="307777"/>
          </a:xfrm>
          <a:prstGeom prst="rect">
            <a:avLst/>
          </a:prstGeom>
          <a:noFill/>
          <a:ln>
            <a:noFill/>
          </a:ln>
        </p:spPr>
        <p:txBody>
          <a:bodyPr wrap="square" rtlCol="0">
            <a:spAutoFit/>
          </a:bodyPr>
          <a:lstStyle/>
          <a:p>
            <a:pPr algn="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IBGP</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邻居</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9" name="直接连接符 88"/>
          <p:cNvCxnSpPr/>
          <p:nvPr/>
        </p:nvCxnSpPr>
        <p:spPr bwMode="gray">
          <a:xfrm>
            <a:off x="2337530" y="1428456"/>
            <a:ext cx="1306118" cy="0"/>
          </a:xfrm>
          <a:prstGeom prst="line">
            <a:avLst/>
          </a:prstGeom>
          <a:ln w="19050">
            <a:solidFill>
              <a:schemeClr val="tx1"/>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2" name="TextBox 120">
            <a:extLst>
              <a:ext uri="{FF2B5EF4-FFF2-40B4-BE49-F238E27FC236}">
                <a16:creationId xmlns="" xmlns:a16="http://schemas.microsoft.com/office/drawing/2014/main" id="{020D7A1D-EFAD-4C8C-B9DE-D0FAD269B77A}"/>
              </a:ext>
            </a:extLst>
          </p:cNvPr>
          <p:cNvSpPr txBox="1"/>
          <p:nvPr/>
        </p:nvSpPr>
        <p:spPr bwMode="gray">
          <a:xfrm>
            <a:off x="2514850" y="1112846"/>
            <a:ext cx="962132" cy="307777"/>
          </a:xfrm>
          <a:prstGeom prst="rect">
            <a:avLst/>
          </a:prstGeom>
          <a:noFill/>
          <a:ln>
            <a:noFill/>
          </a:ln>
        </p:spPr>
        <p:txBody>
          <a:bodyPr wrap="square" rtlCol="0">
            <a:spAutoFit/>
          </a:bodyPr>
          <a:lstStyle/>
          <a:p>
            <a:pPr algn="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IBGP</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邻居</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3" name="直接连接符 92"/>
          <p:cNvCxnSpPr/>
          <p:nvPr/>
        </p:nvCxnSpPr>
        <p:spPr bwMode="gray">
          <a:xfrm>
            <a:off x="4374349" y="1973953"/>
            <a:ext cx="0" cy="1023948"/>
          </a:xfrm>
          <a:prstGeom prst="line">
            <a:avLst/>
          </a:prstGeom>
          <a:ln w="19050">
            <a:solidFill>
              <a:schemeClr val="tx1"/>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4" name="TextBox 120">
            <a:extLst>
              <a:ext uri="{FF2B5EF4-FFF2-40B4-BE49-F238E27FC236}">
                <a16:creationId xmlns="" xmlns:a16="http://schemas.microsoft.com/office/drawing/2014/main" id="{020D7A1D-EFAD-4C8C-B9DE-D0FAD269B77A}"/>
              </a:ext>
            </a:extLst>
          </p:cNvPr>
          <p:cNvSpPr txBox="1"/>
          <p:nvPr/>
        </p:nvSpPr>
        <p:spPr bwMode="gray">
          <a:xfrm rot="16200000">
            <a:off x="4085189" y="2332038"/>
            <a:ext cx="962132" cy="307777"/>
          </a:xfrm>
          <a:prstGeom prst="rect">
            <a:avLst/>
          </a:prstGeom>
          <a:noFill/>
          <a:ln>
            <a:noFill/>
          </a:ln>
        </p:spPr>
        <p:txBody>
          <a:bodyPr wrap="square" rtlCol="0">
            <a:spAutoFit/>
          </a:bodyPr>
          <a:lstStyle/>
          <a:p>
            <a:pPr algn="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IBGP</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邻居</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五边形 39"/>
          <p:cNvSpPr/>
          <p:nvPr/>
        </p:nvSpPr>
        <p:spPr bwMode="gray">
          <a:xfrm>
            <a:off x="8421350" y="99742"/>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ORF</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燕尾形 40"/>
          <p:cNvSpPr/>
          <p:nvPr/>
        </p:nvSpPr>
        <p:spPr bwMode="gray">
          <a:xfrm>
            <a:off x="9061791" y="99742"/>
            <a:ext cx="93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对等体组</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燕尾形 41"/>
          <p:cNvSpPr/>
          <p:nvPr/>
        </p:nvSpPr>
        <p:spPr bwMode="gray">
          <a:xfrm>
            <a:off x="9918233" y="99742"/>
            <a:ext cx="936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安全特性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燕尾形 42"/>
          <p:cNvSpPr/>
          <p:nvPr/>
        </p:nvSpPr>
        <p:spPr bwMode="gray">
          <a:xfrm>
            <a:off x="10774674" y="99742"/>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字节</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AS</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号</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57774838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查看</a:t>
            </a:r>
            <a:r>
              <a:rPr lang="en-US" altLang="zh-CN" smtClean="0"/>
              <a:t>GTSM</a:t>
            </a:r>
            <a:r>
              <a:rPr lang="zh-CN" altLang="en-US" smtClean="0"/>
              <a:t>配置</a:t>
            </a:r>
            <a:endParaRPr lang="zh-CN" altLang="en-US" dirty="0"/>
          </a:p>
        </p:txBody>
      </p:sp>
      <p:sp>
        <p:nvSpPr>
          <p:cNvPr id="24" name="文本框 23"/>
          <p:cNvSpPr txBox="1"/>
          <p:nvPr/>
        </p:nvSpPr>
        <p:spPr>
          <a:xfrm>
            <a:off x="474963" y="1018724"/>
            <a:ext cx="5649912" cy="3970318"/>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200" dirty="0">
                <a:solidFill>
                  <a:prstClr val="black"/>
                </a:solidFill>
                <a:cs typeface="Courier New" panose="02070309020205020404" pitchFamily="49" charset="0"/>
              </a:rPr>
              <a:t>[R1]</a:t>
            </a:r>
            <a:r>
              <a:rPr lang="en-US" altLang="zh-CN" sz="1200" dirty="0">
                <a:solidFill>
                  <a:srgbClr val="C7000B"/>
                </a:solidFill>
                <a:cs typeface="Courier New" panose="02070309020205020404" pitchFamily="49" charset="0"/>
              </a:rPr>
              <a:t>display bgp peer 10.1.3.3 verbose </a:t>
            </a:r>
          </a:p>
          <a:p>
            <a:pPr fontAlgn="auto">
              <a:spcBef>
                <a:spcPts val="0"/>
              </a:spcBef>
              <a:spcAft>
                <a:spcPts val="0"/>
              </a:spcAft>
            </a:pPr>
            <a:r>
              <a:rPr lang="en-US" altLang="zh-CN" sz="1200" dirty="0">
                <a:solidFill>
                  <a:prstClr val="black"/>
                </a:solidFill>
                <a:cs typeface="Courier New" panose="02070309020205020404" pitchFamily="49" charset="0"/>
              </a:rPr>
              <a:t>	BGP Peer is 10.1.3.3,  remote AS 101  </a:t>
            </a:r>
          </a:p>
          <a:p>
            <a:pPr fontAlgn="auto">
              <a:spcBef>
                <a:spcPts val="0"/>
              </a:spcBef>
              <a:spcAft>
                <a:spcPts val="0"/>
              </a:spcAft>
            </a:pPr>
            <a:r>
              <a:rPr lang="en-US" altLang="zh-CN" sz="1200" dirty="0">
                <a:solidFill>
                  <a:prstClr val="black"/>
                </a:solidFill>
                <a:cs typeface="Courier New" panose="02070309020205020404" pitchFamily="49" charset="0"/>
              </a:rPr>
              <a:t>	Type: </a:t>
            </a:r>
            <a:r>
              <a:rPr lang="en-US" altLang="zh-CN" sz="1200" dirty="0">
                <a:solidFill>
                  <a:srgbClr val="C7000B"/>
                </a:solidFill>
                <a:cs typeface="Courier New" panose="02070309020205020404" pitchFamily="49" charset="0"/>
              </a:rPr>
              <a:t>IBGP link</a:t>
            </a:r>
          </a:p>
          <a:p>
            <a:pPr fontAlgn="auto">
              <a:spcBef>
                <a:spcPts val="0"/>
              </a:spcBef>
              <a:spcAft>
                <a:spcPts val="0"/>
              </a:spcAft>
            </a:pPr>
            <a:r>
              <a:rPr lang="en-US" altLang="zh-CN" sz="1200" dirty="0">
                <a:solidFill>
                  <a:prstClr val="black"/>
                </a:solidFill>
                <a:cs typeface="Courier New" panose="02070309020205020404" pitchFamily="49" charset="0"/>
              </a:rPr>
              <a:t>	BGP version 4, Remote router ID 10.1.3.3</a:t>
            </a:r>
          </a:p>
          <a:p>
            <a:pPr fontAlgn="auto">
              <a:spcBef>
                <a:spcPts val="0"/>
              </a:spcBef>
              <a:spcAft>
                <a:spcPts val="0"/>
              </a:spcAft>
            </a:pPr>
            <a:r>
              <a:rPr lang="en-US" altLang="zh-CN" sz="1200" dirty="0">
                <a:solidFill>
                  <a:prstClr val="black"/>
                </a:solidFill>
                <a:cs typeface="Courier New" panose="02070309020205020404" pitchFamily="49" charset="0"/>
              </a:rPr>
              <a:t>	Update-group ID: 1  </a:t>
            </a:r>
          </a:p>
          <a:p>
            <a:pPr fontAlgn="auto">
              <a:spcBef>
                <a:spcPts val="0"/>
              </a:spcBef>
              <a:spcAft>
                <a:spcPts val="0"/>
              </a:spcAft>
            </a:pPr>
            <a:r>
              <a:rPr lang="en-US" altLang="zh-CN" sz="1200" dirty="0">
                <a:solidFill>
                  <a:prstClr val="black"/>
                </a:solidFill>
                <a:cs typeface="Courier New" panose="02070309020205020404" pitchFamily="49" charset="0"/>
              </a:rPr>
              <a:t>	BGP current state: Established, Up for 00h02m17s </a:t>
            </a:r>
          </a:p>
          <a:p>
            <a:pPr fontAlgn="auto">
              <a:spcBef>
                <a:spcPts val="0"/>
              </a:spcBef>
              <a:spcAft>
                <a:spcPts val="0"/>
              </a:spcAft>
            </a:pPr>
            <a:r>
              <a:rPr lang="en-US" altLang="zh-CN" sz="1200" dirty="0">
                <a:solidFill>
                  <a:prstClr val="black"/>
                </a:solidFill>
                <a:cs typeface="Courier New" panose="02070309020205020404" pitchFamily="49" charset="0"/>
              </a:rPr>
              <a:t>	BGP current event: </a:t>
            </a:r>
            <a:r>
              <a:rPr lang="en-US" altLang="zh-CN" sz="1200" dirty="0" err="1">
                <a:solidFill>
                  <a:prstClr val="black"/>
                </a:solidFill>
                <a:cs typeface="Courier New" panose="02070309020205020404" pitchFamily="49" charset="0"/>
              </a:rPr>
              <a:t>KATimerExpired</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	BGP last state: </a:t>
            </a:r>
            <a:r>
              <a:rPr lang="en-US" altLang="zh-CN" sz="1200" dirty="0" err="1">
                <a:solidFill>
                  <a:prstClr val="black"/>
                </a:solidFill>
                <a:cs typeface="Courier New" panose="02070309020205020404" pitchFamily="49" charset="0"/>
              </a:rPr>
              <a:t>OpenConfirm</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	BGP Peer Up count: 1</a:t>
            </a:r>
          </a:p>
          <a:p>
            <a:pPr fontAlgn="auto">
              <a:spcBef>
                <a:spcPts val="0"/>
              </a:spcBef>
              <a:spcAft>
                <a:spcPts val="0"/>
              </a:spcAft>
            </a:pPr>
            <a:r>
              <a:rPr lang="en-US" altLang="zh-CN" sz="1200" dirty="0">
                <a:solidFill>
                  <a:prstClr val="black"/>
                </a:solidFill>
                <a:cs typeface="Courier New" panose="02070309020205020404" pitchFamily="49" charset="0"/>
              </a:rPr>
              <a:t>	Received total routes: 0</a:t>
            </a:r>
          </a:p>
          <a:p>
            <a:pPr fontAlgn="auto">
              <a:spcBef>
                <a:spcPts val="0"/>
              </a:spcBef>
              <a:spcAft>
                <a:spcPts val="0"/>
              </a:spcAft>
            </a:pPr>
            <a:r>
              <a:rPr lang="en-US" altLang="zh-CN" sz="1200" dirty="0">
                <a:solidFill>
                  <a:prstClr val="black"/>
                </a:solidFill>
                <a:cs typeface="Courier New" panose="02070309020205020404" pitchFamily="49" charset="0"/>
              </a:rPr>
              <a:t>	Received active routes total: 0</a:t>
            </a:r>
          </a:p>
          <a:p>
            <a:pPr fontAlgn="auto">
              <a:spcBef>
                <a:spcPts val="0"/>
              </a:spcBef>
              <a:spcAft>
                <a:spcPts val="0"/>
              </a:spcAft>
            </a:pPr>
            <a:r>
              <a:rPr lang="en-US" altLang="zh-CN" sz="1200" dirty="0">
                <a:solidFill>
                  <a:prstClr val="black"/>
                </a:solidFill>
                <a:cs typeface="Courier New" panose="02070309020205020404" pitchFamily="49" charset="0"/>
              </a:rPr>
              <a:t>	Advertised total routes: 1</a:t>
            </a:r>
          </a:p>
          <a:p>
            <a:pPr fontAlgn="auto">
              <a:spcBef>
                <a:spcPts val="0"/>
              </a:spcBef>
              <a:spcAft>
                <a:spcPts val="0"/>
              </a:spcAft>
            </a:pPr>
            <a:r>
              <a:rPr lang="en-US" altLang="zh-CN" sz="1200" dirty="0">
                <a:solidFill>
                  <a:prstClr val="black"/>
                </a:solidFill>
                <a:cs typeface="Courier New" panose="02070309020205020404" pitchFamily="49" charset="0"/>
              </a:rPr>
              <a:t>	Port:  Local - 179	Remote - 51077</a:t>
            </a:r>
          </a:p>
          <a:p>
            <a:pPr fontAlgn="auto">
              <a:spcBef>
                <a:spcPts val="0"/>
              </a:spcBef>
              <a:spcAft>
                <a:spcPts val="0"/>
              </a:spcAft>
            </a:pPr>
            <a:r>
              <a:rPr lang="en-US" altLang="zh-CN" sz="1200" dirty="0">
                <a:solidFill>
                  <a:prstClr val="black"/>
                </a:solidFill>
                <a:cs typeface="Courier New" panose="02070309020205020404" pitchFamily="49" charset="0"/>
              </a:rPr>
              <a:t>	Configured: Connect-retry Time: 32 sec</a:t>
            </a:r>
          </a:p>
          <a:p>
            <a:pPr fontAlgn="auto">
              <a:spcBef>
                <a:spcPts val="0"/>
              </a:spcBef>
              <a:spcAft>
                <a:spcPts val="0"/>
              </a:spcAft>
            </a:pPr>
            <a:r>
              <a:rPr lang="en-US" altLang="zh-CN" sz="1200" dirty="0">
                <a:solidFill>
                  <a:prstClr val="black"/>
                </a:solidFill>
                <a:cs typeface="Courier New" panose="02070309020205020404" pitchFamily="49" charset="0"/>
              </a:rPr>
              <a:t>	Configured: Active Hold Time: 180 sec	</a:t>
            </a:r>
            <a:r>
              <a:rPr lang="en-US" altLang="zh-CN" sz="1200" dirty="0" err="1">
                <a:solidFill>
                  <a:prstClr val="black"/>
                </a:solidFill>
                <a:cs typeface="Courier New" panose="02070309020205020404" pitchFamily="49" charset="0"/>
              </a:rPr>
              <a:t>Keepalive</a:t>
            </a:r>
            <a:r>
              <a:rPr lang="en-US" altLang="zh-CN" sz="1200" dirty="0">
                <a:solidFill>
                  <a:prstClr val="black"/>
                </a:solidFill>
                <a:cs typeface="Courier New" panose="02070309020205020404" pitchFamily="49" charset="0"/>
              </a:rPr>
              <a:t> Time:60 sec</a:t>
            </a:r>
          </a:p>
          <a:p>
            <a:pPr fontAlgn="auto">
              <a:spcBef>
                <a:spcPts val="0"/>
              </a:spcBef>
              <a:spcAft>
                <a:spcPts val="0"/>
              </a:spcAft>
            </a:pPr>
            <a:r>
              <a:rPr lang="en-US" altLang="zh-CN" sz="1200" dirty="0">
                <a:solidFill>
                  <a:prstClr val="black"/>
                </a:solidFill>
                <a:cs typeface="Courier New" panose="02070309020205020404" pitchFamily="49" charset="0"/>
              </a:rPr>
              <a:t>	Received  : Active Hold Time: 180 sec</a:t>
            </a:r>
          </a:p>
          <a:p>
            <a:pPr fontAlgn="auto">
              <a:spcBef>
                <a:spcPts val="0"/>
              </a:spcBef>
              <a:spcAft>
                <a:spcPts val="0"/>
              </a:spcAft>
            </a:pPr>
            <a:r>
              <a:rPr lang="en-US" altLang="zh-CN" sz="1200" dirty="0">
                <a:solidFill>
                  <a:prstClr val="black"/>
                </a:solidFill>
                <a:cs typeface="Courier New" panose="02070309020205020404" pitchFamily="49" charset="0"/>
              </a:rPr>
              <a:t>	Negotiated: Active Hold Time: 180 sec	</a:t>
            </a:r>
            <a:r>
              <a:rPr lang="en-US" altLang="zh-CN" sz="1200" dirty="0" err="1">
                <a:solidFill>
                  <a:prstClr val="black"/>
                </a:solidFill>
                <a:cs typeface="Courier New" panose="02070309020205020404" pitchFamily="49" charset="0"/>
              </a:rPr>
              <a:t>Keepalive</a:t>
            </a:r>
            <a:r>
              <a:rPr lang="en-US" altLang="zh-CN" sz="1200" dirty="0">
                <a:solidFill>
                  <a:prstClr val="black"/>
                </a:solidFill>
                <a:cs typeface="Courier New" panose="02070309020205020404" pitchFamily="49" charset="0"/>
              </a:rPr>
              <a:t> Time:60 sec</a:t>
            </a:r>
          </a:p>
          <a:p>
            <a:pPr fontAlgn="auto">
              <a:spcBef>
                <a:spcPts val="0"/>
              </a:spcBef>
              <a:spcAft>
                <a:spcPts val="0"/>
              </a:spcAft>
            </a:pPr>
            <a:r>
              <a:rPr lang="en-US" altLang="zh-CN" sz="1200" dirty="0">
                <a:solidFill>
                  <a:prstClr val="black"/>
                </a:solidFill>
                <a:cs typeface="Courier New" panose="02070309020205020404" pitchFamily="49" charset="0"/>
              </a:rPr>
              <a:t>	Peer optional capabilities:</a:t>
            </a:r>
          </a:p>
          <a:p>
            <a:pPr fontAlgn="auto">
              <a:spcBef>
                <a:spcPts val="0"/>
              </a:spcBef>
              <a:spcAft>
                <a:spcPts val="0"/>
              </a:spcAft>
            </a:pPr>
            <a:r>
              <a:rPr lang="en-US" altLang="zh-CN" sz="1200" dirty="0">
                <a:solidFill>
                  <a:prstClr val="black"/>
                </a:solidFill>
                <a:cs typeface="Courier New" panose="02070309020205020404" pitchFamily="49" charset="0"/>
              </a:rPr>
              <a:t>	Peer supports bgp multi-protocol extension</a:t>
            </a:r>
          </a:p>
          <a:p>
            <a:pPr fontAlgn="auto">
              <a:spcBef>
                <a:spcPts val="0"/>
              </a:spcBef>
              <a:spcAft>
                <a:spcPts val="0"/>
              </a:spcAft>
            </a:pPr>
            <a:r>
              <a:rPr lang="en-US" altLang="zh-CN" sz="1200" dirty="0">
                <a:solidFill>
                  <a:prstClr val="black"/>
                </a:solidFill>
                <a:cs typeface="Courier New" panose="02070309020205020404" pitchFamily="49" charset="0"/>
              </a:rPr>
              <a:t>	Peer supports bgp route refresh capability</a:t>
            </a:r>
          </a:p>
          <a:p>
            <a:pPr fontAlgn="auto">
              <a:spcBef>
                <a:spcPts val="0"/>
              </a:spcBef>
              <a:spcAft>
                <a:spcPts val="0"/>
              </a:spcAft>
            </a:pPr>
            <a:r>
              <a:rPr lang="en-US" altLang="zh-CN" sz="1200" dirty="0">
                <a:solidFill>
                  <a:prstClr val="black"/>
                </a:solidFill>
                <a:cs typeface="Courier New" panose="02070309020205020404" pitchFamily="49" charset="0"/>
              </a:rPr>
              <a:t>	Peer supports bgp 4-byte-as </a:t>
            </a:r>
            <a:r>
              <a:rPr lang="en-US" altLang="zh-CN" sz="1200" dirty="0" smtClean="0">
                <a:solidFill>
                  <a:prstClr val="black"/>
                </a:solidFill>
                <a:cs typeface="Courier New" panose="02070309020205020404" pitchFamily="49" charset="0"/>
              </a:rPr>
              <a:t>capability</a:t>
            </a:r>
            <a:endParaRPr lang="en-US" altLang="zh-CN" sz="1200" dirty="0">
              <a:solidFill>
                <a:prstClr val="black"/>
              </a:solidFill>
              <a:cs typeface="Courier New" panose="02070309020205020404" pitchFamily="49" charset="0"/>
            </a:endParaRPr>
          </a:p>
        </p:txBody>
      </p:sp>
      <p:sp>
        <p:nvSpPr>
          <p:cNvPr id="32" name="文本框 31"/>
          <p:cNvSpPr txBox="1"/>
          <p:nvPr/>
        </p:nvSpPr>
        <p:spPr>
          <a:xfrm>
            <a:off x="6403007" y="1012106"/>
            <a:ext cx="5263550" cy="4708981"/>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200" dirty="0" smtClean="0">
                <a:solidFill>
                  <a:prstClr val="black"/>
                </a:solidFill>
                <a:cs typeface="Courier New" panose="02070309020205020404" pitchFamily="49" charset="0"/>
              </a:rPr>
              <a:t>Received</a:t>
            </a:r>
            <a:r>
              <a:rPr lang="en-US" altLang="zh-CN" sz="1200" dirty="0">
                <a:solidFill>
                  <a:prstClr val="black"/>
                </a:solidFill>
                <a:cs typeface="Courier New" panose="02070309020205020404" pitchFamily="49" charset="0"/>
              </a:rPr>
              <a:t>: Total 5 messages</a:t>
            </a:r>
          </a:p>
          <a:p>
            <a:pPr fontAlgn="auto">
              <a:spcBef>
                <a:spcPts val="0"/>
              </a:spcBef>
              <a:spcAft>
                <a:spcPts val="0"/>
              </a:spcAft>
            </a:pPr>
            <a:r>
              <a:rPr lang="en-US" altLang="zh-CN" sz="1200" dirty="0">
                <a:solidFill>
                  <a:prstClr val="black"/>
                </a:solidFill>
                <a:cs typeface="Courier New" panose="02070309020205020404" pitchFamily="49" charset="0"/>
              </a:rPr>
              <a:t>		 Update </a:t>
            </a:r>
            <a:r>
              <a:rPr lang="en-US" altLang="zh-CN" sz="1200" dirty="0" smtClean="0">
                <a:solidFill>
                  <a:prstClr val="black"/>
                </a:solidFill>
                <a:cs typeface="Courier New" panose="02070309020205020404" pitchFamily="49" charset="0"/>
              </a:rPr>
              <a:t>messages	0 </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		 Open messages </a:t>
            </a:r>
            <a:r>
              <a:rPr lang="en-US" altLang="zh-CN" sz="1200" dirty="0" smtClean="0">
                <a:solidFill>
                  <a:prstClr val="black"/>
                </a:solidFill>
                <a:cs typeface="Courier New" panose="02070309020205020404" pitchFamily="49" charset="0"/>
              </a:rPr>
              <a:t>	1 </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		 </a:t>
            </a:r>
            <a:r>
              <a:rPr lang="en-US" altLang="zh-CN" sz="1200" dirty="0" err="1">
                <a:solidFill>
                  <a:prstClr val="black"/>
                </a:solidFill>
                <a:cs typeface="Courier New" panose="02070309020205020404" pitchFamily="49" charset="0"/>
              </a:rPr>
              <a:t>KeepAlive</a:t>
            </a:r>
            <a:r>
              <a:rPr lang="en-US" altLang="zh-CN" sz="1200" dirty="0">
                <a:solidFill>
                  <a:prstClr val="black"/>
                </a:solidFill>
                <a:cs typeface="Courier New" panose="02070309020205020404" pitchFamily="49" charset="0"/>
              </a:rPr>
              <a:t> messages </a:t>
            </a:r>
            <a:r>
              <a:rPr lang="en-US" altLang="zh-CN" sz="1200" dirty="0" smtClean="0">
                <a:solidFill>
                  <a:prstClr val="black"/>
                </a:solidFill>
                <a:cs typeface="Courier New" panose="02070309020205020404" pitchFamily="49" charset="0"/>
              </a:rPr>
              <a:t>	3 </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		 Notification messages  	0 </a:t>
            </a:r>
          </a:p>
          <a:p>
            <a:pPr fontAlgn="auto">
              <a:spcBef>
                <a:spcPts val="0"/>
              </a:spcBef>
              <a:spcAft>
                <a:spcPts val="0"/>
              </a:spcAft>
            </a:pPr>
            <a:r>
              <a:rPr lang="en-US" altLang="zh-CN" sz="1200" dirty="0">
                <a:solidFill>
                  <a:prstClr val="black"/>
                </a:solidFill>
                <a:cs typeface="Courier New" panose="02070309020205020404" pitchFamily="49" charset="0"/>
              </a:rPr>
              <a:t>		 Refresh messages 	</a:t>
            </a:r>
            <a:r>
              <a:rPr lang="en-US" altLang="zh-CN" sz="1200" dirty="0" smtClean="0">
                <a:solidFill>
                  <a:prstClr val="black"/>
                </a:solidFill>
                <a:cs typeface="Courier New" panose="02070309020205020404" pitchFamily="49" charset="0"/>
              </a:rPr>
              <a:t>1</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 Sent: Total 8 messages</a:t>
            </a:r>
          </a:p>
          <a:p>
            <a:pPr fontAlgn="auto">
              <a:spcBef>
                <a:spcPts val="0"/>
              </a:spcBef>
              <a:spcAft>
                <a:spcPts val="0"/>
              </a:spcAft>
            </a:pPr>
            <a:r>
              <a:rPr lang="en-US" altLang="zh-CN" sz="1200" dirty="0">
                <a:solidFill>
                  <a:prstClr val="black"/>
                </a:solidFill>
                <a:cs typeface="Courier New" panose="02070309020205020404" pitchFamily="49" charset="0"/>
              </a:rPr>
              <a:t>		 Update messages 	</a:t>
            </a:r>
            <a:r>
              <a:rPr lang="en-US" altLang="zh-CN" sz="1200" dirty="0" smtClean="0">
                <a:solidFill>
                  <a:prstClr val="black"/>
                </a:solidFill>
                <a:cs typeface="Courier New" panose="02070309020205020404" pitchFamily="49" charset="0"/>
              </a:rPr>
              <a:t>2 </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		 Open messages 	</a:t>
            </a:r>
            <a:r>
              <a:rPr lang="en-US" altLang="zh-CN" sz="1200" dirty="0" smtClean="0">
                <a:solidFill>
                  <a:prstClr val="black"/>
                </a:solidFill>
                <a:cs typeface="Courier New" panose="02070309020205020404" pitchFamily="49" charset="0"/>
              </a:rPr>
              <a:t>2 </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		 </a:t>
            </a:r>
            <a:r>
              <a:rPr lang="en-US" altLang="zh-CN" sz="1200" dirty="0" err="1">
                <a:solidFill>
                  <a:prstClr val="black"/>
                </a:solidFill>
                <a:cs typeface="Courier New" panose="02070309020205020404" pitchFamily="49" charset="0"/>
              </a:rPr>
              <a:t>KeepAlive</a:t>
            </a:r>
            <a:r>
              <a:rPr lang="en-US" altLang="zh-CN" sz="1200" dirty="0">
                <a:solidFill>
                  <a:prstClr val="black"/>
                </a:solidFill>
                <a:cs typeface="Courier New" panose="02070309020205020404" pitchFamily="49" charset="0"/>
              </a:rPr>
              <a:t> messages 	</a:t>
            </a:r>
            <a:r>
              <a:rPr lang="en-US" altLang="zh-CN" sz="1200" dirty="0" smtClean="0">
                <a:solidFill>
                  <a:prstClr val="black"/>
                </a:solidFill>
                <a:cs typeface="Courier New" panose="02070309020205020404" pitchFamily="49" charset="0"/>
              </a:rPr>
              <a:t>3 </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		 Notification messages  	0 </a:t>
            </a:r>
          </a:p>
          <a:p>
            <a:pPr fontAlgn="auto">
              <a:spcBef>
                <a:spcPts val="0"/>
              </a:spcBef>
              <a:spcAft>
                <a:spcPts val="0"/>
              </a:spcAft>
            </a:pPr>
            <a:r>
              <a:rPr lang="en-US" altLang="zh-CN" sz="1200" dirty="0">
                <a:solidFill>
                  <a:prstClr val="black"/>
                </a:solidFill>
                <a:cs typeface="Courier New" panose="02070309020205020404" pitchFamily="49" charset="0"/>
              </a:rPr>
              <a:t>		 Refresh messages 	</a:t>
            </a:r>
            <a:r>
              <a:rPr lang="en-US" altLang="zh-CN" sz="1200" dirty="0" smtClean="0">
                <a:solidFill>
                  <a:prstClr val="black"/>
                </a:solidFill>
                <a:cs typeface="Courier New" panose="02070309020205020404" pitchFamily="49" charset="0"/>
              </a:rPr>
              <a:t>1</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 Authentication type configured: None</a:t>
            </a:r>
          </a:p>
          <a:p>
            <a:pPr fontAlgn="auto">
              <a:spcBef>
                <a:spcPts val="0"/>
              </a:spcBef>
              <a:spcAft>
                <a:spcPts val="0"/>
              </a:spcAft>
            </a:pPr>
            <a:r>
              <a:rPr lang="en-US" altLang="zh-CN" sz="1200" dirty="0">
                <a:solidFill>
                  <a:prstClr val="black"/>
                </a:solidFill>
                <a:cs typeface="Courier New" panose="02070309020205020404" pitchFamily="49" charset="0"/>
              </a:rPr>
              <a:t> Last </a:t>
            </a:r>
            <a:r>
              <a:rPr lang="en-US" altLang="zh-CN" sz="1200" dirty="0" err="1">
                <a:solidFill>
                  <a:prstClr val="black"/>
                </a:solidFill>
                <a:cs typeface="Courier New" panose="02070309020205020404" pitchFamily="49" charset="0"/>
              </a:rPr>
              <a:t>keepalive</a:t>
            </a:r>
            <a:r>
              <a:rPr lang="en-US" altLang="zh-CN" sz="1200" dirty="0">
                <a:solidFill>
                  <a:prstClr val="black"/>
                </a:solidFill>
                <a:cs typeface="Courier New" panose="02070309020205020404" pitchFamily="49" charset="0"/>
              </a:rPr>
              <a:t> received: </a:t>
            </a:r>
            <a:r>
              <a:rPr lang="en-US" altLang="zh-CN" sz="1200" dirty="0" err="1" smtClean="0">
                <a:solidFill>
                  <a:prstClr val="black"/>
                </a:solidFill>
                <a:cs typeface="Courier New" panose="02070309020205020404" pitchFamily="49" charset="0"/>
              </a:rPr>
              <a:t>yy</a:t>
            </a:r>
            <a:r>
              <a:rPr lang="en-US" altLang="zh-CN" sz="1200" dirty="0" smtClean="0">
                <a:solidFill>
                  <a:prstClr val="black"/>
                </a:solidFill>
                <a:cs typeface="Courier New" panose="02070309020205020404" pitchFamily="49" charset="0"/>
              </a:rPr>
              <a:t>/mm/</a:t>
            </a:r>
            <a:r>
              <a:rPr lang="en-US" altLang="zh-CN" sz="1200" dirty="0" err="1" smtClean="0">
                <a:solidFill>
                  <a:prstClr val="black"/>
                </a:solidFill>
                <a:cs typeface="Courier New" panose="02070309020205020404" pitchFamily="49" charset="0"/>
              </a:rPr>
              <a:t>dd</a:t>
            </a:r>
            <a:r>
              <a:rPr lang="en-US" altLang="zh-CN" sz="1200" dirty="0" smtClean="0">
                <a:solidFill>
                  <a:prstClr val="black"/>
                </a:solidFill>
                <a:cs typeface="Courier New" panose="02070309020205020404" pitchFamily="49" charset="0"/>
              </a:rPr>
              <a:t> </a:t>
            </a:r>
            <a:r>
              <a:rPr lang="en-US" altLang="zh-CN" sz="1200" dirty="0">
                <a:solidFill>
                  <a:prstClr val="black"/>
                </a:solidFill>
                <a:cs typeface="Courier New" panose="02070309020205020404" pitchFamily="49" charset="0"/>
              </a:rPr>
              <a:t>17:34:13 UTC-08:00    </a:t>
            </a:r>
          </a:p>
          <a:p>
            <a:pPr fontAlgn="auto">
              <a:spcBef>
                <a:spcPts val="0"/>
              </a:spcBef>
              <a:spcAft>
                <a:spcPts val="0"/>
              </a:spcAft>
            </a:pPr>
            <a:r>
              <a:rPr lang="en-US" altLang="zh-CN" sz="1200" dirty="0">
                <a:solidFill>
                  <a:prstClr val="black"/>
                </a:solidFill>
                <a:cs typeface="Courier New" panose="02070309020205020404" pitchFamily="49" charset="0"/>
              </a:rPr>
              <a:t> Last </a:t>
            </a:r>
            <a:r>
              <a:rPr lang="en-US" altLang="zh-CN" sz="1200" dirty="0" err="1">
                <a:solidFill>
                  <a:prstClr val="black"/>
                </a:solidFill>
                <a:cs typeface="Courier New" panose="02070309020205020404" pitchFamily="49" charset="0"/>
              </a:rPr>
              <a:t>keepalive</a:t>
            </a:r>
            <a:r>
              <a:rPr lang="en-US" altLang="zh-CN" sz="1200" dirty="0">
                <a:solidFill>
                  <a:prstClr val="black"/>
                </a:solidFill>
                <a:cs typeface="Courier New" panose="02070309020205020404" pitchFamily="49" charset="0"/>
              </a:rPr>
              <a:t> sent    : </a:t>
            </a:r>
            <a:r>
              <a:rPr lang="en-US" altLang="zh-CN" sz="1200" dirty="0" err="1" smtClean="0">
                <a:solidFill>
                  <a:prstClr val="black"/>
                </a:solidFill>
                <a:cs typeface="Courier New" panose="02070309020205020404" pitchFamily="49" charset="0"/>
              </a:rPr>
              <a:t>yy</a:t>
            </a:r>
            <a:r>
              <a:rPr lang="en-US" altLang="zh-CN" sz="1200" dirty="0" smtClean="0">
                <a:solidFill>
                  <a:prstClr val="black"/>
                </a:solidFill>
                <a:cs typeface="Courier New" panose="02070309020205020404" pitchFamily="49" charset="0"/>
              </a:rPr>
              <a:t>/mm/</a:t>
            </a:r>
            <a:r>
              <a:rPr lang="en-US" altLang="zh-CN" sz="1200" dirty="0" err="1" smtClean="0">
                <a:solidFill>
                  <a:prstClr val="black"/>
                </a:solidFill>
                <a:cs typeface="Courier New" panose="02070309020205020404" pitchFamily="49" charset="0"/>
              </a:rPr>
              <a:t>dd</a:t>
            </a:r>
            <a:r>
              <a:rPr lang="en-US" altLang="zh-CN" sz="1200" dirty="0" smtClean="0">
                <a:solidFill>
                  <a:prstClr val="black"/>
                </a:solidFill>
                <a:cs typeface="Courier New" panose="02070309020205020404" pitchFamily="49" charset="0"/>
              </a:rPr>
              <a:t> </a:t>
            </a:r>
            <a:r>
              <a:rPr lang="en-US" altLang="zh-CN" sz="1200" dirty="0">
                <a:solidFill>
                  <a:prstClr val="black"/>
                </a:solidFill>
                <a:cs typeface="Courier New" panose="02070309020205020404" pitchFamily="49" charset="0"/>
              </a:rPr>
              <a:t>17:34:13 UTC-08:00    </a:t>
            </a:r>
          </a:p>
          <a:p>
            <a:pPr fontAlgn="auto">
              <a:spcBef>
                <a:spcPts val="0"/>
              </a:spcBef>
              <a:spcAft>
                <a:spcPts val="0"/>
              </a:spcAft>
            </a:pPr>
            <a:r>
              <a:rPr lang="en-US" altLang="zh-CN" sz="1200" dirty="0">
                <a:solidFill>
                  <a:prstClr val="black"/>
                </a:solidFill>
                <a:cs typeface="Courier New" panose="02070309020205020404" pitchFamily="49" charset="0"/>
              </a:rPr>
              <a:t> Last update    sent    : </a:t>
            </a:r>
            <a:r>
              <a:rPr lang="en-US" altLang="zh-CN" sz="1200" dirty="0" err="1" smtClean="0">
                <a:solidFill>
                  <a:prstClr val="black"/>
                </a:solidFill>
                <a:cs typeface="Courier New" panose="02070309020205020404" pitchFamily="49" charset="0"/>
              </a:rPr>
              <a:t>yy</a:t>
            </a:r>
            <a:r>
              <a:rPr lang="en-US" altLang="zh-CN" sz="1200" dirty="0" smtClean="0">
                <a:solidFill>
                  <a:prstClr val="black"/>
                </a:solidFill>
                <a:cs typeface="Courier New" panose="02070309020205020404" pitchFamily="49" charset="0"/>
              </a:rPr>
              <a:t>/mm/</a:t>
            </a:r>
            <a:r>
              <a:rPr lang="en-US" altLang="zh-CN" sz="1200" dirty="0" err="1" smtClean="0">
                <a:solidFill>
                  <a:prstClr val="black"/>
                </a:solidFill>
                <a:cs typeface="Courier New" panose="02070309020205020404" pitchFamily="49" charset="0"/>
              </a:rPr>
              <a:t>dd</a:t>
            </a:r>
            <a:r>
              <a:rPr lang="en-US" altLang="zh-CN" sz="1200" dirty="0" smtClean="0">
                <a:solidFill>
                  <a:prstClr val="black"/>
                </a:solidFill>
                <a:cs typeface="Courier New" panose="02070309020205020404" pitchFamily="49" charset="0"/>
              </a:rPr>
              <a:t> </a:t>
            </a:r>
            <a:r>
              <a:rPr lang="en-US" altLang="zh-CN" sz="1200" dirty="0">
                <a:solidFill>
                  <a:prstClr val="black"/>
                </a:solidFill>
                <a:cs typeface="Courier New" panose="02070309020205020404" pitchFamily="49" charset="0"/>
              </a:rPr>
              <a:t>17:34:02 UTC-08:00    </a:t>
            </a:r>
          </a:p>
          <a:p>
            <a:pPr fontAlgn="auto">
              <a:spcBef>
                <a:spcPts val="0"/>
              </a:spcBef>
              <a:spcAft>
                <a:spcPts val="0"/>
              </a:spcAft>
            </a:pPr>
            <a:r>
              <a:rPr lang="en-US" altLang="zh-CN" sz="1200" dirty="0">
                <a:solidFill>
                  <a:prstClr val="black"/>
                </a:solidFill>
                <a:cs typeface="Courier New" panose="02070309020205020404" pitchFamily="49" charset="0"/>
              </a:rPr>
              <a:t> Minimum route advertisement interval is 15 seconds</a:t>
            </a:r>
          </a:p>
          <a:p>
            <a:pPr fontAlgn="auto">
              <a:spcBef>
                <a:spcPts val="0"/>
              </a:spcBef>
              <a:spcAft>
                <a:spcPts val="0"/>
              </a:spcAft>
            </a:pPr>
            <a:r>
              <a:rPr lang="en-US" altLang="zh-CN" sz="1200" dirty="0">
                <a:solidFill>
                  <a:prstClr val="black"/>
                </a:solidFill>
                <a:cs typeface="Courier New" panose="02070309020205020404" pitchFamily="49" charset="0"/>
              </a:rPr>
              <a:t> Optional capabilities:</a:t>
            </a:r>
          </a:p>
          <a:p>
            <a:pPr fontAlgn="auto">
              <a:spcBef>
                <a:spcPts val="0"/>
              </a:spcBef>
              <a:spcAft>
                <a:spcPts val="0"/>
              </a:spcAft>
            </a:pPr>
            <a:r>
              <a:rPr lang="en-US" altLang="zh-CN" sz="1200" dirty="0">
                <a:solidFill>
                  <a:prstClr val="black"/>
                </a:solidFill>
                <a:cs typeface="Courier New" panose="02070309020205020404" pitchFamily="49" charset="0"/>
              </a:rPr>
              <a:t> Route refresh capability has been enabled</a:t>
            </a:r>
          </a:p>
          <a:p>
            <a:pPr fontAlgn="auto">
              <a:spcBef>
                <a:spcPts val="0"/>
              </a:spcBef>
              <a:spcAft>
                <a:spcPts val="0"/>
              </a:spcAft>
            </a:pPr>
            <a:r>
              <a:rPr lang="en-US" altLang="zh-CN" sz="1200" dirty="0">
                <a:solidFill>
                  <a:prstClr val="black"/>
                </a:solidFill>
                <a:cs typeface="Courier New" panose="02070309020205020404" pitchFamily="49" charset="0"/>
              </a:rPr>
              <a:t> 4-byte-as capability has been enabled</a:t>
            </a:r>
          </a:p>
          <a:p>
            <a:pPr fontAlgn="auto">
              <a:spcBef>
                <a:spcPts val="0"/>
              </a:spcBef>
              <a:spcAft>
                <a:spcPts val="0"/>
              </a:spcAft>
            </a:pPr>
            <a:r>
              <a:rPr lang="en-US" altLang="zh-CN" sz="1200" dirty="0">
                <a:solidFill>
                  <a:prstClr val="black"/>
                </a:solidFill>
                <a:cs typeface="Courier New" panose="02070309020205020404" pitchFamily="49" charset="0"/>
              </a:rPr>
              <a:t> Connect-interface has been configured</a:t>
            </a:r>
          </a:p>
          <a:p>
            <a:pPr fontAlgn="auto">
              <a:spcBef>
                <a:spcPts val="0"/>
              </a:spcBef>
              <a:spcAft>
                <a:spcPts val="0"/>
              </a:spcAft>
            </a:pPr>
            <a:r>
              <a:rPr lang="en-US" altLang="zh-CN" sz="1200" dirty="0">
                <a:solidFill>
                  <a:srgbClr val="C7000B"/>
                </a:solidFill>
                <a:cs typeface="Courier New" panose="02070309020205020404" pitchFamily="49" charset="0"/>
              </a:rPr>
              <a:t> GTSM has been enabled, valid-</a:t>
            </a:r>
            <a:r>
              <a:rPr lang="en-US" altLang="zh-CN" sz="1200" dirty="0" err="1">
                <a:solidFill>
                  <a:srgbClr val="C7000B"/>
                </a:solidFill>
                <a:cs typeface="Courier New" panose="02070309020205020404" pitchFamily="49" charset="0"/>
              </a:rPr>
              <a:t>ttl</a:t>
            </a:r>
            <a:r>
              <a:rPr lang="en-US" altLang="zh-CN" sz="1200" dirty="0">
                <a:solidFill>
                  <a:srgbClr val="C7000B"/>
                </a:solidFill>
                <a:cs typeface="Courier New" panose="02070309020205020404" pitchFamily="49" charset="0"/>
              </a:rPr>
              <a:t>-hops: 2</a:t>
            </a:r>
          </a:p>
          <a:p>
            <a:pPr fontAlgn="auto">
              <a:spcBef>
                <a:spcPts val="0"/>
              </a:spcBef>
              <a:spcAft>
                <a:spcPts val="0"/>
              </a:spcAft>
            </a:pPr>
            <a:r>
              <a:rPr lang="en-US" altLang="zh-CN" sz="1200" dirty="0">
                <a:solidFill>
                  <a:prstClr val="black"/>
                </a:solidFill>
                <a:cs typeface="Courier New" panose="02070309020205020404" pitchFamily="49" charset="0"/>
              </a:rPr>
              <a:t> Peer Preferred Value: 0</a:t>
            </a:r>
          </a:p>
          <a:p>
            <a:pPr fontAlgn="auto">
              <a:spcBef>
                <a:spcPts val="0"/>
              </a:spcBef>
              <a:spcAft>
                <a:spcPts val="0"/>
              </a:spcAft>
            </a:pPr>
            <a:r>
              <a:rPr lang="en-US" altLang="zh-CN" sz="1200" dirty="0">
                <a:solidFill>
                  <a:prstClr val="black"/>
                </a:solidFill>
                <a:cs typeface="Courier New" panose="02070309020205020404" pitchFamily="49" charset="0"/>
              </a:rPr>
              <a:t> Routing policy configured:</a:t>
            </a:r>
          </a:p>
          <a:p>
            <a:pPr fontAlgn="auto">
              <a:spcBef>
                <a:spcPts val="0"/>
              </a:spcBef>
              <a:spcAft>
                <a:spcPts val="0"/>
              </a:spcAft>
            </a:pPr>
            <a:r>
              <a:rPr lang="en-US" altLang="zh-CN" sz="1200" dirty="0">
                <a:solidFill>
                  <a:prstClr val="black"/>
                </a:solidFill>
                <a:cs typeface="Courier New" panose="02070309020205020404" pitchFamily="49" charset="0"/>
              </a:rPr>
              <a:t> No routing policy is configured</a:t>
            </a:r>
          </a:p>
        </p:txBody>
      </p:sp>
      <p:sp>
        <p:nvSpPr>
          <p:cNvPr id="33" name="文本占位符 2"/>
          <p:cNvSpPr txBox="1">
            <a:spLocks/>
          </p:cNvSpPr>
          <p:nvPr/>
        </p:nvSpPr>
        <p:spPr bwMode="auto">
          <a:xfrm>
            <a:off x="5282800" y="4648079"/>
            <a:ext cx="854055" cy="399962"/>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zh-CN" altLang="en-US" sz="1400" dirty="0" smtClean="0">
                <a:solidFill>
                  <a:srgbClr val="C7000B"/>
                </a:solidFill>
              </a:rPr>
              <a:t>接右边</a:t>
            </a:r>
            <a:endParaRPr lang="zh-CN" altLang="en-US" sz="1400" dirty="0">
              <a:solidFill>
                <a:srgbClr val="C7000B"/>
              </a:solidFill>
            </a:endParaRPr>
          </a:p>
        </p:txBody>
      </p:sp>
      <p:cxnSp>
        <p:nvCxnSpPr>
          <p:cNvPr id="4" name="肘形连接符 3"/>
          <p:cNvCxnSpPr/>
          <p:nvPr/>
        </p:nvCxnSpPr>
        <p:spPr>
          <a:xfrm rot="5400000" flipH="1" flipV="1">
            <a:off x="5902732" y="4459105"/>
            <a:ext cx="480448" cy="325465"/>
          </a:xfrm>
          <a:prstGeom prst="bentConnector3">
            <a:avLst>
              <a:gd name="adj1" fmla="val 1612"/>
            </a:avLst>
          </a:prstGeom>
          <a:ln w="19050">
            <a:solidFill>
              <a:srgbClr val="C7000B"/>
            </a:solidFill>
            <a:tailEnd type="triangle"/>
          </a:ln>
        </p:spPr>
        <p:style>
          <a:lnRef idx="1">
            <a:schemeClr val="accent1"/>
          </a:lnRef>
          <a:fillRef idx="0">
            <a:schemeClr val="accent1"/>
          </a:fillRef>
          <a:effectRef idx="0">
            <a:schemeClr val="accent1"/>
          </a:effectRef>
          <a:fontRef idx="minor">
            <a:schemeClr val="tx1"/>
          </a:fontRef>
        </p:style>
      </p:cxnSp>
      <p:sp>
        <p:nvSpPr>
          <p:cNvPr id="38" name="文本占位符 2"/>
          <p:cNvSpPr txBox="1">
            <a:spLocks/>
          </p:cNvSpPr>
          <p:nvPr/>
        </p:nvSpPr>
        <p:spPr bwMode="auto">
          <a:xfrm>
            <a:off x="509172" y="4989042"/>
            <a:ext cx="5627683" cy="1171326"/>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zh-CN" altLang="en-US" sz="1600" dirty="0" smtClean="0"/>
              <a:t>可以通过</a:t>
            </a:r>
            <a:r>
              <a:rPr lang="en-US" altLang="zh-CN" sz="1600" b="1" dirty="0" smtClean="0"/>
              <a:t>display </a:t>
            </a:r>
            <a:r>
              <a:rPr lang="en-US" altLang="zh-CN" sz="1600" b="1" dirty="0"/>
              <a:t>bgp peer</a:t>
            </a:r>
            <a:r>
              <a:rPr lang="zh-CN" altLang="en-US" sz="1600" dirty="0"/>
              <a:t>命令用来查看</a:t>
            </a:r>
            <a:r>
              <a:rPr lang="en-US" altLang="zh-CN" sz="1600" dirty="0"/>
              <a:t>BGP</a:t>
            </a:r>
            <a:r>
              <a:rPr lang="zh-CN" altLang="en-US" sz="1600" dirty="0"/>
              <a:t>对等体信息</a:t>
            </a:r>
            <a:r>
              <a:rPr lang="zh-CN" altLang="en-US" sz="1600" dirty="0" smtClean="0"/>
              <a:t>。</a:t>
            </a:r>
            <a:endParaRPr lang="en-US" altLang="zh-CN" sz="1600" dirty="0" smtClean="0"/>
          </a:p>
          <a:p>
            <a:pPr marL="0" indent="0">
              <a:buNone/>
            </a:pPr>
            <a:r>
              <a:rPr lang="zh-CN" altLang="en-US" sz="1600" dirty="0" smtClean="0"/>
              <a:t>通过</a:t>
            </a:r>
            <a:r>
              <a:rPr lang="zh-CN" altLang="en-US" sz="1600" dirty="0"/>
              <a:t>指定</a:t>
            </a:r>
            <a:r>
              <a:rPr lang="en-US" altLang="zh-CN" sz="1600" b="1" dirty="0"/>
              <a:t>verbose</a:t>
            </a:r>
            <a:r>
              <a:rPr lang="zh-CN" altLang="en-US" sz="1600" dirty="0"/>
              <a:t>参数，可以</a:t>
            </a:r>
            <a:r>
              <a:rPr lang="zh-CN" altLang="en-US" sz="1600" dirty="0" smtClean="0"/>
              <a:t>查看如：</a:t>
            </a:r>
            <a:r>
              <a:rPr lang="en-US" altLang="zh-CN" sz="1600" dirty="0" smtClean="0"/>
              <a:t>BGP</a:t>
            </a:r>
            <a:r>
              <a:rPr lang="zh-CN" altLang="en-US" sz="1600" dirty="0" smtClean="0"/>
              <a:t>定时器信息、收发</a:t>
            </a:r>
            <a:r>
              <a:rPr lang="zh-CN" altLang="en-US" sz="1600" dirty="0"/>
              <a:t>路由数量、邻居支持的</a:t>
            </a:r>
            <a:r>
              <a:rPr lang="zh-CN" altLang="en-US" sz="1600" dirty="0" smtClean="0"/>
              <a:t>能力以及</a:t>
            </a:r>
            <a:r>
              <a:rPr lang="zh-CN" altLang="en-US" sz="1600" dirty="0"/>
              <a:t>已经使能的配置</a:t>
            </a:r>
            <a:r>
              <a:rPr lang="zh-CN" altLang="en-US" sz="1600" dirty="0" smtClean="0"/>
              <a:t>等。</a:t>
            </a:r>
            <a:endParaRPr lang="zh-CN" altLang="en-US" sz="1600" dirty="0"/>
          </a:p>
        </p:txBody>
      </p:sp>
      <p:cxnSp>
        <p:nvCxnSpPr>
          <p:cNvPr id="39" name="直接箭头连接符 38"/>
          <p:cNvCxnSpPr>
            <a:stCxn id="44" idx="0"/>
          </p:cNvCxnSpPr>
          <p:nvPr/>
        </p:nvCxnSpPr>
        <p:spPr bwMode="auto">
          <a:xfrm flipH="1" flipV="1">
            <a:off x="9593499" y="5048041"/>
            <a:ext cx="669554" cy="376003"/>
          </a:xfrm>
          <a:prstGeom prst="straightConnector1">
            <a:avLst/>
          </a:prstGeom>
          <a:ln w="19050">
            <a:solidFill>
              <a:srgbClr val="FDD351"/>
            </a:solidFill>
            <a:tailEnd type="triangle"/>
          </a:ln>
        </p:spPr>
        <p:style>
          <a:lnRef idx="1">
            <a:schemeClr val="accent1"/>
          </a:lnRef>
          <a:fillRef idx="0">
            <a:schemeClr val="accent1"/>
          </a:fillRef>
          <a:effectRef idx="0">
            <a:schemeClr val="accent1"/>
          </a:effectRef>
          <a:fontRef idx="minor">
            <a:schemeClr val="tx1"/>
          </a:fontRef>
        </p:style>
      </p:cxnSp>
      <p:sp>
        <p:nvSpPr>
          <p:cNvPr id="44" name="文本占位符 3"/>
          <p:cNvSpPr txBox="1">
            <a:spLocks/>
          </p:cNvSpPr>
          <p:nvPr/>
        </p:nvSpPr>
        <p:spPr bwMode="auto">
          <a:xfrm>
            <a:off x="8789818" y="5424044"/>
            <a:ext cx="2946470" cy="736324"/>
          </a:xfrm>
          <a:prstGeom prst="rect">
            <a:avLst/>
          </a:prstGeom>
          <a:solidFill>
            <a:srgbClr val="FFFBEF"/>
          </a:solidFill>
          <a:ln w="9525">
            <a:solidFill>
              <a:srgbClr val="FDD351"/>
            </a:solidFill>
            <a:miter lim="800000"/>
            <a:headEnd/>
            <a:tailEnd/>
          </a:ln>
        </p:spPr>
        <p:txBody>
          <a:bodyPr vert="horz" wrap="square" lIns="108000" tIns="40071" rIns="108000" bIns="40071" numCol="1" anchor="ctr"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en-US" altLang="zh-CN" sz="1400" dirty="0" smtClean="0"/>
              <a:t>R1</a:t>
            </a:r>
            <a:r>
              <a:rPr lang="zh-CN" altLang="en-US" sz="1400" dirty="0" smtClean="0"/>
              <a:t>使能了</a:t>
            </a:r>
            <a:r>
              <a:rPr lang="en-US" altLang="zh-CN" sz="1400" dirty="0" smtClean="0"/>
              <a:t>GTSM</a:t>
            </a:r>
            <a:r>
              <a:rPr lang="zh-CN" altLang="en-US" sz="1400" dirty="0" smtClean="0"/>
              <a:t>功能，且与</a:t>
            </a:r>
            <a:r>
              <a:rPr lang="en-US" altLang="zh-CN" sz="1400" dirty="0" smtClean="0"/>
              <a:t>IBGP</a:t>
            </a:r>
            <a:r>
              <a:rPr lang="zh-CN" altLang="en-US" sz="1400" dirty="0" smtClean="0"/>
              <a:t>邻居</a:t>
            </a:r>
            <a:r>
              <a:rPr lang="en-US" altLang="zh-CN" sz="1400" dirty="0" smtClean="0"/>
              <a:t>10.1.3.3</a:t>
            </a:r>
            <a:r>
              <a:rPr lang="zh-CN" altLang="en-US" sz="1400" dirty="0" smtClean="0"/>
              <a:t>（</a:t>
            </a:r>
            <a:r>
              <a:rPr lang="en-US" altLang="zh-CN" sz="1400" dirty="0" smtClean="0"/>
              <a:t>R3</a:t>
            </a:r>
            <a:r>
              <a:rPr lang="zh-CN" altLang="en-US" sz="1400" dirty="0" smtClean="0"/>
              <a:t>）间的有效跳数为</a:t>
            </a:r>
            <a:r>
              <a:rPr lang="en-US" altLang="zh-CN" sz="1400" dirty="0" smtClean="0"/>
              <a:t>2</a:t>
            </a:r>
            <a:r>
              <a:rPr lang="zh-CN" altLang="en-US" sz="1400" dirty="0" smtClean="0"/>
              <a:t>。</a:t>
            </a:r>
            <a:endParaRPr lang="zh-CN" altLang="en-US" sz="1400" dirty="0"/>
          </a:p>
        </p:txBody>
      </p:sp>
      <p:sp>
        <p:nvSpPr>
          <p:cNvPr id="16" name="五边形 15"/>
          <p:cNvSpPr/>
          <p:nvPr/>
        </p:nvSpPr>
        <p:spPr bwMode="gray">
          <a:xfrm>
            <a:off x="8421350" y="99742"/>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ORF</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燕尾形 16"/>
          <p:cNvSpPr/>
          <p:nvPr/>
        </p:nvSpPr>
        <p:spPr bwMode="gray">
          <a:xfrm>
            <a:off x="9061791" y="99742"/>
            <a:ext cx="93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对等体组</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燕尾形 17"/>
          <p:cNvSpPr/>
          <p:nvPr/>
        </p:nvSpPr>
        <p:spPr bwMode="gray">
          <a:xfrm>
            <a:off x="9918233" y="99742"/>
            <a:ext cx="936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安全特性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燕尾形 18"/>
          <p:cNvSpPr/>
          <p:nvPr/>
        </p:nvSpPr>
        <p:spPr bwMode="gray">
          <a:xfrm>
            <a:off x="10774674" y="99742"/>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字节</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AS</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号</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4841456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t>4</a:t>
            </a:r>
            <a:r>
              <a:rPr lang="zh-CN" altLang="en-US" dirty="0" smtClean="0"/>
              <a:t>字节</a:t>
            </a:r>
            <a:r>
              <a:rPr lang="en-US" altLang="zh-CN" dirty="0" smtClean="0"/>
              <a:t>AS</a:t>
            </a:r>
            <a:r>
              <a:rPr lang="zh-CN" altLang="en-US" dirty="0" smtClean="0"/>
              <a:t>号</a:t>
            </a:r>
            <a:endParaRPr lang="zh-CN" altLang="en-US" dirty="0"/>
          </a:p>
        </p:txBody>
      </p:sp>
      <p:sp>
        <p:nvSpPr>
          <p:cNvPr id="4" name="文本占位符 3"/>
          <p:cNvSpPr>
            <a:spLocks noGrp="1"/>
          </p:cNvSpPr>
          <p:nvPr>
            <p:ph type="body" sz="quarter" idx="10"/>
          </p:nvPr>
        </p:nvSpPr>
        <p:spPr>
          <a:xfrm>
            <a:off x="455612" y="1047751"/>
            <a:ext cx="11293475" cy="1329690"/>
          </a:xfrm>
        </p:spPr>
        <p:txBody>
          <a:bodyPr/>
          <a:lstStyle/>
          <a:p>
            <a:r>
              <a:rPr lang="zh-CN" altLang="en-US" sz="1800" dirty="0" smtClean="0"/>
              <a:t>随着网络规模的扩大，可分配的</a:t>
            </a:r>
            <a:r>
              <a:rPr lang="en-US" altLang="zh-CN" sz="1800" dirty="0" smtClean="0"/>
              <a:t>AS</a:t>
            </a:r>
            <a:r>
              <a:rPr lang="zh-CN" altLang="en-US" sz="1800" dirty="0" smtClean="0"/>
              <a:t>号已经濒临枯竭。</a:t>
            </a:r>
            <a:endParaRPr lang="en-US" altLang="zh-CN" sz="1800" dirty="0" smtClean="0"/>
          </a:p>
          <a:p>
            <a:r>
              <a:rPr lang="zh-CN" altLang="en-US" sz="1800" dirty="0" smtClean="0"/>
              <a:t>目前网络上使用的</a:t>
            </a:r>
            <a:r>
              <a:rPr lang="en-US" altLang="zh-CN" sz="1800" dirty="0" smtClean="0"/>
              <a:t>AS</a:t>
            </a:r>
            <a:r>
              <a:rPr lang="zh-CN" altLang="en-US" sz="1800" dirty="0" smtClean="0"/>
              <a:t>号范围为</a:t>
            </a:r>
            <a:r>
              <a:rPr lang="en-US" altLang="zh-CN" sz="1800" dirty="0" smtClean="0"/>
              <a:t>1</a:t>
            </a:r>
            <a:r>
              <a:rPr lang="zh-CN" altLang="en-US" sz="1800" dirty="0" smtClean="0"/>
              <a:t>至</a:t>
            </a:r>
            <a:r>
              <a:rPr lang="en-US" altLang="zh-CN" sz="1800" dirty="0" smtClean="0"/>
              <a:t>65535</a:t>
            </a:r>
            <a:r>
              <a:rPr lang="zh-CN" altLang="en-US" sz="1800" dirty="0" smtClean="0"/>
              <a:t>（</a:t>
            </a:r>
            <a:r>
              <a:rPr lang="en-US" altLang="zh-CN" sz="1800" dirty="0" smtClean="0"/>
              <a:t>2</a:t>
            </a:r>
            <a:r>
              <a:rPr lang="zh-CN" altLang="en-US" sz="1800" dirty="0" smtClean="0"/>
              <a:t>字节），需要将</a:t>
            </a:r>
            <a:r>
              <a:rPr lang="en-US" altLang="zh-CN" sz="1800" dirty="0" smtClean="0"/>
              <a:t>AS</a:t>
            </a:r>
            <a:r>
              <a:rPr lang="zh-CN" altLang="en-US" sz="1800" dirty="0" smtClean="0"/>
              <a:t>号范围扩展为</a:t>
            </a:r>
            <a:r>
              <a:rPr lang="en-US" altLang="zh-CN" sz="1800" dirty="0" smtClean="0"/>
              <a:t>1</a:t>
            </a:r>
            <a:r>
              <a:rPr lang="zh-CN" altLang="en-US" sz="1800" dirty="0" smtClean="0"/>
              <a:t>至</a:t>
            </a:r>
            <a:r>
              <a:rPr lang="en-US" altLang="zh-CN" sz="1800" dirty="0" smtClean="0"/>
              <a:t>4294967295</a:t>
            </a:r>
            <a:r>
              <a:rPr lang="zh-CN" altLang="en-US" sz="1800" dirty="0" smtClean="0"/>
              <a:t>（</a:t>
            </a:r>
            <a:r>
              <a:rPr lang="en-US" altLang="zh-CN" sz="1800" dirty="0" smtClean="0"/>
              <a:t>4</a:t>
            </a:r>
            <a:r>
              <a:rPr lang="zh-CN" altLang="en-US" sz="1800" dirty="0" smtClean="0"/>
              <a:t>字节），且支持</a:t>
            </a:r>
            <a:r>
              <a:rPr lang="en-US" altLang="zh-CN" sz="1800" dirty="0" smtClean="0"/>
              <a:t>4</a:t>
            </a:r>
            <a:r>
              <a:rPr lang="zh-CN" altLang="en-US" sz="1800" dirty="0" smtClean="0"/>
              <a:t>字节</a:t>
            </a:r>
            <a:r>
              <a:rPr lang="en-US" altLang="zh-CN" sz="1800" dirty="0" smtClean="0"/>
              <a:t>AS</a:t>
            </a:r>
            <a:r>
              <a:rPr lang="zh-CN" altLang="en-US" sz="1800" dirty="0" smtClean="0"/>
              <a:t>号的</a:t>
            </a:r>
            <a:r>
              <a:rPr lang="en-US" altLang="zh-CN" sz="1800" dirty="0" smtClean="0"/>
              <a:t>BGP</a:t>
            </a:r>
            <a:r>
              <a:rPr lang="zh-CN" altLang="en-US" sz="1800" dirty="0" smtClean="0"/>
              <a:t>设备能够与仅支持</a:t>
            </a:r>
            <a:r>
              <a:rPr lang="en-US" altLang="zh-CN" sz="1800" dirty="0" smtClean="0"/>
              <a:t>2</a:t>
            </a:r>
            <a:r>
              <a:rPr lang="zh-CN" altLang="en-US" sz="1800" dirty="0" smtClean="0"/>
              <a:t>字节</a:t>
            </a:r>
            <a:r>
              <a:rPr lang="en-US" altLang="zh-CN" sz="1800" dirty="0" smtClean="0"/>
              <a:t>AS</a:t>
            </a:r>
            <a:r>
              <a:rPr lang="zh-CN" altLang="en-US" sz="1800" dirty="0" smtClean="0"/>
              <a:t>号的</a:t>
            </a:r>
            <a:r>
              <a:rPr lang="en-US" altLang="zh-CN" sz="1800" dirty="0" smtClean="0"/>
              <a:t>BGP</a:t>
            </a:r>
            <a:r>
              <a:rPr lang="zh-CN" altLang="en-US" sz="1800" dirty="0" smtClean="0"/>
              <a:t>设备兼容。</a:t>
            </a:r>
            <a:endParaRPr lang="en-US" altLang="zh-CN" sz="1800" dirty="0" smtClean="0"/>
          </a:p>
          <a:p>
            <a:endParaRPr lang="en-US" altLang="zh-CN" sz="1800" dirty="0"/>
          </a:p>
        </p:txBody>
      </p:sp>
      <p:sp>
        <p:nvSpPr>
          <p:cNvPr id="7" name="圆角矩形 75"/>
          <p:cNvSpPr/>
          <p:nvPr/>
        </p:nvSpPr>
        <p:spPr bwMode="gray">
          <a:xfrm>
            <a:off x="848439" y="2907051"/>
            <a:ext cx="5245771" cy="3293724"/>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a:lnSpc>
                <a:spcPts val="2600"/>
              </a:lnSpc>
              <a:spcAft>
                <a:spcPts val="600"/>
              </a:spcAft>
              <a:buFont typeface="Arial" panose="020B0604020202020204" pitchFamily="34" charset="0"/>
              <a:buChar char="•"/>
            </a:pPr>
            <a:r>
              <a:rPr lang="en-US" altLang="zh-CN" sz="1400" dirty="0" smtClean="0">
                <a:solidFill>
                  <a:schemeClr val="tx1"/>
                </a:solidFill>
              </a:rPr>
              <a:t>Speaker</a:t>
            </a:r>
            <a:r>
              <a:rPr lang="zh-CN" altLang="en-US" sz="1400" dirty="0" smtClean="0">
                <a:solidFill>
                  <a:schemeClr val="tx1"/>
                </a:solidFill>
              </a:rPr>
              <a:t>（发言者）：</a:t>
            </a:r>
            <a:r>
              <a:rPr lang="zh-CN" altLang="en-US" sz="1400" dirty="0">
                <a:solidFill>
                  <a:schemeClr val="tx1"/>
                </a:solidFill>
              </a:rPr>
              <a:t>发送</a:t>
            </a:r>
            <a:r>
              <a:rPr lang="en-US" altLang="zh-CN" sz="1400" dirty="0">
                <a:solidFill>
                  <a:schemeClr val="tx1"/>
                </a:solidFill>
              </a:rPr>
              <a:t>BGP</a:t>
            </a:r>
            <a:r>
              <a:rPr lang="zh-CN" altLang="en-US" sz="1400" dirty="0">
                <a:solidFill>
                  <a:schemeClr val="tx1"/>
                </a:solidFill>
              </a:rPr>
              <a:t>消息的路由器称为</a:t>
            </a:r>
            <a:r>
              <a:rPr lang="en-US" altLang="zh-CN" sz="1400" dirty="0" smtClean="0">
                <a:solidFill>
                  <a:schemeClr val="tx1"/>
                </a:solidFill>
              </a:rPr>
              <a:t>BGP Speaker</a:t>
            </a:r>
            <a:r>
              <a:rPr lang="zh-CN" altLang="en-US" sz="1400" dirty="0" smtClean="0">
                <a:solidFill>
                  <a:schemeClr val="tx1"/>
                </a:solidFill>
              </a:rPr>
              <a:t>，</a:t>
            </a:r>
            <a:r>
              <a:rPr lang="zh-CN" altLang="en-US" sz="1400" dirty="0">
                <a:solidFill>
                  <a:schemeClr val="tx1"/>
                </a:solidFill>
              </a:rPr>
              <a:t>它接收或产生新的路由信息，并</a:t>
            </a:r>
            <a:r>
              <a:rPr lang="zh-CN" altLang="en-US" sz="1400" dirty="0" smtClean="0">
                <a:solidFill>
                  <a:schemeClr val="tx1"/>
                </a:solidFill>
              </a:rPr>
              <a:t>发布给</a:t>
            </a:r>
            <a:r>
              <a:rPr lang="zh-CN" altLang="en-US" sz="1400" dirty="0">
                <a:solidFill>
                  <a:schemeClr val="tx1"/>
                </a:solidFill>
              </a:rPr>
              <a:t>其它</a:t>
            </a:r>
            <a:r>
              <a:rPr lang="en-US" altLang="zh-CN" sz="1400" dirty="0">
                <a:solidFill>
                  <a:schemeClr val="tx1"/>
                </a:solidFill>
              </a:rPr>
              <a:t>BGP Speaker</a:t>
            </a:r>
            <a:r>
              <a:rPr lang="zh-CN" altLang="en-US" sz="1400" dirty="0" smtClean="0">
                <a:solidFill>
                  <a:schemeClr val="tx1"/>
                </a:solidFill>
              </a:rPr>
              <a:t>。</a:t>
            </a:r>
            <a:endParaRPr lang="en-US" altLang="zh-CN" sz="1400" dirty="0" smtClean="0">
              <a:solidFill>
                <a:schemeClr val="tx1"/>
              </a:solidFill>
            </a:endParaRPr>
          </a:p>
          <a:p>
            <a:pPr marL="177800" indent="-177800" algn="just">
              <a:lnSpc>
                <a:spcPts val="2600"/>
              </a:lnSpc>
              <a:spcAft>
                <a:spcPts val="600"/>
              </a:spcAft>
              <a:buFont typeface="Arial" panose="020B0604020202020204" pitchFamily="34" charset="0"/>
              <a:buChar char="•"/>
            </a:pPr>
            <a:r>
              <a:rPr lang="en-US" altLang="zh-CN" sz="1400" dirty="0" smtClean="0">
                <a:solidFill>
                  <a:schemeClr val="tx1"/>
                </a:solidFill>
              </a:rPr>
              <a:t>Peer</a:t>
            </a:r>
            <a:r>
              <a:rPr lang="zh-CN" altLang="en-US" sz="1400" dirty="0" smtClean="0">
                <a:solidFill>
                  <a:schemeClr val="tx1"/>
                </a:solidFill>
              </a:rPr>
              <a:t>（对等体）：</a:t>
            </a:r>
            <a:r>
              <a:rPr lang="zh-CN" altLang="en-US" sz="1400" dirty="0">
                <a:solidFill>
                  <a:schemeClr val="tx1"/>
                </a:solidFill>
              </a:rPr>
              <a:t>相互交换消息的</a:t>
            </a:r>
            <a:r>
              <a:rPr lang="en-US" altLang="zh-CN" sz="1400" dirty="0">
                <a:solidFill>
                  <a:schemeClr val="tx1"/>
                </a:solidFill>
              </a:rPr>
              <a:t>BGP Speaker</a:t>
            </a:r>
            <a:r>
              <a:rPr lang="zh-CN" altLang="en-US" sz="1400" dirty="0">
                <a:solidFill>
                  <a:schemeClr val="tx1"/>
                </a:solidFill>
              </a:rPr>
              <a:t>之间互</a:t>
            </a:r>
            <a:r>
              <a:rPr lang="zh-CN" altLang="en-US" sz="1400" dirty="0" smtClean="0">
                <a:solidFill>
                  <a:schemeClr val="tx1"/>
                </a:solidFill>
              </a:rPr>
              <a:t>称</a:t>
            </a:r>
            <a:r>
              <a:rPr lang="en-US" altLang="zh-CN" sz="1400" dirty="0" smtClean="0">
                <a:solidFill>
                  <a:schemeClr val="tx1"/>
                </a:solidFill>
              </a:rPr>
              <a:t>Peer</a:t>
            </a:r>
            <a:r>
              <a:rPr lang="zh-CN" altLang="en-US" sz="1400" dirty="0" smtClean="0">
                <a:solidFill>
                  <a:schemeClr val="tx1"/>
                </a:solidFill>
              </a:rPr>
              <a:t>。</a:t>
            </a:r>
            <a:endParaRPr lang="en-US" altLang="zh-CN" sz="1400" dirty="0" smtClean="0">
              <a:solidFill>
                <a:schemeClr val="tx1"/>
              </a:solidFill>
            </a:endParaRPr>
          </a:p>
          <a:p>
            <a:pPr marL="177800" indent="-177800" algn="just">
              <a:lnSpc>
                <a:spcPts val="2600"/>
              </a:lnSpc>
              <a:spcAft>
                <a:spcPts val="600"/>
              </a:spcAft>
              <a:buFont typeface="Arial" panose="020B0604020202020204" pitchFamily="34" charset="0"/>
              <a:buChar char="•"/>
            </a:pPr>
            <a:r>
              <a:rPr lang="en-US" altLang="zh-CN" sz="1400" dirty="0" smtClean="0">
                <a:solidFill>
                  <a:schemeClr val="tx1"/>
                </a:solidFill>
              </a:rPr>
              <a:t>New </a:t>
            </a:r>
            <a:r>
              <a:rPr lang="en-US" altLang="zh-CN" sz="1400" dirty="0">
                <a:solidFill>
                  <a:schemeClr val="tx1"/>
                </a:solidFill>
              </a:rPr>
              <a:t>Speaker</a:t>
            </a:r>
            <a:r>
              <a:rPr lang="zh-CN" altLang="en-US" sz="1400" dirty="0">
                <a:solidFill>
                  <a:schemeClr val="tx1"/>
                </a:solidFill>
              </a:rPr>
              <a:t>：支持</a:t>
            </a:r>
            <a:r>
              <a:rPr lang="en-US" altLang="zh-CN" sz="1400" dirty="0">
                <a:solidFill>
                  <a:schemeClr val="tx1"/>
                </a:solidFill>
              </a:rPr>
              <a:t>4</a:t>
            </a:r>
            <a:r>
              <a:rPr lang="zh-CN" altLang="en-US" sz="1400" dirty="0">
                <a:solidFill>
                  <a:schemeClr val="tx1"/>
                </a:solidFill>
              </a:rPr>
              <a:t>字节</a:t>
            </a:r>
            <a:r>
              <a:rPr lang="en-US" altLang="zh-CN" sz="1400" dirty="0">
                <a:solidFill>
                  <a:schemeClr val="tx1"/>
                </a:solidFill>
              </a:rPr>
              <a:t>AS</a:t>
            </a:r>
            <a:r>
              <a:rPr lang="zh-CN" altLang="en-US" sz="1400" dirty="0">
                <a:solidFill>
                  <a:schemeClr val="tx1"/>
                </a:solidFill>
              </a:rPr>
              <a:t>号扩展能力的</a:t>
            </a:r>
            <a:r>
              <a:rPr lang="en-US" altLang="zh-CN" sz="1400" dirty="0" smtClean="0">
                <a:solidFill>
                  <a:schemeClr val="tx1"/>
                </a:solidFill>
              </a:rPr>
              <a:t>BGP</a:t>
            </a:r>
            <a:r>
              <a:rPr lang="zh-CN" altLang="en-US" sz="1400" dirty="0">
                <a:solidFill>
                  <a:schemeClr val="tx1"/>
                </a:solidFill>
              </a:rPr>
              <a:t> </a:t>
            </a:r>
            <a:r>
              <a:rPr lang="en-US" altLang="zh-CN" sz="1400" dirty="0" smtClean="0">
                <a:solidFill>
                  <a:schemeClr val="tx1"/>
                </a:solidFill>
              </a:rPr>
              <a:t>Speaker</a:t>
            </a:r>
            <a:r>
              <a:rPr lang="zh-CN" altLang="en-US" sz="1400" dirty="0" smtClean="0">
                <a:solidFill>
                  <a:schemeClr val="tx1"/>
                </a:solidFill>
              </a:rPr>
              <a:t>。</a:t>
            </a:r>
            <a:endParaRPr lang="zh-CN" altLang="en-US" sz="1400" dirty="0">
              <a:solidFill>
                <a:schemeClr val="tx1"/>
              </a:solidFill>
            </a:endParaRPr>
          </a:p>
          <a:p>
            <a:pPr marL="177800" indent="-177800" algn="just">
              <a:lnSpc>
                <a:spcPts val="2600"/>
              </a:lnSpc>
              <a:spcAft>
                <a:spcPts val="600"/>
              </a:spcAft>
              <a:buFont typeface="Arial" panose="020B0604020202020204" pitchFamily="34" charset="0"/>
              <a:buChar char="•"/>
            </a:pPr>
            <a:r>
              <a:rPr lang="en-US" altLang="zh-CN" sz="1400" dirty="0">
                <a:solidFill>
                  <a:schemeClr val="tx1"/>
                </a:solidFill>
              </a:rPr>
              <a:t>Old Speaker</a:t>
            </a:r>
            <a:r>
              <a:rPr lang="zh-CN" altLang="en-US" sz="1400" dirty="0">
                <a:solidFill>
                  <a:schemeClr val="tx1"/>
                </a:solidFill>
              </a:rPr>
              <a:t>：不支持</a:t>
            </a:r>
            <a:r>
              <a:rPr lang="en-US" altLang="zh-CN" sz="1400" dirty="0">
                <a:solidFill>
                  <a:schemeClr val="tx1"/>
                </a:solidFill>
              </a:rPr>
              <a:t>4</a:t>
            </a:r>
            <a:r>
              <a:rPr lang="zh-CN" altLang="en-US" sz="1400" dirty="0">
                <a:solidFill>
                  <a:schemeClr val="tx1"/>
                </a:solidFill>
              </a:rPr>
              <a:t>字节</a:t>
            </a:r>
            <a:r>
              <a:rPr lang="en-US" altLang="zh-CN" sz="1400" dirty="0">
                <a:solidFill>
                  <a:schemeClr val="tx1"/>
                </a:solidFill>
              </a:rPr>
              <a:t>AS</a:t>
            </a:r>
            <a:r>
              <a:rPr lang="zh-CN" altLang="en-US" sz="1400" dirty="0">
                <a:solidFill>
                  <a:schemeClr val="tx1"/>
                </a:solidFill>
              </a:rPr>
              <a:t>号扩展能力的</a:t>
            </a:r>
            <a:r>
              <a:rPr lang="en-US" altLang="zh-CN" sz="1400" dirty="0">
                <a:solidFill>
                  <a:schemeClr val="tx1"/>
                </a:solidFill>
              </a:rPr>
              <a:t>BGP Speaker</a:t>
            </a:r>
            <a:r>
              <a:rPr lang="zh-CN" altLang="en-US" sz="1400" dirty="0">
                <a:solidFill>
                  <a:schemeClr val="tx1"/>
                </a:solidFill>
              </a:rPr>
              <a:t>。</a:t>
            </a:r>
          </a:p>
          <a:p>
            <a:pPr marL="177800" indent="-177800" algn="just">
              <a:lnSpc>
                <a:spcPts val="2600"/>
              </a:lnSpc>
              <a:spcAft>
                <a:spcPts val="600"/>
              </a:spcAft>
              <a:buFont typeface="Arial" panose="020B0604020202020204" pitchFamily="34" charset="0"/>
              <a:buChar char="•"/>
            </a:pPr>
            <a:r>
              <a:rPr lang="en-US" altLang="zh-CN" sz="1400" dirty="0">
                <a:solidFill>
                  <a:schemeClr val="tx1"/>
                </a:solidFill>
              </a:rPr>
              <a:t>New Session</a:t>
            </a:r>
            <a:r>
              <a:rPr lang="zh-CN" altLang="en-US" sz="1400" dirty="0">
                <a:solidFill>
                  <a:schemeClr val="tx1"/>
                </a:solidFill>
              </a:rPr>
              <a:t>：</a:t>
            </a:r>
            <a:r>
              <a:rPr lang="en-US" altLang="zh-CN" sz="1400" dirty="0">
                <a:solidFill>
                  <a:schemeClr val="tx1"/>
                </a:solidFill>
              </a:rPr>
              <a:t>New Speaker</a:t>
            </a:r>
            <a:r>
              <a:rPr lang="zh-CN" altLang="en-US" sz="1400" dirty="0">
                <a:solidFill>
                  <a:schemeClr val="tx1"/>
                </a:solidFill>
              </a:rPr>
              <a:t>之间建立的</a:t>
            </a:r>
            <a:r>
              <a:rPr lang="en-US" altLang="zh-CN" sz="1400" dirty="0">
                <a:solidFill>
                  <a:schemeClr val="tx1"/>
                </a:solidFill>
              </a:rPr>
              <a:t>BGP</a:t>
            </a:r>
            <a:r>
              <a:rPr lang="zh-CN" altLang="en-US" sz="1400" dirty="0">
                <a:solidFill>
                  <a:schemeClr val="tx1"/>
                </a:solidFill>
              </a:rPr>
              <a:t>连接。</a:t>
            </a:r>
          </a:p>
          <a:p>
            <a:pPr marL="177800" indent="-177800" algn="just">
              <a:lnSpc>
                <a:spcPts val="2600"/>
              </a:lnSpc>
              <a:spcAft>
                <a:spcPts val="600"/>
              </a:spcAft>
              <a:buFont typeface="Arial" panose="020B0604020202020204" pitchFamily="34" charset="0"/>
              <a:buChar char="•"/>
            </a:pPr>
            <a:r>
              <a:rPr lang="en-US" altLang="zh-CN" sz="1400" dirty="0">
                <a:solidFill>
                  <a:schemeClr val="tx1"/>
                </a:solidFill>
              </a:rPr>
              <a:t>Old Session</a:t>
            </a:r>
            <a:r>
              <a:rPr lang="zh-CN" altLang="en-US" sz="1400" dirty="0">
                <a:solidFill>
                  <a:schemeClr val="tx1"/>
                </a:solidFill>
              </a:rPr>
              <a:t>：</a:t>
            </a:r>
            <a:r>
              <a:rPr lang="en-US" altLang="zh-CN" sz="1400" dirty="0">
                <a:solidFill>
                  <a:schemeClr val="tx1"/>
                </a:solidFill>
              </a:rPr>
              <a:t>New Speaker</a:t>
            </a:r>
            <a:r>
              <a:rPr lang="zh-CN" altLang="en-US" sz="1400" dirty="0">
                <a:solidFill>
                  <a:schemeClr val="tx1"/>
                </a:solidFill>
              </a:rPr>
              <a:t>和</a:t>
            </a:r>
            <a:r>
              <a:rPr lang="en-US" altLang="zh-CN" sz="1400" dirty="0">
                <a:solidFill>
                  <a:schemeClr val="tx1"/>
                </a:solidFill>
              </a:rPr>
              <a:t>Old Speaker</a:t>
            </a:r>
            <a:r>
              <a:rPr lang="zh-CN" altLang="en-US" sz="1400" dirty="0">
                <a:solidFill>
                  <a:schemeClr val="tx1"/>
                </a:solidFill>
              </a:rPr>
              <a:t>之间或者</a:t>
            </a:r>
            <a:r>
              <a:rPr lang="en-US" altLang="zh-CN" sz="1400" dirty="0">
                <a:solidFill>
                  <a:schemeClr val="tx1"/>
                </a:solidFill>
              </a:rPr>
              <a:t>Old Speaker</a:t>
            </a:r>
            <a:r>
              <a:rPr lang="zh-CN" altLang="en-US" sz="1400" dirty="0">
                <a:solidFill>
                  <a:schemeClr val="tx1"/>
                </a:solidFill>
              </a:rPr>
              <a:t>之间建立的</a:t>
            </a:r>
            <a:r>
              <a:rPr lang="en-US" altLang="zh-CN" sz="1400" dirty="0">
                <a:solidFill>
                  <a:schemeClr val="tx1"/>
                </a:solidFill>
              </a:rPr>
              <a:t>BGP</a:t>
            </a:r>
            <a:r>
              <a:rPr lang="zh-CN" altLang="en-US" sz="1400" dirty="0">
                <a:solidFill>
                  <a:schemeClr val="tx1"/>
                </a:solidFill>
              </a:rPr>
              <a:t>连接。</a:t>
            </a:r>
          </a:p>
        </p:txBody>
      </p:sp>
      <p:sp>
        <p:nvSpPr>
          <p:cNvPr id="8" name="圆角矩形 75"/>
          <p:cNvSpPr/>
          <p:nvPr/>
        </p:nvSpPr>
        <p:spPr bwMode="gray">
          <a:xfrm>
            <a:off x="836581" y="2543175"/>
            <a:ext cx="5259419" cy="322786"/>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相关概念</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圆角矩形 75"/>
          <p:cNvSpPr/>
          <p:nvPr/>
        </p:nvSpPr>
        <p:spPr bwMode="gray">
          <a:xfrm>
            <a:off x="6316394" y="2907051"/>
            <a:ext cx="5312188" cy="3293724"/>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a:lnSpc>
                <a:spcPts val="2600"/>
              </a:lnSpc>
              <a:spcAft>
                <a:spcPts val="600"/>
              </a:spcAft>
              <a:buFont typeface="Arial" panose="020B0604020202020204" pitchFamily="34" charset="0"/>
              <a:buChar char="•"/>
            </a:pPr>
            <a:r>
              <a:rPr lang="en-US" altLang="zh-CN" sz="1400" dirty="0">
                <a:solidFill>
                  <a:schemeClr val="tx1"/>
                </a:solidFill>
              </a:rPr>
              <a:t>4</a:t>
            </a:r>
            <a:r>
              <a:rPr lang="zh-CN" altLang="en-US" sz="1400" dirty="0">
                <a:solidFill>
                  <a:schemeClr val="tx1"/>
                </a:solidFill>
              </a:rPr>
              <a:t>字节</a:t>
            </a:r>
            <a:r>
              <a:rPr lang="en-US" altLang="zh-CN" sz="1400" dirty="0">
                <a:solidFill>
                  <a:schemeClr val="tx1"/>
                </a:solidFill>
              </a:rPr>
              <a:t>AS</a:t>
            </a:r>
            <a:r>
              <a:rPr lang="zh-CN" altLang="en-US" sz="1400" dirty="0">
                <a:solidFill>
                  <a:schemeClr val="tx1"/>
                </a:solidFill>
              </a:rPr>
              <a:t>分为两种形式：整数形式和点分形式</a:t>
            </a:r>
            <a:r>
              <a:rPr lang="zh-CN" altLang="en-US" sz="1400" dirty="0" smtClean="0">
                <a:solidFill>
                  <a:schemeClr val="tx1"/>
                </a:solidFill>
              </a:rPr>
              <a:t>。整数</a:t>
            </a:r>
            <a:r>
              <a:rPr lang="zh-CN" altLang="en-US" sz="1400" dirty="0">
                <a:solidFill>
                  <a:schemeClr val="tx1"/>
                </a:solidFill>
              </a:rPr>
              <a:t>形式和点分形式的</a:t>
            </a:r>
            <a:r>
              <a:rPr lang="en-US" altLang="zh-CN" sz="1400" dirty="0">
                <a:solidFill>
                  <a:schemeClr val="tx1"/>
                </a:solidFill>
              </a:rPr>
              <a:t>4</a:t>
            </a:r>
            <a:r>
              <a:rPr lang="zh-CN" altLang="en-US" sz="1400" dirty="0">
                <a:solidFill>
                  <a:schemeClr val="tx1"/>
                </a:solidFill>
              </a:rPr>
              <a:t>字节</a:t>
            </a:r>
            <a:r>
              <a:rPr lang="en-US" altLang="zh-CN" sz="1400" dirty="0">
                <a:solidFill>
                  <a:schemeClr val="tx1"/>
                </a:solidFill>
              </a:rPr>
              <a:t>AS</a:t>
            </a:r>
            <a:r>
              <a:rPr lang="zh-CN" altLang="en-US" sz="1400" dirty="0">
                <a:solidFill>
                  <a:schemeClr val="tx1"/>
                </a:solidFill>
              </a:rPr>
              <a:t>号在系统内部都是以无符号的整数形式存储</a:t>
            </a:r>
            <a:r>
              <a:rPr lang="zh-CN" altLang="en-US" sz="1400" dirty="0" smtClean="0">
                <a:solidFill>
                  <a:schemeClr val="tx1"/>
                </a:solidFill>
              </a:rPr>
              <a:t>。</a:t>
            </a:r>
            <a:endParaRPr lang="en-US" altLang="zh-CN" sz="1400" dirty="0" smtClean="0">
              <a:solidFill>
                <a:schemeClr val="tx1"/>
              </a:solidFill>
            </a:endParaRPr>
          </a:p>
          <a:p>
            <a:pPr marL="177800" indent="-177800" algn="just">
              <a:lnSpc>
                <a:spcPts val="2600"/>
              </a:lnSpc>
              <a:spcAft>
                <a:spcPts val="600"/>
              </a:spcAft>
              <a:buFont typeface="Arial" panose="020B0604020202020204" pitchFamily="34" charset="0"/>
              <a:buChar char="•"/>
            </a:pPr>
            <a:r>
              <a:rPr lang="zh-CN" altLang="en-US" sz="1400" dirty="0" smtClean="0">
                <a:solidFill>
                  <a:schemeClr val="tx1"/>
                </a:solidFill>
              </a:rPr>
              <a:t>点</a:t>
            </a:r>
            <a:r>
              <a:rPr lang="zh-CN" altLang="en-US" sz="1400" dirty="0">
                <a:solidFill>
                  <a:schemeClr val="tx1"/>
                </a:solidFill>
              </a:rPr>
              <a:t>分形式的</a:t>
            </a:r>
            <a:r>
              <a:rPr lang="en-US" altLang="zh-CN" sz="1400" dirty="0">
                <a:solidFill>
                  <a:schemeClr val="tx1"/>
                </a:solidFill>
              </a:rPr>
              <a:t>4</a:t>
            </a:r>
            <a:r>
              <a:rPr lang="zh-CN" altLang="en-US" sz="1400" dirty="0">
                <a:solidFill>
                  <a:schemeClr val="tx1"/>
                </a:solidFill>
              </a:rPr>
              <a:t>字节</a:t>
            </a:r>
            <a:r>
              <a:rPr lang="en-US" altLang="zh-CN" sz="1400" dirty="0">
                <a:solidFill>
                  <a:schemeClr val="tx1"/>
                </a:solidFill>
              </a:rPr>
              <a:t>AS</a:t>
            </a:r>
            <a:r>
              <a:rPr lang="zh-CN" altLang="en-US" sz="1400" dirty="0" smtClean="0">
                <a:solidFill>
                  <a:schemeClr val="tx1"/>
                </a:solidFill>
              </a:rPr>
              <a:t>号格式一般为：</a:t>
            </a:r>
            <a:r>
              <a:rPr lang="en-US" altLang="zh-CN" sz="1400" b="1" dirty="0" err="1" smtClean="0">
                <a:solidFill>
                  <a:srgbClr val="C7000B"/>
                </a:solidFill>
              </a:rPr>
              <a:t>x.y</a:t>
            </a:r>
            <a:r>
              <a:rPr lang="zh-CN" altLang="en-US" sz="1400" dirty="0" smtClean="0">
                <a:solidFill>
                  <a:schemeClr val="tx1"/>
                </a:solidFill>
              </a:rPr>
              <a:t>。</a:t>
            </a:r>
            <a:endParaRPr lang="en-US" altLang="zh-CN" sz="1400" dirty="0" smtClean="0">
              <a:solidFill>
                <a:schemeClr val="tx1"/>
              </a:solidFill>
            </a:endParaRPr>
          </a:p>
          <a:p>
            <a:pPr marL="177800" indent="-177800" algn="just">
              <a:lnSpc>
                <a:spcPts val="2600"/>
              </a:lnSpc>
              <a:spcAft>
                <a:spcPts val="600"/>
              </a:spcAft>
              <a:buFont typeface="Arial" panose="020B0604020202020204" pitchFamily="34" charset="0"/>
              <a:buChar char="•"/>
            </a:pPr>
            <a:r>
              <a:rPr lang="zh-CN" altLang="en-US" sz="1400" dirty="0" smtClean="0">
                <a:solidFill>
                  <a:schemeClr val="tx1"/>
                </a:solidFill>
              </a:rPr>
              <a:t>整数</a:t>
            </a:r>
            <a:r>
              <a:rPr lang="zh-CN" altLang="en-US" sz="1400" dirty="0">
                <a:solidFill>
                  <a:schemeClr val="tx1"/>
                </a:solidFill>
              </a:rPr>
              <a:t>形式的</a:t>
            </a:r>
            <a:r>
              <a:rPr lang="en-US" altLang="zh-CN" sz="1400" dirty="0">
                <a:solidFill>
                  <a:schemeClr val="tx1"/>
                </a:solidFill>
              </a:rPr>
              <a:t>4</a:t>
            </a:r>
            <a:r>
              <a:rPr lang="zh-CN" altLang="en-US" sz="1400" dirty="0">
                <a:solidFill>
                  <a:schemeClr val="tx1"/>
                </a:solidFill>
              </a:rPr>
              <a:t>字节</a:t>
            </a:r>
            <a:r>
              <a:rPr lang="en-US" altLang="zh-CN" sz="1400" dirty="0">
                <a:solidFill>
                  <a:schemeClr val="tx1"/>
                </a:solidFill>
              </a:rPr>
              <a:t>AS</a:t>
            </a:r>
            <a:r>
              <a:rPr lang="zh-CN" altLang="en-US" sz="1400" dirty="0">
                <a:solidFill>
                  <a:schemeClr val="tx1"/>
                </a:solidFill>
              </a:rPr>
              <a:t>号和点分形式的</a:t>
            </a:r>
            <a:r>
              <a:rPr lang="en-US" altLang="zh-CN" sz="1400" dirty="0">
                <a:solidFill>
                  <a:schemeClr val="tx1"/>
                </a:solidFill>
              </a:rPr>
              <a:t>4</a:t>
            </a:r>
            <a:r>
              <a:rPr lang="zh-CN" altLang="en-US" sz="1400" dirty="0">
                <a:solidFill>
                  <a:schemeClr val="tx1"/>
                </a:solidFill>
              </a:rPr>
              <a:t>字节</a:t>
            </a:r>
            <a:r>
              <a:rPr lang="en-US" altLang="zh-CN" sz="1400" dirty="0">
                <a:solidFill>
                  <a:schemeClr val="tx1"/>
                </a:solidFill>
              </a:rPr>
              <a:t>AS</a:t>
            </a:r>
            <a:r>
              <a:rPr lang="zh-CN" altLang="en-US" sz="1400" dirty="0">
                <a:solidFill>
                  <a:schemeClr val="tx1"/>
                </a:solidFill>
              </a:rPr>
              <a:t>号的换算关系是：</a:t>
            </a:r>
            <a:r>
              <a:rPr lang="zh-CN" altLang="en-US" sz="1400" u="sng" dirty="0">
                <a:solidFill>
                  <a:schemeClr val="tx1"/>
                </a:solidFill>
              </a:rPr>
              <a:t>整数形式的</a:t>
            </a:r>
            <a:r>
              <a:rPr lang="en-US" altLang="zh-CN" sz="1400" u="sng" dirty="0">
                <a:solidFill>
                  <a:schemeClr val="tx1"/>
                </a:solidFill>
              </a:rPr>
              <a:t>4</a:t>
            </a:r>
            <a:r>
              <a:rPr lang="zh-CN" altLang="en-US" sz="1400" u="sng" dirty="0">
                <a:solidFill>
                  <a:schemeClr val="tx1"/>
                </a:solidFill>
              </a:rPr>
              <a:t>字节</a:t>
            </a:r>
            <a:r>
              <a:rPr lang="en-US" altLang="zh-CN" sz="1400" u="sng" dirty="0">
                <a:solidFill>
                  <a:schemeClr val="tx1"/>
                </a:solidFill>
              </a:rPr>
              <a:t>AS</a:t>
            </a:r>
            <a:r>
              <a:rPr lang="zh-CN" altLang="en-US" sz="1400" u="sng" dirty="0">
                <a:solidFill>
                  <a:schemeClr val="tx1"/>
                </a:solidFill>
              </a:rPr>
              <a:t>号</a:t>
            </a:r>
            <a:r>
              <a:rPr lang="en-US" altLang="zh-CN" sz="1400" u="sng" dirty="0">
                <a:solidFill>
                  <a:schemeClr val="tx1"/>
                </a:solidFill>
              </a:rPr>
              <a:t>=</a:t>
            </a:r>
            <a:r>
              <a:rPr lang="en-US" altLang="zh-CN" sz="1400" u="sng" dirty="0" smtClean="0">
                <a:solidFill>
                  <a:schemeClr val="tx1"/>
                </a:solidFill>
              </a:rPr>
              <a:t>x*65536+y</a:t>
            </a:r>
            <a:r>
              <a:rPr lang="zh-CN" altLang="en-US" sz="1400" dirty="0" smtClean="0">
                <a:solidFill>
                  <a:schemeClr val="tx1"/>
                </a:solidFill>
              </a:rPr>
              <a:t>。</a:t>
            </a:r>
            <a:endParaRPr lang="en-US" altLang="zh-CN" sz="1400" dirty="0" smtClean="0">
              <a:solidFill>
                <a:schemeClr val="tx1"/>
              </a:solidFill>
            </a:endParaRPr>
          </a:p>
          <a:p>
            <a:pPr marL="177800" indent="-177800" algn="just">
              <a:lnSpc>
                <a:spcPts val="2600"/>
              </a:lnSpc>
              <a:spcAft>
                <a:spcPts val="600"/>
              </a:spcAft>
              <a:buFont typeface="Arial" panose="020B0604020202020204" pitchFamily="34" charset="0"/>
              <a:buChar char="•"/>
            </a:pPr>
            <a:r>
              <a:rPr lang="zh-CN" altLang="en-US" sz="1400" dirty="0" smtClean="0">
                <a:solidFill>
                  <a:schemeClr val="tx1"/>
                </a:solidFill>
              </a:rPr>
              <a:t>例如</a:t>
            </a:r>
            <a:r>
              <a:rPr lang="zh-CN" altLang="en-US" sz="1400" dirty="0">
                <a:solidFill>
                  <a:schemeClr val="tx1"/>
                </a:solidFill>
              </a:rPr>
              <a:t>点分形式的</a:t>
            </a:r>
            <a:r>
              <a:rPr lang="en-US" altLang="zh-CN" sz="1400" dirty="0">
                <a:solidFill>
                  <a:schemeClr val="tx1"/>
                </a:solidFill>
              </a:rPr>
              <a:t>4</a:t>
            </a:r>
            <a:r>
              <a:rPr lang="zh-CN" altLang="en-US" sz="1400" dirty="0">
                <a:solidFill>
                  <a:schemeClr val="tx1"/>
                </a:solidFill>
              </a:rPr>
              <a:t>字节</a:t>
            </a:r>
            <a:r>
              <a:rPr lang="en-US" altLang="zh-CN" sz="1400" dirty="0">
                <a:solidFill>
                  <a:schemeClr val="tx1"/>
                </a:solidFill>
              </a:rPr>
              <a:t>AS</a:t>
            </a:r>
            <a:r>
              <a:rPr lang="zh-CN" altLang="en-US" sz="1400" dirty="0">
                <a:solidFill>
                  <a:schemeClr val="tx1"/>
                </a:solidFill>
              </a:rPr>
              <a:t>号</a:t>
            </a:r>
            <a:r>
              <a:rPr lang="en-US" altLang="zh-CN" sz="1400" dirty="0">
                <a:solidFill>
                  <a:schemeClr val="tx1"/>
                </a:solidFill>
              </a:rPr>
              <a:t>2.3</a:t>
            </a:r>
            <a:r>
              <a:rPr lang="zh-CN" altLang="en-US" sz="1400" dirty="0">
                <a:solidFill>
                  <a:schemeClr val="tx1"/>
                </a:solidFill>
              </a:rPr>
              <a:t>，对应的整数形式的</a:t>
            </a:r>
            <a:r>
              <a:rPr lang="en-US" altLang="zh-CN" sz="1400" dirty="0">
                <a:solidFill>
                  <a:schemeClr val="tx1"/>
                </a:solidFill>
              </a:rPr>
              <a:t>4</a:t>
            </a:r>
            <a:r>
              <a:rPr lang="zh-CN" altLang="en-US" sz="1400" dirty="0">
                <a:solidFill>
                  <a:schemeClr val="tx1"/>
                </a:solidFill>
              </a:rPr>
              <a:t>字节</a:t>
            </a:r>
            <a:r>
              <a:rPr lang="en-US" altLang="zh-CN" sz="1400" dirty="0">
                <a:solidFill>
                  <a:schemeClr val="tx1"/>
                </a:solidFill>
              </a:rPr>
              <a:t>AS</a:t>
            </a:r>
            <a:r>
              <a:rPr lang="zh-CN" altLang="en-US" sz="1400" dirty="0">
                <a:solidFill>
                  <a:schemeClr val="tx1"/>
                </a:solidFill>
              </a:rPr>
              <a:t>号为：</a:t>
            </a:r>
            <a:r>
              <a:rPr lang="en-US" altLang="zh-CN" sz="1400" dirty="0">
                <a:solidFill>
                  <a:schemeClr val="tx1"/>
                </a:solidFill>
              </a:rPr>
              <a:t>2*65536+3=131075</a:t>
            </a:r>
            <a:r>
              <a:rPr lang="zh-CN" altLang="en-US" sz="1400" dirty="0" smtClean="0">
                <a:solidFill>
                  <a:schemeClr val="tx1"/>
                </a:solidFill>
              </a:rPr>
              <a:t>。</a:t>
            </a:r>
            <a:endParaRPr lang="zh-CN" altLang="en-US" sz="1400" dirty="0">
              <a:solidFill>
                <a:schemeClr val="tx1"/>
              </a:solidFill>
            </a:endParaRPr>
          </a:p>
        </p:txBody>
      </p:sp>
      <p:sp>
        <p:nvSpPr>
          <p:cNvPr id="11" name="圆角矩形 75"/>
          <p:cNvSpPr/>
          <p:nvPr/>
        </p:nvSpPr>
        <p:spPr bwMode="gray">
          <a:xfrm>
            <a:off x="6303760" y="2543175"/>
            <a:ext cx="5326009" cy="322786"/>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字节</a:t>
            </a:r>
            <a:r>
              <a:rPr lang="en-US" altLang="zh-CN"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a:t>
            </a: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号的格式</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五边形 8"/>
          <p:cNvSpPr/>
          <p:nvPr/>
        </p:nvSpPr>
        <p:spPr bwMode="gray">
          <a:xfrm>
            <a:off x="8421350" y="99742"/>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ORF</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燕尾形 11"/>
          <p:cNvSpPr/>
          <p:nvPr/>
        </p:nvSpPr>
        <p:spPr bwMode="gray">
          <a:xfrm>
            <a:off x="9061791" y="99742"/>
            <a:ext cx="93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对等体组</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燕尾形 12"/>
          <p:cNvSpPr/>
          <p:nvPr/>
        </p:nvSpPr>
        <p:spPr bwMode="gray">
          <a:xfrm>
            <a:off x="9918233" y="99742"/>
            <a:ext cx="93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安全特性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燕尾形 13"/>
          <p:cNvSpPr/>
          <p:nvPr/>
        </p:nvSpPr>
        <p:spPr bwMode="gray">
          <a:xfrm>
            <a:off x="10774674" y="99742"/>
            <a:ext cx="972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字节</a:t>
            </a: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AS</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号</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80885430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任意多边形 25"/>
          <p:cNvSpPr/>
          <p:nvPr/>
        </p:nvSpPr>
        <p:spPr bwMode="gray">
          <a:xfrm>
            <a:off x="4735126" y="1757217"/>
            <a:ext cx="1300982" cy="1402824"/>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sp>
        <p:nvSpPr>
          <p:cNvPr id="20" name="任意多边形 25"/>
          <p:cNvSpPr/>
          <p:nvPr/>
        </p:nvSpPr>
        <p:spPr bwMode="gray">
          <a:xfrm>
            <a:off x="686235" y="1757217"/>
            <a:ext cx="1300982" cy="1402824"/>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sp>
        <p:nvSpPr>
          <p:cNvPr id="2" name="标题 1"/>
          <p:cNvSpPr>
            <a:spLocks noGrp="1"/>
          </p:cNvSpPr>
          <p:nvPr>
            <p:ph type="title"/>
          </p:nvPr>
        </p:nvSpPr>
        <p:spPr/>
        <p:txBody>
          <a:bodyPr/>
          <a:lstStyle/>
          <a:p>
            <a:r>
              <a:rPr lang="zh-CN" altLang="en-US" dirty="0"/>
              <a:t>携带</a:t>
            </a:r>
            <a:r>
              <a:rPr lang="en-US" altLang="zh-CN" dirty="0" smtClean="0"/>
              <a:t>4</a:t>
            </a:r>
            <a:r>
              <a:rPr lang="zh-CN" altLang="en-US" dirty="0" smtClean="0"/>
              <a:t>字节</a:t>
            </a:r>
            <a:r>
              <a:rPr lang="en-US" altLang="zh-CN" dirty="0" smtClean="0"/>
              <a:t>AS</a:t>
            </a:r>
            <a:r>
              <a:rPr lang="zh-CN" altLang="en-US" dirty="0" smtClean="0"/>
              <a:t>号的</a:t>
            </a:r>
            <a:r>
              <a:rPr lang="en-US" altLang="zh-CN" dirty="0" smtClean="0"/>
              <a:t>Open</a:t>
            </a:r>
            <a:r>
              <a:rPr lang="zh-CN" altLang="en-US" dirty="0" smtClean="0"/>
              <a:t>消息</a:t>
            </a:r>
            <a:endParaRPr lang="zh-CN" altLang="en-US" dirty="0"/>
          </a:p>
        </p:txBody>
      </p:sp>
      <p:sp>
        <p:nvSpPr>
          <p:cNvPr id="3" name="文本占位符 2"/>
          <p:cNvSpPr>
            <a:spLocks noGrp="1"/>
          </p:cNvSpPr>
          <p:nvPr>
            <p:ph type="body" sz="quarter" idx="10"/>
          </p:nvPr>
        </p:nvSpPr>
        <p:spPr>
          <a:xfrm>
            <a:off x="455612" y="1047750"/>
            <a:ext cx="11293475" cy="467753"/>
          </a:xfrm>
        </p:spPr>
        <p:txBody>
          <a:bodyPr/>
          <a:lstStyle/>
          <a:p>
            <a:r>
              <a:rPr lang="en-US" altLang="zh-CN" sz="1800" dirty="0" smtClean="0"/>
              <a:t>BGP</a:t>
            </a:r>
            <a:r>
              <a:rPr lang="zh-CN" altLang="en-US" sz="1800" dirty="0" smtClean="0"/>
              <a:t>通过相互通告</a:t>
            </a:r>
            <a:r>
              <a:rPr lang="en-US" altLang="zh-CN" sz="1800" dirty="0" smtClean="0"/>
              <a:t>Open</a:t>
            </a:r>
            <a:r>
              <a:rPr lang="zh-CN" altLang="en-US" sz="1800" dirty="0" smtClean="0"/>
              <a:t>消息来进行能力协商，其中</a:t>
            </a:r>
            <a:r>
              <a:rPr lang="en-US" altLang="zh-CN" sz="1800" dirty="0" smtClean="0"/>
              <a:t>New Speaker</a:t>
            </a:r>
            <a:r>
              <a:rPr lang="zh-CN" altLang="en-US" sz="1800" dirty="0" smtClean="0"/>
              <a:t>的</a:t>
            </a:r>
            <a:r>
              <a:rPr lang="en-US" altLang="zh-CN" sz="1800" dirty="0" smtClean="0"/>
              <a:t>Open</a:t>
            </a:r>
            <a:r>
              <a:rPr lang="zh-CN" altLang="en-US" sz="1800" dirty="0" smtClean="0"/>
              <a:t>消息格式如图所示。</a:t>
            </a:r>
            <a:endParaRPr lang="en-US" altLang="zh-CN" sz="1800" dirty="0" smtClean="0"/>
          </a:p>
        </p:txBody>
      </p:sp>
      <p:pic>
        <p:nvPicPr>
          <p:cNvPr id="4" name="图片 3"/>
          <p:cNvPicPr>
            <a:picLocks/>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5117476" y="2203952"/>
            <a:ext cx="540000" cy="442800"/>
          </a:xfrm>
          <a:prstGeom prst="rect">
            <a:avLst/>
          </a:prstGeom>
        </p:spPr>
      </p:pic>
      <p:cxnSp>
        <p:nvCxnSpPr>
          <p:cNvPr id="5" name="直接连接符 4"/>
          <p:cNvCxnSpPr>
            <a:stCxn id="6" idx="3"/>
            <a:endCxn id="4" idx="1"/>
          </p:cNvCxnSpPr>
          <p:nvPr/>
        </p:nvCxnSpPr>
        <p:spPr bwMode="gray">
          <a:xfrm>
            <a:off x="1606726" y="2425352"/>
            <a:ext cx="351075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图片 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066726" y="2203952"/>
            <a:ext cx="540000" cy="442800"/>
          </a:xfrm>
          <a:prstGeom prst="rect">
            <a:avLst/>
          </a:prstGeom>
        </p:spPr>
      </p:pic>
      <p:cxnSp>
        <p:nvCxnSpPr>
          <p:cNvPr id="7" name="直接连接符 6"/>
          <p:cNvCxnSpPr/>
          <p:nvPr/>
        </p:nvCxnSpPr>
        <p:spPr bwMode="gray">
          <a:xfrm>
            <a:off x="1737405" y="2272897"/>
            <a:ext cx="3280331" cy="1"/>
          </a:xfrm>
          <a:prstGeom prst="line">
            <a:avLst/>
          </a:prstGeom>
          <a:ln w="19050">
            <a:solidFill>
              <a:schemeClr val="tx1"/>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 name="TextBox 120">
            <a:extLst>
              <a:ext uri="{FF2B5EF4-FFF2-40B4-BE49-F238E27FC236}">
                <a16:creationId xmlns="" xmlns:a16="http://schemas.microsoft.com/office/drawing/2014/main" id="{020D7A1D-EFAD-4C8C-B9DE-D0FAD269B77A}"/>
              </a:ext>
            </a:extLst>
          </p:cNvPr>
          <p:cNvSpPr txBox="1"/>
          <p:nvPr/>
        </p:nvSpPr>
        <p:spPr bwMode="gray">
          <a:xfrm>
            <a:off x="2111799" y="3337203"/>
            <a:ext cx="1119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Open</a:t>
            </a:r>
            <a:r>
              <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rPr>
              <a:t>消息：</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TextBox 120">
            <a:extLst>
              <a:ext uri="{FF2B5EF4-FFF2-40B4-BE49-F238E27FC236}">
                <a16:creationId xmlns="" xmlns:a16="http://schemas.microsoft.com/office/drawing/2014/main" id="{020D7A1D-EFAD-4C8C-B9DE-D0FAD269B77A}"/>
              </a:ext>
            </a:extLst>
          </p:cNvPr>
          <p:cNvSpPr txBox="1"/>
          <p:nvPr/>
        </p:nvSpPr>
        <p:spPr bwMode="gray">
          <a:xfrm>
            <a:off x="867476" y="2636820"/>
            <a:ext cx="910295" cy="523220"/>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Old Speaker</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TextBox 120">
            <a:extLst>
              <a:ext uri="{FF2B5EF4-FFF2-40B4-BE49-F238E27FC236}">
                <a16:creationId xmlns="" xmlns:a16="http://schemas.microsoft.com/office/drawing/2014/main" id="{020D7A1D-EFAD-4C8C-B9DE-D0FAD269B77A}"/>
              </a:ext>
            </a:extLst>
          </p:cNvPr>
          <p:cNvSpPr txBox="1"/>
          <p:nvPr/>
        </p:nvSpPr>
        <p:spPr bwMode="gray">
          <a:xfrm>
            <a:off x="4872848" y="2636820"/>
            <a:ext cx="1025538" cy="523220"/>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New Speaker</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11" name="表格 10"/>
          <p:cNvGraphicFramePr>
            <a:graphicFrameLocks noGrp="1"/>
          </p:cNvGraphicFramePr>
          <p:nvPr>
            <p:extLst>
              <p:ext uri="{D42A27DB-BD31-4B8C-83A1-F6EECF244321}">
                <p14:modId xmlns:p14="http://schemas.microsoft.com/office/powerpoint/2010/main" val="3306690815"/>
              </p:ext>
            </p:extLst>
          </p:nvPr>
        </p:nvGraphicFramePr>
        <p:xfrm>
          <a:off x="2151146" y="3683260"/>
          <a:ext cx="3884962" cy="2138634"/>
        </p:xfrm>
        <a:graphic>
          <a:graphicData uri="http://schemas.openxmlformats.org/drawingml/2006/table">
            <a:tbl>
              <a:tblPr firstRow="1" bandRow="1"/>
              <a:tblGrid>
                <a:gridCol w="971240"/>
                <a:gridCol w="971240"/>
                <a:gridCol w="1942482"/>
              </a:tblGrid>
              <a:tr h="281255">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itchFamily="2" charset="2"/>
                        <a:buNone/>
                        <a:tabLst/>
                      </a:pPr>
                      <a:r>
                        <a:rPr kumimoji="0" lang="en-US" altLang="zh-CN" sz="1400" b="0" i="0" u="none" strike="noStrike" kern="1200" cap="none" normalizeH="0" baseline="0" dirty="0" smtClean="0">
                          <a:ln>
                            <a:noFill/>
                          </a:ln>
                          <a:solidFill>
                            <a:schemeClr val="tx1"/>
                          </a:solidFill>
                          <a:effectLst/>
                          <a:latin typeface="+mn-lt"/>
                          <a:ea typeface="+mn-ea"/>
                          <a:cs typeface="+mn-cs"/>
                        </a:rPr>
                        <a:t>Version</a:t>
                      </a:r>
                      <a:endParaRPr kumimoji="0" lang="zh-CN" altLang="en-US"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gridSpan="2">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itchFamily="2" charset="2"/>
                        <a:buNone/>
                        <a:tabLst/>
                      </a:pPr>
                      <a:endParaRPr kumimoji="0" lang="zh-CN" altLang="en-US" sz="1400" b="1"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hMerge="1">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itchFamily="2" charset="2"/>
                        <a:buNone/>
                        <a:tabLst/>
                      </a:pPr>
                      <a:endParaRPr kumimoji="0" lang="zh-CN" altLang="en-US" sz="1400" b="1"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ECF9FA"/>
                    </a:solidFill>
                  </a:tcPr>
                </a:tc>
              </a:tr>
              <a:tr h="317678">
                <a:tc gridSpan="2">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itchFamily="2" charset="2"/>
                        <a:buNone/>
                        <a:tabLst/>
                      </a:pPr>
                      <a:r>
                        <a:rPr kumimoji="0" lang="en-US" altLang="zh-CN" sz="1400" b="1" i="0" u="none" strike="noStrike" kern="1200" cap="none" normalizeH="0" baseline="0" dirty="0" smtClean="0">
                          <a:ln>
                            <a:noFill/>
                          </a:ln>
                          <a:solidFill>
                            <a:schemeClr val="tx1"/>
                          </a:solidFill>
                          <a:effectLst/>
                          <a:latin typeface="+mn-lt"/>
                          <a:ea typeface="+mn-ea"/>
                          <a:cs typeface="+mn-cs"/>
                        </a:rPr>
                        <a:t>My AS Number</a:t>
                      </a:r>
                      <a:endParaRPr kumimoji="0" lang="zh-CN" altLang="en-US" sz="1400" b="1"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ECF9FA"/>
                    </a:solidFill>
                  </a:tcPr>
                </a:tc>
                <a:tc hMerge="1">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itchFamily="2" charset="2"/>
                        <a:buNone/>
                        <a:tabLst/>
                      </a:pPr>
                      <a:endParaRPr kumimoji="0" lang="zh-CN" altLang="en-US" sz="1400" b="1"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ECF9FA"/>
                    </a:solidFill>
                  </a:tcPr>
                </a:tc>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itchFamily="2" charset="2"/>
                        <a:buNone/>
                        <a:tabLst/>
                      </a:pPr>
                      <a:endParaRPr kumimoji="0" lang="zh-CN" altLang="en-US" sz="1400" b="1"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r>
              <a:tr h="248032">
                <a:tc gridSpan="2">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itchFamily="2" charset="2"/>
                        <a:buNone/>
                        <a:tabLst/>
                      </a:pPr>
                      <a:r>
                        <a:rPr kumimoji="0" lang="en-US" altLang="zh-CN" sz="1400" b="0" i="0" u="none" strike="noStrike" kern="1200" cap="none" normalizeH="0" baseline="0" dirty="0" smtClean="0">
                          <a:ln>
                            <a:noFill/>
                          </a:ln>
                          <a:solidFill>
                            <a:schemeClr val="tx1"/>
                          </a:solidFill>
                          <a:effectLst/>
                          <a:latin typeface="+mn-lt"/>
                          <a:ea typeface="+mn-ea"/>
                          <a:cs typeface="+mn-cs"/>
                        </a:rPr>
                        <a:t>Hold Time</a:t>
                      </a:r>
                      <a:endParaRPr kumimoji="0" lang="zh-CN" altLang="en-US"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noFill/>
                  </a:tcPr>
                </a:tc>
                <a:tc hMerge="1">
                  <a:txBody>
                    <a:bodyPr/>
                    <a:lstStyle/>
                    <a:p>
                      <a:endParaRPr lang="zh-CN" altLang="en-US"/>
                    </a:p>
                  </a:txBody>
                  <a:tcPr/>
                </a:tc>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itchFamily="2" charset="2"/>
                        <a:buNone/>
                        <a:tabLst/>
                        <a:defRPr/>
                      </a:pPr>
                      <a:endParaRPr kumimoji="0" lang="zh-CN" altLang="en-US" sz="1400" b="0" i="0" u="none" strike="noStrike" kern="1200" cap="none" normalizeH="0" baseline="0" dirty="0" smtClean="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noFill/>
                  </a:tcPr>
                </a:tc>
              </a:tr>
              <a:tr h="317678">
                <a:tc gridSpan="3">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itchFamily="2" charset="2"/>
                        <a:buNone/>
                        <a:tabLst/>
                      </a:pPr>
                      <a:r>
                        <a:rPr kumimoji="0" lang="en-US" altLang="zh-CN" sz="1400" b="0" i="0" u="none" strike="noStrike" kern="1200" cap="none" normalizeH="0" baseline="0" dirty="0" smtClean="0">
                          <a:ln>
                            <a:noFill/>
                          </a:ln>
                          <a:solidFill>
                            <a:schemeClr val="tx1"/>
                          </a:solidFill>
                          <a:effectLst/>
                          <a:latin typeface="+mn-lt"/>
                          <a:ea typeface="+mn-ea"/>
                          <a:cs typeface="+mn-cs"/>
                        </a:rPr>
                        <a:t>BGP Identifier</a:t>
                      </a:r>
                      <a:endParaRPr kumimoji="0" lang="zh-CN" altLang="en-US"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hMerge="1">
                  <a:txBody>
                    <a:bodyPr/>
                    <a:lstStyle/>
                    <a:p>
                      <a:endParaRPr lang="zh-CN" altLang="en-US"/>
                    </a:p>
                  </a:txBody>
                  <a:tcPr/>
                </a:tc>
                <a:tc hMerge="1">
                  <a:txBody>
                    <a:bodyPr/>
                    <a:lstStyle/>
                    <a:p>
                      <a:endParaRPr lang="zh-CN" altLang="en-US"/>
                    </a:p>
                  </a:txBody>
                  <a:tcPr/>
                </a:tc>
              </a:tr>
              <a:tr h="317678">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itchFamily="2" charset="2"/>
                        <a:buNone/>
                        <a:tabLst/>
                      </a:pPr>
                      <a:r>
                        <a:rPr kumimoji="0" lang="en-US" altLang="zh-CN" sz="1400" b="0" i="0" u="none" strike="noStrike" kern="1200" cap="none" normalizeH="0" baseline="0" dirty="0" smtClean="0">
                          <a:ln>
                            <a:noFill/>
                          </a:ln>
                          <a:solidFill>
                            <a:schemeClr val="tx1"/>
                          </a:solidFill>
                          <a:effectLst/>
                          <a:latin typeface="+mn-lt"/>
                          <a:ea typeface="+mn-ea"/>
                          <a:cs typeface="+mn-cs"/>
                        </a:rPr>
                        <a:t>Length</a:t>
                      </a:r>
                      <a:endParaRPr kumimoji="0" lang="zh-CN" altLang="en-US"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gridSpan="2">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itchFamily="2" charset="2"/>
                        <a:buNone/>
                        <a:tabLst/>
                      </a:pPr>
                      <a:endParaRPr kumimoji="0" lang="zh-CN" altLang="en-US"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hMerge="1">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itchFamily="2" charset="2"/>
                        <a:buNone/>
                        <a:tabLst/>
                      </a:pPr>
                      <a:endParaRPr kumimoji="0" lang="zh-CN" altLang="en-US"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r>
              <a:tr h="576000">
                <a:tc gridSpan="3">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itchFamily="2" charset="2"/>
                        <a:buNone/>
                        <a:tabLst/>
                      </a:pPr>
                      <a:r>
                        <a:rPr kumimoji="0" lang="en-US" altLang="zh-CN" sz="1400" b="1" i="0" u="none" strike="noStrike" kern="1200" cap="none" normalizeH="0" baseline="0" dirty="0" smtClean="0">
                          <a:ln>
                            <a:noFill/>
                          </a:ln>
                          <a:solidFill>
                            <a:schemeClr val="tx1"/>
                          </a:solidFill>
                          <a:effectLst/>
                          <a:latin typeface="+mn-lt"/>
                          <a:ea typeface="+mn-ea"/>
                          <a:cs typeface="+mn-cs"/>
                        </a:rPr>
                        <a:t>Optional parameters</a:t>
                      </a:r>
                      <a:endParaRPr kumimoji="0" lang="zh-CN" altLang="en-US" sz="1400" b="1"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ECF9FA"/>
                    </a:solidFill>
                  </a:tcPr>
                </a:tc>
                <a:tc hMerge="1">
                  <a:txBody>
                    <a:bodyPr/>
                    <a:lstStyle/>
                    <a:p>
                      <a:endParaRPr lang="zh-CN" altLang="en-US"/>
                    </a:p>
                  </a:txBody>
                  <a:tcPr/>
                </a:tc>
                <a:tc hMerge="1">
                  <a:txBody>
                    <a:bodyPr/>
                    <a:lstStyle/>
                    <a:p>
                      <a:endParaRPr lang="zh-CN" altLang="en-US"/>
                    </a:p>
                  </a:txBody>
                  <a:tcPr/>
                </a:tc>
              </a:tr>
            </a:tbl>
          </a:graphicData>
        </a:graphic>
      </p:graphicFrame>
      <p:sp>
        <p:nvSpPr>
          <p:cNvPr id="12" name="TextBox 120">
            <a:extLst>
              <a:ext uri="{FF2B5EF4-FFF2-40B4-BE49-F238E27FC236}">
                <a16:creationId xmlns="" xmlns:a16="http://schemas.microsoft.com/office/drawing/2014/main" id="{020D7A1D-EFAD-4C8C-B9DE-D0FAD269B77A}"/>
              </a:ext>
            </a:extLst>
          </p:cNvPr>
          <p:cNvSpPr txBox="1"/>
          <p:nvPr/>
        </p:nvSpPr>
        <p:spPr bwMode="gray">
          <a:xfrm>
            <a:off x="569907" y="3891556"/>
            <a:ext cx="1119092" cy="523220"/>
          </a:xfrm>
          <a:prstGeom prst="rect">
            <a:avLst/>
          </a:prstGeom>
          <a:noFill/>
          <a:ln>
            <a:noFill/>
          </a:ln>
        </p:spPr>
        <p:txBody>
          <a:bodyPr wrap="square" rtlCol="0">
            <a:spAutoFit/>
          </a:bodyPr>
          <a:lstStyle/>
          <a:p>
            <a:pPr algn="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AS_TRANS</a:t>
            </a:r>
          </a:p>
          <a:p>
            <a:pPr algn="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23456</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TextBox 120">
            <a:extLst>
              <a:ext uri="{FF2B5EF4-FFF2-40B4-BE49-F238E27FC236}">
                <a16:creationId xmlns="" xmlns:a16="http://schemas.microsoft.com/office/drawing/2014/main" id="{020D7A1D-EFAD-4C8C-B9DE-D0FAD269B77A}"/>
              </a:ext>
            </a:extLst>
          </p:cNvPr>
          <p:cNvSpPr txBox="1"/>
          <p:nvPr/>
        </p:nvSpPr>
        <p:spPr bwMode="gray">
          <a:xfrm>
            <a:off x="455613" y="5436906"/>
            <a:ext cx="1233386" cy="307777"/>
          </a:xfrm>
          <a:prstGeom prst="rect">
            <a:avLst/>
          </a:prstGeom>
          <a:noFill/>
          <a:ln>
            <a:noFill/>
          </a:ln>
        </p:spPr>
        <p:txBody>
          <a:bodyPr wrap="square" rtlCol="0">
            <a:spAutoFit/>
          </a:bodyPr>
          <a:lstStyle/>
          <a:p>
            <a:pPr algn="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4AS Number</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4" name="直接连接符 13"/>
          <p:cNvCxnSpPr/>
          <p:nvPr/>
        </p:nvCxnSpPr>
        <p:spPr bwMode="gray">
          <a:xfrm>
            <a:off x="1729958" y="4153166"/>
            <a:ext cx="319940" cy="0"/>
          </a:xfrm>
          <a:prstGeom prst="line">
            <a:avLst/>
          </a:prstGeom>
          <a:ln w="19050">
            <a:solidFill>
              <a:schemeClr val="tx1"/>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gray">
          <a:xfrm>
            <a:off x="1729958" y="5590794"/>
            <a:ext cx="319940" cy="0"/>
          </a:xfrm>
          <a:prstGeom prst="line">
            <a:avLst/>
          </a:prstGeom>
          <a:ln w="19050">
            <a:solidFill>
              <a:schemeClr val="tx1"/>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TextBox 120">
            <a:extLst>
              <a:ext uri="{FF2B5EF4-FFF2-40B4-BE49-F238E27FC236}">
                <a16:creationId xmlns="" xmlns:a16="http://schemas.microsoft.com/office/drawing/2014/main" id="{020D7A1D-EFAD-4C8C-B9DE-D0FAD269B77A}"/>
              </a:ext>
            </a:extLst>
          </p:cNvPr>
          <p:cNvSpPr txBox="1"/>
          <p:nvPr/>
        </p:nvSpPr>
        <p:spPr bwMode="gray">
          <a:xfrm>
            <a:off x="2612685" y="1749678"/>
            <a:ext cx="1636614" cy="523220"/>
          </a:xfrm>
          <a:prstGeom prst="rect">
            <a:avLst/>
          </a:prstGeom>
          <a:noFill/>
          <a:ln>
            <a:noFill/>
          </a:ln>
        </p:spPr>
        <p:txBody>
          <a:bodyPr wrap="square" rtlCol="0">
            <a:spAutoFit/>
          </a:bodyPr>
          <a:lstStyle/>
          <a:p>
            <a:pPr algn="ct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交互</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Open</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消息，协商支持</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4AS</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能力。</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占位符 2"/>
          <p:cNvSpPr txBox="1">
            <a:spLocks/>
          </p:cNvSpPr>
          <p:nvPr/>
        </p:nvSpPr>
        <p:spPr bwMode="auto">
          <a:xfrm>
            <a:off x="6097864" y="3457302"/>
            <a:ext cx="5651223" cy="2612571"/>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ctr" latinLnBrk="0" hangingPunct="1">
              <a:lnSpc>
                <a:spcPct val="140000"/>
              </a:lnSpc>
              <a:spcBef>
                <a:spcPts val="792"/>
              </a:spcBef>
              <a:buClrTx/>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altLang="zh-CN" sz="1600" dirty="0" smtClean="0"/>
              <a:t>BGP</a:t>
            </a:r>
            <a:r>
              <a:rPr lang="zh-CN" altLang="en-US" sz="1600" dirty="0" smtClean="0"/>
              <a:t>的</a:t>
            </a:r>
            <a:r>
              <a:rPr lang="en-US" altLang="zh-CN" sz="1600" dirty="0" smtClean="0"/>
              <a:t>Open</a:t>
            </a:r>
            <a:r>
              <a:rPr lang="zh-CN" altLang="en-US" sz="1600" dirty="0" smtClean="0"/>
              <a:t>消息头是固定的，其中</a:t>
            </a:r>
            <a:r>
              <a:rPr lang="en-US" altLang="zh-CN" sz="1600" dirty="0" smtClean="0"/>
              <a:t>My AS Number</a:t>
            </a:r>
            <a:r>
              <a:rPr lang="zh-CN" altLang="en-US" sz="1600" dirty="0" smtClean="0"/>
              <a:t>字段填写的是本地</a:t>
            </a:r>
            <a:r>
              <a:rPr lang="en-US" altLang="zh-CN" sz="1600" dirty="0" smtClean="0"/>
              <a:t>AS</a:t>
            </a:r>
            <a:r>
              <a:rPr lang="zh-CN" altLang="en-US" sz="1600" dirty="0" smtClean="0"/>
              <a:t>号，但是</a:t>
            </a:r>
            <a:r>
              <a:rPr lang="en-US" altLang="zh-CN" sz="1600" dirty="0" smtClean="0"/>
              <a:t>My AS Number</a:t>
            </a:r>
            <a:r>
              <a:rPr lang="zh-CN" altLang="en-US" sz="1600" dirty="0" smtClean="0"/>
              <a:t>字段只占有两个字节，无法填充</a:t>
            </a:r>
            <a:r>
              <a:rPr lang="en-US" altLang="zh-CN" sz="1600" dirty="0" smtClean="0"/>
              <a:t>4</a:t>
            </a:r>
            <a:r>
              <a:rPr lang="zh-CN" altLang="en-US" sz="1600" dirty="0" smtClean="0"/>
              <a:t>字节的</a:t>
            </a:r>
            <a:r>
              <a:rPr lang="en-US" altLang="zh-CN" sz="1600" dirty="0" smtClean="0"/>
              <a:t>AS</a:t>
            </a:r>
            <a:r>
              <a:rPr lang="zh-CN" altLang="en-US" sz="1600" dirty="0" smtClean="0"/>
              <a:t>号。</a:t>
            </a:r>
            <a:endParaRPr lang="en-US" altLang="zh-CN" sz="1600" dirty="0" smtClean="0"/>
          </a:p>
          <a:p>
            <a:r>
              <a:rPr lang="zh-CN" altLang="en-US" sz="1600" dirty="0" smtClean="0"/>
              <a:t>因此</a:t>
            </a:r>
            <a:r>
              <a:rPr lang="en-US" altLang="zh-CN" sz="1600" dirty="0" smtClean="0"/>
              <a:t>New Speaker</a:t>
            </a:r>
            <a:r>
              <a:rPr lang="zh-CN" altLang="en-US" sz="1600" dirty="0" smtClean="0"/>
              <a:t>在发送</a:t>
            </a:r>
            <a:r>
              <a:rPr lang="en-US" altLang="zh-CN" sz="1600" dirty="0" smtClean="0"/>
              <a:t>Open</a:t>
            </a:r>
            <a:r>
              <a:rPr lang="zh-CN" altLang="en-US" sz="1600" dirty="0" smtClean="0"/>
              <a:t>消息时，将</a:t>
            </a:r>
            <a:r>
              <a:rPr lang="en-US" altLang="zh-CN" sz="1600" dirty="0" smtClean="0"/>
              <a:t>AS_TRANS</a:t>
            </a:r>
            <a:r>
              <a:rPr lang="zh-CN" altLang="en-US" sz="1600" dirty="0" smtClean="0"/>
              <a:t>号</a:t>
            </a:r>
            <a:r>
              <a:rPr lang="en-US" altLang="zh-CN" sz="1600" dirty="0" smtClean="0"/>
              <a:t>23456</a:t>
            </a:r>
            <a:r>
              <a:rPr lang="zh-CN" altLang="en-US" sz="1600" dirty="0" smtClean="0"/>
              <a:t>填充到</a:t>
            </a:r>
            <a:r>
              <a:rPr lang="en-US" altLang="zh-CN" sz="1600" dirty="0" smtClean="0"/>
              <a:t>My AS Number</a:t>
            </a:r>
            <a:r>
              <a:rPr lang="zh-CN" altLang="en-US" sz="1600" dirty="0" smtClean="0"/>
              <a:t>字段，而将自己实际的</a:t>
            </a:r>
            <a:r>
              <a:rPr lang="en-US" altLang="zh-CN" sz="1600" dirty="0" smtClean="0"/>
              <a:t>4AS Number</a:t>
            </a:r>
            <a:r>
              <a:rPr lang="zh-CN" altLang="en-US" sz="1600" dirty="0" smtClean="0"/>
              <a:t>填写在可选能力字段，这样邻居间就能通过</a:t>
            </a:r>
            <a:r>
              <a:rPr lang="en-US" altLang="zh-CN" sz="1600" dirty="0" smtClean="0"/>
              <a:t>Open</a:t>
            </a:r>
            <a:r>
              <a:rPr lang="zh-CN" altLang="en-US" sz="1600" dirty="0" smtClean="0"/>
              <a:t>消息的可选能力字段获知对方是否支持</a:t>
            </a:r>
            <a:r>
              <a:rPr lang="en-US" altLang="zh-CN" sz="1600" dirty="0" smtClean="0"/>
              <a:t>4</a:t>
            </a:r>
            <a:r>
              <a:rPr lang="zh-CN" altLang="en-US" sz="1600" dirty="0" smtClean="0"/>
              <a:t>字节</a:t>
            </a:r>
            <a:r>
              <a:rPr lang="en-US" altLang="zh-CN" sz="1600" dirty="0" smtClean="0"/>
              <a:t>AS</a:t>
            </a:r>
            <a:r>
              <a:rPr lang="zh-CN" altLang="en-US" sz="1600" dirty="0" smtClean="0"/>
              <a:t>能力。</a:t>
            </a:r>
            <a:endParaRPr lang="zh-CN" altLang="en-US" sz="1600" dirty="0"/>
          </a:p>
        </p:txBody>
      </p:sp>
      <p:sp>
        <p:nvSpPr>
          <p:cNvPr id="23" name="TextBox 120">
            <a:extLst>
              <a:ext uri="{FF2B5EF4-FFF2-40B4-BE49-F238E27FC236}">
                <a16:creationId xmlns="" xmlns:a16="http://schemas.microsoft.com/office/drawing/2014/main" id="{020D7A1D-EFAD-4C8C-B9DE-D0FAD269B77A}"/>
              </a:ext>
            </a:extLst>
          </p:cNvPr>
          <p:cNvSpPr txBox="1"/>
          <p:nvPr/>
        </p:nvSpPr>
        <p:spPr bwMode="gray">
          <a:xfrm>
            <a:off x="802830" y="1775318"/>
            <a:ext cx="1039586"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65001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TextBox 120">
            <a:extLst>
              <a:ext uri="{FF2B5EF4-FFF2-40B4-BE49-F238E27FC236}">
                <a16:creationId xmlns="" xmlns:a16="http://schemas.microsoft.com/office/drawing/2014/main" id="{020D7A1D-EFAD-4C8C-B9DE-D0FAD269B77A}"/>
              </a:ext>
            </a:extLst>
          </p:cNvPr>
          <p:cNvSpPr txBox="1"/>
          <p:nvPr/>
        </p:nvSpPr>
        <p:spPr bwMode="gray">
          <a:xfrm>
            <a:off x="4851789" y="1775318"/>
            <a:ext cx="1067656"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五边形 24"/>
          <p:cNvSpPr/>
          <p:nvPr/>
        </p:nvSpPr>
        <p:spPr bwMode="gray">
          <a:xfrm>
            <a:off x="8421350" y="99742"/>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ORF</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燕尾形 25"/>
          <p:cNvSpPr/>
          <p:nvPr/>
        </p:nvSpPr>
        <p:spPr bwMode="gray">
          <a:xfrm>
            <a:off x="9061791" y="99742"/>
            <a:ext cx="93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对等体组</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燕尾形 26"/>
          <p:cNvSpPr/>
          <p:nvPr/>
        </p:nvSpPr>
        <p:spPr bwMode="gray">
          <a:xfrm>
            <a:off x="9918233" y="99742"/>
            <a:ext cx="93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安全特性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燕尾形 27"/>
          <p:cNvSpPr/>
          <p:nvPr/>
        </p:nvSpPr>
        <p:spPr bwMode="gray">
          <a:xfrm>
            <a:off x="10774674" y="99742"/>
            <a:ext cx="972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字节</a:t>
            </a: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AS</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号</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42117699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a:t>
            </a:r>
            <a:r>
              <a:rPr lang="zh-CN" altLang="en-US" dirty="0" smtClean="0"/>
              <a:t>字节</a:t>
            </a:r>
            <a:r>
              <a:rPr lang="en-US" altLang="zh-CN" dirty="0" smtClean="0"/>
              <a:t>AS</a:t>
            </a:r>
            <a:r>
              <a:rPr lang="zh-CN" altLang="en-US" dirty="0" smtClean="0"/>
              <a:t>号的基本原理</a:t>
            </a:r>
            <a:endParaRPr lang="zh-CN" altLang="en-US" dirty="0"/>
          </a:p>
        </p:txBody>
      </p:sp>
      <p:sp>
        <p:nvSpPr>
          <p:cNvPr id="3" name="文本占位符 2"/>
          <p:cNvSpPr>
            <a:spLocks noGrp="1"/>
          </p:cNvSpPr>
          <p:nvPr>
            <p:ph type="body" sz="quarter" idx="10"/>
          </p:nvPr>
        </p:nvSpPr>
        <p:spPr>
          <a:xfrm>
            <a:off x="455612" y="1047750"/>
            <a:ext cx="11293475" cy="1035468"/>
          </a:xfrm>
        </p:spPr>
        <p:txBody>
          <a:bodyPr/>
          <a:lstStyle/>
          <a:p>
            <a:r>
              <a:rPr lang="zh-CN" altLang="en-US" sz="1800" dirty="0" smtClean="0"/>
              <a:t>如</a:t>
            </a:r>
            <a:r>
              <a:rPr lang="zh-CN" altLang="en-US" sz="1800" dirty="0"/>
              <a:t>图是</a:t>
            </a:r>
            <a:r>
              <a:rPr lang="en-US" altLang="zh-CN" sz="1800" dirty="0"/>
              <a:t>New Speaker</a:t>
            </a:r>
            <a:r>
              <a:rPr lang="zh-CN" altLang="en-US" sz="1800" dirty="0"/>
              <a:t>与</a:t>
            </a:r>
            <a:r>
              <a:rPr lang="en-US" altLang="zh-CN" sz="1800" dirty="0"/>
              <a:t>New Speaker</a:t>
            </a:r>
            <a:r>
              <a:rPr lang="zh-CN" altLang="en-US" sz="1800" dirty="0"/>
              <a:t>之间、</a:t>
            </a:r>
            <a:r>
              <a:rPr lang="en-US" altLang="zh-CN" sz="1800" dirty="0"/>
              <a:t>New Speaker</a:t>
            </a:r>
            <a:r>
              <a:rPr lang="zh-CN" altLang="en-US" sz="1800" dirty="0"/>
              <a:t>与</a:t>
            </a:r>
            <a:r>
              <a:rPr lang="en-US" altLang="zh-CN" sz="1800" dirty="0"/>
              <a:t>Old Speaker</a:t>
            </a:r>
            <a:r>
              <a:rPr lang="zh-CN" altLang="en-US" sz="1800" dirty="0"/>
              <a:t>之间的邻居</a:t>
            </a:r>
            <a:r>
              <a:rPr lang="zh-CN" altLang="en-US" sz="1800" dirty="0" smtClean="0"/>
              <a:t>建立和路由信息传递过程。</a:t>
            </a:r>
            <a:endParaRPr lang="en-US" altLang="zh-CN" sz="1800" dirty="0"/>
          </a:p>
        </p:txBody>
      </p:sp>
      <p:pic>
        <p:nvPicPr>
          <p:cNvPr id="6" name="图片 5"/>
          <p:cNvPicPr>
            <a:picLocks/>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5826000" y="1980546"/>
            <a:ext cx="540000" cy="442800"/>
          </a:xfrm>
          <a:prstGeom prst="rect">
            <a:avLst/>
          </a:prstGeom>
        </p:spPr>
      </p:pic>
      <p:cxnSp>
        <p:nvCxnSpPr>
          <p:cNvPr id="7" name="直接连接符 6"/>
          <p:cNvCxnSpPr>
            <a:stCxn id="8" idx="3"/>
            <a:endCxn id="6" idx="1"/>
          </p:cNvCxnSpPr>
          <p:nvPr/>
        </p:nvCxnSpPr>
        <p:spPr bwMode="gray">
          <a:xfrm>
            <a:off x="4144371" y="2201946"/>
            <a:ext cx="168162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604371" y="1980546"/>
            <a:ext cx="540000" cy="442800"/>
          </a:xfrm>
          <a:prstGeom prst="rect">
            <a:avLst/>
          </a:prstGeom>
        </p:spPr>
      </p:pic>
      <p:cxnSp>
        <p:nvCxnSpPr>
          <p:cNvPr id="9" name="直接连接符 8"/>
          <p:cNvCxnSpPr/>
          <p:nvPr/>
        </p:nvCxnSpPr>
        <p:spPr bwMode="gray">
          <a:xfrm>
            <a:off x="3986910" y="3025528"/>
            <a:ext cx="1982773" cy="1"/>
          </a:xfrm>
          <a:prstGeom prst="line">
            <a:avLst/>
          </a:prstGeom>
          <a:ln w="12700">
            <a:solidFill>
              <a:schemeClr val="bg1">
                <a:lumMod val="50000"/>
              </a:schemeClr>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TextBox 120">
            <a:extLst>
              <a:ext uri="{FF2B5EF4-FFF2-40B4-BE49-F238E27FC236}">
                <a16:creationId xmlns="" xmlns:a16="http://schemas.microsoft.com/office/drawing/2014/main" id="{020D7A1D-EFAD-4C8C-B9DE-D0FAD269B77A}"/>
              </a:ext>
            </a:extLst>
          </p:cNvPr>
          <p:cNvSpPr txBox="1"/>
          <p:nvPr/>
        </p:nvSpPr>
        <p:spPr bwMode="gray">
          <a:xfrm>
            <a:off x="3278675" y="2387820"/>
            <a:ext cx="1191389"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Old Speaker</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TextBox 120">
            <a:extLst>
              <a:ext uri="{FF2B5EF4-FFF2-40B4-BE49-F238E27FC236}">
                <a16:creationId xmlns="" xmlns:a16="http://schemas.microsoft.com/office/drawing/2014/main" id="{020D7A1D-EFAD-4C8C-B9DE-D0FAD269B77A}"/>
              </a:ext>
            </a:extLst>
          </p:cNvPr>
          <p:cNvSpPr txBox="1"/>
          <p:nvPr/>
        </p:nvSpPr>
        <p:spPr bwMode="gray">
          <a:xfrm>
            <a:off x="5414537" y="2390976"/>
            <a:ext cx="1342218"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New Speaker</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TextBox 120">
            <a:extLst>
              <a:ext uri="{FF2B5EF4-FFF2-40B4-BE49-F238E27FC236}">
                <a16:creationId xmlns="" xmlns:a16="http://schemas.microsoft.com/office/drawing/2014/main" id="{020D7A1D-EFAD-4C8C-B9DE-D0FAD269B77A}"/>
              </a:ext>
            </a:extLst>
          </p:cNvPr>
          <p:cNvSpPr txBox="1"/>
          <p:nvPr/>
        </p:nvSpPr>
        <p:spPr bwMode="gray">
          <a:xfrm>
            <a:off x="3359240" y="1677857"/>
            <a:ext cx="990834"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65001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TextBox 120">
            <a:extLst>
              <a:ext uri="{FF2B5EF4-FFF2-40B4-BE49-F238E27FC236}">
                <a16:creationId xmlns="" xmlns:a16="http://schemas.microsoft.com/office/drawing/2014/main" id="{020D7A1D-EFAD-4C8C-B9DE-D0FAD269B77A}"/>
              </a:ext>
            </a:extLst>
          </p:cNvPr>
          <p:cNvSpPr txBox="1"/>
          <p:nvPr/>
        </p:nvSpPr>
        <p:spPr bwMode="gray">
          <a:xfrm>
            <a:off x="5556985" y="1677857"/>
            <a:ext cx="1067656"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8" name="图片 17"/>
          <p:cNvPicPr>
            <a:picLocks/>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8047630" y="1980546"/>
            <a:ext cx="540000" cy="442800"/>
          </a:xfrm>
          <a:prstGeom prst="rect">
            <a:avLst/>
          </a:prstGeom>
        </p:spPr>
      </p:pic>
      <p:sp>
        <p:nvSpPr>
          <p:cNvPr id="19" name="TextBox 120">
            <a:extLst>
              <a:ext uri="{FF2B5EF4-FFF2-40B4-BE49-F238E27FC236}">
                <a16:creationId xmlns="" xmlns:a16="http://schemas.microsoft.com/office/drawing/2014/main" id="{020D7A1D-EFAD-4C8C-B9DE-D0FAD269B77A}"/>
              </a:ext>
            </a:extLst>
          </p:cNvPr>
          <p:cNvSpPr txBox="1"/>
          <p:nvPr/>
        </p:nvSpPr>
        <p:spPr bwMode="gray">
          <a:xfrm>
            <a:off x="7639475" y="2391378"/>
            <a:ext cx="1342218"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New Speaker</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TextBox 120">
            <a:extLst>
              <a:ext uri="{FF2B5EF4-FFF2-40B4-BE49-F238E27FC236}">
                <a16:creationId xmlns="" xmlns:a16="http://schemas.microsoft.com/office/drawing/2014/main" id="{020D7A1D-EFAD-4C8C-B9DE-D0FAD269B77A}"/>
              </a:ext>
            </a:extLst>
          </p:cNvPr>
          <p:cNvSpPr txBox="1"/>
          <p:nvPr/>
        </p:nvSpPr>
        <p:spPr bwMode="gray">
          <a:xfrm>
            <a:off x="7781943" y="1677857"/>
            <a:ext cx="1067656"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2.2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1" name="直接连接符 20"/>
          <p:cNvCxnSpPr>
            <a:stCxn id="6" idx="3"/>
            <a:endCxn id="18" idx="1"/>
          </p:cNvCxnSpPr>
          <p:nvPr/>
        </p:nvCxnSpPr>
        <p:spPr bwMode="gray">
          <a:xfrm>
            <a:off x="6366000" y="2201946"/>
            <a:ext cx="168163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bwMode="gray">
          <a:xfrm>
            <a:off x="3860270" y="2692791"/>
            <a:ext cx="0" cy="234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bwMode="gray">
          <a:xfrm>
            <a:off x="6090813" y="2692791"/>
            <a:ext cx="0" cy="234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bwMode="gray">
          <a:xfrm>
            <a:off x="8310584" y="2692791"/>
            <a:ext cx="0" cy="234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bwMode="gray">
          <a:xfrm>
            <a:off x="6215428" y="3025528"/>
            <a:ext cx="1982773" cy="1"/>
          </a:xfrm>
          <a:prstGeom prst="line">
            <a:avLst/>
          </a:prstGeom>
          <a:ln w="12700">
            <a:solidFill>
              <a:schemeClr val="bg1">
                <a:lumMod val="50000"/>
              </a:schemeClr>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bwMode="gray">
          <a:xfrm>
            <a:off x="3981401" y="3381220"/>
            <a:ext cx="1982773" cy="1"/>
          </a:xfrm>
          <a:prstGeom prst="line">
            <a:avLst/>
          </a:prstGeom>
          <a:ln w="12700">
            <a:solidFill>
              <a:schemeClr val="bg1">
                <a:lumMod val="50000"/>
              </a:schemeClr>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bwMode="gray">
          <a:xfrm>
            <a:off x="6211259" y="3383754"/>
            <a:ext cx="1982773" cy="1"/>
          </a:xfrm>
          <a:prstGeom prst="line">
            <a:avLst/>
          </a:prstGeom>
          <a:ln w="12700">
            <a:solidFill>
              <a:schemeClr val="bg1">
                <a:lumMod val="50000"/>
              </a:schemeClr>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bwMode="gray">
          <a:xfrm>
            <a:off x="3981401" y="3736911"/>
            <a:ext cx="1982773" cy="1"/>
          </a:xfrm>
          <a:prstGeom prst="line">
            <a:avLst/>
          </a:prstGeom>
          <a:ln w="19050">
            <a:solidFill>
              <a:schemeClr val="tx1"/>
            </a:solidFill>
            <a:prstDash val="solid"/>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bwMode="gray">
          <a:xfrm>
            <a:off x="6215428" y="3736911"/>
            <a:ext cx="1982773" cy="1"/>
          </a:xfrm>
          <a:prstGeom prst="line">
            <a:avLst/>
          </a:prstGeom>
          <a:ln w="19050">
            <a:solidFill>
              <a:schemeClr val="tx1"/>
            </a:solidFill>
            <a:prstDash val="solid"/>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9" name="TextBox 120">
            <a:extLst>
              <a:ext uri="{FF2B5EF4-FFF2-40B4-BE49-F238E27FC236}">
                <a16:creationId xmlns="" xmlns:a16="http://schemas.microsoft.com/office/drawing/2014/main" id="{020D7A1D-EFAD-4C8C-B9DE-D0FAD269B77A}"/>
              </a:ext>
            </a:extLst>
          </p:cNvPr>
          <p:cNvSpPr txBox="1"/>
          <p:nvPr/>
        </p:nvSpPr>
        <p:spPr bwMode="gray">
          <a:xfrm>
            <a:off x="4299047" y="2748530"/>
            <a:ext cx="1342218" cy="276999"/>
          </a:xfrm>
          <a:prstGeom prst="rect">
            <a:avLst/>
          </a:prstGeom>
          <a:noFill/>
          <a:ln>
            <a:noFill/>
          </a:ln>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我</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支持</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4AS</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能力</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TextBox 120">
            <a:extLst>
              <a:ext uri="{FF2B5EF4-FFF2-40B4-BE49-F238E27FC236}">
                <a16:creationId xmlns="" xmlns:a16="http://schemas.microsoft.com/office/drawing/2014/main" id="{020D7A1D-EFAD-4C8C-B9DE-D0FAD269B77A}"/>
              </a:ext>
            </a:extLst>
          </p:cNvPr>
          <p:cNvSpPr txBox="1"/>
          <p:nvPr/>
        </p:nvSpPr>
        <p:spPr bwMode="gray">
          <a:xfrm>
            <a:off x="6540362" y="2748530"/>
            <a:ext cx="1342218" cy="276999"/>
          </a:xfrm>
          <a:prstGeom prst="rect">
            <a:avLst/>
          </a:prstGeom>
          <a:noFill/>
          <a:ln>
            <a:noFill/>
          </a:ln>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我</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支持</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4AS</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能力</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TextBox 120">
            <a:extLst>
              <a:ext uri="{FF2B5EF4-FFF2-40B4-BE49-F238E27FC236}">
                <a16:creationId xmlns="" xmlns:a16="http://schemas.microsoft.com/office/drawing/2014/main" id="{020D7A1D-EFAD-4C8C-B9DE-D0FAD269B77A}"/>
              </a:ext>
            </a:extLst>
          </p:cNvPr>
          <p:cNvSpPr txBox="1"/>
          <p:nvPr/>
        </p:nvSpPr>
        <p:spPr bwMode="gray">
          <a:xfrm>
            <a:off x="4262319" y="3106027"/>
            <a:ext cx="1437219" cy="276999"/>
          </a:xfrm>
          <a:prstGeom prst="rect">
            <a:avLst/>
          </a:prstGeom>
          <a:noFill/>
          <a:ln>
            <a:noFill/>
          </a:ln>
        </p:spPr>
        <p:txBody>
          <a:bodyPr wrap="square" rtlCol="0">
            <a:spAutoFit/>
          </a:bodyPr>
          <a:lstStyle/>
          <a:p>
            <a:pPr algn="ct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我不支持</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4AS</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能力</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TextBox 120">
            <a:extLst>
              <a:ext uri="{FF2B5EF4-FFF2-40B4-BE49-F238E27FC236}">
                <a16:creationId xmlns="" xmlns:a16="http://schemas.microsoft.com/office/drawing/2014/main" id="{020D7A1D-EFAD-4C8C-B9DE-D0FAD269B77A}"/>
              </a:ext>
            </a:extLst>
          </p:cNvPr>
          <p:cNvSpPr txBox="1"/>
          <p:nvPr/>
        </p:nvSpPr>
        <p:spPr bwMode="gray">
          <a:xfrm>
            <a:off x="6482089" y="3106027"/>
            <a:ext cx="1437219" cy="276999"/>
          </a:xfrm>
          <a:prstGeom prst="rect">
            <a:avLst/>
          </a:prstGeom>
          <a:noFill/>
          <a:ln>
            <a:noFill/>
          </a:ln>
        </p:spPr>
        <p:txBody>
          <a:bodyPr wrap="square" rtlCol="0">
            <a:spAutoFit/>
          </a:bodyPr>
          <a:lstStyle/>
          <a:p>
            <a:pPr algn="ct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我也支持</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4AS</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能力</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TextBox 120">
            <a:extLst>
              <a:ext uri="{FF2B5EF4-FFF2-40B4-BE49-F238E27FC236}">
                <a16:creationId xmlns="" xmlns:a16="http://schemas.microsoft.com/office/drawing/2014/main" id="{020D7A1D-EFAD-4C8C-B9DE-D0FAD269B77A}"/>
              </a:ext>
            </a:extLst>
          </p:cNvPr>
          <p:cNvSpPr txBox="1"/>
          <p:nvPr/>
        </p:nvSpPr>
        <p:spPr bwMode="gray">
          <a:xfrm>
            <a:off x="4299047" y="3465844"/>
            <a:ext cx="1342218" cy="276999"/>
          </a:xfrm>
          <a:prstGeom prst="rect">
            <a:avLst/>
          </a:prstGeom>
          <a:noFill/>
          <a:ln>
            <a:noFill/>
          </a:ln>
        </p:spPr>
        <p:txBody>
          <a:bodyPr wrap="square" rtlCol="0">
            <a:spAutoFit/>
          </a:bodyPr>
          <a:lstStyle/>
          <a:p>
            <a:pPr algn="ctr"/>
            <a:r>
              <a:rPr lang="en-US" altLang="zh-CN" sz="1200" b="1" dirty="0" smtClean="0">
                <a:latin typeface="Huawei Sans" panose="020C0503030203020204" pitchFamily="34" charset="0"/>
                <a:ea typeface="方正兰亭黑简体" panose="02000000000000000000" pitchFamily="2" charset="-122"/>
                <a:sym typeface="Huawei Sans" panose="020C0503030203020204" pitchFamily="34" charset="0"/>
              </a:rPr>
              <a:t>Old Session</a:t>
            </a:r>
            <a:endPar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TextBox 120">
            <a:extLst>
              <a:ext uri="{FF2B5EF4-FFF2-40B4-BE49-F238E27FC236}">
                <a16:creationId xmlns="" xmlns:a16="http://schemas.microsoft.com/office/drawing/2014/main" id="{020D7A1D-EFAD-4C8C-B9DE-D0FAD269B77A}"/>
              </a:ext>
            </a:extLst>
          </p:cNvPr>
          <p:cNvSpPr txBox="1"/>
          <p:nvPr/>
        </p:nvSpPr>
        <p:spPr bwMode="gray">
          <a:xfrm>
            <a:off x="6540362" y="3465844"/>
            <a:ext cx="1342218" cy="276999"/>
          </a:xfrm>
          <a:prstGeom prst="rect">
            <a:avLst/>
          </a:prstGeom>
          <a:noFill/>
          <a:ln>
            <a:noFill/>
          </a:ln>
        </p:spPr>
        <p:txBody>
          <a:bodyPr wrap="square" rtlCol="0">
            <a:spAutoFit/>
          </a:bodyPr>
          <a:lstStyle/>
          <a:p>
            <a:pPr algn="ctr"/>
            <a:r>
              <a:rPr lang="en-US" altLang="zh-CN" sz="1200" b="1" dirty="0" smtClean="0">
                <a:latin typeface="Huawei Sans" panose="020C0503030203020204" pitchFamily="34" charset="0"/>
                <a:ea typeface="方正兰亭黑简体" panose="02000000000000000000" pitchFamily="2" charset="-122"/>
                <a:sym typeface="Huawei Sans" panose="020C0503030203020204" pitchFamily="34" charset="0"/>
              </a:rPr>
              <a:t>New Session</a:t>
            </a:r>
            <a:endPar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5" name="直接连接符 54"/>
          <p:cNvCxnSpPr/>
          <p:nvPr/>
        </p:nvCxnSpPr>
        <p:spPr bwMode="gray">
          <a:xfrm>
            <a:off x="3986910" y="4305692"/>
            <a:ext cx="1982773" cy="1"/>
          </a:xfrm>
          <a:prstGeom prst="line">
            <a:avLst/>
          </a:prstGeom>
          <a:ln w="12700">
            <a:solidFill>
              <a:schemeClr val="bg1">
                <a:lumMod val="50000"/>
              </a:schemeClr>
            </a:solidFill>
            <a:prstDash val="dashDot"/>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bwMode="gray">
          <a:xfrm>
            <a:off x="6215428" y="4305692"/>
            <a:ext cx="1982773" cy="1"/>
          </a:xfrm>
          <a:prstGeom prst="line">
            <a:avLst/>
          </a:prstGeom>
          <a:ln w="12700">
            <a:solidFill>
              <a:schemeClr val="bg1">
                <a:lumMod val="50000"/>
              </a:schemeClr>
            </a:solidFill>
            <a:prstDash val="dash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7" name="TextBox 120">
            <a:extLst>
              <a:ext uri="{FF2B5EF4-FFF2-40B4-BE49-F238E27FC236}">
                <a16:creationId xmlns="" xmlns:a16="http://schemas.microsoft.com/office/drawing/2014/main" id="{020D7A1D-EFAD-4C8C-B9DE-D0FAD269B77A}"/>
              </a:ext>
            </a:extLst>
          </p:cNvPr>
          <p:cNvSpPr txBox="1"/>
          <p:nvPr/>
        </p:nvSpPr>
        <p:spPr bwMode="gray">
          <a:xfrm>
            <a:off x="4214819" y="3895333"/>
            <a:ext cx="1526953" cy="461665"/>
          </a:xfrm>
          <a:prstGeom prst="rect">
            <a:avLst/>
          </a:prstGeom>
          <a:noFill/>
          <a:ln>
            <a:noFill/>
          </a:ln>
        </p:spPr>
        <p:txBody>
          <a:bodyPr wrap="square" rtlCol="0">
            <a:spAutoFit/>
          </a:bodyPr>
          <a:lstStyle/>
          <a:p>
            <a:pPr algn="ct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携带</a:t>
            </a:r>
            <a:r>
              <a:rPr lang="en-US" altLang="zh-CN" sz="1200" dirty="0" err="1" smtClean="0">
                <a:latin typeface="Huawei Sans" panose="020C0503030203020204" pitchFamily="34" charset="0"/>
                <a:ea typeface="方正兰亭黑简体" panose="02000000000000000000" pitchFamily="2" charset="-122"/>
                <a:sym typeface="Huawei Sans" panose="020C0503030203020204" pitchFamily="34" charset="0"/>
              </a:rPr>
              <a:t>AS_Path</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200" b="1" dirty="0" smtClean="0">
                <a:latin typeface="Huawei Sans" panose="020C0503030203020204" pitchFamily="34" charset="0"/>
                <a:ea typeface="方正兰亭黑简体" panose="02000000000000000000" pitchFamily="2" charset="-122"/>
                <a:sym typeface="Huawei Sans" panose="020C0503030203020204" pitchFamily="34" charset="0"/>
              </a:rPr>
              <a:t>AS4_Path</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的路由</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TextBox 120">
            <a:extLst>
              <a:ext uri="{FF2B5EF4-FFF2-40B4-BE49-F238E27FC236}">
                <a16:creationId xmlns="" xmlns:a16="http://schemas.microsoft.com/office/drawing/2014/main" id="{020D7A1D-EFAD-4C8C-B9DE-D0FAD269B77A}"/>
              </a:ext>
            </a:extLst>
          </p:cNvPr>
          <p:cNvSpPr txBox="1"/>
          <p:nvPr/>
        </p:nvSpPr>
        <p:spPr bwMode="gray">
          <a:xfrm>
            <a:off x="6445361" y="4028694"/>
            <a:ext cx="1526953" cy="276999"/>
          </a:xfrm>
          <a:prstGeom prst="rect">
            <a:avLst/>
          </a:prstGeom>
          <a:noFill/>
          <a:ln>
            <a:noFill/>
          </a:ln>
        </p:spPr>
        <p:txBody>
          <a:bodyPr wrap="square" rtlCol="0">
            <a:spAutoFit/>
          </a:bodyPr>
          <a:lstStyle/>
          <a:p>
            <a:pPr algn="ct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携带</a:t>
            </a:r>
            <a:r>
              <a:rPr lang="en-US" altLang="zh-CN" sz="1200" dirty="0" err="1" smtClean="0">
                <a:latin typeface="Huawei Sans" panose="020C0503030203020204" pitchFamily="34" charset="0"/>
                <a:ea typeface="方正兰亭黑简体" panose="02000000000000000000" pitchFamily="2" charset="-122"/>
                <a:sym typeface="Huawei Sans" panose="020C0503030203020204" pitchFamily="34" charset="0"/>
              </a:rPr>
              <a:t>AS_Path</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的路由</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0" name="直接连接符 59"/>
          <p:cNvCxnSpPr/>
          <p:nvPr/>
        </p:nvCxnSpPr>
        <p:spPr bwMode="gray">
          <a:xfrm>
            <a:off x="3981401" y="4658849"/>
            <a:ext cx="1982773" cy="1"/>
          </a:xfrm>
          <a:prstGeom prst="line">
            <a:avLst/>
          </a:prstGeom>
          <a:ln w="12700">
            <a:solidFill>
              <a:schemeClr val="bg1">
                <a:lumMod val="50000"/>
              </a:schemeClr>
            </a:solidFill>
            <a:prstDash val="dash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bwMode="gray">
          <a:xfrm>
            <a:off x="6211259" y="4661383"/>
            <a:ext cx="1982773" cy="1"/>
          </a:xfrm>
          <a:prstGeom prst="line">
            <a:avLst/>
          </a:prstGeom>
          <a:ln w="12700">
            <a:solidFill>
              <a:schemeClr val="bg1">
                <a:lumMod val="50000"/>
              </a:schemeClr>
            </a:solidFill>
            <a:prstDash val="dashDot"/>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2" name="TextBox 120">
            <a:extLst>
              <a:ext uri="{FF2B5EF4-FFF2-40B4-BE49-F238E27FC236}">
                <a16:creationId xmlns="" xmlns:a16="http://schemas.microsoft.com/office/drawing/2014/main" id="{020D7A1D-EFAD-4C8C-B9DE-D0FAD269B77A}"/>
              </a:ext>
            </a:extLst>
          </p:cNvPr>
          <p:cNvSpPr txBox="1"/>
          <p:nvPr/>
        </p:nvSpPr>
        <p:spPr bwMode="gray">
          <a:xfrm>
            <a:off x="6445361" y="4381850"/>
            <a:ext cx="1526953" cy="276999"/>
          </a:xfrm>
          <a:prstGeom prst="rect">
            <a:avLst/>
          </a:prstGeom>
          <a:noFill/>
          <a:ln>
            <a:noFill/>
          </a:ln>
        </p:spPr>
        <p:txBody>
          <a:bodyPr wrap="square" rtlCol="0">
            <a:spAutoFit/>
          </a:bodyPr>
          <a:lstStyle/>
          <a:p>
            <a:pPr algn="ct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携带</a:t>
            </a:r>
            <a:r>
              <a:rPr lang="en-US" altLang="zh-CN" sz="1200" dirty="0" err="1" smtClean="0">
                <a:latin typeface="Huawei Sans" panose="020C0503030203020204" pitchFamily="34" charset="0"/>
                <a:ea typeface="方正兰亭黑简体" panose="02000000000000000000" pitchFamily="2" charset="-122"/>
                <a:sym typeface="Huawei Sans" panose="020C0503030203020204" pitchFamily="34" charset="0"/>
              </a:rPr>
              <a:t>AS_Path</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的路由</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TextBox 120">
            <a:extLst>
              <a:ext uri="{FF2B5EF4-FFF2-40B4-BE49-F238E27FC236}">
                <a16:creationId xmlns="" xmlns:a16="http://schemas.microsoft.com/office/drawing/2014/main" id="{020D7A1D-EFAD-4C8C-B9DE-D0FAD269B77A}"/>
              </a:ext>
            </a:extLst>
          </p:cNvPr>
          <p:cNvSpPr txBox="1"/>
          <p:nvPr/>
        </p:nvSpPr>
        <p:spPr bwMode="gray">
          <a:xfrm>
            <a:off x="4225590" y="4381850"/>
            <a:ext cx="1526953" cy="276999"/>
          </a:xfrm>
          <a:prstGeom prst="rect">
            <a:avLst/>
          </a:prstGeom>
          <a:noFill/>
          <a:ln>
            <a:noFill/>
          </a:ln>
        </p:spPr>
        <p:txBody>
          <a:bodyPr wrap="square" rtlCol="0">
            <a:spAutoFit/>
          </a:bodyPr>
          <a:lstStyle/>
          <a:p>
            <a:pPr algn="ct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携带</a:t>
            </a:r>
            <a:r>
              <a:rPr lang="en-US" altLang="zh-CN" sz="1200" dirty="0" err="1" smtClean="0">
                <a:latin typeface="Huawei Sans" panose="020C0503030203020204" pitchFamily="34" charset="0"/>
                <a:ea typeface="方正兰亭黑简体" panose="02000000000000000000" pitchFamily="2" charset="-122"/>
                <a:sym typeface="Huawei Sans" panose="020C0503030203020204" pitchFamily="34" charset="0"/>
              </a:rPr>
              <a:t>AS_Path</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的路由</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右大括号 63"/>
          <p:cNvSpPr/>
          <p:nvPr/>
        </p:nvSpPr>
        <p:spPr>
          <a:xfrm>
            <a:off x="8460740" y="2847195"/>
            <a:ext cx="126890" cy="536560"/>
          </a:xfrm>
          <a:prstGeom prst="rightBrac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5" name="TextBox 120">
            <a:extLst>
              <a:ext uri="{FF2B5EF4-FFF2-40B4-BE49-F238E27FC236}">
                <a16:creationId xmlns="" xmlns:a16="http://schemas.microsoft.com/office/drawing/2014/main" id="{020D7A1D-EFAD-4C8C-B9DE-D0FAD269B77A}"/>
              </a:ext>
            </a:extLst>
          </p:cNvPr>
          <p:cNvSpPr txBox="1"/>
          <p:nvPr/>
        </p:nvSpPr>
        <p:spPr bwMode="gray">
          <a:xfrm>
            <a:off x="8661053" y="2846695"/>
            <a:ext cx="1342218" cy="523220"/>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Open</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消息</a:t>
            </a:r>
            <a:endPar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4AS</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能力协商</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右大括号 65"/>
          <p:cNvSpPr/>
          <p:nvPr/>
        </p:nvSpPr>
        <p:spPr>
          <a:xfrm>
            <a:off x="8460740" y="4095888"/>
            <a:ext cx="126890" cy="536560"/>
          </a:xfrm>
          <a:prstGeom prst="rightBrac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7" name="TextBox 120">
            <a:extLst>
              <a:ext uri="{FF2B5EF4-FFF2-40B4-BE49-F238E27FC236}">
                <a16:creationId xmlns="" xmlns:a16="http://schemas.microsoft.com/office/drawing/2014/main" id="{020D7A1D-EFAD-4C8C-B9DE-D0FAD269B77A}"/>
              </a:ext>
            </a:extLst>
          </p:cNvPr>
          <p:cNvSpPr txBox="1"/>
          <p:nvPr/>
        </p:nvSpPr>
        <p:spPr bwMode="gray">
          <a:xfrm>
            <a:off x="8661053" y="4095388"/>
            <a:ext cx="1342218" cy="523220"/>
          </a:xfrm>
          <a:prstGeom prst="rect">
            <a:avLst/>
          </a:prstGeom>
          <a:noFill/>
          <a:ln>
            <a:noFill/>
          </a:ln>
        </p:spPr>
        <p:txBody>
          <a:bodyPr wrap="squar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Update</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消息</a:t>
            </a:r>
            <a:endPar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路由信息传递</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TextBox 120">
            <a:extLst>
              <a:ext uri="{FF2B5EF4-FFF2-40B4-BE49-F238E27FC236}">
                <a16:creationId xmlns="" xmlns:a16="http://schemas.microsoft.com/office/drawing/2014/main" id="{020D7A1D-EFAD-4C8C-B9DE-D0FAD269B77A}"/>
              </a:ext>
            </a:extLst>
          </p:cNvPr>
          <p:cNvSpPr txBox="1"/>
          <p:nvPr/>
        </p:nvSpPr>
        <p:spPr bwMode="gray">
          <a:xfrm>
            <a:off x="2582992" y="3566114"/>
            <a:ext cx="1342218" cy="307777"/>
          </a:xfrm>
          <a:prstGeom prst="rect">
            <a:avLst/>
          </a:prstGeom>
          <a:noFill/>
          <a:ln>
            <a:noFill/>
          </a:ln>
        </p:spPr>
        <p:txBody>
          <a:bodyPr wrap="square" rtlCol="0">
            <a:spAutoFit/>
          </a:bodyPr>
          <a:lstStyle/>
          <a:p>
            <a:r>
              <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rPr>
              <a:t>邻居关系建立</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文本占位符 2"/>
          <p:cNvSpPr txBox="1">
            <a:spLocks/>
          </p:cNvSpPr>
          <p:nvPr/>
        </p:nvSpPr>
        <p:spPr bwMode="auto">
          <a:xfrm>
            <a:off x="455612" y="5151519"/>
            <a:ext cx="11293475" cy="934257"/>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ctr" latinLnBrk="0" hangingPunct="1">
              <a:lnSpc>
                <a:spcPct val="140000"/>
              </a:lnSpc>
              <a:spcBef>
                <a:spcPts val="792"/>
              </a:spcBef>
              <a:buClrTx/>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800" dirty="0"/>
              <a:t>不同的</a:t>
            </a:r>
            <a:r>
              <a:rPr lang="en-US" altLang="zh-CN" sz="1800" dirty="0"/>
              <a:t>BGP Speaker</a:t>
            </a:r>
            <a:r>
              <a:rPr lang="zh-CN" altLang="en-US" sz="1800" dirty="0"/>
              <a:t>之间通过</a:t>
            </a:r>
            <a:r>
              <a:rPr lang="en-US" altLang="zh-CN" sz="1800" dirty="0"/>
              <a:t>Open</a:t>
            </a:r>
            <a:r>
              <a:rPr lang="zh-CN" altLang="en-US" sz="1800" dirty="0"/>
              <a:t>消息向对端通告是否支持</a:t>
            </a:r>
            <a:r>
              <a:rPr lang="en-US" altLang="zh-CN" sz="1800" dirty="0"/>
              <a:t>4AS</a:t>
            </a:r>
            <a:r>
              <a:rPr lang="zh-CN" altLang="en-US" sz="1800" dirty="0"/>
              <a:t>能力，能力协商完成后，</a:t>
            </a:r>
            <a:r>
              <a:rPr lang="en-US" altLang="zh-CN" sz="1800" dirty="0"/>
              <a:t>New Speaker</a:t>
            </a:r>
            <a:r>
              <a:rPr lang="zh-CN" altLang="en-US" sz="1800" dirty="0"/>
              <a:t>之间建立</a:t>
            </a:r>
            <a:r>
              <a:rPr lang="en-US" altLang="zh-CN" sz="1800" dirty="0"/>
              <a:t>New Session</a:t>
            </a:r>
            <a:r>
              <a:rPr lang="zh-CN" altLang="en-US" sz="1800" dirty="0"/>
              <a:t>，</a:t>
            </a:r>
            <a:r>
              <a:rPr lang="en-US" altLang="zh-CN" sz="1800" dirty="0"/>
              <a:t>New Speaker</a:t>
            </a:r>
            <a:r>
              <a:rPr lang="zh-CN" altLang="en-US" sz="1800" dirty="0"/>
              <a:t>和</a:t>
            </a:r>
            <a:r>
              <a:rPr lang="en-US" altLang="zh-CN" sz="1800" dirty="0"/>
              <a:t>Old Speaker</a:t>
            </a:r>
            <a:r>
              <a:rPr lang="zh-CN" altLang="en-US" sz="1800" dirty="0"/>
              <a:t>之间建立</a:t>
            </a:r>
            <a:r>
              <a:rPr lang="en-US" altLang="zh-CN" sz="1800" dirty="0"/>
              <a:t>Old Session</a:t>
            </a:r>
            <a:r>
              <a:rPr lang="zh-CN" altLang="en-US" sz="1800" dirty="0"/>
              <a:t>。</a:t>
            </a:r>
            <a:endParaRPr lang="en-US" altLang="zh-CN" sz="1800" dirty="0"/>
          </a:p>
        </p:txBody>
      </p:sp>
      <p:sp>
        <p:nvSpPr>
          <p:cNvPr id="58" name="五边形 57"/>
          <p:cNvSpPr/>
          <p:nvPr/>
        </p:nvSpPr>
        <p:spPr bwMode="gray">
          <a:xfrm>
            <a:off x="8421350" y="99742"/>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ORF</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燕尾形 67"/>
          <p:cNvSpPr/>
          <p:nvPr/>
        </p:nvSpPr>
        <p:spPr bwMode="gray">
          <a:xfrm>
            <a:off x="9061791" y="99742"/>
            <a:ext cx="93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对等体组</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燕尾形 69"/>
          <p:cNvSpPr/>
          <p:nvPr/>
        </p:nvSpPr>
        <p:spPr bwMode="gray">
          <a:xfrm>
            <a:off x="9918233" y="99742"/>
            <a:ext cx="93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安全特性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燕尾形 70"/>
          <p:cNvSpPr/>
          <p:nvPr/>
        </p:nvSpPr>
        <p:spPr bwMode="gray">
          <a:xfrm>
            <a:off x="10774674" y="99742"/>
            <a:ext cx="972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字节</a:t>
            </a: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AS</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号</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45472207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a:t>
            </a:r>
            <a:r>
              <a:rPr lang="zh-CN" altLang="en-US" dirty="0" smtClean="0"/>
              <a:t>字节</a:t>
            </a:r>
            <a:r>
              <a:rPr lang="en-US" altLang="zh-CN" dirty="0" smtClean="0"/>
              <a:t>AS</a:t>
            </a:r>
            <a:r>
              <a:rPr lang="zh-CN" altLang="en-US" dirty="0" smtClean="0"/>
              <a:t>号的路由信息传递</a:t>
            </a:r>
            <a:endParaRPr lang="zh-CN" altLang="en-US" dirty="0"/>
          </a:p>
        </p:txBody>
      </p:sp>
      <p:sp>
        <p:nvSpPr>
          <p:cNvPr id="3" name="文本占位符 2"/>
          <p:cNvSpPr>
            <a:spLocks noGrp="1"/>
          </p:cNvSpPr>
          <p:nvPr>
            <p:ph type="body" sz="quarter" idx="10"/>
          </p:nvPr>
        </p:nvSpPr>
        <p:spPr>
          <a:xfrm>
            <a:off x="455612" y="1047751"/>
            <a:ext cx="11293475" cy="932796"/>
          </a:xfrm>
        </p:spPr>
        <p:txBody>
          <a:bodyPr/>
          <a:lstStyle/>
          <a:p>
            <a:r>
              <a:rPr lang="zh-CN" altLang="en-US" sz="1800" dirty="0"/>
              <a:t>在</a:t>
            </a:r>
            <a:r>
              <a:rPr lang="en-US" altLang="zh-CN" sz="1800" dirty="0"/>
              <a:t>New Speaker</a:t>
            </a:r>
            <a:r>
              <a:rPr lang="zh-CN" altLang="en-US" sz="1800" dirty="0"/>
              <a:t>之间的</a:t>
            </a:r>
            <a:r>
              <a:rPr lang="en-US" altLang="zh-CN" sz="1800" dirty="0"/>
              <a:t>Update</a:t>
            </a:r>
            <a:r>
              <a:rPr lang="zh-CN" altLang="en-US" sz="1800" dirty="0"/>
              <a:t>消息中，</a:t>
            </a:r>
            <a:r>
              <a:rPr lang="en-US" altLang="zh-CN" sz="1800" dirty="0" err="1"/>
              <a:t>AS_Path</a:t>
            </a:r>
            <a:r>
              <a:rPr lang="zh-CN" altLang="en-US" sz="1800" dirty="0" smtClean="0"/>
              <a:t>属性里</a:t>
            </a:r>
            <a:r>
              <a:rPr lang="zh-CN" altLang="en-US" sz="1800" dirty="0"/>
              <a:t>的</a:t>
            </a:r>
            <a:r>
              <a:rPr lang="en-US" altLang="zh-CN" sz="1800" dirty="0"/>
              <a:t>AS</a:t>
            </a:r>
            <a:r>
              <a:rPr lang="zh-CN" altLang="en-US" sz="1800" dirty="0"/>
              <a:t>号按照</a:t>
            </a:r>
            <a:r>
              <a:rPr lang="en-US" altLang="zh-CN" sz="1800" dirty="0"/>
              <a:t>4</a:t>
            </a:r>
            <a:r>
              <a:rPr lang="zh-CN" altLang="en-US" sz="1800" dirty="0"/>
              <a:t>字节进行</a:t>
            </a:r>
            <a:r>
              <a:rPr lang="zh-CN" altLang="en-US" sz="1800" dirty="0" smtClean="0"/>
              <a:t>编码</a:t>
            </a:r>
            <a:r>
              <a:rPr lang="zh-CN" altLang="en-US" sz="1800" dirty="0"/>
              <a:t>，</a:t>
            </a:r>
            <a:r>
              <a:rPr lang="zh-CN" altLang="en-US" sz="1800" dirty="0" smtClean="0"/>
              <a:t>而</a:t>
            </a:r>
            <a:r>
              <a:rPr lang="en-US" altLang="zh-CN" sz="1800" dirty="0" smtClean="0"/>
              <a:t>Old </a:t>
            </a:r>
            <a:r>
              <a:rPr lang="en-US" altLang="zh-CN" sz="1800" dirty="0"/>
              <a:t>Speaker</a:t>
            </a:r>
            <a:r>
              <a:rPr lang="zh-CN" altLang="en-US" sz="1800" dirty="0"/>
              <a:t>的</a:t>
            </a:r>
            <a:r>
              <a:rPr lang="en-US" altLang="zh-CN" sz="1800" dirty="0"/>
              <a:t>Update</a:t>
            </a:r>
            <a:r>
              <a:rPr lang="zh-CN" altLang="en-US" sz="1800" dirty="0"/>
              <a:t>消息中</a:t>
            </a:r>
            <a:r>
              <a:rPr lang="en-US" altLang="zh-CN" sz="1800" dirty="0" err="1"/>
              <a:t>AS_Path</a:t>
            </a:r>
            <a:r>
              <a:rPr lang="zh-CN" altLang="en-US" sz="1800" dirty="0" smtClean="0"/>
              <a:t>属性的</a:t>
            </a:r>
            <a:r>
              <a:rPr lang="en-US" altLang="zh-CN" sz="1800" dirty="0"/>
              <a:t>AS</a:t>
            </a:r>
            <a:r>
              <a:rPr lang="zh-CN" altLang="en-US" sz="1800" dirty="0" smtClean="0"/>
              <a:t>号是</a:t>
            </a:r>
            <a:r>
              <a:rPr lang="zh-CN" altLang="en-US" sz="1800" dirty="0"/>
              <a:t>按照</a:t>
            </a:r>
            <a:r>
              <a:rPr lang="en-US" altLang="zh-CN" sz="1800" dirty="0"/>
              <a:t>2</a:t>
            </a:r>
            <a:r>
              <a:rPr lang="zh-CN" altLang="en-US" sz="1800" dirty="0"/>
              <a:t>字节</a:t>
            </a:r>
            <a:r>
              <a:rPr lang="zh-CN" altLang="en-US" sz="1800" dirty="0" smtClean="0"/>
              <a:t>编码的。</a:t>
            </a:r>
            <a:endParaRPr lang="en-US" altLang="zh-CN" sz="1800" dirty="0"/>
          </a:p>
        </p:txBody>
      </p:sp>
      <p:pic>
        <p:nvPicPr>
          <p:cNvPr id="6" name="图片 5"/>
          <p:cNvPicPr>
            <a:picLocks/>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4154410" y="2584148"/>
            <a:ext cx="540000" cy="442800"/>
          </a:xfrm>
          <a:prstGeom prst="rect">
            <a:avLst/>
          </a:prstGeom>
        </p:spPr>
      </p:pic>
      <p:cxnSp>
        <p:nvCxnSpPr>
          <p:cNvPr id="7" name="直接连接符 6"/>
          <p:cNvCxnSpPr>
            <a:stCxn id="8" idx="3"/>
            <a:endCxn id="6" idx="1"/>
          </p:cNvCxnSpPr>
          <p:nvPr/>
        </p:nvCxnSpPr>
        <p:spPr bwMode="gray">
          <a:xfrm>
            <a:off x="2866324" y="2805548"/>
            <a:ext cx="128808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326324" y="2584148"/>
            <a:ext cx="540000" cy="442800"/>
          </a:xfrm>
          <a:prstGeom prst="rect">
            <a:avLst/>
          </a:prstGeom>
        </p:spPr>
      </p:pic>
      <p:sp>
        <p:nvSpPr>
          <p:cNvPr id="10" name="TextBox 120">
            <a:extLst>
              <a:ext uri="{FF2B5EF4-FFF2-40B4-BE49-F238E27FC236}">
                <a16:creationId xmlns="" xmlns:a16="http://schemas.microsoft.com/office/drawing/2014/main" id="{020D7A1D-EFAD-4C8C-B9DE-D0FAD269B77A}"/>
              </a:ext>
            </a:extLst>
          </p:cNvPr>
          <p:cNvSpPr txBox="1"/>
          <p:nvPr/>
        </p:nvSpPr>
        <p:spPr bwMode="gray">
          <a:xfrm>
            <a:off x="2000628" y="2991422"/>
            <a:ext cx="1191389"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Old Speaker</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TextBox 120">
            <a:extLst>
              <a:ext uri="{FF2B5EF4-FFF2-40B4-BE49-F238E27FC236}">
                <a16:creationId xmlns="" xmlns:a16="http://schemas.microsoft.com/office/drawing/2014/main" id="{020D7A1D-EFAD-4C8C-B9DE-D0FAD269B77A}"/>
              </a:ext>
            </a:extLst>
          </p:cNvPr>
          <p:cNvSpPr txBox="1"/>
          <p:nvPr/>
        </p:nvSpPr>
        <p:spPr bwMode="gray">
          <a:xfrm>
            <a:off x="3756958" y="2994578"/>
            <a:ext cx="1342218"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New Speaker</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TextBox 120">
            <a:extLst>
              <a:ext uri="{FF2B5EF4-FFF2-40B4-BE49-F238E27FC236}">
                <a16:creationId xmlns="" xmlns:a16="http://schemas.microsoft.com/office/drawing/2014/main" id="{020D7A1D-EFAD-4C8C-B9DE-D0FAD269B77A}"/>
              </a:ext>
            </a:extLst>
          </p:cNvPr>
          <p:cNvSpPr txBox="1"/>
          <p:nvPr/>
        </p:nvSpPr>
        <p:spPr bwMode="gray">
          <a:xfrm>
            <a:off x="2081193" y="2281459"/>
            <a:ext cx="990834"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65001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TextBox 120">
            <a:extLst>
              <a:ext uri="{FF2B5EF4-FFF2-40B4-BE49-F238E27FC236}">
                <a16:creationId xmlns="" xmlns:a16="http://schemas.microsoft.com/office/drawing/2014/main" id="{020D7A1D-EFAD-4C8C-B9DE-D0FAD269B77A}"/>
              </a:ext>
            </a:extLst>
          </p:cNvPr>
          <p:cNvSpPr txBox="1"/>
          <p:nvPr/>
        </p:nvSpPr>
        <p:spPr bwMode="gray">
          <a:xfrm>
            <a:off x="3892443" y="2281459"/>
            <a:ext cx="1067656"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8" name="图片 17"/>
          <p:cNvPicPr>
            <a:picLocks/>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5970963" y="2584148"/>
            <a:ext cx="540000" cy="442800"/>
          </a:xfrm>
          <a:prstGeom prst="rect">
            <a:avLst/>
          </a:prstGeom>
        </p:spPr>
      </p:pic>
      <p:sp>
        <p:nvSpPr>
          <p:cNvPr id="19" name="TextBox 120">
            <a:extLst>
              <a:ext uri="{FF2B5EF4-FFF2-40B4-BE49-F238E27FC236}">
                <a16:creationId xmlns="" xmlns:a16="http://schemas.microsoft.com/office/drawing/2014/main" id="{020D7A1D-EFAD-4C8C-B9DE-D0FAD269B77A}"/>
              </a:ext>
            </a:extLst>
          </p:cNvPr>
          <p:cNvSpPr txBox="1"/>
          <p:nvPr/>
        </p:nvSpPr>
        <p:spPr bwMode="gray">
          <a:xfrm>
            <a:off x="5569854" y="2994980"/>
            <a:ext cx="1342218"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New Speaker</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TextBox 120">
            <a:extLst>
              <a:ext uri="{FF2B5EF4-FFF2-40B4-BE49-F238E27FC236}">
                <a16:creationId xmlns="" xmlns:a16="http://schemas.microsoft.com/office/drawing/2014/main" id="{020D7A1D-EFAD-4C8C-B9DE-D0FAD269B77A}"/>
              </a:ext>
            </a:extLst>
          </p:cNvPr>
          <p:cNvSpPr txBox="1"/>
          <p:nvPr/>
        </p:nvSpPr>
        <p:spPr bwMode="gray">
          <a:xfrm>
            <a:off x="5707135" y="2281459"/>
            <a:ext cx="1067656"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2.2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1" name="直接连接符 20"/>
          <p:cNvCxnSpPr>
            <a:stCxn id="6" idx="3"/>
            <a:endCxn id="18" idx="1"/>
          </p:cNvCxnSpPr>
          <p:nvPr/>
        </p:nvCxnSpPr>
        <p:spPr bwMode="gray">
          <a:xfrm>
            <a:off x="4694410" y="2805548"/>
            <a:ext cx="127655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8" name="图片 5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810581" y="2584148"/>
            <a:ext cx="540000" cy="442800"/>
          </a:xfrm>
          <a:prstGeom prst="rect">
            <a:avLst/>
          </a:prstGeom>
        </p:spPr>
      </p:pic>
      <p:sp>
        <p:nvSpPr>
          <p:cNvPr id="68" name="TextBox 120">
            <a:extLst>
              <a:ext uri="{FF2B5EF4-FFF2-40B4-BE49-F238E27FC236}">
                <a16:creationId xmlns="" xmlns:a16="http://schemas.microsoft.com/office/drawing/2014/main" id="{020D7A1D-EFAD-4C8C-B9DE-D0FAD269B77A}"/>
              </a:ext>
            </a:extLst>
          </p:cNvPr>
          <p:cNvSpPr txBox="1"/>
          <p:nvPr/>
        </p:nvSpPr>
        <p:spPr bwMode="gray">
          <a:xfrm>
            <a:off x="7409472" y="2994980"/>
            <a:ext cx="1342218"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Old Speaker</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TextBox 120">
            <a:extLst>
              <a:ext uri="{FF2B5EF4-FFF2-40B4-BE49-F238E27FC236}">
                <a16:creationId xmlns="" xmlns:a16="http://schemas.microsoft.com/office/drawing/2014/main" id="{020D7A1D-EFAD-4C8C-B9DE-D0FAD269B77A}"/>
              </a:ext>
            </a:extLst>
          </p:cNvPr>
          <p:cNvSpPr txBox="1"/>
          <p:nvPr/>
        </p:nvSpPr>
        <p:spPr bwMode="gray">
          <a:xfrm>
            <a:off x="7546753" y="2281459"/>
            <a:ext cx="1067656"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65002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1" name="直接连接符 70"/>
          <p:cNvCxnSpPr>
            <a:stCxn id="18" idx="3"/>
            <a:endCxn id="58" idx="1"/>
          </p:cNvCxnSpPr>
          <p:nvPr/>
        </p:nvCxnSpPr>
        <p:spPr bwMode="gray">
          <a:xfrm>
            <a:off x="6510963" y="2805548"/>
            <a:ext cx="12996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72" name="图片 71"/>
          <p:cNvPicPr>
            <a:picLocks/>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9638666" y="2584148"/>
            <a:ext cx="540000" cy="442800"/>
          </a:xfrm>
          <a:prstGeom prst="rect">
            <a:avLst/>
          </a:prstGeom>
        </p:spPr>
      </p:pic>
      <p:sp>
        <p:nvSpPr>
          <p:cNvPr id="73" name="TextBox 120">
            <a:extLst>
              <a:ext uri="{FF2B5EF4-FFF2-40B4-BE49-F238E27FC236}">
                <a16:creationId xmlns="" xmlns:a16="http://schemas.microsoft.com/office/drawing/2014/main" id="{020D7A1D-EFAD-4C8C-B9DE-D0FAD269B77A}"/>
              </a:ext>
            </a:extLst>
          </p:cNvPr>
          <p:cNvSpPr txBox="1"/>
          <p:nvPr/>
        </p:nvSpPr>
        <p:spPr bwMode="gray">
          <a:xfrm>
            <a:off x="9230511" y="2994980"/>
            <a:ext cx="1342218"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New Speaker</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TextBox 120">
            <a:extLst>
              <a:ext uri="{FF2B5EF4-FFF2-40B4-BE49-F238E27FC236}">
                <a16:creationId xmlns="" xmlns:a16="http://schemas.microsoft.com/office/drawing/2014/main" id="{020D7A1D-EFAD-4C8C-B9DE-D0FAD269B77A}"/>
              </a:ext>
            </a:extLst>
          </p:cNvPr>
          <p:cNvSpPr txBox="1"/>
          <p:nvPr/>
        </p:nvSpPr>
        <p:spPr bwMode="gray">
          <a:xfrm>
            <a:off x="9372979" y="2281459"/>
            <a:ext cx="1067656"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65003</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5" name="直接连接符 74"/>
          <p:cNvCxnSpPr>
            <a:stCxn id="58" idx="3"/>
            <a:endCxn id="72" idx="1"/>
          </p:cNvCxnSpPr>
          <p:nvPr/>
        </p:nvCxnSpPr>
        <p:spPr bwMode="gray">
          <a:xfrm>
            <a:off x="8350581" y="2805548"/>
            <a:ext cx="12880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6" name="TextBox 120">
            <a:extLst>
              <a:ext uri="{FF2B5EF4-FFF2-40B4-BE49-F238E27FC236}">
                <a16:creationId xmlns="" xmlns:a16="http://schemas.microsoft.com/office/drawing/2014/main" id="{020D7A1D-EFAD-4C8C-B9DE-D0FAD269B77A}"/>
              </a:ext>
            </a:extLst>
          </p:cNvPr>
          <p:cNvSpPr txBox="1"/>
          <p:nvPr/>
        </p:nvSpPr>
        <p:spPr bwMode="gray">
          <a:xfrm>
            <a:off x="922260" y="3542568"/>
            <a:ext cx="1191389" cy="307777"/>
          </a:xfrm>
          <a:prstGeom prst="rect">
            <a:avLst/>
          </a:prstGeom>
          <a:noFill/>
          <a:ln>
            <a:noFill/>
          </a:ln>
        </p:spPr>
        <p:txBody>
          <a:bodyPr wrap="square" rtlCol="0">
            <a:spAutoFit/>
          </a:bodyPr>
          <a:lstStyle/>
          <a:p>
            <a:r>
              <a:rPr lang="en-US" altLang="zh-CN" sz="1400" b="1" dirty="0" err="1" smtClean="0">
                <a:latin typeface="Huawei Sans" panose="020C0503030203020204" pitchFamily="34" charset="0"/>
                <a:ea typeface="方正兰亭黑简体" panose="02000000000000000000" pitchFamily="2" charset="-122"/>
                <a:sym typeface="Huawei Sans" panose="020C0503030203020204" pitchFamily="34" charset="0"/>
              </a:rPr>
              <a:t>AS_Path</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TextBox 120">
            <a:extLst>
              <a:ext uri="{FF2B5EF4-FFF2-40B4-BE49-F238E27FC236}">
                <a16:creationId xmlns="" xmlns:a16="http://schemas.microsoft.com/office/drawing/2014/main" id="{020D7A1D-EFAD-4C8C-B9DE-D0FAD269B77A}"/>
              </a:ext>
            </a:extLst>
          </p:cNvPr>
          <p:cNvSpPr txBox="1"/>
          <p:nvPr/>
        </p:nvSpPr>
        <p:spPr bwMode="gray">
          <a:xfrm>
            <a:off x="3828715" y="3542568"/>
            <a:ext cx="1191389" cy="307777"/>
          </a:xfrm>
          <a:prstGeom prst="rect">
            <a:avLst/>
          </a:prstGeom>
          <a:noFill/>
          <a:ln>
            <a:noFill/>
          </a:ln>
        </p:spPr>
        <p:txBody>
          <a:bodyPr wrap="square" rtlCol="0">
            <a:spAutoFit/>
          </a:bodyPr>
          <a:lstStyle/>
          <a:p>
            <a:pPr algn="ct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65001</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TextBox 120">
            <a:extLst>
              <a:ext uri="{FF2B5EF4-FFF2-40B4-BE49-F238E27FC236}">
                <a16:creationId xmlns="" xmlns:a16="http://schemas.microsoft.com/office/drawing/2014/main" id="{020D7A1D-EFAD-4C8C-B9DE-D0FAD269B77A}"/>
              </a:ext>
            </a:extLst>
          </p:cNvPr>
          <p:cNvSpPr txBox="1"/>
          <p:nvPr/>
        </p:nvSpPr>
        <p:spPr bwMode="gray">
          <a:xfrm>
            <a:off x="5471893" y="3542568"/>
            <a:ext cx="1538141" cy="307777"/>
          </a:xfrm>
          <a:prstGeom prst="rect">
            <a:avLst/>
          </a:prstGeom>
          <a:noFill/>
          <a:ln>
            <a:noFill/>
          </a:ln>
        </p:spPr>
        <p:txBody>
          <a:bodyPr wrap="square" rtlCol="0">
            <a:spAutoFit/>
          </a:bodyPr>
          <a:lstStyle/>
          <a:p>
            <a:pPr algn="ct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1.1</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65001</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TextBox 120">
            <a:extLst>
              <a:ext uri="{FF2B5EF4-FFF2-40B4-BE49-F238E27FC236}">
                <a16:creationId xmlns="" xmlns:a16="http://schemas.microsoft.com/office/drawing/2014/main" id="{020D7A1D-EFAD-4C8C-B9DE-D0FAD269B77A}"/>
              </a:ext>
            </a:extLst>
          </p:cNvPr>
          <p:cNvSpPr txBox="1"/>
          <p:nvPr/>
        </p:nvSpPr>
        <p:spPr bwMode="gray">
          <a:xfrm>
            <a:off x="7097801" y="3434846"/>
            <a:ext cx="1965559" cy="523220"/>
          </a:xfrm>
          <a:prstGeom prst="rect">
            <a:avLst/>
          </a:prstGeom>
          <a:noFill/>
          <a:ln>
            <a:noFill/>
          </a:ln>
        </p:spPr>
        <p:txBody>
          <a:bodyPr wrap="square" rtlCol="0">
            <a:spAutoFit/>
          </a:bodyPr>
          <a:lstStyle/>
          <a:p>
            <a:pPr algn="ct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23456</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23456</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65001</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TextBox 120">
            <a:extLst>
              <a:ext uri="{FF2B5EF4-FFF2-40B4-BE49-F238E27FC236}">
                <a16:creationId xmlns="" xmlns:a16="http://schemas.microsoft.com/office/drawing/2014/main" id="{020D7A1D-EFAD-4C8C-B9DE-D0FAD269B77A}"/>
              </a:ext>
            </a:extLst>
          </p:cNvPr>
          <p:cNvSpPr txBox="1"/>
          <p:nvPr/>
        </p:nvSpPr>
        <p:spPr bwMode="gray">
          <a:xfrm>
            <a:off x="9087731" y="3434846"/>
            <a:ext cx="1646843" cy="523220"/>
          </a:xfrm>
          <a:prstGeom prst="rect">
            <a:avLst/>
          </a:prstGeom>
          <a:noFill/>
          <a:ln>
            <a:noFill/>
          </a:ln>
        </p:spPr>
        <p:txBody>
          <a:bodyPr wrap="square" rtlCol="0">
            <a:spAutoFit/>
          </a:bodyPr>
          <a:lstStyle/>
          <a:p>
            <a:pPr algn="ct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65002</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2.2</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1.1</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65001</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1" name="直接连接符 80"/>
          <p:cNvCxnSpPr/>
          <p:nvPr/>
        </p:nvCxnSpPr>
        <p:spPr bwMode="gray">
          <a:xfrm>
            <a:off x="2589977" y="4277965"/>
            <a:ext cx="0" cy="144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bwMode="gray">
          <a:xfrm>
            <a:off x="4420009" y="4277965"/>
            <a:ext cx="0" cy="144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bwMode="gray">
          <a:xfrm>
            <a:off x="2738816" y="4726252"/>
            <a:ext cx="1608694" cy="1806"/>
          </a:xfrm>
          <a:prstGeom prst="line">
            <a:avLst/>
          </a:prstGeom>
          <a:ln w="12700">
            <a:solidFill>
              <a:schemeClr val="bg1">
                <a:lumMod val="50000"/>
              </a:schemeClr>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5" name="TextBox 120">
            <a:extLst>
              <a:ext uri="{FF2B5EF4-FFF2-40B4-BE49-F238E27FC236}">
                <a16:creationId xmlns="" xmlns:a16="http://schemas.microsoft.com/office/drawing/2014/main" id="{020D7A1D-EFAD-4C8C-B9DE-D0FAD269B77A}"/>
              </a:ext>
            </a:extLst>
          </p:cNvPr>
          <p:cNvSpPr txBox="1"/>
          <p:nvPr/>
        </p:nvSpPr>
        <p:spPr bwMode="gray">
          <a:xfrm>
            <a:off x="2914672" y="4424421"/>
            <a:ext cx="1191389" cy="307777"/>
          </a:xfrm>
          <a:prstGeom prst="rect">
            <a:avLst/>
          </a:prstGeom>
          <a:noFill/>
          <a:ln>
            <a:noFill/>
          </a:ln>
        </p:spPr>
        <p:txBody>
          <a:bodyPr wrap="square" rtlCol="0">
            <a:spAutoFit/>
          </a:bodyPr>
          <a:lstStyle/>
          <a:p>
            <a:pPr algn="ct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65001</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1" name="直接连接符 90"/>
          <p:cNvCxnSpPr/>
          <p:nvPr/>
        </p:nvCxnSpPr>
        <p:spPr bwMode="gray">
          <a:xfrm>
            <a:off x="6240964" y="4277965"/>
            <a:ext cx="0" cy="144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bwMode="gray">
          <a:xfrm>
            <a:off x="4559771" y="4726252"/>
            <a:ext cx="1608694" cy="1806"/>
          </a:xfrm>
          <a:prstGeom prst="line">
            <a:avLst/>
          </a:prstGeom>
          <a:ln w="12700">
            <a:solidFill>
              <a:schemeClr val="bg1">
                <a:lumMod val="50000"/>
              </a:schemeClr>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bwMode="gray">
          <a:xfrm>
            <a:off x="8061919" y="4277965"/>
            <a:ext cx="0" cy="144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bwMode="gray">
          <a:xfrm>
            <a:off x="6380726" y="4726252"/>
            <a:ext cx="1608694" cy="1806"/>
          </a:xfrm>
          <a:prstGeom prst="line">
            <a:avLst/>
          </a:prstGeom>
          <a:ln w="12700">
            <a:solidFill>
              <a:schemeClr val="bg1">
                <a:lumMod val="50000"/>
              </a:schemeClr>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bwMode="gray">
          <a:xfrm>
            <a:off x="9914581" y="4277965"/>
            <a:ext cx="0" cy="144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bwMode="gray">
          <a:xfrm>
            <a:off x="8233388" y="4726252"/>
            <a:ext cx="1608694" cy="1806"/>
          </a:xfrm>
          <a:prstGeom prst="line">
            <a:avLst/>
          </a:prstGeom>
          <a:ln w="12700">
            <a:solidFill>
              <a:schemeClr val="bg1">
                <a:lumMod val="50000"/>
              </a:schemeClr>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7" name="TextBox 120">
            <a:extLst>
              <a:ext uri="{FF2B5EF4-FFF2-40B4-BE49-F238E27FC236}">
                <a16:creationId xmlns="" xmlns:a16="http://schemas.microsoft.com/office/drawing/2014/main" id="{020D7A1D-EFAD-4C8C-B9DE-D0FAD269B77A}"/>
              </a:ext>
            </a:extLst>
          </p:cNvPr>
          <p:cNvSpPr txBox="1"/>
          <p:nvPr/>
        </p:nvSpPr>
        <p:spPr bwMode="gray">
          <a:xfrm>
            <a:off x="4595047" y="4424421"/>
            <a:ext cx="1538141" cy="307777"/>
          </a:xfrm>
          <a:prstGeom prst="rect">
            <a:avLst/>
          </a:prstGeom>
          <a:noFill/>
          <a:ln>
            <a:noFill/>
          </a:ln>
        </p:spPr>
        <p:txBody>
          <a:bodyPr wrap="square" rtlCol="0">
            <a:spAutoFit/>
          </a:bodyPr>
          <a:lstStyle/>
          <a:p>
            <a:pPr algn="ct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1.1</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65001</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TextBox 120">
            <a:extLst>
              <a:ext uri="{FF2B5EF4-FFF2-40B4-BE49-F238E27FC236}">
                <a16:creationId xmlns="" xmlns:a16="http://schemas.microsoft.com/office/drawing/2014/main" id="{020D7A1D-EFAD-4C8C-B9DE-D0FAD269B77A}"/>
              </a:ext>
            </a:extLst>
          </p:cNvPr>
          <p:cNvSpPr txBox="1"/>
          <p:nvPr/>
        </p:nvSpPr>
        <p:spPr bwMode="gray">
          <a:xfrm>
            <a:off x="6168465" y="4208978"/>
            <a:ext cx="1965559" cy="523220"/>
          </a:xfrm>
          <a:prstGeom prst="rect">
            <a:avLst/>
          </a:prstGeom>
          <a:noFill/>
          <a:ln>
            <a:noFill/>
          </a:ln>
        </p:spPr>
        <p:txBody>
          <a:bodyPr wrap="square" rtlCol="0">
            <a:spAutoFit/>
          </a:bodyPr>
          <a:lstStyle/>
          <a:p>
            <a:pPr algn="ct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23456</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23456</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65001</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TextBox 120">
            <a:extLst>
              <a:ext uri="{FF2B5EF4-FFF2-40B4-BE49-F238E27FC236}">
                <a16:creationId xmlns="" xmlns:a16="http://schemas.microsoft.com/office/drawing/2014/main" id="{020D7A1D-EFAD-4C8C-B9DE-D0FAD269B77A}"/>
              </a:ext>
            </a:extLst>
          </p:cNvPr>
          <p:cNvSpPr txBox="1"/>
          <p:nvPr/>
        </p:nvSpPr>
        <p:spPr bwMode="gray">
          <a:xfrm>
            <a:off x="8141964" y="4208978"/>
            <a:ext cx="1646843" cy="523220"/>
          </a:xfrm>
          <a:prstGeom prst="rect">
            <a:avLst/>
          </a:prstGeom>
          <a:noFill/>
          <a:ln>
            <a:noFill/>
          </a:ln>
        </p:spPr>
        <p:txBody>
          <a:bodyPr wrap="square" rtlCol="0">
            <a:spAutoFit/>
          </a:bodyPr>
          <a:lstStyle/>
          <a:p>
            <a:pPr algn="ct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65002</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23456</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23456</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65001</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0" name="直接连接符 99"/>
          <p:cNvCxnSpPr/>
          <p:nvPr/>
        </p:nvCxnSpPr>
        <p:spPr bwMode="gray">
          <a:xfrm>
            <a:off x="6380726" y="5494327"/>
            <a:ext cx="1608694" cy="1806"/>
          </a:xfrm>
          <a:prstGeom prst="line">
            <a:avLst/>
          </a:prstGeom>
          <a:ln w="12700">
            <a:solidFill>
              <a:schemeClr val="bg1">
                <a:lumMod val="50000"/>
              </a:schemeClr>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bwMode="gray">
          <a:xfrm>
            <a:off x="8233388" y="5494327"/>
            <a:ext cx="1608694" cy="1806"/>
          </a:xfrm>
          <a:prstGeom prst="line">
            <a:avLst/>
          </a:prstGeom>
          <a:ln w="12700">
            <a:solidFill>
              <a:schemeClr val="bg1">
                <a:lumMod val="50000"/>
              </a:schemeClr>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2" name="TextBox 120">
            <a:extLst>
              <a:ext uri="{FF2B5EF4-FFF2-40B4-BE49-F238E27FC236}">
                <a16:creationId xmlns="" xmlns:a16="http://schemas.microsoft.com/office/drawing/2014/main" id="{020D7A1D-EFAD-4C8C-B9DE-D0FAD269B77A}"/>
              </a:ext>
            </a:extLst>
          </p:cNvPr>
          <p:cNvSpPr txBox="1"/>
          <p:nvPr/>
        </p:nvSpPr>
        <p:spPr bwMode="gray">
          <a:xfrm>
            <a:off x="6289095" y="5170528"/>
            <a:ext cx="1721986" cy="307777"/>
          </a:xfrm>
          <a:prstGeom prst="rect">
            <a:avLst/>
          </a:prstGeom>
          <a:noFill/>
          <a:ln>
            <a:noFill/>
          </a:ln>
        </p:spPr>
        <p:txBody>
          <a:bodyPr wrap="square" rtlCol="0">
            <a:spAutoFit/>
          </a:bodyPr>
          <a:lstStyle/>
          <a:p>
            <a:pPr algn="ct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2.2</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1.1</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65001</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TextBox 120">
            <a:extLst>
              <a:ext uri="{FF2B5EF4-FFF2-40B4-BE49-F238E27FC236}">
                <a16:creationId xmlns="" xmlns:a16="http://schemas.microsoft.com/office/drawing/2014/main" id="{020D7A1D-EFAD-4C8C-B9DE-D0FAD269B77A}"/>
              </a:ext>
            </a:extLst>
          </p:cNvPr>
          <p:cNvSpPr txBox="1"/>
          <p:nvPr/>
        </p:nvSpPr>
        <p:spPr bwMode="gray">
          <a:xfrm>
            <a:off x="8088116" y="5170528"/>
            <a:ext cx="1813014" cy="307777"/>
          </a:xfrm>
          <a:prstGeom prst="rect">
            <a:avLst/>
          </a:prstGeom>
          <a:noFill/>
          <a:ln>
            <a:noFill/>
          </a:ln>
        </p:spPr>
        <p:txBody>
          <a:bodyPr wrap="square" rtlCol="0">
            <a:spAutoFit/>
          </a:bodyPr>
          <a:lstStyle/>
          <a:p>
            <a:pPr algn="ct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2.2</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1.1</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65001</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TextBox 120">
            <a:extLst>
              <a:ext uri="{FF2B5EF4-FFF2-40B4-BE49-F238E27FC236}">
                <a16:creationId xmlns="" xmlns:a16="http://schemas.microsoft.com/office/drawing/2014/main" id="{020D7A1D-EFAD-4C8C-B9DE-D0FAD269B77A}"/>
              </a:ext>
            </a:extLst>
          </p:cNvPr>
          <p:cNvSpPr txBox="1"/>
          <p:nvPr/>
        </p:nvSpPr>
        <p:spPr bwMode="gray">
          <a:xfrm>
            <a:off x="922259" y="4328055"/>
            <a:ext cx="1541943" cy="523220"/>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Update</a:t>
            </a:r>
            <a:r>
              <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rPr>
              <a:t>消息中的</a:t>
            </a:r>
            <a:r>
              <a:rPr lang="en-US" altLang="zh-CN" sz="1400" b="1" dirty="0" err="1" smtClean="0">
                <a:latin typeface="Huawei Sans" panose="020C0503030203020204" pitchFamily="34" charset="0"/>
                <a:ea typeface="方正兰亭黑简体" panose="02000000000000000000" pitchFamily="2" charset="-122"/>
                <a:sym typeface="Huawei Sans" panose="020C0503030203020204" pitchFamily="34" charset="0"/>
              </a:rPr>
              <a:t>AS_Path</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TextBox 120">
            <a:extLst>
              <a:ext uri="{FF2B5EF4-FFF2-40B4-BE49-F238E27FC236}">
                <a16:creationId xmlns="" xmlns:a16="http://schemas.microsoft.com/office/drawing/2014/main" id="{020D7A1D-EFAD-4C8C-B9DE-D0FAD269B77A}"/>
              </a:ext>
            </a:extLst>
          </p:cNvPr>
          <p:cNvSpPr txBox="1"/>
          <p:nvPr/>
        </p:nvSpPr>
        <p:spPr bwMode="gray">
          <a:xfrm>
            <a:off x="922260" y="5090831"/>
            <a:ext cx="1527956" cy="523220"/>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Update</a:t>
            </a:r>
            <a:r>
              <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rPr>
              <a:t>消息中的</a:t>
            </a: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AS4_Path</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五边形 46"/>
          <p:cNvSpPr/>
          <p:nvPr/>
        </p:nvSpPr>
        <p:spPr bwMode="gray">
          <a:xfrm>
            <a:off x="8421350" y="99742"/>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ORF</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燕尾形 47"/>
          <p:cNvSpPr/>
          <p:nvPr/>
        </p:nvSpPr>
        <p:spPr bwMode="gray">
          <a:xfrm>
            <a:off x="9061791" y="99742"/>
            <a:ext cx="93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对等体组</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48"/>
          <p:cNvSpPr/>
          <p:nvPr/>
        </p:nvSpPr>
        <p:spPr bwMode="gray">
          <a:xfrm>
            <a:off x="9918233" y="99742"/>
            <a:ext cx="93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安全特性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燕尾形 49"/>
          <p:cNvSpPr/>
          <p:nvPr/>
        </p:nvSpPr>
        <p:spPr bwMode="gray">
          <a:xfrm>
            <a:off x="10774674" y="99742"/>
            <a:ext cx="972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字节</a:t>
            </a: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AS</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号</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49606372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a:t>
            </a:r>
            <a:r>
              <a:rPr lang="zh-CN" altLang="en-US" dirty="0" smtClean="0"/>
              <a:t>字节</a:t>
            </a:r>
            <a:r>
              <a:rPr lang="en-US" altLang="zh-CN" dirty="0" smtClean="0"/>
              <a:t>AS</a:t>
            </a:r>
            <a:r>
              <a:rPr lang="zh-CN" altLang="en-US" dirty="0" smtClean="0"/>
              <a:t>号的配置</a:t>
            </a:r>
            <a:endParaRPr lang="zh-CN" altLang="en-US" dirty="0"/>
          </a:p>
        </p:txBody>
      </p:sp>
      <p:sp>
        <p:nvSpPr>
          <p:cNvPr id="10" name="文本占位符 9"/>
          <p:cNvSpPr>
            <a:spLocks noGrp="1"/>
          </p:cNvSpPr>
          <p:nvPr>
            <p:ph type="body" sz="quarter" idx="10"/>
          </p:nvPr>
        </p:nvSpPr>
        <p:spPr>
          <a:xfrm>
            <a:off x="455613" y="3333877"/>
            <a:ext cx="5640388" cy="1350069"/>
          </a:xfrm>
        </p:spPr>
        <p:txBody>
          <a:bodyPr/>
          <a:lstStyle/>
          <a:p>
            <a:r>
              <a:rPr lang="zh-CN" altLang="en-US" sz="1800" dirty="0" smtClean="0"/>
              <a:t>配置举例：</a:t>
            </a:r>
            <a:endParaRPr lang="en-US" altLang="zh-CN" sz="1800" dirty="0" smtClean="0"/>
          </a:p>
          <a:p>
            <a:pPr lvl="1"/>
            <a:r>
              <a:rPr lang="en-US" altLang="zh-CN" sz="1600" dirty="0" smtClean="0"/>
              <a:t>R1</a:t>
            </a:r>
            <a:r>
              <a:rPr lang="zh-CN" altLang="en-US" sz="1600" dirty="0" smtClean="0"/>
              <a:t>和</a:t>
            </a:r>
            <a:r>
              <a:rPr lang="en-US" altLang="zh-CN" sz="1600" dirty="0" smtClean="0"/>
              <a:t>R2</a:t>
            </a:r>
            <a:r>
              <a:rPr lang="zh-CN" altLang="en-US" sz="1600" dirty="0" smtClean="0"/>
              <a:t>处于</a:t>
            </a:r>
            <a:r>
              <a:rPr lang="en-US" altLang="zh-CN" sz="1600" dirty="0"/>
              <a:t>AS </a:t>
            </a:r>
            <a:r>
              <a:rPr lang="en-US" altLang="zh-CN" sz="1600" dirty="0" smtClean="0"/>
              <a:t>1.1</a:t>
            </a:r>
            <a:r>
              <a:rPr lang="zh-CN" altLang="en-US" sz="1600" dirty="0"/>
              <a:t>中，且使用</a:t>
            </a:r>
            <a:r>
              <a:rPr lang="en-US" altLang="zh-CN" sz="1600" dirty="0"/>
              <a:t>Loopback0</a:t>
            </a:r>
            <a:r>
              <a:rPr lang="zh-CN" altLang="en-US" sz="1600" dirty="0"/>
              <a:t>接口建立</a:t>
            </a:r>
            <a:r>
              <a:rPr lang="en-US" altLang="zh-CN" sz="1600" dirty="0" smtClean="0"/>
              <a:t>IBGP</a:t>
            </a:r>
            <a:r>
              <a:rPr lang="zh-CN" altLang="en-US" sz="1600" dirty="0" smtClean="0"/>
              <a:t>连接。</a:t>
            </a:r>
            <a:endParaRPr lang="zh-CN" altLang="en-US" sz="1600" dirty="0"/>
          </a:p>
        </p:txBody>
      </p:sp>
      <p:sp>
        <p:nvSpPr>
          <p:cNvPr id="4" name="矩形 3"/>
          <p:cNvSpPr/>
          <p:nvPr/>
        </p:nvSpPr>
        <p:spPr>
          <a:xfrm>
            <a:off x="1031917" y="1672333"/>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a:t>
            </a:r>
            <a:r>
              <a:rPr lang="en-US" altLang="zh-CN" sz="1600" dirty="0" smtClean="0">
                <a:cs typeface="Courier New" panose="02070309020205020404" pitchFamily="49" charset="0"/>
              </a:rPr>
              <a:t>Huawei] </a:t>
            </a:r>
            <a:r>
              <a:rPr lang="en-US" altLang="zh-CN" sz="1600" b="1" dirty="0" err="1"/>
              <a:t>bgp</a:t>
            </a:r>
            <a:r>
              <a:rPr lang="en-US" altLang="zh-CN" sz="1600" b="1" dirty="0"/>
              <a:t> </a:t>
            </a:r>
            <a:r>
              <a:rPr lang="en-US" altLang="zh-CN" sz="1600" i="1" dirty="0"/>
              <a:t>as-number</a:t>
            </a:r>
            <a:endParaRPr lang="zh-CN" altLang="en-US" sz="1600" dirty="0">
              <a:cs typeface="Courier New" panose="02070309020205020404" pitchFamily="49" charset="0"/>
            </a:endParaRPr>
          </a:p>
        </p:txBody>
      </p:sp>
      <p:sp>
        <p:nvSpPr>
          <p:cNvPr id="5" name="矩形 4"/>
          <p:cNvSpPr/>
          <p:nvPr/>
        </p:nvSpPr>
        <p:spPr>
          <a:xfrm>
            <a:off x="551384" y="1240186"/>
            <a:ext cx="11089232" cy="338554"/>
          </a:xfrm>
          <a:prstGeom prst="rect">
            <a:avLst/>
          </a:prstGeom>
        </p:spPr>
        <p:txBody>
          <a:bodyPr wrap="square">
            <a:spAutoFit/>
          </a:bodyPr>
          <a:lstStyle/>
          <a:p>
            <a:pPr marL="342900" indent="-342900" fontAlgn="auto">
              <a:buFont typeface="+mj-lt"/>
              <a:buAutoNum type="arabicPeriod"/>
            </a:pPr>
            <a:r>
              <a:rPr lang="zh-CN" altLang="en-US" sz="1600" dirty="0">
                <a:cs typeface="Courier New" panose="02070309020205020404" pitchFamily="49" charset="0"/>
              </a:rPr>
              <a:t>使能</a:t>
            </a:r>
            <a:r>
              <a:rPr lang="en-US" altLang="zh-CN" sz="1600" dirty="0">
                <a:cs typeface="Courier New" panose="02070309020205020404" pitchFamily="49" charset="0"/>
              </a:rPr>
              <a:t>BGP</a:t>
            </a:r>
            <a:r>
              <a:rPr lang="zh-CN" altLang="en-US" sz="1600" dirty="0">
                <a:cs typeface="Courier New" panose="02070309020205020404" pitchFamily="49" charset="0"/>
              </a:rPr>
              <a:t>协议，进入</a:t>
            </a:r>
            <a:r>
              <a:rPr lang="en-US" altLang="zh-CN" sz="1600" dirty="0">
                <a:cs typeface="Courier New" panose="02070309020205020404" pitchFamily="49" charset="0"/>
              </a:rPr>
              <a:t>BGP</a:t>
            </a:r>
            <a:r>
              <a:rPr lang="zh-CN" altLang="en-US" sz="1600" dirty="0">
                <a:cs typeface="Courier New" panose="02070309020205020404" pitchFamily="49" charset="0"/>
              </a:rPr>
              <a:t>视图，或者直接进入</a:t>
            </a:r>
            <a:r>
              <a:rPr lang="en-US" altLang="zh-CN" sz="1600" dirty="0">
                <a:cs typeface="Courier New" panose="02070309020205020404" pitchFamily="49" charset="0"/>
              </a:rPr>
              <a:t>BGP</a:t>
            </a:r>
            <a:r>
              <a:rPr lang="zh-CN" altLang="en-US" sz="1600" dirty="0">
                <a:cs typeface="Courier New" panose="02070309020205020404" pitchFamily="49" charset="0"/>
              </a:rPr>
              <a:t>视图。</a:t>
            </a:r>
          </a:p>
        </p:txBody>
      </p:sp>
      <p:sp>
        <p:nvSpPr>
          <p:cNvPr id="9" name="矩形 8"/>
          <p:cNvSpPr/>
          <p:nvPr/>
        </p:nvSpPr>
        <p:spPr>
          <a:xfrm>
            <a:off x="1031917" y="2006463"/>
            <a:ext cx="10608699" cy="993285"/>
          </a:xfrm>
          <a:prstGeom prst="rect">
            <a:avLst/>
          </a:prstGeom>
        </p:spPr>
        <p:txBody>
          <a:bodyPr wrap="square">
            <a:spAutoFit/>
          </a:bodyPr>
          <a:lstStyle/>
          <a:p>
            <a:pPr>
              <a:lnSpc>
                <a:spcPts val="2400"/>
              </a:lnSpc>
            </a:pPr>
            <a:r>
              <a:rPr lang="en-US" altLang="zh-CN" sz="1600" dirty="0" smtClean="0">
                <a:cs typeface="Courier New" panose="02070309020205020404" pitchFamily="49" charset="0"/>
              </a:rPr>
              <a:t>as-number</a:t>
            </a:r>
            <a:r>
              <a:rPr lang="zh-CN" altLang="en-US" sz="1600" dirty="0" smtClean="0">
                <a:cs typeface="Courier New" panose="02070309020205020404" pitchFamily="49" charset="0"/>
              </a:rPr>
              <a:t>：指定</a:t>
            </a:r>
            <a:r>
              <a:rPr lang="en-US" altLang="zh-CN" sz="1600" dirty="0" smtClean="0">
                <a:cs typeface="Courier New" panose="02070309020205020404" pitchFamily="49" charset="0"/>
              </a:rPr>
              <a:t>AS</a:t>
            </a:r>
            <a:r>
              <a:rPr lang="zh-CN" altLang="en-US" sz="1600" dirty="0">
                <a:cs typeface="Courier New" panose="02070309020205020404" pitchFamily="49" charset="0"/>
              </a:rPr>
              <a:t>号</a:t>
            </a:r>
            <a:r>
              <a:rPr lang="zh-CN" altLang="en-US" sz="1600" dirty="0" smtClean="0">
                <a:cs typeface="Courier New" panose="02070309020205020404" pitchFamily="49" charset="0"/>
              </a:rPr>
              <a:t>。</a:t>
            </a:r>
            <a:endParaRPr lang="en-US" altLang="zh-CN" sz="1600" dirty="0" smtClean="0">
              <a:cs typeface="Courier New" panose="02070309020205020404" pitchFamily="49" charset="0"/>
            </a:endParaRPr>
          </a:p>
          <a:p>
            <a:pPr>
              <a:lnSpc>
                <a:spcPts val="2400"/>
              </a:lnSpc>
            </a:pPr>
            <a:r>
              <a:rPr lang="zh-CN" altLang="en-US" sz="1600" dirty="0" smtClean="0">
                <a:cs typeface="Courier New" panose="02070309020205020404" pitchFamily="49" charset="0"/>
              </a:rPr>
              <a:t>对</a:t>
            </a:r>
            <a:r>
              <a:rPr lang="zh-CN" altLang="en-US" sz="1600" dirty="0">
                <a:cs typeface="Courier New" panose="02070309020205020404" pitchFamily="49" charset="0"/>
              </a:rPr>
              <a:t>整数形式的</a:t>
            </a:r>
            <a:r>
              <a:rPr lang="en-US" altLang="zh-CN" sz="1600" dirty="0">
                <a:cs typeface="Courier New" panose="02070309020205020404" pitchFamily="49" charset="0"/>
              </a:rPr>
              <a:t>AS</a:t>
            </a:r>
            <a:r>
              <a:rPr lang="zh-CN" altLang="en-US" sz="1600" dirty="0">
                <a:cs typeface="Courier New" panose="02070309020205020404" pitchFamily="49" charset="0"/>
              </a:rPr>
              <a:t>号，取值范围是</a:t>
            </a:r>
            <a:r>
              <a:rPr lang="en-US" altLang="zh-CN" sz="1600" dirty="0">
                <a:cs typeface="Courier New" panose="02070309020205020404" pitchFamily="49" charset="0"/>
              </a:rPr>
              <a:t>1</a:t>
            </a:r>
            <a:r>
              <a:rPr lang="zh-CN" altLang="en-US" sz="1600" dirty="0">
                <a:cs typeface="Courier New" panose="02070309020205020404" pitchFamily="49" charset="0"/>
              </a:rPr>
              <a:t>～</a:t>
            </a:r>
            <a:r>
              <a:rPr lang="en-US" altLang="zh-CN" sz="1600" dirty="0">
                <a:cs typeface="Courier New" panose="02070309020205020404" pitchFamily="49" charset="0"/>
              </a:rPr>
              <a:t>4294967295</a:t>
            </a:r>
            <a:r>
              <a:rPr lang="zh-CN" altLang="en-US" sz="1600" dirty="0" smtClean="0">
                <a:cs typeface="Courier New" panose="02070309020205020404" pitchFamily="49" charset="0"/>
              </a:rPr>
              <a:t>。</a:t>
            </a:r>
            <a:endParaRPr lang="en-US" altLang="zh-CN" sz="1600" dirty="0" smtClean="0">
              <a:cs typeface="Courier New" panose="02070309020205020404" pitchFamily="49" charset="0"/>
            </a:endParaRPr>
          </a:p>
          <a:p>
            <a:pPr>
              <a:lnSpc>
                <a:spcPts val="2400"/>
              </a:lnSpc>
            </a:pPr>
            <a:r>
              <a:rPr lang="zh-CN" altLang="en-US" sz="1600" dirty="0" smtClean="0">
                <a:cs typeface="Courier New" panose="02070309020205020404" pitchFamily="49" charset="0"/>
              </a:rPr>
              <a:t>对</a:t>
            </a:r>
            <a:r>
              <a:rPr lang="zh-CN" altLang="en-US" sz="1600" dirty="0">
                <a:cs typeface="Courier New" panose="02070309020205020404" pitchFamily="49" charset="0"/>
              </a:rPr>
              <a:t>点分形式的</a:t>
            </a:r>
            <a:r>
              <a:rPr lang="en-US" altLang="zh-CN" sz="1600" dirty="0">
                <a:cs typeface="Courier New" panose="02070309020205020404" pitchFamily="49" charset="0"/>
              </a:rPr>
              <a:t>AS</a:t>
            </a:r>
            <a:r>
              <a:rPr lang="zh-CN" altLang="en-US" sz="1600" dirty="0">
                <a:cs typeface="Courier New" panose="02070309020205020404" pitchFamily="49" charset="0"/>
              </a:rPr>
              <a:t>号，格式为</a:t>
            </a:r>
            <a:r>
              <a:rPr lang="en-US" altLang="zh-CN" sz="1600" dirty="0" err="1">
                <a:cs typeface="Courier New" panose="02070309020205020404" pitchFamily="49" charset="0"/>
              </a:rPr>
              <a:t>x.y</a:t>
            </a:r>
            <a:r>
              <a:rPr lang="zh-CN" altLang="en-US" sz="1600" dirty="0">
                <a:cs typeface="Courier New" panose="02070309020205020404" pitchFamily="49" charset="0"/>
              </a:rPr>
              <a:t>，</a:t>
            </a:r>
            <a:r>
              <a:rPr lang="en-US" altLang="zh-CN" sz="1600" dirty="0">
                <a:cs typeface="Courier New" panose="02070309020205020404" pitchFamily="49" charset="0"/>
              </a:rPr>
              <a:t>x</a:t>
            </a:r>
            <a:r>
              <a:rPr lang="zh-CN" altLang="en-US" sz="1600" dirty="0">
                <a:cs typeface="Courier New" panose="02070309020205020404" pitchFamily="49" charset="0"/>
              </a:rPr>
              <a:t>和</a:t>
            </a:r>
            <a:r>
              <a:rPr lang="en-US" altLang="zh-CN" sz="1600" dirty="0">
                <a:cs typeface="Courier New" panose="02070309020205020404" pitchFamily="49" charset="0"/>
              </a:rPr>
              <a:t>y</a:t>
            </a:r>
            <a:r>
              <a:rPr lang="zh-CN" altLang="en-US" sz="1600" dirty="0">
                <a:cs typeface="Courier New" panose="02070309020205020404" pitchFamily="49" charset="0"/>
              </a:rPr>
              <a:t>都是整数形式，</a:t>
            </a:r>
            <a:r>
              <a:rPr lang="en-US" altLang="zh-CN" sz="1600" dirty="0">
                <a:cs typeface="Courier New" panose="02070309020205020404" pitchFamily="49" charset="0"/>
              </a:rPr>
              <a:t>x</a:t>
            </a:r>
            <a:r>
              <a:rPr lang="zh-CN" altLang="en-US" sz="1600" dirty="0">
                <a:cs typeface="Courier New" panose="02070309020205020404" pitchFamily="49" charset="0"/>
              </a:rPr>
              <a:t>的取值范围是</a:t>
            </a:r>
            <a:r>
              <a:rPr lang="en-US" altLang="zh-CN" sz="1600" dirty="0">
                <a:cs typeface="Courier New" panose="02070309020205020404" pitchFamily="49" charset="0"/>
              </a:rPr>
              <a:t>1</a:t>
            </a:r>
            <a:r>
              <a:rPr lang="zh-CN" altLang="en-US" sz="1600" dirty="0">
                <a:cs typeface="Courier New" panose="02070309020205020404" pitchFamily="49" charset="0"/>
              </a:rPr>
              <a:t>～</a:t>
            </a:r>
            <a:r>
              <a:rPr lang="en-US" altLang="zh-CN" sz="1600" dirty="0">
                <a:cs typeface="Courier New" panose="02070309020205020404" pitchFamily="49" charset="0"/>
              </a:rPr>
              <a:t>65535</a:t>
            </a:r>
            <a:r>
              <a:rPr lang="zh-CN" altLang="en-US" sz="1600" dirty="0">
                <a:cs typeface="Courier New" panose="02070309020205020404" pitchFamily="49" charset="0"/>
              </a:rPr>
              <a:t>，</a:t>
            </a:r>
            <a:r>
              <a:rPr lang="en-US" altLang="zh-CN" sz="1600" dirty="0">
                <a:cs typeface="Courier New" panose="02070309020205020404" pitchFamily="49" charset="0"/>
              </a:rPr>
              <a:t>y</a:t>
            </a:r>
            <a:r>
              <a:rPr lang="zh-CN" altLang="en-US" sz="1600" dirty="0">
                <a:cs typeface="Courier New" panose="02070309020205020404" pitchFamily="49" charset="0"/>
              </a:rPr>
              <a:t>的取值范围是</a:t>
            </a:r>
            <a:r>
              <a:rPr lang="en-US" altLang="zh-CN" sz="1600" dirty="0">
                <a:cs typeface="Courier New" panose="02070309020205020404" pitchFamily="49" charset="0"/>
              </a:rPr>
              <a:t>0</a:t>
            </a:r>
            <a:r>
              <a:rPr lang="zh-CN" altLang="en-US" sz="1600" dirty="0">
                <a:cs typeface="Courier New" panose="02070309020205020404" pitchFamily="49" charset="0"/>
              </a:rPr>
              <a:t>～</a:t>
            </a:r>
            <a:r>
              <a:rPr lang="en-US" altLang="zh-CN" sz="1600" dirty="0">
                <a:cs typeface="Courier New" panose="02070309020205020404" pitchFamily="49" charset="0"/>
              </a:rPr>
              <a:t>65535</a:t>
            </a:r>
            <a:r>
              <a:rPr lang="zh-CN" altLang="en-US" sz="1600" dirty="0">
                <a:cs typeface="Courier New" panose="02070309020205020404" pitchFamily="49" charset="0"/>
              </a:rPr>
              <a:t>。</a:t>
            </a:r>
          </a:p>
        </p:txBody>
      </p:sp>
      <p:sp>
        <p:nvSpPr>
          <p:cNvPr id="7" name="五边形 6"/>
          <p:cNvSpPr/>
          <p:nvPr/>
        </p:nvSpPr>
        <p:spPr bwMode="gray">
          <a:xfrm>
            <a:off x="8421350" y="99742"/>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ORF</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燕尾形 7"/>
          <p:cNvSpPr/>
          <p:nvPr/>
        </p:nvSpPr>
        <p:spPr bwMode="gray">
          <a:xfrm>
            <a:off x="9061791" y="99742"/>
            <a:ext cx="93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对等体组</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燕尾形 10"/>
          <p:cNvSpPr/>
          <p:nvPr/>
        </p:nvSpPr>
        <p:spPr bwMode="gray">
          <a:xfrm>
            <a:off x="9918233" y="99742"/>
            <a:ext cx="93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安全特性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燕尾形 11"/>
          <p:cNvSpPr/>
          <p:nvPr/>
        </p:nvSpPr>
        <p:spPr bwMode="gray">
          <a:xfrm>
            <a:off x="10774674" y="99742"/>
            <a:ext cx="972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字节</a:t>
            </a: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AS</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号</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任意多边形 25"/>
          <p:cNvSpPr/>
          <p:nvPr/>
        </p:nvSpPr>
        <p:spPr bwMode="gray">
          <a:xfrm>
            <a:off x="1145991" y="4683946"/>
            <a:ext cx="4798719" cy="1163026"/>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tx1"/>
              </a:solidFill>
              <a:sym typeface="Huawei Sans" panose="020C0503030203020204" pitchFamily="34" charset="0"/>
            </a:endParaRPr>
          </a:p>
        </p:txBody>
      </p:sp>
      <p:cxnSp>
        <p:nvCxnSpPr>
          <p:cNvPr id="15" name="直接连接符 14"/>
          <p:cNvCxnSpPr>
            <a:stCxn id="21" idx="3"/>
            <a:endCxn id="14" idx="1"/>
          </p:cNvCxnSpPr>
          <p:nvPr/>
        </p:nvCxnSpPr>
        <p:spPr bwMode="gray">
          <a:xfrm>
            <a:off x="2811604" y="5415904"/>
            <a:ext cx="149512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20">
            <a:extLst>
              <a:ext uri="{FF2B5EF4-FFF2-40B4-BE49-F238E27FC236}">
                <a16:creationId xmlns="" xmlns:a16="http://schemas.microsoft.com/office/drawing/2014/main" id="{020D7A1D-EFAD-4C8C-B9DE-D0FAD269B77A}"/>
              </a:ext>
            </a:extLst>
          </p:cNvPr>
          <p:cNvSpPr txBox="1"/>
          <p:nvPr/>
        </p:nvSpPr>
        <p:spPr bwMode="gray">
          <a:xfrm>
            <a:off x="2140925" y="4945000"/>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TextBox 120">
            <a:extLst>
              <a:ext uri="{FF2B5EF4-FFF2-40B4-BE49-F238E27FC236}">
                <a16:creationId xmlns="" xmlns:a16="http://schemas.microsoft.com/office/drawing/2014/main" id="{020D7A1D-EFAD-4C8C-B9DE-D0FAD269B77A}"/>
              </a:ext>
            </a:extLst>
          </p:cNvPr>
          <p:cNvSpPr txBox="1"/>
          <p:nvPr/>
        </p:nvSpPr>
        <p:spPr bwMode="gray">
          <a:xfrm>
            <a:off x="4172333" y="4945000"/>
            <a:ext cx="827092"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TextBox 120">
            <a:extLst>
              <a:ext uri="{FF2B5EF4-FFF2-40B4-BE49-F238E27FC236}">
                <a16:creationId xmlns="" xmlns:a16="http://schemas.microsoft.com/office/drawing/2014/main" id="{020D7A1D-EFAD-4C8C-B9DE-D0FAD269B77A}"/>
              </a:ext>
            </a:extLst>
          </p:cNvPr>
          <p:cNvSpPr txBox="1"/>
          <p:nvPr/>
        </p:nvSpPr>
        <p:spPr bwMode="gray">
          <a:xfrm>
            <a:off x="4050586" y="5374125"/>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TextBox 120">
            <a:extLst>
              <a:ext uri="{FF2B5EF4-FFF2-40B4-BE49-F238E27FC236}">
                <a16:creationId xmlns="" xmlns:a16="http://schemas.microsoft.com/office/drawing/2014/main" id="{020D7A1D-EFAD-4C8C-B9DE-D0FAD269B77A}"/>
              </a:ext>
            </a:extLst>
          </p:cNvPr>
          <p:cNvSpPr txBox="1"/>
          <p:nvPr/>
        </p:nvSpPr>
        <p:spPr bwMode="gray">
          <a:xfrm>
            <a:off x="3018805" y="5145983"/>
            <a:ext cx="1281582"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10.1.12.0/24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TextBox 120">
            <a:extLst>
              <a:ext uri="{FF2B5EF4-FFF2-40B4-BE49-F238E27FC236}">
                <a16:creationId xmlns="" xmlns:a16="http://schemas.microsoft.com/office/drawing/2014/main" id="{020D7A1D-EFAD-4C8C-B9DE-D0FAD269B77A}"/>
              </a:ext>
            </a:extLst>
          </p:cNvPr>
          <p:cNvSpPr txBox="1"/>
          <p:nvPr/>
        </p:nvSpPr>
        <p:spPr bwMode="gray">
          <a:xfrm>
            <a:off x="2754449" y="5373734"/>
            <a:ext cx="389999" cy="307777"/>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TextBox 120">
            <a:extLst>
              <a:ext uri="{FF2B5EF4-FFF2-40B4-BE49-F238E27FC236}">
                <a16:creationId xmlns="" xmlns:a16="http://schemas.microsoft.com/office/drawing/2014/main" id="{020D7A1D-EFAD-4C8C-B9DE-D0FAD269B77A}"/>
              </a:ext>
            </a:extLst>
          </p:cNvPr>
          <p:cNvSpPr txBox="1"/>
          <p:nvPr/>
        </p:nvSpPr>
        <p:spPr bwMode="gray">
          <a:xfrm>
            <a:off x="1143862" y="4721564"/>
            <a:ext cx="827092" cy="307777"/>
          </a:xfrm>
          <a:prstGeom prst="rect">
            <a:avLst/>
          </a:prstGeom>
          <a:noFill/>
          <a:ln>
            <a:noFill/>
          </a:ln>
        </p:spPr>
        <p:txBody>
          <a:bodyPr wrap="squar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1" name="直接连接符 30"/>
          <p:cNvCxnSpPr/>
          <p:nvPr/>
        </p:nvCxnSpPr>
        <p:spPr bwMode="gray">
          <a:xfrm>
            <a:off x="2907625" y="5098888"/>
            <a:ext cx="1306118" cy="0"/>
          </a:xfrm>
          <a:prstGeom prst="line">
            <a:avLst/>
          </a:prstGeom>
          <a:ln w="19050">
            <a:solidFill>
              <a:schemeClr val="tx1"/>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2" name="TextBox 120">
            <a:extLst>
              <a:ext uri="{FF2B5EF4-FFF2-40B4-BE49-F238E27FC236}">
                <a16:creationId xmlns="" xmlns:a16="http://schemas.microsoft.com/office/drawing/2014/main" id="{020D7A1D-EFAD-4C8C-B9DE-D0FAD269B77A}"/>
              </a:ext>
            </a:extLst>
          </p:cNvPr>
          <p:cNvSpPr txBox="1"/>
          <p:nvPr/>
        </p:nvSpPr>
        <p:spPr bwMode="gray">
          <a:xfrm>
            <a:off x="3084945" y="4783278"/>
            <a:ext cx="962132" cy="307777"/>
          </a:xfrm>
          <a:prstGeom prst="rect">
            <a:avLst/>
          </a:prstGeom>
          <a:noFill/>
          <a:ln>
            <a:noFill/>
          </a:ln>
        </p:spPr>
        <p:txBody>
          <a:bodyPr wrap="square" rtlCol="0">
            <a:spAutoFit/>
          </a:bodyPr>
          <a:lstStyle/>
          <a:p>
            <a:pPr algn="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IBGP</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邻居</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a:xfrm>
            <a:off x="6437360" y="4281152"/>
            <a:ext cx="5087996" cy="738664"/>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smtClean="0">
                <a:solidFill>
                  <a:prstClr val="black"/>
                </a:solidFill>
                <a:cs typeface="Courier New" panose="02070309020205020404" pitchFamily="49" charset="0"/>
              </a:rPr>
              <a:t>[~R1] </a:t>
            </a:r>
            <a:r>
              <a:rPr lang="en-US" altLang="zh-CN" sz="1400" dirty="0" err="1">
                <a:solidFill>
                  <a:prstClr val="black"/>
                </a:solidFill>
                <a:cs typeface="Courier New" panose="02070309020205020404" pitchFamily="49" charset="0"/>
              </a:rPr>
              <a:t>bgp</a:t>
            </a:r>
            <a:r>
              <a:rPr lang="en-US" altLang="zh-CN" sz="1400" dirty="0">
                <a:solidFill>
                  <a:prstClr val="black"/>
                </a:solidFill>
                <a:cs typeface="Courier New" panose="02070309020205020404" pitchFamily="49" charset="0"/>
              </a:rPr>
              <a:t> </a:t>
            </a:r>
            <a:r>
              <a:rPr lang="en-US" altLang="zh-CN" sz="1400" dirty="0" smtClean="0">
                <a:solidFill>
                  <a:prstClr val="black"/>
                </a:solidFill>
                <a:cs typeface="Courier New" panose="02070309020205020404" pitchFamily="49" charset="0"/>
              </a:rPr>
              <a:t>1.1</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smtClean="0">
                <a:solidFill>
                  <a:prstClr val="black"/>
                </a:solidFill>
                <a:cs typeface="Courier New" panose="02070309020205020404" pitchFamily="49" charset="0"/>
              </a:rPr>
              <a:t>[~R1-bgp</a:t>
            </a:r>
            <a:r>
              <a:rPr lang="en-US" altLang="zh-CN" sz="1400" dirty="0">
                <a:solidFill>
                  <a:prstClr val="black"/>
                </a:solidFill>
                <a:cs typeface="Courier New" panose="02070309020205020404" pitchFamily="49" charset="0"/>
              </a:rPr>
              <a:t>] peer </a:t>
            </a:r>
            <a:r>
              <a:rPr lang="en-US" altLang="zh-CN" sz="1400" dirty="0" smtClean="0">
                <a:solidFill>
                  <a:prstClr val="black"/>
                </a:solidFill>
                <a:cs typeface="Courier New" panose="02070309020205020404" pitchFamily="49" charset="0"/>
              </a:rPr>
              <a:t>10.1.2.2 </a:t>
            </a:r>
            <a:r>
              <a:rPr lang="en-US" altLang="zh-CN" sz="1400" dirty="0">
                <a:solidFill>
                  <a:prstClr val="black"/>
                </a:solidFill>
                <a:cs typeface="Courier New" panose="02070309020205020404" pitchFamily="49" charset="0"/>
              </a:rPr>
              <a:t>as-number </a:t>
            </a:r>
            <a:r>
              <a:rPr lang="en-US" altLang="zh-CN" sz="1400" dirty="0" smtClean="0">
                <a:solidFill>
                  <a:prstClr val="black"/>
                </a:solidFill>
                <a:cs typeface="Courier New" panose="02070309020205020404" pitchFamily="49" charset="0"/>
              </a:rPr>
              <a:t>1.1</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smtClean="0">
                <a:solidFill>
                  <a:prstClr val="black"/>
                </a:solidFill>
                <a:cs typeface="Courier New" panose="02070309020205020404" pitchFamily="49" charset="0"/>
              </a:rPr>
              <a:t>[~R1-bgp</a:t>
            </a:r>
            <a:r>
              <a:rPr lang="en-US" altLang="zh-CN" sz="1400" dirty="0">
                <a:solidFill>
                  <a:prstClr val="black"/>
                </a:solidFill>
                <a:cs typeface="Courier New" panose="02070309020205020404" pitchFamily="49" charset="0"/>
              </a:rPr>
              <a:t>] peer </a:t>
            </a:r>
            <a:r>
              <a:rPr lang="en-US" altLang="zh-CN" sz="1400" dirty="0" smtClean="0">
                <a:solidFill>
                  <a:prstClr val="black"/>
                </a:solidFill>
                <a:cs typeface="Courier New" panose="02070309020205020404" pitchFamily="49" charset="0"/>
              </a:rPr>
              <a:t>10.1.2.2 </a:t>
            </a:r>
            <a:r>
              <a:rPr lang="en-US" altLang="zh-CN" sz="1400" dirty="0">
                <a:solidFill>
                  <a:prstClr val="black"/>
                </a:solidFill>
                <a:cs typeface="Courier New" panose="02070309020205020404" pitchFamily="49" charset="0"/>
              </a:rPr>
              <a:t>connect-interface Loopback </a:t>
            </a:r>
            <a:r>
              <a:rPr lang="en-US" altLang="zh-CN" sz="1400" dirty="0" smtClean="0">
                <a:solidFill>
                  <a:prstClr val="black"/>
                </a:solidFill>
                <a:cs typeface="Courier New" panose="02070309020205020404" pitchFamily="49" charset="0"/>
              </a:rPr>
              <a:t>0</a:t>
            </a:r>
          </a:p>
        </p:txBody>
      </p:sp>
      <p:sp>
        <p:nvSpPr>
          <p:cNvPr id="36" name="文本框 35"/>
          <p:cNvSpPr txBox="1"/>
          <p:nvPr/>
        </p:nvSpPr>
        <p:spPr>
          <a:xfrm>
            <a:off x="6286070" y="3918515"/>
            <a:ext cx="5407243" cy="338554"/>
          </a:xfrm>
          <a:prstGeom prst="rect">
            <a:avLst/>
          </a:prstGeom>
          <a:noFill/>
        </p:spPr>
        <p:txBody>
          <a:bodyPr wrap="square" rtlCol="0">
            <a:spAutoFit/>
          </a:bodyPr>
          <a:lstStyle/>
          <a:p>
            <a:pPr fontAlgn="auto">
              <a:spcBef>
                <a:spcPts val="0"/>
              </a:spcBef>
              <a:spcAft>
                <a:spcPts val="0"/>
              </a:spcAft>
            </a:pPr>
            <a:r>
              <a:rPr lang="zh-CN" altLang="en-US" sz="1600" dirty="0" smtClean="0">
                <a:solidFill>
                  <a:prstClr val="black"/>
                </a:solidFill>
              </a:rPr>
              <a:t>建立</a:t>
            </a:r>
            <a:r>
              <a:rPr lang="en-US" altLang="zh-CN" sz="1600" dirty="0" smtClean="0">
                <a:solidFill>
                  <a:prstClr val="black"/>
                </a:solidFill>
              </a:rPr>
              <a:t>IBGP</a:t>
            </a:r>
            <a:r>
              <a:rPr lang="zh-CN" altLang="en-US" sz="1600" dirty="0" smtClean="0">
                <a:solidFill>
                  <a:prstClr val="black"/>
                </a:solidFill>
              </a:rPr>
              <a:t>连接。</a:t>
            </a:r>
            <a:endParaRPr lang="zh-CN" altLang="en-US" sz="1600" dirty="0">
              <a:solidFill>
                <a:prstClr val="black"/>
              </a:solidFill>
            </a:endParaRPr>
          </a:p>
        </p:txBody>
      </p:sp>
      <p:sp>
        <p:nvSpPr>
          <p:cNvPr id="37" name="文本框 36"/>
          <p:cNvSpPr txBox="1"/>
          <p:nvPr/>
        </p:nvSpPr>
        <p:spPr>
          <a:xfrm>
            <a:off x="6437360" y="5168708"/>
            <a:ext cx="5087996" cy="738664"/>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smtClean="0">
                <a:solidFill>
                  <a:prstClr val="black"/>
                </a:solidFill>
                <a:cs typeface="Courier New" panose="02070309020205020404" pitchFamily="49" charset="0"/>
              </a:rPr>
              <a:t>[~R2] </a:t>
            </a:r>
            <a:r>
              <a:rPr lang="en-US" altLang="zh-CN" sz="1400" dirty="0" err="1">
                <a:solidFill>
                  <a:prstClr val="black"/>
                </a:solidFill>
                <a:cs typeface="Courier New" panose="02070309020205020404" pitchFamily="49" charset="0"/>
              </a:rPr>
              <a:t>bgp</a:t>
            </a:r>
            <a:r>
              <a:rPr lang="en-US" altLang="zh-CN" sz="1400" dirty="0">
                <a:solidFill>
                  <a:prstClr val="black"/>
                </a:solidFill>
                <a:cs typeface="Courier New" panose="02070309020205020404" pitchFamily="49" charset="0"/>
              </a:rPr>
              <a:t> </a:t>
            </a:r>
            <a:r>
              <a:rPr lang="en-US" altLang="zh-CN" sz="1400" dirty="0" smtClean="0">
                <a:solidFill>
                  <a:prstClr val="black"/>
                </a:solidFill>
                <a:cs typeface="Courier New" panose="02070309020205020404" pitchFamily="49" charset="0"/>
              </a:rPr>
              <a:t>1.1</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smtClean="0">
                <a:solidFill>
                  <a:prstClr val="black"/>
                </a:solidFill>
                <a:cs typeface="Courier New" panose="02070309020205020404" pitchFamily="49" charset="0"/>
              </a:rPr>
              <a:t>[~R2-bgp</a:t>
            </a:r>
            <a:r>
              <a:rPr lang="en-US" altLang="zh-CN" sz="1400" dirty="0">
                <a:solidFill>
                  <a:prstClr val="black"/>
                </a:solidFill>
                <a:cs typeface="Courier New" panose="02070309020205020404" pitchFamily="49" charset="0"/>
              </a:rPr>
              <a:t>] peer </a:t>
            </a:r>
            <a:r>
              <a:rPr lang="en-US" altLang="zh-CN" sz="1400" dirty="0" smtClean="0">
                <a:solidFill>
                  <a:prstClr val="black"/>
                </a:solidFill>
                <a:cs typeface="Courier New" panose="02070309020205020404" pitchFamily="49" charset="0"/>
              </a:rPr>
              <a:t>10.1.1.1 </a:t>
            </a:r>
            <a:r>
              <a:rPr lang="en-US" altLang="zh-CN" sz="1400" dirty="0">
                <a:solidFill>
                  <a:prstClr val="black"/>
                </a:solidFill>
                <a:cs typeface="Courier New" panose="02070309020205020404" pitchFamily="49" charset="0"/>
              </a:rPr>
              <a:t>as-number </a:t>
            </a:r>
            <a:r>
              <a:rPr lang="en-US" altLang="zh-CN" sz="1400" dirty="0" smtClean="0">
                <a:solidFill>
                  <a:prstClr val="black"/>
                </a:solidFill>
                <a:cs typeface="Courier New" panose="02070309020205020404" pitchFamily="49" charset="0"/>
              </a:rPr>
              <a:t>1.1</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smtClean="0">
                <a:solidFill>
                  <a:prstClr val="black"/>
                </a:solidFill>
                <a:cs typeface="Courier New" panose="02070309020205020404" pitchFamily="49" charset="0"/>
              </a:rPr>
              <a:t>[~R2-bgp</a:t>
            </a:r>
            <a:r>
              <a:rPr lang="en-US" altLang="zh-CN" sz="1400" dirty="0">
                <a:solidFill>
                  <a:prstClr val="black"/>
                </a:solidFill>
                <a:cs typeface="Courier New" panose="02070309020205020404" pitchFamily="49" charset="0"/>
              </a:rPr>
              <a:t>] peer </a:t>
            </a:r>
            <a:r>
              <a:rPr lang="en-US" altLang="zh-CN" sz="1400" dirty="0" smtClean="0">
                <a:solidFill>
                  <a:prstClr val="black"/>
                </a:solidFill>
                <a:cs typeface="Courier New" panose="02070309020205020404" pitchFamily="49" charset="0"/>
              </a:rPr>
              <a:t>10.1.1.1 </a:t>
            </a:r>
            <a:r>
              <a:rPr lang="en-US" altLang="zh-CN" sz="1400" dirty="0">
                <a:solidFill>
                  <a:prstClr val="black"/>
                </a:solidFill>
                <a:cs typeface="Courier New" panose="02070309020205020404" pitchFamily="49" charset="0"/>
              </a:rPr>
              <a:t>connect-interface Loopback </a:t>
            </a:r>
            <a:r>
              <a:rPr lang="en-US" altLang="zh-CN" sz="1400" dirty="0" smtClean="0">
                <a:solidFill>
                  <a:prstClr val="black"/>
                </a:solidFill>
                <a:cs typeface="Courier New" panose="02070309020205020404" pitchFamily="49" charset="0"/>
              </a:rPr>
              <a:t>0</a:t>
            </a:r>
          </a:p>
        </p:txBody>
      </p:sp>
      <p:grpSp>
        <p:nvGrpSpPr>
          <p:cNvPr id="41" name="组合 40"/>
          <p:cNvGrpSpPr/>
          <p:nvPr/>
        </p:nvGrpSpPr>
        <p:grpSpPr>
          <a:xfrm>
            <a:off x="2186645" y="5314687"/>
            <a:ext cx="130679" cy="202434"/>
            <a:chOff x="1450547" y="5358391"/>
            <a:chExt cx="130679" cy="202434"/>
          </a:xfrm>
        </p:grpSpPr>
        <p:cxnSp>
          <p:nvCxnSpPr>
            <p:cNvPr id="38" name="直接连接符 37"/>
            <p:cNvCxnSpPr/>
            <p:nvPr/>
          </p:nvCxnSpPr>
          <p:spPr bwMode="gray">
            <a:xfrm>
              <a:off x="1450547" y="5459608"/>
              <a:ext cx="13067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bwMode="gray">
            <a:xfrm>
              <a:off x="1450547" y="5358391"/>
              <a:ext cx="0" cy="2024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2" name="组合 41"/>
          <p:cNvGrpSpPr/>
          <p:nvPr/>
        </p:nvGrpSpPr>
        <p:grpSpPr>
          <a:xfrm flipH="1">
            <a:off x="4781391" y="5314687"/>
            <a:ext cx="130679" cy="202434"/>
            <a:chOff x="1450547" y="5358391"/>
            <a:chExt cx="130679" cy="202434"/>
          </a:xfrm>
        </p:grpSpPr>
        <p:cxnSp>
          <p:nvCxnSpPr>
            <p:cNvPr id="43" name="直接连接符 42"/>
            <p:cNvCxnSpPr/>
            <p:nvPr/>
          </p:nvCxnSpPr>
          <p:spPr bwMode="gray">
            <a:xfrm>
              <a:off x="1450547" y="5459608"/>
              <a:ext cx="13067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bwMode="gray">
            <a:xfrm>
              <a:off x="1450547" y="5358391"/>
              <a:ext cx="0" cy="2024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4" name="图片 1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306731" y="5194504"/>
            <a:ext cx="540000" cy="442800"/>
          </a:xfrm>
          <a:prstGeom prst="rect">
            <a:avLst/>
          </a:prstGeom>
        </p:spPr>
      </p:pic>
      <p:pic>
        <p:nvPicPr>
          <p:cNvPr id="21" name="图片 2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271604" y="5194504"/>
            <a:ext cx="540000" cy="442800"/>
          </a:xfrm>
          <a:prstGeom prst="rect">
            <a:avLst/>
          </a:prstGeom>
        </p:spPr>
      </p:pic>
      <p:sp>
        <p:nvSpPr>
          <p:cNvPr id="45" name="TextBox 120">
            <a:extLst>
              <a:ext uri="{FF2B5EF4-FFF2-40B4-BE49-F238E27FC236}">
                <a16:creationId xmlns="" xmlns:a16="http://schemas.microsoft.com/office/drawing/2014/main" id="{020D7A1D-EFAD-4C8C-B9DE-D0FAD269B77A}"/>
              </a:ext>
            </a:extLst>
          </p:cNvPr>
          <p:cNvSpPr txBox="1"/>
          <p:nvPr/>
        </p:nvSpPr>
        <p:spPr bwMode="gray">
          <a:xfrm>
            <a:off x="1145991" y="5158682"/>
            <a:ext cx="1062322" cy="523220"/>
          </a:xfrm>
          <a:prstGeom prst="rect">
            <a:avLst/>
          </a:prstGeom>
          <a:noFill/>
          <a:ln>
            <a:noFill/>
          </a:ln>
        </p:spPr>
        <p:txBody>
          <a:bodyPr wrap="square" rtlCol="0">
            <a:spAutoFit/>
          </a:bodyPr>
          <a:lstStyle/>
          <a:p>
            <a:pPr algn="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Loopback0</a:t>
            </a:r>
          </a:p>
          <a:p>
            <a:pPr algn="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10.1.1.1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120">
            <a:extLst>
              <a:ext uri="{FF2B5EF4-FFF2-40B4-BE49-F238E27FC236}">
                <a16:creationId xmlns="" xmlns:a16="http://schemas.microsoft.com/office/drawing/2014/main" id="{020D7A1D-EFAD-4C8C-B9DE-D0FAD269B77A}"/>
              </a:ext>
            </a:extLst>
          </p:cNvPr>
          <p:cNvSpPr txBox="1"/>
          <p:nvPr/>
        </p:nvSpPr>
        <p:spPr bwMode="gray">
          <a:xfrm>
            <a:off x="4882389" y="5158682"/>
            <a:ext cx="1062322" cy="523220"/>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Loopback0</a:t>
            </a:r>
          </a:p>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10.1.2.2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55499001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smtClean="0">
                <a:solidFill>
                  <a:schemeClr val="bg1">
                    <a:lumMod val="50000"/>
                  </a:schemeClr>
                </a:solidFill>
              </a:rPr>
              <a:t>BGP</a:t>
            </a:r>
            <a:r>
              <a:rPr lang="zh-CN" altLang="en-US" dirty="0" smtClean="0">
                <a:solidFill>
                  <a:schemeClr val="bg1">
                    <a:lumMod val="50000"/>
                  </a:schemeClr>
                </a:solidFill>
              </a:rPr>
              <a:t>路由控制</a:t>
            </a:r>
            <a:endParaRPr lang="en-US" altLang="zh-CN" dirty="0" smtClean="0">
              <a:solidFill>
                <a:schemeClr val="bg1">
                  <a:lumMod val="50000"/>
                </a:schemeClr>
              </a:solidFill>
            </a:endParaRPr>
          </a:p>
          <a:p>
            <a:r>
              <a:rPr lang="en-US" altLang="zh-CN" dirty="0" smtClean="0">
                <a:solidFill>
                  <a:schemeClr val="bg1">
                    <a:lumMod val="50000"/>
                  </a:schemeClr>
                </a:solidFill>
              </a:rPr>
              <a:t>BGP</a:t>
            </a:r>
            <a:r>
              <a:rPr lang="zh-CN" altLang="en-US" dirty="0" smtClean="0">
                <a:solidFill>
                  <a:schemeClr val="bg1">
                    <a:lumMod val="50000"/>
                  </a:schemeClr>
                </a:solidFill>
              </a:rPr>
              <a:t>特性介绍</a:t>
            </a:r>
            <a:endParaRPr lang="en-US" altLang="zh-CN" dirty="0" smtClean="0">
              <a:solidFill>
                <a:schemeClr val="bg1">
                  <a:lumMod val="50000"/>
                </a:schemeClr>
              </a:solidFill>
            </a:endParaRPr>
          </a:p>
          <a:p>
            <a:r>
              <a:rPr lang="en-US" altLang="zh-CN" b="1" dirty="0"/>
              <a:t>BGP</a:t>
            </a:r>
            <a:r>
              <a:rPr lang="zh-CN" altLang="en-US" b="1" dirty="0"/>
              <a:t>路由反射器组网方式</a:t>
            </a:r>
            <a:endParaRPr lang="en-US" altLang="zh-CN" b="1" dirty="0"/>
          </a:p>
        </p:txBody>
      </p:sp>
    </p:spTree>
    <p:extLst>
      <p:ext uri="{BB962C8B-B14F-4D97-AF65-F5344CB8AC3E}">
        <p14:creationId xmlns:p14="http://schemas.microsoft.com/office/powerpoint/2010/main" val="26222512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xmlns="" id="{63EC1A45-DE44-4732-A300-8A63DEFB1977}"/>
              </a:ext>
            </a:extLst>
          </p:cNvPr>
          <p:cNvSpPr/>
          <p:nvPr/>
        </p:nvSpPr>
        <p:spPr bwMode="gray">
          <a:xfrm>
            <a:off x="4301264" y="4980115"/>
            <a:ext cx="1650726" cy="536070"/>
          </a:xfrm>
          <a:prstGeom prst="rect">
            <a:avLst/>
          </a:pr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ym typeface="Huawei Sans" panose="020C0503030203020204" pitchFamily="34" charset="0"/>
            </a:endParaRPr>
          </a:p>
        </p:txBody>
      </p:sp>
      <p:sp>
        <p:nvSpPr>
          <p:cNvPr id="26" name="矩形 25">
            <a:extLst>
              <a:ext uri="{FF2B5EF4-FFF2-40B4-BE49-F238E27FC236}">
                <a16:creationId xmlns:a16="http://schemas.microsoft.com/office/drawing/2014/main" xmlns="" id="{63EC1A45-DE44-4732-A300-8A63DEFB1977}"/>
              </a:ext>
            </a:extLst>
          </p:cNvPr>
          <p:cNvSpPr/>
          <p:nvPr/>
        </p:nvSpPr>
        <p:spPr bwMode="gray">
          <a:xfrm>
            <a:off x="587613" y="4980115"/>
            <a:ext cx="1578494" cy="536070"/>
          </a:xfrm>
          <a:prstGeom prst="rect">
            <a:avLst/>
          </a:pr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ym typeface="Huawei Sans" panose="020C0503030203020204" pitchFamily="34" charset="0"/>
            </a:endParaRPr>
          </a:p>
        </p:txBody>
      </p:sp>
      <p:sp>
        <p:nvSpPr>
          <p:cNvPr id="3" name="标题 2"/>
          <p:cNvSpPr>
            <a:spLocks noGrp="1"/>
          </p:cNvSpPr>
          <p:nvPr>
            <p:ph type="title"/>
          </p:nvPr>
        </p:nvSpPr>
        <p:spPr bwMode="gray"/>
        <p:txBody>
          <a:bodyPr/>
          <a:lstStyle/>
          <a:p>
            <a:r>
              <a:rPr lang="zh-CN" altLang="en-US" smtClean="0"/>
              <a:t>路由反射器</a:t>
            </a:r>
            <a:endParaRPr lang="zh-CN" altLang="en-US" dirty="0"/>
          </a:p>
        </p:txBody>
      </p:sp>
      <p:sp>
        <p:nvSpPr>
          <p:cNvPr id="46" name="文本占位符 45"/>
          <p:cNvSpPr>
            <a:spLocks noGrp="1"/>
          </p:cNvSpPr>
          <p:nvPr>
            <p:ph type="body" sz="quarter" idx="10"/>
          </p:nvPr>
        </p:nvSpPr>
        <p:spPr bwMode="gray">
          <a:xfrm>
            <a:off x="455612" y="1047750"/>
            <a:ext cx="11293475" cy="663009"/>
          </a:xfrm>
        </p:spPr>
        <p:txBody>
          <a:bodyPr/>
          <a:lstStyle/>
          <a:p>
            <a:r>
              <a:rPr lang="zh-CN" altLang="en-US" sz="2000" smtClean="0"/>
              <a:t>引入路由反射器，可以简化</a:t>
            </a:r>
            <a:r>
              <a:rPr lang="en-US" altLang="zh-CN" sz="2000" smtClean="0"/>
              <a:t>IBGP</a:t>
            </a:r>
            <a:r>
              <a:rPr lang="zh-CN" altLang="en-US" sz="2000" smtClean="0"/>
              <a:t>全互联的需求，也可以减轻网络和</a:t>
            </a:r>
            <a:r>
              <a:rPr lang="en-US" altLang="zh-CN" sz="2000" smtClean="0"/>
              <a:t>CPU</a:t>
            </a:r>
            <a:r>
              <a:rPr lang="zh-CN" altLang="en-US" sz="2000" smtClean="0"/>
              <a:t>的负担。</a:t>
            </a:r>
            <a:endParaRPr lang="zh-CN" altLang="en-US" sz="2000" dirty="0"/>
          </a:p>
        </p:txBody>
      </p:sp>
      <p:sp>
        <p:nvSpPr>
          <p:cNvPr id="5" name="矩形 4"/>
          <p:cNvSpPr/>
          <p:nvPr/>
        </p:nvSpPr>
        <p:spPr bwMode="gray">
          <a:xfrm>
            <a:off x="587612" y="2100910"/>
            <a:ext cx="5364377" cy="2263388"/>
          </a:xfrm>
          <a:prstGeom prst="rect">
            <a:avLst/>
          </a:pr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ym typeface="Huawei Sans" panose="020C0503030203020204" pitchFamily="34" charset="0"/>
            </a:endParaRPr>
          </a:p>
        </p:txBody>
      </p:sp>
      <p:pic>
        <p:nvPicPr>
          <p:cNvPr id="6" name="Picture 12" descr="E:\2016.01\1.12 扁平化图标\蓝色\AR-蓝色最新-40.png">
            <a:extLst>
              <a:ext uri="{FF2B5EF4-FFF2-40B4-BE49-F238E27FC236}">
                <a16:creationId xmlns:a16="http://schemas.microsoft.com/office/drawing/2014/main" xmlns="" id="{1D8E071F-501D-48FF-8ED1-076998A80BB3}"/>
              </a:ext>
            </a:extLst>
          </p:cNvPr>
          <p:cNvPicPr>
            <a:picLocks noChangeAspect="1" noChangeArrowheads="1"/>
          </p:cNvPicPr>
          <p:nvPr/>
        </p:nvPicPr>
        <p:blipFill>
          <a:blip r:embed="rId3" cstate="print"/>
          <a:srcRect/>
          <a:stretch>
            <a:fillRect/>
          </a:stretch>
        </p:blipFill>
        <p:spPr bwMode="gray">
          <a:xfrm>
            <a:off x="4679676" y="5013789"/>
            <a:ext cx="527350" cy="431467"/>
          </a:xfrm>
          <a:prstGeom prst="rect">
            <a:avLst/>
          </a:prstGeom>
          <a:noFill/>
        </p:spPr>
      </p:pic>
      <p:sp>
        <p:nvSpPr>
          <p:cNvPr id="7" name="TextBox 120">
            <a:extLst>
              <a:ext uri="{FF2B5EF4-FFF2-40B4-BE49-F238E27FC236}">
                <a16:creationId xmlns:a16="http://schemas.microsoft.com/office/drawing/2014/main" xmlns="" id="{020D7A1D-EFAD-4C8C-B9DE-D0FAD269B77A}"/>
              </a:ext>
            </a:extLst>
          </p:cNvPr>
          <p:cNvSpPr txBox="1"/>
          <p:nvPr/>
        </p:nvSpPr>
        <p:spPr bwMode="gray">
          <a:xfrm>
            <a:off x="5183705" y="5075694"/>
            <a:ext cx="826769" cy="307657"/>
          </a:xfrm>
          <a:prstGeom prst="rect">
            <a:avLst/>
          </a:prstGeom>
          <a:noFill/>
          <a:ln>
            <a:noFill/>
          </a:ln>
        </p:spPr>
        <p:txBody>
          <a:bodyPr wrap="square" rtlCol="0">
            <a:spAutoFit/>
          </a:bodyPr>
          <a:lstStyle/>
          <a:p>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AS 103</a:t>
            </a:r>
            <a:endPar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TextBox 120">
            <a:extLst>
              <a:ext uri="{FF2B5EF4-FFF2-40B4-BE49-F238E27FC236}">
                <a16:creationId xmlns:a16="http://schemas.microsoft.com/office/drawing/2014/main" xmlns="" id="{020D7A1D-EFAD-4C8C-B9DE-D0FAD269B77A}"/>
              </a:ext>
            </a:extLst>
          </p:cNvPr>
          <p:cNvSpPr txBox="1"/>
          <p:nvPr/>
        </p:nvSpPr>
        <p:spPr bwMode="gray">
          <a:xfrm>
            <a:off x="4234750" y="5089984"/>
            <a:ext cx="470731" cy="307777"/>
          </a:xfrm>
          <a:prstGeom prst="rect">
            <a:avLst/>
          </a:prstGeom>
          <a:noFill/>
          <a:ln>
            <a:noFill/>
          </a:ln>
        </p:spPr>
        <p:txBody>
          <a:bodyPr wrap="square" rtlCol="0">
            <a:spAutoFit/>
          </a:bodyPr>
          <a:lstStyle/>
          <a:p>
            <a:pPr algn="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TextBox 120">
            <a:extLst>
              <a:ext uri="{FF2B5EF4-FFF2-40B4-BE49-F238E27FC236}">
                <a16:creationId xmlns:a16="http://schemas.microsoft.com/office/drawing/2014/main" xmlns="" id="{020D7A1D-EFAD-4C8C-B9DE-D0FAD269B77A}"/>
              </a:ext>
            </a:extLst>
          </p:cNvPr>
          <p:cNvSpPr txBox="1"/>
          <p:nvPr/>
        </p:nvSpPr>
        <p:spPr bwMode="gray">
          <a:xfrm>
            <a:off x="692469" y="2475107"/>
            <a:ext cx="694056" cy="307233"/>
          </a:xfrm>
          <a:prstGeom prst="rect">
            <a:avLst/>
          </a:prstGeom>
          <a:noFill/>
          <a:ln>
            <a:noFill/>
          </a:ln>
        </p:spPr>
        <p:txBody>
          <a:bodyPr wrap="square" rtlCol="0">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OSPF</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 name="直接箭头连接符 10">
            <a:extLst>
              <a:ext uri="{FF2B5EF4-FFF2-40B4-BE49-F238E27FC236}">
                <a16:creationId xmlns:a16="http://schemas.microsoft.com/office/drawing/2014/main" xmlns="" id="{25FFCF9E-B77D-4002-8CAE-8C36C256A152}"/>
              </a:ext>
            </a:extLst>
          </p:cNvPr>
          <p:cNvCxnSpPr>
            <a:cxnSpLocks/>
            <a:stCxn id="19" idx="2"/>
            <a:endCxn id="6" idx="0"/>
          </p:cNvCxnSpPr>
          <p:nvPr/>
        </p:nvCxnSpPr>
        <p:spPr bwMode="gray">
          <a:xfrm>
            <a:off x="4943351" y="4040094"/>
            <a:ext cx="0" cy="973695"/>
          </a:xfrm>
          <a:prstGeom prst="straightConnector1">
            <a:avLst/>
          </a:prstGeom>
          <a:noFill/>
          <a:ln w="25400" cap="flat" cmpd="sng" algn="ctr">
            <a:solidFill>
              <a:schemeClr val="tx1"/>
            </a:solidFill>
            <a:prstDash val="sysDash"/>
            <a:headEnd type="triangle" w="med" len="med"/>
            <a:tailEnd type="triangle" w="med" len="med"/>
          </a:ln>
          <a:effectLst>
            <a:outerShdw blurRad="152400" dist="38100" dir="5400000" algn="t" rotWithShape="0">
              <a:prstClr val="black">
                <a:alpha val="12000"/>
              </a:prstClr>
            </a:outerShdw>
          </a:effectLst>
        </p:spPr>
      </p:cxnSp>
      <p:sp>
        <p:nvSpPr>
          <p:cNvPr id="12" name="TextBox 120">
            <a:extLst>
              <a:ext uri="{FF2B5EF4-FFF2-40B4-BE49-F238E27FC236}">
                <a16:creationId xmlns:a16="http://schemas.microsoft.com/office/drawing/2014/main" xmlns="" id="{020D7A1D-EFAD-4C8C-B9DE-D0FAD269B77A}"/>
              </a:ext>
            </a:extLst>
          </p:cNvPr>
          <p:cNvSpPr txBox="1"/>
          <p:nvPr/>
        </p:nvSpPr>
        <p:spPr bwMode="gray">
          <a:xfrm>
            <a:off x="626113" y="2241083"/>
            <a:ext cx="826769" cy="307657"/>
          </a:xfrm>
          <a:prstGeom prst="rect">
            <a:avLst/>
          </a:prstGeom>
          <a:noFill/>
          <a:ln>
            <a:noFill/>
          </a:ln>
        </p:spPr>
        <p:txBody>
          <a:bodyPr wrap="square" rtlCol="0">
            <a:spAutoFit/>
          </a:bodyPr>
          <a:lstStyle/>
          <a:p>
            <a:pPr algn="ct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AS 101</a:t>
            </a:r>
            <a:endPar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 name="Picture 12" descr="E:\2016.01\1.12 扁平化图标\蓝色\AR-蓝色最新-40.png">
            <a:extLst>
              <a:ext uri="{FF2B5EF4-FFF2-40B4-BE49-F238E27FC236}">
                <a16:creationId xmlns:a16="http://schemas.microsoft.com/office/drawing/2014/main" xmlns="" id="{1D8E071F-501D-48FF-8ED1-076998A80BB3}"/>
              </a:ext>
            </a:extLst>
          </p:cNvPr>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gray">
          <a:xfrm>
            <a:off x="2875901" y="2577555"/>
            <a:ext cx="527350" cy="431467"/>
          </a:xfrm>
          <a:prstGeom prst="rect">
            <a:avLst/>
          </a:prstGeom>
          <a:noFill/>
        </p:spPr>
      </p:pic>
      <p:pic>
        <p:nvPicPr>
          <p:cNvPr id="14" name="Picture 12" descr="E:\2016.01\1.12 扁平化图标\蓝色\AR-蓝色最新-40.png">
            <a:extLst>
              <a:ext uri="{FF2B5EF4-FFF2-40B4-BE49-F238E27FC236}">
                <a16:creationId xmlns:a16="http://schemas.microsoft.com/office/drawing/2014/main" xmlns="" id="{1D8E071F-501D-48FF-8ED1-076998A80BB3}"/>
              </a:ext>
            </a:extLst>
          </p:cNvPr>
          <p:cNvPicPr>
            <a:picLocks noChangeAspect="1" noChangeArrowheads="1"/>
          </p:cNvPicPr>
          <p:nvPr/>
        </p:nvPicPr>
        <p:blipFill>
          <a:blip r:embed="rId3" cstate="print"/>
          <a:srcRect/>
          <a:stretch>
            <a:fillRect/>
          </a:stretch>
        </p:blipFill>
        <p:spPr bwMode="gray">
          <a:xfrm>
            <a:off x="1275965" y="3608626"/>
            <a:ext cx="527350" cy="431467"/>
          </a:xfrm>
          <a:prstGeom prst="rect">
            <a:avLst/>
          </a:prstGeom>
          <a:noFill/>
        </p:spPr>
      </p:pic>
      <p:cxnSp>
        <p:nvCxnSpPr>
          <p:cNvPr id="15" name="直接连接符 14">
            <a:extLst>
              <a:ext uri="{FF2B5EF4-FFF2-40B4-BE49-F238E27FC236}">
                <a16:creationId xmlns:a16="http://schemas.microsoft.com/office/drawing/2014/main" xmlns="" id="{94275FFE-3BE6-4C12-8737-FDFE3456C4A2}"/>
              </a:ext>
            </a:extLst>
          </p:cNvPr>
          <p:cNvCxnSpPr>
            <a:stCxn id="13" idx="1"/>
            <a:endCxn id="14" idx="0"/>
          </p:cNvCxnSpPr>
          <p:nvPr/>
        </p:nvCxnSpPr>
        <p:spPr bwMode="gray">
          <a:xfrm flipH="1">
            <a:off x="1539641" y="2793288"/>
            <a:ext cx="1336261" cy="815338"/>
          </a:xfrm>
          <a:prstGeom prst="line">
            <a:avLst/>
          </a:prstGeom>
          <a:noFill/>
          <a:ln w="19050" cap="flat" cmpd="sng" algn="ctr">
            <a:solidFill>
              <a:schemeClr val="tx1"/>
            </a:solidFill>
            <a:prstDash val="solid"/>
          </a:ln>
          <a:effectLst/>
        </p:spPr>
      </p:cxnSp>
      <p:sp>
        <p:nvSpPr>
          <p:cNvPr id="16" name="TextBox 120">
            <a:extLst>
              <a:ext uri="{FF2B5EF4-FFF2-40B4-BE49-F238E27FC236}">
                <a16:creationId xmlns:a16="http://schemas.microsoft.com/office/drawing/2014/main" xmlns="" id="{020D7A1D-EFAD-4C8C-B9DE-D0FAD269B77A}"/>
              </a:ext>
            </a:extLst>
          </p:cNvPr>
          <p:cNvSpPr txBox="1"/>
          <p:nvPr/>
        </p:nvSpPr>
        <p:spPr bwMode="gray">
          <a:xfrm>
            <a:off x="2545164" y="2304359"/>
            <a:ext cx="1188824" cy="307648"/>
          </a:xfrm>
          <a:prstGeom prst="rect">
            <a:avLst/>
          </a:prstGeom>
          <a:noFill/>
          <a:ln>
            <a:noFill/>
          </a:ln>
        </p:spPr>
        <p:txBody>
          <a:bodyPr wrap="square" rtlCol="0">
            <a:spAutoFit/>
          </a:bodyPr>
          <a:lstStyle/>
          <a:p>
            <a:pPr algn="ctr"/>
            <a:r>
              <a:rPr lang="en-US" altLang="zh-CN" sz="1399"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RR</a:t>
            </a:r>
            <a:endParaRPr lang="en-US" altLang="zh-CN" sz="139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TextBox 120">
            <a:extLst>
              <a:ext uri="{FF2B5EF4-FFF2-40B4-BE49-F238E27FC236}">
                <a16:creationId xmlns:a16="http://schemas.microsoft.com/office/drawing/2014/main" xmlns="" id="{020D7A1D-EFAD-4C8C-B9DE-D0FAD269B77A}"/>
              </a:ext>
            </a:extLst>
          </p:cNvPr>
          <p:cNvSpPr txBox="1"/>
          <p:nvPr/>
        </p:nvSpPr>
        <p:spPr bwMode="gray">
          <a:xfrm>
            <a:off x="3957946" y="3824491"/>
            <a:ext cx="1188824"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9" name="Picture 12" descr="E:\2016.01\1.12 扁平化图标\蓝色\AR-蓝色最新-40.png">
            <a:extLst>
              <a:ext uri="{FF2B5EF4-FFF2-40B4-BE49-F238E27FC236}">
                <a16:creationId xmlns:a16="http://schemas.microsoft.com/office/drawing/2014/main" xmlns="" id="{1D8E071F-501D-48FF-8ED1-076998A80BB3}"/>
              </a:ext>
            </a:extLst>
          </p:cNvPr>
          <p:cNvPicPr>
            <a:picLocks noChangeAspect="1" noChangeArrowheads="1"/>
          </p:cNvPicPr>
          <p:nvPr/>
        </p:nvPicPr>
        <p:blipFill>
          <a:blip r:embed="rId3" cstate="print"/>
          <a:srcRect/>
          <a:stretch>
            <a:fillRect/>
          </a:stretch>
        </p:blipFill>
        <p:spPr bwMode="gray">
          <a:xfrm>
            <a:off x="4679676" y="3608626"/>
            <a:ext cx="527350" cy="431467"/>
          </a:xfrm>
          <a:prstGeom prst="rect">
            <a:avLst/>
          </a:prstGeom>
          <a:noFill/>
        </p:spPr>
      </p:pic>
      <p:cxnSp>
        <p:nvCxnSpPr>
          <p:cNvPr id="20" name="直接连接符 19">
            <a:extLst>
              <a:ext uri="{FF2B5EF4-FFF2-40B4-BE49-F238E27FC236}">
                <a16:creationId xmlns:a16="http://schemas.microsoft.com/office/drawing/2014/main" xmlns="" id="{94275FFE-3BE6-4C12-8737-FDFE3456C4A2}"/>
              </a:ext>
            </a:extLst>
          </p:cNvPr>
          <p:cNvCxnSpPr>
            <a:stCxn id="13" idx="3"/>
            <a:endCxn id="19" idx="0"/>
          </p:cNvCxnSpPr>
          <p:nvPr/>
        </p:nvCxnSpPr>
        <p:spPr bwMode="gray">
          <a:xfrm>
            <a:off x="3403252" y="2793288"/>
            <a:ext cx="1540099" cy="815338"/>
          </a:xfrm>
          <a:prstGeom prst="line">
            <a:avLst/>
          </a:prstGeom>
          <a:noFill/>
          <a:ln w="19050" cap="flat" cmpd="sng" algn="ctr">
            <a:solidFill>
              <a:schemeClr val="tx1"/>
            </a:solidFill>
            <a:prstDash val="solid"/>
          </a:ln>
          <a:effectLst/>
        </p:spPr>
      </p:cxnSp>
      <p:sp>
        <p:nvSpPr>
          <p:cNvPr id="21" name="TextBox 120">
            <a:extLst>
              <a:ext uri="{FF2B5EF4-FFF2-40B4-BE49-F238E27FC236}">
                <a16:creationId xmlns:a16="http://schemas.microsoft.com/office/drawing/2014/main" xmlns="" id="{020D7A1D-EFAD-4C8C-B9DE-D0FAD269B77A}"/>
              </a:ext>
            </a:extLst>
          </p:cNvPr>
          <p:cNvSpPr txBox="1"/>
          <p:nvPr/>
        </p:nvSpPr>
        <p:spPr bwMode="gray">
          <a:xfrm>
            <a:off x="1395414" y="3846583"/>
            <a:ext cx="1188824" cy="307777"/>
          </a:xfrm>
          <a:prstGeom prst="rect">
            <a:avLst/>
          </a:prstGeom>
          <a:noFill/>
          <a:ln>
            <a:no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2" name="直接箭头连接符 21">
            <a:extLst>
              <a:ext uri="{FF2B5EF4-FFF2-40B4-BE49-F238E27FC236}">
                <a16:creationId xmlns:a16="http://schemas.microsoft.com/office/drawing/2014/main" xmlns="" id="{25FFCF9E-B77D-4002-8CAE-8C36C256A152}"/>
              </a:ext>
            </a:extLst>
          </p:cNvPr>
          <p:cNvCxnSpPr>
            <a:cxnSpLocks/>
            <a:stCxn id="14" idx="3"/>
          </p:cNvCxnSpPr>
          <p:nvPr/>
        </p:nvCxnSpPr>
        <p:spPr bwMode="gray">
          <a:xfrm flipV="1">
            <a:off x="1803315" y="3112862"/>
            <a:ext cx="1132842" cy="711498"/>
          </a:xfrm>
          <a:prstGeom prst="straightConnector1">
            <a:avLst/>
          </a:prstGeom>
          <a:noFill/>
          <a:ln w="25400" cap="flat" cmpd="sng" algn="ctr">
            <a:solidFill>
              <a:schemeClr val="tx1"/>
            </a:solidFill>
            <a:prstDash val="sysDash"/>
            <a:headEnd type="triangle" w="med" len="med"/>
            <a:tailEnd type="triangle" w="med" len="med"/>
          </a:ln>
          <a:effectLst>
            <a:outerShdw blurRad="152400" dist="38100" dir="5400000" algn="t" rotWithShape="0">
              <a:prstClr val="black">
                <a:alpha val="12000"/>
              </a:prstClr>
            </a:outerShdw>
          </a:effectLst>
        </p:spPr>
      </p:cxnSp>
      <p:sp>
        <p:nvSpPr>
          <p:cNvPr id="23" name="TextBox 120">
            <a:extLst>
              <a:ext uri="{FF2B5EF4-FFF2-40B4-BE49-F238E27FC236}">
                <a16:creationId xmlns:a16="http://schemas.microsoft.com/office/drawing/2014/main" xmlns="" id="{020D7A1D-EFAD-4C8C-B9DE-D0FAD269B77A}"/>
              </a:ext>
            </a:extLst>
          </p:cNvPr>
          <p:cNvSpPr txBox="1"/>
          <p:nvPr/>
        </p:nvSpPr>
        <p:spPr bwMode="gray">
          <a:xfrm rot="19647555">
            <a:off x="2221276" y="3360196"/>
            <a:ext cx="707457" cy="307657"/>
          </a:xfrm>
          <a:prstGeom prst="rect">
            <a:avLst/>
          </a:prstGeom>
          <a:noFill/>
          <a:ln>
            <a:noFill/>
          </a:ln>
        </p:spPr>
        <p:txBody>
          <a:bodyPr wrap="square" rtlCol="0">
            <a:spAutoFit/>
          </a:bodyPr>
          <a:lstStyle/>
          <a:p>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IBGP</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4" name="Picture 12" descr="E:\2016.01\1.12 扁平化图标\蓝色\AR-蓝色最新-40.png">
            <a:extLst>
              <a:ext uri="{FF2B5EF4-FFF2-40B4-BE49-F238E27FC236}">
                <a16:creationId xmlns:a16="http://schemas.microsoft.com/office/drawing/2014/main" xmlns="" id="{1D8E071F-501D-48FF-8ED1-076998A80BB3}"/>
              </a:ext>
            </a:extLst>
          </p:cNvPr>
          <p:cNvPicPr>
            <a:picLocks noChangeAspect="1" noChangeArrowheads="1"/>
          </p:cNvPicPr>
          <p:nvPr/>
        </p:nvPicPr>
        <p:blipFill>
          <a:blip r:embed="rId3" cstate="print"/>
          <a:srcRect/>
          <a:stretch>
            <a:fillRect/>
          </a:stretch>
        </p:blipFill>
        <p:spPr bwMode="gray">
          <a:xfrm>
            <a:off x="1275965" y="5013789"/>
            <a:ext cx="527350" cy="431467"/>
          </a:xfrm>
          <a:prstGeom prst="rect">
            <a:avLst/>
          </a:prstGeom>
          <a:noFill/>
        </p:spPr>
      </p:pic>
      <p:sp>
        <p:nvSpPr>
          <p:cNvPr id="25" name="TextBox 120">
            <a:extLst>
              <a:ext uri="{FF2B5EF4-FFF2-40B4-BE49-F238E27FC236}">
                <a16:creationId xmlns:a16="http://schemas.microsoft.com/office/drawing/2014/main" xmlns="" id="{020D7A1D-EFAD-4C8C-B9DE-D0FAD269B77A}"/>
              </a:ext>
            </a:extLst>
          </p:cNvPr>
          <p:cNvSpPr txBox="1"/>
          <p:nvPr/>
        </p:nvSpPr>
        <p:spPr bwMode="gray">
          <a:xfrm>
            <a:off x="568363" y="5107716"/>
            <a:ext cx="826769" cy="307657"/>
          </a:xfrm>
          <a:prstGeom prst="rect">
            <a:avLst/>
          </a:prstGeom>
          <a:noFill/>
          <a:ln>
            <a:noFill/>
          </a:ln>
        </p:spPr>
        <p:txBody>
          <a:bodyPr wrap="square" rtlCol="0">
            <a:spAutoFit/>
          </a:bodyPr>
          <a:lstStyle/>
          <a:p>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AS 102</a:t>
            </a:r>
            <a:endPar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TextBox 120">
            <a:extLst>
              <a:ext uri="{FF2B5EF4-FFF2-40B4-BE49-F238E27FC236}">
                <a16:creationId xmlns:a16="http://schemas.microsoft.com/office/drawing/2014/main" xmlns="" id="{020D7A1D-EFAD-4C8C-B9DE-D0FAD269B77A}"/>
              </a:ext>
            </a:extLst>
          </p:cNvPr>
          <p:cNvSpPr txBox="1"/>
          <p:nvPr/>
        </p:nvSpPr>
        <p:spPr bwMode="gray">
          <a:xfrm>
            <a:off x="1800608" y="5072147"/>
            <a:ext cx="446737" cy="314749"/>
          </a:xfrm>
          <a:prstGeom prst="rect">
            <a:avLst/>
          </a:prstGeom>
          <a:no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8" name="直接箭头连接符 27">
            <a:extLst>
              <a:ext uri="{FF2B5EF4-FFF2-40B4-BE49-F238E27FC236}">
                <a16:creationId xmlns:a16="http://schemas.microsoft.com/office/drawing/2014/main" xmlns="" id="{25FFCF9E-B77D-4002-8CAE-8C36C256A152}"/>
              </a:ext>
            </a:extLst>
          </p:cNvPr>
          <p:cNvCxnSpPr>
            <a:cxnSpLocks/>
            <a:stCxn id="14" idx="2"/>
            <a:endCxn id="24" idx="0"/>
          </p:cNvCxnSpPr>
          <p:nvPr/>
        </p:nvCxnSpPr>
        <p:spPr bwMode="gray">
          <a:xfrm>
            <a:off x="1539640" y="4040094"/>
            <a:ext cx="0" cy="973695"/>
          </a:xfrm>
          <a:prstGeom prst="straightConnector1">
            <a:avLst/>
          </a:prstGeom>
          <a:noFill/>
          <a:ln w="25400" cap="flat" cmpd="sng" algn="ctr">
            <a:solidFill>
              <a:schemeClr val="tx1"/>
            </a:solidFill>
            <a:prstDash val="sysDash"/>
            <a:headEnd type="triangle" w="med" len="med"/>
            <a:tailEnd type="triangle" w="med" len="med"/>
          </a:ln>
          <a:effectLst>
            <a:outerShdw blurRad="152400" dist="38100" dir="5400000" algn="t" rotWithShape="0">
              <a:prstClr val="black">
                <a:alpha val="12000"/>
              </a:prstClr>
            </a:outerShdw>
          </a:effectLst>
        </p:spPr>
      </p:cxnSp>
      <p:cxnSp>
        <p:nvCxnSpPr>
          <p:cNvPr id="29" name="直接连接符 28">
            <a:extLst>
              <a:ext uri="{FF2B5EF4-FFF2-40B4-BE49-F238E27FC236}">
                <a16:creationId xmlns="" xmlns:a16="http://schemas.microsoft.com/office/drawing/2014/main" id="{927AD331-23D3-4BE6-8DF7-31B7006A5D7F}"/>
              </a:ext>
            </a:extLst>
          </p:cNvPr>
          <p:cNvCxnSpPr>
            <a:cxnSpLocks/>
            <a:endCxn id="24" idx="2"/>
          </p:cNvCxnSpPr>
          <p:nvPr/>
        </p:nvCxnSpPr>
        <p:spPr bwMode="gray">
          <a:xfrm flipV="1">
            <a:off x="1539640" y="5445256"/>
            <a:ext cx="0" cy="318819"/>
          </a:xfrm>
          <a:prstGeom prst="line">
            <a:avLst/>
          </a:prstGeom>
          <a:solidFill>
            <a:srgbClr val="F2F2F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sp>
        <p:nvSpPr>
          <p:cNvPr id="30" name="矩形 29"/>
          <p:cNvSpPr/>
          <p:nvPr/>
        </p:nvSpPr>
        <p:spPr bwMode="gray">
          <a:xfrm>
            <a:off x="793418" y="5732224"/>
            <a:ext cx="1492446" cy="307777"/>
          </a:xfrm>
          <a:prstGeom prst="rect">
            <a:avLst/>
          </a:prstGeom>
          <a:noFill/>
          <a:ln>
            <a:noFill/>
          </a:ln>
        </p:spPr>
        <p:txBody>
          <a:bodyPr wrap="squar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10.1.1.1/32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1" name="直接箭头连接符 30">
            <a:extLst>
              <a:ext uri="{FF2B5EF4-FFF2-40B4-BE49-F238E27FC236}">
                <a16:creationId xmlns:a16="http://schemas.microsoft.com/office/drawing/2014/main" xmlns="" id="{25FFCF9E-B77D-4002-8CAE-8C36C256A152}"/>
              </a:ext>
            </a:extLst>
          </p:cNvPr>
          <p:cNvCxnSpPr>
            <a:cxnSpLocks/>
            <a:stCxn id="19" idx="1"/>
          </p:cNvCxnSpPr>
          <p:nvPr/>
        </p:nvCxnSpPr>
        <p:spPr bwMode="gray">
          <a:xfrm flipH="1" flipV="1">
            <a:off x="3403251" y="3112862"/>
            <a:ext cx="1276425" cy="711498"/>
          </a:xfrm>
          <a:prstGeom prst="straightConnector1">
            <a:avLst/>
          </a:prstGeom>
          <a:noFill/>
          <a:ln w="25400" cap="flat" cmpd="sng" algn="ctr">
            <a:solidFill>
              <a:schemeClr val="tx1"/>
            </a:solidFill>
            <a:prstDash val="sysDash"/>
            <a:headEnd type="triangle" w="med" len="med"/>
            <a:tailEnd type="triangle" w="med" len="med"/>
          </a:ln>
          <a:effectLst>
            <a:outerShdw blurRad="152400" dist="38100" dir="5400000" algn="t" rotWithShape="0">
              <a:prstClr val="black">
                <a:alpha val="12000"/>
              </a:prstClr>
            </a:outerShdw>
          </a:effectLst>
        </p:spPr>
      </p:cxnSp>
      <p:sp>
        <p:nvSpPr>
          <p:cNvPr id="32" name="TextBox 120">
            <a:extLst>
              <a:ext uri="{FF2B5EF4-FFF2-40B4-BE49-F238E27FC236}">
                <a16:creationId xmlns:a16="http://schemas.microsoft.com/office/drawing/2014/main" xmlns="" id="{020D7A1D-EFAD-4C8C-B9DE-D0FAD269B77A}"/>
              </a:ext>
            </a:extLst>
          </p:cNvPr>
          <p:cNvSpPr txBox="1"/>
          <p:nvPr/>
        </p:nvSpPr>
        <p:spPr bwMode="gray">
          <a:xfrm rot="1866429">
            <a:off x="3591401" y="3438632"/>
            <a:ext cx="707457" cy="307657"/>
          </a:xfrm>
          <a:prstGeom prst="rect">
            <a:avLst/>
          </a:prstGeom>
          <a:noFill/>
          <a:ln>
            <a:noFill/>
          </a:ln>
        </p:spPr>
        <p:txBody>
          <a:bodyPr wrap="square" rtlCol="0">
            <a:spAutoFit/>
          </a:bodyPr>
          <a:lstStyle/>
          <a:p>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IBGP</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3" name="直接连接符 32"/>
          <p:cNvCxnSpPr/>
          <p:nvPr/>
        </p:nvCxnSpPr>
        <p:spPr bwMode="gray">
          <a:xfrm flipH="1">
            <a:off x="4366042" y="5919040"/>
            <a:ext cx="333824" cy="0"/>
          </a:xfrm>
          <a:prstGeom prst="line">
            <a:avLst/>
          </a:prstGeom>
          <a:solidFill>
            <a:schemeClr val="accent1"/>
          </a:solidFill>
          <a:ln w="28575" cap="flat" cmpd="sng" algn="ctr">
            <a:solidFill>
              <a:srgbClr val="30B5C5"/>
            </a:solidFill>
            <a:prstDash val="solid"/>
            <a:round/>
            <a:headEnd type="triangle" w="med" len="med"/>
            <a:tailEnd type="none" w="med" len="med"/>
          </a:ln>
          <a:effectLst/>
        </p:spPr>
      </p:cxnSp>
      <p:sp>
        <p:nvSpPr>
          <p:cNvPr id="34" name="文本框 33"/>
          <p:cNvSpPr txBox="1"/>
          <p:nvPr/>
        </p:nvSpPr>
        <p:spPr bwMode="gray">
          <a:xfrm>
            <a:off x="4711873" y="5780594"/>
            <a:ext cx="1341511" cy="276891"/>
          </a:xfrm>
          <a:prstGeom prst="rect">
            <a:avLst/>
          </a:prstGeom>
          <a:noFill/>
        </p:spPr>
        <p:txBody>
          <a:bodyPr wrap="none" rtlCol="0">
            <a:spAutoFit/>
          </a:bodyPr>
          <a:lstStyle/>
          <a:p>
            <a:pPr algn="ctr"/>
            <a:r>
              <a:rPr lang="en-US" altLang="zh-CN" sz="1200" kern="10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kern="1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100" dirty="0">
                <a:latin typeface="Huawei Sans" panose="020C0503030203020204" pitchFamily="34" charset="0"/>
                <a:ea typeface="方正兰亭黑简体" panose="02000000000000000000" pitchFamily="2" charset="-122"/>
                <a:sym typeface="Huawei Sans" panose="020C0503030203020204" pitchFamily="34" charset="0"/>
              </a:rPr>
              <a:t>Update</a:t>
            </a:r>
            <a:r>
              <a:rPr lang="zh-CN" altLang="en-US" sz="1200" kern="100" dirty="0">
                <a:latin typeface="Huawei Sans" panose="020C0503030203020204" pitchFamily="34" charset="0"/>
                <a:ea typeface="方正兰亭黑简体" panose="02000000000000000000" pitchFamily="2" charset="-122"/>
                <a:sym typeface="Huawei Sans" panose="020C0503030203020204" pitchFamily="34" charset="0"/>
              </a:rPr>
              <a:t>报文</a:t>
            </a:r>
            <a:endParaRPr lang="zh-CN" altLang="zh-CN" sz="1200" kern="100" dirty="0">
              <a:latin typeface="Huawei Sans" panose="020C0503030203020204" pitchFamily="34" charset="0"/>
              <a:ea typeface="方正兰亭黑简体" panose="02000000000000000000" pitchFamily="2" charset="-122"/>
              <a:cs typeface="Times New Roman"/>
              <a:sym typeface="Huawei Sans" panose="020C0503030203020204" pitchFamily="34" charset="0"/>
            </a:endParaRPr>
          </a:p>
        </p:txBody>
      </p:sp>
      <p:cxnSp>
        <p:nvCxnSpPr>
          <p:cNvPr id="35" name="直接连接符 34"/>
          <p:cNvCxnSpPr/>
          <p:nvPr/>
        </p:nvCxnSpPr>
        <p:spPr bwMode="gray">
          <a:xfrm>
            <a:off x="1275869" y="4123473"/>
            <a:ext cx="0" cy="696126"/>
          </a:xfrm>
          <a:prstGeom prst="line">
            <a:avLst/>
          </a:prstGeom>
          <a:solidFill>
            <a:schemeClr val="accent1"/>
          </a:solidFill>
          <a:ln w="28575" cap="flat" cmpd="sng" algn="ctr">
            <a:solidFill>
              <a:srgbClr val="30B5C5"/>
            </a:solidFill>
            <a:prstDash val="solid"/>
            <a:round/>
            <a:headEnd type="triangle" w="med" len="med"/>
            <a:tailEnd type="none" w="med" len="med"/>
          </a:ln>
          <a:effectLst/>
        </p:spPr>
      </p:cxnSp>
      <p:cxnSp>
        <p:nvCxnSpPr>
          <p:cNvPr id="36" name="直接连接符 35"/>
          <p:cNvCxnSpPr/>
          <p:nvPr/>
        </p:nvCxnSpPr>
        <p:spPr bwMode="gray">
          <a:xfrm flipH="1">
            <a:off x="1739020" y="2797186"/>
            <a:ext cx="721813" cy="443724"/>
          </a:xfrm>
          <a:prstGeom prst="line">
            <a:avLst/>
          </a:prstGeom>
          <a:solidFill>
            <a:schemeClr val="accent1"/>
          </a:solidFill>
          <a:ln w="28575" cap="flat" cmpd="sng" algn="ctr">
            <a:solidFill>
              <a:srgbClr val="30B5C5"/>
            </a:solidFill>
            <a:prstDash val="solid"/>
            <a:round/>
            <a:headEnd type="triangle" w="med" len="med"/>
            <a:tailEnd type="none" w="med" len="med"/>
          </a:ln>
          <a:effectLst/>
        </p:spPr>
      </p:cxnSp>
      <p:cxnSp>
        <p:nvCxnSpPr>
          <p:cNvPr id="37" name="直接连接符 36"/>
          <p:cNvCxnSpPr/>
          <p:nvPr/>
        </p:nvCxnSpPr>
        <p:spPr bwMode="gray">
          <a:xfrm flipH="1" flipV="1">
            <a:off x="3913955" y="2784421"/>
            <a:ext cx="735339" cy="390498"/>
          </a:xfrm>
          <a:prstGeom prst="line">
            <a:avLst/>
          </a:prstGeom>
          <a:solidFill>
            <a:schemeClr val="accent1"/>
          </a:solidFill>
          <a:ln w="28575" cap="flat" cmpd="sng" algn="ctr">
            <a:solidFill>
              <a:srgbClr val="30B5C5"/>
            </a:solidFill>
            <a:prstDash val="solid"/>
            <a:round/>
            <a:headEnd type="triangle" w="med" len="med"/>
            <a:tailEnd type="none" w="med" len="med"/>
          </a:ln>
          <a:effectLst/>
        </p:spPr>
      </p:cxnSp>
      <p:sp>
        <p:nvSpPr>
          <p:cNvPr id="38" name="矩形 37"/>
          <p:cNvSpPr/>
          <p:nvPr/>
        </p:nvSpPr>
        <p:spPr bwMode="gray">
          <a:xfrm>
            <a:off x="2942246" y="3112862"/>
            <a:ext cx="394660" cy="307777"/>
          </a:xfrm>
          <a:prstGeom prst="rect">
            <a:avLst/>
          </a:prstGeom>
        </p:spPr>
        <p:txBody>
          <a:bodyPr wrap="none">
            <a:spAutoFit/>
          </a:bodyPr>
          <a:lstStyle/>
          <a:p>
            <a:pPr lvl="0" algn="ctr"/>
            <a:r>
              <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R1</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占位符 112"/>
          <p:cNvSpPr txBox="1">
            <a:spLocks/>
          </p:cNvSpPr>
          <p:nvPr/>
        </p:nvSpPr>
        <p:spPr bwMode="gray">
          <a:xfrm>
            <a:off x="6085581" y="1986959"/>
            <a:ext cx="5660332" cy="3984575"/>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800" dirty="0" smtClean="0">
                <a:latin typeface="Huawei Sans" panose="020C0503030203020204" pitchFamily="34" charset="0"/>
                <a:ea typeface="方正兰亭黑简体" panose="02000000000000000000" pitchFamily="2" charset="-122"/>
                <a:sym typeface="Huawei Sans" panose="020C0503030203020204" pitchFamily="34" charset="0"/>
              </a:rPr>
              <a:t>引入路由反射器之后存在</a:t>
            </a:r>
            <a:r>
              <a:rPr lang="en-US" altLang="zh-CN" sz="1800" dirty="0" smtClean="0">
                <a:latin typeface="Huawei Sans" panose="020C0503030203020204" pitchFamily="34" charset="0"/>
                <a:ea typeface="方正兰亭黑简体" panose="02000000000000000000" pitchFamily="2" charset="-122"/>
                <a:sym typeface="Huawei Sans" panose="020C0503030203020204" pitchFamily="34" charset="0"/>
              </a:rPr>
              <a:t>3</a:t>
            </a:r>
            <a:r>
              <a:rPr lang="zh-CN" altLang="en-US" sz="1800" dirty="0" smtClean="0">
                <a:latin typeface="Huawei Sans" panose="020C0503030203020204" pitchFamily="34" charset="0"/>
                <a:ea typeface="方正兰亭黑简体" panose="02000000000000000000" pitchFamily="2" charset="-122"/>
                <a:sym typeface="Huawei Sans" panose="020C0503030203020204" pitchFamily="34" charset="0"/>
              </a:rPr>
              <a:t>种角色：</a:t>
            </a:r>
            <a:endParaRPr lang="en-US" altLang="zh-CN" sz="18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Route Reflector</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路由反射器</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Client</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客户</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机</a:t>
            </a:r>
            <a:endPar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Non-Client</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：非</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客户</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机</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会将学习的路由反射出去，从而使得</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IBGP</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路由在</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AS</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内传播无需建立</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IBGP</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全互联</a:t>
            </a:r>
            <a:r>
              <a:rPr lang="zh-CN" altLang="en-US" sz="18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800" dirty="0" smtClean="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800" dirty="0" smtClean="0">
                <a:latin typeface="Huawei Sans" panose="020C0503030203020204" pitchFamily="34" charset="0"/>
                <a:ea typeface="方正兰亭黑简体" panose="02000000000000000000" pitchFamily="2" charset="-122"/>
                <a:sym typeface="Huawei Sans" panose="020C0503030203020204" pitchFamily="34" charset="0"/>
              </a:rPr>
              <a:t>当</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收到对等体发来的路由，首先使用</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选路策略来选择最佳路由。在向</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IBGP</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邻居发布学习到的路由信息时，</a:t>
            </a:r>
            <a:r>
              <a:rPr lang="en-US" altLang="zh-CN" sz="1800" dirty="0" smtClean="0">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800" dirty="0" smtClean="0">
                <a:latin typeface="Huawei Sans" panose="020C0503030203020204" pitchFamily="34" charset="0"/>
                <a:ea typeface="方正兰亭黑简体" panose="02000000000000000000" pitchFamily="2" charset="-122"/>
                <a:sym typeface="Huawei Sans" panose="020C0503030203020204" pitchFamily="34" charset="0"/>
              </a:rPr>
              <a:t>会按照一定规则来发布路由。</a:t>
            </a:r>
            <a:endParaRPr lang="zh-CN" altLang="en-US"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TextBox 120">
            <a:extLst>
              <a:ext uri="{FF2B5EF4-FFF2-40B4-BE49-F238E27FC236}">
                <a16:creationId xmlns:a16="http://schemas.microsoft.com/office/drawing/2014/main" xmlns="" id="{020D7A1D-EFAD-4C8C-B9DE-D0FAD269B77A}"/>
              </a:ext>
            </a:extLst>
          </p:cNvPr>
          <p:cNvSpPr txBox="1"/>
          <p:nvPr/>
        </p:nvSpPr>
        <p:spPr bwMode="gray">
          <a:xfrm>
            <a:off x="691966" y="3316917"/>
            <a:ext cx="1188824" cy="307648"/>
          </a:xfrm>
          <a:prstGeom prst="rect">
            <a:avLst/>
          </a:prstGeom>
          <a:noFill/>
          <a:ln>
            <a:noFill/>
          </a:ln>
        </p:spPr>
        <p:txBody>
          <a:bodyPr wrap="square" rtlCol="0">
            <a:spAutoFit/>
          </a:bodyPr>
          <a:lstStyle/>
          <a:p>
            <a:pPr algn="ctr"/>
            <a:r>
              <a:rPr lang="en-US" altLang="zh-CN" sz="1399"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Client</a:t>
            </a:r>
            <a:endParaRPr lang="en-US" altLang="zh-CN" sz="139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120">
            <a:extLst>
              <a:ext uri="{FF2B5EF4-FFF2-40B4-BE49-F238E27FC236}">
                <a16:creationId xmlns:a16="http://schemas.microsoft.com/office/drawing/2014/main" xmlns="" id="{020D7A1D-EFAD-4C8C-B9DE-D0FAD269B77A}"/>
              </a:ext>
            </a:extLst>
          </p:cNvPr>
          <p:cNvSpPr txBox="1"/>
          <p:nvPr/>
        </p:nvSpPr>
        <p:spPr bwMode="gray">
          <a:xfrm>
            <a:off x="4763166" y="3319678"/>
            <a:ext cx="1188824" cy="307648"/>
          </a:xfrm>
          <a:prstGeom prst="rect">
            <a:avLst/>
          </a:prstGeom>
          <a:noFill/>
          <a:ln>
            <a:noFill/>
          </a:ln>
        </p:spPr>
        <p:txBody>
          <a:bodyPr wrap="square" rtlCol="0">
            <a:spAutoFit/>
          </a:bodyPr>
          <a:lstStyle/>
          <a:p>
            <a:pPr algn="ctr"/>
            <a:r>
              <a:rPr lang="en-US" altLang="zh-CN" sz="1399"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Non-Client</a:t>
            </a:r>
            <a:endParaRPr lang="en-US" altLang="zh-CN" sz="139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120">
            <a:extLst>
              <a:ext uri="{FF2B5EF4-FFF2-40B4-BE49-F238E27FC236}">
                <a16:creationId xmlns:a16="http://schemas.microsoft.com/office/drawing/2014/main" xmlns="" id="{020D7A1D-EFAD-4C8C-B9DE-D0FAD269B77A}"/>
              </a:ext>
            </a:extLst>
          </p:cNvPr>
          <p:cNvSpPr txBox="1"/>
          <p:nvPr/>
        </p:nvSpPr>
        <p:spPr bwMode="gray">
          <a:xfrm rot="16200000">
            <a:off x="1333758" y="4336134"/>
            <a:ext cx="707457" cy="307657"/>
          </a:xfrm>
          <a:prstGeom prst="rect">
            <a:avLst/>
          </a:prstGeom>
          <a:noFill/>
          <a:ln>
            <a:noFill/>
          </a:ln>
        </p:spPr>
        <p:txBody>
          <a:bodyPr wrap="square" rtlCol="0">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E</a:t>
            </a: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BGP</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120">
            <a:extLst>
              <a:ext uri="{FF2B5EF4-FFF2-40B4-BE49-F238E27FC236}">
                <a16:creationId xmlns:a16="http://schemas.microsoft.com/office/drawing/2014/main" xmlns="" id="{020D7A1D-EFAD-4C8C-B9DE-D0FAD269B77A}"/>
              </a:ext>
            </a:extLst>
          </p:cNvPr>
          <p:cNvSpPr txBox="1"/>
          <p:nvPr/>
        </p:nvSpPr>
        <p:spPr bwMode="gray">
          <a:xfrm rot="5400000" flipH="1">
            <a:off x="4441777" y="4336134"/>
            <a:ext cx="707457" cy="307657"/>
          </a:xfrm>
          <a:prstGeom prst="rect">
            <a:avLst/>
          </a:prstGeom>
          <a:noFill/>
          <a:ln>
            <a:noFill/>
          </a:ln>
        </p:spPr>
        <p:txBody>
          <a:bodyPr wrap="square" rtlCol="0">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E</a:t>
            </a: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BGP</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9" name="直接连接符 48">
            <a:extLst>
              <a:ext uri="{FF2B5EF4-FFF2-40B4-BE49-F238E27FC236}">
                <a16:creationId xmlns="" xmlns:a16="http://schemas.microsoft.com/office/drawing/2014/main" id="{927AD331-23D3-4BE6-8DF7-31B7006A5D7F}"/>
              </a:ext>
            </a:extLst>
          </p:cNvPr>
          <p:cNvCxnSpPr>
            <a:cxnSpLocks/>
          </p:cNvCxnSpPr>
          <p:nvPr/>
        </p:nvCxnSpPr>
        <p:spPr bwMode="gray">
          <a:xfrm flipH="1">
            <a:off x="1275870" y="5767342"/>
            <a:ext cx="524738" cy="0"/>
          </a:xfrm>
          <a:prstGeom prst="line">
            <a:avLst/>
          </a:prstGeom>
          <a:solidFill>
            <a:srgbClr val="F2F2F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321887131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bwMode="gray">
          <a:xfrm>
            <a:off x="854269" y="2194290"/>
            <a:ext cx="5158714" cy="2263388"/>
          </a:xfrm>
          <a:prstGeom prst="rect">
            <a:avLst/>
          </a:pr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ym typeface="Huawei Sans" panose="020C0503030203020204" pitchFamily="34" charset="0"/>
            </a:endParaRPr>
          </a:p>
        </p:txBody>
      </p:sp>
      <p:sp>
        <p:nvSpPr>
          <p:cNvPr id="55" name="椭圆 54"/>
          <p:cNvSpPr/>
          <p:nvPr/>
        </p:nvSpPr>
        <p:spPr bwMode="gray">
          <a:xfrm>
            <a:off x="1384137" y="2525857"/>
            <a:ext cx="3857063" cy="1780485"/>
          </a:xfrm>
          <a:prstGeom prst="ellipse">
            <a:avLst/>
          </a:prstGeom>
          <a:solidFill>
            <a:schemeClr val="bg1"/>
          </a:solidFill>
          <a:ln>
            <a:solidFill>
              <a:srgbClr val="94DAE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bwMode="gray"/>
        <p:txBody>
          <a:bodyPr/>
          <a:lstStyle/>
          <a:p>
            <a:r>
              <a:rPr lang="zh-CN" altLang="en-US" smtClean="0"/>
              <a:t>常见组网：备份</a:t>
            </a:r>
            <a:r>
              <a:rPr lang="en-US" altLang="zh-CN" smtClean="0"/>
              <a:t>RR</a:t>
            </a:r>
            <a:r>
              <a:rPr lang="zh-CN" altLang="en-US" smtClean="0"/>
              <a:t>组网</a:t>
            </a:r>
            <a:endParaRPr lang="zh-CN" altLang="en-US" dirty="0"/>
          </a:p>
        </p:txBody>
      </p:sp>
      <p:sp>
        <p:nvSpPr>
          <p:cNvPr id="4" name="文本占位符 3"/>
          <p:cNvSpPr>
            <a:spLocks noGrp="1"/>
          </p:cNvSpPr>
          <p:nvPr>
            <p:ph type="body" sz="quarter" idx="10"/>
          </p:nvPr>
        </p:nvSpPr>
        <p:spPr bwMode="gray">
          <a:xfrm>
            <a:off x="455612" y="1047750"/>
            <a:ext cx="11293475" cy="1013307"/>
          </a:xfrm>
        </p:spPr>
        <p:txBody>
          <a:bodyPr/>
          <a:lstStyle/>
          <a:p>
            <a:r>
              <a:rPr lang="zh-CN" altLang="en-US" sz="2000" dirty="0" smtClean="0"/>
              <a:t>为增加网络的可靠性，防止单点故障对网络造成影响，有时需要在一个集群中配置一个以上的</a:t>
            </a:r>
            <a:r>
              <a:rPr lang="en-US" altLang="zh-CN" sz="2000" dirty="0" smtClean="0"/>
              <a:t>RR</a:t>
            </a:r>
            <a:r>
              <a:rPr lang="zh-CN" altLang="en-US" sz="2000" dirty="0" smtClean="0"/>
              <a:t>。</a:t>
            </a:r>
            <a:endParaRPr lang="en-US" altLang="zh-CN" sz="2000" dirty="0" smtClean="0"/>
          </a:p>
          <a:p>
            <a:r>
              <a:rPr lang="zh-CN" altLang="en-US" sz="2000" dirty="0" smtClean="0"/>
              <a:t>转发路径上的路由器与所有</a:t>
            </a:r>
            <a:r>
              <a:rPr lang="en-US" altLang="zh-CN" sz="2000" dirty="0" smtClean="0"/>
              <a:t>RR</a:t>
            </a:r>
            <a:r>
              <a:rPr lang="zh-CN" altLang="en-US" sz="2000" dirty="0" smtClean="0"/>
              <a:t>均建立</a:t>
            </a:r>
            <a:r>
              <a:rPr lang="en-US" altLang="zh-CN" sz="2000" dirty="0" smtClean="0"/>
              <a:t>IBGP</a:t>
            </a:r>
            <a:r>
              <a:rPr lang="zh-CN" altLang="en-US" sz="2000" dirty="0" smtClean="0"/>
              <a:t>关系，任意一个</a:t>
            </a:r>
            <a:r>
              <a:rPr lang="en-US" altLang="zh-CN" sz="2000" dirty="0" smtClean="0"/>
              <a:t>RR</a:t>
            </a:r>
            <a:r>
              <a:rPr lang="zh-CN" altLang="en-US" sz="2000" dirty="0" smtClean="0"/>
              <a:t>均有完整的</a:t>
            </a:r>
            <a:r>
              <a:rPr lang="en-US" altLang="zh-CN" sz="2000" dirty="0" smtClean="0"/>
              <a:t>BGP</a:t>
            </a:r>
            <a:r>
              <a:rPr lang="zh-CN" altLang="en-US" sz="2000" dirty="0" smtClean="0"/>
              <a:t>路由。</a:t>
            </a:r>
          </a:p>
          <a:p>
            <a:endParaRPr lang="zh-CN" altLang="en-US" sz="2000" dirty="0"/>
          </a:p>
        </p:txBody>
      </p:sp>
      <p:cxnSp>
        <p:nvCxnSpPr>
          <p:cNvPr id="20" name="直接连接符 19">
            <a:extLst>
              <a:ext uri="{FF2B5EF4-FFF2-40B4-BE49-F238E27FC236}">
                <a16:creationId xmlns:a16="http://schemas.microsoft.com/office/drawing/2014/main" xmlns="" id="{94275FFE-3BE6-4C12-8737-FDFE3456C4A2}"/>
              </a:ext>
            </a:extLst>
          </p:cNvPr>
          <p:cNvCxnSpPr>
            <a:stCxn id="10" idx="3"/>
            <a:endCxn id="11" idx="1"/>
          </p:cNvCxnSpPr>
          <p:nvPr/>
        </p:nvCxnSpPr>
        <p:spPr bwMode="gray">
          <a:xfrm>
            <a:off x="2811655" y="2780719"/>
            <a:ext cx="1031186" cy="0"/>
          </a:xfrm>
          <a:prstGeom prst="line">
            <a:avLst/>
          </a:prstGeom>
          <a:noFill/>
          <a:ln w="19050" cap="flat" cmpd="sng" algn="ctr">
            <a:solidFill>
              <a:schemeClr val="tx1"/>
            </a:solidFill>
            <a:prstDash val="solid"/>
          </a:ln>
          <a:effectLst/>
        </p:spPr>
      </p:cxnSp>
      <p:cxnSp>
        <p:nvCxnSpPr>
          <p:cNvPr id="23" name="直接连接符 22">
            <a:extLst>
              <a:ext uri="{FF2B5EF4-FFF2-40B4-BE49-F238E27FC236}">
                <a16:creationId xmlns:a16="http://schemas.microsoft.com/office/drawing/2014/main" xmlns="" id="{94275FFE-3BE6-4C12-8737-FDFE3456C4A2}"/>
              </a:ext>
            </a:extLst>
          </p:cNvPr>
          <p:cNvCxnSpPr/>
          <p:nvPr/>
        </p:nvCxnSpPr>
        <p:spPr bwMode="gray">
          <a:xfrm flipV="1">
            <a:off x="1743858" y="2780719"/>
            <a:ext cx="785594" cy="1113464"/>
          </a:xfrm>
          <a:prstGeom prst="line">
            <a:avLst/>
          </a:prstGeom>
          <a:noFill/>
          <a:ln w="19050" cap="flat" cmpd="sng" algn="ctr">
            <a:solidFill>
              <a:schemeClr val="tx1"/>
            </a:solidFill>
            <a:prstDash val="solid"/>
          </a:ln>
          <a:effectLst/>
        </p:spPr>
      </p:cxnSp>
      <p:cxnSp>
        <p:nvCxnSpPr>
          <p:cNvPr id="26" name="直接连接符 25">
            <a:extLst>
              <a:ext uri="{FF2B5EF4-FFF2-40B4-BE49-F238E27FC236}">
                <a16:creationId xmlns:a16="http://schemas.microsoft.com/office/drawing/2014/main" xmlns="" id="{94275FFE-3BE6-4C12-8737-FDFE3456C4A2}"/>
              </a:ext>
            </a:extLst>
          </p:cNvPr>
          <p:cNvCxnSpPr/>
          <p:nvPr/>
        </p:nvCxnSpPr>
        <p:spPr bwMode="gray">
          <a:xfrm flipV="1">
            <a:off x="1756061" y="2774255"/>
            <a:ext cx="2356780" cy="1119928"/>
          </a:xfrm>
          <a:prstGeom prst="line">
            <a:avLst/>
          </a:prstGeom>
          <a:noFill/>
          <a:ln w="19050" cap="flat" cmpd="sng" algn="ctr">
            <a:solidFill>
              <a:schemeClr val="tx1"/>
            </a:solidFill>
            <a:prstDash val="solid"/>
          </a:ln>
          <a:effectLst/>
        </p:spPr>
      </p:cxnSp>
      <p:cxnSp>
        <p:nvCxnSpPr>
          <p:cNvPr id="31" name="直接连接符 30">
            <a:extLst>
              <a:ext uri="{FF2B5EF4-FFF2-40B4-BE49-F238E27FC236}">
                <a16:creationId xmlns:a16="http://schemas.microsoft.com/office/drawing/2014/main" xmlns="" id="{94275FFE-3BE6-4C12-8737-FDFE3456C4A2}"/>
              </a:ext>
            </a:extLst>
          </p:cNvPr>
          <p:cNvCxnSpPr/>
          <p:nvPr/>
        </p:nvCxnSpPr>
        <p:spPr bwMode="gray">
          <a:xfrm>
            <a:off x="4125044" y="2780719"/>
            <a:ext cx="748981" cy="1113463"/>
          </a:xfrm>
          <a:prstGeom prst="line">
            <a:avLst/>
          </a:prstGeom>
          <a:noFill/>
          <a:ln w="19050" cap="flat" cmpd="sng" algn="ctr">
            <a:solidFill>
              <a:schemeClr val="tx1"/>
            </a:solidFill>
            <a:prstDash val="solid"/>
          </a:ln>
          <a:effectLst/>
        </p:spPr>
      </p:cxnSp>
      <p:cxnSp>
        <p:nvCxnSpPr>
          <p:cNvPr id="34" name="直接连接符 33">
            <a:extLst>
              <a:ext uri="{FF2B5EF4-FFF2-40B4-BE49-F238E27FC236}">
                <a16:creationId xmlns:a16="http://schemas.microsoft.com/office/drawing/2014/main" xmlns="" id="{94275FFE-3BE6-4C12-8737-FDFE3456C4A2}"/>
              </a:ext>
            </a:extLst>
          </p:cNvPr>
          <p:cNvCxnSpPr/>
          <p:nvPr/>
        </p:nvCxnSpPr>
        <p:spPr bwMode="gray">
          <a:xfrm>
            <a:off x="2529450" y="2780718"/>
            <a:ext cx="2368982" cy="1113464"/>
          </a:xfrm>
          <a:prstGeom prst="line">
            <a:avLst/>
          </a:prstGeom>
          <a:noFill/>
          <a:ln w="19050" cap="flat" cmpd="sng" algn="ctr">
            <a:solidFill>
              <a:schemeClr val="tx1"/>
            </a:solidFill>
            <a:prstDash val="solid"/>
          </a:ln>
          <a:effectLst/>
        </p:spPr>
      </p:cxnSp>
      <p:pic>
        <p:nvPicPr>
          <p:cNvPr id="10" name="图片 9"/>
          <p:cNvPicPr>
            <a:picLocks/>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2271655" y="2559319"/>
            <a:ext cx="540000" cy="442800"/>
          </a:xfrm>
          <a:prstGeom prst="rect">
            <a:avLst/>
          </a:prstGeom>
        </p:spPr>
      </p:pic>
      <p:pic>
        <p:nvPicPr>
          <p:cNvPr id="11" name="图片 10"/>
          <p:cNvPicPr>
            <a:picLocks/>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3842841" y="2559319"/>
            <a:ext cx="540000" cy="442800"/>
          </a:xfrm>
          <a:prstGeom prst="rect">
            <a:avLst/>
          </a:prstGeom>
        </p:spPr>
      </p:pic>
      <p:pic>
        <p:nvPicPr>
          <p:cNvPr id="12" name="图片 11"/>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486062" y="3583711"/>
            <a:ext cx="540000" cy="442800"/>
          </a:xfrm>
          <a:prstGeom prst="rect">
            <a:avLst/>
          </a:prstGeom>
        </p:spPr>
      </p:pic>
      <p:pic>
        <p:nvPicPr>
          <p:cNvPr id="14" name="图片 1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628432" y="3583711"/>
            <a:ext cx="540000" cy="442800"/>
          </a:xfrm>
          <a:prstGeom prst="rect">
            <a:avLst/>
          </a:prstGeom>
        </p:spPr>
      </p:pic>
      <p:sp>
        <p:nvSpPr>
          <p:cNvPr id="49" name="TextBox 120">
            <a:extLst>
              <a:ext uri="{FF2B5EF4-FFF2-40B4-BE49-F238E27FC236}">
                <a16:creationId xmlns:a16="http://schemas.microsoft.com/office/drawing/2014/main" xmlns="" id="{020D7A1D-EFAD-4C8C-B9DE-D0FAD269B77A}"/>
              </a:ext>
            </a:extLst>
          </p:cNvPr>
          <p:cNvSpPr txBox="1"/>
          <p:nvPr/>
        </p:nvSpPr>
        <p:spPr bwMode="gray">
          <a:xfrm>
            <a:off x="2210256" y="2309551"/>
            <a:ext cx="662797" cy="307648"/>
          </a:xfrm>
          <a:prstGeom prst="rect">
            <a:avLst/>
          </a:prstGeom>
          <a:noFill/>
          <a:ln>
            <a:noFill/>
          </a:ln>
        </p:spPr>
        <p:txBody>
          <a:bodyPr wrap="square" rtlCol="0">
            <a:spAutoFit/>
          </a:bodyPr>
          <a:lstStyle/>
          <a:p>
            <a:pPr algn="ctr"/>
            <a:r>
              <a:rPr lang="en-US" altLang="zh-CN" sz="1399"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RR1</a:t>
            </a:r>
            <a:endParaRPr lang="en-US" altLang="zh-CN" sz="139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TextBox 120">
            <a:extLst>
              <a:ext uri="{FF2B5EF4-FFF2-40B4-BE49-F238E27FC236}">
                <a16:creationId xmlns:a16="http://schemas.microsoft.com/office/drawing/2014/main" xmlns="" id="{020D7A1D-EFAD-4C8C-B9DE-D0FAD269B77A}"/>
              </a:ext>
            </a:extLst>
          </p:cNvPr>
          <p:cNvSpPr txBox="1"/>
          <p:nvPr/>
        </p:nvSpPr>
        <p:spPr bwMode="gray">
          <a:xfrm>
            <a:off x="3781442" y="2309551"/>
            <a:ext cx="662797" cy="307648"/>
          </a:xfrm>
          <a:prstGeom prst="rect">
            <a:avLst/>
          </a:prstGeom>
          <a:noFill/>
          <a:ln>
            <a:noFill/>
          </a:ln>
        </p:spPr>
        <p:txBody>
          <a:bodyPr wrap="square" rtlCol="0">
            <a:spAutoFit/>
          </a:bodyPr>
          <a:lstStyle/>
          <a:p>
            <a:pPr algn="ctr"/>
            <a:r>
              <a:rPr lang="en-US" altLang="zh-CN" sz="1399"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RR2</a:t>
            </a:r>
            <a:endParaRPr lang="en-US" altLang="zh-CN" sz="139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TextBox 120">
            <a:extLst>
              <a:ext uri="{FF2B5EF4-FFF2-40B4-BE49-F238E27FC236}">
                <a16:creationId xmlns:a16="http://schemas.microsoft.com/office/drawing/2014/main" xmlns="" id="{020D7A1D-EFAD-4C8C-B9DE-D0FAD269B77A}"/>
              </a:ext>
            </a:extLst>
          </p:cNvPr>
          <p:cNvSpPr txBox="1"/>
          <p:nvPr/>
        </p:nvSpPr>
        <p:spPr bwMode="gray">
          <a:xfrm>
            <a:off x="893564" y="4007612"/>
            <a:ext cx="889384" cy="307648"/>
          </a:xfrm>
          <a:prstGeom prst="rect">
            <a:avLst/>
          </a:prstGeom>
          <a:noFill/>
          <a:ln>
            <a:noFill/>
          </a:ln>
        </p:spPr>
        <p:txBody>
          <a:bodyPr wrap="square" rtlCol="0">
            <a:spAutoFit/>
          </a:bodyPr>
          <a:lstStyle/>
          <a:p>
            <a:pPr algn="ct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Client1</a:t>
            </a:r>
            <a:endPar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TextBox 120">
            <a:extLst>
              <a:ext uri="{FF2B5EF4-FFF2-40B4-BE49-F238E27FC236}">
                <a16:creationId xmlns:a16="http://schemas.microsoft.com/office/drawing/2014/main" xmlns="" id="{020D7A1D-EFAD-4C8C-B9DE-D0FAD269B77A}"/>
              </a:ext>
            </a:extLst>
          </p:cNvPr>
          <p:cNvSpPr txBox="1"/>
          <p:nvPr/>
        </p:nvSpPr>
        <p:spPr bwMode="gray">
          <a:xfrm>
            <a:off x="4453740" y="4007612"/>
            <a:ext cx="889384" cy="307648"/>
          </a:xfrm>
          <a:prstGeom prst="rect">
            <a:avLst/>
          </a:prstGeom>
          <a:noFill/>
          <a:ln>
            <a:noFill/>
          </a:ln>
        </p:spPr>
        <p:txBody>
          <a:bodyPr wrap="square" rtlCol="0">
            <a:spAutoFit/>
          </a:bodyPr>
          <a:lstStyle/>
          <a:p>
            <a:pPr algn="ct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Client2</a:t>
            </a:r>
            <a:endPar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TextBox 120">
            <a:extLst>
              <a:ext uri="{FF2B5EF4-FFF2-40B4-BE49-F238E27FC236}">
                <a16:creationId xmlns:a16="http://schemas.microsoft.com/office/drawing/2014/main" xmlns="" id="{020D7A1D-EFAD-4C8C-B9DE-D0FAD269B77A}"/>
              </a:ext>
            </a:extLst>
          </p:cNvPr>
          <p:cNvSpPr txBox="1"/>
          <p:nvPr/>
        </p:nvSpPr>
        <p:spPr bwMode="gray">
          <a:xfrm>
            <a:off x="854269" y="2220692"/>
            <a:ext cx="826769" cy="307657"/>
          </a:xfrm>
          <a:prstGeom prst="rect">
            <a:avLst/>
          </a:prstGeom>
          <a:noFill/>
          <a:ln>
            <a:noFill/>
          </a:ln>
        </p:spPr>
        <p:txBody>
          <a:bodyPr wrap="square" rtlCol="0">
            <a:spAutoFit/>
          </a:bodyPr>
          <a:lstStyle/>
          <a:p>
            <a:pPr algn="ct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AS 101</a:t>
            </a:r>
            <a:endPar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TextBox 120">
            <a:extLst>
              <a:ext uri="{FF2B5EF4-FFF2-40B4-BE49-F238E27FC236}">
                <a16:creationId xmlns:a16="http://schemas.microsoft.com/office/drawing/2014/main" xmlns="" id="{020D7A1D-EFAD-4C8C-B9DE-D0FAD269B77A}"/>
              </a:ext>
            </a:extLst>
          </p:cNvPr>
          <p:cNvSpPr txBox="1"/>
          <p:nvPr/>
        </p:nvSpPr>
        <p:spPr bwMode="gray">
          <a:xfrm>
            <a:off x="2893249" y="3711365"/>
            <a:ext cx="826769" cy="307657"/>
          </a:xfrm>
          <a:prstGeom prst="rect">
            <a:avLst/>
          </a:prstGeom>
          <a:noFill/>
          <a:ln>
            <a:noFill/>
          </a:ln>
        </p:spPr>
        <p:txBody>
          <a:bodyPr wrap="square" rtlCol="0">
            <a:spAutoFit/>
          </a:bodyPr>
          <a:lstStyle/>
          <a:p>
            <a:pPr algn="ctr"/>
            <a:r>
              <a:rPr lang="en-US" altLang="zh-CN" sz="1399" b="1"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Cluster</a:t>
            </a:r>
            <a:endParaRPr lang="en-US" altLang="zh-CN" sz="1399"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TextBox 120">
            <a:extLst>
              <a:ext uri="{FF2B5EF4-FFF2-40B4-BE49-F238E27FC236}">
                <a16:creationId xmlns:a16="http://schemas.microsoft.com/office/drawing/2014/main" xmlns="" id="{020D7A1D-EFAD-4C8C-B9DE-D0FAD269B77A}"/>
              </a:ext>
            </a:extLst>
          </p:cNvPr>
          <p:cNvSpPr txBox="1"/>
          <p:nvPr/>
        </p:nvSpPr>
        <p:spPr bwMode="gray">
          <a:xfrm>
            <a:off x="2911162" y="2541899"/>
            <a:ext cx="826769" cy="307657"/>
          </a:xfrm>
          <a:prstGeom prst="rect">
            <a:avLst/>
          </a:prstGeom>
          <a:noFill/>
          <a:ln>
            <a:noFill/>
          </a:ln>
        </p:spPr>
        <p:txBody>
          <a:bodyPr wrap="square" rtlCol="0">
            <a:spAutoFit/>
          </a:bodyPr>
          <a:lstStyle/>
          <a:p>
            <a:pPr algn="ctr"/>
            <a:r>
              <a:rPr lang="en-US" altLang="zh-CN" sz="1399" dirty="0" smtClean="0">
                <a:latin typeface="Huawei Sans" panose="020C0503030203020204" pitchFamily="34" charset="0"/>
                <a:ea typeface="方正兰亭黑简体" panose="02000000000000000000" pitchFamily="2" charset="-122"/>
                <a:sym typeface="Huawei Sans" panose="020C0503030203020204" pitchFamily="34" charset="0"/>
              </a:rPr>
              <a:t>IBGP</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TextBox 120">
            <a:extLst>
              <a:ext uri="{FF2B5EF4-FFF2-40B4-BE49-F238E27FC236}">
                <a16:creationId xmlns:a16="http://schemas.microsoft.com/office/drawing/2014/main" xmlns="" id="{020D7A1D-EFAD-4C8C-B9DE-D0FAD269B77A}"/>
              </a:ext>
            </a:extLst>
          </p:cNvPr>
          <p:cNvSpPr txBox="1"/>
          <p:nvPr/>
        </p:nvSpPr>
        <p:spPr bwMode="gray">
          <a:xfrm>
            <a:off x="1872949" y="3334176"/>
            <a:ext cx="826769" cy="307657"/>
          </a:xfrm>
          <a:prstGeom prst="rect">
            <a:avLst/>
          </a:prstGeom>
          <a:noFill/>
          <a:ln>
            <a:noFill/>
          </a:ln>
        </p:spPr>
        <p:txBody>
          <a:bodyPr wrap="square" rtlCol="0">
            <a:spAutoFit/>
          </a:bodyPr>
          <a:lstStyle/>
          <a:p>
            <a:pPr algn="ctr"/>
            <a:r>
              <a:rPr lang="en-US" altLang="zh-CN" sz="1399" dirty="0" smtClean="0">
                <a:latin typeface="Huawei Sans" panose="020C0503030203020204" pitchFamily="34" charset="0"/>
                <a:ea typeface="方正兰亭黑简体" panose="02000000000000000000" pitchFamily="2" charset="-122"/>
                <a:sym typeface="Huawei Sans" panose="020C0503030203020204" pitchFamily="34" charset="0"/>
              </a:rPr>
              <a:t>IBGP</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TextBox 120">
            <a:extLst>
              <a:ext uri="{FF2B5EF4-FFF2-40B4-BE49-F238E27FC236}">
                <a16:creationId xmlns:a16="http://schemas.microsoft.com/office/drawing/2014/main" xmlns="" id="{020D7A1D-EFAD-4C8C-B9DE-D0FAD269B77A}"/>
              </a:ext>
            </a:extLst>
          </p:cNvPr>
          <p:cNvSpPr txBox="1"/>
          <p:nvPr/>
        </p:nvSpPr>
        <p:spPr bwMode="gray">
          <a:xfrm>
            <a:off x="3950114" y="3334176"/>
            <a:ext cx="826769" cy="307657"/>
          </a:xfrm>
          <a:prstGeom prst="rect">
            <a:avLst/>
          </a:prstGeom>
          <a:noFill/>
          <a:ln>
            <a:noFill/>
          </a:ln>
        </p:spPr>
        <p:txBody>
          <a:bodyPr wrap="square" rtlCol="0">
            <a:spAutoFit/>
          </a:bodyPr>
          <a:lstStyle/>
          <a:p>
            <a:pPr algn="ctr"/>
            <a:r>
              <a:rPr lang="en-US" altLang="zh-CN" sz="1399" dirty="0" smtClean="0">
                <a:latin typeface="Huawei Sans" panose="020C0503030203020204" pitchFamily="34" charset="0"/>
                <a:ea typeface="方正兰亭黑简体" panose="02000000000000000000" pitchFamily="2" charset="-122"/>
                <a:sym typeface="Huawei Sans" panose="020C0503030203020204" pitchFamily="34" charset="0"/>
              </a:rPr>
              <a:t>IBGP</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矩形 79"/>
          <p:cNvSpPr/>
          <p:nvPr/>
        </p:nvSpPr>
        <p:spPr bwMode="gray">
          <a:xfrm>
            <a:off x="854269" y="4918266"/>
            <a:ext cx="1675183" cy="1206698"/>
          </a:xfrm>
          <a:prstGeom prst="rect">
            <a:avLst/>
          </a:pr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ym typeface="Huawei Sans" panose="020C0503030203020204" pitchFamily="34" charset="0"/>
            </a:endParaRPr>
          </a:p>
        </p:txBody>
      </p:sp>
      <p:pic>
        <p:nvPicPr>
          <p:cNvPr id="91" name="图片 9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486062" y="5121096"/>
            <a:ext cx="540000" cy="442800"/>
          </a:xfrm>
          <a:prstGeom prst="rect">
            <a:avLst/>
          </a:prstGeom>
        </p:spPr>
      </p:pic>
      <p:sp>
        <p:nvSpPr>
          <p:cNvPr id="98" name="TextBox 120">
            <a:extLst>
              <a:ext uri="{FF2B5EF4-FFF2-40B4-BE49-F238E27FC236}">
                <a16:creationId xmlns:a16="http://schemas.microsoft.com/office/drawing/2014/main" xmlns="" id="{020D7A1D-EFAD-4C8C-B9DE-D0FAD269B77A}"/>
              </a:ext>
            </a:extLst>
          </p:cNvPr>
          <p:cNvSpPr txBox="1"/>
          <p:nvPr/>
        </p:nvSpPr>
        <p:spPr bwMode="gray">
          <a:xfrm>
            <a:off x="1743858" y="5198126"/>
            <a:ext cx="889384" cy="307648"/>
          </a:xfrm>
          <a:prstGeom prst="rect">
            <a:avLst/>
          </a:prstGeom>
          <a:noFill/>
          <a:ln>
            <a:noFill/>
          </a:ln>
        </p:spPr>
        <p:txBody>
          <a:bodyPr wrap="square" rtlCol="0">
            <a:spAutoFit/>
          </a:bodyPr>
          <a:lstStyle/>
          <a:p>
            <a:pPr algn="ct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R1</a:t>
            </a:r>
            <a:endPar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TextBox 120">
            <a:extLst>
              <a:ext uri="{FF2B5EF4-FFF2-40B4-BE49-F238E27FC236}">
                <a16:creationId xmlns:a16="http://schemas.microsoft.com/office/drawing/2014/main" xmlns="" id="{020D7A1D-EFAD-4C8C-B9DE-D0FAD269B77A}"/>
              </a:ext>
            </a:extLst>
          </p:cNvPr>
          <p:cNvSpPr txBox="1"/>
          <p:nvPr/>
        </p:nvSpPr>
        <p:spPr bwMode="gray">
          <a:xfrm>
            <a:off x="854174" y="4885940"/>
            <a:ext cx="826769" cy="307657"/>
          </a:xfrm>
          <a:prstGeom prst="rect">
            <a:avLst/>
          </a:prstGeom>
          <a:noFill/>
          <a:ln>
            <a:noFill/>
          </a:ln>
        </p:spPr>
        <p:txBody>
          <a:bodyPr wrap="square" rtlCol="0">
            <a:spAutoFit/>
          </a:bodyPr>
          <a:lstStyle/>
          <a:p>
            <a:pPr algn="ct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AS 102</a:t>
            </a:r>
            <a:endPar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1" name="直接连接符 100">
            <a:extLst>
              <a:ext uri="{FF2B5EF4-FFF2-40B4-BE49-F238E27FC236}">
                <a16:creationId xmlns:a16="http://schemas.microsoft.com/office/drawing/2014/main" xmlns="" id="{94275FFE-3BE6-4C12-8737-FDFE3456C4A2}"/>
              </a:ext>
            </a:extLst>
          </p:cNvPr>
          <p:cNvCxnSpPr>
            <a:stCxn id="91" idx="0"/>
            <a:endCxn id="12" idx="2"/>
          </p:cNvCxnSpPr>
          <p:nvPr/>
        </p:nvCxnSpPr>
        <p:spPr bwMode="gray">
          <a:xfrm flipV="1">
            <a:off x="1756062" y="4026511"/>
            <a:ext cx="0" cy="1094585"/>
          </a:xfrm>
          <a:prstGeom prst="line">
            <a:avLst/>
          </a:prstGeom>
          <a:noFill/>
          <a:ln w="19050" cap="flat" cmpd="sng" algn="ctr">
            <a:solidFill>
              <a:schemeClr val="bg1">
                <a:lumMod val="50000"/>
              </a:schemeClr>
            </a:solidFill>
            <a:prstDash val="solid"/>
          </a:ln>
          <a:effectLst/>
        </p:spPr>
      </p:cxnSp>
      <p:sp>
        <p:nvSpPr>
          <p:cNvPr id="102" name="TextBox 120">
            <a:extLst>
              <a:ext uri="{FF2B5EF4-FFF2-40B4-BE49-F238E27FC236}">
                <a16:creationId xmlns:a16="http://schemas.microsoft.com/office/drawing/2014/main" xmlns="" id="{020D7A1D-EFAD-4C8C-B9DE-D0FAD269B77A}"/>
              </a:ext>
            </a:extLst>
          </p:cNvPr>
          <p:cNvSpPr txBox="1"/>
          <p:nvPr/>
        </p:nvSpPr>
        <p:spPr bwMode="gray">
          <a:xfrm>
            <a:off x="1612677" y="4527377"/>
            <a:ext cx="826769" cy="307657"/>
          </a:xfrm>
          <a:prstGeom prst="rect">
            <a:avLst/>
          </a:prstGeom>
          <a:noFill/>
          <a:ln>
            <a:noFill/>
          </a:ln>
        </p:spPr>
        <p:txBody>
          <a:bodyPr wrap="square" rtlCol="0">
            <a:spAutoFit/>
          </a:bodyPr>
          <a:lstStyle/>
          <a:p>
            <a:pPr algn="ctr"/>
            <a:r>
              <a:rPr lang="en-US" altLang="zh-CN" sz="1399" dirty="0">
                <a:latin typeface="Huawei Sans" panose="020C0503030203020204" pitchFamily="34" charset="0"/>
                <a:ea typeface="方正兰亭黑简体" panose="02000000000000000000" pitchFamily="2" charset="-122"/>
                <a:sym typeface="Huawei Sans" panose="020C0503030203020204" pitchFamily="34" charset="0"/>
              </a:rPr>
              <a:t>E</a:t>
            </a:r>
            <a:r>
              <a:rPr lang="en-US" altLang="zh-CN" sz="1399" dirty="0" smtClean="0">
                <a:latin typeface="Huawei Sans" panose="020C0503030203020204" pitchFamily="34" charset="0"/>
                <a:ea typeface="方正兰亭黑简体" panose="02000000000000000000" pitchFamily="2" charset="-122"/>
                <a:sym typeface="Huawei Sans" panose="020C0503030203020204" pitchFamily="34" charset="0"/>
              </a:rPr>
              <a:t>BGP</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6" name="直接连接符 105">
            <a:extLst>
              <a:ext uri="{FF2B5EF4-FFF2-40B4-BE49-F238E27FC236}">
                <a16:creationId xmlns:a16="http://schemas.microsoft.com/office/drawing/2014/main" xmlns="" id="{94275FFE-3BE6-4C12-8737-FDFE3456C4A2}"/>
              </a:ext>
            </a:extLst>
          </p:cNvPr>
          <p:cNvCxnSpPr>
            <a:endCxn id="91" idx="2"/>
          </p:cNvCxnSpPr>
          <p:nvPr/>
        </p:nvCxnSpPr>
        <p:spPr bwMode="gray">
          <a:xfrm flipH="1" flipV="1">
            <a:off x="1756062" y="5563896"/>
            <a:ext cx="1" cy="178823"/>
          </a:xfrm>
          <a:prstGeom prst="line">
            <a:avLst/>
          </a:prstGeom>
          <a:noFill/>
          <a:ln w="19050" cap="flat" cmpd="sng" algn="ctr">
            <a:solidFill>
              <a:schemeClr val="bg1">
                <a:lumMod val="50000"/>
              </a:schemeClr>
            </a:solidFill>
            <a:prstDash val="solid"/>
          </a:ln>
          <a:effectLst/>
        </p:spPr>
      </p:cxnSp>
      <p:cxnSp>
        <p:nvCxnSpPr>
          <p:cNvPr id="110" name="直接连接符 109">
            <a:extLst>
              <a:ext uri="{FF2B5EF4-FFF2-40B4-BE49-F238E27FC236}">
                <a16:creationId xmlns:a16="http://schemas.microsoft.com/office/drawing/2014/main" xmlns="" id="{94275FFE-3BE6-4C12-8737-FDFE3456C4A2}"/>
              </a:ext>
            </a:extLst>
          </p:cNvPr>
          <p:cNvCxnSpPr/>
          <p:nvPr/>
        </p:nvCxnSpPr>
        <p:spPr bwMode="gray">
          <a:xfrm flipH="1">
            <a:off x="1504368" y="5741834"/>
            <a:ext cx="503389" cy="1"/>
          </a:xfrm>
          <a:prstGeom prst="line">
            <a:avLst/>
          </a:prstGeom>
          <a:noFill/>
          <a:ln w="19050" cap="flat" cmpd="sng" algn="ctr">
            <a:solidFill>
              <a:schemeClr val="bg1">
                <a:lumMod val="50000"/>
              </a:schemeClr>
            </a:solidFill>
            <a:prstDash val="solid"/>
          </a:ln>
          <a:effectLst/>
        </p:spPr>
      </p:cxnSp>
      <p:sp>
        <p:nvSpPr>
          <p:cNvPr id="111" name="TextBox 120">
            <a:extLst>
              <a:ext uri="{FF2B5EF4-FFF2-40B4-BE49-F238E27FC236}">
                <a16:creationId xmlns:a16="http://schemas.microsoft.com/office/drawing/2014/main" xmlns="" id="{020D7A1D-EFAD-4C8C-B9DE-D0FAD269B77A}"/>
              </a:ext>
            </a:extLst>
          </p:cNvPr>
          <p:cNvSpPr txBox="1"/>
          <p:nvPr/>
        </p:nvSpPr>
        <p:spPr bwMode="gray">
          <a:xfrm>
            <a:off x="1207679" y="5710299"/>
            <a:ext cx="1096768" cy="307648"/>
          </a:xfrm>
          <a:prstGeom prst="rect">
            <a:avLst/>
          </a:prstGeom>
          <a:noFill/>
          <a:ln>
            <a:noFill/>
          </a:ln>
        </p:spPr>
        <p:txBody>
          <a:bodyPr wrap="square" rtlCol="0">
            <a:spAutoFit/>
          </a:bodyPr>
          <a:lstStyle/>
          <a:p>
            <a:pPr algn="ctr"/>
            <a:r>
              <a:rPr lang="en-US" altLang="zh-CN" sz="1399" dirty="0" smtClean="0">
                <a:latin typeface="Huawei Sans" panose="020C0503030203020204" pitchFamily="34" charset="0"/>
                <a:ea typeface="方正兰亭黑简体" panose="02000000000000000000" pitchFamily="2" charset="-122"/>
                <a:sym typeface="Huawei Sans" panose="020C0503030203020204" pitchFamily="34" charset="0"/>
              </a:rPr>
              <a:t>10.1.1.1/32</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8" name="直接连接符 37"/>
          <p:cNvCxnSpPr/>
          <p:nvPr/>
        </p:nvCxnSpPr>
        <p:spPr bwMode="gray">
          <a:xfrm>
            <a:off x="1656094" y="4330641"/>
            <a:ext cx="0" cy="696126"/>
          </a:xfrm>
          <a:prstGeom prst="line">
            <a:avLst/>
          </a:prstGeom>
          <a:solidFill>
            <a:schemeClr val="accent1"/>
          </a:solidFill>
          <a:ln w="38100" cap="flat" cmpd="sng" algn="ctr">
            <a:solidFill>
              <a:srgbClr val="30B5C5"/>
            </a:solidFill>
            <a:prstDash val="solid"/>
            <a:round/>
            <a:headEnd type="triangle" w="med" len="med"/>
            <a:tailEnd type="none" w="med" len="med"/>
          </a:ln>
          <a:effectLst/>
        </p:spPr>
      </p:cxnSp>
      <p:cxnSp>
        <p:nvCxnSpPr>
          <p:cNvPr id="39" name="直接连接符 38"/>
          <p:cNvCxnSpPr/>
          <p:nvPr/>
        </p:nvCxnSpPr>
        <p:spPr bwMode="gray">
          <a:xfrm flipH="1">
            <a:off x="1872949" y="3002119"/>
            <a:ext cx="327804" cy="485885"/>
          </a:xfrm>
          <a:prstGeom prst="line">
            <a:avLst/>
          </a:prstGeom>
          <a:solidFill>
            <a:schemeClr val="accent1"/>
          </a:solidFill>
          <a:ln w="38100" cap="flat" cmpd="sng" algn="ctr">
            <a:solidFill>
              <a:srgbClr val="30B5C5"/>
            </a:solidFill>
            <a:prstDash val="solid"/>
            <a:round/>
            <a:headEnd type="triangle" w="med" len="med"/>
            <a:tailEnd type="none" w="med" len="med"/>
          </a:ln>
          <a:effectLst/>
        </p:spPr>
      </p:cxnSp>
      <p:sp>
        <p:nvSpPr>
          <p:cNvPr id="42" name="文本占位符 3"/>
          <p:cNvSpPr txBox="1">
            <a:spLocks/>
          </p:cNvSpPr>
          <p:nvPr/>
        </p:nvSpPr>
        <p:spPr bwMode="gray">
          <a:xfrm>
            <a:off x="6112490" y="2104997"/>
            <a:ext cx="5632010" cy="4019967"/>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altLang="zh-CN" sz="1600" dirty="0" smtClean="0"/>
              <a:t>RR1</a:t>
            </a:r>
            <a:r>
              <a:rPr lang="zh-CN" altLang="en-US" sz="1600" dirty="0"/>
              <a:t>和</a:t>
            </a:r>
            <a:r>
              <a:rPr lang="en-US" altLang="zh-CN" sz="1600" dirty="0"/>
              <a:t>RR2</a:t>
            </a:r>
            <a:r>
              <a:rPr lang="zh-CN" altLang="en-US" sz="1600" dirty="0"/>
              <a:t>在同一个集群内，配置了相同的</a:t>
            </a:r>
            <a:r>
              <a:rPr lang="en-US" altLang="zh-CN" sz="1600" dirty="0"/>
              <a:t>Cluster ID</a:t>
            </a:r>
            <a:r>
              <a:rPr lang="zh-CN" altLang="en-US" sz="1600" dirty="0"/>
              <a:t>。</a:t>
            </a:r>
          </a:p>
          <a:p>
            <a:r>
              <a:rPr lang="zh-CN" altLang="en-US" sz="1600" dirty="0"/>
              <a:t>单级</a:t>
            </a:r>
            <a:r>
              <a:rPr lang="en-US" altLang="zh-CN" sz="1600" dirty="0"/>
              <a:t>RR</a:t>
            </a:r>
            <a:r>
              <a:rPr lang="zh-CN" altLang="en-US" sz="1600" dirty="0"/>
              <a:t>组网路由反射原理</a:t>
            </a:r>
            <a:r>
              <a:rPr lang="zh-CN" altLang="en-US" sz="1600" dirty="0" smtClean="0"/>
              <a:t>（图示以</a:t>
            </a:r>
            <a:r>
              <a:rPr lang="en-US" altLang="zh-CN" sz="1600" dirty="0" smtClean="0"/>
              <a:t>RR1</a:t>
            </a:r>
            <a:r>
              <a:rPr lang="zh-CN" altLang="en-US" sz="1600" dirty="0" smtClean="0"/>
              <a:t>的反射路径为</a:t>
            </a:r>
            <a:r>
              <a:rPr lang="zh-CN" altLang="en-US" sz="1600" dirty="0"/>
              <a:t>例）：</a:t>
            </a:r>
          </a:p>
          <a:p>
            <a:pPr marL="745939" lvl="1" indent="-342900">
              <a:buFont typeface="+mj-lt"/>
              <a:buAutoNum type="arabicPeriod"/>
            </a:pPr>
            <a:r>
              <a:rPr lang="zh-CN" altLang="en-US" sz="1400" dirty="0"/>
              <a:t>当客户机</a:t>
            </a:r>
            <a:r>
              <a:rPr lang="en-US" altLang="zh-CN" sz="1400" dirty="0"/>
              <a:t>Client1</a:t>
            </a:r>
            <a:r>
              <a:rPr lang="zh-CN" altLang="en-US" sz="1400" dirty="0"/>
              <a:t>从</a:t>
            </a:r>
            <a:r>
              <a:rPr lang="en-US" altLang="zh-CN" sz="1400" dirty="0"/>
              <a:t>EBGP</a:t>
            </a:r>
            <a:r>
              <a:rPr lang="zh-CN" altLang="en-US" sz="1400" dirty="0"/>
              <a:t>对等体接收到一条更新路由，它将通过</a:t>
            </a:r>
            <a:r>
              <a:rPr lang="en-US" altLang="zh-CN" sz="1400" dirty="0"/>
              <a:t>IBGP</a:t>
            </a:r>
            <a:r>
              <a:rPr lang="zh-CN" altLang="en-US" sz="1400" dirty="0"/>
              <a:t>向</a:t>
            </a:r>
            <a:r>
              <a:rPr lang="en-US" altLang="zh-CN" sz="1400" dirty="0"/>
              <a:t>RR1</a:t>
            </a:r>
            <a:r>
              <a:rPr lang="zh-CN" altLang="en-US" sz="1400" dirty="0"/>
              <a:t>和</a:t>
            </a:r>
            <a:r>
              <a:rPr lang="en-US" altLang="zh-CN" sz="1400" dirty="0"/>
              <a:t>RR2</a:t>
            </a:r>
            <a:r>
              <a:rPr lang="zh-CN" altLang="en-US" sz="1400" dirty="0"/>
              <a:t>通告这条路由。</a:t>
            </a:r>
          </a:p>
          <a:p>
            <a:pPr marL="745939" lvl="1" indent="-342900">
              <a:buFont typeface="+mj-lt"/>
              <a:buAutoNum type="arabicPeriod"/>
            </a:pPr>
            <a:r>
              <a:rPr lang="en-US" altLang="zh-CN" sz="1400" dirty="0"/>
              <a:t>RR1</a:t>
            </a:r>
            <a:r>
              <a:rPr lang="zh-CN" altLang="en-US" sz="1400" dirty="0"/>
              <a:t>和</a:t>
            </a:r>
            <a:r>
              <a:rPr lang="en-US" altLang="zh-CN" sz="1400" dirty="0"/>
              <a:t>RR2</a:t>
            </a:r>
            <a:r>
              <a:rPr lang="zh-CN" altLang="en-US" sz="1400" dirty="0"/>
              <a:t>在接收到该更新路由后，将本地</a:t>
            </a:r>
            <a:r>
              <a:rPr lang="en-US" altLang="zh-CN" sz="1400" dirty="0"/>
              <a:t>Cluster ID</a:t>
            </a:r>
            <a:r>
              <a:rPr lang="zh-CN" altLang="en-US" sz="1400" dirty="0"/>
              <a:t>添加到</a:t>
            </a:r>
            <a:r>
              <a:rPr lang="en-US" altLang="zh-CN" sz="1400" dirty="0"/>
              <a:t>Cluster List</a:t>
            </a:r>
            <a:r>
              <a:rPr lang="zh-CN" altLang="en-US" sz="1400" dirty="0"/>
              <a:t>前面，然后向其他的客户机（</a:t>
            </a:r>
            <a:r>
              <a:rPr lang="en-US" altLang="zh-CN" sz="1400" dirty="0" smtClean="0"/>
              <a:t>Client2</a:t>
            </a:r>
            <a:r>
              <a:rPr lang="zh-CN" altLang="en-US" sz="1400" dirty="0" smtClean="0"/>
              <a:t>）</a:t>
            </a:r>
            <a:r>
              <a:rPr lang="zh-CN" altLang="en-US" sz="1400" dirty="0"/>
              <a:t>反射，同时相互反射。</a:t>
            </a:r>
          </a:p>
          <a:p>
            <a:pPr marL="745939" lvl="1" indent="-342900">
              <a:buFont typeface="+mj-lt"/>
              <a:buAutoNum type="arabicPeriod"/>
            </a:pPr>
            <a:r>
              <a:rPr lang="en-US" altLang="zh-CN" sz="1400" dirty="0"/>
              <a:t>RR1</a:t>
            </a:r>
            <a:r>
              <a:rPr lang="zh-CN" altLang="en-US" sz="1400" dirty="0"/>
              <a:t>和</a:t>
            </a:r>
            <a:r>
              <a:rPr lang="en-US" altLang="zh-CN" sz="1400" dirty="0"/>
              <a:t>RR2</a:t>
            </a:r>
            <a:r>
              <a:rPr lang="zh-CN" altLang="en-US" sz="1400" dirty="0"/>
              <a:t>在接收到该反射路由后，检查</a:t>
            </a:r>
            <a:r>
              <a:rPr lang="en-US" altLang="zh-CN" sz="1400" dirty="0"/>
              <a:t>Cluster List</a:t>
            </a:r>
            <a:r>
              <a:rPr lang="zh-CN" altLang="en-US" sz="1400" dirty="0"/>
              <a:t>，发现自己的</a:t>
            </a:r>
            <a:r>
              <a:rPr lang="en-US" altLang="zh-CN" sz="1400" dirty="0"/>
              <a:t>Cluster ID</a:t>
            </a:r>
            <a:r>
              <a:rPr lang="zh-CN" altLang="en-US" sz="1400" dirty="0"/>
              <a:t>已经包含在</a:t>
            </a:r>
            <a:r>
              <a:rPr lang="en-US" altLang="zh-CN" sz="1400" dirty="0"/>
              <a:t>Cluster List</a:t>
            </a:r>
            <a:r>
              <a:rPr lang="zh-CN" altLang="en-US" sz="1400" dirty="0"/>
              <a:t>中。于是</a:t>
            </a:r>
            <a:r>
              <a:rPr lang="en-US" altLang="zh-CN" sz="1400" dirty="0"/>
              <a:t>RR1</a:t>
            </a:r>
            <a:r>
              <a:rPr lang="zh-CN" altLang="en-US" sz="1400" dirty="0"/>
              <a:t>和</a:t>
            </a:r>
            <a:r>
              <a:rPr lang="en-US" altLang="zh-CN" sz="1400" dirty="0"/>
              <a:t>RR2</a:t>
            </a:r>
            <a:r>
              <a:rPr lang="zh-CN" altLang="en-US" sz="1400" dirty="0"/>
              <a:t>丢弃该更新路由，从而降低</a:t>
            </a:r>
            <a:r>
              <a:rPr lang="en-US" altLang="zh-CN" sz="1400" dirty="0"/>
              <a:t>BGP</a:t>
            </a:r>
            <a:r>
              <a:rPr lang="zh-CN" altLang="en-US" sz="1400" dirty="0"/>
              <a:t>的内存</a:t>
            </a:r>
            <a:r>
              <a:rPr lang="zh-CN" altLang="en-US" sz="1400" dirty="0" smtClean="0"/>
              <a:t>占用。</a:t>
            </a:r>
            <a:endParaRPr lang="zh-CN" altLang="en-US" sz="1400" dirty="0"/>
          </a:p>
        </p:txBody>
      </p:sp>
      <p:cxnSp>
        <p:nvCxnSpPr>
          <p:cNvPr id="46" name="直接连接符 45"/>
          <p:cNvCxnSpPr/>
          <p:nvPr/>
        </p:nvCxnSpPr>
        <p:spPr bwMode="gray">
          <a:xfrm flipH="1" flipV="1">
            <a:off x="3011165" y="2927990"/>
            <a:ext cx="646435" cy="302806"/>
          </a:xfrm>
          <a:prstGeom prst="line">
            <a:avLst/>
          </a:prstGeom>
          <a:solidFill>
            <a:schemeClr val="accent1"/>
          </a:solidFill>
          <a:ln w="38100" cap="flat" cmpd="sng" algn="ctr">
            <a:solidFill>
              <a:srgbClr val="30B5C5"/>
            </a:solidFill>
            <a:prstDash val="solid"/>
            <a:round/>
            <a:headEnd type="triangle" w="med" len="med"/>
            <a:tailEnd type="none" w="med" len="med"/>
          </a:ln>
          <a:effectLst/>
        </p:spPr>
      </p:cxnSp>
      <p:cxnSp>
        <p:nvCxnSpPr>
          <p:cNvPr id="54" name="直接连接符 53"/>
          <p:cNvCxnSpPr/>
          <p:nvPr/>
        </p:nvCxnSpPr>
        <p:spPr bwMode="gray">
          <a:xfrm flipH="1" flipV="1">
            <a:off x="3011166" y="2555084"/>
            <a:ext cx="726765" cy="0"/>
          </a:xfrm>
          <a:prstGeom prst="line">
            <a:avLst/>
          </a:prstGeom>
          <a:solidFill>
            <a:schemeClr val="accent1"/>
          </a:solidFill>
          <a:ln w="38100" cap="flat" cmpd="sng" algn="ctr">
            <a:solidFill>
              <a:srgbClr val="30B5C5"/>
            </a:solidFill>
            <a:prstDash val="solid"/>
            <a:round/>
            <a:headEnd type="triangle" w="med" len="med"/>
            <a:tailEnd type="none" w="med" len="med"/>
          </a:ln>
          <a:effectLst/>
        </p:spPr>
      </p:cxnSp>
      <p:sp>
        <p:nvSpPr>
          <p:cNvPr id="62" name="Oval 4"/>
          <p:cNvSpPr>
            <a:spLocks noChangeAspect="1"/>
          </p:cNvSpPr>
          <p:nvPr/>
        </p:nvSpPr>
        <p:spPr bwMode="gray">
          <a:xfrm>
            <a:off x="1782948" y="3110126"/>
            <a:ext cx="180000" cy="180000"/>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Oval 4"/>
          <p:cNvSpPr>
            <a:spLocks noChangeAspect="1"/>
          </p:cNvSpPr>
          <p:nvPr/>
        </p:nvSpPr>
        <p:spPr bwMode="gray">
          <a:xfrm>
            <a:off x="2856161" y="2644876"/>
            <a:ext cx="180000" cy="180000"/>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ctr" fontAlgn="auto">
              <a:spcBef>
                <a:spcPts val="0"/>
              </a:spcBef>
              <a:spcAft>
                <a:spcPts val="0"/>
              </a:spcAft>
            </a:pPr>
            <a:r>
              <a:rPr lang="en-US" altLang="zh-CN" sz="12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Oval 4"/>
          <p:cNvSpPr>
            <a:spLocks noChangeAspect="1"/>
          </p:cNvSpPr>
          <p:nvPr/>
        </p:nvSpPr>
        <p:spPr bwMode="gray">
          <a:xfrm>
            <a:off x="3344641" y="2287100"/>
            <a:ext cx="180000" cy="180000"/>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ctr" fontAlgn="auto">
              <a:spcBef>
                <a:spcPts val="0"/>
              </a:spcBef>
              <a:spcAft>
                <a:spcPts val="0"/>
              </a:spcAft>
            </a:pPr>
            <a:r>
              <a:rPr lang="en-US" altLang="zh-CN" sz="12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9" name="组合 18"/>
          <p:cNvGrpSpPr/>
          <p:nvPr/>
        </p:nvGrpSpPr>
        <p:grpSpPr bwMode="gray">
          <a:xfrm>
            <a:off x="3504556" y="2460723"/>
            <a:ext cx="144000" cy="143999"/>
            <a:chOff x="903327" y="2396696"/>
            <a:chExt cx="144000" cy="143999"/>
          </a:xfrm>
        </p:grpSpPr>
        <p:cxnSp>
          <p:nvCxnSpPr>
            <p:cNvPr id="66" name="直接连接符 65"/>
            <p:cNvCxnSpPr/>
            <p:nvPr/>
          </p:nvCxnSpPr>
          <p:spPr bwMode="gray">
            <a:xfrm flipV="1">
              <a:off x="903327" y="2396696"/>
              <a:ext cx="144000" cy="143999"/>
            </a:xfrm>
            <a:prstGeom prst="line">
              <a:avLst/>
            </a:prstGeom>
            <a:solidFill>
              <a:srgbClr val="EC7061"/>
            </a:solidFill>
            <a:ln w="38100" cap="rnd">
              <a:solidFill>
                <a:srgbClr val="C7000B"/>
              </a:solidFill>
              <a:round/>
            </a:ln>
            <a:effectLst/>
          </p:spPr>
          <p:style>
            <a:lnRef idx="2">
              <a:schemeClr val="accent1"/>
            </a:lnRef>
            <a:fillRef idx="0">
              <a:schemeClr val="accent1"/>
            </a:fillRef>
            <a:effectRef idx="1">
              <a:schemeClr val="accent1"/>
            </a:effectRef>
            <a:fontRef idx="minor">
              <a:schemeClr val="tx1"/>
            </a:fontRef>
          </p:style>
        </p:cxnSp>
        <p:cxnSp>
          <p:nvCxnSpPr>
            <p:cNvPr id="67" name="直接连接符 66"/>
            <p:cNvCxnSpPr/>
            <p:nvPr/>
          </p:nvCxnSpPr>
          <p:spPr bwMode="gray">
            <a:xfrm>
              <a:off x="903327" y="2396696"/>
              <a:ext cx="144000" cy="143999"/>
            </a:xfrm>
            <a:prstGeom prst="line">
              <a:avLst/>
            </a:prstGeom>
            <a:solidFill>
              <a:srgbClr val="EC7061"/>
            </a:solidFill>
            <a:ln w="38100" cap="rnd">
              <a:solidFill>
                <a:srgbClr val="C7000B"/>
              </a:solidFill>
              <a:round/>
            </a:ln>
            <a:effectLst/>
          </p:spPr>
          <p:style>
            <a:lnRef idx="2">
              <a:schemeClr val="accent1"/>
            </a:lnRef>
            <a:fillRef idx="0">
              <a:schemeClr val="accent1"/>
            </a:fillRef>
            <a:effectRef idx="1">
              <a:schemeClr val="accent1"/>
            </a:effectRef>
            <a:fontRef idx="minor">
              <a:schemeClr val="tx1"/>
            </a:fontRef>
          </p:style>
        </p:cxnSp>
      </p:grpSp>
      <p:grpSp>
        <p:nvGrpSpPr>
          <p:cNvPr id="71" name="组合 70"/>
          <p:cNvGrpSpPr/>
          <p:nvPr/>
        </p:nvGrpSpPr>
        <p:grpSpPr bwMode="gray">
          <a:xfrm>
            <a:off x="4419050" y="5685092"/>
            <a:ext cx="1700594" cy="475616"/>
            <a:chOff x="4366042" y="5780594"/>
            <a:chExt cx="1700594" cy="475616"/>
          </a:xfrm>
        </p:grpSpPr>
        <p:cxnSp>
          <p:nvCxnSpPr>
            <p:cNvPr id="72" name="直接连接符 71"/>
            <p:cNvCxnSpPr/>
            <p:nvPr/>
          </p:nvCxnSpPr>
          <p:spPr bwMode="gray">
            <a:xfrm flipH="1">
              <a:off x="4366042" y="5919040"/>
              <a:ext cx="360000" cy="0"/>
            </a:xfrm>
            <a:prstGeom prst="line">
              <a:avLst/>
            </a:prstGeom>
            <a:noFill/>
            <a:ln w="19050" cap="flat" cmpd="sng" algn="ctr">
              <a:solidFill>
                <a:schemeClr val="tx1"/>
              </a:solidFill>
              <a:prstDash val="solid"/>
            </a:ln>
            <a:effectLst/>
          </p:spPr>
        </p:cxnSp>
        <p:sp>
          <p:nvSpPr>
            <p:cNvPr id="73" name="文本框 72"/>
            <p:cNvSpPr txBox="1"/>
            <p:nvPr/>
          </p:nvSpPr>
          <p:spPr bwMode="gray">
            <a:xfrm>
              <a:off x="4725125" y="5780594"/>
              <a:ext cx="979755" cy="276999"/>
            </a:xfrm>
            <a:prstGeom prst="rect">
              <a:avLst/>
            </a:prstGeom>
            <a:noFill/>
          </p:spPr>
          <p:txBody>
            <a:bodyPr wrap="none" rtlCol="0">
              <a:spAutoFit/>
            </a:bodyPr>
            <a:lstStyle/>
            <a:p>
              <a:r>
                <a:rPr lang="en-US" altLang="zh-CN" sz="1200" kern="100" dirty="0" smtClean="0">
                  <a:latin typeface="Huawei Sans" panose="020C0503030203020204" pitchFamily="34" charset="0"/>
                  <a:ea typeface="方正兰亭黑简体" panose="02000000000000000000" pitchFamily="2" charset="-122"/>
                  <a:sym typeface="Huawei Sans" panose="020C0503030203020204" pitchFamily="34" charset="0"/>
                </a:rPr>
                <a:t>IBGP</a:t>
              </a:r>
              <a:r>
                <a:rPr lang="zh-CN" altLang="en-US" sz="1200" kern="100" dirty="0" smtClean="0">
                  <a:latin typeface="Huawei Sans" panose="020C0503030203020204" pitchFamily="34" charset="0"/>
                  <a:ea typeface="方正兰亭黑简体" panose="02000000000000000000" pitchFamily="2" charset="-122"/>
                  <a:sym typeface="Huawei Sans" panose="020C0503030203020204" pitchFamily="34" charset="0"/>
                </a:rPr>
                <a:t>对等体</a:t>
              </a:r>
              <a:endParaRPr lang="zh-CN" altLang="zh-CN" sz="1200" kern="100" dirty="0">
                <a:latin typeface="Huawei Sans" panose="020C0503030203020204" pitchFamily="34" charset="0"/>
                <a:ea typeface="方正兰亭黑简体" panose="02000000000000000000" pitchFamily="2" charset="-122"/>
                <a:cs typeface="Times New Roman"/>
                <a:sym typeface="Huawei Sans" panose="020C0503030203020204" pitchFamily="34" charset="0"/>
              </a:endParaRPr>
            </a:p>
          </p:txBody>
        </p:sp>
        <p:cxnSp>
          <p:nvCxnSpPr>
            <p:cNvPr id="74" name="直接连接符 73"/>
            <p:cNvCxnSpPr/>
            <p:nvPr/>
          </p:nvCxnSpPr>
          <p:spPr bwMode="gray">
            <a:xfrm flipH="1">
              <a:off x="4366042" y="6117765"/>
              <a:ext cx="360000" cy="0"/>
            </a:xfrm>
            <a:prstGeom prst="line">
              <a:avLst/>
            </a:prstGeom>
            <a:solidFill>
              <a:schemeClr val="accent1"/>
            </a:solidFill>
            <a:ln w="28575" cap="flat" cmpd="sng" algn="ctr">
              <a:solidFill>
                <a:srgbClr val="30B5C5"/>
              </a:solidFill>
              <a:prstDash val="solid"/>
              <a:round/>
              <a:headEnd type="triangle" w="med" len="med"/>
              <a:tailEnd type="none" w="med" len="med"/>
            </a:ln>
            <a:effectLst/>
          </p:spPr>
        </p:cxnSp>
        <p:sp>
          <p:nvSpPr>
            <p:cNvPr id="75" name="文本框 74"/>
            <p:cNvSpPr txBox="1"/>
            <p:nvPr/>
          </p:nvSpPr>
          <p:spPr bwMode="gray">
            <a:xfrm>
              <a:off x="4725125" y="5979319"/>
              <a:ext cx="1341511" cy="276891"/>
            </a:xfrm>
            <a:prstGeom prst="rect">
              <a:avLst/>
            </a:prstGeom>
            <a:noFill/>
          </p:spPr>
          <p:txBody>
            <a:bodyPr wrap="none" rtlCol="0">
              <a:spAutoFit/>
            </a:bodyPr>
            <a:lstStyle/>
            <a:p>
              <a:r>
                <a:rPr lang="en-US" altLang="zh-CN" sz="1200" kern="10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kern="1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100" dirty="0">
                  <a:latin typeface="Huawei Sans" panose="020C0503030203020204" pitchFamily="34" charset="0"/>
                  <a:ea typeface="方正兰亭黑简体" panose="02000000000000000000" pitchFamily="2" charset="-122"/>
                  <a:sym typeface="Huawei Sans" panose="020C0503030203020204" pitchFamily="34" charset="0"/>
                </a:rPr>
                <a:t>Update</a:t>
              </a:r>
              <a:r>
                <a:rPr lang="zh-CN" altLang="en-US" sz="1200" kern="100" dirty="0">
                  <a:latin typeface="Huawei Sans" panose="020C0503030203020204" pitchFamily="34" charset="0"/>
                  <a:ea typeface="方正兰亭黑简体" panose="02000000000000000000" pitchFamily="2" charset="-122"/>
                  <a:sym typeface="Huawei Sans" panose="020C0503030203020204" pitchFamily="34" charset="0"/>
                </a:rPr>
                <a:t>报文</a:t>
              </a:r>
              <a:endParaRPr lang="zh-CN" altLang="zh-CN" sz="1200" kern="100" dirty="0">
                <a:latin typeface="Huawei Sans" panose="020C0503030203020204" pitchFamily="34" charset="0"/>
                <a:ea typeface="方正兰亭黑简体" panose="02000000000000000000" pitchFamily="2" charset="-122"/>
                <a:cs typeface="Times New Roman"/>
                <a:sym typeface="Huawei Sans" panose="020C0503030203020204" pitchFamily="34" charset="0"/>
              </a:endParaRPr>
            </a:p>
          </p:txBody>
        </p:sp>
      </p:grpSp>
    </p:spTree>
    <p:extLst>
      <p:ext uri="{BB962C8B-B14F-4D97-AF65-F5344CB8AC3E}">
        <p14:creationId xmlns:p14="http://schemas.microsoft.com/office/powerpoint/2010/main" val="3321970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3" grpId="0" animBg="1"/>
      <p:bldP spid="65"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矩形 99"/>
          <p:cNvSpPr/>
          <p:nvPr/>
        </p:nvSpPr>
        <p:spPr bwMode="gray">
          <a:xfrm>
            <a:off x="854268" y="2086578"/>
            <a:ext cx="5241731" cy="3712819"/>
          </a:xfrm>
          <a:prstGeom prst="rect">
            <a:avLst/>
          </a:pr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ym typeface="Huawei Sans" panose="020C0503030203020204" pitchFamily="34" charset="0"/>
            </a:endParaRPr>
          </a:p>
        </p:txBody>
      </p:sp>
      <p:sp>
        <p:nvSpPr>
          <p:cNvPr id="183" name="椭圆 182"/>
          <p:cNvSpPr/>
          <p:nvPr/>
        </p:nvSpPr>
        <p:spPr bwMode="auto">
          <a:xfrm>
            <a:off x="3715254" y="2364043"/>
            <a:ext cx="2135398" cy="1570605"/>
          </a:xfrm>
          <a:prstGeom prst="ellipse">
            <a:avLst/>
          </a:prstGeom>
          <a:solidFill>
            <a:schemeClr val="bg1"/>
          </a:solidFill>
          <a:ln>
            <a:solidFill>
              <a:srgbClr val="94DAE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4" name="椭圆 183"/>
          <p:cNvSpPr/>
          <p:nvPr/>
        </p:nvSpPr>
        <p:spPr bwMode="auto">
          <a:xfrm>
            <a:off x="3715254" y="4188045"/>
            <a:ext cx="2135398" cy="1570605"/>
          </a:xfrm>
          <a:prstGeom prst="ellipse">
            <a:avLst/>
          </a:prstGeom>
          <a:solidFill>
            <a:schemeClr val="bg1"/>
          </a:solidFill>
          <a:ln>
            <a:solidFill>
              <a:srgbClr val="94DAE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椭圆 184"/>
          <p:cNvSpPr/>
          <p:nvPr/>
        </p:nvSpPr>
        <p:spPr bwMode="auto">
          <a:xfrm>
            <a:off x="1096030" y="4188045"/>
            <a:ext cx="2135398" cy="1570605"/>
          </a:xfrm>
          <a:prstGeom prst="ellipse">
            <a:avLst/>
          </a:prstGeom>
          <a:solidFill>
            <a:schemeClr val="bg1"/>
          </a:solidFill>
          <a:ln>
            <a:solidFill>
              <a:srgbClr val="94DAE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bwMode="gray"/>
        <p:txBody>
          <a:bodyPr/>
          <a:lstStyle/>
          <a:p>
            <a:r>
              <a:rPr lang="zh-CN" altLang="en-US" smtClean="0"/>
              <a:t>常见组网：多集群</a:t>
            </a:r>
            <a:r>
              <a:rPr lang="en-US" altLang="zh-CN" smtClean="0"/>
              <a:t>RR</a:t>
            </a:r>
            <a:r>
              <a:rPr lang="zh-CN" altLang="en-US" smtClean="0"/>
              <a:t>组网 </a:t>
            </a:r>
            <a:r>
              <a:rPr lang="en-US" altLang="zh-CN" smtClean="0"/>
              <a:t>(1)</a:t>
            </a:r>
            <a:endParaRPr lang="zh-CN" altLang="en-US" dirty="0"/>
          </a:p>
        </p:txBody>
      </p:sp>
      <p:sp>
        <p:nvSpPr>
          <p:cNvPr id="4" name="文本占位符 3"/>
          <p:cNvSpPr>
            <a:spLocks noGrp="1"/>
          </p:cNvSpPr>
          <p:nvPr>
            <p:ph type="body" sz="quarter" idx="10"/>
          </p:nvPr>
        </p:nvSpPr>
        <p:spPr bwMode="gray">
          <a:xfrm>
            <a:off x="455612" y="1047750"/>
            <a:ext cx="11293475" cy="1044355"/>
          </a:xfrm>
        </p:spPr>
        <p:txBody>
          <a:bodyPr/>
          <a:lstStyle/>
          <a:p>
            <a:r>
              <a:rPr lang="zh-CN" altLang="en-US" sz="2000" dirty="0" smtClean="0"/>
              <a:t>一个</a:t>
            </a:r>
            <a:r>
              <a:rPr lang="en-US" altLang="zh-CN" sz="2000" dirty="0" smtClean="0"/>
              <a:t>AS</a:t>
            </a:r>
            <a:r>
              <a:rPr lang="zh-CN" altLang="en-US" sz="2000" dirty="0" smtClean="0"/>
              <a:t>中可以存在多个集群，各个集群的</a:t>
            </a:r>
            <a:r>
              <a:rPr lang="en-US" altLang="zh-CN" sz="2000" dirty="0" smtClean="0"/>
              <a:t>RR</a:t>
            </a:r>
            <a:r>
              <a:rPr lang="zh-CN" altLang="en-US" sz="2000" dirty="0" smtClean="0"/>
              <a:t>之间建立</a:t>
            </a:r>
            <a:r>
              <a:rPr lang="en-US" altLang="zh-CN" sz="2000" dirty="0" smtClean="0"/>
              <a:t>IBGP</a:t>
            </a:r>
            <a:r>
              <a:rPr lang="zh-CN" altLang="en-US" sz="2000" dirty="0" smtClean="0"/>
              <a:t>对等体。</a:t>
            </a:r>
            <a:endParaRPr lang="en-US" altLang="zh-CN" sz="2000" dirty="0" smtClean="0"/>
          </a:p>
          <a:p>
            <a:r>
              <a:rPr lang="zh-CN" altLang="en-US" sz="2000" dirty="0" smtClean="0"/>
              <a:t>当</a:t>
            </a:r>
            <a:r>
              <a:rPr lang="en-US" altLang="zh-CN" sz="2000" dirty="0" smtClean="0"/>
              <a:t>RR</a:t>
            </a:r>
            <a:r>
              <a:rPr lang="zh-CN" altLang="en-US" sz="2000" dirty="0" smtClean="0"/>
              <a:t>所处的网络层相同时，可以将不同集群的</a:t>
            </a:r>
            <a:r>
              <a:rPr lang="en-US" altLang="zh-CN" sz="2000" dirty="0" smtClean="0"/>
              <a:t>RR</a:t>
            </a:r>
            <a:r>
              <a:rPr lang="zh-CN" altLang="en-US" sz="2000" dirty="0" smtClean="0"/>
              <a:t>全互联，形成同级</a:t>
            </a:r>
            <a:r>
              <a:rPr lang="en-US" altLang="zh-CN" sz="2000" dirty="0" smtClean="0"/>
              <a:t>RR</a:t>
            </a:r>
            <a:r>
              <a:rPr lang="zh-CN" altLang="en-US" sz="2000" dirty="0" smtClean="0"/>
              <a:t>。</a:t>
            </a:r>
            <a:endParaRPr lang="zh-CN" altLang="en-US" sz="2000" dirty="0"/>
          </a:p>
        </p:txBody>
      </p:sp>
      <p:sp>
        <p:nvSpPr>
          <p:cNvPr id="42" name="文本占位符 3"/>
          <p:cNvSpPr txBox="1">
            <a:spLocks/>
          </p:cNvSpPr>
          <p:nvPr/>
        </p:nvSpPr>
        <p:spPr bwMode="gray">
          <a:xfrm>
            <a:off x="6112490" y="2208694"/>
            <a:ext cx="5632010" cy="4019967"/>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600" dirty="0"/>
              <a:t>一个骨干</a:t>
            </a:r>
            <a:r>
              <a:rPr lang="zh-CN" altLang="en-US" sz="1600" dirty="0" smtClean="0"/>
              <a:t>网</a:t>
            </a:r>
            <a:r>
              <a:rPr lang="en-US" altLang="zh-CN" sz="1600" dirty="0" smtClean="0"/>
              <a:t>AS</a:t>
            </a:r>
            <a:r>
              <a:rPr lang="zh-CN" altLang="en-US" sz="1600" dirty="0"/>
              <a:t>可能</a:t>
            </a:r>
            <a:r>
              <a:rPr lang="zh-CN" altLang="en-US" sz="1600" dirty="0" smtClean="0"/>
              <a:t>被</a:t>
            </a:r>
            <a:r>
              <a:rPr lang="zh-CN" altLang="en-US" sz="1600" dirty="0"/>
              <a:t>分成多个集群。各集群的</a:t>
            </a:r>
            <a:r>
              <a:rPr lang="en-US" altLang="zh-CN" sz="1600" dirty="0"/>
              <a:t>RR</a:t>
            </a:r>
            <a:r>
              <a:rPr lang="zh-CN" altLang="en-US" sz="1600" dirty="0"/>
              <a:t>互为非客户机关系，并</a:t>
            </a:r>
            <a:r>
              <a:rPr lang="zh-CN" altLang="en-US" sz="1600" dirty="0" smtClean="0"/>
              <a:t>建立</a:t>
            </a:r>
            <a:r>
              <a:rPr lang="en-US" altLang="zh-CN" sz="1600" dirty="0" smtClean="0"/>
              <a:t>IBGP</a:t>
            </a:r>
            <a:r>
              <a:rPr lang="zh-CN" altLang="en-US" sz="1600" dirty="0" smtClean="0"/>
              <a:t>全互联。</a:t>
            </a:r>
            <a:endParaRPr lang="en-US" altLang="zh-CN" sz="1600" dirty="0" smtClean="0"/>
          </a:p>
          <a:p>
            <a:r>
              <a:rPr lang="zh-CN" altLang="en-US" sz="1600" dirty="0" smtClean="0"/>
              <a:t>此时</a:t>
            </a:r>
            <a:r>
              <a:rPr lang="zh-CN" altLang="en-US" sz="1600" dirty="0"/>
              <a:t>虽然每个客户机只与所在集群的</a:t>
            </a:r>
            <a:r>
              <a:rPr lang="en-US" altLang="zh-CN" sz="1600" dirty="0"/>
              <a:t>RR</a:t>
            </a:r>
            <a:r>
              <a:rPr lang="zh-CN" altLang="en-US" sz="1600" dirty="0"/>
              <a:t>建立</a:t>
            </a:r>
            <a:r>
              <a:rPr lang="en-US" altLang="zh-CN" sz="1600" dirty="0"/>
              <a:t>IBGP</a:t>
            </a:r>
            <a:r>
              <a:rPr lang="zh-CN" altLang="en-US" sz="1600" dirty="0"/>
              <a:t>连接，但所有</a:t>
            </a:r>
            <a:r>
              <a:rPr lang="en-US" altLang="zh-CN" sz="1600" dirty="0"/>
              <a:t>RR</a:t>
            </a:r>
            <a:r>
              <a:rPr lang="zh-CN" altLang="en-US" sz="1600" dirty="0"/>
              <a:t>和客户机都能收到全部路由</a:t>
            </a:r>
            <a:r>
              <a:rPr lang="zh-CN" altLang="en-US" sz="1600" dirty="0" smtClean="0"/>
              <a:t>信息</a:t>
            </a:r>
            <a:r>
              <a:rPr lang="zh-CN" altLang="en-US" sz="1400" dirty="0" smtClean="0"/>
              <a:t>。</a:t>
            </a:r>
            <a:endParaRPr lang="en-US" altLang="zh-CN" sz="1400" dirty="0" smtClean="0"/>
          </a:p>
          <a:p>
            <a:r>
              <a:rPr lang="zh-CN" altLang="en-US" sz="1600" dirty="0"/>
              <a:t>如</a:t>
            </a:r>
            <a:r>
              <a:rPr lang="zh-CN" altLang="en-US" sz="1600" dirty="0" smtClean="0"/>
              <a:t>图所示：四个</a:t>
            </a:r>
            <a:r>
              <a:rPr lang="en-US" altLang="zh-CN" sz="1600" dirty="0" smtClean="0"/>
              <a:t>RR</a:t>
            </a:r>
            <a:r>
              <a:rPr lang="zh-CN" altLang="en-US" sz="1600" dirty="0" smtClean="0"/>
              <a:t>分别处于</a:t>
            </a:r>
            <a:r>
              <a:rPr lang="en-US" altLang="zh-CN" sz="1600" dirty="0" smtClean="0"/>
              <a:t>Cluster1</a:t>
            </a:r>
            <a:r>
              <a:rPr lang="zh-CN" altLang="en-US" sz="1600" dirty="0" smtClean="0"/>
              <a:t>、</a:t>
            </a:r>
            <a:r>
              <a:rPr lang="en-US" altLang="zh-CN" sz="1600" dirty="0" smtClean="0"/>
              <a:t>Cluster2</a:t>
            </a:r>
            <a:r>
              <a:rPr lang="zh-CN" altLang="en-US" sz="1600" dirty="0" smtClean="0"/>
              <a:t>、</a:t>
            </a:r>
            <a:r>
              <a:rPr lang="en-US" altLang="zh-CN" sz="1600" dirty="0" smtClean="0"/>
              <a:t>Cluster3</a:t>
            </a:r>
            <a:r>
              <a:rPr lang="zh-CN" altLang="en-US" sz="1600" dirty="0" smtClean="0"/>
              <a:t>、</a:t>
            </a:r>
            <a:r>
              <a:rPr lang="en-US" altLang="zh-CN" sz="1600" dirty="0" smtClean="0"/>
              <a:t>Cluster4</a:t>
            </a:r>
            <a:r>
              <a:rPr lang="zh-CN" altLang="en-US" sz="1600" dirty="0" smtClean="0"/>
              <a:t>中，它们之间互相建立</a:t>
            </a:r>
            <a:r>
              <a:rPr lang="en-US" altLang="zh-CN" sz="1600" dirty="0" smtClean="0"/>
              <a:t>IBGP</a:t>
            </a:r>
            <a:r>
              <a:rPr lang="zh-CN" altLang="en-US" sz="1600" dirty="0" smtClean="0"/>
              <a:t>连接，而每个客户机只与所在集群内的</a:t>
            </a:r>
            <a:r>
              <a:rPr lang="en-US" altLang="zh-CN" sz="1600" dirty="0" smtClean="0"/>
              <a:t>RR</a:t>
            </a:r>
            <a:r>
              <a:rPr lang="zh-CN" altLang="en-US" sz="1600" dirty="0" smtClean="0"/>
              <a:t>建立</a:t>
            </a:r>
            <a:r>
              <a:rPr lang="en-US" altLang="zh-CN" sz="1600" dirty="0" smtClean="0"/>
              <a:t>IBGP</a:t>
            </a:r>
            <a:r>
              <a:rPr lang="zh-CN" altLang="en-US" sz="1600" dirty="0" smtClean="0"/>
              <a:t>连接。</a:t>
            </a:r>
            <a:endParaRPr lang="zh-CN" altLang="en-US" sz="1600" dirty="0"/>
          </a:p>
        </p:txBody>
      </p:sp>
      <p:sp>
        <p:nvSpPr>
          <p:cNvPr id="108" name="椭圆 107"/>
          <p:cNvSpPr/>
          <p:nvPr/>
        </p:nvSpPr>
        <p:spPr bwMode="auto">
          <a:xfrm>
            <a:off x="1149239" y="2364043"/>
            <a:ext cx="2135398" cy="1570605"/>
          </a:xfrm>
          <a:prstGeom prst="ellipse">
            <a:avLst/>
          </a:prstGeom>
          <a:solidFill>
            <a:schemeClr val="bg1"/>
          </a:solidFill>
          <a:ln>
            <a:solidFill>
              <a:srgbClr val="94DAE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2" name="直接连接符 111">
            <a:extLst>
              <a:ext uri="{FF2B5EF4-FFF2-40B4-BE49-F238E27FC236}">
                <a16:creationId xmlns:a16="http://schemas.microsoft.com/office/drawing/2014/main" xmlns="" id="{94275FFE-3BE6-4C12-8737-FDFE3456C4A2}"/>
              </a:ext>
            </a:extLst>
          </p:cNvPr>
          <p:cNvCxnSpPr>
            <a:stCxn id="117" idx="3"/>
            <a:endCxn id="118" idx="1"/>
          </p:cNvCxnSpPr>
          <p:nvPr/>
        </p:nvCxnSpPr>
        <p:spPr bwMode="gray">
          <a:xfrm>
            <a:off x="2903116" y="3626535"/>
            <a:ext cx="1032489" cy="0"/>
          </a:xfrm>
          <a:prstGeom prst="line">
            <a:avLst/>
          </a:prstGeom>
          <a:noFill/>
          <a:ln w="19050" cap="flat" cmpd="sng" algn="ctr">
            <a:solidFill>
              <a:schemeClr val="tx1"/>
            </a:solidFill>
            <a:prstDash val="solid"/>
          </a:ln>
          <a:effectLst/>
        </p:spPr>
      </p:cxnSp>
      <p:sp>
        <p:nvSpPr>
          <p:cNvPr id="121" name="TextBox 120">
            <a:extLst>
              <a:ext uri="{FF2B5EF4-FFF2-40B4-BE49-F238E27FC236}">
                <a16:creationId xmlns:a16="http://schemas.microsoft.com/office/drawing/2014/main" xmlns="" id="{020D7A1D-EFAD-4C8C-B9DE-D0FAD269B77A}"/>
              </a:ext>
            </a:extLst>
          </p:cNvPr>
          <p:cNvSpPr txBox="1"/>
          <p:nvPr/>
        </p:nvSpPr>
        <p:spPr bwMode="gray">
          <a:xfrm>
            <a:off x="1966887" y="3473202"/>
            <a:ext cx="461180" cy="307648"/>
          </a:xfrm>
          <a:prstGeom prst="rect">
            <a:avLst/>
          </a:prstGeom>
          <a:noFill/>
          <a:ln>
            <a:noFill/>
          </a:ln>
        </p:spPr>
        <p:txBody>
          <a:bodyPr wrap="square" rtlCol="0">
            <a:spAutoFit/>
          </a:bodyPr>
          <a:lstStyle/>
          <a:p>
            <a:pPr algn="ctr"/>
            <a:r>
              <a:rPr lang="en-US" altLang="zh-CN" sz="1399"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RR</a:t>
            </a:r>
            <a:endParaRPr lang="en-US" altLang="zh-CN" sz="139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3" name="TextBox 120">
            <a:extLst>
              <a:ext uri="{FF2B5EF4-FFF2-40B4-BE49-F238E27FC236}">
                <a16:creationId xmlns:a16="http://schemas.microsoft.com/office/drawing/2014/main" xmlns="" id="{020D7A1D-EFAD-4C8C-B9DE-D0FAD269B77A}"/>
              </a:ext>
            </a:extLst>
          </p:cNvPr>
          <p:cNvSpPr txBox="1"/>
          <p:nvPr/>
        </p:nvSpPr>
        <p:spPr bwMode="gray">
          <a:xfrm>
            <a:off x="1278017" y="2320048"/>
            <a:ext cx="889384" cy="307648"/>
          </a:xfrm>
          <a:prstGeom prst="rect">
            <a:avLst/>
          </a:prstGeom>
          <a:noFill/>
          <a:ln>
            <a:noFill/>
          </a:ln>
        </p:spPr>
        <p:txBody>
          <a:bodyPr wrap="square" rtlCol="0">
            <a:spAutoFit/>
          </a:bodyPr>
          <a:lstStyle/>
          <a:p>
            <a:pPr algn="ct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Client1</a:t>
            </a:r>
            <a:endParaRPr lang="en-US" altLang="zh-CN" sz="1399"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4" name="TextBox 120">
            <a:extLst>
              <a:ext uri="{FF2B5EF4-FFF2-40B4-BE49-F238E27FC236}">
                <a16:creationId xmlns:a16="http://schemas.microsoft.com/office/drawing/2014/main" xmlns="" id="{020D7A1D-EFAD-4C8C-B9DE-D0FAD269B77A}"/>
              </a:ext>
            </a:extLst>
          </p:cNvPr>
          <p:cNvSpPr txBox="1"/>
          <p:nvPr/>
        </p:nvSpPr>
        <p:spPr bwMode="gray">
          <a:xfrm>
            <a:off x="854269" y="2072492"/>
            <a:ext cx="826769" cy="307657"/>
          </a:xfrm>
          <a:prstGeom prst="rect">
            <a:avLst/>
          </a:prstGeom>
          <a:noFill/>
          <a:ln>
            <a:noFill/>
          </a:ln>
        </p:spPr>
        <p:txBody>
          <a:bodyPr wrap="square" rtlCol="0">
            <a:spAutoFit/>
          </a:bodyPr>
          <a:lstStyle/>
          <a:p>
            <a:pPr algn="ct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AS 101</a:t>
            </a:r>
            <a:endPar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6" name="TextBox 120">
            <a:extLst>
              <a:ext uri="{FF2B5EF4-FFF2-40B4-BE49-F238E27FC236}">
                <a16:creationId xmlns:a16="http://schemas.microsoft.com/office/drawing/2014/main" xmlns="" id="{020D7A1D-EFAD-4C8C-B9DE-D0FAD269B77A}"/>
              </a:ext>
            </a:extLst>
          </p:cNvPr>
          <p:cNvSpPr txBox="1"/>
          <p:nvPr/>
        </p:nvSpPr>
        <p:spPr bwMode="gray">
          <a:xfrm>
            <a:off x="3026517" y="3746398"/>
            <a:ext cx="826769" cy="307657"/>
          </a:xfrm>
          <a:prstGeom prst="rect">
            <a:avLst/>
          </a:prstGeom>
          <a:noFill/>
          <a:ln>
            <a:noFill/>
          </a:ln>
        </p:spPr>
        <p:txBody>
          <a:bodyPr wrap="square" rtlCol="0">
            <a:spAutoFit/>
          </a:bodyPr>
          <a:lstStyle/>
          <a:p>
            <a:pPr algn="ctr"/>
            <a:r>
              <a:rPr lang="en-US" altLang="zh-CN" sz="1399" dirty="0" smtClean="0">
                <a:latin typeface="Huawei Sans" panose="020C0503030203020204" pitchFamily="34" charset="0"/>
                <a:ea typeface="方正兰亭黑简体" panose="02000000000000000000" pitchFamily="2" charset="-122"/>
                <a:sym typeface="Huawei Sans" panose="020C0503030203020204" pitchFamily="34" charset="0"/>
              </a:rPr>
              <a:t>IBGP</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29" name="图片 128"/>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363116" y="5189942"/>
            <a:ext cx="540000" cy="442800"/>
          </a:xfrm>
          <a:prstGeom prst="rect">
            <a:avLst/>
          </a:prstGeom>
        </p:spPr>
      </p:pic>
      <p:cxnSp>
        <p:nvCxnSpPr>
          <p:cNvPr id="131" name="直接连接符 130">
            <a:extLst>
              <a:ext uri="{FF2B5EF4-FFF2-40B4-BE49-F238E27FC236}">
                <a16:creationId xmlns:a16="http://schemas.microsoft.com/office/drawing/2014/main" xmlns="" id="{94275FFE-3BE6-4C12-8737-FDFE3456C4A2}"/>
              </a:ext>
            </a:extLst>
          </p:cNvPr>
          <p:cNvCxnSpPr>
            <a:stCxn id="129" idx="0"/>
            <a:endCxn id="140" idx="2"/>
          </p:cNvCxnSpPr>
          <p:nvPr/>
        </p:nvCxnSpPr>
        <p:spPr bwMode="gray">
          <a:xfrm flipV="1">
            <a:off x="2633116" y="4830938"/>
            <a:ext cx="0" cy="359004"/>
          </a:xfrm>
          <a:prstGeom prst="line">
            <a:avLst/>
          </a:prstGeom>
          <a:noFill/>
          <a:ln w="19050" cap="flat" cmpd="sng" algn="ctr">
            <a:solidFill>
              <a:schemeClr val="tx1"/>
            </a:solidFill>
            <a:prstDash val="solid"/>
          </a:ln>
          <a:effectLst/>
        </p:spPr>
      </p:cxnSp>
      <p:grpSp>
        <p:nvGrpSpPr>
          <p:cNvPr id="135" name="组合 134"/>
          <p:cNvGrpSpPr/>
          <p:nvPr/>
        </p:nvGrpSpPr>
        <p:grpSpPr bwMode="gray">
          <a:xfrm>
            <a:off x="4419050" y="5881553"/>
            <a:ext cx="1338838" cy="276999"/>
            <a:chOff x="4366042" y="5780594"/>
            <a:chExt cx="1338838" cy="276999"/>
          </a:xfrm>
        </p:grpSpPr>
        <p:cxnSp>
          <p:nvCxnSpPr>
            <p:cNvPr id="136" name="直接连接符 135"/>
            <p:cNvCxnSpPr/>
            <p:nvPr/>
          </p:nvCxnSpPr>
          <p:spPr bwMode="gray">
            <a:xfrm flipH="1">
              <a:off x="4366042" y="5919040"/>
              <a:ext cx="360000" cy="0"/>
            </a:xfrm>
            <a:prstGeom prst="line">
              <a:avLst/>
            </a:prstGeom>
            <a:noFill/>
            <a:ln w="19050" cap="flat" cmpd="sng" algn="ctr">
              <a:solidFill>
                <a:schemeClr val="tx1"/>
              </a:solidFill>
              <a:prstDash val="solid"/>
            </a:ln>
            <a:effectLst/>
          </p:spPr>
        </p:cxnSp>
        <p:sp>
          <p:nvSpPr>
            <p:cNvPr id="137" name="文本框 136"/>
            <p:cNvSpPr txBox="1"/>
            <p:nvPr/>
          </p:nvSpPr>
          <p:spPr bwMode="gray">
            <a:xfrm>
              <a:off x="4725125" y="5780594"/>
              <a:ext cx="979755" cy="276999"/>
            </a:xfrm>
            <a:prstGeom prst="rect">
              <a:avLst/>
            </a:prstGeom>
            <a:noFill/>
          </p:spPr>
          <p:txBody>
            <a:bodyPr wrap="none" rtlCol="0">
              <a:spAutoFit/>
            </a:bodyPr>
            <a:lstStyle/>
            <a:p>
              <a:r>
                <a:rPr lang="en-US" altLang="zh-CN" sz="1200" kern="100" dirty="0" smtClean="0">
                  <a:latin typeface="Huawei Sans" panose="020C0503030203020204" pitchFamily="34" charset="0"/>
                  <a:ea typeface="方正兰亭黑简体" panose="02000000000000000000" pitchFamily="2" charset="-122"/>
                  <a:sym typeface="Huawei Sans" panose="020C0503030203020204" pitchFamily="34" charset="0"/>
                </a:rPr>
                <a:t>IBGP</a:t>
              </a:r>
              <a:r>
                <a:rPr lang="zh-CN" altLang="en-US" sz="1200" kern="100" dirty="0" smtClean="0">
                  <a:latin typeface="Huawei Sans" panose="020C0503030203020204" pitchFamily="34" charset="0"/>
                  <a:ea typeface="方正兰亭黑简体" panose="02000000000000000000" pitchFamily="2" charset="-122"/>
                  <a:sym typeface="Huawei Sans" panose="020C0503030203020204" pitchFamily="34" charset="0"/>
                </a:rPr>
                <a:t>对等体</a:t>
              </a:r>
              <a:endParaRPr lang="zh-CN" altLang="zh-CN" sz="1200" kern="100" dirty="0">
                <a:latin typeface="Huawei Sans" panose="020C0503030203020204" pitchFamily="34" charset="0"/>
                <a:ea typeface="方正兰亭黑简体" panose="02000000000000000000" pitchFamily="2" charset="-122"/>
                <a:cs typeface="Times New Roman"/>
                <a:sym typeface="Huawei Sans" panose="020C0503030203020204" pitchFamily="34" charset="0"/>
              </a:endParaRPr>
            </a:p>
          </p:txBody>
        </p:sp>
      </p:grpSp>
      <p:pic>
        <p:nvPicPr>
          <p:cNvPr id="143" name="图片 142"/>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363116" y="2583563"/>
            <a:ext cx="540000" cy="442800"/>
          </a:xfrm>
          <a:prstGeom prst="rect">
            <a:avLst/>
          </a:prstGeom>
        </p:spPr>
      </p:pic>
      <p:pic>
        <p:nvPicPr>
          <p:cNvPr id="144" name="图片 14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935605" y="2583563"/>
            <a:ext cx="540000" cy="442800"/>
          </a:xfrm>
          <a:prstGeom prst="rect">
            <a:avLst/>
          </a:prstGeom>
        </p:spPr>
      </p:pic>
      <p:pic>
        <p:nvPicPr>
          <p:cNvPr id="146" name="图片 14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998076" y="3405135"/>
            <a:ext cx="540000" cy="442800"/>
          </a:xfrm>
          <a:prstGeom prst="rect">
            <a:avLst/>
          </a:prstGeom>
        </p:spPr>
      </p:pic>
      <p:cxnSp>
        <p:nvCxnSpPr>
          <p:cNvPr id="147" name="直接连接符 146">
            <a:extLst>
              <a:ext uri="{FF2B5EF4-FFF2-40B4-BE49-F238E27FC236}">
                <a16:creationId xmlns:a16="http://schemas.microsoft.com/office/drawing/2014/main" xmlns="" id="{94275FFE-3BE6-4C12-8737-FDFE3456C4A2}"/>
              </a:ext>
            </a:extLst>
          </p:cNvPr>
          <p:cNvCxnSpPr/>
          <p:nvPr/>
        </p:nvCxnSpPr>
        <p:spPr bwMode="gray">
          <a:xfrm flipH="1" flipV="1">
            <a:off x="1704881" y="2804138"/>
            <a:ext cx="917696" cy="837771"/>
          </a:xfrm>
          <a:prstGeom prst="line">
            <a:avLst/>
          </a:prstGeom>
          <a:noFill/>
          <a:ln w="19050" cap="flat" cmpd="sng" algn="ctr">
            <a:solidFill>
              <a:schemeClr val="tx1"/>
            </a:solidFill>
            <a:prstDash val="solid"/>
          </a:ln>
          <a:effectLst/>
        </p:spPr>
      </p:cxnSp>
      <p:cxnSp>
        <p:nvCxnSpPr>
          <p:cNvPr id="148" name="直接连接符 147">
            <a:extLst>
              <a:ext uri="{FF2B5EF4-FFF2-40B4-BE49-F238E27FC236}">
                <a16:creationId xmlns:a16="http://schemas.microsoft.com/office/drawing/2014/main" xmlns="" id="{94275FFE-3BE6-4C12-8737-FDFE3456C4A2}"/>
              </a:ext>
            </a:extLst>
          </p:cNvPr>
          <p:cNvCxnSpPr>
            <a:stCxn id="117" idx="0"/>
            <a:endCxn id="143" idx="2"/>
          </p:cNvCxnSpPr>
          <p:nvPr/>
        </p:nvCxnSpPr>
        <p:spPr bwMode="gray">
          <a:xfrm flipV="1">
            <a:off x="2633116" y="3026363"/>
            <a:ext cx="0" cy="378772"/>
          </a:xfrm>
          <a:prstGeom prst="line">
            <a:avLst/>
          </a:prstGeom>
          <a:noFill/>
          <a:ln w="19050" cap="flat" cmpd="sng" algn="ctr">
            <a:solidFill>
              <a:schemeClr val="tx1"/>
            </a:solidFill>
            <a:prstDash val="solid"/>
          </a:ln>
          <a:effectLst/>
        </p:spPr>
      </p:cxnSp>
      <p:cxnSp>
        <p:nvCxnSpPr>
          <p:cNvPr id="149" name="直接连接符 148">
            <a:extLst>
              <a:ext uri="{FF2B5EF4-FFF2-40B4-BE49-F238E27FC236}">
                <a16:creationId xmlns:a16="http://schemas.microsoft.com/office/drawing/2014/main" xmlns="" id="{94275FFE-3BE6-4C12-8737-FDFE3456C4A2}"/>
              </a:ext>
            </a:extLst>
          </p:cNvPr>
          <p:cNvCxnSpPr>
            <a:stCxn id="118" idx="0"/>
            <a:endCxn id="144" idx="2"/>
          </p:cNvCxnSpPr>
          <p:nvPr/>
        </p:nvCxnSpPr>
        <p:spPr bwMode="gray">
          <a:xfrm flipV="1">
            <a:off x="4205605" y="3026363"/>
            <a:ext cx="0" cy="378772"/>
          </a:xfrm>
          <a:prstGeom prst="line">
            <a:avLst/>
          </a:prstGeom>
          <a:noFill/>
          <a:ln w="19050" cap="flat" cmpd="sng" algn="ctr">
            <a:solidFill>
              <a:schemeClr val="tx1"/>
            </a:solidFill>
            <a:prstDash val="solid"/>
          </a:ln>
          <a:effectLst/>
        </p:spPr>
      </p:cxnSp>
      <p:cxnSp>
        <p:nvCxnSpPr>
          <p:cNvPr id="150" name="直接连接符 149">
            <a:extLst>
              <a:ext uri="{FF2B5EF4-FFF2-40B4-BE49-F238E27FC236}">
                <a16:creationId xmlns:a16="http://schemas.microsoft.com/office/drawing/2014/main" xmlns="" id="{94275FFE-3BE6-4C12-8737-FDFE3456C4A2}"/>
              </a:ext>
            </a:extLst>
          </p:cNvPr>
          <p:cNvCxnSpPr>
            <a:stCxn id="118" idx="3"/>
            <a:endCxn id="146" idx="1"/>
          </p:cNvCxnSpPr>
          <p:nvPr/>
        </p:nvCxnSpPr>
        <p:spPr bwMode="gray">
          <a:xfrm>
            <a:off x="4475605" y="3626535"/>
            <a:ext cx="522471" cy="0"/>
          </a:xfrm>
          <a:prstGeom prst="line">
            <a:avLst/>
          </a:prstGeom>
          <a:noFill/>
          <a:ln w="19050" cap="flat" cmpd="sng" algn="ctr">
            <a:solidFill>
              <a:schemeClr val="tx1"/>
            </a:solidFill>
            <a:prstDash val="solid"/>
          </a:ln>
          <a:effectLst/>
        </p:spPr>
      </p:cxnSp>
      <p:cxnSp>
        <p:nvCxnSpPr>
          <p:cNvPr id="152" name="直接连接符 151">
            <a:extLst>
              <a:ext uri="{FF2B5EF4-FFF2-40B4-BE49-F238E27FC236}">
                <a16:creationId xmlns:a16="http://schemas.microsoft.com/office/drawing/2014/main" xmlns="" id="{94275FFE-3BE6-4C12-8737-FDFE3456C4A2}"/>
              </a:ext>
            </a:extLst>
          </p:cNvPr>
          <p:cNvCxnSpPr>
            <a:stCxn id="140" idx="3"/>
            <a:endCxn id="141" idx="1"/>
          </p:cNvCxnSpPr>
          <p:nvPr/>
        </p:nvCxnSpPr>
        <p:spPr bwMode="gray">
          <a:xfrm>
            <a:off x="2903116" y="4609538"/>
            <a:ext cx="1032489" cy="0"/>
          </a:xfrm>
          <a:prstGeom prst="line">
            <a:avLst/>
          </a:prstGeom>
          <a:noFill/>
          <a:ln w="19050" cap="flat" cmpd="sng" algn="ctr">
            <a:solidFill>
              <a:schemeClr val="tx1"/>
            </a:solidFill>
            <a:prstDash val="solid"/>
          </a:ln>
          <a:effectLst/>
        </p:spPr>
      </p:cxnSp>
      <p:cxnSp>
        <p:nvCxnSpPr>
          <p:cNvPr id="153" name="直接连接符 152">
            <a:extLst>
              <a:ext uri="{FF2B5EF4-FFF2-40B4-BE49-F238E27FC236}">
                <a16:creationId xmlns:a16="http://schemas.microsoft.com/office/drawing/2014/main" xmlns="" id="{94275FFE-3BE6-4C12-8737-FDFE3456C4A2}"/>
              </a:ext>
            </a:extLst>
          </p:cNvPr>
          <p:cNvCxnSpPr>
            <a:stCxn id="140" idx="0"/>
            <a:endCxn id="117" idx="2"/>
          </p:cNvCxnSpPr>
          <p:nvPr/>
        </p:nvCxnSpPr>
        <p:spPr bwMode="gray">
          <a:xfrm flipV="1">
            <a:off x="2633116" y="3847935"/>
            <a:ext cx="0" cy="540203"/>
          </a:xfrm>
          <a:prstGeom prst="line">
            <a:avLst/>
          </a:prstGeom>
          <a:noFill/>
          <a:ln w="19050" cap="flat" cmpd="sng" algn="ctr">
            <a:solidFill>
              <a:schemeClr val="tx1"/>
            </a:solidFill>
            <a:prstDash val="solid"/>
          </a:ln>
          <a:effectLst/>
        </p:spPr>
      </p:cxnSp>
      <p:cxnSp>
        <p:nvCxnSpPr>
          <p:cNvPr id="154" name="直接连接符 153">
            <a:extLst>
              <a:ext uri="{FF2B5EF4-FFF2-40B4-BE49-F238E27FC236}">
                <a16:creationId xmlns:a16="http://schemas.microsoft.com/office/drawing/2014/main" xmlns="" id="{94275FFE-3BE6-4C12-8737-FDFE3456C4A2}"/>
              </a:ext>
            </a:extLst>
          </p:cNvPr>
          <p:cNvCxnSpPr/>
          <p:nvPr/>
        </p:nvCxnSpPr>
        <p:spPr bwMode="gray">
          <a:xfrm>
            <a:off x="4205605" y="4608962"/>
            <a:ext cx="1062471" cy="810728"/>
          </a:xfrm>
          <a:prstGeom prst="line">
            <a:avLst/>
          </a:prstGeom>
          <a:noFill/>
          <a:ln w="19050" cap="flat" cmpd="sng" algn="ctr">
            <a:solidFill>
              <a:schemeClr val="tx1"/>
            </a:solidFill>
            <a:prstDash val="solid"/>
          </a:ln>
          <a:effectLst/>
        </p:spPr>
      </p:cxnSp>
      <p:cxnSp>
        <p:nvCxnSpPr>
          <p:cNvPr id="156" name="直接连接符 155">
            <a:extLst>
              <a:ext uri="{FF2B5EF4-FFF2-40B4-BE49-F238E27FC236}">
                <a16:creationId xmlns:a16="http://schemas.microsoft.com/office/drawing/2014/main" xmlns="" id="{94275FFE-3BE6-4C12-8737-FDFE3456C4A2}"/>
              </a:ext>
            </a:extLst>
          </p:cNvPr>
          <p:cNvCxnSpPr>
            <a:stCxn id="141" idx="0"/>
            <a:endCxn id="118" idx="2"/>
          </p:cNvCxnSpPr>
          <p:nvPr/>
        </p:nvCxnSpPr>
        <p:spPr bwMode="gray">
          <a:xfrm flipV="1">
            <a:off x="4205605" y="3847935"/>
            <a:ext cx="0" cy="540203"/>
          </a:xfrm>
          <a:prstGeom prst="line">
            <a:avLst/>
          </a:prstGeom>
          <a:noFill/>
          <a:ln w="19050" cap="flat" cmpd="sng" algn="ctr">
            <a:solidFill>
              <a:schemeClr val="tx1"/>
            </a:solidFill>
            <a:prstDash val="solid"/>
          </a:ln>
          <a:effectLst/>
        </p:spPr>
      </p:cxnSp>
      <p:pic>
        <p:nvPicPr>
          <p:cNvPr id="145" name="图片 14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452709" y="2583563"/>
            <a:ext cx="540000" cy="442800"/>
          </a:xfrm>
          <a:prstGeom prst="rect">
            <a:avLst/>
          </a:prstGeom>
        </p:spPr>
      </p:pic>
      <p:pic>
        <p:nvPicPr>
          <p:cNvPr id="155" name="图片 15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998076" y="5189942"/>
            <a:ext cx="540000" cy="442800"/>
          </a:xfrm>
          <a:prstGeom prst="rect">
            <a:avLst/>
          </a:prstGeom>
        </p:spPr>
      </p:pic>
      <p:cxnSp>
        <p:nvCxnSpPr>
          <p:cNvPr id="176" name="直接连接符 175">
            <a:extLst>
              <a:ext uri="{FF2B5EF4-FFF2-40B4-BE49-F238E27FC236}">
                <a16:creationId xmlns:a16="http://schemas.microsoft.com/office/drawing/2014/main" xmlns="" id="{94275FFE-3BE6-4C12-8737-FDFE3456C4A2}"/>
              </a:ext>
            </a:extLst>
          </p:cNvPr>
          <p:cNvCxnSpPr/>
          <p:nvPr/>
        </p:nvCxnSpPr>
        <p:spPr bwMode="gray">
          <a:xfrm>
            <a:off x="2622577" y="3626535"/>
            <a:ext cx="1572488" cy="952756"/>
          </a:xfrm>
          <a:prstGeom prst="line">
            <a:avLst/>
          </a:prstGeom>
          <a:noFill/>
          <a:ln w="19050" cap="flat" cmpd="sng" algn="ctr">
            <a:solidFill>
              <a:schemeClr val="tx1"/>
            </a:solidFill>
            <a:prstDash val="solid"/>
          </a:ln>
          <a:effectLst/>
        </p:spPr>
      </p:cxnSp>
      <p:cxnSp>
        <p:nvCxnSpPr>
          <p:cNvPr id="179" name="直接连接符 178">
            <a:extLst>
              <a:ext uri="{FF2B5EF4-FFF2-40B4-BE49-F238E27FC236}">
                <a16:creationId xmlns:a16="http://schemas.microsoft.com/office/drawing/2014/main" xmlns="" id="{94275FFE-3BE6-4C12-8737-FDFE3456C4A2}"/>
              </a:ext>
            </a:extLst>
          </p:cNvPr>
          <p:cNvCxnSpPr/>
          <p:nvPr/>
        </p:nvCxnSpPr>
        <p:spPr bwMode="gray">
          <a:xfrm flipV="1">
            <a:off x="2576619" y="3656783"/>
            <a:ext cx="1618446" cy="952179"/>
          </a:xfrm>
          <a:prstGeom prst="line">
            <a:avLst/>
          </a:prstGeom>
          <a:noFill/>
          <a:ln w="19050" cap="flat" cmpd="sng" algn="ctr">
            <a:solidFill>
              <a:schemeClr val="tx1"/>
            </a:solidFill>
            <a:prstDash val="solid"/>
          </a:ln>
          <a:effectLst/>
        </p:spPr>
      </p:cxnSp>
      <p:pic>
        <p:nvPicPr>
          <p:cNvPr id="118" name="图片 117"/>
          <p:cNvPicPr>
            <a:picLocks/>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3935605" y="3405135"/>
            <a:ext cx="540000" cy="442800"/>
          </a:xfrm>
          <a:prstGeom prst="rect">
            <a:avLst/>
          </a:prstGeom>
        </p:spPr>
      </p:pic>
      <p:pic>
        <p:nvPicPr>
          <p:cNvPr id="117" name="图片 116"/>
          <p:cNvPicPr>
            <a:picLocks/>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2363116" y="3405135"/>
            <a:ext cx="540000" cy="442800"/>
          </a:xfrm>
          <a:prstGeom prst="rect">
            <a:avLst/>
          </a:prstGeom>
        </p:spPr>
      </p:pic>
      <p:pic>
        <p:nvPicPr>
          <p:cNvPr id="141" name="图片 140"/>
          <p:cNvPicPr>
            <a:picLocks/>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3935605" y="4388138"/>
            <a:ext cx="540000" cy="442800"/>
          </a:xfrm>
          <a:prstGeom prst="rect">
            <a:avLst/>
          </a:prstGeom>
        </p:spPr>
      </p:pic>
      <p:pic>
        <p:nvPicPr>
          <p:cNvPr id="140" name="图片 139"/>
          <p:cNvPicPr>
            <a:picLocks/>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2363116" y="4388138"/>
            <a:ext cx="540000" cy="442800"/>
          </a:xfrm>
          <a:prstGeom prst="rect">
            <a:avLst/>
          </a:prstGeom>
        </p:spPr>
      </p:pic>
      <p:sp>
        <p:nvSpPr>
          <p:cNvPr id="186" name="TextBox 120">
            <a:extLst>
              <a:ext uri="{FF2B5EF4-FFF2-40B4-BE49-F238E27FC236}">
                <a16:creationId xmlns:a16="http://schemas.microsoft.com/office/drawing/2014/main" xmlns="" id="{020D7A1D-EFAD-4C8C-B9DE-D0FAD269B77A}"/>
              </a:ext>
            </a:extLst>
          </p:cNvPr>
          <p:cNvSpPr txBox="1"/>
          <p:nvPr/>
        </p:nvSpPr>
        <p:spPr bwMode="gray">
          <a:xfrm>
            <a:off x="1301885" y="3229777"/>
            <a:ext cx="943833" cy="307648"/>
          </a:xfrm>
          <a:prstGeom prst="rect">
            <a:avLst/>
          </a:prstGeom>
          <a:noFill/>
          <a:ln>
            <a:noFill/>
          </a:ln>
        </p:spPr>
        <p:txBody>
          <a:bodyPr wrap="square" rtlCol="0">
            <a:spAutoFit/>
          </a:bodyPr>
          <a:lstStyle/>
          <a:p>
            <a:pPr algn="ctr"/>
            <a:r>
              <a:rPr lang="en-US" altLang="zh-CN" sz="1399" b="1"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Cluster1</a:t>
            </a:r>
            <a:endParaRPr lang="en-US" altLang="zh-CN" sz="1399"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7" name="TextBox 120">
            <a:extLst>
              <a:ext uri="{FF2B5EF4-FFF2-40B4-BE49-F238E27FC236}">
                <a16:creationId xmlns:a16="http://schemas.microsoft.com/office/drawing/2014/main" xmlns="" id="{020D7A1D-EFAD-4C8C-B9DE-D0FAD269B77A}"/>
              </a:ext>
            </a:extLst>
          </p:cNvPr>
          <p:cNvSpPr txBox="1"/>
          <p:nvPr/>
        </p:nvSpPr>
        <p:spPr bwMode="gray">
          <a:xfrm>
            <a:off x="1301885" y="4636915"/>
            <a:ext cx="943833" cy="307648"/>
          </a:xfrm>
          <a:prstGeom prst="rect">
            <a:avLst/>
          </a:prstGeom>
          <a:noFill/>
          <a:ln>
            <a:noFill/>
          </a:ln>
        </p:spPr>
        <p:txBody>
          <a:bodyPr wrap="square" rtlCol="0">
            <a:spAutoFit/>
          </a:bodyPr>
          <a:lstStyle/>
          <a:p>
            <a:pPr algn="ctr"/>
            <a:r>
              <a:rPr lang="en-US" altLang="zh-CN" sz="1399" b="1"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Cluster3</a:t>
            </a:r>
            <a:endParaRPr lang="en-US" altLang="zh-CN" sz="1399"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8" name="TextBox 120">
            <a:extLst>
              <a:ext uri="{FF2B5EF4-FFF2-40B4-BE49-F238E27FC236}">
                <a16:creationId xmlns:a16="http://schemas.microsoft.com/office/drawing/2014/main" xmlns="" id="{020D7A1D-EFAD-4C8C-B9DE-D0FAD269B77A}"/>
              </a:ext>
            </a:extLst>
          </p:cNvPr>
          <p:cNvSpPr txBox="1"/>
          <p:nvPr/>
        </p:nvSpPr>
        <p:spPr bwMode="gray">
          <a:xfrm>
            <a:off x="4865790" y="4570655"/>
            <a:ext cx="943833" cy="307648"/>
          </a:xfrm>
          <a:prstGeom prst="rect">
            <a:avLst/>
          </a:prstGeom>
          <a:noFill/>
          <a:ln>
            <a:noFill/>
          </a:ln>
        </p:spPr>
        <p:txBody>
          <a:bodyPr wrap="square" rtlCol="0">
            <a:spAutoFit/>
          </a:bodyPr>
          <a:lstStyle/>
          <a:p>
            <a:pPr algn="ctr"/>
            <a:r>
              <a:rPr lang="en-US" altLang="zh-CN" sz="1399" b="1"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Cluster4</a:t>
            </a:r>
            <a:endParaRPr lang="en-US" altLang="zh-CN" sz="1399"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9" name="TextBox 120">
            <a:extLst>
              <a:ext uri="{FF2B5EF4-FFF2-40B4-BE49-F238E27FC236}">
                <a16:creationId xmlns:a16="http://schemas.microsoft.com/office/drawing/2014/main" xmlns="" id="{020D7A1D-EFAD-4C8C-B9DE-D0FAD269B77A}"/>
              </a:ext>
            </a:extLst>
          </p:cNvPr>
          <p:cNvSpPr txBox="1"/>
          <p:nvPr/>
        </p:nvSpPr>
        <p:spPr bwMode="gray">
          <a:xfrm>
            <a:off x="4704862" y="2714755"/>
            <a:ext cx="943833" cy="307648"/>
          </a:xfrm>
          <a:prstGeom prst="rect">
            <a:avLst/>
          </a:prstGeom>
          <a:noFill/>
          <a:ln>
            <a:noFill/>
          </a:ln>
        </p:spPr>
        <p:txBody>
          <a:bodyPr wrap="square" rtlCol="0">
            <a:spAutoFit/>
          </a:bodyPr>
          <a:lstStyle/>
          <a:p>
            <a:pPr algn="ctr"/>
            <a:r>
              <a:rPr lang="en-US" altLang="zh-CN" sz="1399" b="1"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Cluster2</a:t>
            </a:r>
            <a:endParaRPr lang="en-US" altLang="zh-CN" sz="1399"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0" name="TextBox 120">
            <a:extLst>
              <a:ext uri="{FF2B5EF4-FFF2-40B4-BE49-F238E27FC236}">
                <a16:creationId xmlns:a16="http://schemas.microsoft.com/office/drawing/2014/main" xmlns="" id="{020D7A1D-EFAD-4C8C-B9DE-D0FAD269B77A}"/>
              </a:ext>
            </a:extLst>
          </p:cNvPr>
          <p:cNvSpPr txBox="1"/>
          <p:nvPr/>
        </p:nvSpPr>
        <p:spPr bwMode="gray">
          <a:xfrm>
            <a:off x="1968214" y="4455138"/>
            <a:ext cx="461180" cy="307648"/>
          </a:xfrm>
          <a:prstGeom prst="rect">
            <a:avLst/>
          </a:prstGeom>
          <a:noFill/>
          <a:ln>
            <a:noFill/>
          </a:ln>
        </p:spPr>
        <p:txBody>
          <a:bodyPr wrap="square" rtlCol="0">
            <a:spAutoFit/>
          </a:bodyPr>
          <a:lstStyle/>
          <a:p>
            <a:pPr algn="ctr"/>
            <a:r>
              <a:rPr lang="en-US" altLang="zh-CN" sz="1399"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RR</a:t>
            </a:r>
            <a:endParaRPr lang="en-US" altLang="zh-CN" sz="139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1" name="TextBox 120">
            <a:extLst>
              <a:ext uri="{FF2B5EF4-FFF2-40B4-BE49-F238E27FC236}">
                <a16:creationId xmlns:a16="http://schemas.microsoft.com/office/drawing/2014/main" xmlns="" id="{020D7A1D-EFAD-4C8C-B9DE-D0FAD269B77A}"/>
              </a:ext>
            </a:extLst>
          </p:cNvPr>
          <p:cNvSpPr txBox="1"/>
          <p:nvPr/>
        </p:nvSpPr>
        <p:spPr bwMode="gray">
          <a:xfrm>
            <a:off x="4421444" y="3299868"/>
            <a:ext cx="461180" cy="307648"/>
          </a:xfrm>
          <a:prstGeom prst="rect">
            <a:avLst/>
          </a:prstGeom>
          <a:noFill/>
          <a:ln>
            <a:noFill/>
          </a:ln>
        </p:spPr>
        <p:txBody>
          <a:bodyPr wrap="square" rtlCol="0">
            <a:spAutoFit/>
          </a:bodyPr>
          <a:lstStyle/>
          <a:p>
            <a:pPr algn="ctr"/>
            <a:r>
              <a:rPr lang="en-US" altLang="zh-CN" sz="1399"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RR</a:t>
            </a:r>
            <a:endParaRPr lang="en-US" altLang="zh-CN" sz="139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2" name="TextBox 120">
            <a:extLst>
              <a:ext uri="{FF2B5EF4-FFF2-40B4-BE49-F238E27FC236}">
                <a16:creationId xmlns:a16="http://schemas.microsoft.com/office/drawing/2014/main" xmlns="" id="{020D7A1D-EFAD-4C8C-B9DE-D0FAD269B77A}"/>
              </a:ext>
            </a:extLst>
          </p:cNvPr>
          <p:cNvSpPr txBox="1"/>
          <p:nvPr/>
        </p:nvSpPr>
        <p:spPr bwMode="gray">
          <a:xfrm>
            <a:off x="4421444" y="4455138"/>
            <a:ext cx="461180" cy="307648"/>
          </a:xfrm>
          <a:prstGeom prst="rect">
            <a:avLst/>
          </a:prstGeom>
          <a:noFill/>
          <a:ln>
            <a:noFill/>
          </a:ln>
        </p:spPr>
        <p:txBody>
          <a:bodyPr wrap="square" rtlCol="0">
            <a:spAutoFit/>
          </a:bodyPr>
          <a:lstStyle/>
          <a:p>
            <a:pPr algn="ctr"/>
            <a:r>
              <a:rPr lang="en-US" altLang="zh-CN" sz="1399"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RR</a:t>
            </a:r>
            <a:endParaRPr lang="en-US" altLang="zh-CN" sz="139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3" name="TextBox 120">
            <a:extLst>
              <a:ext uri="{FF2B5EF4-FFF2-40B4-BE49-F238E27FC236}">
                <a16:creationId xmlns:a16="http://schemas.microsoft.com/office/drawing/2014/main" xmlns="" id="{020D7A1D-EFAD-4C8C-B9DE-D0FAD269B77A}"/>
              </a:ext>
            </a:extLst>
          </p:cNvPr>
          <p:cNvSpPr txBox="1"/>
          <p:nvPr/>
        </p:nvSpPr>
        <p:spPr bwMode="gray">
          <a:xfrm>
            <a:off x="2179122" y="2320048"/>
            <a:ext cx="889384" cy="307648"/>
          </a:xfrm>
          <a:prstGeom prst="rect">
            <a:avLst/>
          </a:prstGeom>
          <a:noFill/>
          <a:ln>
            <a:noFill/>
          </a:ln>
        </p:spPr>
        <p:txBody>
          <a:bodyPr wrap="square" rtlCol="0">
            <a:spAutoFit/>
          </a:bodyPr>
          <a:lstStyle/>
          <a:p>
            <a:pPr algn="ct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Client2</a:t>
            </a:r>
            <a:endParaRPr lang="en-US" altLang="zh-CN" sz="1399"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4" name="TextBox 120">
            <a:extLst>
              <a:ext uri="{FF2B5EF4-FFF2-40B4-BE49-F238E27FC236}">
                <a16:creationId xmlns:a16="http://schemas.microsoft.com/office/drawing/2014/main" xmlns="" id="{020D7A1D-EFAD-4C8C-B9DE-D0FAD269B77A}"/>
              </a:ext>
            </a:extLst>
          </p:cNvPr>
          <p:cNvSpPr txBox="1"/>
          <p:nvPr/>
        </p:nvSpPr>
        <p:spPr bwMode="gray">
          <a:xfrm>
            <a:off x="3760913" y="2320048"/>
            <a:ext cx="889384" cy="307648"/>
          </a:xfrm>
          <a:prstGeom prst="rect">
            <a:avLst/>
          </a:prstGeom>
          <a:noFill/>
          <a:ln>
            <a:noFill/>
          </a:ln>
        </p:spPr>
        <p:txBody>
          <a:bodyPr wrap="square" rtlCol="0">
            <a:spAutoFit/>
          </a:bodyPr>
          <a:lstStyle/>
          <a:p>
            <a:pPr algn="ct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Client1</a:t>
            </a:r>
            <a:endParaRPr lang="en-US" altLang="zh-CN" sz="1399"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5" name="TextBox 120">
            <a:extLst>
              <a:ext uri="{FF2B5EF4-FFF2-40B4-BE49-F238E27FC236}">
                <a16:creationId xmlns:a16="http://schemas.microsoft.com/office/drawing/2014/main" xmlns="" id="{020D7A1D-EFAD-4C8C-B9DE-D0FAD269B77A}"/>
              </a:ext>
            </a:extLst>
          </p:cNvPr>
          <p:cNvSpPr txBox="1"/>
          <p:nvPr/>
        </p:nvSpPr>
        <p:spPr bwMode="gray">
          <a:xfrm>
            <a:off x="4821425" y="3140310"/>
            <a:ext cx="889384" cy="307648"/>
          </a:xfrm>
          <a:prstGeom prst="rect">
            <a:avLst/>
          </a:prstGeom>
          <a:noFill/>
          <a:ln>
            <a:noFill/>
          </a:ln>
        </p:spPr>
        <p:txBody>
          <a:bodyPr wrap="square" rtlCol="0">
            <a:spAutoFit/>
          </a:bodyPr>
          <a:lstStyle/>
          <a:p>
            <a:pPr algn="ct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Client2</a:t>
            </a:r>
            <a:endParaRPr lang="en-US" altLang="zh-CN" sz="1399"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6" name="TextBox 120">
            <a:extLst>
              <a:ext uri="{FF2B5EF4-FFF2-40B4-BE49-F238E27FC236}">
                <a16:creationId xmlns:a16="http://schemas.microsoft.com/office/drawing/2014/main" xmlns="" id="{020D7A1D-EFAD-4C8C-B9DE-D0FAD269B77A}"/>
              </a:ext>
            </a:extLst>
          </p:cNvPr>
          <p:cNvSpPr txBox="1"/>
          <p:nvPr/>
        </p:nvSpPr>
        <p:spPr bwMode="gray">
          <a:xfrm>
            <a:off x="4821425" y="4919465"/>
            <a:ext cx="889384" cy="307648"/>
          </a:xfrm>
          <a:prstGeom prst="rect">
            <a:avLst/>
          </a:prstGeom>
          <a:noFill/>
          <a:ln>
            <a:noFill/>
          </a:ln>
        </p:spPr>
        <p:txBody>
          <a:bodyPr wrap="square" rtlCol="0">
            <a:spAutoFit/>
          </a:bodyPr>
          <a:lstStyle/>
          <a:p>
            <a:pPr algn="ct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Client</a:t>
            </a:r>
            <a:endParaRPr lang="en-US" altLang="zh-CN" sz="1399"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7" name="TextBox 120">
            <a:extLst>
              <a:ext uri="{FF2B5EF4-FFF2-40B4-BE49-F238E27FC236}">
                <a16:creationId xmlns:a16="http://schemas.microsoft.com/office/drawing/2014/main" xmlns="" id="{020D7A1D-EFAD-4C8C-B9DE-D0FAD269B77A}"/>
              </a:ext>
            </a:extLst>
          </p:cNvPr>
          <p:cNvSpPr txBox="1"/>
          <p:nvPr/>
        </p:nvSpPr>
        <p:spPr bwMode="gray">
          <a:xfrm>
            <a:off x="1605848" y="5237452"/>
            <a:ext cx="889384" cy="307648"/>
          </a:xfrm>
          <a:prstGeom prst="rect">
            <a:avLst/>
          </a:prstGeom>
          <a:noFill/>
          <a:ln>
            <a:noFill/>
          </a:ln>
        </p:spPr>
        <p:txBody>
          <a:bodyPr wrap="square" rtlCol="0">
            <a:spAutoFit/>
          </a:bodyPr>
          <a:lstStyle/>
          <a:p>
            <a:pPr algn="ct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Client</a:t>
            </a:r>
            <a:endParaRPr lang="en-US" altLang="zh-CN" sz="1399"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95520464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bwMode="gray">
          <a:xfrm>
            <a:off x="854268" y="2297984"/>
            <a:ext cx="5241731" cy="3501410"/>
          </a:xfrm>
          <a:prstGeom prst="rect">
            <a:avLst/>
          </a:pr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ym typeface="Huawei Sans" panose="020C0503030203020204" pitchFamily="34" charset="0"/>
            </a:endParaRPr>
          </a:p>
        </p:txBody>
      </p:sp>
      <p:sp>
        <p:nvSpPr>
          <p:cNvPr id="52" name="椭圆 51"/>
          <p:cNvSpPr/>
          <p:nvPr/>
        </p:nvSpPr>
        <p:spPr bwMode="auto">
          <a:xfrm>
            <a:off x="4100376" y="4019609"/>
            <a:ext cx="1596111" cy="1570605"/>
          </a:xfrm>
          <a:prstGeom prst="ellipse">
            <a:avLst/>
          </a:prstGeom>
          <a:solidFill>
            <a:schemeClr val="bg1"/>
          </a:solidFill>
          <a:ln>
            <a:solidFill>
              <a:srgbClr val="94DAE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0" name="图片 59"/>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628432" y="4880237"/>
            <a:ext cx="540000" cy="442800"/>
          </a:xfrm>
          <a:prstGeom prst="rect">
            <a:avLst/>
          </a:prstGeom>
        </p:spPr>
      </p:pic>
      <p:sp>
        <p:nvSpPr>
          <p:cNvPr id="64" name="TextBox 120">
            <a:extLst>
              <a:ext uri="{FF2B5EF4-FFF2-40B4-BE49-F238E27FC236}">
                <a16:creationId xmlns:a16="http://schemas.microsoft.com/office/drawing/2014/main" xmlns="" id="{020D7A1D-EFAD-4C8C-B9DE-D0FAD269B77A}"/>
              </a:ext>
            </a:extLst>
          </p:cNvPr>
          <p:cNvSpPr txBox="1"/>
          <p:nvPr/>
        </p:nvSpPr>
        <p:spPr bwMode="gray">
          <a:xfrm>
            <a:off x="4453739" y="5293061"/>
            <a:ext cx="889384" cy="307648"/>
          </a:xfrm>
          <a:prstGeom prst="rect">
            <a:avLst/>
          </a:prstGeom>
          <a:noFill/>
          <a:ln>
            <a:noFill/>
          </a:ln>
        </p:spPr>
        <p:txBody>
          <a:bodyPr wrap="square" rtlCol="0">
            <a:spAutoFit/>
          </a:bodyPr>
          <a:lstStyle/>
          <a:p>
            <a:pPr algn="ct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Client</a:t>
            </a:r>
            <a:endPar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8" name="直接连接符 67">
            <a:extLst>
              <a:ext uri="{FF2B5EF4-FFF2-40B4-BE49-F238E27FC236}">
                <a16:creationId xmlns:a16="http://schemas.microsoft.com/office/drawing/2014/main" xmlns="" id="{94275FFE-3BE6-4C12-8737-FDFE3456C4A2}"/>
              </a:ext>
            </a:extLst>
          </p:cNvPr>
          <p:cNvCxnSpPr>
            <a:stCxn id="60" idx="0"/>
          </p:cNvCxnSpPr>
          <p:nvPr/>
        </p:nvCxnSpPr>
        <p:spPr bwMode="gray">
          <a:xfrm flipV="1">
            <a:off x="4898432" y="4130205"/>
            <a:ext cx="0" cy="750032"/>
          </a:xfrm>
          <a:prstGeom prst="line">
            <a:avLst/>
          </a:prstGeom>
          <a:noFill/>
          <a:ln w="19050" cap="flat" cmpd="sng" algn="ctr">
            <a:solidFill>
              <a:schemeClr val="tx1"/>
            </a:solidFill>
            <a:prstDash val="solid"/>
          </a:ln>
          <a:effectLst/>
        </p:spPr>
      </p:cxnSp>
      <p:sp>
        <p:nvSpPr>
          <p:cNvPr id="48" name="椭圆 47"/>
          <p:cNvSpPr/>
          <p:nvPr/>
        </p:nvSpPr>
        <p:spPr bwMode="auto">
          <a:xfrm>
            <a:off x="958006" y="4019609"/>
            <a:ext cx="1596111" cy="1570605"/>
          </a:xfrm>
          <a:prstGeom prst="ellipse">
            <a:avLst/>
          </a:prstGeom>
          <a:solidFill>
            <a:schemeClr val="bg1"/>
          </a:solidFill>
          <a:ln>
            <a:solidFill>
              <a:srgbClr val="94DAE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bwMode="auto">
          <a:xfrm>
            <a:off x="1384137" y="2629551"/>
            <a:ext cx="3857063" cy="1570605"/>
          </a:xfrm>
          <a:prstGeom prst="ellipse">
            <a:avLst/>
          </a:prstGeom>
          <a:solidFill>
            <a:schemeClr val="bg1"/>
          </a:solidFill>
          <a:ln>
            <a:solidFill>
              <a:srgbClr val="94DAE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smtClean="0"/>
              <a:t>常见组网：多集群</a:t>
            </a:r>
            <a:r>
              <a:rPr lang="en-US" altLang="zh-CN" smtClean="0"/>
              <a:t>RR</a:t>
            </a:r>
            <a:r>
              <a:rPr lang="zh-CN" altLang="en-US" smtClean="0"/>
              <a:t>组网 </a:t>
            </a:r>
            <a:r>
              <a:rPr lang="en-US" altLang="zh-CN" smtClean="0"/>
              <a:t>(2)</a:t>
            </a:r>
            <a:endParaRPr lang="zh-CN" altLang="en-US" dirty="0"/>
          </a:p>
        </p:txBody>
      </p:sp>
      <p:sp>
        <p:nvSpPr>
          <p:cNvPr id="4" name="文本占位符 3"/>
          <p:cNvSpPr>
            <a:spLocks noGrp="1"/>
          </p:cNvSpPr>
          <p:nvPr>
            <p:ph type="body" sz="quarter" idx="10"/>
          </p:nvPr>
        </p:nvSpPr>
        <p:spPr>
          <a:xfrm>
            <a:off x="455612" y="1047751"/>
            <a:ext cx="11293475" cy="1003344"/>
          </a:xfrm>
        </p:spPr>
        <p:txBody>
          <a:bodyPr/>
          <a:lstStyle/>
          <a:p>
            <a:r>
              <a:rPr lang="zh-CN" altLang="en-US" sz="2000" smtClean="0"/>
              <a:t>一个</a:t>
            </a:r>
            <a:r>
              <a:rPr lang="en-US" altLang="zh-CN" sz="2000" smtClean="0"/>
              <a:t>AS</a:t>
            </a:r>
            <a:r>
              <a:rPr lang="zh-CN" altLang="en-US" sz="2000" smtClean="0"/>
              <a:t>中可以存在多个集群，各个集群的</a:t>
            </a:r>
            <a:r>
              <a:rPr lang="en-US" altLang="zh-CN" sz="2000" smtClean="0"/>
              <a:t>RR</a:t>
            </a:r>
            <a:r>
              <a:rPr lang="zh-CN" altLang="en-US" sz="2000" smtClean="0"/>
              <a:t>之间建立</a:t>
            </a:r>
            <a:r>
              <a:rPr lang="en-US" altLang="zh-CN" sz="2000" smtClean="0"/>
              <a:t>IBGP</a:t>
            </a:r>
            <a:r>
              <a:rPr lang="zh-CN" altLang="en-US" sz="2000" smtClean="0"/>
              <a:t>对等体。</a:t>
            </a:r>
            <a:endParaRPr lang="en-US" altLang="zh-CN" sz="2000" smtClean="0"/>
          </a:p>
          <a:p>
            <a:r>
              <a:rPr lang="zh-CN" altLang="en-US" sz="2000" smtClean="0"/>
              <a:t>当</a:t>
            </a:r>
            <a:r>
              <a:rPr lang="en-US" altLang="zh-CN" sz="2000" smtClean="0"/>
              <a:t>RR</a:t>
            </a:r>
            <a:r>
              <a:rPr lang="zh-CN" altLang="en-US" sz="2000" smtClean="0"/>
              <a:t>所处的网络层不同时，可以将较低网络层次的</a:t>
            </a:r>
            <a:r>
              <a:rPr lang="en-US" altLang="zh-CN" sz="2000" smtClean="0"/>
              <a:t>RR</a:t>
            </a:r>
            <a:r>
              <a:rPr lang="zh-CN" altLang="en-US" sz="2000" smtClean="0"/>
              <a:t>配成客户机，形成分级</a:t>
            </a:r>
            <a:r>
              <a:rPr lang="en-US" altLang="zh-CN" sz="2000" smtClean="0"/>
              <a:t>RR</a:t>
            </a:r>
            <a:r>
              <a:rPr lang="zh-CN" altLang="en-US" sz="2000" smtClean="0"/>
              <a:t>。</a:t>
            </a:r>
            <a:endParaRPr lang="zh-CN" altLang="en-US" sz="2000" dirty="0"/>
          </a:p>
        </p:txBody>
      </p:sp>
      <p:cxnSp>
        <p:nvCxnSpPr>
          <p:cNvPr id="20" name="直接连接符 19">
            <a:extLst>
              <a:ext uri="{FF2B5EF4-FFF2-40B4-BE49-F238E27FC236}">
                <a16:creationId xmlns:a16="http://schemas.microsoft.com/office/drawing/2014/main" xmlns="" id="{94275FFE-3BE6-4C12-8737-FDFE3456C4A2}"/>
              </a:ext>
            </a:extLst>
          </p:cNvPr>
          <p:cNvCxnSpPr>
            <a:stCxn id="10" idx="3"/>
            <a:endCxn id="11" idx="1"/>
          </p:cNvCxnSpPr>
          <p:nvPr/>
        </p:nvCxnSpPr>
        <p:spPr bwMode="gray">
          <a:xfrm>
            <a:off x="2811655" y="2884413"/>
            <a:ext cx="1031186" cy="0"/>
          </a:xfrm>
          <a:prstGeom prst="line">
            <a:avLst/>
          </a:prstGeom>
          <a:noFill/>
          <a:ln w="19050" cap="flat" cmpd="sng" algn="ctr">
            <a:solidFill>
              <a:schemeClr val="tx1"/>
            </a:solidFill>
            <a:prstDash val="solid"/>
          </a:ln>
          <a:effectLst/>
        </p:spPr>
      </p:cxnSp>
      <p:cxnSp>
        <p:nvCxnSpPr>
          <p:cNvPr id="23" name="直接连接符 22">
            <a:extLst>
              <a:ext uri="{FF2B5EF4-FFF2-40B4-BE49-F238E27FC236}">
                <a16:creationId xmlns:a16="http://schemas.microsoft.com/office/drawing/2014/main" xmlns="" id="{94275FFE-3BE6-4C12-8737-FDFE3456C4A2}"/>
              </a:ext>
            </a:extLst>
          </p:cNvPr>
          <p:cNvCxnSpPr>
            <a:stCxn id="86" idx="3"/>
          </p:cNvCxnSpPr>
          <p:nvPr/>
        </p:nvCxnSpPr>
        <p:spPr bwMode="gray">
          <a:xfrm flipV="1">
            <a:off x="1760148" y="2884413"/>
            <a:ext cx="769304" cy="1025170"/>
          </a:xfrm>
          <a:prstGeom prst="line">
            <a:avLst/>
          </a:prstGeom>
          <a:noFill/>
          <a:ln w="19050" cap="flat" cmpd="sng" algn="ctr">
            <a:solidFill>
              <a:schemeClr val="tx1"/>
            </a:solidFill>
            <a:prstDash val="solid"/>
          </a:ln>
          <a:effectLst/>
        </p:spPr>
      </p:cxnSp>
      <p:cxnSp>
        <p:nvCxnSpPr>
          <p:cNvPr id="26" name="直接连接符 25">
            <a:extLst>
              <a:ext uri="{FF2B5EF4-FFF2-40B4-BE49-F238E27FC236}">
                <a16:creationId xmlns:a16="http://schemas.microsoft.com/office/drawing/2014/main" xmlns="" id="{94275FFE-3BE6-4C12-8737-FDFE3456C4A2}"/>
              </a:ext>
            </a:extLst>
          </p:cNvPr>
          <p:cNvCxnSpPr/>
          <p:nvPr/>
        </p:nvCxnSpPr>
        <p:spPr bwMode="gray">
          <a:xfrm flipV="1">
            <a:off x="1760148" y="2877949"/>
            <a:ext cx="2352693" cy="1031634"/>
          </a:xfrm>
          <a:prstGeom prst="line">
            <a:avLst/>
          </a:prstGeom>
          <a:noFill/>
          <a:ln w="19050" cap="flat" cmpd="sng" algn="ctr">
            <a:solidFill>
              <a:schemeClr val="tx1"/>
            </a:solidFill>
            <a:prstDash val="solid"/>
          </a:ln>
          <a:effectLst/>
        </p:spPr>
      </p:cxnSp>
      <p:cxnSp>
        <p:nvCxnSpPr>
          <p:cNvPr id="31" name="直接连接符 30">
            <a:extLst>
              <a:ext uri="{FF2B5EF4-FFF2-40B4-BE49-F238E27FC236}">
                <a16:creationId xmlns:a16="http://schemas.microsoft.com/office/drawing/2014/main" xmlns="" id="{94275FFE-3BE6-4C12-8737-FDFE3456C4A2}"/>
              </a:ext>
            </a:extLst>
          </p:cNvPr>
          <p:cNvCxnSpPr/>
          <p:nvPr/>
        </p:nvCxnSpPr>
        <p:spPr bwMode="gray">
          <a:xfrm>
            <a:off x="4125044" y="2884413"/>
            <a:ext cx="776295" cy="1025170"/>
          </a:xfrm>
          <a:prstGeom prst="line">
            <a:avLst/>
          </a:prstGeom>
          <a:noFill/>
          <a:ln w="19050" cap="flat" cmpd="sng" algn="ctr">
            <a:solidFill>
              <a:schemeClr val="tx1"/>
            </a:solidFill>
            <a:prstDash val="solid"/>
          </a:ln>
          <a:effectLst/>
        </p:spPr>
      </p:cxnSp>
      <p:cxnSp>
        <p:nvCxnSpPr>
          <p:cNvPr id="34" name="直接连接符 33">
            <a:extLst>
              <a:ext uri="{FF2B5EF4-FFF2-40B4-BE49-F238E27FC236}">
                <a16:creationId xmlns:a16="http://schemas.microsoft.com/office/drawing/2014/main" xmlns="" id="{94275FFE-3BE6-4C12-8737-FDFE3456C4A2}"/>
              </a:ext>
            </a:extLst>
          </p:cNvPr>
          <p:cNvCxnSpPr>
            <a:endCxn id="89" idx="3"/>
          </p:cNvCxnSpPr>
          <p:nvPr/>
        </p:nvCxnSpPr>
        <p:spPr bwMode="gray">
          <a:xfrm>
            <a:off x="2529450" y="2884412"/>
            <a:ext cx="2371889" cy="1025171"/>
          </a:xfrm>
          <a:prstGeom prst="line">
            <a:avLst/>
          </a:prstGeom>
          <a:noFill/>
          <a:ln w="19050" cap="flat" cmpd="sng" algn="ctr">
            <a:solidFill>
              <a:schemeClr val="tx1"/>
            </a:solidFill>
            <a:prstDash val="solid"/>
          </a:ln>
          <a:effectLst/>
        </p:spPr>
      </p:cxnSp>
      <p:pic>
        <p:nvPicPr>
          <p:cNvPr id="10" name="图片 9"/>
          <p:cNvPicPr>
            <a:picLocks/>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2271655" y="2663013"/>
            <a:ext cx="540000" cy="442800"/>
          </a:xfrm>
          <a:prstGeom prst="rect">
            <a:avLst/>
          </a:prstGeom>
        </p:spPr>
      </p:pic>
      <p:pic>
        <p:nvPicPr>
          <p:cNvPr id="11" name="图片 10"/>
          <p:cNvPicPr>
            <a:picLocks/>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3842841" y="2663013"/>
            <a:ext cx="540000" cy="442800"/>
          </a:xfrm>
          <a:prstGeom prst="rect">
            <a:avLst/>
          </a:prstGeom>
        </p:spPr>
      </p:pic>
      <p:sp>
        <p:nvSpPr>
          <p:cNvPr id="49" name="TextBox 120">
            <a:extLst>
              <a:ext uri="{FF2B5EF4-FFF2-40B4-BE49-F238E27FC236}">
                <a16:creationId xmlns:a16="http://schemas.microsoft.com/office/drawing/2014/main" xmlns="" id="{020D7A1D-EFAD-4C8C-B9DE-D0FAD269B77A}"/>
              </a:ext>
            </a:extLst>
          </p:cNvPr>
          <p:cNvSpPr txBox="1"/>
          <p:nvPr/>
        </p:nvSpPr>
        <p:spPr bwMode="gray">
          <a:xfrm>
            <a:off x="2052803" y="2413245"/>
            <a:ext cx="975697" cy="307648"/>
          </a:xfrm>
          <a:prstGeom prst="rect">
            <a:avLst/>
          </a:prstGeom>
          <a:noFill/>
          <a:ln>
            <a:noFill/>
          </a:ln>
        </p:spPr>
        <p:txBody>
          <a:bodyPr wrap="square" rtlCol="0">
            <a:spAutoFit/>
          </a:bodyPr>
          <a:lstStyle/>
          <a:p>
            <a:pPr algn="ctr"/>
            <a:r>
              <a:rPr lang="en-US" altLang="zh-CN" sz="1399"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399"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级</a:t>
            </a:r>
            <a:r>
              <a:rPr lang="en-US" altLang="zh-CN" sz="1399"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RR1</a:t>
            </a:r>
            <a:endParaRPr lang="en-US" altLang="zh-CN" sz="139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TextBox 120">
            <a:extLst>
              <a:ext uri="{FF2B5EF4-FFF2-40B4-BE49-F238E27FC236}">
                <a16:creationId xmlns:a16="http://schemas.microsoft.com/office/drawing/2014/main" xmlns="" id="{020D7A1D-EFAD-4C8C-B9DE-D0FAD269B77A}"/>
              </a:ext>
            </a:extLst>
          </p:cNvPr>
          <p:cNvSpPr txBox="1"/>
          <p:nvPr/>
        </p:nvSpPr>
        <p:spPr bwMode="gray">
          <a:xfrm>
            <a:off x="3647370" y="2413245"/>
            <a:ext cx="919758" cy="307648"/>
          </a:xfrm>
          <a:prstGeom prst="rect">
            <a:avLst/>
          </a:prstGeom>
          <a:noFill/>
          <a:ln>
            <a:noFill/>
          </a:ln>
        </p:spPr>
        <p:txBody>
          <a:bodyPr wrap="square" rtlCol="0">
            <a:spAutoFit/>
          </a:bodyPr>
          <a:lstStyle/>
          <a:p>
            <a:pPr algn="ctr"/>
            <a:r>
              <a:rPr lang="en-US" altLang="zh-CN" sz="1399"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399"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级</a:t>
            </a:r>
            <a:r>
              <a:rPr lang="en-US" altLang="zh-CN" sz="1399"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RR2</a:t>
            </a:r>
            <a:endParaRPr lang="en-US" altLang="zh-CN" sz="139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TextBox 120">
            <a:extLst>
              <a:ext uri="{FF2B5EF4-FFF2-40B4-BE49-F238E27FC236}">
                <a16:creationId xmlns:a16="http://schemas.microsoft.com/office/drawing/2014/main" xmlns="" id="{020D7A1D-EFAD-4C8C-B9DE-D0FAD269B77A}"/>
              </a:ext>
            </a:extLst>
          </p:cNvPr>
          <p:cNvSpPr txBox="1"/>
          <p:nvPr/>
        </p:nvSpPr>
        <p:spPr bwMode="gray">
          <a:xfrm>
            <a:off x="933341" y="4111306"/>
            <a:ext cx="889384" cy="522964"/>
          </a:xfrm>
          <a:prstGeom prst="rect">
            <a:avLst/>
          </a:prstGeom>
          <a:noFill/>
          <a:ln>
            <a:noFill/>
          </a:ln>
        </p:spPr>
        <p:txBody>
          <a:bodyPr wrap="square" rtlCol="0">
            <a:spAutoFit/>
          </a:bodyPr>
          <a:lstStyle/>
          <a:p>
            <a:pPr algn="ct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Client1/</a:t>
            </a:r>
          </a:p>
          <a:p>
            <a:pPr algn="ctr"/>
            <a:r>
              <a:rPr lang="en-US" altLang="zh-CN" sz="1399"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399"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级</a:t>
            </a:r>
            <a:r>
              <a:rPr lang="en-US" altLang="zh-CN" sz="1399"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RR</a:t>
            </a:r>
            <a:endParaRPr lang="en-US" altLang="zh-CN" sz="139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TextBox 120">
            <a:extLst>
              <a:ext uri="{FF2B5EF4-FFF2-40B4-BE49-F238E27FC236}">
                <a16:creationId xmlns:a16="http://schemas.microsoft.com/office/drawing/2014/main" xmlns="" id="{020D7A1D-EFAD-4C8C-B9DE-D0FAD269B77A}"/>
              </a:ext>
            </a:extLst>
          </p:cNvPr>
          <p:cNvSpPr txBox="1"/>
          <p:nvPr/>
        </p:nvSpPr>
        <p:spPr bwMode="gray">
          <a:xfrm>
            <a:off x="854269" y="2324386"/>
            <a:ext cx="826769" cy="307657"/>
          </a:xfrm>
          <a:prstGeom prst="rect">
            <a:avLst/>
          </a:prstGeom>
          <a:noFill/>
          <a:ln>
            <a:noFill/>
          </a:ln>
        </p:spPr>
        <p:txBody>
          <a:bodyPr wrap="square" rtlCol="0">
            <a:spAutoFit/>
          </a:bodyPr>
          <a:lstStyle/>
          <a:p>
            <a:pPr algn="ct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AS 101</a:t>
            </a:r>
            <a:endPar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TextBox 120">
            <a:extLst>
              <a:ext uri="{FF2B5EF4-FFF2-40B4-BE49-F238E27FC236}">
                <a16:creationId xmlns:a16="http://schemas.microsoft.com/office/drawing/2014/main" xmlns="" id="{020D7A1D-EFAD-4C8C-B9DE-D0FAD269B77A}"/>
              </a:ext>
            </a:extLst>
          </p:cNvPr>
          <p:cNvSpPr txBox="1"/>
          <p:nvPr/>
        </p:nvSpPr>
        <p:spPr bwMode="gray">
          <a:xfrm>
            <a:off x="2838556" y="3682539"/>
            <a:ext cx="943833" cy="307648"/>
          </a:xfrm>
          <a:prstGeom prst="rect">
            <a:avLst/>
          </a:prstGeom>
          <a:noFill/>
          <a:ln>
            <a:noFill/>
          </a:ln>
        </p:spPr>
        <p:txBody>
          <a:bodyPr wrap="square" rtlCol="0">
            <a:spAutoFit/>
          </a:bodyPr>
          <a:lstStyle/>
          <a:p>
            <a:pPr algn="ctr"/>
            <a:r>
              <a:rPr lang="en-US" altLang="zh-CN" sz="1399" b="1"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Cluster1</a:t>
            </a:r>
            <a:endParaRPr lang="en-US" altLang="zh-CN" sz="1399"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TextBox 120">
            <a:extLst>
              <a:ext uri="{FF2B5EF4-FFF2-40B4-BE49-F238E27FC236}">
                <a16:creationId xmlns:a16="http://schemas.microsoft.com/office/drawing/2014/main" xmlns="" id="{020D7A1D-EFAD-4C8C-B9DE-D0FAD269B77A}"/>
              </a:ext>
            </a:extLst>
          </p:cNvPr>
          <p:cNvSpPr txBox="1"/>
          <p:nvPr/>
        </p:nvSpPr>
        <p:spPr bwMode="gray">
          <a:xfrm>
            <a:off x="2911162" y="2645593"/>
            <a:ext cx="826769" cy="307657"/>
          </a:xfrm>
          <a:prstGeom prst="rect">
            <a:avLst/>
          </a:prstGeom>
          <a:noFill/>
          <a:ln>
            <a:noFill/>
          </a:ln>
        </p:spPr>
        <p:txBody>
          <a:bodyPr wrap="square" rtlCol="0">
            <a:spAutoFit/>
          </a:bodyPr>
          <a:lstStyle/>
          <a:p>
            <a:pPr algn="ctr"/>
            <a:r>
              <a:rPr lang="en-US" altLang="zh-CN" sz="1399" dirty="0" smtClean="0">
                <a:latin typeface="Huawei Sans" panose="020C0503030203020204" pitchFamily="34" charset="0"/>
                <a:ea typeface="方正兰亭黑简体" panose="02000000000000000000" pitchFamily="2" charset="-122"/>
                <a:sym typeface="Huawei Sans" panose="020C0503030203020204" pitchFamily="34" charset="0"/>
              </a:rPr>
              <a:t>IBGP</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TextBox 120">
            <a:extLst>
              <a:ext uri="{FF2B5EF4-FFF2-40B4-BE49-F238E27FC236}">
                <a16:creationId xmlns:a16="http://schemas.microsoft.com/office/drawing/2014/main" xmlns="" id="{020D7A1D-EFAD-4C8C-B9DE-D0FAD269B77A}"/>
              </a:ext>
            </a:extLst>
          </p:cNvPr>
          <p:cNvSpPr txBox="1"/>
          <p:nvPr/>
        </p:nvSpPr>
        <p:spPr bwMode="gray">
          <a:xfrm>
            <a:off x="1886201" y="3384862"/>
            <a:ext cx="826769" cy="307657"/>
          </a:xfrm>
          <a:prstGeom prst="rect">
            <a:avLst/>
          </a:prstGeom>
          <a:noFill/>
          <a:ln>
            <a:noFill/>
          </a:ln>
        </p:spPr>
        <p:txBody>
          <a:bodyPr wrap="square" rtlCol="0">
            <a:spAutoFit/>
          </a:bodyPr>
          <a:lstStyle/>
          <a:p>
            <a:pPr algn="ctr"/>
            <a:r>
              <a:rPr lang="en-US" altLang="zh-CN" sz="1399" dirty="0" smtClean="0">
                <a:latin typeface="Huawei Sans" panose="020C0503030203020204" pitchFamily="34" charset="0"/>
                <a:ea typeface="方正兰亭黑简体" panose="02000000000000000000" pitchFamily="2" charset="-122"/>
                <a:sym typeface="Huawei Sans" panose="020C0503030203020204" pitchFamily="34" charset="0"/>
              </a:rPr>
              <a:t>IBGP</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TextBox 120">
            <a:extLst>
              <a:ext uri="{FF2B5EF4-FFF2-40B4-BE49-F238E27FC236}">
                <a16:creationId xmlns:a16="http://schemas.microsoft.com/office/drawing/2014/main" xmlns="" id="{020D7A1D-EFAD-4C8C-B9DE-D0FAD269B77A}"/>
              </a:ext>
            </a:extLst>
          </p:cNvPr>
          <p:cNvSpPr txBox="1"/>
          <p:nvPr/>
        </p:nvSpPr>
        <p:spPr bwMode="gray">
          <a:xfrm>
            <a:off x="3963366" y="3384862"/>
            <a:ext cx="826769" cy="307657"/>
          </a:xfrm>
          <a:prstGeom prst="rect">
            <a:avLst/>
          </a:prstGeom>
          <a:noFill/>
          <a:ln>
            <a:noFill/>
          </a:ln>
        </p:spPr>
        <p:txBody>
          <a:bodyPr wrap="square" rtlCol="0">
            <a:spAutoFit/>
          </a:bodyPr>
          <a:lstStyle/>
          <a:p>
            <a:pPr algn="ctr"/>
            <a:r>
              <a:rPr lang="en-US" altLang="zh-CN" sz="1399" dirty="0" smtClean="0">
                <a:latin typeface="Huawei Sans" panose="020C0503030203020204" pitchFamily="34" charset="0"/>
                <a:ea typeface="方正兰亭黑简体" panose="02000000000000000000" pitchFamily="2" charset="-122"/>
                <a:sym typeface="Huawei Sans" panose="020C0503030203020204" pitchFamily="34" charset="0"/>
              </a:rPr>
              <a:t>IBGP</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1" name="图片 9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486062" y="4880237"/>
            <a:ext cx="540000" cy="442800"/>
          </a:xfrm>
          <a:prstGeom prst="rect">
            <a:avLst/>
          </a:prstGeom>
        </p:spPr>
      </p:pic>
      <p:sp>
        <p:nvSpPr>
          <p:cNvPr id="98" name="TextBox 120">
            <a:extLst>
              <a:ext uri="{FF2B5EF4-FFF2-40B4-BE49-F238E27FC236}">
                <a16:creationId xmlns:a16="http://schemas.microsoft.com/office/drawing/2014/main" xmlns="" id="{020D7A1D-EFAD-4C8C-B9DE-D0FAD269B77A}"/>
              </a:ext>
            </a:extLst>
          </p:cNvPr>
          <p:cNvSpPr txBox="1"/>
          <p:nvPr/>
        </p:nvSpPr>
        <p:spPr bwMode="gray">
          <a:xfrm>
            <a:off x="1311369" y="5293061"/>
            <a:ext cx="889384" cy="307648"/>
          </a:xfrm>
          <a:prstGeom prst="rect">
            <a:avLst/>
          </a:prstGeom>
          <a:noFill/>
          <a:ln>
            <a:noFill/>
          </a:ln>
        </p:spPr>
        <p:txBody>
          <a:bodyPr wrap="square" rtlCol="0">
            <a:spAutoFit/>
          </a:bodyPr>
          <a:lstStyle/>
          <a:p>
            <a:pPr algn="ct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Client</a:t>
            </a:r>
            <a:endPar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1" name="直接连接符 100">
            <a:extLst>
              <a:ext uri="{FF2B5EF4-FFF2-40B4-BE49-F238E27FC236}">
                <a16:creationId xmlns:a16="http://schemas.microsoft.com/office/drawing/2014/main" xmlns="" id="{94275FFE-3BE6-4C12-8737-FDFE3456C4A2}"/>
              </a:ext>
            </a:extLst>
          </p:cNvPr>
          <p:cNvCxnSpPr>
            <a:stCxn id="91" idx="0"/>
          </p:cNvCxnSpPr>
          <p:nvPr/>
        </p:nvCxnSpPr>
        <p:spPr bwMode="gray">
          <a:xfrm flipV="1">
            <a:off x="1756062" y="4130205"/>
            <a:ext cx="0" cy="750032"/>
          </a:xfrm>
          <a:prstGeom prst="line">
            <a:avLst/>
          </a:prstGeom>
          <a:noFill/>
          <a:ln w="19050" cap="flat" cmpd="sng" algn="ctr">
            <a:solidFill>
              <a:schemeClr val="tx1"/>
            </a:solidFill>
            <a:prstDash val="solid"/>
          </a:ln>
          <a:effectLst/>
        </p:spPr>
      </p:cxnSp>
      <p:sp>
        <p:nvSpPr>
          <p:cNvPr id="42" name="文本占位符 3"/>
          <p:cNvSpPr txBox="1">
            <a:spLocks/>
          </p:cNvSpPr>
          <p:nvPr/>
        </p:nvSpPr>
        <p:spPr bwMode="auto">
          <a:xfrm>
            <a:off x="6112490" y="2208691"/>
            <a:ext cx="5632010" cy="2865547"/>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600" dirty="0"/>
              <a:t>在实际的</a:t>
            </a:r>
            <a:r>
              <a:rPr lang="en-US" altLang="zh-CN" sz="1600" dirty="0"/>
              <a:t>RR</a:t>
            </a:r>
            <a:r>
              <a:rPr lang="zh-CN" altLang="en-US" sz="1600" dirty="0"/>
              <a:t>部署中，常用的是分级</a:t>
            </a:r>
            <a:r>
              <a:rPr lang="en-US" altLang="zh-CN" sz="1600" dirty="0"/>
              <a:t>RR</a:t>
            </a:r>
            <a:r>
              <a:rPr lang="zh-CN" altLang="en-US" sz="1600" dirty="0"/>
              <a:t>的</a:t>
            </a:r>
            <a:r>
              <a:rPr lang="zh-CN" altLang="en-US" sz="1600" dirty="0" smtClean="0"/>
              <a:t>场景。</a:t>
            </a:r>
            <a:endParaRPr lang="zh-CN" altLang="en-US" sz="1600" dirty="0"/>
          </a:p>
          <a:p>
            <a:r>
              <a:rPr lang="zh-CN" altLang="en-US" sz="1600" dirty="0"/>
              <a:t>如图所示，</a:t>
            </a:r>
            <a:r>
              <a:rPr lang="en-US" altLang="zh-CN" sz="1600" dirty="0" smtClean="0"/>
              <a:t>AS 101</a:t>
            </a:r>
            <a:r>
              <a:rPr lang="zh-CN" altLang="en-US" sz="1600" dirty="0" smtClean="0"/>
              <a:t>内部</a:t>
            </a:r>
            <a:r>
              <a:rPr lang="zh-CN" altLang="en-US" sz="1600" dirty="0"/>
              <a:t>分为三个集群：</a:t>
            </a:r>
          </a:p>
          <a:p>
            <a:pPr lvl="1"/>
            <a:r>
              <a:rPr lang="zh-CN" altLang="en-US" sz="1400" dirty="0" smtClean="0"/>
              <a:t>其中</a:t>
            </a:r>
            <a:r>
              <a:rPr lang="en-US" altLang="zh-CN" sz="1400" dirty="0" smtClean="0"/>
              <a:t>Cluster1</a:t>
            </a:r>
            <a:r>
              <a:rPr lang="zh-CN" altLang="en-US" sz="1400" dirty="0"/>
              <a:t>内的四台设备是核心路由器，采用备份</a:t>
            </a:r>
            <a:r>
              <a:rPr lang="en-US" altLang="zh-CN" sz="1400" dirty="0"/>
              <a:t>RR</a:t>
            </a:r>
            <a:r>
              <a:rPr lang="zh-CN" altLang="en-US" sz="1400" dirty="0"/>
              <a:t>的形式保证可靠性</a:t>
            </a:r>
            <a:r>
              <a:rPr lang="zh-CN" altLang="en-US" sz="1400" dirty="0" smtClean="0"/>
              <a:t>。</a:t>
            </a:r>
            <a:r>
              <a:rPr lang="en-US" altLang="zh-CN" sz="1400" dirty="0" smtClean="0"/>
              <a:t>Cluster1</a:t>
            </a:r>
            <a:r>
              <a:rPr lang="zh-CN" altLang="en-US" sz="1400" dirty="0" smtClean="0"/>
              <a:t>部署</a:t>
            </a:r>
            <a:r>
              <a:rPr lang="zh-CN" altLang="en-US" sz="1400" dirty="0"/>
              <a:t>了两</a:t>
            </a:r>
            <a:r>
              <a:rPr lang="zh-CN" altLang="en-US" sz="1400" dirty="0" smtClean="0"/>
              <a:t>个</a:t>
            </a:r>
            <a:r>
              <a:rPr lang="en-US" altLang="zh-CN" sz="1400" dirty="0" smtClean="0"/>
              <a:t>1</a:t>
            </a:r>
            <a:r>
              <a:rPr lang="zh-CN" altLang="en-US" sz="1400" dirty="0" smtClean="0"/>
              <a:t>级</a:t>
            </a:r>
            <a:r>
              <a:rPr lang="en-US" altLang="zh-CN" sz="1400" dirty="0" smtClean="0"/>
              <a:t>RR</a:t>
            </a:r>
            <a:r>
              <a:rPr lang="zh-CN" altLang="en-US" sz="1400" dirty="0" smtClean="0"/>
              <a:t>，其余</a:t>
            </a:r>
            <a:r>
              <a:rPr lang="zh-CN" altLang="en-US" sz="1400" dirty="0"/>
              <a:t>两台路由器</a:t>
            </a:r>
            <a:r>
              <a:rPr lang="zh-CN" altLang="en-US" sz="1400" dirty="0" smtClean="0"/>
              <a:t>作为</a:t>
            </a:r>
            <a:r>
              <a:rPr lang="en-US" altLang="zh-CN" sz="1400" dirty="0" smtClean="0"/>
              <a:t>1</a:t>
            </a:r>
            <a:r>
              <a:rPr lang="zh-CN" altLang="en-US" sz="1400" dirty="0" smtClean="0"/>
              <a:t>级</a:t>
            </a:r>
            <a:r>
              <a:rPr lang="en-US" altLang="zh-CN" sz="1400" dirty="0" smtClean="0"/>
              <a:t>RR</a:t>
            </a:r>
            <a:r>
              <a:rPr lang="zh-CN" altLang="en-US" sz="1400" dirty="0" smtClean="0"/>
              <a:t>的</a:t>
            </a:r>
            <a:r>
              <a:rPr lang="zh-CN" altLang="en-US" sz="1400" dirty="0"/>
              <a:t>客户机。</a:t>
            </a:r>
          </a:p>
          <a:p>
            <a:pPr lvl="1"/>
            <a:r>
              <a:rPr lang="en-US" altLang="zh-CN" sz="1400" dirty="0"/>
              <a:t>Cluster2</a:t>
            </a:r>
            <a:r>
              <a:rPr lang="zh-CN" altLang="en-US" sz="1400" dirty="0"/>
              <a:t>和</a:t>
            </a:r>
            <a:r>
              <a:rPr lang="en-US" altLang="zh-CN" sz="1400" dirty="0"/>
              <a:t>Cluster3</a:t>
            </a:r>
            <a:r>
              <a:rPr lang="zh-CN" altLang="en-US" sz="1400" dirty="0"/>
              <a:t>中分别部署了一</a:t>
            </a:r>
            <a:r>
              <a:rPr lang="zh-CN" altLang="en-US" sz="1400" dirty="0" smtClean="0"/>
              <a:t>个</a:t>
            </a:r>
            <a:r>
              <a:rPr lang="en-US" altLang="zh-CN" sz="1400" dirty="0" smtClean="0"/>
              <a:t>2</a:t>
            </a:r>
            <a:r>
              <a:rPr lang="zh-CN" altLang="en-US" sz="1400" dirty="0" smtClean="0"/>
              <a:t>级</a:t>
            </a:r>
            <a:r>
              <a:rPr lang="en-US" altLang="zh-CN" sz="1400" dirty="0" smtClean="0"/>
              <a:t>RR</a:t>
            </a:r>
            <a:r>
              <a:rPr lang="zh-CN" altLang="en-US" sz="1400" dirty="0" smtClean="0"/>
              <a:t>，而</a:t>
            </a:r>
            <a:r>
              <a:rPr lang="en-US" altLang="zh-CN" sz="1400" dirty="0" smtClean="0"/>
              <a:t>2</a:t>
            </a:r>
            <a:r>
              <a:rPr lang="zh-CN" altLang="en-US" sz="1400" dirty="0" smtClean="0"/>
              <a:t>级</a:t>
            </a:r>
            <a:r>
              <a:rPr lang="en-US" altLang="zh-CN" sz="1400" dirty="0" smtClean="0"/>
              <a:t>RR</a:t>
            </a:r>
            <a:r>
              <a:rPr lang="zh-CN" altLang="en-US" sz="1400" dirty="0" smtClean="0"/>
              <a:t>同时</a:t>
            </a:r>
            <a:r>
              <a:rPr lang="zh-CN" altLang="en-US" sz="1400" dirty="0"/>
              <a:t>也</a:t>
            </a:r>
            <a:r>
              <a:rPr lang="zh-CN" altLang="en-US" sz="1400" dirty="0" smtClean="0"/>
              <a:t>是</a:t>
            </a:r>
            <a:r>
              <a:rPr lang="en-US" altLang="zh-CN" sz="1400" dirty="0" smtClean="0"/>
              <a:t>1</a:t>
            </a:r>
            <a:r>
              <a:rPr lang="zh-CN" altLang="en-US" sz="1400" dirty="0" smtClean="0"/>
              <a:t>级</a:t>
            </a:r>
            <a:r>
              <a:rPr lang="en-US" altLang="zh-CN" sz="1400" dirty="0" smtClean="0"/>
              <a:t>RR</a:t>
            </a:r>
            <a:r>
              <a:rPr lang="zh-CN" altLang="en-US" sz="1400" dirty="0" smtClean="0"/>
              <a:t>的</a:t>
            </a:r>
            <a:r>
              <a:rPr lang="zh-CN" altLang="en-US" sz="1400" dirty="0"/>
              <a:t>客户机。两</a:t>
            </a:r>
            <a:r>
              <a:rPr lang="zh-CN" altLang="en-US" sz="1400" dirty="0" smtClean="0"/>
              <a:t>个</a:t>
            </a:r>
            <a:r>
              <a:rPr lang="en-US" altLang="zh-CN" sz="1400" dirty="0" smtClean="0"/>
              <a:t>2</a:t>
            </a:r>
            <a:r>
              <a:rPr lang="zh-CN" altLang="en-US" sz="1400" dirty="0" smtClean="0"/>
              <a:t>级</a:t>
            </a:r>
            <a:r>
              <a:rPr lang="en-US" altLang="zh-CN" sz="1400" dirty="0" smtClean="0"/>
              <a:t>RR</a:t>
            </a:r>
            <a:r>
              <a:rPr lang="zh-CN" altLang="en-US" sz="1400" dirty="0" smtClean="0"/>
              <a:t>之间</a:t>
            </a:r>
            <a:r>
              <a:rPr lang="zh-CN" altLang="en-US" sz="1400" dirty="0"/>
              <a:t>无需建立</a:t>
            </a:r>
            <a:r>
              <a:rPr lang="en-US" altLang="zh-CN" sz="1400" dirty="0"/>
              <a:t>IBGP</a:t>
            </a:r>
            <a:r>
              <a:rPr lang="zh-CN" altLang="en-US" sz="1400" dirty="0"/>
              <a:t>连接关系。</a:t>
            </a:r>
          </a:p>
        </p:txBody>
      </p:sp>
      <p:sp>
        <p:nvSpPr>
          <p:cNvPr id="45" name="TextBox 120">
            <a:extLst>
              <a:ext uri="{FF2B5EF4-FFF2-40B4-BE49-F238E27FC236}">
                <a16:creationId xmlns:a16="http://schemas.microsoft.com/office/drawing/2014/main" xmlns="" id="{020D7A1D-EFAD-4C8C-B9DE-D0FAD269B77A}"/>
              </a:ext>
            </a:extLst>
          </p:cNvPr>
          <p:cNvSpPr txBox="1"/>
          <p:nvPr/>
        </p:nvSpPr>
        <p:spPr bwMode="gray">
          <a:xfrm>
            <a:off x="4062394" y="4111306"/>
            <a:ext cx="889384" cy="522964"/>
          </a:xfrm>
          <a:prstGeom prst="rect">
            <a:avLst/>
          </a:prstGeom>
          <a:noFill/>
          <a:ln>
            <a:noFill/>
          </a:ln>
        </p:spPr>
        <p:txBody>
          <a:bodyPr wrap="square" rtlCol="0">
            <a:spAutoFit/>
          </a:bodyPr>
          <a:lstStyle/>
          <a:p>
            <a:pPr algn="ct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Client2/</a:t>
            </a:r>
          </a:p>
          <a:p>
            <a:pPr algn="ctr"/>
            <a:r>
              <a:rPr lang="en-US" altLang="zh-CN" sz="1399"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399"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级</a:t>
            </a:r>
            <a:r>
              <a:rPr lang="en-US" altLang="zh-CN" sz="1399"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RR</a:t>
            </a:r>
            <a:endParaRPr lang="en-US" altLang="zh-CN" sz="139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TextBox 120">
            <a:extLst>
              <a:ext uri="{FF2B5EF4-FFF2-40B4-BE49-F238E27FC236}">
                <a16:creationId xmlns:a16="http://schemas.microsoft.com/office/drawing/2014/main" xmlns="" id="{020D7A1D-EFAD-4C8C-B9DE-D0FAD269B77A}"/>
              </a:ext>
            </a:extLst>
          </p:cNvPr>
          <p:cNvSpPr txBox="1"/>
          <p:nvPr/>
        </p:nvSpPr>
        <p:spPr bwMode="gray">
          <a:xfrm>
            <a:off x="1696421" y="4567058"/>
            <a:ext cx="943833" cy="307648"/>
          </a:xfrm>
          <a:prstGeom prst="rect">
            <a:avLst/>
          </a:prstGeom>
          <a:noFill/>
          <a:ln>
            <a:noFill/>
          </a:ln>
        </p:spPr>
        <p:txBody>
          <a:bodyPr wrap="square" rtlCol="0">
            <a:spAutoFit/>
          </a:bodyPr>
          <a:lstStyle/>
          <a:p>
            <a:pPr algn="ctr"/>
            <a:r>
              <a:rPr lang="en-US" altLang="zh-CN" sz="1399" b="1"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Cluster2</a:t>
            </a:r>
            <a:endParaRPr lang="en-US" altLang="zh-CN" sz="1399"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TextBox 120">
            <a:extLst>
              <a:ext uri="{FF2B5EF4-FFF2-40B4-BE49-F238E27FC236}">
                <a16:creationId xmlns:a16="http://schemas.microsoft.com/office/drawing/2014/main" xmlns="" id="{020D7A1D-EFAD-4C8C-B9DE-D0FAD269B77A}"/>
              </a:ext>
            </a:extLst>
          </p:cNvPr>
          <p:cNvSpPr txBox="1"/>
          <p:nvPr/>
        </p:nvSpPr>
        <p:spPr bwMode="gray">
          <a:xfrm>
            <a:off x="4824961" y="4567058"/>
            <a:ext cx="943833" cy="307648"/>
          </a:xfrm>
          <a:prstGeom prst="rect">
            <a:avLst/>
          </a:prstGeom>
          <a:noFill/>
          <a:ln>
            <a:noFill/>
          </a:ln>
        </p:spPr>
        <p:txBody>
          <a:bodyPr wrap="square" rtlCol="0">
            <a:spAutoFit/>
          </a:bodyPr>
          <a:lstStyle/>
          <a:p>
            <a:pPr algn="ctr"/>
            <a:r>
              <a:rPr lang="en-US" altLang="zh-CN" sz="1399" b="1"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Cluster3</a:t>
            </a:r>
            <a:endParaRPr lang="en-US" altLang="zh-CN" sz="1399"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1" name="组合 70"/>
          <p:cNvGrpSpPr/>
          <p:nvPr/>
        </p:nvGrpSpPr>
        <p:grpSpPr bwMode="gray">
          <a:xfrm>
            <a:off x="4419050" y="5881550"/>
            <a:ext cx="1338838" cy="276999"/>
            <a:chOff x="4366042" y="5780594"/>
            <a:chExt cx="1338838" cy="276999"/>
          </a:xfrm>
        </p:grpSpPr>
        <p:cxnSp>
          <p:nvCxnSpPr>
            <p:cNvPr id="72" name="直接连接符 71"/>
            <p:cNvCxnSpPr/>
            <p:nvPr/>
          </p:nvCxnSpPr>
          <p:spPr bwMode="gray">
            <a:xfrm flipH="1">
              <a:off x="4366042" y="5919040"/>
              <a:ext cx="360000" cy="0"/>
            </a:xfrm>
            <a:prstGeom prst="line">
              <a:avLst/>
            </a:prstGeom>
            <a:noFill/>
            <a:ln w="19050" cap="flat" cmpd="sng" algn="ctr">
              <a:solidFill>
                <a:schemeClr val="tx1"/>
              </a:solidFill>
              <a:prstDash val="solid"/>
            </a:ln>
            <a:effectLst/>
          </p:spPr>
        </p:cxnSp>
        <p:sp>
          <p:nvSpPr>
            <p:cNvPr id="73" name="文本框 72"/>
            <p:cNvSpPr txBox="1"/>
            <p:nvPr/>
          </p:nvSpPr>
          <p:spPr bwMode="gray">
            <a:xfrm>
              <a:off x="4725125" y="5780594"/>
              <a:ext cx="979755" cy="276999"/>
            </a:xfrm>
            <a:prstGeom prst="rect">
              <a:avLst/>
            </a:prstGeom>
            <a:noFill/>
          </p:spPr>
          <p:txBody>
            <a:bodyPr wrap="none" rtlCol="0">
              <a:spAutoFit/>
            </a:bodyPr>
            <a:lstStyle/>
            <a:p>
              <a:r>
                <a:rPr lang="en-US" altLang="zh-CN" sz="1200" kern="100" dirty="0" smtClean="0">
                  <a:latin typeface="Huawei Sans" panose="020C0503030203020204" pitchFamily="34" charset="0"/>
                  <a:ea typeface="方正兰亭黑简体" panose="02000000000000000000" pitchFamily="2" charset="-122"/>
                  <a:sym typeface="Huawei Sans" panose="020C0503030203020204" pitchFamily="34" charset="0"/>
                </a:rPr>
                <a:t>IBGP</a:t>
              </a:r>
              <a:r>
                <a:rPr lang="zh-CN" altLang="en-US" sz="1200" kern="100" dirty="0" smtClean="0">
                  <a:latin typeface="Huawei Sans" panose="020C0503030203020204" pitchFamily="34" charset="0"/>
                  <a:ea typeface="方正兰亭黑简体" panose="02000000000000000000" pitchFamily="2" charset="-122"/>
                  <a:sym typeface="Huawei Sans" panose="020C0503030203020204" pitchFamily="34" charset="0"/>
                </a:rPr>
                <a:t>对等体</a:t>
              </a:r>
              <a:endParaRPr lang="zh-CN" altLang="zh-CN" sz="1200" kern="100" dirty="0">
                <a:latin typeface="Huawei Sans" panose="020C0503030203020204" pitchFamily="34" charset="0"/>
                <a:ea typeface="方正兰亭黑简体" panose="02000000000000000000" pitchFamily="2" charset="-122"/>
                <a:cs typeface="Times New Roman"/>
                <a:sym typeface="Huawei Sans" panose="020C0503030203020204" pitchFamily="34" charset="0"/>
              </a:endParaRPr>
            </a:p>
          </p:txBody>
        </p:sp>
      </p:grpSp>
      <p:cxnSp>
        <p:nvCxnSpPr>
          <p:cNvPr id="76" name="直接箭头连接符 75"/>
          <p:cNvCxnSpPr/>
          <p:nvPr/>
        </p:nvCxnSpPr>
        <p:spPr bwMode="gray">
          <a:xfrm>
            <a:off x="5677948" y="3949654"/>
            <a:ext cx="0" cy="1124584"/>
          </a:xfrm>
          <a:prstGeom prst="straightConnector1">
            <a:avLst/>
          </a:prstGeom>
          <a:ln w="19050">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bwMode="gray">
          <a:xfrm>
            <a:off x="5327590" y="3892131"/>
            <a:ext cx="720000" cy="0"/>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bwMode="gray">
          <a:xfrm>
            <a:off x="5327590" y="5155336"/>
            <a:ext cx="720000" cy="0"/>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9" name="直接箭头连接符 78"/>
          <p:cNvCxnSpPr/>
          <p:nvPr/>
        </p:nvCxnSpPr>
        <p:spPr bwMode="gray">
          <a:xfrm>
            <a:off x="5677948" y="2973932"/>
            <a:ext cx="0" cy="771595"/>
          </a:xfrm>
          <a:prstGeom prst="straightConnector1">
            <a:avLst/>
          </a:prstGeom>
          <a:ln w="19050">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bwMode="gray">
          <a:xfrm>
            <a:off x="5327590" y="2859687"/>
            <a:ext cx="720000" cy="0"/>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2" name="TextBox 120">
            <a:extLst>
              <a:ext uri="{FF2B5EF4-FFF2-40B4-BE49-F238E27FC236}">
                <a16:creationId xmlns:a16="http://schemas.microsoft.com/office/drawing/2014/main" xmlns="" id="{020D7A1D-EFAD-4C8C-B9DE-D0FAD269B77A}"/>
              </a:ext>
            </a:extLst>
          </p:cNvPr>
          <p:cNvSpPr txBox="1"/>
          <p:nvPr/>
        </p:nvSpPr>
        <p:spPr bwMode="gray">
          <a:xfrm>
            <a:off x="5697275" y="2848833"/>
            <a:ext cx="357482" cy="953594"/>
          </a:xfrm>
          <a:prstGeom prst="rect">
            <a:avLst/>
          </a:prstGeom>
          <a:noFill/>
          <a:ln>
            <a:noFill/>
          </a:ln>
        </p:spPr>
        <p:txBody>
          <a:bodyPr wrap="square" rtlCol="0">
            <a:spAutoFit/>
          </a:bodyPr>
          <a:lstStyle/>
          <a:p>
            <a:pPr algn="ctr"/>
            <a:r>
              <a:rPr lang="zh-CN" altLang="en-US" sz="1399" b="1" dirty="0" smtClean="0">
                <a:latin typeface="Huawei Sans" panose="020C0503030203020204" pitchFamily="34" charset="0"/>
                <a:ea typeface="方正兰亭黑简体" panose="02000000000000000000" pitchFamily="2" charset="-122"/>
                <a:sym typeface="Huawei Sans" panose="020C0503030203020204" pitchFamily="34" charset="0"/>
              </a:rPr>
              <a:t>一</a:t>
            </a:r>
            <a:endPar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399" b="1" dirty="0" smtClean="0">
                <a:latin typeface="Huawei Sans" panose="020C0503030203020204" pitchFamily="34" charset="0"/>
                <a:ea typeface="方正兰亭黑简体" panose="02000000000000000000" pitchFamily="2" charset="-122"/>
                <a:sym typeface="Huawei Sans" panose="020C0503030203020204" pitchFamily="34" charset="0"/>
              </a:rPr>
              <a:t>级</a:t>
            </a:r>
            <a:endPar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399" b="1" dirty="0" smtClean="0">
                <a:latin typeface="Huawei Sans" panose="020C0503030203020204" pitchFamily="34" charset="0"/>
                <a:ea typeface="方正兰亭黑简体" panose="02000000000000000000" pitchFamily="2" charset="-122"/>
                <a:sym typeface="Huawei Sans" panose="020C0503030203020204" pitchFamily="34" charset="0"/>
              </a:rPr>
              <a:t>反</a:t>
            </a:r>
            <a:endPar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rPr>
              <a:t>射</a:t>
            </a:r>
            <a:endPar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TextBox 120">
            <a:extLst>
              <a:ext uri="{FF2B5EF4-FFF2-40B4-BE49-F238E27FC236}">
                <a16:creationId xmlns:a16="http://schemas.microsoft.com/office/drawing/2014/main" xmlns="" id="{020D7A1D-EFAD-4C8C-B9DE-D0FAD269B77A}"/>
              </a:ext>
            </a:extLst>
          </p:cNvPr>
          <p:cNvSpPr txBox="1"/>
          <p:nvPr/>
        </p:nvSpPr>
        <p:spPr bwMode="gray">
          <a:xfrm>
            <a:off x="5697275" y="3961704"/>
            <a:ext cx="357482" cy="953594"/>
          </a:xfrm>
          <a:prstGeom prst="rect">
            <a:avLst/>
          </a:prstGeom>
          <a:noFill/>
          <a:ln>
            <a:noFill/>
          </a:ln>
        </p:spPr>
        <p:txBody>
          <a:bodyPr wrap="square" rtlCol="0">
            <a:spAutoFit/>
          </a:bodyPr>
          <a:lstStyle/>
          <a:p>
            <a:pPr algn="ctr"/>
            <a:r>
              <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rPr>
              <a:t>二</a:t>
            </a:r>
            <a:endPar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399" b="1" dirty="0" smtClean="0">
                <a:latin typeface="Huawei Sans" panose="020C0503030203020204" pitchFamily="34" charset="0"/>
                <a:ea typeface="方正兰亭黑简体" panose="02000000000000000000" pitchFamily="2" charset="-122"/>
                <a:sym typeface="Huawei Sans" panose="020C0503030203020204" pitchFamily="34" charset="0"/>
              </a:rPr>
              <a:t>级</a:t>
            </a:r>
            <a:endPar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399" b="1" dirty="0" smtClean="0">
                <a:latin typeface="Huawei Sans" panose="020C0503030203020204" pitchFamily="34" charset="0"/>
                <a:ea typeface="方正兰亭黑简体" panose="02000000000000000000" pitchFamily="2" charset="-122"/>
                <a:sym typeface="Huawei Sans" panose="020C0503030203020204" pitchFamily="34" charset="0"/>
              </a:rPr>
              <a:t>反</a:t>
            </a:r>
            <a:endPar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rPr>
              <a:t>射</a:t>
            </a:r>
            <a:endPar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6" name="组合 15"/>
          <p:cNvGrpSpPr/>
          <p:nvPr/>
        </p:nvGrpSpPr>
        <p:grpSpPr bwMode="gray">
          <a:xfrm>
            <a:off x="1490148" y="3688183"/>
            <a:ext cx="540000" cy="442800"/>
            <a:chOff x="7242745" y="5402072"/>
            <a:chExt cx="540000" cy="442800"/>
          </a:xfrm>
        </p:grpSpPr>
        <p:pic>
          <p:nvPicPr>
            <p:cNvPr id="85" name="图片 84"/>
            <p:cNvPicPr>
              <a:picLocks/>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7242745" y="5402072"/>
              <a:ext cx="540000" cy="442800"/>
            </a:xfrm>
            <a:prstGeom prst="rect">
              <a:avLst/>
            </a:prstGeom>
          </p:spPr>
        </p:pic>
        <p:pic>
          <p:nvPicPr>
            <p:cNvPr id="86" name="图片 85"/>
            <p:cNvPicPr>
              <a:picLocks/>
            </p:cNvPicPr>
            <p:nvPr/>
          </p:nvPicPr>
          <p:blipFill rotWithShape="1">
            <a:blip r:embed="rId3" cstate="print">
              <a:extLst>
                <a:ext uri="{28A0092B-C50C-407E-A947-70E740481C1C}">
                  <a14:useLocalDpi xmlns:a14="http://schemas.microsoft.com/office/drawing/2010/main" val="0"/>
                </a:ext>
              </a:extLst>
            </a:blip>
            <a:srcRect r="50000"/>
            <a:stretch/>
          </p:blipFill>
          <p:spPr bwMode="gray">
            <a:xfrm>
              <a:off x="7242745" y="5402072"/>
              <a:ext cx="270000" cy="442800"/>
            </a:xfrm>
            <a:prstGeom prst="rect">
              <a:avLst/>
            </a:prstGeom>
          </p:spPr>
        </p:pic>
      </p:grpSp>
      <p:grpSp>
        <p:nvGrpSpPr>
          <p:cNvPr id="87" name="组合 86"/>
          <p:cNvGrpSpPr/>
          <p:nvPr/>
        </p:nvGrpSpPr>
        <p:grpSpPr bwMode="gray">
          <a:xfrm>
            <a:off x="4631339" y="3688183"/>
            <a:ext cx="540000" cy="442800"/>
            <a:chOff x="7242745" y="5402072"/>
            <a:chExt cx="540000" cy="442800"/>
          </a:xfrm>
        </p:grpSpPr>
        <p:pic>
          <p:nvPicPr>
            <p:cNvPr id="88" name="图片 87"/>
            <p:cNvPicPr>
              <a:picLocks/>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7242745" y="5402072"/>
              <a:ext cx="540000" cy="442800"/>
            </a:xfrm>
            <a:prstGeom prst="rect">
              <a:avLst/>
            </a:prstGeom>
          </p:spPr>
        </p:pic>
        <p:pic>
          <p:nvPicPr>
            <p:cNvPr id="89" name="图片 88"/>
            <p:cNvPicPr>
              <a:picLocks/>
            </p:cNvPicPr>
            <p:nvPr/>
          </p:nvPicPr>
          <p:blipFill rotWithShape="1">
            <a:blip r:embed="rId3" cstate="print">
              <a:extLst>
                <a:ext uri="{28A0092B-C50C-407E-A947-70E740481C1C}">
                  <a14:useLocalDpi xmlns:a14="http://schemas.microsoft.com/office/drawing/2010/main" val="0"/>
                </a:ext>
              </a:extLst>
            </a:blip>
            <a:srcRect r="50000"/>
            <a:stretch/>
          </p:blipFill>
          <p:spPr bwMode="gray">
            <a:xfrm>
              <a:off x="7242745" y="5402072"/>
              <a:ext cx="270000" cy="442800"/>
            </a:xfrm>
            <a:prstGeom prst="rect">
              <a:avLst/>
            </a:prstGeom>
          </p:spPr>
        </p:pic>
      </p:grpSp>
    </p:spTree>
    <p:extLst>
      <p:ext uri="{BB962C8B-B14F-4D97-AF65-F5344CB8AC3E}">
        <p14:creationId xmlns:p14="http://schemas.microsoft.com/office/powerpoint/2010/main" val="150855182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bwMode="gray">
          <a:xfrm>
            <a:off x="1665385" y="2082902"/>
            <a:ext cx="3319534" cy="2535053"/>
          </a:xfrm>
          <a:prstGeom prst="rect">
            <a:avLst/>
          </a:pr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ym typeface="Huawei Sans" panose="020C0503030203020204" pitchFamily="34" charset="0"/>
            </a:endParaRPr>
          </a:p>
        </p:txBody>
      </p:sp>
      <p:sp>
        <p:nvSpPr>
          <p:cNvPr id="23" name="椭圆 22"/>
          <p:cNvSpPr/>
          <p:nvPr/>
        </p:nvSpPr>
        <p:spPr bwMode="auto">
          <a:xfrm>
            <a:off x="2386363" y="3090939"/>
            <a:ext cx="1885547" cy="1150796"/>
          </a:xfrm>
          <a:prstGeom prst="ellipse">
            <a:avLst/>
          </a:prstGeom>
          <a:solidFill>
            <a:schemeClr val="bg1"/>
          </a:solidFill>
          <a:ln>
            <a:solidFill>
              <a:srgbClr val="94DAE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smtClean="0"/>
              <a:t>单集群问题</a:t>
            </a:r>
            <a:endParaRPr lang="zh-CN" altLang="en-US" dirty="0"/>
          </a:p>
        </p:txBody>
      </p:sp>
      <p:sp>
        <p:nvSpPr>
          <p:cNvPr id="3" name="文本占位符 2"/>
          <p:cNvSpPr>
            <a:spLocks noGrp="1"/>
          </p:cNvSpPr>
          <p:nvPr>
            <p:ph type="body" sz="quarter" idx="10"/>
          </p:nvPr>
        </p:nvSpPr>
        <p:spPr>
          <a:xfrm>
            <a:off x="455612" y="1047751"/>
            <a:ext cx="11293475" cy="747924"/>
          </a:xfrm>
        </p:spPr>
        <p:txBody>
          <a:bodyPr/>
          <a:lstStyle/>
          <a:p>
            <a:r>
              <a:rPr lang="zh-CN" altLang="en-US" sz="2000" dirty="0" smtClean="0"/>
              <a:t>为了在基于</a:t>
            </a:r>
            <a:r>
              <a:rPr lang="en-US" altLang="zh-CN" sz="2000" dirty="0" smtClean="0"/>
              <a:t>RR</a:t>
            </a:r>
            <a:r>
              <a:rPr lang="zh-CN" altLang="en-US" sz="2000" dirty="0" smtClean="0"/>
              <a:t>的架构中提供所期望的冗余，正确的集群划分是非常重要的。</a:t>
            </a:r>
            <a:endParaRPr lang="zh-CN" altLang="en-US" sz="2000" dirty="0"/>
          </a:p>
        </p:txBody>
      </p:sp>
      <p:cxnSp>
        <p:nvCxnSpPr>
          <p:cNvPr id="5" name="直接连接符 4">
            <a:extLst>
              <a:ext uri="{FF2B5EF4-FFF2-40B4-BE49-F238E27FC236}">
                <a16:creationId xmlns:a16="http://schemas.microsoft.com/office/drawing/2014/main" xmlns="" id="{94275FFE-3BE6-4C12-8737-FDFE3456C4A2}"/>
              </a:ext>
            </a:extLst>
          </p:cNvPr>
          <p:cNvCxnSpPr/>
          <p:nvPr/>
        </p:nvCxnSpPr>
        <p:spPr bwMode="gray">
          <a:xfrm flipV="1">
            <a:off x="2502263" y="2598465"/>
            <a:ext cx="822889" cy="821634"/>
          </a:xfrm>
          <a:prstGeom prst="line">
            <a:avLst/>
          </a:prstGeom>
          <a:noFill/>
          <a:ln w="19050" cap="flat" cmpd="sng" algn="ctr">
            <a:solidFill>
              <a:schemeClr val="tx1"/>
            </a:solidFill>
            <a:prstDash val="solid"/>
          </a:ln>
          <a:effectLst/>
        </p:spPr>
      </p:cxnSp>
      <p:cxnSp>
        <p:nvCxnSpPr>
          <p:cNvPr id="13" name="直接连接符 12">
            <a:extLst>
              <a:ext uri="{FF2B5EF4-FFF2-40B4-BE49-F238E27FC236}">
                <a16:creationId xmlns:a16="http://schemas.microsoft.com/office/drawing/2014/main" xmlns="" id="{94275FFE-3BE6-4C12-8737-FDFE3456C4A2}"/>
              </a:ext>
            </a:extLst>
          </p:cNvPr>
          <p:cNvCxnSpPr/>
          <p:nvPr/>
        </p:nvCxnSpPr>
        <p:spPr bwMode="gray">
          <a:xfrm flipH="1" flipV="1">
            <a:off x="2492217" y="3420099"/>
            <a:ext cx="822888" cy="821635"/>
          </a:xfrm>
          <a:prstGeom prst="line">
            <a:avLst/>
          </a:prstGeom>
          <a:noFill/>
          <a:ln w="19050" cap="flat" cmpd="sng" algn="ctr">
            <a:solidFill>
              <a:schemeClr val="tx1"/>
            </a:solidFill>
            <a:prstDash val="solid"/>
          </a:ln>
          <a:effectLst/>
        </p:spPr>
      </p:cxnSp>
      <p:cxnSp>
        <p:nvCxnSpPr>
          <p:cNvPr id="14" name="直接连接符 13">
            <a:extLst>
              <a:ext uri="{FF2B5EF4-FFF2-40B4-BE49-F238E27FC236}">
                <a16:creationId xmlns:a16="http://schemas.microsoft.com/office/drawing/2014/main" xmlns="" id="{94275FFE-3BE6-4C12-8737-FDFE3456C4A2}"/>
              </a:ext>
            </a:extLst>
          </p:cNvPr>
          <p:cNvCxnSpPr/>
          <p:nvPr/>
        </p:nvCxnSpPr>
        <p:spPr bwMode="gray">
          <a:xfrm flipV="1">
            <a:off x="3335199" y="3420100"/>
            <a:ext cx="822889" cy="821634"/>
          </a:xfrm>
          <a:prstGeom prst="line">
            <a:avLst/>
          </a:prstGeom>
          <a:noFill/>
          <a:ln w="19050" cap="flat" cmpd="sng" algn="ctr">
            <a:solidFill>
              <a:schemeClr val="tx1"/>
            </a:solidFill>
            <a:prstDash val="solid"/>
          </a:ln>
          <a:effectLst/>
        </p:spPr>
      </p:cxnSp>
      <p:cxnSp>
        <p:nvCxnSpPr>
          <p:cNvPr id="17" name="直接连接符 16">
            <a:extLst>
              <a:ext uri="{FF2B5EF4-FFF2-40B4-BE49-F238E27FC236}">
                <a16:creationId xmlns:a16="http://schemas.microsoft.com/office/drawing/2014/main" xmlns="" id="{94275FFE-3BE6-4C12-8737-FDFE3456C4A2}"/>
              </a:ext>
            </a:extLst>
          </p:cNvPr>
          <p:cNvCxnSpPr/>
          <p:nvPr/>
        </p:nvCxnSpPr>
        <p:spPr bwMode="gray">
          <a:xfrm flipH="1" flipV="1">
            <a:off x="3313685" y="2624729"/>
            <a:ext cx="822888" cy="821635"/>
          </a:xfrm>
          <a:prstGeom prst="line">
            <a:avLst/>
          </a:prstGeom>
          <a:noFill/>
          <a:ln w="19050" cap="flat" cmpd="sng" algn="ctr">
            <a:solidFill>
              <a:schemeClr val="tx1"/>
            </a:solidFill>
            <a:prstDash val="solid"/>
          </a:ln>
          <a:effectLst/>
        </p:spPr>
      </p:cxnSp>
      <p:cxnSp>
        <p:nvCxnSpPr>
          <p:cNvPr id="18" name="直接连接符 17">
            <a:extLst>
              <a:ext uri="{FF2B5EF4-FFF2-40B4-BE49-F238E27FC236}">
                <a16:creationId xmlns:a16="http://schemas.microsoft.com/office/drawing/2014/main" xmlns="" id="{94275FFE-3BE6-4C12-8737-FDFE3456C4A2}"/>
              </a:ext>
            </a:extLst>
          </p:cNvPr>
          <p:cNvCxnSpPr>
            <a:stCxn id="6" idx="3"/>
            <a:endCxn id="7" idx="1"/>
          </p:cNvCxnSpPr>
          <p:nvPr/>
        </p:nvCxnSpPr>
        <p:spPr bwMode="gray">
          <a:xfrm>
            <a:off x="2772263" y="3420099"/>
            <a:ext cx="1105778" cy="0"/>
          </a:xfrm>
          <a:prstGeom prst="line">
            <a:avLst/>
          </a:prstGeom>
          <a:noFill/>
          <a:ln w="19050" cap="flat" cmpd="sng" algn="ctr">
            <a:solidFill>
              <a:schemeClr val="tx1"/>
            </a:solidFill>
            <a:prstDash val="solid"/>
          </a:ln>
          <a:effectLst/>
        </p:spPr>
      </p:cxnSp>
      <p:pic>
        <p:nvPicPr>
          <p:cNvPr id="4"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055152" y="2377064"/>
            <a:ext cx="540000" cy="442800"/>
          </a:xfrm>
          <a:prstGeom prst="rect">
            <a:avLst/>
          </a:prstGeom>
        </p:spPr>
      </p:pic>
      <p:pic>
        <p:nvPicPr>
          <p:cNvPr id="6" name="图片 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232263" y="3198699"/>
            <a:ext cx="540000" cy="442800"/>
          </a:xfrm>
          <a:prstGeom prst="rect">
            <a:avLst/>
          </a:prstGeom>
        </p:spPr>
      </p:pic>
      <p:pic>
        <p:nvPicPr>
          <p:cNvPr id="7" name="图片 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878041" y="3198699"/>
            <a:ext cx="540000" cy="442800"/>
          </a:xfrm>
          <a:prstGeom prst="rect">
            <a:avLst/>
          </a:prstGeom>
        </p:spPr>
      </p:pic>
      <p:pic>
        <p:nvPicPr>
          <p:cNvPr id="8" name="图片 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055152" y="4020334"/>
            <a:ext cx="540000" cy="442800"/>
          </a:xfrm>
          <a:prstGeom prst="rect">
            <a:avLst/>
          </a:prstGeom>
        </p:spPr>
      </p:pic>
      <p:sp>
        <p:nvSpPr>
          <p:cNvPr id="24" name="矩形 23"/>
          <p:cNvSpPr/>
          <p:nvPr/>
        </p:nvSpPr>
        <p:spPr bwMode="gray">
          <a:xfrm>
            <a:off x="1665385" y="4742540"/>
            <a:ext cx="3319534" cy="1107870"/>
          </a:xfrm>
          <a:prstGeom prst="rect">
            <a:avLst/>
          </a:pr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ym typeface="Huawei Sans" panose="020C0503030203020204" pitchFamily="34" charset="0"/>
            </a:endParaRPr>
          </a:p>
        </p:txBody>
      </p:sp>
      <p:pic>
        <p:nvPicPr>
          <p:cNvPr id="25" name="图片 2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055152" y="4993144"/>
            <a:ext cx="540000" cy="442800"/>
          </a:xfrm>
          <a:prstGeom prst="rect">
            <a:avLst/>
          </a:prstGeom>
        </p:spPr>
      </p:pic>
      <p:cxnSp>
        <p:nvCxnSpPr>
          <p:cNvPr id="26" name="直接连接符 25">
            <a:extLst>
              <a:ext uri="{FF2B5EF4-FFF2-40B4-BE49-F238E27FC236}">
                <a16:creationId xmlns:a16="http://schemas.microsoft.com/office/drawing/2014/main" xmlns="" id="{94275FFE-3BE6-4C12-8737-FDFE3456C4A2}"/>
              </a:ext>
            </a:extLst>
          </p:cNvPr>
          <p:cNvCxnSpPr/>
          <p:nvPr/>
        </p:nvCxnSpPr>
        <p:spPr bwMode="gray">
          <a:xfrm flipV="1">
            <a:off x="3325152" y="4534825"/>
            <a:ext cx="0" cy="375189"/>
          </a:xfrm>
          <a:prstGeom prst="line">
            <a:avLst/>
          </a:prstGeom>
          <a:noFill/>
          <a:ln w="38100" cap="flat" cmpd="sng" algn="ctr">
            <a:solidFill>
              <a:srgbClr val="56C4D2"/>
            </a:solidFill>
            <a:prstDash val="solid"/>
            <a:headEnd type="none" w="med" len="med"/>
            <a:tailEnd type="triangle" w="med" len="med"/>
          </a:ln>
          <a:effectLst/>
        </p:spPr>
      </p:cxnSp>
      <p:sp>
        <p:nvSpPr>
          <p:cNvPr id="30" name="TextBox 120">
            <a:extLst>
              <a:ext uri="{FF2B5EF4-FFF2-40B4-BE49-F238E27FC236}">
                <a16:creationId xmlns:a16="http://schemas.microsoft.com/office/drawing/2014/main" xmlns="" id="{020D7A1D-EFAD-4C8C-B9DE-D0FAD269B77A}"/>
              </a:ext>
            </a:extLst>
          </p:cNvPr>
          <p:cNvSpPr txBox="1"/>
          <p:nvPr/>
        </p:nvSpPr>
        <p:spPr bwMode="gray">
          <a:xfrm>
            <a:off x="1665385" y="2190543"/>
            <a:ext cx="826769" cy="307657"/>
          </a:xfrm>
          <a:prstGeom prst="rect">
            <a:avLst/>
          </a:prstGeom>
          <a:noFill/>
          <a:ln>
            <a:noFill/>
          </a:ln>
        </p:spPr>
        <p:txBody>
          <a:bodyPr wrap="square" rtlCol="0">
            <a:spAutoFit/>
          </a:bodyPr>
          <a:lstStyle/>
          <a:p>
            <a:pPr algn="ct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AS 101</a:t>
            </a:r>
            <a:endPar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TextBox 120">
            <a:extLst>
              <a:ext uri="{FF2B5EF4-FFF2-40B4-BE49-F238E27FC236}">
                <a16:creationId xmlns:a16="http://schemas.microsoft.com/office/drawing/2014/main" xmlns="" id="{020D7A1D-EFAD-4C8C-B9DE-D0FAD269B77A}"/>
              </a:ext>
            </a:extLst>
          </p:cNvPr>
          <p:cNvSpPr txBox="1"/>
          <p:nvPr/>
        </p:nvSpPr>
        <p:spPr bwMode="gray">
          <a:xfrm>
            <a:off x="1665385" y="4733174"/>
            <a:ext cx="826769" cy="307657"/>
          </a:xfrm>
          <a:prstGeom prst="rect">
            <a:avLst/>
          </a:prstGeom>
          <a:noFill/>
          <a:ln>
            <a:noFill/>
          </a:ln>
        </p:spPr>
        <p:txBody>
          <a:bodyPr wrap="square" rtlCol="0">
            <a:spAutoFit/>
          </a:bodyPr>
          <a:lstStyle/>
          <a:p>
            <a:pPr algn="ct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AS 102</a:t>
            </a:r>
            <a:endPar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TextBox 120">
            <a:extLst>
              <a:ext uri="{FF2B5EF4-FFF2-40B4-BE49-F238E27FC236}">
                <a16:creationId xmlns:a16="http://schemas.microsoft.com/office/drawing/2014/main" xmlns="" id="{020D7A1D-EFAD-4C8C-B9DE-D0FAD269B77A}"/>
              </a:ext>
            </a:extLst>
          </p:cNvPr>
          <p:cNvSpPr txBox="1"/>
          <p:nvPr/>
        </p:nvSpPr>
        <p:spPr bwMode="gray">
          <a:xfrm>
            <a:off x="3112853" y="2126237"/>
            <a:ext cx="444692" cy="307648"/>
          </a:xfrm>
          <a:prstGeom prst="rect">
            <a:avLst/>
          </a:prstGeom>
          <a:noFill/>
          <a:ln>
            <a:noFill/>
          </a:ln>
        </p:spPr>
        <p:txBody>
          <a:bodyPr wrap="square" rtlCol="0">
            <a:spAutoFit/>
          </a:bodyPr>
          <a:lstStyle/>
          <a:p>
            <a:pPr algn="ctr"/>
            <a:r>
              <a:rPr lang="en-US" altLang="zh-CN" sz="1399" dirty="0" smtClean="0">
                <a:latin typeface="Huawei Sans" panose="020C0503030203020204" pitchFamily="34" charset="0"/>
                <a:ea typeface="方正兰亭黑简体" panose="02000000000000000000" pitchFamily="2" charset="-122"/>
                <a:sym typeface="Huawei Sans" panose="020C0503030203020204" pitchFamily="34" charset="0"/>
              </a:rPr>
              <a:t>R1</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TextBox 120">
            <a:extLst>
              <a:ext uri="{FF2B5EF4-FFF2-40B4-BE49-F238E27FC236}">
                <a16:creationId xmlns:a16="http://schemas.microsoft.com/office/drawing/2014/main" xmlns="" id="{020D7A1D-EFAD-4C8C-B9DE-D0FAD269B77A}"/>
              </a:ext>
            </a:extLst>
          </p:cNvPr>
          <p:cNvSpPr txBox="1"/>
          <p:nvPr/>
        </p:nvSpPr>
        <p:spPr bwMode="gray">
          <a:xfrm>
            <a:off x="3438047" y="4505644"/>
            <a:ext cx="894429" cy="430631"/>
          </a:xfrm>
          <a:prstGeom prst="rect">
            <a:avLst/>
          </a:prstGeom>
          <a:solidFill>
            <a:schemeClr val="bg1">
              <a:alpha val="89000"/>
            </a:schemeClr>
          </a:solidFill>
          <a:ln>
            <a:solidFill>
              <a:schemeClr val="bg1">
                <a:alpha val="0"/>
              </a:schemeClr>
            </a:solidFill>
          </a:ln>
        </p:spPr>
        <p:txBody>
          <a:bodyPr wrap="square" lIns="0" tIns="0" rIns="0" bIns="0" rtlCol="0" anchor="ctr" anchorCtr="0">
            <a:spAutoFit/>
          </a:bodyPr>
          <a:lstStyle/>
          <a:p>
            <a:r>
              <a:rPr lang="en-US" altLang="zh-CN" sz="1399" dirty="0" smtClean="0">
                <a:latin typeface="Huawei Sans" panose="020C0503030203020204" pitchFamily="34" charset="0"/>
                <a:ea typeface="方正兰亭黑简体" panose="02000000000000000000" pitchFamily="2" charset="-122"/>
                <a:sym typeface="Huawei Sans" panose="020C0503030203020204" pitchFamily="34" charset="0"/>
              </a:rPr>
              <a:t>Route:</a:t>
            </a:r>
          </a:p>
          <a:p>
            <a:r>
              <a:rPr lang="en-US" altLang="zh-CN" sz="1399" dirty="0" smtClean="0">
                <a:latin typeface="Huawei Sans" panose="020C0503030203020204" pitchFamily="34" charset="0"/>
                <a:ea typeface="方正兰亭黑简体" panose="02000000000000000000" pitchFamily="2" charset="-122"/>
                <a:sym typeface="Huawei Sans" panose="020C0503030203020204" pitchFamily="34" charset="0"/>
              </a:rPr>
              <a:t>10.1.5.5/32</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4" name="直接连接符 33">
            <a:extLst>
              <a:ext uri="{FF2B5EF4-FFF2-40B4-BE49-F238E27FC236}">
                <a16:creationId xmlns:a16="http://schemas.microsoft.com/office/drawing/2014/main" xmlns="" id="{94275FFE-3BE6-4C12-8737-FDFE3456C4A2}"/>
              </a:ext>
            </a:extLst>
          </p:cNvPr>
          <p:cNvCxnSpPr/>
          <p:nvPr/>
        </p:nvCxnSpPr>
        <p:spPr bwMode="gray">
          <a:xfrm flipH="1" flipV="1">
            <a:off x="3335198" y="5431718"/>
            <a:ext cx="1" cy="178823"/>
          </a:xfrm>
          <a:prstGeom prst="line">
            <a:avLst/>
          </a:prstGeom>
          <a:noFill/>
          <a:ln w="19050" cap="flat" cmpd="sng" algn="ctr">
            <a:solidFill>
              <a:schemeClr val="tx1"/>
            </a:solidFill>
            <a:prstDash val="solid"/>
          </a:ln>
          <a:effectLst/>
        </p:spPr>
      </p:cxnSp>
      <p:cxnSp>
        <p:nvCxnSpPr>
          <p:cNvPr id="35" name="直接连接符 34">
            <a:extLst>
              <a:ext uri="{FF2B5EF4-FFF2-40B4-BE49-F238E27FC236}">
                <a16:creationId xmlns:a16="http://schemas.microsoft.com/office/drawing/2014/main" xmlns="" id="{94275FFE-3BE6-4C12-8737-FDFE3456C4A2}"/>
              </a:ext>
            </a:extLst>
          </p:cNvPr>
          <p:cNvCxnSpPr/>
          <p:nvPr/>
        </p:nvCxnSpPr>
        <p:spPr bwMode="gray">
          <a:xfrm flipH="1">
            <a:off x="3083504" y="5609656"/>
            <a:ext cx="503389" cy="1"/>
          </a:xfrm>
          <a:prstGeom prst="line">
            <a:avLst/>
          </a:prstGeom>
          <a:noFill/>
          <a:ln w="19050" cap="flat" cmpd="sng" algn="ctr">
            <a:solidFill>
              <a:schemeClr val="tx1"/>
            </a:solidFill>
            <a:prstDash val="solid"/>
          </a:ln>
          <a:effectLst/>
        </p:spPr>
      </p:cxnSp>
      <p:sp>
        <p:nvSpPr>
          <p:cNvPr id="36" name="TextBox 120">
            <a:extLst>
              <a:ext uri="{FF2B5EF4-FFF2-40B4-BE49-F238E27FC236}">
                <a16:creationId xmlns:a16="http://schemas.microsoft.com/office/drawing/2014/main" xmlns="" id="{020D7A1D-EFAD-4C8C-B9DE-D0FAD269B77A}"/>
              </a:ext>
            </a:extLst>
          </p:cNvPr>
          <p:cNvSpPr txBox="1"/>
          <p:nvPr/>
        </p:nvSpPr>
        <p:spPr bwMode="gray">
          <a:xfrm>
            <a:off x="2786815" y="5578121"/>
            <a:ext cx="1096768" cy="307648"/>
          </a:xfrm>
          <a:prstGeom prst="rect">
            <a:avLst/>
          </a:prstGeom>
          <a:noFill/>
          <a:ln>
            <a:noFill/>
          </a:ln>
        </p:spPr>
        <p:txBody>
          <a:bodyPr wrap="square" rtlCol="0">
            <a:spAutoFit/>
          </a:bodyPr>
          <a:lstStyle/>
          <a:p>
            <a:pPr algn="ctr"/>
            <a:r>
              <a:rPr lang="en-US" altLang="zh-CN" sz="1399" dirty="0" smtClean="0">
                <a:latin typeface="Huawei Sans" panose="020C0503030203020204" pitchFamily="34" charset="0"/>
                <a:ea typeface="方正兰亭黑简体" panose="02000000000000000000" pitchFamily="2" charset="-122"/>
                <a:sym typeface="Huawei Sans" panose="020C0503030203020204" pitchFamily="34" charset="0"/>
              </a:rPr>
              <a:t>10.1.5.5/32</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TextBox 120">
            <a:extLst>
              <a:ext uri="{FF2B5EF4-FFF2-40B4-BE49-F238E27FC236}">
                <a16:creationId xmlns:a16="http://schemas.microsoft.com/office/drawing/2014/main" xmlns="" id="{020D7A1D-EFAD-4C8C-B9DE-D0FAD269B77A}"/>
              </a:ext>
            </a:extLst>
          </p:cNvPr>
          <p:cNvSpPr txBox="1"/>
          <p:nvPr/>
        </p:nvSpPr>
        <p:spPr bwMode="gray">
          <a:xfrm>
            <a:off x="2279917" y="2937115"/>
            <a:ext cx="444692" cy="307648"/>
          </a:xfrm>
          <a:prstGeom prst="rect">
            <a:avLst/>
          </a:prstGeom>
          <a:noFill/>
          <a:ln>
            <a:noFill/>
          </a:ln>
        </p:spPr>
        <p:txBody>
          <a:bodyPr wrap="square" rtlCol="0">
            <a:spAutoFit/>
          </a:bodyPr>
          <a:lstStyle/>
          <a:p>
            <a:pPr algn="ctr"/>
            <a:r>
              <a:rPr lang="en-US" altLang="zh-CN" sz="1399" dirty="0" smtClean="0">
                <a:latin typeface="Huawei Sans" panose="020C0503030203020204" pitchFamily="34" charset="0"/>
                <a:ea typeface="方正兰亭黑简体" panose="02000000000000000000" pitchFamily="2" charset="-122"/>
                <a:sym typeface="Huawei Sans" panose="020C0503030203020204" pitchFamily="34" charset="0"/>
              </a:rPr>
              <a:t>R2</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TextBox 120">
            <a:extLst>
              <a:ext uri="{FF2B5EF4-FFF2-40B4-BE49-F238E27FC236}">
                <a16:creationId xmlns:a16="http://schemas.microsoft.com/office/drawing/2014/main" xmlns="" id="{020D7A1D-EFAD-4C8C-B9DE-D0FAD269B77A}"/>
              </a:ext>
            </a:extLst>
          </p:cNvPr>
          <p:cNvSpPr txBox="1"/>
          <p:nvPr/>
        </p:nvSpPr>
        <p:spPr bwMode="gray">
          <a:xfrm>
            <a:off x="3925695" y="2937115"/>
            <a:ext cx="444692" cy="307648"/>
          </a:xfrm>
          <a:prstGeom prst="rect">
            <a:avLst/>
          </a:prstGeom>
          <a:noFill/>
          <a:ln>
            <a:noFill/>
          </a:ln>
        </p:spPr>
        <p:txBody>
          <a:bodyPr wrap="square" rtlCol="0">
            <a:spAutoFit/>
          </a:bodyPr>
          <a:lstStyle/>
          <a:p>
            <a:pPr algn="ctr"/>
            <a:r>
              <a:rPr lang="en-US" altLang="zh-CN" sz="1399" dirty="0" smtClean="0">
                <a:latin typeface="Huawei Sans" panose="020C0503030203020204" pitchFamily="34" charset="0"/>
                <a:ea typeface="方正兰亭黑简体" panose="02000000000000000000" pitchFamily="2" charset="-122"/>
                <a:sym typeface="Huawei Sans" panose="020C0503030203020204" pitchFamily="34" charset="0"/>
              </a:rPr>
              <a:t>R3</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TextBox 120">
            <a:extLst>
              <a:ext uri="{FF2B5EF4-FFF2-40B4-BE49-F238E27FC236}">
                <a16:creationId xmlns:a16="http://schemas.microsoft.com/office/drawing/2014/main" xmlns="" id="{020D7A1D-EFAD-4C8C-B9DE-D0FAD269B77A}"/>
              </a:ext>
            </a:extLst>
          </p:cNvPr>
          <p:cNvSpPr txBox="1"/>
          <p:nvPr/>
        </p:nvSpPr>
        <p:spPr bwMode="gray">
          <a:xfrm>
            <a:off x="2695170" y="4115267"/>
            <a:ext cx="444692" cy="307648"/>
          </a:xfrm>
          <a:prstGeom prst="rect">
            <a:avLst/>
          </a:prstGeom>
          <a:noFill/>
          <a:ln>
            <a:noFill/>
          </a:ln>
        </p:spPr>
        <p:txBody>
          <a:bodyPr wrap="square" rtlCol="0">
            <a:spAutoFit/>
          </a:bodyPr>
          <a:lstStyle/>
          <a:p>
            <a:pPr algn="ctr"/>
            <a:r>
              <a:rPr lang="en-US" altLang="zh-CN" sz="1399" dirty="0" smtClean="0">
                <a:latin typeface="Huawei Sans" panose="020C0503030203020204" pitchFamily="34" charset="0"/>
                <a:ea typeface="方正兰亭黑简体" panose="02000000000000000000" pitchFamily="2" charset="-122"/>
                <a:sym typeface="Huawei Sans" panose="020C0503030203020204" pitchFamily="34" charset="0"/>
              </a:rPr>
              <a:t>R4</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TextBox 120">
            <a:extLst>
              <a:ext uri="{FF2B5EF4-FFF2-40B4-BE49-F238E27FC236}">
                <a16:creationId xmlns:a16="http://schemas.microsoft.com/office/drawing/2014/main" xmlns="" id="{020D7A1D-EFAD-4C8C-B9DE-D0FAD269B77A}"/>
              </a:ext>
            </a:extLst>
          </p:cNvPr>
          <p:cNvSpPr txBox="1"/>
          <p:nvPr/>
        </p:nvSpPr>
        <p:spPr bwMode="gray">
          <a:xfrm>
            <a:off x="2695170" y="5056870"/>
            <a:ext cx="444692" cy="307648"/>
          </a:xfrm>
          <a:prstGeom prst="rect">
            <a:avLst/>
          </a:prstGeom>
          <a:noFill/>
          <a:ln>
            <a:noFill/>
          </a:ln>
        </p:spPr>
        <p:txBody>
          <a:bodyPr wrap="square" rtlCol="0">
            <a:spAutoFit/>
          </a:bodyPr>
          <a:lstStyle/>
          <a:p>
            <a:pPr algn="ctr"/>
            <a:r>
              <a:rPr lang="en-US" altLang="zh-CN" sz="1399" dirty="0" smtClean="0">
                <a:latin typeface="Huawei Sans" panose="020C0503030203020204" pitchFamily="34" charset="0"/>
                <a:ea typeface="方正兰亭黑简体" panose="02000000000000000000" pitchFamily="2" charset="-122"/>
                <a:sym typeface="Huawei Sans" panose="020C0503030203020204" pitchFamily="34" charset="0"/>
              </a:rPr>
              <a:t>R5</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extBox 120">
            <a:extLst>
              <a:ext uri="{FF2B5EF4-FFF2-40B4-BE49-F238E27FC236}">
                <a16:creationId xmlns:a16="http://schemas.microsoft.com/office/drawing/2014/main" xmlns="" id="{020D7A1D-EFAD-4C8C-B9DE-D0FAD269B77A}"/>
              </a:ext>
            </a:extLst>
          </p:cNvPr>
          <p:cNvSpPr txBox="1"/>
          <p:nvPr/>
        </p:nvSpPr>
        <p:spPr bwMode="gray">
          <a:xfrm>
            <a:off x="2873642" y="3561538"/>
            <a:ext cx="943833" cy="307648"/>
          </a:xfrm>
          <a:prstGeom prst="rect">
            <a:avLst/>
          </a:prstGeom>
          <a:noFill/>
          <a:ln>
            <a:noFill/>
          </a:ln>
        </p:spPr>
        <p:txBody>
          <a:bodyPr wrap="square" rtlCol="0">
            <a:spAutoFit/>
          </a:bodyPr>
          <a:lstStyle/>
          <a:p>
            <a:pPr algn="ctr"/>
            <a:r>
              <a:rPr lang="en-US" altLang="zh-CN" sz="1399" b="1"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Cluster</a:t>
            </a:r>
            <a:endParaRPr lang="en-US" altLang="zh-CN" sz="1399"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TextBox 120">
            <a:extLst>
              <a:ext uri="{FF2B5EF4-FFF2-40B4-BE49-F238E27FC236}">
                <a16:creationId xmlns:a16="http://schemas.microsoft.com/office/drawing/2014/main" xmlns="" id="{020D7A1D-EFAD-4C8C-B9DE-D0FAD269B77A}"/>
              </a:ext>
            </a:extLst>
          </p:cNvPr>
          <p:cNvSpPr txBox="1"/>
          <p:nvPr/>
        </p:nvSpPr>
        <p:spPr bwMode="gray">
          <a:xfrm>
            <a:off x="1689421" y="3244763"/>
            <a:ext cx="590496" cy="307648"/>
          </a:xfrm>
          <a:prstGeom prst="rect">
            <a:avLst/>
          </a:prstGeom>
          <a:noFill/>
          <a:ln>
            <a:noFill/>
          </a:ln>
        </p:spPr>
        <p:txBody>
          <a:bodyPr wrap="square" rtlCol="0">
            <a:spAutoFit/>
          </a:bodyPr>
          <a:lstStyle/>
          <a:p>
            <a:pPr algn="ct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RR1</a:t>
            </a:r>
            <a:endPar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120">
            <a:extLst>
              <a:ext uri="{FF2B5EF4-FFF2-40B4-BE49-F238E27FC236}">
                <a16:creationId xmlns:a16="http://schemas.microsoft.com/office/drawing/2014/main" xmlns="" id="{020D7A1D-EFAD-4C8C-B9DE-D0FAD269B77A}"/>
              </a:ext>
            </a:extLst>
          </p:cNvPr>
          <p:cNvSpPr txBox="1"/>
          <p:nvPr/>
        </p:nvSpPr>
        <p:spPr bwMode="gray">
          <a:xfrm>
            <a:off x="4332476" y="3244763"/>
            <a:ext cx="590496" cy="307648"/>
          </a:xfrm>
          <a:prstGeom prst="rect">
            <a:avLst/>
          </a:prstGeom>
          <a:noFill/>
          <a:ln>
            <a:noFill/>
          </a:ln>
        </p:spPr>
        <p:txBody>
          <a:bodyPr wrap="square" rtlCol="0">
            <a:spAutoFit/>
          </a:bodyPr>
          <a:lstStyle/>
          <a:p>
            <a:pPr algn="ct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RR2</a:t>
            </a:r>
            <a:endPar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120">
            <a:extLst>
              <a:ext uri="{FF2B5EF4-FFF2-40B4-BE49-F238E27FC236}">
                <a16:creationId xmlns:a16="http://schemas.microsoft.com/office/drawing/2014/main" xmlns="" id="{020D7A1D-EFAD-4C8C-B9DE-D0FAD269B77A}"/>
              </a:ext>
            </a:extLst>
          </p:cNvPr>
          <p:cNvSpPr txBox="1"/>
          <p:nvPr/>
        </p:nvSpPr>
        <p:spPr bwMode="gray">
          <a:xfrm>
            <a:off x="3455506" y="4116679"/>
            <a:ext cx="889384" cy="307648"/>
          </a:xfrm>
          <a:prstGeom prst="rect">
            <a:avLst/>
          </a:prstGeom>
          <a:noFill/>
          <a:ln>
            <a:noFill/>
          </a:ln>
        </p:spPr>
        <p:txBody>
          <a:bodyPr wrap="square" rtlCol="0">
            <a:spAutoFit/>
          </a:bodyPr>
          <a:lstStyle/>
          <a:p>
            <a:pPr algn="ct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Client</a:t>
            </a:r>
            <a:endPar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文本占位符 3"/>
          <p:cNvSpPr txBox="1">
            <a:spLocks/>
          </p:cNvSpPr>
          <p:nvPr/>
        </p:nvSpPr>
        <p:spPr bwMode="auto">
          <a:xfrm>
            <a:off x="5941723" y="2009530"/>
            <a:ext cx="5802777" cy="4042142"/>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600" dirty="0" smtClean="0"/>
              <a:t>场景描述：</a:t>
            </a:r>
            <a:endParaRPr lang="en-US" altLang="zh-CN" sz="1600" dirty="0" smtClean="0"/>
          </a:p>
          <a:p>
            <a:pPr lvl="1"/>
            <a:r>
              <a:rPr lang="zh-CN" altLang="en-US" sz="1400" dirty="0" smtClean="0"/>
              <a:t>如图</a:t>
            </a:r>
            <a:r>
              <a:rPr lang="en-US" altLang="zh-CN" sz="1400" dirty="0" smtClean="0"/>
              <a:t>AS 101</a:t>
            </a:r>
            <a:r>
              <a:rPr lang="zh-CN" altLang="en-US" sz="1400" dirty="0" smtClean="0"/>
              <a:t>采用备份</a:t>
            </a:r>
            <a:r>
              <a:rPr lang="en-US" altLang="zh-CN" sz="1400" dirty="0" smtClean="0"/>
              <a:t>RR</a:t>
            </a:r>
            <a:r>
              <a:rPr lang="zh-CN" altLang="en-US" sz="1400" dirty="0" smtClean="0"/>
              <a:t>组网，</a:t>
            </a:r>
            <a:r>
              <a:rPr lang="en-US" altLang="zh-CN" sz="1400" dirty="0" smtClean="0"/>
              <a:t>RR1</a:t>
            </a:r>
            <a:r>
              <a:rPr lang="zh-CN" altLang="en-US" sz="1400" dirty="0" smtClean="0"/>
              <a:t>和</a:t>
            </a:r>
            <a:r>
              <a:rPr lang="en-US" altLang="zh-CN" sz="1400" dirty="0" smtClean="0"/>
              <a:t>RR2</a:t>
            </a:r>
            <a:r>
              <a:rPr lang="zh-CN" altLang="en-US" sz="1400" dirty="0" smtClean="0"/>
              <a:t>使用相同的</a:t>
            </a:r>
            <a:r>
              <a:rPr lang="en-US" altLang="zh-CN" sz="1400" dirty="0" smtClean="0"/>
              <a:t>Cluster ID</a:t>
            </a:r>
            <a:r>
              <a:rPr lang="zh-CN" altLang="en-US" sz="1400" dirty="0" smtClean="0"/>
              <a:t>，</a:t>
            </a:r>
            <a:r>
              <a:rPr lang="zh-CN" altLang="en-US" sz="1400" dirty="0"/>
              <a:t>两台</a:t>
            </a:r>
            <a:r>
              <a:rPr lang="en-US" altLang="zh-CN" sz="1400" dirty="0"/>
              <a:t>RR</a:t>
            </a:r>
            <a:r>
              <a:rPr lang="zh-CN" altLang="en-US" sz="1400" dirty="0"/>
              <a:t>为</a:t>
            </a:r>
            <a:r>
              <a:rPr lang="en-US" altLang="zh-CN" sz="1400" dirty="0"/>
              <a:t>R1</a:t>
            </a:r>
            <a:r>
              <a:rPr lang="zh-CN" altLang="en-US" sz="1400" dirty="0"/>
              <a:t>访问</a:t>
            </a:r>
            <a:r>
              <a:rPr lang="en-US" altLang="zh-CN" sz="1400" dirty="0"/>
              <a:t>10.1.5.5/32</a:t>
            </a:r>
            <a:r>
              <a:rPr lang="zh-CN" altLang="en-US" sz="1400" dirty="0"/>
              <a:t>提供了冗余</a:t>
            </a:r>
            <a:r>
              <a:rPr lang="zh-CN" altLang="en-US" sz="1400" dirty="0" smtClean="0"/>
              <a:t>链路。</a:t>
            </a:r>
            <a:endParaRPr lang="en-US" altLang="zh-CN" sz="1400" dirty="0" smtClean="0"/>
          </a:p>
          <a:p>
            <a:pPr lvl="1"/>
            <a:r>
              <a:rPr lang="en-US" altLang="zh-CN" sz="1400" dirty="0" smtClean="0"/>
              <a:t>R4</a:t>
            </a:r>
            <a:r>
              <a:rPr lang="zh-CN" altLang="en-US" sz="1400" dirty="0" smtClean="0"/>
              <a:t>通告了</a:t>
            </a:r>
            <a:r>
              <a:rPr lang="en-US" altLang="zh-CN" sz="1400" dirty="0" smtClean="0"/>
              <a:t>10.1.5.5/32</a:t>
            </a:r>
            <a:r>
              <a:rPr lang="zh-CN" altLang="en-US" sz="1400" dirty="0" smtClean="0"/>
              <a:t>路由后，两台</a:t>
            </a:r>
            <a:r>
              <a:rPr lang="en-US" altLang="zh-CN" sz="1400" dirty="0" smtClean="0"/>
              <a:t>RR</a:t>
            </a:r>
            <a:r>
              <a:rPr lang="zh-CN" altLang="en-US" sz="1400" dirty="0" smtClean="0"/>
              <a:t>向</a:t>
            </a:r>
            <a:r>
              <a:rPr lang="en-US" altLang="zh-CN" sz="1400" dirty="0" smtClean="0"/>
              <a:t>R1</a:t>
            </a:r>
            <a:r>
              <a:rPr lang="zh-CN" altLang="en-US" sz="1400" dirty="0" smtClean="0"/>
              <a:t>通告，并相互之间通告。由于</a:t>
            </a:r>
            <a:r>
              <a:rPr lang="en-US" altLang="zh-CN" sz="1400" dirty="0" smtClean="0"/>
              <a:t>RR1</a:t>
            </a:r>
            <a:r>
              <a:rPr lang="zh-CN" altLang="en-US" sz="1400" dirty="0" smtClean="0"/>
              <a:t>和</a:t>
            </a:r>
            <a:r>
              <a:rPr lang="en-US" altLang="zh-CN" sz="1400" dirty="0" smtClean="0"/>
              <a:t>RR2</a:t>
            </a:r>
            <a:r>
              <a:rPr lang="zh-CN" altLang="en-US" sz="1400" dirty="0" smtClean="0"/>
              <a:t>有相同的</a:t>
            </a:r>
            <a:r>
              <a:rPr lang="en-US" altLang="zh-CN" sz="1400" dirty="0" smtClean="0"/>
              <a:t>Cluster ID</a:t>
            </a:r>
            <a:r>
              <a:rPr lang="zh-CN" altLang="en-US" sz="1400" dirty="0" smtClean="0"/>
              <a:t>，因此</a:t>
            </a:r>
            <a:r>
              <a:rPr lang="en-US" altLang="zh-CN" sz="1400" dirty="0" smtClean="0"/>
              <a:t>RR</a:t>
            </a:r>
            <a:r>
              <a:rPr lang="zh-CN" altLang="en-US" sz="1400" dirty="0" smtClean="0"/>
              <a:t>之间的更新消息会被丢弃。</a:t>
            </a:r>
            <a:endParaRPr lang="en-US" altLang="zh-CN" sz="1400" dirty="0" smtClean="0"/>
          </a:p>
          <a:p>
            <a:r>
              <a:rPr lang="en-US" altLang="zh-CN" sz="1600" dirty="0" smtClean="0"/>
              <a:t>IBGP</a:t>
            </a:r>
            <a:r>
              <a:rPr lang="zh-CN" altLang="en-US" sz="1600" dirty="0" smtClean="0"/>
              <a:t>会话失效导致冗余失效：</a:t>
            </a:r>
            <a:endParaRPr lang="en-US" altLang="zh-CN" sz="1600" dirty="0" smtClean="0"/>
          </a:p>
          <a:p>
            <a:pPr lvl="1"/>
            <a:r>
              <a:rPr lang="zh-CN" altLang="en-US" sz="1400" dirty="0" smtClean="0"/>
              <a:t>假设</a:t>
            </a:r>
            <a:r>
              <a:rPr lang="en-US" altLang="zh-CN" sz="1400" dirty="0" smtClean="0"/>
              <a:t>R3</a:t>
            </a:r>
            <a:r>
              <a:rPr lang="zh-CN" altLang="en-US" sz="1400" dirty="0" smtClean="0"/>
              <a:t>和</a:t>
            </a:r>
            <a:r>
              <a:rPr lang="en-US" altLang="zh-CN" sz="1400" dirty="0" smtClean="0"/>
              <a:t>R4</a:t>
            </a:r>
            <a:r>
              <a:rPr lang="zh-CN" altLang="en-US" sz="1400" dirty="0" smtClean="0"/>
              <a:t>间的</a:t>
            </a:r>
            <a:r>
              <a:rPr lang="en-US" altLang="zh-CN" sz="1400" dirty="0" smtClean="0"/>
              <a:t>IBGP</a:t>
            </a:r>
            <a:r>
              <a:rPr lang="zh-CN" altLang="en-US" sz="1400" dirty="0" smtClean="0"/>
              <a:t>会话失效（如：错误配置），由于</a:t>
            </a:r>
            <a:r>
              <a:rPr lang="en-US" altLang="zh-CN" sz="1400" dirty="0" smtClean="0"/>
              <a:t>R3</a:t>
            </a:r>
            <a:r>
              <a:rPr lang="zh-CN" altLang="en-US" sz="1400" dirty="0" smtClean="0"/>
              <a:t>忽略</a:t>
            </a:r>
            <a:r>
              <a:rPr lang="en-US" altLang="zh-CN" sz="1400" dirty="0" smtClean="0"/>
              <a:t>R2</a:t>
            </a:r>
            <a:r>
              <a:rPr lang="zh-CN" altLang="en-US" sz="1400" dirty="0" smtClean="0"/>
              <a:t>通告的</a:t>
            </a:r>
            <a:r>
              <a:rPr lang="en-US" altLang="zh-CN" sz="1400" dirty="0" smtClean="0"/>
              <a:t>10.1.5.5/32</a:t>
            </a:r>
            <a:r>
              <a:rPr lang="zh-CN" altLang="en-US" sz="1400" dirty="0" smtClean="0"/>
              <a:t>的路由，因此</a:t>
            </a:r>
            <a:r>
              <a:rPr lang="en-US" altLang="zh-CN" sz="1400" dirty="0" smtClean="0"/>
              <a:t>R1</a:t>
            </a:r>
            <a:r>
              <a:rPr lang="zh-CN" altLang="en-US" sz="1400" dirty="0" smtClean="0"/>
              <a:t>访问</a:t>
            </a:r>
            <a:r>
              <a:rPr lang="en-US" altLang="zh-CN" sz="1400" dirty="0" smtClean="0"/>
              <a:t>10.1.5.5/32</a:t>
            </a:r>
            <a:r>
              <a:rPr lang="zh-CN" altLang="en-US" sz="1400" dirty="0" smtClean="0"/>
              <a:t>就没有了冗余链路。</a:t>
            </a:r>
            <a:endParaRPr lang="en-US" altLang="zh-CN" sz="1400" dirty="0" smtClean="0"/>
          </a:p>
        </p:txBody>
      </p:sp>
      <p:cxnSp>
        <p:nvCxnSpPr>
          <p:cNvPr id="45" name="直接连接符 44">
            <a:extLst>
              <a:ext uri="{FF2B5EF4-FFF2-40B4-BE49-F238E27FC236}">
                <a16:creationId xmlns:a16="http://schemas.microsoft.com/office/drawing/2014/main" xmlns="" id="{94275FFE-3BE6-4C12-8737-FDFE3456C4A2}"/>
              </a:ext>
            </a:extLst>
          </p:cNvPr>
          <p:cNvCxnSpPr/>
          <p:nvPr/>
        </p:nvCxnSpPr>
        <p:spPr bwMode="gray">
          <a:xfrm flipH="1" flipV="1">
            <a:off x="2610903" y="3682410"/>
            <a:ext cx="371379" cy="415282"/>
          </a:xfrm>
          <a:prstGeom prst="line">
            <a:avLst/>
          </a:prstGeom>
          <a:noFill/>
          <a:ln w="38100" cap="flat" cmpd="sng" algn="ctr">
            <a:solidFill>
              <a:srgbClr val="56C4D2"/>
            </a:solidFill>
            <a:prstDash val="solid"/>
            <a:headEnd type="none" w="med" len="med"/>
            <a:tailEnd type="triangle" w="med" len="med"/>
          </a:ln>
          <a:effectLst/>
        </p:spPr>
      </p:cxnSp>
      <p:cxnSp>
        <p:nvCxnSpPr>
          <p:cNvPr id="46" name="直接连接符 45">
            <a:extLst>
              <a:ext uri="{FF2B5EF4-FFF2-40B4-BE49-F238E27FC236}">
                <a16:creationId xmlns:a16="http://schemas.microsoft.com/office/drawing/2014/main" xmlns="" id="{94275FFE-3BE6-4C12-8737-FDFE3456C4A2}"/>
              </a:ext>
            </a:extLst>
          </p:cNvPr>
          <p:cNvCxnSpPr/>
          <p:nvPr/>
        </p:nvCxnSpPr>
        <p:spPr bwMode="gray">
          <a:xfrm flipV="1">
            <a:off x="2667465" y="2676194"/>
            <a:ext cx="307745" cy="369381"/>
          </a:xfrm>
          <a:prstGeom prst="line">
            <a:avLst/>
          </a:prstGeom>
          <a:noFill/>
          <a:ln w="38100" cap="flat" cmpd="sng" algn="ctr">
            <a:solidFill>
              <a:srgbClr val="56C4D2"/>
            </a:solidFill>
            <a:prstDash val="solid"/>
            <a:headEnd type="none" w="med" len="med"/>
            <a:tailEnd type="triangle" w="med" len="med"/>
          </a:ln>
          <a:effectLst/>
        </p:spPr>
      </p:cxnSp>
      <p:grpSp>
        <p:nvGrpSpPr>
          <p:cNvPr id="48" name="组合 47"/>
          <p:cNvGrpSpPr/>
          <p:nvPr/>
        </p:nvGrpSpPr>
        <p:grpSpPr bwMode="gray">
          <a:xfrm>
            <a:off x="3693569" y="3825621"/>
            <a:ext cx="144000" cy="143999"/>
            <a:chOff x="903327" y="2396696"/>
            <a:chExt cx="144000" cy="143999"/>
          </a:xfrm>
        </p:grpSpPr>
        <p:cxnSp>
          <p:nvCxnSpPr>
            <p:cNvPr id="49" name="直接连接符 48"/>
            <p:cNvCxnSpPr/>
            <p:nvPr/>
          </p:nvCxnSpPr>
          <p:spPr bwMode="gray">
            <a:xfrm flipV="1">
              <a:off x="903327" y="2396696"/>
              <a:ext cx="144000" cy="143999"/>
            </a:xfrm>
            <a:prstGeom prst="line">
              <a:avLst/>
            </a:prstGeom>
            <a:solidFill>
              <a:srgbClr val="EC7061"/>
            </a:solidFill>
            <a:ln w="38100" cap="rnd">
              <a:solidFill>
                <a:srgbClr val="C7000B"/>
              </a:solidFill>
              <a:round/>
            </a:ln>
            <a:effectLst/>
          </p:spPr>
          <p:style>
            <a:lnRef idx="2">
              <a:schemeClr val="accent1"/>
            </a:lnRef>
            <a:fillRef idx="0">
              <a:schemeClr val="accent1"/>
            </a:fillRef>
            <a:effectRef idx="1">
              <a:schemeClr val="accent1"/>
            </a:effectRef>
            <a:fontRef idx="minor">
              <a:schemeClr val="tx1"/>
            </a:fontRef>
          </p:style>
        </p:cxnSp>
        <p:cxnSp>
          <p:nvCxnSpPr>
            <p:cNvPr id="50" name="直接连接符 49"/>
            <p:cNvCxnSpPr/>
            <p:nvPr/>
          </p:nvCxnSpPr>
          <p:spPr bwMode="gray">
            <a:xfrm>
              <a:off x="903327" y="2396696"/>
              <a:ext cx="144000" cy="143999"/>
            </a:xfrm>
            <a:prstGeom prst="line">
              <a:avLst/>
            </a:prstGeom>
            <a:solidFill>
              <a:srgbClr val="EC7061"/>
            </a:solidFill>
            <a:ln w="38100" cap="rnd">
              <a:solidFill>
                <a:srgbClr val="C7000B"/>
              </a:solidFill>
              <a:round/>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87038283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bwMode="gray">
          <a:xfrm>
            <a:off x="1665385" y="2082902"/>
            <a:ext cx="3319534" cy="2535053"/>
          </a:xfrm>
          <a:prstGeom prst="rect">
            <a:avLst/>
          </a:pr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lt1"/>
              </a:solidFill>
              <a:sym typeface="Huawei Sans" panose="020C0503030203020204" pitchFamily="34" charset="0"/>
            </a:endParaRPr>
          </a:p>
        </p:txBody>
      </p:sp>
      <p:sp>
        <p:nvSpPr>
          <p:cNvPr id="46" name="椭圆 45"/>
          <p:cNvSpPr/>
          <p:nvPr/>
        </p:nvSpPr>
        <p:spPr bwMode="auto">
          <a:xfrm rot="2539002" flipH="1">
            <a:off x="3336772" y="3322128"/>
            <a:ext cx="1225355" cy="1141876"/>
          </a:xfrm>
          <a:prstGeom prst="ellipse">
            <a:avLst/>
          </a:prstGeom>
          <a:solidFill>
            <a:schemeClr val="bg1"/>
          </a:solidFill>
          <a:ln>
            <a:solidFill>
              <a:srgbClr val="94DAE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bwMode="auto">
          <a:xfrm rot="19060998">
            <a:off x="2093655" y="3322129"/>
            <a:ext cx="1225355" cy="1141876"/>
          </a:xfrm>
          <a:prstGeom prst="ellipse">
            <a:avLst/>
          </a:prstGeom>
          <a:solidFill>
            <a:schemeClr val="bg1"/>
          </a:solidFill>
          <a:ln>
            <a:solidFill>
              <a:srgbClr val="94DAE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smtClean="0"/>
              <a:t>多集群设计</a:t>
            </a:r>
            <a:endParaRPr lang="zh-CN" altLang="en-US" dirty="0"/>
          </a:p>
        </p:txBody>
      </p:sp>
      <p:sp>
        <p:nvSpPr>
          <p:cNvPr id="9" name="文本占位符 8"/>
          <p:cNvSpPr>
            <a:spLocks noGrp="1"/>
          </p:cNvSpPr>
          <p:nvPr>
            <p:ph type="body" sz="quarter" idx="10"/>
          </p:nvPr>
        </p:nvSpPr>
        <p:spPr>
          <a:xfrm>
            <a:off x="455612" y="1047751"/>
            <a:ext cx="11293475" cy="940308"/>
          </a:xfrm>
        </p:spPr>
        <p:txBody>
          <a:bodyPr/>
          <a:lstStyle/>
          <a:p>
            <a:r>
              <a:rPr lang="zh-CN" altLang="en-US" sz="2000" dirty="0" smtClean="0"/>
              <a:t>多集群设计不仅提供了针对链路失效的物理冗余，同时提供了针对客户机与</a:t>
            </a:r>
            <a:r>
              <a:rPr lang="en-US" altLang="zh-CN" sz="2000" dirty="0" smtClean="0"/>
              <a:t>RR</a:t>
            </a:r>
            <a:r>
              <a:rPr lang="zh-CN" altLang="en-US" sz="2000" dirty="0" smtClean="0"/>
              <a:t>之间的</a:t>
            </a:r>
            <a:r>
              <a:rPr lang="en-US" altLang="zh-CN" sz="2000" dirty="0" smtClean="0"/>
              <a:t>IBGP</a:t>
            </a:r>
            <a:r>
              <a:rPr lang="zh-CN" altLang="en-US" sz="2000" dirty="0" smtClean="0"/>
              <a:t>会话失效的逻辑冗余。</a:t>
            </a:r>
          </a:p>
          <a:p>
            <a:endParaRPr lang="zh-CN" altLang="en-US" sz="2000" dirty="0"/>
          </a:p>
        </p:txBody>
      </p:sp>
      <p:cxnSp>
        <p:nvCxnSpPr>
          <p:cNvPr id="5" name="直接连接符 4">
            <a:extLst>
              <a:ext uri="{FF2B5EF4-FFF2-40B4-BE49-F238E27FC236}">
                <a16:creationId xmlns:a16="http://schemas.microsoft.com/office/drawing/2014/main" xmlns="" id="{94275FFE-3BE6-4C12-8737-FDFE3456C4A2}"/>
              </a:ext>
            </a:extLst>
          </p:cNvPr>
          <p:cNvCxnSpPr/>
          <p:nvPr/>
        </p:nvCxnSpPr>
        <p:spPr bwMode="gray">
          <a:xfrm flipV="1">
            <a:off x="2502263" y="2598465"/>
            <a:ext cx="822889" cy="821634"/>
          </a:xfrm>
          <a:prstGeom prst="line">
            <a:avLst/>
          </a:prstGeom>
          <a:noFill/>
          <a:ln w="19050" cap="flat" cmpd="sng" algn="ctr">
            <a:solidFill>
              <a:schemeClr val="tx1"/>
            </a:solidFill>
            <a:prstDash val="solid"/>
          </a:ln>
          <a:effectLst/>
        </p:spPr>
      </p:cxnSp>
      <p:cxnSp>
        <p:nvCxnSpPr>
          <p:cNvPr id="13" name="直接连接符 12">
            <a:extLst>
              <a:ext uri="{FF2B5EF4-FFF2-40B4-BE49-F238E27FC236}">
                <a16:creationId xmlns:a16="http://schemas.microsoft.com/office/drawing/2014/main" xmlns="" id="{94275FFE-3BE6-4C12-8737-FDFE3456C4A2}"/>
              </a:ext>
            </a:extLst>
          </p:cNvPr>
          <p:cNvCxnSpPr/>
          <p:nvPr/>
        </p:nvCxnSpPr>
        <p:spPr bwMode="gray">
          <a:xfrm flipH="1" flipV="1">
            <a:off x="2492217" y="3420099"/>
            <a:ext cx="822888" cy="821635"/>
          </a:xfrm>
          <a:prstGeom prst="line">
            <a:avLst/>
          </a:prstGeom>
          <a:noFill/>
          <a:ln w="19050" cap="flat" cmpd="sng" algn="ctr">
            <a:solidFill>
              <a:schemeClr val="tx1"/>
            </a:solidFill>
            <a:prstDash val="solid"/>
          </a:ln>
          <a:effectLst/>
        </p:spPr>
      </p:cxnSp>
      <p:cxnSp>
        <p:nvCxnSpPr>
          <p:cNvPr id="14" name="直接连接符 13">
            <a:extLst>
              <a:ext uri="{FF2B5EF4-FFF2-40B4-BE49-F238E27FC236}">
                <a16:creationId xmlns:a16="http://schemas.microsoft.com/office/drawing/2014/main" xmlns="" id="{94275FFE-3BE6-4C12-8737-FDFE3456C4A2}"/>
              </a:ext>
            </a:extLst>
          </p:cNvPr>
          <p:cNvCxnSpPr/>
          <p:nvPr/>
        </p:nvCxnSpPr>
        <p:spPr bwMode="gray">
          <a:xfrm flipV="1">
            <a:off x="3335199" y="3420100"/>
            <a:ext cx="822889" cy="821634"/>
          </a:xfrm>
          <a:prstGeom prst="line">
            <a:avLst/>
          </a:prstGeom>
          <a:noFill/>
          <a:ln w="19050" cap="flat" cmpd="sng" algn="ctr">
            <a:solidFill>
              <a:schemeClr val="tx1"/>
            </a:solidFill>
            <a:prstDash val="solid"/>
          </a:ln>
          <a:effectLst/>
        </p:spPr>
      </p:cxnSp>
      <p:cxnSp>
        <p:nvCxnSpPr>
          <p:cNvPr id="17" name="直接连接符 16">
            <a:extLst>
              <a:ext uri="{FF2B5EF4-FFF2-40B4-BE49-F238E27FC236}">
                <a16:creationId xmlns:a16="http://schemas.microsoft.com/office/drawing/2014/main" xmlns="" id="{94275FFE-3BE6-4C12-8737-FDFE3456C4A2}"/>
              </a:ext>
            </a:extLst>
          </p:cNvPr>
          <p:cNvCxnSpPr/>
          <p:nvPr/>
        </p:nvCxnSpPr>
        <p:spPr bwMode="gray">
          <a:xfrm flipH="1" flipV="1">
            <a:off x="3313685" y="2624729"/>
            <a:ext cx="822888" cy="821635"/>
          </a:xfrm>
          <a:prstGeom prst="line">
            <a:avLst/>
          </a:prstGeom>
          <a:noFill/>
          <a:ln w="19050" cap="flat" cmpd="sng" algn="ctr">
            <a:solidFill>
              <a:schemeClr val="tx1"/>
            </a:solidFill>
            <a:prstDash val="solid"/>
          </a:ln>
          <a:effectLst/>
        </p:spPr>
      </p:cxnSp>
      <p:cxnSp>
        <p:nvCxnSpPr>
          <p:cNvPr id="18" name="直接连接符 17">
            <a:extLst>
              <a:ext uri="{FF2B5EF4-FFF2-40B4-BE49-F238E27FC236}">
                <a16:creationId xmlns:a16="http://schemas.microsoft.com/office/drawing/2014/main" xmlns="" id="{94275FFE-3BE6-4C12-8737-FDFE3456C4A2}"/>
              </a:ext>
            </a:extLst>
          </p:cNvPr>
          <p:cNvCxnSpPr>
            <a:stCxn id="6" idx="3"/>
            <a:endCxn id="7" idx="1"/>
          </p:cNvCxnSpPr>
          <p:nvPr/>
        </p:nvCxnSpPr>
        <p:spPr bwMode="gray">
          <a:xfrm>
            <a:off x="2772263" y="3420099"/>
            <a:ext cx="1105778" cy="0"/>
          </a:xfrm>
          <a:prstGeom prst="line">
            <a:avLst/>
          </a:prstGeom>
          <a:noFill/>
          <a:ln w="19050" cap="flat" cmpd="sng" algn="ctr">
            <a:solidFill>
              <a:schemeClr val="tx1"/>
            </a:solidFill>
            <a:prstDash val="solid"/>
          </a:ln>
          <a:effectLst/>
        </p:spPr>
      </p:cxnSp>
      <p:pic>
        <p:nvPicPr>
          <p:cNvPr id="4"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055152" y="2377064"/>
            <a:ext cx="540000" cy="442800"/>
          </a:xfrm>
          <a:prstGeom prst="rect">
            <a:avLst/>
          </a:prstGeom>
        </p:spPr>
      </p:pic>
      <p:pic>
        <p:nvPicPr>
          <p:cNvPr id="6" name="图片 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232263" y="3198699"/>
            <a:ext cx="540000" cy="442800"/>
          </a:xfrm>
          <a:prstGeom prst="rect">
            <a:avLst/>
          </a:prstGeom>
        </p:spPr>
      </p:pic>
      <p:pic>
        <p:nvPicPr>
          <p:cNvPr id="7" name="图片 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878041" y="3198699"/>
            <a:ext cx="540000" cy="442800"/>
          </a:xfrm>
          <a:prstGeom prst="rect">
            <a:avLst/>
          </a:prstGeom>
        </p:spPr>
      </p:pic>
      <p:pic>
        <p:nvPicPr>
          <p:cNvPr id="8" name="图片 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055152" y="4020334"/>
            <a:ext cx="540000" cy="442800"/>
          </a:xfrm>
          <a:prstGeom prst="rect">
            <a:avLst/>
          </a:prstGeom>
        </p:spPr>
      </p:pic>
      <p:sp>
        <p:nvSpPr>
          <p:cNvPr id="24" name="矩形 23"/>
          <p:cNvSpPr/>
          <p:nvPr/>
        </p:nvSpPr>
        <p:spPr bwMode="gray">
          <a:xfrm>
            <a:off x="1665385" y="4742540"/>
            <a:ext cx="3319534" cy="1107870"/>
          </a:xfrm>
          <a:prstGeom prst="rect">
            <a:avLst/>
          </a:prstGeom>
          <a:solidFill>
            <a:srgbClr val="F5FCFD"/>
          </a:solidFill>
          <a:ln w="19050">
            <a:solidFill>
              <a:srgbClr val="BEE9EE"/>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lt1"/>
              </a:solidFill>
              <a:sym typeface="Huawei Sans" panose="020C0503030203020204" pitchFamily="34" charset="0"/>
            </a:endParaRPr>
          </a:p>
        </p:txBody>
      </p:sp>
      <p:pic>
        <p:nvPicPr>
          <p:cNvPr id="25" name="图片 2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055152" y="4993144"/>
            <a:ext cx="540000" cy="442800"/>
          </a:xfrm>
          <a:prstGeom prst="rect">
            <a:avLst/>
          </a:prstGeom>
        </p:spPr>
      </p:pic>
      <p:cxnSp>
        <p:nvCxnSpPr>
          <p:cNvPr id="26" name="直接连接符 25">
            <a:extLst>
              <a:ext uri="{FF2B5EF4-FFF2-40B4-BE49-F238E27FC236}">
                <a16:creationId xmlns:a16="http://schemas.microsoft.com/office/drawing/2014/main" xmlns="" id="{94275FFE-3BE6-4C12-8737-FDFE3456C4A2}"/>
              </a:ext>
            </a:extLst>
          </p:cNvPr>
          <p:cNvCxnSpPr/>
          <p:nvPr/>
        </p:nvCxnSpPr>
        <p:spPr bwMode="gray">
          <a:xfrm flipV="1">
            <a:off x="3325152" y="4534825"/>
            <a:ext cx="0" cy="375189"/>
          </a:xfrm>
          <a:prstGeom prst="line">
            <a:avLst/>
          </a:prstGeom>
          <a:noFill/>
          <a:ln w="38100" cap="flat" cmpd="sng" algn="ctr">
            <a:solidFill>
              <a:srgbClr val="56C4D2"/>
            </a:solidFill>
            <a:prstDash val="solid"/>
            <a:headEnd type="none" w="med" len="med"/>
            <a:tailEnd type="triangle" w="med" len="med"/>
          </a:ln>
          <a:effectLst/>
        </p:spPr>
      </p:cxnSp>
      <p:sp>
        <p:nvSpPr>
          <p:cNvPr id="30" name="TextBox 120">
            <a:extLst>
              <a:ext uri="{FF2B5EF4-FFF2-40B4-BE49-F238E27FC236}">
                <a16:creationId xmlns:a16="http://schemas.microsoft.com/office/drawing/2014/main" xmlns="" id="{020D7A1D-EFAD-4C8C-B9DE-D0FAD269B77A}"/>
              </a:ext>
            </a:extLst>
          </p:cNvPr>
          <p:cNvSpPr txBox="1"/>
          <p:nvPr/>
        </p:nvSpPr>
        <p:spPr bwMode="gray">
          <a:xfrm>
            <a:off x="1665385" y="2190543"/>
            <a:ext cx="826769" cy="307657"/>
          </a:xfrm>
          <a:prstGeom prst="rect">
            <a:avLst/>
          </a:prstGeom>
          <a:noFill/>
          <a:ln>
            <a:noFill/>
          </a:ln>
        </p:spPr>
        <p:txBody>
          <a:bodyPr wrap="square" rtlCol="0">
            <a:spAutoFit/>
          </a:bodyPr>
          <a:lstStyle/>
          <a:p>
            <a:pPr algn="ct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AS 101</a:t>
            </a:r>
            <a:endPar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TextBox 120">
            <a:extLst>
              <a:ext uri="{FF2B5EF4-FFF2-40B4-BE49-F238E27FC236}">
                <a16:creationId xmlns:a16="http://schemas.microsoft.com/office/drawing/2014/main" xmlns="" id="{020D7A1D-EFAD-4C8C-B9DE-D0FAD269B77A}"/>
              </a:ext>
            </a:extLst>
          </p:cNvPr>
          <p:cNvSpPr txBox="1"/>
          <p:nvPr/>
        </p:nvSpPr>
        <p:spPr bwMode="gray">
          <a:xfrm>
            <a:off x="1665385" y="4733174"/>
            <a:ext cx="826769" cy="307657"/>
          </a:xfrm>
          <a:prstGeom prst="rect">
            <a:avLst/>
          </a:prstGeom>
          <a:noFill/>
          <a:ln>
            <a:noFill/>
          </a:ln>
        </p:spPr>
        <p:txBody>
          <a:bodyPr wrap="square" rtlCol="0">
            <a:spAutoFit/>
          </a:bodyPr>
          <a:lstStyle/>
          <a:p>
            <a:pPr algn="ct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AS 102</a:t>
            </a:r>
            <a:endPar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TextBox 120">
            <a:extLst>
              <a:ext uri="{FF2B5EF4-FFF2-40B4-BE49-F238E27FC236}">
                <a16:creationId xmlns:a16="http://schemas.microsoft.com/office/drawing/2014/main" xmlns="" id="{020D7A1D-EFAD-4C8C-B9DE-D0FAD269B77A}"/>
              </a:ext>
            </a:extLst>
          </p:cNvPr>
          <p:cNvSpPr txBox="1"/>
          <p:nvPr/>
        </p:nvSpPr>
        <p:spPr bwMode="gray">
          <a:xfrm>
            <a:off x="3112853" y="2126237"/>
            <a:ext cx="444692" cy="307648"/>
          </a:xfrm>
          <a:prstGeom prst="rect">
            <a:avLst/>
          </a:prstGeom>
          <a:noFill/>
          <a:ln>
            <a:noFill/>
          </a:ln>
        </p:spPr>
        <p:txBody>
          <a:bodyPr wrap="square" rtlCol="0">
            <a:spAutoFit/>
          </a:bodyPr>
          <a:lstStyle/>
          <a:p>
            <a:pPr algn="ctr"/>
            <a:r>
              <a:rPr lang="en-US" altLang="zh-CN" sz="1399" dirty="0" smtClean="0">
                <a:latin typeface="Huawei Sans" panose="020C0503030203020204" pitchFamily="34" charset="0"/>
                <a:ea typeface="方正兰亭黑简体" panose="02000000000000000000" pitchFamily="2" charset="-122"/>
                <a:sym typeface="Huawei Sans" panose="020C0503030203020204" pitchFamily="34" charset="0"/>
              </a:rPr>
              <a:t>R1</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TextBox 120">
            <a:extLst>
              <a:ext uri="{FF2B5EF4-FFF2-40B4-BE49-F238E27FC236}">
                <a16:creationId xmlns:a16="http://schemas.microsoft.com/office/drawing/2014/main" xmlns="" id="{020D7A1D-EFAD-4C8C-B9DE-D0FAD269B77A}"/>
              </a:ext>
            </a:extLst>
          </p:cNvPr>
          <p:cNvSpPr txBox="1"/>
          <p:nvPr/>
        </p:nvSpPr>
        <p:spPr bwMode="gray">
          <a:xfrm>
            <a:off x="3438047" y="4505644"/>
            <a:ext cx="894429" cy="430631"/>
          </a:xfrm>
          <a:prstGeom prst="rect">
            <a:avLst/>
          </a:prstGeom>
          <a:solidFill>
            <a:schemeClr val="bg1">
              <a:alpha val="89000"/>
            </a:schemeClr>
          </a:solidFill>
          <a:ln>
            <a:solidFill>
              <a:schemeClr val="bg1">
                <a:alpha val="0"/>
              </a:schemeClr>
            </a:solidFill>
          </a:ln>
        </p:spPr>
        <p:txBody>
          <a:bodyPr wrap="square" lIns="0" tIns="0" rIns="0" bIns="0" rtlCol="0" anchor="ctr" anchorCtr="0">
            <a:spAutoFit/>
          </a:bodyPr>
          <a:lstStyle/>
          <a:p>
            <a:r>
              <a:rPr lang="en-US" altLang="zh-CN" sz="1399" dirty="0" smtClean="0">
                <a:latin typeface="Huawei Sans" panose="020C0503030203020204" pitchFamily="34" charset="0"/>
                <a:ea typeface="方正兰亭黑简体" panose="02000000000000000000" pitchFamily="2" charset="-122"/>
                <a:sym typeface="Huawei Sans" panose="020C0503030203020204" pitchFamily="34" charset="0"/>
              </a:rPr>
              <a:t>Route:</a:t>
            </a:r>
          </a:p>
          <a:p>
            <a:r>
              <a:rPr lang="en-US" altLang="zh-CN" sz="1399" dirty="0" smtClean="0">
                <a:latin typeface="Huawei Sans" panose="020C0503030203020204" pitchFamily="34" charset="0"/>
                <a:ea typeface="方正兰亭黑简体" panose="02000000000000000000" pitchFamily="2" charset="-122"/>
                <a:sym typeface="Huawei Sans" panose="020C0503030203020204" pitchFamily="34" charset="0"/>
              </a:rPr>
              <a:t>10.1.5.5/32</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4" name="直接连接符 33">
            <a:extLst>
              <a:ext uri="{FF2B5EF4-FFF2-40B4-BE49-F238E27FC236}">
                <a16:creationId xmlns:a16="http://schemas.microsoft.com/office/drawing/2014/main" xmlns="" id="{94275FFE-3BE6-4C12-8737-FDFE3456C4A2}"/>
              </a:ext>
            </a:extLst>
          </p:cNvPr>
          <p:cNvCxnSpPr/>
          <p:nvPr/>
        </p:nvCxnSpPr>
        <p:spPr bwMode="gray">
          <a:xfrm flipH="1" flipV="1">
            <a:off x="3335198" y="5431718"/>
            <a:ext cx="1" cy="178823"/>
          </a:xfrm>
          <a:prstGeom prst="line">
            <a:avLst/>
          </a:prstGeom>
          <a:noFill/>
          <a:ln w="19050" cap="flat" cmpd="sng" algn="ctr">
            <a:solidFill>
              <a:schemeClr val="tx1"/>
            </a:solidFill>
            <a:prstDash val="solid"/>
          </a:ln>
          <a:effectLst/>
        </p:spPr>
      </p:cxnSp>
      <p:cxnSp>
        <p:nvCxnSpPr>
          <p:cNvPr id="35" name="直接连接符 34">
            <a:extLst>
              <a:ext uri="{FF2B5EF4-FFF2-40B4-BE49-F238E27FC236}">
                <a16:creationId xmlns:a16="http://schemas.microsoft.com/office/drawing/2014/main" xmlns="" id="{94275FFE-3BE6-4C12-8737-FDFE3456C4A2}"/>
              </a:ext>
            </a:extLst>
          </p:cNvPr>
          <p:cNvCxnSpPr/>
          <p:nvPr/>
        </p:nvCxnSpPr>
        <p:spPr bwMode="gray">
          <a:xfrm flipH="1">
            <a:off x="3083504" y="5609656"/>
            <a:ext cx="503389" cy="1"/>
          </a:xfrm>
          <a:prstGeom prst="line">
            <a:avLst/>
          </a:prstGeom>
          <a:noFill/>
          <a:ln w="19050" cap="flat" cmpd="sng" algn="ctr">
            <a:solidFill>
              <a:schemeClr val="tx1"/>
            </a:solidFill>
            <a:prstDash val="solid"/>
          </a:ln>
          <a:effectLst/>
        </p:spPr>
      </p:cxnSp>
      <p:sp>
        <p:nvSpPr>
          <p:cNvPr id="36" name="TextBox 120">
            <a:extLst>
              <a:ext uri="{FF2B5EF4-FFF2-40B4-BE49-F238E27FC236}">
                <a16:creationId xmlns:a16="http://schemas.microsoft.com/office/drawing/2014/main" xmlns="" id="{020D7A1D-EFAD-4C8C-B9DE-D0FAD269B77A}"/>
              </a:ext>
            </a:extLst>
          </p:cNvPr>
          <p:cNvSpPr txBox="1"/>
          <p:nvPr/>
        </p:nvSpPr>
        <p:spPr bwMode="gray">
          <a:xfrm>
            <a:off x="2786815" y="5578121"/>
            <a:ext cx="1096768" cy="307648"/>
          </a:xfrm>
          <a:prstGeom prst="rect">
            <a:avLst/>
          </a:prstGeom>
          <a:noFill/>
          <a:ln>
            <a:noFill/>
          </a:ln>
        </p:spPr>
        <p:txBody>
          <a:bodyPr wrap="square" rtlCol="0">
            <a:spAutoFit/>
          </a:bodyPr>
          <a:lstStyle/>
          <a:p>
            <a:pPr algn="ctr"/>
            <a:r>
              <a:rPr lang="en-US" altLang="zh-CN" sz="1399" dirty="0" smtClean="0">
                <a:latin typeface="Huawei Sans" panose="020C0503030203020204" pitchFamily="34" charset="0"/>
                <a:ea typeface="方正兰亭黑简体" panose="02000000000000000000" pitchFamily="2" charset="-122"/>
                <a:sym typeface="Huawei Sans" panose="020C0503030203020204" pitchFamily="34" charset="0"/>
              </a:rPr>
              <a:t>10.1.5.5/32</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TextBox 120">
            <a:extLst>
              <a:ext uri="{FF2B5EF4-FFF2-40B4-BE49-F238E27FC236}">
                <a16:creationId xmlns:a16="http://schemas.microsoft.com/office/drawing/2014/main" xmlns="" id="{020D7A1D-EFAD-4C8C-B9DE-D0FAD269B77A}"/>
              </a:ext>
            </a:extLst>
          </p:cNvPr>
          <p:cNvSpPr txBox="1"/>
          <p:nvPr/>
        </p:nvSpPr>
        <p:spPr bwMode="gray">
          <a:xfrm>
            <a:off x="2279917" y="2937115"/>
            <a:ext cx="444692" cy="307648"/>
          </a:xfrm>
          <a:prstGeom prst="rect">
            <a:avLst/>
          </a:prstGeom>
          <a:noFill/>
          <a:ln>
            <a:noFill/>
          </a:ln>
        </p:spPr>
        <p:txBody>
          <a:bodyPr wrap="square" rtlCol="0">
            <a:spAutoFit/>
          </a:bodyPr>
          <a:lstStyle/>
          <a:p>
            <a:pPr algn="ctr"/>
            <a:r>
              <a:rPr lang="en-US" altLang="zh-CN" sz="1399" dirty="0" smtClean="0">
                <a:latin typeface="Huawei Sans" panose="020C0503030203020204" pitchFamily="34" charset="0"/>
                <a:ea typeface="方正兰亭黑简体" panose="02000000000000000000" pitchFamily="2" charset="-122"/>
                <a:sym typeface="Huawei Sans" panose="020C0503030203020204" pitchFamily="34" charset="0"/>
              </a:rPr>
              <a:t>R2</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TextBox 120">
            <a:extLst>
              <a:ext uri="{FF2B5EF4-FFF2-40B4-BE49-F238E27FC236}">
                <a16:creationId xmlns:a16="http://schemas.microsoft.com/office/drawing/2014/main" xmlns="" id="{020D7A1D-EFAD-4C8C-B9DE-D0FAD269B77A}"/>
              </a:ext>
            </a:extLst>
          </p:cNvPr>
          <p:cNvSpPr txBox="1"/>
          <p:nvPr/>
        </p:nvSpPr>
        <p:spPr bwMode="gray">
          <a:xfrm>
            <a:off x="3925695" y="2937115"/>
            <a:ext cx="444692" cy="307648"/>
          </a:xfrm>
          <a:prstGeom prst="rect">
            <a:avLst/>
          </a:prstGeom>
          <a:noFill/>
          <a:ln>
            <a:noFill/>
          </a:ln>
        </p:spPr>
        <p:txBody>
          <a:bodyPr wrap="square" rtlCol="0">
            <a:spAutoFit/>
          </a:bodyPr>
          <a:lstStyle/>
          <a:p>
            <a:pPr algn="ctr"/>
            <a:r>
              <a:rPr lang="en-US" altLang="zh-CN" sz="1399" dirty="0" smtClean="0">
                <a:latin typeface="Huawei Sans" panose="020C0503030203020204" pitchFamily="34" charset="0"/>
                <a:ea typeface="方正兰亭黑简体" panose="02000000000000000000" pitchFamily="2" charset="-122"/>
                <a:sym typeface="Huawei Sans" panose="020C0503030203020204" pitchFamily="34" charset="0"/>
              </a:rPr>
              <a:t>R3</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TextBox 120">
            <a:extLst>
              <a:ext uri="{FF2B5EF4-FFF2-40B4-BE49-F238E27FC236}">
                <a16:creationId xmlns:a16="http://schemas.microsoft.com/office/drawing/2014/main" xmlns="" id="{020D7A1D-EFAD-4C8C-B9DE-D0FAD269B77A}"/>
              </a:ext>
            </a:extLst>
          </p:cNvPr>
          <p:cNvSpPr txBox="1"/>
          <p:nvPr/>
        </p:nvSpPr>
        <p:spPr bwMode="gray">
          <a:xfrm>
            <a:off x="2695170" y="4115267"/>
            <a:ext cx="444692" cy="307648"/>
          </a:xfrm>
          <a:prstGeom prst="rect">
            <a:avLst/>
          </a:prstGeom>
          <a:noFill/>
          <a:ln>
            <a:noFill/>
          </a:ln>
        </p:spPr>
        <p:txBody>
          <a:bodyPr wrap="square" rtlCol="0">
            <a:spAutoFit/>
          </a:bodyPr>
          <a:lstStyle/>
          <a:p>
            <a:pPr algn="ctr"/>
            <a:r>
              <a:rPr lang="en-US" altLang="zh-CN" sz="1399" dirty="0" smtClean="0">
                <a:latin typeface="Huawei Sans" panose="020C0503030203020204" pitchFamily="34" charset="0"/>
                <a:ea typeface="方正兰亭黑简体" panose="02000000000000000000" pitchFamily="2" charset="-122"/>
                <a:sym typeface="Huawei Sans" panose="020C0503030203020204" pitchFamily="34" charset="0"/>
              </a:rPr>
              <a:t>R4</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TextBox 120">
            <a:extLst>
              <a:ext uri="{FF2B5EF4-FFF2-40B4-BE49-F238E27FC236}">
                <a16:creationId xmlns:a16="http://schemas.microsoft.com/office/drawing/2014/main" xmlns="" id="{020D7A1D-EFAD-4C8C-B9DE-D0FAD269B77A}"/>
              </a:ext>
            </a:extLst>
          </p:cNvPr>
          <p:cNvSpPr txBox="1"/>
          <p:nvPr/>
        </p:nvSpPr>
        <p:spPr bwMode="gray">
          <a:xfrm>
            <a:off x="2695170" y="5056870"/>
            <a:ext cx="444692" cy="307648"/>
          </a:xfrm>
          <a:prstGeom prst="rect">
            <a:avLst/>
          </a:prstGeom>
          <a:noFill/>
          <a:ln>
            <a:noFill/>
          </a:ln>
        </p:spPr>
        <p:txBody>
          <a:bodyPr wrap="square" rtlCol="0">
            <a:spAutoFit/>
          </a:bodyPr>
          <a:lstStyle/>
          <a:p>
            <a:pPr algn="ctr"/>
            <a:r>
              <a:rPr lang="en-US" altLang="zh-CN" sz="1399" dirty="0" smtClean="0">
                <a:latin typeface="Huawei Sans" panose="020C0503030203020204" pitchFamily="34" charset="0"/>
                <a:ea typeface="方正兰亭黑简体" panose="02000000000000000000" pitchFamily="2" charset="-122"/>
                <a:sym typeface="Huawei Sans" panose="020C0503030203020204" pitchFamily="34" charset="0"/>
              </a:rPr>
              <a:t>R5</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extBox 120">
            <a:extLst>
              <a:ext uri="{FF2B5EF4-FFF2-40B4-BE49-F238E27FC236}">
                <a16:creationId xmlns:a16="http://schemas.microsoft.com/office/drawing/2014/main" xmlns="" id="{020D7A1D-EFAD-4C8C-B9DE-D0FAD269B77A}"/>
              </a:ext>
            </a:extLst>
          </p:cNvPr>
          <p:cNvSpPr txBox="1"/>
          <p:nvPr/>
        </p:nvSpPr>
        <p:spPr bwMode="gray">
          <a:xfrm>
            <a:off x="2002414" y="3877867"/>
            <a:ext cx="943833" cy="307648"/>
          </a:xfrm>
          <a:prstGeom prst="rect">
            <a:avLst/>
          </a:prstGeom>
          <a:noFill/>
          <a:ln>
            <a:noFill/>
          </a:ln>
        </p:spPr>
        <p:txBody>
          <a:bodyPr wrap="square" rtlCol="0">
            <a:spAutoFit/>
          </a:bodyPr>
          <a:lstStyle/>
          <a:p>
            <a:pPr algn="ctr"/>
            <a:r>
              <a:rPr lang="en-US" altLang="zh-CN" sz="1399" b="1"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Cluster1</a:t>
            </a:r>
            <a:endParaRPr lang="en-US" altLang="zh-CN" sz="1399"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TextBox 120">
            <a:extLst>
              <a:ext uri="{FF2B5EF4-FFF2-40B4-BE49-F238E27FC236}">
                <a16:creationId xmlns:a16="http://schemas.microsoft.com/office/drawing/2014/main" xmlns="" id="{020D7A1D-EFAD-4C8C-B9DE-D0FAD269B77A}"/>
              </a:ext>
            </a:extLst>
          </p:cNvPr>
          <p:cNvSpPr txBox="1"/>
          <p:nvPr/>
        </p:nvSpPr>
        <p:spPr bwMode="gray">
          <a:xfrm>
            <a:off x="1689421" y="3244763"/>
            <a:ext cx="590496" cy="307648"/>
          </a:xfrm>
          <a:prstGeom prst="rect">
            <a:avLst/>
          </a:prstGeom>
          <a:noFill/>
          <a:ln>
            <a:noFill/>
          </a:ln>
        </p:spPr>
        <p:txBody>
          <a:bodyPr wrap="square" rtlCol="0">
            <a:spAutoFit/>
          </a:bodyPr>
          <a:lstStyle/>
          <a:p>
            <a:pPr algn="ct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RR1</a:t>
            </a:r>
            <a:endPar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120">
            <a:extLst>
              <a:ext uri="{FF2B5EF4-FFF2-40B4-BE49-F238E27FC236}">
                <a16:creationId xmlns:a16="http://schemas.microsoft.com/office/drawing/2014/main" xmlns="" id="{020D7A1D-EFAD-4C8C-B9DE-D0FAD269B77A}"/>
              </a:ext>
            </a:extLst>
          </p:cNvPr>
          <p:cNvSpPr txBox="1"/>
          <p:nvPr/>
        </p:nvSpPr>
        <p:spPr bwMode="gray">
          <a:xfrm>
            <a:off x="4332476" y="3244763"/>
            <a:ext cx="590496" cy="307648"/>
          </a:xfrm>
          <a:prstGeom prst="rect">
            <a:avLst/>
          </a:prstGeom>
          <a:noFill/>
          <a:ln>
            <a:noFill/>
          </a:ln>
        </p:spPr>
        <p:txBody>
          <a:bodyPr wrap="square" rtlCol="0">
            <a:spAutoFit/>
          </a:bodyPr>
          <a:lstStyle/>
          <a:p>
            <a:pPr algn="ct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RR2</a:t>
            </a:r>
            <a:endPar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120">
            <a:extLst>
              <a:ext uri="{FF2B5EF4-FFF2-40B4-BE49-F238E27FC236}">
                <a16:creationId xmlns:a16="http://schemas.microsoft.com/office/drawing/2014/main" xmlns="" id="{020D7A1D-EFAD-4C8C-B9DE-D0FAD269B77A}"/>
              </a:ext>
            </a:extLst>
          </p:cNvPr>
          <p:cNvSpPr txBox="1"/>
          <p:nvPr/>
        </p:nvSpPr>
        <p:spPr bwMode="gray">
          <a:xfrm>
            <a:off x="3455506" y="4116679"/>
            <a:ext cx="889384" cy="307648"/>
          </a:xfrm>
          <a:prstGeom prst="rect">
            <a:avLst/>
          </a:prstGeom>
          <a:noFill/>
          <a:ln>
            <a:noFill/>
          </a:ln>
        </p:spPr>
        <p:txBody>
          <a:bodyPr wrap="square" rtlCol="0">
            <a:spAutoFit/>
          </a:bodyPr>
          <a:lstStyle/>
          <a:p>
            <a:pPr algn="ct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Client</a:t>
            </a:r>
            <a:endPar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文本占位符 3"/>
          <p:cNvSpPr txBox="1">
            <a:spLocks/>
          </p:cNvSpPr>
          <p:nvPr/>
        </p:nvSpPr>
        <p:spPr bwMode="auto">
          <a:xfrm>
            <a:off x="5947954" y="2018674"/>
            <a:ext cx="5796546" cy="173175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600" dirty="0"/>
              <a:t>如</a:t>
            </a:r>
            <a:r>
              <a:rPr lang="zh-CN" altLang="en-US" sz="1600" dirty="0" smtClean="0"/>
              <a:t>图：将</a:t>
            </a:r>
            <a:r>
              <a:rPr lang="en-US" altLang="zh-CN" sz="1600" dirty="0" smtClean="0"/>
              <a:t>R2</a:t>
            </a:r>
            <a:r>
              <a:rPr lang="zh-CN" altLang="en-US" sz="1600" dirty="0" smtClean="0"/>
              <a:t>和</a:t>
            </a:r>
            <a:r>
              <a:rPr lang="en-US" altLang="zh-CN" sz="1600" dirty="0" smtClean="0"/>
              <a:t>R4</a:t>
            </a:r>
            <a:r>
              <a:rPr lang="zh-CN" altLang="en-US" sz="1600" dirty="0" smtClean="0"/>
              <a:t>划入</a:t>
            </a:r>
            <a:r>
              <a:rPr lang="en-US" altLang="zh-CN" sz="1600" dirty="0" smtClean="0"/>
              <a:t>Cluster1</a:t>
            </a:r>
            <a:r>
              <a:rPr lang="zh-CN" altLang="en-US" sz="1600" dirty="0" smtClean="0"/>
              <a:t>中，将</a:t>
            </a:r>
            <a:r>
              <a:rPr lang="en-US" altLang="zh-CN" sz="1600" dirty="0" smtClean="0"/>
              <a:t>R3</a:t>
            </a:r>
            <a:r>
              <a:rPr lang="zh-CN" altLang="en-US" sz="1600" dirty="0" smtClean="0"/>
              <a:t>和</a:t>
            </a:r>
            <a:r>
              <a:rPr lang="en-US" altLang="zh-CN" sz="1600" dirty="0" smtClean="0"/>
              <a:t>R4</a:t>
            </a:r>
            <a:r>
              <a:rPr lang="zh-CN" altLang="en-US" sz="1600" dirty="0" smtClean="0"/>
              <a:t>划入</a:t>
            </a:r>
            <a:r>
              <a:rPr lang="en-US" altLang="zh-CN" sz="1600" dirty="0" smtClean="0"/>
              <a:t>Cluster2</a:t>
            </a:r>
            <a:r>
              <a:rPr lang="zh-CN" altLang="en-US" sz="1600" dirty="0" smtClean="0"/>
              <a:t>中。</a:t>
            </a:r>
            <a:endParaRPr lang="en-US" altLang="zh-CN" sz="1600" dirty="0" smtClean="0"/>
          </a:p>
          <a:p>
            <a:r>
              <a:rPr lang="zh-CN" altLang="en-US" sz="1600" dirty="0" smtClean="0"/>
              <a:t>当</a:t>
            </a:r>
            <a:r>
              <a:rPr lang="en-US" altLang="zh-CN" sz="1600" dirty="0" smtClean="0"/>
              <a:t>R3</a:t>
            </a:r>
            <a:r>
              <a:rPr lang="zh-CN" altLang="en-US" sz="1600" dirty="0" smtClean="0"/>
              <a:t>和</a:t>
            </a:r>
            <a:r>
              <a:rPr lang="en-US" altLang="zh-CN" sz="1600" dirty="0" smtClean="0"/>
              <a:t>R4</a:t>
            </a:r>
            <a:r>
              <a:rPr lang="zh-CN" altLang="en-US" sz="1600" dirty="0" smtClean="0"/>
              <a:t>间的</a:t>
            </a:r>
            <a:r>
              <a:rPr lang="en-US" altLang="zh-CN" sz="1600" dirty="0" smtClean="0"/>
              <a:t>IBGP</a:t>
            </a:r>
            <a:r>
              <a:rPr lang="zh-CN" altLang="en-US" sz="1600" dirty="0" smtClean="0"/>
              <a:t>会话失效后，</a:t>
            </a:r>
            <a:r>
              <a:rPr lang="en-US" altLang="zh-CN" sz="1600" dirty="0" smtClean="0"/>
              <a:t>R3</a:t>
            </a:r>
            <a:r>
              <a:rPr lang="zh-CN" altLang="en-US" sz="1600" dirty="0" smtClean="0"/>
              <a:t>仍然可以继续转发流量，因为</a:t>
            </a:r>
            <a:r>
              <a:rPr lang="en-US" altLang="zh-CN" sz="1600" dirty="0" smtClean="0"/>
              <a:t>R3</a:t>
            </a:r>
            <a:r>
              <a:rPr lang="zh-CN" altLang="en-US" sz="1600" dirty="0" smtClean="0"/>
              <a:t>会学习</a:t>
            </a:r>
            <a:r>
              <a:rPr lang="en-US" altLang="zh-CN" sz="1600" dirty="0" smtClean="0"/>
              <a:t>R2</a:t>
            </a:r>
            <a:r>
              <a:rPr lang="zh-CN" altLang="en-US" sz="1600" dirty="0" smtClean="0"/>
              <a:t>通告的</a:t>
            </a:r>
            <a:r>
              <a:rPr lang="en-US" altLang="zh-CN" sz="1600" dirty="0" smtClean="0"/>
              <a:t>10.1.5.5/32</a:t>
            </a:r>
            <a:r>
              <a:rPr lang="zh-CN" altLang="en-US" sz="1600" dirty="0" smtClean="0"/>
              <a:t>路由。</a:t>
            </a:r>
            <a:endParaRPr lang="en-US" altLang="zh-CN" sz="1600" dirty="0" smtClean="0"/>
          </a:p>
        </p:txBody>
      </p:sp>
      <p:sp>
        <p:nvSpPr>
          <p:cNvPr id="48" name="TextBox 120">
            <a:extLst>
              <a:ext uri="{FF2B5EF4-FFF2-40B4-BE49-F238E27FC236}">
                <a16:creationId xmlns:a16="http://schemas.microsoft.com/office/drawing/2014/main" xmlns="" id="{020D7A1D-EFAD-4C8C-B9DE-D0FAD269B77A}"/>
              </a:ext>
            </a:extLst>
          </p:cNvPr>
          <p:cNvSpPr txBox="1"/>
          <p:nvPr/>
        </p:nvSpPr>
        <p:spPr bwMode="gray">
          <a:xfrm>
            <a:off x="3676124" y="3877867"/>
            <a:ext cx="943833" cy="307648"/>
          </a:xfrm>
          <a:prstGeom prst="rect">
            <a:avLst/>
          </a:prstGeom>
          <a:noFill/>
          <a:ln>
            <a:noFill/>
          </a:ln>
        </p:spPr>
        <p:txBody>
          <a:bodyPr wrap="square" rtlCol="0">
            <a:spAutoFit/>
          </a:bodyPr>
          <a:lstStyle/>
          <a:p>
            <a:pPr algn="ctr"/>
            <a:r>
              <a:rPr lang="en-US" altLang="zh-CN" sz="1399" b="1"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Cluster2</a:t>
            </a:r>
            <a:endParaRPr lang="en-US" altLang="zh-CN" sz="1399"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5" name="直接连接符 44">
            <a:extLst>
              <a:ext uri="{FF2B5EF4-FFF2-40B4-BE49-F238E27FC236}">
                <a16:creationId xmlns:a16="http://schemas.microsoft.com/office/drawing/2014/main" xmlns="" id="{94275FFE-3BE6-4C12-8737-FDFE3456C4A2}"/>
              </a:ext>
            </a:extLst>
          </p:cNvPr>
          <p:cNvCxnSpPr/>
          <p:nvPr/>
        </p:nvCxnSpPr>
        <p:spPr bwMode="gray">
          <a:xfrm flipH="1" flipV="1">
            <a:off x="2610903" y="3682410"/>
            <a:ext cx="371379" cy="415282"/>
          </a:xfrm>
          <a:prstGeom prst="line">
            <a:avLst/>
          </a:prstGeom>
          <a:noFill/>
          <a:ln w="38100" cap="flat" cmpd="sng" algn="ctr">
            <a:solidFill>
              <a:srgbClr val="56C4D2"/>
            </a:solidFill>
            <a:prstDash val="solid"/>
            <a:headEnd type="none" w="med" len="med"/>
            <a:tailEnd type="triangle" w="med" len="med"/>
          </a:ln>
          <a:effectLst/>
        </p:spPr>
      </p:cxnSp>
      <p:cxnSp>
        <p:nvCxnSpPr>
          <p:cNvPr id="49" name="直接连接符 48">
            <a:extLst>
              <a:ext uri="{FF2B5EF4-FFF2-40B4-BE49-F238E27FC236}">
                <a16:creationId xmlns:a16="http://schemas.microsoft.com/office/drawing/2014/main" xmlns="" id="{94275FFE-3BE6-4C12-8737-FDFE3456C4A2}"/>
              </a:ext>
            </a:extLst>
          </p:cNvPr>
          <p:cNvCxnSpPr/>
          <p:nvPr/>
        </p:nvCxnSpPr>
        <p:spPr bwMode="gray">
          <a:xfrm flipV="1">
            <a:off x="2667465" y="2676194"/>
            <a:ext cx="307745" cy="369381"/>
          </a:xfrm>
          <a:prstGeom prst="line">
            <a:avLst/>
          </a:prstGeom>
          <a:noFill/>
          <a:ln w="38100" cap="flat" cmpd="sng" algn="ctr">
            <a:solidFill>
              <a:srgbClr val="56C4D2"/>
            </a:solidFill>
            <a:prstDash val="solid"/>
            <a:headEnd type="none" w="med" len="med"/>
            <a:tailEnd type="triangle" w="med" len="med"/>
          </a:ln>
          <a:effectLst/>
        </p:spPr>
      </p:cxnSp>
      <p:grpSp>
        <p:nvGrpSpPr>
          <p:cNvPr id="50" name="组合 49"/>
          <p:cNvGrpSpPr/>
          <p:nvPr/>
        </p:nvGrpSpPr>
        <p:grpSpPr bwMode="gray">
          <a:xfrm>
            <a:off x="3693569" y="3825621"/>
            <a:ext cx="144000" cy="143999"/>
            <a:chOff x="903327" y="2396696"/>
            <a:chExt cx="144000" cy="143999"/>
          </a:xfrm>
        </p:grpSpPr>
        <p:cxnSp>
          <p:nvCxnSpPr>
            <p:cNvPr id="51" name="直接连接符 50"/>
            <p:cNvCxnSpPr/>
            <p:nvPr/>
          </p:nvCxnSpPr>
          <p:spPr bwMode="gray">
            <a:xfrm flipV="1">
              <a:off x="903327" y="2396696"/>
              <a:ext cx="144000" cy="143999"/>
            </a:xfrm>
            <a:prstGeom prst="line">
              <a:avLst/>
            </a:prstGeom>
            <a:solidFill>
              <a:srgbClr val="EC7061"/>
            </a:solidFill>
            <a:ln w="38100" cap="rnd">
              <a:solidFill>
                <a:srgbClr val="C7000B"/>
              </a:solidFill>
              <a:round/>
            </a:ln>
            <a:effectLst/>
          </p:spPr>
          <p:style>
            <a:lnRef idx="2">
              <a:schemeClr val="accent1"/>
            </a:lnRef>
            <a:fillRef idx="0">
              <a:schemeClr val="accent1"/>
            </a:fillRef>
            <a:effectRef idx="1">
              <a:schemeClr val="accent1"/>
            </a:effectRef>
            <a:fontRef idx="minor">
              <a:schemeClr val="tx1"/>
            </a:fontRef>
          </p:style>
        </p:cxnSp>
        <p:cxnSp>
          <p:nvCxnSpPr>
            <p:cNvPr id="52" name="直接连接符 51"/>
            <p:cNvCxnSpPr/>
            <p:nvPr/>
          </p:nvCxnSpPr>
          <p:spPr bwMode="gray">
            <a:xfrm>
              <a:off x="903327" y="2396696"/>
              <a:ext cx="144000" cy="143999"/>
            </a:xfrm>
            <a:prstGeom prst="line">
              <a:avLst/>
            </a:prstGeom>
            <a:solidFill>
              <a:srgbClr val="EC7061"/>
            </a:solidFill>
            <a:ln w="38100" cap="rnd">
              <a:solidFill>
                <a:srgbClr val="C7000B"/>
              </a:solidFill>
              <a:round/>
            </a:ln>
            <a:effectLst/>
          </p:spPr>
          <p:style>
            <a:lnRef idx="2">
              <a:schemeClr val="accent1"/>
            </a:lnRef>
            <a:fillRef idx="0">
              <a:schemeClr val="accent1"/>
            </a:fillRef>
            <a:effectRef idx="1">
              <a:schemeClr val="accent1"/>
            </a:effectRef>
            <a:fontRef idx="minor">
              <a:schemeClr val="tx1"/>
            </a:fontRef>
          </p:style>
        </p:cxnSp>
      </p:grpSp>
      <p:cxnSp>
        <p:nvCxnSpPr>
          <p:cNvPr id="53" name="直接连接符 52">
            <a:extLst>
              <a:ext uri="{FF2B5EF4-FFF2-40B4-BE49-F238E27FC236}">
                <a16:creationId xmlns:a16="http://schemas.microsoft.com/office/drawing/2014/main" xmlns="" id="{94275FFE-3BE6-4C12-8737-FDFE3456C4A2}"/>
              </a:ext>
            </a:extLst>
          </p:cNvPr>
          <p:cNvCxnSpPr/>
          <p:nvPr/>
        </p:nvCxnSpPr>
        <p:spPr bwMode="gray">
          <a:xfrm>
            <a:off x="2992153" y="3345543"/>
            <a:ext cx="649714" cy="3419"/>
          </a:xfrm>
          <a:prstGeom prst="line">
            <a:avLst/>
          </a:prstGeom>
          <a:noFill/>
          <a:ln w="38100" cap="flat" cmpd="sng" algn="ctr">
            <a:solidFill>
              <a:srgbClr val="56C4D2"/>
            </a:solidFill>
            <a:prstDash val="solid"/>
            <a:headEnd type="none" w="med" len="med"/>
            <a:tailEnd type="triangle" w="med" len="med"/>
          </a:ln>
          <a:effectLst/>
        </p:spPr>
      </p:cxnSp>
      <p:cxnSp>
        <p:nvCxnSpPr>
          <p:cNvPr id="54" name="直接连接符 53">
            <a:extLst>
              <a:ext uri="{FF2B5EF4-FFF2-40B4-BE49-F238E27FC236}">
                <a16:creationId xmlns:a16="http://schemas.microsoft.com/office/drawing/2014/main" xmlns="" id="{94275FFE-3BE6-4C12-8737-FDFE3456C4A2}"/>
              </a:ext>
            </a:extLst>
          </p:cNvPr>
          <p:cNvCxnSpPr/>
          <p:nvPr/>
        </p:nvCxnSpPr>
        <p:spPr bwMode="gray">
          <a:xfrm flipH="1" flipV="1">
            <a:off x="3642255" y="2744470"/>
            <a:ext cx="331021" cy="328037"/>
          </a:xfrm>
          <a:prstGeom prst="line">
            <a:avLst/>
          </a:prstGeom>
          <a:noFill/>
          <a:ln w="38100" cap="flat" cmpd="sng" algn="ctr">
            <a:solidFill>
              <a:srgbClr val="56C4D2"/>
            </a:solidFill>
            <a:prstDash val="solid"/>
            <a:headEnd type="none" w="med" len="med"/>
            <a:tailEnd type="triangle" w="med" len="med"/>
          </a:ln>
          <a:effectLst/>
        </p:spPr>
      </p:cxnSp>
    </p:spTree>
    <p:extLst>
      <p:ext uri="{BB962C8B-B14F-4D97-AF65-F5344CB8AC3E}">
        <p14:creationId xmlns:p14="http://schemas.microsoft.com/office/powerpoint/2010/main" val="359852660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smtClean="0"/>
              <a:t>(</a:t>
            </a:r>
            <a:r>
              <a:rPr lang="zh-CN" altLang="en-US" dirty="0" smtClean="0"/>
              <a:t>单选题</a:t>
            </a:r>
            <a:r>
              <a:rPr lang="en-US" altLang="zh-CN" dirty="0" smtClean="0"/>
              <a:t>)</a:t>
            </a:r>
            <a:r>
              <a:rPr lang="zh-CN" altLang="en-US" dirty="0" smtClean="0"/>
              <a:t>命令“</a:t>
            </a:r>
            <a:r>
              <a:rPr lang="en-US" altLang="zh-CN" b="1" dirty="0" err="1" smtClean="0"/>
              <a:t>ip</a:t>
            </a:r>
            <a:r>
              <a:rPr lang="en-US" altLang="zh-CN" b="1" dirty="0" smtClean="0"/>
              <a:t> as-path-filter 1 permit ^(100|200)$</a:t>
            </a:r>
            <a:r>
              <a:rPr lang="zh-CN" altLang="en-US" dirty="0" smtClean="0"/>
              <a:t>”中匹配到的</a:t>
            </a:r>
            <a:r>
              <a:rPr lang="en-US" altLang="zh-CN" dirty="0" err="1" smtClean="0"/>
              <a:t>AS_Path</a:t>
            </a:r>
            <a:r>
              <a:rPr lang="zh-CN" altLang="en-US" dirty="0" smtClean="0"/>
              <a:t>是以下哪一选项？</a:t>
            </a:r>
            <a:r>
              <a:rPr lang="en-US" altLang="zh-CN" dirty="0" smtClean="0"/>
              <a:t>(     )</a:t>
            </a:r>
          </a:p>
          <a:p>
            <a:pPr lvl="1"/>
            <a:r>
              <a:rPr lang="en-US" altLang="zh-CN" dirty="0" err="1" smtClean="0"/>
              <a:t>AS_Path</a:t>
            </a:r>
            <a:r>
              <a:rPr lang="en-US" altLang="zh-CN" dirty="0" smtClean="0"/>
              <a:t> 100</a:t>
            </a:r>
          </a:p>
          <a:p>
            <a:pPr lvl="1"/>
            <a:r>
              <a:rPr lang="en-US" altLang="zh-CN" dirty="0" err="1" smtClean="0"/>
              <a:t>AS_Path</a:t>
            </a:r>
            <a:r>
              <a:rPr lang="en-US" altLang="zh-CN" dirty="0" smtClean="0"/>
              <a:t> 200</a:t>
            </a:r>
          </a:p>
          <a:p>
            <a:pPr lvl="1"/>
            <a:r>
              <a:rPr lang="en-US" altLang="zh-CN" dirty="0" err="1" smtClean="0"/>
              <a:t>AS_Path</a:t>
            </a:r>
            <a:r>
              <a:rPr lang="en-US" altLang="zh-CN" dirty="0" smtClean="0"/>
              <a:t> 100 200</a:t>
            </a:r>
          </a:p>
          <a:p>
            <a:pPr lvl="1"/>
            <a:r>
              <a:rPr lang="en-US" altLang="zh-CN" dirty="0" err="1" smtClean="0"/>
              <a:t>AS_Path</a:t>
            </a:r>
            <a:r>
              <a:rPr lang="en-US" altLang="zh-CN" dirty="0" smtClean="0"/>
              <a:t> 100 </a:t>
            </a:r>
            <a:r>
              <a:rPr lang="zh-CN" altLang="en-US" dirty="0" smtClean="0"/>
              <a:t>或 </a:t>
            </a:r>
            <a:r>
              <a:rPr lang="en-US" altLang="zh-CN" dirty="0" err="1" smtClean="0"/>
              <a:t>AS_Path</a:t>
            </a:r>
            <a:r>
              <a:rPr lang="en-US" altLang="zh-CN" dirty="0" smtClean="0"/>
              <a:t> 200</a:t>
            </a:r>
          </a:p>
        </p:txBody>
      </p:sp>
    </p:spTree>
    <p:extLst>
      <p:ext uri="{BB962C8B-B14F-4D97-AF65-F5344CB8AC3E}">
        <p14:creationId xmlns:p14="http://schemas.microsoft.com/office/powerpoint/2010/main" val="5773120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pPr>
              <a:buFont typeface="+mj-lt"/>
              <a:buAutoNum type="arabicPeriod" startAt="2"/>
            </a:pPr>
            <a:r>
              <a:rPr lang="en-US" altLang="zh-CN" dirty="0" smtClean="0"/>
              <a:t>(</a:t>
            </a:r>
            <a:r>
              <a:rPr lang="zh-CN" altLang="en-US" dirty="0" smtClean="0"/>
              <a:t>判断题</a:t>
            </a:r>
            <a:r>
              <a:rPr lang="en-US" altLang="zh-CN" dirty="0" smtClean="0"/>
              <a:t>)BGP</a:t>
            </a:r>
            <a:r>
              <a:rPr lang="zh-CN" altLang="en-US" dirty="0" smtClean="0"/>
              <a:t>的</a:t>
            </a:r>
            <a:r>
              <a:rPr lang="en-US" altLang="zh-CN" dirty="0" smtClean="0"/>
              <a:t>GTSM</a:t>
            </a:r>
            <a:r>
              <a:rPr lang="zh-CN" altLang="en-US" dirty="0" smtClean="0"/>
              <a:t>功能，可以预防非法</a:t>
            </a:r>
            <a:r>
              <a:rPr lang="en-US" altLang="zh-CN" dirty="0" smtClean="0"/>
              <a:t>BGP</a:t>
            </a:r>
            <a:r>
              <a:rPr lang="zh-CN" altLang="en-US" dirty="0" smtClean="0"/>
              <a:t>邻居建立。</a:t>
            </a:r>
            <a:r>
              <a:rPr lang="en-US" altLang="zh-CN" dirty="0" smtClean="0"/>
              <a:t>(     )</a:t>
            </a:r>
          </a:p>
          <a:p>
            <a:pPr lvl="1"/>
            <a:r>
              <a:rPr lang="zh-CN" altLang="en-US" dirty="0" smtClean="0"/>
              <a:t>正确</a:t>
            </a:r>
            <a:endParaRPr lang="en-US" altLang="zh-CN" dirty="0" smtClean="0"/>
          </a:p>
          <a:p>
            <a:pPr lvl="1"/>
            <a:r>
              <a:rPr lang="zh-CN" altLang="en-US" dirty="0"/>
              <a:t>错误</a:t>
            </a:r>
            <a:endParaRPr lang="en-US" altLang="zh-CN" dirty="0"/>
          </a:p>
          <a:p>
            <a:pPr>
              <a:buAutoNum type="arabicPeriod" startAt="2"/>
            </a:pPr>
            <a:r>
              <a:rPr lang="en-US" altLang="zh-CN" dirty="0" smtClean="0"/>
              <a:t>(</a:t>
            </a:r>
            <a:r>
              <a:rPr lang="zh-CN" altLang="en-US" dirty="0" smtClean="0"/>
              <a:t>判断题</a:t>
            </a:r>
            <a:r>
              <a:rPr lang="en-US" altLang="zh-CN" dirty="0" smtClean="0"/>
              <a:t>)BGP</a:t>
            </a:r>
            <a:r>
              <a:rPr lang="zh-CN" altLang="en-US" dirty="0" smtClean="0"/>
              <a:t>的备份</a:t>
            </a:r>
            <a:r>
              <a:rPr lang="en-US" altLang="zh-CN" dirty="0" smtClean="0"/>
              <a:t>RR</a:t>
            </a:r>
            <a:r>
              <a:rPr lang="zh-CN" altLang="en-US" dirty="0" smtClean="0"/>
              <a:t>组网中，主备</a:t>
            </a:r>
            <a:r>
              <a:rPr lang="en-US" altLang="zh-CN" dirty="0" smtClean="0"/>
              <a:t>RR</a:t>
            </a:r>
            <a:r>
              <a:rPr lang="zh-CN" altLang="en-US" dirty="0" smtClean="0"/>
              <a:t>收到对方反射的路由会丢弃，避免路由环路。</a:t>
            </a:r>
            <a:r>
              <a:rPr lang="en-US" altLang="zh-CN" dirty="0" smtClean="0"/>
              <a:t>(     )</a:t>
            </a:r>
          </a:p>
          <a:p>
            <a:pPr lvl="1"/>
            <a:r>
              <a:rPr lang="zh-CN" altLang="en-US" dirty="0" smtClean="0"/>
              <a:t>正确</a:t>
            </a:r>
            <a:endParaRPr lang="en-US" altLang="zh-CN" dirty="0" smtClean="0"/>
          </a:p>
          <a:p>
            <a:pPr lvl="1"/>
            <a:r>
              <a:rPr lang="zh-CN" altLang="en-US" dirty="0"/>
              <a:t>错误</a:t>
            </a:r>
            <a:endParaRPr lang="en-US" altLang="zh-CN" dirty="0"/>
          </a:p>
        </p:txBody>
      </p:sp>
    </p:spTree>
    <p:extLst>
      <p:ext uri="{BB962C8B-B14F-4D97-AF65-F5344CB8AC3E}">
        <p14:creationId xmlns:p14="http://schemas.microsoft.com/office/powerpoint/2010/main" val="158571711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en-US" altLang="zh-CN" sz="2000" dirty="0" err="1" smtClean="0"/>
              <a:t>AS_Path</a:t>
            </a:r>
            <a:r>
              <a:rPr lang="en-US" altLang="zh-CN" sz="2000" dirty="0" smtClean="0"/>
              <a:t> Filter</a:t>
            </a:r>
            <a:r>
              <a:rPr lang="zh-CN" altLang="en-US" sz="2000" dirty="0" smtClean="0"/>
              <a:t>和</a:t>
            </a:r>
            <a:r>
              <a:rPr lang="en-US" altLang="zh-CN" sz="2000" dirty="0" smtClean="0"/>
              <a:t>Community Filter</a:t>
            </a:r>
            <a:r>
              <a:rPr lang="zh-CN" altLang="en-US" sz="2000" dirty="0" smtClean="0"/>
              <a:t>都是</a:t>
            </a:r>
            <a:r>
              <a:rPr lang="en-US" altLang="zh-CN" sz="2000" dirty="0" smtClean="0"/>
              <a:t>BGP</a:t>
            </a:r>
            <a:r>
              <a:rPr lang="zh-CN" altLang="en-US" sz="2000" dirty="0" smtClean="0"/>
              <a:t>专有的路由匹配工具，可以使用这两种工具匹配</a:t>
            </a:r>
            <a:r>
              <a:rPr lang="en-US" altLang="zh-CN" sz="2000" dirty="0" err="1" smtClean="0"/>
              <a:t>AS_Path</a:t>
            </a:r>
            <a:r>
              <a:rPr lang="zh-CN" altLang="en-US" sz="2000" dirty="0" smtClean="0"/>
              <a:t>属性或</a:t>
            </a:r>
            <a:r>
              <a:rPr lang="en-US" altLang="zh-CN" sz="2000" dirty="0" smtClean="0"/>
              <a:t>Community</a:t>
            </a:r>
            <a:r>
              <a:rPr lang="zh-CN" altLang="en-US" sz="2000" dirty="0" smtClean="0"/>
              <a:t>属性来匹配</a:t>
            </a:r>
            <a:r>
              <a:rPr lang="en-US" altLang="zh-CN" sz="2000" dirty="0" smtClean="0"/>
              <a:t>BGP</a:t>
            </a:r>
            <a:r>
              <a:rPr lang="zh-CN" altLang="en-US" sz="2000" dirty="0" smtClean="0"/>
              <a:t>路由，再与路由策略相结合，从而实现</a:t>
            </a:r>
            <a:r>
              <a:rPr lang="en-US" altLang="zh-CN" sz="2000" dirty="0" smtClean="0"/>
              <a:t>BGP</a:t>
            </a:r>
            <a:r>
              <a:rPr lang="zh-CN" altLang="en-US" sz="2000" dirty="0" smtClean="0"/>
              <a:t>的路由控制。</a:t>
            </a:r>
            <a:endParaRPr lang="en-US" altLang="zh-CN" sz="2000" dirty="0" smtClean="0"/>
          </a:p>
          <a:p>
            <a:r>
              <a:rPr lang="en-US" altLang="zh-CN" sz="2000" dirty="0" smtClean="0"/>
              <a:t>BGP</a:t>
            </a:r>
            <a:r>
              <a:rPr lang="zh-CN" altLang="en-US" sz="2000" dirty="0" smtClean="0"/>
              <a:t>还支持各种高级特性，包括：通过</a:t>
            </a:r>
            <a:r>
              <a:rPr lang="en-US" altLang="zh-CN" sz="2000" dirty="0" smtClean="0"/>
              <a:t>ORF</a:t>
            </a:r>
            <a:r>
              <a:rPr lang="zh-CN" altLang="en-US" sz="2000" dirty="0" smtClean="0"/>
              <a:t>功能实现邻居按需发布路由，通过对等体组简化配置，通过</a:t>
            </a:r>
            <a:r>
              <a:rPr lang="en-US" altLang="zh-CN" sz="2000" dirty="0" smtClean="0"/>
              <a:t>BGP</a:t>
            </a:r>
            <a:r>
              <a:rPr lang="zh-CN" altLang="en-US" sz="2000" dirty="0" smtClean="0"/>
              <a:t>安全特性预防非法邻居建立以及非法</a:t>
            </a:r>
            <a:r>
              <a:rPr lang="en-US" altLang="zh-CN" sz="2000" dirty="0" smtClean="0"/>
              <a:t>BGP</a:t>
            </a:r>
            <a:r>
              <a:rPr lang="zh-CN" altLang="en-US" sz="2000" dirty="0" smtClean="0"/>
              <a:t>报文攻击，通过支持</a:t>
            </a:r>
            <a:r>
              <a:rPr lang="en-US" altLang="zh-CN" sz="2000" dirty="0" smtClean="0"/>
              <a:t>4</a:t>
            </a:r>
            <a:r>
              <a:rPr lang="zh-CN" altLang="en-US" sz="2000" dirty="0" smtClean="0"/>
              <a:t>字节</a:t>
            </a:r>
            <a:r>
              <a:rPr lang="en-US" altLang="zh-CN" sz="2000" dirty="0" smtClean="0"/>
              <a:t>AS</a:t>
            </a:r>
            <a:r>
              <a:rPr lang="zh-CN" altLang="en-US" sz="2000" dirty="0" smtClean="0"/>
              <a:t>号满足未来网络扩展的需求。</a:t>
            </a:r>
            <a:endParaRPr lang="en-US" altLang="zh-CN" sz="2000" dirty="0" smtClean="0"/>
          </a:p>
          <a:p>
            <a:r>
              <a:rPr lang="en-US" altLang="zh-CN" sz="2000" dirty="0" smtClean="0"/>
              <a:t>BGP</a:t>
            </a:r>
            <a:r>
              <a:rPr lang="zh-CN" altLang="en-US" sz="2000" dirty="0" smtClean="0"/>
              <a:t>通过</a:t>
            </a:r>
            <a:r>
              <a:rPr lang="en-US" altLang="zh-CN" sz="2000" dirty="0" smtClean="0"/>
              <a:t>RR</a:t>
            </a:r>
            <a:r>
              <a:rPr lang="zh-CN" altLang="en-US" sz="2000" dirty="0" smtClean="0"/>
              <a:t>打破了</a:t>
            </a:r>
            <a:r>
              <a:rPr lang="en-US" altLang="zh-CN" sz="2000" dirty="0" smtClean="0"/>
              <a:t>IBGP</a:t>
            </a:r>
            <a:r>
              <a:rPr lang="zh-CN" altLang="en-US" sz="2000" dirty="0" smtClean="0"/>
              <a:t>水平分割规则，简化了</a:t>
            </a:r>
            <a:r>
              <a:rPr lang="en-US" altLang="zh-CN" sz="2000" dirty="0" smtClean="0"/>
              <a:t>IBGP</a:t>
            </a:r>
            <a:r>
              <a:rPr lang="zh-CN" altLang="en-US" sz="2000" dirty="0" smtClean="0"/>
              <a:t>全互联的需求，也减轻了网络和</a:t>
            </a:r>
            <a:r>
              <a:rPr lang="en-US" altLang="zh-CN" sz="2000" dirty="0" smtClean="0"/>
              <a:t>CPU</a:t>
            </a:r>
            <a:r>
              <a:rPr lang="zh-CN" altLang="en-US" sz="2000" dirty="0" smtClean="0"/>
              <a:t>的负担。常见的</a:t>
            </a:r>
            <a:r>
              <a:rPr lang="en-US" altLang="zh-CN" sz="2000" dirty="0" smtClean="0"/>
              <a:t>RR</a:t>
            </a:r>
            <a:r>
              <a:rPr lang="zh-CN" altLang="en-US" sz="2000" dirty="0" smtClean="0"/>
              <a:t>组网方式包括：备份</a:t>
            </a:r>
            <a:r>
              <a:rPr lang="en-US" altLang="zh-CN" sz="2000" dirty="0" smtClean="0"/>
              <a:t>RR</a:t>
            </a:r>
            <a:r>
              <a:rPr lang="zh-CN" altLang="en-US" sz="2000" dirty="0" smtClean="0"/>
              <a:t>组网和多集群</a:t>
            </a:r>
            <a:r>
              <a:rPr lang="en-US" altLang="zh-CN" sz="2000" dirty="0" smtClean="0"/>
              <a:t>RR</a:t>
            </a:r>
            <a:r>
              <a:rPr lang="zh-CN" altLang="en-US" sz="2000" dirty="0" smtClean="0"/>
              <a:t>组网。</a:t>
            </a:r>
            <a:endParaRPr lang="zh-CN" altLang="en-US" sz="2000" dirty="0"/>
          </a:p>
        </p:txBody>
      </p:sp>
    </p:spTree>
    <p:extLst>
      <p:ext uri="{BB962C8B-B14F-4D97-AF65-F5344CB8AC3E}">
        <p14:creationId xmlns:p14="http://schemas.microsoft.com/office/powerpoint/2010/main" val="383413469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63522278"/>
      </p:ext>
    </p:extLst>
  </p:cSld>
  <p:clrMapOvr>
    <a:masterClrMapping/>
  </p:clrMapOvr>
  <p:timing>
    <p:tnLst>
      <p:par>
        <p:cTn id="1" dur="indefinite" restart="never" nodeType="tmRoot"/>
      </p:par>
    </p:tnLst>
  </p:timing>
</p:sld>
</file>

<file path=ppt/theme/theme1.xml><?xml version="1.0" encoding="utf-8"?>
<a:theme xmlns:a="http://schemas.openxmlformats.org/drawingml/2006/main" name="2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功能页模板">
  <a:themeElements>
    <a:clrScheme name="自定义 2">
      <a:dk1>
        <a:sysClr val="windowText" lastClr="000000"/>
      </a:dk1>
      <a:lt1>
        <a:sysClr val="window" lastClr="FFFFFF"/>
      </a:lt1>
      <a:dk2>
        <a:srgbClr val="44546A"/>
      </a:dk2>
      <a:lt2>
        <a:srgbClr val="E7E6E6"/>
      </a:lt2>
      <a:accent1>
        <a:srgbClr val="C7000B"/>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1" ma:contentTypeDescription="Create a new document." ma:contentTypeScope="" ma:versionID="fd4f534fc22f1d982cc2e0e62ad2af45">
  <xsd:schema xmlns:xsd="http://www.w3.org/2001/XMLSchema" xmlns:xs="http://www.w3.org/2001/XMLSchema" xmlns:p="http://schemas.microsoft.com/office/2006/metadata/properties" xmlns:ns2="475f1e55-3009-46d8-9566-5d569a2b3a98" targetNamespace="http://schemas.microsoft.com/office/2006/metadata/properties" ma:root="true" ma:fieldsID="1d095aabec1d15598815726bd4b054a7"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A5960F2-6186-408B-A0DC-5CA5E58B604F}">
  <ds:schemaRefs>
    <ds:schemaRef ds:uri="http://purl.org/dc/terms/"/>
    <ds:schemaRef ds:uri="http://schemas.openxmlformats.org/package/2006/metadata/core-properties"/>
    <ds:schemaRef ds:uri="http://purl.org/dc/dcmitype/"/>
    <ds:schemaRef ds:uri="http://schemas.microsoft.com/office/2006/documentManagement/types"/>
    <ds:schemaRef ds:uri="http://purl.org/dc/elements/1.1/"/>
    <ds:schemaRef ds:uri="http://schemas.microsoft.com/office/2006/metadata/properties"/>
    <ds:schemaRef ds:uri="http://www.w3.org/XML/1998/namespace"/>
    <ds:schemaRef ds:uri="http://schemas.microsoft.com/office/infopath/2007/PartnerControls"/>
    <ds:schemaRef ds:uri="475f1e55-3009-46d8-9566-5d569a2b3a98"/>
  </ds:schemaRefs>
</ds:datastoreItem>
</file>

<file path=customXml/itemProps2.xml><?xml version="1.0" encoding="utf-8"?>
<ds:datastoreItem xmlns:ds="http://schemas.openxmlformats.org/officeDocument/2006/customXml" ds:itemID="{46117B8E-3072-4CE2-B701-D5890F89BABC}"/>
</file>

<file path=customXml/itemProps3.xml><?xml version="1.0" encoding="utf-8"?>
<ds:datastoreItem xmlns:ds="http://schemas.openxmlformats.org/officeDocument/2006/customXml" ds:itemID="{FEDE263F-0510-4442-823E-69B63ECB61E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2256</TotalTime>
  <Words>10446</Words>
  <Application>Microsoft Office PowerPoint</Application>
  <PresentationFormat>宽屏</PresentationFormat>
  <Paragraphs>1557</Paragraphs>
  <Slides>60</Slides>
  <Notes>60</Notes>
  <HiddenSlides>2</HiddenSlides>
  <MMClips>0</MMClips>
  <ScaleCrop>false</ScaleCrop>
  <HeadingPairs>
    <vt:vector size="6" baseType="variant">
      <vt:variant>
        <vt:lpstr>已用的字体</vt:lpstr>
      </vt:variant>
      <vt:variant>
        <vt:i4>8</vt:i4>
      </vt:variant>
      <vt:variant>
        <vt:lpstr>主题</vt:lpstr>
      </vt:variant>
      <vt:variant>
        <vt:i4>4</vt:i4>
      </vt:variant>
      <vt:variant>
        <vt:lpstr>幻灯片标题</vt:lpstr>
      </vt:variant>
      <vt:variant>
        <vt:i4>60</vt:i4>
      </vt:variant>
    </vt:vector>
  </HeadingPairs>
  <TitlesOfParts>
    <vt:vector size="72" baseType="lpstr">
      <vt:lpstr>方正兰亭黑简体</vt:lpstr>
      <vt:lpstr>Microsoft YaHei</vt:lpstr>
      <vt:lpstr>Microsoft YaHei</vt:lpstr>
      <vt:lpstr>Arial</vt:lpstr>
      <vt:lpstr>Courier New</vt:lpstr>
      <vt:lpstr>Huawei Sans</vt:lpstr>
      <vt:lpstr>Times New Roman</vt:lpstr>
      <vt:lpstr>Wingdings</vt:lpstr>
      <vt:lpstr>2_标题页模板</vt:lpstr>
      <vt:lpstr>3_功能页模板</vt:lpstr>
      <vt:lpstr>4_内容页模板</vt:lpstr>
      <vt:lpstr>5_感谢页模板</vt:lpstr>
      <vt:lpstr>PowerPoint 演示文稿</vt:lpstr>
      <vt:lpstr>BGP高级特性</vt:lpstr>
      <vt:lpstr>PowerPoint 演示文稿</vt:lpstr>
      <vt:lpstr>PowerPoint 演示文稿</vt:lpstr>
      <vt:lpstr>PowerPoint 演示文稿</vt:lpstr>
      <vt:lpstr>BGP路由控制概述</vt:lpstr>
      <vt:lpstr>正则表达式</vt:lpstr>
      <vt:lpstr>特殊字符举例 (1)</vt:lpstr>
      <vt:lpstr>特殊字符举例 (2)</vt:lpstr>
      <vt:lpstr>路由匹配工具：AS_Path Filter</vt:lpstr>
      <vt:lpstr>使用正则表达式匹配AS_Path</vt:lpstr>
      <vt:lpstr>AS_Path Filter的基础配置命令</vt:lpstr>
      <vt:lpstr>AS_Path Filter的配置举例 (1)</vt:lpstr>
      <vt:lpstr>AS_Path Filter的配置举例 (2)</vt:lpstr>
      <vt:lpstr>查看AS_Path Filter相关信息</vt:lpstr>
      <vt:lpstr>路由匹配工具：Community Filter</vt:lpstr>
      <vt:lpstr>Community属性</vt:lpstr>
      <vt:lpstr>设置Community的基础配置命令</vt:lpstr>
      <vt:lpstr>Community Filter的基础配置命令</vt:lpstr>
      <vt:lpstr>PowerPoint 演示文稿</vt:lpstr>
      <vt:lpstr>Community Filter的配置举例</vt:lpstr>
      <vt:lpstr>配置Community属性 (1)</vt:lpstr>
      <vt:lpstr>配置Community属性 (2)</vt:lpstr>
      <vt:lpstr>配置Community属性 (3)</vt:lpstr>
      <vt:lpstr>配置Community Filter (1)</vt:lpstr>
      <vt:lpstr>配置Community Filter (2)</vt:lpstr>
      <vt:lpstr>配置Community Filter (3)</vt:lpstr>
      <vt:lpstr>PowerPoint 演示文稿</vt:lpstr>
      <vt:lpstr>邻居按需发布路由</vt:lpstr>
      <vt:lpstr>ORF的基础配置命令</vt:lpstr>
      <vt:lpstr>ORF配置举例</vt:lpstr>
      <vt:lpstr>查看ORF配置</vt:lpstr>
      <vt:lpstr>BGP对等体组</vt:lpstr>
      <vt:lpstr>BGP对等体组的基础配置命令</vt:lpstr>
      <vt:lpstr>BGP对等体组配置举例</vt:lpstr>
      <vt:lpstr>查看BGP对等体组配置</vt:lpstr>
      <vt:lpstr>BGP安全性</vt:lpstr>
      <vt:lpstr>BGP认证</vt:lpstr>
      <vt:lpstr>BGP的GTSM</vt:lpstr>
      <vt:lpstr>BGP认证的基础配置命令</vt:lpstr>
      <vt:lpstr>GTSM功能的基础配置命令</vt:lpstr>
      <vt:lpstr>GTSM配置举例 (1)</vt:lpstr>
      <vt:lpstr>GTSM配置举例 (2)</vt:lpstr>
      <vt:lpstr>查看GTSM配置</vt:lpstr>
      <vt:lpstr>4字节AS号</vt:lpstr>
      <vt:lpstr>携带4字节AS号的Open消息</vt:lpstr>
      <vt:lpstr>4字节AS号的基本原理</vt:lpstr>
      <vt:lpstr>4字节AS号的路由信息传递</vt:lpstr>
      <vt:lpstr>4字节AS号的配置</vt:lpstr>
      <vt:lpstr>PowerPoint 演示文稿</vt:lpstr>
      <vt:lpstr>路由反射器</vt:lpstr>
      <vt:lpstr>常见组网：备份RR组网</vt:lpstr>
      <vt:lpstr>常见组网：多集群RR组网 (1)</vt:lpstr>
      <vt:lpstr>常见组网：多集群RR组网 (2)</vt:lpstr>
      <vt:lpstr>单集群问题</vt:lpstr>
      <vt:lpstr>多集群设计</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luyueyuezjhw</cp:lastModifiedBy>
  <cp:revision>449</cp:revision>
  <cp:lastPrinted>2020-07-31T09:33:18Z</cp:lastPrinted>
  <dcterms:created xsi:type="dcterms:W3CDTF">2018-11-29T10:16:29Z</dcterms:created>
  <dcterms:modified xsi:type="dcterms:W3CDTF">2021-10-13T07:42:24Z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(3)lY8dU7t9fxFT/J/zdKJ0qN7PxoZyPdD39Ew0OjvFVI9Ux9PxRRjkItVVKAI76N29H+eBL/je
EDET4Sl0vL5AGnGiVr7s+J6Ifsv73QDZ0cFIFwEEnU5UPBih0vMiiitEtlKku9OfUb85n14A
S9/L2txI0dIyzH+p+twzS5J3ecgGS/O1/pfwG09ZuG40IE2leXT8mJiJ11TRllWkED9MydRL
S9BYwUVBobb0F56LLd</vt:lpwstr>
  </property>
  <property fmtid="{D5CDD505-2E9C-101B-9397-08002B2CF9AE}" pid="3" name="_2015_ms_pID_7253431">
    <vt:lpwstr>lGIFG+Kq6hqquxAEaBML3yx7xpuW+Eth2siLjAb5Fl5+GQFfQWbo7+
PKQIWZvOwckw967Wwd5+/wPg3L1+3femqJCsJRBSZnZEgd8g8HTHgWpFw3TWtU4syQJvHG1U
zQ8QV4WOJ/Dl4nUPfInHm4s7nftc1pNXdPHBCwa5frvcu9poTho0aPP/+/MHXIu3a0nr3pST
3oT/b/QqF1VxXoMAQ3fIY+TzkwesXU1/zVfc</vt:lpwstr>
  </property>
  <property fmtid="{D5CDD505-2E9C-101B-9397-08002B2CF9AE}" pid="4" name="_2015_ms_pID_7253432">
    <vt:lpwstr>9ayH8tmfw+Ewd2qQN7uWzpY=</vt:lpwstr>
  </property>
  <property fmtid="{D5CDD505-2E9C-101B-9397-08002B2CF9AE}" pid="5" name="ContentTypeId">
    <vt:lpwstr>0x01010002C5B4B712841F4C8A7AAEE2CD191271</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1634024950</vt:lpwstr>
  </property>
</Properties>
</file>