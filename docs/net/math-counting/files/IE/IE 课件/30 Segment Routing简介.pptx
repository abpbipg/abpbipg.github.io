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0" r:id="rId3"/>
    <p:sldMasterId id="2147483661" r:id="rId4"/>
    <p:sldMasterId id="2147483667" r:id="rId5"/>
  </p:sldMasterIdLst>
  <p:notesMasterIdLst>
    <p:notesMasterId r:id="rId7"/>
  </p:notesMasterIdLst>
  <p:handoutMasterIdLst>
    <p:handoutMasterId r:id="rId129"/>
  </p:handoutMasterIdLst>
  <p:sldIdLst>
    <p:sldId id="256" r:id="rId6"/>
    <p:sldId id="273" r:id="rId8"/>
    <p:sldId id="274" r:id="rId9"/>
    <p:sldId id="275" r:id="rId10"/>
    <p:sldId id="276" r:id="rId11"/>
    <p:sldId id="277" r:id="rId12"/>
    <p:sldId id="279" r:id="rId13"/>
    <p:sldId id="280" r:id="rId14"/>
    <p:sldId id="281" r:id="rId15"/>
    <p:sldId id="282" r:id="rId16"/>
    <p:sldId id="283" r:id="rId17"/>
    <p:sldId id="318" r:id="rId18"/>
    <p:sldId id="319" r:id="rId19"/>
    <p:sldId id="320" r:id="rId20"/>
    <p:sldId id="313" r:id="rId21"/>
    <p:sldId id="321" r:id="rId22"/>
    <p:sldId id="284" r:id="rId23"/>
    <p:sldId id="425" r:id="rId24"/>
    <p:sldId id="285" r:id="rId25"/>
    <p:sldId id="286" r:id="rId26"/>
    <p:sldId id="417" r:id="rId27"/>
    <p:sldId id="418" r:id="rId28"/>
    <p:sldId id="344" r:id="rId29"/>
    <p:sldId id="385" r:id="rId30"/>
    <p:sldId id="287" r:id="rId31"/>
    <p:sldId id="333" r:id="rId32"/>
    <p:sldId id="288" r:id="rId33"/>
    <p:sldId id="289" r:id="rId34"/>
    <p:sldId id="290" r:id="rId35"/>
    <p:sldId id="291" r:id="rId36"/>
    <p:sldId id="294" r:id="rId37"/>
    <p:sldId id="295" r:id="rId38"/>
    <p:sldId id="316" r:id="rId39"/>
    <p:sldId id="293" r:id="rId40"/>
    <p:sldId id="317" r:id="rId41"/>
    <p:sldId id="422" r:id="rId42"/>
    <p:sldId id="423" r:id="rId43"/>
    <p:sldId id="424" r:id="rId44"/>
    <p:sldId id="327" r:id="rId45"/>
    <p:sldId id="328" r:id="rId46"/>
    <p:sldId id="330" r:id="rId47"/>
    <p:sldId id="331" r:id="rId48"/>
    <p:sldId id="332" r:id="rId49"/>
    <p:sldId id="334" r:id="rId50"/>
    <p:sldId id="335" r:id="rId51"/>
    <p:sldId id="297" r:id="rId52"/>
    <p:sldId id="336" r:id="rId53"/>
    <p:sldId id="298" r:id="rId54"/>
    <p:sldId id="343" r:id="rId55"/>
    <p:sldId id="339" r:id="rId56"/>
    <p:sldId id="342" r:id="rId57"/>
    <p:sldId id="346" r:id="rId58"/>
    <p:sldId id="347" r:id="rId59"/>
    <p:sldId id="340" r:id="rId60"/>
    <p:sldId id="349" r:id="rId61"/>
    <p:sldId id="348" r:id="rId62"/>
    <p:sldId id="352" r:id="rId63"/>
    <p:sldId id="353" r:id="rId64"/>
    <p:sldId id="354" r:id="rId65"/>
    <p:sldId id="355" r:id="rId66"/>
    <p:sldId id="341" r:id="rId67"/>
    <p:sldId id="357" r:id="rId68"/>
    <p:sldId id="323" r:id="rId69"/>
    <p:sldId id="338" r:id="rId70"/>
    <p:sldId id="358" r:id="rId71"/>
    <p:sldId id="359" r:id="rId72"/>
    <p:sldId id="360" r:id="rId73"/>
    <p:sldId id="361" r:id="rId74"/>
    <p:sldId id="362" r:id="rId75"/>
    <p:sldId id="363" r:id="rId76"/>
    <p:sldId id="365" r:id="rId77"/>
    <p:sldId id="379" r:id="rId78"/>
    <p:sldId id="366" r:id="rId79"/>
    <p:sldId id="367" r:id="rId80"/>
    <p:sldId id="368" r:id="rId81"/>
    <p:sldId id="369" r:id="rId82"/>
    <p:sldId id="370" r:id="rId83"/>
    <p:sldId id="371" r:id="rId84"/>
    <p:sldId id="372" r:id="rId85"/>
    <p:sldId id="374" r:id="rId86"/>
    <p:sldId id="373" r:id="rId87"/>
    <p:sldId id="384" r:id="rId88"/>
    <p:sldId id="391" r:id="rId89"/>
    <p:sldId id="324" r:id="rId90"/>
    <p:sldId id="301" r:id="rId91"/>
    <p:sldId id="376" r:id="rId92"/>
    <p:sldId id="377" r:id="rId93"/>
    <p:sldId id="392" r:id="rId94"/>
    <p:sldId id="378" r:id="rId95"/>
    <p:sldId id="390" r:id="rId96"/>
    <p:sldId id="325" r:id="rId97"/>
    <p:sldId id="306" r:id="rId98"/>
    <p:sldId id="393" r:id="rId99"/>
    <p:sldId id="427" r:id="rId100"/>
    <p:sldId id="394" r:id="rId101"/>
    <p:sldId id="396" r:id="rId102"/>
    <p:sldId id="395" r:id="rId103"/>
    <p:sldId id="398" r:id="rId104"/>
    <p:sldId id="399" r:id="rId105"/>
    <p:sldId id="400" r:id="rId106"/>
    <p:sldId id="401" r:id="rId107"/>
    <p:sldId id="402" r:id="rId108"/>
    <p:sldId id="428" r:id="rId109"/>
    <p:sldId id="403" r:id="rId110"/>
    <p:sldId id="429" r:id="rId111"/>
    <p:sldId id="404" r:id="rId112"/>
    <p:sldId id="405" r:id="rId113"/>
    <p:sldId id="406" r:id="rId114"/>
    <p:sldId id="407" r:id="rId115"/>
    <p:sldId id="408" r:id="rId116"/>
    <p:sldId id="409" r:id="rId117"/>
    <p:sldId id="410" r:id="rId118"/>
    <p:sldId id="411" r:id="rId119"/>
    <p:sldId id="431" r:id="rId120"/>
    <p:sldId id="412" r:id="rId121"/>
    <p:sldId id="432" r:id="rId122"/>
    <p:sldId id="414" r:id="rId123"/>
    <p:sldId id="415" r:id="rId124"/>
    <p:sldId id="416" r:id="rId125"/>
    <p:sldId id="265" r:id="rId126"/>
    <p:sldId id="267" r:id="rId127"/>
    <p:sldId id="270" r:id="rId128"/>
  </p:sldIdLst>
  <p:sldSz cx="12192000" cy="6858000"/>
  <p:notesSz cx="7010400" cy="9296400"/>
  <p:custDataLst>
    <p:tags r:id="rId13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changlizjhw (Richard)" initials="W(" lastIdx="20" clrIdx="0"/>
  <p:cmAuthor id="2" name="hejunjianzjhw" initials="h" lastIdx="54" clrIdx="1"/>
  <p:cmAuthor id="3" name="luyueyuezjhw" initials="l" lastIdx="25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E28189"/>
    <a:srgbClr val="C7000B"/>
    <a:srgbClr val="30B5C5"/>
    <a:srgbClr val="56C4D2"/>
    <a:srgbClr val="D0E8C4"/>
    <a:srgbClr val="FCC800"/>
    <a:srgbClr val="BEE9EE"/>
    <a:srgbClr val="FF0066"/>
    <a:srgbClr val="94DA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03" autoAdjust="0"/>
    <p:restoredTop sz="95267" autoAdjust="0"/>
  </p:normalViewPr>
  <p:slideViewPr>
    <p:cSldViewPr snapToGrid="0" snapToObjects="1">
      <p:cViewPr varScale="1">
        <p:scale>
          <a:sx n="85" d="100"/>
          <a:sy n="85" d="100"/>
        </p:scale>
        <p:origin x="40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3" d="100"/>
          <a:sy n="83" d="100"/>
        </p:scale>
        <p:origin x="2982" y="102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3.xml"/><Relationship Id="rId98" Type="http://schemas.openxmlformats.org/officeDocument/2006/relationships/slide" Target="slides/slide92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" Type="http://schemas.openxmlformats.org/officeDocument/2006/relationships/slide" Target="slides/slide3.xml"/><Relationship Id="rId89" Type="http://schemas.openxmlformats.org/officeDocument/2006/relationships/slide" Target="slides/slide83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80" Type="http://schemas.openxmlformats.org/officeDocument/2006/relationships/slide" Target="slides/slide74.xml"/><Relationship Id="rId8" Type="http://schemas.openxmlformats.org/officeDocument/2006/relationships/slide" Target="slides/slide2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3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0" Type="http://schemas.openxmlformats.org/officeDocument/2006/relationships/slide" Target="slides/slide54.xml"/><Relationship Id="rId6" Type="http://schemas.openxmlformats.org/officeDocument/2006/relationships/slide" Target="slides/slide1.xml"/><Relationship Id="rId59" Type="http://schemas.openxmlformats.org/officeDocument/2006/relationships/slide" Target="slides/slide53.xml"/><Relationship Id="rId58" Type="http://schemas.openxmlformats.org/officeDocument/2006/relationships/slide" Target="slides/slide52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7" Type="http://schemas.openxmlformats.org/officeDocument/2006/relationships/tags" Target="tags/tag33.xml"/><Relationship Id="rId136" Type="http://schemas.openxmlformats.org/officeDocument/2006/relationships/customXml" Target="../customXml/item3.xml"/><Relationship Id="rId135" Type="http://schemas.openxmlformats.org/officeDocument/2006/relationships/customXml" Target="../customXml/item2.xml"/><Relationship Id="rId134" Type="http://schemas.openxmlformats.org/officeDocument/2006/relationships/customXml" Target="../customXml/item1.xml"/><Relationship Id="rId133" Type="http://schemas.openxmlformats.org/officeDocument/2006/relationships/commentAuthors" Target="commentAuthors.xml"/><Relationship Id="rId132" Type="http://schemas.openxmlformats.org/officeDocument/2006/relationships/tableStyles" Target="tableStyles.xml"/><Relationship Id="rId131" Type="http://schemas.openxmlformats.org/officeDocument/2006/relationships/viewProps" Target="viewProps.xml"/><Relationship Id="rId130" Type="http://schemas.openxmlformats.org/officeDocument/2006/relationships/presProps" Target="presProps.xml"/><Relationship Id="rId13" Type="http://schemas.openxmlformats.org/officeDocument/2006/relationships/slide" Target="slides/slide7.xml"/><Relationship Id="rId129" Type="http://schemas.openxmlformats.org/officeDocument/2006/relationships/handoutMaster" Target="handoutMasters/handoutMaster1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125" Type="http://schemas.openxmlformats.org/officeDocument/2006/relationships/slide" Target="slides/slide119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121" Type="http://schemas.openxmlformats.org/officeDocument/2006/relationships/slide" Target="slides/slide115.xml"/><Relationship Id="rId120" Type="http://schemas.openxmlformats.org/officeDocument/2006/relationships/slide" Target="slides/slide114.xml"/><Relationship Id="rId12" Type="http://schemas.openxmlformats.org/officeDocument/2006/relationships/slide" Target="slides/slide6.xml"/><Relationship Id="rId119" Type="http://schemas.openxmlformats.org/officeDocument/2006/relationships/slide" Target="slides/slide113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4" Type="http://schemas.openxmlformats.org/officeDocument/2006/relationships/slide" Target="slides/slide108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110" Type="http://schemas.openxmlformats.org/officeDocument/2006/relationships/slide" Target="slides/slide104.xml"/><Relationship Id="rId11" Type="http://schemas.openxmlformats.org/officeDocument/2006/relationships/slide" Target="slides/slide5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</a:fld>
            <a:endParaRPr lang="en-US" dirty="0">
              <a:latin typeface="Huawei Sans" panose="020C0503030203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79705" indent="-179705" algn="l" defTabSz="1219200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39750" indent="-179705" algn="l" defTabSz="1219200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899795" indent="-179705" algn="l" defTabSz="1219200" rtl="0" eaLnBrk="1" fontAlgn="ctr" latinLnBrk="0" hangingPunct="1">
      <a:lnSpc>
        <a:spcPct val="125000"/>
      </a:lnSpc>
      <a:spcAft>
        <a:spcPts val="600"/>
      </a:spcAft>
      <a:buFont typeface="微软雅黑" panose="020B050302020402020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59840" indent="-179705" algn="l" defTabSz="1219200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19885" indent="-179705" algn="l" defTabSz="1219200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幻灯片图像占位符 7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9" name="备注占位符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幻灯片图像占位符 16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18" name="备注占位符 1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marR="0" lvl="0" indent="-179705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defRPr/>
            </a:pPr>
            <a:r>
              <a:rPr lang="zh-CN" altLang="en-US" dirty="0">
                <a:solidFill>
                  <a:schemeClr val="bg1"/>
                </a:solidFill>
              </a:rPr>
              <a:t>本质上</a:t>
            </a:r>
            <a:r>
              <a:rPr lang="en-US" altLang="zh-CN" dirty="0">
                <a:solidFill>
                  <a:schemeClr val="bg1"/>
                </a:solidFill>
              </a:rPr>
              <a:t>MPLS</a:t>
            </a:r>
            <a:r>
              <a:rPr lang="zh-CN" altLang="en-US" dirty="0">
                <a:solidFill>
                  <a:schemeClr val="bg1"/>
                </a:solidFill>
              </a:rPr>
              <a:t>仅是指导数据转发的隧道技术，有完整的隧道创建、隧道管理和维护机制。以上机制都是从网络运营和管理角度驱动的需求，不是由应用驱动网络需求。</a:t>
            </a:r>
            <a:endParaRPr lang="zh-CN" altLang="en-US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传统的</a:t>
            </a:r>
            <a:r>
              <a:rPr lang="en-US" altLang="zh-CN" dirty="0"/>
              <a:t>IP</a:t>
            </a:r>
            <a:r>
              <a:rPr lang="zh-CN" altLang="en-US" dirty="0"/>
              <a:t>数据包转发技术依赖于能以最短路径到达目的地的</a:t>
            </a:r>
            <a:r>
              <a:rPr lang="en-US" altLang="zh-CN" dirty="0"/>
              <a:t>IP</a:t>
            </a:r>
            <a:r>
              <a:rPr lang="zh-CN" altLang="en-US" dirty="0"/>
              <a:t>地址。为了满足语音、在线游戏、视频会议等业务的可靠性要求，出现了</a:t>
            </a:r>
            <a:r>
              <a:rPr lang="en-US" altLang="zh-CN" dirty="0"/>
              <a:t>FRR</a:t>
            </a:r>
            <a:r>
              <a:rPr lang="zh-CN" altLang="en-US" dirty="0"/>
              <a:t>技术，为了满足集团客户等专线业务的大带宽需求，出现了</a:t>
            </a:r>
            <a:r>
              <a:rPr lang="en-US" altLang="zh-CN" dirty="0"/>
              <a:t>TE</a:t>
            </a:r>
            <a:r>
              <a:rPr lang="zh-CN" altLang="en-US" dirty="0"/>
              <a:t>技术，这些实际都是网络适配业务发展。</a:t>
            </a:r>
            <a:endParaRPr lang="en-US" altLang="zh-CN" dirty="0"/>
          </a:p>
          <a:p>
            <a:r>
              <a:rPr lang="zh-CN" altLang="en-US" dirty="0"/>
              <a:t>但是业务种类越来越多，不同类型业务对网络的要求不尽相同，例如，实时的</a:t>
            </a:r>
            <a:r>
              <a:rPr lang="en-US" altLang="zh-CN" dirty="0"/>
              <a:t>UC&amp;C</a:t>
            </a:r>
            <a:r>
              <a:rPr lang="zh-CN" altLang="en-US" dirty="0"/>
              <a:t>（</a:t>
            </a:r>
            <a:r>
              <a:rPr lang="en-US" altLang="zh-CN" dirty="0"/>
              <a:t>Unified Communications and Collaboration</a:t>
            </a:r>
            <a:r>
              <a:rPr lang="zh-CN" altLang="en-US" dirty="0"/>
              <a:t>，统一通信协作）应用程序通常更喜欢低时延，低抖动的路径，而大数据应用则更喜欢低丢包率的高带宽通道。如果仍旧按照网络适配业务的思路，则不仅无法匹配业务的快速发展，而且会使网络部署越来越复杂，变的难以维护。</a:t>
            </a:r>
            <a:endParaRPr lang="en-US" altLang="zh-CN" dirty="0"/>
          </a:p>
          <a:p>
            <a:r>
              <a:rPr lang="zh-CN" altLang="en-US" dirty="0"/>
              <a:t>解决思路就是业务驱动网络，由业务来定义网络的架构。具体说来，就是由应用（</a:t>
            </a:r>
            <a:r>
              <a:rPr lang="en-US" altLang="zh-CN" dirty="0"/>
              <a:t>APP</a:t>
            </a:r>
            <a:r>
              <a:rPr lang="zh-CN" altLang="en-US" dirty="0"/>
              <a:t>）提出需求（时延、带宽、丢包率等），控制器收集网络拓扑、带宽利用率、时延等信息，根据业务需求计算显式路径。 </a:t>
            </a:r>
            <a:br>
              <a:rPr lang="zh-CN" altLang="en-US" dirty="0"/>
            </a:br>
            <a:endParaRPr lang="en-US" altLang="zh-CN" dirty="0"/>
          </a:p>
        </p:txBody>
      </p:sp>
      <p:sp>
        <p:nvSpPr>
          <p:cNvPr id="7" name="幻灯片图像占位符 6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本课程中使用的标签数值仅起到帮助大家理解的作用，具体的标签分配范围请参考对应的产品手册。</a:t>
            </a:r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6" name="备注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6" name="备注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6" name="备注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对于使能了</a:t>
            </a:r>
            <a:r>
              <a:rPr lang="en-US" altLang="zh-CN" dirty="0"/>
              <a:t>SR</a:t>
            </a:r>
            <a:r>
              <a:rPr lang="zh-CN" altLang="en-US" dirty="0"/>
              <a:t>能力的</a:t>
            </a:r>
            <a:r>
              <a:rPr lang="en-US" altLang="zh-CN" dirty="0"/>
              <a:t>IGP</a:t>
            </a:r>
            <a:r>
              <a:rPr lang="zh-CN" altLang="en-US" dirty="0"/>
              <a:t>，会为所有使能</a:t>
            </a:r>
            <a:r>
              <a:rPr lang="en-US" altLang="zh-CN" dirty="0"/>
              <a:t>IGP</a:t>
            </a:r>
            <a:r>
              <a:rPr lang="zh-CN" altLang="en-US" dirty="0"/>
              <a:t>协议的出接口分配</a:t>
            </a:r>
            <a:r>
              <a:rPr lang="en-US" altLang="zh-CN" dirty="0"/>
              <a:t>SR</a:t>
            </a:r>
            <a:r>
              <a:rPr lang="zh-CN" altLang="en-US" dirty="0"/>
              <a:t>邻接标签。邻接标签通过</a:t>
            </a:r>
            <a:r>
              <a:rPr lang="en-US" altLang="zh-CN" dirty="0"/>
              <a:t>IGP</a:t>
            </a:r>
            <a:r>
              <a:rPr lang="zh-CN" altLang="en-US" dirty="0"/>
              <a:t>泛洪到整个网络中。</a:t>
            </a:r>
            <a:endParaRPr lang="en-US" altLang="zh-CN" dirty="0"/>
          </a:p>
          <a:p>
            <a:r>
              <a:rPr lang="zh-CN" altLang="en-US" dirty="0"/>
              <a:t>在华为早期的解决方案中，也可以使用</a:t>
            </a:r>
            <a:r>
              <a:rPr lang="en-US" altLang="zh-CN" dirty="0"/>
              <a:t>IGP</a:t>
            </a:r>
            <a:r>
              <a:rPr lang="zh-CN" altLang="en-US" dirty="0"/>
              <a:t>收集网络拓扑。由于</a:t>
            </a:r>
            <a:r>
              <a:rPr lang="en-US" altLang="zh-CN" dirty="0"/>
              <a:t>IGP</a:t>
            </a:r>
            <a:r>
              <a:rPr lang="zh-CN" altLang="en-US" dirty="0"/>
              <a:t>具有域的限制，当前主要采用</a:t>
            </a:r>
            <a:r>
              <a:rPr lang="en-US" altLang="zh-CN" dirty="0"/>
              <a:t>BGP-LS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在</a:t>
            </a:r>
            <a:r>
              <a:rPr lang="en-US" altLang="zh-CN"/>
              <a:t>SR-MPLS TE</a:t>
            </a:r>
            <a:r>
              <a:rPr lang="zh-CN" altLang="en-US"/>
              <a:t>隧道创建之前，需要在各转发器之间建立</a:t>
            </a:r>
            <a:r>
              <a:rPr lang="en-US" altLang="zh-CN"/>
              <a:t>IS-IS/OSPF</a:t>
            </a:r>
            <a:r>
              <a:rPr lang="zh-CN" altLang="en-US"/>
              <a:t>邻居关系，实现网络层互通，完成标签的分配以及网络拓扑信息的收集，并将标签和网络拓扑信息上送给控制器，供控制器进行路径计算。如果没有控制器，也可以在</a:t>
            </a:r>
            <a:r>
              <a:rPr lang="en-US" altLang="zh-CN"/>
              <a:t>SR-MPLS TE</a:t>
            </a:r>
            <a:r>
              <a:rPr lang="zh-CN" altLang="en-US"/>
              <a:t>隧道的头节点使能</a:t>
            </a:r>
            <a:r>
              <a:rPr lang="en-US" altLang="zh-CN"/>
              <a:t>CSPF</a:t>
            </a:r>
            <a:r>
              <a:rPr lang="zh-CN" altLang="en-US"/>
              <a:t>算路功能，这样转发器也可以使用</a:t>
            </a:r>
            <a:r>
              <a:rPr lang="en-US" altLang="zh-CN"/>
              <a:t>CSPF</a:t>
            </a:r>
            <a:r>
              <a:rPr lang="zh-CN" altLang="en-US"/>
              <a:t>完成路径计算。</a:t>
            </a:r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在转发器上配置</a:t>
            </a:r>
            <a:r>
              <a:rPr lang="en-US" altLang="zh-CN" dirty="0"/>
              <a:t>SR-MPLS TE</a:t>
            </a:r>
            <a:r>
              <a:rPr lang="zh-CN" altLang="en-US" dirty="0"/>
              <a:t>隧道的方式除了手工配置显示路径外，也可以使用头节点算路功能。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当前主流方案是</a:t>
            </a:r>
            <a:r>
              <a:rPr lang="zh-CN" altLang="en-US">
                <a:highlight>
                  <a:srgbClr val="FFFF00"/>
                </a:highlight>
              </a:rPr>
              <a:t>基于邻接标签的严格路径转发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在</a:t>
            </a:r>
            <a:r>
              <a:rPr lang="en-US" altLang="zh-CN"/>
              <a:t>SR Policy</a:t>
            </a:r>
            <a:r>
              <a:rPr lang="zh-CN" altLang="en-US"/>
              <a:t>的实现上主流有三种方式：</a:t>
            </a:r>
            <a:endParaRPr lang="en-US" altLang="zh-CN"/>
          </a:p>
          <a:p>
            <a:pPr lvl="1"/>
            <a:r>
              <a:rPr lang="en-US" altLang="zh-CN">
                <a:highlight>
                  <a:srgbClr val="FFFF00"/>
                </a:highlight>
              </a:rPr>
              <a:t>BGP</a:t>
            </a:r>
            <a:r>
              <a:rPr lang="zh-CN" altLang="en-US"/>
              <a:t>：</a:t>
            </a:r>
            <a:r>
              <a:rPr lang="en-US" altLang="zh-CN"/>
              <a:t>BGP-LS</a:t>
            </a:r>
            <a:r>
              <a:rPr lang="zh-CN" altLang="en-US"/>
              <a:t>用于收集拓扑，对于客户自研控制器，无需引入一个新的接口协议；</a:t>
            </a:r>
            <a:r>
              <a:rPr lang="en-US" altLang="zh-CN"/>
              <a:t>BGP SR Policy</a:t>
            </a:r>
            <a:r>
              <a:rPr lang="zh-CN" altLang="en-US"/>
              <a:t>下发路径路由信息。</a:t>
            </a:r>
            <a:endParaRPr lang="en-US" altLang="zh-CN"/>
          </a:p>
          <a:p>
            <a:pPr lvl="1"/>
            <a:r>
              <a:rPr lang="en-US" altLang="zh-CN">
                <a:highlight>
                  <a:srgbClr val="FFFF00"/>
                </a:highlight>
              </a:rPr>
              <a:t>PCEP</a:t>
            </a:r>
            <a:r>
              <a:rPr lang="zh-CN" altLang="en-US"/>
              <a:t>：</a:t>
            </a:r>
            <a:r>
              <a:rPr lang="en-US" altLang="zh-CN"/>
              <a:t>PCEP</a:t>
            </a:r>
            <a:r>
              <a:rPr lang="zh-CN" altLang="en-US"/>
              <a:t>作为南向协议在</a:t>
            </a:r>
            <a:r>
              <a:rPr lang="en-US" altLang="zh-CN"/>
              <a:t>SR-MPLS TE</a:t>
            </a:r>
            <a:r>
              <a:rPr lang="zh-CN" altLang="en-US"/>
              <a:t>场景下较为成熟，但是由于各厂家隧道实现模型不统一，无法实现互通，且</a:t>
            </a:r>
            <a:r>
              <a:rPr lang="en-US" altLang="zh-CN"/>
              <a:t>PCEP</a:t>
            </a:r>
            <a:r>
              <a:rPr lang="zh-CN" altLang="en-US"/>
              <a:t>交互流程较于</a:t>
            </a:r>
            <a:r>
              <a:rPr lang="en-US" altLang="zh-CN"/>
              <a:t>BGP</a:t>
            </a:r>
            <a:r>
              <a:rPr lang="zh-CN" altLang="en-US"/>
              <a:t>更复杂，推荐使用</a:t>
            </a:r>
            <a:r>
              <a:rPr lang="en-US" altLang="zh-CN"/>
              <a:t>BGP</a:t>
            </a:r>
            <a:r>
              <a:rPr lang="zh-CN" altLang="en-US"/>
              <a:t>扩展协议。</a:t>
            </a:r>
            <a:endParaRPr lang="en-US" altLang="zh-CN"/>
          </a:p>
          <a:p>
            <a:pPr lvl="1"/>
            <a:r>
              <a:rPr lang="en-US" altLang="zh-CN">
                <a:highlight>
                  <a:srgbClr val="FFFF00"/>
                </a:highlight>
              </a:rPr>
              <a:t>NETCONF/YANG</a:t>
            </a:r>
            <a:r>
              <a:rPr lang="zh-CN" altLang="en-US"/>
              <a:t>：把隧道路径作为配置下发到转发器。本质上是配置下发，性能最差，不推荐。在整体解决方案中使用</a:t>
            </a:r>
            <a:r>
              <a:rPr lang="en-US" altLang="zh-CN"/>
              <a:t>NETCONF</a:t>
            </a:r>
            <a:r>
              <a:rPr lang="zh-CN" altLang="en-US"/>
              <a:t>下发其他配置，而不是隧道配置。</a:t>
            </a:r>
            <a:endParaRPr lang="en-US" altLang="zh-CN"/>
          </a:p>
          <a:p>
            <a:pPr lvl="0"/>
            <a:r>
              <a:rPr lang="zh-CN" altLang="en-US"/>
              <a:t>更详细的</a:t>
            </a:r>
            <a:r>
              <a:rPr lang="en-US" altLang="zh-CN"/>
              <a:t>SR Policy</a:t>
            </a:r>
            <a:r>
              <a:rPr lang="zh-CN" altLang="en-US"/>
              <a:t>细节和功能在</a:t>
            </a:r>
            <a:r>
              <a:rPr lang="en-US" altLang="zh-CN"/>
              <a:t>[I-D.ietf-spring-segment-routing-policy]</a:t>
            </a:r>
            <a:r>
              <a:rPr lang="zh-CN" altLang="en-US"/>
              <a:t>介绍，</a:t>
            </a:r>
            <a:r>
              <a:rPr lang="en-US" altLang="zh-CN"/>
              <a:t>https://datatracker.ietf.org/doc/draft-ietf-idr-segment-routing-te-policy/</a:t>
            </a:r>
            <a:r>
              <a:rPr lang="zh-CN" altLang="en-US"/>
              <a:t>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BGP-LS</a:t>
            </a:r>
            <a:r>
              <a:rPr lang="zh-CN" altLang="en-US" dirty="0"/>
              <a:t>连接：</a:t>
            </a:r>
            <a:endParaRPr lang="en-US" altLang="zh-CN" dirty="0"/>
          </a:p>
          <a:p>
            <a:pPr lvl="1"/>
            <a:r>
              <a:rPr lang="zh-CN" altLang="en-US" dirty="0"/>
              <a:t>收集隧道拓扑信息，用于</a:t>
            </a:r>
            <a:r>
              <a:rPr lang="zh-CN" altLang="en-US" dirty="0">
                <a:highlight>
                  <a:srgbClr val="FFFF00"/>
                </a:highlight>
              </a:rPr>
              <a:t>计算</a:t>
            </a:r>
            <a:r>
              <a:rPr lang="en-US" altLang="zh-CN" dirty="0">
                <a:highlight>
                  <a:srgbClr val="FFFF00"/>
                </a:highlight>
              </a:rPr>
              <a:t>SR Policy</a:t>
            </a:r>
            <a:r>
              <a:rPr lang="zh-CN" altLang="en-US" dirty="0">
                <a:highlight>
                  <a:srgbClr val="FFFF00"/>
                </a:highlight>
              </a:rPr>
              <a:t>路径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BGP-LS</a:t>
            </a:r>
            <a:r>
              <a:rPr lang="zh-CN" altLang="en-US" dirty="0"/>
              <a:t>协议扩展支持收集</a:t>
            </a:r>
            <a:r>
              <a:rPr lang="en-US" altLang="zh-CN" dirty="0"/>
              <a:t>SR Policy</a:t>
            </a:r>
            <a:r>
              <a:rPr lang="zh-CN" altLang="en-US" dirty="0"/>
              <a:t>状态信息，用于</a:t>
            </a:r>
            <a:r>
              <a:rPr lang="zh-CN" altLang="en-US" dirty="0">
                <a:highlight>
                  <a:srgbClr val="FFFF00"/>
                </a:highlight>
              </a:rPr>
              <a:t>控制器实现隧道状态呈现</a:t>
            </a:r>
            <a:r>
              <a:rPr lang="zh-CN" altLang="en-US" dirty="0"/>
              <a:t>。</a:t>
            </a:r>
            <a:r>
              <a:rPr lang="en-US" altLang="zh-CN" dirty="0"/>
              <a:t>https://datatracker.ietf.org/doc/draft-ietf-idr-te-lsp-distribution/</a:t>
            </a:r>
            <a:endParaRPr lang="en-US" altLang="zh-CN" dirty="0"/>
          </a:p>
          <a:p>
            <a:pPr lvl="1"/>
            <a:r>
              <a:rPr lang="en-US" altLang="zh-CN" dirty="0"/>
              <a:t>BGP-LS</a:t>
            </a:r>
            <a:r>
              <a:rPr lang="zh-CN" altLang="en-US" dirty="0"/>
              <a:t>协议扩展支持</a:t>
            </a:r>
            <a:r>
              <a:rPr lang="en-US" altLang="zh-CN" dirty="0"/>
              <a:t>SRLB</a:t>
            </a:r>
            <a:r>
              <a:rPr lang="zh-CN" altLang="en-US" dirty="0"/>
              <a:t>信息封装和解封装，用于</a:t>
            </a:r>
            <a:r>
              <a:rPr lang="zh-CN" altLang="en-US" dirty="0">
                <a:highlight>
                  <a:srgbClr val="FFFF00"/>
                </a:highlight>
              </a:rPr>
              <a:t>控制器获取</a:t>
            </a:r>
            <a:r>
              <a:rPr lang="en-US" altLang="zh-CN" dirty="0">
                <a:highlight>
                  <a:srgbClr val="FFFF00"/>
                </a:highlight>
              </a:rPr>
              <a:t>SRLB</a:t>
            </a:r>
            <a:r>
              <a:rPr lang="zh-CN" altLang="en-US" dirty="0">
                <a:highlight>
                  <a:srgbClr val="FFFF00"/>
                </a:highlight>
              </a:rPr>
              <a:t>信息以分配</a:t>
            </a:r>
            <a:r>
              <a:rPr lang="en-US" altLang="zh-CN" dirty="0">
                <a:highlight>
                  <a:srgbClr val="FFFF00"/>
                </a:highlight>
              </a:rPr>
              <a:t>BSID</a:t>
            </a:r>
            <a:r>
              <a:rPr lang="zh-CN" altLang="en-US" dirty="0"/>
              <a:t>（</a:t>
            </a:r>
            <a:r>
              <a:rPr lang="zh-CN" altLang="en-US" dirty="0">
                <a:highlight>
                  <a:srgbClr val="FFFF00"/>
                </a:highlight>
              </a:rPr>
              <a:t>每一条</a:t>
            </a:r>
            <a:r>
              <a:rPr lang="en-US" altLang="zh-CN" dirty="0">
                <a:highlight>
                  <a:srgbClr val="FFFF00"/>
                </a:highlight>
              </a:rPr>
              <a:t>SR-Policy</a:t>
            </a:r>
            <a:r>
              <a:rPr lang="zh-CN" altLang="en-US" dirty="0">
                <a:highlight>
                  <a:srgbClr val="FFFF00"/>
                </a:highlight>
              </a:rPr>
              <a:t>隧道的备份路径都对应一个</a:t>
            </a:r>
            <a:r>
              <a:rPr lang="en-US" altLang="zh-CN" dirty="0">
                <a:highlight>
                  <a:srgbClr val="FFFF00"/>
                </a:highlight>
              </a:rPr>
              <a:t>Binding SID</a:t>
            </a:r>
            <a:r>
              <a:rPr lang="zh-CN" altLang="en-US" dirty="0"/>
              <a:t>）。</a:t>
            </a:r>
            <a:endParaRPr lang="zh-CN" altLang="en-US" dirty="0"/>
          </a:p>
          <a:p>
            <a:r>
              <a:rPr lang="en-US" altLang="zh-CN" dirty="0"/>
              <a:t>BGP SR Policy</a:t>
            </a:r>
            <a:r>
              <a:rPr lang="zh-CN" altLang="en-US" dirty="0"/>
              <a:t>连接：</a:t>
            </a:r>
            <a:endParaRPr lang="en-US" altLang="zh-CN" dirty="0"/>
          </a:p>
          <a:p>
            <a:pPr lvl="1"/>
            <a:r>
              <a:rPr lang="zh-CN" altLang="en-US" dirty="0"/>
              <a:t>控制器向转发器</a:t>
            </a:r>
            <a:r>
              <a:rPr lang="zh-CN" altLang="en-US" dirty="0">
                <a:highlight>
                  <a:srgbClr val="FFFF00"/>
                </a:highlight>
              </a:rPr>
              <a:t>下发</a:t>
            </a:r>
            <a:r>
              <a:rPr lang="en-US" altLang="zh-CN" dirty="0">
                <a:highlight>
                  <a:srgbClr val="FFFF00"/>
                </a:highlight>
              </a:rPr>
              <a:t>SR Policy</a:t>
            </a:r>
            <a:r>
              <a:rPr lang="zh-CN" altLang="en-US" dirty="0">
                <a:highlight>
                  <a:srgbClr val="FFFF00"/>
                </a:highlight>
              </a:rPr>
              <a:t>信息</a:t>
            </a:r>
            <a:r>
              <a:rPr lang="zh-CN" altLang="en-US" dirty="0"/>
              <a:t>，</a:t>
            </a:r>
            <a:r>
              <a:rPr lang="zh-CN" altLang="en-US" dirty="0">
                <a:highlight>
                  <a:srgbClr val="FFFF00"/>
                </a:highlight>
              </a:rPr>
              <a:t>生成</a:t>
            </a:r>
            <a:r>
              <a:rPr lang="en-US" altLang="zh-CN" dirty="0">
                <a:highlight>
                  <a:srgbClr val="FFFF00"/>
                </a:highlight>
              </a:rPr>
              <a:t>SR Policy</a:t>
            </a:r>
            <a:r>
              <a:rPr lang="zh-CN" altLang="en-US" dirty="0">
                <a:highlight>
                  <a:srgbClr val="FFFF00"/>
                </a:highlight>
              </a:rPr>
              <a:t>隧道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控制器下发</a:t>
            </a:r>
            <a:r>
              <a:rPr lang="en-US" altLang="zh-CN" dirty="0"/>
              <a:t>BGP</a:t>
            </a:r>
            <a:r>
              <a:rPr lang="zh-CN" altLang="en-US" dirty="0"/>
              <a:t>路由携带</a:t>
            </a:r>
            <a:r>
              <a:rPr lang="en-US" altLang="zh-CN" dirty="0"/>
              <a:t>Color</a:t>
            </a:r>
            <a:r>
              <a:rPr lang="zh-CN" altLang="en-US" dirty="0"/>
              <a:t>团体属性，并支持此属性传递。隧道</a:t>
            </a:r>
            <a:r>
              <a:rPr lang="zh-CN" altLang="en-US" dirty="0">
                <a:highlight>
                  <a:srgbClr val="FFFF00"/>
                </a:highlight>
              </a:rPr>
              <a:t>头端节点匹配</a:t>
            </a:r>
            <a:r>
              <a:rPr lang="en-US" altLang="zh-CN" dirty="0">
                <a:highlight>
                  <a:srgbClr val="FFFF00"/>
                </a:highlight>
              </a:rPr>
              <a:t>BGP</a:t>
            </a:r>
            <a:r>
              <a:rPr lang="zh-CN" altLang="en-US" dirty="0">
                <a:highlight>
                  <a:srgbClr val="FFFF00"/>
                </a:highlight>
              </a:rPr>
              <a:t>路由后基于</a:t>
            </a:r>
            <a:r>
              <a:rPr lang="en-US" altLang="zh-CN" dirty="0" err="1">
                <a:highlight>
                  <a:srgbClr val="FFFF00"/>
                </a:highlight>
              </a:rPr>
              <a:t>Color+Endpoint</a:t>
            </a:r>
            <a:r>
              <a:rPr lang="zh-CN" altLang="en-US" dirty="0">
                <a:highlight>
                  <a:srgbClr val="FFFF00"/>
                </a:highlight>
              </a:rPr>
              <a:t>方式迭代到</a:t>
            </a:r>
            <a:r>
              <a:rPr lang="en-US" altLang="zh-CN" dirty="0">
                <a:highlight>
                  <a:srgbClr val="FFFF00"/>
                </a:highlight>
              </a:rPr>
              <a:t>SR Policy</a:t>
            </a:r>
            <a:r>
              <a:rPr lang="zh-CN" altLang="en-US" dirty="0">
                <a:highlight>
                  <a:srgbClr val="FFFF00"/>
                </a:highlight>
              </a:rPr>
              <a:t>隧道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SR policy</a:t>
            </a:r>
            <a:r>
              <a:rPr lang="zh-CN" altLang="en-US" dirty="0"/>
              <a:t>方案中需要在控制器</a:t>
            </a:r>
            <a:r>
              <a:rPr lang="zh-CN" altLang="en-US" dirty="0">
                <a:highlight>
                  <a:srgbClr val="FFFF00"/>
                </a:highlight>
              </a:rPr>
              <a:t>根据业务</a:t>
            </a:r>
            <a:r>
              <a:rPr lang="en-US" altLang="zh-CN" dirty="0">
                <a:highlight>
                  <a:srgbClr val="FFFF00"/>
                </a:highlight>
              </a:rPr>
              <a:t>SLA</a:t>
            </a:r>
            <a:r>
              <a:rPr lang="zh-CN" altLang="en-US" dirty="0">
                <a:highlight>
                  <a:srgbClr val="FFFF00"/>
                </a:highlight>
              </a:rPr>
              <a:t>要求统一规划各个应用的网络隧道算路约束，并通过不同的</a:t>
            </a:r>
            <a:r>
              <a:rPr lang="en-US" altLang="zh-CN" dirty="0">
                <a:highlight>
                  <a:srgbClr val="FFFF00"/>
                </a:highlight>
              </a:rPr>
              <a:t>color</a:t>
            </a:r>
            <a:r>
              <a:rPr lang="zh-CN" altLang="en-US" dirty="0">
                <a:highlight>
                  <a:srgbClr val="FFFF00"/>
                </a:highlight>
              </a:rPr>
              <a:t>来标识</a:t>
            </a:r>
            <a:r>
              <a:rPr lang="zh-CN" altLang="en-US" dirty="0"/>
              <a:t>。根据</a:t>
            </a:r>
            <a:r>
              <a:rPr lang="en-US" altLang="zh-CN" dirty="0">
                <a:highlight>
                  <a:srgbClr val="FFFF00"/>
                </a:highlight>
              </a:rPr>
              <a:t>{</a:t>
            </a:r>
            <a:r>
              <a:rPr lang="zh-CN" altLang="en-US" dirty="0">
                <a:highlight>
                  <a:srgbClr val="FFFF00"/>
                </a:highlight>
              </a:rPr>
              <a:t>头节点，尾节点，</a:t>
            </a:r>
            <a:r>
              <a:rPr lang="en-US" altLang="zh-CN" dirty="0">
                <a:highlight>
                  <a:srgbClr val="FFFF00"/>
                </a:highlight>
              </a:rPr>
              <a:t>COLOR}</a:t>
            </a:r>
            <a:r>
              <a:rPr lang="zh-CN" altLang="en-US" dirty="0">
                <a:highlight>
                  <a:srgbClr val="FFFF00"/>
                </a:highlight>
              </a:rPr>
              <a:t>来唯一确定一个</a:t>
            </a:r>
            <a:r>
              <a:rPr lang="en-US" altLang="zh-CN" dirty="0">
                <a:highlight>
                  <a:srgbClr val="FFFF00"/>
                </a:highlight>
              </a:rPr>
              <a:t>SR policy</a:t>
            </a:r>
            <a:r>
              <a:rPr lang="zh-CN" altLang="en-US" dirty="0">
                <a:highlight>
                  <a:srgbClr val="FFFF00"/>
                </a:highlight>
              </a:rPr>
              <a:t>隧道</a:t>
            </a:r>
            <a:r>
              <a:rPr lang="zh-CN" altLang="en-US" dirty="0"/>
              <a:t>。</a:t>
            </a:r>
            <a:r>
              <a:rPr lang="zh-CN" altLang="en-US" dirty="0">
                <a:highlight>
                  <a:srgbClr val="FFFF00"/>
                </a:highlight>
              </a:rPr>
              <a:t>业务报文迭代隧道时其</a:t>
            </a:r>
            <a:r>
              <a:rPr lang="en-US" altLang="zh-CN" dirty="0">
                <a:highlight>
                  <a:srgbClr val="FFFF00"/>
                </a:highlight>
              </a:rPr>
              <a:t>BGP</a:t>
            </a:r>
            <a:r>
              <a:rPr lang="zh-CN" altLang="en-US" dirty="0">
                <a:highlight>
                  <a:srgbClr val="FFFF00"/>
                </a:highlight>
              </a:rPr>
              <a:t>路由需要携带对应的</a:t>
            </a:r>
            <a:r>
              <a:rPr lang="en-US" altLang="zh-CN" dirty="0">
                <a:highlight>
                  <a:srgbClr val="FFFF00"/>
                </a:highlight>
              </a:rPr>
              <a:t>color</a:t>
            </a:r>
            <a:r>
              <a:rPr lang="zh-CN" altLang="en-US" dirty="0">
                <a:highlight>
                  <a:srgbClr val="FFFF00"/>
                </a:highlight>
              </a:rPr>
              <a:t>扩展团体属性。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一个</a:t>
            </a:r>
            <a:r>
              <a:rPr lang="en-US" altLang="zh-CN" dirty="0"/>
              <a:t>SR policy</a:t>
            </a:r>
            <a:r>
              <a:rPr lang="zh-CN" altLang="en-US" dirty="0"/>
              <a:t>可以有多个候选路径，如</a:t>
            </a:r>
            <a:r>
              <a:rPr lang="en-US" altLang="zh-CN" dirty="0"/>
              <a:t>CP1</a:t>
            </a:r>
            <a:r>
              <a:rPr lang="zh-CN" altLang="en-US" dirty="0"/>
              <a:t>，</a:t>
            </a:r>
            <a:r>
              <a:rPr lang="en-US" altLang="zh-CN" dirty="0"/>
              <a:t>CP2</a:t>
            </a:r>
            <a:r>
              <a:rPr lang="zh-CN" altLang="en-US" dirty="0"/>
              <a:t>，</a:t>
            </a:r>
            <a:r>
              <a:rPr lang="zh-CN" altLang="en-US" dirty="0">
                <a:highlight>
                  <a:srgbClr val="FFFF00"/>
                </a:highlight>
              </a:rPr>
              <a:t>每个路径由三元组 </a:t>
            </a:r>
            <a:r>
              <a:rPr lang="en-US" altLang="zh-CN" dirty="0">
                <a:highlight>
                  <a:srgbClr val="FFFF00"/>
                </a:highlight>
              </a:rPr>
              <a:t>&lt;protocol, origin, discriminator&gt;</a:t>
            </a:r>
            <a:r>
              <a:rPr lang="zh-CN" altLang="en-US" dirty="0">
                <a:highlight>
                  <a:srgbClr val="FFFF00"/>
                </a:highlight>
              </a:rPr>
              <a:t>唯一确定</a:t>
            </a:r>
            <a:r>
              <a:rPr lang="zh-CN" altLang="en-US" dirty="0"/>
              <a:t>。</a:t>
            </a:r>
            <a:endParaRPr lang="en-US" altLang="zh-CN" dirty="0"/>
          </a:p>
          <a:p>
            <a:pPr lvl="0"/>
            <a:r>
              <a:rPr lang="en-US" altLang="zh-CN" dirty="0"/>
              <a:t>CP1</a:t>
            </a:r>
            <a:r>
              <a:rPr lang="zh-CN" altLang="en-US" dirty="0"/>
              <a:t>是激活路径（原因是合法且优先级高）。</a:t>
            </a:r>
            <a:r>
              <a:rPr lang="en-US" altLang="zh-CN" dirty="0"/>
              <a:t>CP1</a:t>
            </a:r>
            <a:r>
              <a:rPr lang="zh-CN" altLang="en-US" dirty="0"/>
              <a:t>的两个</a:t>
            </a:r>
            <a:r>
              <a:rPr lang="en-US" altLang="zh-CN" dirty="0"/>
              <a:t>SID-list</a:t>
            </a:r>
            <a:r>
              <a:rPr lang="zh-CN" altLang="en-US" dirty="0"/>
              <a:t>会被下发到转发器，并且流量转发时会在两个隧道路径上基于权重负载分担，如</a:t>
            </a:r>
            <a:r>
              <a:rPr lang="en-US" altLang="zh-CN" dirty="0"/>
              <a:t>SID-List &lt;SID11...SID1i&gt;</a:t>
            </a:r>
            <a:r>
              <a:rPr lang="zh-CN" altLang="en-US" dirty="0"/>
              <a:t>按</a:t>
            </a:r>
            <a:r>
              <a:rPr lang="en-US" altLang="zh-CN" dirty="0"/>
              <a:t>W1/</a:t>
            </a:r>
            <a:r>
              <a:rPr lang="zh-CN" altLang="en-US" dirty="0"/>
              <a:t>（</a:t>
            </a:r>
            <a:r>
              <a:rPr lang="en-US" altLang="zh-CN" dirty="0"/>
              <a:t>W1+W2</a:t>
            </a:r>
            <a:r>
              <a:rPr lang="zh-CN" altLang="en-US" dirty="0"/>
              <a:t>）比例分担。当前主流实现上一个候选路径只有一个</a:t>
            </a:r>
            <a:r>
              <a:rPr lang="en-US" altLang="zh-CN" dirty="0"/>
              <a:t>Segment List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BSID</a:t>
            </a:r>
            <a:r>
              <a:rPr lang="zh-CN" altLang="en-US" dirty="0"/>
              <a:t>的来源可以是</a:t>
            </a:r>
            <a:r>
              <a:rPr lang="en-US" altLang="zh-CN" dirty="0"/>
              <a:t>SRLB</a:t>
            </a:r>
            <a:r>
              <a:rPr lang="zh-CN" altLang="en-US" dirty="0"/>
              <a:t>和</a:t>
            </a:r>
            <a:r>
              <a:rPr lang="en-US" altLang="zh-CN" dirty="0"/>
              <a:t>SRGB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>
                <a:highlight>
                  <a:srgbClr val="FFFF00"/>
                </a:highlight>
              </a:rPr>
              <a:t>SR policy</a:t>
            </a:r>
            <a:r>
              <a:rPr lang="zh-CN" altLang="en-US" dirty="0">
                <a:highlight>
                  <a:srgbClr val="FFFF00"/>
                </a:highlight>
              </a:rPr>
              <a:t>每个备选路径都有一个</a:t>
            </a:r>
            <a:r>
              <a:rPr lang="en-US" altLang="zh-CN" dirty="0">
                <a:highlight>
                  <a:srgbClr val="FFFF00"/>
                </a:highlight>
              </a:rPr>
              <a:t>BSID, </a:t>
            </a:r>
            <a:r>
              <a:rPr lang="zh-CN" altLang="en-US" dirty="0">
                <a:highlight>
                  <a:srgbClr val="FFFF00"/>
                </a:highlight>
              </a:rPr>
              <a:t>并且对于相同的</a:t>
            </a:r>
            <a:r>
              <a:rPr lang="en-US" altLang="zh-CN" dirty="0">
                <a:highlight>
                  <a:srgbClr val="FFFF00"/>
                </a:highlight>
              </a:rPr>
              <a:t>SR policy</a:t>
            </a:r>
            <a:r>
              <a:rPr lang="zh-CN" altLang="en-US" dirty="0">
                <a:highlight>
                  <a:srgbClr val="FFFF00"/>
                </a:highlight>
              </a:rPr>
              <a:t>的不同备选路径的</a:t>
            </a:r>
            <a:r>
              <a:rPr lang="en-US" altLang="zh-CN" dirty="0">
                <a:highlight>
                  <a:srgbClr val="FFFF00"/>
                </a:highlight>
              </a:rPr>
              <a:t>BSID</a:t>
            </a:r>
            <a:r>
              <a:rPr lang="zh-CN" altLang="en-US" dirty="0">
                <a:highlight>
                  <a:srgbClr val="FFFF00"/>
                </a:highlight>
              </a:rPr>
              <a:t>一般相同</a:t>
            </a:r>
            <a:r>
              <a:rPr lang="zh-CN" altLang="en-US" dirty="0"/>
              <a:t>；</a:t>
            </a:r>
            <a:r>
              <a:rPr lang="zh-CN" altLang="en-US" dirty="0">
                <a:highlight>
                  <a:srgbClr val="FFFF00"/>
                </a:highlight>
              </a:rPr>
              <a:t>不同的</a:t>
            </a:r>
            <a:r>
              <a:rPr lang="en-US" altLang="zh-CN" dirty="0">
                <a:highlight>
                  <a:srgbClr val="FFFF00"/>
                </a:highlight>
              </a:rPr>
              <a:t>SR policy BSID</a:t>
            </a:r>
            <a:r>
              <a:rPr lang="zh-CN" altLang="en-US" dirty="0">
                <a:highlight>
                  <a:srgbClr val="FFFF00"/>
                </a:highlight>
              </a:rPr>
              <a:t>一定不同</a:t>
            </a:r>
            <a:r>
              <a:rPr lang="zh-CN" altLang="en-US" dirty="0"/>
              <a:t>。 </a:t>
            </a:r>
            <a:r>
              <a:rPr lang="en-US" altLang="zh-CN" dirty="0"/>
              <a:t>BSID</a:t>
            </a:r>
            <a:r>
              <a:rPr lang="zh-CN" altLang="en-US" dirty="0"/>
              <a:t>一般需要预先规划预留范围，</a:t>
            </a:r>
            <a:r>
              <a:rPr lang="zh-CN" altLang="en-US" dirty="0">
                <a:highlight>
                  <a:srgbClr val="FFFF00"/>
                </a:highlight>
              </a:rPr>
              <a:t>不可以和其他业务共用</a:t>
            </a:r>
            <a:r>
              <a:rPr lang="zh-CN" altLang="en-US" dirty="0"/>
              <a:t>。</a:t>
            </a:r>
            <a:endParaRPr lang="en-US" altLang="zh-CN" dirty="0"/>
          </a:p>
          <a:p>
            <a:pPr lvl="0"/>
            <a:r>
              <a:rPr lang="en-US" altLang="zh-CN" dirty="0">
                <a:highlight>
                  <a:srgbClr val="FFFF00"/>
                </a:highlight>
              </a:rPr>
              <a:t>SR</a:t>
            </a:r>
            <a:r>
              <a:rPr lang="zh-CN" altLang="en-US" dirty="0">
                <a:highlight>
                  <a:srgbClr val="FFFF00"/>
                </a:highlight>
              </a:rPr>
              <a:t>策略的转发头端通过</a:t>
            </a:r>
            <a:r>
              <a:rPr lang="en-US" altLang="zh-CN" dirty="0">
                <a:highlight>
                  <a:srgbClr val="FFFF00"/>
                </a:highlight>
              </a:rPr>
              <a:t>BSID</a:t>
            </a:r>
            <a:r>
              <a:rPr lang="zh-CN" altLang="en-US" dirty="0">
                <a:highlight>
                  <a:srgbClr val="FFFF00"/>
                </a:highlight>
              </a:rPr>
              <a:t>将报文转发绑定到</a:t>
            </a:r>
            <a:r>
              <a:rPr lang="en-US" altLang="zh-CN" dirty="0">
                <a:highlight>
                  <a:srgbClr val="FFFF00"/>
                </a:highlight>
              </a:rPr>
              <a:t>SR</a:t>
            </a:r>
            <a:r>
              <a:rPr lang="zh-CN" altLang="en-US" dirty="0">
                <a:highlight>
                  <a:srgbClr val="FFFF00"/>
                </a:highlight>
              </a:rPr>
              <a:t>策略上</a:t>
            </a:r>
            <a:r>
              <a:rPr lang="zh-CN" altLang="en-US" dirty="0"/>
              <a:t>。例如当头端设备收到一个带有这个</a:t>
            </a:r>
            <a:r>
              <a:rPr lang="en-US" altLang="zh-CN" dirty="0"/>
              <a:t>BSID</a:t>
            </a:r>
            <a:r>
              <a:rPr lang="zh-CN" altLang="en-US" dirty="0"/>
              <a:t>的报文时，头端设备就会使用相应的</a:t>
            </a:r>
            <a:r>
              <a:rPr lang="en-US" altLang="zh-CN" dirty="0"/>
              <a:t>SR</a:t>
            </a:r>
            <a:r>
              <a:rPr lang="zh-CN" altLang="en-US" dirty="0"/>
              <a:t>策略对这个报文进行转发。</a:t>
            </a:r>
            <a:endParaRPr lang="zh-CN" altLang="en-US" dirty="0"/>
          </a:p>
          <a:p>
            <a:r>
              <a:rPr lang="en-US" altLang="zh-CN" dirty="0">
                <a:highlight>
                  <a:srgbClr val="FFFF00"/>
                </a:highlight>
              </a:rPr>
              <a:t>BSID</a:t>
            </a:r>
            <a:r>
              <a:rPr lang="zh-CN" altLang="en-US" dirty="0">
                <a:highlight>
                  <a:srgbClr val="FFFF00"/>
                </a:highlight>
              </a:rPr>
              <a:t>用于标签流量引流场景，特别是在标签粘连场景，和不同的隧道协议</a:t>
            </a:r>
            <a:r>
              <a:rPr lang="en-US" altLang="zh-CN" dirty="0">
                <a:highlight>
                  <a:srgbClr val="FFFF00"/>
                </a:highlight>
              </a:rPr>
              <a:t>interworking</a:t>
            </a:r>
            <a:r>
              <a:rPr lang="zh-CN" altLang="en-US" dirty="0">
                <a:highlight>
                  <a:srgbClr val="FFFF00"/>
                </a:highlight>
              </a:rPr>
              <a:t>场景</a:t>
            </a:r>
            <a:r>
              <a:rPr lang="zh-CN" altLang="en-US" dirty="0"/>
              <a:t>，如</a:t>
            </a:r>
            <a:r>
              <a:rPr lang="en-US" altLang="zh-CN" dirty="0"/>
              <a:t>LDP over SR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前提准备：</a:t>
            </a:r>
            <a:endParaRPr lang="zh-CN" altLang="en-US"/>
          </a:p>
          <a:p>
            <a:pPr lvl="1"/>
            <a:r>
              <a:rPr lang="zh-CN" altLang="en-US"/>
              <a:t>控制器规划：用户可根据业务</a:t>
            </a:r>
            <a:r>
              <a:rPr lang="en-US" altLang="zh-CN"/>
              <a:t>SLA</a:t>
            </a:r>
            <a:r>
              <a:rPr lang="zh-CN" altLang="en-US"/>
              <a:t>要求在控制器上统一规划</a:t>
            </a:r>
            <a:r>
              <a:rPr lang="en-US" altLang="zh-CN"/>
              <a:t>color</a:t>
            </a:r>
            <a:r>
              <a:rPr lang="zh-CN" altLang="en-US"/>
              <a:t>，</a:t>
            </a:r>
            <a:r>
              <a:rPr lang="en-US" altLang="zh-CN"/>
              <a:t>color</a:t>
            </a:r>
            <a:r>
              <a:rPr lang="zh-CN" altLang="en-US"/>
              <a:t>与</a:t>
            </a:r>
            <a:r>
              <a:rPr lang="en-US" altLang="zh-CN"/>
              <a:t>SR</a:t>
            </a:r>
            <a:r>
              <a:rPr lang="zh-CN" altLang="en-US"/>
              <a:t>隧道路径的</a:t>
            </a:r>
            <a:r>
              <a:rPr lang="en-US" altLang="zh-CN"/>
              <a:t>SLA</a:t>
            </a:r>
            <a:r>
              <a:rPr lang="zh-CN" altLang="en-US"/>
              <a:t>要求（即算路约束）的对应关系；</a:t>
            </a:r>
            <a:endParaRPr lang="zh-CN" altLang="en-US"/>
          </a:p>
          <a:p>
            <a:pPr lvl="1"/>
            <a:r>
              <a:rPr lang="zh-CN" altLang="en-US"/>
              <a:t>在设备上使能</a:t>
            </a:r>
            <a:r>
              <a:rPr lang="en-US" altLang="zh-CN"/>
              <a:t>Segment Routing</a:t>
            </a:r>
            <a:r>
              <a:rPr lang="zh-CN" altLang="en-US"/>
              <a:t>相关功能；</a:t>
            </a:r>
            <a:endParaRPr lang="en-US" altLang="zh-CN"/>
          </a:p>
          <a:p>
            <a:pPr lvl="1"/>
            <a:r>
              <a:rPr lang="zh-CN" altLang="en-US"/>
              <a:t>网络头尾节点创建</a:t>
            </a:r>
            <a:r>
              <a:rPr lang="en-US" altLang="zh-CN"/>
              <a:t>BGP</a:t>
            </a:r>
            <a:r>
              <a:rPr lang="zh-CN" altLang="en-US"/>
              <a:t>会话，便于传递</a:t>
            </a:r>
            <a:r>
              <a:rPr lang="en-US" altLang="zh-CN"/>
              <a:t>BGP</a:t>
            </a:r>
            <a:r>
              <a:rPr lang="zh-CN" altLang="en-US"/>
              <a:t>私网路由；</a:t>
            </a:r>
            <a:endParaRPr lang="zh-CN" altLang="en-US"/>
          </a:p>
          <a:p>
            <a:pPr lvl="1"/>
            <a:r>
              <a:rPr lang="en-US" altLang="zh-CN"/>
              <a:t>BGP</a:t>
            </a:r>
            <a:r>
              <a:rPr lang="zh-CN" altLang="en-US"/>
              <a:t>对等体关系建立成功，头尾节点之间有可达的路由信息，能够将携带</a:t>
            </a:r>
            <a:r>
              <a:rPr lang="en-US" altLang="zh-CN"/>
              <a:t>color</a:t>
            </a:r>
            <a:r>
              <a:rPr lang="zh-CN" altLang="en-US"/>
              <a:t>团体属性。</a:t>
            </a:r>
            <a:endParaRPr lang="zh-CN" altLang="en-US"/>
          </a:p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本教材中的步骤仅帮助读者学习理解并不代表实际先后顺序。真实环境中控制器下发</a:t>
            </a:r>
            <a:r>
              <a:rPr lang="en-US" altLang="zh-CN"/>
              <a:t>SR Policy</a:t>
            </a:r>
            <a:r>
              <a:rPr lang="zh-CN" altLang="en-US"/>
              <a:t>和</a:t>
            </a:r>
            <a:r>
              <a:rPr lang="en-US" altLang="zh-CN"/>
              <a:t>NETCONF</a:t>
            </a:r>
            <a:r>
              <a:rPr lang="zh-CN" altLang="en-US"/>
              <a:t>下发配置可能同时进行。</a:t>
            </a:r>
            <a:endParaRPr lang="zh-CN" altLang="en-US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传统</a:t>
            </a:r>
            <a:r>
              <a:rPr lang="en-US" altLang="zh-CN"/>
              <a:t>LFA</a:t>
            </a:r>
            <a:r>
              <a:rPr lang="zh-CN" altLang="en-US"/>
              <a:t>无法形成备份路径的本质在于</a:t>
            </a:r>
            <a:r>
              <a:rPr lang="zh-CN" altLang="en-US">
                <a:highlight>
                  <a:srgbClr val="FFFF00"/>
                </a:highlight>
              </a:rPr>
              <a:t>分布式网络架构下</a:t>
            </a:r>
            <a:r>
              <a:rPr lang="zh-CN" altLang="en-US"/>
              <a:t>，</a:t>
            </a:r>
            <a:r>
              <a:rPr lang="zh-CN" altLang="en-US">
                <a:highlight>
                  <a:srgbClr val="FFFF00"/>
                </a:highlight>
              </a:rPr>
              <a:t>每台设备独立计算路径，在故障瞬间对于最短路径的理解没有共识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更多</a:t>
            </a:r>
            <a:r>
              <a:rPr lang="en-US" altLang="zh-CN"/>
              <a:t>TI-LFA FRR</a:t>
            </a:r>
            <a:r>
              <a:rPr lang="zh-CN" altLang="en-US"/>
              <a:t>原理细节请参考</a:t>
            </a:r>
            <a:r>
              <a:rPr lang="en-US" altLang="zh-CN"/>
              <a:t>NE</a:t>
            </a:r>
            <a:r>
              <a:rPr lang="zh-CN" altLang="en-US"/>
              <a:t>系列产品文档“</a:t>
            </a:r>
            <a:r>
              <a:rPr lang="en-US" altLang="zh-CN"/>
              <a:t>TI-LFA FRR</a:t>
            </a:r>
            <a:r>
              <a:rPr lang="zh-CN" altLang="en-US"/>
              <a:t>”。</a:t>
            </a:r>
            <a:endParaRPr lang="zh-CN" altLang="en-US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highlight>
                  <a:srgbClr val="FFFF00"/>
                </a:highlight>
              </a:rPr>
              <a:t>R4</a:t>
            </a:r>
            <a:r>
              <a:rPr lang="zh-CN" altLang="en-US" sz="1100">
                <a:highlight>
                  <a:srgbClr val="FFFF00"/>
                </a:highlight>
              </a:rPr>
              <a:t>和</a:t>
            </a:r>
            <a:r>
              <a:rPr lang="en-US" altLang="zh-CN" sz="1100">
                <a:highlight>
                  <a:srgbClr val="FFFF00"/>
                </a:highlight>
              </a:rPr>
              <a:t>R5</a:t>
            </a:r>
            <a:r>
              <a:rPr lang="zh-CN" altLang="en-US" sz="1100">
                <a:highlight>
                  <a:srgbClr val="FFFF00"/>
                </a:highlight>
              </a:rPr>
              <a:t>指向虚拟节点的链路开销为</a:t>
            </a:r>
            <a:r>
              <a:rPr lang="en-US" altLang="zh-CN" sz="1100">
                <a:highlight>
                  <a:srgbClr val="FFFF00"/>
                </a:highlight>
              </a:rPr>
              <a:t>0</a:t>
            </a:r>
            <a:r>
              <a:rPr lang="zh-CN" altLang="en-US" sz="1100">
                <a:highlight>
                  <a:srgbClr val="FFFF00"/>
                </a:highlight>
              </a:rPr>
              <a:t>。虚拟节点指向</a:t>
            </a:r>
            <a:r>
              <a:rPr lang="en-US" altLang="zh-CN" sz="1100">
                <a:highlight>
                  <a:srgbClr val="FFFF00"/>
                </a:highlight>
              </a:rPr>
              <a:t>R4</a:t>
            </a:r>
            <a:r>
              <a:rPr lang="zh-CN" altLang="en-US" sz="1100">
                <a:highlight>
                  <a:srgbClr val="FFFF00"/>
                </a:highlight>
              </a:rPr>
              <a:t>和</a:t>
            </a:r>
            <a:r>
              <a:rPr lang="en-US" altLang="zh-CN" sz="1100">
                <a:highlight>
                  <a:srgbClr val="FFFF00"/>
                </a:highlight>
              </a:rPr>
              <a:t>R5</a:t>
            </a:r>
            <a:r>
              <a:rPr lang="zh-CN" altLang="en-US" sz="1100">
                <a:highlight>
                  <a:srgbClr val="FFFF00"/>
                </a:highlight>
              </a:rPr>
              <a:t>的链路开销为无穷大</a:t>
            </a:r>
            <a:r>
              <a:rPr lang="zh-CN" altLang="en-US" sz="1100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传统的</a:t>
            </a:r>
            <a:r>
              <a:rPr lang="en-US" altLang="zh-CN" dirty="0"/>
              <a:t>TE</a:t>
            </a:r>
            <a:r>
              <a:rPr lang="zh-CN" altLang="en-US" dirty="0"/>
              <a:t>隧道保护技术中，一旦</a:t>
            </a:r>
            <a:r>
              <a:rPr lang="en-US" altLang="zh-CN" dirty="0"/>
              <a:t>PE</a:t>
            </a:r>
            <a:r>
              <a:rPr lang="zh-CN" altLang="en-US" dirty="0"/>
              <a:t>节点发生故障，只能通过端到端的路由收敛、</a:t>
            </a:r>
            <a:r>
              <a:rPr lang="en-US" altLang="zh-CN" dirty="0"/>
              <a:t>LSP</a:t>
            </a:r>
            <a:r>
              <a:rPr lang="zh-CN" altLang="en-US" dirty="0"/>
              <a:t>收敛来恢复业务。其业务收敛时间与</a:t>
            </a:r>
            <a:r>
              <a:rPr lang="en-US" altLang="zh-CN" dirty="0"/>
              <a:t>MPLS VPN</a:t>
            </a:r>
            <a:r>
              <a:rPr lang="zh-CN" altLang="en-US" dirty="0"/>
              <a:t>内部路由的数量、承载网的跳数密切相关，</a:t>
            </a:r>
            <a:r>
              <a:rPr lang="en-US" altLang="zh-CN" dirty="0"/>
              <a:t>VPN</a:t>
            </a:r>
            <a:r>
              <a:rPr lang="zh-CN" altLang="en-US" dirty="0"/>
              <a:t>路由数量越大，收敛时间越长。</a:t>
            </a:r>
            <a:endParaRPr lang="en-US" altLang="zh-CN" dirty="0"/>
          </a:p>
          <a:p>
            <a:r>
              <a:rPr lang="zh-CN" altLang="en-US" sz="1100" dirty="0"/>
              <a:t>对于</a:t>
            </a:r>
            <a:r>
              <a:rPr lang="en-US" altLang="zh-CN" sz="1100" dirty="0"/>
              <a:t>VPN FRR</a:t>
            </a:r>
            <a:r>
              <a:rPr lang="zh-CN" altLang="en-US" sz="1100" dirty="0"/>
              <a:t>技术，其收敛时间只取决于远端</a:t>
            </a:r>
            <a:r>
              <a:rPr lang="en-US" altLang="zh-CN" sz="1100" dirty="0"/>
              <a:t>PE</a:t>
            </a:r>
            <a:r>
              <a:rPr lang="zh-CN" altLang="en-US" sz="1100" dirty="0"/>
              <a:t>故障的检测并修改对应隧道状态的时间，由此解决了</a:t>
            </a:r>
            <a:r>
              <a:rPr lang="en-US" altLang="zh-CN" sz="1100" dirty="0"/>
              <a:t>PE</a:t>
            </a:r>
            <a:r>
              <a:rPr lang="zh-CN" altLang="en-US" sz="1100" dirty="0"/>
              <a:t>节点故障恢复时间与其承载的私网路由的数量相关的问题。</a:t>
            </a:r>
            <a:endParaRPr lang="en-US" altLang="zh-CN" sz="1100" dirty="0"/>
          </a:p>
          <a:p>
            <a:r>
              <a:rPr lang="zh-CN" altLang="en-US" sz="1100" dirty="0"/>
              <a:t>本例</a:t>
            </a:r>
            <a:r>
              <a:rPr lang="zh-CN" altLang="en-US" sz="1100"/>
              <a:t>中从</a:t>
            </a:r>
            <a:r>
              <a:rPr lang="en-US" altLang="zh-CN" sz="1100"/>
              <a:t>PE1</a:t>
            </a:r>
            <a:r>
              <a:rPr lang="zh-CN" altLang="en-US" sz="1100"/>
              <a:t>到达</a:t>
            </a:r>
            <a:r>
              <a:rPr lang="en-US" altLang="zh-CN" sz="1100" dirty="0"/>
              <a:t>PE3</a:t>
            </a:r>
            <a:r>
              <a:rPr lang="zh-CN" altLang="en-US" sz="1100" dirty="0"/>
              <a:t>的</a:t>
            </a:r>
            <a:r>
              <a:rPr lang="en-US" altLang="zh-CN" sz="1100" dirty="0"/>
              <a:t>VPN FRR</a:t>
            </a:r>
            <a:r>
              <a:rPr lang="zh-CN" altLang="en-US" sz="1100" dirty="0"/>
              <a:t>的路径同样拥有主备路径，图片中未完全展示。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highlight>
                  <a:srgbClr val="FFFF00"/>
                </a:highlight>
              </a:rPr>
              <a:t>Hot-Standy</a:t>
            </a:r>
            <a:r>
              <a:rPr lang="zh-CN" altLang="en-US">
                <a:highlight>
                  <a:srgbClr val="FFFF00"/>
                </a:highlight>
              </a:rPr>
              <a:t>和</a:t>
            </a:r>
            <a:r>
              <a:rPr lang="en-US" altLang="zh-CN">
                <a:highlight>
                  <a:srgbClr val="FFFF00"/>
                </a:highlight>
              </a:rPr>
              <a:t>VPN FRR</a:t>
            </a:r>
            <a:r>
              <a:rPr lang="zh-CN" altLang="en-US">
                <a:highlight>
                  <a:srgbClr val="FFFF00"/>
                </a:highlight>
              </a:rPr>
              <a:t>的故障感知都需要依赖</a:t>
            </a:r>
            <a:r>
              <a:rPr lang="en-US" altLang="zh-CN">
                <a:highlight>
                  <a:srgbClr val="FFFF00"/>
                </a:highlight>
              </a:rPr>
              <a:t>BFD</a:t>
            </a:r>
            <a:r>
              <a:rPr lang="zh-CN" altLang="en-US">
                <a:highlight>
                  <a:srgbClr val="FFFF00"/>
                </a:highlight>
              </a:rPr>
              <a:t>或</a:t>
            </a:r>
            <a:r>
              <a:rPr lang="en-US" altLang="zh-CN">
                <a:highlight>
                  <a:srgbClr val="FFFF00"/>
                </a:highlight>
              </a:rPr>
              <a:t>SBFD</a:t>
            </a:r>
            <a:r>
              <a:rPr lang="zh-CN" altLang="en-US">
                <a:highlight>
                  <a:srgbClr val="FFFF00"/>
                </a:highlight>
              </a:rPr>
              <a:t>等检测机制。</a:t>
            </a:r>
            <a:endParaRPr lang="zh-CN" altLang="en-US">
              <a:highlight>
                <a:srgbClr val="FFFF00"/>
              </a:highlight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marR="0" lvl="0" indent="-179705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defRPr/>
            </a:pPr>
            <a:r>
              <a:rPr lang="en-US" altLang="zh-CN"/>
              <a:t>P3</a:t>
            </a:r>
            <a:r>
              <a:rPr lang="zh-CN" altLang="en-US"/>
              <a:t>生成的此防微环</a:t>
            </a:r>
            <a:r>
              <a:rPr lang="en-US" altLang="zh-CN"/>
              <a:t>Segment List</a:t>
            </a:r>
            <a:r>
              <a:rPr lang="zh-CN" altLang="en-US"/>
              <a:t>在定时器</a:t>
            </a:r>
            <a:r>
              <a:rPr lang="en-US" altLang="zh-CN"/>
              <a:t>T</a:t>
            </a:r>
            <a:r>
              <a:rPr lang="zh-CN" altLang="en-US"/>
              <a:t>内生效。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P2</a:t>
            </a:r>
            <a:r>
              <a:rPr lang="zh-CN" altLang="en-US"/>
              <a:t>生成的此防微环</a:t>
            </a:r>
            <a:r>
              <a:rPr lang="en-US" altLang="zh-CN"/>
              <a:t>Segment List</a:t>
            </a:r>
            <a:r>
              <a:rPr lang="zh-CN" altLang="en-US"/>
              <a:t>在定时器</a:t>
            </a:r>
            <a:r>
              <a:rPr lang="en-US" altLang="zh-CN"/>
              <a:t>T</a:t>
            </a:r>
            <a:r>
              <a:rPr lang="zh-CN" altLang="en-US"/>
              <a:t>内生效。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highlight>
                  <a:srgbClr val="FFFF00"/>
                </a:highlight>
              </a:rPr>
              <a:t>发起端状态机只有</a:t>
            </a:r>
            <a:r>
              <a:rPr lang="en-US" altLang="zh-CN">
                <a:highlight>
                  <a:srgbClr val="FFFF00"/>
                </a:highlight>
              </a:rPr>
              <a:t>Up</a:t>
            </a:r>
            <a:r>
              <a:rPr lang="zh-CN" altLang="en-US">
                <a:highlight>
                  <a:srgbClr val="FFFF00"/>
                </a:highlight>
              </a:rPr>
              <a:t>和</a:t>
            </a:r>
            <a:r>
              <a:rPr lang="en-US" altLang="zh-CN">
                <a:highlight>
                  <a:srgbClr val="FFFF00"/>
                </a:highlight>
              </a:rPr>
              <a:t>Down</a:t>
            </a:r>
            <a:r>
              <a:rPr lang="zh-CN" altLang="en-US">
                <a:highlight>
                  <a:srgbClr val="FFFF00"/>
                </a:highlight>
              </a:rPr>
              <a:t>状态</a:t>
            </a:r>
            <a:r>
              <a:rPr lang="zh-CN" altLang="en-US"/>
              <a:t>，发出的报文也只有</a:t>
            </a:r>
            <a:r>
              <a:rPr lang="en-US" altLang="zh-CN"/>
              <a:t>Up</a:t>
            </a:r>
            <a:r>
              <a:rPr lang="zh-CN" altLang="en-US"/>
              <a:t>和</a:t>
            </a:r>
            <a:r>
              <a:rPr lang="en-US" altLang="zh-CN"/>
              <a:t>Down</a:t>
            </a:r>
            <a:r>
              <a:rPr lang="zh-CN" altLang="en-US"/>
              <a:t>状态，只能接收</a:t>
            </a:r>
            <a:r>
              <a:rPr lang="en-US" altLang="zh-CN"/>
              <a:t>Up</a:t>
            </a:r>
            <a:r>
              <a:rPr lang="zh-CN" altLang="en-US"/>
              <a:t>或</a:t>
            </a:r>
            <a:r>
              <a:rPr lang="en-US" altLang="zh-CN"/>
              <a:t>Admin Down</a:t>
            </a:r>
            <a:r>
              <a:rPr lang="zh-CN" altLang="en-US"/>
              <a:t>状态报文。</a:t>
            </a:r>
            <a:r>
              <a:rPr lang="en-US" altLang="zh-CN"/>
              <a:t>SBFD</a:t>
            </a:r>
            <a:r>
              <a:rPr lang="zh-CN" altLang="en-US"/>
              <a:t>报文由发起端首先向反射端发送，报文初始状态为</a:t>
            </a:r>
            <a:r>
              <a:rPr lang="en-US" altLang="zh-CN"/>
              <a:t>Down</a:t>
            </a:r>
            <a:r>
              <a:rPr lang="zh-CN" altLang="en-US"/>
              <a:t>。报文</a:t>
            </a:r>
            <a:r>
              <a:rPr lang="zh-CN" altLang="en-US">
                <a:highlight>
                  <a:srgbClr val="FFFF00"/>
                </a:highlight>
              </a:rPr>
              <a:t>目的端口号为</a:t>
            </a:r>
            <a:r>
              <a:rPr lang="en-US" altLang="zh-CN">
                <a:highlight>
                  <a:srgbClr val="FFFF00"/>
                </a:highlight>
              </a:rPr>
              <a:t>7784</a:t>
            </a:r>
            <a:r>
              <a:rPr lang="zh-CN" altLang="en-US"/>
              <a:t>，报文的</a:t>
            </a:r>
            <a:r>
              <a:rPr lang="zh-CN" altLang="en-US">
                <a:highlight>
                  <a:srgbClr val="FFFF00"/>
                </a:highlight>
              </a:rPr>
              <a:t>源端口号为</a:t>
            </a:r>
            <a:r>
              <a:rPr lang="en-US" altLang="zh-CN">
                <a:highlight>
                  <a:srgbClr val="FFFF00"/>
                </a:highlight>
              </a:rPr>
              <a:t>4784</a:t>
            </a:r>
            <a:r>
              <a:rPr lang="zh-CN" altLang="en-US"/>
              <a:t>，</a:t>
            </a:r>
            <a:r>
              <a:rPr lang="zh-CN" altLang="en-US">
                <a:highlight>
                  <a:srgbClr val="FFFF00"/>
                </a:highlight>
              </a:rPr>
              <a:t>目的</a:t>
            </a:r>
            <a:r>
              <a:rPr lang="en-US" altLang="zh-CN">
                <a:highlight>
                  <a:srgbClr val="FFFF00"/>
                </a:highlight>
              </a:rPr>
              <a:t>IP</a:t>
            </a:r>
            <a:r>
              <a:rPr lang="zh-CN" altLang="en-US">
                <a:highlight>
                  <a:srgbClr val="FFFF00"/>
                </a:highlight>
              </a:rPr>
              <a:t>为用户配置的</a:t>
            </a:r>
            <a:r>
              <a:rPr lang="en-US" altLang="zh-CN">
                <a:highlight>
                  <a:srgbClr val="FFFF00"/>
                </a:highlight>
              </a:rPr>
              <a:t>127</a:t>
            </a:r>
            <a:r>
              <a:rPr lang="zh-CN" altLang="en-US">
                <a:highlight>
                  <a:srgbClr val="FFFF00"/>
                </a:highlight>
              </a:rPr>
              <a:t>网段的任意</a:t>
            </a:r>
            <a:r>
              <a:rPr lang="en-US" altLang="zh-CN">
                <a:highlight>
                  <a:srgbClr val="FFFF00"/>
                </a:highlight>
              </a:rPr>
              <a:t>IP</a:t>
            </a:r>
            <a:r>
              <a:rPr lang="zh-CN" altLang="en-US">
                <a:highlight>
                  <a:srgbClr val="FFFF00"/>
                </a:highlight>
              </a:rPr>
              <a:t>地址，源</a:t>
            </a:r>
            <a:r>
              <a:rPr lang="en-US" altLang="zh-CN">
                <a:highlight>
                  <a:srgbClr val="FFFF00"/>
                </a:highlight>
              </a:rPr>
              <a:t>IP</a:t>
            </a:r>
            <a:r>
              <a:rPr lang="zh-CN" altLang="en-US">
                <a:highlight>
                  <a:srgbClr val="FFFF00"/>
                </a:highlight>
              </a:rPr>
              <a:t>地址为本端设备上配置的</a:t>
            </a:r>
            <a:r>
              <a:rPr lang="en-US" altLang="zh-CN">
                <a:highlight>
                  <a:srgbClr val="FFFF00"/>
                </a:highlight>
              </a:rPr>
              <a:t>LSR ID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反射端无</a:t>
            </a:r>
            <a:r>
              <a:rPr lang="en-US" altLang="zh-CN"/>
              <a:t>SBFD</a:t>
            </a:r>
            <a:r>
              <a:rPr lang="zh-CN" altLang="en-US"/>
              <a:t>状态机，无检测机制，不会主动发送</a:t>
            </a:r>
            <a:r>
              <a:rPr lang="en-US" altLang="zh-CN"/>
              <a:t>SBFD Echo</a:t>
            </a:r>
            <a:r>
              <a:rPr lang="zh-CN" altLang="en-US"/>
              <a:t>报文，仅用于构造环回</a:t>
            </a:r>
            <a:r>
              <a:rPr lang="en-US" altLang="zh-CN"/>
              <a:t>SBFD</a:t>
            </a:r>
            <a:r>
              <a:rPr lang="zh-CN" altLang="en-US"/>
              <a:t>报文。反射端所构造报文的目的端口号为</a:t>
            </a:r>
            <a:r>
              <a:rPr lang="en-US" altLang="zh-CN"/>
              <a:t>4784</a:t>
            </a:r>
            <a:r>
              <a:rPr lang="zh-CN" altLang="en-US"/>
              <a:t>，报文的源端口号为</a:t>
            </a:r>
            <a:r>
              <a:rPr lang="en-US" altLang="zh-CN"/>
              <a:t>7784</a:t>
            </a:r>
            <a:r>
              <a:rPr lang="zh-CN" altLang="en-US"/>
              <a:t>，源</a:t>
            </a:r>
            <a:r>
              <a:rPr lang="en-US" altLang="zh-CN"/>
              <a:t>IP</a:t>
            </a:r>
            <a:r>
              <a:rPr lang="zh-CN" altLang="en-US"/>
              <a:t>地址为本端设备配置的</a:t>
            </a:r>
            <a:r>
              <a:rPr lang="en-US" altLang="zh-CN"/>
              <a:t>LSR ID</a:t>
            </a:r>
            <a:r>
              <a:rPr lang="zh-CN" altLang="en-US"/>
              <a:t>，目的</a:t>
            </a:r>
            <a:r>
              <a:rPr lang="en-US" altLang="zh-CN"/>
              <a:t>IP</a:t>
            </a:r>
            <a:r>
              <a:rPr lang="zh-CN" altLang="en-US"/>
              <a:t>为发起端的源</a:t>
            </a:r>
            <a:r>
              <a:rPr lang="en-US" altLang="zh-CN"/>
              <a:t>IP</a:t>
            </a:r>
            <a:r>
              <a:rPr lang="zh-CN" altLang="en-US"/>
              <a:t>地址。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4" name="备注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marR="0" lvl="0" indent="-179705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defRPr/>
            </a:pPr>
            <a:r>
              <a:rPr lang="en-US" altLang="zh-CN" sz="1100" dirty="0"/>
              <a:t>PCEP</a:t>
            </a:r>
            <a:r>
              <a:rPr lang="zh-CN" altLang="en-US" sz="1100" dirty="0"/>
              <a:t>最早是在光传送领域被提出，由于在</a:t>
            </a:r>
            <a:r>
              <a:rPr lang="en-US" altLang="zh-CN" sz="1100" dirty="0"/>
              <a:t>IP</a:t>
            </a:r>
            <a:r>
              <a:rPr lang="zh-CN" altLang="en-US" sz="1100" dirty="0"/>
              <a:t>网络应用少、厂家间互通困难和性能弱等问题较少在企业生产网络中部署。因此在</a:t>
            </a:r>
            <a:r>
              <a:rPr lang="en-US" altLang="zh-CN" sz="1100" dirty="0"/>
              <a:t>SR-MPLS</a:t>
            </a:r>
            <a:r>
              <a:rPr lang="zh-CN" altLang="en-US" sz="1100" dirty="0"/>
              <a:t>网络中，推荐使用</a:t>
            </a:r>
            <a:r>
              <a:rPr lang="en-US" altLang="zh-CN" sz="1100" dirty="0"/>
              <a:t>BGP SR-Policy</a:t>
            </a:r>
            <a:r>
              <a:rPr lang="zh-CN" altLang="en-US" sz="1100" dirty="0"/>
              <a:t>。</a:t>
            </a:r>
            <a:endParaRPr lang="en-US" altLang="zh-CN" sz="1100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SR-MPLS</a:t>
            </a:r>
            <a:r>
              <a:rPr lang="zh-CN" altLang="en-US" dirty="0"/>
              <a:t>域的所有节点上使能</a:t>
            </a:r>
            <a:r>
              <a:rPr lang="en-US" altLang="zh-CN" dirty="0"/>
              <a:t>MPLS</a:t>
            </a:r>
            <a:r>
              <a:rPr lang="zh-CN" altLang="en-US" dirty="0"/>
              <a:t>是配置</a:t>
            </a:r>
            <a:r>
              <a:rPr lang="en-US" altLang="zh-CN" dirty="0"/>
              <a:t>SR-MPLS BE</a:t>
            </a:r>
            <a:r>
              <a:rPr lang="zh-CN" altLang="en-US" dirty="0"/>
              <a:t>隧道的首要步骤。配置步骤如下：</a:t>
            </a:r>
            <a:endParaRPr lang="en-US" altLang="zh-CN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i="0" dirty="0"/>
              <a:t>system-view</a:t>
            </a:r>
            <a:r>
              <a:rPr lang="zh-CN" altLang="en-US" dirty="0"/>
              <a:t>，进入系统视图。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 err="1"/>
              <a:t>mpls</a:t>
            </a:r>
            <a:r>
              <a:rPr lang="en-US" altLang="zh-CN" b="1" dirty="0"/>
              <a:t> </a:t>
            </a:r>
            <a:r>
              <a:rPr lang="en-US" altLang="zh-CN" b="1" dirty="0" err="1"/>
              <a:t>lsr</a:t>
            </a:r>
            <a:r>
              <a:rPr lang="en-US" altLang="zh-CN" b="1" dirty="0"/>
              <a:t>-id</a:t>
            </a:r>
            <a:r>
              <a:rPr lang="zh-CN" altLang="en-US" b="1" dirty="0"/>
              <a:t> </a:t>
            </a:r>
            <a:r>
              <a:rPr lang="en-US" altLang="zh-CN" i="1" dirty="0" err="1"/>
              <a:t>lsr</a:t>
            </a:r>
            <a:r>
              <a:rPr lang="en-US" altLang="zh-CN" i="1" dirty="0"/>
              <a:t>-id</a:t>
            </a:r>
            <a:r>
              <a:rPr lang="zh-CN" altLang="en-US" dirty="0"/>
              <a:t>，配置本节点的</a:t>
            </a:r>
            <a:r>
              <a:rPr lang="en-US" altLang="zh-CN" dirty="0"/>
              <a:t>LSR ID</a:t>
            </a:r>
            <a:r>
              <a:rPr lang="zh-CN" altLang="en-US" dirty="0"/>
              <a:t>。 </a:t>
            </a:r>
            <a:endParaRPr lang="zh-CN" altLang="en-US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LSR ID</a:t>
            </a:r>
            <a:r>
              <a:rPr lang="zh-CN" altLang="en-US" dirty="0"/>
              <a:t>时，请注意以下事项： </a:t>
            </a:r>
            <a:endParaRPr lang="en-US" altLang="zh-CN" dirty="0"/>
          </a:p>
          <a:p>
            <a:pPr lvl="2"/>
            <a:r>
              <a:rPr lang="zh-CN" altLang="en-US" dirty="0"/>
              <a:t>配置</a:t>
            </a:r>
            <a:r>
              <a:rPr lang="en-US" altLang="zh-CN" dirty="0"/>
              <a:t>LSR ID</a:t>
            </a:r>
            <a:r>
              <a:rPr lang="zh-CN" altLang="en-US" dirty="0"/>
              <a:t>是进行所有</a:t>
            </a:r>
            <a:r>
              <a:rPr lang="en-US" altLang="zh-CN" dirty="0"/>
              <a:t>MPLS</a:t>
            </a:r>
            <a:r>
              <a:rPr lang="zh-CN" altLang="en-US" dirty="0"/>
              <a:t>配置的前提。</a:t>
            </a:r>
            <a:endParaRPr lang="zh-CN" altLang="en-US" dirty="0"/>
          </a:p>
          <a:p>
            <a:pPr lvl="2"/>
            <a:r>
              <a:rPr lang="en-US" altLang="zh-CN" dirty="0"/>
              <a:t>LSR</a:t>
            </a:r>
            <a:r>
              <a:rPr lang="zh-CN" altLang="en-US" dirty="0"/>
              <a:t>没有缺省的</a:t>
            </a:r>
            <a:r>
              <a:rPr lang="en-US" altLang="zh-CN" dirty="0"/>
              <a:t>LSR ID</a:t>
            </a:r>
            <a:r>
              <a:rPr lang="zh-CN" altLang="en-US" dirty="0"/>
              <a:t>，必须手工配置。</a:t>
            </a:r>
            <a:endParaRPr lang="zh-CN" altLang="en-US" dirty="0"/>
          </a:p>
          <a:p>
            <a:pPr lvl="2"/>
            <a:r>
              <a:rPr lang="zh-CN" altLang="en-US" dirty="0"/>
              <a:t>推荐使用</a:t>
            </a:r>
            <a:r>
              <a:rPr lang="en-US" altLang="zh-CN" dirty="0"/>
              <a:t>LSR</a:t>
            </a:r>
            <a:r>
              <a:rPr lang="zh-CN" altLang="en-US" dirty="0"/>
              <a:t>某个</a:t>
            </a:r>
            <a:r>
              <a:rPr lang="en-US" altLang="zh-CN" dirty="0"/>
              <a:t>Loopback</a:t>
            </a:r>
            <a:r>
              <a:rPr lang="zh-CN" altLang="en-US" dirty="0"/>
              <a:t>接口的地址做为</a:t>
            </a:r>
            <a:r>
              <a:rPr lang="en-US" altLang="zh-CN" dirty="0"/>
              <a:t>LSR ID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dirty="0" err="1"/>
              <a:t>mpls</a:t>
            </a:r>
            <a:r>
              <a:rPr lang="zh-CN" altLang="en-US" dirty="0"/>
              <a:t>，使能</a:t>
            </a:r>
            <a:r>
              <a:rPr lang="en-US" altLang="zh-CN" dirty="0"/>
              <a:t>MPLS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配配置</a:t>
            </a:r>
            <a:r>
              <a:rPr lang="en-US" altLang="zh-CN" dirty="0"/>
              <a:t>SR-MPLS BE</a:t>
            </a:r>
            <a:r>
              <a:rPr lang="zh-CN" altLang="en-US" dirty="0"/>
              <a:t>的基本功能主要包括以下几个步骤：全局使能</a:t>
            </a:r>
            <a:r>
              <a:rPr lang="en-US" altLang="zh-CN" dirty="0"/>
              <a:t>SR</a:t>
            </a:r>
            <a:r>
              <a:rPr lang="zh-CN" altLang="en-US" dirty="0"/>
              <a:t>能力，配置</a:t>
            </a:r>
            <a:r>
              <a:rPr lang="en-US" altLang="zh-CN" dirty="0"/>
              <a:t>Segment Routing</a:t>
            </a:r>
            <a:r>
              <a:rPr lang="zh-CN" altLang="en-US" dirty="0"/>
              <a:t>全局标签范围，配置</a:t>
            </a:r>
            <a:r>
              <a:rPr lang="en-US" altLang="zh-CN" dirty="0"/>
              <a:t>Segment Routing</a:t>
            </a:r>
            <a:r>
              <a:rPr lang="zh-CN" altLang="en-US" dirty="0"/>
              <a:t>前缀标签。</a:t>
            </a:r>
            <a:endParaRPr lang="en-US" altLang="zh-CN" dirty="0"/>
          </a:p>
          <a:p>
            <a:pPr lvl="1"/>
            <a:r>
              <a:rPr lang="zh-CN" altLang="en-US" dirty="0"/>
              <a:t>全局使能</a:t>
            </a:r>
            <a:r>
              <a:rPr lang="en-US" altLang="zh-CN" dirty="0"/>
              <a:t>SR</a:t>
            </a:r>
            <a:r>
              <a:rPr lang="zh-CN" altLang="en-US" dirty="0"/>
              <a:t>能力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system-view</a:t>
            </a:r>
            <a:r>
              <a:rPr lang="zh-CN" altLang="en-US" dirty="0"/>
              <a:t>，进入系统视图。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segment-routing</a:t>
            </a:r>
            <a:r>
              <a:rPr lang="zh-CN" altLang="en-US" dirty="0"/>
              <a:t>，进入</a:t>
            </a:r>
            <a:r>
              <a:rPr lang="en-US" altLang="zh-CN" dirty="0"/>
              <a:t>Segment Routing</a:t>
            </a:r>
            <a:r>
              <a:rPr lang="zh-CN" altLang="en-US" dirty="0"/>
              <a:t>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commit</a:t>
            </a:r>
            <a:r>
              <a:rPr lang="zh-CN" altLang="en-US" dirty="0"/>
              <a:t>，提交配置。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quit</a:t>
            </a:r>
            <a:r>
              <a:rPr lang="zh-CN" altLang="en-US" dirty="0"/>
              <a:t>，退回系统视图。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31838" y="728662"/>
            <a:ext cx="5580062" cy="5969317"/>
          </a:xfrm>
        </p:spPr>
        <p:txBody>
          <a:bodyPr/>
          <a:lstStyle/>
          <a:p>
            <a:pPr lvl="1"/>
            <a:r>
              <a:rPr lang="zh-CN" altLang="en-US" dirty="0"/>
              <a:t>配置</a:t>
            </a:r>
            <a:r>
              <a:rPr lang="en-US" altLang="zh-CN" dirty="0"/>
              <a:t>Segment Routing</a:t>
            </a:r>
            <a:r>
              <a:rPr lang="zh-CN" altLang="en-US" dirty="0"/>
              <a:t>全局标签范围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 err="1"/>
              <a:t>ospf</a:t>
            </a:r>
            <a:r>
              <a:rPr lang="en-US" altLang="zh-CN" dirty="0"/>
              <a:t> </a:t>
            </a:r>
            <a:r>
              <a:rPr lang="en-US" altLang="zh-CN" i="1" dirty="0"/>
              <a:t>process-id</a:t>
            </a:r>
            <a:r>
              <a:rPr lang="zh-CN" altLang="en-US" dirty="0"/>
              <a:t>，进入</a:t>
            </a:r>
            <a:r>
              <a:rPr lang="en-US" altLang="zh-CN" dirty="0"/>
              <a:t>OSPF</a:t>
            </a:r>
            <a:r>
              <a:rPr lang="zh-CN" altLang="en-US" dirty="0"/>
              <a:t>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opaque-capability enable</a:t>
            </a:r>
            <a:r>
              <a:rPr lang="zh-CN" altLang="en-US" dirty="0"/>
              <a:t>，使能</a:t>
            </a:r>
            <a:r>
              <a:rPr lang="en-US" altLang="zh-CN" dirty="0"/>
              <a:t>opaque LSA</a:t>
            </a:r>
            <a:r>
              <a:rPr lang="zh-CN" altLang="en-US" dirty="0"/>
              <a:t>能力。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segment-routing </a:t>
            </a:r>
            <a:r>
              <a:rPr lang="en-US" altLang="zh-CN" b="1" dirty="0" err="1"/>
              <a:t>mpls</a:t>
            </a:r>
            <a:r>
              <a:rPr lang="zh-CN" altLang="en-US" dirty="0"/>
              <a:t>，使能</a:t>
            </a:r>
            <a:r>
              <a:rPr lang="en-US" altLang="zh-CN" dirty="0"/>
              <a:t>OSPF</a:t>
            </a:r>
            <a:r>
              <a:rPr lang="zh-CN" altLang="en-US" dirty="0"/>
              <a:t>对应拓扑的</a:t>
            </a:r>
            <a:r>
              <a:rPr lang="en-US" altLang="zh-CN" dirty="0"/>
              <a:t>Segment Routing</a:t>
            </a:r>
            <a:r>
              <a:rPr lang="zh-CN" altLang="en-US" dirty="0"/>
              <a:t>功能。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segment-routing global-block </a:t>
            </a:r>
            <a:r>
              <a:rPr lang="en-US" altLang="zh-CN" i="1" dirty="0"/>
              <a:t>begin-value end-value</a:t>
            </a:r>
            <a:r>
              <a:rPr lang="zh-CN" altLang="en-US" dirty="0"/>
              <a:t>，配置</a:t>
            </a:r>
            <a:r>
              <a:rPr lang="en-US" altLang="zh-CN" dirty="0"/>
              <a:t>OSPF</a:t>
            </a:r>
            <a:r>
              <a:rPr lang="zh-CN" altLang="en-US" dirty="0"/>
              <a:t>的</a:t>
            </a:r>
            <a:r>
              <a:rPr lang="en-US" altLang="zh-CN" dirty="0"/>
              <a:t>Segment Routing</a:t>
            </a:r>
            <a:r>
              <a:rPr lang="zh-CN" altLang="en-US" dirty="0"/>
              <a:t>全局标签范围。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commit</a:t>
            </a:r>
            <a:r>
              <a:rPr lang="zh-CN" altLang="en-US" dirty="0"/>
              <a:t>，提交配置。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quit</a:t>
            </a:r>
            <a:r>
              <a:rPr lang="zh-CN" altLang="en-US" dirty="0"/>
              <a:t>，退回系统视图。</a:t>
            </a:r>
            <a:endParaRPr lang="zh-CN" altLang="en-US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Segment Routing</a:t>
            </a:r>
            <a:r>
              <a:rPr lang="zh-CN" altLang="en-US" dirty="0"/>
              <a:t>前缀标签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interface loopback</a:t>
            </a:r>
            <a:r>
              <a:rPr lang="en-US" altLang="zh-CN" b="1" i="1" dirty="0"/>
              <a:t> </a:t>
            </a:r>
            <a:r>
              <a:rPr lang="en-US" altLang="zh-CN" i="1" dirty="0"/>
              <a:t>loopback-number</a:t>
            </a:r>
            <a:r>
              <a:rPr lang="zh-CN" altLang="en-US" dirty="0"/>
              <a:t>，创建</a:t>
            </a:r>
            <a:r>
              <a:rPr lang="en-US" altLang="zh-CN" dirty="0"/>
              <a:t>Loopback</a:t>
            </a:r>
            <a:r>
              <a:rPr lang="zh-CN" altLang="en-US" dirty="0"/>
              <a:t>接口并进入接口视图。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 err="1"/>
              <a:t>ospf</a:t>
            </a:r>
            <a:r>
              <a:rPr lang="en-US" altLang="zh-CN" b="1" dirty="0"/>
              <a:t> enable </a:t>
            </a:r>
            <a:r>
              <a:rPr lang="en-US" altLang="zh-CN" dirty="0"/>
              <a:t>[ </a:t>
            </a:r>
            <a:r>
              <a:rPr lang="en-US" altLang="zh-CN" i="1" dirty="0"/>
              <a:t>process-id</a:t>
            </a:r>
            <a:r>
              <a:rPr lang="en-US" altLang="zh-CN" dirty="0"/>
              <a:t> ] </a:t>
            </a:r>
            <a:r>
              <a:rPr lang="en-US" altLang="zh-CN" b="1" dirty="0"/>
              <a:t>area</a:t>
            </a:r>
            <a:r>
              <a:rPr lang="en-US" altLang="zh-CN" dirty="0"/>
              <a:t> </a:t>
            </a:r>
            <a:r>
              <a:rPr lang="en-US" altLang="zh-CN" i="1" dirty="0"/>
              <a:t>area-id</a:t>
            </a:r>
            <a:r>
              <a:rPr lang="zh-CN" altLang="en-US" dirty="0"/>
              <a:t>，使能</a:t>
            </a:r>
            <a:r>
              <a:rPr lang="en-US" altLang="zh-CN" dirty="0"/>
              <a:t>OSPF</a:t>
            </a:r>
            <a:r>
              <a:rPr lang="zh-CN" altLang="en-US" dirty="0"/>
              <a:t>接口。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 err="1"/>
              <a:t>ip</a:t>
            </a:r>
            <a:r>
              <a:rPr lang="en-US" altLang="zh-CN" b="1" dirty="0"/>
              <a:t> address </a:t>
            </a:r>
            <a:r>
              <a:rPr lang="en-US" altLang="zh-CN" i="1" dirty="0" err="1"/>
              <a:t>ip</a:t>
            </a:r>
            <a:r>
              <a:rPr lang="en-US" altLang="zh-CN" i="1" dirty="0"/>
              <a:t>-address </a:t>
            </a:r>
            <a:r>
              <a:rPr lang="en-US" altLang="zh-CN" dirty="0"/>
              <a:t>{ </a:t>
            </a:r>
            <a:r>
              <a:rPr lang="en-US" altLang="zh-CN" i="1" dirty="0"/>
              <a:t>mask | mask-length </a:t>
            </a:r>
            <a:r>
              <a:rPr lang="en-US" altLang="zh-CN" dirty="0"/>
              <a:t>}</a:t>
            </a:r>
            <a:r>
              <a:rPr lang="zh-CN" altLang="en-US" dirty="0"/>
              <a:t>，配置</a:t>
            </a:r>
            <a:r>
              <a:rPr lang="en-US" altLang="zh-CN" dirty="0"/>
              <a:t>Loopback</a:t>
            </a:r>
            <a:r>
              <a:rPr lang="zh-CN" altLang="en-US" dirty="0"/>
              <a:t>接口的</a:t>
            </a:r>
            <a:r>
              <a:rPr lang="en-US" altLang="zh-CN" dirty="0"/>
              <a:t>IP</a:t>
            </a:r>
            <a:r>
              <a:rPr lang="zh-CN" altLang="en-US" dirty="0"/>
              <a:t>地址。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 err="1"/>
              <a:t>ospf</a:t>
            </a:r>
            <a:r>
              <a:rPr lang="en-US" altLang="zh-CN" b="1" dirty="0"/>
              <a:t> </a:t>
            </a:r>
            <a:r>
              <a:rPr lang="en-US" altLang="zh-CN" i="1" dirty="0"/>
              <a:t>prefix-</a:t>
            </a:r>
            <a:r>
              <a:rPr lang="en-US" altLang="zh-CN" i="1" dirty="0" err="1"/>
              <a:t>sid</a:t>
            </a:r>
            <a:r>
              <a:rPr lang="en-US" altLang="zh-CN" i="1" dirty="0"/>
              <a:t> </a:t>
            </a:r>
            <a:r>
              <a:rPr lang="en-US" altLang="zh-CN" dirty="0"/>
              <a:t>{ </a:t>
            </a:r>
            <a:r>
              <a:rPr lang="en-US" altLang="zh-CN" i="1" dirty="0"/>
              <a:t>absolute </a:t>
            </a:r>
            <a:r>
              <a:rPr lang="en-US" altLang="zh-CN" i="1" dirty="0" err="1"/>
              <a:t>sid</a:t>
            </a:r>
            <a:r>
              <a:rPr lang="en-US" altLang="zh-CN" i="1" dirty="0"/>
              <a:t>-value </a:t>
            </a:r>
            <a:r>
              <a:rPr lang="en-US" altLang="zh-CN" dirty="0"/>
              <a:t>| </a:t>
            </a:r>
            <a:r>
              <a:rPr lang="en-US" altLang="zh-CN" i="1" dirty="0"/>
              <a:t>index index-value </a:t>
            </a:r>
            <a:r>
              <a:rPr lang="en-US" altLang="zh-CN" dirty="0"/>
              <a:t>} [ </a:t>
            </a:r>
            <a:r>
              <a:rPr lang="en-US" altLang="zh-CN" i="1" dirty="0"/>
              <a:t>node-disable</a:t>
            </a:r>
            <a:r>
              <a:rPr lang="en-US" altLang="zh-CN" dirty="0"/>
              <a:t> ]</a:t>
            </a:r>
            <a:r>
              <a:rPr lang="zh-CN" altLang="en-US" dirty="0"/>
              <a:t>，配置该接口的</a:t>
            </a:r>
            <a:r>
              <a:rPr lang="en-US" altLang="zh-CN" dirty="0"/>
              <a:t>IP</a:t>
            </a:r>
            <a:r>
              <a:rPr lang="zh-CN" altLang="en-US" dirty="0"/>
              <a:t>地址为</a:t>
            </a:r>
            <a:r>
              <a:rPr lang="en-US" altLang="zh-CN" dirty="0"/>
              <a:t>Segment Routing</a:t>
            </a:r>
            <a:r>
              <a:rPr lang="zh-CN" altLang="en-US" dirty="0"/>
              <a:t>标签前缀。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配置顺序选择方式的隧道策略：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/>
              <a:t>system-view</a:t>
            </a:r>
            <a:r>
              <a:rPr lang="zh-CN" altLang="en-US" dirty="0"/>
              <a:t>，进入系统视图。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/>
              <a:t>tunnel-policy</a:t>
            </a:r>
            <a:r>
              <a:rPr lang="en-US" altLang="zh-CN" dirty="0"/>
              <a:t> </a:t>
            </a:r>
            <a:r>
              <a:rPr lang="en-US" altLang="zh-CN" i="1" dirty="0"/>
              <a:t>policy-name</a:t>
            </a:r>
            <a:r>
              <a:rPr lang="zh-CN" altLang="en-US" dirty="0"/>
              <a:t>，创建隧道策略，并进入隧道策略视图。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/>
              <a:t>tunnel select-</a:t>
            </a:r>
            <a:r>
              <a:rPr lang="en-US" altLang="zh-CN" b="1" dirty="0" err="1"/>
              <a:t>seq</a:t>
            </a:r>
            <a:r>
              <a:rPr lang="en-US" altLang="zh-CN" b="1" dirty="0"/>
              <a:t> </a:t>
            </a:r>
            <a:r>
              <a:rPr lang="en-US" altLang="zh-CN" i="1" dirty="0" err="1"/>
              <a:t>sr-lsp</a:t>
            </a:r>
            <a:r>
              <a:rPr lang="en-US" altLang="zh-CN" dirty="0"/>
              <a:t> </a:t>
            </a:r>
            <a:r>
              <a:rPr lang="en-US" altLang="zh-CN" b="1" dirty="0"/>
              <a:t>load-balance-number</a:t>
            </a:r>
            <a:r>
              <a:rPr lang="en-US" altLang="zh-CN" dirty="0"/>
              <a:t> </a:t>
            </a:r>
            <a:r>
              <a:rPr lang="en-US" altLang="zh-CN" i="1" dirty="0" err="1"/>
              <a:t>load-balance-number</a:t>
            </a:r>
            <a:r>
              <a:rPr lang="en-US" altLang="zh-CN" dirty="0"/>
              <a:t> [ </a:t>
            </a:r>
            <a:r>
              <a:rPr lang="en-US" altLang="zh-CN" i="1" dirty="0" err="1"/>
              <a:t>unmix</a:t>
            </a:r>
            <a:r>
              <a:rPr lang="en-US" altLang="zh-CN" dirty="0"/>
              <a:t> ]</a:t>
            </a:r>
            <a:r>
              <a:rPr lang="zh-CN" altLang="en-US" dirty="0"/>
              <a:t>，配置选择隧道的优先级顺序和负载分担条数。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/>
              <a:t>commit</a:t>
            </a:r>
            <a:r>
              <a:rPr lang="zh-CN" altLang="en-US" dirty="0"/>
              <a:t>，提交配置。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/>
              <a:t>quit</a:t>
            </a:r>
            <a:r>
              <a:rPr lang="zh-CN" altLang="en-US" dirty="0"/>
              <a:t>，退回系统视图。</a:t>
            </a:r>
            <a:endParaRPr lang="zh-CN" altLang="en-US" dirty="0"/>
          </a:p>
          <a:p>
            <a:r>
              <a:rPr lang="zh-CN" altLang="en-US" dirty="0"/>
              <a:t>配置</a:t>
            </a:r>
            <a:r>
              <a:rPr lang="en-US" altLang="zh-CN" dirty="0"/>
              <a:t>BGP L3VPN</a:t>
            </a:r>
            <a:r>
              <a:rPr lang="zh-CN" altLang="en-US" dirty="0"/>
              <a:t>迭代到</a:t>
            </a:r>
            <a:r>
              <a:rPr lang="en-US" altLang="zh-CN" dirty="0"/>
              <a:t>SR-MPLS BE</a:t>
            </a:r>
            <a:r>
              <a:rPr lang="zh-CN" altLang="en-US" dirty="0"/>
              <a:t>隧道：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 err="1"/>
              <a:t>ip</a:t>
            </a:r>
            <a:r>
              <a:rPr lang="en-US" altLang="zh-CN" b="1" dirty="0"/>
              <a:t> </a:t>
            </a:r>
            <a:r>
              <a:rPr lang="en-US" altLang="zh-CN" b="1" dirty="0" err="1"/>
              <a:t>vpn</a:t>
            </a:r>
            <a:r>
              <a:rPr lang="en-US" altLang="zh-CN" b="1" dirty="0"/>
              <a:t>-instance </a:t>
            </a:r>
            <a:r>
              <a:rPr lang="en-US" altLang="zh-CN" i="1" dirty="0" err="1"/>
              <a:t>vpn</a:t>
            </a:r>
            <a:r>
              <a:rPr lang="en-US" altLang="zh-CN" i="1" dirty="0"/>
              <a:t>-instance-name</a:t>
            </a:r>
            <a:r>
              <a:rPr lang="zh-CN" altLang="en-US" dirty="0"/>
              <a:t>，进入</a:t>
            </a:r>
            <a:r>
              <a:rPr lang="en-US" altLang="zh-CN" dirty="0"/>
              <a:t>VPN</a:t>
            </a:r>
            <a:r>
              <a:rPr lang="zh-CN" altLang="en-US" dirty="0"/>
              <a:t>实例视图。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/>
              <a:t>ipv4-family</a:t>
            </a:r>
            <a:r>
              <a:rPr lang="zh-CN" altLang="en-US" dirty="0"/>
              <a:t>，进入</a:t>
            </a:r>
            <a:r>
              <a:rPr lang="en-US" altLang="zh-CN" dirty="0"/>
              <a:t>VPN</a:t>
            </a:r>
            <a:r>
              <a:rPr lang="zh-CN" altLang="en-US" dirty="0"/>
              <a:t>实例</a:t>
            </a:r>
            <a:r>
              <a:rPr lang="en-US" altLang="zh-CN" dirty="0"/>
              <a:t>IPv4</a:t>
            </a:r>
            <a:r>
              <a:rPr lang="zh-CN" altLang="en-US" dirty="0"/>
              <a:t>地址族视图。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 err="1"/>
              <a:t>tnl</a:t>
            </a:r>
            <a:r>
              <a:rPr lang="en-US" altLang="zh-CN" b="1" dirty="0"/>
              <a:t>-policy</a:t>
            </a:r>
            <a:r>
              <a:rPr lang="en-US" altLang="zh-CN" i="1" dirty="0"/>
              <a:t> policy-name</a:t>
            </a:r>
            <a:r>
              <a:rPr lang="zh-CN" altLang="en-US" dirty="0"/>
              <a:t>，对</a:t>
            </a:r>
            <a:r>
              <a:rPr lang="en-US" altLang="zh-CN" dirty="0"/>
              <a:t>VPN</a:t>
            </a:r>
            <a:r>
              <a:rPr lang="zh-CN" altLang="en-US" dirty="0"/>
              <a:t>实例</a:t>
            </a:r>
            <a:r>
              <a:rPr lang="en-US" altLang="zh-CN" dirty="0"/>
              <a:t>IPv4</a:t>
            </a:r>
            <a:r>
              <a:rPr lang="zh-CN" altLang="en-US" dirty="0"/>
              <a:t>地址族应用隧道策略。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/>
              <a:t>commit</a:t>
            </a:r>
            <a:r>
              <a:rPr lang="zh-CN" altLang="en-US" dirty="0"/>
              <a:t>，提交配置。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SR MPLS</a:t>
            </a:r>
            <a:r>
              <a:rPr lang="zh-CN" altLang="en-US" dirty="0"/>
              <a:t>域的所有节点上使能</a:t>
            </a:r>
            <a:r>
              <a:rPr lang="en-US" altLang="zh-CN" dirty="0"/>
              <a:t>MPLS TE</a:t>
            </a:r>
            <a:r>
              <a:rPr lang="zh-CN" altLang="en-US" dirty="0"/>
              <a:t>是配置</a:t>
            </a:r>
            <a:r>
              <a:rPr lang="en-US" altLang="zh-CN" dirty="0"/>
              <a:t>SR-MPLS TE</a:t>
            </a:r>
            <a:r>
              <a:rPr lang="zh-CN" altLang="en-US" dirty="0"/>
              <a:t>隧道的首要步骤，配置步骤如下：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dirty="0"/>
              <a:t>system-view</a:t>
            </a:r>
            <a:r>
              <a:rPr lang="zh-CN" altLang="en-US" dirty="0"/>
              <a:t>，进入系统视图。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 err="1"/>
              <a:t>mpls</a:t>
            </a:r>
            <a:r>
              <a:rPr lang="en-US" altLang="zh-CN" b="1" dirty="0"/>
              <a:t> </a:t>
            </a:r>
            <a:r>
              <a:rPr lang="en-US" altLang="zh-CN" b="1" dirty="0" err="1"/>
              <a:t>lsr</a:t>
            </a:r>
            <a:r>
              <a:rPr lang="en-US" altLang="zh-CN" b="1" dirty="0"/>
              <a:t>-id </a:t>
            </a:r>
            <a:r>
              <a:rPr lang="en-US" altLang="zh-CN" i="1" dirty="0" err="1"/>
              <a:t>lsr</a:t>
            </a:r>
            <a:r>
              <a:rPr lang="en-US" altLang="zh-CN" i="1" dirty="0"/>
              <a:t>-id</a:t>
            </a:r>
            <a:r>
              <a:rPr lang="zh-CN" altLang="en-US" dirty="0"/>
              <a:t>，配置本节点的</a:t>
            </a:r>
            <a:r>
              <a:rPr lang="en-US" altLang="zh-CN" dirty="0"/>
              <a:t>LSR ID</a:t>
            </a:r>
            <a:r>
              <a:rPr lang="zh-CN" altLang="en-US" dirty="0"/>
              <a:t>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 err="1"/>
              <a:t>mpls</a:t>
            </a:r>
            <a:r>
              <a:rPr lang="zh-CN" altLang="en-US" dirty="0"/>
              <a:t>，进入</a:t>
            </a:r>
            <a:r>
              <a:rPr lang="en-US" altLang="zh-CN" dirty="0"/>
              <a:t>MPLS</a:t>
            </a:r>
            <a:r>
              <a:rPr lang="zh-CN" altLang="en-US" dirty="0"/>
              <a:t>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 err="1"/>
              <a:t>mpls</a:t>
            </a:r>
            <a:r>
              <a:rPr lang="en-US" altLang="zh-CN" b="1" dirty="0"/>
              <a:t> </a:t>
            </a:r>
            <a:r>
              <a:rPr lang="en-US" altLang="zh-CN" b="1" dirty="0" err="1"/>
              <a:t>te</a:t>
            </a:r>
            <a:r>
              <a:rPr lang="zh-CN" altLang="en-US" dirty="0"/>
              <a:t>，全局使能本节点的</a:t>
            </a:r>
            <a:r>
              <a:rPr lang="en-US" altLang="zh-CN" dirty="0"/>
              <a:t>MPLS TE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使能接口的</a:t>
            </a:r>
            <a:r>
              <a:rPr lang="en-US" altLang="zh-CN" dirty="0"/>
              <a:t>MPLS TE</a:t>
            </a:r>
            <a:r>
              <a:rPr lang="zh-CN" altLang="en-US" dirty="0"/>
              <a:t>能力（可选）。在控制器算路和头节点算路场景，必须使能接口的</a:t>
            </a:r>
            <a:r>
              <a:rPr lang="en-US" altLang="zh-CN" dirty="0"/>
              <a:t>MPLS TE</a:t>
            </a:r>
            <a:r>
              <a:rPr lang="zh-CN" altLang="en-US" dirty="0"/>
              <a:t>能力。静态显式路径场景，可以忽略该步骤。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quit</a:t>
            </a:r>
            <a:r>
              <a:rPr lang="zh-CN" altLang="en-US" dirty="0"/>
              <a:t>，退回系统视图。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interface</a:t>
            </a:r>
            <a:r>
              <a:rPr lang="en-US" altLang="zh-CN" dirty="0"/>
              <a:t> </a:t>
            </a:r>
            <a:r>
              <a:rPr lang="en-US" altLang="zh-CN" i="1" dirty="0"/>
              <a:t>interface-type interface-number</a:t>
            </a:r>
            <a:r>
              <a:rPr lang="zh-CN" altLang="en-US" dirty="0"/>
              <a:t>，进入</a:t>
            </a:r>
            <a:r>
              <a:rPr lang="en-US" altLang="zh-CN" dirty="0"/>
              <a:t>MPLS TE</a:t>
            </a:r>
            <a:r>
              <a:rPr lang="zh-CN" altLang="en-US" dirty="0"/>
              <a:t>链路的接口视图。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 err="1"/>
              <a:t>mpls</a:t>
            </a:r>
            <a:r>
              <a:rPr lang="zh-CN" altLang="en-US" dirty="0"/>
              <a:t>，使能接口的</a:t>
            </a:r>
            <a:r>
              <a:rPr lang="en-US" altLang="zh-CN" dirty="0"/>
              <a:t>MPLS</a:t>
            </a:r>
            <a:r>
              <a:rPr lang="zh-CN" altLang="en-US" dirty="0"/>
              <a:t>能力。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 err="1"/>
              <a:t>mpls</a:t>
            </a:r>
            <a:r>
              <a:rPr lang="en-US" altLang="zh-CN" b="1" dirty="0"/>
              <a:t> </a:t>
            </a:r>
            <a:r>
              <a:rPr lang="en-US" altLang="zh-CN" b="1" dirty="0" err="1"/>
              <a:t>te</a:t>
            </a:r>
            <a:r>
              <a:rPr lang="zh-CN" altLang="en-US" dirty="0"/>
              <a:t>，使能接口的</a:t>
            </a:r>
            <a:r>
              <a:rPr lang="en-US" altLang="zh-CN" dirty="0"/>
              <a:t>MPLS TE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/>
              <a:t>commit</a:t>
            </a:r>
            <a:r>
              <a:rPr lang="zh-CN" altLang="en-US" dirty="0"/>
              <a:t>，提交配置。</a:t>
            </a:r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3582" y="728662"/>
            <a:ext cx="5580062" cy="8468677"/>
          </a:xfrm>
        </p:spPr>
        <p:txBody>
          <a:bodyPr/>
          <a:lstStyle/>
          <a:p>
            <a:pPr lvl="0"/>
            <a:r>
              <a:rPr lang="en-US" altLang="zh-CN" dirty="0"/>
              <a:t>SR-MPLS TE</a:t>
            </a:r>
            <a:r>
              <a:rPr lang="zh-CN" altLang="en-US" dirty="0"/>
              <a:t>有严格路径（</a:t>
            </a:r>
            <a:r>
              <a:rPr lang="en-US" altLang="zh-CN" dirty="0"/>
              <a:t>Strict Explicit</a:t>
            </a:r>
            <a:r>
              <a:rPr lang="zh-CN" altLang="en-US" dirty="0"/>
              <a:t>）和松散路径（</a:t>
            </a:r>
            <a:r>
              <a:rPr lang="en-US" altLang="zh-CN" dirty="0"/>
              <a:t>Loose Explicit</a:t>
            </a:r>
            <a:r>
              <a:rPr lang="zh-CN" altLang="en-US" dirty="0"/>
              <a:t>）两种，严格路径主要使用</a:t>
            </a:r>
            <a:r>
              <a:rPr lang="en-US" altLang="zh-CN" dirty="0"/>
              <a:t>Adjacency SID</a:t>
            </a:r>
            <a:r>
              <a:rPr lang="zh-CN" altLang="en-US" dirty="0"/>
              <a:t>，松散路径使用</a:t>
            </a:r>
            <a:r>
              <a:rPr lang="en-US" altLang="zh-CN" dirty="0"/>
              <a:t>Adjacency SID</a:t>
            </a:r>
            <a:r>
              <a:rPr lang="zh-CN" altLang="en-US" dirty="0"/>
              <a:t>和</a:t>
            </a:r>
            <a:r>
              <a:rPr lang="en-US" altLang="zh-CN" dirty="0"/>
              <a:t>Node SID</a:t>
            </a:r>
            <a:r>
              <a:rPr lang="zh-CN" altLang="en-US" dirty="0"/>
              <a:t>。配置</a:t>
            </a:r>
            <a:r>
              <a:rPr lang="en-US" altLang="zh-CN" dirty="0"/>
              <a:t>SR-MPLS TE</a:t>
            </a:r>
            <a:r>
              <a:rPr lang="zh-CN" altLang="en-US" dirty="0"/>
              <a:t>隧道之前需要先配置生成</a:t>
            </a:r>
            <a:r>
              <a:rPr lang="en-US" altLang="zh-CN" dirty="0"/>
              <a:t>Adjacency SID</a:t>
            </a:r>
            <a:r>
              <a:rPr lang="zh-CN" altLang="en-US" dirty="0"/>
              <a:t>和</a:t>
            </a:r>
            <a:r>
              <a:rPr lang="en-US" altLang="zh-CN" dirty="0"/>
              <a:t>Node SID</a:t>
            </a:r>
            <a:r>
              <a:rPr lang="zh-CN" altLang="en-US" dirty="0"/>
              <a:t>，配置步骤如下：</a:t>
            </a:r>
            <a:endParaRPr lang="zh-CN" altLang="en-US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Segment Routing</a:t>
            </a:r>
            <a:r>
              <a:rPr lang="zh-CN" altLang="en-US" dirty="0"/>
              <a:t>全局标签范围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system-view</a:t>
            </a:r>
            <a:r>
              <a:rPr lang="zh-CN" altLang="en-US" dirty="0"/>
              <a:t>，进入系统视图。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 err="1"/>
              <a:t>ospf</a:t>
            </a:r>
            <a:r>
              <a:rPr lang="en-US" altLang="zh-CN" dirty="0"/>
              <a:t> [ </a:t>
            </a:r>
            <a:r>
              <a:rPr lang="en-US" altLang="zh-CN" i="1" dirty="0"/>
              <a:t>process-id</a:t>
            </a:r>
            <a:r>
              <a:rPr lang="en-US" altLang="zh-CN" dirty="0"/>
              <a:t> ]</a:t>
            </a:r>
            <a:r>
              <a:rPr lang="zh-CN" altLang="en-US" dirty="0"/>
              <a:t>，进入</a:t>
            </a:r>
            <a:r>
              <a:rPr lang="en-US" altLang="zh-CN" dirty="0"/>
              <a:t>OSPF</a:t>
            </a:r>
            <a:r>
              <a:rPr lang="zh-CN" altLang="en-US" dirty="0"/>
              <a:t>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opaque-capability enable</a:t>
            </a:r>
            <a:r>
              <a:rPr lang="zh-CN" altLang="en-US" dirty="0"/>
              <a:t>，使能</a:t>
            </a:r>
            <a:r>
              <a:rPr lang="en-US" altLang="zh-CN" dirty="0"/>
              <a:t>opaque LSA</a:t>
            </a:r>
            <a:r>
              <a:rPr lang="zh-CN" altLang="en-US" dirty="0"/>
              <a:t>能力。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segment-routing </a:t>
            </a:r>
            <a:r>
              <a:rPr lang="en-US" altLang="zh-CN" b="1" dirty="0" err="1"/>
              <a:t>mpls</a:t>
            </a:r>
            <a:r>
              <a:rPr lang="zh-CN" altLang="en-US" dirty="0"/>
              <a:t>，使能</a:t>
            </a:r>
            <a:r>
              <a:rPr lang="en-US" altLang="zh-CN" dirty="0"/>
              <a:t>OSPF</a:t>
            </a:r>
            <a:r>
              <a:rPr lang="zh-CN" altLang="en-US" dirty="0"/>
              <a:t>对应拓扑的</a:t>
            </a:r>
            <a:r>
              <a:rPr lang="en-US" altLang="zh-CN" dirty="0"/>
              <a:t>Segment Routing</a:t>
            </a:r>
            <a:r>
              <a:rPr lang="zh-CN" altLang="en-US" dirty="0"/>
              <a:t>功能。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segment-routing global-block </a:t>
            </a:r>
            <a:r>
              <a:rPr lang="en-US" altLang="zh-CN" i="1" dirty="0"/>
              <a:t>begin-value end-value</a:t>
            </a:r>
            <a:r>
              <a:rPr lang="zh-CN" altLang="en-US" dirty="0"/>
              <a:t>，配置</a:t>
            </a:r>
            <a:r>
              <a:rPr lang="en-US" altLang="zh-CN" dirty="0"/>
              <a:t>OSPF</a:t>
            </a:r>
            <a:r>
              <a:rPr lang="zh-CN" altLang="en-US" dirty="0"/>
              <a:t>的</a:t>
            </a:r>
            <a:r>
              <a:rPr lang="en-US" altLang="zh-CN" dirty="0"/>
              <a:t>Segment Routing</a:t>
            </a:r>
            <a:r>
              <a:rPr lang="zh-CN" altLang="en-US" dirty="0"/>
              <a:t>全局标签范围。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area</a:t>
            </a:r>
            <a:r>
              <a:rPr lang="en-US" altLang="zh-CN" dirty="0"/>
              <a:t> </a:t>
            </a:r>
            <a:r>
              <a:rPr lang="en-US" altLang="zh-CN" i="1" dirty="0"/>
              <a:t>area-id</a:t>
            </a:r>
            <a:r>
              <a:rPr lang="zh-CN" altLang="en-US" dirty="0"/>
              <a:t>，进入</a:t>
            </a:r>
            <a:r>
              <a:rPr lang="en-US" altLang="zh-CN" dirty="0"/>
              <a:t>OSPF</a:t>
            </a:r>
            <a:r>
              <a:rPr lang="zh-CN" altLang="en-US" dirty="0"/>
              <a:t>的区域视图。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 err="1"/>
              <a:t>mpls-te</a:t>
            </a:r>
            <a:r>
              <a:rPr lang="en-US" altLang="zh-CN" b="1" dirty="0"/>
              <a:t> enable </a:t>
            </a:r>
            <a:r>
              <a:rPr lang="en-US" altLang="zh-CN" dirty="0"/>
              <a:t>[ </a:t>
            </a:r>
            <a:r>
              <a:rPr lang="en-US" altLang="zh-CN" i="1" dirty="0"/>
              <a:t>standard-complying</a:t>
            </a:r>
            <a:r>
              <a:rPr lang="en-US" altLang="zh-CN" dirty="0"/>
              <a:t> ]</a:t>
            </a:r>
            <a:r>
              <a:rPr lang="zh-CN" altLang="en-US" dirty="0"/>
              <a:t>，在当前</a:t>
            </a:r>
            <a:r>
              <a:rPr lang="en-US" altLang="zh-CN" dirty="0"/>
              <a:t>OSPF</a:t>
            </a:r>
            <a:r>
              <a:rPr lang="zh-CN" altLang="en-US" dirty="0"/>
              <a:t>区域使能</a:t>
            </a:r>
            <a:r>
              <a:rPr lang="en-US" altLang="zh-CN" dirty="0"/>
              <a:t>TE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Segment Routing</a:t>
            </a:r>
            <a:r>
              <a:rPr lang="zh-CN" altLang="en-US" dirty="0"/>
              <a:t>前缀标签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interface loopback </a:t>
            </a:r>
            <a:r>
              <a:rPr lang="en-US" altLang="zh-CN" i="1" dirty="0"/>
              <a:t>loopback-number</a:t>
            </a:r>
            <a:r>
              <a:rPr lang="zh-CN" altLang="en-US" dirty="0"/>
              <a:t>，创建</a:t>
            </a:r>
            <a:r>
              <a:rPr lang="en-US" altLang="zh-CN" dirty="0"/>
              <a:t>Loopback</a:t>
            </a:r>
            <a:r>
              <a:rPr lang="zh-CN" altLang="en-US" dirty="0"/>
              <a:t>接口并进入接口视图。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 err="1"/>
              <a:t>ospf</a:t>
            </a:r>
            <a:r>
              <a:rPr lang="en-US" altLang="zh-CN" b="1" dirty="0"/>
              <a:t> enable </a:t>
            </a:r>
            <a:r>
              <a:rPr lang="en-US" altLang="zh-CN" dirty="0"/>
              <a:t>[ </a:t>
            </a:r>
            <a:r>
              <a:rPr lang="en-US" altLang="zh-CN" i="1" dirty="0"/>
              <a:t>process-id</a:t>
            </a:r>
            <a:r>
              <a:rPr lang="en-US" altLang="zh-CN" dirty="0"/>
              <a:t> ] </a:t>
            </a:r>
            <a:r>
              <a:rPr lang="en-US" altLang="zh-CN" b="1" dirty="0"/>
              <a:t>area</a:t>
            </a:r>
            <a:r>
              <a:rPr lang="en-US" altLang="zh-CN" dirty="0"/>
              <a:t> </a:t>
            </a:r>
            <a:r>
              <a:rPr lang="en-US" altLang="zh-CN" i="1" dirty="0"/>
              <a:t>area-id</a:t>
            </a:r>
            <a:r>
              <a:rPr lang="zh-CN" altLang="en-US" dirty="0"/>
              <a:t>，使能</a:t>
            </a:r>
            <a:r>
              <a:rPr lang="en-US" altLang="zh-CN" dirty="0"/>
              <a:t>OSPF</a:t>
            </a:r>
            <a:r>
              <a:rPr lang="zh-CN" altLang="en-US" dirty="0"/>
              <a:t>接口。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 err="1"/>
              <a:t>ip</a:t>
            </a:r>
            <a:r>
              <a:rPr lang="en-US" altLang="zh-CN" b="1" dirty="0"/>
              <a:t> address </a:t>
            </a:r>
            <a:r>
              <a:rPr lang="en-US" altLang="zh-CN" i="1" dirty="0" err="1"/>
              <a:t>ip</a:t>
            </a:r>
            <a:r>
              <a:rPr lang="en-US" altLang="zh-CN" i="1" dirty="0"/>
              <a:t>-address</a:t>
            </a:r>
            <a:r>
              <a:rPr lang="en-US" altLang="zh-CN" dirty="0"/>
              <a:t> { </a:t>
            </a:r>
            <a:r>
              <a:rPr lang="en-US" altLang="zh-CN" i="1" dirty="0"/>
              <a:t>mask | mask-length </a:t>
            </a:r>
            <a:r>
              <a:rPr lang="en-US" altLang="zh-CN" dirty="0"/>
              <a:t>}</a:t>
            </a:r>
            <a:r>
              <a:rPr lang="zh-CN" altLang="en-US" dirty="0"/>
              <a:t>，配置</a:t>
            </a:r>
            <a:r>
              <a:rPr lang="en-US" altLang="zh-CN" dirty="0"/>
              <a:t>Loopback</a:t>
            </a:r>
            <a:r>
              <a:rPr lang="zh-CN" altLang="en-US" dirty="0"/>
              <a:t>接口的</a:t>
            </a:r>
            <a:r>
              <a:rPr lang="en-US" altLang="zh-CN" dirty="0"/>
              <a:t>IP</a:t>
            </a:r>
            <a:r>
              <a:rPr lang="zh-CN" altLang="en-US" dirty="0"/>
              <a:t>地址。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 err="1"/>
              <a:t>ospf</a:t>
            </a:r>
            <a:r>
              <a:rPr lang="en-US" altLang="zh-CN" b="1" dirty="0"/>
              <a:t> </a:t>
            </a:r>
            <a:r>
              <a:rPr lang="en-US" altLang="zh-CN" i="1" dirty="0"/>
              <a:t>prefix-</a:t>
            </a:r>
            <a:r>
              <a:rPr lang="en-US" altLang="zh-CN" i="1" dirty="0" err="1"/>
              <a:t>sid</a:t>
            </a:r>
            <a:r>
              <a:rPr lang="en-US" altLang="zh-CN" i="1" dirty="0"/>
              <a:t> </a:t>
            </a:r>
            <a:r>
              <a:rPr lang="en-US" altLang="zh-CN" dirty="0"/>
              <a:t>{ </a:t>
            </a:r>
            <a:r>
              <a:rPr lang="en-US" altLang="zh-CN" i="1" dirty="0"/>
              <a:t>absolute </a:t>
            </a:r>
            <a:r>
              <a:rPr lang="en-US" altLang="zh-CN" i="1" dirty="0" err="1"/>
              <a:t>sid</a:t>
            </a:r>
            <a:r>
              <a:rPr lang="en-US" altLang="zh-CN" i="1" dirty="0"/>
              <a:t>-value | index index-value</a:t>
            </a:r>
            <a:r>
              <a:rPr lang="en-US" altLang="zh-CN" dirty="0"/>
              <a:t> } [ </a:t>
            </a:r>
            <a:r>
              <a:rPr lang="en-US" altLang="zh-CN" i="1" dirty="0"/>
              <a:t>node-disable</a:t>
            </a:r>
            <a:r>
              <a:rPr lang="en-US" altLang="zh-CN" dirty="0"/>
              <a:t> ]</a:t>
            </a:r>
            <a:r>
              <a:rPr lang="zh-CN" altLang="en-US" dirty="0"/>
              <a:t>，为该接口的</a:t>
            </a:r>
            <a:r>
              <a:rPr lang="en-US" altLang="zh-CN" dirty="0"/>
              <a:t>IP</a:t>
            </a:r>
            <a:r>
              <a:rPr lang="zh-CN" altLang="en-US" dirty="0"/>
              <a:t>地址配置</a:t>
            </a:r>
            <a:r>
              <a:rPr lang="en-US" altLang="zh-CN" dirty="0"/>
              <a:t>Segment Routing</a:t>
            </a:r>
            <a:r>
              <a:rPr lang="zh-CN" altLang="en-US" dirty="0"/>
              <a:t>前缀标签。</a:t>
            </a:r>
            <a:endParaRPr lang="zh-CN" altLang="en-US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Adjacency SID</a:t>
            </a:r>
            <a:r>
              <a:rPr lang="zh-CN" altLang="en-US" dirty="0"/>
              <a:t>（可选）</a:t>
            </a:r>
            <a:endParaRPr lang="zh-CN" altLang="en-US" dirty="0"/>
          </a:p>
          <a:p>
            <a:pPr lvl="2"/>
            <a:r>
              <a:rPr lang="en-US" altLang="zh-CN" dirty="0"/>
              <a:t>Adjacency SID</a:t>
            </a:r>
            <a:r>
              <a:rPr lang="zh-CN" altLang="en-US" dirty="0"/>
              <a:t>在</a:t>
            </a:r>
            <a:r>
              <a:rPr lang="en-US" altLang="zh-CN" dirty="0"/>
              <a:t>OSPF</a:t>
            </a:r>
            <a:r>
              <a:rPr lang="zh-CN" altLang="en-US" dirty="0"/>
              <a:t>使能</a:t>
            </a:r>
            <a:r>
              <a:rPr lang="en-US" altLang="zh-CN" dirty="0"/>
              <a:t>SR</a:t>
            </a:r>
            <a:r>
              <a:rPr lang="zh-CN" altLang="en-US" dirty="0"/>
              <a:t>能力后动态生成，可以配置</a:t>
            </a:r>
            <a:r>
              <a:rPr lang="en-US" altLang="zh-CN" b="1" dirty="0"/>
              <a:t>segment-routing auto-</a:t>
            </a:r>
            <a:r>
              <a:rPr lang="en-US" altLang="zh-CN" b="1" dirty="0" err="1"/>
              <a:t>adj</a:t>
            </a:r>
            <a:r>
              <a:rPr lang="en-US" altLang="zh-CN" b="1" dirty="0"/>
              <a:t>-</a:t>
            </a:r>
            <a:r>
              <a:rPr lang="en-US" altLang="zh-CN" b="1" dirty="0" err="1"/>
              <a:t>sid</a:t>
            </a:r>
            <a:r>
              <a:rPr lang="en-US" altLang="zh-CN" b="1" dirty="0"/>
              <a:t> disable</a:t>
            </a:r>
            <a:r>
              <a:rPr lang="zh-CN" altLang="en-US" dirty="0"/>
              <a:t>命令关闭动态邻接标签。动态</a:t>
            </a:r>
            <a:r>
              <a:rPr lang="en-US" altLang="zh-CN" dirty="0"/>
              <a:t>Adjacency SID</a:t>
            </a:r>
            <a:r>
              <a:rPr lang="zh-CN" altLang="en-US" dirty="0"/>
              <a:t>在设备重启后可能会发生变化，如果显式路径使用动态邻接标签，则在设备重启之后就需要重新配置。为了方便使用显式路径，用户也可以手工配置</a:t>
            </a:r>
            <a:r>
              <a:rPr lang="en-US" altLang="zh-CN" dirty="0"/>
              <a:t>Adjacency SID</a:t>
            </a:r>
            <a:r>
              <a:rPr lang="zh-CN" altLang="en-US" dirty="0"/>
              <a:t>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segment-routing</a:t>
            </a:r>
            <a:r>
              <a:rPr lang="zh-CN" altLang="en-US" dirty="0"/>
              <a:t>，进入</a:t>
            </a:r>
            <a:r>
              <a:rPr lang="en-US" altLang="zh-CN" dirty="0"/>
              <a:t>Segment Routing</a:t>
            </a:r>
            <a:r>
              <a:rPr lang="zh-CN" altLang="en-US" dirty="0"/>
              <a:t>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ipv4 adjacency local-</a:t>
            </a:r>
            <a:r>
              <a:rPr lang="en-US" altLang="zh-CN" b="1" dirty="0" err="1"/>
              <a:t>ip</a:t>
            </a:r>
            <a:r>
              <a:rPr lang="en-US" altLang="zh-CN" b="1" dirty="0"/>
              <a:t>-</a:t>
            </a:r>
            <a:r>
              <a:rPr lang="en-US" altLang="zh-CN" b="1" dirty="0" err="1"/>
              <a:t>addr</a:t>
            </a:r>
            <a:r>
              <a:rPr lang="en-US" altLang="zh-CN" b="1" dirty="0"/>
              <a:t> </a:t>
            </a:r>
            <a:r>
              <a:rPr lang="en-US" altLang="zh-CN" i="1" dirty="0"/>
              <a:t>local-</a:t>
            </a:r>
            <a:r>
              <a:rPr lang="en-US" altLang="zh-CN" i="1" dirty="0" err="1"/>
              <a:t>ip</a:t>
            </a:r>
            <a:r>
              <a:rPr lang="en-US" altLang="zh-CN" i="1" dirty="0"/>
              <a:t>-address</a:t>
            </a:r>
            <a:r>
              <a:rPr lang="en-US" altLang="zh-CN" dirty="0"/>
              <a:t> </a:t>
            </a:r>
            <a:r>
              <a:rPr lang="en-US" altLang="zh-CN" b="1" dirty="0"/>
              <a:t>remote-</a:t>
            </a:r>
            <a:r>
              <a:rPr lang="en-US" altLang="zh-CN" b="1" dirty="0" err="1"/>
              <a:t>ip</a:t>
            </a:r>
            <a:r>
              <a:rPr lang="en-US" altLang="zh-CN" b="1" dirty="0"/>
              <a:t>-</a:t>
            </a:r>
            <a:r>
              <a:rPr lang="en-US" altLang="zh-CN" b="1" dirty="0" err="1"/>
              <a:t>addr</a:t>
            </a:r>
            <a:r>
              <a:rPr lang="en-US" altLang="zh-CN" dirty="0"/>
              <a:t> </a:t>
            </a:r>
            <a:r>
              <a:rPr lang="en-US" altLang="zh-CN" i="1" dirty="0"/>
              <a:t>remote-</a:t>
            </a:r>
            <a:r>
              <a:rPr lang="en-US" altLang="zh-CN" i="1" dirty="0" err="1"/>
              <a:t>ip</a:t>
            </a:r>
            <a:r>
              <a:rPr lang="en-US" altLang="zh-CN" i="1" dirty="0"/>
              <a:t>-address</a:t>
            </a:r>
            <a:r>
              <a:rPr lang="en-US" altLang="zh-CN" dirty="0"/>
              <a:t> </a:t>
            </a:r>
            <a:r>
              <a:rPr lang="en-US" altLang="zh-CN" b="1" dirty="0" err="1"/>
              <a:t>sid</a:t>
            </a:r>
            <a:r>
              <a:rPr lang="en-US" altLang="zh-CN" dirty="0"/>
              <a:t> </a:t>
            </a:r>
            <a:r>
              <a:rPr lang="en-US" altLang="zh-CN" i="1" dirty="0" err="1"/>
              <a:t>sid</a:t>
            </a:r>
            <a:r>
              <a:rPr lang="en-US" altLang="zh-CN" i="1" dirty="0"/>
              <a:t>-value</a:t>
            </a:r>
            <a:r>
              <a:rPr lang="zh-CN" altLang="en-US" dirty="0"/>
              <a:t>，静态配置</a:t>
            </a:r>
            <a:r>
              <a:rPr lang="en-US" altLang="zh-CN" dirty="0"/>
              <a:t>SR</a:t>
            </a:r>
            <a:r>
              <a:rPr lang="zh-CN" altLang="en-US" dirty="0"/>
              <a:t>的</a:t>
            </a:r>
            <a:r>
              <a:rPr lang="en-US" altLang="zh-CN" dirty="0"/>
              <a:t>Adjacency SID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本例中通过指定</a:t>
            </a:r>
            <a:r>
              <a:rPr lang="en-US" altLang="zh-CN" dirty="0"/>
              <a:t>Prefix SID</a:t>
            </a:r>
            <a:r>
              <a:rPr lang="zh-CN" altLang="en-US" dirty="0"/>
              <a:t>的方式建立显示路径。</a:t>
            </a:r>
            <a:endParaRPr lang="en-US" altLang="zh-CN" dirty="0"/>
          </a:p>
          <a:p>
            <a:r>
              <a:rPr lang="zh-CN" altLang="en-US" dirty="0"/>
              <a:t>显式路径由一系列节点构成，按配置的先后顺序组成一条向量路径。 既可以通过显式路径中指定下一跳标签来规划</a:t>
            </a:r>
            <a:r>
              <a:rPr lang="en-US" altLang="zh-CN" dirty="0"/>
              <a:t>SR-MPLS TE LSP</a:t>
            </a:r>
            <a:r>
              <a:rPr lang="zh-CN" altLang="en-US" dirty="0"/>
              <a:t>途径的路径，也可以通过显式路径中指定下一跳</a:t>
            </a:r>
            <a:r>
              <a:rPr lang="en-US" altLang="zh-CN" dirty="0"/>
              <a:t>IP</a:t>
            </a:r>
            <a:r>
              <a:rPr lang="zh-CN" altLang="en-US" dirty="0"/>
              <a:t>地址来规划</a:t>
            </a:r>
            <a:r>
              <a:rPr lang="en-US" altLang="zh-CN" dirty="0"/>
              <a:t>SR-MPLS TE LSP</a:t>
            </a:r>
            <a:r>
              <a:rPr lang="zh-CN" altLang="en-US" dirty="0"/>
              <a:t>途径的路径。显式路径中的</a:t>
            </a:r>
            <a:r>
              <a:rPr lang="en-US" altLang="zh-CN" dirty="0"/>
              <a:t>IP</a:t>
            </a:r>
            <a:r>
              <a:rPr lang="zh-CN" altLang="en-US" dirty="0"/>
              <a:t>地址一般使用接口的</a:t>
            </a:r>
            <a:r>
              <a:rPr lang="en-US" altLang="zh-CN" dirty="0"/>
              <a:t>IP</a:t>
            </a:r>
            <a:r>
              <a:rPr lang="zh-CN" altLang="en-US" dirty="0"/>
              <a:t>地址。使用中的显式路径支持更新。显示路径配置步骤如下：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/>
              <a:t>system-view</a:t>
            </a:r>
            <a:r>
              <a:rPr lang="zh-CN" altLang="en-US" dirty="0"/>
              <a:t>，进入系统视图。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/>
              <a:t>explicit-path</a:t>
            </a:r>
            <a:r>
              <a:rPr lang="en-US" altLang="zh-CN" dirty="0"/>
              <a:t> </a:t>
            </a:r>
            <a:r>
              <a:rPr lang="en-US" altLang="zh-CN" i="1" dirty="0"/>
              <a:t>path-name</a:t>
            </a:r>
            <a:r>
              <a:rPr lang="zh-CN" altLang="en-US" dirty="0"/>
              <a:t>，创建显式路径，进入显式路径视图。</a:t>
            </a:r>
            <a:endParaRPr lang="zh-CN" altLang="en-US" dirty="0"/>
          </a:p>
          <a:p>
            <a:pPr lvl="1"/>
            <a:r>
              <a:rPr lang="zh-CN" altLang="en-US" dirty="0"/>
              <a:t>指定显式路径的下一跳标签：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/>
              <a:t>next </a:t>
            </a:r>
            <a:r>
              <a:rPr lang="en-US" altLang="zh-CN" b="1" dirty="0" err="1"/>
              <a:t>sid</a:t>
            </a:r>
            <a:r>
              <a:rPr lang="en-US" altLang="zh-CN" b="1" dirty="0"/>
              <a:t> label </a:t>
            </a:r>
            <a:r>
              <a:rPr lang="en-US" altLang="zh-CN" i="1" dirty="0"/>
              <a:t>label-value</a:t>
            </a:r>
            <a:r>
              <a:rPr lang="en-US" altLang="zh-CN" dirty="0"/>
              <a:t> </a:t>
            </a:r>
            <a:r>
              <a:rPr lang="en-US" altLang="zh-CN" b="1" dirty="0"/>
              <a:t>type</a:t>
            </a:r>
            <a:r>
              <a:rPr lang="en-US" altLang="zh-CN" dirty="0"/>
              <a:t> { </a:t>
            </a:r>
            <a:r>
              <a:rPr lang="en-US" altLang="zh-CN" i="1" dirty="0"/>
              <a:t>adjacency | prefix | binding-</a:t>
            </a:r>
            <a:r>
              <a:rPr lang="en-US" altLang="zh-CN" i="1" dirty="0" err="1"/>
              <a:t>sid</a:t>
            </a:r>
            <a:r>
              <a:rPr lang="en-US" altLang="zh-CN" i="1" dirty="0"/>
              <a:t> </a:t>
            </a:r>
            <a:r>
              <a:rPr lang="en-US" altLang="zh-CN" dirty="0"/>
              <a:t>}</a:t>
            </a:r>
            <a:endParaRPr lang="en-US" altLang="zh-CN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/>
              <a:t>commit</a:t>
            </a:r>
            <a:r>
              <a:rPr lang="zh-CN" altLang="en-US" dirty="0"/>
              <a:t>，提交配置。</a:t>
            </a:r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31838" y="728662"/>
            <a:ext cx="5580062" cy="7340917"/>
          </a:xfrm>
        </p:spPr>
        <p:txBody>
          <a:bodyPr/>
          <a:lstStyle/>
          <a:p>
            <a:pPr lvl="0"/>
            <a:r>
              <a:rPr lang="en-US" altLang="zh-CN" dirty="0"/>
              <a:t>SR-MPLS TE</a:t>
            </a:r>
            <a:r>
              <a:rPr lang="zh-CN" altLang="en-US" dirty="0"/>
              <a:t>隧道是通过</a:t>
            </a:r>
            <a:r>
              <a:rPr lang="en-US" altLang="zh-CN" dirty="0"/>
              <a:t>Tunnel</a:t>
            </a:r>
            <a:r>
              <a:rPr lang="zh-CN" altLang="en-US" dirty="0"/>
              <a:t>接口来建立和管理的，因此需要在隧道的入节点上配置</a:t>
            </a:r>
            <a:r>
              <a:rPr lang="en-US" altLang="zh-CN" dirty="0"/>
              <a:t>SR-MPLS TE</a:t>
            </a:r>
            <a:r>
              <a:rPr lang="zh-CN" altLang="en-US" dirty="0"/>
              <a:t>隧道接口。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/>
              <a:t>system-view</a:t>
            </a:r>
            <a:r>
              <a:rPr lang="zh-CN" altLang="en-US" dirty="0"/>
              <a:t>，进入系统视图。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/>
              <a:t>interface tunnel </a:t>
            </a:r>
            <a:r>
              <a:rPr lang="en-US" altLang="zh-CN" i="1" dirty="0"/>
              <a:t>tunnel-number</a:t>
            </a:r>
            <a:r>
              <a:rPr lang="zh-CN" altLang="en-US" dirty="0"/>
              <a:t>，创建</a:t>
            </a:r>
            <a:r>
              <a:rPr lang="en-US" altLang="zh-CN" dirty="0"/>
              <a:t>Tunnel</a:t>
            </a:r>
            <a:r>
              <a:rPr lang="zh-CN" altLang="en-US" dirty="0"/>
              <a:t>接口，并进入</a:t>
            </a:r>
            <a:r>
              <a:rPr lang="en-US" altLang="zh-CN" dirty="0"/>
              <a:t>Tunnel</a:t>
            </a:r>
            <a:r>
              <a:rPr lang="zh-CN" altLang="en-US" dirty="0"/>
              <a:t>接口视图。</a:t>
            </a:r>
            <a:endParaRPr lang="zh-CN" altLang="en-US" dirty="0"/>
          </a:p>
          <a:p>
            <a:pPr lvl="1"/>
            <a:r>
              <a:rPr lang="zh-CN" altLang="en-US" dirty="0"/>
              <a:t>配置隧道接口的</a:t>
            </a:r>
            <a:r>
              <a:rPr lang="en-US" altLang="zh-CN" dirty="0"/>
              <a:t>IP</a:t>
            </a:r>
            <a:r>
              <a:rPr lang="zh-CN" altLang="en-US" dirty="0"/>
              <a:t>地址：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b="1" dirty="0" err="1"/>
              <a:t>ip</a:t>
            </a:r>
            <a:r>
              <a:rPr lang="en-US" altLang="zh-CN" b="1" dirty="0"/>
              <a:t> address unnumbered interface </a:t>
            </a:r>
            <a:r>
              <a:rPr lang="en-US" altLang="zh-CN" i="1" dirty="0"/>
              <a:t>interface-type interface-number</a:t>
            </a:r>
            <a:r>
              <a:rPr lang="zh-CN" altLang="en-US" dirty="0"/>
              <a:t>，配置隧道接口借用其他接口的</a:t>
            </a:r>
            <a:r>
              <a:rPr lang="en-US" altLang="zh-CN" dirty="0"/>
              <a:t>IP</a:t>
            </a:r>
            <a:r>
              <a:rPr lang="zh-CN" altLang="en-US" dirty="0"/>
              <a:t>地址。</a:t>
            </a:r>
            <a:endParaRPr lang="zh-CN" altLang="en-US" dirty="0"/>
          </a:p>
          <a:p>
            <a:pPr lvl="2"/>
            <a:r>
              <a:rPr lang="en-US" altLang="zh-CN" dirty="0"/>
              <a:t>SR-MPLS TE</a:t>
            </a:r>
            <a:r>
              <a:rPr lang="zh-CN" altLang="en-US" dirty="0"/>
              <a:t>隧道是单向的，不存在对端地址的问题，不建议为</a:t>
            </a:r>
            <a:r>
              <a:rPr lang="en-US" altLang="zh-CN" dirty="0"/>
              <a:t>Tunnel</a:t>
            </a:r>
            <a:r>
              <a:rPr lang="zh-CN" altLang="en-US" dirty="0"/>
              <a:t>接口单独配置</a:t>
            </a:r>
            <a:r>
              <a:rPr lang="en-US" altLang="zh-CN" dirty="0"/>
              <a:t>IP</a:t>
            </a:r>
            <a:r>
              <a:rPr lang="zh-CN" altLang="en-US" dirty="0"/>
              <a:t>地址，通常的做法是</a:t>
            </a:r>
            <a:r>
              <a:rPr lang="en-US" altLang="zh-CN" dirty="0"/>
              <a:t>Tunnel</a:t>
            </a:r>
            <a:r>
              <a:rPr lang="zh-CN" altLang="en-US" dirty="0"/>
              <a:t>接口借用</a:t>
            </a:r>
            <a:r>
              <a:rPr lang="en-US" altLang="zh-CN" dirty="0"/>
              <a:t>Ingress</a:t>
            </a:r>
            <a:r>
              <a:rPr lang="zh-CN" altLang="en-US" dirty="0"/>
              <a:t>节点的</a:t>
            </a:r>
            <a:r>
              <a:rPr lang="en-US" altLang="zh-CN" dirty="0"/>
              <a:t>LSR ID</a:t>
            </a:r>
            <a:r>
              <a:rPr lang="zh-CN" altLang="en-US" dirty="0"/>
              <a:t>作为地址。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/>
              <a:t>tunnel-protocol </a:t>
            </a:r>
            <a:r>
              <a:rPr lang="en-US" altLang="zh-CN" b="1" dirty="0" err="1"/>
              <a:t>mpls</a:t>
            </a:r>
            <a:r>
              <a:rPr lang="en-US" altLang="zh-CN" b="1" dirty="0"/>
              <a:t> </a:t>
            </a:r>
            <a:r>
              <a:rPr lang="en-US" altLang="zh-CN" b="1" dirty="0" err="1"/>
              <a:t>te</a:t>
            </a:r>
            <a:r>
              <a:rPr lang="zh-CN" altLang="en-US" dirty="0"/>
              <a:t>，配置隧道协议为</a:t>
            </a:r>
            <a:r>
              <a:rPr lang="en-US" altLang="zh-CN" dirty="0"/>
              <a:t>MPLS TE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/>
              <a:t>destination</a:t>
            </a:r>
            <a:r>
              <a:rPr lang="en-US" altLang="zh-CN" dirty="0"/>
              <a:t> </a:t>
            </a:r>
            <a:r>
              <a:rPr lang="en-US" altLang="zh-CN" i="1" dirty="0" err="1"/>
              <a:t>ip</a:t>
            </a:r>
            <a:r>
              <a:rPr lang="en-US" altLang="zh-CN" i="1" dirty="0"/>
              <a:t>-address</a:t>
            </a:r>
            <a:r>
              <a:rPr lang="zh-CN" altLang="en-US" dirty="0"/>
              <a:t>，配置隧道的目的地址，一般配置为出节点的</a:t>
            </a:r>
            <a:r>
              <a:rPr lang="en-US" altLang="zh-CN" dirty="0"/>
              <a:t>LSR ID</a:t>
            </a:r>
            <a:r>
              <a:rPr lang="zh-CN" altLang="en-US" dirty="0"/>
              <a:t>。</a:t>
            </a:r>
            <a:endParaRPr lang="zh-CN" altLang="en-US" dirty="0"/>
          </a:p>
          <a:p>
            <a:pPr lvl="2"/>
            <a:r>
              <a:rPr lang="zh-CN" altLang="en-US" dirty="0"/>
              <a:t>由于不同类型的隧道对于目的地址要求不同，当隧道协议从其他类型改变为</a:t>
            </a:r>
            <a:r>
              <a:rPr lang="en-US" altLang="zh-CN" dirty="0"/>
              <a:t>MPLS TE</a:t>
            </a:r>
            <a:r>
              <a:rPr lang="zh-CN" altLang="en-US" dirty="0"/>
              <a:t>时，原先配置的</a:t>
            </a:r>
            <a:r>
              <a:rPr lang="en-US" altLang="zh-CN" dirty="0"/>
              <a:t>destination</a:t>
            </a:r>
            <a:r>
              <a:rPr lang="zh-CN" altLang="en-US" dirty="0"/>
              <a:t>将被自动删除，需要重新配置。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 err="1"/>
              <a:t>mpls</a:t>
            </a:r>
            <a:r>
              <a:rPr lang="en-US" altLang="zh-CN" b="1" dirty="0"/>
              <a:t> </a:t>
            </a:r>
            <a:r>
              <a:rPr lang="en-US" altLang="zh-CN" b="1" dirty="0" err="1"/>
              <a:t>te</a:t>
            </a:r>
            <a:r>
              <a:rPr lang="en-US" altLang="zh-CN" b="1" dirty="0"/>
              <a:t> tunnel-id</a:t>
            </a:r>
            <a:r>
              <a:rPr lang="en-US" altLang="zh-CN" dirty="0"/>
              <a:t> </a:t>
            </a:r>
            <a:r>
              <a:rPr lang="en-US" altLang="zh-CN" i="1" dirty="0" err="1"/>
              <a:t>tunnel-id</a:t>
            </a:r>
            <a:r>
              <a:rPr lang="zh-CN" altLang="en-US" dirty="0"/>
              <a:t>，配置隧道</a:t>
            </a:r>
            <a:r>
              <a:rPr lang="en-US" altLang="zh-CN" dirty="0"/>
              <a:t>ID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 err="1"/>
              <a:t>mpls</a:t>
            </a:r>
            <a:r>
              <a:rPr lang="en-US" altLang="zh-CN" b="1" dirty="0"/>
              <a:t> </a:t>
            </a:r>
            <a:r>
              <a:rPr lang="en-US" altLang="zh-CN" b="1" dirty="0" err="1"/>
              <a:t>te</a:t>
            </a:r>
            <a:r>
              <a:rPr lang="en-US" altLang="zh-CN" b="1" dirty="0"/>
              <a:t> signal-protocol segment-routing</a:t>
            </a:r>
            <a:r>
              <a:rPr lang="zh-CN" altLang="en-US" dirty="0"/>
              <a:t>，配置</a:t>
            </a:r>
            <a:r>
              <a:rPr lang="en-US" altLang="zh-CN" dirty="0"/>
              <a:t>TE</a:t>
            </a:r>
            <a:r>
              <a:rPr lang="zh-CN" altLang="en-US" dirty="0"/>
              <a:t>隧道的信令协议为</a:t>
            </a:r>
            <a:r>
              <a:rPr lang="en-US" altLang="zh-CN" dirty="0"/>
              <a:t>Segment Routing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执行命令</a:t>
            </a:r>
            <a:r>
              <a:rPr lang="en-US" altLang="zh-CN" b="1" dirty="0" err="1"/>
              <a:t>mpls</a:t>
            </a:r>
            <a:r>
              <a:rPr lang="en-US" altLang="zh-CN" b="1" dirty="0"/>
              <a:t> </a:t>
            </a:r>
            <a:r>
              <a:rPr lang="en-US" altLang="zh-CN" b="1" dirty="0" err="1"/>
              <a:t>te</a:t>
            </a:r>
            <a:r>
              <a:rPr lang="en-US" altLang="zh-CN" b="1" dirty="0"/>
              <a:t> path explicit-path </a:t>
            </a:r>
            <a:r>
              <a:rPr lang="en-US" altLang="zh-CN" i="1" dirty="0"/>
              <a:t>path-name </a:t>
            </a:r>
            <a:r>
              <a:rPr lang="en-US" altLang="zh-CN" dirty="0"/>
              <a:t>[ </a:t>
            </a:r>
            <a:r>
              <a:rPr lang="en-US" altLang="zh-CN" i="1" dirty="0"/>
              <a:t>secondary</a:t>
            </a:r>
            <a:r>
              <a:rPr lang="en-US" altLang="zh-CN" dirty="0"/>
              <a:t> ]</a:t>
            </a:r>
            <a:r>
              <a:rPr lang="zh-CN" altLang="en-US" dirty="0"/>
              <a:t>，配置隧道应用的显式路径。</a:t>
            </a:r>
            <a:endParaRPr lang="zh-CN" altLang="en-US" dirty="0"/>
          </a:p>
          <a:p>
            <a:pPr lvl="1"/>
            <a:r>
              <a:rPr lang="en-US" altLang="zh-CN" dirty="0"/>
              <a:t>path-name</a:t>
            </a:r>
            <a:r>
              <a:rPr lang="zh-CN" altLang="en-US" dirty="0"/>
              <a:t>需要与命令</a:t>
            </a:r>
            <a:r>
              <a:rPr lang="en-US" altLang="zh-CN" b="1" dirty="0"/>
              <a:t>explicit-path</a:t>
            </a:r>
            <a:r>
              <a:rPr lang="en-US" altLang="zh-CN" i="1" dirty="0"/>
              <a:t> path-name</a:t>
            </a:r>
            <a:r>
              <a:rPr lang="zh-CN" altLang="en-US" dirty="0"/>
              <a:t>里创建的显式路径保持一致。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marR="0" lvl="0" indent="-179705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defRPr/>
            </a:pPr>
            <a:r>
              <a:rPr lang="zh-CN" altLang="en-US" dirty="0"/>
              <a:t>本例中使用静态方式配置</a:t>
            </a:r>
            <a:r>
              <a:rPr lang="en-US" altLang="zh-CN" sz="11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Adjacency SID</a:t>
            </a:r>
            <a:r>
              <a:rPr lang="zh-CN" altLang="en-US" sz="11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1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Adjacency SID</a:t>
            </a:r>
            <a:r>
              <a:rPr lang="zh-CN" altLang="en-US" sz="11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的数值如图所示。</a:t>
            </a:r>
            <a:endParaRPr lang="zh-CN" altLang="en-US" sz="11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SR-MPLS Policy</a:t>
            </a:r>
            <a:r>
              <a:rPr lang="zh-CN" altLang="en-US" dirty="0"/>
              <a:t>用来引导流量通过</a:t>
            </a:r>
            <a:r>
              <a:rPr lang="en-US" altLang="zh-CN" dirty="0"/>
              <a:t>SR-MPLS TE</a:t>
            </a:r>
            <a:r>
              <a:rPr lang="zh-CN" altLang="en-US" dirty="0"/>
              <a:t>网络。每个</a:t>
            </a:r>
            <a:r>
              <a:rPr lang="en-US" altLang="zh-CN" dirty="0"/>
              <a:t>SR-MPLS Policy</a:t>
            </a:r>
            <a:r>
              <a:rPr lang="zh-CN" altLang="en-US" dirty="0"/>
              <a:t>可以有多个候选路径，每个候选路径有不同的优先级，通过优先级可以选择一个最优的有效候选路径作为主路径，优先级次高有效候选路径做为备份路径。</a:t>
            </a:r>
            <a:r>
              <a:rPr lang="en-US" altLang="zh-CN" dirty="0"/>
              <a:t>SR-MPLS Policy</a:t>
            </a:r>
            <a:r>
              <a:rPr lang="zh-CN" altLang="en-US" dirty="0"/>
              <a:t>配置步骤如下：</a:t>
            </a:r>
            <a:endParaRPr lang="zh-CN" altLang="en-US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Segment List</a:t>
            </a:r>
            <a:endParaRPr lang="en-US" altLang="zh-CN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/>
              <a:t>system-view</a:t>
            </a:r>
            <a:r>
              <a:rPr lang="zh-CN" altLang="en-US" dirty="0"/>
              <a:t>，进入系统视图。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/>
              <a:t>segment-routing</a:t>
            </a:r>
            <a:r>
              <a:rPr lang="zh-CN" altLang="en-US" dirty="0"/>
              <a:t>，使能全局</a:t>
            </a:r>
            <a:r>
              <a:rPr lang="en-US" altLang="zh-CN" dirty="0"/>
              <a:t>SR</a:t>
            </a:r>
            <a:r>
              <a:rPr lang="zh-CN" altLang="en-US" dirty="0"/>
              <a:t>能力，并进入</a:t>
            </a:r>
            <a:r>
              <a:rPr lang="en-US" altLang="zh-CN" dirty="0"/>
              <a:t>Segment Routing</a:t>
            </a:r>
            <a:r>
              <a:rPr lang="zh-CN" altLang="en-US" dirty="0"/>
              <a:t>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/>
              <a:t>segment-list (Segment Routing</a:t>
            </a:r>
            <a:r>
              <a:rPr lang="zh-CN" altLang="en-US" dirty="0"/>
              <a:t>视图</a:t>
            </a:r>
            <a:r>
              <a:rPr lang="en-US" altLang="zh-CN" dirty="0"/>
              <a:t>) list-name</a:t>
            </a:r>
            <a:r>
              <a:rPr lang="zh-CN" altLang="en-US" dirty="0"/>
              <a:t>，创建</a:t>
            </a:r>
            <a:r>
              <a:rPr lang="en-US" altLang="zh-CN" dirty="0"/>
              <a:t>SR-MPLS TE</a:t>
            </a:r>
            <a:r>
              <a:rPr lang="zh-CN" altLang="en-US" dirty="0"/>
              <a:t>候选路径的显式标签路径，并且进入显式标签路径视图。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/>
              <a:t>index </a:t>
            </a:r>
            <a:r>
              <a:rPr lang="en-US" altLang="zh-CN" dirty="0" err="1"/>
              <a:t>index</a:t>
            </a:r>
            <a:r>
              <a:rPr lang="en-US" altLang="zh-CN" dirty="0"/>
              <a:t> </a:t>
            </a:r>
            <a:r>
              <a:rPr lang="en-US" altLang="zh-CN" dirty="0" err="1"/>
              <a:t>sid</a:t>
            </a:r>
            <a:r>
              <a:rPr lang="en-US" altLang="zh-CN" dirty="0"/>
              <a:t> label </a:t>
            </a:r>
            <a:r>
              <a:rPr lang="en-US" altLang="zh-CN" dirty="0" err="1"/>
              <a:t>label</a:t>
            </a:r>
            <a:r>
              <a:rPr lang="zh-CN" altLang="en-US" dirty="0"/>
              <a:t>，配置在</a:t>
            </a:r>
            <a:r>
              <a:rPr lang="en-US" altLang="zh-CN" dirty="0"/>
              <a:t>Segment List</a:t>
            </a:r>
            <a:r>
              <a:rPr lang="zh-CN" altLang="en-US" dirty="0"/>
              <a:t>中指定下一跳标签。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3582" y="742561"/>
            <a:ext cx="5580062" cy="6630512"/>
          </a:xfrm>
        </p:spPr>
        <p:txBody>
          <a:bodyPr/>
          <a:lstStyle/>
          <a:p>
            <a:pPr lvl="1"/>
            <a:r>
              <a:rPr lang="zh-CN" altLang="en-US" dirty="0"/>
              <a:t>配置</a:t>
            </a:r>
            <a:r>
              <a:rPr lang="en-US" altLang="zh-CN" dirty="0"/>
              <a:t>SR-MPLS Policy</a:t>
            </a:r>
            <a:endParaRPr lang="en-US" altLang="zh-CN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/>
              <a:t>system-view</a:t>
            </a:r>
            <a:r>
              <a:rPr lang="zh-CN" altLang="en-US" dirty="0"/>
              <a:t>，进入系统视图。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/>
              <a:t>segment-routing</a:t>
            </a:r>
            <a:r>
              <a:rPr lang="zh-CN" altLang="en-US" dirty="0"/>
              <a:t>，使能全局</a:t>
            </a:r>
            <a:r>
              <a:rPr lang="en-US" altLang="zh-CN" dirty="0"/>
              <a:t>SR</a:t>
            </a:r>
            <a:r>
              <a:rPr lang="zh-CN" altLang="en-US" dirty="0"/>
              <a:t>能力，并进入</a:t>
            </a:r>
            <a:r>
              <a:rPr lang="en-US" altLang="zh-CN" dirty="0"/>
              <a:t>Segment Routing</a:t>
            </a:r>
            <a:r>
              <a:rPr lang="zh-CN" altLang="en-US" dirty="0"/>
              <a:t>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 err="1"/>
              <a:t>sr-te</a:t>
            </a:r>
            <a:r>
              <a:rPr lang="en-US" altLang="zh-CN" dirty="0"/>
              <a:t> policy policy-name [ endpoint ipv4-address color color-value ]</a:t>
            </a:r>
            <a:r>
              <a:rPr lang="zh-CN" altLang="en-US" dirty="0"/>
              <a:t>，创建</a:t>
            </a:r>
            <a:r>
              <a:rPr lang="en-US" altLang="zh-CN" dirty="0"/>
              <a:t>SR-MPLS Policy</a:t>
            </a:r>
            <a:r>
              <a:rPr lang="zh-CN" altLang="en-US" dirty="0"/>
              <a:t>，配置</a:t>
            </a:r>
            <a:r>
              <a:rPr lang="en-US" altLang="zh-CN" dirty="0"/>
              <a:t>SR-MPLS Policy</a:t>
            </a:r>
            <a:r>
              <a:rPr lang="zh-CN" altLang="en-US" dirty="0"/>
              <a:t>的目的地址和颜色（</a:t>
            </a:r>
            <a:r>
              <a:rPr lang="en-US" altLang="zh-CN" dirty="0"/>
              <a:t>Color</a:t>
            </a:r>
            <a:r>
              <a:rPr lang="zh-CN" altLang="en-US" dirty="0"/>
              <a:t>），并且进入</a:t>
            </a:r>
            <a:r>
              <a:rPr lang="en-US" altLang="zh-CN" dirty="0"/>
              <a:t>SR-MPLS Policy</a:t>
            </a:r>
            <a:r>
              <a:rPr lang="zh-CN" altLang="en-US" dirty="0"/>
              <a:t>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/>
              <a:t>binding-</a:t>
            </a:r>
            <a:r>
              <a:rPr lang="en-US" altLang="zh-CN" dirty="0" err="1"/>
              <a:t>sid</a:t>
            </a:r>
            <a:r>
              <a:rPr lang="en-US" altLang="zh-CN" dirty="0"/>
              <a:t> label-value</a:t>
            </a:r>
            <a:r>
              <a:rPr lang="zh-CN" altLang="en-US" dirty="0"/>
              <a:t>，配置</a:t>
            </a:r>
            <a:r>
              <a:rPr lang="en-US" altLang="zh-CN" dirty="0"/>
              <a:t>SR-MPLS Policy</a:t>
            </a:r>
            <a:r>
              <a:rPr lang="zh-CN" altLang="en-US" dirty="0"/>
              <a:t>的</a:t>
            </a:r>
            <a:r>
              <a:rPr lang="en-US" altLang="zh-CN" dirty="0"/>
              <a:t>Binding SID</a:t>
            </a:r>
            <a:r>
              <a:rPr lang="zh-CN" altLang="en-US" dirty="0"/>
              <a:t>（可选）。</a:t>
            </a:r>
            <a:endParaRPr lang="en-US" altLang="zh-CN" dirty="0"/>
          </a:p>
          <a:p>
            <a:pPr lvl="2"/>
            <a:r>
              <a:rPr lang="en-US" altLang="zh-CN" dirty="0"/>
              <a:t>label-value</a:t>
            </a:r>
            <a:r>
              <a:rPr lang="zh-CN" altLang="en-US" dirty="0"/>
              <a:t>取值需要在</a:t>
            </a:r>
            <a:r>
              <a:rPr lang="en-US" altLang="zh-CN" dirty="0"/>
              <a:t>local-block begin-value end-value</a:t>
            </a:r>
            <a:r>
              <a:rPr lang="zh-CN" altLang="en-US" dirty="0"/>
              <a:t>命令定义的范围内。</a:t>
            </a:r>
            <a:endParaRPr lang="en-US" altLang="zh-CN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 err="1"/>
              <a:t>mtu</a:t>
            </a:r>
            <a:r>
              <a:rPr lang="en-US" altLang="zh-CN" dirty="0"/>
              <a:t> </a:t>
            </a:r>
            <a:r>
              <a:rPr lang="en-US" altLang="zh-CN" dirty="0" err="1"/>
              <a:t>mtu</a:t>
            </a:r>
            <a:r>
              <a:rPr lang="zh-CN" altLang="en-US" dirty="0"/>
              <a:t>，配置</a:t>
            </a:r>
            <a:r>
              <a:rPr lang="en-US" altLang="zh-CN" dirty="0"/>
              <a:t>SR-MPLS Policy</a:t>
            </a:r>
            <a:r>
              <a:rPr lang="zh-CN" altLang="en-US" dirty="0"/>
              <a:t>的</a:t>
            </a:r>
            <a:r>
              <a:rPr lang="en-US" altLang="zh-CN" dirty="0"/>
              <a:t>MTU</a:t>
            </a:r>
            <a:r>
              <a:rPr lang="zh-CN" altLang="en-US" dirty="0"/>
              <a:t>（可选）。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/>
              <a:t>candidate-path preference </a:t>
            </a:r>
            <a:r>
              <a:rPr lang="en-US" altLang="zh-CN" dirty="0" err="1"/>
              <a:t>preference</a:t>
            </a:r>
            <a:r>
              <a:rPr lang="zh-CN" altLang="en-US" dirty="0"/>
              <a:t>，配置</a:t>
            </a:r>
            <a:r>
              <a:rPr lang="en-US" altLang="zh-CN" dirty="0"/>
              <a:t>SR-MPLS Policy</a:t>
            </a:r>
            <a:r>
              <a:rPr lang="zh-CN" altLang="en-US" dirty="0"/>
              <a:t>的候选路径及其优先级。</a:t>
            </a:r>
            <a:endParaRPr lang="zh-CN" altLang="en-US" dirty="0"/>
          </a:p>
          <a:p>
            <a:pPr lvl="2"/>
            <a:r>
              <a:rPr lang="zh-CN" altLang="en-US" dirty="0"/>
              <a:t>每一个</a:t>
            </a:r>
            <a:r>
              <a:rPr lang="en-US" altLang="zh-CN" dirty="0"/>
              <a:t>SR-MPLS Policy</a:t>
            </a:r>
            <a:r>
              <a:rPr lang="zh-CN" altLang="en-US" dirty="0"/>
              <a:t>允许配置多个候选路径。</a:t>
            </a:r>
            <a:r>
              <a:rPr lang="en-US" altLang="zh-CN" dirty="0"/>
              <a:t>preference</a:t>
            </a:r>
            <a:r>
              <a:rPr lang="zh-CN" altLang="en-US" dirty="0"/>
              <a:t>越大，候选路径优先级越高，存在多个候选路径时，优先级最高的生效。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/>
              <a:t>segment-list</a:t>
            </a:r>
            <a:r>
              <a:rPr lang="zh-CN" altLang="en-US" dirty="0"/>
              <a:t>（</a:t>
            </a:r>
            <a:r>
              <a:rPr lang="en-US" altLang="zh-CN" dirty="0"/>
              <a:t>Candidate Path</a:t>
            </a:r>
            <a:r>
              <a:rPr lang="zh-CN" altLang="en-US" dirty="0"/>
              <a:t>视图） </a:t>
            </a:r>
            <a:r>
              <a:rPr lang="en-US" altLang="zh-CN" dirty="0"/>
              <a:t>list-name</a:t>
            </a:r>
            <a:r>
              <a:rPr lang="zh-CN" altLang="en-US" dirty="0"/>
              <a:t>，配置引用</a:t>
            </a:r>
            <a:r>
              <a:rPr lang="en-US" altLang="zh-CN" dirty="0"/>
              <a:t>SR-MPLS TE</a:t>
            </a:r>
            <a:r>
              <a:rPr lang="zh-CN" altLang="en-US" dirty="0"/>
              <a:t>候选路径的</a:t>
            </a:r>
            <a:r>
              <a:rPr lang="en-US" altLang="zh-CN" dirty="0"/>
              <a:t>Segment List</a:t>
            </a:r>
            <a:r>
              <a:rPr lang="zh-CN" altLang="en-US" dirty="0"/>
              <a:t>。</a:t>
            </a:r>
            <a:endParaRPr lang="zh-CN" altLang="en-US" dirty="0"/>
          </a:p>
          <a:p>
            <a:pPr lvl="2"/>
            <a:r>
              <a:rPr lang="en-US" altLang="zh-CN" dirty="0"/>
              <a:t>Segment List</a:t>
            </a:r>
            <a:r>
              <a:rPr lang="zh-CN" altLang="en-US" dirty="0"/>
              <a:t>需要提前通过</a:t>
            </a:r>
            <a:r>
              <a:rPr lang="en-US" altLang="zh-CN" dirty="0"/>
              <a:t>segment-list</a:t>
            </a:r>
            <a:r>
              <a:rPr lang="zh-CN" altLang="en-US" dirty="0"/>
              <a:t>（</a:t>
            </a:r>
            <a:r>
              <a:rPr lang="en-US" altLang="zh-CN" dirty="0"/>
              <a:t>Segment Routing</a:t>
            </a:r>
            <a:r>
              <a:rPr lang="zh-CN" altLang="en-US" dirty="0"/>
              <a:t>视图）命令创建。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通过路由策略对路由增加扩展团体属性</a:t>
            </a:r>
            <a:r>
              <a:rPr lang="en-US" altLang="zh-CN"/>
              <a:t>Color</a:t>
            </a:r>
            <a:r>
              <a:rPr lang="zh-CN" altLang="en-US"/>
              <a:t>，携带</a:t>
            </a:r>
            <a:r>
              <a:rPr lang="en-US" altLang="zh-CN"/>
              <a:t>Color</a:t>
            </a:r>
            <a:r>
              <a:rPr lang="zh-CN" altLang="en-US"/>
              <a:t>的路由可以根据</a:t>
            </a:r>
            <a:r>
              <a:rPr lang="en-US" altLang="zh-CN"/>
              <a:t>Color</a:t>
            </a:r>
            <a:r>
              <a:rPr lang="zh-CN" altLang="en-US"/>
              <a:t>与下一跳地址迭代</a:t>
            </a:r>
            <a:r>
              <a:rPr lang="en-US" altLang="zh-CN"/>
              <a:t>SR-MPLS Policy</a:t>
            </a:r>
            <a:r>
              <a:rPr lang="zh-CN" altLang="en-US"/>
              <a:t>。</a:t>
            </a:r>
            <a:endParaRPr lang="zh-CN" altLang="en-US"/>
          </a:p>
          <a:p>
            <a:pPr lvl="1"/>
            <a:r>
              <a:rPr lang="zh-CN" altLang="en-US"/>
              <a:t>配置</a:t>
            </a:r>
            <a:r>
              <a:rPr lang="en-US" altLang="zh-CN"/>
              <a:t>Route-Policy</a:t>
            </a:r>
            <a:endParaRPr lang="en-US" altLang="zh-CN"/>
          </a:p>
          <a:p>
            <a:pPr lvl="2"/>
            <a:r>
              <a:rPr lang="zh-CN" altLang="en-US"/>
              <a:t>执行命令</a:t>
            </a:r>
            <a:r>
              <a:rPr lang="en-US" altLang="zh-CN"/>
              <a:t>system-view</a:t>
            </a:r>
            <a:r>
              <a:rPr lang="zh-CN" altLang="en-US"/>
              <a:t>，进入系统视图。</a:t>
            </a:r>
            <a:endParaRPr lang="zh-CN" altLang="en-US"/>
          </a:p>
          <a:p>
            <a:pPr lvl="2"/>
            <a:r>
              <a:rPr lang="zh-CN" altLang="en-US"/>
              <a:t>执行命令</a:t>
            </a:r>
            <a:r>
              <a:rPr lang="en-US" altLang="zh-CN"/>
              <a:t>route-policy route-policy-name { deny | permit } node node</a:t>
            </a:r>
            <a:r>
              <a:rPr lang="zh-CN" altLang="en-US"/>
              <a:t>，创建路由策略，并进入路由策略视图。</a:t>
            </a:r>
            <a:endParaRPr lang="zh-CN" altLang="en-US"/>
          </a:p>
          <a:p>
            <a:pPr lvl="2"/>
            <a:r>
              <a:rPr lang="zh-CN" altLang="en-US"/>
              <a:t>配置路由策略过滤条件，即配置</a:t>
            </a:r>
            <a:r>
              <a:rPr lang="en-US" altLang="zh-CN"/>
              <a:t>If-match</a:t>
            </a:r>
            <a:r>
              <a:rPr lang="zh-CN" altLang="en-US"/>
              <a:t>子句。只有通过过滤条件的路由信息才能被添加或修改团体属性（可选）。</a:t>
            </a:r>
            <a:endParaRPr lang="zh-CN" altLang="en-US"/>
          </a:p>
          <a:p>
            <a:pPr lvl="2"/>
            <a:r>
              <a:rPr lang="zh-CN" altLang="en-US"/>
              <a:t>执行命令</a:t>
            </a:r>
            <a:r>
              <a:rPr lang="en-US" altLang="zh-CN"/>
              <a:t>apply extcommunity color color</a:t>
            </a:r>
            <a:r>
              <a:rPr lang="zh-CN" altLang="en-US"/>
              <a:t>，配置</a:t>
            </a:r>
            <a:r>
              <a:rPr lang="en-US" altLang="zh-CN"/>
              <a:t>BGP</a:t>
            </a:r>
            <a:r>
              <a:rPr lang="zh-CN" altLang="en-US"/>
              <a:t>扩展团体属性</a:t>
            </a:r>
            <a:r>
              <a:rPr lang="en-US" altLang="zh-CN"/>
              <a:t>Color</a:t>
            </a:r>
            <a:r>
              <a:rPr lang="zh-CN" altLang="en-US"/>
              <a:t>。</a:t>
            </a:r>
            <a:endParaRPr lang="zh-CN" altLang="en-US"/>
          </a:p>
          <a:p>
            <a:pPr lvl="2"/>
            <a:r>
              <a:rPr lang="zh-CN" altLang="en-US"/>
              <a:t>执行命令</a:t>
            </a:r>
            <a:r>
              <a:rPr lang="en-US" altLang="zh-CN"/>
              <a:t>commit</a:t>
            </a:r>
            <a:r>
              <a:rPr lang="zh-CN" altLang="en-US"/>
              <a:t>，提交配置。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3582" y="728663"/>
            <a:ext cx="5580062" cy="4784070"/>
          </a:xfrm>
        </p:spPr>
        <p:txBody>
          <a:bodyPr/>
          <a:lstStyle/>
          <a:p>
            <a:pPr lvl="1"/>
            <a:r>
              <a:rPr lang="zh-CN" altLang="en-US" dirty="0"/>
              <a:t>对</a:t>
            </a:r>
            <a:r>
              <a:rPr lang="en-US" altLang="zh-CN" dirty="0"/>
              <a:t>BGP VPNv4</a:t>
            </a:r>
            <a:r>
              <a:rPr lang="zh-CN" altLang="en-US" dirty="0"/>
              <a:t>邻居应用</a:t>
            </a:r>
            <a:r>
              <a:rPr lang="en-US" altLang="zh-CN" dirty="0"/>
              <a:t>Route-Policy</a:t>
            </a:r>
            <a:endParaRPr lang="en-US" altLang="zh-CN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/>
              <a:t>system-view</a:t>
            </a:r>
            <a:r>
              <a:rPr lang="zh-CN" altLang="en-US" dirty="0"/>
              <a:t>，进入系统视图。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 err="1"/>
              <a:t>bgp</a:t>
            </a:r>
            <a:r>
              <a:rPr lang="en-US" altLang="zh-CN" dirty="0"/>
              <a:t> as-number</a:t>
            </a:r>
            <a:r>
              <a:rPr lang="zh-CN" altLang="en-US" dirty="0"/>
              <a:t>，进入</a:t>
            </a:r>
            <a:r>
              <a:rPr lang="en-US" altLang="zh-CN" dirty="0"/>
              <a:t>BGP</a:t>
            </a:r>
            <a:r>
              <a:rPr lang="zh-CN" altLang="en-US" dirty="0"/>
              <a:t>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/>
              <a:t>peer { ipv4-address | group-name } as-number { as-number-plain | as-number-dot }</a:t>
            </a:r>
            <a:r>
              <a:rPr lang="zh-CN" altLang="en-US" dirty="0"/>
              <a:t>，创建</a:t>
            </a:r>
            <a:r>
              <a:rPr lang="en-US" altLang="zh-CN" dirty="0"/>
              <a:t>BGP</a:t>
            </a:r>
            <a:r>
              <a:rPr lang="zh-CN" altLang="en-US" dirty="0"/>
              <a:t>对等体。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/>
              <a:t>ipv4-family vpnv4</a:t>
            </a:r>
            <a:r>
              <a:rPr lang="zh-CN" altLang="en-US" dirty="0"/>
              <a:t>，进入</a:t>
            </a:r>
            <a:r>
              <a:rPr lang="en-US" altLang="zh-CN" dirty="0"/>
              <a:t>BGP VPNv4</a:t>
            </a:r>
            <a:r>
              <a:rPr lang="zh-CN" altLang="en-US" dirty="0"/>
              <a:t>地址族视图。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/>
              <a:t>peer { ipv4-address | group-name } enable</a:t>
            </a:r>
            <a:r>
              <a:rPr lang="zh-CN" altLang="en-US" dirty="0"/>
              <a:t>，使能</a:t>
            </a:r>
            <a:r>
              <a:rPr lang="en-US" altLang="zh-CN" dirty="0"/>
              <a:t>BGP VPNv4</a:t>
            </a:r>
            <a:r>
              <a:rPr lang="zh-CN" altLang="en-US" dirty="0"/>
              <a:t>邻居关系。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/>
              <a:t>peer { ipv4-address | group-name } route-policy route-policy-name { import | export }</a:t>
            </a:r>
            <a:r>
              <a:rPr lang="zh-CN" altLang="en-US" dirty="0"/>
              <a:t>，配置</a:t>
            </a:r>
            <a:r>
              <a:rPr lang="en-US" altLang="zh-CN" dirty="0"/>
              <a:t>BGP</a:t>
            </a:r>
            <a:r>
              <a:rPr lang="zh-CN" altLang="en-US" dirty="0"/>
              <a:t>入方向或出方向的路由策略。</a:t>
            </a:r>
            <a:endParaRPr lang="zh-CN" altLang="en-US" dirty="0"/>
          </a:p>
          <a:p>
            <a:pPr lvl="2"/>
            <a:r>
              <a:rPr lang="zh-CN" altLang="en-US" dirty="0"/>
              <a:t>执行命令</a:t>
            </a:r>
            <a:r>
              <a:rPr lang="en-US" altLang="zh-CN" dirty="0"/>
              <a:t>commit</a:t>
            </a:r>
            <a:r>
              <a:rPr lang="zh-CN" altLang="en-US" dirty="0"/>
              <a:t>，提交配置。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zh-CN" dirty="0"/>
              <a:t>D</a:t>
            </a:r>
            <a:endParaRPr lang="en-US" altLang="zh-CN" dirty="0"/>
          </a:p>
          <a:p>
            <a:pPr marL="228600" indent="-228600">
              <a:buFont typeface="+mj-lt"/>
              <a:buAutoNum type="arabicPeriod"/>
            </a:pPr>
            <a:r>
              <a:rPr lang="en-US" altLang="zh-CN" dirty="0"/>
              <a:t>AD</a:t>
            </a:r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3765">
              <a:lnSpc>
                <a:spcPts val="3440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fontAlgn="base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/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/>
                <a:gridCol w="1967450"/>
                <a:gridCol w="3023155"/>
                <a:gridCol w="2084624"/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/>
        </p:nvGraphicFramePr>
        <p:xfrm>
          <a:off x="1007140" y="2920836"/>
          <a:ext cx="10177327" cy="2549525"/>
        </p:xfrm>
        <a:graphic>
          <a:graphicData uri="http://schemas.openxmlformats.org/drawingml/2006/table">
            <a:tbl>
              <a:tblPr/>
              <a:tblGrid>
                <a:gridCol w="3119030"/>
                <a:gridCol w="1967450"/>
                <a:gridCol w="3023155"/>
                <a:gridCol w="2067692"/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  <a:endParaRPr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  <a:endParaRPr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lang="zh-CN" altLang="en-US" sz="16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  <a:endParaRPr lang="zh-CN" altLang="en-US" dirty="0"/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78227" tIns="39112" rIns="78227" bIns="39112" anchor="ctr"/>
          <a:lstStyle/>
          <a:p>
            <a:pPr algn="l" defTabSz="1001395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500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  <a:endParaRPr lang="zh-CN" altLang="en-US" sz="3500" b="0" kern="120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4000" i="0" baseline="0" dirty="0">
                <a:solidFill>
                  <a:schemeClr val="bg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  <a:endParaRPr lang="zh-CN" altLang="en-US" sz="4000" i="0" baseline="0" dirty="0">
              <a:solidFill>
                <a:schemeClr val="bg2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  <a:endParaRPr lang="zh-CN" altLang="en-US" dirty="0"/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  <a:endParaRPr lang="zh-CN" altLang="en-US" dirty="0"/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99907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99907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lang="zh-CN" altLang="en-US" sz="16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99907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99907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60" indent="-302260" algn="just" fontAlgn="auto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685" indent="-252095" fontAlgn="auto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fontAlgn="auto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auto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fontAlgn="auto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/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前言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60" indent="-302260" algn="just" eaLnBrk="1" fontAlgn="auto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685" indent="-252095" fontAlgn="auto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fontAlgn="auto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auto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fontAlgn="auto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/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395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200" marR="0" indent="-457200" algn="just" defTabSz="801370" rtl="0" eaLnBrk="1" fontAlgn="auto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auto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4050" lvl="1" indent="-457200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395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60" indent="-302260" algn="just" fontAlgn="auto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685" indent="-252095" fontAlgn="auto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fontAlgn="auto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auto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fontAlgn="auto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/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395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  <a:endParaRPr lang="zh-CN" altLang="en-US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200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220" indent="-342900" algn="just" fontAlgn="base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具体格式（序号格式需以模板展示）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cxnSp>
        <p:nvCxnSpPr>
          <p:cNvPr id="24" name="直线连接符 14"/>
          <p:cNvCxnSpPr/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/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思考题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cxnSp>
        <p:nvCxnSpPr>
          <p:cNvPr id="11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本节小结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cxnSp>
        <p:nvCxnSpPr>
          <p:cNvPr id="9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本章总结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  <a:endParaRPr lang="zh-CN" altLang="en-US" dirty="0"/>
          </a:p>
        </p:txBody>
      </p:sp>
      <p:cxnSp>
        <p:nvCxnSpPr>
          <p:cNvPr id="12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更多信息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学习推荐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fontAlgn="auto"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2" Type="http://schemas.openxmlformats.org/officeDocument/2006/relationships/theme" Target="../theme/theme2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2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3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4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5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6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9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40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1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2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3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4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5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6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7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8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9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0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1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3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4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5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6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7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8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9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1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2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3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4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5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6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7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8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9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0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2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</a:fld>
            <a:endParaRPr lang="en-US" sz="975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29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0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1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2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3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4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6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8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9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0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1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2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3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4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5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6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7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8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0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1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2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3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4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5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6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8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9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0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1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2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3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4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5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6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7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txStyles>
    <p:titleStyle>
      <a:lvl1pPr algn="l" defTabSz="913765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60" indent="-302260" algn="l" defTabSz="913765" rtl="0" eaLnBrk="1" fontAlgn="ctr" latinLnBrk="0" hangingPunct="1">
        <a:lnSpc>
          <a:spcPct val="140000"/>
        </a:lnSpc>
        <a:spcBef>
          <a:spcPts val="790"/>
        </a:spcBef>
        <a:buSzPct val="50000"/>
        <a:buFont typeface="Wingdings" panose="05000000000000000000" pitchFamily="2" charset="2"/>
        <a:buChar char="l"/>
        <a:defRPr sz="22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685" indent="-252095" algn="l" defTabSz="913765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20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35" indent="-201295" algn="l" defTabSz="913765" rtl="0" eaLnBrk="1" fontAlgn="ctr" latinLnBrk="0" hangingPunct="1">
        <a:lnSpc>
          <a:spcPct val="140000"/>
        </a:lnSpc>
        <a:spcBef>
          <a:spcPts val="650"/>
        </a:spcBef>
        <a:buClrTx/>
        <a:buSzPct val="5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540" indent="-198120" algn="l" defTabSz="913765" rtl="0" eaLnBrk="1" fontAlgn="ctr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−"/>
        <a:defRPr sz="16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765" indent="-201295" algn="l" defTabSz="913765" rtl="0" eaLnBrk="1" fontAlgn="ctr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~"/>
        <a:defRPr sz="14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2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</a:fld>
            <a:endParaRPr lang="en-US" sz="975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1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2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3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4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5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6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8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9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0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1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2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3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4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5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6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7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8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9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0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2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3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4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5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6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7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8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0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1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2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3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4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5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6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7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8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9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defTabSz="913765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60" indent="-302260" algn="l" defTabSz="913765" rtl="0" eaLnBrk="1" fontAlgn="ctr" latinLnBrk="0" hangingPunct="1">
        <a:lnSpc>
          <a:spcPct val="140000"/>
        </a:lnSpc>
        <a:spcBef>
          <a:spcPts val="790"/>
        </a:spcBef>
        <a:buSzPct val="50000"/>
        <a:buFont typeface="Wingdings" panose="05000000000000000000" pitchFamily="2" charset="2"/>
        <a:buChar char="l"/>
        <a:defRPr sz="22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685" indent="-252095" algn="l" defTabSz="913765" rtl="0" eaLnBrk="1" fontAlgn="auto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20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35" indent="-201295" algn="l" defTabSz="913765" rtl="0" eaLnBrk="1" fontAlgn="auto" latinLnBrk="0" hangingPunct="1">
        <a:lnSpc>
          <a:spcPct val="140000"/>
        </a:lnSpc>
        <a:spcBef>
          <a:spcPts val="650"/>
        </a:spcBef>
        <a:buClrTx/>
        <a:buSzPct val="50000"/>
        <a:buFont typeface="Wingdings" panose="05000000000000000000" pitchFamily="2" charset="2"/>
        <a:buChar char="n"/>
        <a:defRPr sz="1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540" indent="-198120" algn="l" defTabSz="913765" rtl="0" eaLnBrk="1" fontAlgn="auto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−"/>
        <a:defRPr sz="16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765" indent="-201295" algn="l" defTabSz="913765" rtl="0" eaLnBrk="1" fontAlgn="auto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~"/>
        <a:defRPr sz="14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0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1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93725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2" Type="http://schemas.openxmlformats.org/officeDocument/2006/relationships/notesSlide" Target="../notesSlides/notesSlide33.xml"/><Relationship Id="rId31" Type="http://schemas.openxmlformats.org/officeDocument/2006/relationships/slideLayout" Target="../slideLayouts/slideLayout13.xml"/><Relationship Id="rId30" Type="http://schemas.openxmlformats.org/officeDocument/2006/relationships/tags" Target="../tags/tag29.xml"/><Relationship Id="rId3" Type="http://schemas.openxmlformats.org/officeDocument/2006/relationships/tags" Target="../tags/tag3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image" Target="../media/image4.png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9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0.xml"/><Relationship Id="rId4" Type="http://schemas.openxmlformats.org/officeDocument/2006/relationships/slideLayout" Target="../slideLayouts/slideLayout13.xml"/><Relationship Id="rId3" Type="http://schemas.microsoft.com/office/2007/relationships/hdphoto" Target="../media/image8.wdp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6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6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7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8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9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3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6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5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6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7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8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9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9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文本占位符 4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1" name="文本占位符 50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/>
              <a:t>Datacom</a:t>
            </a:r>
            <a:endParaRPr lang="zh-CN" altLang="en-US" dirty="0"/>
          </a:p>
        </p:txBody>
      </p:sp>
      <p:sp>
        <p:nvSpPr>
          <p:cNvPr id="52" name="文本占位符 5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通用</a:t>
            </a:r>
            <a:endParaRPr lang="zh-CN" altLang="en-US" dirty="0"/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zh-CN" dirty="0"/>
              <a:t>V1.0</a:t>
            </a:r>
            <a:endParaRPr lang="zh-CN" altLang="en-US" dirty="0"/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万倡利</a:t>
            </a:r>
            <a:r>
              <a:rPr lang="en-US" altLang="zh-CN" dirty="0"/>
              <a:t>/WX408647</a:t>
            </a:r>
            <a:endParaRPr lang="zh-CN" altLang="en-US" dirty="0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2021.2.22</a:t>
            </a:r>
            <a:endParaRPr lang="en-US" altLang="zh-CN"/>
          </a:p>
        </p:txBody>
      </p:sp>
      <p:sp>
        <p:nvSpPr>
          <p:cNvPr id="48" name="文本占位符 4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/>
              <a:t>刘淑英</a:t>
            </a:r>
            <a:r>
              <a:rPr lang="en-US" altLang="zh-CN"/>
              <a:t>/00245623</a:t>
            </a:r>
            <a:r>
              <a:rPr lang="zh-CN" altLang="en-US"/>
              <a:t>、王秋生</a:t>
            </a:r>
            <a:r>
              <a:rPr lang="en-US" altLang="zh-CN"/>
              <a:t>/00287740 </a:t>
            </a:r>
            <a:endParaRPr lang="zh-CN" altLang="en-US" dirty="0"/>
          </a:p>
        </p:txBody>
      </p:sp>
      <p:sp>
        <p:nvSpPr>
          <p:cNvPr id="49" name="文本占位符 4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/>
              <a:t>新开发</a:t>
            </a:r>
            <a:endParaRPr lang="zh-CN" altLang="en-US" dirty="0"/>
          </a:p>
        </p:txBody>
      </p:sp>
      <p:sp>
        <p:nvSpPr>
          <p:cNvPr id="54" name="文本占位符 5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/>
              <a:t>何军建</a:t>
            </a:r>
            <a:r>
              <a:rPr lang="en-US" altLang="zh-CN" dirty="0"/>
              <a:t>/WX580230</a:t>
            </a:r>
            <a:endParaRPr lang="zh-CN" altLang="en-US" dirty="0"/>
          </a:p>
        </p:txBody>
      </p:sp>
      <p:sp>
        <p:nvSpPr>
          <p:cNvPr id="55" name="文本占位符 5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CN"/>
              <a:t>2021.4.12</a:t>
            </a:r>
            <a:endParaRPr lang="zh-CN" altLang="en-US"/>
          </a:p>
        </p:txBody>
      </p:sp>
      <p:sp>
        <p:nvSpPr>
          <p:cNvPr id="56" name="文本占位符 55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万倡利</a:t>
            </a:r>
            <a:r>
              <a:rPr lang="en-US" altLang="zh-CN" dirty="0"/>
              <a:t>/WX408647</a:t>
            </a:r>
            <a:endParaRPr lang="zh-CN" altLang="en-US" dirty="0"/>
          </a:p>
        </p:txBody>
      </p:sp>
      <p:sp>
        <p:nvSpPr>
          <p:cNvPr id="57" name="文本占位符 56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zh-CN" altLang="en-US" dirty="0"/>
              <a:t>优化</a:t>
            </a:r>
            <a:endParaRPr lang="zh-CN" altLang="en-US" dirty="0"/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zh-CN" altLang="en-US" dirty="0"/>
              <a:t>吴越</a:t>
            </a:r>
            <a:r>
              <a:rPr lang="en-US" altLang="zh-CN" dirty="0"/>
              <a:t>/WX291773</a:t>
            </a:r>
            <a:endParaRPr lang="zh-CN" altLang="en-US" dirty="0"/>
          </a:p>
        </p:txBody>
      </p:sp>
      <p:sp>
        <p:nvSpPr>
          <p:cNvPr id="59" name="文本占位符 5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altLang="zh-CN" dirty="0"/>
              <a:t>2021.9.16</a:t>
            </a:r>
            <a:endParaRPr lang="zh-CN" altLang="en-US" dirty="0"/>
          </a:p>
        </p:txBody>
      </p:sp>
      <p:sp>
        <p:nvSpPr>
          <p:cNvPr id="60" name="文本占位符 59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zh-CN" altLang="en-US" dirty="0"/>
              <a:t>卢玥玥</a:t>
            </a:r>
            <a:r>
              <a:rPr lang="en-US" altLang="zh-CN" dirty="0"/>
              <a:t>/WX445705</a:t>
            </a:r>
            <a:endParaRPr lang="en-US" altLang="zh-CN" dirty="0"/>
          </a:p>
        </p:txBody>
      </p:sp>
      <p:sp>
        <p:nvSpPr>
          <p:cNvPr id="61" name="文本占位符 60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zh-CN" altLang="en-US" dirty="0"/>
              <a:t>优化</a:t>
            </a:r>
            <a:endParaRPr lang="zh-CN" altLang="en-US" dirty="0"/>
          </a:p>
        </p:txBody>
      </p:sp>
      <p:sp>
        <p:nvSpPr>
          <p:cNvPr id="62" name="文本占位符 61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文本占位符 62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4" name="文本占位符 63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5" name="文本占位符 64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 bwMode="gray">
          <a:xfrm>
            <a:off x="916560" y="907092"/>
            <a:ext cx="8125839" cy="690255"/>
          </a:xfrm>
        </p:spPr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ym typeface="Huawei Sans" panose="020C0503030203020204" pitchFamily="34" charset="0"/>
              </a:rPr>
              <a:t>简介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段路由</a:t>
            </a:r>
            <a:r>
              <a:rPr lang="en-US" altLang="zh-CN" dirty="0">
                <a:sym typeface="Huawei Sans" panose="020C0503030203020204" pitchFamily="34" charset="0"/>
              </a:rPr>
              <a:t>SR</a:t>
            </a:r>
            <a:r>
              <a:rPr lang="zh-CN" altLang="en-US" dirty="0">
                <a:sym typeface="Huawei Sans" panose="020C0503030203020204" pitchFamily="34" charset="0"/>
              </a:rPr>
              <a:t>（</a:t>
            </a:r>
            <a:r>
              <a:rPr lang="en-US" altLang="zh-CN" dirty="0"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ym typeface="Huawei Sans" panose="020C0503030203020204" pitchFamily="34" charset="0"/>
              </a:rPr>
              <a:t>）是基于源路由理念而设计的在网络上转发数据包的一种技术架构。</a:t>
            </a:r>
            <a:endParaRPr lang="zh-CN" altLang="en-US" dirty="0">
              <a:sym typeface="Huawei Sans" panose="020C0503030203020204" pitchFamily="34" charset="0"/>
            </a:endParaRPr>
          </a:p>
          <a:p>
            <a:r>
              <a:rPr lang="zh-CN" altLang="en-US" dirty="0">
                <a:sym typeface="Huawei Sans" panose="020C0503030203020204" pitchFamily="34" charset="0"/>
              </a:rPr>
              <a:t>本文档介绍了</a:t>
            </a:r>
            <a:r>
              <a:rPr lang="en-US" altLang="zh-CN" dirty="0"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ym typeface="Huawei Sans" panose="020C0503030203020204" pitchFamily="34" charset="0"/>
              </a:rPr>
              <a:t>的源路由机制、</a:t>
            </a:r>
            <a:r>
              <a:rPr lang="en-US" altLang="zh-CN" dirty="0">
                <a:sym typeface="Huawei Sans" panose="020C0503030203020204" pitchFamily="34" charset="0"/>
              </a:rPr>
              <a:t>Segment</a:t>
            </a:r>
            <a:r>
              <a:rPr lang="zh-CN" altLang="en-US" dirty="0">
                <a:sym typeface="Huawei Sans" panose="020C0503030203020204" pitchFamily="34" charset="0"/>
              </a:rPr>
              <a:t>定义、</a:t>
            </a:r>
            <a:r>
              <a:rPr lang="en-US" altLang="zh-CN" dirty="0">
                <a:sym typeface="Huawei Sans" panose="020C0503030203020204" pitchFamily="34" charset="0"/>
              </a:rPr>
              <a:t>SR-MPLS</a:t>
            </a:r>
            <a:r>
              <a:rPr lang="zh-CN" altLang="en-US" dirty="0">
                <a:sym typeface="Huawei Sans" panose="020C0503030203020204" pitchFamily="34" charset="0"/>
              </a:rPr>
              <a:t>与</a:t>
            </a:r>
            <a:r>
              <a:rPr lang="en-US" altLang="zh-CN" dirty="0">
                <a:sym typeface="Huawei Sans" panose="020C0503030203020204" pitchFamily="34" charset="0"/>
              </a:rPr>
              <a:t>SRv6</a:t>
            </a:r>
            <a:r>
              <a:rPr lang="zh-CN" altLang="en-US" dirty="0">
                <a:sym typeface="Huawei Sans" panose="020C0503030203020204" pitchFamily="34" charset="0"/>
              </a:rPr>
              <a:t>区别和基于华为</a:t>
            </a:r>
            <a:r>
              <a:rPr lang="en-US" altLang="zh-CN" dirty="0" err="1">
                <a:sym typeface="Huawei Sans" panose="020C0503030203020204" pitchFamily="34" charset="0"/>
              </a:rPr>
              <a:t>NetEngine</a:t>
            </a:r>
            <a:r>
              <a:rPr lang="zh-CN" altLang="en-US" dirty="0">
                <a:sym typeface="Huawei Sans" panose="020C0503030203020204" pitchFamily="34" charset="0"/>
              </a:rPr>
              <a:t>系列路由器的</a:t>
            </a:r>
            <a:r>
              <a:rPr lang="en-US" altLang="zh-CN" dirty="0">
                <a:sym typeface="Huawei Sans" panose="020C0503030203020204" pitchFamily="34" charset="0"/>
              </a:rPr>
              <a:t>SR-MPLS</a:t>
            </a:r>
            <a:r>
              <a:rPr lang="zh-CN" altLang="en-US" dirty="0">
                <a:sym typeface="Huawei Sans" panose="020C0503030203020204" pitchFamily="34" charset="0"/>
              </a:rPr>
              <a:t>场景化应用。</a:t>
            </a:r>
            <a:endParaRPr lang="zh-CN" altLang="en-US" dirty="0"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>
          <a:xfrm>
            <a:off x="1019174" y="1844675"/>
            <a:ext cx="10153651" cy="4082668"/>
          </a:xfrm>
        </p:spPr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学完本课程后，您将能够：</a:t>
            </a:r>
            <a:endParaRPr lang="zh-CN" altLang="en-US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</a:t>
            </a:r>
            <a:r>
              <a:rPr lang="en-US" altLang="zh-CN" dirty="0"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ym typeface="Huawei Sans" panose="020C0503030203020204" pitchFamily="34" charset="0"/>
              </a:rPr>
              <a:t>的产生背景</a:t>
            </a:r>
            <a:endParaRPr lang="zh-CN" altLang="en-US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</a:t>
            </a:r>
            <a:r>
              <a:rPr lang="en-US" altLang="zh-CN" dirty="0"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ym typeface="Huawei Sans" panose="020C0503030203020204" pitchFamily="34" charset="0"/>
              </a:rPr>
              <a:t>的技术优势</a:t>
            </a:r>
            <a:endParaRPr lang="zh-CN" altLang="en-US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</a:t>
            </a:r>
            <a:r>
              <a:rPr lang="en-US" altLang="zh-CN" dirty="0"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ym typeface="Huawei Sans" panose="020C0503030203020204" pitchFamily="34" charset="0"/>
              </a:rPr>
              <a:t>的基本概念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阐明</a:t>
            </a:r>
            <a:r>
              <a:rPr lang="en-US" altLang="zh-CN" dirty="0"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ym typeface="Huawei Sans" panose="020C0503030203020204" pitchFamily="34" charset="0"/>
              </a:rPr>
              <a:t>的转发原理</a:t>
            </a:r>
            <a:endParaRPr lang="zh-CN" altLang="en-US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实现</a:t>
            </a:r>
            <a:r>
              <a:rPr lang="en-US" altLang="zh-CN" dirty="0">
                <a:sym typeface="Huawei Sans" panose="020C0503030203020204" pitchFamily="34" charset="0"/>
              </a:rPr>
              <a:t>SR-MPLS</a:t>
            </a:r>
            <a:r>
              <a:rPr lang="zh-CN" altLang="en-US" dirty="0">
                <a:sym typeface="Huawei Sans" panose="020C0503030203020204" pitchFamily="34" charset="0"/>
              </a:rPr>
              <a:t>的基础配置</a:t>
            </a:r>
            <a:endParaRPr lang="zh-CN" altLang="en-US" dirty="0"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zh-CN" altLang="en-US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b="1" dirty="0">
                <a:sym typeface="Huawei Sans" panose="020C0503030203020204" pitchFamily="34" charset="0"/>
              </a:rPr>
              <a:t>Segment Routing</a:t>
            </a:r>
            <a:r>
              <a:rPr lang="zh-CN" altLang="en-US" b="1" dirty="0">
                <a:sym typeface="Huawei Sans" panose="020C0503030203020204" pitchFamily="34" charset="0"/>
              </a:rPr>
              <a:t>概述</a:t>
            </a:r>
            <a:endParaRPr lang="zh-CN" altLang="en-US" b="1" dirty="0"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技术原理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隧道保护与检测技术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的典型应用场景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的基础配置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直接连接符 95"/>
          <p:cNvCxnSpPr/>
          <p:nvPr/>
        </p:nvCxnSpPr>
        <p:spPr bwMode="gray">
          <a:xfrm rot="5400000">
            <a:off x="3842653" y="3047184"/>
            <a:ext cx="662814" cy="1266975"/>
          </a:xfrm>
          <a:prstGeom prst="line">
            <a:avLst/>
          </a:prstGeom>
          <a:ln w="19050">
            <a:solidFill>
              <a:srgbClr val="33CC33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 bwMode="gray">
          <a:xfrm rot="16200000" flipH="1">
            <a:off x="3769315" y="2023194"/>
            <a:ext cx="662814" cy="1266974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 bwMode="gray">
          <a:xfrm rot="5400000">
            <a:off x="3777364" y="2790519"/>
            <a:ext cx="602558" cy="1151795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 bwMode="gray">
          <a:xfrm rot="16200000" flipH="1">
            <a:off x="1957058" y="2692827"/>
            <a:ext cx="662814" cy="1266974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 bwMode="gray">
          <a:xfrm rot="16200000">
            <a:off x="1852143" y="1652314"/>
            <a:ext cx="662814" cy="1266974"/>
          </a:xfrm>
          <a:prstGeom prst="line">
            <a:avLst/>
          </a:prstGeom>
          <a:ln w="19050">
            <a:solidFill>
              <a:srgbClr val="33CC33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/>
          </p:nvPr>
        </p:nvSpPr>
        <p:spPr bwMode="gray">
          <a:xfrm>
            <a:off x="452438" y="447468"/>
            <a:ext cx="11296649" cy="497095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MPLS LDP</a:t>
            </a:r>
            <a:r>
              <a:rPr lang="zh-CN" altLang="en-US" dirty="0">
                <a:sym typeface="Huawei Sans" panose="020C0503030203020204" pitchFamily="34" charset="0"/>
              </a:rPr>
              <a:t>与</a:t>
            </a:r>
            <a:r>
              <a:rPr lang="en-US" altLang="zh-CN" dirty="0">
                <a:sym typeface="Huawei Sans" panose="020C0503030203020204" pitchFamily="34" charset="0"/>
              </a:rPr>
              <a:t>RSVP-TE</a:t>
            </a:r>
            <a:r>
              <a:rPr lang="zh-CN" altLang="en-US" dirty="0">
                <a:sym typeface="Huawei Sans" panose="020C0503030203020204" pitchFamily="34" charset="0"/>
              </a:rPr>
              <a:t>存在的问题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 bwMode="gray">
          <a:xfrm rot="5400000">
            <a:off x="5250027" y="2818951"/>
            <a:ext cx="438911" cy="301085"/>
            <a:chOff x="674588" y="6196215"/>
            <a:chExt cx="399010" cy="226210"/>
          </a:xfrm>
        </p:grpSpPr>
        <p:cxnSp>
          <p:nvCxnSpPr>
            <p:cNvPr id="12" name="直接连接符 11"/>
            <p:cNvCxnSpPr/>
            <p:nvPr/>
          </p:nvCxnSpPr>
          <p:spPr bwMode="gray">
            <a:xfrm>
              <a:off x="874093" y="6196215"/>
              <a:ext cx="0" cy="2262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 bwMode="gray">
            <a:xfrm>
              <a:off x="674588" y="6196215"/>
              <a:ext cx="3990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 bwMode="gray">
          <a:xfrm rot="16200000">
            <a:off x="1231463" y="2131646"/>
            <a:ext cx="1764410" cy="1686342"/>
            <a:chOff x="6600056" y="4353447"/>
            <a:chExt cx="1296144" cy="833967"/>
          </a:xfrm>
        </p:grpSpPr>
        <p:cxnSp>
          <p:nvCxnSpPr>
            <p:cNvPr id="15" name="直接连接符 14"/>
            <p:cNvCxnSpPr/>
            <p:nvPr/>
          </p:nvCxnSpPr>
          <p:spPr bwMode="gray">
            <a:xfrm flipH="1">
              <a:off x="6600056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gray">
            <a:xfrm>
              <a:off x="7248128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 bwMode="gray">
          <a:xfrm rot="5400000">
            <a:off x="3388642" y="2131646"/>
            <a:ext cx="1764410" cy="1686342"/>
            <a:chOff x="6600056" y="4353447"/>
            <a:chExt cx="1296144" cy="833967"/>
          </a:xfrm>
        </p:grpSpPr>
        <p:cxnSp>
          <p:nvCxnSpPr>
            <p:cNvPr id="18" name="直接连接符 17"/>
            <p:cNvCxnSpPr/>
            <p:nvPr/>
          </p:nvCxnSpPr>
          <p:spPr bwMode="gray">
            <a:xfrm flipH="1">
              <a:off x="6600056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gray">
            <a:xfrm>
              <a:off x="7248128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圆角矩形 19"/>
          <p:cNvSpPr/>
          <p:nvPr/>
        </p:nvSpPr>
        <p:spPr bwMode="gray">
          <a:xfrm>
            <a:off x="587041" y="1020288"/>
            <a:ext cx="5297710" cy="400674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LDP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圆角矩形 20"/>
          <p:cNvSpPr/>
          <p:nvPr/>
        </p:nvSpPr>
        <p:spPr bwMode="gray">
          <a:xfrm>
            <a:off x="587041" y="1529329"/>
            <a:ext cx="5297710" cy="4405715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圆角矩形 21"/>
          <p:cNvSpPr/>
          <p:nvPr/>
        </p:nvSpPr>
        <p:spPr bwMode="gray">
          <a:xfrm>
            <a:off x="6325031" y="1020288"/>
            <a:ext cx="5299200" cy="400674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RSVP-TE</a:t>
            </a:r>
            <a:endParaRPr lang="zh-CN" altLang="en-US" sz="160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圆角矩形 22"/>
          <p:cNvSpPr/>
          <p:nvPr/>
        </p:nvSpPr>
        <p:spPr bwMode="gray">
          <a:xfrm>
            <a:off x="6325030" y="1529329"/>
            <a:ext cx="5299201" cy="4405715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4" name="图片 2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71961" y="2748094"/>
            <a:ext cx="540000" cy="442800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 bwMode="gray">
          <a:xfrm>
            <a:off x="2944169" y="1847994"/>
            <a:ext cx="540000" cy="2243000"/>
            <a:chOff x="3071664" y="2780928"/>
            <a:chExt cx="540000" cy="2243000"/>
          </a:xfrm>
        </p:grpSpPr>
        <p:pic>
          <p:nvPicPr>
            <p:cNvPr id="26" name="图片 25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071664" y="2780928"/>
              <a:ext cx="540000" cy="442800"/>
            </a:xfrm>
            <a:prstGeom prst="rect">
              <a:avLst/>
            </a:prstGeom>
          </p:spPr>
        </p:pic>
        <p:pic>
          <p:nvPicPr>
            <p:cNvPr id="27" name="图片 26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071664" y="4581128"/>
              <a:ext cx="540000" cy="442800"/>
            </a:xfrm>
            <a:prstGeom prst="rect">
              <a:avLst/>
            </a:prstGeom>
          </p:spPr>
        </p:pic>
      </p:grpSp>
      <p:pic>
        <p:nvPicPr>
          <p:cNvPr id="28" name="图片 2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816377" y="2748094"/>
            <a:ext cx="540000" cy="44280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 bwMode="gray">
          <a:xfrm>
            <a:off x="678801" y="2815605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 bwMode="gray">
          <a:xfrm>
            <a:off x="3007221" y="2301441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 bwMode="gray">
          <a:xfrm>
            <a:off x="3007221" y="3309003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 bwMode="gray">
          <a:xfrm>
            <a:off x="4878021" y="3190894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 rot="19912812">
            <a:off x="1899831" y="2211386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400" dirty="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 sz="1400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628001" y="4340237"/>
            <a:ext cx="52059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本身并无算路能力，需依赖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进行路径计算。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控制面需要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及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，设备之间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需要发送大量的消息来维持邻居关系及路径状态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浪费了链路带宽及设备资源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若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未同步，则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可能出现数据转发问题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6325030" y="4251337"/>
            <a:ext cx="529920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RSVP-TE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的配置复杂，不支持负载分担。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为了实现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，设备之间需要发送大量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报文来维持邻居关系及路径状态，浪费了链路带宽及设备资源。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RSVP-TE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本质上是分布式架构，每台设备只知道自己的状态，设备之间需要交互信令报文。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文本框 79"/>
          <p:cNvSpPr txBox="1"/>
          <p:nvPr/>
        </p:nvSpPr>
        <p:spPr bwMode="gray">
          <a:xfrm rot="1670758">
            <a:off x="3834576" y="2550089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rgbClr val="C7000B"/>
                </a:solidFill>
              </a:defRPr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文本框 80"/>
          <p:cNvSpPr txBox="1"/>
          <p:nvPr/>
        </p:nvSpPr>
        <p:spPr bwMode="gray">
          <a:xfrm rot="1660865">
            <a:off x="2026513" y="3238762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rgbClr val="C7000B"/>
                </a:solidFill>
              </a:defRPr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文本框 81"/>
          <p:cNvSpPr txBox="1"/>
          <p:nvPr/>
        </p:nvSpPr>
        <p:spPr bwMode="gray">
          <a:xfrm rot="19997381">
            <a:off x="3815854" y="3297931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rgbClr val="C7000B"/>
                </a:solidFill>
              </a:defRPr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6" name="直接连接符 85"/>
          <p:cNvCxnSpPr/>
          <p:nvPr/>
        </p:nvCxnSpPr>
        <p:spPr bwMode="gray">
          <a:xfrm rot="16200000">
            <a:off x="1986665" y="2026812"/>
            <a:ext cx="602558" cy="1151795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/>
        </p:nvSpPr>
        <p:spPr bwMode="gray">
          <a:xfrm rot="19912812">
            <a:off x="2016948" y="2551041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4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zh-CN" altLang="en-US" sz="1400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8" name="直接连接符 87"/>
          <p:cNvCxnSpPr/>
          <p:nvPr/>
        </p:nvCxnSpPr>
        <p:spPr bwMode="gray">
          <a:xfrm rot="16200000" flipH="1">
            <a:off x="1797603" y="2928761"/>
            <a:ext cx="729095" cy="1393671"/>
          </a:xfrm>
          <a:prstGeom prst="line">
            <a:avLst/>
          </a:prstGeom>
          <a:ln w="19050">
            <a:solidFill>
              <a:srgbClr val="33CC33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/>
          <p:cNvSpPr txBox="1"/>
          <p:nvPr/>
        </p:nvSpPr>
        <p:spPr bwMode="gray">
          <a:xfrm rot="1679142">
            <a:off x="1863224" y="3551831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400" dirty="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 sz="1400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文本框 96"/>
          <p:cNvSpPr txBox="1"/>
          <p:nvPr/>
        </p:nvSpPr>
        <p:spPr bwMode="gray">
          <a:xfrm rot="19882353">
            <a:off x="3939709" y="3588788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rgbClr val="C00000"/>
                </a:solidFill>
              </a:defRPr>
            </a:lvl1pPr>
          </a:lstStyle>
          <a:p>
            <a:r>
              <a:rPr lang="en-US" altLang="zh-CN" dirty="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8" name="直接连接符 97"/>
          <p:cNvCxnSpPr/>
          <p:nvPr/>
        </p:nvCxnSpPr>
        <p:spPr bwMode="gray">
          <a:xfrm rot="16200000" flipH="1">
            <a:off x="3871776" y="1661277"/>
            <a:ext cx="662814" cy="1266974"/>
          </a:xfrm>
          <a:prstGeom prst="line">
            <a:avLst/>
          </a:prstGeom>
          <a:ln w="19050">
            <a:solidFill>
              <a:srgbClr val="33CC33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 bwMode="gray">
          <a:xfrm rot="1670758">
            <a:off x="3940472" y="2235936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400" dirty="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 sz="1400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3" name="组合 112"/>
          <p:cNvGrpSpPr/>
          <p:nvPr/>
        </p:nvGrpSpPr>
        <p:grpSpPr bwMode="gray">
          <a:xfrm rot="5400000">
            <a:off x="11149168" y="2818951"/>
            <a:ext cx="438911" cy="301085"/>
            <a:chOff x="674588" y="6196215"/>
            <a:chExt cx="399010" cy="226210"/>
          </a:xfrm>
        </p:grpSpPr>
        <p:cxnSp>
          <p:nvCxnSpPr>
            <p:cNvPr id="114" name="直接连接符 113"/>
            <p:cNvCxnSpPr/>
            <p:nvPr/>
          </p:nvCxnSpPr>
          <p:spPr bwMode="gray">
            <a:xfrm>
              <a:off x="874093" y="6196215"/>
              <a:ext cx="0" cy="2262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 bwMode="gray">
            <a:xfrm>
              <a:off x="674588" y="6196215"/>
              <a:ext cx="3990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组合 115"/>
          <p:cNvGrpSpPr/>
          <p:nvPr/>
        </p:nvGrpSpPr>
        <p:grpSpPr bwMode="gray">
          <a:xfrm rot="16200000">
            <a:off x="7130604" y="2131646"/>
            <a:ext cx="1764410" cy="1686342"/>
            <a:chOff x="6600056" y="4353447"/>
            <a:chExt cx="1296144" cy="833967"/>
          </a:xfrm>
        </p:grpSpPr>
        <p:cxnSp>
          <p:nvCxnSpPr>
            <p:cNvPr id="117" name="直接连接符 116"/>
            <p:cNvCxnSpPr/>
            <p:nvPr/>
          </p:nvCxnSpPr>
          <p:spPr bwMode="gray">
            <a:xfrm flipH="1">
              <a:off x="6600056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 bwMode="gray">
            <a:xfrm>
              <a:off x="7248128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组合 118"/>
          <p:cNvGrpSpPr/>
          <p:nvPr/>
        </p:nvGrpSpPr>
        <p:grpSpPr bwMode="gray">
          <a:xfrm rot="5400000">
            <a:off x="9287783" y="2131646"/>
            <a:ext cx="1764410" cy="1686342"/>
            <a:chOff x="6600056" y="4353447"/>
            <a:chExt cx="1296144" cy="833967"/>
          </a:xfrm>
        </p:grpSpPr>
        <p:cxnSp>
          <p:nvCxnSpPr>
            <p:cNvPr id="120" name="直接连接符 119"/>
            <p:cNvCxnSpPr/>
            <p:nvPr/>
          </p:nvCxnSpPr>
          <p:spPr bwMode="gray">
            <a:xfrm flipH="1">
              <a:off x="6600056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 bwMode="gray">
            <a:xfrm>
              <a:off x="7248128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2" name="图片 12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71102" y="2748094"/>
            <a:ext cx="540000" cy="442800"/>
          </a:xfrm>
          <a:prstGeom prst="rect">
            <a:avLst/>
          </a:prstGeom>
        </p:spPr>
      </p:pic>
      <p:grpSp>
        <p:nvGrpSpPr>
          <p:cNvPr id="123" name="组合 122"/>
          <p:cNvGrpSpPr/>
          <p:nvPr/>
        </p:nvGrpSpPr>
        <p:grpSpPr bwMode="gray">
          <a:xfrm>
            <a:off x="8843310" y="1847994"/>
            <a:ext cx="540000" cy="2243000"/>
            <a:chOff x="3071664" y="2780928"/>
            <a:chExt cx="540000" cy="2243000"/>
          </a:xfrm>
        </p:grpSpPr>
        <p:pic>
          <p:nvPicPr>
            <p:cNvPr id="124" name="图片 123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071664" y="2780928"/>
              <a:ext cx="540000" cy="442800"/>
            </a:xfrm>
            <a:prstGeom prst="rect">
              <a:avLst/>
            </a:prstGeom>
          </p:spPr>
        </p:pic>
        <p:pic>
          <p:nvPicPr>
            <p:cNvPr id="125" name="图片 124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071664" y="4581128"/>
              <a:ext cx="540000" cy="442800"/>
            </a:xfrm>
            <a:prstGeom prst="rect">
              <a:avLst/>
            </a:prstGeom>
          </p:spPr>
        </p:pic>
      </p:grpSp>
      <p:pic>
        <p:nvPicPr>
          <p:cNvPr id="126" name="图片 12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715518" y="2748094"/>
            <a:ext cx="540000" cy="442800"/>
          </a:xfrm>
          <a:prstGeom prst="rect">
            <a:avLst/>
          </a:prstGeom>
        </p:spPr>
      </p:pic>
      <p:sp>
        <p:nvSpPr>
          <p:cNvPr id="127" name="文本框 126"/>
          <p:cNvSpPr txBox="1"/>
          <p:nvPr/>
        </p:nvSpPr>
        <p:spPr bwMode="gray">
          <a:xfrm>
            <a:off x="6577942" y="2815605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文本框 127"/>
          <p:cNvSpPr txBox="1"/>
          <p:nvPr/>
        </p:nvSpPr>
        <p:spPr bwMode="gray">
          <a:xfrm>
            <a:off x="8906362" y="2301441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文本框 128"/>
          <p:cNvSpPr txBox="1"/>
          <p:nvPr/>
        </p:nvSpPr>
        <p:spPr bwMode="gray">
          <a:xfrm>
            <a:off x="8906362" y="3309003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0" name="文本框 129"/>
          <p:cNvSpPr txBox="1"/>
          <p:nvPr/>
        </p:nvSpPr>
        <p:spPr bwMode="gray">
          <a:xfrm>
            <a:off x="10777162" y="3190894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42" name="直接箭头连接符 141"/>
          <p:cNvCxnSpPr/>
          <p:nvPr/>
        </p:nvCxnSpPr>
        <p:spPr bwMode="gray">
          <a:xfrm>
            <a:off x="9447513" y="1942820"/>
            <a:ext cx="1382295" cy="719113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/>
          <p:nvPr/>
        </p:nvCxnSpPr>
        <p:spPr bwMode="gray">
          <a:xfrm flipV="1">
            <a:off x="7384441" y="1945148"/>
            <a:ext cx="1369969" cy="722993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本框 145"/>
          <p:cNvSpPr txBox="1"/>
          <p:nvPr/>
        </p:nvSpPr>
        <p:spPr bwMode="gray">
          <a:xfrm rot="1670758">
            <a:off x="10157743" y="2184994"/>
            <a:ext cx="780663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rgbClr val="C7000B"/>
                </a:solidFill>
              </a:defRPr>
            </a:lvl1pPr>
          </a:lstStyle>
          <a:p>
            <a:r>
              <a: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</a:t>
            </a:r>
            <a:r>
              <a: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响应</a:t>
            </a:r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7" name="文本框 146"/>
          <p:cNvSpPr txBox="1"/>
          <p:nvPr/>
        </p:nvSpPr>
        <p:spPr bwMode="gray">
          <a:xfrm rot="20055180">
            <a:off x="7899850" y="1876524"/>
            <a:ext cx="780663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rgbClr val="C7000B"/>
                </a:solidFill>
              </a:defRPr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响应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4" name="直接箭头连接符 73"/>
          <p:cNvCxnSpPr/>
          <p:nvPr/>
        </p:nvCxnSpPr>
        <p:spPr bwMode="gray">
          <a:xfrm flipV="1">
            <a:off x="7560771" y="2343880"/>
            <a:ext cx="1245426" cy="657267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 bwMode="gray">
          <a:xfrm>
            <a:off x="9324537" y="2307027"/>
            <a:ext cx="1256632" cy="653739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 bwMode="gray">
          <a:xfrm rot="20055180">
            <a:off x="7679496" y="2815462"/>
            <a:ext cx="780663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rgbClr val="C7000B"/>
                </a:solidFill>
              </a:defRPr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 rot="1672281">
            <a:off x="9389738" y="2579040"/>
            <a:ext cx="780663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rgbClr val="C7000B"/>
                </a:solidFill>
              </a:defRPr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业务驱动网络：由业务来定义网络的架构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5G</a:t>
            </a:r>
            <a:r>
              <a:rPr lang="zh-CN" altLang="en-US" sz="1800" dirty="0">
                <a:sym typeface="Huawei Sans" panose="020C0503030203020204" pitchFamily="34" charset="0"/>
              </a:rPr>
              <a:t>和云业务的发展改变了网络连接的属性和范围。它们对连接提出了更多的要求，例如更强的</a:t>
            </a:r>
            <a:r>
              <a:rPr lang="en-US" altLang="zh-CN" sz="1800" dirty="0">
                <a:sym typeface="Huawei Sans" panose="020C0503030203020204" pitchFamily="34" charset="0"/>
              </a:rPr>
              <a:t>SLA</a:t>
            </a:r>
            <a:r>
              <a:rPr lang="zh-CN" altLang="en-US" sz="1800" dirty="0">
                <a:sym typeface="Huawei Sans" panose="020C0503030203020204" pitchFamily="34" charset="0"/>
              </a:rPr>
              <a:t>保证、确定性时延或者要求报文携带更多的信息。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如果仍旧按照网络适配业务的思路，则不仅无法匹配业务的快速发展，而且会使网络越来越复杂，变的难以维护。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解决思路就是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业务驱动网络</a:t>
            </a:r>
            <a:r>
              <a:rPr lang="zh-CN" altLang="en-US" sz="1800" dirty="0">
                <a:sym typeface="Huawei Sans" panose="020C0503030203020204" pitchFamily="34" charset="0"/>
              </a:rPr>
              <a:t>，由业务来定义网络的架构</a:t>
            </a:r>
            <a:r>
              <a:rPr lang="en-US" altLang="zh-CN" sz="1800" dirty="0">
                <a:sym typeface="Huawei Sans" panose="020C0503030203020204" pitchFamily="34" charset="0"/>
              </a:rPr>
              <a:t>——</a:t>
            </a:r>
            <a:r>
              <a:rPr lang="zh-CN" altLang="en-US" sz="1800" dirty="0">
                <a:sym typeface="Huawei Sans" panose="020C0503030203020204" pitchFamily="34" charset="0"/>
              </a:rPr>
              <a:t>由应用提出需求（时延、带宽、丢包率等），控制器收集网络拓扑、带宽利用率、时延等信息，根据业务需求计算显式路径。</a:t>
            </a:r>
            <a:endParaRPr lang="en-US" altLang="zh-CN" sz="1800" dirty="0">
              <a:sym typeface="Huawei Sans" panose="020C0503030203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 bwMode="gray">
          <a:xfrm>
            <a:off x="5476285" y="3642243"/>
            <a:ext cx="3454820" cy="2309990"/>
            <a:chOff x="4482895" y="4284592"/>
            <a:chExt cx="1304009" cy="871898"/>
          </a:xfrm>
        </p:grpSpPr>
        <p:grpSp>
          <p:nvGrpSpPr>
            <p:cNvPr id="5" name="组合 4"/>
            <p:cNvGrpSpPr/>
            <p:nvPr/>
          </p:nvGrpSpPr>
          <p:grpSpPr bwMode="gray">
            <a:xfrm>
              <a:off x="4482895" y="4284592"/>
              <a:ext cx="1304009" cy="871898"/>
              <a:chOff x="10125075" y="5439766"/>
              <a:chExt cx="1304009" cy="871898"/>
            </a:xfrm>
          </p:grpSpPr>
          <p:sp>
            <p:nvSpPr>
              <p:cNvPr id="6" name="矩形 5"/>
              <p:cNvSpPr/>
              <p:nvPr/>
            </p:nvSpPr>
            <p:spPr bwMode="gray">
              <a:xfrm>
                <a:off x="10472174" y="5924694"/>
                <a:ext cx="647760" cy="386970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 bwMode="gray">
              <a:xfrm>
                <a:off x="10379358" y="5439766"/>
                <a:ext cx="604768" cy="6047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 bwMode="gray">
              <a:xfrm>
                <a:off x="10125075" y="5625254"/>
                <a:ext cx="703036" cy="68641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 bwMode="gray">
              <a:xfrm>
                <a:off x="10792751" y="5675331"/>
                <a:ext cx="636333" cy="63633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0" name="椭圆 9"/>
              <p:cNvSpPr/>
              <p:nvPr/>
            </p:nvSpPr>
            <p:spPr bwMode="gray">
              <a:xfrm>
                <a:off x="10723031" y="5515085"/>
                <a:ext cx="463257" cy="46325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 bwMode="gray">
            <a:xfrm>
              <a:off x="4515792" y="4325713"/>
              <a:ext cx="1219038" cy="786561"/>
              <a:chOff x="10162096" y="5484141"/>
              <a:chExt cx="1219038" cy="786561"/>
            </a:xfrm>
          </p:grpSpPr>
          <p:sp>
            <p:nvSpPr>
              <p:cNvPr id="12" name="椭圆 11"/>
              <p:cNvSpPr/>
              <p:nvPr/>
            </p:nvSpPr>
            <p:spPr bwMode="gray">
              <a:xfrm>
                <a:off x="10449440" y="5484141"/>
                <a:ext cx="512609" cy="5126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 bwMode="gray">
              <a:xfrm>
                <a:off x="10162096" y="5697686"/>
                <a:ext cx="573015" cy="5730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 bwMode="gray">
              <a:xfrm>
                <a:off x="10798583" y="5688150"/>
                <a:ext cx="582551" cy="5825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 bwMode="gray">
              <a:xfrm>
                <a:off x="10815427" y="5555044"/>
                <a:ext cx="345057" cy="3450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 bwMode="gray">
              <a:xfrm>
                <a:off x="10495064" y="5818639"/>
                <a:ext cx="647760" cy="3869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25" name="圆角矩形 24"/>
          <p:cNvSpPr/>
          <p:nvPr/>
        </p:nvSpPr>
        <p:spPr bwMode="gray">
          <a:xfrm>
            <a:off x="3260895" y="4607458"/>
            <a:ext cx="1080120" cy="278077"/>
          </a:xfrm>
          <a:prstGeom prst="roundRect">
            <a:avLst/>
          </a:prstGeom>
          <a:solidFill>
            <a:srgbClr val="FF9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下载业务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圆角矩形 25"/>
          <p:cNvSpPr/>
          <p:nvPr/>
        </p:nvSpPr>
        <p:spPr bwMode="gray">
          <a:xfrm>
            <a:off x="3260895" y="4980430"/>
            <a:ext cx="1080120" cy="278077"/>
          </a:xfrm>
          <a:prstGeom prst="roundRect">
            <a:avLst/>
          </a:prstGeom>
          <a:solidFill>
            <a:srgbClr val="FF33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视频业务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圆角矩形 26"/>
          <p:cNvSpPr/>
          <p:nvPr/>
        </p:nvSpPr>
        <p:spPr bwMode="gray">
          <a:xfrm>
            <a:off x="3260895" y="5353402"/>
            <a:ext cx="1080120" cy="278077"/>
          </a:xfrm>
          <a:prstGeom prst="roundRect">
            <a:avLst/>
          </a:prstGeom>
          <a:solidFill>
            <a:srgbClr val="6666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语音业务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8" name="直接箭头连接符 27"/>
          <p:cNvCxnSpPr/>
          <p:nvPr/>
        </p:nvCxnSpPr>
        <p:spPr bwMode="gray">
          <a:xfrm>
            <a:off x="4322081" y="4728776"/>
            <a:ext cx="1620554" cy="0"/>
          </a:xfrm>
          <a:prstGeom prst="straightConnector1">
            <a:avLst/>
          </a:prstGeom>
          <a:ln w="38100">
            <a:solidFill>
              <a:srgbClr val="FF99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 bwMode="gray">
          <a:xfrm>
            <a:off x="4322081" y="5100969"/>
            <a:ext cx="1620554" cy="0"/>
          </a:xfrm>
          <a:prstGeom prst="straightConnector1">
            <a:avLst/>
          </a:prstGeom>
          <a:ln w="38100">
            <a:solidFill>
              <a:srgbClr val="FF33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 bwMode="gray">
          <a:xfrm>
            <a:off x="4322081" y="5476360"/>
            <a:ext cx="1620554" cy="0"/>
          </a:xfrm>
          <a:prstGeom prst="straightConnector1">
            <a:avLst/>
          </a:prstGeom>
          <a:ln w="38100">
            <a:solidFill>
              <a:srgbClr val="66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 bwMode="gray">
          <a:xfrm>
            <a:off x="4386537" y="442876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要求大带宽</a:t>
            </a:r>
            <a:endParaRPr lang="zh-CN" altLang="en-US" sz="1400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 bwMode="gray">
          <a:xfrm>
            <a:off x="4386537" y="478929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3399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要求时延小</a:t>
            </a:r>
            <a:endParaRPr lang="zh-CN" altLang="en-US" sz="1400">
              <a:solidFill>
                <a:srgbClr val="FF3399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>
            <a:off x="4386537" y="516326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6666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要求丢包少</a:t>
            </a:r>
            <a:endParaRPr lang="zh-CN" altLang="en-US" sz="1400">
              <a:solidFill>
                <a:srgbClr val="6666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6568265" y="476134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业务驱动网络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框 47"/>
          <p:cNvSpPr txBox="1"/>
          <p:nvPr/>
        </p:nvSpPr>
        <p:spPr bwMode="gray">
          <a:xfrm>
            <a:off x="3243037" y="1489150"/>
            <a:ext cx="1504078" cy="4526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zh-CN" altLang="en-US" sz="140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业务定义网络</a:t>
            </a:r>
            <a:endParaRPr lang="zh-CN" altLang="en-US" sz="1400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Segment Routing</a:t>
            </a:r>
            <a:r>
              <a:rPr lang="zh-CN" altLang="en-US">
                <a:sym typeface="Huawei Sans" panose="020C0503030203020204" pitchFamily="34" charset="0"/>
              </a:rPr>
              <a:t>的解决思路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6118421" y="1474200"/>
            <a:ext cx="5660605" cy="4879805"/>
          </a:xfrm>
        </p:spPr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简化协议，基于现有协议扩展：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扩展后的</a:t>
            </a:r>
            <a:r>
              <a:rPr lang="en-US" altLang="zh-CN" sz="1600" dirty="0">
                <a:sym typeface="Huawei Sans" panose="020C0503030203020204" pitchFamily="34" charset="0"/>
              </a:rPr>
              <a:t>IGP/BGP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具有标签分发能力</a:t>
            </a:r>
            <a:r>
              <a:rPr lang="zh-CN" altLang="en-US" sz="1600" dirty="0">
                <a:sym typeface="Huawei Sans" panose="020C0503030203020204" pitchFamily="34" charset="0"/>
              </a:rPr>
              <a:t>，因此网络中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无需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LDP</a:t>
            </a:r>
            <a:r>
              <a:rPr lang="zh-CN" altLang="en-US" sz="1600" dirty="0">
                <a:sym typeface="Huawei Sans" panose="020C0503030203020204" pitchFamily="34" charset="0"/>
              </a:rPr>
              <a:t>，实现协议简化。且设备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仅需进行软件升级，无需进行硬件更换</a:t>
            </a:r>
            <a:r>
              <a:rPr lang="zh-CN" altLang="en-US" sz="1600" dirty="0">
                <a:sym typeface="Huawei Sans" panose="020C0503030203020204" pitchFamily="34" charset="0"/>
              </a:rPr>
              <a:t>，保护现网投资。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引入源路由机制：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pPr lvl="2"/>
            <a:r>
              <a:rPr lang="zh-CN" altLang="en-US" sz="1400" dirty="0">
                <a:sym typeface="Huawei Sans" panose="020C0503030203020204" pitchFamily="34" charset="0"/>
              </a:rPr>
              <a:t>通过在头端节点实例化转发策略为标签列表，控制业务流量的转发路径。</a:t>
            </a:r>
            <a:endParaRPr lang="zh-CN" altLang="en-US" sz="14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由业务来定义网络</a:t>
            </a:r>
            <a:r>
              <a:rPr lang="zh-CN" altLang="en-US" sz="1800" dirty="0">
                <a:sym typeface="Huawei Sans" panose="020C0503030203020204" pitchFamily="34" charset="0"/>
              </a:rPr>
              <a:t>：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由应用提出需求（时延、带宽、丢包率等），控制器收集网络拓扑、带宽利用率、时延等信息，根据业务需求计算显式路径。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pSp>
        <p:nvGrpSpPr>
          <p:cNvPr id="34" name="组合 33"/>
          <p:cNvGrpSpPr/>
          <p:nvPr/>
        </p:nvGrpSpPr>
        <p:grpSpPr bwMode="gray">
          <a:xfrm>
            <a:off x="1768837" y="3380369"/>
            <a:ext cx="4131022" cy="2134936"/>
            <a:chOff x="1214671" y="2730327"/>
            <a:chExt cx="4544124" cy="2134936"/>
          </a:xfrm>
        </p:grpSpPr>
        <p:cxnSp>
          <p:nvCxnSpPr>
            <p:cNvPr id="7" name="直接连接符 6"/>
            <p:cNvCxnSpPr/>
            <p:nvPr/>
          </p:nvCxnSpPr>
          <p:spPr bwMode="gray">
            <a:xfrm rot="16200000" flipH="1">
              <a:off x="1701174" y="3311292"/>
              <a:ext cx="1067468" cy="20404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 bwMode="gray">
            <a:xfrm rot="16200000">
              <a:off x="1701174" y="2243824"/>
              <a:ext cx="1067468" cy="20404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 bwMode="gray">
            <a:xfrm rot="5400000" flipH="1">
              <a:off x="4204824" y="2243824"/>
              <a:ext cx="1067468" cy="20404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gray">
            <a:xfrm rot="5400000">
              <a:off x="4204824" y="3311292"/>
              <a:ext cx="1067468" cy="20404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图片 1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586260" y="3110672"/>
            <a:ext cx="540000" cy="44280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586260" y="5328937"/>
            <a:ext cx="540000" cy="4428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 bwMode="gray">
          <a:xfrm>
            <a:off x="3649312" y="3564119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 bwMode="gray">
          <a:xfrm>
            <a:off x="3649312" y="4989746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2" name="图片 1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572708" y="4219804"/>
            <a:ext cx="540000" cy="442800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16777" y="4221114"/>
            <a:ext cx="540000" cy="4428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 bwMode="gray">
          <a:xfrm>
            <a:off x="5578421" y="4663914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1459605" y="1551333"/>
            <a:ext cx="1061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6" name="图片 25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2651544" y="1484313"/>
            <a:ext cx="540000" cy="441818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 bwMode="gray">
          <a:xfrm>
            <a:off x="3292844" y="4123365"/>
            <a:ext cx="1504078" cy="452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IGP/BGP</a:t>
            </a:r>
            <a:endParaRPr lang="zh-CN" altLang="en-US" sz="1600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1608154" y="4663914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" name="直接箭头连接符 3"/>
          <p:cNvCxnSpPr>
            <a:stCxn id="26" idx="2"/>
            <a:endCxn id="12" idx="0"/>
          </p:cNvCxnSpPr>
          <p:nvPr/>
        </p:nvCxnSpPr>
        <p:spPr bwMode="gray">
          <a:xfrm flipH="1">
            <a:off x="1842708" y="1926131"/>
            <a:ext cx="1078836" cy="229367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26" idx="2"/>
            <a:endCxn id="14" idx="0"/>
          </p:cNvCxnSpPr>
          <p:nvPr/>
        </p:nvCxnSpPr>
        <p:spPr bwMode="gray">
          <a:xfrm>
            <a:off x="2921544" y="1926131"/>
            <a:ext cx="934716" cy="118454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26" idx="2"/>
            <a:endCxn id="16" idx="0"/>
          </p:cNvCxnSpPr>
          <p:nvPr/>
        </p:nvCxnSpPr>
        <p:spPr bwMode="gray">
          <a:xfrm>
            <a:off x="2921544" y="1926131"/>
            <a:ext cx="2865233" cy="229498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6" idx="2"/>
            <a:endCxn id="15" idx="0"/>
          </p:cNvCxnSpPr>
          <p:nvPr/>
        </p:nvCxnSpPr>
        <p:spPr bwMode="gray">
          <a:xfrm>
            <a:off x="2921544" y="1926131"/>
            <a:ext cx="934716" cy="3402806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SR</a:t>
            </a:r>
            <a:r>
              <a:rPr lang="zh-CN" altLang="en-US">
                <a:sym typeface="Huawei Sans" panose="020C0503030203020204" pitchFamily="34" charset="0"/>
              </a:rPr>
              <a:t>解决方案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0"/>
            <a:ext cx="11293475" cy="696557"/>
          </a:xfrm>
        </p:spPr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首先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业务提出网络需求</a:t>
            </a:r>
            <a:r>
              <a:rPr lang="zh-CN" altLang="en-US" sz="1800" dirty="0">
                <a:sym typeface="Huawei Sans" panose="020C0503030203020204" pitchFamily="34" charset="0"/>
              </a:rPr>
              <a:t>（时延、带宽、丢包率等），然后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控制器集中计算显式路径</a:t>
            </a:r>
            <a:r>
              <a:rPr lang="zh-CN" altLang="en-US" sz="1800" dirty="0">
                <a:sym typeface="Huawei Sans" panose="020C0503030203020204" pitchFamily="34" charset="0"/>
              </a:rPr>
              <a:t>，最后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下发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SR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路径</a:t>
            </a:r>
            <a:r>
              <a:rPr lang="zh-CN" altLang="en-US" sz="1800" dirty="0">
                <a:sym typeface="Huawei Sans" panose="020C0503030203020204" pitchFamily="34" charset="0"/>
              </a:rPr>
              <a:t>来承载业务。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pSp>
        <p:nvGrpSpPr>
          <p:cNvPr id="91" name="组合 90"/>
          <p:cNvGrpSpPr/>
          <p:nvPr/>
        </p:nvGrpSpPr>
        <p:grpSpPr bwMode="gray">
          <a:xfrm rot="10800000">
            <a:off x="9294382" y="3517192"/>
            <a:ext cx="1032830" cy="1941018"/>
            <a:chOff x="4518703" y="2205748"/>
            <a:chExt cx="1512166" cy="2521312"/>
          </a:xfrm>
        </p:grpSpPr>
        <p:cxnSp>
          <p:nvCxnSpPr>
            <p:cNvPr id="92" name="直接连接符 91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0" name="直接连接符 99"/>
          <p:cNvCxnSpPr/>
          <p:nvPr/>
        </p:nvCxnSpPr>
        <p:spPr bwMode="gray">
          <a:xfrm flipH="1">
            <a:off x="6003904" y="3525045"/>
            <a:ext cx="1760319" cy="1933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 bwMode="gray">
          <a:xfrm flipH="1" flipV="1">
            <a:off x="6001959" y="3511696"/>
            <a:ext cx="1748548" cy="19543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 bwMode="gray">
          <a:xfrm>
            <a:off x="4939752" y="3517192"/>
            <a:ext cx="1032830" cy="1941018"/>
            <a:chOff x="4518703" y="2205748"/>
            <a:chExt cx="1512166" cy="2521312"/>
          </a:xfrm>
        </p:grpSpPr>
        <p:cxnSp>
          <p:nvCxnSpPr>
            <p:cNvPr id="86" name="直接连接符 85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71"/>
          <p:cNvCxnSpPr/>
          <p:nvPr/>
        </p:nvCxnSpPr>
        <p:spPr bwMode="gray">
          <a:xfrm flipH="1">
            <a:off x="5986299" y="3517192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 bwMode="gray">
          <a:xfrm flipH="1">
            <a:off x="5986299" y="5466063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 bwMode="gray">
          <a:xfrm flipV="1">
            <a:off x="7764223" y="3517192"/>
            <a:ext cx="0" cy="19488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/>
          <p:nvPr/>
        </p:nvCxnSpPr>
        <p:spPr bwMode="gray">
          <a:xfrm>
            <a:off x="2434731" y="4119076"/>
            <a:ext cx="2036095" cy="0"/>
          </a:xfrm>
          <a:prstGeom prst="straightConnector1">
            <a:avLst/>
          </a:prstGeom>
          <a:ln w="38100">
            <a:solidFill>
              <a:srgbClr val="FF99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 bwMode="gray">
          <a:xfrm>
            <a:off x="3226819" y="4504716"/>
            <a:ext cx="1146398" cy="0"/>
          </a:xfrm>
          <a:prstGeom prst="straightConnector1">
            <a:avLst/>
          </a:prstGeom>
          <a:ln w="38100">
            <a:solidFill>
              <a:srgbClr val="FF33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 bwMode="gray">
          <a:xfrm>
            <a:off x="4103187" y="4907001"/>
            <a:ext cx="540060" cy="0"/>
          </a:xfrm>
          <a:prstGeom prst="straightConnector1">
            <a:avLst/>
          </a:prstGeom>
          <a:ln w="38100">
            <a:solidFill>
              <a:srgbClr val="66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/>
        </p:nvCxnSpPr>
        <p:spPr bwMode="gray">
          <a:xfrm flipV="1">
            <a:off x="2231278" y="2473004"/>
            <a:ext cx="2053968" cy="1530853"/>
          </a:xfrm>
          <a:prstGeom prst="straightConnector1">
            <a:avLst/>
          </a:prstGeom>
          <a:ln w="19050">
            <a:solidFill>
              <a:srgbClr val="FF993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/>
          <p:cNvSpPr txBox="1"/>
          <p:nvPr/>
        </p:nvSpPr>
        <p:spPr bwMode="gray">
          <a:xfrm rot="19358263">
            <a:off x="2820666" y="295918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带宽大</a:t>
            </a:r>
            <a:endParaRPr lang="zh-CN" altLang="en-US" sz="1400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6" name="直接箭头连接符 115"/>
          <p:cNvCxnSpPr/>
          <p:nvPr/>
        </p:nvCxnSpPr>
        <p:spPr bwMode="gray">
          <a:xfrm flipV="1">
            <a:off x="2983430" y="2473004"/>
            <a:ext cx="1490315" cy="1883101"/>
          </a:xfrm>
          <a:prstGeom prst="straightConnector1">
            <a:avLst/>
          </a:prstGeom>
          <a:ln w="19050">
            <a:solidFill>
              <a:srgbClr val="FF33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/>
          <p:cNvSpPr txBox="1"/>
          <p:nvPr/>
        </p:nvSpPr>
        <p:spPr bwMode="gray">
          <a:xfrm rot="18488369">
            <a:off x="3073792" y="333865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时延小</a:t>
            </a:r>
            <a:endParaRPr lang="zh-CN" altLang="en-US" sz="1400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9" name="直接箭头连接符 118"/>
          <p:cNvCxnSpPr/>
          <p:nvPr/>
        </p:nvCxnSpPr>
        <p:spPr bwMode="gray">
          <a:xfrm flipV="1">
            <a:off x="4031000" y="2473004"/>
            <a:ext cx="579657" cy="2283610"/>
          </a:xfrm>
          <a:prstGeom prst="straightConnector1">
            <a:avLst/>
          </a:prstGeom>
          <a:ln w="19050">
            <a:solidFill>
              <a:srgbClr val="6666F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/>
          <p:cNvSpPr txBox="1"/>
          <p:nvPr/>
        </p:nvSpPr>
        <p:spPr bwMode="gray">
          <a:xfrm rot="17197518">
            <a:off x="3817647" y="344925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6666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丢包少</a:t>
            </a:r>
            <a:endParaRPr lang="zh-CN" altLang="en-US" sz="1400">
              <a:solidFill>
                <a:srgbClr val="6666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23" name="直接箭头连接符 122"/>
          <p:cNvCxnSpPr/>
          <p:nvPr/>
        </p:nvCxnSpPr>
        <p:spPr bwMode="gray">
          <a:xfrm>
            <a:off x="4995382" y="2473004"/>
            <a:ext cx="0" cy="1770912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/>
          <p:nvPr/>
        </p:nvCxnSpPr>
        <p:spPr bwMode="gray">
          <a:xfrm>
            <a:off x="4874162" y="2473004"/>
            <a:ext cx="0" cy="1770912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 bwMode="gray">
          <a:xfrm>
            <a:off x="5000271" y="2641591"/>
            <a:ext cx="1891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PCEP/NETCONF/BGP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任意多边形 30"/>
          <p:cNvSpPr/>
          <p:nvPr/>
        </p:nvSpPr>
        <p:spPr bwMode="gray">
          <a:xfrm>
            <a:off x="5440570" y="3179410"/>
            <a:ext cx="5143204" cy="1277472"/>
          </a:xfrm>
          <a:custGeom>
            <a:avLst/>
            <a:gdLst>
              <a:gd name="connsiteX0" fmla="*/ 0 w 4948518"/>
              <a:gd name="connsiteY0" fmla="*/ 806824 h 860612"/>
              <a:gd name="connsiteX1" fmla="*/ 874059 w 4948518"/>
              <a:gd name="connsiteY1" fmla="*/ 0 h 860612"/>
              <a:gd name="connsiteX2" fmla="*/ 4074459 w 4948518"/>
              <a:gd name="connsiteY2" fmla="*/ 0 h 860612"/>
              <a:gd name="connsiteX3" fmla="*/ 4948518 w 4948518"/>
              <a:gd name="connsiteY3" fmla="*/ 860612 h 860612"/>
              <a:gd name="connsiteX0-1" fmla="*/ 0 w 5519251"/>
              <a:gd name="connsiteY0-2" fmla="*/ 1277472 h 1277472"/>
              <a:gd name="connsiteX1-3" fmla="*/ 1444792 w 5519251"/>
              <a:gd name="connsiteY1-4" fmla="*/ 0 h 1277472"/>
              <a:gd name="connsiteX2-5" fmla="*/ 4645192 w 5519251"/>
              <a:gd name="connsiteY2-6" fmla="*/ 0 h 1277472"/>
              <a:gd name="connsiteX3-7" fmla="*/ 5519251 w 5519251"/>
              <a:gd name="connsiteY3-8" fmla="*/ 860612 h 1277472"/>
              <a:gd name="connsiteX0-9" fmla="*/ 0 w 5759559"/>
              <a:gd name="connsiteY0-10" fmla="*/ 1277472 h 1277472"/>
              <a:gd name="connsiteX1-11" fmla="*/ 1444792 w 5759559"/>
              <a:gd name="connsiteY1-12" fmla="*/ 0 h 1277472"/>
              <a:gd name="connsiteX2-13" fmla="*/ 4645192 w 5759559"/>
              <a:gd name="connsiteY2-14" fmla="*/ 0 h 1277472"/>
              <a:gd name="connsiteX3-15" fmla="*/ 5759559 w 5759559"/>
              <a:gd name="connsiteY3-16" fmla="*/ 820271 h 1277472"/>
              <a:gd name="connsiteX0-17" fmla="*/ 0 w 5729521"/>
              <a:gd name="connsiteY0-18" fmla="*/ 1277472 h 1277472"/>
              <a:gd name="connsiteX1-19" fmla="*/ 1444792 w 5729521"/>
              <a:gd name="connsiteY1-20" fmla="*/ 0 h 1277472"/>
              <a:gd name="connsiteX2-21" fmla="*/ 4645192 w 5729521"/>
              <a:gd name="connsiteY2-22" fmla="*/ 0 h 1277472"/>
              <a:gd name="connsiteX3-23" fmla="*/ 5729521 w 5729521"/>
              <a:gd name="connsiteY3-24" fmla="*/ 820271 h 1277472"/>
              <a:gd name="connsiteX0-25" fmla="*/ 0 w 5669444"/>
              <a:gd name="connsiteY0-26" fmla="*/ 1277472 h 1277472"/>
              <a:gd name="connsiteX1-27" fmla="*/ 1444792 w 5669444"/>
              <a:gd name="connsiteY1-28" fmla="*/ 0 h 1277472"/>
              <a:gd name="connsiteX2-29" fmla="*/ 4645192 w 5669444"/>
              <a:gd name="connsiteY2-30" fmla="*/ 0 h 1277472"/>
              <a:gd name="connsiteX3-31" fmla="*/ 5669444 w 5669444"/>
              <a:gd name="connsiteY3-32" fmla="*/ 833718 h 1277472"/>
              <a:gd name="connsiteX0-33" fmla="*/ 0 w 5744540"/>
              <a:gd name="connsiteY0-34" fmla="*/ 1277472 h 1277472"/>
              <a:gd name="connsiteX1-35" fmla="*/ 1444792 w 5744540"/>
              <a:gd name="connsiteY1-36" fmla="*/ 0 h 1277472"/>
              <a:gd name="connsiteX2-37" fmla="*/ 4645192 w 5744540"/>
              <a:gd name="connsiteY2-38" fmla="*/ 0 h 1277472"/>
              <a:gd name="connsiteX3-39" fmla="*/ 5744540 w 5744540"/>
              <a:gd name="connsiteY3-40" fmla="*/ 860612 h 12774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744540" h="1277472">
                <a:moveTo>
                  <a:pt x="0" y="1277472"/>
                </a:moveTo>
                <a:lnTo>
                  <a:pt x="1444792" y="0"/>
                </a:lnTo>
                <a:lnTo>
                  <a:pt x="4645192" y="0"/>
                </a:lnTo>
                <a:lnTo>
                  <a:pt x="5744540" y="860612"/>
                </a:lnTo>
              </a:path>
            </a:pathLst>
          </a:custGeom>
          <a:noFill/>
          <a:ln w="57150">
            <a:solidFill>
              <a:srgbClr val="FF993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任意多边形 31"/>
          <p:cNvSpPr/>
          <p:nvPr/>
        </p:nvSpPr>
        <p:spPr bwMode="gray">
          <a:xfrm>
            <a:off x="5372487" y="3829312"/>
            <a:ext cx="4491318" cy="1308598"/>
          </a:xfrm>
          <a:custGeom>
            <a:avLst/>
            <a:gdLst>
              <a:gd name="connsiteX0" fmla="*/ 0 w 4491318"/>
              <a:gd name="connsiteY0" fmla="*/ 753035 h 1304365"/>
              <a:gd name="connsiteX1" fmla="*/ 605118 w 4491318"/>
              <a:gd name="connsiteY1" fmla="*/ 1304365 h 1304365"/>
              <a:gd name="connsiteX2" fmla="*/ 1627094 w 4491318"/>
              <a:gd name="connsiteY2" fmla="*/ 0 h 1304365"/>
              <a:gd name="connsiteX3" fmla="*/ 3859306 w 4491318"/>
              <a:gd name="connsiteY3" fmla="*/ 0 h 1304365"/>
              <a:gd name="connsiteX4" fmla="*/ 4491318 w 4491318"/>
              <a:gd name="connsiteY4" fmla="*/ 578223 h 1304365"/>
              <a:gd name="connsiteX0-1" fmla="*/ 0 w 4491318"/>
              <a:gd name="connsiteY0-2" fmla="*/ 757268 h 1308598"/>
              <a:gd name="connsiteX1-3" fmla="*/ 605118 w 4491318"/>
              <a:gd name="connsiteY1-4" fmla="*/ 1308598 h 1308598"/>
              <a:gd name="connsiteX2-5" fmla="*/ 1732928 w 4491318"/>
              <a:gd name="connsiteY2-6" fmla="*/ 0 h 1308598"/>
              <a:gd name="connsiteX3-7" fmla="*/ 3859306 w 4491318"/>
              <a:gd name="connsiteY3-8" fmla="*/ 4233 h 1308598"/>
              <a:gd name="connsiteX4-9" fmla="*/ 4491318 w 4491318"/>
              <a:gd name="connsiteY4-10" fmla="*/ 582456 h 1308598"/>
              <a:gd name="connsiteX0-11" fmla="*/ 0 w 4491318"/>
              <a:gd name="connsiteY0-12" fmla="*/ 757268 h 1308598"/>
              <a:gd name="connsiteX1-13" fmla="*/ 605118 w 4491318"/>
              <a:gd name="connsiteY1-14" fmla="*/ 1308598 h 1308598"/>
              <a:gd name="connsiteX2-15" fmla="*/ 1762561 w 4491318"/>
              <a:gd name="connsiteY2-16" fmla="*/ 0 h 1308598"/>
              <a:gd name="connsiteX3-17" fmla="*/ 3859306 w 4491318"/>
              <a:gd name="connsiteY3-18" fmla="*/ 4233 h 1308598"/>
              <a:gd name="connsiteX4-19" fmla="*/ 4491318 w 4491318"/>
              <a:gd name="connsiteY4-20" fmla="*/ 582456 h 1308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491318" h="1308598">
                <a:moveTo>
                  <a:pt x="0" y="757268"/>
                </a:moveTo>
                <a:lnTo>
                  <a:pt x="605118" y="1308598"/>
                </a:lnTo>
                <a:lnTo>
                  <a:pt x="1762561" y="0"/>
                </a:lnTo>
                <a:lnTo>
                  <a:pt x="3859306" y="4233"/>
                </a:lnTo>
                <a:lnTo>
                  <a:pt x="4491318" y="582456"/>
                </a:lnTo>
              </a:path>
            </a:pathLst>
          </a:custGeom>
          <a:noFill/>
          <a:ln w="57150">
            <a:solidFill>
              <a:srgbClr val="FF3399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任意多边形 32"/>
          <p:cNvSpPr/>
          <p:nvPr/>
        </p:nvSpPr>
        <p:spPr bwMode="gray">
          <a:xfrm>
            <a:off x="4821158" y="4895863"/>
            <a:ext cx="5553635" cy="1008529"/>
          </a:xfrm>
          <a:custGeom>
            <a:avLst/>
            <a:gdLst>
              <a:gd name="connsiteX0" fmla="*/ 0 w 5526741"/>
              <a:gd name="connsiteY0" fmla="*/ 0 h 1008529"/>
              <a:gd name="connsiteX1" fmla="*/ 1008530 w 5526741"/>
              <a:gd name="connsiteY1" fmla="*/ 1008529 h 1008529"/>
              <a:gd name="connsiteX2" fmla="*/ 4639235 w 5526741"/>
              <a:gd name="connsiteY2" fmla="*/ 1008529 h 1008529"/>
              <a:gd name="connsiteX3" fmla="*/ 5526741 w 5526741"/>
              <a:gd name="connsiteY3" fmla="*/ 40341 h 1008529"/>
              <a:gd name="connsiteX0-1" fmla="*/ 0 w 5553635"/>
              <a:gd name="connsiteY0-2" fmla="*/ 0 h 1008529"/>
              <a:gd name="connsiteX1-3" fmla="*/ 1035424 w 5553635"/>
              <a:gd name="connsiteY1-4" fmla="*/ 1008529 h 1008529"/>
              <a:gd name="connsiteX2-5" fmla="*/ 4666129 w 5553635"/>
              <a:gd name="connsiteY2-6" fmla="*/ 1008529 h 1008529"/>
              <a:gd name="connsiteX3-7" fmla="*/ 5553635 w 5553635"/>
              <a:gd name="connsiteY3-8" fmla="*/ 40341 h 1008529"/>
              <a:gd name="connsiteX0-9" fmla="*/ 0 w 5553635"/>
              <a:gd name="connsiteY0-10" fmla="*/ 0 h 1008529"/>
              <a:gd name="connsiteX1-11" fmla="*/ 1035424 w 5553635"/>
              <a:gd name="connsiteY1-12" fmla="*/ 1008529 h 1008529"/>
              <a:gd name="connsiteX2-13" fmla="*/ 4666129 w 5553635"/>
              <a:gd name="connsiteY2-14" fmla="*/ 1008529 h 1008529"/>
              <a:gd name="connsiteX3-15" fmla="*/ 5553635 w 5553635"/>
              <a:gd name="connsiteY3-16" fmla="*/ 107576 h 10085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553635" h="1008529">
                <a:moveTo>
                  <a:pt x="0" y="0"/>
                </a:moveTo>
                <a:lnTo>
                  <a:pt x="1035424" y="1008529"/>
                </a:lnTo>
                <a:lnTo>
                  <a:pt x="4666129" y="1008529"/>
                </a:lnTo>
                <a:lnTo>
                  <a:pt x="5553635" y="107576"/>
                </a:lnTo>
              </a:path>
            </a:pathLst>
          </a:custGeom>
          <a:noFill/>
          <a:ln w="57150">
            <a:solidFill>
              <a:srgbClr val="6666FF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5" name="文本框 134"/>
          <p:cNvSpPr txBox="1"/>
          <p:nvPr/>
        </p:nvSpPr>
        <p:spPr bwMode="gray">
          <a:xfrm>
            <a:off x="7931065" y="284959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大带宽路径</a:t>
            </a:r>
            <a:endParaRPr lang="zh-CN" altLang="en-US" sz="1400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6" name="文本框 135"/>
          <p:cNvSpPr txBox="1"/>
          <p:nvPr/>
        </p:nvSpPr>
        <p:spPr bwMode="gray">
          <a:xfrm>
            <a:off x="8011752" y="383740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低时延路径</a:t>
            </a:r>
            <a:endParaRPr lang="zh-CN" altLang="en-US" sz="1400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7" name="文本框 136"/>
          <p:cNvSpPr txBox="1"/>
          <p:nvPr/>
        </p:nvSpPr>
        <p:spPr bwMode="gray">
          <a:xfrm>
            <a:off x="7380810" y="591689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6666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丢包率低路径</a:t>
            </a:r>
            <a:endParaRPr lang="zh-CN" altLang="en-US" sz="1400">
              <a:solidFill>
                <a:srgbClr val="6666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8" name="文本框 137"/>
          <p:cNvSpPr txBox="1"/>
          <p:nvPr/>
        </p:nvSpPr>
        <p:spPr bwMode="gray">
          <a:xfrm>
            <a:off x="3431704" y="1997729"/>
            <a:ext cx="1061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2" name="图片 5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651997" y="4238520"/>
            <a:ext cx="540000" cy="442800"/>
          </a:xfrm>
          <a:prstGeom prst="rect">
            <a:avLst/>
          </a:prstGeom>
        </p:spPr>
      </p:pic>
      <p:pic>
        <p:nvPicPr>
          <p:cNvPr id="53" name="图片 5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676204" y="3289494"/>
            <a:ext cx="540000" cy="442800"/>
          </a:xfrm>
          <a:prstGeom prst="rect">
            <a:avLst/>
          </a:prstGeom>
        </p:spPr>
      </p:pic>
      <p:pic>
        <p:nvPicPr>
          <p:cNvPr id="54" name="图片 5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676204" y="5187546"/>
            <a:ext cx="540000" cy="442800"/>
          </a:xfrm>
          <a:prstGeom prst="rect">
            <a:avLst/>
          </a:prstGeom>
        </p:spPr>
      </p:pic>
      <p:pic>
        <p:nvPicPr>
          <p:cNvPr id="55" name="图片 5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02741" y="3289494"/>
            <a:ext cx="540000" cy="442800"/>
          </a:xfrm>
          <a:prstGeom prst="rect">
            <a:avLst/>
          </a:prstGeom>
        </p:spPr>
      </p:pic>
      <p:pic>
        <p:nvPicPr>
          <p:cNvPr id="56" name="图片 5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02741" y="5187546"/>
            <a:ext cx="540000" cy="442800"/>
          </a:xfrm>
          <a:prstGeom prst="rect">
            <a:avLst/>
          </a:prstGeom>
        </p:spPr>
      </p:pic>
      <p:pic>
        <p:nvPicPr>
          <p:cNvPr id="57" name="图片 5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994256" y="3289494"/>
            <a:ext cx="540000" cy="442800"/>
          </a:xfrm>
          <a:prstGeom prst="rect">
            <a:avLst/>
          </a:prstGeom>
        </p:spPr>
      </p:pic>
      <p:pic>
        <p:nvPicPr>
          <p:cNvPr id="58" name="图片 5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994256" y="5187546"/>
            <a:ext cx="540000" cy="442800"/>
          </a:xfrm>
          <a:prstGeom prst="rect">
            <a:avLst/>
          </a:prstGeom>
        </p:spPr>
      </p:pic>
      <p:pic>
        <p:nvPicPr>
          <p:cNvPr id="59" name="图片 5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045994" y="4238520"/>
            <a:ext cx="540000" cy="442800"/>
          </a:xfrm>
          <a:prstGeom prst="rect">
            <a:avLst/>
          </a:prstGeom>
        </p:spPr>
      </p:pic>
      <p:pic>
        <p:nvPicPr>
          <p:cNvPr id="60" name="图片 59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4487463" y="1944765"/>
            <a:ext cx="540000" cy="44181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 bwMode="gray">
          <a:xfrm>
            <a:off x="5907602" y="1985029"/>
            <a:ext cx="1005403" cy="33855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业务需求</a:t>
            </a:r>
            <a:endParaRPr lang="zh-CN" altLang="en-US" sz="16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7861226" y="1985029"/>
            <a:ext cx="1011815" cy="33855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显式路径</a:t>
            </a:r>
            <a:endParaRPr lang="zh-CN" altLang="en-US" sz="16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" name="直接箭头连接符 4"/>
          <p:cNvCxnSpPr>
            <a:stCxn id="2" idx="3"/>
            <a:endCxn id="50" idx="1"/>
          </p:cNvCxnSpPr>
          <p:nvPr/>
        </p:nvCxnSpPr>
        <p:spPr bwMode="gray">
          <a:xfrm>
            <a:off x="6913005" y="2154306"/>
            <a:ext cx="948221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圆角矩形 102"/>
          <p:cNvSpPr/>
          <p:nvPr/>
        </p:nvSpPr>
        <p:spPr bwMode="gray">
          <a:xfrm>
            <a:off x="1589922" y="4010669"/>
            <a:ext cx="1080120" cy="278077"/>
          </a:xfrm>
          <a:prstGeom prst="roundRect">
            <a:avLst/>
          </a:prstGeom>
          <a:solidFill>
            <a:srgbClr val="FF9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数据下载</a:t>
            </a:r>
            <a:endParaRPr lang="zh-CN" altLang="en-US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圆角矩形 103"/>
          <p:cNvSpPr/>
          <p:nvPr/>
        </p:nvSpPr>
        <p:spPr bwMode="gray">
          <a:xfrm>
            <a:off x="2306494" y="4383641"/>
            <a:ext cx="1080120" cy="278077"/>
          </a:xfrm>
          <a:prstGeom prst="roundRect">
            <a:avLst/>
          </a:prstGeom>
          <a:solidFill>
            <a:srgbClr val="FF33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视频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圆角矩形 104"/>
          <p:cNvSpPr/>
          <p:nvPr/>
        </p:nvSpPr>
        <p:spPr bwMode="gray">
          <a:xfrm>
            <a:off x="3023067" y="4756613"/>
            <a:ext cx="1080120" cy="278077"/>
          </a:xfrm>
          <a:prstGeom prst="roundRect">
            <a:avLst/>
          </a:prstGeom>
          <a:solidFill>
            <a:srgbClr val="6666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语音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</a:t>
            </a:r>
            <a:r>
              <a:rPr lang="zh-CN" altLang="en-US">
                <a:sym typeface="Huawei Sans" panose="020C0503030203020204" pitchFamily="34" charset="0"/>
              </a:rPr>
              <a:t>概述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SR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Segment Routing</a:t>
            </a:r>
            <a:r>
              <a:rPr lang="zh-CN" altLang="en-US" sz="1800" dirty="0">
                <a:sym typeface="Huawei Sans" panose="020C0503030203020204" pitchFamily="34" charset="0"/>
              </a:rPr>
              <a:t>，段路由）是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基于源路由理念而设计</a:t>
            </a:r>
            <a:r>
              <a:rPr lang="zh-CN" altLang="en-US" sz="1800" dirty="0">
                <a:sym typeface="Huawei Sans" panose="020C0503030203020204" pitchFamily="34" charset="0"/>
              </a:rPr>
              <a:t>的在网络上转发数据包的一种架构。 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SR</a:t>
            </a:r>
            <a:r>
              <a:rPr lang="zh-CN" altLang="en-US" sz="1800" dirty="0">
                <a:sym typeface="Huawei Sans" panose="020C0503030203020204" pitchFamily="34" charset="0"/>
              </a:rPr>
              <a:t>将网络路径分成一个个段（</a:t>
            </a:r>
            <a:r>
              <a:rPr lang="en-US" altLang="zh-CN" sz="1800" dirty="0">
                <a:sym typeface="Huawei Sans" panose="020C0503030203020204" pitchFamily="34" charset="0"/>
              </a:rPr>
              <a:t>Segment</a:t>
            </a:r>
            <a:r>
              <a:rPr lang="zh-CN" altLang="en-US" sz="1800" dirty="0">
                <a:sym typeface="Huawei Sans" panose="020C0503030203020204" pitchFamily="34" charset="0"/>
              </a:rPr>
              <a:t>），并且为这些段和网络中的转发节点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分配段标识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ID</a:t>
            </a:r>
            <a:r>
              <a:rPr lang="zh-CN" altLang="en-US" sz="1800" dirty="0">
                <a:sym typeface="Huawei Sans" panose="020C0503030203020204" pitchFamily="34" charset="0"/>
              </a:rPr>
              <a:t>。通过对段和网络节点进行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有序排列（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Segment List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），就可以得到一条转发路径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SR</a:t>
            </a:r>
            <a:r>
              <a:rPr lang="zh-CN" altLang="en-US" sz="1800" dirty="0">
                <a:sym typeface="Huawei Sans" panose="020C0503030203020204" pitchFamily="34" charset="0"/>
              </a:rPr>
              <a:t>将代表转发路径的段序列编码在数据包头部，随数据包传输。接收端收到数据包后，对段序列进行解析，如果段序列的顶部段标识是本节点时，则弹出该标识，然后进行下一步处理；如果不是本节点，则使用</a:t>
            </a:r>
            <a:r>
              <a:rPr lang="en-US" altLang="zh-CN" sz="1800" dirty="0">
                <a:sym typeface="Huawei Sans" panose="020C0503030203020204" pitchFamily="34" charset="0"/>
              </a:rPr>
              <a:t>ECMP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Equal Cost Multiple Path</a:t>
            </a:r>
            <a:r>
              <a:rPr lang="zh-CN" altLang="en-US" sz="1800" dirty="0">
                <a:sym typeface="Huawei Sans" panose="020C0503030203020204" pitchFamily="34" charset="0"/>
              </a:rPr>
              <a:t>，等价负载分担）方式将数据包转发到下一节点。 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SR</a:t>
            </a:r>
            <a:r>
              <a:rPr lang="zh-CN" altLang="en-US" sz="1800" dirty="0">
                <a:sym typeface="Huawei Sans" panose="020C0503030203020204" pitchFamily="34" charset="0"/>
              </a:rPr>
              <a:t>具有如下特点：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通过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对现有协议（例如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）进行扩展</a:t>
            </a:r>
            <a:r>
              <a:rPr lang="zh-CN" altLang="en-US" sz="1600" dirty="0">
                <a:sym typeface="Huawei Sans" panose="020C0503030203020204" pitchFamily="34" charset="0"/>
              </a:rPr>
              <a:t>，能使现有网络更好的平滑演进。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同时支持控制器的集中控制模式和转发器的分布控制模式，提供集中控制和分布控制之间的平衡。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采用源路由技术，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提供网络和上层应用快速交互的能力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</a:t>
            </a:r>
            <a:r>
              <a:rPr lang="zh-CN" altLang="en-US">
                <a:sym typeface="Huawei Sans" panose="020C0503030203020204" pitchFamily="34" charset="0"/>
              </a:rPr>
              <a:t>的优势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圆角矩形 3"/>
          <p:cNvSpPr/>
          <p:nvPr/>
        </p:nvSpPr>
        <p:spPr bwMode="gray">
          <a:xfrm>
            <a:off x="555656" y="1331248"/>
            <a:ext cx="1908144" cy="724068"/>
          </a:xfrm>
          <a:prstGeom prst="roundRect">
            <a:avLst>
              <a:gd name="adj" fmla="val 7954"/>
            </a:avLst>
          </a:prstGeom>
          <a:solidFill>
            <a:srgbClr val="FEEEC1"/>
          </a:solidFill>
          <a:ln w="19050"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简化</a:t>
            </a:r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>
              <a:lnSpc>
                <a:spcPts val="24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的控制平面</a:t>
            </a:r>
            <a:endParaRPr lang="zh-CN" altLang="en-US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圆角矩形 4"/>
          <p:cNvSpPr/>
          <p:nvPr/>
        </p:nvSpPr>
        <p:spPr bwMode="gray">
          <a:xfrm>
            <a:off x="2531533" y="1331248"/>
            <a:ext cx="9076731" cy="724068"/>
          </a:xfrm>
          <a:prstGeom prst="roundRect">
            <a:avLst>
              <a:gd name="adj" fmla="val 7954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 w="1905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6530" indent="-17653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使用控制器或者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集中算路和分发标签，不再需要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RSVP-TE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等隧道协议。 </a:t>
            </a:r>
            <a:endParaRPr lang="en-US" altLang="zh-CN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可以直接应用于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架构，转发平面没有变化。</a:t>
            </a:r>
            <a:endParaRPr lang="zh-CN" altLang="en-US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圆角矩形 5"/>
          <p:cNvSpPr/>
          <p:nvPr/>
        </p:nvSpPr>
        <p:spPr bwMode="gray">
          <a:xfrm>
            <a:off x="555656" y="2296291"/>
            <a:ext cx="1908144" cy="997315"/>
          </a:xfrm>
          <a:prstGeom prst="roundRect">
            <a:avLst>
              <a:gd name="adj" fmla="val 7954"/>
            </a:avLst>
          </a:prstGeom>
          <a:solidFill>
            <a:srgbClr val="FEEEC1"/>
          </a:solidFill>
          <a:ln w="19050"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高效</a:t>
            </a:r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r>
              <a:rPr lang="zh-CN" altLang="en-US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保护实现路径故障的快速恢复</a:t>
            </a:r>
            <a:endParaRPr lang="zh-CN" altLang="en-US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圆角矩形 6"/>
          <p:cNvSpPr/>
          <p:nvPr/>
        </p:nvSpPr>
        <p:spPr bwMode="gray">
          <a:xfrm>
            <a:off x="2531533" y="2296291"/>
            <a:ext cx="9076731" cy="997315"/>
          </a:xfrm>
          <a:prstGeom prst="roundRect">
            <a:avLst>
              <a:gd name="adj" fmla="val 7954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 w="1905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6530" indent="-17653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技术的基础上结合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RLFA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Remote Loop-free Alternate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 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FRR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算法，形成高效的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Topology-Independent Loop-free Alternate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FRR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算法。</a:t>
            </a:r>
            <a:endParaRPr lang="en-US" altLang="zh-CN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支持任意拓扑的节点和链路保护，能够弥补传统隧道保护技术的不足。</a:t>
            </a:r>
            <a:endParaRPr lang="zh-CN" altLang="en-US" sz="14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圆角矩形 7"/>
          <p:cNvSpPr/>
          <p:nvPr/>
        </p:nvSpPr>
        <p:spPr bwMode="gray">
          <a:xfrm>
            <a:off x="555656" y="3527187"/>
            <a:ext cx="1908144" cy="1331025"/>
          </a:xfrm>
          <a:prstGeom prst="roundRect">
            <a:avLst>
              <a:gd name="adj" fmla="val 7954"/>
            </a:avLst>
          </a:prstGeom>
          <a:solidFill>
            <a:srgbClr val="FEEEC1"/>
          </a:solidFill>
          <a:ln w="19050"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</a:pPr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更具有网络容量扩展能力</a:t>
            </a:r>
            <a:endParaRPr lang="zh-CN" altLang="en-US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圆角矩形 8"/>
          <p:cNvSpPr/>
          <p:nvPr/>
        </p:nvSpPr>
        <p:spPr bwMode="gray">
          <a:xfrm>
            <a:off x="2531533" y="3527187"/>
            <a:ext cx="9076731" cy="1331025"/>
          </a:xfrm>
          <a:prstGeom prst="roundRect">
            <a:avLst>
              <a:gd name="adj" fmla="val 7954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 w="1905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6530" indent="-17653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传统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TE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是一种面向连接的技术，为了维护连接状态，节点间需要发送和处理大量</a:t>
            </a:r>
            <a:r>
              <a:rPr lang="en-US" altLang="zh-CN" sz="1400" dirty="0" err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Keepalive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报文，设备控制层面压力大。</a:t>
            </a:r>
            <a:endParaRPr lang="en-US" altLang="zh-CN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仅在头节点对报文进行标签操作即可任意控制业务路径，中间节点不需要维护路径信息，设备控制层面压力小。此外， 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技术的标签数量是：全网节点数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+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本地邻接数，只和网络规模相关，与隧道数量和业务规模无关。</a:t>
            </a:r>
            <a:endParaRPr lang="zh-CN" altLang="en-US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圆角矩形 9"/>
          <p:cNvSpPr/>
          <p:nvPr/>
        </p:nvSpPr>
        <p:spPr bwMode="gray">
          <a:xfrm>
            <a:off x="555656" y="5091794"/>
            <a:ext cx="1908144" cy="1060109"/>
          </a:xfrm>
          <a:prstGeom prst="roundRect">
            <a:avLst>
              <a:gd name="adj" fmla="val 7954"/>
            </a:avLst>
          </a:prstGeom>
          <a:solidFill>
            <a:srgbClr val="FEEEC1"/>
          </a:solidFill>
          <a:ln w="19050"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</a:pPr>
            <a:r>
              <a:rPr lang="zh-CN" altLang="en-US" sz="14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更好的向</a:t>
            </a:r>
            <a:endParaRPr lang="en-US" altLang="zh-CN" sz="14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>
              <a:lnSpc>
                <a:spcPts val="2400"/>
              </a:lnSpc>
            </a:pPr>
            <a:r>
              <a:rPr lang="en-US" altLang="zh-CN" sz="14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SDN</a:t>
            </a:r>
            <a:r>
              <a:rPr lang="zh-CN" altLang="en-US" sz="14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网络平滑演进</a:t>
            </a:r>
            <a:endParaRPr lang="zh-CN" altLang="en-US" sz="14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圆角矩形 10"/>
          <p:cNvSpPr/>
          <p:nvPr/>
        </p:nvSpPr>
        <p:spPr bwMode="gray">
          <a:xfrm>
            <a:off x="2531533" y="5091794"/>
            <a:ext cx="9076731" cy="1060109"/>
          </a:xfrm>
          <a:prstGeom prst="roundRect">
            <a:avLst>
              <a:gd name="adj" fmla="val 7954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 w="1905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6530" indent="-17653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技术基于源路由理念而设计，通过源节点即可控制数据包在网络中的转发路径。</a:t>
            </a:r>
            <a:endParaRPr lang="en-US" altLang="zh-CN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配合集中算路模块，即可灵活简便地实现路径控制与调整。</a:t>
            </a:r>
            <a:endParaRPr lang="zh-CN" altLang="en-US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同时支持传统网络和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SDN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网络，兼容现有设备，保障现有网络平滑演进到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SDN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网络。</a:t>
            </a:r>
            <a:endParaRPr lang="zh-CN" altLang="en-US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概述</a:t>
            </a:r>
            <a:endParaRPr lang="zh-CN" altLang="en-US" sz="22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sz="2200" b="1" dirty="0">
                <a:sym typeface="Huawei Sans" panose="020C0503030203020204" pitchFamily="34" charset="0"/>
              </a:rPr>
              <a:t>Segment Routing</a:t>
            </a:r>
            <a:r>
              <a:rPr lang="zh-CN" altLang="en-US" sz="2200" b="1" dirty="0">
                <a:sym typeface="Huawei Sans" panose="020C0503030203020204" pitchFamily="34" charset="0"/>
              </a:rPr>
              <a:t>技术原理</a:t>
            </a:r>
            <a:endParaRPr lang="zh-CN" altLang="en-US" sz="2200" b="1" dirty="0">
              <a:sym typeface="Huawei Sans" panose="020C0503030203020204" pitchFamily="34" charset="0"/>
            </a:endParaRPr>
          </a:p>
          <a:p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隧道保护与检测技术</a:t>
            </a:r>
            <a:endParaRPr lang="zh-CN" altLang="en-US" sz="22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的典型应用场景</a:t>
            </a:r>
            <a:endParaRPr lang="zh-CN" altLang="en-US" sz="22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的基础配置</a:t>
            </a:r>
            <a:endParaRPr lang="zh-CN" altLang="en-US" sz="22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endParaRPr lang="en-US" altLang="zh-CN" sz="22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基本概念：</a:t>
            </a:r>
            <a:r>
              <a:rPr lang="en-US" altLang="zh-CN">
                <a:sym typeface="Huawei Sans" panose="020C0503030203020204" pitchFamily="34" charset="0"/>
              </a:rPr>
              <a:t>Segment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2" name="矩形 1"/>
          <p:cNvSpPr/>
          <p:nvPr/>
        </p:nvSpPr>
        <p:spPr bwMode="gray">
          <a:xfrm>
            <a:off x="6545935" y="2716520"/>
            <a:ext cx="4405621" cy="26542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/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Segment</a:t>
            </a:r>
            <a:r>
              <a:rPr lang="zh-CN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是</a:t>
            </a:r>
            <a:r>
              <a:rPr lang="zh-CN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节点针对所收到的数据包要执行的指令</a:t>
            </a:r>
            <a:r>
              <a:rPr lang="zh-CN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，该指令包含在数据包头部中。</a:t>
            </a:r>
            <a:endParaRPr lang="zh-CN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例如</a:t>
            </a:r>
            <a:r>
              <a:rPr lang="zh-CN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：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654685" lvl="1" indent="-252095" defTabSz="913765" fontAlgn="ctr">
              <a:lnSpc>
                <a:spcPct val="14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指令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：沿着最短路径到达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（支持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ECMP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54685" lvl="1" indent="-252095" defTabSz="913765" fontAlgn="ctr">
              <a:lnSpc>
                <a:spcPct val="14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指令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：沿着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接口转发数据包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54685" lvl="1" indent="-252095" defTabSz="913765" fontAlgn="ctr">
              <a:lnSpc>
                <a:spcPct val="14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指令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：沿着最短路径到达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R8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endParaRPr lang="zh-CN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51" name="组合 50"/>
          <p:cNvGrpSpPr/>
          <p:nvPr/>
        </p:nvGrpSpPr>
        <p:grpSpPr bwMode="gray">
          <a:xfrm rot="10800000">
            <a:off x="5085298" y="2838601"/>
            <a:ext cx="1032830" cy="1941018"/>
            <a:chOff x="4518703" y="2205748"/>
            <a:chExt cx="1512166" cy="2521312"/>
          </a:xfrm>
        </p:grpSpPr>
        <p:cxnSp>
          <p:nvCxnSpPr>
            <p:cNvPr id="52" name="直接连接符 51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</p:cxnSp>
        <p:cxnSp>
          <p:nvCxnSpPr>
            <p:cNvPr id="53" name="直接连接符 52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</p:cxnSp>
      </p:grpSp>
      <p:grpSp>
        <p:nvGrpSpPr>
          <p:cNvPr id="54" name="组合 53"/>
          <p:cNvGrpSpPr/>
          <p:nvPr/>
        </p:nvGrpSpPr>
        <p:grpSpPr bwMode="gray">
          <a:xfrm>
            <a:off x="730668" y="2833105"/>
            <a:ext cx="4358915" cy="1954367"/>
            <a:chOff x="1055163" y="3291162"/>
            <a:chExt cx="4358915" cy="1954367"/>
          </a:xfrm>
        </p:grpSpPr>
        <p:cxnSp>
          <p:nvCxnSpPr>
            <p:cNvPr id="55" name="直接连接符 54"/>
            <p:cNvCxnSpPr/>
            <p:nvPr/>
          </p:nvCxnSpPr>
          <p:spPr bwMode="gray">
            <a:xfrm flipH="1">
              <a:off x="2119315" y="3304511"/>
              <a:ext cx="1760319" cy="1933167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 bwMode="gray">
            <a:xfrm flipH="1" flipV="1">
              <a:off x="2117370" y="3291162"/>
              <a:ext cx="1748548" cy="1954367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组合 56"/>
            <p:cNvGrpSpPr/>
            <p:nvPr/>
          </p:nvGrpSpPr>
          <p:grpSpPr bwMode="gray">
            <a:xfrm>
              <a:off x="1055163" y="3296658"/>
              <a:ext cx="1032830" cy="1941018"/>
              <a:chOff x="4518703" y="2205748"/>
              <a:chExt cx="1512166" cy="2521312"/>
            </a:xfrm>
          </p:grpSpPr>
          <p:cxnSp>
            <p:nvCxnSpPr>
              <p:cNvPr id="60" name="直接连接符 59"/>
              <p:cNvCxnSpPr/>
              <p:nvPr/>
            </p:nvCxnSpPr>
            <p:spPr bwMode="gray">
              <a:xfrm rot="16200000" flipH="1">
                <a:off x="4644458" y="3340649"/>
                <a:ext cx="1260656" cy="1512166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 bwMode="gray">
              <a:xfrm rot="16200000">
                <a:off x="4644458" y="2079993"/>
                <a:ext cx="1260656" cy="1512166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直接连接符 57"/>
            <p:cNvCxnSpPr/>
            <p:nvPr/>
          </p:nvCxnSpPr>
          <p:spPr bwMode="gray">
            <a:xfrm flipH="1">
              <a:off x="2101710" y="3296658"/>
              <a:ext cx="3312368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 bwMode="gray">
            <a:xfrm flipH="1">
              <a:off x="2101710" y="5245529"/>
              <a:ext cx="3312368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直接连接符 61"/>
          <p:cNvCxnSpPr/>
          <p:nvPr/>
        </p:nvCxnSpPr>
        <p:spPr bwMode="gray">
          <a:xfrm flipV="1">
            <a:off x="3555139" y="2838601"/>
            <a:ext cx="0" cy="1948871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</p:cxnSp>
      <p:pic>
        <p:nvPicPr>
          <p:cNvPr id="63" name="图片 6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42913" y="3559929"/>
            <a:ext cx="540000" cy="442800"/>
          </a:xfrm>
          <a:prstGeom prst="rect">
            <a:avLst/>
          </a:prstGeom>
        </p:spPr>
      </p:pic>
      <p:pic>
        <p:nvPicPr>
          <p:cNvPr id="64" name="图片 6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67120" y="2610903"/>
            <a:ext cx="540000" cy="442800"/>
          </a:xfrm>
          <a:prstGeom prst="rect">
            <a:avLst/>
          </a:prstGeom>
        </p:spPr>
      </p:pic>
      <p:pic>
        <p:nvPicPr>
          <p:cNvPr id="65" name="图片 6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67120" y="4508955"/>
            <a:ext cx="540000" cy="442800"/>
          </a:xfrm>
          <a:prstGeom prst="rect">
            <a:avLst/>
          </a:prstGeom>
        </p:spPr>
      </p:pic>
      <p:pic>
        <p:nvPicPr>
          <p:cNvPr id="66" name="图片 6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93657" y="2610903"/>
            <a:ext cx="540000" cy="442800"/>
          </a:xfrm>
          <a:prstGeom prst="rect">
            <a:avLst/>
          </a:prstGeom>
        </p:spPr>
      </p:pic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93657" y="4508955"/>
            <a:ext cx="540000" cy="44280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5172" y="2610903"/>
            <a:ext cx="540000" cy="442800"/>
          </a:xfrm>
          <a:prstGeom prst="rect">
            <a:avLst/>
          </a:prstGeom>
        </p:spPr>
      </p:pic>
      <p:pic>
        <p:nvPicPr>
          <p:cNvPr id="69" name="图片 6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5172" y="4508955"/>
            <a:ext cx="540000" cy="442800"/>
          </a:xfrm>
          <a:prstGeom prst="rect">
            <a:avLst/>
          </a:prstGeom>
        </p:spPr>
      </p:pic>
      <p:pic>
        <p:nvPicPr>
          <p:cNvPr id="70" name="图片 6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36910" y="3559929"/>
            <a:ext cx="540000" cy="442800"/>
          </a:xfrm>
          <a:prstGeom prst="rect">
            <a:avLst/>
          </a:prstGeom>
        </p:spPr>
      </p:pic>
      <p:sp>
        <p:nvSpPr>
          <p:cNvPr id="71" name="任意多边形 70"/>
          <p:cNvSpPr/>
          <p:nvPr/>
        </p:nvSpPr>
        <p:spPr bwMode="gray">
          <a:xfrm>
            <a:off x="1105084" y="2791356"/>
            <a:ext cx="2231260" cy="976155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-1" fmla="*/ 0 w 3287214"/>
              <a:gd name="connsiteY0-2" fmla="*/ 0 h 1669002"/>
              <a:gd name="connsiteX1-3" fmla="*/ 2938508 w 3287214"/>
              <a:gd name="connsiteY1-4" fmla="*/ 26633 h 1669002"/>
              <a:gd name="connsiteX2-5" fmla="*/ 3204838 w 3287214"/>
              <a:gd name="connsiteY2-6" fmla="*/ 1669002 h 1669002"/>
              <a:gd name="connsiteX0-7" fmla="*/ 0 w 3310312"/>
              <a:gd name="connsiteY0-8" fmla="*/ 102151 h 1771153"/>
              <a:gd name="connsiteX1-9" fmla="*/ 2938508 w 3310312"/>
              <a:gd name="connsiteY1-10" fmla="*/ 128784 h 1771153"/>
              <a:gd name="connsiteX2-11" fmla="*/ 3204838 w 3310312"/>
              <a:gd name="connsiteY2-12" fmla="*/ 1771153 h 1771153"/>
              <a:gd name="connsiteX0-13" fmla="*/ 0 w 3268527"/>
              <a:gd name="connsiteY0-14" fmla="*/ 449497 h 2118499"/>
              <a:gd name="connsiteX1-15" fmla="*/ 2823098 w 3268527"/>
              <a:gd name="connsiteY1-16" fmla="*/ 67757 h 2118499"/>
              <a:gd name="connsiteX2-17" fmla="*/ 3204838 w 3268527"/>
              <a:gd name="connsiteY2-18" fmla="*/ 2118499 h 2118499"/>
              <a:gd name="connsiteX0-19" fmla="*/ 0 w 3245185"/>
              <a:gd name="connsiteY0-20" fmla="*/ 400710 h 2069712"/>
              <a:gd name="connsiteX1-21" fmla="*/ 2716566 w 3245185"/>
              <a:gd name="connsiteY1-22" fmla="*/ 72236 h 2069712"/>
              <a:gd name="connsiteX2-23" fmla="*/ 3204838 w 3245185"/>
              <a:gd name="connsiteY2-24" fmla="*/ 2069712 h 2069712"/>
              <a:gd name="connsiteX0-25" fmla="*/ 0 w 3207623"/>
              <a:gd name="connsiteY0-26" fmla="*/ 408402 h 2201692"/>
              <a:gd name="connsiteX1-27" fmla="*/ 2716566 w 3207623"/>
              <a:gd name="connsiteY1-28" fmla="*/ 79928 h 2201692"/>
              <a:gd name="connsiteX2-29" fmla="*/ 3160450 w 3207623"/>
              <a:gd name="connsiteY2-30" fmla="*/ 2201692 h 2201692"/>
              <a:gd name="connsiteX0-31" fmla="*/ 0 w 3180591"/>
              <a:gd name="connsiteY0-32" fmla="*/ 408402 h 2201692"/>
              <a:gd name="connsiteX1-33" fmla="*/ 2716566 w 3180591"/>
              <a:gd name="connsiteY1-34" fmla="*/ 79928 h 2201692"/>
              <a:gd name="connsiteX2-35" fmla="*/ 3160450 w 3180591"/>
              <a:gd name="connsiteY2-36" fmla="*/ 2201692 h 2201692"/>
              <a:gd name="connsiteX0-37" fmla="*/ 0 w 3598264"/>
              <a:gd name="connsiteY0-38" fmla="*/ 412296 h 2267729"/>
              <a:gd name="connsiteX1-39" fmla="*/ 2716566 w 3598264"/>
              <a:gd name="connsiteY1-40" fmla="*/ 83822 h 2267729"/>
              <a:gd name="connsiteX2-41" fmla="*/ 3595456 w 3598264"/>
              <a:gd name="connsiteY2-42" fmla="*/ 2267729 h 2267729"/>
              <a:gd name="connsiteX0-43" fmla="*/ 0 w 3621154"/>
              <a:gd name="connsiteY0-44" fmla="*/ 62433 h 1917866"/>
              <a:gd name="connsiteX1-45" fmla="*/ 3116061 w 3621154"/>
              <a:gd name="connsiteY1-46" fmla="*/ 168965 h 1917866"/>
              <a:gd name="connsiteX2-47" fmla="*/ 3595456 w 3621154"/>
              <a:gd name="connsiteY2-48" fmla="*/ 1917866 h 1917866"/>
              <a:gd name="connsiteX0-49" fmla="*/ 0 w 3666945"/>
              <a:gd name="connsiteY0-50" fmla="*/ 0 h 2121763"/>
              <a:gd name="connsiteX1-51" fmla="*/ 3160450 w 3666945"/>
              <a:gd name="connsiteY1-52" fmla="*/ 372862 h 2121763"/>
              <a:gd name="connsiteX2-53" fmla="*/ 3639845 w 3666945"/>
              <a:gd name="connsiteY2-54" fmla="*/ 2121763 h 2121763"/>
              <a:gd name="connsiteX0-55" fmla="*/ 0 w 3666945"/>
              <a:gd name="connsiteY0-56" fmla="*/ 40339 h 2162102"/>
              <a:gd name="connsiteX1-57" fmla="*/ 3160450 w 3666945"/>
              <a:gd name="connsiteY1-58" fmla="*/ 413201 h 2162102"/>
              <a:gd name="connsiteX2-59" fmla="*/ 3639845 w 3666945"/>
              <a:gd name="connsiteY2-60" fmla="*/ 2162102 h 2162102"/>
              <a:gd name="connsiteX0-61" fmla="*/ 0 w 3666945"/>
              <a:gd name="connsiteY0-62" fmla="*/ 47544 h 2116041"/>
              <a:gd name="connsiteX1-63" fmla="*/ 3160450 w 3666945"/>
              <a:gd name="connsiteY1-64" fmla="*/ 367140 h 2116041"/>
              <a:gd name="connsiteX2-65" fmla="*/ 3639845 w 3666945"/>
              <a:gd name="connsiteY2-66" fmla="*/ 2116041 h 2116041"/>
              <a:gd name="connsiteX0-67" fmla="*/ 0 w 3666945"/>
              <a:gd name="connsiteY0-68" fmla="*/ 86260 h 2154757"/>
              <a:gd name="connsiteX1-69" fmla="*/ 3160450 w 3666945"/>
              <a:gd name="connsiteY1-70" fmla="*/ 405856 h 2154757"/>
              <a:gd name="connsiteX2-71" fmla="*/ 3639845 w 3666945"/>
              <a:gd name="connsiteY2-72" fmla="*/ 2154757 h 2154757"/>
              <a:gd name="connsiteX0-73" fmla="*/ 0 w 3639845"/>
              <a:gd name="connsiteY0-74" fmla="*/ 0 h 2068497"/>
              <a:gd name="connsiteX1-75" fmla="*/ 3639845 w 3639845"/>
              <a:gd name="connsiteY1-76" fmla="*/ 2068497 h 2068497"/>
              <a:gd name="connsiteX0-77" fmla="*/ 0 w 3650005"/>
              <a:gd name="connsiteY0-78" fmla="*/ 0 h 1971977"/>
              <a:gd name="connsiteX1-79" fmla="*/ 3650005 w 3650005"/>
              <a:gd name="connsiteY1-80" fmla="*/ 1971977 h 1971977"/>
              <a:gd name="connsiteX0-81" fmla="*/ 0 w 3650005"/>
              <a:gd name="connsiteY0-82" fmla="*/ 0 h 1971977"/>
              <a:gd name="connsiteX1-83" fmla="*/ 3650005 w 3650005"/>
              <a:gd name="connsiteY1-84" fmla="*/ 1971977 h 1971977"/>
              <a:gd name="connsiteX0-85" fmla="*/ 0 w 3678831"/>
              <a:gd name="connsiteY0-86" fmla="*/ 0 h 1971977"/>
              <a:gd name="connsiteX1-87" fmla="*/ 3650005 w 3678831"/>
              <a:gd name="connsiteY1-88" fmla="*/ 1971977 h 1971977"/>
              <a:gd name="connsiteX0-89" fmla="*/ 0 w 3391741"/>
              <a:gd name="connsiteY0-90" fmla="*/ 0 h 1977057"/>
              <a:gd name="connsiteX1-91" fmla="*/ 3294405 w 3391741"/>
              <a:gd name="connsiteY1-92" fmla="*/ 1977057 h 1977057"/>
              <a:gd name="connsiteX0-93" fmla="*/ 0 w 3389485"/>
              <a:gd name="connsiteY0-94" fmla="*/ 0 h 1977057"/>
              <a:gd name="connsiteX1-95" fmla="*/ 3294405 w 3389485"/>
              <a:gd name="connsiteY1-96" fmla="*/ 1977057 h 1977057"/>
              <a:gd name="connsiteX0-97" fmla="*/ 0 w 3393324"/>
              <a:gd name="connsiteY0-98" fmla="*/ 0 h 1916097"/>
              <a:gd name="connsiteX1-99" fmla="*/ 3299485 w 3393324"/>
              <a:gd name="connsiteY1-100" fmla="*/ 1916097 h 1916097"/>
              <a:gd name="connsiteX0-101" fmla="*/ 0 w 3299485"/>
              <a:gd name="connsiteY0-102" fmla="*/ 0 h 1916097"/>
              <a:gd name="connsiteX1-103" fmla="*/ 3299485 w 3299485"/>
              <a:gd name="connsiteY1-104" fmla="*/ 1916097 h 1916097"/>
              <a:gd name="connsiteX0-105" fmla="*/ 0 w 2088762"/>
              <a:gd name="connsiteY0-106" fmla="*/ 1341877 h 1341930"/>
              <a:gd name="connsiteX1-107" fmla="*/ 2083245 w 2088762"/>
              <a:gd name="connsiteY1-108" fmla="*/ 275077 h 1341930"/>
              <a:gd name="connsiteX0-109" fmla="*/ 0 w 2083245"/>
              <a:gd name="connsiteY0-110" fmla="*/ 1089993 h 1090078"/>
              <a:gd name="connsiteX1-111" fmla="*/ 2083245 w 2083245"/>
              <a:gd name="connsiteY1-112" fmla="*/ 23193 h 1090078"/>
              <a:gd name="connsiteX0-113" fmla="*/ 0 w 2083245"/>
              <a:gd name="connsiteY0-114" fmla="*/ 1098866 h 1098866"/>
              <a:gd name="connsiteX1-115" fmla="*/ 2083245 w 2083245"/>
              <a:gd name="connsiteY1-116" fmla="*/ 32066 h 1098866"/>
              <a:gd name="connsiteX0-117" fmla="*/ 0 w 2200085"/>
              <a:gd name="connsiteY0-118" fmla="*/ 1158069 h 1158069"/>
              <a:gd name="connsiteX1-119" fmla="*/ 2200085 w 2200085"/>
              <a:gd name="connsiteY1-120" fmla="*/ 30309 h 1158069"/>
              <a:gd name="connsiteX0-121" fmla="*/ 0 w 2200085"/>
              <a:gd name="connsiteY0-122" fmla="*/ 1157543 h 1157543"/>
              <a:gd name="connsiteX1-123" fmla="*/ 2200085 w 2200085"/>
              <a:gd name="connsiteY1-124" fmla="*/ 29783 h 1157543"/>
              <a:gd name="connsiteX0-125" fmla="*/ 0 w 2454085"/>
              <a:gd name="connsiteY0-126" fmla="*/ 990184 h 990184"/>
              <a:gd name="connsiteX1-127" fmla="*/ 2454085 w 2454085"/>
              <a:gd name="connsiteY1-128" fmla="*/ 35144 h 990184"/>
              <a:gd name="connsiteX0-129" fmla="*/ 0 w 2454085"/>
              <a:gd name="connsiteY0-130" fmla="*/ 976155 h 976155"/>
              <a:gd name="connsiteX1-131" fmla="*/ 2454085 w 2454085"/>
              <a:gd name="connsiteY1-132" fmla="*/ 21115 h 9761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454085" h="976155">
                <a:moveTo>
                  <a:pt x="0" y="976155"/>
                </a:moveTo>
                <a:cubicBezTo>
                  <a:pt x="373388" y="597161"/>
                  <a:pt x="1156137" y="-133291"/>
                  <a:pt x="2454085" y="21115"/>
                </a:cubicBezTo>
              </a:path>
            </a:pathLst>
          </a:custGeom>
          <a:ln w="76200">
            <a:solidFill>
              <a:srgbClr val="C00000">
                <a:alpha val="4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任意多边形 71"/>
          <p:cNvSpPr/>
          <p:nvPr/>
        </p:nvSpPr>
        <p:spPr bwMode="gray">
          <a:xfrm flipV="1">
            <a:off x="1120888" y="3060307"/>
            <a:ext cx="2058329" cy="1188267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-1" fmla="*/ 0 w 3287214"/>
              <a:gd name="connsiteY0-2" fmla="*/ 0 h 1669002"/>
              <a:gd name="connsiteX1-3" fmla="*/ 2938508 w 3287214"/>
              <a:gd name="connsiteY1-4" fmla="*/ 26633 h 1669002"/>
              <a:gd name="connsiteX2-5" fmla="*/ 3204838 w 3287214"/>
              <a:gd name="connsiteY2-6" fmla="*/ 1669002 h 1669002"/>
              <a:gd name="connsiteX0-7" fmla="*/ 0 w 3310312"/>
              <a:gd name="connsiteY0-8" fmla="*/ 102151 h 1771153"/>
              <a:gd name="connsiteX1-9" fmla="*/ 2938508 w 3310312"/>
              <a:gd name="connsiteY1-10" fmla="*/ 128784 h 1771153"/>
              <a:gd name="connsiteX2-11" fmla="*/ 3204838 w 3310312"/>
              <a:gd name="connsiteY2-12" fmla="*/ 1771153 h 1771153"/>
              <a:gd name="connsiteX0-13" fmla="*/ 0 w 3268527"/>
              <a:gd name="connsiteY0-14" fmla="*/ 449497 h 2118499"/>
              <a:gd name="connsiteX1-15" fmla="*/ 2823098 w 3268527"/>
              <a:gd name="connsiteY1-16" fmla="*/ 67757 h 2118499"/>
              <a:gd name="connsiteX2-17" fmla="*/ 3204838 w 3268527"/>
              <a:gd name="connsiteY2-18" fmla="*/ 2118499 h 2118499"/>
              <a:gd name="connsiteX0-19" fmla="*/ 0 w 3245185"/>
              <a:gd name="connsiteY0-20" fmla="*/ 400710 h 2069712"/>
              <a:gd name="connsiteX1-21" fmla="*/ 2716566 w 3245185"/>
              <a:gd name="connsiteY1-22" fmla="*/ 72236 h 2069712"/>
              <a:gd name="connsiteX2-23" fmla="*/ 3204838 w 3245185"/>
              <a:gd name="connsiteY2-24" fmla="*/ 2069712 h 2069712"/>
              <a:gd name="connsiteX0-25" fmla="*/ 0 w 3207623"/>
              <a:gd name="connsiteY0-26" fmla="*/ 408402 h 2201692"/>
              <a:gd name="connsiteX1-27" fmla="*/ 2716566 w 3207623"/>
              <a:gd name="connsiteY1-28" fmla="*/ 79928 h 2201692"/>
              <a:gd name="connsiteX2-29" fmla="*/ 3160450 w 3207623"/>
              <a:gd name="connsiteY2-30" fmla="*/ 2201692 h 2201692"/>
              <a:gd name="connsiteX0-31" fmla="*/ 0 w 3180591"/>
              <a:gd name="connsiteY0-32" fmla="*/ 408402 h 2201692"/>
              <a:gd name="connsiteX1-33" fmla="*/ 2716566 w 3180591"/>
              <a:gd name="connsiteY1-34" fmla="*/ 79928 h 2201692"/>
              <a:gd name="connsiteX2-35" fmla="*/ 3160450 w 3180591"/>
              <a:gd name="connsiteY2-36" fmla="*/ 2201692 h 2201692"/>
              <a:gd name="connsiteX0-37" fmla="*/ 0 w 3598264"/>
              <a:gd name="connsiteY0-38" fmla="*/ 412296 h 2267729"/>
              <a:gd name="connsiteX1-39" fmla="*/ 2716566 w 3598264"/>
              <a:gd name="connsiteY1-40" fmla="*/ 83822 h 2267729"/>
              <a:gd name="connsiteX2-41" fmla="*/ 3595456 w 3598264"/>
              <a:gd name="connsiteY2-42" fmla="*/ 2267729 h 2267729"/>
              <a:gd name="connsiteX0-43" fmla="*/ 0 w 3621154"/>
              <a:gd name="connsiteY0-44" fmla="*/ 62433 h 1917866"/>
              <a:gd name="connsiteX1-45" fmla="*/ 3116061 w 3621154"/>
              <a:gd name="connsiteY1-46" fmla="*/ 168965 h 1917866"/>
              <a:gd name="connsiteX2-47" fmla="*/ 3595456 w 3621154"/>
              <a:gd name="connsiteY2-48" fmla="*/ 1917866 h 1917866"/>
              <a:gd name="connsiteX0-49" fmla="*/ 0 w 3666945"/>
              <a:gd name="connsiteY0-50" fmla="*/ 0 h 2121763"/>
              <a:gd name="connsiteX1-51" fmla="*/ 3160450 w 3666945"/>
              <a:gd name="connsiteY1-52" fmla="*/ 372862 h 2121763"/>
              <a:gd name="connsiteX2-53" fmla="*/ 3639845 w 3666945"/>
              <a:gd name="connsiteY2-54" fmla="*/ 2121763 h 2121763"/>
              <a:gd name="connsiteX0-55" fmla="*/ 0 w 3666945"/>
              <a:gd name="connsiteY0-56" fmla="*/ 40339 h 2162102"/>
              <a:gd name="connsiteX1-57" fmla="*/ 3160450 w 3666945"/>
              <a:gd name="connsiteY1-58" fmla="*/ 413201 h 2162102"/>
              <a:gd name="connsiteX2-59" fmla="*/ 3639845 w 3666945"/>
              <a:gd name="connsiteY2-60" fmla="*/ 2162102 h 2162102"/>
              <a:gd name="connsiteX0-61" fmla="*/ 0 w 3666945"/>
              <a:gd name="connsiteY0-62" fmla="*/ 47544 h 2116041"/>
              <a:gd name="connsiteX1-63" fmla="*/ 3160450 w 3666945"/>
              <a:gd name="connsiteY1-64" fmla="*/ 367140 h 2116041"/>
              <a:gd name="connsiteX2-65" fmla="*/ 3639845 w 3666945"/>
              <a:gd name="connsiteY2-66" fmla="*/ 2116041 h 2116041"/>
              <a:gd name="connsiteX0-67" fmla="*/ 0 w 3666945"/>
              <a:gd name="connsiteY0-68" fmla="*/ 86260 h 2154757"/>
              <a:gd name="connsiteX1-69" fmla="*/ 3160450 w 3666945"/>
              <a:gd name="connsiteY1-70" fmla="*/ 405856 h 2154757"/>
              <a:gd name="connsiteX2-71" fmla="*/ 3639845 w 3666945"/>
              <a:gd name="connsiteY2-72" fmla="*/ 2154757 h 2154757"/>
              <a:gd name="connsiteX0-73" fmla="*/ 0 w 3639845"/>
              <a:gd name="connsiteY0-74" fmla="*/ 0 h 2068497"/>
              <a:gd name="connsiteX1-75" fmla="*/ 3639845 w 3639845"/>
              <a:gd name="connsiteY1-76" fmla="*/ 2068497 h 2068497"/>
              <a:gd name="connsiteX0-77" fmla="*/ 0 w 3650005"/>
              <a:gd name="connsiteY0-78" fmla="*/ 0 h 1971977"/>
              <a:gd name="connsiteX1-79" fmla="*/ 3650005 w 3650005"/>
              <a:gd name="connsiteY1-80" fmla="*/ 1971977 h 1971977"/>
              <a:gd name="connsiteX0-81" fmla="*/ 0 w 3650005"/>
              <a:gd name="connsiteY0-82" fmla="*/ 0 h 1971977"/>
              <a:gd name="connsiteX1-83" fmla="*/ 3650005 w 3650005"/>
              <a:gd name="connsiteY1-84" fmla="*/ 1971977 h 1971977"/>
              <a:gd name="connsiteX0-85" fmla="*/ 0 w 3678831"/>
              <a:gd name="connsiteY0-86" fmla="*/ 0 h 1971977"/>
              <a:gd name="connsiteX1-87" fmla="*/ 3650005 w 3678831"/>
              <a:gd name="connsiteY1-88" fmla="*/ 1971977 h 1971977"/>
              <a:gd name="connsiteX0-89" fmla="*/ 0 w 3391741"/>
              <a:gd name="connsiteY0-90" fmla="*/ 0 h 1977057"/>
              <a:gd name="connsiteX1-91" fmla="*/ 3294405 w 3391741"/>
              <a:gd name="connsiteY1-92" fmla="*/ 1977057 h 1977057"/>
              <a:gd name="connsiteX0-93" fmla="*/ 0 w 3389485"/>
              <a:gd name="connsiteY0-94" fmla="*/ 0 h 1977057"/>
              <a:gd name="connsiteX1-95" fmla="*/ 3294405 w 3389485"/>
              <a:gd name="connsiteY1-96" fmla="*/ 1977057 h 1977057"/>
              <a:gd name="connsiteX0-97" fmla="*/ 0 w 3393324"/>
              <a:gd name="connsiteY0-98" fmla="*/ 0 h 1916097"/>
              <a:gd name="connsiteX1-99" fmla="*/ 3299485 w 3393324"/>
              <a:gd name="connsiteY1-100" fmla="*/ 1916097 h 1916097"/>
              <a:gd name="connsiteX0-101" fmla="*/ 0 w 3299485"/>
              <a:gd name="connsiteY0-102" fmla="*/ 0 h 1916097"/>
              <a:gd name="connsiteX1-103" fmla="*/ 3299485 w 3299485"/>
              <a:gd name="connsiteY1-104" fmla="*/ 1916097 h 1916097"/>
              <a:gd name="connsiteX0-105" fmla="*/ 0 w 2088762"/>
              <a:gd name="connsiteY0-106" fmla="*/ 1341877 h 1341930"/>
              <a:gd name="connsiteX1-107" fmla="*/ 2083245 w 2088762"/>
              <a:gd name="connsiteY1-108" fmla="*/ 275077 h 1341930"/>
              <a:gd name="connsiteX0-109" fmla="*/ 0 w 2083245"/>
              <a:gd name="connsiteY0-110" fmla="*/ 1089993 h 1090078"/>
              <a:gd name="connsiteX1-111" fmla="*/ 2083245 w 2083245"/>
              <a:gd name="connsiteY1-112" fmla="*/ 23193 h 1090078"/>
              <a:gd name="connsiteX0-113" fmla="*/ 0 w 2083245"/>
              <a:gd name="connsiteY0-114" fmla="*/ 1098866 h 1098866"/>
              <a:gd name="connsiteX1-115" fmla="*/ 2083245 w 2083245"/>
              <a:gd name="connsiteY1-116" fmla="*/ 32066 h 1098866"/>
              <a:gd name="connsiteX0-117" fmla="*/ 0 w 2200085"/>
              <a:gd name="connsiteY0-118" fmla="*/ 1158069 h 1158069"/>
              <a:gd name="connsiteX1-119" fmla="*/ 2200085 w 2200085"/>
              <a:gd name="connsiteY1-120" fmla="*/ 30309 h 1158069"/>
              <a:gd name="connsiteX0-121" fmla="*/ 0 w 2200085"/>
              <a:gd name="connsiteY0-122" fmla="*/ 1157543 h 1157543"/>
              <a:gd name="connsiteX1-123" fmla="*/ 2200085 w 2200085"/>
              <a:gd name="connsiteY1-124" fmla="*/ 29783 h 1157543"/>
              <a:gd name="connsiteX0-125" fmla="*/ 0 w 2454085"/>
              <a:gd name="connsiteY0-126" fmla="*/ 990184 h 990184"/>
              <a:gd name="connsiteX1-127" fmla="*/ 2454085 w 2454085"/>
              <a:gd name="connsiteY1-128" fmla="*/ 35144 h 990184"/>
              <a:gd name="connsiteX0-129" fmla="*/ 0 w 2454085"/>
              <a:gd name="connsiteY0-130" fmla="*/ 976155 h 976155"/>
              <a:gd name="connsiteX1-131" fmla="*/ 2454085 w 2454085"/>
              <a:gd name="connsiteY1-132" fmla="*/ 21115 h 976155"/>
              <a:gd name="connsiteX0-133" fmla="*/ 0 w 2459165"/>
              <a:gd name="connsiteY0-134" fmla="*/ 65262 h 1229434"/>
              <a:gd name="connsiteX1-135" fmla="*/ 2459165 w 2459165"/>
              <a:gd name="connsiteY1-136" fmla="*/ 1229434 h 1229434"/>
              <a:gd name="connsiteX0-137" fmla="*/ 0 w 2459165"/>
              <a:gd name="connsiteY0-138" fmla="*/ 726671 h 1890843"/>
              <a:gd name="connsiteX1-139" fmla="*/ 2459165 w 2459165"/>
              <a:gd name="connsiteY1-140" fmla="*/ 1890843 h 1890843"/>
              <a:gd name="connsiteX0-141" fmla="*/ 0 w 2322005"/>
              <a:gd name="connsiteY0-142" fmla="*/ 694539 h 1918830"/>
              <a:gd name="connsiteX1-143" fmla="*/ 2322005 w 2322005"/>
              <a:gd name="connsiteY1-144" fmla="*/ 1918831 h 1918830"/>
              <a:gd name="connsiteX0-145" fmla="*/ 0 w 2464245"/>
              <a:gd name="connsiteY0-146" fmla="*/ 686619 h 1925941"/>
              <a:gd name="connsiteX1-147" fmla="*/ 2464245 w 2464245"/>
              <a:gd name="connsiteY1-148" fmla="*/ 1925941 h 1925941"/>
              <a:gd name="connsiteX0-149" fmla="*/ 0 w 2403032"/>
              <a:gd name="connsiteY0-150" fmla="*/ 706503 h 1908250"/>
              <a:gd name="connsiteX1-151" fmla="*/ 2403032 w 2403032"/>
              <a:gd name="connsiteY1-152" fmla="*/ 1908250 h 1908250"/>
              <a:gd name="connsiteX0-153" fmla="*/ 0 w 2403032"/>
              <a:gd name="connsiteY0-154" fmla="*/ 556078 h 1757825"/>
              <a:gd name="connsiteX1-155" fmla="*/ 2403032 w 2403032"/>
              <a:gd name="connsiteY1-156" fmla="*/ 1757825 h 17578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403032" h="1757825">
                <a:moveTo>
                  <a:pt x="0" y="556078"/>
                </a:moveTo>
                <a:cubicBezTo>
                  <a:pt x="373388" y="177084"/>
                  <a:pt x="532900" y="-947903"/>
                  <a:pt x="2403032" y="1757825"/>
                </a:cubicBezTo>
              </a:path>
            </a:pathLst>
          </a:custGeom>
          <a:ln w="76200">
            <a:solidFill>
              <a:srgbClr val="C00000">
                <a:alpha val="4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任意多边形 72"/>
          <p:cNvSpPr/>
          <p:nvPr/>
        </p:nvSpPr>
        <p:spPr bwMode="gray">
          <a:xfrm>
            <a:off x="3854850" y="2704255"/>
            <a:ext cx="1982060" cy="1035685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-1" fmla="*/ 0 w 3287214"/>
              <a:gd name="connsiteY0-2" fmla="*/ 0 h 1669002"/>
              <a:gd name="connsiteX1-3" fmla="*/ 2938508 w 3287214"/>
              <a:gd name="connsiteY1-4" fmla="*/ 26633 h 1669002"/>
              <a:gd name="connsiteX2-5" fmla="*/ 3204838 w 3287214"/>
              <a:gd name="connsiteY2-6" fmla="*/ 1669002 h 1669002"/>
              <a:gd name="connsiteX0-7" fmla="*/ 0 w 3310312"/>
              <a:gd name="connsiteY0-8" fmla="*/ 102151 h 1771153"/>
              <a:gd name="connsiteX1-9" fmla="*/ 2938508 w 3310312"/>
              <a:gd name="connsiteY1-10" fmla="*/ 128784 h 1771153"/>
              <a:gd name="connsiteX2-11" fmla="*/ 3204838 w 3310312"/>
              <a:gd name="connsiteY2-12" fmla="*/ 1771153 h 1771153"/>
              <a:gd name="connsiteX0-13" fmla="*/ 0 w 3268527"/>
              <a:gd name="connsiteY0-14" fmla="*/ 449497 h 2118499"/>
              <a:gd name="connsiteX1-15" fmla="*/ 2823098 w 3268527"/>
              <a:gd name="connsiteY1-16" fmla="*/ 67757 h 2118499"/>
              <a:gd name="connsiteX2-17" fmla="*/ 3204838 w 3268527"/>
              <a:gd name="connsiteY2-18" fmla="*/ 2118499 h 2118499"/>
              <a:gd name="connsiteX0-19" fmla="*/ 0 w 3245185"/>
              <a:gd name="connsiteY0-20" fmla="*/ 400710 h 2069712"/>
              <a:gd name="connsiteX1-21" fmla="*/ 2716566 w 3245185"/>
              <a:gd name="connsiteY1-22" fmla="*/ 72236 h 2069712"/>
              <a:gd name="connsiteX2-23" fmla="*/ 3204838 w 3245185"/>
              <a:gd name="connsiteY2-24" fmla="*/ 2069712 h 2069712"/>
              <a:gd name="connsiteX0-25" fmla="*/ 0 w 3207623"/>
              <a:gd name="connsiteY0-26" fmla="*/ 408402 h 2201692"/>
              <a:gd name="connsiteX1-27" fmla="*/ 2716566 w 3207623"/>
              <a:gd name="connsiteY1-28" fmla="*/ 79928 h 2201692"/>
              <a:gd name="connsiteX2-29" fmla="*/ 3160450 w 3207623"/>
              <a:gd name="connsiteY2-30" fmla="*/ 2201692 h 2201692"/>
              <a:gd name="connsiteX0-31" fmla="*/ 0 w 3180591"/>
              <a:gd name="connsiteY0-32" fmla="*/ 408402 h 2201692"/>
              <a:gd name="connsiteX1-33" fmla="*/ 2716566 w 3180591"/>
              <a:gd name="connsiteY1-34" fmla="*/ 79928 h 2201692"/>
              <a:gd name="connsiteX2-35" fmla="*/ 3160450 w 3180591"/>
              <a:gd name="connsiteY2-36" fmla="*/ 2201692 h 2201692"/>
              <a:gd name="connsiteX0-37" fmla="*/ 0 w 3598264"/>
              <a:gd name="connsiteY0-38" fmla="*/ 412296 h 2267729"/>
              <a:gd name="connsiteX1-39" fmla="*/ 2716566 w 3598264"/>
              <a:gd name="connsiteY1-40" fmla="*/ 83822 h 2267729"/>
              <a:gd name="connsiteX2-41" fmla="*/ 3595456 w 3598264"/>
              <a:gd name="connsiteY2-42" fmla="*/ 2267729 h 2267729"/>
              <a:gd name="connsiteX0-43" fmla="*/ 0 w 3621154"/>
              <a:gd name="connsiteY0-44" fmla="*/ 62433 h 1917866"/>
              <a:gd name="connsiteX1-45" fmla="*/ 3116061 w 3621154"/>
              <a:gd name="connsiteY1-46" fmla="*/ 168965 h 1917866"/>
              <a:gd name="connsiteX2-47" fmla="*/ 3595456 w 3621154"/>
              <a:gd name="connsiteY2-48" fmla="*/ 1917866 h 1917866"/>
              <a:gd name="connsiteX0-49" fmla="*/ 0 w 3666945"/>
              <a:gd name="connsiteY0-50" fmla="*/ 0 h 2121763"/>
              <a:gd name="connsiteX1-51" fmla="*/ 3160450 w 3666945"/>
              <a:gd name="connsiteY1-52" fmla="*/ 372862 h 2121763"/>
              <a:gd name="connsiteX2-53" fmla="*/ 3639845 w 3666945"/>
              <a:gd name="connsiteY2-54" fmla="*/ 2121763 h 2121763"/>
              <a:gd name="connsiteX0-55" fmla="*/ 0 w 3666945"/>
              <a:gd name="connsiteY0-56" fmla="*/ 40339 h 2162102"/>
              <a:gd name="connsiteX1-57" fmla="*/ 3160450 w 3666945"/>
              <a:gd name="connsiteY1-58" fmla="*/ 413201 h 2162102"/>
              <a:gd name="connsiteX2-59" fmla="*/ 3639845 w 3666945"/>
              <a:gd name="connsiteY2-60" fmla="*/ 2162102 h 2162102"/>
              <a:gd name="connsiteX0-61" fmla="*/ 0 w 3666945"/>
              <a:gd name="connsiteY0-62" fmla="*/ 47544 h 2116041"/>
              <a:gd name="connsiteX1-63" fmla="*/ 3160450 w 3666945"/>
              <a:gd name="connsiteY1-64" fmla="*/ 367140 h 2116041"/>
              <a:gd name="connsiteX2-65" fmla="*/ 3639845 w 3666945"/>
              <a:gd name="connsiteY2-66" fmla="*/ 2116041 h 2116041"/>
              <a:gd name="connsiteX0-67" fmla="*/ 0 w 3666945"/>
              <a:gd name="connsiteY0-68" fmla="*/ 86260 h 2154757"/>
              <a:gd name="connsiteX1-69" fmla="*/ 3160450 w 3666945"/>
              <a:gd name="connsiteY1-70" fmla="*/ 405856 h 2154757"/>
              <a:gd name="connsiteX2-71" fmla="*/ 3639845 w 3666945"/>
              <a:gd name="connsiteY2-72" fmla="*/ 2154757 h 2154757"/>
              <a:gd name="connsiteX0-73" fmla="*/ 0 w 3639845"/>
              <a:gd name="connsiteY0-74" fmla="*/ 0 h 2068497"/>
              <a:gd name="connsiteX1-75" fmla="*/ 3639845 w 3639845"/>
              <a:gd name="connsiteY1-76" fmla="*/ 2068497 h 2068497"/>
              <a:gd name="connsiteX0-77" fmla="*/ 0 w 3650005"/>
              <a:gd name="connsiteY0-78" fmla="*/ 0 h 1971977"/>
              <a:gd name="connsiteX1-79" fmla="*/ 3650005 w 3650005"/>
              <a:gd name="connsiteY1-80" fmla="*/ 1971977 h 1971977"/>
              <a:gd name="connsiteX0-81" fmla="*/ 0 w 3650005"/>
              <a:gd name="connsiteY0-82" fmla="*/ 0 h 1971977"/>
              <a:gd name="connsiteX1-83" fmla="*/ 3650005 w 3650005"/>
              <a:gd name="connsiteY1-84" fmla="*/ 1971977 h 1971977"/>
              <a:gd name="connsiteX0-85" fmla="*/ 0 w 3678831"/>
              <a:gd name="connsiteY0-86" fmla="*/ 0 h 1971977"/>
              <a:gd name="connsiteX1-87" fmla="*/ 3650005 w 3678831"/>
              <a:gd name="connsiteY1-88" fmla="*/ 1971977 h 1971977"/>
              <a:gd name="connsiteX0-89" fmla="*/ 0 w 3391741"/>
              <a:gd name="connsiteY0-90" fmla="*/ 0 h 1977057"/>
              <a:gd name="connsiteX1-91" fmla="*/ 3294405 w 3391741"/>
              <a:gd name="connsiteY1-92" fmla="*/ 1977057 h 1977057"/>
              <a:gd name="connsiteX0-93" fmla="*/ 0 w 3389485"/>
              <a:gd name="connsiteY0-94" fmla="*/ 0 h 1977057"/>
              <a:gd name="connsiteX1-95" fmla="*/ 3294405 w 3389485"/>
              <a:gd name="connsiteY1-96" fmla="*/ 1977057 h 1977057"/>
              <a:gd name="connsiteX0-97" fmla="*/ 0 w 3393324"/>
              <a:gd name="connsiteY0-98" fmla="*/ 0 h 1916097"/>
              <a:gd name="connsiteX1-99" fmla="*/ 3299485 w 3393324"/>
              <a:gd name="connsiteY1-100" fmla="*/ 1916097 h 1916097"/>
              <a:gd name="connsiteX0-101" fmla="*/ 0 w 3299485"/>
              <a:gd name="connsiteY0-102" fmla="*/ 0 h 1916097"/>
              <a:gd name="connsiteX1-103" fmla="*/ 3299485 w 3299485"/>
              <a:gd name="connsiteY1-104" fmla="*/ 1916097 h 1916097"/>
              <a:gd name="connsiteX0-105" fmla="*/ 0 w 2088762"/>
              <a:gd name="connsiteY0-106" fmla="*/ 1341877 h 1341930"/>
              <a:gd name="connsiteX1-107" fmla="*/ 2083245 w 2088762"/>
              <a:gd name="connsiteY1-108" fmla="*/ 275077 h 1341930"/>
              <a:gd name="connsiteX0-109" fmla="*/ 0 w 2083245"/>
              <a:gd name="connsiteY0-110" fmla="*/ 1089993 h 1090078"/>
              <a:gd name="connsiteX1-111" fmla="*/ 2083245 w 2083245"/>
              <a:gd name="connsiteY1-112" fmla="*/ 23193 h 1090078"/>
              <a:gd name="connsiteX0-113" fmla="*/ 0 w 2083245"/>
              <a:gd name="connsiteY0-114" fmla="*/ 1098866 h 1098866"/>
              <a:gd name="connsiteX1-115" fmla="*/ 2083245 w 2083245"/>
              <a:gd name="connsiteY1-116" fmla="*/ 32066 h 1098866"/>
              <a:gd name="connsiteX0-117" fmla="*/ 0 w 2200085"/>
              <a:gd name="connsiteY0-118" fmla="*/ 1158069 h 1158069"/>
              <a:gd name="connsiteX1-119" fmla="*/ 2200085 w 2200085"/>
              <a:gd name="connsiteY1-120" fmla="*/ 30309 h 1158069"/>
              <a:gd name="connsiteX0-121" fmla="*/ 0 w 2200085"/>
              <a:gd name="connsiteY0-122" fmla="*/ 1157543 h 1157543"/>
              <a:gd name="connsiteX1-123" fmla="*/ 2200085 w 2200085"/>
              <a:gd name="connsiteY1-124" fmla="*/ 29783 h 1157543"/>
              <a:gd name="connsiteX0-125" fmla="*/ 0 w 2454085"/>
              <a:gd name="connsiteY0-126" fmla="*/ 990184 h 990184"/>
              <a:gd name="connsiteX1-127" fmla="*/ 2454085 w 2454085"/>
              <a:gd name="connsiteY1-128" fmla="*/ 35144 h 990184"/>
              <a:gd name="connsiteX0-129" fmla="*/ 0 w 2454085"/>
              <a:gd name="connsiteY0-130" fmla="*/ 976155 h 976155"/>
              <a:gd name="connsiteX1-131" fmla="*/ 2454085 w 2454085"/>
              <a:gd name="connsiteY1-132" fmla="*/ 21115 h 976155"/>
              <a:gd name="connsiteX0-133" fmla="*/ 0 w 1927035"/>
              <a:gd name="connsiteY0-134" fmla="*/ 230395 h 230395"/>
              <a:gd name="connsiteX1-135" fmla="*/ 1927035 w 1927035"/>
              <a:gd name="connsiteY1-136" fmla="*/ 173880 h 230395"/>
              <a:gd name="connsiteX0-137" fmla="*/ 0 w 2165160"/>
              <a:gd name="connsiteY0-138" fmla="*/ 75406 h 1015841"/>
              <a:gd name="connsiteX1-139" fmla="*/ 2165160 w 2165160"/>
              <a:gd name="connsiteY1-140" fmla="*/ 1015841 h 1015841"/>
              <a:gd name="connsiteX0-141" fmla="*/ 0 w 2165160"/>
              <a:gd name="connsiteY0-142" fmla="*/ 117592 h 1058027"/>
              <a:gd name="connsiteX1-143" fmla="*/ 2165160 w 2165160"/>
              <a:gd name="connsiteY1-144" fmla="*/ 1058027 h 1058027"/>
              <a:gd name="connsiteX0-145" fmla="*/ 0 w 2165160"/>
              <a:gd name="connsiteY0-146" fmla="*/ 356 h 940791"/>
              <a:gd name="connsiteX1-147" fmla="*/ 2165160 w 2165160"/>
              <a:gd name="connsiteY1-148" fmla="*/ 940791 h 940791"/>
              <a:gd name="connsiteX0-149" fmla="*/ 0 w 2152460"/>
              <a:gd name="connsiteY0-150" fmla="*/ 256 h 1035941"/>
              <a:gd name="connsiteX1-151" fmla="*/ 2152460 w 2152460"/>
              <a:gd name="connsiteY1-152" fmla="*/ 1035941 h 1035941"/>
              <a:gd name="connsiteX0-153" fmla="*/ 0 w 2152460"/>
              <a:gd name="connsiteY0-154" fmla="*/ 0 h 1035685"/>
              <a:gd name="connsiteX1-155" fmla="*/ 2152460 w 2152460"/>
              <a:gd name="connsiteY1-156" fmla="*/ 1035685 h 1035685"/>
              <a:gd name="connsiteX0-157" fmla="*/ 0 w 2152460"/>
              <a:gd name="connsiteY0-158" fmla="*/ 0 h 1035685"/>
              <a:gd name="connsiteX1-159" fmla="*/ 2152460 w 2152460"/>
              <a:gd name="connsiteY1-160" fmla="*/ 1035685 h 10356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152460" h="1035685">
                <a:moveTo>
                  <a:pt x="0" y="0"/>
                </a:moveTo>
                <a:cubicBezTo>
                  <a:pt x="1226228" y="40105"/>
                  <a:pt x="1533962" y="312954"/>
                  <a:pt x="2152460" y="1035685"/>
                </a:cubicBezTo>
              </a:path>
            </a:pathLst>
          </a:custGeom>
          <a:ln w="76200">
            <a:solidFill>
              <a:srgbClr val="C00000">
                <a:alpha val="4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椭圆 73"/>
          <p:cNvSpPr>
            <a:spLocks noChangeAspect="1"/>
          </p:cNvSpPr>
          <p:nvPr/>
        </p:nvSpPr>
        <p:spPr bwMode="gray">
          <a:xfrm>
            <a:off x="1609583" y="4147466"/>
            <a:ext cx="232480" cy="23248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椭圆 74"/>
          <p:cNvSpPr>
            <a:spLocks noChangeAspect="1"/>
          </p:cNvSpPr>
          <p:nvPr/>
        </p:nvSpPr>
        <p:spPr bwMode="gray">
          <a:xfrm>
            <a:off x="1430669" y="3275992"/>
            <a:ext cx="232480" cy="23248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椭圆 75"/>
          <p:cNvSpPr>
            <a:spLocks noChangeAspect="1"/>
          </p:cNvSpPr>
          <p:nvPr/>
        </p:nvSpPr>
        <p:spPr bwMode="gray">
          <a:xfrm>
            <a:off x="4023126" y="2558876"/>
            <a:ext cx="232480" cy="23248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椭圆 80"/>
          <p:cNvSpPr>
            <a:spLocks noChangeAspect="1"/>
          </p:cNvSpPr>
          <p:nvPr/>
        </p:nvSpPr>
        <p:spPr bwMode="gray">
          <a:xfrm>
            <a:off x="5456589" y="3320381"/>
            <a:ext cx="232480" cy="23248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文本框 81"/>
          <p:cNvSpPr txBox="1"/>
          <p:nvPr/>
        </p:nvSpPr>
        <p:spPr bwMode="gray">
          <a:xfrm>
            <a:off x="3348191" y="2279503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 bwMode="gray">
          <a:xfrm>
            <a:off x="4845880" y="2279503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 bwMode="gray">
          <a:xfrm>
            <a:off x="5902065" y="4043668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R8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 bwMode="gray">
          <a:xfrm>
            <a:off x="492080" y="4040536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 bwMode="gray">
          <a:xfrm>
            <a:off x="1524872" y="2279503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 bwMode="gray">
          <a:xfrm>
            <a:off x="1524872" y="4947814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3346899" y="4947814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文本框 88"/>
          <p:cNvSpPr txBox="1"/>
          <p:nvPr/>
        </p:nvSpPr>
        <p:spPr bwMode="gray">
          <a:xfrm>
            <a:off x="4845880" y="4947814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R7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 bwMode="gray">
          <a:xfrm>
            <a:off x="3772991" y="2837350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基本概念：</a:t>
            </a:r>
            <a:r>
              <a:rPr lang="en-US" altLang="zh-CN">
                <a:sym typeface="Huawei Sans" panose="020C0503030203020204" pitchFamily="34" charset="0"/>
              </a:rPr>
              <a:t>Segment ID</a:t>
            </a:r>
            <a:endParaRPr lang="zh-CN" altLang="en-US">
              <a:sym typeface="Huawei Sans" panose="020C0503030203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 bwMode="gray">
          <a:xfrm rot="10800000">
            <a:off x="5082838" y="2912383"/>
            <a:ext cx="1032830" cy="1941018"/>
            <a:chOff x="4518703" y="2205748"/>
            <a:chExt cx="1512166" cy="2521312"/>
          </a:xfrm>
        </p:grpSpPr>
        <p:cxnSp>
          <p:nvCxnSpPr>
            <p:cNvPr id="23" name="直接连接符 22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</p:cxnSp>
        <p:cxnSp>
          <p:nvCxnSpPr>
            <p:cNvPr id="24" name="直接连接符 23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</p:cxnSp>
      </p:grpSp>
      <p:grpSp>
        <p:nvGrpSpPr>
          <p:cNvPr id="4" name="组合 3"/>
          <p:cNvGrpSpPr/>
          <p:nvPr/>
        </p:nvGrpSpPr>
        <p:grpSpPr bwMode="gray">
          <a:xfrm>
            <a:off x="728208" y="2906887"/>
            <a:ext cx="4358915" cy="1954367"/>
            <a:chOff x="1055163" y="3291162"/>
            <a:chExt cx="4358915" cy="1954367"/>
          </a:xfrm>
        </p:grpSpPr>
        <p:cxnSp>
          <p:nvCxnSpPr>
            <p:cNvPr id="7" name="直接连接符 6"/>
            <p:cNvCxnSpPr/>
            <p:nvPr/>
          </p:nvCxnSpPr>
          <p:spPr bwMode="gray">
            <a:xfrm flipH="1">
              <a:off x="2119315" y="3304511"/>
              <a:ext cx="1760319" cy="1933167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 bwMode="gray">
            <a:xfrm flipH="1" flipV="1">
              <a:off x="2117370" y="3291162"/>
              <a:ext cx="1748548" cy="1954367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/>
            <p:cNvGrpSpPr/>
            <p:nvPr/>
          </p:nvGrpSpPr>
          <p:grpSpPr bwMode="gray">
            <a:xfrm>
              <a:off x="1055163" y="3296658"/>
              <a:ext cx="1032830" cy="1941018"/>
              <a:chOff x="4518703" y="2205748"/>
              <a:chExt cx="1512166" cy="2521312"/>
            </a:xfrm>
          </p:grpSpPr>
          <p:cxnSp>
            <p:nvCxnSpPr>
              <p:cNvPr id="21" name="直接连接符 20"/>
              <p:cNvCxnSpPr/>
              <p:nvPr/>
            </p:nvCxnSpPr>
            <p:spPr bwMode="gray">
              <a:xfrm rot="16200000" flipH="1">
                <a:off x="4644458" y="3340649"/>
                <a:ext cx="1260656" cy="1512166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 bwMode="gray">
              <a:xfrm rot="16200000">
                <a:off x="4644458" y="2079993"/>
                <a:ext cx="1260656" cy="1512166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直接连接符 9"/>
            <p:cNvCxnSpPr/>
            <p:nvPr/>
          </p:nvCxnSpPr>
          <p:spPr bwMode="gray">
            <a:xfrm flipH="1">
              <a:off x="2101710" y="3296658"/>
              <a:ext cx="3312368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gray">
            <a:xfrm flipH="1">
              <a:off x="2101710" y="5245529"/>
              <a:ext cx="3312368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/>
          <p:cNvCxnSpPr/>
          <p:nvPr/>
        </p:nvCxnSpPr>
        <p:spPr bwMode="gray">
          <a:xfrm flipV="1">
            <a:off x="3552679" y="2912383"/>
            <a:ext cx="0" cy="1948871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</p:cxnSp>
      <p:pic>
        <p:nvPicPr>
          <p:cNvPr id="13" name="图片 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40453" y="3633711"/>
            <a:ext cx="540000" cy="44280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64660" y="2684685"/>
            <a:ext cx="540000" cy="44280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64660" y="4582737"/>
            <a:ext cx="540000" cy="442800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91197" y="2684685"/>
            <a:ext cx="540000" cy="442800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91197" y="4582737"/>
            <a:ext cx="540000" cy="442800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2712" y="2684685"/>
            <a:ext cx="540000" cy="442800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2712" y="4582737"/>
            <a:ext cx="540000" cy="442800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34450" y="3633711"/>
            <a:ext cx="540000" cy="4428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 bwMode="gray">
          <a:xfrm>
            <a:off x="6424724" y="2507173"/>
            <a:ext cx="4932450" cy="30376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/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Segment 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）用于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标识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Segment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，它的格式取决于具体的技术实现，例如可以使用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标签、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标签空间中的索引、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IPv6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地址。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Segment List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是一个或多个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构成的有序列表。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例如：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654685" lvl="1" indent="-252095" defTabSz="913765" fontAlgn="ctr">
              <a:lnSpc>
                <a:spcPct val="14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指令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）：沿着支持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ECMP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的最短路径到达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54685" lvl="1" indent="-252095" defTabSz="913765" fontAlgn="ctr">
              <a:lnSpc>
                <a:spcPct val="14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指令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1046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）：沿着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接口转发数据包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54685" lvl="1" indent="-252095" defTabSz="913765" fontAlgn="ctr">
              <a:lnSpc>
                <a:spcPct val="14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指令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800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）：沿着支持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ECMP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的最短路径到达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R8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54685" lvl="1" indent="-252095" defTabSz="913765" fontAlgn="ctr">
              <a:lnSpc>
                <a:spcPct val="14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54685" lvl="1" indent="-252095" defTabSz="913765" fontAlgn="ctr">
              <a:lnSpc>
                <a:spcPct val="14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endParaRPr lang="zh-CN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33" name="任意多边形 32"/>
          <p:cNvSpPr/>
          <p:nvPr/>
        </p:nvSpPr>
        <p:spPr bwMode="gray">
          <a:xfrm>
            <a:off x="1102624" y="2865138"/>
            <a:ext cx="2231260" cy="976155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-1" fmla="*/ 0 w 3287214"/>
              <a:gd name="connsiteY0-2" fmla="*/ 0 h 1669002"/>
              <a:gd name="connsiteX1-3" fmla="*/ 2938508 w 3287214"/>
              <a:gd name="connsiteY1-4" fmla="*/ 26633 h 1669002"/>
              <a:gd name="connsiteX2-5" fmla="*/ 3204838 w 3287214"/>
              <a:gd name="connsiteY2-6" fmla="*/ 1669002 h 1669002"/>
              <a:gd name="connsiteX0-7" fmla="*/ 0 w 3310312"/>
              <a:gd name="connsiteY0-8" fmla="*/ 102151 h 1771153"/>
              <a:gd name="connsiteX1-9" fmla="*/ 2938508 w 3310312"/>
              <a:gd name="connsiteY1-10" fmla="*/ 128784 h 1771153"/>
              <a:gd name="connsiteX2-11" fmla="*/ 3204838 w 3310312"/>
              <a:gd name="connsiteY2-12" fmla="*/ 1771153 h 1771153"/>
              <a:gd name="connsiteX0-13" fmla="*/ 0 w 3268527"/>
              <a:gd name="connsiteY0-14" fmla="*/ 449497 h 2118499"/>
              <a:gd name="connsiteX1-15" fmla="*/ 2823098 w 3268527"/>
              <a:gd name="connsiteY1-16" fmla="*/ 67757 h 2118499"/>
              <a:gd name="connsiteX2-17" fmla="*/ 3204838 w 3268527"/>
              <a:gd name="connsiteY2-18" fmla="*/ 2118499 h 2118499"/>
              <a:gd name="connsiteX0-19" fmla="*/ 0 w 3245185"/>
              <a:gd name="connsiteY0-20" fmla="*/ 400710 h 2069712"/>
              <a:gd name="connsiteX1-21" fmla="*/ 2716566 w 3245185"/>
              <a:gd name="connsiteY1-22" fmla="*/ 72236 h 2069712"/>
              <a:gd name="connsiteX2-23" fmla="*/ 3204838 w 3245185"/>
              <a:gd name="connsiteY2-24" fmla="*/ 2069712 h 2069712"/>
              <a:gd name="connsiteX0-25" fmla="*/ 0 w 3207623"/>
              <a:gd name="connsiteY0-26" fmla="*/ 408402 h 2201692"/>
              <a:gd name="connsiteX1-27" fmla="*/ 2716566 w 3207623"/>
              <a:gd name="connsiteY1-28" fmla="*/ 79928 h 2201692"/>
              <a:gd name="connsiteX2-29" fmla="*/ 3160450 w 3207623"/>
              <a:gd name="connsiteY2-30" fmla="*/ 2201692 h 2201692"/>
              <a:gd name="connsiteX0-31" fmla="*/ 0 w 3180591"/>
              <a:gd name="connsiteY0-32" fmla="*/ 408402 h 2201692"/>
              <a:gd name="connsiteX1-33" fmla="*/ 2716566 w 3180591"/>
              <a:gd name="connsiteY1-34" fmla="*/ 79928 h 2201692"/>
              <a:gd name="connsiteX2-35" fmla="*/ 3160450 w 3180591"/>
              <a:gd name="connsiteY2-36" fmla="*/ 2201692 h 2201692"/>
              <a:gd name="connsiteX0-37" fmla="*/ 0 w 3598264"/>
              <a:gd name="connsiteY0-38" fmla="*/ 412296 h 2267729"/>
              <a:gd name="connsiteX1-39" fmla="*/ 2716566 w 3598264"/>
              <a:gd name="connsiteY1-40" fmla="*/ 83822 h 2267729"/>
              <a:gd name="connsiteX2-41" fmla="*/ 3595456 w 3598264"/>
              <a:gd name="connsiteY2-42" fmla="*/ 2267729 h 2267729"/>
              <a:gd name="connsiteX0-43" fmla="*/ 0 w 3621154"/>
              <a:gd name="connsiteY0-44" fmla="*/ 62433 h 1917866"/>
              <a:gd name="connsiteX1-45" fmla="*/ 3116061 w 3621154"/>
              <a:gd name="connsiteY1-46" fmla="*/ 168965 h 1917866"/>
              <a:gd name="connsiteX2-47" fmla="*/ 3595456 w 3621154"/>
              <a:gd name="connsiteY2-48" fmla="*/ 1917866 h 1917866"/>
              <a:gd name="connsiteX0-49" fmla="*/ 0 w 3666945"/>
              <a:gd name="connsiteY0-50" fmla="*/ 0 h 2121763"/>
              <a:gd name="connsiteX1-51" fmla="*/ 3160450 w 3666945"/>
              <a:gd name="connsiteY1-52" fmla="*/ 372862 h 2121763"/>
              <a:gd name="connsiteX2-53" fmla="*/ 3639845 w 3666945"/>
              <a:gd name="connsiteY2-54" fmla="*/ 2121763 h 2121763"/>
              <a:gd name="connsiteX0-55" fmla="*/ 0 w 3666945"/>
              <a:gd name="connsiteY0-56" fmla="*/ 40339 h 2162102"/>
              <a:gd name="connsiteX1-57" fmla="*/ 3160450 w 3666945"/>
              <a:gd name="connsiteY1-58" fmla="*/ 413201 h 2162102"/>
              <a:gd name="connsiteX2-59" fmla="*/ 3639845 w 3666945"/>
              <a:gd name="connsiteY2-60" fmla="*/ 2162102 h 2162102"/>
              <a:gd name="connsiteX0-61" fmla="*/ 0 w 3666945"/>
              <a:gd name="connsiteY0-62" fmla="*/ 47544 h 2116041"/>
              <a:gd name="connsiteX1-63" fmla="*/ 3160450 w 3666945"/>
              <a:gd name="connsiteY1-64" fmla="*/ 367140 h 2116041"/>
              <a:gd name="connsiteX2-65" fmla="*/ 3639845 w 3666945"/>
              <a:gd name="connsiteY2-66" fmla="*/ 2116041 h 2116041"/>
              <a:gd name="connsiteX0-67" fmla="*/ 0 w 3666945"/>
              <a:gd name="connsiteY0-68" fmla="*/ 86260 h 2154757"/>
              <a:gd name="connsiteX1-69" fmla="*/ 3160450 w 3666945"/>
              <a:gd name="connsiteY1-70" fmla="*/ 405856 h 2154757"/>
              <a:gd name="connsiteX2-71" fmla="*/ 3639845 w 3666945"/>
              <a:gd name="connsiteY2-72" fmla="*/ 2154757 h 2154757"/>
              <a:gd name="connsiteX0-73" fmla="*/ 0 w 3639845"/>
              <a:gd name="connsiteY0-74" fmla="*/ 0 h 2068497"/>
              <a:gd name="connsiteX1-75" fmla="*/ 3639845 w 3639845"/>
              <a:gd name="connsiteY1-76" fmla="*/ 2068497 h 2068497"/>
              <a:gd name="connsiteX0-77" fmla="*/ 0 w 3650005"/>
              <a:gd name="connsiteY0-78" fmla="*/ 0 h 1971977"/>
              <a:gd name="connsiteX1-79" fmla="*/ 3650005 w 3650005"/>
              <a:gd name="connsiteY1-80" fmla="*/ 1971977 h 1971977"/>
              <a:gd name="connsiteX0-81" fmla="*/ 0 w 3650005"/>
              <a:gd name="connsiteY0-82" fmla="*/ 0 h 1971977"/>
              <a:gd name="connsiteX1-83" fmla="*/ 3650005 w 3650005"/>
              <a:gd name="connsiteY1-84" fmla="*/ 1971977 h 1971977"/>
              <a:gd name="connsiteX0-85" fmla="*/ 0 w 3678831"/>
              <a:gd name="connsiteY0-86" fmla="*/ 0 h 1971977"/>
              <a:gd name="connsiteX1-87" fmla="*/ 3650005 w 3678831"/>
              <a:gd name="connsiteY1-88" fmla="*/ 1971977 h 1971977"/>
              <a:gd name="connsiteX0-89" fmla="*/ 0 w 3391741"/>
              <a:gd name="connsiteY0-90" fmla="*/ 0 h 1977057"/>
              <a:gd name="connsiteX1-91" fmla="*/ 3294405 w 3391741"/>
              <a:gd name="connsiteY1-92" fmla="*/ 1977057 h 1977057"/>
              <a:gd name="connsiteX0-93" fmla="*/ 0 w 3389485"/>
              <a:gd name="connsiteY0-94" fmla="*/ 0 h 1977057"/>
              <a:gd name="connsiteX1-95" fmla="*/ 3294405 w 3389485"/>
              <a:gd name="connsiteY1-96" fmla="*/ 1977057 h 1977057"/>
              <a:gd name="connsiteX0-97" fmla="*/ 0 w 3393324"/>
              <a:gd name="connsiteY0-98" fmla="*/ 0 h 1916097"/>
              <a:gd name="connsiteX1-99" fmla="*/ 3299485 w 3393324"/>
              <a:gd name="connsiteY1-100" fmla="*/ 1916097 h 1916097"/>
              <a:gd name="connsiteX0-101" fmla="*/ 0 w 3299485"/>
              <a:gd name="connsiteY0-102" fmla="*/ 0 h 1916097"/>
              <a:gd name="connsiteX1-103" fmla="*/ 3299485 w 3299485"/>
              <a:gd name="connsiteY1-104" fmla="*/ 1916097 h 1916097"/>
              <a:gd name="connsiteX0-105" fmla="*/ 0 w 2088762"/>
              <a:gd name="connsiteY0-106" fmla="*/ 1341877 h 1341930"/>
              <a:gd name="connsiteX1-107" fmla="*/ 2083245 w 2088762"/>
              <a:gd name="connsiteY1-108" fmla="*/ 275077 h 1341930"/>
              <a:gd name="connsiteX0-109" fmla="*/ 0 w 2083245"/>
              <a:gd name="connsiteY0-110" fmla="*/ 1089993 h 1090078"/>
              <a:gd name="connsiteX1-111" fmla="*/ 2083245 w 2083245"/>
              <a:gd name="connsiteY1-112" fmla="*/ 23193 h 1090078"/>
              <a:gd name="connsiteX0-113" fmla="*/ 0 w 2083245"/>
              <a:gd name="connsiteY0-114" fmla="*/ 1098866 h 1098866"/>
              <a:gd name="connsiteX1-115" fmla="*/ 2083245 w 2083245"/>
              <a:gd name="connsiteY1-116" fmla="*/ 32066 h 1098866"/>
              <a:gd name="connsiteX0-117" fmla="*/ 0 w 2200085"/>
              <a:gd name="connsiteY0-118" fmla="*/ 1158069 h 1158069"/>
              <a:gd name="connsiteX1-119" fmla="*/ 2200085 w 2200085"/>
              <a:gd name="connsiteY1-120" fmla="*/ 30309 h 1158069"/>
              <a:gd name="connsiteX0-121" fmla="*/ 0 w 2200085"/>
              <a:gd name="connsiteY0-122" fmla="*/ 1157543 h 1157543"/>
              <a:gd name="connsiteX1-123" fmla="*/ 2200085 w 2200085"/>
              <a:gd name="connsiteY1-124" fmla="*/ 29783 h 1157543"/>
              <a:gd name="connsiteX0-125" fmla="*/ 0 w 2454085"/>
              <a:gd name="connsiteY0-126" fmla="*/ 990184 h 990184"/>
              <a:gd name="connsiteX1-127" fmla="*/ 2454085 w 2454085"/>
              <a:gd name="connsiteY1-128" fmla="*/ 35144 h 990184"/>
              <a:gd name="connsiteX0-129" fmla="*/ 0 w 2454085"/>
              <a:gd name="connsiteY0-130" fmla="*/ 976155 h 976155"/>
              <a:gd name="connsiteX1-131" fmla="*/ 2454085 w 2454085"/>
              <a:gd name="connsiteY1-132" fmla="*/ 21115 h 9761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454085" h="976155">
                <a:moveTo>
                  <a:pt x="0" y="976155"/>
                </a:moveTo>
                <a:cubicBezTo>
                  <a:pt x="373388" y="597161"/>
                  <a:pt x="1156137" y="-133291"/>
                  <a:pt x="2454085" y="21115"/>
                </a:cubicBezTo>
              </a:path>
            </a:pathLst>
          </a:custGeom>
          <a:ln w="76200">
            <a:solidFill>
              <a:srgbClr val="C00000">
                <a:alpha val="4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任意多边形 33"/>
          <p:cNvSpPr/>
          <p:nvPr/>
        </p:nvSpPr>
        <p:spPr bwMode="gray">
          <a:xfrm flipV="1">
            <a:off x="1118428" y="3134089"/>
            <a:ext cx="2058329" cy="1188267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-1" fmla="*/ 0 w 3287214"/>
              <a:gd name="connsiteY0-2" fmla="*/ 0 h 1669002"/>
              <a:gd name="connsiteX1-3" fmla="*/ 2938508 w 3287214"/>
              <a:gd name="connsiteY1-4" fmla="*/ 26633 h 1669002"/>
              <a:gd name="connsiteX2-5" fmla="*/ 3204838 w 3287214"/>
              <a:gd name="connsiteY2-6" fmla="*/ 1669002 h 1669002"/>
              <a:gd name="connsiteX0-7" fmla="*/ 0 w 3310312"/>
              <a:gd name="connsiteY0-8" fmla="*/ 102151 h 1771153"/>
              <a:gd name="connsiteX1-9" fmla="*/ 2938508 w 3310312"/>
              <a:gd name="connsiteY1-10" fmla="*/ 128784 h 1771153"/>
              <a:gd name="connsiteX2-11" fmla="*/ 3204838 w 3310312"/>
              <a:gd name="connsiteY2-12" fmla="*/ 1771153 h 1771153"/>
              <a:gd name="connsiteX0-13" fmla="*/ 0 w 3268527"/>
              <a:gd name="connsiteY0-14" fmla="*/ 449497 h 2118499"/>
              <a:gd name="connsiteX1-15" fmla="*/ 2823098 w 3268527"/>
              <a:gd name="connsiteY1-16" fmla="*/ 67757 h 2118499"/>
              <a:gd name="connsiteX2-17" fmla="*/ 3204838 w 3268527"/>
              <a:gd name="connsiteY2-18" fmla="*/ 2118499 h 2118499"/>
              <a:gd name="connsiteX0-19" fmla="*/ 0 w 3245185"/>
              <a:gd name="connsiteY0-20" fmla="*/ 400710 h 2069712"/>
              <a:gd name="connsiteX1-21" fmla="*/ 2716566 w 3245185"/>
              <a:gd name="connsiteY1-22" fmla="*/ 72236 h 2069712"/>
              <a:gd name="connsiteX2-23" fmla="*/ 3204838 w 3245185"/>
              <a:gd name="connsiteY2-24" fmla="*/ 2069712 h 2069712"/>
              <a:gd name="connsiteX0-25" fmla="*/ 0 w 3207623"/>
              <a:gd name="connsiteY0-26" fmla="*/ 408402 h 2201692"/>
              <a:gd name="connsiteX1-27" fmla="*/ 2716566 w 3207623"/>
              <a:gd name="connsiteY1-28" fmla="*/ 79928 h 2201692"/>
              <a:gd name="connsiteX2-29" fmla="*/ 3160450 w 3207623"/>
              <a:gd name="connsiteY2-30" fmla="*/ 2201692 h 2201692"/>
              <a:gd name="connsiteX0-31" fmla="*/ 0 w 3180591"/>
              <a:gd name="connsiteY0-32" fmla="*/ 408402 h 2201692"/>
              <a:gd name="connsiteX1-33" fmla="*/ 2716566 w 3180591"/>
              <a:gd name="connsiteY1-34" fmla="*/ 79928 h 2201692"/>
              <a:gd name="connsiteX2-35" fmla="*/ 3160450 w 3180591"/>
              <a:gd name="connsiteY2-36" fmla="*/ 2201692 h 2201692"/>
              <a:gd name="connsiteX0-37" fmla="*/ 0 w 3598264"/>
              <a:gd name="connsiteY0-38" fmla="*/ 412296 h 2267729"/>
              <a:gd name="connsiteX1-39" fmla="*/ 2716566 w 3598264"/>
              <a:gd name="connsiteY1-40" fmla="*/ 83822 h 2267729"/>
              <a:gd name="connsiteX2-41" fmla="*/ 3595456 w 3598264"/>
              <a:gd name="connsiteY2-42" fmla="*/ 2267729 h 2267729"/>
              <a:gd name="connsiteX0-43" fmla="*/ 0 w 3621154"/>
              <a:gd name="connsiteY0-44" fmla="*/ 62433 h 1917866"/>
              <a:gd name="connsiteX1-45" fmla="*/ 3116061 w 3621154"/>
              <a:gd name="connsiteY1-46" fmla="*/ 168965 h 1917866"/>
              <a:gd name="connsiteX2-47" fmla="*/ 3595456 w 3621154"/>
              <a:gd name="connsiteY2-48" fmla="*/ 1917866 h 1917866"/>
              <a:gd name="connsiteX0-49" fmla="*/ 0 w 3666945"/>
              <a:gd name="connsiteY0-50" fmla="*/ 0 h 2121763"/>
              <a:gd name="connsiteX1-51" fmla="*/ 3160450 w 3666945"/>
              <a:gd name="connsiteY1-52" fmla="*/ 372862 h 2121763"/>
              <a:gd name="connsiteX2-53" fmla="*/ 3639845 w 3666945"/>
              <a:gd name="connsiteY2-54" fmla="*/ 2121763 h 2121763"/>
              <a:gd name="connsiteX0-55" fmla="*/ 0 w 3666945"/>
              <a:gd name="connsiteY0-56" fmla="*/ 40339 h 2162102"/>
              <a:gd name="connsiteX1-57" fmla="*/ 3160450 w 3666945"/>
              <a:gd name="connsiteY1-58" fmla="*/ 413201 h 2162102"/>
              <a:gd name="connsiteX2-59" fmla="*/ 3639845 w 3666945"/>
              <a:gd name="connsiteY2-60" fmla="*/ 2162102 h 2162102"/>
              <a:gd name="connsiteX0-61" fmla="*/ 0 w 3666945"/>
              <a:gd name="connsiteY0-62" fmla="*/ 47544 h 2116041"/>
              <a:gd name="connsiteX1-63" fmla="*/ 3160450 w 3666945"/>
              <a:gd name="connsiteY1-64" fmla="*/ 367140 h 2116041"/>
              <a:gd name="connsiteX2-65" fmla="*/ 3639845 w 3666945"/>
              <a:gd name="connsiteY2-66" fmla="*/ 2116041 h 2116041"/>
              <a:gd name="connsiteX0-67" fmla="*/ 0 w 3666945"/>
              <a:gd name="connsiteY0-68" fmla="*/ 86260 h 2154757"/>
              <a:gd name="connsiteX1-69" fmla="*/ 3160450 w 3666945"/>
              <a:gd name="connsiteY1-70" fmla="*/ 405856 h 2154757"/>
              <a:gd name="connsiteX2-71" fmla="*/ 3639845 w 3666945"/>
              <a:gd name="connsiteY2-72" fmla="*/ 2154757 h 2154757"/>
              <a:gd name="connsiteX0-73" fmla="*/ 0 w 3639845"/>
              <a:gd name="connsiteY0-74" fmla="*/ 0 h 2068497"/>
              <a:gd name="connsiteX1-75" fmla="*/ 3639845 w 3639845"/>
              <a:gd name="connsiteY1-76" fmla="*/ 2068497 h 2068497"/>
              <a:gd name="connsiteX0-77" fmla="*/ 0 w 3650005"/>
              <a:gd name="connsiteY0-78" fmla="*/ 0 h 1971977"/>
              <a:gd name="connsiteX1-79" fmla="*/ 3650005 w 3650005"/>
              <a:gd name="connsiteY1-80" fmla="*/ 1971977 h 1971977"/>
              <a:gd name="connsiteX0-81" fmla="*/ 0 w 3650005"/>
              <a:gd name="connsiteY0-82" fmla="*/ 0 h 1971977"/>
              <a:gd name="connsiteX1-83" fmla="*/ 3650005 w 3650005"/>
              <a:gd name="connsiteY1-84" fmla="*/ 1971977 h 1971977"/>
              <a:gd name="connsiteX0-85" fmla="*/ 0 w 3678831"/>
              <a:gd name="connsiteY0-86" fmla="*/ 0 h 1971977"/>
              <a:gd name="connsiteX1-87" fmla="*/ 3650005 w 3678831"/>
              <a:gd name="connsiteY1-88" fmla="*/ 1971977 h 1971977"/>
              <a:gd name="connsiteX0-89" fmla="*/ 0 w 3391741"/>
              <a:gd name="connsiteY0-90" fmla="*/ 0 h 1977057"/>
              <a:gd name="connsiteX1-91" fmla="*/ 3294405 w 3391741"/>
              <a:gd name="connsiteY1-92" fmla="*/ 1977057 h 1977057"/>
              <a:gd name="connsiteX0-93" fmla="*/ 0 w 3389485"/>
              <a:gd name="connsiteY0-94" fmla="*/ 0 h 1977057"/>
              <a:gd name="connsiteX1-95" fmla="*/ 3294405 w 3389485"/>
              <a:gd name="connsiteY1-96" fmla="*/ 1977057 h 1977057"/>
              <a:gd name="connsiteX0-97" fmla="*/ 0 w 3393324"/>
              <a:gd name="connsiteY0-98" fmla="*/ 0 h 1916097"/>
              <a:gd name="connsiteX1-99" fmla="*/ 3299485 w 3393324"/>
              <a:gd name="connsiteY1-100" fmla="*/ 1916097 h 1916097"/>
              <a:gd name="connsiteX0-101" fmla="*/ 0 w 3299485"/>
              <a:gd name="connsiteY0-102" fmla="*/ 0 h 1916097"/>
              <a:gd name="connsiteX1-103" fmla="*/ 3299485 w 3299485"/>
              <a:gd name="connsiteY1-104" fmla="*/ 1916097 h 1916097"/>
              <a:gd name="connsiteX0-105" fmla="*/ 0 w 2088762"/>
              <a:gd name="connsiteY0-106" fmla="*/ 1341877 h 1341930"/>
              <a:gd name="connsiteX1-107" fmla="*/ 2083245 w 2088762"/>
              <a:gd name="connsiteY1-108" fmla="*/ 275077 h 1341930"/>
              <a:gd name="connsiteX0-109" fmla="*/ 0 w 2083245"/>
              <a:gd name="connsiteY0-110" fmla="*/ 1089993 h 1090078"/>
              <a:gd name="connsiteX1-111" fmla="*/ 2083245 w 2083245"/>
              <a:gd name="connsiteY1-112" fmla="*/ 23193 h 1090078"/>
              <a:gd name="connsiteX0-113" fmla="*/ 0 w 2083245"/>
              <a:gd name="connsiteY0-114" fmla="*/ 1098866 h 1098866"/>
              <a:gd name="connsiteX1-115" fmla="*/ 2083245 w 2083245"/>
              <a:gd name="connsiteY1-116" fmla="*/ 32066 h 1098866"/>
              <a:gd name="connsiteX0-117" fmla="*/ 0 w 2200085"/>
              <a:gd name="connsiteY0-118" fmla="*/ 1158069 h 1158069"/>
              <a:gd name="connsiteX1-119" fmla="*/ 2200085 w 2200085"/>
              <a:gd name="connsiteY1-120" fmla="*/ 30309 h 1158069"/>
              <a:gd name="connsiteX0-121" fmla="*/ 0 w 2200085"/>
              <a:gd name="connsiteY0-122" fmla="*/ 1157543 h 1157543"/>
              <a:gd name="connsiteX1-123" fmla="*/ 2200085 w 2200085"/>
              <a:gd name="connsiteY1-124" fmla="*/ 29783 h 1157543"/>
              <a:gd name="connsiteX0-125" fmla="*/ 0 w 2454085"/>
              <a:gd name="connsiteY0-126" fmla="*/ 990184 h 990184"/>
              <a:gd name="connsiteX1-127" fmla="*/ 2454085 w 2454085"/>
              <a:gd name="connsiteY1-128" fmla="*/ 35144 h 990184"/>
              <a:gd name="connsiteX0-129" fmla="*/ 0 w 2454085"/>
              <a:gd name="connsiteY0-130" fmla="*/ 976155 h 976155"/>
              <a:gd name="connsiteX1-131" fmla="*/ 2454085 w 2454085"/>
              <a:gd name="connsiteY1-132" fmla="*/ 21115 h 976155"/>
              <a:gd name="connsiteX0-133" fmla="*/ 0 w 2459165"/>
              <a:gd name="connsiteY0-134" fmla="*/ 65262 h 1229434"/>
              <a:gd name="connsiteX1-135" fmla="*/ 2459165 w 2459165"/>
              <a:gd name="connsiteY1-136" fmla="*/ 1229434 h 1229434"/>
              <a:gd name="connsiteX0-137" fmla="*/ 0 w 2459165"/>
              <a:gd name="connsiteY0-138" fmla="*/ 726671 h 1890843"/>
              <a:gd name="connsiteX1-139" fmla="*/ 2459165 w 2459165"/>
              <a:gd name="connsiteY1-140" fmla="*/ 1890843 h 1890843"/>
              <a:gd name="connsiteX0-141" fmla="*/ 0 w 2322005"/>
              <a:gd name="connsiteY0-142" fmla="*/ 694539 h 1918830"/>
              <a:gd name="connsiteX1-143" fmla="*/ 2322005 w 2322005"/>
              <a:gd name="connsiteY1-144" fmla="*/ 1918831 h 1918830"/>
              <a:gd name="connsiteX0-145" fmla="*/ 0 w 2464245"/>
              <a:gd name="connsiteY0-146" fmla="*/ 686619 h 1925941"/>
              <a:gd name="connsiteX1-147" fmla="*/ 2464245 w 2464245"/>
              <a:gd name="connsiteY1-148" fmla="*/ 1925941 h 1925941"/>
              <a:gd name="connsiteX0-149" fmla="*/ 0 w 2403032"/>
              <a:gd name="connsiteY0-150" fmla="*/ 706503 h 1908250"/>
              <a:gd name="connsiteX1-151" fmla="*/ 2403032 w 2403032"/>
              <a:gd name="connsiteY1-152" fmla="*/ 1908250 h 1908250"/>
              <a:gd name="connsiteX0-153" fmla="*/ 0 w 2403032"/>
              <a:gd name="connsiteY0-154" fmla="*/ 556078 h 1757825"/>
              <a:gd name="connsiteX1-155" fmla="*/ 2403032 w 2403032"/>
              <a:gd name="connsiteY1-156" fmla="*/ 1757825 h 17578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403032" h="1757825">
                <a:moveTo>
                  <a:pt x="0" y="556078"/>
                </a:moveTo>
                <a:cubicBezTo>
                  <a:pt x="373388" y="177084"/>
                  <a:pt x="532900" y="-947903"/>
                  <a:pt x="2403032" y="1757825"/>
                </a:cubicBezTo>
              </a:path>
            </a:pathLst>
          </a:custGeom>
          <a:ln w="76200">
            <a:solidFill>
              <a:srgbClr val="C00000">
                <a:alpha val="4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任意多边形 34"/>
          <p:cNvSpPr/>
          <p:nvPr/>
        </p:nvSpPr>
        <p:spPr bwMode="gray">
          <a:xfrm>
            <a:off x="3852390" y="2778037"/>
            <a:ext cx="1982060" cy="1035685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-1" fmla="*/ 0 w 3287214"/>
              <a:gd name="connsiteY0-2" fmla="*/ 0 h 1669002"/>
              <a:gd name="connsiteX1-3" fmla="*/ 2938508 w 3287214"/>
              <a:gd name="connsiteY1-4" fmla="*/ 26633 h 1669002"/>
              <a:gd name="connsiteX2-5" fmla="*/ 3204838 w 3287214"/>
              <a:gd name="connsiteY2-6" fmla="*/ 1669002 h 1669002"/>
              <a:gd name="connsiteX0-7" fmla="*/ 0 w 3310312"/>
              <a:gd name="connsiteY0-8" fmla="*/ 102151 h 1771153"/>
              <a:gd name="connsiteX1-9" fmla="*/ 2938508 w 3310312"/>
              <a:gd name="connsiteY1-10" fmla="*/ 128784 h 1771153"/>
              <a:gd name="connsiteX2-11" fmla="*/ 3204838 w 3310312"/>
              <a:gd name="connsiteY2-12" fmla="*/ 1771153 h 1771153"/>
              <a:gd name="connsiteX0-13" fmla="*/ 0 w 3268527"/>
              <a:gd name="connsiteY0-14" fmla="*/ 449497 h 2118499"/>
              <a:gd name="connsiteX1-15" fmla="*/ 2823098 w 3268527"/>
              <a:gd name="connsiteY1-16" fmla="*/ 67757 h 2118499"/>
              <a:gd name="connsiteX2-17" fmla="*/ 3204838 w 3268527"/>
              <a:gd name="connsiteY2-18" fmla="*/ 2118499 h 2118499"/>
              <a:gd name="connsiteX0-19" fmla="*/ 0 w 3245185"/>
              <a:gd name="connsiteY0-20" fmla="*/ 400710 h 2069712"/>
              <a:gd name="connsiteX1-21" fmla="*/ 2716566 w 3245185"/>
              <a:gd name="connsiteY1-22" fmla="*/ 72236 h 2069712"/>
              <a:gd name="connsiteX2-23" fmla="*/ 3204838 w 3245185"/>
              <a:gd name="connsiteY2-24" fmla="*/ 2069712 h 2069712"/>
              <a:gd name="connsiteX0-25" fmla="*/ 0 w 3207623"/>
              <a:gd name="connsiteY0-26" fmla="*/ 408402 h 2201692"/>
              <a:gd name="connsiteX1-27" fmla="*/ 2716566 w 3207623"/>
              <a:gd name="connsiteY1-28" fmla="*/ 79928 h 2201692"/>
              <a:gd name="connsiteX2-29" fmla="*/ 3160450 w 3207623"/>
              <a:gd name="connsiteY2-30" fmla="*/ 2201692 h 2201692"/>
              <a:gd name="connsiteX0-31" fmla="*/ 0 w 3180591"/>
              <a:gd name="connsiteY0-32" fmla="*/ 408402 h 2201692"/>
              <a:gd name="connsiteX1-33" fmla="*/ 2716566 w 3180591"/>
              <a:gd name="connsiteY1-34" fmla="*/ 79928 h 2201692"/>
              <a:gd name="connsiteX2-35" fmla="*/ 3160450 w 3180591"/>
              <a:gd name="connsiteY2-36" fmla="*/ 2201692 h 2201692"/>
              <a:gd name="connsiteX0-37" fmla="*/ 0 w 3598264"/>
              <a:gd name="connsiteY0-38" fmla="*/ 412296 h 2267729"/>
              <a:gd name="connsiteX1-39" fmla="*/ 2716566 w 3598264"/>
              <a:gd name="connsiteY1-40" fmla="*/ 83822 h 2267729"/>
              <a:gd name="connsiteX2-41" fmla="*/ 3595456 w 3598264"/>
              <a:gd name="connsiteY2-42" fmla="*/ 2267729 h 2267729"/>
              <a:gd name="connsiteX0-43" fmla="*/ 0 w 3621154"/>
              <a:gd name="connsiteY0-44" fmla="*/ 62433 h 1917866"/>
              <a:gd name="connsiteX1-45" fmla="*/ 3116061 w 3621154"/>
              <a:gd name="connsiteY1-46" fmla="*/ 168965 h 1917866"/>
              <a:gd name="connsiteX2-47" fmla="*/ 3595456 w 3621154"/>
              <a:gd name="connsiteY2-48" fmla="*/ 1917866 h 1917866"/>
              <a:gd name="connsiteX0-49" fmla="*/ 0 w 3666945"/>
              <a:gd name="connsiteY0-50" fmla="*/ 0 h 2121763"/>
              <a:gd name="connsiteX1-51" fmla="*/ 3160450 w 3666945"/>
              <a:gd name="connsiteY1-52" fmla="*/ 372862 h 2121763"/>
              <a:gd name="connsiteX2-53" fmla="*/ 3639845 w 3666945"/>
              <a:gd name="connsiteY2-54" fmla="*/ 2121763 h 2121763"/>
              <a:gd name="connsiteX0-55" fmla="*/ 0 w 3666945"/>
              <a:gd name="connsiteY0-56" fmla="*/ 40339 h 2162102"/>
              <a:gd name="connsiteX1-57" fmla="*/ 3160450 w 3666945"/>
              <a:gd name="connsiteY1-58" fmla="*/ 413201 h 2162102"/>
              <a:gd name="connsiteX2-59" fmla="*/ 3639845 w 3666945"/>
              <a:gd name="connsiteY2-60" fmla="*/ 2162102 h 2162102"/>
              <a:gd name="connsiteX0-61" fmla="*/ 0 w 3666945"/>
              <a:gd name="connsiteY0-62" fmla="*/ 47544 h 2116041"/>
              <a:gd name="connsiteX1-63" fmla="*/ 3160450 w 3666945"/>
              <a:gd name="connsiteY1-64" fmla="*/ 367140 h 2116041"/>
              <a:gd name="connsiteX2-65" fmla="*/ 3639845 w 3666945"/>
              <a:gd name="connsiteY2-66" fmla="*/ 2116041 h 2116041"/>
              <a:gd name="connsiteX0-67" fmla="*/ 0 w 3666945"/>
              <a:gd name="connsiteY0-68" fmla="*/ 86260 h 2154757"/>
              <a:gd name="connsiteX1-69" fmla="*/ 3160450 w 3666945"/>
              <a:gd name="connsiteY1-70" fmla="*/ 405856 h 2154757"/>
              <a:gd name="connsiteX2-71" fmla="*/ 3639845 w 3666945"/>
              <a:gd name="connsiteY2-72" fmla="*/ 2154757 h 2154757"/>
              <a:gd name="connsiteX0-73" fmla="*/ 0 w 3639845"/>
              <a:gd name="connsiteY0-74" fmla="*/ 0 h 2068497"/>
              <a:gd name="connsiteX1-75" fmla="*/ 3639845 w 3639845"/>
              <a:gd name="connsiteY1-76" fmla="*/ 2068497 h 2068497"/>
              <a:gd name="connsiteX0-77" fmla="*/ 0 w 3650005"/>
              <a:gd name="connsiteY0-78" fmla="*/ 0 h 1971977"/>
              <a:gd name="connsiteX1-79" fmla="*/ 3650005 w 3650005"/>
              <a:gd name="connsiteY1-80" fmla="*/ 1971977 h 1971977"/>
              <a:gd name="connsiteX0-81" fmla="*/ 0 w 3650005"/>
              <a:gd name="connsiteY0-82" fmla="*/ 0 h 1971977"/>
              <a:gd name="connsiteX1-83" fmla="*/ 3650005 w 3650005"/>
              <a:gd name="connsiteY1-84" fmla="*/ 1971977 h 1971977"/>
              <a:gd name="connsiteX0-85" fmla="*/ 0 w 3678831"/>
              <a:gd name="connsiteY0-86" fmla="*/ 0 h 1971977"/>
              <a:gd name="connsiteX1-87" fmla="*/ 3650005 w 3678831"/>
              <a:gd name="connsiteY1-88" fmla="*/ 1971977 h 1971977"/>
              <a:gd name="connsiteX0-89" fmla="*/ 0 w 3391741"/>
              <a:gd name="connsiteY0-90" fmla="*/ 0 h 1977057"/>
              <a:gd name="connsiteX1-91" fmla="*/ 3294405 w 3391741"/>
              <a:gd name="connsiteY1-92" fmla="*/ 1977057 h 1977057"/>
              <a:gd name="connsiteX0-93" fmla="*/ 0 w 3389485"/>
              <a:gd name="connsiteY0-94" fmla="*/ 0 h 1977057"/>
              <a:gd name="connsiteX1-95" fmla="*/ 3294405 w 3389485"/>
              <a:gd name="connsiteY1-96" fmla="*/ 1977057 h 1977057"/>
              <a:gd name="connsiteX0-97" fmla="*/ 0 w 3393324"/>
              <a:gd name="connsiteY0-98" fmla="*/ 0 h 1916097"/>
              <a:gd name="connsiteX1-99" fmla="*/ 3299485 w 3393324"/>
              <a:gd name="connsiteY1-100" fmla="*/ 1916097 h 1916097"/>
              <a:gd name="connsiteX0-101" fmla="*/ 0 w 3299485"/>
              <a:gd name="connsiteY0-102" fmla="*/ 0 h 1916097"/>
              <a:gd name="connsiteX1-103" fmla="*/ 3299485 w 3299485"/>
              <a:gd name="connsiteY1-104" fmla="*/ 1916097 h 1916097"/>
              <a:gd name="connsiteX0-105" fmla="*/ 0 w 2088762"/>
              <a:gd name="connsiteY0-106" fmla="*/ 1341877 h 1341930"/>
              <a:gd name="connsiteX1-107" fmla="*/ 2083245 w 2088762"/>
              <a:gd name="connsiteY1-108" fmla="*/ 275077 h 1341930"/>
              <a:gd name="connsiteX0-109" fmla="*/ 0 w 2083245"/>
              <a:gd name="connsiteY0-110" fmla="*/ 1089993 h 1090078"/>
              <a:gd name="connsiteX1-111" fmla="*/ 2083245 w 2083245"/>
              <a:gd name="connsiteY1-112" fmla="*/ 23193 h 1090078"/>
              <a:gd name="connsiteX0-113" fmla="*/ 0 w 2083245"/>
              <a:gd name="connsiteY0-114" fmla="*/ 1098866 h 1098866"/>
              <a:gd name="connsiteX1-115" fmla="*/ 2083245 w 2083245"/>
              <a:gd name="connsiteY1-116" fmla="*/ 32066 h 1098866"/>
              <a:gd name="connsiteX0-117" fmla="*/ 0 w 2200085"/>
              <a:gd name="connsiteY0-118" fmla="*/ 1158069 h 1158069"/>
              <a:gd name="connsiteX1-119" fmla="*/ 2200085 w 2200085"/>
              <a:gd name="connsiteY1-120" fmla="*/ 30309 h 1158069"/>
              <a:gd name="connsiteX0-121" fmla="*/ 0 w 2200085"/>
              <a:gd name="connsiteY0-122" fmla="*/ 1157543 h 1157543"/>
              <a:gd name="connsiteX1-123" fmla="*/ 2200085 w 2200085"/>
              <a:gd name="connsiteY1-124" fmla="*/ 29783 h 1157543"/>
              <a:gd name="connsiteX0-125" fmla="*/ 0 w 2454085"/>
              <a:gd name="connsiteY0-126" fmla="*/ 990184 h 990184"/>
              <a:gd name="connsiteX1-127" fmla="*/ 2454085 w 2454085"/>
              <a:gd name="connsiteY1-128" fmla="*/ 35144 h 990184"/>
              <a:gd name="connsiteX0-129" fmla="*/ 0 w 2454085"/>
              <a:gd name="connsiteY0-130" fmla="*/ 976155 h 976155"/>
              <a:gd name="connsiteX1-131" fmla="*/ 2454085 w 2454085"/>
              <a:gd name="connsiteY1-132" fmla="*/ 21115 h 976155"/>
              <a:gd name="connsiteX0-133" fmla="*/ 0 w 1927035"/>
              <a:gd name="connsiteY0-134" fmla="*/ 230395 h 230395"/>
              <a:gd name="connsiteX1-135" fmla="*/ 1927035 w 1927035"/>
              <a:gd name="connsiteY1-136" fmla="*/ 173880 h 230395"/>
              <a:gd name="connsiteX0-137" fmla="*/ 0 w 2165160"/>
              <a:gd name="connsiteY0-138" fmla="*/ 75406 h 1015841"/>
              <a:gd name="connsiteX1-139" fmla="*/ 2165160 w 2165160"/>
              <a:gd name="connsiteY1-140" fmla="*/ 1015841 h 1015841"/>
              <a:gd name="connsiteX0-141" fmla="*/ 0 w 2165160"/>
              <a:gd name="connsiteY0-142" fmla="*/ 117592 h 1058027"/>
              <a:gd name="connsiteX1-143" fmla="*/ 2165160 w 2165160"/>
              <a:gd name="connsiteY1-144" fmla="*/ 1058027 h 1058027"/>
              <a:gd name="connsiteX0-145" fmla="*/ 0 w 2165160"/>
              <a:gd name="connsiteY0-146" fmla="*/ 356 h 940791"/>
              <a:gd name="connsiteX1-147" fmla="*/ 2165160 w 2165160"/>
              <a:gd name="connsiteY1-148" fmla="*/ 940791 h 940791"/>
              <a:gd name="connsiteX0-149" fmla="*/ 0 w 2152460"/>
              <a:gd name="connsiteY0-150" fmla="*/ 256 h 1035941"/>
              <a:gd name="connsiteX1-151" fmla="*/ 2152460 w 2152460"/>
              <a:gd name="connsiteY1-152" fmla="*/ 1035941 h 1035941"/>
              <a:gd name="connsiteX0-153" fmla="*/ 0 w 2152460"/>
              <a:gd name="connsiteY0-154" fmla="*/ 0 h 1035685"/>
              <a:gd name="connsiteX1-155" fmla="*/ 2152460 w 2152460"/>
              <a:gd name="connsiteY1-156" fmla="*/ 1035685 h 1035685"/>
              <a:gd name="connsiteX0-157" fmla="*/ 0 w 2152460"/>
              <a:gd name="connsiteY0-158" fmla="*/ 0 h 1035685"/>
              <a:gd name="connsiteX1-159" fmla="*/ 2152460 w 2152460"/>
              <a:gd name="connsiteY1-160" fmla="*/ 1035685 h 10356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152460" h="1035685">
                <a:moveTo>
                  <a:pt x="0" y="0"/>
                </a:moveTo>
                <a:cubicBezTo>
                  <a:pt x="1226228" y="40105"/>
                  <a:pt x="1533962" y="312954"/>
                  <a:pt x="2152460" y="1035685"/>
                </a:cubicBezTo>
              </a:path>
            </a:pathLst>
          </a:custGeom>
          <a:ln w="76200">
            <a:solidFill>
              <a:srgbClr val="C00000">
                <a:alpha val="4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椭圆 35"/>
          <p:cNvSpPr>
            <a:spLocks noChangeAspect="1"/>
          </p:cNvSpPr>
          <p:nvPr/>
        </p:nvSpPr>
        <p:spPr bwMode="gray">
          <a:xfrm>
            <a:off x="1607123" y="4221248"/>
            <a:ext cx="232480" cy="23248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椭圆 36"/>
          <p:cNvSpPr>
            <a:spLocks noChangeAspect="1"/>
          </p:cNvSpPr>
          <p:nvPr/>
        </p:nvSpPr>
        <p:spPr bwMode="gray">
          <a:xfrm>
            <a:off x="1428209" y="3349774"/>
            <a:ext cx="232480" cy="23248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椭圆 40"/>
          <p:cNvSpPr>
            <a:spLocks noChangeAspect="1"/>
          </p:cNvSpPr>
          <p:nvPr/>
        </p:nvSpPr>
        <p:spPr bwMode="gray">
          <a:xfrm>
            <a:off x="4020666" y="2632658"/>
            <a:ext cx="232480" cy="23248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3298144" y="2036575"/>
            <a:ext cx="5405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</a:t>
            </a:r>
            <a:endParaRPr lang="zh-CN" altLang="en-US" sz="16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矩形 44"/>
          <p:cNvSpPr/>
          <p:nvPr/>
        </p:nvSpPr>
        <p:spPr bwMode="gray">
          <a:xfrm>
            <a:off x="3768953" y="3162372"/>
            <a:ext cx="65915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92D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1046</a:t>
            </a:r>
            <a:endParaRPr lang="zh-CN" altLang="en-US" sz="1600" b="1">
              <a:solidFill>
                <a:srgbClr val="92D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5" name="直接箭头连接符 24"/>
          <p:cNvCxnSpPr/>
          <p:nvPr/>
        </p:nvCxnSpPr>
        <p:spPr bwMode="gray">
          <a:xfrm>
            <a:off x="3872282" y="3171920"/>
            <a:ext cx="823337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 bwMode="gray">
          <a:xfrm>
            <a:off x="5831617" y="4365773"/>
            <a:ext cx="5405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800</a:t>
            </a:r>
            <a:endParaRPr lang="zh-CN" altLang="en-US" sz="16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椭圆 46"/>
          <p:cNvSpPr>
            <a:spLocks noChangeAspect="1"/>
          </p:cNvSpPr>
          <p:nvPr/>
        </p:nvSpPr>
        <p:spPr bwMode="gray">
          <a:xfrm>
            <a:off x="5454129" y="3394163"/>
            <a:ext cx="232480" cy="23248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3345731" y="2353285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4843420" y="2353285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5899605" y="4117450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R8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489620" y="4114318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 bwMode="gray">
          <a:xfrm>
            <a:off x="1522412" y="2353285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 bwMode="gray">
          <a:xfrm>
            <a:off x="1522412" y="5021596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3344439" y="5021596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 bwMode="gray">
          <a:xfrm>
            <a:off x="4843420" y="5021596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R7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文本框 55"/>
          <p:cNvSpPr txBox="1"/>
          <p:nvPr/>
        </p:nvSpPr>
        <p:spPr bwMode="gray">
          <a:xfrm>
            <a:off x="3770531" y="2911132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GE0/0/2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基本概念：源路由</a:t>
            </a:r>
            <a:endParaRPr lang="zh-CN" altLang="en-US">
              <a:sym typeface="Huawei Sans" panose="020C0503030203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gray">
          <a:xfrm rot="10800000">
            <a:off x="5112552" y="2947270"/>
            <a:ext cx="1032830" cy="1941018"/>
            <a:chOff x="4518703" y="2205748"/>
            <a:chExt cx="1512166" cy="2521312"/>
          </a:xfrm>
        </p:grpSpPr>
        <p:cxnSp>
          <p:nvCxnSpPr>
            <p:cNvPr id="4" name="直接连接符 3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</p:cxnSp>
        <p:cxnSp>
          <p:nvCxnSpPr>
            <p:cNvPr id="5" name="直接连接符 4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</p:cxnSp>
      </p:grpSp>
      <p:grpSp>
        <p:nvGrpSpPr>
          <p:cNvPr id="6" name="组合 5"/>
          <p:cNvGrpSpPr/>
          <p:nvPr/>
        </p:nvGrpSpPr>
        <p:grpSpPr bwMode="gray">
          <a:xfrm>
            <a:off x="757922" y="2941774"/>
            <a:ext cx="4358915" cy="1954367"/>
            <a:chOff x="1055163" y="3291162"/>
            <a:chExt cx="4358915" cy="1954367"/>
          </a:xfrm>
        </p:grpSpPr>
        <p:cxnSp>
          <p:nvCxnSpPr>
            <p:cNvPr id="7" name="直接连接符 6"/>
            <p:cNvCxnSpPr/>
            <p:nvPr/>
          </p:nvCxnSpPr>
          <p:spPr bwMode="gray">
            <a:xfrm flipH="1">
              <a:off x="2119315" y="3304511"/>
              <a:ext cx="1760319" cy="1933167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 bwMode="gray">
            <a:xfrm flipH="1" flipV="1">
              <a:off x="2117370" y="3291162"/>
              <a:ext cx="1748548" cy="1954367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/>
            <p:cNvGrpSpPr/>
            <p:nvPr/>
          </p:nvGrpSpPr>
          <p:grpSpPr bwMode="gray">
            <a:xfrm>
              <a:off x="1055163" y="3296658"/>
              <a:ext cx="1032830" cy="1941018"/>
              <a:chOff x="4518703" y="2205748"/>
              <a:chExt cx="1512166" cy="2521312"/>
            </a:xfrm>
          </p:grpSpPr>
          <p:cxnSp>
            <p:nvCxnSpPr>
              <p:cNvPr id="12" name="直接连接符 11"/>
              <p:cNvCxnSpPr/>
              <p:nvPr/>
            </p:nvCxnSpPr>
            <p:spPr bwMode="gray">
              <a:xfrm rot="16200000" flipH="1">
                <a:off x="4644458" y="3340649"/>
                <a:ext cx="1260656" cy="1512166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 bwMode="gray">
              <a:xfrm rot="16200000">
                <a:off x="4644458" y="2079993"/>
                <a:ext cx="1260656" cy="1512166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直接连接符 9"/>
            <p:cNvCxnSpPr/>
            <p:nvPr/>
          </p:nvCxnSpPr>
          <p:spPr bwMode="gray">
            <a:xfrm flipH="1">
              <a:off x="2101710" y="3296658"/>
              <a:ext cx="3312368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gray">
            <a:xfrm flipH="1">
              <a:off x="2101710" y="5245529"/>
              <a:ext cx="3312368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接连接符 13"/>
          <p:cNvCxnSpPr/>
          <p:nvPr/>
        </p:nvCxnSpPr>
        <p:spPr bwMode="gray">
          <a:xfrm flipV="1">
            <a:off x="3582393" y="2947270"/>
            <a:ext cx="0" cy="1948871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</p:cxnSp>
      <p:pic>
        <p:nvPicPr>
          <p:cNvPr id="15" name="图片 1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0167" y="3668598"/>
            <a:ext cx="540000" cy="442800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94374" y="2719572"/>
            <a:ext cx="540000" cy="442800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94374" y="4617624"/>
            <a:ext cx="540000" cy="442800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320911" y="2719572"/>
            <a:ext cx="540000" cy="442800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320911" y="4617624"/>
            <a:ext cx="540000" cy="442800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812426" y="2719572"/>
            <a:ext cx="540000" cy="442800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812426" y="4617624"/>
            <a:ext cx="540000" cy="442800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64164" y="3668598"/>
            <a:ext cx="540000" cy="442800"/>
          </a:xfrm>
          <a:prstGeom prst="rect">
            <a:avLst/>
          </a:prstGeom>
        </p:spPr>
      </p:pic>
      <p:sp>
        <p:nvSpPr>
          <p:cNvPr id="23" name="任意多边形 22"/>
          <p:cNvSpPr/>
          <p:nvPr/>
        </p:nvSpPr>
        <p:spPr bwMode="gray">
          <a:xfrm>
            <a:off x="1132338" y="2900025"/>
            <a:ext cx="2231260" cy="976155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-1" fmla="*/ 0 w 3287214"/>
              <a:gd name="connsiteY0-2" fmla="*/ 0 h 1669002"/>
              <a:gd name="connsiteX1-3" fmla="*/ 2938508 w 3287214"/>
              <a:gd name="connsiteY1-4" fmla="*/ 26633 h 1669002"/>
              <a:gd name="connsiteX2-5" fmla="*/ 3204838 w 3287214"/>
              <a:gd name="connsiteY2-6" fmla="*/ 1669002 h 1669002"/>
              <a:gd name="connsiteX0-7" fmla="*/ 0 w 3310312"/>
              <a:gd name="connsiteY0-8" fmla="*/ 102151 h 1771153"/>
              <a:gd name="connsiteX1-9" fmla="*/ 2938508 w 3310312"/>
              <a:gd name="connsiteY1-10" fmla="*/ 128784 h 1771153"/>
              <a:gd name="connsiteX2-11" fmla="*/ 3204838 w 3310312"/>
              <a:gd name="connsiteY2-12" fmla="*/ 1771153 h 1771153"/>
              <a:gd name="connsiteX0-13" fmla="*/ 0 w 3268527"/>
              <a:gd name="connsiteY0-14" fmla="*/ 449497 h 2118499"/>
              <a:gd name="connsiteX1-15" fmla="*/ 2823098 w 3268527"/>
              <a:gd name="connsiteY1-16" fmla="*/ 67757 h 2118499"/>
              <a:gd name="connsiteX2-17" fmla="*/ 3204838 w 3268527"/>
              <a:gd name="connsiteY2-18" fmla="*/ 2118499 h 2118499"/>
              <a:gd name="connsiteX0-19" fmla="*/ 0 w 3245185"/>
              <a:gd name="connsiteY0-20" fmla="*/ 400710 h 2069712"/>
              <a:gd name="connsiteX1-21" fmla="*/ 2716566 w 3245185"/>
              <a:gd name="connsiteY1-22" fmla="*/ 72236 h 2069712"/>
              <a:gd name="connsiteX2-23" fmla="*/ 3204838 w 3245185"/>
              <a:gd name="connsiteY2-24" fmla="*/ 2069712 h 2069712"/>
              <a:gd name="connsiteX0-25" fmla="*/ 0 w 3207623"/>
              <a:gd name="connsiteY0-26" fmla="*/ 408402 h 2201692"/>
              <a:gd name="connsiteX1-27" fmla="*/ 2716566 w 3207623"/>
              <a:gd name="connsiteY1-28" fmla="*/ 79928 h 2201692"/>
              <a:gd name="connsiteX2-29" fmla="*/ 3160450 w 3207623"/>
              <a:gd name="connsiteY2-30" fmla="*/ 2201692 h 2201692"/>
              <a:gd name="connsiteX0-31" fmla="*/ 0 w 3180591"/>
              <a:gd name="connsiteY0-32" fmla="*/ 408402 h 2201692"/>
              <a:gd name="connsiteX1-33" fmla="*/ 2716566 w 3180591"/>
              <a:gd name="connsiteY1-34" fmla="*/ 79928 h 2201692"/>
              <a:gd name="connsiteX2-35" fmla="*/ 3160450 w 3180591"/>
              <a:gd name="connsiteY2-36" fmla="*/ 2201692 h 2201692"/>
              <a:gd name="connsiteX0-37" fmla="*/ 0 w 3598264"/>
              <a:gd name="connsiteY0-38" fmla="*/ 412296 h 2267729"/>
              <a:gd name="connsiteX1-39" fmla="*/ 2716566 w 3598264"/>
              <a:gd name="connsiteY1-40" fmla="*/ 83822 h 2267729"/>
              <a:gd name="connsiteX2-41" fmla="*/ 3595456 w 3598264"/>
              <a:gd name="connsiteY2-42" fmla="*/ 2267729 h 2267729"/>
              <a:gd name="connsiteX0-43" fmla="*/ 0 w 3621154"/>
              <a:gd name="connsiteY0-44" fmla="*/ 62433 h 1917866"/>
              <a:gd name="connsiteX1-45" fmla="*/ 3116061 w 3621154"/>
              <a:gd name="connsiteY1-46" fmla="*/ 168965 h 1917866"/>
              <a:gd name="connsiteX2-47" fmla="*/ 3595456 w 3621154"/>
              <a:gd name="connsiteY2-48" fmla="*/ 1917866 h 1917866"/>
              <a:gd name="connsiteX0-49" fmla="*/ 0 w 3666945"/>
              <a:gd name="connsiteY0-50" fmla="*/ 0 h 2121763"/>
              <a:gd name="connsiteX1-51" fmla="*/ 3160450 w 3666945"/>
              <a:gd name="connsiteY1-52" fmla="*/ 372862 h 2121763"/>
              <a:gd name="connsiteX2-53" fmla="*/ 3639845 w 3666945"/>
              <a:gd name="connsiteY2-54" fmla="*/ 2121763 h 2121763"/>
              <a:gd name="connsiteX0-55" fmla="*/ 0 w 3666945"/>
              <a:gd name="connsiteY0-56" fmla="*/ 40339 h 2162102"/>
              <a:gd name="connsiteX1-57" fmla="*/ 3160450 w 3666945"/>
              <a:gd name="connsiteY1-58" fmla="*/ 413201 h 2162102"/>
              <a:gd name="connsiteX2-59" fmla="*/ 3639845 w 3666945"/>
              <a:gd name="connsiteY2-60" fmla="*/ 2162102 h 2162102"/>
              <a:gd name="connsiteX0-61" fmla="*/ 0 w 3666945"/>
              <a:gd name="connsiteY0-62" fmla="*/ 47544 h 2116041"/>
              <a:gd name="connsiteX1-63" fmla="*/ 3160450 w 3666945"/>
              <a:gd name="connsiteY1-64" fmla="*/ 367140 h 2116041"/>
              <a:gd name="connsiteX2-65" fmla="*/ 3639845 w 3666945"/>
              <a:gd name="connsiteY2-66" fmla="*/ 2116041 h 2116041"/>
              <a:gd name="connsiteX0-67" fmla="*/ 0 w 3666945"/>
              <a:gd name="connsiteY0-68" fmla="*/ 86260 h 2154757"/>
              <a:gd name="connsiteX1-69" fmla="*/ 3160450 w 3666945"/>
              <a:gd name="connsiteY1-70" fmla="*/ 405856 h 2154757"/>
              <a:gd name="connsiteX2-71" fmla="*/ 3639845 w 3666945"/>
              <a:gd name="connsiteY2-72" fmla="*/ 2154757 h 2154757"/>
              <a:gd name="connsiteX0-73" fmla="*/ 0 w 3639845"/>
              <a:gd name="connsiteY0-74" fmla="*/ 0 h 2068497"/>
              <a:gd name="connsiteX1-75" fmla="*/ 3639845 w 3639845"/>
              <a:gd name="connsiteY1-76" fmla="*/ 2068497 h 2068497"/>
              <a:gd name="connsiteX0-77" fmla="*/ 0 w 3650005"/>
              <a:gd name="connsiteY0-78" fmla="*/ 0 h 1971977"/>
              <a:gd name="connsiteX1-79" fmla="*/ 3650005 w 3650005"/>
              <a:gd name="connsiteY1-80" fmla="*/ 1971977 h 1971977"/>
              <a:gd name="connsiteX0-81" fmla="*/ 0 w 3650005"/>
              <a:gd name="connsiteY0-82" fmla="*/ 0 h 1971977"/>
              <a:gd name="connsiteX1-83" fmla="*/ 3650005 w 3650005"/>
              <a:gd name="connsiteY1-84" fmla="*/ 1971977 h 1971977"/>
              <a:gd name="connsiteX0-85" fmla="*/ 0 w 3678831"/>
              <a:gd name="connsiteY0-86" fmla="*/ 0 h 1971977"/>
              <a:gd name="connsiteX1-87" fmla="*/ 3650005 w 3678831"/>
              <a:gd name="connsiteY1-88" fmla="*/ 1971977 h 1971977"/>
              <a:gd name="connsiteX0-89" fmla="*/ 0 w 3391741"/>
              <a:gd name="connsiteY0-90" fmla="*/ 0 h 1977057"/>
              <a:gd name="connsiteX1-91" fmla="*/ 3294405 w 3391741"/>
              <a:gd name="connsiteY1-92" fmla="*/ 1977057 h 1977057"/>
              <a:gd name="connsiteX0-93" fmla="*/ 0 w 3389485"/>
              <a:gd name="connsiteY0-94" fmla="*/ 0 h 1977057"/>
              <a:gd name="connsiteX1-95" fmla="*/ 3294405 w 3389485"/>
              <a:gd name="connsiteY1-96" fmla="*/ 1977057 h 1977057"/>
              <a:gd name="connsiteX0-97" fmla="*/ 0 w 3393324"/>
              <a:gd name="connsiteY0-98" fmla="*/ 0 h 1916097"/>
              <a:gd name="connsiteX1-99" fmla="*/ 3299485 w 3393324"/>
              <a:gd name="connsiteY1-100" fmla="*/ 1916097 h 1916097"/>
              <a:gd name="connsiteX0-101" fmla="*/ 0 w 3299485"/>
              <a:gd name="connsiteY0-102" fmla="*/ 0 h 1916097"/>
              <a:gd name="connsiteX1-103" fmla="*/ 3299485 w 3299485"/>
              <a:gd name="connsiteY1-104" fmla="*/ 1916097 h 1916097"/>
              <a:gd name="connsiteX0-105" fmla="*/ 0 w 2088762"/>
              <a:gd name="connsiteY0-106" fmla="*/ 1341877 h 1341930"/>
              <a:gd name="connsiteX1-107" fmla="*/ 2083245 w 2088762"/>
              <a:gd name="connsiteY1-108" fmla="*/ 275077 h 1341930"/>
              <a:gd name="connsiteX0-109" fmla="*/ 0 w 2083245"/>
              <a:gd name="connsiteY0-110" fmla="*/ 1089993 h 1090078"/>
              <a:gd name="connsiteX1-111" fmla="*/ 2083245 w 2083245"/>
              <a:gd name="connsiteY1-112" fmla="*/ 23193 h 1090078"/>
              <a:gd name="connsiteX0-113" fmla="*/ 0 w 2083245"/>
              <a:gd name="connsiteY0-114" fmla="*/ 1098866 h 1098866"/>
              <a:gd name="connsiteX1-115" fmla="*/ 2083245 w 2083245"/>
              <a:gd name="connsiteY1-116" fmla="*/ 32066 h 1098866"/>
              <a:gd name="connsiteX0-117" fmla="*/ 0 w 2200085"/>
              <a:gd name="connsiteY0-118" fmla="*/ 1158069 h 1158069"/>
              <a:gd name="connsiteX1-119" fmla="*/ 2200085 w 2200085"/>
              <a:gd name="connsiteY1-120" fmla="*/ 30309 h 1158069"/>
              <a:gd name="connsiteX0-121" fmla="*/ 0 w 2200085"/>
              <a:gd name="connsiteY0-122" fmla="*/ 1157543 h 1157543"/>
              <a:gd name="connsiteX1-123" fmla="*/ 2200085 w 2200085"/>
              <a:gd name="connsiteY1-124" fmla="*/ 29783 h 1157543"/>
              <a:gd name="connsiteX0-125" fmla="*/ 0 w 2454085"/>
              <a:gd name="connsiteY0-126" fmla="*/ 990184 h 990184"/>
              <a:gd name="connsiteX1-127" fmla="*/ 2454085 w 2454085"/>
              <a:gd name="connsiteY1-128" fmla="*/ 35144 h 990184"/>
              <a:gd name="connsiteX0-129" fmla="*/ 0 w 2454085"/>
              <a:gd name="connsiteY0-130" fmla="*/ 976155 h 976155"/>
              <a:gd name="connsiteX1-131" fmla="*/ 2454085 w 2454085"/>
              <a:gd name="connsiteY1-132" fmla="*/ 21115 h 9761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454085" h="976155">
                <a:moveTo>
                  <a:pt x="0" y="976155"/>
                </a:moveTo>
                <a:cubicBezTo>
                  <a:pt x="373388" y="597161"/>
                  <a:pt x="1156137" y="-133291"/>
                  <a:pt x="2454085" y="21115"/>
                </a:cubicBezTo>
              </a:path>
            </a:pathLst>
          </a:custGeom>
          <a:ln w="76200">
            <a:solidFill>
              <a:srgbClr val="C00000">
                <a:alpha val="4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任意多边形 23"/>
          <p:cNvSpPr/>
          <p:nvPr/>
        </p:nvSpPr>
        <p:spPr bwMode="gray">
          <a:xfrm flipV="1">
            <a:off x="1148142" y="3168976"/>
            <a:ext cx="2058329" cy="1188267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-1" fmla="*/ 0 w 3287214"/>
              <a:gd name="connsiteY0-2" fmla="*/ 0 h 1669002"/>
              <a:gd name="connsiteX1-3" fmla="*/ 2938508 w 3287214"/>
              <a:gd name="connsiteY1-4" fmla="*/ 26633 h 1669002"/>
              <a:gd name="connsiteX2-5" fmla="*/ 3204838 w 3287214"/>
              <a:gd name="connsiteY2-6" fmla="*/ 1669002 h 1669002"/>
              <a:gd name="connsiteX0-7" fmla="*/ 0 w 3310312"/>
              <a:gd name="connsiteY0-8" fmla="*/ 102151 h 1771153"/>
              <a:gd name="connsiteX1-9" fmla="*/ 2938508 w 3310312"/>
              <a:gd name="connsiteY1-10" fmla="*/ 128784 h 1771153"/>
              <a:gd name="connsiteX2-11" fmla="*/ 3204838 w 3310312"/>
              <a:gd name="connsiteY2-12" fmla="*/ 1771153 h 1771153"/>
              <a:gd name="connsiteX0-13" fmla="*/ 0 w 3268527"/>
              <a:gd name="connsiteY0-14" fmla="*/ 449497 h 2118499"/>
              <a:gd name="connsiteX1-15" fmla="*/ 2823098 w 3268527"/>
              <a:gd name="connsiteY1-16" fmla="*/ 67757 h 2118499"/>
              <a:gd name="connsiteX2-17" fmla="*/ 3204838 w 3268527"/>
              <a:gd name="connsiteY2-18" fmla="*/ 2118499 h 2118499"/>
              <a:gd name="connsiteX0-19" fmla="*/ 0 w 3245185"/>
              <a:gd name="connsiteY0-20" fmla="*/ 400710 h 2069712"/>
              <a:gd name="connsiteX1-21" fmla="*/ 2716566 w 3245185"/>
              <a:gd name="connsiteY1-22" fmla="*/ 72236 h 2069712"/>
              <a:gd name="connsiteX2-23" fmla="*/ 3204838 w 3245185"/>
              <a:gd name="connsiteY2-24" fmla="*/ 2069712 h 2069712"/>
              <a:gd name="connsiteX0-25" fmla="*/ 0 w 3207623"/>
              <a:gd name="connsiteY0-26" fmla="*/ 408402 h 2201692"/>
              <a:gd name="connsiteX1-27" fmla="*/ 2716566 w 3207623"/>
              <a:gd name="connsiteY1-28" fmla="*/ 79928 h 2201692"/>
              <a:gd name="connsiteX2-29" fmla="*/ 3160450 w 3207623"/>
              <a:gd name="connsiteY2-30" fmla="*/ 2201692 h 2201692"/>
              <a:gd name="connsiteX0-31" fmla="*/ 0 w 3180591"/>
              <a:gd name="connsiteY0-32" fmla="*/ 408402 h 2201692"/>
              <a:gd name="connsiteX1-33" fmla="*/ 2716566 w 3180591"/>
              <a:gd name="connsiteY1-34" fmla="*/ 79928 h 2201692"/>
              <a:gd name="connsiteX2-35" fmla="*/ 3160450 w 3180591"/>
              <a:gd name="connsiteY2-36" fmla="*/ 2201692 h 2201692"/>
              <a:gd name="connsiteX0-37" fmla="*/ 0 w 3598264"/>
              <a:gd name="connsiteY0-38" fmla="*/ 412296 h 2267729"/>
              <a:gd name="connsiteX1-39" fmla="*/ 2716566 w 3598264"/>
              <a:gd name="connsiteY1-40" fmla="*/ 83822 h 2267729"/>
              <a:gd name="connsiteX2-41" fmla="*/ 3595456 w 3598264"/>
              <a:gd name="connsiteY2-42" fmla="*/ 2267729 h 2267729"/>
              <a:gd name="connsiteX0-43" fmla="*/ 0 w 3621154"/>
              <a:gd name="connsiteY0-44" fmla="*/ 62433 h 1917866"/>
              <a:gd name="connsiteX1-45" fmla="*/ 3116061 w 3621154"/>
              <a:gd name="connsiteY1-46" fmla="*/ 168965 h 1917866"/>
              <a:gd name="connsiteX2-47" fmla="*/ 3595456 w 3621154"/>
              <a:gd name="connsiteY2-48" fmla="*/ 1917866 h 1917866"/>
              <a:gd name="connsiteX0-49" fmla="*/ 0 w 3666945"/>
              <a:gd name="connsiteY0-50" fmla="*/ 0 h 2121763"/>
              <a:gd name="connsiteX1-51" fmla="*/ 3160450 w 3666945"/>
              <a:gd name="connsiteY1-52" fmla="*/ 372862 h 2121763"/>
              <a:gd name="connsiteX2-53" fmla="*/ 3639845 w 3666945"/>
              <a:gd name="connsiteY2-54" fmla="*/ 2121763 h 2121763"/>
              <a:gd name="connsiteX0-55" fmla="*/ 0 w 3666945"/>
              <a:gd name="connsiteY0-56" fmla="*/ 40339 h 2162102"/>
              <a:gd name="connsiteX1-57" fmla="*/ 3160450 w 3666945"/>
              <a:gd name="connsiteY1-58" fmla="*/ 413201 h 2162102"/>
              <a:gd name="connsiteX2-59" fmla="*/ 3639845 w 3666945"/>
              <a:gd name="connsiteY2-60" fmla="*/ 2162102 h 2162102"/>
              <a:gd name="connsiteX0-61" fmla="*/ 0 w 3666945"/>
              <a:gd name="connsiteY0-62" fmla="*/ 47544 h 2116041"/>
              <a:gd name="connsiteX1-63" fmla="*/ 3160450 w 3666945"/>
              <a:gd name="connsiteY1-64" fmla="*/ 367140 h 2116041"/>
              <a:gd name="connsiteX2-65" fmla="*/ 3639845 w 3666945"/>
              <a:gd name="connsiteY2-66" fmla="*/ 2116041 h 2116041"/>
              <a:gd name="connsiteX0-67" fmla="*/ 0 w 3666945"/>
              <a:gd name="connsiteY0-68" fmla="*/ 86260 h 2154757"/>
              <a:gd name="connsiteX1-69" fmla="*/ 3160450 w 3666945"/>
              <a:gd name="connsiteY1-70" fmla="*/ 405856 h 2154757"/>
              <a:gd name="connsiteX2-71" fmla="*/ 3639845 w 3666945"/>
              <a:gd name="connsiteY2-72" fmla="*/ 2154757 h 2154757"/>
              <a:gd name="connsiteX0-73" fmla="*/ 0 w 3639845"/>
              <a:gd name="connsiteY0-74" fmla="*/ 0 h 2068497"/>
              <a:gd name="connsiteX1-75" fmla="*/ 3639845 w 3639845"/>
              <a:gd name="connsiteY1-76" fmla="*/ 2068497 h 2068497"/>
              <a:gd name="connsiteX0-77" fmla="*/ 0 w 3650005"/>
              <a:gd name="connsiteY0-78" fmla="*/ 0 h 1971977"/>
              <a:gd name="connsiteX1-79" fmla="*/ 3650005 w 3650005"/>
              <a:gd name="connsiteY1-80" fmla="*/ 1971977 h 1971977"/>
              <a:gd name="connsiteX0-81" fmla="*/ 0 w 3650005"/>
              <a:gd name="connsiteY0-82" fmla="*/ 0 h 1971977"/>
              <a:gd name="connsiteX1-83" fmla="*/ 3650005 w 3650005"/>
              <a:gd name="connsiteY1-84" fmla="*/ 1971977 h 1971977"/>
              <a:gd name="connsiteX0-85" fmla="*/ 0 w 3678831"/>
              <a:gd name="connsiteY0-86" fmla="*/ 0 h 1971977"/>
              <a:gd name="connsiteX1-87" fmla="*/ 3650005 w 3678831"/>
              <a:gd name="connsiteY1-88" fmla="*/ 1971977 h 1971977"/>
              <a:gd name="connsiteX0-89" fmla="*/ 0 w 3391741"/>
              <a:gd name="connsiteY0-90" fmla="*/ 0 h 1977057"/>
              <a:gd name="connsiteX1-91" fmla="*/ 3294405 w 3391741"/>
              <a:gd name="connsiteY1-92" fmla="*/ 1977057 h 1977057"/>
              <a:gd name="connsiteX0-93" fmla="*/ 0 w 3389485"/>
              <a:gd name="connsiteY0-94" fmla="*/ 0 h 1977057"/>
              <a:gd name="connsiteX1-95" fmla="*/ 3294405 w 3389485"/>
              <a:gd name="connsiteY1-96" fmla="*/ 1977057 h 1977057"/>
              <a:gd name="connsiteX0-97" fmla="*/ 0 w 3393324"/>
              <a:gd name="connsiteY0-98" fmla="*/ 0 h 1916097"/>
              <a:gd name="connsiteX1-99" fmla="*/ 3299485 w 3393324"/>
              <a:gd name="connsiteY1-100" fmla="*/ 1916097 h 1916097"/>
              <a:gd name="connsiteX0-101" fmla="*/ 0 w 3299485"/>
              <a:gd name="connsiteY0-102" fmla="*/ 0 h 1916097"/>
              <a:gd name="connsiteX1-103" fmla="*/ 3299485 w 3299485"/>
              <a:gd name="connsiteY1-104" fmla="*/ 1916097 h 1916097"/>
              <a:gd name="connsiteX0-105" fmla="*/ 0 w 2088762"/>
              <a:gd name="connsiteY0-106" fmla="*/ 1341877 h 1341930"/>
              <a:gd name="connsiteX1-107" fmla="*/ 2083245 w 2088762"/>
              <a:gd name="connsiteY1-108" fmla="*/ 275077 h 1341930"/>
              <a:gd name="connsiteX0-109" fmla="*/ 0 w 2083245"/>
              <a:gd name="connsiteY0-110" fmla="*/ 1089993 h 1090078"/>
              <a:gd name="connsiteX1-111" fmla="*/ 2083245 w 2083245"/>
              <a:gd name="connsiteY1-112" fmla="*/ 23193 h 1090078"/>
              <a:gd name="connsiteX0-113" fmla="*/ 0 w 2083245"/>
              <a:gd name="connsiteY0-114" fmla="*/ 1098866 h 1098866"/>
              <a:gd name="connsiteX1-115" fmla="*/ 2083245 w 2083245"/>
              <a:gd name="connsiteY1-116" fmla="*/ 32066 h 1098866"/>
              <a:gd name="connsiteX0-117" fmla="*/ 0 w 2200085"/>
              <a:gd name="connsiteY0-118" fmla="*/ 1158069 h 1158069"/>
              <a:gd name="connsiteX1-119" fmla="*/ 2200085 w 2200085"/>
              <a:gd name="connsiteY1-120" fmla="*/ 30309 h 1158069"/>
              <a:gd name="connsiteX0-121" fmla="*/ 0 w 2200085"/>
              <a:gd name="connsiteY0-122" fmla="*/ 1157543 h 1157543"/>
              <a:gd name="connsiteX1-123" fmla="*/ 2200085 w 2200085"/>
              <a:gd name="connsiteY1-124" fmla="*/ 29783 h 1157543"/>
              <a:gd name="connsiteX0-125" fmla="*/ 0 w 2454085"/>
              <a:gd name="connsiteY0-126" fmla="*/ 990184 h 990184"/>
              <a:gd name="connsiteX1-127" fmla="*/ 2454085 w 2454085"/>
              <a:gd name="connsiteY1-128" fmla="*/ 35144 h 990184"/>
              <a:gd name="connsiteX0-129" fmla="*/ 0 w 2454085"/>
              <a:gd name="connsiteY0-130" fmla="*/ 976155 h 976155"/>
              <a:gd name="connsiteX1-131" fmla="*/ 2454085 w 2454085"/>
              <a:gd name="connsiteY1-132" fmla="*/ 21115 h 976155"/>
              <a:gd name="connsiteX0-133" fmla="*/ 0 w 2459165"/>
              <a:gd name="connsiteY0-134" fmla="*/ 65262 h 1229434"/>
              <a:gd name="connsiteX1-135" fmla="*/ 2459165 w 2459165"/>
              <a:gd name="connsiteY1-136" fmla="*/ 1229434 h 1229434"/>
              <a:gd name="connsiteX0-137" fmla="*/ 0 w 2459165"/>
              <a:gd name="connsiteY0-138" fmla="*/ 726671 h 1890843"/>
              <a:gd name="connsiteX1-139" fmla="*/ 2459165 w 2459165"/>
              <a:gd name="connsiteY1-140" fmla="*/ 1890843 h 1890843"/>
              <a:gd name="connsiteX0-141" fmla="*/ 0 w 2322005"/>
              <a:gd name="connsiteY0-142" fmla="*/ 694539 h 1918830"/>
              <a:gd name="connsiteX1-143" fmla="*/ 2322005 w 2322005"/>
              <a:gd name="connsiteY1-144" fmla="*/ 1918831 h 1918830"/>
              <a:gd name="connsiteX0-145" fmla="*/ 0 w 2464245"/>
              <a:gd name="connsiteY0-146" fmla="*/ 686619 h 1925941"/>
              <a:gd name="connsiteX1-147" fmla="*/ 2464245 w 2464245"/>
              <a:gd name="connsiteY1-148" fmla="*/ 1925941 h 1925941"/>
              <a:gd name="connsiteX0-149" fmla="*/ 0 w 2403032"/>
              <a:gd name="connsiteY0-150" fmla="*/ 706503 h 1908250"/>
              <a:gd name="connsiteX1-151" fmla="*/ 2403032 w 2403032"/>
              <a:gd name="connsiteY1-152" fmla="*/ 1908250 h 1908250"/>
              <a:gd name="connsiteX0-153" fmla="*/ 0 w 2403032"/>
              <a:gd name="connsiteY0-154" fmla="*/ 556078 h 1757825"/>
              <a:gd name="connsiteX1-155" fmla="*/ 2403032 w 2403032"/>
              <a:gd name="connsiteY1-156" fmla="*/ 1757825 h 17578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403032" h="1757825">
                <a:moveTo>
                  <a:pt x="0" y="556078"/>
                </a:moveTo>
                <a:cubicBezTo>
                  <a:pt x="373388" y="177084"/>
                  <a:pt x="532900" y="-947903"/>
                  <a:pt x="2403032" y="1757825"/>
                </a:cubicBezTo>
              </a:path>
            </a:pathLst>
          </a:custGeom>
          <a:ln w="76200">
            <a:solidFill>
              <a:srgbClr val="C00000">
                <a:alpha val="4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任意多边形 24"/>
          <p:cNvSpPr/>
          <p:nvPr/>
        </p:nvSpPr>
        <p:spPr bwMode="gray">
          <a:xfrm>
            <a:off x="3882104" y="2812924"/>
            <a:ext cx="1982060" cy="1035685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-1" fmla="*/ 0 w 3287214"/>
              <a:gd name="connsiteY0-2" fmla="*/ 0 h 1669002"/>
              <a:gd name="connsiteX1-3" fmla="*/ 2938508 w 3287214"/>
              <a:gd name="connsiteY1-4" fmla="*/ 26633 h 1669002"/>
              <a:gd name="connsiteX2-5" fmla="*/ 3204838 w 3287214"/>
              <a:gd name="connsiteY2-6" fmla="*/ 1669002 h 1669002"/>
              <a:gd name="connsiteX0-7" fmla="*/ 0 w 3310312"/>
              <a:gd name="connsiteY0-8" fmla="*/ 102151 h 1771153"/>
              <a:gd name="connsiteX1-9" fmla="*/ 2938508 w 3310312"/>
              <a:gd name="connsiteY1-10" fmla="*/ 128784 h 1771153"/>
              <a:gd name="connsiteX2-11" fmla="*/ 3204838 w 3310312"/>
              <a:gd name="connsiteY2-12" fmla="*/ 1771153 h 1771153"/>
              <a:gd name="connsiteX0-13" fmla="*/ 0 w 3268527"/>
              <a:gd name="connsiteY0-14" fmla="*/ 449497 h 2118499"/>
              <a:gd name="connsiteX1-15" fmla="*/ 2823098 w 3268527"/>
              <a:gd name="connsiteY1-16" fmla="*/ 67757 h 2118499"/>
              <a:gd name="connsiteX2-17" fmla="*/ 3204838 w 3268527"/>
              <a:gd name="connsiteY2-18" fmla="*/ 2118499 h 2118499"/>
              <a:gd name="connsiteX0-19" fmla="*/ 0 w 3245185"/>
              <a:gd name="connsiteY0-20" fmla="*/ 400710 h 2069712"/>
              <a:gd name="connsiteX1-21" fmla="*/ 2716566 w 3245185"/>
              <a:gd name="connsiteY1-22" fmla="*/ 72236 h 2069712"/>
              <a:gd name="connsiteX2-23" fmla="*/ 3204838 w 3245185"/>
              <a:gd name="connsiteY2-24" fmla="*/ 2069712 h 2069712"/>
              <a:gd name="connsiteX0-25" fmla="*/ 0 w 3207623"/>
              <a:gd name="connsiteY0-26" fmla="*/ 408402 h 2201692"/>
              <a:gd name="connsiteX1-27" fmla="*/ 2716566 w 3207623"/>
              <a:gd name="connsiteY1-28" fmla="*/ 79928 h 2201692"/>
              <a:gd name="connsiteX2-29" fmla="*/ 3160450 w 3207623"/>
              <a:gd name="connsiteY2-30" fmla="*/ 2201692 h 2201692"/>
              <a:gd name="connsiteX0-31" fmla="*/ 0 w 3180591"/>
              <a:gd name="connsiteY0-32" fmla="*/ 408402 h 2201692"/>
              <a:gd name="connsiteX1-33" fmla="*/ 2716566 w 3180591"/>
              <a:gd name="connsiteY1-34" fmla="*/ 79928 h 2201692"/>
              <a:gd name="connsiteX2-35" fmla="*/ 3160450 w 3180591"/>
              <a:gd name="connsiteY2-36" fmla="*/ 2201692 h 2201692"/>
              <a:gd name="connsiteX0-37" fmla="*/ 0 w 3598264"/>
              <a:gd name="connsiteY0-38" fmla="*/ 412296 h 2267729"/>
              <a:gd name="connsiteX1-39" fmla="*/ 2716566 w 3598264"/>
              <a:gd name="connsiteY1-40" fmla="*/ 83822 h 2267729"/>
              <a:gd name="connsiteX2-41" fmla="*/ 3595456 w 3598264"/>
              <a:gd name="connsiteY2-42" fmla="*/ 2267729 h 2267729"/>
              <a:gd name="connsiteX0-43" fmla="*/ 0 w 3621154"/>
              <a:gd name="connsiteY0-44" fmla="*/ 62433 h 1917866"/>
              <a:gd name="connsiteX1-45" fmla="*/ 3116061 w 3621154"/>
              <a:gd name="connsiteY1-46" fmla="*/ 168965 h 1917866"/>
              <a:gd name="connsiteX2-47" fmla="*/ 3595456 w 3621154"/>
              <a:gd name="connsiteY2-48" fmla="*/ 1917866 h 1917866"/>
              <a:gd name="connsiteX0-49" fmla="*/ 0 w 3666945"/>
              <a:gd name="connsiteY0-50" fmla="*/ 0 h 2121763"/>
              <a:gd name="connsiteX1-51" fmla="*/ 3160450 w 3666945"/>
              <a:gd name="connsiteY1-52" fmla="*/ 372862 h 2121763"/>
              <a:gd name="connsiteX2-53" fmla="*/ 3639845 w 3666945"/>
              <a:gd name="connsiteY2-54" fmla="*/ 2121763 h 2121763"/>
              <a:gd name="connsiteX0-55" fmla="*/ 0 w 3666945"/>
              <a:gd name="connsiteY0-56" fmla="*/ 40339 h 2162102"/>
              <a:gd name="connsiteX1-57" fmla="*/ 3160450 w 3666945"/>
              <a:gd name="connsiteY1-58" fmla="*/ 413201 h 2162102"/>
              <a:gd name="connsiteX2-59" fmla="*/ 3639845 w 3666945"/>
              <a:gd name="connsiteY2-60" fmla="*/ 2162102 h 2162102"/>
              <a:gd name="connsiteX0-61" fmla="*/ 0 w 3666945"/>
              <a:gd name="connsiteY0-62" fmla="*/ 47544 h 2116041"/>
              <a:gd name="connsiteX1-63" fmla="*/ 3160450 w 3666945"/>
              <a:gd name="connsiteY1-64" fmla="*/ 367140 h 2116041"/>
              <a:gd name="connsiteX2-65" fmla="*/ 3639845 w 3666945"/>
              <a:gd name="connsiteY2-66" fmla="*/ 2116041 h 2116041"/>
              <a:gd name="connsiteX0-67" fmla="*/ 0 w 3666945"/>
              <a:gd name="connsiteY0-68" fmla="*/ 86260 h 2154757"/>
              <a:gd name="connsiteX1-69" fmla="*/ 3160450 w 3666945"/>
              <a:gd name="connsiteY1-70" fmla="*/ 405856 h 2154757"/>
              <a:gd name="connsiteX2-71" fmla="*/ 3639845 w 3666945"/>
              <a:gd name="connsiteY2-72" fmla="*/ 2154757 h 2154757"/>
              <a:gd name="connsiteX0-73" fmla="*/ 0 w 3639845"/>
              <a:gd name="connsiteY0-74" fmla="*/ 0 h 2068497"/>
              <a:gd name="connsiteX1-75" fmla="*/ 3639845 w 3639845"/>
              <a:gd name="connsiteY1-76" fmla="*/ 2068497 h 2068497"/>
              <a:gd name="connsiteX0-77" fmla="*/ 0 w 3650005"/>
              <a:gd name="connsiteY0-78" fmla="*/ 0 h 1971977"/>
              <a:gd name="connsiteX1-79" fmla="*/ 3650005 w 3650005"/>
              <a:gd name="connsiteY1-80" fmla="*/ 1971977 h 1971977"/>
              <a:gd name="connsiteX0-81" fmla="*/ 0 w 3650005"/>
              <a:gd name="connsiteY0-82" fmla="*/ 0 h 1971977"/>
              <a:gd name="connsiteX1-83" fmla="*/ 3650005 w 3650005"/>
              <a:gd name="connsiteY1-84" fmla="*/ 1971977 h 1971977"/>
              <a:gd name="connsiteX0-85" fmla="*/ 0 w 3678831"/>
              <a:gd name="connsiteY0-86" fmla="*/ 0 h 1971977"/>
              <a:gd name="connsiteX1-87" fmla="*/ 3650005 w 3678831"/>
              <a:gd name="connsiteY1-88" fmla="*/ 1971977 h 1971977"/>
              <a:gd name="connsiteX0-89" fmla="*/ 0 w 3391741"/>
              <a:gd name="connsiteY0-90" fmla="*/ 0 h 1977057"/>
              <a:gd name="connsiteX1-91" fmla="*/ 3294405 w 3391741"/>
              <a:gd name="connsiteY1-92" fmla="*/ 1977057 h 1977057"/>
              <a:gd name="connsiteX0-93" fmla="*/ 0 w 3389485"/>
              <a:gd name="connsiteY0-94" fmla="*/ 0 h 1977057"/>
              <a:gd name="connsiteX1-95" fmla="*/ 3294405 w 3389485"/>
              <a:gd name="connsiteY1-96" fmla="*/ 1977057 h 1977057"/>
              <a:gd name="connsiteX0-97" fmla="*/ 0 w 3393324"/>
              <a:gd name="connsiteY0-98" fmla="*/ 0 h 1916097"/>
              <a:gd name="connsiteX1-99" fmla="*/ 3299485 w 3393324"/>
              <a:gd name="connsiteY1-100" fmla="*/ 1916097 h 1916097"/>
              <a:gd name="connsiteX0-101" fmla="*/ 0 w 3299485"/>
              <a:gd name="connsiteY0-102" fmla="*/ 0 h 1916097"/>
              <a:gd name="connsiteX1-103" fmla="*/ 3299485 w 3299485"/>
              <a:gd name="connsiteY1-104" fmla="*/ 1916097 h 1916097"/>
              <a:gd name="connsiteX0-105" fmla="*/ 0 w 2088762"/>
              <a:gd name="connsiteY0-106" fmla="*/ 1341877 h 1341930"/>
              <a:gd name="connsiteX1-107" fmla="*/ 2083245 w 2088762"/>
              <a:gd name="connsiteY1-108" fmla="*/ 275077 h 1341930"/>
              <a:gd name="connsiteX0-109" fmla="*/ 0 w 2083245"/>
              <a:gd name="connsiteY0-110" fmla="*/ 1089993 h 1090078"/>
              <a:gd name="connsiteX1-111" fmla="*/ 2083245 w 2083245"/>
              <a:gd name="connsiteY1-112" fmla="*/ 23193 h 1090078"/>
              <a:gd name="connsiteX0-113" fmla="*/ 0 w 2083245"/>
              <a:gd name="connsiteY0-114" fmla="*/ 1098866 h 1098866"/>
              <a:gd name="connsiteX1-115" fmla="*/ 2083245 w 2083245"/>
              <a:gd name="connsiteY1-116" fmla="*/ 32066 h 1098866"/>
              <a:gd name="connsiteX0-117" fmla="*/ 0 w 2200085"/>
              <a:gd name="connsiteY0-118" fmla="*/ 1158069 h 1158069"/>
              <a:gd name="connsiteX1-119" fmla="*/ 2200085 w 2200085"/>
              <a:gd name="connsiteY1-120" fmla="*/ 30309 h 1158069"/>
              <a:gd name="connsiteX0-121" fmla="*/ 0 w 2200085"/>
              <a:gd name="connsiteY0-122" fmla="*/ 1157543 h 1157543"/>
              <a:gd name="connsiteX1-123" fmla="*/ 2200085 w 2200085"/>
              <a:gd name="connsiteY1-124" fmla="*/ 29783 h 1157543"/>
              <a:gd name="connsiteX0-125" fmla="*/ 0 w 2454085"/>
              <a:gd name="connsiteY0-126" fmla="*/ 990184 h 990184"/>
              <a:gd name="connsiteX1-127" fmla="*/ 2454085 w 2454085"/>
              <a:gd name="connsiteY1-128" fmla="*/ 35144 h 990184"/>
              <a:gd name="connsiteX0-129" fmla="*/ 0 w 2454085"/>
              <a:gd name="connsiteY0-130" fmla="*/ 976155 h 976155"/>
              <a:gd name="connsiteX1-131" fmla="*/ 2454085 w 2454085"/>
              <a:gd name="connsiteY1-132" fmla="*/ 21115 h 976155"/>
              <a:gd name="connsiteX0-133" fmla="*/ 0 w 1927035"/>
              <a:gd name="connsiteY0-134" fmla="*/ 230395 h 230395"/>
              <a:gd name="connsiteX1-135" fmla="*/ 1927035 w 1927035"/>
              <a:gd name="connsiteY1-136" fmla="*/ 173880 h 230395"/>
              <a:gd name="connsiteX0-137" fmla="*/ 0 w 2165160"/>
              <a:gd name="connsiteY0-138" fmla="*/ 75406 h 1015841"/>
              <a:gd name="connsiteX1-139" fmla="*/ 2165160 w 2165160"/>
              <a:gd name="connsiteY1-140" fmla="*/ 1015841 h 1015841"/>
              <a:gd name="connsiteX0-141" fmla="*/ 0 w 2165160"/>
              <a:gd name="connsiteY0-142" fmla="*/ 117592 h 1058027"/>
              <a:gd name="connsiteX1-143" fmla="*/ 2165160 w 2165160"/>
              <a:gd name="connsiteY1-144" fmla="*/ 1058027 h 1058027"/>
              <a:gd name="connsiteX0-145" fmla="*/ 0 w 2165160"/>
              <a:gd name="connsiteY0-146" fmla="*/ 356 h 940791"/>
              <a:gd name="connsiteX1-147" fmla="*/ 2165160 w 2165160"/>
              <a:gd name="connsiteY1-148" fmla="*/ 940791 h 940791"/>
              <a:gd name="connsiteX0-149" fmla="*/ 0 w 2152460"/>
              <a:gd name="connsiteY0-150" fmla="*/ 256 h 1035941"/>
              <a:gd name="connsiteX1-151" fmla="*/ 2152460 w 2152460"/>
              <a:gd name="connsiteY1-152" fmla="*/ 1035941 h 1035941"/>
              <a:gd name="connsiteX0-153" fmla="*/ 0 w 2152460"/>
              <a:gd name="connsiteY0-154" fmla="*/ 0 h 1035685"/>
              <a:gd name="connsiteX1-155" fmla="*/ 2152460 w 2152460"/>
              <a:gd name="connsiteY1-156" fmla="*/ 1035685 h 1035685"/>
              <a:gd name="connsiteX0-157" fmla="*/ 0 w 2152460"/>
              <a:gd name="connsiteY0-158" fmla="*/ 0 h 1035685"/>
              <a:gd name="connsiteX1-159" fmla="*/ 2152460 w 2152460"/>
              <a:gd name="connsiteY1-160" fmla="*/ 1035685 h 10356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152460" h="1035685">
                <a:moveTo>
                  <a:pt x="0" y="0"/>
                </a:moveTo>
                <a:cubicBezTo>
                  <a:pt x="1226228" y="40105"/>
                  <a:pt x="1533962" y="312954"/>
                  <a:pt x="2152460" y="1035685"/>
                </a:cubicBezTo>
              </a:path>
            </a:pathLst>
          </a:custGeom>
          <a:ln w="76200">
            <a:solidFill>
              <a:srgbClr val="C00000">
                <a:alpha val="4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椭圆 25"/>
          <p:cNvSpPr>
            <a:spLocks noChangeAspect="1"/>
          </p:cNvSpPr>
          <p:nvPr/>
        </p:nvSpPr>
        <p:spPr bwMode="gray">
          <a:xfrm>
            <a:off x="1636837" y="4256135"/>
            <a:ext cx="232480" cy="23248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椭圆 26"/>
          <p:cNvSpPr>
            <a:spLocks noChangeAspect="1"/>
          </p:cNvSpPr>
          <p:nvPr/>
        </p:nvSpPr>
        <p:spPr bwMode="gray">
          <a:xfrm>
            <a:off x="1457923" y="3384661"/>
            <a:ext cx="232480" cy="23248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椭圆 27"/>
          <p:cNvSpPr>
            <a:spLocks noChangeAspect="1"/>
          </p:cNvSpPr>
          <p:nvPr/>
        </p:nvSpPr>
        <p:spPr bwMode="gray">
          <a:xfrm>
            <a:off x="4050380" y="2667545"/>
            <a:ext cx="232480" cy="23248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3327858" y="2071462"/>
            <a:ext cx="5405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</a:t>
            </a:r>
            <a:endParaRPr lang="zh-CN" altLang="en-US" sz="16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3798667" y="3197259"/>
            <a:ext cx="65915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92D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1046</a:t>
            </a:r>
            <a:endParaRPr lang="zh-CN" altLang="en-US" sz="1600" b="1">
              <a:solidFill>
                <a:srgbClr val="92D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1" name="直接箭头连接符 30"/>
          <p:cNvCxnSpPr/>
          <p:nvPr/>
        </p:nvCxnSpPr>
        <p:spPr bwMode="gray">
          <a:xfrm>
            <a:off x="3901996" y="3206807"/>
            <a:ext cx="823337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 bwMode="gray">
          <a:xfrm>
            <a:off x="5861331" y="4400660"/>
            <a:ext cx="5405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800</a:t>
            </a:r>
            <a:endParaRPr lang="zh-CN" altLang="en-US" sz="16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椭圆 32"/>
          <p:cNvSpPr>
            <a:spLocks noChangeAspect="1"/>
          </p:cNvSpPr>
          <p:nvPr/>
        </p:nvSpPr>
        <p:spPr bwMode="gray">
          <a:xfrm>
            <a:off x="5483843" y="3429050"/>
            <a:ext cx="232480" cy="23248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>
            <a:off x="3375445" y="2388172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4873134" y="2388172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5929319" y="4152337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R8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519334" y="4149205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1552126" y="2388172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1552126" y="5056483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3374153" y="5056483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 bwMode="gray">
          <a:xfrm>
            <a:off x="4873134" y="5056483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R7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3800245" y="2946019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GE0/0/2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矩形 42"/>
          <p:cNvSpPr/>
          <p:nvPr/>
        </p:nvSpPr>
        <p:spPr bwMode="gray">
          <a:xfrm>
            <a:off x="447316" y="2467305"/>
            <a:ext cx="582046" cy="215444"/>
          </a:xfrm>
          <a:prstGeom prst="rect">
            <a:avLst/>
          </a:prstGeom>
          <a:solidFill>
            <a:srgbClr val="FF0066"/>
          </a:solidFill>
          <a:ln w="19050">
            <a:solidFill>
              <a:srgbClr val="FF0000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447316" y="2683665"/>
            <a:ext cx="582046" cy="215444"/>
          </a:xfrm>
          <a:prstGeom prst="rect">
            <a:avLst/>
          </a:prstGeom>
          <a:solidFill>
            <a:srgbClr val="92D050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1046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矩形 44"/>
          <p:cNvSpPr/>
          <p:nvPr/>
        </p:nvSpPr>
        <p:spPr bwMode="gray">
          <a:xfrm>
            <a:off x="447316" y="2900025"/>
            <a:ext cx="582046" cy="215444"/>
          </a:xfrm>
          <a:prstGeom prst="rect">
            <a:avLst/>
          </a:prstGeom>
          <a:solidFill>
            <a:srgbClr val="FF0066"/>
          </a:solidFill>
          <a:ln w="19050">
            <a:solidFill>
              <a:srgbClr val="FF0000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7" name="直接箭头连接符 46"/>
          <p:cNvCxnSpPr/>
          <p:nvPr/>
        </p:nvCxnSpPr>
        <p:spPr bwMode="gray">
          <a:xfrm>
            <a:off x="715588" y="3162372"/>
            <a:ext cx="0" cy="508634"/>
          </a:xfrm>
          <a:prstGeom prst="straightConnector1">
            <a:avLst/>
          </a:prstGeom>
          <a:ln w="76200">
            <a:solidFill>
              <a:srgbClr val="C00000">
                <a:alpha val="4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 bwMode="gray">
          <a:xfrm>
            <a:off x="6516674" y="3054618"/>
            <a:ext cx="440562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  <a:spcAft>
                <a:spcPts val="600"/>
              </a:spcAft>
            </a:pPr>
            <a:r>
              <a:rPr lang="zh-CN" altLang="en-US" sz="1600" b="1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源路由（</a:t>
            </a:r>
            <a:r>
              <a:rPr lang="en-US" altLang="zh-CN" sz="1600" b="1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Source Routing</a:t>
            </a:r>
            <a:r>
              <a:rPr lang="zh-CN" altLang="en-US" sz="1600" b="1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）：</a:t>
            </a:r>
            <a:r>
              <a:rPr lang="zh-CN" altLang="en-US" sz="1600" kern="1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源节点选择一条路径并在报文中压入一个有序的</a:t>
            </a:r>
            <a:r>
              <a:rPr lang="en-US" altLang="zh-CN" sz="1600" kern="1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Segment List</a:t>
            </a:r>
            <a:r>
              <a:rPr lang="en-US" altLang="zh-CN" sz="16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,</a:t>
            </a:r>
            <a:r>
              <a:rPr lang="zh-CN" altLang="en-US" sz="16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网络中的其他节点按照报文封装的</a:t>
            </a:r>
            <a:r>
              <a:rPr lang="en-US" altLang="zh-CN" sz="16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Segment List</a:t>
            </a:r>
            <a:r>
              <a:rPr lang="zh-CN" altLang="en-US" sz="16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进行转发。</a:t>
            </a:r>
            <a:endParaRPr lang="zh-CN" altLang="zh-CN" sz="1600" kern="100" dirty="0"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Times New Roman" panose="02020603050405020304" pitchFamily="18" charset="0"/>
              <a:sym typeface="Huawei Sans" panose="020C0503030203020204" pitchFamily="34" charset="0"/>
            </a:endParaRPr>
          </a:p>
        </p:txBody>
      </p:sp>
      <p:sp>
        <p:nvSpPr>
          <p:cNvPr id="54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基本概念：</a:t>
            </a:r>
            <a:r>
              <a:rPr lang="en-US" altLang="zh-CN" dirty="0">
                <a:sym typeface="Huawei Sans" panose="020C0503030203020204" pitchFamily="34" charset="0"/>
              </a:rPr>
              <a:t>Segment</a:t>
            </a:r>
            <a:r>
              <a:rPr lang="zh-CN" altLang="en-US">
                <a:sym typeface="Huawei Sans" panose="020C0503030203020204" pitchFamily="34" charset="0"/>
              </a:rPr>
              <a:t>分类</a:t>
            </a:r>
            <a:endParaRPr lang="zh-CN" altLang="en-US">
              <a:sym typeface="Huawei Sans" panose="020C0503030203020204" pitchFamily="34" charset="0"/>
            </a:endParaRPr>
          </a:p>
        </p:txBody>
      </p:sp>
      <p:cxnSp>
        <p:nvCxnSpPr>
          <p:cNvPr id="70" name="直接箭头连接符 69"/>
          <p:cNvCxnSpPr/>
          <p:nvPr/>
        </p:nvCxnSpPr>
        <p:spPr bwMode="gray">
          <a:xfrm flipH="1">
            <a:off x="4581819" y="2732822"/>
            <a:ext cx="99321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圆角矩形 70"/>
          <p:cNvSpPr/>
          <p:nvPr/>
        </p:nvSpPr>
        <p:spPr bwMode="gray">
          <a:xfrm>
            <a:off x="4580890" y="2839085"/>
            <a:ext cx="995045" cy="328930"/>
          </a:xfrm>
          <a:prstGeom prst="roundRect">
            <a:avLst>
              <a:gd name="adj" fmla="val 13019"/>
            </a:avLst>
          </a:prstGeom>
          <a:solidFill>
            <a:srgbClr val="92D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1001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2" name="直接箭头连接符 71"/>
          <p:cNvCxnSpPr/>
          <p:nvPr/>
        </p:nvCxnSpPr>
        <p:spPr bwMode="gray">
          <a:xfrm>
            <a:off x="6329061" y="2732822"/>
            <a:ext cx="1083648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圆角矩形 74"/>
          <p:cNvSpPr/>
          <p:nvPr/>
        </p:nvSpPr>
        <p:spPr bwMode="gray">
          <a:xfrm>
            <a:off x="6360795" y="2839085"/>
            <a:ext cx="855980" cy="238125"/>
          </a:xfrm>
          <a:prstGeom prst="roundRect">
            <a:avLst>
              <a:gd name="adj" fmla="val 13019"/>
            </a:avLst>
          </a:prstGeom>
          <a:solidFill>
            <a:srgbClr val="92D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1002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78" name="表格 77"/>
          <p:cNvGraphicFramePr>
            <a:graphicFrameLocks noGrp="1"/>
          </p:cNvGraphicFramePr>
          <p:nvPr/>
        </p:nvGraphicFramePr>
        <p:xfrm>
          <a:off x="1435053" y="3868284"/>
          <a:ext cx="9108142" cy="2047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69895"/>
                <a:gridCol w="613824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Segment</a:t>
                      </a:r>
                      <a:r>
                        <a:rPr lang="zh-CN" altLang="en-US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分类</a:t>
                      </a:r>
                      <a:endParaRPr lang="zh-CN" altLang="en-US" sz="14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说明</a:t>
                      </a:r>
                      <a:endParaRPr lang="zh-CN" altLang="en-US" sz="14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Prefix Segment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（前缀段）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用于标识网络中的某个目的地址前缀</a:t>
                      </a:r>
                      <a:endParaRPr lang="en-US" altLang="zh-CN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生成方式：手工配置</a:t>
                      </a:r>
                      <a:endParaRPr lang="en-US" altLang="zh-CN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通过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IGP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协议扩散到其他网元，</a:t>
                      </a:r>
                      <a:r>
                        <a:rPr lang="zh-CN" altLang="en-US" sz="1400" dirty="0"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全局可见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</a:t>
                      </a:r>
                      <a:r>
                        <a:rPr lang="zh-CN" altLang="en-US" sz="1400" dirty="0"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全局有效</a:t>
                      </a:r>
                      <a:endParaRPr lang="en-US" altLang="zh-CN" sz="1400" dirty="0">
                        <a:highlight>
                          <a:srgbClr val="FFFF00"/>
                        </a:highlight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C7000B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Node Segment</a:t>
                      </a:r>
                      <a:r>
                        <a:rPr lang="zh-CN" altLang="en-US" sz="1400" b="1" dirty="0">
                          <a:solidFill>
                            <a:srgbClr val="C7000B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是特殊的</a:t>
                      </a:r>
                      <a:r>
                        <a:rPr lang="en-US" altLang="zh-CN" sz="1400" b="1" dirty="0">
                          <a:solidFill>
                            <a:srgbClr val="C7000B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Prefix Segment</a:t>
                      </a:r>
                      <a:endParaRPr lang="en-US" altLang="zh-CN" sz="1400" b="1" dirty="0">
                        <a:solidFill>
                          <a:srgbClr val="C7000B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Adjacency Segment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（邻接段）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用于标识网络中的某个邻接</a:t>
                      </a:r>
                      <a:endParaRPr lang="en-US" altLang="zh-CN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生成方式：源节点通过协议动态分配</a:t>
                      </a:r>
                      <a:endParaRPr lang="en-US" altLang="zh-CN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通过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IGP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协议扩散到其他网元，</a:t>
                      </a:r>
                      <a:r>
                        <a:rPr lang="zh-CN" altLang="en-US" sz="1400" dirty="0"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全局可见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本地有效</a:t>
                      </a:r>
                      <a:endParaRPr lang="en-US" altLang="zh-CN" sz="1400" dirty="0">
                        <a:solidFill>
                          <a:srgbClr val="FF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79" name="组合 78"/>
          <p:cNvGrpSpPr/>
          <p:nvPr/>
        </p:nvGrpSpPr>
        <p:grpSpPr bwMode="gray">
          <a:xfrm>
            <a:off x="3148982" y="2036981"/>
            <a:ext cx="492363" cy="473566"/>
            <a:chOff x="3769575" y="2816233"/>
            <a:chExt cx="959475" cy="2029316"/>
          </a:xfrm>
        </p:grpSpPr>
        <p:cxnSp>
          <p:nvCxnSpPr>
            <p:cNvPr id="80" name="直接连接符 79"/>
            <p:cNvCxnSpPr/>
            <p:nvPr/>
          </p:nvCxnSpPr>
          <p:spPr bwMode="gray">
            <a:xfrm flipH="1">
              <a:off x="3769575" y="2816233"/>
              <a:ext cx="959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 bwMode="gray">
            <a:xfrm flipV="1">
              <a:off x="4249312" y="2816233"/>
              <a:ext cx="0" cy="20293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/>
          <p:cNvGrpSpPr/>
          <p:nvPr/>
        </p:nvGrpSpPr>
        <p:grpSpPr bwMode="gray">
          <a:xfrm>
            <a:off x="5720062" y="2036981"/>
            <a:ext cx="492363" cy="473566"/>
            <a:chOff x="3769575" y="2816233"/>
            <a:chExt cx="959475" cy="2029316"/>
          </a:xfrm>
        </p:grpSpPr>
        <p:cxnSp>
          <p:nvCxnSpPr>
            <p:cNvPr id="83" name="直接连接符 82"/>
            <p:cNvCxnSpPr/>
            <p:nvPr/>
          </p:nvCxnSpPr>
          <p:spPr bwMode="gray">
            <a:xfrm flipH="1">
              <a:off x="3769575" y="2816233"/>
              <a:ext cx="959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 bwMode="gray">
            <a:xfrm flipV="1">
              <a:off x="4249312" y="2816233"/>
              <a:ext cx="0" cy="20293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组合 84"/>
          <p:cNvGrpSpPr/>
          <p:nvPr/>
        </p:nvGrpSpPr>
        <p:grpSpPr bwMode="gray">
          <a:xfrm>
            <a:off x="8286371" y="2036981"/>
            <a:ext cx="492363" cy="473566"/>
            <a:chOff x="3769575" y="2816233"/>
            <a:chExt cx="959475" cy="2029316"/>
          </a:xfrm>
        </p:grpSpPr>
        <p:cxnSp>
          <p:nvCxnSpPr>
            <p:cNvPr id="86" name="直接连接符 85"/>
            <p:cNvCxnSpPr/>
            <p:nvPr/>
          </p:nvCxnSpPr>
          <p:spPr bwMode="gray">
            <a:xfrm flipH="1">
              <a:off x="3769575" y="2816233"/>
              <a:ext cx="959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 bwMode="gray">
            <a:xfrm flipV="1">
              <a:off x="4249312" y="2816233"/>
              <a:ext cx="0" cy="20293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" name="直接连接符 87"/>
          <p:cNvCxnSpPr/>
          <p:nvPr/>
        </p:nvCxnSpPr>
        <p:spPr bwMode="gray">
          <a:xfrm flipH="1">
            <a:off x="2611419" y="2591087"/>
            <a:ext cx="67222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 bwMode="gray">
          <a:xfrm>
            <a:off x="3188215" y="2819070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矩形 92"/>
          <p:cNvSpPr/>
          <p:nvPr/>
        </p:nvSpPr>
        <p:spPr bwMode="gray">
          <a:xfrm>
            <a:off x="5765601" y="2819070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矩形 93"/>
          <p:cNvSpPr/>
          <p:nvPr/>
        </p:nvSpPr>
        <p:spPr bwMode="gray">
          <a:xfrm>
            <a:off x="8342987" y="2819070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5" name="组合 94"/>
          <p:cNvGrpSpPr/>
          <p:nvPr/>
        </p:nvGrpSpPr>
        <p:grpSpPr bwMode="gray">
          <a:xfrm>
            <a:off x="1575296" y="2182032"/>
            <a:ext cx="1304009" cy="871898"/>
            <a:chOff x="4027703" y="3656700"/>
            <a:chExt cx="1304009" cy="871898"/>
          </a:xfrm>
        </p:grpSpPr>
        <p:grpSp>
          <p:nvGrpSpPr>
            <p:cNvPr id="96" name="组合 95"/>
            <p:cNvGrpSpPr/>
            <p:nvPr/>
          </p:nvGrpSpPr>
          <p:grpSpPr bwMode="gray">
            <a:xfrm>
              <a:off x="4027703" y="3656700"/>
              <a:ext cx="1304009" cy="871898"/>
              <a:chOff x="10125075" y="5439766"/>
              <a:chExt cx="1304009" cy="871898"/>
            </a:xfrm>
          </p:grpSpPr>
          <p:sp>
            <p:nvSpPr>
              <p:cNvPr id="103" name="矩形 102"/>
              <p:cNvSpPr/>
              <p:nvPr/>
            </p:nvSpPr>
            <p:spPr bwMode="gray">
              <a:xfrm>
                <a:off x="10472174" y="5924694"/>
                <a:ext cx="647760" cy="386970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 bwMode="gray">
              <a:xfrm>
                <a:off x="10379358" y="5439766"/>
                <a:ext cx="604768" cy="6047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 bwMode="gray">
              <a:xfrm>
                <a:off x="10125075" y="5625254"/>
                <a:ext cx="703036" cy="68641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06" name="椭圆 105"/>
              <p:cNvSpPr/>
              <p:nvPr/>
            </p:nvSpPr>
            <p:spPr bwMode="gray">
              <a:xfrm>
                <a:off x="10792751" y="5675331"/>
                <a:ext cx="636333" cy="63633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07" name="椭圆 106"/>
              <p:cNvSpPr/>
              <p:nvPr/>
            </p:nvSpPr>
            <p:spPr bwMode="gray">
              <a:xfrm>
                <a:off x="10723031" y="5515085"/>
                <a:ext cx="463257" cy="46325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7" name="组合 96"/>
            <p:cNvGrpSpPr/>
            <p:nvPr/>
          </p:nvGrpSpPr>
          <p:grpSpPr bwMode="gray">
            <a:xfrm>
              <a:off x="4079776" y="3717032"/>
              <a:ext cx="1199862" cy="767350"/>
              <a:chOff x="10181272" y="5503352"/>
              <a:chExt cx="1199862" cy="767350"/>
            </a:xfrm>
          </p:grpSpPr>
          <p:sp>
            <p:nvSpPr>
              <p:cNvPr id="98" name="椭圆 97"/>
              <p:cNvSpPr/>
              <p:nvPr/>
            </p:nvSpPr>
            <p:spPr bwMode="gray">
              <a:xfrm>
                <a:off x="10463850" y="5503352"/>
                <a:ext cx="512609" cy="5126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 bwMode="gray">
              <a:xfrm>
                <a:off x="10181272" y="5697686"/>
                <a:ext cx="573015" cy="5730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 bwMode="gray">
              <a:xfrm>
                <a:off x="10798583" y="5688150"/>
                <a:ext cx="582551" cy="5825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 bwMode="gray">
              <a:xfrm>
                <a:off x="10792392" y="5578078"/>
                <a:ext cx="345057" cy="3450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02" name="矩形 101"/>
              <p:cNvSpPr/>
              <p:nvPr/>
            </p:nvSpPr>
            <p:spPr bwMode="gray">
              <a:xfrm>
                <a:off x="10454799" y="5883732"/>
                <a:ext cx="647760" cy="3869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108" name="矩形 107"/>
          <p:cNvSpPr/>
          <p:nvPr/>
        </p:nvSpPr>
        <p:spPr bwMode="gray">
          <a:xfrm>
            <a:off x="1639819" y="2422284"/>
            <a:ext cx="114807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814705">
              <a:buClr>
                <a:schemeClr val="accent1"/>
              </a:buClr>
              <a:buSzPct val="100000"/>
            </a:pPr>
            <a:r>
              <a:rPr lang="en-US" altLang="zh-CN" sz="15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10.1.1.0/24</a:t>
            </a:r>
            <a:endParaRPr lang="en-US" altLang="zh-CN" sz="15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109" name="组合 108"/>
          <p:cNvGrpSpPr/>
          <p:nvPr/>
        </p:nvGrpSpPr>
        <p:grpSpPr bwMode="gray">
          <a:xfrm>
            <a:off x="9098943" y="2182032"/>
            <a:ext cx="1304009" cy="871898"/>
            <a:chOff x="4027703" y="3656700"/>
            <a:chExt cx="1304009" cy="871898"/>
          </a:xfrm>
        </p:grpSpPr>
        <p:grpSp>
          <p:nvGrpSpPr>
            <p:cNvPr id="110" name="组合 109"/>
            <p:cNvGrpSpPr/>
            <p:nvPr/>
          </p:nvGrpSpPr>
          <p:grpSpPr bwMode="gray">
            <a:xfrm>
              <a:off x="4027703" y="3656700"/>
              <a:ext cx="1304009" cy="871898"/>
              <a:chOff x="10125075" y="5439766"/>
              <a:chExt cx="1304009" cy="871898"/>
            </a:xfrm>
          </p:grpSpPr>
          <p:sp>
            <p:nvSpPr>
              <p:cNvPr id="117" name="矩形 116"/>
              <p:cNvSpPr/>
              <p:nvPr/>
            </p:nvSpPr>
            <p:spPr bwMode="gray">
              <a:xfrm>
                <a:off x="10472174" y="5924694"/>
                <a:ext cx="647760" cy="386970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18" name="椭圆 117"/>
              <p:cNvSpPr/>
              <p:nvPr/>
            </p:nvSpPr>
            <p:spPr bwMode="gray">
              <a:xfrm>
                <a:off x="10379358" y="5439766"/>
                <a:ext cx="604768" cy="6047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19" name="椭圆 118"/>
              <p:cNvSpPr/>
              <p:nvPr/>
            </p:nvSpPr>
            <p:spPr bwMode="gray">
              <a:xfrm>
                <a:off x="10125075" y="5625254"/>
                <a:ext cx="703036" cy="68641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20" name="椭圆 119"/>
              <p:cNvSpPr/>
              <p:nvPr/>
            </p:nvSpPr>
            <p:spPr bwMode="gray">
              <a:xfrm>
                <a:off x="10792751" y="5675331"/>
                <a:ext cx="636333" cy="63633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21" name="椭圆 120"/>
              <p:cNvSpPr/>
              <p:nvPr/>
            </p:nvSpPr>
            <p:spPr bwMode="gray">
              <a:xfrm>
                <a:off x="10723031" y="5515085"/>
                <a:ext cx="463257" cy="46325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11" name="组合 110"/>
            <p:cNvGrpSpPr/>
            <p:nvPr/>
          </p:nvGrpSpPr>
          <p:grpSpPr bwMode="gray">
            <a:xfrm>
              <a:off x="4079776" y="3717032"/>
              <a:ext cx="1199862" cy="767350"/>
              <a:chOff x="10181272" y="5503352"/>
              <a:chExt cx="1199862" cy="767350"/>
            </a:xfrm>
          </p:grpSpPr>
          <p:sp>
            <p:nvSpPr>
              <p:cNvPr id="112" name="椭圆 111"/>
              <p:cNvSpPr/>
              <p:nvPr/>
            </p:nvSpPr>
            <p:spPr bwMode="gray">
              <a:xfrm>
                <a:off x="10463850" y="5503352"/>
                <a:ext cx="512609" cy="5126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13" name="椭圆 112"/>
              <p:cNvSpPr/>
              <p:nvPr/>
            </p:nvSpPr>
            <p:spPr bwMode="gray">
              <a:xfrm>
                <a:off x="10181272" y="5697686"/>
                <a:ext cx="573015" cy="5730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14" name="椭圆 113"/>
              <p:cNvSpPr/>
              <p:nvPr/>
            </p:nvSpPr>
            <p:spPr bwMode="gray">
              <a:xfrm>
                <a:off x="10798583" y="5688150"/>
                <a:ext cx="582551" cy="5825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15" name="椭圆 114"/>
              <p:cNvSpPr/>
              <p:nvPr/>
            </p:nvSpPr>
            <p:spPr bwMode="gray">
              <a:xfrm>
                <a:off x="10792392" y="5578078"/>
                <a:ext cx="345057" cy="3450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16" name="矩形 115"/>
              <p:cNvSpPr/>
              <p:nvPr/>
            </p:nvSpPr>
            <p:spPr bwMode="gray">
              <a:xfrm>
                <a:off x="10454799" y="5883732"/>
                <a:ext cx="647760" cy="3869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122" name="矩形 121"/>
          <p:cNvSpPr/>
          <p:nvPr/>
        </p:nvSpPr>
        <p:spPr bwMode="gray">
          <a:xfrm>
            <a:off x="9163466" y="2422284"/>
            <a:ext cx="114807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814705">
              <a:buClr>
                <a:schemeClr val="accent1"/>
              </a:buClr>
              <a:buSzPct val="100000"/>
            </a:pPr>
            <a:r>
              <a:rPr lang="en-US" altLang="zh-CN" sz="15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10.2.2.0/24</a:t>
            </a:r>
            <a:endParaRPr lang="en-US" altLang="zh-CN" sz="15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23" name="圆角矩形 122"/>
          <p:cNvSpPr/>
          <p:nvPr/>
        </p:nvSpPr>
        <p:spPr bwMode="gray">
          <a:xfrm>
            <a:off x="3101019" y="1259601"/>
            <a:ext cx="588288" cy="238245"/>
          </a:xfrm>
          <a:prstGeom prst="roundRect">
            <a:avLst>
              <a:gd name="adj" fmla="val 13019"/>
            </a:avLst>
          </a:prstGeom>
          <a:solidFill>
            <a:srgbClr val="FF006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4" name="圆角矩形 123"/>
          <p:cNvSpPr/>
          <p:nvPr/>
        </p:nvSpPr>
        <p:spPr bwMode="gray">
          <a:xfrm>
            <a:off x="5672099" y="1259601"/>
            <a:ext cx="588288" cy="238245"/>
          </a:xfrm>
          <a:prstGeom prst="roundRect">
            <a:avLst>
              <a:gd name="adj" fmla="val 13019"/>
            </a:avLst>
          </a:prstGeom>
          <a:solidFill>
            <a:srgbClr val="FF006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5" name="圆角矩形 124"/>
          <p:cNvSpPr/>
          <p:nvPr/>
        </p:nvSpPr>
        <p:spPr bwMode="gray">
          <a:xfrm>
            <a:off x="8236513" y="1259601"/>
            <a:ext cx="588288" cy="238245"/>
          </a:xfrm>
          <a:prstGeom prst="roundRect">
            <a:avLst>
              <a:gd name="adj" fmla="val 13019"/>
            </a:avLst>
          </a:prstGeom>
          <a:solidFill>
            <a:srgbClr val="FF006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6" name="圆角矩形 125"/>
          <p:cNvSpPr/>
          <p:nvPr/>
        </p:nvSpPr>
        <p:spPr bwMode="gray">
          <a:xfrm>
            <a:off x="1834969" y="2714428"/>
            <a:ext cx="783012" cy="238245"/>
          </a:xfrm>
          <a:prstGeom prst="roundRect">
            <a:avLst>
              <a:gd name="adj" fmla="val 13019"/>
            </a:avLst>
          </a:prstGeom>
          <a:solidFill>
            <a:srgbClr val="FF993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7" name="圆角矩形 126"/>
          <p:cNvSpPr/>
          <p:nvPr/>
        </p:nvSpPr>
        <p:spPr bwMode="gray">
          <a:xfrm>
            <a:off x="9349182" y="2714428"/>
            <a:ext cx="783012" cy="238245"/>
          </a:xfrm>
          <a:prstGeom prst="roundRect">
            <a:avLst>
              <a:gd name="adj" fmla="val 13019"/>
            </a:avLst>
          </a:prstGeom>
          <a:solidFill>
            <a:srgbClr val="FF993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16002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矩形 127"/>
          <p:cNvSpPr/>
          <p:nvPr/>
        </p:nvSpPr>
        <p:spPr bwMode="gray">
          <a:xfrm>
            <a:off x="2842209" y="1484754"/>
            <a:ext cx="10599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1.1.1.1/32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矩形 128"/>
          <p:cNvSpPr/>
          <p:nvPr/>
        </p:nvSpPr>
        <p:spPr bwMode="gray">
          <a:xfrm>
            <a:off x="5436290" y="1484754"/>
            <a:ext cx="10599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2.2.2.2/32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0" name="矩形 129"/>
          <p:cNvSpPr/>
          <p:nvPr/>
        </p:nvSpPr>
        <p:spPr bwMode="gray">
          <a:xfrm>
            <a:off x="7981839" y="1484754"/>
            <a:ext cx="10599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3.3.3.3/32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1" name="圆角矩形 130"/>
          <p:cNvSpPr/>
          <p:nvPr/>
        </p:nvSpPr>
        <p:spPr bwMode="gray">
          <a:xfrm>
            <a:off x="4715698" y="3449658"/>
            <a:ext cx="1188000" cy="208119"/>
          </a:xfrm>
          <a:prstGeom prst="roundRect">
            <a:avLst>
              <a:gd name="adj" fmla="val 13019"/>
            </a:avLst>
          </a:prstGeom>
          <a:solidFill>
            <a:srgbClr val="FF006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Node SID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2" name="圆角矩形 131"/>
          <p:cNvSpPr/>
          <p:nvPr/>
        </p:nvSpPr>
        <p:spPr bwMode="gray">
          <a:xfrm>
            <a:off x="3375890" y="3449658"/>
            <a:ext cx="1188000" cy="208119"/>
          </a:xfrm>
          <a:prstGeom prst="roundRect">
            <a:avLst>
              <a:gd name="adj" fmla="val 13019"/>
            </a:avLst>
          </a:prstGeom>
          <a:solidFill>
            <a:srgbClr val="FF993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SID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3" name="圆角矩形 132"/>
          <p:cNvSpPr/>
          <p:nvPr/>
        </p:nvSpPr>
        <p:spPr bwMode="gray">
          <a:xfrm>
            <a:off x="6055360" y="3181985"/>
            <a:ext cx="1188085" cy="476250"/>
          </a:xfrm>
          <a:prstGeom prst="roundRect">
            <a:avLst>
              <a:gd name="adj" fmla="val 13019"/>
            </a:avLst>
          </a:prstGeom>
          <a:solidFill>
            <a:srgbClr val="92D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Adjacency SID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6" name="图片 6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26385" y="2380186"/>
            <a:ext cx="540000" cy="442800"/>
          </a:xfrm>
          <a:prstGeom prst="rect">
            <a:avLst/>
          </a:prstGeom>
        </p:spPr>
      </p:pic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694360" y="2380186"/>
            <a:ext cx="540000" cy="44280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285249" y="2380186"/>
            <a:ext cx="540000" cy="4428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 bwMode="gray">
          <a:xfrm>
            <a:off x="7252167" y="3449658"/>
            <a:ext cx="24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注：后续使用相同的方式标识</a:t>
            </a:r>
            <a:r>
              <a:rPr lang="en-US" altLang="zh-CN" sz="1200" dirty="0"/>
              <a:t>SID</a:t>
            </a:r>
            <a:endParaRPr lang="zh-CN" altLang="en-US" sz="1200" dirty="0"/>
          </a:p>
        </p:txBody>
      </p:sp>
      <p:sp>
        <p:nvSpPr>
          <p:cNvPr id="76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 bwMode="gray">
          <a:xfrm>
            <a:off x="2638345" y="2136940"/>
            <a:ext cx="492363" cy="473566"/>
            <a:chOff x="3769575" y="2816233"/>
            <a:chExt cx="959475" cy="2029316"/>
          </a:xfrm>
        </p:grpSpPr>
        <p:cxnSp>
          <p:nvCxnSpPr>
            <p:cNvPr id="6" name="直接连接符 5"/>
            <p:cNvCxnSpPr/>
            <p:nvPr/>
          </p:nvCxnSpPr>
          <p:spPr bwMode="gray">
            <a:xfrm flipH="1">
              <a:off x="3769575" y="2816233"/>
              <a:ext cx="959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 bwMode="gray">
            <a:xfrm flipV="1">
              <a:off x="4249312" y="2816233"/>
              <a:ext cx="0" cy="20293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 bwMode="gray">
          <a:xfrm>
            <a:off x="5209425" y="2136940"/>
            <a:ext cx="492363" cy="473566"/>
            <a:chOff x="3769575" y="2816233"/>
            <a:chExt cx="959475" cy="2029316"/>
          </a:xfrm>
        </p:grpSpPr>
        <p:cxnSp>
          <p:nvCxnSpPr>
            <p:cNvPr id="17" name="直接连接符 16"/>
            <p:cNvCxnSpPr/>
            <p:nvPr/>
          </p:nvCxnSpPr>
          <p:spPr bwMode="gray">
            <a:xfrm flipH="1">
              <a:off x="3769575" y="2816233"/>
              <a:ext cx="959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gray">
            <a:xfrm flipV="1">
              <a:off x="4249312" y="2816233"/>
              <a:ext cx="0" cy="20293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 bwMode="gray">
          <a:xfrm>
            <a:off x="7775734" y="2136940"/>
            <a:ext cx="492363" cy="473566"/>
            <a:chOff x="3769575" y="2816233"/>
            <a:chExt cx="959475" cy="2029316"/>
          </a:xfrm>
        </p:grpSpPr>
        <p:cxnSp>
          <p:nvCxnSpPr>
            <p:cNvPr id="21" name="直接连接符 20"/>
            <p:cNvCxnSpPr/>
            <p:nvPr/>
          </p:nvCxnSpPr>
          <p:spPr bwMode="gray">
            <a:xfrm flipH="1">
              <a:off x="3769575" y="2816233"/>
              <a:ext cx="959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gray">
            <a:xfrm flipV="1">
              <a:off x="4249312" y="2816233"/>
              <a:ext cx="0" cy="20293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基本概念：</a:t>
            </a:r>
            <a:r>
              <a:rPr lang="en-US" altLang="zh-CN">
                <a:sym typeface="Huawei Sans" panose="020C0503030203020204" pitchFamily="34" charset="0"/>
              </a:rPr>
              <a:t>Prefix </a:t>
            </a:r>
            <a:r>
              <a:rPr lang="en-US" altLang="zh-CN" dirty="0">
                <a:sym typeface="Huawei Sans" panose="020C0503030203020204" pitchFamily="34" charset="0"/>
              </a:rPr>
              <a:t>Segment</a:t>
            </a:r>
            <a:endParaRPr lang="zh-CN" altLang="en-US">
              <a:sym typeface="Huawei Sans" panose="020C050303020302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 bwMode="gray">
          <a:xfrm flipH="1">
            <a:off x="2100782" y="2691046"/>
            <a:ext cx="67222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 bwMode="gray">
          <a:xfrm>
            <a:off x="2677578" y="2919029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矩形 12"/>
          <p:cNvSpPr/>
          <p:nvPr/>
        </p:nvSpPr>
        <p:spPr bwMode="gray">
          <a:xfrm>
            <a:off x="5254964" y="2919029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gray">
          <a:xfrm>
            <a:off x="7832350" y="2919029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4" name="组合 43"/>
          <p:cNvGrpSpPr/>
          <p:nvPr/>
        </p:nvGrpSpPr>
        <p:grpSpPr bwMode="gray">
          <a:xfrm>
            <a:off x="1064659" y="2281991"/>
            <a:ext cx="1304009" cy="871898"/>
            <a:chOff x="4027703" y="3656700"/>
            <a:chExt cx="1304009" cy="871898"/>
          </a:xfrm>
        </p:grpSpPr>
        <p:grpSp>
          <p:nvGrpSpPr>
            <p:cNvPr id="31" name="组合 30"/>
            <p:cNvGrpSpPr/>
            <p:nvPr/>
          </p:nvGrpSpPr>
          <p:grpSpPr bwMode="gray">
            <a:xfrm>
              <a:off x="4027703" y="3656700"/>
              <a:ext cx="1304009" cy="871898"/>
              <a:chOff x="10125075" y="5439766"/>
              <a:chExt cx="1304009" cy="871898"/>
            </a:xfrm>
          </p:grpSpPr>
          <p:sp>
            <p:nvSpPr>
              <p:cNvPr id="32" name="矩形 31"/>
              <p:cNvSpPr/>
              <p:nvPr/>
            </p:nvSpPr>
            <p:spPr bwMode="gray">
              <a:xfrm>
                <a:off x="10472174" y="5924694"/>
                <a:ext cx="647760" cy="386970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 bwMode="gray">
              <a:xfrm>
                <a:off x="10379358" y="5439766"/>
                <a:ext cx="604768" cy="6047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 bwMode="gray">
              <a:xfrm>
                <a:off x="10125075" y="5625254"/>
                <a:ext cx="703036" cy="68641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 bwMode="gray">
              <a:xfrm>
                <a:off x="10792751" y="5675331"/>
                <a:ext cx="636333" cy="63633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 bwMode="gray">
              <a:xfrm>
                <a:off x="10723031" y="5515085"/>
                <a:ext cx="463257" cy="46325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 bwMode="gray">
            <a:xfrm>
              <a:off x="4079776" y="3717032"/>
              <a:ext cx="1199862" cy="767350"/>
              <a:chOff x="10181272" y="5503352"/>
              <a:chExt cx="1199862" cy="767350"/>
            </a:xfrm>
          </p:grpSpPr>
          <p:sp>
            <p:nvSpPr>
              <p:cNvPr id="38" name="椭圆 37"/>
              <p:cNvSpPr/>
              <p:nvPr/>
            </p:nvSpPr>
            <p:spPr bwMode="gray">
              <a:xfrm>
                <a:off x="10463850" y="5503352"/>
                <a:ext cx="512609" cy="5126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 bwMode="gray">
              <a:xfrm>
                <a:off x="10181272" y="5697686"/>
                <a:ext cx="573015" cy="5730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 bwMode="gray">
              <a:xfrm>
                <a:off x="10798583" y="5688150"/>
                <a:ext cx="582551" cy="5825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 bwMode="gray">
              <a:xfrm>
                <a:off x="10792392" y="5578078"/>
                <a:ext cx="345057" cy="3450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2" name="矩形 41"/>
              <p:cNvSpPr/>
              <p:nvPr/>
            </p:nvSpPr>
            <p:spPr bwMode="gray">
              <a:xfrm>
                <a:off x="10454799" y="5883732"/>
                <a:ext cx="647760" cy="3869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45" name="矩形 44"/>
          <p:cNvSpPr/>
          <p:nvPr/>
        </p:nvSpPr>
        <p:spPr bwMode="gray">
          <a:xfrm>
            <a:off x="1129182" y="2522243"/>
            <a:ext cx="114807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814705">
              <a:buClr>
                <a:schemeClr val="accent1"/>
              </a:buClr>
              <a:buSzPct val="100000"/>
            </a:pPr>
            <a:r>
              <a:rPr lang="en-US" altLang="zh-CN" sz="15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10.1.1.0/24</a:t>
            </a:r>
            <a:endParaRPr lang="en-US" altLang="zh-CN" sz="15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46" name="组合 45"/>
          <p:cNvGrpSpPr/>
          <p:nvPr/>
        </p:nvGrpSpPr>
        <p:grpSpPr bwMode="gray">
          <a:xfrm>
            <a:off x="8588306" y="2281991"/>
            <a:ext cx="1304009" cy="871898"/>
            <a:chOff x="4027703" y="3656700"/>
            <a:chExt cx="1304009" cy="871898"/>
          </a:xfrm>
        </p:grpSpPr>
        <p:grpSp>
          <p:nvGrpSpPr>
            <p:cNvPr id="47" name="组合 46"/>
            <p:cNvGrpSpPr/>
            <p:nvPr/>
          </p:nvGrpSpPr>
          <p:grpSpPr bwMode="gray">
            <a:xfrm>
              <a:off x="4027703" y="3656700"/>
              <a:ext cx="1304009" cy="871898"/>
              <a:chOff x="10125075" y="5439766"/>
              <a:chExt cx="1304009" cy="871898"/>
            </a:xfrm>
          </p:grpSpPr>
          <p:sp>
            <p:nvSpPr>
              <p:cNvPr id="54" name="矩形 53"/>
              <p:cNvSpPr/>
              <p:nvPr/>
            </p:nvSpPr>
            <p:spPr bwMode="gray">
              <a:xfrm>
                <a:off x="10472174" y="5924694"/>
                <a:ext cx="647760" cy="386970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 bwMode="gray">
              <a:xfrm>
                <a:off x="10379358" y="5439766"/>
                <a:ext cx="604768" cy="6047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 bwMode="gray">
              <a:xfrm>
                <a:off x="10125075" y="5625254"/>
                <a:ext cx="703036" cy="68641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 bwMode="gray">
              <a:xfrm>
                <a:off x="10792751" y="5675331"/>
                <a:ext cx="636333" cy="63633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8" name="椭圆 57"/>
              <p:cNvSpPr/>
              <p:nvPr/>
            </p:nvSpPr>
            <p:spPr bwMode="gray">
              <a:xfrm>
                <a:off x="10723031" y="5515085"/>
                <a:ext cx="463257" cy="46325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 bwMode="gray">
            <a:xfrm>
              <a:off x="4079776" y="3717032"/>
              <a:ext cx="1199862" cy="767350"/>
              <a:chOff x="10181272" y="5503352"/>
              <a:chExt cx="1199862" cy="767350"/>
            </a:xfrm>
          </p:grpSpPr>
          <p:sp>
            <p:nvSpPr>
              <p:cNvPr id="49" name="椭圆 48"/>
              <p:cNvSpPr/>
              <p:nvPr/>
            </p:nvSpPr>
            <p:spPr bwMode="gray">
              <a:xfrm>
                <a:off x="10463850" y="5503352"/>
                <a:ext cx="512609" cy="5126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 bwMode="gray">
              <a:xfrm>
                <a:off x="10181272" y="5697686"/>
                <a:ext cx="573015" cy="5730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 bwMode="gray">
              <a:xfrm>
                <a:off x="10798583" y="5688150"/>
                <a:ext cx="582551" cy="5825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 bwMode="gray">
              <a:xfrm>
                <a:off x="10792392" y="5578078"/>
                <a:ext cx="345057" cy="3450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3" name="矩形 52"/>
              <p:cNvSpPr/>
              <p:nvPr/>
            </p:nvSpPr>
            <p:spPr bwMode="gray">
              <a:xfrm>
                <a:off x="10454799" y="5883732"/>
                <a:ext cx="647760" cy="3869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59" name="矩形 58"/>
          <p:cNvSpPr/>
          <p:nvPr/>
        </p:nvSpPr>
        <p:spPr bwMode="gray">
          <a:xfrm>
            <a:off x="8652829" y="2522243"/>
            <a:ext cx="114807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814705">
              <a:buClr>
                <a:schemeClr val="accent1"/>
              </a:buClr>
              <a:buSzPct val="100000"/>
            </a:pPr>
            <a:r>
              <a:rPr lang="en-US" altLang="zh-CN" sz="15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10.2.2.0/24</a:t>
            </a:r>
            <a:endParaRPr lang="en-US" altLang="zh-CN" sz="15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60" name="圆角矩形 59"/>
          <p:cNvSpPr/>
          <p:nvPr/>
        </p:nvSpPr>
        <p:spPr bwMode="gray">
          <a:xfrm>
            <a:off x="2590382" y="1359560"/>
            <a:ext cx="588288" cy="238245"/>
          </a:xfrm>
          <a:prstGeom prst="roundRect">
            <a:avLst>
              <a:gd name="adj" fmla="val 13019"/>
            </a:avLst>
          </a:prstGeom>
          <a:solidFill>
            <a:srgbClr val="FF006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圆角矩形 61"/>
          <p:cNvSpPr/>
          <p:nvPr/>
        </p:nvSpPr>
        <p:spPr bwMode="gray">
          <a:xfrm>
            <a:off x="5161462" y="1359560"/>
            <a:ext cx="588288" cy="238245"/>
          </a:xfrm>
          <a:prstGeom prst="roundRect">
            <a:avLst>
              <a:gd name="adj" fmla="val 13019"/>
            </a:avLst>
          </a:prstGeom>
          <a:solidFill>
            <a:srgbClr val="FF006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圆角矩形 62"/>
          <p:cNvSpPr/>
          <p:nvPr/>
        </p:nvSpPr>
        <p:spPr bwMode="gray">
          <a:xfrm>
            <a:off x="7725876" y="1359560"/>
            <a:ext cx="588288" cy="238245"/>
          </a:xfrm>
          <a:prstGeom prst="roundRect">
            <a:avLst>
              <a:gd name="adj" fmla="val 13019"/>
            </a:avLst>
          </a:prstGeom>
          <a:solidFill>
            <a:srgbClr val="FF006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1184277" y="3506459"/>
            <a:ext cx="8588420" cy="707886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Segment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（前缀段）</a:t>
            </a:r>
            <a:endParaRPr lang="en-US" altLang="zh-CN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用于标识网络中的某个目的地址前缀。通过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协议扩散到其他网元，全局可见，全局有效。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矩形 72"/>
          <p:cNvSpPr/>
          <p:nvPr/>
        </p:nvSpPr>
        <p:spPr bwMode="gray">
          <a:xfrm>
            <a:off x="1184277" y="4312986"/>
            <a:ext cx="8588420" cy="1015663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lumMod val="95000"/>
                </a:schemeClr>
              </a:gs>
            </a:gsLst>
            <a:lin ang="5400000" scaled="1"/>
          </a:gradFill>
          <a:ln w="19050">
            <a:gradFill>
              <a:gsLst>
                <a:gs pos="100000">
                  <a:schemeClr val="bg1"/>
                </a:gs>
                <a:gs pos="0">
                  <a:schemeClr val="bg1">
                    <a:lumMod val="75000"/>
                  </a:schemeClr>
                </a:gs>
              </a:gsLst>
              <a:lin ang="5400000" scaled="1"/>
            </a:gradFill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Segment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）标识。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是发布端通告的的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 Global Block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）范围内的偏移值，接收端会根据自己的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计算实际标签值用于生成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转发表项。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矩形 73"/>
          <p:cNvSpPr/>
          <p:nvPr/>
        </p:nvSpPr>
        <p:spPr bwMode="gray">
          <a:xfrm>
            <a:off x="2331572" y="1584713"/>
            <a:ext cx="10599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1.1.1.1/32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矩形 75"/>
          <p:cNvSpPr/>
          <p:nvPr/>
        </p:nvSpPr>
        <p:spPr bwMode="gray">
          <a:xfrm>
            <a:off x="4925653" y="1584713"/>
            <a:ext cx="10599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2.2.2.2/32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矩形 76"/>
          <p:cNvSpPr/>
          <p:nvPr/>
        </p:nvSpPr>
        <p:spPr bwMode="gray">
          <a:xfrm>
            <a:off x="7471202" y="1584713"/>
            <a:ext cx="10599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3.3.3.3/32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矩形 78"/>
          <p:cNvSpPr/>
          <p:nvPr/>
        </p:nvSpPr>
        <p:spPr bwMode="gray">
          <a:xfrm>
            <a:off x="1184277" y="5415161"/>
            <a:ext cx="8588420" cy="707886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lumMod val="95000"/>
                </a:schemeClr>
              </a:gs>
            </a:gsLst>
            <a:lin ang="5400000" scaled="1"/>
          </a:gradFill>
          <a:ln w="19050">
            <a:gradFill>
              <a:gsLst>
                <a:gs pos="100000">
                  <a:schemeClr val="bg1"/>
                </a:gs>
                <a:gs pos="0">
                  <a:schemeClr val="bg1">
                    <a:lumMod val="75000"/>
                  </a:schemeClr>
                </a:gs>
              </a:gsLst>
              <a:lin ang="5400000" scaled="1"/>
            </a:gradFill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Node Segment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是特殊的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Segment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，用于标识特定的节点（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Node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在节点的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接口下配置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地址作为前缀，这个节点的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SID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实际就是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Node SID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圆角矩形 83"/>
          <p:cNvSpPr/>
          <p:nvPr/>
        </p:nvSpPr>
        <p:spPr bwMode="gray">
          <a:xfrm>
            <a:off x="1324332" y="2814387"/>
            <a:ext cx="783012" cy="238245"/>
          </a:xfrm>
          <a:prstGeom prst="roundRect">
            <a:avLst>
              <a:gd name="adj" fmla="val 13019"/>
            </a:avLst>
          </a:prstGeom>
          <a:solidFill>
            <a:srgbClr val="FF993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16001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圆角矩形 84"/>
          <p:cNvSpPr/>
          <p:nvPr/>
        </p:nvSpPr>
        <p:spPr bwMode="gray">
          <a:xfrm>
            <a:off x="8838545" y="2814387"/>
            <a:ext cx="783012" cy="238245"/>
          </a:xfrm>
          <a:prstGeom prst="roundRect">
            <a:avLst>
              <a:gd name="adj" fmla="val 13019"/>
            </a:avLst>
          </a:prstGeom>
          <a:solidFill>
            <a:srgbClr val="FF993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16002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任意多边形 86"/>
          <p:cNvSpPr/>
          <p:nvPr/>
        </p:nvSpPr>
        <p:spPr bwMode="gray">
          <a:xfrm flipH="1" flipV="1">
            <a:off x="9727314" y="2142924"/>
            <a:ext cx="356851" cy="753758"/>
          </a:xfrm>
          <a:custGeom>
            <a:avLst/>
            <a:gdLst>
              <a:gd name="connsiteX0" fmla="*/ 0 w 593766"/>
              <a:gd name="connsiteY0" fmla="*/ 1151907 h 1401289"/>
              <a:gd name="connsiteX1" fmla="*/ 356260 w 593766"/>
              <a:gd name="connsiteY1" fmla="*/ 213756 h 1401289"/>
              <a:gd name="connsiteX2" fmla="*/ 225631 w 593766"/>
              <a:gd name="connsiteY2" fmla="*/ 213756 h 1401289"/>
              <a:gd name="connsiteX3" fmla="*/ 522515 w 593766"/>
              <a:gd name="connsiteY3" fmla="*/ 0 h 1401289"/>
              <a:gd name="connsiteX4" fmla="*/ 593766 w 593766"/>
              <a:gd name="connsiteY4" fmla="*/ 320634 h 1401289"/>
              <a:gd name="connsiteX5" fmla="*/ 486889 w 593766"/>
              <a:gd name="connsiteY5" fmla="*/ 249382 h 1401289"/>
              <a:gd name="connsiteX6" fmla="*/ 273133 w 593766"/>
              <a:gd name="connsiteY6" fmla="*/ 1401289 h 1401289"/>
              <a:gd name="connsiteX0-1" fmla="*/ 0 w 638737"/>
              <a:gd name="connsiteY0-2" fmla="*/ 1256838 h 1401289"/>
              <a:gd name="connsiteX1-3" fmla="*/ 401231 w 638737"/>
              <a:gd name="connsiteY1-4" fmla="*/ 213756 h 1401289"/>
              <a:gd name="connsiteX2-5" fmla="*/ 270602 w 638737"/>
              <a:gd name="connsiteY2-6" fmla="*/ 213756 h 1401289"/>
              <a:gd name="connsiteX3-7" fmla="*/ 567486 w 638737"/>
              <a:gd name="connsiteY3-8" fmla="*/ 0 h 1401289"/>
              <a:gd name="connsiteX4-9" fmla="*/ 638737 w 638737"/>
              <a:gd name="connsiteY4-10" fmla="*/ 320634 h 1401289"/>
              <a:gd name="connsiteX5-11" fmla="*/ 531860 w 638737"/>
              <a:gd name="connsiteY5-12" fmla="*/ 249382 h 1401289"/>
              <a:gd name="connsiteX6-13" fmla="*/ 318104 w 638737"/>
              <a:gd name="connsiteY6-14" fmla="*/ 1401289 h 1401289"/>
              <a:gd name="connsiteX0-15" fmla="*/ 0 w 803629"/>
              <a:gd name="connsiteY0-16" fmla="*/ 1736523 h 1736523"/>
              <a:gd name="connsiteX1-17" fmla="*/ 566123 w 803629"/>
              <a:gd name="connsiteY1-18" fmla="*/ 213756 h 1736523"/>
              <a:gd name="connsiteX2-19" fmla="*/ 435494 w 803629"/>
              <a:gd name="connsiteY2-20" fmla="*/ 213756 h 1736523"/>
              <a:gd name="connsiteX3-21" fmla="*/ 732378 w 803629"/>
              <a:gd name="connsiteY3-22" fmla="*/ 0 h 1736523"/>
              <a:gd name="connsiteX4-23" fmla="*/ 803629 w 803629"/>
              <a:gd name="connsiteY4-24" fmla="*/ 320634 h 1736523"/>
              <a:gd name="connsiteX5-25" fmla="*/ 696752 w 803629"/>
              <a:gd name="connsiteY5-26" fmla="*/ 249382 h 1736523"/>
              <a:gd name="connsiteX6-27" fmla="*/ 482996 w 803629"/>
              <a:gd name="connsiteY6-28" fmla="*/ 1401289 h 1736523"/>
              <a:gd name="connsiteX0-29" fmla="*/ 0 w 803629"/>
              <a:gd name="connsiteY0-30" fmla="*/ 1736523 h 1736523"/>
              <a:gd name="connsiteX1-31" fmla="*/ 566123 w 803629"/>
              <a:gd name="connsiteY1-32" fmla="*/ 213756 h 1736523"/>
              <a:gd name="connsiteX2-33" fmla="*/ 435494 w 803629"/>
              <a:gd name="connsiteY2-34" fmla="*/ 213756 h 1736523"/>
              <a:gd name="connsiteX3-35" fmla="*/ 732378 w 803629"/>
              <a:gd name="connsiteY3-36" fmla="*/ 0 h 1736523"/>
              <a:gd name="connsiteX4-37" fmla="*/ 803629 w 803629"/>
              <a:gd name="connsiteY4-38" fmla="*/ 320634 h 1736523"/>
              <a:gd name="connsiteX5-39" fmla="*/ 696752 w 803629"/>
              <a:gd name="connsiteY5-40" fmla="*/ 249382 h 1736523"/>
              <a:gd name="connsiteX6-41" fmla="*/ 482996 w 803629"/>
              <a:gd name="connsiteY6-42" fmla="*/ 1401289 h 1736523"/>
              <a:gd name="connsiteX0-43" fmla="*/ 0 w 803629"/>
              <a:gd name="connsiteY0-44" fmla="*/ 1736523 h 1736523"/>
              <a:gd name="connsiteX1-45" fmla="*/ 566123 w 803629"/>
              <a:gd name="connsiteY1-46" fmla="*/ 213756 h 1736523"/>
              <a:gd name="connsiteX2-47" fmla="*/ 435494 w 803629"/>
              <a:gd name="connsiteY2-48" fmla="*/ 213756 h 1736523"/>
              <a:gd name="connsiteX3-49" fmla="*/ 732378 w 803629"/>
              <a:gd name="connsiteY3-50" fmla="*/ 0 h 1736523"/>
              <a:gd name="connsiteX4-51" fmla="*/ 803629 w 803629"/>
              <a:gd name="connsiteY4-52" fmla="*/ 320634 h 1736523"/>
              <a:gd name="connsiteX5-53" fmla="*/ 696752 w 803629"/>
              <a:gd name="connsiteY5-54" fmla="*/ 249382 h 1736523"/>
              <a:gd name="connsiteX6-55" fmla="*/ 482996 w 803629"/>
              <a:gd name="connsiteY6-56" fmla="*/ 1401289 h 1736523"/>
              <a:gd name="connsiteX0-57" fmla="*/ 0 w 803629"/>
              <a:gd name="connsiteY0-58" fmla="*/ 1736523 h 1736523"/>
              <a:gd name="connsiteX1-59" fmla="*/ 566123 w 803629"/>
              <a:gd name="connsiteY1-60" fmla="*/ 213756 h 1736523"/>
              <a:gd name="connsiteX2-61" fmla="*/ 435494 w 803629"/>
              <a:gd name="connsiteY2-62" fmla="*/ 213756 h 1736523"/>
              <a:gd name="connsiteX3-63" fmla="*/ 732378 w 803629"/>
              <a:gd name="connsiteY3-64" fmla="*/ 0 h 1736523"/>
              <a:gd name="connsiteX4-65" fmla="*/ 803629 w 803629"/>
              <a:gd name="connsiteY4-66" fmla="*/ 320634 h 1736523"/>
              <a:gd name="connsiteX5-67" fmla="*/ 696752 w 803629"/>
              <a:gd name="connsiteY5-68" fmla="*/ 249382 h 1736523"/>
              <a:gd name="connsiteX6-69" fmla="*/ 602917 w 803629"/>
              <a:gd name="connsiteY6-70" fmla="*/ 1401289 h 1736523"/>
              <a:gd name="connsiteX0-71" fmla="*/ 0 w 683708"/>
              <a:gd name="connsiteY0-72" fmla="*/ 1736523 h 1736523"/>
              <a:gd name="connsiteX1-73" fmla="*/ 446202 w 683708"/>
              <a:gd name="connsiteY1-74" fmla="*/ 213756 h 1736523"/>
              <a:gd name="connsiteX2-75" fmla="*/ 315573 w 683708"/>
              <a:gd name="connsiteY2-76" fmla="*/ 213756 h 1736523"/>
              <a:gd name="connsiteX3-77" fmla="*/ 612457 w 683708"/>
              <a:gd name="connsiteY3-78" fmla="*/ 0 h 1736523"/>
              <a:gd name="connsiteX4-79" fmla="*/ 683708 w 683708"/>
              <a:gd name="connsiteY4-80" fmla="*/ 320634 h 1736523"/>
              <a:gd name="connsiteX5-81" fmla="*/ 576831 w 683708"/>
              <a:gd name="connsiteY5-82" fmla="*/ 249382 h 1736523"/>
              <a:gd name="connsiteX6-83" fmla="*/ 482996 w 683708"/>
              <a:gd name="connsiteY6-84" fmla="*/ 1401289 h 1736523"/>
              <a:gd name="connsiteX0-85" fmla="*/ 0 w 683708"/>
              <a:gd name="connsiteY0-86" fmla="*/ 1736523 h 1736523"/>
              <a:gd name="connsiteX1-87" fmla="*/ 446202 w 683708"/>
              <a:gd name="connsiteY1-88" fmla="*/ 213756 h 1736523"/>
              <a:gd name="connsiteX2-89" fmla="*/ 315573 w 683708"/>
              <a:gd name="connsiteY2-90" fmla="*/ 213756 h 1736523"/>
              <a:gd name="connsiteX3-91" fmla="*/ 612457 w 683708"/>
              <a:gd name="connsiteY3-92" fmla="*/ 0 h 1736523"/>
              <a:gd name="connsiteX4-93" fmla="*/ 683708 w 683708"/>
              <a:gd name="connsiteY4-94" fmla="*/ 320634 h 1736523"/>
              <a:gd name="connsiteX5-95" fmla="*/ 576831 w 683708"/>
              <a:gd name="connsiteY5-96" fmla="*/ 249382 h 1736523"/>
              <a:gd name="connsiteX6-97" fmla="*/ 482996 w 683708"/>
              <a:gd name="connsiteY6-98" fmla="*/ 1401289 h 1736523"/>
              <a:gd name="connsiteX0-99" fmla="*/ 0 w 683708"/>
              <a:gd name="connsiteY0-100" fmla="*/ 1736523 h 1736523"/>
              <a:gd name="connsiteX1-101" fmla="*/ 446202 w 683708"/>
              <a:gd name="connsiteY1-102" fmla="*/ 213756 h 1736523"/>
              <a:gd name="connsiteX2-103" fmla="*/ 315573 w 683708"/>
              <a:gd name="connsiteY2-104" fmla="*/ 213756 h 1736523"/>
              <a:gd name="connsiteX3-105" fmla="*/ 612457 w 683708"/>
              <a:gd name="connsiteY3-106" fmla="*/ 0 h 1736523"/>
              <a:gd name="connsiteX4-107" fmla="*/ 683708 w 683708"/>
              <a:gd name="connsiteY4-108" fmla="*/ 320634 h 1736523"/>
              <a:gd name="connsiteX5-109" fmla="*/ 576831 w 683708"/>
              <a:gd name="connsiteY5-110" fmla="*/ 249382 h 1736523"/>
              <a:gd name="connsiteX6-111" fmla="*/ 482996 w 683708"/>
              <a:gd name="connsiteY6-112" fmla="*/ 1401289 h 1736523"/>
              <a:gd name="connsiteX0-113" fmla="*/ 0 w 683708"/>
              <a:gd name="connsiteY0-114" fmla="*/ 1736523 h 1736523"/>
              <a:gd name="connsiteX1-115" fmla="*/ 446202 w 683708"/>
              <a:gd name="connsiteY1-116" fmla="*/ 213756 h 1736523"/>
              <a:gd name="connsiteX2-117" fmla="*/ 315573 w 683708"/>
              <a:gd name="connsiteY2-118" fmla="*/ 213756 h 1736523"/>
              <a:gd name="connsiteX3-119" fmla="*/ 612457 w 683708"/>
              <a:gd name="connsiteY3-120" fmla="*/ 0 h 1736523"/>
              <a:gd name="connsiteX4-121" fmla="*/ 683708 w 683708"/>
              <a:gd name="connsiteY4-122" fmla="*/ 320634 h 1736523"/>
              <a:gd name="connsiteX5-123" fmla="*/ 576831 w 683708"/>
              <a:gd name="connsiteY5-124" fmla="*/ 249382 h 1736523"/>
              <a:gd name="connsiteX6-125" fmla="*/ 482996 w 683708"/>
              <a:gd name="connsiteY6-126" fmla="*/ 1401289 h 1736523"/>
              <a:gd name="connsiteX0-127" fmla="*/ 0 w 683708"/>
              <a:gd name="connsiteY0-128" fmla="*/ 1736523 h 1736523"/>
              <a:gd name="connsiteX1-129" fmla="*/ 446202 w 683708"/>
              <a:gd name="connsiteY1-130" fmla="*/ 213756 h 1736523"/>
              <a:gd name="connsiteX2-131" fmla="*/ 315573 w 683708"/>
              <a:gd name="connsiteY2-132" fmla="*/ 213756 h 1736523"/>
              <a:gd name="connsiteX3-133" fmla="*/ 612457 w 683708"/>
              <a:gd name="connsiteY3-134" fmla="*/ 0 h 1736523"/>
              <a:gd name="connsiteX4-135" fmla="*/ 683708 w 683708"/>
              <a:gd name="connsiteY4-136" fmla="*/ 320634 h 1736523"/>
              <a:gd name="connsiteX5-137" fmla="*/ 576831 w 683708"/>
              <a:gd name="connsiteY5-138" fmla="*/ 249382 h 1736523"/>
              <a:gd name="connsiteX6-139" fmla="*/ 482996 w 683708"/>
              <a:gd name="connsiteY6-140" fmla="*/ 1401289 h 1736523"/>
              <a:gd name="connsiteX0-141" fmla="*/ 0 w 683708"/>
              <a:gd name="connsiteY0-142" fmla="*/ 1736523 h 1736523"/>
              <a:gd name="connsiteX1-143" fmla="*/ 446202 w 683708"/>
              <a:gd name="connsiteY1-144" fmla="*/ 213756 h 1736523"/>
              <a:gd name="connsiteX2-145" fmla="*/ 315573 w 683708"/>
              <a:gd name="connsiteY2-146" fmla="*/ 213756 h 1736523"/>
              <a:gd name="connsiteX3-147" fmla="*/ 612457 w 683708"/>
              <a:gd name="connsiteY3-148" fmla="*/ 0 h 1736523"/>
              <a:gd name="connsiteX4-149" fmla="*/ 683708 w 683708"/>
              <a:gd name="connsiteY4-150" fmla="*/ 320634 h 1736523"/>
              <a:gd name="connsiteX5-151" fmla="*/ 576831 w 683708"/>
              <a:gd name="connsiteY5-152" fmla="*/ 249382 h 1736523"/>
              <a:gd name="connsiteX6-153" fmla="*/ 482996 w 683708"/>
              <a:gd name="connsiteY6-154" fmla="*/ 1401289 h 1736523"/>
              <a:gd name="connsiteX0-155" fmla="*/ 0 w 683708"/>
              <a:gd name="connsiteY0-156" fmla="*/ 1736523 h 1736523"/>
              <a:gd name="connsiteX1-157" fmla="*/ 446202 w 683708"/>
              <a:gd name="connsiteY1-158" fmla="*/ 213756 h 1736523"/>
              <a:gd name="connsiteX2-159" fmla="*/ 315573 w 683708"/>
              <a:gd name="connsiteY2-160" fmla="*/ 213756 h 1736523"/>
              <a:gd name="connsiteX3-161" fmla="*/ 612457 w 683708"/>
              <a:gd name="connsiteY3-162" fmla="*/ 0 h 1736523"/>
              <a:gd name="connsiteX4-163" fmla="*/ 683708 w 683708"/>
              <a:gd name="connsiteY4-164" fmla="*/ 320634 h 1736523"/>
              <a:gd name="connsiteX5-165" fmla="*/ 576831 w 683708"/>
              <a:gd name="connsiteY5-166" fmla="*/ 249382 h 1736523"/>
              <a:gd name="connsiteX6-167" fmla="*/ 490140 w 683708"/>
              <a:gd name="connsiteY6-168" fmla="*/ 1420339 h 1736523"/>
              <a:gd name="connsiteX0-169" fmla="*/ 0 w 683708"/>
              <a:gd name="connsiteY0-170" fmla="*/ 1736523 h 1736523"/>
              <a:gd name="connsiteX1-171" fmla="*/ 446202 w 683708"/>
              <a:gd name="connsiteY1-172" fmla="*/ 213756 h 1736523"/>
              <a:gd name="connsiteX2-173" fmla="*/ 315573 w 683708"/>
              <a:gd name="connsiteY2-174" fmla="*/ 213756 h 1736523"/>
              <a:gd name="connsiteX3-175" fmla="*/ 612457 w 683708"/>
              <a:gd name="connsiteY3-176" fmla="*/ 0 h 1736523"/>
              <a:gd name="connsiteX4-177" fmla="*/ 683708 w 683708"/>
              <a:gd name="connsiteY4-178" fmla="*/ 320634 h 1736523"/>
              <a:gd name="connsiteX5-179" fmla="*/ 576831 w 683708"/>
              <a:gd name="connsiteY5-180" fmla="*/ 249382 h 1736523"/>
              <a:gd name="connsiteX6-181" fmla="*/ 490140 w 683708"/>
              <a:gd name="connsiteY6-182" fmla="*/ 1420339 h 1736523"/>
              <a:gd name="connsiteX0-183" fmla="*/ 0 w 683708"/>
              <a:gd name="connsiteY0-184" fmla="*/ 1726998 h 1726998"/>
              <a:gd name="connsiteX1-185" fmla="*/ 446202 w 683708"/>
              <a:gd name="connsiteY1-186" fmla="*/ 204231 h 1726998"/>
              <a:gd name="connsiteX2-187" fmla="*/ 315573 w 683708"/>
              <a:gd name="connsiteY2-188" fmla="*/ 204231 h 1726998"/>
              <a:gd name="connsiteX3-189" fmla="*/ 602932 w 683708"/>
              <a:gd name="connsiteY3-190" fmla="*/ 0 h 1726998"/>
              <a:gd name="connsiteX4-191" fmla="*/ 683708 w 683708"/>
              <a:gd name="connsiteY4-192" fmla="*/ 311109 h 1726998"/>
              <a:gd name="connsiteX5-193" fmla="*/ 576831 w 683708"/>
              <a:gd name="connsiteY5-194" fmla="*/ 239857 h 1726998"/>
              <a:gd name="connsiteX6-195" fmla="*/ 490140 w 683708"/>
              <a:gd name="connsiteY6-196" fmla="*/ 1410814 h 17269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683708" h="1726998">
                <a:moveTo>
                  <a:pt x="0" y="1726998"/>
                </a:moveTo>
                <a:cubicBezTo>
                  <a:pt x="68786" y="724734"/>
                  <a:pt x="252732" y="483220"/>
                  <a:pt x="446202" y="204231"/>
                </a:cubicBezTo>
                <a:lnTo>
                  <a:pt x="315573" y="204231"/>
                </a:lnTo>
                <a:lnTo>
                  <a:pt x="602932" y="0"/>
                </a:lnTo>
                <a:lnTo>
                  <a:pt x="683708" y="311109"/>
                </a:lnTo>
                <a:lnTo>
                  <a:pt x="576831" y="239857"/>
                </a:lnTo>
                <a:cubicBezTo>
                  <a:pt x="398423" y="673832"/>
                  <a:pt x="369487" y="897399"/>
                  <a:pt x="490140" y="1410814"/>
                </a:cubicBezTo>
              </a:path>
            </a:pathLst>
          </a:custGeom>
          <a:gradFill flip="none" rotWithShape="1">
            <a:gsLst>
              <a:gs pos="14000">
                <a:schemeClr val="bg1">
                  <a:alpha val="0"/>
                </a:schemeClr>
              </a:gs>
              <a:gs pos="64000">
                <a:srgbClr val="FFCC66"/>
              </a:gs>
            </a:gsLst>
            <a:lin ang="16200000" scaled="1"/>
            <a:tileRect/>
          </a:gradFill>
          <a:ln w="12700">
            <a:gradFill flip="none" rotWithShape="1">
              <a:gsLst>
                <a:gs pos="11000">
                  <a:schemeClr val="bg1">
                    <a:alpha val="0"/>
                  </a:schemeClr>
                </a:gs>
                <a:gs pos="81000">
                  <a:srgbClr val="FF6600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矩形 87"/>
          <p:cNvSpPr/>
          <p:nvPr/>
        </p:nvSpPr>
        <p:spPr bwMode="gray">
          <a:xfrm>
            <a:off x="9596556" y="1729458"/>
            <a:ext cx="15267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14705">
              <a:buClr>
                <a:schemeClr val="accent1"/>
              </a:buClr>
              <a:buSzPct val="100000"/>
            </a:pPr>
            <a:r>
              <a:rPr lang="zh-CN" altLang="en-US" sz="1500" kern="0" dirty="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类似</a:t>
            </a:r>
            <a:r>
              <a:rPr lang="en-US" altLang="zh-CN" sz="1500" kern="0" dirty="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IP</a:t>
            </a:r>
            <a:r>
              <a:rPr lang="zh-CN" altLang="en-US" sz="1500" kern="0" dirty="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路由中的目的网络地址</a:t>
            </a:r>
            <a:endParaRPr lang="en-US" altLang="zh-CN" sz="1500" kern="0" dirty="0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89" name="任意多边形 88"/>
          <p:cNvSpPr/>
          <p:nvPr/>
        </p:nvSpPr>
        <p:spPr bwMode="gray">
          <a:xfrm rot="16200000" flipH="1">
            <a:off x="8458700" y="942170"/>
            <a:ext cx="356851" cy="596559"/>
          </a:xfrm>
          <a:custGeom>
            <a:avLst/>
            <a:gdLst>
              <a:gd name="connsiteX0" fmla="*/ 0 w 593766"/>
              <a:gd name="connsiteY0" fmla="*/ 1151907 h 1401289"/>
              <a:gd name="connsiteX1" fmla="*/ 356260 w 593766"/>
              <a:gd name="connsiteY1" fmla="*/ 213756 h 1401289"/>
              <a:gd name="connsiteX2" fmla="*/ 225631 w 593766"/>
              <a:gd name="connsiteY2" fmla="*/ 213756 h 1401289"/>
              <a:gd name="connsiteX3" fmla="*/ 522515 w 593766"/>
              <a:gd name="connsiteY3" fmla="*/ 0 h 1401289"/>
              <a:gd name="connsiteX4" fmla="*/ 593766 w 593766"/>
              <a:gd name="connsiteY4" fmla="*/ 320634 h 1401289"/>
              <a:gd name="connsiteX5" fmla="*/ 486889 w 593766"/>
              <a:gd name="connsiteY5" fmla="*/ 249382 h 1401289"/>
              <a:gd name="connsiteX6" fmla="*/ 273133 w 593766"/>
              <a:gd name="connsiteY6" fmla="*/ 1401289 h 1401289"/>
              <a:gd name="connsiteX0-1" fmla="*/ 0 w 638737"/>
              <a:gd name="connsiteY0-2" fmla="*/ 1256838 h 1401289"/>
              <a:gd name="connsiteX1-3" fmla="*/ 401231 w 638737"/>
              <a:gd name="connsiteY1-4" fmla="*/ 213756 h 1401289"/>
              <a:gd name="connsiteX2-5" fmla="*/ 270602 w 638737"/>
              <a:gd name="connsiteY2-6" fmla="*/ 213756 h 1401289"/>
              <a:gd name="connsiteX3-7" fmla="*/ 567486 w 638737"/>
              <a:gd name="connsiteY3-8" fmla="*/ 0 h 1401289"/>
              <a:gd name="connsiteX4-9" fmla="*/ 638737 w 638737"/>
              <a:gd name="connsiteY4-10" fmla="*/ 320634 h 1401289"/>
              <a:gd name="connsiteX5-11" fmla="*/ 531860 w 638737"/>
              <a:gd name="connsiteY5-12" fmla="*/ 249382 h 1401289"/>
              <a:gd name="connsiteX6-13" fmla="*/ 318104 w 638737"/>
              <a:gd name="connsiteY6-14" fmla="*/ 1401289 h 1401289"/>
              <a:gd name="connsiteX0-15" fmla="*/ 0 w 803629"/>
              <a:gd name="connsiteY0-16" fmla="*/ 1736523 h 1736523"/>
              <a:gd name="connsiteX1-17" fmla="*/ 566123 w 803629"/>
              <a:gd name="connsiteY1-18" fmla="*/ 213756 h 1736523"/>
              <a:gd name="connsiteX2-19" fmla="*/ 435494 w 803629"/>
              <a:gd name="connsiteY2-20" fmla="*/ 213756 h 1736523"/>
              <a:gd name="connsiteX3-21" fmla="*/ 732378 w 803629"/>
              <a:gd name="connsiteY3-22" fmla="*/ 0 h 1736523"/>
              <a:gd name="connsiteX4-23" fmla="*/ 803629 w 803629"/>
              <a:gd name="connsiteY4-24" fmla="*/ 320634 h 1736523"/>
              <a:gd name="connsiteX5-25" fmla="*/ 696752 w 803629"/>
              <a:gd name="connsiteY5-26" fmla="*/ 249382 h 1736523"/>
              <a:gd name="connsiteX6-27" fmla="*/ 482996 w 803629"/>
              <a:gd name="connsiteY6-28" fmla="*/ 1401289 h 1736523"/>
              <a:gd name="connsiteX0-29" fmla="*/ 0 w 803629"/>
              <a:gd name="connsiteY0-30" fmla="*/ 1736523 h 1736523"/>
              <a:gd name="connsiteX1-31" fmla="*/ 566123 w 803629"/>
              <a:gd name="connsiteY1-32" fmla="*/ 213756 h 1736523"/>
              <a:gd name="connsiteX2-33" fmla="*/ 435494 w 803629"/>
              <a:gd name="connsiteY2-34" fmla="*/ 213756 h 1736523"/>
              <a:gd name="connsiteX3-35" fmla="*/ 732378 w 803629"/>
              <a:gd name="connsiteY3-36" fmla="*/ 0 h 1736523"/>
              <a:gd name="connsiteX4-37" fmla="*/ 803629 w 803629"/>
              <a:gd name="connsiteY4-38" fmla="*/ 320634 h 1736523"/>
              <a:gd name="connsiteX5-39" fmla="*/ 696752 w 803629"/>
              <a:gd name="connsiteY5-40" fmla="*/ 249382 h 1736523"/>
              <a:gd name="connsiteX6-41" fmla="*/ 482996 w 803629"/>
              <a:gd name="connsiteY6-42" fmla="*/ 1401289 h 1736523"/>
              <a:gd name="connsiteX0-43" fmla="*/ 0 w 803629"/>
              <a:gd name="connsiteY0-44" fmla="*/ 1736523 h 1736523"/>
              <a:gd name="connsiteX1-45" fmla="*/ 566123 w 803629"/>
              <a:gd name="connsiteY1-46" fmla="*/ 213756 h 1736523"/>
              <a:gd name="connsiteX2-47" fmla="*/ 435494 w 803629"/>
              <a:gd name="connsiteY2-48" fmla="*/ 213756 h 1736523"/>
              <a:gd name="connsiteX3-49" fmla="*/ 732378 w 803629"/>
              <a:gd name="connsiteY3-50" fmla="*/ 0 h 1736523"/>
              <a:gd name="connsiteX4-51" fmla="*/ 803629 w 803629"/>
              <a:gd name="connsiteY4-52" fmla="*/ 320634 h 1736523"/>
              <a:gd name="connsiteX5-53" fmla="*/ 696752 w 803629"/>
              <a:gd name="connsiteY5-54" fmla="*/ 249382 h 1736523"/>
              <a:gd name="connsiteX6-55" fmla="*/ 482996 w 803629"/>
              <a:gd name="connsiteY6-56" fmla="*/ 1401289 h 1736523"/>
              <a:gd name="connsiteX0-57" fmla="*/ 0 w 803629"/>
              <a:gd name="connsiteY0-58" fmla="*/ 1736523 h 1736523"/>
              <a:gd name="connsiteX1-59" fmla="*/ 566123 w 803629"/>
              <a:gd name="connsiteY1-60" fmla="*/ 213756 h 1736523"/>
              <a:gd name="connsiteX2-61" fmla="*/ 435494 w 803629"/>
              <a:gd name="connsiteY2-62" fmla="*/ 213756 h 1736523"/>
              <a:gd name="connsiteX3-63" fmla="*/ 732378 w 803629"/>
              <a:gd name="connsiteY3-64" fmla="*/ 0 h 1736523"/>
              <a:gd name="connsiteX4-65" fmla="*/ 803629 w 803629"/>
              <a:gd name="connsiteY4-66" fmla="*/ 320634 h 1736523"/>
              <a:gd name="connsiteX5-67" fmla="*/ 696752 w 803629"/>
              <a:gd name="connsiteY5-68" fmla="*/ 249382 h 1736523"/>
              <a:gd name="connsiteX6-69" fmla="*/ 602917 w 803629"/>
              <a:gd name="connsiteY6-70" fmla="*/ 1401289 h 1736523"/>
              <a:gd name="connsiteX0-71" fmla="*/ 0 w 683708"/>
              <a:gd name="connsiteY0-72" fmla="*/ 1736523 h 1736523"/>
              <a:gd name="connsiteX1-73" fmla="*/ 446202 w 683708"/>
              <a:gd name="connsiteY1-74" fmla="*/ 213756 h 1736523"/>
              <a:gd name="connsiteX2-75" fmla="*/ 315573 w 683708"/>
              <a:gd name="connsiteY2-76" fmla="*/ 213756 h 1736523"/>
              <a:gd name="connsiteX3-77" fmla="*/ 612457 w 683708"/>
              <a:gd name="connsiteY3-78" fmla="*/ 0 h 1736523"/>
              <a:gd name="connsiteX4-79" fmla="*/ 683708 w 683708"/>
              <a:gd name="connsiteY4-80" fmla="*/ 320634 h 1736523"/>
              <a:gd name="connsiteX5-81" fmla="*/ 576831 w 683708"/>
              <a:gd name="connsiteY5-82" fmla="*/ 249382 h 1736523"/>
              <a:gd name="connsiteX6-83" fmla="*/ 482996 w 683708"/>
              <a:gd name="connsiteY6-84" fmla="*/ 1401289 h 1736523"/>
              <a:gd name="connsiteX0-85" fmla="*/ 0 w 683708"/>
              <a:gd name="connsiteY0-86" fmla="*/ 1736523 h 1736523"/>
              <a:gd name="connsiteX1-87" fmla="*/ 446202 w 683708"/>
              <a:gd name="connsiteY1-88" fmla="*/ 213756 h 1736523"/>
              <a:gd name="connsiteX2-89" fmla="*/ 315573 w 683708"/>
              <a:gd name="connsiteY2-90" fmla="*/ 213756 h 1736523"/>
              <a:gd name="connsiteX3-91" fmla="*/ 612457 w 683708"/>
              <a:gd name="connsiteY3-92" fmla="*/ 0 h 1736523"/>
              <a:gd name="connsiteX4-93" fmla="*/ 683708 w 683708"/>
              <a:gd name="connsiteY4-94" fmla="*/ 320634 h 1736523"/>
              <a:gd name="connsiteX5-95" fmla="*/ 576831 w 683708"/>
              <a:gd name="connsiteY5-96" fmla="*/ 249382 h 1736523"/>
              <a:gd name="connsiteX6-97" fmla="*/ 482996 w 683708"/>
              <a:gd name="connsiteY6-98" fmla="*/ 1401289 h 1736523"/>
              <a:gd name="connsiteX0-99" fmla="*/ 0 w 683708"/>
              <a:gd name="connsiteY0-100" fmla="*/ 1736523 h 1736523"/>
              <a:gd name="connsiteX1-101" fmla="*/ 446202 w 683708"/>
              <a:gd name="connsiteY1-102" fmla="*/ 213756 h 1736523"/>
              <a:gd name="connsiteX2-103" fmla="*/ 315573 w 683708"/>
              <a:gd name="connsiteY2-104" fmla="*/ 213756 h 1736523"/>
              <a:gd name="connsiteX3-105" fmla="*/ 612457 w 683708"/>
              <a:gd name="connsiteY3-106" fmla="*/ 0 h 1736523"/>
              <a:gd name="connsiteX4-107" fmla="*/ 683708 w 683708"/>
              <a:gd name="connsiteY4-108" fmla="*/ 320634 h 1736523"/>
              <a:gd name="connsiteX5-109" fmla="*/ 576831 w 683708"/>
              <a:gd name="connsiteY5-110" fmla="*/ 249382 h 1736523"/>
              <a:gd name="connsiteX6-111" fmla="*/ 482996 w 683708"/>
              <a:gd name="connsiteY6-112" fmla="*/ 1401289 h 1736523"/>
              <a:gd name="connsiteX0-113" fmla="*/ 0 w 683708"/>
              <a:gd name="connsiteY0-114" fmla="*/ 1736523 h 1736523"/>
              <a:gd name="connsiteX1-115" fmla="*/ 446202 w 683708"/>
              <a:gd name="connsiteY1-116" fmla="*/ 213756 h 1736523"/>
              <a:gd name="connsiteX2-117" fmla="*/ 315573 w 683708"/>
              <a:gd name="connsiteY2-118" fmla="*/ 213756 h 1736523"/>
              <a:gd name="connsiteX3-119" fmla="*/ 612457 w 683708"/>
              <a:gd name="connsiteY3-120" fmla="*/ 0 h 1736523"/>
              <a:gd name="connsiteX4-121" fmla="*/ 683708 w 683708"/>
              <a:gd name="connsiteY4-122" fmla="*/ 320634 h 1736523"/>
              <a:gd name="connsiteX5-123" fmla="*/ 576831 w 683708"/>
              <a:gd name="connsiteY5-124" fmla="*/ 249382 h 1736523"/>
              <a:gd name="connsiteX6-125" fmla="*/ 482996 w 683708"/>
              <a:gd name="connsiteY6-126" fmla="*/ 1401289 h 1736523"/>
              <a:gd name="connsiteX0-127" fmla="*/ 0 w 683708"/>
              <a:gd name="connsiteY0-128" fmla="*/ 1736523 h 1736523"/>
              <a:gd name="connsiteX1-129" fmla="*/ 446202 w 683708"/>
              <a:gd name="connsiteY1-130" fmla="*/ 213756 h 1736523"/>
              <a:gd name="connsiteX2-131" fmla="*/ 315573 w 683708"/>
              <a:gd name="connsiteY2-132" fmla="*/ 213756 h 1736523"/>
              <a:gd name="connsiteX3-133" fmla="*/ 612457 w 683708"/>
              <a:gd name="connsiteY3-134" fmla="*/ 0 h 1736523"/>
              <a:gd name="connsiteX4-135" fmla="*/ 683708 w 683708"/>
              <a:gd name="connsiteY4-136" fmla="*/ 320634 h 1736523"/>
              <a:gd name="connsiteX5-137" fmla="*/ 576831 w 683708"/>
              <a:gd name="connsiteY5-138" fmla="*/ 249382 h 1736523"/>
              <a:gd name="connsiteX6-139" fmla="*/ 482996 w 683708"/>
              <a:gd name="connsiteY6-140" fmla="*/ 1401289 h 1736523"/>
              <a:gd name="connsiteX0-141" fmla="*/ 0 w 683708"/>
              <a:gd name="connsiteY0-142" fmla="*/ 1736523 h 1736523"/>
              <a:gd name="connsiteX1-143" fmla="*/ 446202 w 683708"/>
              <a:gd name="connsiteY1-144" fmla="*/ 213756 h 1736523"/>
              <a:gd name="connsiteX2-145" fmla="*/ 315573 w 683708"/>
              <a:gd name="connsiteY2-146" fmla="*/ 213756 h 1736523"/>
              <a:gd name="connsiteX3-147" fmla="*/ 612457 w 683708"/>
              <a:gd name="connsiteY3-148" fmla="*/ 0 h 1736523"/>
              <a:gd name="connsiteX4-149" fmla="*/ 683708 w 683708"/>
              <a:gd name="connsiteY4-150" fmla="*/ 320634 h 1736523"/>
              <a:gd name="connsiteX5-151" fmla="*/ 576831 w 683708"/>
              <a:gd name="connsiteY5-152" fmla="*/ 249382 h 1736523"/>
              <a:gd name="connsiteX6-153" fmla="*/ 482996 w 683708"/>
              <a:gd name="connsiteY6-154" fmla="*/ 1401289 h 1736523"/>
              <a:gd name="connsiteX0-155" fmla="*/ 0 w 683708"/>
              <a:gd name="connsiteY0-156" fmla="*/ 1736523 h 1736523"/>
              <a:gd name="connsiteX1-157" fmla="*/ 446202 w 683708"/>
              <a:gd name="connsiteY1-158" fmla="*/ 213756 h 1736523"/>
              <a:gd name="connsiteX2-159" fmla="*/ 315573 w 683708"/>
              <a:gd name="connsiteY2-160" fmla="*/ 213756 h 1736523"/>
              <a:gd name="connsiteX3-161" fmla="*/ 612457 w 683708"/>
              <a:gd name="connsiteY3-162" fmla="*/ 0 h 1736523"/>
              <a:gd name="connsiteX4-163" fmla="*/ 683708 w 683708"/>
              <a:gd name="connsiteY4-164" fmla="*/ 320634 h 1736523"/>
              <a:gd name="connsiteX5-165" fmla="*/ 576831 w 683708"/>
              <a:gd name="connsiteY5-166" fmla="*/ 249382 h 1736523"/>
              <a:gd name="connsiteX6-167" fmla="*/ 490140 w 683708"/>
              <a:gd name="connsiteY6-168" fmla="*/ 1420339 h 1736523"/>
              <a:gd name="connsiteX0-169" fmla="*/ 0 w 683708"/>
              <a:gd name="connsiteY0-170" fmla="*/ 1736523 h 1736523"/>
              <a:gd name="connsiteX1-171" fmla="*/ 446202 w 683708"/>
              <a:gd name="connsiteY1-172" fmla="*/ 213756 h 1736523"/>
              <a:gd name="connsiteX2-173" fmla="*/ 315573 w 683708"/>
              <a:gd name="connsiteY2-174" fmla="*/ 213756 h 1736523"/>
              <a:gd name="connsiteX3-175" fmla="*/ 612457 w 683708"/>
              <a:gd name="connsiteY3-176" fmla="*/ 0 h 1736523"/>
              <a:gd name="connsiteX4-177" fmla="*/ 683708 w 683708"/>
              <a:gd name="connsiteY4-178" fmla="*/ 320634 h 1736523"/>
              <a:gd name="connsiteX5-179" fmla="*/ 576831 w 683708"/>
              <a:gd name="connsiteY5-180" fmla="*/ 249382 h 1736523"/>
              <a:gd name="connsiteX6-181" fmla="*/ 490140 w 683708"/>
              <a:gd name="connsiteY6-182" fmla="*/ 1420339 h 1736523"/>
              <a:gd name="connsiteX0-183" fmla="*/ 0 w 683708"/>
              <a:gd name="connsiteY0-184" fmla="*/ 1726998 h 1726998"/>
              <a:gd name="connsiteX1-185" fmla="*/ 446202 w 683708"/>
              <a:gd name="connsiteY1-186" fmla="*/ 204231 h 1726998"/>
              <a:gd name="connsiteX2-187" fmla="*/ 315573 w 683708"/>
              <a:gd name="connsiteY2-188" fmla="*/ 204231 h 1726998"/>
              <a:gd name="connsiteX3-189" fmla="*/ 602932 w 683708"/>
              <a:gd name="connsiteY3-190" fmla="*/ 0 h 1726998"/>
              <a:gd name="connsiteX4-191" fmla="*/ 683708 w 683708"/>
              <a:gd name="connsiteY4-192" fmla="*/ 311109 h 1726998"/>
              <a:gd name="connsiteX5-193" fmla="*/ 576831 w 683708"/>
              <a:gd name="connsiteY5-194" fmla="*/ 239857 h 1726998"/>
              <a:gd name="connsiteX6-195" fmla="*/ 490140 w 683708"/>
              <a:gd name="connsiteY6-196" fmla="*/ 1410814 h 17269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683708" h="1726998">
                <a:moveTo>
                  <a:pt x="0" y="1726998"/>
                </a:moveTo>
                <a:cubicBezTo>
                  <a:pt x="68786" y="724734"/>
                  <a:pt x="252732" y="483220"/>
                  <a:pt x="446202" y="204231"/>
                </a:cubicBezTo>
                <a:lnTo>
                  <a:pt x="315573" y="204231"/>
                </a:lnTo>
                <a:lnTo>
                  <a:pt x="602932" y="0"/>
                </a:lnTo>
                <a:lnTo>
                  <a:pt x="683708" y="311109"/>
                </a:lnTo>
                <a:lnTo>
                  <a:pt x="576831" y="239857"/>
                </a:lnTo>
                <a:cubicBezTo>
                  <a:pt x="398423" y="673832"/>
                  <a:pt x="369487" y="897399"/>
                  <a:pt x="490140" y="1410814"/>
                </a:cubicBezTo>
              </a:path>
            </a:pathLst>
          </a:custGeom>
          <a:gradFill flip="none" rotWithShape="1">
            <a:gsLst>
              <a:gs pos="14000">
                <a:schemeClr val="bg1">
                  <a:alpha val="0"/>
                </a:schemeClr>
              </a:gs>
              <a:gs pos="64000">
                <a:srgbClr val="FFCC66"/>
              </a:gs>
            </a:gsLst>
            <a:lin ang="16200000" scaled="1"/>
            <a:tileRect/>
          </a:gradFill>
          <a:ln w="12700">
            <a:gradFill flip="none" rotWithShape="1">
              <a:gsLst>
                <a:gs pos="11000">
                  <a:schemeClr val="bg1">
                    <a:alpha val="0"/>
                  </a:schemeClr>
                </a:gs>
                <a:gs pos="81000">
                  <a:srgbClr val="FF6600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矩形 89"/>
          <p:cNvSpPr/>
          <p:nvPr/>
        </p:nvSpPr>
        <p:spPr bwMode="gray">
          <a:xfrm>
            <a:off x="8842589" y="980392"/>
            <a:ext cx="205994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14705">
              <a:buClr>
                <a:schemeClr val="accent1"/>
              </a:buClr>
              <a:buSzPct val="100000"/>
            </a:pPr>
            <a:r>
              <a:rPr lang="zh-CN" altLang="en-US" sz="1500" kern="0" dirty="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类似</a:t>
            </a:r>
            <a:r>
              <a:rPr lang="en-US" altLang="zh-CN" sz="1500" kern="0" dirty="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IP</a:t>
            </a:r>
            <a:r>
              <a:rPr lang="zh-CN" altLang="en-US" sz="1500" kern="0" dirty="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路由中的目的网络地址</a:t>
            </a:r>
            <a:endParaRPr lang="en-US" altLang="zh-CN" sz="1500" kern="0" dirty="0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65" name="图片 6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615748" y="2480145"/>
            <a:ext cx="540000" cy="442800"/>
          </a:xfrm>
          <a:prstGeom prst="rect">
            <a:avLst/>
          </a:prstGeom>
        </p:spPr>
      </p:pic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183723" y="2480145"/>
            <a:ext cx="540000" cy="44280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774612" y="2480145"/>
            <a:ext cx="540000" cy="442800"/>
          </a:xfrm>
          <a:prstGeom prst="rect">
            <a:avLst/>
          </a:prstGeom>
        </p:spPr>
      </p:pic>
      <p:sp>
        <p:nvSpPr>
          <p:cNvPr id="72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基本概念：</a:t>
            </a:r>
            <a:r>
              <a:rPr lang="en-US" altLang="zh-CN" dirty="0">
                <a:sym typeface="Huawei Sans" panose="020C0503030203020204" pitchFamily="34" charset="0"/>
              </a:rPr>
              <a:t>SRGB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9" name="矩形 58"/>
          <p:cNvSpPr/>
          <p:nvPr/>
        </p:nvSpPr>
        <p:spPr bwMode="gray">
          <a:xfrm>
            <a:off x="6815078" y="1336844"/>
            <a:ext cx="4916479" cy="48332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/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SRGB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Segment Routing Global Block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）：用户指定的为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Segment Routing 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预留的全局标签集合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每台设备通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过扩展的路由协议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通告自己的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SRGB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节点通过扩展的路由协议通告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前缀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索引（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Index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）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后，各台设备分别根据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SRGB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计算入站及出站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在实际部署中，建议设备采用统一的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SRGB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为什么需要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SRGB </a:t>
            </a:r>
            <a:r>
              <a:rPr lang="en-US" altLang="zh-CN" sz="1400" b="1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b="1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要求前缀</a:t>
            </a:r>
            <a:r>
              <a:rPr lang="en-US" altLang="zh-CN" sz="1400" b="1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zh-CN" altLang="en-US" sz="1400" b="1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全局有效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54685" lvl="1" indent="-252095" defTabSz="913765" fontAlgn="ctr">
              <a:lnSpc>
                <a:spcPct val="14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中，设备的一部分标签空间可能被其他协议，例如</a:t>
            </a:r>
            <a:r>
              <a:rPr lang="en-US" altLang="zh-CN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占用，因此需指定明确的空间用于</a:t>
            </a:r>
            <a:r>
              <a:rPr lang="en-US" altLang="zh-CN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全局标签。</a:t>
            </a:r>
            <a:endParaRPr lang="zh-CN" altLang="en-US" sz="1400" dirty="0">
              <a:highlight>
                <a:srgbClr val="FFFF00"/>
              </a:highlight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7" name="组合 116"/>
          <p:cNvGrpSpPr/>
          <p:nvPr/>
        </p:nvGrpSpPr>
        <p:grpSpPr bwMode="gray">
          <a:xfrm>
            <a:off x="6161662" y="3632528"/>
            <a:ext cx="492363" cy="473566"/>
            <a:chOff x="3769575" y="2816233"/>
            <a:chExt cx="959475" cy="2029316"/>
          </a:xfrm>
        </p:grpSpPr>
        <p:cxnSp>
          <p:nvCxnSpPr>
            <p:cNvPr id="118" name="直接连接符 117"/>
            <p:cNvCxnSpPr/>
            <p:nvPr/>
          </p:nvCxnSpPr>
          <p:spPr bwMode="gray">
            <a:xfrm flipH="1">
              <a:off x="3769575" y="2816233"/>
              <a:ext cx="959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 bwMode="gray">
            <a:xfrm flipV="1">
              <a:off x="4249312" y="2816233"/>
              <a:ext cx="0" cy="20293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0" name="直接连接符 119"/>
          <p:cNvCxnSpPr/>
          <p:nvPr/>
        </p:nvCxnSpPr>
        <p:spPr bwMode="gray">
          <a:xfrm flipH="1">
            <a:off x="1261987" y="4186634"/>
            <a:ext cx="52245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/>
          <p:cNvSpPr/>
          <p:nvPr/>
        </p:nvSpPr>
        <p:spPr bwMode="gray">
          <a:xfrm>
            <a:off x="1055039" y="4414617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2" name="矩形 121"/>
          <p:cNvSpPr/>
          <p:nvPr/>
        </p:nvSpPr>
        <p:spPr bwMode="gray">
          <a:xfrm>
            <a:off x="3632425" y="4414617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3" name="矩形 122"/>
          <p:cNvSpPr/>
          <p:nvPr/>
        </p:nvSpPr>
        <p:spPr bwMode="gray">
          <a:xfrm>
            <a:off x="6209811" y="4414617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64" name="图片 16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93209" y="3955066"/>
            <a:ext cx="540000" cy="442800"/>
          </a:xfrm>
          <a:prstGeom prst="rect">
            <a:avLst/>
          </a:prstGeom>
        </p:spPr>
      </p:pic>
      <p:pic>
        <p:nvPicPr>
          <p:cNvPr id="165" name="图片 16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561184" y="3955066"/>
            <a:ext cx="540000" cy="442800"/>
          </a:xfrm>
          <a:prstGeom prst="rect">
            <a:avLst/>
          </a:prstGeom>
        </p:spPr>
      </p:pic>
      <p:pic>
        <p:nvPicPr>
          <p:cNvPr id="166" name="图片 16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152073" y="3955066"/>
            <a:ext cx="540000" cy="442800"/>
          </a:xfrm>
          <a:prstGeom prst="rect">
            <a:avLst/>
          </a:prstGeom>
        </p:spPr>
      </p:pic>
      <p:sp>
        <p:nvSpPr>
          <p:cNvPr id="5" name="椭圆形标注 4"/>
          <p:cNvSpPr/>
          <p:nvPr/>
        </p:nvSpPr>
        <p:spPr bwMode="gray">
          <a:xfrm>
            <a:off x="854970" y="2667291"/>
            <a:ext cx="1595359" cy="1029308"/>
          </a:xfrm>
          <a:prstGeom prst="wedgeEllipseCallou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7" name="椭圆形标注 166"/>
          <p:cNvSpPr/>
          <p:nvPr/>
        </p:nvSpPr>
        <p:spPr bwMode="gray">
          <a:xfrm>
            <a:off x="2591965" y="2667291"/>
            <a:ext cx="1595359" cy="1029308"/>
          </a:xfrm>
          <a:prstGeom prst="wedgeEllipseCallout">
            <a:avLst>
              <a:gd name="adj1" fmla="val 18439"/>
              <a:gd name="adj2" fmla="val 68258"/>
            </a:avLst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8" name="椭圆形标注 167"/>
          <p:cNvSpPr/>
          <p:nvPr/>
        </p:nvSpPr>
        <p:spPr bwMode="gray">
          <a:xfrm>
            <a:off x="4328960" y="2667291"/>
            <a:ext cx="1595359" cy="1029308"/>
          </a:xfrm>
          <a:prstGeom prst="wedgeEllipseCallout">
            <a:avLst>
              <a:gd name="adj1" fmla="val 63790"/>
              <a:gd name="adj2" fmla="val 69903"/>
            </a:avLst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9" name="圆角矩形 168"/>
          <p:cNvSpPr/>
          <p:nvPr/>
        </p:nvSpPr>
        <p:spPr bwMode="gray">
          <a:xfrm>
            <a:off x="6028653" y="2660399"/>
            <a:ext cx="715909" cy="530026"/>
          </a:xfrm>
          <a:prstGeom prst="roundRect">
            <a:avLst>
              <a:gd name="adj" fmla="val 13019"/>
            </a:avLst>
          </a:prstGeom>
          <a:solidFill>
            <a:srgbClr val="FF006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Index</a:t>
            </a:r>
            <a:endParaRPr lang="en-US" altLang="zh-CN" sz="12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</a:t>
            </a:r>
            <a:endParaRPr lang="zh-CN" altLang="en-US" sz="12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0" name="矩形 169"/>
          <p:cNvSpPr/>
          <p:nvPr/>
        </p:nvSpPr>
        <p:spPr bwMode="gray">
          <a:xfrm>
            <a:off x="5917242" y="3164968"/>
            <a:ext cx="9396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3.3.3.3/32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1" name="矩形 170"/>
          <p:cNvSpPr/>
          <p:nvPr/>
        </p:nvSpPr>
        <p:spPr bwMode="gray">
          <a:xfrm>
            <a:off x="1081820" y="3142084"/>
            <a:ext cx="11416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16000~17000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2" name="矩形 171"/>
          <p:cNvSpPr/>
          <p:nvPr/>
        </p:nvSpPr>
        <p:spPr bwMode="gray">
          <a:xfrm>
            <a:off x="2818815" y="3142084"/>
            <a:ext cx="11416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12000~13000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3" name="矩形 172"/>
          <p:cNvSpPr/>
          <p:nvPr/>
        </p:nvSpPr>
        <p:spPr bwMode="gray">
          <a:xfrm>
            <a:off x="4555809" y="3142084"/>
            <a:ext cx="11416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20000~21000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" name="直接连接符 6"/>
          <p:cNvCxnSpPr/>
          <p:nvPr/>
        </p:nvCxnSpPr>
        <p:spPr bwMode="gray">
          <a:xfrm>
            <a:off x="1035989" y="3116683"/>
            <a:ext cx="124867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矩形 175"/>
          <p:cNvSpPr/>
          <p:nvPr/>
        </p:nvSpPr>
        <p:spPr bwMode="gray">
          <a:xfrm>
            <a:off x="456317" y="1720140"/>
            <a:ext cx="1611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入标签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16000+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=16030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9" name="矩形 178"/>
          <p:cNvSpPr/>
          <p:nvPr/>
        </p:nvSpPr>
        <p:spPr bwMode="gray">
          <a:xfrm>
            <a:off x="2204449" y="1720140"/>
            <a:ext cx="1611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入标签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12000+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=12030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0" name="矩形 179"/>
          <p:cNvSpPr/>
          <p:nvPr/>
        </p:nvSpPr>
        <p:spPr bwMode="gray">
          <a:xfrm>
            <a:off x="3928745" y="1720140"/>
            <a:ext cx="1611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入标签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20000+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=20030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81" name="直接连接符 180"/>
          <p:cNvCxnSpPr/>
          <p:nvPr/>
        </p:nvCxnSpPr>
        <p:spPr bwMode="gray">
          <a:xfrm flipV="1">
            <a:off x="1035989" y="2999547"/>
            <a:ext cx="0" cy="1998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/>
          <p:cNvCxnSpPr/>
          <p:nvPr/>
        </p:nvCxnSpPr>
        <p:spPr bwMode="gray">
          <a:xfrm flipV="1">
            <a:off x="2295194" y="2999547"/>
            <a:ext cx="0" cy="1998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等腰三角形 10"/>
          <p:cNvSpPr/>
          <p:nvPr/>
        </p:nvSpPr>
        <p:spPr bwMode="gray">
          <a:xfrm rot="10800000">
            <a:off x="1189880" y="2932959"/>
            <a:ext cx="144213" cy="124322"/>
          </a:xfrm>
          <a:prstGeom prst="triangle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84" name="直接连接符 183"/>
          <p:cNvCxnSpPr/>
          <p:nvPr/>
        </p:nvCxnSpPr>
        <p:spPr bwMode="gray">
          <a:xfrm>
            <a:off x="2759169" y="3116683"/>
            <a:ext cx="124867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连接符 184"/>
          <p:cNvCxnSpPr/>
          <p:nvPr/>
        </p:nvCxnSpPr>
        <p:spPr bwMode="gray">
          <a:xfrm flipV="1">
            <a:off x="2759169" y="2999547"/>
            <a:ext cx="0" cy="1998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/>
          <p:cNvCxnSpPr/>
          <p:nvPr/>
        </p:nvCxnSpPr>
        <p:spPr bwMode="gray">
          <a:xfrm flipV="1">
            <a:off x="4018374" y="2999547"/>
            <a:ext cx="0" cy="1998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等腰三角形 186"/>
          <p:cNvSpPr/>
          <p:nvPr/>
        </p:nvSpPr>
        <p:spPr bwMode="gray">
          <a:xfrm rot="10800000">
            <a:off x="2913060" y="2932959"/>
            <a:ext cx="144213" cy="124322"/>
          </a:xfrm>
          <a:prstGeom prst="triangle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gray">
          <a:xfrm>
            <a:off x="4508418" y="3116683"/>
            <a:ext cx="124867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/>
          <p:cNvCxnSpPr/>
          <p:nvPr/>
        </p:nvCxnSpPr>
        <p:spPr bwMode="gray">
          <a:xfrm flipV="1">
            <a:off x="4508418" y="2999547"/>
            <a:ext cx="0" cy="1998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/>
          <p:cNvCxnSpPr/>
          <p:nvPr/>
        </p:nvCxnSpPr>
        <p:spPr bwMode="gray">
          <a:xfrm flipV="1">
            <a:off x="5767623" y="2999547"/>
            <a:ext cx="0" cy="1998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等腰三角形 190"/>
          <p:cNvSpPr/>
          <p:nvPr/>
        </p:nvSpPr>
        <p:spPr bwMode="gray">
          <a:xfrm rot="10800000">
            <a:off x="4662309" y="2932959"/>
            <a:ext cx="144213" cy="124322"/>
          </a:xfrm>
          <a:prstGeom prst="triangle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3" name="直接连接符 12"/>
          <p:cNvCxnSpPr>
            <a:stCxn id="11" idx="3"/>
          </p:cNvCxnSpPr>
          <p:nvPr/>
        </p:nvCxnSpPr>
        <p:spPr bwMode="gray">
          <a:xfrm flipV="1">
            <a:off x="1261986" y="2210228"/>
            <a:ext cx="1" cy="722731"/>
          </a:xfrm>
          <a:prstGeom prst="line">
            <a:avLst/>
          </a:prstGeom>
          <a:ln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/>
          <p:cNvCxnSpPr/>
          <p:nvPr/>
        </p:nvCxnSpPr>
        <p:spPr bwMode="gray">
          <a:xfrm flipV="1">
            <a:off x="2985186" y="2210228"/>
            <a:ext cx="1" cy="722731"/>
          </a:xfrm>
          <a:prstGeom prst="line">
            <a:avLst/>
          </a:prstGeom>
          <a:ln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 bwMode="gray">
          <a:xfrm flipV="1">
            <a:off x="4728176" y="2210228"/>
            <a:ext cx="1" cy="722731"/>
          </a:xfrm>
          <a:prstGeom prst="line">
            <a:avLst/>
          </a:prstGeom>
          <a:ln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矩形 193"/>
          <p:cNvSpPr/>
          <p:nvPr/>
        </p:nvSpPr>
        <p:spPr bwMode="gray">
          <a:xfrm>
            <a:off x="1362590" y="2860890"/>
            <a:ext cx="5629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zh-CN" altLang="en-US" sz="1200" dirty="0">
              <a:solidFill>
                <a:schemeClr val="accent1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5" name="矩形 194"/>
          <p:cNvSpPr/>
          <p:nvPr/>
        </p:nvSpPr>
        <p:spPr bwMode="gray">
          <a:xfrm>
            <a:off x="3132818" y="2860890"/>
            <a:ext cx="5629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>
                <a:solidFill>
                  <a:schemeClr val="accent1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zh-CN" altLang="en-US" sz="1200">
              <a:solidFill>
                <a:schemeClr val="accent1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6" name="矩形 195"/>
          <p:cNvSpPr/>
          <p:nvPr/>
        </p:nvSpPr>
        <p:spPr bwMode="gray">
          <a:xfrm>
            <a:off x="4858383" y="2860890"/>
            <a:ext cx="5629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>
                <a:solidFill>
                  <a:schemeClr val="accent1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zh-CN" altLang="en-US" sz="1200">
              <a:solidFill>
                <a:schemeClr val="accent1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7" name="矩形 196"/>
          <p:cNvSpPr/>
          <p:nvPr/>
        </p:nvSpPr>
        <p:spPr bwMode="gray">
          <a:xfrm>
            <a:off x="1192354" y="4884210"/>
            <a:ext cx="640251" cy="215444"/>
          </a:xfrm>
          <a:prstGeom prst="rect">
            <a:avLst/>
          </a:prstGeom>
          <a:solidFill>
            <a:srgbClr val="FF0066"/>
          </a:solidFill>
          <a:ln w="19050">
            <a:solidFill>
              <a:srgbClr val="FF0000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12030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8" name="矩形 197"/>
          <p:cNvSpPr/>
          <p:nvPr/>
        </p:nvSpPr>
        <p:spPr bwMode="gray">
          <a:xfrm>
            <a:off x="1192354" y="5101486"/>
            <a:ext cx="640251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载荷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99" name="直接箭头连接符 198"/>
          <p:cNvCxnSpPr/>
          <p:nvPr/>
        </p:nvCxnSpPr>
        <p:spPr bwMode="gray">
          <a:xfrm>
            <a:off x="1808881" y="4969773"/>
            <a:ext cx="175230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矩形 203"/>
          <p:cNvSpPr/>
          <p:nvPr/>
        </p:nvSpPr>
        <p:spPr bwMode="gray">
          <a:xfrm>
            <a:off x="3523113" y="4838043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置换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05" name="直接箭头连接符 204"/>
          <p:cNvCxnSpPr/>
          <p:nvPr/>
        </p:nvCxnSpPr>
        <p:spPr bwMode="gray">
          <a:xfrm>
            <a:off x="4046321" y="4969773"/>
            <a:ext cx="2340286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矩形 205"/>
          <p:cNvSpPr/>
          <p:nvPr/>
        </p:nvSpPr>
        <p:spPr bwMode="gray">
          <a:xfrm>
            <a:off x="4741565" y="4884210"/>
            <a:ext cx="640251" cy="215444"/>
          </a:xfrm>
          <a:prstGeom prst="rect">
            <a:avLst/>
          </a:prstGeom>
          <a:solidFill>
            <a:srgbClr val="FF0066"/>
          </a:solidFill>
          <a:ln w="19050">
            <a:solidFill>
              <a:srgbClr val="FF0000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20030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7" name="矩形 206"/>
          <p:cNvSpPr/>
          <p:nvPr/>
        </p:nvSpPr>
        <p:spPr bwMode="gray">
          <a:xfrm>
            <a:off x="4741565" y="5101486"/>
            <a:ext cx="640251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载荷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基本概念：</a:t>
            </a:r>
            <a:r>
              <a:rPr lang="en-US" altLang="zh-CN">
                <a:sym typeface="Huawei Sans" panose="020C0503030203020204" pitchFamily="34" charset="0"/>
              </a:rPr>
              <a:t>Adjacency </a:t>
            </a:r>
            <a:r>
              <a:rPr lang="en-US" altLang="zh-CN" dirty="0">
                <a:sym typeface="Huawei Sans" panose="020C0503030203020204" pitchFamily="34" charset="0"/>
              </a:rPr>
              <a:t>Segment</a:t>
            </a:r>
            <a:endParaRPr lang="zh-CN" altLang="en-US">
              <a:sym typeface="Huawei Sans" panose="020C0503030203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 bwMode="gray">
          <a:xfrm>
            <a:off x="3255858" y="2347513"/>
            <a:ext cx="492363" cy="473566"/>
            <a:chOff x="3769575" y="2816233"/>
            <a:chExt cx="959475" cy="2029316"/>
          </a:xfrm>
        </p:grpSpPr>
        <p:cxnSp>
          <p:nvCxnSpPr>
            <p:cNvPr id="6" name="直接连接符 5"/>
            <p:cNvCxnSpPr/>
            <p:nvPr/>
          </p:nvCxnSpPr>
          <p:spPr bwMode="gray">
            <a:xfrm flipH="1">
              <a:off x="3769575" y="2816233"/>
              <a:ext cx="959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 bwMode="gray">
            <a:xfrm flipV="1">
              <a:off x="4249312" y="2816233"/>
              <a:ext cx="0" cy="20293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 bwMode="gray">
          <a:xfrm>
            <a:off x="5826938" y="2347513"/>
            <a:ext cx="492363" cy="473566"/>
            <a:chOff x="3769575" y="2816233"/>
            <a:chExt cx="959475" cy="2029316"/>
          </a:xfrm>
        </p:grpSpPr>
        <p:cxnSp>
          <p:nvCxnSpPr>
            <p:cNvPr id="17" name="直接连接符 16"/>
            <p:cNvCxnSpPr/>
            <p:nvPr/>
          </p:nvCxnSpPr>
          <p:spPr bwMode="gray">
            <a:xfrm flipH="1">
              <a:off x="3769575" y="2816233"/>
              <a:ext cx="959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gray">
            <a:xfrm flipV="1">
              <a:off x="4249312" y="2816233"/>
              <a:ext cx="0" cy="20293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 bwMode="gray">
          <a:xfrm>
            <a:off x="8393247" y="2347513"/>
            <a:ext cx="492363" cy="473566"/>
            <a:chOff x="3769575" y="2816233"/>
            <a:chExt cx="959475" cy="2029316"/>
          </a:xfrm>
        </p:grpSpPr>
        <p:cxnSp>
          <p:nvCxnSpPr>
            <p:cNvPr id="21" name="直接连接符 20"/>
            <p:cNvCxnSpPr/>
            <p:nvPr/>
          </p:nvCxnSpPr>
          <p:spPr bwMode="gray">
            <a:xfrm flipH="1">
              <a:off x="3769575" y="2816233"/>
              <a:ext cx="959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gray">
            <a:xfrm flipV="1">
              <a:off x="4249312" y="2816233"/>
              <a:ext cx="0" cy="20293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直接连接符 8"/>
          <p:cNvCxnSpPr/>
          <p:nvPr/>
        </p:nvCxnSpPr>
        <p:spPr bwMode="gray">
          <a:xfrm flipH="1">
            <a:off x="2718295" y="2901619"/>
            <a:ext cx="67222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 bwMode="gray">
          <a:xfrm>
            <a:off x="3295091" y="3129602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矩形 12"/>
          <p:cNvSpPr/>
          <p:nvPr/>
        </p:nvSpPr>
        <p:spPr bwMode="gray">
          <a:xfrm>
            <a:off x="5872477" y="3129602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gray">
          <a:xfrm>
            <a:off x="8449863" y="3129602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4" name="组合 43"/>
          <p:cNvGrpSpPr/>
          <p:nvPr/>
        </p:nvGrpSpPr>
        <p:grpSpPr bwMode="gray">
          <a:xfrm>
            <a:off x="1682172" y="2492564"/>
            <a:ext cx="1304009" cy="871898"/>
            <a:chOff x="4027703" y="3656700"/>
            <a:chExt cx="1304009" cy="871898"/>
          </a:xfrm>
        </p:grpSpPr>
        <p:grpSp>
          <p:nvGrpSpPr>
            <p:cNvPr id="31" name="组合 30"/>
            <p:cNvGrpSpPr/>
            <p:nvPr/>
          </p:nvGrpSpPr>
          <p:grpSpPr bwMode="gray">
            <a:xfrm>
              <a:off x="4027703" y="3656700"/>
              <a:ext cx="1304009" cy="871898"/>
              <a:chOff x="10125075" y="5439766"/>
              <a:chExt cx="1304009" cy="871898"/>
            </a:xfrm>
          </p:grpSpPr>
          <p:sp>
            <p:nvSpPr>
              <p:cNvPr id="32" name="矩形 31"/>
              <p:cNvSpPr/>
              <p:nvPr/>
            </p:nvSpPr>
            <p:spPr bwMode="gray">
              <a:xfrm>
                <a:off x="10472174" y="5924694"/>
                <a:ext cx="647760" cy="386970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 bwMode="gray">
              <a:xfrm>
                <a:off x="10379358" y="5439766"/>
                <a:ext cx="604768" cy="6047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 bwMode="gray">
              <a:xfrm>
                <a:off x="10125075" y="5625254"/>
                <a:ext cx="703036" cy="68641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 bwMode="gray">
              <a:xfrm>
                <a:off x="10792751" y="5675331"/>
                <a:ext cx="636333" cy="63633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 bwMode="gray">
              <a:xfrm>
                <a:off x="10723031" y="5515085"/>
                <a:ext cx="463257" cy="46325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 bwMode="gray">
            <a:xfrm>
              <a:off x="4079776" y="3717032"/>
              <a:ext cx="1199862" cy="767350"/>
              <a:chOff x="10181272" y="5503352"/>
              <a:chExt cx="1199862" cy="767350"/>
            </a:xfrm>
          </p:grpSpPr>
          <p:sp>
            <p:nvSpPr>
              <p:cNvPr id="38" name="椭圆 37"/>
              <p:cNvSpPr/>
              <p:nvPr/>
            </p:nvSpPr>
            <p:spPr bwMode="gray">
              <a:xfrm>
                <a:off x="10463850" y="5503352"/>
                <a:ext cx="512609" cy="5126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 bwMode="gray">
              <a:xfrm>
                <a:off x="10181272" y="5697686"/>
                <a:ext cx="573015" cy="5730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 bwMode="gray">
              <a:xfrm>
                <a:off x="10798583" y="5688150"/>
                <a:ext cx="582551" cy="5825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 bwMode="gray">
              <a:xfrm>
                <a:off x="10792392" y="5578078"/>
                <a:ext cx="345057" cy="3450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2" name="矩形 41"/>
              <p:cNvSpPr/>
              <p:nvPr/>
            </p:nvSpPr>
            <p:spPr bwMode="gray">
              <a:xfrm>
                <a:off x="10454799" y="5883732"/>
                <a:ext cx="647760" cy="3869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45" name="矩形 44"/>
          <p:cNvSpPr/>
          <p:nvPr/>
        </p:nvSpPr>
        <p:spPr bwMode="gray">
          <a:xfrm>
            <a:off x="1746695" y="2732816"/>
            <a:ext cx="114807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814705">
              <a:buClr>
                <a:schemeClr val="accent1"/>
              </a:buClr>
              <a:buSzPct val="100000"/>
            </a:pPr>
            <a:r>
              <a:rPr lang="en-US" altLang="zh-CN" sz="15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10.1.1.0/24</a:t>
            </a:r>
            <a:endParaRPr lang="en-US" altLang="zh-CN" sz="15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46" name="组合 45"/>
          <p:cNvGrpSpPr/>
          <p:nvPr/>
        </p:nvGrpSpPr>
        <p:grpSpPr bwMode="gray">
          <a:xfrm>
            <a:off x="9205819" y="2492564"/>
            <a:ext cx="1304009" cy="871898"/>
            <a:chOff x="4027703" y="3656700"/>
            <a:chExt cx="1304009" cy="871898"/>
          </a:xfrm>
        </p:grpSpPr>
        <p:grpSp>
          <p:nvGrpSpPr>
            <p:cNvPr id="47" name="组合 46"/>
            <p:cNvGrpSpPr/>
            <p:nvPr/>
          </p:nvGrpSpPr>
          <p:grpSpPr bwMode="gray">
            <a:xfrm>
              <a:off x="4027703" y="3656700"/>
              <a:ext cx="1304009" cy="871898"/>
              <a:chOff x="10125075" y="5439766"/>
              <a:chExt cx="1304009" cy="871898"/>
            </a:xfrm>
          </p:grpSpPr>
          <p:sp>
            <p:nvSpPr>
              <p:cNvPr id="54" name="矩形 53"/>
              <p:cNvSpPr/>
              <p:nvPr/>
            </p:nvSpPr>
            <p:spPr bwMode="gray">
              <a:xfrm>
                <a:off x="10472174" y="5924694"/>
                <a:ext cx="647760" cy="386970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 bwMode="gray">
              <a:xfrm>
                <a:off x="10379358" y="5439766"/>
                <a:ext cx="604768" cy="6047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 bwMode="gray">
              <a:xfrm>
                <a:off x="10125075" y="5625254"/>
                <a:ext cx="703036" cy="68641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 bwMode="gray">
              <a:xfrm>
                <a:off x="10792751" y="5675331"/>
                <a:ext cx="636333" cy="63633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8" name="椭圆 57"/>
              <p:cNvSpPr/>
              <p:nvPr/>
            </p:nvSpPr>
            <p:spPr bwMode="gray">
              <a:xfrm>
                <a:off x="10723031" y="5515085"/>
                <a:ext cx="463257" cy="46325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 bwMode="gray">
            <a:xfrm>
              <a:off x="4079776" y="3717032"/>
              <a:ext cx="1199862" cy="767350"/>
              <a:chOff x="10181272" y="5503352"/>
              <a:chExt cx="1199862" cy="767350"/>
            </a:xfrm>
          </p:grpSpPr>
          <p:sp>
            <p:nvSpPr>
              <p:cNvPr id="49" name="椭圆 48"/>
              <p:cNvSpPr/>
              <p:nvPr/>
            </p:nvSpPr>
            <p:spPr bwMode="gray">
              <a:xfrm>
                <a:off x="10463850" y="5503352"/>
                <a:ext cx="512609" cy="5126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 bwMode="gray">
              <a:xfrm>
                <a:off x="10181272" y="5697686"/>
                <a:ext cx="573015" cy="5730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 bwMode="gray">
              <a:xfrm>
                <a:off x="10798583" y="5688150"/>
                <a:ext cx="582551" cy="5825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 bwMode="gray">
              <a:xfrm>
                <a:off x="10792392" y="5578078"/>
                <a:ext cx="345057" cy="3450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3" name="矩形 52"/>
              <p:cNvSpPr/>
              <p:nvPr/>
            </p:nvSpPr>
            <p:spPr bwMode="gray">
              <a:xfrm>
                <a:off x="10454799" y="5883732"/>
                <a:ext cx="647760" cy="3869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59" name="矩形 58"/>
          <p:cNvSpPr/>
          <p:nvPr/>
        </p:nvSpPr>
        <p:spPr bwMode="gray">
          <a:xfrm>
            <a:off x="9270342" y="2732816"/>
            <a:ext cx="114807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814705">
              <a:buClr>
                <a:schemeClr val="accent1"/>
              </a:buClr>
              <a:buSzPct val="100000"/>
            </a:pPr>
            <a:r>
              <a:rPr lang="en-US" altLang="zh-CN" sz="15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10.2.2.0/24</a:t>
            </a:r>
            <a:endParaRPr lang="en-US" altLang="zh-CN" sz="15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60" name="圆角矩形 59"/>
          <p:cNvSpPr/>
          <p:nvPr/>
        </p:nvSpPr>
        <p:spPr bwMode="gray">
          <a:xfrm>
            <a:off x="3207895" y="1570133"/>
            <a:ext cx="588288" cy="238245"/>
          </a:xfrm>
          <a:prstGeom prst="roundRect">
            <a:avLst>
              <a:gd name="adj" fmla="val 13019"/>
            </a:avLst>
          </a:prstGeom>
          <a:solidFill>
            <a:srgbClr val="FF006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圆角矩形 61"/>
          <p:cNvSpPr/>
          <p:nvPr/>
        </p:nvSpPr>
        <p:spPr bwMode="gray">
          <a:xfrm>
            <a:off x="5778975" y="1570133"/>
            <a:ext cx="588288" cy="238245"/>
          </a:xfrm>
          <a:prstGeom prst="roundRect">
            <a:avLst>
              <a:gd name="adj" fmla="val 13019"/>
            </a:avLst>
          </a:prstGeom>
          <a:solidFill>
            <a:srgbClr val="FF006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圆角矩形 62"/>
          <p:cNvSpPr/>
          <p:nvPr/>
        </p:nvSpPr>
        <p:spPr bwMode="gray">
          <a:xfrm>
            <a:off x="8343389" y="1570133"/>
            <a:ext cx="588288" cy="238245"/>
          </a:xfrm>
          <a:prstGeom prst="roundRect">
            <a:avLst>
              <a:gd name="adj" fmla="val 13019"/>
            </a:avLst>
          </a:prstGeom>
          <a:solidFill>
            <a:srgbClr val="FF006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1801790" y="3717032"/>
            <a:ext cx="8588420" cy="707886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Adjacency Segment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（邻接段）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just">
              <a:lnSpc>
                <a:spcPts val="2400"/>
              </a:lnSpc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用于标识网络中的某个邻接。通过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协议扩散到其他网元，全局可见，但是仅本地有效。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矩形 72"/>
          <p:cNvSpPr/>
          <p:nvPr/>
        </p:nvSpPr>
        <p:spPr bwMode="gray">
          <a:xfrm>
            <a:off x="1801790" y="4523559"/>
            <a:ext cx="8588420" cy="707886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lumMod val="95000"/>
                </a:schemeClr>
              </a:gs>
            </a:gsLst>
            <a:lin ang="5400000" scaled="1"/>
          </a:gradFill>
          <a:ln w="19050">
            <a:gradFill>
              <a:gsLst>
                <a:gs pos="100000">
                  <a:schemeClr val="bg1"/>
                </a:gs>
                <a:gs pos="0">
                  <a:schemeClr val="bg1">
                    <a:lumMod val="75000"/>
                  </a:schemeClr>
                </a:gs>
              </a:gsLst>
              <a:lin ang="5400000" scaled="1"/>
            </a:gradFill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Adjacency Segment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Adjacency Segment 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）标识。 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Adjacency SID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范围之外的本地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矩形 73"/>
          <p:cNvSpPr/>
          <p:nvPr/>
        </p:nvSpPr>
        <p:spPr bwMode="gray">
          <a:xfrm>
            <a:off x="2949085" y="1795286"/>
            <a:ext cx="10599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1.1.1.1/32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矩形 75"/>
          <p:cNvSpPr/>
          <p:nvPr/>
        </p:nvSpPr>
        <p:spPr bwMode="gray">
          <a:xfrm>
            <a:off x="5543166" y="1795286"/>
            <a:ext cx="10599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2.2.2.2/32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矩形 76"/>
          <p:cNvSpPr/>
          <p:nvPr/>
        </p:nvSpPr>
        <p:spPr bwMode="gray">
          <a:xfrm>
            <a:off x="8088715" y="1795286"/>
            <a:ext cx="10599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3.3.3.3/32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9" name="直接箭头连接符 68"/>
          <p:cNvCxnSpPr/>
          <p:nvPr/>
        </p:nvCxnSpPr>
        <p:spPr bwMode="gray">
          <a:xfrm flipH="1">
            <a:off x="4688695" y="3043354"/>
            <a:ext cx="99321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圆角矩形 69"/>
          <p:cNvSpPr/>
          <p:nvPr/>
        </p:nvSpPr>
        <p:spPr bwMode="gray">
          <a:xfrm>
            <a:off x="4702810" y="3149600"/>
            <a:ext cx="995680" cy="238125"/>
          </a:xfrm>
          <a:prstGeom prst="roundRect">
            <a:avLst>
              <a:gd name="adj" fmla="val 13019"/>
            </a:avLst>
          </a:prstGeom>
          <a:solidFill>
            <a:srgbClr val="92D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1001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1" name="直接箭头连接符 70"/>
          <p:cNvCxnSpPr/>
          <p:nvPr/>
        </p:nvCxnSpPr>
        <p:spPr bwMode="gray">
          <a:xfrm>
            <a:off x="6435937" y="3043354"/>
            <a:ext cx="1083648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圆角矩形 71"/>
          <p:cNvSpPr/>
          <p:nvPr/>
        </p:nvSpPr>
        <p:spPr bwMode="gray">
          <a:xfrm>
            <a:off x="6467475" y="3149600"/>
            <a:ext cx="1049655" cy="238125"/>
          </a:xfrm>
          <a:prstGeom prst="roundRect">
            <a:avLst>
              <a:gd name="adj" fmla="val 13019"/>
            </a:avLst>
          </a:prstGeom>
          <a:solidFill>
            <a:srgbClr val="92D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1002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圆角矩形 74"/>
          <p:cNvSpPr/>
          <p:nvPr/>
        </p:nvSpPr>
        <p:spPr bwMode="gray">
          <a:xfrm>
            <a:off x="1941845" y="3024960"/>
            <a:ext cx="783012" cy="238245"/>
          </a:xfrm>
          <a:prstGeom prst="roundRect">
            <a:avLst>
              <a:gd name="adj" fmla="val 13019"/>
            </a:avLst>
          </a:prstGeom>
          <a:solidFill>
            <a:srgbClr val="FF993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16001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圆角矩形 77"/>
          <p:cNvSpPr/>
          <p:nvPr/>
        </p:nvSpPr>
        <p:spPr bwMode="gray">
          <a:xfrm>
            <a:off x="9456058" y="3024960"/>
            <a:ext cx="783012" cy="238245"/>
          </a:xfrm>
          <a:prstGeom prst="roundRect">
            <a:avLst>
              <a:gd name="adj" fmla="val 13019"/>
            </a:avLst>
          </a:prstGeom>
          <a:solidFill>
            <a:srgbClr val="FF993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16002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任意多边形 80"/>
          <p:cNvSpPr/>
          <p:nvPr/>
        </p:nvSpPr>
        <p:spPr bwMode="gray">
          <a:xfrm flipH="1" flipV="1">
            <a:off x="7135278" y="2492564"/>
            <a:ext cx="356851" cy="753758"/>
          </a:xfrm>
          <a:custGeom>
            <a:avLst/>
            <a:gdLst>
              <a:gd name="connsiteX0" fmla="*/ 0 w 593766"/>
              <a:gd name="connsiteY0" fmla="*/ 1151907 h 1401289"/>
              <a:gd name="connsiteX1" fmla="*/ 356260 w 593766"/>
              <a:gd name="connsiteY1" fmla="*/ 213756 h 1401289"/>
              <a:gd name="connsiteX2" fmla="*/ 225631 w 593766"/>
              <a:gd name="connsiteY2" fmla="*/ 213756 h 1401289"/>
              <a:gd name="connsiteX3" fmla="*/ 522515 w 593766"/>
              <a:gd name="connsiteY3" fmla="*/ 0 h 1401289"/>
              <a:gd name="connsiteX4" fmla="*/ 593766 w 593766"/>
              <a:gd name="connsiteY4" fmla="*/ 320634 h 1401289"/>
              <a:gd name="connsiteX5" fmla="*/ 486889 w 593766"/>
              <a:gd name="connsiteY5" fmla="*/ 249382 h 1401289"/>
              <a:gd name="connsiteX6" fmla="*/ 273133 w 593766"/>
              <a:gd name="connsiteY6" fmla="*/ 1401289 h 1401289"/>
              <a:gd name="connsiteX0-1" fmla="*/ 0 w 638737"/>
              <a:gd name="connsiteY0-2" fmla="*/ 1256838 h 1401289"/>
              <a:gd name="connsiteX1-3" fmla="*/ 401231 w 638737"/>
              <a:gd name="connsiteY1-4" fmla="*/ 213756 h 1401289"/>
              <a:gd name="connsiteX2-5" fmla="*/ 270602 w 638737"/>
              <a:gd name="connsiteY2-6" fmla="*/ 213756 h 1401289"/>
              <a:gd name="connsiteX3-7" fmla="*/ 567486 w 638737"/>
              <a:gd name="connsiteY3-8" fmla="*/ 0 h 1401289"/>
              <a:gd name="connsiteX4-9" fmla="*/ 638737 w 638737"/>
              <a:gd name="connsiteY4-10" fmla="*/ 320634 h 1401289"/>
              <a:gd name="connsiteX5-11" fmla="*/ 531860 w 638737"/>
              <a:gd name="connsiteY5-12" fmla="*/ 249382 h 1401289"/>
              <a:gd name="connsiteX6-13" fmla="*/ 318104 w 638737"/>
              <a:gd name="connsiteY6-14" fmla="*/ 1401289 h 1401289"/>
              <a:gd name="connsiteX0-15" fmla="*/ 0 w 803629"/>
              <a:gd name="connsiteY0-16" fmla="*/ 1736523 h 1736523"/>
              <a:gd name="connsiteX1-17" fmla="*/ 566123 w 803629"/>
              <a:gd name="connsiteY1-18" fmla="*/ 213756 h 1736523"/>
              <a:gd name="connsiteX2-19" fmla="*/ 435494 w 803629"/>
              <a:gd name="connsiteY2-20" fmla="*/ 213756 h 1736523"/>
              <a:gd name="connsiteX3-21" fmla="*/ 732378 w 803629"/>
              <a:gd name="connsiteY3-22" fmla="*/ 0 h 1736523"/>
              <a:gd name="connsiteX4-23" fmla="*/ 803629 w 803629"/>
              <a:gd name="connsiteY4-24" fmla="*/ 320634 h 1736523"/>
              <a:gd name="connsiteX5-25" fmla="*/ 696752 w 803629"/>
              <a:gd name="connsiteY5-26" fmla="*/ 249382 h 1736523"/>
              <a:gd name="connsiteX6-27" fmla="*/ 482996 w 803629"/>
              <a:gd name="connsiteY6-28" fmla="*/ 1401289 h 1736523"/>
              <a:gd name="connsiteX0-29" fmla="*/ 0 w 803629"/>
              <a:gd name="connsiteY0-30" fmla="*/ 1736523 h 1736523"/>
              <a:gd name="connsiteX1-31" fmla="*/ 566123 w 803629"/>
              <a:gd name="connsiteY1-32" fmla="*/ 213756 h 1736523"/>
              <a:gd name="connsiteX2-33" fmla="*/ 435494 w 803629"/>
              <a:gd name="connsiteY2-34" fmla="*/ 213756 h 1736523"/>
              <a:gd name="connsiteX3-35" fmla="*/ 732378 w 803629"/>
              <a:gd name="connsiteY3-36" fmla="*/ 0 h 1736523"/>
              <a:gd name="connsiteX4-37" fmla="*/ 803629 w 803629"/>
              <a:gd name="connsiteY4-38" fmla="*/ 320634 h 1736523"/>
              <a:gd name="connsiteX5-39" fmla="*/ 696752 w 803629"/>
              <a:gd name="connsiteY5-40" fmla="*/ 249382 h 1736523"/>
              <a:gd name="connsiteX6-41" fmla="*/ 482996 w 803629"/>
              <a:gd name="connsiteY6-42" fmla="*/ 1401289 h 1736523"/>
              <a:gd name="connsiteX0-43" fmla="*/ 0 w 803629"/>
              <a:gd name="connsiteY0-44" fmla="*/ 1736523 h 1736523"/>
              <a:gd name="connsiteX1-45" fmla="*/ 566123 w 803629"/>
              <a:gd name="connsiteY1-46" fmla="*/ 213756 h 1736523"/>
              <a:gd name="connsiteX2-47" fmla="*/ 435494 w 803629"/>
              <a:gd name="connsiteY2-48" fmla="*/ 213756 h 1736523"/>
              <a:gd name="connsiteX3-49" fmla="*/ 732378 w 803629"/>
              <a:gd name="connsiteY3-50" fmla="*/ 0 h 1736523"/>
              <a:gd name="connsiteX4-51" fmla="*/ 803629 w 803629"/>
              <a:gd name="connsiteY4-52" fmla="*/ 320634 h 1736523"/>
              <a:gd name="connsiteX5-53" fmla="*/ 696752 w 803629"/>
              <a:gd name="connsiteY5-54" fmla="*/ 249382 h 1736523"/>
              <a:gd name="connsiteX6-55" fmla="*/ 482996 w 803629"/>
              <a:gd name="connsiteY6-56" fmla="*/ 1401289 h 1736523"/>
              <a:gd name="connsiteX0-57" fmla="*/ 0 w 803629"/>
              <a:gd name="connsiteY0-58" fmla="*/ 1736523 h 1736523"/>
              <a:gd name="connsiteX1-59" fmla="*/ 566123 w 803629"/>
              <a:gd name="connsiteY1-60" fmla="*/ 213756 h 1736523"/>
              <a:gd name="connsiteX2-61" fmla="*/ 435494 w 803629"/>
              <a:gd name="connsiteY2-62" fmla="*/ 213756 h 1736523"/>
              <a:gd name="connsiteX3-63" fmla="*/ 732378 w 803629"/>
              <a:gd name="connsiteY3-64" fmla="*/ 0 h 1736523"/>
              <a:gd name="connsiteX4-65" fmla="*/ 803629 w 803629"/>
              <a:gd name="connsiteY4-66" fmla="*/ 320634 h 1736523"/>
              <a:gd name="connsiteX5-67" fmla="*/ 696752 w 803629"/>
              <a:gd name="connsiteY5-68" fmla="*/ 249382 h 1736523"/>
              <a:gd name="connsiteX6-69" fmla="*/ 602917 w 803629"/>
              <a:gd name="connsiteY6-70" fmla="*/ 1401289 h 1736523"/>
              <a:gd name="connsiteX0-71" fmla="*/ 0 w 683708"/>
              <a:gd name="connsiteY0-72" fmla="*/ 1736523 h 1736523"/>
              <a:gd name="connsiteX1-73" fmla="*/ 446202 w 683708"/>
              <a:gd name="connsiteY1-74" fmla="*/ 213756 h 1736523"/>
              <a:gd name="connsiteX2-75" fmla="*/ 315573 w 683708"/>
              <a:gd name="connsiteY2-76" fmla="*/ 213756 h 1736523"/>
              <a:gd name="connsiteX3-77" fmla="*/ 612457 w 683708"/>
              <a:gd name="connsiteY3-78" fmla="*/ 0 h 1736523"/>
              <a:gd name="connsiteX4-79" fmla="*/ 683708 w 683708"/>
              <a:gd name="connsiteY4-80" fmla="*/ 320634 h 1736523"/>
              <a:gd name="connsiteX5-81" fmla="*/ 576831 w 683708"/>
              <a:gd name="connsiteY5-82" fmla="*/ 249382 h 1736523"/>
              <a:gd name="connsiteX6-83" fmla="*/ 482996 w 683708"/>
              <a:gd name="connsiteY6-84" fmla="*/ 1401289 h 1736523"/>
              <a:gd name="connsiteX0-85" fmla="*/ 0 w 683708"/>
              <a:gd name="connsiteY0-86" fmla="*/ 1736523 h 1736523"/>
              <a:gd name="connsiteX1-87" fmla="*/ 446202 w 683708"/>
              <a:gd name="connsiteY1-88" fmla="*/ 213756 h 1736523"/>
              <a:gd name="connsiteX2-89" fmla="*/ 315573 w 683708"/>
              <a:gd name="connsiteY2-90" fmla="*/ 213756 h 1736523"/>
              <a:gd name="connsiteX3-91" fmla="*/ 612457 w 683708"/>
              <a:gd name="connsiteY3-92" fmla="*/ 0 h 1736523"/>
              <a:gd name="connsiteX4-93" fmla="*/ 683708 w 683708"/>
              <a:gd name="connsiteY4-94" fmla="*/ 320634 h 1736523"/>
              <a:gd name="connsiteX5-95" fmla="*/ 576831 w 683708"/>
              <a:gd name="connsiteY5-96" fmla="*/ 249382 h 1736523"/>
              <a:gd name="connsiteX6-97" fmla="*/ 482996 w 683708"/>
              <a:gd name="connsiteY6-98" fmla="*/ 1401289 h 1736523"/>
              <a:gd name="connsiteX0-99" fmla="*/ 0 w 683708"/>
              <a:gd name="connsiteY0-100" fmla="*/ 1736523 h 1736523"/>
              <a:gd name="connsiteX1-101" fmla="*/ 446202 w 683708"/>
              <a:gd name="connsiteY1-102" fmla="*/ 213756 h 1736523"/>
              <a:gd name="connsiteX2-103" fmla="*/ 315573 w 683708"/>
              <a:gd name="connsiteY2-104" fmla="*/ 213756 h 1736523"/>
              <a:gd name="connsiteX3-105" fmla="*/ 612457 w 683708"/>
              <a:gd name="connsiteY3-106" fmla="*/ 0 h 1736523"/>
              <a:gd name="connsiteX4-107" fmla="*/ 683708 w 683708"/>
              <a:gd name="connsiteY4-108" fmla="*/ 320634 h 1736523"/>
              <a:gd name="connsiteX5-109" fmla="*/ 576831 w 683708"/>
              <a:gd name="connsiteY5-110" fmla="*/ 249382 h 1736523"/>
              <a:gd name="connsiteX6-111" fmla="*/ 482996 w 683708"/>
              <a:gd name="connsiteY6-112" fmla="*/ 1401289 h 1736523"/>
              <a:gd name="connsiteX0-113" fmla="*/ 0 w 683708"/>
              <a:gd name="connsiteY0-114" fmla="*/ 1736523 h 1736523"/>
              <a:gd name="connsiteX1-115" fmla="*/ 446202 w 683708"/>
              <a:gd name="connsiteY1-116" fmla="*/ 213756 h 1736523"/>
              <a:gd name="connsiteX2-117" fmla="*/ 315573 w 683708"/>
              <a:gd name="connsiteY2-118" fmla="*/ 213756 h 1736523"/>
              <a:gd name="connsiteX3-119" fmla="*/ 612457 w 683708"/>
              <a:gd name="connsiteY3-120" fmla="*/ 0 h 1736523"/>
              <a:gd name="connsiteX4-121" fmla="*/ 683708 w 683708"/>
              <a:gd name="connsiteY4-122" fmla="*/ 320634 h 1736523"/>
              <a:gd name="connsiteX5-123" fmla="*/ 576831 w 683708"/>
              <a:gd name="connsiteY5-124" fmla="*/ 249382 h 1736523"/>
              <a:gd name="connsiteX6-125" fmla="*/ 482996 w 683708"/>
              <a:gd name="connsiteY6-126" fmla="*/ 1401289 h 1736523"/>
              <a:gd name="connsiteX0-127" fmla="*/ 0 w 683708"/>
              <a:gd name="connsiteY0-128" fmla="*/ 1736523 h 1736523"/>
              <a:gd name="connsiteX1-129" fmla="*/ 446202 w 683708"/>
              <a:gd name="connsiteY1-130" fmla="*/ 213756 h 1736523"/>
              <a:gd name="connsiteX2-131" fmla="*/ 315573 w 683708"/>
              <a:gd name="connsiteY2-132" fmla="*/ 213756 h 1736523"/>
              <a:gd name="connsiteX3-133" fmla="*/ 612457 w 683708"/>
              <a:gd name="connsiteY3-134" fmla="*/ 0 h 1736523"/>
              <a:gd name="connsiteX4-135" fmla="*/ 683708 w 683708"/>
              <a:gd name="connsiteY4-136" fmla="*/ 320634 h 1736523"/>
              <a:gd name="connsiteX5-137" fmla="*/ 576831 w 683708"/>
              <a:gd name="connsiteY5-138" fmla="*/ 249382 h 1736523"/>
              <a:gd name="connsiteX6-139" fmla="*/ 482996 w 683708"/>
              <a:gd name="connsiteY6-140" fmla="*/ 1401289 h 1736523"/>
              <a:gd name="connsiteX0-141" fmla="*/ 0 w 683708"/>
              <a:gd name="connsiteY0-142" fmla="*/ 1736523 h 1736523"/>
              <a:gd name="connsiteX1-143" fmla="*/ 446202 w 683708"/>
              <a:gd name="connsiteY1-144" fmla="*/ 213756 h 1736523"/>
              <a:gd name="connsiteX2-145" fmla="*/ 315573 w 683708"/>
              <a:gd name="connsiteY2-146" fmla="*/ 213756 h 1736523"/>
              <a:gd name="connsiteX3-147" fmla="*/ 612457 w 683708"/>
              <a:gd name="connsiteY3-148" fmla="*/ 0 h 1736523"/>
              <a:gd name="connsiteX4-149" fmla="*/ 683708 w 683708"/>
              <a:gd name="connsiteY4-150" fmla="*/ 320634 h 1736523"/>
              <a:gd name="connsiteX5-151" fmla="*/ 576831 w 683708"/>
              <a:gd name="connsiteY5-152" fmla="*/ 249382 h 1736523"/>
              <a:gd name="connsiteX6-153" fmla="*/ 482996 w 683708"/>
              <a:gd name="connsiteY6-154" fmla="*/ 1401289 h 1736523"/>
              <a:gd name="connsiteX0-155" fmla="*/ 0 w 683708"/>
              <a:gd name="connsiteY0-156" fmla="*/ 1736523 h 1736523"/>
              <a:gd name="connsiteX1-157" fmla="*/ 446202 w 683708"/>
              <a:gd name="connsiteY1-158" fmla="*/ 213756 h 1736523"/>
              <a:gd name="connsiteX2-159" fmla="*/ 315573 w 683708"/>
              <a:gd name="connsiteY2-160" fmla="*/ 213756 h 1736523"/>
              <a:gd name="connsiteX3-161" fmla="*/ 612457 w 683708"/>
              <a:gd name="connsiteY3-162" fmla="*/ 0 h 1736523"/>
              <a:gd name="connsiteX4-163" fmla="*/ 683708 w 683708"/>
              <a:gd name="connsiteY4-164" fmla="*/ 320634 h 1736523"/>
              <a:gd name="connsiteX5-165" fmla="*/ 576831 w 683708"/>
              <a:gd name="connsiteY5-166" fmla="*/ 249382 h 1736523"/>
              <a:gd name="connsiteX6-167" fmla="*/ 490140 w 683708"/>
              <a:gd name="connsiteY6-168" fmla="*/ 1420339 h 1736523"/>
              <a:gd name="connsiteX0-169" fmla="*/ 0 w 683708"/>
              <a:gd name="connsiteY0-170" fmla="*/ 1736523 h 1736523"/>
              <a:gd name="connsiteX1-171" fmla="*/ 446202 w 683708"/>
              <a:gd name="connsiteY1-172" fmla="*/ 213756 h 1736523"/>
              <a:gd name="connsiteX2-173" fmla="*/ 315573 w 683708"/>
              <a:gd name="connsiteY2-174" fmla="*/ 213756 h 1736523"/>
              <a:gd name="connsiteX3-175" fmla="*/ 612457 w 683708"/>
              <a:gd name="connsiteY3-176" fmla="*/ 0 h 1736523"/>
              <a:gd name="connsiteX4-177" fmla="*/ 683708 w 683708"/>
              <a:gd name="connsiteY4-178" fmla="*/ 320634 h 1736523"/>
              <a:gd name="connsiteX5-179" fmla="*/ 576831 w 683708"/>
              <a:gd name="connsiteY5-180" fmla="*/ 249382 h 1736523"/>
              <a:gd name="connsiteX6-181" fmla="*/ 490140 w 683708"/>
              <a:gd name="connsiteY6-182" fmla="*/ 1420339 h 1736523"/>
              <a:gd name="connsiteX0-183" fmla="*/ 0 w 683708"/>
              <a:gd name="connsiteY0-184" fmla="*/ 1726998 h 1726998"/>
              <a:gd name="connsiteX1-185" fmla="*/ 446202 w 683708"/>
              <a:gd name="connsiteY1-186" fmla="*/ 204231 h 1726998"/>
              <a:gd name="connsiteX2-187" fmla="*/ 315573 w 683708"/>
              <a:gd name="connsiteY2-188" fmla="*/ 204231 h 1726998"/>
              <a:gd name="connsiteX3-189" fmla="*/ 602932 w 683708"/>
              <a:gd name="connsiteY3-190" fmla="*/ 0 h 1726998"/>
              <a:gd name="connsiteX4-191" fmla="*/ 683708 w 683708"/>
              <a:gd name="connsiteY4-192" fmla="*/ 311109 h 1726998"/>
              <a:gd name="connsiteX5-193" fmla="*/ 576831 w 683708"/>
              <a:gd name="connsiteY5-194" fmla="*/ 239857 h 1726998"/>
              <a:gd name="connsiteX6-195" fmla="*/ 490140 w 683708"/>
              <a:gd name="connsiteY6-196" fmla="*/ 1410814 h 17269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683708" h="1726998">
                <a:moveTo>
                  <a:pt x="0" y="1726998"/>
                </a:moveTo>
                <a:cubicBezTo>
                  <a:pt x="68786" y="724734"/>
                  <a:pt x="252732" y="483220"/>
                  <a:pt x="446202" y="204231"/>
                </a:cubicBezTo>
                <a:lnTo>
                  <a:pt x="315573" y="204231"/>
                </a:lnTo>
                <a:lnTo>
                  <a:pt x="602932" y="0"/>
                </a:lnTo>
                <a:lnTo>
                  <a:pt x="683708" y="311109"/>
                </a:lnTo>
                <a:lnTo>
                  <a:pt x="576831" y="239857"/>
                </a:lnTo>
                <a:cubicBezTo>
                  <a:pt x="398423" y="673832"/>
                  <a:pt x="369487" y="897399"/>
                  <a:pt x="490140" y="1410814"/>
                </a:cubicBezTo>
              </a:path>
            </a:pathLst>
          </a:custGeom>
          <a:gradFill flip="none" rotWithShape="1">
            <a:gsLst>
              <a:gs pos="14000">
                <a:schemeClr val="bg1">
                  <a:alpha val="0"/>
                </a:schemeClr>
              </a:gs>
              <a:gs pos="64000">
                <a:srgbClr val="92D050"/>
              </a:gs>
            </a:gsLst>
            <a:lin ang="16200000" scaled="1"/>
            <a:tileRect/>
          </a:gradFill>
          <a:ln w="12700">
            <a:gradFill flip="none" rotWithShape="1">
              <a:gsLst>
                <a:gs pos="11000">
                  <a:schemeClr val="bg1">
                    <a:alpha val="0"/>
                  </a:schemeClr>
                </a:gs>
                <a:gs pos="81000">
                  <a:srgbClr val="92D050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矩形 81"/>
          <p:cNvSpPr/>
          <p:nvPr/>
        </p:nvSpPr>
        <p:spPr bwMode="gray">
          <a:xfrm>
            <a:off x="6529335" y="2120194"/>
            <a:ext cx="15267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14705">
              <a:buClr>
                <a:schemeClr val="accent1"/>
              </a:buClr>
              <a:buSzPct val="100000"/>
            </a:pPr>
            <a:r>
              <a:rPr lang="zh-CN" altLang="en-US" sz="1500" kern="0">
                <a:solidFill>
                  <a:srgbClr val="92D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类似</a:t>
            </a:r>
            <a:r>
              <a:rPr lang="en-US" altLang="zh-CN" sz="1500" kern="0" dirty="0">
                <a:solidFill>
                  <a:srgbClr val="92D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IP</a:t>
            </a:r>
            <a:r>
              <a:rPr lang="zh-CN" altLang="en-US" sz="1500" kern="0">
                <a:solidFill>
                  <a:srgbClr val="92D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路由中的出接口信息</a:t>
            </a:r>
            <a:endParaRPr lang="en-US" altLang="zh-CN" sz="1500" kern="0" dirty="0">
              <a:solidFill>
                <a:srgbClr val="92D05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33261" y="2690718"/>
            <a:ext cx="540000" cy="44280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01236" y="2690718"/>
            <a:ext cx="540000" cy="442800"/>
          </a:xfrm>
          <a:prstGeom prst="rect">
            <a:avLst/>
          </a:prstGeom>
        </p:spPr>
      </p:pic>
      <p:pic>
        <p:nvPicPr>
          <p:cNvPr id="79" name="图片 7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392125" y="2690718"/>
            <a:ext cx="540000" cy="442800"/>
          </a:xfrm>
          <a:prstGeom prst="rect">
            <a:avLst/>
          </a:prstGeom>
        </p:spPr>
      </p:pic>
      <p:sp>
        <p:nvSpPr>
          <p:cNvPr id="84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AS</a:t>
            </a:r>
            <a:r>
              <a:rPr lang="zh-CN" altLang="en-US" dirty="0">
                <a:sym typeface="Huawei Sans" panose="020C0503030203020204" pitchFamily="34" charset="0"/>
              </a:rPr>
              <a:t>内</a:t>
            </a:r>
            <a:r>
              <a:rPr lang="en-US" altLang="zh-CN" dirty="0">
                <a:sym typeface="Huawei Sans" panose="020C0503030203020204" pitchFamily="34" charset="0"/>
              </a:rPr>
              <a:t>Node SID</a:t>
            </a:r>
            <a:r>
              <a:rPr lang="zh-CN" altLang="en-US" dirty="0">
                <a:sym typeface="Huawei Sans" panose="020C0503030203020204" pitchFamily="34" charset="0"/>
              </a:rPr>
              <a:t>及</a:t>
            </a:r>
            <a:r>
              <a:rPr lang="en-US" altLang="zh-CN" dirty="0">
                <a:sym typeface="Huawei Sans" panose="020C0503030203020204" pitchFamily="34" charset="0"/>
              </a:rPr>
              <a:t>Adjacency SID</a:t>
            </a:r>
            <a:r>
              <a:rPr lang="zh-CN" altLang="en-US" dirty="0">
                <a:sym typeface="Huawei Sans" panose="020C0503030203020204" pitchFamily="34" charset="0"/>
              </a:rPr>
              <a:t>的泛洪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/>
              <a:t>SR-MPLS</a:t>
            </a:r>
            <a:r>
              <a:rPr lang="zh-CN" altLang="en-US" sz="1800" dirty="0"/>
              <a:t>使用</a:t>
            </a:r>
            <a:r>
              <a:rPr lang="en-US" altLang="zh-CN" sz="1800" dirty="0"/>
              <a:t>IGP</a:t>
            </a:r>
            <a:r>
              <a:rPr lang="zh-CN" altLang="en-US" sz="1800" dirty="0"/>
              <a:t>协议进行拓扑信息、前缀信息、</a:t>
            </a:r>
            <a:r>
              <a:rPr lang="en-US" altLang="zh-CN" sz="1800" dirty="0"/>
              <a:t>SRGB</a:t>
            </a:r>
            <a:r>
              <a:rPr lang="zh-CN" altLang="en-US" sz="1800" dirty="0"/>
              <a:t>和标签信息的通告。</a:t>
            </a:r>
            <a:r>
              <a:rPr lang="en-US" altLang="zh-CN" sz="1800" dirty="0"/>
              <a:t>IGP</a:t>
            </a:r>
            <a:r>
              <a:rPr lang="zh-CN" altLang="en-US" sz="1800" dirty="0"/>
              <a:t>协议为了完成上述功能，对于协议报文的</a:t>
            </a:r>
            <a:r>
              <a:rPr lang="en-US" altLang="zh-CN" sz="1800" dirty="0"/>
              <a:t>TLV</a:t>
            </a:r>
            <a:r>
              <a:rPr lang="zh-CN" altLang="en-US" sz="1800" dirty="0"/>
              <a:t>进行了一些扩展。</a:t>
            </a:r>
            <a:endParaRPr lang="zh-CN" altLang="en-US" sz="1800" dirty="0"/>
          </a:p>
        </p:txBody>
      </p:sp>
      <p:grpSp>
        <p:nvGrpSpPr>
          <p:cNvPr id="4" name="组合 3"/>
          <p:cNvGrpSpPr/>
          <p:nvPr/>
        </p:nvGrpSpPr>
        <p:grpSpPr bwMode="gray">
          <a:xfrm>
            <a:off x="1682172" y="2151984"/>
            <a:ext cx="8827656" cy="3262632"/>
            <a:chOff x="1066671" y="2151984"/>
            <a:chExt cx="8827656" cy="3262632"/>
          </a:xfrm>
        </p:grpSpPr>
        <p:cxnSp>
          <p:nvCxnSpPr>
            <p:cNvPr id="70" name="直接箭头连接符 69"/>
            <p:cNvCxnSpPr/>
            <p:nvPr/>
          </p:nvCxnSpPr>
          <p:spPr bwMode="gray">
            <a:xfrm flipH="1">
              <a:off x="4073194" y="3625205"/>
              <a:ext cx="993210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圆角矩形 70"/>
            <p:cNvSpPr/>
            <p:nvPr/>
          </p:nvSpPr>
          <p:spPr bwMode="gray">
            <a:xfrm>
              <a:off x="4298186" y="3731229"/>
              <a:ext cx="784860" cy="238125"/>
            </a:xfrm>
            <a:prstGeom prst="roundRect">
              <a:avLst>
                <a:gd name="adj" fmla="val 13019"/>
              </a:avLst>
            </a:prstGeom>
            <a:solidFill>
              <a:srgbClr val="92D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1001</a:t>
              </a:r>
              <a:endParaRPr lang="zh-CN" altLang="en-US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72" name="直接箭头连接符 71"/>
            <p:cNvCxnSpPr/>
            <p:nvPr/>
          </p:nvCxnSpPr>
          <p:spPr bwMode="gray">
            <a:xfrm>
              <a:off x="5820436" y="3625205"/>
              <a:ext cx="1083648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圆角矩形 74"/>
            <p:cNvSpPr/>
            <p:nvPr/>
          </p:nvSpPr>
          <p:spPr bwMode="gray">
            <a:xfrm>
              <a:off x="5852031" y="3731229"/>
              <a:ext cx="773430" cy="238125"/>
            </a:xfrm>
            <a:prstGeom prst="roundRect">
              <a:avLst>
                <a:gd name="adj" fmla="val 13019"/>
              </a:avLst>
            </a:prstGeom>
            <a:solidFill>
              <a:srgbClr val="92D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1002</a:t>
              </a:r>
              <a:endParaRPr lang="zh-CN" altLang="en-US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79" name="组合 78"/>
            <p:cNvGrpSpPr/>
            <p:nvPr/>
          </p:nvGrpSpPr>
          <p:grpSpPr bwMode="gray">
            <a:xfrm>
              <a:off x="2640357" y="2929364"/>
              <a:ext cx="492363" cy="473566"/>
              <a:chOff x="3769575" y="2816233"/>
              <a:chExt cx="959475" cy="2029316"/>
            </a:xfrm>
          </p:grpSpPr>
          <p:cxnSp>
            <p:nvCxnSpPr>
              <p:cNvPr id="80" name="直接连接符 79"/>
              <p:cNvCxnSpPr/>
              <p:nvPr/>
            </p:nvCxnSpPr>
            <p:spPr bwMode="gray">
              <a:xfrm flipH="1">
                <a:off x="3769575" y="2816233"/>
                <a:ext cx="9594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 bwMode="gray">
              <a:xfrm flipV="1">
                <a:off x="4249312" y="2816233"/>
                <a:ext cx="0" cy="202931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组合 81"/>
            <p:cNvGrpSpPr/>
            <p:nvPr/>
          </p:nvGrpSpPr>
          <p:grpSpPr bwMode="gray">
            <a:xfrm>
              <a:off x="5211437" y="2929364"/>
              <a:ext cx="492363" cy="473566"/>
              <a:chOff x="3769575" y="2816233"/>
              <a:chExt cx="959475" cy="2029316"/>
            </a:xfrm>
          </p:grpSpPr>
          <p:cxnSp>
            <p:nvCxnSpPr>
              <p:cNvPr id="83" name="直接连接符 82"/>
              <p:cNvCxnSpPr/>
              <p:nvPr/>
            </p:nvCxnSpPr>
            <p:spPr bwMode="gray">
              <a:xfrm flipH="1">
                <a:off x="3769575" y="2816233"/>
                <a:ext cx="9594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 bwMode="gray">
              <a:xfrm flipV="1">
                <a:off x="4249312" y="2816233"/>
                <a:ext cx="0" cy="202931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5" name="组合 84"/>
            <p:cNvGrpSpPr/>
            <p:nvPr/>
          </p:nvGrpSpPr>
          <p:grpSpPr bwMode="gray">
            <a:xfrm>
              <a:off x="7777746" y="2929364"/>
              <a:ext cx="492363" cy="473566"/>
              <a:chOff x="3769575" y="2816233"/>
              <a:chExt cx="959475" cy="2029316"/>
            </a:xfrm>
          </p:grpSpPr>
          <p:cxnSp>
            <p:nvCxnSpPr>
              <p:cNvPr id="86" name="直接连接符 85"/>
              <p:cNvCxnSpPr/>
              <p:nvPr/>
            </p:nvCxnSpPr>
            <p:spPr bwMode="gray">
              <a:xfrm flipH="1">
                <a:off x="3769575" y="2816233"/>
                <a:ext cx="9594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 bwMode="gray">
              <a:xfrm flipV="1">
                <a:off x="4249312" y="2816233"/>
                <a:ext cx="0" cy="202931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8" name="直接连接符 87"/>
            <p:cNvCxnSpPr/>
            <p:nvPr/>
          </p:nvCxnSpPr>
          <p:spPr bwMode="gray">
            <a:xfrm flipH="1">
              <a:off x="2102794" y="3483470"/>
              <a:ext cx="672226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矩形 91"/>
            <p:cNvSpPr/>
            <p:nvPr/>
          </p:nvSpPr>
          <p:spPr bwMode="gray">
            <a:xfrm>
              <a:off x="2679590" y="3711453"/>
              <a:ext cx="41389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R1</a:t>
              </a:r>
              <a:endPara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3" name="矩形 92"/>
            <p:cNvSpPr/>
            <p:nvPr/>
          </p:nvSpPr>
          <p:spPr bwMode="gray">
            <a:xfrm>
              <a:off x="5256976" y="3711453"/>
              <a:ext cx="41389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R2</a:t>
              </a:r>
              <a:endPara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4" name="矩形 93"/>
            <p:cNvSpPr/>
            <p:nvPr/>
          </p:nvSpPr>
          <p:spPr bwMode="gray">
            <a:xfrm>
              <a:off x="7834362" y="3711453"/>
              <a:ext cx="41389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R3</a:t>
              </a:r>
              <a:endPara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95" name="组合 94"/>
            <p:cNvGrpSpPr/>
            <p:nvPr/>
          </p:nvGrpSpPr>
          <p:grpSpPr bwMode="gray">
            <a:xfrm>
              <a:off x="1066671" y="3074415"/>
              <a:ext cx="1304009" cy="871898"/>
              <a:chOff x="4027703" y="3656700"/>
              <a:chExt cx="1304009" cy="871898"/>
            </a:xfrm>
          </p:grpSpPr>
          <p:grpSp>
            <p:nvGrpSpPr>
              <p:cNvPr id="96" name="组合 95"/>
              <p:cNvGrpSpPr/>
              <p:nvPr/>
            </p:nvGrpSpPr>
            <p:grpSpPr bwMode="gray">
              <a:xfrm>
                <a:off x="4027703" y="3656700"/>
                <a:ext cx="1304009" cy="871898"/>
                <a:chOff x="10125075" y="5439766"/>
                <a:chExt cx="1304009" cy="871898"/>
              </a:xfrm>
            </p:grpSpPr>
            <p:sp>
              <p:nvSpPr>
                <p:cNvPr id="103" name="矩形 102"/>
                <p:cNvSpPr/>
                <p:nvPr/>
              </p:nvSpPr>
              <p:spPr bwMode="gray">
                <a:xfrm>
                  <a:off x="10472174" y="5924694"/>
                  <a:ext cx="647760" cy="386970"/>
                </a:xfrm>
                <a:prstGeom prst="rect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04" name="椭圆 103"/>
                <p:cNvSpPr/>
                <p:nvPr/>
              </p:nvSpPr>
              <p:spPr bwMode="gray">
                <a:xfrm>
                  <a:off x="10379358" y="5439766"/>
                  <a:ext cx="604768" cy="604768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05" name="椭圆 104"/>
                <p:cNvSpPr/>
                <p:nvPr/>
              </p:nvSpPr>
              <p:spPr bwMode="gray">
                <a:xfrm>
                  <a:off x="10125075" y="5625254"/>
                  <a:ext cx="703036" cy="68641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06" name="椭圆 105"/>
                <p:cNvSpPr/>
                <p:nvPr/>
              </p:nvSpPr>
              <p:spPr bwMode="gray">
                <a:xfrm>
                  <a:off x="10792751" y="5675331"/>
                  <a:ext cx="636333" cy="636333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07" name="椭圆 106"/>
                <p:cNvSpPr/>
                <p:nvPr/>
              </p:nvSpPr>
              <p:spPr bwMode="gray">
                <a:xfrm>
                  <a:off x="10723031" y="5515085"/>
                  <a:ext cx="463257" cy="463258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grpSp>
            <p:nvGrpSpPr>
              <p:cNvPr id="97" name="组合 96"/>
              <p:cNvGrpSpPr/>
              <p:nvPr/>
            </p:nvGrpSpPr>
            <p:grpSpPr bwMode="gray">
              <a:xfrm>
                <a:off x="4079776" y="3717032"/>
                <a:ext cx="1199862" cy="767350"/>
                <a:chOff x="10181272" y="5503352"/>
                <a:chExt cx="1199862" cy="767350"/>
              </a:xfrm>
            </p:grpSpPr>
            <p:sp>
              <p:nvSpPr>
                <p:cNvPr id="98" name="椭圆 97"/>
                <p:cNvSpPr/>
                <p:nvPr/>
              </p:nvSpPr>
              <p:spPr bwMode="gray">
                <a:xfrm>
                  <a:off x="10463850" y="5503352"/>
                  <a:ext cx="512609" cy="51261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99" name="椭圆 98"/>
                <p:cNvSpPr/>
                <p:nvPr/>
              </p:nvSpPr>
              <p:spPr bwMode="gray">
                <a:xfrm>
                  <a:off x="10181272" y="5697686"/>
                  <a:ext cx="573015" cy="57301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00" name="椭圆 99"/>
                <p:cNvSpPr/>
                <p:nvPr/>
              </p:nvSpPr>
              <p:spPr bwMode="gray">
                <a:xfrm>
                  <a:off x="10798583" y="5688150"/>
                  <a:ext cx="582551" cy="58255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01" name="椭圆 100"/>
                <p:cNvSpPr/>
                <p:nvPr/>
              </p:nvSpPr>
              <p:spPr bwMode="gray">
                <a:xfrm>
                  <a:off x="10792392" y="5578078"/>
                  <a:ext cx="345057" cy="34505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02" name="矩形 101"/>
                <p:cNvSpPr/>
                <p:nvPr/>
              </p:nvSpPr>
              <p:spPr bwMode="gray">
                <a:xfrm>
                  <a:off x="10454799" y="5883732"/>
                  <a:ext cx="647760" cy="3869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</p:grpSp>
        <p:sp>
          <p:nvSpPr>
            <p:cNvPr id="108" name="矩形 107"/>
            <p:cNvSpPr/>
            <p:nvPr/>
          </p:nvSpPr>
          <p:spPr bwMode="gray">
            <a:xfrm>
              <a:off x="1131194" y="3314667"/>
              <a:ext cx="1148070" cy="3231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814705">
                <a:buClr>
                  <a:schemeClr val="accent1"/>
                </a:buClr>
                <a:buSzPct val="100000"/>
              </a:pPr>
              <a:r>
                <a:rPr lang="en-US" altLang="zh-CN" sz="1500" kern="0" dirty="0"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10.1.1.0/24</a:t>
              </a:r>
              <a:endParaRPr lang="en-US" altLang="zh-CN" sz="15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grpSp>
          <p:nvGrpSpPr>
            <p:cNvPr id="109" name="组合 108"/>
            <p:cNvGrpSpPr/>
            <p:nvPr/>
          </p:nvGrpSpPr>
          <p:grpSpPr bwMode="gray">
            <a:xfrm>
              <a:off x="8590318" y="3074415"/>
              <a:ext cx="1304009" cy="871898"/>
              <a:chOff x="4027703" y="3656700"/>
              <a:chExt cx="1304009" cy="871898"/>
            </a:xfrm>
          </p:grpSpPr>
          <p:grpSp>
            <p:nvGrpSpPr>
              <p:cNvPr id="110" name="组合 109"/>
              <p:cNvGrpSpPr/>
              <p:nvPr/>
            </p:nvGrpSpPr>
            <p:grpSpPr bwMode="gray">
              <a:xfrm>
                <a:off x="4027703" y="3656700"/>
                <a:ext cx="1304009" cy="871898"/>
                <a:chOff x="10125075" y="5439766"/>
                <a:chExt cx="1304009" cy="871898"/>
              </a:xfrm>
            </p:grpSpPr>
            <p:sp>
              <p:nvSpPr>
                <p:cNvPr id="117" name="矩形 116"/>
                <p:cNvSpPr/>
                <p:nvPr/>
              </p:nvSpPr>
              <p:spPr bwMode="gray">
                <a:xfrm>
                  <a:off x="10472174" y="5924694"/>
                  <a:ext cx="647760" cy="386970"/>
                </a:xfrm>
                <a:prstGeom prst="rect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18" name="椭圆 117"/>
                <p:cNvSpPr/>
                <p:nvPr/>
              </p:nvSpPr>
              <p:spPr bwMode="gray">
                <a:xfrm>
                  <a:off x="10379358" y="5439766"/>
                  <a:ext cx="604768" cy="604768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19" name="椭圆 118"/>
                <p:cNvSpPr/>
                <p:nvPr/>
              </p:nvSpPr>
              <p:spPr bwMode="gray">
                <a:xfrm>
                  <a:off x="10125075" y="5625254"/>
                  <a:ext cx="703036" cy="68641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20" name="椭圆 119"/>
                <p:cNvSpPr/>
                <p:nvPr/>
              </p:nvSpPr>
              <p:spPr bwMode="gray">
                <a:xfrm>
                  <a:off x="10792751" y="5675331"/>
                  <a:ext cx="636333" cy="636333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21" name="椭圆 120"/>
                <p:cNvSpPr/>
                <p:nvPr/>
              </p:nvSpPr>
              <p:spPr bwMode="gray">
                <a:xfrm>
                  <a:off x="10723031" y="5515085"/>
                  <a:ext cx="463257" cy="463258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grpSp>
            <p:nvGrpSpPr>
              <p:cNvPr id="111" name="组合 110"/>
              <p:cNvGrpSpPr/>
              <p:nvPr/>
            </p:nvGrpSpPr>
            <p:grpSpPr bwMode="gray">
              <a:xfrm>
                <a:off x="4079776" y="3717032"/>
                <a:ext cx="1199862" cy="767350"/>
                <a:chOff x="10181272" y="5503352"/>
                <a:chExt cx="1199862" cy="767350"/>
              </a:xfrm>
            </p:grpSpPr>
            <p:sp>
              <p:nvSpPr>
                <p:cNvPr id="112" name="椭圆 111"/>
                <p:cNvSpPr/>
                <p:nvPr/>
              </p:nvSpPr>
              <p:spPr bwMode="gray">
                <a:xfrm>
                  <a:off x="10463850" y="5503352"/>
                  <a:ext cx="512609" cy="51261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13" name="椭圆 112"/>
                <p:cNvSpPr/>
                <p:nvPr/>
              </p:nvSpPr>
              <p:spPr bwMode="gray">
                <a:xfrm>
                  <a:off x="10181272" y="5697686"/>
                  <a:ext cx="573015" cy="57301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14" name="椭圆 113"/>
                <p:cNvSpPr/>
                <p:nvPr/>
              </p:nvSpPr>
              <p:spPr bwMode="gray">
                <a:xfrm>
                  <a:off x="10798583" y="5688150"/>
                  <a:ext cx="582551" cy="58255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15" name="椭圆 114"/>
                <p:cNvSpPr/>
                <p:nvPr/>
              </p:nvSpPr>
              <p:spPr bwMode="gray">
                <a:xfrm>
                  <a:off x="10792392" y="5578078"/>
                  <a:ext cx="345057" cy="34505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16" name="矩形 115"/>
                <p:cNvSpPr/>
                <p:nvPr/>
              </p:nvSpPr>
              <p:spPr bwMode="gray">
                <a:xfrm>
                  <a:off x="10454799" y="5883732"/>
                  <a:ext cx="647760" cy="3869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</p:grpSp>
        <p:sp>
          <p:nvSpPr>
            <p:cNvPr id="122" name="矩形 121"/>
            <p:cNvSpPr/>
            <p:nvPr/>
          </p:nvSpPr>
          <p:spPr bwMode="gray">
            <a:xfrm>
              <a:off x="8654841" y="3314667"/>
              <a:ext cx="1148070" cy="3231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814705">
                <a:buClr>
                  <a:schemeClr val="accent1"/>
                </a:buClr>
                <a:buSzPct val="100000"/>
              </a:pPr>
              <a:r>
                <a:rPr lang="en-US" altLang="zh-CN" sz="1500" kern="0" dirty="0"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10.2.2.0/24</a:t>
              </a:r>
              <a:endParaRPr lang="en-US" altLang="zh-CN" sz="15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23" name="圆角矩形 122"/>
            <p:cNvSpPr/>
            <p:nvPr/>
          </p:nvSpPr>
          <p:spPr bwMode="gray">
            <a:xfrm>
              <a:off x="2592394" y="2151984"/>
              <a:ext cx="588288" cy="238245"/>
            </a:xfrm>
            <a:prstGeom prst="roundRect">
              <a:avLst>
                <a:gd name="adj" fmla="val 13019"/>
              </a:avLst>
            </a:prstGeom>
            <a:solidFill>
              <a:srgbClr val="FF006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100</a:t>
              </a:r>
              <a:endParaRPr lang="zh-CN" altLang="en-US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4" name="圆角矩形 123"/>
            <p:cNvSpPr/>
            <p:nvPr/>
          </p:nvSpPr>
          <p:spPr bwMode="gray">
            <a:xfrm>
              <a:off x="5163474" y="2151984"/>
              <a:ext cx="588288" cy="238245"/>
            </a:xfrm>
            <a:prstGeom prst="roundRect">
              <a:avLst>
                <a:gd name="adj" fmla="val 13019"/>
              </a:avLst>
            </a:prstGeom>
            <a:solidFill>
              <a:srgbClr val="FF006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200</a:t>
              </a:r>
              <a:endParaRPr lang="zh-CN" altLang="en-US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5" name="圆角矩形 124"/>
            <p:cNvSpPr/>
            <p:nvPr/>
          </p:nvSpPr>
          <p:spPr bwMode="gray">
            <a:xfrm>
              <a:off x="7727888" y="2151984"/>
              <a:ext cx="588288" cy="238245"/>
            </a:xfrm>
            <a:prstGeom prst="roundRect">
              <a:avLst>
                <a:gd name="adj" fmla="val 13019"/>
              </a:avLst>
            </a:prstGeom>
            <a:solidFill>
              <a:srgbClr val="FF006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300</a:t>
              </a:r>
              <a:endParaRPr lang="zh-CN" altLang="en-US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6" name="圆角矩形 125"/>
            <p:cNvSpPr/>
            <p:nvPr/>
          </p:nvSpPr>
          <p:spPr bwMode="gray">
            <a:xfrm>
              <a:off x="1326344" y="3606811"/>
              <a:ext cx="783012" cy="238245"/>
            </a:xfrm>
            <a:prstGeom prst="roundRect">
              <a:avLst>
                <a:gd name="adj" fmla="val 13019"/>
              </a:avLst>
            </a:prstGeom>
            <a:solidFill>
              <a:srgbClr val="FF993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16001</a:t>
              </a:r>
              <a:endParaRPr lang="zh-CN" altLang="en-US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7" name="圆角矩形 126"/>
            <p:cNvSpPr/>
            <p:nvPr/>
          </p:nvSpPr>
          <p:spPr bwMode="gray">
            <a:xfrm>
              <a:off x="8840557" y="3606811"/>
              <a:ext cx="783012" cy="238245"/>
            </a:xfrm>
            <a:prstGeom prst="roundRect">
              <a:avLst>
                <a:gd name="adj" fmla="val 13019"/>
              </a:avLst>
            </a:prstGeom>
            <a:solidFill>
              <a:srgbClr val="FF993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16002</a:t>
              </a:r>
              <a:endParaRPr lang="zh-CN" altLang="en-US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8" name="矩形 127"/>
            <p:cNvSpPr/>
            <p:nvPr/>
          </p:nvSpPr>
          <p:spPr bwMode="gray">
            <a:xfrm>
              <a:off x="2333584" y="2377137"/>
              <a:ext cx="105990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Loopback1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1.1.1.1/32</a:t>
              </a:r>
              <a:endPara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9" name="矩形 128"/>
            <p:cNvSpPr/>
            <p:nvPr/>
          </p:nvSpPr>
          <p:spPr bwMode="gray">
            <a:xfrm>
              <a:off x="4927665" y="2377137"/>
              <a:ext cx="105990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Loopback1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2.2.2.2/32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0" name="矩形 129"/>
            <p:cNvSpPr/>
            <p:nvPr/>
          </p:nvSpPr>
          <p:spPr bwMode="gray">
            <a:xfrm>
              <a:off x="7473214" y="2377137"/>
              <a:ext cx="105990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Loopback1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3.3.3.3/32</a:t>
              </a:r>
              <a:endPara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" name="任意多边形 2"/>
            <p:cNvSpPr/>
            <p:nvPr/>
          </p:nvSpPr>
          <p:spPr bwMode="gray">
            <a:xfrm>
              <a:off x="3203464" y="4046124"/>
              <a:ext cx="2030506" cy="699260"/>
            </a:xfrm>
            <a:custGeom>
              <a:avLst/>
              <a:gdLst>
                <a:gd name="connsiteX0" fmla="*/ 0 w 2030506"/>
                <a:gd name="connsiteY0" fmla="*/ 0 h 739598"/>
                <a:gd name="connsiteX1" fmla="*/ 914400 w 2030506"/>
                <a:gd name="connsiteY1" fmla="*/ 739588 h 739598"/>
                <a:gd name="connsiteX2" fmla="*/ 2030506 w 2030506"/>
                <a:gd name="connsiteY2" fmla="*/ 13447 h 739598"/>
                <a:gd name="connsiteX0-1" fmla="*/ 0 w 2030506"/>
                <a:gd name="connsiteY0-2" fmla="*/ 0 h 699258"/>
                <a:gd name="connsiteX1-3" fmla="*/ 1035423 w 2030506"/>
                <a:gd name="connsiteY1-4" fmla="*/ 699247 h 699258"/>
                <a:gd name="connsiteX2-5" fmla="*/ 2030506 w 2030506"/>
                <a:gd name="connsiteY2-6" fmla="*/ 13447 h 699258"/>
                <a:gd name="connsiteX0-7" fmla="*/ 0 w 2030506"/>
                <a:gd name="connsiteY0-8" fmla="*/ 0 h 699260"/>
                <a:gd name="connsiteX1-9" fmla="*/ 1035423 w 2030506"/>
                <a:gd name="connsiteY1-10" fmla="*/ 699247 h 699260"/>
                <a:gd name="connsiteX2-11" fmla="*/ 2030506 w 2030506"/>
                <a:gd name="connsiteY2-12" fmla="*/ 13447 h 6992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030506" h="699260">
                  <a:moveTo>
                    <a:pt x="0" y="0"/>
                  </a:moveTo>
                  <a:cubicBezTo>
                    <a:pt x="287991" y="368673"/>
                    <a:pt x="697005" y="697006"/>
                    <a:pt x="1035423" y="699247"/>
                  </a:cubicBezTo>
                  <a:cubicBezTo>
                    <a:pt x="1373841" y="701488"/>
                    <a:pt x="1722344" y="417979"/>
                    <a:pt x="2030506" y="13447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" name="任意多边形 72"/>
            <p:cNvSpPr/>
            <p:nvPr/>
          </p:nvSpPr>
          <p:spPr bwMode="gray">
            <a:xfrm>
              <a:off x="5735938" y="4046124"/>
              <a:ext cx="2030506" cy="699260"/>
            </a:xfrm>
            <a:custGeom>
              <a:avLst/>
              <a:gdLst>
                <a:gd name="connsiteX0" fmla="*/ 0 w 2030506"/>
                <a:gd name="connsiteY0" fmla="*/ 0 h 739598"/>
                <a:gd name="connsiteX1" fmla="*/ 914400 w 2030506"/>
                <a:gd name="connsiteY1" fmla="*/ 739588 h 739598"/>
                <a:gd name="connsiteX2" fmla="*/ 2030506 w 2030506"/>
                <a:gd name="connsiteY2" fmla="*/ 13447 h 739598"/>
                <a:gd name="connsiteX0-1" fmla="*/ 0 w 2030506"/>
                <a:gd name="connsiteY0-2" fmla="*/ 0 h 699258"/>
                <a:gd name="connsiteX1-3" fmla="*/ 1035423 w 2030506"/>
                <a:gd name="connsiteY1-4" fmla="*/ 699247 h 699258"/>
                <a:gd name="connsiteX2-5" fmla="*/ 2030506 w 2030506"/>
                <a:gd name="connsiteY2-6" fmla="*/ 13447 h 699258"/>
                <a:gd name="connsiteX0-7" fmla="*/ 0 w 2030506"/>
                <a:gd name="connsiteY0-8" fmla="*/ 0 h 699260"/>
                <a:gd name="connsiteX1-9" fmla="*/ 1035423 w 2030506"/>
                <a:gd name="connsiteY1-10" fmla="*/ 699247 h 699260"/>
                <a:gd name="connsiteX2-11" fmla="*/ 2030506 w 2030506"/>
                <a:gd name="connsiteY2-12" fmla="*/ 13447 h 6992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030506" h="699260">
                  <a:moveTo>
                    <a:pt x="0" y="0"/>
                  </a:moveTo>
                  <a:cubicBezTo>
                    <a:pt x="287991" y="368673"/>
                    <a:pt x="697005" y="697006"/>
                    <a:pt x="1035423" y="699247"/>
                  </a:cubicBezTo>
                  <a:cubicBezTo>
                    <a:pt x="1373841" y="701488"/>
                    <a:pt x="1722344" y="417979"/>
                    <a:pt x="2030506" y="13447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4" name="矩形 73"/>
            <p:cNvSpPr/>
            <p:nvPr/>
          </p:nvSpPr>
          <p:spPr bwMode="gray">
            <a:xfrm>
              <a:off x="3500075" y="4829841"/>
              <a:ext cx="158408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C7000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扩展的</a:t>
              </a:r>
              <a:r>
                <a:rPr lang="en-US" altLang="zh-CN" sz="1600" dirty="0">
                  <a:solidFill>
                    <a:srgbClr val="C7000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IGP</a:t>
              </a:r>
              <a:r>
                <a:rPr lang="zh-CN" altLang="en-US" sz="1600" dirty="0">
                  <a:solidFill>
                    <a:srgbClr val="C7000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协议</a:t>
              </a:r>
              <a:endParaRPr lang="en-US" altLang="zh-CN" sz="16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zh-CN" altLang="en-US" sz="1600" dirty="0">
                  <a:solidFill>
                    <a:srgbClr val="C7000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例如</a:t>
              </a:r>
              <a:r>
                <a:rPr lang="en-US" altLang="zh-CN" sz="1600" dirty="0">
                  <a:solidFill>
                    <a:srgbClr val="C7000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IS-IS/OSPF</a:t>
              </a:r>
              <a:endParaRPr lang="zh-CN" altLang="en-US" sz="16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6" name="矩形 75"/>
            <p:cNvSpPr/>
            <p:nvPr/>
          </p:nvSpPr>
          <p:spPr bwMode="gray">
            <a:xfrm>
              <a:off x="5959147" y="4829841"/>
              <a:ext cx="158408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C7000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扩展的</a:t>
              </a:r>
              <a:r>
                <a:rPr lang="en-US" altLang="zh-CN" sz="1600" dirty="0">
                  <a:solidFill>
                    <a:srgbClr val="C7000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IGP</a:t>
              </a:r>
              <a:r>
                <a:rPr lang="zh-CN" altLang="en-US" sz="1600" dirty="0">
                  <a:solidFill>
                    <a:srgbClr val="C7000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协议</a:t>
              </a:r>
              <a:endParaRPr lang="en-US" altLang="zh-CN" sz="16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zh-CN" altLang="en-US" sz="1600" dirty="0">
                  <a:solidFill>
                    <a:srgbClr val="C7000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例如</a:t>
              </a:r>
              <a:r>
                <a:rPr lang="en-US" altLang="zh-CN" sz="1600" dirty="0">
                  <a:solidFill>
                    <a:srgbClr val="C7000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IS-IS/OSPF</a:t>
              </a:r>
              <a:endParaRPr lang="zh-CN" altLang="en-US" sz="16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77" name="图片 76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617760" y="3251902"/>
              <a:ext cx="540000" cy="442800"/>
            </a:xfrm>
            <a:prstGeom prst="rect">
              <a:avLst/>
            </a:prstGeom>
          </p:spPr>
        </p:pic>
        <p:pic>
          <p:nvPicPr>
            <p:cNvPr id="78" name="图片 77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185735" y="3251902"/>
              <a:ext cx="540000" cy="442800"/>
            </a:xfrm>
            <a:prstGeom prst="rect">
              <a:avLst/>
            </a:prstGeom>
          </p:spPr>
        </p:pic>
        <p:pic>
          <p:nvPicPr>
            <p:cNvPr id="134" name="图片 133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776624" y="3251902"/>
              <a:ext cx="540000" cy="442800"/>
            </a:xfrm>
            <a:prstGeom prst="rect">
              <a:avLst/>
            </a:prstGeom>
          </p:spPr>
        </p:pic>
      </p:grpSp>
      <p:sp>
        <p:nvSpPr>
          <p:cNvPr id="89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1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2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OSPF for SR-MPLS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19724" y="1212350"/>
          <a:ext cx="10362076" cy="4650281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1750297"/>
                <a:gridCol w="3742505"/>
                <a:gridCol w="4869274"/>
              </a:tblGrid>
              <a:tr h="41371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名称</a:t>
                      </a:r>
                      <a:endParaRPr lang="zh-CN" alt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9402" marR="9402" marT="9402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作用</a:t>
                      </a:r>
                      <a:endParaRPr lang="zh-CN" alt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9402" marR="9402" marT="9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携带位置</a:t>
                      </a:r>
                      <a:endParaRPr lang="zh-CN" alt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9402" marR="9402" marT="9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607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SR-Algorithm TLV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用于对外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通告自己使用的算法</a:t>
                      </a:r>
                      <a:endParaRPr lang="zh-CN" altLang="en-US" sz="1200" b="0" i="0" u="none" strike="noStrike" dirty="0">
                        <a:solidFill>
                          <a:srgbClr val="333333"/>
                        </a:solidFill>
                        <a:effectLst/>
                        <a:highlight>
                          <a:srgbClr val="FFFF00"/>
                        </a:highlight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Type 10 Opaque LSA</a:t>
                      </a:r>
                      <a:endParaRPr lang="en-US" sz="1200" b="0" i="0" u="none" strike="noStrike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7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SID/Label Range TLV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通告</a:t>
                      </a:r>
                      <a:r>
                        <a:rPr 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SR-MPLS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</a:t>
                      </a:r>
                      <a:r>
                        <a:rPr 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SID</a:t>
                      </a:r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或</a:t>
                      </a:r>
                      <a:r>
                        <a:rPr 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MPLS Label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范围</a:t>
                      </a:r>
                      <a:endParaRPr lang="zh-CN" altLang="en-US" sz="1200" b="0" i="0" u="none" strike="noStrike" dirty="0">
                        <a:solidFill>
                          <a:srgbClr val="333333"/>
                        </a:solidFill>
                        <a:effectLst/>
                        <a:highlight>
                          <a:srgbClr val="FFFF00"/>
                        </a:highlight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Type 10 Opaque LSA</a:t>
                      </a:r>
                      <a:endParaRPr lang="en-US" sz="1200" b="0" i="0" u="none" strike="noStrike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7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SRMS Preference TLV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通告网元做为</a:t>
                      </a:r>
                      <a:r>
                        <a:rPr 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 Mapping Server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的优先级</a:t>
                      </a:r>
                      <a:endParaRPr lang="zh-CN" altLang="en-US" sz="1200" b="0" i="0" u="none" strike="noStrike" dirty="0">
                        <a:solidFill>
                          <a:srgbClr val="333333"/>
                        </a:solidFill>
                        <a:effectLst/>
                        <a:highlight>
                          <a:srgbClr val="FFFF00"/>
                        </a:highlight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Type 10 Opaque LSA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70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SID/Label Sub-TLV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通告</a:t>
                      </a:r>
                      <a:r>
                        <a:rPr 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SR-MPLS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</a:t>
                      </a:r>
                      <a:r>
                        <a:rPr 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SID</a:t>
                      </a:r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或</a:t>
                      </a:r>
                      <a:r>
                        <a:rPr 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MPLS Label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highlight>
                          <a:srgbClr val="FFFF00"/>
                        </a:highlight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SID/Label Range TLV</a:t>
                      </a:r>
                      <a:endParaRPr lang="en-US" sz="1200" b="0" i="0" u="none" strike="noStrike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831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OSPFv2 Extended Prefix Opaque LSA</a:t>
                      </a:r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中的</a:t>
                      </a:r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OSPFv2 Extended Prefix TLV</a:t>
                      </a:r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和</a:t>
                      </a:r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 Extended Prefix Range TLV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701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OSPFv2 Extended Link Opaque LSA</a:t>
                      </a:r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中的</a:t>
                      </a:r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OSPFv2 Extended Link TLV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8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Prefix SID Sub-TLV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通告</a:t>
                      </a:r>
                      <a:r>
                        <a:rPr 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SR-MPLS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</a:t>
                      </a:r>
                      <a:r>
                        <a:rPr 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Prefix SID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highlight>
                          <a:srgbClr val="FFFF00"/>
                        </a:highlight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OSPFv2 Extended Prefix Opaque LSA</a:t>
                      </a:r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中的</a:t>
                      </a:r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OSPFv2 Extended Prefix TLV</a:t>
                      </a:r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和</a:t>
                      </a:r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 Extended Prefix Range TLV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7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Adj-SID Sub-TLV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在</a:t>
                      </a:r>
                      <a:r>
                        <a:rPr 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P2P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网络</a:t>
                      </a:r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中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通告</a:t>
                      </a:r>
                      <a:r>
                        <a:rPr 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SR-MPLS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</a:t>
                      </a:r>
                      <a:r>
                        <a:rPr 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Adjacency SID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highlight>
                          <a:srgbClr val="FFFF00"/>
                        </a:highlight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OSPFv2 Extended Link Opaque LSA</a:t>
                      </a:r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中的</a:t>
                      </a:r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OSPFv2 Extended Link TLV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7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LAN Adj-SID Sub-TLV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在</a:t>
                      </a:r>
                      <a:r>
                        <a:rPr 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LAN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网络</a:t>
                      </a:r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中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通告</a:t>
                      </a:r>
                      <a:r>
                        <a:rPr 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SR-MPLS</a:t>
                      </a:r>
                      <a:r>
                        <a:rPr lang="zh-CN" alt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</a:t>
                      </a:r>
                      <a:r>
                        <a:rPr lang="en-US" sz="1200" u="none" strike="noStrike" dirty="0"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Adjacency SID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highlight>
                          <a:srgbClr val="FFFF00"/>
                        </a:highlight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OSPFv2 Extended Link Opaque LSA</a:t>
                      </a:r>
                      <a:r>
                        <a:rPr lang="zh-CN" alt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中的</a:t>
                      </a:r>
                      <a:r>
                        <a:rPr lang="en-US" sz="1200" u="none" strike="noStrike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OSPFv2 Extended Link TLV</a:t>
                      </a: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燕尾形 7"/>
          <p:cNvSpPr/>
          <p:nvPr/>
        </p:nvSpPr>
        <p:spPr bwMode="auto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五边形 8"/>
          <p:cNvSpPr/>
          <p:nvPr/>
        </p:nvSpPr>
        <p:spPr bwMode="auto">
          <a:xfrm>
            <a:off x="6051655" y="102013"/>
            <a:ext cx="1192192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9"/>
          <p:cNvSpPr/>
          <p:nvPr/>
        </p:nvSpPr>
        <p:spPr bwMode="auto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燕尾形 10"/>
          <p:cNvSpPr/>
          <p:nvPr/>
        </p:nvSpPr>
        <p:spPr bwMode="auto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燕尾形 10"/>
          <p:cNvSpPr/>
          <p:nvPr/>
        </p:nvSpPr>
        <p:spPr bwMode="auto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IS-IS for SR-MPLS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88808" y="1148503"/>
          <a:ext cx="10423908" cy="4777063"/>
        </p:xfrm>
        <a:graphic>
          <a:graphicData uri="http://schemas.openxmlformats.org/drawingml/2006/table">
            <a:tbl>
              <a:tblPr/>
              <a:tblGrid>
                <a:gridCol w="2200546"/>
                <a:gridCol w="3651907"/>
                <a:gridCol w="4571455"/>
              </a:tblGrid>
              <a:tr h="4155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名称</a:t>
                      </a:r>
                      <a:endParaRPr lang="zh-CN" altLang="en-US" sz="14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20429" marR="20429" marT="20429" marB="2042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作用</a:t>
                      </a:r>
                      <a:endParaRPr lang="zh-CN" altLang="en-US" sz="14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20429" marR="20429" marT="20429" marB="20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携带位置</a:t>
                      </a:r>
                      <a:endParaRPr lang="zh-CN" altLang="en-US" sz="14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20429" marR="20429" marT="20429" marB="20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01942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Prefix-SID Sub-TLV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用于通告</a:t>
                      </a: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SR-MPLS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</a:t>
                      </a: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Prefix SID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Extended IPv4 Reachability TLV-135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Multitopology IPv4 Reachability TLV-235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IPv6 IP Reachability TLV-236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Multitopology IPv6 IP Reachability TLV-237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SID/Label Binding TLV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0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Adj-SID Sub-TLV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用于在</a:t>
                      </a: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P2P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网络中通告</a:t>
                      </a: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SR-MPLS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</a:t>
                      </a: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Adjacency SID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Extended IS reachability TLV-22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IS Neighbor Attribute TLV-23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inter-AS reachability information TLV-141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Multitopology IS TLV-222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Multitopology IS Neighbor Attribute TLV-223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096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LAN-Adj-SID Sub-TLV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用于在</a:t>
                      </a: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LAN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网络中通告</a:t>
                      </a: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SR-MPLS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</a:t>
                      </a: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Adjacency SID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Extended IS reachability TLV-22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IS Neighbor Attribute TLV-23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inter-AS reachability information TLV-141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Multitopology IS TLV-222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Multitopology IS Neighbor Attribute TLV-223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0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SID/Label Sub-TLV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用于通告</a:t>
                      </a: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SR-MPLS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</a:t>
                      </a: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SID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或</a:t>
                      </a: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MPLS Label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SR-Capabilities Sub-</a:t>
                      </a:r>
                      <a:r>
                        <a:rPr lang="en-US" sz="12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TLV和SR</a:t>
                      </a: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Local Block Sub-TLV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80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SID/Label Binding TLV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用于通告前缀到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SID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的映射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LSP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80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SR-Capabilities Sub-TLV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用于对外通告自己的</a:t>
                      </a:r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SR-MPLS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能力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Router Capability TLV-242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0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 Local Block Sub-TLV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用于通告网元为本地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SID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预留的标签范围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IS-IS Router Capability TLV-242</a:t>
                      </a:r>
                      <a:endParaRPr 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燕尾形 7"/>
          <p:cNvSpPr/>
          <p:nvPr/>
        </p:nvSpPr>
        <p:spPr bwMode="auto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五边形 8"/>
          <p:cNvSpPr/>
          <p:nvPr/>
        </p:nvSpPr>
        <p:spPr bwMode="auto">
          <a:xfrm>
            <a:off x="6051655" y="102013"/>
            <a:ext cx="1192192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9"/>
          <p:cNvSpPr/>
          <p:nvPr/>
        </p:nvSpPr>
        <p:spPr bwMode="auto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燕尾形 10"/>
          <p:cNvSpPr/>
          <p:nvPr/>
        </p:nvSpPr>
        <p:spPr bwMode="auto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燕尾形 10"/>
          <p:cNvSpPr/>
          <p:nvPr/>
        </p:nvSpPr>
        <p:spPr bwMode="auto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基本概念：</a:t>
            </a:r>
            <a:r>
              <a:rPr lang="en-US" altLang="zh-CN">
                <a:sym typeface="Huawei Sans" panose="020C0503030203020204" pitchFamily="34" charset="0"/>
              </a:rPr>
              <a:t>SR Policy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1059346"/>
          </a:xfrm>
        </p:spPr>
        <p:txBody>
          <a:bodyPr/>
          <a:lstStyle/>
          <a:p>
            <a:pPr fontAlgn="base"/>
            <a:r>
              <a:rPr lang="en-US" altLang="zh-CN" sz="1800" dirty="0">
                <a:sym typeface="Huawei Sans" panose="020C0503030203020204" pitchFamily="34" charset="0"/>
              </a:rPr>
              <a:t>RFC 8402</a:t>
            </a:r>
            <a:r>
              <a:rPr lang="zh-CN" altLang="en-US" sz="1800" dirty="0">
                <a:sym typeface="Huawei Sans" panose="020C0503030203020204" pitchFamily="34" charset="0"/>
              </a:rPr>
              <a:t>中定义</a:t>
            </a:r>
            <a:r>
              <a:rPr lang="en-US" altLang="zh-CN" sz="1800" dirty="0">
                <a:sym typeface="Huawei Sans" panose="020C0503030203020204" pitchFamily="34" charset="0"/>
              </a:rPr>
              <a:t>SR Policy</a:t>
            </a:r>
            <a:r>
              <a:rPr lang="zh-CN" altLang="en-US" sz="1800" dirty="0">
                <a:sym typeface="Huawei Sans" panose="020C0503030203020204" pitchFamily="34" charset="0"/>
              </a:rPr>
              <a:t>是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一段有序的段列表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an ordered list of segments</a:t>
            </a:r>
            <a:r>
              <a:rPr lang="zh-CN" altLang="en-US" sz="1800" dirty="0">
                <a:sym typeface="Huawei Sans" panose="020C0503030203020204" pitchFamily="34" charset="0"/>
              </a:rPr>
              <a:t>）。更完整的说法是</a:t>
            </a:r>
            <a:r>
              <a:rPr lang="en-US" altLang="zh-CN" sz="1800" dirty="0">
                <a:sym typeface="Huawei Sans" panose="020C0503030203020204" pitchFamily="34" charset="0"/>
              </a:rPr>
              <a:t>SR Policy</a:t>
            </a:r>
            <a:r>
              <a:rPr lang="zh-CN" altLang="en-US" sz="1800" dirty="0">
                <a:sym typeface="Huawei Sans" panose="020C0503030203020204" pitchFamily="34" charset="0"/>
              </a:rPr>
              <a:t>最终呈现为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一段有序的段列表，还包含了计算、生成和维护这个段列表及引入流量等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SR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技术的一种框架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r>
              <a:rPr lang="en-US" altLang="zh-CN" sz="1800" dirty="0">
                <a:sym typeface="Huawei Sans" panose="020C0503030203020204" pitchFamily="34" charset="0"/>
              </a:rPr>
              <a:t>SR Policy</a:t>
            </a:r>
            <a:r>
              <a:rPr lang="zh-CN" altLang="en-US" sz="1800" dirty="0">
                <a:sym typeface="Huawei Sans" panose="020C0503030203020204" pitchFamily="34" charset="0"/>
              </a:rPr>
              <a:t>是当前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最主流的实现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SR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的方式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pPr fontAlgn="base"/>
            <a:r>
              <a:rPr lang="zh-CN" altLang="en-US" sz="1800" dirty="0">
                <a:sym typeface="Huawei Sans" panose="020C0503030203020204" pitchFamily="34" charset="0"/>
              </a:rPr>
              <a:t>一个</a:t>
            </a:r>
            <a:r>
              <a:rPr lang="en-US" altLang="zh-CN" sz="1800" dirty="0">
                <a:sym typeface="Huawei Sans" panose="020C0503030203020204" pitchFamily="34" charset="0"/>
              </a:rPr>
              <a:t>SR Policy</a:t>
            </a:r>
            <a:r>
              <a:rPr lang="zh-CN" altLang="en-US" sz="1800" dirty="0">
                <a:sym typeface="Huawei Sans" panose="020C0503030203020204" pitchFamily="34" charset="0"/>
              </a:rPr>
              <a:t>由头端节点引导流量进入这个段策略中。它的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段列表被精确的分配为标签栈指导流量转发</a:t>
            </a:r>
            <a:r>
              <a:rPr lang="zh-CN" altLang="en-US" sz="1800" dirty="0">
                <a:sym typeface="Huawei Sans" panose="020C0503030203020204" pitchFamily="34" charset="0"/>
              </a:rPr>
              <a:t>。这个段列表由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一系列的</a:t>
            </a:r>
            <a:r>
              <a:rPr lang="zh-CN" altLang="en-US" sz="1800">
                <a:highlight>
                  <a:srgbClr val="FFFF00"/>
                </a:highlight>
                <a:sym typeface="Huawei Sans" panose="020C0503030203020204" pitchFamily="34" charset="0"/>
              </a:rPr>
              <a:t>优化目标和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限制（例如时延、亲和性和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SRLG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等）综合计算得到</a:t>
            </a:r>
            <a:r>
              <a:rPr lang="zh-CN" altLang="en-US" sz="1800" dirty="0">
                <a:sym typeface="Huawei Sans" panose="020C0503030203020204" pitchFamily="34" charset="0"/>
              </a:rPr>
              <a:t>。这个计算可由本地或者控制器完成，然后应用到网络中。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10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/>
          <p:cNvSpPr/>
          <p:nvPr/>
        </p:nvSpPr>
        <p:spPr bwMode="gray">
          <a:xfrm>
            <a:off x="3491232" y="2524393"/>
            <a:ext cx="1011815" cy="133274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任意多边形: 形状 80"/>
          <p:cNvSpPr/>
          <p:nvPr/>
        </p:nvSpPr>
        <p:spPr bwMode="gray">
          <a:xfrm>
            <a:off x="4640898" y="2563704"/>
            <a:ext cx="4736584" cy="629936"/>
          </a:xfrm>
          <a:custGeom>
            <a:avLst/>
            <a:gdLst>
              <a:gd name="connsiteX0" fmla="*/ 0 w 4760685"/>
              <a:gd name="connsiteY0" fmla="*/ 188729 h 567020"/>
              <a:gd name="connsiteX1" fmla="*/ 551542 w 4760685"/>
              <a:gd name="connsiteY1" fmla="*/ 551586 h 567020"/>
              <a:gd name="connsiteX2" fmla="*/ 1727200 w 4760685"/>
              <a:gd name="connsiteY2" fmla="*/ 449986 h 567020"/>
              <a:gd name="connsiteX3" fmla="*/ 2322285 w 4760685"/>
              <a:gd name="connsiteY3" fmla="*/ 43 h 567020"/>
              <a:gd name="connsiteX4" fmla="*/ 3280228 w 4760685"/>
              <a:gd name="connsiteY4" fmla="*/ 420957 h 567020"/>
              <a:gd name="connsiteX5" fmla="*/ 4760685 w 4760685"/>
              <a:gd name="connsiteY5" fmla="*/ 130672 h 567020"/>
              <a:gd name="connsiteX0-1" fmla="*/ 0 w 4760685"/>
              <a:gd name="connsiteY0-2" fmla="*/ 188742 h 558265"/>
              <a:gd name="connsiteX1-3" fmla="*/ 551542 w 4760685"/>
              <a:gd name="connsiteY1-4" fmla="*/ 551599 h 558265"/>
              <a:gd name="connsiteX2-5" fmla="*/ 1698172 w 4760685"/>
              <a:gd name="connsiteY2-6" fmla="*/ 391942 h 558265"/>
              <a:gd name="connsiteX3-7" fmla="*/ 2322285 w 4760685"/>
              <a:gd name="connsiteY3-8" fmla="*/ 56 h 558265"/>
              <a:gd name="connsiteX4-9" fmla="*/ 3280228 w 4760685"/>
              <a:gd name="connsiteY4-10" fmla="*/ 420970 h 558265"/>
              <a:gd name="connsiteX5-11" fmla="*/ 4760685 w 4760685"/>
              <a:gd name="connsiteY5-12" fmla="*/ 130685 h 558265"/>
              <a:gd name="connsiteX0-13" fmla="*/ 0 w 4760685"/>
              <a:gd name="connsiteY0-14" fmla="*/ 188752 h 561059"/>
              <a:gd name="connsiteX1-15" fmla="*/ 551542 w 4760685"/>
              <a:gd name="connsiteY1-16" fmla="*/ 551609 h 561059"/>
              <a:gd name="connsiteX2-17" fmla="*/ 1698172 w 4760685"/>
              <a:gd name="connsiteY2-18" fmla="*/ 391952 h 561059"/>
              <a:gd name="connsiteX3-19" fmla="*/ 2322285 w 4760685"/>
              <a:gd name="connsiteY3-20" fmla="*/ 66 h 561059"/>
              <a:gd name="connsiteX4-21" fmla="*/ 3280228 w 4760685"/>
              <a:gd name="connsiteY4-22" fmla="*/ 420980 h 561059"/>
              <a:gd name="connsiteX5-23" fmla="*/ 4760685 w 4760685"/>
              <a:gd name="connsiteY5-24" fmla="*/ 130695 h 561059"/>
              <a:gd name="connsiteX0-25" fmla="*/ 0 w 4760685"/>
              <a:gd name="connsiteY0-26" fmla="*/ 188841 h 559138"/>
              <a:gd name="connsiteX1-27" fmla="*/ 551542 w 4760685"/>
              <a:gd name="connsiteY1-28" fmla="*/ 551698 h 559138"/>
              <a:gd name="connsiteX2-29" fmla="*/ 1555424 w 4760685"/>
              <a:gd name="connsiteY2-30" fmla="*/ 377526 h 559138"/>
              <a:gd name="connsiteX3-31" fmla="*/ 2322285 w 4760685"/>
              <a:gd name="connsiteY3-32" fmla="*/ 155 h 559138"/>
              <a:gd name="connsiteX4-33" fmla="*/ 3280228 w 4760685"/>
              <a:gd name="connsiteY4-34" fmla="*/ 421069 h 559138"/>
              <a:gd name="connsiteX5-35" fmla="*/ 4760685 w 4760685"/>
              <a:gd name="connsiteY5-36" fmla="*/ 130784 h 559138"/>
              <a:gd name="connsiteX0-37" fmla="*/ 0 w 4760685"/>
              <a:gd name="connsiteY0-38" fmla="*/ 188841 h 559138"/>
              <a:gd name="connsiteX1-39" fmla="*/ 551542 w 4760685"/>
              <a:gd name="connsiteY1-40" fmla="*/ 551698 h 559138"/>
              <a:gd name="connsiteX2-41" fmla="*/ 1539563 w 4760685"/>
              <a:gd name="connsiteY2-42" fmla="*/ 377526 h 559138"/>
              <a:gd name="connsiteX3-43" fmla="*/ 2322285 w 4760685"/>
              <a:gd name="connsiteY3-44" fmla="*/ 155 h 559138"/>
              <a:gd name="connsiteX4-45" fmla="*/ 3280228 w 4760685"/>
              <a:gd name="connsiteY4-46" fmla="*/ 421069 h 559138"/>
              <a:gd name="connsiteX5-47" fmla="*/ 4760685 w 4760685"/>
              <a:gd name="connsiteY5-48" fmla="*/ 130784 h 559138"/>
              <a:gd name="connsiteX0-49" fmla="*/ 0 w 4760685"/>
              <a:gd name="connsiteY0-50" fmla="*/ 261367 h 630035"/>
              <a:gd name="connsiteX1-51" fmla="*/ 551542 w 4760685"/>
              <a:gd name="connsiteY1-52" fmla="*/ 624224 h 630035"/>
              <a:gd name="connsiteX2-53" fmla="*/ 1539563 w 4760685"/>
              <a:gd name="connsiteY2-54" fmla="*/ 450052 h 630035"/>
              <a:gd name="connsiteX3-55" fmla="*/ 2322286 w 4760685"/>
              <a:gd name="connsiteY3-56" fmla="*/ 110 h 630035"/>
              <a:gd name="connsiteX4-57" fmla="*/ 3280228 w 4760685"/>
              <a:gd name="connsiteY4-58" fmla="*/ 493595 h 630035"/>
              <a:gd name="connsiteX5-59" fmla="*/ 4760685 w 4760685"/>
              <a:gd name="connsiteY5-60" fmla="*/ 203310 h 630035"/>
              <a:gd name="connsiteX0-61" fmla="*/ 0 w 4760685"/>
              <a:gd name="connsiteY0-62" fmla="*/ 261367 h 630035"/>
              <a:gd name="connsiteX1-63" fmla="*/ 551542 w 4760685"/>
              <a:gd name="connsiteY1-64" fmla="*/ 624224 h 630035"/>
              <a:gd name="connsiteX2-65" fmla="*/ 1333370 w 4760685"/>
              <a:gd name="connsiteY2-66" fmla="*/ 450052 h 630035"/>
              <a:gd name="connsiteX3-67" fmla="*/ 2322286 w 4760685"/>
              <a:gd name="connsiteY3-68" fmla="*/ 110 h 630035"/>
              <a:gd name="connsiteX4-69" fmla="*/ 3280228 w 4760685"/>
              <a:gd name="connsiteY4-70" fmla="*/ 493595 h 630035"/>
              <a:gd name="connsiteX5-71" fmla="*/ 4760685 w 4760685"/>
              <a:gd name="connsiteY5-72" fmla="*/ 203310 h 630035"/>
              <a:gd name="connsiteX0-73" fmla="*/ 0 w 4760685"/>
              <a:gd name="connsiteY0-74" fmla="*/ 261268 h 629936"/>
              <a:gd name="connsiteX1-75" fmla="*/ 551542 w 4760685"/>
              <a:gd name="connsiteY1-76" fmla="*/ 624125 h 629936"/>
              <a:gd name="connsiteX2-77" fmla="*/ 1333370 w 4760685"/>
              <a:gd name="connsiteY2-78" fmla="*/ 449953 h 629936"/>
              <a:gd name="connsiteX3-79" fmla="*/ 2322286 w 4760685"/>
              <a:gd name="connsiteY3-80" fmla="*/ 11 h 629936"/>
              <a:gd name="connsiteX4-81" fmla="*/ 3375394 w 4760685"/>
              <a:gd name="connsiteY4-82" fmla="*/ 435439 h 629936"/>
              <a:gd name="connsiteX5-83" fmla="*/ 4760685 w 4760685"/>
              <a:gd name="connsiteY5-84" fmla="*/ 203211 h 629936"/>
              <a:gd name="connsiteX0-85" fmla="*/ 0 w 4982739"/>
              <a:gd name="connsiteY0-86" fmla="*/ 261268 h 629936"/>
              <a:gd name="connsiteX1-87" fmla="*/ 551542 w 4982739"/>
              <a:gd name="connsiteY1-88" fmla="*/ 624125 h 629936"/>
              <a:gd name="connsiteX2-89" fmla="*/ 1333370 w 4982739"/>
              <a:gd name="connsiteY2-90" fmla="*/ 449953 h 629936"/>
              <a:gd name="connsiteX3-91" fmla="*/ 2322286 w 4982739"/>
              <a:gd name="connsiteY3-92" fmla="*/ 11 h 629936"/>
              <a:gd name="connsiteX4-93" fmla="*/ 3375394 w 4982739"/>
              <a:gd name="connsiteY4-94" fmla="*/ 435439 h 629936"/>
              <a:gd name="connsiteX5-95" fmla="*/ 4982739 w 4982739"/>
              <a:gd name="connsiteY5-96" fmla="*/ 11 h 629936"/>
              <a:gd name="connsiteX0-97" fmla="*/ 0 w 5077905"/>
              <a:gd name="connsiteY0-98" fmla="*/ 261268 h 629936"/>
              <a:gd name="connsiteX1-99" fmla="*/ 551542 w 5077905"/>
              <a:gd name="connsiteY1-100" fmla="*/ 624125 h 629936"/>
              <a:gd name="connsiteX2-101" fmla="*/ 1333370 w 5077905"/>
              <a:gd name="connsiteY2-102" fmla="*/ 449953 h 629936"/>
              <a:gd name="connsiteX3-103" fmla="*/ 2322286 w 5077905"/>
              <a:gd name="connsiteY3-104" fmla="*/ 11 h 629936"/>
              <a:gd name="connsiteX4-105" fmla="*/ 3375394 w 5077905"/>
              <a:gd name="connsiteY4-106" fmla="*/ 435439 h 629936"/>
              <a:gd name="connsiteX5-107" fmla="*/ 5077905 w 5077905"/>
              <a:gd name="connsiteY5-108" fmla="*/ 29039 h 629936"/>
              <a:gd name="connsiteX0-109" fmla="*/ 0 w 5077905"/>
              <a:gd name="connsiteY0-110" fmla="*/ 261268 h 629936"/>
              <a:gd name="connsiteX1-111" fmla="*/ 551542 w 5077905"/>
              <a:gd name="connsiteY1-112" fmla="*/ 624125 h 629936"/>
              <a:gd name="connsiteX2-113" fmla="*/ 1333370 w 5077905"/>
              <a:gd name="connsiteY2-114" fmla="*/ 449953 h 629936"/>
              <a:gd name="connsiteX3-115" fmla="*/ 2322286 w 5077905"/>
              <a:gd name="connsiteY3-116" fmla="*/ 11 h 629936"/>
              <a:gd name="connsiteX4-117" fmla="*/ 3375394 w 5077905"/>
              <a:gd name="connsiteY4-118" fmla="*/ 435439 h 629936"/>
              <a:gd name="connsiteX5-119" fmla="*/ 5077905 w 5077905"/>
              <a:gd name="connsiteY5-120" fmla="*/ 29039 h 629936"/>
              <a:gd name="connsiteX0-121" fmla="*/ 0 w 5077905"/>
              <a:gd name="connsiteY0-122" fmla="*/ 261268 h 629936"/>
              <a:gd name="connsiteX1-123" fmla="*/ 551542 w 5077905"/>
              <a:gd name="connsiteY1-124" fmla="*/ 624125 h 629936"/>
              <a:gd name="connsiteX2-125" fmla="*/ 1333370 w 5077905"/>
              <a:gd name="connsiteY2-126" fmla="*/ 449953 h 629936"/>
              <a:gd name="connsiteX3-127" fmla="*/ 2322286 w 5077905"/>
              <a:gd name="connsiteY3-128" fmla="*/ 11 h 629936"/>
              <a:gd name="connsiteX4-129" fmla="*/ 3534003 w 5077905"/>
              <a:gd name="connsiteY4-130" fmla="*/ 435439 h 629936"/>
              <a:gd name="connsiteX5-131" fmla="*/ 5077905 w 5077905"/>
              <a:gd name="connsiteY5-132" fmla="*/ 29039 h 629936"/>
              <a:gd name="connsiteX0-133" fmla="*/ 0 w 5204794"/>
              <a:gd name="connsiteY0-134" fmla="*/ 261268 h 629936"/>
              <a:gd name="connsiteX1-135" fmla="*/ 551542 w 5204794"/>
              <a:gd name="connsiteY1-136" fmla="*/ 624125 h 629936"/>
              <a:gd name="connsiteX2-137" fmla="*/ 1333370 w 5204794"/>
              <a:gd name="connsiteY2-138" fmla="*/ 449953 h 629936"/>
              <a:gd name="connsiteX3-139" fmla="*/ 2322286 w 5204794"/>
              <a:gd name="connsiteY3-140" fmla="*/ 11 h 629936"/>
              <a:gd name="connsiteX4-141" fmla="*/ 3534003 w 5204794"/>
              <a:gd name="connsiteY4-142" fmla="*/ 435439 h 629936"/>
              <a:gd name="connsiteX5-143" fmla="*/ 5204794 w 5204794"/>
              <a:gd name="connsiteY5-144" fmla="*/ 10 h 6299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204794" h="629936">
                <a:moveTo>
                  <a:pt x="0" y="261268"/>
                </a:moveTo>
                <a:cubicBezTo>
                  <a:pt x="131837" y="420925"/>
                  <a:pt x="329314" y="592678"/>
                  <a:pt x="551542" y="624125"/>
                </a:cubicBezTo>
                <a:cubicBezTo>
                  <a:pt x="773770" y="655573"/>
                  <a:pt x="1038246" y="553972"/>
                  <a:pt x="1333370" y="449953"/>
                </a:cubicBezTo>
                <a:cubicBezTo>
                  <a:pt x="1628494" y="345934"/>
                  <a:pt x="1955514" y="2430"/>
                  <a:pt x="2322286" y="11"/>
                </a:cubicBezTo>
                <a:cubicBezTo>
                  <a:pt x="2689058" y="-2408"/>
                  <a:pt x="3127603" y="413668"/>
                  <a:pt x="3534003" y="435439"/>
                </a:cubicBezTo>
                <a:cubicBezTo>
                  <a:pt x="3940403" y="457210"/>
                  <a:pt x="4667765" y="214095"/>
                  <a:pt x="5204794" y="10"/>
                </a:cubicBezTo>
              </a:path>
            </a:pathLst>
          </a:custGeom>
          <a:noFill/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 Policy</a:t>
            </a:r>
            <a:r>
              <a:rPr lang="zh-CN" altLang="en-US" dirty="0">
                <a:sym typeface="Huawei Sans" panose="020C0503030203020204" pitchFamily="34" charset="0"/>
              </a:rPr>
              <a:t>示例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 bwMode="gray">
          <a:xfrm flipH="1">
            <a:off x="2360443" y="1851608"/>
            <a:ext cx="75808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 bwMode="gray">
          <a:xfrm>
            <a:off x="3795803" y="2079591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6373189" y="2079591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8950575" y="2079591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 bwMode="gray">
          <a:xfrm>
            <a:off x="1513183" y="1442553"/>
            <a:ext cx="1304009" cy="871898"/>
            <a:chOff x="4027703" y="3656700"/>
            <a:chExt cx="1304009" cy="871898"/>
          </a:xfrm>
        </p:grpSpPr>
        <p:grpSp>
          <p:nvGrpSpPr>
            <p:cNvPr id="22" name="组合 21"/>
            <p:cNvGrpSpPr/>
            <p:nvPr/>
          </p:nvGrpSpPr>
          <p:grpSpPr bwMode="gray">
            <a:xfrm>
              <a:off x="4027703" y="3656700"/>
              <a:ext cx="1304009" cy="871898"/>
              <a:chOff x="10125075" y="5439766"/>
              <a:chExt cx="1304009" cy="871898"/>
            </a:xfrm>
          </p:grpSpPr>
          <p:sp>
            <p:nvSpPr>
              <p:cNvPr id="29" name="矩形 28"/>
              <p:cNvSpPr/>
              <p:nvPr/>
            </p:nvSpPr>
            <p:spPr bwMode="gray">
              <a:xfrm>
                <a:off x="10472174" y="5924694"/>
                <a:ext cx="647760" cy="386970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 bwMode="gray">
              <a:xfrm>
                <a:off x="10379358" y="5439766"/>
                <a:ext cx="604768" cy="6047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 bwMode="gray">
              <a:xfrm>
                <a:off x="10125075" y="5625254"/>
                <a:ext cx="703036" cy="68641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 bwMode="gray">
              <a:xfrm>
                <a:off x="10792751" y="5675331"/>
                <a:ext cx="636333" cy="63633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 bwMode="gray">
              <a:xfrm>
                <a:off x="10723031" y="5515085"/>
                <a:ext cx="463257" cy="46325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 bwMode="gray">
            <a:xfrm>
              <a:off x="4079776" y="3717032"/>
              <a:ext cx="1199862" cy="767350"/>
              <a:chOff x="10181272" y="5503352"/>
              <a:chExt cx="1199862" cy="767350"/>
            </a:xfrm>
          </p:grpSpPr>
          <p:sp>
            <p:nvSpPr>
              <p:cNvPr id="24" name="椭圆 23"/>
              <p:cNvSpPr/>
              <p:nvPr/>
            </p:nvSpPr>
            <p:spPr bwMode="gray">
              <a:xfrm>
                <a:off x="10463850" y="5503352"/>
                <a:ext cx="512609" cy="5126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 bwMode="gray">
              <a:xfrm>
                <a:off x="10181272" y="5697686"/>
                <a:ext cx="573015" cy="5730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 bwMode="gray">
              <a:xfrm>
                <a:off x="10798583" y="5688150"/>
                <a:ext cx="582551" cy="5825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 bwMode="gray">
              <a:xfrm>
                <a:off x="10792392" y="5578078"/>
                <a:ext cx="345057" cy="3450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 bwMode="gray">
              <a:xfrm>
                <a:off x="10454799" y="5883732"/>
                <a:ext cx="647760" cy="3869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34" name="矩形 33"/>
          <p:cNvSpPr/>
          <p:nvPr/>
        </p:nvSpPr>
        <p:spPr bwMode="gray">
          <a:xfrm>
            <a:off x="1577706" y="1682805"/>
            <a:ext cx="114807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814705">
              <a:buClr>
                <a:schemeClr val="accent1"/>
              </a:buClr>
              <a:buSzPct val="100000"/>
            </a:pPr>
            <a:r>
              <a:rPr lang="en-US" altLang="zh-CN" sz="15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10.1.1.0/24</a:t>
            </a:r>
            <a:endParaRPr lang="en-US" altLang="zh-CN" sz="15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35" name="组合 34"/>
          <p:cNvGrpSpPr/>
          <p:nvPr/>
        </p:nvGrpSpPr>
        <p:grpSpPr bwMode="gray">
          <a:xfrm>
            <a:off x="9706531" y="1442553"/>
            <a:ext cx="1304009" cy="871898"/>
            <a:chOff x="4027703" y="3656700"/>
            <a:chExt cx="1304009" cy="871898"/>
          </a:xfrm>
        </p:grpSpPr>
        <p:grpSp>
          <p:nvGrpSpPr>
            <p:cNvPr id="36" name="组合 35"/>
            <p:cNvGrpSpPr/>
            <p:nvPr/>
          </p:nvGrpSpPr>
          <p:grpSpPr bwMode="gray">
            <a:xfrm>
              <a:off x="4027703" y="3656700"/>
              <a:ext cx="1304009" cy="871898"/>
              <a:chOff x="10125075" y="5439766"/>
              <a:chExt cx="1304009" cy="871898"/>
            </a:xfrm>
          </p:grpSpPr>
          <p:sp>
            <p:nvSpPr>
              <p:cNvPr id="43" name="矩形 42"/>
              <p:cNvSpPr/>
              <p:nvPr/>
            </p:nvSpPr>
            <p:spPr bwMode="gray">
              <a:xfrm>
                <a:off x="10472174" y="5924694"/>
                <a:ext cx="647760" cy="386970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 bwMode="gray">
              <a:xfrm>
                <a:off x="10379358" y="5439766"/>
                <a:ext cx="604768" cy="6047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 bwMode="gray">
              <a:xfrm>
                <a:off x="10125075" y="5625254"/>
                <a:ext cx="703036" cy="68641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 bwMode="gray">
              <a:xfrm>
                <a:off x="10792751" y="5675331"/>
                <a:ext cx="636333" cy="63633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 bwMode="gray">
              <a:xfrm>
                <a:off x="10723031" y="5515085"/>
                <a:ext cx="463257" cy="46325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 bwMode="gray">
            <a:xfrm>
              <a:off x="4079776" y="3717032"/>
              <a:ext cx="1199862" cy="767350"/>
              <a:chOff x="10181272" y="5503352"/>
              <a:chExt cx="1199862" cy="767350"/>
            </a:xfrm>
          </p:grpSpPr>
          <p:sp>
            <p:nvSpPr>
              <p:cNvPr id="38" name="椭圆 37"/>
              <p:cNvSpPr/>
              <p:nvPr/>
            </p:nvSpPr>
            <p:spPr bwMode="gray">
              <a:xfrm>
                <a:off x="10463850" y="5503352"/>
                <a:ext cx="512609" cy="5126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 bwMode="gray">
              <a:xfrm>
                <a:off x="10181272" y="5697686"/>
                <a:ext cx="573015" cy="5730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 bwMode="gray">
              <a:xfrm>
                <a:off x="10798583" y="5688150"/>
                <a:ext cx="582551" cy="5825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 bwMode="gray">
              <a:xfrm>
                <a:off x="10792392" y="5578078"/>
                <a:ext cx="345057" cy="3450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2" name="矩形 41"/>
              <p:cNvSpPr/>
              <p:nvPr/>
            </p:nvSpPr>
            <p:spPr bwMode="gray">
              <a:xfrm>
                <a:off x="10454799" y="5883732"/>
                <a:ext cx="647760" cy="3869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48" name="矩形 47"/>
          <p:cNvSpPr/>
          <p:nvPr/>
        </p:nvSpPr>
        <p:spPr bwMode="gray">
          <a:xfrm>
            <a:off x="9771054" y="1682805"/>
            <a:ext cx="114807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814705">
              <a:buClr>
                <a:schemeClr val="accent1"/>
              </a:buClr>
              <a:buSzPct val="100000"/>
            </a:pPr>
            <a:r>
              <a:rPr lang="en-US" altLang="zh-CN" sz="15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10.2.2.0/24</a:t>
            </a:r>
            <a:endParaRPr lang="en-US" altLang="zh-CN" sz="15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49" name="圆角矩形 59"/>
          <p:cNvSpPr/>
          <p:nvPr/>
        </p:nvSpPr>
        <p:spPr bwMode="gray">
          <a:xfrm>
            <a:off x="3708607" y="1383008"/>
            <a:ext cx="588288" cy="238245"/>
          </a:xfrm>
          <a:prstGeom prst="roundRect">
            <a:avLst>
              <a:gd name="adj" fmla="val 13019"/>
            </a:avLst>
          </a:prstGeom>
          <a:solidFill>
            <a:srgbClr val="FF006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圆角矩形 61"/>
          <p:cNvSpPr/>
          <p:nvPr/>
        </p:nvSpPr>
        <p:spPr bwMode="gray">
          <a:xfrm>
            <a:off x="6279687" y="1383008"/>
            <a:ext cx="588288" cy="238245"/>
          </a:xfrm>
          <a:prstGeom prst="roundRect">
            <a:avLst>
              <a:gd name="adj" fmla="val 13019"/>
            </a:avLst>
          </a:prstGeom>
          <a:solidFill>
            <a:srgbClr val="FF006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圆角矩形 62"/>
          <p:cNvSpPr/>
          <p:nvPr/>
        </p:nvSpPr>
        <p:spPr bwMode="gray">
          <a:xfrm>
            <a:off x="8844101" y="1383008"/>
            <a:ext cx="588288" cy="238245"/>
          </a:xfrm>
          <a:prstGeom prst="roundRect">
            <a:avLst>
              <a:gd name="adj" fmla="val 13019"/>
            </a:avLst>
          </a:prstGeom>
          <a:solidFill>
            <a:srgbClr val="FF006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矩形 51"/>
          <p:cNvSpPr/>
          <p:nvPr/>
        </p:nvSpPr>
        <p:spPr bwMode="gray">
          <a:xfrm>
            <a:off x="1558179" y="4023669"/>
            <a:ext cx="8851387" cy="1015663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可以由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SR Policy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等多种方式生成。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包含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List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，完整的指导流量引入和转发。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7" name="直接箭头连接符 56"/>
          <p:cNvCxnSpPr/>
          <p:nvPr/>
        </p:nvCxnSpPr>
        <p:spPr bwMode="gray">
          <a:xfrm>
            <a:off x="4396115" y="1981130"/>
            <a:ext cx="99169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圆角矩形 69"/>
          <p:cNvSpPr/>
          <p:nvPr/>
        </p:nvSpPr>
        <p:spPr bwMode="gray">
          <a:xfrm>
            <a:off x="4470400" y="2086610"/>
            <a:ext cx="929005" cy="238125"/>
          </a:xfrm>
          <a:prstGeom prst="roundRect">
            <a:avLst>
              <a:gd name="adj" fmla="val 13019"/>
            </a:avLst>
          </a:prstGeom>
          <a:solidFill>
            <a:srgbClr val="92D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1012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9" name="直接箭头连接符 58"/>
          <p:cNvCxnSpPr/>
          <p:nvPr/>
        </p:nvCxnSpPr>
        <p:spPr bwMode="gray">
          <a:xfrm>
            <a:off x="6936649" y="1993343"/>
            <a:ext cx="1083648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圆角矩形 71"/>
          <p:cNvSpPr/>
          <p:nvPr/>
        </p:nvSpPr>
        <p:spPr bwMode="gray">
          <a:xfrm>
            <a:off x="6968490" y="2099310"/>
            <a:ext cx="824865" cy="238125"/>
          </a:xfrm>
          <a:prstGeom prst="roundRect">
            <a:avLst>
              <a:gd name="adj" fmla="val 13019"/>
            </a:avLst>
          </a:prstGeom>
          <a:solidFill>
            <a:srgbClr val="92D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1002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圆角矩形 74"/>
          <p:cNvSpPr/>
          <p:nvPr/>
        </p:nvSpPr>
        <p:spPr bwMode="gray">
          <a:xfrm>
            <a:off x="1772856" y="1974949"/>
            <a:ext cx="783012" cy="238245"/>
          </a:xfrm>
          <a:prstGeom prst="roundRect">
            <a:avLst>
              <a:gd name="adj" fmla="val 13019"/>
            </a:avLst>
          </a:prstGeom>
          <a:solidFill>
            <a:srgbClr val="FF993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16001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圆角矩形 77"/>
          <p:cNvSpPr/>
          <p:nvPr/>
        </p:nvSpPr>
        <p:spPr bwMode="gray">
          <a:xfrm>
            <a:off x="9956770" y="1974949"/>
            <a:ext cx="783012" cy="238245"/>
          </a:xfrm>
          <a:prstGeom prst="roundRect">
            <a:avLst>
              <a:gd name="adj" fmla="val 13019"/>
            </a:avLst>
          </a:prstGeom>
          <a:solidFill>
            <a:srgbClr val="FF993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16002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5" name="图片 6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733973" y="1640707"/>
            <a:ext cx="540000" cy="442800"/>
          </a:xfrm>
          <a:prstGeom prst="rect">
            <a:avLst/>
          </a:prstGeom>
        </p:spPr>
      </p:pic>
      <p:pic>
        <p:nvPicPr>
          <p:cNvPr id="66" name="图片 6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01948" y="1640707"/>
            <a:ext cx="540000" cy="442800"/>
          </a:xfrm>
          <a:prstGeom prst="rect">
            <a:avLst/>
          </a:prstGeom>
        </p:spPr>
      </p:pic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892837" y="1640707"/>
            <a:ext cx="540000" cy="442800"/>
          </a:xfrm>
          <a:prstGeom prst="rect">
            <a:avLst/>
          </a:prstGeom>
        </p:spPr>
      </p:pic>
      <p:sp>
        <p:nvSpPr>
          <p:cNvPr id="71" name="矩形 70"/>
          <p:cNvSpPr/>
          <p:nvPr/>
        </p:nvSpPr>
        <p:spPr bwMode="gray">
          <a:xfrm>
            <a:off x="3607005" y="2625602"/>
            <a:ext cx="772341" cy="215444"/>
          </a:xfrm>
          <a:prstGeom prst="rect">
            <a:avLst/>
          </a:prstGeom>
          <a:solidFill>
            <a:srgbClr val="FF0066"/>
          </a:solidFill>
          <a:ln w="19050">
            <a:solidFill>
              <a:srgbClr val="FF0000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3607005" y="2842889"/>
            <a:ext cx="772341" cy="215444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1012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矩形 75"/>
          <p:cNvSpPr/>
          <p:nvPr/>
        </p:nvSpPr>
        <p:spPr bwMode="gray">
          <a:xfrm>
            <a:off x="3607005" y="3060176"/>
            <a:ext cx="772341" cy="215444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1002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圆角矩形 77"/>
          <p:cNvSpPr/>
          <p:nvPr/>
        </p:nvSpPr>
        <p:spPr bwMode="gray">
          <a:xfrm>
            <a:off x="3596134" y="3277463"/>
            <a:ext cx="783012" cy="238245"/>
          </a:xfrm>
          <a:prstGeom prst="roundRect">
            <a:avLst>
              <a:gd name="adj" fmla="val 13019"/>
            </a:avLst>
          </a:prstGeom>
          <a:solidFill>
            <a:srgbClr val="FF993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16002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 bwMode="gray">
          <a:xfrm>
            <a:off x="3533628" y="3539204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endParaRPr lang="zh-CN" altLang="en-US" sz="1400" b="1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任意多边形 80"/>
          <p:cNvSpPr/>
          <p:nvPr/>
        </p:nvSpPr>
        <p:spPr bwMode="gray">
          <a:xfrm rot="20149142" flipV="1">
            <a:off x="2533686" y="2213121"/>
            <a:ext cx="636331" cy="753758"/>
          </a:xfrm>
          <a:custGeom>
            <a:avLst/>
            <a:gdLst>
              <a:gd name="connsiteX0" fmla="*/ 0 w 593766"/>
              <a:gd name="connsiteY0" fmla="*/ 1151907 h 1401289"/>
              <a:gd name="connsiteX1" fmla="*/ 356260 w 593766"/>
              <a:gd name="connsiteY1" fmla="*/ 213756 h 1401289"/>
              <a:gd name="connsiteX2" fmla="*/ 225631 w 593766"/>
              <a:gd name="connsiteY2" fmla="*/ 213756 h 1401289"/>
              <a:gd name="connsiteX3" fmla="*/ 522515 w 593766"/>
              <a:gd name="connsiteY3" fmla="*/ 0 h 1401289"/>
              <a:gd name="connsiteX4" fmla="*/ 593766 w 593766"/>
              <a:gd name="connsiteY4" fmla="*/ 320634 h 1401289"/>
              <a:gd name="connsiteX5" fmla="*/ 486889 w 593766"/>
              <a:gd name="connsiteY5" fmla="*/ 249382 h 1401289"/>
              <a:gd name="connsiteX6" fmla="*/ 273133 w 593766"/>
              <a:gd name="connsiteY6" fmla="*/ 1401289 h 1401289"/>
              <a:gd name="connsiteX0-1" fmla="*/ 0 w 638737"/>
              <a:gd name="connsiteY0-2" fmla="*/ 1256838 h 1401289"/>
              <a:gd name="connsiteX1-3" fmla="*/ 401231 w 638737"/>
              <a:gd name="connsiteY1-4" fmla="*/ 213756 h 1401289"/>
              <a:gd name="connsiteX2-5" fmla="*/ 270602 w 638737"/>
              <a:gd name="connsiteY2-6" fmla="*/ 213756 h 1401289"/>
              <a:gd name="connsiteX3-7" fmla="*/ 567486 w 638737"/>
              <a:gd name="connsiteY3-8" fmla="*/ 0 h 1401289"/>
              <a:gd name="connsiteX4-9" fmla="*/ 638737 w 638737"/>
              <a:gd name="connsiteY4-10" fmla="*/ 320634 h 1401289"/>
              <a:gd name="connsiteX5-11" fmla="*/ 531860 w 638737"/>
              <a:gd name="connsiteY5-12" fmla="*/ 249382 h 1401289"/>
              <a:gd name="connsiteX6-13" fmla="*/ 318104 w 638737"/>
              <a:gd name="connsiteY6-14" fmla="*/ 1401289 h 1401289"/>
              <a:gd name="connsiteX0-15" fmla="*/ 0 w 803629"/>
              <a:gd name="connsiteY0-16" fmla="*/ 1736523 h 1736523"/>
              <a:gd name="connsiteX1-17" fmla="*/ 566123 w 803629"/>
              <a:gd name="connsiteY1-18" fmla="*/ 213756 h 1736523"/>
              <a:gd name="connsiteX2-19" fmla="*/ 435494 w 803629"/>
              <a:gd name="connsiteY2-20" fmla="*/ 213756 h 1736523"/>
              <a:gd name="connsiteX3-21" fmla="*/ 732378 w 803629"/>
              <a:gd name="connsiteY3-22" fmla="*/ 0 h 1736523"/>
              <a:gd name="connsiteX4-23" fmla="*/ 803629 w 803629"/>
              <a:gd name="connsiteY4-24" fmla="*/ 320634 h 1736523"/>
              <a:gd name="connsiteX5-25" fmla="*/ 696752 w 803629"/>
              <a:gd name="connsiteY5-26" fmla="*/ 249382 h 1736523"/>
              <a:gd name="connsiteX6-27" fmla="*/ 482996 w 803629"/>
              <a:gd name="connsiteY6-28" fmla="*/ 1401289 h 1736523"/>
              <a:gd name="connsiteX0-29" fmla="*/ 0 w 803629"/>
              <a:gd name="connsiteY0-30" fmla="*/ 1736523 h 1736523"/>
              <a:gd name="connsiteX1-31" fmla="*/ 566123 w 803629"/>
              <a:gd name="connsiteY1-32" fmla="*/ 213756 h 1736523"/>
              <a:gd name="connsiteX2-33" fmla="*/ 435494 w 803629"/>
              <a:gd name="connsiteY2-34" fmla="*/ 213756 h 1736523"/>
              <a:gd name="connsiteX3-35" fmla="*/ 732378 w 803629"/>
              <a:gd name="connsiteY3-36" fmla="*/ 0 h 1736523"/>
              <a:gd name="connsiteX4-37" fmla="*/ 803629 w 803629"/>
              <a:gd name="connsiteY4-38" fmla="*/ 320634 h 1736523"/>
              <a:gd name="connsiteX5-39" fmla="*/ 696752 w 803629"/>
              <a:gd name="connsiteY5-40" fmla="*/ 249382 h 1736523"/>
              <a:gd name="connsiteX6-41" fmla="*/ 482996 w 803629"/>
              <a:gd name="connsiteY6-42" fmla="*/ 1401289 h 1736523"/>
              <a:gd name="connsiteX0-43" fmla="*/ 0 w 803629"/>
              <a:gd name="connsiteY0-44" fmla="*/ 1736523 h 1736523"/>
              <a:gd name="connsiteX1-45" fmla="*/ 566123 w 803629"/>
              <a:gd name="connsiteY1-46" fmla="*/ 213756 h 1736523"/>
              <a:gd name="connsiteX2-47" fmla="*/ 435494 w 803629"/>
              <a:gd name="connsiteY2-48" fmla="*/ 213756 h 1736523"/>
              <a:gd name="connsiteX3-49" fmla="*/ 732378 w 803629"/>
              <a:gd name="connsiteY3-50" fmla="*/ 0 h 1736523"/>
              <a:gd name="connsiteX4-51" fmla="*/ 803629 w 803629"/>
              <a:gd name="connsiteY4-52" fmla="*/ 320634 h 1736523"/>
              <a:gd name="connsiteX5-53" fmla="*/ 696752 w 803629"/>
              <a:gd name="connsiteY5-54" fmla="*/ 249382 h 1736523"/>
              <a:gd name="connsiteX6-55" fmla="*/ 482996 w 803629"/>
              <a:gd name="connsiteY6-56" fmla="*/ 1401289 h 1736523"/>
              <a:gd name="connsiteX0-57" fmla="*/ 0 w 803629"/>
              <a:gd name="connsiteY0-58" fmla="*/ 1736523 h 1736523"/>
              <a:gd name="connsiteX1-59" fmla="*/ 566123 w 803629"/>
              <a:gd name="connsiteY1-60" fmla="*/ 213756 h 1736523"/>
              <a:gd name="connsiteX2-61" fmla="*/ 435494 w 803629"/>
              <a:gd name="connsiteY2-62" fmla="*/ 213756 h 1736523"/>
              <a:gd name="connsiteX3-63" fmla="*/ 732378 w 803629"/>
              <a:gd name="connsiteY3-64" fmla="*/ 0 h 1736523"/>
              <a:gd name="connsiteX4-65" fmla="*/ 803629 w 803629"/>
              <a:gd name="connsiteY4-66" fmla="*/ 320634 h 1736523"/>
              <a:gd name="connsiteX5-67" fmla="*/ 696752 w 803629"/>
              <a:gd name="connsiteY5-68" fmla="*/ 249382 h 1736523"/>
              <a:gd name="connsiteX6-69" fmla="*/ 602917 w 803629"/>
              <a:gd name="connsiteY6-70" fmla="*/ 1401289 h 1736523"/>
              <a:gd name="connsiteX0-71" fmla="*/ 0 w 683708"/>
              <a:gd name="connsiteY0-72" fmla="*/ 1736523 h 1736523"/>
              <a:gd name="connsiteX1-73" fmla="*/ 446202 w 683708"/>
              <a:gd name="connsiteY1-74" fmla="*/ 213756 h 1736523"/>
              <a:gd name="connsiteX2-75" fmla="*/ 315573 w 683708"/>
              <a:gd name="connsiteY2-76" fmla="*/ 213756 h 1736523"/>
              <a:gd name="connsiteX3-77" fmla="*/ 612457 w 683708"/>
              <a:gd name="connsiteY3-78" fmla="*/ 0 h 1736523"/>
              <a:gd name="connsiteX4-79" fmla="*/ 683708 w 683708"/>
              <a:gd name="connsiteY4-80" fmla="*/ 320634 h 1736523"/>
              <a:gd name="connsiteX5-81" fmla="*/ 576831 w 683708"/>
              <a:gd name="connsiteY5-82" fmla="*/ 249382 h 1736523"/>
              <a:gd name="connsiteX6-83" fmla="*/ 482996 w 683708"/>
              <a:gd name="connsiteY6-84" fmla="*/ 1401289 h 1736523"/>
              <a:gd name="connsiteX0-85" fmla="*/ 0 w 683708"/>
              <a:gd name="connsiteY0-86" fmla="*/ 1736523 h 1736523"/>
              <a:gd name="connsiteX1-87" fmla="*/ 446202 w 683708"/>
              <a:gd name="connsiteY1-88" fmla="*/ 213756 h 1736523"/>
              <a:gd name="connsiteX2-89" fmla="*/ 315573 w 683708"/>
              <a:gd name="connsiteY2-90" fmla="*/ 213756 h 1736523"/>
              <a:gd name="connsiteX3-91" fmla="*/ 612457 w 683708"/>
              <a:gd name="connsiteY3-92" fmla="*/ 0 h 1736523"/>
              <a:gd name="connsiteX4-93" fmla="*/ 683708 w 683708"/>
              <a:gd name="connsiteY4-94" fmla="*/ 320634 h 1736523"/>
              <a:gd name="connsiteX5-95" fmla="*/ 576831 w 683708"/>
              <a:gd name="connsiteY5-96" fmla="*/ 249382 h 1736523"/>
              <a:gd name="connsiteX6-97" fmla="*/ 482996 w 683708"/>
              <a:gd name="connsiteY6-98" fmla="*/ 1401289 h 1736523"/>
              <a:gd name="connsiteX0-99" fmla="*/ 0 w 683708"/>
              <a:gd name="connsiteY0-100" fmla="*/ 1736523 h 1736523"/>
              <a:gd name="connsiteX1-101" fmla="*/ 446202 w 683708"/>
              <a:gd name="connsiteY1-102" fmla="*/ 213756 h 1736523"/>
              <a:gd name="connsiteX2-103" fmla="*/ 315573 w 683708"/>
              <a:gd name="connsiteY2-104" fmla="*/ 213756 h 1736523"/>
              <a:gd name="connsiteX3-105" fmla="*/ 612457 w 683708"/>
              <a:gd name="connsiteY3-106" fmla="*/ 0 h 1736523"/>
              <a:gd name="connsiteX4-107" fmla="*/ 683708 w 683708"/>
              <a:gd name="connsiteY4-108" fmla="*/ 320634 h 1736523"/>
              <a:gd name="connsiteX5-109" fmla="*/ 576831 w 683708"/>
              <a:gd name="connsiteY5-110" fmla="*/ 249382 h 1736523"/>
              <a:gd name="connsiteX6-111" fmla="*/ 482996 w 683708"/>
              <a:gd name="connsiteY6-112" fmla="*/ 1401289 h 1736523"/>
              <a:gd name="connsiteX0-113" fmla="*/ 0 w 683708"/>
              <a:gd name="connsiteY0-114" fmla="*/ 1736523 h 1736523"/>
              <a:gd name="connsiteX1-115" fmla="*/ 446202 w 683708"/>
              <a:gd name="connsiteY1-116" fmla="*/ 213756 h 1736523"/>
              <a:gd name="connsiteX2-117" fmla="*/ 315573 w 683708"/>
              <a:gd name="connsiteY2-118" fmla="*/ 213756 h 1736523"/>
              <a:gd name="connsiteX3-119" fmla="*/ 612457 w 683708"/>
              <a:gd name="connsiteY3-120" fmla="*/ 0 h 1736523"/>
              <a:gd name="connsiteX4-121" fmla="*/ 683708 w 683708"/>
              <a:gd name="connsiteY4-122" fmla="*/ 320634 h 1736523"/>
              <a:gd name="connsiteX5-123" fmla="*/ 576831 w 683708"/>
              <a:gd name="connsiteY5-124" fmla="*/ 249382 h 1736523"/>
              <a:gd name="connsiteX6-125" fmla="*/ 482996 w 683708"/>
              <a:gd name="connsiteY6-126" fmla="*/ 1401289 h 1736523"/>
              <a:gd name="connsiteX0-127" fmla="*/ 0 w 683708"/>
              <a:gd name="connsiteY0-128" fmla="*/ 1736523 h 1736523"/>
              <a:gd name="connsiteX1-129" fmla="*/ 446202 w 683708"/>
              <a:gd name="connsiteY1-130" fmla="*/ 213756 h 1736523"/>
              <a:gd name="connsiteX2-131" fmla="*/ 315573 w 683708"/>
              <a:gd name="connsiteY2-132" fmla="*/ 213756 h 1736523"/>
              <a:gd name="connsiteX3-133" fmla="*/ 612457 w 683708"/>
              <a:gd name="connsiteY3-134" fmla="*/ 0 h 1736523"/>
              <a:gd name="connsiteX4-135" fmla="*/ 683708 w 683708"/>
              <a:gd name="connsiteY4-136" fmla="*/ 320634 h 1736523"/>
              <a:gd name="connsiteX5-137" fmla="*/ 576831 w 683708"/>
              <a:gd name="connsiteY5-138" fmla="*/ 249382 h 1736523"/>
              <a:gd name="connsiteX6-139" fmla="*/ 482996 w 683708"/>
              <a:gd name="connsiteY6-140" fmla="*/ 1401289 h 1736523"/>
              <a:gd name="connsiteX0-141" fmla="*/ 0 w 683708"/>
              <a:gd name="connsiteY0-142" fmla="*/ 1736523 h 1736523"/>
              <a:gd name="connsiteX1-143" fmla="*/ 446202 w 683708"/>
              <a:gd name="connsiteY1-144" fmla="*/ 213756 h 1736523"/>
              <a:gd name="connsiteX2-145" fmla="*/ 315573 w 683708"/>
              <a:gd name="connsiteY2-146" fmla="*/ 213756 h 1736523"/>
              <a:gd name="connsiteX3-147" fmla="*/ 612457 w 683708"/>
              <a:gd name="connsiteY3-148" fmla="*/ 0 h 1736523"/>
              <a:gd name="connsiteX4-149" fmla="*/ 683708 w 683708"/>
              <a:gd name="connsiteY4-150" fmla="*/ 320634 h 1736523"/>
              <a:gd name="connsiteX5-151" fmla="*/ 576831 w 683708"/>
              <a:gd name="connsiteY5-152" fmla="*/ 249382 h 1736523"/>
              <a:gd name="connsiteX6-153" fmla="*/ 482996 w 683708"/>
              <a:gd name="connsiteY6-154" fmla="*/ 1401289 h 1736523"/>
              <a:gd name="connsiteX0-155" fmla="*/ 0 w 683708"/>
              <a:gd name="connsiteY0-156" fmla="*/ 1736523 h 1736523"/>
              <a:gd name="connsiteX1-157" fmla="*/ 446202 w 683708"/>
              <a:gd name="connsiteY1-158" fmla="*/ 213756 h 1736523"/>
              <a:gd name="connsiteX2-159" fmla="*/ 315573 w 683708"/>
              <a:gd name="connsiteY2-160" fmla="*/ 213756 h 1736523"/>
              <a:gd name="connsiteX3-161" fmla="*/ 612457 w 683708"/>
              <a:gd name="connsiteY3-162" fmla="*/ 0 h 1736523"/>
              <a:gd name="connsiteX4-163" fmla="*/ 683708 w 683708"/>
              <a:gd name="connsiteY4-164" fmla="*/ 320634 h 1736523"/>
              <a:gd name="connsiteX5-165" fmla="*/ 576831 w 683708"/>
              <a:gd name="connsiteY5-166" fmla="*/ 249382 h 1736523"/>
              <a:gd name="connsiteX6-167" fmla="*/ 490140 w 683708"/>
              <a:gd name="connsiteY6-168" fmla="*/ 1420339 h 1736523"/>
              <a:gd name="connsiteX0-169" fmla="*/ 0 w 683708"/>
              <a:gd name="connsiteY0-170" fmla="*/ 1736523 h 1736523"/>
              <a:gd name="connsiteX1-171" fmla="*/ 446202 w 683708"/>
              <a:gd name="connsiteY1-172" fmla="*/ 213756 h 1736523"/>
              <a:gd name="connsiteX2-173" fmla="*/ 315573 w 683708"/>
              <a:gd name="connsiteY2-174" fmla="*/ 213756 h 1736523"/>
              <a:gd name="connsiteX3-175" fmla="*/ 612457 w 683708"/>
              <a:gd name="connsiteY3-176" fmla="*/ 0 h 1736523"/>
              <a:gd name="connsiteX4-177" fmla="*/ 683708 w 683708"/>
              <a:gd name="connsiteY4-178" fmla="*/ 320634 h 1736523"/>
              <a:gd name="connsiteX5-179" fmla="*/ 576831 w 683708"/>
              <a:gd name="connsiteY5-180" fmla="*/ 249382 h 1736523"/>
              <a:gd name="connsiteX6-181" fmla="*/ 490140 w 683708"/>
              <a:gd name="connsiteY6-182" fmla="*/ 1420339 h 1736523"/>
              <a:gd name="connsiteX0-183" fmla="*/ 0 w 683708"/>
              <a:gd name="connsiteY0-184" fmla="*/ 1726998 h 1726998"/>
              <a:gd name="connsiteX1-185" fmla="*/ 446202 w 683708"/>
              <a:gd name="connsiteY1-186" fmla="*/ 204231 h 1726998"/>
              <a:gd name="connsiteX2-187" fmla="*/ 315573 w 683708"/>
              <a:gd name="connsiteY2-188" fmla="*/ 204231 h 1726998"/>
              <a:gd name="connsiteX3-189" fmla="*/ 602932 w 683708"/>
              <a:gd name="connsiteY3-190" fmla="*/ 0 h 1726998"/>
              <a:gd name="connsiteX4-191" fmla="*/ 683708 w 683708"/>
              <a:gd name="connsiteY4-192" fmla="*/ 311109 h 1726998"/>
              <a:gd name="connsiteX5-193" fmla="*/ 576831 w 683708"/>
              <a:gd name="connsiteY5-194" fmla="*/ 239857 h 1726998"/>
              <a:gd name="connsiteX6-195" fmla="*/ 490140 w 683708"/>
              <a:gd name="connsiteY6-196" fmla="*/ 1410814 h 17269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683708" h="1726998">
                <a:moveTo>
                  <a:pt x="0" y="1726998"/>
                </a:moveTo>
                <a:cubicBezTo>
                  <a:pt x="68786" y="724734"/>
                  <a:pt x="252732" y="483220"/>
                  <a:pt x="446202" y="204231"/>
                </a:cubicBezTo>
                <a:lnTo>
                  <a:pt x="315573" y="204231"/>
                </a:lnTo>
                <a:lnTo>
                  <a:pt x="602932" y="0"/>
                </a:lnTo>
                <a:lnTo>
                  <a:pt x="683708" y="311109"/>
                </a:lnTo>
                <a:lnTo>
                  <a:pt x="576831" y="239857"/>
                </a:lnTo>
                <a:cubicBezTo>
                  <a:pt x="398423" y="673832"/>
                  <a:pt x="369487" y="897399"/>
                  <a:pt x="490140" y="1410814"/>
                </a:cubicBezTo>
              </a:path>
            </a:pathLst>
          </a:custGeom>
          <a:gradFill flip="none" rotWithShape="1">
            <a:gsLst>
              <a:gs pos="14000">
                <a:schemeClr val="bg1">
                  <a:alpha val="0"/>
                </a:schemeClr>
              </a:gs>
              <a:gs pos="64000">
                <a:srgbClr val="00B0F0"/>
              </a:gs>
            </a:gsLst>
            <a:lin ang="16200000" scaled="1"/>
            <a:tileRect/>
          </a:gradFill>
          <a:ln w="12700">
            <a:gradFill flip="none" rotWithShape="1">
              <a:gsLst>
                <a:gs pos="11000">
                  <a:schemeClr val="bg1">
                    <a:alpha val="0"/>
                  </a:schemeClr>
                </a:gs>
                <a:gs pos="81000">
                  <a:schemeClr val="bg1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Oval 4"/>
          <p:cNvSpPr>
            <a:spLocks noChangeAspect="1"/>
          </p:cNvSpPr>
          <p:nvPr/>
        </p:nvSpPr>
        <p:spPr bwMode="gray">
          <a:xfrm>
            <a:off x="1868258" y="3228526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 bwMode="gray">
          <a:xfrm>
            <a:off x="2116014" y="3194315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引入流量</a:t>
            </a:r>
            <a:endParaRPr lang="zh-CN" altLang="en-US" sz="1600" b="1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Oval 4"/>
          <p:cNvSpPr>
            <a:spLocks noChangeAspect="1"/>
          </p:cNvSpPr>
          <p:nvPr/>
        </p:nvSpPr>
        <p:spPr bwMode="gray">
          <a:xfrm>
            <a:off x="6241012" y="3202672"/>
            <a:ext cx="252000" cy="252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 bwMode="gray">
          <a:xfrm>
            <a:off x="6503282" y="3168461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chemeClr val="accent6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隧道转发</a:t>
            </a:r>
            <a:endParaRPr lang="zh-CN" altLang="en-US" sz="1600" b="1">
              <a:solidFill>
                <a:schemeClr val="accent6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 bwMode="gray">
          <a:xfrm rot="5400000">
            <a:off x="5318984" y="3275003"/>
            <a:ext cx="438911" cy="301085"/>
            <a:chOff x="674588" y="6196215"/>
            <a:chExt cx="399010" cy="226210"/>
          </a:xfrm>
        </p:grpSpPr>
        <p:cxnSp>
          <p:nvCxnSpPr>
            <p:cNvPr id="28" name="直接连接符 27"/>
            <p:cNvCxnSpPr/>
            <p:nvPr/>
          </p:nvCxnSpPr>
          <p:spPr bwMode="gray">
            <a:xfrm>
              <a:off x="874093" y="6196215"/>
              <a:ext cx="0" cy="2262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 bwMode="gray">
            <a:xfrm>
              <a:off x="674588" y="6196215"/>
              <a:ext cx="3990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 bwMode="gray">
          <a:xfrm rot="16200000">
            <a:off x="1300420" y="2587698"/>
            <a:ext cx="1764410" cy="1686342"/>
            <a:chOff x="6600056" y="4353447"/>
            <a:chExt cx="1296144" cy="833967"/>
          </a:xfrm>
        </p:grpSpPr>
        <p:cxnSp>
          <p:nvCxnSpPr>
            <p:cNvPr id="18" name="直接连接符 17"/>
            <p:cNvCxnSpPr/>
            <p:nvPr/>
          </p:nvCxnSpPr>
          <p:spPr bwMode="gray">
            <a:xfrm flipH="1">
              <a:off x="6600056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gray">
            <a:xfrm>
              <a:off x="7248128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 bwMode="gray">
          <a:xfrm rot="5400000">
            <a:off x="3457599" y="2587698"/>
            <a:ext cx="1764410" cy="1686342"/>
            <a:chOff x="6600056" y="4353447"/>
            <a:chExt cx="1296144" cy="833967"/>
          </a:xfrm>
        </p:grpSpPr>
        <p:cxnSp>
          <p:nvCxnSpPr>
            <p:cNvPr id="21" name="直接连接符 20"/>
            <p:cNvCxnSpPr/>
            <p:nvPr/>
          </p:nvCxnSpPr>
          <p:spPr bwMode="gray">
            <a:xfrm flipH="1">
              <a:off x="6600056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gray">
            <a:xfrm>
              <a:off x="7248128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基本概念：</a:t>
            </a:r>
            <a:r>
              <a:rPr lang="en-US" altLang="zh-CN">
                <a:sym typeface="Huawei Sans" panose="020C0503030203020204" pitchFamily="34" charset="0"/>
              </a:rPr>
              <a:t>SR-MPLS</a:t>
            </a:r>
            <a:r>
              <a:rPr lang="zh-CN" altLang="en-US">
                <a:sym typeface="Huawei Sans" panose="020C0503030203020204" pitchFamily="34" charset="0"/>
              </a:rPr>
              <a:t>与</a:t>
            </a:r>
            <a:r>
              <a:rPr lang="en-US" altLang="zh-CN" dirty="0">
                <a:sym typeface="Huawei Sans" panose="020C0503030203020204" pitchFamily="34" charset="0"/>
              </a:rPr>
              <a:t>SRv6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5" name="圆角矩形 4"/>
          <p:cNvSpPr/>
          <p:nvPr/>
        </p:nvSpPr>
        <p:spPr bwMode="gray">
          <a:xfrm>
            <a:off x="655998" y="1236728"/>
            <a:ext cx="5276528" cy="400674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endParaRPr lang="zh-CN" altLang="en-US" sz="160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圆角矩形 5"/>
          <p:cNvSpPr/>
          <p:nvPr/>
        </p:nvSpPr>
        <p:spPr bwMode="gray">
          <a:xfrm>
            <a:off x="655998" y="1681116"/>
            <a:ext cx="5276528" cy="4405715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圆角矩形 6"/>
          <p:cNvSpPr/>
          <p:nvPr/>
        </p:nvSpPr>
        <p:spPr bwMode="gray">
          <a:xfrm>
            <a:off x="6269892" y="1236728"/>
            <a:ext cx="5342817" cy="400674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60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圆角矩形 7"/>
          <p:cNvSpPr/>
          <p:nvPr/>
        </p:nvSpPr>
        <p:spPr bwMode="gray">
          <a:xfrm>
            <a:off x="6269891" y="1681116"/>
            <a:ext cx="5352613" cy="4405715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9" name="图片 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40918" y="3204146"/>
            <a:ext cx="540000" cy="44280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 bwMode="gray">
          <a:xfrm>
            <a:off x="3013126" y="2304046"/>
            <a:ext cx="540000" cy="2243000"/>
            <a:chOff x="3071664" y="2780928"/>
            <a:chExt cx="540000" cy="2243000"/>
          </a:xfrm>
        </p:grpSpPr>
        <p:pic>
          <p:nvPicPr>
            <p:cNvPr id="11" name="图片 10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071664" y="2780928"/>
              <a:ext cx="540000" cy="442800"/>
            </a:xfrm>
            <a:prstGeom prst="rect">
              <a:avLst/>
            </a:prstGeom>
          </p:spPr>
        </p:pic>
        <p:pic>
          <p:nvPicPr>
            <p:cNvPr id="12" name="图片 11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071664" y="4581128"/>
              <a:ext cx="540000" cy="442800"/>
            </a:xfrm>
            <a:prstGeom prst="rect">
              <a:avLst/>
            </a:prstGeom>
          </p:spPr>
        </p:pic>
      </p:grpSp>
      <p:pic>
        <p:nvPicPr>
          <p:cNvPr id="13" name="图片 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885334" y="3204146"/>
            <a:ext cx="540000" cy="44280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 bwMode="gray">
          <a:xfrm>
            <a:off x="747758" y="3271657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 bwMode="gray">
          <a:xfrm>
            <a:off x="3076178" y="2757493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3076178" y="3765055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4946978" y="3646946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 rot="1679142">
            <a:off x="2019538" y="3870304"/>
            <a:ext cx="537807" cy="161866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 rot="19882353">
            <a:off x="3864843" y="3908063"/>
            <a:ext cx="537807" cy="161866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 rot="1670758">
            <a:off x="3864238" y="2800930"/>
            <a:ext cx="537807" cy="161866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 bwMode="gray">
          <a:xfrm rot="19912812">
            <a:off x="2073147" y="2819805"/>
            <a:ext cx="537807" cy="161866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8" name="图片 37" descr="PC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1161654" y="2172299"/>
            <a:ext cx="490057" cy="376364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 bwMode="gray">
          <a:xfrm>
            <a:off x="1406682" y="2633123"/>
            <a:ext cx="0" cy="5352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 bwMode="gray">
          <a:xfrm flipV="1">
            <a:off x="1637849" y="2242790"/>
            <a:ext cx="1285781" cy="67076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 bwMode="gray">
          <a:xfrm>
            <a:off x="3643710" y="2314798"/>
            <a:ext cx="1382295" cy="71911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 bwMode="gray">
          <a:xfrm>
            <a:off x="5360874" y="3005513"/>
            <a:ext cx="4430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 bwMode="gray">
          <a:xfrm>
            <a:off x="655998" y="4765551"/>
            <a:ext cx="5147952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数据转发平面：基于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</a:t>
            </a:r>
            <a:r>
              <a:rPr lang="en-US" altLang="zh-CN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标签值作为</a:t>
            </a:r>
            <a:r>
              <a:rPr lang="en-US" altLang="zh-CN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段序列被编码为标签栈。要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处理的段位于栈顶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。一个段处理完成后，相关标签从标签栈中弹出。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4" name="组合 53"/>
          <p:cNvGrpSpPr/>
          <p:nvPr/>
        </p:nvGrpSpPr>
        <p:grpSpPr bwMode="gray">
          <a:xfrm rot="5400000">
            <a:off x="11021389" y="3275003"/>
            <a:ext cx="438911" cy="301085"/>
            <a:chOff x="674588" y="6196215"/>
            <a:chExt cx="399010" cy="226210"/>
          </a:xfrm>
        </p:grpSpPr>
        <p:cxnSp>
          <p:nvCxnSpPr>
            <p:cNvPr id="55" name="直接连接符 54"/>
            <p:cNvCxnSpPr/>
            <p:nvPr/>
          </p:nvCxnSpPr>
          <p:spPr bwMode="gray">
            <a:xfrm>
              <a:off x="874093" y="6196215"/>
              <a:ext cx="0" cy="2262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 bwMode="gray">
            <a:xfrm>
              <a:off x="674588" y="6196215"/>
              <a:ext cx="3990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组合 56"/>
          <p:cNvGrpSpPr/>
          <p:nvPr/>
        </p:nvGrpSpPr>
        <p:grpSpPr bwMode="gray">
          <a:xfrm rot="16200000">
            <a:off x="7002825" y="2587698"/>
            <a:ext cx="1764410" cy="1686342"/>
            <a:chOff x="6600056" y="4353447"/>
            <a:chExt cx="1296144" cy="833967"/>
          </a:xfrm>
        </p:grpSpPr>
        <p:cxnSp>
          <p:nvCxnSpPr>
            <p:cNvPr id="58" name="直接连接符 57"/>
            <p:cNvCxnSpPr/>
            <p:nvPr/>
          </p:nvCxnSpPr>
          <p:spPr bwMode="gray">
            <a:xfrm flipH="1">
              <a:off x="6600056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 bwMode="gray">
            <a:xfrm>
              <a:off x="7248128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组合 59"/>
          <p:cNvGrpSpPr/>
          <p:nvPr/>
        </p:nvGrpSpPr>
        <p:grpSpPr bwMode="gray">
          <a:xfrm rot="5400000">
            <a:off x="9160004" y="2587698"/>
            <a:ext cx="1764410" cy="1686342"/>
            <a:chOff x="6600056" y="4353447"/>
            <a:chExt cx="1296144" cy="833967"/>
          </a:xfrm>
        </p:grpSpPr>
        <p:cxnSp>
          <p:nvCxnSpPr>
            <p:cNvPr id="61" name="直接连接符 60"/>
            <p:cNvCxnSpPr/>
            <p:nvPr/>
          </p:nvCxnSpPr>
          <p:spPr bwMode="gray">
            <a:xfrm flipH="1">
              <a:off x="6600056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 bwMode="gray">
            <a:xfrm>
              <a:off x="7248128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3" name="图片 6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843323" y="3204146"/>
            <a:ext cx="540000" cy="442800"/>
          </a:xfrm>
          <a:prstGeom prst="rect">
            <a:avLst/>
          </a:prstGeom>
        </p:spPr>
      </p:pic>
      <p:grpSp>
        <p:nvGrpSpPr>
          <p:cNvPr id="64" name="组合 63"/>
          <p:cNvGrpSpPr/>
          <p:nvPr/>
        </p:nvGrpSpPr>
        <p:grpSpPr bwMode="gray">
          <a:xfrm>
            <a:off x="8715531" y="2304046"/>
            <a:ext cx="540000" cy="2243000"/>
            <a:chOff x="3071664" y="2780928"/>
            <a:chExt cx="540000" cy="2243000"/>
          </a:xfrm>
        </p:grpSpPr>
        <p:pic>
          <p:nvPicPr>
            <p:cNvPr id="65" name="图片 64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071664" y="2780928"/>
              <a:ext cx="540000" cy="442800"/>
            </a:xfrm>
            <a:prstGeom prst="rect">
              <a:avLst/>
            </a:prstGeom>
          </p:spPr>
        </p:pic>
        <p:pic>
          <p:nvPicPr>
            <p:cNvPr id="66" name="图片 65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071664" y="4581128"/>
              <a:ext cx="540000" cy="442800"/>
            </a:xfrm>
            <a:prstGeom prst="rect">
              <a:avLst/>
            </a:prstGeom>
          </p:spPr>
        </p:pic>
      </p:grpSp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587739" y="3204146"/>
            <a:ext cx="540000" cy="442800"/>
          </a:xfrm>
          <a:prstGeom prst="rect">
            <a:avLst/>
          </a:prstGeom>
        </p:spPr>
      </p:pic>
      <p:sp>
        <p:nvSpPr>
          <p:cNvPr id="68" name="文本框 67"/>
          <p:cNvSpPr txBox="1"/>
          <p:nvPr/>
        </p:nvSpPr>
        <p:spPr bwMode="gray">
          <a:xfrm>
            <a:off x="6450163" y="3271657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8778583" y="2757493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8778583" y="3765055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10649383" y="3646946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 rot="1679142">
            <a:off x="7721943" y="3870304"/>
            <a:ext cx="537807" cy="161866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endParaRPr lang="zh-CN" altLang="en-US" sz="12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 rot="19882353">
            <a:off x="9567248" y="3908063"/>
            <a:ext cx="537807" cy="161866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endParaRPr lang="zh-CN" altLang="en-US" sz="12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 bwMode="gray">
          <a:xfrm rot="1670758">
            <a:off x="9566643" y="2800930"/>
            <a:ext cx="537807" cy="161866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endParaRPr lang="zh-CN" altLang="en-US" sz="12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 rot="19912812">
            <a:off x="7775552" y="2819805"/>
            <a:ext cx="537807" cy="161866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endParaRPr lang="zh-CN" altLang="en-US" sz="12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7" name="图片 76" descr="PC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6864059" y="2172299"/>
            <a:ext cx="490057" cy="376364"/>
          </a:xfrm>
          <a:prstGeom prst="rect">
            <a:avLst/>
          </a:prstGeom>
        </p:spPr>
      </p:pic>
      <p:cxnSp>
        <p:nvCxnSpPr>
          <p:cNvPr id="78" name="直接箭头连接符 77"/>
          <p:cNvCxnSpPr/>
          <p:nvPr/>
        </p:nvCxnSpPr>
        <p:spPr bwMode="gray">
          <a:xfrm>
            <a:off x="7109087" y="2633123"/>
            <a:ext cx="0" cy="53523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 bwMode="gray">
          <a:xfrm>
            <a:off x="11063279" y="3005513"/>
            <a:ext cx="4430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 bwMode="gray">
          <a:xfrm>
            <a:off x="666227" y="2611911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 bwMode="gray">
          <a:xfrm rot="19977132">
            <a:off x="1700683" y="2267039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 bwMode="gray">
          <a:xfrm rot="1641118">
            <a:off x="3612005" y="2194988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 bwMode="gray">
          <a:xfrm>
            <a:off x="6269892" y="4765551"/>
            <a:ext cx="5402200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数据转发平面：基于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</a:t>
            </a:r>
            <a:r>
              <a:rPr lang="en-US" altLang="zh-CN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作为</a:t>
            </a:r>
            <a:r>
              <a:rPr lang="en-US" altLang="zh-CN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值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段序列被编码为标签栈，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</a:t>
            </a:r>
            <a:r>
              <a:rPr lang="en-US" altLang="zh-CN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的扩展头</a:t>
            </a:r>
            <a:r>
              <a:rPr lang="en-US" altLang="zh-CN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SRH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 err="1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Segement</a:t>
            </a:r>
            <a:r>
              <a:rPr lang="en-US" altLang="zh-CN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Routing </a:t>
            </a:r>
            <a:r>
              <a:rPr lang="en-US" altLang="zh-CN" sz="1400" dirty="0" err="1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Hearder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）承载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8" name="直接箭头连接符 87"/>
          <p:cNvCxnSpPr/>
          <p:nvPr/>
        </p:nvCxnSpPr>
        <p:spPr bwMode="gray">
          <a:xfrm flipV="1">
            <a:off x="7365202" y="2242791"/>
            <a:ext cx="1285781" cy="67076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/>
        </p:nvCxnSpPr>
        <p:spPr bwMode="gray">
          <a:xfrm>
            <a:off x="9371063" y="2314799"/>
            <a:ext cx="1382295" cy="71911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 bwMode="gray">
          <a:xfrm rot="19977132">
            <a:off x="7492958" y="2267040"/>
            <a:ext cx="912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 bwMode="gray">
          <a:xfrm rot="1641118">
            <a:off x="9404280" y="2194989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 bwMode="gray">
          <a:xfrm>
            <a:off x="6189160" y="2612795"/>
            <a:ext cx="912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标签栈、粘连标签与粘连节点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圆角矩形 2"/>
          <p:cNvSpPr/>
          <p:nvPr/>
        </p:nvSpPr>
        <p:spPr bwMode="gray">
          <a:xfrm>
            <a:off x="665162" y="1072980"/>
            <a:ext cx="5301165" cy="400674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标签栈</a:t>
            </a:r>
            <a:endParaRPr lang="zh-CN" altLang="en-US" sz="160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圆角矩形 3"/>
          <p:cNvSpPr/>
          <p:nvPr/>
        </p:nvSpPr>
        <p:spPr bwMode="gray">
          <a:xfrm>
            <a:off x="665163" y="1542251"/>
            <a:ext cx="5288556" cy="4637617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665162" y="4273712"/>
            <a:ext cx="524966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530" indent="-17653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标签栈是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标签的排序集合，用于标识一条完整的LSP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标签栈中每一个邻接标签标识一条具体的邻接，整个标签栈标识了整条转发路径LSP的所有邻接。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在报文转发过程中，通过标签栈中每个邻接标签查找对应的邻接， 并将标签弹出后转发，将标签栈中所有邻接标签弹出后，报文就走完了整条LSP，到达隧道的目的地。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8" name="组合 67"/>
          <p:cNvGrpSpPr/>
          <p:nvPr/>
        </p:nvGrpSpPr>
        <p:grpSpPr bwMode="gray">
          <a:xfrm>
            <a:off x="1620210" y="2395139"/>
            <a:ext cx="1226156" cy="1318899"/>
            <a:chOff x="1622021" y="2564007"/>
            <a:chExt cx="855710" cy="1318899"/>
          </a:xfrm>
        </p:grpSpPr>
        <p:cxnSp>
          <p:nvCxnSpPr>
            <p:cNvPr id="69" name="直接连接符 68"/>
            <p:cNvCxnSpPr/>
            <p:nvPr/>
          </p:nvCxnSpPr>
          <p:spPr bwMode="gray">
            <a:xfrm flipV="1">
              <a:off x="1622021" y="2564007"/>
              <a:ext cx="855708" cy="659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 bwMode="gray">
            <a:xfrm>
              <a:off x="1622021" y="3223457"/>
              <a:ext cx="855708" cy="65944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组合 70"/>
          <p:cNvGrpSpPr/>
          <p:nvPr/>
        </p:nvGrpSpPr>
        <p:grpSpPr bwMode="gray">
          <a:xfrm rot="10800000">
            <a:off x="4136349" y="2395139"/>
            <a:ext cx="1226156" cy="1318899"/>
            <a:chOff x="1622021" y="2564007"/>
            <a:chExt cx="855708" cy="1318899"/>
          </a:xfrm>
        </p:grpSpPr>
        <p:cxnSp>
          <p:nvCxnSpPr>
            <p:cNvPr id="72" name="直接连接符 71"/>
            <p:cNvCxnSpPr/>
            <p:nvPr/>
          </p:nvCxnSpPr>
          <p:spPr bwMode="gray">
            <a:xfrm flipV="1">
              <a:off x="1622021" y="2564007"/>
              <a:ext cx="855708" cy="659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 bwMode="gray">
            <a:xfrm>
              <a:off x="1622021" y="3223457"/>
              <a:ext cx="855708" cy="65944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4" name="图片 7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8744" y="2888248"/>
            <a:ext cx="405710" cy="332682"/>
          </a:xfrm>
          <a:prstGeom prst="rect">
            <a:avLst/>
          </a:prstGeom>
        </p:spPr>
      </p:pic>
      <p:grpSp>
        <p:nvGrpSpPr>
          <p:cNvPr id="75" name="组合 74"/>
          <p:cNvGrpSpPr/>
          <p:nvPr/>
        </p:nvGrpSpPr>
        <p:grpSpPr bwMode="gray">
          <a:xfrm>
            <a:off x="2640162" y="2228798"/>
            <a:ext cx="405710" cy="1651581"/>
            <a:chOff x="2214688" y="2397666"/>
            <a:chExt cx="405710" cy="1651581"/>
          </a:xfrm>
        </p:grpSpPr>
        <p:pic>
          <p:nvPicPr>
            <p:cNvPr id="76" name="图片 75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214688" y="2397666"/>
              <a:ext cx="405710" cy="332682"/>
            </a:xfrm>
            <a:prstGeom prst="rect">
              <a:avLst/>
            </a:prstGeom>
          </p:spPr>
        </p:pic>
        <p:pic>
          <p:nvPicPr>
            <p:cNvPr id="77" name="图片 76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214688" y="3716565"/>
              <a:ext cx="405710" cy="332682"/>
            </a:xfrm>
            <a:prstGeom prst="rect">
              <a:avLst/>
            </a:prstGeom>
          </p:spPr>
        </p:pic>
      </p:grpSp>
      <p:grpSp>
        <p:nvGrpSpPr>
          <p:cNvPr id="78" name="组合 77"/>
          <p:cNvGrpSpPr/>
          <p:nvPr/>
        </p:nvGrpSpPr>
        <p:grpSpPr bwMode="gray">
          <a:xfrm>
            <a:off x="3901580" y="2228798"/>
            <a:ext cx="405710" cy="1651581"/>
            <a:chOff x="3921094" y="2397666"/>
            <a:chExt cx="405710" cy="1651581"/>
          </a:xfrm>
        </p:grpSpPr>
        <p:pic>
          <p:nvPicPr>
            <p:cNvPr id="79" name="图片 78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921094" y="2397666"/>
              <a:ext cx="405710" cy="332682"/>
            </a:xfrm>
            <a:prstGeom prst="rect">
              <a:avLst/>
            </a:prstGeom>
          </p:spPr>
        </p:pic>
        <p:pic>
          <p:nvPicPr>
            <p:cNvPr id="80" name="图片 79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921094" y="3716565"/>
              <a:ext cx="405710" cy="332682"/>
            </a:xfrm>
            <a:prstGeom prst="rect">
              <a:avLst/>
            </a:prstGeom>
          </p:spPr>
        </p:pic>
      </p:grpSp>
      <p:pic>
        <p:nvPicPr>
          <p:cNvPr id="81" name="图片 8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162999" y="2888248"/>
            <a:ext cx="405710" cy="332682"/>
          </a:xfrm>
          <a:prstGeom prst="rect">
            <a:avLst/>
          </a:prstGeom>
        </p:spPr>
      </p:pic>
      <p:cxnSp>
        <p:nvCxnSpPr>
          <p:cNvPr id="82" name="直接连接符 81"/>
          <p:cNvCxnSpPr>
            <a:stCxn id="79" idx="1"/>
            <a:endCxn id="76" idx="3"/>
          </p:cNvCxnSpPr>
          <p:nvPr/>
        </p:nvCxnSpPr>
        <p:spPr bwMode="gray">
          <a:xfrm flipH="1">
            <a:off x="3045872" y="2395139"/>
            <a:ext cx="8557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>
            <a:stCxn id="80" idx="1"/>
            <a:endCxn id="77" idx="3"/>
          </p:cNvCxnSpPr>
          <p:nvPr/>
        </p:nvCxnSpPr>
        <p:spPr bwMode="gray">
          <a:xfrm flipH="1">
            <a:off x="3045872" y="3714038"/>
            <a:ext cx="8557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>
            <a:stCxn id="76" idx="2"/>
            <a:endCxn id="77" idx="0"/>
          </p:cNvCxnSpPr>
          <p:nvPr/>
        </p:nvCxnSpPr>
        <p:spPr bwMode="gray">
          <a:xfrm>
            <a:off x="2843017" y="2561480"/>
            <a:ext cx="0" cy="9862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>
            <a:stCxn id="79" idx="2"/>
            <a:endCxn id="80" idx="0"/>
          </p:cNvCxnSpPr>
          <p:nvPr/>
        </p:nvCxnSpPr>
        <p:spPr bwMode="gray">
          <a:xfrm>
            <a:off x="4104435" y="2561480"/>
            <a:ext cx="0" cy="9862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 bwMode="gray">
          <a:xfrm>
            <a:off x="1784454" y="3244006"/>
            <a:ext cx="672446" cy="36734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/>
          <p:cNvSpPr/>
          <p:nvPr/>
        </p:nvSpPr>
        <p:spPr bwMode="gray">
          <a:xfrm rot="1766649">
            <a:off x="1579747" y="3313596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1013</a:t>
            </a:r>
            <a:endParaRPr lang="zh-CN" altLang="en-US" sz="1400" b="1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8" name="直接箭头连接符 87"/>
          <p:cNvCxnSpPr/>
          <p:nvPr/>
        </p:nvCxnSpPr>
        <p:spPr bwMode="gray">
          <a:xfrm flipV="1">
            <a:off x="2947277" y="2608620"/>
            <a:ext cx="0" cy="88596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/>
        </p:nvCxnSpPr>
        <p:spPr bwMode="gray">
          <a:xfrm>
            <a:off x="3084768" y="2498009"/>
            <a:ext cx="777916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 bwMode="gray">
          <a:xfrm>
            <a:off x="1011426" y="2921689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2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矩形 90"/>
          <p:cNvSpPr/>
          <p:nvPr/>
        </p:nvSpPr>
        <p:spPr bwMode="gray">
          <a:xfrm>
            <a:off x="2643475" y="1938074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2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矩形 91"/>
          <p:cNvSpPr/>
          <p:nvPr/>
        </p:nvSpPr>
        <p:spPr bwMode="gray">
          <a:xfrm>
            <a:off x="2643475" y="3894771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2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矩形 92"/>
          <p:cNvSpPr/>
          <p:nvPr/>
        </p:nvSpPr>
        <p:spPr bwMode="gray">
          <a:xfrm>
            <a:off x="3930144" y="1938074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2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矩形 93"/>
          <p:cNvSpPr/>
          <p:nvPr/>
        </p:nvSpPr>
        <p:spPr bwMode="gray">
          <a:xfrm>
            <a:off x="3930144" y="3894771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2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矩形 94"/>
          <p:cNvSpPr/>
          <p:nvPr/>
        </p:nvSpPr>
        <p:spPr bwMode="gray">
          <a:xfrm>
            <a:off x="5568709" y="2906632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2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矩形 95"/>
          <p:cNvSpPr/>
          <p:nvPr/>
        </p:nvSpPr>
        <p:spPr bwMode="gray">
          <a:xfrm>
            <a:off x="2924759" y="3213362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1032</a:t>
            </a:r>
            <a:endParaRPr lang="zh-CN" altLang="en-US" sz="1400" b="1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矩形 96"/>
          <p:cNvSpPr/>
          <p:nvPr/>
        </p:nvSpPr>
        <p:spPr bwMode="gray">
          <a:xfrm>
            <a:off x="3011018" y="2496473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1024</a:t>
            </a:r>
            <a:endParaRPr lang="zh-CN" altLang="en-US" sz="1400" b="1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8" name="直接箭头连接符 97"/>
          <p:cNvCxnSpPr/>
          <p:nvPr/>
        </p:nvCxnSpPr>
        <p:spPr bwMode="gray">
          <a:xfrm>
            <a:off x="4348242" y="2401867"/>
            <a:ext cx="802531" cy="42963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 98"/>
          <p:cNvSpPr/>
          <p:nvPr/>
        </p:nvSpPr>
        <p:spPr bwMode="gray">
          <a:xfrm rot="1635864">
            <a:off x="4305765" y="2218878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1046</a:t>
            </a:r>
            <a:endParaRPr lang="zh-CN" altLang="en-US" sz="1400" b="1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767261" y="1783694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1013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矩形 39"/>
          <p:cNvSpPr/>
          <p:nvPr/>
        </p:nvSpPr>
        <p:spPr bwMode="gray">
          <a:xfrm>
            <a:off x="767261" y="1997528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1032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矩形 40"/>
          <p:cNvSpPr/>
          <p:nvPr/>
        </p:nvSpPr>
        <p:spPr bwMode="gray">
          <a:xfrm>
            <a:off x="767261" y="2194395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1024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矩形 41"/>
          <p:cNvSpPr/>
          <p:nvPr/>
        </p:nvSpPr>
        <p:spPr bwMode="gray">
          <a:xfrm>
            <a:off x="767261" y="2410688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1046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3" name="直接箭头连接符 42"/>
          <p:cNvCxnSpPr/>
          <p:nvPr/>
        </p:nvCxnSpPr>
        <p:spPr bwMode="gray">
          <a:xfrm>
            <a:off x="1541059" y="1783694"/>
            <a:ext cx="0" cy="110455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圆角矩形 44"/>
          <p:cNvSpPr/>
          <p:nvPr/>
        </p:nvSpPr>
        <p:spPr bwMode="gray">
          <a:xfrm>
            <a:off x="6256594" y="1084855"/>
            <a:ext cx="5358318" cy="400674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粘连标签与粘连节点</a:t>
            </a:r>
            <a:endParaRPr lang="zh-CN" altLang="en-US" sz="160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圆角矩形 45"/>
          <p:cNvSpPr/>
          <p:nvPr/>
        </p:nvSpPr>
        <p:spPr bwMode="gray">
          <a:xfrm>
            <a:off x="6256594" y="1554126"/>
            <a:ext cx="5358318" cy="4637617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矩形 46"/>
          <p:cNvSpPr/>
          <p:nvPr/>
        </p:nvSpPr>
        <p:spPr bwMode="gray">
          <a:xfrm>
            <a:off x="6256593" y="4610133"/>
            <a:ext cx="5354652" cy="1502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530" indent="-17653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当标签栈深度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超过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转发器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所支持的标签栈深度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时，控制器需要为转发器分配多个标签栈，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在合适的节点下发标签栈的同时分配一种特殊的标签，然后将这些标签栈关联起来，实现逐段转发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这种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特殊的标签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称为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粘连标签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，这个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合适的节点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称为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粘连节点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。控制器为粘连节点分配粘连标签，并将其压在标签栈底。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8" name="组合 47"/>
          <p:cNvGrpSpPr/>
          <p:nvPr/>
        </p:nvGrpSpPr>
        <p:grpSpPr bwMode="gray">
          <a:xfrm>
            <a:off x="7211534" y="2818496"/>
            <a:ext cx="1226156" cy="1318899"/>
            <a:chOff x="1622021" y="2564007"/>
            <a:chExt cx="855710" cy="1318899"/>
          </a:xfrm>
        </p:grpSpPr>
        <p:cxnSp>
          <p:nvCxnSpPr>
            <p:cNvPr id="49" name="直接连接符 48"/>
            <p:cNvCxnSpPr/>
            <p:nvPr/>
          </p:nvCxnSpPr>
          <p:spPr bwMode="gray">
            <a:xfrm flipV="1">
              <a:off x="1622021" y="2564007"/>
              <a:ext cx="855708" cy="659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 bwMode="gray">
            <a:xfrm>
              <a:off x="1622021" y="3223457"/>
              <a:ext cx="855708" cy="65944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/>
          <p:cNvGrpSpPr/>
          <p:nvPr/>
        </p:nvGrpSpPr>
        <p:grpSpPr bwMode="gray">
          <a:xfrm rot="10800000">
            <a:off x="9727673" y="2818496"/>
            <a:ext cx="1226156" cy="1318899"/>
            <a:chOff x="1622021" y="2564007"/>
            <a:chExt cx="855708" cy="1318899"/>
          </a:xfrm>
        </p:grpSpPr>
        <p:cxnSp>
          <p:nvCxnSpPr>
            <p:cNvPr id="52" name="直接连接符 51"/>
            <p:cNvCxnSpPr/>
            <p:nvPr/>
          </p:nvCxnSpPr>
          <p:spPr bwMode="gray">
            <a:xfrm flipV="1">
              <a:off x="1622021" y="2564007"/>
              <a:ext cx="855708" cy="659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 bwMode="gray">
            <a:xfrm>
              <a:off x="1622021" y="3223457"/>
              <a:ext cx="855708" cy="65944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4" name="图片 5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70068" y="3311605"/>
            <a:ext cx="405710" cy="332682"/>
          </a:xfrm>
          <a:prstGeom prst="rect">
            <a:avLst/>
          </a:prstGeom>
        </p:spPr>
      </p:pic>
      <p:grpSp>
        <p:nvGrpSpPr>
          <p:cNvPr id="55" name="组合 54"/>
          <p:cNvGrpSpPr/>
          <p:nvPr/>
        </p:nvGrpSpPr>
        <p:grpSpPr bwMode="gray">
          <a:xfrm>
            <a:off x="8231486" y="2652155"/>
            <a:ext cx="405710" cy="1651581"/>
            <a:chOff x="2214688" y="2397666"/>
            <a:chExt cx="405710" cy="1651581"/>
          </a:xfrm>
        </p:grpSpPr>
        <p:pic>
          <p:nvPicPr>
            <p:cNvPr id="56" name="图片 55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214688" y="2397666"/>
              <a:ext cx="405710" cy="332682"/>
            </a:xfrm>
            <a:prstGeom prst="rect">
              <a:avLst/>
            </a:prstGeom>
          </p:spPr>
        </p:pic>
        <p:pic>
          <p:nvPicPr>
            <p:cNvPr id="57" name="图片 56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214688" y="3716565"/>
              <a:ext cx="405710" cy="332682"/>
            </a:xfrm>
            <a:prstGeom prst="rect">
              <a:avLst/>
            </a:prstGeom>
          </p:spPr>
        </p:pic>
      </p:grpSp>
      <p:grpSp>
        <p:nvGrpSpPr>
          <p:cNvPr id="58" name="组合 57"/>
          <p:cNvGrpSpPr/>
          <p:nvPr/>
        </p:nvGrpSpPr>
        <p:grpSpPr bwMode="gray">
          <a:xfrm>
            <a:off x="9492904" y="2652155"/>
            <a:ext cx="405710" cy="1651581"/>
            <a:chOff x="3921094" y="2397666"/>
            <a:chExt cx="405710" cy="1651581"/>
          </a:xfrm>
        </p:grpSpPr>
        <p:pic>
          <p:nvPicPr>
            <p:cNvPr id="59" name="图片 58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921094" y="2397666"/>
              <a:ext cx="405710" cy="332682"/>
            </a:xfrm>
            <a:prstGeom prst="rect">
              <a:avLst/>
            </a:prstGeom>
          </p:spPr>
        </p:pic>
        <p:pic>
          <p:nvPicPr>
            <p:cNvPr id="60" name="图片 59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921094" y="3716565"/>
              <a:ext cx="405710" cy="332682"/>
            </a:xfrm>
            <a:prstGeom prst="rect">
              <a:avLst/>
            </a:prstGeom>
          </p:spPr>
        </p:pic>
      </p:grpSp>
      <p:pic>
        <p:nvPicPr>
          <p:cNvPr id="61" name="图片 6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754323" y="3311605"/>
            <a:ext cx="405710" cy="332682"/>
          </a:xfrm>
          <a:prstGeom prst="rect">
            <a:avLst/>
          </a:prstGeom>
        </p:spPr>
      </p:pic>
      <p:cxnSp>
        <p:nvCxnSpPr>
          <p:cNvPr id="62" name="直接连接符 61"/>
          <p:cNvCxnSpPr>
            <a:stCxn id="59" idx="1"/>
            <a:endCxn id="56" idx="3"/>
          </p:cNvCxnSpPr>
          <p:nvPr/>
        </p:nvCxnSpPr>
        <p:spPr bwMode="gray">
          <a:xfrm flipH="1">
            <a:off x="8637196" y="2818496"/>
            <a:ext cx="8557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60" idx="1"/>
            <a:endCxn id="57" idx="3"/>
          </p:cNvCxnSpPr>
          <p:nvPr/>
        </p:nvCxnSpPr>
        <p:spPr bwMode="gray">
          <a:xfrm flipH="1">
            <a:off x="8637196" y="4137395"/>
            <a:ext cx="8557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>
            <a:stCxn id="56" idx="2"/>
            <a:endCxn id="57" idx="0"/>
          </p:cNvCxnSpPr>
          <p:nvPr/>
        </p:nvCxnSpPr>
        <p:spPr bwMode="gray">
          <a:xfrm>
            <a:off x="8434341" y="2984837"/>
            <a:ext cx="0" cy="9862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stCxn id="59" idx="2"/>
            <a:endCxn id="60" idx="0"/>
          </p:cNvCxnSpPr>
          <p:nvPr/>
        </p:nvCxnSpPr>
        <p:spPr bwMode="gray">
          <a:xfrm>
            <a:off x="9695759" y="2984837"/>
            <a:ext cx="0" cy="9862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 bwMode="gray">
          <a:xfrm>
            <a:off x="7375778" y="3667363"/>
            <a:ext cx="672446" cy="36734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 bwMode="gray">
          <a:xfrm rot="1766649">
            <a:off x="7171071" y="3736953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1013</a:t>
            </a:r>
            <a:endParaRPr lang="zh-CN" altLang="en-US" sz="1400" b="1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0" name="直接箭头连接符 99"/>
          <p:cNvCxnSpPr/>
          <p:nvPr/>
        </p:nvCxnSpPr>
        <p:spPr bwMode="gray">
          <a:xfrm flipV="1">
            <a:off x="8538601" y="3031977"/>
            <a:ext cx="0" cy="88596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/>
        </p:nvCxnSpPr>
        <p:spPr bwMode="gray">
          <a:xfrm>
            <a:off x="8676092" y="2921366"/>
            <a:ext cx="777916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矩形 101"/>
          <p:cNvSpPr/>
          <p:nvPr/>
        </p:nvSpPr>
        <p:spPr bwMode="gray">
          <a:xfrm>
            <a:off x="6602750" y="3345046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2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矩形 102"/>
          <p:cNvSpPr/>
          <p:nvPr/>
        </p:nvSpPr>
        <p:spPr bwMode="gray">
          <a:xfrm>
            <a:off x="8234799" y="2361431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2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矩形 103"/>
          <p:cNvSpPr/>
          <p:nvPr/>
        </p:nvSpPr>
        <p:spPr bwMode="gray">
          <a:xfrm>
            <a:off x="8234799" y="4318128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2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矩形 104"/>
          <p:cNvSpPr/>
          <p:nvPr/>
        </p:nvSpPr>
        <p:spPr bwMode="gray">
          <a:xfrm>
            <a:off x="9521468" y="2361431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2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矩形 105"/>
          <p:cNvSpPr/>
          <p:nvPr/>
        </p:nvSpPr>
        <p:spPr bwMode="gray">
          <a:xfrm>
            <a:off x="9521468" y="4318128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2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矩形 106"/>
          <p:cNvSpPr/>
          <p:nvPr/>
        </p:nvSpPr>
        <p:spPr bwMode="gray">
          <a:xfrm>
            <a:off x="11160033" y="3345046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2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矩形 107"/>
          <p:cNvSpPr/>
          <p:nvPr/>
        </p:nvSpPr>
        <p:spPr bwMode="gray">
          <a:xfrm>
            <a:off x="8516083" y="3636719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1032</a:t>
            </a:r>
            <a:endParaRPr lang="zh-CN" altLang="en-US" sz="1400" b="1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矩形 108"/>
          <p:cNvSpPr/>
          <p:nvPr/>
        </p:nvSpPr>
        <p:spPr bwMode="gray">
          <a:xfrm>
            <a:off x="8602342" y="2919830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1024</a:t>
            </a:r>
            <a:endParaRPr lang="zh-CN" altLang="en-US" sz="1400" b="1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0" name="直接箭头连接符 109"/>
          <p:cNvCxnSpPr/>
          <p:nvPr/>
        </p:nvCxnSpPr>
        <p:spPr bwMode="gray">
          <a:xfrm flipV="1">
            <a:off x="9954339" y="3706551"/>
            <a:ext cx="796637" cy="43911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 110"/>
          <p:cNvSpPr/>
          <p:nvPr/>
        </p:nvSpPr>
        <p:spPr bwMode="gray">
          <a:xfrm rot="19844221">
            <a:off x="9913445" y="4021407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1056</a:t>
            </a:r>
            <a:endParaRPr lang="zh-CN" altLang="en-US" sz="1400" b="1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2" name="矩形 111"/>
          <p:cNvSpPr/>
          <p:nvPr/>
        </p:nvSpPr>
        <p:spPr bwMode="gray">
          <a:xfrm>
            <a:off x="6358585" y="2207051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1013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3" name="矩形 112"/>
          <p:cNvSpPr/>
          <p:nvPr/>
        </p:nvSpPr>
        <p:spPr bwMode="gray">
          <a:xfrm>
            <a:off x="6358585" y="2420885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1032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4" name="矩形 113"/>
          <p:cNvSpPr/>
          <p:nvPr/>
        </p:nvSpPr>
        <p:spPr bwMode="gray">
          <a:xfrm>
            <a:off x="6358585" y="2617752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  <a:prstDash val="sysDot"/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6" name="直接箭头连接符 115"/>
          <p:cNvCxnSpPr/>
          <p:nvPr/>
        </p:nvCxnSpPr>
        <p:spPr bwMode="gray">
          <a:xfrm>
            <a:off x="7132383" y="2207051"/>
            <a:ext cx="0" cy="110455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 bwMode="gray">
          <a:xfrm>
            <a:off x="9792751" y="3050280"/>
            <a:ext cx="0" cy="85533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矩形 117"/>
          <p:cNvSpPr/>
          <p:nvPr/>
        </p:nvSpPr>
        <p:spPr bwMode="gray">
          <a:xfrm>
            <a:off x="9745416" y="3184144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1045</a:t>
            </a:r>
            <a:endParaRPr lang="zh-CN" altLang="en-US" sz="1400" b="1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5" name="矩形 124"/>
          <p:cNvSpPr/>
          <p:nvPr/>
        </p:nvSpPr>
        <p:spPr bwMode="gray">
          <a:xfrm>
            <a:off x="8682399" y="1699291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1024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6" name="矩形 125"/>
          <p:cNvSpPr/>
          <p:nvPr/>
        </p:nvSpPr>
        <p:spPr bwMode="gray">
          <a:xfrm>
            <a:off x="8682399" y="1913125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1045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7" name="矩形 126"/>
          <p:cNvSpPr/>
          <p:nvPr/>
        </p:nvSpPr>
        <p:spPr bwMode="gray">
          <a:xfrm>
            <a:off x="8682399" y="2126774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1056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矩形 128"/>
          <p:cNvSpPr/>
          <p:nvPr/>
        </p:nvSpPr>
        <p:spPr bwMode="gray">
          <a:xfrm>
            <a:off x="7469784" y="1889617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  <a:prstDash val="sysDot"/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0" name="Right Arrow 158"/>
          <p:cNvSpPr/>
          <p:nvPr/>
        </p:nvSpPr>
        <p:spPr bwMode="gray">
          <a:xfrm>
            <a:off x="8001222" y="1225101"/>
            <a:ext cx="637213" cy="1535148"/>
          </a:xfrm>
          <a:custGeom>
            <a:avLst/>
            <a:gdLst>
              <a:gd name="connsiteX0" fmla="*/ 0 w 633403"/>
              <a:gd name="connsiteY0" fmla="*/ 140615 h 494305"/>
              <a:gd name="connsiteX1" fmla="*/ 386251 w 633403"/>
              <a:gd name="connsiteY1" fmla="*/ 140615 h 494305"/>
              <a:gd name="connsiteX2" fmla="*/ 386251 w 633403"/>
              <a:gd name="connsiteY2" fmla="*/ 0 h 494305"/>
              <a:gd name="connsiteX3" fmla="*/ 633403 w 633403"/>
              <a:gd name="connsiteY3" fmla="*/ 247153 h 494305"/>
              <a:gd name="connsiteX4" fmla="*/ 386251 w 633403"/>
              <a:gd name="connsiteY4" fmla="*/ 494305 h 494305"/>
              <a:gd name="connsiteX5" fmla="*/ 386251 w 633403"/>
              <a:gd name="connsiteY5" fmla="*/ 353690 h 494305"/>
              <a:gd name="connsiteX6" fmla="*/ 0 w 633403"/>
              <a:gd name="connsiteY6" fmla="*/ 353690 h 494305"/>
              <a:gd name="connsiteX7" fmla="*/ 0 w 633403"/>
              <a:gd name="connsiteY7" fmla="*/ 140615 h 494305"/>
              <a:gd name="connsiteX0-1" fmla="*/ 0 w 637213"/>
              <a:gd name="connsiteY0-2" fmla="*/ 0 h 1016630"/>
              <a:gd name="connsiteX1-3" fmla="*/ 390061 w 637213"/>
              <a:gd name="connsiteY1-4" fmla="*/ 662940 h 1016630"/>
              <a:gd name="connsiteX2-5" fmla="*/ 390061 w 637213"/>
              <a:gd name="connsiteY2-6" fmla="*/ 522325 h 1016630"/>
              <a:gd name="connsiteX3-7" fmla="*/ 637213 w 637213"/>
              <a:gd name="connsiteY3-8" fmla="*/ 769478 h 1016630"/>
              <a:gd name="connsiteX4-9" fmla="*/ 390061 w 637213"/>
              <a:gd name="connsiteY4-10" fmla="*/ 1016630 h 1016630"/>
              <a:gd name="connsiteX5-11" fmla="*/ 390061 w 637213"/>
              <a:gd name="connsiteY5-12" fmla="*/ 876015 h 1016630"/>
              <a:gd name="connsiteX6-13" fmla="*/ 3810 w 637213"/>
              <a:gd name="connsiteY6-14" fmla="*/ 876015 h 1016630"/>
              <a:gd name="connsiteX7-15" fmla="*/ 0 w 637213"/>
              <a:gd name="connsiteY7-16" fmla="*/ 0 h 1016630"/>
              <a:gd name="connsiteX0-17" fmla="*/ 0 w 637213"/>
              <a:gd name="connsiteY0-18" fmla="*/ 0 h 1535148"/>
              <a:gd name="connsiteX1-19" fmla="*/ 390061 w 637213"/>
              <a:gd name="connsiteY1-20" fmla="*/ 662940 h 1535148"/>
              <a:gd name="connsiteX2-21" fmla="*/ 390061 w 637213"/>
              <a:gd name="connsiteY2-22" fmla="*/ 522325 h 1535148"/>
              <a:gd name="connsiteX3-23" fmla="*/ 637213 w 637213"/>
              <a:gd name="connsiteY3-24" fmla="*/ 769478 h 1535148"/>
              <a:gd name="connsiteX4-25" fmla="*/ 390061 w 637213"/>
              <a:gd name="connsiteY4-26" fmla="*/ 1016630 h 1535148"/>
              <a:gd name="connsiteX5-27" fmla="*/ 390061 w 637213"/>
              <a:gd name="connsiteY5-28" fmla="*/ 876015 h 1535148"/>
              <a:gd name="connsiteX6-29" fmla="*/ 7620 w 637213"/>
              <a:gd name="connsiteY6-30" fmla="*/ 1535148 h 1535148"/>
              <a:gd name="connsiteX7-31" fmla="*/ 0 w 637213"/>
              <a:gd name="connsiteY7-32" fmla="*/ 0 h 1535148"/>
              <a:gd name="connsiteX0-33" fmla="*/ 0 w 637213"/>
              <a:gd name="connsiteY0-34" fmla="*/ 0 h 1535148"/>
              <a:gd name="connsiteX1-35" fmla="*/ 390061 w 637213"/>
              <a:gd name="connsiteY1-36" fmla="*/ 662940 h 1535148"/>
              <a:gd name="connsiteX2-37" fmla="*/ 390061 w 637213"/>
              <a:gd name="connsiteY2-38" fmla="*/ 522325 h 1535148"/>
              <a:gd name="connsiteX3-39" fmla="*/ 637213 w 637213"/>
              <a:gd name="connsiteY3-40" fmla="*/ 769478 h 1535148"/>
              <a:gd name="connsiteX4-41" fmla="*/ 390061 w 637213"/>
              <a:gd name="connsiteY4-42" fmla="*/ 1016630 h 1535148"/>
              <a:gd name="connsiteX5-43" fmla="*/ 390061 w 637213"/>
              <a:gd name="connsiteY5-44" fmla="*/ 876015 h 1535148"/>
              <a:gd name="connsiteX6-45" fmla="*/ 7620 w 637213"/>
              <a:gd name="connsiteY6-46" fmla="*/ 1535148 h 1535148"/>
              <a:gd name="connsiteX7-47" fmla="*/ 0 w 637213"/>
              <a:gd name="connsiteY7-48" fmla="*/ 0 h 1535148"/>
              <a:gd name="connsiteX0-49" fmla="*/ 0 w 637213"/>
              <a:gd name="connsiteY0-50" fmla="*/ 0 h 1535148"/>
              <a:gd name="connsiteX1-51" fmla="*/ 390061 w 637213"/>
              <a:gd name="connsiteY1-52" fmla="*/ 662940 h 1535148"/>
              <a:gd name="connsiteX2-53" fmla="*/ 390061 w 637213"/>
              <a:gd name="connsiteY2-54" fmla="*/ 522325 h 1535148"/>
              <a:gd name="connsiteX3-55" fmla="*/ 637213 w 637213"/>
              <a:gd name="connsiteY3-56" fmla="*/ 769478 h 1535148"/>
              <a:gd name="connsiteX4-57" fmla="*/ 390061 w 637213"/>
              <a:gd name="connsiteY4-58" fmla="*/ 1016630 h 1535148"/>
              <a:gd name="connsiteX5-59" fmla="*/ 390061 w 637213"/>
              <a:gd name="connsiteY5-60" fmla="*/ 876015 h 1535148"/>
              <a:gd name="connsiteX6-61" fmla="*/ 7620 w 637213"/>
              <a:gd name="connsiteY6-62" fmla="*/ 1535148 h 1535148"/>
              <a:gd name="connsiteX7-63" fmla="*/ 0 w 637213"/>
              <a:gd name="connsiteY7-64" fmla="*/ 0 h 1535148"/>
              <a:gd name="connsiteX0-65" fmla="*/ 0 w 637213"/>
              <a:gd name="connsiteY0-66" fmla="*/ 0 h 1535148"/>
              <a:gd name="connsiteX1-67" fmla="*/ 390061 w 637213"/>
              <a:gd name="connsiteY1-68" fmla="*/ 662940 h 1535148"/>
              <a:gd name="connsiteX2-69" fmla="*/ 390061 w 637213"/>
              <a:gd name="connsiteY2-70" fmla="*/ 522325 h 1535148"/>
              <a:gd name="connsiteX3-71" fmla="*/ 637213 w 637213"/>
              <a:gd name="connsiteY3-72" fmla="*/ 769478 h 1535148"/>
              <a:gd name="connsiteX4-73" fmla="*/ 390061 w 637213"/>
              <a:gd name="connsiteY4-74" fmla="*/ 1016630 h 1535148"/>
              <a:gd name="connsiteX5-75" fmla="*/ 390061 w 637213"/>
              <a:gd name="connsiteY5-76" fmla="*/ 876015 h 1535148"/>
              <a:gd name="connsiteX6-77" fmla="*/ 7620 w 637213"/>
              <a:gd name="connsiteY6-78" fmla="*/ 1535148 h 1535148"/>
              <a:gd name="connsiteX7-79" fmla="*/ 0 w 637213"/>
              <a:gd name="connsiteY7-80" fmla="*/ 0 h 1535148"/>
              <a:gd name="connsiteX0-81" fmla="*/ 0 w 637213"/>
              <a:gd name="connsiteY0-82" fmla="*/ 0 h 1535148"/>
              <a:gd name="connsiteX1-83" fmla="*/ 390061 w 637213"/>
              <a:gd name="connsiteY1-84" fmla="*/ 662940 h 1535148"/>
              <a:gd name="connsiteX2-85" fmla="*/ 390061 w 637213"/>
              <a:gd name="connsiteY2-86" fmla="*/ 522325 h 1535148"/>
              <a:gd name="connsiteX3-87" fmla="*/ 637213 w 637213"/>
              <a:gd name="connsiteY3-88" fmla="*/ 769478 h 1535148"/>
              <a:gd name="connsiteX4-89" fmla="*/ 390061 w 637213"/>
              <a:gd name="connsiteY4-90" fmla="*/ 1016630 h 1535148"/>
              <a:gd name="connsiteX5-91" fmla="*/ 390061 w 637213"/>
              <a:gd name="connsiteY5-92" fmla="*/ 876015 h 1535148"/>
              <a:gd name="connsiteX6-93" fmla="*/ 7620 w 637213"/>
              <a:gd name="connsiteY6-94" fmla="*/ 1535148 h 1535148"/>
              <a:gd name="connsiteX7-95" fmla="*/ 0 w 637213"/>
              <a:gd name="connsiteY7-96" fmla="*/ 0 h 15351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637213" h="1535148">
                <a:moveTo>
                  <a:pt x="0" y="0"/>
                </a:moveTo>
                <a:cubicBezTo>
                  <a:pt x="76680" y="461013"/>
                  <a:pt x="122881" y="613413"/>
                  <a:pt x="390061" y="662940"/>
                </a:cubicBezTo>
                <a:lnTo>
                  <a:pt x="390061" y="522325"/>
                </a:lnTo>
                <a:lnTo>
                  <a:pt x="637213" y="769478"/>
                </a:lnTo>
                <a:lnTo>
                  <a:pt x="390061" y="1016630"/>
                </a:lnTo>
                <a:lnTo>
                  <a:pt x="390061" y="876015"/>
                </a:lnTo>
                <a:cubicBezTo>
                  <a:pt x="117801" y="973809"/>
                  <a:pt x="116050" y="1147800"/>
                  <a:pt x="7620" y="1535148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FFCC66"/>
              </a:gs>
            </a:gsLst>
            <a:lin ang="0" scaled="1"/>
            <a:tileRect/>
          </a:gradFill>
          <a:ln>
            <a:gradFill flip="none" rotWithShape="1">
              <a:gsLst>
                <a:gs pos="11000">
                  <a:schemeClr val="accent1">
                    <a:lumMod val="0"/>
                    <a:lumOff val="100000"/>
                    <a:alpha val="0"/>
                  </a:schemeClr>
                </a:gs>
                <a:gs pos="67000">
                  <a:srgbClr val="FF9933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1" name="矩形 130"/>
          <p:cNvSpPr/>
          <p:nvPr/>
        </p:nvSpPr>
        <p:spPr bwMode="gray">
          <a:xfrm>
            <a:off x="10551739" y="1956949"/>
            <a:ext cx="738212" cy="208800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  <a:prstDash val="sysDot"/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粘连标签</a:t>
            </a:r>
            <a:endParaRPr lang="zh-CN" altLang="en-US" sz="1200" b="1" dirty="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3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4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2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3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SID</a:t>
            </a:r>
            <a:r>
              <a:rPr lang="zh-CN" altLang="en-US">
                <a:sym typeface="Huawei Sans" panose="020C0503030203020204" pitchFamily="34" charset="0"/>
              </a:rPr>
              <a:t>的使用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通过按序组合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前缀（节点） 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SID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邻接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SID</a:t>
            </a:r>
            <a:r>
              <a:rPr lang="zh-CN" altLang="en-US" sz="1800" dirty="0">
                <a:sym typeface="Huawei Sans" panose="020C0503030203020204" pitchFamily="34" charset="0"/>
              </a:rPr>
              <a:t>，可以构建出网络内的任何路径。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在路径中的每一跳，使用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栈顶段信息</a:t>
            </a:r>
            <a:r>
              <a:rPr lang="zh-CN" altLang="en-US" sz="1800" dirty="0">
                <a:sym typeface="Huawei Sans" panose="020C0503030203020204" pitchFamily="34" charset="0"/>
              </a:rPr>
              <a:t>区分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下一跳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段信息按照顺序堆叠在数据头的顶部。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当栈顶段信息包含另一个节点的标识时，接收节点使用</a:t>
            </a:r>
            <a:r>
              <a:rPr lang="en-US" altLang="zh-CN" sz="1800" dirty="0">
                <a:sym typeface="Huawei Sans" panose="020C0503030203020204" pitchFamily="34" charset="0"/>
              </a:rPr>
              <a:t>ECMP</a:t>
            </a:r>
            <a:r>
              <a:rPr lang="zh-CN" altLang="en-US" sz="1800" dirty="0">
                <a:sym typeface="Huawei Sans" panose="020C0503030203020204" pitchFamily="34" charset="0"/>
              </a:rPr>
              <a:t>的方式将数据包转发到下一跳。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当栈顶段信息是本节点的标识时，接收节点弹出顶部段并执行下一个段所需的任务。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实际应用中</a:t>
            </a:r>
            <a:r>
              <a:rPr lang="en-US" altLang="zh-CN" sz="1800" dirty="0">
                <a:sym typeface="Huawei Sans" panose="020C0503030203020204" pitchFamily="34" charset="0"/>
              </a:rPr>
              <a:t>Prefix Segment</a:t>
            </a:r>
            <a:r>
              <a:rPr lang="zh-CN" altLang="en-US" sz="1800" dirty="0">
                <a:sym typeface="Huawei Sans" panose="020C0503030203020204" pitchFamily="34" charset="0"/>
              </a:rPr>
              <a:t>、 </a:t>
            </a:r>
            <a:r>
              <a:rPr lang="en-US" altLang="zh-CN" sz="1800" dirty="0">
                <a:sym typeface="Huawei Sans" panose="020C0503030203020204" pitchFamily="34" charset="0"/>
              </a:rPr>
              <a:t>Adjacency Segment</a:t>
            </a:r>
            <a:r>
              <a:rPr lang="zh-CN" altLang="en-US" sz="1800" dirty="0">
                <a:sym typeface="Huawei Sans" panose="020C0503030203020204" pitchFamily="34" charset="0"/>
              </a:rPr>
              <a:t>可以单独使用，也可以结合使用。 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9" name="燕尾形 7"/>
          <p:cNvSpPr/>
          <p:nvPr/>
        </p:nvSpPr>
        <p:spPr bwMode="auto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五边形 8"/>
          <p:cNvSpPr/>
          <p:nvPr/>
        </p:nvSpPr>
        <p:spPr bwMode="auto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9"/>
          <p:cNvSpPr/>
          <p:nvPr/>
        </p:nvSpPr>
        <p:spPr bwMode="auto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10"/>
          <p:cNvSpPr/>
          <p:nvPr/>
        </p:nvSpPr>
        <p:spPr bwMode="auto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燕尾形 10"/>
          <p:cNvSpPr/>
          <p:nvPr/>
        </p:nvSpPr>
        <p:spPr bwMode="auto">
          <a:xfrm>
            <a:off x="7197447" y="102013"/>
            <a:ext cx="945252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 bwMode="gray">
          <a:xfrm>
            <a:off x="2616487" y="2014557"/>
            <a:ext cx="1032830" cy="1941018"/>
            <a:chOff x="4518703" y="2205748"/>
            <a:chExt cx="1512166" cy="2521312"/>
          </a:xfrm>
        </p:grpSpPr>
        <p:cxnSp>
          <p:nvCxnSpPr>
            <p:cNvPr id="11" name="直接连接符 10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0" name="图片 5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281736" y="2754800"/>
            <a:ext cx="540000" cy="4428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场景</a:t>
            </a:r>
            <a:r>
              <a:rPr lang="en-US" altLang="zh-CN" dirty="0">
                <a:sym typeface="Huawei Sans" panose="020C0503030203020204" pitchFamily="34" charset="0"/>
              </a:rPr>
              <a:t>1</a:t>
            </a:r>
            <a:r>
              <a:rPr lang="zh-CN" altLang="en-US">
                <a:sym typeface="Huawei Sans" panose="020C0503030203020204" pitchFamily="34" charset="0"/>
              </a:rPr>
              <a:t>：基于</a:t>
            </a:r>
            <a:r>
              <a:rPr lang="en-US" altLang="zh-CN" dirty="0">
                <a:sym typeface="Huawei Sans" panose="020C0503030203020204" pitchFamily="34" charset="0"/>
              </a:rPr>
              <a:t>Prefix Segment</a:t>
            </a:r>
            <a:r>
              <a:rPr lang="zh-CN" altLang="en-US">
                <a:sym typeface="Huawei Sans" panose="020C0503030203020204" pitchFamily="34" charset="0"/>
              </a:rPr>
              <a:t>的转发路径</a:t>
            </a:r>
            <a:endParaRPr lang="zh-CN" altLang="en-US">
              <a:sym typeface="Huawei Sans" panose="020C0503030203020204" pitchFamily="34" charset="0"/>
            </a:endParaRPr>
          </a:p>
        </p:txBody>
      </p:sp>
      <p:grpSp>
        <p:nvGrpSpPr>
          <p:cNvPr id="25" name="组合 24"/>
          <p:cNvGrpSpPr/>
          <p:nvPr/>
        </p:nvGrpSpPr>
        <p:grpSpPr bwMode="gray">
          <a:xfrm rot="5400000">
            <a:off x="8223236" y="2602091"/>
            <a:ext cx="492363" cy="765952"/>
            <a:chOff x="3769575" y="2816233"/>
            <a:chExt cx="959475" cy="2029316"/>
          </a:xfrm>
        </p:grpSpPr>
        <p:cxnSp>
          <p:nvCxnSpPr>
            <p:cNvPr id="26" name="直接连接符 25"/>
            <p:cNvCxnSpPr/>
            <p:nvPr/>
          </p:nvCxnSpPr>
          <p:spPr bwMode="gray">
            <a:xfrm flipH="1">
              <a:off x="3769575" y="2816233"/>
              <a:ext cx="959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 bwMode="gray">
            <a:xfrm flipV="1">
              <a:off x="4249312" y="2816233"/>
              <a:ext cx="0" cy="20293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 bwMode="gray">
          <a:xfrm rot="10800000">
            <a:off x="6971117" y="2014557"/>
            <a:ext cx="1032830" cy="1941018"/>
            <a:chOff x="4518703" y="2205748"/>
            <a:chExt cx="1512166" cy="2521312"/>
          </a:xfrm>
        </p:grpSpPr>
        <p:cxnSp>
          <p:nvCxnSpPr>
            <p:cNvPr id="6" name="直接连接符 5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直接连接符 12"/>
          <p:cNvCxnSpPr/>
          <p:nvPr/>
        </p:nvCxnSpPr>
        <p:spPr bwMode="gray">
          <a:xfrm flipH="1">
            <a:off x="3663034" y="1934112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 bwMode="gray">
          <a:xfrm flipH="1">
            <a:off x="3663034" y="3963428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 bwMode="gray">
          <a:xfrm>
            <a:off x="8881546" y="2615734"/>
            <a:ext cx="143500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2.2.2.2/32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b="1" dirty="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SID=100</a:t>
            </a:r>
            <a:endParaRPr lang="zh-CN" altLang="en-US" sz="1400" b="1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8151707" y="3162936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 rot="2502135">
            <a:off x="7115475" y="2130432"/>
            <a:ext cx="7441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</a:t>
            </a:r>
            <a:endParaRPr lang="zh-CN" altLang="en-US" sz="140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5519003" y="1636416"/>
            <a:ext cx="7441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</a:t>
            </a:r>
            <a:endParaRPr lang="zh-CN" altLang="en-US" sz="140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矩形 31"/>
          <p:cNvSpPr/>
          <p:nvPr/>
        </p:nvSpPr>
        <p:spPr bwMode="gray">
          <a:xfrm>
            <a:off x="3873995" y="1636416"/>
            <a:ext cx="7441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</a:t>
            </a:r>
            <a:endParaRPr lang="zh-CN" altLang="en-US" sz="140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 rot="19059545">
            <a:off x="2543488" y="2359117"/>
            <a:ext cx="7441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</a:t>
            </a:r>
            <a:endParaRPr lang="zh-CN" altLang="en-US" sz="140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 rot="18969139">
            <a:off x="7106775" y="3490246"/>
            <a:ext cx="8451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Cost=10</a:t>
            </a:r>
            <a:endParaRPr lang="zh-CN" altLang="en-US" sz="140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 bwMode="gray">
          <a:xfrm>
            <a:off x="5534109" y="3934476"/>
            <a:ext cx="8451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Cost=10</a:t>
            </a:r>
            <a:endParaRPr lang="zh-CN" altLang="en-US" sz="140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3878670" y="3934476"/>
            <a:ext cx="8451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Cost=10</a:t>
            </a:r>
            <a:endParaRPr lang="zh-CN" altLang="en-US" sz="140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 rot="2677015">
            <a:off x="2492995" y="3324488"/>
            <a:ext cx="8451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Cost=10</a:t>
            </a:r>
            <a:endParaRPr lang="zh-CN" altLang="en-US" sz="140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1875446" y="2831176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任意多边形 39"/>
          <p:cNvSpPr/>
          <p:nvPr/>
        </p:nvSpPr>
        <p:spPr bwMode="gray">
          <a:xfrm>
            <a:off x="2310888" y="2254898"/>
            <a:ext cx="5849470" cy="591671"/>
          </a:xfrm>
          <a:custGeom>
            <a:avLst/>
            <a:gdLst>
              <a:gd name="connsiteX0" fmla="*/ 0 w 5849470"/>
              <a:gd name="connsiteY0" fmla="*/ 591671 h 591671"/>
              <a:gd name="connsiteX1" fmla="*/ 793376 w 5849470"/>
              <a:gd name="connsiteY1" fmla="*/ 591671 h 591671"/>
              <a:gd name="connsiteX2" fmla="*/ 1385047 w 5849470"/>
              <a:gd name="connsiteY2" fmla="*/ 0 h 591671"/>
              <a:gd name="connsiteX3" fmla="*/ 4652682 w 5849470"/>
              <a:gd name="connsiteY3" fmla="*/ 0 h 591671"/>
              <a:gd name="connsiteX4" fmla="*/ 5109882 w 5849470"/>
              <a:gd name="connsiteY4" fmla="*/ 416859 h 591671"/>
              <a:gd name="connsiteX5" fmla="*/ 5849470 w 5849470"/>
              <a:gd name="connsiteY5" fmla="*/ 416859 h 59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49470" h="591671">
                <a:moveTo>
                  <a:pt x="0" y="591671"/>
                </a:moveTo>
                <a:lnTo>
                  <a:pt x="793376" y="591671"/>
                </a:lnTo>
                <a:lnTo>
                  <a:pt x="1385047" y="0"/>
                </a:lnTo>
                <a:lnTo>
                  <a:pt x="4652682" y="0"/>
                </a:lnTo>
                <a:lnTo>
                  <a:pt x="5109882" y="416859"/>
                </a:lnTo>
                <a:lnTo>
                  <a:pt x="5849470" y="416859"/>
                </a:lnTo>
              </a:path>
            </a:pathLst>
          </a:custGeom>
          <a:noFill/>
          <a:ln w="38100">
            <a:solidFill>
              <a:srgbClr val="FF993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541929" y="4621207"/>
            <a:ext cx="91081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基于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Segment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的转发路径是由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通过最短路径算法（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SPF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）计算得出。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42900" indent="-342900">
              <a:lnSpc>
                <a:spcPts val="2400"/>
              </a:lnSpc>
              <a:buFont typeface="+mj-lt"/>
              <a:buAutoNum type="arabicPeriod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扩散之后，整个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域的所有设备学习到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42900" indent="-342900">
              <a:lnSpc>
                <a:spcPts val="2400"/>
              </a:lnSpc>
              <a:buFont typeface="+mj-lt"/>
              <a:buAutoNum type="arabicPeriod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以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为例（其他设备类似），它通过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SPF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算法计算出一条到达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的最短路径。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矩形 44"/>
          <p:cNvSpPr/>
          <p:nvPr/>
        </p:nvSpPr>
        <p:spPr bwMode="gray">
          <a:xfrm>
            <a:off x="5260473" y="2480298"/>
            <a:ext cx="13500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</a:t>
            </a:r>
            <a:r>
              <a:rPr lang="zh-CN" altLang="en-US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最小路径</a:t>
            </a:r>
            <a:endParaRPr lang="zh-CN" altLang="en-US" sz="1400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矩形 46"/>
          <p:cNvSpPr/>
          <p:nvPr/>
        </p:nvSpPr>
        <p:spPr bwMode="gray">
          <a:xfrm>
            <a:off x="751296" y="5854150"/>
            <a:ext cx="10689408" cy="3385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基于</a:t>
            </a:r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Segment</a:t>
            </a:r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的转发路径并</a:t>
            </a:r>
            <a:r>
              <a:rPr lang="zh-CN" altLang="en-US" sz="1600" dirty="0">
                <a:solidFill>
                  <a:srgbClr val="92D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不是一条固定路径</a:t>
            </a:r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，头节点也</a:t>
            </a:r>
            <a:r>
              <a:rPr lang="zh-CN" altLang="en-US" sz="1600" dirty="0">
                <a:solidFill>
                  <a:srgbClr val="92D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无法控制报文的整条转发路径</a:t>
            </a:r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7" name="图片 5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00548" y="3767366"/>
            <a:ext cx="540000" cy="442800"/>
          </a:xfrm>
          <a:prstGeom prst="rect">
            <a:avLst/>
          </a:prstGeom>
        </p:spPr>
      </p:pic>
      <p:pic>
        <p:nvPicPr>
          <p:cNvPr id="58" name="图片 5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48400" y="3767366"/>
            <a:ext cx="540000" cy="442800"/>
          </a:xfrm>
          <a:prstGeom prst="rect">
            <a:avLst/>
          </a:prstGeom>
        </p:spPr>
      </p:pic>
      <p:pic>
        <p:nvPicPr>
          <p:cNvPr id="59" name="图片 5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696251" y="3767366"/>
            <a:ext cx="540000" cy="442800"/>
          </a:xfrm>
          <a:prstGeom prst="rect">
            <a:avLst/>
          </a:prstGeom>
        </p:spPr>
      </p:pic>
      <p:pic>
        <p:nvPicPr>
          <p:cNvPr id="61" name="图片 6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801887" y="2754800"/>
            <a:ext cx="540000" cy="442800"/>
          </a:xfrm>
          <a:prstGeom prst="rect">
            <a:avLst/>
          </a:prstGeom>
        </p:spPr>
      </p:pic>
      <p:pic>
        <p:nvPicPr>
          <p:cNvPr id="62" name="图片 6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00548" y="1742235"/>
            <a:ext cx="540000" cy="442800"/>
          </a:xfrm>
          <a:prstGeom prst="rect">
            <a:avLst/>
          </a:prstGeom>
        </p:spPr>
      </p:pic>
      <p:pic>
        <p:nvPicPr>
          <p:cNvPr id="63" name="图片 6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48400" y="1742235"/>
            <a:ext cx="540000" cy="442800"/>
          </a:xfrm>
          <a:prstGeom prst="rect">
            <a:avLst/>
          </a:prstGeom>
        </p:spPr>
      </p:pic>
      <p:pic>
        <p:nvPicPr>
          <p:cNvPr id="64" name="图片 6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696251" y="1742235"/>
            <a:ext cx="540000" cy="442800"/>
          </a:xfrm>
          <a:prstGeom prst="rect">
            <a:avLst/>
          </a:prstGeom>
        </p:spPr>
      </p:pic>
      <p:sp>
        <p:nvSpPr>
          <p:cNvPr id="49" name="矩形 48"/>
          <p:cNvSpPr/>
          <p:nvPr/>
        </p:nvSpPr>
        <p:spPr bwMode="gray">
          <a:xfrm>
            <a:off x="1893742" y="2452100"/>
            <a:ext cx="640251" cy="215444"/>
          </a:xfrm>
          <a:prstGeom prst="rect">
            <a:avLst/>
          </a:prstGeom>
          <a:solidFill>
            <a:srgbClr val="FF9933"/>
          </a:solidFill>
          <a:ln w="19050">
            <a:solidFill>
              <a:srgbClr val="FF99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场景</a:t>
            </a:r>
            <a:r>
              <a:rPr lang="en-US" altLang="zh-CN" dirty="0">
                <a:sym typeface="Huawei Sans" panose="020C0503030203020204" pitchFamily="34" charset="0"/>
              </a:rPr>
              <a:t>2</a:t>
            </a:r>
            <a:r>
              <a:rPr lang="zh-CN" altLang="en-US">
                <a:sym typeface="Huawei Sans" panose="020C0503030203020204" pitchFamily="34" charset="0"/>
              </a:rPr>
              <a:t>：基于</a:t>
            </a:r>
            <a:r>
              <a:rPr lang="en-US" altLang="zh-CN" dirty="0">
                <a:sym typeface="Huawei Sans" panose="020C0503030203020204" pitchFamily="34" charset="0"/>
              </a:rPr>
              <a:t>Adjacency Segment</a:t>
            </a:r>
            <a:r>
              <a:rPr lang="zh-CN" altLang="en-US">
                <a:sym typeface="Huawei Sans" panose="020C0503030203020204" pitchFamily="34" charset="0"/>
              </a:rPr>
              <a:t>的转发路径</a:t>
            </a:r>
            <a:endParaRPr lang="zh-CN" altLang="en-US">
              <a:sym typeface="Huawei Sans" panose="020C0503030203020204" pitchFamily="34" charset="0"/>
            </a:endParaRPr>
          </a:p>
        </p:txBody>
      </p:sp>
      <p:grpSp>
        <p:nvGrpSpPr>
          <p:cNvPr id="25" name="组合 24"/>
          <p:cNvGrpSpPr/>
          <p:nvPr/>
        </p:nvGrpSpPr>
        <p:grpSpPr bwMode="gray">
          <a:xfrm rot="5400000">
            <a:off x="8223236" y="2951287"/>
            <a:ext cx="492363" cy="765952"/>
            <a:chOff x="3769575" y="2816233"/>
            <a:chExt cx="959475" cy="2029316"/>
          </a:xfrm>
        </p:grpSpPr>
        <p:cxnSp>
          <p:nvCxnSpPr>
            <p:cNvPr id="26" name="直接连接符 25"/>
            <p:cNvCxnSpPr/>
            <p:nvPr/>
          </p:nvCxnSpPr>
          <p:spPr bwMode="gray">
            <a:xfrm flipH="1">
              <a:off x="3769575" y="2816233"/>
              <a:ext cx="959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 bwMode="gray">
            <a:xfrm flipV="1">
              <a:off x="4249312" y="2816233"/>
              <a:ext cx="0" cy="20293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 bwMode="gray">
          <a:xfrm rot="10800000">
            <a:off x="6971117" y="2363753"/>
            <a:ext cx="1032830" cy="1941018"/>
            <a:chOff x="4518703" y="2205748"/>
            <a:chExt cx="1512166" cy="2521312"/>
          </a:xfrm>
        </p:grpSpPr>
        <p:cxnSp>
          <p:nvCxnSpPr>
            <p:cNvPr id="6" name="直接连接符 5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 bwMode="gray">
          <a:xfrm>
            <a:off x="2616487" y="2363753"/>
            <a:ext cx="1032830" cy="1941018"/>
            <a:chOff x="4518703" y="2205748"/>
            <a:chExt cx="1512166" cy="2521312"/>
          </a:xfrm>
        </p:grpSpPr>
        <p:cxnSp>
          <p:nvCxnSpPr>
            <p:cNvPr id="11" name="直接连接符 10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直接连接符 12"/>
          <p:cNvCxnSpPr/>
          <p:nvPr/>
        </p:nvCxnSpPr>
        <p:spPr bwMode="gray">
          <a:xfrm flipH="1">
            <a:off x="3663034" y="2283308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 bwMode="gray">
          <a:xfrm flipH="1">
            <a:off x="3663034" y="4312624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 bwMode="gray">
          <a:xfrm>
            <a:off x="8881546" y="2964930"/>
            <a:ext cx="10599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2.2.2.2/32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8151707" y="3509994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矩形 31"/>
          <p:cNvSpPr/>
          <p:nvPr/>
        </p:nvSpPr>
        <p:spPr bwMode="gray">
          <a:xfrm>
            <a:off x="4179012" y="2291161"/>
            <a:ext cx="601447" cy="307777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1875446" y="3180372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541929" y="4963497"/>
            <a:ext cx="91081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通过给网络中每个邻接分配一个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Adjacency Segment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，然后在头节点定义一个包含多个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Adjacency Segment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List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矩形 46"/>
          <p:cNvSpPr/>
          <p:nvPr/>
        </p:nvSpPr>
        <p:spPr bwMode="gray">
          <a:xfrm>
            <a:off x="751296" y="5847910"/>
            <a:ext cx="10435260" cy="3385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通过这种方式可以严格指定任意一条显式路径（</a:t>
            </a:r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Strict Explicit</a:t>
            </a:r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），可更好的配合实现</a:t>
            </a:r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SDN</a:t>
            </a:r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9" name="直接连接符 38"/>
          <p:cNvCxnSpPr/>
          <p:nvPr/>
        </p:nvCxnSpPr>
        <p:spPr bwMode="gray">
          <a:xfrm flipV="1">
            <a:off x="5330806" y="2517427"/>
            <a:ext cx="0" cy="16413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 bwMode="gray">
          <a:xfrm>
            <a:off x="5333998" y="3132054"/>
            <a:ext cx="601447" cy="307777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1034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矩形 47"/>
          <p:cNvSpPr/>
          <p:nvPr/>
        </p:nvSpPr>
        <p:spPr bwMode="gray">
          <a:xfrm>
            <a:off x="5851610" y="4312624"/>
            <a:ext cx="601447" cy="307777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1056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矩形 48"/>
          <p:cNvSpPr/>
          <p:nvPr/>
        </p:nvSpPr>
        <p:spPr bwMode="gray">
          <a:xfrm rot="19038402">
            <a:off x="7314068" y="3805289"/>
            <a:ext cx="601447" cy="307777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1078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0" name="直接连接符 49"/>
          <p:cNvCxnSpPr/>
          <p:nvPr/>
        </p:nvCxnSpPr>
        <p:spPr bwMode="gray">
          <a:xfrm rot="16200000">
            <a:off x="2466132" y="2319352"/>
            <a:ext cx="729158" cy="775980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 bwMode="gray">
          <a:xfrm>
            <a:off x="2054952" y="1954390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1023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2054952" y="2170750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1034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矩形 57"/>
          <p:cNvSpPr/>
          <p:nvPr/>
        </p:nvSpPr>
        <p:spPr bwMode="gray">
          <a:xfrm>
            <a:off x="2054952" y="2387110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1056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矩形 58"/>
          <p:cNvSpPr/>
          <p:nvPr/>
        </p:nvSpPr>
        <p:spPr bwMode="gray">
          <a:xfrm>
            <a:off x="2054952" y="2603470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1078</a:t>
            </a:r>
            <a:endParaRPr lang="zh-CN" altLang="en-US" sz="1400" b="1" dirty="0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0" name="直接连接符 59"/>
          <p:cNvCxnSpPr/>
          <p:nvPr/>
        </p:nvCxnSpPr>
        <p:spPr bwMode="gray">
          <a:xfrm>
            <a:off x="3929019" y="2160588"/>
            <a:ext cx="1108750" cy="0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 bwMode="gray">
          <a:xfrm>
            <a:off x="3936303" y="1408125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1034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62"/>
          <p:cNvSpPr/>
          <p:nvPr/>
        </p:nvSpPr>
        <p:spPr bwMode="gray">
          <a:xfrm>
            <a:off x="3936303" y="1624485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1056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3936303" y="1840845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1078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5" name="直接连接符 64"/>
          <p:cNvCxnSpPr/>
          <p:nvPr/>
        </p:nvCxnSpPr>
        <p:spPr bwMode="gray">
          <a:xfrm>
            <a:off x="5159896" y="2558594"/>
            <a:ext cx="0" cy="1260923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 bwMode="gray">
          <a:xfrm>
            <a:off x="4406389" y="3058415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1056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4406389" y="3274775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1078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 bwMode="gray">
          <a:xfrm>
            <a:off x="5587501" y="4158819"/>
            <a:ext cx="1108750" cy="0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 bwMode="gray">
          <a:xfrm>
            <a:off x="5596083" y="3825801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1078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1" name="直接连接符 70"/>
          <p:cNvCxnSpPr/>
          <p:nvPr/>
        </p:nvCxnSpPr>
        <p:spPr bwMode="gray">
          <a:xfrm flipV="1">
            <a:off x="6977692" y="3436106"/>
            <a:ext cx="637099" cy="605139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图片 7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296055" y="3095626"/>
            <a:ext cx="540000" cy="442800"/>
          </a:xfrm>
          <a:prstGeom prst="rect">
            <a:avLst/>
          </a:prstGeom>
        </p:spPr>
      </p:pic>
      <p:pic>
        <p:nvPicPr>
          <p:cNvPr id="74" name="图片 7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14867" y="4108192"/>
            <a:ext cx="540000" cy="442800"/>
          </a:xfrm>
          <a:prstGeom prst="rect">
            <a:avLst/>
          </a:prstGeom>
        </p:spPr>
      </p:pic>
      <p:pic>
        <p:nvPicPr>
          <p:cNvPr id="75" name="图片 7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62719" y="4108192"/>
            <a:ext cx="540000" cy="442800"/>
          </a:xfrm>
          <a:prstGeom prst="rect">
            <a:avLst/>
          </a:prstGeom>
        </p:spPr>
      </p:pic>
      <p:pic>
        <p:nvPicPr>
          <p:cNvPr id="76" name="图片 7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710570" y="4108192"/>
            <a:ext cx="540000" cy="442800"/>
          </a:xfrm>
          <a:prstGeom prst="rect">
            <a:avLst/>
          </a:prstGeom>
        </p:spPr>
      </p:pic>
      <p:pic>
        <p:nvPicPr>
          <p:cNvPr id="77" name="图片 7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816206" y="3095626"/>
            <a:ext cx="540000" cy="442800"/>
          </a:xfrm>
          <a:prstGeom prst="rect">
            <a:avLst/>
          </a:prstGeom>
        </p:spPr>
      </p:pic>
      <p:pic>
        <p:nvPicPr>
          <p:cNvPr id="78" name="图片 7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14867" y="2083061"/>
            <a:ext cx="540000" cy="442800"/>
          </a:xfrm>
          <a:prstGeom prst="rect">
            <a:avLst/>
          </a:prstGeom>
        </p:spPr>
      </p:pic>
      <p:pic>
        <p:nvPicPr>
          <p:cNvPr id="79" name="图片 7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62719" y="2083061"/>
            <a:ext cx="540000" cy="442800"/>
          </a:xfrm>
          <a:prstGeom prst="rect">
            <a:avLst/>
          </a:prstGeom>
        </p:spPr>
      </p:pic>
      <p:pic>
        <p:nvPicPr>
          <p:cNvPr id="80" name="图片 7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710570" y="2083061"/>
            <a:ext cx="540000" cy="442800"/>
          </a:xfrm>
          <a:prstGeom prst="rect">
            <a:avLst/>
          </a:prstGeom>
        </p:spPr>
      </p:pic>
      <p:sp>
        <p:nvSpPr>
          <p:cNvPr id="61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 bwMode="gray">
          <a:xfrm flipV="1">
            <a:off x="5330806" y="2450045"/>
            <a:ext cx="0" cy="18055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场景</a:t>
            </a:r>
            <a:r>
              <a:rPr lang="en-US" altLang="zh-CN" dirty="0">
                <a:sym typeface="Huawei Sans" panose="020C0503030203020204" pitchFamily="34" charset="0"/>
              </a:rPr>
              <a:t>3</a:t>
            </a:r>
            <a:r>
              <a:rPr lang="zh-CN" altLang="en-US">
                <a:sym typeface="Huawei Sans" panose="020C0503030203020204" pitchFamily="34" charset="0"/>
              </a:rPr>
              <a:t>：基于</a:t>
            </a:r>
            <a:r>
              <a:rPr lang="en-US" altLang="zh-CN" dirty="0">
                <a:sym typeface="Huawei Sans" panose="020C0503030203020204" pitchFamily="34" charset="0"/>
              </a:rPr>
              <a:t>Adjacency Segment + Node Segment</a:t>
            </a:r>
            <a:r>
              <a:rPr lang="zh-CN" altLang="en-US">
                <a:sym typeface="Huawei Sans" panose="020C0503030203020204" pitchFamily="34" charset="0"/>
              </a:rPr>
              <a:t>的转发路径</a:t>
            </a:r>
            <a:endParaRPr lang="zh-CN" altLang="en-US">
              <a:sym typeface="Huawei Sans" panose="020C0503030203020204" pitchFamily="34" charset="0"/>
            </a:endParaRPr>
          </a:p>
        </p:txBody>
      </p:sp>
      <p:grpSp>
        <p:nvGrpSpPr>
          <p:cNvPr id="25" name="组合 24"/>
          <p:cNvGrpSpPr/>
          <p:nvPr/>
        </p:nvGrpSpPr>
        <p:grpSpPr bwMode="gray">
          <a:xfrm rot="5400000">
            <a:off x="8223236" y="2979421"/>
            <a:ext cx="492363" cy="765952"/>
            <a:chOff x="3769575" y="2816233"/>
            <a:chExt cx="959475" cy="2029316"/>
          </a:xfrm>
        </p:grpSpPr>
        <p:cxnSp>
          <p:nvCxnSpPr>
            <p:cNvPr id="26" name="直接连接符 25"/>
            <p:cNvCxnSpPr/>
            <p:nvPr/>
          </p:nvCxnSpPr>
          <p:spPr bwMode="gray">
            <a:xfrm flipH="1">
              <a:off x="3769575" y="2816233"/>
              <a:ext cx="959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 bwMode="gray">
            <a:xfrm flipV="1">
              <a:off x="4249312" y="2816233"/>
              <a:ext cx="0" cy="20293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 bwMode="gray">
          <a:xfrm rot="10800000">
            <a:off x="6971117" y="2391887"/>
            <a:ext cx="1032830" cy="1941018"/>
            <a:chOff x="4518703" y="2205748"/>
            <a:chExt cx="1512166" cy="2521312"/>
          </a:xfrm>
        </p:grpSpPr>
        <p:cxnSp>
          <p:nvCxnSpPr>
            <p:cNvPr id="6" name="直接连接符 5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 bwMode="gray">
          <a:xfrm>
            <a:off x="2616487" y="2391887"/>
            <a:ext cx="1032830" cy="1941018"/>
            <a:chOff x="4518703" y="2205748"/>
            <a:chExt cx="1512166" cy="2521312"/>
          </a:xfrm>
        </p:grpSpPr>
        <p:cxnSp>
          <p:nvCxnSpPr>
            <p:cNvPr id="11" name="直接连接符 10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直接连接符 12"/>
          <p:cNvCxnSpPr/>
          <p:nvPr/>
        </p:nvCxnSpPr>
        <p:spPr bwMode="gray">
          <a:xfrm flipH="1">
            <a:off x="3663034" y="2311442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 bwMode="gray">
          <a:xfrm flipH="1">
            <a:off x="3663034" y="4340758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 bwMode="gray">
          <a:xfrm>
            <a:off x="8151707" y="3538128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矩形 31"/>
          <p:cNvSpPr/>
          <p:nvPr/>
        </p:nvSpPr>
        <p:spPr bwMode="gray">
          <a:xfrm>
            <a:off x="4179012" y="2319295"/>
            <a:ext cx="601447" cy="307777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1875446" y="3208506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541929" y="4991631"/>
            <a:ext cx="91081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Adjacency Segment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Node Segment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结合，通过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Adjacency Segment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，可以强制整条路径包含某一个邻接。而对于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Node Segment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，节点可以使用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SPF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算法计算最短路径，也可以负载分担。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矩形 46"/>
          <p:cNvSpPr/>
          <p:nvPr/>
        </p:nvSpPr>
        <p:spPr bwMode="gray">
          <a:xfrm>
            <a:off x="751296" y="5805023"/>
            <a:ext cx="10689408" cy="3385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这种方式的路径并不是严格固定，所以也称作松散路径（</a:t>
            </a:r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Loose Explicit</a:t>
            </a:r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）。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矩形 42"/>
          <p:cNvSpPr/>
          <p:nvPr/>
        </p:nvSpPr>
        <p:spPr bwMode="gray">
          <a:xfrm>
            <a:off x="5333998" y="3160188"/>
            <a:ext cx="601447" cy="307777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1034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0" name="直接连接符 49"/>
          <p:cNvCxnSpPr/>
          <p:nvPr/>
        </p:nvCxnSpPr>
        <p:spPr bwMode="gray">
          <a:xfrm rot="16200000">
            <a:off x="2480200" y="2347486"/>
            <a:ext cx="729158" cy="775980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 bwMode="gray">
          <a:xfrm>
            <a:off x="2181563" y="2198884"/>
            <a:ext cx="640251" cy="215444"/>
          </a:xfrm>
          <a:prstGeom prst="rect">
            <a:avLst/>
          </a:prstGeom>
          <a:solidFill>
            <a:srgbClr val="FF0066"/>
          </a:solidFill>
          <a:ln w="19050">
            <a:solidFill>
              <a:srgbClr val="FF0000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101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矩形 57"/>
          <p:cNvSpPr/>
          <p:nvPr/>
        </p:nvSpPr>
        <p:spPr bwMode="gray">
          <a:xfrm>
            <a:off x="2181563" y="2415244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1034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矩形 58"/>
          <p:cNvSpPr/>
          <p:nvPr/>
        </p:nvSpPr>
        <p:spPr bwMode="gray">
          <a:xfrm>
            <a:off x="2181563" y="2631604"/>
            <a:ext cx="640251" cy="215444"/>
          </a:xfrm>
          <a:prstGeom prst="rect">
            <a:avLst/>
          </a:prstGeom>
          <a:solidFill>
            <a:srgbClr val="FFFFCC"/>
          </a:solidFill>
          <a:ln w="19050">
            <a:solidFill>
              <a:srgbClr val="FF99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FFC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zh-CN" altLang="en-US" sz="1400" b="1">
              <a:solidFill>
                <a:srgbClr val="FFC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0" name="直接连接符 59"/>
          <p:cNvCxnSpPr/>
          <p:nvPr/>
        </p:nvCxnSpPr>
        <p:spPr bwMode="gray">
          <a:xfrm>
            <a:off x="3929019" y="2090246"/>
            <a:ext cx="1108750" cy="0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 bwMode="gray">
          <a:xfrm>
            <a:off x="3936303" y="1554143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1034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3936303" y="1770503"/>
            <a:ext cx="640251" cy="215444"/>
          </a:xfrm>
          <a:prstGeom prst="rect">
            <a:avLst/>
          </a:prstGeom>
          <a:solidFill>
            <a:srgbClr val="FFFFCC"/>
          </a:solidFill>
          <a:ln w="19050">
            <a:solidFill>
              <a:srgbClr val="FF99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FFC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zh-CN" altLang="en-US" sz="1400" b="1">
              <a:solidFill>
                <a:srgbClr val="FFC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5" name="直接连接符 64"/>
          <p:cNvCxnSpPr/>
          <p:nvPr/>
        </p:nvCxnSpPr>
        <p:spPr bwMode="gray">
          <a:xfrm>
            <a:off x="5159896" y="2586728"/>
            <a:ext cx="0" cy="1260923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 bwMode="gray">
          <a:xfrm>
            <a:off x="4406389" y="3302909"/>
            <a:ext cx="640251" cy="215444"/>
          </a:xfrm>
          <a:prstGeom prst="rect">
            <a:avLst/>
          </a:prstGeom>
          <a:solidFill>
            <a:srgbClr val="FFFFCC"/>
          </a:solidFill>
          <a:ln w="19050">
            <a:solidFill>
              <a:srgbClr val="FF99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FFC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zh-CN" altLang="en-US" sz="1400" b="1">
              <a:solidFill>
                <a:srgbClr val="FFC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 bwMode="gray">
          <a:xfrm>
            <a:off x="5587501" y="4186953"/>
            <a:ext cx="1108750" cy="0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 bwMode="gray">
          <a:xfrm>
            <a:off x="5596083" y="3853935"/>
            <a:ext cx="640251" cy="215444"/>
          </a:xfrm>
          <a:prstGeom prst="rect">
            <a:avLst/>
          </a:prstGeom>
          <a:solidFill>
            <a:srgbClr val="FFFFCC"/>
          </a:solidFill>
          <a:ln w="19050">
            <a:solidFill>
              <a:srgbClr val="FF99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FFC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zh-CN" altLang="en-US" sz="1400" b="1">
              <a:solidFill>
                <a:srgbClr val="FFC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1" name="直接连接符 70"/>
          <p:cNvCxnSpPr/>
          <p:nvPr/>
        </p:nvCxnSpPr>
        <p:spPr bwMode="gray">
          <a:xfrm flipV="1">
            <a:off x="6977692" y="3464240"/>
            <a:ext cx="637099" cy="605139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 bwMode="gray">
          <a:xfrm>
            <a:off x="8881546" y="2982479"/>
            <a:ext cx="143500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2.2.2.2/32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SID=100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矩形 51"/>
          <p:cNvSpPr/>
          <p:nvPr/>
        </p:nvSpPr>
        <p:spPr bwMode="gray">
          <a:xfrm>
            <a:off x="5159896" y="1798576"/>
            <a:ext cx="14045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Node SID=101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矩形 53"/>
          <p:cNvSpPr/>
          <p:nvPr/>
        </p:nvSpPr>
        <p:spPr bwMode="gray">
          <a:xfrm>
            <a:off x="3936303" y="1338894"/>
            <a:ext cx="640251" cy="215444"/>
          </a:xfrm>
          <a:prstGeom prst="rect">
            <a:avLst/>
          </a:prstGeom>
          <a:solidFill>
            <a:srgbClr val="FF0066"/>
          </a:solidFill>
          <a:ln w="19050">
            <a:solidFill>
              <a:srgbClr val="FF0000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101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5" name="图片 4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296055" y="3123760"/>
            <a:ext cx="540000" cy="442800"/>
          </a:xfrm>
          <a:prstGeom prst="rect">
            <a:avLst/>
          </a:prstGeom>
        </p:spPr>
      </p:pic>
      <p:pic>
        <p:nvPicPr>
          <p:cNvPr id="46" name="图片 4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14867" y="4136326"/>
            <a:ext cx="540000" cy="442800"/>
          </a:xfrm>
          <a:prstGeom prst="rect">
            <a:avLst/>
          </a:prstGeom>
        </p:spPr>
      </p:pic>
      <p:pic>
        <p:nvPicPr>
          <p:cNvPr id="48" name="图片 4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62719" y="4136326"/>
            <a:ext cx="540000" cy="442800"/>
          </a:xfrm>
          <a:prstGeom prst="rect">
            <a:avLst/>
          </a:prstGeom>
        </p:spPr>
      </p:pic>
      <p:pic>
        <p:nvPicPr>
          <p:cNvPr id="49" name="图片 4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710570" y="4136326"/>
            <a:ext cx="540000" cy="442800"/>
          </a:xfrm>
          <a:prstGeom prst="rect">
            <a:avLst/>
          </a:prstGeom>
        </p:spPr>
      </p:pic>
      <p:pic>
        <p:nvPicPr>
          <p:cNvPr id="53" name="图片 5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816206" y="3123760"/>
            <a:ext cx="540000" cy="442800"/>
          </a:xfrm>
          <a:prstGeom prst="rect">
            <a:avLst/>
          </a:prstGeom>
        </p:spPr>
      </p:pic>
      <p:pic>
        <p:nvPicPr>
          <p:cNvPr id="55" name="图片 5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14867" y="2111195"/>
            <a:ext cx="540000" cy="442800"/>
          </a:xfrm>
          <a:prstGeom prst="rect">
            <a:avLst/>
          </a:prstGeom>
        </p:spPr>
      </p:pic>
      <p:pic>
        <p:nvPicPr>
          <p:cNvPr id="56" name="图片 5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62719" y="2111195"/>
            <a:ext cx="540000" cy="442800"/>
          </a:xfrm>
          <a:prstGeom prst="rect">
            <a:avLst/>
          </a:prstGeom>
        </p:spPr>
      </p:pic>
      <p:pic>
        <p:nvPicPr>
          <p:cNvPr id="61" name="图片 6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710570" y="2111195"/>
            <a:ext cx="540000" cy="442800"/>
          </a:xfrm>
          <a:prstGeom prst="rect">
            <a:avLst/>
          </a:prstGeom>
        </p:spPr>
      </p:pic>
      <p:sp>
        <p:nvSpPr>
          <p:cNvPr id="74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SR-MPLS BE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92221" y="2379892"/>
            <a:ext cx="540000" cy="44280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92221" y="4309311"/>
            <a:ext cx="540000" cy="44280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864429" y="2379892"/>
            <a:ext cx="540000" cy="44280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864429" y="4309311"/>
            <a:ext cx="540000" cy="442800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36637" y="2379892"/>
            <a:ext cx="540000" cy="442800"/>
          </a:xfrm>
          <a:prstGeom prst="rect">
            <a:avLst/>
          </a:prstGeom>
        </p:spPr>
      </p:pic>
      <p:cxnSp>
        <p:nvCxnSpPr>
          <p:cNvPr id="16" name="直接连接符 15"/>
          <p:cNvCxnSpPr>
            <a:stCxn id="5" idx="3"/>
            <a:endCxn id="8" idx="1"/>
          </p:cNvCxnSpPr>
          <p:nvPr/>
        </p:nvCxnSpPr>
        <p:spPr bwMode="gray">
          <a:xfrm>
            <a:off x="1532221" y="2601292"/>
            <a:ext cx="13322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6" idx="3"/>
            <a:endCxn id="9" idx="1"/>
          </p:cNvCxnSpPr>
          <p:nvPr/>
        </p:nvCxnSpPr>
        <p:spPr bwMode="gray">
          <a:xfrm>
            <a:off x="1532221" y="4530711"/>
            <a:ext cx="13322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5" idx="2"/>
            <a:endCxn id="6" idx="0"/>
          </p:cNvCxnSpPr>
          <p:nvPr/>
        </p:nvCxnSpPr>
        <p:spPr bwMode="gray">
          <a:xfrm>
            <a:off x="1262221" y="2822692"/>
            <a:ext cx="0" cy="14866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8" idx="2"/>
            <a:endCxn id="9" idx="0"/>
          </p:cNvCxnSpPr>
          <p:nvPr/>
        </p:nvCxnSpPr>
        <p:spPr bwMode="gray">
          <a:xfrm>
            <a:off x="3134429" y="2822692"/>
            <a:ext cx="0" cy="14866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8" idx="3"/>
            <a:endCxn id="11" idx="1"/>
          </p:cNvCxnSpPr>
          <p:nvPr/>
        </p:nvCxnSpPr>
        <p:spPr bwMode="gray">
          <a:xfrm>
            <a:off x="3404429" y="2601292"/>
            <a:ext cx="13322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9" idx="3"/>
            <a:endCxn id="88" idx="1"/>
          </p:cNvCxnSpPr>
          <p:nvPr/>
        </p:nvCxnSpPr>
        <p:spPr bwMode="gray">
          <a:xfrm>
            <a:off x="3404429" y="4530711"/>
            <a:ext cx="13322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11" idx="2"/>
          </p:cNvCxnSpPr>
          <p:nvPr/>
        </p:nvCxnSpPr>
        <p:spPr bwMode="gray">
          <a:xfrm>
            <a:off x="5006637" y="2822692"/>
            <a:ext cx="0" cy="28370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 bwMode="gray">
          <a:xfrm>
            <a:off x="1055273" y="4813367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矩形 52"/>
          <p:cNvSpPr/>
          <p:nvPr/>
        </p:nvSpPr>
        <p:spPr bwMode="gray">
          <a:xfrm>
            <a:off x="2933030" y="4813367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矩形 57"/>
          <p:cNvSpPr/>
          <p:nvPr/>
        </p:nvSpPr>
        <p:spPr bwMode="gray">
          <a:xfrm>
            <a:off x="1055273" y="2052579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矩形 58"/>
          <p:cNvSpPr/>
          <p:nvPr/>
        </p:nvSpPr>
        <p:spPr bwMode="gray">
          <a:xfrm>
            <a:off x="2933030" y="2052579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矩形 59"/>
          <p:cNvSpPr/>
          <p:nvPr/>
        </p:nvSpPr>
        <p:spPr bwMode="gray">
          <a:xfrm>
            <a:off x="4799689" y="2052579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圆角矩形 62"/>
          <p:cNvSpPr/>
          <p:nvPr/>
        </p:nvSpPr>
        <p:spPr bwMode="gray">
          <a:xfrm>
            <a:off x="6096000" y="2297034"/>
            <a:ext cx="5547089" cy="400674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圆角矩形 63"/>
          <p:cNvSpPr/>
          <p:nvPr/>
        </p:nvSpPr>
        <p:spPr bwMode="gray">
          <a:xfrm>
            <a:off x="6096000" y="2806076"/>
            <a:ext cx="5547089" cy="2167981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来指导设备基于最短路径进行数据转发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，这种工作机制称为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Best Effort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例如在本例中使用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Node SID 606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可以指导数据沿着去往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的最短路径来转发数据，该最短路径是基于路由协议计算得出的，并且支持等价路径。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是一种替代“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LDP+IGP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方案”的一种新方案。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1" name="组合 70"/>
          <p:cNvGrpSpPr/>
          <p:nvPr/>
        </p:nvGrpSpPr>
        <p:grpSpPr bwMode="gray">
          <a:xfrm>
            <a:off x="4405155" y="5016867"/>
            <a:ext cx="1304009" cy="871898"/>
            <a:chOff x="4027703" y="3656700"/>
            <a:chExt cx="1304009" cy="871898"/>
          </a:xfrm>
        </p:grpSpPr>
        <p:grpSp>
          <p:nvGrpSpPr>
            <p:cNvPr id="72" name="组合 71"/>
            <p:cNvGrpSpPr/>
            <p:nvPr/>
          </p:nvGrpSpPr>
          <p:grpSpPr bwMode="gray">
            <a:xfrm>
              <a:off x="4027703" y="3656700"/>
              <a:ext cx="1304009" cy="871898"/>
              <a:chOff x="10125075" y="5439766"/>
              <a:chExt cx="1304009" cy="871898"/>
            </a:xfrm>
          </p:grpSpPr>
          <p:sp>
            <p:nvSpPr>
              <p:cNvPr id="79" name="矩形 78"/>
              <p:cNvSpPr/>
              <p:nvPr/>
            </p:nvSpPr>
            <p:spPr bwMode="gray">
              <a:xfrm>
                <a:off x="10472174" y="5924694"/>
                <a:ext cx="647760" cy="386970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 bwMode="gray">
              <a:xfrm>
                <a:off x="10379358" y="5439766"/>
                <a:ext cx="604768" cy="6047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 bwMode="gray">
              <a:xfrm>
                <a:off x="10125075" y="5625254"/>
                <a:ext cx="703036" cy="68641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 bwMode="gray">
              <a:xfrm>
                <a:off x="10792751" y="5675331"/>
                <a:ext cx="636333" cy="63633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83" name="椭圆 82"/>
              <p:cNvSpPr/>
              <p:nvPr/>
            </p:nvSpPr>
            <p:spPr bwMode="gray">
              <a:xfrm>
                <a:off x="10723031" y="5515085"/>
                <a:ext cx="463257" cy="46325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 bwMode="gray">
            <a:xfrm>
              <a:off x="4079776" y="3717032"/>
              <a:ext cx="1199862" cy="767350"/>
              <a:chOff x="10181272" y="5503352"/>
              <a:chExt cx="1199862" cy="767350"/>
            </a:xfrm>
          </p:grpSpPr>
          <p:sp>
            <p:nvSpPr>
              <p:cNvPr id="74" name="椭圆 73"/>
              <p:cNvSpPr/>
              <p:nvPr/>
            </p:nvSpPr>
            <p:spPr bwMode="gray">
              <a:xfrm>
                <a:off x="10463850" y="5503352"/>
                <a:ext cx="512609" cy="5126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5" name="椭圆 74"/>
              <p:cNvSpPr/>
              <p:nvPr/>
            </p:nvSpPr>
            <p:spPr bwMode="gray">
              <a:xfrm>
                <a:off x="10181272" y="5697686"/>
                <a:ext cx="573015" cy="5730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6" name="椭圆 75"/>
              <p:cNvSpPr/>
              <p:nvPr/>
            </p:nvSpPr>
            <p:spPr bwMode="gray">
              <a:xfrm>
                <a:off x="10798583" y="5688150"/>
                <a:ext cx="582551" cy="5825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 bwMode="gray">
              <a:xfrm>
                <a:off x="10792392" y="5578078"/>
                <a:ext cx="345057" cy="3450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8" name="矩形 77"/>
              <p:cNvSpPr/>
              <p:nvPr/>
            </p:nvSpPr>
            <p:spPr bwMode="gray">
              <a:xfrm>
                <a:off x="10454799" y="5883732"/>
                <a:ext cx="647760" cy="3869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84" name="矩形 83"/>
          <p:cNvSpPr/>
          <p:nvPr/>
        </p:nvSpPr>
        <p:spPr bwMode="gray">
          <a:xfrm>
            <a:off x="4523378" y="5257119"/>
            <a:ext cx="104067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814705">
              <a:buClr>
                <a:schemeClr val="accent1"/>
              </a:buClr>
              <a:buSzPct val="100000"/>
            </a:pPr>
            <a:r>
              <a:rPr lang="en-US" altLang="zh-CN" sz="1500" kern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6.6.6.0/24</a:t>
            </a:r>
            <a:endParaRPr lang="en-US" altLang="zh-CN" sz="15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86" name="矩形 85"/>
          <p:cNvSpPr/>
          <p:nvPr/>
        </p:nvSpPr>
        <p:spPr bwMode="gray">
          <a:xfrm>
            <a:off x="4657003" y="5506548"/>
            <a:ext cx="7056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16002</a:t>
            </a:r>
            <a:endParaRPr lang="en-US" altLang="zh-CN" sz="1400" b="1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8" name="图片 8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36637" y="4309311"/>
            <a:ext cx="540000" cy="442800"/>
          </a:xfrm>
          <a:prstGeom prst="rect">
            <a:avLst/>
          </a:prstGeom>
        </p:spPr>
      </p:pic>
      <p:sp>
        <p:nvSpPr>
          <p:cNvPr id="89" name="矩形 88"/>
          <p:cNvSpPr/>
          <p:nvPr/>
        </p:nvSpPr>
        <p:spPr bwMode="gray">
          <a:xfrm>
            <a:off x="5260731" y="4376822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矩形 90"/>
          <p:cNvSpPr/>
          <p:nvPr/>
        </p:nvSpPr>
        <p:spPr bwMode="gray">
          <a:xfrm>
            <a:off x="5252415" y="4662601"/>
            <a:ext cx="497252" cy="307777"/>
          </a:xfrm>
          <a:prstGeom prst="rect">
            <a:avLst/>
          </a:prstGeom>
          <a:solidFill>
            <a:srgbClr val="FF0066"/>
          </a:solidFill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606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2" name="直接连接符 91"/>
          <p:cNvCxnSpPr/>
          <p:nvPr/>
        </p:nvCxnSpPr>
        <p:spPr bwMode="gray">
          <a:xfrm>
            <a:off x="1261214" y="1587207"/>
            <a:ext cx="0" cy="458233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 bwMode="gray">
          <a:xfrm>
            <a:off x="971496" y="1365374"/>
            <a:ext cx="640251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400" b="1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矩形 94"/>
          <p:cNvSpPr/>
          <p:nvPr/>
        </p:nvSpPr>
        <p:spPr bwMode="gray">
          <a:xfrm>
            <a:off x="971496" y="1151132"/>
            <a:ext cx="640251" cy="215444"/>
          </a:xfrm>
          <a:prstGeom prst="rect">
            <a:avLst/>
          </a:prstGeom>
          <a:solidFill>
            <a:srgbClr val="FF0066"/>
          </a:solidFill>
          <a:ln w="19050">
            <a:solidFill>
              <a:srgbClr val="FF0000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606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任意多边形 97"/>
          <p:cNvSpPr/>
          <p:nvPr/>
        </p:nvSpPr>
        <p:spPr bwMode="gray">
          <a:xfrm>
            <a:off x="1574318" y="2333727"/>
            <a:ext cx="3299485" cy="1916097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-1" fmla="*/ 0 w 3287214"/>
              <a:gd name="connsiteY0-2" fmla="*/ 0 h 1669002"/>
              <a:gd name="connsiteX1-3" fmla="*/ 2938508 w 3287214"/>
              <a:gd name="connsiteY1-4" fmla="*/ 26633 h 1669002"/>
              <a:gd name="connsiteX2-5" fmla="*/ 3204838 w 3287214"/>
              <a:gd name="connsiteY2-6" fmla="*/ 1669002 h 1669002"/>
              <a:gd name="connsiteX0-7" fmla="*/ 0 w 3310312"/>
              <a:gd name="connsiteY0-8" fmla="*/ 102151 h 1771153"/>
              <a:gd name="connsiteX1-9" fmla="*/ 2938508 w 3310312"/>
              <a:gd name="connsiteY1-10" fmla="*/ 128784 h 1771153"/>
              <a:gd name="connsiteX2-11" fmla="*/ 3204838 w 3310312"/>
              <a:gd name="connsiteY2-12" fmla="*/ 1771153 h 1771153"/>
              <a:gd name="connsiteX0-13" fmla="*/ 0 w 3268527"/>
              <a:gd name="connsiteY0-14" fmla="*/ 449497 h 2118499"/>
              <a:gd name="connsiteX1-15" fmla="*/ 2823098 w 3268527"/>
              <a:gd name="connsiteY1-16" fmla="*/ 67757 h 2118499"/>
              <a:gd name="connsiteX2-17" fmla="*/ 3204838 w 3268527"/>
              <a:gd name="connsiteY2-18" fmla="*/ 2118499 h 2118499"/>
              <a:gd name="connsiteX0-19" fmla="*/ 0 w 3245185"/>
              <a:gd name="connsiteY0-20" fmla="*/ 400710 h 2069712"/>
              <a:gd name="connsiteX1-21" fmla="*/ 2716566 w 3245185"/>
              <a:gd name="connsiteY1-22" fmla="*/ 72236 h 2069712"/>
              <a:gd name="connsiteX2-23" fmla="*/ 3204838 w 3245185"/>
              <a:gd name="connsiteY2-24" fmla="*/ 2069712 h 2069712"/>
              <a:gd name="connsiteX0-25" fmla="*/ 0 w 3207623"/>
              <a:gd name="connsiteY0-26" fmla="*/ 408402 h 2201692"/>
              <a:gd name="connsiteX1-27" fmla="*/ 2716566 w 3207623"/>
              <a:gd name="connsiteY1-28" fmla="*/ 79928 h 2201692"/>
              <a:gd name="connsiteX2-29" fmla="*/ 3160450 w 3207623"/>
              <a:gd name="connsiteY2-30" fmla="*/ 2201692 h 2201692"/>
              <a:gd name="connsiteX0-31" fmla="*/ 0 w 3180591"/>
              <a:gd name="connsiteY0-32" fmla="*/ 408402 h 2201692"/>
              <a:gd name="connsiteX1-33" fmla="*/ 2716566 w 3180591"/>
              <a:gd name="connsiteY1-34" fmla="*/ 79928 h 2201692"/>
              <a:gd name="connsiteX2-35" fmla="*/ 3160450 w 3180591"/>
              <a:gd name="connsiteY2-36" fmla="*/ 2201692 h 2201692"/>
              <a:gd name="connsiteX0-37" fmla="*/ 0 w 3598264"/>
              <a:gd name="connsiteY0-38" fmla="*/ 412296 h 2267729"/>
              <a:gd name="connsiteX1-39" fmla="*/ 2716566 w 3598264"/>
              <a:gd name="connsiteY1-40" fmla="*/ 83822 h 2267729"/>
              <a:gd name="connsiteX2-41" fmla="*/ 3595456 w 3598264"/>
              <a:gd name="connsiteY2-42" fmla="*/ 2267729 h 2267729"/>
              <a:gd name="connsiteX0-43" fmla="*/ 0 w 3621154"/>
              <a:gd name="connsiteY0-44" fmla="*/ 62433 h 1917866"/>
              <a:gd name="connsiteX1-45" fmla="*/ 3116061 w 3621154"/>
              <a:gd name="connsiteY1-46" fmla="*/ 168965 h 1917866"/>
              <a:gd name="connsiteX2-47" fmla="*/ 3595456 w 3621154"/>
              <a:gd name="connsiteY2-48" fmla="*/ 1917866 h 1917866"/>
              <a:gd name="connsiteX0-49" fmla="*/ 0 w 3666945"/>
              <a:gd name="connsiteY0-50" fmla="*/ 0 h 2121763"/>
              <a:gd name="connsiteX1-51" fmla="*/ 3160450 w 3666945"/>
              <a:gd name="connsiteY1-52" fmla="*/ 372862 h 2121763"/>
              <a:gd name="connsiteX2-53" fmla="*/ 3639845 w 3666945"/>
              <a:gd name="connsiteY2-54" fmla="*/ 2121763 h 2121763"/>
              <a:gd name="connsiteX0-55" fmla="*/ 0 w 3666945"/>
              <a:gd name="connsiteY0-56" fmla="*/ 40339 h 2162102"/>
              <a:gd name="connsiteX1-57" fmla="*/ 3160450 w 3666945"/>
              <a:gd name="connsiteY1-58" fmla="*/ 413201 h 2162102"/>
              <a:gd name="connsiteX2-59" fmla="*/ 3639845 w 3666945"/>
              <a:gd name="connsiteY2-60" fmla="*/ 2162102 h 2162102"/>
              <a:gd name="connsiteX0-61" fmla="*/ 0 w 3666945"/>
              <a:gd name="connsiteY0-62" fmla="*/ 47544 h 2116041"/>
              <a:gd name="connsiteX1-63" fmla="*/ 3160450 w 3666945"/>
              <a:gd name="connsiteY1-64" fmla="*/ 367140 h 2116041"/>
              <a:gd name="connsiteX2-65" fmla="*/ 3639845 w 3666945"/>
              <a:gd name="connsiteY2-66" fmla="*/ 2116041 h 2116041"/>
              <a:gd name="connsiteX0-67" fmla="*/ 0 w 3666945"/>
              <a:gd name="connsiteY0-68" fmla="*/ 86260 h 2154757"/>
              <a:gd name="connsiteX1-69" fmla="*/ 3160450 w 3666945"/>
              <a:gd name="connsiteY1-70" fmla="*/ 405856 h 2154757"/>
              <a:gd name="connsiteX2-71" fmla="*/ 3639845 w 3666945"/>
              <a:gd name="connsiteY2-72" fmla="*/ 2154757 h 2154757"/>
              <a:gd name="connsiteX0-73" fmla="*/ 0 w 3639845"/>
              <a:gd name="connsiteY0-74" fmla="*/ 0 h 2068497"/>
              <a:gd name="connsiteX1-75" fmla="*/ 3639845 w 3639845"/>
              <a:gd name="connsiteY1-76" fmla="*/ 2068497 h 2068497"/>
              <a:gd name="connsiteX0-77" fmla="*/ 0 w 3650005"/>
              <a:gd name="connsiteY0-78" fmla="*/ 0 h 1971977"/>
              <a:gd name="connsiteX1-79" fmla="*/ 3650005 w 3650005"/>
              <a:gd name="connsiteY1-80" fmla="*/ 1971977 h 1971977"/>
              <a:gd name="connsiteX0-81" fmla="*/ 0 w 3650005"/>
              <a:gd name="connsiteY0-82" fmla="*/ 0 h 1971977"/>
              <a:gd name="connsiteX1-83" fmla="*/ 3650005 w 3650005"/>
              <a:gd name="connsiteY1-84" fmla="*/ 1971977 h 1971977"/>
              <a:gd name="connsiteX0-85" fmla="*/ 0 w 3678831"/>
              <a:gd name="connsiteY0-86" fmla="*/ 0 h 1971977"/>
              <a:gd name="connsiteX1-87" fmla="*/ 3650005 w 3678831"/>
              <a:gd name="connsiteY1-88" fmla="*/ 1971977 h 1971977"/>
              <a:gd name="connsiteX0-89" fmla="*/ 0 w 3391741"/>
              <a:gd name="connsiteY0-90" fmla="*/ 0 h 1977057"/>
              <a:gd name="connsiteX1-91" fmla="*/ 3294405 w 3391741"/>
              <a:gd name="connsiteY1-92" fmla="*/ 1977057 h 1977057"/>
              <a:gd name="connsiteX0-93" fmla="*/ 0 w 3389485"/>
              <a:gd name="connsiteY0-94" fmla="*/ 0 h 1977057"/>
              <a:gd name="connsiteX1-95" fmla="*/ 3294405 w 3389485"/>
              <a:gd name="connsiteY1-96" fmla="*/ 1977057 h 1977057"/>
              <a:gd name="connsiteX0-97" fmla="*/ 0 w 3393324"/>
              <a:gd name="connsiteY0-98" fmla="*/ 0 h 1916097"/>
              <a:gd name="connsiteX1-99" fmla="*/ 3299485 w 3393324"/>
              <a:gd name="connsiteY1-100" fmla="*/ 1916097 h 1916097"/>
              <a:gd name="connsiteX0-101" fmla="*/ 0 w 3299485"/>
              <a:gd name="connsiteY0-102" fmla="*/ 0 h 1916097"/>
              <a:gd name="connsiteX1-103" fmla="*/ 3299485 w 3299485"/>
              <a:gd name="connsiteY1-104" fmla="*/ 1916097 h 19160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299485" h="1916097">
                <a:moveTo>
                  <a:pt x="0" y="0"/>
                </a:moveTo>
                <a:cubicBezTo>
                  <a:pt x="2425708" y="12166"/>
                  <a:pt x="3271537" y="908251"/>
                  <a:pt x="3299485" y="1916097"/>
                </a:cubicBezTo>
              </a:path>
            </a:pathLst>
          </a:cu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任意多边形 98"/>
          <p:cNvSpPr/>
          <p:nvPr/>
        </p:nvSpPr>
        <p:spPr bwMode="gray">
          <a:xfrm>
            <a:off x="1630200" y="2752054"/>
            <a:ext cx="3044166" cy="1622863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-1" fmla="*/ 0 w 3287214"/>
              <a:gd name="connsiteY0-2" fmla="*/ 0 h 1669002"/>
              <a:gd name="connsiteX1-3" fmla="*/ 2938508 w 3287214"/>
              <a:gd name="connsiteY1-4" fmla="*/ 26633 h 1669002"/>
              <a:gd name="connsiteX2-5" fmla="*/ 3204838 w 3287214"/>
              <a:gd name="connsiteY2-6" fmla="*/ 1669002 h 1669002"/>
              <a:gd name="connsiteX0-7" fmla="*/ 0 w 3310312"/>
              <a:gd name="connsiteY0-8" fmla="*/ 102151 h 1771153"/>
              <a:gd name="connsiteX1-9" fmla="*/ 2938508 w 3310312"/>
              <a:gd name="connsiteY1-10" fmla="*/ 128784 h 1771153"/>
              <a:gd name="connsiteX2-11" fmla="*/ 3204838 w 3310312"/>
              <a:gd name="connsiteY2-12" fmla="*/ 1771153 h 1771153"/>
              <a:gd name="connsiteX0-13" fmla="*/ 0 w 3268527"/>
              <a:gd name="connsiteY0-14" fmla="*/ 449497 h 2118499"/>
              <a:gd name="connsiteX1-15" fmla="*/ 2823098 w 3268527"/>
              <a:gd name="connsiteY1-16" fmla="*/ 67757 h 2118499"/>
              <a:gd name="connsiteX2-17" fmla="*/ 3204838 w 3268527"/>
              <a:gd name="connsiteY2-18" fmla="*/ 2118499 h 2118499"/>
              <a:gd name="connsiteX0-19" fmla="*/ 0 w 3245185"/>
              <a:gd name="connsiteY0-20" fmla="*/ 400710 h 2069712"/>
              <a:gd name="connsiteX1-21" fmla="*/ 2716566 w 3245185"/>
              <a:gd name="connsiteY1-22" fmla="*/ 72236 h 2069712"/>
              <a:gd name="connsiteX2-23" fmla="*/ 3204838 w 3245185"/>
              <a:gd name="connsiteY2-24" fmla="*/ 2069712 h 2069712"/>
              <a:gd name="connsiteX0-25" fmla="*/ 0 w 3207623"/>
              <a:gd name="connsiteY0-26" fmla="*/ 408402 h 2201692"/>
              <a:gd name="connsiteX1-27" fmla="*/ 2716566 w 3207623"/>
              <a:gd name="connsiteY1-28" fmla="*/ 79928 h 2201692"/>
              <a:gd name="connsiteX2-29" fmla="*/ 3160450 w 3207623"/>
              <a:gd name="connsiteY2-30" fmla="*/ 2201692 h 2201692"/>
              <a:gd name="connsiteX0-31" fmla="*/ 0 w 3180591"/>
              <a:gd name="connsiteY0-32" fmla="*/ 408402 h 2201692"/>
              <a:gd name="connsiteX1-33" fmla="*/ 2716566 w 3180591"/>
              <a:gd name="connsiteY1-34" fmla="*/ 79928 h 2201692"/>
              <a:gd name="connsiteX2-35" fmla="*/ 3160450 w 3180591"/>
              <a:gd name="connsiteY2-36" fmla="*/ 2201692 h 2201692"/>
              <a:gd name="connsiteX0-37" fmla="*/ 0 w 3598264"/>
              <a:gd name="connsiteY0-38" fmla="*/ 412296 h 2267729"/>
              <a:gd name="connsiteX1-39" fmla="*/ 2716566 w 3598264"/>
              <a:gd name="connsiteY1-40" fmla="*/ 83822 h 2267729"/>
              <a:gd name="connsiteX2-41" fmla="*/ 3595456 w 3598264"/>
              <a:gd name="connsiteY2-42" fmla="*/ 2267729 h 2267729"/>
              <a:gd name="connsiteX0-43" fmla="*/ 0 w 3621154"/>
              <a:gd name="connsiteY0-44" fmla="*/ 62433 h 1917866"/>
              <a:gd name="connsiteX1-45" fmla="*/ 3116061 w 3621154"/>
              <a:gd name="connsiteY1-46" fmla="*/ 168965 h 1917866"/>
              <a:gd name="connsiteX2-47" fmla="*/ 3595456 w 3621154"/>
              <a:gd name="connsiteY2-48" fmla="*/ 1917866 h 1917866"/>
              <a:gd name="connsiteX0-49" fmla="*/ 0 w 3666945"/>
              <a:gd name="connsiteY0-50" fmla="*/ 0 h 2121763"/>
              <a:gd name="connsiteX1-51" fmla="*/ 3160450 w 3666945"/>
              <a:gd name="connsiteY1-52" fmla="*/ 372862 h 2121763"/>
              <a:gd name="connsiteX2-53" fmla="*/ 3639845 w 3666945"/>
              <a:gd name="connsiteY2-54" fmla="*/ 2121763 h 2121763"/>
              <a:gd name="connsiteX0-55" fmla="*/ 0 w 3666945"/>
              <a:gd name="connsiteY0-56" fmla="*/ 40339 h 2162102"/>
              <a:gd name="connsiteX1-57" fmla="*/ 3160450 w 3666945"/>
              <a:gd name="connsiteY1-58" fmla="*/ 413201 h 2162102"/>
              <a:gd name="connsiteX2-59" fmla="*/ 3639845 w 3666945"/>
              <a:gd name="connsiteY2-60" fmla="*/ 2162102 h 2162102"/>
              <a:gd name="connsiteX0-61" fmla="*/ 0 w 3666945"/>
              <a:gd name="connsiteY0-62" fmla="*/ 47544 h 2116041"/>
              <a:gd name="connsiteX1-63" fmla="*/ 3160450 w 3666945"/>
              <a:gd name="connsiteY1-64" fmla="*/ 367140 h 2116041"/>
              <a:gd name="connsiteX2-65" fmla="*/ 3639845 w 3666945"/>
              <a:gd name="connsiteY2-66" fmla="*/ 2116041 h 2116041"/>
              <a:gd name="connsiteX0-67" fmla="*/ 0 w 3666945"/>
              <a:gd name="connsiteY0-68" fmla="*/ 86260 h 2154757"/>
              <a:gd name="connsiteX1-69" fmla="*/ 3160450 w 3666945"/>
              <a:gd name="connsiteY1-70" fmla="*/ 405856 h 2154757"/>
              <a:gd name="connsiteX2-71" fmla="*/ 3639845 w 3666945"/>
              <a:gd name="connsiteY2-72" fmla="*/ 2154757 h 2154757"/>
              <a:gd name="connsiteX0-73" fmla="*/ 0 w 3778794"/>
              <a:gd name="connsiteY0-74" fmla="*/ 76479 h 1789376"/>
              <a:gd name="connsiteX1-75" fmla="*/ 3160450 w 3778794"/>
              <a:gd name="connsiteY1-76" fmla="*/ 396075 h 1789376"/>
              <a:gd name="connsiteX2-77" fmla="*/ 3767509 w 3778794"/>
              <a:gd name="connsiteY2-78" fmla="*/ 1789376 h 1789376"/>
              <a:gd name="connsiteX0-79" fmla="*/ 0 w 3767509"/>
              <a:gd name="connsiteY0-80" fmla="*/ 76479 h 1789376"/>
              <a:gd name="connsiteX1-81" fmla="*/ 3160450 w 3767509"/>
              <a:gd name="connsiteY1-82" fmla="*/ 396075 h 1789376"/>
              <a:gd name="connsiteX2-83" fmla="*/ 3767509 w 3767509"/>
              <a:gd name="connsiteY2-84" fmla="*/ 1789376 h 1789376"/>
              <a:gd name="connsiteX0-85" fmla="*/ 0 w 3767509"/>
              <a:gd name="connsiteY0-86" fmla="*/ 18427 h 1731324"/>
              <a:gd name="connsiteX1-87" fmla="*/ 1959248 w 3767509"/>
              <a:gd name="connsiteY1-88" fmla="*/ 1653743 h 1731324"/>
              <a:gd name="connsiteX2-89" fmla="*/ 3767509 w 3767509"/>
              <a:gd name="connsiteY2-90" fmla="*/ 1731324 h 1731324"/>
              <a:gd name="connsiteX0-91" fmla="*/ 0 w 3767509"/>
              <a:gd name="connsiteY0-92" fmla="*/ 18427 h 1813293"/>
              <a:gd name="connsiteX1-93" fmla="*/ 1959248 w 3767509"/>
              <a:gd name="connsiteY1-94" fmla="*/ 1653743 h 1813293"/>
              <a:gd name="connsiteX2-95" fmla="*/ 3767509 w 3767509"/>
              <a:gd name="connsiteY2-96" fmla="*/ 1731324 h 1813293"/>
              <a:gd name="connsiteX0-97" fmla="*/ 0 w 3767509"/>
              <a:gd name="connsiteY0-98" fmla="*/ 20368 h 1748347"/>
              <a:gd name="connsiteX1-99" fmla="*/ 1918628 w 3767509"/>
              <a:gd name="connsiteY1-100" fmla="*/ 1493124 h 1748347"/>
              <a:gd name="connsiteX2-101" fmla="*/ 3767509 w 3767509"/>
              <a:gd name="connsiteY2-102" fmla="*/ 1733265 h 1748347"/>
              <a:gd name="connsiteX0-103" fmla="*/ 0 w 3767509"/>
              <a:gd name="connsiteY0-104" fmla="*/ 19472 h 1767951"/>
              <a:gd name="connsiteX1-105" fmla="*/ 1819979 w 3767509"/>
              <a:gd name="connsiteY1-106" fmla="*/ 1563348 h 1767951"/>
              <a:gd name="connsiteX2-107" fmla="*/ 3767509 w 3767509"/>
              <a:gd name="connsiteY2-108" fmla="*/ 1732369 h 1767951"/>
              <a:gd name="connsiteX0-109" fmla="*/ 0 w 3721086"/>
              <a:gd name="connsiteY0-110" fmla="*/ 22985 h 1462998"/>
              <a:gd name="connsiteX1-111" fmla="*/ 1773556 w 3721086"/>
              <a:gd name="connsiteY1-112" fmla="*/ 1272221 h 1462998"/>
              <a:gd name="connsiteX2-113" fmla="*/ 3721086 w 3721086"/>
              <a:gd name="connsiteY2-114" fmla="*/ 1441242 h 1462998"/>
              <a:gd name="connsiteX0-115" fmla="*/ 0 w 3721086"/>
              <a:gd name="connsiteY0-116" fmla="*/ 190 h 1440203"/>
              <a:gd name="connsiteX1-117" fmla="*/ 1773556 w 3721086"/>
              <a:gd name="connsiteY1-118" fmla="*/ 1249426 h 1440203"/>
              <a:gd name="connsiteX2-119" fmla="*/ 3721086 w 3721086"/>
              <a:gd name="connsiteY2-120" fmla="*/ 1418447 h 1440203"/>
              <a:gd name="connsiteX0-121" fmla="*/ 0 w 3721086"/>
              <a:gd name="connsiteY0-122" fmla="*/ 186 h 1461352"/>
              <a:gd name="connsiteX1-123" fmla="*/ 1773556 w 3721086"/>
              <a:gd name="connsiteY1-124" fmla="*/ 1269742 h 1461352"/>
              <a:gd name="connsiteX2-125" fmla="*/ 3721086 w 3721086"/>
              <a:gd name="connsiteY2-126" fmla="*/ 1438763 h 1461352"/>
              <a:gd name="connsiteX0-127" fmla="*/ 0 w 3721086"/>
              <a:gd name="connsiteY0-128" fmla="*/ 181 h 1474013"/>
              <a:gd name="connsiteX1-129" fmla="*/ 1901220 w 3721086"/>
              <a:gd name="connsiteY1-130" fmla="*/ 1305297 h 1474013"/>
              <a:gd name="connsiteX2-131" fmla="*/ 3721086 w 3721086"/>
              <a:gd name="connsiteY2-132" fmla="*/ 1438758 h 1474013"/>
              <a:gd name="connsiteX0-133" fmla="*/ 0 w 3721086"/>
              <a:gd name="connsiteY0-134" fmla="*/ 221 h 1553004"/>
              <a:gd name="connsiteX1-135" fmla="*/ 1901220 w 3721086"/>
              <a:gd name="connsiteY1-136" fmla="*/ 1305337 h 1553004"/>
              <a:gd name="connsiteX2-137" fmla="*/ 3721086 w 3721086"/>
              <a:gd name="connsiteY2-138" fmla="*/ 1438798 h 1553004"/>
              <a:gd name="connsiteX0-139" fmla="*/ 0 w 3721086"/>
              <a:gd name="connsiteY0-140" fmla="*/ 276 h 1469990"/>
              <a:gd name="connsiteX1-141" fmla="*/ 1866403 w 3721086"/>
              <a:gd name="connsiteY1-142" fmla="*/ 1127592 h 1469990"/>
              <a:gd name="connsiteX2-143" fmla="*/ 3721086 w 3721086"/>
              <a:gd name="connsiteY2-144" fmla="*/ 1438853 h 1469990"/>
              <a:gd name="connsiteX0-145" fmla="*/ 0 w 3721086"/>
              <a:gd name="connsiteY0-146" fmla="*/ 293 h 1481168"/>
              <a:gd name="connsiteX1-147" fmla="*/ 1866403 w 3721086"/>
              <a:gd name="connsiteY1-148" fmla="*/ 1127609 h 1481168"/>
              <a:gd name="connsiteX2-149" fmla="*/ 3721086 w 3721086"/>
              <a:gd name="connsiteY2-150" fmla="*/ 1438870 h 1481168"/>
              <a:gd name="connsiteX0-151" fmla="*/ 0 w 3721086"/>
              <a:gd name="connsiteY0-152" fmla="*/ 0 h 1438577"/>
              <a:gd name="connsiteX1-153" fmla="*/ 3721086 w 3721086"/>
              <a:gd name="connsiteY1-154" fmla="*/ 1438577 h 1438577"/>
              <a:gd name="connsiteX0-155" fmla="*/ 0 w 3721086"/>
              <a:gd name="connsiteY0-156" fmla="*/ 1384 h 1439961"/>
              <a:gd name="connsiteX1-157" fmla="*/ 3721086 w 3721086"/>
              <a:gd name="connsiteY1-158" fmla="*/ 1439961 h 1439961"/>
              <a:gd name="connsiteX0-159" fmla="*/ 0 w 3721086"/>
              <a:gd name="connsiteY0-160" fmla="*/ 811 h 1465328"/>
              <a:gd name="connsiteX1-161" fmla="*/ 3721086 w 3721086"/>
              <a:gd name="connsiteY1-162" fmla="*/ 1439388 h 1465328"/>
              <a:gd name="connsiteX0-163" fmla="*/ 0 w 3721086"/>
              <a:gd name="connsiteY0-164" fmla="*/ 1220 h 1465603"/>
              <a:gd name="connsiteX1-165" fmla="*/ 3721086 w 3721086"/>
              <a:gd name="connsiteY1-166" fmla="*/ 1439797 h 1465603"/>
              <a:gd name="connsiteX0-167" fmla="*/ 0 w 3686269"/>
              <a:gd name="connsiteY0-168" fmla="*/ 1217 h 1470612"/>
              <a:gd name="connsiteX1-169" fmla="*/ 3686269 w 3686269"/>
              <a:gd name="connsiteY1-170" fmla="*/ 1444874 h 1470612"/>
              <a:gd name="connsiteX0-171" fmla="*/ 0 w 3686269"/>
              <a:gd name="connsiteY0-172" fmla="*/ 1402 h 1445223"/>
              <a:gd name="connsiteX1-173" fmla="*/ 3686269 w 3686269"/>
              <a:gd name="connsiteY1-174" fmla="*/ 1445059 h 1445223"/>
              <a:gd name="connsiteX0-175" fmla="*/ 0 w 3436744"/>
              <a:gd name="connsiteY0-176" fmla="*/ 1259 h 1622863"/>
              <a:gd name="connsiteX1-177" fmla="*/ 3436744 w 3436744"/>
              <a:gd name="connsiteY1-178" fmla="*/ 1622716 h 1622863"/>
              <a:gd name="connsiteX0-179" fmla="*/ 0 w 3477364"/>
              <a:gd name="connsiteY0-180" fmla="*/ 1259 h 1622863"/>
              <a:gd name="connsiteX1-181" fmla="*/ 3477364 w 3477364"/>
              <a:gd name="connsiteY1-182" fmla="*/ 1622716 h 16228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477364" h="1622863">
                <a:moveTo>
                  <a:pt x="0" y="1259"/>
                </a:moveTo>
                <a:cubicBezTo>
                  <a:pt x="3248167" y="-52615"/>
                  <a:pt x="-339489" y="1641030"/>
                  <a:pt x="3477364" y="1622716"/>
                </a:cubicBezTo>
              </a:path>
            </a:pathLst>
          </a:cu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任意多边形 100"/>
          <p:cNvSpPr/>
          <p:nvPr/>
        </p:nvSpPr>
        <p:spPr bwMode="gray">
          <a:xfrm flipV="1">
            <a:off x="1371119" y="2875689"/>
            <a:ext cx="3284245" cy="1820541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-1" fmla="*/ 0 w 3287214"/>
              <a:gd name="connsiteY0-2" fmla="*/ 0 h 1669002"/>
              <a:gd name="connsiteX1-3" fmla="*/ 2938508 w 3287214"/>
              <a:gd name="connsiteY1-4" fmla="*/ 26633 h 1669002"/>
              <a:gd name="connsiteX2-5" fmla="*/ 3204838 w 3287214"/>
              <a:gd name="connsiteY2-6" fmla="*/ 1669002 h 1669002"/>
              <a:gd name="connsiteX0-7" fmla="*/ 0 w 3310312"/>
              <a:gd name="connsiteY0-8" fmla="*/ 102151 h 1771153"/>
              <a:gd name="connsiteX1-9" fmla="*/ 2938508 w 3310312"/>
              <a:gd name="connsiteY1-10" fmla="*/ 128784 h 1771153"/>
              <a:gd name="connsiteX2-11" fmla="*/ 3204838 w 3310312"/>
              <a:gd name="connsiteY2-12" fmla="*/ 1771153 h 1771153"/>
              <a:gd name="connsiteX0-13" fmla="*/ 0 w 3268527"/>
              <a:gd name="connsiteY0-14" fmla="*/ 449497 h 2118499"/>
              <a:gd name="connsiteX1-15" fmla="*/ 2823098 w 3268527"/>
              <a:gd name="connsiteY1-16" fmla="*/ 67757 h 2118499"/>
              <a:gd name="connsiteX2-17" fmla="*/ 3204838 w 3268527"/>
              <a:gd name="connsiteY2-18" fmla="*/ 2118499 h 2118499"/>
              <a:gd name="connsiteX0-19" fmla="*/ 0 w 3245185"/>
              <a:gd name="connsiteY0-20" fmla="*/ 400710 h 2069712"/>
              <a:gd name="connsiteX1-21" fmla="*/ 2716566 w 3245185"/>
              <a:gd name="connsiteY1-22" fmla="*/ 72236 h 2069712"/>
              <a:gd name="connsiteX2-23" fmla="*/ 3204838 w 3245185"/>
              <a:gd name="connsiteY2-24" fmla="*/ 2069712 h 2069712"/>
              <a:gd name="connsiteX0-25" fmla="*/ 0 w 3207623"/>
              <a:gd name="connsiteY0-26" fmla="*/ 408402 h 2201692"/>
              <a:gd name="connsiteX1-27" fmla="*/ 2716566 w 3207623"/>
              <a:gd name="connsiteY1-28" fmla="*/ 79928 h 2201692"/>
              <a:gd name="connsiteX2-29" fmla="*/ 3160450 w 3207623"/>
              <a:gd name="connsiteY2-30" fmla="*/ 2201692 h 2201692"/>
              <a:gd name="connsiteX0-31" fmla="*/ 0 w 3180591"/>
              <a:gd name="connsiteY0-32" fmla="*/ 408402 h 2201692"/>
              <a:gd name="connsiteX1-33" fmla="*/ 2716566 w 3180591"/>
              <a:gd name="connsiteY1-34" fmla="*/ 79928 h 2201692"/>
              <a:gd name="connsiteX2-35" fmla="*/ 3160450 w 3180591"/>
              <a:gd name="connsiteY2-36" fmla="*/ 2201692 h 2201692"/>
              <a:gd name="connsiteX0-37" fmla="*/ 0 w 3598264"/>
              <a:gd name="connsiteY0-38" fmla="*/ 412296 h 2267729"/>
              <a:gd name="connsiteX1-39" fmla="*/ 2716566 w 3598264"/>
              <a:gd name="connsiteY1-40" fmla="*/ 83822 h 2267729"/>
              <a:gd name="connsiteX2-41" fmla="*/ 3595456 w 3598264"/>
              <a:gd name="connsiteY2-42" fmla="*/ 2267729 h 2267729"/>
              <a:gd name="connsiteX0-43" fmla="*/ 0 w 3621154"/>
              <a:gd name="connsiteY0-44" fmla="*/ 62433 h 1917866"/>
              <a:gd name="connsiteX1-45" fmla="*/ 3116061 w 3621154"/>
              <a:gd name="connsiteY1-46" fmla="*/ 168965 h 1917866"/>
              <a:gd name="connsiteX2-47" fmla="*/ 3595456 w 3621154"/>
              <a:gd name="connsiteY2-48" fmla="*/ 1917866 h 1917866"/>
              <a:gd name="connsiteX0-49" fmla="*/ 0 w 3666945"/>
              <a:gd name="connsiteY0-50" fmla="*/ 0 h 2121763"/>
              <a:gd name="connsiteX1-51" fmla="*/ 3160450 w 3666945"/>
              <a:gd name="connsiteY1-52" fmla="*/ 372862 h 2121763"/>
              <a:gd name="connsiteX2-53" fmla="*/ 3639845 w 3666945"/>
              <a:gd name="connsiteY2-54" fmla="*/ 2121763 h 2121763"/>
              <a:gd name="connsiteX0-55" fmla="*/ 0 w 3666945"/>
              <a:gd name="connsiteY0-56" fmla="*/ 40339 h 2162102"/>
              <a:gd name="connsiteX1-57" fmla="*/ 3160450 w 3666945"/>
              <a:gd name="connsiteY1-58" fmla="*/ 413201 h 2162102"/>
              <a:gd name="connsiteX2-59" fmla="*/ 3639845 w 3666945"/>
              <a:gd name="connsiteY2-60" fmla="*/ 2162102 h 2162102"/>
              <a:gd name="connsiteX0-61" fmla="*/ 0 w 3666945"/>
              <a:gd name="connsiteY0-62" fmla="*/ 47544 h 2116041"/>
              <a:gd name="connsiteX1-63" fmla="*/ 3160450 w 3666945"/>
              <a:gd name="connsiteY1-64" fmla="*/ 367140 h 2116041"/>
              <a:gd name="connsiteX2-65" fmla="*/ 3639845 w 3666945"/>
              <a:gd name="connsiteY2-66" fmla="*/ 2116041 h 2116041"/>
              <a:gd name="connsiteX0-67" fmla="*/ 0 w 3666945"/>
              <a:gd name="connsiteY0-68" fmla="*/ 86260 h 2154757"/>
              <a:gd name="connsiteX1-69" fmla="*/ 3160450 w 3666945"/>
              <a:gd name="connsiteY1-70" fmla="*/ 405856 h 2154757"/>
              <a:gd name="connsiteX2-71" fmla="*/ 3639845 w 3666945"/>
              <a:gd name="connsiteY2-72" fmla="*/ 2154757 h 2154757"/>
              <a:gd name="connsiteX0-73" fmla="*/ 0 w 4125487"/>
              <a:gd name="connsiteY0-74" fmla="*/ 42125860 h 42125860"/>
              <a:gd name="connsiteX1-75" fmla="*/ 3602410 w 4125487"/>
              <a:gd name="connsiteY1-76" fmla="*/ 2533123 h 42125860"/>
              <a:gd name="connsiteX2-77" fmla="*/ 4081805 w 4125487"/>
              <a:gd name="connsiteY2-78" fmla="*/ 4282024 h 42125860"/>
              <a:gd name="connsiteX0-79" fmla="*/ 854 w 4126341"/>
              <a:gd name="connsiteY0-80" fmla="*/ 42125860 h 42125860"/>
              <a:gd name="connsiteX1-81" fmla="*/ 3603264 w 4126341"/>
              <a:gd name="connsiteY1-82" fmla="*/ 2533123 h 42125860"/>
              <a:gd name="connsiteX2-83" fmla="*/ 4082659 w 4126341"/>
              <a:gd name="connsiteY2-84" fmla="*/ 4282024 h 42125860"/>
              <a:gd name="connsiteX0-85" fmla="*/ 911 w 3893925"/>
              <a:gd name="connsiteY0-86" fmla="*/ 41927071 h 41927071"/>
              <a:gd name="connsiteX1-87" fmla="*/ 3379801 w 3893925"/>
              <a:gd name="connsiteY1-88" fmla="*/ 2519542 h 41927071"/>
              <a:gd name="connsiteX2-89" fmla="*/ 3859196 w 3893925"/>
              <a:gd name="connsiteY2-90" fmla="*/ 4268443 h 41927071"/>
              <a:gd name="connsiteX0-91" fmla="*/ 8311 w 3866999"/>
              <a:gd name="connsiteY0-92" fmla="*/ 37907728 h 37907728"/>
              <a:gd name="connsiteX1-93" fmla="*/ 842121 w 3866999"/>
              <a:gd name="connsiteY1-94" fmla="*/ 6186331 h 37907728"/>
              <a:gd name="connsiteX2-95" fmla="*/ 3866596 w 3866999"/>
              <a:gd name="connsiteY2-96" fmla="*/ 249100 h 37907728"/>
              <a:gd name="connsiteX0-97" fmla="*/ 6452 w 3281040"/>
              <a:gd name="connsiteY0-98" fmla="*/ 34638751 h 34638751"/>
              <a:gd name="connsiteX1-99" fmla="*/ 840262 w 3281040"/>
              <a:gd name="connsiteY1-100" fmla="*/ 2917354 h 34638751"/>
              <a:gd name="connsiteX2-101" fmla="*/ 3280537 w 3281040"/>
              <a:gd name="connsiteY2-102" fmla="*/ 1888137 h 34638751"/>
              <a:gd name="connsiteX0-103" fmla="*/ 0 w 3274085"/>
              <a:gd name="connsiteY0-104" fmla="*/ 32750613 h 32750613"/>
              <a:gd name="connsiteX1-105" fmla="*/ 3274085 w 3274085"/>
              <a:gd name="connsiteY1-106" fmla="*/ -1 h 32750613"/>
              <a:gd name="connsiteX0-107" fmla="*/ 0 w 3274085"/>
              <a:gd name="connsiteY0-108" fmla="*/ 32750613 h 32750613"/>
              <a:gd name="connsiteX1-109" fmla="*/ 3274085 w 3274085"/>
              <a:gd name="connsiteY1-110" fmla="*/ -1 h 32750613"/>
              <a:gd name="connsiteX0-111" fmla="*/ 0 w 3274085"/>
              <a:gd name="connsiteY0-112" fmla="*/ 33107594 h 33107594"/>
              <a:gd name="connsiteX1-113" fmla="*/ 3274085 w 3274085"/>
              <a:gd name="connsiteY1-114" fmla="*/ 356980 h 33107594"/>
              <a:gd name="connsiteX0-115" fmla="*/ 0 w 3284245"/>
              <a:gd name="connsiteY0-116" fmla="*/ 33186891 h 33186891"/>
              <a:gd name="connsiteX1-117" fmla="*/ 3284245 w 3284245"/>
              <a:gd name="connsiteY1-118" fmla="*/ 343674 h 331868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284245" h="33186891">
                <a:moveTo>
                  <a:pt x="0" y="33186891"/>
                </a:moveTo>
                <a:cubicBezTo>
                  <a:pt x="24562" y="-5696386"/>
                  <a:pt x="1369923" y="333266"/>
                  <a:pt x="3284245" y="343674"/>
                </a:cubicBezTo>
              </a:path>
            </a:pathLst>
          </a:cu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SR-MPLS TE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67100" y="2345673"/>
            <a:ext cx="540000" cy="44280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67100" y="4275092"/>
            <a:ext cx="540000" cy="44280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739308" y="2345673"/>
            <a:ext cx="540000" cy="44280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739308" y="4275092"/>
            <a:ext cx="540000" cy="442800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611516" y="2345673"/>
            <a:ext cx="540000" cy="442800"/>
          </a:xfrm>
          <a:prstGeom prst="rect">
            <a:avLst/>
          </a:prstGeom>
        </p:spPr>
      </p:pic>
      <p:cxnSp>
        <p:nvCxnSpPr>
          <p:cNvPr id="16" name="直接连接符 15"/>
          <p:cNvCxnSpPr>
            <a:stCxn id="5" idx="3"/>
            <a:endCxn id="8" idx="1"/>
          </p:cNvCxnSpPr>
          <p:nvPr/>
        </p:nvCxnSpPr>
        <p:spPr bwMode="gray">
          <a:xfrm>
            <a:off x="1407100" y="2567073"/>
            <a:ext cx="13322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6" idx="3"/>
            <a:endCxn id="9" idx="1"/>
          </p:cNvCxnSpPr>
          <p:nvPr/>
        </p:nvCxnSpPr>
        <p:spPr bwMode="gray">
          <a:xfrm>
            <a:off x="1407100" y="4496492"/>
            <a:ext cx="13322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5" idx="2"/>
            <a:endCxn id="6" idx="0"/>
          </p:cNvCxnSpPr>
          <p:nvPr/>
        </p:nvCxnSpPr>
        <p:spPr bwMode="gray">
          <a:xfrm>
            <a:off x="1137100" y="2788473"/>
            <a:ext cx="0" cy="14866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8" idx="2"/>
            <a:endCxn id="9" idx="0"/>
          </p:cNvCxnSpPr>
          <p:nvPr/>
        </p:nvCxnSpPr>
        <p:spPr bwMode="gray">
          <a:xfrm>
            <a:off x="3009308" y="2788473"/>
            <a:ext cx="0" cy="14866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8" idx="3"/>
            <a:endCxn id="11" idx="1"/>
          </p:cNvCxnSpPr>
          <p:nvPr/>
        </p:nvCxnSpPr>
        <p:spPr bwMode="gray">
          <a:xfrm>
            <a:off x="3279308" y="2567073"/>
            <a:ext cx="13322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9" idx="3"/>
            <a:endCxn id="88" idx="1"/>
          </p:cNvCxnSpPr>
          <p:nvPr/>
        </p:nvCxnSpPr>
        <p:spPr bwMode="gray">
          <a:xfrm>
            <a:off x="3279308" y="4496492"/>
            <a:ext cx="13322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11" idx="2"/>
          </p:cNvCxnSpPr>
          <p:nvPr/>
        </p:nvCxnSpPr>
        <p:spPr bwMode="gray">
          <a:xfrm>
            <a:off x="4881516" y="2788473"/>
            <a:ext cx="0" cy="28370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 bwMode="gray">
          <a:xfrm>
            <a:off x="930152" y="4779148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矩形 52"/>
          <p:cNvSpPr/>
          <p:nvPr/>
        </p:nvSpPr>
        <p:spPr bwMode="gray">
          <a:xfrm>
            <a:off x="2807909" y="4779148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矩形 57"/>
          <p:cNvSpPr/>
          <p:nvPr/>
        </p:nvSpPr>
        <p:spPr bwMode="gray">
          <a:xfrm>
            <a:off x="930152" y="2018360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矩形 58"/>
          <p:cNvSpPr/>
          <p:nvPr/>
        </p:nvSpPr>
        <p:spPr bwMode="gray">
          <a:xfrm>
            <a:off x="2807909" y="2018360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矩形 59"/>
          <p:cNvSpPr/>
          <p:nvPr/>
        </p:nvSpPr>
        <p:spPr bwMode="gray">
          <a:xfrm>
            <a:off x="4674568" y="2018360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圆角矩形 62"/>
          <p:cNvSpPr/>
          <p:nvPr/>
        </p:nvSpPr>
        <p:spPr bwMode="gray">
          <a:xfrm>
            <a:off x="6096000" y="2210634"/>
            <a:ext cx="5547089" cy="400674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圆角矩形 63"/>
          <p:cNvSpPr/>
          <p:nvPr/>
        </p:nvSpPr>
        <p:spPr bwMode="gray">
          <a:xfrm>
            <a:off x="6096000" y="2719675"/>
            <a:ext cx="5547089" cy="2794689"/>
          </a:xfrm>
          <a:prstGeom prst="roundRect">
            <a:avLst>
              <a:gd name="adj" fmla="val 2222"/>
            </a:avLst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</a:ln>
        </p:spPr>
        <p:txBody>
          <a:bodyPr vert="horz" wrap="square" lIns="80141" tIns="40071" rIns="80141" bIns="40071" numCol="1" anchor="t" anchorCtr="0" compatLnSpc="1"/>
          <a:lstStyle/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使用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多个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进行组合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来指导数据转发，这种工作机制可以对数据的转发路径进行一定约束，从而满足流量工程的需求，因此被称为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Traffic Engine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）。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的组合形式：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654685" lvl="1" indent="-252095" defTabSz="913765" fontAlgn="ctr">
              <a:lnSpc>
                <a:spcPct val="14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使用多个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Node SID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54685" lvl="1" indent="-252095" defTabSz="913765" fontAlgn="ctr">
              <a:lnSpc>
                <a:spcPct val="14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使用多个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Adjacency SID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54685" lvl="1" indent="-252095" defTabSz="913765" fontAlgn="ctr">
              <a:lnSpc>
                <a:spcPct val="14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Node SID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Adjacency SID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组合，如图中所示。</a:t>
            </a:r>
            <a:endParaRPr lang="en-US" altLang="zh-CN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1" name="组合 70"/>
          <p:cNvGrpSpPr/>
          <p:nvPr/>
        </p:nvGrpSpPr>
        <p:grpSpPr bwMode="gray">
          <a:xfrm>
            <a:off x="4280034" y="4982648"/>
            <a:ext cx="1304009" cy="871898"/>
            <a:chOff x="4027703" y="3656700"/>
            <a:chExt cx="1304009" cy="871898"/>
          </a:xfrm>
        </p:grpSpPr>
        <p:grpSp>
          <p:nvGrpSpPr>
            <p:cNvPr id="72" name="组合 71"/>
            <p:cNvGrpSpPr/>
            <p:nvPr/>
          </p:nvGrpSpPr>
          <p:grpSpPr bwMode="gray">
            <a:xfrm>
              <a:off x="4027703" y="3656700"/>
              <a:ext cx="1304009" cy="871898"/>
              <a:chOff x="10125075" y="5439766"/>
              <a:chExt cx="1304009" cy="871898"/>
            </a:xfrm>
          </p:grpSpPr>
          <p:sp>
            <p:nvSpPr>
              <p:cNvPr id="79" name="矩形 78"/>
              <p:cNvSpPr/>
              <p:nvPr/>
            </p:nvSpPr>
            <p:spPr bwMode="gray">
              <a:xfrm>
                <a:off x="10472174" y="5924694"/>
                <a:ext cx="647760" cy="386970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 bwMode="gray">
              <a:xfrm>
                <a:off x="10379358" y="5439766"/>
                <a:ext cx="604768" cy="6047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 bwMode="gray">
              <a:xfrm>
                <a:off x="10125075" y="5625254"/>
                <a:ext cx="703036" cy="68641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 bwMode="gray">
              <a:xfrm>
                <a:off x="10792751" y="5675331"/>
                <a:ext cx="636333" cy="63633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83" name="椭圆 82"/>
              <p:cNvSpPr/>
              <p:nvPr/>
            </p:nvSpPr>
            <p:spPr bwMode="gray">
              <a:xfrm>
                <a:off x="10723031" y="5515085"/>
                <a:ext cx="463257" cy="46325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 bwMode="gray">
            <a:xfrm>
              <a:off x="4079776" y="3717032"/>
              <a:ext cx="1199862" cy="767350"/>
              <a:chOff x="10181272" y="5503352"/>
              <a:chExt cx="1199862" cy="767350"/>
            </a:xfrm>
          </p:grpSpPr>
          <p:sp>
            <p:nvSpPr>
              <p:cNvPr id="74" name="椭圆 73"/>
              <p:cNvSpPr/>
              <p:nvPr/>
            </p:nvSpPr>
            <p:spPr bwMode="gray">
              <a:xfrm>
                <a:off x="10463850" y="5503352"/>
                <a:ext cx="512609" cy="5126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5" name="椭圆 74"/>
              <p:cNvSpPr/>
              <p:nvPr/>
            </p:nvSpPr>
            <p:spPr bwMode="gray">
              <a:xfrm>
                <a:off x="10181272" y="5697686"/>
                <a:ext cx="573015" cy="5730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6" name="椭圆 75"/>
              <p:cNvSpPr/>
              <p:nvPr/>
            </p:nvSpPr>
            <p:spPr bwMode="gray">
              <a:xfrm>
                <a:off x="10798583" y="5688150"/>
                <a:ext cx="582551" cy="5825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 bwMode="gray">
              <a:xfrm>
                <a:off x="10792392" y="5578078"/>
                <a:ext cx="345057" cy="3450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8" name="矩形 77"/>
              <p:cNvSpPr/>
              <p:nvPr/>
            </p:nvSpPr>
            <p:spPr bwMode="gray">
              <a:xfrm>
                <a:off x="10454799" y="5883732"/>
                <a:ext cx="647760" cy="3869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84" name="矩形 83"/>
          <p:cNvSpPr/>
          <p:nvPr/>
        </p:nvSpPr>
        <p:spPr bwMode="gray">
          <a:xfrm>
            <a:off x="4398257" y="5222900"/>
            <a:ext cx="104067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814705">
              <a:buClr>
                <a:schemeClr val="accent1"/>
              </a:buClr>
              <a:buSzPct val="100000"/>
            </a:pPr>
            <a:r>
              <a:rPr lang="en-US" altLang="zh-CN" sz="1500" kern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6.6.6.0/24</a:t>
            </a:r>
            <a:endParaRPr lang="en-US" altLang="zh-CN" sz="15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86" name="矩形 85"/>
          <p:cNvSpPr/>
          <p:nvPr/>
        </p:nvSpPr>
        <p:spPr bwMode="gray">
          <a:xfrm>
            <a:off x="4531882" y="5472329"/>
            <a:ext cx="7056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16002</a:t>
            </a:r>
            <a:endParaRPr lang="en-US" altLang="zh-CN" sz="1400" b="1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8" name="图片 8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611516" y="4275092"/>
            <a:ext cx="540000" cy="442800"/>
          </a:xfrm>
          <a:prstGeom prst="rect">
            <a:avLst/>
          </a:prstGeom>
        </p:spPr>
      </p:pic>
      <p:sp>
        <p:nvSpPr>
          <p:cNvPr id="89" name="矩形 88"/>
          <p:cNvSpPr/>
          <p:nvPr/>
        </p:nvSpPr>
        <p:spPr bwMode="gray">
          <a:xfrm>
            <a:off x="5135610" y="4342603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矩形 90"/>
          <p:cNvSpPr/>
          <p:nvPr/>
        </p:nvSpPr>
        <p:spPr bwMode="gray">
          <a:xfrm>
            <a:off x="5127294" y="4600246"/>
            <a:ext cx="497252" cy="307777"/>
          </a:xfrm>
          <a:prstGeom prst="rect">
            <a:avLst/>
          </a:prstGeom>
          <a:solidFill>
            <a:srgbClr val="FF0066"/>
          </a:solidFill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606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2" name="直接连接符 91"/>
          <p:cNvCxnSpPr/>
          <p:nvPr/>
        </p:nvCxnSpPr>
        <p:spPr bwMode="gray">
          <a:xfrm>
            <a:off x="1136093" y="1138983"/>
            <a:ext cx="0" cy="872238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任意多边形 98"/>
          <p:cNvSpPr/>
          <p:nvPr/>
        </p:nvSpPr>
        <p:spPr bwMode="gray">
          <a:xfrm>
            <a:off x="1505079" y="2717835"/>
            <a:ext cx="3044166" cy="1622863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-1" fmla="*/ 0 w 3287214"/>
              <a:gd name="connsiteY0-2" fmla="*/ 0 h 1669002"/>
              <a:gd name="connsiteX1-3" fmla="*/ 2938508 w 3287214"/>
              <a:gd name="connsiteY1-4" fmla="*/ 26633 h 1669002"/>
              <a:gd name="connsiteX2-5" fmla="*/ 3204838 w 3287214"/>
              <a:gd name="connsiteY2-6" fmla="*/ 1669002 h 1669002"/>
              <a:gd name="connsiteX0-7" fmla="*/ 0 w 3310312"/>
              <a:gd name="connsiteY0-8" fmla="*/ 102151 h 1771153"/>
              <a:gd name="connsiteX1-9" fmla="*/ 2938508 w 3310312"/>
              <a:gd name="connsiteY1-10" fmla="*/ 128784 h 1771153"/>
              <a:gd name="connsiteX2-11" fmla="*/ 3204838 w 3310312"/>
              <a:gd name="connsiteY2-12" fmla="*/ 1771153 h 1771153"/>
              <a:gd name="connsiteX0-13" fmla="*/ 0 w 3268527"/>
              <a:gd name="connsiteY0-14" fmla="*/ 449497 h 2118499"/>
              <a:gd name="connsiteX1-15" fmla="*/ 2823098 w 3268527"/>
              <a:gd name="connsiteY1-16" fmla="*/ 67757 h 2118499"/>
              <a:gd name="connsiteX2-17" fmla="*/ 3204838 w 3268527"/>
              <a:gd name="connsiteY2-18" fmla="*/ 2118499 h 2118499"/>
              <a:gd name="connsiteX0-19" fmla="*/ 0 w 3245185"/>
              <a:gd name="connsiteY0-20" fmla="*/ 400710 h 2069712"/>
              <a:gd name="connsiteX1-21" fmla="*/ 2716566 w 3245185"/>
              <a:gd name="connsiteY1-22" fmla="*/ 72236 h 2069712"/>
              <a:gd name="connsiteX2-23" fmla="*/ 3204838 w 3245185"/>
              <a:gd name="connsiteY2-24" fmla="*/ 2069712 h 2069712"/>
              <a:gd name="connsiteX0-25" fmla="*/ 0 w 3207623"/>
              <a:gd name="connsiteY0-26" fmla="*/ 408402 h 2201692"/>
              <a:gd name="connsiteX1-27" fmla="*/ 2716566 w 3207623"/>
              <a:gd name="connsiteY1-28" fmla="*/ 79928 h 2201692"/>
              <a:gd name="connsiteX2-29" fmla="*/ 3160450 w 3207623"/>
              <a:gd name="connsiteY2-30" fmla="*/ 2201692 h 2201692"/>
              <a:gd name="connsiteX0-31" fmla="*/ 0 w 3180591"/>
              <a:gd name="connsiteY0-32" fmla="*/ 408402 h 2201692"/>
              <a:gd name="connsiteX1-33" fmla="*/ 2716566 w 3180591"/>
              <a:gd name="connsiteY1-34" fmla="*/ 79928 h 2201692"/>
              <a:gd name="connsiteX2-35" fmla="*/ 3160450 w 3180591"/>
              <a:gd name="connsiteY2-36" fmla="*/ 2201692 h 2201692"/>
              <a:gd name="connsiteX0-37" fmla="*/ 0 w 3598264"/>
              <a:gd name="connsiteY0-38" fmla="*/ 412296 h 2267729"/>
              <a:gd name="connsiteX1-39" fmla="*/ 2716566 w 3598264"/>
              <a:gd name="connsiteY1-40" fmla="*/ 83822 h 2267729"/>
              <a:gd name="connsiteX2-41" fmla="*/ 3595456 w 3598264"/>
              <a:gd name="connsiteY2-42" fmla="*/ 2267729 h 2267729"/>
              <a:gd name="connsiteX0-43" fmla="*/ 0 w 3621154"/>
              <a:gd name="connsiteY0-44" fmla="*/ 62433 h 1917866"/>
              <a:gd name="connsiteX1-45" fmla="*/ 3116061 w 3621154"/>
              <a:gd name="connsiteY1-46" fmla="*/ 168965 h 1917866"/>
              <a:gd name="connsiteX2-47" fmla="*/ 3595456 w 3621154"/>
              <a:gd name="connsiteY2-48" fmla="*/ 1917866 h 1917866"/>
              <a:gd name="connsiteX0-49" fmla="*/ 0 w 3666945"/>
              <a:gd name="connsiteY0-50" fmla="*/ 0 h 2121763"/>
              <a:gd name="connsiteX1-51" fmla="*/ 3160450 w 3666945"/>
              <a:gd name="connsiteY1-52" fmla="*/ 372862 h 2121763"/>
              <a:gd name="connsiteX2-53" fmla="*/ 3639845 w 3666945"/>
              <a:gd name="connsiteY2-54" fmla="*/ 2121763 h 2121763"/>
              <a:gd name="connsiteX0-55" fmla="*/ 0 w 3666945"/>
              <a:gd name="connsiteY0-56" fmla="*/ 40339 h 2162102"/>
              <a:gd name="connsiteX1-57" fmla="*/ 3160450 w 3666945"/>
              <a:gd name="connsiteY1-58" fmla="*/ 413201 h 2162102"/>
              <a:gd name="connsiteX2-59" fmla="*/ 3639845 w 3666945"/>
              <a:gd name="connsiteY2-60" fmla="*/ 2162102 h 2162102"/>
              <a:gd name="connsiteX0-61" fmla="*/ 0 w 3666945"/>
              <a:gd name="connsiteY0-62" fmla="*/ 47544 h 2116041"/>
              <a:gd name="connsiteX1-63" fmla="*/ 3160450 w 3666945"/>
              <a:gd name="connsiteY1-64" fmla="*/ 367140 h 2116041"/>
              <a:gd name="connsiteX2-65" fmla="*/ 3639845 w 3666945"/>
              <a:gd name="connsiteY2-66" fmla="*/ 2116041 h 2116041"/>
              <a:gd name="connsiteX0-67" fmla="*/ 0 w 3666945"/>
              <a:gd name="connsiteY0-68" fmla="*/ 86260 h 2154757"/>
              <a:gd name="connsiteX1-69" fmla="*/ 3160450 w 3666945"/>
              <a:gd name="connsiteY1-70" fmla="*/ 405856 h 2154757"/>
              <a:gd name="connsiteX2-71" fmla="*/ 3639845 w 3666945"/>
              <a:gd name="connsiteY2-72" fmla="*/ 2154757 h 2154757"/>
              <a:gd name="connsiteX0-73" fmla="*/ 0 w 3778794"/>
              <a:gd name="connsiteY0-74" fmla="*/ 76479 h 1789376"/>
              <a:gd name="connsiteX1-75" fmla="*/ 3160450 w 3778794"/>
              <a:gd name="connsiteY1-76" fmla="*/ 396075 h 1789376"/>
              <a:gd name="connsiteX2-77" fmla="*/ 3767509 w 3778794"/>
              <a:gd name="connsiteY2-78" fmla="*/ 1789376 h 1789376"/>
              <a:gd name="connsiteX0-79" fmla="*/ 0 w 3767509"/>
              <a:gd name="connsiteY0-80" fmla="*/ 76479 h 1789376"/>
              <a:gd name="connsiteX1-81" fmla="*/ 3160450 w 3767509"/>
              <a:gd name="connsiteY1-82" fmla="*/ 396075 h 1789376"/>
              <a:gd name="connsiteX2-83" fmla="*/ 3767509 w 3767509"/>
              <a:gd name="connsiteY2-84" fmla="*/ 1789376 h 1789376"/>
              <a:gd name="connsiteX0-85" fmla="*/ 0 w 3767509"/>
              <a:gd name="connsiteY0-86" fmla="*/ 18427 h 1731324"/>
              <a:gd name="connsiteX1-87" fmla="*/ 1959248 w 3767509"/>
              <a:gd name="connsiteY1-88" fmla="*/ 1653743 h 1731324"/>
              <a:gd name="connsiteX2-89" fmla="*/ 3767509 w 3767509"/>
              <a:gd name="connsiteY2-90" fmla="*/ 1731324 h 1731324"/>
              <a:gd name="connsiteX0-91" fmla="*/ 0 w 3767509"/>
              <a:gd name="connsiteY0-92" fmla="*/ 18427 h 1813293"/>
              <a:gd name="connsiteX1-93" fmla="*/ 1959248 w 3767509"/>
              <a:gd name="connsiteY1-94" fmla="*/ 1653743 h 1813293"/>
              <a:gd name="connsiteX2-95" fmla="*/ 3767509 w 3767509"/>
              <a:gd name="connsiteY2-96" fmla="*/ 1731324 h 1813293"/>
              <a:gd name="connsiteX0-97" fmla="*/ 0 w 3767509"/>
              <a:gd name="connsiteY0-98" fmla="*/ 20368 h 1748347"/>
              <a:gd name="connsiteX1-99" fmla="*/ 1918628 w 3767509"/>
              <a:gd name="connsiteY1-100" fmla="*/ 1493124 h 1748347"/>
              <a:gd name="connsiteX2-101" fmla="*/ 3767509 w 3767509"/>
              <a:gd name="connsiteY2-102" fmla="*/ 1733265 h 1748347"/>
              <a:gd name="connsiteX0-103" fmla="*/ 0 w 3767509"/>
              <a:gd name="connsiteY0-104" fmla="*/ 19472 h 1767951"/>
              <a:gd name="connsiteX1-105" fmla="*/ 1819979 w 3767509"/>
              <a:gd name="connsiteY1-106" fmla="*/ 1563348 h 1767951"/>
              <a:gd name="connsiteX2-107" fmla="*/ 3767509 w 3767509"/>
              <a:gd name="connsiteY2-108" fmla="*/ 1732369 h 1767951"/>
              <a:gd name="connsiteX0-109" fmla="*/ 0 w 3721086"/>
              <a:gd name="connsiteY0-110" fmla="*/ 22985 h 1462998"/>
              <a:gd name="connsiteX1-111" fmla="*/ 1773556 w 3721086"/>
              <a:gd name="connsiteY1-112" fmla="*/ 1272221 h 1462998"/>
              <a:gd name="connsiteX2-113" fmla="*/ 3721086 w 3721086"/>
              <a:gd name="connsiteY2-114" fmla="*/ 1441242 h 1462998"/>
              <a:gd name="connsiteX0-115" fmla="*/ 0 w 3721086"/>
              <a:gd name="connsiteY0-116" fmla="*/ 190 h 1440203"/>
              <a:gd name="connsiteX1-117" fmla="*/ 1773556 w 3721086"/>
              <a:gd name="connsiteY1-118" fmla="*/ 1249426 h 1440203"/>
              <a:gd name="connsiteX2-119" fmla="*/ 3721086 w 3721086"/>
              <a:gd name="connsiteY2-120" fmla="*/ 1418447 h 1440203"/>
              <a:gd name="connsiteX0-121" fmla="*/ 0 w 3721086"/>
              <a:gd name="connsiteY0-122" fmla="*/ 186 h 1461352"/>
              <a:gd name="connsiteX1-123" fmla="*/ 1773556 w 3721086"/>
              <a:gd name="connsiteY1-124" fmla="*/ 1269742 h 1461352"/>
              <a:gd name="connsiteX2-125" fmla="*/ 3721086 w 3721086"/>
              <a:gd name="connsiteY2-126" fmla="*/ 1438763 h 1461352"/>
              <a:gd name="connsiteX0-127" fmla="*/ 0 w 3721086"/>
              <a:gd name="connsiteY0-128" fmla="*/ 181 h 1474013"/>
              <a:gd name="connsiteX1-129" fmla="*/ 1901220 w 3721086"/>
              <a:gd name="connsiteY1-130" fmla="*/ 1305297 h 1474013"/>
              <a:gd name="connsiteX2-131" fmla="*/ 3721086 w 3721086"/>
              <a:gd name="connsiteY2-132" fmla="*/ 1438758 h 1474013"/>
              <a:gd name="connsiteX0-133" fmla="*/ 0 w 3721086"/>
              <a:gd name="connsiteY0-134" fmla="*/ 221 h 1553004"/>
              <a:gd name="connsiteX1-135" fmla="*/ 1901220 w 3721086"/>
              <a:gd name="connsiteY1-136" fmla="*/ 1305337 h 1553004"/>
              <a:gd name="connsiteX2-137" fmla="*/ 3721086 w 3721086"/>
              <a:gd name="connsiteY2-138" fmla="*/ 1438798 h 1553004"/>
              <a:gd name="connsiteX0-139" fmla="*/ 0 w 3721086"/>
              <a:gd name="connsiteY0-140" fmla="*/ 276 h 1469990"/>
              <a:gd name="connsiteX1-141" fmla="*/ 1866403 w 3721086"/>
              <a:gd name="connsiteY1-142" fmla="*/ 1127592 h 1469990"/>
              <a:gd name="connsiteX2-143" fmla="*/ 3721086 w 3721086"/>
              <a:gd name="connsiteY2-144" fmla="*/ 1438853 h 1469990"/>
              <a:gd name="connsiteX0-145" fmla="*/ 0 w 3721086"/>
              <a:gd name="connsiteY0-146" fmla="*/ 293 h 1481168"/>
              <a:gd name="connsiteX1-147" fmla="*/ 1866403 w 3721086"/>
              <a:gd name="connsiteY1-148" fmla="*/ 1127609 h 1481168"/>
              <a:gd name="connsiteX2-149" fmla="*/ 3721086 w 3721086"/>
              <a:gd name="connsiteY2-150" fmla="*/ 1438870 h 1481168"/>
              <a:gd name="connsiteX0-151" fmla="*/ 0 w 3721086"/>
              <a:gd name="connsiteY0-152" fmla="*/ 0 h 1438577"/>
              <a:gd name="connsiteX1-153" fmla="*/ 3721086 w 3721086"/>
              <a:gd name="connsiteY1-154" fmla="*/ 1438577 h 1438577"/>
              <a:gd name="connsiteX0-155" fmla="*/ 0 w 3721086"/>
              <a:gd name="connsiteY0-156" fmla="*/ 1384 h 1439961"/>
              <a:gd name="connsiteX1-157" fmla="*/ 3721086 w 3721086"/>
              <a:gd name="connsiteY1-158" fmla="*/ 1439961 h 1439961"/>
              <a:gd name="connsiteX0-159" fmla="*/ 0 w 3721086"/>
              <a:gd name="connsiteY0-160" fmla="*/ 811 h 1465328"/>
              <a:gd name="connsiteX1-161" fmla="*/ 3721086 w 3721086"/>
              <a:gd name="connsiteY1-162" fmla="*/ 1439388 h 1465328"/>
              <a:gd name="connsiteX0-163" fmla="*/ 0 w 3721086"/>
              <a:gd name="connsiteY0-164" fmla="*/ 1220 h 1465603"/>
              <a:gd name="connsiteX1-165" fmla="*/ 3721086 w 3721086"/>
              <a:gd name="connsiteY1-166" fmla="*/ 1439797 h 1465603"/>
              <a:gd name="connsiteX0-167" fmla="*/ 0 w 3686269"/>
              <a:gd name="connsiteY0-168" fmla="*/ 1217 h 1470612"/>
              <a:gd name="connsiteX1-169" fmla="*/ 3686269 w 3686269"/>
              <a:gd name="connsiteY1-170" fmla="*/ 1444874 h 1470612"/>
              <a:gd name="connsiteX0-171" fmla="*/ 0 w 3686269"/>
              <a:gd name="connsiteY0-172" fmla="*/ 1402 h 1445223"/>
              <a:gd name="connsiteX1-173" fmla="*/ 3686269 w 3686269"/>
              <a:gd name="connsiteY1-174" fmla="*/ 1445059 h 1445223"/>
              <a:gd name="connsiteX0-175" fmla="*/ 0 w 3436744"/>
              <a:gd name="connsiteY0-176" fmla="*/ 1259 h 1622863"/>
              <a:gd name="connsiteX1-177" fmla="*/ 3436744 w 3436744"/>
              <a:gd name="connsiteY1-178" fmla="*/ 1622716 h 1622863"/>
              <a:gd name="connsiteX0-179" fmla="*/ 0 w 3477364"/>
              <a:gd name="connsiteY0-180" fmla="*/ 1259 h 1622863"/>
              <a:gd name="connsiteX1-181" fmla="*/ 3477364 w 3477364"/>
              <a:gd name="connsiteY1-182" fmla="*/ 1622716 h 16228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477364" h="1622863">
                <a:moveTo>
                  <a:pt x="0" y="1259"/>
                </a:moveTo>
                <a:cubicBezTo>
                  <a:pt x="3248167" y="-52615"/>
                  <a:pt x="-339489" y="1641030"/>
                  <a:pt x="3477364" y="1622716"/>
                </a:cubicBezTo>
              </a:path>
            </a:pathLst>
          </a:cu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矩形 48"/>
          <p:cNvSpPr/>
          <p:nvPr/>
        </p:nvSpPr>
        <p:spPr bwMode="gray">
          <a:xfrm>
            <a:off x="2767896" y="1737386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FF006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202</a:t>
            </a:r>
            <a:endParaRPr lang="zh-CN" altLang="en-US" sz="1400" b="1">
              <a:solidFill>
                <a:srgbClr val="FF0066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矩形 50"/>
          <p:cNvSpPr/>
          <p:nvPr/>
        </p:nvSpPr>
        <p:spPr bwMode="gray">
          <a:xfrm>
            <a:off x="2988202" y="2848718"/>
            <a:ext cx="601447" cy="307777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1025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矩形 51"/>
          <p:cNvSpPr/>
          <p:nvPr/>
        </p:nvSpPr>
        <p:spPr bwMode="gray">
          <a:xfrm>
            <a:off x="1304930" y="1808717"/>
            <a:ext cx="640251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400" b="1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1304930" y="1581926"/>
            <a:ext cx="640251" cy="215444"/>
          </a:xfrm>
          <a:prstGeom prst="rect">
            <a:avLst/>
          </a:prstGeom>
          <a:solidFill>
            <a:srgbClr val="FF0066"/>
          </a:solidFill>
          <a:ln w="19050">
            <a:solidFill>
              <a:srgbClr val="FF0000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606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304930" y="1360526"/>
            <a:ext cx="640251" cy="215444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1025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矩形 60"/>
          <p:cNvSpPr/>
          <p:nvPr/>
        </p:nvSpPr>
        <p:spPr bwMode="gray">
          <a:xfrm>
            <a:off x="1304930" y="1138983"/>
            <a:ext cx="640251" cy="215444"/>
          </a:xfrm>
          <a:prstGeom prst="rect">
            <a:avLst/>
          </a:prstGeom>
          <a:solidFill>
            <a:srgbClr val="FF0066"/>
          </a:solidFill>
          <a:ln w="19050">
            <a:solidFill>
              <a:srgbClr val="FF0000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202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SR-MPLS BE LSP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 bwMode="gray">
          <a:xfrm flipH="1">
            <a:off x="2365303" y="2419348"/>
            <a:ext cx="64807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 bwMode="gray">
          <a:xfrm flipV="1">
            <a:off x="8884423" y="2158793"/>
            <a:ext cx="0" cy="5229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>
            <p:custDataLst>
              <p:tags r:id="rId3"/>
            </p:custDataLst>
          </p:nvPr>
        </p:nvSpPr>
        <p:spPr bwMode="gray">
          <a:xfrm>
            <a:off x="8918031" y="2050016"/>
            <a:ext cx="19077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4.4.4.4/32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b="1" dirty="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index 100</a:t>
            </a:r>
            <a:endParaRPr lang="zh-CN" altLang="en-US" sz="1400" b="1" dirty="0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 bwMode="gray">
          <a:xfrm>
            <a:off x="2433221" y="2653849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 bwMode="gray">
          <a:xfrm>
            <a:off x="4295410" y="2653849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 bwMode="gray">
          <a:xfrm>
            <a:off x="6140379" y="2653849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 bwMode="gray">
          <a:xfrm>
            <a:off x="8018717" y="2653849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 bwMode="gray">
          <a:xfrm>
            <a:off x="2007623" y="1572064"/>
            <a:ext cx="12650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20000-65535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 bwMode="gray">
          <a:xfrm>
            <a:off x="3869812" y="1572064"/>
            <a:ext cx="12650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30000-65535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 bwMode="gray">
          <a:xfrm>
            <a:off x="5714781" y="1572064"/>
            <a:ext cx="12650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40000-65535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>
            <p:custDataLst>
              <p:tags r:id="rId11"/>
            </p:custDataLst>
          </p:nvPr>
        </p:nvSpPr>
        <p:spPr bwMode="gray">
          <a:xfrm>
            <a:off x="7593119" y="1572064"/>
            <a:ext cx="12650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50000-65535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2"/>
            </p:custDataLst>
          </p:nvPr>
        </p:nvCxnSpPr>
        <p:spPr bwMode="gray">
          <a:xfrm flipH="1">
            <a:off x="6639413" y="2921220"/>
            <a:ext cx="1312458" cy="0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>
            <p:custDataLst>
              <p:tags r:id="rId13"/>
            </p:custDataLst>
          </p:nvPr>
        </p:nvSpPr>
        <p:spPr bwMode="gray">
          <a:xfrm>
            <a:off x="6639413" y="2971526"/>
            <a:ext cx="14350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SID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及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14"/>
            </p:custDataLst>
          </p:nvPr>
        </p:nvCxnSpPr>
        <p:spPr bwMode="gray">
          <a:xfrm flipH="1">
            <a:off x="4777224" y="2921220"/>
            <a:ext cx="1312458" cy="0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>
            <p:custDataLst>
              <p:tags r:id="rId15"/>
            </p:custDataLst>
          </p:nvPr>
        </p:nvSpPr>
        <p:spPr bwMode="gray">
          <a:xfrm>
            <a:off x="4777224" y="2971526"/>
            <a:ext cx="14350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SID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及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16"/>
            </p:custDataLst>
          </p:nvPr>
        </p:nvCxnSpPr>
        <p:spPr bwMode="gray">
          <a:xfrm flipH="1">
            <a:off x="2915035" y="2921220"/>
            <a:ext cx="1312458" cy="0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>
            <p:custDataLst>
              <p:tags r:id="rId17"/>
            </p:custDataLst>
          </p:nvPr>
        </p:nvSpPr>
        <p:spPr bwMode="gray">
          <a:xfrm>
            <a:off x="2915035" y="2971526"/>
            <a:ext cx="14350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SID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及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>
            <p:custDataLst>
              <p:tags r:id="rId18"/>
            </p:custDataLst>
          </p:nvPr>
        </p:nvSpPr>
        <p:spPr bwMode="gray">
          <a:xfrm>
            <a:off x="7424457" y="3796511"/>
            <a:ext cx="1602412" cy="567053"/>
          </a:xfrm>
          <a:prstGeom prst="rect">
            <a:avLst/>
          </a:prstGeom>
          <a:solidFill>
            <a:srgbClr val="FFCC66"/>
          </a:solidFill>
          <a:ln w="19050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入站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50100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矩形 31"/>
          <p:cNvSpPr/>
          <p:nvPr>
            <p:custDataLst>
              <p:tags r:id="rId19"/>
            </p:custDataLst>
          </p:nvPr>
        </p:nvSpPr>
        <p:spPr bwMode="gray">
          <a:xfrm>
            <a:off x="5546090" y="3796665"/>
            <a:ext cx="1797050" cy="567055"/>
          </a:xfrm>
          <a:prstGeom prst="rect">
            <a:avLst/>
          </a:prstGeom>
          <a:solidFill>
            <a:srgbClr val="FFCC66"/>
          </a:solidFill>
          <a:ln w="19050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入站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40100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出站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50100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>
            <p:custDataLst>
              <p:tags r:id="rId20"/>
            </p:custDataLst>
          </p:nvPr>
        </p:nvSpPr>
        <p:spPr bwMode="gray">
          <a:xfrm>
            <a:off x="3625215" y="3775075"/>
            <a:ext cx="1839595" cy="567055"/>
          </a:xfrm>
          <a:prstGeom prst="rect">
            <a:avLst/>
          </a:prstGeom>
          <a:solidFill>
            <a:srgbClr val="FFCC66"/>
          </a:solidFill>
          <a:ln w="19050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入站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30100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出站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40100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>
            <p:custDataLst>
              <p:tags r:id="rId21"/>
            </p:custDataLst>
          </p:nvPr>
        </p:nvSpPr>
        <p:spPr bwMode="gray">
          <a:xfrm>
            <a:off x="1344295" y="3796665"/>
            <a:ext cx="2096770" cy="567055"/>
          </a:xfrm>
          <a:prstGeom prst="rect">
            <a:avLst/>
          </a:prstGeom>
          <a:solidFill>
            <a:srgbClr val="FFCC66"/>
          </a:solidFill>
          <a:ln w="19050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入站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20100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出站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30100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5" name="直接连接符 34"/>
          <p:cNvCxnSpPr/>
          <p:nvPr>
            <p:custDataLst>
              <p:tags r:id="rId22"/>
            </p:custDataLst>
          </p:nvPr>
        </p:nvCxnSpPr>
        <p:spPr bwMode="gray">
          <a:xfrm>
            <a:off x="8230262" y="2971526"/>
            <a:ext cx="0" cy="82498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23"/>
            </p:custDataLst>
          </p:nvPr>
        </p:nvCxnSpPr>
        <p:spPr bwMode="gray">
          <a:xfrm>
            <a:off x="6376274" y="2971526"/>
            <a:ext cx="0" cy="82498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24"/>
            </p:custDataLst>
          </p:nvPr>
        </p:nvCxnSpPr>
        <p:spPr bwMode="gray">
          <a:xfrm>
            <a:off x="4504066" y="2971526"/>
            <a:ext cx="0" cy="82498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25"/>
            </p:custDataLst>
          </p:nvPr>
        </p:nvCxnSpPr>
        <p:spPr bwMode="gray">
          <a:xfrm>
            <a:off x="2627085" y="2971526"/>
            <a:ext cx="0" cy="82498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 bwMode="gray">
          <a:xfrm>
            <a:off x="1493328" y="4621496"/>
            <a:ext cx="1029895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 LSP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是指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技术建立的标签转发路径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，由一个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或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Node Segment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指导数据包转发。 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其中，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是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指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使用最短路径算法计算得到的最优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 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 LSP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的创建过程和数据转发与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LSP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类似。</a:t>
            </a:r>
            <a:r>
              <a:rPr lang="zh-CN" altLang="en-US" sz="1600" dirty="0">
                <a:solidFill>
                  <a:srgbClr val="FF0000"/>
                </a:solidFill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这种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olidFill>
                  <a:srgbClr val="FF0000"/>
                </a:solidFill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不存在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</a:t>
            </a:r>
            <a:r>
              <a:rPr lang="zh-CN" altLang="en-US" sz="1600" dirty="0">
                <a:solidFill>
                  <a:srgbClr val="FF0000"/>
                </a:solidFill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4" name="图片 43"/>
          <p:cNvPicPr/>
          <p:nvPr>
            <p:custDataLst>
              <p:tags r:id="rId26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57085" y="2197948"/>
            <a:ext cx="540000" cy="442800"/>
          </a:xfrm>
          <a:prstGeom prst="rect">
            <a:avLst/>
          </a:prstGeom>
        </p:spPr>
      </p:pic>
      <p:pic>
        <p:nvPicPr>
          <p:cNvPr id="45" name="图片 44"/>
          <p:cNvPicPr/>
          <p:nvPr>
            <p:custDataLst>
              <p:tags r:id="rId28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237224" y="2197948"/>
            <a:ext cx="540000" cy="442800"/>
          </a:xfrm>
          <a:prstGeom prst="rect">
            <a:avLst/>
          </a:prstGeom>
        </p:spPr>
      </p:pic>
      <p:pic>
        <p:nvPicPr>
          <p:cNvPr id="46" name="图片 45"/>
          <p:cNvPicPr/>
          <p:nvPr>
            <p:custDataLst>
              <p:tags r:id="rId29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102803" y="2197948"/>
            <a:ext cx="540000" cy="442800"/>
          </a:xfrm>
          <a:prstGeom prst="rect">
            <a:avLst/>
          </a:prstGeom>
        </p:spPr>
      </p:pic>
      <p:pic>
        <p:nvPicPr>
          <p:cNvPr id="47" name="图片 46"/>
          <p:cNvPicPr/>
          <p:nvPr>
            <p:custDataLst>
              <p:tags r:id="rId30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55663" y="2197948"/>
            <a:ext cx="540000" cy="442800"/>
          </a:xfrm>
          <a:prstGeom prst="rect">
            <a:avLst/>
          </a:prstGeom>
        </p:spPr>
      </p:pic>
      <p:sp>
        <p:nvSpPr>
          <p:cNvPr id="36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SR-MPLS BE LSP</a:t>
            </a:r>
            <a:r>
              <a:rPr lang="zh-CN" altLang="en-US">
                <a:sym typeface="Huawei Sans" panose="020C0503030203020204" pitchFamily="34" charset="0"/>
              </a:rPr>
              <a:t>的创建</a:t>
            </a:r>
            <a:endParaRPr lang="zh-CN" altLang="en-US"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 bwMode="gray">
          <a:xfrm flipH="1">
            <a:off x="2365303" y="2053590"/>
            <a:ext cx="64807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gray">
          <a:xfrm flipV="1">
            <a:off x="8884423" y="1793035"/>
            <a:ext cx="0" cy="5229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 bwMode="gray">
          <a:xfrm>
            <a:off x="8918031" y="1684258"/>
            <a:ext cx="143500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4.4.4.4/32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b="1" dirty="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SID=100</a:t>
            </a:r>
            <a:endParaRPr lang="zh-CN" altLang="en-US" sz="1400" b="1" dirty="0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矩形 12"/>
          <p:cNvSpPr/>
          <p:nvPr/>
        </p:nvSpPr>
        <p:spPr bwMode="gray">
          <a:xfrm>
            <a:off x="2433221" y="2288091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gray">
          <a:xfrm>
            <a:off x="4295410" y="2288091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矩形 14"/>
          <p:cNvSpPr/>
          <p:nvPr/>
        </p:nvSpPr>
        <p:spPr bwMode="gray">
          <a:xfrm>
            <a:off x="6140379" y="2288091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gray">
          <a:xfrm>
            <a:off x="8018717" y="2288091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2007623" y="1206306"/>
            <a:ext cx="12650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20000-65535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3869812" y="1206306"/>
            <a:ext cx="12650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30000-65535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5714781" y="1206306"/>
            <a:ext cx="12650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40000-65535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593119" y="1206306"/>
            <a:ext cx="12650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50000-65535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1" name="直接连接符 20"/>
          <p:cNvCxnSpPr/>
          <p:nvPr/>
        </p:nvCxnSpPr>
        <p:spPr bwMode="gray">
          <a:xfrm flipH="1">
            <a:off x="6639413" y="2555462"/>
            <a:ext cx="1312458" cy="0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 bwMode="gray">
          <a:xfrm>
            <a:off x="6639413" y="2605768"/>
            <a:ext cx="14350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SID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及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6" name="直接连接符 25"/>
          <p:cNvCxnSpPr/>
          <p:nvPr/>
        </p:nvCxnSpPr>
        <p:spPr bwMode="gray">
          <a:xfrm flipH="1">
            <a:off x="4777224" y="2555462"/>
            <a:ext cx="1312458" cy="0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 bwMode="gray">
          <a:xfrm>
            <a:off x="4777224" y="2605768"/>
            <a:ext cx="14350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SID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及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8" name="直接连接符 27"/>
          <p:cNvCxnSpPr/>
          <p:nvPr/>
        </p:nvCxnSpPr>
        <p:spPr bwMode="gray">
          <a:xfrm flipH="1">
            <a:off x="2915035" y="2555462"/>
            <a:ext cx="1312458" cy="0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 bwMode="gray">
          <a:xfrm>
            <a:off x="2915035" y="2605768"/>
            <a:ext cx="14350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SID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及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7424457" y="3430753"/>
            <a:ext cx="1602412" cy="567053"/>
          </a:xfrm>
          <a:prstGeom prst="rect">
            <a:avLst/>
          </a:prstGeom>
          <a:solidFill>
            <a:srgbClr val="FFCC66"/>
          </a:solidFill>
          <a:ln w="19050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入站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50100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矩形 31"/>
          <p:cNvSpPr/>
          <p:nvPr/>
        </p:nvSpPr>
        <p:spPr bwMode="gray">
          <a:xfrm>
            <a:off x="5478145" y="3430905"/>
            <a:ext cx="1670050" cy="567055"/>
          </a:xfrm>
          <a:prstGeom prst="rect">
            <a:avLst/>
          </a:prstGeom>
          <a:solidFill>
            <a:srgbClr val="FFCC66"/>
          </a:solidFill>
          <a:ln w="19050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入站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40100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出站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50100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3667760" y="3430905"/>
            <a:ext cx="1672590" cy="567055"/>
          </a:xfrm>
          <a:prstGeom prst="rect">
            <a:avLst/>
          </a:prstGeom>
          <a:solidFill>
            <a:srgbClr val="FFCC66"/>
          </a:solidFill>
          <a:ln w="19050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入站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30100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出站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40100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1718310" y="3430905"/>
            <a:ext cx="1722755" cy="567055"/>
          </a:xfrm>
          <a:prstGeom prst="rect">
            <a:avLst/>
          </a:prstGeom>
          <a:solidFill>
            <a:srgbClr val="FFCC66"/>
          </a:solidFill>
          <a:ln w="19050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入站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20100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出站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30100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gray">
          <a:xfrm>
            <a:off x="8230262" y="2605768"/>
            <a:ext cx="0" cy="82498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 bwMode="gray">
          <a:xfrm>
            <a:off x="6376274" y="2605768"/>
            <a:ext cx="0" cy="82498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 bwMode="gray">
          <a:xfrm>
            <a:off x="4504066" y="2605768"/>
            <a:ext cx="0" cy="82498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 bwMode="gray">
          <a:xfrm>
            <a:off x="2627085" y="2605768"/>
            <a:ext cx="0" cy="82498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 bwMode="gray">
          <a:xfrm>
            <a:off x="900953" y="4057522"/>
            <a:ext cx="10298950" cy="21432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/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创建需要完成以下动作：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654685" lvl="1" indent="-252095" defTabSz="913765" fontAlgn="ctr">
              <a:lnSpc>
                <a:spcPct val="14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网络拓扑上报（仅在基于控制器创建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时需要）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 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标签分配。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54685" lvl="1" indent="-252095" defTabSz="913765" fontAlgn="ctr">
              <a:lnSpc>
                <a:spcPct val="14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路径计算。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02260" indent="-302260" algn="just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对于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SR-MPLS BE 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，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主要基于前缀标签创建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。目的节点</a:t>
            </a:r>
            <a:r>
              <a:rPr lang="zh-CN" altLang="en-US" sz="1400" dirty="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通过</a:t>
            </a:r>
            <a:r>
              <a:rPr lang="en-US" altLang="zh-CN" sz="1400" dirty="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协议发布</a:t>
            </a:r>
            <a:r>
              <a:rPr lang="en-US" altLang="zh-CN" sz="1400" dirty="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Prefix SID</a:t>
            </a:r>
            <a:r>
              <a:rPr lang="zh-CN" altLang="en-US" sz="1400" dirty="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，转发器解析</a:t>
            </a:r>
            <a:r>
              <a:rPr lang="en-US" altLang="zh-CN" sz="1400" dirty="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Prefix SID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，并根据自己的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SRGB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计算标签值。此后各节点使用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协议收集的拓扑信息，根据最短路径算法计算标签转发路径，并将计算的下一跳及出标签（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OuterLabel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）信息下发转发表，指导数据报文转发。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44" name="图片 4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57085" y="1832190"/>
            <a:ext cx="540000" cy="442800"/>
          </a:xfrm>
          <a:prstGeom prst="rect">
            <a:avLst/>
          </a:prstGeom>
        </p:spPr>
      </p:pic>
      <p:pic>
        <p:nvPicPr>
          <p:cNvPr id="45" name="图片 4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237224" y="1832190"/>
            <a:ext cx="540000" cy="442800"/>
          </a:xfrm>
          <a:prstGeom prst="rect">
            <a:avLst/>
          </a:prstGeom>
        </p:spPr>
      </p:pic>
      <p:pic>
        <p:nvPicPr>
          <p:cNvPr id="46" name="图片 4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102803" y="1832190"/>
            <a:ext cx="540000" cy="442800"/>
          </a:xfrm>
          <a:prstGeom prst="rect">
            <a:avLst/>
          </a:prstGeom>
        </p:spPr>
      </p:pic>
      <p:pic>
        <p:nvPicPr>
          <p:cNvPr id="47" name="图片 4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55663" y="1832190"/>
            <a:ext cx="540000" cy="442800"/>
          </a:xfrm>
          <a:prstGeom prst="rect">
            <a:avLst/>
          </a:prstGeom>
        </p:spPr>
      </p:pic>
      <p:sp>
        <p:nvSpPr>
          <p:cNvPr id="36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数据转发过程</a:t>
            </a:r>
            <a:endParaRPr lang="zh-CN" altLang="en-US"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 bwMode="gray">
          <a:xfrm flipH="1">
            <a:off x="2365303" y="2053590"/>
            <a:ext cx="64807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gray">
          <a:xfrm flipV="1">
            <a:off x="8884423" y="1793035"/>
            <a:ext cx="0" cy="5229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 bwMode="gray">
          <a:xfrm>
            <a:off x="8918031" y="1684258"/>
            <a:ext cx="143500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4.4.4.4/32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b="1" dirty="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 SID=100</a:t>
            </a:r>
            <a:endParaRPr lang="zh-CN" altLang="en-US" sz="1400" b="1" dirty="0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矩形 12"/>
          <p:cNvSpPr/>
          <p:nvPr/>
        </p:nvSpPr>
        <p:spPr bwMode="gray">
          <a:xfrm>
            <a:off x="2433221" y="2288091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gray">
          <a:xfrm>
            <a:off x="4295410" y="2288091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矩形 14"/>
          <p:cNvSpPr/>
          <p:nvPr/>
        </p:nvSpPr>
        <p:spPr bwMode="gray">
          <a:xfrm>
            <a:off x="6140379" y="2288091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gray">
          <a:xfrm>
            <a:off x="8018717" y="2288091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2007623" y="1206306"/>
            <a:ext cx="12650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20000-65535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3869812" y="1206306"/>
            <a:ext cx="12650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30000-65535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5714781" y="1206306"/>
            <a:ext cx="12650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40000-65535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593119" y="1206306"/>
            <a:ext cx="12650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50000-65535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1" name="直接连接符 20"/>
          <p:cNvCxnSpPr/>
          <p:nvPr/>
        </p:nvCxnSpPr>
        <p:spPr bwMode="gray">
          <a:xfrm flipH="1">
            <a:off x="6639413" y="2903098"/>
            <a:ext cx="1312458" cy="0"/>
          </a:xfrm>
          <a:prstGeom prst="line">
            <a:avLst/>
          </a:prstGeom>
          <a:ln w="57150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 bwMode="gray">
          <a:xfrm flipH="1">
            <a:off x="4777224" y="2903098"/>
            <a:ext cx="1312458" cy="0"/>
          </a:xfrm>
          <a:prstGeom prst="line">
            <a:avLst/>
          </a:prstGeom>
          <a:ln w="57150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 bwMode="gray">
          <a:xfrm flipH="1">
            <a:off x="2915035" y="2903098"/>
            <a:ext cx="1312458" cy="0"/>
          </a:xfrm>
          <a:prstGeom prst="line">
            <a:avLst/>
          </a:prstGeom>
          <a:ln w="57150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 bwMode="gray">
          <a:xfrm>
            <a:off x="900953" y="4128771"/>
            <a:ext cx="10298950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Push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（压入）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：当报文进入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时，入节点设备在报文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二层首部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首部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之间插入一个标签；或者根据需要，在报文标签栈的栈顶增加一个新的标签。 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Swap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（置换）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：当报文在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域内转发时，根据标签转发表，用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下一跳分配的标签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替换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报文的栈顶标签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 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Pop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（弹出）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：当报文在离开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域时，根据栈顶的标签查找转发出接口，然后将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报文的栈顶的标签剥掉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4" name="图片 4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57085" y="1832190"/>
            <a:ext cx="540000" cy="442800"/>
          </a:xfrm>
          <a:prstGeom prst="rect">
            <a:avLst/>
          </a:prstGeom>
        </p:spPr>
      </p:pic>
      <p:pic>
        <p:nvPicPr>
          <p:cNvPr id="45" name="图片 4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237224" y="1832190"/>
            <a:ext cx="540000" cy="442800"/>
          </a:xfrm>
          <a:prstGeom prst="rect">
            <a:avLst/>
          </a:prstGeom>
        </p:spPr>
      </p:pic>
      <p:pic>
        <p:nvPicPr>
          <p:cNvPr id="46" name="图片 4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102803" y="1832190"/>
            <a:ext cx="540000" cy="442800"/>
          </a:xfrm>
          <a:prstGeom prst="rect">
            <a:avLst/>
          </a:prstGeom>
        </p:spPr>
      </p:pic>
      <p:pic>
        <p:nvPicPr>
          <p:cNvPr id="47" name="图片 4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55663" y="1832190"/>
            <a:ext cx="540000" cy="442800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 bwMode="gray">
          <a:xfrm>
            <a:off x="2915035" y="3314485"/>
            <a:ext cx="1066416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400" b="1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矩形 40"/>
          <p:cNvSpPr/>
          <p:nvPr/>
        </p:nvSpPr>
        <p:spPr bwMode="gray">
          <a:xfrm>
            <a:off x="2915034" y="3095231"/>
            <a:ext cx="1066416" cy="215444"/>
          </a:xfrm>
          <a:prstGeom prst="rect">
            <a:avLst/>
          </a:prstGeom>
          <a:solidFill>
            <a:srgbClr val="FFFFCC"/>
          </a:solidFill>
          <a:ln w="19050">
            <a:solidFill>
              <a:srgbClr val="FF99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C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30100</a:t>
            </a:r>
            <a:endParaRPr lang="zh-CN" altLang="en-US" sz="1400" b="1">
              <a:solidFill>
                <a:srgbClr val="FFC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矩形 41"/>
          <p:cNvSpPr/>
          <p:nvPr/>
        </p:nvSpPr>
        <p:spPr bwMode="gray">
          <a:xfrm>
            <a:off x="4777224" y="3314485"/>
            <a:ext cx="1066416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400" b="1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矩形 47"/>
          <p:cNvSpPr/>
          <p:nvPr/>
        </p:nvSpPr>
        <p:spPr bwMode="gray">
          <a:xfrm>
            <a:off x="4777223" y="3095231"/>
            <a:ext cx="1066416" cy="215444"/>
          </a:xfrm>
          <a:prstGeom prst="rect">
            <a:avLst/>
          </a:prstGeom>
          <a:solidFill>
            <a:srgbClr val="FFFFCC"/>
          </a:solidFill>
          <a:ln w="19050">
            <a:solidFill>
              <a:srgbClr val="FF99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C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40100</a:t>
            </a:r>
            <a:endParaRPr lang="zh-CN" altLang="en-US" sz="1400" b="1">
              <a:solidFill>
                <a:srgbClr val="FFC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矩形 48"/>
          <p:cNvSpPr/>
          <p:nvPr/>
        </p:nvSpPr>
        <p:spPr bwMode="gray">
          <a:xfrm>
            <a:off x="6639411" y="3314485"/>
            <a:ext cx="1066416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400" b="1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矩形 49"/>
          <p:cNvSpPr/>
          <p:nvPr/>
        </p:nvSpPr>
        <p:spPr bwMode="gray">
          <a:xfrm>
            <a:off x="6639410" y="3095231"/>
            <a:ext cx="1066416" cy="215444"/>
          </a:xfrm>
          <a:prstGeom prst="rect">
            <a:avLst/>
          </a:prstGeom>
          <a:solidFill>
            <a:srgbClr val="FFFFCC"/>
          </a:solidFill>
          <a:ln w="19050">
            <a:solidFill>
              <a:srgbClr val="FF99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C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50100</a:t>
            </a:r>
            <a:endParaRPr lang="zh-CN" altLang="en-US" sz="1400" b="1">
              <a:solidFill>
                <a:srgbClr val="FFC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1" name="直接连接符 50"/>
          <p:cNvCxnSpPr/>
          <p:nvPr/>
        </p:nvCxnSpPr>
        <p:spPr bwMode="gray">
          <a:xfrm flipH="1">
            <a:off x="8495663" y="2903098"/>
            <a:ext cx="1312458" cy="0"/>
          </a:xfrm>
          <a:prstGeom prst="line">
            <a:avLst/>
          </a:prstGeom>
          <a:ln w="57150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 bwMode="gray">
          <a:xfrm>
            <a:off x="8495663" y="3314485"/>
            <a:ext cx="1066416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400" b="1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3" name="直接连接符 52"/>
          <p:cNvCxnSpPr/>
          <p:nvPr/>
        </p:nvCxnSpPr>
        <p:spPr bwMode="gray">
          <a:xfrm flipH="1">
            <a:off x="1044627" y="2903098"/>
            <a:ext cx="1312458" cy="0"/>
          </a:xfrm>
          <a:prstGeom prst="line">
            <a:avLst/>
          </a:prstGeom>
          <a:ln w="57150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 bwMode="gray">
          <a:xfrm>
            <a:off x="1044627" y="3314485"/>
            <a:ext cx="1066416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400" b="1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矩形 54"/>
          <p:cNvSpPr/>
          <p:nvPr/>
        </p:nvSpPr>
        <p:spPr bwMode="gray">
          <a:xfrm>
            <a:off x="2368299" y="2741120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压入</a:t>
            </a:r>
            <a:endParaRPr lang="zh-CN" altLang="en-US" sz="1400" b="1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4230488" y="2741120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置换</a:t>
            </a:r>
            <a:endParaRPr lang="zh-CN" altLang="en-US" sz="1400" b="1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6075457" y="2741120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置换</a:t>
            </a:r>
            <a:endParaRPr lang="zh-CN" altLang="en-US" sz="1400" b="1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矩形 57"/>
          <p:cNvSpPr/>
          <p:nvPr/>
        </p:nvSpPr>
        <p:spPr bwMode="gray">
          <a:xfrm>
            <a:off x="7953795" y="2741120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弹出</a:t>
            </a:r>
            <a:endParaRPr lang="zh-CN" altLang="en-US" sz="1400" b="1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/>
              <a:t>流量工程简介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/>
              <a:t>流量工程（</a:t>
            </a:r>
            <a:r>
              <a:rPr lang="en-US" altLang="zh-CN" sz="1600" dirty="0"/>
              <a:t>TE</a:t>
            </a:r>
            <a:r>
              <a:rPr lang="zh-CN" altLang="en-US" sz="1600" dirty="0"/>
              <a:t>，</a:t>
            </a:r>
            <a:r>
              <a:rPr lang="en-US" altLang="zh-CN" sz="1600" dirty="0"/>
              <a:t>Traffic Engineering</a:t>
            </a:r>
            <a:r>
              <a:rPr lang="zh-CN" altLang="en-US" sz="1600" dirty="0"/>
              <a:t>）是最重要的网络业务之一。历史上流行的</a:t>
            </a:r>
            <a:r>
              <a:rPr lang="en-US" altLang="zh-CN" sz="1600" dirty="0"/>
              <a:t>TE</a:t>
            </a:r>
            <a:r>
              <a:rPr lang="zh-CN" altLang="en-US" sz="1600" dirty="0"/>
              <a:t>技术是基于</a:t>
            </a:r>
            <a:r>
              <a:rPr lang="en-US" altLang="zh-CN" sz="1600" dirty="0"/>
              <a:t>MPLS</a:t>
            </a:r>
            <a:r>
              <a:rPr lang="zh-CN" altLang="en-US" sz="1600" dirty="0"/>
              <a:t>的，被称为</a:t>
            </a:r>
            <a:r>
              <a:rPr lang="en-US" altLang="zh-CN" sz="1600" dirty="0"/>
              <a:t>MPLS TE</a:t>
            </a:r>
            <a:r>
              <a:rPr lang="zh-CN" altLang="en-US" sz="1600" dirty="0"/>
              <a:t>。它可以</a:t>
            </a:r>
            <a:r>
              <a:rPr lang="zh-CN" altLang="en-US" sz="1600" dirty="0">
                <a:highlight>
                  <a:srgbClr val="FFFF00"/>
                </a:highlight>
              </a:rPr>
              <a:t>精确的控制流量流经的路径</a:t>
            </a:r>
            <a:r>
              <a:rPr lang="zh-CN" altLang="en-US" sz="1600" dirty="0"/>
              <a:t>，从而</a:t>
            </a:r>
            <a:r>
              <a:rPr lang="zh-CN" altLang="en-US" sz="1600" dirty="0">
                <a:highlight>
                  <a:srgbClr val="FFFF00"/>
                </a:highlight>
              </a:rPr>
              <a:t>充分的利用现有带宽资源</a:t>
            </a:r>
            <a:r>
              <a:rPr lang="zh-CN" altLang="en-US" sz="1600" dirty="0"/>
              <a:t>。</a:t>
            </a:r>
            <a:endParaRPr lang="en-US" altLang="zh-CN" sz="1600" dirty="0"/>
          </a:p>
        </p:txBody>
      </p:sp>
      <p:sp>
        <p:nvSpPr>
          <p:cNvPr id="5" name="圆角矩形 75"/>
          <p:cNvSpPr/>
          <p:nvPr/>
        </p:nvSpPr>
        <p:spPr bwMode="gray">
          <a:xfrm>
            <a:off x="1102905" y="2298225"/>
            <a:ext cx="2890114" cy="310892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zh-CN" altLang="en-US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路径规划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圆角矩形 75"/>
          <p:cNvSpPr/>
          <p:nvPr/>
        </p:nvSpPr>
        <p:spPr bwMode="gray">
          <a:xfrm>
            <a:off x="1102904" y="2632542"/>
            <a:ext cx="2890114" cy="3139671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fontAlgn="ctr"/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21912" y="3048501"/>
            <a:ext cx="421545" cy="347634"/>
          </a:xfrm>
          <a:prstGeom prst="rect">
            <a:avLst/>
          </a:prstGeom>
        </p:spPr>
      </p:pic>
      <p:sp>
        <p:nvSpPr>
          <p:cNvPr id="8" name="圆角矩形 75"/>
          <p:cNvSpPr/>
          <p:nvPr/>
        </p:nvSpPr>
        <p:spPr bwMode="gray">
          <a:xfrm>
            <a:off x="4526669" y="2298225"/>
            <a:ext cx="3072265" cy="310892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zh-CN" altLang="en-US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流量调优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圆角矩形 75"/>
          <p:cNvSpPr/>
          <p:nvPr/>
        </p:nvSpPr>
        <p:spPr bwMode="gray">
          <a:xfrm>
            <a:off x="4526668" y="2632542"/>
            <a:ext cx="3072265" cy="3139671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fontAlgn="ctr"/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" name="圆角矩形 75"/>
          <p:cNvSpPr/>
          <p:nvPr/>
        </p:nvSpPr>
        <p:spPr bwMode="gray">
          <a:xfrm>
            <a:off x="8096738" y="2298225"/>
            <a:ext cx="2879299" cy="310892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zh-CN" altLang="en-US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故障保护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圆角矩形 75"/>
          <p:cNvSpPr/>
          <p:nvPr/>
        </p:nvSpPr>
        <p:spPr bwMode="gray">
          <a:xfrm>
            <a:off x="8096737" y="2632542"/>
            <a:ext cx="2879300" cy="3139671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fontAlgn="ctr"/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43522" y="3048501"/>
            <a:ext cx="421545" cy="34763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37188" y="4125312"/>
            <a:ext cx="421545" cy="347634"/>
          </a:xfrm>
          <a:prstGeom prst="rect">
            <a:avLst/>
          </a:prstGeom>
        </p:spPr>
      </p:pic>
      <p:cxnSp>
        <p:nvCxnSpPr>
          <p:cNvPr id="14" name="直接连接符 13"/>
          <p:cNvCxnSpPr>
            <a:stCxn id="7" idx="3"/>
            <a:endCxn id="12" idx="1"/>
          </p:cNvCxnSpPr>
          <p:nvPr/>
        </p:nvCxnSpPr>
        <p:spPr bwMode="gray">
          <a:xfrm>
            <a:off x="1843457" y="3222318"/>
            <a:ext cx="140006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/>
          <p:cNvCxnSpPr>
            <a:stCxn id="7" idx="2"/>
            <a:endCxn id="13" idx="0"/>
          </p:cNvCxnSpPr>
          <p:nvPr/>
        </p:nvCxnSpPr>
        <p:spPr bwMode="gray">
          <a:xfrm>
            <a:off x="1632685" y="3396135"/>
            <a:ext cx="915276" cy="72917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/>
          <p:cNvCxnSpPr>
            <a:stCxn id="13" idx="0"/>
            <a:endCxn id="12" idx="2"/>
          </p:cNvCxnSpPr>
          <p:nvPr/>
        </p:nvCxnSpPr>
        <p:spPr bwMode="gray">
          <a:xfrm flipV="1">
            <a:off x="2547961" y="3396135"/>
            <a:ext cx="906333" cy="72917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05073" y="3048501"/>
            <a:ext cx="421545" cy="347634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726683" y="3048501"/>
            <a:ext cx="421545" cy="34763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20350" y="4125312"/>
            <a:ext cx="421545" cy="347634"/>
          </a:xfrm>
          <a:prstGeom prst="rect">
            <a:avLst/>
          </a:prstGeom>
        </p:spPr>
      </p:pic>
      <p:cxnSp>
        <p:nvCxnSpPr>
          <p:cNvPr id="20" name="直接连接符 19"/>
          <p:cNvCxnSpPr>
            <a:stCxn id="17" idx="2"/>
            <a:endCxn id="19" idx="0"/>
          </p:cNvCxnSpPr>
          <p:nvPr/>
        </p:nvCxnSpPr>
        <p:spPr bwMode="gray">
          <a:xfrm>
            <a:off x="5115846" y="3396135"/>
            <a:ext cx="915276" cy="72917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接连接符 20"/>
          <p:cNvCxnSpPr>
            <a:stCxn id="19" idx="0"/>
            <a:endCxn id="18" idx="2"/>
          </p:cNvCxnSpPr>
          <p:nvPr/>
        </p:nvCxnSpPr>
        <p:spPr bwMode="gray">
          <a:xfrm flipV="1">
            <a:off x="6031122" y="3396135"/>
            <a:ext cx="906333" cy="72917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直接箭头连接符 21"/>
          <p:cNvCxnSpPr/>
          <p:nvPr/>
        </p:nvCxnSpPr>
        <p:spPr bwMode="gray">
          <a:xfrm>
            <a:off x="1967177" y="3048501"/>
            <a:ext cx="1143681" cy="3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 bwMode="gray">
          <a:xfrm>
            <a:off x="1271957" y="4504494"/>
            <a:ext cx="2534120" cy="664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不同业务规划不同路径。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11407" y="3051723"/>
            <a:ext cx="421545" cy="347634"/>
          </a:xfrm>
          <a:prstGeom prst="rect">
            <a:avLst/>
          </a:prstGeom>
        </p:spPr>
      </p:pic>
      <p:cxnSp>
        <p:nvCxnSpPr>
          <p:cNvPr id="25" name="直接连接符 24"/>
          <p:cNvCxnSpPr>
            <a:stCxn id="17" idx="3"/>
            <a:endCxn id="24" idx="1"/>
          </p:cNvCxnSpPr>
          <p:nvPr/>
        </p:nvCxnSpPr>
        <p:spPr bwMode="gray">
          <a:xfrm>
            <a:off x="5326618" y="3222318"/>
            <a:ext cx="484788" cy="322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直接连接符 25"/>
          <p:cNvCxnSpPr>
            <a:stCxn id="24" idx="3"/>
            <a:endCxn id="18" idx="1"/>
          </p:cNvCxnSpPr>
          <p:nvPr/>
        </p:nvCxnSpPr>
        <p:spPr bwMode="gray">
          <a:xfrm flipV="1">
            <a:off x="6232952" y="3222318"/>
            <a:ext cx="493731" cy="322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7" name="图片 2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445852" y="3052996"/>
            <a:ext cx="421545" cy="347634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267462" y="3052996"/>
            <a:ext cx="421545" cy="3476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61129" y="4129807"/>
            <a:ext cx="421545" cy="347634"/>
          </a:xfrm>
          <a:prstGeom prst="rect">
            <a:avLst/>
          </a:prstGeom>
        </p:spPr>
      </p:pic>
      <p:cxnSp>
        <p:nvCxnSpPr>
          <p:cNvPr id="30" name="直接连接符 29"/>
          <p:cNvCxnSpPr>
            <a:stCxn id="27" idx="2"/>
            <a:endCxn id="29" idx="0"/>
          </p:cNvCxnSpPr>
          <p:nvPr/>
        </p:nvCxnSpPr>
        <p:spPr bwMode="gray">
          <a:xfrm>
            <a:off x="8656625" y="3400629"/>
            <a:ext cx="915276" cy="72917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直接连接符 30"/>
          <p:cNvCxnSpPr>
            <a:stCxn id="29" idx="0"/>
            <a:endCxn id="28" idx="2"/>
          </p:cNvCxnSpPr>
          <p:nvPr/>
        </p:nvCxnSpPr>
        <p:spPr bwMode="gray">
          <a:xfrm flipV="1">
            <a:off x="9571901" y="3400629"/>
            <a:ext cx="906333" cy="72917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52186" y="3056218"/>
            <a:ext cx="421545" cy="347634"/>
          </a:xfrm>
          <a:prstGeom prst="rect">
            <a:avLst/>
          </a:prstGeom>
        </p:spPr>
      </p:pic>
      <p:cxnSp>
        <p:nvCxnSpPr>
          <p:cNvPr id="33" name="直接连接符 32"/>
          <p:cNvCxnSpPr>
            <a:stCxn id="27" idx="3"/>
            <a:endCxn id="32" idx="1"/>
          </p:cNvCxnSpPr>
          <p:nvPr/>
        </p:nvCxnSpPr>
        <p:spPr bwMode="gray">
          <a:xfrm>
            <a:off x="8867397" y="3226812"/>
            <a:ext cx="484788" cy="322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直接连接符 33"/>
          <p:cNvCxnSpPr>
            <a:stCxn id="32" idx="3"/>
            <a:endCxn id="28" idx="1"/>
          </p:cNvCxnSpPr>
          <p:nvPr/>
        </p:nvCxnSpPr>
        <p:spPr bwMode="gray">
          <a:xfrm flipV="1">
            <a:off x="9773731" y="3226812"/>
            <a:ext cx="493731" cy="322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52"/>
          <p:cNvCxnSpPr/>
          <p:nvPr/>
        </p:nvCxnSpPr>
        <p:spPr bwMode="gray">
          <a:xfrm>
            <a:off x="5377253" y="3222318"/>
            <a:ext cx="360218" cy="0"/>
          </a:xfrm>
          <a:prstGeom prst="line">
            <a:avLst/>
          </a:prstGeom>
          <a:noFill/>
          <a:ln w="142875">
            <a:solidFill>
              <a:srgbClr val="C7000B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Connector 352"/>
          <p:cNvCxnSpPr/>
          <p:nvPr/>
        </p:nvCxnSpPr>
        <p:spPr bwMode="gray">
          <a:xfrm>
            <a:off x="6298725" y="3230034"/>
            <a:ext cx="360218" cy="0"/>
          </a:xfrm>
          <a:prstGeom prst="line">
            <a:avLst/>
          </a:prstGeom>
          <a:noFill/>
          <a:ln w="142875">
            <a:solidFill>
              <a:srgbClr val="C7000B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接箭头连接符 36"/>
          <p:cNvCxnSpPr/>
          <p:nvPr/>
        </p:nvCxnSpPr>
        <p:spPr bwMode="gray">
          <a:xfrm rot="2340000">
            <a:off x="1479504" y="3831377"/>
            <a:ext cx="843090" cy="322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 bwMode="gray">
          <a:xfrm rot="19200000">
            <a:off x="2715044" y="3831557"/>
            <a:ext cx="843090" cy="322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 bwMode="gray">
          <a:xfrm rot="2340000">
            <a:off x="5005849" y="3810301"/>
            <a:ext cx="843090" cy="32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 bwMode="gray">
          <a:xfrm rot="19200000">
            <a:off x="6241389" y="3810482"/>
            <a:ext cx="843090" cy="32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 bwMode="gray">
          <a:xfrm>
            <a:off x="4575003" y="4504494"/>
            <a:ext cx="2793446" cy="969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当发生重大事件导致流量不均衡时，将流量均衡分配至空载链路。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8152137" y="4504494"/>
            <a:ext cx="2788702" cy="99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设备或链路故障后的快速切换保护。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3" name="组合 28"/>
          <p:cNvGrpSpPr>
            <a:grpSpLocks noChangeAspect="1"/>
          </p:cNvGrpSpPr>
          <p:nvPr/>
        </p:nvGrpSpPr>
        <p:grpSpPr bwMode="gray">
          <a:xfrm>
            <a:off x="8993144" y="3113380"/>
            <a:ext cx="225580" cy="226864"/>
            <a:chOff x="5076056" y="3356992"/>
            <a:chExt cx="436268" cy="436268"/>
          </a:xfrm>
        </p:grpSpPr>
        <p:sp>
          <p:nvSpPr>
            <p:cNvPr id="44" name="椭圆 27"/>
            <p:cNvSpPr/>
            <p:nvPr/>
          </p:nvSpPr>
          <p:spPr bwMode="gray">
            <a:xfrm>
              <a:off x="5076056" y="3356992"/>
              <a:ext cx="432048" cy="43204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7842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5" name="禁止符 23"/>
            <p:cNvSpPr/>
            <p:nvPr/>
          </p:nvSpPr>
          <p:spPr bwMode="gray">
            <a:xfrm>
              <a:off x="5076056" y="3356992"/>
              <a:ext cx="436268" cy="436268"/>
            </a:xfrm>
            <a:prstGeom prst="noSmoking">
              <a:avLst>
                <a:gd name="adj" fmla="val 15475"/>
              </a:avLst>
            </a:prstGeom>
            <a:solidFill>
              <a:schemeClr val="accent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6" name="禁止符 23"/>
          <p:cNvSpPr/>
          <p:nvPr/>
        </p:nvSpPr>
        <p:spPr bwMode="gray">
          <a:xfrm>
            <a:off x="9456004" y="3110496"/>
            <a:ext cx="225580" cy="226864"/>
          </a:xfrm>
          <a:prstGeom prst="noSmoking">
            <a:avLst>
              <a:gd name="adj" fmla="val 15475"/>
            </a:avLst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7" name="组合 28"/>
          <p:cNvGrpSpPr>
            <a:grpSpLocks noChangeAspect="1"/>
          </p:cNvGrpSpPr>
          <p:nvPr/>
        </p:nvGrpSpPr>
        <p:grpSpPr bwMode="gray">
          <a:xfrm>
            <a:off x="9902864" y="3106256"/>
            <a:ext cx="225580" cy="226864"/>
            <a:chOff x="5076056" y="3356992"/>
            <a:chExt cx="436268" cy="436268"/>
          </a:xfrm>
        </p:grpSpPr>
        <p:sp>
          <p:nvSpPr>
            <p:cNvPr id="48" name="椭圆 27"/>
            <p:cNvSpPr/>
            <p:nvPr/>
          </p:nvSpPr>
          <p:spPr bwMode="gray">
            <a:xfrm>
              <a:off x="5076056" y="3356992"/>
              <a:ext cx="432048" cy="43204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7842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9" name="禁止符 23"/>
            <p:cNvSpPr/>
            <p:nvPr/>
          </p:nvSpPr>
          <p:spPr bwMode="gray">
            <a:xfrm>
              <a:off x="5076056" y="3356992"/>
              <a:ext cx="436268" cy="436268"/>
            </a:xfrm>
            <a:prstGeom prst="noSmoking">
              <a:avLst>
                <a:gd name="adj" fmla="val 15475"/>
              </a:avLst>
            </a:prstGeom>
            <a:solidFill>
              <a:schemeClr val="accent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50" name="直接箭头连接符 49"/>
          <p:cNvCxnSpPr/>
          <p:nvPr/>
        </p:nvCxnSpPr>
        <p:spPr bwMode="gray">
          <a:xfrm rot="2340000">
            <a:off x="8537732" y="3804430"/>
            <a:ext cx="843090" cy="32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 bwMode="gray">
          <a:xfrm rot="19200000">
            <a:off x="9773272" y="3804611"/>
            <a:ext cx="843090" cy="32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/>
              <a:t>传统分布式</a:t>
            </a:r>
            <a:r>
              <a:rPr lang="en-US" altLang="zh-CN"/>
              <a:t>MPLS TE</a:t>
            </a:r>
            <a:r>
              <a:rPr lang="zh-CN" altLang="en-US"/>
              <a:t>功能架构</a:t>
            </a:r>
            <a:endParaRPr lang="zh-CN" altLang="en-US"/>
          </a:p>
        </p:txBody>
      </p:sp>
      <p:sp>
        <p:nvSpPr>
          <p:cNvPr id="4" name="文本占位符 3"/>
          <p:cNvSpPr txBox="1"/>
          <p:nvPr/>
        </p:nvSpPr>
        <p:spPr bwMode="gray">
          <a:xfrm>
            <a:off x="452438" y="1047750"/>
            <a:ext cx="11296650" cy="1277403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fontAlgn="ctr" latinLnBrk="0" hangingPunct="1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22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685" indent="-252095" algn="l" defTabSz="913765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ctr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ctr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ctr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/>
              <a:t>传统</a:t>
            </a:r>
            <a:r>
              <a:rPr lang="en-US" altLang="zh-CN" sz="1600" dirty="0"/>
              <a:t>MPLS TE</a:t>
            </a:r>
            <a:r>
              <a:rPr lang="zh-CN" altLang="en-US" sz="1600" dirty="0"/>
              <a:t>采用</a:t>
            </a:r>
            <a:r>
              <a:rPr lang="zh-CN" altLang="en-US" sz="1600" dirty="0">
                <a:highlight>
                  <a:srgbClr val="FFFF00"/>
                </a:highlight>
              </a:rPr>
              <a:t>分布式的方法</a:t>
            </a:r>
            <a:r>
              <a:rPr lang="zh-CN" altLang="en-US" sz="1600" dirty="0"/>
              <a:t>，由头节点根据路径约束计算路径，然后通过</a:t>
            </a:r>
            <a:r>
              <a:rPr lang="en-US" altLang="zh-CN" sz="1600" dirty="0">
                <a:highlight>
                  <a:srgbClr val="FFFF00"/>
                </a:highlight>
              </a:rPr>
              <a:t>RSVP-TE</a:t>
            </a:r>
            <a:r>
              <a:rPr lang="zh-CN" altLang="en-US" sz="1600" dirty="0"/>
              <a:t>信令建立基于约束的</a:t>
            </a:r>
            <a:r>
              <a:rPr lang="en-US" altLang="zh-CN" sz="1600" dirty="0"/>
              <a:t>LSP</a:t>
            </a:r>
            <a:r>
              <a:rPr lang="zh-CN" altLang="en-US" sz="1600" dirty="0"/>
              <a:t>。</a:t>
            </a:r>
            <a:endParaRPr lang="zh-CN" altLang="en-US" sz="1600" dirty="0"/>
          </a:p>
          <a:p>
            <a:r>
              <a:rPr lang="zh-CN" altLang="en-US" sz="1600" dirty="0"/>
              <a:t>由</a:t>
            </a:r>
            <a:r>
              <a:rPr lang="en-US" altLang="zh-CN" sz="1600" dirty="0"/>
              <a:t>MPLS</a:t>
            </a:r>
            <a:r>
              <a:rPr lang="zh-CN" altLang="en-US" sz="1600" dirty="0"/>
              <a:t>节点维护完整的</a:t>
            </a:r>
            <a:r>
              <a:rPr lang="en-US" altLang="zh-CN" sz="1600" dirty="0"/>
              <a:t>TE</a:t>
            </a:r>
            <a:r>
              <a:rPr lang="zh-CN" altLang="en-US" sz="1600" dirty="0"/>
              <a:t>功能架构，有以下四大组件：</a:t>
            </a:r>
            <a:r>
              <a:rPr lang="zh-CN" altLang="en-US" sz="1600" dirty="0">
                <a:highlight>
                  <a:srgbClr val="FFFF00"/>
                </a:highlight>
              </a:rPr>
              <a:t>信息发布组件</a:t>
            </a:r>
            <a:r>
              <a:rPr lang="zh-CN" altLang="en-US" sz="1600" dirty="0"/>
              <a:t>、</a:t>
            </a:r>
            <a:r>
              <a:rPr lang="zh-CN" altLang="en-US" sz="1600" dirty="0">
                <a:highlight>
                  <a:srgbClr val="FFFF00"/>
                </a:highlight>
              </a:rPr>
              <a:t>路径计算组件</a:t>
            </a:r>
            <a:r>
              <a:rPr lang="zh-CN" altLang="en-US" sz="1600" dirty="0"/>
              <a:t>、</a:t>
            </a:r>
            <a:r>
              <a:rPr lang="zh-CN" altLang="en-US" sz="1600" dirty="0">
                <a:highlight>
                  <a:srgbClr val="FFFF00"/>
                </a:highlight>
              </a:rPr>
              <a:t>路径建立组件</a:t>
            </a:r>
            <a:r>
              <a:rPr lang="zh-CN" altLang="en-US" sz="1600" dirty="0"/>
              <a:t>（或信令组件）和</a:t>
            </a:r>
            <a:r>
              <a:rPr lang="zh-CN" altLang="en-US" sz="1600" dirty="0">
                <a:highlight>
                  <a:srgbClr val="FFFF00"/>
                </a:highlight>
              </a:rPr>
              <a:t>报文转发组件</a:t>
            </a:r>
            <a:r>
              <a:rPr lang="zh-CN" altLang="en-US" sz="1600" dirty="0"/>
              <a:t>。</a:t>
            </a:r>
            <a:endParaRPr lang="zh-CN" altLang="en-US" sz="1600" dirty="0"/>
          </a:p>
        </p:txBody>
      </p:sp>
      <p:sp>
        <p:nvSpPr>
          <p:cNvPr id="5" name="矩形 4"/>
          <p:cNvSpPr/>
          <p:nvPr/>
        </p:nvSpPr>
        <p:spPr bwMode="gray">
          <a:xfrm>
            <a:off x="1666844" y="2545824"/>
            <a:ext cx="5737663" cy="330507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 bwMode="gray">
          <a:xfrm>
            <a:off x="4077677" y="258539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30B5C5"/>
                </a:solidFill>
              </a:rPr>
              <a:t>网络设备</a:t>
            </a:r>
            <a:endParaRPr lang="zh-CN" altLang="en-US" sz="1400" b="1" dirty="0">
              <a:solidFill>
                <a:srgbClr val="30B5C5"/>
              </a:solidFill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1889077" y="5230009"/>
            <a:ext cx="5337862" cy="4514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 bwMode="gray">
          <a:xfrm>
            <a:off x="3752910" y="5299348"/>
            <a:ext cx="15424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4</a:t>
            </a:r>
            <a:r>
              <a:rPr lang="zh-CN" altLang="en-US" sz="1400"/>
              <a:t>、报文转发组件</a:t>
            </a:r>
            <a:endParaRPr lang="zh-CN" altLang="en-US" sz="1400"/>
          </a:p>
        </p:txBody>
      </p:sp>
      <p:sp>
        <p:nvSpPr>
          <p:cNvPr id="9" name="矩形 8"/>
          <p:cNvSpPr/>
          <p:nvPr/>
        </p:nvSpPr>
        <p:spPr bwMode="gray">
          <a:xfrm>
            <a:off x="1988686" y="4535641"/>
            <a:ext cx="3285006" cy="451456"/>
          </a:xfrm>
          <a:prstGeom prst="rect">
            <a:avLst/>
          </a:prstGeom>
          <a:solidFill>
            <a:srgbClr val="92D050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 bwMode="gray">
          <a:xfrm>
            <a:off x="2379235" y="4608409"/>
            <a:ext cx="25907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</a:t>
            </a:r>
            <a:r>
              <a:rPr lang="zh-CN" altLang="en-US" sz="1400" dirty="0"/>
              <a:t>、信息发布组件：</a:t>
            </a:r>
            <a:r>
              <a:rPr lang="en-US" altLang="zh-CN" sz="1400" dirty="0"/>
              <a:t>IS-IS/OSPF</a:t>
            </a:r>
            <a:endParaRPr lang="zh-CN" altLang="en-US" sz="1400" dirty="0"/>
          </a:p>
        </p:txBody>
      </p:sp>
      <p:sp>
        <p:nvSpPr>
          <p:cNvPr id="11" name="矩形 10"/>
          <p:cNvSpPr/>
          <p:nvPr/>
        </p:nvSpPr>
        <p:spPr bwMode="gray">
          <a:xfrm>
            <a:off x="1829995" y="2964788"/>
            <a:ext cx="1748737" cy="1237246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 bwMode="gray">
          <a:xfrm>
            <a:off x="1996738" y="3608111"/>
            <a:ext cx="1457769" cy="451456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 bwMode="gray">
          <a:xfrm>
            <a:off x="2052228" y="3025683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路径选择组件</a:t>
            </a:r>
            <a:endParaRPr lang="en-US" altLang="zh-CN" sz="1400"/>
          </a:p>
          <a:p>
            <a:r>
              <a:rPr lang="zh-CN" altLang="en-US" sz="1400"/>
              <a:t>（</a:t>
            </a:r>
            <a:r>
              <a:rPr lang="en-US" altLang="zh-CN" sz="1400"/>
              <a:t>IGP</a:t>
            </a:r>
            <a:r>
              <a:rPr lang="zh-CN" altLang="en-US" sz="1400"/>
              <a:t>计算）</a:t>
            </a:r>
            <a:endParaRPr lang="zh-CN" altLang="en-US" sz="1400"/>
          </a:p>
        </p:txBody>
      </p:sp>
      <p:sp>
        <p:nvSpPr>
          <p:cNvPr id="14" name="文本框 13"/>
          <p:cNvSpPr txBox="1"/>
          <p:nvPr/>
        </p:nvSpPr>
        <p:spPr bwMode="gray">
          <a:xfrm>
            <a:off x="2022381" y="3674963"/>
            <a:ext cx="1312079" cy="284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链路状态数据库</a:t>
            </a:r>
            <a:endParaRPr lang="zh-CN" altLang="en-US" sz="1400"/>
          </a:p>
        </p:txBody>
      </p:sp>
      <p:sp>
        <p:nvSpPr>
          <p:cNvPr id="15" name="矩形 14"/>
          <p:cNvSpPr/>
          <p:nvPr/>
        </p:nvSpPr>
        <p:spPr bwMode="gray">
          <a:xfrm>
            <a:off x="3746947" y="2964788"/>
            <a:ext cx="1748737" cy="12372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 bwMode="gray">
          <a:xfrm>
            <a:off x="3913690" y="3608111"/>
            <a:ext cx="1457769" cy="451456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 bwMode="gray">
          <a:xfrm>
            <a:off x="3816780" y="3012983"/>
            <a:ext cx="1542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2</a:t>
            </a:r>
            <a:r>
              <a:rPr lang="zh-CN" altLang="en-US" sz="1400" dirty="0"/>
              <a:t>、路径选择组件</a:t>
            </a:r>
            <a:endParaRPr lang="en-US" altLang="zh-CN" sz="1400" dirty="0"/>
          </a:p>
          <a:p>
            <a:r>
              <a:rPr lang="zh-CN" altLang="en-US" sz="1400" dirty="0"/>
              <a:t>   （</a:t>
            </a:r>
            <a:r>
              <a:rPr lang="en-US" altLang="zh-CN" sz="1400" dirty="0"/>
              <a:t>LSP</a:t>
            </a:r>
            <a:r>
              <a:rPr lang="zh-CN" altLang="en-US" sz="1400" dirty="0"/>
              <a:t>计算）</a:t>
            </a:r>
            <a:endParaRPr lang="zh-CN" altLang="en-US" sz="1400" dirty="0"/>
          </a:p>
        </p:txBody>
      </p:sp>
      <p:sp>
        <p:nvSpPr>
          <p:cNvPr id="18" name="文本框 17"/>
          <p:cNvSpPr txBox="1"/>
          <p:nvPr/>
        </p:nvSpPr>
        <p:spPr bwMode="gray">
          <a:xfrm>
            <a:off x="4121785" y="3674745"/>
            <a:ext cx="10953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TE</a:t>
            </a:r>
            <a:r>
              <a:rPr lang="zh-CN" altLang="en-US" sz="1400"/>
              <a:t>数据库</a:t>
            </a:r>
            <a:endParaRPr lang="zh-CN" altLang="en-US" sz="1400"/>
          </a:p>
        </p:txBody>
      </p:sp>
      <p:sp>
        <p:nvSpPr>
          <p:cNvPr id="19" name="矩形 18"/>
          <p:cNvSpPr/>
          <p:nvPr/>
        </p:nvSpPr>
        <p:spPr bwMode="gray">
          <a:xfrm>
            <a:off x="5620919" y="3561603"/>
            <a:ext cx="1606020" cy="5106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 bwMode="gray">
          <a:xfrm>
            <a:off x="5775308" y="3569554"/>
            <a:ext cx="118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3</a:t>
            </a:r>
            <a:r>
              <a:rPr lang="zh-CN" altLang="en-US" sz="1400"/>
              <a:t>、信令组件</a:t>
            </a:r>
            <a:endParaRPr lang="en-US" altLang="zh-CN" sz="1400"/>
          </a:p>
          <a:p>
            <a:r>
              <a:rPr lang="zh-CN" altLang="en-US" sz="1400"/>
              <a:t>   （</a:t>
            </a:r>
            <a:r>
              <a:rPr lang="en-US" altLang="zh-CN" sz="1400"/>
              <a:t>RSVP</a:t>
            </a:r>
            <a:r>
              <a:rPr lang="zh-CN" altLang="en-US" sz="1400"/>
              <a:t>）</a:t>
            </a:r>
            <a:endParaRPr lang="zh-CN" altLang="en-US" sz="1400"/>
          </a:p>
        </p:txBody>
      </p:sp>
      <p:cxnSp>
        <p:nvCxnSpPr>
          <p:cNvPr id="22" name="直接箭头连接符 21"/>
          <p:cNvCxnSpPr>
            <a:endCxn id="7" idx="1"/>
          </p:cNvCxnSpPr>
          <p:nvPr/>
        </p:nvCxnSpPr>
        <p:spPr bwMode="gray">
          <a:xfrm>
            <a:off x="807953" y="5455737"/>
            <a:ext cx="108112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 bwMode="gray">
          <a:xfrm>
            <a:off x="7226939" y="5455737"/>
            <a:ext cx="11151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 bwMode="gray">
          <a:xfrm>
            <a:off x="7396452" y="5087903"/>
            <a:ext cx="821800" cy="284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报文离开</a:t>
            </a:r>
            <a:endParaRPr lang="zh-CN" altLang="en-US" sz="1400"/>
          </a:p>
        </p:txBody>
      </p:sp>
      <p:sp>
        <p:nvSpPr>
          <p:cNvPr id="27" name="文本框 26"/>
          <p:cNvSpPr txBox="1"/>
          <p:nvPr/>
        </p:nvSpPr>
        <p:spPr bwMode="gray">
          <a:xfrm>
            <a:off x="807953" y="5087903"/>
            <a:ext cx="821800" cy="284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报文进入</a:t>
            </a:r>
            <a:endParaRPr lang="zh-CN" altLang="en-US" sz="1400"/>
          </a:p>
        </p:txBody>
      </p:sp>
      <p:cxnSp>
        <p:nvCxnSpPr>
          <p:cNvPr id="33" name="直接箭头连接符 32"/>
          <p:cNvCxnSpPr/>
          <p:nvPr/>
        </p:nvCxnSpPr>
        <p:spPr bwMode="gray">
          <a:xfrm>
            <a:off x="807953" y="4761369"/>
            <a:ext cx="1180733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 bwMode="gray">
          <a:xfrm>
            <a:off x="5275638" y="4761369"/>
            <a:ext cx="306646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 bwMode="gray">
          <a:xfrm>
            <a:off x="807953" y="4380743"/>
            <a:ext cx="821800" cy="284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信息扩散</a:t>
            </a:r>
            <a:endParaRPr lang="zh-CN" altLang="en-US" sz="1400"/>
          </a:p>
        </p:txBody>
      </p:sp>
      <p:sp>
        <p:nvSpPr>
          <p:cNvPr id="38" name="文本框 37"/>
          <p:cNvSpPr txBox="1"/>
          <p:nvPr/>
        </p:nvSpPr>
        <p:spPr bwMode="gray">
          <a:xfrm>
            <a:off x="7382311" y="4380743"/>
            <a:ext cx="821800" cy="284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信息扩散</a:t>
            </a:r>
            <a:endParaRPr lang="zh-CN" altLang="en-US" sz="1400"/>
          </a:p>
        </p:txBody>
      </p:sp>
      <p:cxnSp>
        <p:nvCxnSpPr>
          <p:cNvPr id="40" name="直接箭头连接符 39"/>
          <p:cNvCxnSpPr/>
          <p:nvPr/>
        </p:nvCxnSpPr>
        <p:spPr bwMode="gray">
          <a:xfrm>
            <a:off x="807953" y="3807370"/>
            <a:ext cx="1022042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 bwMode="gray">
          <a:xfrm>
            <a:off x="7404507" y="3807370"/>
            <a:ext cx="93759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 bwMode="gray">
          <a:xfrm>
            <a:off x="833353" y="3426745"/>
            <a:ext cx="759057" cy="284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LSP</a:t>
            </a:r>
            <a:r>
              <a:rPr lang="zh-CN" altLang="en-US" sz="1400"/>
              <a:t>建立</a:t>
            </a:r>
            <a:endParaRPr lang="zh-CN" altLang="en-US" sz="1400"/>
          </a:p>
        </p:txBody>
      </p:sp>
      <p:sp>
        <p:nvSpPr>
          <p:cNvPr id="43" name="文本框 42"/>
          <p:cNvSpPr txBox="1"/>
          <p:nvPr/>
        </p:nvSpPr>
        <p:spPr bwMode="gray">
          <a:xfrm>
            <a:off x="7394503" y="3426745"/>
            <a:ext cx="759057" cy="284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LSP</a:t>
            </a:r>
            <a:r>
              <a:rPr lang="zh-CN" altLang="en-US" sz="1400"/>
              <a:t>建立</a:t>
            </a:r>
            <a:endParaRPr lang="zh-CN" altLang="en-US" sz="1400"/>
          </a:p>
        </p:txBody>
      </p:sp>
      <p:cxnSp>
        <p:nvCxnSpPr>
          <p:cNvPr id="71" name="直接箭头连接符 70"/>
          <p:cNvCxnSpPr>
            <a:stCxn id="12" idx="2"/>
          </p:cNvCxnSpPr>
          <p:nvPr/>
        </p:nvCxnSpPr>
        <p:spPr bwMode="gray">
          <a:xfrm>
            <a:off x="2725623" y="4059567"/>
            <a:ext cx="0" cy="463374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stCxn id="16" idx="2"/>
          </p:cNvCxnSpPr>
          <p:nvPr/>
        </p:nvCxnSpPr>
        <p:spPr bwMode="gray">
          <a:xfrm>
            <a:off x="4642575" y="4059567"/>
            <a:ext cx="0" cy="450582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 bwMode="gray">
          <a:xfrm>
            <a:off x="8665204" y="2799518"/>
            <a:ext cx="2774349" cy="311819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302260" indent="-302260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 marL="654685" indent="-252095" defTabSz="913765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defTabSz="913765" fontAlgn="ctr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540" indent="-198120" defTabSz="913765" fontAlgn="ctr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defTabSz="913765" fontAlgn="ctr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3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6pPr>
            <a:lvl7pPr marL="29705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7pPr>
            <a:lvl8pPr marL="34277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8pPr>
            <a:lvl9pPr marL="38849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9pPr>
          </a:lstStyle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/>
              <a:t>扩展</a:t>
            </a:r>
            <a:r>
              <a:rPr lang="en-US" altLang="zh-CN" sz="1400" dirty="0"/>
              <a:t>IS-IS/OSPF</a:t>
            </a:r>
            <a:r>
              <a:rPr lang="zh-CN" altLang="en-US" sz="1400" dirty="0"/>
              <a:t>携带</a:t>
            </a:r>
            <a:r>
              <a:rPr lang="en-US" altLang="zh-CN" sz="1400" dirty="0"/>
              <a:t>TE</a:t>
            </a:r>
            <a:r>
              <a:rPr lang="zh-CN" altLang="en-US" sz="1400" dirty="0"/>
              <a:t>信息，</a:t>
            </a:r>
            <a:r>
              <a:rPr lang="zh-CN" altLang="en-US" sz="1400" dirty="0">
                <a:highlight>
                  <a:srgbClr val="FFFF00"/>
                </a:highlight>
              </a:rPr>
              <a:t>在域内泛洪</a:t>
            </a:r>
            <a:r>
              <a:rPr lang="en-US" altLang="zh-CN" sz="1400" dirty="0">
                <a:highlight>
                  <a:srgbClr val="FFFF00"/>
                </a:highlight>
              </a:rPr>
              <a:t>IGP</a:t>
            </a:r>
            <a:r>
              <a:rPr lang="zh-CN" altLang="en-US" sz="1400" dirty="0">
                <a:highlight>
                  <a:srgbClr val="FFFF00"/>
                </a:highlight>
              </a:rPr>
              <a:t>和</a:t>
            </a:r>
            <a:r>
              <a:rPr lang="en-US" altLang="zh-CN" sz="1400" dirty="0">
                <a:highlight>
                  <a:srgbClr val="FFFF00"/>
                </a:highlight>
              </a:rPr>
              <a:t>TE</a:t>
            </a:r>
            <a:r>
              <a:rPr lang="zh-CN" altLang="en-US" sz="1400" dirty="0">
                <a:highlight>
                  <a:srgbClr val="FFFF00"/>
                </a:highlight>
              </a:rPr>
              <a:t>信息，生成</a:t>
            </a:r>
            <a:r>
              <a:rPr lang="en-US" altLang="zh-CN" sz="1400" dirty="0">
                <a:highlight>
                  <a:srgbClr val="FFFF00"/>
                </a:highlight>
              </a:rPr>
              <a:t>TEDB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/>
              <a:t>通过</a:t>
            </a:r>
            <a:r>
              <a:rPr lang="en-US" altLang="zh-CN" sz="1400" dirty="0">
                <a:highlight>
                  <a:srgbClr val="FFFF00"/>
                </a:highlight>
              </a:rPr>
              <a:t>CSPF</a:t>
            </a:r>
            <a:r>
              <a:rPr lang="zh-CN" altLang="en-US" sz="1400" dirty="0">
                <a:highlight>
                  <a:srgbClr val="FFFF00"/>
                </a:highlight>
              </a:rPr>
              <a:t>算法</a:t>
            </a:r>
            <a:r>
              <a:rPr lang="zh-CN" altLang="en-US" sz="1400" dirty="0"/>
              <a:t>，基于</a:t>
            </a:r>
            <a:r>
              <a:rPr lang="en-US" altLang="zh-CN" sz="1400" dirty="0"/>
              <a:t>TEDB</a:t>
            </a:r>
            <a:r>
              <a:rPr lang="zh-CN" altLang="en-US" sz="1400" dirty="0"/>
              <a:t>计算满足约束的路径。</a:t>
            </a:r>
            <a:endParaRPr lang="en-US" altLang="zh-CN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/>
              <a:t>使用</a:t>
            </a:r>
            <a:r>
              <a:rPr lang="en-US" altLang="zh-CN" sz="1400" dirty="0">
                <a:highlight>
                  <a:srgbClr val="FFFF00"/>
                </a:highlight>
              </a:rPr>
              <a:t>RSVP-TE</a:t>
            </a:r>
            <a:r>
              <a:rPr lang="zh-CN" altLang="en-US" sz="1400" dirty="0">
                <a:highlight>
                  <a:srgbClr val="FFFF00"/>
                </a:highlight>
              </a:rPr>
              <a:t>建立</a:t>
            </a:r>
            <a:r>
              <a:rPr lang="en-US" altLang="zh-CN" sz="1400" dirty="0">
                <a:highlight>
                  <a:srgbClr val="FFFF00"/>
                </a:highlight>
              </a:rPr>
              <a:t>LSP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/>
              <a:t>基于</a:t>
            </a:r>
            <a:r>
              <a:rPr lang="en-US" altLang="zh-CN" sz="1400" dirty="0"/>
              <a:t>MPLS</a:t>
            </a:r>
            <a:r>
              <a:rPr lang="zh-CN" altLang="en-US" sz="1400" dirty="0"/>
              <a:t>标签转发数据。</a:t>
            </a:r>
            <a:endParaRPr lang="zh-CN" altLang="en-US" sz="1400" dirty="0"/>
          </a:p>
        </p:txBody>
      </p:sp>
      <p:sp>
        <p:nvSpPr>
          <p:cNvPr id="35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直接连接符 62"/>
          <p:cNvCxnSpPr/>
          <p:nvPr/>
        </p:nvCxnSpPr>
        <p:spPr bwMode="gray">
          <a:xfrm>
            <a:off x="3271566" y="4656809"/>
            <a:ext cx="2303171" cy="967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46" idx="3"/>
            <a:endCxn id="52" idx="1"/>
          </p:cNvCxnSpPr>
          <p:nvPr/>
        </p:nvCxnSpPr>
        <p:spPr bwMode="gray">
          <a:xfrm>
            <a:off x="3271566" y="2961592"/>
            <a:ext cx="2303171" cy="2195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/>
              <a:t>集中式</a:t>
            </a:r>
            <a:r>
              <a:rPr lang="en-US" altLang="zh-CN" dirty="0"/>
              <a:t>SR-MPLS TE</a:t>
            </a:r>
            <a:r>
              <a:rPr lang="zh-CN" altLang="en-US" dirty="0"/>
              <a:t>功能架构</a:t>
            </a:r>
            <a:endParaRPr lang="zh-CN" altLang="en-US" dirty="0"/>
          </a:p>
        </p:txBody>
      </p:sp>
      <p:sp>
        <p:nvSpPr>
          <p:cNvPr id="4" name="文本占位符 3"/>
          <p:cNvSpPr txBox="1"/>
          <p:nvPr/>
        </p:nvSpPr>
        <p:spPr bwMode="gray">
          <a:xfrm>
            <a:off x="452437" y="974598"/>
            <a:ext cx="11296649" cy="1277403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fontAlgn="ctr" latinLnBrk="0" hangingPunct="1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22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685" indent="-252095" algn="l" defTabSz="913765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ctr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ctr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ctr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/>
              <a:t>SR-MPLS TE</a:t>
            </a:r>
            <a:r>
              <a:rPr lang="zh-CN" altLang="en-US" sz="1600" dirty="0"/>
              <a:t>（</a:t>
            </a:r>
            <a:r>
              <a:rPr lang="en-US" altLang="zh-CN" sz="1600" dirty="0"/>
              <a:t>Segment Routing-MPLS Traffic Engineering</a:t>
            </a:r>
            <a:r>
              <a:rPr lang="zh-CN" altLang="en-US" sz="1600" dirty="0"/>
              <a:t>）是使用</a:t>
            </a:r>
            <a:r>
              <a:rPr lang="en-US" altLang="zh-CN" sz="1600" dirty="0"/>
              <a:t>SR</a:t>
            </a:r>
            <a:r>
              <a:rPr lang="zh-CN" altLang="en-US" sz="1600" dirty="0"/>
              <a:t>作为控制协议的一种</a:t>
            </a:r>
            <a:r>
              <a:rPr lang="zh-CN" altLang="en-US" sz="1600" dirty="0">
                <a:highlight>
                  <a:srgbClr val="FFFF00"/>
                </a:highlight>
              </a:rPr>
              <a:t>新型的</a:t>
            </a:r>
            <a:r>
              <a:rPr lang="en-US" altLang="zh-CN" sz="1600" dirty="0">
                <a:highlight>
                  <a:srgbClr val="FFFF00"/>
                </a:highlight>
              </a:rPr>
              <a:t>TE</a:t>
            </a:r>
            <a:r>
              <a:rPr lang="zh-CN" altLang="en-US" sz="1600" dirty="0">
                <a:highlight>
                  <a:srgbClr val="FFFF00"/>
                </a:highlight>
              </a:rPr>
              <a:t>隧道技术</a:t>
            </a:r>
            <a:r>
              <a:rPr lang="zh-CN" altLang="en-US" sz="1600" dirty="0"/>
              <a:t>。</a:t>
            </a:r>
            <a:r>
              <a:rPr lang="en-US" altLang="zh-CN" sz="1600" dirty="0"/>
              <a:t>SR-MPLS TE</a:t>
            </a:r>
            <a:r>
              <a:rPr lang="zh-CN" altLang="en-US" sz="1600" dirty="0"/>
              <a:t>支持采用集中式架构，</a:t>
            </a:r>
            <a:r>
              <a:rPr lang="zh-CN" altLang="en-US" sz="1600" dirty="0">
                <a:highlight>
                  <a:srgbClr val="FFFF00"/>
                </a:highlight>
              </a:rPr>
              <a:t>控制器收集全局网络拓扑信息和</a:t>
            </a:r>
            <a:r>
              <a:rPr lang="en-US" altLang="zh-CN" sz="1600" dirty="0">
                <a:highlight>
                  <a:srgbClr val="FFFF00"/>
                </a:highlight>
              </a:rPr>
              <a:t>TE</a:t>
            </a:r>
            <a:r>
              <a:rPr lang="zh-CN" altLang="en-US" sz="1600" dirty="0">
                <a:highlight>
                  <a:srgbClr val="FFFF00"/>
                </a:highlight>
              </a:rPr>
              <a:t>信息，集中算路，然后把算路结果下发给网络设备。</a:t>
            </a:r>
            <a:endParaRPr lang="en-US" altLang="zh-CN" sz="1600" dirty="0">
              <a:highlight>
                <a:srgbClr val="FFFF00"/>
              </a:highlight>
            </a:endParaRPr>
          </a:p>
          <a:p>
            <a:r>
              <a:rPr lang="en-US" altLang="zh-CN" sz="1600" dirty="0"/>
              <a:t>SR-MPLS TE</a:t>
            </a:r>
            <a:r>
              <a:rPr lang="zh-CN" altLang="en-US" sz="1600" dirty="0"/>
              <a:t>也支持使用</a:t>
            </a:r>
            <a:r>
              <a:rPr lang="zh-CN" altLang="en-US" sz="1600" dirty="0">
                <a:highlight>
                  <a:srgbClr val="FFFF00"/>
                </a:highlight>
              </a:rPr>
              <a:t>手工方式</a:t>
            </a:r>
            <a:r>
              <a:rPr lang="zh-CN" altLang="en-US" sz="1600" dirty="0"/>
              <a:t>配置。</a:t>
            </a:r>
            <a:endParaRPr lang="zh-CN" altLang="en-US" sz="1600" dirty="0"/>
          </a:p>
        </p:txBody>
      </p:sp>
      <p:sp>
        <p:nvSpPr>
          <p:cNvPr id="5" name="矩形 4"/>
          <p:cNvSpPr/>
          <p:nvPr/>
        </p:nvSpPr>
        <p:spPr bwMode="gray">
          <a:xfrm>
            <a:off x="1620662" y="3743510"/>
            <a:ext cx="5737663" cy="243510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 bwMode="gray">
          <a:xfrm>
            <a:off x="1611253" y="399853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30B5C5"/>
                </a:solidFill>
              </a:rPr>
              <a:t>网络设备</a:t>
            </a:r>
            <a:endParaRPr lang="zh-CN" altLang="en-US" sz="1400" b="1" dirty="0">
              <a:solidFill>
                <a:srgbClr val="30B5C5"/>
              </a:solidFill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1842895" y="5728410"/>
            <a:ext cx="5337862" cy="32651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 bwMode="gray">
          <a:xfrm>
            <a:off x="3657960" y="5748981"/>
            <a:ext cx="15424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4</a:t>
            </a:r>
            <a:r>
              <a:rPr lang="zh-CN" altLang="en-US" sz="1400"/>
              <a:t>、报文转发组件</a:t>
            </a:r>
            <a:endParaRPr lang="zh-CN" altLang="en-US" sz="1400"/>
          </a:p>
        </p:txBody>
      </p:sp>
      <p:sp>
        <p:nvSpPr>
          <p:cNvPr id="9" name="矩形 8"/>
          <p:cNvSpPr/>
          <p:nvPr/>
        </p:nvSpPr>
        <p:spPr bwMode="gray">
          <a:xfrm>
            <a:off x="2917864" y="5168154"/>
            <a:ext cx="3285006" cy="451456"/>
          </a:xfrm>
          <a:prstGeom prst="rect">
            <a:avLst/>
          </a:prstGeom>
          <a:solidFill>
            <a:srgbClr val="92D050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 bwMode="gray">
          <a:xfrm>
            <a:off x="3308413" y="5240922"/>
            <a:ext cx="23663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 </a:t>
            </a:r>
            <a:r>
              <a:rPr lang="zh-CN" altLang="en-US" sz="1400" dirty="0"/>
              <a:t>信息发布组件：</a:t>
            </a:r>
            <a:r>
              <a:rPr lang="en-US" altLang="zh-CN" sz="1400" dirty="0"/>
              <a:t>IS-IS/OSPF</a:t>
            </a:r>
            <a:endParaRPr lang="zh-CN" altLang="en-US" sz="1400" dirty="0"/>
          </a:p>
        </p:txBody>
      </p:sp>
      <p:sp>
        <p:nvSpPr>
          <p:cNvPr id="11" name="矩形 10"/>
          <p:cNvSpPr/>
          <p:nvPr/>
        </p:nvSpPr>
        <p:spPr bwMode="gray">
          <a:xfrm>
            <a:off x="1832582" y="4306313"/>
            <a:ext cx="1438984" cy="650153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 bwMode="gray">
          <a:xfrm>
            <a:off x="2073529" y="446279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信令组件</a:t>
            </a:r>
            <a:endParaRPr lang="en-US" altLang="zh-CN" sz="1400"/>
          </a:p>
        </p:txBody>
      </p:sp>
      <p:sp>
        <p:nvSpPr>
          <p:cNvPr id="15" name="矩形 14"/>
          <p:cNvSpPr/>
          <p:nvPr/>
        </p:nvSpPr>
        <p:spPr bwMode="gray">
          <a:xfrm>
            <a:off x="3547873" y="4072536"/>
            <a:ext cx="1755326" cy="8717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 bwMode="gray">
          <a:xfrm>
            <a:off x="3721204" y="4450015"/>
            <a:ext cx="1457769" cy="384604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 bwMode="gray">
          <a:xfrm>
            <a:off x="3782164" y="4498783"/>
            <a:ext cx="1338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本地</a:t>
            </a:r>
            <a:r>
              <a:rPr lang="en-US" altLang="zh-CN" sz="1400" dirty="0"/>
              <a:t>TE</a:t>
            </a:r>
            <a:r>
              <a:rPr lang="zh-CN" altLang="en-US" sz="1400" dirty="0"/>
              <a:t>数据库</a:t>
            </a:r>
            <a:endParaRPr lang="zh-CN" altLang="en-US" sz="1400" dirty="0"/>
          </a:p>
        </p:txBody>
      </p:sp>
      <p:sp>
        <p:nvSpPr>
          <p:cNvPr id="19" name="矩形 18"/>
          <p:cNvSpPr/>
          <p:nvPr/>
        </p:nvSpPr>
        <p:spPr bwMode="gray">
          <a:xfrm>
            <a:off x="5574737" y="4376996"/>
            <a:ext cx="1653580" cy="5106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 bwMode="gray">
          <a:xfrm>
            <a:off x="5796843" y="447750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信息上报组件</a:t>
            </a:r>
            <a:endParaRPr lang="zh-CN" altLang="en-US" sz="1400"/>
          </a:p>
        </p:txBody>
      </p:sp>
      <p:cxnSp>
        <p:nvCxnSpPr>
          <p:cNvPr id="22" name="直接箭头连接符 21"/>
          <p:cNvCxnSpPr>
            <a:endCxn id="7" idx="1"/>
          </p:cNvCxnSpPr>
          <p:nvPr/>
        </p:nvCxnSpPr>
        <p:spPr bwMode="gray">
          <a:xfrm flipV="1">
            <a:off x="761771" y="5891666"/>
            <a:ext cx="1081124" cy="16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 bwMode="gray">
          <a:xfrm>
            <a:off x="7180757" y="5917562"/>
            <a:ext cx="11151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 bwMode="gray">
          <a:xfrm>
            <a:off x="7350270" y="5586304"/>
            <a:ext cx="821800" cy="284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报文离开</a:t>
            </a:r>
            <a:endParaRPr lang="zh-CN" altLang="en-US" sz="1400"/>
          </a:p>
        </p:txBody>
      </p:sp>
      <p:sp>
        <p:nvSpPr>
          <p:cNvPr id="27" name="文本框 26"/>
          <p:cNvSpPr txBox="1"/>
          <p:nvPr/>
        </p:nvSpPr>
        <p:spPr bwMode="gray">
          <a:xfrm>
            <a:off x="761771" y="5561920"/>
            <a:ext cx="821800" cy="284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报文进入</a:t>
            </a:r>
            <a:endParaRPr lang="zh-CN" altLang="en-US" sz="1400"/>
          </a:p>
        </p:txBody>
      </p:sp>
      <p:cxnSp>
        <p:nvCxnSpPr>
          <p:cNvPr id="33" name="直接箭头连接符 32"/>
          <p:cNvCxnSpPr>
            <a:endCxn id="9" idx="1"/>
          </p:cNvCxnSpPr>
          <p:nvPr/>
        </p:nvCxnSpPr>
        <p:spPr bwMode="gray">
          <a:xfrm>
            <a:off x="761771" y="5393882"/>
            <a:ext cx="2156093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9" idx="3"/>
          </p:cNvCxnSpPr>
          <p:nvPr/>
        </p:nvCxnSpPr>
        <p:spPr bwMode="gray">
          <a:xfrm>
            <a:off x="6202870" y="5393882"/>
            <a:ext cx="209305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 bwMode="gray">
          <a:xfrm>
            <a:off x="761771" y="5013256"/>
            <a:ext cx="821800" cy="284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信息扩散</a:t>
            </a:r>
            <a:endParaRPr lang="zh-CN" altLang="en-US" sz="1400"/>
          </a:p>
        </p:txBody>
      </p:sp>
      <p:sp>
        <p:nvSpPr>
          <p:cNvPr id="38" name="文本框 37"/>
          <p:cNvSpPr txBox="1"/>
          <p:nvPr/>
        </p:nvSpPr>
        <p:spPr bwMode="gray">
          <a:xfrm>
            <a:off x="7336129" y="5013256"/>
            <a:ext cx="821800" cy="284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信息扩散</a:t>
            </a:r>
            <a:endParaRPr lang="zh-CN" altLang="en-US" sz="1400"/>
          </a:p>
        </p:txBody>
      </p:sp>
      <p:cxnSp>
        <p:nvCxnSpPr>
          <p:cNvPr id="72" name="直接箭头连接符 71"/>
          <p:cNvCxnSpPr/>
          <p:nvPr/>
        </p:nvCxnSpPr>
        <p:spPr bwMode="gray">
          <a:xfrm>
            <a:off x="4450089" y="4887152"/>
            <a:ext cx="0" cy="292594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 bwMode="gray">
          <a:xfrm>
            <a:off x="1620662" y="2252000"/>
            <a:ext cx="5737663" cy="1296855"/>
          </a:xfrm>
          <a:prstGeom prst="rect">
            <a:avLst/>
          </a:prstGeom>
          <a:noFill/>
          <a:ln w="19050">
            <a:solidFill>
              <a:srgbClr val="ED6D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 bwMode="gray">
          <a:xfrm>
            <a:off x="1583571" y="232873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ED6D00"/>
                </a:solidFill>
              </a:rPr>
              <a:t>控制器</a:t>
            </a:r>
            <a:endParaRPr lang="zh-CN" altLang="en-US" sz="1400" b="1" dirty="0">
              <a:solidFill>
                <a:srgbClr val="ED6D00"/>
              </a:solidFill>
            </a:endParaRPr>
          </a:p>
        </p:txBody>
      </p:sp>
      <p:sp>
        <p:nvSpPr>
          <p:cNvPr id="46" name="矩形 45"/>
          <p:cNvSpPr/>
          <p:nvPr/>
        </p:nvSpPr>
        <p:spPr bwMode="gray">
          <a:xfrm>
            <a:off x="1832582" y="2636515"/>
            <a:ext cx="1438984" cy="650153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 bwMode="gray">
          <a:xfrm>
            <a:off x="1908692" y="2704142"/>
            <a:ext cx="1362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3</a:t>
            </a:r>
            <a:r>
              <a:rPr lang="zh-CN" altLang="en-US" sz="1400"/>
              <a:t>、信令组件</a:t>
            </a:r>
            <a:endParaRPr lang="en-US" altLang="zh-CN" sz="1400"/>
          </a:p>
          <a:p>
            <a:r>
              <a:rPr lang="zh-CN" altLang="en-US" sz="1400"/>
              <a:t>（</a:t>
            </a:r>
            <a:r>
              <a:rPr lang="en-US" altLang="zh-CN" sz="1400"/>
              <a:t>PCEP/BGP</a:t>
            </a:r>
            <a:r>
              <a:rPr lang="zh-CN" altLang="en-US" sz="1400"/>
              <a:t>）</a:t>
            </a:r>
            <a:endParaRPr lang="en-US" altLang="zh-CN" sz="1400"/>
          </a:p>
        </p:txBody>
      </p:sp>
      <p:sp>
        <p:nvSpPr>
          <p:cNvPr id="48" name="矩形 47"/>
          <p:cNvSpPr/>
          <p:nvPr/>
        </p:nvSpPr>
        <p:spPr bwMode="gray">
          <a:xfrm>
            <a:off x="3547873" y="2436302"/>
            <a:ext cx="1755326" cy="9821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 bwMode="gray">
          <a:xfrm>
            <a:off x="3721204" y="2897663"/>
            <a:ext cx="1457769" cy="451456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 bwMode="gray">
          <a:xfrm>
            <a:off x="3636563" y="2509455"/>
            <a:ext cx="15424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2</a:t>
            </a:r>
            <a:r>
              <a:rPr lang="zh-CN" altLang="en-US" sz="1400"/>
              <a:t>、集中算路组件</a:t>
            </a:r>
            <a:endParaRPr lang="zh-CN" altLang="en-US" sz="1400"/>
          </a:p>
        </p:txBody>
      </p:sp>
      <p:sp>
        <p:nvSpPr>
          <p:cNvPr id="51" name="文本框 50"/>
          <p:cNvSpPr txBox="1"/>
          <p:nvPr/>
        </p:nvSpPr>
        <p:spPr bwMode="gray">
          <a:xfrm>
            <a:off x="3806547" y="2964515"/>
            <a:ext cx="1457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全局</a:t>
            </a:r>
            <a:r>
              <a:rPr lang="en-US" altLang="zh-CN" sz="1400"/>
              <a:t>TE</a:t>
            </a:r>
            <a:r>
              <a:rPr lang="zh-CN" altLang="en-US" sz="1400"/>
              <a:t>数据库</a:t>
            </a:r>
            <a:endParaRPr lang="zh-CN" altLang="en-US" sz="1400"/>
          </a:p>
        </p:txBody>
      </p:sp>
      <p:sp>
        <p:nvSpPr>
          <p:cNvPr id="52" name="矩形 51"/>
          <p:cNvSpPr/>
          <p:nvPr/>
        </p:nvSpPr>
        <p:spPr bwMode="gray">
          <a:xfrm>
            <a:off x="5574737" y="2695052"/>
            <a:ext cx="1653580" cy="5769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 bwMode="gray">
          <a:xfrm>
            <a:off x="5618130" y="2734348"/>
            <a:ext cx="1542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</a:t>
            </a:r>
            <a:r>
              <a:rPr lang="zh-CN" altLang="en-US" sz="1400" dirty="0"/>
              <a:t>、信息采集组件</a:t>
            </a:r>
            <a:endParaRPr lang="en-US" altLang="zh-CN" sz="1400" dirty="0"/>
          </a:p>
          <a:p>
            <a:r>
              <a:rPr lang="zh-CN" altLang="en-US" sz="1400" dirty="0"/>
              <a:t>    （</a:t>
            </a:r>
            <a:r>
              <a:rPr lang="en-US" altLang="zh-CN" sz="1400" dirty="0"/>
              <a:t>BGP-LS</a:t>
            </a:r>
            <a:r>
              <a:rPr lang="zh-CN" altLang="en-US" sz="1400" dirty="0"/>
              <a:t>）</a:t>
            </a:r>
            <a:endParaRPr lang="zh-CN" altLang="en-US" sz="1400" dirty="0"/>
          </a:p>
        </p:txBody>
      </p:sp>
      <p:cxnSp>
        <p:nvCxnSpPr>
          <p:cNvPr id="54" name="直接箭头连接符 53"/>
          <p:cNvCxnSpPr>
            <a:stCxn id="46" idx="2"/>
            <a:endCxn id="11" idx="0"/>
          </p:cNvCxnSpPr>
          <p:nvPr/>
        </p:nvCxnSpPr>
        <p:spPr bwMode="gray">
          <a:xfrm>
            <a:off x="2552074" y="3286668"/>
            <a:ext cx="0" cy="1019645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52" idx="2"/>
            <a:endCxn id="19" idx="0"/>
          </p:cNvCxnSpPr>
          <p:nvPr/>
        </p:nvCxnSpPr>
        <p:spPr bwMode="gray">
          <a:xfrm>
            <a:off x="6401527" y="3272046"/>
            <a:ext cx="0" cy="110495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 bwMode="gray">
          <a:xfrm>
            <a:off x="7960626" y="2120654"/>
            <a:ext cx="3361636" cy="311819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302260" indent="-302260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 marL="654685" indent="-252095" defTabSz="913765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defTabSz="913765" fontAlgn="ctr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540" indent="-198120" defTabSz="913765" fontAlgn="ctr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defTabSz="913765" fontAlgn="ctr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3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6pPr>
            <a:lvl7pPr marL="29705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7pPr>
            <a:lvl8pPr marL="34277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8pPr>
            <a:lvl9pPr marL="38849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9pPr>
          </a:lstStyle>
          <a:p>
            <a:pPr marL="0" indent="0">
              <a:buNone/>
            </a:pPr>
            <a:r>
              <a:rPr lang="zh-CN" altLang="en-US" sz="1400" dirty="0"/>
              <a:t>集中式</a:t>
            </a:r>
            <a:r>
              <a:rPr lang="en-US" altLang="zh-CN" sz="1400" dirty="0"/>
              <a:t>SR-MPLS TE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/>
              <a:t>扩展</a:t>
            </a:r>
            <a:r>
              <a:rPr lang="en-US" altLang="zh-CN" sz="1400" dirty="0"/>
              <a:t>IS-IS/OSPF</a:t>
            </a:r>
            <a:r>
              <a:rPr lang="zh-CN" altLang="en-US" sz="1400" dirty="0"/>
              <a:t>携带</a:t>
            </a:r>
            <a:r>
              <a:rPr lang="en-US" altLang="zh-CN" sz="1400" dirty="0"/>
              <a:t>TE</a:t>
            </a:r>
            <a:r>
              <a:rPr lang="zh-CN" altLang="en-US" sz="1400" dirty="0"/>
              <a:t>信息，在域内泛洪</a:t>
            </a:r>
            <a:r>
              <a:rPr lang="en-US" altLang="zh-CN" sz="1400" dirty="0"/>
              <a:t>IGP</a:t>
            </a:r>
            <a:r>
              <a:rPr lang="zh-CN" altLang="en-US" sz="1400" dirty="0"/>
              <a:t>和</a:t>
            </a:r>
            <a:r>
              <a:rPr lang="en-US" altLang="zh-CN" sz="1400" dirty="0"/>
              <a:t>TE</a:t>
            </a:r>
            <a:r>
              <a:rPr lang="zh-CN" altLang="en-US" sz="1400" dirty="0"/>
              <a:t>信息，生成</a:t>
            </a:r>
            <a:r>
              <a:rPr lang="en-US" altLang="zh-CN" sz="1400" dirty="0"/>
              <a:t>TEDB</a:t>
            </a:r>
            <a:r>
              <a:rPr lang="zh-CN" altLang="en-US" sz="1400" dirty="0"/>
              <a:t>。</a:t>
            </a:r>
            <a:endParaRPr lang="zh-CN" altLang="en-US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/>
              <a:t>通过</a:t>
            </a:r>
            <a:r>
              <a:rPr lang="en-US" altLang="zh-CN" sz="1400" dirty="0">
                <a:highlight>
                  <a:srgbClr val="FFFF00"/>
                </a:highlight>
              </a:rPr>
              <a:t>BGP-LS</a:t>
            </a:r>
            <a:r>
              <a:rPr lang="zh-CN" altLang="en-US" sz="1400" dirty="0">
                <a:highlight>
                  <a:srgbClr val="FFFF00"/>
                </a:highlight>
              </a:rPr>
              <a:t>收集网络信息</a:t>
            </a:r>
            <a:r>
              <a:rPr lang="zh-CN" altLang="en-US" sz="1400" dirty="0"/>
              <a:t>，</a:t>
            </a:r>
            <a:r>
              <a:rPr lang="zh-CN" altLang="en-US" sz="1400" dirty="0">
                <a:highlight>
                  <a:srgbClr val="FFFF00"/>
                </a:highlight>
              </a:rPr>
              <a:t>建立全局</a:t>
            </a:r>
            <a:r>
              <a:rPr lang="en-US" altLang="zh-CN" sz="1400" dirty="0">
                <a:highlight>
                  <a:srgbClr val="FFFF00"/>
                </a:highlight>
              </a:rPr>
              <a:t>TE</a:t>
            </a:r>
            <a:r>
              <a:rPr lang="zh-CN" altLang="en-US" sz="1400" dirty="0">
                <a:highlight>
                  <a:srgbClr val="FFFF00"/>
                </a:highlight>
              </a:rPr>
              <a:t>数据库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/>
              <a:t>控制器</a:t>
            </a:r>
            <a:r>
              <a:rPr lang="zh-CN" altLang="en-US" sz="1400" dirty="0">
                <a:highlight>
                  <a:srgbClr val="FFFF00"/>
                </a:highlight>
              </a:rPr>
              <a:t>基于约束全局算路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/>
              <a:t>使用</a:t>
            </a:r>
            <a:r>
              <a:rPr lang="en-US" altLang="zh-CN" sz="1400" dirty="0">
                <a:highlight>
                  <a:srgbClr val="FFFF00"/>
                </a:highlight>
              </a:rPr>
              <a:t>PCEP</a:t>
            </a:r>
            <a:r>
              <a:rPr lang="zh-CN" altLang="en-US" sz="1400" dirty="0"/>
              <a:t>或</a:t>
            </a:r>
            <a:r>
              <a:rPr lang="en-US" altLang="zh-CN" sz="1400" dirty="0">
                <a:highlight>
                  <a:srgbClr val="FFFF00"/>
                </a:highlight>
              </a:rPr>
              <a:t>BGP SR Policy</a:t>
            </a:r>
            <a:r>
              <a:rPr lang="zh-CN" altLang="en-US" sz="1400" dirty="0"/>
              <a:t>将算路结果</a:t>
            </a:r>
            <a:r>
              <a:rPr lang="zh-CN" altLang="en-US" sz="1400" dirty="0">
                <a:highlight>
                  <a:srgbClr val="FFFF00"/>
                </a:highlight>
              </a:rPr>
              <a:t>下发设备</a:t>
            </a:r>
            <a:r>
              <a:rPr lang="zh-CN" altLang="en-US" sz="1400" dirty="0"/>
              <a:t>。</a:t>
            </a:r>
            <a:endParaRPr lang="en-US" altLang="zh-CN" sz="1400" dirty="0"/>
          </a:p>
        </p:txBody>
      </p:sp>
      <p:sp>
        <p:nvSpPr>
          <p:cNvPr id="41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SR-MPLS TE </a:t>
            </a:r>
            <a:r>
              <a:rPr lang="zh-CN" altLang="en-US">
                <a:sym typeface="Huawei Sans" panose="020C0503030203020204" pitchFamily="34" charset="0"/>
              </a:rPr>
              <a:t>与 </a:t>
            </a:r>
            <a:r>
              <a:rPr lang="en-US" altLang="zh-CN">
                <a:sym typeface="Huawei Sans" panose="020C0503030203020204" pitchFamily="34" charset="0"/>
              </a:rPr>
              <a:t>RSVP-TE </a:t>
            </a:r>
            <a:r>
              <a:rPr lang="zh-CN" altLang="en-US">
                <a:sym typeface="Huawei Sans" panose="020C0503030203020204" pitchFamily="34" charset="0"/>
              </a:rPr>
              <a:t>的比较</a:t>
            </a:r>
            <a:endParaRPr lang="zh-CN" altLang="en-US">
              <a:sym typeface="Huawei Sans" panose="020C0503030203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58982" y="1484313"/>
          <a:ext cx="10474036" cy="4203078"/>
        </p:xfrm>
        <a:graphic>
          <a:graphicData uri="http://schemas.openxmlformats.org/drawingml/2006/table">
            <a:tbl>
              <a:tblPr/>
              <a:tblGrid>
                <a:gridCol w="1071418"/>
                <a:gridCol w="4775200"/>
                <a:gridCol w="4627418"/>
              </a:tblGrid>
              <a:tr h="3783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i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比较项 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108000" marR="108000" marT="72000" marB="72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SR-MPLS TE 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108000" marR="1080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RSVP-TE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108000" marR="1080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0360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标签分配</a:t>
                      </a:r>
                      <a:endParaRPr lang="zh-CN" altLang="en-US" sz="180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108000" marR="108000" marT="72000" marB="72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通过对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IGP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协议扩展进行标签分配和扩散。每条链路仅分配一个标签，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所有的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LSP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共用这一个标签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减少了标签资源的占用，减轻了标签转发表的维护工作量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8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108000" marR="1080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通过对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RSVP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协议扩展进行标签分配和扩散。每条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LSP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分配一个标签，当有多条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LSP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时，同一条链路上需要分配多个标签，标签资源占用的多，标签转发表的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维护工作量大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8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108000" marR="1080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071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控制平面</a:t>
                      </a:r>
                      <a:endParaRPr lang="zh-CN" altLang="en-US" sz="180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108000" marR="108000" marT="72000" marB="72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信令控制协议为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IGP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协议扩展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，减少协议数量。</a:t>
                      </a:r>
                      <a:endParaRPr lang="zh-CN" altLang="en-US" sz="180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108000" marR="1080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需要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RSVP-TE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作为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MPLS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的控制协议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，控制平面较复杂。</a:t>
                      </a:r>
                      <a:endParaRPr lang="zh-CN" altLang="en-US" sz="180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108000" marR="1080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071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可扩展性</a:t>
                      </a:r>
                      <a:endParaRPr lang="zh-CN" altLang="en-US" sz="180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108000" marR="108000" marT="72000" marB="72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网络中间设备不感知隧道，隧道信息携带在每个报文中，无需维护隧道状态信息，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只需维护转发表项，可扩展性强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80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108000" marR="1080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需要维护隧道状态信息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也需要维护转发表项，可扩展性差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80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108000" marR="1080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3648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路径调整和控制</a:t>
                      </a:r>
                      <a:endParaRPr lang="zh-CN" altLang="en-US" sz="180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108000" marR="108000" marT="72000" marB="72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网络中间设备不感知隧道，仅通过对入节点的报文进行标签操作即可任意控制业务路径，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无需逐节点下发配置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</a:b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当路径中的某个节点发生故障，由控制器重新计算路径并更新入节点的标签栈，即可完成路径调整。</a:t>
                      </a:r>
                      <a:endParaRPr lang="zh-CN" altLang="en-US" sz="180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108000" marR="1080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无论是正常业务调整还是故障场景的被动路径调整，都需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逐节点下发配置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8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108000" marR="10800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4" name="燕尾形 7"/>
          <p:cNvSpPr/>
          <p:nvPr/>
        </p:nvSpPr>
        <p:spPr bwMode="auto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五边形 8"/>
          <p:cNvSpPr/>
          <p:nvPr/>
        </p:nvSpPr>
        <p:spPr bwMode="auto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燕尾形 9"/>
          <p:cNvSpPr/>
          <p:nvPr/>
        </p:nvSpPr>
        <p:spPr bwMode="auto">
          <a:xfrm>
            <a:off x="92018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燕尾形 10"/>
          <p:cNvSpPr/>
          <p:nvPr/>
        </p:nvSpPr>
        <p:spPr bwMode="auto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燕尾形 10"/>
          <p:cNvSpPr/>
          <p:nvPr/>
        </p:nvSpPr>
        <p:spPr bwMode="auto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 bwMode="gray">
          <a:xfrm>
            <a:off x="6278129" y="1063142"/>
            <a:ext cx="5316503" cy="400674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上报网络拓扑信息</a:t>
            </a:r>
            <a:endParaRPr lang="zh-CN" altLang="en-US" sz="160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圆角矩形 7"/>
          <p:cNvSpPr/>
          <p:nvPr/>
        </p:nvSpPr>
        <p:spPr bwMode="gray">
          <a:xfrm>
            <a:off x="6278129" y="1532413"/>
            <a:ext cx="5333185" cy="4637617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矩形 12"/>
          <p:cNvSpPr/>
          <p:nvPr/>
        </p:nvSpPr>
        <p:spPr bwMode="gray">
          <a:xfrm>
            <a:off x="6511386" y="5538120"/>
            <a:ext cx="51184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将带有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标签信息的网络拓扑和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信息上报给控制器。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5" name="图片 1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03476" y="3241288"/>
            <a:ext cx="405710" cy="332682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03476" y="4564825"/>
            <a:ext cx="405710" cy="332682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782547" y="3241288"/>
            <a:ext cx="405710" cy="332682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782547" y="4564825"/>
            <a:ext cx="405710" cy="332682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570085" y="3241288"/>
            <a:ext cx="405710" cy="332682"/>
          </a:xfrm>
          <a:prstGeom prst="rect">
            <a:avLst/>
          </a:prstGeom>
        </p:spPr>
      </p:pic>
      <p:cxnSp>
        <p:nvCxnSpPr>
          <p:cNvPr id="20" name="直接连接符 19"/>
          <p:cNvCxnSpPr>
            <a:stCxn id="15" idx="3"/>
            <a:endCxn id="17" idx="1"/>
          </p:cNvCxnSpPr>
          <p:nvPr/>
        </p:nvCxnSpPr>
        <p:spPr bwMode="gray">
          <a:xfrm>
            <a:off x="7409186" y="3407629"/>
            <a:ext cx="137336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16" idx="3"/>
            <a:endCxn id="18" idx="1"/>
          </p:cNvCxnSpPr>
          <p:nvPr/>
        </p:nvCxnSpPr>
        <p:spPr bwMode="gray">
          <a:xfrm>
            <a:off x="7409186" y="4731166"/>
            <a:ext cx="137336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15" idx="2"/>
            <a:endCxn id="16" idx="0"/>
          </p:cNvCxnSpPr>
          <p:nvPr/>
        </p:nvCxnSpPr>
        <p:spPr bwMode="gray">
          <a:xfrm>
            <a:off x="7206331" y="3573970"/>
            <a:ext cx="0" cy="9908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17" idx="2"/>
            <a:endCxn id="18" idx="0"/>
          </p:cNvCxnSpPr>
          <p:nvPr/>
        </p:nvCxnSpPr>
        <p:spPr bwMode="gray">
          <a:xfrm>
            <a:off x="8985402" y="3573970"/>
            <a:ext cx="0" cy="9908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17" idx="3"/>
            <a:endCxn id="19" idx="1"/>
          </p:cNvCxnSpPr>
          <p:nvPr/>
        </p:nvCxnSpPr>
        <p:spPr bwMode="gray">
          <a:xfrm>
            <a:off x="9188257" y="3407629"/>
            <a:ext cx="13818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8" idx="3"/>
            <a:endCxn id="31" idx="1"/>
          </p:cNvCxnSpPr>
          <p:nvPr/>
        </p:nvCxnSpPr>
        <p:spPr bwMode="gray">
          <a:xfrm>
            <a:off x="9188257" y="4731166"/>
            <a:ext cx="13818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 bwMode="gray">
          <a:xfrm>
            <a:off x="6999383" y="4897506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8784003" y="4897506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6999383" y="2916207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8784003" y="2916207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10565992" y="2916207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1" name="图片 3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570085" y="4564825"/>
            <a:ext cx="405710" cy="332682"/>
          </a:xfrm>
          <a:prstGeom prst="rect">
            <a:avLst/>
          </a:prstGeom>
        </p:spPr>
      </p:pic>
      <p:cxnSp>
        <p:nvCxnSpPr>
          <p:cNvPr id="37" name="直接连接符 36"/>
          <p:cNvCxnSpPr>
            <a:stCxn id="19" idx="2"/>
            <a:endCxn id="31" idx="0"/>
          </p:cNvCxnSpPr>
          <p:nvPr/>
        </p:nvCxnSpPr>
        <p:spPr bwMode="gray">
          <a:xfrm>
            <a:off x="10772940" y="3573970"/>
            <a:ext cx="0" cy="9908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 bwMode="gray">
          <a:xfrm>
            <a:off x="10577090" y="4897506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4" name="图片 43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6969903" y="1917752"/>
            <a:ext cx="472855" cy="386881"/>
          </a:xfrm>
          <a:prstGeom prst="rect">
            <a:avLst/>
          </a:prstGeom>
        </p:spPr>
      </p:pic>
      <p:cxnSp>
        <p:nvCxnSpPr>
          <p:cNvPr id="46" name="直接箭头连接符 45"/>
          <p:cNvCxnSpPr/>
          <p:nvPr/>
        </p:nvCxnSpPr>
        <p:spPr bwMode="gray">
          <a:xfrm>
            <a:off x="7504937" y="3268699"/>
            <a:ext cx="1185333" cy="0"/>
          </a:xfrm>
          <a:prstGeom prst="straightConnector1">
            <a:avLst/>
          </a:prstGeom>
          <a:ln w="19050">
            <a:solidFill>
              <a:srgbClr val="94DAE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 bwMode="gray">
          <a:xfrm>
            <a:off x="9291065" y="3268699"/>
            <a:ext cx="1185333" cy="0"/>
          </a:xfrm>
          <a:prstGeom prst="straightConnector1">
            <a:avLst/>
          </a:prstGeom>
          <a:ln w="19050">
            <a:solidFill>
              <a:srgbClr val="94DAE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 bwMode="gray">
          <a:xfrm>
            <a:off x="7504937" y="4619647"/>
            <a:ext cx="1185333" cy="0"/>
          </a:xfrm>
          <a:prstGeom prst="straightConnector1">
            <a:avLst/>
          </a:prstGeom>
          <a:ln w="19050">
            <a:solidFill>
              <a:srgbClr val="94DAE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 bwMode="gray">
          <a:xfrm>
            <a:off x="9291065" y="4619647"/>
            <a:ext cx="1185333" cy="0"/>
          </a:xfrm>
          <a:prstGeom prst="straightConnector1">
            <a:avLst/>
          </a:prstGeom>
          <a:ln w="19050">
            <a:solidFill>
              <a:srgbClr val="94DAE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 bwMode="gray">
          <a:xfrm>
            <a:off x="7315961" y="3637486"/>
            <a:ext cx="0" cy="880935"/>
          </a:xfrm>
          <a:prstGeom prst="straightConnector1">
            <a:avLst/>
          </a:prstGeom>
          <a:ln w="19050">
            <a:solidFill>
              <a:srgbClr val="94DAE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 bwMode="gray">
          <a:xfrm>
            <a:off x="8864345" y="3637486"/>
            <a:ext cx="0" cy="880935"/>
          </a:xfrm>
          <a:prstGeom prst="straightConnector1">
            <a:avLst/>
          </a:prstGeom>
          <a:ln w="19050">
            <a:solidFill>
              <a:srgbClr val="94DAE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 bwMode="gray">
          <a:xfrm>
            <a:off x="10657393" y="3637486"/>
            <a:ext cx="0" cy="880935"/>
          </a:xfrm>
          <a:prstGeom prst="straightConnector1">
            <a:avLst/>
          </a:prstGeom>
          <a:ln w="19050">
            <a:solidFill>
              <a:srgbClr val="94DAE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 bwMode="gray">
          <a:xfrm>
            <a:off x="7798531" y="3842411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9605698" y="3842411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IGP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cxnSp>
        <p:nvCxnSpPr>
          <p:cNvPr id="59" name="直接箭头连接符 58"/>
          <p:cNvCxnSpPr/>
          <p:nvPr/>
        </p:nvCxnSpPr>
        <p:spPr bwMode="gray">
          <a:xfrm>
            <a:off x="7206331" y="2355087"/>
            <a:ext cx="0" cy="561120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 bwMode="gray">
          <a:xfrm>
            <a:off x="7436893" y="1930204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 bwMode="gray">
          <a:xfrm>
            <a:off x="7206331" y="2465183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endParaRPr lang="zh-CN" altLang="en-US" sz="1400" b="1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SR-MPLS TE - </a:t>
            </a:r>
            <a:r>
              <a:rPr lang="zh-CN" altLang="en-US" dirty="0">
                <a:sym typeface="Huawei Sans" panose="020C0503030203020204" pitchFamily="34" charset="0"/>
              </a:rPr>
              <a:t>网络拓扑收集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9" name="圆角矩形 8"/>
          <p:cNvSpPr/>
          <p:nvPr/>
        </p:nvSpPr>
        <p:spPr bwMode="gray">
          <a:xfrm>
            <a:off x="610815" y="1071982"/>
            <a:ext cx="5333185" cy="400674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协议收集网络拓扑信息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圆角矩形 9"/>
          <p:cNvSpPr/>
          <p:nvPr/>
        </p:nvSpPr>
        <p:spPr bwMode="gray">
          <a:xfrm>
            <a:off x="610815" y="1541253"/>
            <a:ext cx="5333185" cy="4637617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gray">
          <a:xfrm>
            <a:off x="982868" y="5432600"/>
            <a:ext cx="47148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转发器的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协议收集网络拓扑信息，收集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的邻接标签和节点标签。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6" name="图片 6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265273" y="3250128"/>
            <a:ext cx="405710" cy="332682"/>
          </a:xfrm>
          <a:prstGeom prst="rect">
            <a:avLst/>
          </a:prstGeom>
        </p:spPr>
      </p:pic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265273" y="4573665"/>
            <a:ext cx="405710" cy="332682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44344" y="3250128"/>
            <a:ext cx="405710" cy="332682"/>
          </a:xfrm>
          <a:prstGeom prst="rect">
            <a:avLst/>
          </a:prstGeom>
        </p:spPr>
      </p:pic>
      <p:pic>
        <p:nvPicPr>
          <p:cNvPr id="69" name="图片 6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44344" y="4573665"/>
            <a:ext cx="405710" cy="332682"/>
          </a:xfrm>
          <a:prstGeom prst="rect">
            <a:avLst/>
          </a:prstGeom>
        </p:spPr>
      </p:pic>
      <p:pic>
        <p:nvPicPr>
          <p:cNvPr id="70" name="图片 6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831882" y="3250128"/>
            <a:ext cx="405710" cy="332682"/>
          </a:xfrm>
          <a:prstGeom prst="rect">
            <a:avLst/>
          </a:prstGeom>
        </p:spPr>
      </p:pic>
      <p:cxnSp>
        <p:nvCxnSpPr>
          <p:cNvPr id="71" name="直接连接符 70"/>
          <p:cNvCxnSpPr>
            <a:stCxn id="66" idx="3"/>
            <a:endCxn id="68" idx="1"/>
          </p:cNvCxnSpPr>
          <p:nvPr/>
        </p:nvCxnSpPr>
        <p:spPr bwMode="gray">
          <a:xfrm>
            <a:off x="1670983" y="3416469"/>
            <a:ext cx="137336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67" idx="3"/>
            <a:endCxn id="69" idx="1"/>
          </p:cNvCxnSpPr>
          <p:nvPr/>
        </p:nvCxnSpPr>
        <p:spPr bwMode="gray">
          <a:xfrm>
            <a:off x="1670983" y="4740006"/>
            <a:ext cx="137336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66" idx="2"/>
            <a:endCxn id="67" idx="0"/>
          </p:cNvCxnSpPr>
          <p:nvPr/>
        </p:nvCxnSpPr>
        <p:spPr bwMode="gray">
          <a:xfrm>
            <a:off x="1468128" y="3582810"/>
            <a:ext cx="0" cy="9908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68" idx="2"/>
            <a:endCxn id="69" idx="0"/>
          </p:cNvCxnSpPr>
          <p:nvPr/>
        </p:nvCxnSpPr>
        <p:spPr bwMode="gray">
          <a:xfrm>
            <a:off x="3247199" y="3582810"/>
            <a:ext cx="0" cy="9908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stCxn id="68" idx="3"/>
            <a:endCxn id="70" idx="1"/>
          </p:cNvCxnSpPr>
          <p:nvPr/>
        </p:nvCxnSpPr>
        <p:spPr bwMode="gray">
          <a:xfrm>
            <a:off x="3450054" y="3416469"/>
            <a:ext cx="13818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>
            <a:stCxn id="69" idx="3"/>
            <a:endCxn id="82" idx="1"/>
          </p:cNvCxnSpPr>
          <p:nvPr/>
        </p:nvCxnSpPr>
        <p:spPr bwMode="gray">
          <a:xfrm>
            <a:off x="3450054" y="4740006"/>
            <a:ext cx="13818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 bwMode="gray">
          <a:xfrm>
            <a:off x="1261180" y="4906346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矩形 77"/>
          <p:cNvSpPr/>
          <p:nvPr/>
        </p:nvSpPr>
        <p:spPr bwMode="gray">
          <a:xfrm>
            <a:off x="3045800" y="4906346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矩形 78"/>
          <p:cNvSpPr/>
          <p:nvPr/>
        </p:nvSpPr>
        <p:spPr bwMode="gray">
          <a:xfrm>
            <a:off x="1261180" y="2925047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矩形 79"/>
          <p:cNvSpPr/>
          <p:nvPr/>
        </p:nvSpPr>
        <p:spPr bwMode="gray">
          <a:xfrm>
            <a:off x="3045800" y="2925047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矩形 80"/>
          <p:cNvSpPr/>
          <p:nvPr/>
        </p:nvSpPr>
        <p:spPr bwMode="gray">
          <a:xfrm>
            <a:off x="4827789" y="2925047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2" name="图片 8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831882" y="4573665"/>
            <a:ext cx="405710" cy="332682"/>
          </a:xfrm>
          <a:prstGeom prst="rect">
            <a:avLst/>
          </a:prstGeom>
        </p:spPr>
      </p:pic>
      <p:cxnSp>
        <p:nvCxnSpPr>
          <p:cNvPr id="83" name="直接连接符 82"/>
          <p:cNvCxnSpPr>
            <a:stCxn id="70" idx="2"/>
            <a:endCxn id="82" idx="0"/>
          </p:cNvCxnSpPr>
          <p:nvPr/>
        </p:nvCxnSpPr>
        <p:spPr bwMode="gray">
          <a:xfrm>
            <a:off x="5034737" y="3582810"/>
            <a:ext cx="0" cy="9908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 bwMode="gray">
          <a:xfrm>
            <a:off x="4838887" y="4906346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5" name="图片 84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1231700" y="1926592"/>
            <a:ext cx="472855" cy="386881"/>
          </a:xfrm>
          <a:prstGeom prst="rect">
            <a:avLst/>
          </a:prstGeom>
        </p:spPr>
      </p:pic>
      <p:cxnSp>
        <p:nvCxnSpPr>
          <p:cNvPr id="86" name="直接箭头连接符 85"/>
          <p:cNvCxnSpPr/>
          <p:nvPr/>
        </p:nvCxnSpPr>
        <p:spPr bwMode="gray">
          <a:xfrm>
            <a:off x="1766734" y="3277539"/>
            <a:ext cx="1185333" cy="0"/>
          </a:xfrm>
          <a:prstGeom prst="straightConnector1">
            <a:avLst/>
          </a:prstGeom>
          <a:ln w="19050">
            <a:solidFill>
              <a:srgbClr val="94DAE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 bwMode="gray">
          <a:xfrm>
            <a:off x="3552862" y="3277539"/>
            <a:ext cx="1185333" cy="0"/>
          </a:xfrm>
          <a:prstGeom prst="straightConnector1">
            <a:avLst/>
          </a:prstGeom>
          <a:ln w="19050">
            <a:solidFill>
              <a:srgbClr val="94DAE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 bwMode="gray">
          <a:xfrm>
            <a:off x="1766734" y="4628487"/>
            <a:ext cx="1185333" cy="0"/>
          </a:xfrm>
          <a:prstGeom prst="straightConnector1">
            <a:avLst/>
          </a:prstGeom>
          <a:ln w="19050">
            <a:solidFill>
              <a:srgbClr val="94DAE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/>
        </p:nvCxnSpPr>
        <p:spPr bwMode="gray">
          <a:xfrm>
            <a:off x="3552862" y="4628487"/>
            <a:ext cx="1185333" cy="0"/>
          </a:xfrm>
          <a:prstGeom prst="straightConnector1">
            <a:avLst/>
          </a:prstGeom>
          <a:ln w="19050">
            <a:solidFill>
              <a:srgbClr val="94DAE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 bwMode="gray">
          <a:xfrm>
            <a:off x="1577758" y="3646326"/>
            <a:ext cx="0" cy="880935"/>
          </a:xfrm>
          <a:prstGeom prst="straightConnector1">
            <a:avLst/>
          </a:prstGeom>
          <a:ln w="19050">
            <a:solidFill>
              <a:srgbClr val="94DAE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 bwMode="gray">
          <a:xfrm>
            <a:off x="3126142" y="3646326"/>
            <a:ext cx="0" cy="880935"/>
          </a:xfrm>
          <a:prstGeom prst="straightConnector1">
            <a:avLst/>
          </a:prstGeom>
          <a:ln w="19050">
            <a:solidFill>
              <a:srgbClr val="94DAE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 bwMode="gray">
          <a:xfrm>
            <a:off x="4919190" y="3646326"/>
            <a:ext cx="0" cy="880935"/>
          </a:xfrm>
          <a:prstGeom prst="straightConnector1">
            <a:avLst/>
          </a:prstGeom>
          <a:ln w="19050">
            <a:solidFill>
              <a:srgbClr val="94DAE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 bwMode="gray">
          <a:xfrm>
            <a:off x="2060328" y="3851251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IGP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 bwMode="gray">
          <a:xfrm>
            <a:off x="3867495" y="3851251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IGP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96" name="矩形 95"/>
          <p:cNvSpPr/>
          <p:nvPr/>
        </p:nvSpPr>
        <p:spPr bwMode="gray">
          <a:xfrm>
            <a:off x="1698690" y="1939044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0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1" name="直接箭头连接符 85"/>
          <p:cNvCxnSpPr>
            <a:stCxn id="79" idx="0"/>
            <a:endCxn id="85" idx="2"/>
          </p:cNvCxnSpPr>
          <p:nvPr/>
        </p:nvCxnSpPr>
        <p:spPr bwMode="gray">
          <a:xfrm flipV="1">
            <a:off x="1468128" y="2313473"/>
            <a:ext cx="0" cy="611574"/>
          </a:xfrm>
          <a:prstGeom prst="straightConnector1">
            <a:avLst/>
          </a:prstGeom>
          <a:ln w="19050">
            <a:solidFill>
              <a:srgbClr val="94DAE2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92"/>
          <p:cNvSpPr txBox="1"/>
          <p:nvPr/>
        </p:nvSpPr>
        <p:spPr bwMode="gray">
          <a:xfrm>
            <a:off x="1431082" y="242142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IGP</a:t>
            </a:r>
            <a:endParaRPr lang="zh-CN" altLang="en-US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圆角矩形 40"/>
          <p:cNvSpPr/>
          <p:nvPr/>
        </p:nvSpPr>
        <p:spPr bwMode="gray">
          <a:xfrm>
            <a:off x="763671" y="2422432"/>
            <a:ext cx="5222482" cy="2962368"/>
          </a:xfrm>
          <a:prstGeom prst="roundRect">
            <a:avLst>
              <a:gd name="adj" fmla="val 6321"/>
            </a:avLst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SR-MPLS TE - </a:t>
            </a:r>
            <a:r>
              <a:rPr lang="zh-CN" altLang="en-US" dirty="0">
                <a:sym typeface="Huawei Sans" panose="020C0503030203020204" pitchFamily="34" charset="0"/>
              </a:rPr>
              <a:t>标签分配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gray">
          <a:xfrm>
            <a:off x="6325338" y="2318792"/>
            <a:ext cx="5423749" cy="2266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方案中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由转发器的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协议分配标签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，并通过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将分配的标签上报给控制器：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主要使用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邻接标签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，也可以使用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节点标签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邻接标签是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源节点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分配的，只在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本地有效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，并且具有一定的方向性。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6" name="图片 6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3505" y="3029493"/>
            <a:ext cx="478233" cy="392151"/>
          </a:xfrm>
          <a:prstGeom prst="rect">
            <a:avLst/>
          </a:prstGeom>
        </p:spPr>
      </p:pic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3505" y="4589619"/>
            <a:ext cx="478233" cy="392151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40594" y="3029493"/>
            <a:ext cx="478233" cy="392151"/>
          </a:xfrm>
          <a:prstGeom prst="rect">
            <a:avLst/>
          </a:prstGeom>
        </p:spPr>
      </p:pic>
      <p:pic>
        <p:nvPicPr>
          <p:cNvPr id="69" name="图片 6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40594" y="4589619"/>
            <a:ext cx="478233" cy="392151"/>
          </a:xfrm>
          <a:prstGeom prst="rect">
            <a:avLst/>
          </a:prstGeom>
        </p:spPr>
      </p:pic>
      <p:pic>
        <p:nvPicPr>
          <p:cNvPr id="70" name="图片 6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47664" y="3029493"/>
            <a:ext cx="478233" cy="392151"/>
          </a:xfrm>
          <a:prstGeom prst="rect">
            <a:avLst/>
          </a:prstGeom>
        </p:spPr>
      </p:pic>
      <p:cxnSp>
        <p:nvCxnSpPr>
          <p:cNvPr id="71" name="直接连接符 70"/>
          <p:cNvCxnSpPr>
            <a:stCxn id="66" idx="3"/>
            <a:endCxn id="68" idx="1"/>
          </p:cNvCxnSpPr>
          <p:nvPr/>
        </p:nvCxnSpPr>
        <p:spPr bwMode="gray">
          <a:xfrm>
            <a:off x="1521738" y="3225568"/>
            <a:ext cx="16188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67" idx="3"/>
            <a:endCxn id="69" idx="1"/>
          </p:cNvCxnSpPr>
          <p:nvPr/>
        </p:nvCxnSpPr>
        <p:spPr bwMode="gray">
          <a:xfrm>
            <a:off x="1521738" y="4785694"/>
            <a:ext cx="16188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66" idx="2"/>
            <a:endCxn id="67" idx="0"/>
          </p:cNvCxnSpPr>
          <p:nvPr/>
        </p:nvCxnSpPr>
        <p:spPr bwMode="gray">
          <a:xfrm>
            <a:off x="1282622" y="3421643"/>
            <a:ext cx="0" cy="11679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68" idx="2"/>
            <a:endCxn id="69" idx="0"/>
          </p:cNvCxnSpPr>
          <p:nvPr/>
        </p:nvCxnSpPr>
        <p:spPr bwMode="gray">
          <a:xfrm>
            <a:off x="3379711" y="3421643"/>
            <a:ext cx="0" cy="11679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stCxn id="68" idx="3"/>
            <a:endCxn id="70" idx="1"/>
          </p:cNvCxnSpPr>
          <p:nvPr/>
        </p:nvCxnSpPr>
        <p:spPr bwMode="gray">
          <a:xfrm>
            <a:off x="3618827" y="3225568"/>
            <a:ext cx="16288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>
            <a:stCxn id="69" idx="3"/>
            <a:endCxn id="82" idx="1"/>
          </p:cNvCxnSpPr>
          <p:nvPr/>
        </p:nvCxnSpPr>
        <p:spPr bwMode="gray">
          <a:xfrm>
            <a:off x="3618827" y="4785694"/>
            <a:ext cx="16288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 bwMode="gray">
          <a:xfrm>
            <a:off x="1038681" y="4981768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矩形 77"/>
          <p:cNvSpPr/>
          <p:nvPr/>
        </p:nvSpPr>
        <p:spPr bwMode="gray">
          <a:xfrm>
            <a:off x="3142311" y="4981768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矩形 78"/>
          <p:cNvSpPr/>
          <p:nvPr/>
        </p:nvSpPr>
        <p:spPr bwMode="gray">
          <a:xfrm>
            <a:off x="1038681" y="2646302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矩形 79"/>
          <p:cNvSpPr/>
          <p:nvPr/>
        </p:nvSpPr>
        <p:spPr bwMode="gray">
          <a:xfrm>
            <a:off x="3142311" y="2646302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矩形 80"/>
          <p:cNvSpPr/>
          <p:nvPr/>
        </p:nvSpPr>
        <p:spPr bwMode="gray">
          <a:xfrm>
            <a:off x="5242839" y="2646302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2" name="图片 8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47664" y="4589619"/>
            <a:ext cx="478233" cy="392151"/>
          </a:xfrm>
          <a:prstGeom prst="rect">
            <a:avLst/>
          </a:prstGeom>
        </p:spPr>
      </p:pic>
      <p:cxnSp>
        <p:nvCxnSpPr>
          <p:cNvPr id="83" name="直接连接符 82"/>
          <p:cNvCxnSpPr>
            <a:stCxn id="70" idx="2"/>
            <a:endCxn id="82" idx="0"/>
          </p:cNvCxnSpPr>
          <p:nvPr/>
        </p:nvCxnSpPr>
        <p:spPr bwMode="gray">
          <a:xfrm>
            <a:off x="5486780" y="3421643"/>
            <a:ext cx="0" cy="11679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 bwMode="gray">
          <a:xfrm>
            <a:off x="5255921" y="4981768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5" name="图片 84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1003931" y="1469368"/>
            <a:ext cx="557380" cy="456038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 bwMode="gray">
          <a:xfrm>
            <a:off x="1980680" y="373807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 bwMode="gray">
          <a:xfrm>
            <a:off x="4110888" y="373807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5" name="直接箭头连接符 94"/>
          <p:cNvCxnSpPr/>
          <p:nvPr/>
        </p:nvCxnSpPr>
        <p:spPr bwMode="gray">
          <a:xfrm>
            <a:off x="1282622" y="1984879"/>
            <a:ext cx="0" cy="661423"/>
          </a:xfrm>
          <a:prstGeom prst="straightConnector1">
            <a:avLst/>
          </a:prstGeom>
          <a:ln w="19050">
            <a:solidFill>
              <a:srgbClr val="0070C0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 bwMode="gray">
          <a:xfrm>
            <a:off x="1554398" y="1484046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文本框 96"/>
          <p:cNvSpPr txBox="1"/>
          <p:nvPr/>
        </p:nvSpPr>
        <p:spPr bwMode="gray">
          <a:xfrm>
            <a:off x="1282622" y="2114655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endParaRPr lang="zh-CN" altLang="en-US" sz="1400" b="1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9" name="直接箭头连接符 98"/>
          <p:cNvCxnSpPr/>
          <p:nvPr/>
        </p:nvCxnSpPr>
        <p:spPr bwMode="gray">
          <a:xfrm>
            <a:off x="2124673" y="4662260"/>
            <a:ext cx="889016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/>
          <p:cNvSpPr/>
          <p:nvPr/>
        </p:nvSpPr>
        <p:spPr bwMode="gray">
          <a:xfrm>
            <a:off x="1999881" y="4351537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1045</a:t>
            </a:r>
            <a:endParaRPr lang="zh-CN" altLang="en-US" sz="1400" b="1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2" name="直接箭头连接符 101"/>
          <p:cNvCxnSpPr/>
          <p:nvPr/>
        </p:nvCxnSpPr>
        <p:spPr bwMode="gray">
          <a:xfrm flipH="1">
            <a:off x="1747681" y="4915479"/>
            <a:ext cx="77994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 bwMode="gray">
          <a:xfrm>
            <a:off x="2044929" y="4882277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1054</a:t>
            </a:r>
            <a:endParaRPr lang="zh-CN" altLang="en-US" sz="1400" b="1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矩形 103"/>
          <p:cNvSpPr/>
          <p:nvPr/>
        </p:nvSpPr>
        <p:spPr bwMode="gray">
          <a:xfrm>
            <a:off x="1455332" y="4508695"/>
            <a:ext cx="7569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矩形 104"/>
          <p:cNvSpPr/>
          <p:nvPr/>
        </p:nvSpPr>
        <p:spPr bwMode="gray">
          <a:xfrm>
            <a:off x="2462550" y="4778269"/>
            <a:ext cx="7569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GE0/0/2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圆角矩形 40"/>
          <p:cNvSpPr/>
          <p:nvPr/>
        </p:nvSpPr>
        <p:spPr bwMode="gray">
          <a:xfrm>
            <a:off x="763671" y="2262634"/>
            <a:ext cx="5222482" cy="2962368"/>
          </a:xfrm>
          <a:prstGeom prst="roundRect">
            <a:avLst>
              <a:gd name="adj" fmla="val 6321"/>
            </a:avLst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标签分配过程示例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gray">
          <a:xfrm>
            <a:off x="6076610" y="1490130"/>
            <a:ext cx="5600957" cy="4632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在设备上分别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使能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 SR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能力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。对于使能了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能力的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实例，会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对所有使能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协议的出接口分配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邻接标签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just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邻接标签通过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协议扩展，泛洪到整个网络中。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just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以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为例，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分配标签的具体过程如下：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800100" lvl="1" indent="-342900" algn="just">
              <a:lnSpc>
                <a:spcPts val="2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协议为其邻接分配本地动态标签。例如为邻接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R4-&gt;R5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分配的邻接标签为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1045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800100" lvl="1" indent="-342900" algn="just">
              <a:lnSpc>
                <a:spcPts val="2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协议发布邻接标签，泛洪到整个网络。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800100" lvl="1" indent="-342900" algn="just">
              <a:lnSpc>
                <a:spcPts val="2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上生成邻接标签对应的标签转发表。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800100" lvl="1" indent="-342900" algn="just">
              <a:lnSpc>
                <a:spcPts val="2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网络中的其它设备的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协议学习到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发布的邻接标签，但是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不生成标签转发表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just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其他设备按照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的方式分配和发布邻接标签，生成标签转发表。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将带有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标签信息的网络拓扑和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信息上报给控制器。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6" name="图片 6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3505" y="2869695"/>
            <a:ext cx="478233" cy="392151"/>
          </a:xfrm>
          <a:prstGeom prst="rect">
            <a:avLst/>
          </a:prstGeom>
        </p:spPr>
      </p:pic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3505" y="4429821"/>
            <a:ext cx="478233" cy="392151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40594" y="2869695"/>
            <a:ext cx="478233" cy="392151"/>
          </a:xfrm>
          <a:prstGeom prst="rect">
            <a:avLst/>
          </a:prstGeom>
        </p:spPr>
      </p:pic>
      <p:pic>
        <p:nvPicPr>
          <p:cNvPr id="69" name="图片 6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40594" y="4429821"/>
            <a:ext cx="478233" cy="392151"/>
          </a:xfrm>
          <a:prstGeom prst="rect">
            <a:avLst/>
          </a:prstGeom>
        </p:spPr>
      </p:pic>
      <p:pic>
        <p:nvPicPr>
          <p:cNvPr id="70" name="图片 6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47664" y="2869695"/>
            <a:ext cx="478233" cy="392151"/>
          </a:xfrm>
          <a:prstGeom prst="rect">
            <a:avLst/>
          </a:prstGeom>
        </p:spPr>
      </p:pic>
      <p:cxnSp>
        <p:nvCxnSpPr>
          <p:cNvPr id="71" name="直接连接符 70"/>
          <p:cNvCxnSpPr>
            <a:stCxn id="66" idx="3"/>
            <a:endCxn id="68" idx="1"/>
          </p:cNvCxnSpPr>
          <p:nvPr/>
        </p:nvCxnSpPr>
        <p:spPr bwMode="gray">
          <a:xfrm>
            <a:off x="1521738" y="3065770"/>
            <a:ext cx="16188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67" idx="3"/>
            <a:endCxn id="69" idx="1"/>
          </p:cNvCxnSpPr>
          <p:nvPr/>
        </p:nvCxnSpPr>
        <p:spPr bwMode="gray">
          <a:xfrm>
            <a:off x="1521738" y="4625896"/>
            <a:ext cx="16188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66" idx="2"/>
            <a:endCxn id="67" idx="0"/>
          </p:cNvCxnSpPr>
          <p:nvPr/>
        </p:nvCxnSpPr>
        <p:spPr bwMode="gray">
          <a:xfrm>
            <a:off x="1282622" y="3261845"/>
            <a:ext cx="0" cy="11679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68" idx="2"/>
            <a:endCxn id="69" idx="0"/>
          </p:cNvCxnSpPr>
          <p:nvPr/>
        </p:nvCxnSpPr>
        <p:spPr bwMode="gray">
          <a:xfrm>
            <a:off x="3379711" y="3261845"/>
            <a:ext cx="0" cy="11679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stCxn id="68" idx="3"/>
            <a:endCxn id="70" idx="1"/>
          </p:cNvCxnSpPr>
          <p:nvPr/>
        </p:nvCxnSpPr>
        <p:spPr bwMode="gray">
          <a:xfrm>
            <a:off x="3618827" y="3065770"/>
            <a:ext cx="16288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>
            <a:stCxn id="69" idx="3"/>
            <a:endCxn id="82" idx="1"/>
          </p:cNvCxnSpPr>
          <p:nvPr/>
        </p:nvCxnSpPr>
        <p:spPr bwMode="gray">
          <a:xfrm>
            <a:off x="3618827" y="4625896"/>
            <a:ext cx="16288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 bwMode="gray">
          <a:xfrm>
            <a:off x="1038681" y="4821970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矩形 77"/>
          <p:cNvSpPr/>
          <p:nvPr/>
        </p:nvSpPr>
        <p:spPr bwMode="gray">
          <a:xfrm>
            <a:off x="3142311" y="4821970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矩形 78"/>
          <p:cNvSpPr/>
          <p:nvPr/>
        </p:nvSpPr>
        <p:spPr bwMode="gray">
          <a:xfrm>
            <a:off x="1038681" y="2486504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矩形 79"/>
          <p:cNvSpPr/>
          <p:nvPr/>
        </p:nvSpPr>
        <p:spPr bwMode="gray">
          <a:xfrm>
            <a:off x="3142311" y="2486504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矩形 80"/>
          <p:cNvSpPr/>
          <p:nvPr/>
        </p:nvSpPr>
        <p:spPr bwMode="gray">
          <a:xfrm>
            <a:off x="5242839" y="2486504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2" name="图片 8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47664" y="4429821"/>
            <a:ext cx="478233" cy="392151"/>
          </a:xfrm>
          <a:prstGeom prst="rect">
            <a:avLst/>
          </a:prstGeom>
        </p:spPr>
      </p:pic>
      <p:cxnSp>
        <p:nvCxnSpPr>
          <p:cNvPr id="83" name="直接连接符 82"/>
          <p:cNvCxnSpPr>
            <a:stCxn id="70" idx="2"/>
            <a:endCxn id="82" idx="0"/>
          </p:cNvCxnSpPr>
          <p:nvPr/>
        </p:nvCxnSpPr>
        <p:spPr bwMode="gray">
          <a:xfrm>
            <a:off x="5486780" y="3261845"/>
            <a:ext cx="0" cy="11679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 bwMode="gray">
          <a:xfrm>
            <a:off x="5255921" y="4821970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5" name="图片 84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1003931" y="1309570"/>
            <a:ext cx="557380" cy="456038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 bwMode="gray">
          <a:xfrm>
            <a:off x="1980680" y="357827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 bwMode="gray">
          <a:xfrm>
            <a:off x="4110888" y="357827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5" name="直接箭头连接符 94"/>
          <p:cNvCxnSpPr/>
          <p:nvPr/>
        </p:nvCxnSpPr>
        <p:spPr bwMode="gray">
          <a:xfrm>
            <a:off x="1282622" y="1825081"/>
            <a:ext cx="0" cy="661423"/>
          </a:xfrm>
          <a:prstGeom prst="straightConnector1">
            <a:avLst/>
          </a:prstGeom>
          <a:ln w="19050">
            <a:solidFill>
              <a:srgbClr val="0070C0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 bwMode="gray">
          <a:xfrm>
            <a:off x="1554398" y="1324248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文本框 96"/>
          <p:cNvSpPr txBox="1"/>
          <p:nvPr/>
        </p:nvSpPr>
        <p:spPr bwMode="gray">
          <a:xfrm>
            <a:off x="1282622" y="1954857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endParaRPr lang="zh-CN" altLang="en-US" sz="14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9" name="直接箭头连接符 98"/>
          <p:cNvCxnSpPr/>
          <p:nvPr/>
        </p:nvCxnSpPr>
        <p:spPr bwMode="gray">
          <a:xfrm>
            <a:off x="2124673" y="4502462"/>
            <a:ext cx="889016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/>
          <p:cNvSpPr/>
          <p:nvPr/>
        </p:nvSpPr>
        <p:spPr bwMode="gray">
          <a:xfrm>
            <a:off x="1999881" y="4191739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1045</a:t>
            </a:r>
            <a:endParaRPr lang="zh-CN" altLang="en-US" sz="1400" b="1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2" name="直接箭头连接符 101"/>
          <p:cNvCxnSpPr/>
          <p:nvPr/>
        </p:nvCxnSpPr>
        <p:spPr bwMode="gray">
          <a:xfrm flipH="1">
            <a:off x="1747681" y="4755681"/>
            <a:ext cx="77994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 bwMode="gray">
          <a:xfrm>
            <a:off x="2044929" y="4722479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1054</a:t>
            </a:r>
            <a:endParaRPr lang="zh-CN" altLang="en-US" sz="1400" b="1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矩形 103"/>
          <p:cNvSpPr/>
          <p:nvPr/>
        </p:nvSpPr>
        <p:spPr bwMode="gray">
          <a:xfrm>
            <a:off x="1455332" y="4348897"/>
            <a:ext cx="7569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矩形 104"/>
          <p:cNvSpPr/>
          <p:nvPr/>
        </p:nvSpPr>
        <p:spPr bwMode="gray">
          <a:xfrm>
            <a:off x="2462550" y="4618471"/>
            <a:ext cx="7569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GE0/0/2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86416" y="5479498"/>
          <a:ext cx="26492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9833"/>
                <a:gridCol w="1020445"/>
                <a:gridCol w="798718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出接口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下一跳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1045</a:t>
                      </a:r>
                      <a:endParaRPr lang="zh-CN" altLang="en-US" sz="120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GE0/0/1</a:t>
                      </a:r>
                      <a:endParaRPr lang="zh-CN" altLang="en-US" sz="120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R5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" name="Right Arrow 158"/>
          <p:cNvSpPr/>
          <p:nvPr/>
        </p:nvSpPr>
        <p:spPr bwMode="gray">
          <a:xfrm rot="5400000">
            <a:off x="1031219" y="4611864"/>
            <a:ext cx="478748" cy="1153379"/>
          </a:xfrm>
          <a:custGeom>
            <a:avLst/>
            <a:gdLst>
              <a:gd name="connsiteX0" fmla="*/ 0 w 633403"/>
              <a:gd name="connsiteY0" fmla="*/ 140615 h 494305"/>
              <a:gd name="connsiteX1" fmla="*/ 386251 w 633403"/>
              <a:gd name="connsiteY1" fmla="*/ 140615 h 494305"/>
              <a:gd name="connsiteX2" fmla="*/ 386251 w 633403"/>
              <a:gd name="connsiteY2" fmla="*/ 0 h 494305"/>
              <a:gd name="connsiteX3" fmla="*/ 633403 w 633403"/>
              <a:gd name="connsiteY3" fmla="*/ 247153 h 494305"/>
              <a:gd name="connsiteX4" fmla="*/ 386251 w 633403"/>
              <a:gd name="connsiteY4" fmla="*/ 494305 h 494305"/>
              <a:gd name="connsiteX5" fmla="*/ 386251 w 633403"/>
              <a:gd name="connsiteY5" fmla="*/ 353690 h 494305"/>
              <a:gd name="connsiteX6" fmla="*/ 0 w 633403"/>
              <a:gd name="connsiteY6" fmla="*/ 353690 h 494305"/>
              <a:gd name="connsiteX7" fmla="*/ 0 w 633403"/>
              <a:gd name="connsiteY7" fmla="*/ 140615 h 494305"/>
              <a:gd name="connsiteX0-1" fmla="*/ 0 w 637213"/>
              <a:gd name="connsiteY0-2" fmla="*/ 0 h 1016630"/>
              <a:gd name="connsiteX1-3" fmla="*/ 390061 w 637213"/>
              <a:gd name="connsiteY1-4" fmla="*/ 662940 h 1016630"/>
              <a:gd name="connsiteX2-5" fmla="*/ 390061 w 637213"/>
              <a:gd name="connsiteY2-6" fmla="*/ 522325 h 1016630"/>
              <a:gd name="connsiteX3-7" fmla="*/ 637213 w 637213"/>
              <a:gd name="connsiteY3-8" fmla="*/ 769478 h 1016630"/>
              <a:gd name="connsiteX4-9" fmla="*/ 390061 w 637213"/>
              <a:gd name="connsiteY4-10" fmla="*/ 1016630 h 1016630"/>
              <a:gd name="connsiteX5-11" fmla="*/ 390061 w 637213"/>
              <a:gd name="connsiteY5-12" fmla="*/ 876015 h 1016630"/>
              <a:gd name="connsiteX6-13" fmla="*/ 3810 w 637213"/>
              <a:gd name="connsiteY6-14" fmla="*/ 876015 h 1016630"/>
              <a:gd name="connsiteX7-15" fmla="*/ 0 w 637213"/>
              <a:gd name="connsiteY7-16" fmla="*/ 0 h 1016630"/>
              <a:gd name="connsiteX0-17" fmla="*/ 0 w 637213"/>
              <a:gd name="connsiteY0-18" fmla="*/ 0 h 1535148"/>
              <a:gd name="connsiteX1-19" fmla="*/ 390061 w 637213"/>
              <a:gd name="connsiteY1-20" fmla="*/ 662940 h 1535148"/>
              <a:gd name="connsiteX2-21" fmla="*/ 390061 w 637213"/>
              <a:gd name="connsiteY2-22" fmla="*/ 522325 h 1535148"/>
              <a:gd name="connsiteX3-23" fmla="*/ 637213 w 637213"/>
              <a:gd name="connsiteY3-24" fmla="*/ 769478 h 1535148"/>
              <a:gd name="connsiteX4-25" fmla="*/ 390061 w 637213"/>
              <a:gd name="connsiteY4-26" fmla="*/ 1016630 h 1535148"/>
              <a:gd name="connsiteX5-27" fmla="*/ 390061 w 637213"/>
              <a:gd name="connsiteY5-28" fmla="*/ 876015 h 1535148"/>
              <a:gd name="connsiteX6-29" fmla="*/ 7620 w 637213"/>
              <a:gd name="connsiteY6-30" fmla="*/ 1535148 h 1535148"/>
              <a:gd name="connsiteX7-31" fmla="*/ 0 w 637213"/>
              <a:gd name="connsiteY7-32" fmla="*/ 0 h 1535148"/>
              <a:gd name="connsiteX0-33" fmla="*/ 0 w 637213"/>
              <a:gd name="connsiteY0-34" fmla="*/ 0 h 1535148"/>
              <a:gd name="connsiteX1-35" fmla="*/ 390061 w 637213"/>
              <a:gd name="connsiteY1-36" fmla="*/ 662940 h 1535148"/>
              <a:gd name="connsiteX2-37" fmla="*/ 390061 w 637213"/>
              <a:gd name="connsiteY2-38" fmla="*/ 522325 h 1535148"/>
              <a:gd name="connsiteX3-39" fmla="*/ 637213 w 637213"/>
              <a:gd name="connsiteY3-40" fmla="*/ 769478 h 1535148"/>
              <a:gd name="connsiteX4-41" fmla="*/ 390061 w 637213"/>
              <a:gd name="connsiteY4-42" fmla="*/ 1016630 h 1535148"/>
              <a:gd name="connsiteX5-43" fmla="*/ 390061 w 637213"/>
              <a:gd name="connsiteY5-44" fmla="*/ 876015 h 1535148"/>
              <a:gd name="connsiteX6-45" fmla="*/ 7620 w 637213"/>
              <a:gd name="connsiteY6-46" fmla="*/ 1535148 h 1535148"/>
              <a:gd name="connsiteX7-47" fmla="*/ 0 w 637213"/>
              <a:gd name="connsiteY7-48" fmla="*/ 0 h 1535148"/>
              <a:gd name="connsiteX0-49" fmla="*/ 0 w 637213"/>
              <a:gd name="connsiteY0-50" fmla="*/ 0 h 1535148"/>
              <a:gd name="connsiteX1-51" fmla="*/ 390061 w 637213"/>
              <a:gd name="connsiteY1-52" fmla="*/ 662940 h 1535148"/>
              <a:gd name="connsiteX2-53" fmla="*/ 390061 w 637213"/>
              <a:gd name="connsiteY2-54" fmla="*/ 522325 h 1535148"/>
              <a:gd name="connsiteX3-55" fmla="*/ 637213 w 637213"/>
              <a:gd name="connsiteY3-56" fmla="*/ 769478 h 1535148"/>
              <a:gd name="connsiteX4-57" fmla="*/ 390061 w 637213"/>
              <a:gd name="connsiteY4-58" fmla="*/ 1016630 h 1535148"/>
              <a:gd name="connsiteX5-59" fmla="*/ 390061 w 637213"/>
              <a:gd name="connsiteY5-60" fmla="*/ 876015 h 1535148"/>
              <a:gd name="connsiteX6-61" fmla="*/ 7620 w 637213"/>
              <a:gd name="connsiteY6-62" fmla="*/ 1535148 h 1535148"/>
              <a:gd name="connsiteX7-63" fmla="*/ 0 w 637213"/>
              <a:gd name="connsiteY7-64" fmla="*/ 0 h 1535148"/>
              <a:gd name="connsiteX0-65" fmla="*/ 0 w 637213"/>
              <a:gd name="connsiteY0-66" fmla="*/ 0 h 1535148"/>
              <a:gd name="connsiteX1-67" fmla="*/ 390061 w 637213"/>
              <a:gd name="connsiteY1-68" fmla="*/ 662940 h 1535148"/>
              <a:gd name="connsiteX2-69" fmla="*/ 390061 w 637213"/>
              <a:gd name="connsiteY2-70" fmla="*/ 522325 h 1535148"/>
              <a:gd name="connsiteX3-71" fmla="*/ 637213 w 637213"/>
              <a:gd name="connsiteY3-72" fmla="*/ 769478 h 1535148"/>
              <a:gd name="connsiteX4-73" fmla="*/ 390061 w 637213"/>
              <a:gd name="connsiteY4-74" fmla="*/ 1016630 h 1535148"/>
              <a:gd name="connsiteX5-75" fmla="*/ 390061 w 637213"/>
              <a:gd name="connsiteY5-76" fmla="*/ 876015 h 1535148"/>
              <a:gd name="connsiteX6-77" fmla="*/ 7620 w 637213"/>
              <a:gd name="connsiteY6-78" fmla="*/ 1535148 h 1535148"/>
              <a:gd name="connsiteX7-79" fmla="*/ 0 w 637213"/>
              <a:gd name="connsiteY7-80" fmla="*/ 0 h 1535148"/>
              <a:gd name="connsiteX0-81" fmla="*/ 0 w 637213"/>
              <a:gd name="connsiteY0-82" fmla="*/ 0 h 1535148"/>
              <a:gd name="connsiteX1-83" fmla="*/ 390061 w 637213"/>
              <a:gd name="connsiteY1-84" fmla="*/ 662940 h 1535148"/>
              <a:gd name="connsiteX2-85" fmla="*/ 390061 w 637213"/>
              <a:gd name="connsiteY2-86" fmla="*/ 522325 h 1535148"/>
              <a:gd name="connsiteX3-87" fmla="*/ 637213 w 637213"/>
              <a:gd name="connsiteY3-88" fmla="*/ 769478 h 1535148"/>
              <a:gd name="connsiteX4-89" fmla="*/ 390061 w 637213"/>
              <a:gd name="connsiteY4-90" fmla="*/ 1016630 h 1535148"/>
              <a:gd name="connsiteX5-91" fmla="*/ 390061 w 637213"/>
              <a:gd name="connsiteY5-92" fmla="*/ 876015 h 1535148"/>
              <a:gd name="connsiteX6-93" fmla="*/ 7620 w 637213"/>
              <a:gd name="connsiteY6-94" fmla="*/ 1535148 h 1535148"/>
              <a:gd name="connsiteX7-95" fmla="*/ 0 w 637213"/>
              <a:gd name="connsiteY7-96" fmla="*/ 0 h 15351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637213" h="1535148">
                <a:moveTo>
                  <a:pt x="0" y="0"/>
                </a:moveTo>
                <a:cubicBezTo>
                  <a:pt x="76680" y="461013"/>
                  <a:pt x="122881" y="613413"/>
                  <a:pt x="390061" y="662940"/>
                </a:cubicBezTo>
                <a:lnTo>
                  <a:pt x="390061" y="522325"/>
                </a:lnTo>
                <a:lnTo>
                  <a:pt x="637213" y="769478"/>
                </a:lnTo>
                <a:lnTo>
                  <a:pt x="390061" y="1016630"/>
                </a:lnTo>
                <a:lnTo>
                  <a:pt x="390061" y="876015"/>
                </a:lnTo>
                <a:cubicBezTo>
                  <a:pt x="117801" y="973809"/>
                  <a:pt x="116050" y="1147800"/>
                  <a:pt x="7620" y="1535148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FFCC66"/>
              </a:gs>
            </a:gsLst>
            <a:lin ang="0" scaled="1"/>
            <a:tileRect/>
          </a:gradFill>
          <a:ln>
            <a:gradFill flip="none" rotWithShape="1">
              <a:gsLst>
                <a:gs pos="11000">
                  <a:schemeClr val="accent1">
                    <a:lumMod val="0"/>
                    <a:lumOff val="100000"/>
                    <a:alpha val="0"/>
                  </a:schemeClr>
                </a:gs>
                <a:gs pos="67000">
                  <a:srgbClr val="FF9933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 bwMode="gray">
          <a:xfrm>
            <a:off x="2817090" y="2728247"/>
            <a:ext cx="1032830" cy="2065922"/>
            <a:chOff x="4518703" y="2205748"/>
            <a:chExt cx="1512166" cy="2521312"/>
          </a:xfrm>
        </p:grpSpPr>
        <p:cxnSp>
          <p:nvCxnSpPr>
            <p:cNvPr id="20" name="直接连接符 19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SR-MPLS TE</a:t>
            </a:r>
            <a:r>
              <a:rPr lang="zh-CN" altLang="en-US" dirty="0">
                <a:sym typeface="Huawei Sans" panose="020C0503030203020204" pitchFamily="34" charset="0"/>
              </a:rPr>
              <a:t> </a:t>
            </a:r>
            <a:r>
              <a:rPr lang="en-US" altLang="zh-CN" dirty="0">
                <a:sym typeface="Huawei Sans" panose="020C0503030203020204" pitchFamily="34" charset="0"/>
              </a:rPr>
              <a:t>LSP</a:t>
            </a:r>
            <a:r>
              <a:rPr lang="zh-CN" altLang="en-US" dirty="0">
                <a:sym typeface="Huawei Sans" panose="020C0503030203020204" pitchFamily="34" charset="0"/>
              </a:rPr>
              <a:t>的创建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>
                <a:sym typeface="Huawei Sans" panose="020C0503030203020204" pitchFamily="34" charset="0"/>
              </a:rPr>
              <a:t>SR-MPLS TE</a:t>
            </a:r>
            <a:r>
              <a:rPr lang="zh-CN" altLang="en-US" sz="1800">
                <a:sym typeface="Huawei Sans" panose="020C0503030203020204" pitchFamily="34" charset="0"/>
              </a:rPr>
              <a:t>（</a:t>
            </a:r>
            <a:r>
              <a:rPr lang="en-US" altLang="zh-CN" sz="1800">
                <a:sym typeface="Huawei Sans" panose="020C0503030203020204" pitchFamily="34" charset="0"/>
              </a:rPr>
              <a:t>Segment Routing-MPLS Traffic Engineering</a:t>
            </a:r>
            <a:r>
              <a:rPr lang="zh-CN" altLang="en-US" sz="1800">
                <a:sym typeface="Huawei Sans" panose="020C0503030203020204" pitchFamily="34" charset="0"/>
              </a:rPr>
              <a:t>）是指基于</a:t>
            </a:r>
            <a:r>
              <a:rPr lang="en-US" altLang="zh-CN" sz="1800">
                <a:sym typeface="Huawei Sans" panose="020C0503030203020204" pitchFamily="34" charset="0"/>
              </a:rPr>
              <a:t>TE</a:t>
            </a:r>
            <a:r>
              <a:rPr lang="zh-CN" altLang="en-US" sz="1800">
                <a:sym typeface="Huawei Sans" panose="020C0503030203020204" pitchFamily="34" charset="0"/>
              </a:rPr>
              <a:t>的约束属性，利用</a:t>
            </a:r>
            <a:r>
              <a:rPr lang="en-US" altLang="zh-CN" sz="1800">
                <a:sym typeface="Huawei Sans" panose="020C0503030203020204" pitchFamily="34" charset="0"/>
              </a:rPr>
              <a:t>SR</a:t>
            </a:r>
            <a:r>
              <a:rPr lang="zh-CN" altLang="en-US" sz="1800">
                <a:sym typeface="Huawei Sans" panose="020C0503030203020204" pitchFamily="34" charset="0"/>
              </a:rPr>
              <a:t>创建的隧道。如图所示两条</a:t>
            </a:r>
            <a:r>
              <a:rPr lang="en-US" altLang="zh-CN" sz="1800">
                <a:sym typeface="Huawei Sans" panose="020C0503030203020204" pitchFamily="34" charset="0"/>
              </a:rPr>
              <a:t>LSP</a:t>
            </a:r>
            <a:r>
              <a:rPr lang="zh-CN" altLang="en-US" sz="1800">
                <a:sym typeface="Huawei Sans" panose="020C0503030203020204" pitchFamily="34" charset="0"/>
              </a:rPr>
              <a:t>分别作为主路径和备份路径。两条</a:t>
            </a:r>
            <a:r>
              <a:rPr lang="en-US" altLang="zh-CN" sz="1800">
                <a:sym typeface="Huawei Sans" panose="020C0503030203020204" pitchFamily="34" charset="0"/>
              </a:rPr>
              <a:t>LSP</a:t>
            </a:r>
            <a:r>
              <a:rPr lang="zh-CN" altLang="en-US" sz="1800">
                <a:sym typeface="Huawei Sans" panose="020C0503030203020204" pitchFamily="34" charset="0"/>
              </a:rPr>
              <a:t>隧道都对应同一个隧道</a:t>
            </a:r>
            <a:r>
              <a:rPr lang="en-US" altLang="zh-CN" sz="1800">
                <a:sym typeface="Huawei Sans" panose="020C0503030203020204" pitchFamily="34" charset="0"/>
              </a:rPr>
              <a:t>ID</a:t>
            </a:r>
            <a:r>
              <a:rPr lang="zh-CN" altLang="en-US" sz="1800">
                <a:sym typeface="Huawei Sans" panose="020C0503030203020204" pitchFamily="34" charset="0"/>
              </a:rPr>
              <a:t>的</a:t>
            </a:r>
            <a:r>
              <a:rPr lang="en-US" altLang="zh-CN" sz="1800">
                <a:sym typeface="Huawei Sans" panose="020C0503030203020204" pitchFamily="34" charset="0"/>
              </a:rPr>
              <a:t>SR-MPLS TE</a:t>
            </a:r>
            <a:r>
              <a:rPr lang="zh-CN" altLang="en-US" sz="1800">
                <a:sym typeface="Huawei Sans" panose="020C0503030203020204" pitchFamily="34" charset="0"/>
              </a:rPr>
              <a:t>隧道。</a:t>
            </a:r>
            <a:endParaRPr lang="zh-CN" altLang="en-US" sz="1800">
              <a:sym typeface="Huawei Sans" panose="020C0503030203020204" pitchFamily="34" charset="0"/>
            </a:endParaRPr>
          </a:p>
          <a:p>
            <a:endParaRPr lang="zh-CN" altLang="en-US" sz="1800">
              <a:sym typeface="Huawei Sans" panose="020C0503030203020204" pitchFamily="34" charset="0"/>
            </a:endParaRPr>
          </a:p>
        </p:txBody>
      </p:sp>
      <p:pic>
        <p:nvPicPr>
          <p:cNvPr id="12" name="图片 1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82339" y="3516124"/>
            <a:ext cx="540000" cy="471294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 bwMode="gray">
          <a:xfrm rot="5400000">
            <a:off x="8407997" y="3378233"/>
            <a:ext cx="524046" cy="765952"/>
            <a:chOff x="3769575" y="2816233"/>
            <a:chExt cx="959475" cy="2029316"/>
          </a:xfrm>
        </p:grpSpPr>
        <p:cxnSp>
          <p:nvCxnSpPr>
            <p:cNvPr id="14" name="直接连接符 13"/>
            <p:cNvCxnSpPr/>
            <p:nvPr/>
          </p:nvCxnSpPr>
          <p:spPr bwMode="gray">
            <a:xfrm flipH="1">
              <a:off x="3769575" y="2816233"/>
              <a:ext cx="959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gray">
            <a:xfrm flipV="1">
              <a:off x="4249312" y="2816233"/>
              <a:ext cx="0" cy="20293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 bwMode="gray">
          <a:xfrm rot="10800000">
            <a:off x="7171720" y="2728247"/>
            <a:ext cx="1032830" cy="2065922"/>
            <a:chOff x="4518703" y="2205748"/>
            <a:chExt cx="1512166" cy="2521312"/>
          </a:xfrm>
        </p:grpSpPr>
        <p:cxnSp>
          <p:nvCxnSpPr>
            <p:cNvPr id="17" name="直接连接符 16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直接连接符 21"/>
          <p:cNvCxnSpPr/>
          <p:nvPr/>
        </p:nvCxnSpPr>
        <p:spPr bwMode="gray">
          <a:xfrm flipH="1">
            <a:off x="3863637" y="2642625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 bwMode="gray">
          <a:xfrm flipH="1">
            <a:off x="3863637" y="4802527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 bwMode="gray">
          <a:xfrm>
            <a:off x="8352310" y="3950524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2076049" y="3597415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任意多边形 39"/>
          <p:cNvSpPr/>
          <p:nvPr/>
        </p:nvSpPr>
        <p:spPr bwMode="gray">
          <a:xfrm>
            <a:off x="2511491" y="2958654"/>
            <a:ext cx="5849470" cy="629745"/>
          </a:xfrm>
          <a:custGeom>
            <a:avLst/>
            <a:gdLst>
              <a:gd name="connsiteX0" fmla="*/ 0 w 5849470"/>
              <a:gd name="connsiteY0" fmla="*/ 591671 h 591671"/>
              <a:gd name="connsiteX1" fmla="*/ 793376 w 5849470"/>
              <a:gd name="connsiteY1" fmla="*/ 591671 h 591671"/>
              <a:gd name="connsiteX2" fmla="*/ 1385047 w 5849470"/>
              <a:gd name="connsiteY2" fmla="*/ 0 h 591671"/>
              <a:gd name="connsiteX3" fmla="*/ 4652682 w 5849470"/>
              <a:gd name="connsiteY3" fmla="*/ 0 h 591671"/>
              <a:gd name="connsiteX4" fmla="*/ 5109882 w 5849470"/>
              <a:gd name="connsiteY4" fmla="*/ 416859 h 591671"/>
              <a:gd name="connsiteX5" fmla="*/ 5849470 w 5849470"/>
              <a:gd name="connsiteY5" fmla="*/ 416859 h 59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49470" h="591671">
                <a:moveTo>
                  <a:pt x="0" y="591671"/>
                </a:moveTo>
                <a:lnTo>
                  <a:pt x="793376" y="591671"/>
                </a:lnTo>
                <a:lnTo>
                  <a:pt x="1385047" y="0"/>
                </a:lnTo>
                <a:lnTo>
                  <a:pt x="4652682" y="0"/>
                </a:lnTo>
                <a:lnTo>
                  <a:pt x="5109882" y="416859"/>
                </a:lnTo>
                <a:lnTo>
                  <a:pt x="5849470" y="416859"/>
                </a:lnTo>
              </a:path>
            </a:pathLst>
          </a:custGeom>
          <a:noFill/>
          <a:ln w="38100">
            <a:solidFill>
              <a:srgbClr val="FF993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任意多边形 40"/>
          <p:cNvSpPr/>
          <p:nvPr/>
        </p:nvSpPr>
        <p:spPr bwMode="gray">
          <a:xfrm flipV="1">
            <a:off x="2511491" y="3945806"/>
            <a:ext cx="5849470" cy="562659"/>
          </a:xfrm>
          <a:custGeom>
            <a:avLst/>
            <a:gdLst>
              <a:gd name="connsiteX0" fmla="*/ 0 w 5849470"/>
              <a:gd name="connsiteY0" fmla="*/ 591671 h 591671"/>
              <a:gd name="connsiteX1" fmla="*/ 793376 w 5849470"/>
              <a:gd name="connsiteY1" fmla="*/ 591671 h 591671"/>
              <a:gd name="connsiteX2" fmla="*/ 1385047 w 5849470"/>
              <a:gd name="connsiteY2" fmla="*/ 0 h 591671"/>
              <a:gd name="connsiteX3" fmla="*/ 4652682 w 5849470"/>
              <a:gd name="connsiteY3" fmla="*/ 0 h 591671"/>
              <a:gd name="connsiteX4" fmla="*/ 5109882 w 5849470"/>
              <a:gd name="connsiteY4" fmla="*/ 416859 h 591671"/>
              <a:gd name="connsiteX5" fmla="*/ 5849470 w 5849470"/>
              <a:gd name="connsiteY5" fmla="*/ 416859 h 59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49470" h="591671">
                <a:moveTo>
                  <a:pt x="0" y="591671"/>
                </a:moveTo>
                <a:lnTo>
                  <a:pt x="793376" y="591671"/>
                </a:lnTo>
                <a:lnTo>
                  <a:pt x="1385047" y="0"/>
                </a:lnTo>
                <a:lnTo>
                  <a:pt x="4652682" y="0"/>
                </a:lnTo>
                <a:lnTo>
                  <a:pt x="5109882" y="416859"/>
                </a:lnTo>
                <a:lnTo>
                  <a:pt x="5849470" y="416859"/>
                </a:lnTo>
              </a:path>
            </a:pathLst>
          </a:custGeom>
          <a:noFill/>
          <a:ln w="28575">
            <a:solidFill>
              <a:srgbClr val="FF9933"/>
            </a:solidFill>
            <a:prstDash val="sys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>
            <a:off x="7788855" y="2719888"/>
            <a:ext cx="15424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</a:t>
            </a:r>
            <a:r>
              <a:rPr lang="en-US" altLang="zh-CN" sz="1400" dirty="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：主用路径</a:t>
            </a:r>
            <a:endParaRPr lang="zh-CN" altLang="en-US" sz="1400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7772087" y="4293997"/>
            <a:ext cx="15424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</a:t>
            </a:r>
            <a:r>
              <a:rPr lang="en-US" altLang="zh-CN" sz="1400" dirty="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zh-CN" altLang="en-US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：备用路径</a:t>
            </a:r>
            <a:endParaRPr lang="zh-CN" altLang="en-US" sz="1400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9" name="图片 3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601151" y="4593849"/>
            <a:ext cx="540000" cy="471294"/>
          </a:xfrm>
          <a:prstGeom prst="rect">
            <a:avLst/>
          </a:prstGeom>
        </p:spPr>
      </p:pic>
      <p:pic>
        <p:nvPicPr>
          <p:cNvPr id="40" name="图片 3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49003" y="4593849"/>
            <a:ext cx="540000" cy="471294"/>
          </a:xfrm>
          <a:prstGeom prst="rect">
            <a:avLst/>
          </a:prstGeom>
        </p:spPr>
      </p:pic>
      <p:pic>
        <p:nvPicPr>
          <p:cNvPr id="41" name="图片 4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896854" y="4593849"/>
            <a:ext cx="540000" cy="471294"/>
          </a:xfrm>
          <a:prstGeom prst="rect">
            <a:avLst/>
          </a:prstGeom>
        </p:spPr>
      </p:pic>
      <p:pic>
        <p:nvPicPr>
          <p:cNvPr id="42" name="图片 4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002490" y="3516124"/>
            <a:ext cx="540000" cy="471294"/>
          </a:xfrm>
          <a:prstGeom prst="rect">
            <a:avLst/>
          </a:prstGeom>
        </p:spPr>
      </p:pic>
      <p:pic>
        <p:nvPicPr>
          <p:cNvPr id="43" name="图片 4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601151" y="2438401"/>
            <a:ext cx="540000" cy="471294"/>
          </a:xfrm>
          <a:prstGeom prst="rect">
            <a:avLst/>
          </a:prstGeom>
        </p:spPr>
      </p:pic>
      <p:pic>
        <p:nvPicPr>
          <p:cNvPr id="44" name="图片 4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49003" y="2438401"/>
            <a:ext cx="540000" cy="471294"/>
          </a:xfrm>
          <a:prstGeom prst="rect">
            <a:avLst/>
          </a:prstGeom>
        </p:spPr>
      </p:pic>
      <p:pic>
        <p:nvPicPr>
          <p:cNvPr id="45" name="图片 4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896854" y="2438401"/>
            <a:ext cx="540000" cy="471294"/>
          </a:xfrm>
          <a:prstGeom prst="rect">
            <a:avLst/>
          </a:prstGeom>
        </p:spPr>
      </p:pic>
      <p:sp>
        <p:nvSpPr>
          <p:cNvPr id="47" name="内容占位符 2"/>
          <p:cNvSpPr txBox="1"/>
          <p:nvPr/>
        </p:nvSpPr>
        <p:spPr bwMode="gray">
          <a:xfrm>
            <a:off x="496608" y="5299243"/>
            <a:ext cx="7707943" cy="4687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>
            <a:spAutoFit/>
          </a:bodyPr>
          <a:lstStyle>
            <a:lvl1pPr marL="302260" indent="-302260" algn="just" defTabSz="913765" rtl="0" eaLnBrk="1" fontAlgn="auto" latinLnBrk="0" hangingPunct="1">
              <a:lnSpc>
                <a:spcPct val="140000"/>
              </a:lnSpc>
              <a:spcBef>
                <a:spcPts val="790"/>
              </a:spcBef>
              <a:buClrTx/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隧道创建包括</a:t>
            </a:r>
            <a:r>
              <a:rPr lang="zh-CN" altLang="en-US" sz="18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隧道属性配置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zh-CN" altLang="en-US" sz="18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隧道建立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Can 9"/>
          <p:cNvSpPr/>
          <p:nvPr/>
        </p:nvSpPr>
        <p:spPr bwMode="gray">
          <a:xfrm rot="5400000">
            <a:off x="5321910" y="1665211"/>
            <a:ext cx="363544" cy="4166846"/>
          </a:xfrm>
          <a:prstGeom prst="can">
            <a:avLst>
              <a:gd name="adj" fmla="val 40000"/>
            </a:avLst>
          </a:prstGeom>
          <a:solidFill>
            <a:srgbClr val="F4FBFE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矩形 48"/>
          <p:cNvSpPr/>
          <p:nvPr/>
        </p:nvSpPr>
        <p:spPr bwMode="gray">
          <a:xfrm>
            <a:off x="4563498" y="3610242"/>
            <a:ext cx="19816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 Tunel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SR-MPLS TE</a:t>
            </a:r>
            <a:r>
              <a:rPr lang="zh-CN" altLang="en-US">
                <a:sym typeface="Huawei Sans" panose="020C0503030203020204" pitchFamily="34" charset="0"/>
              </a:rPr>
              <a:t>隧道属性配置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 bwMode="gray">
          <a:xfrm>
            <a:off x="6142323" y="3345589"/>
            <a:ext cx="5320788" cy="17081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[R1] interface tunnel1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address unnumbered interface LoopBack0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tunnel-protocol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destination 3.3.3.3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tunnel-id 1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signal-protocol segment-routing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delegate   #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托管给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 Server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 bwMode="gray">
          <a:xfrm>
            <a:off x="731838" y="5674176"/>
            <a:ext cx="10728325" cy="3385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 anchorCtr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  <a:lvl2pPr marL="654685" indent="-252095" defTabSz="913765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/>
            </a:lvl2pPr>
            <a:lvl3pPr marL="1003935" indent="-201295" defTabSz="913765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/>
            </a:lvl3pPr>
            <a:lvl4pPr marL="1399540" indent="-198120" defTabSz="913765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/>
            </a:lvl4pPr>
            <a:lvl5pPr marL="1802765" indent="-201295" defTabSz="913765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/>
            </a:lvl5pPr>
            <a:lvl6pPr marL="25133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6pPr>
            <a:lvl7pPr marL="29705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7pPr>
            <a:lvl8pPr marL="34277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8pPr>
            <a:lvl9pPr marL="38849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9pPr>
          </a:lstStyle>
          <a:p>
            <a:r>
              <a: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隧道是通过</a:t>
            </a:r>
            <a:r>
              <a:rPr lang="en-US" altLang="zh-CN">
                <a:solidFill>
                  <a:srgbClr val="FFFF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</a:t>
            </a:r>
            <a:r>
              <a:rPr lang="zh-CN" altLang="en-US">
                <a:solidFill>
                  <a:srgbClr val="FFFF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接口来建立和管理</a:t>
            </a:r>
            <a:r>
              <a: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的，因此需要在</a:t>
            </a:r>
            <a:r>
              <a:rPr lang="zh-CN" altLang="en-US">
                <a:solidFill>
                  <a:srgbClr val="FFFF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隧道的入节点上配置</a:t>
            </a:r>
            <a:r>
              <a:rPr lang="en-US" altLang="zh-CN">
                <a:solidFill>
                  <a:srgbClr val="FFFF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>
                <a:solidFill>
                  <a:srgbClr val="FFFF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隧道接口</a:t>
            </a:r>
            <a:r>
              <a: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 bwMode="gray">
          <a:xfrm>
            <a:off x="6142323" y="2950881"/>
            <a:ext cx="5320788" cy="32714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>
                <a:sym typeface="Huawei Sans" panose="020C0503030203020204" pitchFamily="34" charset="0"/>
              </a:rPr>
              <a:t>控制器</a:t>
            </a:r>
            <a:r>
              <a:rPr lang="en-US" altLang="zh-CN">
                <a:sym typeface="Huawei Sans" panose="020C0503030203020204" pitchFamily="34" charset="0"/>
              </a:rPr>
              <a:t>NETCONF</a:t>
            </a:r>
            <a:r>
              <a:rPr lang="zh-CN" altLang="en-US">
                <a:sym typeface="Huawei Sans" panose="020C0503030203020204" pitchFamily="34" charset="0"/>
              </a:rPr>
              <a:t>下发隧道配置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 bwMode="gray">
          <a:xfrm>
            <a:off x="774717" y="3345589"/>
            <a:ext cx="5320788" cy="17081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[R1] interface tunnel1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address unnumbered interface LoopBack0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tunnel-protocol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destination 3.3.3.3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tunnel-id 1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signal-protocol segment-routing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path explicit-path p1 #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手工指定路径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 bwMode="gray">
          <a:xfrm>
            <a:off x="774717" y="2960589"/>
            <a:ext cx="5320788" cy="32714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ym typeface="Huawei Sans" panose="020C0503030203020204" pitchFamily="34" charset="0"/>
              </a:rPr>
              <a:t>手工配置显示路径隧道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0"/>
            <a:ext cx="11293475" cy="1621159"/>
          </a:xfrm>
        </p:spPr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sym typeface="Huawei Sans" panose="020C0503030203020204" pitchFamily="34" charset="0"/>
              </a:rPr>
              <a:t>隧道的属性是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创建隧道的依据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r>
              <a:rPr lang="en-US" altLang="zh-CN" sz="1600" dirty="0"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sym typeface="Huawei Sans" panose="020C0503030203020204" pitchFamily="34" charset="0"/>
              </a:rPr>
              <a:t>隧道可以在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控制器</a:t>
            </a:r>
            <a:r>
              <a:rPr lang="zh-CN" altLang="en-US" sz="1600" dirty="0">
                <a:sym typeface="Huawei Sans" panose="020C0503030203020204" pitchFamily="34" charset="0"/>
              </a:rPr>
              <a:t>或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转发器</a:t>
            </a:r>
            <a:r>
              <a:rPr lang="zh-CN" altLang="en-US" sz="1600" dirty="0">
                <a:sym typeface="Huawei Sans" panose="020C0503030203020204" pitchFamily="34" charset="0"/>
              </a:rPr>
              <a:t>上配置。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控制器上配置隧道</a:t>
            </a:r>
            <a:r>
              <a:rPr lang="zh-CN" altLang="en-US" sz="1600" dirty="0">
                <a:sym typeface="Huawei Sans" panose="020C0503030203020204" pitchFamily="34" charset="0"/>
              </a:rPr>
              <a:t>：在控制器上进行</a:t>
            </a:r>
            <a:r>
              <a:rPr lang="en-US" altLang="zh-CN" sz="1600" dirty="0"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sym typeface="Huawei Sans" panose="020C0503030203020204" pitchFamily="34" charset="0"/>
              </a:rPr>
              <a:t>隧道配置后，控制器将隧道属性通过</a:t>
            </a:r>
            <a:r>
              <a:rPr lang="en-US" altLang="zh-CN" sz="1600" dirty="0">
                <a:sym typeface="Huawei Sans" panose="020C0503030203020204" pitchFamily="34" charset="0"/>
              </a:rPr>
              <a:t>NETCONF</a:t>
            </a:r>
            <a:r>
              <a:rPr lang="zh-CN" altLang="en-US" sz="1600" dirty="0">
                <a:sym typeface="Huawei Sans" panose="020C0503030203020204" pitchFamily="34" charset="0"/>
              </a:rPr>
              <a:t>下发给转发器，转发器通过</a:t>
            </a:r>
            <a:r>
              <a:rPr lang="en-US" altLang="zh-CN" sz="1600" dirty="0">
                <a:sym typeface="Huawei Sans" panose="020C0503030203020204" pitchFamily="34" charset="0"/>
              </a:rPr>
              <a:t>PCEP</a:t>
            </a:r>
            <a:r>
              <a:rPr lang="zh-CN" altLang="en-US" sz="1600" dirty="0">
                <a:sym typeface="Huawei Sans" panose="020C0503030203020204" pitchFamily="34" charset="0"/>
              </a:rPr>
              <a:t>协议将隧道托管给控制器进行管理。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转发器上配置隧道</a:t>
            </a:r>
            <a:r>
              <a:rPr lang="zh-CN" altLang="en-US" sz="1600" dirty="0">
                <a:sym typeface="Huawei Sans" panose="020C0503030203020204" pitchFamily="34" charset="0"/>
              </a:rPr>
              <a:t>：在转发器上进行</a:t>
            </a:r>
            <a:r>
              <a:rPr lang="en-US" altLang="zh-CN" sz="1600" dirty="0"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sym typeface="Huawei Sans" panose="020C0503030203020204" pitchFamily="34" charset="0"/>
              </a:rPr>
              <a:t>隧道配置后，转发器将隧道托管给控制器进行管理。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17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SR-MPLS TE</a:t>
            </a:r>
            <a:r>
              <a:rPr lang="zh-CN" altLang="en-US" dirty="0">
                <a:sym typeface="Huawei Sans" panose="020C0503030203020204" pitchFamily="34" charset="0"/>
              </a:rPr>
              <a:t>隧道建立过程 </a:t>
            </a:r>
            <a:r>
              <a:rPr lang="en-US" altLang="zh-CN" dirty="0">
                <a:sym typeface="Huawei Sans" panose="020C0503030203020204" pitchFamily="34" charset="0"/>
              </a:rPr>
              <a:t>(</a:t>
            </a:r>
            <a:r>
              <a:rPr lang="zh-CN" altLang="en-US" dirty="0">
                <a:sym typeface="Huawei Sans" panose="020C0503030203020204" pitchFamily="34" charset="0"/>
              </a:rPr>
              <a:t>控制器算路</a:t>
            </a:r>
            <a:r>
              <a:rPr lang="en-US" altLang="zh-CN" dirty="0">
                <a:sym typeface="Huawei Sans" panose="020C0503030203020204" pitchFamily="34" charset="0"/>
              </a:rPr>
              <a:t>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3" name="圆角矩形 40"/>
          <p:cNvSpPr/>
          <p:nvPr/>
        </p:nvSpPr>
        <p:spPr bwMode="gray">
          <a:xfrm>
            <a:off x="743150" y="2676994"/>
            <a:ext cx="5801419" cy="3483860"/>
          </a:xfrm>
          <a:prstGeom prst="roundRect">
            <a:avLst>
              <a:gd name="adj" fmla="val 6321"/>
            </a:avLst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6" name="图片 55" descr="通用网管-蓝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 bwMode="gray">
          <a:xfrm>
            <a:off x="1967227" y="1407222"/>
            <a:ext cx="557380" cy="456038"/>
          </a:xfrm>
          <a:prstGeom prst="rect">
            <a:avLst/>
          </a:prstGeom>
        </p:spPr>
      </p:pic>
      <p:cxnSp>
        <p:nvCxnSpPr>
          <p:cNvPr id="59" name="直接箭头连接符 58"/>
          <p:cNvCxnSpPr/>
          <p:nvPr/>
        </p:nvCxnSpPr>
        <p:spPr bwMode="gray">
          <a:xfrm>
            <a:off x="2468085" y="1936634"/>
            <a:ext cx="0" cy="661423"/>
          </a:xfrm>
          <a:prstGeom prst="straightConnector1">
            <a:avLst/>
          </a:prstGeom>
          <a:ln w="19050">
            <a:solidFill>
              <a:srgbClr val="0070C0"/>
            </a:solidFill>
            <a:prstDash val="dash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 bwMode="gray">
          <a:xfrm>
            <a:off x="2517694" y="1421900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 bwMode="gray">
          <a:xfrm>
            <a:off x="2627457" y="2130344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endParaRPr lang="zh-CN" altLang="en-US" sz="1400" b="1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矩形 70"/>
          <p:cNvSpPr/>
          <p:nvPr/>
        </p:nvSpPr>
        <p:spPr bwMode="gray">
          <a:xfrm>
            <a:off x="6647757" y="2288097"/>
            <a:ext cx="4682441" cy="2686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2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控制器基于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的隧道约束属性，通过路径计算单元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Path Computation Element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）进行类似普通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的路径计算，生成一个标签栈（即算路结果）。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42900" indent="-342900" algn="just">
              <a:lnSpc>
                <a:spcPts val="2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将隧道配置信息下发给转发器、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PCEP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将标签栈下发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给转发器。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42900" indent="-342900" algn="just">
              <a:lnSpc>
                <a:spcPts val="2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转发器根据控制器下发的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隧道配置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标签栈信息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5951302" y="1397763"/>
            <a:ext cx="555847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  <a:spcAft>
                <a:spcPts val="600"/>
              </a:spcAft>
            </a:pP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当配置了某种业务（例如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业务）时，该业务需要绑定到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隧道，将按照以下过程建立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隧道：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6" name="组合 75"/>
          <p:cNvGrpSpPr/>
          <p:nvPr/>
        </p:nvGrpSpPr>
        <p:grpSpPr bwMode="gray">
          <a:xfrm rot="10800000">
            <a:off x="5095383" y="3783827"/>
            <a:ext cx="891897" cy="1788855"/>
            <a:chOff x="4518703" y="2205748"/>
            <a:chExt cx="1512166" cy="2521312"/>
          </a:xfrm>
        </p:grpSpPr>
        <p:cxnSp>
          <p:nvCxnSpPr>
            <p:cNvPr id="77" name="直接连接符 76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组合 78"/>
          <p:cNvGrpSpPr/>
          <p:nvPr/>
        </p:nvGrpSpPr>
        <p:grpSpPr bwMode="gray">
          <a:xfrm>
            <a:off x="1334958" y="3783827"/>
            <a:ext cx="891897" cy="1788855"/>
            <a:chOff x="4518703" y="2205748"/>
            <a:chExt cx="1512166" cy="2521312"/>
          </a:xfrm>
        </p:grpSpPr>
        <p:cxnSp>
          <p:nvCxnSpPr>
            <p:cNvPr id="80" name="直接连接符 79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" name="直接连接符 81"/>
          <p:cNvCxnSpPr/>
          <p:nvPr/>
        </p:nvCxnSpPr>
        <p:spPr bwMode="gray">
          <a:xfrm flipH="1">
            <a:off x="2238700" y="3709689"/>
            <a:ext cx="286038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 bwMode="gray">
          <a:xfrm flipH="1">
            <a:off x="2238700" y="5579920"/>
            <a:ext cx="286038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 bwMode="gray">
          <a:xfrm>
            <a:off x="6114878" y="4840211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矩形 85"/>
          <p:cNvSpPr/>
          <p:nvPr/>
        </p:nvSpPr>
        <p:spPr bwMode="gray">
          <a:xfrm>
            <a:off x="2684271" y="3716926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1023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矩形 86"/>
          <p:cNvSpPr/>
          <p:nvPr/>
        </p:nvSpPr>
        <p:spPr bwMode="gray">
          <a:xfrm>
            <a:off x="695035" y="4536429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8" name="直接连接符 87"/>
          <p:cNvCxnSpPr/>
          <p:nvPr/>
        </p:nvCxnSpPr>
        <p:spPr bwMode="gray">
          <a:xfrm flipV="1">
            <a:off x="3678899" y="3925454"/>
            <a:ext cx="0" cy="1512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88"/>
          <p:cNvSpPr/>
          <p:nvPr/>
        </p:nvSpPr>
        <p:spPr bwMode="gray">
          <a:xfrm>
            <a:off x="3681655" y="4491899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1034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矩形 89"/>
          <p:cNvSpPr/>
          <p:nvPr/>
        </p:nvSpPr>
        <p:spPr bwMode="gray">
          <a:xfrm>
            <a:off x="4128637" y="5579920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1056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矩形 90"/>
          <p:cNvSpPr/>
          <p:nvPr/>
        </p:nvSpPr>
        <p:spPr bwMode="gray">
          <a:xfrm rot="19038402">
            <a:off x="5350503" y="5100292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1078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2" name="直接连接符 91"/>
          <p:cNvCxnSpPr/>
          <p:nvPr/>
        </p:nvCxnSpPr>
        <p:spPr bwMode="gray">
          <a:xfrm flipV="1">
            <a:off x="1431544" y="3804105"/>
            <a:ext cx="547198" cy="546209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 bwMode="gray">
          <a:xfrm>
            <a:off x="946018" y="5016979"/>
            <a:ext cx="552886" cy="796751"/>
            <a:chOff x="626872" y="3468702"/>
            <a:chExt cx="552886" cy="796751"/>
          </a:xfrm>
        </p:grpSpPr>
        <p:sp>
          <p:nvSpPr>
            <p:cNvPr id="93" name="矩形 92"/>
            <p:cNvSpPr/>
            <p:nvPr/>
          </p:nvSpPr>
          <p:spPr bwMode="gray">
            <a:xfrm>
              <a:off x="626872" y="3468702"/>
              <a:ext cx="552886" cy="198555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rgbClr val="33CC33"/>
              </a:solidFill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altLang="zh-CN" sz="1400" b="1" dirty="0">
                  <a:solidFill>
                    <a:srgbClr val="33CC33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1023</a:t>
              </a:r>
              <a:endParaRPr lang="zh-CN" altLang="en-US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4" name="矩形 93"/>
            <p:cNvSpPr/>
            <p:nvPr/>
          </p:nvSpPr>
          <p:spPr bwMode="gray">
            <a:xfrm>
              <a:off x="626872" y="3668100"/>
              <a:ext cx="552886" cy="198555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rgbClr val="33CC33"/>
              </a:solidFill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altLang="zh-CN" sz="1400" b="1" dirty="0">
                  <a:solidFill>
                    <a:srgbClr val="33CC33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1034</a:t>
              </a:r>
              <a:endParaRPr lang="zh-CN" altLang="en-US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5" name="矩形 94"/>
            <p:cNvSpPr/>
            <p:nvPr/>
          </p:nvSpPr>
          <p:spPr bwMode="gray">
            <a:xfrm>
              <a:off x="626872" y="3867499"/>
              <a:ext cx="552886" cy="198555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rgbClr val="33CC33"/>
              </a:solidFill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altLang="zh-CN" sz="1400" b="1" dirty="0">
                  <a:solidFill>
                    <a:srgbClr val="33CC33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1056</a:t>
              </a:r>
              <a:endParaRPr lang="zh-CN" altLang="en-US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6" name="矩形 95"/>
            <p:cNvSpPr/>
            <p:nvPr/>
          </p:nvSpPr>
          <p:spPr bwMode="gray">
            <a:xfrm>
              <a:off x="626872" y="4066898"/>
              <a:ext cx="552886" cy="198555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rgbClr val="33CC33"/>
              </a:solidFill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altLang="zh-CN" sz="1400" b="1" dirty="0">
                  <a:solidFill>
                    <a:srgbClr val="33CC33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1078</a:t>
              </a:r>
              <a:endParaRPr lang="zh-CN" altLang="en-US" sz="1400" b="1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97" name="直接连接符 96"/>
          <p:cNvCxnSpPr/>
          <p:nvPr/>
        </p:nvCxnSpPr>
        <p:spPr bwMode="gray">
          <a:xfrm>
            <a:off x="2608071" y="3505833"/>
            <a:ext cx="741577" cy="0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97"/>
          <p:cNvSpPr/>
          <p:nvPr/>
        </p:nvSpPr>
        <p:spPr bwMode="gray">
          <a:xfrm>
            <a:off x="2474681" y="2812358"/>
            <a:ext cx="552886" cy="198555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1034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矩形 98"/>
          <p:cNvSpPr/>
          <p:nvPr/>
        </p:nvSpPr>
        <p:spPr bwMode="gray">
          <a:xfrm>
            <a:off x="2474681" y="3011757"/>
            <a:ext cx="552886" cy="198555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1056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0" name="矩形 99"/>
          <p:cNvSpPr/>
          <p:nvPr/>
        </p:nvSpPr>
        <p:spPr bwMode="gray">
          <a:xfrm>
            <a:off x="2474681" y="3211156"/>
            <a:ext cx="552886" cy="198555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1078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1" name="直接连接符 100"/>
          <p:cNvCxnSpPr/>
          <p:nvPr/>
        </p:nvCxnSpPr>
        <p:spPr bwMode="gray">
          <a:xfrm>
            <a:off x="3531310" y="4052294"/>
            <a:ext cx="0" cy="1162075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矩形 101"/>
          <p:cNvSpPr/>
          <p:nvPr/>
        </p:nvSpPr>
        <p:spPr bwMode="gray">
          <a:xfrm>
            <a:off x="2880622" y="4424032"/>
            <a:ext cx="552886" cy="198555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1056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矩形 102"/>
          <p:cNvSpPr/>
          <p:nvPr/>
        </p:nvSpPr>
        <p:spPr bwMode="gray">
          <a:xfrm>
            <a:off x="2880622" y="4623431"/>
            <a:ext cx="552886" cy="198555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1078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4" name="直接连接符 103"/>
          <p:cNvCxnSpPr/>
          <p:nvPr/>
        </p:nvCxnSpPr>
        <p:spPr bwMode="gray">
          <a:xfrm>
            <a:off x="4052437" y="5438172"/>
            <a:ext cx="729387" cy="0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 bwMode="gray">
          <a:xfrm>
            <a:off x="3907978" y="5131260"/>
            <a:ext cx="552886" cy="198555"/>
          </a:xfrm>
          <a:prstGeom prst="rect">
            <a:avLst/>
          </a:prstGeom>
          <a:solidFill>
            <a:srgbClr val="CCFF99"/>
          </a:solidFill>
          <a:ln w="19050">
            <a:solidFill>
              <a:srgbClr val="33CC33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33CC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1078</a:t>
            </a:r>
            <a:endParaRPr lang="zh-CN" altLang="en-US" sz="1400" b="1">
              <a:solidFill>
                <a:srgbClr val="33CC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6" name="直接连接符 105"/>
          <p:cNvCxnSpPr/>
          <p:nvPr/>
        </p:nvCxnSpPr>
        <p:spPr bwMode="gray">
          <a:xfrm flipV="1">
            <a:off x="5151861" y="4721315"/>
            <a:ext cx="550165" cy="557700"/>
          </a:xfrm>
          <a:prstGeom prst="line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图片 10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58250" y="4458326"/>
            <a:ext cx="466315" cy="408087"/>
          </a:xfrm>
          <a:prstGeom prst="rect">
            <a:avLst/>
          </a:prstGeom>
        </p:spPr>
      </p:pic>
      <p:pic>
        <p:nvPicPr>
          <p:cNvPr id="108" name="图片 10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024396" y="5391514"/>
            <a:ext cx="466315" cy="408087"/>
          </a:xfrm>
          <a:prstGeom prst="rect">
            <a:avLst/>
          </a:prstGeom>
        </p:spPr>
      </p:pic>
      <p:pic>
        <p:nvPicPr>
          <p:cNvPr id="109" name="图片 10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47393" y="5391514"/>
            <a:ext cx="466315" cy="408087"/>
          </a:xfrm>
          <a:prstGeom prst="rect">
            <a:avLst/>
          </a:prstGeom>
        </p:spPr>
      </p:pic>
      <p:pic>
        <p:nvPicPr>
          <p:cNvPr id="110" name="图片 109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870389" y="5391514"/>
            <a:ext cx="466315" cy="408087"/>
          </a:xfrm>
          <a:prstGeom prst="rect">
            <a:avLst/>
          </a:prstGeom>
        </p:spPr>
      </p:pic>
      <p:pic>
        <p:nvPicPr>
          <p:cNvPr id="111" name="图片 1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25157" y="4318626"/>
            <a:ext cx="466315" cy="408087"/>
          </a:xfrm>
          <a:prstGeom prst="rect">
            <a:avLst/>
          </a:prstGeom>
        </p:spPr>
      </p:pic>
      <p:pic>
        <p:nvPicPr>
          <p:cNvPr id="112" name="图片 11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024396" y="3525140"/>
            <a:ext cx="466315" cy="408087"/>
          </a:xfrm>
          <a:prstGeom prst="rect">
            <a:avLst/>
          </a:prstGeom>
        </p:spPr>
      </p:pic>
      <p:pic>
        <p:nvPicPr>
          <p:cNvPr id="113" name="图片 11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47393" y="3525140"/>
            <a:ext cx="466315" cy="408087"/>
          </a:xfrm>
          <a:prstGeom prst="rect">
            <a:avLst/>
          </a:prstGeom>
        </p:spPr>
      </p:pic>
      <p:pic>
        <p:nvPicPr>
          <p:cNvPr id="114" name="图片 1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870389" y="3525140"/>
            <a:ext cx="466315" cy="408087"/>
          </a:xfrm>
          <a:prstGeom prst="rect">
            <a:avLst/>
          </a:prstGeom>
        </p:spPr>
      </p:pic>
      <p:cxnSp>
        <p:nvCxnSpPr>
          <p:cNvPr id="115" name="直接箭头连接符 114"/>
          <p:cNvCxnSpPr/>
          <p:nvPr/>
        </p:nvCxnSpPr>
        <p:spPr bwMode="gray">
          <a:xfrm flipV="1">
            <a:off x="1194311" y="1901360"/>
            <a:ext cx="886506" cy="2444500"/>
          </a:xfrm>
          <a:prstGeom prst="straightConnector1">
            <a:avLst/>
          </a:prstGeom>
          <a:ln w="19050">
            <a:solidFill>
              <a:srgbClr val="00B050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/>
          <p:cNvSpPr txBox="1"/>
          <p:nvPr/>
        </p:nvSpPr>
        <p:spPr bwMode="gray">
          <a:xfrm>
            <a:off x="855244" y="1959568"/>
            <a:ext cx="1032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endParaRPr lang="zh-CN" altLang="en-US" sz="1400" b="1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7" name="直接箭头连接符 116"/>
          <p:cNvCxnSpPr/>
          <p:nvPr/>
        </p:nvCxnSpPr>
        <p:spPr bwMode="gray">
          <a:xfrm flipV="1">
            <a:off x="1344036" y="1901360"/>
            <a:ext cx="886506" cy="244450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/>
          <p:cNvSpPr txBox="1"/>
          <p:nvPr/>
        </p:nvSpPr>
        <p:spPr bwMode="gray">
          <a:xfrm>
            <a:off x="879241" y="2293799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PCEP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9" name="直接箭头连接符 118"/>
          <p:cNvCxnSpPr/>
          <p:nvPr/>
        </p:nvCxnSpPr>
        <p:spPr bwMode="gray">
          <a:xfrm flipV="1">
            <a:off x="2328919" y="1935162"/>
            <a:ext cx="0" cy="1474549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/>
          <p:cNvSpPr txBox="1"/>
          <p:nvPr/>
        </p:nvSpPr>
        <p:spPr bwMode="gray">
          <a:xfrm>
            <a:off x="7424945" y="5338251"/>
            <a:ext cx="401005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：转发器上报标签和网络拓扑信息。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PCEP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：控制器下发标签栈；转发器上报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状态。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：控制器下发隧道配置。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21" name="直接箭头连接符 120"/>
          <p:cNvCxnSpPr/>
          <p:nvPr/>
        </p:nvCxnSpPr>
        <p:spPr bwMode="gray">
          <a:xfrm flipH="1">
            <a:off x="6683382" y="5474918"/>
            <a:ext cx="467924" cy="0"/>
          </a:xfrm>
          <a:prstGeom prst="straightConnector1">
            <a:avLst/>
          </a:prstGeom>
          <a:ln w="19050">
            <a:solidFill>
              <a:srgbClr val="0070C0"/>
            </a:solidFill>
            <a:prstDash val="dash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 bwMode="gray">
          <a:xfrm flipH="1">
            <a:off x="6693437" y="5707582"/>
            <a:ext cx="467924" cy="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/>
          <p:cNvCxnSpPr/>
          <p:nvPr/>
        </p:nvCxnSpPr>
        <p:spPr bwMode="gray">
          <a:xfrm flipH="1">
            <a:off x="6709578" y="5922805"/>
            <a:ext cx="421303" cy="0"/>
          </a:xfrm>
          <a:prstGeom prst="straightConnector1">
            <a:avLst/>
          </a:prstGeom>
          <a:ln w="19050">
            <a:solidFill>
              <a:srgbClr val="00B050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基于控制器的</a:t>
            </a:r>
            <a:r>
              <a:rPr lang="en-US" altLang="zh-CN">
                <a:sym typeface="Huawei Sans" panose="020C0503030203020204" pitchFamily="34" charset="0"/>
              </a:rPr>
              <a:t>SR-MPLS TE</a:t>
            </a:r>
            <a:r>
              <a:rPr lang="zh-CN" altLang="en-US">
                <a:sym typeface="Huawei Sans" panose="020C0503030203020204" pitchFamily="34" charset="0"/>
              </a:rPr>
              <a:t>隧道建立的优势</a:t>
            </a:r>
            <a:endParaRPr lang="zh-CN" altLang="en-US">
              <a:sym typeface="Huawei Sans" panose="020C0503030203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 bwMode="gray">
          <a:xfrm rot="10800000">
            <a:off x="8184592" y="3980142"/>
            <a:ext cx="1032830" cy="1941018"/>
            <a:chOff x="4518703" y="2205748"/>
            <a:chExt cx="1512166" cy="2521312"/>
          </a:xfrm>
        </p:grpSpPr>
        <p:cxnSp>
          <p:nvCxnSpPr>
            <p:cNvPr id="5" name="直接连接符 4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 bwMode="gray">
          <a:xfrm flipH="1">
            <a:off x="4894114" y="3987995"/>
            <a:ext cx="1760319" cy="1933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 bwMode="gray">
          <a:xfrm flipH="1" flipV="1">
            <a:off x="4892169" y="3974646"/>
            <a:ext cx="1748548" cy="19543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 bwMode="gray">
          <a:xfrm>
            <a:off x="3829962" y="3980142"/>
            <a:ext cx="1032830" cy="1941018"/>
            <a:chOff x="4518703" y="2205748"/>
            <a:chExt cx="1512166" cy="2521312"/>
          </a:xfrm>
        </p:grpSpPr>
        <p:cxnSp>
          <p:nvCxnSpPr>
            <p:cNvPr id="10" name="直接连接符 9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/>
          <p:cNvCxnSpPr/>
          <p:nvPr/>
        </p:nvCxnSpPr>
        <p:spPr bwMode="gray">
          <a:xfrm flipH="1">
            <a:off x="4876509" y="3980142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gray">
          <a:xfrm flipH="1">
            <a:off x="4876509" y="5929013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 bwMode="gray">
          <a:xfrm flipV="1">
            <a:off x="6654433" y="3980142"/>
            <a:ext cx="0" cy="19488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 bwMode="gray">
          <a:xfrm>
            <a:off x="480132" y="4473619"/>
            <a:ext cx="1080120" cy="278077"/>
          </a:xfrm>
          <a:prstGeom prst="roundRect">
            <a:avLst/>
          </a:prstGeom>
          <a:solidFill>
            <a:srgbClr val="FF9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数据下载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圆角矩形 15"/>
          <p:cNvSpPr/>
          <p:nvPr/>
        </p:nvSpPr>
        <p:spPr bwMode="gray">
          <a:xfrm>
            <a:off x="1196704" y="4846591"/>
            <a:ext cx="1080120" cy="278077"/>
          </a:xfrm>
          <a:prstGeom prst="roundRect">
            <a:avLst/>
          </a:prstGeom>
          <a:solidFill>
            <a:srgbClr val="FF33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视频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8" name="直接箭头连接符 17"/>
          <p:cNvCxnSpPr/>
          <p:nvPr/>
        </p:nvCxnSpPr>
        <p:spPr bwMode="gray">
          <a:xfrm>
            <a:off x="1324941" y="4582026"/>
            <a:ext cx="2036095" cy="0"/>
          </a:xfrm>
          <a:prstGeom prst="straightConnector1">
            <a:avLst/>
          </a:prstGeom>
          <a:ln w="38100">
            <a:solidFill>
              <a:srgbClr val="FF99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 bwMode="gray">
          <a:xfrm>
            <a:off x="2117029" y="4967666"/>
            <a:ext cx="1146398" cy="0"/>
          </a:xfrm>
          <a:prstGeom prst="straightConnector1">
            <a:avLst/>
          </a:prstGeom>
          <a:ln w="38100">
            <a:solidFill>
              <a:srgbClr val="FF33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 bwMode="gray">
          <a:xfrm flipV="1">
            <a:off x="1121488" y="2935954"/>
            <a:ext cx="2053968" cy="1530853"/>
          </a:xfrm>
          <a:prstGeom prst="straightConnector1">
            <a:avLst/>
          </a:prstGeom>
          <a:ln w="19050">
            <a:solidFill>
              <a:srgbClr val="FF993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 bwMode="gray">
          <a:xfrm rot="19358263">
            <a:off x="1710876" y="342213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带宽大</a:t>
            </a:r>
            <a:endParaRPr lang="zh-CN" altLang="en-US" sz="1400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3" name="直接箭头连接符 22"/>
          <p:cNvCxnSpPr/>
          <p:nvPr/>
        </p:nvCxnSpPr>
        <p:spPr bwMode="gray">
          <a:xfrm flipV="1">
            <a:off x="1873640" y="2935954"/>
            <a:ext cx="1490315" cy="1883101"/>
          </a:xfrm>
          <a:prstGeom prst="straightConnector1">
            <a:avLst/>
          </a:prstGeom>
          <a:ln w="19050">
            <a:solidFill>
              <a:srgbClr val="FF33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 bwMode="gray">
          <a:xfrm rot="18488369">
            <a:off x="1964002" y="380160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3399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时延小</a:t>
            </a:r>
            <a:endParaRPr lang="zh-CN" altLang="en-US" sz="1400" dirty="0">
              <a:solidFill>
                <a:srgbClr val="FF3399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7" name="直接箭头连接符 26"/>
          <p:cNvCxnSpPr/>
          <p:nvPr/>
        </p:nvCxnSpPr>
        <p:spPr bwMode="gray">
          <a:xfrm>
            <a:off x="4093227" y="2935954"/>
            <a:ext cx="735094" cy="731951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 bwMode="gray">
          <a:xfrm>
            <a:off x="3885592" y="2935954"/>
            <a:ext cx="0" cy="1770912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 bwMode="gray">
          <a:xfrm rot="5400000">
            <a:off x="3533361" y="3576987"/>
            <a:ext cx="1003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ysClr val="windowText" lastClr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endParaRPr lang="zh-CN" altLang="en-US" sz="1400">
              <a:solidFill>
                <a:sysClr val="windowText" lastClr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0" name="直接箭头连接符 29"/>
          <p:cNvCxnSpPr/>
          <p:nvPr/>
        </p:nvCxnSpPr>
        <p:spPr bwMode="gray">
          <a:xfrm>
            <a:off x="3764372" y="2935954"/>
            <a:ext cx="0" cy="1770912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 bwMode="gray">
          <a:xfrm rot="5400000">
            <a:off x="3359355" y="3576987"/>
            <a:ext cx="596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ysClr val="windowText" lastClr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PCEP</a:t>
            </a:r>
            <a:endParaRPr lang="zh-CN" altLang="en-US" sz="1400">
              <a:solidFill>
                <a:sysClr val="windowText" lastClr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 bwMode="gray">
          <a:xfrm rot="2799415">
            <a:off x="4271535" y="3052762"/>
            <a:ext cx="596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ysClr val="windowText" lastClr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PCEP</a:t>
            </a:r>
            <a:endParaRPr lang="zh-CN" altLang="en-US" sz="1400">
              <a:solidFill>
                <a:sysClr val="windowText" lastClr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任意多边形 32"/>
          <p:cNvSpPr/>
          <p:nvPr/>
        </p:nvSpPr>
        <p:spPr bwMode="gray">
          <a:xfrm>
            <a:off x="4330780" y="3642360"/>
            <a:ext cx="5143204" cy="1277472"/>
          </a:xfrm>
          <a:custGeom>
            <a:avLst/>
            <a:gdLst>
              <a:gd name="connsiteX0" fmla="*/ 0 w 4948518"/>
              <a:gd name="connsiteY0" fmla="*/ 806824 h 860612"/>
              <a:gd name="connsiteX1" fmla="*/ 874059 w 4948518"/>
              <a:gd name="connsiteY1" fmla="*/ 0 h 860612"/>
              <a:gd name="connsiteX2" fmla="*/ 4074459 w 4948518"/>
              <a:gd name="connsiteY2" fmla="*/ 0 h 860612"/>
              <a:gd name="connsiteX3" fmla="*/ 4948518 w 4948518"/>
              <a:gd name="connsiteY3" fmla="*/ 860612 h 860612"/>
              <a:gd name="connsiteX0-1" fmla="*/ 0 w 5519251"/>
              <a:gd name="connsiteY0-2" fmla="*/ 1277472 h 1277472"/>
              <a:gd name="connsiteX1-3" fmla="*/ 1444792 w 5519251"/>
              <a:gd name="connsiteY1-4" fmla="*/ 0 h 1277472"/>
              <a:gd name="connsiteX2-5" fmla="*/ 4645192 w 5519251"/>
              <a:gd name="connsiteY2-6" fmla="*/ 0 h 1277472"/>
              <a:gd name="connsiteX3-7" fmla="*/ 5519251 w 5519251"/>
              <a:gd name="connsiteY3-8" fmla="*/ 860612 h 1277472"/>
              <a:gd name="connsiteX0-9" fmla="*/ 0 w 5759559"/>
              <a:gd name="connsiteY0-10" fmla="*/ 1277472 h 1277472"/>
              <a:gd name="connsiteX1-11" fmla="*/ 1444792 w 5759559"/>
              <a:gd name="connsiteY1-12" fmla="*/ 0 h 1277472"/>
              <a:gd name="connsiteX2-13" fmla="*/ 4645192 w 5759559"/>
              <a:gd name="connsiteY2-14" fmla="*/ 0 h 1277472"/>
              <a:gd name="connsiteX3-15" fmla="*/ 5759559 w 5759559"/>
              <a:gd name="connsiteY3-16" fmla="*/ 820271 h 1277472"/>
              <a:gd name="connsiteX0-17" fmla="*/ 0 w 5729521"/>
              <a:gd name="connsiteY0-18" fmla="*/ 1277472 h 1277472"/>
              <a:gd name="connsiteX1-19" fmla="*/ 1444792 w 5729521"/>
              <a:gd name="connsiteY1-20" fmla="*/ 0 h 1277472"/>
              <a:gd name="connsiteX2-21" fmla="*/ 4645192 w 5729521"/>
              <a:gd name="connsiteY2-22" fmla="*/ 0 h 1277472"/>
              <a:gd name="connsiteX3-23" fmla="*/ 5729521 w 5729521"/>
              <a:gd name="connsiteY3-24" fmla="*/ 820271 h 1277472"/>
              <a:gd name="connsiteX0-25" fmla="*/ 0 w 5669444"/>
              <a:gd name="connsiteY0-26" fmla="*/ 1277472 h 1277472"/>
              <a:gd name="connsiteX1-27" fmla="*/ 1444792 w 5669444"/>
              <a:gd name="connsiteY1-28" fmla="*/ 0 h 1277472"/>
              <a:gd name="connsiteX2-29" fmla="*/ 4645192 w 5669444"/>
              <a:gd name="connsiteY2-30" fmla="*/ 0 h 1277472"/>
              <a:gd name="connsiteX3-31" fmla="*/ 5669444 w 5669444"/>
              <a:gd name="connsiteY3-32" fmla="*/ 833718 h 1277472"/>
              <a:gd name="connsiteX0-33" fmla="*/ 0 w 5744540"/>
              <a:gd name="connsiteY0-34" fmla="*/ 1277472 h 1277472"/>
              <a:gd name="connsiteX1-35" fmla="*/ 1444792 w 5744540"/>
              <a:gd name="connsiteY1-36" fmla="*/ 0 h 1277472"/>
              <a:gd name="connsiteX2-37" fmla="*/ 4645192 w 5744540"/>
              <a:gd name="connsiteY2-38" fmla="*/ 0 h 1277472"/>
              <a:gd name="connsiteX3-39" fmla="*/ 5744540 w 5744540"/>
              <a:gd name="connsiteY3-40" fmla="*/ 860612 h 12774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744540" h="1277472">
                <a:moveTo>
                  <a:pt x="0" y="1277472"/>
                </a:moveTo>
                <a:lnTo>
                  <a:pt x="1444792" y="0"/>
                </a:lnTo>
                <a:lnTo>
                  <a:pt x="4645192" y="0"/>
                </a:lnTo>
                <a:lnTo>
                  <a:pt x="5744540" y="860612"/>
                </a:lnTo>
              </a:path>
            </a:pathLst>
          </a:custGeom>
          <a:noFill/>
          <a:ln w="57150">
            <a:solidFill>
              <a:srgbClr val="FF993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任意多边形 33"/>
          <p:cNvSpPr/>
          <p:nvPr/>
        </p:nvSpPr>
        <p:spPr bwMode="gray">
          <a:xfrm>
            <a:off x="4262697" y="4292262"/>
            <a:ext cx="4491318" cy="1308598"/>
          </a:xfrm>
          <a:custGeom>
            <a:avLst/>
            <a:gdLst>
              <a:gd name="connsiteX0" fmla="*/ 0 w 4491318"/>
              <a:gd name="connsiteY0" fmla="*/ 753035 h 1304365"/>
              <a:gd name="connsiteX1" fmla="*/ 605118 w 4491318"/>
              <a:gd name="connsiteY1" fmla="*/ 1304365 h 1304365"/>
              <a:gd name="connsiteX2" fmla="*/ 1627094 w 4491318"/>
              <a:gd name="connsiteY2" fmla="*/ 0 h 1304365"/>
              <a:gd name="connsiteX3" fmla="*/ 3859306 w 4491318"/>
              <a:gd name="connsiteY3" fmla="*/ 0 h 1304365"/>
              <a:gd name="connsiteX4" fmla="*/ 4491318 w 4491318"/>
              <a:gd name="connsiteY4" fmla="*/ 578223 h 1304365"/>
              <a:gd name="connsiteX0-1" fmla="*/ 0 w 4491318"/>
              <a:gd name="connsiteY0-2" fmla="*/ 757268 h 1308598"/>
              <a:gd name="connsiteX1-3" fmla="*/ 605118 w 4491318"/>
              <a:gd name="connsiteY1-4" fmla="*/ 1308598 h 1308598"/>
              <a:gd name="connsiteX2-5" fmla="*/ 1732928 w 4491318"/>
              <a:gd name="connsiteY2-6" fmla="*/ 0 h 1308598"/>
              <a:gd name="connsiteX3-7" fmla="*/ 3859306 w 4491318"/>
              <a:gd name="connsiteY3-8" fmla="*/ 4233 h 1308598"/>
              <a:gd name="connsiteX4-9" fmla="*/ 4491318 w 4491318"/>
              <a:gd name="connsiteY4-10" fmla="*/ 582456 h 1308598"/>
              <a:gd name="connsiteX0-11" fmla="*/ 0 w 4491318"/>
              <a:gd name="connsiteY0-12" fmla="*/ 757268 h 1308598"/>
              <a:gd name="connsiteX1-13" fmla="*/ 605118 w 4491318"/>
              <a:gd name="connsiteY1-14" fmla="*/ 1308598 h 1308598"/>
              <a:gd name="connsiteX2-15" fmla="*/ 1762561 w 4491318"/>
              <a:gd name="connsiteY2-16" fmla="*/ 0 h 1308598"/>
              <a:gd name="connsiteX3-17" fmla="*/ 3859306 w 4491318"/>
              <a:gd name="connsiteY3-18" fmla="*/ 4233 h 1308598"/>
              <a:gd name="connsiteX4-19" fmla="*/ 4491318 w 4491318"/>
              <a:gd name="connsiteY4-20" fmla="*/ 582456 h 1308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491318" h="1308598">
                <a:moveTo>
                  <a:pt x="0" y="757268"/>
                </a:moveTo>
                <a:lnTo>
                  <a:pt x="605118" y="1308598"/>
                </a:lnTo>
                <a:lnTo>
                  <a:pt x="1762561" y="0"/>
                </a:lnTo>
                <a:lnTo>
                  <a:pt x="3859306" y="4233"/>
                </a:lnTo>
                <a:lnTo>
                  <a:pt x="4491318" y="582456"/>
                </a:lnTo>
              </a:path>
            </a:pathLst>
          </a:custGeom>
          <a:noFill/>
          <a:ln w="57150">
            <a:solidFill>
              <a:srgbClr val="FF3399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6821275" y="331254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大带宽路径</a:t>
            </a:r>
            <a:endParaRPr lang="zh-CN" altLang="en-US" sz="1400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6901962" y="430035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3399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低时延路径</a:t>
            </a:r>
            <a:endParaRPr lang="zh-CN" altLang="en-US" sz="1400">
              <a:solidFill>
                <a:srgbClr val="FF3399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2321914" y="2460679"/>
            <a:ext cx="1061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0" name="图片 3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542207" y="4701470"/>
            <a:ext cx="540000" cy="442800"/>
          </a:xfrm>
          <a:prstGeom prst="rect">
            <a:avLst/>
          </a:prstGeom>
        </p:spPr>
      </p:pic>
      <p:pic>
        <p:nvPicPr>
          <p:cNvPr id="41" name="图片 4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566414" y="3752444"/>
            <a:ext cx="540000" cy="442800"/>
          </a:xfrm>
          <a:prstGeom prst="rect">
            <a:avLst/>
          </a:prstGeom>
        </p:spPr>
      </p:pic>
      <p:pic>
        <p:nvPicPr>
          <p:cNvPr id="42" name="图片 4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566414" y="5650496"/>
            <a:ext cx="540000" cy="442800"/>
          </a:xfrm>
          <a:prstGeom prst="rect">
            <a:avLst/>
          </a:prstGeom>
        </p:spPr>
      </p:pic>
      <p:pic>
        <p:nvPicPr>
          <p:cNvPr id="43" name="图片 4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92951" y="3752444"/>
            <a:ext cx="540000" cy="442800"/>
          </a:xfrm>
          <a:prstGeom prst="rect">
            <a:avLst/>
          </a:prstGeom>
        </p:spPr>
      </p:pic>
      <p:pic>
        <p:nvPicPr>
          <p:cNvPr id="44" name="图片 4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92951" y="5650496"/>
            <a:ext cx="540000" cy="442800"/>
          </a:xfrm>
          <a:prstGeom prst="rect">
            <a:avLst/>
          </a:prstGeom>
        </p:spPr>
      </p:pic>
      <p:pic>
        <p:nvPicPr>
          <p:cNvPr id="45" name="图片 4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884466" y="3752444"/>
            <a:ext cx="540000" cy="442800"/>
          </a:xfrm>
          <a:prstGeom prst="rect">
            <a:avLst/>
          </a:prstGeom>
        </p:spPr>
      </p:pic>
      <p:pic>
        <p:nvPicPr>
          <p:cNvPr id="46" name="图片 4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884466" y="5650496"/>
            <a:ext cx="540000" cy="442800"/>
          </a:xfrm>
          <a:prstGeom prst="rect">
            <a:avLst/>
          </a:prstGeom>
        </p:spPr>
      </p:pic>
      <p:pic>
        <p:nvPicPr>
          <p:cNvPr id="47" name="图片 4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936204" y="4701470"/>
            <a:ext cx="540000" cy="442800"/>
          </a:xfrm>
          <a:prstGeom prst="rect">
            <a:avLst/>
          </a:prstGeom>
        </p:spPr>
      </p:pic>
      <p:pic>
        <p:nvPicPr>
          <p:cNvPr id="48" name="图片 47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3377673" y="2407715"/>
            <a:ext cx="540000" cy="441818"/>
          </a:xfrm>
          <a:prstGeom prst="rect">
            <a:avLst/>
          </a:prstGeom>
        </p:spPr>
      </p:pic>
      <p:sp>
        <p:nvSpPr>
          <p:cNvPr id="49" name="矩形 48"/>
          <p:cNvSpPr/>
          <p:nvPr/>
        </p:nvSpPr>
        <p:spPr bwMode="gray">
          <a:xfrm>
            <a:off x="6036443" y="1426990"/>
            <a:ext cx="5711057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支持带宽计算与资源预留。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可以站在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全局视角计算最优路径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可以与应用配合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，由应用提出网络诉求，控制器计算满足诉求的转发路径，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实现业务驱动网络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省去大量的手工配置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，适合大规模网络。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SR-MPLS TE</a:t>
            </a:r>
            <a:r>
              <a:rPr lang="zh-CN" altLang="en-US">
                <a:sym typeface="Huawei Sans" panose="020C0503030203020204" pitchFamily="34" charset="0"/>
              </a:rPr>
              <a:t>数据转发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转发器上根据</a:t>
            </a:r>
            <a:r>
              <a:rPr lang="en-US" altLang="zh-CN" sz="1800" dirty="0">
                <a:sym typeface="Huawei Sans" panose="020C0503030203020204" pitchFamily="34" charset="0"/>
              </a:rPr>
              <a:t>SR-MPLS TE</a:t>
            </a:r>
            <a:r>
              <a:rPr lang="zh-CN" altLang="en-US" sz="1800" dirty="0">
                <a:sym typeface="Huawei Sans" panose="020C0503030203020204" pitchFamily="34" charset="0"/>
              </a:rPr>
              <a:t>隧道</a:t>
            </a:r>
            <a:r>
              <a:rPr lang="en-US" altLang="zh-CN" sz="1800" dirty="0">
                <a:sym typeface="Huawei Sans" panose="020C0503030203020204" pitchFamily="34" charset="0"/>
              </a:rPr>
              <a:t>LSP</a:t>
            </a:r>
            <a:r>
              <a:rPr lang="zh-CN" altLang="en-US" sz="1800" dirty="0">
                <a:sym typeface="Huawei Sans" panose="020C0503030203020204" pitchFamily="34" charset="0"/>
              </a:rPr>
              <a:t>对应的标签栈，对报文进行标签操作，并根据栈顶标签逐跳查找转发出接口，指导数据报文转发到隧道目的地址。主要分为基于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邻接标签转发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基于节点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+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邻接标签转发</a:t>
            </a:r>
            <a:r>
              <a:rPr lang="zh-CN" altLang="en-US" sz="1800" dirty="0">
                <a:sym typeface="Huawei Sans" panose="020C0503030203020204" pitchFamily="34" charset="0"/>
              </a:rPr>
              <a:t>：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基于邻接标签转发：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基于邻接标签转发也被称为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严格路径方式</a:t>
            </a:r>
            <a:r>
              <a:rPr lang="zh-CN" altLang="en-US" sz="1600" dirty="0">
                <a:sym typeface="Huawei Sans" panose="020C0503030203020204" pitchFamily="34" charset="0"/>
              </a:rPr>
              <a:t>转发。标签栈严格确定转发路径，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不支持负载分担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基于节点</a:t>
            </a:r>
            <a:r>
              <a:rPr lang="en-US" altLang="zh-CN" sz="1800" dirty="0">
                <a:sym typeface="Huawei Sans" panose="020C0503030203020204" pitchFamily="34" charset="0"/>
              </a:rPr>
              <a:t>+</a:t>
            </a:r>
            <a:r>
              <a:rPr lang="zh-CN" altLang="en-US" sz="1800" dirty="0">
                <a:sym typeface="Huawei Sans" panose="020C0503030203020204" pitchFamily="34" charset="0"/>
              </a:rPr>
              <a:t>邻接标签转发：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基于节点标签</a:t>
            </a:r>
            <a:r>
              <a:rPr lang="en-US" altLang="zh-CN" sz="1600" dirty="0">
                <a:sym typeface="Huawei Sans" panose="020C0503030203020204" pitchFamily="34" charset="0"/>
              </a:rPr>
              <a:t>+</a:t>
            </a:r>
            <a:r>
              <a:rPr lang="zh-CN" altLang="en-US" sz="1600" dirty="0">
                <a:sym typeface="Huawei Sans" panose="020C0503030203020204" pitchFamily="34" charset="0"/>
              </a:rPr>
              <a:t>邻接标签转发也称作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松散路径方式转发</a:t>
            </a:r>
            <a:r>
              <a:rPr lang="zh-CN" altLang="en-US" sz="1600" dirty="0">
                <a:sym typeface="Huawei Sans" panose="020C0503030203020204" pitchFamily="34" charset="0"/>
              </a:rPr>
              <a:t>。设备在处理节点标签时，可以按照最短路径进行转发，也可以进行负载分担，其路径并不是严格固定。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9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SR-MPLS BE</a:t>
            </a:r>
            <a:r>
              <a:rPr lang="zh-CN" altLang="en-US">
                <a:sym typeface="Huawei Sans" panose="020C0503030203020204" pitchFamily="34" charset="0"/>
              </a:rPr>
              <a:t>与</a:t>
            </a:r>
            <a:r>
              <a:rPr lang="en-US" altLang="zh-CN">
                <a:sym typeface="Huawei Sans" panose="020C0503030203020204" pitchFamily="34" charset="0"/>
              </a:rPr>
              <a:t>SR-MPLS TE</a:t>
            </a:r>
            <a:r>
              <a:rPr lang="zh-CN" altLang="en-US">
                <a:sym typeface="Huawei Sans" panose="020C0503030203020204" pitchFamily="34" charset="0"/>
              </a:rPr>
              <a:t>的流量导入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流量导入：</a:t>
            </a:r>
            <a:r>
              <a:rPr lang="en-US" altLang="zh-CN" sz="1800" dirty="0">
                <a:sym typeface="Huawei Sans" panose="020C0503030203020204" pitchFamily="34" charset="0"/>
              </a:rPr>
              <a:t>SR</a:t>
            </a:r>
            <a:r>
              <a:rPr lang="zh-CN" altLang="en-US" sz="1800" dirty="0">
                <a:sym typeface="Huawei Sans" panose="020C0503030203020204" pitchFamily="34" charset="0"/>
              </a:rPr>
              <a:t>隧道建立完成后，需将业务流量引入到</a:t>
            </a:r>
            <a:r>
              <a:rPr lang="en-US" altLang="zh-CN" sz="1800" dirty="0">
                <a:sym typeface="Huawei Sans" panose="020C0503030203020204" pitchFamily="34" charset="0"/>
              </a:rPr>
              <a:t>SR</a:t>
            </a:r>
            <a:r>
              <a:rPr lang="zh-CN" altLang="en-US" sz="1800" dirty="0">
                <a:sym typeface="Huawei Sans" panose="020C0503030203020204" pitchFamily="34" charset="0"/>
              </a:rPr>
              <a:t>隧道。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SR-MPLS BE</a:t>
            </a:r>
            <a:r>
              <a:rPr lang="zh-CN" altLang="en-US" sz="1800" dirty="0">
                <a:sym typeface="Huawei Sans" panose="020C0503030203020204" pitchFamily="34" charset="0"/>
              </a:rPr>
              <a:t>（没有隧道接口）引流方式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隧道策略：按照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隧道的优先级顺序</a:t>
            </a:r>
            <a:r>
              <a:rPr lang="zh-CN" altLang="en-US" sz="1600" dirty="0">
                <a:sym typeface="Huawei Sans" panose="020C0503030203020204" pitchFamily="34" charset="0"/>
              </a:rPr>
              <a:t>选择</a:t>
            </a:r>
            <a:r>
              <a:rPr lang="en-US" altLang="zh-CN" sz="1600" dirty="0">
                <a:sym typeface="Huawei Sans" panose="020C0503030203020204" pitchFamily="34" charset="0"/>
              </a:rPr>
              <a:t>SR-BE</a:t>
            </a:r>
            <a:r>
              <a:rPr lang="zh-CN" altLang="en-US" sz="1600" dirty="0">
                <a:sym typeface="Huawei Sans" panose="020C0503030203020204" pitchFamily="34" charset="0"/>
              </a:rPr>
              <a:t>隧道。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静态路由：将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静态路由的下一跳</a:t>
            </a:r>
            <a:r>
              <a:rPr lang="zh-CN" altLang="en-US" sz="1600" dirty="0">
                <a:sym typeface="Huawei Sans" panose="020C0503030203020204" pitchFamily="34" charset="0"/>
              </a:rPr>
              <a:t>指定为</a:t>
            </a:r>
            <a:r>
              <a:rPr lang="en-US" altLang="zh-CN" sz="1600" dirty="0">
                <a:sym typeface="Huawei Sans" panose="020C0503030203020204" pitchFamily="34" charset="0"/>
              </a:rPr>
              <a:t>SR-BE</a:t>
            </a:r>
            <a:r>
              <a:rPr lang="zh-CN" altLang="en-US" sz="1600" dirty="0">
                <a:sym typeface="Huawei Sans" panose="020C0503030203020204" pitchFamily="34" charset="0"/>
              </a:rPr>
              <a:t>隧道的目的地址，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根据下一跳地址迭代到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SR-BE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隧道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根据路由下一跳迭代：</a:t>
            </a:r>
            <a:r>
              <a:rPr lang="en-US" altLang="zh-CN" sz="1600" dirty="0">
                <a:sym typeface="Huawei Sans" panose="020C0503030203020204" pitchFamily="34" charset="0"/>
              </a:rPr>
              <a:t>BGP</a:t>
            </a:r>
            <a:r>
              <a:rPr lang="zh-CN" altLang="en-US" sz="1600" dirty="0">
                <a:sym typeface="Huawei Sans" panose="020C0503030203020204" pitchFamily="34" charset="0"/>
              </a:rPr>
              <a:t>等公网路由可以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根据路由的下一跳迭代到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SR-BE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隧道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SR-MPLS TE</a:t>
            </a:r>
            <a:r>
              <a:rPr lang="zh-CN" altLang="en-US" sz="1800" dirty="0">
                <a:sym typeface="Huawei Sans" panose="020C0503030203020204" pitchFamily="34" charset="0"/>
              </a:rPr>
              <a:t>（隧道接口）引流方式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隧道策略：按照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隧道的优先级顺序</a:t>
            </a:r>
            <a:r>
              <a:rPr lang="zh-CN" altLang="en-US" sz="1600" dirty="0">
                <a:sym typeface="Huawei Sans" panose="020C0503030203020204" pitchFamily="34" charset="0"/>
              </a:rPr>
              <a:t>选择</a:t>
            </a:r>
            <a:r>
              <a:rPr lang="en-US" altLang="zh-CN" sz="1600" dirty="0">
                <a:sym typeface="Huawei Sans" panose="020C0503030203020204" pitchFamily="34" charset="0"/>
              </a:rPr>
              <a:t>SR-TE</a:t>
            </a:r>
            <a:r>
              <a:rPr lang="zh-CN" altLang="en-US" sz="1600" dirty="0">
                <a:sym typeface="Huawei Sans" panose="020C0503030203020204" pitchFamily="34" charset="0"/>
              </a:rPr>
              <a:t>隧道。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静态路由：配置静态路由时，将路由的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出接口指定为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SR-TE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隧道的接口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自动路由：将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SR-TE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隧道当做逻辑链路参与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路由计算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策略路由：在策略路由的执行执行语句中，使用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SR-TE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隧道接口作为出接口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  <p:sp>
        <p:nvSpPr>
          <p:cNvPr id="4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早期</a:t>
            </a:r>
            <a:r>
              <a:rPr lang="en-US" altLang="zh-CN">
                <a:sym typeface="Huawei Sans" panose="020C0503030203020204" pitchFamily="34" charset="0"/>
              </a:rPr>
              <a:t>SR-MPLS TE</a:t>
            </a:r>
            <a:r>
              <a:rPr lang="zh-CN" altLang="en-US">
                <a:sym typeface="Huawei Sans" panose="020C0503030203020204" pitchFamily="34" charset="0"/>
              </a:rPr>
              <a:t>不足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 bwMode="gray">
          <a:xfrm>
            <a:off x="877146" y="1604856"/>
            <a:ext cx="5778500" cy="18158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[R1] interface tunnel1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address unnumbered interface LoopBack0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tunnel-protocol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destination 3.3.3.3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tunnel-id 1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signal-protocol segment-routing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…</a:t>
            </a:r>
            <a:endParaRPr lang="en-US" altLang="zh-CN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占位符 2"/>
          <p:cNvSpPr txBox="1"/>
          <p:nvPr/>
        </p:nvSpPr>
        <p:spPr bwMode="gray">
          <a:xfrm>
            <a:off x="455612" y="3611992"/>
            <a:ext cx="11002253" cy="17290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>
            <a:spAutoFit/>
          </a:bodyPr>
          <a:lstStyle>
            <a:lvl1pPr marL="302260" indent="-302260" algn="just" defTabSz="913765" rtl="0" eaLnBrk="1" fontAlgn="auto" latinLnBrk="0" hangingPunct="1">
              <a:lnSpc>
                <a:spcPct val="140000"/>
              </a:lnSpc>
              <a:spcBef>
                <a:spcPts val="790"/>
              </a:spcBef>
              <a:buClrTx/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隧道接口方式实现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简单且易于理解，但是有以下不足：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隧道接口和流量导入独立实现造成引流方式复杂和性能不高。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隧道需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要预先配置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部署，在无法明确隧道终点场景下有明显限制。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基于隧道接口实现的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ECMP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使用场景受限。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2836630"/>
          </a:xfrm>
        </p:spPr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早期的</a:t>
            </a:r>
            <a:r>
              <a:rPr lang="en-US" altLang="zh-CN" sz="1600" dirty="0"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sym typeface="Huawei Sans" panose="020C0503030203020204" pitchFamily="34" charset="0"/>
              </a:rPr>
              <a:t>沿用</a:t>
            </a:r>
            <a:r>
              <a:rPr lang="en-US" altLang="zh-CN" sz="1600" dirty="0">
                <a:sym typeface="Huawei Sans" panose="020C0503030203020204" pitchFamily="34" charset="0"/>
              </a:rPr>
              <a:t>RSVP-TE</a:t>
            </a:r>
            <a:r>
              <a:rPr lang="zh-CN" altLang="en-US" sz="1600" dirty="0">
                <a:sym typeface="Huawei Sans" panose="020C0503030203020204" pitchFamily="34" charset="0"/>
              </a:rPr>
              <a:t>的“隧道接口”概念，采用隧道接口实现</a:t>
            </a:r>
            <a:r>
              <a:rPr lang="en-US" altLang="zh-CN" sz="1600" dirty="0"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8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 Policy</a:t>
            </a:r>
            <a:r>
              <a:rPr lang="zh-CN" altLang="en-US" dirty="0">
                <a:sym typeface="Huawei Sans" panose="020C0503030203020204" pitchFamily="34" charset="0"/>
              </a:rPr>
              <a:t>简介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 bwMode="gray">
          <a:xfrm>
            <a:off x="1594485" y="3348990"/>
            <a:ext cx="8294370" cy="20612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&lt;PE1&gt;display tunnel-info all 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ID                         Type                Destination                        Status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----------------------------------------------------------------------------------------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0x0000000001004c4c04     ldp                  1.0.0.12                                UP  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0x000000002900000004   srbe-lsp            1.0.0.12                                UP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0x000000000300002001  </a:t>
            </a:r>
            <a:r>
              <a:rPr lang="en-US" altLang="zh-CN" sz="16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sr-te                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1.0.0.12                                UP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0x00000000320000c001   </a:t>
            </a:r>
            <a:r>
              <a:rPr lang="en-US" altLang="zh-CN" sz="16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srtepolicy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1.0.0.12                                UP  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0x000000003400002001  srv6tepolicy        FC01::12                               UP  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0"/>
            <a:ext cx="11293475" cy="2960167"/>
          </a:xfrm>
        </p:spPr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SR Policy</a:t>
            </a:r>
            <a:r>
              <a:rPr lang="zh-CN" altLang="en-US" sz="1600" dirty="0">
                <a:sym typeface="Huawei Sans" panose="020C0503030203020204" pitchFamily="34" charset="0"/>
              </a:rPr>
              <a:t>使用段列表（</a:t>
            </a:r>
            <a:r>
              <a:rPr lang="en-US" altLang="zh-CN" sz="1600" dirty="0">
                <a:sym typeface="Huawei Sans" panose="020C0503030203020204" pitchFamily="34" charset="0"/>
              </a:rPr>
              <a:t>Segment List</a:t>
            </a:r>
            <a:r>
              <a:rPr lang="zh-CN" altLang="en-US" sz="1600" dirty="0">
                <a:sym typeface="Huawei Sans" panose="020C0503030203020204" pitchFamily="34" charset="0"/>
              </a:rPr>
              <a:t>）指定转发路径，但是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抛弃了隧道接口</a:t>
            </a:r>
            <a:r>
              <a:rPr lang="zh-CN" altLang="en-US" sz="1600" dirty="0">
                <a:sym typeface="Huawei Sans" panose="020C0503030203020204" pitchFamily="34" charset="0"/>
              </a:rPr>
              <a:t>的概念。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SR Policy</a:t>
            </a:r>
            <a:r>
              <a:rPr lang="zh-CN" altLang="en-US" sz="1600" dirty="0">
                <a:sym typeface="Huawei Sans" panose="020C0503030203020204" pitchFamily="34" charset="0"/>
              </a:rPr>
              <a:t>根据</a:t>
            </a:r>
            <a:r>
              <a:rPr lang="en-US" altLang="zh-CN" sz="1600" dirty="0">
                <a:sym typeface="Huawei Sans" panose="020C0503030203020204" pitchFamily="34" charset="0"/>
              </a:rPr>
              <a:t>Segment</a:t>
            </a:r>
            <a:r>
              <a:rPr lang="zh-CN" altLang="en-US" sz="1600" dirty="0">
                <a:sym typeface="Huawei Sans" panose="020C0503030203020204" pitchFamily="34" charset="0"/>
              </a:rPr>
              <a:t>不同分为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SR-MPLS Policy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SRv6 Policy</a:t>
            </a:r>
            <a:r>
              <a:rPr lang="zh-CN" altLang="en-US" sz="1600" dirty="0">
                <a:sym typeface="Huawei Sans" panose="020C0503030203020204" pitchFamily="34" charset="0"/>
              </a:rPr>
              <a:t>。本文将介绍</a:t>
            </a:r>
            <a:r>
              <a:rPr lang="en-US" altLang="zh-CN" sz="1600" dirty="0">
                <a:sym typeface="Huawei Sans" panose="020C0503030203020204" pitchFamily="34" charset="0"/>
              </a:rPr>
              <a:t>SR-MPLS Policy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控制器基于代表业务</a:t>
            </a:r>
            <a:r>
              <a:rPr lang="en-US" altLang="zh-CN" sz="1600" dirty="0">
                <a:sym typeface="Huawei Sans" panose="020C0503030203020204" pitchFamily="34" charset="0"/>
              </a:rPr>
              <a:t>SLA</a:t>
            </a:r>
            <a:r>
              <a:rPr lang="zh-CN" altLang="en-US" sz="1600" dirty="0"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ym typeface="Huawei Sans" panose="020C0503030203020204" pitchFamily="34" charset="0"/>
              </a:rPr>
              <a:t>Color</a:t>
            </a:r>
            <a:r>
              <a:rPr lang="zh-CN" altLang="en-US" sz="1600" dirty="0">
                <a:sym typeface="Huawei Sans" panose="020C0503030203020204" pitchFamily="34" charset="0"/>
              </a:rPr>
              <a:t>属性计算路径，并将结果下发转发器构成</a:t>
            </a:r>
            <a:r>
              <a:rPr lang="en-US" altLang="zh-CN" sz="1600" dirty="0">
                <a:sym typeface="Huawei Sans" panose="020C0503030203020204" pitchFamily="34" charset="0"/>
              </a:rPr>
              <a:t>SR-MPLS Policy</a:t>
            </a:r>
            <a:r>
              <a:rPr lang="zh-CN" altLang="en-US" sz="1600" dirty="0">
                <a:sym typeface="Huawei Sans" panose="020C0503030203020204" pitchFamily="34" charset="0"/>
              </a:rPr>
              <a:t>隧道（如图所示转发器上隧道信息不同于</a:t>
            </a:r>
            <a:r>
              <a:rPr lang="en-US" altLang="zh-CN" sz="1600" dirty="0">
                <a:sym typeface="Huawei Sans" panose="020C0503030203020204" pitchFamily="34" charset="0"/>
              </a:rPr>
              <a:t>SR-TE</a:t>
            </a:r>
            <a:r>
              <a:rPr lang="zh-CN" altLang="en-US" sz="1600" dirty="0">
                <a:sym typeface="Huawei Sans" panose="020C0503030203020204" pitchFamily="34" charset="0"/>
              </a:rPr>
              <a:t>隧道）。网络头端结点通过业务路由的</a:t>
            </a:r>
            <a:r>
              <a:rPr lang="en-US" altLang="zh-CN" sz="1600" dirty="0">
                <a:sym typeface="Huawei Sans" panose="020C0503030203020204" pitchFamily="34" charset="0"/>
              </a:rPr>
              <a:t>Color</a:t>
            </a:r>
            <a:r>
              <a:rPr lang="zh-CN" altLang="en-US" sz="1600" dirty="0">
                <a:sym typeface="Huawei Sans" panose="020C0503030203020204" pitchFamily="34" charset="0"/>
              </a:rPr>
              <a:t>团体属性和下一跳信息匹配到对应的</a:t>
            </a:r>
            <a:r>
              <a:rPr lang="en-US" altLang="zh-CN" sz="1600" dirty="0">
                <a:sym typeface="Huawei Sans" panose="020C0503030203020204" pitchFamily="34" charset="0"/>
              </a:rPr>
              <a:t>SR-MPLS Policy</a:t>
            </a:r>
            <a:r>
              <a:rPr lang="zh-CN" altLang="en-US" sz="1600" dirty="0">
                <a:sym typeface="Huawei Sans" panose="020C0503030203020204" pitchFamily="34" charset="0"/>
              </a:rPr>
              <a:t>隧道进行业务转发。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7" name="燕尾形 6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五边形 7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燕尾形 8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燕尾形 9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SR-MPLS Policy</a:t>
            </a:r>
            <a:r>
              <a:rPr lang="zh-CN" altLang="en-US" dirty="0">
                <a:sym typeface="Huawei Sans" panose="020C0503030203020204" pitchFamily="34" charset="0"/>
              </a:rPr>
              <a:t>元组标识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一个</a:t>
            </a:r>
            <a:r>
              <a:rPr lang="en-US" altLang="zh-CN" sz="1800" dirty="0">
                <a:sym typeface="Huawei Sans" panose="020C0503030203020204" pitchFamily="34" charset="0"/>
              </a:rPr>
              <a:t>SR-MPLS Policy</a:t>
            </a:r>
            <a:r>
              <a:rPr lang="zh-CN" altLang="en-US" sz="1800" dirty="0">
                <a:sym typeface="Huawei Sans" panose="020C0503030203020204" pitchFamily="34" charset="0"/>
              </a:rPr>
              <a:t>由一个元组标识</a:t>
            </a:r>
            <a:r>
              <a:rPr lang="en-US" altLang="zh-CN" sz="1800" dirty="0">
                <a:sym typeface="Huawei Sans" panose="020C0503030203020204" pitchFamily="34" charset="0"/>
              </a:rPr>
              <a:t>&lt;headend, color, endpoint&gt;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对于一个指定的节点</a:t>
            </a:r>
            <a:r>
              <a:rPr lang="en-US" altLang="zh-CN" sz="1800" dirty="0">
                <a:sym typeface="Huawei Sans" panose="020C0503030203020204" pitchFamily="34" charset="0"/>
              </a:rPr>
              <a:t>SR-MPLS Policy</a:t>
            </a:r>
            <a:r>
              <a:rPr lang="zh-CN" altLang="en-US" sz="1800" dirty="0">
                <a:sym typeface="Huawei Sans" panose="020C0503030203020204" pitchFamily="34" charset="0"/>
              </a:rPr>
              <a:t>则由</a:t>
            </a:r>
            <a:r>
              <a:rPr lang="en-US" altLang="zh-CN" sz="1800" dirty="0">
                <a:sym typeface="Huawei Sans" panose="020C0503030203020204" pitchFamily="34" charset="0"/>
              </a:rPr>
              <a:t>&lt;color, endpoint&gt;</a:t>
            </a:r>
            <a:r>
              <a:rPr lang="zh-CN" altLang="en-US" sz="1800" dirty="0">
                <a:sym typeface="Huawei Sans" panose="020C0503030203020204" pitchFamily="34" charset="0"/>
              </a:rPr>
              <a:t>标识：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800" dirty="0">
                <a:sym typeface="Huawei Sans" panose="020C0503030203020204" pitchFamily="34" charset="0"/>
              </a:rPr>
              <a:t>头端（</a:t>
            </a:r>
            <a:r>
              <a:rPr lang="en-US" altLang="zh-CN" sz="1800" dirty="0">
                <a:sym typeface="Huawei Sans" panose="020C0503030203020204" pitchFamily="34" charset="0"/>
              </a:rPr>
              <a:t>headend</a:t>
            </a:r>
            <a:r>
              <a:rPr lang="zh-CN" altLang="en-US" sz="1800" dirty="0">
                <a:sym typeface="Huawei Sans" panose="020C0503030203020204" pitchFamily="34" charset="0"/>
              </a:rPr>
              <a:t>）：</a:t>
            </a:r>
            <a:r>
              <a:rPr lang="en-US" altLang="zh-CN" sz="1800" dirty="0">
                <a:sym typeface="Huawei Sans" panose="020C0503030203020204" pitchFamily="34" charset="0"/>
              </a:rPr>
              <a:t>SR-MPLS Policy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生成的节点</a:t>
            </a:r>
            <a:r>
              <a:rPr lang="zh-CN" altLang="en-US" sz="1800" dirty="0">
                <a:sym typeface="Huawei Sans" panose="020C0503030203020204" pitchFamily="34" charset="0"/>
              </a:rPr>
              <a:t>，一般是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全局唯一的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地址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800" dirty="0">
                <a:sym typeface="Huawei Sans" panose="020C0503030203020204" pitchFamily="34" charset="0"/>
              </a:rPr>
              <a:t>颜色（</a:t>
            </a:r>
            <a:r>
              <a:rPr lang="en-US" altLang="zh-CN" sz="1800" dirty="0">
                <a:sym typeface="Huawei Sans" panose="020C0503030203020204" pitchFamily="34" charset="0"/>
              </a:rPr>
              <a:t>color</a:t>
            </a:r>
            <a:r>
              <a:rPr lang="zh-CN" altLang="en-US" sz="1800" dirty="0">
                <a:sym typeface="Huawei Sans" panose="020C0503030203020204" pitchFamily="34" charset="0"/>
              </a:rPr>
              <a:t>）：</a:t>
            </a:r>
            <a:r>
              <a:rPr lang="en-US" altLang="zh-CN" sz="1800" dirty="0">
                <a:sym typeface="Huawei Sans" panose="020C0503030203020204" pitchFamily="34" charset="0"/>
              </a:rPr>
              <a:t>32</a:t>
            </a:r>
            <a:r>
              <a:rPr lang="zh-CN" altLang="en-US" sz="1800" dirty="0">
                <a:sym typeface="Huawei Sans" panose="020C0503030203020204" pitchFamily="34" charset="0"/>
              </a:rPr>
              <a:t>比特扩展团体属性，用于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标识某一种业务意图（例如低延时）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800" dirty="0">
                <a:sym typeface="Huawei Sans" panose="020C0503030203020204" pitchFamily="34" charset="0"/>
              </a:rPr>
              <a:t>尾端（</a:t>
            </a:r>
            <a:r>
              <a:rPr lang="en-US" altLang="zh-CN" sz="1800" dirty="0">
                <a:sym typeface="Huawei Sans" panose="020C0503030203020204" pitchFamily="34" charset="0"/>
              </a:rPr>
              <a:t>endpoint</a:t>
            </a:r>
            <a:r>
              <a:rPr lang="zh-CN" altLang="en-US" sz="1800" dirty="0">
                <a:sym typeface="Huawei Sans" panose="020C0503030203020204" pitchFamily="34" charset="0"/>
              </a:rPr>
              <a:t>）：</a:t>
            </a:r>
            <a:r>
              <a:rPr lang="en-US" altLang="zh-CN" sz="1800" dirty="0">
                <a:sym typeface="Huawei Sans" panose="020C0503030203020204" pitchFamily="34" charset="0"/>
              </a:rPr>
              <a:t>SR-MPLS Policy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目的地址</a:t>
            </a:r>
            <a:r>
              <a:rPr lang="zh-CN" altLang="en-US" sz="1800" dirty="0">
                <a:sym typeface="Huawei Sans" panose="020C0503030203020204" pitchFamily="34" charset="0"/>
              </a:rPr>
              <a:t>，一般是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全局唯一的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地址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Color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endpoint</a:t>
            </a:r>
            <a:r>
              <a:rPr lang="zh-CN" altLang="en-US" sz="1800" dirty="0">
                <a:sym typeface="Huawei Sans" panose="020C0503030203020204" pitchFamily="34" charset="0"/>
              </a:rPr>
              <a:t>被用于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SR-MPLS Policy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在特定头端标识转发路径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4" name="燕尾形 3"/>
          <p:cNvSpPr/>
          <p:nvPr/>
        </p:nvSpPr>
        <p:spPr bwMode="auto">
          <a:xfrm>
            <a:off x="10307500" y="102013"/>
            <a:ext cx="144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五边形 4"/>
          <p:cNvSpPr/>
          <p:nvPr/>
        </p:nvSpPr>
        <p:spPr bwMode="auto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燕尾形 5"/>
          <p:cNvSpPr/>
          <p:nvPr/>
        </p:nvSpPr>
        <p:spPr bwMode="auto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燕尾形 6"/>
          <p:cNvSpPr/>
          <p:nvPr/>
        </p:nvSpPr>
        <p:spPr bwMode="auto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燕尾形 10"/>
          <p:cNvSpPr/>
          <p:nvPr/>
        </p:nvSpPr>
        <p:spPr bwMode="auto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SR-MPLS Policy</a:t>
            </a:r>
            <a:r>
              <a:rPr lang="zh-CN" altLang="en-US" dirty="0">
                <a:sym typeface="Huawei Sans" panose="020C0503030203020204" pitchFamily="34" charset="0"/>
              </a:rPr>
              <a:t>标准介绍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/>
              <a:t>RFC-draft-</a:t>
            </a:r>
            <a:r>
              <a:rPr lang="en-US" altLang="zh-CN" sz="1800" dirty="0" err="1"/>
              <a:t>ietf</a:t>
            </a:r>
            <a:r>
              <a:rPr lang="en-US" altLang="zh-CN" sz="1800" dirty="0"/>
              <a:t>-spring-segment-routing-policy</a:t>
            </a:r>
            <a:r>
              <a:rPr lang="zh-CN" altLang="en-US" sz="1800" dirty="0"/>
              <a:t>中提出，</a:t>
            </a:r>
            <a:r>
              <a:rPr lang="en-US" altLang="zh-CN" sz="1800" dirty="0"/>
              <a:t>BGP</a:t>
            </a:r>
            <a:r>
              <a:rPr lang="zh-CN" altLang="en-US" sz="1800" dirty="0"/>
              <a:t>多协议扩展新增地址族</a:t>
            </a:r>
            <a:r>
              <a:rPr lang="en-US" altLang="zh-CN" sz="1800" dirty="0"/>
              <a:t>BGP SR Policy</a:t>
            </a:r>
            <a:r>
              <a:rPr lang="zh-CN" altLang="en-US" sz="1800" dirty="0"/>
              <a:t>（</a:t>
            </a:r>
            <a:r>
              <a:rPr lang="en-US" altLang="zh-CN" sz="1800" dirty="0"/>
              <a:t>SAFI=73</a:t>
            </a:r>
            <a:r>
              <a:rPr lang="zh-CN" altLang="en-US" sz="1800" dirty="0"/>
              <a:t>）用于下发</a:t>
            </a:r>
            <a:r>
              <a:rPr lang="en-US" altLang="zh-CN" sz="1800" dirty="0"/>
              <a:t>SR-MPLS Policy</a:t>
            </a:r>
            <a:r>
              <a:rPr lang="zh-CN" altLang="en-US" sz="1800" dirty="0"/>
              <a:t>：</a:t>
            </a:r>
            <a:endParaRPr lang="zh-CN" altLang="en-US" sz="1800" dirty="0"/>
          </a:p>
          <a:p>
            <a:endParaRPr lang="zh-CN" altLang="en-US" sz="1800" dirty="0"/>
          </a:p>
        </p:txBody>
      </p:sp>
      <p:grpSp>
        <p:nvGrpSpPr>
          <p:cNvPr id="4" name="组合 3"/>
          <p:cNvGrpSpPr/>
          <p:nvPr/>
        </p:nvGrpSpPr>
        <p:grpSpPr bwMode="gray">
          <a:xfrm rot="10800000">
            <a:off x="5607586" y="3672999"/>
            <a:ext cx="1032830" cy="1941018"/>
            <a:chOff x="4518703" y="2205748"/>
            <a:chExt cx="1512166" cy="2521312"/>
          </a:xfrm>
        </p:grpSpPr>
        <p:cxnSp>
          <p:nvCxnSpPr>
            <p:cNvPr id="5" name="直接连接符 4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 bwMode="gray">
          <a:xfrm flipH="1">
            <a:off x="2317108" y="3680852"/>
            <a:ext cx="1760319" cy="1933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 bwMode="gray">
          <a:xfrm flipH="1" flipV="1">
            <a:off x="2315163" y="3667503"/>
            <a:ext cx="1748548" cy="19543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 bwMode="gray">
          <a:xfrm>
            <a:off x="1252956" y="3672999"/>
            <a:ext cx="1032830" cy="1941018"/>
            <a:chOff x="4518703" y="2205748"/>
            <a:chExt cx="1512166" cy="2521312"/>
          </a:xfrm>
        </p:grpSpPr>
        <p:cxnSp>
          <p:nvCxnSpPr>
            <p:cNvPr id="10" name="直接连接符 9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/>
          <p:cNvCxnSpPr/>
          <p:nvPr/>
        </p:nvCxnSpPr>
        <p:spPr bwMode="gray">
          <a:xfrm flipH="1">
            <a:off x="2299503" y="3672999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gray">
          <a:xfrm flipH="1">
            <a:off x="2299503" y="5621870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 bwMode="gray">
          <a:xfrm flipV="1">
            <a:off x="4077427" y="3672999"/>
            <a:ext cx="0" cy="19488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 bwMode="gray">
          <a:xfrm>
            <a:off x="1187366" y="2590174"/>
            <a:ext cx="0" cy="1770912"/>
          </a:xfrm>
          <a:prstGeom prst="straightConnector1">
            <a:avLst/>
          </a:prstGeom>
          <a:ln w="38100">
            <a:solidFill>
              <a:srgbClr val="00B0F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 bwMode="gray">
          <a:xfrm>
            <a:off x="1367790" y="2776855"/>
            <a:ext cx="2988310" cy="337185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BGP-LS/BGP SR Policy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任意多边形 33"/>
          <p:cNvSpPr/>
          <p:nvPr/>
        </p:nvSpPr>
        <p:spPr bwMode="gray">
          <a:xfrm>
            <a:off x="1685691" y="3985119"/>
            <a:ext cx="4491318" cy="1308598"/>
          </a:xfrm>
          <a:custGeom>
            <a:avLst/>
            <a:gdLst>
              <a:gd name="connsiteX0" fmla="*/ 0 w 4491318"/>
              <a:gd name="connsiteY0" fmla="*/ 753035 h 1304365"/>
              <a:gd name="connsiteX1" fmla="*/ 605118 w 4491318"/>
              <a:gd name="connsiteY1" fmla="*/ 1304365 h 1304365"/>
              <a:gd name="connsiteX2" fmla="*/ 1627094 w 4491318"/>
              <a:gd name="connsiteY2" fmla="*/ 0 h 1304365"/>
              <a:gd name="connsiteX3" fmla="*/ 3859306 w 4491318"/>
              <a:gd name="connsiteY3" fmla="*/ 0 h 1304365"/>
              <a:gd name="connsiteX4" fmla="*/ 4491318 w 4491318"/>
              <a:gd name="connsiteY4" fmla="*/ 578223 h 1304365"/>
              <a:gd name="connsiteX0-1" fmla="*/ 0 w 4491318"/>
              <a:gd name="connsiteY0-2" fmla="*/ 757268 h 1308598"/>
              <a:gd name="connsiteX1-3" fmla="*/ 605118 w 4491318"/>
              <a:gd name="connsiteY1-4" fmla="*/ 1308598 h 1308598"/>
              <a:gd name="connsiteX2-5" fmla="*/ 1732928 w 4491318"/>
              <a:gd name="connsiteY2-6" fmla="*/ 0 h 1308598"/>
              <a:gd name="connsiteX3-7" fmla="*/ 3859306 w 4491318"/>
              <a:gd name="connsiteY3-8" fmla="*/ 4233 h 1308598"/>
              <a:gd name="connsiteX4-9" fmla="*/ 4491318 w 4491318"/>
              <a:gd name="connsiteY4-10" fmla="*/ 582456 h 1308598"/>
              <a:gd name="connsiteX0-11" fmla="*/ 0 w 4491318"/>
              <a:gd name="connsiteY0-12" fmla="*/ 757268 h 1308598"/>
              <a:gd name="connsiteX1-13" fmla="*/ 605118 w 4491318"/>
              <a:gd name="connsiteY1-14" fmla="*/ 1308598 h 1308598"/>
              <a:gd name="connsiteX2-15" fmla="*/ 1762561 w 4491318"/>
              <a:gd name="connsiteY2-16" fmla="*/ 0 h 1308598"/>
              <a:gd name="connsiteX3-17" fmla="*/ 3859306 w 4491318"/>
              <a:gd name="connsiteY3-18" fmla="*/ 4233 h 1308598"/>
              <a:gd name="connsiteX4-19" fmla="*/ 4491318 w 4491318"/>
              <a:gd name="connsiteY4-20" fmla="*/ 582456 h 1308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491318" h="1308598">
                <a:moveTo>
                  <a:pt x="0" y="757268"/>
                </a:moveTo>
                <a:lnTo>
                  <a:pt x="605118" y="1308598"/>
                </a:lnTo>
                <a:lnTo>
                  <a:pt x="1762561" y="0"/>
                </a:lnTo>
                <a:lnTo>
                  <a:pt x="3859306" y="4233"/>
                </a:lnTo>
                <a:lnTo>
                  <a:pt x="4491318" y="582456"/>
                </a:lnTo>
              </a:path>
            </a:pathLst>
          </a:custGeom>
          <a:noFill/>
          <a:ln w="57150">
            <a:solidFill>
              <a:srgbClr val="FF3399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 bwMode="gray">
          <a:xfrm>
            <a:off x="1456578" y="2107353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4" name="图片 3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65201" y="4394327"/>
            <a:ext cx="540000" cy="442800"/>
          </a:xfrm>
          <a:prstGeom prst="rect">
            <a:avLst/>
          </a:prstGeom>
        </p:spPr>
      </p:pic>
      <p:pic>
        <p:nvPicPr>
          <p:cNvPr id="35" name="图片 3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89408" y="3445301"/>
            <a:ext cx="540000" cy="442800"/>
          </a:xfrm>
          <a:prstGeom prst="rect">
            <a:avLst/>
          </a:prstGeom>
        </p:spPr>
      </p:pic>
      <p:pic>
        <p:nvPicPr>
          <p:cNvPr id="36" name="图片 3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89408" y="5343353"/>
            <a:ext cx="540000" cy="442800"/>
          </a:xfrm>
          <a:prstGeom prst="rect">
            <a:avLst/>
          </a:prstGeom>
        </p:spPr>
      </p:pic>
      <p:pic>
        <p:nvPicPr>
          <p:cNvPr id="37" name="图片 3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15945" y="3445301"/>
            <a:ext cx="540000" cy="442800"/>
          </a:xfrm>
          <a:prstGeom prst="rect">
            <a:avLst/>
          </a:prstGeom>
        </p:spPr>
      </p:pic>
      <p:pic>
        <p:nvPicPr>
          <p:cNvPr id="38" name="图片 3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15945" y="5343353"/>
            <a:ext cx="540000" cy="442800"/>
          </a:xfrm>
          <a:prstGeom prst="rect">
            <a:avLst/>
          </a:prstGeom>
        </p:spPr>
      </p:pic>
      <p:pic>
        <p:nvPicPr>
          <p:cNvPr id="39" name="图片 3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307460" y="3445301"/>
            <a:ext cx="540000" cy="442800"/>
          </a:xfrm>
          <a:prstGeom prst="rect">
            <a:avLst/>
          </a:prstGeom>
        </p:spPr>
      </p:pic>
      <p:pic>
        <p:nvPicPr>
          <p:cNvPr id="40" name="图片 3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307460" y="5343353"/>
            <a:ext cx="540000" cy="442800"/>
          </a:xfrm>
          <a:prstGeom prst="rect">
            <a:avLst/>
          </a:prstGeom>
        </p:spPr>
      </p:pic>
      <p:pic>
        <p:nvPicPr>
          <p:cNvPr id="41" name="图片 4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59198" y="4394327"/>
            <a:ext cx="540000" cy="442800"/>
          </a:xfrm>
          <a:prstGeom prst="rect">
            <a:avLst/>
          </a:prstGeom>
        </p:spPr>
      </p:pic>
      <p:pic>
        <p:nvPicPr>
          <p:cNvPr id="42" name="图片 41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916578" y="2100572"/>
            <a:ext cx="540000" cy="441818"/>
          </a:xfrm>
          <a:prstGeom prst="rect">
            <a:avLst/>
          </a:prstGeom>
        </p:spPr>
      </p:pic>
      <p:sp>
        <p:nvSpPr>
          <p:cNvPr id="44" name="文本占位符 3"/>
          <p:cNvSpPr txBox="1"/>
          <p:nvPr/>
        </p:nvSpPr>
        <p:spPr bwMode="gray">
          <a:xfrm>
            <a:off x="7068185" y="2776855"/>
            <a:ext cx="4752975" cy="2517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下发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组合给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节点。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在头端节点创建出一条到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节点的、带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Policy Color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当需要引用此隧道时，可以使用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Policy Color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对应到隧道。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 bwMode="gray">
          <a:xfrm>
            <a:off x="4215290" y="4069675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FF3399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endParaRPr lang="zh-CN" altLang="en-US" sz="1600">
              <a:solidFill>
                <a:srgbClr val="FF3399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 bwMode="gray">
          <a:xfrm>
            <a:off x="795326" y="4909274"/>
            <a:ext cx="8402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 bwMode="gray">
          <a:xfrm>
            <a:off x="6314942" y="4909274"/>
            <a:ext cx="774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燕尾形 4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五边形 4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燕尾形 4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燕尾形 5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SR-MPLS Policy</a:t>
            </a:r>
            <a:r>
              <a:rPr lang="zh-CN" altLang="en-US" dirty="0">
                <a:sym typeface="Huawei Sans" panose="020C0503030203020204" pitchFamily="34" charset="0"/>
              </a:rPr>
              <a:t>方案架构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gray">
          <a:xfrm rot="10800000">
            <a:off x="5281159" y="3989768"/>
            <a:ext cx="1032830" cy="1941018"/>
            <a:chOff x="4518703" y="2205748"/>
            <a:chExt cx="1512166" cy="2521312"/>
          </a:xfrm>
        </p:grpSpPr>
        <p:cxnSp>
          <p:nvCxnSpPr>
            <p:cNvPr id="4" name="直接连接符 3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直接连接符 5"/>
          <p:cNvCxnSpPr/>
          <p:nvPr/>
        </p:nvCxnSpPr>
        <p:spPr bwMode="gray">
          <a:xfrm flipH="1">
            <a:off x="1990681" y="3997621"/>
            <a:ext cx="1760319" cy="1933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gray">
          <a:xfrm flipH="1" flipV="1">
            <a:off x="1988736" y="3984272"/>
            <a:ext cx="1748548" cy="19543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 bwMode="gray">
          <a:xfrm>
            <a:off x="926529" y="3989768"/>
            <a:ext cx="1032830" cy="1941018"/>
            <a:chOff x="4518703" y="2205748"/>
            <a:chExt cx="1512166" cy="2521312"/>
          </a:xfrm>
        </p:grpSpPr>
        <p:cxnSp>
          <p:nvCxnSpPr>
            <p:cNvPr id="9" name="直接连接符 8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直接连接符 10"/>
          <p:cNvCxnSpPr/>
          <p:nvPr/>
        </p:nvCxnSpPr>
        <p:spPr bwMode="gray">
          <a:xfrm flipH="1">
            <a:off x="1973076" y="3989768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 bwMode="gray">
          <a:xfrm flipH="1">
            <a:off x="1973076" y="5938639"/>
            <a:ext cx="3312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gray">
          <a:xfrm flipV="1">
            <a:off x="3751000" y="3989768"/>
            <a:ext cx="0" cy="19488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 bwMode="gray">
          <a:xfrm>
            <a:off x="926529" y="2465649"/>
            <a:ext cx="0" cy="2169107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 bwMode="gray">
          <a:xfrm>
            <a:off x="1381125" y="2459990"/>
            <a:ext cx="1701800" cy="337185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</a:t>
            </a:r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任意多边形 33"/>
          <p:cNvSpPr/>
          <p:nvPr/>
        </p:nvSpPr>
        <p:spPr bwMode="gray">
          <a:xfrm>
            <a:off x="1359264" y="4301888"/>
            <a:ext cx="4491318" cy="1308598"/>
          </a:xfrm>
          <a:custGeom>
            <a:avLst/>
            <a:gdLst>
              <a:gd name="connsiteX0" fmla="*/ 0 w 4491318"/>
              <a:gd name="connsiteY0" fmla="*/ 753035 h 1304365"/>
              <a:gd name="connsiteX1" fmla="*/ 605118 w 4491318"/>
              <a:gd name="connsiteY1" fmla="*/ 1304365 h 1304365"/>
              <a:gd name="connsiteX2" fmla="*/ 1627094 w 4491318"/>
              <a:gd name="connsiteY2" fmla="*/ 0 h 1304365"/>
              <a:gd name="connsiteX3" fmla="*/ 3859306 w 4491318"/>
              <a:gd name="connsiteY3" fmla="*/ 0 h 1304365"/>
              <a:gd name="connsiteX4" fmla="*/ 4491318 w 4491318"/>
              <a:gd name="connsiteY4" fmla="*/ 578223 h 1304365"/>
              <a:gd name="connsiteX0-1" fmla="*/ 0 w 4491318"/>
              <a:gd name="connsiteY0-2" fmla="*/ 757268 h 1308598"/>
              <a:gd name="connsiteX1-3" fmla="*/ 605118 w 4491318"/>
              <a:gd name="connsiteY1-4" fmla="*/ 1308598 h 1308598"/>
              <a:gd name="connsiteX2-5" fmla="*/ 1732928 w 4491318"/>
              <a:gd name="connsiteY2-6" fmla="*/ 0 h 1308598"/>
              <a:gd name="connsiteX3-7" fmla="*/ 3859306 w 4491318"/>
              <a:gd name="connsiteY3-8" fmla="*/ 4233 h 1308598"/>
              <a:gd name="connsiteX4-9" fmla="*/ 4491318 w 4491318"/>
              <a:gd name="connsiteY4-10" fmla="*/ 582456 h 1308598"/>
              <a:gd name="connsiteX0-11" fmla="*/ 0 w 4491318"/>
              <a:gd name="connsiteY0-12" fmla="*/ 757268 h 1308598"/>
              <a:gd name="connsiteX1-13" fmla="*/ 605118 w 4491318"/>
              <a:gd name="connsiteY1-14" fmla="*/ 1308598 h 1308598"/>
              <a:gd name="connsiteX2-15" fmla="*/ 1762561 w 4491318"/>
              <a:gd name="connsiteY2-16" fmla="*/ 0 h 1308598"/>
              <a:gd name="connsiteX3-17" fmla="*/ 3859306 w 4491318"/>
              <a:gd name="connsiteY3-18" fmla="*/ 4233 h 1308598"/>
              <a:gd name="connsiteX4-19" fmla="*/ 4491318 w 4491318"/>
              <a:gd name="connsiteY4-20" fmla="*/ 582456 h 1308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491318" h="1308598">
                <a:moveTo>
                  <a:pt x="0" y="757268"/>
                </a:moveTo>
                <a:lnTo>
                  <a:pt x="605118" y="1308598"/>
                </a:lnTo>
                <a:lnTo>
                  <a:pt x="1762561" y="0"/>
                </a:lnTo>
                <a:lnTo>
                  <a:pt x="3859306" y="4233"/>
                </a:lnTo>
                <a:lnTo>
                  <a:pt x="4491318" y="582456"/>
                </a:lnTo>
              </a:path>
            </a:pathLst>
          </a:custGeom>
          <a:noFill/>
          <a:ln w="57150">
            <a:solidFill>
              <a:srgbClr val="FF3399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 bwMode="gray">
          <a:xfrm>
            <a:off x="422163" y="1419800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8" name="图片 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8774" y="4711096"/>
            <a:ext cx="540000" cy="442800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662981" y="3762070"/>
            <a:ext cx="540000" cy="442800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662981" y="5660122"/>
            <a:ext cx="540000" cy="442800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89518" y="3762070"/>
            <a:ext cx="540000" cy="442800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89518" y="5660122"/>
            <a:ext cx="540000" cy="44280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81033" y="3762070"/>
            <a:ext cx="540000" cy="442800"/>
          </a:xfrm>
          <a:prstGeom prst="rect">
            <a:avLst/>
          </a:prstGeom>
        </p:spPr>
      </p:pic>
      <p:pic>
        <p:nvPicPr>
          <p:cNvPr id="24" name="图片 2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81033" y="5660122"/>
            <a:ext cx="540000" cy="442800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32771" y="4711096"/>
            <a:ext cx="540000" cy="442800"/>
          </a:xfrm>
          <a:prstGeom prst="rect">
            <a:avLst/>
          </a:prstGeom>
        </p:spPr>
      </p:pic>
      <p:pic>
        <p:nvPicPr>
          <p:cNvPr id="26" name="图片 25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704364" y="1910200"/>
            <a:ext cx="540000" cy="441818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 bwMode="gray">
          <a:xfrm>
            <a:off x="3888863" y="4386444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FF3399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endParaRPr lang="zh-CN" altLang="en-US" sz="1600">
              <a:solidFill>
                <a:srgbClr val="FF3399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468899" y="5226043"/>
            <a:ext cx="8402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5988515" y="5226043"/>
            <a:ext cx="774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 bwMode="gray">
          <a:xfrm>
            <a:off x="1381125" y="2895600"/>
            <a:ext cx="2091055" cy="33718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 BGP SR Policy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 bwMode="gray">
          <a:xfrm>
            <a:off x="1381125" y="3315335"/>
            <a:ext cx="2125345" cy="33718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 NETCONF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占位符 3"/>
          <p:cNvSpPr txBox="1"/>
          <p:nvPr/>
        </p:nvSpPr>
        <p:spPr bwMode="gray">
          <a:xfrm>
            <a:off x="4870075" y="1171327"/>
            <a:ext cx="7084985" cy="3117704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占位符 3"/>
          <p:cNvSpPr txBox="1"/>
          <p:nvPr/>
        </p:nvSpPr>
        <p:spPr bwMode="gray">
          <a:xfrm>
            <a:off x="6076889" y="2116308"/>
            <a:ext cx="5644014" cy="2491457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在华为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解决方案架构中，包含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SR Policy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三个关键协议：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95325" lvl="1" indent="-342900"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收集隧道拓扑、网络带宽、链路时延等信息并上报隧道状态，用于控制器计算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路径和隧道状态呈现。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95325" lvl="1" indent="-342900"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SR Policy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用于控制器下发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信息（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headend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endpoint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等）。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95325" lvl="1" indent="-342900"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用于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下发业务接口、路由策略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（添加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属性）等其他配置。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燕尾形 35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五边形 36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燕尾形 37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燕尾形 38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SR-MPLS Policy</a:t>
            </a:r>
            <a:r>
              <a:rPr lang="zh-CN" altLang="en-US" dirty="0">
                <a:sym typeface="Huawei Sans" panose="020C0503030203020204" pitchFamily="34" charset="0"/>
              </a:rPr>
              <a:t>模型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 bwMode="gray">
          <a:xfrm>
            <a:off x="812576" y="3699686"/>
            <a:ext cx="1127105" cy="396081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2600582" y="3719733"/>
            <a:ext cx="1434193" cy="339941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候选路径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 bwMode="gray">
          <a:xfrm>
            <a:off x="2600582" y="4078758"/>
            <a:ext cx="1434193" cy="339941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优先级 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矩形 8"/>
          <p:cNvSpPr/>
          <p:nvPr/>
        </p:nvSpPr>
        <p:spPr bwMode="gray">
          <a:xfrm>
            <a:off x="2600582" y="4791575"/>
            <a:ext cx="1434193" cy="339941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候选路径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矩形 9"/>
          <p:cNvSpPr/>
          <p:nvPr/>
        </p:nvSpPr>
        <p:spPr bwMode="gray">
          <a:xfrm>
            <a:off x="2600582" y="5150600"/>
            <a:ext cx="1434193" cy="339941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优先级 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矩形 10"/>
          <p:cNvSpPr/>
          <p:nvPr/>
        </p:nvSpPr>
        <p:spPr bwMode="gray">
          <a:xfrm>
            <a:off x="4736876" y="2848142"/>
            <a:ext cx="1736968" cy="339941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List 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矩形 11"/>
          <p:cNvSpPr/>
          <p:nvPr/>
        </p:nvSpPr>
        <p:spPr bwMode="gray">
          <a:xfrm>
            <a:off x="4736876" y="3207168"/>
            <a:ext cx="1736968" cy="339941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权重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矩形 14"/>
          <p:cNvSpPr/>
          <p:nvPr/>
        </p:nvSpPr>
        <p:spPr bwMode="gray">
          <a:xfrm>
            <a:off x="4736876" y="3728359"/>
            <a:ext cx="1736968" cy="339941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List 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gray">
          <a:xfrm>
            <a:off x="4736876" y="4100085"/>
            <a:ext cx="1736968" cy="339941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权重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8" name="直接连接符 17"/>
          <p:cNvCxnSpPr>
            <a:stCxn id="6" idx="3"/>
            <a:endCxn id="7" idx="1"/>
          </p:cNvCxnSpPr>
          <p:nvPr/>
        </p:nvCxnSpPr>
        <p:spPr bwMode="gray">
          <a:xfrm flipV="1">
            <a:off x="1939681" y="3889704"/>
            <a:ext cx="660901" cy="80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11" idx="1"/>
            <a:endCxn id="7" idx="3"/>
          </p:cNvCxnSpPr>
          <p:nvPr/>
        </p:nvCxnSpPr>
        <p:spPr bwMode="gray">
          <a:xfrm flipH="1">
            <a:off x="4034775" y="3018113"/>
            <a:ext cx="702101" cy="8715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15" idx="1"/>
            <a:endCxn id="7" idx="3"/>
          </p:cNvCxnSpPr>
          <p:nvPr/>
        </p:nvCxnSpPr>
        <p:spPr bwMode="gray">
          <a:xfrm flipH="1" flipV="1">
            <a:off x="4034775" y="3889704"/>
            <a:ext cx="702101" cy="862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6" idx="3"/>
            <a:endCxn id="9" idx="1"/>
          </p:cNvCxnSpPr>
          <p:nvPr/>
        </p:nvCxnSpPr>
        <p:spPr bwMode="gray">
          <a:xfrm>
            <a:off x="1939681" y="3897727"/>
            <a:ext cx="660901" cy="10638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32" idx="1"/>
            <a:endCxn id="9" idx="3"/>
          </p:cNvCxnSpPr>
          <p:nvPr/>
        </p:nvCxnSpPr>
        <p:spPr bwMode="gray">
          <a:xfrm flipH="1" flipV="1">
            <a:off x="4034775" y="4961546"/>
            <a:ext cx="702101" cy="1269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 bwMode="gray">
          <a:xfrm>
            <a:off x="4736876" y="4804274"/>
            <a:ext cx="1736968" cy="339941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List 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4736876" y="5163300"/>
            <a:ext cx="1736968" cy="339941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权重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8" name="组合 37"/>
          <p:cNvGrpSpPr/>
          <p:nvPr/>
        </p:nvGrpSpPr>
        <p:grpSpPr bwMode="gray">
          <a:xfrm>
            <a:off x="3189473" y="4601317"/>
            <a:ext cx="234649" cy="45719"/>
            <a:chOff x="3989546" y="4479875"/>
            <a:chExt cx="236219" cy="45719"/>
          </a:xfrm>
        </p:grpSpPr>
        <p:sp>
          <p:nvSpPr>
            <p:cNvPr id="35" name="椭圆 34"/>
            <p:cNvSpPr/>
            <p:nvPr/>
          </p:nvSpPr>
          <p:spPr bwMode="gray">
            <a:xfrm>
              <a:off x="3989546" y="4479875"/>
              <a:ext cx="45719" cy="45719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" name="椭圆 35"/>
            <p:cNvSpPr/>
            <p:nvPr/>
          </p:nvSpPr>
          <p:spPr bwMode="gray">
            <a:xfrm>
              <a:off x="4084796" y="4479875"/>
              <a:ext cx="45719" cy="45719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" name="椭圆 36"/>
            <p:cNvSpPr/>
            <p:nvPr/>
          </p:nvSpPr>
          <p:spPr bwMode="gray">
            <a:xfrm>
              <a:off x="4180046" y="4479875"/>
              <a:ext cx="45719" cy="45719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 bwMode="gray">
          <a:xfrm>
            <a:off x="5488035" y="4589672"/>
            <a:ext cx="234649" cy="45719"/>
            <a:chOff x="3989546" y="4479875"/>
            <a:chExt cx="236219" cy="45719"/>
          </a:xfrm>
          <a:solidFill>
            <a:srgbClr val="56C4D2"/>
          </a:solidFill>
        </p:grpSpPr>
        <p:sp>
          <p:nvSpPr>
            <p:cNvPr id="40" name="椭圆 39"/>
            <p:cNvSpPr/>
            <p:nvPr/>
          </p:nvSpPr>
          <p:spPr bwMode="gray">
            <a:xfrm>
              <a:off x="3989546" y="4479875"/>
              <a:ext cx="45719" cy="45719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1" name="椭圆 40"/>
            <p:cNvSpPr/>
            <p:nvPr/>
          </p:nvSpPr>
          <p:spPr bwMode="gray">
            <a:xfrm>
              <a:off x="4084796" y="4479875"/>
              <a:ext cx="45719" cy="45719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2" name="椭圆 41"/>
            <p:cNvSpPr/>
            <p:nvPr/>
          </p:nvSpPr>
          <p:spPr bwMode="gray">
            <a:xfrm>
              <a:off x="4180046" y="4479875"/>
              <a:ext cx="45719" cy="45719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 bwMode="gray">
          <a:xfrm>
            <a:off x="5488035" y="5648163"/>
            <a:ext cx="234649" cy="45719"/>
            <a:chOff x="3989546" y="4479875"/>
            <a:chExt cx="236219" cy="45719"/>
          </a:xfrm>
        </p:grpSpPr>
        <p:sp>
          <p:nvSpPr>
            <p:cNvPr id="44" name="椭圆 43"/>
            <p:cNvSpPr/>
            <p:nvPr/>
          </p:nvSpPr>
          <p:spPr bwMode="gray">
            <a:xfrm>
              <a:off x="3989546" y="4479875"/>
              <a:ext cx="45719" cy="45719"/>
            </a:xfrm>
            <a:prstGeom prst="ellipse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5" name="椭圆 44"/>
            <p:cNvSpPr/>
            <p:nvPr/>
          </p:nvSpPr>
          <p:spPr bwMode="gray">
            <a:xfrm>
              <a:off x="4084796" y="4479875"/>
              <a:ext cx="45719" cy="45719"/>
            </a:xfrm>
            <a:prstGeom prst="ellipse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" name="椭圆 45"/>
            <p:cNvSpPr/>
            <p:nvPr/>
          </p:nvSpPr>
          <p:spPr bwMode="gray">
            <a:xfrm>
              <a:off x="4180046" y="4479875"/>
              <a:ext cx="45719" cy="45719"/>
            </a:xfrm>
            <a:prstGeom prst="ellipse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7" name="文本框 46"/>
          <p:cNvSpPr txBox="1"/>
          <p:nvPr/>
        </p:nvSpPr>
        <p:spPr bwMode="gray">
          <a:xfrm>
            <a:off x="2884250" y="3223448"/>
            <a:ext cx="723275" cy="307777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 b="1">
                <a:solidFill>
                  <a:schemeClr val="lt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ym typeface="Huawei Sans" panose="020C0503030203020204" pitchFamily="34" charset="0"/>
              </a:rPr>
              <a:t>主路径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2858412" y="5624511"/>
            <a:ext cx="723275" cy="307777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 b="1">
                <a:solidFill>
                  <a:schemeClr val="lt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ym typeface="Huawei Sans" panose="020C0503030203020204" pitchFamily="34" charset="0"/>
              </a:rPr>
              <a:t>备路径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6706235" y="3054985"/>
            <a:ext cx="5053330" cy="24612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 P1 &lt;headend, color, endpoint&gt;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Candidate-path CP1 &lt;protocol, origin, discriminator&gt;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Preference 200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Weight W1, SID-List1 &lt;SID11...SID1i&gt;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Weight W2, SID-List2 &lt;SID21...SID2j&gt;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Candidate-path CP2 &lt;protocol, origin, discriminator&gt;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Preference 100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Weight W3, SID-List3 &lt;SID31...SID3i&gt;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Weight W4, SID-List4 &lt;SID41...SID4j&gt;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771735" y="4211428"/>
            <a:ext cx="12709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rgbClr val="0070C0"/>
                </a:solidFill>
              </a:defRPr>
            </a:lvl1pPr>
          </a:lstStyle>
          <a:p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&lt;headend, color, endpoint&gt;</a:t>
            </a:r>
            <a:endParaRPr lang="en-US" altLang="zh-CN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1265570"/>
          </a:xfrm>
        </p:spPr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一个</a:t>
            </a:r>
            <a:r>
              <a:rPr lang="en-US" altLang="zh-CN" sz="1800" dirty="0">
                <a:sym typeface="Huawei Sans" panose="020C0503030203020204" pitchFamily="34" charset="0"/>
              </a:rPr>
              <a:t>SR-MPLS Policy</a:t>
            </a:r>
            <a:r>
              <a:rPr lang="zh-CN" altLang="en-US" sz="1800" dirty="0">
                <a:sym typeface="Huawei Sans" panose="020C0503030203020204" pitchFamily="34" charset="0"/>
              </a:rPr>
              <a:t>可以包含多个候选路径（</a:t>
            </a:r>
            <a:r>
              <a:rPr lang="en-US" altLang="zh-CN" sz="1800" dirty="0">
                <a:sym typeface="Huawei Sans" panose="020C0503030203020204" pitchFamily="34" charset="0"/>
              </a:rPr>
              <a:t>Candidate Path</a:t>
            </a:r>
            <a:r>
              <a:rPr lang="zh-CN" altLang="en-US" sz="1800" dirty="0">
                <a:sym typeface="Huawei Sans" panose="020C0503030203020204" pitchFamily="34" charset="0"/>
              </a:rPr>
              <a:t>）。候选路径携带优先级属性（</a:t>
            </a:r>
            <a:r>
              <a:rPr lang="en-US" altLang="zh-CN" sz="1800" dirty="0">
                <a:sym typeface="Huawei Sans" panose="020C0503030203020204" pitchFamily="34" charset="0"/>
              </a:rPr>
              <a:t>Preference</a:t>
            </a:r>
            <a:r>
              <a:rPr lang="zh-CN" altLang="en-US" sz="1800" dirty="0">
                <a:sym typeface="Huawei Sans" panose="020C0503030203020204" pitchFamily="34" charset="0"/>
              </a:rPr>
              <a:t>）。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优先级最高的有效候选路径为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SR Policy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的主路径</a:t>
            </a:r>
            <a:r>
              <a:rPr lang="zh-CN" altLang="en-US" sz="1800" dirty="0">
                <a:sym typeface="Huawei Sans" panose="020C0503030203020204" pitchFamily="34" charset="0"/>
              </a:rPr>
              <a:t>，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优先级次高的有效路径为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SR-MPLS Policy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的备份路径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一个候选路径就是</a:t>
            </a:r>
            <a:r>
              <a:rPr lang="en-US" altLang="zh-CN" sz="1800" dirty="0">
                <a:sym typeface="Huawei Sans" panose="020C0503030203020204" pitchFamily="34" charset="0"/>
              </a:rPr>
              <a:t>SR-MPLS Policy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通过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PCEP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或者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BGP SR Policy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向头端发送的段列表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51" name="燕尾形 50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五边形 51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燕尾形 52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燕尾形 53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Binding SID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1695450"/>
          </a:xfrm>
        </p:spPr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为了提供更好的扩展性、网络不透明度和服务独立性，</a:t>
            </a:r>
            <a:r>
              <a:rPr lang="en-US" altLang="zh-CN" sz="1600" dirty="0"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sym typeface="Huawei Sans" panose="020C0503030203020204" pitchFamily="34" charset="0"/>
              </a:rPr>
              <a:t>运用了</a:t>
            </a:r>
            <a:r>
              <a:rPr lang="en-US" altLang="zh-CN" sz="1600" dirty="0">
                <a:sym typeface="Huawei Sans" panose="020C0503030203020204" pitchFamily="34" charset="0"/>
              </a:rPr>
              <a:t>BSID(Binding SID) [RFC 8402-5.Binding Segment]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每条候选路径都可以被定义一个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BSID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与</a:t>
            </a:r>
            <a:r>
              <a:rPr lang="en-US" altLang="zh-CN" sz="1600" dirty="0">
                <a:sym typeface="Huawei Sans" panose="020C0503030203020204" pitchFamily="34" charset="0"/>
              </a:rPr>
              <a:t>RSVP-TE</a:t>
            </a:r>
            <a:r>
              <a:rPr lang="zh-CN" altLang="en-US" sz="1600" dirty="0">
                <a:sym typeface="Huawei Sans" panose="020C0503030203020204" pitchFamily="34" charset="0"/>
              </a:rPr>
              <a:t>隧道相似，</a:t>
            </a:r>
            <a:r>
              <a:rPr lang="en-US" altLang="zh-CN" sz="1600" dirty="0"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sym typeface="Huawei Sans" panose="020C0503030203020204" pitchFamily="34" charset="0"/>
              </a:rPr>
              <a:t>隧道也可做为一种转发邻接。如果将</a:t>
            </a:r>
            <a:r>
              <a:rPr lang="en-US" altLang="zh-CN" sz="1600" dirty="0"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sym typeface="Huawei Sans" panose="020C0503030203020204" pitchFamily="34" charset="0"/>
              </a:rPr>
              <a:t>隧道做为转发邻接分配一个邻接</a:t>
            </a:r>
            <a:r>
              <a:rPr lang="en-US" altLang="zh-CN" sz="1600" dirty="0"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sym typeface="Huawei Sans" panose="020C0503030203020204" pitchFamily="34" charset="0"/>
              </a:rPr>
              <a:t>，这个</a:t>
            </a:r>
            <a:r>
              <a:rPr lang="en-US" altLang="zh-CN" sz="1600" dirty="0"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sym typeface="Huawei Sans" panose="020C0503030203020204" pitchFamily="34" charset="0"/>
              </a:rPr>
              <a:t>就被称为</a:t>
            </a:r>
            <a:r>
              <a:rPr lang="en-US" altLang="zh-CN" sz="1600" dirty="0">
                <a:sym typeface="Huawei Sans" panose="020C0503030203020204" pitchFamily="34" charset="0"/>
              </a:rPr>
              <a:t>Binding SID</a:t>
            </a:r>
            <a:r>
              <a:rPr lang="zh-CN" altLang="en-US" sz="1600" dirty="0">
                <a:sym typeface="Huawei Sans" panose="020C0503030203020204" pitchFamily="34" charset="0"/>
              </a:rPr>
              <a:t>。一个</a:t>
            </a:r>
            <a:r>
              <a:rPr lang="en-US" altLang="zh-CN" sz="1600" dirty="0">
                <a:sym typeface="Huawei Sans" panose="020C0503030203020204" pitchFamily="34" charset="0"/>
              </a:rPr>
              <a:t>Binding SID</a:t>
            </a:r>
            <a:r>
              <a:rPr lang="zh-CN" altLang="en-US" sz="1600" dirty="0">
                <a:sym typeface="Huawei Sans" panose="020C0503030203020204" pitchFamily="34" charset="0"/>
              </a:rPr>
              <a:t>代表一条</a:t>
            </a:r>
            <a:r>
              <a:rPr lang="en-US" altLang="zh-CN" sz="1600" dirty="0"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sym typeface="Huawei Sans" panose="020C0503030203020204" pitchFamily="34" charset="0"/>
              </a:rPr>
              <a:t>隧道。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 bwMode="gray">
          <a:xfrm>
            <a:off x="1000077" y="3919072"/>
            <a:ext cx="3989694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sr-te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policy P1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binding-</a:t>
            </a:r>
            <a:r>
              <a:rPr lang="en-US" altLang="zh-CN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200</a:t>
            </a:r>
            <a:endParaRPr lang="en-US" altLang="zh-CN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endpoint 5.5.5.5 color 100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 bwMode="gray">
          <a:xfrm>
            <a:off x="1000077" y="3461616"/>
            <a:ext cx="1910548" cy="338554"/>
          </a:xfrm>
          <a:prstGeom prst="rect">
            <a:avLst/>
          </a:prstGeom>
          <a:solidFill>
            <a:srgbClr val="56C4D2"/>
          </a:solidFill>
          <a:ln>
            <a:solidFill>
              <a:srgbClr val="30B5C5"/>
            </a:solidFill>
          </a:ln>
        </p:spPr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</a:defRPr>
            </a:lvl1pPr>
            <a:lvl2pPr marL="654685" indent="-252095" defTabSz="913765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/>
            </a:lvl2pPr>
            <a:lvl3pPr marL="1003935" indent="-201295" defTabSz="913765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/>
            </a:lvl3pPr>
            <a:lvl4pPr marL="1399540" indent="-198120" defTabSz="913765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/>
            </a:lvl4pPr>
            <a:lvl5pPr marL="1802765" indent="-201295" defTabSz="913765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/>
            </a:lvl5pPr>
            <a:lvl6pPr marL="25133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6pPr>
            <a:lvl7pPr marL="29705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7pPr>
            <a:lvl8pPr marL="34277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8pPr>
            <a:lvl9pPr marL="38849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9pPr>
          </a:lstStyle>
          <a:p>
            <a:r>
              <a: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静态配置</a:t>
            </a:r>
            <a:r>
              <a: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BSID</a:t>
            </a:r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 bwMode="gray">
          <a:xfrm>
            <a:off x="5221782" y="4042182"/>
            <a:ext cx="57944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每个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最多配置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个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Binding SID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Binding SID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可以像其他类型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一样，用于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路径计算。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五边形 8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燕尾形 9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10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 Policy</a:t>
            </a:r>
            <a:r>
              <a:rPr lang="zh-CN" altLang="en-US" dirty="0">
                <a:sym typeface="Huawei Sans" panose="020C0503030203020204" pitchFamily="34" charset="0"/>
              </a:rPr>
              <a:t>业务流程：信息收集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gray">
          <a:xfrm rot="10800000">
            <a:off x="4250982" y="3710347"/>
            <a:ext cx="1032830" cy="1941018"/>
            <a:chOff x="4518703" y="2205748"/>
            <a:chExt cx="1512166" cy="2521312"/>
          </a:xfrm>
        </p:grpSpPr>
        <p:cxnSp>
          <p:nvCxnSpPr>
            <p:cNvPr id="4" name="直接连接符 3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直接连接符 5"/>
          <p:cNvCxnSpPr/>
          <p:nvPr/>
        </p:nvCxnSpPr>
        <p:spPr bwMode="gray">
          <a:xfrm flipH="1">
            <a:off x="2188806" y="3718200"/>
            <a:ext cx="1760319" cy="1933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gray">
          <a:xfrm flipH="1" flipV="1">
            <a:off x="2186861" y="3704851"/>
            <a:ext cx="1748548" cy="19543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 bwMode="gray">
          <a:xfrm>
            <a:off x="1124654" y="3710347"/>
            <a:ext cx="1032830" cy="1941018"/>
            <a:chOff x="4518703" y="2205748"/>
            <a:chExt cx="1512166" cy="2521312"/>
          </a:xfrm>
        </p:grpSpPr>
        <p:cxnSp>
          <p:nvCxnSpPr>
            <p:cNvPr id="9" name="直接连接符 8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直接连接符 10"/>
          <p:cNvCxnSpPr/>
          <p:nvPr/>
        </p:nvCxnSpPr>
        <p:spPr bwMode="gray">
          <a:xfrm flipH="1">
            <a:off x="2171201" y="3710347"/>
            <a:ext cx="1777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 bwMode="gray">
          <a:xfrm flipH="1">
            <a:off x="2171201" y="5659218"/>
            <a:ext cx="1777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gray">
          <a:xfrm flipV="1">
            <a:off x="3949125" y="3710347"/>
            <a:ext cx="0" cy="19488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 bwMode="gray">
          <a:xfrm flipH="1">
            <a:off x="3060807" y="2278577"/>
            <a:ext cx="6457" cy="1042109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 bwMode="gray">
          <a:xfrm>
            <a:off x="1631322" y="1747212"/>
            <a:ext cx="1416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8" name="图片 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36899" y="4431675"/>
            <a:ext cx="540000" cy="442800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61106" y="3482649"/>
            <a:ext cx="540000" cy="442800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61106" y="5380701"/>
            <a:ext cx="540000" cy="442800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687643" y="3482649"/>
            <a:ext cx="540000" cy="442800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687643" y="5380701"/>
            <a:ext cx="540000" cy="442800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02594" y="4431675"/>
            <a:ext cx="540000" cy="442800"/>
          </a:xfrm>
          <a:prstGeom prst="rect">
            <a:avLst/>
          </a:prstGeom>
        </p:spPr>
      </p:pic>
      <p:pic>
        <p:nvPicPr>
          <p:cNvPr id="26" name="图片 25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2817777" y="1731084"/>
            <a:ext cx="540000" cy="441818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 bwMode="gray">
          <a:xfrm>
            <a:off x="3255415" y="4421704"/>
            <a:ext cx="745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Green</a:t>
            </a:r>
            <a:endParaRPr lang="zh-CN" altLang="en-US" sz="1600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667024" y="4946622"/>
            <a:ext cx="840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R1:</a:t>
            </a:r>
            <a:endParaRPr lang="en-US" altLang="zh-CN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endParaRPr lang="zh-CN" altLang="en-US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3952477" y="4015706"/>
            <a:ext cx="7745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endParaRPr lang="zh-CN" altLang="en-US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任意多边形 33"/>
          <p:cNvSpPr/>
          <p:nvPr/>
        </p:nvSpPr>
        <p:spPr bwMode="gray">
          <a:xfrm>
            <a:off x="1493162" y="3936897"/>
            <a:ext cx="1971491" cy="1365409"/>
          </a:xfrm>
          <a:custGeom>
            <a:avLst/>
            <a:gdLst>
              <a:gd name="connsiteX0" fmla="*/ 0 w 4491318"/>
              <a:gd name="connsiteY0" fmla="*/ 753035 h 1304365"/>
              <a:gd name="connsiteX1" fmla="*/ 605118 w 4491318"/>
              <a:gd name="connsiteY1" fmla="*/ 1304365 h 1304365"/>
              <a:gd name="connsiteX2" fmla="*/ 1627094 w 4491318"/>
              <a:gd name="connsiteY2" fmla="*/ 0 h 1304365"/>
              <a:gd name="connsiteX3" fmla="*/ 3859306 w 4491318"/>
              <a:gd name="connsiteY3" fmla="*/ 0 h 1304365"/>
              <a:gd name="connsiteX4" fmla="*/ 4491318 w 4491318"/>
              <a:gd name="connsiteY4" fmla="*/ 578223 h 1304365"/>
              <a:gd name="connsiteX0-1" fmla="*/ 0 w 4491318"/>
              <a:gd name="connsiteY0-2" fmla="*/ 757268 h 1308598"/>
              <a:gd name="connsiteX1-3" fmla="*/ 605118 w 4491318"/>
              <a:gd name="connsiteY1-4" fmla="*/ 1308598 h 1308598"/>
              <a:gd name="connsiteX2-5" fmla="*/ 1732928 w 4491318"/>
              <a:gd name="connsiteY2-6" fmla="*/ 0 h 1308598"/>
              <a:gd name="connsiteX3-7" fmla="*/ 3859306 w 4491318"/>
              <a:gd name="connsiteY3-8" fmla="*/ 4233 h 1308598"/>
              <a:gd name="connsiteX4-9" fmla="*/ 4491318 w 4491318"/>
              <a:gd name="connsiteY4-10" fmla="*/ 582456 h 1308598"/>
              <a:gd name="connsiteX0-11" fmla="*/ 0 w 4491318"/>
              <a:gd name="connsiteY0-12" fmla="*/ 757268 h 1308598"/>
              <a:gd name="connsiteX1-13" fmla="*/ 605118 w 4491318"/>
              <a:gd name="connsiteY1-14" fmla="*/ 1308598 h 1308598"/>
              <a:gd name="connsiteX2-15" fmla="*/ 1762561 w 4491318"/>
              <a:gd name="connsiteY2-16" fmla="*/ 0 h 1308598"/>
              <a:gd name="connsiteX3-17" fmla="*/ 3859306 w 4491318"/>
              <a:gd name="connsiteY3-18" fmla="*/ 4233 h 1308598"/>
              <a:gd name="connsiteX4-19" fmla="*/ 4491318 w 4491318"/>
              <a:gd name="connsiteY4-20" fmla="*/ 582456 h 1308598"/>
              <a:gd name="connsiteX0-21" fmla="*/ 0 w 3859306"/>
              <a:gd name="connsiteY0-22" fmla="*/ 757268 h 1308598"/>
              <a:gd name="connsiteX1-23" fmla="*/ 605118 w 3859306"/>
              <a:gd name="connsiteY1-24" fmla="*/ 1308598 h 1308598"/>
              <a:gd name="connsiteX2-25" fmla="*/ 1762561 w 3859306"/>
              <a:gd name="connsiteY2-26" fmla="*/ 0 h 1308598"/>
              <a:gd name="connsiteX3-27" fmla="*/ 3859306 w 3859306"/>
              <a:gd name="connsiteY3-28" fmla="*/ 4233 h 1308598"/>
              <a:gd name="connsiteX0-29" fmla="*/ 0 w 2315390"/>
              <a:gd name="connsiteY0-30" fmla="*/ 757268 h 1308598"/>
              <a:gd name="connsiteX1-31" fmla="*/ 605118 w 2315390"/>
              <a:gd name="connsiteY1-32" fmla="*/ 1308598 h 1308598"/>
              <a:gd name="connsiteX2-33" fmla="*/ 1762561 w 2315390"/>
              <a:gd name="connsiteY2-34" fmla="*/ 0 h 1308598"/>
              <a:gd name="connsiteX3-35" fmla="*/ 2315390 w 2315390"/>
              <a:gd name="connsiteY3-36" fmla="*/ 22635 h 1308598"/>
              <a:gd name="connsiteX0-37" fmla="*/ 0 w 2388045"/>
              <a:gd name="connsiteY0-38" fmla="*/ 771437 h 1322767"/>
              <a:gd name="connsiteX1-39" fmla="*/ 605118 w 2388045"/>
              <a:gd name="connsiteY1-40" fmla="*/ 1322767 h 1322767"/>
              <a:gd name="connsiteX2-41" fmla="*/ 1762561 w 2388045"/>
              <a:gd name="connsiteY2-42" fmla="*/ 14169 h 1322767"/>
              <a:gd name="connsiteX3-43" fmla="*/ 2388045 w 2388045"/>
              <a:gd name="connsiteY3-44" fmla="*/ 0 h 1322767"/>
              <a:gd name="connsiteX0-45" fmla="*/ 0 w 1762561"/>
              <a:gd name="connsiteY0-46" fmla="*/ 757268 h 1308598"/>
              <a:gd name="connsiteX1-47" fmla="*/ 605118 w 1762561"/>
              <a:gd name="connsiteY1-48" fmla="*/ 1308598 h 1308598"/>
              <a:gd name="connsiteX2-49" fmla="*/ 1762561 w 1762561"/>
              <a:gd name="connsiteY2-50" fmla="*/ 0 h 1308598"/>
              <a:gd name="connsiteX0-51" fmla="*/ 0 w 1762561"/>
              <a:gd name="connsiteY0-52" fmla="*/ 757268 h 1496527"/>
              <a:gd name="connsiteX1-53" fmla="*/ 798109 w 1762561"/>
              <a:gd name="connsiteY1-54" fmla="*/ 1496527 h 1496527"/>
              <a:gd name="connsiteX2-55" fmla="*/ 1762561 w 1762561"/>
              <a:gd name="connsiteY2-56" fmla="*/ 0 h 1496527"/>
              <a:gd name="connsiteX0-57" fmla="*/ 0 w 2258824"/>
              <a:gd name="connsiteY0-58" fmla="*/ 784115 h 1523374"/>
              <a:gd name="connsiteX1-59" fmla="*/ 798109 w 2258824"/>
              <a:gd name="connsiteY1-60" fmla="*/ 1523374 h 1523374"/>
              <a:gd name="connsiteX2-61" fmla="*/ 2258824 w 2258824"/>
              <a:gd name="connsiteY2-62" fmla="*/ 0 h 15233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58824" h="1523374">
                <a:moveTo>
                  <a:pt x="0" y="784115"/>
                </a:moveTo>
                <a:lnTo>
                  <a:pt x="798109" y="1523374"/>
                </a:lnTo>
                <a:lnTo>
                  <a:pt x="2258824" y="0"/>
                </a:lnTo>
              </a:path>
            </a:pathLst>
          </a:custGeom>
          <a:noFill/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占位符 3"/>
          <p:cNvSpPr txBox="1"/>
          <p:nvPr/>
        </p:nvSpPr>
        <p:spPr bwMode="gray">
          <a:xfrm>
            <a:off x="6329192" y="2646639"/>
            <a:ext cx="5377498" cy="2491457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收集网络拓扑、网络带宽、链路时延等信息，用于计算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路径和隧道状态呈现。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en-US" altLang="zh-CN" sz="1600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>
            <a:off x="1907604" y="2510254"/>
            <a:ext cx="864339" cy="338554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3578009" y="2925727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85067" y="3862719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4434864" y="2943390"/>
            <a:ext cx="1486304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Prefix:5.5.5.5/32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1762184" y="2922318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 bwMode="gray">
          <a:xfrm>
            <a:off x="1415205" y="5863251"/>
            <a:ext cx="1431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4.4.4.4 20004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占位符 3"/>
          <p:cNvSpPr txBox="1"/>
          <p:nvPr/>
        </p:nvSpPr>
        <p:spPr bwMode="gray">
          <a:xfrm>
            <a:off x="4144375" y="1515760"/>
            <a:ext cx="7320461" cy="2491457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背景：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作为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路由器向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通告路由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5.5.5.5/32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，最终从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R1-R3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隧道。隧道路径如图，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Green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燕尾形 35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五边形 36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燕尾形 42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燕尾形 43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 Policy</a:t>
            </a:r>
            <a:r>
              <a:rPr lang="zh-CN" altLang="en-US" dirty="0">
                <a:sym typeface="Huawei Sans" panose="020C0503030203020204" pitchFamily="34" charset="0"/>
              </a:rPr>
              <a:t>业务流程：路由着色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gray">
          <a:xfrm rot="10800000">
            <a:off x="4250984" y="3724861"/>
            <a:ext cx="1032830" cy="1941018"/>
            <a:chOff x="4518703" y="2205748"/>
            <a:chExt cx="1512166" cy="2521312"/>
          </a:xfrm>
        </p:grpSpPr>
        <p:cxnSp>
          <p:nvCxnSpPr>
            <p:cNvPr id="4" name="直接连接符 3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直接连接符 5"/>
          <p:cNvCxnSpPr/>
          <p:nvPr/>
        </p:nvCxnSpPr>
        <p:spPr bwMode="gray">
          <a:xfrm flipH="1">
            <a:off x="2188808" y="3732714"/>
            <a:ext cx="1760319" cy="1933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gray">
          <a:xfrm flipH="1" flipV="1">
            <a:off x="2186863" y="3719365"/>
            <a:ext cx="1748548" cy="19543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 bwMode="gray">
          <a:xfrm>
            <a:off x="1124656" y="3724861"/>
            <a:ext cx="1032830" cy="1941018"/>
            <a:chOff x="4518703" y="2205748"/>
            <a:chExt cx="1512166" cy="2521312"/>
          </a:xfrm>
        </p:grpSpPr>
        <p:cxnSp>
          <p:nvCxnSpPr>
            <p:cNvPr id="9" name="直接连接符 8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直接连接符 10"/>
          <p:cNvCxnSpPr/>
          <p:nvPr/>
        </p:nvCxnSpPr>
        <p:spPr bwMode="gray">
          <a:xfrm flipH="1">
            <a:off x="2171203" y="3724861"/>
            <a:ext cx="1777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 bwMode="gray">
          <a:xfrm flipH="1">
            <a:off x="2171203" y="5673732"/>
            <a:ext cx="1777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gray">
          <a:xfrm flipV="1">
            <a:off x="3949127" y="3724861"/>
            <a:ext cx="0" cy="19488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26" idx="2"/>
          </p:cNvCxnSpPr>
          <p:nvPr/>
        </p:nvCxnSpPr>
        <p:spPr bwMode="gray">
          <a:xfrm>
            <a:off x="3087779" y="2187416"/>
            <a:ext cx="490232" cy="138101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 bwMode="gray">
          <a:xfrm>
            <a:off x="1631236" y="1794131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8" name="图片 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36901" y="4446189"/>
            <a:ext cx="540000" cy="442800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61108" y="3497163"/>
            <a:ext cx="540000" cy="442800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61108" y="5395215"/>
            <a:ext cx="540000" cy="442800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687645" y="3497163"/>
            <a:ext cx="540000" cy="442800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687645" y="5395215"/>
            <a:ext cx="540000" cy="442800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02596" y="4446189"/>
            <a:ext cx="540000" cy="442800"/>
          </a:xfrm>
          <a:prstGeom prst="rect">
            <a:avLst/>
          </a:prstGeom>
        </p:spPr>
      </p:pic>
      <p:pic>
        <p:nvPicPr>
          <p:cNvPr id="26" name="图片 25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2817779" y="1745598"/>
            <a:ext cx="540000" cy="441818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 bwMode="gray">
          <a:xfrm>
            <a:off x="3255417" y="4436218"/>
            <a:ext cx="745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Green</a:t>
            </a:r>
            <a:endParaRPr lang="zh-CN" altLang="en-US" sz="1600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667026" y="4961136"/>
            <a:ext cx="840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R1:</a:t>
            </a:r>
            <a:endParaRPr lang="en-US" altLang="zh-CN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endParaRPr lang="zh-CN" altLang="en-US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3952479" y="4030220"/>
            <a:ext cx="7745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endParaRPr lang="zh-CN" altLang="en-US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占位符 3"/>
          <p:cNvSpPr txBox="1"/>
          <p:nvPr/>
        </p:nvSpPr>
        <p:spPr bwMode="gray">
          <a:xfrm>
            <a:off x="6329193" y="2646004"/>
            <a:ext cx="5127652" cy="2491457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2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下发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出口策略或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出口策略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。为路由前缀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5.5.5.5/32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设置扩展团体属性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 Green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，路由下一跳是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的地址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>
            <a:off x="3431958" y="2330783"/>
            <a:ext cx="1122423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3578011" y="2940241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85069" y="3877233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4556314" y="2738513"/>
            <a:ext cx="1486304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Prefix:5.5.5.5/32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Color: Green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NHP:3.3.3.3</a:t>
            </a:r>
            <a:endParaRPr lang="zh-CN" altLang="en-US" sz="1400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1762186" y="2936832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 bwMode="gray">
          <a:xfrm>
            <a:off x="1415207" y="5877765"/>
            <a:ext cx="1431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4.4.4.4 20004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任意多边形 33"/>
          <p:cNvSpPr/>
          <p:nvPr/>
        </p:nvSpPr>
        <p:spPr bwMode="gray">
          <a:xfrm>
            <a:off x="1493162" y="3951411"/>
            <a:ext cx="1971491" cy="1365409"/>
          </a:xfrm>
          <a:custGeom>
            <a:avLst/>
            <a:gdLst>
              <a:gd name="connsiteX0" fmla="*/ 0 w 4491318"/>
              <a:gd name="connsiteY0" fmla="*/ 753035 h 1304365"/>
              <a:gd name="connsiteX1" fmla="*/ 605118 w 4491318"/>
              <a:gd name="connsiteY1" fmla="*/ 1304365 h 1304365"/>
              <a:gd name="connsiteX2" fmla="*/ 1627094 w 4491318"/>
              <a:gd name="connsiteY2" fmla="*/ 0 h 1304365"/>
              <a:gd name="connsiteX3" fmla="*/ 3859306 w 4491318"/>
              <a:gd name="connsiteY3" fmla="*/ 0 h 1304365"/>
              <a:gd name="connsiteX4" fmla="*/ 4491318 w 4491318"/>
              <a:gd name="connsiteY4" fmla="*/ 578223 h 1304365"/>
              <a:gd name="connsiteX0-1" fmla="*/ 0 w 4491318"/>
              <a:gd name="connsiteY0-2" fmla="*/ 757268 h 1308598"/>
              <a:gd name="connsiteX1-3" fmla="*/ 605118 w 4491318"/>
              <a:gd name="connsiteY1-4" fmla="*/ 1308598 h 1308598"/>
              <a:gd name="connsiteX2-5" fmla="*/ 1732928 w 4491318"/>
              <a:gd name="connsiteY2-6" fmla="*/ 0 h 1308598"/>
              <a:gd name="connsiteX3-7" fmla="*/ 3859306 w 4491318"/>
              <a:gd name="connsiteY3-8" fmla="*/ 4233 h 1308598"/>
              <a:gd name="connsiteX4-9" fmla="*/ 4491318 w 4491318"/>
              <a:gd name="connsiteY4-10" fmla="*/ 582456 h 1308598"/>
              <a:gd name="connsiteX0-11" fmla="*/ 0 w 4491318"/>
              <a:gd name="connsiteY0-12" fmla="*/ 757268 h 1308598"/>
              <a:gd name="connsiteX1-13" fmla="*/ 605118 w 4491318"/>
              <a:gd name="connsiteY1-14" fmla="*/ 1308598 h 1308598"/>
              <a:gd name="connsiteX2-15" fmla="*/ 1762561 w 4491318"/>
              <a:gd name="connsiteY2-16" fmla="*/ 0 h 1308598"/>
              <a:gd name="connsiteX3-17" fmla="*/ 3859306 w 4491318"/>
              <a:gd name="connsiteY3-18" fmla="*/ 4233 h 1308598"/>
              <a:gd name="connsiteX4-19" fmla="*/ 4491318 w 4491318"/>
              <a:gd name="connsiteY4-20" fmla="*/ 582456 h 1308598"/>
              <a:gd name="connsiteX0-21" fmla="*/ 0 w 3859306"/>
              <a:gd name="connsiteY0-22" fmla="*/ 757268 h 1308598"/>
              <a:gd name="connsiteX1-23" fmla="*/ 605118 w 3859306"/>
              <a:gd name="connsiteY1-24" fmla="*/ 1308598 h 1308598"/>
              <a:gd name="connsiteX2-25" fmla="*/ 1762561 w 3859306"/>
              <a:gd name="connsiteY2-26" fmla="*/ 0 h 1308598"/>
              <a:gd name="connsiteX3-27" fmla="*/ 3859306 w 3859306"/>
              <a:gd name="connsiteY3-28" fmla="*/ 4233 h 1308598"/>
              <a:gd name="connsiteX0-29" fmla="*/ 0 w 2315390"/>
              <a:gd name="connsiteY0-30" fmla="*/ 757268 h 1308598"/>
              <a:gd name="connsiteX1-31" fmla="*/ 605118 w 2315390"/>
              <a:gd name="connsiteY1-32" fmla="*/ 1308598 h 1308598"/>
              <a:gd name="connsiteX2-33" fmla="*/ 1762561 w 2315390"/>
              <a:gd name="connsiteY2-34" fmla="*/ 0 h 1308598"/>
              <a:gd name="connsiteX3-35" fmla="*/ 2315390 w 2315390"/>
              <a:gd name="connsiteY3-36" fmla="*/ 22635 h 1308598"/>
              <a:gd name="connsiteX0-37" fmla="*/ 0 w 2388045"/>
              <a:gd name="connsiteY0-38" fmla="*/ 771437 h 1322767"/>
              <a:gd name="connsiteX1-39" fmla="*/ 605118 w 2388045"/>
              <a:gd name="connsiteY1-40" fmla="*/ 1322767 h 1322767"/>
              <a:gd name="connsiteX2-41" fmla="*/ 1762561 w 2388045"/>
              <a:gd name="connsiteY2-42" fmla="*/ 14169 h 1322767"/>
              <a:gd name="connsiteX3-43" fmla="*/ 2388045 w 2388045"/>
              <a:gd name="connsiteY3-44" fmla="*/ 0 h 1322767"/>
              <a:gd name="connsiteX0-45" fmla="*/ 0 w 1762561"/>
              <a:gd name="connsiteY0-46" fmla="*/ 757268 h 1308598"/>
              <a:gd name="connsiteX1-47" fmla="*/ 605118 w 1762561"/>
              <a:gd name="connsiteY1-48" fmla="*/ 1308598 h 1308598"/>
              <a:gd name="connsiteX2-49" fmla="*/ 1762561 w 1762561"/>
              <a:gd name="connsiteY2-50" fmla="*/ 0 h 1308598"/>
              <a:gd name="connsiteX0-51" fmla="*/ 0 w 1762561"/>
              <a:gd name="connsiteY0-52" fmla="*/ 757268 h 1496527"/>
              <a:gd name="connsiteX1-53" fmla="*/ 798109 w 1762561"/>
              <a:gd name="connsiteY1-54" fmla="*/ 1496527 h 1496527"/>
              <a:gd name="connsiteX2-55" fmla="*/ 1762561 w 1762561"/>
              <a:gd name="connsiteY2-56" fmla="*/ 0 h 1496527"/>
              <a:gd name="connsiteX0-57" fmla="*/ 0 w 2258824"/>
              <a:gd name="connsiteY0-58" fmla="*/ 784115 h 1523374"/>
              <a:gd name="connsiteX1-59" fmla="*/ 798109 w 2258824"/>
              <a:gd name="connsiteY1-60" fmla="*/ 1523374 h 1523374"/>
              <a:gd name="connsiteX2-61" fmla="*/ 2258824 w 2258824"/>
              <a:gd name="connsiteY2-62" fmla="*/ 0 h 15233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58824" h="1523374">
                <a:moveTo>
                  <a:pt x="0" y="784115"/>
                </a:moveTo>
                <a:lnTo>
                  <a:pt x="798109" y="1523374"/>
                </a:lnTo>
                <a:lnTo>
                  <a:pt x="2258824" y="0"/>
                </a:lnTo>
              </a:path>
            </a:pathLst>
          </a:custGeom>
          <a:noFill/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文本占位符 3"/>
          <p:cNvSpPr txBox="1"/>
          <p:nvPr/>
        </p:nvSpPr>
        <p:spPr bwMode="gray">
          <a:xfrm>
            <a:off x="4428490" y="1061720"/>
            <a:ext cx="7320280" cy="1557020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背景：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作为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路由器向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通告路由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5.5.5.5/32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，最终从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R1-R3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隧道。隧道路径如图，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Green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燕尾形 41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五边形 42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燕尾形 43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燕尾形 44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 Policy</a:t>
            </a:r>
            <a:r>
              <a:rPr lang="zh-CN" altLang="en-US" dirty="0">
                <a:sym typeface="Huawei Sans" panose="020C0503030203020204" pitchFamily="34" charset="0"/>
              </a:rPr>
              <a:t>业务流程：路由传递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gray">
          <a:xfrm rot="10800000">
            <a:off x="4250982" y="3710347"/>
            <a:ext cx="1032830" cy="1941018"/>
            <a:chOff x="4518703" y="2205748"/>
            <a:chExt cx="1512166" cy="2521312"/>
          </a:xfrm>
        </p:grpSpPr>
        <p:cxnSp>
          <p:nvCxnSpPr>
            <p:cNvPr id="4" name="直接连接符 3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直接连接符 5"/>
          <p:cNvCxnSpPr/>
          <p:nvPr/>
        </p:nvCxnSpPr>
        <p:spPr bwMode="gray">
          <a:xfrm flipH="1">
            <a:off x="2188806" y="3718200"/>
            <a:ext cx="1760319" cy="1933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gray">
          <a:xfrm flipH="1" flipV="1">
            <a:off x="2186861" y="3704851"/>
            <a:ext cx="1748548" cy="19543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 bwMode="gray">
          <a:xfrm>
            <a:off x="1124654" y="3710347"/>
            <a:ext cx="1032830" cy="1941018"/>
            <a:chOff x="4518703" y="2205748"/>
            <a:chExt cx="1512166" cy="2521312"/>
          </a:xfrm>
        </p:grpSpPr>
        <p:cxnSp>
          <p:nvCxnSpPr>
            <p:cNvPr id="9" name="直接连接符 8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直接连接符 10"/>
          <p:cNvCxnSpPr/>
          <p:nvPr/>
        </p:nvCxnSpPr>
        <p:spPr bwMode="gray">
          <a:xfrm flipH="1">
            <a:off x="2171201" y="3710347"/>
            <a:ext cx="1777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 bwMode="gray">
          <a:xfrm flipH="1">
            <a:off x="2171201" y="5659218"/>
            <a:ext cx="1777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gray">
          <a:xfrm flipV="1">
            <a:off x="3949125" y="3710347"/>
            <a:ext cx="0" cy="19488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 bwMode="gray">
          <a:xfrm>
            <a:off x="1631234" y="1808726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8" name="图片 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36899" y="4431675"/>
            <a:ext cx="540000" cy="442800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61106" y="3482649"/>
            <a:ext cx="540000" cy="442800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61106" y="5380701"/>
            <a:ext cx="540000" cy="442800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687643" y="3482649"/>
            <a:ext cx="540000" cy="442800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687643" y="5380701"/>
            <a:ext cx="540000" cy="442800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02594" y="4431675"/>
            <a:ext cx="540000" cy="442800"/>
          </a:xfrm>
          <a:prstGeom prst="rect">
            <a:avLst/>
          </a:prstGeom>
        </p:spPr>
      </p:pic>
      <p:pic>
        <p:nvPicPr>
          <p:cNvPr id="26" name="图片 25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2817777" y="1731084"/>
            <a:ext cx="540000" cy="441818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 bwMode="gray">
          <a:xfrm>
            <a:off x="3255415" y="4421704"/>
            <a:ext cx="745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Green</a:t>
            </a:r>
            <a:endParaRPr lang="zh-CN" altLang="en-US" sz="1600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667024" y="4946622"/>
            <a:ext cx="840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R1:</a:t>
            </a:r>
            <a:endParaRPr lang="en-US" altLang="zh-CN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endParaRPr lang="zh-CN" altLang="en-US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3952477" y="4015706"/>
            <a:ext cx="7745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endParaRPr lang="zh-CN" altLang="en-US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占位符 3"/>
          <p:cNvSpPr txBox="1"/>
          <p:nvPr/>
        </p:nvSpPr>
        <p:spPr bwMode="gray">
          <a:xfrm>
            <a:off x="6390787" y="3371174"/>
            <a:ext cx="5130971" cy="2491457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3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路由器将着色的路由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5.5.5.5/32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通告给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3578009" y="2925727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85067" y="3862719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4556312" y="2723999"/>
            <a:ext cx="1486304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Prefix:5.5.5.5/32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Color: Green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NHP:3.3.3.3</a:t>
            </a:r>
            <a:endParaRPr lang="zh-CN" altLang="en-US" sz="1400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1762184" y="2895684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 bwMode="gray">
          <a:xfrm>
            <a:off x="1415205" y="5863251"/>
            <a:ext cx="1431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4.4.4.4 20004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任意多边形: 形状 14"/>
          <p:cNvSpPr/>
          <p:nvPr/>
        </p:nvSpPr>
        <p:spPr bwMode="gray">
          <a:xfrm>
            <a:off x="1216596" y="3420184"/>
            <a:ext cx="2320119" cy="482220"/>
          </a:xfrm>
          <a:custGeom>
            <a:avLst/>
            <a:gdLst>
              <a:gd name="connsiteX0" fmla="*/ 2320119 w 2320119"/>
              <a:gd name="connsiteY0" fmla="*/ 72787 h 482220"/>
              <a:gd name="connsiteX1" fmla="*/ 832513 w 2320119"/>
              <a:gd name="connsiteY1" fmla="*/ 31844 h 482220"/>
              <a:gd name="connsiteX2" fmla="*/ 0 w 2320119"/>
              <a:gd name="connsiteY2" fmla="*/ 482220 h 482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0119" h="482220">
                <a:moveTo>
                  <a:pt x="2320119" y="72787"/>
                </a:moveTo>
                <a:cubicBezTo>
                  <a:pt x="1769659" y="18196"/>
                  <a:pt x="1219199" y="-36395"/>
                  <a:pt x="832513" y="31844"/>
                </a:cubicBezTo>
                <a:cubicBezTo>
                  <a:pt x="445826" y="100083"/>
                  <a:pt x="209266" y="384411"/>
                  <a:pt x="0" y="482220"/>
                </a:cubicBezTo>
              </a:path>
            </a:pathLst>
          </a:custGeom>
          <a:noFill/>
          <a:ln w="7620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1754376" y="2600987"/>
            <a:ext cx="958917" cy="338554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任意多边形 33"/>
          <p:cNvSpPr/>
          <p:nvPr/>
        </p:nvSpPr>
        <p:spPr bwMode="gray">
          <a:xfrm>
            <a:off x="1493162" y="3936897"/>
            <a:ext cx="1971491" cy="1365409"/>
          </a:xfrm>
          <a:custGeom>
            <a:avLst/>
            <a:gdLst>
              <a:gd name="connsiteX0" fmla="*/ 0 w 4491318"/>
              <a:gd name="connsiteY0" fmla="*/ 753035 h 1304365"/>
              <a:gd name="connsiteX1" fmla="*/ 605118 w 4491318"/>
              <a:gd name="connsiteY1" fmla="*/ 1304365 h 1304365"/>
              <a:gd name="connsiteX2" fmla="*/ 1627094 w 4491318"/>
              <a:gd name="connsiteY2" fmla="*/ 0 h 1304365"/>
              <a:gd name="connsiteX3" fmla="*/ 3859306 w 4491318"/>
              <a:gd name="connsiteY3" fmla="*/ 0 h 1304365"/>
              <a:gd name="connsiteX4" fmla="*/ 4491318 w 4491318"/>
              <a:gd name="connsiteY4" fmla="*/ 578223 h 1304365"/>
              <a:gd name="connsiteX0-1" fmla="*/ 0 w 4491318"/>
              <a:gd name="connsiteY0-2" fmla="*/ 757268 h 1308598"/>
              <a:gd name="connsiteX1-3" fmla="*/ 605118 w 4491318"/>
              <a:gd name="connsiteY1-4" fmla="*/ 1308598 h 1308598"/>
              <a:gd name="connsiteX2-5" fmla="*/ 1732928 w 4491318"/>
              <a:gd name="connsiteY2-6" fmla="*/ 0 h 1308598"/>
              <a:gd name="connsiteX3-7" fmla="*/ 3859306 w 4491318"/>
              <a:gd name="connsiteY3-8" fmla="*/ 4233 h 1308598"/>
              <a:gd name="connsiteX4-9" fmla="*/ 4491318 w 4491318"/>
              <a:gd name="connsiteY4-10" fmla="*/ 582456 h 1308598"/>
              <a:gd name="connsiteX0-11" fmla="*/ 0 w 4491318"/>
              <a:gd name="connsiteY0-12" fmla="*/ 757268 h 1308598"/>
              <a:gd name="connsiteX1-13" fmla="*/ 605118 w 4491318"/>
              <a:gd name="connsiteY1-14" fmla="*/ 1308598 h 1308598"/>
              <a:gd name="connsiteX2-15" fmla="*/ 1762561 w 4491318"/>
              <a:gd name="connsiteY2-16" fmla="*/ 0 h 1308598"/>
              <a:gd name="connsiteX3-17" fmla="*/ 3859306 w 4491318"/>
              <a:gd name="connsiteY3-18" fmla="*/ 4233 h 1308598"/>
              <a:gd name="connsiteX4-19" fmla="*/ 4491318 w 4491318"/>
              <a:gd name="connsiteY4-20" fmla="*/ 582456 h 1308598"/>
              <a:gd name="connsiteX0-21" fmla="*/ 0 w 3859306"/>
              <a:gd name="connsiteY0-22" fmla="*/ 757268 h 1308598"/>
              <a:gd name="connsiteX1-23" fmla="*/ 605118 w 3859306"/>
              <a:gd name="connsiteY1-24" fmla="*/ 1308598 h 1308598"/>
              <a:gd name="connsiteX2-25" fmla="*/ 1762561 w 3859306"/>
              <a:gd name="connsiteY2-26" fmla="*/ 0 h 1308598"/>
              <a:gd name="connsiteX3-27" fmla="*/ 3859306 w 3859306"/>
              <a:gd name="connsiteY3-28" fmla="*/ 4233 h 1308598"/>
              <a:gd name="connsiteX0-29" fmla="*/ 0 w 2315390"/>
              <a:gd name="connsiteY0-30" fmla="*/ 757268 h 1308598"/>
              <a:gd name="connsiteX1-31" fmla="*/ 605118 w 2315390"/>
              <a:gd name="connsiteY1-32" fmla="*/ 1308598 h 1308598"/>
              <a:gd name="connsiteX2-33" fmla="*/ 1762561 w 2315390"/>
              <a:gd name="connsiteY2-34" fmla="*/ 0 h 1308598"/>
              <a:gd name="connsiteX3-35" fmla="*/ 2315390 w 2315390"/>
              <a:gd name="connsiteY3-36" fmla="*/ 22635 h 1308598"/>
              <a:gd name="connsiteX0-37" fmla="*/ 0 w 2388045"/>
              <a:gd name="connsiteY0-38" fmla="*/ 771437 h 1322767"/>
              <a:gd name="connsiteX1-39" fmla="*/ 605118 w 2388045"/>
              <a:gd name="connsiteY1-40" fmla="*/ 1322767 h 1322767"/>
              <a:gd name="connsiteX2-41" fmla="*/ 1762561 w 2388045"/>
              <a:gd name="connsiteY2-42" fmla="*/ 14169 h 1322767"/>
              <a:gd name="connsiteX3-43" fmla="*/ 2388045 w 2388045"/>
              <a:gd name="connsiteY3-44" fmla="*/ 0 h 1322767"/>
              <a:gd name="connsiteX0-45" fmla="*/ 0 w 1762561"/>
              <a:gd name="connsiteY0-46" fmla="*/ 757268 h 1308598"/>
              <a:gd name="connsiteX1-47" fmla="*/ 605118 w 1762561"/>
              <a:gd name="connsiteY1-48" fmla="*/ 1308598 h 1308598"/>
              <a:gd name="connsiteX2-49" fmla="*/ 1762561 w 1762561"/>
              <a:gd name="connsiteY2-50" fmla="*/ 0 h 1308598"/>
              <a:gd name="connsiteX0-51" fmla="*/ 0 w 1762561"/>
              <a:gd name="connsiteY0-52" fmla="*/ 757268 h 1496527"/>
              <a:gd name="connsiteX1-53" fmla="*/ 798109 w 1762561"/>
              <a:gd name="connsiteY1-54" fmla="*/ 1496527 h 1496527"/>
              <a:gd name="connsiteX2-55" fmla="*/ 1762561 w 1762561"/>
              <a:gd name="connsiteY2-56" fmla="*/ 0 h 1496527"/>
              <a:gd name="connsiteX0-57" fmla="*/ 0 w 2258824"/>
              <a:gd name="connsiteY0-58" fmla="*/ 784115 h 1523374"/>
              <a:gd name="connsiteX1-59" fmla="*/ 798109 w 2258824"/>
              <a:gd name="connsiteY1-60" fmla="*/ 1523374 h 1523374"/>
              <a:gd name="connsiteX2-61" fmla="*/ 2258824 w 2258824"/>
              <a:gd name="connsiteY2-62" fmla="*/ 0 h 15233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58824" h="1523374">
                <a:moveTo>
                  <a:pt x="0" y="784115"/>
                </a:moveTo>
                <a:lnTo>
                  <a:pt x="798109" y="1523374"/>
                </a:lnTo>
                <a:lnTo>
                  <a:pt x="2258824" y="0"/>
                </a:lnTo>
              </a:path>
            </a:pathLst>
          </a:custGeom>
          <a:noFill/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文本占位符 3"/>
          <p:cNvSpPr txBox="1"/>
          <p:nvPr/>
        </p:nvSpPr>
        <p:spPr bwMode="gray">
          <a:xfrm>
            <a:off x="4144645" y="1515745"/>
            <a:ext cx="7320280" cy="1208405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背景：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作为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路由器向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通告路由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5.5.5.5/32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，最终从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R1-R3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隧道。隧道路径如图，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Green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燕尾形 41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五边形 43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燕尾形 44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燕尾形 45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 Policy</a:t>
            </a:r>
            <a:r>
              <a:rPr lang="zh-CN" altLang="en-US" dirty="0">
                <a:sym typeface="Huawei Sans" panose="020C0503030203020204" pitchFamily="34" charset="0"/>
              </a:rPr>
              <a:t>业务流程：下发</a:t>
            </a:r>
            <a:r>
              <a:rPr lang="en-US" altLang="zh-CN" dirty="0">
                <a:sym typeface="Huawei Sans" panose="020C0503030203020204" pitchFamily="34" charset="0"/>
              </a:rPr>
              <a:t>SR Policy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gray">
          <a:xfrm rot="10800000">
            <a:off x="4250982" y="3710347"/>
            <a:ext cx="1032830" cy="1941018"/>
            <a:chOff x="4518703" y="2205748"/>
            <a:chExt cx="1512166" cy="2521312"/>
          </a:xfrm>
        </p:grpSpPr>
        <p:cxnSp>
          <p:nvCxnSpPr>
            <p:cNvPr id="4" name="直接连接符 3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直接连接符 5"/>
          <p:cNvCxnSpPr/>
          <p:nvPr/>
        </p:nvCxnSpPr>
        <p:spPr bwMode="gray">
          <a:xfrm flipH="1">
            <a:off x="2188806" y="3718200"/>
            <a:ext cx="1760319" cy="1933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gray">
          <a:xfrm flipH="1" flipV="1">
            <a:off x="2186861" y="3704851"/>
            <a:ext cx="1748548" cy="19543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 bwMode="gray">
          <a:xfrm>
            <a:off x="1124654" y="3710347"/>
            <a:ext cx="1032830" cy="1941018"/>
            <a:chOff x="4518703" y="2205748"/>
            <a:chExt cx="1512166" cy="2521312"/>
          </a:xfrm>
        </p:grpSpPr>
        <p:cxnSp>
          <p:nvCxnSpPr>
            <p:cNvPr id="9" name="直接连接符 8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直接连接符 10"/>
          <p:cNvCxnSpPr/>
          <p:nvPr/>
        </p:nvCxnSpPr>
        <p:spPr bwMode="gray">
          <a:xfrm flipH="1">
            <a:off x="2171201" y="3710347"/>
            <a:ext cx="1777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 bwMode="gray">
          <a:xfrm flipH="1">
            <a:off x="2171201" y="5659218"/>
            <a:ext cx="1777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gray">
          <a:xfrm flipV="1">
            <a:off x="3949125" y="3710347"/>
            <a:ext cx="0" cy="19488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26" idx="2"/>
            <a:endCxn id="38" idx="0"/>
          </p:cNvCxnSpPr>
          <p:nvPr/>
        </p:nvCxnSpPr>
        <p:spPr bwMode="gray">
          <a:xfrm flipH="1">
            <a:off x="1080368" y="2172902"/>
            <a:ext cx="2007409" cy="168981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 bwMode="gray">
          <a:xfrm>
            <a:off x="2794439" y="2290326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8" name="图片 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36899" y="4431675"/>
            <a:ext cx="540000" cy="442800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61106" y="3482649"/>
            <a:ext cx="540000" cy="442800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61106" y="5380701"/>
            <a:ext cx="540000" cy="442800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687643" y="3482649"/>
            <a:ext cx="540000" cy="442800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687643" y="5380701"/>
            <a:ext cx="540000" cy="442800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02594" y="4431675"/>
            <a:ext cx="540000" cy="442800"/>
          </a:xfrm>
          <a:prstGeom prst="rect">
            <a:avLst/>
          </a:prstGeom>
        </p:spPr>
      </p:pic>
      <p:pic>
        <p:nvPicPr>
          <p:cNvPr id="26" name="图片 25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2817777" y="1731084"/>
            <a:ext cx="540000" cy="441818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 bwMode="gray">
          <a:xfrm>
            <a:off x="3255415" y="4421704"/>
            <a:ext cx="745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Green</a:t>
            </a:r>
            <a:endParaRPr lang="zh-CN" altLang="en-US" sz="1600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667024" y="4946622"/>
            <a:ext cx="840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R1:</a:t>
            </a:r>
            <a:endParaRPr lang="en-US" altLang="zh-CN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endParaRPr lang="zh-CN" altLang="en-US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3952477" y="4015706"/>
            <a:ext cx="7745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endParaRPr lang="zh-CN" altLang="en-US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占位符 3"/>
          <p:cNvSpPr txBox="1"/>
          <p:nvPr/>
        </p:nvSpPr>
        <p:spPr bwMode="gray">
          <a:xfrm>
            <a:off x="6419473" y="2348382"/>
            <a:ext cx="5040690" cy="1353878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4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如下，控制器向头端下发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接收到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5.5.5.5/32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。后续执行转发时，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根据此路由的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和下一跳迭代到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>
            <a:off x="761954" y="1687866"/>
            <a:ext cx="1313180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SR Policy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3578009" y="2925727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85067" y="3862719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4556312" y="2723999"/>
            <a:ext cx="1486304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Prefix:5.5.5.5/32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Color: Green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NHP:3.3.3.3</a:t>
            </a:r>
            <a:endParaRPr lang="zh-CN" altLang="en-US" sz="1400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2171618" y="2922318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 bwMode="gray">
          <a:xfrm>
            <a:off x="1415205" y="5863251"/>
            <a:ext cx="1431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4.4.4.4 20004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761365" y="2098675"/>
            <a:ext cx="1433830" cy="9531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400">
              <a:solidFill>
                <a:schemeClr val="accent2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Color:</a:t>
            </a:r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Green</a:t>
            </a:r>
            <a:endParaRPr lang="en-US" altLang="zh-CN" sz="1400">
              <a:solidFill>
                <a:schemeClr val="accent2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Encap</a:t>
            </a:r>
            <a:endParaRPr lang="en-US" altLang="zh-CN" sz="1400">
              <a:solidFill>
                <a:schemeClr val="accent2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…</a:t>
            </a:r>
            <a:endParaRPr lang="en-US" altLang="zh-CN" sz="1400">
              <a:solidFill>
                <a:schemeClr val="accent2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5705988" y="4093230"/>
            <a:ext cx="3100554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Color: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Green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Endpint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Attribute: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BSID: 30028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Candidate path count: 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Preference:100</a:t>
            </a:r>
            <a:b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</a:b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SegmentList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label: 20004, 20003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 bwMode="gray">
          <a:xfrm>
            <a:off x="5706110" y="3717925"/>
            <a:ext cx="2599690" cy="30670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SR Policy route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任意多边形 33"/>
          <p:cNvSpPr/>
          <p:nvPr/>
        </p:nvSpPr>
        <p:spPr bwMode="gray">
          <a:xfrm>
            <a:off x="1493162" y="3936897"/>
            <a:ext cx="1971491" cy="1365409"/>
          </a:xfrm>
          <a:custGeom>
            <a:avLst/>
            <a:gdLst>
              <a:gd name="connsiteX0" fmla="*/ 0 w 4491318"/>
              <a:gd name="connsiteY0" fmla="*/ 753035 h 1304365"/>
              <a:gd name="connsiteX1" fmla="*/ 605118 w 4491318"/>
              <a:gd name="connsiteY1" fmla="*/ 1304365 h 1304365"/>
              <a:gd name="connsiteX2" fmla="*/ 1627094 w 4491318"/>
              <a:gd name="connsiteY2" fmla="*/ 0 h 1304365"/>
              <a:gd name="connsiteX3" fmla="*/ 3859306 w 4491318"/>
              <a:gd name="connsiteY3" fmla="*/ 0 h 1304365"/>
              <a:gd name="connsiteX4" fmla="*/ 4491318 w 4491318"/>
              <a:gd name="connsiteY4" fmla="*/ 578223 h 1304365"/>
              <a:gd name="connsiteX0-1" fmla="*/ 0 w 4491318"/>
              <a:gd name="connsiteY0-2" fmla="*/ 757268 h 1308598"/>
              <a:gd name="connsiteX1-3" fmla="*/ 605118 w 4491318"/>
              <a:gd name="connsiteY1-4" fmla="*/ 1308598 h 1308598"/>
              <a:gd name="connsiteX2-5" fmla="*/ 1732928 w 4491318"/>
              <a:gd name="connsiteY2-6" fmla="*/ 0 h 1308598"/>
              <a:gd name="connsiteX3-7" fmla="*/ 3859306 w 4491318"/>
              <a:gd name="connsiteY3-8" fmla="*/ 4233 h 1308598"/>
              <a:gd name="connsiteX4-9" fmla="*/ 4491318 w 4491318"/>
              <a:gd name="connsiteY4-10" fmla="*/ 582456 h 1308598"/>
              <a:gd name="connsiteX0-11" fmla="*/ 0 w 4491318"/>
              <a:gd name="connsiteY0-12" fmla="*/ 757268 h 1308598"/>
              <a:gd name="connsiteX1-13" fmla="*/ 605118 w 4491318"/>
              <a:gd name="connsiteY1-14" fmla="*/ 1308598 h 1308598"/>
              <a:gd name="connsiteX2-15" fmla="*/ 1762561 w 4491318"/>
              <a:gd name="connsiteY2-16" fmla="*/ 0 h 1308598"/>
              <a:gd name="connsiteX3-17" fmla="*/ 3859306 w 4491318"/>
              <a:gd name="connsiteY3-18" fmla="*/ 4233 h 1308598"/>
              <a:gd name="connsiteX4-19" fmla="*/ 4491318 w 4491318"/>
              <a:gd name="connsiteY4-20" fmla="*/ 582456 h 1308598"/>
              <a:gd name="connsiteX0-21" fmla="*/ 0 w 3859306"/>
              <a:gd name="connsiteY0-22" fmla="*/ 757268 h 1308598"/>
              <a:gd name="connsiteX1-23" fmla="*/ 605118 w 3859306"/>
              <a:gd name="connsiteY1-24" fmla="*/ 1308598 h 1308598"/>
              <a:gd name="connsiteX2-25" fmla="*/ 1762561 w 3859306"/>
              <a:gd name="connsiteY2-26" fmla="*/ 0 h 1308598"/>
              <a:gd name="connsiteX3-27" fmla="*/ 3859306 w 3859306"/>
              <a:gd name="connsiteY3-28" fmla="*/ 4233 h 1308598"/>
              <a:gd name="connsiteX0-29" fmla="*/ 0 w 2315390"/>
              <a:gd name="connsiteY0-30" fmla="*/ 757268 h 1308598"/>
              <a:gd name="connsiteX1-31" fmla="*/ 605118 w 2315390"/>
              <a:gd name="connsiteY1-32" fmla="*/ 1308598 h 1308598"/>
              <a:gd name="connsiteX2-33" fmla="*/ 1762561 w 2315390"/>
              <a:gd name="connsiteY2-34" fmla="*/ 0 h 1308598"/>
              <a:gd name="connsiteX3-35" fmla="*/ 2315390 w 2315390"/>
              <a:gd name="connsiteY3-36" fmla="*/ 22635 h 1308598"/>
              <a:gd name="connsiteX0-37" fmla="*/ 0 w 2388045"/>
              <a:gd name="connsiteY0-38" fmla="*/ 771437 h 1322767"/>
              <a:gd name="connsiteX1-39" fmla="*/ 605118 w 2388045"/>
              <a:gd name="connsiteY1-40" fmla="*/ 1322767 h 1322767"/>
              <a:gd name="connsiteX2-41" fmla="*/ 1762561 w 2388045"/>
              <a:gd name="connsiteY2-42" fmla="*/ 14169 h 1322767"/>
              <a:gd name="connsiteX3-43" fmla="*/ 2388045 w 2388045"/>
              <a:gd name="connsiteY3-44" fmla="*/ 0 h 1322767"/>
              <a:gd name="connsiteX0-45" fmla="*/ 0 w 1762561"/>
              <a:gd name="connsiteY0-46" fmla="*/ 757268 h 1308598"/>
              <a:gd name="connsiteX1-47" fmla="*/ 605118 w 1762561"/>
              <a:gd name="connsiteY1-48" fmla="*/ 1308598 h 1308598"/>
              <a:gd name="connsiteX2-49" fmla="*/ 1762561 w 1762561"/>
              <a:gd name="connsiteY2-50" fmla="*/ 0 h 1308598"/>
              <a:gd name="connsiteX0-51" fmla="*/ 0 w 1762561"/>
              <a:gd name="connsiteY0-52" fmla="*/ 757268 h 1496527"/>
              <a:gd name="connsiteX1-53" fmla="*/ 798109 w 1762561"/>
              <a:gd name="connsiteY1-54" fmla="*/ 1496527 h 1496527"/>
              <a:gd name="connsiteX2-55" fmla="*/ 1762561 w 1762561"/>
              <a:gd name="connsiteY2-56" fmla="*/ 0 h 1496527"/>
              <a:gd name="connsiteX0-57" fmla="*/ 0 w 2258824"/>
              <a:gd name="connsiteY0-58" fmla="*/ 784115 h 1523374"/>
              <a:gd name="connsiteX1-59" fmla="*/ 798109 w 2258824"/>
              <a:gd name="connsiteY1-60" fmla="*/ 1523374 h 1523374"/>
              <a:gd name="connsiteX2-61" fmla="*/ 2258824 w 2258824"/>
              <a:gd name="connsiteY2-62" fmla="*/ 0 h 15233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58824" h="1523374">
                <a:moveTo>
                  <a:pt x="0" y="784115"/>
                </a:moveTo>
                <a:lnTo>
                  <a:pt x="798109" y="1523374"/>
                </a:lnTo>
                <a:lnTo>
                  <a:pt x="2258824" y="0"/>
                </a:lnTo>
              </a:path>
            </a:pathLst>
          </a:custGeom>
          <a:noFill/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文本占位符 3"/>
          <p:cNvSpPr txBox="1"/>
          <p:nvPr/>
        </p:nvSpPr>
        <p:spPr bwMode="gray">
          <a:xfrm>
            <a:off x="4144645" y="1515745"/>
            <a:ext cx="7320280" cy="1208405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背景：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作为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路由器向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通告路由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5.5.5.5/32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，最终从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R1-R3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隧道。隧道路径如图，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Green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燕尾形 41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五边形 45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燕尾形 46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燕尾形 47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 Policy</a:t>
            </a:r>
            <a:r>
              <a:rPr lang="zh-CN" altLang="en-US" dirty="0">
                <a:sym typeface="Huawei Sans" panose="020C0503030203020204" pitchFamily="34" charset="0"/>
              </a:rPr>
              <a:t>业务流程：引流及报文转发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gray">
          <a:xfrm rot="10800000">
            <a:off x="4250982" y="3710347"/>
            <a:ext cx="1032830" cy="1941018"/>
            <a:chOff x="4518703" y="2205748"/>
            <a:chExt cx="1512166" cy="2521312"/>
          </a:xfrm>
        </p:grpSpPr>
        <p:cxnSp>
          <p:nvCxnSpPr>
            <p:cNvPr id="4" name="直接连接符 3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直接连接符 5"/>
          <p:cNvCxnSpPr/>
          <p:nvPr/>
        </p:nvCxnSpPr>
        <p:spPr bwMode="gray">
          <a:xfrm flipH="1">
            <a:off x="2188806" y="3718200"/>
            <a:ext cx="1760319" cy="1933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gray">
          <a:xfrm flipH="1" flipV="1">
            <a:off x="2186861" y="3704851"/>
            <a:ext cx="1748548" cy="19543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 bwMode="gray">
          <a:xfrm>
            <a:off x="1124654" y="3710347"/>
            <a:ext cx="1032830" cy="1941018"/>
            <a:chOff x="4518703" y="2205748"/>
            <a:chExt cx="1512166" cy="2521312"/>
          </a:xfrm>
        </p:grpSpPr>
        <p:cxnSp>
          <p:nvCxnSpPr>
            <p:cNvPr id="9" name="直接连接符 8"/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直接连接符 10"/>
          <p:cNvCxnSpPr/>
          <p:nvPr/>
        </p:nvCxnSpPr>
        <p:spPr bwMode="gray">
          <a:xfrm flipH="1">
            <a:off x="2171201" y="3710347"/>
            <a:ext cx="1777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 bwMode="gray">
          <a:xfrm flipH="1">
            <a:off x="2171201" y="5659218"/>
            <a:ext cx="1777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gray">
          <a:xfrm flipV="1">
            <a:off x="3949125" y="3710347"/>
            <a:ext cx="0" cy="19488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 bwMode="gray">
          <a:xfrm>
            <a:off x="2478907" y="2197974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8" name="图片 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36899" y="4431675"/>
            <a:ext cx="540000" cy="442800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61106" y="3482649"/>
            <a:ext cx="540000" cy="442800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61106" y="5380701"/>
            <a:ext cx="540000" cy="442800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687643" y="3482649"/>
            <a:ext cx="540000" cy="442800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687643" y="5380701"/>
            <a:ext cx="540000" cy="442800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02594" y="4431675"/>
            <a:ext cx="540000" cy="442800"/>
          </a:xfrm>
          <a:prstGeom prst="rect">
            <a:avLst/>
          </a:prstGeom>
        </p:spPr>
      </p:pic>
      <p:pic>
        <p:nvPicPr>
          <p:cNvPr id="26" name="图片 25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2817777" y="1731084"/>
            <a:ext cx="540000" cy="441818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 bwMode="gray">
          <a:xfrm>
            <a:off x="3255415" y="4421704"/>
            <a:ext cx="745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Green</a:t>
            </a:r>
            <a:endParaRPr lang="zh-CN" altLang="en-US" sz="1600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667024" y="4946622"/>
            <a:ext cx="840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R1:</a:t>
            </a:r>
            <a:endParaRPr lang="en-US" altLang="zh-CN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endParaRPr lang="zh-CN" altLang="en-US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3952477" y="4015706"/>
            <a:ext cx="7745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endParaRPr lang="zh-CN" altLang="en-US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占位符 3"/>
          <p:cNvSpPr txBox="1"/>
          <p:nvPr/>
        </p:nvSpPr>
        <p:spPr bwMode="gray">
          <a:xfrm>
            <a:off x="6329192" y="2646639"/>
            <a:ext cx="4842647" cy="2491457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5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生成转发面隧道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。头结点根据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完成引流转发及转发（本例）。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支持其他引流方式，例如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DSCP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引流。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en-US" altLang="zh-CN" sz="1600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>
            <a:off x="761954" y="1687866"/>
            <a:ext cx="1313180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SR Policy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3578009" y="2925727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85067" y="3862719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4556312" y="2723999"/>
            <a:ext cx="1486304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Prefix:5.5.5.5/32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Color: Green</a:t>
            </a:r>
            <a:endParaRPr lang="en-US" altLang="zh-CN" sz="1400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NHP:3.3.3.3</a:t>
            </a:r>
            <a:endParaRPr lang="zh-CN" altLang="en-US" sz="1400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2171618" y="2922318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 bwMode="gray">
          <a:xfrm>
            <a:off x="1415205" y="5863251"/>
            <a:ext cx="1431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4.4.4.4 20004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占位符 3"/>
          <p:cNvSpPr txBox="1"/>
          <p:nvPr/>
        </p:nvSpPr>
        <p:spPr bwMode="gray">
          <a:xfrm>
            <a:off x="3851275" y="1365885"/>
            <a:ext cx="7320280" cy="1054100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背景：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作为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路由器向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通告路由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5.5.5.5/32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，最终从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R1-R3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隧道。隧道路径如图，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Green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761130" y="2098819"/>
            <a:ext cx="1285929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400">
              <a:solidFill>
                <a:schemeClr val="accent2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Color:</a:t>
            </a:r>
            <a:r>
              <a:rPr lang="zh-CN" altLang="en-US" sz="1400">
                <a:solidFill>
                  <a:schemeClr val="accent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Green</a:t>
            </a:r>
            <a:endParaRPr lang="en-US" altLang="zh-CN" sz="1400">
              <a:solidFill>
                <a:schemeClr val="accent2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Encap</a:t>
            </a:r>
            <a:endParaRPr lang="en-US" altLang="zh-CN" sz="1400">
              <a:solidFill>
                <a:schemeClr val="accent2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solidFill>
                  <a:schemeClr val="accent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…</a:t>
            </a:r>
            <a:endParaRPr lang="en-US" altLang="zh-CN" sz="1400">
              <a:solidFill>
                <a:schemeClr val="accent2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任意多边形 33"/>
          <p:cNvSpPr/>
          <p:nvPr/>
        </p:nvSpPr>
        <p:spPr bwMode="gray">
          <a:xfrm>
            <a:off x="1493162" y="3936897"/>
            <a:ext cx="1971491" cy="1365409"/>
          </a:xfrm>
          <a:custGeom>
            <a:avLst/>
            <a:gdLst>
              <a:gd name="connsiteX0" fmla="*/ 0 w 4491318"/>
              <a:gd name="connsiteY0" fmla="*/ 753035 h 1304365"/>
              <a:gd name="connsiteX1" fmla="*/ 605118 w 4491318"/>
              <a:gd name="connsiteY1" fmla="*/ 1304365 h 1304365"/>
              <a:gd name="connsiteX2" fmla="*/ 1627094 w 4491318"/>
              <a:gd name="connsiteY2" fmla="*/ 0 h 1304365"/>
              <a:gd name="connsiteX3" fmla="*/ 3859306 w 4491318"/>
              <a:gd name="connsiteY3" fmla="*/ 0 h 1304365"/>
              <a:gd name="connsiteX4" fmla="*/ 4491318 w 4491318"/>
              <a:gd name="connsiteY4" fmla="*/ 578223 h 1304365"/>
              <a:gd name="connsiteX0-1" fmla="*/ 0 w 4491318"/>
              <a:gd name="connsiteY0-2" fmla="*/ 757268 h 1308598"/>
              <a:gd name="connsiteX1-3" fmla="*/ 605118 w 4491318"/>
              <a:gd name="connsiteY1-4" fmla="*/ 1308598 h 1308598"/>
              <a:gd name="connsiteX2-5" fmla="*/ 1732928 w 4491318"/>
              <a:gd name="connsiteY2-6" fmla="*/ 0 h 1308598"/>
              <a:gd name="connsiteX3-7" fmla="*/ 3859306 w 4491318"/>
              <a:gd name="connsiteY3-8" fmla="*/ 4233 h 1308598"/>
              <a:gd name="connsiteX4-9" fmla="*/ 4491318 w 4491318"/>
              <a:gd name="connsiteY4-10" fmla="*/ 582456 h 1308598"/>
              <a:gd name="connsiteX0-11" fmla="*/ 0 w 4491318"/>
              <a:gd name="connsiteY0-12" fmla="*/ 757268 h 1308598"/>
              <a:gd name="connsiteX1-13" fmla="*/ 605118 w 4491318"/>
              <a:gd name="connsiteY1-14" fmla="*/ 1308598 h 1308598"/>
              <a:gd name="connsiteX2-15" fmla="*/ 1762561 w 4491318"/>
              <a:gd name="connsiteY2-16" fmla="*/ 0 h 1308598"/>
              <a:gd name="connsiteX3-17" fmla="*/ 3859306 w 4491318"/>
              <a:gd name="connsiteY3-18" fmla="*/ 4233 h 1308598"/>
              <a:gd name="connsiteX4-19" fmla="*/ 4491318 w 4491318"/>
              <a:gd name="connsiteY4-20" fmla="*/ 582456 h 1308598"/>
              <a:gd name="connsiteX0-21" fmla="*/ 0 w 3859306"/>
              <a:gd name="connsiteY0-22" fmla="*/ 757268 h 1308598"/>
              <a:gd name="connsiteX1-23" fmla="*/ 605118 w 3859306"/>
              <a:gd name="connsiteY1-24" fmla="*/ 1308598 h 1308598"/>
              <a:gd name="connsiteX2-25" fmla="*/ 1762561 w 3859306"/>
              <a:gd name="connsiteY2-26" fmla="*/ 0 h 1308598"/>
              <a:gd name="connsiteX3-27" fmla="*/ 3859306 w 3859306"/>
              <a:gd name="connsiteY3-28" fmla="*/ 4233 h 1308598"/>
              <a:gd name="connsiteX0-29" fmla="*/ 0 w 2315390"/>
              <a:gd name="connsiteY0-30" fmla="*/ 757268 h 1308598"/>
              <a:gd name="connsiteX1-31" fmla="*/ 605118 w 2315390"/>
              <a:gd name="connsiteY1-32" fmla="*/ 1308598 h 1308598"/>
              <a:gd name="connsiteX2-33" fmla="*/ 1762561 w 2315390"/>
              <a:gd name="connsiteY2-34" fmla="*/ 0 h 1308598"/>
              <a:gd name="connsiteX3-35" fmla="*/ 2315390 w 2315390"/>
              <a:gd name="connsiteY3-36" fmla="*/ 22635 h 1308598"/>
              <a:gd name="connsiteX0-37" fmla="*/ 0 w 2388045"/>
              <a:gd name="connsiteY0-38" fmla="*/ 771437 h 1322767"/>
              <a:gd name="connsiteX1-39" fmla="*/ 605118 w 2388045"/>
              <a:gd name="connsiteY1-40" fmla="*/ 1322767 h 1322767"/>
              <a:gd name="connsiteX2-41" fmla="*/ 1762561 w 2388045"/>
              <a:gd name="connsiteY2-42" fmla="*/ 14169 h 1322767"/>
              <a:gd name="connsiteX3-43" fmla="*/ 2388045 w 2388045"/>
              <a:gd name="connsiteY3-44" fmla="*/ 0 h 1322767"/>
              <a:gd name="connsiteX0-45" fmla="*/ 0 w 1762561"/>
              <a:gd name="connsiteY0-46" fmla="*/ 757268 h 1308598"/>
              <a:gd name="connsiteX1-47" fmla="*/ 605118 w 1762561"/>
              <a:gd name="connsiteY1-48" fmla="*/ 1308598 h 1308598"/>
              <a:gd name="connsiteX2-49" fmla="*/ 1762561 w 1762561"/>
              <a:gd name="connsiteY2-50" fmla="*/ 0 h 1308598"/>
              <a:gd name="connsiteX0-51" fmla="*/ 0 w 1762561"/>
              <a:gd name="connsiteY0-52" fmla="*/ 757268 h 1496527"/>
              <a:gd name="connsiteX1-53" fmla="*/ 798109 w 1762561"/>
              <a:gd name="connsiteY1-54" fmla="*/ 1496527 h 1496527"/>
              <a:gd name="connsiteX2-55" fmla="*/ 1762561 w 1762561"/>
              <a:gd name="connsiteY2-56" fmla="*/ 0 h 1496527"/>
              <a:gd name="connsiteX0-57" fmla="*/ 0 w 2258824"/>
              <a:gd name="connsiteY0-58" fmla="*/ 784115 h 1523374"/>
              <a:gd name="connsiteX1-59" fmla="*/ 798109 w 2258824"/>
              <a:gd name="connsiteY1-60" fmla="*/ 1523374 h 1523374"/>
              <a:gd name="connsiteX2-61" fmla="*/ 2258824 w 2258824"/>
              <a:gd name="connsiteY2-62" fmla="*/ 0 h 15233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58824" h="1523374">
                <a:moveTo>
                  <a:pt x="0" y="784115"/>
                </a:moveTo>
                <a:lnTo>
                  <a:pt x="798109" y="1523374"/>
                </a:lnTo>
                <a:lnTo>
                  <a:pt x="2258824" y="0"/>
                </a:lnTo>
              </a:path>
            </a:pathLst>
          </a:custGeom>
          <a:noFill/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燕尾形 42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五边形 43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燕尾形 44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燕尾形 45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扩展：</a:t>
            </a:r>
            <a:r>
              <a:rPr lang="en-US" altLang="zh-CN">
                <a:sym typeface="Huawei Sans" panose="020C0503030203020204" pitchFamily="34" charset="0"/>
              </a:rPr>
              <a:t>BGP SR Policy</a:t>
            </a:r>
            <a:r>
              <a:rPr lang="zh-CN" altLang="en-US">
                <a:sym typeface="Huawei Sans" panose="020C0503030203020204" pitchFamily="34" charset="0"/>
              </a:rPr>
              <a:t> </a:t>
            </a:r>
            <a:r>
              <a:rPr lang="en-US" altLang="zh-CN">
                <a:sym typeface="Huawei Sans" panose="020C0503030203020204" pitchFamily="34" charset="0"/>
              </a:rPr>
              <a:t>NLRI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SR Policy</a:t>
            </a:r>
            <a:r>
              <a:rPr lang="zh-CN" altLang="en-US" sz="1600" dirty="0"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ym typeface="Huawei Sans" panose="020C0503030203020204" pitchFamily="34" charset="0"/>
              </a:rPr>
              <a:t>NLRI</a:t>
            </a:r>
            <a:r>
              <a:rPr lang="zh-CN" altLang="en-US" sz="1600" dirty="0">
                <a:sym typeface="Huawei Sans" panose="020C0503030203020204" pitchFamily="34" charset="0"/>
              </a:rPr>
              <a:t>在</a:t>
            </a:r>
            <a:r>
              <a:rPr lang="en-US" altLang="zh-CN" sz="1600" dirty="0">
                <a:sym typeface="Huawei Sans" panose="020C0503030203020204" pitchFamily="34" charset="0"/>
              </a:rPr>
              <a:t>BGP Update</a:t>
            </a:r>
            <a:r>
              <a:rPr lang="zh-CN" altLang="en-US" sz="1600" dirty="0">
                <a:sym typeface="Huawei Sans" panose="020C0503030203020204" pitchFamily="34" charset="0"/>
              </a:rPr>
              <a:t>消息中携带。在</a:t>
            </a:r>
            <a:r>
              <a:rPr lang="en-US" altLang="zh-CN" sz="1600" dirty="0">
                <a:sym typeface="Huawei Sans" panose="020C0503030203020204" pitchFamily="34" charset="0"/>
              </a:rPr>
              <a:t>BGP</a:t>
            </a:r>
            <a:r>
              <a:rPr lang="zh-CN" altLang="en-US" sz="1600" dirty="0">
                <a:sym typeface="Huawei Sans" panose="020C0503030203020204" pitchFamily="34" charset="0"/>
              </a:rPr>
              <a:t>路由表呈现为</a:t>
            </a:r>
            <a:r>
              <a:rPr lang="en-US" altLang="zh-CN" sz="1600" dirty="0">
                <a:sym typeface="Huawei Sans" panose="020C0503030203020204" pitchFamily="34" charset="0"/>
              </a:rPr>
              <a:t>[distinguisher][</a:t>
            </a:r>
            <a:r>
              <a:rPr lang="en-US" altLang="zh-CN" sz="1600" dirty="0" err="1">
                <a:sym typeface="Huawei Sans" panose="020C0503030203020204" pitchFamily="34" charset="0"/>
              </a:rPr>
              <a:t>policycolor</a:t>
            </a:r>
            <a:r>
              <a:rPr lang="en-US" altLang="zh-CN" sz="1600" dirty="0">
                <a:sym typeface="Huawei Sans" panose="020C0503030203020204" pitchFamily="34" charset="0"/>
              </a:rPr>
              <a:t>][endpoint]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419308" y="2118996"/>
          <a:ext cx="6051592" cy="1281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9892"/>
                <a:gridCol w="3441700"/>
              </a:tblGrid>
              <a:tr h="320315"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NLRI Length </a:t>
                      </a:r>
                      <a:r>
                        <a:rPr lang="zh-CN" altLang="en-US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NLRI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的长度。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0315"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Distinguisher  </a:t>
                      </a:r>
                      <a:r>
                        <a:rPr lang="zh-CN" altLang="en-US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 Byte</a:t>
                      </a:r>
                      <a:r>
                        <a:rPr lang="zh-CN" altLang="en-US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policy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在元组中的唯一标示。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0315"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Policy Color  </a:t>
                      </a:r>
                      <a:r>
                        <a:rPr lang="zh-CN" altLang="en-US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 Byte</a:t>
                      </a:r>
                      <a:r>
                        <a:rPr lang="zh-CN" altLang="en-US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color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标示。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0315"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Endpoint  </a:t>
                      </a:r>
                      <a:r>
                        <a:rPr lang="zh-CN" altLang="en-US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 or 16 Byte</a:t>
                      </a:r>
                      <a:r>
                        <a:rPr lang="zh-CN" altLang="en-US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policy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的尾端。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 bwMode="gray">
          <a:xfrm>
            <a:off x="2419309" y="1723292"/>
            <a:ext cx="6051591" cy="33855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NLRI</a:t>
            </a:r>
            <a:r>
              <a:rPr lang="zh-CN" altLang="en-US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格式 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 bwMode="gray">
          <a:xfrm>
            <a:off x="1491673" y="3766511"/>
            <a:ext cx="9208654" cy="22467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700"/>
            </a:lvl1pPr>
          </a:lstStyle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[PE1]display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-policy routing-table 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…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RPKI validation codes: V - valid, I - invalid, N - not-found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Total Number of Routes: 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Network                                   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MED       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LocPrf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PrefVal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Path/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Ogn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*&gt;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</a:t>
            </a:r>
            <a:r>
              <a:rPr lang="en-US" altLang="zh-CN" sz="14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[22][5][1.0.0.12]                         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172.21.17.102   4294967286 100        0       ?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*&gt;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[26][3][1.0.0.12]                          172.21.17.102   4294967286 100        0       ?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*&gt;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[27][3][1.0.0.12]                          172.21.17.102   4294967286 100        0       ?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燕尾形 7"/>
          <p:cNvSpPr/>
          <p:nvPr/>
        </p:nvSpPr>
        <p:spPr bwMode="gray">
          <a:xfrm>
            <a:off x="10307500" y="102013"/>
            <a:ext cx="144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五边形 9"/>
          <p:cNvSpPr/>
          <p:nvPr/>
        </p:nvSpPr>
        <p:spPr bwMode="gray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10"/>
          <p:cNvSpPr/>
          <p:nvPr/>
        </p:nvSpPr>
        <p:spPr bwMode="gray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11"/>
          <p:cNvSpPr/>
          <p:nvPr/>
        </p:nvSpPr>
        <p:spPr bwMode="gray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燕尾形 10"/>
          <p:cNvSpPr/>
          <p:nvPr/>
        </p:nvSpPr>
        <p:spPr bwMode="gray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小结：</a:t>
            </a:r>
            <a:r>
              <a:rPr lang="en-US" altLang="zh-CN" dirty="0">
                <a:sym typeface="Huawei Sans" panose="020C0503030203020204" pitchFamily="34" charset="0"/>
              </a:rPr>
              <a:t>SR-MPLS</a:t>
            </a:r>
            <a:r>
              <a:rPr lang="zh-CN" altLang="en-US" dirty="0">
                <a:sym typeface="Huawei Sans" panose="020C0503030203020204" pitchFamily="34" charset="0"/>
              </a:rPr>
              <a:t>路径的生成方式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Segment Routing</a:t>
            </a:r>
            <a:r>
              <a:rPr lang="zh-CN" altLang="en-US" sz="1800" dirty="0">
                <a:sym typeface="Huawei Sans" panose="020C0503030203020204" pitchFamily="34" charset="0"/>
              </a:rPr>
              <a:t>是一种允许在头端节点选路而不需要依靠逐跳信令交互（</a:t>
            </a:r>
            <a:r>
              <a:rPr lang="en-US" altLang="zh-CN" sz="1800" dirty="0">
                <a:sym typeface="Huawei Sans" panose="020C0503030203020204" pitchFamily="34" charset="0"/>
              </a:rPr>
              <a:t>LDP/RSVP-TE</a:t>
            </a:r>
            <a:r>
              <a:rPr lang="zh-CN" altLang="en-US" sz="1800" dirty="0">
                <a:sym typeface="Huawei Sans" panose="020C0503030203020204" pitchFamily="34" charset="0"/>
              </a:rPr>
              <a:t>）的技术。</a:t>
            </a:r>
            <a:r>
              <a:rPr lang="en-US" altLang="zh-CN" sz="1800" dirty="0">
                <a:sym typeface="Huawei Sans" panose="020C0503030203020204" pitchFamily="34" charset="0"/>
              </a:rPr>
              <a:t>SR-MPLS</a:t>
            </a:r>
            <a:r>
              <a:rPr lang="zh-CN" altLang="en-US" sz="1800" dirty="0">
                <a:sym typeface="Huawei Sans" panose="020C0503030203020204" pitchFamily="34" charset="0"/>
              </a:rPr>
              <a:t>的路径依靠由</a:t>
            </a:r>
            <a:r>
              <a:rPr lang="en-US" altLang="zh-CN" sz="1800" dirty="0">
                <a:sym typeface="Huawei Sans" panose="020C0503030203020204" pitchFamily="34" charset="0"/>
              </a:rPr>
              <a:t>IGP</a:t>
            </a:r>
            <a:r>
              <a:rPr lang="zh-CN" altLang="en-US" sz="1800" dirty="0">
                <a:sym typeface="Huawei Sans" panose="020C0503030203020204" pitchFamily="34" charset="0"/>
              </a:rPr>
              <a:t>通告的</a:t>
            </a:r>
            <a:r>
              <a:rPr lang="en-US" altLang="zh-CN" sz="1800" dirty="0">
                <a:sym typeface="Huawei Sans" panose="020C0503030203020204" pitchFamily="34" charset="0"/>
              </a:rPr>
              <a:t>Segment</a:t>
            </a:r>
            <a:r>
              <a:rPr lang="zh-CN" altLang="en-US" sz="1800" dirty="0">
                <a:sym typeface="Huawei Sans" panose="020C0503030203020204" pitchFamily="34" charset="0"/>
              </a:rPr>
              <a:t>组成。</a:t>
            </a:r>
            <a:r>
              <a:rPr lang="en-US" altLang="zh-CN" sz="1800" dirty="0">
                <a:sym typeface="Huawei Sans" panose="020C0503030203020204" pitchFamily="34" charset="0"/>
              </a:rPr>
              <a:t>SR-MPLS</a:t>
            </a:r>
            <a:r>
              <a:rPr lang="zh-CN" altLang="en-US" sz="1800" dirty="0">
                <a:sym typeface="Huawei Sans" panose="020C0503030203020204" pitchFamily="34" charset="0"/>
              </a:rPr>
              <a:t>路径有多种生成机制：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转发器算路（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SPF/CSPF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）</a:t>
            </a:r>
            <a:endParaRPr lang="en-US" altLang="zh-CN" sz="1600" dirty="0">
              <a:highlight>
                <a:srgbClr val="FFFF00"/>
              </a:highlight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静态配置显式路径（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CLI/NETCONF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）</a:t>
            </a:r>
            <a:endParaRPr lang="en-US" altLang="zh-CN" sz="1600" dirty="0">
              <a:highlight>
                <a:srgbClr val="FFFF00"/>
              </a:highlight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控制器算路（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 PCEP/ BGP SR Policy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 ）</a:t>
            </a:r>
            <a:endParaRPr lang="en-US" altLang="zh-CN" sz="1600" dirty="0">
              <a:highlight>
                <a:srgbClr val="FFFF00"/>
              </a:highlight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BGP SR Policy</a:t>
            </a:r>
            <a:r>
              <a:rPr lang="zh-CN" altLang="en-US" sz="1800" dirty="0">
                <a:sym typeface="Huawei Sans" panose="020C0503030203020204" pitchFamily="34" charset="0"/>
              </a:rPr>
              <a:t>是当前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主流</a:t>
            </a:r>
            <a:r>
              <a:rPr lang="zh-CN" altLang="en-US" sz="1800" dirty="0">
                <a:sym typeface="Huawei Sans" panose="020C0503030203020204" pitchFamily="34" charset="0"/>
              </a:rPr>
              <a:t>的路径下发方式。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4" name="燕尾形 3"/>
          <p:cNvSpPr/>
          <p:nvPr/>
        </p:nvSpPr>
        <p:spPr bwMode="auto">
          <a:xfrm>
            <a:off x="10307500" y="102013"/>
            <a:ext cx="144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五边形 4"/>
          <p:cNvSpPr/>
          <p:nvPr/>
        </p:nvSpPr>
        <p:spPr bwMode="auto">
          <a:xfrm>
            <a:off x="6051655" y="102013"/>
            <a:ext cx="1192192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基本概念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燕尾形 5"/>
          <p:cNvSpPr/>
          <p:nvPr/>
        </p:nvSpPr>
        <p:spPr bwMode="auto">
          <a:xfrm>
            <a:off x="92018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燕尾形 6"/>
          <p:cNvSpPr/>
          <p:nvPr/>
        </p:nvSpPr>
        <p:spPr bwMode="auto">
          <a:xfrm>
            <a:off x="8096299" y="102013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燕尾形 10"/>
          <p:cNvSpPr/>
          <p:nvPr/>
        </p:nvSpPr>
        <p:spPr bwMode="auto">
          <a:xfrm>
            <a:off x="7197447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基本原理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概述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技术原理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>
                <a:sym typeface="Huawei Sans" panose="020C0503030203020204" pitchFamily="34" charset="0"/>
              </a:rPr>
              <a:t>Segment Routing</a:t>
            </a:r>
            <a:r>
              <a:rPr lang="zh-CN" altLang="en-US" b="1" dirty="0">
                <a:sym typeface="Huawei Sans" panose="020C0503030203020204" pitchFamily="34" charset="0"/>
              </a:rPr>
              <a:t>隧道保护与检测技术</a:t>
            </a:r>
            <a:endParaRPr lang="zh-CN" altLang="en-US" b="1" dirty="0"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的典型应用场景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的基础配置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SR-MPLS</a:t>
            </a:r>
            <a:r>
              <a:rPr lang="zh-CN" altLang="en-US" dirty="0">
                <a:sym typeface="Huawei Sans" panose="020C0503030203020204" pitchFamily="34" charset="0"/>
              </a:rPr>
              <a:t>故障保护技术概览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TE</a:t>
            </a:r>
            <a:r>
              <a:rPr lang="zh-CN" altLang="en-US" sz="1800" dirty="0">
                <a:sym typeface="Huawei Sans" panose="020C0503030203020204" pitchFamily="34" charset="0"/>
              </a:rPr>
              <a:t>隧道故障保护有两种思路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局部保护</a:t>
            </a:r>
            <a:r>
              <a:rPr lang="zh-CN" altLang="en-US" sz="1800" dirty="0">
                <a:sym typeface="Huawei Sans" panose="020C0503030203020204" pitchFamily="34" charset="0"/>
              </a:rPr>
              <a:t>与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端到端保护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r>
              <a:rPr lang="en-US" altLang="zh-CN" sz="1800" dirty="0">
                <a:sym typeface="Huawei Sans" panose="020C0503030203020204" pitchFamily="34" charset="0"/>
              </a:rPr>
              <a:t>SR-MPLS TE</a:t>
            </a:r>
            <a:r>
              <a:rPr lang="zh-CN" altLang="en-US" sz="1800" dirty="0">
                <a:sym typeface="Huawei Sans" panose="020C0503030203020204" pitchFamily="34" charset="0"/>
              </a:rPr>
              <a:t>沿用此思路，并在此基础上增强。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 bwMode="gray">
          <a:xfrm>
            <a:off x="915049" y="2245005"/>
            <a:ext cx="11079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206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局部保护</a:t>
            </a:r>
            <a:endParaRPr lang="zh-CN" altLang="en-US">
              <a:solidFill>
                <a:srgbClr val="00206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 bwMode="gray">
          <a:xfrm>
            <a:off x="908502" y="4141881"/>
            <a:ext cx="133882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206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端到端保护</a:t>
            </a:r>
            <a:endParaRPr lang="zh-CN" altLang="en-US">
              <a:solidFill>
                <a:srgbClr val="00206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" name="直接连接符 6"/>
          <p:cNvCxnSpPr>
            <a:stCxn id="24" idx="0"/>
            <a:endCxn id="23" idx="2"/>
          </p:cNvCxnSpPr>
          <p:nvPr/>
        </p:nvCxnSpPr>
        <p:spPr bwMode="gray">
          <a:xfrm flipV="1">
            <a:off x="7858610" y="2215594"/>
            <a:ext cx="0" cy="10405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20" idx="0"/>
            <a:endCxn id="19" idx="2"/>
          </p:cNvCxnSpPr>
          <p:nvPr/>
        </p:nvCxnSpPr>
        <p:spPr bwMode="gray">
          <a:xfrm flipV="1">
            <a:off x="4708052" y="2215594"/>
            <a:ext cx="0" cy="10405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 bwMode="gray">
          <a:xfrm>
            <a:off x="3780998" y="2716378"/>
            <a:ext cx="911125" cy="7099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gray">
          <a:xfrm flipV="1">
            <a:off x="3819803" y="2029519"/>
            <a:ext cx="911125" cy="7024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 bwMode="gray">
          <a:xfrm flipH="1">
            <a:off x="4742824" y="2029516"/>
            <a:ext cx="28726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 bwMode="gray">
          <a:xfrm flipH="1">
            <a:off x="4742824" y="3497048"/>
            <a:ext cx="28726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 bwMode="gray">
          <a:xfrm flipV="1">
            <a:off x="6284738" y="2029517"/>
            <a:ext cx="0" cy="13967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585644" y="2530680"/>
            <a:ext cx="468318" cy="383051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473893" y="1832543"/>
            <a:ext cx="468318" cy="383051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473893" y="3256112"/>
            <a:ext cx="468318" cy="383051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57967" y="1832543"/>
            <a:ext cx="468318" cy="383051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57967" y="3256112"/>
            <a:ext cx="468318" cy="383051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624451" y="1832543"/>
            <a:ext cx="468318" cy="383051"/>
          </a:xfrm>
          <a:prstGeom prst="rect">
            <a:avLst/>
          </a:prstGeom>
        </p:spPr>
      </p:pic>
      <p:pic>
        <p:nvPicPr>
          <p:cNvPr id="24" name="图片 2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624451" y="3256112"/>
            <a:ext cx="468318" cy="383051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 bwMode="gray">
          <a:xfrm>
            <a:off x="3438319" y="3017086"/>
            <a:ext cx="8402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8029234" y="1877633"/>
            <a:ext cx="774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任意多边形: 形状 56"/>
          <p:cNvSpPr/>
          <p:nvPr/>
        </p:nvSpPr>
        <p:spPr bwMode="gray">
          <a:xfrm>
            <a:off x="3464534" y="1743590"/>
            <a:ext cx="4355271" cy="1011738"/>
          </a:xfrm>
          <a:custGeom>
            <a:avLst/>
            <a:gdLst>
              <a:gd name="connsiteX0" fmla="*/ 0 w 4817660"/>
              <a:gd name="connsiteY0" fmla="*/ 1011738 h 1011738"/>
              <a:gd name="connsiteX1" fmla="*/ 914400 w 4817660"/>
              <a:gd name="connsiteY1" fmla="*/ 424884 h 1011738"/>
              <a:gd name="connsiteX2" fmla="*/ 1187355 w 4817660"/>
              <a:gd name="connsiteY2" fmla="*/ 138281 h 1011738"/>
              <a:gd name="connsiteX3" fmla="*/ 2156346 w 4817660"/>
              <a:gd name="connsiteY3" fmla="*/ 1804 h 1011738"/>
              <a:gd name="connsiteX4" fmla="*/ 2893325 w 4817660"/>
              <a:gd name="connsiteY4" fmla="*/ 56395 h 1011738"/>
              <a:gd name="connsiteX5" fmla="*/ 3889612 w 4817660"/>
              <a:gd name="connsiteY5" fmla="*/ 1804 h 1011738"/>
              <a:gd name="connsiteX6" fmla="*/ 4817660 w 4817660"/>
              <a:gd name="connsiteY6" fmla="*/ 124633 h 1011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7660" h="1011738">
                <a:moveTo>
                  <a:pt x="0" y="1011738"/>
                </a:moveTo>
                <a:cubicBezTo>
                  <a:pt x="358254" y="791099"/>
                  <a:pt x="716508" y="570460"/>
                  <a:pt x="914400" y="424884"/>
                </a:cubicBezTo>
                <a:cubicBezTo>
                  <a:pt x="1112292" y="279308"/>
                  <a:pt x="980364" y="208794"/>
                  <a:pt x="1187355" y="138281"/>
                </a:cubicBezTo>
                <a:cubicBezTo>
                  <a:pt x="1394346" y="67768"/>
                  <a:pt x="1872018" y="15452"/>
                  <a:pt x="2156346" y="1804"/>
                </a:cubicBezTo>
                <a:cubicBezTo>
                  <a:pt x="2440674" y="-11844"/>
                  <a:pt x="2604447" y="56395"/>
                  <a:pt x="2893325" y="56395"/>
                </a:cubicBezTo>
                <a:cubicBezTo>
                  <a:pt x="3182203" y="56395"/>
                  <a:pt x="3568890" y="-9569"/>
                  <a:pt x="3889612" y="1804"/>
                </a:cubicBezTo>
                <a:cubicBezTo>
                  <a:pt x="4210334" y="13177"/>
                  <a:pt x="4635690" y="104162"/>
                  <a:pt x="4817660" y="124633"/>
                </a:cubicBezTo>
              </a:path>
            </a:pathLst>
          </a:custGeom>
          <a:noFill/>
          <a:ln w="3810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8" name="组合 67"/>
          <p:cNvGrpSpPr/>
          <p:nvPr/>
        </p:nvGrpSpPr>
        <p:grpSpPr bwMode="gray">
          <a:xfrm>
            <a:off x="5357364" y="1856626"/>
            <a:ext cx="288000" cy="288000"/>
            <a:chOff x="856677" y="2615810"/>
            <a:chExt cx="288000" cy="288000"/>
          </a:xfrm>
        </p:grpSpPr>
        <p:sp>
          <p:nvSpPr>
            <p:cNvPr id="69" name="椭圆 68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70" name="组合 69"/>
            <p:cNvGrpSpPr/>
            <p:nvPr/>
          </p:nvGrpSpPr>
          <p:grpSpPr bwMode="gray">
            <a:xfrm>
              <a:off x="923444" y="2692169"/>
              <a:ext cx="144001" cy="144002"/>
              <a:chOff x="898853" y="2657982"/>
              <a:chExt cx="203649" cy="203652"/>
            </a:xfrm>
          </p:grpSpPr>
          <p:cxnSp>
            <p:nvCxnSpPr>
              <p:cNvPr id="71" name="直接连接符 70"/>
              <p:cNvCxnSpPr>
                <a:stCxn id="69" idx="3"/>
                <a:endCxn id="69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>
                <a:stCxn id="69" idx="1"/>
                <a:endCxn id="69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6" name="任意多边形: 形状 85"/>
          <p:cNvSpPr/>
          <p:nvPr/>
        </p:nvSpPr>
        <p:spPr bwMode="gray">
          <a:xfrm>
            <a:off x="4669947" y="2223513"/>
            <a:ext cx="1511708" cy="1245001"/>
          </a:xfrm>
          <a:custGeom>
            <a:avLst/>
            <a:gdLst>
              <a:gd name="connsiteX0" fmla="*/ 237666 w 1629737"/>
              <a:gd name="connsiteY0" fmla="*/ 0 h 1605289"/>
              <a:gd name="connsiteX1" fmla="*/ 73893 w 1629737"/>
              <a:gd name="connsiteY1" fmla="*/ 1269242 h 1605289"/>
              <a:gd name="connsiteX2" fmla="*/ 1288543 w 1629737"/>
              <a:gd name="connsiteY2" fmla="*/ 1528550 h 1605289"/>
              <a:gd name="connsiteX3" fmla="*/ 1629737 w 1629737"/>
              <a:gd name="connsiteY3" fmla="*/ 122830 h 1605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9737" h="1605289">
                <a:moveTo>
                  <a:pt x="237666" y="0"/>
                </a:moveTo>
                <a:cubicBezTo>
                  <a:pt x="68206" y="507242"/>
                  <a:pt x="-101253" y="1014484"/>
                  <a:pt x="73893" y="1269242"/>
                </a:cubicBezTo>
                <a:cubicBezTo>
                  <a:pt x="249039" y="1524000"/>
                  <a:pt x="1029236" y="1719619"/>
                  <a:pt x="1288543" y="1528550"/>
                </a:cubicBezTo>
                <a:cubicBezTo>
                  <a:pt x="1547850" y="1337481"/>
                  <a:pt x="1588793" y="730155"/>
                  <a:pt x="1629737" y="122830"/>
                </a:cubicBezTo>
              </a:path>
            </a:pathLst>
          </a:custGeom>
          <a:noFill/>
          <a:ln w="38100">
            <a:solidFill>
              <a:srgbClr val="FCC8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8" name="直接连接符 97"/>
          <p:cNvCxnSpPr>
            <a:stCxn id="111" idx="0"/>
            <a:endCxn id="110" idx="2"/>
          </p:cNvCxnSpPr>
          <p:nvPr/>
        </p:nvCxnSpPr>
        <p:spPr bwMode="gray">
          <a:xfrm flipV="1">
            <a:off x="7858610" y="4604822"/>
            <a:ext cx="0" cy="10405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>
            <a:stCxn id="107" idx="0"/>
            <a:endCxn id="106" idx="2"/>
          </p:cNvCxnSpPr>
          <p:nvPr/>
        </p:nvCxnSpPr>
        <p:spPr bwMode="gray">
          <a:xfrm flipV="1">
            <a:off x="4708052" y="4604822"/>
            <a:ext cx="0" cy="10405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 bwMode="gray">
          <a:xfrm>
            <a:off x="3780998" y="5105606"/>
            <a:ext cx="911125" cy="7099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 bwMode="gray">
          <a:xfrm flipV="1">
            <a:off x="3819803" y="4418747"/>
            <a:ext cx="911125" cy="7024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 bwMode="gray">
          <a:xfrm flipH="1">
            <a:off x="4742824" y="4418744"/>
            <a:ext cx="28726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 bwMode="gray">
          <a:xfrm flipH="1">
            <a:off x="4669947" y="5886276"/>
            <a:ext cx="28726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 bwMode="gray">
          <a:xfrm flipV="1">
            <a:off x="6284738" y="4418745"/>
            <a:ext cx="0" cy="14675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图片 10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585644" y="4919908"/>
            <a:ext cx="468318" cy="383051"/>
          </a:xfrm>
          <a:prstGeom prst="rect">
            <a:avLst/>
          </a:prstGeom>
        </p:spPr>
      </p:pic>
      <p:pic>
        <p:nvPicPr>
          <p:cNvPr id="106" name="图片 10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473893" y="4221771"/>
            <a:ext cx="468318" cy="383051"/>
          </a:xfrm>
          <a:prstGeom prst="rect">
            <a:avLst/>
          </a:prstGeom>
        </p:spPr>
      </p:pic>
      <p:pic>
        <p:nvPicPr>
          <p:cNvPr id="107" name="图片 10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473893" y="5645340"/>
            <a:ext cx="468318" cy="383051"/>
          </a:xfrm>
          <a:prstGeom prst="rect">
            <a:avLst/>
          </a:prstGeom>
        </p:spPr>
      </p:pic>
      <p:pic>
        <p:nvPicPr>
          <p:cNvPr id="108" name="图片 10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57967" y="4221771"/>
            <a:ext cx="468318" cy="383051"/>
          </a:xfrm>
          <a:prstGeom prst="rect">
            <a:avLst/>
          </a:prstGeom>
        </p:spPr>
      </p:pic>
      <p:pic>
        <p:nvPicPr>
          <p:cNvPr id="109" name="图片 10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57967" y="5645340"/>
            <a:ext cx="468318" cy="383051"/>
          </a:xfrm>
          <a:prstGeom prst="rect">
            <a:avLst/>
          </a:prstGeom>
        </p:spPr>
      </p:pic>
      <p:pic>
        <p:nvPicPr>
          <p:cNvPr id="110" name="图片 10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624451" y="4221771"/>
            <a:ext cx="468318" cy="383051"/>
          </a:xfrm>
          <a:prstGeom prst="rect">
            <a:avLst/>
          </a:prstGeom>
        </p:spPr>
      </p:pic>
      <p:pic>
        <p:nvPicPr>
          <p:cNvPr id="111" name="图片 11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624451" y="5645340"/>
            <a:ext cx="468318" cy="383051"/>
          </a:xfrm>
          <a:prstGeom prst="rect">
            <a:avLst/>
          </a:prstGeom>
        </p:spPr>
      </p:pic>
      <p:sp>
        <p:nvSpPr>
          <p:cNvPr id="112" name="文本框 111"/>
          <p:cNvSpPr txBox="1"/>
          <p:nvPr/>
        </p:nvSpPr>
        <p:spPr bwMode="gray">
          <a:xfrm>
            <a:off x="3438319" y="5406314"/>
            <a:ext cx="8402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3" name="文本框 112"/>
          <p:cNvSpPr txBox="1"/>
          <p:nvPr/>
        </p:nvSpPr>
        <p:spPr bwMode="gray">
          <a:xfrm>
            <a:off x="8029234" y="4266861"/>
            <a:ext cx="774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4" name="任意多边形: 形状 113"/>
          <p:cNvSpPr/>
          <p:nvPr/>
        </p:nvSpPr>
        <p:spPr bwMode="gray">
          <a:xfrm>
            <a:off x="3464534" y="4132818"/>
            <a:ext cx="4355271" cy="1011738"/>
          </a:xfrm>
          <a:custGeom>
            <a:avLst/>
            <a:gdLst>
              <a:gd name="connsiteX0" fmla="*/ 0 w 4817660"/>
              <a:gd name="connsiteY0" fmla="*/ 1011738 h 1011738"/>
              <a:gd name="connsiteX1" fmla="*/ 914400 w 4817660"/>
              <a:gd name="connsiteY1" fmla="*/ 424884 h 1011738"/>
              <a:gd name="connsiteX2" fmla="*/ 1187355 w 4817660"/>
              <a:gd name="connsiteY2" fmla="*/ 138281 h 1011738"/>
              <a:gd name="connsiteX3" fmla="*/ 2156346 w 4817660"/>
              <a:gd name="connsiteY3" fmla="*/ 1804 h 1011738"/>
              <a:gd name="connsiteX4" fmla="*/ 2893325 w 4817660"/>
              <a:gd name="connsiteY4" fmla="*/ 56395 h 1011738"/>
              <a:gd name="connsiteX5" fmla="*/ 3889612 w 4817660"/>
              <a:gd name="connsiteY5" fmla="*/ 1804 h 1011738"/>
              <a:gd name="connsiteX6" fmla="*/ 4817660 w 4817660"/>
              <a:gd name="connsiteY6" fmla="*/ 124633 h 1011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7660" h="1011738">
                <a:moveTo>
                  <a:pt x="0" y="1011738"/>
                </a:moveTo>
                <a:cubicBezTo>
                  <a:pt x="358254" y="791099"/>
                  <a:pt x="716508" y="570460"/>
                  <a:pt x="914400" y="424884"/>
                </a:cubicBezTo>
                <a:cubicBezTo>
                  <a:pt x="1112292" y="279308"/>
                  <a:pt x="980364" y="208794"/>
                  <a:pt x="1187355" y="138281"/>
                </a:cubicBezTo>
                <a:cubicBezTo>
                  <a:pt x="1394346" y="67768"/>
                  <a:pt x="1872018" y="15452"/>
                  <a:pt x="2156346" y="1804"/>
                </a:cubicBezTo>
                <a:cubicBezTo>
                  <a:pt x="2440674" y="-11844"/>
                  <a:pt x="2604447" y="56395"/>
                  <a:pt x="2893325" y="56395"/>
                </a:cubicBezTo>
                <a:cubicBezTo>
                  <a:pt x="3182203" y="56395"/>
                  <a:pt x="3568890" y="-9569"/>
                  <a:pt x="3889612" y="1804"/>
                </a:cubicBezTo>
                <a:cubicBezTo>
                  <a:pt x="4210334" y="13177"/>
                  <a:pt x="4635690" y="104162"/>
                  <a:pt x="4817660" y="124633"/>
                </a:cubicBezTo>
              </a:path>
            </a:pathLst>
          </a:custGeom>
          <a:noFill/>
          <a:ln w="3810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5" name="组合 114"/>
          <p:cNvGrpSpPr/>
          <p:nvPr/>
        </p:nvGrpSpPr>
        <p:grpSpPr bwMode="gray">
          <a:xfrm>
            <a:off x="5357364" y="4245854"/>
            <a:ext cx="288000" cy="288000"/>
            <a:chOff x="856677" y="2615810"/>
            <a:chExt cx="288000" cy="288000"/>
          </a:xfrm>
        </p:grpSpPr>
        <p:sp>
          <p:nvSpPr>
            <p:cNvPr id="116" name="椭圆 115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17" name="组合 116"/>
            <p:cNvGrpSpPr/>
            <p:nvPr/>
          </p:nvGrpSpPr>
          <p:grpSpPr bwMode="gray">
            <a:xfrm>
              <a:off x="923444" y="2692169"/>
              <a:ext cx="144001" cy="144002"/>
              <a:chOff x="898853" y="2657982"/>
              <a:chExt cx="203649" cy="203652"/>
            </a:xfrm>
          </p:grpSpPr>
          <p:cxnSp>
            <p:nvCxnSpPr>
              <p:cNvPr id="118" name="直接连接符 117"/>
              <p:cNvCxnSpPr>
                <a:stCxn id="116" idx="3"/>
                <a:endCxn id="116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>
                <a:stCxn id="116" idx="1"/>
                <a:endCxn id="116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5" name="任意多边形: 形状 84"/>
          <p:cNvSpPr/>
          <p:nvPr/>
        </p:nvSpPr>
        <p:spPr bwMode="gray">
          <a:xfrm>
            <a:off x="3651138" y="4701350"/>
            <a:ext cx="4273382" cy="1266064"/>
          </a:xfrm>
          <a:custGeom>
            <a:avLst/>
            <a:gdLst>
              <a:gd name="connsiteX0" fmla="*/ 0 w 4148919"/>
              <a:gd name="connsiteY0" fmla="*/ 573206 h 1555885"/>
              <a:gd name="connsiteX1" fmla="*/ 955343 w 4148919"/>
              <a:gd name="connsiteY1" fmla="*/ 1282890 h 1555885"/>
              <a:gd name="connsiteX2" fmla="*/ 1269242 w 4148919"/>
              <a:gd name="connsiteY2" fmla="*/ 1419367 h 1555885"/>
              <a:gd name="connsiteX3" fmla="*/ 2210937 w 4148919"/>
              <a:gd name="connsiteY3" fmla="*/ 1555845 h 1555885"/>
              <a:gd name="connsiteX4" fmla="*/ 2906973 w 4148919"/>
              <a:gd name="connsiteY4" fmla="*/ 1405719 h 1555885"/>
              <a:gd name="connsiteX5" fmla="*/ 3698543 w 4148919"/>
              <a:gd name="connsiteY5" fmla="*/ 1446663 h 1555885"/>
              <a:gd name="connsiteX6" fmla="*/ 4148919 w 4148919"/>
              <a:gd name="connsiteY6" fmla="*/ 0 h 1555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48919" h="1555885">
                <a:moveTo>
                  <a:pt x="0" y="573206"/>
                </a:moveTo>
                <a:cubicBezTo>
                  <a:pt x="371901" y="857534"/>
                  <a:pt x="743803" y="1141863"/>
                  <a:pt x="955343" y="1282890"/>
                </a:cubicBezTo>
                <a:cubicBezTo>
                  <a:pt x="1166883" y="1423917"/>
                  <a:pt x="1059976" y="1373875"/>
                  <a:pt x="1269242" y="1419367"/>
                </a:cubicBezTo>
                <a:cubicBezTo>
                  <a:pt x="1478508" y="1464859"/>
                  <a:pt x="1937982" y="1558120"/>
                  <a:pt x="2210937" y="1555845"/>
                </a:cubicBezTo>
                <a:cubicBezTo>
                  <a:pt x="2483892" y="1553570"/>
                  <a:pt x="2659039" y="1423916"/>
                  <a:pt x="2906973" y="1405719"/>
                </a:cubicBezTo>
                <a:cubicBezTo>
                  <a:pt x="3154907" y="1387522"/>
                  <a:pt x="3491552" y="1680950"/>
                  <a:pt x="3698543" y="1446663"/>
                </a:cubicBezTo>
                <a:cubicBezTo>
                  <a:pt x="3905534" y="1212376"/>
                  <a:pt x="4064758" y="257033"/>
                  <a:pt x="4148919" y="0"/>
                </a:cubicBezTo>
              </a:path>
            </a:pathLst>
          </a:custGeom>
          <a:noFill/>
          <a:ln w="38100">
            <a:solidFill>
              <a:srgbClr val="FCC8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3" name="文本框 122"/>
          <p:cNvSpPr txBox="1"/>
          <p:nvPr/>
        </p:nvSpPr>
        <p:spPr bwMode="gray">
          <a:xfrm>
            <a:off x="861569" y="2790648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切换快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只保护链路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节点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4" name="文本框 123"/>
          <p:cNvSpPr txBox="1"/>
          <p:nvPr/>
        </p:nvSpPr>
        <p:spPr bwMode="gray">
          <a:xfrm>
            <a:off x="861569" y="4592531"/>
            <a:ext cx="25250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依赖检测机制快速切换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保护端到端路径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5" name="文本框 124"/>
          <p:cNvSpPr txBox="1"/>
          <p:nvPr/>
        </p:nvSpPr>
        <p:spPr bwMode="gray">
          <a:xfrm>
            <a:off x="9196070" y="2211705"/>
            <a:ext cx="1996440" cy="337185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6" name="文本框 125"/>
          <p:cNvSpPr txBox="1"/>
          <p:nvPr/>
        </p:nvSpPr>
        <p:spPr bwMode="gray">
          <a:xfrm>
            <a:off x="9196070" y="4942205"/>
            <a:ext cx="2035175" cy="337185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Hot-Standby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27" name="文本框 126"/>
          <p:cNvSpPr txBox="1"/>
          <p:nvPr/>
        </p:nvSpPr>
        <p:spPr bwMode="gray">
          <a:xfrm>
            <a:off x="9196070" y="2730500"/>
            <a:ext cx="1623695" cy="287655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Anycast FRR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8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TI-LFA FRR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TI-LFA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Topology-Independent Loop-free Alternate</a:t>
            </a:r>
            <a:r>
              <a:rPr lang="zh-CN" altLang="en-US" sz="1800" dirty="0">
                <a:sym typeface="Huawei Sans" panose="020C0503030203020204" pitchFamily="34" charset="0"/>
              </a:rPr>
              <a:t>）</a:t>
            </a:r>
            <a:r>
              <a:rPr lang="en-US" altLang="zh-CN" sz="1800" dirty="0">
                <a:sym typeface="Huawei Sans" panose="020C0503030203020204" pitchFamily="34" charset="0"/>
              </a:rPr>
              <a:t>FRR</a:t>
            </a:r>
            <a:r>
              <a:rPr lang="zh-CN" altLang="en-US" sz="1800" dirty="0">
                <a:sym typeface="Huawei Sans" panose="020C0503030203020204" pitchFamily="34" charset="0"/>
              </a:rPr>
              <a:t>能为</a:t>
            </a:r>
            <a:r>
              <a:rPr lang="en-US" altLang="zh-CN" sz="1800" dirty="0">
                <a:sym typeface="Huawei Sans" panose="020C0503030203020204" pitchFamily="34" charset="0"/>
              </a:rPr>
              <a:t>Segment Routing</a:t>
            </a:r>
            <a:r>
              <a:rPr lang="zh-CN" altLang="en-US" sz="1800" dirty="0">
                <a:sym typeface="Huawei Sans" panose="020C0503030203020204" pitchFamily="34" charset="0"/>
              </a:rPr>
              <a:t>隧道提供链路及节点的保护。当某处链路或节点故障时，流量会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快速切换到备份路径</a:t>
            </a:r>
            <a:r>
              <a:rPr lang="zh-CN" altLang="en-US" sz="1800" dirty="0">
                <a:sym typeface="Huawei Sans" panose="020C0503030203020204" pitchFamily="34" charset="0"/>
              </a:rPr>
              <a:t>继续转发。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 bwMode="gray">
          <a:xfrm>
            <a:off x="2402429" y="2035051"/>
            <a:ext cx="1763624" cy="33855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ym typeface="Huawei Sans" panose="020C0503030203020204" pitchFamily="34" charset="0"/>
              </a:rPr>
              <a:t>传统</a:t>
            </a:r>
            <a:r>
              <a:rPr lang="en-US" altLang="zh-CN" dirty="0">
                <a:sym typeface="Huawei Sans" panose="020C0503030203020204" pitchFamily="34" charset="0"/>
              </a:rPr>
              <a:t>LFA</a:t>
            </a:r>
            <a:r>
              <a:rPr lang="zh-CN" altLang="en-US" dirty="0">
                <a:sym typeface="Huawei Sans" panose="020C0503030203020204" pitchFamily="34" charset="0"/>
              </a:rPr>
              <a:t>算法局限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>
            <a:stCxn id="15" idx="0"/>
            <a:endCxn id="14" idx="2"/>
          </p:cNvCxnSpPr>
          <p:nvPr/>
        </p:nvCxnSpPr>
        <p:spPr bwMode="gray">
          <a:xfrm flipV="1">
            <a:off x="4781931" y="4403373"/>
            <a:ext cx="0" cy="10405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gray">
          <a:xfrm flipH="1">
            <a:off x="1666145" y="4217295"/>
            <a:ext cx="28726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 bwMode="gray">
          <a:xfrm flipH="1">
            <a:off x="1666145" y="5684827"/>
            <a:ext cx="28726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gray">
          <a:xfrm flipV="1">
            <a:off x="3208059" y="4217296"/>
            <a:ext cx="0" cy="13967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642874" y="4020322"/>
            <a:ext cx="468318" cy="383051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642874" y="5443891"/>
            <a:ext cx="468318" cy="383051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81288" y="4020322"/>
            <a:ext cx="468318" cy="383051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81288" y="5443891"/>
            <a:ext cx="468318" cy="383051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547772" y="4020322"/>
            <a:ext cx="468318" cy="383051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547772" y="5443891"/>
            <a:ext cx="468318" cy="38305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 bwMode="gray">
          <a:xfrm>
            <a:off x="2997194" y="3642200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 bwMode="gray">
          <a:xfrm>
            <a:off x="4552462" y="3642200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 bwMode="gray">
          <a:xfrm>
            <a:off x="2997194" y="5866510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4552462" y="5866510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1269337" y="3551612"/>
            <a:ext cx="1186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SIP: 1.1.1.1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 bwMode="gray">
          <a:xfrm>
            <a:off x="1196306" y="5061706"/>
            <a:ext cx="10951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DIP: 4.4.4.4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3544841" y="3890166"/>
            <a:ext cx="845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Cost=10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3544841" y="5755594"/>
            <a:ext cx="845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Cost=10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 bwMode="gray">
          <a:xfrm>
            <a:off x="2706158" y="4867776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 =10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 bwMode="gray">
          <a:xfrm>
            <a:off x="4250335" y="4748922"/>
            <a:ext cx="1002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 =100</a:t>
            </a:r>
            <a:endParaRPr lang="zh-CN" altLang="en-US" sz="1400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任意多边形: 形状 31"/>
          <p:cNvSpPr/>
          <p:nvPr/>
        </p:nvSpPr>
        <p:spPr bwMode="gray">
          <a:xfrm>
            <a:off x="1936350" y="4299917"/>
            <a:ext cx="1275310" cy="1231522"/>
          </a:xfrm>
          <a:custGeom>
            <a:avLst/>
            <a:gdLst>
              <a:gd name="connsiteX0" fmla="*/ 0 w 1275310"/>
              <a:gd name="connsiteY0" fmla="*/ 30651 h 1231522"/>
              <a:gd name="connsiteX1" fmla="*/ 996286 w 1275310"/>
              <a:gd name="connsiteY1" fmla="*/ 17003 h 1231522"/>
              <a:gd name="connsiteX2" fmla="*/ 1173707 w 1275310"/>
              <a:gd name="connsiteY2" fmla="*/ 235367 h 1231522"/>
              <a:gd name="connsiteX3" fmla="*/ 1201003 w 1275310"/>
              <a:gd name="connsiteY3" fmla="*/ 1108824 h 1231522"/>
              <a:gd name="connsiteX4" fmla="*/ 177420 w 1275310"/>
              <a:gd name="connsiteY4" fmla="*/ 1204358 h 123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5310" h="1231522">
                <a:moveTo>
                  <a:pt x="0" y="30651"/>
                </a:moveTo>
                <a:cubicBezTo>
                  <a:pt x="400334" y="6767"/>
                  <a:pt x="800668" y="-17116"/>
                  <a:pt x="996286" y="17003"/>
                </a:cubicBezTo>
                <a:cubicBezTo>
                  <a:pt x="1191904" y="51122"/>
                  <a:pt x="1139588" y="53397"/>
                  <a:pt x="1173707" y="235367"/>
                </a:cubicBezTo>
                <a:cubicBezTo>
                  <a:pt x="1207827" y="417337"/>
                  <a:pt x="1367051" y="947326"/>
                  <a:pt x="1201003" y="1108824"/>
                </a:cubicBezTo>
                <a:cubicBezTo>
                  <a:pt x="1034955" y="1270322"/>
                  <a:pt x="606187" y="1237340"/>
                  <a:pt x="177420" y="1204358"/>
                </a:cubicBezTo>
              </a:path>
            </a:pathLst>
          </a:custGeom>
          <a:noFill/>
          <a:ln w="38100">
            <a:solidFill>
              <a:srgbClr val="FCC8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7" name="组合 16"/>
          <p:cNvGrpSpPr/>
          <p:nvPr/>
        </p:nvGrpSpPr>
        <p:grpSpPr bwMode="gray">
          <a:xfrm>
            <a:off x="3087727" y="4501626"/>
            <a:ext cx="288000" cy="288000"/>
            <a:chOff x="856677" y="2615810"/>
            <a:chExt cx="288000" cy="288000"/>
          </a:xfrm>
        </p:grpSpPr>
        <p:sp>
          <p:nvSpPr>
            <p:cNvPr id="18" name="椭圆 17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9" name="组合 18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20" name="直接连接符 19"/>
              <p:cNvCxnSpPr>
                <a:stCxn id="18" idx="3"/>
                <a:endCxn id="18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>
                <a:stCxn id="18" idx="1"/>
                <a:endCxn id="18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直接连接符 33"/>
          <p:cNvCxnSpPr/>
          <p:nvPr/>
        </p:nvCxnSpPr>
        <p:spPr bwMode="gray">
          <a:xfrm flipH="1">
            <a:off x="3588337" y="4362429"/>
            <a:ext cx="705494" cy="0"/>
          </a:xfrm>
          <a:prstGeom prst="line">
            <a:avLst/>
          </a:prstGeom>
          <a:noFill/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文本框 34"/>
          <p:cNvSpPr txBox="1"/>
          <p:nvPr/>
        </p:nvSpPr>
        <p:spPr bwMode="gray">
          <a:xfrm>
            <a:off x="608268" y="2487285"/>
            <a:ext cx="5364162" cy="95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传统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LFA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算法依赖拓扑存在局限。如图所示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转发到达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。此时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R1-R3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链路故障，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将流量转发给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。但是在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感知到故障前无法形成备份路径。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8045208" y="2035051"/>
            <a:ext cx="1196161" cy="33855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sym typeface="Huawei Sans" panose="020C0503030203020204" pitchFamily="34" charset="0"/>
              </a:rPr>
              <a:t>TI-LFA</a:t>
            </a:r>
            <a:r>
              <a:rPr lang="zh-CN" altLang="en-US" dirty="0">
                <a:sym typeface="Huawei Sans" panose="020C0503030203020204" pitchFamily="34" charset="0"/>
              </a:rPr>
              <a:t>算法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cxnSp>
        <p:nvCxnSpPr>
          <p:cNvPr id="37" name="直接连接符 36"/>
          <p:cNvCxnSpPr>
            <a:stCxn id="46" idx="0"/>
            <a:endCxn id="45" idx="2"/>
          </p:cNvCxnSpPr>
          <p:nvPr/>
        </p:nvCxnSpPr>
        <p:spPr bwMode="gray">
          <a:xfrm flipV="1">
            <a:off x="10282208" y="4512557"/>
            <a:ext cx="0" cy="10405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 bwMode="gray">
          <a:xfrm flipH="1">
            <a:off x="7166422" y="4326479"/>
            <a:ext cx="28726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 bwMode="gray">
          <a:xfrm flipH="1">
            <a:off x="7166422" y="5794011"/>
            <a:ext cx="28726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 bwMode="gray">
          <a:xfrm flipV="1">
            <a:off x="8708336" y="4326480"/>
            <a:ext cx="0" cy="13967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143151" y="4129506"/>
            <a:ext cx="468318" cy="383051"/>
          </a:xfrm>
          <a:prstGeom prst="rect">
            <a:avLst/>
          </a:prstGeom>
        </p:spPr>
      </p:pic>
      <p:pic>
        <p:nvPicPr>
          <p:cNvPr id="42" name="图片 4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143151" y="5553075"/>
            <a:ext cx="468318" cy="383051"/>
          </a:xfrm>
          <a:prstGeom prst="rect">
            <a:avLst/>
          </a:prstGeom>
        </p:spPr>
      </p:pic>
      <p:pic>
        <p:nvPicPr>
          <p:cNvPr id="43" name="图片 4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481565" y="4129506"/>
            <a:ext cx="468318" cy="383051"/>
          </a:xfrm>
          <a:prstGeom prst="rect">
            <a:avLst/>
          </a:prstGeom>
        </p:spPr>
      </p:pic>
      <p:pic>
        <p:nvPicPr>
          <p:cNvPr id="44" name="图片 4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481565" y="5553075"/>
            <a:ext cx="468318" cy="383051"/>
          </a:xfrm>
          <a:prstGeom prst="rect">
            <a:avLst/>
          </a:prstGeom>
        </p:spPr>
      </p:pic>
      <p:pic>
        <p:nvPicPr>
          <p:cNvPr id="45" name="图片 4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048049" y="4129506"/>
            <a:ext cx="468318" cy="383051"/>
          </a:xfrm>
          <a:prstGeom prst="rect">
            <a:avLst/>
          </a:prstGeom>
        </p:spPr>
      </p:pic>
      <p:pic>
        <p:nvPicPr>
          <p:cNvPr id="46" name="图片 4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048049" y="5553075"/>
            <a:ext cx="468318" cy="383051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 bwMode="gray">
          <a:xfrm>
            <a:off x="8497471" y="3751384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10052739" y="3751384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8497471" y="5975694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10052739" y="5975694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6295219" y="3648838"/>
            <a:ext cx="1186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SIP: 1.1.1.1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 bwMode="gray">
          <a:xfrm>
            <a:off x="6312131" y="5102812"/>
            <a:ext cx="10951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DIP: 4.4.4.4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 bwMode="gray">
          <a:xfrm>
            <a:off x="9045118" y="3999350"/>
            <a:ext cx="845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Cost=10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9045118" y="5864778"/>
            <a:ext cx="845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Cost=10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 bwMode="gray">
          <a:xfrm>
            <a:off x="8206435" y="4976960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 =10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文本框 55"/>
          <p:cNvSpPr txBox="1"/>
          <p:nvPr/>
        </p:nvSpPr>
        <p:spPr bwMode="gray">
          <a:xfrm>
            <a:off x="9750612" y="4858106"/>
            <a:ext cx="1002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 =100</a:t>
            </a:r>
            <a:endParaRPr lang="zh-CN" altLang="en-US" sz="1400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任意多边形: 形状 56"/>
          <p:cNvSpPr/>
          <p:nvPr/>
        </p:nvSpPr>
        <p:spPr bwMode="gray">
          <a:xfrm>
            <a:off x="7436627" y="4409101"/>
            <a:ext cx="1275310" cy="1231522"/>
          </a:xfrm>
          <a:custGeom>
            <a:avLst/>
            <a:gdLst>
              <a:gd name="connsiteX0" fmla="*/ 0 w 1275310"/>
              <a:gd name="connsiteY0" fmla="*/ 30651 h 1231522"/>
              <a:gd name="connsiteX1" fmla="*/ 996286 w 1275310"/>
              <a:gd name="connsiteY1" fmla="*/ 17003 h 1231522"/>
              <a:gd name="connsiteX2" fmla="*/ 1173707 w 1275310"/>
              <a:gd name="connsiteY2" fmla="*/ 235367 h 1231522"/>
              <a:gd name="connsiteX3" fmla="*/ 1201003 w 1275310"/>
              <a:gd name="connsiteY3" fmla="*/ 1108824 h 1231522"/>
              <a:gd name="connsiteX4" fmla="*/ 177420 w 1275310"/>
              <a:gd name="connsiteY4" fmla="*/ 1204358 h 123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5310" h="1231522">
                <a:moveTo>
                  <a:pt x="0" y="30651"/>
                </a:moveTo>
                <a:cubicBezTo>
                  <a:pt x="400334" y="6767"/>
                  <a:pt x="800668" y="-17116"/>
                  <a:pt x="996286" y="17003"/>
                </a:cubicBezTo>
                <a:cubicBezTo>
                  <a:pt x="1191904" y="51122"/>
                  <a:pt x="1139588" y="53397"/>
                  <a:pt x="1173707" y="235367"/>
                </a:cubicBezTo>
                <a:cubicBezTo>
                  <a:pt x="1207827" y="417337"/>
                  <a:pt x="1367051" y="947326"/>
                  <a:pt x="1201003" y="1108824"/>
                </a:cubicBezTo>
                <a:cubicBezTo>
                  <a:pt x="1034955" y="1270322"/>
                  <a:pt x="606187" y="1237340"/>
                  <a:pt x="177420" y="1204358"/>
                </a:cubicBezTo>
              </a:path>
            </a:pathLst>
          </a:custGeom>
          <a:noFill/>
          <a:ln w="38100">
            <a:solidFill>
              <a:srgbClr val="FCC8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8" name="组合 57"/>
          <p:cNvGrpSpPr/>
          <p:nvPr/>
        </p:nvGrpSpPr>
        <p:grpSpPr bwMode="gray">
          <a:xfrm>
            <a:off x="8588004" y="4610810"/>
            <a:ext cx="288000" cy="288000"/>
            <a:chOff x="856677" y="2615810"/>
            <a:chExt cx="288000" cy="288000"/>
          </a:xfrm>
        </p:grpSpPr>
        <p:sp>
          <p:nvSpPr>
            <p:cNvPr id="59" name="椭圆 58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60" name="组合 59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61" name="直接连接符 60"/>
              <p:cNvCxnSpPr>
                <a:stCxn id="59" idx="3"/>
                <a:endCxn id="59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>
                <a:stCxn id="59" idx="1"/>
                <a:endCxn id="59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4" name="文本框 63"/>
          <p:cNvSpPr txBox="1"/>
          <p:nvPr/>
        </p:nvSpPr>
        <p:spPr bwMode="gray">
          <a:xfrm>
            <a:off x="6039846" y="2487285"/>
            <a:ext cx="5467275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TI-LFA</a:t>
            </a:r>
            <a:r>
              <a:rPr lang="zh-CN" altLang="en-US" dirty="0">
                <a:sym typeface="Huawei Sans" panose="020C0503030203020204" pitchFamily="34" charset="0"/>
              </a:rPr>
              <a:t>借助</a:t>
            </a:r>
            <a:r>
              <a:rPr lang="en-US" altLang="zh-CN" dirty="0">
                <a:sym typeface="Huawei Sans" panose="020C0503030203020204" pitchFamily="34" charset="0"/>
              </a:rPr>
              <a:t>SR</a:t>
            </a:r>
            <a:r>
              <a:rPr lang="zh-CN" altLang="en-US" dirty="0">
                <a:sym typeface="Huawei Sans" panose="020C0503030203020204" pitchFamily="34" charset="0"/>
              </a:rPr>
              <a:t>源路由规划能力，</a:t>
            </a:r>
            <a:r>
              <a:rPr lang="zh-CN" altLang="en-US" dirty="0">
                <a:highlight>
                  <a:srgbClr val="FFFF00"/>
                </a:highlight>
                <a:sym typeface="Huawei Sans" panose="020C0503030203020204" pitchFamily="34" charset="0"/>
              </a:rPr>
              <a:t>在每个节点都会计算备份路径保护故障点</a:t>
            </a:r>
            <a:r>
              <a:rPr lang="zh-CN" altLang="en-US" dirty="0">
                <a:sym typeface="Huawei Sans" panose="020C0503030203020204" pitchFamily="34" charset="0"/>
              </a:rPr>
              <a:t>。当节点检测到故障时，快速切换到备份路径。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4" name="任意多边形: 形状 73"/>
          <p:cNvSpPr/>
          <p:nvPr/>
        </p:nvSpPr>
        <p:spPr bwMode="gray">
          <a:xfrm>
            <a:off x="7655678" y="4310608"/>
            <a:ext cx="3051785" cy="1456107"/>
          </a:xfrm>
          <a:custGeom>
            <a:avLst/>
            <a:gdLst>
              <a:gd name="connsiteX0" fmla="*/ 0 w 1275310"/>
              <a:gd name="connsiteY0" fmla="*/ 30651 h 1231522"/>
              <a:gd name="connsiteX1" fmla="*/ 996286 w 1275310"/>
              <a:gd name="connsiteY1" fmla="*/ 17003 h 1231522"/>
              <a:gd name="connsiteX2" fmla="*/ 1173707 w 1275310"/>
              <a:gd name="connsiteY2" fmla="*/ 235367 h 1231522"/>
              <a:gd name="connsiteX3" fmla="*/ 1201003 w 1275310"/>
              <a:gd name="connsiteY3" fmla="*/ 1108824 h 1231522"/>
              <a:gd name="connsiteX4" fmla="*/ 177420 w 1275310"/>
              <a:gd name="connsiteY4" fmla="*/ 1204358 h 123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5310" h="1231522">
                <a:moveTo>
                  <a:pt x="0" y="30651"/>
                </a:moveTo>
                <a:cubicBezTo>
                  <a:pt x="400334" y="6767"/>
                  <a:pt x="800668" y="-17116"/>
                  <a:pt x="996286" y="17003"/>
                </a:cubicBezTo>
                <a:cubicBezTo>
                  <a:pt x="1191904" y="51122"/>
                  <a:pt x="1139588" y="53397"/>
                  <a:pt x="1173707" y="235367"/>
                </a:cubicBezTo>
                <a:cubicBezTo>
                  <a:pt x="1207827" y="417337"/>
                  <a:pt x="1367051" y="947326"/>
                  <a:pt x="1201003" y="1108824"/>
                </a:cubicBezTo>
                <a:cubicBezTo>
                  <a:pt x="1034955" y="1270322"/>
                  <a:pt x="606187" y="1237340"/>
                  <a:pt x="177420" y="1204358"/>
                </a:cubicBezTo>
              </a:path>
            </a:pathLst>
          </a:custGeom>
          <a:noFill/>
          <a:ln w="38100">
            <a:solidFill>
              <a:schemeClr val="accent6">
                <a:lumMod val="60000"/>
                <a:lumOff val="4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 bwMode="gray">
          <a:xfrm>
            <a:off x="7468235" y="3157855"/>
            <a:ext cx="4501515" cy="521970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R1-R3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主路径：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  Seg-List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R1,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R1-R3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备路径：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  Seg-List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R1, R2, R4, R3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5" name="直接连接符 64"/>
          <p:cNvCxnSpPr/>
          <p:nvPr/>
        </p:nvCxnSpPr>
        <p:spPr bwMode="gray">
          <a:xfrm>
            <a:off x="3570819" y="3859389"/>
            <a:ext cx="747726" cy="0"/>
          </a:xfrm>
          <a:prstGeom prst="line">
            <a:avLst/>
          </a:prstGeom>
          <a:noFill/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接连接符 34"/>
          <p:cNvCxnSpPr/>
          <p:nvPr/>
        </p:nvCxnSpPr>
        <p:spPr bwMode="gray">
          <a:xfrm flipV="1">
            <a:off x="2746210" y="3793859"/>
            <a:ext cx="1488911" cy="13967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TI-LFA FRR</a:t>
            </a:r>
            <a:r>
              <a:rPr lang="zh-CN" altLang="en-US">
                <a:sym typeface="Huawei Sans" panose="020C0503030203020204" pitchFamily="34" charset="0"/>
              </a:rPr>
              <a:t>保护路径计算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>
                <a:sym typeface="Huawei Sans" panose="020C0503030203020204" pitchFamily="34" charset="0"/>
              </a:rPr>
              <a:t>TI-LFA FRR</a:t>
            </a:r>
            <a:r>
              <a:rPr lang="zh-CN" altLang="en-US" sz="1600">
                <a:sym typeface="Huawei Sans" panose="020C0503030203020204" pitchFamily="34" charset="0"/>
              </a:rPr>
              <a:t>可以同时</a:t>
            </a:r>
            <a:r>
              <a:rPr lang="zh-CN" altLang="en-US" sz="1600">
                <a:highlight>
                  <a:srgbClr val="FFFF00"/>
                </a:highlight>
                <a:sym typeface="Huawei Sans" panose="020C0503030203020204" pitchFamily="34" charset="0"/>
              </a:rPr>
              <a:t>保护链路故障</a:t>
            </a:r>
            <a:r>
              <a:rPr lang="zh-CN" altLang="en-US" sz="1600">
                <a:sym typeface="Huawei Sans" panose="020C0503030203020204" pitchFamily="34" charset="0"/>
              </a:rPr>
              <a:t>和</a:t>
            </a:r>
            <a:r>
              <a:rPr lang="zh-CN" altLang="en-US" sz="1600">
                <a:highlight>
                  <a:srgbClr val="FFFF00"/>
                </a:highlight>
                <a:sym typeface="Huawei Sans" panose="020C0503030203020204" pitchFamily="34" charset="0"/>
              </a:rPr>
              <a:t>节点故障</a:t>
            </a:r>
            <a:r>
              <a:rPr lang="zh-CN" altLang="en-US" sz="1600">
                <a:sym typeface="Huawei Sans" panose="020C0503030203020204" pitchFamily="34" charset="0"/>
              </a:rPr>
              <a:t>。由于节点故障的保护路径一定可以保护链路故障，所以</a:t>
            </a:r>
            <a:r>
              <a:rPr lang="en-US" altLang="zh-CN" sz="1600">
                <a:highlight>
                  <a:srgbClr val="FFFF00"/>
                </a:highlight>
                <a:sym typeface="Huawei Sans" panose="020C0503030203020204" pitchFamily="34" charset="0"/>
              </a:rPr>
              <a:t>TI-LFA</a:t>
            </a:r>
            <a:r>
              <a:rPr lang="zh-CN" altLang="en-US" sz="1600">
                <a:highlight>
                  <a:srgbClr val="FFFF00"/>
                </a:highlight>
                <a:sym typeface="Huawei Sans" panose="020C0503030203020204" pitchFamily="34" charset="0"/>
              </a:rPr>
              <a:t>优先计算节点保护</a:t>
            </a:r>
            <a:r>
              <a:rPr lang="zh-CN" altLang="en-US" sz="1600">
                <a:sym typeface="Huawei Sans" panose="020C0503030203020204" pitchFamily="34" charset="0"/>
              </a:rPr>
              <a:t>。</a:t>
            </a:r>
            <a:endParaRPr lang="zh-CN" altLang="en-US" sz="1600">
              <a:sym typeface="Huawei Sans" panose="020C0503030203020204" pitchFamily="34" charset="0"/>
            </a:endParaRPr>
          </a:p>
          <a:p>
            <a:endParaRPr lang="zh-CN" altLang="en-US" sz="1600">
              <a:sym typeface="Huawei Sans" panose="020C0503030203020204" pitchFamily="34" charset="0"/>
            </a:endParaRPr>
          </a:p>
        </p:txBody>
      </p:sp>
      <p:cxnSp>
        <p:nvCxnSpPr>
          <p:cNvPr id="4" name="直接连接符 3"/>
          <p:cNvCxnSpPr>
            <a:stCxn id="13" idx="0"/>
            <a:endCxn id="12" idx="2"/>
          </p:cNvCxnSpPr>
          <p:nvPr/>
        </p:nvCxnSpPr>
        <p:spPr bwMode="gray">
          <a:xfrm flipV="1">
            <a:off x="4235121" y="3979937"/>
            <a:ext cx="0" cy="10405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 bwMode="gray">
          <a:xfrm flipH="1">
            <a:off x="1119335" y="3793859"/>
            <a:ext cx="28726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gray">
          <a:xfrm flipV="1">
            <a:off x="2661249" y="3793860"/>
            <a:ext cx="0" cy="13967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96064" y="3596886"/>
            <a:ext cx="468318" cy="383051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34478" y="3596886"/>
            <a:ext cx="468318" cy="383051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34478" y="5020455"/>
            <a:ext cx="468318" cy="383051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00962" y="3596886"/>
            <a:ext cx="468318" cy="383051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00962" y="5020455"/>
            <a:ext cx="468318" cy="383051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 bwMode="gray">
          <a:xfrm>
            <a:off x="2450384" y="3218764"/>
            <a:ext cx="425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 bwMode="gray">
          <a:xfrm>
            <a:off x="4005652" y="3218764"/>
            <a:ext cx="425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 bwMode="gray">
          <a:xfrm>
            <a:off x="722527" y="3128176"/>
            <a:ext cx="1186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SIP: 1.1.1.1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 bwMode="gray">
          <a:xfrm>
            <a:off x="4614564" y="5042703"/>
            <a:ext cx="1226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DIP: 4.4.4.4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 bwMode="gray">
          <a:xfrm>
            <a:off x="2499657" y="4314760"/>
            <a:ext cx="288000" cy="288000"/>
            <a:chOff x="856677" y="2615810"/>
            <a:chExt cx="288000" cy="288000"/>
          </a:xfrm>
        </p:grpSpPr>
        <p:sp>
          <p:nvSpPr>
            <p:cNvPr id="24" name="椭圆 23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25" name="组合 24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26" name="直接连接符 25"/>
              <p:cNvCxnSpPr>
                <a:stCxn id="24" idx="3"/>
                <a:endCxn id="24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>
                <a:stCxn id="24" idx="1"/>
                <a:endCxn id="24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文本框 32"/>
          <p:cNvSpPr txBox="1"/>
          <p:nvPr/>
        </p:nvSpPr>
        <p:spPr bwMode="gray">
          <a:xfrm>
            <a:off x="2458584" y="5525448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>
            <a:off x="4013852" y="5525448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任意多边形: 形状 37"/>
          <p:cNvSpPr/>
          <p:nvPr/>
        </p:nvSpPr>
        <p:spPr bwMode="gray">
          <a:xfrm>
            <a:off x="1603933" y="3596886"/>
            <a:ext cx="3102176" cy="1492979"/>
          </a:xfrm>
          <a:custGeom>
            <a:avLst/>
            <a:gdLst>
              <a:gd name="connsiteX0" fmla="*/ 0 w 2974848"/>
              <a:gd name="connsiteY0" fmla="*/ 50652 h 1444206"/>
              <a:gd name="connsiteX1" fmla="*/ 2243328 w 2974848"/>
              <a:gd name="connsiteY1" fmla="*/ 14076 h 1444206"/>
              <a:gd name="connsiteX2" fmla="*/ 2645664 w 2974848"/>
              <a:gd name="connsiteY2" fmla="*/ 257916 h 1444206"/>
              <a:gd name="connsiteX3" fmla="*/ 1243584 w 2974848"/>
              <a:gd name="connsiteY3" fmla="*/ 1294236 h 1444206"/>
              <a:gd name="connsiteX4" fmla="*/ 2974848 w 2974848"/>
              <a:gd name="connsiteY4" fmla="*/ 1416156 h 1444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4848" h="1444206">
                <a:moveTo>
                  <a:pt x="0" y="50652"/>
                </a:moveTo>
                <a:cubicBezTo>
                  <a:pt x="901192" y="15092"/>
                  <a:pt x="1802384" y="-20468"/>
                  <a:pt x="2243328" y="14076"/>
                </a:cubicBezTo>
                <a:cubicBezTo>
                  <a:pt x="2684272" y="48620"/>
                  <a:pt x="2812288" y="44556"/>
                  <a:pt x="2645664" y="257916"/>
                </a:cubicBezTo>
                <a:cubicBezTo>
                  <a:pt x="2479040" y="471276"/>
                  <a:pt x="1188720" y="1101196"/>
                  <a:pt x="1243584" y="1294236"/>
                </a:cubicBezTo>
                <a:cubicBezTo>
                  <a:pt x="1298448" y="1487276"/>
                  <a:pt x="2136648" y="1451716"/>
                  <a:pt x="2974848" y="1416156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任意多边形: 形状 38"/>
          <p:cNvSpPr/>
          <p:nvPr/>
        </p:nvSpPr>
        <p:spPr bwMode="gray">
          <a:xfrm>
            <a:off x="1621535" y="3875404"/>
            <a:ext cx="3072381" cy="1405654"/>
          </a:xfrm>
          <a:custGeom>
            <a:avLst/>
            <a:gdLst>
              <a:gd name="connsiteX0" fmla="*/ 0 w 2950464"/>
              <a:gd name="connsiteY0" fmla="*/ 50420 h 1405654"/>
              <a:gd name="connsiteX1" fmla="*/ 694944 w 2950464"/>
              <a:gd name="connsiteY1" fmla="*/ 13844 h 1405654"/>
              <a:gd name="connsiteX2" fmla="*/ 829056 w 2950464"/>
              <a:gd name="connsiteY2" fmla="*/ 135764 h 1405654"/>
              <a:gd name="connsiteX3" fmla="*/ 829056 w 2950464"/>
              <a:gd name="connsiteY3" fmla="*/ 1294004 h 1405654"/>
              <a:gd name="connsiteX4" fmla="*/ 2950464 w 2950464"/>
              <a:gd name="connsiteY4" fmla="*/ 1379348 h 1405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0464" h="1405654">
                <a:moveTo>
                  <a:pt x="0" y="50420"/>
                </a:moveTo>
                <a:cubicBezTo>
                  <a:pt x="278384" y="25020"/>
                  <a:pt x="556768" y="-380"/>
                  <a:pt x="694944" y="13844"/>
                </a:cubicBezTo>
                <a:cubicBezTo>
                  <a:pt x="833120" y="28068"/>
                  <a:pt x="806704" y="-77596"/>
                  <a:pt x="829056" y="135764"/>
                </a:cubicBezTo>
                <a:cubicBezTo>
                  <a:pt x="851408" y="349124"/>
                  <a:pt x="475488" y="1086740"/>
                  <a:pt x="829056" y="1294004"/>
                </a:cubicBezTo>
                <a:cubicBezTo>
                  <a:pt x="1182624" y="1501268"/>
                  <a:pt x="2594864" y="1350900"/>
                  <a:pt x="2950464" y="1379348"/>
                </a:cubicBezTo>
              </a:path>
            </a:pathLst>
          </a:custGeom>
          <a:noFill/>
          <a:ln w="38100">
            <a:solidFill>
              <a:srgbClr val="FCC8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1421965" y="4535126"/>
            <a:ext cx="8545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原路径</a:t>
            </a:r>
            <a:endParaRPr lang="zh-CN" altLang="en-US" sz="160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 bwMode="gray">
          <a:xfrm>
            <a:off x="2910997" y="3131166"/>
            <a:ext cx="1102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6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保护路径</a:t>
            </a:r>
            <a:endParaRPr lang="zh-CN" altLang="en-US" sz="1600" b="1">
              <a:solidFill>
                <a:schemeClr val="accent6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2643925" y="2256686"/>
            <a:ext cx="1415772" cy="33855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ym typeface="Huawei Sans" panose="020C0503030203020204" pitchFamily="34" charset="0"/>
              </a:rPr>
              <a:t>链路故障保护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cxnSp>
        <p:nvCxnSpPr>
          <p:cNvPr id="43" name="直接连接符 42"/>
          <p:cNvCxnSpPr/>
          <p:nvPr/>
        </p:nvCxnSpPr>
        <p:spPr bwMode="gray">
          <a:xfrm flipV="1">
            <a:off x="7780235" y="3793859"/>
            <a:ext cx="1488911" cy="13967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stCxn id="51" idx="0"/>
            <a:endCxn id="50" idx="2"/>
          </p:cNvCxnSpPr>
          <p:nvPr/>
        </p:nvCxnSpPr>
        <p:spPr bwMode="gray">
          <a:xfrm flipV="1">
            <a:off x="9269146" y="3979937"/>
            <a:ext cx="0" cy="10405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 bwMode="gray">
          <a:xfrm flipH="1">
            <a:off x="6153360" y="3793859"/>
            <a:ext cx="28726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 bwMode="gray">
          <a:xfrm flipV="1">
            <a:off x="7695274" y="3793860"/>
            <a:ext cx="0" cy="13967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图片 4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130089" y="3596886"/>
            <a:ext cx="468318" cy="383051"/>
          </a:xfrm>
          <a:prstGeom prst="rect">
            <a:avLst/>
          </a:prstGeom>
        </p:spPr>
      </p:pic>
      <p:pic>
        <p:nvPicPr>
          <p:cNvPr id="48" name="图片 4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68503" y="3596886"/>
            <a:ext cx="468318" cy="383051"/>
          </a:xfrm>
          <a:prstGeom prst="rect">
            <a:avLst/>
          </a:prstGeom>
        </p:spPr>
      </p:pic>
      <p:pic>
        <p:nvPicPr>
          <p:cNvPr id="49" name="图片 4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68503" y="5020455"/>
            <a:ext cx="468318" cy="383051"/>
          </a:xfrm>
          <a:prstGeom prst="rect">
            <a:avLst/>
          </a:prstGeom>
        </p:spPr>
      </p:pic>
      <p:pic>
        <p:nvPicPr>
          <p:cNvPr id="50" name="图片 4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034987" y="3596886"/>
            <a:ext cx="468318" cy="383051"/>
          </a:xfrm>
          <a:prstGeom prst="rect">
            <a:avLst/>
          </a:prstGeom>
        </p:spPr>
      </p:pic>
      <p:pic>
        <p:nvPicPr>
          <p:cNvPr id="51" name="图片 5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034987" y="5020455"/>
            <a:ext cx="468318" cy="383051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 bwMode="gray">
          <a:xfrm>
            <a:off x="7484409" y="3218764"/>
            <a:ext cx="425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 bwMode="gray">
          <a:xfrm>
            <a:off x="9039677" y="3218764"/>
            <a:ext cx="425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5756552" y="3128176"/>
            <a:ext cx="1186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SIP: 1.1.1.1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 bwMode="gray">
          <a:xfrm>
            <a:off x="9648589" y="5042703"/>
            <a:ext cx="1226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DIP: 4.4.4.4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6" name="组合 55"/>
          <p:cNvGrpSpPr/>
          <p:nvPr/>
        </p:nvGrpSpPr>
        <p:grpSpPr bwMode="gray">
          <a:xfrm>
            <a:off x="7725541" y="4912354"/>
            <a:ext cx="288000" cy="288000"/>
            <a:chOff x="856677" y="2615810"/>
            <a:chExt cx="288000" cy="288000"/>
          </a:xfrm>
        </p:grpSpPr>
        <p:sp>
          <p:nvSpPr>
            <p:cNvPr id="57" name="椭圆 56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8" name="组合 57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59" name="直接连接符 58"/>
              <p:cNvCxnSpPr>
                <a:stCxn id="57" idx="3"/>
                <a:endCxn id="57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>
                <a:stCxn id="57" idx="1"/>
                <a:endCxn id="57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文本框 60"/>
          <p:cNvSpPr txBox="1"/>
          <p:nvPr/>
        </p:nvSpPr>
        <p:spPr bwMode="gray">
          <a:xfrm>
            <a:off x="7492609" y="5525448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 bwMode="gray">
          <a:xfrm>
            <a:off x="9047877" y="5525448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任意多边形: 形状 63"/>
          <p:cNvSpPr/>
          <p:nvPr/>
        </p:nvSpPr>
        <p:spPr bwMode="gray">
          <a:xfrm>
            <a:off x="6655560" y="3875404"/>
            <a:ext cx="3072381" cy="1405654"/>
          </a:xfrm>
          <a:custGeom>
            <a:avLst/>
            <a:gdLst>
              <a:gd name="connsiteX0" fmla="*/ 0 w 2950464"/>
              <a:gd name="connsiteY0" fmla="*/ 50420 h 1405654"/>
              <a:gd name="connsiteX1" fmla="*/ 694944 w 2950464"/>
              <a:gd name="connsiteY1" fmla="*/ 13844 h 1405654"/>
              <a:gd name="connsiteX2" fmla="*/ 829056 w 2950464"/>
              <a:gd name="connsiteY2" fmla="*/ 135764 h 1405654"/>
              <a:gd name="connsiteX3" fmla="*/ 829056 w 2950464"/>
              <a:gd name="connsiteY3" fmla="*/ 1294004 h 1405654"/>
              <a:gd name="connsiteX4" fmla="*/ 2950464 w 2950464"/>
              <a:gd name="connsiteY4" fmla="*/ 1379348 h 1405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0464" h="1405654">
                <a:moveTo>
                  <a:pt x="0" y="50420"/>
                </a:moveTo>
                <a:cubicBezTo>
                  <a:pt x="278384" y="25020"/>
                  <a:pt x="556768" y="-380"/>
                  <a:pt x="694944" y="13844"/>
                </a:cubicBezTo>
                <a:cubicBezTo>
                  <a:pt x="833120" y="28068"/>
                  <a:pt x="806704" y="-77596"/>
                  <a:pt x="829056" y="135764"/>
                </a:cubicBezTo>
                <a:cubicBezTo>
                  <a:pt x="851408" y="349124"/>
                  <a:pt x="475488" y="1086740"/>
                  <a:pt x="829056" y="1294004"/>
                </a:cubicBezTo>
                <a:cubicBezTo>
                  <a:pt x="1182624" y="1501268"/>
                  <a:pt x="2594864" y="1350900"/>
                  <a:pt x="2950464" y="1379348"/>
                </a:cubicBezTo>
              </a:path>
            </a:pathLst>
          </a:custGeom>
          <a:noFill/>
          <a:ln w="38100">
            <a:solidFill>
              <a:srgbClr val="FCC8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 bwMode="gray">
          <a:xfrm>
            <a:off x="6455990" y="4535126"/>
            <a:ext cx="8545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原路径</a:t>
            </a:r>
            <a:endParaRPr lang="zh-CN" altLang="en-US" sz="160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 bwMode="gray">
          <a:xfrm>
            <a:off x="7945022" y="3131166"/>
            <a:ext cx="1102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6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保护路径</a:t>
            </a:r>
            <a:endParaRPr lang="zh-CN" altLang="en-US" sz="1600" b="1">
              <a:solidFill>
                <a:schemeClr val="accent6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文本框 66"/>
          <p:cNvSpPr txBox="1"/>
          <p:nvPr/>
        </p:nvSpPr>
        <p:spPr bwMode="gray">
          <a:xfrm>
            <a:off x="7675416" y="2256686"/>
            <a:ext cx="1415772" cy="33855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ym typeface="Huawei Sans" panose="020C0503030203020204" pitchFamily="34" charset="0"/>
              </a:rPr>
              <a:t>节点故障保护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8" name="任意多边形: 形状 67"/>
          <p:cNvSpPr/>
          <p:nvPr/>
        </p:nvSpPr>
        <p:spPr bwMode="gray">
          <a:xfrm>
            <a:off x="6681216" y="3585716"/>
            <a:ext cx="2822089" cy="1315468"/>
          </a:xfrm>
          <a:custGeom>
            <a:avLst/>
            <a:gdLst>
              <a:gd name="connsiteX0" fmla="*/ 0 w 3072384"/>
              <a:gd name="connsiteY0" fmla="*/ 132844 h 1315468"/>
              <a:gd name="connsiteX1" fmla="*/ 2609088 w 3072384"/>
              <a:gd name="connsiteY1" fmla="*/ 108460 h 1315468"/>
              <a:gd name="connsiteX2" fmla="*/ 3072384 w 3072384"/>
              <a:gd name="connsiteY2" fmla="*/ 1315468 h 1315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2384" h="1315468">
                <a:moveTo>
                  <a:pt x="0" y="132844"/>
                </a:moveTo>
                <a:cubicBezTo>
                  <a:pt x="1048512" y="22100"/>
                  <a:pt x="2097024" y="-88644"/>
                  <a:pt x="2609088" y="108460"/>
                </a:cubicBezTo>
                <a:cubicBezTo>
                  <a:pt x="3121152" y="305564"/>
                  <a:pt x="3039872" y="1067564"/>
                  <a:pt x="3072384" y="1315468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9" name="组合 68"/>
          <p:cNvGrpSpPr/>
          <p:nvPr/>
        </p:nvGrpSpPr>
        <p:grpSpPr bwMode="gray">
          <a:xfrm>
            <a:off x="9054529" y="2397652"/>
            <a:ext cx="288001" cy="288001"/>
            <a:chOff x="10467178" y="5640414"/>
            <a:chExt cx="213540" cy="213540"/>
          </a:xfrm>
        </p:grpSpPr>
        <p:sp>
          <p:nvSpPr>
            <p:cNvPr id="70" name="椭圆 69"/>
            <p:cNvSpPr>
              <a:spLocks noChangeAspect="1"/>
            </p:cNvSpPr>
            <p:nvPr/>
          </p:nvSpPr>
          <p:spPr bwMode="gray">
            <a:xfrm>
              <a:off x="10467178" y="5640414"/>
              <a:ext cx="213540" cy="213540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500" b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" name="任意多边形 22"/>
            <p:cNvSpPr/>
            <p:nvPr/>
          </p:nvSpPr>
          <p:spPr bwMode="gray">
            <a:xfrm>
              <a:off x="10506830" y="5719982"/>
              <a:ext cx="138959" cy="73584"/>
            </a:xfrm>
            <a:custGeom>
              <a:avLst/>
              <a:gdLst>
                <a:gd name="connsiteX0" fmla="*/ 0 w 221456"/>
                <a:gd name="connsiteY0" fmla="*/ 47625 h 126206"/>
                <a:gd name="connsiteX1" fmla="*/ 83344 w 221456"/>
                <a:gd name="connsiteY1" fmla="*/ 126206 h 126206"/>
                <a:gd name="connsiteX2" fmla="*/ 221456 w 221456"/>
                <a:gd name="connsiteY2" fmla="*/ 0 h 126206"/>
                <a:gd name="connsiteX0-1" fmla="*/ 0 w 250659"/>
                <a:gd name="connsiteY0-2" fmla="*/ 33024 h 126206"/>
                <a:gd name="connsiteX1-3" fmla="*/ 112547 w 250659"/>
                <a:gd name="connsiteY1-4" fmla="*/ 126206 h 126206"/>
                <a:gd name="connsiteX2-5" fmla="*/ 250659 w 250659"/>
                <a:gd name="connsiteY2-6" fmla="*/ 0 h 126206"/>
                <a:gd name="connsiteX0-7" fmla="*/ 0 w 259419"/>
                <a:gd name="connsiteY0-8" fmla="*/ 35944 h 126206"/>
                <a:gd name="connsiteX1-9" fmla="*/ 121307 w 259419"/>
                <a:gd name="connsiteY1-10" fmla="*/ 126206 h 126206"/>
                <a:gd name="connsiteX2-11" fmla="*/ 259419 w 259419"/>
                <a:gd name="connsiteY2-12" fmla="*/ 0 h 126206"/>
                <a:gd name="connsiteX0-13" fmla="*/ 0 w 259419"/>
                <a:gd name="connsiteY0-14" fmla="*/ 35944 h 126206"/>
                <a:gd name="connsiteX1-15" fmla="*/ 106706 w 259419"/>
                <a:gd name="connsiteY1-16" fmla="*/ 126206 h 126206"/>
                <a:gd name="connsiteX2-17" fmla="*/ 259419 w 259419"/>
                <a:gd name="connsiteY2-18" fmla="*/ 0 h 126206"/>
                <a:gd name="connsiteX0-19" fmla="*/ 0 w 279861"/>
                <a:gd name="connsiteY0-20" fmla="*/ 35944 h 126206"/>
                <a:gd name="connsiteX1-21" fmla="*/ 106706 w 279861"/>
                <a:gd name="connsiteY1-22" fmla="*/ 126206 h 126206"/>
                <a:gd name="connsiteX2-23" fmla="*/ 279861 w 279861"/>
                <a:gd name="connsiteY2-24" fmla="*/ 0 h 126206"/>
                <a:gd name="connsiteX0-25" fmla="*/ 0 w 276940"/>
                <a:gd name="connsiteY0-26" fmla="*/ 56386 h 146648"/>
                <a:gd name="connsiteX1-27" fmla="*/ 106706 w 276940"/>
                <a:gd name="connsiteY1-28" fmla="*/ 146648 h 146648"/>
                <a:gd name="connsiteX2-29" fmla="*/ 276940 w 276940"/>
                <a:gd name="connsiteY2-30" fmla="*/ 0 h 146648"/>
                <a:gd name="connsiteX0-31" fmla="*/ 0 w 276940"/>
                <a:gd name="connsiteY0-32" fmla="*/ 56386 h 146648"/>
                <a:gd name="connsiteX1-33" fmla="*/ 121308 w 276940"/>
                <a:gd name="connsiteY1-34" fmla="*/ 146648 h 146648"/>
                <a:gd name="connsiteX2-35" fmla="*/ 276940 w 276940"/>
                <a:gd name="connsiteY2-36" fmla="*/ 0 h 1466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76940" h="146648">
                  <a:moveTo>
                    <a:pt x="0" y="56386"/>
                  </a:moveTo>
                  <a:lnTo>
                    <a:pt x="121308" y="146648"/>
                  </a:lnTo>
                  <a:lnTo>
                    <a:pt x="276940" y="0"/>
                  </a:lnTo>
                </a:path>
              </a:pathLst>
            </a:custGeom>
            <a:noFill/>
            <a:ln w="38100" cap="rnd" cmpd="sng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80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72" name="文本框 71"/>
          <p:cNvSpPr txBox="1"/>
          <p:nvPr/>
        </p:nvSpPr>
        <p:spPr bwMode="gray">
          <a:xfrm>
            <a:off x="9293762" y="2383793"/>
            <a:ext cx="110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高优先级</a:t>
            </a:r>
            <a:endParaRPr lang="zh-CN" altLang="en-US" sz="16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圆角 72"/>
          <p:cNvSpPr/>
          <p:nvPr/>
        </p:nvSpPr>
        <p:spPr bwMode="gray">
          <a:xfrm>
            <a:off x="1369492" y="2837229"/>
            <a:ext cx="6404366" cy="2997843"/>
          </a:xfrm>
          <a:prstGeom prst="roundRect">
            <a:avLst/>
          </a:prstGeom>
          <a:solidFill>
            <a:srgbClr val="BEE9E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8" name="直接连接符 27"/>
          <p:cNvCxnSpPr>
            <a:stCxn id="10" idx="3"/>
          </p:cNvCxnSpPr>
          <p:nvPr/>
        </p:nvCxnSpPr>
        <p:spPr bwMode="gray">
          <a:xfrm>
            <a:off x="7515536" y="3783323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11" idx="3"/>
          </p:cNvCxnSpPr>
          <p:nvPr/>
        </p:nvCxnSpPr>
        <p:spPr bwMode="gray">
          <a:xfrm flipV="1">
            <a:off x="7515536" y="4520864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6" idx="1"/>
            <a:endCxn id="10" idx="1"/>
          </p:cNvCxnSpPr>
          <p:nvPr/>
        </p:nvCxnSpPr>
        <p:spPr bwMode="gray">
          <a:xfrm>
            <a:off x="3086442" y="3783323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7" idx="1"/>
            <a:endCxn id="11" idx="1"/>
          </p:cNvCxnSpPr>
          <p:nvPr/>
        </p:nvCxnSpPr>
        <p:spPr bwMode="gray">
          <a:xfrm>
            <a:off x="3086442" y="5258405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endCxn id="7" idx="1"/>
          </p:cNvCxnSpPr>
          <p:nvPr/>
        </p:nvCxnSpPr>
        <p:spPr bwMode="gray">
          <a:xfrm>
            <a:off x="1743916" y="4520864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6" idx="1"/>
          </p:cNvCxnSpPr>
          <p:nvPr/>
        </p:nvCxnSpPr>
        <p:spPr bwMode="gray">
          <a:xfrm flipV="1">
            <a:off x="1743916" y="3783323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TI-LFA FRR</a:t>
            </a:r>
            <a:r>
              <a:rPr lang="zh-CN" altLang="en-US">
                <a:sym typeface="Huawei Sans" panose="020C0503030203020204" pitchFamily="34" charset="0"/>
              </a:rPr>
              <a:t>的应用场景与配置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751716"/>
          </a:xfrm>
        </p:spPr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为了实现整体路径的保护，需要在多个节点</a:t>
            </a:r>
            <a:r>
              <a:rPr lang="en-US" altLang="zh-CN" sz="1600" dirty="0"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sym typeface="Huawei Sans" panose="020C0503030203020204" pitchFamily="34" charset="0"/>
              </a:rPr>
              <a:t>中使能</a:t>
            </a:r>
            <a:r>
              <a:rPr lang="en-US" altLang="zh-CN" sz="1600" dirty="0">
                <a:sym typeface="Huawei Sans" panose="020C0503030203020204" pitchFamily="34" charset="0"/>
              </a:rPr>
              <a:t>TI-LFA FRR</a:t>
            </a:r>
            <a:r>
              <a:rPr lang="zh-CN" altLang="en-US" sz="1600" dirty="0">
                <a:sym typeface="Huawei Sans" panose="020C0503030203020204" pitchFamily="34" charset="0"/>
              </a:rPr>
              <a:t>局部保护。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6442" y="3561923"/>
            <a:ext cx="540000" cy="44280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6442" y="5037005"/>
            <a:ext cx="540000" cy="44280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30989" y="3561923"/>
            <a:ext cx="540000" cy="44280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30989" y="5037005"/>
            <a:ext cx="540000" cy="442800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75536" y="3561923"/>
            <a:ext cx="540000" cy="442800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75536" y="5037005"/>
            <a:ext cx="540000" cy="44280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93144" y="4299464"/>
            <a:ext cx="540000" cy="442800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628797" y="4299464"/>
            <a:ext cx="540000" cy="442800"/>
          </a:xfrm>
          <a:prstGeom prst="rect">
            <a:avLst/>
          </a:prstGeom>
        </p:spPr>
      </p:pic>
      <p:cxnSp>
        <p:nvCxnSpPr>
          <p:cNvPr id="34" name="直接连接符 33"/>
          <p:cNvCxnSpPr>
            <a:stCxn id="6" idx="2"/>
            <a:endCxn id="7" idx="0"/>
          </p:cNvCxnSpPr>
          <p:nvPr/>
        </p:nvCxnSpPr>
        <p:spPr bwMode="gray">
          <a:xfrm>
            <a:off x="3356442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 bwMode="gray">
          <a:xfrm>
            <a:off x="5300989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 bwMode="gray">
          <a:xfrm>
            <a:off x="7245536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任意多边形: 形状 38"/>
          <p:cNvSpPr/>
          <p:nvPr/>
        </p:nvSpPr>
        <p:spPr bwMode="gray">
          <a:xfrm>
            <a:off x="1743916" y="3347342"/>
            <a:ext cx="5393799" cy="965902"/>
          </a:xfrm>
          <a:custGeom>
            <a:avLst/>
            <a:gdLst>
              <a:gd name="connsiteX0" fmla="*/ 0 w 5046562"/>
              <a:gd name="connsiteY0" fmla="*/ 810255 h 810255"/>
              <a:gd name="connsiteX1" fmla="*/ 787079 w 5046562"/>
              <a:gd name="connsiteY1" fmla="*/ 405141 h 810255"/>
              <a:gd name="connsiteX2" fmla="*/ 1458410 w 5046562"/>
              <a:gd name="connsiteY2" fmla="*/ 81050 h 810255"/>
              <a:gd name="connsiteX3" fmla="*/ 2164466 w 5046562"/>
              <a:gd name="connsiteY3" fmla="*/ 115774 h 810255"/>
              <a:gd name="connsiteX4" fmla="*/ 3125165 w 5046562"/>
              <a:gd name="connsiteY4" fmla="*/ 115774 h 810255"/>
              <a:gd name="connsiteX5" fmla="*/ 3692324 w 5046562"/>
              <a:gd name="connsiteY5" fmla="*/ 27 h 810255"/>
              <a:gd name="connsiteX6" fmla="*/ 5046562 w 5046562"/>
              <a:gd name="connsiteY6" fmla="*/ 104199 h 810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46562" h="810255">
                <a:moveTo>
                  <a:pt x="0" y="810255"/>
                </a:moveTo>
                <a:lnTo>
                  <a:pt x="787079" y="405141"/>
                </a:lnTo>
                <a:cubicBezTo>
                  <a:pt x="1030147" y="283607"/>
                  <a:pt x="1228846" y="129278"/>
                  <a:pt x="1458410" y="81050"/>
                </a:cubicBezTo>
                <a:cubicBezTo>
                  <a:pt x="1687974" y="32822"/>
                  <a:pt x="1886674" y="109987"/>
                  <a:pt x="2164466" y="115774"/>
                </a:cubicBezTo>
                <a:cubicBezTo>
                  <a:pt x="2442258" y="121561"/>
                  <a:pt x="2870522" y="135065"/>
                  <a:pt x="3125165" y="115774"/>
                </a:cubicBezTo>
                <a:cubicBezTo>
                  <a:pt x="3379808" y="96483"/>
                  <a:pt x="3372091" y="1956"/>
                  <a:pt x="3692324" y="27"/>
                </a:cubicBezTo>
                <a:cubicBezTo>
                  <a:pt x="4012557" y="-1902"/>
                  <a:pt x="4732116" y="96482"/>
                  <a:pt x="5046562" y="104199"/>
                </a:cubicBezTo>
              </a:path>
            </a:pathLst>
          </a:custGeom>
          <a:noFill/>
          <a:ln w="38100">
            <a:solidFill>
              <a:srgbClr val="FCC8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5" name="组合 44"/>
          <p:cNvGrpSpPr/>
          <p:nvPr/>
        </p:nvGrpSpPr>
        <p:grpSpPr bwMode="gray">
          <a:xfrm>
            <a:off x="4145246" y="3639323"/>
            <a:ext cx="288000" cy="288000"/>
            <a:chOff x="856677" y="2615810"/>
            <a:chExt cx="288000" cy="288000"/>
          </a:xfrm>
        </p:grpSpPr>
        <p:sp>
          <p:nvSpPr>
            <p:cNvPr id="46" name="椭圆 45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47" name="组合 46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48" name="直接连接符 47"/>
              <p:cNvCxnSpPr>
                <a:stCxn id="46" idx="3"/>
                <a:endCxn id="46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>
                <a:stCxn id="46" idx="1"/>
                <a:endCxn id="46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组合 49"/>
          <p:cNvGrpSpPr/>
          <p:nvPr/>
        </p:nvGrpSpPr>
        <p:grpSpPr bwMode="gray">
          <a:xfrm>
            <a:off x="2499571" y="3924772"/>
            <a:ext cx="288000" cy="288000"/>
            <a:chOff x="856677" y="2615810"/>
            <a:chExt cx="288000" cy="288000"/>
          </a:xfrm>
        </p:grpSpPr>
        <p:sp>
          <p:nvSpPr>
            <p:cNvPr id="51" name="椭圆 50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2" name="组合 51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53" name="直接连接符 52"/>
              <p:cNvCxnSpPr>
                <a:stCxn id="51" idx="3"/>
                <a:endCxn id="51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>
                <a:stCxn id="51" idx="1"/>
                <a:endCxn id="51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5" name="组合 54"/>
          <p:cNvGrpSpPr/>
          <p:nvPr/>
        </p:nvGrpSpPr>
        <p:grpSpPr bwMode="gray">
          <a:xfrm>
            <a:off x="6070180" y="3639323"/>
            <a:ext cx="288000" cy="288000"/>
            <a:chOff x="856677" y="2615810"/>
            <a:chExt cx="288000" cy="288000"/>
          </a:xfrm>
        </p:grpSpPr>
        <p:sp>
          <p:nvSpPr>
            <p:cNvPr id="56" name="椭圆 55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7" name="组合 56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58" name="直接连接符 57"/>
              <p:cNvCxnSpPr>
                <a:stCxn id="56" idx="3"/>
                <a:endCxn id="56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>
                <a:stCxn id="56" idx="1"/>
                <a:endCxn id="56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组合 59"/>
          <p:cNvGrpSpPr/>
          <p:nvPr/>
        </p:nvGrpSpPr>
        <p:grpSpPr bwMode="gray">
          <a:xfrm>
            <a:off x="3204789" y="3648347"/>
            <a:ext cx="288000" cy="288000"/>
            <a:chOff x="856677" y="2615810"/>
            <a:chExt cx="288000" cy="288000"/>
          </a:xfrm>
        </p:grpSpPr>
        <p:sp>
          <p:nvSpPr>
            <p:cNvPr id="61" name="椭圆 60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62" name="组合 61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63" name="直接连接符 62"/>
              <p:cNvCxnSpPr>
                <a:stCxn id="61" idx="3"/>
                <a:endCxn id="61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>
                <a:stCxn id="61" idx="1"/>
                <a:endCxn id="61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5" name="任意多边形: 形状 64"/>
          <p:cNvSpPr/>
          <p:nvPr/>
        </p:nvSpPr>
        <p:spPr bwMode="gray">
          <a:xfrm>
            <a:off x="2056292" y="4081750"/>
            <a:ext cx="2974834" cy="1030326"/>
          </a:xfrm>
          <a:custGeom>
            <a:avLst/>
            <a:gdLst>
              <a:gd name="connsiteX0" fmla="*/ 0 w 3113590"/>
              <a:gd name="connsiteY0" fmla="*/ 509286 h 1179171"/>
              <a:gd name="connsiteX1" fmla="*/ 1435261 w 3113590"/>
              <a:gd name="connsiteY1" fmla="*/ 1099595 h 1179171"/>
              <a:gd name="connsiteX2" fmla="*/ 2824223 w 3113590"/>
              <a:gd name="connsiteY2" fmla="*/ 1053297 h 1179171"/>
              <a:gd name="connsiteX3" fmla="*/ 3113590 w 3113590"/>
              <a:gd name="connsiteY3" fmla="*/ 0 h 1179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3590" h="1179171">
                <a:moveTo>
                  <a:pt x="0" y="509286"/>
                </a:moveTo>
                <a:cubicBezTo>
                  <a:pt x="482278" y="759106"/>
                  <a:pt x="964557" y="1008927"/>
                  <a:pt x="1435261" y="1099595"/>
                </a:cubicBezTo>
                <a:cubicBezTo>
                  <a:pt x="1905965" y="1190264"/>
                  <a:pt x="2544502" y="1236563"/>
                  <a:pt x="2824223" y="1053297"/>
                </a:cubicBezTo>
                <a:cubicBezTo>
                  <a:pt x="3103944" y="870031"/>
                  <a:pt x="3108767" y="435015"/>
                  <a:pt x="3113590" y="0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任意多边形: 形状 66"/>
          <p:cNvSpPr/>
          <p:nvPr/>
        </p:nvSpPr>
        <p:spPr bwMode="gray">
          <a:xfrm>
            <a:off x="5517263" y="4081748"/>
            <a:ext cx="1585732" cy="1030327"/>
          </a:xfrm>
          <a:custGeom>
            <a:avLst/>
            <a:gdLst>
              <a:gd name="connsiteX0" fmla="*/ 0 w 1493134"/>
              <a:gd name="connsiteY0" fmla="*/ 0 h 1007177"/>
              <a:gd name="connsiteX1" fmla="*/ 219919 w 1493134"/>
              <a:gd name="connsiteY1" fmla="*/ 902825 h 1007177"/>
              <a:gd name="connsiteX2" fmla="*/ 1250066 w 1493134"/>
              <a:gd name="connsiteY2" fmla="*/ 902825 h 1007177"/>
              <a:gd name="connsiteX3" fmla="*/ 1493134 w 1493134"/>
              <a:gd name="connsiteY3" fmla="*/ 138896 h 1007177"/>
              <a:gd name="connsiteX0-1" fmla="*/ 0 w 1585732"/>
              <a:gd name="connsiteY0-2" fmla="*/ 104173 h 1111350"/>
              <a:gd name="connsiteX1-3" fmla="*/ 219919 w 1585732"/>
              <a:gd name="connsiteY1-4" fmla="*/ 1006998 h 1111350"/>
              <a:gd name="connsiteX2-5" fmla="*/ 1250066 w 1585732"/>
              <a:gd name="connsiteY2-6" fmla="*/ 1006998 h 1111350"/>
              <a:gd name="connsiteX3-7" fmla="*/ 1585732 w 1585732"/>
              <a:gd name="connsiteY3-8" fmla="*/ 0 h 11113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85732" h="1111350">
                <a:moveTo>
                  <a:pt x="0" y="104173"/>
                </a:moveTo>
                <a:cubicBezTo>
                  <a:pt x="5787" y="480350"/>
                  <a:pt x="11575" y="856527"/>
                  <a:pt x="219919" y="1006998"/>
                </a:cubicBezTo>
                <a:cubicBezTo>
                  <a:pt x="428263" y="1157469"/>
                  <a:pt x="1037864" y="1134319"/>
                  <a:pt x="1250066" y="1006998"/>
                </a:cubicBezTo>
                <a:cubicBezTo>
                  <a:pt x="1462268" y="879677"/>
                  <a:pt x="1547150" y="111889"/>
                  <a:pt x="1585732" y="0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1526744" y="2994670"/>
            <a:ext cx="15382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IS-IS 1 Level-2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>
            <a:off x="1493144" y="1788191"/>
            <a:ext cx="4371665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[Router]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isis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[Router-isis-1]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frr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[Router-isis-1-frr] loop-free-alternate level-2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[Router-isis-1-frr]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level-2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>
            <a:stCxn id="76" idx="2"/>
            <a:endCxn id="12" idx="0"/>
          </p:cNvCxnSpPr>
          <p:nvPr/>
        </p:nvCxnSpPr>
        <p:spPr bwMode="gray">
          <a:xfrm flipH="1">
            <a:off x="1763144" y="2742298"/>
            <a:ext cx="1915833" cy="155716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76" idx="2"/>
            <a:endCxn id="6" idx="0"/>
          </p:cNvCxnSpPr>
          <p:nvPr/>
        </p:nvCxnSpPr>
        <p:spPr bwMode="gray">
          <a:xfrm flipH="1">
            <a:off x="3356442" y="2742298"/>
            <a:ext cx="322535" cy="81962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76" idx="2"/>
            <a:endCxn id="8" idx="0"/>
          </p:cNvCxnSpPr>
          <p:nvPr/>
        </p:nvCxnSpPr>
        <p:spPr bwMode="gray">
          <a:xfrm>
            <a:off x="3678977" y="2742298"/>
            <a:ext cx="1622012" cy="81962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>
            <a:stCxn id="76" idx="2"/>
            <a:endCxn id="10" idx="0"/>
          </p:cNvCxnSpPr>
          <p:nvPr/>
        </p:nvCxnSpPr>
        <p:spPr bwMode="gray">
          <a:xfrm>
            <a:off x="3678977" y="2742298"/>
            <a:ext cx="3566559" cy="81962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接连接符 27"/>
          <p:cNvCxnSpPr>
            <a:stCxn id="10" idx="3"/>
          </p:cNvCxnSpPr>
          <p:nvPr/>
        </p:nvCxnSpPr>
        <p:spPr bwMode="gray">
          <a:xfrm>
            <a:off x="7515536" y="3783323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11" idx="3"/>
          </p:cNvCxnSpPr>
          <p:nvPr/>
        </p:nvCxnSpPr>
        <p:spPr bwMode="gray">
          <a:xfrm flipV="1">
            <a:off x="7515536" y="4520864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6" idx="1"/>
            <a:endCxn id="10" idx="1"/>
          </p:cNvCxnSpPr>
          <p:nvPr/>
        </p:nvCxnSpPr>
        <p:spPr bwMode="gray">
          <a:xfrm>
            <a:off x="3086442" y="3783323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7" idx="1"/>
            <a:endCxn id="11" idx="1"/>
          </p:cNvCxnSpPr>
          <p:nvPr/>
        </p:nvCxnSpPr>
        <p:spPr bwMode="gray">
          <a:xfrm>
            <a:off x="3086442" y="5258405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endCxn id="7" idx="1"/>
          </p:cNvCxnSpPr>
          <p:nvPr/>
        </p:nvCxnSpPr>
        <p:spPr bwMode="gray">
          <a:xfrm>
            <a:off x="1743916" y="4520864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6" idx="1"/>
          </p:cNvCxnSpPr>
          <p:nvPr/>
        </p:nvCxnSpPr>
        <p:spPr bwMode="gray">
          <a:xfrm flipV="1">
            <a:off x="1743916" y="3783323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TI-LFA FRR</a:t>
            </a:r>
            <a:r>
              <a:rPr lang="zh-CN" altLang="en-US">
                <a:sym typeface="Huawei Sans" panose="020C0503030203020204" pitchFamily="34" charset="0"/>
              </a:rPr>
              <a:t>的局限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对于</a:t>
            </a:r>
            <a:r>
              <a:rPr lang="en-US" altLang="zh-CN" sz="1600" dirty="0"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sym typeface="Huawei Sans" panose="020C0503030203020204" pitchFamily="34" charset="0"/>
              </a:rPr>
              <a:t>隧道中的指定必经节点（首节点、尾节点、路径约束节点）故障，</a:t>
            </a:r>
            <a:r>
              <a:rPr lang="en-US" altLang="zh-CN" sz="1600" dirty="0">
                <a:sym typeface="Huawei Sans" panose="020C0503030203020204" pitchFamily="34" charset="0"/>
              </a:rPr>
              <a:t>TI-LFA</a:t>
            </a:r>
            <a:r>
              <a:rPr lang="zh-CN" altLang="en-US" sz="1600" dirty="0">
                <a:sym typeface="Huawei Sans" panose="020C0503030203020204" pitchFamily="34" charset="0"/>
              </a:rPr>
              <a:t>无法生成保护。如图</a:t>
            </a:r>
            <a:r>
              <a:rPr lang="en-US" altLang="zh-CN" sz="1600" dirty="0"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sym typeface="Huawei Sans" panose="020C0503030203020204" pitchFamily="34" charset="0"/>
              </a:rPr>
              <a:t>转发路径中，对于作为必经节点的</a:t>
            </a:r>
            <a:r>
              <a:rPr lang="en-US" altLang="zh-CN" sz="1600" dirty="0"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ym typeface="Huawei Sans" panose="020C0503030203020204" pitchFamily="34" charset="0"/>
              </a:rPr>
              <a:t>R4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R6</a:t>
            </a:r>
            <a:r>
              <a:rPr lang="zh-CN" altLang="en-US" sz="1600" dirty="0"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sym typeface="Huawei Sans" panose="020C0503030203020204" pitchFamily="34" charset="0"/>
              </a:rPr>
              <a:t>TI-LFA</a:t>
            </a:r>
            <a:r>
              <a:rPr lang="zh-CN" altLang="en-US" sz="1600" dirty="0">
                <a:sym typeface="Huawei Sans" panose="020C0503030203020204" pitchFamily="34" charset="0"/>
              </a:rPr>
              <a:t>无法生成保护路径。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6442" y="3561923"/>
            <a:ext cx="540000" cy="44280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6442" y="5037005"/>
            <a:ext cx="540000" cy="44280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30989" y="3561923"/>
            <a:ext cx="540000" cy="44280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30989" y="5037005"/>
            <a:ext cx="540000" cy="442800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75536" y="3561923"/>
            <a:ext cx="540000" cy="442800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75536" y="5037005"/>
            <a:ext cx="540000" cy="44280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93144" y="4299464"/>
            <a:ext cx="540000" cy="442800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628797" y="4299464"/>
            <a:ext cx="540000" cy="442800"/>
          </a:xfrm>
          <a:prstGeom prst="rect">
            <a:avLst/>
          </a:prstGeom>
        </p:spPr>
      </p:pic>
      <p:cxnSp>
        <p:nvCxnSpPr>
          <p:cNvPr id="34" name="直接连接符 33"/>
          <p:cNvCxnSpPr>
            <a:stCxn id="6" idx="2"/>
            <a:endCxn id="7" idx="0"/>
          </p:cNvCxnSpPr>
          <p:nvPr/>
        </p:nvCxnSpPr>
        <p:spPr bwMode="gray">
          <a:xfrm>
            <a:off x="3356442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 bwMode="gray">
          <a:xfrm>
            <a:off x="5300989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 bwMode="gray">
          <a:xfrm>
            <a:off x="7245536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 bwMode="gray">
          <a:xfrm>
            <a:off x="1532380" y="4742264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 bwMode="gray">
          <a:xfrm>
            <a:off x="1365885" y="2586990"/>
            <a:ext cx="836930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16006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 bwMode="gray">
          <a:xfrm>
            <a:off x="3415068" y="400902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3141277" y="548638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5071083" y="548638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5345848" y="3987556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7220736" y="3987556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 bwMode="gray">
          <a:xfrm>
            <a:off x="1365885" y="2943860"/>
            <a:ext cx="843915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16004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1366134" y="2230197"/>
            <a:ext cx="803425" cy="33855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Packet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箭头: 下 3"/>
          <p:cNvSpPr/>
          <p:nvPr/>
        </p:nvSpPr>
        <p:spPr bwMode="gray">
          <a:xfrm>
            <a:off x="1613384" y="3397770"/>
            <a:ext cx="262431" cy="425633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1391920" y="4071620"/>
            <a:ext cx="830580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16001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文本框 79"/>
          <p:cNvSpPr txBox="1"/>
          <p:nvPr/>
        </p:nvSpPr>
        <p:spPr bwMode="gray">
          <a:xfrm>
            <a:off x="2957195" y="3359150"/>
            <a:ext cx="1020445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16002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文本框 80"/>
          <p:cNvSpPr txBox="1"/>
          <p:nvPr/>
        </p:nvSpPr>
        <p:spPr bwMode="gray">
          <a:xfrm>
            <a:off x="4880610" y="3359150"/>
            <a:ext cx="929005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16004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文本框 81"/>
          <p:cNvSpPr txBox="1"/>
          <p:nvPr/>
        </p:nvSpPr>
        <p:spPr bwMode="gray">
          <a:xfrm>
            <a:off x="6886575" y="3359150"/>
            <a:ext cx="953135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16006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 bwMode="gray">
          <a:xfrm>
            <a:off x="2957195" y="4815840"/>
            <a:ext cx="1077595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16003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 bwMode="gray">
          <a:xfrm>
            <a:off x="4880610" y="4815840"/>
            <a:ext cx="907415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16005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任意多边形: 形状 38"/>
          <p:cNvSpPr/>
          <p:nvPr/>
        </p:nvSpPr>
        <p:spPr bwMode="gray">
          <a:xfrm>
            <a:off x="1851737" y="3537131"/>
            <a:ext cx="5393799" cy="965902"/>
          </a:xfrm>
          <a:custGeom>
            <a:avLst/>
            <a:gdLst>
              <a:gd name="connsiteX0" fmla="*/ 0 w 5046562"/>
              <a:gd name="connsiteY0" fmla="*/ 810255 h 810255"/>
              <a:gd name="connsiteX1" fmla="*/ 787079 w 5046562"/>
              <a:gd name="connsiteY1" fmla="*/ 405141 h 810255"/>
              <a:gd name="connsiteX2" fmla="*/ 1458410 w 5046562"/>
              <a:gd name="connsiteY2" fmla="*/ 81050 h 810255"/>
              <a:gd name="connsiteX3" fmla="*/ 2164466 w 5046562"/>
              <a:gd name="connsiteY3" fmla="*/ 115774 h 810255"/>
              <a:gd name="connsiteX4" fmla="*/ 3125165 w 5046562"/>
              <a:gd name="connsiteY4" fmla="*/ 115774 h 810255"/>
              <a:gd name="connsiteX5" fmla="*/ 3692324 w 5046562"/>
              <a:gd name="connsiteY5" fmla="*/ 27 h 810255"/>
              <a:gd name="connsiteX6" fmla="*/ 5046562 w 5046562"/>
              <a:gd name="connsiteY6" fmla="*/ 104199 h 810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46562" h="810255">
                <a:moveTo>
                  <a:pt x="0" y="810255"/>
                </a:moveTo>
                <a:lnTo>
                  <a:pt x="787079" y="405141"/>
                </a:lnTo>
                <a:cubicBezTo>
                  <a:pt x="1030147" y="283607"/>
                  <a:pt x="1228846" y="129278"/>
                  <a:pt x="1458410" y="81050"/>
                </a:cubicBezTo>
                <a:cubicBezTo>
                  <a:pt x="1687974" y="32822"/>
                  <a:pt x="1886674" y="109987"/>
                  <a:pt x="2164466" y="115774"/>
                </a:cubicBezTo>
                <a:cubicBezTo>
                  <a:pt x="2442258" y="121561"/>
                  <a:pt x="2870522" y="135065"/>
                  <a:pt x="3125165" y="115774"/>
                </a:cubicBezTo>
                <a:cubicBezTo>
                  <a:pt x="3379808" y="96483"/>
                  <a:pt x="3372091" y="1956"/>
                  <a:pt x="3692324" y="27"/>
                </a:cubicBezTo>
                <a:cubicBezTo>
                  <a:pt x="4012557" y="-1902"/>
                  <a:pt x="4732116" y="96482"/>
                  <a:pt x="5046562" y="104199"/>
                </a:cubicBezTo>
              </a:path>
            </a:pathLst>
          </a:custGeom>
          <a:noFill/>
          <a:ln w="38100">
            <a:solidFill>
              <a:srgbClr val="FCC8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5" name="组合 54"/>
          <p:cNvGrpSpPr/>
          <p:nvPr/>
        </p:nvGrpSpPr>
        <p:grpSpPr bwMode="gray">
          <a:xfrm>
            <a:off x="5138123" y="3619748"/>
            <a:ext cx="288000" cy="288000"/>
            <a:chOff x="856677" y="2615810"/>
            <a:chExt cx="288000" cy="288000"/>
          </a:xfrm>
        </p:grpSpPr>
        <p:sp>
          <p:nvSpPr>
            <p:cNvPr id="56" name="椭圆 55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7" name="组合 56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58" name="直接连接符 57"/>
              <p:cNvCxnSpPr>
                <a:stCxn id="56" idx="3"/>
                <a:endCxn id="56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>
                <a:stCxn id="56" idx="1"/>
                <a:endCxn id="56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7" name="文本框 86"/>
          <p:cNvSpPr txBox="1"/>
          <p:nvPr/>
        </p:nvSpPr>
        <p:spPr bwMode="gray">
          <a:xfrm>
            <a:off x="5804648" y="2462569"/>
            <a:ext cx="2967288" cy="307777"/>
          </a:xfrm>
          <a:prstGeom prst="rect">
            <a:avLst/>
          </a:prstGeom>
          <a:solidFill>
            <a:srgbClr val="ED6D00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</a:t>
            </a:r>
            <a:r>
              <a: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无法保护必经节点故障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/>
          <p:cNvSpPr/>
          <p:nvPr/>
        </p:nvSpPr>
        <p:spPr bwMode="gray">
          <a:xfrm>
            <a:off x="4619504" y="3104786"/>
            <a:ext cx="1369608" cy="278536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Anycast FRR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sym typeface="Huawei Sans" panose="020C0503030203020204" pitchFamily="34" charset="0"/>
              </a:rPr>
              <a:t>Anycast FRR</a:t>
            </a:r>
            <a:r>
              <a:rPr lang="zh-CN" altLang="en-US" sz="1600" dirty="0">
                <a:sym typeface="Huawei Sans" panose="020C0503030203020204" pitchFamily="34" charset="0"/>
              </a:rPr>
              <a:t>可以实现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对于指定节点的故障保护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如图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让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R4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R5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发布相同的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，这个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就是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Anycast SID</a:t>
            </a:r>
            <a:r>
              <a:rPr lang="zh-CN" altLang="en-US" sz="1600" dirty="0">
                <a:sym typeface="Huawei Sans" panose="020C0503030203020204" pitchFamily="34" charset="0"/>
              </a:rPr>
              <a:t>。此时</a:t>
            </a:r>
            <a:r>
              <a:rPr lang="en-US" altLang="zh-CN" sz="1600" dirty="0">
                <a:sym typeface="Huawei Sans" panose="020C0503030203020204" pitchFamily="34" charset="0"/>
              </a:rPr>
              <a:t>Anycast SID</a:t>
            </a:r>
            <a:r>
              <a:rPr lang="zh-CN" altLang="en-US" sz="1600" dirty="0">
                <a:sym typeface="Huawei Sans" panose="020C0503030203020204" pitchFamily="34" charset="0"/>
              </a:rPr>
              <a:t>会在</a:t>
            </a:r>
            <a:r>
              <a:rPr lang="en-US" altLang="zh-CN" sz="1600" dirty="0"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sym typeface="Huawei Sans" panose="020C0503030203020204" pitchFamily="34" charset="0"/>
              </a:rPr>
              <a:t>中发布，其下一跳会指向路径中最近的节点，例如</a:t>
            </a:r>
            <a:r>
              <a:rPr lang="en-US" altLang="zh-CN" sz="1600" dirty="0">
                <a:sym typeface="Huawei Sans" panose="020C0503030203020204" pitchFamily="34" charset="0"/>
              </a:rPr>
              <a:t>R4</a:t>
            </a:r>
            <a:r>
              <a:rPr lang="zh-CN" altLang="en-US" sz="1600" dirty="0">
                <a:sym typeface="Huawei Sans" panose="020C0503030203020204" pitchFamily="34" charset="0"/>
              </a:rPr>
              <a:t>，那么</a:t>
            </a:r>
            <a:r>
              <a:rPr lang="en-US" altLang="zh-CN" sz="1600" dirty="0">
                <a:sym typeface="Huawei Sans" panose="020C0503030203020204" pitchFamily="34" charset="0"/>
              </a:rPr>
              <a:t>R4</a:t>
            </a:r>
            <a:r>
              <a:rPr lang="zh-CN" altLang="en-US" sz="1600" dirty="0">
                <a:sym typeface="Huawei Sans" panose="020C0503030203020204" pitchFamily="34" charset="0"/>
              </a:rPr>
              <a:t>被称为</a:t>
            </a:r>
            <a:r>
              <a:rPr lang="en-US" altLang="zh-CN" sz="1600" dirty="0">
                <a:sym typeface="Huawei Sans" panose="020C0503030203020204" pitchFamily="34" charset="0"/>
              </a:rPr>
              <a:t>Anycast SID</a:t>
            </a:r>
            <a:r>
              <a:rPr lang="zh-CN" altLang="en-US" sz="1600" dirty="0">
                <a:sym typeface="Huawei Sans" panose="020C0503030203020204" pitchFamily="34" charset="0"/>
              </a:rPr>
              <a:t>的最优节点，</a:t>
            </a:r>
            <a:r>
              <a:rPr lang="en-US" altLang="zh-CN" sz="1600" dirty="0">
                <a:sym typeface="Huawei Sans" panose="020C0503030203020204" pitchFamily="34" charset="0"/>
              </a:rPr>
              <a:t>R5</a:t>
            </a:r>
            <a:r>
              <a:rPr lang="zh-CN" altLang="en-US" sz="1600" dirty="0">
                <a:sym typeface="Huawei Sans" panose="020C0503030203020204" pitchFamily="34" charset="0"/>
              </a:rPr>
              <a:t>则是备份节点。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>
            <a:stCxn id="16" idx="3"/>
          </p:cNvCxnSpPr>
          <p:nvPr/>
        </p:nvCxnSpPr>
        <p:spPr bwMode="gray">
          <a:xfrm>
            <a:off x="7515536" y="3783323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17" idx="3"/>
          </p:cNvCxnSpPr>
          <p:nvPr/>
        </p:nvCxnSpPr>
        <p:spPr bwMode="gray">
          <a:xfrm flipV="1">
            <a:off x="7515536" y="4520864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12" idx="1"/>
            <a:endCxn id="16" idx="1"/>
          </p:cNvCxnSpPr>
          <p:nvPr/>
        </p:nvCxnSpPr>
        <p:spPr bwMode="gray">
          <a:xfrm>
            <a:off x="3086442" y="3783323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13" idx="1"/>
            <a:endCxn id="17" idx="1"/>
          </p:cNvCxnSpPr>
          <p:nvPr/>
        </p:nvCxnSpPr>
        <p:spPr bwMode="gray">
          <a:xfrm>
            <a:off x="3086442" y="5258405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endCxn id="13" idx="1"/>
          </p:cNvCxnSpPr>
          <p:nvPr/>
        </p:nvCxnSpPr>
        <p:spPr bwMode="gray">
          <a:xfrm>
            <a:off x="1743916" y="4520864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endCxn id="12" idx="1"/>
          </p:cNvCxnSpPr>
          <p:nvPr/>
        </p:nvCxnSpPr>
        <p:spPr bwMode="gray">
          <a:xfrm flipV="1">
            <a:off x="1743916" y="3783323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6442" y="3561923"/>
            <a:ext cx="540000" cy="442800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6442" y="5037005"/>
            <a:ext cx="540000" cy="44280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30989" y="3561923"/>
            <a:ext cx="540000" cy="44280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30989" y="5037005"/>
            <a:ext cx="540000" cy="442800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75536" y="3561923"/>
            <a:ext cx="540000" cy="442800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75536" y="5037005"/>
            <a:ext cx="540000" cy="442800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93144" y="4299464"/>
            <a:ext cx="540000" cy="442800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628797" y="4299464"/>
            <a:ext cx="540000" cy="442800"/>
          </a:xfrm>
          <a:prstGeom prst="rect">
            <a:avLst/>
          </a:prstGeom>
        </p:spPr>
      </p:pic>
      <p:cxnSp>
        <p:nvCxnSpPr>
          <p:cNvPr id="20" name="直接连接符 19"/>
          <p:cNvCxnSpPr>
            <a:stCxn id="12" idx="2"/>
            <a:endCxn id="13" idx="0"/>
          </p:cNvCxnSpPr>
          <p:nvPr/>
        </p:nvCxnSpPr>
        <p:spPr bwMode="gray">
          <a:xfrm>
            <a:off x="3356442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 bwMode="gray">
          <a:xfrm>
            <a:off x="5300989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 bwMode="gray">
          <a:xfrm>
            <a:off x="7245536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 bwMode="gray">
          <a:xfrm>
            <a:off x="1532380" y="4742264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3415068" y="400902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3141277" y="548638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 bwMode="gray">
          <a:xfrm>
            <a:off x="5071083" y="548638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5345848" y="3987556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7220736" y="3987556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 bwMode="gray">
          <a:xfrm>
            <a:off x="1391920" y="4071620"/>
            <a:ext cx="991235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16001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>
            <a:off x="2957195" y="3359150"/>
            <a:ext cx="1027430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16002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4899025" y="2928620"/>
            <a:ext cx="896620" cy="3371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16100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6886575" y="3359150"/>
            <a:ext cx="971550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16006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2957195" y="4815840"/>
            <a:ext cx="1024255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16003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 bwMode="gray">
          <a:xfrm>
            <a:off x="6248400" y="2653030"/>
            <a:ext cx="3717290" cy="306705"/>
          </a:xfrm>
          <a:prstGeom prst="rect">
            <a:avLst/>
          </a:prstGeom>
          <a:solidFill>
            <a:srgbClr val="ED6D00"/>
          </a:solidFill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不同设备设置相同</a:t>
            </a: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 (Anycast SID)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任意多边形: 形状 46"/>
          <p:cNvSpPr/>
          <p:nvPr/>
        </p:nvSpPr>
        <p:spPr bwMode="gray">
          <a:xfrm>
            <a:off x="1851737" y="3537131"/>
            <a:ext cx="5393799" cy="965902"/>
          </a:xfrm>
          <a:custGeom>
            <a:avLst/>
            <a:gdLst>
              <a:gd name="connsiteX0" fmla="*/ 0 w 5046562"/>
              <a:gd name="connsiteY0" fmla="*/ 810255 h 810255"/>
              <a:gd name="connsiteX1" fmla="*/ 787079 w 5046562"/>
              <a:gd name="connsiteY1" fmla="*/ 405141 h 810255"/>
              <a:gd name="connsiteX2" fmla="*/ 1458410 w 5046562"/>
              <a:gd name="connsiteY2" fmla="*/ 81050 h 810255"/>
              <a:gd name="connsiteX3" fmla="*/ 2164466 w 5046562"/>
              <a:gd name="connsiteY3" fmla="*/ 115774 h 810255"/>
              <a:gd name="connsiteX4" fmla="*/ 3125165 w 5046562"/>
              <a:gd name="connsiteY4" fmla="*/ 115774 h 810255"/>
              <a:gd name="connsiteX5" fmla="*/ 3692324 w 5046562"/>
              <a:gd name="connsiteY5" fmla="*/ 27 h 810255"/>
              <a:gd name="connsiteX6" fmla="*/ 5046562 w 5046562"/>
              <a:gd name="connsiteY6" fmla="*/ 104199 h 810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46562" h="810255">
                <a:moveTo>
                  <a:pt x="0" y="810255"/>
                </a:moveTo>
                <a:lnTo>
                  <a:pt x="787079" y="405141"/>
                </a:lnTo>
                <a:cubicBezTo>
                  <a:pt x="1030147" y="283607"/>
                  <a:pt x="1228846" y="129278"/>
                  <a:pt x="1458410" y="81050"/>
                </a:cubicBezTo>
                <a:cubicBezTo>
                  <a:pt x="1687974" y="32822"/>
                  <a:pt x="1886674" y="109987"/>
                  <a:pt x="2164466" y="115774"/>
                </a:cubicBezTo>
                <a:cubicBezTo>
                  <a:pt x="2442258" y="121561"/>
                  <a:pt x="2870522" y="135065"/>
                  <a:pt x="3125165" y="115774"/>
                </a:cubicBezTo>
                <a:cubicBezTo>
                  <a:pt x="3379808" y="96483"/>
                  <a:pt x="3372091" y="1956"/>
                  <a:pt x="3692324" y="27"/>
                </a:cubicBezTo>
                <a:cubicBezTo>
                  <a:pt x="4012557" y="-1902"/>
                  <a:pt x="4732116" y="96482"/>
                  <a:pt x="5046562" y="104199"/>
                </a:cubicBezTo>
              </a:path>
            </a:pathLst>
          </a:custGeom>
          <a:noFill/>
          <a:ln w="38100">
            <a:solidFill>
              <a:srgbClr val="FCC8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5708176" y="4009023"/>
            <a:ext cx="941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最优节点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5708176" y="5347888"/>
            <a:ext cx="941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备份节点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/>
          <p:cNvSpPr/>
          <p:nvPr/>
        </p:nvSpPr>
        <p:spPr bwMode="gray">
          <a:xfrm>
            <a:off x="4619504" y="3282542"/>
            <a:ext cx="1369608" cy="26076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Anycast FRR</a:t>
            </a:r>
            <a:r>
              <a:rPr lang="zh-CN" altLang="en-US" dirty="0">
                <a:sym typeface="Huawei Sans" panose="020C0503030203020204" pitchFamily="34" charset="0"/>
              </a:rPr>
              <a:t>故障保护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Anycast FRR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构造一个虚拟节点发布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SID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，然后采用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TI-LFA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算法计算虚拟节点的备份下一跳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此时如果</a:t>
            </a:r>
            <a:r>
              <a:rPr lang="en-US" altLang="zh-CN" sz="1600" dirty="0">
                <a:sym typeface="Huawei Sans" panose="020C0503030203020204" pitchFamily="34" charset="0"/>
              </a:rPr>
              <a:t>R4</a:t>
            </a:r>
            <a:r>
              <a:rPr lang="zh-CN" altLang="en-US" sz="1600" dirty="0">
                <a:sym typeface="Huawei Sans" panose="020C0503030203020204" pitchFamily="34" charset="0"/>
              </a:rPr>
              <a:t>节点故障，</a:t>
            </a:r>
            <a:r>
              <a:rPr lang="en-US" altLang="zh-CN" sz="1600" dirty="0">
                <a:sym typeface="Huawei Sans" panose="020C0503030203020204" pitchFamily="34" charset="0"/>
              </a:rPr>
              <a:t>TI-LFA</a:t>
            </a:r>
            <a:r>
              <a:rPr lang="zh-CN" altLang="en-US" sz="1600" dirty="0">
                <a:sym typeface="Huawei Sans" panose="020C0503030203020204" pitchFamily="34" charset="0"/>
              </a:rPr>
              <a:t>根据计算的备份路径，通过</a:t>
            </a:r>
            <a:r>
              <a:rPr lang="en-US" altLang="zh-CN" sz="1600" dirty="0">
                <a:sym typeface="Huawei Sans" panose="020C0503030203020204" pitchFamily="34" charset="0"/>
              </a:rPr>
              <a:t>R5</a:t>
            </a:r>
            <a:r>
              <a:rPr lang="zh-CN" altLang="en-US" sz="1600" dirty="0">
                <a:sym typeface="Huawei Sans" panose="020C0503030203020204" pitchFamily="34" charset="0"/>
              </a:rPr>
              <a:t>继续转发。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>
            <a:stCxn id="16" idx="3"/>
          </p:cNvCxnSpPr>
          <p:nvPr/>
        </p:nvCxnSpPr>
        <p:spPr bwMode="gray">
          <a:xfrm>
            <a:off x="7515536" y="3783323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17" idx="3"/>
          </p:cNvCxnSpPr>
          <p:nvPr/>
        </p:nvCxnSpPr>
        <p:spPr bwMode="gray">
          <a:xfrm flipV="1">
            <a:off x="7515536" y="4520864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12" idx="1"/>
            <a:endCxn id="16" idx="1"/>
          </p:cNvCxnSpPr>
          <p:nvPr/>
        </p:nvCxnSpPr>
        <p:spPr bwMode="gray">
          <a:xfrm>
            <a:off x="3086442" y="3783323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13" idx="1"/>
            <a:endCxn id="17" idx="1"/>
          </p:cNvCxnSpPr>
          <p:nvPr/>
        </p:nvCxnSpPr>
        <p:spPr bwMode="gray">
          <a:xfrm>
            <a:off x="3086442" y="5258405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endCxn id="13" idx="1"/>
          </p:cNvCxnSpPr>
          <p:nvPr/>
        </p:nvCxnSpPr>
        <p:spPr bwMode="gray">
          <a:xfrm>
            <a:off x="1743916" y="4520864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endCxn id="12" idx="1"/>
          </p:cNvCxnSpPr>
          <p:nvPr/>
        </p:nvCxnSpPr>
        <p:spPr bwMode="gray">
          <a:xfrm flipV="1">
            <a:off x="1743916" y="3783323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6442" y="3561923"/>
            <a:ext cx="540000" cy="442800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6442" y="5037005"/>
            <a:ext cx="540000" cy="44280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30989" y="3561923"/>
            <a:ext cx="540000" cy="44280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30989" y="5037005"/>
            <a:ext cx="540000" cy="442800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75536" y="3561923"/>
            <a:ext cx="540000" cy="442800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75536" y="5037005"/>
            <a:ext cx="540000" cy="442800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93144" y="4299464"/>
            <a:ext cx="540000" cy="442800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628797" y="4299464"/>
            <a:ext cx="540000" cy="442800"/>
          </a:xfrm>
          <a:prstGeom prst="rect">
            <a:avLst/>
          </a:prstGeom>
        </p:spPr>
      </p:pic>
      <p:cxnSp>
        <p:nvCxnSpPr>
          <p:cNvPr id="20" name="直接连接符 19"/>
          <p:cNvCxnSpPr>
            <a:stCxn id="12" idx="2"/>
            <a:endCxn id="13" idx="0"/>
          </p:cNvCxnSpPr>
          <p:nvPr/>
        </p:nvCxnSpPr>
        <p:spPr bwMode="gray">
          <a:xfrm>
            <a:off x="3356442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 bwMode="gray">
          <a:xfrm>
            <a:off x="5300989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 bwMode="gray">
          <a:xfrm>
            <a:off x="7245536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 bwMode="gray">
          <a:xfrm>
            <a:off x="1532380" y="4742264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3415068" y="400902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3141277" y="548638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 bwMode="gray">
          <a:xfrm>
            <a:off x="5071083" y="548638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5345848" y="3987556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7220736" y="3987556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 bwMode="gray">
          <a:xfrm>
            <a:off x="1391693" y="4071610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16001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>
            <a:off x="2957103" y="3359122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16002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6886580" y="3359122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16006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2957103" y="4815606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16003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7" name="任意多边形: 形状 46"/>
          <p:cNvSpPr/>
          <p:nvPr/>
        </p:nvSpPr>
        <p:spPr bwMode="gray">
          <a:xfrm>
            <a:off x="1851737" y="3537131"/>
            <a:ext cx="5393799" cy="965902"/>
          </a:xfrm>
          <a:custGeom>
            <a:avLst/>
            <a:gdLst>
              <a:gd name="connsiteX0" fmla="*/ 0 w 5046562"/>
              <a:gd name="connsiteY0" fmla="*/ 810255 h 810255"/>
              <a:gd name="connsiteX1" fmla="*/ 787079 w 5046562"/>
              <a:gd name="connsiteY1" fmla="*/ 405141 h 810255"/>
              <a:gd name="connsiteX2" fmla="*/ 1458410 w 5046562"/>
              <a:gd name="connsiteY2" fmla="*/ 81050 h 810255"/>
              <a:gd name="connsiteX3" fmla="*/ 2164466 w 5046562"/>
              <a:gd name="connsiteY3" fmla="*/ 115774 h 810255"/>
              <a:gd name="connsiteX4" fmla="*/ 3125165 w 5046562"/>
              <a:gd name="connsiteY4" fmla="*/ 115774 h 810255"/>
              <a:gd name="connsiteX5" fmla="*/ 3692324 w 5046562"/>
              <a:gd name="connsiteY5" fmla="*/ 27 h 810255"/>
              <a:gd name="connsiteX6" fmla="*/ 5046562 w 5046562"/>
              <a:gd name="connsiteY6" fmla="*/ 104199 h 810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46562" h="810255">
                <a:moveTo>
                  <a:pt x="0" y="810255"/>
                </a:moveTo>
                <a:lnTo>
                  <a:pt x="787079" y="405141"/>
                </a:lnTo>
                <a:cubicBezTo>
                  <a:pt x="1030147" y="283607"/>
                  <a:pt x="1228846" y="129278"/>
                  <a:pt x="1458410" y="81050"/>
                </a:cubicBezTo>
                <a:cubicBezTo>
                  <a:pt x="1687974" y="32822"/>
                  <a:pt x="1886674" y="109987"/>
                  <a:pt x="2164466" y="115774"/>
                </a:cubicBezTo>
                <a:cubicBezTo>
                  <a:pt x="2442258" y="121561"/>
                  <a:pt x="2870522" y="135065"/>
                  <a:pt x="3125165" y="115774"/>
                </a:cubicBezTo>
                <a:cubicBezTo>
                  <a:pt x="3379808" y="96483"/>
                  <a:pt x="3372091" y="1956"/>
                  <a:pt x="3692324" y="27"/>
                </a:cubicBezTo>
                <a:cubicBezTo>
                  <a:pt x="4012557" y="-1902"/>
                  <a:pt x="4732116" y="96482"/>
                  <a:pt x="5046562" y="104199"/>
                </a:cubicBezTo>
              </a:path>
            </a:pathLst>
          </a:custGeom>
          <a:noFill/>
          <a:ln w="38100">
            <a:solidFill>
              <a:srgbClr val="FCC8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4007434" y="4818616"/>
            <a:ext cx="941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虚拟节点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1366134" y="2602481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16006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1365885" y="2943860"/>
            <a:ext cx="836930" cy="3371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16100</a:t>
            </a:r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1366134" y="2230197"/>
            <a:ext cx="803425" cy="33855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Packet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箭头: 下 40"/>
          <p:cNvSpPr/>
          <p:nvPr/>
        </p:nvSpPr>
        <p:spPr bwMode="gray">
          <a:xfrm>
            <a:off x="1613384" y="3397770"/>
            <a:ext cx="262431" cy="425633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2" name="组合 41"/>
          <p:cNvGrpSpPr/>
          <p:nvPr/>
        </p:nvGrpSpPr>
        <p:grpSpPr bwMode="gray">
          <a:xfrm>
            <a:off x="5138123" y="3619748"/>
            <a:ext cx="288000" cy="288000"/>
            <a:chOff x="856677" y="2615810"/>
            <a:chExt cx="288000" cy="288000"/>
          </a:xfrm>
        </p:grpSpPr>
        <p:sp>
          <p:nvSpPr>
            <p:cNvPr id="43" name="椭圆 42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44" name="组合 43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50" name="直接连接符 49"/>
              <p:cNvCxnSpPr>
                <a:stCxn id="43" idx="3"/>
                <a:endCxn id="43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>
                <a:stCxn id="43" idx="1"/>
                <a:endCxn id="43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3" name="直接连接符 52"/>
          <p:cNvCxnSpPr/>
          <p:nvPr/>
        </p:nvCxnSpPr>
        <p:spPr bwMode="gray">
          <a:xfrm flipH="1">
            <a:off x="4561943" y="3978029"/>
            <a:ext cx="535190" cy="531589"/>
          </a:xfrm>
          <a:prstGeom prst="line">
            <a:avLst/>
          </a:prstGeom>
          <a:ln w="19050">
            <a:solidFill>
              <a:srgbClr val="ED6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 bwMode="gray">
          <a:xfrm flipH="1" flipV="1">
            <a:off x="4619505" y="4509618"/>
            <a:ext cx="417870" cy="551586"/>
          </a:xfrm>
          <a:prstGeom prst="line">
            <a:avLst/>
          </a:prstGeom>
          <a:ln w="19050">
            <a:solidFill>
              <a:srgbClr val="ED6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图片 51"/>
          <p:cNvPicPr/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410201" y="4299464"/>
            <a:ext cx="540000" cy="44280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 bwMode="gray">
          <a:xfrm>
            <a:off x="4090035" y="4067810"/>
            <a:ext cx="940435" cy="3371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16100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任意多边形: 形状 61"/>
          <p:cNvSpPr/>
          <p:nvPr/>
        </p:nvSpPr>
        <p:spPr bwMode="gray">
          <a:xfrm>
            <a:off x="1947553" y="4029712"/>
            <a:ext cx="5194816" cy="1171944"/>
          </a:xfrm>
          <a:custGeom>
            <a:avLst/>
            <a:gdLst>
              <a:gd name="connsiteX0" fmla="*/ 0 w 5367725"/>
              <a:gd name="connsiteY0" fmla="*/ 601663 h 1171944"/>
              <a:gd name="connsiteX1" fmla="*/ 1187532 w 5367725"/>
              <a:gd name="connsiteY1" fmla="*/ 7897 h 1171944"/>
              <a:gd name="connsiteX2" fmla="*/ 1650670 w 5367725"/>
              <a:gd name="connsiteY2" fmla="*/ 981674 h 1171944"/>
              <a:gd name="connsiteX3" fmla="*/ 4750130 w 5367725"/>
              <a:gd name="connsiteY3" fmla="*/ 1100427 h 1171944"/>
              <a:gd name="connsiteX4" fmla="*/ 5367647 w 5367725"/>
              <a:gd name="connsiteY4" fmla="*/ 150401 h 1171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7725" h="1171944">
                <a:moveTo>
                  <a:pt x="0" y="601663"/>
                </a:moveTo>
                <a:cubicBezTo>
                  <a:pt x="456210" y="273112"/>
                  <a:pt x="912420" y="-55438"/>
                  <a:pt x="1187532" y="7897"/>
                </a:cubicBezTo>
                <a:cubicBezTo>
                  <a:pt x="1462644" y="71232"/>
                  <a:pt x="1056904" y="799586"/>
                  <a:pt x="1650670" y="981674"/>
                </a:cubicBezTo>
                <a:cubicBezTo>
                  <a:pt x="2244436" y="1163762"/>
                  <a:pt x="4130634" y="1238973"/>
                  <a:pt x="4750130" y="1100427"/>
                </a:cubicBezTo>
                <a:cubicBezTo>
                  <a:pt x="5369626" y="961881"/>
                  <a:pt x="5368636" y="556141"/>
                  <a:pt x="5367647" y="150401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 bwMode="gray">
          <a:xfrm>
            <a:off x="5951048" y="5301691"/>
            <a:ext cx="949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备份路径</a:t>
            </a:r>
            <a:endParaRPr lang="zh-CN" altLang="en-US" sz="1400" b="1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Hot-Standby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ym typeface="Huawei Sans" panose="020C0503030203020204" pitchFamily="34" charset="0"/>
              </a:rPr>
              <a:t>Hot-Standby</a:t>
            </a:r>
            <a:r>
              <a:rPr lang="zh-CN" altLang="en-US" sz="1600" dirty="0">
                <a:sym typeface="Huawei Sans" panose="020C0503030203020204" pitchFamily="34" charset="0"/>
              </a:rPr>
              <a:t>就是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通过控制器算出一条与主路径不同的备份路径，实现端到端的路径保护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SR-MPLS Policy</a:t>
            </a:r>
            <a:r>
              <a:rPr lang="zh-CN" altLang="en-US" sz="1600" dirty="0">
                <a:sym typeface="Huawei Sans" panose="020C0503030203020204" pitchFamily="34" charset="0"/>
              </a:rPr>
              <a:t>由主候选路径和备候选路径形成</a:t>
            </a:r>
            <a:r>
              <a:rPr lang="en-US" altLang="zh-CN" sz="1600" dirty="0">
                <a:sym typeface="Huawei Sans" panose="020C0503030203020204" pitchFamily="34" charset="0"/>
              </a:rPr>
              <a:t>Hot-Standby</a:t>
            </a:r>
            <a:r>
              <a:rPr lang="zh-CN" altLang="en-US" sz="1600" dirty="0">
                <a:sym typeface="Huawei Sans" panose="020C0503030203020204" pitchFamily="34" charset="0"/>
              </a:rPr>
              <a:t>。主、备候选路径属于一个</a:t>
            </a:r>
            <a:r>
              <a:rPr lang="en-US" altLang="zh-CN" sz="1600" dirty="0">
                <a:sym typeface="Huawei Sans" panose="020C0503030203020204" pitchFamily="34" charset="0"/>
              </a:rPr>
              <a:t>SR-MPLS Policy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49" name="直接连接符 48"/>
          <p:cNvCxnSpPr>
            <a:stCxn id="59" idx="3"/>
          </p:cNvCxnSpPr>
          <p:nvPr/>
        </p:nvCxnSpPr>
        <p:spPr bwMode="gray">
          <a:xfrm>
            <a:off x="8524938" y="3783323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60" idx="3"/>
          </p:cNvCxnSpPr>
          <p:nvPr/>
        </p:nvCxnSpPr>
        <p:spPr bwMode="gray">
          <a:xfrm flipV="1">
            <a:off x="8524938" y="4520864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55" idx="1"/>
            <a:endCxn id="59" idx="1"/>
          </p:cNvCxnSpPr>
          <p:nvPr/>
        </p:nvCxnSpPr>
        <p:spPr bwMode="gray">
          <a:xfrm>
            <a:off x="4095844" y="3783323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56" idx="1"/>
            <a:endCxn id="60" idx="1"/>
          </p:cNvCxnSpPr>
          <p:nvPr/>
        </p:nvCxnSpPr>
        <p:spPr bwMode="gray">
          <a:xfrm>
            <a:off x="4095844" y="5258405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endCxn id="56" idx="1"/>
          </p:cNvCxnSpPr>
          <p:nvPr/>
        </p:nvCxnSpPr>
        <p:spPr bwMode="gray">
          <a:xfrm>
            <a:off x="2753318" y="4520864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endCxn id="55" idx="1"/>
          </p:cNvCxnSpPr>
          <p:nvPr/>
        </p:nvCxnSpPr>
        <p:spPr bwMode="gray">
          <a:xfrm flipV="1">
            <a:off x="2753318" y="3783323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图片 5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3561923"/>
            <a:ext cx="540000" cy="442800"/>
          </a:xfrm>
          <a:prstGeom prst="rect">
            <a:avLst/>
          </a:prstGeom>
        </p:spPr>
      </p:pic>
      <p:pic>
        <p:nvPicPr>
          <p:cNvPr id="56" name="图片 5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5037005"/>
            <a:ext cx="540000" cy="442800"/>
          </a:xfrm>
          <a:prstGeom prst="rect">
            <a:avLst/>
          </a:prstGeom>
        </p:spPr>
      </p:pic>
      <p:pic>
        <p:nvPicPr>
          <p:cNvPr id="57" name="图片 5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3561923"/>
            <a:ext cx="540000" cy="442800"/>
          </a:xfrm>
          <a:prstGeom prst="rect">
            <a:avLst/>
          </a:prstGeom>
        </p:spPr>
      </p:pic>
      <p:pic>
        <p:nvPicPr>
          <p:cNvPr id="58" name="图片 5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5037005"/>
            <a:ext cx="540000" cy="442800"/>
          </a:xfrm>
          <a:prstGeom prst="rect">
            <a:avLst/>
          </a:prstGeom>
        </p:spPr>
      </p:pic>
      <p:pic>
        <p:nvPicPr>
          <p:cNvPr id="59" name="图片 5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3561923"/>
            <a:ext cx="540000" cy="442800"/>
          </a:xfrm>
          <a:prstGeom prst="rect">
            <a:avLst/>
          </a:prstGeom>
        </p:spPr>
      </p:pic>
      <p:pic>
        <p:nvPicPr>
          <p:cNvPr id="60" name="图片 5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5037005"/>
            <a:ext cx="540000" cy="442800"/>
          </a:xfrm>
          <a:prstGeom prst="rect">
            <a:avLst/>
          </a:prstGeom>
        </p:spPr>
      </p:pic>
      <p:pic>
        <p:nvPicPr>
          <p:cNvPr id="61" name="图片 6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502546" y="4299464"/>
            <a:ext cx="540000" cy="442800"/>
          </a:xfrm>
          <a:prstGeom prst="rect">
            <a:avLst/>
          </a:prstGeom>
        </p:spPr>
      </p:pic>
      <p:pic>
        <p:nvPicPr>
          <p:cNvPr id="62" name="图片 6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638199" y="4299464"/>
            <a:ext cx="540000" cy="442800"/>
          </a:xfrm>
          <a:prstGeom prst="rect">
            <a:avLst/>
          </a:prstGeom>
        </p:spPr>
      </p:pic>
      <p:cxnSp>
        <p:nvCxnSpPr>
          <p:cNvPr id="63" name="直接连接符 62"/>
          <p:cNvCxnSpPr>
            <a:stCxn id="55" idx="2"/>
            <a:endCxn id="56" idx="0"/>
          </p:cNvCxnSpPr>
          <p:nvPr/>
        </p:nvCxnSpPr>
        <p:spPr bwMode="gray">
          <a:xfrm>
            <a:off x="4365844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 bwMode="gray">
          <a:xfrm>
            <a:off x="6310391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 bwMode="gray">
          <a:xfrm>
            <a:off x="8254938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 bwMode="gray">
          <a:xfrm>
            <a:off x="2518032" y="4742264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 bwMode="gray">
          <a:xfrm>
            <a:off x="4424470" y="400902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4150679" y="548638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6080485" y="548638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6355250" y="3987556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8230138" y="3987556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>
            <a:off x="2401095" y="4071610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16001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3966505" y="3359122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16002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 bwMode="gray">
          <a:xfrm>
            <a:off x="5889813" y="3359122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16004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7895982" y="3359122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16006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80" name="文本框 79"/>
          <p:cNvSpPr txBox="1"/>
          <p:nvPr/>
        </p:nvSpPr>
        <p:spPr bwMode="gray">
          <a:xfrm>
            <a:off x="3966505" y="4815606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16003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81" name="文本框 80"/>
          <p:cNvSpPr txBox="1"/>
          <p:nvPr/>
        </p:nvSpPr>
        <p:spPr bwMode="gray">
          <a:xfrm>
            <a:off x="5889813" y="4815606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16005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82" name="任意多边形: 形状 81"/>
          <p:cNvSpPr/>
          <p:nvPr/>
        </p:nvSpPr>
        <p:spPr bwMode="gray">
          <a:xfrm>
            <a:off x="2861139" y="3537131"/>
            <a:ext cx="5393799" cy="965902"/>
          </a:xfrm>
          <a:custGeom>
            <a:avLst/>
            <a:gdLst>
              <a:gd name="connsiteX0" fmla="*/ 0 w 5046562"/>
              <a:gd name="connsiteY0" fmla="*/ 810255 h 810255"/>
              <a:gd name="connsiteX1" fmla="*/ 787079 w 5046562"/>
              <a:gd name="connsiteY1" fmla="*/ 405141 h 810255"/>
              <a:gd name="connsiteX2" fmla="*/ 1458410 w 5046562"/>
              <a:gd name="connsiteY2" fmla="*/ 81050 h 810255"/>
              <a:gd name="connsiteX3" fmla="*/ 2164466 w 5046562"/>
              <a:gd name="connsiteY3" fmla="*/ 115774 h 810255"/>
              <a:gd name="connsiteX4" fmla="*/ 3125165 w 5046562"/>
              <a:gd name="connsiteY4" fmla="*/ 115774 h 810255"/>
              <a:gd name="connsiteX5" fmla="*/ 3692324 w 5046562"/>
              <a:gd name="connsiteY5" fmla="*/ 27 h 810255"/>
              <a:gd name="connsiteX6" fmla="*/ 5046562 w 5046562"/>
              <a:gd name="connsiteY6" fmla="*/ 104199 h 810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46562" h="810255">
                <a:moveTo>
                  <a:pt x="0" y="810255"/>
                </a:moveTo>
                <a:lnTo>
                  <a:pt x="787079" y="405141"/>
                </a:lnTo>
                <a:cubicBezTo>
                  <a:pt x="1030147" y="283607"/>
                  <a:pt x="1228846" y="129278"/>
                  <a:pt x="1458410" y="81050"/>
                </a:cubicBezTo>
                <a:cubicBezTo>
                  <a:pt x="1687974" y="32822"/>
                  <a:pt x="1886674" y="109987"/>
                  <a:pt x="2164466" y="115774"/>
                </a:cubicBezTo>
                <a:cubicBezTo>
                  <a:pt x="2442258" y="121561"/>
                  <a:pt x="2870522" y="135065"/>
                  <a:pt x="3125165" y="115774"/>
                </a:cubicBezTo>
                <a:cubicBezTo>
                  <a:pt x="3379808" y="96483"/>
                  <a:pt x="3372091" y="1956"/>
                  <a:pt x="3692324" y="27"/>
                </a:cubicBezTo>
                <a:cubicBezTo>
                  <a:pt x="4012557" y="-1902"/>
                  <a:pt x="4732116" y="96482"/>
                  <a:pt x="5046562" y="104199"/>
                </a:cubicBezTo>
              </a:path>
            </a:pathLst>
          </a:custGeom>
          <a:noFill/>
          <a:ln w="38100">
            <a:solidFill>
              <a:srgbClr val="FCC8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 bwMode="gray">
          <a:xfrm>
            <a:off x="8080156" y="548638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 bwMode="gray">
          <a:xfrm>
            <a:off x="7895982" y="4815606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16007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pic>
        <p:nvPicPr>
          <p:cNvPr id="92" name="图片 9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50820" y="4299464"/>
            <a:ext cx="540000" cy="442800"/>
          </a:xfrm>
          <a:prstGeom prst="rect">
            <a:avLst/>
          </a:prstGeom>
        </p:spPr>
      </p:pic>
      <p:cxnSp>
        <p:nvCxnSpPr>
          <p:cNvPr id="93" name="直接连接符 92"/>
          <p:cNvCxnSpPr>
            <a:stCxn id="92" idx="3"/>
            <a:endCxn id="61" idx="1"/>
          </p:cNvCxnSpPr>
          <p:nvPr/>
        </p:nvCxnSpPr>
        <p:spPr bwMode="gray">
          <a:xfrm>
            <a:off x="1690820" y="4520864"/>
            <a:ext cx="81172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/>
          <p:cNvSpPr txBox="1"/>
          <p:nvPr/>
        </p:nvSpPr>
        <p:spPr bwMode="gray">
          <a:xfrm>
            <a:off x="1176050" y="4742264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文本框 96"/>
          <p:cNvSpPr txBox="1"/>
          <p:nvPr/>
        </p:nvSpPr>
        <p:spPr bwMode="gray">
          <a:xfrm>
            <a:off x="9641856" y="4742264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任意多边形: 形状 97"/>
          <p:cNvSpPr/>
          <p:nvPr/>
        </p:nvSpPr>
        <p:spPr bwMode="gray">
          <a:xfrm>
            <a:off x="2955992" y="4045314"/>
            <a:ext cx="5306278" cy="1124219"/>
          </a:xfrm>
          <a:custGeom>
            <a:avLst/>
            <a:gdLst>
              <a:gd name="connsiteX0" fmla="*/ 0 w 5462650"/>
              <a:gd name="connsiteY0" fmla="*/ 736270 h 1343247"/>
              <a:gd name="connsiteX1" fmla="*/ 1448790 w 5462650"/>
              <a:gd name="connsiteY1" fmla="*/ 1199408 h 1343247"/>
              <a:gd name="connsiteX2" fmla="*/ 3491346 w 5462650"/>
              <a:gd name="connsiteY2" fmla="*/ 1270660 h 1343247"/>
              <a:gd name="connsiteX3" fmla="*/ 4001985 w 5462650"/>
              <a:gd name="connsiteY3" fmla="*/ 237507 h 1343247"/>
              <a:gd name="connsiteX4" fmla="*/ 5462650 w 5462650"/>
              <a:gd name="connsiteY4" fmla="*/ 0 h 1343247"/>
              <a:gd name="connsiteX0-1" fmla="*/ 0 w 5462650"/>
              <a:gd name="connsiteY0-2" fmla="*/ 736270 h 1306159"/>
              <a:gd name="connsiteX1-3" fmla="*/ 1448790 w 5462650"/>
              <a:gd name="connsiteY1-4" fmla="*/ 1199408 h 1306159"/>
              <a:gd name="connsiteX2-5" fmla="*/ 3530141 w 5462650"/>
              <a:gd name="connsiteY2-6" fmla="*/ 1221233 h 1306159"/>
              <a:gd name="connsiteX3-7" fmla="*/ 4001985 w 5462650"/>
              <a:gd name="connsiteY3-8" fmla="*/ 237507 h 1306159"/>
              <a:gd name="connsiteX4-9" fmla="*/ 5462650 w 5462650"/>
              <a:gd name="connsiteY4-10" fmla="*/ 0 h 1306159"/>
              <a:gd name="connsiteX0-11" fmla="*/ 0 w 5462650"/>
              <a:gd name="connsiteY0-12" fmla="*/ 736270 h 1248489"/>
              <a:gd name="connsiteX1-13" fmla="*/ 1448790 w 5462650"/>
              <a:gd name="connsiteY1-14" fmla="*/ 1199408 h 1248489"/>
              <a:gd name="connsiteX2-15" fmla="*/ 3530141 w 5462650"/>
              <a:gd name="connsiteY2-16" fmla="*/ 1221233 h 1248489"/>
              <a:gd name="connsiteX3-17" fmla="*/ 5152907 w 5462650"/>
              <a:gd name="connsiteY3-18" fmla="*/ 1077766 h 1248489"/>
              <a:gd name="connsiteX4-19" fmla="*/ 5462650 w 5462650"/>
              <a:gd name="connsiteY4-20" fmla="*/ 0 h 1248489"/>
              <a:gd name="connsiteX0-21" fmla="*/ 0 w 5462650"/>
              <a:gd name="connsiteY0-22" fmla="*/ 736270 h 1247786"/>
              <a:gd name="connsiteX1-23" fmla="*/ 1448790 w 5462650"/>
              <a:gd name="connsiteY1-24" fmla="*/ 1199408 h 1247786"/>
              <a:gd name="connsiteX2-25" fmla="*/ 3530141 w 5462650"/>
              <a:gd name="connsiteY2-26" fmla="*/ 1221233 h 1247786"/>
              <a:gd name="connsiteX3-27" fmla="*/ 5230496 w 5462650"/>
              <a:gd name="connsiteY3-28" fmla="*/ 1090123 h 1247786"/>
              <a:gd name="connsiteX4-29" fmla="*/ 5462650 w 5462650"/>
              <a:gd name="connsiteY4-30" fmla="*/ 0 h 1247786"/>
              <a:gd name="connsiteX0-31" fmla="*/ 0 w 5553172"/>
              <a:gd name="connsiteY0-32" fmla="*/ 612703 h 1124219"/>
              <a:gd name="connsiteX1-33" fmla="*/ 1448790 w 5553172"/>
              <a:gd name="connsiteY1-34" fmla="*/ 1075841 h 1124219"/>
              <a:gd name="connsiteX2-35" fmla="*/ 3530141 w 5553172"/>
              <a:gd name="connsiteY2-36" fmla="*/ 1097666 h 1124219"/>
              <a:gd name="connsiteX3-37" fmla="*/ 5230496 w 5553172"/>
              <a:gd name="connsiteY3-38" fmla="*/ 966556 h 1124219"/>
              <a:gd name="connsiteX4-39" fmla="*/ 5553172 w 5553172"/>
              <a:gd name="connsiteY4-40" fmla="*/ 0 h 1124219"/>
              <a:gd name="connsiteX0-41" fmla="*/ 0 w 5553172"/>
              <a:gd name="connsiteY0-42" fmla="*/ 612703 h 1124219"/>
              <a:gd name="connsiteX1-43" fmla="*/ 1448790 w 5553172"/>
              <a:gd name="connsiteY1-44" fmla="*/ 1075841 h 1124219"/>
              <a:gd name="connsiteX2-45" fmla="*/ 3530141 w 5553172"/>
              <a:gd name="connsiteY2-46" fmla="*/ 1097666 h 1124219"/>
              <a:gd name="connsiteX3-47" fmla="*/ 5230496 w 5553172"/>
              <a:gd name="connsiteY3-48" fmla="*/ 966556 h 1124219"/>
              <a:gd name="connsiteX4-49" fmla="*/ 5553172 w 5553172"/>
              <a:gd name="connsiteY4-50" fmla="*/ 0 h 11242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553172" h="1124219">
                <a:moveTo>
                  <a:pt x="0" y="612703"/>
                </a:moveTo>
                <a:cubicBezTo>
                  <a:pt x="433449" y="799739"/>
                  <a:pt x="860433" y="995014"/>
                  <a:pt x="1448790" y="1075841"/>
                </a:cubicBezTo>
                <a:cubicBezTo>
                  <a:pt x="2037147" y="1156668"/>
                  <a:pt x="2899857" y="1115880"/>
                  <a:pt x="3530141" y="1097666"/>
                </a:cubicBezTo>
                <a:cubicBezTo>
                  <a:pt x="4160425" y="1079452"/>
                  <a:pt x="4901945" y="1178333"/>
                  <a:pt x="5230496" y="966556"/>
                </a:cubicBezTo>
                <a:cubicBezTo>
                  <a:pt x="5559047" y="754779"/>
                  <a:pt x="5491451" y="581276"/>
                  <a:pt x="5553172" y="0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9" name="文本框 138"/>
          <p:cNvSpPr txBox="1"/>
          <p:nvPr/>
        </p:nvSpPr>
        <p:spPr bwMode="gray">
          <a:xfrm>
            <a:off x="4793347" y="5668347"/>
            <a:ext cx="149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备候选路径</a:t>
            </a:r>
            <a:endParaRPr lang="zh-CN" altLang="en-US" sz="1400" b="1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0" name="文本框 139"/>
          <p:cNvSpPr txBox="1"/>
          <p:nvPr/>
        </p:nvSpPr>
        <p:spPr bwMode="gray">
          <a:xfrm>
            <a:off x="4793347" y="2888879"/>
            <a:ext cx="149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主候选路径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1" name="箭头: 下 140"/>
          <p:cNvSpPr/>
          <p:nvPr/>
        </p:nvSpPr>
        <p:spPr bwMode="gray">
          <a:xfrm>
            <a:off x="2649037" y="3348166"/>
            <a:ext cx="262431" cy="425633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2" name="文本框 141"/>
          <p:cNvSpPr txBox="1"/>
          <p:nvPr/>
        </p:nvSpPr>
        <p:spPr bwMode="gray">
          <a:xfrm>
            <a:off x="998760" y="2614507"/>
            <a:ext cx="1619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3" name="左大括号 142"/>
          <p:cNvSpPr/>
          <p:nvPr/>
        </p:nvSpPr>
        <p:spPr bwMode="gray">
          <a:xfrm>
            <a:off x="2541346" y="2564703"/>
            <a:ext cx="119566" cy="4256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4" name="文本框 143"/>
          <p:cNvSpPr txBox="1"/>
          <p:nvPr/>
        </p:nvSpPr>
        <p:spPr bwMode="gray">
          <a:xfrm>
            <a:off x="2637162" y="2437524"/>
            <a:ext cx="1810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Candidate path 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5" name="文本框 144"/>
          <p:cNvSpPr txBox="1"/>
          <p:nvPr/>
        </p:nvSpPr>
        <p:spPr bwMode="gray">
          <a:xfrm>
            <a:off x="2637162" y="2782163"/>
            <a:ext cx="1810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Candidate path 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SR-MPLS Policy Hot-Standby</a:t>
            </a:r>
            <a:r>
              <a:rPr lang="zh-CN" altLang="en-US" dirty="0">
                <a:sym typeface="Huawei Sans" panose="020C0503030203020204" pitchFamily="34" charset="0"/>
              </a:rPr>
              <a:t>原理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990600" y="2313305"/>
            <a:ext cx="1998980" cy="396240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33818" y="1794902"/>
            <a:ext cx="1434193" cy="339941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候选路径</a:t>
            </a:r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矩形 4"/>
          <p:cNvSpPr/>
          <p:nvPr/>
        </p:nvSpPr>
        <p:spPr bwMode="gray">
          <a:xfrm>
            <a:off x="4533818" y="2153927"/>
            <a:ext cx="1434193" cy="339941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优先级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 bwMode="gray">
          <a:xfrm>
            <a:off x="4533818" y="2937995"/>
            <a:ext cx="1434193" cy="339941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候选路径</a:t>
            </a:r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4533818" y="3297020"/>
            <a:ext cx="1434193" cy="339941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优先级 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矩形 9"/>
          <p:cNvSpPr/>
          <p:nvPr/>
        </p:nvSpPr>
        <p:spPr bwMode="gray">
          <a:xfrm>
            <a:off x="6848475" y="1803400"/>
            <a:ext cx="1771015" cy="339725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List 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2" name="直接连接符 11"/>
          <p:cNvCxnSpPr>
            <a:stCxn id="3" idx="3"/>
            <a:endCxn id="4" idx="1"/>
          </p:cNvCxnSpPr>
          <p:nvPr/>
        </p:nvCxnSpPr>
        <p:spPr bwMode="gray">
          <a:xfrm flipV="1">
            <a:off x="2989309" y="1965256"/>
            <a:ext cx="1544320" cy="546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10" idx="1"/>
            <a:endCxn id="4" idx="3"/>
          </p:cNvCxnSpPr>
          <p:nvPr/>
        </p:nvCxnSpPr>
        <p:spPr bwMode="gray">
          <a:xfrm flipH="1" flipV="1">
            <a:off x="5968134" y="1965244"/>
            <a:ext cx="880110" cy="82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3" idx="3"/>
            <a:endCxn id="6" idx="1"/>
          </p:cNvCxnSpPr>
          <p:nvPr/>
        </p:nvCxnSpPr>
        <p:spPr bwMode="gray">
          <a:xfrm>
            <a:off x="2989309" y="2511356"/>
            <a:ext cx="1544320" cy="5969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17" idx="1"/>
            <a:endCxn id="6" idx="3"/>
          </p:cNvCxnSpPr>
          <p:nvPr/>
        </p:nvCxnSpPr>
        <p:spPr bwMode="gray">
          <a:xfrm flipH="1" flipV="1">
            <a:off x="5968134" y="3108600"/>
            <a:ext cx="880110" cy="127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 bwMode="gray">
          <a:xfrm>
            <a:off x="6848475" y="2950845"/>
            <a:ext cx="1791335" cy="339725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List 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 bwMode="gray">
          <a:xfrm>
            <a:off x="4641612" y="1286622"/>
            <a:ext cx="1218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主候选路径</a:t>
            </a:r>
            <a:endParaRPr lang="zh-CN" altLang="en-US" sz="1600" b="1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 bwMode="gray">
          <a:xfrm>
            <a:off x="4594783" y="3725378"/>
            <a:ext cx="1218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ED6D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备候选路径</a:t>
            </a:r>
            <a:endParaRPr lang="zh-CN" altLang="en-US" sz="1600" b="1">
              <a:solidFill>
                <a:srgbClr val="ED6D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 bwMode="gray">
          <a:xfrm>
            <a:off x="1158402" y="4317400"/>
            <a:ext cx="4719723" cy="1600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 P1 &lt;headend, color, endpoint&gt;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Candidate-path CP1 &lt;protocol, origin, discriminator&gt;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Preference 200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SID-List &lt;SID11...SID1i&gt;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Candidate-path CP2 &lt;protocol, origin, discriminator&gt;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Preference 100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SID-List &lt;SID21...SID2i&gt;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>
            <a:off x="1144133" y="1847142"/>
            <a:ext cx="2937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rgbClr val="0070C0"/>
                </a:solidFill>
              </a:defRPr>
            </a:lvl1pPr>
          </a:lstStyle>
          <a:p>
            <a:r>
              <a:rPr lang="en-US" altLang="zh-CN" sz="1400" dirty="0">
                <a:solidFill>
                  <a:srgbClr val="92D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&lt;headend, color, endpoint&gt;</a:t>
            </a:r>
            <a:endParaRPr lang="en-US" altLang="zh-CN" sz="1400" dirty="0">
              <a:solidFill>
                <a:srgbClr val="92D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占位符 2"/>
          <p:cNvSpPr txBox="1"/>
          <p:nvPr/>
        </p:nvSpPr>
        <p:spPr bwMode="gray">
          <a:xfrm>
            <a:off x="6096000" y="3958923"/>
            <a:ext cx="5364163" cy="1158696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fontAlgn="ctr" latinLnBrk="0" hangingPunct="1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22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685" indent="-252095" algn="l" defTabSz="913765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ctr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ctr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ctr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SR-MPLS Policy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的多条候选路径形成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Hot-Standby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保护</a:t>
            </a:r>
            <a:r>
              <a:rPr lang="zh-CN" altLang="en-US" sz="1600" dirty="0">
                <a:sym typeface="Huawei Sans" panose="020C0503030203020204" pitchFamily="34" charset="0"/>
              </a:rPr>
              <a:t>，如果</a:t>
            </a:r>
            <a:r>
              <a:rPr lang="en-US" altLang="zh-CN" sz="1600" dirty="0">
                <a:sym typeface="Huawei Sans" panose="020C0503030203020204" pitchFamily="34" charset="0"/>
              </a:rPr>
              <a:t>Segment List</a:t>
            </a:r>
            <a:r>
              <a:rPr lang="zh-CN" altLang="en-US" sz="1600" dirty="0">
                <a:sym typeface="Huawei Sans" panose="020C0503030203020204" pitchFamily="34" charset="0"/>
              </a:rPr>
              <a:t>发生故障，将触发其故障切换。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SR-MPLS Policy</a:t>
            </a:r>
            <a:r>
              <a:rPr lang="zh-CN" altLang="en-US" sz="1600" dirty="0">
                <a:sym typeface="Huawei Sans" panose="020C0503030203020204" pitchFamily="34" charset="0"/>
              </a:rPr>
              <a:t>的故障感知需要依靠</a:t>
            </a:r>
            <a:r>
              <a:rPr lang="en-US" altLang="zh-CN" sz="1600" dirty="0">
                <a:sym typeface="Huawei Sans" panose="020C0503030203020204" pitchFamily="34" charset="0"/>
              </a:rPr>
              <a:t>BFD</a:t>
            </a:r>
            <a:r>
              <a:rPr lang="zh-CN" altLang="en-US" sz="1600" dirty="0">
                <a:sym typeface="Huawei Sans" panose="020C0503030203020204" pitchFamily="34" charset="0"/>
              </a:rPr>
              <a:t>或</a:t>
            </a:r>
            <a:r>
              <a:rPr lang="en-US" altLang="zh-CN" sz="1600" dirty="0">
                <a:sym typeface="Huawei Sans" panose="020C0503030203020204" pitchFamily="34" charset="0"/>
              </a:rPr>
              <a:t>SBFD</a:t>
            </a:r>
            <a:r>
              <a:rPr lang="zh-CN" altLang="en-US" sz="1600" dirty="0">
                <a:sym typeface="Huawei Sans" panose="020C0503030203020204" pitchFamily="34" charset="0"/>
              </a:rPr>
              <a:t>等检测机制。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  <p:sp>
        <p:nvSpPr>
          <p:cNvPr id="26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Hot-Standby</a:t>
            </a:r>
            <a:r>
              <a:rPr lang="zh-CN" altLang="en-US">
                <a:sym typeface="Huawei Sans" panose="020C0503030203020204" pitchFamily="34" charset="0"/>
              </a:rPr>
              <a:t>的局限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Hot-Standby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能够保护端到端路径，但是不能解决隧道宿端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设备的故障</a:t>
            </a:r>
            <a:r>
              <a:rPr lang="zh-CN" altLang="en-US" sz="1600" dirty="0">
                <a:sym typeface="Huawei Sans" panose="020C0503030203020204" pitchFamily="34" charset="0"/>
              </a:rPr>
              <a:t>。例如本例中</a:t>
            </a:r>
            <a:r>
              <a:rPr lang="en-US" altLang="zh-CN" sz="1600" dirty="0">
                <a:sym typeface="Huawei Sans" panose="020C0503030203020204" pitchFamily="34" charset="0"/>
              </a:rPr>
              <a:t>PE1</a:t>
            </a:r>
            <a:r>
              <a:rPr lang="zh-CN" altLang="en-US" sz="1600" dirty="0">
                <a:sym typeface="Huawei Sans" panose="020C0503030203020204" pitchFamily="34" charset="0"/>
              </a:rPr>
              <a:t>会同时收到</a:t>
            </a:r>
            <a:r>
              <a:rPr lang="en-US" altLang="zh-CN" sz="1600" dirty="0">
                <a:sym typeface="Huawei Sans" panose="020C0503030203020204" pitchFamily="34" charset="0"/>
              </a:rPr>
              <a:t>PE2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PE3</a:t>
            </a:r>
            <a:r>
              <a:rPr lang="zh-CN" altLang="en-US" sz="1600" dirty="0">
                <a:sym typeface="Huawei Sans" panose="020C0503030203020204" pitchFamily="34" charset="0"/>
              </a:rPr>
              <a:t>发布的路由，并且优选</a:t>
            </a:r>
            <a:r>
              <a:rPr lang="en-US" altLang="zh-CN" sz="1600" dirty="0">
                <a:sym typeface="Huawei Sans" panose="020C0503030203020204" pitchFamily="34" charset="0"/>
              </a:rPr>
              <a:t>PE2</a:t>
            </a:r>
            <a:r>
              <a:rPr lang="zh-CN" altLang="en-US" sz="1600" dirty="0">
                <a:sym typeface="Huawei Sans" panose="020C0503030203020204" pitchFamily="34" charset="0"/>
              </a:rPr>
              <a:t>。如果</a:t>
            </a:r>
            <a:r>
              <a:rPr lang="en-US" altLang="zh-CN" sz="1600" dirty="0">
                <a:sym typeface="Huawei Sans" panose="020C0503030203020204" pitchFamily="34" charset="0"/>
              </a:rPr>
              <a:t>PE2</a:t>
            </a:r>
            <a:r>
              <a:rPr lang="zh-CN" altLang="en-US" sz="1600" dirty="0">
                <a:sym typeface="Huawei Sans" panose="020C0503030203020204" pitchFamily="34" charset="0"/>
              </a:rPr>
              <a:t>发生故障，只能通过路由收敛来恢复业务。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49" name="直接连接符 48"/>
          <p:cNvCxnSpPr>
            <a:stCxn id="59" idx="3"/>
          </p:cNvCxnSpPr>
          <p:nvPr/>
        </p:nvCxnSpPr>
        <p:spPr bwMode="gray">
          <a:xfrm>
            <a:off x="8524938" y="3783323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60" idx="3"/>
          </p:cNvCxnSpPr>
          <p:nvPr/>
        </p:nvCxnSpPr>
        <p:spPr bwMode="gray">
          <a:xfrm flipV="1">
            <a:off x="8524938" y="4520864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55" idx="1"/>
            <a:endCxn id="59" idx="1"/>
          </p:cNvCxnSpPr>
          <p:nvPr/>
        </p:nvCxnSpPr>
        <p:spPr bwMode="gray">
          <a:xfrm>
            <a:off x="4095844" y="3783323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56" idx="1"/>
            <a:endCxn id="60" idx="1"/>
          </p:cNvCxnSpPr>
          <p:nvPr/>
        </p:nvCxnSpPr>
        <p:spPr bwMode="gray">
          <a:xfrm>
            <a:off x="4095844" y="5258405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endCxn id="56" idx="1"/>
          </p:cNvCxnSpPr>
          <p:nvPr/>
        </p:nvCxnSpPr>
        <p:spPr bwMode="gray">
          <a:xfrm>
            <a:off x="2753318" y="4520864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endCxn id="55" idx="1"/>
          </p:cNvCxnSpPr>
          <p:nvPr/>
        </p:nvCxnSpPr>
        <p:spPr bwMode="gray">
          <a:xfrm flipV="1">
            <a:off x="2753318" y="3783323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图片 5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3561923"/>
            <a:ext cx="540000" cy="442800"/>
          </a:xfrm>
          <a:prstGeom prst="rect">
            <a:avLst/>
          </a:prstGeom>
        </p:spPr>
      </p:pic>
      <p:pic>
        <p:nvPicPr>
          <p:cNvPr id="56" name="图片 5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5037005"/>
            <a:ext cx="540000" cy="442800"/>
          </a:xfrm>
          <a:prstGeom prst="rect">
            <a:avLst/>
          </a:prstGeom>
        </p:spPr>
      </p:pic>
      <p:pic>
        <p:nvPicPr>
          <p:cNvPr id="57" name="图片 5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3561923"/>
            <a:ext cx="540000" cy="442800"/>
          </a:xfrm>
          <a:prstGeom prst="rect">
            <a:avLst/>
          </a:prstGeom>
        </p:spPr>
      </p:pic>
      <p:pic>
        <p:nvPicPr>
          <p:cNvPr id="58" name="图片 5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5037005"/>
            <a:ext cx="540000" cy="442800"/>
          </a:xfrm>
          <a:prstGeom prst="rect">
            <a:avLst/>
          </a:prstGeom>
        </p:spPr>
      </p:pic>
      <p:pic>
        <p:nvPicPr>
          <p:cNvPr id="59" name="图片 5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3561923"/>
            <a:ext cx="540000" cy="442800"/>
          </a:xfrm>
          <a:prstGeom prst="rect">
            <a:avLst/>
          </a:prstGeom>
        </p:spPr>
      </p:pic>
      <p:pic>
        <p:nvPicPr>
          <p:cNvPr id="60" name="图片 5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5037005"/>
            <a:ext cx="540000" cy="442800"/>
          </a:xfrm>
          <a:prstGeom prst="rect">
            <a:avLst/>
          </a:prstGeom>
        </p:spPr>
      </p:pic>
      <p:pic>
        <p:nvPicPr>
          <p:cNvPr id="61" name="图片 6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502546" y="4299464"/>
            <a:ext cx="540000" cy="442800"/>
          </a:xfrm>
          <a:prstGeom prst="rect">
            <a:avLst/>
          </a:prstGeom>
        </p:spPr>
      </p:pic>
      <p:pic>
        <p:nvPicPr>
          <p:cNvPr id="62" name="图片 6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638199" y="4299464"/>
            <a:ext cx="540000" cy="442800"/>
          </a:xfrm>
          <a:prstGeom prst="rect">
            <a:avLst/>
          </a:prstGeom>
        </p:spPr>
      </p:pic>
      <p:cxnSp>
        <p:nvCxnSpPr>
          <p:cNvPr id="63" name="直接连接符 62"/>
          <p:cNvCxnSpPr>
            <a:stCxn id="55" idx="2"/>
            <a:endCxn id="56" idx="0"/>
          </p:cNvCxnSpPr>
          <p:nvPr/>
        </p:nvCxnSpPr>
        <p:spPr bwMode="gray">
          <a:xfrm>
            <a:off x="4365844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 bwMode="gray">
          <a:xfrm>
            <a:off x="6310391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 bwMode="gray">
          <a:xfrm>
            <a:off x="8254938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 bwMode="gray">
          <a:xfrm>
            <a:off x="2518032" y="4742264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 bwMode="gray">
          <a:xfrm>
            <a:off x="4424470" y="400902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4150679" y="548638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6080485" y="548638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6355250" y="3987556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8230138" y="3987556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>
            <a:off x="2401095" y="4071610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16001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3966505" y="3359122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16002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 bwMode="gray">
          <a:xfrm>
            <a:off x="5889813" y="3359122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16004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7895982" y="3359122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16006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80" name="文本框 79"/>
          <p:cNvSpPr txBox="1"/>
          <p:nvPr/>
        </p:nvSpPr>
        <p:spPr bwMode="gray">
          <a:xfrm>
            <a:off x="3966505" y="4815606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16003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81" name="文本框 80"/>
          <p:cNvSpPr txBox="1"/>
          <p:nvPr/>
        </p:nvSpPr>
        <p:spPr bwMode="gray">
          <a:xfrm>
            <a:off x="5889813" y="4815606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16005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82" name="任意多边形: 形状 81"/>
          <p:cNvSpPr/>
          <p:nvPr/>
        </p:nvSpPr>
        <p:spPr bwMode="gray">
          <a:xfrm>
            <a:off x="2861139" y="3537131"/>
            <a:ext cx="5393799" cy="965902"/>
          </a:xfrm>
          <a:custGeom>
            <a:avLst/>
            <a:gdLst>
              <a:gd name="connsiteX0" fmla="*/ 0 w 5046562"/>
              <a:gd name="connsiteY0" fmla="*/ 810255 h 810255"/>
              <a:gd name="connsiteX1" fmla="*/ 787079 w 5046562"/>
              <a:gd name="connsiteY1" fmla="*/ 405141 h 810255"/>
              <a:gd name="connsiteX2" fmla="*/ 1458410 w 5046562"/>
              <a:gd name="connsiteY2" fmla="*/ 81050 h 810255"/>
              <a:gd name="connsiteX3" fmla="*/ 2164466 w 5046562"/>
              <a:gd name="connsiteY3" fmla="*/ 115774 h 810255"/>
              <a:gd name="connsiteX4" fmla="*/ 3125165 w 5046562"/>
              <a:gd name="connsiteY4" fmla="*/ 115774 h 810255"/>
              <a:gd name="connsiteX5" fmla="*/ 3692324 w 5046562"/>
              <a:gd name="connsiteY5" fmla="*/ 27 h 810255"/>
              <a:gd name="connsiteX6" fmla="*/ 5046562 w 5046562"/>
              <a:gd name="connsiteY6" fmla="*/ 104199 h 810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46562" h="810255">
                <a:moveTo>
                  <a:pt x="0" y="810255"/>
                </a:moveTo>
                <a:lnTo>
                  <a:pt x="787079" y="405141"/>
                </a:lnTo>
                <a:cubicBezTo>
                  <a:pt x="1030147" y="283607"/>
                  <a:pt x="1228846" y="129278"/>
                  <a:pt x="1458410" y="81050"/>
                </a:cubicBezTo>
                <a:cubicBezTo>
                  <a:pt x="1687974" y="32822"/>
                  <a:pt x="1886674" y="109987"/>
                  <a:pt x="2164466" y="115774"/>
                </a:cubicBezTo>
                <a:cubicBezTo>
                  <a:pt x="2442258" y="121561"/>
                  <a:pt x="2870522" y="135065"/>
                  <a:pt x="3125165" y="115774"/>
                </a:cubicBezTo>
                <a:cubicBezTo>
                  <a:pt x="3379808" y="96483"/>
                  <a:pt x="3372091" y="1956"/>
                  <a:pt x="3692324" y="27"/>
                </a:cubicBezTo>
                <a:cubicBezTo>
                  <a:pt x="4012557" y="-1902"/>
                  <a:pt x="4732116" y="96482"/>
                  <a:pt x="5046562" y="104199"/>
                </a:cubicBezTo>
              </a:path>
            </a:pathLst>
          </a:custGeom>
          <a:noFill/>
          <a:ln w="38100">
            <a:solidFill>
              <a:srgbClr val="FCC8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 bwMode="gray">
          <a:xfrm>
            <a:off x="8080156" y="548638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 bwMode="gray">
          <a:xfrm>
            <a:off x="7895982" y="4815606"/>
            <a:ext cx="803425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16007</a:t>
            </a:r>
            <a:endParaRPr lang="zh-CN" altLang="en-US">
              <a:sym typeface="Huawei Sans" panose="020C0503030203020204" pitchFamily="34" charset="0"/>
            </a:endParaRPr>
          </a:p>
        </p:txBody>
      </p:sp>
      <p:pic>
        <p:nvPicPr>
          <p:cNvPr id="92" name="图片 9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50820" y="4299464"/>
            <a:ext cx="540000" cy="442800"/>
          </a:xfrm>
          <a:prstGeom prst="rect">
            <a:avLst/>
          </a:prstGeom>
        </p:spPr>
      </p:pic>
      <p:cxnSp>
        <p:nvCxnSpPr>
          <p:cNvPr id="93" name="直接连接符 92"/>
          <p:cNvCxnSpPr>
            <a:stCxn id="92" idx="3"/>
            <a:endCxn id="61" idx="1"/>
          </p:cNvCxnSpPr>
          <p:nvPr/>
        </p:nvCxnSpPr>
        <p:spPr bwMode="gray">
          <a:xfrm>
            <a:off x="1690820" y="4520864"/>
            <a:ext cx="81172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/>
          <p:cNvSpPr txBox="1"/>
          <p:nvPr/>
        </p:nvSpPr>
        <p:spPr bwMode="gray">
          <a:xfrm>
            <a:off x="1176050" y="4742264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文本框 96"/>
          <p:cNvSpPr txBox="1"/>
          <p:nvPr/>
        </p:nvSpPr>
        <p:spPr bwMode="gray">
          <a:xfrm>
            <a:off x="9641856" y="4742264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0" name="文本框 139"/>
          <p:cNvSpPr txBox="1"/>
          <p:nvPr/>
        </p:nvSpPr>
        <p:spPr bwMode="gray">
          <a:xfrm>
            <a:off x="4793347" y="2888879"/>
            <a:ext cx="149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主候选路径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1" name="箭头: 下 140"/>
          <p:cNvSpPr/>
          <p:nvPr/>
        </p:nvSpPr>
        <p:spPr bwMode="gray">
          <a:xfrm>
            <a:off x="2649037" y="3348166"/>
            <a:ext cx="262431" cy="425633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2" name="文本框 141"/>
          <p:cNvSpPr txBox="1"/>
          <p:nvPr/>
        </p:nvSpPr>
        <p:spPr bwMode="gray">
          <a:xfrm>
            <a:off x="1045029" y="2611995"/>
            <a:ext cx="14963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3" name="左大括号 142"/>
          <p:cNvSpPr/>
          <p:nvPr/>
        </p:nvSpPr>
        <p:spPr bwMode="gray">
          <a:xfrm>
            <a:off x="2541346" y="2564703"/>
            <a:ext cx="119566" cy="4256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4" name="文本框 143"/>
          <p:cNvSpPr txBox="1"/>
          <p:nvPr/>
        </p:nvSpPr>
        <p:spPr bwMode="gray">
          <a:xfrm>
            <a:off x="2637162" y="2437524"/>
            <a:ext cx="1810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Candidate path 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5" name="文本框 144"/>
          <p:cNvSpPr txBox="1"/>
          <p:nvPr/>
        </p:nvSpPr>
        <p:spPr bwMode="gray">
          <a:xfrm>
            <a:off x="2637162" y="2782163"/>
            <a:ext cx="1810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Candidate path 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8" name="组合 47"/>
          <p:cNvGrpSpPr/>
          <p:nvPr/>
        </p:nvGrpSpPr>
        <p:grpSpPr bwMode="gray">
          <a:xfrm>
            <a:off x="8142296" y="3714369"/>
            <a:ext cx="288000" cy="288000"/>
            <a:chOff x="856677" y="2615810"/>
            <a:chExt cx="288000" cy="288000"/>
          </a:xfrm>
        </p:grpSpPr>
        <p:sp>
          <p:nvSpPr>
            <p:cNvPr id="67" name="椭圆 66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73" name="组合 72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74" name="直接连接符 73"/>
              <p:cNvCxnSpPr>
                <a:stCxn id="67" idx="3"/>
                <a:endCxn id="67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>
                <a:stCxn id="67" idx="1"/>
                <a:endCxn id="67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3" name="文本框 82"/>
          <p:cNvSpPr txBox="1"/>
          <p:nvPr/>
        </p:nvSpPr>
        <p:spPr bwMode="gray">
          <a:xfrm>
            <a:off x="4841506" y="4421670"/>
            <a:ext cx="149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b="1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备候选路径</a:t>
            </a:r>
            <a:endParaRPr lang="zh-CN" altLang="en-US" sz="1400" b="1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任意多边形: 形状 83"/>
          <p:cNvSpPr/>
          <p:nvPr/>
        </p:nvSpPr>
        <p:spPr bwMode="gray">
          <a:xfrm>
            <a:off x="2955992" y="4045314"/>
            <a:ext cx="5306278" cy="1124219"/>
          </a:xfrm>
          <a:custGeom>
            <a:avLst/>
            <a:gdLst>
              <a:gd name="connsiteX0" fmla="*/ 0 w 5462650"/>
              <a:gd name="connsiteY0" fmla="*/ 736270 h 1343247"/>
              <a:gd name="connsiteX1" fmla="*/ 1448790 w 5462650"/>
              <a:gd name="connsiteY1" fmla="*/ 1199408 h 1343247"/>
              <a:gd name="connsiteX2" fmla="*/ 3491346 w 5462650"/>
              <a:gd name="connsiteY2" fmla="*/ 1270660 h 1343247"/>
              <a:gd name="connsiteX3" fmla="*/ 4001985 w 5462650"/>
              <a:gd name="connsiteY3" fmla="*/ 237507 h 1343247"/>
              <a:gd name="connsiteX4" fmla="*/ 5462650 w 5462650"/>
              <a:gd name="connsiteY4" fmla="*/ 0 h 1343247"/>
              <a:gd name="connsiteX0-1" fmla="*/ 0 w 5462650"/>
              <a:gd name="connsiteY0-2" fmla="*/ 736270 h 1306159"/>
              <a:gd name="connsiteX1-3" fmla="*/ 1448790 w 5462650"/>
              <a:gd name="connsiteY1-4" fmla="*/ 1199408 h 1306159"/>
              <a:gd name="connsiteX2-5" fmla="*/ 3530141 w 5462650"/>
              <a:gd name="connsiteY2-6" fmla="*/ 1221233 h 1306159"/>
              <a:gd name="connsiteX3-7" fmla="*/ 4001985 w 5462650"/>
              <a:gd name="connsiteY3-8" fmla="*/ 237507 h 1306159"/>
              <a:gd name="connsiteX4-9" fmla="*/ 5462650 w 5462650"/>
              <a:gd name="connsiteY4-10" fmla="*/ 0 h 1306159"/>
              <a:gd name="connsiteX0-11" fmla="*/ 0 w 5462650"/>
              <a:gd name="connsiteY0-12" fmla="*/ 736270 h 1248489"/>
              <a:gd name="connsiteX1-13" fmla="*/ 1448790 w 5462650"/>
              <a:gd name="connsiteY1-14" fmla="*/ 1199408 h 1248489"/>
              <a:gd name="connsiteX2-15" fmla="*/ 3530141 w 5462650"/>
              <a:gd name="connsiteY2-16" fmla="*/ 1221233 h 1248489"/>
              <a:gd name="connsiteX3-17" fmla="*/ 5152907 w 5462650"/>
              <a:gd name="connsiteY3-18" fmla="*/ 1077766 h 1248489"/>
              <a:gd name="connsiteX4-19" fmla="*/ 5462650 w 5462650"/>
              <a:gd name="connsiteY4-20" fmla="*/ 0 h 1248489"/>
              <a:gd name="connsiteX0-21" fmla="*/ 0 w 5462650"/>
              <a:gd name="connsiteY0-22" fmla="*/ 736270 h 1247786"/>
              <a:gd name="connsiteX1-23" fmla="*/ 1448790 w 5462650"/>
              <a:gd name="connsiteY1-24" fmla="*/ 1199408 h 1247786"/>
              <a:gd name="connsiteX2-25" fmla="*/ 3530141 w 5462650"/>
              <a:gd name="connsiteY2-26" fmla="*/ 1221233 h 1247786"/>
              <a:gd name="connsiteX3-27" fmla="*/ 5230496 w 5462650"/>
              <a:gd name="connsiteY3-28" fmla="*/ 1090123 h 1247786"/>
              <a:gd name="connsiteX4-29" fmla="*/ 5462650 w 5462650"/>
              <a:gd name="connsiteY4-30" fmla="*/ 0 h 1247786"/>
              <a:gd name="connsiteX0-31" fmla="*/ 0 w 5553172"/>
              <a:gd name="connsiteY0-32" fmla="*/ 612703 h 1124219"/>
              <a:gd name="connsiteX1-33" fmla="*/ 1448790 w 5553172"/>
              <a:gd name="connsiteY1-34" fmla="*/ 1075841 h 1124219"/>
              <a:gd name="connsiteX2-35" fmla="*/ 3530141 w 5553172"/>
              <a:gd name="connsiteY2-36" fmla="*/ 1097666 h 1124219"/>
              <a:gd name="connsiteX3-37" fmla="*/ 5230496 w 5553172"/>
              <a:gd name="connsiteY3-38" fmla="*/ 966556 h 1124219"/>
              <a:gd name="connsiteX4-39" fmla="*/ 5553172 w 5553172"/>
              <a:gd name="connsiteY4-40" fmla="*/ 0 h 1124219"/>
              <a:gd name="connsiteX0-41" fmla="*/ 0 w 5553172"/>
              <a:gd name="connsiteY0-42" fmla="*/ 612703 h 1124219"/>
              <a:gd name="connsiteX1-43" fmla="*/ 1448790 w 5553172"/>
              <a:gd name="connsiteY1-44" fmla="*/ 1075841 h 1124219"/>
              <a:gd name="connsiteX2-45" fmla="*/ 3530141 w 5553172"/>
              <a:gd name="connsiteY2-46" fmla="*/ 1097666 h 1124219"/>
              <a:gd name="connsiteX3-47" fmla="*/ 5230496 w 5553172"/>
              <a:gd name="connsiteY3-48" fmla="*/ 966556 h 1124219"/>
              <a:gd name="connsiteX4-49" fmla="*/ 5553172 w 5553172"/>
              <a:gd name="connsiteY4-50" fmla="*/ 0 h 11242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553172" h="1124219">
                <a:moveTo>
                  <a:pt x="0" y="612703"/>
                </a:moveTo>
                <a:cubicBezTo>
                  <a:pt x="433449" y="799739"/>
                  <a:pt x="860433" y="995014"/>
                  <a:pt x="1448790" y="1075841"/>
                </a:cubicBezTo>
                <a:cubicBezTo>
                  <a:pt x="2037147" y="1156668"/>
                  <a:pt x="2899857" y="1115880"/>
                  <a:pt x="3530141" y="1097666"/>
                </a:cubicBezTo>
                <a:cubicBezTo>
                  <a:pt x="4160425" y="1079452"/>
                  <a:pt x="4901945" y="1178333"/>
                  <a:pt x="5230496" y="966556"/>
                </a:cubicBezTo>
                <a:cubicBezTo>
                  <a:pt x="5559047" y="754779"/>
                  <a:pt x="5491451" y="581276"/>
                  <a:pt x="5553172" y="0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0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VPN FRR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VPN FRR</a:t>
            </a:r>
            <a:r>
              <a:rPr lang="zh-CN" altLang="en-US" sz="1600" dirty="0">
                <a:sym typeface="Huawei Sans" panose="020C0503030203020204" pitchFamily="34" charset="0"/>
              </a:rPr>
              <a:t>利用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基于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的私网路由快速切换技术</a:t>
            </a:r>
            <a:r>
              <a:rPr lang="zh-CN" altLang="en-US" sz="1600" dirty="0">
                <a:sym typeface="Huawei Sans" panose="020C0503030203020204" pitchFamily="34" charset="0"/>
              </a:rPr>
              <a:t>。通过预先在源端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中设置指向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主用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备用</a:t>
            </a:r>
            <a:r>
              <a:rPr lang="en-US" altLang="zh-CN" sz="1600" dirty="0">
                <a:highlight>
                  <a:srgbClr val="FFFF00"/>
                </a:highlight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的主备用转发路径，并结合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故障快速探测，旨在解决</a:t>
            </a:r>
            <a:r>
              <a:rPr lang="en-US" altLang="zh-CN" sz="1600" dirty="0"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sym typeface="Huawei Sans" panose="020C0503030203020204" pitchFamily="34" charset="0"/>
              </a:rPr>
              <a:t>双归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ym typeface="Huawei Sans" panose="020C0503030203020204" pitchFamily="34" charset="0"/>
              </a:rPr>
              <a:t>MPLS VPN</a:t>
            </a:r>
            <a:r>
              <a:rPr lang="zh-CN" altLang="en-US" sz="1600" dirty="0">
                <a:sym typeface="Huawei Sans" panose="020C0503030203020204" pitchFamily="34" charset="0"/>
              </a:rPr>
              <a:t>网络中，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节点故障导致的端到端业务收敛时间长的问题。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49" name="直接连接符 48"/>
          <p:cNvCxnSpPr>
            <a:stCxn id="59" idx="3"/>
          </p:cNvCxnSpPr>
          <p:nvPr/>
        </p:nvCxnSpPr>
        <p:spPr bwMode="gray">
          <a:xfrm>
            <a:off x="8524938" y="3866448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60" idx="3"/>
          </p:cNvCxnSpPr>
          <p:nvPr/>
        </p:nvCxnSpPr>
        <p:spPr bwMode="gray">
          <a:xfrm flipV="1">
            <a:off x="8524938" y="4603989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55" idx="1"/>
            <a:endCxn id="59" idx="1"/>
          </p:cNvCxnSpPr>
          <p:nvPr/>
        </p:nvCxnSpPr>
        <p:spPr bwMode="gray">
          <a:xfrm>
            <a:off x="4095844" y="3866448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56" idx="1"/>
            <a:endCxn id="60" idx="1"/>
          </p:cNvCxnSpPr>
          <p:nvPr/>
        </p:nvCxnSpPr>
        <p:spPr bwMode="gray">
          <a:xfrm>
            <a:off x="4095844" y="5341530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endCxn id="56" idx="1"/>
          </p:cNvCxnSpPr>
          <p:nvPr/>
        </p:nvCxnSpPr>
        <p:spPr bwMode="gray">
          <a:xfrm>
            <a:off x="2753318" y="4603989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endCxn id="55" idx="1"/>
          </p:cNvCxnSpPr>
          <p:nvPr/>
        </p:nvCxnSpPr>
        <p:spPr bwMode="gray">
          <a:xfrm flipV="1">
            <a:off x="2753318" y="3866448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图片 5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3645048"/>
            <a:ext cx="540000" cy="442800"/>
          </a:xfrm>
          <a:prstGeom prst="rect">
            <a:avLst/>
          </a:prstGeom>
        </p:spPr>
      </p:pic>
      <p:pic>
        <p:nvPicPr>
          <p:cNvPr id="56" name="图片 5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5120130"/>
            <a:ext cx="540000" cy="442800"/>
          </a:xfrm>
          <a:prstGeom prst="rect">
            <a:avLst/>
          </a:prstGeom>
        </p:spPr>
      </p:pic>
      <p:pic>
        <p:nvPicPr>
          <p:cNvPr id="57" name="图片 5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3645048"/>
            <a:ext cx="540000" cy="442800"/>
          </a:xfrm>
          <a:prstGeom prst="rect">
            <a:avLst/>
          </a:prstGeom>
        </p:spPr>
      </p:pic>
      <p:pic>
        <p:nvPicPr>
          <p:cNvPr id="58" name="图片 5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5120130"/>
            <a:ext cx="540000" cy="442800"/>
          </a:xfrm>
          <a:prstGeom prst="rect">
            <a:avLst/>
          </a:prstGeom>
        </p:spPr>
      </p:pic>
      <p:pic>
        <p:nvPicPr>
          <p:cNvPr id="59" name="图片 5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3645048"/>
            <a:ext cx="540000" cy="442800"/>
          </a:xfrm>
          <a:prstGeom prst="rect">
            <a:avLst/>
          </a:prstGeom>
        </p:spPr>
      </p:pic>
      <p:pic>
        <p:nvPicPr>
          <p:cNvPr id="60" name="图片 5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5120130"/>
            <a:ext cx="540000" cy="442800"/>
          </a:xfrm>
          <a:prstGeom prst="rect">
            <a:avLst/>
          </a:prstGeom>
        </p:spPr>
      </p:pic>
      <p:pic>
        <p:nvPicPr>
          <p:cNvPr id="61" name="图片 6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502546" y="4382589"/>
            <a:ext cx="540000" cy="442800"/>
          </a:xfrm>
          <a:prstGeom prst="rect">
            <a:avLst/>
          </a:prstGeom>
        </p:spPr>
      </p:pic>
      <p:pic>
        <p:nvPicPr>
          <p:cNvPr id="62" name="图片 6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638199" y="4382589"/>
            <a:ext cx="540000" cy="442800"/>
          </a:xfrm>
          <a:prstGeom prst="rect">
            <a:avLst/>
          </a:prstGeom>
        </p:spPr>
      </p:pic>
      <p:cxnSp>
        <p:nvCxnSpPr>
          <p:cNvPr id="63" name="直接连接符 62"/>
          <p:cNvCxnSpPr>
            <a:stCxn id="55" idx="2"/>
            <a:endCxn id="56" idx="0"/>
          </p:cNvCxnSpPr>
          <p:nvPr/>
        </p:nvCxnSpPr>
        <p:spPr bwMode="gray">
          <a:xfrm>
            <a:off x="4365844" y="40878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 bwMode="gray">
          <a:xfrm>
            <a:off x="6310391" y="40878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 bwMode="gray">
          <a:xfrm>
            <a:off x="8254938" y="40878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 bwMode="gray">
          <a:xfrm>
            <a:off x="2518032" y="4825389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 bwMode="gray">
          <a:xfrm>
            <a:off x="4424470" y="409214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4150679" y="55695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6080485" y="55695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6355250" y="407068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8230138" y="407068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>
            <a:off x="2401095" y="4154735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16001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3966505" y="3442247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16002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 bwMode="gray">
          <a:xfrm>
            <a:off x="5889813" y="3442247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16004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7895982" y="3442247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16006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文本框 79"/>
          <p:cNvSpPr txBox="1"/>
          <p:nvPr/>
        </p:nvSpPr>
        <p:spPr bwMode="gray">
          <a:xfrm>
            <a:off x="3966505" y="4898731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16003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文本框 80"/>
          <p:cNvSpPr txBox="1"/>
          <p:nvPr/>
        </p:nvSpPr>
        <p:spPr bwMode="gray">
          <a:xfrm>
            <a:off x="5889813" y="4898731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16005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任意多边形: 形状 81"/>
          <p:cNvSpPr/>
          <p:nvPr/>
        </p:nvSpPr>
        <p:spPr bwMode="gray">
          <a:xfrm>
            <a:off x="2861139" y="3620256"/>
            <a:ext cx="5393799" cy="965902"/>
          </a:xfrm>
          <a:custGeom>
            <a:avLst/>
            <a:gdLst>
              <a:gd name="connsiteX0" fmla="*/ 0 w 5046562"/>
              <a:gd name="connsiteY0" fmla="*/ 810255 h 810255"/>
              <a:gd name="connsiteX1" fmla="*/ 787079 w 5046562"/>
              <a:gd name="connsiteY1" fmla="*/ 405141 h 810255"/>
              <a:gd name="connsiteX2" fmla="*/ 1458410 w 5046562"/>
              <a:gd name="connsiteY2" fmla="*/ 81050 h 810255"/>
              <a:gd name="connsiteX3" fmla="*/ 2164466 w 5046562"/>
              <a:gd name="connsiteY3" fmla="*/ 115774 h 810255"/>
              <a:gd name="connsiteX4" fmla="*/ 3125165 w 5046562"/>
              <a:gd name="connsiteY4" fmla="*/ 115774 h 810255"/>
              <a:gd name="connsiteX5" fmla="*/ 3692324 w 5046562"/>
              <a:gd name="connsiteY5" fmla="*/ 27 h 810255"/>
              <a:gd name="connsiteX6" fmla="*/ 5046562 w 5046562"/>
              <a:gd name="connsiteY6" fmla="*/ 104199 h 810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46562" h="810255">
                <a:moveTo>
                  <a:pt x="0" y="810255"/>
                </a:moveTo>
                <a:lnTo>
                  <a:pt x="787079" y="405141"/>
                </a:lnTo>
                <a:cubicBezTo>
                  <a:pt x="1030147" y="283607"/>
                  <a:pt x="1228846" y="129278"/>
                  <a:pt x="1458410" y="81050"/>
                </a:cubicBezTo>
                <a:cubicBezTo>
                  <a:pt x="1687974" y="32822"/>
                  <a:pt x="1886674" y="109987"/>
                  <a:pt x="2164466" y="115774"/>
                </a:cubicBezTo>
                <a:cubicBezTo>
                  <a:pt x="2442258" y="121561"/>
                  <a:pt x="2870522" y="135065"/>
                  <a:pt x="3125165" y="115774"/>
                </a:cubicBezTo>
                <a:cubicBezTo>
                  <a:pt x="3379808" y="96483"/>
                  <a:pt x="3372091" y="1956"/>
                  <a:pt x="3692324" y="27"/>
                </a:cubicBezTo>
                <a:cubicBezTo>
                  <a:pt x="4012557" y="-1902"/>
                  <a:pt x="4732116" y="96482"/>
                  <a:pt x="5046562" y="104199"/>
                </a:cubicBezTo>
              </a:path>
            </a:pathLst>
          </a:custGeom>
          <a:noFill/>
          <a:ln w="38100">
            <a:solidFill>
              <a:srgbClr val="FCC8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 bwMode="gray">
          <a:xfrm>
            <a:off x="8080156" y="55695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 bwMode="gray">
          <a:xfrm>
            <a:off x="7895982" y="4898731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16007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92" name="图片 9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50820" y="4382589"/>
            <a:ext cx="540000" cy="442800"/>
          </a:xfrm>
          <a:prstGeom prst="rect">
            <a:avLst/>
          </a:prstGeom>
        </p:spPr>
      </p:pic>
      <p:cxnSp>
        <p:nvCxnSpPr>
          <p:cNvPr id="93" name="直接连接符 92"/>
          <p:cNvCxnSpPr>
            <a:stCxn id="92" idx="3"/>
            <a:endCxn id="61" idx="1"/>
          </p:cNvCxnSpPr>
          <p:nvPr/>
        </p:nvCxnSpPr>
        <p:spPr bwMode="gray">
          <a:xfrm>
            <a:off x="1690820" y="4603989"/>
            <a:ext cx="81172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/>
          <p:cNvSpPr txBox="1"/>
          <p:nvPr/>
        </p:nvSpPr>
        <p:spPr bwMode="gray">
          <a:xfrm>
            <a:off x="1176050" y="4825389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文本框 96"/>
          <p:cNvSpPr txBox="1"/>
          <p:nvPr/>
        </p:nvSpPr>
        <p:spPr bwMode="gray">
          <a:xfrm>
            <a:off x="9641856" y="4825389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9" name="文本框 138"/>
          <p:cNvSpPr txBox="1"/>
          <p:nvPr/>
        </p:nvSpPr>
        <p:spPr bwMode="gray">
          <a:xfrm>
            <a:off x="4884654" y="4591524"/>
            <a:ext cx="28672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 1</a:t>
            </a:r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备候选路径</a:t>
            </a:r>
            <a:endParaRPr lang="zh-CN" altLang="en-US" sz="1400" b="1" dirty="0">
              <a:solidFill>
                <a:schemeClr val="accent6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0" name="文本框 139"/>
          <p:cNvSpPr txBox="1"/>
          <p:nvPr/>
        </p:nvSpPr>
        <p:spPr bwMode="gray">
          <a:xfrm>
            <a:off x="4793347" y="2972004"/>
            <a:ext cx="2594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 1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主候选路径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8" name="组合 47"/>
          <p:cNvGrpSpPr/>
          <p:nvPr/>
        </p:nvGrpSpPr>
        <p:grpSpPr bwMode="gray">
          <a:xfrm>
            <a:off x="8142296" y="3797494"/>
            <a:ext cx="288000" cy="288000"/>
            <a:chOff x="856677" y="2615810"/>
            <a:chExt cx="288000" cy="288000"/>
          </a:xfrm>
        </p:grpSpPr>
        <p:sp>
          <p:nvSpPr>
            <p:cNvPr id="67" name="椭圆 66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73" name="组合 72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74" name="直接连接符 73"/>
              <p:cNvCxnSpPr>
                <a:stCxn id="67" idx="3"/>
                <a:endCxn id="67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>
                <a:stCxn id="67" idx="1"/>
                <a:endCxn id="67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任意多边形: 形状 3"/>
          <p:cNvSpPr/>
          <p:nvPr/>
        </p:nvSpPr>
        <p:spPr bwMode="gray">
          <a:xfrm>
            <a:off x="2885705" y="4750127"/>
            <a:ext cx="5939934" cy="785579"/>
          </a:xfrm>
          <a:custGeom>
            <a:avLst/>
            <a:gdLst>
              <a:gd name="connsiteX0" fmla="*/ 0 w 5320145"/>
              <a:gd name="connsiteY0" fmla="*/ 0 h 785578"/>
              <a:gd name="connsiteX1" fmla="*/ 1484415 w 5320145"/>
              <a:gd name="connsiteY1" fmla="*/ 688769 h 785578"/>
              <a:gd name="connsiteX2" fmla="*/ 3443844 w 5320145"/>
              <a:gd name="connsiteY2" fmla="*/ 783772 h 785578"/>
              <a:gd name="connsiteX3" fmla="*/ 5320145 w 5320145"/>
              <a:gd name="connsiteY3" fmla="*/ 724395 h 785578"/>
              <a:gd name="connsiteX0-1" fmla="*/ 0 w 5394599"/>
              <a:gd name="connsiteY0-2" fmla="*/ 0 h 785578"/>
              <a:gd name="connsiteX1-3" fmla="*/ 1484415 w 5394599"/>
              <a:gd name="connsiteY1-4" fmla="*/ 688769 h 785578"/>
              <a:gd name="connsiteX2-5" fmla="*/ 3443844 w 5394599"/>
              <a:gd name="connsiteY2-6" fmla="*/ 783772 h 785578"/>
              <a:gd name="connsiteX3-7" fmla="*/ 5394599 w 5394599"/>
              <a:gd name="connsiteY3-8" fmla="*/ 593767 h 785578"/>
              <a:gd name="connsiteX0-9" fmla="*/ 0 w 5394599"/>
              <a:gd name="connsiteY0-10" fmla="*/ 0 h 785579"/>
              <a:gd name="connsiteX1-11" fmla="*/ 1484415 w 5394599"/>
              <a:gd name="connsiteY1-12" fmla="*/ 688769 h 785579"/>
              <a:gd name="connsiteX2-13" fmla="*/ 3443844 w 5394599"/>
              <a:gd name="connsiteY2-14" fmla="*/ 783772 h 785579"/>
              <a:gd name="connsiteX3-15" fmla="*/ 5394599 w 5394599"/>
              <a:gd name="connsiteY3-16" fmla="*/ 593767 h 78557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394599" h="785579">
                <a:moveTo>
                  <a:pt x="0" y="0"/>
                </a:moveTo>
                <a:cubicBezTo>
                  <a:pt x="455220" y="279070"/>
                  <a:pt x="910441" y="558140"/>
                  <a:pt x="1484415" y="688769"/>
                </a:cubicBezTo>
                <a:cubicBezTo>
                  <a:pt x="2058389" y="819398"/>
                  <a:pt x="2804556" y="777834"/>
                  <a:pt x="3443844" y="783772"/>
                </a:cubicBezTo>
                <a:cubicBezTo>
                  <a:pt x="4083132" y="789710"/>
                  <a:pt x="4776092" y="792679"/>
                  <a:pt x="5394599" y="593767"/>
                </a:cubicBezTo>
              </a:path>
            </a:pathLst>
          </a:custGeom>
          <a:noFill/>
          <a:ln w="38100">
            <a:solidFill>
              <a:srgbClr val="7030A0"/>
            </a:solidFill>
            <a:prstDash val="dash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 bwMode="gray">
          <a:xfrm>
            <a:off x="4781619" y="5845375"/>
            <a:ext cx="3571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7030A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r>
              <a:rPr lang="zh-CN" altLang="en-US" sz="1400" b="1" dirty="0">
                <a:solidFill>
                  <a:srgbClr val="7030A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备份路径</a:t>
            </a:r>
            <a:r>
              <a:rPr lang="en-US" altLang="zh-CN" sz="1400" b="1" dirty="0">
                <a:solidFill>
                  <a:srgbClr val="7030A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(SR-MPLS Policy 2)</a:t>
            </a:r>
            <a:endParaRPr lang="zh-CN" altLang="en-US" sz="1400" b="1" dirty="0">
              <a:solidFill>
                <a:srgbClr val="7030A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箭头: 下 83"/>
          <p:cNvSpPr/>
          <p:nvPr/>
        </p:nvSpPr>
        <p:spPr bwMode="gray">
          <a:xfrm>
            <a:off x="2649037" y="3431291"/>
            <a:ext cx="262431" cy="425633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 bwMode="gray">
          <a:xfrm>
            <a:off x="754135" y="2516994"/>
            <a:ext cx="1748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 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左大括号 85"/>
          <p:cNvSpPr/>
          <p:nvPr/>
        </p:nvSpPr>
        <p:spPr bwMode="gray">
          <a:xfrm>
            <a:off x="2541346" y="2469702"/>
            <a:ext cx="119566" cy="4256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 bwMode="gray">
          <a:xfrm>
            <a:off x="2637162" y="2342523"/>
            <a:ext cx="1810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Candidate path 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2637162" y="2687162"/>
            <a:ext cx="1810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Candidate path 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文本框 88"/>
          <p:cNvSpPr txBox="1"/>
          <p:nvPr/>
        </p:nvSpPr>
        <p:spPr bwMode="gray">
          <a:xfrm>
            <a:off x="754135" y="3012689"/>
            <a:ext cx="2157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 2  -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 bwMode="gray">
          <a:xfrm>
            <a:off x="2625287" y="3019016"/>
            <a:ext cx="1810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Candidate path 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任意多边形: 形状 93"/>
          <p:cNvSpPr/>
          <p:nvPr/>
        </p:nvSpPr>
        <p:spPr bwMode="gray">
          <a:xfrm>
            <a:off x="2955992" y="4045314"/>
            <a:ext cx="5306278" cy="1124219"/>
          </a:xfrm>
          <a:custGeom>
            <a:avLst/>
            <a:gdLst>
              <a:gd name="connsiteX0" fmla="*/ 0 w 5462650"/>
              <a:gd name="connsiteY0" fmla="*/ 736270 h 1343247"/>
              <a:gd name="connsiteX1" fmla="*/ 1448790 w 5462650"/>
              <a:gd name="connsiteY1" fmla="*/ 1199408 h 1343247"/>
              <a:gd name="connsiteX2" fmla="*/ 3491346 w 5462650"/>
              <a:gd name="connsiteY2" fmla="*/ 1270660 h 1343247"/>
              <a:gd name="connsiteX3" fmla="*/ 4001985 w 5462650"/>
              <a:gd name="connsiteY3" fmla="*/ 237507 h 1343247"/>
              <a:gd name="connsiteX4" fmla="*/ 5462650 w 5462650"/>
              <a:gd name="connsiteY4" fmla="*/ 0 h 1343247"/>
              <a:gd name="connsiteX0-1" fmla="*/ 0 w 5462650"/>
              <a:gd name="connsiteY0-2" fmla="*/ 736270 h 1306159"/>
              <a:gd name="connsiteX1-3" fmla="*/ 1448790 w 5462650"/>
              <a:gd name="connsiteY1-4" fmla="*/ 1199408 h 1306159"/>
              <a:gd name="connsiteX2-5" fmla="*/ 3530141 w 5462650"/>
              <a:gd name="connsiteY2-6" fmla="*/ 1221233 h 1306159"/>
              <a:gd name="connsiteX3-7" fmla="*/ 4001985 w 5462650"/>
              <a:gd name="connsiteY3-8" fmla="*/ 237507 h 1306159"/>
              <a:gd name="connsiteX4-9" fmla="*/ 5462650 w 5462650"/>
              <a:gd name="connsiteY4-10" fmla="*/ 0 h 1306159"/>
              <a:gd name="connsiteX0-11" fmla="*/ 0 w 5462650"/>
              <a:gd name="connsiteY0-12" fmla="*/ 736270 h 1248489"/>
              <a:gd name="connsiteX1-13" fmla="*/ 1448790 w 5462650"/>
              <a:gd name="connsiteY1-14" fmla="*/ 1199408 h 1248489"/>
              <a:gd name="connsiteX2-15" fmla="*/ 3530141 w 5462650"/>
              <a:gd name="connsiteY2-16" fmla="*/ 1221233 h 1248489"/>
              <a:gd name="connsiteX3-17" fmla="*/ 5152907 w 5462650"/>
              <a:gd name="connsiteY3-18" fmla="*/ 1077766 h 1248489"/>
              <a:gd name="connsiteX4-19" fmla="*/ 5462650 w 5462650"/>
              <a:gd name="connsiteY4-20" fmla="*/ 0 h 1248489"/>
              <a:gd name="connsiteX0-21" fmla="*/ 0 w 5462650"/>
              <a:gd name="connsiteY0-22" fmla="*/ 736270 h 1247786"/>
              <a:gd name="connsiteX1-23" fmla="*/ 1448790 w 5462650"/>
              <a:gd name="connsiteY1-24" fmla="*/ 1199408 h 1247786"/>
              <a:gd name="connsiteX2-25" fmla="*/ 3530141 w 5462650"/>
              <a:gd name="connsiteY2-26" fmla="*/ 1221233 h 1247786"/>
              <a:gd name="connsiteX3-27" fmla="*/ 5230496 w 5462650"/>
              <a:gd name="connsiteY3-28" fmla="*/ 1090123 h 1247786"/>
              <a:gd name="connsiteX4-29" fmla="*/ 5462650 w 5462650"/>
              <a:gd name="connsiteY4-30" fmla="*/ 0 h 1247786"/>
              <a:gd name="connsiteX0-31" fmla="*/ 0 w 5553172"/>
              <a:gd name="connsiteY0-32" fmla="*/ 612703 h 1124219"/>
              <a:gd name="connsiteX1-33" fmla="*/ 1448790 w 5553172"/>
              <a:gd name="connsiteY1-34" fmla="*/ 1075841 h 1124219"/>
              <a:gd name="connsiteX2-35" fmla="*/ 3530141 w 5553172"/>
              <a:gd name="connsiteY2-36" fmla="*/ 1097666 h 1124219"/>
              <a:gd name="connsiteX3-37" fmla="*/ 5230496 w 5553172"/>
              <a:gd name="connsiteY3-38" fmla="*/ 966556 h 1124219"/>
              <a:gd name="connsiteX4-39" fmla="*/ 5553172 w 5553172"/>
              <a:gd name="connsiteY4-40" fmla="*/ 0 h 1124219"/>
              <a:gd name="connsiteX0-41" fmla="*/ 0 w 5553172"/>
              <a:gd name="connsiteY0-42" fmla="*/ 612703 h 1124219"/>
              <a:gd name="connsiteX1-43" fmla="*/ 1448790 w 5553172"/>
              <a:gd name="connsiteY1-44" fmla="*/ 1075841 h 1124219"/>
              <a:gd name="connsiteX2-45" fmla="*/ 3530141 w 5553172"/>
              <a:gd name="connsiteY2-46" fmla="*/ 1097666 h 1124219"/>
              <a:gd name="connsiteX3-47" fmla="*/ 5230496 w 5553172"/>
              <a:gd name="connsiteY3-48" fmla="*/ 966556 h 1124219"/>
              <a:gd name="connsiteX4-49" fmla="*/ 5553172 w 5553172"/>
              <a:gd name="connsiteY4-50" fmla="*/ 0 h 11242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553172" h="1124219">
                <a:moveTo>
                  <a:pt x="0" y="612703"/>
                </a:moveTo>
                <a:cubicBezTo>
                  <a:pt x="433449" y="799739"/>
                  <a:pt x="860433" y="995014"/>
                  <a:pt x="1448790" y="1075841"/>
                </a:cubicBezTo>
                <a:cubicBezTo>
                  <a:pt x="2037147" y="1156668"/>
                  <a:pt x="2899857" y="1115880"/>
                  <a:pt x="3530141" y="1097666"/>
                </a:cubicBezTo>
                <a:cubicBezTo>
                  <a:pt x="4160425" y="1079452"/>
                  <a:pt x="4901945" y="1178333"/>
                  <a:pt x="5230496" y="966556"/>
                </a:cubicBezTo>
                <a:cubicBezTo>
                  <a:pt x="5559047" y="754779"/>
                  <a:pt x="5491451" y="581276"/>
                  <a:pt x="5553172" y="0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VPN FRR</a:t>
            </a:r>
            <a:r>
              <a:rPr lang="zh-CN" altLang="en-US">
                <a:sym typeface="Huawei Sans" panose="020C0503030203020204" pitchFamily="34" charset="0"/>
              </a:rPr>
              <a:t>故障切换示例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本例中当</a:t>
            </a:r>
            <a:r>
              <a:rPr lang="en-US" altLang="zh-CN" sz="1800" dirty="0">
                <a:sym typeface="Huawei Sans" panose="020C0503030203020204" pitchFamily="34" charset="0"/>
              </a:rPr>
              <a:t>TI-LFA FRR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Hot-Standby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VPN FRR</a:t>
            </a:r>
            <a:r>
              <a:rPr lang="zh-CN" altLang="en-US" sz="1800" dirty="0">
                <a:sym typeface="Huawei Sans" panose="020C0503030203020204" pitchFamily="34" charset="0"/>
              </a:rPr>
              <a:t>一起使用的时候，其故障切换保护情况如下：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 bwMode="gray">
          <a:xfrm>
            <a:off x="1973829" y="2945364"/>
            <a:ext cx="1939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 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左大括号 85"/>
          <p:cNvSpPr/>
          <p:nvPr/>
        </p:nvSpPr>
        <p:spPr bwMode="gray">
          <a:xfrm>
            <a:off x="3800404" y="2544343"/>
            <a:ext cx="127358" cy="115869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 bwMode="gray">
          <a:xfrm>
            <a:off x="4028011" y="2397095"/>
            <a:ext cx="2266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Candidate path 1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4028011" y="3548425"/>
            <a:ext cx="2266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Candidate path 2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文本框 88"/>
          <p:cNvSpPr txBox="1"/>
          <p:nvPr/>
        </p:nvSpPr>
        <p:spPr bwMode="gray">
          <a:xfrm>
            <a:off x="2033204" y="5112672"/>
            <a:ext cx="2480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 2 --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 bwMode="gray">
          <a:xfrm>
            <a:off x="4013146" y="5090225"/>
            <a:ext cx="2266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Candidate path 1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 bwMode="gray">
          <a:xfrm>
            <a:off x="438169" y="3999943"/>
            <a:ext cx="13961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左大括号 98"/>
          <p:cNvSpPr/>
          <p:nvPr/>
        </p:nvSpPr>
        <p:spPr bwMode="gray">
          <a:xfrm>
            <a:off x="1721461" y="3129554"/>
            <a:ext cx="162652" cy="210061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箭头: 右 5"/>
          <p:cNvSpPr/>
          <p:nvPr/>
        </p:nvSpPr>
        <p:spPr bwMode="gray">
          <a:xfrm>
            <a:off x="5951523" y="2450765"/>
            <a:ext cx="524676" cy="21149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0" name="文本框 99"/>
          <p:cNvSpPr txBox="1"/>
          <p:nvPr/>
        </p:nvSpPr>
        <p:spPr bwMode="gray">
          <a:xfrm>
            <a:off x="6629705" y="2040537"/>
            <a:ext cx="792378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16002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文本框 100"/>
          <p:cNvSpPr txBox="1"/>
          <p:nvPr/>
        </p:nvSpPr>
        <p:spPr bwMode="gray">
          <a:xfrm>
            <a:off x="6629705" y="2377422"/>
            <a:ext cx="792378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16004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文本框 101"/>
          <p:cNvSpPr txBox="1"/>
          <p:nvPr/>
        </p:nvSpPr>
        <p:spPr bwMode="gray">
          <a:xfrm>
            <a:off x="6629705" y="2714308"/>
            <a:ext cx="792378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16006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04" name="文本框 103"/>
          <p:cNvSpPr txBox="1"/>
          <p:nvPr/>
        </p:nvSpPr>
        <p:spPr bwMode="gray">
          <a:xfrm>
            <a:off x="6201986" y="1584153"/>
            <a:ext cx="2266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List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文本框 104"/>
          <p:cNvSpPr txBox="1"/>
          <p:nvPr/>
        </p:nvSpPr>
        <p:spPr bwMode="gray">
          <a:xfrm>
            <a:off x="9438640" y="2089785"/>
            <a:ext cx="1463675" cy="337185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文本框 105"/>
          <p:cNvSpPr txBox="1"/>
          <p:nvPr/>
        </p:nvSpPr>
        <p:spPr bwMode="gray">
          <a:xfrm>
            <a:off x="8528292" y="3388620"/>
            <a:ext cx="1370888" cy="338554"/>
          </a:xfrm>
          <a:prstGeom prst="rect">
            <a:avLst/>
          </a:prstGeom>
          <a:solidFill>
            <a:srgbClr val="56C4D2"/>
          </a:solidFill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文本框 106"/>
          <p:cNvSpPr txBox="1"/>
          <p:nvPr/>
        </p:nvSpPr>
        <p:spPr bwMode="gray">
          <a:xfrm>
            <a:off x="8842741" y="4697590"/>
            <a:ext cx="1011815" cy="338554"/>
          </a:xfrm>
          <a:prstGeom prst="rect">
            <a:avLst/>
          </a:prstGeom>
          <a:solidFill>
            <a:srgbClr val="56C4D2"/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箭头: 右 107"/>
          <p:cNvSpPr/>
          <p:nvPr/>
        </p:nvSpPr>
        <p:spPr bwMode="gray">
          <a:xfrm>
            <a:off x="5951523" y="3631659"/>
            <a:ext cx="524676" cy="21149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文本框 108"/>
          <p:cNvSpPr txBox="1"/>
          <p:nvPr/>
        </p:nvSpPr>
        <p:spPr bwMode="gray">
          <a:xfrm>
            <a:off x="6629705" y="3221431"/>
            <a:ext cx="792378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16003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10" name="文本框 109"/>
          <p:cNvSpPr txBox="1"/>
          <p:nvPr/>
        </p:nvSpPr>
        <p:spPr bwMode="gray">
          <a:xfrm>
            <a:off x="6629705" y="3558316"/>
            <a:ext cx="792378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16005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11" name="文本框 110"/>
          <p:cNvSpPr txBox="1"/>
          <p:nvPr/>
        </p:nvSpPr>
        <p:spPr bwMode="gray">
          <a:xfrm>
            <a:off x="6629705" y="3895202"/>
            <a:ext cx="792378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16004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12" name="箭头: 右 111"/>
          <p:cNvSpPr/>
          <p:nvPr/>
        </p:nvSpPr>
        <p:spPr bwMode="gray">
          <a:xfrm>
            <a:off x="5951523" y="5201138"/>
            <a:ext cx="524676" cy="21149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3" name="文本框 112"/>
          <p:cNvSpPr txBox="1"/>
          <p:nvPr/>
        </p:nvSpPr>
        <p:spPr bwMode="gray">
          <a:xfrm>
            <a:off x="6629705" y="4790910"/>
            <a:ext cx="792378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16003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14" name="文本框 113"/>
          <p:cNvSpPr txBox="1"/>
          <p:nvPr/>
        </p:nvSpPr>
        <p:spPr bwMode="gray">
          <a:xfrm>
            <a:off x="6629705" y="5127795"/>
            <a:ext cx="792378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16005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15" name="文本框 114"/>
          <p:cNvSpPr txBox="1"/>
          <p:nvPr/>
        </p:nvSpPr>
        <p:spPr bwMode="gray">
          <a:xfrm>
            <a:off x="6634155" y="5464681"/>
            <a:ext cx="792378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16007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16" name="文本框 115"/>
          <p:cNvSpPr txBox="1"/>
          <p:nvPr/>
        </p:nvSpPr>
        <p:spPr bwMode="gray">
          <a:xfrm>
            <a:off x="6629705" y="4232091"/>
            <a:ext cx="792378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16006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17" name="箭头: 右 116"/>
          <p:cNvSpPr/>
          <p:nvPr/>
        </p:nvSpPr>
        <p:spPr bwMode="gray">
          <a:xfrm>
            <a:off x="7543393" y="2059748"/>
            <a:ext cx="524676" cy="21149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8" name="文本框 117"/>
          <p:cNvSpPr txBox="1"/>
          <p:nvPr/>
        </p:nvSpPr>
        <p:spPr bwMode="gray">
          <a:xfrm>
            <a:off x="8214950" y="2040537"/>
            <a:ext cx="792378" cy="307777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16003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19" name="文本框 118"/>
          <p:cNvSpPr txBox="1"/>
          <p:nvPr/>
        </p:nvSpPr>
        <p:spPr bwMode="gray">
          <a:xfrm>
            <a:off x="8214995" y="2377440"/>
            <a:ext cx="884555" cy="30670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160042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0" name="文本框 119"/>
          <p:cNvSpPr txBox="1"/>
          <p:nvPr/>
        </p:nvSpPr>
        <p:spPr bwMode="gray">
          <a:xfrm>
            <a:off x="8158869" y="1584153"/>
            <a:ext cx="8722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文本框 120"/>
          <p:cNvSpPr txBox="1"/>
          <p:nvPr/>
        </p:nvSpPr>
        <p:spPr bwMode="gray">
          <a:xfrm>
            <a:off x="9450832" y="2512225"/>
            <a:ext cx="1409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保护路径中的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PE1-P1</a:t>
            </a:r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2" name="文本框 121"/>
          <p:cNvSpPr txBox="1"/>
          <p:nvPr/>
        </p:nvSpPr>
        <p:spPr bwMode="gray">
          <a:xfrm>
            <a:off x="8068068" y="3829341"/>
            <a:ext cx="2429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当主路径中节点或者链路故障时，切换到此备份路径。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3" name="文本框 122"/>
          <p:cNvSpPr txBox="1"/>
          <p:nvPr/>
        </p:nvSpPr>
        <p:spPr bwMode="gray">
          <a:xfrm>
            <a:off x="7805731" y="5151026"/>
            <a:ext cx="3823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节点故障时，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 1</a:t>
            </a:r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不可用触发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切换到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 2</a:t>
            </a:r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4" name="文本框 123"/>
          <p:cNvSpPr txBox="1"/>
          <p:nvPr/>
        </p:nvSpPr>
        <p:spPr bwMode="gray">
          <a:xfrm>
            <a:off x="399091" y="5599082"/>
            <a:ext cx="4855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注：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 1 Candidate path 1 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为主路径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7" name="组合 36"/>
          <p:cNvGrpSpPr/>
          <p:nvPr/>
        </p:nvGrpSpPr>
        <p:grpSpPr bwMode="gray">
          <a:xfrm>
            <a:off x="7291599" y="1936296"/>
            <a:ext cx="220366" cy="220366"/>
            <a:chOff x="856677" y="2615810"/>
            <a:chExt cx="288000" cy="288000"/>
          </a:xfrm>
        </p:grpSpPr>
        <p:sp>
          <p:nvSpPr>
            <p:cNvPr id="38" name="椭圆 37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39" name="组合 38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40" name="直接连接符 39"/>
              <p:cNvCxnSpPr>
                <a:stCxn id="38" idx="3"/>
                <a:endCxn id="38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>
                <a:stCxn id="38" idx="1"/>
                <a:endCxn id="38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SR</a:t>
            </a:r>
            <a:r>
              <a:rPr lang="zh-CN" altLang="en-US">
                <a:sym typeface="Huawei Sans" panose="020C0503030203020204" pitchFamily="34" charset="0"/>
              </a:rPr>
              <a:t>防微环简介 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sym typeface="Huawei Sans" panose="020C0503030203020204" pitchFamily="34" charset="0"/>
              </a:rPr>
              <a:t>协议的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链路状态数据库各节点独立计算，导致其在无序收敛时可能会产生环路</a:t>
            </a:r>
            <a:r>
              <a:rPr lang="zh-CN" altLang="en-US" sz="1600" dirty="0">
                <a:sym typeface="Huawei Sans" panose="020C0503030203020204" pitchFamily="34" charset="0"/>
              </a:rPr>
              <a:t>。这种环路会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在转发路径上所有设备都完成收敛之后消失</a:t>
            </a:r>
            <a:r>
              <a:rPr lang="zh-CN" altLang="en-US" sz="1600" dirty="0">
                <a:sym typeface="Huawei Sans" panose="020C0503030203020204" pitchFamily="34" charset="0"/>
              </a:rPr>
              <a:t>，此类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暂态的环路被称为微环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Micro Loop</a:t>
            </a:r>
            <a:r>
              <a:rPr lang="zh-CN" altLang="en-US" sz="1600" dirty="0">
                <a:sym typeface="Huawei Sans" panose="020C0503030203020204" pitchFamily="34" charset="0"/>
              </a:rPr>
              <a:t>）。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TI-LFA</a:t>
            </a:r>
            <a:r>
              <a:rPr lang="zh-CN" altLang="en-US" sz="1600" dirty="0">
                <a:sym typeface="Huawei Sans" panose="020C0503030203020204" pitchFamily="34" charset="0"/>
              </a:rPr>
              <a:t>功能正常情况如图，</a:t>
            </a:r>
            <a:r>
              <a:rPr lang="en-US" altLang="zh-CN" sz="1600" dirty="0">
                <a:sym typeface="Huawei Sans" panose="020C0503030203020204" pitchFamily="34" charset="0"/>
              </a:rPr>
              <a:t>P1</a:t>
            </a:r>
            <a:r>
              <a:rPr lang="zh-CN" altLang="en-US" sz="1600" dirty="0">
                <a:sym typeface="Huawei Sans" panose="020C0503030203020204" pitchFamily="34" charset="0"/>
              </a:rPr>
              <a:t>感知到</a:t>
            </a:r>
            <a:r>
              <a:rPr lang="en-US" altLang="zh-CN" sz="1600" dirty="0">
                <a:sym typeface="Huawei Sans" panose="020C0503030203020204" pitchFamily="34" charset="0"/>
              </a:rPr>
              <a:t>P2</a:t>
            </a:r>
            <a:r>
              <a:rPr lang="zh-CN" altLang="en-US" sz="1600" dirty="0">
                <a:sym typeface="Huawei Sans" panose="020C0503030203020204" pitchFamily="34" charset="0"/>
              </a:rPr>
              <a:t>节点发生故障后进入</a:t>
            </a:r>
            <a:r>
              <a:rPr lang="en-US" altLang="zh-CN" sz="1600" dirty="0">
                <a:sym typeface="Huawei Sans" panose="020C0503030203020204" pitchFamily="34" charset="0"/>
              </a:rPr>
              <a:t>TI-LFA FRR</a:t>
            </a:r>
            <a:r>
              <a:rPr lang="zh-CN" altLang="en-US" sz="1600" dirty="0">
                <a:sym typeface="Huawei Sans" panose="020C0503030203020204" pitchFamily="34" charset="0"/>
              </a:rPr>
              <a:t>切换流程。向报文中插入</a:t>
            </a:r>
            <a:r>
              <a:rPr lang="en-US" altLang="zh-CN" sz="1600" dirty="0">
                <a:sym typeface="Huawei Sans" panose="020C0503030203020204" pitchFamily="34" charset="0"/>
              </a:rPr>
              <a:t>Repair List &lt;16005,16057&gt;</a:t>
            </a:r>
            <a:r>
              <a:rPr lang="zh-CN" altLang="en-US" sz="1600" dirty="0">
                <a:sym typeface="Huawei Sans" panose="020C0503030203020204" pitchFamily="34" charset="0"/>
              </a:rPr>
              <a:t>，通过</a:t>
            </a:r>
            <a:r>
              <a:rPr lang="en-US" altLang="zh-CN" sz="1600" dirty="0">
                <a:sym typeface="Huawei Sans" panose="020C0503030203020204" pitchFamily="34" charset="0"/>
              </a:rPr>
              <a:t>16005</a:t>
            </a:r>
            <a:r>
              <a:rPr lang="zh-CN" altLang="en-US" sz="1600" dirty="0">
                <a:sym typeface="Huawei Sans" panose="020C0503030203020204" pitchFamily="34" charset="0"/>
              </a:rPr>
              <a:t>转发到</a:t>
            </a:r>
            <a:r>
              <a:rPr lang="en-US" altLang="zh-CN" sz="1600" dirty="0">
                <a:sym typeface="Huawei Sans" panose="020C0503030203020204" pitchFamily="34" charset="0"/>
              </a:rPr>
              <a:t>16006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45" name="直接连接符 44"/>
          <p:cNvCxnSpPr>
            <a:stCxn id="49" idx="1"/>
            <a:endCxn id="53" idx="1"/>
          </p:cNvCxnSpPr>
          <p:nvPr/>
        </p:nvCxnSpPr>
        <p:spPr bwMode="gray">
          <a:xfrm>
            <a:off x="4095844" y="4044248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50" idx="1"/>
            <a:endCxn id="54" idx="1"/>
          </p:cNvCxnSpPr>
          <p:nvPr/>
        </p:nvCxnSpPr>
        <p:spPr bwMode="gray">
          <a:xfrm>
            <a:off x="4095844" y="5519330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>
            <a:endCxn id="50" idx="1"/>
          </p:cNvCxnSpPr>
          <p:nvPr/>
        </p:nvCxnSpPr>
        <p:spPr bwMode="gray">
          <a:xfrm>
            <a:off x="2753318" y="4781789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endCxn id="49" idx="1"/>
          </p:cNvCxnSpPr>
          <p:nvPr/>
        </p:nvCxnSpPr>
        <p:spPr bwMode="gray">
          <a:xfrm flipV="1">
            <a:off x="2753318" y="4044248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3822848"/>
            <a:ext cx="540000" cy="442800"/>
          </a:xfrm>
          <a:prstGeom prst="rect">
            <a:avLst/>
          </a:prstGeom>
        </p:spPr>
      </p:pic>
      <p:pic>
        <p:nvPicPr>
          <p:cNvPr id="50" name="图片 4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5297930"/>
            <a:ext cx="540000" cy="442800"/>
          </a:xfrm>
          <a:prstGeom prst="rect">
            <a:avLst/>
          </a:prstGeom>
        </p:spPr>
      </p:pic>
      <p:pic>
        <p:nvPicPr>
          <p:cNvPr id="51" name="图片 5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3822848"/>
            <a:ext cx="540000" cy="442800"/>
          </a:xfrm>
          <a:prstGeom prst="rect">
            <a:avLst/>
          </a:prstGeom>
        </p:spPr>
      </p:pic>
      <p:pic>
        <p:nvPicPr>
          <p:cNvPr id="52" name="图片 5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5297930"/>
            <a:ext cx="540000" cy="442800"/>
          </a:xfrm>
          <a:prstGeom prst="rect">
            <a:avLst/>
          </a:prstGeom>
        </p:spPr>
      </p:pic>
      <p:pic>
        <p:nvPicPr>
          <p:cNvPr id="53" name="图片 5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3822848"/>
            <a:ext cx="540000" cy="442800"/>
          </a:xfrm>
          <a:prstGeom prst="rect">
            <a:avLst/>
          </a:prstGeom>
        </p:spPr>
      </p:pic>
      <p:pic>
        <p:nvPicPr>
          <p:cNvPr id="54" name="图片 5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5297930"/>
            <a:ext cx="540000" cy="442800"/>
          </a:xfrm>
          <a:prstGeom prst="rect">
            <a:avLst/>
          </a:prstGeom>
        </p:spPr>
      </p:pic>
      <p:pic>
        <p:nvPicPr>
          <p:cNvPr id="55" name="图片 5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502546" y="4560389"/>
            <a:ext cx="540000" cy="442800"/>
          </a:xfrm>
          <a:prstGeom prst="rect">
            <a:avLst/>
          </a:prstGeom>
        </p:spPr>
      </p:pic>
      <p:cxnSp>
        <p:nvCxnSpPr>
          <p:cNvPr id="56" name="直接连接符 55"/>
          <p:cNvCxnSpPr>
            <a:stCxn id="49" idx="2"/>
            <a:endCxn id="50" idx="0"/>
          </p:cNvCxnSpPr>
          <p:nvPr/>
        </p:nvCxnSpPr>
        <p:spPr bwMode="gray">
          <a:xfrm>
            <a:off x="4365844" y="42656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 bwMode="gray">
          <a:xfrm>
            <a:off x="6310391" y="42656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 bwMode="gray">
          <a:xfrm>
            <a:off x="8254938" y="42656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 bwMode="gray">
          <a:xfrm>
            <a:off x="2518032" y="5003189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4424470" y="426994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 bwMode="gray">
          <a:xfrm>
            <a:off x="4150679" y="57473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 bwMode="gray">
          <a:xfrm>
            <a:off x="6080485" y="57473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 bwMode="gray">
          <a:xfrm>
            <a:off x="6355250" y="424848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 bwMode="gray">
          <a:xfrm>
            <a:off x="8230138" y="424848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 bwMode="gray">
          <a:xfrm>
            <a:off x="2401095" y="4332535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16001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 bwMode="gray">
          <a:xfrm>
            <a:off x="3966505" y="3620047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16002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文本框 66"/>
          <p:cNvSpPr txBox="1"/>
          <p:nvPr/>
        </p:nvSpPr>
        <p:spPr bwMode="gray">
          <a:xfrm>
            <a:off x="5889813" y="3620047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16004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 bwMode="gray">
          <a:xfrm>
            <a:off x="7895982" y="3620047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16006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3966505" y="5076531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16003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5889813" y="5076531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16005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8080156" y="57473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7895982" y="5076531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16007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6" name="组合 75"/>
          <p:cNvGrpSpPr/>
          <p:nvPr/>
        </p:nvGrpSpPr>
        <p:grpSpPr bwMode="gray">
          <a:xfrm>
            <a:off x="6187006" y="4025638"/>
            <a:ext cx="288000" cy="288000"/>
            <a:chOff x="856677" y="2615810"/>
            <a:chExt cx="288000" cy="288000"/>
          </a:xfrm>
        </p:grpSpPr>
        <p:sp>
          <p:nvSpPr>
            <p:cNvPr id="77" name="椭圆 76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78" name="组合 77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79" name="直接连接符 78"/>
              <p:cNvCxnSpPr>
                <a:stCxn id="77" idx="3"/>
                <a:endCxn id="77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>
                <a:stCxn id="77" idx="1"/>
                <a:endCxn id="77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4" name="任意多边形: 形状 83"/>
          <p:cNvSpPr/>
          <p:nvPr/>
        </p:nvSpPr>
        <p:spPr bwMode="gray">
          <a:xfrm>
            <a:off x="2974555" y="3925052"/>
            <a:ext cx="5280383" cy="891312"/>
          </a:xfrm>
          <a:custGeom>
            <a:avLst/>
            <a:gdLst>
              <a:gd name="connsiteX0" fmla="*/ 0 w 5046562"/>
              <a:gd name="connsiteY0" fmla="*/ 810255 h 810255"/>
              <a:gd name="connsiteX1" fmla="*/ 787079 w 5046562"/>
              <a:gd name="connsiteY1" fmla="*/ 405141 h 810255"/>
              <a:gd name="connsiteX2" fmla="*/ 1458410 w 5046562"/>
              <a:gd name="connsiteY2" fmla="*/ 81050 h 810255"/>
              <a:gd name="connsiteX3" fmla="*/ 2164466 w 5046562"/>
              <a:gd name="connsiteY3" fmla="*/ 115774 h 810255"/>
              <a:gd name="connsiteX4" fmla="*/ 3125165 w 5046562"/>
              <a:gd name="connsiteY4" fmla="*/ 115774 h 810255"/>
              <a:gd name="connsiteX5" fmla="*/ 3692324 w 5046562"/>
              <a:gd name="connsiteY5" fmla="*/ 27 h 810255"/>
              <a:gd name="connsiteX6" fmla="*/ 5046562 w 5046562"/>
              <a:gd name="connsiteY6" fmla="*/ 104199 h 810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46562" h="810255">
                <a:moveTo>
                  <a:pt x="0" y="810255"/>
                </a:moveTo>
                <a:lnTo>
                  <a:pt x="787079" y="405141"/>
                </a:lnTo>
                <a:cubicBezTo>
                  <a:pt x="1030147" y="283607"/>
                  <a:pt x="1228846" y="129278"/>
                  <a:pt x="1458410" y="81050"/>
                </a:cubicBezTo>
                <a:cubicBezTo>
                  <a:pt x="1687974" y="32822"/>
                  <a:pt x="1886674" y="109987"/>
                  <a:pt x="2164466" y="115774"/>
                </a:cubicBezTo>
                <a:cubicBezTo>
                  <a:pt x="2442258" y="121561"/>
                  <a:pt x="2870522" y="135065"/>
                  <a:pt x="3125165" y="115774"/>
                </a:cubicBezTo>
                <a:cubicBezTo>
                  <a:pt x="3379808" y="96483"/>
                  <a:pt x="3372091" y="1956"/>
                  <a:pt x="3692324" y="27"/>
                </a:cubicBezTo>
                <a:cubicBezTo>
                  <a:pt x="4012557" y="-1902"/>
                  <a:pt x="4732116" y="96482"/>
                  <a:pt x="5046562" y="104199"/>
                </a:cubicBezTo>
              </a:path>
            </a:pathLst>
          </a:custGeom>
          <a:noFill/>
          <a:ln w="38100">
            <a:solidFill>
              <a:srgbClr val="FCC8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对话气泡: 圆角矩形 85"/>
          <p:cNvSpPr/>
          <p:nvPr/>
        </p:nvSpPr>
        <p:spPr bwMode="gray">
          <a:xfrm>
            <a:off x="3966506" y="3035193"/>
            <a:ext cx="931260" cy="380351"/>
          </a:xfrm>
          <a:prstGeom prst="wedgeRoundRectCallou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任意多边形: 形状 90"/>
          <p:cNvSpPr/>
          <p:nvPr/>
        </p:nvSpPr>
        <p:spPr bwMode="gray">
          <a:xfrm>
            <a:off x="2974555" y="4208997"/>
            <a:ext cx="5194816" cy="1171944"/>
          </a:xfrm>
          <a:custGeom>
            <a:avLst/>
            <a:gdLst>
              <a:gd name="connsiteX0" fmla="*/ 0 w 5367725"/>
              <a:gd name="connsiteY0" fmla="*/ 601663 h 1171944"/>
              <a:gd name="connsiteX1" fmla="*/ 1187532 w 5367725"/>
              <a:gd name="connsiteY1" fmla="*/ 7897 h 1171944"/>
              <a:gd name="connsiteX2" fmla="*/ 1650670 w 5367725"/>
              <a:gd name="connsiteY2" fmla="*/ 981674 h 1171944"/>
              <a:gd name="connsiteX3" fmla="*/ 4750130 w 5367725"/>
              <a:gd name="connsiteY3" fmla="*/ 1100427 h 1171944"/>
              <a:gd name="connsiteX4" fmla="*/ 5367647 w 5367725"/>
              <a:gd name="connsiteY4" fmla="*/ 150401 h 1171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7725" h="1171944">
                <a:moveTo>
                  <a:pt x="0" y="601663"/>
                </a:moveTo>
                <a:cubicBezTo>
                  <a:pt x="456210" y="273112"/>
                  <a:pt x="912420" y="-55438"/>
                  <a:pt x="1187532" y="7897"/>
                </a:cubicBezTo>
                <a:cubicBezTo>
                  <a:pt x="1462644" y="71232"/>
                  <a:pt x="1056904" y="799586"/>
                  <a:pt x="1650670" y="981674"/>
                </a:cubicBezTo>
                <a:cubicBezTo>
                  <a:pt x="2244436" y="1163762"/>
                  <a:pt x="4130634" y="1238973"/>
                  <a:pt x="4750130" y="1100427"/>
                </a:cubicBezTo>
                <a:cubicBezTo>
                  <a:pt x="5369626" y="961881"/>
                  <a:pt x="5368636" y="556141"/>
                  <a:pt x="5367647" y="150401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 bwMode="gray">
          <a:xfrm>
            <a:off x="6843816" y="5318657"/>
            <a:ext cx="803425" cy="33855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16057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41"/>
          <p:cNvSpPr/>
          <p:nvPr/>
        </p:nvSpPr>
        <p:spPr bwMode="gray">
          <a:xfrm>
            <a:off x="2040712" y="3088024"/>
            <a:ext cx="6938187" cy="2997843"/>
          </a:xfrm>
          <a:prstGeom prst="roundRect">
            <a:avLst/>
          </a:prstGeom>
          <a:solidFill>
            <a:srgbClr val="BEE9E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SR</a:t>
            </a:r>
            <a:r>
              <a:rPr lang="zh-CN" altLang="en-US">
                <a:sym typeface="Huawei Sans" panose="020C0503030203020204" pitchFamily="34" charset="0"/>
              </a:rPr>
              <a:t>本地正切防微环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设备的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收敛时间不同导致微环</a:t>
            </a:r>
            <a:r>
              <a:rPr lang="zh-CN" altLang="en-US" sz="1600" dirty="0">
                <a:sym typeface="Huawei Sans" panose="020C0503030203020204" pitchFamily="34" charset="0"/>
              </a:rPr>
              <a:t>：例如</a:t>
            </a:r>
            <a:r>
              <a:rPr lang="en-US" altLang="zh-CN" sz="1600" dirty="0">
                <a:sym typeface="Huawei Sans" panose="020C0503030203020204" pitchFamily="34" charset="0"/>
              </a:rPr>
              <a:t>P1</a:t>
            </a:r>
            <a:r>
              <a:rPr lang="zh-CN" altLang="en-US" sz="1600" dirty="0">
                <a:sym typeface="Huawei Sans" panose="020C0503030203020204" pitchFamily="34" charset="0"/>
              </a:rPr>
              <a:t>路由收敛后不再携带</a:t>
            </a:r>
            <a:r>
              <a:rPr lang="en-US" altLang="zh-CN" sz="1600" dirty="0">
                <a:sym typeface="Huawei Sans" panose="020C0503030203020204" pitchFamily="34" charset="0"/>
              </a:rPr>
              <a:t>Repair List</a:t>
            </a:r>
            <a:r>
              <a:rPr lang="zh-CN" altLang="en-US" sz="1600" dirty="0">
                <a:sym typeface="Huawei Sans" panose="020C0503030203020204" pitchFamily="34" charset="0"/>
              </a:rPr>
              <a:t>。此时查询到达</a:t>
            </a:r>
            <a:r>
              <a:rPr lang="en-US" altLang="zh-CN" sz="1600" dirty="0">
                <a:sym typeface="Huawei Sans" panose="020C0503030203020204" pitchFamily="34" charset="0"/>
              </a:rPr>
              <a:t>16006</a:t>
            </a:r>
            <a:r>
              <a:rPr lang="zh-CN" altLang="en-US" sz="1600" dirty="0">
                <a:sym typeface="Huawei Sans" panose="020C0503030203020204" pitchFamily="34" charset="0"/>
              </a:rPr>
              <a:t>路由下一跳节点为</a:t>
            </a:r>
            <a:r>
              <a:rPr lang="en-US" altLang="zh-CN" sz="1600" dirty="0">
                <a:sym typeface="Huawei Sans" panose="020C0503030203020204" pitchFamily="34" charset="0"/>
              </a:rPr>
              <a:t>P3</a:t>
            </a:r>
            <a:r>
              <a:rPr lang="zh-CN" altLang="en-US" sz="1600" dirty="0">
                <a:sym typeface="Huawei Sans" panose="020C0503030203020204" pitchFamily="34" charset="0"/>
              </a:rPr>
              <a:t>。如果</a:t>
            </a:r>
            <a:r>
              <a:rPr lang="en-US" altLang="zh-CN" sz="1600" dirty="0">
                <a:sym typeface="Huawei Sans" panose="020C0503030203020204" pitchFamily="34" charset="0"/>
              </a:rPr>
              <a:t>P3</a:t>
            </a:r>
            <a:r>
              <a:rPr lang="zh-CN" altLang="en-US" sz="1600" dirty="0">
                <a:sym typeface="Huawei Sans" panose="020C0503030203020204" pitchFamily="34" charset="0"/>
              </a:rPr>
              <a:t>此时未完成收敛，其指向</a:t>
            </a:r>
            <a:r>
              <a:rPr lang="en-US" altLang="zh-CN" sz="1600" dirty="0">
                <a:sym typeface="Huawei Sans" panose="020C0503030203020204" pitchFamily="34" charset="0"/>
              </a:rPr>
              <a:t>16006</a:t>
            </a:r>
            <a:r>
              <a:rPr lang="zh-CN" altLang="en-US" sz="1600" dirty="0">
                <a:sym typeface="Huawei Sans" panose="020C0503030203020204" pitchFamily="34" charset="0"/>
              </a:rPr>
              <a:t>的下一跳依然为</a:t>
            </a:r>
            <a:r>
              <a:rPr lang="en-US" altLang="zh-CN" sz="1600" dirty="0">
                <a:sym typeface="Huawei Sans" panose="020C0503030203020204" pitchFamily="34" charset="0"/>
              </a:rPr>
              <a:t>P1</a:t>
            </a:r>
            <a:r>
              <a:rPr lang="zh-CN" altLang="en-US" sz="1600" dirty="0">
                <a:sym typeface="Huawei Sans" panose="020C0503030203020204" pitchFamily="34" charset="0"/>
              </a:rPr>
              <a:t>，产生本地正切环路。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启用防微环后</a:t>
            </a:r>
            <a:r>
              <a:rPr lang="en-US" altLang="zh-CN" sz="1600" dirty="0">
                <a:sym typeface="Huawei Sans" panose="020C0503030203020204" pitchFamily="34" charset="0"/>
              </a:rPr>
              <a:t>P1</a:t>
            </a:r>
            <a:r>
              <a:rPr lang="zh-CN" altLang="en-US" sz="1600" dirty="0">
                <a:sym typeface="Huawei Sans" panose="020C0503030203020204" pitchFamily="34" charset="0"/>
              </a:rPr>
              <a:t>启动定时器</a:t>
            </a:r>
            <a:r>
              <a:rPr lang="en-US" altLang="zh-CN" sz="1600" dirty="0">
                <a:sym typeface="Huawei Sans" panose="020C0503030203020204" pitchFamily="34" charset="0"/>
              </a:rPr>
              <a:t>T1</a:t>
            </a:r>
            <a:r>
              <a:rPr lang="zh-CN" altLang="en-US" sz="1600" dirty="0">
                <a:sym typeface="Huawei Sans" panose="020C0503030203020204" pitchFamily="34" charset="0"/>
              </a:rPr>
              <a:t>，期间报文依旧按照</a:t>
            </a:r>
            <a:r>
              <a:rPr lang="en-US" altLang="zh-CN" sz="1600" dirty="0">
                <a:sym typeface="Huawei Sans" panose="020C0503030203020204" pitchFamily="34" charset="0"/>
              </a:rPr>
              <a:t>TI-LFA</a:t>
            </a:r>
            <a:r>
              <a:rPr lang="zh-CN" altLang="en-US" sz="1600" dirty="0">
                <a:sym typeface="Huawei Sans" panose="020C0503030203020204" pitchFamily="34" charset="0"/>
              </a:rPr>
              <a:t>策略</a:t>
            </a:r>
            <a:r>
              <a:rPr lang="en-US" altLang="zh-CN" sz="1600" dirty="0">
                <a:solidFill>
                  <a:srgbClr val="C7000B"/>
                </a:solidFill>
                <a:sym typeface="Huawei Sans" panose="020C0503030203020204" pitchFamily="34" charset="0"/>
              </a:rPr>
              <a:t>&lt;16005, 16057&gt;</a:t>
            </a:r>
            <a:r>
              <a:rPr lang="zh-CN" altLang="en-US" sz="1600" dirty="0">
                <a:sym typeface="Huawei Sans" panose="020C0503030203020204" pitchFamily="34" charset="0"/>
              </a:rPr>
              <a:t>转发，等待其他节点收敛。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45" name="直接连接符 44"/>
          <p:cNvCxnSpPr>
            <a:stCxn id="49" idx="1"/>
            <a:endCxn id="53" idx="1"/>
          </p:cNvCxnSpPr>
          <p:nvPr/>
        </p:nvCxnSpPr>
        <p:spPr bwMode="gray">
          <a:xfrm>
            <a:off x="4095844" y="4044248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50" idx="1"/>
            <a:endCxn id="54" idx="1"/>
          </p:cNvCxnSpPr>
          <p:nvPr/>
        </p:nvCxnSpPr>
        <p:spPr bwMode="gray">
          <a:xfrm>
            <a:off x="4095844" y="5519330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>
            <a:endCxn id="50" idx="1"/>
          </p:cNvCxnSpPr>
          <p:nvPr/>
        </p:nvCxnSpPr>
        <p:spPr bwMode="gray">
          <a:xfrm>
            <a:off x="2753318" y="4781789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endCxn id="49" idx="1"/>
          </p:cNvCxnSpPr>
          <p:nvPr/>
        </p:nvCxnSpPr>
        <p:spPr bwMode="gray">
          <a:xfrm flipV="1">
            <a:off x="2753318" y="4044248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3822848"/>
            <a:ext cx="540000" cy="442800"/>
          </a:xfrm>
          <a:prstGeom prst="rect">
            <a:avLst/>
          </a:prstGeom>
        </p:spPr>
      </p:pic>
      <p:pic>
        <p:nvPicPr>
          <p:cNvPr id="50" name="图片 4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5297930"/>
            <a:ext cx="540000" cy="442800"/>
          </a:xfrm>
          <a:prstGeom prst="rect">
            <a:avLst/>
          </a:prstGeom>
        </p:spPr>
      </p:pic>
      <p:pic>
        <p:nvPicPr>
          <p:cNvPr id="51" name="图片 5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3822848"/>
            <a:ext cx="540000" cy="442800"/>
          </a:xfrm>
          <a:prstGeom prst="rect">
            <a:avLst/>
          </a:prstGeom>
        </p:spPr>
      </p:pic>
      <p:pic>
        <p:nvPicPr>
          <p:cNvPr id="52" name="图片 5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5297930"/>
            <a:ext cx="540000" cy="442800"/>
          </a:xfrm>
          <a:prstGeom prst="rect">
            <a:avLst/>
          </a:prstGeom>
        </p:spPr>
      </p:pic>
      <p:pic>
        <p:nvPicPr>
          <p:cNvPr id="53" name="图片 5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3822848"/>
            <a:ext cx="540000" cy="442800"/>
          </a:xfrm>
          <a:prstGeom prst="rect">
            <a:avLst/>
          </a:prstGeom>
        </p:spPr>
      </p:pic>
      <p:pic>
        <p:nvPicPr>
          <p:cNvPr id="54" name="图片 5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5297930"/>
            <a:ext cx="540000" cy="442800"/>
          </a:xfrm>
          <a:prstGeom prst="rect">
            <a:avLst/>
          </a:prstGeom>
        </p:spPr>
      </p:pic>
      <p:pic>
        <p:nvPicPr>
          <p:cNvPr id="55" name="图片 5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502546" y="4560389"/>
            <a:ext cx="540000" cy="442800"/>
          </a:xfrm>
          <a:prstGeom prst="rect">
            <a:avLst/>
          </a:prstGeom>
        </p:spPr>
      </p:pic>
      <p:cxnSp>
        <p:nvCxnSpPr>
          <p:cNvPr id="56" name="直接连接符 55"/>
          <p:cNvCxnSpPr>
            <a:stCxn id="49" idx="2"/>
            <a:endCxn id="50" idx="0"/>
          </p:cNvCxnSpPr>
          <p:nvPr/>
        </p:nvCxnSpPr>
        <p:spPr bwMode="gray">
          <a:xfrm>
            <a:off x="4365844" y="42656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 bwMode="gray">
          <a:xfrm>
            <a:off x="6310391" y="42656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 bwMode="gray">
          <a:xfrm>
            <a:off x="8254938" y="42656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 bwMode="gray">
          <a:xfrm>
            <a:off x="2518032" y="5003189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4424470" y="426994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 bwMode="gray">
          <a:xfrm>
            <a:off x="4150679" y="57473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 bwMode="gray">
          <a:xfrm>
            <a:off x="6080485" y="57473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 bwMode="gray">
          <a:xfrm>
            <a:off x="6355250" y="424848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 bwMode="gray">
          <a:xfrm>
            <a:off x="8230138" y="424848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 bwMode="gray">
          <a:xfrm>
            <a:off x="2400935" y="4332605"/>
            <a:ext cx="988695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16001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 bwMode="gray">
          <a:xfrm>
            <a:off x="3966210" y="3620135"/>
            <a:ext cx="1062355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16002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文本框 66"/>
          <p:cNvSpPr txBox="1"/>
          <p:nvPr/>
        </p:nvSpPr>
        <p:spPr bwMode="gray">
          <a:xfrm>
            <a:off x="5889625" y="3620135"/>
            <a:ext cx="939165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16004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 bwMode="gray">
          <a:xfrm>
            <a:off x="7896225" y="3620135"/>
            <a:ext cx="953135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16006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3721735" y="5076825"/>
            <a:ext cx="1047750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16003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5889625" y="5076825"/>
            <a:ext cx="944245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16005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8080156" y="57473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7896225" y="5076825"/>
            <a:ext cx="974090" cy="337185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16007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6" name="组合 75"/>
          <p:cNvGrpSpPr/>
          <p:nvPr/>
        </p:nvGrpSpPr>
        <p:grpSpPr bwMode="gray">
          <a:xfrm>
            <a:off x="6187006" y="4025638"/>
            <a:ext cx="288000" cy="288000"/>
            <a:chOff x="856677" y="2615810"/>
            <a:chExt cx="288000" cy="288000"/>
          </a:xfrm>
        </p:grpSpPr>
        <p:sp>
          <p:nvSpPr>
            <p:cNvPr id="77" name="椭圆 76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78" name="组合 77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79" name="直接连接符 78"/>
              <p:cNvCxnSpPr>
                <a:stCxn id="77" idx="3"/>
                <a:endCxn id="77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>
                <a:stCxn id="77" idx="1"/>
                <a:endCxn id="77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4" name="任意多边形: 形状 83"/>
          <p:cNvSpPr/>
          <p:nvPr/>
        </p:nvSpPr>
        <p:spPr bwMode="gray">
          <a:xfrm>
            <a:off x="2956068" y="3894675"/>
            <a:ext cx="1349529" cy="725827"/>
          </a:xfrm>
          <a:custGeom>
            <a:avLst/>
            <a:gdLst>
              <a:gd name="connsiteX0" fmla="*/ 0 w 5046562"/>
              <a:gd name="connsiteY0" fmla="*/ 810255 h 810255"/>
              <a:gd name="connsiteX1" fmla="*/ 787079 w 5046562"/>
              <a:gd name="connsiteY1" fmla="*/ 405141 h 810255"/>
              <a:gd name="connsiteX2" fmla="*/ 1458410 w 5046562"/>
              <a:gd name="connsiteY2" fmla="*/ 81050 h 810255"/>
              <a:gd name="connsiteX3" fmla="*/ 2164466 w 5046562"/>
              <a:gd name="connsiteY3" fmla="*/ 115774 h 810255"/>
              <a:gd name="connsiteX4" fmla="*/ 3125165 w 5046562"/>
              <a:gd name="connsiteY4" fmla="*/ 115774 h 810255"/>
              <a:gd name="connsiteX5" fmla="*/ 3692324 w 5046562"/>
              <a:gd name="connsiteY5" fmla="*/ 27 h 810255"/>
              <a:gd name="connsiteX6" fmla="*/ 5046562 w 5046562"/>
              <a:gd name="connsiteY6" fmla="*/ 104199 h 810255"/>
              <a:gd name="connsiteX0-1" fmla="*/ 0 w 5046562"/>
              <a:gd name="connsiteY0-2" fmla="*/ 744986 h 744986"/>
              <a:gd name="connsiteX1-3" fmla="*/ 787079 w 5046562"/>
              <a:gd name="connsiteY1-4" fmla="*/ 339872 h 744986"/>
              <a:gd name="connsiteX2-5" fmla="*/ 1458410 w 5046562"/>
              <a:gd name="connsiteY2-6" fmla="*/ 15781 h 744986"/>
              <a:gd name="connsiteX3-7" fmla="*/ 2164466 w 5046562"/>
              <a:gd name="connsiteY3-8" fmla="*/ 50505 h 744986"/>
              <a:gd name="connsiteX4-9" fmla="*/ 3125165 w 5046562"/>
              <a:gd name="connsiteY4-10" fmla="*/ 50505 h 744986"/>
              <a:gd name="connsiteX5-11" fmla="*/ 5046562 w 5046562"/>
              <a:gd name="connsiteY5-12" fmla="*/ 38930 h 744986"/>
              <a:gd name="connsiteX0-13" fmla="*/ 0 w 3125165"/>
              <a:gd name="connsiteY0-14" fmla="*/ 744986 h 744986"/>
              <a:gd name="connsiteX1-15" fmla="*/ 787079 w 3125165"/>
              <a:gd name="connsiteY1-16" fmla="*/ 339872 h 744986"/>
              <a:gd name="connsiteX2-17" fmla="*/ 1458410 w 3125165"/>
              <a:gd name="connsiteY2-18" fmla="*/ 15781 h 744986"/>
              <a:gd name="connsiteX3-19" fmla="*/ 2164466 w 3125165"/>
              <a:gd name="connsiteY3-20" fmla="*/ 50505 h 744986"/>
              <a:gd name="connsiteX4-21" fmla="*/ 3125165 w 3125165"/>
              <a:gd name="connsiteY4-22" fmla="*/ 50505 h 744986"/>
              <a:gd name="connsiteX0-23" fmla="*/ 0 w 2164466"/>
              <a:gd name="connsiteY0-24" fmla="*/ 744986 h 744986"/>
              <a:gd name="connsiteX1-25" fmla="*/ 787079 w 2164466"/>
              <a:gd name="connsiteY1-26" fmla="*/ 339872 h 744986"/>
              <a:gd name="connsiteX2-27" fmla="*/ 1458410 w 2164466"/>
              <a:gd name="connsiteY2-28" fmla="*/ 15781 h 744986"/>
              <a:gd name="connsiteX3-29" fmla="*/ 2164466 w 2164466"/>
              <a:gd name="connsiteY3-30" fmla="*/ 50505 h 744986"/>
              <a:gd name="connsiteX0-31" fmla="*/ 0 w 1458410"/>
              <a:gd name="connsiteY0-32" fmla="*/ 729205 h 729205"/>
              <a:gd name="connsiteX1-33" fmla="*/ 787079 w 1458410"/>
              <a:gd name="connsiteY1-34" fmla="*/ 324091 h 729205"/>
              <a:gd name="connsiteX2-35" fmla="*/ 1458410 w 1458410"/>
              <a:gd name="connsiteY2-36" fmla="*/ 0 h 729205"/>
              <a:gd name="connsiteX0-37" fmla="*/ 0 w 1458410"/>
              <a:gd name="connsiteY0-38" fmla="*/ 729205 h 729205"/>
              <a:gd name="connsiteX1-39" fmla="*/ 656373 w 1458410"/>
              <a:gd name="connsiteY1-40" fmla="*/ 249517 h 729205"/>
              <a:gd name="connsiteX2-41" fmla="*/ 1458410 w 1458410"/>
              <a:gd name="connsiteY2-42" fmla="*/ 0 h 729205"/>
              <a:gd name="connsiteX0-43" fmla="*/ 0 w 1458410"/>
              <a:gd name="connsiteY0-44" fmla="*/ 729205 h 729205"/>
              <a:gd name="connsiteX1-45" fmla="*/ 656373 w 1458410"/>
              <a:gd name="connsiteY1-46" fmla="*/ 249517 h 729205"/>
              <a:gd name="connsiteX2-47" fmla="*/ 1458410 w 1458410"/>
              <a:gd name="connsiteY2-48" fmla="*/ 0 h 729205"/>
              <a:gd name="connsiteX0-49" fmla="*/ 0 w 1458410"/>
              <a:gd name="connsiteY0-50" fmla="*/ 729205 h 729205"/>
              <a:gd name="connsiteX1-51" fmla="*/ 620726 w 1458410"/>
              <a:gd name="connsiteY1-52" fmla="*/ 238863 h 729205"/>
              <a:gd name="connsiteX2-53" fmla="*/ 1458410 w 1458410"/>
              <a:gd name="connsiteY2-54" fmla="*/ 0 h 729205"/>
              <a:gd name="connsiteX0-55" fmla="*/ 0 w 1256409"/>
              <a:gd name="connsiteY0-56" fmla="*/ 622670 h 622670"/>
              <a:gd name="connsiteX1-57" fmla="*/ 620726 w 1256409"/>
              <a:gd name="connsiteY1-58" fmla="*/ 132328 h 622670"/>
              <a:gd name="connsiteX2-59" fmla="*/ 1256409 w 1256409"/>
              <a:gd name="connsiteY2-60" fmla="*/ 0 h 622670"/>
              <a:gd name="connsiteX0-61" fmla="*/ 0 w 1351468"/>
              <a:gd name="connsiteY0-62" fmla="*/ 665284 h 665284"/>
              <a:gd name="connsiteX1-63" fmla="*/ 620726 w 1351468"/>
              <a:gd name="connsiteY1-64" fmla="*/ 174942 h 665284"/>
              <a:gd name="connsiteX2-65" fmla="*/ 1351468 w 1351468"/>
              <a:gd name="connsiteY2-66" fmla="*/ 0 h 665284"/>
              <a:gd name="connsiteX0-67" fmla="*/ 0 w 1351468"/>
              <a:gd name="connsiteY0-68" fmla="*/ 665284 h 665284"/>
              <a:gd name="connsiteX1-69" fmla="*/ 525667 w 1351468"/>
              <a:gd name="connsiteY1-70" fmla="*/ 196249 h 665284"/>
              <a:gd name="connsiteX2-71" fmla="*/ 1351468 w 1351468"/>
              <a:gd name="connsiteY2-72" fmla="*/ 0 h 665284"/>
              <a:gd name="connsiteX0-73" fmla="*/ 0 w 1351468"/>
              <a:gd name="connsiteY0-74" fmla="*/ 665284 h 665284"/>
              <a:gd name="connsiteX1-75" fmla="*/ 525667 w 1351468"/>
              <a:gd name="connsiteY1-76" fmla="*/ 196249 h 665284"/>
              <a:gd name="connsiteX2-77" fmla="*/ 1351468 w 1351468"/>
              <a:gd name="connsiteY2-78" fmla="*/ 0 h 665284"/>
              <a:gd name="connsiteX0-79" fmla="*/ 0 w 1351468"/>
              <a:gd name="connsiteY0-80" fmla="*/ 665284 h 665284"/>
              <a:gd name="connsiteX1-81" fmla="*/ 525667 w 1351468"/>
              <a:gd name="connsiteY1-82" fmla="*/ 196249 h 665284"/>
              <a:gd name="connsiteX2-83" fmla="*/ 1351468 w 1351468"/>
              <a:gd name="connsiteY2-84" fmla="*/ 0 h 665284"/>
              <a:gd name="connsiteX0-85" fmla="*/ 0 w 1351468"/>
              <a:gd name="connsiteY0-86" fmla="*/ 806378 h 806378"/>
              <a:gd name="connsiteX1-87" fmla="*/ 525667 w 1351468"/>
              <a:gd name="connsiteY1-88" fmla="*/ 196249 h 806378"/>
              <a:gd name="connsiteX2-89" fmla="*/ 1351468 w 1351468"/>
              <a:gd name="connsiteY2-90" fmla="*/ 0 h 806378"/>
              <a:gd name="connsiteX0-91" fmla="*/ 0 w 1351468"/>
              <a:gd name="connsiteY0-92" fmla="*/ 806378 h 806378"/>
              <a:gd name="connsiteX1-93" fmla="*/ 525667 w 1351468"/>
              <a:gd name="connsiteY1-94" fmla="*/ 196249 h 806378"/>
              <a:gd name="connsiteX2-95" fmla="*/ 1351468 w 1351468"/>
              <a:gd name="connsiteY2-96" fmla="*/ 0 h 806378"/>
              <a:gd name="connsiteX0-97" fmla="*/ 0 w 1351468"/>
              <a:gd name="connsiteY0-98" fmla="*/ 827924 h 827924"/>
              <a:gd name="connsiteX1-99" fmla="*/ 538385 w 1351468"/>
              <a:gd name="connsiteY1-100" fmla="*/ 119029 h 827924"/>
              <a:gd name="connsiteX2-101" fmla="*/ 1351468 w 1351468"/>
              <a:gd name="connsiteY2-102" fmla="*/ 21546 h 827924"/>
              <a:gd name="connsiteX0-103" fmla="*/ 0 w 1351468"/>
              <a:gd name="connsiteY0-104" fmla="*/ 827924 h 827924"/>
              <a:gd name="connsiteX1-105" fmla="*/ 538385 w 1351468"/>
              <a:gd name="connsiteY1-106" fmla="*/ 119029 h 827924"/>
              <a:gd name="connsiteX2-107" fmla="*/ 1351468 w 1351468"/>
              <a:gd name="connsiteY2-108" fmla="*/ 21546 h 827924"/>
              <a:gd name="connsiteX0-109" fmla="*/ 0 w 1351468"/>
              <a:gd name="connsiteY0-110" fmla="*/ 806378 h 806378"/>
              <a:gd name="connsiteX1-111" fmla="*/ 589258 w 1351468"/>
              <a:gd name="connsiteY1-112" fmla="*/ 182140 h 806378"/>
              <a:gd name="connsiteX2-113" fmla="*/ 1351468 w 1351468"/>
              <a:gd name="connsiteY2-114" fmla="*/ 0 h 806378"/>
              <a:gd name="connsiteX0-115" fmla="*/ 0 w 1351468"/>
              <a:gd name="connsiteY0-116" fmla="*/ 806378 h 806378"/>
              <a:gd name="connsiteX1-117" fmla="*/ 589258 w 1351468"/>
              <a:gd name="connsiteY1-118" fmla="*/ 182140 h 806378"/>
              <a:gd name="connsiteX2-119" fmla="*/ 1351468 w 1351468"/>
              <a:gd name="connsiteY2-120" fmla="*/ 0 h 806378"/>
              <a:gd name="connsiteX0-121" fmla="*/ 0 w 1351468"/>
              <a:gd name="connsiteY0-122" fmla="*/ 806378 h 806378"/>
              <a:gd name="connsiteX1-123" fmla="*/ 589258 w 1351468"/>
              <a:gd name="connsiteY1-124" fmla="*/ 182140 h 806378"/>
              <a:gd name="connsiteX2-125" fmla="*/ 1351468 w 1351468"/>
              <a:gd name="connsiteY2-126" fmla="*/ 0 h 8063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351468" h="806378">
                <a:moveTo>
                  <a:pt x="0" y="806378"/>
                </a:moveTo>
                <a:cubicBezTo>
                  <a:pt x="238814" y="476018"/>
                  <a:pt x="426754" y="343187"/>
                  <a:pt x="589258" y="182140"/>
                </a:cubicBezTo>
                <a:cubicBezTo>
                  <a:pt x="986797" y="-45929"/>
                  <a:pt x="1121904" y="48228"/>
                  <a:pt x="1351468" y="0"/>
                </a:cubicBezTo>
              </a:path>
            </a:pathLst>
          </a:custGeom>
          <a:noFill/>
          <a:ln w="38100">
            <a:solidFill>
              <a:srgbClr val="FCC8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8" name="直接箭头连接符 87"/>
          <p:cNvCxnSpPr/>
          <p:nvPr/>
        </p:nvCxnSpPr>
        <p:spPr bwMode="gray">
          <a:xfrm>
            <a:off x="4150679" y="4332535"/>
            <a:ext cx="0" cy="449254"/>
          </a:xfrm>
          <a:prstGeom prst="straightConnector1">
            <a:avLst/>
          </a:prstGeom>
          <a:noFill/>
          <a:ln w="38100">
            <a:solidFill>
              <a:srgbClr val="00B0F0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直接箭头连接符 88"/>
          <p:cNvCxnSpPr/>
          <p:nvPr/>
        </p:nvCxnSpPr>
        <p:spPr bwMode="gray">
          <a:xfrm flipV="1">
            <a:off x="4627164" y="4608502"/>
            <a:ext cx="0" cy="394688"/>
          </a:xfrm>
          <a:prstGeom prst="straightConnector1">
            <a:avLst/>
          </a:prstGeom>
          <a:noFill/>
          <a:ln w="38100">
            <a:solidFill>
              <a:srgbClr val="ED6D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文本框 42"/>
          <p:cNvSpPr txBox="1"/>
          <p:nvPr/>
        </p:nvSpPr>
        <p:spPr bwMode="gray">
          <a:xfrm>
            <a:off x="2438441" y="2397383"/>
            <a:ext cx="4161292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[P1]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isis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[P1-isis-1] avoid-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microloop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frr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-protected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 bwMode="gray">
          <a:xfrm>
            <a:off x="4830817" y="4058226"/>
            <a:ext cx="816624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已收敛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4830817" y="5092449"/>
            <a:ext cx="816624" cy="307777"/>
          </a:xfrm>
          <a:prstGeom prst="rect">
            <a:avLst/>
          </a:prstGeom>
          <a:solidFill>
            <a:srgbClr val="ED6D00"/>
          </a:solidFill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未收敛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6843816" y="5318657"/>
            <a:ext cx="803425" cy="33855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16057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任意多边形: 形状 5"/>
          <p:cNvSpPr/>
          <p:nvPr/>
        </p:nvSpPr>
        <p:spPr bwMode="gray">
          <a:xfrm>
            <a:off x="4683344" y="5674584"/>
            <a:ext cx="3343056" cy="120879"/>
          </a:xfrm>
          <a:custGeom>
            <a:avLst/>
            <a:gdLst>
              <a:gd name="connsiteX0" fmla="*/ 0 w 3695700"/>
              <a:gd name="connsiteY0" fmla="*/ 0 h 232863"/>
              <a:gd name="connsiteX1" fmla="*/ 1879600 w 3695700"/>
              <a:gd name="connsiteY1" fmla="*/ 228600 h 232863"/>
              <a:gd name="connsiteX2" fmla="*/ 3695700 w 3695700"/>
              <a:gd name="connsiteY2" fmla="*/ 127000 h 232863"/>
              <a:gd name="connsiteX0-1" fmla="*/ 0 w 3375152"/>
              <a:gd name="connsiteY0-2" fmla="*/ 0 h 177056"/>
              <a:gd name="connsiteX1-3" fmla="*/ 1559052 w 3375152"/>
              <a:gd name="connsiteY1-4" fmla="*/ 172793 h 177056"/>
              <a:gd name="connsiteX2-5" fmla="*/ 3375152 w 3375152"/>
              <a:gd name="connsiteY2-6" fmla="*/ 71193 h 177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375152" h="177056">
                <a:moveTo>
                  <a:pt x="0" y="0"/>
                </a:moveTo>
                <a:cubicBezTo>
                  <a:pt x="631825" y="103716"/>
                  <a:pt x="943102" y="151626"/>
                  <a:pt x="1559052" y="172793"/>
                </a:cubicBezTo>
                <a:cubicBezTo>
                  <a:pt x="2175002" y="193960"/>
                  <a:pt x="2775077" y="132576"/>
                  <a:pt x="3375152" y="71193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对话气泡: 圆角矩形 85"/>
          <p:cNvSpPr/>
          <p:nvPr/>
        </p:nvSpPr>
        <p:spPr bwMode="gray">
          <a:xfrm>
            <a:off x="3966506" y="3035193"/>
            <a:ext cx="931260" cy="380351"/>
          </a:xfrm>
          <a:prstGeom prst="wedgeRoundRectCallou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41"/>
          <p:cNvSpPr/>
          <p:nvPr/>
        </p:nvSpPr>
        <p:spPr bwMode="gray">
          <a:xfrm>
            <a:off x="2040712" y="3088024"/>
            <a:ext cx="6938187" cy="2997843"/>
          </a:xfrm>
          <a:prstGeom prst="roundRect">
            <a:avLst/>
          </a:prstGeom>
          <a:solidFill>
            <a:srgbClr val="BEE9E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SR</a:t>
            </a:r>
            <a:r>
              <a:rPr lang="zh-CN" altLang="en-US">
                <a:sym typeface="Huawei Sans" panose="020C0503030203020204" pitchFamily="34" charset="0"/>
              </a:rPr>
              <a:t>本地回切防微环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在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故障恢复后路径回切时也可能出现微环</a:t>
            </a:r>
            <a:r>
              <a:rPr lang="zh-CN" altLang="en-US" sz="1600" dirty="0">
                <a:sym typeface="Huawei Sans" panose="020C0503030203020204" pitchFamily="34" charset="0"/>
              </a:rPr>
              <a:t>：例如此时</a:t>
            </a:r>
            <a:r>
              <a:rPr lang="en-US" altLang="zh-CN" sz="1600" dirty="0">
                <a:sym typeface="Huawei Sans" panose="020C0503030203020204" pitchFamily="34" charset="0"/>
              </a:rPr>
              <a:t>P2</a:t>
            </a:r>
            <a:r>
              <a:rPr lang="zh-CN" altLang="en-US" sz="1600" dirty="0">
                <a:sym typeface="Huawei Sans" panose="020C0503030203020204" pitchFamily="34" charset="0"/>
              </a:rPr>
              <a:t>故障恢复，如果</a:t>
            </a:r>
            <a:r>
              <a:rPr lang="en-US" altLang="zh-CN" sz="1600" dirty="0">
                <a:sym typeface="Huawei Sans" panose="020C0503030203020204" pitchFamily="34" charset="0"/>
              </a:rPr>
              <a:t>P1</a:t>
            </a:r>
            <a:r>
              <a:rPr lang="zh-CN" altLang="en-US" sz="1600" dirty="0">
                <a:sym typeface="Huawei Sans" panose="020C0503030203020204" pitchFamily="34" charset="0"/>
              </a:rPr>
              <a:t>未完成收敛将流量转发给</a:t>
            </a:r>
            <a:r>
              <a:rPr lang="en-US" altLang="zh-CN" sz="1600" dirty="0">
                <a:sym typeface="Huawei Sans" panose="020C0503030203020204" pitchFamily="34" charset="0"/>
              </a:rPr>
              <a:t>P3</a:t>
            </a:r>
            <a:r>
              <a:rPr lang="zh-CN" altLang="en-US" sz="1600" dirty="0">
                <a:sym typeface="Huawei Sans" panose="020C0503030203020204" pitchFamily="34" charset="0"/>
              </a:rPr>
              <a:t>，但是</a:t>
            </a:r>
            <a:r>
              <a:rPr lang="en-US" altLang="zh-CN" sz="1600" dirty="0">
                <a:sym typeface="Huawei Sans" panose="020C0503030203020204" pitchFamily="34" charset="0"/>
              </a:rPr>
              <a:t>P3</a:t>
            </a:r>
            <a:r>
              <a:rPr lang="zh-CN" altLang="en-US" sz="1600" dirty="0">
                <a:sym typeface="Huawei Sans" panose="020C0503030203020204" pitchFamily="34" charset="0"/>
              </a:rPr>
              <a:t>已完成收敛会将流量转发回</a:t>
            </a:r>
            <a:r>
              <a:rPr lang="en-US" altLang="zh-CN" sz="1600" dirty="0">
                <a:sym typeface="Huawei Sans" panose="020C0503030203020204" pitchFamily="34" charset="0"/>
              </a:rPr>
              <a:t>P1</a:t>
            </a:r>
            <a:r>
              <a:rPr lang="zh-CN" altLang="en-US" sz="1600" dirty="0">
                <a:sym typeface="Huawei Sans" panose="020C0503030203020204" pitchFamily="34" charset="0"/>
              </a:rPr>
              <a:t>，形成本地回切微环。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启用防微环，</a:t>
            </a:r>
            <a:r>
              <a:rPr lang="en-US" altLang="zh-CN" sz="1600" dirty="0">
                <a:sym typeface="Huawei Sans" panose="020C0503030203020204" pitchFamily="34" charset="0"/>
              </a:rPr>
              <a:t>P3</a:t>
            </a:r>
            <a:r>
              <a:rPr lang="zh-CN" altLang="en-US" sz="1600" dirty="0">
                <a:sym typeface="Huawei Sans" panose="020C0503030203020204" pitchFamily="34" charset="0"/>
              </a:rPr>
              <a:t>完成收敛后计算出防微环</a:t>
            </a:r>
            <a:r>
              <a:rPr lang="en-US" altLang="zh-CN" sz="1600" dirty="0">
                <a:sym typeface="Huawei Sans" panose="020C0503030203020204" pitchFamily="34" charset="0"/>
              </a:rPr>
              <a:t>Segment List</a:t>
            </a:r>
            <a:r>
              <a:rPr lang="zh-CN" altLang="en-US" sz="1600" dirty="0">
                <a:sym typeface="Huawei Sans" panose="020C0503030203020204" pitchFamily="34" charset="0"/>
              </a:rPr>
              <a:t>为</a:t>
            </a:r>
            <a:r>
              <a:rPr lang="en-US" altLang="zh-CN" sz="1600" dirty="0">
                <a:solidFill>
                  <a:srgbClr val="C7000B"/>
                </a:solidFill>
                <a:sym typeface="Huawei Sans" panose="020C0503030203020204" pitchFamily="34" charset="0"/>
              </a:rPr>
              <a:t>&lt;16002, 16024&gt;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r>
              <a:rPr lang="en-US" altLang="zh-CN" sz="1600" dirty="0">
                <a:sym typeface="Huawei Sans" panose="020C0503030203020204" pitchFamily="34" charset="0"/>
              </a:rPr>
              <a:t>PE1</a:t>
            </a:r>
            <a:r>
              <a:rPr lang="zh-CN" altLang="en-US" sz="1600" dirty="0">
                <a:sym typeface="Huawei Sans" panose="020C0503030203020204" pitchFamily="34" charset="0"/>
              </a:rPr>
              <a:t>将报文转发</a:t>
            </a:r>
            <a:r>
              <a:rPr lang="en-US" altLang="zh-CN" sz="1600" dirty="0">
                <a:sym typeface="Huawei Sans" panose="020C0503030203020204" pitchFamily="34" charset="0"/>
              </a:rPr>
              <a:t>P1</a:t>
            </a:r>
            <a:r>
              <a:rPr lang="zh-CN" altLang="en-US" sz="1600" dirty="0">
                <a:sym typeface="Huawei Sans" panose="020C0503030203020204" pitchFamily="34" charset="0"/>
              </a:rPr>
              <a:t>，此时由于</a:t>
            </a:r>
            <a:r>
              <a:rPr lang="en-US" altLang="zh-CN" sz="1600" dirty="0">
                <a:sym typeface="Huawei Sans" panose="020C0503030203020204" pitchFamily="34" charset="0"/>
              </a:rPr>
              <a:t>P1</a:t>
            </a:r>
            <a:r>
              <a:rPr lang="zh-CN" altLang="en-US" sz="1600" dirty="0">
                <a:sym typeface="Huawei Sans" panose="020C0503030203020204" pitchFamily="34" charset="0"/>
              </a:rPr>
              <a:t>未完成收敛将报文转发给</a:t>
            </a:r>
            <a:r>
              <a:rPr lang="en-US" altLang="zh-CN" sz="1600" dirty="0">
                <a:sym typeface="Huawei Sans" panose="020C0503030203020204" pitchFamily="34" charset="0"/>
              </a:rPr>
              <a:t>P3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r>
              <a:rPr lang="en-US" altLang="zh-CN" sz="1600" dirty="0">
                <a:sym typeface="Huawei Sans" panose="020C0503030203020204" pitchFamily="34" charset="0"/>
              </a:rPr>
              <a:t>P3</a:t>
            </a:r>
            <a:r>
              <a:rPr lang="zh-CN" altLang="en-US" sz="1600" dirty="0">
                <a:sym typeface="Huawei Sans" panose="020C0503030203020204" pitchFamily="34" charset="0"/>
              </a:rPr>
              <a:t>将插入此防微环</a:t>
            </a:r>
            <a:r>
              <a:rPr lang="en-US" altLang="zh-CN" sz="1600" dirty="0">
                <a:sym typeface="Huawei Sans" panose="020C0503030203020204" pitchFamily="34" charset="0"/>
              </a:rPr>
              <a:t>Segment List</a:t>
            </a:r>
            <a:r>
              <a:rPr lang="zh-CN" altLang="en-US" sz="1600" dirty="0">
                <a:sym typeface="Huawei Sans" panose="020C0503030203020204" pitchFamily="34" charset="0"/>
              </a:rPr>
              <a:t>，从</a:t>
            </a:r>
            <a:r>
              <a:rPr lang="en-US" altLang="zh-CN" sz="1600" dirty="0">
                <a:sym typeface="Huawei Sans" panose="020C0503030203020204" pitchFamily="34" charset="0"/>
              </a:rPr>
              <a:t>P1</a:t>
            </a:r>
            <a:r>
              <a:rPr lang="zh-CN" altLang="en-US" sz="1600" dirty="0">
                <a:sym typeface="Huawei Sans" panose="020C0503030203020204" pitchFamily="34" charset="0"/>
              </a:rPr>
              <a:t>转发给</a:t>
            </a:r>
            <a:r>
              <a:rPr lang="en-US" altLang="zh-CN" sz="1600" dirty="0">
                <a:sym typeface="Huawei Sans" panose="020C0503030203020204" pitchFamily="34" charset="0"/>
              </a:rPr>
              <a:t>P2</a:t>
            </a:r>
            <a:r>
              <a:rPr lang="zh-CN" altLang="en-US" sz="1600" dirty="0">
                <a:sym typeface="Huawei Sans" panose="020C0503030203020204" pitchFamily="34" charset="0"/>
              </a:rPr>
              <a:t>最后到</a:t>
            </a:r>
            <a:r>
              <a:rPr lang="en-US" altLang="zh-CN" sz="1600" dirty="0">
                <a:sym typeface="Huawei Sans" panose="020C0503030203020204" pitchFamily="34" charset="0"/>
              </a:rPr>
              <a:t>PE2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45" name="直接连接符 44"/>
          <p:cNvCxnSpPr>
            <a:stCxn id="49" idx="1"/>
            <a:endCxn id="53" idx="1"/>
          </p:cNvCxnSpPr>
          <p:nvPr/>
        </p:nvCxnSpPr>
        <p:spPr bwMode="gray">
          <a:xfrm>
            <a:off x="4095844" y="4044248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50" idx="1"/>
            <a:endCxn id="54" idx="1"/>
          </p:cNvCxnSpPr>
          <p:nvPr/>
        </p:nvCxnSpPr>
        <p:spPr bwMode="gray">
          <a:xfrm>
            <a:off x="4095844" y="5519330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>
            <a:endCxn id="50" idx="1"/>
          </p:cNvCxnSpPr>
          <p:nvPr/>
        </p:nvCxnSpPr>
        <p:spPr bwMode="gray">
          <a:xfrm>
            <a:off x="2753318" y="4781789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endCxn id="49" idx="1"/>
          </p:cNvCxnSpPr>
          <p:nvPr/>
        </p:nvCxnSpPr>
        <p:spPr bwMode="gray">
          <a:xfrm flipV="1">
            <a:off x="2753318" y="4044248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3822848"/>
            <a:ext cx="540000" cy="442800"/>
          </a:xfrm>
          <a:prstGeom prst="rect">
            <a:avLst/>
          </a:prstGeom>
        </p:spPr>
      </p:pic>
      <p:pic>
        <p:nvPicPr>
          <p:cNvPr id="50" name="图片 4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5297930"/>
            <a:ext cx="540000" cy="442800"/>
          </a:xfrm>
          <a:prstGeom prst="rect">
            <a:avLst/>
          </a:prstGeom>
        </p:spPr>
      </p:pic>
      <p:pic>
        <p:nvPicPr>
          <p:cNvPr id="51" name="图片 5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3822848"/>
            <a:ext cx="540000" cy="442800"/>
          </a:xfrm>
          <a:prstGeom prst="rect">
            <a:avLst/>
          </a:prstGeom>
        </p:spPr>
      </p:pic>
      <p:pic>
        <p:nvPicPr>
          <p:cNvPr id="52" name="图片 5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5297930"/>
            <a:ext cx="540000" cy="442800"/>
          </a:xfrm>
          <a:prstGeom prst="rect">
            <a:avLst/>
          </a:prstGeom>
        </p:spPr>
      </p:pic>
      <p:pic>
        <p:nvPicPr>
          <p:cNvPr id="53" name="图片 5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3822848"/>
            <a:ext cx="540000" cy="442800"/>
          </a:xfrm>
          <a:prstGeom prst="rect">
            <a:avLst/>
          </a:prstGeom>
        </p:spPr>
      </p:pic>
      <p:pic>
        <p:nvPicPr>
          <p:cNvPr id="54" name="图片 5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5297930"/>
            <a:ext cx="540000" cy="442800"/>
          </a:xfrm>
          <a:prstGeom prst="rect">
            <a:avLst/>
          </a:prstGeom>
        </p:spPr>
      </p:pic>
      <p:pic>
        <p:nvPicPr>
          <p:cNvPr id="55" name="图片 5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502546" y="4560389"/>
            <a:ext cx="540000" cy="442800"/>
          </a:xfrm>
          <a:prstGeom prst="rect">
            <a:avLst/>
          </a:prstGeom>
        </p:spPr>
      </p:pic>
      <p:cxnSp>
        <p:nvCxnSpPr>
          <p:cNvPr id="56" name="直接连接符 55"/>
          <p:cNvCxnSpPr>
            <a:stCxn id="49" idx="2"/>
            <a:endCxn id="50" idx="0"/>
          </p:cNvCxnSpPr>
          <p:nvPr/>
        </p:nvCxnSpPr>
        <p:spPr bwMode="gray">
          <a:xfrm>
            <a:off x="4365844" y="42656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 bwMode="gray">
          <a:xfrm>
            <a:off x="6310391" y="42656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 bwMode="gray">
          <a:xfrm>
            <a:off x="8254938" y="42656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 bwMode="gray">
          <a:xfrm>
            <a:off x="2518032" y="5003189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4424470" y="426994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 bwMode="gray">
          <a:xfrm>
            <a:off x="4150679" y="57473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 bwMode="gray">
          <a:xfrm>
            <a:off x="6080485" y="57473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 bwMode="gray">
          <a:xfrm>
            <a:off x="6355250" y="424848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 bwMode="gray">
          <a:xfrm>
            <a:off x="8230138" y="424848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 bwMode="gray">
          <a:xfrm>
            <a:off x="2401095" y="4332535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16001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 bwMode="gray">
          <a:xfrm>
            <a:off x="3966505" y="3620047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16002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文本框 66"/>
          <p:cNvSpPr txBox="1"/>
          <p:nvPr/>
        </p:nvSpPr>
        <p:spPr bwMode="gray">
          <a:xfrm>
            <a:off x="5889813" y="3620047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16004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 bwMode="gray">
          <a:xfrm>
            <a:off x="7895982" y="3620047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16006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3966505" y="5076531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16003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5889813" y="5076531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16005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8080156" y="57473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7895982" y="5076531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16007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对话气泡: 圆角矩形 85"/>
          <p:cNvSpPr/>
          <p:nvPr/>
        </p:nvSpPr>
        <p:spPr bwMode="gray">
          <a:xfrm>
            <a:off x="3966506" y="3035193"/>
            <a:ext cx="931260" cy="380351"/>
          </a:xfrm>
          <a:prstGeom prst="wedgeRoundRectCallou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8" name="直接箭头连接符 87"/>
          <p:cNvCxnSpPr/>
          <p:nvPr/>
        </p:nvCxnSpPr>
        <p:spPr bwMode="gray">
          <a:xfrm>
            <a:off x="4074479" y="4357935"/>
            <a:ext cx="0" cy="393307"/>
          </a:xfrm>
          <a:prstGeom prst="straightConnector1">
            <a:avLst/>
          </a:prstGeom>
          <a:noFill/>
          <a:ln w="38100">
            <a:solidFill>
              <a:srgbClr val="ED6D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直接箭头连接符 88"/>
          <p:cNvCxnSpPr/>
          <p:nvPr/>
        </p:nvCxnSpPr>
        <p:spPr bwMode="gray">
          <a:xfrm flipV="1">
            <a:off x="4708695" y="4671089"/>
            <a:ext cx="0" cy="332101"/>
          </a:xfrm>
          <a:prstGeom prst="straightConnector1">
            <a:avLst/>
          </a:prstGeom>
          <a:noFill/>
          <a:ln w="38100">
            <a:solidFill>
              <a:srgbClr val="30B5C5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文本框 43"/>
          <p:cNvSpPr txBox="1"/>
          <p:nvPr/>
        </p:nvSpPr>
        <p:spPr bwMode="gray">
          <a:xfrm>
            <a:off x="4794799" y="4945066"/>
            <a:ext cx="816624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已收敛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4792717" y="4128056"/>
            <a:ext cx="816624" cy="307777"/>
          </a:xfrm>
          <a:prstGeom prst="rect">
            <a:avLst/>
          </a:prstGeom>
          <a:solidFill>
            <a:srgbClr val="ED6D00"/>
          </a:solidFill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未收敛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任意多边形: 形状 80"/>
          <p:cNvSpPr/>
          <p:nvPr/>
        </p:nvSpPr>
        <p:spPr bwMode="gray">
          <a:xfrm>
            <a:off x="2961854" y="4235005"/>
            <a:ext cx="1597497" cy="981674"/>
          </a:xfrm>
          <a:custGeom>
            <a:avLst/>
            <a:gdLst>
              <a:gd name="connsiteX0" fmla="*/ 0 w 5367725"/>
              <a:gd name="connsiteY0" fmla="*/ 601663 h 1171944"/>
              <a:gd name="connsiteX1" fmla="*/ 1187532 w 5367725"/>
              <a:gd name="connsiteY1" fmla="*/ 7897 h 1171944"/>
              <a:gd name="connsiteX2" fmla="*/ 1650670 w 5367725"/>
              <a:gd name="connsiteY2" fmla="*/ 981674 h 1171944"/>
              <a:gd name="connsiteX3" fmla="*/ 4750130 w 5367725"/>
              <a:gd name="connsiteY3" fmla="*/ 1100427 h 1171944"/>
              <a:gd name="connsiteX4" fmla="*/ 5367647 w 5367725"/>
              <a:gd name="connsiteY4" fmla="*/ 150401 h 1171944"/>
              <a:gd name="connsiteX0-1" fmla="*/ 0 w 4750130"/>
              <a:gd name="connsiteY0-2" fmla="*/ 601663 h 1171944"/>
              <a:gd name="connsiteX1-3" fmla="*/ 1187532 w 4750130"/>
              <a:gd name="connsiteY1-4" fmla="*/ 7897 h 1171944"/>
              <a:gd name="connsiteX2-5" fmla="*/ 1650670 w 4750130"/>
              <a:gd name="connsiteY2-6" fmla="*/ 981674 h 1171944"/>
              <a:gd name="connsiteX3-7" fmla="*/ 4750130 w 4750130"/>
              <a:gd name="connsiteY3-8" fmla="*/ 1100427 h 1171944"/>
              <a:gd name="connsiteX0-9" fmla="*/ 0 w 1650670"/>
              <a:gd name="connsiteY0-10" fmla="*/ 601663 h 981674"/>
              <a:gd name="connsiteX1-11" fmla="*/ 1187532 w 1650670"/>
              <a:gd name="connsiteY1-12" fmla="*/ 7897 h 981674"/>
              <a:gd name="connsiteX2-13" fmla="*/ 1650670 w 1650670"/>
              <a:gd name="connsiteY2-14" fmla="*/ 981674 h 9816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650670" h="981674">
                <a:moveTo>
                  <a:pt x="0" y="601663"/>
                </a:moveTo>
                <a:cubicBezTo>
                  <a:pt x="456210" y="273112"/>
                  <a:pt x="912420" y="-55438"/>
                  <a:pt x="1187532" y="7897"/>
                </a:cubicBezTo>
                <a:cubicBezTo>
                  <a:pt x="1462644" y="71232"/>
                  <a:pt x="1056904" y="799586"/>
                  <a:pt x="1650670" y="981674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文本框 81"/>
          <p:cNvSpPr txBox="1"/>
          <p:nvPr/>
        </p:nvSpPr>
        <p:spPr bwMode="gray">
          <a:xfrm>
            <a:off x="4886729" y="3767710"/>
            <a:ext cx="803425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16024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 bwMode="gray">
          <a:xfrm>
            <a:off x="5043721" y="2779493"/>
            <a:ext cx="4161292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[P3]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isis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[P3-isis-1] avoid-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microloop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frr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-protected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任意多边形: 形状 8"/>
          <p:cNvSpPr/>
          <p:nvPr/>
        </p:nvSpPr>
        <p:spPr bwMode="gray">
          <a:xfrm>
            <a:off x="4551143" y="3986670"/>
            <a:ext cx="3335470" cy="318751"/>
          </a:xfrm>
          <a:custGeom>
            <a:avLst/>
            <a:gdLst>
              <a:gd name="connsiteX0" fmla="*/ 71570 w 3335470"/>
              <a:gd name="connsiteY0" fmla="*/ 318751 h 318751"/>
              <a:gd name="connsiteX1" fmla="*/ 223970 w 3335470"/>
              <a:gd name="connsiteY1" fmla="*/ 115551 h 318751"/>
              <a:gd name="connsiteX2" fmla="*/ 1938470 w 3335470"/>
              <a:gd name="connsiteY2" fmla="*/ 1251 h 318751"/>
              <a:gd name="connsiteX3" fmla="*/ 3335470 w 3335470"/>
              <a:gd name="connsiteY3" fmla="*/ 64751 h 318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5470" h="318751">
                <a:moveTo>
                  <a:pt x="71570" y="318751"/>
                </a:moveTo>
                <a:cubicBezTo>
                  <a:pt x="-7805" y="243609"/>
                  <a:pt x="-87180" y="168468"/>
                  <a:pt x="223970" y="115551"/>
                </a:cubicBezTo>
                <a:cubicBezTo>
                  <a:pt x="535120" y="62634"/>
                  <a:pt x="1419887" y="9718"/>
                  <a:pt x="1938470" y="1251"/>
                </a:cubicBezTo>
                <a:cubicBezTo>
                  <a:pt x="2457053" y="-7216"/>
                  <a:pt x="2896261" y="28767"/>
                  <a:pt x="3335470" y="64751"/>
                </a:cubicBezTo>
              </a:path>
            </a:pathLst>
          </a:custGeom>
          <a:noFill/>
          <a:ln w="38100">
            <a:solidFill>
              <a:srgbClr val="30B5C5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/>
          <p:cNvSpPr/>
          <p:nvPr/>
        </p:nvSpPr>
        <p:spPr bwMode="gray">
          <a:xfrm>
            <a:off x="2040712" y="3088024"/>
            <a:ext cx="6938187" cy="2997843"/>
          </a:xfrm>
          <a:prstGeom prst="roundRect">
            <a:avLst/>
          </a:prstGeom>
          <a:solidFill>
            <a:srgbClr val="BEE9E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SR</a:t>
            </a:r>
            <a:r>
              <a:rPr lang="zh-CN" altLang="en-US">
                <a:sym typeface="Huawei Sans" panose="020C0503030203020204" pitchFamily="34" charset="0"/>
              </a:rPr>
              <a:t>远端防微环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在</a:t>
            </a:r>
            <a:r>
              <a:rPr lang="zh-CN" altLang="en-US" sz="1600" dirty="0">
                <a:highlight>
                  <a:srgbClr val="FFFF00"/>
                </a:highlight>
                <a:sym typeface="Huawei Sans" panose="020C0503030203020204" pitchFamily="34" charset="0"/>
              </a:rPr>
              <a:t>路径切换过程</a:t>
            </a:r>
            <a:r>
              <a:rPr lang="zh-CN" altLang="en-US" sz="1600" dirty="0">
                <a:sym typeface="Huawei Sans" panose="020C0503030203020204" pitchFamily="34" charset="0"/>
              </a:rPr>
              <a:t>中，不仅可能导致本地微环，也可能引起远端节点之间形成环路，即远端微环。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如图</a:t>
            </a:r>
            <a:r>
              <a:rPr lang="en-US" altLang="zh-CN" sz="1600" dirty="0">
                <a:sym typeface="Huawei Sans" panose="020C0503030203020204" pitchFamily="34" charset="0"/>
              </a:rPr>
              <a:t>PE2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PE3</a:t>
            </a:r>
            <a:r>
              <a:rPr lang="zh-CN" altLang="en-US" sz="1600" dirty="0">
                <a:sym typeface="Huawei Sans" panose="020C0503030203020204" pitchFamily="34" charset="0"/>
              </a:rPr>
              <a:t>之间链路故障，如果</a:t>
            </a:r>
            <a:r>
              <a:rPr lang="en-US" altLang="zh-CN" sz="1600" dirty="0">
                <a:sym typeface="Huawei Sans" panose="020C0503030203020204" pitchFamily="34" charset="0"/>
              </a:rPr>
              <a:t>P2</a:t>
            </a:r>
            <a:r>
              <a:rPr lang="zh-CN" altLang="en-US" sz="1600" dirty="0">
                <a:sym typeface="Huawei Sans" panose="020C0503030203020204" pitchFamily="34" charset="0"/>
              </a:rPr>
              <a:t>率先完成收敛而</a:t>
            </a:r>
            <a:r>
              <a:rPr lang="en-US" altLang="zh-CN" sz="1600" dirty="0">
                <a:sym typeface="Huawei Sans" panose="020C0503030203020204" pitchFamily="34" charset="0"/>
              </a:rPr>
              <a:t>P1</a:t>
            </a:r>
            <a:r>
              <a:rPr lang="zh-CN" altLang="en-US" sz="1600" dirty="0">
                <a:sym typeface="Huawei Sans" panose="020C0503030203020204" pitchFamily="34" charset="0"/>
              </a:rPr>
              <a:t>未完成收敛，报文在</a:t>
            </a:r>
            <a:r>
              <a:rPr lang="en-US" altLang="zh-CN" sz="1600" dirty="0">
                <a:sym typeface="Huawei Sans" panose="020C0503030203020204" pitchFamily="34" charset="0"/>
              </a:rPr>
              <a:t>P1-P2</a:t>
            </a:r>
            <a:r>
              <a:rPr lang="zh-CN" altLang="en-US" sz="1600" dirty="0">
                <a:sym typeface="Huawei Sans" panose="020C0503030203020204" pitchFamily="34" charset="0"/>
              </a:rPr>
              <a:t>间将形成环路。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使能远端防微环后，</a:t>
            </a:r>
            <a:r>
              <a:rPr lang="en-US" altLang="zh-CN" sz="1600" dirty="0">
                <a:sym typeface="Huawei Sans" panose="020C0503030203020204" pitchFamily="34" charset="0"/>
              </a:rPr>
              <a:t>P2</a:t>
            </a:r>
            <a:r>
              <a:rPr lang="zh-CN" altLang="en-US" sz="1600" dirty="0">
                <a:sym typeface="Huawei Sans" panose="020C0503030203020204" pitchFamily="34" charset="0"/>
              </a:rPr>
              <a:t>收敛后针对访问</a:t>
            </a:r>
            <a:r>
              <a:rPr lang="en-US" altLang="zh-CN" sz="1600" dirty="0">
                <a:sym typeface="Huawei Sans" panose="020C0503030203020204" pitchFamily="34" charset="0"/>
              </a:rPr>
              <a:t>PE3</a:t>
            </a:r>
            <a:r>
              <a:rPr lang="zh-CN" altLang="en-US" sz="1600" dirty="0">
                <a:sym typeface="Huawei Sans" panose="020C0503030203020204" pitchFamily="34" charset="0"/>
              </a:rPr>
              <a:t>的报文计算防微环</a:t>
            </a:r>
            <a:r>
              <a:rPr lang="en-US" altLang="zh-CN" sz="1600" dirty="0">
                <a:sym typeface="Huawei Sans" panose="020C0503030203020204" pitchFamily="34" charset="0"/>
              </a:rPr>
              <a:t>Segment </a:t>
            </a:r>
            <a:r>
              <a:rPr lang="en-US" altLang="zh-CN" sz="1600" dirty="0">
                <a:solidFill>
                  <a:srgbClr val="C7000B"/>
                </a:solidFill>
                <a:sym typeface="Huawei Sans" panose="020C0503030203020204" pitchFamily="34" charset="0"/>
              </a:rPr>
              <a:t>List &lt;16003,16037&gt;</a:t>
            </a:r>
            <a:r>
              <a:rPr lang="zh-CN" altLang="en-US" sz="1600" dirty="0">
                <a:sym typeface="Huawei Sans" panose="020C0503030203020204" pitchFamily="34" charset="0"/>
              </a:rPr>
              <a:t>。此时即使</a:t>
            </a:r>
            <a:r>
              <a:rPr lang="en-US" altLang="zh-CN" sz="1600" dirty="0">
                <a:sym typeface="Huawei Sans" panose="020C0503030203020204" pitchFamily="34" charset="0"/>
              </a:rPr>
              <a:t>P1</a:t>
            </a:r>
            <a:r>
              <a:rPr lang="zh-CN" altLang="en-US" sz="1600" dirty="0">
                <a:sym typeface="Huawei Sans" panose="020C0503030203020204" pitchFamily="34" charset="0"/>
              </a:rPr>
              <a:t>为未完成收敛，依然会将流量从</a:t>
            </a:r>
            <a:r>
              <a:rPr lang="en-US" altLang="zh-CN" sz="1600" dirty="0">
                <a:sym typeface="Huawei Sans" panose="020C0503030203020204" pitchFamily="34" charset="0"/>
              </a:rPr>
              <a:t>P3</a:t>
            </a:r>
            <a:r>
              <a:rPr lang="zh-CN" altLang="en-US" sz="1600" dirty="0">
                <a:sym typeface="Huawei Sans" panose="020C0503030203020204" pitchFamily="34" charset="0"/>
              </a:rPr>
              <a:t>转发到</a:t>
            </a:r>
            <a:r>
              <a:rPr lang="en-US" altLang="zh-CN" sz="1600" dirty="0">
                <a:sym typeface="Huawei Sans" panose="020C0503030203020204" pitchFamily="34" charset="0"/>
              </a:rPr>
              <a:t>PE3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45" name="直接连接符 44"/>
          <p:cNvCxnSpPr>
            <a:stCxn id="49" idx="1"/>
            <a:endCxn id="53" idx="1"/>
          </p:cNvCxnSpPr>
          <p:nvPr/>
        </p:nvCxnSpPr>
        <p:spPr bwMode="gray">
          <a:xfrm>
            <a:off x="4095844" y="4044248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50" idx="1"/>
            <a:endCxn id="54" idx="1"/>
          </p:cNvCxnSpPr>
          <p:nvPr/>
        </p:nvCxnSpPr>
        <p:spPr bwMode="gray">
          <a:xfrm>
            <a:off x="4095844" y="5519330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>
            <a:endCxn id="50" idx="1"/>
          </p:cNvCxnSpPr>
          <p:nvPr/>
        </p:nvCxnSpPr>
        <p:spPr bwMode="gray">
          <a:xfrm>
            <a:off x="2753318" y="4781789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endCxn id="49" idx="1"/>
          </p:cNvCxnSpPr>
          <p:nvPr/>
        </p:nvCxnSpPr>
        <p:spPr bwMode="gray">
          <a:xfrm flipV="1">
            <a:off x="2753318" y="4044248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3822848"/>
            <a:ext cx="540000" cy="442800"/>
          </a:xfrm>
          <a:prstGeom prst="rect">
            <a:avLst/>
          </a:prstGeom>
        </p:spPr>
      </p:pic>
      <p:pic>
        <p:nvPicPr>
          <p:cNvPr id="50" name="图片 4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5297930"/>
            <a:ext cx="540000" cy="442800"/>
          </a:xfrm>
          <a:prstGeom prst="rect">
            <a:avLst/>
          </a:prstGeom>
        </p:spPr>
      </p:pic>
      <p:pic>
        <p:nvPicPr>
          <p:cNvPr id="51" name="图片 5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3822848"/>
            <a:ext cx="540000" cy="442800"/>
          </a:xfrm>
          <a:prstGeom prst="rect">
            <a:avLst/>
          </a:prstGeom>
        </p:spPr>
      </p:pic>
      <p:pic>
        <p:nvPicPr>
          <p:cNvPr id="53" name="图片 5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3822848"/>
            <a:ext cx="540000" cy="442800"/>
          </a:xfrm>
          <a:prstGeom prst="rect">
            <a:avLst/>
          </a:prstGeom>
        </p:spPr>
      </p:pic>
      <p:pic>
        <p:nvPicPr>
          <p:cNvPr id="54" name="图片 5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5297930"/>
            <a:ext cx="540000" cy="442800"/>
          </a:xfrm>
          <a:prstGeom prst="rect">
            <a:avLst/>
          </a:prstGeom>
        </p:spPr>
      </p:pic>
      <p:pic>
        <p:nvPicPr>
          <p:cNvPr id="55" name="图片 5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502546" y="4560389"/>
            <a:ext cx="540000" cy="442800"/>
          </a:xfrm>
          <a:prstGeom prst="rect">
            <a:avLst/>
          </a:prstGeom>
        </p:spPr>
      </p:pic>
      <p:cxnSp>
        <p:nvCxnSpPr>
          <p:cNvPr id="56" name="直接连接符 55"/>
          <p:cNvCxnSpPr>
            <a:stCxn id="49" idx="2"/>
            <a:endCxn id="50" idx="0"/>
          </p:cNvCxnSpPr>
          <p:nvPr/>
        </p:nvCxnSpPr>
        <p:spPr bwMode="gray">
          <a:xfrm>
            <a:off x="4365844" y="42656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 bwMode="gray">
          <a:xfrm>
            <a:off x="8254938" y="42656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 bwMode="gray">
          <a:xfrm>
            <a:off x="2518032" y="5003189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4424470" y="426994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 bwMode="gray">
          <a:xfrm>
            <a:off x="4150679" y="57473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 bwMode="gray">
          <a:xfrm>
            <a:off x="6355250" y="424848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 bwMode="gray">
          <a:xfrm>
            <a:off x="8230138" y="424848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 bwMode="gray">
          <a:xfrm>
            <a:off x="2401095" y="4332535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16001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 bwMode="gray">
          <a:xfrm>
            <a:off x="3966505" y="3620047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16002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文本框 66"/>
          <p:cNvSpPr txBox="1"/>
          <p:nvPr/>
        </p:nvSpPr>
        <p:spPr bwMode="gray">
          <a:xfrm>
            <a:off x="5889813" y="3620047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16004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 bwMode="gray">
          <a:xfrm>
            <a:off x="7895982" y="3620047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16006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3966505" y="5076531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16003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8080156" y="57473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7895982" y="5076531"/>
            <a:ext cx="803425" cy="338554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16007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6" name="组合 75"/>
          <p:cNvGrpSpPr/>
          <p:nvPr/>
        </p:nvGrpSpPr>
        <p:grpSpPr bwMode="gray">
          <a:xfrm>
            <a:off x="8131182" y="4527089"/>
            <a:ext cx="288000" cy="288000"/>
            <a:chOff x="856677" y="2615810"/>
            <a:chExt cx="288000" cy="288000"/>
          </a:xfrm>
        </p:grpSpPr>
        <p:sp>
          <p:nvSpPr>
            <p:cNvPr id="77" name="椭圆 76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78" name="组合 77"/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79" name="直接连接符 78"/>
              <p:cNvCxnSpPr>
                <a:stCxn id="77" idx="3"/>
                <a:endCxn id="77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>
                <a:stCxn id="77" idx="1"/>
                <a:endCxn id="77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4" name="任意多边形: 形状 83"/>
          <p:cNvSpPr/>
          <p:nvPr/>
        </p:nvSpPr>
        <p:spPr bwMode="gray">
          <a:xfrm>
            <a:off x="2861139" y="3874572"/>
            <a:ext cx="5270043" cy="1164620"/>
          </a:xfrm>
          <a:custGeom>
            <a:avLst/>
            <a:gdLst>
              <a:gd name="connsiteX0" fmla="*/ 0 w 5046562"/>
              <a:gd name="connsiteY0" fmla="*/ 810255 h 810255"/>
              <a:gd name="connsiteX1" fmla="*/ 787079 w 5046562"/>
              <a:gd name="connsiteY1" fmla="*/ 405141 h 810255"/>
              <a:gd name="connsiteX2" fmla="*/ 1458410 w 5046562"/>
              <a:gd name="connsiteY2" fmla="*/ 81050 h 810255"/>
              <a:gd name="connsiteX3" fmla="*/ 2164466 w 5046562"/>
              <a:gd name="connsiteY3" fmla="*/ 115774 h 810255"/>
              <a:gd name="connsiteX4" fmla="*/ 3125165 w 5046562"/>
              <a:gd name="connsiteY4" fmla="*/ 115774 h 810255"/>
              <a:gd name="connsiteX5" fmla="*/ 3692324 w 5046562"/>
              <a:gd name="connsiteY5" fmla="*/ 27 h 810255"/>
              <a:gd name="connsiteX6" fmla="*/ 5046562 w 5046562"/>
              <a:gd name="connsiteY6" fmla="*/ 104199 h 810255"/>
              <a:gd name="connsiteX0-1" fmla="*/ 0 w 5189151"/>
              <a:gd name="connsiteY0-2" fmla="*/ 810232 h 810232"/>
              <a:gd name="connsiteX1-3" fmla="*/ 787079 w 5189151"/>
              <a:gd name="connsiteY1-4" fmla="*/ 405118 h 810232"/>
              <a:gd name="connsiteX2-5" fmla="*/ 1458410 w 5189151"/>
              <a:gd name="connsiteY2-6" fmla="*/ 81027 h 810232"/>
              <a:gd name="connsiteX3-7" fmla="*/ 2164466 w 5189151"/>
              <a:gd name="connsiteY3-8" fmla="*/ 115751 h 810232"/>
              <a:gd name="connsiteX4-9" fmla="*/ 3125165 w 5189151"/>
              <a:gd name="connsiteY4-10" fmla="*/ 115751 h 810232"/>
              <a:gd name="connsiteX5-11" fmla="*/ 3692324 w 5189151"/>
              <a:gd name="connsiteY5-12" fmla="*/ 4 h 810232"/>
              <a:gd name="connsiteX6-13" fmla="*/ 5189151 w 5189151"/>
              <a:gd name="connsiteY6-14" fmla="*/ 722079 h 810232"/>
              <a:gd name="connsiteX0-15" fmla="*/ 0 w 5189151"/>
              <a:gd name="connsiteY0-16" fmla="*/ 816793 h 816793"/>
              <a:gd name="connsiteX1-17" fmla="*/ 787079 w 5189151"/>
              <a:gd name="connsiteY1-18" fmla="*/ 411679 h 816793"/>
              <a:gd name="connsiteX2-19" fmla="*/ 1458410 w 5189151"/>
              <a:gd name="connsiteY2-20" fmla="*/ 87588 h 816793"/>
              <a:gd name="connsiteX3-21" fmla="*/ 2164466 w 5189151"/>
              <a:gd name="connsiteY3-22" fmla="*/ 122312 h 816793"/>
              <a:gd name="connsiteX4-23" fmla="*/ 3125165 w 5189151"/>
              <a:gd name="connsiteY4-24" fmla="*/ 122312 h 816793"/>
              <a:gd name="connsiteX5-25" fmla="*/ 3692324 w 5189151"/>
              <a:gd name="connsiteY5-26" fmla="*/ 6565 h 816793"/>
              <a:gd name="connsiteX6-27" fmla="*/ 4416852 w 5189151"/>
              <a:gd name="connsiteY6-28" fmla="*/ 346816 h 816793"/>
              <a:gd name="connsiteX7" fmla="*/ 5189151 w 5189151"/>
              <a:gd name="connsiteY7" fmla="*/ 728640 h 816793"/>
              <a:gd name="connsiteX0-29" fmla="*/ 0 w 5189151"/>
              <a:gd name="connsiteY0-30" fmla="*/ 816793 h 816793"/>
              <a:gd name="connsiteX1-31" fmla="*/ 787079 w 5189151"/>
              <a:gd name="connsiteY1-32" fmla="*/ 411679 h 816793"/>
              <a:gd name="connsiteX2-33" fmla="*/ 1458410 w 5189151"/>
              <a:gd name="connsiteY2-34" fmla="*/ 87588 h 816793"/>
              <a:gd name="connsiteX3-35" fmla="*/ 2164466 w 5189151"/>
              <a:gd name="connsiteY3-36" fmla="*/ 122312 h 816793"/>
              <a:gd name="connsiteX4-37" fmla="*/ 3125165 w 5189151"/>
              <a:gd name="connsiteY4-38" fmla="*/ 122312 h 816793"/>
              <a:gd name="connsiteX5-39" fmla="*/ 3692324 w 5189151"/>
              <a:gd name="connsiteY5-40" fmla="*/ 6565 h 816793"/>
              <a:gd name="connsiteX6-41" fmla="*/ 4915914 w 5189151"/>
              <a:gd name="connsiteY6-42" fmla="*/ 144399 h 816793"/>
              <a:gd name="connsiteX7-43" fmla="*/ 5189151 w 5189151"/>
              <a:gd name="connsiteY7-44" fmla="*/ 728640 h 816793"/>
              <a:gd name="connsiteX0-45" fmla="*/ 0 w 5189151"/>
              <a:gd name="connsiteY0-46" fmla="*/ 816793 h 816793"/>
              <a:gd name="connsiteX1-47" fmla="*/ 787079 w 5189151"/>
              <a:gd name="connsiteY1-48" fmla="*/ 411679 h 816793"/>
              <a:gd name="connsiteX2-49" fmla="*/ 1458410 w 5189151"/>
              <a:gd name="connsiteY2-50" fmla="*/ 87588 h 816793"/>
              <a:gd name="connsiteX3-51" fmla="*/ 2164466 w 5189151"/>
              <a:gd name="connsiteY3-52" fmla="*/ 122312 h 816793"/>
              <a:gd name="connsiteX4-53" fmla="*/ 3125165 w 5189151"/>
              <a:gd name="connsiteY4-54" fmla="*/ 122312 h 816793"/>
              <a:gd name="connsiteX5-55" fmla="*/ 3692324 w 5189151"/>
              <a:gd name="connsiteY5-56" fmla="*/ 6565 h 816793"/>
              <a:gd name="connsiteX6-57" fmla="*/ 4785208 w 5189151"/>
              <a:gd name="connsiteY6-58" fmla="*/ 155053 h 816793"/>
              <a:gd name="connsiteX7-59" fmla="*/ 5189151 w 5189151"/>
              <a:gd name="connsiteY7-60" fmla="*/ 728640 h 816793"/>
              <a:gd name="connsiteX0-61" fmla="*/ 0 w 5082209"/>
              <a:gd name="connsiteY0-62" fmla="*/ 816793 h 1144126"/>
              <a:gd name="connsiteX1-63" fmla="*/ 787079 w 5082209"/>
              <a:gd name="connsiteY1-64" fmla="*/ 411679 h 1144126"/>
              <a:gd name="connsiteX2-65" fmla="*/ 1458410 w 5082209"/>
              <a:gd name="connsiteY2-66" fmla="*/ 87588 h 1144126"/>
              <a:gd name="connsiteX3-67" fmla="*/ 2164466 w 5082209"/>
              <a:gd name="connsiteY3-68" fmla="*/ 122312 h 1144126"/>
              <a:gd name="connsiteX4-69" fmla="*/ 3125165 w 5082209"/>
              <a:gd name="connsiteY4-70" fmla="*/ 122312 h 1144126"/>
              <a:gd name="connsiteX5-71" fmla="*/ 3692324 w 5082209"/>
              <a:gd name="connsiteY5-72" fmla="*/ 6565 h 1144126"/>
              <a:gd name="connsiteX6-73" fmla="*/ 4785208 w 5082209"/>
              <a:gd name="connsiteY6-74" fmla="*/ 155053 h 1144126"/>
              <a:gd name="connsiteX7-75" fmla="*/ 5082209 w 5082209"/>
              <a:gd name="connsiteY7-76" fmla="*/ 1144126 h 1144126"/>
              <a:gd name="connsiteX0-77" fmla="*/ 0 w 5082209"/>
              <a:gd name="connsiteY0-78" fmla="*/ 816793 h 1144126"/>
              <a:gd name="connsiteX1-79" fmla="*/ 787079 w 5082209"/>
              <a:gd name="connsiteY1-80" fmla="*/ 411679 h 1144126"/>
              <a:gd name="connsiteX2-81" fmla="*/ 1458410 w 5082209"/>
              <a:gd name="connsiteY2-82" fmla="*/ 87588 h 1144126"/>
              <a:gd name="connsiteX3-83" fmla="*/ 2164466 w 5082209"/>
              <a:gd name="connsiteY3-84" fmla="*/ 122312 h 1144126"/>
              <a:gd name="connsiteX4-85" fmla="*/ 3125165 w 5082209"/>
              <a:gd name="connsiteY4-86" fmla="*/ 122312 h 1144126"/>
              <a:gd name="connsiteX5-87" fmla="*/ 3692324 w 5082209"/>
              <a:gd name="connsiteY5-88" fmla="*/ 6565 h 1144126"/>
              <a:gd name="connsiteX6-89" fmla="*/ 4785208 w 5082209"/>
              <a:gd name="connsiteY6-90" fmla="*/ 155053 h 1144126"/>
              <a:gd name="connsiteX7-91" fmla="*/ 5082209 w 5082209"/>
              <a:gd name="connsiteY7-92" fmla="*/ 1144126 h 11441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43" y="connsiteY7-44"/>
              </a:cxn>
            </a:cxnLst>
            <a:rect l="l" t="t" r="r" b="b"/>
            <a:pathLst>
              <a:path w="5082209" h="1144126">
                <a:moveTo>
                  <a:pt x="0" y="816793"/>
                </a:moveTo>
                <a:lnTo>
                  <a:pt x="787079" y="411679"/>
                </a:lnTo>
                <a:cubicBezTo>
                  <a:pt x="1030147" y="290145"/>
                  <a:pt x="1228846" y="135816"/>
                  <a:pt x="1458410" y="87588"/>
                </a:cubicBezTo>
                <a:cubicBezTo>
                  <a:pt x="1687974" y="39360"/>
                  <a:pt x="1886674" y="116525"/>
                  <a:pt x="2164466" y="122312"/>
                </a:cubicBezTo>
                <a:cubicBezTo>
                  <a:pt x="2442258" y="128099"/>
                  <a:pt x="2870522" y="141603"/>
                  <a:pt x="3125165" y="122312"/>
                </a:cubicBezTo>
                <a:cubicBezTo>
                  <a:pt x="3379808" y="103021"/>
                  <a:pt x="3477043" y="-30852"/>
                  <a:pt x="3692324" y="6565"/>
                </a:cubicBezTo>
                <a:cubicBezTo>
                  <a:pt x="3907605" y="43982"/>
                  <a:pt x="4535737" y="34707"/>
                  <a:pt x="4785208" y="155053"/>
                </a:cubicBezTo>
                <a:cubicBezTo>
                  <a:pt x="5034679" y="275399"/>
                  <a:pt x="5072318" y="931340"/>
                  <a:pt x="5082209" y="1144126"/>
                </a:cubicBezTo>
              </a:path>
            </a:pathLst>
          </a:custGeom>
          <a:noFill/>
          <a:ln w="38100">
            <a:solidFill>
              <a:srgbClr val="FCC8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 bwMode="gray">
          <a:xfrm>
            <a:off x="4926538" y="5297930"/>
            <a:ext cx="803425" cy="33855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16037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任意多边形: 形状 3"/>
          <p:cNvSpPr/>
          <p:nvPr/>
        </p:nvSpPr>
        <p:spPr bwMode="gray">
          <a:xfrm>
            <a:off x="4713232" y="4201209"/>
            <a:ext cx="2792468" cy="1090139"/>
          </a:xfrm>
          <a:custGeom>
            <a:avLst/>
            <a:gdLst>
              <a:gd name="connsiteX0" fmla="*/ 1166868 w 2792468"/>
              <a:gd name="connsiteY0" fmla="*/ 65991 h 954991"/>
              <a:gd name="connsiteX1" fmla="*/ 252468 w 2792468"/>
              <a:gd name="connsiteY1" fmla="*/ 65991 h 954991"/>
              <a:gd name="connsiteX2" fmla="*/ 23868 w 2792468"/>
              <a:gd name="connsiteY2" fmla="*/ 751791 h 954991"/>
              <a:gd name="connsiteX3" fmla="*/ 709668 w 2792468"/>
              <a:gd name="connsiteY3" fmla="*/ 878791 h 954991"/>
              <a:gd name="connsiteX4" fmla="*/ 2792468 w 2792468"/>
              <a:gd name="connsiteY4" fmla="*/ 954991 h 954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2468" h="954991">
                <a:moveTo>
                  <a:pt x="1166868" y="65991"/>
                </a:moveTo>
                <a:cubicBezTo>
                  <a:pt x="804918" y="8841"/>
                  <a:pt x="442968" y="-48309"/>
                  <a:pt x="252468" y="65991"/>
                </a:cubicBezTo>
                <a:cubicBezTo>
                  <a:pt x="61968" y="180291"/>
                  <a:pt x="-52332" y="616324"/>
                  <a:pt x="23868" y="751791"/>
                </a:cubicBezTo>
                <a:cubicBezTo>
                  <a:pt x="100068" y="887258"/>
                  <a:pt x="248235" y="844924"/>
                  <a:pt x="709668" y="878791"/>
                </a:cubicBezTo>
                <a:cubicBezTo>
                  <a:pt x="1171101" y="912658"/>
                  <a:pt x="2424168" y="952874"/>
                  <a:pt x="2792468" y="954991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2070033" y="2781861"/>
            <a:ext cx="4161292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[P2]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isis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[P2-isis-1] avoid-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microloop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segment-routing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小结：</a:t>
            </a:r>
            <a:r>
              <a:rPr lang="en-US" altLang="zh-CN" dirty="0">
                <a:sym typeface="Huawei Sans" panose="020C0503030203020204" pitchFamily="34" charset="0"/>
              </a:rPr>
              <a:t>TI-LFA</a:t>
            </a:r>
            <a:r>
              <a:rPr lang="zh-CN" altLang="en-US" dirty="0">
                <a:sym typeface="Huawei Sans" panose="020C0503030203020204" pitchFamily="34" charset="0"/>
              </a:rPr>
              <a:t>与防微环的对比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 bwMode="gray">
          <a:xfrm>
            <a:off x="1909783" y="1558673"/>
            <a:ext cx="2968388" cy="37996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>
                <a:sym typeface="Huawei Sans" panose="020C0503030203020204" pitchFamily="34" charset="0"/>
              </a:rPr>
              <a:t>TI-LFA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 bwMode="gray">
          <a:xfrm>
            <a:off x="7116783" y="1558673"/>
            <a:ext cx="2968388" cy="37996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>
                <a:sym typeface="Huawei Sans" panose="020C0503030203020204" pitchFamily="34" charset="0"/>
              </a:rPr>
              <a:t>防微环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 bwMode="gray">
          <a:xfrm>
            <a:off x="1040517" y="2552745"/>
            <a:ext cx="4687183" cy="64633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302260" indent="-302260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 marL="654685" indent="-252095" defTabSz="913765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defTabSz="913765" fontAlgn="ctr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540" indent="-198120" defTabSz="913765" fontAlgn="ctr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defTabSz="913765" fontAlgn="ctr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3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6pPr>
            <a:lvl7pPr marL="29705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7pPr>
            <a:lvl8pPr marL="34277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8pPr>
            <a:lvl9pPr marL="38849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9pPr>
          </a:lstStyle>
          <a:p>
            <a:r>
              <a:rPr lang="zh-CN" altLang="en-US">
                <a:sym typeface="Huawei Sans" panose="020C0503030203020204" pitchFamily="34" charset="0"/>
              </a:rPr>
              <a:t>目的：为目的地址在本地计算备份路径</a:t>
            </a:r>
            <a:endParaRPr lang="en-US" altLang="zh-CN">
              <a:sym typeface="Huawei Sans" panose="020C0503030203020204" pitchFamily="34" charset="0"/>
            </a:endParaRPr>
          </a:p>
          <a:p>
            <a:r>
              <a:rPr lang="zh-CN" altLang="en-US">
                <a:sym typeface="Huawei Sans" panose="020C0503030203020204" pitchFamily="34" charset="0"/>
              </a:rPr>
              <a:t>触发条件：</a:t>
            </a:r>
            <a:r>
              <a:rPr lang="zh-CN" altLang="en-US">
                <a:highlight>
                  <a:srgbClr val="FFFF00"/>
                </a:highlight>
                <a:sym typeface="Huawei Sans" panose="020C0503030203020204" pitchFamily="34" charset="0"/>
              </a:rPr>
              <a:t>主路径链路</a:t>
            </a:r>
            <a:r>
              <a:rPr lang="en-US" altLang="zh-CN">
                <a:highlight>
                  <a:srgbClr val="FFFF00"/>
                </a:highlight>
                <a:sym typeface="Huawei Sans" panose="020C0503030203020204" pitchFamily="34" charset="0"/>
              </a:rPr>
              <a:t>/</a:t>
            </a:r>
            <a:r>
              <a:rPr lang="zh-CN" altLang="en-US">
                <a:highlight>
                  <a:srgbClr val="FFFF00"/>
                </a:highlight>
                <a:sym typeface="Huawei Sans" panose="020C0503030203020204" pitchFamily="34" charset="0"/>
              </a:rPr>
              <a:t>节点故障</a:t>
            </a:r>
            <a:endParaRPr lang="zh-CN" altLang="en-US">
              <a:highlight>
                <a:srgbClr val="FFFF00"/>
              </a:highlight>
              <a:sym typeface="Huawei Sans" panose="020C0503030203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 bwMode="gray">
          <a:xfrm>
            <a:off x="6096000" y="2552745"/>
            <a:ext cx="4414029" cy="9705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302260" indent="-302260" defTabSz="913765" fontAlgn="ctr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 marL="654685" indent="-252095" defTabSz="913765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defTabSz="913765" fontAlgn="ctr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540" indent="-198120" defTabSz="913765" fontAlgn="ctr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defTabSz="913765" fontAlgn="ctr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3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6pPr>
            <a:lvl7pPr marL="29705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7pPr>
            <a:lvl8pPr marL="34277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8pPr>
            <a:lvl9pPr marL="38849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9pPr>
          </a:lstStyle>
          <a:p>
            <a:r>
              <a:rPr lang="zh-CN" altLang="en-US">
                <a:sym typeface="Huawei Sans" panose="020C0503030203020204" pitchFamily="34" charset="0"/>
              </a:rPr>
              <a:t>目的：</a:t>
            </a:r>
            <a:r>
              <a:rPr lang="zh-CN" altLang="en-US">
                <a:highlight>
                  <a:srgbClr val="FFFF00"/>
                </a:highlight>
                <a:sym typeface="Huawei Sans" panose="020C0503030203020204" pitchFamily="34" charset="0"/>
              </a:rPr>
              <a:t>防止主路径更新时候的临时环路</a:t>
            </a:r>
            <a:endParaRPr lang="en-US" altLang="zh-CN">
              <a:sym typeface="Huawei Sans" panose="020C0503030203020204" pitchFamily="34" charset="0"/>
            </a:endParaRPr>
          </a:p>
          <a:p>
            <a:r>
              <a:rPr lang="zh-CN" altLang="en-US">
                <a:sym typeface="Huawei Sans" panose="020C0503030203020204" pitchFamily="34" charset="0"/>
              </a:rPr>
              <a:t>触发条件：</a:t>
            </a:r>
            <a:r>
              <a:rPr lang="zh-CN" altLang="en-US">
                <a:highlight>
                  <a:srgbClr val="FFFF00"/>
                </a:highlight>
                <a:sym typeface="Huawei Sans" panose="020C0503030203020204" pitchFamily="34" charset="0"/>
              </a:rPr>
              <a:t>主路径信息更新</a:t>
            </a:r>
            <a:endParaRPr lang="zh-CN" altLang="en-US">
              <a:highlight>
                <a:srgbClr val="FFFF00"/>
              </a:highlight>
              <a:sym typeface="Huawei Sans" panose="020C0503030203020204" pitchFamily="34" charset="0"/>
            </a:endParaRPr>
          </a:p>
        </p:txBody>
      </p:sp>
      <p:sp>
        <p:nvSpPr>
          <p:cNvPr id="15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: 圆角 108"/>
          <p:cNvSpPr/>
          <p:nvPr/>
        </p:nvSpPr>
        <p:spPr bwMode="gray">
          <a:xfrm>
            <a:off x="6128089" y="4244576"/>
            <a:ext cx="1161427" cy="957130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SBFD</a:t>
            </a:r>
            <a:r>
              <a:rPr lang="zh-CN" altLang="en-US">
                <a:sym typeface="Huawei Sans" panose="020C0503030203020204" pitchFamily="34" charset="0"/>
              </a:rPr>
              <a:t>简介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>
                <a:sym typeface="Huawei Sans" panose="020C0503030203020204" pitchFamily="34" charset="0"/>
              </a:rPr>
              <a:t>BFD</a:t>
            </a:r>
            <a:r>
              <a:rPr lang="zh-CN" altLang="en-US" sz="1600">
                <a:sym typeface="Huawei Sans" panose="020C0503030203020204" pitchFamily="34" charset="0"/>
              </a:rPr>
              <a:t>进行大量链路检测时，其状态机的协商时间会变长，不适合</a:t>
            </a:r>
            <a:r>
              <a:rPr lang="en-US" altLang="zh-CN" sz="1600">
                <a:sym typeface="Huawei Sans" panose="020C0503030203020204" pitchFamily="34" charset="0"/>
              </a:rPr>
              <a:t>Segement Routing</a:t>
            </a:r>
            <a:r>
              <a:rPr lang="zh-CN" altLang="en-US" sz="1600">
                <a:sym typeface="Huawei Sans" panose="020C0503030203020204" pitchFamily="34" charset="0"/>
              </a:rPr>
              <a:t>。</a:t>
            </a:r>
            <a:r>
              <a:rPr lang="en-US" altLang="zh-CN" sz="1600">
                <a:sym typeface="Huawei Sans" panose="020C0503030203020204" pitchFamily="34" charset="0"/>
              </a:rPr>
              <a:t>SBFD</a:t>
            </a:r>
            <a:r>
              <a:rPr lang="zh-CN" altLang="en-US" sz="1600">
                <a:sym typeface="Huawei Sans" panose="020C0503030203020204" pitchFamily="34" charset="0"/>
              </a:rPr>
              <a:t>（</a:t>
            </a:r>
            <a:r>
              <a:rPr lang="en-US" altLang="zh-CN" sz="1600">
                <a:sym typeface="Huawei Sans" panose="020C0503030203020204" pitchFamily="34" charset="0"/>
              </a:rPr>
              <a:t>Seamless Bidirectional Forwarding Detection</a:t>
            </a:r>
            <a:r>
              <a:rPr lang="zh-CN" altLang="en-US" sz="1600">
                <a:sym typeface="Huawei Sans" panose="020C0503030203020204" pitchFamily="34" charset="0"/>
              </a:rPr>
              <a:t>）是</a:t>
            </a:r>
            <a:r>
              <a:rPr lang="en-US" altLang="zh-CN" sz="1600">
                <a:sym typeface="Huawei Sans" panose="020C0503030203020204" pitchFamily="34" charset="0"/>
              </a:rPr>
              <a:t>BFD</a:t>
            </a:r>
            <a:r>
              <a:rPr lang="zh-CN" altLang="en-US" sz="1600">
                <a:sym typeface="Huawei Sans" panose="020C0503030203020204" pitchFamily="34" charset="0"/>
              </a:rPr>
              <a:t>的一种简化机制，它简化了</a:t>
            </a:r>
            <a:r>
              <a:rPr lang="en-US" altLang="zh-CN" sz="1600">
                <a:sym typeface="Huawei Sans" panose="020C0503030203020204" pitchFamily="34" charset="0"/>
              </a:rPr>
              <a:t>BFD</a:t>
            </a:r>
            <a:r>
              <a:rPr lang="zh-CN" altLang="en-US" sz="1600">
                <a:sym typeface="Huawei Sans" panose="020C0503030203020204" pitchFamily="34" charset="0"/>
              </a:rPr>
              <a:t>的状态机，缩短了协商时间，提高了整个网络的灵活性，能够支撑</a:t>
            </a:r>
            <a:r>
              <a:rPr lang="en-US" altLang="zh-CN" sz="1600">
                <a:sym typeface="Huawei Sans" panose="020C0503030203020204" pitchFamily="34" charset="0"/>
              </a:rPr>
              <a:t>SR</a:t>
            </a:r>
            <a:r>
              <a:rPr lang="zh-CN" altLang="en-US" sz="1600">
                <a:sym typeface="Huawei Sans" panose="020C0503030203020204" pitchFamily="34" charset="0"/>
              </a:rPr>
              <a:t>隧道检测。</a:t>
            </a:r>
            <a:endParaRPr lang="zh-CN" altLang="en-US" sz="1600">
              <a:sym typeface="Huawei Sans" panose="020C0503030203020204" pitchFamily="34" charset="0"/>
            </a:endParaRPr>
          </a:p>
          <a:p>
            <a:endParaRPr lang="zh-CN" altLang="en-US" sz="1600">
              <a:sym typeface="Huawei Sans" panose="020C0503030203020204" pitchFamily="34" charset="0"/>
            </a:endParaRPr>
          </a:p>
        </p:txBody>
      </p:sp>
      <p:cxnSp>
        <p:nvCxnSpPr>
          <p:cNvPr id="4" name="直接连接符 3"/>
          <p:cNvCxnSpPr>
            <a:stCxn id="5" idx="2"/>
          </p:cNvCxnSpPr>
          <p:nvPr/>
        </p:nvCxnSpPr>
        <p:spPr bwMode="gray">
          <a:xfrm>
            <a:off x="1918598" y="3430923"/>
            <a:ext cx="0" cy="26511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696671" y="3066963"/>
            <a:ext cx="443854" cy="363960"/>
          </a:xfrm>
          <a:prstGeom prst="rect">
            <a:avLst/>
          </a:prstGeom>
        </p:spPr>
      </p:pic>
      <p:cxnSp>
        <p:nvCxnSpPr>
          <p:cNvPr id="8" name="直接连接符 7"/>
          <p:cNvCxnSpPr>
            <a:stCxn id="9" idx="2"/>
          </p:cNvCxnSpPr>
          <p:nvPr/>
        </p:nvCxnSpPr>
        <p:spPr bwMode="gray">
          <a:xfrm>
            <a:off x="4730378" y="3430923"/>
            <a:ext cx="12154" cy="26511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508451" y="3066963"/>
            <a:ext cx="443854" cy="3639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 bwMode="gray">
          <a:xfrm>
            <a:off x="2749214" y="2480764"/>
            <a:ext cx="1052492" cy="3639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sym typeface="Huawei Sans" panose="020C0503030203020204" pitchFamily="34" charset="0"/>
              </a:rPr>
              <a:t>BFD</a:t>
            </a:r>
            <a:r>
              <a:rPr lang="zh-CN" altLang="en-US" dirty="0">
                <a:sym typeface="Huawei Sans" panose="020C0503030203020204" pitchFamily="34" charset="0"/>
              </a:rPr>
              <a:t>协商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 bwMode="gray">
          <a:xfrm>
            <a:off x="1016352" y="3639660"/>
            <a:ext cx="798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Down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783800" y="4305469"/>
            <a:ext cx="1244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Down-&gt; Init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783800" y="5010858"/>
            <a:ext cx="1244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Down-&gt; Up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2" name="直接箭头连接符 51"/>
          <p:cNvCxnSpPr/>
          <p:nvPr/>
        </p:nvCxnSpPr>
        <p:spPr bwMode="gray">
          <a:xfrm>
            <a:off x="1962855" y="3735834"/>
            <a:ext cx="2738591" cy="5573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 bwMode="gray">
          <a:xfrm flipH="1">
            <a:off x="1924975" y="3704705"/>
            <a:ext cx="2700971" cy="6121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 bwMode="gray">
          <a:xfrm>
            <a:off x="4761332" y="3591021"/>
            <a:ext cx="798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Down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文本框 56"/>
          <p:cNvSpPr txBox="1"/>
          <p:nvPr/>
        </p:nvSpPr>
        <p:spPr bwMode="gray">
          <a:xfrm>
            <a:off x="4740998" y="4256828"/>
            <a:ext cx="1244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Down-&gt; Init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4742530" y="4974095"/>
            <a:ext cx="1244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Down-&gt; Up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2" name="直接箭头连接符 61"/>
          <p:cNvCxnSpPr/>
          <p:nvPr/>
        </p:nvCxnSpPr>
        <p:spPr bwMode="gray">
          <a:xfrm>
            <a:off x="1938870" y="4517089"/>
            <a:ext cx="2803661" cy="5705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 bwMode="gray">
          <a:xfrm>
            <a:off x="1938871" y="5224795"/>
            <a:ext cx="2803661" cy="5705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 bwMode="gray">
          <a:xfrm flipH="1">
            <a:off x="1924975" y="4479012"/>
            <a:ext cx="2700971" cy="6121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 bwMode="gray">
          <a:xfrm flipH="1">
            <a:off x="1924975" y="5227793"/>
            <a:ext cx="2700971" cy="6121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箭头: 右 59"/>
          <p:cNvSpPr/>
          <p:nvPr/>
        </p:nvSpPr>
        <p:spPr bwMode="gray">
          <a:xfrm rot="722159">
            <a:off x="2150296" y="3511247"/>
            <a:ext cx="1142272" cy="426567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 Down</a:t>
            </a:r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箭头: 右 62"/>
          <p:cNvSpPr/>
          <p:nvPr/>
        </p:nvSpPr>
        <p:spPr bwMode="gray">
          <a:xfrm rot="722159">
            <a:off x="2150297" y="4283195"/>
            <a:ext cx="1142272" cy="426567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 Init</a:t>
            </a:r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箭头: 右 64"/>
          <p:cNvSpPr/>
          <p:nvPr/>
        </p:nvSpPr>
        <p:spPr bwMode="gray">
          <a:xfrm rot="722159">
            <a:off x="2150298" y="4990901"/>
            <a:ext cx="1142272" cy="426567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 Up</a:t>
            </a:r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箭头: 左 67"/>
          <p:cNvSpPr/>
          <p:nvPr/>
        </p:nvSpPr>
        <p:spPr bwMode="gray">
          <a:xfrm rot="20801234">
            <a:off x="3441623" y="3813852"/>
            <a:ext cx="1142272" cy="426567"/>
          </a:xfrm>
          <a:prstGeom prst="leftArrow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 Down</a:t>
            </a:r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箭头: 左 70"/>
          <p:cNvSpPr/>
          <p:nvPr/>
        </p:nvSpPr>
        <p:spPr bwMode="gray">
          <a:xfrm rot="20801234">
            <a:off x="3441623" y="4588159"/>
            <a:ext cx="1142272" cy="426567"/>
          </a:xfrm>
          <a:prstGeom prst="leftArrow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 Init</a:t>
            </a:r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箭头: 左 72"/>
          <p:cNvSpPr/>
          <p:nvPr/>
        </p:nvSpPr>
        <p:spPr bwMode="gray">
          <a:xfrm rot="20801234">
            <a:off x="3441623" y="5336940"/>
            <a:ext cx="1142272" cy="426567"/>
          </a:xfrm>
          <a:prstGeom prst="leftArrow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 Up</a:t>
            </a:r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9" name="直接连接符 78"/>
          <p:cNvCxnSpPr>
            <a:stCxn id="80" idx="2"/>
          </p:cNvCxnSpPr>
          <p:nvPr/>
        </p:nvCxnSpPr>
        <p:spPr bwMode="gray">
          <a:xfrm>
            <a:off x="7343151" y="3430923"/>
            <a:ext cx="0" cy="26511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图片 7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121224" y="3066963"/>
            <a:ext cx="443854" cy="363960"/>
          </a:xfrm>
          <a:prstGeom prst="rect">
            <a:avLst/>
          </a:prstGeom>
        </p:spPr>
      </p:pic>
      <p:cxnSp>
        <p:nvCxnSpPr>
          <p:cNvPr id="81" name="直接连接符 80"/>
          <p:cNvCxnSpPr>
            <a:stCxn id="82" idx="2"/>
          </p:cNvCxnSpPr>
          <p:nvPr/>
        </p:nvCxnSpPr>
        <p:spPr bwMode="gray">
          <a:xfrm>
            <a:off x="10154931" y="3430923"/>
            <a:ext cx="12154" cy="26511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图片 8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933004" y="3066963"/>
            <a:ext cx="443854" cy="363960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 bwMode="gray">
          <a:xfrm>
            <a:off x="8161892" y="2480764"/>
            <a:ext cx="1172118" cy="3639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sym typeface="Huawei Sans" panose="020C0503030203020204" pitchFamily="34" charset="0"/>
              </a:rPr>
              <a:t>SBFD</a:t>
            </a:r>
            <a:r>
              <a:rPr lang="zh-CN" altLang="en-US" dirty="0">
                <a:sym typeface="Huawei Sans" panose="020C0503030203020204" pitchFamily="34" charset="0"/>
              </a:rPr>
              <a:t>协商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 bwMode="gray">
          <a:xfrm>
            <a:off x="6381530" y="4298287"/>
            <a:ext cx="798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Down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 bwMode="gray">
          <a:xfrm>
            <a:off x="6148978" y="4825747"/>
            <a:ext cx="1244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Down-&gt; Up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文本框 101"/>
          <p:cNvSpPr txBox="1"/>
          <p:nvPr/>
        </p:nvSpPr>
        <p:spPr bwMode="gray">
          <a:xfrm>
            <a:off x="1563552" y="2700904"/>
            <a:ext cx="798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检测端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文本框 102"/>
          <p:cNvSpPr txBox="1"/>
          <p:nvPr/>
        </p:nvSpPr>
        <p:spPr bwMode="gray">
          <a:xfrm>
            <a:off x="4362029" y="2700904"/>
            <a:ext cx="798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检测端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文本框 103"/>
          <p:cNvSpPr txBox="1"/>
          <p:nvPr/>
        </p:nvSpPr>
        <p:spPr bwMode="gray">
          <a:xfrm>
            <a:off x="6950225" y="2700904"/>
            <a:ext cx="798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检测端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文本框 104"/>
          <p:cNvSpPr txBox="1"/>
          <p:nvPr/>
        </p:nvSpPr>
        <p:spPr bwMode="gray">
          <a:xfrm>
            <a:off x="9748702" y="2700904"/>
            <a:ext cx="798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反射端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右箭头 22"/>
          <p:cNvSpPr/>
          <p:nvPr/>
        </p:nvSpPr>
        <p:spPr bwMode="gray">
          <a:xfrm>
            <a:off x="7503776" y="4025880"/>
            <a:ext cx="1104996" cy="409483"/>
          </a:xfrm>
          <a:prstGeom prst="rightArrow">
            <a:avLst>
              <a:gd name="adj1" fmla="val 50000"/>
              <a:gd name="adj2" fmla="val 65571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 Down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任意多边形 2"/>
          <p:cNvSpPr/>
          <p:nvPr/>
        </p:nvSpPr>
        <p:spPr bwMode="gray">
          <a:xfrm>
            <a:off x="7405314" y="4474742"/>
            <a:ext cx="2633822" cy="489149"/>
          </a:xfrm>
          <a:custGeom>
            <a:avLst/>
            <a:gdLst>
              <a:gd name="connsiteX0" fmla="*/ 0 w 3505113"/>
              <a:gd name="connsiteY0" fmla="*/ 33347 h 577788"/>
              <a:gd name="connsiteX1" fmla="*/ 3037668 w 3505113"/>
              <a:gd name="connsiteY1" fmla="*/ 17849 h 577788"/>
              <a:gd name="connsiteX2" fmla="*/ 3332135 w 3505113"/>
              <a:gd name="connsiteY2" fmla="*/ 250323 h 577788"/>
              <a:gd name="connsiteX3" fmla="*/ 3223647 w 3505113"/>
              <a:gd name="connsiteY3" fmla="*/ 529293 h 577788"/>
              <a:gd name="connsiteX4" fmla="*/ 77491 w 3505113"/>
              <a:gd name="connsiteY4" fmla="*/ 575788 h 577788"/>
              <a:gd name="connsiteX0-1" fmla="*/ 0 w 3536296"/>
              <a:gd name="connsiteY0-2" fmla="*/ 33347 h 577788"/>
              <a:gd name="connsiteX1-3" fmla="*/ 3037668 w 3536296"/>
              <a:gd name="connsiteY1-4" fmla="*/ 17849 h 577788"/>
              <a:gd name="connsiteX2-5" fmla="*/ 3401985 w 3536296"/>
              <a:gd name="connsiteY2-6" fmla="*/ 250323 h 577788"/>
              <a:gd name="connsiteX3-7" fmla="*/ 3223647 w 3536296"/>
              <a:gd name="connsiteY3-8" fmla="*/ 529293 h 577788"/>
              <a:gd name="connsiteX4-9" fmla="*/ 77491 w 3536296"/>
              <a:gd name="connsiteY4-10" fmla="*/ 575788 h 577788"/>
              <a:gd name="connsiteX0-11" fmla="*/ 0 w 3530217"/>
              <a:gd name="connsiteY0-12" fmla="*/ 33347 h 577788"/>
              <a:gd name="connsiteX1-13" fmla="*/ 3037668 w 3530217"/>
              <a:gd name="connsiteY1-14" fmla="*/ 17849 h 577788"/>
              <a:gd name="connsiteX2-15" fmla="*/ 3401985 w 3530217"/>
              <a:gd name="connsiteY2-16" fmla="*/ 250323 h 577788"/>
              <a:gd name="connsiteX3-17" fmla="*/ 3223647 w 3530217"/>
              <a:gd name="connsiteY3-18" fmla="*/ 529293 h 577788"/>
              <a:gd name="connsiteX4-19" fmla="*/ 77491 w 3530217"/>
              <a:gd name="connsiteY4-20" fmla="*/ 575788 h 577788"/>
              <a:gd name="connsiteX0-21" fmla="*/ 0 w 3437980"/>
              <a:gd name="connsiteY0-22" fmla="*/ 33347 h 587138"/>
              <a:gd name="connsiteX1-23" fmla="*/ 3037668 w 3437980"/>
              <a:gd name="connsiteY1-24" fmla="*/ 17849 h 587138"/>
              <a:gd name="connsiteX2-25" fmla="*/ 3401985 w 3437980"/>
              <a:gd name="connsiteY2-26" fmla="*/ 250323 h 587138"/>
              <a:gd name="connsiteX3-27" fmla="*/ 3026797 w 3437980"/>
              <a:gd name="connsiteY3-28" fmla="*/ 554693 h 587138"/>
              <a:gd name="connsiteX4-29" fmla="*/ 77491 w 3437980"/>
              <a:gd name="connsiteY4-30" fmla="*/ 575788 h 587138"/>
              <a:gd name="connsiteX0-31" fmla="*/ 0 w 3432439"/>
              <a:gd name="connsiteY0-32" fmla="*/ 53399 h 607190"/>
              <a:gd name="connsiteX1-33" fmla="*/ 3024968 w 3432439"/>
              <a:gd name="connsiteY1-34" fmla="*/ 12501 h 607190"/>
              <a:gd name="connsiteX2-35" fmla="*/ 3401985 w 3432439"/>
              <a:gd name="connsiteY2-36" fmla="*/ 270375 h 607190"/>
              <a:gd name="connsiteX3-37" fmla="*/ 3026797 w 3432439"/>
              <a:gd name="connsiteY3-38" fmla="*/ 574745 h 607190"/>
              <a:gd name="connsiteX4-39" fmla="*/ 77491 w 3432439"/>
              <a:gd name="connsiteY4-40" fmla="*/ 595840 h 607190"/>
              <a:gd name="connsiteX0-41" fmla="*/ 0 w 3432439"/>
              <a:gd name="connsiteY0-42" fmla="*/ 18434 h 572225"/>
              <a:gd name="connsiteX1-43" fmla="*/ 3024968 w 3432439"/>
              <a:gd name="connsiteY1-44" fmla="*/ 28336 h 572225"/>
              <a:gd name="connsiteX2-45" fmla="*/ 3401985 w 3432439"/>
              <a:gd name="connsiteY2-46" fmla="*/ 235410 h 572225"/>
              <a:gd name="connsiteX3-47" fmla="*/ 3026797 w 3432439"/>
              <a:gd name="connsiteY3-48" fmla="*/ 539780 h 572225"/>
              <a:gd name="connsiteX4-49" fmla="*/ 77491 w 3432439"/>
              <a:gd name="connsiteY4-50" fmla="*/ 560875 h 572225"/>
              <a:gd name="connsiteX0-51" fmla="*/ 0 w 3429658"/>
              <a:gd name="connsiteY0-52" fmla="*/ 16335 h 570126"/>
              <a:gd name="connsiteX1-53" fmla="*/ 3024968 w 3429658"/>
              <a:gd name="connsiteY1-54" fmla="*/ 26237 h 570126"/>
              <a:gd name="connsiteX2-55" fmla="*/ 3401985 w 3429658"/>
              <a:gd name="connsiteY2-56" fmla="*/ 233311 h 570126"/>
              <a:gd name="connsiteX3-57" fmla="*/ 3026797 w 3429658"/>
              <a:gd name="connsiteY3-58" fmla="*/ 537681 h 570126"/>
              <a:gd name="connsiteX4-59" fmla="*/ 77491 w 3429658"/>
              <a:gd name="connsiteY4-60" fmla="*/ 558776 h 570126"/>
              <a:gd name="connsiteX0-61" fmla="*/ 0 w 3401985"/>
              <a:gd name="connsiteY0-62" fmla="*/ 16335 h 561442"/>
              <a:gd name="connsiteX1-63" fmla="*/ 3024968 w 3401985"/>
              <a:gd name="connsiteY1-64" fmla="*/ 26237 h 561442"/>
              <a:gd name="connsiteX2-65" fmla="*/ 3401985 w 3401985"/>
              <a:gd name="connsiteY2-66" fmla="*/ 233311 h 561442"/>
              <a:gd name="connsiteX3-67" fmla="*/ 3026797 w 3401985"/>
              <a:gd name="connsiteY3-68" fmla="*/ 537681 h 561442"/>
              <a:gd name="connsiteX4-69" fmla="*/ 77491 w 3401985"/>
              <a:gd name="connsiteY4-70" fmla="*/ 558776 h 561442"/>
              <a:gd name="connsiteX0-71" fmla="*/ 0 w 3401986"/>
              <a:gd name="connsiteY0-72" fmla="*/ 22418 h 567525"/>
              <a:gd name="connsiteX1-73" fmla="*/ 3031318 w 3401986"/>
              <a:gd name="connsiteY1-74" fmla="*/ 19620 h 567525"/>
              <a:gd name="connsiteX2-75" fmla="*/ 3401985 w 3401986"/>
              <a:gd name="connsiteY2-76" fmla="*/ 239394 h 567525"/>
              <a:gd name="connsiteX3-77" fmla="*/ 3026797 w 3401986"/>
              <a:gd name="connsiteY3-78" fmla="*/ 543764 h 567525"/>
              <a:gd name="connsiteX4-79" fmla="*/ 77491 w 3401986"/>
              <a:gd name="connsiteY4-80" fmla="*/ 564859 h 567525"/>
              <a:gd name="connsiteX0-81" fmla="*/ 0 w 3402070"/>
              <a:gd name="connsiteY0-82" fmla="*/ 22418 h 567525"/>
              <a:gd name="connsiteX1-83" fmla="*/ 3031318 w 3402070"/>
              <a:gd name="connsiteY1-84" fmla="*/ 19620 h 567525"/>
              <a:gd name="connsiteX2-85" fmla="*/ 3401985 w 3402070"/>
              <a:gd name="connsiteY2-86" fmla="*/ 239394 h 567525"/>
              <a:gd name="connsiteX3-87" fmla="*/ 3026797 w 3402070"/>
              <a:gd name="connsiteY3-88" fmla="*/ 543764 h 567525"/>
              <a:gd name="connsiteX4-89" fmla="*/ 77491 w 3402070"/>
              <a:gd name="connsiteY4-90" fmla="*/ 564859 h 567525"/>
              <a:gd name="connsiteX0-91" fmla="*/ 0 w 3423915"/>
              <a:gd name="connsiteY0-92" fmla="*/ 27234 h 578951"/>
              <a:gd name="connsiteX1-93" fmla="*/ 3031318 w 3423915"/>
              <a:gd name="connsiteY1-94" fmla="*/ 24436 h 578951"/>
              <a:gd name="connsiteX2-95" fmla="*/ 3389285 w 3423915"/>
              <a:gd name="connsiteY2-96" fmla="*/ 275960 h 578951"/>
              <a:gd name="connsiteX3-97" fmla="*/ 3026797 w 3423915"/>
              <a:gd name="connsiteY3-98" fmla="*/ 548580 h 578951"/>
              <a:gd name="connsiteX4-99" fmla="*/ 77491 w 3423915"/>
              <a:gd name="connsiteY4-100" fmla="*/ 569675 h 578951"/>
              <a:gd name="connsiteX0-101" fmla="*/ 0 w 3423088"/>
              <a:gd name="connsiteY0-102" fmla="*/ 27234 h 578951"/>
              <a:gd name="connsiteX1-103" fmla="*/ 3031318 w 3423088"/>
              <a:gd name="connsiteY1-104" fmla="*/ 24436 h 578951"/>
              <a:gd name="connsiteX2-105" fmla="*/ 3389285 w 3423088"/>
              <a:gd name="connsiteY2-106" fmla="*/ 275960 h 578951"/>
              <a:gd name="connsiteX3-107" fmla="*/ 3026797 w 3423088"/>
              <a:gd name="connsiteY3-108" fmla="*/ 548580 h 578951"/>
              <a:gd name="connsiteX4-109" fmla="*/ 77491 w 3423088"/>
              <a:gd name="connsiteY4-110" fmla="*/ 569675 h 578951"/>
              <a:gd name="connsiteX0-111" fmla="*/ 0 w 3389428"/>
              <a:gd name="connsiteY0-112" fmla="*/ 27234 h 578951"/>
              <a:gd name="connsiteX1-113" fmla="*/ 3031318 w 3389428"/>
              <a:gd name="connsiteY1-114" fmla="*/ 24436 h 578951"/>
              <a:gd name="connsiteX2-115" fmla="*/ 3389285 w 3389428"/>
              <a:gd name="connsiteY2-116" fmla="*/ 275960 h 578951"/>
              <a:gd name="connsiteX3-117" fmla="*/ 3026797 w 3389428"/>
              <a:gd name="connsiteY3-118" fmla="*/ 548580 h 578951"/>
              <a:gd name="connsiteX4-119" fmla="*/ 77491 w 3389428"/>
              <a:gd name="connsiteY4-120" fmla="*/ 569675 h 578951"/>
              <a:gd name="connsiteX0-121" fmla="*/ 0 w 3389413"/>
              <a:gd name="connsiteY0-122" fmla="*/ 27234 h 572596"/>
              <a:gd name="connsiteX1-123" fmla="*/ 3031318 w 3389413"/>
              <a:gd name="connsiteY1-124" fmla="*/ 24436 h 572596"/>
              <a:gd name="connsiteX2-125" fmla="*/ 3389285 w 3389413"/>
              <a:gd name="connsiteY2-126" fmla="*/ 275960 h 572596"/>
              <a:gd name="connsiteX3-127" fmla="*/ 3026797 w 3389413"/>
              <a:gd name="connsiteY3-128" fmla="*/ 548580 h 572596"/>
              <a:gd name="connsiteX4-129" fmla="*/ 77491 w 3389413"/>
              <a:gd name="connsiteY4-130" fmla="*/ 569675 h 572596"/>
              <a:gd name="connsiteX0-131" fmla="*/ 0 w 3426550"/>
              <a:gd name="connsiteY0-132" fmla="*/ 27234 h 575718"/>
              <a:gd name="connsiteX1-133" fmla="*/ 3031318 w 3426550"/>
              <a:gd name="connsiteY1-134" fmla="*/ 24436 h 575718"/>
              <a:gd name="connsiteX2-135" fmla="*/ 3389285 w 3426550"/>
              <a:gd name="connsiteY2-136" fmla="*/ 275960 h 575718"/>
              <a:gd name="connsiteX3-137" fmla="*/ 3026797 w 3426550"/>
              <a:gd name="connsiteY3-138" fmla="*/ 548580 h 575718"/>
              <a:gd name="connsiteX4-139" fmla="*/ 7641 w 3426550"/>
              <a:gd name="connsiteY4-140" fmla="*/ 563325 h 575718"/>
              <a:gd name="connsiteX0-141" fmla="*/ 0 w 3389397"/>
              <a:gd name="connsiteY0-142" fmla="*/ 27234 h 570610"/>
              <a:gd name="connsiteX1-143" fmla="*/ 3031318 w 3389397"/>
              <a:gd name="connsiteY1-144" fmla="*/ 24436 h 570610"/>
              <a:gd name="connsiteX2-145" fmla="*/ 3389285 w 3389397"/>
              <a:gd name="connsiteY2-146" fmla="*/ 275960 h 570610"/>
              <a:gd name="connsiteX3-147" fmla="*/ 3026797 w 3389397"/>
              <a:gd name="connsiteY3-148" fmla="*/ 548580 h 570610"/>
              <a:gd name="connsiteX4-149" fmla="*/ 7641 w 3389397"/>
              <a:gd name="connsiteY4-150" fmla="*/ 563325 h 570610"/>
              <a:gd name="connsiteX0-151" fmla="*/ 0 w 3389291"/>
              <a:gd name="connsiteY0-152" fmla="*/ 27234 h 570610"/>
              <a:gd name="connsiteX1-153" fmla="*/ 3018618 w 3389291"/>
              <a:gd name="connsiteY1-154" fmla="*/ 24436 h 570610"/>
              <a:gd name="connsiteX2-155" fmla="*/ 3389285 w 3389291"/>
              <a:gd name="connsiteY2-156" fmla="*/ 275960 h 570610"/>
              <a:gd name="connsiteX3-157" fmla="*/ 3026797 w 3389291"/>
              <a:gd name="connsiteY3-158" fmla="*/ 548580 h 570610"/>
              <a:gd name="connsiteX4-159" fmla="*/ 7641 w 3389291"/>
              <a:gd name="connsiteY4-160" fmla="*/ 563325 h 570610"/>
              <a:gd name="connsiteX0-161" fmla="*/ 0 w 3389291"/>
              <a:gd name="connsiteY0-162" fmla="*/ 27234 h 570610"/>
              <a:gd name="connsiteX1-163" fmla="*/ 3018618 w 3389291"/>
              <a:gd name="connsiteY1-164" fmla="*/ 24436 h 570610"/>
              <a:gd name="connsiteX2-165" fmla="*/ 3389285 w 3389291"/>
              <a:gd name="connsiteY2-166" fmla="*/ 275960 h 570610"/>
              <a:gd name="connsiteX3-167" fmla="*/ 3026797 w 3389291"/>
              <a:gd name="connsiteY3-168" fmla="*/ 548580 h 570610"/>
              <a:gd name="connsiteX4-169" fmla="*/ 7641 w 3389291"/>
              <a:gd name="connsiteY4-170" fmla="*/ 563325 h 570610"/>
              <a:gd name="connsiteX0-171" fmla="*/ 0 w 3389291"/>
              <a:gd name="connsiteY0-172" fmla="*/ 27234 h 570610"/>
              <a:gd name="connsiteX1-173" fmla="*/ 3018618 w 3389291"/>
              <a:gd name="connsiteY1-174" fmla="*/ 24436 h 570610"/>
              <a:gd name="connsiteX2-175" fmla="*/ 3389285 w 3389291"/>
              <a:gd name="connsiteY2-176" fmla="*/ 275960 h 570610"/>
              <a:gd name="connsiteX3-177" fmla="*/ 3026797 w 3389291"/>
              <a:gd name="connsiteY3-178" fmla="*/ 548580 h 570610"/>
              <a:gd name="connsiteX4-179" fmla="*/ 7641 w 3389291"/>
              <a:gd name="connsiteY4-180" fmla="*/ 563325 h 570610"/>
              <a:gd name="connsiteX0-181" fmla="*/ 0 w 3389291"/>
              <a:gd name="connsiteY0-182" fmla="*/ 27234 h 570610"/>
              <a:gd name="connsiteX1-183" fmla="*/ 3018618 w 3389291"/>
              <a:gd name="connsiteY1-184" fmla="*/ 24436 h 570610"/>
              <a:gd name="connsiteX2-185" fmla="*/ 3389285 w 3389291"/>
              <a:gd name="connsiteY2-186" fmla="*/ 275960 h 570610"/>
              <a:gd name="connsiteX3-187" fmla="*/ 3026797 w 3389291"/>
              <a:gd name="connsiteY3-188" fmla="*/ 548580 h 570610"/>
              <a:gd name="connsiteX4-189" fmla="*/ 7641 w 3389291"/>
              <a:gd name="connsiteY4-190" fmla="*/ 563325 h 5706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389291" h="570610">
                <a:moveTo>
                  <a:pt x="0" y="27234"/>
                </a:moveTo>
                <a:cubicBezTo>
                  <a:pt x="1241156" y="1403"/>
                  <a:pt x="2847437" y="-17018"/>
                  <a:pt x="3018618" y="24436"/>
                </a:cubicBezTo>
                <a:cubicBezTo>
                  <a:pt x="3189799" y="65890"/>
                  <a:pt x="3387922" y="61603"/>
                  <a:pt x="3389285" y="275960"/>
                </a:cubicBezTo>
                <a:cubicBezTo>
                  <a:pt x="3390648" y="490317"/>
                  <a:pt x="3190354" y="513386"/>
                  <a:pt x="3026797" y="548580"/>
                </a:cubicBezTo>
                <a:cubicBezTo>
                  <a:pt x="2863240" y="583774"/>
                  <a:pt x="1309498" y="567199"/>
                  <a:pt x="7641" y="563325"/>
                </a:cubicBezTo>
              </a:path>
            </a:pathLst>
          </a:custGeom>
          <a:ln w="38100">
            <a:solidFill>
              <a:srgbClr val="C00000"/>
            </a:solidFill>
            <a:tailEnd type="stealt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右箭头 23"/>
          <p:cNvSpPr/>
          <p:nvPr/>
        </p:nvSpPr>
        <p:spPr bwMode="gray">
          <a:xfrm flipH="1">
            <a:off x="8598076" y="4522160"/>
            <a:ext cx="1092837" cy="409483"/>
          </a:xfrm>
          <a:prstGeom prst="rightArrow">
            <a:avLst>
              <a:gd name="adj1" fmla="val 50000"/>
              <a:gd name="adj2" fmla="val 65571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 Down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文本框 116"/>
          <p:cNvSpPr txBox="1"/>
          <p:nvPr/>
        </p:nvSpPr>
        <p:spPr bwMode="gray">
          <a:xfrm>
            <a:off x="10169769" y="4139371"/>
            <a:ext cx="12507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仅作反射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多个检测端</a:t>
            </a:r>
            <a:r>
              <a:rPr lang="zh-CN" altLang="en-US" sz="1400" b="1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共享一个反射端</a:t>
            </a:r>
            <a:endParaRPr lang="zh-CN" altLang="en-US" sz="1400" b="1" dirty="0">
              <a:highlight>
                <a:srgbClr val="FFFF00"/>
              </a:highlight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SBFD</a:t>
            </a:r>
            <a:r>
              <a:rPr lang="zh-CN" altLang="en-US">
                <a:sym typeface="Huawei Sans" panose="020C0503030203020204" pitchFamily="34" charset="0"/>
              </a:rPr>
              <a:t>工作原理</a:t>
            </a:r>
            <a:endParaRPr lang="zh-CN" altLang="en-US">
              <a:sym typeface="Huawei Sans" panose="020C0503030203020204" pitchFamily="34" charset="0"/>
            </a:endParaRPr>
          </a:p>
        </p:txBody>
      </p:sp>
      <p:cxnSp>
        <p:nvCxnSpPr>
          <p:cNvPr id="4" name="直接连接符 3"/>
          <p:cNvCxnSpPr>
            <a:stCxn id="5" idx="2"/>
          </p:cNvCxnSpPr>
          <p:nvPr/>
        </p:nvCxnSpPr>
        <p:spPr bwMode="gray">
          <a:xfrm>
            <a:off x="2049208" y="2099837"/>
            <a:ext cx="0" cy="306162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13154" y="1718019"/>
            <a:ext cx="472108" cy="381818"/>
          </a:xfrm>
          <a:prstGeom prst="rect">
            <a:avLst/>
          </a:prstGeom>
        </p:spPr>
      </p:pic>
      <p:cxnSp>
        <p:nvCxnSpPr>
          <p:cNvPr id="6" name="直接连接符 5"/>
          <p:cNvCxnSpPr>
            <a:stCxn id="7" idx="2"/>
          </p:cNvCxnSpPr>
          <p:nvPr/>
        </p:nvCxnSpPr>
        <p:spPr bwMode="gray">
          <a:xfrm>
            <a:off x="5039975" y="2099837"/>
            <a:ext cx="12929" cy="306162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803921" y="1718019"/>
            <a:ext cx="472108" cy="38181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 bwMode="gray">
          <a:xfrm>
            <a:off x="1519915" y="1114834"/>
            <a:ext cx="1364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检测端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（发起端）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 bwMode="gray">
          <a:xfrm>
            <a:off x="4628182" y="1248573"/>
            <a:ext cx="849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反射端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右箭头 22"/>
          <p:cNvSpPr/>
          <p:nvPr/>
        </p:nvSpPr>
        <p:spPr bwMode="gray">
          <a:xfrm>
            <a:off x="2220057" y="2179020"/>
            <a:ext cx="2009244" cy="524056"/>
          </a:xfrm>
          <a:prstGeom prst="rightArrow">
            <a:avLst>
              <a:gd name="adj1" fmla="val 50000"/>
              <a:gd name="adj2" fmla="val 65571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 Control Packet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右箭头 23"/>
          <p:cNvSpPr/>
          <p:nvPr/>
        </p:nvSpPr>
        <p:spPr bwMode="gray">
          <a:xfrm flipH="1">
            <a:off x="2815761" y="2838938"/>
            <a:ext cx="2050821" cy="472891"/>
          </a:xfrm>
          <a:prstGeom prst="rightArrow">
            <a:avLst>
              <a:gd name="adj1" fmla="val 50000"/>
              <a:gd name="adj2" fmla="val 65571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 Control Packet</a:t>
            </a:r>
            <a:endParaRPr lang="en-US" altLang="zh-CN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矩形: 圆角 14"/>
          <p:cNvSpPr/>
          <p:nvPr/>
        </p:nvSpPr>
        <p:spPr bwMode="gray">
          <a:xfrm>
            <a:off x="804300" y="3804690"/>
            <a:ext cx="1135403" cy="1105341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 bwMode="gray">
          <a:xfrm>
            <a:off x="1026375" y="3866718"/>
            <a:ext cx="849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Down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 bwMode="gray">
          <a:xfrm>
            <a:off x="826518" y="4475855"/>
            <a:ext cx="1323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Down-&gt; Up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右箭头 22"/>
          <p:cNvSpPr/>
          <p:nvPr/>
        </p:nvSpPr>
        <p:spPr bwMode="gray">
          <a:xfrm>
            <a:off x="2220057" y="3552128"/>
            <a:ext cx="1832402" cy="467711"/>
          </a:xfrm>
          <a:prstGeom prst="rightArrow">
            <a:avLst>
              <a:gd name="adj1" fmla="val 50000"/>
              <a:gd name="adj2" fmla="val 65571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 Echo Packet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任意多边形 2"/>
          <p:cNvSpPr/>
          <p:nvPr/>
        </p:nvSpPr>
        <p:spPr bwMode="gray">
          <a:xfrm>
            <a:off x="2115328" y="4070497"/>
            <a:ext cx="2801481" cy="564894"/>
          </a:xfrm>
          <a:custGeom>
            <a:avLst/>
            <a:gdLst>
              <a:gd name="connsiteX0" fmla="*/ 0 w 3505113"/>
              <a:gd name="connsiteY0" fmla="*/ 33347 h 577788"/>
              <a:gd name="connsiteX1" fmla="*/ 3037668 w 3505113"/>
              <a:gd name="connsiteY1" fmla="*/ 17849 h 577788"/>
              <a:gd name="connsiteX2" fmla="*/ 3332135 w 3505113"/>
              <a:gd name="connsiteY2" fmla="*/ 250323 h 577788"/>
              <a:gd name="connsiteX3" fmla="*/ 3223647 w 3505113"/>
              <a:gd name="connsiteY3" fmla="*/ 529293 h 577788"/>
              <a:gd name="connsiteX4" fmla="*/ 77491 w 3505113"/>
              <a:gd name="connsiteY4" fmla="*/ 575788 h 577788"/>
              <a:gd name="connsiteX0-1" fmla="*/ 0 w 3536296"/>
              <a:gd name="connsiteY0-2" fmla="*/ 33347 h 577788"/>
              <a:gd name="connsiteX1-3" fmla="*/ 3037668 w 3536296"/>
              <a:gd name="connsiteY1-4" fmla="*/ 17849 h 577788"/>
              <a:gd name="connsiteX2-5" fmla="*/ 3401985 w 3536296"/>
              <a:gd name="connsiteY2-6" fmla="*/ 250323 h 577788"/>
              <a:gd name="connsiteX3-7" fmla="*/ 3223647 w 3536296"/>
              <a:gd name="connsiteY3-8" fmla="*/ 529293 h 577788"/>
              <a:gd name="connsiteX4-9" fmla="*/ 77491 w 3536296"/>
              <a:gd name="connsiteY4-10" fmla="*/ 575788 h 577788"/>
              <a:gd name="connsiteX0-11" fmla="*/ 0 w 3530217"/>
              <a:gd name="connsiteY0-12" fmla="*/ 33347 h 577788"/>
              <a:gd name="connsiteX1-13" fmla="*/ 3037668 w 3530217"/>
              <a:gd name="connsiteY1-14" fmla="*/ 17849 h 577788"/>
              <a:gd name="connsiteX2-15" fmla="*/ 3401985 w 3530217"/>
              <a:gd name="connsiteY2-16" fmla="*/ 250323 h 577788"/>
              <a:gd name="connsiteX3-17" fmla="*/ 3223647 w 3530217"/>
              <a:gd name="connsiteY3-18" fmla="*/ 529293 h 577788"/>
              <a:gd name="connsiteX4-19" fmla="*/ 77491 w 3530217"/>
              <a:gd name="connsiteY4-20" fmla="*/ 575788 h 577788"/>
              <a:gd name="connsiteX0-21" fmla="*/ 0 w 3437980"/>
              <a:gd name="connsiteY0-22" fmla="*/ 33347 h 587138"/>
              <a:gd name="connsiteX1-23" fmla="*/ 3037668 w 3437980"/>
              <a:gd name="connsiteY1-24" fmla="*/ 17849 h 587138"/>
              <a:gd name="connsiteX2-25" fmla="*/ 3401985 w 3437980"/>
              <a:gd name="connsiteY2-26" fmla="*/ 250323 h 587138"/>
              <a:gd name="connsiteX3-27" fmla="*/ 3026797 w 3437980"/>
              <a:gd name="connsiteY3-28" fmla="*/ 554693 h 587138"/>
              <a:gd name="connsiteX4-29" fmla="*/ 77491 w 3437980"/>
              <a:gd name="connsiteY4-30" fmla="*/ 575788 h 587138"/>
              <a:gd name="connsiteX0-31" fmla="*/ 0 w 3432439"/>
              <a:gd name="connsiteY0-32" fmla="*/ 53399 h 607190"/>
              <a:gd name="connsiteX1-33" fmla="*/ 3024968 w 3432439"/>
              <a:gd name="connsiteY1-34" fmla="*/ 12501 h 607190"/>
              <a:gd name="connsiteX2-35" fmla="*/ 3401985 w 3432439"/>
              <a:gd name="connsiteY2-36" fmla="*/ 270375 h 607190"/>
              <a:gd name="connsiteX3-37" fmla="*/ 3026797 w 3432439"/>
              <a:gd name="connsiteY3-38" fmla="*/ 574745 h 607190"/>
              <a:gd name="connsiteX4-39" fmla="*/ 77491 w 3432439"/>
              <a:gd name="connsiteY4-40" fmla="*/ 595840 h 607190"/>
              <a:gd name="connsiteX0-41" fmla="*/ 0 w 3432439"/>
              <a:gd name="connsiteY0-42" fmla="*/ 18434 h 572225"/>
              <a:gd name="connsiteX1-43" fmla="*/ 3024968 w 3432439"/>
              <a:gd name="connsiteY1-44" fmla="*/ 28336 h 572225"/>
              <a:gd name="connsiteX2-45" fmla="*/ 3401985 w 3432439"/>
              <a:gd name="connsiteY2-46" fmla="*/ 235410 h 572225"/>
              <a:gd name="connsiteX3-47" fmla="*/ 3026797 w 3432439"/>
              <a:gd name="connsiteY3-48" fmla="*/ 539780 h 572225"/>
              <a:gd name="connsiteX4-49" fmla="*/ 77491 w 3432439"/>
              <a:gd name="connsiteY4-50" fmla="*/ 560875 h 572225"/>
              <a:gd name="connsiteX0-51" fmla="*/ 0 w 3429658"/>
              <a:gd name="connsiteY0-52" fmla="*/ 16335 h 570126"/>
              <a:gd name="connsiteX1-53" fmla="*/ 3024968 w 3429658"/>
              <a:gd name="connsiteY1-54" fmla="*/ 26237 h 570126"/>
              <a:gd name="connsiteX2-55" fmla="*/ 3401985 w 3429658"/>
              <a:gd name="connsiteY2-56" fmla="*/ 233311 h 570126"/>
              <a:gd name="connsiteX3-57" fmla="*/ 3026797 w 3429658"/>
              <a:gd name="connsiteY3-58" fmla="*/ 537681 h 570126"/>
              <a:gd name="connsiteX4-59" fmla="*/ 77491 w 3429658"/>
              <a:gd name="connsiteY4-60" fmla="*/ 558776 h 570126"/>
              <a:gd name="connsiteX0-61" fmla="*/ 0 w 3401985"/>
              <a:gd name="connsiteY0-62" fmla="*/ 16335 h 561442"/>
              <a:gd name="connsiteX1-63" fmla="*/ 3024968 w 3401985"/>
              <a:gd name="connsiteY1-64" fmla="*/ 26237 h 561442"/>
              <a:gd name="connsiteX2-65" fmla="*/ 3401985 w 3401985"/>
              <a:gd name="connsiteY2-66" fmla="*/ 233311 h 561442"/>
              <a:gd name="connsiteX3-67" fmla="*/ 3026797 w 3401985"/>
              <a:gd name="connsiteY3-68" fmla="*/ 537681 h 561442"/>
              <a:gd name="connsiteX4-69" fmla="*/ 77491 w 3401985"/>
              <a:gd name="connsiteY4-70" fmla="*/ 558776 h 561442"/>
              <a:gd name="connsiteX0-71" fmla="*/ 0 w 3401986"/>
              <a:gd name="connsiteY0-72" fmla="*/ 22418 h 567525"/>
              <a:gd name="connsiteX1-73" fmla="*/ 3031318 w 3401986"/>
              <a:gd name="connsiteY1-74" fmla="*/ 19620 h 567525"/>
              <a:gd name="connsiteX2-75" fmla="*/ 3401985 w 3401986"/>
              <a:gd name="connsiteY2-76" fmla="*/ 239394 h 567525"/>
              <a:gd name="connsiteX3-77" fmla="*/ 3026797 w 3401986"/>
              <a:gd name="connsiteY3-78" fmla="*/ 543764 h 567525"/>
              <a:gd name="connsiteX4-79" fmla="*/ 77491 w 3401986"/>
              <a:gd name="connsiteY4-80" fmla="*/ 564859 h 567525"/>
              <a:gd name="connsiteX0-81" fmla="*/ 0 w 3402070"/>
              <a:gd name="connsiteY0-82" fmla="*/ 22418 h 567525"/>
              <a:gd name="connsiteX1-83" fmla="*/ 3031318 w 3402070"/>
              <a:gd name="connsiteY1-84" fmla="*/ 19620 h 567525"/>
              <a:gd name="connsiteX2-85" fmla="*/ 3401985 w 3402070"/>
              <a:gd name="connsiteY2-86" fmla="*/ 239394 h 567525"/>
              <a:gd name="connsiteX3-87" fmla="*/ 3026797 w 3402070"/>
              <a:gd name="connsiteY3-88" fmla="*/ 543764 h 567525"/>
              <a:gd name="connsiteX4-89" fmla="*/ 77491 w 3402070"/>
              <a:gd name="connsiteY4-90" fmla="*/ 564859 h 567525"/>
              <a:gd name="connsiteX0-91" fmla="*/ 0 w 3423915"/>
              <a:gd name="connsiteY0-92" fmla="*/ 27234 h 578951"/>
              <a:gd name="connsiteX1-93" fmla="*/ 3031318 w 3423915"/>
              <a:gd name="connsiteY1-94" fmla="*/ 24436 h 578951"/>
              <a:gd name="connsiteX2-95" fmla="*/ 3389285 w 3423915"/>
              <a:gd name="connsiteY2-96" fmla="*/ 275960 h 578951"/>
              <a:gd name="connsiteX3-97" fmla="*/ 3026797 w 3423915"/>
              <a:gd name="connsiteY3-98" fmla="*/ 548580 h 578951"/>
              <a:gd name="connsiteX4-99" fmla="*/ 77491 w 3423915"/>
              <a:gd name="connsiteY4-100" fmla="*/ 569675 h 578951"/>
              <a:gd name="connsiteX0-101" fmla="*/ 0 w 3423088"/>
              <a:gd name="connsiteY0-102" fmla="*/ 27234 h 578951"/>
              <a:gd name="connsiteX1-103" fmla="*/ 3031318 w 3423088"/>
              <a:gd name="connsiteY1-104" fmla="*/ 24436 h 578951"/>
              <a:gd name="connsiteX2-105" fmla="*/ 3389285 w 3423088"/>
              <a:gd name="connsiteY2-106" fmla="*/ 275960 h 578951"/>
              <a:gd name="connsiteX3-107" fmla="*/ 3026797 w 3423088"/>
              <a:gd name="connsiteY3-108" fmla="*/ 548580 h 578951"/>
              <a:gd name="connsiteX4-109" fmla="*/ 77491 w 3423088"/>
              <a:gd name="connsiteY4-110" fmla="*/ 569675 h 578951"/>
              <a:gd name="connsiteX0-111" fmla="*/ 0 w 3389428"/>
              <a:gd name="connsiteY0-112" fmla="*/ 27234 h 578951"/>
              <a:gd name="connsiteX1-113" fmla="*/ 3031318 w 3389428"/>
              <a:gd name="connsiteY1-114" fmla="*/ 24436 h 578951"/>
              <a:gd name="connsiteX2-115" fmla="*/ 3389285 w 3389428"/>
              <a:gd name="connsiteY2-116" fmla="*/ 275960 h 578951"/>
              <a:gd name="connsiteX3-117" fmla="*/ 3026797 w 3389428"/>
              <a:gd name="connsiteY3-118" fmla="*/ 548580 h 578951"/>
              <a:gd name="connsiteX4-119" fmla="*/ 77491 w 3389428"/>
              <a:gd name="connsiteY4-120" fmla="*/ 569675 h 578951"/>
              <a:gd name="connsiteX0-121" fmla="*/ 0 w 3389413"/>
              <a:gd name="connsiteY0-122" fmla="*/ 27234 h 572596"/>
              <a:gd name="connsiteX1-123" fmla="*/ 3031318 w 3389413"/>
              <a:gd name="connsiteY1-124" fmla="*/ 24436 h 572596"/>
              <a:gd name="connsiteX2-125" fmla="*/ 3389285 w 3389413"/>
              <a:gd name="connsiteY2-126" fmla="*/ 275960 h 572596"/>
              <a:gd name="connsiteX3-127" fmla="*/ 3026797 w 3389413"/>
              <a:gd name="connsiteY3-128" fmla="*/ 548580 h 572596"/>
              <a:gd name="connsiteX4-129" fmla="*/ 77491 w 3389413"/>
              <a:gd name="connsiteY4-130" fmla="*/ 569675 h 572596"/>
              <a:gd name="connsiteX0-131" fmla="*/ 0 w 3426550"/>
              <a:gd name="connsiteY0-132" fmla="*/ 27234 h 575718"/>
              <a:gd name="connsiteX1-133" fmla="*/ 3031318 w 3426550"/>
              <a:gd name="connsiteY1-134" fmla="*/ 24436 h 575718"/>
              <a:gd name="connsiteX2-135" fmla="*/ 3389285 w 3426550"/>
              <a:gd name="connsiteY2-136" fmla="*/ 275960 h 575718"/>
              <a:gd name="connsiteX3-137" fmla="*/ 3026797 w 3426550"/>
              <a:gd name="connsiteY3-138" fmla="*/ 548580 h 575718"/>
              <a:gd name="connsiteX4-139" fmla="*/ 7641 w 3426550"/>
              <a:gd name="connsiteY4-140" fmla="*/ 563325 h 575718"/>
              <a:gd name="connsiteX0-141" fmla="*/ 0 w 3389397"/>
              <a:gd name="connsiteY0-142" fmla="*/ 27234 h 570610"/>
              <a:gd name="connsiteX1-143" fmla="*/ 3031318 w 3389397"/>
              <a:gd name="connsiteY1-144" fmla="*/ 24436 h 570610"/>
              <a:gd name="connsiteX2-145" fmla="*/ 3389285 w 3389397"/>
              <a:gd name="connsiteY2-146" fmla="*/ 275960 h 570610"/>
              <a:gd name="connsiteX3-147" fmla="*/ 3026797 w 3389397"/>
              <a:gd name="connsiteY3-148" fmla="*/ 548580 h 570610"/>
              <a:gd name="connsiteX4-149" fmla="*/ 7641 w 3389397"/>
              <a:gd name="connsiteY4-150" fmla="*/ 563325 h 570610"/>
              <a:gd name="connsiteX0-151" fmla="*/ 0 w 3389291"/>
              <a:gd name="connsiteY0-152" fmla="*/ 27234 h 570610"/>
              <a:gd name="connsiteX1-153" fmla="*/ 3018618 w 3389291"/>
              <a:gd name="connsiteY1-154" fmla="*/ 24436 h 570610"/>
              <a:gd name="connsiteX2-155" fmla="*/ 3389285 w 3389291"/>
              <a:gd name="connsiteY2-156" fmla="*/ 275960 h 570610"/>
              <a:gd name="connsiteX3-157" fmla="*/ 3026797 w 3389291"/>
              <a:gd name="connsiteY3-158" fmla="*/ 548580 h 570610"/>
              <a:gd name="connsiteX4-159" fmla="*/ 7641 w 3389291"/>
              <a:gd name="connsiteY4-160" fmla="*/ 563325 h 570610"/>
              <a:gd name="connsiteX0-161" fmla="*/ 0 w 3389291"/>
              <a:gd name="connsiteY0-162" fmla="*/ 27234 h 570610"/>
              <a:gd name="connsiteX1-163" fmla="*/ 3018618 w 3389291"/>
              <a:gd name="connsiteY1-164" fmla="*/ 24436 h 570610"/>
              <a:gd name="connsiteX2-165" fmla="*/ 3389285 w 3389291"/>
              <a:gd name="connsiteY2-166" fmla="*/ 275960 h 570610"/>
              <a:gd name="connsiteX3-167" fmla="*/ 3026797 w 3389291"/>
              <a:gd name="connsiteY3-168" fmla="*/ 548580 h 570610"/>
              <a:gd name="connsiteX4-169" fmla="*/ 7641 w 3389291"/>
              <a:gd name="connsiteY4-170" fmla="*/ 563325 h 570610"/>
              <a:gd name="connsiteX0-171" fmla="*/ 0 w 3389291"/>
              <a:gd name="connsiteY0-172" fmla="*/ 27234 h 570610"/>
              <a:gd name="connsiteX1-173" fmla="*/ 3018618 w 3389291"/>
              <a:gd name="connsiteY1-174" fmla="*/ 24436 h 570610"/>
              <a:gd name="connsiteX2-175" fmla="*/ 3389285 w 3389291"/>
              <a:gd name="connsiteY2-176" fmla="*/ 275960 h 570610"/>
              <a:gd name="connsiteX3-177" fmla="*/ 3026797 w 3389291"/>
              <a:gd name="connsiteY3-178" fmla="*/ 548580 h 570610"/>
              <a:gd name="connsiteX4-179" fmla="*/ 7641 w 3389291"/>
              <a:gd name="connsiteY4-180" fmla="*/ 563325 h 570610"/>
              <a:gd name="connsiteX0-181" fmla="*/ 0 w 3389291"/>
              <a:gd name="connsiteY0-182" fmla="*/ 27234 h 570610"/>
              <a:gd name="connsiteX1-183" fmla="*/ 3018618 w 3389291"/>
              <a:gd name="connsiteY1-184" fmla="*/ 24436 h 570610"/>
              <a:gd name="connsiteX2-185" fmla="*/ 3389285 w 3389291"/>
              <a:gd name="connsiteY2-186" fmla="*/ 275960 h 570610"/>
              <a:gd name="connsiteX3-187" fmla="*/ 3026797 w 3389291"/>
              <a:gd name="connsiteY3-188" fmla="*/ 548580 h 570610"/>
              <a:gd name="connsiteX4-189" fmla="*/ 7641 w 3389291"/>
              <a:gd name="connsiteY4-190" fmla="*/ 563325 h 5706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389291" h="570610">
                <a:moveTo>
                  <a:pt x="0" y="27234"/>
                </a:moveTo>
                <a:cubicBezTo>
                  <a:pt x="1241156" y="1403"/>
                  <a:pt x="2847437" y="-17018"/>
                  <a:pt x="3018618" y="24436"/>
                </a:cubicBezTo>
                <a:cubicBezTo>
                  <a:pt x="3189799" y="65890"/>
                  <a:pt x="3387922" y="61603"/>
                  <a:pt x="3389285" y="275960"/>
                </a:cubicBezTo>
                <a:cubicBezTo>
                  <a:pt x="3390648" y="490317"/>
                  <a:pt x="3190354" y="513386"/>
                  <a:pt x="3026797" y="548580"/>
                </a:cubicBezTo>
                <a:cubicBezTo>
                  <a:pt x="2863240" y="583774"/>
                  <a:pt x="1309498" y="567199"/>
                  <a:pt x="7641" y="563325"/>
                </a:cubicBezTo>
              </a:path>
            </a:pathLst>
          </a:custGeom>
          <a:ln w="38100">
            <a:solidFill>
              <a:srgbClr val="C00000"/>
            </a:solidFill>
            <a:tailEnd type="stealt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 bwMode="gray">
          <a:xfrm>
            <a:off x="5124678" y="4229498"/>
            <a:ext cx="1330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链路检测中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3" name="直接箭头连接符 22"/>
          <p:cNvCxnSpPr/>
          <p:nvPr/>
        </p:nvCxnSpPr>
        <p:spPr bwMode="gray">
          <a:xfrm>
            <a:off x="2115459" y="2736583"/>
            <a:ext cx="2826613" cy="0"/>
          </a:xfrm>
          <a:prstGeom prst="straightConnector1">
            <a:avLst/>
          </a:prstGeom>
          <a:ln w="38100">
            <a:solidFill>
              <a:srgbClr val="C00000"/>
            </a:solidFill>
            <a:tailEnd type="stealt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 bwMode="gray">
          <a:xfrm flipH="1">
            <a:off x="2087102" y="3374041"/>
            <a:ext cx="2842339" cy="0"/>
          </a:xfrm>
          <a:prstGeom prst="straightConnector1">
            <a:avLst/>
          </a:prstGeom>
          <a:ln w="38100">
            <a:solidFill>
              <a:srgbClr val="C00000"/>
            </a:solidFill>
            <a:tailEnd type="stealt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 bwMode="gray">
          <a:xfrm>
            <a:off x="5104313" y="2898262"/>
            <a:ext cx="1330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链路检测前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 bwMode="gray">
          <a:xfrm>
            <a:off x="442914" y="5263014"/>
            <a:ext cx="5713012" cy="932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在链路检测前，两端互相发送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控制报文通告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描述信息。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链路检测时，发起端主动发送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 Echo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报文，反射端根据本端情况环回此报文。发起端根据反射报文决定本端状态。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>
            <a:off x="7249615" y="3015405"/>
            <a:ext cx="915806" cy="611624"/>
          </a:xfrm>
          <a:prstGeom prst="rect">
            <a:avLst/>
          </a:prstGeom>
          <a:solidFill>
            <a:srgbClr val="F6B78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Down</a:t>
            </a:r>
            <a:endParaRPr lang="zh-CN" altLang="en-US" sz="16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9751515" y="3015405"/>
            <a:ext cx="915806" cy="611624"/>
          </a:xfrm>
          <a:prstGeom prst="rect">
            <a:avLst/>
          </a:prstGeom>
          <a:solidFill>
            <a:srgbClr val="AFD89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Up</a:t>
            </a:r>
            <a:endParaRPr lang="zh-CN" altLang="en-US" sz="16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弧形 39"/>
          <p:cNvSpPr/>
          <p:nvPr/>
        </p:nvSpPr>
        <p:spPr bwMode="gray">
          <a:xfrm>
            <a:off x="6643012" y="2447257"/>
            <a:ext cx="952836" cy="952836"/>
          </a:xfrm>
          <a:prstGeom prst="arc">
            <a:avLst>
              <a:gd name="adj1" fmla="val 5326009"/>
              <a:gd name="adj2" fmla="val 0"/>
            </a:avLst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弧形 40"/>
          <p:cNvSpPr/>
          <p:nvPr/>
        </p:nvSpPr>
        <p:spPr bwMode="gray">
          <a:xfrm flipH="1">
            <a:off x="10268340" y="2477135"/>
            <a:ext cx="915806" cy="952836"/>
          </a:xfrm>
          <a:prstGeom prst="arc">
            <a:avLst>
              <a:gd name="adj1" fmla="val 5326009"/>
              <a:gd name="adj2" fmla="val 0"/>
            </a:avLst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3" name="直接箭头连接符 42"/>
          <p:cNvCxnSpPr/>
          <p:nvPr/>
        </p:nvCxnSpPr>
        <p:spPr bwMode="gray">
          <a:xfrm>
            <a:off x="8165421" y="3227450"/>
            <a:ext cx="15860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 bwMode="gray">
          <a:xfrm flipH="1">
            <a:off x="8165421" y="3422817"/>
            <a:ext cx="15860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 bwMode="gray">
          <a:xfrm>
            <a:off x="8631426" y="2856687"/>
            <a:ext cx="798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 bwMode="gray">
          <a:xfrm>
            <a:off x="8351012" y="3553851"/>
            <a:ext cx="1264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Admin Down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(Timer)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6352446" y="1849836"/>
            <a:ext cx="1264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Admin Down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(Timer)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10450347" y="1982335"/>
            <a:ext cx="798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6279092" y="4196854"/>
            <a:ext cx="5201703" cy="1772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反射端构造的环回报文携带两种报文状态字段，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Admin Down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或者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发起端收到反射端发回的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报文则将本地状态置为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。发起端收到反射端返回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Admin Down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报文，则将状态置为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Down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。发起端在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定时器超时前收不到返回报文，也将状态置为</a:t>
            </a:r>
            <a:r>
              <a:rPr lang="en-US" altLang="zh-CN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Down</a:t>
            </a:r>
            <a:r>
              <a:rPr lang="zh-CN" altLang="en-US" sz="14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highlight>
                <a:srgbClr val="FFFF00"/>
              </a:highlight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8085724" y="1459747"/>
            <a:ext cx="1745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发起端状态机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单臂</a:t>
            </a:r>
            <a:r>
              <a:rPr lang="en-US" altLang="zh-CN">
                <a:sym typeface="Huawei Sans" panose="020C0503030203020204" pitchFamily="34" charset="0"/>
              </a:rPr>
              <a:t>BFD</a:t>
            </a:r>
            <a:r>
              <a:rPr lang="zh-CN" altLang="en-US">
                <a:sym typeface="Huawei Sans" panose="020C0503030203020204" pitchFamily="34" charset="0"/>
              </a:rPr>
              <a:t>检测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1377950"/>
          </a:xfrm>
        </p:spPr>
        <p:txBody>
          <a:bodyPr/>
          <a:lstStyle/>
          <a:p>
            <a:r>
              <a:rPr lang="en-US" altLang="zh-CN" sz="1600">
                <a:sym typeface="Huawei Sans" panose="020C0503030203020204" pitchFamily="34" charset="0"/>
              </a:rPr>
              <a:t>BFD</a:t>
            </a:r>
            <a:r>
              <a:rPr lang="zh-CN" altLang="en-US" sz="1600">
                <a:sym typeface="Huawei Sans" panose="020C0503030203020204" pitchFamily="34" charset="0"/>
              </a:rPr>
              <a:t>和</a:t>
            </a:r>
            <a:r>
              <a:rPr lang="en-US" altLang="zh-CN" sz="1600">
                <a:sym typeface="Huawei Sans" panose="020C0503030203020204" pitchFamily="34" charset="0"/>
              </a:rPr>
              <a:t>SBFD</a:t>
            </a:r>
            <a:r>
              <a:rPr lang="zh-CN" altLang="en-US" sz="1600">
                <a:sym typeface="Huawei Sans" panose="020C0503030203020204" pitchFamily="34" charset="0"/>
              </a:rPr>
              <a:t>均需要两端设备支持此功能。在特定场景下要与不支持</a:t>
            </a:r>
            <a:r>
              <a:rPr lang="en-US" altLang="zh-CN" sz="1600">
                <a:sym typeface="Huawei Sans" panose="020C0503030203020204" pitchFamily="34" charset="0"/>
              </a:rPr>
              <a:t>BFD</a:t>
            </a:r>
            <a:r>
              <a:rPr lang="zh-CN" altLang="en-US" sz="1600">
                <a:sym typeface="Huawei Sans" panose="020C0503030203020204" pitchFamily="34" charset="0"/>
              </a:rPr>
              <a:t>的设备对接时，华为设备支持配置</a:t>
            </a:r>
            <a:r>
              <a:rPr lang="en-US" altLang="zh-CN" sz="1600">
                <a:sym typeface="Huawei Sans" panose="020C0503030203020204" pitchFamily="34" charset="0"/>
              </a:rPr>
              <a:t>BFD</a:t>
            </a:r>
            <a:r>
              <a:rPr lang="zh-CN" altLang="en-US" sz="1600">
                <a:sym typeface="Huawei Sans" panose="020C0503030203020204" pitchFamily="34" charset="0"/>
              </a:rPr>
              <a:t>单臂功能（也称为单臂</a:t>
            </a:r>
            <a:r>
              <a:rPr lang="en-US" altLang="zh-CN" sz="1600">
                <a:sym typeface="Huawei Sans" panose="020C0503030203020204" pitchFamily="34" charset="0"/>
              </a:rPr>
              <a:t>Echo</a:t>
            </a:r>
            <a:r>
              <a:rPr lang="zh-CN" altLang="en-US" sz="1600">
                <a:sym typeface="Huawei Sans" panose="020C0503030203020204" pitchFamily="34" charset="0"/>
              </a:rPr>
              <a:t>功能） 。通过在支持</a:t>
            </a:r>
            <a:r>
              <a:rPr lang="en-US" altLang="zh-CN" sz="1600">
                <a:sym typeface="Huawei Sans" panose="020C0503030203020204" pitchFamily="34" charset="0"/>
              </a:rPr>
              <a:t>BFD</a:t>
            </a:r>
            <a:r>
              <a:rPr lang="zh-CN" altLang="en-US" sz="1600">
                <a:sym typeface="Huawei Sans" panose="020C0503030203020204" pitchFamily="34" charset="0"/>
              </a:rPr>
              <a:t>功能的设备上创建单臂</a:t>
            </a:r>
            <a:r>
              <a:rPr lang="en-US" altLang="zh-CN" sz="1600">
                <a:sym typeface="Huawei Sans" panose="020C0503030203020204" pitchFamily="34" charset="0"/>
              </a:rPr>
              <a:t>Echo</a:t>
            </a:r>
            <a:r>
              <a:rPr lang="zh-CN" altLang="en-US" sz="1600">
                <a:sym typeface="Huawei Sans" panose="020C0503030203020204" pitchFamily="34" charset="0"/>
              </a:rPr>
              <a:t>功能的</a:t>
            </a:r>
            <a:r>
              <a:rPr lang="en-US" altLang="zh-CN" sz="1600">
                <a:sym typeface="Huawei Sans" panose="020C0503030203020204" pitchFamily="34" charset="0"/>
              </a:rPr>
              <a:t>BFD</a:t>
            </a:r>
            <a:r>
              <a:rPr lang="zh-CN" altLang="en-US" sz="1600">
                <a:sym typeface="Huawei Sans" panose="020C0503030203020204" pitchFamily="34" charset="0"/>
              </a:rPr>
              <a:t>会话，不支持</a:t>
            </a:r>
            <a:r>
              <a:rPr lang="en-US" altLang="zh-CN" sz="1600">
                <a:sym typeface="Huawei Sans" panose="020C0503030203020204" pitchFamily="34" charset="0"/>
              </a:rPr>
              <a:t>BFD</a:t>
            </a:r>
            <a:r>
              <a:rPr lang="zh-CN" altLang="en-US" sz="1600">
                <a:sym typeface="Huawei Sans" panose="020C0503030203020204" pitchFamily="34" charset="0"/>
              </a:rPr>
              <a:t>功能的设备接收到该</a:t>
            </a:r>
            <a:r>
              <a:rPr lang="en-US" altLang="zh-CN" sz="1600">
                <a:sym typeface="Huawei Sans" panose="020C0503030203020204" pitchFamily="34" charset="0"/>
              </a:rPr>
              <a:t>BFD</a:t>
            </a:r>
            <a:r>
              <a:rPr lang="zh-CN" altLang="en-US" sz="1600">
                <a:sym typeface="Huawei Sans" panose="020C0503030203020204" pitchFamily="34" charset="0"/>
              </a:rPr>
              <a:t>报文后，直接将该报文环回，从而达到快速检测链路的目的。</a:t>
            </a:r>
            <a:endParaRPr lang="en-US" altLang="zh-CN" sz="1600">
              <a:sym typeface="Huawei Sans" panose="020C0503030203020204" pitchFamily="34" charset="0"/>
            </a:endParaRPr>
          </a:p>
          <a:p>
            <a:r>
              <a:rPr lang="zh-CN" altLang="en-US" sz="1600">
                <a:sym typeface="Huawei Sans" panose="020C0503030203020204" pitchFamily="34" charset="0"/>
              </a:rPr>
              <a:t>单臂</a:t>
            </a:r>
            <a:r>
              <a:rPr lang="en-US" altLang="zh-CN" sz="1600">
                <a:sym typeface="Huawei Sans" panose="020C0503030203020204" pitchFamily="34" charset="0"/>
              </a:rPr>
              <a:t>Echo</a:t>
            </a:r>
            <a:r>
              <a:rPr lang="zh-CN" altLang="en-US" sz="1600">
                <a:sym typeface="Huawei Sans" panose="020C0503030203020204" pitchFamily="34" charset="0"/>
              </a:rPr>
              <a:t>不需要双方协商</a:t>
            </a:r>
            <a:r>
              <a:rPr lang="en-US" altLang="zh-CN" sz="1600">
                <a:sym typeface="Huawei Sans" panose="020C0503030203020204" pitchFamily="34" charset="0"/>
              </a:rPr>
              <a:t>Echo</a:t>
            </a:r>
            <a:r>
              <a:rPr lang="zh-CN" altLang="en-US" sz="1600">
                <a:sym typeface="Huawei Sans" panose="020C0503030203020204" pitchFamily="34" charset="0"/>
              </a:rPr>
              <a:t>能力，一端配置</a:t>
            </a:r>
            <a:r>
              <a:rPr lang="en-US" altLang="zh-CN" sz="1600">
                <a:sym typeface="Huawei Sans" panose="020C0503030203020204" pitchFamily="34" charset="0"/>
              </a:rPr>
              <a:t>BFD</a:t>
            </a:r>
            <a:r>
              <a:rPr lang="zh-CN" altLang="en-US" sz="1600">
                <a:sym typeface="Huawei Sans" panose="020C0503030203020204" pitchFamily="34" charset="0"/>
              </a:rPr>
              <a:t>检测，另一端无需有</a:t>
            </a:r>
            <a:r>
              <a:rPr lang="en-US" altLang="zh-CN" sz="1600">
                <a:sym typeface="Huawei Sans" panose="020C0503030203020204" pitchFamily="34" charset="0"/>
              </a:rPr>
              <a:t>BFD</a:t>
            </a:r>
            <a:r>
              <a:rPr lang="zh-CN" altLang="en-US" sz="1600">
                <a:sym typeface="Huawei Sans" panose="020C0503030203020204" pitchFamily="34" charset="0"/>
              </a:rPr>
              <a:t>能力。使能单臂</a:t>
            </a:r>
            <a:r>
              <a:rPr lang="en-US" altLang="zh-CN" sz="1600">
                <a:sym typeface="Huawei Sans" panose="020C0503030203020204" pitchFamily="34" charset="0"/>
              </a:rPr>
              <a:t>Echo</a:t>
            </a:r>
            <a:r>
              <a:rPr lang="zh-CN" altLang="en-US" sz="1600">
                <a:sym typeface="Huawei Sans" panose="020C0503030203020204" pitchFamily="34" charset="0"/>
              </a:rPr>
              <a:t>的设备发送特殊的</a:t>
            </a:r>
            <a:r>
              <a:rPr lang="en-US" altLang="zh-CN" sz="1600">
                <a:sym typeface="Huawei Sans" panose="020C0503030203020204" pitchFamily="34" charset="0"/>
              </a:rPr>
              <a:t>BFD</a:t>
            </a:r>
            <a:r>
              <a:rPr lang="zh-CN" altLang="en-US" sz="1600">
                <a:sym typeface="Huawei Sans" panose="020C0503030203020204" pitchFamily="34" charset="0"/>
              </a:rPr>
              <a:t>报文（</a:t>
            </a:r>
            <a:r>
              <a:rPr lang="en-US" altLang="zh-CN" sz="1600">
                <a:sym typeface="Huawei Sans" panose="020C0503030203020204" pitchFamily="34" charset="0"/>
              </a:rPr>
              <a:t>IP</a:t>
            </a:r>
            <a:r>
              <a:rPr lang="zh-CN" altLang="en-US" sz="1600">
                <a:sym typeface="Huawei Sans" panose="020C0503030203020204" pitchFamily="34" charset="0"/>
              </a:rPr>
              <a:t>头中的源和目的</a:t>
            </a:r>
            <a:r>
              <a:rPr lang="en-US" altLang="zh-CN" sz="1600">
                <a:sym typeface="Huawei Sans" panose="020C0503030203020204" pitchFamily="34" charset="0"/>
              </a:rPr>
              <a:t>IP</a:t>
            </a:r>
            <a:r>
              <a:rPr lang="zh-CN" altLang="en-US" sz="1600">
                <a:sym typeface="Huawei Sans" panose="020C0503030203020204" pitchFamily="34" charset="0"/>
              </a:rPr>
              <a:t>都是本端设备的</a:t>
            </a:r>
            <a:r>
              <a:rPr lang="en-US" altLang="zh-CN" sz="1600">
                <a:sym typeface="Huawei Sans" panose="020C0503030203020204" pitchFamily="34" charset="0"/>
              </a:rPr>
              <a:t>IP</a:t>
            </a:r>
            <a:r>
              <a:rPr lang="zh-CN" altLang="en-US" sz="1600">
                <a:sym typeface="Huawei Sans" panose="020C0503030203020204" pitchFamily="34" charset="0"/>
              </a:rPr>
              <a:t>地址，</a:t>
            </a:r>
            <a:r>
              <a:rPr lang="en-US" altLang="zh-CN" sz="1600">
                <a:sym typeface="Huawei Sans" panose="020C0503030203020204" pitchFamily="34" charset="0"/>
              </a:rPr>
              <a:t>BFD</a:t>
            </a:r>
            <a:r>
              <a:rPr lang="zh-CN" altLang="en-US" sz="1600">
                <a:sym typeface="Huawei Sans" panose="020C0503030203020204" pitchFamily="34" charset="0"/>
              </a:rPr>
              <a:t>报文中的本地标识和远端标识相同）。对端收到后直接环回到本端，以此判断链路是否正常，有很强的适配能力。</a:t>
            </a:r>
            <a:endParaRPr lang="zh-CN" altLang="en-US" sz="1600">
              <a:sym typeface="Huawei Sans" panose="020C0503030203020204" pitchFamily="34" charset="0"/>
            </a:endParaRPr>
          </a:p>
        </p:txBody>
      </p:sp>
      <p:cxnSp>
        <p:nvCxnSpPr>
          <p:cNvPr id="4" name="直接连接符 3"/>
          <p:cNvCxnSpPr>
            <a:stCxn id="5" idx="2"/>
          </p:cNvCxnSpPr>
          <p:nvPr/>
        </p:nvCxnSpPr>
        <p:spPr bwMode="gray">
          <a:xfrm>
            <a:off x="3755116" y="4129538"/>
            <a:ext cx="0" cy="20712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533189" y="3765578"/>
            <a:ext cx="443854" cy="363960"/>
          </a:xfrm>
          <a:prstGeom prst="rect">
            <a:avLst/>
          </a:prstGeom>
        </p:spPr>
      </p:pic>
      <p:cxnSp>
        <p:nvCxnSpPr>
          <p:cNvPr id="6" name="直接连接符 5"/>
          <p:cNvCxnSpPr>
            <a:stCxn id="7" idx="2"/>
          </p:cNvCxnSpPr>
          <p:nvPr/>
        </p:nvCxnSpPr>
        <p:spPr bwMode="gray">
          <a:xfrm>
            <a:off x="7801925" y="4129538"/>
            <a:ext cx="9496" cy="20712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79998" y="3765578"/>
            <a:ext cx="443854" cy="3639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 bwMode="gray">
          <a:xfrm>
            <a:off x="3362189" y="3366369"/>
            <a:ext cx="1019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支持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 bwMode="gray">
          <a:xfrm>
            <a:off x="7359232" y="3356646"/>
            <a:ext cx="1351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不支持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任意多边形 2"/>
          <p:cNvSpPr/>
          <p:nvPr/>
        </p:nvSpPr>
        <p:spPr bwMode="gray">
          <a:xfrm>
            <a:off x="3998033" y="4668504"/>
            <a:ext cx="3520553" cy="1072960"/>
          </a:xfrm>
          <a:custGeom>
            <a:avLst/>
            <a:gdLst>
              <a:gd name="connsiteX0" fmla="*/ 0 w 3505113"/>
              <a:gd name="connsiteY0" fmla="*/ 33347 h 577788"/>
              <a:gd name="connsiteX1" fmla="*/ 3037668 w 3505113"/>
              <a:gd name="connsiteY1" fmla="*/ 17849 h 577788"/>
              <a:gd name="connsiteX2" fmla="*/ 3332135 w 3505113"/>
              <a:gd name="connsiteY2" fmla="*/ 250323 h 577788"/>
              <a:gd name="connsiteX3" fmla="*/ 3223647 w 3505113"/>
              <a:gd name="connsiteY3" fmla="*/ 529293 h 577788"/>
              <a:gd name="connsiteX4" fmla="*/ 77491 w 3505113"/>
              <a:gd name="connsiteY4" fmla="*/ 575788 h 577788"/>
              <a:gd name="connsiteX0-1" fmla="*/ 0 w 3536296"/>
              <a:gd name="connsiteY0-2" fmla="*/ 33347 h 577788"/>
              <a:gd name="connsiteX1-3" fmla="*/ 3037668 w 3536296"/>
              <a:gd name="connsiteY1-4" fmla="*/ 17849 h 577788"/>
              <a:gd name="connsiteX2-5" fmla="*/ 3401985 w 3536296"/>
              <a:gd name="connsiteY2-6" fmla="*/ 250323 h 577788"/>
              <a:gd name="connsiteX3-7" fmla="*/ 3223647 w 3536296"/>
              <a:gd name="connsiteY3-8" fmla="*/ 529293 h 577788"/>
              <a:gd name="connsiteX4-9" fmla="*/ 77491 w 3536296"/>
              <a:gd name="connsiteY4-10" fmla="*/ 575788 h 577788"/>
              <a:gd name="connsiteX0-11" fmla="*/ 0 w 3530217"/>
              <a:gd name="connsiteY0-12" fmla="*/ 33347 h 577788"/>
              <a:gd name="connsiteX1-13" fmla="*/ 3037668 w 3530217"/>
              <a:gd name="connsiteY1-14" fmla="*/ 17849 h 577788"/>
              <a:gd name="connsiteX2-15" fmla="*/ 3401985 w 3530217"/>
              <a:gd name="connsiteY2-16" fmla="*/ 250323 h 577788"/>
              <a:gd name="connsiteX3-17" fmla="*/ 3223647 w 3530217"/>
              <a:gd name="connsiteY3-18" fmla="*/ 529293 h 577788"/>
              <a:gd name="connsiteX4-19" fmla="*/ 77491 w 3530217"/>
              <a:gd name="connsiteY4-20" fmla="*/ 575788 h 577788"/>
              <a:gd name="connsiteX0-21" fmla="*/ 0 w 3437980"/>
              <a:gd name="connsiteY0-22" fmla="*/ 33347 h 587138"/>
              <a:gd name="connsiteX1-23" fmla="*/ 3037668 w 3437980"/>
              <a:gd name="connsiteY1-24" fmla="*/ 17849 h 587138"/>
              <a:gd name="connsiteX2-25" fmla="*/ 3401985 w 3437980"/>
              <a:gd name="connsiteY2-26" fmla="*/ 250323 h 587138"/>
              <a:gd name="connsiteX3-27" fmla="*/ 3026797 w 3437980"/>
              <a:gd name="connsiteY3-28" fmla="*/ 554693 h 587138"/>
              <a:gd name="connsiteX4-29" fmla="*/ 77491 w 3437980"/>
              <a:gd name="connsiteY4-30" fmla="*/ 575788 h 587138"/>
              <a:gd name="connsiteX0-31" fmla="*/ 0 w 3432439"/>
              <a:gd name="connsiteY0-32" fmla="*/ 53399 h 607190"/>
              <a:gd name="connsiteX1-33" fmla="*/ 3024968 w 3432439"/>
              <a:gd name="connsiteY1-34" fmla="*/ 12501 h 607190"/>
              <a:gd name="connsiteX2-35" fmla="*/ 3401985 w 3432439"/>
              <a:gd name="connsiteY2-36" fmla="*/ 270375 h 607190"/>
              <a:gd name="connsiteX3-37" fmla="*/ 3026797 w 3432439"/>
              <a:gd name="connsiteY3-38" fmla="*/ 574745 h 607190"/>
              <a:gd name="connsiteX4-39" fmla="*/ 77491 w 3432439"/>
              <a:gd name="connsiteY4-40" fmla="*/ 595840 h 607190"/>
              <a:gd name="connsiteX0-41" fmla="*/ 0 w 3432439"/>
              <a:gd name="connsiteY0-42" fmla="*/ 18434 h 572225"/>
              <a:gd name="connsiteX1-43" fmla="*/ 3024968 w 3432439"/>
              <a:gd name="connsiteY1-44" fmla="*/ 28336 h 572225"/>
              <a:gd name="connsiteX2-45" fmla="*/ 3401985 w 3432439"/>
              <a:gd name="connsiteY2-46" fmla="*/ 235410 h 572225"/>
              <a:gd name="connsiteX3-47" fmla="*/ 3026797 w 3432439"/>
              <a:gd name="connsiteY3-48" fmla="*/ 539780 h 572225"/>
              <a:gd name="connsiteX4-49" fmla="*/ 77491 w 3432439"/>
              <a:gd name="connsiteY4-50" fmla="*/ 560875 h 572225"/>
              <a:gd name="connsiteX0-51" fmla="*/ 0 w 3429658"/>
              <a:gd name="connsiteY0-52" fmla="*/ 16335 h 570126"/>
              <a:gd name="connsiteX1-53" fmla="*/ 3024968 w 3429658"/>
              <a:gd name="connsiteY1-54" fmla="*/ 26237 h 570126"/>
              <a:gd name="connsiteX2-55" fmla="*/ 3401985 w 3429658"/>
              <a:gd name="connsiteY2-56" fmla="*/ 233311 h 570126"/>
              <a:gd name="connsiteX3-57" fmla="*/ 3026797 w 3429658"/>
              <a:gd name="connsiteY3-58" fmla="*/ 537681 h 570126"/>
              <a:gd name="connsiteX4-59" fmla="*/ 77491 w 3429658"/>
              <a:gd name="connsiteY4-60" fmla="*/ 558776 h 570126"/>
              <a:gd name="connsiteX0-61" fmla="*/ 0 w 3401985"/>
              <a:gd name="connsiteY0-62" fmla="*/ 16335 h 561442"/>
              <a:gd name="connsiteX1-63" fmla="*/ 3024968 w 3401985"/>
              <a:gd name="connsiteY1-64" fmla="*/ 26237 h 561442"/>
              <a:gd name="connsiteX2-65" fmla="*/ 3401985 w 3401985"/>
              <a:gd name="connsiteY2-66" fmla="*/ 233311 h 561442"/>
              <a:gd name="connsiteX3-67" fmla="*/ 3026797 w 3401985"/>
              <a:gd name="connsiteY3-68" fmla="*/ 537681 h 561442"/>
              <a:gd name="connsiteX4-69" fmla="*/ 77491 w 3401985"/>
              <a:gd name="connsiteY4-70" fmla="*/ 558776 h 561442"/>
              <a:gd name="connsiteX0-71" fmla="*/ 0 w 3401986"/>
              <a:gd name="connsiteY0-72" fmla="*/ 22418 h 567525"/>
              <a:gd name="connsiteX1-73" fmla="*/ 3031318 w 3401986"/>
              <a:gd name="connsiteY1-74" fmla="*/ 19620 h 567525"/>
              <a:gd name="connsiteX2-75" fmla="*/ 3401985 w 3401986"/>
              <a:gd name="connsiteY2-76" fmla="*/ 239394 h 567525"/>
              <a:gd name="connsiteX3-77" fmla="*/ 3026797 w 3401986"/>
              <a:gd name="connsiteY3-78" fmla="*/ 543764 h 567525"/>
              <a:gd name="connsiteX4-79" fmla="*/ 77491 w 3401986"/>
              <a:gd name="connsiteY4-80" fmla="*/ 564859 h 567525"/>
              <a:gd name="connsiteX0-81" fmla="*/ 0 w 3402070"/>
              <a:gd name="connsiteY0-82" fmla="*/ 22418 h 567525"/>
              <a:gd name="connsiteX1-83" fmla="*/ 3031318 w 3402070"/>
              <a:gd name="connsiteY1-84" fmla="*/ 19620 h 567525"/>
              <a:gd name="connsiteX2-85" fmla="*/ 3401985 w 3402070"/>
              <a:gd name="connsiteY2-86" fmla="*/ 239394 h 567525"/>
              <a:gd name="connsiteX3-87" fmla="*/ 3026797 w 3402070"/>
              <a:gd name="connsiteY3-88" fmla="*/ 543764 h 567525"/>
              <a:gd name="connsiteX4-89" fmla="*/ 77491 w 3402070"/>
              <a:gd name="connsiteY4-90" fmla="*/ 564859 h 567525"/>
              <a:gd name="connsiteX0-91" fmla="*/ 0 w 3423915"/>
              <a:gd name="connsiteY0-92" fmla="*/ 27234 h 578951"/>
              <a:gd name="connsiteX1-93" fmla="*/ 3031318 w 3423915"/>
              <a:gd name="connsiteY1-94" fmla="*/ 24436 h 578951"/>
              <a:gd name="connsiteX2-95" fmla="*/ 3389285 w 3423915"/>
              <a:gd name="connsiteY2-96" fmla="*/ 275960 h 578951"/>
              <a:gd name="connsiteX3-97" fmla="*/ 3026797 w 3423915"/>
              <a:gd name="connsiteY3-98" fmla="*/ 548580 h 578951"/>
              <a:gd name="connsiteX4-99" fmla="*/ 77491 w 3423915"/>
              <a:gd name="connsiteY4-100" fmla="*/ 569675 h 578951"/>
              <a:gd name="connsiteX0-101" fmla="*/ 0 w 3423088"/>
              <a:gd name="connsiteY0-102" fmla="*/ 27234 h 578951"/>
              <a:gd name="connsiteX1-103" fmla="*/ 3031318 w 3423088"/>
              <a:gd name="connsiteY1-104" fmla="*/ 24436 h 578951"/>
              <a:gd name="connsiteX2-105" fmla="*/ 3389285 w 3423088"/>
              <a:gd name="connsiteY2-106" fmla="*/ 275960 h 578951"/>
              <a:gd name="connsiteX3-107" fmla="*/ 3026797 w 3423088"/>
              <a:gd name="connsiteY3-108" fmla="*/ 548580 h 578951"/>
              <a:gd name="connsiteX4-109" fmla="*/ 77491 w 3423088"/>
              <a:gd name="connsiteY4-110" fmla="*/ 569675 h 578951"/>
              <a:gd name="connsiteX0-111" fmla="*/ 0 w 3389428"/>
              <a:gd name="connsiteY0-112" fmla="*/ 27234 h 578951"/>
              <a:gd name="connsiteX1-113" fmla="*/ 3031318 w 3389428"/>
              <a:gd name="connsiteY1-114" fmla="*/ 24436 h 578951"/>
              <a:gd name="connsiteX2-115" fmla="*/ 3389285 w 3389428"/>
              <a:gd name="connsiteY2-116" fmla="*/ 275960 h 578951"/>
              <a:gd name="connsiteX3-117" fmla="*/ 3026797 w 3389428"/>
              <a:gd name="connsiteY3-118" fmla="*/ 548580 h 578951"/>
              <a:gd name="connsiteX4-119" fmla="*/ 77491 w 3389428"/>
              <a:gd name="connsiteY4-120" fmla="*/ 569675 h 578951"/>
              <a:gd name="connsiteX0-121" fmla="*/ 0 w 3389413"/>
              <a:gd name="connsiteY0-122" fmla="*/ 27234 h 572596"/>
              <a:gd name="connsiteX1-123" fmla="*/ 3031318 w 3389413"/>
              <a:gd name="connsiteY1-124" fmla="*/ 24436 h 572596"/>
              <a:gd name="connsiteX2-125" fmla="*/ 3389285 w 3389413"/>
              <a:gd name="connsiteY2-126" fmla="*/ 275960 h 572596"/>
              <a:gd name="connsiteX3-127" fmla="*/ 3026797 w 3389413"/>
              <a:gd name="connsiteY3-128" fmla="*/ 548580 h 572596"/>
              <a:gd name="connsiteX4-129" fmla="*/ 77491 w 3389413"/>
              <a:gd name="connsiteY4-130" fmla="*/ 569675 h 572596"/>
              <a:gd name="connsiteX0-131" fmla="*/ 0 w 3426550"/>
              <a:gd name="connsiteY0-132" fmla="*/ 27234 h 575718"/>
              <a:gd name="connsiteX1-133" fmla="*/ 3031318 w 3426550"/>
              <a:gd name="connsiteY1-134" fmla="*/ 24436 h 575718"/>
              <a:gd name="connsiteX2-135" fmla="*/ 3389285 w 3426550"/>
              <a:gd name="connsiteY2-136" fmla="*/ 275960 h 575718"/>
              <a:gd name="connsiteX3-137" fmla="*/ 3026797 w 3426550"/>
              <a:gd name="connsiteY3-138" fmla="*/ 548580 h 575718"/>
              <a:gd name="connsiteX4-139" fmla="*/ 7641 w 3426550"/>
              <a:gd name="connsiteY4-140" fmla="*/ 563325 h 575718"/>
              <a:gd name="connsiteX0-141" fmla="*/ 0 w 3389397"/>
              <a:gd name="connsiteY0-142" fmla="*/ 27234 h 570610"/>
              <a:gd name="connsiteX1-143" fmla="*/ 3031318 w 3389397"/>
              <a:gd name="connsiteY1-144" fmla="*/ 24436 h 570610"/>
              <a:gd name="connsiteX2-145" fmla="*/ 3389285 w 3389397"/>
              <a:gd name="connsiteY2-146" fmla="*/ 275960 h 570610"/>
              <a:gd name="connsiteX3-147" fmla="*/ 3026797 w 3389397"/>
              <a:gd name="connsiteY3-148" fmla="*/ 548580 h 570610"/>
              <a:gd name="connsiteX4-149" fmla="*/ 7641 w 3389397"/>
              <a:gd name="connsiteY4-150" fmla="*/ 563325 h 570610"/>
              <a:gd name="connsiteX0-151" fmla="*/ 0 w 3389291"/>
              <a:gd name="connsiteY0-152" fmla="*/ 27234 h 570610"/>
              <a:gd name="connsiteX1-153" fmla="*/ 3018618 w 3389291"/>
              <a:gd name="connsiteY1-154" fmla="*/ 24436 h 570610"/>
              <a:gd name="connsiteX2-155" fmla="*/ 3389285 w 3389291"/>
              <a:gd name="connsiteY2-156" fmla="*/ 275960 h 570610"/>
              <a:gd name="connsiteX3-157" fmla="*/ 3026797 w 3389291"/>
              <a:gd name="connsiteY3-158" fmla="*/ 548580 h 570610"/>
              <a:gd name="connsiteX4-159" fmla="*/ 7641 w 3389291"/>
              <a:gd name="connsiteY4-160" fmla="*/ 563325 h 570610"/>
              <a:gd name="connsiteX0-161" fmla="*/ 0 w 3389291"/>
              <a:gd name="connsiteY0-162" fmla="*/ 27234 h 570610"/>
              <a:gd name="connsiteX1-163" fmla="*/ 3018618 w 3389291"/>
              <a:gd name="connsiteY1-164" fmla="*/ 24436 h 570610"/>
              <a:gd name="connsiteX2-165" fmla="*/ 3389285 w 3389291"/>
              <a:gd name="connsiteY2-166" fmla="*/ 275960 h 570610"/>
              <a:gd name="connsiteX3-167" fmla="*/ 3026797 w 3389291"/>
              <a:gd name="connsiteY3-168" fmla="*/ 548580 h 570610"/>
              <a:gd name="connsiteX4-169" fmla="*/ 7641 w 3389291"/>
              <a:gd name="connsiteY4-170" fmla="*/ 563325 h 570610"/>
              <a:gd name="connsiteX0-171" fmla="*/ 0 w 3389291"/>
              <a:gd name="connsiteY0-172" fmla="*/ 27234 h 570610"/>
              <a:gd name="connsiteX1-173" fmla="*/ 3018618 w 3389291"/>
              <a:gd name="connsiteY1-174" fmla="*/ 24436 h 570610"/>
              <a:gd name="connsiteX2-175" fmla="*/ 3389285 w 3389291"/>
              <a:gd name="connsiteY2-176" fmla="*/ 275960 h 570610"/>
              <a:gd name="connsiteX3-177" fmla="*/ 3026797 w 3389291"/>
              <a:gd name="connsiteY3-178" fmla="*/ 548580 h 570610"/>
              <a:gd name="connsiteX4-179" fmla="*/ 7641 w 3389291"/>
              <a:gd name="connsiteY4-180" fmla="*/ 563325 h 570610"/>
              <a:gd name="connsiteX0-181" fmla="*/ 0 w 3389291"/>
              <a:gd name="connsiteY0-182" fmla="*/ 27234 h 570610"/>
              <a:gd name="connsiteX1-183" fmla="*/ 3018618 w 3389291"/>
              <a:gd name="connsiteY1-184" fmla="*/ 24436 h 570610"/>
              <a:gd name="connsiteX2-185" fmla="*/ 3389285 w 3389291"/>
              <a:gd name="connsiteY2-186" fmla="*/ 275960 h 570610"/>
              <a:gd name="connsiteX3-187" fmla="*/ 3026797 w 3389291"/>
              <a:gd name="connsiteY3-188" fmla="*/ 548580 h 570610"/>
              <a:gd name="connsiteX4-189" fmla="*/ 7641 w 3389291"/>
              <a:gd name="connsiteY4-190" fmla="*/ 563325 h 5706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389291" h="570610">
                <a:moveTo>
                  <a:pt x="0" y="27234"/>
                </a:moveTo>
                <a:cubicBezTo>
                  <a:pt x="1241156" y="1403"/>
                  <a:pt x="2847437" y="-17018"/>
                  <a:pt x="3018618" y="24436"/>
                </a:cubicBezTo>
                <a:cubicBezTo>
                  <a:pt x="3189799" y="65890"/>
                  <a:pt x="3387922" y="61603"/>
                  <a:pt x="3389285" y="275960"/>
                </a:cubicBezTo>
                <a:cubicBezTo>
                  <a:pt x="3390648" y="490317"/>
                  <a:pt x="3190354" y="513386"/>
                  <a:pt x="3026797" y="548580"/>
                </a:cubicBezTo>
                <a:cubicBezTo>
                  <a:pt x="2863240" y="583774"/>
                  <a:pt x="1309498" y="567199"/>
                  <a:pt x="7641" y="563325"/>
                </a:cubicBezTo>
              </a:path>
            </a:pathLst>
          </a:custGeom>
          <a:ln w="38100">
            <a:solidFill>
              <a:srgbClr val="C00000"/>
            </a:solidFill>
            <a:tailEnd type="stealt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 bwMode="gray">
          <a:xfrm>
            <a:off x="8085105" y="4815272"/>
            <a:ext cx="1250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根据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DIP=A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转发回源端设备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 bwMode="gray">
          <a:xfrm>
            <a:off x="878606" y="5162208"/>
            <a:ext cx="23725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：源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：目的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MD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My Discriminator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YD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Your Discriminator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 bwMode="gray">
          <a:xfrm>
            <a:off x="3977005" y="4295140"/>
            <a:ext cx="34048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 SIP=</a:t>
            </a:r>
            <a:r>
              <a:rPr lang="en-US" altLang="zh-CN" sz="140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, DIP=</a:t>
            </a:r>
            <a:r>
              <a:rPr lang="en-US" altLang="zh-CN" sz="140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A,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MD=</a:t>
            </a:r>
            <a:r>
              <a:rPr lang="en-US" altLang="zh-CN" sz="140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A,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YD=</a:t>
            </a:r>
            <a:r>
              <a:rPr lang="en-US" altLang="zh-CN" sz="140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endParaRPr lang="en-US" altLang="zh-CN" sz="1400">
              <a:highlight>
                <a:srgbClr val="FFFF00"/>
              </a:highlight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 bwMode="gray">
          <a:xfrm>
            <a:off x="4254500" y="5248275"/>
            <a:ext cx="33248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 SIP=A, DIP=A,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MD=A, YD=A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2515131" y="3796361"/>
            <a:ext cx="1019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Router A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8188145" y="3796361"/>
            <a:ext cx="1019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Router B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燕尾形 57"/>
          <p:cNvSpPr/>
          <p:nvPr/>
        </p:nvSpPr>
        <p:spPr bwMode="gray">
          <a:xfrm>
            <a:off x="11207500" y="113521"/>
            <a:ext cx="54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BFD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五边形 58"/>
          <p:cNvSpPr/>
          <p:nvPr/>
        </p:nvSpPr>
        <p:spPr bwMode="gray">
          <a:xfrm>
            <a:off x="5793093" y="113521"/>
            <a:ext cx="10800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TI-LFA FRR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燕尾形 59"/>
          <p:cNvSpPr/>
          <p:nvPr/>
        </p:nvSpPr>
        <p:spPr bwMode="gray">
          <a:xfrm>
            <a:off x="9076296" y="113521"/>
            <a:ext cx="864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燕尾形 60"/>
          <p:cNvSpPr/>
          <p:nvPr/>
        </p:nvSpPr>
        <p:spPr bwMode="gray">
          <a:xfrm>
            <a:off x="7957895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Hot-Standby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燕尾形 10"/>
          <p:cNvSpPr/>
          <p:nvPr/>
        </p:nvSpPr>
        <p:spPr bwMode="gray">
          <a:xfrm>
            <a:off x="6839494" y="113521"/>
            <a:ext cx="1152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Anycast FRR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燕尾形 62"/>
          <p:cNvSpPr/>
          <p:nvPr/>
        </p:nvSpPr>
        <p:spPr bwMode="gray">
          <a:xfrm>
            <a:off x="9906697" y="113521"/>
            <a:ext cx="72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防微环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燕尾形 63"/>
          <p:cNvSpPr/>
          <p:nvPr/>
        </p:nvSpPr>
        <p:spPr bwMode="gray">
          <a:xfrm>
            <a:off x="10593098" y="113521"/>
            <a:ext cx="648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SBFD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概述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技术原理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隧道保护与检测技术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>
                <a:sym typeface="Huawei Sans" panose="020C0503030203020204" pitchFamily="34" charset="0"/>
              </a:rPr>
              <a:t>Segment Routing</a:t>
            </a:r>
            <a:r>
              <a:rPr lang="zh-CN" altLang="en-US" b="1" dirty="0">
                <a:sym typeface="Huawei Sans" panose="020C0503030203020204" pitchFamily="34" charset="0"/>
              </a:rPr>
              <a:t>的典型应用场景</a:t>
            </a:r>
            <a:endParaRPr lang="zh-CN" altLang="en-US" b="1" dirty="0"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的基础配置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 34"/>
          <p:cNvSpPr/>
          <p:nvPr/>
        </p:nvSpPr>
        <p:spPr bwMode="gray">
          <a:xfrm rot="5400000">
            <a:off x="5081175" y="3959114"/>
            <a:ext cx="1486484" cy="92461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ts val="24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圆角矩形 33"/>
          <p:cNvSpPr/>
          <p:nvPr/>
        </p:nvSpPr>
        <p:spPr bwMode="gray">
          <a:xfrm rot="5400000">
            <a:off x="174678" y="3959114"/>
            <a:ext cx="1486484" cy="92461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ts val="24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圆角矩形 25"/>
          <p:cNvSpPr/>
          <p:nvPr/>
        </p:nvSpPr>
        <p:spPr bwMode="gray">
          <a:xfrm>
            <a:off x="1033622" y="2481730"/>
            <a:ext cx="4727402" cy="1440160"/>
          </a:xfrm>
          <a:prstGeom prst="roundRect">
            <a:avLst>
              <a:gd name="adj" fmla="val 50000"/>
            </a:avLst>
          </a:prstGeom>
          <a:solidFill>
            <a:srgbClr val="FFFFCC"/>
          </a:solidFill>
          <a:ln w="19050">
            <a:solidFill>
              <a:srgbClr val="FF99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单域</a:t>
            </a:r>
            <a:r>
              <a:rPr lang="en-US" altLang="zh-CN">
                <a:sym typeface="Huawei Sans" panose="020C0503030203020204" pitchFamily="34" charset="0"/>
              </a:rPr>
              <a:t>SR-MPLS BE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>
          <a:xfrm>
            <a:off x="6352300" y="1308775"/>
            <a:ext cx="5115296" cy="3751903"/>
          </a:xfrm>
        </p:spPr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SR-MPLS BE</a:t>
            </a:r>
            <a:r>
              <a:rPr lang="zh-CN" altLang="en-US" sz="1800" dirty="0">
                <a:sym typeface="Huawei Sans" panose="020C0503030203020204" pitchFamily="34" charset="0"/>
              </a:rPr>
              <a:t>适用于无严格</a:t>
            </a:r>
            <a:r>
              <a:rPr lang="en-US" altLang="zh-CN" sz="1800" dirty="0">
                <a:sym typeface="Huawei Sans" panose="020C0503030203020204" pitchFamily="34" charset="0"/>
              </a:rPr>
              <a:t>SLA</a:t>
            </a:r>
            <a:r>
              <a:rPr lang="zh-CN" altLang="en-US" sz="1800" dirty="0">
                <a:sym typeface="Huawei Sans" panose="020C0503030203020204" pitchFamily="34" charset="0"/>
              </a:rPr>
              <a:t>要求、无需路径规划的业务。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下游路由器向上游分配</a:t>
            </a:r>
            <a:r>
              <a:rPr lang="en-US" altLang="zh-CN" sz="1800" dirty="0">
                <a:sym typeface="Huawei Sans" panose="020C0503030203020204" pitchFamily="34" charset="0"/>
              </a:rPr>
              <a:t>SID</a:t>
            </a:r>
            <a:r>
              <a:rPr lang="zh-CN" altLang="en-US" sz="1800" dirty="0">
                <a:sym typeface="Huawei Sans" panose="020C0503030203020204" pitchFamily="34" charset="0"/>
              </a:rPr>
              <a:t>，形成</a:t>
            </a:r>
            <a:r>
              <a:rPr lang="en-US" altLang="zh-CN" sz="1800" dirty="0">
                <a:sym typeface="Huawei Sans" panose="020C0503030203020204" pitchFamily="34" charset="0"/>
              </a:rPr>
              <a:t>SR-MPLS</a:t>
            </a:r>
            <a:r>
              <a:rPr lang="zh-CN" altLang="en-US" sz="1800" dirty="0">
                <a:sym typeface="Huawei Sans" panose="020C0503030203020204" pitchFamily="34" charset="0"/>
              </a:rPr>
              <a:t>转发路径。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控制面使用</a:t>
            </a:r>
            <a:r>
              <a:rPr lang="en-US" altLang="zh-CN" sz="1800" dirty="0">
                <a:sym typeface="Huawei Sans" panose="020C0503030203020204" pitchFamily="34" charset="0"/>
              </a:rPr>
              <a:t>MP-BGP</a:t>
            </a:r>
            <a:r>
              <a:rPr lang="zh-CN" altLang="en-US" sz="1800" dirty="0">
                <a:sym typeface="Huawei Sans" panose="020C0503030203020204" pitchFamily="34" charset="0"/>
              </a:rPr>
              <a:t>发布私网业务标签。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另外，</a:t>
            </a:r>
            <a:r>
              <a:rPr lang="en-US" altLang="zh-CN" sz="1800" dirty="0">
                <a:sym typeface="Huawei Sans" panose="020C0503030203020204" pitchFamily="34" charset="0"/>
              </a:rPr>
              <a:t>SR-MPLS BE</a:t>
            </a:r>
            <a:r>
              <a:rPr lang="zh-CN" altLang="en-US" sz="1800" dirty="0">
                <a:sym typeface="Huawei Sans" panose="020C0503030203020204" pitchFamily="34" charset="0"/>
              </a:rPr>
              <a:t>在生产网络中可以作为</a:t>
            </a:r>
            <a:r>
              <a:rPr lang="en-US" altLang="zh-CN" sz="1800" dirty="0">
                <a:sym typeface="Huawei Sans" panose="020C0503030203020204" pitchFamily="34" charset="0"/>
              </a:rPr>
              <a:t>SR-MPLS TE</a:t>
            </a:r>
            <a:r>
              <a:rPr lang="zh-CN" altLang="en-US" sz="1800" dirty="0">
                <a:sym typeface="Huawei Sans" panose="020C0503030203020204" pitchFamily="34" charset="0"/>
              </a:rPr>
              <a:t>业务的备份方案。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>
            <a:stCxn id="7" idx="3"/>
            <a:endCxn id="13" idx="1"/>
          </p:cNvCxnSpPr>
          <p:nvPr/>
        </p:nvCxnSpPr>
        <p:spPr bwMode="gray">
          <a:xfrm>
            <a:off x="1164450" y="3500300"/>
            <a:ext cx="44056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 bwMode="gray">
          <a:xfrm>
            <a:off x="2349037" y="3721637"/>
            <a:ext cx="4042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05722" y="3299027"/>
            <a:ext cx="490909" cy="40254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 bwMode="gray">
          <a:xfrm>
            <a:off x="3981218" y="3721637"/>
            <a:ext cx="4042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37903" y="3299027"/>
            <a:ext cx="490909" cy="40254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 bwMode="gray">
          <a:xfrm>
            <a:off x="518771" y="2972954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73541" y="3299027"/>
            <a:ext cx="490909" cy="40254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73541" y="4397108"/>
            <a:ext cx="490909" cy="402545"/>
          </a:xfrm>
          <a:prstGeom prst="rect">
            <a:avLst/>
          </a:prstGeom>
        </p:spPr>
      </p:pic>
      <p:cxnSp>
        <p:nvCxnSpPr>
          <p:cNvPr id="16" name="直接连接符 15"/>
          <p:cNvCxnSpPr>
            <a:stCxn id="7" idx="2"/>
            <a:endCxn id="14" idx="0"/>
          </p:cNvCxnSpPr>
          <p:nvPr/>
        </p:nvCxnSpPr>
        <p:spPr bwMode="gray">
          <a:xfrm>
            <a:off x="918996" y="3701572"/>
            <a:ext cx="0" cy="695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 bwMode="gray">
          <a:xfrm>
            <a:off x="667965" y="4902494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矩形 11"/>
          <p:cNvSpPr/>
          <p:nvPr/>
        </p:nvSpPr>
        <p:spPr bwMode="gray">
          <a:xfrm>
            <a:off x="5735171" y="2972954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70085" y="3299027"/>
            <a:ext cx="490909" cy="40254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70085" y="4397108"/>
            <a:ext cx="490909" cy="402545"/>
          </a:xfrm>
          <a:prstGeom prst="rect">
            <a:avLst/>
          </a:prstGeom>
        </p:spPr>
      </p:pic>
      <p:cxnSp>
        <p:nvCxnSpPr>
          <p:cNvPr id="17" name="直接连接符 16"/>
          <p:cNvCxnSpPr>
            <a:stCxn id="13" idx="2"/>
            <a:endCxn id="15" idx="0"/>
          </p:cNvCxnSpPr>
          <p:nvPr/>
        </p:nvCxnSpPr>
        <p:spPr bwMode="gray">
          <a:xfrm>
            <a:off x="5815540" y="3701572"/>
            <a:ext cx="0" cy="695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 bwMode="gray">
          <a:xfrm>
            <a:off x="5564509" y="4902494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2443778" y="2592257"/>
            <a:ext cx="18469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b="1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b="1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en-US" sz="1400" b="1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或</a:t>
            </a:r>
            <a:r>
              <a:rPr lang="en-US" altLang="zh-CN" sz="1400" b="1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IS-IS</a:t>
            </a:r>
            <a:r>
              <a:rPr lang="zh-CN" altLang="en-US" sz="1400" b="1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400" b="1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b="1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</a:t>
            </a:r>
            <a:endParaRPr lang="zh-CN" altLang="en-US" sz="1400" b="1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任意多边形 31"/>
          <p:cNvSpPr/>
          <p:nvPr/>
        </p:nvSpPr>
        <p:spPr bwMode="gray">
          <a:xfrm>
            <a:off x="897033" y="1563213"/>
            <a:ext cx="5051396" cy="1402452"/>
          </a:xfrm>
          <a:custGeom>
            <a:avLst/>
            <a:gdLst>
              <a:gd name="connsiteX0" fmla="*/ 0 w 3355760"/>
              <a:gd name="connsiteY0" fmla="*/ 0 h 195309"/>
              <a:gd name="connsiteX1" fmla="*/ 3355760 w 3355760"/>
              <a:gd name="connsiteY1" fmla="*/ 195309 h 195309"/>
              <a:gd name="connsiteX0-1" fmla="*/ 0 w 3222595"/>
              <a:gd name="connsiteY0-2" fmla="*/ 985421 h 985421"/>
              <a:gd name="connsiteX1-3" fmla="*/ 3222595 w 3222595"/>
              <a:gd name="connsiteY1-4" fmla="*/ 0 h 985421"/>
              <a:gd name="connsiteX0-5" fmla="*/ 0 w 3222595"/>
              <a:gd name="connsiteY0-6" fmla="*/ 985421 h 985421"/>
              <a:gd name="connsiteX1-7" fmla="*/ 3222595 w 3222595"/>
              <a:gd name="connsiteY1-8" fmla="*/ 0 h 985421"/>
              <a:gd name="connsiteX0-9" fmla="*/ 0 w 4873841"/>
              <a:gd name="connsiteY0-10" fmla="*/ 494313 h 557187"/>
              <a:gd name="connsiteX1-11" fmla="*/ 4873841 w 4873841"/>
              <a:gd name="connsiteY1-12" fmla="*/ 512068 h 557187"/>
              <a:gd name="connsiteX0-13" fmla="*/ 0 w 4873841"/>
              <a:gd name="connsiteY0-14" fmla="*/ 939996 h 957751"/>
              <a:gd name="connsiteX1-15" fmla="*/ 4873841 w 4873841"/>
              <a:gd name="connsiteY1-16" fmla="*/ 957751 h 957751"/>
              <a:gd name="connsiteX0-17" fmla="*/ 0 w 4873841"/>
              <a:gd name="connsiteY0-18" fmla="*/ 929948 h 947703"/>
              <a:gd name="connsiteX1-19" fmla="*/ 4873841 w 4873841"/>
              <a:gd name="connsiteY1-20" fmla="*/ 947703 h 947703"/>
              <a:gd name="connsiteX0-21" fmla="*/ 0 w 4873841"/>
              <a:gd name="connsiteY0-22" fmla="*/ 1034293 h 1052048"/>
              <a:gd name="connsiteX1-23" fmla="*/ 4873841 w 4873841"/>
              <a:gd name="connsiteY1-24" fmla="*/ 1052048 h 1052048"/>
              <a:gd name="connsiteX0-25" fmla="*/ 0 w 4873841"/>
              <a:gd name="connsiteY0-26" fmla="*/ 1091915 h 1109670"/>
              <a:gd name="connsiteX1-27" fmla="*/ 4873841 w 4873841"/>
              <a:gd name="connsiteY1-28" fmla="*/ 1109670 h 1109670"/>
              <a:gd name="connsiteX0-29" fmla="*/ 0 w 4873841"/>
              <a:gd name="connsiteY0-30" fmla="*/ 1079229 h 1096984"/>
              <a:gd name="connsiteX1-31" fmla="*/ 4873841 w 4873841"/>
              <a:gd name="connsiteY1-32" fmla="*/ 1096984 h 10969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4873841" h="1096984">
                <a:moveTo>
                  <a:pt x="0" y="1079229"/>
                </a:moveTo>
                <a:cubicBezTo>
                  <a:pt x="923278" y="-434463"/>
                  <a:pt x="3684234" y="-288637"/>
                  <a:pt x="4873841" y="1096984"/>
                </a:cubicBezTo>
              </a:path>
            </a:pathLst>
          </a:custGeom>
          <a:noFill/>
          <a:ln w="19050">
            <a:solidFill>
              <a:srgbClr val="0070C0"/>
            </a:solidFill>
            <a:prstDash val="sysDot"/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2736533" y="1158864"/>
            <a:ext cx="10502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b="1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  <a:endParaRPr lang="zh-CN" altLang="en-US" sz="1600" b="1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1477975" y="3419366"/>
            <a:ext cx="537807" cy="161866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3100126" y="3419366"/>
            <a:ext cx="537807" cy="161866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4788893" y="3419366"/>
            <a:ext cx="537807" cy="161866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4506989" y="4366703"/>
            <a:ext cx="8931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 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任意多边形 28"/>
          <p:cNvSpPr/>
          <p:nvPr/>
        </p:nvSpPr>
        <p:spPr bwMode="gray">
          <a:xfrm>
            <a:off x="4327625" y="3945114"/>
            <a:ext cx="1313869" cy="371012"/>
          </a:xfrm>
          <a:custGeom>
            <a:avLst/>
            <a:gdLst>
              <a:gd name="connsiteX0" fmla="*/ 0 w 2030506"/>
              <a:gd name="connsiteY0" fmla="*/ 0 h 739598"/>
              <a:gd name="connsiteX1" fmla="*/ 914400 w 2030506"/>
              <a:gd name="connsiteY1" fmla="*/ 739588 h 739598"/>
              <a:gd name="connsiteX2" fmla="*/ 2030506 w 2030506"/>
              <a:gd name="connsiteY2" fmla="*/ 13447 h 739598"/>
              <a:gd name="connsiteX0-1" fmla="*/ 0 w 2030506"/>
              <a:gd name="connsiteY0-2" fmla="*/ 0 h 699258"/>
              <a:gd name="connsiteX1-3" fmla="*/ 1035423 w 2030506"/>
              <a:gd name="connsiteY1-4" fmla="*/ 699247 h 699258"/>
              <a:gd name="connsiteX2-5" fmla="*/ 2030506 w 2030506"/>
              <a:gd name="connsiteY2-6" fmla="*/ 13447 h 699258"/>
              <a:gd name="connsiteX0-7" fmla="*/ 0 w 2030506"/>
              <a:gd name="connsiteY0-8" fmla="*/ 0 h 699260"/>
              <a:gd name="connsiteX1-9" fmla="*/ 1035423 w 2030506"/>
              <a:gd name="connsiteY1-10" fmla="*/ 699247 h 699260"/>
              <a:gd name="connsiteX2-11" fmla="*/ 2030506 w 2030506"/>
              <a:gd name="connsiteY2-12" fmla="*/ 13447 h 6992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30506" h="699260">
                <a:moveTo>
                  <a:pt x="0" y="0"/>
                </a:moveTo>
                <a:cubicBezTo>
                  <a:pt x="287991" y="368673"/>
                  <a:pt x="697005" y="697006"/>
                  <a:pt x="1035423" y="699247"/>
                </a:cubicBezTo>
                <a:cubicBezTo>
                  <a:pt x="1373841" y="701488"/>
                  <a:pt x="1722344" y="417979"/>
                  <a:pt x="2030506" y="13447"/>
                </a:cubicBezTo>
              </a:path>
            </a:pathLst>
          </a:custGeom>
          <a:ln w="57150">
            <a:solidFill>
              <a:srgbClr val="E2818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2962142" y="4366703"/>
            <a:ext cx="8931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 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任意多边形 30"/>
          <p:cNvSpPr/>
          <p:nvPr/>
        </p:nvSpPr>
        <p:spPr bwMode="gray">
          <a:xfrm>
            <a:off x="2737196" y="3945114"/>
            <a:ext cx="1313869" cy="371012"/>
          </a:xfrm>
          <a:custGeom>
            <a:avLst/>
            <a:gdLst>
              <a:gd name="connsiteX0" fmla="*/ 0 w 2030506"/>
              <a:gd name="connsiteY0" fmla="*/ 0 h 739598"/>
              <a:gd name="connsiteX1" fmla="*/ 914400 w 2030506"/>
              <a:gd name="connsiteY1" fmla="*/ 739588 h 739598"/>
              <a:gd name="connsiteX2" fmla="*/ 2030506 w 2030506"/>
              <a:gd name="connsiteY2" fmla="*/ 13447 h 739598"/>
              <a:gd name="connsiteX0-1" fmla="*/ 0 w 2030506"/>
              <a:gd name="connsiteY0-2" fmla="*/ 0 h 699258"/>
              <a:gd name="connsiteX1-3" fmla="*/ 1035423 w 2030506"/>
              <a:gd name="connsiteY1-4" fmla="*/ 699247 h 699258"/>
              <a:gd name="connsiteX2-5" fmla="*/ 2030506 w 2030506"/>
              <a:gd name="connsiteY2-6" fmla="*/ 13447 h 699258"/>
              <a:gd name="connsiteX0-7" fmla="*/ 0 w 2030506"/>
              <a:gd name="connsiteY0-8" fmla="*/ 0 h 699260"/>
              <a:gd name="connsiteX1-9" fmla="*/ 1035423 w 2030506"/>
              <a:gd name="connsiteY1-10" fmla="*/ 699247 h 699260"/>
              <a:gd name="connsiteX2-11" fmla="*/ 2030506 w 2030506"/>
              <a:gd name="connsiteY2-12" fmla="*/ 13447 h 6992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30506" h="699260">
                <a:moveTo>
                  <a:pt x="0" y="0"/>
                </a:moveTo>
                <a:cubicBezTo>
                  <a:pt x="287991" y="368673"/>
                  <a:pt x="697005" y="697006"/>
                  <a:pt x="1035423" y="699247"/>
                </a:cubicBezTo>
                <a:cubicBezTo>
                  <a:pt x="1373841" y="701488"/>
                  <a:pt x="1722344" y="417979"/>
                  <a:pt x="2030506" y="13447"/>
                </a:cubicBezTo>
              </a:path>
            </a:pathLst>
          </a:custGeom>
          <a:ln w="57150">
            <a:solidFill>
              <a:srgbClr val="E2818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矩形 39"/>
          <p:cNvSpPr/>
          <p:nvPr/>
        </p:nvSpPr>
        <p:spPr bwMode="gray">
          <a:xfrm>
            <a:off x="1461057" y="4366703"/>
            <a:ext cx="8931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 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任意多边形 39"/>
          <p:cNvSpPr/>
          <p:nvPr/>
        </p:nvSpPr>
        <p:spPr bwMode="gray">
          <a:xfrm>
            <a:off x="1121213" y="3945114"/>
            <a:ext cx="1313869" cy="371012"/>
          </a:xfrm>
          <a:custGeom>
            <a:avLst/>
            <a:gdLst>
              <a:gd name="connsiteX0" fmla="*/ 0 w 2030506"/>
              <a:gd name="connsiteY0" fmla="*/ 0 h 739598"/>
              <a:gd name="connsiteX1" fmla="*/ 914400 w 2030506"/>
              <a:gd name="connsiteY1" fmla="*/ 739588 h 739598"/>
              <a:gd name="connsiteX2" fmla="*/ 2030506 w 2030506"/>
              <a:gd name="connsiteY2" fmla="*/ 13447 h 739598"/>
              <a:gd name="connsiteX0-1" fmla="*/ 0 w 2030506"/>
              <a:gd name="connsiteY0-2" fmla="*/ 0 h 699258"/>
              <a:gd name="connsiteX1-3" fmla="*/ 1035423 w 2030506"/>
              <a:gd name="connsiteY1-4" fmla="*/ 699247 h 699258"/>
              <a:gd name="connsiteX2-5" fmla="*/ 2030506 w 2030506"/>
              <a:gd name="connsiteY2-6" fmla="*/ 13447 h 699258"/>
              <a:gd name="connsiteX0-7" fmla="*/ 0 w 2030506"/>
              <a:gd name="connsiteY0-8" fmla="*/ 0 h 699260"/>
              <a:gd name="connsiteX1-9" fmla="*/ 1035423 w 2030506"/>
              <a:gd name="connsiteY1-10" fmla="*/ 699247 h 699260"/>
              <a:gd name="connsiteX2-11" fmla="*/ 2030506 w 2030506"/>
              <a:gd name="connsiteY2-12" fmla="*/ 13447 h 6992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30506" h="699260">
                <a:moveTo>
                  <a:pt x="0" y="0"/>
                </a:moveTo>
                <a:cubicBezTo>
                  <a:pt x="287991" y="368673"/>
                  <a:pt x="697005" y="697006"/>
                  <a:pt x="1035423" y="699247"/>
                </a:cubicBezTo>
                <a:cubicBezTo>
                  <a:pt x="1373841" y="701488"/>
                  <a:pt x="1722344" y="417979"/>
                  <a:pt x="2030506" y="13447"/>
                </a:cubicBezTo>
              </a:path>
            </a:pathLst>
          </a:custGeom>
          <a:ln w="57150">
            <a:solidFill>
              <a:srgbClr val="E2818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单域</a:t>
            </a:r>
            <a:r>
              <a:rPr lang="en-US" altLang="zh-CN" dirty="0">
                <a:sym typeface="Huawei Sans" panose="020C0503030203020204" pitchFamily="34" charset="0"/>
              </a:rPr>
              <a:t>SR-MPLS TE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0"/>
            <a:ext cx="11293475" cy="1661805"/>
          </a:xfrm>
        </p:spPr>
        <p:txBody>
          <a:bodyPr/>
          <a:lstStyle/>
          <a:p>
            <a:r>
              <a:rPr lang="en-US" altLang="zh-CN" sz="1600">
                <a:sym typeface="Huawei Sans" panose="020C0503030203020204" pitchFamily="34" charset="0"/>
              </a:rPr>
              <a:t>SR-MPLS TE</a:t>
            </a:r>
            <a:r>
              <a:rPr lang="zh-CN" altLang="en-US" sz="1600">
                <a:sym typeface="Huawei Sans" panose="020C0503030203020204" pitchFamily="34" charset="0"/>
              </a:rPr>
              <a:t>适用于有严格</a:t>
            </a:r>
            <a:r>
              <a:rPr lang="en-US" altLang="zh-CN" sz="1600">
                <a:sym typeface="Huawei Sans" panose="020C0503030203020204" pitchFamily="34" charset="0"/>
              </a:rPr>
              <a:t>SLA</a:t>
            </a:r>
            <a:r>
              <a:rPr lang="zh-CN" altLang="en-US" sz="1600">
                <a:sym typeface="Huawei Sans" panose="020C0503030203020204" pitchFamily="34" charset="0"/>
              </a:rPr>
              <a:t>要求、需要路径规划的场景，例如</a:t>
            </a:r>
            <a:r>
              <a:rPr lang="en-US" altLang="zh-CN" sz="1600">
                <a:sym typeface="Huawei Sans" panose="020C0503030203020204" pitchFamily="34" charset="0"/>
              </a:rPr>
              <a:t>DCI</a:t>
            </a:r>
            <a:r>
              <a:rPr lang="zh-CN" altLang="en-US" sz="1600">
                <a:sym typeface="Huawei Sans" panose="020C0503030203020204" pitchFamily="34" charset="0"/>
              </a:rPr>
              <a:t>（</a:t>
            </a:r>
            <a:r>
              <a:rPr lang="en-US" altLang="zh-CN" sz="1600">
                <a:sym typeface="Huawei Sans" panose="020C0503030203020204" pitchFamily="34" charset="0"/>
              </a:rPr>
              <a:t>Data Center Interconnection</a:t>
            </a:r>
            <a:r>
              <a:rPr lang="zh-CN" altLang="en-US" sz="1600">
                <a:sym typeface="Huawei Sans" panose="020C0503030203020204" pitchFamily="34" charset="0"/>
              </a:rPr>
              <a:t>）。</a:t>
            </a:r>
            <a:endParaRPr lang="en-US" altLang="zh-CN" sz="1600">
              <a:sym typeface="Huawei Sans" panose="020C0503030203020204" pitchFamily="34" charset="0"/>
            </a:endParaRPr>
          </a:p>
          <a:p>
            <a:r>
              <a:rPr lang="en-US" altLang="zh-CN" sz="1600">
                <a:sym typeface="Huawei Sans" panose="020C0503030203020204" pitchFamily="34" charset="0"/>
              </a:rPr>
              <a:t>SR</a:t>
            </a:r>
            <a:r>
              <a:rPr lang="zh-CN" altLang="en-US" sz="1600">
                <a:sym typeface="Huawei Sans" panose="020C0503030203020204" pitchFamily="34" charset="0"/>
              </a:rPr>
              <a:t>标签由</a:t>
            </a:r>
            <a:r>
              <a:rPr lang="en-US" altLang="zh-CN" sz="1600">
                <a:sym typeface="Huawei Sans" panose="020C0503030203020204" pitchFamily="34" charset="0"/>
              </a:rPr>
              <a:t>IGP</a:t>
            </a:r>
            <a:r>
              <a:rPr lang="zh-CN" altLang="en-US" sz="1600">
                <a:sym typeface="Huawei Sans" panose="020C0503030203020204" pitchFamily="34" charset="0"/>
              </a:rPr>
              <a:t>协议发布。控制器使用</a:t>
            </a:r>
            <a:r>
              <a:rPr lang="en-US" altLang="zh-CN" sz="1600">
                <a:sym typeface="Huawei Sans" panose="020C0503030203020204" pitchFamily="34" charset="0"/>
              </a:rPr>
              <a:t>BGP-LS</a:t>
            </a:r>
            <a:r>
              <a:rPr lang="zh-CN" altLang="en-US" sz="1600">
                <a:sym typeface="Huawei Sans" panose="020C0503030203020204" pitchFamily="34" charset="0"/>
              </a:rPr>
              <a:t>收集网络拓扑、网络带宽、时延和标签等属性。</a:t>
            </a:r>
            <a:endParaRPr lang="zh-CN" altLang="en-US" sz="1600">
              <a:sym typeface="Huawei Sans" panose="020C0503030203020204" pitchFamily="34" charset="0"/>
            </a:endParaRPr>
          </a:p>
          <a:p>
            <a:r>
              <a:rPr lang="zh-CN" altLang="en-US" sz="1600">
                <a:sym typeface="Huawei Sans" panose="020C0503030203020204" pitchFamily="34" charset="0"/>
              </a:rPr>
              <a:t>控制器根据约束条件计算出符合业务需求的转发路径，然后将算路结果通过</a:t>
            </a:r>
            <a:r>
              <a:rPr lang="en-US" altLang="zh-CN" sz="1600">
                <a:sym typeface="Huawei Sans" panose="020C0503030203020204" pitchFamily="34" charset="0"/>
              </a:rPr>
              <a:t>PCEP</a:t>
            </a:r>
            <a:r>
              <a:rPr lang="zh-CN" altLang="en-US" sz="1600">
                <a:sym typeface="Huawei Sans" panose="020C0503030203020204" pitchFamily="34" charset="0"/>
              </a:rPr>
              <a:t>或</a:t>
            </a:r>
            <a:r>
              <a:rPr lang="en-US" altLang="zh-CN" sz="1600">
                <a:sym typeface="Huawei Sans" panose="020C0503030203020204" pitchFamily="34" charset="0"/>
              </a:rPr>
              <a:t>NETCONF</a:t>
            </a:r>
            <a:r>
              <a:rPr lang="zh-CN" altLang="en-US" sz="1600">
                <a:sym typeface="Huawei Sans" panose="020C0503030203020204" pitchFamily="34" charset="0"/>
              </a:rPr>
              <a:t>下发到转发器。也可由工程师手工配置严格转发路径，然后通过</a:t>
            </a:r>
            <a:r>
              <a:rPr lang="en-US" altLang="zh-CN" sz="1600">
                <a:sym typeface="Huawei Sans" panose="020C0503030203020204" pitchFamily="34" charset="0"/>
              </a:rPr>
              <a:t>PCEP</a:t>
            </a:r>
            <a:r>
              <a:rPr lang="zh-CN" altLang="en-US" sz="1600">
                <a:sym typeface="Huawei Sans" panose="020C0503030203020204" pitchFamily="34" charset="0"/>
              </a:rPr>
              <a:t>将路径托管到控制器。</a:t>
            </a:r>
            <a:endParaRPr lang="en-US" altLang="zh-CN" sz="1600">
              <a:sym typeface="Huawei Sans" panose="020C0503030203020204" pitchFamily="34" charset="0"/>
            </a:endParaRPr>
          </a:p>
        </p:txBody>
      </p:sp>
      <p:cxnSp>
        <p:nvCxnSpPr>
          <p:cNvPr id="6" name="直接连接符 5"/>
          <p:cNvCxnSpPr>
            <a:stCxn id="23" idx="1"/>
            <a:endCxn id="21" idx="3"/>
          </p:cNvCxnSpPr>
          <p:nvPr/>
        </p:nvCxnSpPr>
        <p:spPr bwMode="gray">
          <a:xfrm flipH="1" flipV="1">
            <a:off x="6767028" y="4824626"/>
            <a:ext cx="1037636" cy="5658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23" idx="1"/>
            <a:endCxn id="22" idx="3"/>
          </p:cNvCxnSpPr>
          <p:nvPr/>
        </p:nvCxnSpPr>
        <p:spPr bwMode="gray">
          <a:xfrm flipH="1">
            <a:off x="6767028" y="5390480"/>
            <a:ext cx="1037636" cy="6216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18" idx="3"/>
            <a:endCxn id="20" idx="1"/>
          </p:cNvCxnSpPr>
          <p:nvPr/>
        </p:nvCxnSpPr>
        <p:spPr bwMode="gray">
          <a:xfrm>
            <a:off x="3982902" y="5375482"/>
            <a:ext cx="973205" cy="636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18" idx="3"/>
            <a:endCxn id="19" idx="1"/>
          </p:cNvCxnSpPr>
          <p:nvPr/>
        </p:nvCxnSpPr>
        <p:spPr bwMode="gray">
          <a:xfrm flipV="1">
            <a:off x="3982902" y="4824626"/>
            <a:ext cx="973205" cy="5508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gray">
          <a:xfrm flipH="1">
            <a:off x="5228478" y="4830158"/>
            <a:ext cx="1561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 bwMode="gray">
          <a:xfrm flipH="1">
            <a:off x="5228478" y="6062278"/>
            <a:ext cx="11799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24" idx="2"/>
            <a:endCxn id="18" idx="0"/>
          </p:cNvCxnSpPr>
          <p:nvPr/>
        </p:nvCxnSpPr>
        <p:spPr bwMode="gray">
          <a:xfrm flipH="1">
            <a:off x="3745749" y="3197571"/>
            <a:ext cx="2098166" cy="198344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 bwMode="gray">
          <a:xfrm>
            <a:off x="6243342" y="2854852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8" name="图片 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508595" y="5181016"/>
            <a:ext cx="474307" cy="388932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56107" y="4630160"/>
            <a:ext cx="474307" cy="388932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56107" y="5817643"/>
            <a:ext cx="474307" cy="388932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292720" y="4630160"/>
            <a:ext cx="474307" cy="388932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292720" y="5817643"/>
            <a:ext cx="474307" cy="388932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804664" y="5196014"/>
            <a:ext cx="474307" cy="388932"/>
          </a:xfrm>
          <a:prstGeom prst="rect">
            <a:avLst/>
          </a:prstGeom>
        </p:spPr>
      </p:pic>
      <p:pic>
        <p:nvPicPr>
          <p:cNvPr id="24" name="图片 23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5606761" y="2809501"/>
            <a:ext cx="474307" cy="38807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 bwMode="gray">
          <a:xfrm>
            <a:off x="2222925" y="3584556"/>
            <a:ext cx="2691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PCEP</a:t>
            </a:r>
            <a:endParaRPr lang="zh-CN" altLang="en-US" sz="160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 bwMode="gray">
          <a:xfrm>
            <a:off x="1637526" y="5231778"/>
            <a:ext cx="696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IDC 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3" name="直接箭头连接符 42"/>
          <p:cNvCxnSpPr>
            <a:stCxn id="24" idx="2"/>
            <a:endCxn id="19" idx="0"/>
          </p:cNvCxnSpPr>
          <p:nvPr/>
        </p:nvCxnSpPr>
        <p:spPr bwMode="gray">
          <a:xfrm flipH="1">
            <a:off x="5193261" y="3197571"/>
            <a:ext cx="650654" cy="143258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24" idx="2"/>
            <a:endCxn id="21" idx="0"/>
          </p:cNvCxnSpPr>
          <p:nvPr/>
        </p:nvCxnSpPr>
        <p:spPr bwMode="gray">
          <a:xfrm>
            <a:off x="5843915" y="3197571"/>
            <a:ext cx="685959" cy="143258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24" idx="2"/>
            <a:endCxn id="23" idx="0"/>
          </p:cNvCxnSpPr>
          <p:nvPr/>
        </p:nvCxnSpPr>
        <p:spPr bwMode="gray">
          <a:xfrm>
            <a:off x="5843915" y="3197571"/>
            <a:ext cx="2197903" cy="1998443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24" idx="2"/>
            <a:endCxn id="20" idx="0"/>
          </p:cNvCxnSpPr>
          <p:nvPr/>
        </p:nvCxnSpPr>
        <p:spPr bwMode="gray">
          <a:xfrm flipH="1">
            <a:off x="5193261" y="3197571"/>
            <a:ext cx="650654" cy="262007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24" idx="2"/>
            <a:endCxn id="22" idx="0"/>
          </p:cNvCxnSpPr>
          <p:nvPr/>
        </p:nvCxnSpPr>
        <p:spPr bwMode="gray">
          <a:xfrm>
            <a:off x="5843915" y="3197571"/>
            <a:ext cx="685959" cy="262007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图片 6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21073" y="5181016"/>
            <a:ext cx="474307" cy="388932"/>
          </a:xfrm>
          <a:prstGeom prst="rect">
            <a:avLst/>
          </a:prstGeom>
        </p:spPr>
      </p:pic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983947" y="5196014"/>
            <a:ext cx="474307" cy="388932"/>
          </a:xfrm>
          <a:prstGeom prst="rect">
            <a:avLst/>
          </a:prstGeom>
        </p:spPr>
      </p:pic>
      <p:cxnSp>
        <p:nvCxnSpPr>
          <p:cNvPr id="68" name="直接连接符 67"/>
          <p:cNvCxnSpPr>
            <a:stCxn id="63" idx="3"/>
            <a:endCxn id="18" idx="1"/>
          </p:cNvCxnSpPr>
          <p:nvPr/>
        </p:nvCxnSpPr>
        <p:spPr bwMode="gray">
          <a:xfrm>
            <a:off x="2795381" y="5375482"/>
            <a:ext cx="7132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 bwMode="gray">
          <a:xfrm>
            <a:off x="8278971" y="5375482"/>
            <a:ext cx="7132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 bwMode="gray">
          <a:xfrm>
            <a:off x="9551880" y="5231778"/>
            <a:ext cx="696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IDC 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5551324" y="5269626"/>
            <a:ext cx="7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 sz="160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单域</a:t>
            </a:r>
            <a:r>
              <a:rPr lang="en-US" altLang="zh-CN" dirty="0">
                <a:sym typeface="Huawei Sans" panose="020C0503030203020204" pitchFamily="34" charset="0"/>
              </a:rPr>
              <a:t>SR-MPLS Policy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0"/>
            <a:ext cx="11293475" cy="1552287"/>
          </a:xfrm>
        </p:spPr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SR-MPLS Policy</a:t>
            </a:r>
            <a:r>
              <a:rPr lang="zh-CN" altLang="en-US" sz="1600" dirty="0">
                <a:sym typeface="Huawei Sans" panose="020C0503030203020204" pitchFamily="34" charset="0"/>
              </a:rPr>
              <a:t>适用于有严格</a:t>
            </a:r>
            <a:r>
              <a:rPr lang="en-US" altLang="zh-CN" sz="1600" dirty="0">
                <a:sym typeface="Huawei Sans" panose="020C0503030203020204" pitchFamily="34" charset="0"/>
              </a:rPr>
              <a:t>SLA</a:t>
            </a:r>
            <a:r>
              <a:rPr lang="zh-CN" altLang="en-US" sz="1600" dirty="0">
                <a:sym typeface="Huawei Sans" panose="020C0503030203020204" pitchFamily="34" charset="0"/>
              </a:rPr>
              <a:t>要求、需要路径规划的场景。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sym typeface="Huawei Sans" panose="020C0503030203020204" pitchFamily="34" charset="0"/>
              </a:rPr>
              <a:t>标签由</a:t>
            </a:r>
            <a:r>
              <a:rPr lang="en-US" altLang="zh-CN" sz="1600" dirty="0"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sym typeface="Huawei Sans" panose="020C0503030203020204" pitchFamily="34" charset="0"/>
              </a:rPr>
              <a:t>协议发布。控制器使用</a:t>
            </a:r>
            <a:r>
              <a:rPr lang="en-US" altLang="zh-CN" sz="1600" dirty="0">
                <a:sym typeface="Huawei Sans" panose="020C0503030203020204" pitchFamily="34" charset="0"/>
              </a:rPr>
              <a:t>BGP-LS</a:t>
            </a:r>
            <a:r>
              <a:rPr lang="zh-CN" altLang="en-US" sz="1600" dirty="0">
                <a:sym typeface="Huawei Sans" panose="020C0503030203020204" pitchFamily="34" charset="0"/>
              </a:rPr>
              <a:t>收集网络拓扑、网络带宽、时延和标签等属性。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控制器根据约束条件计算出符合业务需求的转发路径，然后将算路结果通过</a:t>
            </a:r>
            <a:r>
              <a:rPr lang="en-US" altLang="zh-CN" sz="1600" dirty="0">
                <a:sym typeface="Huawei Sans" panose="020C0503030203020204" pitchFamily="34" charset="0"/>
              </a:rPr>
              <a:t>BGP SR Policy</a:t>
            </a:r>
            <a:r>
              <a:rPr lang="zh-CN" altLang="en-US" sz="1600" dirty="0">
                <a:sym typeface="Huawei Sans" panose="020C0503030203020204" pitchFamily="34" charset="0"/>
              </a:rPr>
              <a:t>或</a:t>
            </a:r>
            <a:r>
              <a:rPr lang="en-US" altLang="zh-CN" sz="1600" dirty="0">
                <a:sym typeface="Huawei Sans" panose="020C0503030203020204" pitchFamily="34" charset="0"/>
              </a:rPr>
              <a:t>PCEP</a:t>
            </a:r>
            <a:r>
              <a:rPr lang="zh-CN" altLang="en-US" sz="1600" dirty="0">
                <a:sym typeface="Huawei Sans" panose="020C0503030203020204" pitchFamily="34" charset="0"/>
              </a:rPr>
              <a:t>下发到转发器。也可由工程师手工配置严格转发路径，然后通过</a:t>
            </a:r>
            <a:r>
              <a:rPr lang="en-US" altLang="zh-CN" sz="1600" dirty="0">
                <a:sym typeface="Huawei Sans" panose="020C0503030203020204" pitchFamily="34" charset="0"/>
              </a:rPr>
              <a:t>PCEP</a:t>
            </a:r>
            <a:r>
              <a:rPr lang="zh-CN" altLang="en-US" sz="1600" dirty="0">
                <a:sym typeface="Huawei Sans" panose="020C0503030203020204" pitchFamily="34" charset="0"/>
              </a:rPr>
              <a:t>将路径托管到控制器。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>
            <a:stCxn id="18" idx="1"/>
            <a:endCxn id="16" idx="3"/>
          </p:cNvCxnSpPr>
          <p:nvPr/>
        </p:nvCxnSpPr>
        <p:spPr bwMode="gray">
          <a:xfrm flipH="1" flipV="1">
            <a:off x="6767028" y="4824626"/>
            <a:ext cx="1037636" cy="5658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18" idx="1"/>
            <a:endCxn id="17" idx="3"/>
          </p:cNvCxnSpPr>
          <p:nvPr/>
        </p:nvCxnSpPr>
        <p:spPr bwMode="gray">
          <a:xfrm flipH="1">
            <a:off x="6767028" y="5390480"/>
            <a:ext cx="1037636" cy="6216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13" idx="3"/>
            <a:endCxn id="15" idx="1"/>
          </p:cNvCxnSpPr>
          <p:nvPr/>
        </p:nvCxnSpPr>
        <p:spPr bwMode="gray">
          <a:xfrm>
            <a:off x="3982902" y="5375482"/>
            <a:ext cx="973205" cy="636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13" idx="3"/>
            <a:endCxn id="14" idx="1"/>
          </p:cNvCxnSpPr>
          <p:nvPr/>
        </p:nvCxnSpPr>
        <p:spPr bwMode="gray">
          <a:xfrm flipV="1">
            <a:off x="3982902" y="4824626"/>
            <a:ext cx="973205" cy="5508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gray">
          <a:xfrm flipH="1">
            <a:off x="5228478" y="4830158"/>
            <a:ext cx="1561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gray">
          <a:xfrm flipH="1">
            <a:off x="5228478" y="6062278"/>
            <a:ext cx="119518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19" idx="2"/>
            <a:endCxn id="13" idx="0"/>
          </p:cNvCxnSpPr>
          <p:nvPr/>
        </p:nvCxnSpPr>
        <p:spPr bwMode="gray">
          <a:xfrm flipH="1">
            <a:off x="3745749" y="3197571"/>
            <a:ext cx="2098166" cy="198344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 bwMode="gray">
          <a:xfrm>
            <a:off x="6243342" y="2854852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3" name="图片 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508595" y="5181016"/>
            <a:ext cx="474307" cy="388932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56107" y="4630160"/>
            <a:ext cx="474307" cy="388932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56107" y="5817643"/>
            <a:ext cx="474307" cy="388932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292720" y="4630160"/>
            <a:ext cx="474307" cy="388932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292720" y="5817643"/>
            <a:ext cx="474307" cy="388932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804664" y="5196014"/>
            <a:ext cx="474307" cy="388932"/>
          </a:xfrm>
          <a:prstGeom prst="rect">
            <a:avLst/>
          </a:prstGeom>
        </p:spPr>
      </p:pic>
      <p:pic>
        <p:nvPicPr>
          <p:cNvPr id="19" name="图片 18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5606761" y="2809501"/>
            <a:ext cx="474307" cy="38807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 bwMode="gray">
          <a:xfrm>
            <a:off x="2487386" y="3668427"/>
            <a:ext cx="26912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endParaRPr lang="en-US" altLang="zh-CN" sz="1600" dirty="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SR Policy/PCEP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2" name="直接箭头连接符 21"/>
          <p:cNvCxnSpPr>
            <a:stCxn id="19" idx="2"/>
            <a:endCxn id="14" idx="0"/>
          </p:cNvCxnSpPr>
          <p:nvPr/>
        </p:nvCxnSpPr>
        <p:spPr bwMode="gray">
          <a:xfrm flipH="1">
            <a:off x="5193261" y="3197571"/>
            <a:ext cx="650654" cy="143258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9" idx="2"/>
            <a:endCxn id="16" idx="0"/>
          </p:cNvCxnSpPr>
          <p:nvPr/>
        </p:nvCxnSpPr>
        <p:spPr bwMode="gray">
          <a:xfrm>
            <a:off x="5843915" y="3197571"/>
            <a:ext cx="685959" cy="143258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9" idx="2"/>
            <a:endCxn id="18" idx="0"/>
          </p:cNvCxnSpPr>
          <p:nvPr/>
        </p:nvCxnSpPr>
        <p:spPr bwMode="gray">
          <a:xfrm>
            <a:off x="5843915" y="3197571"/>
            <a:ext cx="2197903" cy="1998443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9" idx="2"/>
            <a:endCxn id="15" idx="0"/>
          </p:cNvCxnSpPr>
          <p:nvPr/>
        </p:nvCxnSpPr>
        <p:spPr bwMode="gray">
          <a:xfrm flipH="1">
            <a:off x="5193261" y="3197571"/>
            <a:ext cx="650654" cy="262007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9" idx="2"/>
            <a:endCxn id="17" idx="0"/>
          </p:cNvCxnSpPr>
          <p:nvPr/>
        </p:nvCxnSpPr>
        <p:spPr bwMode="gray">
          <a:xfrm>
            <a:off x="5843915" y="3197571"/>
            <a:ext cx="685959" cy="262007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21073" y="5181016"/>
            <a:ext cx="474307" cy="388932"/>
          </a:xfrm>
          <a:prstGeom prst="rect">
            <a:avLst/>
          </a:prstGeom>
        </p:spPr>
      </p:pic>
      <p:pic>
        <p:nvPicPr>
          <p:cNvPr id="28" name="图片 2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983947" y="5196014"/>
            <a:ext cx="474307" cy="388932"/>
          </a:xfrm>
          <a:prstGeom prst="rect">
            <a:avLst/>
          </a:prstGeom>
        </p:spPr>
      </p:pic>
      <p:cxnSp>
        <p:nvCxnSpPr>
          <p:cNvPr id="29" name="直接连接符 28"/>
          <p:cNvCxnSpPr>
            <a:stCxn id="27" idx="3"/>
            <a:endCxn id="13" idx="1"/>
          </p:cNvCxnSpPr>
          <p:nvPr/>
        </p:nvCxnSpPr>
        <p:spPr bwMode="gray">
          <a:xfrm>
            <a:off x="2795381" y="5375482"/>
            <a:ext cx="7132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 bwMode="gray">
          <a:xfrm>
            <a:off x="8278971" y="5375482"/>
            <a:ext cx="7132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 bwMode="gray">
          <a:xfrm>
            <a:off x="5551324" y="5269626"/>
            <a:ext cx="7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 sz="160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跨域</a:t>
            </a:r>
            <a:r>
              <a:rPr lang="en-US" altLang="zh-CN">
                <a:sym typeface="Huawei Sans" panose="020C0503030203020204" pitchFamily="34" charset="0"/>
              </a:rPr>
              <a:t>E2E SR-MPLS TE (1)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1250950"/>
          </a:xfrm>
        </p:spPr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跨自治域访问场景下，推荐由控制集中计算然后下发端到端</a:t>
            </a:r>
            <a:r>
              <a:rPr lang="en-US" altLang="zh-CN" sz="1600" dirty="0"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在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之间配置</a:t>
            </a:r>
            <a:r>
              <a:rPr lang="en-US" altLang="zh-CN" sz="1600" dirty="0">
                <a:sym typeface="Huawei Sans" panose="020C0503030203020204" pitchFamily="34" charset="0"/>
              </a:rPr>
              <a:t>BGP EPE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Egress Peer Engineering</a:t>
            </a:r>
            <a:r>
              <a:rPr lang="zh-CN" altLang="en-US" sz="1600" dirty="0">
                <a:sym typeface="Huawei Sans" panose="020C0503030203020204" pitchFamily="34" charset="0"/>
              </a:rPr>
              <a:t>），互相分配</a:t>
            </a:r>
            <a:r>
              <a:rPr lang="en-US" altLang="zh-CN" sz="1600" dirty="0">
                <a:sym typeface="Huawei Sans" panose="020C0503030203020204" pitchFamily="34" charset="0"/>
              </a:rPr>
              <a:t>BGP Peer SID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然后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sym typeface="Huawei Sans" panose="020C0503030203020204" pitchFamily="34" charset="0"/>
              </a:rPr>
              <a:t>BGP-LS</a:t>
            </a:r>
            <a:r>
              <a:rPr lang="zh-CN" altLang="en-US" sz="1600" dirty="0">
                <a:sym typeface="Huawei Sans" panose="020C0503030203020204" pitchFamily="34" charset="0"/>
              </a:rPr>
              <a:t>上报</a:t>
            </a:r>
            <a:r>
              <a:rPr lang="en-US" altLang="zh-CN" sz="1600" dirty="0">
                <a:sym typeface="Huawei Sans" panose="020C0503030203020204" pitchFamily="34" charset="0"/>
              </a:rPr>
              <a:t>BGP EPE</a:t>
            </a:r>
            <a:r>
              <a:rPr lang="zh-CN" altLang="en-US" sz="1600" dirty="0">
                <a:sym typeface="Huawei Sans" panose="020C0503030203020204" pitchFamily="34" charset="0"/>
              </a:rPr>
              <a:t>生成的标签和网络拓扑信息。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>
            <a:stCxn id="33" idx="1"/>
            <a:endCxn id="16" idx="3"/>
          </p:cNvCxnSpPr>
          <p:nvPr/>
        </p:nvCxnSpPr>
        <p:spPr bwMode="gray">
          <a:xfrm flipH="1" flipV="1">
            <a:off x="4836762" y="4600715"/>
            <a:ext cx="2114932" cy="55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16" idx="2"/>
            <a:endCxn id="17" idx="0"/>
          </p:cNvCxnSpPr>
          <p:nvPr/>
        </p:nvCxnSpPr>
        <p:spPr bwMode="gray">
          <a:xfrm>
            <a:off x="4599609" y="4795181"/>
            <a:ext cx="0" cy="7985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13" idx="3"/>
            <a:endCxn id="15" idx="1"/>
          </p:cNvCxnSpPr>
          <p:nvPr/>
        </p:nvCxnSpPr>
        <p:spPr bwMode="gray">
          <a:xfrm>
            <a:off x="2410446" y="5151571"/>
            <a:ext cx="615396" cy="636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13" idx="3"/>
            <a:endCxn id="14" idx="1"/>
          </p:cNvCxnSpPr>
          <p:nvPr/>
        </p:nvCxnSpPr>
        <p:spPr bwMode="gray">
          <a:xfrm flipV="1">
            <a:off x="2410446" y="4600715"/>
            <a:ext cx="615396" cy="5508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gray">
          <a:xfrm flipH="1">
            <a:off x="3298213" y="4606247"/>
            <a:ext cx="1561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gray">
          <a:xfrm flipH="1">
            <a:off x="3298213" y="5838367"/>
            <a:ext cx="1561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36139" y="4957105"/>
            <a:ext cx="474307" cy="388932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25842" y="4406249"/>
            <a:ext cx="474307" cy="388932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25842" y="5593732"/>
            <a:ext cx="474307" cy="388932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362455" y="4406249"/>
            <a:ext cx="474307" cy="388932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362455" y="5593732"/>
            <a:ext cx="474307" cy="388932"/>
          </a:xfrm>
          <a:prstGeom prst="rect">
            <a:avLst/>
          </a:prstGeom>
        </p:spPr>
      </p:pic>
      <p:pic>
        <p:nvPicPr>
          <p:cNvPr id="19" name="图片 18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5606761" y="2911101"/>
            <a:ext cx="474307" cy="38807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 bwMode="gray">
          <a:xfrm>
            <a:off x="3220056" y="5005959"/>
            <a:ext cx="1158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100</a:t>
            </a:r>
            <a:endParaRPr lang="en-US" altLang="zh-CN" sz="160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8" name="直接连接符 27"/>
          <p:cNvCxnSpPr>
            <a:stCxn id="32" idx="1"/>
            <a:endCxn id="36" idx="3"/>
          </p:cNvCxnSpPr>
          <p:nvPr/>
        </p:nvCxnSpPr>
        <p:spPr bwMode="gray">
          <a:xfrm flipH="1">
            <a:off x="8762614" y="5157103"/>
            <a:ext cx="667964" cy="636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32" idx="1"/>
            <a:endCxn id="35" idx="3"/>
          </p:cNvCxnSpPr>
          <p:nvPr/>
        </p:nvCxnSpPr>
        <p:spPr bwMode="gray">
          <a:xfrm flipH="1" flipV="1">
            <a:off x="8762614" y="4606247"/>
            <a:ext cx="667964" cy="5508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 bwMode="gray">
          <a:xfrm flipH="1">
            <a:off x="7224065" y="4611779"/>
            <a:ext cx="1561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 bwMode="gray">
          <a:xfrm flipH="1">
            <a:off x="7224065" y="5843899"/>
            <a:ext cx="12722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430578" y="4962637"/>
            <a:ext cx="474307" cy="388932"/>
          </a:xfrm>
          <a:prstGeom prst="rect">
            <a:avLst/>
          </a:prstGeom>
        </p:spPr>
      </p:pic>
      <p:pic>
        <p:nvPicPr>
          <p:cNvPr id="33" name="图片 3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51694" y="4411781"/>
            <a:ext cx="474307" cy="388932"/>
          </a:xfrm>
          <a:prstGeom prst="rect">
            <a:avLst/>
          </a:prstGeom>
        </p:spPr>
      </p:pic>
      <p:pic>
        <p:nvPicPr>
          <p:cNvPr id="34" name="图片 3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51694" y="5599264"/>
            <a:ext cx="474307" cy="388932"/>
          </a:xfrm>
          <a:prstGeom prst="rect">
            <a:avLst/>
          </a:prstGeom>
        </p:spPr>
      </p:pic>
      <p:pic>
        <p:nvPicPr>
          <p:cNvPr id="35" name="图片 3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288307" y="4411781"/>
            <a:ext cx="474307" cy="388932"/>
          </a:xfrm>
          <a:prstGeom prst="rect">
            <a:avLst/>
          </a:prstGeom>
        </p:spPr>
      </p:pic>
      <p:pic>
        <p:nvPicPr>
          <p:cNvPr id="36" name="图片 3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288307" y="5599264"/>
            <a:ext cx="474307" cy="388932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 bwMode="gray">
          <a:xfrm>
            <a:off x="7809931" y="5011491"/>
            <a:ext cx="1089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200</a:t>
            </a:r>
            <a:endParaRPr lang="zh-CN" altLang="en-US" sz="160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2" name="直接连接符 41"/>
          <p:cNvCxnSpPr/>
          <p:nvPr/>
        </p:nvCxnSpPr>
        <p:spPr bwMode="gray">
          <a:xfrm>
            <a:off x="7198304" y="4800713"/>
            <a:ext cx="0" cy="7985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34" idx="1"/>
            <a:endCxn id="17" idx="3"/>
          </p:cNvCxnSpPr>
          <p:nvPr/>
        </p:nvCxnSpPr>
        <p:spPr bwMode="gray">
          <a:xfrm flipH="1" flipV="1">
            <a:off x="4836762" y="5788198"/>
            <a:ext cx="2114932" cy="55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/>
          <p:cNvSpPr/>
          <p:nvPr/>
        </p:nvSpPr>
        <p:spPr bwMode="gray">
          <a:xfrm>
            <a:off x="1759750" y="4085756"/>
            <a:ext cx="3418509" cy="2044427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矩形: 圆角 49"/>
          <p:cNvSpPr/>
          <p:nvPr/>
        </p:nvSpPr>
        <p:spPr bwMode="gray">
          <a:xfrm>
            <a:off x="6645656" y="4085756"/>
            <a:ext cx="3399492" cy="2044427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 bwMode="gray">
          <a:xfrm>
            <a:off x="6243342" y="2956452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文本框 56"/>
          <p:cNvSpPr txBox="1"/>
          <p:nvPr/>
        </p:nvSpPr>
        <p:spPr bwMode="gray">
          <a:xfrm>
            <a:off x="4576688" y="5017077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6645655" y="5017077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文本框 58"/>
          <p:cNvSpPr txBox="1"/>
          <p:nvPr/>
        </p:nvSpPr>
        <p:spPr bwMode="gray">
          <a:xfrm>
            <a:off x="1932600" y="5394650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9418855" y="5394650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Text Box 19"/>
          <p:cNvSpPr txBox="1">
            <a:spLocks noChangeArrowheads="1"/>
          </p:cNvSpPr>
          <p:nvPr/>
        </p:nvSpPr>
        <p:spPr bwMode="gray">
          <a:xfrm>
            <a:off x="5276748" y="3906516"/>
            <a:ext cx="1218345" cy="307777"/>
          </a:xfrm>
          <a:prstGeom prst="rect">
            <a:avLst/>
          </a:prstGeom>
          <a:solidFill>
            <a:srgbClr val="EC7061"/>
          </a:solidFill>
          <a:ln w="19050">
            <a:solidFill>
              <a:srgbClr val="EC7061"/>
            </a:solidFill>
            <a:miter lim="800000"/>
          </a:ln>
          <a:effectLst/>
        </p:spPr>
        <p:txBody>
          <a:bodyPr wrap="square" anchor="ctr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EPE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任意多边形: 形状 67"/>
          <p:cNvSpPr/>
          <p:nvPr/>
        </p:nvSpPr>
        <p:spPr bwMode="gray">
          <a:xfrm>
            <a:off x="4876800" y="4121150"/>
            <a:ext cx="355600" cy="361950"/>
          </a:xfrm>
          <a:custGeom>
            <a:avLst/>
            <a:gdLst>
              <a:gd name="connsiteX0" fmla="*/ 317500 w 317500"/>
              <a:gd name="connsiteY0" fmla="*/ 0 h 330200"/>
              <a:gd name="connsiteX1" fmla="*/ 63500 w 317500"/>
              <a:gd name="connsiteY1" fmla="*/ 152400 h 330200"/>
              <a:gd name="connsiteX2" fmla="*/ 0 w 317500"/>
              <a:gd name="connsiteY2" fmla="*/ 330200 h 330200"/>
              <a:gd name="connsiteX0-1" fmla="*/ 317500 w 317500"/>
              <a:gd name="connsiteY0-2" fmla="*/ 0 h 330200"/>
              <a:gd name="connsiteX1-3" fmla="*/ 158750 w 317500"/>
              <a:gd name="connsiteY1-4" fmla="*/ 69850 h 330200"/>
              <a:gd name="connsiteX2-5" fmla="*/ 0 w 317500"/>
              <a:gd name="connsiteY2-6" fmla="*/ 330200 h 330200"/>
              <a:gd name="connsiteX0-7" fmla="*/ 317500 w 317500"/>
              <a:gd name="connsiteY0-8" fmla="*/ 0 h 330200"/>
              <a:gd name="connsiteX1-9" fmla="*/ 158750 w 317500"/>
              <a:gd name="connsiteY1-10" fmla="*/ 69850 h 330200"/>
              <a:gd name="connsiteX2-11" fmla="*/ 0 w 317500"/>
              <a:gd name="connsiteY2-12" fmla="*/ 330200 h 330200"/>
              <a:gd name="connsiteX0-13" fmla="*/ 317500 w 317500"/>
              <a:gd name="connsiteY0-14" fmla="*/ 0 h 330200"/>
              <a:gd name="connsiteX1-15" fmla="*/ 158750 w 317500"/>
              <a:gd name="connsiteY1-16" fmla="*/ 69850 h 330200"/>
              <a:gd name="connsiteX2-17" fmla="*/ 0 w 317500"/>
              <a:gd name="connsiteY2-18" fmla="*/ 330200 h 330200"/>
              <a:gd name="connsiteX0-19" fmla="*/ 355600 w 355600"/>
              <a:gd name="connsiteY0-20" fmla="*/ 0 h 361950"/>
              <a:gd name="connsiteX1-21" fmla="*/ 158750 w 355600"/>
              <a:gd name="connsiteY1-22" fmla="*/ 101600 h 361950"/>
              <a:gd name="connsiteX2-23" fmla="*/ 0 w 355600"/>
              <a:gd name="connsiteY2-24" fmla="*/ 361950 h 361950"/>
              <a:gd name="connsiteX0-25" fmla="*/ 355600 w 355600"/>
              <a:gd name="connsiteY0-26" fmla="*/ 0 h 361950"/>
              <a:gd name="connsiteX1-27" fmla="*/ 158750 w 355600"/>
              <a:gd name="connsiteY1-28" fmla="*/ 101600 h 361950"/>
              <a:gd name="connsiteX2-29" fmla="*/ 0 w 355600"/>
              <a:gd name="connsiteY2-30" fmla="*/ 361950 h 361950"/>
              <a:gd name="connsiteX0-31" fmla="*/ 355600 w 355600"/>
              <a:gd name="connsiteY0-32" fmla="*/ 0 h 361950"/>
              <a:gd name="connsiteX1-33" fmla="*/ 158750 w 355600"/>
              <a:gd name="connsiteY1-34" fmla="*/ 101600 h 361950"/>
              <a:gd name="connsiteX2-35" fmla="*/ 0 w 355600"/>
              <a:gd name="connsiteY2-36" fmla="*/ 361950 h 361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55600" h="361950">
                <a:moveTo>
                  <a:pt x="355600" y="0"/>
                </a:moveTo>
                <a:cubicBezTo>
                  <a:pt x="223308" y="42333"/>
                  <a:pt x="205317" y="46567"/>
                  <a:pt x="158750" y="101600"/>
                </a:cubicBezTo>
                <a:cubicBezTo>
                  <a:pt x="105833" y="156633"/>
                  <a:pt x="5291" y="300566"/>
                  <a:pt x="0" y="361950"/>
                </a:cubicBez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8100">
                <a:solidFill>
                  <a:schemeClr val="tx1"/>
                </a:solidFill>
              </a:ln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任意多边形: 形状 69"/>
          <p:cNvSpPr/>
          <p:nvPr/>
        </p:nvSpPr>
        <p:spPr bwMode="gray">
          <a:xfrm flipH="1">
            <a:off x="6529629" y="4121150"/>
            <a:ext cx="355600" cy="361950"/>
          </a:xfrm>
          <a:custGeom>
            <a:avLst/>
            <a:gdLst>
              <a:gd name="connsiteX0" fmla="*/ 317500 w 317500"/>
              <a:gd name="connsiteY0" fmla="*/ 0 h 330200"/>
              <a:gd name="connsiteX1" fmla="*/ 63500 w 317500"/>
              <a:gd name="connsiteY1" fmla="*/ 152400 h 330200"/>
              <a:gd name="connsiteX2" fmla="*/ 0 w 317500"/>
              <a:gd name="connsiteY2" fmla="*/ 330200 h 330200"/>
              <a:gd name="connsiteX0-1" fmla="*/ 317500 w 317500"/>
              <a:gd name="connsiteY0-2" fmla="*/ 0 h 330200"/>
              <a:gd name="connsiteX1-3" fmla="*/ 158750 w 317500"/>
              <a:gd name="connsiteY1-4" fmla="*/ 69850 h 330200"/>
              <a:gd name="connsiteX2-5" fmla="*/ 0 w 317500"/>
              <a:gd name="connsiteY2-6" fmla="*/ 330200 h 330200"/>
              <a:gd name="connsiteX0-7" fmla="*/ 317500 w 317500"/>
              <a:gd name="connsiteY0-8" fmla="*/ 0 h 330200"/>
              <a:gd name="connsiteX1-9" fmla="*/ 158750 w 317500"/>
              <a:gd name="connsiteY1-10" fmla="*/ 69850 h 330200"/>
              <a:gd name="connsiteX2-11" fmla="*/ 0 w 317500"/>
              <a:gd name="connsiteY2-12" fmla="*/ 330200 h 330200"/>
              <a:gd name="connsiteX0-13" fmla="*/ 317500 w 317500"/>
              <a:gd name="connsiteY0-14" fmla="*/ 0 h 330200"/>
              <a:gd name="connsiteX1-15" fmla="*/ 158750 w 317500"/>
              <a:gd name="connsiteY1-16" fmla="*/ 69850 h 330200"/>
              <a:gd name="connsiteX2-17" fmla="*/ 0 w 317500"/>
              <a:gd name="connsiteY2-18" fmla="*/ 330200 h 330200"/>
              <a:gd name="connsiteX0-19" fmla="*/ 355600 w 355600"/>
              <a:gd name="connsiteY0-20" fmla="*/ 0 h 361950"/>
              <a:gd name="connsiteX1-21" fmla="*/ 158750 w 355600"/>
              <a:gd name="connsiteY1-22" fmla="*/ 101600 h 361950"/>
              <a:gd name="connsiteX2-23" fmla="*/ 0 w 355600"/>
              <a:gd name="connsiteY2-24" fmla="*/ 361950 h 361950"/>
              <a:gd name="connsiteX0-25" fmla="*/ 355600 w 355600"/>
              <a:gd name="connsiteY0-26" fmla="*/ 0 h 361950"/>
              <a:gd name="connsiteX1-27" fmla="*/ 158750 w 355600"/>
              <a:gd name="connsiteY1-28" fmla="*/ 101600 h 361950"/>
              <a:gd name="connsiteX2-29" fmla="*/ 0 w 355600"/>
              <a:gd name="connsiteY2-30" fmla="*/ 361950 h 361950"/>
              <a:gd name="connsiteX0-31" fmla="*/ 355600 w 355600"/>
              <a:gd name="connsiteY0-32" fmla="*/ 0 h 361950"/>
              <a:gd name="connsiteX1-33" fmla="*/ 158750 w 355600"/>
              <a:gd name="connsiteY1-34" fmla="*/ 101600 h 361950"/>
              <a:gd name="connsiteX2-35" fmla="*/ 0 w 355600"/>
              <a:gd name="connsiteY2-36" fmla="*/ 361950 h 361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55600" h="361950">
                <a:moveTo>
                  <a:pt x="355600" y="0"/>
                </a:moveTo>
                <a:cubicBezTo>
                  <a:pt x="223308" y="42333"/>
                  <a:pt x="205317" y="46567"/>
                  <a:pt x="158750" y="101600"/>
                </a:cubicBezTo>
                <a:cubicBezTo>
                  <a:pt x="105833" y="156633"/>
                  <a:pt x="5291" y="300566"/>
                  <a:pt x="0" y="361950"/>
                </a:cubicBez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8100">
                <a:solidFill>
                  <a:schemeClr val="tx1"/>
                </a:solidFill>
              </a:ln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2838625" y="3426323"/>
            <a:ext cx="2226892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上报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Peer SID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矩形 32"/>
          <p:cNvSpPr/>
          <p:nvPr/>
        </p:nvSpPr>
        <p:spPr bwMode="gray">
          <a:xfrm>
            <a:off x="4951497" y="4470486"/>
            <a:ext cx="835633" cy="309272"/>
          </a:xfrm>
          <a:prstGeom prst="rect">
            <a:avLst/>
          </a:prstGeom>
          <a:solidFill>
            <a:srgbClr val="30B5C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 304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矩形 32"/>
          <p:cNvSpPr/>
          <p:nvPr/>
        </p:nvSpPr>
        <p:spPr bwMode="gray">
          <a:xfrm>
            <a:off x="5955273" y="4470486"/>
            <a:ext cx="835633" cy="309272"/>
          </a:xfrm>
          <a:prstGeom prst="rect">
            <a:avLst/>
          </a:prstGeom>
          <a:solidFill>
            <a:srgbClr val="30B5C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 403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7" name="直接箭头连接符 66"/>
          <p:cNvCxnSpPr>
            <a:endCxn id="16" idx="0"/>
          </p:cNvCxnSpPr>
          <p:nvPr/>
        </p:nvCxnSpPr>
        <p:spPr bwMode="gray">
          <a:xfrm flipH="1">
            <a:off x="4599609" y="3349775"/>
            <a:ext cx="1098114" cy="1056474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endCxn id="33" idx="0"/>
          </p:cNvCxnSpPr>
          <p:nvPr/>
        </p:nvCxnSpPr>
        <p:spPr bwMode="gray">
          <a:xfrm>
            <a:off x="5955273" y="3349775"/>
            <a:ext cx="1233575" cy="106200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任意多边形: 形状 93"/>
          <p:cNvSpPr/>
          <p:nvPr/>
        </p:nvSpPr>
        <p:spPr bwMode="gray">
          <a:xfrm>
            <a:off x="2095500" y="3276600"/>
            <a:ext cx="7607300" cy="2019785"/>
          </a:xfrm>
          <a:custGeom>
            <a:avLst/>
            <a:gdLst>
              <a:gd name="connsiteX0" fmla="*/ 3543300 w 7607300"/>
              <a:gd name="connsiteY0" fmla="*/ 0 h 2578100"/>
              <a:gd name="connsiteX1" fmla="*/ 0 w 7607300"/>
              <a:gd name="connsiteY1" fmla="*/ 2578100 h 2578100"/>
              <a:gd name="connsiteX2" fmla="*/ 7607300 w 7607300"/>
              <a:gd name="connsiteY2" fmla="*/ 2578100 h 2578100"/>
              <a:gd name="connsiteX3" fmla="*/ 3962400 w 7607300"/>
              <a:gd name="connsiteY3" fmla="*/ 0 h 257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07300" h="2578100">
                <a:moveTo>
                  <a:pt x="3543300" y="0"/>
                </a:moveTo>
                <a:lnTo>
                  <a:pt x="0" y="2578100"/>
                </a:lnTo>
                <a:lnTo>
                  <a:pt x="7607300" y="2578100"/>
                </a:lnTo>
                <a:lnTo>
                  <a:pt x="3962400" y="0"/>
                </a:lnTo>
              </a:path>
            </a:pathLst>
          </a:custGeom>
          <a:gradFill>
            <a:gsLst>
              <a:gs pos="100000">
                <a:schemeClr val="bg1">
                  <a:lumMod val="95000"/>
                </a:schemeClr>
              </a:gs>
              <a:gs pos="6000">
                <a:schemeClr val="bg1"/>
              </a:gs>
              <a:gs pos="62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跨域</a:t>
            </a:r>
            <a:r>
              <a:rPr lang="en-US" altLang="zh-CN">
                <a:sym typeface="Huawei Sans" panose="020C0503030203020204" pitchFamily="34" charset="0"/>
              </a:rPr>
              <a:t>E2E SR-MPLS TE (2)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1250950"/>
          </a:xfrm>
        </p:spPr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在</a:t>
            </a:r>
            <a:r>
              <a:rPr lang="en-US" altLang="zh-CN" sz="1600" dirty="0">
                <a:sym typeface="Huawei Sans" panose="020C0503030203020204" pitchFamily="34" charset="0"/>
              </a:rPr>
              <a:t>E2E SR-MPLS TE</a:t>
            </a:r>
            <a:r>
              <a:rPr lang="zh-CN" altLang="en-US" sz="1600" dirty="0">
                <a:sym typeface="Huawei Sans" panose="020C0503030203020204" pitchFamily="34" charset="0"/>
              </a:rPr>
              <a:t>隧道创建之前，控制器需要先完成域内</a:t>
            </a:r>
            <a:r>
              <a:rPr lang="en-US" altLang="zh-CN" sz="1600" dirty="0"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sym typeface="Huawei Sans" panose="020C0503030203020204" pitchFamily="34" charset="0"/>
              </a:rPr>
              <a:t>隧道创建。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如需减少标签深度，可以为域内隧道配置</a:t>
            </a:r>
            <a:r>
              <a:rPr lang="en-US" altLang="zh-CN" sz="1600" dirty="0">
                <a:sym typeface="Huawei Sans" panose="020C0503030203020204" pitchFamily="34" charset="0"/>
              </a:rPr>
              <a:t>Binding SID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>
                <a:sym typeface="Huawei Sans" panose="020C0503030203020204" pitchFamily="34" charset="0"/>
              </a:rPr>
              <a:t>如图</a:t>
            </a:r>
            <a:r>
              <a:rPr lang="en-US" altLang="zh-CN" sz="1600">
                <a:sym typeface="Huawei Sans" panose="020C0503030203020204" pitchFamily="34" charset="0"/>
              </a:rPr>
              <a:t>PE1</a:t>
            </a:r>
            <a:r>
              <a:rPr lang="zh-CN" altLang="en-US" sz="160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PE2</a:t>
            </a:r>
            <a:r>
              <a:rPr lang="zh-CN" altLang="en-US" sz="1600" dirty="0">
                <a:sym typeface="Huawei Sans" panose="020C0503030203020204" pitchFamily="34" charset="0"/>
              </a:rPr>
              <a:t>到达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的隧道分别配置</a:t>
            </a:r>
            <a:r>
              <a:rPr lang="en-US" altLang="zh-CN" sz="1600" dirty="0">
                <a:sym typeface="Huawei Sans" panose="020C0503030203020204" pitchFamily="34" charset="0"/>
              </a:rPr>
              <a:t>BSID 1000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2000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>
            <a:stCxn id="33" idx="1"/>
            <a:endCxn id="16" idx="3"/>
          </p:cNvCxnSpPr>
          <p:nvPr/>
        </p:nvCxnSpPr>
        <p:spPr bwMode="gray">
          <a:xfrm flipH="1" flipV="1">
            <a:off x="4836762" y="4600715"/>
            <a:ext cx="2114932" cy="55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16" idx="2"/>
            <a:endCxn id="17" idx="0"/>
          </p:cNvCxnSpPr>
          <p:nvPr/>
        </p:nvCxnSpPr>
        <p:spPr bwMode="gray">
          <a:xfrm>
            <a:off x="4599609" y="4795181"/>
            <a:ext cx="0" cy="7985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13" idx="3"/>
            <a:endCxn id="15" idx="1"/>
          </p:cNvCxnSpPr>
          <p:nvPr/>
        </p:nvCxnSpPr>
        <p:spPr bwMode="gray">
          <a:xfrm>
            <a:off x="2410446" y="5151571"/>
            <a:ext cx="615396" cy="636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13" idx="3"/>
            <a:endCxn id="14" idx="1"/>
          </p:cNvCxnSpPr>
          <p:nvPr/>
        </p:nvCxnSpPr>
        <p:spPr bwMode="gray">
          <a:xfrm flipV="1">
            <a:off x="2410446" y="4600715"/>
            <a:ext cx="615396" cy="5508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gray">
          <a:xfrm flipH="1">
            <a:off x="3298213" y="4606247"/>
            <a:ext cx="1561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gray">
          <a:xfrm flipH="1">
            <a:off x="3298213" y="5838367"/>
            <a:ext cx="1561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36139" y="4957105"/>
            <a:ext cx="474307" cy="388932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25842" y="4406249"/>
            <a:ext cx="474307" cy="388932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25842" y="5593732"/>
            <a:ext cx="474307" cy="388932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362455" y="4406249"/>
            <a:ext cx="474307" cy="388932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362455" y="5593732"/>
            <a:ext cx="474307" cy="388932"/>
          </a:xfrm>
          <a:prstGeom prst="rect">
            <a:avLst/>
          </a:prstGeom>
        </p:spPr>
      </p:pic>
      <p:pic>
        <p:nvPicPr>
          <p:cNvPr id="19" name="图片 18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5606761" y="2911101"/>
            <a:ext cx="474307" cy="38807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 bwMode="gray">
          <a:xfrm>
            <a:off x="3220056" y="5005959"/>
            <a:ext cx="1158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100</a:t>
            </a:r>
            <a:endParaRPr lang="en-US" altLang="zh-CN" sz="160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8" name="直接连接符 27"/>
          <p:cNvCxnSpPr>
            <a:stCxn id="32" idx="1"/>
            <a:endCxn id="36" idx="3"/>
          </p:cNvCxnSpPr>
          <p:nvPr/>
        </p:nvCxnSpPr>
        <p:spPr bwMode="gray">
          <a:xfrm flipH="1">
            <a:off x="8762614" y="5157103"/>
            <a:ext cx="667964" cy="636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32" idx="1"/>
            <a:endCxn id="35" idx="3"/>
          </p:cNvCxnSpPr>
          <p:nvPr/>
        </p:nvCxnSpPr>
        <p:spPr bwMode="gray">
          <a:xfrm flipH="1" flipV="1">
            <a:off x="8762614" y="4606247"/>
            <a:ext cx="667964" cy="5508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 bwMode="gray">
          <a:xfrm flipH="1">
            <a:off x="7224065" y="4611779"/>
            <a:ext cx="1561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 bwMode="gray">
          <a:xfrm flipH="1">
            <a:off x="7224065" y="5843899"/>
            <a:ext cx="13331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430578" y="4962637"/>
            <a:ext cx="474307" cy="388932"/>
          </a:xfrm>
          <a:prstGeom prst="rect">
            <a:avLst/>
          </a:prstGeom>
        </p:spPr>
      </p:pic>
      <p:pic>
        <p:nvPicPr>
          <p:cNvPr id="33" name="图片 3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51694" y="4411781"/>
            <a:ext cx="474307" cy="388932"/>
          </a:xfrm>
          <a:prstGeom prst="rect">
            <a:avLst/>
          </a:prstGeom>
        </p:spPr>
      </p:pic>
      <p:pic>
        <p:nvPicPr>
          <p:cNvPr id="34" name="图片 3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51694" y="5599264"/>
            <a:ext cx="474307" cy="388932"/>
          </a:xfrm>
          <a:prstGeom prst="rect">
            <a:avLst/>
          </a:prstGeom>
        </p:spPr>
      </p:pic>
      <p:pic>
        <p:nvPicPr>
          <p:cNvPr id="35" name="图片 3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288307" y="4411781"/>
            <a:ext cx="474307" cy="388932"/>
          </a:xfrm>
          <a:prstGeom prst="rect">
            <a:avLst/>
          </a:prstGeom>
        </p:spPr>
      </p:pic>
      <p:pic>
        <p:nvPicPr>
          <p:cNvPr id="36" name="图片 3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288307" y="5599264"/>
            <a:ext cx="474307" cy="388932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 bwMode="gray">
          <a:xfrm>
            <a:off x="7809931" y="5011491"/>
            <a:ext cx="1089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200</a:t>
            </a:r>
            <a:endParaRPr lang="zh-CN" altLang="en-US" sz="160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2" name="直接连接符 41"/>
          <p:cNvCxnSpPr/>
          <p:nvPr/>
        </p:nvCxnSpPr>
        <p:spPr bwMode="gray">
          <a:xfrm>
            <a:off x="7198304" y="4800713"/>
            <a:ext cx="0" cy="7985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34" idx="1"/>
            <a:endCxn id="17" idx="3"/>
          </p:cNvCxnSpPr>
          <p:nvPr/>
        </p:nvCxnSpPr>
        <p:spPr bwMode="gray">
          <a:xfrm flipH="1" flipV="1">
            <a:off x="4836762" y="5788198"/>
            <a:ext cx="2114932" cy="55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/>
          <p:cNvSpPr/>
          <p:nvPr/>
        </p:nvSpPr>
        <p:spPr bwMode="gray">
          <a:xfrm>
            <a:off x="1759750" y="4085756"/>
            <a:ext cx="3418509" cy="2044427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矩形: 圆角 49"/>
          <p:cNvSpPr/>
          <p:nvPr/>
        </p:nvSpPr>
        <p:spPr bwMode="gray">
          <a:xfrm>
            <a:off x="6645656" y="4085756"/>
            <a:ext cx="3399492" cy="2044427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 bwMode="gray">
          <a:xfrm>
            <a:off x="6243342" y="2956452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Can 41"/>
          <p:cNvSpPr/>
          <p:nvPr/>
        </p:nvSpPr>
        <p:spPr bwMode="gray">
          <a:xfrm rot="2935642">
            <a:off x="2641368" y="4080165"/>
            <a:ext cx="132988" cy="1052162"/>
          </a:xfrm>
          <a:prstGeom prst="can">
            <a:avLst>
              <a:gd name="adj" fmla="val 55435"/>
            </a:avLst>
          </a:prstGeom>
          <a:solidFill>
            <a:srgbClr val="FFF2CC"/>
          </a:solidFill>
          <a:ln w="12700">
            <a:solidFill>
              <a:srgbClr val="FFD1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Can 41"/>
          <p:cNvSpPr/>
          <p:nvPr/>
        </p:nvSpPr>
        <p:spPr bwMode="gray">
          <a:xfrm rot="5400000">
            <a:off x="3798909" y="3463436"/>
            <a:ext cx="155376" cy="1650587"/>
          </a:xfrm>
          <a:prstGeom prst="can">
            <a:avLst>
              <a:gd name="adj" fmla="val 55435"/>
            </a:avLst>
          </a:prstGeom>
          <a:solidFill>
            <a:srgbClr val="FFF2CC"/>
          </a:solidFill>
          <a:ln w="12700">
            <a:solidFill>
              <a:srgbClr val="FFD1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Can 41"/>
          <p:cNvSpPr/>
          <p:nvPr/>
        </p:nvSpPr>
        <p:spPr bwMode="gray">
          <a:xfrm rot="18547191">
            <a:off x="9032610" y="4080164"/>
            <a:ext cx="132988" cy="1052162"/>
          </a:xfrm>
          <a:prstGeom prst="can">
            <a:avLst>
              <a:gd name="adj" fmla="val 55435"/>
            </a:avLst>
          </a:prstGeom>
          <a:solidFill>
            <a:srgbClr val="FFF2CC"/>
          </a:solidFill>
          <a:ln w="12700">
            <a:solidFill>
              <a:srgbClr val="FFD1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Can 41"/>
          <p:cNvSpPr/>
          <p:nvPr/>
        </p:nvSpPr>
        <p:spPr bwMode="gray">
          <a:xfrm rot="16200000">
            <a:off x="7841494" y="3463442"/>
            <a:ext cx="155375" cy="1650576"/>
          </a:xfrm>
          <a:prstGeom prst="can">
            <a:avLst>
              <a:gd name="adj" fmla="val 55435"/>
            </a:avLst>
          </a:prstGeom>
          <a:solidFill>
            <a:srgbClr val="FFF2CC"/>
          </a:solidFill>
          <a:ln w="12700">
            <a:solidFill>
              <a:srgbClr val="FFD1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文本框 56"/>
          <p:cNvSpPr txBox="1"/>
          <p:nvPr/>
        </p:nvSpPr>
        <p:spPr bwMode="gray">
          <a:xfrm>
            <a:off x="4576688" y="5017077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6645655" y="5017077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文本框 58"/>
          <p:cNvSpPr txBox="1"/>
          <p:nvPr/>
        </p:nvSpPr>
        <p:spPr bwMode="gray">
          <a:xfrm>
            <a:off x="1932600" y="5394650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9418855" y="5394650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矩形 32"/>
          <p:cNvSpPr/>
          <p:nvPr/>
        </p:nvSpPr>
        <p:spPr bwMode="gray">
          <a:xfrm>
            <a:off x="2544045" y="3311871"/>
            <a:ext cx="1200686" cy="278872"/>
          </a:xfrm>
          <a:prstGeom prst="rect">
            <a:avLst/>
          </a:prstGeom>
          <a:solidFill>
            <a:srgbClr val="30B5C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BSID 1000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3" name="直接箭头连接符 62"/>
          <p:cNvCxnSpPr>
            <a:stCxn id="61" idx="2"/>
          </p:cNvCxnSpPr>
          <p:nvPr/>
        </p:nvCxnSpPr>
        <p:spPr bwMode="gray">
          <a:xfrm>
            <a:off x="3144388" y="3590743"/>
            <a:ext cx="3763" cy="666452"/>
          </a:xfrm>
          <a:prstGeom prst="straightConnector1">
            <a:avLst/>
          </a:prstGeom>
          <a:ln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32"/>
          <p:cNvSpPr/>
          <p:nvPr/>
        </p:nvSpPr>
        <p:spPr bwMode="gray">
          <a:xfrm>
            <a:off x="7685164" y="3311871"/>
            <a:ext cx="1200686" cy="278872"/>
          </a:xfrm>
          <a:prstGeom prst="rect">
            <a:avLst/>
          </a:prstGeom>
          <a:solidFill>
            <a:srgbClr val="30B5C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BSID 2000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5" name="直接箭头连接符 64"/>
          <p:cNvCxnSpPr>
            <a:stCxn id="64" idx="2"/>
          </p:cNvCxnSpPr>
          <p:nvPr/>
        </p:nvCxnSpPr>
        <p:spPr bwMode="gray">
          <a:xfrm>
            <a:off x="8285507" y="3590743"/>
            <a:ext cx="3763" cy="666452"/>
          </a:xfrm>
          <a:prstGeom prst="straightConnector1">
            <a:avLst/>
          </a:prstGeom>
          <a:ln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 bwMode="gray">
          <a:xfrm flipH="1">
            <a:off x="4555699" y="3349775"/>
            <a:ext cx="1142024" cy="786585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 bwMode="gray">
          <a:xfrm>
            <a:off x="5947025" y="3365500"/>
            <a:ext cx="1277040" cy="76069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Box 19"/>
          <p:cNvSpPr txBox="1">
            <a:spLocks noChangeArrowheads="1"/>
          </p:cNvSpPr>
          <p:nvPr/>
        </p:nvSpPr>
        <p:spPr bwMode="gray">
          <a:xfrm>
            <a:off x="5276748" y="3906516"/>
            <a:ext cx="1218345" cy="307777"/>
          </a:xfrm>
          <a:prstGeom prst="rect">
            <a:avLst/>
          </a:prstGeom>
          <a:solidFill>
            <a:srgbClr val="EC7061"/>
          </a:solidFill>
          <a:ln w="19050">
            <a:solidFill>
              <a:srgbClr val="EC7061"/>
            </a:solidFill>
            <a:miter lim="800000"/>
          </a:ln>
          <a:effectLst/>
        </p:spPr>
        <p:txBody>
          <a:bodyPr wrap="square" anchor="ctr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EPE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任意多边形: 形状 70"/>
          <p:cNvSpPr/>
          <p:nvPr/>
        </p:nvSpPr>
        <p:spPr bwMode="gray">
          <a:xfrm>
            <a:off x="4876800" y="4121150"/>
            <a:ext cx="355600" cy="361950"/>
          </a:xfrm>
          <a:custGeom>
            <a:avLst/>
            <a:gdLst>
              <a:gd name="connsiteX0" fmla="*/ 317500 w 317500"/>
              <a:gd name="connsiteY0" fmla="*/ 0 h 330200"/>
              <a:gd name="connsiteX1" fmla="*/ 63500 w 317500"/>
              <a:gd name="connsiteY1" fmla="*/ 152400 h 330200"/>
              <a:gd name="connsiteX2" fmla="*/ 0 w 317500"/>
              <a:gd name="connsiteY2" fmla="*/ 330200 h 330200"/>
              <a:gd name="connsiteX0-1" fmla="*/ 317500 w 317500"/>
              <a:gd name="connsiteY0-2" fmla="*/ 0 h 330200"/>
              <a:gd name="connsiteX1-3" fmla="*/ 158750 w 317500"/>
              <a:gd name="connsiteY1-4" fmla="*/ 69850 h 330200"/>
              <a:gd name="connsiteX2-5" fmla="*/ 0 w 317500"/>
              <a:gd name="connsiteY2-6" fmla="*/ 330200 h 330200"/>
              <a:gd name="connsiteX0-7" fmla="*/ 317500 w 317500"/>
              <a:gd name="connsiteY0-8" fmla="*/ 0 h 330200"/>
              <a:gd name="connsiteX1-9" fmla="*/ 158750 w 317500"/>
              <a:gd name="connsiteY1-10" fmla="*/ 69850 h 330200"/>
              <a:gd name="connsiteX2-11" fmla="*/ 0 w 317500"/>
              <a:gd name="connsiteY2-12" fmla="*/ 330200 h 330200"/>
              <a:gd name="connsiteX0-13" fmla="*/ 317500 w 317500"/>
              <a:gd name="connsiteY0-14" fmla="*/ 0 h 330200"/>
              <a:gd name="connsiteX1-15" fmla="*/ 158750 w 317500"/>
              <a:gd name="connsiteY1-16" fmla="*/ 69850 h 330200"/>
              <a:gd name="connsiteX2-17" fmla="*/ 0 w 317500"/>
              <a:gd name="connsiteY2-18" fmla="*/ 330200 h 330200"/>
              <a:gd name="connsiteX0-19" fmla="*/ 355600 w 355600"/>
              <a:gd name="connsiteY0-20" fmla="*/ 0 h 361950"/>
              <a:gd name="connsiteX1-21" fmla="*/ 158750 w 355600"/>
              <a:gd name="connsiteY1-22" fmla="*/ 101600 h 361950"/>
              <a:gd name="connsiteX2-23" fmla="*/ 0 w 355600"/>
              <a:gd name="connsiteY2-24" fmla="*/ 361950 h 361950"/>
              <a:gd name="connsiteX0-25" fmla="*/ 355600 w 355600"/>
              <a:gd name="connsiteY0-26" fmla="*/ 0 h 361950"/>
              <a:gd name="connsiteX1-27" fmla="*/ 158750 w 355600"/>
              <a:gd name="connsiteY1-28" fmla="*/ 101600 h 361950"/>
              <a:gd name="connsiteX2-29" fmla="*/ 0 w 355600"/>
              <a:gd name="connsiteY2-30" fmla="*/ 361950 h 361950"/>
              <a:gd name="connsiteX0-31" fmla="*/ 355600 w 355600"/>
              <a:gd name="connsiteY0-32" fmla="*/ 0 h 361950"/>
              <a:gd name="connsiteX1-33" fmla="*/ 158750 w 355600"/>
              <a:gd name="connsiteY1-34" fmla="*/ 101600 h 361950"/>
              <a:gd name="connsiteX2-35" fmla="*/ 0 w 355600"/>
              <a:gd name="connsiteY2-36" fmla="*/ 361950 h 361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55600" h="361950">
                <a:moveTo>
                  <a:pt x="355600" y="0"/>
                </a:moveTo>
                <a:cubicBezTo>
                  <a:pt x="223308" y="42333"/>
                  <a:pt x="205317" y="46567"/>
                  <a:pt x="158750" y="101600"/>
                </a:cubicBezTo>
                <a:cubicBezTo>
                  <a:pt x="105833" y="156633"/>
                  <a:pt x="5291" y="300566"/>
                  <a:pt x="0" y="361950"/>
                </a:cubicBez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8100">
                <a:solidFill>
                  <a:schemeClr val="tx1"/>
                </a:solidFill>
              </a:ln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任意多边形: 形状 72"/>
          <p:cNvSpPr/>
          <p:nvPr/>
        </p:nvSpPr>
        <p:spPr bwMode="gray">
          <a:xfrm flipH="1">
            <a:off x="6529629" y="4121150"/>
            <a:ext cx="355600" cy="361950"/>
          </a:xfrm>
          <a:custGeom>
            <a:avLst/>
            <a:gdLst>
              <a:gd name="connsiteX0" fmla="*/ 317500 w 317500"/>
              <a:gd name="connsiteY0" fmla="*/ 0 h 330200"/>
              <a:gd name="connsiteX1" fmla="*/ 63500 w 317500"/>
              <a:gd name="connsiteY1" fmla="*/ 152400 h 330200"/>
              <a:gd name="connsiteX2" fmla="*/ 0 w 317500"/>
              <a:gd name="connsiteY2" fmla="*/ 330200 h 330200"/>
              <a:gd name="connsiteX0-1" fmla="*/ 317500 w 317500"/>
              <a:gd name="connsiteY0-2" fmla="*/ 0 h 330200"/>
              <a:gd name="connsiteX1-3" fmla="*/ 158750 w 317500"/>
              <a:gd name="connsiteY1-4" fmla="*/ 69850 h 330200"/>
              <a:gd name="connsiteX2-5" fmla="*/ 0 w 317500"/>
              <a:gd name="connsiteY2-6" fmla="*/ 330200 h 330200"/>
              <a:gd name="connsiteX0-7" fmla="*/ 317500 w 317500"/>
              <a:gd name="connsiteY0-8" fmla="*/ 0 h 330200"/>
              <a:gd name="connsiteX1-9" fmla="*/ 158750 w 317500"/>
              <a:gd name="connsiteY1-10" fmla="*/ 69850 h 330200"/>
              <a:gd name="connsiteX2-11" fmla="*/ 0 w 317500"/>
              <a:gd name="connsiteY2-12" fmla="*/ 330200 h 330200"/>
              <a:gd name="connsiteX0-13" fmla="*/ 317500 w 317500"/>
              <a:gd name="connsiteY0-14" fmla="*/ 0 h 330200"/>
              <a:gd name="connsiteX1-15" fmla="*/ 158750 w 317500"/>
              <a:gd name="connsiteY1-16" fmla="*/ 69850 h 330200"/>
              <a:gd name="connsiteX2-17" fmla="*/ 0 w 317500"/>
              <a:gd name="connsiteY2-18" fmla="*/ 330200 h 330200"/>
              <a:gd name="connsiteX0-19" fmla="*/ 355600 w 355600"/>
              <a:gd name="connsiteY0-20" fmla="*/ 0 h 361950"/>
              <a:gd name="connsiteX1-21" fmla="*/ 158750 w 355600"/>
              <a:gd name="connsiteY1-22" fmla="*/ 101600 h 361950"/>
              <a:gd name="connsiteX2-23" fmla="*/ 0 w 355600"/>
              <a:gd name="connsiteY2-24" fmla="*/ 361950 h 361950"/>
              <a:gd name="connsiteX0-25" fmla="*/ 355600 w 355600"/>
              <a:gd name="connsiteY0-26" fmla="*/ 0 h 361950"/>
              <a:gd name="connsiteX1-27" fmla="*/ 158750 w 355600"/>
              <a:gd name="connsiteY1-28" fmla="*/ 101600 h 361950"/>
              <a:gd name="connsiteX2-29" fmla="*/ 0 w 355600"/>
              <a:gd name="connsiteY2-30" fmla="*/ 361950 h 361950"/>
              <a:gd name="connsiteX0-31" fmla="*/ 355600 w 355600"/>
              <a:gd name="connsiteY0-32" fmla="*/ 0 h 361950"/>
              <a:gd name="connsiteX1-33" fmla="*/ 158750 w 355600"/>
              <a:gd name="connsiteY1-34" fmla="*/ 101600 h 361950"/>
              <a:gd name="connsiteX2-35" fmla="*/ 0 w 355600"/>
              <a:gd name="connsiteY2-36" fmla="*/ 361950 h 361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55600" h="361950">
                <a:moveTo>
                  <a:pt x="355600" y="0"/>
                </a:moveTo>
                <a:cubicBezTo>
                  <a:pt x="223308" y="42333"/>
                  <a:pt x="205317" y="46567"/>
                  <a:pt x="158750" y="101600"/>
                </a:cubicBezTo>
                <a:cubicBezTo>
                  <a:pt x="105833" y="156633"/>
                  <a:pt x="5291" y="300566"/>
                  <a:pt x="0" y="361950"/>
                </a:cubicBez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8100">
                <a:solidFill>
                  <a:schemeClr val="tx1"/>
                </a:solidFill>
              </a:ln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矩形 32"/>
          <p:cNvSpPr/>
          <p:nvPr/>
        </p:nvSpPr>
        <p:spPr bwMode="gray">
          <a:xfrm>
            <a:off x="4951497" y="4470486"/>
            <a:ext cx="835633" cy="309272"/>
          </a:xfrm>
          <a:prstGeom prst="rect">
            <a:avLst/>
          </a:prstGeom>
          <a:solidFill>
            <a:srgbClr val="30B5C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 304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矩形 32"/>
          <p:cNvSpPr/>
          <p:nvPr/>
        </p:nvSpPr>
        <p:spPr bwMode="gray">
          <a:xfrm>
            <a:off x="5955273" y="4470486"/>
            <a:ext cx="835633" cy="309272"/>
          </a:xfrm>
          <a:prstGeom prst="rect">
            <a:avLst/>
          </a:prstGeom>
          <a:solidFill>
            <a:srgbClr val="30B5C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 403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跨域</a:t>
            </a:r>
            <a:r>
              <a:rPr lang="en-US" altLang="zh-CN">
                <a:sym typeface="Huawei Sans" panose="020C0503030203020204" pitchFamily="34" charset="0"/>
              </a:rPr>
              <a:t>E2E SR-MPLS TE (3)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1250950"/>
          </a:xfrm>
        </p:spPr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控制器全局计算，将路径标签整合生成标签栈下发给转发器。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如图所</a:t>
            </a:r>
            <a:r>
              <a:rPr lang="zh-CN" altLang="en-US" sz="1600">
                <a:sym typeface="Huawei Sans" panose="020C0503030203020204" pitchFamily="34" charset="0"/>
              </a:rPr>
              <a:t>示，</a:t>
            </a:r>
            <a:r>
              <a:rPr lang="en-US" altLang="zh-CN" sz="1600">
                <a:sym typeface="Huawei Sans" panose="020C0503030203020204" pitchFamily="34" charset="0"/>
              </a:rPr>
              <a:t>PE1</a:t>
            </a:r>
            <a:r>
              <a:rPr lang="zh-CN" altLang="en-US" sz="1600">
                <a:sym typeface="Huawei Sans" panose="020C0503030203020204" pitchFamily="34" charset="0"/>
              </a:rPr>
              <a:t>到</a:t>
            </a:r>
            <a:r>
              <a:rPr lang="en-US" altLang="zh-CN" sz="1600" dirty="0">
                <a:sym typeface="Huawei Sans" panose="020C0503030203020204" pitchFamily="34" charset="0"/>
              </a:rPr>
              <a:t>PE2</a:t>
            </a:r>
            <a:r>
              <a:rPr lang="zh-CN" altLang="en-US" sz="1600" dirty="0">
                <a:sym typeface="Huawei Sans" panose="020C0503030203020204" pitchFamily="34" charset="0"/>
              </a:rPr>
              <a:t>的标签栈为</a:t>
            </a:r>
            <a:r>
              <a:rPr lang="en-US" altLang="zh-CN" sz="1600" dirty="0">
                <a:sym typeface="Huawei Sans" panose="020C0503030203020204" pitchFamily="34" charset="0"/>
              </a:rPr>
              <a:t>&lt;1000, 304, 2000&gt;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标签栈中</a:t>
            </a:r>
            <a:r>
              <a:rPr lang="en-US" altLang="zh-CN" sz="1600" dirty="0">
                <a:sym typeface="Huawei Sans" panose="020C0503030203020204" pitchFamily="34" charset="0"/>
              </a:rPr>
              <a:t>1000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2000</a:t>
            </a:r>
            <a:r>
              <a:rPr lang="zh-CN" altLang="en-US" sz="1600" dirty="0">
                <a:sym typeface="Huawei Sans" panose="020C0503030203020204" pitchFamily="34" charset="0"/>
              </a:rPr>
              <a:t>为</a:t>
            </a:r>
            <a:r>
              <a:rPr lang="en-US" altLang="zh-CN" sz="1600" dirty="0">
                <a:sym typeface="Huawei Sans" panose="020C0503030203020204" pitchFamily="34" charset="0"/>
              </a:rPr>
              <a:t>BSID</a:t>
            </a:r>
            <a:r>
              <a:rPr lang="zh-CN" altLang="en-US" sz="1600" dirty="0">
                <a:sym typeface="Huawei Sans" panose="020C0503030203020204" pitchFamily="34" charset="0"/>
              </a:rPr>
              <a:t>，在域内转发时会替换为域内的</a:t>
            </a:r>
            <a:r>
              <a:rPr lang="en-US" altLang="zh-CN" sz="1600" dirty="0"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sym typeface="Huawei Sans" panose="020C0503030203020204" pitchFamily="34" charset="0"/>
              </a:rPr>
              <a:t>标签栈。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>
            <a:stCxn id="33" idx="1"/>
            <a:endCxn id="16" idx="3"/>
          </p:cNvCxnSpPr>
          <p:nvPr/>
        </p:nvCxnSpPr>
        <p:spPr bwMode="gray">
          <a:xfrm flipH="1" flipV="1">
            <a:off x="4836762" y="4600715"/>
            <a:ext cx="2114932" cy="55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16" idx="2"/>
            <a:endCxn id="17" idx="0"/>
          </p:cNvCxnSpPr>
          <p:nvPr/>
        </p:nvCxnSpPr>
        <p:spPr bwMode="gray">
          <a:xfrm>
            <a:off x="4599609" y="4795181"/>
            <a:ext cx="0" cy="7985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13" idx="3"/>
            <a:endCxn id="15" idx="1"/>
          </p:cNvCxnSpPr>
          <p:nvPr/>
        </p:nvCxnSpPr>
        <p:spPr bwMode="gray">
          <a:xfrm>
            <a:off x="2410446" y="5151571"/>
            <a:ext cx="615396" cy="636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13" idx="3"/>
            <a:endCxn id="14" idx="1"/>
          </p:cNvCxnSpPr>
          <p:nvPr/>
        </p:nvCxnSpPr>
        <p:spPr bwMode="gray">
          <a:xfrm flipV="1">
            <a:off x="2410446" y="4600715"/>
            <a:ext cx="615396" cy="5508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gray">
          <a:xfrm flipH="1">
            <a:off x="3298213" y="4606247"/>
            <a:ext cx="1561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gray">
          <a:xfrm flipH="1">
            <a:off x="3298213" y="5838367"/>
            <a:ext cx="1561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36139" y="4957105"/>
            <a:ext cx="474307" cy="388932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25842" y="4406249"/>
            <a:ext cx="474307" cy="388932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25842" y="5593732"/>
            <a:ext cx="474307" cy="388932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362455" y="4406249"/>
            <a:ext cx="474307" cy="388932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362455" y="5593732"/>
            <a:ext cx="474307" cy="388932"/>
          </a:xfrm>
          <a:prstGeom prst="rect">
            <a:avLst/>
          </a:prstGeom>
        </p:spPr>
      </p:pic>
      <p:pic>
        <p:nvPicPr>
          <p:cNvPr id="19" name="图片 18" descr="通用网管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5606761" y="2911101"/>
            <a:ext cx="474307" cy="38807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 bwMode="gray">
          <a:xfrm>
            <a:off x="3220056" y="5005959"/>
            <a:ext cx="1158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100</a:t>
            </a:r>
            <a:endParaRPr lang="en-US" altLang="zh-CN" sz="160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8" name="直接连接符 27"/>
          <p:cNvCxnSpPr>
            <a:stCxn id="32" idx="1"/>
            <a:endCxn id="36" idx="3"/>
          </p:cNvCxnSpPr>
          <p:nvPr/>
        </p:nvCxnSpPr>
        <p:spPr bwMode="gray">
          <a:xfrm flipH="1">
            <a:off x="8762614" y="5157103"/>
            <a:ext cx="667964" cy="636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32" idx="1"/>
            <a:endCxn id="35" idx="3"/>
          </p:cNvCxnSpPr>
          <p:nvPr/>
        </p:nvCxnSpPr>
        <p:spPr bwMode="gray">
          <a:xfrm flipH="1" flipV="1">
            <a:off x="8762614" y="4606247"/>
            <a:ext cx="667964" cy="5508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 bwMode="gray">
          <a:xfrm flipH="1">
            <a:off x="7224065" y="4611779"/>
            <a:ext cx="1561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 bwMode="gray">
          <a:xfrm flipH="1">
            <a:off x="7224065" y="5843899"/>
            <a:ext cx="12417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430578" y="4962637"/>
            <a:ext cx="474307" cy="388932"/>
          </a:xfrm>
          <a:prstGeom prst="rect">
            <a:avLst/>
          </a:prstGeom>
        </p:spPr>
      </p:pic>
      <p:pic>
        <p:nvPicPr>
          <p:cNvPr id="33" name="图片 3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51694" y="4411781"/>
            <a:ext cx="474307" cy="388932"/>
          </a:xfrm>
          <a:prstGeom prst="rect">
            <a:avLst/>
          </a:prstGeom>
        </p:spPr>
      </p:pic>
      <p:pic>
        <p:nvPicPr>
          <p:cNvPr id="34" name="图片 3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51694" y="5599264"/>
            <a:ext cx="474307" cy="388932"/>
          </a:xfrm>
          <a:prstGeom prst="rect">
            <a:avLst/>
          </a:prstGeom>
        </p:spPr>
      </p:pic>
      <p:pic>
        <p:nvPicPr>
          <p:cNvPr id="35" name="图片 3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288307" y="4411781"/>
            <a:ext cx="474307" cy="388932"/>
          </a:xfrm>
          <a:prstGeom prst="rect">
            <a:avLst/>
          </a:prstGeom>
        </p:spPr>
      </p:pic>
      <p:pic>
        <p:nvPicPr>
          <p:cNvPr id="36" name="图片 3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288307" y="5599264"/>
            <a:ext cx="474307" cy="388932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 bwMode="gray">
          <a:xfrm>
            <a:off x="7809931" y="5011491"/>
            <a:ext cx="1089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200</a:t>
            </a:r>
            <a:endParaRPr lang="zh-CN" altLang="en-US" sz="160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2" name="直接连接符 41"/>
          <p:cNvCxnSpPr/>
          <p:nvPr/>
        </p:nvCxnSpPr>
        <p:spPr bwMode="gray">
          <a:xfrm>
            <a:off x="7198304" y="4800713"/>
            <a:ext cx="0" cy="7985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34" idx="1"/>
            <a:endCxn id="17" idx="3"/>
          </p:cNvCxnSpPr>
          <p:nvPr/>
        </p:nvCxnSpPr>
        <p:spPr bwMode="gray">
          <a:xfrm flipH="1" flipV="1">
            <a:off x="4836762" y="5788198"/>
            <a:ext cx="2114932" cy="55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/>
          <p:cNvSpPr/>
          <p:nvPr/>
        </p:nvSpPr>
        <p:spPr bwMode="gray">
          <a:xfrm>
            <a:off x="1759750" y="4085756"/>
            <a:ext cx="3418509" cy="2044427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矩形: 圆角 49"/>
          <p:cNvSpPr/>
          <p:nvPr/>
        </p:nvSpPr>
        <p:spPr bwMode="gray">
          <a:xfrm>
            <a:off x="6645656" y="4085756"/>
            <a:ext cx="3399492" cy="2044427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 bwMode="gray">
          <a:xfrm>
            <a:off x="6243342" y="2956452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Can 41"/>
          <p:cNvSpPr/>
          <p:nvPr/>
        </p:nvSpPr>
        <p:spPr bwMode="gray">
          <a:xfrm rot="2935642">
            <a:off x="2641368" y="4080165"/>
            <a:ext cx="132988" cy="1052162"/>
          </a:xfrm>
          <a:prstGeom prst="can">
            <a:avLst>
              <a:gd name="adj" fmla="val 55435"/>
            </a:avLst>
          </a:prstGeom>
          <a:solidFill>
            <a:srgbClr val="FFF2CC"/>
          </a:solidFill>
          <a:ln w="12700">
            <a:solidFill>
              <a:srgbClr val="FFD1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Can 41"/>
          <p:cNvSpPr/>
          <p:nvPr/>
        </p:nvSpPr>
        <p:spPr bwMode="gray">
          <a:xfrm rot="5400000">
            <a:off x="3798909" y="3463436"/>
            <a:ext cx="155376" cy="1650587"/>
          </a:xfrm>
          <a:prstGeom prst="can">
            <a:avLst>
              <a:gd name="adj" fmla="val 55435"/>
            </a:avLst>
          </a:prstGeom>
          <a:solidFill>
            <a:srgbClr val="FFF2CC"/>
          </a:solidFill>
          <a:ln w="12700">
            <a:solidFill>
              <a:srgbClr val="FFD1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Can 41"/>
          <p:cNvSpPr/>
          <p:nvPr/>
        </p:nvSpPr>
        <p:spPr bwMode="gray">
          <a:xfrm rot="18547191">
            <a:off x="9032610" y="4080164"/>
            <a:ext cx="132988" cy="1052162"/>
          </a:xfrm>
          <a:prstGeom prst="can">
            <a:avLst>
              <a:gd name="adj" fmla="val 55435"/>
            </a:avLst>
          </a:prstGeom>
          <a:solidFill>
            <a:srgbClr val="FFF2CC"/>
          </a:solidFill>
          <a:ln w="12700">
            <a:solidFill>
              <a:srgbClr val="FFD1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Can 41"/>
          <p:cNvSpPr/>
          <p:nvPr/>
        </p:nvSpPr>
        <p:spPr bwMode="gray">
          <a:xfrm rot="16200000">
            <a:off x="7841494" y="3463442"/>
            <a:ext cx="155375" cy="1650576"/>
          </a:xfrm>
          <a:prstGeom prst="can">
            <a:avLst>
              <a:gd name="adj" fmla="val 55435"/>
            </a:avLst>
          </a:prstGeom>
          <a:solidFill>
            <a:srgbClr val="FFF2CC"/>
          </a:solidFill>
          <a:ln w="12700">
            <a:solidFill>
              <a:srgbClr val="FFD1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文本框 56"/>
          <p:cNvSpPr txBox="1"/>
          <p:nvPr/>
        </p:nvSpPr>
        <p:spPr bwMode="gray">
          <a:xfrm>
            <a:off x="4576688" y="5017077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6645655" y="5017077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文本框 58"/>
          <p:cNvSpPr txBox="1"/>
          <p:nvPr/>
        </p:nvSpPr>
        <p:spPr bwMode="gray">
          <a:xfrm>
            <a:off x="1932600" y="5394650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9418855" y="5394650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矩形 32"/>
          <p:cNvSpPr/>
          <p:nvPr/>
        </p:nvSpPr>
        <p:spPr bwMode="gray">
          <a:xfrm>
            <a:off x="4951497" y="4470486"/>
            <a:ext cx="835633" cy="309272"/>
          </a:xfrm>
          <a:prstGeom prst="rect">
            <a:avLst/>
          </a:prstGeom>
          <a:solidFill>
            <a:srgbClr val="30B5C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 304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矩形 32"/>
          <p:cNvSpPr/>
          <p:nvPr/>
        </p:nvSpPr>
        <p:spPr bwMode="gray">
          <a:xfrm>
            <a:off x="5955273" y="4470486"/>
            <a:ext cx="835633" cy="309272"/>
          </a:xfrm>
          <a:prstGeom prst="rect">
            <a:avLst/>
          </a:prstGeom>
          <a:solidFill>
            <a:srgbClr val="30B5C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 403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矩形 32"/>
          <p:cNvSpPr/>
          <p:nvPr/>
        </p:nvSpPr>
        <p:spPr bwMode="gray">
          <a:xfrm>
            <a:off x="2544045" y="3311871"/>
            <a:ext cx="1200686" cy="278872"/>
          </a:xfrm>
          <a:prstGeom prst="rect">
            <a:avLst/>
          </a:prstGeom>
          <a:solidFill>
            <a:srgbClr val="30B5C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BSID 1000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1" name="直接箭头连接符 60"/>
          <p:cNvCxnSpPr>
            <a:stCxn id="48" idx="2"/>
          </p:cNvCxnSpPr>
          <p:nvPr/>
        </p:nvCxnSpPr>
        <p:spPr bwMode="gray">
          <a:xfrm>
            <a:off x="3144388" y="3590743"/>
            <a:ext cx="3763" cy="666452"/>
          </a:xfrm>
          <a:prstGeom prst="straightConnector1">
            <a:avLst/>
          </a:prstGeom>
          <a:ln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32"/>
          <p:cNvSpPr/>
          <p:nvPr/>
        </p:nvSpPr>
        <p:spPr bwMode="gray">
          <a:xfrm>
            <a:off x="7685164" y="3311871"/>
            <a:ext cx="1200686" cy="278872"/>
          </a:xfrm>
          <a:prstGeom prst="rect">
            <a:avLst/>
          </a:prstGeom>
          <a:solidFill>
            <a:srgbClr val="30B5C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BSID 2000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4" name="直接箭头连接符 63"/>
          <p:cNvCxnSpPr>
            <a:stCxn id="63" idx="2"/>
          </p:cNvCxnSpPr>
          <p:nvPr/>
        </p:nvCxnSpPr>
        <p:spPr bwMode="gray">
          <a:xfrm>
            <a:off x="8285507" y="3590743"/>
            <a:ext cx="3763" cy="666452"/>
          </a:xfrm>
          <a:prstGeom prst="straightConnector1">
            <a:avLst/>
          </a:prstGeom>
          <a:ln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下 2"/>
          <p:cNvSpPr/>
          <p:nvPr/>
        </p:nvSpPr>
        <p:spPr bwMode="gray">
          <a:xfrm>
            <a:off x="5709323" y="3548666"/>
            <a:ext cx="272599" cy="385406"/>
          </a:xfrm>
          <a:prstGeom prst="downArrow">
            <a:avLst/>
          </a:prstGeom>
          <a:solidFill>
            <a:srgbClr val="56C4D2"/>
          </a:solidFill>
          <a:ln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Can 41"/>
          <p:cNvSpPr/>
          <p:nvPr/>
        </p:nvSpPr>
        <p:spPr bwMode="gray">
          <a:xfrm rot="16200000">
            <a:off x="5790712" y="3321648"/>
            <a:ext cx="185674" cy="1972451"/>
          </a:xfrm>
          <a:prstGeom prst="can">
            <a:avLst>
              <a:gd name="adj" fmla="val 55435"/>
            </a:avLst>
          </a:prstGeom>
          <a:solidFill>
            <a:srgbClr val="F28944"/>
          </a:solidFill>
          <a:ln w="12700">
            <a:solidFill>
              <a:srgbClr val="FFD1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概述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的基本原理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隧道保护与检测技术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的典型应用场景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>
                <a:sym typeface="Huawei Sans" panose="020C0503030203020204" pitchFamily="34" charset="0"/>
              </a:rPr>
              <a:t>Segment Routing</a:t>
            </a:r>
            <a:r>
              <a:rPr lang="zh-CN" altLang="en-US" b="1" dirty="0">
                <a:sym typeface="Huawei Sans" panose="020C0503030203020204" pitchFamily="34" charset="0"/>
              </a:rPr>
              <a:t>的基础配置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>
                <a:sym typeface="Huawei Sans" panose="020C0503030203020204" pitchFamily="34" charset="0"/>
              </a:rPr>
              <a:t>SR-MPLS BE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SR-MPLS TE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SR-MPLS Policy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矩形 47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 over SR-MPLS BE </a:t>
            </a:r>
            <a:r>
              <a:rPr lang="en-US" altLang="zh-CN" dirty="0"/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6286842" y="2628360"/>
            <a:ext cx="5136046" cy="224676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骨干网上使能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，配置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设备上配置隧道选择策略，优选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1" name="直接连接符 30"/>
          <p:cNvCxnSpPr>
            <a:stCxn id="33" idx="3"/>
            <a:endCxn id="37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3" name="图片 3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5" name="图片 3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7" name="图片 3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 bwMode="gray">
          <a:xfrm>
            <a:off x="1542925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矩形 44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矩形 45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矩形 46"/>
          <p:cNvSpPr/>
          <p:nvPr/>
        </p:nvSpPr>
        <p:spPr bwMode="gray">
          <a:xfrm>
            <a:off x="3875226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矩形 51"/>
          <p:cNvSpPr/>
          <p:nvPr/>
        </p:nvSpPr>
        <p:spPr bwMode="gray">
          <a:xfrm>
            <a:off x="575271" y="3815029"/>
            <a:ext cx="5136046" cy="147732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组网需求：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设备各有一个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属于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在骨干网络中部署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L3VPN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迭代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隧道，使得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接口可以相互通信。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矩形 52"/>
          <p:cNvSpPr/>
          <p:nvPr/>
        </p:nvSpPr>
        <p:spPr bwMode="gray">
          <a:xfrm>
            <a:off x="122308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矩形 53"/>
          <p:cNvSpPr/>
          <p:nvPr/>
        </p:nvSpPr>
        <p:spPr bwMode="gray">
          <a:xfrm>
            <a:off x="2705360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矩形 54"/>
          <p:cNvSpPr/>
          <p:nvPr/>
        </p:nvSpPr>
        <p:spPr bwMode="gray">
          <a:xfrm>
            <a:off x="3494934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497721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9" name="图片 2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30" name="图片 2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8" name="直接连接符 7"/>
          <p:cNvCxnSpPr>
            <a:stCxn id="33" idx="2"/>
            <a:endCxn id="29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37" idx="2"/>
            <a:endCxn id="30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矩形 39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61" name="矩形 60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矩形 61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 over SR-MPLS BE </a:t>
            </a:r>
            <a:r>
              <a:rPr lang="en-US" altLang="zh-CN" dirty="0"/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563864" y="3795620"/>
            <a:ext cx="5136046" cy="224676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骨干网上使能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，配置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，建立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设备上配置隧道选择策略，优选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 bwMode="gray">
          <a:xfrm>
            <a:off x="6459490" y="2489567"/>
            <a:ext cx="4222631" cy="3046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[*PE1-ospf-1] opaque-capability enable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[*PE1-ospf-1]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lsr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-id 10.0.1.1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[~PE1-mpls]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segment-routing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[*PE1-segment-routing]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[*PE1-ospf-1] segment-routing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[*PE1-ospf-1] segment-routing global-block 16000 23999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[*PE1-ospf-1]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interface loopback 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[*PE1-LoopBack1]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prefix-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index 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[*PE1-LoopBack1]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commit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6406532" y="2075491"/>
            <a:ext cx="3044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的配置略）。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8850489" y="4919004"/>
            <a:ext cx="609601" cy="20603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 bwMode="gray">
          <a:xfrm>
            <a:off x="7743928" y="5642854"/>
            <a:ext cx="1697901" cy="523220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 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  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index 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index 3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8" name="肘形连接符 37"/>
          <p:cNvCxnSpPr>
            <a:stCxn id="29" idx="3"/>
            <a:endCxn id="30" idx="3"/>
          </p:cNvCxnSpPr>
          <p:nvPr/>
        </p:nvCxnSpPr>
        <p:spPr bwMode="gray">
          <a:xfrm flipH="1">
            <a:off x="9441829" y="5022021"/>
            <a:ext cx="18261" cy="882443"/>
          </a:xfrm>
          <a:prstGeom prst="bentConnector3">
            <a:avLst>
              <a:gd name="adj1" fmla="val -1251848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 bwMode="gray">
          <a:xfrm>
            <a:off x="9606845" y="4343270"/>
            <a:ext cx="970844" cy="20603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9783211" y="5013335"/>
            <a:ext cx="1702710" cy="307777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配置相同的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SRGB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2" name="肘形连接符 41"/>
          <p:cNvCxnSpPr>
            <a:stCxn id="39" idx="3"/>
            <a:endCxn id="40" idx="3"/>
          </p:cNvCxnSpPr>
          <p:nvPr/>
        </p:nvCxnSpPr>
        <p:spPr bwMode="gray">
          <a:xfrm>
            <a:off x="10577689" y="4446287"/>
            <a:ext cx="908232" cy="720937"/>
          </a:xfrm>
          <a:prstGeom prst="bentConnector3">
            <a:avLst>
              <a:gd name="adj1" fmla="val 125170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" name="矩形 81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3" name="矩形 82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4" name="直接连接符 83"/>
          <p:cNvCxnSpPr>
            <a:stCxn id="86" idx="3"/>
            <a:endCxn id="90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6" name="图片 8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87" name="矩形 86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8" name="图片 8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89" name="矩形 88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90" name="图片 8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91" name="矩形 90"/>
          <p:cNvSpPr/>
          <p:nvPr/>
        </p:nvSpPr>
        <p:spPr bwMode="gray">
          <a:xfrm>
            <a:off x="1542925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矩形 91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矩形 92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矩形 93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矩形 94"/>
          <p:cNvSpPr/>
          <p:nvPr/>
        </p:nvSpPr>
        <p:spPr bwMode="gray">
          <a:xfrm>
            <a:off x="3875226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文本框 95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文本框 96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矩形 97"/>
          <p:cNvSpPr/>
          <p:nvPr/>
        </p:nvSpPr>
        <p:spPr bwMode="gray">
          <a:xfrm>
            <a:off x="122308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矩形 98"/>
          <p:cNvSpPr/>
          <p:nvPr/>
        </p:nvSpPr>
        <p:spPr bwMode="gray">
          <a:xfrm>
            <a:off x="2705360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0" name="矩形 99"/>
          <p:cNvSpPr/>
          <p:nvPr/>
        </p:nvSpPr>
        <p:spPr bwMode="gray">
          <a:xfrm>
            <a:off x="3494934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矩形 100"/>
          <p:cNvSpPr/>
          <p:nvPr/>
        </p:nvSpPr>
        <p:spPr bwMode="gray">
          <a:xfrm>
            <a:off x="497721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103" name="图片 10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104" name="直接连接符 103"/>
          <p:cNvCxnSpPr>
            <a:stCxn id="86" idx="2"/>
            <a:endCxn id="102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>
            <a:stCxn id="90" idx="2"/>
            <a:endCxn id="103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矩形 105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矩形 106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文本框 107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文本框 108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文本框 109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11" name="文本框 110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12" name="文本框 111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13" name="矩形 112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4" name="矩形 113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 over SR-MPLS BE </a:t>
            </a:r>
            <a:r>
              <a:rPr lang="en-US" altLang="zh-CN" dirty="0"/>
              <a:t>(3)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563864" y="3795620"/>
            <a:ext cx="5136046" cy="224676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设备上配置隧道选择策略，优选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 bwMode="gray">
          <a:xfrm>
            <a:off x="6278213" y="1793013"/>
            <a:ext cx="3978974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[~PE1-bgp] peer 10.0.3.3 as-number 100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[*PE1-bgp] peer 10.0.3.3 connect-interface loopback 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[*PE1-bgp] ipv4-family vpnv4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[*PE1-bgp-af-vpnv4] peer 10.0.3.3 enable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[*PE1-bgp-af-vpnv4] commit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[~PE1-bgp-af-vpnv4]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[~PE1-bgp]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6225255" y="1514182"/>
            <a:ext cx="2762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的配置略）。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6278213" y="3672616"/>
            <a:ext cx="4325223" cy="1754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[*PE1-vpn-instance-vpna] ipv4-family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[*PE1-vpn-instance-vpna-af-ipv4] route-distinguisher 100:1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[*PE1-vpn-instance-vpna-af-ipv4]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-target 111:1 both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[*PE1-vpn-instance-vpna-af-ipv4]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[*PE1-bgp]ipv4-family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[*PE1-bgp-vpna]peer 10.0.14.4 as-number 65000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 bwMode="gray">
          <a:xfrm>
            <a:off x="6225255" y="3336289"/>
            <a:ext cx="2762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的配置略）。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矩形 75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矩形 76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" name="矩形 77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9" name="直接连接符 78"/>
          <p:cNvCxnSpPr>
            <a:stCxn id="81" idx="3"/>
            <a:endCxn id="85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1" name="图片 8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82" name="矩形 81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3" name="图片 8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84" name="矩形 83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5" name="图片 8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86" name="矩形 85"/>
          <p:cNvSpPr/>
          <p:nvPr/>
        </p:nvSpPr>
        <p:spPr bwMode="gray">
          <a:xfrm>
            <a:off x="1542925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矩形 86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矩形 87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矩形 89"/>
          <p:cNvSpPr/>
          <p:nvPr/>
        </p:nvSpPr>
        <p:spPr bwMode="gray">
          <a:xfrm>
            <a:off x="3875226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矩形 92"/>
          <p:cNvSpPr/>
          <p:nvPr/>
        </p:nvSpPr>
        <p:spPr bwMode="gray">
          <a:xfrm>
            <a:off x="122308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矩形 93"/>
          <p:cNvSpPr/>
          <p:nvPr/>
        </p:nvSpPr>
        <p:spPr bwMode="gray">
          <a:xfrm>
            <a:off x="2705360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矩形 94"/>
          <p:cNvSpPr/>
          <p:nvPr/>
        </p:nvSpPr>
        <p:spPr bwMode="gray">
          <a:xfrm>
            <a:off x="3494934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矩形 95"/>
          <p:cNvSpPr/>
          <p:nvPr/>
        </p:nvSpPr>
        <p:spPr bwMode="gray">
          <a:xfrm>
            <a:off x="497721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97" name="图片 9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98" name="图片 9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99" name="直接连接符 98"/>
          <p:cNvCxnSpPr>
            <a:stCxn id="81" idx="2"/>
            <a:endCxn id="97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>
            <a:stCxn id="85" idx="2"/>
            <a:endCxn id="98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矩形 101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文本框 102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文本框 103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文本框 104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06" name="文本框 105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07" name="文本框 106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08" name="矩形 107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矩形 108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 over SR-MPLS BE </a:t>
            </a:r>
            <a:r>
              <a:rPr lang="en-US" altLang="zh-CN" dirty="0"/>
              <a:t>(4)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563864" y="3795620"/>
            <a:ext cx="5136046" cy="224676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设备上配置隧道选择策略，优选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 bwMode="gray">
          <a:xfrm>
            <a:off x="6278213" y="1793013"/>
            <a:ext cx="5195653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tunnel-policy p1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[*PE1-tunnel-policy-p1] tunnel select-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seq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sr-lsp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load-balance-number 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[*PE1-tunnel-policy-p1]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commit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[*PE1-vpn-instance-vpna] ipv4-family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[*PE1-vpn-instance-vpna-af-ipv4]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tnl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-policy p1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[*PE1-vpn-instance-vpna-af-ipv4]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commit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6278213" y="4031493"/>
            <a:ext cx="5195653" cy="10156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&lt;PE1&gt;display tunnel-info all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ID                      Type                Destination                Status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-------------------------------------------------------------------------------</a:t>
            </a:r>
            <a:r>
              <a:rPr lang="en-US" altLang="zh-CN" sz="12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0x000000002900000042 </a:t>
            </a:r>
            <a:r>
              <a:rPr lang="en-US" altLang="zh-CN" sz="1200" b="1" dirty="0" err="1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srbe-lsp</a:t>
            </a:r>
            <a:r>
              <a:rPr lang="en-US" altLang="zh-CN" sz="12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10.0.3.3                       UP</a:t>
            </a:r>
            <a:endParaRPr lang="en-US" altLang="zh-CN" sz="12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0x000000002900000043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srbe-lsp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10.0.2.2                       UP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225255" y="3752662"/>
            <a:ext cx="4972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设备上执行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display tunnel-info all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命令，查看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6225255" y="1514182"/>
            <a:ext cx="2762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的配置略）。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 bwMode="gray">
          <a:xfrm>
            <a:off x="6344355" y="4580455"/>
            <a:ext cx="1794934" cy="20603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6225255" y="5306505"/>
            <a:ext cx="1744388" cy="307777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到达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的隧道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ID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" name="肘形连接符 7"/>
          <p:cNvCxnSpPr>
            <a:stCxn id="6" idx="1"/>
            <a:endCxn id="40" idx="1"/>
          </p:cNvCxnSpPr>
          <p:nvPr/>
        </p:nvCxnSpPr>
        <p:spPr bwMode="gray">
          <a:xfrm rot="10800000" flipV="1">
            <a:off x="6225255" y="4683472"/>
            <a:ext cx="119100" cy="776922"/>
          </a:xfrm>
          <a:prstGeom prst="bentConnector3">
            <a:avLst>
              <a:gd name="adj1" fmla="val 291940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矩形 79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" name="矩形 80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2" name="直接连接符 81"/>
          <p:cNvCxnSpPr>
            <a:stCxn id="84" idx="3"/>
            <a:endCxn id="88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4" name="图片 8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85" name="矩形 84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6" name="图片 8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87" name="矩形 86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8" name="图片 8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89" name="矩形 88"/>
          <p:cNvSpPr/>
          <p:nvPr/>
        </p:nvSpPr>
        <p:spPr bwMode="gray">
          <a:xfrm>
            <a:off x="1542925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矩形 89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矩形 90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矩形 91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矩形 92"/>
          <p:cNvSpPr/>
          <p:nvPr/>
        </p:nvSpPr>
        <p:spPr bwMode="gray">
          <a:xfrm>
            <a:off x="3875226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矩形 95"/>
          <p:cNvSpPr/>
          <p:nvPr/>
        </p:nvSpPr>
        <p:spPr bwMode="gray">
          <a:xfrm>
            <a:off x="122308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矩形 96"/>
          <p:cNvSpPr/>
          <p:nvPr/>
        </p:nvSpPr>
        <p:spPr bwMode="gray">
          <a:xfrm>
            <a:off x="2705360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矩形 97"/>
          <p:cNvSpPr/>
          <p:nvPr/>
        </p:nvSpPr>
        <p:spPr bwMode="gray">
          <a:xfrm>
            <a:off x="3494934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矩形 98"/>
          <p:cNvSpPr/>
          <p:nvPr/>
        </p:nvSpPr>
        <p:spPr bwMode="gray">
          <a:xfrm>
            <a:off x="497721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101" name="图片 10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102" name="直接连接符 101"/>
          <p:cNvCxnSpPr>
            <a:stCxn id="84" idx="2"/>
            <a:endCxn id="100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>
            <a:stCxn id="88" idx="2"/>
            <a:endCxn id="101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矩形 104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文本框 105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文本框 106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文本框 107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09" name="文本框 108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10" name="文本框 109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11" name="矩形 110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2" name="矩形 111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 over SR-MPLS BE </a:t>
            </a:r>
            <a:r>
              <a:rPr lang="en-US" altLang="zh-CN" dirty="0"/>
              <a:t>(5)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563864" y="3795620"/>
            <a:ext cx="5136046" cy="224676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设备上配置隧道选择策略，优选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 bwMode="gray">
          <a:xfrm>
            <a:off x="6278213" y="1793013"/>
            <a:ext cx="5195653" cy="36009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&lt;PE1&gt;display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vpnv4 all routing-table 10.1.5.5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local router ID : 10.0.1.1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Local AS number : 100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Total routes of Route Distinguisher(100:1): 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routing table entry information of 10.1.5.5/32: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Label information (Received/Applied): </a:t>
            </a:r>
            <a:r>
              <a:rPr lang="en-US" altLang="zh-CN" sz="12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48122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/NULL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b="1" dirty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From: 10.0.3.3 (10.0.3.3)</a:t>
            </a:r>
            <a:endParaRPr lang="en-US" altLang="zh-CN" sz="12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Route Duration: 0d00h39m18s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IP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10.0.12.2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IP Out-Interface: GigabitEthernet0/3/1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Tunnel Out-Interface: GigabitEthernet0/3/1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Original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10.0.3.3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information : 0x0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Ext-Community: RT &lt;111 : 1&gt;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AS-path 65001, origin incomplete, MED 0,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localpref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100,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pref-val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0, valid, internal, best, select, pre 255, IGP cost 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Not advertised to any peer yet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6225255" y="1514182"/>
            <a:ext cx="3183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设备上查看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的路由信息。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6318661" y="3107733"/>
            <a:ext cx="3830050" cy="20603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6225254" y="5487129"/>
            <a:ext cx="3004349" cy="307777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分配的标签。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2" name="肘形连接符 41"/>
          <p:cNvCxnSpPr>
            <a:stCxn id="39" idx="1"/>
            <a:endCxn id="40" idx="1"/>
          </p:cNvCxnSpPr>
          <p:nvPr/>
        </p:nvCxnSpPr>
        <p:spPr bwMode="gray">
          <a:xfrm rot="10800000" flipV="1">
            <a:off x="6225255" y="3210750"/>
            <a:ext cx="93407" cy="2430268"/>
          </a:xfrm>
          <a:prstGeom prst="bentConnector3">
            <a:avLst>
              <a:gd name="adj1" fmla="val 344735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矩形 77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矩形 79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1" name="直接连接符 80"/>
          <p:cNvCxnSpPr>
            <a:stCxn id="83" idx="3"/>
            <a:endCxn id="87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3" name="图片 8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84" name="矩形 83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5" name="图片 8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86" name="矩形 85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7" name="图片 8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88" name="矩形 87"/>
          <p:cNvSpPr/>
          <p:nvPr/>
        </p:nvSpPr>
        <p:spPr bwMode="gray">
          <a:xfrm>
            <a:off x="1542925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矩形 89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矩形 90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矩形 91"/>
          <p:cNvSpPr/>
          <p:nvPr/>
        </p:nvSpPr>
        <p:spPr bwMode="gray">
          <a:xfrm>
            <a:off x="3875226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文本框 92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矩形 94"/>
          <p:cNvSpPr/>
          <p:nvPr/>
        </p:nvSpPr>
        <p:spPr bwMode="gray">
          <a:xfrm>
            <a:off x="122308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矩形 95"/>
          <p:cNvSpPr/>
          <p:nvPr/>
        </p:nvSpPr>
        <p:spPr bwMode="gray">
          <a:xfrm>
            <a:off x="2705360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矩形 96"/>
          <p:cNvSpPr/>
          <p:nvPr/>
        </p:nvSpPr>
        <p:spPr bwMode="gray">
          <a:xfrm>
            <a:off x="3494934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矩形 97"/>
          <p:cNvSpPr/>
          <p:nvPr/>
        </p:nvSpPr>
        <p:spPr bwMode="gray">
          <a:xfrm>
            <a:off x="497721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99" name="图片 9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100" name="图片 9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101" name="直接连接符 100"/>
          <p:cNvCxnSpPr>
            <a:stCxn id="83" idx="2"/>
            <a:endCxn id="99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>
            <a:stCxn id="87" idx="2"/>
            <a:endCxn id="100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矩形 103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文本框 104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文本框 105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文本框 106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08" name="文本框 107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09" name="文本框 108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10" name="矩形 109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矩形 110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 over SR-MPLS BE </a:t>
            </a:r>
            <a:r>
              <a:rPr lang="en-US" altLang="zh-CN" dirty="0"/>
              <a:t>(6)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563864" y="3795620"/>
            <a:ext cx="5136046" cy="224676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设备上配置隧道选择策略，优选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 bwMode="gray">
          <a:xfrm>
            <a:off x="6278213" y="1793013"/>
            <a:ext cx="5195653" cy="32316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&lt;PE1&gt;display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routing-table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vpna 10.1.5.5 verbose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Route Flags: R - relay, D - download to fib, T - to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------------------------------------------------------------------------------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Routing Table 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Summary Count : 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Destination: 10.1.5.5/32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Protocol: IBGP               Process ID: 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Preference: 255                      Cost: 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10.0.3.3    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Neighbour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10.0.3.3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State: Active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Adv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Relied         Age: 00h35m03s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Tag: 0                    Priority: low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Label: </a:t>
            </a:r>
            <a:r>
              <a:rPr lang="en-US" altLang="zh-CN" sz="12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48122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QoSInfo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0x0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IndirectID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0x100013A            Instance: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RelayNextHop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10.0.12.2           Interface: GigabitEthernet0/3/1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TunnelID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</a:t>
            </a:r>
            <a:r>
              <a:rPr lang="en-US" altLang="zh-CN" sz="12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0x000000002900000042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Flags: RD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6225255" y="1514182"/>
            <a:ext cx="3034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设备上查看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的路由信息。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6318661" y="4010844"/>
            <a:ext cx="2023828" cy="20603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6318660" y="4574200"/>
            <a:ext cx="2761863" cy="20603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6225254" y="5487129"/>
            <a:ext cx="3991190" cy="307777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结合，指导数据包转发。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0" name="肘形连接符 29"/>
          <p:cNvCxnSpPr>
            <a:stCxn id="27" idx="1"/>
            <a:endCxn id="29" idx="1"/>
          </p:cNvCxnSpPr>
          <p:nvPr/>
        </p:nvCxnSpPr>
        <p:spPr bwMode="gray">
          <a:xfrm rot="10800000" flipV="1">
            <a:off x="6225255" y="4113860"/>
            <a:ext cx="93407" cy="1527157"/>
          </a:xfrm>
          <a:prstGeom prst="bentConnector3">
            <a:avLst>
              <a:gd name="adj1" fmla="val 344735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28" idx="1"/>
            <a:endCxn id="29" idx="1"/>
          </p:cNvCxnSpPr>
          <p:nvPr/>
        </p:nvCxnSpPr>
        <p:spPr bwMode="gray">
          <a:xfrm rot="10800000" flipV="1">
            <a:off x="6225254" y="4677216"/>
            <a:ext cx="93406" cy="963801"/>
          </a:xfrm>
          <a:prstGeom prst="bentConnector3">
            <a:avLst>
              <a:gd name="adj1" fmla="val 344738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矩形 79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1" name="直接连接符 80"/>
          <p:cNvCxnSpPr>
            <a:stCxn id="83" idx="3"/>
            <a:endCxn id="87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3" name="图片 8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84" name="矩形 83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5" name="图片 8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86" name="矩形 85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7" name="图片 8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88" name="矩形 87"/>
          <p:cNvSpPr/>
          <p:nvPr/>
        </p:nvSpPr>
        <p:spPr bwMode="gray">
          <a:xfrm>
            <a:off x="1542925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矩形 89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矩形 90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矩形 91"/>
          <p:cNvSpPr/>
          <p:nvPr/>
        </p:nvSpPr>
        <p:spPr bwMode="gray">
          <a:xfrm>
            <a:off x="3875226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文本框 92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矩形 94"/>
          <p:cNvSpPr/>
          <p:nvPr/>
        </p:nvSpPr>
        <p:spPr bwMode="gray">
          <a:xfrm>
            <a:off x="122308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矩形 95"/>
          <p:cNvSpPr/>
          <p:nvPr/>
        </p:nvSpPr>
        <p:spPr bwMode="gray">
          <a:xfrm>
            <a:off x="2705360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矩形 96"/>
          <p:cNvSpPr/>
          <p:nvPr/>
        </p:nvSpPr>
        <p:spPr bwMode="gray">
          <a:xfrm>
            <a:off x="3494934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矩形 97"/>
          <p:cNvSpPr/>
          <p:nvPr/>
        </p:nvSpPr>
        <p:spPr bwMode="gray">
          <a:xfrm>
            <a:off x="497721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99" name="图片 9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100" name="图片 9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101" name="直接连接符 100"/>
          <p:cNvCxnSpPr>
            <a:stCxn id="83" idx="2"/>
            <a:endCxn id="99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>
            <a:stCxn id="87" idx="2"/>
            <a:endCxn id="100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矩形 103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文本框 104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文本框 105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文本框 106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08" name="文本框 107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09" name="文本框 108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10" name="矩形 109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矩形 110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 over SR-MPLS BE </a:t>
            </a:r>
            <a:r>
              <a:rPr lang="en-US" altLang="zh-CN" dirty="0"/>
              <a:t>(7)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563864" y="3795620"/>
            <a:ext cx="5136046" cy="224676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设备上配置隧道选择策略，优选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LSP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 bwMode="gray">
          <a:xfrm>
            <a:off x="6278213" y="1793013"/>
            <a:ext cx="5195653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&lt;PE1&gt;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tracert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segment-routing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10.0.3.3 32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LSP Trace Route FEC: SEGMENT ROUTING IPV4 PREFIX 10.0.3.3/32 , press CTRL_C to break.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TTL    Replier            Time    Type      Downstream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0                                          Ingress   10.0.12.2</a:t>
            </a:r>
            <a:r>
              <a:rPr lang="en-US" altLang="zh-CN" sz="12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/[16003 ]</a:t>
            </a:r>
            <a:endParaRPr lang="en-US" altLang="zh-CN" sz="12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1      10.0.12.2            8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Transit   10.0.23.3</a:t>
            </a:r>
            <a:r>
              <a:rPr lang="en-US" altLang="zh-CN" sz="12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/[3 </a:t>
            </a:r>
            <a:r>
              <a:rPr lang="en-US" altLang="zh-CN" sz="12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</a:t>
            </a:r>
            <a:endParaRPr lang="en-US" altLang="zh-CN" sz="1200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2      10.0.3.3              9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Egress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6225255" y="1514182"/>
            <a:ext cx="2568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Tracert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SR 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9036381" y="2546695"/>
            <a:ext cx="1597752" cy="39397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8253786" y="3386576"/>
            <a:ext cx="2568790" cy="307777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请思考标签是如何计算得到的？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0" name="肘形连接符 29"/>
          <p:cNvCxnSpPr>
            <a:stCxn id="27" idx="3"/>
            <a:endCxn id="29" idx="3"/>
          </p:cNvCxnSpPr>
          <p:nvPr/>
        </p:nvCxnSpPr>
        <p:spPr bwMode="gray">
          <a:xfrm>
            <a:off x="10634133" y="2743683"/>
            <a:ext cx="188443" cy="796782"/>
          </a:xfrm>
          <a:prstGeom prst="bentConnector3">
            <a:avLst>
              <a:gd name="adj1" fmla="val 221310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 bwMode="gray">
          <a:xfrm>
            <a:off x="6278213" y="4345128"/>
            <a:ext cx="5195653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&lt;CE1&gt;ping -a 10.1.4.4 10.1.5.5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PING 10.1.5.5: 56  data bytes, press CTRL_C to break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10.1.5.5: bytes=56 Sequence=1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=254 time=1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10.1.5.5: bytes=56 Sequence=2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=254 time=1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10.1.5.5: bytes=56 Sequence=3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=254 time=1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10.1.5.5: bytes=56 Sequence=4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=254 time=1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10.1.5.5: bytes=56 Sequence=5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=254 time=1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6225255" y="4066297"/>
            <a:ext cx="1749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上验证结果。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矩形 78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矩形 79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" name="矩形 80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2" name="直接连接符 81"/>
          <p:cNvCxnSpPr>
            <a:stCxn id="84" idx="3"/>
            <a:endCxn id="88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4" name="图片 8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85" name="矩形 84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6" name="图片 8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87" name="矩形 86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8" name="图片 8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89" name="矩形 88"/>
          <p:cNvSpPr/>
          <p:nvPr/>
        </p:nvSpPr>
        <p:spPr bwMode="gray">
          <a:xfrm>
            <a:off x="1542925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矩形 89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矩形 90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矩形 91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矩形 92"/>
          <p:cNvSpPr/>
          <p:nvPr/>
        </p:nvSpPr>
        <p:spPr bwMode="gray">
          <a:xfrm>
            <a:off x="3875226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矩形 95"/>
          <p:cNvSpPr/>
          <p:nvPr/>
        </p:nvSpPr>
        <p:spPr bwMode="gray">
          <a:xfrm>
            <a:off x="122308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矩形 96"/>
          <p:cNvSpPr/>
          <p:nvPr/>
        </p:nvSpPr>
        <p:spPr bwMode="gray">
          <a:xfrm>
            <a:off x="2705360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矩形 97"/>
          <p:cNvSpPr/>
          <p:nvPr/>
        </p:nvSpPr>
        <p:spPr bwMode="gray">
          <a:xfrm>
            <a:off x="3494934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矩形 98"/>
          <p:cNvSpPr/>
          <p:nvPr/>
        </p:nvSpPr>
        <p:spPr bwMode="gray">
          <a:xfrm>
            <a:off x="497721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101" name="图片 10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102" name="直接连接符 101"/>
          <p:cNvCxnSpPr>
            <a:stCxn id="84" idx="2"/>
            <a:endCxn id="100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>
            <a:stCxn id="88" idx="2"/>
            <a:endCxn id="101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矩形 104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文本框 105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文本框 106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文本框 107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09" name="文本框 108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10" name="文本框 109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111" name="矩形 110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2" name="矩形 111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概述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的基本原理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隧道保护与检测技术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的典型应用场景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>
                <a:sym typeface="Huawei Sans" panose="020C0503030203020204" pitchFamily="34" charset="0"/>
              </a:rPr>
              <a:t>Segment Routing</a:t>
            </a:r>
            <a:r>
              <a:rPr lang="zh-CN" altLang="en-US" b="1" dirty="0">
                <a:sym typeface="Huawei Sans" panose="020C0503030203020204" pitchFamily="34" charset="0"/>
              </a:rPr>
              <a:t>的基础配置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/>
            <a:r>
              <a:rPr lang="de-DE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SR-MPLS BE</a:t>
            </a:r>
            <a:endParaRPr lang="de-DE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de-DE" altLang="zh-CN" dirty="0">
                <a:sym typeface="Huawei Sans" panose="020C0503030203020204" pitchFamily="34" charset="0"/>
              </a:rPr>
              <a:t>SR-MPLS TE</a:t>
            </a:r>
            <a:endParaRPr lang="de-DE" altLang="zh-CN" dirty="0">
              <a:sym typeface="Huawei Sans" panose="020C0503030203020204" pitchFamily="34" charset="0"/>
            </a:endParaRPr>
          </a:p>
          <a:p>
            <a:pPr lvl="1"/>
            <a:r>
              <a:rPr lang="de-DE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SR-MPLS Policy</a:t>
            </a:r>
            <a:endParaRPr lang="de-DE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 over SR-MPLS TE </a:t>
            </a:r>
            <a:r>
              <a:rPr lang="en-US" altLang="zh-CN" dirty="0"/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6286841" y="2628360"/>
            <a:ext cx="5363291" cy="286232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骨干网上使能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，配置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 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之间配置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交换路由信息。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设备上配置隧道选择策略，优选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矩形 51"/>
          <p:cNvSpPr/>
          <p:nvPr/>
        </p:nvSpPr>
        <p:spPr bwMode="gray">
          <a:xfrm>
            <a:off x="464671" y="3728551"/>
            <a:ext cx="5136046" cy="147732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组网需求：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设备各有一个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属于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在骨干网络中部署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L3VPN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迭代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隧道，使得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接口可以相互通信。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矩形 24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矩形 25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 26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8" name="直接连接符 27"/>
          <p:cNvCxnSpPr>
            <a:stCxn id="30" idx="3"/>
            <a:endCxn id="42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0" name="图片 2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9" name="图片 3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2" name="图片 4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 bwMode="gray">
          <a:xfrm>
            <a:off x="1542925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矩形 47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矩形 48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矩形 58"/>
          <p:cNvSpPr/>
          <p:nvPr/>
        </p:nvSpPr>
        <p:spPr bwMode="gray">
          <a:xfrm>
            <a:off x="3875226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62"/>
          <p:cNvSpPr/>
          <p:nvPr/>
        </p:nvSpPr>
        <p:spPr bwMode="gray">
          <a:xfrm>
            <a:off x="122308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2705360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矩形 64"/>
          <p:cNvSpPr/>
          <p:nvPr/>
        </p:nvSpPr>
        <p:spPr bwMode="gray">
          <a:xfrm>
            <a:off x="3494934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矩形 65"/>
          <p:cNvSpPr/>
          <p:nvPr/>
        </p:nvSpPr>
        <p:spPr bwMode="gray">
          <a:xfrm>
            <a:off x="497721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69" name="直接连接符 68"/>
          <p:cNvCxnSpPr>
            <a:stCxn id="30" idx="2"/>
            <a:endCxn id="67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42" idx="2"/>
            <a:endCxn id="68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8" name="矩形 77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矩形 78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 over SR-MPLS TE </a:t>
            </a:r>
            <a:r>
              <a:rPr lang="en-US" altLang="zh-CN" dirty="0"/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452438" y="3756484"/>
            <a:ext cx="5643562" cy="25545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，建立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 LSP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交换路由信息。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设备上配置隧道选择策略，优选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6244347" y="1893112"/>
            <a:ext cx="4222631" cy="3046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lsr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-id 10.0.1.1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[*PE1-mpls]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[*PE1-mpls]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segment-routing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[*PE1-segment-routing]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[*PE1-ospf-1] opaque-capability enable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[*PE1-ospf-1] segment-routing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[*PE1-ospf-1] segment-routing global-block 16000 23999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[*PE1-ospf-1] area 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[*PE1-ospf-1-area-0.0.0.0]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mpls-te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enable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[*PE1-ospf-1-area-0.0.0.0]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interface loopback 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[*PE1-LoopBack1]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prefix-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index 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[*PE1-LoopBack1]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6191389" y="1479036"/>
            <a:ext cx="5288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的基本功能，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配置略）。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 27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0" name="直接连接符 29"/>
          <p:cNvCxnSpPr>
            <a:stCxn id="39" idx="3"/>
            <a:endCxn id="48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9" name="图片 3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2" name="图片 4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8" name="图片 4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49" name="矩形 48"/>
          <p:cNvSpPr/>
          <p:nvPr/>
        </p:nvSpPr>
        <p:spPr bwMode="gray">
          <a:xfrm>
            <a:off x="1542925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矩形 51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矩形 58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矩形 60"/>
          <p:cNvSpPr/>
          <p:nvPr/>
        </p:nvSpPr>
        <p:spPr bwMode="gray">
          <a:xfrm>
            <a:off x="3875226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122308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矩形 64"/>
          <p:cNvSpPr/>
          <p:nvPr/>
        </p:nvSpPr>
        <p:spPr bwMode="gray">
          <a:xfrm>
            <a:off x="2705360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矩形 65"/>
          <p:cNvSpPr/>
          <p:nvPr/>
        </p:nvSpPr>
        <p:spPr bwMode="gray">
          <a:xfrm>
            <a:off x="3494934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497721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69" name="图片 6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70" name="直接连接符 69"/>
          <p:cNvCxnSpPr>
            <a:stCxn id="39" idx="2"/>
            <a:endCxn id="68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>
            <a:stCxn id="48" idx="2"/>
            <a:endCxn id="69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矩形 72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9" name="矩形 78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矩形 79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 over SR-MPLS TE </a:t>
            </a:r>
            <a:r>
              <a:rPr lang="en-US" altLang="zh-CN" dirty="0"/>
              <a:t>(3)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452438" y="3756484"/>
            <a:ext cx="5363291" cy="25545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，建立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 LSP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交换路由信息。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设备上配置隧道选择策略，优选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6244347" y="1893112"/>
            <a:ext cx="4044697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[~PE1]explicit-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path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te1</a:t>
            </a:r>
            <a:endParaRPr lang="fr-FR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[*PE1-explicit-path-te1]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label 16002 type 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</a:t>
            </a:r>
            <a:endParaRPr lang="fr-FR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[*PE1-explicit-path-te1]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label 16003 type 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prefix</a:t>
            </a:r>
            <a:endParaRPr lang="fr-FR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[*PE1-explicit-path-te1]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commit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6191389" y="1479036"/>
            <a:ext cx="5109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显式路径，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配置略）。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6244347" y="3243710"/>
            <a:ext cx="4421403" cy="1754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interface tunnel1</a:t>
            </a:r>
            <a:endParaRPr lang="fr-FR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[*PE1-Tunnel1] 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address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unnumbered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interface LoopBack1</a:t>
            </a:r>
            <a:endParaRPr lang="fr-FR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[*PE1-Tunnel1] tunnel-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te</a:t>
            </a:r>
            <a:endParaRPr lang="fr-FR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[*PE1-Tunnel1] destination 10.0.3.3</a:t>
            </a:r>
            <a:endParaRPr lang="fr-FR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[*PE1-Tunnel1] 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te tunnel-id 1</a:t>
            </a:r>
            <a:endParaRPr lang="fr-FR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[*PE1-Tunnel1] 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te signal-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segment-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routing</a:t>
            </a:r>
            <a:endParaRPr lang="fr-FR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[*PE1-Tunnel1] 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te 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path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explicit-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path</a:t>
            </a:r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te1</a:t>
            </a:r>
            <a:endParaRPr lang="fr-FR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[*PE1-Tunnel1] commit</a:t>
            </a:r>
            <a:endParaRPr lang="fr-FR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fr-FR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[~PE1-Tunnel1] </a:t>
            </a:r>
            <a:r>
              <a:rPr lang="fr-FR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6191389" y="2829634"/>
            <a:ext cx="48269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隧道接口，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配置略）。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8" name="直接连接符 37"/>
          <p:cNvCxnSpPr>
            <a:stCxn id="43" idx="3"/>
            <a:endCxn id="57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3" name="图片 4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9" name="图片 4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52" name="矩形 51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7" name="图片 5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 bwMode="gray">
          <a:xfrm>
            <a:off x="1542925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矩形 60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矩形 61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62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3875226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122308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2705360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3494934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497721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1" name="图片 7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72" name="图片 7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73" name="直接连接符 72"/>
          <p:cNvCxnSpPr>
            <a:stCxn id="43" idx="2"/>
            <a:endCxn id="71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57" idx="2"/>
            <a:endCxn id="72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矩形 75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2" name="矩形 81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矩形 82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 over SR-MPLS TE </a:t>
            </a:r>
            <a:r>
              <a:rPr lang="en-US" altLang="zh-CN" dirty="0"/>
              <a:t>(4)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452438" y="3756484"/>
            <a:ext cx="5363291" cy="25545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之间配置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交换路由信息。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设备上配置隧道选择策略，优选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 bwMode="gray">
          <a:xfrm>
            <a:off x="6278213" y="1793013"/>
            <a:ext cx="3978974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[~PE1-bgp] peer 10.0.3.3 as-number 100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[*PE1-bgp] peer 10.0.3.3 connect-interface loopback 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[*PE1-bgp] ipv4-family vpnv4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[*PE1-bgp-af-vpnv4] peer 10.0.3.3 enable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[*PE1-bgp-af-vpnv4] commit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[~PE1-bgp-af-vpnv4]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[~PE1-bgp]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6225255" y="1514182"/>
            <a:ext cx="2762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的配置略）。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6278213" y="3672616"/>
            <a:ext cx="4325223" cy="1754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[*PE1-vpn-instance-vpna] ipv4-family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[*PE1-vpn-instance-vpna-af-ipv4] route-distinguisher 100:1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[*PE1-vpn-instance-vpna-af-ipv4]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-target 111:1 both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[*PE1-vpn-instance-vpna-af-ipv4]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[*PE1-bgp]ipv4-family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[*PE1-bgp-vpna]peer 10.0.14.4 as-number 65000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 bwMode="gray">
          <a:xfrm>
            <a:off x="6225255" y="3336289"/>
            <a:ext cx="2762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的配置略）。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8" name="直接连接符 37"/>
          <p:cNvCxnSpPr>
            <a:stCxn id="40" idx="3"/>
            <a:endCxn id="61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0" name="图片 3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42" name="矩形 41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7" name="图片 5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1" name="图片 6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 bwMode="gray">
          <a:xfrm>
            <a:off x="1542925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62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矩形 64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矩形 65"/>
          <p:cNvSpPr/>
          <p:nvPr/>
        </p:nvSpPr>
        <p:spPr bwMode="gray">
          <a:xfrm>
            <a:off x="3875226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文本框 66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22308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2705360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矩形 70"/>
          <p:cNvSpPr/>
          <p:nvPr/>
        </p:nvSpPr>
        <p:spPr bwMode="gray">
          <a:xfrm>
            <a:off x="3494934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497721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3" name="图片 7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74" name="图片 7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75" name="直接连接符 74"/>
          <p:cNvCxnSpPr>
            <a:stCxn id="40" idx="2"/>
            <a:endCxn id="73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>
            <a:stCxn id="61" idx="2"/>
            <a:endCxn id="74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矩形 77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文本框 79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文本框 80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2" name="文本框 81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4" name="矩形 83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矩形 84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 over SR-MPLS TE </a:t>
            </a:r>
            <a:r>
              <a:rPr lang="en-US" altLang="zh-CN" dirty="0"/>
              <a:t>(5)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452438" y="3756484"/>
            <a:ext cx="5363291" cy="25545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交换路由信息。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设备上配置隧道选择策略，优选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6278213" y="1793013"/>
            <a:ext cx="5137945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tunnel-policy p2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[*PE1-tunnel-policy-p2] tunnel select-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seq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sr-te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load-balance-number 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[*PE1-tunnel-policy-p2]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commit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[*PE1-vpn-instance-vpna] ipv4-family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[*PE1-vpn-instance-vpna-af-ipv4]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tnl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-policy p2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[*PE1-vpn-instance-vpna-af-ipv4]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commit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6278213" y="4031493"/>
            <a:ext cx="5195653" cy="10156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ID                       Type                Destination                 Status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-----------------------------------------------------------------------------------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0x000000000300000001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sr-te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10.0.3.3                              UP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0x000000002900000042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srbe-lsp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10.0.3.3                             UP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0x000000002900000043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srbe-lsp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10.0.2.2                             UP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 bwMode="gray">
          <a:xfrm>
            <a:off x="6225255" y="3752662"/>
            <a:ext cx="4972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设备上执行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display tunnel-info all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命令，查看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225255" y="1514182"/>
            <a:ext cx="2762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的配置略）。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6321777" y="4433698"/>
            <a:ext cx="2348090" cy="20603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6225255" y="5306505"/>
            <a:ext cx="2398413" cy="307777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到达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SR-TE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的隧道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ID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2" name="肘形连接符 41"/>
          <p:cNvCxnSpPr>
            <a:stCxn id="39" idx="1"/>
            <a:endCxn id="40" idx="1"/>
          </p:cNvCxnSpPr>
          <p:nvPr/>
        </p:nvCxnSpPr>
        <p:spPr bwMode="gray">
          <a:xfrm rot="10800000" flipV="1">
            <a:off x="6225255" y="4536714"/>
            <a:ext cx="96522" cy="923679"/>
          </a:xfrm>
          <a:prstGeom prst="bentConnector3">
            <a:avLst>
              <a:gd name="adj1" fmla="val 336837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矩形 47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" name="矩形 48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2" name="直接连接符 51"/>
          <p:cNvCxnSpPr>
            <a:stCxn id="59" idx="3"/>
            <a:endCxn id="63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9" name="图片 5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60" name="矩形 59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1" name="图片 6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3" name="图片 6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64" name="矩形 63"/>
          <p:cNvSpPr/>
          <p:nvPr/>
        </p:nvSpPr>
        <p:spPr bwMode="gray">
          <a:xfrm>
            <a:off x="1542925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矩形 64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矩形 65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3875226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矩形 70"/>
          <p:cNvSpPr/>
          <p:nvPr/>
        </p:nvSpPr>
        <p:spPr bwMode="gray">
          <a:xfrm>
            <a:off x="122308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2705360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矩形 72"/>
          <p:cNvSpPr/>
          <p:nvPr/>
        </p:nvSpPr>
        <p:spPr bwMode="gray">
          <a:xfrm>
            <a:off x="3494934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矩形 73"/>
          <p:cNvSpPr/>
          <p:nvPr/>
        </p:nvSpPr>
        <p:spPr bwMode="gray">
          <a:xfrm>
            <a:off x="497721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5" name="图片 7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76" name="图片 7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77" name="直接连接符 76"/>
          <p:cNvCxnSpPr>
            <a:stCxn id="59" idx="2"/>
            <a:endCxn id="75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>
            <a:stCxn id="63" idx="2"/>
            <a:endCxn id="76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矩形 79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文本框 80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文本框 81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4" name="文本框 83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6" name="矩形 85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矩形 86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 over SR-MPLS TE </a:t>
            </a:r>
            <a:r>
              <a:rPr lang="en-US" altLang="zh-CN" dirty="0"/>
              <a:t>(6)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452438" y="3756484"/>
            <a:ext cx="5363291" cy="25545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交换路由信息。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设备上配置隧道选择策略，优选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文本框 58"/>
          <p:cNvSpPr txBox="1"/>
          <p:nvPr/>
        </p:nvSpPr>
        <p:spPr bwMode="gray">
          <a:xfrm>
            <a:off x="6278213" y="1793013"/>
            <a:ext cx="5195653" cy="32316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[~PE1]display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routing-table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vpna 10.1.5.5 verbose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Route Flags: R - relay, D - download to fib, T - to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-instance, B - black hole route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------------------------------------------------------------------------------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Routing Table 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Summary Count : 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Destination: 10.1.5.5/32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Protocol: IBGP               Process ID: 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Preference: 255                      Cost: 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10.0.3.3    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Neighbour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10.0.3.3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State: Active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Adv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Relied         Age: 00h04m18s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Tag: 0                    Priority: low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Label: 48122         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QoSInfo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0x0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IndirectID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0x100013D            Instance: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RelayNextHop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0.0.0.0             Interface: Tunnel1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TunnelID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0x000000000300000001    Flags: RD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6225255" y="1514182"/>
            <a:ext cx="3034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设备上查看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的路由信息。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矩形 60"/>
          <p:cNvSpPr/>
          <p:nvPr/>
        </p:nvSpPr>
        <p:spPr bwMode="gray">
          <a:xfrm>
            <a:off x="6318661" y="4202757"/>
            <a:ext cx="2023828" cy="20603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矩形 61"/>
          <p:cNvSpPr/>
          <p:nvPr/>
        </p:nvSpPr>
        <p:spPr bwMode="gray">
          <a:xfrm>
            <a:off x="6318660" y="4766113"/>
            <a:ext cx="2761863" cy="20603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 bwMode="gray">
          <a:xfrm>
            <a:off x="6225253" y="5487129"/>
            <a:ext cx="4533057" cy="307777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TE 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结合，指导数据包转发。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4" name="肘形连接符 63"/>
          <p:cNvCxnSpPr>
            <a:stCxn id="61" idx="1"/>
            <a:endCxn id="63" idx="1"/>
          </p:cNvCxnSpPr>
          <p:nvPr/>
        </p:nvCxnSpPr>
        <p:spPr bwMode="gray">
          <a:xfrm rot="10800000" flipV="1">
            <a:off x="6225253" y="4305774"/>
            <a:ext cx="93408" cy="1335244"/>
          </a:xfrm>
          <a:prstGeom prst="bentConnector3">
            <a:avLst>
              <a:gd name="adj1" fmla="val 344733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肘形连接符 64"/>
          <p:cNvCxnSpPr>
            <a:stCxn id="62" idx="1"/>
            <a:endCxn id="63" idx="1"/>
          </p:cNvCxnSpPr>
          <p:nvPr/>
        </p:nvCxnSpPr>
        <p:spPr bwMode="gray">
          <a:xfrm rot="10800000" flipV="1">
            <a:off x="6225254" y="4869130"/>
            <a:ext cx="93407" cy="771888"/>
          </a:xfrm>
          <a:prstGeom prst="bentConnector3">
            <a:avLst>
              <a:gd name="adj1" fmla="val 344735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矩形 37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矩形 38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0" name="直接连接符 39"/>
          <p:cNvCxnSpPr>
            <a:stCxn id="43" idx="3"/>
            <a:endCxn id="57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3" name="图片 4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9" name="图片 4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52" name="矩形 51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7" name="图片 5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66" name="矩形 65"/>
          <p:cNvSpPr/>
          <p:nvPr/>
        </p:nvSpPr>
        <p:spPr bwMode="gray">
          <a:xfrm>
            <a:off x="1542925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3875226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矩形 72"/>
          <p:cNvSpPr/>
          <p:nvPr/>
        </p:nvSpPr>
        <p:spPr bwMode="gray">
          <a:xfrm>
            <a:off x="122308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矩形 73"/>
          <p:cNvSpPr/>
          <p:nvPr/>
        </p:nvSpPr>
        <p:spPr bwMode="gray">
          <a:xfrm>
            <a:off x="2705360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矩形 74"/>
          <p:cNvSpPr/>
          <p:nvPr/>
        </p:nvSpPr>
        <p:spPr bwMode="gray">
          <a:xfrm>
            <a:off x="3494934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矩形 75"/>
          <p:cNvSpPr/>
          <p:nvPr/>
        </p:nvSpPr>
        <p:spPr bwMode="gray">
          <a:xfrm>
            <a:off x="497721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7" name="图片 7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78" name="图片 7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79" name="直接连接符 78"/>
          <p:cNvCxnSpPr>
            <a:stCxn id="43" idx="2"/>
            <a:endCxn id="77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stCxn id="57" idx="2"/>
            <a:endCxn id="78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矩形 81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8" name="矩形 87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 over SR-MPLS TE </a:t>
            </a:r>
            <a:r>
              <a:rPr lang="en-US" altLang="zh-CN" dirty="0"/>
              <a:t>(7)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452438" y="3756484"/>
            <a:ext cx="5363291" cy="25545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Routing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交换路由信息。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设备上配置隧道选择策略，优选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 bwMode="gray">
          <a:xfrm>
            <a:off x="6278213" y="1793013"/>
            <a:ext cx="5195653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&lt;PE1&gt;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tracert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segment-routing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Tunnel 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LSP Trace Route FEC: SEGMENT ROUTING TE TUNNEL IPV4 SESSION QUERY Tunnel1 , press CTRL_C to break.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TTL    Replier            Time    Type        Downstream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0                                          Ingress     10.0.12.2/[16003 ]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1      10.0.12.2            21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Transit    10.0.23.3/[3 ]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2      10.0.3.3              9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Egress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225255" y="1514182"/>
            <a:ext cx="2568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Tracert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SR 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9205799" y="2555254"/>
            <a:ext cx="1597752" cy="39397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8253786" y="3386576"/>
            <a:ext cx="2568790" cy="307777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ym typeface="Huawei Sans" panose="020C0503030203020204" pitchFamily="34" charset="0"/>
              </a:rPr>
              <a:t>请思考标签是如何计算得到的？</a:t>
            </a:r>
            <a:endParaRPr lang="zh-CN" altLang="en-US" sz="1400" dirty="0">
              <a:sym typeface="Huawei Sans" panose="020C0503030203020204" pitchFamily="34" charset="0"/>
            </a:endParaRPr>
          </a:p>
        </p:txBody>
      </p:sp>
      <p:cxnSp>
        <p:nvCxnSpPr>
          <p:cNvPr id="42" name="肘形连接符 41"/>
          <p:cNvCxnSpPr>
            <a:stCxn id="39" idx="3"/>
            <a:endCxn id="40" idx="3"/>
          </p:cNvCxnSpPr>
          <p:nvPr/>
        </p:nvCxnSpPr>
        <p:spPr bwMode="gray">
          <a:xfrm>
            <a:off x="10803551" y="2752242"/>
            <a:ext cx="19025" cy="788223"/>
          </a:xfrm>
          <a:prstGeom prst="bentConnector3">
            <a:avLst>
              <a:gd name="adj1" fmla="val 1301577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 bwMode="gray">
          <a:xfrm>
            <a:off x="6278213" y="4345128"/>
            <a:ext cx="5195653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&lt;CE1&gt;ping -a 10.1.4.4 10.1.5.5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PING 10.1.5.5: 56  data bytes, press CTRL_C to break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10.1.5.5: bytes=56 Sequence=1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=254 time=1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10.1.5.5: bytes=56 Sequence=2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=254 time=1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10.1.5.5: bytes=56 Sequence=3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=254 time=1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10.1.5.5: bytes=56 Sequence=4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=254 time=1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10.1.5.5: bytes=56 Sequence=5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=254 time=1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6225255" y="4066297"/>
            <a:ext cx="1749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上验证结果。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矩形 48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矩形 51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矩形 56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9" name="直接连接符 58"/>
          <p:cNvCxnSpPr>
            <a:stCxn id="61" idx="3"/>
            <a:endCxn id="65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1" name="图片 6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3" name="图片 6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64" name="矩形 63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5" name="图片 6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66" name="矩形 65"/>
          <p:cNvSpPr/>
          <p:nvPr/>
        </p:nvSpPr>
        <p:spPr bwMode="gray">
          <a:xfrm>
            <a:off x="1542925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3875226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矩形 72"/>
          <p:cNvSpPr/>
          <p:nvPr/>
        </p:nvSpPr>
        <p:spPr bwMode="gray">
          <a:xfrm>
            <a:off x="122308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矩形 73"/>
          <p:cNvSpPr/>
          <p:nvPr/>
        </p:nvSpPr>
        <p:spPr bwMode="gray">
          <a:xfrm>
            <a:off x="2705360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矩形 74"/>
          <p:cNvSpPr/>
          <p:nvPr/>
        </p:nvSpPr>
        <p:spPr bwMode="gray">
          <a:xfrm>
            <a:off x="3494934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矩形 75"/>
          <p:cNvSpPr/>
          <p:nvPr/>
        </p:nvSpPr>
        <p:spPr bwMode="gray">
          <a:xfrm>
            <a:off x="497721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7" name="图片 7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78" name="图片 7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79" name="直接连接符 78"/>
          <p:cNvCxnSpPr>
            <a:stCxn id="61" idx="2"/>
            <a:endCxn id="77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stCxn id="65" idx="2"/>
            <a:endCxn id="78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矩形 81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8" name="矩形 87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概述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的基本原理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隧道保护与检测技术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Segment Routing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的典型应用场景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>
                <a:sym typeface="Huawei Sans" panose="020C0503030203020204" pitchFamily="34" charset="0"/>
              </a:rPr>
              <a:t>Segment Routing</a:t>
            </a:r>
            <a:r>
              <a:rPr lang="zh-CN" altLang="en-US" b="1" dirty="0">
                <a:sym typeface="Huawei Sans" panose="020C0503030203020204" pitchFamily="34" charset="0"/>
              </a:rPr>
              <a:t>的基础配置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/>
            <a:r>
              <a:rPr lang="de-DE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SR-MPLS BE</a:t>
            </a:r>
            <a:endParaRPr lang="de-DE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de-DE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SR-MPLS TE</a:t>
            </a:r>
            <a:endParaRPr lang="de-DE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de-DE" altLang="zh-CN" dirty="0">
                <a:sym typeface="Huawei Sans" panose="020C0503030203020204" pitchFamily="34" charset="0"/>
              </a:rPr>
              <a:t>SR-MPLS Policy</a:t>
            </a:r>
            <a:endParaRPr lang="de-DE" altLang="zh-CN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</a:t>
            </a:r>
            <a:r>
              <a:rPr lang="zh-CN" altLang="en-US" dirty="0">
                <a:sym typeface="Huawei Sans" panose="020C0503030203020204" pitchFamily="34" charset="0"/>
              </a:rPr>
              <a:t> </a:t>
            </a:r>
            <a:r>
              <a:rPr lang="en-US" altLang="zh-CN" dirty="0">
                <a:sym typeface="Huawei Sans" panose="020C0503030203020204" pitchFamily="34" charset="0"/>
              </a:rPr>
              <a:t>over </a:t>
            </a:r>
            <a:r>
              <a:rPr lang="zh-CN" altLang="en-US" dirty="0">
                <a:sym typeface="Huawei Sans" panose="020C0503030203020204" pitchFamily="34" charset="0"/>
              </a:rPr>
              <a:t>静态</a:t>
            </a:r>
            <a:r>
              <a:rPr lang="en-US" altLang="zh-CN" dirty="0">
                <a:sym typeface="Huawei Sans" panose="020C0503030203020204" pitchFamily="34" charset="0"/>
              </a:rPr>
              <a:t>SR-MPLS Policy </a:t>
            </a:r>
            <a:r>
              <a:rPr lang="en-US" altLang="zh-CN" dirty="0"/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6286841" y="2628360"/>
            <a:ext cx="5363291" cy="25545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骨干网上使能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，配置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设备为路由配置扩展团体属性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，并交换路由信息。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矩形 51"/>
          <p:cNvSpPr/>
          <p:nvPr/>
        </p:nvSpPr>
        <p:spPr bwMode="gray">
          <a:xfrm>
            <a:off x="464671" y="3728551"/>
            <a:ext cx="5136046" cy="147732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组网需求：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设备各有一个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属于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在骨干网络中部署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L3VPN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迭代静态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，使得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接口可以相互通信。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矩形 24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矩形 25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 26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8" name="直接连接符 27"/>
          <p:cNvCxnSpPr>
            <a:stCxn id="30" idx="3"/>
            <a:endCxn id="42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0" name="图片 2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9" name="图片 3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2" name="图片 4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 bwMode="gray">
          <a:xfrm>
            <a:off x="1542925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矩形 47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矩形 48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矩形 58"/>
          <p:cNvSpPr/>
          <p:nvPr/>
        </p:nvSpPr>
        <p:spPr bwMode="gray">
          <a:xfrm>
            <a:off x="3875226" y="2245573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62"/>
          <p:cNvSpPr/>
          <p:nvPr/>
        </p:nvSpPr>
        <p:spPr bwMode="gray">
          <a:xfrm>
            <a:off x="122308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2705360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矩形 64"/>
          <p:cNvSpPr/>
          <p:nvPr/>
        </p:nvSpPr>
        <p:spPr bwMode="gray">
          <a:xfrm>
            <a:off x="3494934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矩形 65"/>
          <p:cNvSpPr/>
          <p:nvPr/>
        </p:nvSpPr>
        <p:spPr bwMode="gray">
          <a:xfrm>
            <a:off x="4977212" y="2230628"/>
            <a:ext cx="327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69" name="直接连接符 68"/>
          <p:cNvCxnSpPr>
            <a:stCxn id="30" idx="2"/>
            <a:endCxn id="67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42" idx="2"/>
            <a:endCxn id="68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8" name="矩形 77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矩形 78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</a:t>
            </a:r>
            <a:r>
              <a:rPr lang="zh-CN" altLang="en-US" dirty="0">
                <a:sym typeface="Huawei Sans" panose="020C0503030203020204" pitchFamily="34" charset="0"/>
              </a:rPr>
              <a:t> </a:t>
            </a:r>
            <a:r>
              <a:rPr lang="en-US" altLang="zh-CN" dirty="0">
                <a:sym typeface="Huawei Sans" panose="020C0503030203020204" pitchFamily="34" charset="0"/>
              </a:rPr>
              <a:t>over </a:t>
            </a:r>
            <a:r>
              <a:rPr lang="zh-CN" altLang="en-US" dirty="0">
                <a:sym typeface="Huawei Sans" panose="020C0503030203020204" pitchFamily="34" charset="0"/>
              </a:rPr>
              <a:t>静态</a:t>
            </a:r>
            <a:r>
              <a:rPr lang="en-US" altLang="zh-CN" dirty="0">
                <a:sym typeface="Huawei Sans" panose="020C0503030203020204" pitchFamily="34" charset="0"/>
              </a:rPr>
              <a:t>SR-MPLS Policy </a:t>
            </a:r>
            <a:r>
              <a:rPr lang="en-US" altLang="zh-CN" dirty="0"/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452438" y="3716338"/>
            <a:ext cx="5363291" cy="25545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骨干网上使能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，配置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设备为路由配置扩展团体属性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，并交换路由信息。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6244347" y="1893112"/>
            <a:ext cx="5157181" cy="3046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lsr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-id 10.0.1.1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[*PE1-mpls]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[*PE1-mpls]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segment-routing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[*PE1-segment-routing] ipv4 adjacency local-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addr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10.0.12.1 remote-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ip-addr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10.0.12.2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330012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[*PE1-segment-routing]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[*PE1-ospf-1] opaque-capability enable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[*PE1-ospf-1] segment-routing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[*PE1-ospf-1] segment-routing global-block 16000 23999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[*PE1-ospf-1-area-0.0.0.0]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interface loopback 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[*PE1-LoopBack1]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prefix-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index 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[*PE1-LoopBack1]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6191389" y="1479036"/>
            <a:ext cx="5033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的基本功能，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配置略）。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7540384" y="3022630"/>
            <a:ext cx="793388" cy="205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244347" y="5046399"/>
            <a:ext cx="4857361" cy="523220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静态配置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场景建议用户使用静态配置的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Adjacency SID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9" name="肘形连接符 38"/>
          <p:cNvCxnSpPr>
            <a:stCxn id="30" idx="3"/>
            <a:endCxn id="38" idx="3"/>
          </p:cNvCxnSpPr>
          <p:nvPr/>
        </p:nvCxnSpPr>
        <p:spPr bwMode="gray">
          <a:xfrm>
            <a:off x="8333772" y="3125230"/>
            <a:ext cx="2767936" cy="2182779"/>
          </a:xfrm>
          <a:prstGeom prst="bentConnector3">
            <a:avLst>
              <a:gd name="adj1" fmla="val 108259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 27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7" name="直接连接符 46"/>
          <p:cNvCxnSpPr>
            <a:stCxn id="49" idx="3"/>
            <a:endCxn id="55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9" name="图片 4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52" name="矩形 51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3" name="图片 5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5" name="图片 5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57" name="矩形 56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矩形 58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矩形 60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9" name="图片 6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70" name="图片 6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71" name="直接连接符 70"/>
          <p:cNvCxnSpPr>
            <a:stCxn id="49" idx="2"/>
            <a:endCxn id="69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55" idx="2"/>
            <a:endCxn id="70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矩形 73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80" name="矩形 79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矩形 80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矩形 81"/>
          <p:cNvSpPr/>
          <p:nvPr/>
        </p:nvSpPr>
        <p:spPr bwMode="gray">
          <a:xfrm>
            <a:off x="1288279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330012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矩形 82"/>
          <p:cNvSpPr/>
          <p:nvPr/>
        </p:nvSpPr>
        <p:spPr bwMode="gray">
          <a:xfrm>
            <a:off x="2246790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330021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矩形 83"/>
          <p:cNvSpPr/>
          <p:nvPr/>
        </p:nvSpPr>
        <p:spPr bwMode="gray">
          <a:xfrm>
            <a:off x="3562396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330023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矩形 84"/>
          <p:cNvSpPr/>
          <p:nvPr/>
        </p:nvSpPr>
        <p:spPr bwMode="gray">
          <a:xfrm>
            <a:off x="4499329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330032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</a:t>
            </a:r>
            <a:r>
              <a:rPr lang="zh-CN" altLang="en-US" dirty="0">
                <a:sym typeface="Huawei Sans" panose="020C0503030203020204" pitchFamily="34" charset="0"/>
              </a:rPr>
              <a:t> </a:t>
            </a:r>
            <a:r>
              <a:rPr lang="en-US" altLang="zh-CN" dirty="0">
                <a:sym typeface="Huawei Sans" panose="020C0503030203020204" pitchFamily="34" charset="0"/>
              </a:rPr>
              <a:t>over </a:t>
            </a:r>
            <a:r>
              <a:rPr lang="zh-CN" altLang="en-US" dirty="0">
                <a:sym typeface="Huawei Sans" panose="020C0503030203020204" pitchFamily="34" charset="0"/>
              </a:rPr>
              <a:t>静态</a:t>
            </a:r>
            <a:r>
              <a:rPr lang="en-US" altLang="zh-CN" dirty="0">
                <a:sym typeface="Huawei Sans" panose="020C0503030203020204" pitchFamily="34" charset="0"/>
              </a:rPr>
              <a:t>SR-MPLS Policy </a:t>
            </a:r>
            <a:r>
              <a:rPr lang="en-US" altLang="zh-CN" dirty="0"/>
              <a:t>(3)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452438" y="3716338"/>
            <a:ext cx="5363291" cy="25545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骨干网上使能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，配置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设备为路由配置扩展团体属性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，并交换路由信息。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6244347" y="1893112"/>
            <a:ext cx="5453737" cy="26776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segment-routing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[~PE1-segment-routing] segment-list pe1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[*PE1-segment-routing-segment-list-pe1] index 10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label 330012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[*PE1-segment-routing-segment-list-pe1] index 20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label 330023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[*PE1-segment-routing-segment-list-pe1]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[*PE1-segment-routing]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sr-te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policy policy100 endpoint 10.0.3.3 color 100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[*PE1-segment-routing-te-policy-policy100] binding-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115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[*PE1-segment-routing-te-policy-policy100]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mtu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[*PE1-segment-routing-te-policy-policy100] candidate-path preference 200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[*PE1-segment-routing-te-policy-policy100-path] segment-list pe1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[*PE1-segment-routing-te-policy-policy100-path]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[*PE1-segment-routing-te-policy-policy100]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[*PE1-segment-routing]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commit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6191389" y="1479036"/>
            <a:ext cx="4665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配置略）。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8008646" y="2843847"/>
            <a:ext cx="3473439" cy="205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244347" y="5046399"/>
            <a:ext cx="4857361" cy="307777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的目的地址和颜色（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9" name="肘形连接符 38"/>
          <p:cNvCxnSpPr>
            <a:stCxn id="30" idx="3"/>
            <a:endCxn id="38" idx="3"/>
          </p:cNvCxnSpPr>
          <p:nvPr/>
        </p:nvCxnSpPr>
        <p:spPr bwMode="gray">
          <a:xfrm flipH="1">
            <a:off x="11101708" y="2946447"/>
            <a:ext cx="380377" cy="2253841"/>
          </a:xfrm>
          <a:prstGeom prst="bentConnector3">
            <a:avLst>
              <a:gd name="adj1" fmla="val -60098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 27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7" name="直接连接符 46"/>
          <p:cNvCxnSpPr>
            <a:stCxn id="49" idx="3"/>
            <a:endCxn id="55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9" name="图片 4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52" name="矩形 51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3" name="图片 5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5" name="图片 5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56" name="矩形 55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矩形 58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3" name="图片 6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64" name="图片 6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65" name="直接连接符 64"/>
          <p:cNvCxnSpPr>
            <a:stCxn id="49" idx="2"/>
            <a:endCxn id="63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55" idx="2"/>
            <a:endCxn id="64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4" name="矩形 73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矩形 74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矩形 75"/>
          <p:cNvSpPr/>
          <p:nvPr/>
        </p:nvSpPr>
        <p:spPr bwMode="gray">
          <a:xfrm>
            <a:off x="1288279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330012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矩形 76"/>
          <p:cNvSpPr/>
          <p:nvPr/>
        </p:nvSpPr>
        <p:spPr bwMode="gray">
          <a:xfrm>
            <a:off x="2246790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330021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矩形 77"/>
          <p:cNvSpPr/>
          <p:nvPr/>
        </p:nvSpPr>
        <p:spPr bwMode="gray">
          <a:xfrm>
            <a:off x="3562396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330023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矩形 78"/>
          <p:cNvSpPr/>
          <p:nvPr/>
        </p:nvSpPr>
        <p:spPr bwMode="gray">
          <a:xfrm>
            <a:off x="4499329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330032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</a:t>
            </a:r>
            <a:r>
              <a:rPr lang="zh-CN" altLang="en-US" dirty="0">
                <a:sym typeface="Huawei Sans" panose="020C0503030203020204" pitchFamily="34" charset="0"/>
              </a:rPr>
              <a:t> </a:t>
            </a:r>
            <a:r>
              <a:rPr lang="en-US" altLang="zh-CN" dirty="0">
                <a:sym typeface="Huawei Sans" panose="020C0503030203020204" pitchFamily="34" charset="0"/>
              </a:rPr>
              <a:t>over </a:t>
            </a:r>
            <a:r>
              <a:rPr lang="zh-CN" altLang="en-US" dirty="0">
                <a:sym typeface="Huawei Sans" panose="020C0503030203020204" pitchFamily="34" charset="0"/>
              </a:rPr>
              <a:t>静态</a:t>
            </a:r>
            <a:r>
              <a:rPr lang="en-US" altLang="zh-CN" dirty="0">
                <a:sym typeface="Huawei Sans" panose="020C0503030203020204" pitchFamily="34" charset="0"/>
              </a:rPr>
              <a:t>SR-MPLS Policy (4)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452438" y="3716338"/>
            <a:ext cx="5363291" cy="25545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设备为路由配置扩展团体属性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，并交换路由信息。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 bwMode="gray">
          <a:xfrm>
            <a:off x="6278213" y="1793013"/>
            <a:ext cx="4673074" cy="37856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[*PE1-vpn-instance-vpna] ipv4-family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[*PE1-vpn-instance-vpna-af-ipv4] route-distinguisher 100:1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[*PE1-vpn-instance-vpna-af-ipv4]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-target 111:1 both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interface loopback1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[*PE1-LoopBack1]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binding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[*PE1-LoopBack1]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address 10.1.4.4 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[*PE1-LoopBack1]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route-policy color100 permit node 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[*PE1-route-policy] apply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extcommunity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color 0:100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[~PE1-bgp] peer 10.0.3.3 as-number 100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[*PE1-bgp] peer 10.0.3.3 connect-interface loopback 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[*PE1-bgp] ipv4-family vpnv4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[*PE1-bgp-af-vpnv4] peer 10.0.3.3 enable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[*PE1-bgp-af-vpnv4] peer 10.0.3.3 route-policy color100 import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[~PE1-bgp-af-vpnv4]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[*PE1-bgp]ipv4-family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[*PE1-bgp-vpna]import-route direct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[*PE1-bgp-vpna]commit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6225255" y="1514182"/>
            <a:ext cx="2762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的配置略）。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矩形 47"/>
          <p:cNvSpPr/>
          <p:nvPr/>
        </p:nvSpPr>
        <p:spPr bwMode="gray">
          <a:xfrm>
            <a:off x="7710311" y="3476030"/>
            <a:ext cx="2483556" cy="205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7811910" y="5825907"/>
            <a:ext cx="3289798" cy="307777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为收到的路由添加扩展团体属性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2" name="肘形连接符 51"/>
          <p:cNvCxnSpPr>
            <a:stCxn id="48" idx="3"/>
            <a:endCxn id="49" idx="3"/>
          </p:cNvCxnSpPr>
          <p:nvPr/>
        </p:nvCxnSpPr>
        <p:spPr bwMode="gray">
          <a:xfrm>
            <a:off x="10193867" y="3578630"/>
            <a:ext cx="907841" cy="2401166"/>
          </a:xfrm>
          <a:prstGeom prst="bentConnector3">
            <a:avLst>
              <a:gd name="adj1" fmla="val 125181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 bwMode="gray">
          <a:xfrm>
            <a:off x="7811910" y="4562266"/>
            <a:ext cx="3002845" cy="205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4" name="肘形连接符 53"/>
          <p:cNvCxnSpPr>
            <a:stCxn id="53" idx="3"/>
            <a:endCxn id="49" idx="3"/>
          </p:cNvCxnSpPr>
          <p:nvPr/>
        </p:nvCxnSpPr>
        <p:spPr bwMode="gray">
          <a:xfrm>
            <a:off x="10814755" y="4664866"/>
            <a:ext cx="286953" cy="1314930"/>
          </a:xfrm>
          <a:prstGeom prst="bentConnector3">
            <a:avLst>
              <a:gd name="adj1" fmla="val 179665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矩形 37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9" name="直接连接符 38"/>
          <p:cNvCxnSpPr>
            <a:stCxn id="55" idx="3"/>
            <a:endCxn id="61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5" name="图片 5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56" name="矩形 55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7" name="图片 5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1" name="图片 6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62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69" name="直接连接符 68"/>
          <p:cNvCxnSpPr>
            <a:stCxn id="55" idx="2"/>
            <a:endCxn id="67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61" idx="2"/>
            <a:endCxn id="68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8" name="矩形 77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矩形 78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矩形 79"/>
          <p:cNvSpPr/>
          <p:nvPr/>
        </p:nvSpPr>
        <p:spPr bwMode="gray">
          <a:xfrm>
            <a:off x="1288279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330012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矩形 80"/>
          <p:cNvSpPr/>
          <p:nvPr/>
        </p:nvSpPr>
        <p:spPr bwMode="gray">
          <a:xfrm>
            <a:off x="2246790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330021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矩形 81"/>
          <p:cNvSpPr/>
          <p:nvPr/>
        </p:nvSpPr>
        <p:spPr bwMode="gray">
          <a:xfrm>
            <a:off x="3562396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330023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矩形 82"/>
          <p:cNvSpPr/>
          <p:nvPr/>
        </p:nvSpPr>
        <p:spPr bwMode="gray">
          <a:xfrm>
            <a:off x="4499329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330032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</a:t>
            </a:r>
            <a:r>
              <a:rPr lang="zh-CN" altLang="en-US" dirty="0">
                <a:sym typeface="Huawei Sans" panose="020C0503030203020204" pitchFamily="34" charset="0"/>
              </a:rPr>
              <a:t> </a:t>
            </a:r>
            <a:r>
              <a:rPr lang="en-US" altLang="zh-CN" dirty="0">
                <a:sym typeface="Huawei Sans" panose="020C0503030203020204" pitchFamily="34" charset="0"/>
              </a:rPr>
              <a:t>over </a:t>
            </a:r>
            <a:r>
              <a:rPr lang="zh-CN" altLang="en-US" dirty="0">
                <a:sym typeface="Huawei Sans" panose="020C0503030203020204" pitchFamily="34" charset="0"/>
              </a:rPr>
              <a:t>静态</a:t>
            </a:r>
            <a:r>
              <a:rPr lang="en-US" altLang="zh-CN" dirty="0">
                <a:sym typeface="Huawei Sans" panose="020C0503030203020204" pitchFamily="34" charset="0"/>
              </a:rPr>
              <a:t>SR-MPLS Policy </a:t>
            </a:r>
            <a:r>
              <a:rPr lang="en-US" altLang="zh-CN" dirty="0"/>
              <a:t>(5)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452438" y="3716338"/>
            <a:ext cx="5363291" cy="25545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设备为路由配置扩展团体属性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，并交换路由信息。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设备上配置隧道选择策略。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6278213" y="1793013"/>
            <a:ext cx="4919937" cy="21236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tunnel-policy p3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[*PE1-tunnel-policy-p3] tunnel select-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seq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-policy load-balance-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number 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unmix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[*PE1-tunnel-policy-p3]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commit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[*PE1-vpn-instance-vpna] ipv4-family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[*PE1-vpn-instance-vpna-af-ipv4]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tnl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-policy p3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[*PE1-vpn-instance-vpna-af-ipv4]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[*PE1-vpn-instance-vpna] quit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[*PE1] commit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 bwMode="gray">
          <a:xfrm>
            <a:off x="6278213" y="4325007"/>
            <a:ext cx="5195653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&lt;PE1&gt;display tunnel-info all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ID                       Type              Destination                  Status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-------------------------------------------------------------------------------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0x000000000300000001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sr-te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10.0.3.3                           UP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0x000000002900000042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srbe-lsp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10.0.3.3                          UP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0x000000002900000043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srbe-lsp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10.0.2.2                          UP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0x000000003200000001 srtepolicy         10.0.3.3                          UP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225255" y="4046176"/>
            <a:ext cx="4972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设备上执行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display tunnel-info all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命令，查看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6225255" y="1514182"/>
            <a:ext cx="2762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的配置略）。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矩形 46"/>
          <p:cNvSpPr/>
          <p:nvPr/>
        </p:nvSpPr>
        <p:spPr bwMode="gray">
          <a:xfrm>
            <a:off x="6310487" y="5438415"/>
            <a:ext cx="2573867" cy="20603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 bwMode="gray">
          <a:xfrm>
            <a:off x="6225255" y="5859666"/>
            <a:ext cx="2927404" cy="307777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到达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SR-TE Policy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的隧道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ID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6" name="肘形连接符 55"/>
          <p:cNvCxnSpPr>
            <a:stCxn id="47" idx="1"/>
            <a:endCxn id="55" idx="1"/>
          </p:cNvCxnSpPr>
          <p:nvPr/>
        </p:nvCxnSpPr>
        <p:spPr bwMode="gray">
          <a:xfrm rot="10800000" flipV="1">
            <a:off x="6225255" y="5541431"/>
            <a:ext cx="85232" cy="472123"/>
          </a:xfrm>
          <a:prstGeom prst="bentConnector3">
            <a:avLst>
              <a:gd name="adj1" fmla="val 368209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矩形 47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" name="矩形 48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2" name="直接连接符 51"/>
          <p:cNvCxnSpPr>
            <a:stCxn id="54" idx="3"/>
            <a:endCxn id="61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4" name="图片 5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57" name="矩形 56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9" name="图片 5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60" name="矩形 59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1" name="图片 6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62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69" name="直接连接符 68"/>
          <p:cNvCxnSpPr>
            <a:stCxn id="54" idx="2"/>
            <a:endCxn id="67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61" idx="2"/>
            <a:endCxn id="68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8" name="矩形 77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矩形 78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矩形 79"/>
          <p:cNvSpPr/>
          <p:nvPr/>
        </p:nvSpPr>
        <p:spPr bwMode="gray">
          <a:xfrm>
            <a:off x="1288279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330012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矩形 80"/>
          <p:cNvSpPr/>
          <p:nvPr/>
        </p:nvSpPr>
        <p:spPr bwMode="gray">
          <a:xfrm>
            <a:off x="2246790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330021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矩形 81"/>
          <p:cNvSpPr/>
          <p:nvPr/>
        </p:nvSpPr>
        <p:spPr bwMode="gray">
          <a:xfrm>
            <a:off x="3562396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330023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矩形 82"/>
          <p:cNvSpPr/>
          <p:nvPr/>
        </p:nvSpPr>
        <p:spPr bwMode="gray">
          <a:xfrm>
            <a:off x="4499329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330032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</a:t>
            </a:r>
            <a:r>
              <a:rPr lang="zh-CN" altLang="en-US" dirty="0">
                <a:sym typeface="Huawei Sans" panose="020C0503030203020204" pitchFamily="34" charset="0"/>
              </a:rPr>
              <a:t> </a:t>
            </a:r>
            <a:r>
              <a:rPr lang="en-US" altLang="zh-CN" dirty="0">
                <a:sym typeface="Huawei Sans" panose="020C0503030203020204" pitchFamily="34" charset="0"/>
              </a:rPr>
              <a:t>over </a:t>
            </a:r>
            <a:r>
              <a:rPr lang="zh-CN" altLang="en-US" dirty="0">
                <a:sym typeface="Huawei Sans" panose="020C0503030203020204" pitchFamily="34" charset="0"/>
              </a:rPr>
              <a:t>静态</a:t>
            </a:r>
            <a:r>
              <a:rPr lang="en-US" altLang="zh-CN" dirty="0">
                <a:sym typeface="Huawei Sans" panose="020C0503030203020204" pitchFamily="34" charset="0"/>
              </a:rPr>
              <a:t>SR-MPLS Policy </a:t>
            </a:r>
            <a:r>
              <a:rPr lang="en-US" altLang="zh-CN" dirty="0"/>
              <a:t>(6)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452438" y="3716338"/>
            <a:ext cx="5363291" cy="25545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设备为路由配置扩展团体属性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，并交换路由信息。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6278213" y="1793013"/>
            <a:ext cx="5195653" cy="32316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[~PE1]display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routing-table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vpna 10.1.5.5 verbose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Route Flags: R - relay, D - download to fib, T - to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-instance, B - black hole route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------------------------------------------------------------------------------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Routing Table 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Summary Count : 1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Destination: 10.1.5.5/32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Protocol: IBGP               Process ID: 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Preference: 255                      Cost: 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10.0.3.3    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Neighbour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10.0.3.3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State: Active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Adv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Relied         Age: 00h01m04s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Tag: 0                    Priority: low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Label: 48122         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QoSInfo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0x0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IndirectID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0x100013F            Instance: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RelayNextHop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0.0.0.0             Interface: policy100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TunnelID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0x000000003200000001    Flags: RD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6225255" y="1514182"/>
            <a:ext cx="3034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设备上查看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的路由信息。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矩形 48"/>
          <p:cNvSpPr/>
          <p:nvPr/>
        </p:nvSpPr>
        <p:spPr bwMode="gray">
          <a:xfrm>
            <a:off x="6318661" y="4202757"/>
            <a:ext cx="2023828" cy="20603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矩形 51"/>
          <p:cNvSpPr/>
          <p:nvPr/>
        </p:nvSpPr>
        <p:spPr bwMode="gray">
          <a:xfrm>
            <a:off x="6318660" y="4766113"/>
            <a:ext cx="2761863" cy="20603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 bwMode="gray">
          <a:xfrm>
            <a:off x="6225253" y="5487129"/>
            <a:ext cx="5018480" cy="307777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SR-TE Policy 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结合，指导数据包转发。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4" name="肘形连接符 53"/>
          <p:cNvCxnSpPr>
            <a:stCxn id="49" idx="1"/>
            <a:endCxn id="53" idx="1"/>
          </p:cNvCxnSpPr>
          <p:nvPr/>
        </p:nvCxnSpPr>
        <p:spPr bwMode="gray">
          <a:xfrm rot="10800000" flipV="1">
            <a:off x="6225253" y="4305774"/>
            <a:ext cx="93408" cy="1335244"/>
          </a:xfrm>
          <a:prstGeom prst="bentConnector3">
            <a:avLst>
              <a:gd name="adj1" fmla="val 344733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肘形连接符 56"/>
          <p:cNvCxnSpPr>
            <a:stCxn id="52" idx="1"/>
            <a:endCxn id="53" idx="1"/>
          </p:cNvCxnSpPr>
          <p:nvPr/>
        </p:nvCxnSpPr>
        <p:spPr bwMode="gray">
          <a:xfrm rot="10800000" flipV="1">
            <a:off x="6225254" y="4869130"/>
            <a:ext cx="93407" cy="771888"/>
          </a:xfrm>
          <a:prstGeom prst="bentConnector3">
            <a:avLst>
              <a:gd name="adj1" fmla="val 344735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矩形 37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9" name="直接连接符 38"/>
          <p:cNvCxnSpPr>
            <a:stCxn id="55" idx="3"/>
            <a:endCxn id="61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5" name="图片 5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56" name="矩形 55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9" name="图片 5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60" name="矩形 59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1" name="图片 6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62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69" name="直接连接符 68"/>
          <p:cNvCxnSpPr>
            <a:stCxn id="55" idx="2"/>
            <a:endCxn id="67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61" idx="2"/>
            <a:endCxn id="68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8" name="矩形 77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矩形 78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矩形 79"/>
          <p:cNvSpPr/>
          <p:nvPr/>
        </p:nvSpPr>
        <p:spPr bwMode="gray">
          <a:xfrm>
            <a:off x="1288279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330012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矩形 80"/>
          <p:cNvSpPr/>
          <p:nvPr/>
        </p:nvSpPr>
        <p:spPr bwMode="gray">
          <a:xfrm>
            <a:off x="2246790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330021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矩形 81"/>
          <p:cNvSpPr/>
          <p:nvPr/>
        </p:nvSpPr>
        <p:spPr bwMode="gray">
          <a:xfrm>
            <a:off x="3562396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330023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矩形 82"/>
          <p:cNvSpPr/>
          <p:nvPr/>
        </p:nvSpPr>
        <p:spPr bwMode="gray">
          <a:xfrm>
            <a:off x="4499329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330032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L3VPN</a:t>
            </a:r>
            <a:r>
              <a:rPr lang="zh-CN" altLang="en-US" dirty="0">
                <a:sym typeface="Huawei Sans" panose="020C0503030203020204" pitchFamily="34" charset="0"/>
              </a:rPr>
              <a:t> </a:t>
            </a:r>
            <a:r>
              <a:rPr lang="en-US" altLang="zh-CN" dirty="0">
                <a:sym typeface="Huawei Sans" panose="020C0503030203020204" pitchFamily="34" charset="0"/>
              </a:rPr>
              <a:t>over </a:t>
            </a:r>
            <a:r>
              <a:rPr lang="zh-CN" altLang="en-US" dirty="0">
                <a:sym typeface="Huawei Sans" panose="020C0503030203020204" pitchFamily="34" charset="0"/>
              </a:rPr>
              <a:t>静态</a:t>
            </a:r>
            <a:r>
              <a:rPr lang="en-US" altLang="zh-CN" dirty="0">
                <a:sym typeface="Huawei Sans" panose="020C0503030203020204" pitchFamily="34" charset="0"/>
              </a:rPr>
              <a:t>SR-MPLS Policy </a:t>
            </a:r>
            <a:r>
              <a:rPr lang="en-US" altLang="zh-CN" dirty="0"/>
              <a:t>(7)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452438" y="3716338"/>
            <a:ext cx="5363291" cy="25545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完成设备接口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地址及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（略）。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Policy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上使能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设备为路由配置扩展团体属性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，并交换路由信息。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设备上配置隧道选择策略。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6530" indent="-176530">
              <a:lnSpc>
                <a:spcPts val="2400"/>
              </a:lnSpc>
              <a:buFont typeface="+mj-lt"/>
              <a:buAutoNum type="arabicPeriod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结果验证。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6278213" y="1793013"/>
            <a:ext cx="519565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&lt;PE1&gt;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tracert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sr-te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policy endpoint-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10.0.3.3 color 100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sr-te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policy's segment list: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Preference: 200; Path Type: primary; Protocol-Origin: local; Originator: 0, 0.0.0.0; Discriminator: 200; Segment-List ID: 65;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Xcindex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2000065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TTL    Replier            Time    Type       Downstream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0                                         Ingress    10.0.12.2/[330023 ]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1      10.0.12.2          24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Transit   10.0.23.3/[3 ]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2      10.0.3.3           113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Egress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 bwMode="gray">
          <a:xfrm>
            <a:off x="6225255" y="1514182"/>
            <a:ext cx="2568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设备上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Tracert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SR LSP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9126776" y="2724589"/>
            <a:ext cx="1597752" cy="39397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8253786" y="3386576"/>
            <a:ext cx="2568790" cy="307777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请思考标签是如何计算得到的？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7" name="肘形连接符 46"/>
          <p:cNvCxnSpPr>
            <a:stCxn id="38" idx="3"/>
            <a:endCxn id="39" idx="3"/>
          </p:cNvCxnSpPr>
          <p:nvPr/>
        </p:nvCxnSpPr>
        <p:spPr bwMode="gray">
          <a:xfrm>
            <a:off x="10724528" y="2921577"/>
            <a:ext cx="98048" cy="618888"/>
          </a:xfrm>
          <a:prstGeom prst="bentConnector3">
            <a:avLst>
              <a:gd name="adj1" fmla="val 333151"/>
            </a:avLst>
          </a:prstGeom>
          <a:ln w="1905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 bwMode="gray">
          <a:xfrm>
            <a:off x="6278213" y="4345128"/>
            <a:ext cx="5195653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&lt;CE1&gt;ping -a 10.1.4.4 10.1.5.5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PING 10.1.5.5: 56  data bytes, press CTRL_C to break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10.1.5.5: bytes=56 Sequence=1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=254 time=1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10.1.5.5: bytes=56 Sequence=2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=254 time=1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10.1.5.5: bytes=56 Sequence=3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=254 time=1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10.1.5.5: bytes=56 Sequence=4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=254 time=1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10.1.5.5: bytes=56 Sequence=5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=254 time=1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文本框 55"/>
          <p:cNvSpPr txBox="1"/>
          <p:nvPr/>
        </p:nvSpPr>
        <p:spPr bwMode="gray">
          <a:xfrm>
            <a:off x="6225255" y="4066297"/>
            <a:ext cx="1749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上验证结果。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4190770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矩形 47"/>
          <p:cNvSpPr/>
          <p:nvPr/>
        </p:nvSpPr>
        <p:spPr bwMode="gray">
          <a:xfrm>
            <a:off x="522292" y="2950258"/>
            <a:ext cx="1826072" cy="780536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" name="矩形 48"/>
          <p:cNvSpPr/>
          <p:nvPr/>
        </p:nvSpPr>
        <p:spPr bwMode="gray">
          <a:xfrm>
            <a:off x="522292" y="1484313"/>
            <a:ext cx="5494550" cy="124122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2" name="直接连接符 51"/>
          <p:cNvCxnSpPr>
            <a:stCxn id="54" idx="3"/>
            <a:endCxn id="61" idx="1"/>
          </p:cNvCxnSpPr>
          <p:nvPr/>
        </p:nvCxnSpPr>
        <p:spPr bwMode="gray">
          <a:xfrm>
            <a:off x="1267619" y="2489567"/>
            <a:ext cx="39853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 bwMode="gray">
          <a:xfrm>
            <a:off x="748992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4" name="图片 5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2268167"/>
            <a:ext cx="540000" cy="442800"/>
          </a:xfrm>
          <a:prstGeom prst="rect">
            <a:avLst/>
          </a:prstGeom>
        </p:spPr>
      </p:pic>
      <p:sp>
        <p:nvSpPr>
          <p:cNvPr id="57" name="矩形 56"/>
          <p:cNvSpPr/>
          <p:nvPr/>
        </p:nvSpPr>
        <p:spPr bwMode="gray">
          <a:xfrm>
            <a:off x="3138299" y="1996788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9" name="图片 5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91152" y="2268167"/>
            <a:ext cx="540000" cy="442800"/>
          </a:xfrm>
          <a:prstGeom prst="rect">
            <a:avLst/>
          </a:prstGeom>
        </p:spPr>
      </p:pic>
      <p:sp>
        <p:nvSpPr>
          <p:cNvPr id="60" name="矩形 59"/>
          <p:cNvSpPr/>
          <p:nvPr/>
        </p:nvSpPr>
        <p:spPr bwMode="gray">
          <a:xfrm>
            <a:off x="5283807" y="1996788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1" name="图片 6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2268167"/>
            <a:ext cx="540000" cy="442800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 bwMode="gray">
          <a:xfrm>
            <a:off x="52229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62"/>
          <p:cNvSpPr/>
          <p:nvPr/>
        </p:nvSpPr>
        <p:spPr bwMode="gray">
          <a:xfrm>
            <a:off x="277028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10.0.2.2/32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5061132" y="1668071"/>
            <a:ext cx="95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10.0.3.3/32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 bwMode="gray">
          <a:xfrm>
            <a:off x="1439141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 bwMode="gray">
          <a:xfrm>
            <a:off x="425173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10.1.5.5/32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619" y="3010900"/>
            <a:ext cx="540000" cy="44280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957" y="3010900"/>
            <a:ext cx="540000" cy="442800"/>
          </a:xfrm>
          <a:prstGeom prst="rect">
            <a:avLst/>
          </a:prstGeom>
        </p:spPr>
      </p:pic>
      <p:cxnSp>
        <p:nvCxnSpPr>
          <p:cNvPr id="69" name="直接连接符 68"/>
          <p:cNvCxnSpPr>
            <a:stCxn id="54" idx="2"/>
            <a:endCxn id="67" idx="0"/>
          </p:cNvCxnSpPr>
          <p:nvPr/>
        </p:nvCxnSpPr>
        <p:spPr bwMode="gray">
          <a:xfrm>
            <a:off x="997619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61" idx="2"/>
            <a:endCxn id="68" idx="0"/>
          </p:cNvCxnSpPr>
          <p:nvPr/>
        </p:nvCxnSpPr>
        <p:spPr bwMode="gray">
          <a:xfrm>
            <a:off x="5522957" y="2710967"/>
            <a:ext cx="0" cy="299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 bwMode="gray">
          <a:xfrm>
            <a:off x="746588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5281403" y="3501117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solidFill>
                <a:srgbClr val="FF33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1290546" y="3039452"/>
            <a:ext cx="98777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Loopback1 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10.1.4.4/32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4235198" y="1884628"/>
            <a:ext cx="90922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VPN: 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 bwMode="gray">
          <a:xfrm>
            <a:off x="1576705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>
            <a:off x="4190770" y="3492845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65001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542427" y="1509462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30B5C5"/>
                </a:solidFill>
              </a:rPr>
              <a:t>AS 100</a:t>
            </a:r>
            <a:endParaRPr lang="en-US" altLang="zh-CN" sz="1200" dirty="0">
              <a:solidFill>
                <a:srgbClr val="30B5C5"/>
              </a:solidFill>
            </a:endParaRPr>
          </a:p>
        </p:txBody>
      </p:sp>
      <p:sp>
        <p:nvSpPr>
          <p:cNvPr id="78" name="矩形 77"/>
          <p:cNvSpPr/>
          <p:nvPr/>
        </p:nvSpPr>
        <p:spPr bwMode="gray">
          <a:xfrm>
            <a:off x="942842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10.0.14.0/24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矩形 78"/>
          <p:cNvSpPr/>
          <p:nvPr/>
        </p:nvSpPr>
        <p:spPr bwMode="gray">
          <a:xfrm>
            <a:off x="4397520" y="2695509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10.0.35.0/24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矩形 79"/>
          <p:cNvSpPr/>
          <p:nvPr/>
        </p:nvSpPr>
        <p:spPr bwMode="gray">
          <a:xfrm>
            <a:off x="1288279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330012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矩形 80"/>
          <p:cNvSpPr/>
          <p:nvPr/>
        </p:nvSpPr>
        <p:spPr bwMode="gray">
          <a:xfrm>
            <a:off x="2246790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330021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矩形 81"/>
          <p:cNvSpPr/>
          <p:nvPr/>
        </p:nvSpPr>
        <p:spPr bwMode="gray">
          <a:xfrm>
            <a:off x="3562396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330023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矩形 82"/>
          <p:cNvSpPr/>
          <p:nvPr/>
        </p:nvSpPr>
        <p:spPr bwMode="gray">
          <a:xfrm>
            <a:off x="4499329" y="2182671"/>
            <a:ext cx="713657" cy="276999"/>
          </a:xfrm>
          <a:prstGeom prst="rect">
            <a:avLst/>
          </a:prstGeom>
          <a:solidFill>
            <a:srgbClr val="62B230"/>
          </a:solidFill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330032</a:t>
            </a:r>
            <a:endParaRPr lang="en-US" altLang="zh-CN" sz="12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19176" y="1844675"/>
            <a:ext cx="10153650" cy="4356100"/>
          </a:xfrm>
        </p:spPr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(</a:t>
            </a:r>
            <a:r>
              <a:rPr lang="zh-CN" altLang="en-US" sz="1800" dirty="0">
                <a:sym typeface="Huawei Sans" panose="020C0503030203020204" pitchFamily="34" charset="0"/>
              </a:rPr>
              <a:t>单选题</a:t>
            </a:r>
            <a:r>
              <a:rPr lang="en-US" altLang="zh-CN" sz="1800" dirty="0">
                <a:sym typeface="Huawei Sans" panose="020C0503030203020204" pitchFamily="34" charset="0"/>
              </a:rPr>
              <a:t>)OSPF</a:t>
            </a:r>
            <a:r>
              <a:rPr lang="zh-CN" altLang="en-US" sz="1800" dirty="0">
                <a:sym typeface="Huawei Sans" panose="020C0503030203020204" pitchFamily="34" charset="0"/>
              </a:rPr>
              <a:t>通过以下哪种类型的</a:t>
            </a:r>
            <a:r>
              <a:rPr lang="en-US" altLang="zh-CN" sz="1800" dirty="0">
                <a:sym typeface="Huawei Sans" panose="020C0503030203020204" pitchFamily="34" charset="0"/>
              </a:rPr>
              <a:t>LSA</a:t>
            </a:r>
            <a:r>
              <a:rPr lang="zh-CN" altLang="en-US" sz="1800" dirty="0">
                <a:sym typeface="Huawei Sans" panose="020C0503030203020204" pitchFamily="34" charset="0"/>
              </a:rPr>
              <a:t>来携带</a:t>
            </a:r>
            <a:r>
              <a:rPr lang="en-US" altLang="zh-CN" sz="1800" dirty="0">
                <a:sym typeface="Huawei Sans" panose="020C0503030203020204" pitchFamily="34" charset="0"/>
              </a:rPr>
              <a:t>Node ID</a:t>
            </a:r>
            <a:r>
              <a:rPr lang="zh-CN" altLang="en-US" sz="1800" dirty="0">
                <a:sym typeface="Huawei Sans" panose="020C0503030203020204" pitchFamily="34" charset="0"/>
              </a:rPr>
              <a:t>？（     ）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Type 1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Type 2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Type 7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Type 10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(</a:t>
            </a:r>
            <a:r>
              <a:rPr lang="zh-CN" altLang="en-US" sz="1800" dirty="0">
                <a:sym typeface="Huawei Sans" panose="020C0503030203020204" pitchFamily="34" charset="0"/>
              </a:rPr>
              <a:t>多选题</a:t>
            </a:r>
            <a:r>
              <a:rPr lang="en-US" altLang="zh-CN" sz="1800" dirty="0">
                <a:sym typeface="Huawei Sans" panose="020C0503030203020204" pitchFamily="34" charset="0"/>
              </a:rPr>
              <a:t>)</a:t>
            </a:r>
            <a:r>
              <a:rPr lang="zh-CN" altLang="en-US" sz="1800" dirty="0">
                <a:sym typeface="Huawei Sans" panose="020C0503030203020204" pitchFamily="34" charset="0"/>
              </a:rPr>
              <a:t>缺省情况下，</a:t>
            </a:r>
            <a:r>
              <a:rPr lang="en-US" altLang="zh-CN" sz="1800" dirty="0">
                <a:sym typeface="Huawei Sans" panose="020C0503030203020204" pitchFamily="34" charset="0"/>
              </a:rPr>
              <a:t>SBFD</a:t>
            </a:r>
            <a:r>
              <a:rPr lang="zh-CN" altLang="en-US" sz="1800" dirty="0">
                <a:sym typeface="Huawei Sans" panose="020C0503030203020204" pitchFamily="34" charset="0"/>
              </a:rPr>
              <a:t>报文使用以下哪些端口？（     ）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4784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3784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6784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7784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SR</a:t>
            </a:r>
            <a:r>
              <a:rPr lang="zh-CN" altLang="en-US" sz="1800" dirty="0">
                <a:sym typeface="Huawei Sans" panose="020C0503030203020204" pitchFamily="34" charset="0"/>
              </a:rPr>
              <a:t>是基于源路由理念而设计的在网络上转发数据包的一种架构。 </a:t>
            </a:r>
            <a:r>
              <a:rPr lang="en-US" altLang="zh-CN" sz="1800" dirty="0">
                <a:sym typeface="Huawei Sans" panose="020C0503030203020204" pitchFamily="34" charset="0"/>
              </a:rPr>
              <a:t>SR-MPLS</a:t>
            </a:r>
            <a:r>
              <a:rPr lang="zh-CN" altLang="en-US" sz="1800" dirty="0">
                <a:sym typeface="Huawei Sans" panose="020C0503030203020204" pitchFamily="34" charset="0"/>
              </a:rPr>
              <a:t>相比于</a:t>
            </a:r>
            <a:r>
              <a:rPr lang="en-US" altLang="zh-CN" sz="1800" dirty="0">
                <a:sym typeface="Huawei Sans" panose="020C0503030203020204" pitchFamily="34" charset="0"/>
              </a:rPr>
              <a:t>LDP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RSVP-TE</a:t>
            </a:r>
            <a:r>
              <a:rPr lang="zh-CN" altLang="en-US" sz="1800" dirty="0">
                <a:sym typeface="Huawei Sans" panose="020C0503030203020204" pitchFamily="34" charset="0"/>
              </a:rPr>
              <a:t>，简化了</a:t>
            </a:r>
            <a:r>
              <a:rPr lang="en-US" altLang="zh-CN" sz="1800" dirty="0">
                <a:sym typeface="Huawei Sans" panose="020C0503030203020204" pitchFamily="34" charset="0"/>
              </a:rPr>
              <a:t>MPLS</a:t>
            </a:r>
            <a:r>
              <a:rPr lang="zh-CN" altLang="en-US" sz="1800" dirty="0">
                <a:sym typeface="Huawei Sans" panose="020C0503030203020204" pitchFamily="34" charset="0"/>
              </a:rPr>
              <a:t>网络的控制平面，仅通过通</a:t>
            </a:r>
            <a:r>
              <a:rPr lang="en-US" altLang="zh-CN" sz="1800" dirty="0">
                <a:sym typeface="Huawei Sans" panose="020C0503030203020204" pitchFamily="34" charset="0"/>
              </a:rPr>
              <a:t>IGP</a:t>
            </a:r>
            <a:r>
              <a:rPr lang="zh-CN" altLang="en-US" sz="1800" dirty="0">
                <a:sym typeface="Huawei Sans" panose="020C0503030203020204" pitchFamily="34" charset="0"/>
              </a:rPr>
              <a:t>协议的扩展，即可携带标签等相关信息；具有更强的扩展能力，中间节点不需要维护路径信息；通过源节点即可控制数据包在网络中的转发路径。配合集中算路模块，即可灵活简便的实现路径控制与调整，从而更好的向</a:t>
            </a:r>
            <a:r>
              <a:rPr lang="en-US" altLang="zh-CN" sz="1800" dirty="0">
                <a:sym typeface="Huawei Sans" panose="020C0503030203020204" pitchFamily="34" charset="0"/>
              </a:rPr>
              <a:t>SDN</a:t>
            </a:r>
            <a:r>
              <a:rPr lang="zh-CN" altLang="en-US" sz="1800" dirty="0">
                <a:sym typeface="Huawei Sans" panose="020C0503030203020204" pitchFamily="34" charset="0"/>
              </a:rPr>
              <a:t>平滑演进。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SR-MPLS</a:t>
            </a:r>
            <a:r>
              <a:rPr lang="zh-CN" altLang="en-US" sz="1800" dirty="0">
                <a:sym typeface="Huawei Sans" panose="020C0503030203020204" pitchFamily="34" charset="0"/>
              </a:rPr>
              <a:t>支持三种不同类型的</a:t>
            </a:r>
            <a:r>
              <a:rPr lang="en-US" altLang="zh-CN" sz="1800" dirty="0">
                <a:sym typeface="Huawei Sans" panose="020C0503030203020204" pitchFamily="34" charset="0"/>
              </a:rPr>
              <a:t>LSP</a:t>
            </a:r>
            <a:r>
              <a:rPr lang="zh-CN" altLang="en-US" sz="1800" dirty="0">
                <a:sym typeface="Huawei Sans" panose="020C0503030203020204" pitchFamily="34" charset="0"/>
              </a:rPr>
              <a:t>，分别是</a:t>
            </a:r>
            <a:r>
              <a:rPr lang="en-US" altLang="zh-CN" sz="1800" dirty="0">
                <a:sym typeface="Huawei Sans" panose="020C0503030203020204" pitchFamily="34" charset="0"/>
              </a:rPr>
              <a:t>SR-MPLS BE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SR-MPLS TE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SR-MPLS Policy</a:t>
            </a:r>
            <a:r>
              <a:rPr lang="zh-CN" altLang="en-US" sz="1800" dirty="0">
                <a:sym typeface="Huawei Sans" panose="020C0503030203020204" pitchFamily="34" charset="0"/>
              </a:rPr>
              <a:t>。针对不同类型的</a:t>
            </a:r>
            <a:r>
              <a:rPr lang="en-US" altLang="zh-CN" sz="1800" dirty="0">
                <a:sym typeface="Huawei Sans" panose="020C0503030203020204" pitchFamily="34" charset="0"/>
              </a:rPr>
              <a:t>LSP</a:t>
            </a:r>
            <a:r>
              <a:rPr lang="zh-CN" altLang="en-US" sz="1800" dirty="0">
                <a:sym typeface="Huawei Sans" panose="020C0503030203020204" pitchFamily="34" charset="0"/>
              </a:rPr>
              <a:t>，</a:t>
            </a:r>
            <a:r>
              <a:rPr lang="en-US" altLang="zh-CN" sz="1800" dirty="0">
                <a:sym typeface="Huawei Sans" panose="020C0503030203020204" pitchFamily="34" charset="0"/>
              </a:rPr>
              <a:t>SR-MPLS</a:t>
            </a:r>
            <a:r>
              <a:rPr lang="zh-CN" altLang="en-US" sz="1800" dirty="0">
                <a:sym typeface="Huawei Sans" panose="020C0503030203020204" pitchFamily="34" charset="0"/>
              </a:rPr>
              <a:t>可提供多种检测和保护机制，例如</a:t>
            </a:r>
            <a:r>
              <a:rPr lang="en-US" altLang="zh-CN" sz="1800" dirty="0">
                <a:sym typeface="Huawei Sans" panose="020C0503030203020204" pitchFamily="34" charset="0"/>
              </a:rPr>
              <a:t>TI-LFA FRR</a:t>
            </a:r>
            <a:r>
              <a:rPr lang="zh-CN" altLang="en-US" sz="1800" dirty="0">
                <a:sym typeface="Huawei Sans" panose="020C0503030203020204" pitchFamily="34" charset="0"/>
              </a:rPr>
              <a:t>与</a:t>
            </a:r>
            <a:r>
              <a:rPr lang="en-US" altLang="zh-CN" sz="1800" dirty="0">
                <a:sym typeface="Huawei Sans" panose="020C0503030203020204" pitchFamily="34" charset="0"/>
              </a:rPr>
              <a:t>Anycast FRR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Hot-Standby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VPN FRR</a:t>
            </a:r>
            <a:r>
              <a:rPr lang="zh-CN" altLang="en-US" sz="1800" dirty="0">
                <a:sym typeface="Huawei Sans" panose="020C0503030203020204" pitchFamily="34" charset="0"/>
              </a:rPr>
              <a:t>、防微环、</a:t>
            </a:r>
            <a:r>
              <a:rPr lang="en-US" altLang="zh-CN" sz="1800" dirty="0">
                <a:sym typeface="Huawei Sans" panose="020C0503030203020204" pitchFamily="34" charset="0"/>
              </a:rPr>
              <a:t>BFD</a:t>
            </a:r>
            <a:r>
              <a:rPr lang="zh-CN" altLang="en-US" sz="1800" dirty="0">
                <a:sym typeface="Huawei Sans" panose="020C0503030203020204" pitchFamily="34" charset="0"/>
              </a:rPr>
              <a:t>与</a:t>
            </a:r>
            <a:r>
              <a:rPr lang="en-US" altLang="zh-CN" sz="1800" dirty="0">
                <a:sym typeface="Huawei Sans" panose="020C0503030203020204" pitchFamily="34" charset="0"/>
              </a:rPr>
              <a:t>SBFD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SR-MPLS</a:t>
            </a:r>
            <a:r>
              <a:rPr lang="zh-CN" altLang="en-US" sz="1800" dirty="0">
                <a:sym typeface="Huawei Sans" panose="020C0503030203020204" pitchFamily="34" charset="0"/>
              </a:rPr>
              <a:t>同时支持传统网络和</a:t>
            </a:r>
            <a:r>
              <a:rPr lang="en-US" altLang="zh-CN" sz="1800" dirty="0">
                <a:sym typeface="Huawei Sans" panose="020C0503030203020204" pitchFamily="34" charset="0"/>
              </a:rPr>
              <a:t>SDN</a:t>
            </a:r>
            <a:r>
              <a:rPr lang="zh-CN" altLang="en-US" sz="1800" dirty="0">
                <a:sym typeface="Huawei Sans" panose="020C0503030203020204" pitchFamily="34" charset="0"/>
              </a:rPr>
              <a:t>网络，兼容现有设备，支持跨域对接等多种场景。为了方便大家理解，本课程给出了基于命令行配置</a:t>
            </a:r>
            <a:r>
              <a:rPr lang="en-US" altLang="zh-CN" sz="1800" dirty="0">
                <a:sym typeface="Huawei Sans" panose="020C0503030203020204" pitchFamily="34" charset="0"/>
              </a:rPr>
              <a:t>SR-MPLS</a:t>
            </a:r>
            <a:r>
              <a:rPr lang="zh-CN" altLang="en-US" sz="1800" dirty="0">
                <a:sym typeface="Huawei Sans" panose="020C0503030203020204" pitchFamily="34" charset="0"/>
              </a:rPr>
              <a:t>的举例，在后续的课程中将介绍如何使用控制器完成</a:t>
            </a:r>
            <a:r>
              <a:rPr lang="en-US" altLang="zh-CN" sz="1800" dirty="0">
                <a:sym typeface="Huawei Sans" panose="020C0503030203020204" pitchFamily="34" charset="0"/>
              </a:rPr>
              <a:t>SR-MPLS</a:t>
            </a:r>
            <a:r>
              <a:rPr lang="zh-CN" altLang="en-US" sz="1800" dirty="0">
                <a:sym typeface="Huawei Sans" panose="020C0503030203020204" pitchFamily="34" charset="0"/>
              </a:rPr>
              <a:t>的配置。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2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3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4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5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6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7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8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9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10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11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12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13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14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15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16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17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18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19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20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21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22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23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24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25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26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27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28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29.xml><?xml version="1.0" encoding="utf-8"?>
<p:tagLst xmlns:p="http://schemas.openxmlformats.org/presentationml/2006/main">
  <p:tag name="KSO_WM_DIAGRAM_VIRTUALLY_FRAME" val="{&quot;height&quot;:219.81543307086613,&quot;left&quot;:105.85,&quot;top&quot;:123.78456692913385,&quot;width&quot;:746.576062992126}"/>
</p:tagLst>
</file>

<file path=ppt/tags/tag33.xml><?xml version="1.0" encoding="utf-8"?>
<p:tagLst xmlns:p="http://schemas.openxmlformats.org/presentationml/2006/main">
  <p:tag name="ISLIDE.GUIDESSETTING" val="null"/>
  <p:tag name="commondata" val="eyJoZGlkIjoiNjc0ZmI2NjkxZWUzNmMzMGQwY2FmZGU3M2U2NTgzMTEifQ=="/>
</p:tagLst>
</file>

<file path=ppt/theme/theme1.xml><?xml version="1.0" encoding="utf-8"?>
<a:theme xmlns:a="http://schemas.openxmlformats.org/drawingml/2006/main" name="2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功能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item1.xml>��
</file>

<file path=customXml/item2.xml>��
</file>

<file path=customXml/item3.xml>��
</file>

<file path=customXml/itemProps30.xml><?xml version="1.0" encoding="utf-8"?>
<ds:datastoreItem xmlns:ds="http://schemas.openxmlformats.org/officeDocument/2006/customXml" ds:itemID="{FEDE263F-0510-4442-823E-69B63ECB61E1}">
  <ds:schemaRefs/>
</ds:datastoreItem>
</file>

<file path=customXml/itemProps31.xml><?xml version="1.0" encoding="utf-8"?>
<ds:datastoreItem xmlns:ds="http://schemas.openxmlformats.org/officeDocument/2006/customXml" ds:itemID="{4A934C0E-5C45-401E-BE4F-107614902F17}">
  <ds:schemaRefs/>
</ds:datastoreItem>
</file>

<file path=customXml/itemProps32.xml><?xml version="1.0" encoding="utf-8"?>
<ds:datastoreItem xmlns:ds="http://schemas.openxmlformats.org/officeDocument/2006/customXml" ds:itemID="{DA5960F2-6186-408B-A0DC-5CA5E58B604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52945</Words>
  <Application>WPS 演示</Application>
  <PresentationFormat>宽屏</PresentationFormat>
  <Paragraphs>5482</Paragraphs>
  <Slides>122</Slides>
  <Notes>122</Notes>
  <HiddenSlides>6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122</vt:i4>
      </vt:variant>
    </vt:vector>
  </HeadingPairs>
  <TitlesOfParts>
    <vt:vector size="136" baseType="lpstr">
      <vt:lpstr>Arial</vt:lpstr>
      <vt:lpstr>宋体</vt:lpstr>
      <vt:lpstr>Wingdings</vt:lpstr>
      <vt:lpstr>Huawei Sans</vt:lpstr>
      <vt:lpstr>DejaVu Math TeX Gyre</vt:lpstr>
      <vt:lpstr>方正兰亭黑简体</vt:lpstr>
      <vt:lpstr>黑体</vt:lpstr>
      <vt:lpstr>微软雅黑</vt:lpstr>
      <vt:lpstr>Arial Unicode MS</vt:lpstr>
      <vt:lpstr>Times New Roman</vt:lpstr>
      <vt:lpstr>2_标题页模板</vt:lpstr>
      <vt:lpstr>3_功能页模板</vt:lpstr>
      <vt:lpstr>4_内容页模板</vt:lpstr>
      <vt:lpstr>5_感谢页模板</vt:lpstr>
      <vt:lpstr>PowerPoint 演示文稿</vt:lpstr>
      <vt:lpstr>Segment Routing简介</vt:lpstr>
      <vt:lpstr>PowerPoint 演示文稿</vt:lpstr>
      <vt:lpstr>PowerPoint 演示文稿</vt:lpstr>
      <vt:lpstr>PowerPoint 演示文稿</vt:lpstr>
      <vt:lpstr>MPLS LDP与RSVP-TE存在的问题</vt:lpstr>
      <vt:lpstr>业务驱动网络：由业务来定义网络的架构</vt:lpstr>
      <vt:lpstr>Segment Routing的解决思路</vt:lpstr>
      <vt:lpstr>SR解决方案</vt:lpstr>
      <vt:lpstr>SR概述</vt:lpstr>
      <vt:lpstr>SR的优势</vt:lpstr>
      <vt:lpstr>PowerPoint 演示文稿</vt:lpstr>
      <vt:lpstr>基本概念：Segment</vt:lpstr>
      <vt:lpstr>基本概念：Segment ID</vt:lpstr>
      <vt:lpstr>基本概念：源路由</vt:lpstr>
      <vt:lpstr>基本概念：Segment分类</vt:lpstr>
      <vt:lpstr>基本概念：Prefix Segment</vt:lpstr>
      <vt:lpstr>基本概念：SRGB</vt:lpstr>
      <vt:lpstr>基本概念：Adjacency Segment</vt:lpstr>
      <vt:lpstr>AS内Node SID及Adjacency SID的泛洪</vt:lpstr>
      <vt:lpstr>OSPF for SR-MPLS</vt:lpstr>
      <vt:lpstr>IS-IS for SR-MPLS</vt:lpstr>
      <vt:lpstr>基本概念：SR Policy</vt:lpstr>
      <vt:lpstr>SR Policy示例</vt:lpstr>
      <vt:lpstr>基本概念：SR-MPLS与SRv6</vt:lpstr>
      <vt:lpstr>标签栈、粘连标签与粘连节点</vt:lpstr>
      <vt:lpstr>SID的使用</vt:lpstr>
      <vt:lpstr>场景1：基于Prefix Segment的转发路径</vt:lpstr>
      <vt:lpstr>场景2：基于Adjacency Segment的转发路径</vt:lpstr>
      <vt:lpstr>场景3：基于Adjacency Segment + Node Segment的转发路径</vt:lpstr>
      <vt:lpstr>SR-MPLS BE</vt:lpstr>
      <vt:lpstr>SR-MPLS TE</vt:lpstr>
      <vt:lpstr>SR-MPLS BE LSP</vt:lpstr>
      <vt:lpstr>SR-MPLS BE LSP的创建</vt:lpstr>
      <vt:lpstr>数据转发过程</vt:lpstr>
      <vt:lpstr>流量工程简介</vt:lpstr>
      <vt:lpstr>传统分布式MPLS TE功能架构</vt:lpstr>
      <vt:lpstr>集中式SR-MPLS TE功能架构</vt:lpstr>
      <vt:lpstr>SR-MPLS TE 与 RSVP-TE 的比较</vt:lpstr>
      <vt:lpstr>SR-MPLS TE - 网络拓扑收集</vt:lpstr>
      <vt:lpstr>SR-MPLS TE - 标签分配</vt:lpstr>
      <vt:lpstr>标签分配过程示例</vt:lpstr>
      <vt:lpstr>SR-MPLS TE LSP的创建</vt:lpstr>
      <vt:lpstr>SR-MPLS TE隧道属性配置</vt:lpstr>
      <vt:lpstr>SR-MPLS TE隧道建立过程 (控制器算路)</vt:lpstr>
      <vt:lpstr>基于控制器的SR-MPLS TE隧道建立的优势</vt:lpstr>
      <vt:lpstr>SR-MPLS TE数据转发</vt:lpstr>
      <vt:lpstr>SR-MPLS BE与SR-MPLS TE的流量导入</vt:lpstr>
      <vt:lpstr>早期SR-MPLS TE不足</vt:lpstr>
      <vt:lpstr>SR Policy简介</vt:lpstr>
      <vt:lpstr>SR-MPLS Policy元组标识</vt:lpstr>
      <vt:lpstr>SR-MPLS Policy标准介绍</vt:lpstr>
      <vt:lpstr>SR-MPLS Policy方案架构</vt:lpstr>
      <vt:lpstr>SR-MPLS Policy模型</vt:lpstr>
      <vt:lpstr>Binding SID</vt:lpstr>
      <vt:lpstr>SR Policy业务流程：信息收集</vt:lpstr>
      <vt:lpstr>SR Policy业务流程：路由着色</vt:lpstr>
      <vt:lpstr>SR Policy业务流程：路由传递</vt:lpstr>
      <vt:lpstr>SR Policy业务流程：下发SR Policy</vt:lpstr>
      <vt:lpstr>SR Policy业务流程：引流及报文转发</vt:lpstr>
      <vt:lpstr>扩展：BGP SR Policy NLRI</vt:lpstr>
      <vt:lpstr>小结：SR-MPLS路径的生成方式</vt:lpstr>
      <vt:lpstr>PowerPoint 演示文稿</vt:lpstr>
      <vt:lpstr>SR-MPLS故障保护技术概览</vt:lpstr>
      <vt:lpstr>TI-LFA FRR</vt:lpstr>
      <vt:lpstr>TI-LFA FRR保护路径计算</vt:lpstr>
      <vt:lpstr>TI-LFA FRR的应用场景与配置</vt:lpstr>
      <vt:lpstr>TI-LFA FRR的局限</vt:lpstr>
      <vt:lpstr>Anycast FRR</vt:lpstr>
      <vt:lpstr>Anycast FRR故障保护</vt:lpstr>
      <vt:lpstr>Hot-Standby</vt:lpstr>
      <vt:lpstr>SR-MPLS Policy Hot-Standby原理</vt:lpstr>
      <vt:lpstr>Hot-Standby的局限</vt:lpstr>
      <vt:lpstr>VPN FRR</vt:lpstr>
      <vt:lpstr>VPN FRR故障切换示例</vt:lpstr>
      <vt:lpstr>SR防微环简介 </vt:lpstr>
      <vt:lpstr>SR本地正切防微环</vt:lpstr>
      <vt:lpstr>SR本地回切防微环</vt:lpstr>
      <vt:lpstr>SR远端防微环</vt:lpstr>
      <vt:lpstr>小结：TI-LFA与防微环的对比</vt:lpstr>
      <vt:lpstr>SBFD简介</vt:lpstr>
      <vt:lpstr>SBFD工作原理</vt:lpstr>
      <vt:lpstr>单臂BFD检测</vt:lpstr>
      <vt:lpstr>PowerPoint 演示文稿</vt:lpstr>
      <vt:lpstr>单域SR-MPLS BE</vt:lpstr>
      <vt:lpstr>单域SR-MPLS TE</vt:lpstr>
      <vt:lpstr>单域SR-MPLS Policy</vt:lpstr>
      <vt:lpstr>跨域E2E SR-MPLS TE (1)</vt:lpstr>
      <vt:lpstr>跨域E2E SR-MPLS TE (2)</vt:lpstr>
      <vt:lpstr>跨域E2E SR-MPLS TE (3)</vt:lpstr>
      <vt:lpstr>PowerPoint 演示文稿</vt:lpstr>
      <vt:lpstr>L3VPN over SR-MPLS BE (1)</vt:lpstr>
      <vt:lpstr>L3VPN over SR-MPLS BE (2)</vt:lpstr>
      <vt:lpstr>PowerPoint 演示文稿</vt:lpstr>
      <vt:lpstr>L3VPN over SR-MPLS BE (3)</vt:lpstr>
      <vt:lpstr>L3VPN over SR-MPLS BE (4)</vt:lpstr>
      <vt:lpstr>L3VPN over SR-MPLS BE (5)</vt:lpstr>
      <vt:lpstr>L3VPN over SR-MPLS BE (6)</vt:lpstr>
      <vt:lpstr>L3VPN over SR-MPLS BE (7)</vt:lpstr>
      <vt:lpstr>PowerPoint 演示文稿</vt:lpstr>
      <vt:lpstr>L3VPN over SR-MPLS TE (1)</vt:lpstr>
      <vt:lpstr>L3VPN over SR-MPLS TE (2)</vt:lpstr>
      <vt:lpstr>PowerPoint 演示文稿</vt:lpstr>
      <vt:lpstr>L3VPN over SR-MPLS TE (3)</vt:lpstr>
      <vt:lpstr>PowerPoint 演示文稿</vt:lpstr>
      <vt:lpstr>L3VPN over SR-MPLS TE (4)</vt:lpstr>
      <vt:lpstr>L3VPN over SR-MPLS TE (5)</vt:lpstr>
      <vt:lpstr>L3VPN over SR-MPLS TE (6)</vt:lpstr>
      <vt:lpstr>L3VPN over SR-MPLS TE (7)</vt:lpstr>
      <vt:lpstr>PowerPoint 演示文稿</vt:lpstr>
      <vt:lpstr>L3VPN over 静态SR-MPLS Policy (1)</vt:lpstr>
      <vt:lpstr>L3VPN over 静态SR-MPLS Policy (2)</vt:lpstr>
      <vt:lpstr>L3VPN over 静态SR-MPLS Policy (3)</vt:lpstr>
      <vt:lpstr>PowerPoint 演示文稿</vt:lpstr>
      <vt:lpstr>L3VPN over 静态SR-MPLS Policy (4)</vt:lpstr>
      <vt:lpstr>PowerPoint 演示文稿</vt:lpstr>
      <vt:lpstr>L3VPN over 静态SR-MPLS Policy (5)</vt:lpstr>
      <vt:lpstr>L3VPN over 静态SR-MPLS Policy (6)</vt:lpstr>
      <vt:lpstr>L3VPN over 静态SR-MPLS Policy (7)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郑桂彬</cp:lastModifiedBy>
  <cp:revision>499</cp:revision>
  <cp:lastPrinted>2020-07-31T09:33:00Z</cp:lastPrinted>
  <dcterms:created xsi:type="dcterms:W3CDTF">2018-11-29T10:16:00Z</dcterms:created>
  <dcterms:modified xsi:type="dcterms:W3CDTF">2024-05-20T07:55:47Z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(3)gMAfiO0UpcQwkn6sTfvnGp36CSqJMfmBnwIS+l6xWUy9FF/fjQm/hRjWQ2nA2FomdAl5EbuV
vXBlYftNkUrrPhSJM3dAay90z7XMBXHBlR8mUSwdfWOeWWXkkmcvjXF9BqNeEyIx1Nu0EfVt
AEWZl+swEkWlJtUDpnDHRW+LCL05i9HWG+odupwK/maW3eMoW2T5wF1ZsKQ+MQyHbWu6fWT0
h2wMc4BOW5+ghfIS1A</vt:lpwstr>
  </property>
  <property fmtid="{D5CDD505-2E9C-101B-9397-08002B2CF9AE}" pid="3" name="_2015_ms_pID_7253431">
    <vt:lpwstr>wCka6Nc4EciSTeByvaABpe/Sv7yRIW68aPOoYJm4axaeqZw+G6/4xw
5qXDjQuUvTwwFCvOqhbGsJD+VGU0YXAgjlthpUaSgEXKzAV4/vBTFQ6V1aiPaS2q67WM/8pN
l4s57FaoTvbk7KUy7IGHHh4mJNgqJ8wpfPGZLP2i3ouyb7DfTs2MhMDkPHZNUEsZrZhgSHmg
gqokEIlWSpRra2TrTjCfAPWko9o33GyiRe8n</vt:lpwstr>
  </property>
  <property fmtid="{D5CDD505-2E9C-101B-9397-08002B2CF9AE}" pid="4" name="_2015_ms_pID_7253432">
    <vt:lpwstr>zeRUx9xLQT6Ic4IZhQmAKmk=</vt:lpwstr>
  </property>
  <property fmtid="{D5CDD505-2E9C-101B-9397-08002B2CF9AE}" pid="5" name="ContentTypeId">
    <vt:lpwstr>0x01010002C5B4B712841F4C8A7AAEE2CD191271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1630542684</vt:lpwstr>
  </property>
  <property fmtid="{D5CDD505-2E9C-101B-9397-08002B2CF9AE}" pid="10" name="ICV">
    <vt:lpwstr>1DF3CE82D1084B789F0B236ED7B14386_12</vt:lpwstr>
  </property>
  <property fmtid="{D5CDD505-2E9C-101B-9397-08002B2CF9AE}" pid="11" name="KSOProductBuildVer">
    <vt:lpwstr>2052-12.1.0.16417</vt:lpwstr>
  </property>
</Properties>
</file>