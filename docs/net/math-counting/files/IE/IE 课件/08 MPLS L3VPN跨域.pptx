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77"/>
  </p:notesMasterIdLst>
  <p:handoutMasterIdLst>
    <p:handoutMasterId r:id="rId78"/>
  </p:handoutMasterIdLst>
  <p:sldIdLst>
    <p:sldId id="257" r:id="rId8"/>
    <p:sldId id="258" r:id="rId9"/>
    <p:sldId id="260" r:id="rId10"/>
    <p:sldId id="261" r:id="rId11"/>
    <p:sldId id="262" r:id="rId12"/>
    <p:sldId id="297" r:id="rId13"/>
    <p:sldId id="352" r:id="rId14"/>
    <p:sldId id="264" r:id="rId15"/>
    <p:sldId id="299" r:id="rId16"/>
    <p:sldId id="265" r:id="rId17"/>
    <p:sldId id="291" r:id="rId18"/>
    <p:sldId id="267" r:id="rId19"/>
    <p:sldId id="268" r:id="rId20"/>
    <p:sldId id="269" r:id="rId21"/>
    <p:sldId id="270" r:id="rId22"/>
    <p:sldId id="271" r:id="rId23"/>
    <p:sldId id="292" r:id="rId24"/>
    <p:sldId id="300" r:id="rId25"/>
    <p:sldId id="354" r:id="rId26"/>
    <p:sldId id="355" r:id="rId27"/>
    <p:sldId id="307" r:id="rId28"/>
    <p:sldId id="293" r:id="rId29"/>
    <p:sldId id="308" r:id="rId30"/>
    <p:sldId id="309" r:id="rId31"/>
    <p:sldId id="310" r:id="rId32"/>
    <p:sldId id="315" r:id="rId33"/>
    <p:sldId id="312" r:id="rId34"/>
    <p:sldId id="313" r:id="rId35"/>
    <p:sldId id="294" r:id="rId36"/>
    <p:sldId id="317" r:id="rId37"/>
    <p:sldId id="318" r:id="rId38"/>
    <p:sldId id="319" r:id="rId39"/>
    <p:sldId id="320" r:id="rId40"/>
    <p:sldId id="321" r:id="rId41"/>
    <p:sldId id="295" r:id="rId42"/>
    <p:sldId id="322" r:id="rId43"/>
    <p:sldId id="281" r:id="rId44"/>
    <p:sldId id="324" r:id="rId45"/>
    <p:sldId id="283" r:id="rId46"/>
    <p:sldId id="327" r:id="rId47"/>
    <p:sldId id="326" r:id="rId48"/>
    <p:sldId id="328" r:id="rId49"/>
    <p:sldId id="285" r:id="rId50"/>
    <p:sldId id="329" r:id="rId51"/>
    <p:sldId id="330" r:id="rId52"/>
    <p:sldId id="288" r:id="rId53"/>
    <p:sldId id="289" r:id="rId54"/>
    <p:sldId id="290" r:id="rId55"/>
    <p:sldId id="331" r:id="rId56"/>
    <p:sldId id="296" r:id="rId57"/>
    <p:sldId id="334" r:id="rId58"/>
    <p:sldId id="332" r:id="rId59"/>
    <p:sldId id="342" r:id="rId60"/>
    <p:sldId id="335" r:id="rId61"/>
    <p:sldId id="343" r:id="rId62"/>
    <p:sldId id="344" r:id="rId63"/>
    <p:sldId id="336" r:id="rId64"/>
    <p:sldId id="349" r:id="rId65"/>
    <p:sldId id="333" r:id="rId66"/>
    <p:sldId id="337" r:id="rId67"/>
    <p:sldId id="338" r:id="rId68"/>
    <p:sldId id="339" r:id="rId69"/>
    <p:sldId id="347" r:id="rId70"/>
    <p:sldId id="348" r:id="rId71"/>
    <p:sldId id="346" r:id="rId72"/>
    <p:sldId id="350" r:id="rId73"/>
    <p:sldId id="341" r:id="rId74"/>
    <p:sldId id="340" r:id="rId75"/>
    <p:sldId id="351" r:id="rId76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269" userDrawn="1">
          <p15:clr>
            <a:srgbClr val="A4A3A4"/>
          </p15:clr>
        </p15:guide>
        <p15:guide id="4" orient="horz" pos="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junjianzjhw" initials="h" lastIdx="25" clrIdx="0">
    <p:extLst>
      <p:ext uri="{19B8F6BF-5375-455C-9EA6-DF929625EA0E}">
        <p15:presenceInfo xmlns:p15="http://schemas.microsoft.com/office/powerpoint/2012/main" userId="S-1-5-21-147214757-305610072-1517763936-5682676" providerId="AD"/>
      </p:ext>
    </p:extLst>
  </p:cmAuthor>
  <p:cmAuthor id="2" name="Wuyuezjhw (Monk)" initials="W(" lastIdx="78" clrIdx="1">
    <p:extLst>
      <p:ext uri="{19B8F6BF-5375-455C-9EA6-DF929625EA0E}">
        <p15:presenceInfo xmlns:p15="http://schemas.microsoft.com/office/powerpoint/2012/main" userId="S-1-5-21-147214757-305610072-1517763936-31936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B230"/>
    <a:srgbClr val="C7000B"/>
    <a:srgbClr val="CB3778"/>
    <a:srgbClr val="56C4D2"/>
    <a:srgbClr val="FAD3BB"/>
    <a:srgbClr val="DD80AA"/>
    <a:srgbClr val="595757"/>
    <a:srgbClr val="D9D9D9"/>
    <a:srgbClr val="FCC8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67" autoAdjust="0"/>
  </p:normalViewPr>
  <p:slideViewPr>
    <p:cSldViewPr snapToGrid="0" snapToObjects="1">
      <p:cViewPr varScale="1">
        <p:scale>
          <a:sx n="82" d="100"/>
          <a:sy n="82" d="100"/>
        </p:scale>
        <p:origin x="40" y="124"/>
      </p:cViewPr>
      <p:guideLst>
        <p:guide pos="5269"/>
        <p:guide orient="horz" pos="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5580" y="426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82" Type="http://schemas.openxmlformats.org/officeDocument/2006/relationships/theme" Target="theme/theme1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handoutMaster" Target="handoutMasters/handoutMaster1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10/15/2023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4" name="备注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02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459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577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5036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2191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57140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30369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marR="0" lvl="0" indent="-1800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tabLst/>
              <a:defRPr/>
            </a:pPr>
            <a:r>
              <a:rPr lang="zh-CN" altLang="en-US" sz="1100" dirty="0"/>
              <a:t>为方便理解，在后续讲解中，将原有</a:t>
            </a:r>
            <a:r>
              <a:rPr lang="en-US" altLang="zh-CN" sz="1100" dirty="0"/>
              <a:t>AS</a:t>
            </a:r>
            <a:r>
              <a:rPr lang="zh-CN" altLang="en-US" sz="1100" dirty="0"/>
              <a:t>中负责</a:t>
            </a:r>
            <a:r>
              <a:rPr lang="en-US" altLang="zh-CN" sz="1100" dirty="0"/>
              <a:t>AS</a:t>
            </a:r>
            <a:r>
              <a:rPr lang="zh-CN" altLang="en-US" sz="1100" dirty="0"/>
              <a:t>之间互联的设备称为</a:t>
            </a:r>
            <a:r>
              <a:rPr lang="en-US" altLang="zh-CN" sz="1100" dirty="0"/>
              <a:t>ASBR-PE</a:t>
            </a:r>
            <a:r>
              <a:rPr lang="zh-CN" altLang="en-US" sz="1100" dirty="0"/>
              <a:t>，同时给</a:t>
            </a:r>
            <a:r>
              <a:rPr lang="en-US" altLang="zh-CN" sz="1100" dirty="0"/>
              <a:t>P</a:t>
            </a:r>
            <a:r>
              <a:rPr lang="zh-CN" altLang="en-US" sz="1100" dirty="0"/>
              <a:t>不同的编号，另外不再讨论</a:t>
            </a:r>
            <a:r>
              <a:rPr lang="en-US" altLang="zh-CN" sz="1100" dirty="0"/>
              <a:t>CE3</a:t>
            </a:r>
            <a:r>
              <a:rPr lang="zh-CN" altLang="en-US" sz="1100" dirty="0"/>
              <a:t>和</a:t>
            </a:r>
            <a:r>
              <a:rPr lang="en-US" altLang="zh-CN" sz="1100" dirty="0"/>
              <a:t>CE4</a:t>
            </a:r>
            <a:r>
              <a:rPr lang="zh-CN" altLang="en-US" sz="1100" dirty="0"/>
              <a:t>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917012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773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907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989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1033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314417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本例中的</a:t>
            </a:r>
            <a:r>
              <a:rPr lang="zh-CN" altLang="en-US"/>
              <a:t>数字编号仅为方便理解，并不</a:t>
            </a:r>
            <a:r>
              <a:rPr lang="zh-CN" altLang="en-US" dirty="0"/>
              <a:t>代表设备真实的</a:t>
            </a:r>
            <a:r>
              <a:rPr lang="zh-CN" altLang="en-US"/>
              <a:t>处理顺序。</a:t>
            </a:r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578356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本转发过程不考虑</a:t>
            </a:r>
            <a:r>
              <a:rPr lang="en-US" altLang="zh-CN" dirty="0"/>
              <a:t>LDP PHP</a:t>
            </a:r>
            <a:r>
              <a:rPr lang="zh-CN" altLang="en-US" dirty="0"/>
              <a:t>行为。</a:t>
            </a:r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561351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099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786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96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88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242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087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839131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732512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2651880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VPN</a:t>
            </a:r>
            <a:r>
              <a:rPr lang="zh-CN" altLang="en-US" dirty="0"/>
              <a:t>跨域场景下，建议部署独立的</a:t>
            </a:r>
            <a:r>
              <a:rPr lang="en-US" altLang="zh-CN" dirty="0"/>
              <a:t>RR</a:t>
            </a:r>
            <a:r>
              <a:rPr lang="zh-CN" altLang="en-US" dirty="0"/>
              <a:t>设备，只负责路由传递，不转发流量。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803603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6621924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933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331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775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207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036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3608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948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5603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964709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如果每个</a:t>
            </a:r>
            <a:r>
              <a:rPr lang="en-US" altLang="zh-CN" dirty="0"/>
              <a:t>AS</a:t>
            </a:r>
            <a:r>
              <a:rPr lang="zh-CN" altLang="en-US" dirty="0"/>
              <a:t>的</a:t>
            </a:r>
            <a:r>
              <a:rPr lang="en-US" altLang="zh-CN" dirty="0"/>
              <a:t>P</a:t>
            </a:r>
            <a:r>
              <a:rPr lang="zh-CN" altLang="en-US" dirty="0"/>
              <a:t>路由器都能够知道去往其他</a:t>
            </a:r>
            <a:r>
              <a:rPr lang="en-US" altLang="zh-CN" dirty="0"/>
              <a:t>AS</a:t>
            </a:r>
            <a:r>
              <a:rPr lang="zh-CN" altLang="en-US" dirty="0"/>
              <a:t>的</a:t>
            </a:r>
            <a:r>
              <a:rPr lang="en-US" altLang="zh-CN" dirty="0"/>
              <a:t>PE</a:t>
            </a:r>
            <a:r>
              <a:rPr lang="zh-CN" altLang="en-US" dirty="0"/>
              <a:t>路由器的路由，那情况会比较简单。但是如果</a:t>
            </a:r>
            <a:r>
              <a:rPr lang="en-US" altLang="zh-CN" dirty="0"/>
              <a:t>P</a:t>
            </a:r>
            <a:r>
              <a:rPr lang="zh-CN" altLang="en-US" dirty="0"/>
              <a:t>不知道，那么当</a:t>
            </a:r>
            <a:r>
              <a:rPr lang="en-US" altLang="zh-CN" dirty="0"/>
              <a:t>PE</a:t>
            </a:r>
            <a:r>
              <a:rPr lang="zh-CN" altLang="en-US" dirty="0"/>
              <a:t>收到从</a:t>
            </a:r>
            <a:r>
              <a:rPr lang="en-US" altLang="zh-CN" dirty="0"/>
              <a:t>CE</a:t>
            </a:r>
            <a:r>
              <a:rPr lang="zh-CN" altLang="en-US" dirty="0"/>
              <a:t>收到</a:t>
            </a:r>
            <a:r>
              <a:rPr lang="en-US" altLang="zh-CN" dirty="0"/>
              <a:t>VPN</a:t>
            </a:r>
            <a:r>
              <a:rPr lang="zh-CN" altLang="en-US" dirty="0"/>
              <a:t>数据时，就要加上三层标签，底层标签是由对端</a:t>
            </a:r>
            <a:r>
              <a:rPr lang="en-US" altLang="zh-CN" dirty="0"/>
              <a:t>PE</a:t>
            </a:r>
            <a:r>
              <a:rPr lang="zh-CN" altLang="en-US" dirty="0"/>
              <a:t>分配的与</a:t>
            </a:r>
            <a:r>
              <a:rPr lang="en-US" altLang="zh-CN" dirty="0"/>
              <a:t>VPN</a:t>
            </a:r>
            <a:r>
              <a:rPr lang="zh-CN" altLang="en-US" dirty="0"/>
              <a:t>路由相关联的</a:t>
            </a:r>
            <a:r>
              <a:rPr lang="en-US" altLang="zh-CN" dirty="0"/>
              <a:t>VPN</a:t>
            </a:r>
            <a:r>
              <a:rPr lang="zh-CN" altLang="en-US" dirty="0"/>
              <a:t>标签，中间的标签是</a:t>
            </a:r>
            <a:r>
              <a:rPr lang="en-US" altLang="zh-CN" dirty="0"/>
              <a:t>ASBR</a:t>
            </a:r>
            <a:r>
              <a:rPr lang="zh-CN" altLang="en-US" dirty="0"/>
              <a:t>分配的与去往对端</a:t>
            </a:r>
            <a:r>
              <a:rPr lang="en-US" altLang="zh-CN" dirty="0"/>
              <a:t>PE</a:t>
            </a:r>
            <a:r>
              <a:rPr lang="zh-CN" altLang="en-US" dirty="0"/>
              <a:t>的路由相关联的标签，外层标签则是与去往下一跳</a:t>
            </a:r>
            <a:r>
              <a:rPr lang="en-US" altLang="zh-CN" dirty="0"/>
              <a:t>ASBR</a:t>
            </a:r>
            <a:r>
              <a:rPr lang="zh-CN" altLang="en-US" dirty="0"/>
              <a:t>的路由相关联的标签。</a:t>
            </a:r>
          </a:p>
          <a:p>
            <a:r>
              <a:rPr lang="zh-CN" altLang="en-US" dirty="0"/>
              <a:t>注意：为了方便，如上图，使用的是对称的</a:t>
            </a:r>
            <a:r>
              <a:rPr lang="en-US" altLang="zh-CN" dirty="0"/>
              <a:t>LSP</a:t>
            </a:r>
            <a:r>
              <a:rPr lang="zh-CN" altLang="en-US" dirty="0"/>
              <a:t>进行示意，但是实际上在控制平面和数据平面的工作过程上，两端</a:t>
            </a:r>
            <a:r>
              <a:rPr lang="en-US" altLang="zh-CN" dirty="0"/>
              <a:t>AS</a:t>
            </a:r>
            <a:r>
              <a:rPr lang="zh-CN" altLang="en-US" dirty="0"/>
              <a:t>的</a:t>
            </a:r>
            <a:r>
              <a:rPr lang="en-US" altLang="zh-CN" dirty="0"/>
              <a:t>LSP</a:t>
            </a:r>
            <a:r>
              <a:rPr lang="zh-CN" altLang="en-US" dirty="0"/>
              <a:t>结构是不对称的。</a:t>
            </a:r>
          </a:p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9937510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2944135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0280033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21926998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01484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2626417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5614446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7276059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3553974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8851747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9451466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4678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6109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7894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2695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7248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6957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29974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399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521276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56918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6371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870732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871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450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8144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7311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30815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1740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5125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C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34976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30887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69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base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base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base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base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base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base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base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base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base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base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base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占位符 2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Datacom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通用</a:t>
            </a:r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V1.0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何军建</a:t>
            </a:r>
            <a:r>
              <a:rPr lang="en-US" altLang="zh-CN" dirty="0">
                <a:sym typeface="Huawei Sans" panose="020C0503030203020204" pitchFamily="34" charset="0"/>
              </a:rPr>
              <a:t>/WX580230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75" name="文本占位符 7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2021.08.10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吴越</a:t>
            </a:r>
            <a:r>
              <a:rPr lang="en-US" altLang="zh-CN" dirty="0">
                <a:sym typeface="Huawei Sans" panose="020C0503030203020204" pitchFamily="34" charset="0"/>
              </a:rPr>
              <a:t>/WX291773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新开发</a:t>
            </a: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69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MPLS L3VPN</a:t>
            </a:r>
            <a:r>
              <a:rPr lang="zh-CN" altLang="en-US" dirty="0">
                <a:sym typeface="Huawei Sans" panose="020C0503030203020204" pitchFamily="34" charset="0"/>
              </a:rPr>
              <a:t>跨域</a:t>
            </a:r>
          </a:p>
        </p:txBody>
      </p:sp>
    </p:spTree>
    <p:extLst>
      <p:ext uri="{BB962C8B-B14F-4D97-AF65-F5344CB8AC3E}">
        <p14:creationId xmlns:p14="http://schemas.microsoft.com/office/powerpoint/2010/main" val="317123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AD9DA24-5B66-4453-B135-6056797D82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随着</a:t>
            </a:r>
            <a:r>
              <a:rPr lang="en-US" altLang="zh-CN" sz="2000" dirty="0">
                <a:sym typeface="Huawei Sans" panose="020C0503030203020204" pitchFamily="34" charset="0"/>
              </a:rPr>
              <a:t>MPLS VPN</a:t>
            </a:r>
            <a:r>
              <a:rPr lang="zh-CN" altLang="en-US" sz="2000" dirty="0">
                <a:sym typeface="Huawei Sans" panose="020C0503030203020204" pitchFamily="34" charset="0"/>
              </a:rPr>
              <a:t>解决方案的广泛应用，用户数量和网络范围在快速增长，企业内部的站点数量越来越大，位于不同地理位置或者不同</a:t>
            </a:r>
            <a:r>
              <a:rPr lang="en-US" altLang="zh-CN" sz="2000" dirty="0">
                <a:sym typeface="Huawei Sans" panose="020C0503030203020204" pitchFamily="34" charset="0"/>
              </a:rPr>
              <a:t>AS</a:t>
            </a:r>
            <a:r>
              <a:rPr lang="zh-CN" altLang="en-US" sz="2000" dirty="0">
                <a:sym typeface="Huawei Sans" panose="020C0503030203020204" pitchFamily="34" charset="0"/>
              </a:rPr>
              <a:t>的站点存在着跨域互联的情况。</a:t>
            </a:r>
          </a:p>
          <a:p>
            <a:r>
              <a:rPr lang="zh-CN" altLang="en-US" sz="2000" dirty="0">
                <a:sym typeface="Huawei Sans" panose="020C0503030203020204" pitchFamily="34" charset="0"/>
              </a:rPr>
              <a:t>为了支持</a:t>
            </a:r>
            <a:r>
              <a:rPr lang="en-US" altLang="zh-CN" sz="2000" dirty="0">
                <a:sym typeface="Huawei Sans" panose="020C0503030203020204" pitchFamily="34" charset="0"/>
              </a:rPr>
              <a:t>AS</a:t>
            </a:r>
            <a:r>
              <a:rPr lang="zh-CN" altLang="en-US" sz="2000" dirty="0">
                <a:sym typeface="Huawei Sans" panose="020C0503030203020204" pitchFamily="34" charset="0"/>
              </a:rPr>
              <a:t>之间的</a:t>
            </a:r>
            <a:r>
              <a:rPr lang="en-US" altLang="zh-CN" sz="2000" dirty="0">
                <a:sym typeface="Huawei Sans" panose="020C0503030203020204" pitchFamily="34" charset="0"/>
              </a:rPr>
              <a:t>VPN</a:t>
            </a:r>
            <a:r>
              <a:rPr lang="zh-CN" altLang="en-US" sz="2000" dirty="0">
                <a:sym typeface="Huawei Sans" panose="020C0503030203020204" pitchFamily="34" charset="0"/>
              </a:rPr>
              <a:t>路由信息交换，就需要扩展现有的协议并修改</a:t>
            </a:r>
            <a:r>
              <a:rPr lang="en-US" altLang="zh-CN" sz="2000" dirty="0">
                <a:sym typeface="Huawei Sans" panose="020C0503030203020204" pitchFamily="34" charset="0"/>
              </a:rPr>
              <a:t>MPLS VPN</a:t>
            </a:r>
            <a:r>
              <a:rPr lang="zh-CN" altLang="en-US" sz="2000" dirty="0">
                <a:sym typeface="Huawei Sans" panose="020C0503030203020204" pitchFamily="34" charset="0"/>
              </a:rPr>
              <a:t>体系框架，提供一个不同于基本的</a:t>
            </a:r>
            <a:r>
              <a:rPr lang="en-US" altLang="zh-CN" sz="2000" dirty="0">
                <a:sym typeface="Huawei Sans" panose="020C0503030203020204" pitchFamily="34" charset="0"/>
              </a:rPr>
              <a:t>MPLS VPN</a:t>
            </a:r>
            <a:r>
              <a:rPr lang="zh-CN" altLang="en-US" sz="2000" dirty="0">
                <a:sym typeface="Huawei Sans" panose="020C0503030203020204" pitchFamily="34" charset="0"/>
              </a:rPr>
              <a:t>体系结构所提供的互连模型，即跨域</a:t>
            </a:r>
            <a:r>
              <a:rPr lang="en-US" altLang="zh-CN" sz="2000" dirty="0">
                <a:sym typeface="Huawei Sans" panose="020C0503030203020204" pitchFamily="34" charset="0"/>
              </a:rPr>
              <a:t>MPLS VPN</a:t>
            </a:r>
            <a:r>
              <a:rPr lang="zh-CN" altLang="en-US" sz="2000" dirty="0">
                <a:sym typeface="Huawei Sans" panose="020C0503030203020204" pitchFamily="34" charset="0"/>
              </a:rPr>
              <a:t>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r>
              <a:rPr lang="en-US" altLang="zh-CN" sz="2000" dirty="0">
                <a:sym typeface="Huawei Sans" panose="020C0503030203020204" pitchFamily="34" charset="0"/>
              </a:rPr>
              <a:t>RFC4364</a:t>
            </a:r>
            <a:r>
              <a:rPr lang="zh-CN" altLang="en-US" sz="2000" dirty="0">
                <a:sym typeface="Huawei Sans" panose="020C0503030203020204" pitchFamily="34" charset="0"/>
              </a:rPr>
              <a:t>中提出了三种跨域</a:t>
            </a:r>
            <a:r>
              <a:rPr lang="en-US" altLang="zh-CN" sz="2000" dirty="0">
                <a:sym typeface="Huawei Sans" panose="020C0503030203020204" pitchFamily="34" charset="0"/>
              </a:rPr>
              <a:t>VPN</a:t>
            </a:r>
            <a:r>
              <a:rPr lang="zh-CN" altLang="en-US" sz="2000" dirty="0">
                <a:sym typeface="Huawei Sans" panose="020C0503030203020204" pitchFamily="34" charset="0"/>
              </a:rPr>
              <a:t>解决方案：跨域</a:t>
            </a:r>
            <a:r>
              <a:rPr lang="en-US" altLang="zh-CN" sz="2000" dirty="0">
                <a:sym typeface="Huawei Sans" panose="020C0503030203020204" pitchFamily="34" charset="0"/>
              </a:rPr>
              <a:t>VPN-</a:t>
            </a:r>
            <a:r>
              <a:rPr lang="en-US" altLang="zh-CN" sz="2000" dirty="0" err="1">
                <a:sym typeface="Huawei Sans" panose="020C0503030203020204" pitchFamily="34" charset="0"/>
              </a:rPr>
              <a:t>OptionA</a:t>
            </a:r>
            <a:r>
              <a:rPr lang="zh-CN" altLang="en-US" sz="2000" dirty="0">
                <a:sym typeface="Huawei Sans" panose="020C0503030203020204" pitchFamily="34" charset="0"/>
              </a:rPr>
              <a:t>、跨域</a:t>
            </a:r>
            <a:r>
              <a:rPr lang="en-US" altLang="zh-CN" sz="2000" dirty="0">
                <a:sym typeface="Huawei Sans" panose="020C0503030203020204" pitchFamily="34" charset="0"/>
              </a:rPr>
              <a:t>VPN-</a:t>
            </a:r>
            <a:r>
              <a:rPr lang="en-US" altLang="zh-CN" sz="2000" dirty="0" err="1">
                <a:sym typeface="Huawei Sans" panose="020C0503030203020204" pitchFamily="34" charset="0"/>
              </a:rPr>
              <a:t>OptionB</a:t>
            </a:r>
            <a:r>
              <a:rPr lang="zh-CN" altLang="en-US" sz="2000" dirty="0">
                <a:sym typeface="Huawei Sans" panose="020C0503030203020204" pitchFamily="34" charset="0"/>
              </a:rPr>
              <a:t>、跨域</a:t>
            </a:r>
            <a:r>
              <a:rPr lang="en-US" altLang="zh-CN" sz="2000" dirty="0">
                <a:sym typeface="Huawei Sans" panose="020C0503030203020204" pitchFamily="34" charset="0"/>
              </a:rPr>
              <a:t>VPN-</a:t>
            </a:r>
            <a:r>
              <a:rPr lang="en-US" altLang="zh-CN" sz="2000" dirty="0" err="1">
                <a:sym typeface="Huawei Sans" panose="020C0503030203020204" pitchFamily="34" charset="0"/>
              </a:rPr>
              <a:t>OptionC</a:t>
            </a:r>
            <a:r>
              <a:rPr lang="zh-CN" altLang="en-US" sz="2000" dirty="0">
                <a:sym typeface="Huawei Sans" panose="020C0503030203020204" pitchFamily="34" charset="0"/>
              </a:rPr>
              <a:t>。</a:t>
            </a:r>
          </a:p>
          <a:p>
            <a:r>
              <a:rPr lang="zh-CN" altLang="en-US" sz="2000" dirty="0">
                <a:sym typeface="Huawei Sans" panose="020C0503030203020204" pitchFamily="34" charset="0"/>
              </a:rPr>
              <a:t>本文主要介绍</a:t>
            </a:r>
            <a:r>
              <a:rPr lang="en-US" altLang="zh-CN" sz="2000" dirty="0">
                <a:sym typeface="Huawei Sans" panose="020C0503030203020204" pitchFamily="34" charset="0"/>
              </a:rPr>
              <a:t>MPLS VPN</a:t>
            </a:r>
            <a:r>
              <a:rPr lang="zh-CN" altLang="en-US" sz="2000" dirty="0">
                <a:sym typeface="Huawei Sans" panose="020C0503030203020204" pitchFamily="34" charset="0"/>
              </a:rPr>
              <a:t>跨域的三种解决方案原理及配置。</a:t>
            </a:r>
          </a:p>
        </p:txBody>
      </p:sp>
    </p:spTree>
    <p:extLst>
      <p:ext uri="{BB962C8B-B14F-4D97-AF65-F5344CB8AC3E}">
        <p14:creationId xmlns:p14="http://schemas.microsoft.com/office/powerpoint/2010/main" val="35401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学完本课程后，您将能够：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描述三种跨域方案的原理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实现三种跨域方案的基本配置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描述三种跨域方案的适用场景</a:t>
            </a:r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91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b="1" dirty="0">
                <a:sym typeface="Huawei Sans" panose="020C0503030203020204" pitchFamily="34" charset="0"/>
              </a:rPr>
              <a:t>跨域</a:t>
            </a:r>
            <a:r>
              <a:rPr lang="en-US" altLang="zh-CN" b="1" dirty="0">
                <a:sym typeface="Huawei Sans" panose="020C0503030203020204" pitchFamily="34" charset="0"/>
              </a:rPr>
              <a:t>VPN</a:t>
            </a:r>
            <a:r>
              <a:rPr lang="zh-CN" altLang="en-US" b="1" dirty="0">
                <a:sym typeface="Huawei Sans" panose="020C0503030203020204" pitchFamily="34" charset="0"/>
              </a:rPr>
              <a:t>方案背景 </a:t>
            </a:r>
            <a:endParaRPr lang="en-US" altLang="zh-CN" b="1" dirty="0"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03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Box 271"/>
          <p:cNvSpPr txBox="1">
            <a:spLocks noChangeArrowheads="1"/>
          </p:cNvSpPr>
          <p:nvPr/>
        </p:nvSpPr>
        <p:spPr bwMode="gray">
          <a:xfrm>
            <a:off x="6858003" y="1901649"/>
            <a:ext cx="930742" cy="8309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FEC: PE1</a:t>
            </a:r>
          </a:p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200" b="1" i="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  <a:p>
            <a:pPr algn="ctr">
              <a:spcBef>
                <a:spcPct val="50000"/>
              </a:spcBef>
            </a:pPr>
            <a:endParaRPr lang="en-US" altLang="zh-CN" sz="12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Text Box 271"/>
          <p:cNvSpPr txBox="1">
            <a:spLocks noChangeArrowheads="1"/>
          </p:cNvSpPr>
          <p:nvPr/>
        </p:nvSpPr>
        <p:spPr bwMode="gray">
          <a:xfrm>
            <a:off x="4351018" y="1901649"/>
            <a:ext cx="930742" cy="83099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FEC: PE1</a:t>
            </a:r>
          </a:p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Label</a:t>
            </a:r>
            <a:r>
              <a:rPr lang="zh-CN" altLang="en-US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200" b="1" i="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  <a:p>
            <a:pPr algn="ctr">
              <a:spcBef>
                <a:spcPct val="50000"/>
              </a:spcBef>
            </a:pPr>
            <a:endParaRPr lang="en-US" altLang="zh-CN" sz="12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圆角矩形 46"/>
          <p:cNvSpPr/>
          <p:nvPr/>
        </p:nvSpPr>
        <p:spPr bwMode="gray">
          <a:xfrm>
            <a:off x="3314868" y="1177866"/>
            <a:ext cx="5635290" cy="148121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域内</a:t>
            </a:r>
            <a:r>
              <a:rPr lang="en-US" altLang="zh-CN" dirty="0">
                <a:sym typeface="Huawei Sans" panose="020C0503030203020204" pitchFamily="34" charset="0"/>
              </a:rPr>
              <a:t>MPLS VPN</a:t>
            </a:r>
            <a:r>
              <a:rPr lang="zh-CN" altLang="en-US" dirty="0">
                <a:sym typeface="Huawei Sans" panose="020C0503030203020204" pitchFamily="34" charset="0"/>
              </a:rPr>
              <a:t>工作原理回顾：路由传递及标签分配</a:t>
            </a:r>
            <a:endParaRPr lang="en-US" dirty="0">
              <a:sym typeface="Huawei Sans" panose="020C0503030203020204" pitchFamily="34" charset="0"/>
            </a:endParaRPr>
          </a:p>
        </p:txBody>
      </p:sp>
      <p:cxnSp>
        <p:nvCxnSpPr>
          <p:cNvPr id="94" name="直接连接符 93"/>
          <p:cNvCxnSpPr>
            <a:stCxn id="98" idx="3"/>
            <a:endCxn id="100" idx="1"/>
          </p:cNvCxnSpPr>
          <p:nvPr/>
        </p:nvCxnSpPr>
        <p:spPr bwMode="gray">
          <a:xfrm>
            <a:off x="4119445" y="1697987"/>
            <a:ext cx="4063429" cy="91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 bwMode="gray">
          <a:xfrm>
            <a:off x="1267043" y="2302179"/>
            <a:ext cx="550687" cy="712575"/>
            <a:chOff x="4073209" y="4947622"/>
            <a:chExt cx="550687" cy="712575"/>
          </a:xfrm>
        </p:grpSpPr>
        <p:pic>
          <p:nvPicPr>
            <p:cNvPr id="9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73209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93" name="文本框 92"/>
            <p:cNvSpPr txBox="1"/>
            <p:nvPr/>
          </p:nvSpPr>
          <p:spPr bwMode="gray">
            <a:xfrm>
              <a:off x="4121835" y="5352420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" name="圆角矩形 40"/>
          <p:cNvSpPr/>
          <p:nvPr/>
        </p:nvSpPr>
        <p:spPr bwMode="gray">
          <a:xfrm>
            <a:off x="1020434" y="2217951"/>
            <a:ext cx="1092530" cy="994971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直接连接符 51"/>
          <p:cNvCxnSpPr>
            <a:stCxn id="92" idx="0"/>
            <a:endCxn id="98" idx="1"/>
          </p:cNvCxnSpPr>
          <p:nvPr/>
        </p:nvCxnSpPr>
        <p:spPr bwMode="gray">
          <a:xfrm flipV="1">
            <a:off x="1537043" y="1697987"/>
            <a:ext cx="2042402" cy="6041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 bwMode="gray">
          <a:xfrm>
            <a:off x="10484588" y="2290828"/>
            <a:ext cx="540000" cy="723926"/>
            <a:chOff x="4073209" y="4947622"/>
            <a:chExt cx="540000" cy="723926"/>
          </a:xfrm>
        </p:grpSpPr>
        <p:pic>
          <p:nvPicPr>
            <p:cNvPr id="8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73209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89" name="文本框 88"/>
            <p:cNvSpPr txBox="1"/>
            <p:nvPr/>
          </p:nvSpPr>
          <p:spPr bwMode="gray">
            <a:xfrm>
              <a:off x="4086262" y="5363771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48" name="直接连接符 47"/>
          <p:cNvCxnSpPr>
            <a:stCxn id="88" idx="0"/>
            <a:endCxn id="100" idx="3"/>
          </p:cNvCxnSpPr>
          <p:nvPr/>
        </p:nvCxnSpPr>
        <p:spPr bwMode="gray">
          <a:xfrm flipH="1" flipV="1">
            <a:off x="8722874" y="1707109"/>
            <a:ext cx="2031714" cy="5837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141"/>
          <p:cNvSpPr/>
          <p:nvPr/>
        </p:nvSpPr>
        <p:spPr bwMode="gray">
          <a:xfrm>
            <a:off x="849066" y="2903492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62" name="圆角矩形 61"/>
          <p:cNvSpPr/>
          <p:nvPr/>
        </p:nvSpPr>
        <p:spPr bwMode="gray">
          <a:xfrm>
            <a:off x="10202058" y="2217951"/>
            <a:ext cx="1092530" cy="994971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Line 260"/>
          <p:cNvSpPr>
            <a:spLocks noChangeShapeType="1"/>
          </p:cNvSpPr>
          <p:nvPr/>
        </p:nvSpPr>
        <p:spPr bwMode="gray">
          <a:xfrm flipH="1">
            <a:off x="3847064" y="2173090"/>
            <a:ext cx="0" cy="158657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Line 260"/>
          <p:cNvSpPr>
            <a:spLocks noChangeShapeType="1"/>
          </p:cNvSpPr>
          <p:nvPr/>
        </p:nvSpPr>
        <p:spPr bwMode="gray">
          <a:xfrm flipH="1">
            <a:off x="8463663" y="2173090"/>
            <a:ext cx="0" cy="155637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5" name="组合 34"/>
          <p:cNvGrpSpPr/>
          <p:nvPr/>
        </p:nvGrpSpPr>
        <p:grpSpPr bwMode="gray">
          <a:xfrm>
            <a:off x="3888565" y="2847755"/>
            <a:ext cx="4562046" cy="307777"/>
            <a:chOff x="3888565" y="3180262"/>
            <a:chExt cx="4562046" cy="307777"/>
          </a:xfrm>
        </p:grpSpPr>
        <p:cxnSp>
          <p:nvCxnSpPr>
            <p:cNvPr id="18" name="直接箭头连接符 17"/>
            <p:cNvCxnSpPr/>
            <p:nvPr/>
          </p:nvCxnSpPr>
          <p:spPr bwMode="gray">
            <a:xfrm>
              <a:off x="3888565" y="3332433"/>
              <a:ext cx="4562046" cy="0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组合 24"/>
            <p:cNvGrpSpPr/>
            <p:nvPr/>
          </p:nvGrpSpPr>
          <p:grpSpPr bwMode="gray">
            <a:xfrm>
              <a:off x="5571723" y="3180262"/>
              <a:ext cx="1143371" cy="307777"/>
              <a:chOff x="5452698" y="2895303"/>
              <a:chExt cx="1143371" cy="307777"/>
            </a:xfrm>
          </p:grpSpPr>
          <p:sp>
            <p:nvSpPr>
              <p:cNvPr id="19" name="文本框 18"/>
              <p:cNvSpPr txBox="1"/>
              <p:nvPr/>
            </p:nvSpPr>
            <p:spPr bwMode="gray">
              <a:xfrm>
                <a:off x="5682036" y="2895303"/>
                <a:ext cx="91403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MP-IBGP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 bwMode="gray">
              <a:xfrm>
                <a:off x="5452698" y="2935673"/>
                <a:ext cx="227036" cy="227036"/>
              </a:xfrm>
              <a:prstGeom prst="ellipse">
                <a:avLst/>
              </a:prstGeom>
              <a:solidFill>
                <a:srgbClr val="56C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75" name="矩形 141"/>
          <p:cNvSpPr/>
          <p:nvPr/>
        </p:nvSpPr>
        <p:spPr bwMode="gray">
          <a:xfrm>
            <a:off x="10652772" y="2903492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76" name="Line 260"/>
          <p:cNvSpPr>
            <a:spLocks noChangeShapeType="1"/>
          </p:cNvSpPr>
          <p:nvPr/>
        </p:nvSpPr>
        <p:spPr bwMode="gray">
          <a:xfrm flipH="1">
            <a:off x="1510174" y="2903492"/>
            <a:ext cx="0" cy="82597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Line 260"/>
          <p:cNvSpPr>
            <a:spLocks noChangeShapeType="1"/>
          </p:cNvSpPr>
          <p:nvPr/>
        </p:nvSpPr>
        <p:spPr bwMode="gray">
          <a:xfrm>
            <a:off x="10806556" y="2903492"/>
            <a:ext cx="0" cy="82597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8" name="直接箭头连接符 77"/>
          <p:cNvCxnSpPr/>
          <p:nvPr/>
        </p:nvCxnSpPr>
        <p:spPr bwMode="gray">
          <a:xfrm>
            <a:off x="1512634" y="3462259"/>
            <a:ext cx="2334430" cy="0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 bwMode="gray">
          <a:xfrm>
            <a:off x="2394877" y="3298261"/>
            <a:ext cx="87395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IGP/BGP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椭圆 79"/>
          <p:cNvSpPr/>
          <p:nvPr/>
        </p:nvSpPr>
        <p:spPr bwMode="gray">
          <a:xfrm>
            <a:off x="2189501" y="3338631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1" name="直接箭头连接符 80"/>
          <p:cNvCxnSpPr/>
          <p:nvPr/>
        </p:nvCxnSpPr>
        <p:spPr bwMode="gray">
          <a:xfrm>
            <a:off x="8472127" y="3462259"/>
            <a:ext cx="2334430" cy="0"/>
          </a:xfrm>
          <a:prstGeom prst="straightConnector1">
            <a:avLst/>
          </a:prstGeom>
          <a:ln w="190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ine 260"/>
          <p:cNvSpPr>
            <a:spLocks noChangeShapeType="1"/>
          </p:cNvSpPr>
          <p:nvPr/>
        </p:nvSpPr>
        <p:spPr bwMode="gray">
          <a:xfrm>
            <a:off x="4119444" y="2173090"/>
            <a:ext cx="0" cy="78519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Line 260"/>
          <p:cNvSpPr>
            <a:spLocks noChangeShapeType="1"/>
          </p:cNvSpPr>
          <p:nvPr/>
        </p:nvSpPr>
        <p:spPr bwMode="gray">
          <a:xfrm>
            <a:off x="5881160" y="2173090"/>
            <a:ext cx="0" cy="78519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Line 260"/>
          <p:cNvSpPr>
            <a:spLocks noChangeShapeType="1"/>
          </p:cNvSpPr>
          <p:nvPr/>
        </p:nvSpPr>
        <p:spPr bwMode="gray">
          <a:xfrm>
            <a:off x="6421158" y="2173090"/>
            <a:ext cx="0" cy="78519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Line 260"/>
          <p:cNvSpPr>
            <a:spLocks noChangeShapeType="1"/>
          </p:cNvSpPr>
          <p:nvPr/>
        </p:nvSpPr>
        <p:spPr bwMode="gray">
          <a:xfrm>
            <a:off x="8182874" y="2173090"/>
            <a:ext cx="0" cy="78519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 bwMode="gray">
          <a:xfrm>
            <a:off x="4114800" y="2437756"/>
            <a:ext cx="1766360" cy="307777"/>
            <a:chOff x="4114800" y="2312403"/>
            <a:chExt cx="1766360" cy="307777"/>
          </a:xfrm>
        </p:grpSpPr>
        <p:cxnSp>
          <p:nvCxnSpPr>
            <p:cNvPr id="91" name="直接箭头连接符 90"/>
            <p:cNvCxnSpPr/>
            <p:nvPr/>
          </p:nvCxnSpPr>
          <p:spPr bwMode="gray">
            <a:xfrm>
              <a:off x="4114800" y="2462045"/>
              <a:ext cx="1766360" cy="8493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/>
            <p:cNvGrpSpPr/>
            <p:nvPr/>
          </p:nvGrpSpPr>
          <p:grpSpPr bwMode="gray">
            <a:xfrm>
              <a:off x="4640204" y="2312403"/>
              <a:ext cx="715553" cy="307777"/>
              <a:chOff x="4692828" y="2312403"/>
              <a:chExt cx="715553" cy="307777"/>
            </a:xfrm>
          </p:grpSpPr>
          <p:sp>
            <p:nvSpPr>
              <p:cNvPr id="104" name="文本框 103"/>
              <p:cNvSpPr txBox="1"/>
              <p:nvPr/>
            </p:nvSpPr>
            <p:spPr bwMode="gray">
              <a:xfrm>
                <a:off x="4899907" y="2312403"/>
                <a:ext cx="50847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LDP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 bwMode="gray">
              <a:xfrm>
                <a:off x="4692828" y="2352773"/>
                <a:ext cx="227036" cy="227036"/>
              </a:xfrm>
              <a:prstGeom prst="ellipse">
                <a:avLst/>
              </a:prstGeom>
              <a:solidFill>
                <a:srgbClr val="56C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4</a:t>
                </a:r>
                <a:endPara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106" name="文本框 105"/>
          <p:cNvSpPr txBox="1"/>
          <p:nvPr/>
        </p:nvSpPr>
        <p:spPr bwMode="gray">
          <a:xfrm>
            <a:off x="9486117" y="3298261"/>
            <a:ext cx="87395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IGP/BGP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椭圆 106"/>
          <p:cNvSpPr/>
          <p:nvPr/>
        </p:nvSpPr>
        <p:spPr bwMode="gray">
          <a:xfrm>
            <a:off x="9280741" y="3338631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8" name="组合 107"/>
          <p:cNvGrpSpPr/>
          <p:nvPr/>
        </p:nvGrpSpPr>
        <p:grpSpPr bwMode="gray">
          <a:xfrm>
            <a:off x="6393865" y="2437756"/>
            <a:ext cx="1766360" cy="307777"/>
            <a:chOff x="4114800" y="2312403"/>
            <a:chExt cx="1766360" cy="307777"/>
          </a:xfrm>
        </p:grpSpPr>
        <p:cxnSp>
          <p:nvCxnSpPr>
            <p:cNvPr id="109" name="直接箭头连接符 108"/>
            <p:cNvCxnSpPr/>
            <p:nvPr/>
          </p:nvCxnSpPr>
          <p:spPr bwMode="gray">
            <a:xfrm>
              <a:off x="4114800" y="2462045"/>
              <a:ext cx="1766360" cy="8493"/>
            </a:xfrm>
            <a:prstGeom prst="straightConnector1">
              <a:avLst/>
            </a:prstGeom>
            <a:ln w="19050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0" name="组合 109"/>
            <p:cNvGrpSpPr/>
            <p:nvPr/>
          </p:nvGrpSpPr>
          <p:grpSpPr bwMode="gray">
            <a:xfrm>
              <a:off x="4640204" y="2312403"/>
              <a:ext cx="715553" cy="307777"/>
              <a:chOff x="4692828" y="2312403"/>
              <a:chExt cx="715553" cy="307777"/>
            </a:xfrm>
          </p:grpSpPr>
          <p:sp>
            <p:nvSpPr>
              <p:cNvPr id="111" name="文本框 110"/>
              <p:cNvSpPr txBox="1"/>
              <p:nvPr/>
            </p:nvSpPr>
            <p:spPr bwMode="gray">
              <a:xfrm>
                <a:off x="4899907" y="2312403"/>
                <a:ext cx="50847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LDP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 bwMode="gray">
              <a:xfrm>
                <a:off x="4692828" y="2352773"/>
                <a:ext cx="227036" cy="227036"/>
              </a:xfrm>
              <a:prstGeom prst="ellipse">
                <a:avLst/>
              </a:prstGeom>
              <a:solidFill>
                <a:srgbClr val="56C4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bg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4</a:t>
                </a:r>
                <a:endParaRPr lang="zh-CN" altLang="en-US" sz="1400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113" name="矩形 141"/>
          <p:cNvSpPr/>
          <p:nvPr/>
        </p:nvSpPr>
        <p:spPr bwMode="gray">
          <a:xfrm>
            <a:off x="5545384" y="1229460"/>
            <a:ext cx="1211550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Text Box 286"/>
          <p:cNvSpPr txBox="1">
            <a:spLocks noChangeArrowheads="1"/>
          </p:cNvSpPr>
          <p:nvPr/>
        </p:nvSpPr>
        <p:spPr bwMode="gray">
          <a:xfrm>
            <a:off x="2234351" y="2784507"/>
            <a:ext cx="1058862" cy="2762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IPv4: Net1</a:t>
            </a:r>
          </a:p>
        </p:txBody>
      </p:sp>
      <p:sp>
        <p:nvSpPr>
          <p:cNvPr id="118" name="Text Box 287"/>
          <p:cNvSpPr txBox="1">
            <a:spLocks noChangeArrowheads="1"/>
          </p:cNvSpPr>
          <p:nvPr/>
        </p:nvSpPr>
        <p:spPr bwMode="gray">
          <a:xfrm>
            <a:off x="2234351" y="2978182"/>
            <a:ext cx="963612" cy="2746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NH: CE1</a:t>
            </a:r>
          </a:p>
        </p:txBody>
      </p:sp>
      <p:grpSp>
        <p:nvGrpSpPr>
          <p:cNvPr id="56" name="组合 55"/>
          <p:cNvGrpSpPr/>
          <p:nvPr/>
        </p:nvGrpSpPr>
        <p:grpSpPr bwMode="gray">
          <a:xfrm>
            <a:off x="5616774" y="3162735"/>
            <a:ext cx="1735921" cy="620713"/>
            <a:chOff x="5579527" y="3523190"/>
            <a:chExt cx="1735921" cy="620713"/>
          </a:xfrm>
        </p:grpSpPr>
        <p:sp>
          <p:nvSpPr>
            <p:cNvPr id="119" name="Text Box 281"/>
            <p:cNvSpPr txBox="1">
              <a:spLocks noChangeArrowheads="1"/>
            </p:cNvSpPr>
            <p:nvPr/>
          </p:nvSpPr>
          <p:spPr bwMode="gray">
            <a:xfrm>
              <a:off x="5579527" y="3523190"/>
              <a:ext cx="1735921" cy="2063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20" name="Rectangle 282"/>
            <p:cNvSpPr>
              <a:spLocks noChangeArrowheads="1"/>
            </p:cNvSpPr>
            <p:nvPr/>
          </p:nvSpPr>
          <p:spPr bwMode="gray">
            <a:xfrm>
              <a:off x="5579527" y="3674003"/>
              <a:ext cx="1444724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PE1</a:t>
              </a:r>
            </a:p>
          </p:txBody>
        </p:sp>
        <p:sp>
          <p:nvSpPr>
            <p:cNvPr id="121" name="Rectangle 283"/>
            <p:cNvSpPr>
              <a:spLocks noChangeArrowheads="1"/>
            </p:cNvSpPr>
            <p:nvPr/>
          </p:nvSpPr>
          <p:spPr bwMode="gray">
            <a:xfrm>
              <a:off x="5579527" y="3869265"/>
              <a:ext cx="1444724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</a:t>
              </a:r>
              <a:r>
                <a:rPr lang="en-US" altLang="zh-CN" sz="1200" b="1" i="0" dirty="0">
                  <a:solidFill>
                    <a:srgbClr val="62B23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</a:p>
          </p:txBody>
        </p:sp>
      </p:grpSp>
      <p:sp>
        <p:nvSpPr>
          <p:cNvPr id="122" name="Text Box 313"/>
          <p:cNvSpPr txBox="1">
            <a:spLocks noChangeArrowheads="1"/>
          </p:cNvSpPr>
          <p:nvPr/>
        </p:nvSpPr>
        <p:spPr bwMode="gray">
          <a:xfrm>
            <a:off x="9084803" y="2811812"/>
            <a:ext cx="1033462" cy="2762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IPv4: Net1</a:t>
            </a:r>
          </a:p>
        </p:txBody>
      </p:sp>
      <p:sp>
        <p:nvSpPr>
          <p:cNvPr id="123" name="Text Box 314"/>
          <p:cNvSpPr txBox="1">
            <a:spLocks noChangeArrowheads="1"/>
          </p:cNvSpPr>
          <p:nvPr/>
        </p:nvSpPr>
        <p:spPr bwMode="gray">
          <a:xfrm>
            <a:off x="9084803" y="3005487"/>
            <a:ext cx="963612" cy="2746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NH: PE2</a:t>
            </a:r>
          </a:p>
        </p:txBody>
      </p:sp>
      <p:sp>
        <p:nvSpPr>
          <p:cNvPr id="124" name="Text Box 162"/>
          <p:cNvSpPr txBox="1">
            <a:spLocks noChangeArrowheads="1"/>
          </p:cNvSpPr>
          <p:nvPr/>
        </p:nvSpPr>
        <p:spPr bwMode="gray">
          <a:xfrm>
            <a:off x="2116879" y="2485418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25" name="Line 278"/>
          <p:cNvSpPr>
            <a:spLocks noChangeShapeType="1"/>
          </p:cNvSpPr>
          <p:nvPr/>
        </p:nvSpPr>
        <p:spPr bwMode="gray">
          <a:xfrm>
            <a:off x="2254991" y="2763231"/>
            <a:ext cx="889000" cy="0"/>
          </a:xfrm>
          <a:prstGeom prst="line">
            <a:avLst/>
          </a:prstGeom>
          <a:noFill/>
          <a:ln w="28575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6" name="组合 35"/>
          <p:cNvGrpSpPr/>
          <p:nvPr/>
        </p:nvGrpSpPr>
        <p:grpSpPr bwMode="gray">
          <a:xfrm>
            <a:off x="4081551" y="3233334"/>
            <a:ext cx="1382713" cy="276999"/>
            <a:chOff x="5515309" y="3242614"/>
            <a:chExt cx="1382713" cy="276999"/>
          </a:xfrm>
        </p:grpSpPr>
        <p:sp>
          <p:nvSpPr>
            <p:cNvPr id="126" name="Text Box 304"/>
            <p:cNvSpPr txBox="1">
              <a:spLocks noChangeArrowheads="1"/>
            </p:cNvSpPr>
            <p:nvPr/>
          </p:nvSpPr>
          <p:spPr bwMode="gray">
            <a:xfrm>
              <a:off x="5515309" y="3242614"/>
              <a:ext cx="1382713" cy="2769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 Routing</a:t>
              </a:r>
            </a:p>
          </p:txBody>
        </p:sp>
        <p:sp>
          <p:nvSpPr>
            <p:cNvPr id="127" name="Line 278"/>
            <p:cNvSpPr>
              <a:spLocks noChangeShapeType="1"/>
            </p:cNvSpPr>
            <p:nvPr/>
          </p:nvSpPr>
          <p:spPr bwMode="gray">
            <a:xfrm>
              <a:off x="5762165" y="3487800"/>
              <a:ext cx="889000" cy="0"/>
            </a:xfrm>
            <a:prstGeom prst="line">
              <a:avLst/>
            </a:prstGeom>
            <a:noFill/>
            <a:ln w="28575" cap="rnd">
              <a:solidFill>
                <a:srgbClr val="62B230"/>
              </a:solidFill>
              <a:prstDash val="sysDot"/>
              <a:round/>
              <a:headEnd/>
              <a:tailEnd type="stealth" w="med" len="med"/>
            </a:ln>
            <a:effectLst/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28" name="Text Box 162"/>
          <p:cNvSpPr txBox="1">
            <a:spLocks noChangeArrowheads="1"/>
          </p:cNvSpPr>
          <p:nvPr/>
        </p:nvSpPr>
        <p:spPr bwMode="gray">
          <a:xfrm>
            <a:off x="8921169" y="2485418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29" name="Line 278"/>
          <p:cNvSpPr>
            <a:spLocks noChangeShapeType="1"/>
          </p:cNvSpPr>
          <p:nvPr/>
        </p:nvSpPr>
        <p:spPr bwMode="gray">
          <a:xfrm>
            <a:off x="9059281" y="2763231"/>
            <a:ext cx="889000" cy="0"/>
          </a:xfrm>
          <a:prstGeom prst="line">
            <a:avLst/>
          </a:prstGeom>
          <a:noFill/>
          <a:ln w="28575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444500" y="1521080"/>
            <a:ext cx="2395562" cy="307777"/>
          </a:xfrm>
          <a:prstGeom prst="rect">
            <a:avLst/>
          </a:prstGeom>
          <a:solidFill>
            <a:srgbClr val="F6B78C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路由传递给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</a:t>
            </a:r>
          </a:p>
        </p:txBody>
      </p:sp>
      <p:sp>
        <p:nvSpPr>
          <p:cNvPr id="131" name="文本占位符 29"/>
          <p:cNvSpPr txBox="1">
            <a:spLocks/>
          </p:cNvSpPr>
          <p:nvPr/>
        </p:nvSpPr>
        <p:spPr bwMode="gray">
          <a:xfrm>
            <a:off x="438829" y="3766872"/>
            <a:ext cx="11293475" cy="139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CE1</a:t>
            </a:r>
            <a:r>
              <a:rPr lang="zh-CN" altLang="en-US" sz="1600" dirty="0"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之间运行</a:t>
            </a:r>
            <a:r>
              <a:rPr lang="en-US" altLang="zh-CN" sz="1600" dirty="0">
                <a:sym typeface="Huawei Sans" panose="020C0503030203020204" pitchFamily="34" charset="0"/>
              </a:rPr>
              <a:t>IGP/BGP</a:t>
            </a:r>
            <a:r>
              <a:rPr lang="zh-CN" altLang="en-US" sz="1600" dirty="0">
                <a:sym typeface="Huawei Sans" panose="020C0503030203020204" pitchFamily="34" charset="0"/>
              </a:rPr>
              <a:t>交互路由信息（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路由）。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收到</a:t>
            </a:r>
            <a:r>
              <a:rPr lang="en-US" altLang="zh-CN" sz="1600" dirty="0">
                <a:sym typeface="Huawei Sans" panose="020C0503030203020204" pitchFamily="34" charset="0"/>
              </a:rPr>
              <a:t>CE1</a:t>
            </a:r>
            <a:r>
              <a:rPr lang="zh-CN" altLang="en-US" sz="1600" dirty="0">
                <a:sym typeface="Huawei Sans" panose="020C0503030203020204" pitchFamily="34" charset="0"/>
              </a:rPr>
              <a:t>的路由后，将其转化为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路由，并通过</a:t>
            </a:r>
            <a:r>
              <a:rPr lang="en-US" altLang="zh-CN" sz="1600" dirty="0">
                <a:sym typeface="Huawei Sans" panose="020C0503030203020204" pitchFamily="34" charset="0"/>
              </a:rPr>
              <a:t>MP-IBGP</a:t>
            </a:r>
            <a:r>
              <a:rPr lang="zh-CN" altLang="en-US" sz="1600" dirty="0">
                <a:sym typeface="Huawei Sans" panose="020C0503030203020204" pitchFamily="34" charset="0"/>
              </a:rPr>
              <a:t>发送给</a:t>
            </a: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，同时分配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标签</a:t>
            </a:r>
            <a:r>
              <a:rPr lang="en-US" altLang="zh-CN" sz="1600" b="1" dirty="0">
                <a:solidFill>
                  <a:srgbClr val="62B230"/>
                </a:solidFill>
                <a:sym typeface="Huawei Sans" panose="020C0503030203020204" pitchFamily="34" charset="0"/>
              </a:rPr>
              <a:t>V1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收到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路由后，将其转化为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路由，并通过</a:t>
            </a:r>
            <a:r>
              <a:rPr lang="en-US" altLang="zh-CN" sz="1600" dirty="0">
                <a:sym typeface="Huawei Sans" panose="020C0503030203020204" pitchFamily="34" charset="0"/>
              </a:rPr>
              <a:t>IGP/BGP</a:t>
            </a:r>
            <a:r>
              <a:rPr lang="zh-CN" altLang="en-US" sz="1600" dirty="0">
                <a:sym typeface="Huawei Sans" panose="020C0503030203020204" pitchFamily="34" charset="0"/>
              </a:rPr>
              <a:t>发送给</a:t>
            </a:r>
            <a:r>
              <a:rPr lang="en-US" altLang="zh-CN" sz="1600" dirty="0"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骨干网内部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及</a:t>
            </a:r>
            <a:r>
              <a:rPr lang="en-US" altLang="zh-CN" sz="1600" dirty="0">
                <a:sym typeface="Huawei Sans" panose="020C0503030203020204" pitchFamily="34" charset="0"/>
              </a:rPr>
              <a:t>P</a:t>
            </a:r>
            <a:r>
              <a:rPr lang="zh-CN" altLang="en-US" sz="1600" dirty="0">
                <a:sym typeface="Huawei Sans" panose="020C0503030203020204" pitchFamily="34" charset="0"/>
              </a:rPr>
              <a:t>设备之间运行</a:t>
            </a:r>
            <a:r>
              <a:rPr lang="en-US" altLang="zh-CN" sz="1600" dirty="0"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sym typeface="Huawei Sans" panose="020C0503030203020204" pitchFamily="34" charset="0"/>
              </a:rPr>
              <a:t>协议，用于分配隧道标签。假设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P</a:t>
            </a:r>
            <a:r>
              <a:rPr lang="zh-CN" altLang="en-US" sz="1600" dirty="0">
                <a:sym typeface="Huawei Sans" panose="020C0503030203020204" pitchFamily="34" charset="0"/>
              </a:rPr>
              <a:t>为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分配的标签分别为</a:t>
            </a:r>
            <a:r>
              <a:rPr lang="en-US" altLang="zh-CN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T1</a:t>
            </a:r>
            <a:r>
              <a:rPr lang="zh-CN" altLang="en-US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、</a:t>
            </a:r>
            <a:r>
              <a:rPr lang="en-US" altLang="zh-CN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T2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32" name="文本框 131"/>
          <p:cNvSpPr txBox="1"/>
          <p:nvPr/>
        </p:nvSpPr>
        <p:spPr bwMode="gray">
          <a:xfrm>
            <a:off x="4135655" y="5609044"/>
            <a:ext cx="3933389" cy="584775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只有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感知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路由信息，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设备不感知。</a:t>
            </a:r>
            <a:endParaRPr lang="en-US" altLang="zh-CN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骨干网采用</a:t>
            </a:r>
            <a:r>
              <a:rPr lang="en-US" altLang="zh-CN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隧道转发避免路由黑洞。</a:t>
            </a:r>
          </a:p>
        </p:txBody>
      </p:sp>
      <p:grpSp>
        <p:nvGrpSpPr>
          <p:cNvPr id="133" name="组合 132"/>
          <p:cNvGrpSpPr/>
          <p:nvPr/>
        </p:nvGrpSpPr>
        <p:grpSpPr bwMode="gray">
          <a:xfrm>
            <a:off x="5881160" y="1477078"/>
            <a:ext cx="540000" cy="723926"/>
            <a:chOff x="5881160" y="1477078"/>
            <a:chExt cx="540000" cy="723926"/>
          </a:xfrm>
        </p:grpSpPr>
        <p:pic>
          <p:nvPicPr>
            <p:cNvPr id="134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881160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35" name="文本框 134"/>
            <p:cNvSpPr txBox="1"/>
            <p:nvPr/>
          </p:nvSpPr>
          <p:spPr bwMode="gray">
            <a:xfrm>
              <a:off x="6005126" y="1893227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 bwMode="gray">
          <a:xfrm>
            <a:off x="8182874" y="1477078"/>
            <a:ext cx="540000" cy="723926"/>
            <a:chOff x="8182874" y="1477078"/>
            <a:chExt cx="540000" cy="723926"/>
          </a:xfrm>
        </p:grpSpPr>
        <p:pic>
          <p:nvPicPr>
            <p:cNvPr id="137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8182874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38" name="文本框 137"/>
            <p:cNvSpPr txBox="1"/>
            <p:nvPr/>
          </p:nvSpPr>
          <p:spPr bwMode="gray">
            <a:xfrm>
              <a:off x="8205042" y="1893227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 bwMode="gray">
          <a:xfrm>
            <a:off x="3579445" y="1477078"/>
            <a:ext cx="540000" cy="723926"/>
            <a:chOff x="3579445" y="1477078"/>
            <a:chExt cx="540000" cy="723926"/>
          </a:xfrm>
        </p:grpSpPr>
        <p:pic>
          <p:nvPicPr>
            <p:cNvPr id="140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579445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41" name="文本框 140"/>
            <p:cNvSpPr txBox="1"/>
            <p:nvPr/>
          </p:nvSpPr>
          <p:spPr bwMode="gray">
            <a:xfrm>
              <a:off x="3600819" y="1893227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7183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ine 260"/>
          <p:cNvSpPr>
            <a:spLocks noChangeShapeType="1"/>
          </p:cNvSpPr>
          <p:nvPr/>
        </p:nvSpPr>
        <p:spPr bwMode="gray">
          <a:xfrm flipH="1">
            <a:off x="3847064" y="2173090"/>
            <a:ext cx="0" cy="1539986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Line 260"/>
          <p:cNvSpPr>
            <a:spLocks noChangeShapeType="1"/>
          </p:cNvSpPr>
          <p:nvPr/>
        </p:nvSpPr>
        <p:spPr bwMode="gray">
          <a:xfrm>
            <a:off x="8463663" y="2173090"/>
            <a:ext cx="0" cy="1543248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6" name="Line 260"/>
          <p:cNvSpPr>
            <a:spLocks noChangeShapeType="1"/>
          </p:cNvSpPr>
          <p:nvPr/>
        </p:nvSpPr>
        <p:spPr bwMode="gray">
          <a:xfrm flipH="1">
            <a:off x="1504171" y="2903491"/>
            <a:ext cx="6001" cy="90251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Line 260"/>
          <p:cNvSpPr>
            <a:spLocks noChangeShapeType="1"/>
          </p:cNvSpPr>
          <p:nvPr/>
        </p:nvSpPr>
        <p:spPr bwMode="gray">
          <a:xfrm>
            <a:off x="10806556" y="2903492"/>
            <a:ext cx="0" cy="851388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5" name="Line 260"/>
          <p:cNvSpPr>
            <a:spLocks noChangeShapeType="1"/>
          </p:cNvSpPr>
          <p:nvPr/>
        </p:nvSpPr>
        <p:spPr bwMode="gray">
          <a:xfrm flipH="1">
            <a:off x="4119445" y="1987615"/>
            <a:ext cx="0" cy="1539986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Line 260"/>
          <p:cNvSpPr>
            <a:spLocks noChangeShapeType="1"/>
          </p:cNvSpPr>
          <p:nvPr/>
        </p:nvSpPr>
        <p:spPr bwMode="gray">
          <a:xfrm flipH="1">
            <a:off x="8175431" y="1987615"/>
            <a:ext cx="0" cy="1659424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圆角矩形 46"/>
          <p:cNvSpPr/>
          <p:nvPr/>
        </p:nvSpPr>
        <p:spPr bwMode="gray">
          <a:xfrm>
            <a:off x="3314868" y="1177866"/>
            <a:ext cx="5635290" cy="148121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域内</a:t>
            </a:r>
            <a:r>
              <a:rPr lang="en-US" altLang="zh-CN" dirty="0">
                <a:sym typeface="Huawei Sans" panose="020C0503030203020204" pitchFamily="34" charset="0"/>
              </a:rPr>
              <a:t>MPLS VPN</a:t>
            </a:r>
            <a:r>
              <a:rPr lang="zh-CN" altLang="en-US" dirty="0">
                <a:sym typeface="Huawei Sans" panose="020C0503030203020204" pitchFamily="34" charset="0"/>
              </a:rPr>
              <a:t>工作原理回顾：数据转发</a:t>
            </a:r>
            <a:endParaRPr lang="en-US" dirty="0">
              <a:sym typeface="Huawei Sans" panose="020C0503030203020204" pitchFamily="34" charset="0"/>
            </a:endParaRPr>
          </a:p>
        </p:txBody>
      </p:sp>
      <p:cxnSp>
        <p:nvCxnSpPr>
          <p:cNvPr id="94" name="直接连接符 93"/>
          <p:cNvCxnSpPr>
            <a:stCxn id="98" idx="3"/>
            <a:endCxn id="100" idx="1"/>
          </p:cNvCxnSpPr>
          <p:nvPr/>
        </p:nvCxnSpPr>
        <p:spPr bwMode="gray">
          <a:xfrm>
            <a:off x="4119445" y="1697987"/>
            <a:ext cx="406342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 bwMode="gray">
          <a:xfrm>
            <a:off x="5881160" y="1477078"/>
            <a:ext cx="540000" cy="723926"/>
            <a:chOff x="5881160" y="1477078"/>
            <a:chExt cx="540000" cy="723926"/>
          </a:xfrm>
        </p:grpSpPr>
        <p:pic>
          <p:nvPicPr>
            <p:cNvPr id="10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881160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03" name="文本框 102"/>
            <p:cNvSpPr txBox="1"/>
            <p:nvPr/>
          </p:nvSpPr>
          <p:spPr bwMode="gray">
            <a:xfrm>
              <a:off x="6005126" y="1893227"/>
              <a:ext cx="2920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gray">
          <a:xfrm>
            <a:off x="8182874" y="1477078"/>
            <a:ext cx="540000" cy="723926"/>
            <a:chOff x="8182874" y="1477078"/>
            <a:chExt cx="540000" cy="723926"/>
          </a:xfrm>
        </p:grpSpPr>
        <p:pic>
          <p:nvPicPr>
            <p:cNvPr id="100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8182874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101" name="文本框 100"/>
            <p:cNvSpPr txBox="1"/>
            <p:nvPr/>
          </p:nvSpPr>
          <p:spPr bwMode="gray">
            <a:xfrm>
              <a:off x="8205042" y="1893227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 bwMode="gray">
          <a:xfrm>
            <a:off x="3579445" y="1477078"/>
            <a:ext cx="540000" cy="723926"/>
            <a:chOff x="3579445" y="1477078"/>
            <a:chExt cx="540000" cy="723926"/>
          </a:xfrm>
        </p:grpSpPr>
        <p:pic>
          <p:nvPicPr>
            <p:cNvPr id="9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579445" y="1477078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99" name="文本框 98"/>
            <p:cNvSpPr txBox="1"/>
            <p:nvPr/>
          </p:nvSpPr>
          <p:spPr bwMode="gray">
            <a:xfrm>
              <a:off x="3600819" y="1893227"/>
              <a:ext cx="4972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 bwMode="gray">
          <a:xfrm>
            <a:off x="1267043" y="2302179"/>
            <a:ext cx="550687" cy="712575"/>
            <a:chOff x="4073209" y="4947622"/>
            <a:chExt cx="550687" cy="712575"/>
          </a:xfrm>
        </p:grpSpPr>
        <p:pic>
          <p:nvPicPr>
            <p:cNvPr id="92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73209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93" name="文本框 92"/>
            <p:cNvSpPr txBox="1"/>
            <p:nvPr/>
          </p:nvSpPr>
          <p:spPr bwMode="gray">
            <a:xfrm>
              <a:off x="4121835" y="5352420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" name="圆角矩形 40"/>
          <p:cNvSpPr/>
          <p:nvPr/>
        </p:nvSpPr>
        <p:spPr bwMode="gray">
          <a:xfrm>
            <a:off x="1020434" y="2217951"/>
            <a:ext cx="1092530" cy="994971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直接连接符 51"/>
          <p:cNvCxnSpPr>
            <a:stCxn id="92" idx="0"/>
            <a:endCxn id="98" idx="1"/>
          </p:cNvCxnSpPr>
          <p:nvPr/>
        </p:nvCxnSpPr>
        <p:spPr bwMode="gray">
          <a:xfrm flipV="1">
            <a:off x="1537043" y="1697987"/>
            <a:ext cx="2042402" cy="6041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 bwMode="gray">
          <a:xfrm>
            <a:off x="10484588" y="2290828"/>
            <a:ext cx="540000" cy="723926"/>
            <a:chOff x="4073209" y="4947622"/>
            <a:chExt cx="540000" cy="723926"/>
          </a:xfrm>
        </p:grpSpPr>
        <p:pic>
          <p:nvPicPr>
            <p:cNvPr id="88" name="Picture 12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073209" y="4947622"/>
              <a:ext cx="540000" cy="441818"/>
            </a:xfrm>
            <a:prstGeom prst="rect">
              <a:avLst/>
            </a:prstGeom>
            <a:noFill/>
          </p:spPr>
        </p:pic>
        <p:sp>
          <p:nvSpPr>
            <p:cNvPr id="89" name="文本框 88"/>
            <p:cNvSpPr txBox="1"/>
            <p:nvPr/>
          </p:nvSpPr>
          <p:spPr bwMode="gray">
            <a:xfrm>
              <a:off x="4086262" y="5363771"/>
              <a:ext cx="5020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48" name="直接连接符 47"/>
          <p:cNvCxnSpPr>
            <a:stCxn id="88" idx="0"/>
            <a:endCxn id="100" idx="3"/>
          </p:cNvCxnSpPr>
          <p:nvPr/>
        </p:nvCxnSpPr>
        <p:spPr bwMode="gray">
          <a:xfrm flipH="1" flipV="1">
            <a:off x="8722874" y="1697987"/>
            <a:ext cx="2031714" cy="5928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141"/>
          <p:cNvSpPr/>
          <p:nvPr/>
        </p:nvSpPr>
        <p:spPr bwMode="gray">
          <a:xfrm>
            <a:off x="849066" y="2903492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62" name="圆角矩形 61"/>
          <p:cNvSpPr/>
          <p:nvPr/>
        </p:nvSpPr>
        <p:spPr bwMode="gray">
          <a:xfrm>
            <a:off x="10202058" y="2217951"/>
            <a:ext cx="1092530" cy="994971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矩形 141"/>
          <p:cNvSpPr/>
          <p:nvPr/>
        </p:nvSpPr>
        <p:spPr bwMode="gray">
          <a:xfrm>
            <a:off x="10652772" y="2903492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13" name="矩形 141"/>
          <p:cNvSpPr/>
          <p:nvPr/>
        </p:nvSpPr>
        <p:spPr bwMode="gray">
          <a:xfrm>
            <a:off x="5545384" y="1229460"/>
            <a:ext cx="1211550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骨干网</a:t>
            </a:r>
            <a:endParaRPr lang="en-US" altLang="zh-CN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9084803" y="1182849"/>
            <a:ext cx="2658181" cy="307777"/>
          </a:xfrm>
          <a:prstGeom prst="rect">
            <a:avLst/>
          </a:prstGeom>
          <a:solidFill>
            <a:srgbClr val="F6B78C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发送数据包给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为例。</a:t>
            </a:r>
          </a:p>
        </p:txBody>
      </p:sp>
      <p:sp>
        <p:nvSpPr>
          <p:cNvPr id="83" name="文本占位符 29"/>
          <p:cNvSpPr txBox="1">
            <a:spLocks/>
          </p:cNvSpPr>
          <p:nvPr/>
        </p:nvSpPr>
        <p:spPr bwMode="gray">
          <a:xfrm>
            <a:off x="442372" y="4244162"/>
            <a:ext cx="11293475" cy="139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CE2</a:t>
            </a:r>
            <a:r>
              <a:rPr lang="zh-CN" altLang="en-US" sz="1600" dirty="0">
                <a:sym typeface="Huawei Sans" panose="020C0503030203020204" pitchFamily="34" charset="0"/>
              </a:rPr>
              <a:t>发送一个目的地址为</a:t>
            </a:r>
            <a:r>
              <a:rPr lang="en-US" altLang="zh-CN" sz="1600" dirty="0">
                <a:sym typeface="Huawei Sans" panose="020C0503030203020204" pitchFamily="34" charset="0"/>
              </a:rPr>
              <a:t>Net1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报文。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PE2</a:t>
            </a:r>
            <a:r>
              <a:rPr lang="zh-CN" altLang="en-US" sz="1600" dirty="0">
                <a:sym typeface="Huawei Sans" panose="020C0503030203020204" pitchFamily="34" charset="0"/>
              </a:rPr>
              <a:t>收到报文后进行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标签的封装，先封装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标签</a:t>
            </a:r>
            <a:r>
              <a:rPr lang="en-US" altLang="zh-CN" sz="1600" b="1" dirty="0">
                <a:solidFill>
                  <a:srgbClr val="62B230"/>
                </a:solidFill>
                <a:sym typeface="Huawei Sans" panose="020C0503030203020204" pitchFamily="34" charset="0"/>
              </a:rPr>
              <a:t>V1</a:t>
            </a:r>
            <a:r>
              <a:rPr lang="zh-CN" altLang="en-US" sz="1600" dirty="0">
                <a:sym typeface="Huawei Sans" panose="020C0503030203020204" pitchFamily="34" charset="0"/>
              </a:rPr>
              <a:t>，再封装外层标签</a:t>
            </a:r>
            <a:r>
              <a:rPr lang="en-US" altLang="zh-CN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T2</a:t>
            </a:r>
            <a:r>
              <a:rPr lang="zh-CN" altLang="en-US" sz="16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600" dirty="0">
                <a:sym typeface="Huawei Sans" panose="020C0503030203020204" pitchFamily="34" charset="0"/>
              </a:rPr>
              <a:t>P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P</a:t>
            </a:r>
            <a:r>
              <a:rPr lang="zh-CN" altLang="en-US" sz="1600" dirty="0">
                <a:sym typeface="Huawei Sans" panose="020C0503030203020204" pitchFamily="34" charset="0"/>
              </a:rPr>
              <a:t>进行标签交换，把外层标签</a:t>
            </a:r>
            <a:r>
              <a:rPr lang="en-US" altLang="zh-CN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T2</a:t>
            </a:r>
            <a:r>
              <a:rPr lang="zh-CN" altLang="en-US" sz="1600" dirty="0">
                <a:sym typeface="Huawei Sans" panose="020C0503030203020204" pitchFamily="34" charset="0"/>
              </a:rPr>
              <a:t>换成</a:t>
            </a:r>
            <a:r>
              <a:rPr lang="en-US" altLang="zh-CN" sz="1600" b="1" dirty="0">
                <a:solidFill>
                  <a:srgbClr val="30B5C5"/>
                </a:solidFill>
                <a:sym typeface="Huawei Sans" panose="020C0503030203020204" pitchFamily="34" charset="0"/>
              </a:rPr>
              <a:t>T1</a:t>
            </a:r>
            <a:r>
              <a:rPr lang="zh-CN" altLang="en-US" sz="16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收到后去掉所有标签，将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报文转发给</a:t>
            </a:r>
            <a:r>
              <a:rPr lang="en-US" altLang="zh-CN" sz="1600" dirty="0">
                <a:sym typeface="Huawei Sans" panose="020C0503030203020204" pitchFamily="34" charset="0"/>
              </a:rPr>
              <a:t>CE1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buSzPct val="100000"/>
              <a:buFont typeface="+mj-lt"/>
              <a:buAutoNum type="arabicPeriod"/>
            </a:pPr>
            <a:endParaRPr lang="zh-CN" altLang="en-US" sz="1600" dirty="0"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8921169" y="2093539"/>
            <a:ext cx="1214437" cy="629744"/>
            <a:chOff x="8921169" y="2485418"/>
            <a:chExt cx="1214437" cy="629744"/>
          </a:xfrm>
        </p:grpSpPr>
        <p:sp>
          <p:nvSpPr>
            <p:cNvPr id="128" name="Text Box 162"/>
            <p:cNvSpPr txBox="1">
              <a:spLocks noChangeArrowheads="1"/>
            </p:cNvSpPr>
            <p:nvPr/>
          </p:nvSpPr>
          <p:spPr bwMode="gray">
            <a:xfrm>
              <a:off x="8921169" y="2485418"/>
              <a:ext cx="1214437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</a:p>
          </p:txBody>
        </p:sp>
        <p:sp>
          <p:nvSpPr>
            <p:cNvPr id="129" name="Line 278"/>
            <p:cNvSpPr>
              <a:spLocks noChangeShapeType="1"/>
            </p:cNvSpPr>
            <p:nvPr/>
          </p:nvSpPr>
          <p:spPr bwMode="gray">
            <a:xfrm>
              <a:off x="9059281" y="2763231"/>
              <a:ext cx="889000" cy="0"/>
            </a:xfrm>
            <a:prstGeom prst="line">
              <a:avLst/>
            </a:prstGeom>
            <a:noFill/>
            <a:ln w="28575" cap="rnd">
              <a:solidFill>
                <a:srgbClr val="62B230"/>
              </a:solidFill>
              <a:prstDash val="sysDot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5" name="Rectangle 272"/>
            <p:cNvSpPr>
              <a:spLocks noChangeArrowheads="1"/>
            </p:cNvSpPr>
            <p:nvPr/>
          </p:nvSpPr>
          <p:spPr bwMode="gray">
            <a:xfrm>
              <a:off x="9133893" y="2897088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</p:grpSp>
      <p:grpSp>
        <p:nvGrpSpPr>
          <p:cNvPr id="4" name="组合 3"/>
          <p:cNvGrpSpPr/>
          <p:nvPr/>
        </p:nvGrpSpPr>
        <p:grpSpPr bwMode="gray">
          <a:xfrm>
            <a:off x="6874236" y="2093539"/>
            <a:ext cx="1214437" cy="1042183"/>
            <a:chOff x="7135117" y="2485418"/>
            <a:chExt cx="1214437" cy="1042183"/>
          </a:xfrm>
        </p:grpSpPr>
        <p:sp>
          <p:nvSpPr>
            <p:cNvPr id="116" name="Rectangle 272"/>
            <p:cNvSpPr>
              <a:spLocks noChangeArrowheads="1"/>
            </p:cNvSpPr>
            <p:nvPr/>
          </p:nvSpPr>
          <p:spPr bwMode="gray">
            <a:xfrm>
              <a:off x="7420450" y="2897088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130" name="Rectangle 272"/>
            <p:cNvSpPr>
              <a:spLocks noChangeArrowheads="1"/>
            </p:cNvSpPr>
            <p:nvPr/>
          </p:nvSpPr>
          <p:spPr bwMode="gray">
            <a:xfrm>
              <a:off x="7420450" y="3098293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62B23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1" name="Rectangle 272"/>
            <p:cNvSpPr>
              <a:spLocks noChangeArrowheads="1"/>
            </p:cNvSpPr>
            <p:nvPr/>
          </p:nvSpPr>
          <p:spPr bwMode="gray">
            <a:xfrm>
              <a:off x="7420450" y="3309527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T2</a:t>
              </a:r>
            </a:p>
          </p:txBody>
        </p:sp>
        <p:sp>
          <p:nvSpPr>
            <p:cNvPr id="132" name="Text Box 162"/>
            <p:cNvSpPr txBox="1">
              <a:spLocks noChangeArrowheads="1"/>
            </p:cNvSpPr>
            <p:nvPr/>
          </p:nvSpPr>
          <p:spPr bwMode="gray">
            <a:xfrm>
              <a:off x="7135117" y="2485418"/>
              <a:ext cx="1214437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</a:p>
          </p:txBody>
        </p:sp>
        <p:sp>
          <p:nvSpPr>
            <p:cNvPr id="133" name="Line 278"/>
            <p:cNvSpPr>
              <a:spLocks noChangeShapeType="1"/>
            </p:cNvSpPr>
            <p:nvPr/>
          </p:nvSpPr>
          <p:spPr bwMode="gray">
            <a:xfrm>
              <a:off x="7273229" y="2763231"/>
              <a:ext cx="889000" cy="0"/>
            </a:xfrm>
            <a:prstGeom prst="line">
              <a:avLst/>
            </a:prstGeom>
            <a:noFill/>
            <a:ln w="28575" cap="rnd">
              <a:solidFill>
                <a:srgbClr val="62B230"/>
              </a:solidFill>
              <a:prstDash val="sysDot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 bwMode="gray">
          <a:xfrm>
            <a:off x="4608765" y="2093539"/>
            <a:ext cx="1214437" cy="1042183"/>
            <a:chOff x="7135117" y="2485418"/>
            <a:chExt cx="1214437" cy="1042183"/>
          </a:xfrm>
        </p:grpSpPr>
        <p:sp>
          <p:nvSpPr>
            <p:cNvPr id="136" name="Rectangle 272"/>
            <p:cNvSpPr>
              <a:spLocks noChangeArrowheads="1"/>
            </p:cNvSpPr>
            <p:nvPr/>
          </p:nvSpPr>
          <p:spPr bwMode="gray">
            <a:xfrm>
              <a:off x="7420450" y="2897088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137" name="Rectangle 272"/>
            <p:cNvSpPr>
              <a:spLocks noChangeArrowheads="1"/>
            </p:cNvSpPr>
            <p:nvPr/>
          </p:nvSpPr>
          <p:spPr bwMode="gray">
            <a:xfrm>
              <a:off x="7420450" y="3098293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b="1" dirty="0">
                  <a:solidFill>
                    <a:srgbClr val="62B23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8" name="Rectangle 272"/>
            <p:cNvSpPr>
              <a:spLocks noChangeArrowheads="1"/>
            </p:cNvSpPr>
            <p:nvPr/>
          </p:nvSpPr>
          <p:spPr bwMode="gray">
            <a:xfrm>
              <a:off x="7420450" y="3309527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T1</a:t>
              </a:r>
            </a:p>
          </p:txBody>
        </p:sp>
        <p:sp>
          <p:nvSpPr>
            <p:cNvPr id="139" name="Text Box 162"/>
            <p:cNvSpPr txBox="1">
              <a:spLocks noChangeArrowheads="1"/>
            </p:cNvSpPr>
            <p:nvPr/>
          </p:nvSpPr>
          <p:spPr bwMode="gray">
            <a:xfrm>
              <a:off x="7135117" y="2485418"/>
              <a:ext cx="1214437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</a:p>
          </p:txBody>
        </p:sp>
        <p:sp>
          <p:nvSpPr>
            <p:cNvPr id="140" name="Line 278"/>
            <p:cNvSpPr>
              <a:spLocks noChangeShapeType="1"/>
            </p:cNvSpPr>
            <p:nvPr/>
          </p:nvSpPr>
          <p:spPr bwMode="gray">
            <a:xfrm>
              <a:off x="7273229" y="2763231"/>
              <a:ext cx="889000" cy="0"/>
            </a:xfrm>
            <a:prstGeom prst="line">
              <a:avLst/>
            </a:prstGeom>
            <a:noFill/>
            <a:ln w="28575" cap="rnd">
              <a:solidFill>
                <a:srgbClr val="62B230"/>
              </a:solidFill>
              <a:prstDash val="sysDot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 bwMode="gray">
          <a:xfrm>
            <a:off x="2201713" y="2093539"/>
            <a:ext cx="1214437" cy="629744"/>
            <a:chOff x="8921169" y="2485418"/>
            <a:chExt cx="1214437" cy="629744"/>
          </a:xfrm>
        </p:grpSpPr>
        <p:sp>
          <p:nvSpPr>
            <p:cNvPr id="144" name="Text Box 162"/>
            <p:cNvSpPr txBox="1">
              <a:spLocks noChangeArrowheads="1"/>
            </p:cNvSpPr>
            <p:nvPr/>
          </p:nvSpPr>
          <p:spPr bwMode="gray">
            <a:xfrm>
              <a:off x="8921169" y="2485418"/>
              <a:ext cx="1214437" cy="274638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</a:p>
          </p:txBody>
        </p:sp>
        <p:sp>
          <p:nvSpPr>
            <p:cNvPr id="145" name="Line 278"/>
            <p:cNvSpPr>
              <a:spLocks noChangeShapeType="1"/>
            </p:cNvSpPr>
            <p:nvPr/>
          </p:nvSpPr>
          <p:spPr bwMode="gray">
            <a:xfrm>
              <a:off x="9059281" y="2763231"/>
              <a:ext cx="889000" cy="0"/>
            </a:xfrm>
            <a:prstGeom prst="line">
              <a:avLst/>
            </a:prstGeom>
            <a:noFill/>
            <a:ln w="28575" cap="rnd">
              <a:solidFill>
                <a:srgbClr val="62B230"/>
              </a:solidFill>
              <a:prstDash val="sysDot"/>
              <a:round/>
              <a:headEnd type="triangl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6" name="Rectangle 272"/>
            <p:cNvSpPr>
              <a:spLocks noChangeArrowheads="1"/>
            </p:cNvSpPr>
            <p:nvPr/>
          </p:nvSpPr>
          <p:spPr bwMode="gray">
            <a:xfrm>
              <a:off x="9133893" y="2897088"/>
              <a:ext cx="739775" cy="218074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</p:grpSp>
      <p:sp>
        <p:nvSpPr>
          <p:cNvPr id="151" name="AutoShape 93"/>
          <p:cNvSpPr>
            <a:spLocks noChangeArrowheads="1"/>
          </p:cNvSpPr>
          <p:nvPr/>
        </p:nvSpPr>
        <p:spPr bwMode="gray">
          <a:xfrm rot="5400000">
            <a:off x="6035963" y="-812715"/>
            <a:ext cx="244800" cy="9296382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AutoShape 94"/>
          <p:cNvSpPr>
            <a:spLocks noChangeArrowheads="1"/>
          </p:cNvSpPr>
          <p:nvPr/>
        </p:nvSpPr>
        <p:spPr bwMode="gray">
          <a:xfrm rot="5400000">
            <a:off x="5972591" y="1521511"/>
            <a:ext cx="390525" cy="4641581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" name="AutoShape 95"/>
          <p:cNvSpPr>
            <a:spLocks noChangeArrowheads="1"/>
          </p:cNvSpPr>
          <p:nvPr/>
        </p:nvSpPr>
        <p:spPr bwMode="gray">
          <a:xfrm rot="5400000">
            <a:off x="5731937" y="1716200"/>
            <a:ext cx="809625" cy="4077361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椭圆 159"/>
          <p:cNvSpPr/>
          <p:nvPr/>
        </p:nvSpPr>
        <p:spPr bwMode="gray">
          <a:xfrm>
            <a:off x="9895150" y="2511737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椭圆 160"/>
          <p:cNvSpPr/>
          <p:nvPr/>
        </p:nvSpPr>
        <p:spPr bwMode="gray">
          <a:xfrm>
            <a:off x="7917836" y="2511737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2" name="椭圆 161"/>
          <p:cNvSpPr/>
          <p:nvPr/>
        </p:nvSpPr>
        <p:spPr bwMode="gray">
          <a:xfrm>
            <a:off x="5654798" y="2511737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椭圆 162"/>
          <p:cNvSpPr/>
          <p:nvPr/>
        </p:nvSpPr>
        <p:spPr bwMode="gray">
          <a:xfrm>
            <a:off x="3169975" y="2511737"/>
            <a:ext cx="227036" cy="227036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AutoShape 93"/>
          <p:cNvSpPr>
            <a:spLocks noChangeArrowheads="1"/>
          </p:cNvSpPr>
          <p:nvPr/>
        </p:nvSpPr>
        <p:spPr bwMode="gray">
          <a:xfrm rot="5400000">
            <a:off x="10563367" y="5249052"/>
            <a:ext cx="150924" cy="641816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文本框 170"/>
          <p:cNvSpPr txBox="1"/>
          <p:nvPr/>
        </p:nvSpPr>
        <p:spPr bwMode="gray">
          <a:xfrm>
            <a:off x="10959737" y="5397047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AutoShape 93"/>
          <p:cNvSpPr>
            <a:spLocks noChangeArrowheads="1"/>
          </p:cNvSpPr>
          <p:nvPr/>
        </p:nvSpPr>
        <p:spPr bwMode="gray">
          <a:xfrm rot="5400000">
            <a:off x="10563367" y="5497427"/>
            <a:ext cx="150924" cy="641816"/>
          </a:xfrm>
          <a:prstGeom prst="can">
            <a:avLst>
              <a:gd name="adj" fmla="val 77995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文本框 172"/>
          <p:cNvSpPr txBox="1"/>
          <p:nvPr/>
        </p:nvSpPr>
        <p:spPr bwMode="gray">
          <a:xfrm>
            <a:off x="10959737" y="5645422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 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AutoShape 93"/>
          <p:cNvSpPr>
            <a:spLocks noChangeArrowheads="1"/>
          </p:cNvSpPr>
          <p:nvPr/>
        </p:nvSpPr>
        <p:spPr bwMode="gray">
          <a:xfrm rot="5400000">
            <a:off x="10563367" y="5745802"/>
            <a:ext cx="150924" cy="641816"/>
          </a:xfrm>
          <a:prstGeom prst="can">
            <a:avLst>
              <a:gd name="adj" fmla="val 77995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文本框 174"/>
          <p:cNvSpPr txBox="1"/>
          <p:nvPr/>
        </p:nvSpPr>
        <p:spPr bwMode="gray">
          <a:xfrm>
            <a:off x="10959737" y="5893797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74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接连接符 58"/>
          <p:cNvCxnSpPr>
            <a:stCxn id="44" idx="3"/>
            <a:endCxn id="41" idx="1"/>
          </p:cNvCxnSpPr>
          <p:nvPr/>
        </p:nvCxnSpPr>
        <p:spPr bwMode="gray">
          <a:xfrm>
            <a:off x="2384860" y="2141724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ym typeface="Huawei Sans" panose="020C0503030203020204" pitchFamily="34" charset="0"/>
              </a:rPr>
              <a:t>MPLS VPN</a:t>
            </a:r>
            <a:r>
              <a:rPr lang="zh-CN" altLang="en-US" dirty="0">
                <a:sym typeface="Huawei Sans" panose="020C0503030203020204" pitchFamily="34" charset="0"/>
              </a:rPr>
              <a:t>方案的背景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52" name="文本占位符 51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697625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当企业规模不断扩大时，不同地点的企业站点有可能属于不同的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。如图所示，当两个不同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之间相互通信时，需要使用跨域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技术。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860640" y="1920815"/>
            <a:ext cx="4444817" cy="1509016"/>
            <a:chOff x="860640" y="1181905"/>
            <a:chExt cx="4444817" cy="1509016"/>
          </a:xfrm>
        </p:grpSpPr>
        <p:grpSp>
          <p:nvGrpSpPr>
            <p:cNvPr id="37" name="组合 36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3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9" name="文本框 38"/>
              <p:cNvSpPr txBox="1"/>
              <p:nvPr/>
            </p:nvSpPr>
            <p:spPr bwMode="gray">
              <a:xfrm>
                <a:off x="5436839" y="5363771"/>
                <a:ext cx="2920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41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42" name="文本框 41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4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45" name="文本框 44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47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48" name="文本框 47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9" name="组合 48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5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51" name="文本框 50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CE3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64" name="直接连接符 63"/>
          <p:cNvCxnSpPr>
            <a:stCxn id="47" idx="0"/>
            <a:endCxn id="44" idx="1"/>
          </p:cNvCxnSpPr>
          <p:nvPr/>
        </p:nvCxnSpPr>
        <p:spPr bwMode="gray">
          <a:xfrm flipV="1">
            <a:off x="1130640" y="2141724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50" idx="0"/>
            <a:endCxn id="41" idx="3"/>
          </p:cNvCxnSpPr>
          <p:nvPr/>
        </p:nvCxnSpPr>
        <p:spPr bwMode="gray">
          <a:xfrm flipH="1" flipV="1">
            <a:off x="4331925" y="2141724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圆角矩形 66"/>
          <p:cNvSpPr/>
          <p:nvPr/>
        </p:nvSpPr>
        <p:spPr bwMode="gray">
          <a:xfrm>
            <a:off x="1716753" y="1818053"/>
            <a:ext cx="2791757" cy="1610948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矩形 141"/>
          <p:cNvSpPr/>
          <p:nvPr/>
        </p:nvSpPr>
        <p:spPr bwMode="gray">
          <a:xfrm>
            <a:off x="1718534" y="3096561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cxnSp>
        <p:nvCxnSpPr>
          <p:cNvPr id="91" name="直接连接符 90"/>
          <p:cNvCxnSpPr>
            <a:stCxn id="102" idx="3"/>
            <a:endCxn id="104" idx="1"/>
          </p:cNvCxnSpPr>
          <p:nvPr/>
        </p:nvCxnSpPr>
        <p:spPr bwMode="gray">
          <a:xfrm>
            <a:off x="8305369" y="2141724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组合 91"/>
          <p:cNvGrpSpPr/>
          <p:nvPr/>
        </p:nvGrpSpPr>
        <p:grpSpPr bwMode="gray">
          <a:xfrm>
            <a:off x="6781149" y="1920815"/>
            <a:ext cx="4444817" cy="1509016"/>
            <a:chOff x="860640" y="1181905"/>
            <a:chExt cx="4444817" cy="1509016"/>
          </a:xfrm>
        </p:grpSpPr>
        <p:grpSp>
          <p:nvGrpSpPr>
            <p:cNvPr id="93" name="组合 92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06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07" name="文本框 106"/>
              <p:cNvSpPr txBox="1"/>
              <p:nvPr/>
            </p:nvSpPr>
            <p:spPr bwMode="gray">
              <a:xfrm>
                <a:off x="5436839" y="5363771"/>
                <a:ext cx="29206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4" name="组合 93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10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05" name="文本框 104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5" name="组合 94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102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03" name="文本框 102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6" name="组合 95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0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01" name="文本框 100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CE4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9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99" name="文本框 98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108" name="直接连接符 107"/>
          <p:cNvCxnSpPr>
            <a:stCxn id="100" idx="0"/>
            <a:endCxn id="102" idx="1"/>
          </p:cNvCxnSpPr>
          <p:nvPr/>
        </p:nvCxnSpPr>
        <p:spPr bwMode="gray">
          <a:xfrm flipV="1">
            <a:off x="7051149" y="2141724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98" idx="0"/>
            <a:endCxn id="104" idx="3"/>
          </p:cNvCxnSpPr>
          <p:nvPr/>
        </p:nvCxnSpPr>
        <p:spPr bwMode="gray">
          <a:xfrm flipH="1" flipV="1">
            <a:off x="10252434" y="2141724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圆角矩形 109"/>
          <p:cNvSpPr/>
          <p:nvPr/>
        </p:nvSpPr>
        <p:spPr bwMode="gray">
          <a:xfrm>
            <a:off x="7591149" y="1809250"/>
            <a:ext cx="2837870" cy="1610948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4" name="直接连接符 133"/>
          <p:cNvCxnSpPr>
            <a:stCxn id="145" idx="3"/>
            <a:endCxn id="147" idx="1"/>
          </p:cNvCxnSpPr>
          <p:nvPr/>
        </p:nvCxnSpPr>
        <p:spPr bwMode="gray">
          <a:xfrm>
            <a:off x="2384860" y="4908228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5" name="组合 134"/>
          <p:cNvGrpSpPr/>
          <p:nvPr/>
        </p:nvGrpSpPr>
        <p:grpSpPr bwMode="gray">
          <a:xfrm>
            <a:off x="860640" y="4687319"/>
            <a:ext cx="4444817" cy="1509016"/>
            <a:chOff x="860640" y="1181905"/>
            <a:chExt cx="4444817" cy="1509016"/>
          </a:xfrm>
        </p:grpSpPr>
        <p:grpSp>
          <p:nvGrpSpPr>
            <p:cNvPr id="136" name="组合 135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4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50" name="文本框 149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37" name="组合 136"/>
            <p:cNvGrpSpPr/>
            <p:nvPr/>
          </p:nvGrpSpPr>
          <p:grpSpPr bwMode="gray">
            <a:xfrm>
              <a:off x="3584013" y="1181905"/>
              <a:ext cx="1019831" cy="723926"/>
              <a:chOff x="7854226" y="4938500"/>
              <a:chExt cx="1019831" cy="723926"/>
            </a:xfrm>
          </p:grpSpPr>
          <p:pic>
            <p:nvPicPr>
              <p:cNvPr id="147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48" name="文本框 147"/>
              <p:cNvSpPr txBox="1"/>
              <p:nvPr/>
            </p:nvSpPr>
            <p:spPr bwMode="gray">
              <a:xfrm>
                <a:off x="7854226" y="5354649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14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46" name="文本框 145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39" name="组合 138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43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44" name="文本框 143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40" name="组合 139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141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42" name="文本框 141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CE3</a:t>
                </a:r>
                <a:endPara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151" name="直接连接符 150"/>
          <p:cNvCxnSpPr>
            <a:stCxn id="143" idx="0"/>
            <a:endCxn id="145" idx="1"/>
          </p:cNvCxnSpPr>
          <p:nvPr/>
        </p:nvCxnSpPr>
        <p:spPr bwMode="gray">
          <a:xfrm flipV="1">
            <a:off x="1130640" y="4908228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>
            <a:stCxn id="141" idx="0"/>
            <a:endCxn id="147" idx="3"/>
          </p:cNvCxnSpPr>
          <p:nvPr/>
        </p:nvCxnSpPr>
        <p:spPr bwMode="gray">
          <a:xfrm flipH="1" flipV="1">
            <a:off x="4331925" y="4908228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圆角矩形 152"/>
          <p:cNvSpPr/>
          <p:nvPr/>
        </p:nvSpPr>
        <p:spPr bwMode="gray">
          <a:xfrm>
            <a:off x="1713749" y="4584557"/>
            <a:ext cx="2794761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5" name="直接连接符 154"/>
          <p:cNvCxnSpPr>
            <a:stCxn id="166" idx="3"/>
            <a:endCxn id="168" idx="1"/>
          </p:cNvCxnSpPr>
          <p:nvPr/>
        </p:nvCxnSpPr>
        <p:spPr bwMode="gray">
          <a:xfrm>
            <a:off x="8305369" y="4908228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组合 155"/>
          <p:cNvGrpSpPr/>
          <p:nvPr/>
        </p:nvGrpSpPr>
        <p:grpSpPr bwMode="gray">
          <a:xfrm>
            <a:off x="6781149" y="4687319"/>
            <a:ext cx="4444817" cy="1509016"/>
            <a:chOff x="860640" y="1181905"/>
            <a:chExt cx="4444817" cy="1509016"/>
          </a:xfrm>
        </p:grpSpPr>
        <p:grpSp>
          <p:nvGrpSpPr>
            <p:cNvPr id="157" name="组合 156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7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71" name="文本框 170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58" name="组合 157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16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69" name="文本框 168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59" name="组合 158"/>
            <p:cNvGrpSpPr/>
            <p:nvPr/>
          </p:nvGrpSpPr>
          <p:grpSpPr bwMode="gray">
            <a:xfrm>
              <a:off x="1604946" y="1181905"/>
              <a:ext cx="1019831" cy="723926"/>
              <a:chOff x="3848657" y="4947622"/>
              <a:chExt cx="1019831" cy="723926"/>
            </a:xfrm>
          </p:grpSpPr>
          <p:pic>
            <p:nvPicPr>
              <p:cNvPr id="166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67" name="文本框 166"/>
              <p:cNvSpPr txBox="1"/>
              <p:nvPr/>
            </p:nvSpPr>
            <p:spPr bwMode="gray">
              <a:xfrm>
                <a:off x="3848657" y="5363771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6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65" name="文本框 164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chemeClr val="bg1">
                        <a:lumMod val="50000"/>
                      </a:schemeClr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CE4</a:t>
                </a:r>
                <a:endParaRPr lang="zh-CN" altLang="en-US" sz="1400" b="1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61" name="组合 160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162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63" name="文本框 162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172" name="直接连接符 171"/>
          <p:cNvCxnSpPr>
            <a:stCxn id="164" idx="0"/>
            <a:endCxn id="166" idx="1"/>
          </p:cNvCxnSpPr>
          <p:nvPr/>
        </p:nvCxnSpPr>
        <p:spPr bwMode="gray">
          <a:xfrm flipV="1">
            <a:off x="7051149" y="4908228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stCxn id="162" idx="0"/>
            <a:endCxn id="168" idx="3"/>
          </p:cNvCxnSpPr>
          <p:nvPr/>
        </p:nvCxnSpPr>
        <p:spPr bwMode="gray">
          <a:xfrm flipH="1" flipV="1">
            <a:off x="10252434" y="4908228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/>
          <p:cNvSpPr/>
          <p:nvPr/>
        </p:nvSpPr>
        <p:spPr bwMode="gray">
          <a:xfrm>
            <a:off x="7591148" y="4584556"/>
            <a:ext cx="2837871" cy="153910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6" name="直接连接符 175"/>
          <p:cNvCxnSpPr>
            <a:stCxn id="166" idx="1"/>
            <a:endCxn id="147" idx="3"/>
          </p:cNvCxnSpPr>
          <p:nvPr/>
        </p:nvCxnSpPr>
        <p:spPr bwMode="gray">
          <a:xfrm flipH="1">
            <a:off x="4331925" y="4908228"/>
            <a:ext cx="34334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文本框 181"/>
          <p:cNvSpPr txBox="1"/>
          <p:nvPr/>
        </p:nvSpPr>
        <p:spPr bwMode="gray">
          <a:xfrm>
            <a:off x="5067879" y="4558095"/>
            <a:ext cx="1518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或静态路由</a:t>
            </a:r>
          </a:p>
        </p:txBody>
      </p:sp>
      <p:sp>
        <p:nvSpPr>
          <p:cNvPr id="184" name="文本占位符 51"/>
          <p:cNvSpPr txBox="1">
            <a:spLocks/>
          </p:cNvSpPr>
          <p:nvPr/>
        </p:nvSpPr>
        <p:spPr bwMode="gray">
          <a:xfrm>
            <a:off x="513667" y="3423460"/>
            <a:ext cx="5182033" cy="69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400" dirty="0">
              <a:sym typeface="Huawei Sans" panose="020C0503030203020204" pitchFamily="34" charset="0"/>
            </a:endParaRPr>
          </a:p>
        </p:txBody>
      </p:sp>
      <p:cxnSp>
        <p:nvCxnSpPr>
          <p:cNvPr id="186" name="直接箭头连接符 185"/>
          <p:cNvCxnSpPr>
            <a:stCxn id="67" idx="2"/>
            <a:endCxn id="182" idx="0"/>
          </p:cNvCxnSpPr>
          <p:nvPr/>
        </p:nvCxnSpPr>
        <p:spPr bwMode="gray">
          <a:xfrm>
            <a:off x="3112632" y="3429001"/>
            <a:ext cx="2714429" cy="1129094"/>
          </a:xfrm>
          <a:prstGeom prst="straightConnector1">
            <a:avLst/>
          </a:prstGeom>
          <a:ln w="38100">
            <a:solidFill>
              <a:srgbClr val="BEE9E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箭头连接符 186"/>
          <p:cNvCxnSpPr>
            <a:stCxn id="110" idx="2"/>
            <a:endCxn id="182" idx="0"/>
          </p:cNvCxnSpPr>
          <p:nvPr/>
        </p:nvCxnSpPr>
        <p:spPr bwMode="gray">
          <a:xfrm flipH="1">
            <a:off x="5827061" y="3420198"/>
            <a:ext cx="3183023" cy="1137897"/>
          </a:xfrm>
          <a:prstGeom prst="straightConnector1">
            <a:avLst/>
          </a:prstGeom>
          <a:ln w="38100">
            <a:solidFill>
              <a:srgbClr val="BEE9E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/>
          <p:cNvSpPr txBox="1"/>
          <p:nvPr/>
        </p:nvSpPr>
        <p:spPr bwMode="gray">
          <a:xfrm>
            <a:off x="4154883" y="3612296"/>
            <a:ext cx="3632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之间使用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或者静态路由互联。</a:t>
            </a:r>
          </a:p>
        </p:txBody>
      </p:sp>
      <p:sp>
        <p:nvSpPr>
          <p:cNvPr id="193" name="矩形 141"/>
          <p:cNvSpPr/>
          <p:nvPr/>
        </p:nvSpPr>
        <p:spPr bwMode="gray">
          <a:xfrm>
            <a:off x="9646243" y="3085157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94" name="圆角矩形 193"/>
          <p:cNvSpPr/>
          <p:nvPr/>
        </p:nvSpPr>
        <p:spPr bwMode="gray">
          <a:xfrm>
            <a:off x="675733" y="2644741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9" name="圆角矩形 198"/>
          <p:cNvSpPr/>
          <p:nvPr/>
        </p:nvSpPr>
        <p:spPr bwMode="gray">
          <a:xfrm>
            <a:off x="10517363" y="2644741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0" name="圆角矩形 199"/>
          <p:cNvSpPr/>
          <p:nvPr/>
        </p:nvSpPr>
        <p:spPr bwMode="gray">
          <a:xfrm>
            <a:off x="675733" y="5366086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1" name="圆角矩形 200"/>
          <p:cNvSpPr/>
          <p:nvPr/>
        </p:nvSpPr>
        <p:spPr bwMode="gray">
          <a:xfrm>
            <a:off x="10557313" y="5366086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2" name="矩形 141"/>
          <p:cNvSpPr/>
          <p:nvPr/>
        </p:nvSpPr>
        <p:spPr bwMode="gray">
          <a:xfrm>
            <a:off x="1718534" y="5787415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203" name="矩形 141"/>
          <p:cNvSpPr/>
          <p:nvPr/>
        </p:nvSpPr>
        <p:spPr bwMode="gray">
          <a:xfrm>
            <a:off x="9646243" y="5776011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204" name="圆角矩形 203"/>
          <p:cNvSpPr/>
          <p:nvPr/>
        </p:nvSpPr>
        <p:spPr bwMode="gray">
          <a:xfrm>
            <a:off x="4575613" y="2644741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5" name="圆角矩形 204"/>
          <p:cNvSpPr/>
          <p:nvPr/>
        </p:nvSpPr>
        <p:spPr bwMode="gray">
          <a:xfrm>
            <a:off x="6615733" y="2644741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6" name="圆角矩形 205"/>
          <p:cNvSpPr/>
          <p:nvPr/>
        </p:nvSpPr>
        <p:spPr bwMode="gray">
          <a:xfrm>
            <a:off x="4575613" y="5362370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7" name="圆角矩形 206"/>
          <p:cNvSpPr/>
          <p:nvPr/>
        </p:nvSpPr>
        <p:spPr bwMode="gray">
          <a:xfrm>
            <a:off x="6615733" y="5362370"/>
            <a:ext cx="877206" cy="784259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9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 bwMode="gray">
          <a:xfrm>
            <a:off x="1923552" y="1227507"/>
            <a:ext cx="8407574" cy="787605"/>
          </a:xfrm>
          <a:prstGeom prst="rect">
            <a:avLst/>
          </a:prstGeom>
          <a:solidFill>
            <a:srgbClr val="BEE9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矩形 138"/>
          <p:cNvSpPr/>
          <p:nvPr/>
        </p:nvSpPr>
        <p:spPr bwMode="gray">
          <a:xfrm>
            <a:off x="572654" y="1096058"/>
            <a:ext cx="11046691" cy="1704144"/>
          </a:xfrm>
          <a:prstGeom prst="rect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MPLS VPN</a:t>
            </a:r>
            <a:r>
              <a:rPr lang="zh-CN" altLang="en-US" dirty="0">
                <a:sym typeface="Huawei Sans" panose="020C0503030203020204" pitchFamily="34" charset="0"/>
              </a:rPr>
              <a:t>跨域产生的问题</a:t>
            </a:r>
          </a:p>
        </p:txBody>
      </p:sp>
      <p:sp>
        <p:nvSpPr>
          <p:cNvPr id="138" name="文本占位符 137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2964450"/>
            <a:ext cx="11293475" cy="1450532"/>
          </a:xfrm>
        </p:spPr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相比于域内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，跨域场景下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的工作原理不变，但是因为跨越了不同的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，产生了以下问题：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之间不会运行</a:t>
            </a:r>
            <a:r>
              <a:rPr lang="en-US" altLang="zh-CN" sz="1600" dirty="0">
                <a:sym typeface="Huawei Sans" panose="020C0503030203020204" pitchFamily="34" charset="0"/>
              </a:rPr>
              <a:t>LDP</a:t>
            </a:r>
            <a:r>
              <a:rPr lang="zh-CN" altLang="en-US" sz="1600" dirty="0">
                <a:sym typeface="Huawei Sans" panose="020C0503030203020204" pitchFamily="34" charset="0"/>
              </a:rPr>
              <a:t>协议，因此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之间无法建立外层隧道。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之间没有运行</a:t>
            </a:r>
            <a:r>
              <a:rPr lang="en-US" altLang="zh-CN" sz="1600" dirty="0">
                <a:sym typeface="Huawei Sans" panose="020C0503030203020204" pitchFamily="34" charset="0"/>
              </a:rPr>
              <a:t>IGP</a:t>
            </a:r>
            <a:r>
              <a:rPr lang="zh-CN" altLang="en-US" sz="1600" dirty="0">
                <a:sym typeface="Huawei Sans" panose="020C0503030203020204" pitchFamily="34" charset="0"/>
              </a:rPr>
              <a:t>协议，缺省情况下无法建立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邻居关系，进而无法直接传递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针对以上问题可以有以下几种解决思路：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之间交换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路由，采用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数据包转发数据。该方式易于理解。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之间交换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路由，采用携带一层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标签的方式转发数据包。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之间交换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路由，采用携带多层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标签的方式转发数据包。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 bwMode="gray">
          <a:xfrm>
            <a:off x="939331" y="1188423"/>
            <a:ext cx="10365326" cy="1623865"/>
            <a:chOff x="860640" y="4584556"/>
            <a:chExt cx="10365326" cy="1623865"/>
          </a:xfrm>
        </p:grpSpPr>
        <p:cxnSp>
          <p:nvCxnSpPr>
            <p:cNvPr id="4" name="直接连接符 3"/>
            <p:cNvCxnSpPr>
              <a:stCxn id="15" idx="3"/>
              <a:endCxn id="17" idx="1"/>
            </p:cNvCxnSpPr>
            <p:nvPr/>
          </p:nvCxnSpPr>
          <p:spPr bwMode="gray">
            <a:xfrm>
              <a:off x="2384860" y="4908228"/>
              <a:ext cx="140706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/>
          </p:nvGrpSpPr>
          <p:grpSpPr bwMode="gray">
            <a:xfrm>
              <a:off x="860640" y="4687319"/>
              <a:ext cx="3743204" cy="1509016"/>
              <a:chOff x="860640" y="1181905"/>
              <a:chExt cx="3743204" cy="1509016"/>
            </a:xfrm>
          </p:grpSpPr>
          <p:grpSp>
            <p:nvGrpSpPr>
              <p:cNvPr id="6" name="组合 5"/>
              <p:cNvGrpSpPr/>
              <p:nvPr/>
            </p:nvGrpSpPr>
            <p:grpSpPr bwMode="gray">
              <a:xfrm>
                <a:off x="2818393" y="1181905"/>
                <a:ext cx="540000" cy="723926"/>
                <a:chOff x="5312873" y="4947622"/>
                <a:chExt cx="540000" cy="723926"/>
              </a:xfrm>
            </p:grpSpPr>
            <p:pic>
              <p:nvPicPr>
                <p:cNvPr id="19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5312873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20" name="文本框 19"/>
                <p:cNvSpPr txBox="1"/>
                <p:nvPr/>
              </p:nvSpPr>
              <p:spPr bwMode="gray">
                <a:xfrm>
                  <a:off x="5436839" y="5363771"/>
                  <a:ext cx="39626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P</a:t>
                  </a:r>
                  <a:r>
                    <a:rPr lang="en-US" altLang="zh-CN" sz="1400" b="1" dirty="0">
                      <a:solidFill>
                        <a:srgbClr val="30B5C5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1</a:t>
                  </a:r>
                  <a:endParaRPr lang="zh-CN" altLang="en-US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7" name="组合 6"/>
              <p:cNvGrpSpPr/>
              <p:nvPr/>
            </p:nvGrpSpPr>
            <p:grpSpPr bwMode="gray">
              <a:xfrm>
                <a:off x="3584013" y="1181905"/>
                <a:ext cx="1019831" cy="723926"/>
                <a:chOff x="7854226" y="4938500"/>
                <a:chExt cx="1019831" cy="723926"/>
              </a:xfrm>
            </p:grpSpPr>
            <p:pic>
              <p:nvPicPr>
                <p:cNvPr id="17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8062138" y="4938500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18" name="文本框 17"/>
                <p:cNvSpPr txBox="1"/>
                <p:nvPr/>
              </p:nvSpPr>
              <p:spPr bwMode="gray">
                <a:xfrm>
                  <a:off x="7854226" y="5354649"/>
                  <a:ext cx="10198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solidFill>
                        <a:srgbClr val="30B5C5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ASBR-PE1</a:t>
                  </a:r>
                  <a:endParaRPr lang="zh-CN" altLang="en-US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 bwMode="gray">
              <a:xfrm>
                <a:off x="1844860" y="1181905"/>
                <a:ext cx="540000" cy="723926"/>
                <a:chOff x="4088571" y="4947622"/>
                <a:chExt cx="540000" cy="723926"/>
              </a:xfrm>
            </p:grpSpPr>
            <p:pic>
              <p:nvPicPr>
                <p:cNvPr id="15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4088571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16" name="文本框 15"/>
                <p:cNvSpPr txBox="1"/>
                <p:nvPr/>
              </p:nvSpPr>
              <p:spPr bwMode="gray">
                <a:xfrm>
                  <a:off x="4109945" y="5363771"/>
                  <a:ext cx="4972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PE1</a:t>
                  </a:r>
                  <a:endPara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 bwMode="gray">
              <a:xfrm>
                <a:off x="860640" y="1978346"/>
                <a:ext cx="550687" cy="712575"/>
                <a:chOff x="4073209" y="4947622"/>
                <a:chExt cx="550687" cy="712575"/>
              </a:xfrm>
            </p:grpSpPr>
            <p:pic>
              <p:nvPicPr>
                <p:cNvPr id="13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4073209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14" name="文本框 13"/>
                <p:cNvSpPr txBox="1"/>
                <p:nvPr/>
              </p:nvSpPr>
              <p:spPr bwMode="gray">
                <a:xfrm>
                  <a:off x="4121835" y="5352420"/>
                  <a:ext cx="5020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CE1</a:t>
                  </a:r>
                  <a:endPara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</p:grpSp>
        <p:cxnSp>
          <p:nvCxnSpPr>
            <p:cNvPr id="21" name="直接连接符 20"/>
            <p:cNvCxnSpPr>
              <a:stCxn id="13" idx="0"/>
              <a:endCxn id="15" idx="1"/>
            </p:cNvCxnSpPr>
            <p:nvPr/>
          </p:nvCxnSpPr>
          <p:spPr bwMode="gray">
            <a:xfrm flipV="1">
              <a:off x="1130640" y="4908228"/>
              <a:ext cx="714220" cy="5755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圆角矩形 22"/>
            <p:cNvSpPr/>
            <p:nvPr/>
          </p:nvSpPr>
          <p:spPr bwMode="gray">
            <a:xfrm>
              <a:off x="1698525" y="4584557"/>
              <a:ext cx="3769402" cy="1539100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矩形 141"/>
            <p:cNvSpPr/>
            <p:nvPr/>
          </p:nvSpPr>
          <p:spPr bwMode="gray">
            <a:xfrm>
              <a:off x="1712574" y="5820809"/>
              <a:ext cx="789259" cy="3815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tabLst/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cxnSp>
          <p:nvCxnSpPr>
            <p:cNvPr id="25" name="直接连接符 24"/>
            <p:cNvCxnSpPr>
              <a:stCxn id="36" idx="3"/>
              <a:endCxn id="38" idx="1"/>
            </p:cNvCxnSpPr>
            <p:nvPr/>
          </p:nvCxnSpPr>
          <p:spPr bwMode="gray">
            <a:xfrm>
              <a:off x="8305369" y="4908228"/>
              <a:ext cx="140706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/>
            <p:cNvGrpSpPr/>
            <p:nvPr/>
          </p:nvGrpSpPr>
          <p:grpSpPr bwMode="gray">
            <a:xfrm>
              <a:off x="7525455" y="4687319"/>
              <a:ext cx="3700511" cy="1509016"/>
              <a:chOff x="1604946" y="1181905"/>
              <a:chExt cx="3700511" cy="1509016"/>
            </a:xfrm>
          </p:grpSpPr>
          <p:grpSp>
            <p:nvGrpSpPr>
              <p:cNvPr id="27" name="组合 26"/>
              <p:cNvGrpSpPr/>
              <p:nvPr/>
            </p:nvGrpSpPr>
            <p:grpSpPr bwMode="gray">
              <a:xfrm>
                <a:off x="2818393" y="1181905"/>
                <a:ext cx="540000" cy="723926"/>
                <a:chOff x="5312873" y="4947622"/>
                <a:chExt cx="540000" cy="723926"/>
              </a:xfrm>
            </p:grpSpPr>
            <p:pic>
              <p:nvPicPr>
                <p:cNvPr id="40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5312873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41" name="文本框 40"/>
                <p:cNvSpPr txBox="1"/>
                <p:nvPr/>
              </p:nvSpPr>
              <p:spPr bwMode="gray">
                <a:xfrm>
                  <a:off x="5436839" y="5363771"/>
                  <a:ext cx="39626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P</a:t>
                  </a:r>
                  <a:r>
                    <a:rPr lang="en-US" altLang="zh-CN" sz="1400" b="1" dirty="0">
                      <a:solidFill>
                        <a:srgbClr val="30B5C5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2</a:t>
                  </a:r>
                  <a:endParaRPr lang="zh-CN" altLang="en-US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 bwMode="gray">
              <a:xfrm>
                <a:off x="3791925" y="1181905"/>
                <a:ext cx="540000" cy="723926"/>
                <a:chOff x="8062138" y="4938500"/>
                <a:chExt cx="540000" cy="723926"/>
              </a:xfrm>
            </p:grpSpPr>
            <p:pic>
              <p:nvPicPr>
                <p:cNvPr id="38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8062138" y="4938500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39" name="文本框 38"/>
                <p:cNvSpPr txBox="1"/>
                <p:nvPr/>
              </p:nvSpPr>
              <p:spPr bwMode="gray">
                <a:xfrm>
                  <a:off x="8084306" y="5354649"/>
                  <a:ext cx="4972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PE2</a:t>
                  </a:r>
                  <a:endPara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 bwMode="gray">
              <a:xfrm>
                <a:off x="1604946" y="1181905"/>
                <a:ext cx="1019831" cy="723926"/>
                <a:chOff x="3848657" y="4947622"/>
                <a:chExt cx="1019831" cy="723926"/>
              </a:xfrm>
            </p:grpSpPr>
            <p:pic>
              <p:nvPicPr>
                <p:cNvPr id="36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4088571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37" name="文本框 36"/>
                <p:cNvSpPr txBox="1"/>
                <p:nvPr/>
              </p:nvSpPr>
              <p:spPr bwMode="gray">
                <a:xfrm>
                  <a:off x="3848657" y="5363771"/>
                  <a:ext cx="101983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1400" b="1" dirty="0">
                      <a:solidFill>
                        <a:srgbClr val="30B5C5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ASBR-PE2</a:t>
                  </a:r>
                  <a:endParaRPr lang="zh-CN" altLang="en-US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 bwMode="gray">
              <a:xfrm>
                <a:off x="4765457" y="1966995"/>
                <a:ext cx="540000" cy="723926"/>
                <a:chOff x="4073209" y="4947622"/>
                <a:chExt cx="540000" cy="723926"/>
              </a:xfrm>
            </p:grpSpPr>
            <p:pic>
              <p:nvPicPr>
                <p:cNvPr id="32" name="Picture 12" descr="E:\2016.01\1.12 扁平化图标\蓝色\AR-蓝色最新-40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gray">
                <a:xfrm>
                  <a:off x="4073209" y="4947622"/>
                  <a:ext cx="540000" cy="441818"/>
                </a:xfrm>
                <a:prstGeom prst="rect">
                  <a:avLst/>
                </a:prstGeom>
                <a:noFill/>
              </p:spPr>
            </p:pic>
            <p:sp>
              <p:nvSpPr>
                <p:cNvPr id="33" name="文本框 32"/>
                <p:cNvSpPr txBox="1"/>
                <p:nvPr/>
              </p:nvSpPr>
              <p:spPr bwMode="gray">
                <a:xfrm>
                  <a:off x="4086262" y="5363771"/>
                  <a:ext cx="50206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CE2</a:t>
                  </a:r>
                  <a:endParaRPr lang="zh-CN" altLang="en-US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</p:grpSp>
        <p:cxnSp>
          <p:nvCxnSpPr>
            <p:cNvPr id="43" name="直接连接符 42"/>
            <p:cNvCxnSpPr>
              <a:stCxn id="32" idx="0"/>
              <a:endCxn id="38" idx="3"/>
            </p:cNvCxnSpPr>
            <p:nvPr/>
          </p:nvCxnSpPr>
          <p:spPr bwMode="gray">
            <a:xfrm flipH="1" flipV="1">
              <a:off x="10252434" y="4908228"/>
              <a:ext cx="703532" cy="5641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圆角矩形 43"/>
            <p:cNvSpPr/>
            <p:nvPr/>
          </p:nvSpPr>
          <p:spPr bwMode="gray">
            <a:xfrm>
              <a:off x="6567054" y="4584556"/>
              <a:ext cx="3893293" cy="1539101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矩形 141"/>
            <p:cNvSpPr/>
            <p:nvPr/>
          </p:nvSpPr>
          <p:spPr bwMode="gray">
            <a:xfrm>
              <a:off x="9796111" y="5826852"/>
              <a:ext cx="789259" cy="3815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SzTx/>
                <a:tabLst/>
              </a:pPr>
              <a:r>
                <a:rPr lang="en-US" altLang="zh-CN" sz="1200" b="1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cxnSp>
          <p:nvCxnSpPr>
            <p:cNvPr id="46" name="直接连接符 45"/>
            <p:cNvCxnSpPr>
              <a:stCxn id="36" idx="1"/>
              <a:endCxn id="17" idx="3"/>
            </p:cNvCxnSpPr>
            <p:nvPr/>
          </p:nvCxnSpPr>
          <p:spPr bwMode="gray">
            <a:xfrm flipH="1">
              <a:off x="4331925" y="4908228"/>
              <a:ext cx="343344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1" name="文本框 140"/>
          <p:cNvSpPr txBox="1"/>
          <p:nvPr/>
        </p:nvSpPr>
        <p:spPr bwMode="gray">
          <a:xfrm>
            <a:off x="5411744" y="16044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新的骨干网</a:t>
            </a:r>
          </a:p>
        </p:txBody>
      </p:sp>
      <p:sp>
        <p:nvSpPr>
          <p:cNvPr id="142" name="文本框 141"/>
          <p:cNvSpPr txBox="1"/>
          <p:nvPr/>
        </p:nvSpPr>
        <p:spPr bwMode="gray">
          <a:xfrm>
            <a:off x="7701144" y="4846325"/>
            <a:ext cx="1116449" cy="33855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OptionA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文本框 142"/>
          <p:cNvSpPr txBox="1"/>
          <p:nvPr/>
        </p:nvSpPr>
        <p:spPr bwMode="gray">
          <a:xfrm>
            <a:off x="7701144" y="5245474"/>
            <a:ext cx="1116449" cy="33855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OptionB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 bwMode="gray">
          <a:xfrm>
            <a:off x="7701144" y="5644623"/>
            <a:ext cx="1116449" cy="33855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err="1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OptionC</a:t>
            </a:r>
            <a:endParaRPr lang="zh-CN" altLang="en-US" sz="16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圆角矩形 144"/>
          <p:cNvSpPr/>
          <p:nvPr/>
        </p:nvSpPr>
        <p:spPr bwMode="gray">
          <a:xfrm>
            <a:off x="741219" y="2024262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圆角矩形 146"/>
          <p:cNvSpPr/>
          <p:nvPr/>
        </p:nvSpPr>
        <p:spPr bwMode="gray">
          <a:xfrm>
            <a:off x="10590137" y="2015112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09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MPLS</a:t>
            </a:r>
            <a:r>
              <a:rPr lang="zh-CN" altLang="en-US" dirty="0">
                <a:sym typeface="Huawei Sans" panose="020C0503030203020204" pitchFamily="34" charset="0"/>
              </a:rPr>
              <a:t> </a:t>
            </a:r>
            <a:r>
              <a:rPr lang="en-US" altLang="zh-CN" dirty="0">
                <a:sym typeface="Huawei Sans" panose="020C0503030203020204" pitchFamily="34" charset="0"/>
              </a:rPr>
              <a:t>VPN</a:t>
            </a:r>
            <a:r>
              <a:rPr lang="zh-CN" altLang="en-US" dirty="0">
                <a:sym typeface="Huawei Sans" panose="020C0503030203020204" pitchFamily="34" charset="0"/>
              </a:rPr>
              <a:t>跨域的分类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3228686"/>
          </a:xfrm>
        </p:spPr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本文介绍三种跨域</a:t>
            </a:r>
            <a:r>
              <a:rPr lang="en-US" sz="2000" dirty="0">
                <a:sym typeface="Huawei Sans" panose="020C0503030203020204" pitchFamily="34" charset="0"/>
              </a:rPr>
              <a:t>VPN</a:t>
            </a:r>
            <a:r>
              <a:rPr lang="zh-CN" altLang="en-US" sz="2000" dirty="0">
                <a:sym typeface="Huawei Sans" panose="020C0503030203020204" pitchFamily="34" charset="0"/>
              </a:rPr>
              <a:t>解决方案，分别是：</a:t>
            </a: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跨域</a:t>
            </a:r>
            <a:r>
              <a:rPr lang="en-US" sz="1800" dirty="0" err="1">
                <a:sym typeface="Huawei Sans" panose="020C0503030203020204" pitchFamily="34" charset="0"/>
              </a:rPr>
              <a:t>VPN-OptionA（Inter-Provider</a:t>
            </a:r>
            <a:r>
              <a:rPr lang="en-US" sz="1800" dirty="0">
                <a:sym typeface="Huawei Sans" panose="020C0503030203020204" pitchFamily="34" charset="0"/>
              </a:rPr>
              <a:t> Backbones Option A）</a:t>
            </a:r>
            <a:r>
              <a:rPr lang="zh-CN" altLang="en-US" sz="1800" dirty="0">
                <a:sym typeface="Huawei Sans" panose="020C0503030203020204" pitchFamily="34" charset="0"/>
              </a:rPr>
              <a:t>方式：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需要跨域的</a:t>
            </a:r>
            <a:r>
              <a:rPr lang="en-US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en-US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间通过专用的接口管理自己的</a:t>
            </a:r>
            <a:r>
              <a:rPr lang="en-US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路由，也称为</a:t>
            </a:r>
            <a:r>
              <a:rPr lang="en-US" sz="1600" dirty="0">
                <a:sym typeface="Huawei Sans" panose="020C0503030203020204" pitchFamily="34" charset="0"/>
              </a:rPr>
              <a:t>VRF-to-VRF；</a:t>
            </a: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配置简单，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之间不需要运行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跨域</a:t>
            </a:r>
            <a:r>
              <a:rPr lang="en-US" sz="1800" dirty="0" err="1">
                <a:sym typeface="Huawei Sans" panose="020C0503030203020204" pitchFamily="34" charset="0"/>
              </a:rPr>
              <a:t>VPN-OptionB（Inter-Provider</a:t>
            </a:r>
            <a:r>
              <a:rPr lang="en-US" sz="1800" dirty="0">
                <a:sym typeface="Huawei Sans" panose="020C0503030203020204" pitchFamily="34" charset="0"/>
              </a:rPr>
              <a:t> Backbones Option B）</a:t>
            </a:r>
            <a:r>
              <a:rPr lang="zh-CN" altLang="en-US" sz="1800" dirty="0">
                <a:sym typeface="Huawei Sans" panose="020C0503030203020204" pitchFamily="34" charset="0"/>
              </a:rPr>
              <a:t>方式：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2"/>
            <a:r>
              <a:rPr lang="en-US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间通过</a:t>
            </a:r>
            <a:r>
              <a:rPr lang="en-US" sz="1600" dirty="0">
                <a:sym typeface="Huawei Sans" panose="020C0503030203020204" pitchFamily="34" charset="0"/>
              </a:rPr>
              <a:t>MP-EBGP</a:t>
            </a:r>
            <a:r>
              <a:rPr lang="zh-CN" altLang="en-US" sz="1600" dirty="0">
                <a:sym typeface="Huawei Sans" panose="020C0503030203020204" pitchFamily="34" charset="0"/>
              </a:rPr>
              <a:t>发布标签</a:t>
            </a:r>
            <a:r>
              <a:rPr lang="en-US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路由，也称为</a:t>
            </a:r>
            <a:r>
              <a:rPr lang="en-US" sz="1600" dirty="0">
                <a:sym typeface="Huawei Sans" panose="020C0503030203020204" pitchFamily="34" charset="0"/>
              </a:rPr>
              <a:t>EBGP redistribution of labeled VPNv4 routes；</a:t>
            </a:r>
          </a:p>
          <a:p>
            <a:pPr lvl="2"/>
            <a:r>
              <a:rPr lang="zh-CN" altLang="en-US" sz="1600" dirty="0">
                <a:sym typeface="Huawei Sans" panose="020C0503030203020204" pitchFamily="34" charset="0"/>
              </a:rPr>
              <a:t>不需要针对每个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创建不同接口。</a:t>
            </a:r>
            <a:endParaRPr lang="en-US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sym typeface="Huawei Sans" panose="020C0503030203020204" pitchFamily="34" charset="0"/>
              </a:rPr>
              <a:t>跨域</a:t>
            </a:r>
            <a:r>
              <a:rPr lang="en-US" sz="1800" dirty="0" err="1">
                <a:sym typeface="Huawei Sans" panose="020C0503030203020204" pitchFamily="34" charset="0"/>
              </a:rPr>
              <a:t>VPN-OptionC（Inter-Provider</a:t>
            </a:r>
            <a:r>
              <a:rPr lang="en-US" sz="1800" dirty="0">
                <a:sym typeface="Huawei Sans" panose="020C0503030203020204" pitchFamily="34" charset="0"/>
              </a:rPr>
              <a:t> Backbones Option C）</a:t>
            </a:r>
            <a:r>
              <a:rPr lang="zh-CN" altLang="en-US" sz="1800" dirty="0">
                <a:sym typeface="Huawei Sans" panose="020C0503030203020204" pitchFamily="34" charset="0"/>
              </a:rPr>
              <a:t>方式：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2"/>
            <a:r>
              <a:rPr lang="en-US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或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间通过</a:t>
            </a:r>
            <a:r>
              <a:rPr lang="en-US" sz="1600" dirty="0">
                <a:sym typeface="Huawei Sans" panose="020C0503030203020204" pitchFamily="34" charset="0"/>
              </a:rPr>
              <a:t>Multi-hop MP-EBGP</a:t>
            </a:r>
            <a:r>
              <a:rPr lang="zh-CN" altLang="en-US" sz="1600" dirty="0">
                <a:sym typeface="Huawei Sans" panose="020C0503030203020204" pitchFamily="34" charset="0"/>
              </a:rPr>
              <a:t>发布标签</a:t>
            </a:r>
            <a:r>
              <a:rPr lang="en-US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路由，也称为</a:t>
            </a:r>
            <a:r>
              <a:rPr lang="en-US" sz="1600" dirty="0" err="1">
                <a:sym typeface="Huawei Sans" panose="020C0503030203020204" pitchFamily="34" charset="0"/>
              </a:rPr>
              <a:t>Multihop</a:t>
            </a:r>
            <a:r>
              <a:rPr lang="en-US" sz="1600" dirty="0">
                <a:sym typeface="Huawei Sans" panose="020C0503030203020204" pitchFamily="34" charset="0"/>
              </a:rPr>
              <a:t> EBGP redistribution of labeled VPNv4 routes</a:t>
            </a:r>
            <a:r>
              <a:rPr lang="zh-CN" altLang="en-US" sz="1600" dirty="0">
                <a:sym typeface="Huawei Sans" panose="020C0503030203020204" pitchFamily="34" charset="0"/>
              </a:rPr>
              <a:t>；</a:t>
            </a:r>
            <a:endParaRPr lang="en-US" sz="1600" dirty="0">
              <a:sym typeface="Huawei Sans" panose="020C0503030203020204" pitchFamily="34" charset="0"/>
            </a:endParaRPr>
          </a:p>
          <a:p>
            <a:pPr lvl="2"/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不维护或发布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路由，配置较为复杂。</a:t>
            </a:r>
            <a:endParaRPr 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52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OptionA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工作原理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770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跨域</a:t>
            </a:r>
            <a:r>
              <a:rPr lang="en-US" altLang="zh-CN" sz="1600" dirty="0">
                <a:sym typeface="Huawei Sans" panose="020C0503030203020204" pitchFamily="34" charset="0"/>
              </a:rPr>
              <a:t>VPN-</a:t>
            </a:r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zh-CN" altLang="en-US" sz="1600" dirty="0">
                <a:sym typeface="Huawei Sans" panose="020C0503030203020204" pitchFamily="34" charset="0"/>
              </a:rPr>
              <a:t>是基本</a:t>
            </a:r>
            <a:r>
              <a:rPr lang="en-US" altLang="zh-CN" sz="1600" dirty="0">
                <a:sym typeface="Huawei Sans" panose="020C0503030203020204" pitchFamily="34" charset="0"/>
              </a:rPr>
              <a:t>BGP/MPLS IP VPN</a:t>
            </a:r>
            <a:r>
              <a:rPr lang="zh-CN" altLang="en-US" sz="1600" dirty="0">
                <a:sym typeface="Huawei Sans" panose="020C0503030203020204" pitchFamily="34" charset="0"/>
              </a:rPr>
              <a:t>在跨域环境下的应用，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之间不需要运行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，也不需要为跨域进行特殊配置。这种方式下，两个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的边界路由器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直接相连，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同时也是各自所在自治系统的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。两个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都把对端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看作自己的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设备，通过</a:t>
            </a:r>
            <a:r>
              <a:rPr lang="en-US" altLang="zh-CN" sz="1600" dirty="0">
                <a:sym typeface="Huawei Sans" panose="020C0503030203020204" pitchFamily="34" charset="0"/>
              </a:rPr>
              <a:t>EBGP</a:t>
            </a:r>
            <a:r>
              <a:rPr lang="zh-CN" altLang="en-US" sz="1600" dirty="0">
                <a:sym typeface="Huawei Sans" panose="020C0503030203020204" pitchFamily="34" charset="0"/>
              </a:rPr>
              <a:t>对等体关系向对端发布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路由。</a:t>
            </a:r>
          </a:p>
          <a:p>
            <a:endParaRPr lang="en-US" sz="1600" dirty="0">
              <a:sym typeface="Huawei Sans" panose="020C0503030203020204" pitchFamily="34" charset="0"/>
            </a:endParaRPr>
          </a:p>
        </p:txBody>
      </p:sp>
      <p:sp>
        <p:nvSpPr>
          <p:cNvPr id="48" name="矩形 47"/>
          <p:cNvSpPr/>
          <p:nvPr/>
        </p:nvSpPr>
        <p:spPr bwMode="gray">
          <a:xfrm>
            <a:off x="4351114" y="2436679"/>
            <a:ext cx="3433444" cy="299201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0" name="直接连接符 49"/>
          <p:cNvCxnSpPr/>
          <p:nvPr/>
        </p:nvCxnSpPr>
        <p:spPr bwMode="gray">
          <a:xfrm>
            <a:off x="4351114" y="2512392"/>
            <a:ext cx="3433444" cy="0"/>
          </a:xfrm>
          <a:prstGeom prst="line">
            <a:avLst/>
          </a:prstGeom>
          <a:ln w="28575">
            <a:solidFill>
              <a:srgbClr val="62B23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概述</a:t>
            </a:r>
            <a:endParaRPr lang="en-US" dirty="0">
              <a:sym typeface="Huawei Sans" panose="020C0503030203020204" pitchFamily="34" charset="0"/>
            </a:endParaRPr>
          </a:p>
        </p:txBody>
      </p:sp>
      <p:cxnSp>
        <p:nvCxnSpPr>
          <p:cNvPr id="4" name="直接连接符 3"/>
          <p:cNvCxnSpPr>
            <a:stCxn id="15" idx="3"/>
            <a:endCxn id="17" idx="1"/>
          </p:cNvCxnSpPr>
          <p:nvPr/>
        </p:nvCxnSpPr>
        <p:spPr bwMode="gray">
          <a:xfrm>
            <a:off x="2404049" y="2608373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 bwMode="gray">
          <a:xfrm>
            <a:off x="879829" y="2387464"/>
            <a:ext cx="3743204" cy="1509016"/>
            <a:chOff x="860640" y="1181905"/>
            <a:chExt cx="3743204" cy="1509016"/>
          </a:xfrm>
        </p:grpSpPr>
        <p:grpSp>
          <p:nvGrpSpPr>
            <p:cNvPr id="6" name="组合 5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20" name="文本框 19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 bwMode="gray">
            <a:xfrm>
              <a:off x="3584013" y="1181905"/>
              <a:ext cx="1019831" cy="723926"/>
              <a:chOff x="7854226" y="4938500"/>
              <a:chExt cx="1019831" cy="723926"/>
            </a:xfrm>
          </p:grpSpPr>
          <p:pic>
            <p:nvPicPr>
              <p:cNvPr id="17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8" name="文本框 17"/>
              <p:cNvSpPr txBox="1"/>
              <p:nvPr/>
            </p:nvSpPr>
            <p:spPr bwMode="gray">
              <a:xfrm>
                <a:off x="7854226" y="5354649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1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6" name="文本框 15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3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4" name="文本框 13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21" name="直接连接符 20"/>
          <p:cNvCxnSpPr>
            <a:stCxn id="13" idx="0"/>
            <a:endCxn id="15" idx="1"/>
          </p:cNvCxnSpPr>
          <p:nvPr/>
        </p:nvCxnSpPr>
        <p:spPr bwMode="gray">
          <a:xfrm flipV="1">
            <a:off x="1149829" y="2608373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 bwMode="gray">
          <a:xfrm>
            <a:off x="1758110" y="2284702"/>
            <a:ext cx="3729005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矩形 141"/>
          <p:cNvSpPr/>
          <p:nvPr/>
        </p:nvSpPr>
        <p:spPr bwMode="gray">
          <a:xfrm>
            <a:off x="1754377" y="3514911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cxnSp>
        <p:nvCxnSpPr>
          <p:cNvPr id="25" name="直接连接符 24"/>
          <p:cNvCxnSpPr>
            <a:stCxn id="36" idx="3"/>
            <a:endCxn id="38" idx="1"/>
          </p:cNvCxnSpPr>
          <p:nvPr/>
        </p:nvCxnSpPr>
        <p:spPr bwMode="gray">
          <a:xfrm>
            <a:off x="8324558" y="2608373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 bwMode="gray">
          <a:xfrm>
            <a:off x="7544644" y="2387464"/>
            <a:ext cx="3700511" cy="1509016"/>
            <a:chOff x="1604946" y="1181905"/>
            <a:chExt cx="3700511" cy="1509016"/>
          </a:xfrm>
        </p:grpSpPr>
        <p:grpSp>
          <p:nvGrpSpPr>
            <p:cNvPr id="27" name="组合 26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40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41" name="文本框 40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3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9" name="文本框 38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 bwMode="gray">
            <a:xfrm>
              <a:off x="1604946" y="1181905"/>
              <a:ext cx="1019831" cy="723926"/>
              <a:chOff x="3848657" y="4947622"/>
              <a:chExt cx="1019831" cy="723926"/>
            </a:xfrm>
          </p:grpSpPr>
          <p:pic>
            <p:nvPicPr>
              <p:cNvPr id="36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7" name="文本框 36"/>
              <p:cNvSpPr txBox="1"/>
              <p:nvPr/>
            </p:nvSpPr>
            <p:spPr bwMode="gray">
              <a:xfrm>
                <a:off x="3848657" y="5363771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32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3" name="文本框 32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43" name="直接连接符 42"/>
          <p:cNvCxnSpPr>
            <a:stCxn id="32" idx="0"/>
            <a:endCxn id="38" idx="3"/>
          </p:cNvCxnSpPr>
          <p:nvPr/>
        </p:nvCxnSpPr>
        <p:spPr bwMode="gray">
          <a:xfrm flipH="1" flipV="1">
            <a:off x="10271623" y="2608373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 bwMode="gray">
          <a:xfrm>
            <a:off x="6586243" y="2284701"/>
            <a:ext cx="3848912" cy="153910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矩形 141"/>
          <p:cNvSpPr/>
          <p:nvPr/>
        </p:nvSpPr>
        <p:spPr bwMode="gray">
          <a:xfrm>
            <a:off x="9585199" y="3508094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cxnSp>
        <p:nvCxnSpPr>
          <p:cNvPr id="51" name="直接连接符 50"/>
          <p:cNvCxnSpPr/>
          <p:nvPr/>
        </p:nvCxnSpPr>
        <p:spPr bwMode="gray">
          <a:xfrm>
            <a:off x="4351114" y="2599238"/>
            <a:ext cx="3433444" cy="0"/>
          </a:xfrm>
          <a:prstGeom prst="line">
            <a:avLst/>
          </a:prstGeom>
          <a:ln w="28575">
            <a:solidFill>
              <a:srgbClr val="62B23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 bwMode="gray">
          <a:xfrm>
            <a:off x="4351114" y="2681248"/>
            <a:ext cx="3433444" cy="0"/>
          </a:xfrm>
          <a:prstGeom prst="line">
            <a:avLst/>
          </a:prstGeom>
          <a:ln w="28575">
            <a:solidFill>
              <a:srgbClr val="62B2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61" idx="3"/>
            <a:endCxn id="63" idx="1"/>
          </p:cNvCxnSpPr>
          <p:nvPr/>
        </p:nvCxnSpPr>
        <p:spPr bwMode="gray">
          <a:xfrm>
            <a:off x="2404049" y="4813217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组合 53"/>
          <p:cNvGrpSpPr/>
          <p:nvPr/>
        </p:nvGrpSpPr>
        <p:grpSpPr bwMode="gray">
          <a:xfrm>
            <a:off x="879829" y="4592308"/>
            <a:ext cx="4385792" cy="1509016"/>
            <a:chOff x="860640" y="1181905"/>
            <a:chExt cx="4385792" cy="1509016"/>
          </a:xfrm>
        </p:grpSpPr>
        <p:grpSp>
          <p:nvGrpSpPr>
            <p:cNvPr id="55" name="组合 54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6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66" name="文本框 65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 bwMode="gray">
            <a:xfrm>
              <a:off x="3584013" y="1181905"/>
              <a:ext cx="1019831" cy="723926"/>
              <a:chOff x="7854226" y="4938500"/>
              <a:chExt cx="1019831" cy="723926"/>
            </a:xfrm>
          </p:grpSpPr>
          <p:pic>
            <p:nvPicPr>
              <p:cNvPr id="63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64" name="文本框 63"/>
              <p:cNvSpPr txBox="1"/>
              <p:nvPr/>
            </p:nvSpPr>
            <p:spPr bwMode="gray">
              <a:xfrm>
                <a:off x="7854226" y="5354649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57" name="组合 56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61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62" name="文本框 61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58" name="组合 57"/>
            <p:cNvGrpSpPr/>
            <p:nvPr/>
          </p:nvGrpSpPr>
          <p:grpSpPr bwMode="gray">
            <a:xfrm>
              <a:off x="860640" y="1978346"/>
              <a:ext cx="4385792" cy="712575"/>
              <a:chOff x="4073209" y="4947622"/>
              <a:chExt cx="4385792" cy="712575"/>
            </a:xfrm>
          </p:grpSpPr>
          <p:pic>
            <p:nvPicPr>
              <p:cNvPr id="5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60" name="文本框 59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 bwMode="gray">
              <a:xfrm>
                <a:off x="7956940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2B23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solidFill>
                    <a:srgbClr val="62B23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67" name="直接连接符 66"/>
          <p:cNvCxnSpPr>
            <a:stCxn id="59" idx="0"/>
            <a:endCxn id="61" idx="1"/>
          </p:cNvCxnSpPr>
          <p:nvPr/>
        </p:nvCxnSpPr>
        <p:spPr bwMode="gray">
          <a:xfrm flipV="1">
            <a:off x="1149829" y="4813217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 bwMode="gray">
          <a:xfrm>
            <a:off x="1758110" y="4489546"/>
            <a:ext cx="3729006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0" name="直接连接符 69"/>
          <p:cNvCxnSpPr>
            <a:stCxn id="63" idx="3"/>
            <a:endCxn id="81" idx="0"/>
          </p:cNvCxnSpPr>
          <p:nvPr/>
        </p:nvCxnSpPr>
        <p:spPr bwMode="gray">
          <a:xfrm>
            <a:off x="4351114" y="4813217"/>
            <a:ext cx="663477" cy="574550"/>
          </a:xfrm>
          <a:prstGeom prst="line">
            <a:avLst/>
          </a:prstGeom>
          <a:ln w="28575">
            <a:solidFill>
              <a:srgbClr val="62B23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 bwMode="gray">
          <a:xfrm>
            <a:off x="4744591" y="5387767"/>
            <a:ext cx="540000" cy="442800"/>
          </a:xfrm>
          <a:prstGeom prst="roundRect">
            <a:avLst/>
          </a:prstGeom>
          <a:solidFill>
            <a:srgbClr val="62B230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6" name="直接连接符 85"/>
          <p:cNvCxnSpPr>
            <a:stCxn id="95" idx="3"/>
            <a:endCxn id="97" idx="1"/>
          </p:cNvCxnSpPr>
          <p:nvPr/>
        </p:nvCxnSpPr>
        <p:spPr bwMode="gray">
          <a:xfrm>
            <a:off x="8391349" y="4813217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组合 86"/>
          <p:cNvGrpSpPr/>
          <p:nvPr/>
        </p:nvGrpSpPr>
        <p:grpSpPr bwMode="gray">
          <a:xfrm>
            <a:off x="6839148" y="4592308"/>
            <a:ext cx="4432743" cy="1509016"/>
            <a:chOff x="832659" y="1181905"/>
            <a:chExt cx="4432743" cy="1509016"/>
          </a:xfrm>
        </p:grpSpPr>
        <p:grpSp>
          <p:nvGrpSpPr>
            <p:cNvPr id="88" name="组合 87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9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00" name="文本框 99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97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98" name="文本框 97"/>
              <p:cNvSpPr txBox="1"/>
              <p:nvPr/>
            </p:nvSpPr>
            <p:spPr bwMode="gray">
              <a:xfrm>
                <a:off x="8085114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0" name="组合 89"/>
            <p:cNvGrpSpPr/>
            <p:nvPr/>
          </p:nvGrpSpPr>
          <p:grpSpPr bwMode="gray">
            <a:xfrm>
              <a:off x="1604946" y="1181905"/>
              <a:ext cx="1019831" cy="723926"/>
              <a:chOff x="3848657" y="4947622"/>
              <a:chExt cx="1019831" cy="723926"/>
            </a:xfrm>
          </p:grpSpPr>
          <p:pic>
            <p:nvPicPr>
              <p:cNvPr id="9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96" name="文本框 95"/>
              <p:cNvSpPr txBox="1"/>
              <p:nvPr/>
            </p:nvSpPr>
            <p:spPr bwMode="gray">
              <a:xfrm>
                <a:off x="3848657" y="5363771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1400" b="1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</a:defRPr>
                </a:lvl1pPr>
              </a:lstStyle>
              <a:p>
                <a:r>
                  <a:rPr lang="en-US" altLang="zh-CN" dirty="0">
                    <a:sym typeface="Huawei Sans" panose="020C0503030203020204" pitchFamily="34" charset="0"/>
                  </a:rPr>
                  <a:t>ASBR-PE2</a:t>
                </a:r>
                <a:endParaRPr lang="zh-CN" altLang="en-US" dirty="0"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 bwMode="gray">
            <a:xfrm>
              <a:off x="832659" y="1978346"/>
              <a:ext cx="4432743" cy="712575"/>
              <a:chOff x="4045228" y="4947622"/>
              <a:chExt cx="4432743" cy="712575"/>
            </a:xfrm>
          </p:grpSpPr>
          <p:sp>
            <p:nvSpPr>
              <p:cNvPr id="93" name="文本框 92"/>
              <p:cNvSpPr txBox="1"/>
              <p:nvPr/>
            </p:nvSpPr>
            <p:spPr bwMode="gray">
              <a:xfrm>
                <a:off x="4045228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62B230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solidFill>
                    <a:srgbClr val="62B23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94" name="文本框 93"/>
              <p:cNvSpPr txBox="1"/>
              <p:nvPr/>
            </p:nvSpPr>
            <p:spPr bwMode="gray">
              <a:xfrm>
                <a:off x="7937971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pic>
            <p:nvPicPr>
              <p:cNvPr id="10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7937971" y="4947622"/>
                <a:ext cx="540000" cy="441818"/>
              </a:xfrm>
              <a:prstGeom prst="rect">
                <a:avLst/>
              </a:prstGeom>
              <a:noFill/>
            </p:spPr>
          </p:pic>
        </p:grpSp>
      </p:grpSp>
      <p:cxnSp>
        <p:nvCxnSpPr>
          <p:cNvPr id="101" name="直接连接符 100"/>
          <p:cNvCxnSpPr>
            <a:stCxn id="103" idx="0"/>
            <a:endCxn id="95" idx="1"/>
          </p:cNvCxnSpPr>
          <p:nvPr/>
        </p:nvCxnSpPr>
        <p:spPr bwMode="gray">
          <a:xfrm flipV="1">
            <a:off x="7088931" y="4813217"/>
            <a:ext cx="762418" cy="574550"/>
          </a:xfrm>
          <a:prstGeom prst="line">
            <a:avLst/>
          </a:prstGeom>
          <a:ln w="28575">
            <a:solidFill>
              <a:srgbClr val="62B23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 bwMode="gray">
          <a:xfrm>
            <a:off x="6653034" y="4489546"/>
            <a:ext cx="3782121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4" name="直接连接符 103"/>
          <p:cNvCxnSpPr>
            <a:stCxn id="97" idx="3"/>
          </p:cNvCxnSpPr>
          <p:nvPr/>
        </p:nvCxnSpPr>
        <p:spPr bwMode="gray">
          <a:xfrm>
            <a:off x="10338414" y="4813217"/>
            <a:ext cx="663477" cy="5745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 bwMode="gray">
          <a:xfrm>
            <a:off x="2600367" y="5492117"/>
            <a:ext cx="1674711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当做自己的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114" name="文本框 113"/>
          <p:cNvSpPr txBox="1"/>
          <p:nvPr/>
        </p:nvSpPr>
        <p:spPr bwMode="gray">
          <a:xfrm>
            <a:off x="4668697" y="2783288"/>
            <a:ext cx="2942738" cy="461665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每个</a:t>
            </a:r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实例采用不同的逻辑链路。</a:t>
            </a:r>
            <a:endParaRPr lang="en-US" altLang="zh-CN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间交互</a:t>
            </a:r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路由。</a:t>
            </a:r>
          </a:p>
        </p:txBody>
      </p:sp>
      <p:sp>
        <p:nvSpPr>
          <p:cNvPr id="115" name="下箭头 114"/>
          <p:cNvSpPr/>
          <p:nvPr/>
        </p:nvSpPr>
        <p:spPr bwMode="gray">
          <a:xfrm>
            <a:off x="2837582" y="3896480"/>
            <a:ext cx="322097" cy="51850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BEE9EE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下箭头 115"/>
          <p:cNvSpPr/>
          <p:nvPr/>
        </p:nvSpPr>
        <p:spPr bwMode="gray">
          <a:xfrm>
            <a:off x="8919139" y="3896480"/>
            <a:ext cx="322097" cy="518502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BEE9EE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文本框 117"/>
          <p:cNvSpPr txBox="1"/>
          <p:nvPr/>
        </p:nvSpPr>
        <p:spPr bwMode="gray">
          <a:xfrm rot="2519384">
            <a:off x="4372573" y="5044418"/>
            <a:ext cx="1198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文本框 118"/>
          <p:cNvSpPr txBox="1"/>
          <p:nvPr/>
        </p:nvSpPr>
        <p:spPr bwMode="gray">
          <a:xfrm rot="19214303">
            <a:off x="7006622" y="4723125"/>
            <a:ext cx="11983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文本框 119"/>
          <p:cNvSpPr txBox="1"/>
          <p:nvPr/>
        </p:nvSpPr>
        <p:spPr bwMode="gray">
          <a:xfrm>
            <a:off x="5735706" y="2178578"/>
            <a:ext cx="733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圆角矩形 120"/>
          <p:cNvSpPr/>
          <p:nvPr/>
        </p:nvSpPr>
        <p:spPr bwMode="gray">
          <a:xfrm>
            <a:off x="711226" y="3126618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圆角矩形 121"/>
          <p:cNvSpPr/>
          <p:nvPr/>
        </p:nvSpPr>
        <p:spPr bwMode="gray">
          <a:xfrm>
            <a:off x="10550095" y="3126618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圆角矩形 122"/>
          <p:cNvSpPr/>
          <p:nvPr/>
        </p:nvSpPr>
        <p:spPr bwMode="gray">
          <a:xfrm>
            <a:off x="711226" y="5325384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矩形 141"/>
          <p:cNvSpPr/>
          <p:nvPr/>
        </p:nvSpPr>
        <p:spPr bwMode="gray">
          <a:xfrm>
            <a:off x="1754377" y="5760544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25" name="矩形 141"/>
          <p:cNvSpPr/>
          <p:nvPr/>
        </p:nvSpPr>
        <p:spPr bwMode="gray">
          <a:xfrm>
            <a:off x="9585199" y="5753727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26" name="圆角矩形 125"/>
          <p:cNvSpPr/>
          <p:nvPr/>
        </p:nvSpPr>
        <p:spPr bwMode="gray">
          <a:xfrm>
            <a:off x="10539035" y="5325384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圆角矩形 102"/>
          <p:cNvSpPr/>
          <p:nvPr/>
        </p:nvSpPr>
        <p:spPr bwMode="gray">
          <a:xfrm>
            <a:off x="6818931" y="5387767"/>
            <a:ext cx="540000" cy="442800"/>
          </a:xfrm>
          <a:prstGeom prst="roundRect">
            <a:avLst/>
          </a:prstGeom>
          <a:solidFill>
            <a:srgbClr val="62B230"/>
          </a:solidFill>
          <a:ln w="28575" cap="flat" cmpd="sng" algn="ctr">
            <a:noFill/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400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endParaRPr lang="en-US" altLang="zh-CN" sz="1200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文本框 104"/>
          <p:cNvSpPr txBox="1"/>
          <p:nvPr/>
        </p:nvSpPr>
        <p:spPr bwMode="gray">
          <a:xfrm>
            <a:off x="7886464" y="5492117"/>
            <a:ext cx="1674711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当做自己的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8704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ine 98"/>
          <p:cNvSpPr>
            <a:spLocks noChangeShapeType="1"/>
          </p:cNvSpPr>
          <p:nvPr/>
        </p:nvSpPr>
        <p:spPr bwMode="gray">
          <a:xfrm>
            <a:off x="5433826" y="3484889"/>
            <a:ext cx="0" cy="137953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Line 98"/>
          <p:cNvSpPr>
            <a:spLocks noChangeShapeType="1"/>
          </p:cNvSpPr>
          <p:nvPr/>
        </p:nvSpPr>
        <p:spPr bwMode="gray">
          <a:xfrm>
            <a:off x="3777554" y="3484889"/>
            <a:ext cx="0" cy="137953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Line 98"/>
          <p:cNvSpPr>
            <a:spLocks noChangeShapeType="1"/>
          </p:cNvSpPr>
          <p:nvPr/>
        </p:nvSpPr>
        <p:spPr bwMode="gray">
          <a:xfrm>
            <a:off x="8367790" y="3484889"/>
            <a:ext cx="0" cy="137953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Line 98"/>
          <p:cNvSpPr>
            <a:spLocks noChangeShapeType="1"/>
          </p:cNvSpPr>
          <p:nvPr/>
        </p:nvSpPr>
        <p:spPr bwMode="gray">
          <a:xfrm>
            <a:off x="6711518" y="3484889"/>
            <a:ext cx="0" cy="137953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拓扑说明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两台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之间用多个物理接口</a:t>
            </a:r>
            <a:r>
              <a:rPr lang="en-US" altLang="zh-CN" sz="1600" dirty="0">
                <a:sym typeface="Huawei Sans" panose="020C0503030203020204" pitchFamily="34" charset="0"/>
              </a:rPr>
              <a:t>(</a:t>
            </a:r>
            <a:r>
              <a:rPr lang="zh-CN" altLang="en-US" sz="1600" dirty="0">
                <a:sym typeface="Huawei Sans" panose="020C0503030203020204" pitchFamily="34" charset="0"/>
              </a:rPr>
              <a:t>或子接口</a:t>
            </a:r>
            <a:r>
              <a:rPr lang="en-US" altLang="zh-CN" sz="1600" dirty="0">
                <a:sym typeface="Huawei Sans" panose="020C0503030203020204" pitchFamily="34" charset="0"/>
              </a:rPr>
              <a:t>)</a:t>
            </a:r>
            <a:r>
              <a:rPr lang="zh-CN" altLang="en-US" sz="1600" dirty="0">
                <a:sym typeface="Huawei Sans" panose="020C0503030203020204" pitchFamily="34" charset="0"/>
              </a:rPr>
              <a:t>互连，每个接口关联一个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，每个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都把对端当成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。因此，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相连的接口需要绑定</a:t>
            </a:r>
            <a:r>
              <a:rPr lang="en-US" altLang="zh-CN" sz="1600" dirty="0">
                <a:sym typeface="Huawei Sans" panose="020C0503030203020204" pitchFamily="34" charset="0"/>
              </a:rPr>
              <a:t>VRF</a:t>
            </a:r>
            <a:r>
              <a:rPr lang="zh-CN" altLang="en-US" sz="1600" dirty="0">
                <a:sym typeface="Huawei Sans" panose="020C0503030203020204" pitchFamily="34" charset="0"/>
              </a:rPr>
              <a:t>，并通过</a:t>
            </a:r>
            <a:r>
              <a:rPr lang="en-US" altLang="zh-CN" sz="1600" dirty="0">
                <a:sym typeface="Huawei Sans" panose="020C0503030203020204" pitchFamily="34" charset="0"/>
              </a:rPr>
              <a:t>EBGP</a:t>
            </a:r>
            <a:r>
              <a:rPr lang="zh-CN" altLang="en-US" sz="1600" dirty="0">
                <a:sym typeface="Huawei Sans" panose="020C0503030203020204" pitchFamily="34" charset="0"/>
              </a:rPr>
              <a:t>邻居关系把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路由转变成普通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路由从一个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传递到另一个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。因此，两个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相连，但不需要启用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4" name="AutoShape 93"/>
          <p:cNvSpPr>
            <a:spLocks noChangeArrowheads="1"/>
          </p:cNvSpPr>
          <p:nvPr/>
        </p:nvSpPr>
        <p:spPr bwMode="gray">
          <a:xfrm rot="5400000">
            <a:off x="6088955" y="2184721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Text Box 28"/>
          <p:cNvSpPr txBox="1">
            <a:spLocks noChangeArrowheads="1"/>
          </p:cNvSpPr>
          <p:nvPr/>
        </p:nvSpPr>
        <p:spPr bwMode="gray">
          <a:xfrm>
            <a:off x="3899036" y="3210251"/>
            <a:ext cx="520271" cy="312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0" name="Text Box 29"/>
          <p:cNvSpPr txBox="1">
            <a:spLocks noChangeArrowheads="1"/>
          </p:cNvSpPr>
          <p:nvPr/>
        </p:nvSpPr>
        <p:spPr bwMode="gray">
          <a:xfrm>
            <a:off x="7839968" y="3210251"/>
            <a:ext cx="5286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1" name="Text Box 30"/>
          <p:cNvSpPr txBox="1">
            <a:spLocks noChangeArrowheads="1"/>
          </p:cNvSpPr>
          <p:nvPr/>
        </p:nvSpPr>
        <p:spPr bwMode="gray">
          <a:xfrm>
            <a:off x="4501455" y="3476294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gray">
          <a:xfrm>
            <a:off x="6677918" y="3476294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13" name="Text Box 32"/>
          <p:cNvSpPr txBox="1">
            <a:spLocks noChangeArrowheads="1"/>
          </p:cNvSpPr>
          <p:nvPr/>
        </p:nvSpPr>
        <p:spPr bwMode="gray">
          <a:xfrm>
            <a:off x="4391918" y="3127701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4" name="Text Box 33"/>
          <p:cNvSpPr txBox="1">
            <a:spLocks noChangeArrowheads="1"/>
          </p:cNvSpPr>
          <p:nvPr/>
        </p:nvSpPr>
        <p:spPr bwMode="gray">
          <a:xfrm>
            <a:off x="7393880" y="3130876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5" name="Text Box 34"/>
          <p:cNvSpPr txBox="1">
            <a:spLocks noChangeArrowheads="1"/>
          </p:cNvSpPr>
          <p:nvPr/>
        </p:nvSpPr>
        <p:spPr bwMode="gray">
          <a:xfrm>
            <a:off x="2572808" y="4278639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gray">
          <a:xfrm>
            <a:off x="9175848" y="4277048"/>
            <a:ext cx="5254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gray">
          <a:xfrm>
            <a:off x="3661668" y="220377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20" name="Line 39"/>
          <p:cNvSpPr>
            <a:spLocks noChangeShapeType="1"/>
          </p:cNvSpPr>
          <p:nvPr/>
        </p:nvSpPr>
        <p:spPr bwMode="gray">
          <a:xfrm flipV="1">
            <a:off x="3918843" y="3027689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gray">
          <a:xfrm>
            <a:off x="4760218" y="3065789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Line 41"/>
          <p:cNvSpPr>
            <a:spLocks noChangeShapeType="1"/>
          </p:cNvSpPr>
          <p:nvPr/>
        </p:nvSpPr>
        <p:spPr bwMode="gray">
          <a:xfrm flipV="1">
            <a:off x="6889055" y="3037214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Line 42"/>
          <p:cNvSpPr>
            <a:spLocks noChangeShapeType="1"/>
          </p:cNvSpPr>
          <p:nvPr/>
        </p:nvSpPr>
        <p:spPr bwMode="gray">
          <a:xfrm>
            <a:off x="7790755" y="3027689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Line 43"/>
          <p:cNvSpPr>
            <a:spLocks noChangeShapeType="1"/>
          </p:cNvSpPr>
          <p:nvPr/>
        </p:nvSpPr>
        <p:spPr bwMode="gray">
          <a:xfrm>
            <a:off x="5638105" y="3335664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Line 66"/>
          <p:cNvSpPr>
            <a:spLocks noChangeShapeType="1"/>
          </p:cNvSpPr>
          <p:nvPr/>
        </p:nvSpPr>
        <p:spPr bwMode="gray">
          <a:xfrm flipV="1">
            <a:off x="2880618" y="3459489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Line 67"/>
          <p:cNvSpPr>
            <a:spLocks noChangeShapeType="1"/>
          </p:cNvSpPr>
          <p:nvPr/>
        </p:nvSpPr>
        <p:spPr bwMode="gray">
          <a:xfrm>
            <a:off x="8578155" y="3459489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AutoShape 90"/>
          <p:cNvSpPr>
            <a:spLocks noChangeArrowheads="1"/>
          </p:cNvSpPr>
          <p:nvPr/>
        </p:nvSpPr>
        <p:spPr bwMode="gray">
          <a:xfrm rot="5400000">
            <a:off x="4395886" y="4244503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AutoShape 91"/>
          <p:cNvSpPr>
            <a:spLocks noChangeArrowheads="1"/>
          </p:cNvSpPr>
          <p:nvPr/>
        </p:nvSpPr>
        <p:spPr bwMode="gray">
          <a:xfrm rot="5400000">
            <a:off x="4211735" y="4361978"/>
            <a:ext cx="809625" cy="1839912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AutoShape 94"/>
          <p:cNvSpPr>
            <a:spLocks noChangeArrowheads="1"/>
          </p:cNvSpPr>
          <p:nvPr/>
        </p:nvSpPr>
        <p:spPr bwMode="gray">
          <a:xfrm rot="5400000">
            <a:off x="7383561" y="4231803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" name="AutoShape 95"/>
          <p:cNvSpPr>
            <a:spLocks noChangeArrowheads="1"/>
          </p:cNvSpPr>
          <p:nvPr/>
        </p:nvSpPr>
        <p:spPr bwMode="gray">
          <a:xfrm rot="5400000">
            <a:off x="7183736" y="4336377"/>
            <a:ext cx="809625" cy="1865714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7" name="Line 97"/>
          <p:cNvSpPr>
            <a:spLocks noChangeShapeType="1"/>
          </p:cNvSpPr>
          <p:nvPr/>
        </p:nvSpPr>
        <p:spPr bwMode="gray">
          <a:xfrm>
            <a:off x="3618805" y="3484889"/>
            <a:ext cx="0" cy="16319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Line 98"/>
          <p:cNvSpPr>
            <a:spLocks noChangeShapeType="1"/>
          </p:cNvSpPr>
          <p:nvPr/>
        </p:nvSpPr>
        <p:spPr bwMode="gray">
          <a:xfrm>
            <a:off x="5606355" y="3484889"/>
            <a:ext cx="0" cy="16319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Line 99"/>
          <p:cNvSpPr>
            <a:spLocks noChangeShapeType="1"/>
          </p:cNvSpPr>
          <p:nvPr/>
        </p:nvSpPr>
        <p:spPr bwMode="gray">
          <a:xfrm>
            <a:off x="6568380" y="3476951"/>
            <a:ext cx="0" cy="16319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0" name="Line 100"/>
          <p:cNvSpPr>
            <a:spLocks noChangeShapeType="1"/>
          </p:cNvSpPr>
          <p:nvPr/>
        </p:nvSpPr>
        <p:spPr bwMode="gray">
          <a:xfrm>
            <a:off x="8598793" y="3476951"/>
            <a:ext cx="0" cy="16319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0" name="Line 160"/>
          <p:cNvSpPr>
            <a:spLocks noChangeShapeType="1"/>
          </p:cNvSpPr>
          <p:nvPr/>
        </p:nvSpPr>
        <p:spPr bwMode="gray">
          <a:xfrm>
            <a:off x="9228347" y="4332614"/>
            <a:ext cx="7034" cy="92391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1" name="Text Box 171"/>
          <p:cNvSpPr txBox="1">
            <a:spLocks noChangeArrowheads="1"/>
          </p:cNvSpPr>
          <p:nvPr/>
        </p:nvSpPr>
        <p:spPr bwMode="gray">
          <a:xfrm>
            <a:off x="3652143" y="241967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52" name="Arc 172"/>
          <p:cNvSpPr>
            <a:spLocks/>
          </p:cNvSpPr>
          <p:nvPr/>
        </p:nvSpPr>
        <p:spPr bwMode="gray">
          <a:xfrm rot="18721372">
            <a:off x="3982735" y="2501491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" name="Text Box 173"/>
          <p:cNvSpPr txBox="1">
            <a:spLocks noChangeArrowheads="1"/>
          </p:cNvSpPr>
          <p:nvPr/>
        </p:nvSpPr>
        <p:spPr bwMode="gray">
          <a:xfrm>
            <a:off x="6658868" y="217837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54" name="Text Box 174"/>
          <p:cNvSpPr txBox="1">
            <a:spLocks noChangeArrowheads="1"/>
          </p:cNvSpPr>
          <p:nvPr/>
        </p:nvSpPr>
        <p:spPr bwMode="gray">
          <a:xfrm>
            <a:off x="6649343" y="239427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55" name="Arc 175"/>
          <p:cNvSpPr>
            <a:spLocks/>
          </p:cNvSpPr>
          <p:nvPr/>
        </p:nvSpPr>
        <p:spPr bwMode="gray">
          <a:xfrm rot="18721372">
            <a:off x="6967637" y="2487145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Text Box 36"/>
          <p:cNvSpPr txBox="1">
            <a:spLocks noChangeArrowheads="1"/>
          </p:cNvSpPr>
          <p:nvPr/>
        </p:nvSpPr>
        <p:spPr bwMode="gray">
          <a:xfrm>
            <a:off x="3181077" y="2596484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57" name="Text Box 36"/>
          <p:cNvSpPr txBox="1">
            <a:spLocks noChangeArrowheads="1"/>
          </p:cNvSpPr>
          <p:nvPr/>
        </p:nvSpPr>
        <p:spPr bwMode="gray">
          <a:xfrm>
            <a:off x="7914349" y="2596484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pic>
        <p:nvPicPr>
          <p:cNvPr id="158" name="Picture 15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71081" y="3940107"/>
            <a:ext cx="436636" cy="395012"/>
          </a:xfrm>
          <a:prstGeom prst="rect">
            <a:avLst/>
          </a:prstGeom>
          <a:noFill/>
        </p:spPr>
      </p:pic>
      <p:pic>
        <p:nvPicPr>
          <p:cNvPr id="159" name="Picture 158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503712" y="3146357"/>
            <a:ext cx="436636" cy="395012"/>
          </a:xfrm>
          <a:prstGeom prst="rect">
            <a:avLst/>
          </a:prstGeom>
          <a:noFill/>
        </p:spPr>
      </p:pic>
      <p:pic>
        <p:nvPicPr>
          <p:cNvPr id="160" name="Picture 15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388437" y="2774102"/>
            <a:ext cx="436636" cy="395012"/>
          </a:xfrm>
          <a:prstGeom prst="rect">
            <a:avLst/>
          </a:prstGeom>
          <a:noFill/>
        </p:spPr>
      </p:pic>
      <p:pic>
        <p:nvPicPr>
          <p:cNvPr id="161" name="Picture 16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247151" y="3147027"/>
            <a:ext cx="436636" cy="395012"/>
          </a:xfrm>
          <a:prstGeom prst="rect">
            <a:avLst/>
          </a:prstGeom>
          <a:noFill/>
        </p:spPr>
      </p:pic>
      <p:pic>
        <p:nvPicPr>
          <p:cNvPr id="162" name="Picture 16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466780" y="3154324"/>
            <a:ext cx="436636" cy="395012"/>
          </a:xfrm>
          <a:prstGeom prst="rect">
            <a:avLst/>
          </a:prstGeom>
          <a:noFill/>
        </p:spPr>
      </p:pic>
      <p:pic>
        <p:nvPicPr>
          <p:cNvPr id="163" name="Picture 16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28600" y="2776087"/>
            <a:ext cx="436636" cy="395012"/>
          </a:xfrm>
          <a:prstGeom prst="rect">
            <a:avLst/>
          </a:prstGeom>
          <a:noFill/>
        </p:spPr>
      </p:pic>
      <p:pic>
        <p:nvPicPr>
          <p:cNvPr id="164" name="Picture 16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315387" y="3146357"/>
            <a:ext cx="436636" cy="395012"/>
          </a:xfrm>
          <a:prstGeom prst="rect">
            <a:avLst/>
          </a:prstGeom>
          <a:noFill/>
        </p:spPr>
      </p:pic>
      <p:pic>
        <p:nvPicPr>
          <p:cNvPr id="165" name="Picture 16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228348" y="3937602"/>
            <a:ext cx="436636" cy="395012"/>
          </a:xfrm>
          <a:prstGeom prst="rect">
            <a:avLst/>
          </a:prstGeom>
          <a:noFill/>
        </p:spPr>
      </p:pic>
      <p:sp>
        <p:nvSpPr>
          <p:cNvPr id="81" name="圆角矩形 80"/>
          <p:cNvSpPr/>
          <p:nvPr/>
        </p:nvSpPr>
        <p:spPr bwMode="gray">
          <a:xfrm>
            <a:off x="3386226" y="222920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圆角矩形 81"/>
          <p:cNvSpPr/>
          <p:nvPr/>
        </p:nvSpPr>
        <p:spPr bwMode="gray">
          <a:xfrm>
            <a:off x="6407639" y="222920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Line 160"/>
          <p:cNvSpPr>
            <a:spLocks noChangeShapeType="1"/>
          </p:cNvSpPr>
          <p:nvPr/>
        </p:nvSpPr>
        <p:spPr bwMode="gray">
          <a:xfrm flipH="1">
            <a:off x="3207717" y="4332614"/>
            <a:ext cx="0" cy="923919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圆角矩形 90"/>
          <p:cNvSpPr/>
          <p:nvPr/>
        </p:nvSpPr>
        <p:spPr bwMode="gray">
          <a:xfrm>
            <a:off x="2596454" y="3842545"/>
            <a:ext cx="736885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圆角矩形 91"/>
          <p:cNvSpPr/>
          <p:nvPr/>
        </p:nvSpPr>
        <p:spPr bwMode="gray">
          <a:xfrm>
            <a:off x="9067765" y="3842545"/>
            <a:ext cx="736885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 bwMode="gray">
          <a:xfrm>
            <a:off x="5700419" y="3114227"/>
            <a:ext cx="733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AutoShape 93"/>
          <p:cNvSpPr>
            <a:spLocks noChangeArrowheads="1"/>
          </p:cNvSpPr>
          <p:nvPr/>
        </p:nvSpPr>
        <p:spPr bwMode="gray">
          <a:xfrm rot="5400000">
            <a:off x="10563367" y="5249052"/>
            <a:ext cx="150924" cy="641816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gray">
          <a:xfrm>
            <a:off x="10959737" y="5397047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AutoShape 93"/>
          <p:cNvSpPr>
            <a:spLocks noChangeArrowheads="1"/>
          </p:cNvSpPr>
          <p:nvPr/>
        </p:nvSpPr>
        <p:spPr bwMode="gray">
          <a:xfrm rot="5400000">
            <a:off x="10563367" y="5497427"/>
            <a:ext cx="150924" cy="641816"/>
          </a:xfrm>
          <a:prstGeom prst="can">
            <a:avLst>
              <a:gd name="adj" fmla="val 77995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7" name="文本框 96"/>
          <p:cNvSpPr txBox="1"/>
          <p:nvPr/>
        </p:nvSpPr>
        <p:spPr bwMode="gray">
          <a:xfrm>
            <a:off x="10959737" y="5645422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AutoShape 93"/>
          <p:cNvSpPr>
            <a:spLocks noChangeArrowheads="1"/>
          </p:cNvSpPr>
          <p:nvPr/>
        </p:nvSpPr>
        <p:spPr bwMode="gray">
          <a:xfrm rot="5400000">
            <a:off x="10563367" y="5745802"/>
            <a:ext cx="150924" cy="641816"/>
          </a:xfrm>
          <a:prstGeom prst="can">
            <a:avLst>
              <a:gd name="adj" fmla="val 77995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文本框 98"/>
          <p:cNvSpPr txBox="1"/>
          <p:nvPr/>
        </p:nvSpPr>
        <p:spPr bwMode="gray">
          <a:xfrm>
            <a:off x="10959737" y="5893797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715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控制平面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，路由的下一跳为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，分配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ASBR-PE2,</a:t>
            </a:r>
            <a:r>
              <a:rPr lang="zh-CN" altLang="en-US" sz="1400" dirty="0">
                <a:sym typeface="Huawei Sans" panose="020C0503030203020204" pitchFamily="34" charset="0"/>
              </a:rPr>
              <a:t>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，分配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路由转变为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路由，通告给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" name="Line 277"/>
          <p:cNvSpPr>
            <a:spLocks noChangeShapeType="1"/>
          </p:cNvSpPr>
          <p:nvPr/>
        </p:nvSpPr>
        <p:spPr bwMode="gray">
          <a:xfrm>
            <a:off x="3831390" y="4541724"/>
            <a:ext cx="1359836" cy="9453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Line 277"/>
          <p:cNvSpPr>
            <a:spLocks noChangeShapeType="1"/>
          </p:cNvSpPr>
          <p:nvPr/>
        </p:nvSpPr>
        <p:spPr bwMode="gray">
          <a:xfrm flipV="1">
            <a:off x="5191224" y="4535421"/>
            <a:ext cx="1771851" cy="25282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57"/>
          <p:cNvSpPr txBox="1">
            <a:spLocks noChangeArrowheads="1"/>
          </p:cNvSpPr>
          <p:nvPr/>
        </p:nvSpPr>
        <p:spPr bwMode="gray">
          <a:xfrm>
            <a:off x="6845599" y="4260782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9" name="Text Box 158"/>
          <p:cNvSpPr txBox="1">
            <a:spLocks noChangeArrowheads="1"/>
          </p:cNvSpPr>
          <p:nvPr/>
        </p:nvSpPr>
        <p:spPr bwMode="gray">
          <a:xfrm>
            <a:off x="6107411" y="3013007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0" name="Text Box 159"/>
          <p:cNvSpPr txBox="1">
            <a:spLocks noChangeArrowheads="1"/>
          </p:cNvSpPr>
          <p:nvPr/>
        </p:nvSpPr>
        <p:spPr bwMode="gray">
          <a:xfrm>
            <a:off x="5231111" y="3013007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1" name="Text Box 160"/>
          <p:cNvSpPr txBox="1">
            <a:spLocks noChangeArrowheads="1"/>
          </p:cNvSpPr>
          <p:nvPr/>
        </p:nvSpPr>
        <p:spPr bwMode="gray">
          <a:xfrm>
            <a:off x="3953174" y="4260782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2" name="Text Box 161"/>
          <p:cNvSpPr txBox="1">
            <a:spLocks noChangeArrowheads="1"/>
          </p:cNvSpPr>
          <p:nvPr/>
        </p:nvSpPr>
        <p:spPr bwMode="gray">
          <a:xfrm>
            <a:off x="2508549" y="4260782"/>
            <a:ext cx="1349375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sp>
        <p:nvSpPr>
          <p:cNvPr id="13" name="Text Box 162"/>
          <p:cNvSpPr txBox="1">
            <a:spLocks noChangeArrowheads="1"/>
          </p:cNvSpPr>
          <p:nvPr/>
        </p:nvSpPr>
        <p:spPr bwMode="gray">
          <a:xfrm>
            <a:off x="1244899" y="4260782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4" name="Text Box 163"/>
          <p:cNvSpPr txBox="1">
            <a:spLocks noChangeArrowheads="1"/>
          </p:cNvSpPr>
          <p:nvPr/>
        </p:nvSpPr>
        <p:spPr bwMode="gray">
          <a:xfrm>
            <a:off x="3059411" y="3013007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5" name="Text Box 164"/>
          <p:cNvSpPr txBox="1">
            <a:spLocks noChangeArrowheads="1"/>
          </p:cNvSpPr>
          <p:nvPr/>
        </p:nvSpPr>
        <p:spPr bwMode="gray">
          <a:xfrm>
            <a:off x="2259311" y="3013007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8" name="Text Box 167"/>
          <p:cNvSpPr txBox="1">
            <a:spLocks noChangeArrowheads="1"/>
          </p:cNvSpPr>
          <p:nvPr/>
        </p:nvSpPr>
        <p:spPr bwMode="gray">
          <a:xfrm>
            <a:off x="2289193" y="2311433"/>
            <a:ext cx="6453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9" name="Text Box 168"/>
          <p:cNvSpPr txBox="1">
            <a:spLocks noChangeArrowheads="1"/>
          </p:cNvSpPr>
          <p:nvPr/>
        </p:nvSpPr>
        <p:spPr bwMode="gray">
          <a:xfrm>
            <a:off x="6317352" y="2283297"/>
            <a:ext cx="5611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20" name="Text Box 169"/>
          <p:cNvSpPr txBox="1">
            <a:spLocks noChangeArrowheads="1"/>
          </p:cNvSpPr>
          <p:nvPr/>
        </p:nvSpPr>
        <p:spPr bwMode="gray">
          <a:xfrm>
            <a:off x="2955647" y="2420076"/>
            <a:ext cx="10350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21" name="Text Box 170"/>
          <p:cNvSpPr txBox="1">
            <a:spLocks noChangeArrowheads="1"/>
          </p:cNvSpPr>
          <p:nvPr/>
        </p:nvSpPr>
        <p:spPr bwMode="gray">
          <a:xfrm>
            <a:off x="5172599" y="2420076"/>
            <a:ext cx="1052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22" name="Text Box 171"/>
          <p:cNvSpPr txBox="1">
            <a:spLocks noChangeArrowheads="1"/>
          </p:cNvSpPr>
          <p:nvPr/>
        </p:nvSpPr>
        <p:spPr bwMode="gray">
          <a:xfrm>
            <a:off x="784524" y="3198745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23" name="Text Box 172"/>
          <p:cNvSpPr txBox="1">
            <a:spLocks noChangeArrowheads="1"/>
          </p:cNvSpPr>
          <p:nvPr/>
        </p:nvSpPr>
        <p:spPr bwMode="gray">
          <a:xfrm>
            <a:off x="7777461" y="3182870"/>
            <a:ext cx="6359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6" name="Line 175"/>
          <p:cNvSpPr>
            <a:spLocks noChangeShapeType="1"/>
          </p:cNvSpPr>
          <p:nvPr/>
        </p:nvSpPr>
        <p:spPr bwMode="gray">
          <a:xfrm flipV="1">
            <a:off x="2400599" y="1931920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Line 176"/>
          <p:cNvSpPr>
            <a:spLocks noChangeShapeType="1"/>
          </p:cNvSpPr>
          <p:nvPr/>
        </p:nvSpPr>
        <p:spPr bwMode="gray">
          <a:xfrm>
            <a:off x="3241974" y="1970020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Line 177"/>
          <p:cNvSpPr>
            <a:spLocks noChangeShapeType="1"/>
          </p:cNvSpPr>
          <p:nvPr/>
        </p:nvSpPr>
        <p:spPr bwMode="gray">
          <a:xfrm flipV="1">
            <a:off x="5370811" y="1941445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Line 178"/>
          <p:cNvSpPr>
            <a:spLocks noChangeShapeType="1"/>
          </p:cNvSpPr>
          <p:nvPr/>
        </p:nvSpPr>
        <p:spPr bwMode="gray">
          <a:xfrm>
            <a:off x="6272511" y="1931920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Line 179"/>
          <p:cNvSpPr>
            <a:spLocks noChangeShapeType="1"/>
          </p:cNvSpPr>
          <p:nvPr/>
        </p:nvSpPr>
        <p:spPr bwMode="gray">
          <a:xfrm>
            <a:off x="4119861" y="2239895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Line 202"/>
          <p:cNvSpPr>
            <a:spLocks noChangeShapeType="1"/>
          </p:cNvSpPr>
          <p:nvPr/>
        </p:nvSpPr>
        <p:spPr bwMode="gray">
          <a:xfrm flipV="1">
            <a:off x="1362374" y="2363720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Line 203"/>
          <p:cNvSpPr>
            <a:spLocks noChangeShapeType="1"/>
          </p:cNvSpPr>
          <p:nvPr/>
        </p:nvSpPr>
        <p:spPr bwMode="gray">
          <a:xfrm>
            <a:off x="7059911" y="2363720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Line 259"/>
          <p:cNvSpPr>
            <a:spLocks noChangeShapeType="1"/>
          </p:cNvSpPr>
          <p:nvPr/>
        </p:nvSpPr>
        <p:spPr bwMode="gray">
          <a:xfrm>
            <a:off x="1392536" y="3243195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Line 260"/>
          <p:cNvSpPr>
            <a:spLocks noChangeShapeType="1"/>
          </p:cNvSpPr>
          <p:nvPr/>
        </p:nvSpPr>
        <p:spPr bwMode="gray">
          <a:xfrm>
            <a:off x="2273599" y="2449445"/>
            <a:ext cx="1587" cy="251936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Line 261"/>
          <p:cNvSpPr>
            <a:spLocks noChangeShapeType="1"/>
          </p:cNvSpPr>
          <p:nvPr/>
        </p:nvSpPr>
        <p:spPr bwMode="gray">
          <a:xfrm>
            <a:off x="3942061" y="2446270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Line 262"/>
          <p:cNvSpPr>
            <a:spLocks noChangeShapeType="1"/>
          </p:cNvSpPr>
          <p:nvPr/>
        </p:nvSpPr>
        <p:spPr bwMode="gray">
          <a:xfrm>
            <a:off x="5173961" y="2420870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Line 263"/>
          <p:cNvSpPr>
            <a:spLocks noChangeShapeType="1"/>
          </p:cNvSpPr>
          <p:nvPr/>
        </p:nvSpPr>
        <p:spPr bwMode="gray">
          <a:xfrm>
            <a:off x="6988474" y="2500245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Line 264"/>
          <p:cNvSpPr>
            <a:spLocks noChangeShapeType="1"/>
          </p:cNvSpPr>
          <p:nvPr/>
        </p:nvSpPr>
        <p:spPr bwMode="gray">
          <a:xfrm>
            <a:off x="7834611" y="3295582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Line 265"/>
          <p:cNvSpPr>
            <a:spLocks noChangeShapeType="1"/>
          </p:cNvSpPr>
          <p:nvPr/>
        </p:nvSpPr>
        <p:spPr bwMode="gray">
          <a:xfrm>
            <a:off x="3062586" y="2331970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Line 266"/>
          <p:cNvSpPr>
            <a:spLocks noChangeShapeType="1"/>
          </p:cNvSpPr>
          <p:nvPr/>
        </p:nvSpPr>
        <p:spPr bwMode="gray">
          <a:xfrm>
            <a:off x="6080424" y="2344670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Line 267"/>
          <p:cNvSpPr>
            <a:spLocks noChangeShapeType="1"/>
          </p:cNvSpPr>
          <p:nvPr/>
        </p:nvSpPr>
        <p:spPr bwMode="gray">
          <a:xfrm>
            <a:off x="2264074" y="3465445"/>
            <a:ext cx="788987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Line 268"/>
          <p:cNvSpPr>
            <a:spLocks noChangeShapeType="1"/>
          </p:cNvSpPr>
          <p:nvPr/>
        </p:nvSpPr>
        <p:spPr bwMode="gray">
          <a:xfrm>
            <a:off x="3040361" y="3465445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0" name="Group 269"/>
          <p:cNvGrpSpPr>
            <a:grpSpLocks/>
          </p:cNvGrpSpPr>
          <p:nvPr/>
        </p:nvGrpSpPr>
        <p:grpSpPr bwMode="gray">
          <a:xfrm>
            <a:off x="2273502" y="3621020"/>
            <a:ext cx="956281" cy="539750"/>
            <a:chOff x="1323" y="2507"/>
            <a:chExt cx="674" cy="340"/>
          </a:xfrm>
        </p:grpSpPr>
        <p:sp>
          <p:nvSpPr>
            <p:cNvPr id="121" name="AutoShape 270"/>
            <p:cNvSpPr>
              <a:spLocks noChangeArrowheads="1"/>
            </p:cNvSpPr>
            <p:nvPr/>
          </p:nvSpPr>
          <p:spPr bwMode="gray">
            <a:xfrm rot="10800000">
              <a:off x="1341" y="2507"/>
              <a:ext cx="512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2" name="Text Box 271"/>
            <p:cNvSpPr txBox="1">
              <a:spLocks noChangeArrowheads="1"/>
            </p:cNvSpPr>
            <p:nvPr/>
          </p:nvSpPr>
          <p:spPr bwMode="gray">
            <a:xfrm>
              <a:off x="1341" y="2517"/>
              <a:ext cx="656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PE1</a:t>
              </a:r>
            </a:p>
          </p:txBody>
        </p:sp>
        <p:sp>
          <p:nvSpPr>
            <p:cNvPr id="123" name="Text Box 272"/>
            <p:cNvSpPr txBox="1">
              <a:spLocks noChangeArrowheads="1"/>
            </p:cNvSpPr>
            <p:nvPr/>
          </p:nvSpPr>
          <p:spPr bwMode="gray">
            <a:xfrm>
              <a:off x="1323" y="2645"/>
              <a:ext cx="624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T1</a:t>
              </a:r>
            </a:p>
          </p:txBody>
        </p:sp>
      </p:grpSp>
      <p:grpSp>
        <p:nvGrpSpPr>
          <p:cNvPr id="124" name="Group 273"/>
          <p:cNvGrpSpPr>
            <a:grpSpLocks/>
          </p:cNvGrpSpPr>
          <p:nvPr/>
        </p:nvGrpSpPr>
        <p:grpSpPr bwMode="gray">
          <a:xfrm>
            <a:off x="3029584" y="3621020"/>
            <a:ext cx="1157283" cy="539750"/>
            <a:chOff x="1935" y="2507"/>
            <a:chExt cx="585" cy="340"/>
          </a:xfrm>
        </p:grpSpPr>
        <p:sp>
          <p:nvSpPr>
            <p:cNvPr id="125" name="AutoShape 274"/>
            <p:cNvSpPr>
              <a:spLocks noChangeArrowheads="1"/>
            </p:cNvSpPr>
            <p:nvPr/>
          </p:nvSpPr>
          <p:spPr bwMode="gray">
            <a:xfrm rot="10800000">
              <a:off x="1966" y="2507"/>
              <a:ext cx="418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Text Box 275"/>
            <p:cNvSpPr txBox="1">
              <a:spLocks noChangeArrowheads="1"/>
            </p:cNvSpPr>
            <p:nvPr/>
          </p:nvSpPr>
          <p:spPr bwMode="gray">
            <a:xfrm>
              <a:off x="1935" y="2517"/>
              <a:ext cx="576" cy="175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PE1</a:t>
              </a:r>
            </a:p>
          </p:txBody>
        </p:sp>
        <p:sp>
          <p:nvSpPr>
            <p:cNvPr id="127" name="Text Box 276"/>
            <p:cNvSpPr txBox="1">
              <a:spLocks noChangeArrowheads="1"/>
            </p:cNvSpPr>
            <p:nvPr/>
          </p:nvSpPr>
          <p:spPr bwMode="gray">
            <a:xfrm>
              <a:off x="1935" y="2645"/>
              <a:ext cx="585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T2</a:t>
              </a:r>
            </a:p>
          </p:txBody>
        </p:sp>
      </p:grpSp>
      <p:sp>
        <p:nvSpPr>
          <p:cNvPr id="128" name="Line 277"/>
          <p:cNvSpPr>
            <a:spLocks noChangeShapeType="1"/>
          </p:cNvSpPr>
          <p:nvPr/>
        </p:nvSpPr>
        <p:spPr bwMode="gray">
          <a:xfrm>
            <a:off x="2272011" y="4537007"/>
            <a:ext cx="1666875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Line 278"/>
          <p:cNvSpPr>
            <a:spLocks noChangeShapeType="1"/>
          </p:cNvSpPr>
          <p:nvPr/>
        </p:nvSpPr>
        <p:spPr bwMode="gray">
          <a:xfrm>
            <a:off x="1383011" y="4538595"/>
            <a:ext cx="8890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0" name="Group 279"/>
          <p:cNvGrpSpPr>
            <a:grpSpLocks/>
          </p:cNvGrpSpPr>
          <p:nvPr/>
        </p:nvGrpSpPr>
        <p:grpSpPr bwMode="gray">
          <a:xfrm>
            <a:off x="2274143" y="4778307"/>
            <a:ext cx="1735921" cy="776288"/>
            <a:chOff x="1374" y="3266"/>
            <a:chExt cx="1079" cy="489"/>
          </a:xfrm>
        </p:grpSpPr>
        <p:sp>
          <p:nvSpPr>
            <p:cNvPr id="131" name="AutoShape 280"/>
            <p:cNvSpPr>
              <a:spLocks noChangeArrowheads="1"/>
            </p:cNvSpPr>
            <p:nvPr/>
          </p:nvSpPr>
          <p:spPr bwMode="gray">
            <a:xfrm rot="10800000">
              <a:off x="1391" y="3266"/>
              <a:ext cx="988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2" name="Text Box 281"/>
            <p:cNvSpPr txBox="1">
              <a:spLocks noChangeArrowheads="1"/>
            </p:cNvSpPr>
            <p:nvPr/>
          </p:nvSpPr>
          <p:spPr bwMode="gray">
            <a:xfrm>
              <a:off x="1374" y="3322"/>
              <a:ext cx="1079" cy="1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33" name="Rectangle 282"/>
            <p:cNvSpPr>
              <a:spLocks noChangeArrowheads="1"/>
            </p:cNvSpPr>
            <p:nvPr/>
          </p:nvSpPr>
          <p:spPr bwMode="gray">
            <a:xfrm>
              <a:off x="1374" y="3417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PE1</a:t>
              </a:r>
            </a:p>
          </p:txBody>
        </p:sp>
        <p:sp>
          <p:nvSpPr>
            <p:cNvPr id="134" name="Rectangle 283"/>
            <p:cNvSpPr>
              <a:spLocks noChangeArrowheads="1"/>
            </p:cNvSpPr>
            <p:nvPr/>
          </p:nvSpPr>
          <p:spPr bwMode="gray">
            <a:xfrm>
              <a:off x="1374" y="3540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V1</a:t>
              </a:r>
            </a:p>
          </p:txBody>
        </p:sp>
      </p:grpSp>
      <p:grpSp>
        <p:nvGrpSpPr>
          <p:cNvPr id="135" name="Group 284"/>
          <p:cNvGrpSpPr>
            <a:grpSpLocks/>
          </p:cNvGrpSpPr>
          <p:nvPr/>
        </p:nvGrpSpPr>
        <p:grpSpPr bwMode="gray">
          <a:xfrm>
            <a:off x="1302049" y="4662420"/>
            <a:ext cx="1058862" cy="528637"/>
            <a:chOff x="793" y="3163"/>
            <a:chExt cx="667" cy="333"/>
          </a:xfrm>
        </p:grpSpPr>
        <p:sp>
          <p:nvSpPr>
            <p:cNvPr id="136" name="AutoShape 285"/>
            <p:cNvSpPr>
              <a:spLocks noChangeArrowheads="1"/>
            </p:cNvSpPr>
            <p:nvPr/>
          </p:nvSpPr>
          <p:spPr bwMode="gray">
            <a:xfrm rot="10800000">
              <a:off x="812" y="3163"/>
              <a:ext cx="590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7" name="Text Box 286"/>
            <p:cNvSpPr txBox="1">
              <a:spLocks noChangeArrowheads="1"/>
            </p:cNvSpPr>
            <p:nvPr/>
          </p:nvSpPr>
          <p:spPr bwMode="gray">
            <a:xfrm>
              <a:off x="793" y="3174"/>
              <a:ext cx="667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38" name="Text Box 287"/>
            <p:cNvSpPr txBox="1">
              <a:spLocks noChangeArrowheads="1"/>
            </p:cNvSpPr>
            <p:nvPr/>
          </p:nvSpPr>
          <p:spPr bwMode="gray">
            <a:xfrm>
              <a:off x="793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CE1</a:t>
              </a:r>
            </a:p>
          </p:txBody>
        </p:sp>
      </p:grpSp>
      <p:grpSp>
        <p:nvGrpSpPr>
          <p:cNvPr id="139" name="Group 289"/>
          <p:cNvGrpSpPr>
            <a:grpSpLocks/>
          </p:cNvGrpSpPr>
          <p:nvPr/>
        </p:nvGrpSpPr>
        <p:grpSpPr bwMode="gray">
          <a:xfrm>
            <a:off x="3921715" y="4689407"/>
            <a:ext cx="1411287" cy="528638"/>
            <a:chOff x="864" y="3163"/>
            <a:chExt cx="607" cy="333"/>
          </a:xfrm>
        </p:grpSpPr>
        <p:sp>
          <p:nvSpPr>
            <p:cNvPr id="140" name="AutoShape 290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1" name="Text Box 291"/>
            <p:cNvSpPr txBox="1">
              <a:spLocks noChangeArrowheads="1"/>
            </p:cNvSpPr>
            <p:nvPr/>
          </p:nvSpPr>
          <p:spPr bwMode="gray">
            <a:xfrm>
              <a:off x="864" y="3174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42" name="Text Box 292"/>
            <p:cNvSpPr txBox="1">
              <a:spLocks noChangeArrowheads="1"/>
            </p:cNvSpPr>
            <p:nvPr/>
          </p:nvSpPr>
          <p:spPr bwMode="gray">
            <a:xfrm>
              <a:off x="864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ASBR-PE1</a:t>
              </a:r>
            </a:p>
          </p:txBody>
        </p:sp>
      </p:grpSp>
      <p:sp>
        <p:nvSpPr>
          <p:cNvPr id="143" name="Line 293"/>
          <p:cNvSpPr>
            <a:spLocks noChangeShapeType="1"/>
          </p:cNvSpPr>
          <p:nvPr/>
        </p:nvSpPr>
        <p:spPr bwMode="gray">
          <a:xfrm>
            <a:off x="5178724" y="3465445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Line 294"/>
          <p:cNvSpPr>
            <a:spLocks noChangeShapeType="1"/>
          </p:cNvSpPr>
          <p:nvPr/>
        </p:nvSpPr>
        <p:spPr bwMode="gray">
          <a:xfrm>
            <a:off x="6083599" y="3468620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45" name="Group 295"/>
          <p:cNvGrpSpPr>
            <a:grpSpLocks/>
          </p:cNvGrpSpPr>
          <p:nvPr/>
        </p:nvGrpSpPr>
        <p:grpSpPr bwMode="gray">
          <a:xfrm>
            <a:off x="4830194" y="3621020"/>
            <a:ext cx="1256626" cy="539750"/>
            <a:chOff x="1387" y="2507"/>
            <a:chExt cx="498" cy="340"/>
          </a:xfrm>
        </p:grpSpPr>
        <p:sp>
          <p:nvSpPr>
            <p:cNvPr id="146" name="AutoShape 296"/>
            <p:cNvSpPr>
              <a:spLocks noChangeArrowheads="1"/>
            </p:cNvSpPr>
            <p:nvPr/>
          </p:nvSpPr>
          <p:spPr bwMode="gray">
            <a:xfrm rot="10800000">
              <a:off x="1402" y="2507"/>
              <a:ext cx="451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Text Box 297"/>
            <p:cNvSpPr txBox="1">
              <a:spLocks noChangeArrowheads="1"/>
            </p:cNvSpPr>
            <p:nvPr/>
          </p:nvSpPr>
          <p:spPr bwMode="gray">
            <a:xfrm>
              <a:off x="1387" y="2517"/>
              <a:ext cx="498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ASBR-PE2</a:t>
              </a:r>
            </a:p>
          </p:txBody>
        </p:sp>
        <p:sp>
          <p:nvSpPr>
            <p:cNvPr id="148" name="Text Box 298"/>
            <p:cNvSpPr txBox="1">
              <a:spLocks noChangeArrowheads="1"/>
            </p:cNvSpPr>
            <p:nvPr/>
          </p:nvSpPr>
          <p:spPr bwMode="gray">
            <a:xfrm>
              <a:off x="1387" y="2645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T3</a:t>
              </a:r>
            </a:p>
          </p:txBody>
        </p:sp>
      </p:grpSp>
      <p:grpSp>
        <p:nvGrpSpPr>
          <p:cNvPr id="149" name="Group 299"/>
          <p:cNvGrpSpPr>
            <a:grpSpLocks/>
          </p:cNvGrpSpPr>
          <p:nvPr/>
        </p:nvGrpSpPr>
        <p:grpSpPr bwMode="gray">
          <a:xfrm>
            <a:off x="5991865" y="3621020"/>
            <a:ext cx="1318793" cy="539750"/>
            <a:chOff x="1423" y="2507"/>
            <a:chExt cx="551" cy="340"/>
          </a:xfrm>
        </p:grpSpPr>
        <p:sp>
          <p:nvSpPr>
            <p:cNvPr id="150" name="AutoShape 300"/>
            <p:cNvSpPr>
              <a:spLocks noChangeArrowheads="1"/>
            </p:cNvSpPr>
            <p:nvPr/>
          </p:nvSpPr>
          <p:spPr bwMode="gray">
            <a:xfrm rot="10800000">
              <a:off x="1435" y="2507"/>
              <a:ext cx="486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1" name="Text Box 301"/>
            <p:cNvSpPr txBox="1">
              <a:spLocks noChangeArrowheads="1"/>
            </p:cNvSpPr>
            <p:nvPr/>
          </p:nvSpPr>
          <p:spPr bwMode="gray">
            <a:xfrm>
              <a:off x="1423" y="2517"/>
              <a:ext cx="551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ASBR-PE2</a:t>
              </a:r>
            </a:p>
          </p:txBody>
        </p:sp>
        <p:sp>
          <p:nvSpPr>
            <p:cNvPr id="152" name="Text Box 302"/>
            <p:cNvSpPr txBox="1">
              <a:spLocks noChangeArrowheads="1"/>
            </p:cNvSpPr>
            <p:nvPr/>
          </p:nvSpPr>
          <p:spPr bwMode="gray">
            <a:xfrm>
              <a:off x="1423" y="2645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T4</a:t>
              </a:r>
            </a:p>
          </p:txBody>
        </p:sp>
      </p:grpSp>
      <p:sp>
        <p:nvSpPr>
          <p:cNvPr id="153" name="Text Box 304"/>
          <p:cNvSpPr txBox="1">
            <a:spLocks noChangeArrowheads="1"/>
          </p:cNvSpPr>
          <p:nvPr/>
        </p:nvSpPr>
        <p:spPr bwMode="gray">
          <a:xfrm>
            <a:off x="5418435" y="4260782"/>
            <a:ext cx="138271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grpSp>
        <p:nvGrpSpPr>
          <p:cNvPr id="154" name="Group 305"/>
          <p:cNvGrpSpPr>
            <a:grpSpLocks/>
          </p:cNvGrpSpPr>
          <p:nvPr/>
        </p:nvGrpSpPr>
        <p:grpSpPr bwMode="gray">
          <a:xfrm>
            <a:off x="5224760" y="4778307"/>
            <a:ext cx="1762125" cy="776288"/>
            <a:chOff x="1423" y="3266"/>
            <a:chExt cx="977" cy="489"/>
          </a:xfrm>
        </p:grpSpPr>
        <p:sp>
          <p:nvSpPr>
            <p:cNvPr id="155" name="AutoShape 306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6" name="Text Box 307"/>
            <p:cNvSpPr txBox="1">
              <a:spLocks noChangeArrowheads="1"/>
            </p:cNvSpPr>
            <p:nvPr/>
          </p:nvSpPr>
          <p:spPr bwMode="gray">
            <a:xfrm>
              <a:off x="1423" y="3322"/>
              <a:ext cx="977" cy="1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RD2+Net1</a:t>
              </a:r>
            </a:p>
          </p:txBody>
        </p:sp>
        <p:sp>
          <p:nvSpPr>
            <p:cNvPr id="157" name="Rectangle 308"/>
            <p:cNvSpPr>
              <a:spLocks noChangeArrowheads="1"/>
            </p:cNvSpPr>
            <p:nvPr/>
          </p:nvSpPr>
          <p:spPr bwMode="gray">
            <a:xfrm>
              <a:off x="1423" y="3417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ASBR-PE2</a:t>
              </a:r>
            </a:p>
          </p:txBody>
        </p:sp>
        <p:sp>
          <p:nvSpPr>
            <p:cNvPr id="158" name="Rectangle 309"/>
            <p:cNvSpPr>
              <a:spLocks noChangeArrowheads="1"/>
            </p:cNvSpPr>
            <p:nvPr/>
          </p:nvSpPr>
          <p:spPr bwMode="gray">
            <a:xfrm>
              <a:off x="1423" y="3540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V2</a:t>
              </a:r>
            </a:p>
          </p:txBody>
        </p:sp>
      </p:grpSp>
      <p:sp>
        <p:nvSpPr>
          <p:cNvPr id="159" name="Line 310"/>
          <p:cNvSpPr>
            <a:spLocks noChangeShapeType="1"/>
          </p:cNvSpPr>
          <p:nvPr/>
        </p:nvSpPr>
        <p:spPr bwMode="gray">
          <a:xfrm>
            <a:off x="6982124" y="4538595"/>
            <a:ext cx="877887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60" name="Group 311"/>
          <p:cNvGrpSpPr>
            <a:grpSpLocks/>
          </p:cNvGrpSpPr>
          <p:nvPr/>
        </p:nvGrpSpPr>
        <p:grpSpPr bwMode="gray">
          <a:xfrm>
            <a:off x="6940849" y="4690995"/>
            <a:ext cx="1033462" cy="528637"/>
            <a:chOff x="855" y="3163"/>
            <a:chExt cx="651" cy="333"/>
          </a:xfrm>
        </p:grpSpPr>
        <p:sp>
          <p:nvSpPr>
            <p:cNvPr id="161" name="AutoShape 312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5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2" name="Text Box 313"/>
            <p:cNvSpPr txBox="1">
              <a:spLocks noChangeArrowheads="1"/>
            </p:cNvSpPr>
            <p:nvPr/>
          </p:nvSpPr>
          <p:spPr bwMode="gray">
            <a:xfrm>
              <a:off x="855" y="3174"/>
              <a:ext cx="651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63" name="Text Box 314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PE2</a:t>
              </a:r>
            </a:p>
          </p:txBody>
        </p:sp>
      </p:grpSp>
      <p:sp>
        <p:nvSpPr>
          <p:cNvPr id="164" name="Line 315"/>
          <p:cNvSpPr>
            <a:spLocks noChangeShapeType="1"/>
          </p:cNvSpPr>
          <p:nvPr/>
        </p:nvSpPr>
        <p:spPr bwMode="gray">
          <a:xfrm flipH="1">
            <a:off x="844849" y="3135245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5" name="Text Box 316"/>
          <p:cNvSpPr txBox="1">
            <a:spLocks noChangeArrowheads="1"/>
          </p:cNvSpPr>
          <p:nvPr/>
        </p:nvSpPr>
        <p:spPr bwMode="gray">
          <a:xfrm>
            <a:off x="347961" y="3278120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66" name="Text Box 317"/>
          <p:cNvSpPr txBox="1">
            <a:spLocks noChangeArrowheads="1"/>
          </p:cNvSpPr>
          <p:nvPr/>
        </p:nvSpPr>
        <p:spPr bwMode="gray">
          <a:xfrm>
            <a:off x="2143424" y="1108007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67" name="Text Box 318"/>
          <p:cNvSpPr txBox="1">
            <a:spLocks noChangeArrowheads="1"/>
          </p:cNvSpPr>
          <p:nvPr/>
        </p:nvSpPr>
        <p:spPr bwMode="gray">
          <a:xfrm>
            <a:off x="2133899" y="1323907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68" name="Arc 319"/>
          <p:cNvSpPr>
            <a:spLocks/>
          </p:cNvSpPr>
          <p:nvPr/>
        </p:nvSpPr>
        <p:spPr bwMode="gray">
          <a:xfrm rot="18721372">
            <a:off x="2452193" y="1416776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Text Box 320"/>
          <p:cNvSpPr txBox="1">
            <a:spLocks noChangeArrowheads="1"/>
          </p:cNvSpPr>
          <p:nvPr/>
        </p:nvSpPr>
        <p:spPr bwMode="gray">
          <a:xfrm>
            <a:off x="5140624" y="1082607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70" name="Text Box 321"/>
          <p:cNvSpPr txBox="1">
            <a:spLocks noChangeArrowheads="1"/>
          </p:cNvSpPr>
          <p:nvPr/>
        </p:nvSpPr>
        <p:spPr bwMode="gray">
          <a:xfrm>
            <a:off x="5131099" y="1298507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71" name="Arc 322"/>
          <p:cNvSpPr>
            <a:spLocks/>
          </p:cNvSpPr>
          <p:nvPr/>
        </p:nvSpPr>
        <p:spPr bwMode="gray">
          <a:xfrm rot="18721372">
            <a:off x="5449393" y="1391376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3" name="Text Box 334"/>
          <p:cNvSpPr txBox="1">
            <a:spLocks noChangeArrowheads="1"/>
          </p:cNvSpPr>
          <p:nvPr/>
        </p:nvSpPr>
        <p:spPr bwMode="gray">
          <a:xfrm>
            <a:off x="2873674" y="2031932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84" name="Text Box 335"/>
          <p:cNvSpPr txBox="1">
            <a:spLocks noChangeArrowheads="1"/>
          </p:cNvSpPr>
          <p:nvPr/>
        </p:nvSpPr>
        <p:spPr bwMode="gray">
          <a:xfrm>
            <a:off x="5875636" y="2035107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85" name="Text Box 36"/>
          <p:cNvSpPr txBox="1">
            <a:spLocks noChangeArrowheads="1"/>
          </p:cNvSpPr>
          <p:nvPr/>
        </p:nvSpPr>
        <p:spPr bwMode="gray">
          <a:xfrm>
            <a:off x="1590825" y="1480970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86" name="Text Box 36"/>
          <p:cNvSpPr txBox="1">
            <a:spLocks noChangeArrowheads="1"/>
          </p:cNvSpPr>
          <p:nvPr/>
        </p:nvSpPr>
        <p:spPr bwMode="gray">
          <a:xfrm>
            <a:off x="6412022" y="1480970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pic>
        <p:nvPicPr>
          <p:cNvPr id="187" name="Picture 18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147460" y="2863784"/>
            <a:ext cx="436636" cy="395012"/>
          </a:xfrm>
          <a:prstGeom prst="rect">
            <a:avLst/>
          </a:prstGeom>
          <a:noFill/>
        </p:spPr>
      </p:pic>
      <p:pic>
        <p:nvPicPr>
          <p:cNvPr id="188" name="Picture 18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05089" y="2082870"/>
            <a:ext cx="436636" cy="395012"/>
          </a:xfrm>
          <a:prstGeom prst="rect">
            <a:avLst/>
          </a:prstGeom>
          <a:noFill/>
        </p:spPr>
      </p:pic>
      <p:pic>
        <p:nvPicPr>
          <p:cNvPr id="189" name="Picture 188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50819" y="1710739"/>
            <a:ext cx="436636" cy="395012"/>
          </a:xfrm>
          <a:prstGeom prst="rect">
            <a:avLst/>
          </a:prstGeom>
          <a:noFill/>
        </p:spPr>
      </p:pic>
      <p:pic>
        <p:nvPicPr>
          <p:cNvPr id="190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739153" y="2025721"/>
            <a:ext cx="436636" cy="395012"/>
          </a:xfrm>
          <a:prstGeom prst="rect">
            <a:avLst/>
          </a:prstGeom>
          <a:noFill/>
        </p:spPr>
      </p:pic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92707" y="2044908"/>
            <a:ext cx="436636" cy="395012"/>
          </a:xfrm>
          <a:prstGeom prst="rect">
            <a:avLst/>
          </a:prstGeom>
          <a:noFill/>
        </p:spPr>
      </p:pic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98618" y="1674585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47168" y="2044908"/>
            <a:ext cx="436636" cy="395012"/>
          </a:xfrm>
          <a:prstGeom prst="rect">
            <a:avLst/>
          </a:prstGeom>
          <a:noFill/>
        </p:spPr>
      </p:pic>
      <p:pic>
        <p:nvPicPr>
          <p:cNvPr id="194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537357" y="2892495"/>
            <a:ext cx="436636" cy="395012"/>
          </a:xfrm>
          <a:prstGeom prst="rect">
            <a:avLst/>
          </a:prstGeom>
          <a:noFill/>
        </p:spPr>
      </p:pic>
      <p:sp>
        <p:nvSpPr>
          <p:cNvPr id="108" name="圆角矩形 107"/>
          <p:cNvSpPr/>
          <p:nvPr/>
        </p:nvSpPr>
        <p:spPr bwMode="gray">
          <a:xfrm>
            <a:off x="1849256" y="1103250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圆角矩形 108"/>
          <p:cNvSpPr/>
          <p:nvPr/>
        </p:nvSpPr>
        <p:spPr bwMode="gray">
          <a:xfrm>
            <a:off x="4907284" y="1103250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圆角矩形 171"/>
          <p:cNvSpPr/>
          <p:nvPr/>
        </p:nvSpPr>
        <p:spPr bwMode="gray">
          <a:xfrm>
            <a:off x="449365" y="2765358"/>
            <a:ext cx="1160659" cy="812340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圆角矩形 172"/>
          <p:cNvSpPr/>
          <p:nvPr/>
        </p:nvSpPr>
        <p:spPr bwMode="gray">
          <a:xfrm>
            <a:off x="7225403" y="2765358"/>
            <a:ext cx="1091318" cy="812340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文本框 173"/>
          <p:cNvSpPr txBox="1"/>
          <p:nvPr/>
        </p:nvSpPr>
        <p:spPr bwMode="gray">
          <a:xfrm>
            <a:off x="3384435" y="5619778"/>
            <a:ext cx="2395562" cy="307777"/>
          </a:xfrm>
          <a:prstGeom prst="rect">
            <a:avLst/>
          </a:prstGeom>
          <a:solidFill>
            <a:srgbClr val="F6B78C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以将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路由传递给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为例</a:t>
            </a:r>
          </a:p>
        </p:txBody>
      </p:sp>
      <p:sp>
        <p:nvSpPr>
          <p:cNvPr id="175" name="椭圆 174"/>
          <p:cNvSpPr/>
          <p:nvPr/>
        </p:nvSpPr>
        <p:spPr bwMode="gray">
          <a:xfrm>
            <a:off x="1143277" y="453018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椭圆 176"/>
          <p:cNvSpPr/>
          <p:nvPr/>
        </p:nvSpPr>
        <p:spPr bwMode="gray">
          <a:xfrm>
            <a:off x="2387863" y="453018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椭圆 177"/>
          <p:cNvSpPr/>
          <p:nvPr/>
        </p:nvSpPr>
        <p:spPr bwMode="gray">
          <a:xfrm>
            <a:off x="3942027" y="453018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椭圆 178"/>
          <p:cNvSpPr/>
          <p:nvPr/>
        </p:nvSpPr>
        <p:spPr bwMode="gray">
          <a:xfrm>
            <a:off x="5187962" y="453018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椭圆 179"/>
          <p:cNvSpPr/>
          <p:nvPr/>
        </p:nvSpPr>
        <p:spPr bwMode="gray">
          <a:xfrm>
            <a:off x="7014923" y="453018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1" name="椭圆 180"/>
          <p:cNvSpPr/>
          <p:nvPr/>
        </p:nvSpPr>
        <p:spPr bwMode="gray">
          <a:xfrm>
            <a:off x="2750705" y="3460414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2" name="椭圆 181"/>
          <p:cNvSpPr/>
          <p:nvPr/>
        </p:nvSpPr>
        <p:spPr bwMode="gray">
          <a:xfrm>
            <a:off x="3632718" y="3460414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5" name="椭圆 194"/>
          <p:cNvSpPr/>
          <p:nvPr/>
        </p:nvSpPr>
        <p:spPr bwMode="gray">
          <a:xfrm>
            <a:off x="5746798" y="3460414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6" name="椭圆 195"/>
          <p:cNvSpPr/>
          <p:nvPr/>
        </p:nvSpPr>
        <p:spPr bwMode="gray">
          <a:xfrm>
            <a:off x="6684198" y="3460414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43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圆角矩形 124"/>
          <p:cNvSpPr/>
          <p:nvPr/>
        </p:nvSpPr>
        <p:spPr bwMode="gray">
          <a:xfrm>
            <a:off x="4769268" y="1185546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转发平面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5" name="Text Box 156"/>
          <p:cNvSpPr txBox="1">
            <a:spLocks noChangeArrowheads="1"/>
          </p:cNvSpPr>
          <p:nvPr/>
        </p:nvSpPr>
        <p:spPr bwMode="gray">
          <a:xfrm>
            <a:off x="1435063" y="3831516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6" name="Text Box 157"/>
          <p:cNvSpPr txBox="1">
            <a:spLocks noChangeArrowheads="1"/>
          </p:cNvSpPr>
          <p:nvPr/>
        </p:nvSpPr>
        <p:spPr bwMode="gray">
          <a:xfrm>
            <a:off x="2201826" y="383151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7" name="Text Box 158"/>
          <p:cNvSpPr txBox="1">
            <a:spLocks noChangeArrowheads="1"/>
          </p:cNvSpPr>
          <p:nvPr/>
        </p:nvSpPr>
        <p:spPr bwMode="gray">
          <a:xfrm>
            <a:off x="3079713" y="383151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8" name="Text Box 159"/>
          <p:cNvSpPr txBox="1">
            <a:spLocks noChangeArrowheads="1"/>
          </p:cNvSpPr>
          <p:nvPr/>
        </p:nvSpPr>
        <p:spPr bwMode="gray">
          <a:xfrm>
            <a:off x="5218076" y="383151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9" name="Text Box 160"/>
          <p:cNvSpPr txBox="1">
            <a:spLocks noChangeArrowheads="1"/>
          </p:cNvSpPr>
          <p:nvPr/>
        </p:nvSpPr>
        <p:spPr bwMode="gray">
          <a:xfrm>
            <a:off x="6105488" y="383151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1" name="Text Box 162"/>
          <p:cNvSpPr txBox="1">
            <a:spLocks noChangeArrowheads="1"/>
          </p:cNvSpPr>
          <p:nvPr/>
        </p:nvSpPr>
        <p:spPr bwMode="gray">
          <a:xfrm>
            <a:off x="6978613" y="3831516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4" name="Text Box 165"/>
          <p:cNvSpPr txBox="1">
            <a:spLocks noChangeArrowheads="1"/>
          </p:cNvSpPr>
          <p:nvPr/>
        </p:nvSpPr>
        <p:spPr bwMode="gray">
          <a:xfrm>
            <a:off x="2218941" y="2421852"/>
            <a:ext cx="659398" cy="316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5" name="Text Box 166"/>
          <p:cNvSpPr txBox="1">
            <a:spLocks noChangeArrowheads="1"/>
          </p:cNvSpPr>
          <p:nvPr/>
        </p:nvSpPr>
        <p:spPr bwMode="gray">
          <a:xfrm>
            <a:off x="6157558" y="2373166"/>
            <a:ext cx="63148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6" name="Text Box 167"/>
          <p:cNvSpPr txBox="1">
            <a:spLocks noChangeArrowheads="1"/>
          </p:cNvSpPr>
          <p:nvPr/>
        </p:nvSpPr>
        <p:spPr bwMode="gray">
          <a:xfrm>
            <a:off x="2891029" y="2469795"/>
            <a:ext cx="10350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7" name="Text Box 168"/>
          <p:cNvSpPr txBox="1">
            <a:spLocks noChangeArrowheads="1"/>
          </p:cNvSpPr>
          <p:nvPr/>
        </p:nvSpPr>
        <p:spPr bwMode="gray">
          <a:xfrm>
            <a:off x="5024874" y="2475797"/>
            <a:ext cx="1052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18" name="Text Box 169"/>
          <p:cNvSpPr txBox="1">
            <a:spLocks noChangeArrowheads="1"/>
          </p:cNvSpPr>
          <p:nvPr/>
        </p:nvSpPr>
        <p:spPr bwMode="gray">
          <a:xfrm>
            <a:off x="855334" y="3319970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9" name="Text Box 170"/>
          <p:cNvSpPr txBox="1">
            <a:spLocks noChangeArrowheads="1"/>
          </p:cNvSpPr>
          <p:nvPr/>
        </p:nvSpPr>
        <p:spPr bwMode="gray">
          <a:xfrm>
            <a:off x="7796575" y="3299406"/>
            <a:ext cx="65004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0" name="Text Box 171"/>
          <p:cNvSpPr txBox="1">
            <a:spLocks noChangeArrowheads="1"/>
          </p:cNvSpPr>
          <p:nvPr/>
        </p:nvSpPr>
        <p:spPr bwMode="gray">
          <a:xfrm>
            <a:off x="415888" y="2831391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21" name="Text Box 172"/>
          <p:cNvSpPr txBox="1">
            <a:spLocks noChangeArrowheads="1"/>
          </p:cNvSpPr>
          <p:nvPr/>
        </p:nvSpPr>
        <p:spPr bwMode="gray">
          <a:xfrm>
            <a:off x="7600801" y="2810551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22" name="Line 173"/>
          <p:cNvSpPr>
            <a:spLocks noChangeShapeType="1"/>
          </p:cNvSpPr>
          <p:nvPr/>
        </p:nvSpPr>
        <p:spPr bwMode="gray">
          <a:xfrm flipV="1">
            <a:off x="2297076" y="2001129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Line 174"/>
          <p:cNvSpPr>
            <a:spLocks noChangeShapeType="1"/>
          </p:cNvSpPr>
          <p:nvPr/>
        </p:nvSpPr>
        <p:spPr bwMode="gray">
          <a:xfrm>
            <a:off x="3138451" y="2039229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Line 175"/>
          <p:cNvSpPr>
            <a:spLocks noChangeShapeType="1"/>
          </p:cNvSpPr>
          <p:nvPr/>
        </p:nvSpPr>
        <p:spPr bwMode="gray">
          <a:xfrm flipV="1">
            <a:off x="5267288" y="2010654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Line 176"/>
          <p:cNvSpPr>
            <a:spLocks noChangeShapeType="1"/>
          </p:cNvSpPr>
          <p:nvPr/>
        </p:nvSpPr>
        <p:spPr bwMode="gray">
          <a:xfrm>
            <a:off x="6168988" y="2001129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Line 177"/>
          <p:cNvSpPr>
            <a:spLocks noChangeShapeType="1"/>
          </p:cNvSpPr>
          <p:nvPr/>
        </p:nvSpPr>
        <p:spPr bwMode="gray">
          <a:xfrm>
            <a:off x="4016338" y="2309104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Line 200"/>
          <p:cNvSpPr>
            <a:spLocks noChangeShapeType="1"/>
          </p:cNvSpPr>
          <p:nvPr/>
        </p:nvSpPr>
        <p:spPr bwMode="gray">
          <a:xfrm flipV="1">
            <a:off x="1258851" y="2432929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Line 201"/>
          <p:cNvSpPr>
            <a:spLocks noChangeShapeType="1"/>
          </p:cNvSpPr>
          <p:nvPr/>
        </p:nvSpPr>
        <p:spPr bwMode="gray">
          <a:xfrm>
            <a:off x="6956388" y="2432929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Line 257"/>
          <p:cNvSpPr>
            <a:spLocks noChangeShapeType="1"/>
          </p:cNvSpPr>
          <p:nvPr/>
        </p:nvSpPr>
        <p:spPr bwMode="gray">
          <a:xfrm>
            <a:off x="1289013" y="3312404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Line 258"/>
          <p:cNvSpPr>
            <a:spLocks noChangeShapeType="1"/>
          </p:cNvSpPr>
          <p:nvPr/>
        </p:nvSpPr>
        <p:spPr bwMode="gray">
          <a:xfrm>
            <a:off x="2170076" y="2518654"/>
            <a:ext cx="1587" cy="2519362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Line 259"/>
          <p:cNvSpPr>
            <a:spLocks noChangeShapeType="1"/>
          </p:cNvSpPr>
          <p:nvPr/>
        </p:nvSpPr>
        <p:spPr bwMode="gray">
          <a:xfrm>
            <a:off x="3838538" y="2515479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Line 260"/>
          <p:cNvSpPr>
            <a:spLocks noChangeShapeType="1"/>
          </p:cNvSpPr>
          <p:nvPr/>
        </p:nvSpPr>
        <p:spPr bwMode="gray">
          <a:xfrm>
            <a:off x="5070438" y="2490079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Line 261"/>
          <p:cNvSpPr>
            <a:spLocks noChangeShapeType="1"/>
          </p:cNvSpPr>
          <p:nvPr/>
        </p:nvSpPr>
        <p:spPr bwMode="gray">
          <a:xfrm>
            <a:off x="6884951" y="2569454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Line 262"/>
          <p:cNvSpPr>
            <a:spLocks noChangeShapeType="1"/>
          </p:cNvSpPr>
          <p:nvPr/>
        </p:nvSpPr>
        <p:spPr bwMode="gray">
          <a:xfrm>
            <a:off x="7731088" y="3364791"/>
            <a:ext cx="0" cy="14319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Line 263"/>
          <p:cNvSpPr>
            <a:spLocks noChangeShapeType="1"/>
          </p:cNvSpPr>
          <p:nvPr/>
        </p:nvSpPr>
        <p:spPr bwMode="gray">
          <a:xfrm>
            <a:off x="2160551" y="4118854"/>
            <a:ext cx="788987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Line 264"/>
          <p:cNvSpPr>
            <a:spLocks noChangeShapeType="1"/>
          </p:cNvSpPr>
          <p:nvPr/>
        </p:nvSpPr>
        <p:spPr bwMode="gray">
          <a:xfrm>
            <a:off x="2936838" y="4118854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Line 265"/>
          <p:cNvSpPr>
            <a:spLocks noChangeShapeType="1"/>
          </p:cNvSpPr>
          <p:nvPr/>
        </p:nvSpPr>
        <p:spPr bwMode="gray">
          <a:xfrm>
            <a:off x="1279488" y="4112504"/>
            <a:ext cx="8890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Line 266"/>
          <p:cNvSpPr>
            <a:spLocks noChangeShapeType="1"/>
          </p:cNvSpPr>
          <p:nvPr/>
        </p:nvSpPr>
        <p:spPr bwMode="gray">
          <a:xfrm>
            <a:off x="3848063" y="4112504"/>
            <a:ext cx="1227138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Line 267"/>
          <p:cNvSpPr>
            <a:spLocks noChangeShapeType="1"/>
          </p:cNvSpPr>
          <p:nvPr/>
        </p:nvSpPr>
        <p:spPr bwMode="gray">
          <a:xfrm>
            <a:off x="5075201" y="4118854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Line 268"/>
          <p:cNvSpPr>
            <a:spLocks noChangeShapeType="1"/>
          </p:cNvSpPr>
          <p:nvPr/>
        </p:nvSpPr>
        <p:spPr bwMode="gray">
          <a:xfrm>
            <a:off x="5980076" y="4109329"/>
            <a:ext cx="901700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Line 269"/>
          <p:cNvSpPr>
            <a:spLocks noChangeShapeType="1"/>
          </p:cNvSpPr>
          <p:nvPr/>
        </p:nvSpPr>
        <p:spPr bwMode="gray">
          <a:xfrm>
            <a:off x="6878601" y="4112504"/>
            <a:ext cx="877887" cy="0"/>
          </a:xfrm>
          <a:prstGeom prst="line">
            <a:avLst/>
          </a:prstGeom>
          <a:noFill/>
          <a:ln w="25400" cap="rnd">
            <a:solidFill>
              <a:srgbClr val="62B230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Line 270"/>
          <p:cNvSpPr>
            <a:spLocks noChangeShapeType="1"/>
          </p:cNvSpPr>
          <p:nvPr/>
        </p:nvSpPr>
        <p:spPr bwMode="gray">
          <a:xfrm>
            <a:off x="2949538" y="2413879"/>
            <a:ext cx="0" cy="2693987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Line 271"/>
          <p:cNvSpPr>
            <a:spLocks noChangeShapeType="1"/>
          </p:cNvSpPr>
          <p:nvPr/>
        </p:nvSpPr>
        <p:spPr bwMode="gray">
          <a:xfrm>
            <a:off x="5984838" y="2380541"/>
            <a:ext cx="0" cy="2693988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Rectangle 272"/>
          <p:cNvSpPr>
            <a:spLocks noChangeArrowheads="1"/>
          </p:cNvSpPr>
          <p:nvPr/>
        </p:nvSpPr>
        <p:spPr bwMode="gray">
          <a:xfrm>
            <a:off x="6953213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22" name="Line 273"/>
          <p:cNvSpPr>
            <a:spLocks noChangeShapeType="1"/>
          </p:cNvSpPr>
          <p:nvPr/>
        </p:nvSpPr>
        <p:spPr bwMode="gray">
          <a:xfrm flipH="1">
            <a:off x="741326" y="3204454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Text Box 274"/>
          <p:cNvSpPr txBox="1">
            <a:spLocks noChangeArrowheads="1"/>
          </p:cNvSpPr>
          <p:nvPr/>
        </p:nvSpPr>
        <p:spPr bwMode="gray">
          <a:xfrm>
            <a:off x="332574" y="3314278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35" name="Text Box 286"/>
          <p:cNvSpPr txBox="1">
            <a:spLocks noChangeArrowheads="1"/>
          </p:cNvSpPr>
          <p:nvPr/>
        </p:nvSpPr>
        <p:spPr bwMode="gray">
          <a:xfrm>
            <a:off x="2039901" y="117721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36" name="Text Box 287"/>
          <p:cNvSpPr txBox="1">
            <a:spLocks noChangeArrowheads="1"/>
          </p:cNvSpPr>
          <p:nvPr/>
        </p:nvSpPr>
        <p:spPr bwMode="gray">
          <a:xfrm>
            <a:off x="2030376" y="139311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37" name="Arc 288"/>
          <p:cNvSpPr>
            <a:spLocks/>
          </p:cNvSpPr>
          <p:nvPr/>
        </p:nvSpPr>
        <p:spPr bwMode="gray">
          <a:xfrm rot="18721372">
            <a:off x="2348670" y="1485985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Text Box 289"/>
          <p:cNvSpPr txBox="1">
            <a:spLocks noChangeArrowheads="1"/>
          </p:cNvSpPr>
          <p:nvPr/>
        </p:nvSpPr>
        <p:spPr bwMode="gray">
          <a:xfrm>
            <a:off x="5037101" y="115181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39" name="Text Box 290"/>
          <p:cNvSpPr txBox="1">
            <a:spLocks noChangeArrowheads="1"/>
          </p:cNvSpPr>
          <p:nvPr/>
        </p:nvSpPr>
        <p:spPr bwMode="gray">
          <a:xfrm>
            <a:off x="5027576" y="136771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40" name="Arc 291"/>
          <p:cNvSpPr>
            <a:spLocks/>
          </p:cNvSpPr>
          <p:nvPr/>
        </p:nvSpPr>
        <p:spPr bwMode="gray">
          <a:xfrm rot="18721372">
            <a:off x="5345870" y="1460585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270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Rectangle 292"/>
          <p:cNvSpPr>
            <a:spLocks noChangeArrowheads="1"/>
          </p:cNvSpPr>
          <p:nvPr/>
        </p:nvSpPr>
        <p:spPr bwMode="gray">
          <a:xfrm>
            <a:off x="6067388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42" name="Rectangle 293"/>
          <p:cNvSpPr>
            <a:spLocks noChangeArrowheads="1"/>
          </p:cNvSpPr>
          <p:nvPr/>
        </p:nvSpPr>
        <p:spPr bwMode="gray">
          <a:xfrm>
            <a:off x="6067388" y="4488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V2</a:t>
            </a:r>
          </a:p>
        </p:txBody>
      </p:sp>
      <p:sp>
        <p:nvSpPr>
          <p:cNvPr id="143" name="Rectangle 294"/>
          <p:cNvSpPr>
            <a:spLocks noChangeArrowheads="1"/>
          </p:cNvSpPr>
          <p:nvPr/>
        </p:nvSpPr>
        <p:spPr bwMode="gray">
          <a:xfrm>
            <a:off x="6067388" y="47554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T4</a:t>
            </a:r>
          </a:p>
        </p:txBody>
      </p:sp>
      <p:sp>
        <p:nvSpPr>
          <p:cNvPr id="144" name="Rectangle 295"/>
          <p:cNvSpPr>
            <a:spLocks noChangeArrowheads="1"/>
          </p:cNvSpPr>
          <p:nvPr/>
        </p:nvSpPr>
        <p:spPr bwMode="gray">
          <a:xfrm>
            <a:off x="5168863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45" name="Rectangle 296"/>
          <p:cNvSpPr>
            <a:spLocks noChangeArrowheads="1"/>
          </p:cNvSpPr>
          <p:nvPr/>
        </p:nvSpPr>
        <p:spPr bwMode="gray">
          <a:xfrm>
            <a:off x="5168863" y="4488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V2</a:t>
            </a:r>
          </a:p>
        </p:txBody>
      </p:sp>
      <p:sp>
        <p:nvSpPr>
          <p:cNvPr id="146" name="Rectangle 297"/>
          <p:cNvSpPr>
            <a:spLocks noChangeArrowheads="1"/>
          </p:cNvSpPr>
          <p:nvPr/>
        </p:nvSpPr>
        <p:spPr bwMode="gray">
          <a:xfrm>
            <a:off x="5168863" y="47554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T3</a:t>
            </a:r>
          </a:p>
        </p:txBody>
      </p:sp>
      <p:sp>
        <p:nvSpPr>
          <p:cNvPr id="147" name="Text Box 298"/>
          <p:cNvSpPr txBox="1">
            <a:spLocks noChangeArrowheads="1"/>
          </p:cNvSpPr>
          <p:nvPr/>
        </p:nvSpPr>
        <p:spPr bwMode="gray">
          <a:xfrm>
            <a:off x="4124288" y="3831516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48" name="Rectangle 299"/>
          <p:cNvSpPr>
            <a:spLocks noChangeArrowheads="1"/>
          </p:cNvSpPr>
          <p:nvPr/>
        </p:nvSpPr>
        <p:spPr bwMode="gray">
          <a:xfrm>
            <a:off x="4075076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49" name="Rectangle 300"/>
          <p:cNvSpPr>
            <a:spLocks noChangeArrowheads="1"/>
          </p:cNvSpPr>
          <p:nvPr/>
        </p:nvSpPr>
        <p:spPr bwMode="gray">
          <a:xfrm>
            <a:off x="3025738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50" name="Rectangle 301"/>
          <p:cNvSpPr>
            <a:spLocks noChangeArrowheads="1"/>
          </p:cNvSpPr>
          <p:nvPr/>
        </p:nvSpPr>
        <p:spPr bwMode="gray">
          <a:xfrm>
            <a:off x="3025738" y="4488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51" name="Rectangle 302"/>
          <p:cNvSpPr>
            <a:spLocks noChangeArrowheads="1"/>
          </p:cNvSpPr>
          <p:nvPr/>
        </p:nvSpPr>
        <p:spPr bwMode="gray">
          <a:xfrm>
            <a:off x="3025738" y="47554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152" name="Rectangle 303"/>
          <p:cNvSpPr>
            <a:spLocks noChangeArrowheads="1"/>
          </p:cNvSpPr>
          <p:nvPr/>
        </p:nvSpPr>
        <p:spPr bwMode="gray">
          <a:xfrm>
            <a:off x="2225638" y="4234741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53" name="Rectangle 304"/>
          <p:cNvSpPr>
            <a:spLocks noChangeArrowheads="1"/>
          </p:cNvSpPr>
          <p:nvPr/>
        </p:nvSpPr>
        <p:spPr bwMode="gray">
          <a:xfrm>
            <a:off x="2225638" y="4488741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54" name="Rectangle 305"/>
          <p:cNvSpPr>
            <a:spLocks noChangeArrowheads="1"/>
          </p:cNvSpPr>
          <p:nvPr/>
        </p:nvSpPr>
        <p:spPr bwMode="gray">
          <a:xfrm>
            <a:off x="2225638" y="4755441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155" name="Rectangle 306"/>
          <p:cNvSpPr>
            <a:spLocks noChangeArrowheads="1"/>
          </p:cNvSpPr>
          <p:nvPr/>
        </p:nvSpPr>
        <p:spPr bwMode="gray">
          <a:xfrm>
            <a:off x="1347751" y="423474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75" name="Text Box 333"/>
          <p:cNvSpPr txBox="1">
            <a:spLocks noChangeArrowheads="1"/>
          </p:cNvSpPr>
          <p:nvPr/>
        </p:nvSpPr>
        <p:spPr bwMode="gray">
          <a:xfrm>
            <a:off x="2770151" y="2101141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76" name="Text Box 334"/>
          <p:cNvSpPr txBox="1">
            <a:spLocks noChangeArrowheads="1"/>
          </p:cNvSpPr>
          <p:nvPr/>
        </p:nvSpPr>
        <p:spPr bwMode="gray">
          <a:xfrm>
            <a:off x="5772113" y="212922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77" name="Text Box 36"/>
          <p:cNvSpPr txBox="1">
            <a:spLocks noChangeArrowheads="1"/>
          </p:cNvSpPr>
          <p:nvPr/>
        </p:nvSpPr>
        <p:spPr bwMode="gray">
          <a:xfrm>
            <a:off x="1584487" y="1550179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78" name="Text Box 36"/>
          <p:cNvSpPr txBox="1">
            <a:spLocks noChangeArrowheads="1"/>
          </p:cNvSpPr>
          <p:nvPr/>
        </p:nvSpPr>
        <p:spPr bwMode="gray">
          <a:xfrm>
            <a:off x="6282118" y="1550179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79" name="AutoShape 93"/>
          <p:cNvSpPr>
            <a:spLocks noChangeArrowheads="1"/>
          </p:cNvSpPr>
          <p:nvPr/>
        </p:nvSpPr>
        <p:spPr bwMode="gray">
          <a:xfrm rot="5400000">
            <a:off x="4467188" y="2543666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AutoShape 90"/>
          <p:cNvSpPr>
            <a:spLocks noChangeArrowheads="1"/>
          </p:cNvSpPr>
          <p:nvPr/>
        </p:nvSpPr>
        <p:spPr bwMode="gray">
          <a:xfrm rot="5400000">
            <a:off x="2774119" y="4603448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1" name="AutoShape 91"/>
          <p:cNvSpPr>
            <a:spLocks noChangeArrowheads="1"/>
          </p:cNvSpPr>
          <p:nvPr/>
        </p:nvSpPr>
        <p:spPr bwMode="gray">
          <a:xfrm rot="5400000">
            <a:off x="2516943" y="4793948"/>
            <a:ext cx="809625" cy="1693862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3" name="AutoShape 94"/>
          <p:cNvSpPr>
            <a:spLocks noChangeArrowheads="1"/>
          </p:cNvSpPr>
          <p:nvPr/>
        </p:nvSpPr>
        <p:spPr bwMode="gray">
          <a:xfrm rot="5400000">
            <a:off x="5761794" y="4590748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4" name="AutoShape 95"/>
          <p:cNvSpPr>
            <a:spLocks noChangeArrowheads="1"/>
          </p:cNvSpPr>
          <p:nvPr/>
        </p:nvSpPr>
        <p:spPr bwMode="gray">
          <a:xfrm rot="5400000">
            <a:off x="5551450" y="4705841"/>
            <a:ext cx="809625" cy="1844675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6" name="Picture 18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37359" y="2944381"/>
            <a:ext cx="436636" cy="395012"/>
          </a:xfrm>
          <a:prstGeom prst="rect">
            <a:avLst/>
          </a:prstGeom>
          <a:noFill/>
        </p:spPr>
      </p:pic>
      <p:pic>
        <p:nvPicPr>
          <p:cNvPr id="187" name="Picture 18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914415" y="2163425"/>
            <a:ext cx="436636" cy="395012"/>
          </a:xfrm>
          <a:prstGeom prst="rect">
            <a:avLst/>
          </a:prstGeom>
          <a:noFill/>
        </p:spPr>
      </p:pic>
      <p:pic>
        <p:nvPicPr>
          <p:cNvPr id="188" name="Picture 18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60939" y="1736016"/>
            <a:ext cx="436636" cy="395012"/>
          </a:xfrm>
          <a:prstGeom prst="rect">
            <a:avLst/>
          </a:prstGeom>
          <a:noFill/>
        </p:spPr>
      </p:pic>
      <p:pic>
        <p:nvPicPr>
          <p:cNvPr id="189" name="Picture 188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47928" y="2133823"/>
            <a:ext cx="436636" cy="395012"/>
          </a:xfrm>
          <a:prstGeom prst="rect">
            <a:avLst/>
          </a:prstGeom>
          <a:noFill/>
        </p:spPr>
      </p:pic>
      <p:pic>
        <p:nvPicPr>
          <p:cNvPr id="190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866849" y="2162398"/>
            <a:ext cx="436636" cy="395012"/>
          </a:xfrm>
          <a:prstGeom prst="rect">
            <a:avLst/>
          </a:prstGeom>
          <a:noFill/>
        </p:spPr>
      </p:pic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18908" y="1798768"/>
            <a:ext cx="436636" cy="395012"/>
          </a:xfrm>
          <a:prstGeom prst="rect">
            <a:avLst/>
          </a:prstGeom>
          <a:noFill/>
        </p:spPr>
      </p:pic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666192" y="2132042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77027" y="3161371"/>
            <a:ext cx="436636" cy="395012"/>
          </a:xfrm>
          <a:prstGeom prst="rect">
            <a:avLst/>
          </a:prstGeom>
          <a:noFill/>
        </p:spPr>
      </p:pic>
      <p:sp>
        <p:nvSpPr>
          <p:cNvPr id="124" name="圆角矩形 123"/>
          <p:cNvSpPr/>
          <p:nvPr/>
        </p:nvSpPr>
        <p:spPr bwMode="gray">
          <a:xfrm>
            <a:off x="1849256" y="1185546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圆角矩形 125"/>
          <p:cNvSpPr/>
          <p:nvPr/>
        </p:nvSpPr>
        <p:spPr bwMode="gray">
          <a:xfrm>
            <a:off x="449365" y="2765358"/>
            <a:ext cx="1160659" cy="812340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圆角矩形 126"/>
          <p:cNvSpPr/>
          <p:nvPr/>
        </p:nvSpPr>
        <p:spPr bwMode="gray">
          <a:xfrm>
            <a:off x="7225403" y="2765358"/>
            <a:ext cx="1091318" cy="812340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椭圆 127"/>
          <p:cNvSpPr/>
          <p:nvPr/>
        </p:nvSpPr>
        <p:spPr bwMode="gray">
          <a:xfrm>
            <a:off x="7212682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椭圆 128"/>
          <p:cNvSpPr/>
          <p:nvPr/>
        </p:nvSpPr>
        <p:spPr bwMode="gray">
          <a:xfrm>
            <a:off x="6334613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椭圆 129"/>
          <p:cNvSpPr/>
          <p:nvPr/>
        </p:nvSpPr>
        <p:spPr bwMode="gray">
          <a:xfrm>
            <a:off x="5464216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椭圆 130"/>
          <p:cNvSpPr/>
          <p:nvPr/>
        </p:nvSpPr>
        <p:spPr bwMode="gray">
          <a:xfrm>
            <a:off x="4342557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3" name="椭圆 132"/>
          <p:cNvSpPr/>
          <p:nvPr/>
        </p:nvSpPr>
        <p:spPr bwMode="gray">
          <a:xfrm>
            <a:off x="3218919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椭圆 133"/>
          <p:cNvSpPr/>
          <p:nvPr/>
        </p:nvSpPr>
        <p:spPr bwMode="gray">
          <a:xfrm>
            <a:off x="2458901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4" name="椭圆 193"/>
          <p:cNvSpPr/>
          <p:nvPr/>
        </p:nvSpPr>
        <p:spPr bwMode="gray">
          <a:xfrm>
            <a:off x="1643688" y="362702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5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发送一个目的地为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报文后，先封装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V2</a:t>
            </a:r>
            <a:r>
              <a:rPr lang="zh-CN" altLang="en-US" sz="1400" dirty="0">
                <a:sym typeface="Huawei Sans" panose="020C0503030203020204" pitchFamily="34" charset="0"/>
              </a:rPr>
              <a:t>，再封装外层标签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去掉所有标签，将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报文转发给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报文后先封装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，再封装外层标签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进行标签交换，把外层标签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收到后去掉所有标签，将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报文转发给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7649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ym typeface="Huawei Sans" panose="020C0503030203020204" pitchFamily="34" charset="0"/>
              </a:rPr>
              <a:t>的特点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跨域</a:t>
            </a:r>
            <a:r>
              <a:rPr lang="en-US" altLang="zh-CN" sz="1600" dirty="0">
                <a:sym typeface="Huawei Sans" panose="020C0503030203020204" pitchFamily="34" charset="0"/>
              </a:rPr>
              <a:t>VPN-</a:t>
            </a:r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zh-CN" altLang="en-US" sz="1600" dirty="0">
                <a:sym typeface="Huawei Sans" panose="020C0503030203020204" pitchFamily="34" charset="0"/>
              </a:rPr>
              <a:t>配置简单，而且理解起来也比较简单。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当网络中存在少量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的情况下，跨域</a:t>
            </a:r>
            <a:r>
              <a:rPr lang="en-US" altLang="zh-CN" sz="1600" dirty="0">
                <a:sym typeface="Huawei Sans" panose="020C0503030203020204" pitchFamily="34" charset="0"/>
              </a:rPr>
              <a:t>VPN-</a:t>
            </a:r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zh-CN" altLang="en-US" sz="1600" dirty="0">
                <a:sym typeface="Huawei Sans" panose="020C0503030203020204" pitchFamily="34" charset="0"/>
              </a:rPr>
              <a:t>有一定的适用性。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将对端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视为一台</a:t>
            </a:r>
            <a:r>
              <a:rPr lang="en-US" altLang="zh-CN" sz="1600" dirty="0">
                <a:sym typeface="Huawei Sans" panose="020C0503030203020204" pitchFamily="34" charset="0"/>
              </a:rPr>
              <a:t>CE</a:t>
            </a:r>
            <a:r>
              <a:rPr lang="zh-CN" altLang="en-US" sz="1600" dirty="0">
                <a:sym typeface="Huawei Sans" panose="020C0503030203020204" pitchFamily="34" charset="0"/>
              </a:rPr>
              <a:t>设备，并使用</a:t>
            </a:r>
            <a:r>
              <a:rPr lang="en-US" altLang="zh-CN" sz="1600" dirty="0">
                <a:sym typeface="Huawei Sans" panose="020C0503030203020204" pitchFamily="34" charset="0"/>
              </a:rPr>
              <a:t>VRF</a:t>
            </a:r>
            <a:r>
              <a:rPr lang="zh-CN" altLang="en-US" sz="1600" dirty="0">
                <a:sym typeface="Huawei Sans" panose="020C0503030203020204" pitchFamily="34" charset="0"/>
              </a:rPr>
              <a:t>接口与其对接。两个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之间交互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形态的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从数据层面看，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用户的数据在两个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之间交互时，是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报文的形态，也就是不携带任何标签头部。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跨域</a:t>
            </a:r>
            <a:r>
              <a:rPr lang="en-US" altLang="zh-CN" sz="1600" dirty="0">
                <a:sym typeface="Huawei Sans" panose="020C0503030203020204" pitchFamily="34" charset="0"/>
              </a:rPr>
              <a:t>VPN-</a:t>
            </a:r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zh-CN" altLang="en-US" sz="1600" dirty="0">
                <a:sym typeface="Huawei Sans" panose="020C0503030203020204" pitchFamily="34" charset="0"/>
              </a:rPr>
              <a:t>的可扩展性较差，由于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需要管理所有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路由，为每个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创建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实例，这将导致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上的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路由数量过大。并且，由于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间是普通的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转发，要求为每个跨域的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使用不同的接口（可以是子接口、物理接口、捆绑的逻辑接口），因此对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设备有较高的要求。如果跨越多个自治域，中间域必须支持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业务，不仅配置量大，而且对中间域有较大影响。在需要跨域的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数量比较少的情况，可以优先考虑使用。</a:t>
            </a:r>
            <a:endParaRPr lang="en-US" altLang="zh-CN" sz="16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84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OptionA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ym typeface="Huawei Sans" panose="020C0503030203020204" pitchFamily="34" charset="0"/>
              </a:rPr>
              <a:t>基本配置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814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5" name="文本占位符 64"/>
          <p:cNvSpPr>
            <a:spLocks noGrp="1"/>
          </p:cNvSpPr>
          <p:nvPr>
            <p:ph type="body" sz="quarter" idx="10"/>
          </p:nvPr>
        </p:nvSpPr>
        <p:spPr bwMode="gray">
          <a:xfrm>
            <a:off x="455613" y="3716338"/>
            <a:ext cx="5644670" cy="2211217"/>
          </a:xfrm>
        </p:spPr>
        <p:txBody>
          <a:bodyPr/>
          <a:lstStyle/>
          <a:p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属于同一个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实例的名字为</a:t>
            </a:r>
            <a:r>
              <a:rPr lang="en-US" altLang="zh-CN" sz="1400" dirty="0" err="1"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sym typeface="Huawei Sans" panose="020C0503030203020204" pitchFamily="34" charset="0"/>
              </a:rPr>
              <a:t>。通过</a:t>
            </a:r>
            <a:r>
              <a:rPr lang="en-US" altLang="zh-CN" sz="1400" dirty="0" err="1">
                <a:sym typeface="Huawei Sans" panose="020C0503030203020204" pitchFamily="34" charset="0"/>
              </a:rPr>
              <a:t>OptionA</a:t>
            </a:r>
            <a:r>
              <a:rPr lang="zh-CN" altLang="en-US" sz="1400" dirty="0">
                <a:sym typeface="Huawei Sans" panose="020C0503030203020204" pitchFamily="34" charset="0"/>
              </a:rPr>
              <a:t>的方式实现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互通。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399047"/>
              </p:ext>
            </p:extLst>
          </p:nvPr>
        </p:nvGraphicFramePr>
        <p:xfrm>
          <a:off x="667872" y="4455356"/>
          <a:ext cx="3424022" cy="1538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4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10.0.3.3/32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100:3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10.0.4.4/32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200:4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2:2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10.0.6.6/32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200:6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2:2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文本框 68"/>
          <p:cNvSpPr txBox="1"/>
          <p:nvPr/>
        </p:nvSpPr>
        <p:spPr bwMode="gray">
          <a:xfrm>
            <a:off x="4142830" y="5057636"/>
            <a:ext cx="106587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数据规划</a:t>
            </a: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41" name="直接连接符 40"/>
            <p:cNvCxnSpPr>
              <a:stCxn id="11" idx="1"/>
              <a:endCxn id="7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7" idx="1"/>
              <a:endCxn id="8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0"/>
              <a:endCxn id="8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45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5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5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圆角矩形 5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圆角矩形 5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圆角矩形 5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圆角矩形 5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67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70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71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72" name="文本占位符 64"/>
          <p:cNvSpPr txBox="1">
            <a:spLocks/>
          </p:cNvSpPr>
          <p:nvPr/>
        </p:nvSpPr>
        <p:spPr bwMode="gray">
          <a:xfrm>
            <a:off x="6101028" y="1450812"/>
            <a:ext cx="5648059" cy="230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内的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骨干网上分别配置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基本能力和</a:t>
            </a:r>
            <a:r>
              <a:rPr lang="en-US" altLang="zh-CN" sz="1200" dirty="0">
                <a:sym typeface="Huawei Sans" panose="020C0503030203020204" pitchFamily="34" charset="0"/>
              </a:rPr>
              <a:t>MPLS LDP</a:t>
            </a:r>
            <a:r>
              <a:rPr lang="zh-CN" altLang="en-US" sz="1200" dirty="0">
                <a:sym typeface="Huawei Sans" panose="020C0503030203020204" pitchFamily="34" charset="0"/>
              </a:rPr>
              <a:t>，建立</a:t>
            </a:r>
            <a:r>
              <a:rPr lang="en-US" altLang="zh-CN" sz="1200" dirty="0">
                <a:sym typeface="Huawei Sans" panose="020C0503030203020204" pitchFamily="34" charset="0"/>
              </a:rPr>
              <a:t>LDP LSP</a:t>
            </a:r>
            <a:r>
              <a:rPr lang="zh-CN" altLang="en-US" sz="1200" dirty="0">
                <a:sym typeface="Huawei Sans" panose="020C0503030203020204" pitchFamily="34" charset="0"/>
              </a:rPr>
              <a:t>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MP-IBGP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相连的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上需配置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实例，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在两个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上创建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实例，并将此实例绑定到连接另一个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的接口（把一个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当成是自己的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），并在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对等体关系传递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48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41" name="直接连接符 40"/>
            <p:cNvCxnSpPr>
              <a:stCxn id="11" idx="1"/>
              <a:endCxn id="7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7" idx="1"/>
              <a:endCxn id="8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0"/>
              <a:endCxn id="8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45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5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5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圆角矩形 5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圆角矩形 5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圆角矩形 5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圆角矩形 5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67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70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71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72" name="文本占位符 64"/>
          <p:cNvSpPr txBox="1">
            <a:spLocks/>
          </p:cNvSpPr>
          <p:nvPr/>
        </p:nvSpPr>
        <p:spPr bwMode="gray">
          <a:xfrm>
            <a:off x="6073270" y="935330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为例，创建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实例，并将此实例绑定到连接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的接口。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22790" y="1592632"/>
            <a:ext cx="5367721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[ASBR-PE1-vpn-instance-vpna] ipv4-family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[ASBR-PE1-vpn-instance-vpna-af-ipv4] route-distinguisher 100:3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[ASBR-PE1-vpn-instance-vpna-af-ipv4]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 1:1 both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[ASBR-PE1-vpn-instance-vpna-af-ipv4]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[ASBR-PE1-vpn-instance-vpna]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interface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2/0/0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[ASBR-PE1-GigabitEthernet2/0/0]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binding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[ASBR-PE1-GigabitEthernet2/0/0]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address 10.0.34.3 24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[ASBR-PE1-GigabitEthernet2/0/0]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582402" y="4168566"/>
            <a:ext cx="5367721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peer 10.0.1.1 as-number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peer 10.0.1.1 connect-interface loopback 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ipv4-family vpnv4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peer 10.0.1.1 enable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占位符 64"/>
          <p:cNvSpPr txBox="1">
            <a:spLocks/>
          </p:cNvSpPr>
          <p:nvPr/>
        </p:nvSpPr>
        <p:spPr bwMode="gray">
          <a:xfrm>
            <a:off x="455613" y="3748048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为例，配置与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 bwMode="gray">
          <a:xfrm>
            <a:off x="608402" y="5689458"/>
            <a:ext cx="4656593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邻居关系，传递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路由。</a:t>
            </a:r>
          </a:p>
        </p:txBody>
      </p:sp>
      <p:sp>
        <p:nvSpPr>
          <p:cNvPr id="75" name="矩形 74"/>
          <p:cNvSpPr/>
          <p:nvPr/>
        </p:nvSpPr>
        <p:spPr bwMode="gray">
          <a:xfrm>
            <a:off x="1844412" y="4746170"/>
            <a:ext cx="1572115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6" name="肘形连接符 75"/>
          <p:cNvCxnSpPr>
            <a:endCxn id="69" idx="3"/>
          </p:cNvCxnSpPr>
          <p:nvPr/>
        </p:nvCxnSpPr>
        <p:spPr bwMode="gray">
          <a:xfrm>
            <a:off x="3416527" y="4868091"/>
            <a:ext cx="1848468" cy="975256"/>
          </a:xfrm>
          <a:prstGeom prst="bentConnector3">
            <a:avLst>
              <a:gd name="adj1" fmla="val 112367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 bwMode="gray">
          <a:xfrm>
            <a:off x="6317657" y="4168566"/>
            <a:ext cx="53677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ipv4-family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[ASBR-PE1-bgp-vpna] peer 10.0.34.4 as-number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[ASBR-PE1-bgp-vpna] import-route direct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[ASBR-PE1-bgp-vpna]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占位符 64"/>
          <p:cNvSpPr txBox="1">
            <a:spLocks/>
          </p:cNvSpPr>
          <p:nvPr/>
        </p:nvSpPr>
        <p:spPr bwMode="gray">
          <a:xfrm>
            <a:off x="6101647" y="3748048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为例，配置与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6317657" y="5630512"/>
            <a:ext cx="4656593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把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，在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实例地址族下建立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邻居关系，传递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路由。</a:t>
            </a:r>
          </a:p>
        </p:txBody>
      </p:sp>
      <p:sp>
        <p:nvSpPr>
          <p:cNvPr id="80" name="矩形 79"/>
          <p:cNvSpPr/>
          <p:nvPr/>
        </p:nvSpPr>
        <p:spPr bwMode="gray">
          <a:xfrm>
            <a:off x="7553667" y="4380411"/>
            <a:ext cx="2220686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1" name="肘形连接符 80"/>
          <p:cNvCxnSpPr>
            <a:endCxn id="79" idx="3"/>
          </p:cNvCxnSpPr>
          <p:nvPr/>
        </p:nvCxnSpPr>
        <p:spPr bwMode="gray">
          <a:xfrm rot="16200000" flipH="1">
            <a:off x="9672874" y="4590746"/>
            <a:ext cx="1402854" cy="1199897"/>
          </a:xfrm>
          <a:prstGeom prst="bentConnector4">
            <a:avLst>
              <a:gd name="adj1" fmla="val 946"/>
              <a:gd name="adj2" fmla="val 11905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75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ym typeface="Huawei Sans" panose="020C0503030203020204" pitchFamily="34" charset="0"/>
              </a:rPr>
              <a:t>配置结果验证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5" name="直接连接符 4"/>
            <p:cNvCxnSpPr>
              <a:stCxn id="11" idx="1"/>
              <a:endCxn id="8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4" name="直接连接符 13"/>
            <p:cNvCxnSpPr>
              <a:stCxn id="8" idx="1"/>
              <a:endCxn id="7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0"/>
              <a:endCxn id="7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19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5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37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48789" y="1247601"/>
            <a:ext cx="536772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&lt;PE1&gt;display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number of routes from all PE: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Distinguisher: 100:1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Network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MED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LocPrf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Path/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Ogn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*&gt;   192.168.1.0        10.0.11.1       0                     0      65000i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VPN-Instance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Router ID 10.0.12.1: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Number of Routes: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Network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MED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LocPrf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Path/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Ogn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*&gt;   192.168.1.0        10.0.11.1       0                     0      65000i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0" name="直接箭头连接符 39"/>
          <p:cNvCxnSpPr/>
          <p:nvPr/>
        </p:nvCxnSpPr>
        <p:spPr bwMode="gray">
          <a:xfrm flipH="1" flipV="1">
            <a:off x="1461847" y="2441550"/>
            <a:ext cx="8709" cy="632066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 bwMode="gray">
          <a:xfrm>
            <a:off x="6466216" y="3021970"/>
            <a:ext cx="1327956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2" name="矩形 41"/>
          <p:cNvSpPr/>
          <p:nvPr/>
        </p:nvSpPr>
        <p:spPr bwMode="gray">
          <a:xfrm>
            <a:off x="6321172" y="2740173"/>
            <a:ext cx="2265479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肘形连接符 42"/>
          <p:cNvCxnSpPr>
            <a:stCxn id="42" idx="1"/>
            <a:endCxn id="41" idx="1"/>
          </p:cNvCxnSpPr>
          <p:nvPr/>
        </p:nvCxnSpPr>
        <p:spPr bwMode="gray">
          <a:xfrm rot="10800000" flipH="1" flipV="1">
            <a:off x="6321172" y="2849031"/>
            <a:ext cx="145044" cy="326828"/>
          </a:xfrm>
          <a:prstGeom prst="bentConnector3">
            <a:avLst>
              <a:gd name="adj1" fmla="val -157607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占位符 64"/>
          <p:cNvSpPr txBox="1">
            <a:spLocks/>
          </p:cNvSpPr>
          <p:nvPr/>
        </p:nvSpPr>
        <p:spPr bwMode="gray">
          <a:xfrm>
            <a:off x="6154758" y="3283865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6248789" y="3657099"/>
            <a:ext cx="5367721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&lt;ASBR-PE1&gt;display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Total routes of Route Distinguisher(100:1):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1026/NULL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10.0.1.1 (10.0.1.1)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00h05m07s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10.0.23.2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 token: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&lt;1 : 1&gt;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65000,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MED 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localpref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internal, best, select, pre 255, IGP cost 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8911179" y="4683075"/>
            <a:ext cx="1249725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57" name="矩形 56"/>
          <p:cNvSpPr/>
          <p:nvPr/>
        </p:nvSpPr>
        <p:spPr bwMode="gray">
          <a:xfrm>
            <a:off x="6321173" y="4418345"/>
            <a:ext cx="2043366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" name="肘形连接符 57"/>
          <p:cNvCxnSpPr>
            <a:stCxn id="57" idx="3"/>
            <a:endCxn id="53" idx="1"/>
          </p:cNvCxnSpPr>
          <p:nvPr/>
        </p:nvCxnSpPr>
        <p:spPr bwMode="gray">
          <a:xfrm>
            <a:off x="8364539" y="4527203"/>
            <a:ext cx="546640" cy="309761"/>
          </a:xfrm>
          <a:prstGeom prst="bentConnector3">
            <a:avLst>
              <a:gd name="adj1" fmla="val 41288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 bwMode="gray">
          <a:xfrm>
            <a:off x="582402" y="4046646"/>
            <a:ext cx="536772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&lt;ASBR-PE2&gt;display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Distinguisher(100:4):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NULL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/1027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10.0.34.3 (10.0.3.3)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00h13m13s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Direct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10.0.34.3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&lt;2 : 2&gt;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占位符 64"/>
          <p:cNvSpPr txBox="1">
            <a:spLocks/>
          </p:cNvSpPr>
          <p:nvPr/>
        </p:nvSpPr>
        <p:spPr bwMode="gray">
          <a:xfrm>
            <a:off x="455613" y="3626128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 bwMode="gray">
          <a:xfrm>
            <a:off x="885783" y="5877347"/>
            <a:ext cx="2724718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矩形 67"/>
          <p:cNvSpPr/>
          <p:nvPr/>
        </p:nvSpPr>
        <p:spPr bwMode="gray">
          <a:xfrm>
            <a:off x="675789" y="4850396"/>
            <a:ext cx="1952531" cy="1656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9" name="肘形连接符 68"/>
          <p:cNvCxnSpPr>
            <a:stCxn id="65" idx="1"/>
            <a:endCxn id="67" idx="1"/>
          </p:cNvCxnSpPr>
          <p:nvPr/>
        </p:nvCxnSpPr>
        <p:spPr bwMode="gray">
          <a:xfrm rot="10800000" flipH="1" flipV="1">
            <a:off x="582401" y="4923808"/>
            <a:ext cx="303381" cy="1107427"/>
          </a:xfrm>
          <a:prstGeom prst="bentConnector3">
            <a:avLst>
              <a:gd name="adj1" fmla="val -20094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 bwMode="gray">
          <a:xfrm flipV="1">
            <a:off x="1578324" y="2203473"/>
            <a:ext cx="927837" cy="238077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23" idx="2"/>
            <a:endCxn id="24" idx="2"/>
          </p:cNvCxnSpPr>
          <p:nvPr/>
        </p:nvCxnSpPr>
        <p:spPr bwMode="gray">
          <a:xfrm flipV="1">
            <a:off x="2628320" y="2203473"/>
            <a:ext cx="1492178" cy="9218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 bwMode="gray">
          <a:xfrm>
            <a:off x="2671871" y="5425377"/>
            <a:ext cx="2897253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收到的标签为空，说明是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路由。</a:t>
            </a:r>
          </a:p>
        </p:txBody>
      </p:sp>
      <p:sp>
        <p:nvSpPr>
          <p:cNvPr id="79" name="矩形 78"/>
          <p:cNvSpPr/>
          <p:nvPr/>
        </p:nvSpPr>
        <p:spPr bwMode="gray">
          <a:xfrm>
            <a:off x="675789" y="4636060"/>
            <a:ext cx="3568329" cy="166342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0" name="肘形连接符 79"/>
          <p:cNvCxnSpPr>
            <a:stCxn id="79" idx="3"/>
            <a:endCxn id="78" idx="3"/>
          </p:cNvCxnSpPr>
          <p:nvPr/>
        </p:nvCxnSpPr>
        <p:spPr bwMode="gray">
          <a:xfrm>
            <a:off x="4244118" y="4719231"/>
            <a:ext cx="1325006" cy="860035"/>
          </a:xfrm>
          <a:prstGeom prst="bentConnector3">
            <a:avLst>
              <a:gd name="adj1" fmla="val 117253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 bwMode="gray">
          <a:xfrm>
            <a:off x="1365534" y="2607149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椭圆 70"/>
          <p:cNvSpPr/>
          <p:nvPr/>
        </p:nvSpPr>
        <p:spPr bwMode="gray">
          <a:xfrm>
            <a:off x="1694525" y="229544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椭圆 71"/>
          <p:cNvSpPr/>
          <p:nvPr/>
        </p:nvSpPr>
        <p:spPr bwMode="gray">
          <a:xfrm>
            <a:off x="3210361" y="2119643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121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35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OpitonA</a:t>
            </a:r>
            <a:r>
              <a:rPr lang="zh-CN" altLang="en-US" dirty="0">
                <a:sym typeface="Huawei Sans" panose="020C0503030203020204" pitchFamily="34" charset="0"/>
              </a:rPr>
              <a:t>配置结果验证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5" name="直接连接符 4"/>
            <p:cNvCxnSpPr>
              <a:stCxn id="11" idx="1"/>
              <a:endCxn id="8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4" name="直接连接符 13"/>
            <p:cNvCxnSpPr>
              <a:stCxn id="8" idx="1"/>
              <a:endCxn id="7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0"/>
              <a:endCxn id="7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19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圆角矩形 2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5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37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248789" y="1247601"/>
            <a:ext cx="5367721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Distinguisher(100:4):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1027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10.0.4.4 (10.0.4.4)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10.0.56.5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&lt;2 : 2&gt;</a:t>
            </a:r>
          </a:p>
        </p:txBody>
      </p:sp>
      <p:cxnSp>
        <p:nvCxnSpPr>
          <p:cNvPr id="40" name="直接箭头连接符 39"/>
          <p:cNvCxnSpPr/>
          <p:nvPr/>
        </p:nvCxnSpPr>
        <p:spPr bwMode="gray">
          <a:xfrm flipH="1" flipV="1">
            <a:off x="1461847" y="2441550"/>
            <a:ext cx="8709" cy="632066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 bwMode="gray">
          <a:xfrm>
            <a:off x="8364538" y="2807243"/>
            <a:ext cx="2052874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为该路由分配的标签值为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1027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2" name="矩形 41"/>
          <p:cNvSpPr/>
          <p:nvPr/>
        </p:nvSpPr>
        <p:spPr bwMode="gray">
          <a:xfrm>
            <a:off x="6366827" y="1826835"/>
            <a:ext cx="3722053" cy="2196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肘形连接符 42"/>
          <p:cNvCxnSpPr>
            <a:stCxn id="41" idx="3"/>
            <a:endCxn id="42" idx="3"/>
          </p:cNvCxnSpPr>
          <p:nvPr/>
        </p:nvCxnSpPr>
        <p:spPr bwMode="gray">
          <a:xfrm flipH="1" flipV="1">
            <a:off x="10088880" y="1936635"/>
            <a:ext cx="328532" cy="1132218"/>
          </a:xfrm>
          <a:prstGeom prst="bentConnector3">
            <a:avLst>
              <a:gd name="adj1" fmla="val -6958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占位符 64"/>
          <p:cNvSpPr txBox="1">
            <a:spLocks/>
          </p:cNvSpPr>
          <p:nvPr/>
        </p:nvSpPr>
        <p:spPr bwMode="gray">
          <a:xfrm>
            <a:off x="6154758" y="3687725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6248789" y="4060959"/>
            <a:ext cx="5367721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10.0.26.2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65001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Paths:   1 available, 1 best, 1 select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10.0.26.6 (10.0.6.6)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Direct Out-interface: GigabitEthernet0/0/0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10.0.26.6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200 100 65000,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external, best, select, 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 bwMode="gray">
          <a:xfrm>
            <a:off x="6579459" y="5818023"/>
            <a:ext cx="1249725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57" name="矩形 56"/>
          <p:cNvSpPr/>
          <p:nvPr/>
        </p:nvSpPr>
        <p:spPr bwMode="gray">
          <a:xfrm>
            <a:off x="6321173" y="4997465"/>
            <a:ext cx="2043366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" name="肘形连接符 57"/>
          <p:cNvCxnSpPr>
            <a:stCxn id="57" idx="1"/>
            <a:endCxn id="53" idx="1"/>
          </p:cNvCxnSpPr>
          <p:nvPr/>
        </p:nvCxnSpPr>
        <p:spPr bwMode="gray">
          <a:xfrm rot="10800000" flipH="1" flipV="1">
            <a:off x="6321173" y="5106322"/>
            <a:ext cx="258286" cy="865589"/>
          </a:xfrm>
          <a:prstGeom prst="bentConnector3">
            <a:avLst>
              <a:gd name="adj1" fmla="val -56055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 bwMode="gray">
          <a:xfrm>
            <a:off x="582402" y="4219982"/>
            <a:ext cx="5367721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&lt;CE2&gt;ping -a 192.168.2.1 192.168.1.1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192.168.1.1: 56  data bytes, press CTRL_C to break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time=100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time=50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Sequence=5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6" name="文本占位符 64"/>
          <p:cNvSpPr txBox="1">
            <a:spLocks/>
          </p:cNvSpPr>
          <p:nvPr/>
        </p:nvSpPr>
        <p:spPr bwMode="gray">
          <a:xfrm>
            <a:off x="455613" y="379946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上</a:t>
            </a:r>
            <a:r>
              <a:rPr lang="en-US" altLang="zh-CN" sz="1400" dirty="0">
                <a:sym typeface="Huawei Sans" panose="020C0503030203020204" pitchFamily="34" charset="0"/>
              </a:rPr>
              <a:t>Ping 192.168.1.1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cxnSp>
        <p:nvCxnSpPr>
          <p:cNvPr id="70" name="直接箭头连接符 69"/>
          <p:cNvCxnSpPr/>
          <p:nvPr/>
        </p:nvCxnSpPr>
        <p:spPr bwMode="gray">
          <a:xfrm flipV="1">
            <a:off x="1578324" y="2203473"/>
            <a:ext cx="927837" cy="238077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23" idx="2"/>
            <a:endCxn id="24" idx="2"/>
          </p:cNvCxnSpPr>
          <p:nvPr/>
        </p:nvCxnSpPr>
        <p:spPr bwMode="gray">
          <a:xfrm flipV="1">
            <a:off x="2628320" y="2203473"/>
            <a:ext cx="1492178" cy="9218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 bwMode="gray">
          <a:xfrm>
            <a:off x="4255551" y="2173769"/>
            <a:ext cx="851907" cy="239324"/>
          </a:xfrm>
          <a:prstGeom prst="straightConnector1">
            <a:avLst/>
          </a:pr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 bwMode="gray">
          <a:xfrm flipH="1" flipV="1">
            <a:off x="5150720" y="2441550"/>
            <a:ext cx="8709" cy="632066"/>
          </a:xfrm>
          <a:prstGeom prst="straightConnector1">
            <a:avLst/>
          </a:prstGeom>
          <a:ln w="12700">
            <a:solidFill>
              <a:srgbClr val="F2894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/>
        </p:nvSpPr>
        <p:spPr bwMode="gray">
          <a:xfrm>
            <a:off x="1365534" y="2607149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椭圆 70"/>
          <p:cNvSpPr/>
          <p:nvPr/>
        </p:nvSpPr>
        <p:spPr bwMode="gray">
          <a:xfrm>
            <a:off x="1694525" y="229544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椭圆 71"/>
          <p:cNvSpPr/>
          <p:nvPr/>
        </p:nvSpPr>
        <p:spPr bwMode="gray">
          <a:xfrm>
            <a:off x="3210361" y="2119643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椭圆 61"/>
          <p:cNvSpPr/>
          <p:nvPr/>
        </p:nvSpPr>
        <p:spPr bwMode="gray">
          <a:xfrm>
            <a:off x="4605597" y="2203473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椭圆 62"/>
          <p:cNvSpPr/>
          <p:nvPr/>
        </p:nvSpPr>
        <p:spPr bwMode="gray">
          <a:xfrm>
            <a:off x="5055756" y="2599442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501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OptionB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工作原理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78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概述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相比于</a:t>
            </a:r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 err="1">
                <a:sym typeface="Huawei Sans" panose="020C0503030203020204" pitchFamily="34" charset="0"/>
              </a:rPr>
              <a:t>OptionB</a:t>
            </a:r>
            <a:r>
              <a:rPr lang="zh-CN" altLang="en-US" sz="1600" dirty="0">
                <a:sym typeface="Huawei Sans" panose="020C0503030203020204" pitchFamily="34" charset="0"/>
              </a:rPr>
              <a:t>无需在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创建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实例，无需绑定任何接口。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在</a:t>
            </a:r>
            <a:r>
              <a:rPr lang="en-US" altLang="zh-CN" sz="1600" dirty="0" err="1">
                <a:sym typeface="Huawei Sans" panose="020C0503030203020204" pitchFamily="34" charset="0"/>
              </a:rPr>
              <a:t>OptionB</a:t>
            </a:r>
            <a:r>
              <a:rPr lang="zh-CN" altLang="en-US" sz="1600" dirty="0">
                <a:sym typeface="Huawei Sans" panose="020C0503030203020204" pitchFamily="34" charset="0"/>
              </a:rPr>
              <a:t>方式中，两个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MP-EBGP</a:t>
            </a:r>
            <a:r>
              <a:rPr lang="zh-CN" altLang="en-US" sz="1600" dirty="0">
                <a:sym typeface="Huawei Sans" panose="020C0503030203020204" pitchFamily="34" charset="0"/>
              </a:rPr>
              <a:t>交换它们从各自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设备接收的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路由。</a:t>
            </a:r>
          </a:p>
          <a:p>
            <a:r>
              <a:rPr lang="zh-CN" altLang="en-US" sz="1600" dirty="0">
                <a:sym typeface="Huawei Sans" panose="020C0503030203020204" pitchFamily="34" charset="0"/>
              </a:rPr>
              <a:t>缺省情况下，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上只保存与本地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实例的</a:t>
            </a:r>
            <a:r>
              <a:rPr lang="en-US" altLang="zh-CN" sz="1600" dirty="0">
                <a:sym typeface="Huawei Sans" panose="020C0503030203020204" pitchFamily="34" charset="0"/>
              </a:rPr>
              <a:t>VPN Target</a:t>
            </a:r>
            <a:r>
              <a:rPr lang="zh-CN" altLang="en-US" sz="1600" dirty="0">
                <a:sym typeface="Huawei Sans" panose="020C0503030203020204" pitchFamily="34" charset="0"/>
              </a:rPr>
              <a:t>相匹配的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路由。因此，可以在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上配置不做</a:t>
            </a:r>
            <a:r>
              <a:rPr lang="en-US" altLang="zh-CN" sz="1600" dirty="0">
                <a:sym typeface="Huawei Sans" panose="020C0503030203020204" pitchFamily="34" charset="0"/>
              </a:rPr>
              <a:t>RT</a:t>
            </a:r>
            <a:r>
              <a:rPr lang="zh-CN" altLang="en-US" sz="1600" dirty="0">
                <a:sym typeface="Huawei Sans" panose="020C0503030203020204" pitchFamily="34" charset="0"/>
              </a:rPr>
              <a:t>过滤来传递路由。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网络规模较大时，可部署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设备，专门负责客户侧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路由的传递。</a:t>
            </a:r>
          </a:p>
          <a:p>
            <a:endParaRPr lang="en-US" sz="1600" dirty="0">
              <a:sym typeface="Huawei Sans" panose="020C0503030203020204" pitchFamily="34" charset="0"/>
            </a:endParaRPr>
          </a:p>
        </p:txBody>
      </p:sp>
      <p:cxnSp>
        <p:nvCxnSpPr>
          <p:cNvPr id="6" name="直接连接符 5"/>
          <p:cNvCxnSpPr>
            <a:stCxn id="14" idx="3"/>
            <a:endCxn id="16" idx="1"/>
          </p:cNvCxnSpPr>
          <p:nvPr/>
        </p:nvCxnSpPr>
        <p:spPr bwMode="gray">
          <a:xfrm>
            <a:off x="2404050" y="4025701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 bwMode="gray">
          <a:xfrm>
            <a:off x="879830" y="3804792"/>
            <a:ext cx="3743204" cy="1509016"/>
            <a:chOff x="860640" y="1181905"/>
            <a:chExt cx="3743204" cy="1509016"/>
          </a:xfrm>
        </p:grpSpPr>
        <p:grpSp>
          <p:nvGrpSpPr>
            <p:cNvPr id="8" name="组合 7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9" name="文本框 18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 bwMode="gray">
            <a:xfrm>
              <a:off x="3584013" y="1181905"/>
              <a:ext cx="1019831" cy="723926"/>
              <a:chOff x="7854226" y="4938500"/>
              <a:chExt cx="1019831" cy="723926"/>
            </a:xfrm>
          </p:grpSpPr>
          <p:pic>
            <p:nvPicPr>
              <p:cNvPr id="16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7" name="文本框 16"/>
              <p:cNvSpPr txBox="1"/>
              <p:nvPr/>
            </p:nvSpPr>
            <p:spPr bwMode="gray">
              <a:xfrm>
                <a:off x="7854226" y="5354649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1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5" name="文本框 14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2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3" name="文本框 12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20" name="直接连接符 19"/>
          <p:cNvCxnSpPr>
            <a:stCxn id="12" idx="0"/>
            <a:endCxn id="14" idx="1"/>
          </p:cNvCxnSpPr>
          <p:nvPr/>
        </p:nvCxnSpPr>
        <p:spPr bwMode="gray">
          <a:xfrm flipV="1">
            <a:off x="1149830" y="4025701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 bwMode="gray">
          <a:xfrm>
            <a:off x="1758111" y="3702030"/>
            <a:ext cx="3729005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141"/>
          <p:cNvSpPr/>
          <p:nvPr/>
        </p:nvSpPr>
        <p:spPr bwMode="gray">
          <a:xfrm>
            <a:off x="1684046" y="4932239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cxnSp>
        <p:nvCxnSpPr>
          <p:cNvPr id="23" name="直接连接符 22"/>
          <p:cNvCxnSpPr>
            <a:stCxn id="31" idx="3"/>
            <a:endCxn id="33" idx="1"/>
          </p:cNvCxnSpPr>
          <p:nvPr/>
        </p:nvCxnSpPr>
        <p:spPr bwMode="gray">
          <a:xfrm>
            <a:off x="8324559" y="4025701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 bwMode="gray">
          <a:xfrm>
            <a:off x="7544645" y="3804792"/>
            <a:ext cx="3700511" cy="1509016"/>
            <a:chOff x="1604946" y="1181905"/>
            <a:chExt cx="3700511" cy="1509016"/>
          </a:xfrm>
        </p:grpSpPr>
        <p:grpSp>
          <p:nvGrpSpPr>
            <p:cNvPr id="25" name="组合 24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3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6" name="文本框 35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33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4" name="文本框 33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 bwMode="gray">
            <a:xfrm>
              <a:off x="1604946" y="1181905"/>
              <a:ext cx="1019831" cy="723926"/>
              <a:chOff x="3848657" y="4947622"/>
              <a:chExt cx="1019831" cy="723926"/>
            </a:xfrm>
          </p:grpSpPr>
          <p:pic>
            <p:nvPicPr>
              <p:cNvPr id="31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2" name="文本框 31"/>
              <p:cNvSpPr txBox="1"/>
              <p:nvPr/>
            </p:nvSpPr>
            <p:spPr bwMode="gray">
              <a:xfrm>
                <a:off x="3848657" y="5363771"/>
                <a:ext cx="10198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2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0" name="文本框 29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37" name="直接连接符 36"/>
          <p:cNvCxnSpPr>
            <a:stCxn id="29" idx="0"/>
            <a:endCxn id="33" idx="3"/>
          </p:cNvCxnSpPr>
          <p:nvPr/>
        </p:nvCxnSpPr>
        <p:spPr bwMode="gray">
          <a:xfrm flipH="1" flipV="1">
            <a:off x="10271624" y="4025701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 bwMode="gray">
          <a:xfrm>
            <a:off x="6586244" y="3702029"/>
            <a:ext cx="3848912" cy="153910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141"/>
          <p:cNvSpPr/>
          <p:nvPr/>
        </p:nvSpPr>
        <p:spPr bwMode="gray">
          <a:xfrm>
            <a:off x="9699500" y="4925422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44" name="圆角矩形 43"/>
          <p:cNvSpPr/>
          <p:nvPr/>
        </p:nvSpPr>
        <p:spPr bwMode="gray">
          <a:xfrm>
            <a:off x="711227" y="4543946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圆角矩形 44"/>
          <p:cNvSpPr/>
          <p:nvPr/>
        </p:nvSpPr>
        <p:spPr bwMode="gray">
          <a:xfrm>
            <a:off x="10550096" y="4543946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连接符 45"/>
          <p:cNvCxnSpPr>
            <a:stCxn id="16" idx="3"/>
            <a:endCxn id="31" idx="1"/>
          </p:cNvCxnSpPr>
          <p:nvPr/>
        </p:nvCxnSpPr>
        <p:spPr bwMode="gray">
          <a:xfrm>
            <a:off x="4351115" y="4025701"/>
            <a:ext cx="3433444" cy="0"/>
          </a:xfrm>
          <a:prstGeom prst="line">
            <a:avLst/>
          </a:prstGeom>
          <a:ln w="28575">
            <a:solidFill>
              <a:srgbClr val="62B23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 bwMode="gray">
          <a:xfrm>
            <a:off x="5374719" y="3721322"/>
            <a:ext cx="124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5286820" y="4158928"/>
            <a:ext cx="1558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传递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</a:t>
            </a:r>
          </a:p>
        </p:txBody>
      </p:sp>
      <p:sp>
        <p:nvSpPr>
          <p:cNvPr id="50" name="矩形 49"/>
          <p:cNvSpPr/>
          <p:nvPr/>
        </p:nvSpPr>
        <p:spPr bwMode="gray">
          <a:xfrm>
            <a:off x="2801669" y="5303191"/>
            <a:ext cx="6588663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直接相连时，无需创建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实例。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</a:p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配置“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undo policy 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”，取消对接收的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路由进行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VPN-Target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过滤。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之间的互联接口需要支持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转发。</a:t>
            </a:r>
          </a:p>
        </p:txBody>
      </p:sp>
      <p:cxnSp>
        <p:nvCxnSpPr>
          <p:cNvPr id="52" name="直接连接符 51"/>
          <p:cNvCxnSpPr>
            <a:stCxn id="17" idx="2"/>
            <a:endCxn id="50" idx="0"/>
          </p:cNvCxnSpPr>
          <p:nvPr/>
        </p:nvCxnSpPr>
        <p:spPr bwMode="gray">
          <a:xfrm>
            <a:off x="4113119" y="4528718"/>
            <a:ext cx="1982882" cy="77447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32" idx="2"/>
            <a:endCxn id="50" idx="0"/>
          </p:cNvCxnSpPr>
          <p:nvPr/>
        </p:nvCxnSpPr>
        <p:spPr bwMode="gray">
          <a:xfrm flipH="1">
            <a:off x="6096001" y="4528718"/>
            <a:ext cx="1958560" cy="77447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94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拓扑说明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MP-IBGP</a:t>
            </a:r>
            <a:r>
              <a:rPr lang="zh-CN" altLang="en-US" sz="1600" dirty="0"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路由通告给域内的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或是</a:t>
            </a:r>
            <a:r>
              <a:rPr lang="en-US" altLang="zh-CN" sz="1600" dirty="0">
                <a:sym typeface="Huawei Sans" panose="020C0503030203020204" pitchFamily="34" charset="0"/>
              </a:rPr>
              <a:t>VPN RR</a:t>
            </a:r>
            <a:r>
              <a:rPr lang="zh-CN" altLang="en-US" sz="1600" dirty="0">
                <a:sym typeface="Huawei Sans" panose="020C0503030203020204" pitchFamily="34" charset="0"/>
              </a:rPr>
              <a:t>（其中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是其客户机）。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再通过</a:t>
            </a:r>
            <a:r>
              <a:rPr lang="en-US" altLang="zh-CN" sz="1600" dirty="0">
                <a:sym typeface="Huawei Sans" panose="020C0503030203020204" pitchFamily="34" charset="0"/>
              </a:rPr>
              <a:t>MP-EBGP</a:t>
            </a:r>
            <a:r>
              <a:rPr lang="zh-CN" altLang="en-US" sz="1600" dirty="0"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通告给另一个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，再由该</a:t>
            </a:r>
            <a:r>
              <a:rPr lang="en-US" altLang="zh-CN" sz="1600" dirty="0">
                <a:sym typeface="Huawei Sans" panose="020C0503030203020204" pitchFamily="34" charset="0"/>
              </a:rPr>
              <a:t>ASBR-PE</a:t>
            </a:r>
            <a:r>
              <a:rPr lang="zh-CN" altLang="en-US" sz="1600" dirty="0">
                <a:sym typeface="Huawei Sans" panose="020C0503030203020204" pitchFamily="34" charset="0"/>
              </a:rPr>
              <a:t>将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路由通告给该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内的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gray">
          <a:xfrm>
            <a:off x="3957237" y="3604481"/>
            <a:ext cx="603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9" name="Text Box 32"/>
          <p:cNvSpPr txBox="1">
            <a:spLocks noChangeArrowheads="1"/>
          </p:cNvSpPr>
          <p:nvPr/>
        </p:nvSpPr>
        <p:spPr bwMode="gray">
          <a:xfrm>
            <a:off x="7898071" y="3618547"/>
            <a:ext cx="5309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0" name="Text Box 33"/>
          <p:cNvSpPr txBox="1">
            <a:spLocks noChangeArrowheads="1"/>
          </p:cNvSpPr>
          <p:nvPr/>
        </p:nvSpPr>
        <p:spPr bwMode="gray">
          <a:xfrm>
            <a:off x="4518770" y="3715731"/>
            <a:ext cx="10350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1" name="Text Box 34"/>
          <p:cNvSpPr txBox="1">
            <a:spLocks noChangeArrowheads="1"/>
          </p:cNvSpPr>
          <p:nvPr/>
        </p:nvSpPr>
        <p:spPr bwMode="gray">
          <a:xfrm>
            <a:off x="6790705" y="3688604"/>
            <a:ext cx="1052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12" name="Text Box 35"/>
          <p:cNvSpPr txBox="1">
            <a:spLocks noChangeArrowheads="1"/>
          </p:cNvSpPr>
          <p:nvPr/>
        </p:nvSpPr>
        <p:spPr bwMode="gray">
          <a:xfrm>
            <a:off x="2361580" y="4518124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3" name="Text Box 36"/>
          <p:cNvSpPr txBox="1">
            <a:spLocks noChangeArrowheads="1"/>
          </p:cNvSpPr>
          <p:nvPr/>
        </p:nvSpPr>
        <p:spPr bwMode="gray">
          <a:xfrm>
            <a:off x="9434161" y="4518124"/>
            <a:ext cx="62190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4" name="Text Box 37"/>
          <p:cNvSpPr txBox="1">
            <a:spLocks noChangeArrowheads="1"/>
          </p:cNvSpPr>
          <p:nvPr/>
        </p:nvSpPr>
        <p:spPr bwMode="gray">
          <a:xfrm>
            <a:off x="3720480" y="2443261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gray">
          <a:xfrm>
            <a:off x="2096467" y="4097436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6" name="Text Box 39"/>
          <p:cNvSpPr txBox="1">
            <a:spLocks noChangeArrowheads="1"/>
          </p:cNvSpPr>
          <p:nvPr/>
        </p:nvSpPr>
        <p:spPr bwMode="gray">
          <a:xfrm>
            <a:off x="9375155" y="3995836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7" name="Line 40"/>
          <p:cNvSpPr>
            <a:spLocks noChangeShapeType="1"/>
          </p:cNvSpPr>
          <p:nvPr/>
        </p:nvSpPr>
        <p:spPr bwMode="gray">
          <a:xfrm flipV="1">
            <a:off x="3977655" y="3267174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Line 41"/>
          <p:cNvSpPr>
            <a:spLocks noChangeShapeType="1"/>
          </p:cNvSpPr>
          <p:nvPr/>
        </p:nvSpPr>
        <p:spPr bwMode="gray">
          <a:xfrm>
            <a:off x="4819030" y="3305274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Line 42"/>
          <p:cNvSpPr>
            <a:spLocks noChangeShapeType="1"/>
          </p:cNvSpPr>
          <p:nvPr/>
        </p:nvSpPr>
        <p:spPr bwMode="gray">
          <a:xfrm flipV="1">
            <a:off x="6947867" y="3276699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gray">
          <a:xfrm>
            <a:off x="7849567" y="3267174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Line 44"/>
          <p:cNvSpPr>
            <a:spLocks noChangeShapeType="1"/>
          </p:cNvSpPr>
          <p:nvPr/>
        </p:nvSpPr>
        <p:spPr bwMode="gray">
          <a:xfrm>
            <a:off x="5696917" y="3575149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Line 67"/>
          <p:cNvSpPr>
            <a:spLocks noChangeShapeType="1"/>
          </p:cNvSpPr>
          <p:nvPr/>
        </p:nvSpPr>
        <p:spPr bwMode="gray">
          <a:xfrm flipV="1">
            <a:off x="2939430" y="3698974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Line 68"/>
          <p:cNvSpPr>
            <a:spLocks noChangeShapeType="1"/>
          </p:cNvSpPr>
          <p:nvPr/>
        </p:nvSpPr>
        <p:spPr bwMode="gray">
          <a:xfrm>
            <a:off x="8636967" y="3698974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Line 98"/>
          <p:cNvSpPr>
            <a:spLocks noChangeShapeType="1"/>
          </p:cNvSpPr>
          <p:nvPr/>
        </p:nvSpPr>
        <p:spPr bwMode="gray">
          <a:xfrm>
            <a:off x="3677617" y="3724374"/>
            <a:ext cx="0" cy="1631950"/>
          </a:xfrm>
          <a:prstGeom prst="line">
            <a:avLst/>
          </a:prstGeom>
          <a:noFill/>
          <a:ln w="19050" cap="rnd">
            <a:solidFill>
              <a:srgbClr val="78B645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Line 99"/>
          <p:cNvSpPr>
            <a:spLocks noChangeShapeType="1"/>
          </p:cNvSpPr>
          <p:nvPr/>
        </p:nvSpPr>
        <p:spPr bwMode="gray">
          <a:xfrm>
            <a:off x="5665167" y="3724374"/>
            <a:ext cx="0" cy="1631950"/>
          </a:xfrm>
          <a:prstGeom prst="line">
            <a:avLst/>
          </a:prstGeom>
          <a:noFill/>
          <a:ln w="19050" cap="rnd">
            <a:solidFill>
              <a:srgbClr val="78B645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Line 100"/>
          <p:cNvSpPr>
            <a:spLocks noChangeShapeType="1"/>
          </p:cNvSpPr>
          <p:nvPr/>
        </p:nvSpPr>
        <p:spPr bwMode="gray">
          <a:xfrm>
            <a:off x="6627192" y="3716436"/>
            <a:ext cx="0" cy="1631950"/>
          </a:xfrm>
          <a:prstGeom prst="line">
            <a:avLst/>
          </a:prstGeom>
          <a:noFill/>
          <a:ln w="19050" cap="rnd">
            <a:solidFill>
              <a:srgbClr val="78B645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Line 101"/>
          <p:cNvSpPr>
            <a:spLocks noChangeShapeType="1"/>
          </p:cNvSpPr>
          <p:nvPr/>
        </p:nvSpPr>
        <p:spPr bwMode="gray">
          <a:xfrm>
            <a:off x="8657605" y="3716436"/>
            <a:ext cx="0" cy="1631950"/>
          </a:xfrm>
          <a:prstGeom prst="line">
            <a:avLst/>
          </a:prstGeom>
          <a:noFill/>
          <a:ln w="19050" cap="rnd">
            <a:solidFill>
              <a:srgbClr val="78B645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Line 146"/>
          <p:cNvSpPr>
            <a:spLocks noChangeShapeType="1"/>
          </p:cNvSpPr>
          <p:nvPr/>
        </p:nvSpPr>
        <p:spPr bwMode="gray">
          <a:xfrm>
            <a:off x="3874467" y="3794224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Line 148"/>
          <p:cNvSpPr>
            <a:spLocks noChangeShapeType="1"/>
          </p:cNvSpPr>
          <p:nvPr/>
        </p:nvSpPr>
        <p:spPr bwMode="gray">
          <a:xfrm>
            <a:off x="5476255" y="3781524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Line 150"/>
          <p:cNvSpPr>
            <a:spLocks noChangeShapeType="1"/>
          </p:cNvSpPr>
          <p:nvPr/>
        </p:nvSpPr>
        <p:spPr bwMode="gray">
          <a:xfrm>
            <a:off x="6790705" y="3813274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Line 151"/>
          <p:cNvSpPr>
            <a:spLocks noChangeShapeType="1"/>
          </p:cNvSpPr>
          <p:nvPr/>
        </p:nvSpPr>
        <p:spPr bwMode="gray">
          <a:xfrm>
            <a:off x="8479805" y="3798986"/>
            <a:ext cx="0" cy="1322388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Line 160"/>
          <p:cNvSpPr>
            <a:spLocks noChangeShapeType="1"/>
          </p:cNvSpPr>
          <p:nvPr/>
        </p:nvSpPr>
        <p:spPr bwMode="gray">
          <a:xfrm>
            <a:off x="3072780" y="4581624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Line 161"/>
          <p:cNvSpPr>
            <a:spLocks noChangeShapeType="1"/>
          </p:cNvSpPr>
          <p:nvPr/>
        </p:nvSpPr>
        <p:spPr bwMode="gray">
          <a:xfrm>
            <a:off x="9308480" y="4572099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Text Box 172"/>
          <p:cNvSpPr txBox="1">
            <a:spLocks noChangeArrowheads="1"/>
          </p:cNvSpPr>
          <p:nvPr/>
        </p:nvSpPr>
        <p:spPr bwMode="gray">
          <a:xfrm>
            <a:off x="3710955" y="2659161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43" name="Arc 173"/>
          <p:cNvSpPr>
            <a:spLocks/>
          </p:cNvSpPr>
          <p:nvPr/>
        </p:nvSpPr>
        <p:spPr bwMode="gray">
          <a:xfrm rot="18721372">
            <a:off x="4029249" y="2752030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Text Box 174"/>
          <p:cNvSpPr txBox="1">
            <a:spLocks noChangeArrowheads="1"/>
          </p:cNvSpPr>
          <p:nvPr/>
        </p:nvSpPr>
        <p:spPr bwMode="gray">
          <a:xfrm>
            <a:off x="6717680" y="2417861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45" name="Text Box 175"/>
          <p:cNvSpPr txBox="1">
            <a:spLocks noChangeArrowheads="1"/>
          </p:cNvSpPr>
          <p:nvPr/>
        </p:nvSpPr>
        <p:spPr bwMode="gray">
          <a:xfrm>
            <a:off x="6708155" y="2633761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46" name="Arc 176"/>
          <p:cNvSpPr>
            <a:spLocks/>
          </p:cNvSpPr>
          <p:nvPr/>
        </p:nvSpPr>
        <p:spPr bwMode="gray">
          <a:xfrm rot="18721372">
            <a:off x="7026449" y="2726630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Arc 178"/>
          <p:cNvSpPr>
            <a:spLocks/>
          </p:cNvSpPr>
          <p:nvPr/>
        </p:nvSpPr>
        <p:spPr bwMode="gray">
          <a:xfrm rot="18709102">
            <a:off x="5558805" y="3021111"/>
            <a:ext cx="1035050" cy="949325"/>
          </a:xfrm>
          <a:custGeom>
            <a:avLst/>
            <a:gdLst>
              <a:gd name="G0" fmla="+- 0 0 0"/>
              <a:gd name="G1" fmla="+- 21252 0 0"/>
              <a:gd name="G2" fmla="+- 21600 0 0"/>
              <a:gd name="T0" fmla="*/ 3863 w 21544"/>
              <a:gd name="T1" fmla="*/ 0 h 21252"/>
              <a:gd name="T2" fmla="*/ 21544 w 21544"/>
              <a:gd name="T3" fmla="*/ 19691 h 21252"/>
              <a:gd name="T4" fmla="*/ 0 w 21544"/>
              <a:gd name="T5" fmla="*/ 21252 h 2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4" h="21252" fill="none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</a:path>
              <a:path w="21544" h="21252" stroke="0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  <a:lnTo>
                  <a:pt x="0" y="21252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Text Box 180"/>
          <p:cNvSpPr txBox="1">
            <a:spLocks noChangeArrowheads="1"/>
          </p:cNvSpPr>
          <p:nvPr/>
        </p:nvSpPr>
        <p:spPr bwMode="gray">
          <a:xfrm>
            <a:off x="4450730" y="3373536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51" name="Text Box 181"/>
          <p:cNvSpPr txBox="1">
            <a:spLocks noChangeArrowheads="1"/>
          </p:cNvSpPr>
          <p:nvPr/>
        </p:nvSpPr>
        <p:spPr bwMode="gray">
          <a:xfrm>
            <a:off x="7452692" y="3376711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52" name="Text Box 36"/>
          <p:cNvSpPr txBox="1">
            <a:spLocks noChangeArrowheads="1"/>
          </p:cNvSpPr>
          <p:nvPr/>
        </p:nvSpPr>
        <p:spPr bwMode="gray">
          <a:xfrm>
            <a:off x="3167881" y="2736314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53" name="Text Box 36"/>
          <p:cNvSpPr txBox="1">
            <a:spLocks noChangeArrowheads="1"/>
          </p:cNvSpPr>
          <p:nvPr/>
        </p:nvSpPr>
        <p:spPr bwMode="gray">
          <a:xfrm>
            <a:off x="7848401" y="2736314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54" name="AutoShape 93"/>
          <p:cNvSpPr>
            <a:spLocks noChangeArrowheads="1"/>
          </p:cNvSpPr>
          <p:nvPr/>
        </p:nvSpPr>
        <p:spPr bwMode="gray">
          <a:xfrm rot="5400000">
            <a:off x="6147767" y="2430561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5" name="AutoShape 90"/>
          <p:cNvSpPr>
            <a:spLocks noChangeArrowheads="1"/>
          </p:cNvSpPr>
          <p:nvPr/>
        </p:nvSpPr>
        <p:spPr bwMode="gray">
          <a:xfrm rot="5400000">
            <a:off x="4454698" y="4490343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6" name="AutoShape 91"/>
          <p:cNvSpPr>
            <a:spLocks noChangeArrowheads="1"/>
          </p:cNvSpPr>
          <p:nvPr/>
        </p:nvSpPr>
        <p:spPr bwMode="gray">
          <a:xfrm rot="5400000">
            <a:off x="4211016" y="4667349"/>
            <a:ext cx="809625" cy="1720850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AutoShape 94"/>
          <p:cNvSpPr>
            <a:spLocks noChangeArrowheads="1"/>
          </p:cNvSpPr>
          <p:nvPr/>
        </p:nvSpPr>
        <p:spPr bwMode="gray">
          <a:xfrm rot="5400000">
            <a:off x="7442373" y="4477643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9" name="AutoShape 95"/>
          <p:cNvSpPr>
            <a:spLocks noChangeArrowheads="1"/>
          </p:cNvSpPr>
          <p:nvPr/>
        </p:nvSpPr>
        <p:spPr bwMode="gray">
          <a:xfrm rot="5400000">
            <a:off x="7192341" y="4632424"/>
            <a:ext cx="809625" cy="1765300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AutoShape 90"/>
          <p:cNvSpPr>
            <a:spLocks noChangeArrowheads="1"/>
          </p:cNvSpPr>
          <p:nvPr/>
        </p:nvSpPr>
        <p:spPr bwMode="gray">
          <a:xfrm rot="5400000">
            <a:off x="5944947" y="5202985"/>
            <a:ext cx="418956" cy="685223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2" name="Picture 16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79425" y="4209494"/>
            <a:ext cx="436636" cy="395012"/>
          </a:xfrm>
          <a:prstGeom prst="rect">
            <a:avLst/>
          </a:prstGeom>
          <a:noFill/>
        </p:spPr>
      </p:pic>
      <p:pic>
        <p:nvPicPr>
          <p:cNvPr id="163" name="Picture 16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545596" y="3437968"/>
            <a:ext cx="436636" cy="395012"/>
          </a:xfrm>
          <a:prstGeom prst="rect">
            <a:avLst/>
          </a:prstGeom>
          <a:noFill/>
        </p:spPr>
      </p:pic>
      <p:pic>
        <p:nvPicPr>
          <p:cNvPr id="164" name="Picture 16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460032" y="3026854"/>
            <a:ext cx="436636" cy="395012"/>
          </a:xfrm>
          <a:prstGeom prst="rect">
            <a:avLst/>
          </a:prstGeom>
          <a:noFill/>
        </p:spPr>
      </p:pic>
      <p:pic>
        <p:nvPicPr>
          <p:cNvPr id="165" name="Picture 16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241113" y="3343650"/>
            <a:ext cx="436636" cy="395012"/>
          </a:xfrm>
          <a:prstGeom prst="rect">
            <a:avLst/>
          </a:prstGeom>
          <a:noFill/>
        </p:spPr>
      </p:pic>
      <p:pic>
        <p:nvPicPr>
          <p:cNvPr id="166" name="Picture 16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478538" y="3371293"/>
            <a:ext cx="436636" cy="395012"/>
          </a:xfrm>
          <a:prstGeom prst="rect">
            <a:avLst/>
          </a:prstGeom>
          <a:noFill/>
        </p:spPr>
      </p:pic>
      <p:pic>
        <p:nvPicPr>
          <p:cNvPr id="167" name="Picture 16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70912" y="3036825"/>
            <a:ext cx="436636" cy="395012"/>
          </a:xfrm>
          <a:prstGeom prst="rect">
            <a:avLst/>
          </a:prstGeom>
          <a:noFill/>
        </p:spPr>
      </p:pic>
      <p:pic>
        <p:nvPicPr>
          <p:cNvPr id="168" name="Picture 16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345623" y="3371293"/>
            <a:ext cx="436636" cy="395012"/>
          </a:xfrm>
          <a:prstGeom prst="rect">
            <a:avLst/>
          </a:prstGeom>
          <a:noFill/>
        </p:spPr>
      </p:pic>
      <p:pic>
        <p:nvPicPr>
          <p:cNvPr id="169" name="Picture 168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87744" y="4275512"/>
            <a:ext cx="436636" cy="395012"/>
          </a:xfrm>
          <a:prstGeom prst="rect">
            <a:avLst/>
          </a:prstGeom>
          <a:noFill/>
        </p:spPr>
      </p:pic>
      <p:sp>
        <p:nvSpPr>
          <p:cNvPr id="83" name="圆角矩形 82"/>
          <p:cNvSpPr/>
          <p:nvPr/>
        </p:nvSpPr>
        <p:spPr bwMode="gray">
          <a:xfrm>
            <a:off x="3440131" y="2466623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圆角矩形 83"/>
          <p:cNvSpPr/>
          <p:nvPr/>
        </p:nvSpPr>
        <p:spPr bwMode="gray">
          <a:xfrm>
            <a:off x="2252060" y="4068066"/>
            <a:ext cx="1178050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圆角矩形 84"/>
          <p:cNvSpPr/>
          <p:nvPr/>
        </p:nvSpPr>
        <p:spPr bwMode="gray">
          <a:xfrm>
            <a:off x="6429795" y="2466623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圆角矩形 85"/>
          <p:cNvSpPr/>
          <p:nvPr/>
        </p:nvSpPr>
        <p:spPr bwMode="gray">
          <a:xfrm>
            <a:off x="9016628" y="4068066"/>
            <a:ext cx="1178050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Text Box 179"/>
          <p:cNvSpPr txBox="1">
            <a:spLocks noChangeArrowheads="1"/>
          </p:cNvSpPr>
          <p:nvPr/>
        </p:nvSpPr>
        <p:spPr bwMode="gray">
          <a:xfrm>
            <a:off x="5724266" y="2916788"/>
            <a:ext cx="851868" cy="2746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</p:spTree>
    <p:extLst>
      <p:ext uri="{BB962C8B-B14F-4D97-AF65-F5344CB8AC3E}">
        <p14:creationId xmlns:p14="http://schemas.microsoft.com/office/powerpoint/2010/main" val="4003796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控制平面：无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6" name="Text Box 161"/>
          <p:cNvSpPr txBox="1">
            <a:spLocks noChangeArrowheads="1"/>
          </p:cNvSpPr>
          <p:nvPr/>
        </p:nvSpPr>
        <p:spPr bwMode="gray">
          <a:xfrm>
            <a:off x="6763629" y="4106089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7" name="Text Box 162"/>
          <p:cNvSpPr txBox="1">
            <a:spLocks noChangeArrowheads="1"/>
          </p:cNvSpPr>
          <p:nvPr/>
        </p:nvSpPr>
        <p:spPr bwMode="gray">
          <a:xfrm>
            <a:off x="6025441" y="2858314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8" name="Text Box 163"/>
          <p:cNvSpPr txBox="1">
            <a:spLocks noChangeArrowheads="1"/>
          </p:cNvSpPr>
          <p:nvPr/>
        </p:nvSpPr>
        <p:spPr bwMode="gray">
          <a:xfrm>
            <a:off x="5149141" y="2858314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9" name="Text Box 164"/>
          <p:cNvSpPr txBox="1">
            <a:spLocks noChangeArrowheads="1"/>
          </p:cNvSpPr>
          <p:nvPr/>
        </p:nvSpPr>
        <p:spPr bwMode="gray">
          <a:xfrm>
            <a:off x="3871204" y="3967964"/>
            <a:ext cx="1262878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sp>
        <p:nvSpPr>
          <p:cNvPr id="10" name="Text Box 165"/>
          <p:cNvSpPr txBox="1">
            <a:spLocks noChangeArrowheads="1"/>
          </p:cNvSpPr>
          <p:nvPr/>
        </p:nvSpPr>
        <p:spPr bwMode="gray">
          <a:xfrm>
            <a:off x="2426579" y="4106089"/>
            <a:ext cx="1335903" cy="27459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sp>
        <p:nvSpPr>
          <p:cNvPr id="11" name="Text Box 166"/>
          <p:cNvSpPr txBox="1">
            <a:spLocks noChangeArrowheads="1"/>
          </p:cNvSpPr>
          <p:nvPr/>
        </p:nvSpPr>
        <p:spPr bwMode="gray">
          <a:xfrm>
            <a:off x="1162929" y="4106089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2" name="Text Box 167"/>
          <p:cNvSpPr txBox="1">
            <a:spLocks noChangeArrowheads="1"/>
          </p:cNvSpPr>
          <p:nvPr/>
        </p:nvSpPr>
        <p:spPr bwMode="gray">
          <a:xfrm>
            <a:off x="2977441" y="2858314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3" name="Text Box 168"/>
          <p:cNvSpPr txBox="1">
            <a:spLocks noChangeArrowheads="1"/>
          </p:cNvSpPr>
          <p:nvPr/>
        </p:nvSpPr>
        <p:spPr bwMode="gray">
          <a:xfrm>
            <a:off x="2177341" y="2858314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6" name="Text Box 171"/>
          <p:cNvSpPr txBox="1">
            <a:spLocks noChangeArrowheads="1"/>
          </p:cNvSpPr>
          <p:nvPr/>
        </p:nvSpPr>
        <p:spPr bwMode="gray">
          <a:xfrm>
            <a:off x="2286380" y="1959789"/>
            <a:ext cx="552813" cy="31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7" name="Text Box 172"/>
          <p:cNvSpPr txBox="1">
            <a:spLocks noChangeArrowheads="1"/>
          </p:cNvSpPr>
          <p:nvPr/>
        </p:nvSpPr>
        <p:spPr bwMode="gray">
          <a:xfrm>
            <a:off x="6179112" y="1959788"/>
            <a:ext cx="5892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8" name="Text Box 173"/>
          <p:cNvSpPr txBox="1">
            <a:spLocks noChangeArrowheads="1"/>
          </p:cNvSpPr>
          <p:nvPr/>
        </p:nvSpPr>
        <p:spPr bwMode="gray">
          <a:xfrm>
            <a:off x="2788696" y="2185214"/>
            <a:ext cx="10963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9" name="Text Box 174"/>
          <p:cNvSpPr txBox="1">
            <a:spLocks noChangeArrowheads="1"/>
          </p:cNvSpPr>
          <p:nvPr/>
        </p:nvSpPr>
        <p:spPr bwMode="gray">
          <a:xfrm>
            <a:off x="4938140" y="2185213"/>
            <a:ext cx="1192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20" name="Text Box 175"/>
          <p:cNvSpPr txBox="1">
            <a:spLocks noChangeArrowheads="1"/>
          </p:cNvSpPr>
          <p:nvPr/>
        </p:nvSpPr>
        <p:spPr bwMode="gray">
          <a:xfrm>
            <a:off x="769229" y="3044052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21" name="Text Box 176"/>
          <p:cNvSpPr txBox="1">
            <a:spLocks noChangeArrowheads="1"/>
          </p:cNvSpPr>
          <p:nvPr/>
        </p:nvSpPr>
        <p:spPr bwMode="gray">
          <a:xfrm>
            <a:off x="7695491" y="3028177"/>
            <a:ext cx="625929" cy="307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2" name="Text Box 177"/>
          <p:cNvSpPr txBox="1">
            <a:spLocks noChangeArrowheads="1"/>
          </p:cNvSpPr>
          <p:nvPr/>
        </p:nvSpPr>
        <p:spPr bwMode="gray">
          <a:xfrm>
            <a:off x="437441" y="2607489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23" name="Text Box 178"/>
          <p:cNvSpPr txBox="1">
            <a:spLocks noChangeArrowheads="1"/>
          </p:cNvSpPr>
          <p:nvPr/>
        </p:nvSpPr>
        <p:spPr bwMode="gray">
          <a:xfrm>
            <a:off x="7716129" y="2607489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24" name="Line 179"/>
          <p:cNvSpPr>
            <a:spLocks noChangeShapeType="1"/>
          </p:cNvSpPr>
          <p:nvPr/>
        </p:nvSpPr>
        <p:spPr bwMode="gray">
          <a:xfrm flipV="1">
            <a:off x="2318629" y="1777227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Line 180"/>
          <p:cNvSpPr>
            <a:spLocks noChangeShapeType="1"/>
          </p:cNvSpPr>
          <p:nvPr/>
        </p:nvSpPr>
        <p:spPr bwMode="gray">
          <a:xfrm>
            <a:off x="3160004" y="1815327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Line 181"/>
          <p:cNvSpPr>
            <a:spLocks noChangeShapeType="1"/>
          </p:cNvSpPr>
          <p:nvPr/>
        </p:nvSpPr>
        <p:spPr bwMode="gray">
          <a:xfrm flipV="1">
            <a:off x="5288841" y="1786752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Line 182"/>
          <p:cNvSpPr>
            <a:spLocks noChangeShapeType="1"/>
          </p:cNvSpPr>
          <p:nvPr/>
        </p:nvSpPr>
        <p:spPr bwMode="gray">
          <a:xfrm>
            <a:off x="6190541" y="1777227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Line 183"/>
          <p:cNvSpPr>
            <a:spLocks noChangeShapeType="1"/>
          </p:cNvSpPr>
          <p:nvPr/>
        </p:nvSpPr>
        <p:spPr bwMode="gray">
          <a:xfrm>
            <a:off x="4037891" y="2085202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Line 206"/>
          <p:cNvSpPr>
            <a:spLocks noChangeShapeType="1"/>
          </p:cNvSpPr>
          <p:nvPr/>
        </p:nvSpPr>
        <p:spPr bwMode="gray">
          <a:xfrm flipV="1">
            <a:off x="1280404" y="2209027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Line 207"/>
          <p:cNvSpPr>
            <a:spLocks noChangeShapeType="1"/>
          </p:cNvSpPr>
          <p:nvPr/>
        </p:nvSpPr>
        <p:spPr bwMode="gray">
          <a:xfrm>
            <a:off x="6977941" y="2209027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Line 263"/>
          <p:cNvSpPr>
            <a:spLocks noChangeShapeType="1"/>
          </p:cNvSpPr>
          <p:nvPr/>
        </p:nvSpPr>
        <p:spPr bwMode="gray">
          <a:xfrm>
            <a:off x="1310566" y="3088502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Line 264"/>
          <p:cNvSpPr>
            <a:spLocks noChangeShapeType="1"/>
          </p:cNvSpPr>
          <p:nvPr/>
        </p:nvSpPr>
        <p:spPr bwMode="gray">
          <a:xfrm>
            <a:off x="2191629" y="2294752"/>
            <a:ext cx="1587" cy="25193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Line 265"/>
          <p:cNvSpPr>
            <a:spLocks noChangeShapeType="1"/>
          </p:cNvSpPr>
          <p:nvPr/>
        </p:nvSpPr>
        <p:spPr bwMode="gray">
          <a:xfrm>
            <a:off x="3860091" y="2291577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Line 266"/>
          <p:cNvSpPr>
            <a:spLocks noChangeShapeType="1"/>
          </p:cNvSpPr>
          <p:nvPr/>
        </p:nvSpPr>
        <p:spPr bwMode="gray">
          <a:xfrm>
            <a:off x="5091991" y="2266177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Line 267"/>
          <p:cNvSpPr>
            <a:spLocks noChangeShapeType="1"/>
          </p:cNvSpPr>
          <p:nvPr/>
        </p:nvSpPr>
        <p:spPr bwMode="gray">
          <a:xfrm>
            <a:off x="6906504" y="2345552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Line 268"/>
          <p:cNvSpPr>
            <a:spLocks noChangeShapeType="1"/>
          </p:cNvSpPr>
          <p:nvPr/>
        </p:nvSpPr>
        <p:spPr bwMode="gray">
          <a:xfrm>
            <a:off x="7752641" y="3140889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Line 269"/>
          <p:cNvSpPr>
            <a:spLocks noChangeShapeType="1"/>
          </p:cNvSpPr>
          <p:nvPr/>
        </p:nvSpPr>
        <p:spPr bwMode="gray">
          <a:xfrm>
            <a:off x="2980616" y="2177277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Line 270"/>
          <p:cNvSpPr>
            <a:spLocks noChangeShapeType="1"/>
          </p:cNvSpPr>
          <p:nvPr/>
        </p:nvSpPr>
        <p:spPr bwMode="gray">
          <a:xfrm>
            <a:off x="5998454" y="2189977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Line 271"/>
          <p:cNvSpPr>
            <a:spLocks noChangeShapeType="1"/>
          </p:cNvSpPr>
          <p:nvPr/>
        </p:nvSpPr>
        <p:spPr bwMode="gray">
          <a:xfrm>
            <a:off x="2182104" y="3310752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Line 272"/>
          <p:cNvSpPr>
            <a:spLocks noChangeShapeType="1"/>
          </p:cNvSpPr>
          <p:nvPr/>
        </p:nvSpPr>
        <p:spPr bwMode="gray">
          <a:xfrm>
            <a:off x="2958391" y="3310752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8" name="Group 273"/>
          <p:cNvGrpSpPr>
            <a:grpSpLocks/>
          </p:cNvGrpSpPr>
          <p:nvPr/>
        </p:nvGrpSpPr>
        <p:grpSpPr bwMode="gray">
          <a:xfrm>
            <a:off x="2155526" y="3466327"/>
            <a:ext cx="898143" cy="539750"/>
            <a:chOff x="1404" y="2507"/>
            <a:chExt cx="498" cy="340"/>
          </a:xfrm>
        </p:grpSpPr>
        <p:sp>
          <p:nvSpPr>
            <p:cNvPr id="119" name="AutoShape 274"/>
            <p:cNvSpPr>
              <a:spLocks noChangeArrowheads="1"/>
            </p:cNvSpPr>
            <p:nvPr/>
          </p:nvSpPr>
          <p:spPr bwMode="gray">
            <a:xfrm rot="10800000">
              <a:off x="1435" y="2507"/>
              <a:ext cx="418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0" name="Text Box 275"/>
            <p:cNvSpPr txBox="1">
              <a:spLocks noChangeArrowheads="1"/>
            </p:cNvSpPr>
            <p:nvPr/>
          </p:nvSpPr>
          <p:spPr bwMode="gray">
            <a:xfrm>
              <a:off x="1404" y="2517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PE1</a:t>
              </a:r>
            </a:p>
          </p:txBody>
        </p:sp>
        <p:sp>
          <p:nvSpPr>
            <p:cNvPr id="121" name="Text Box 276"/>
            <p:cNvSpPr txBox="1">
              <a:spLocks noChangeArrowheads="1"/>
            </p:cNvSpPr>
            <p:nvPr/>
          </p:nvSpPr>
          <p:spPr bwMode="gray">
            <a:xfrm>
              <a:off x="1404" y="2645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T1</a:t>
              </a:r>
            </a:p>
          </p:txBody>
        </p:sp>
      </p:grpSp>
      <p:grpSp>
        <p:nvGrpSpPr>
          <p:cNvPr id="122" name="Group 277"/>
          <p:cNvGrpSpPr>
            <a:grpSpLocks/>
          </p:cNvGrpSpPr>
          <p:nvPr/>
        </p:nvGrpSpPr>
        <p:grpSpPr bwMode="gray">
          <a:xfrm>
            <a:off x="2983618" y="3466327"/>
            <a:ext cx="832624" cy="539750"/>
            <a:chOff x="1935" y="2507"/>
            <a:chExt cx="498" cy="340"/>
          </a:xfrm>
        </p:grpSpPr>
        <p:sp>
          <p:nvSpPr>
            <p:cNvPr id="123" name="AutoShape 278"/>
            <p:cNvSpPr>
              <a:spLocks noChangeArrowheads="1"/>
            </p:cNvSpPr>
            <p:nvPr/>
          </p:nvSpPr>
          <p:spPr bwMode="gray">
            <a:xfrm rot="10800000">
              <a:off x="1966" y="2507"/>
              <a:ext cx="418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Text Box 279"/>
            <p:cNvSpPr txBox="1">
              <a:spLocks noChangeArrowheads="1"/>
            </p:cNvSpPr>
            <p:nvPr/>
          </p:nvSpPr>
          <p:spPr bwMode="gray">
            <a:xfrm>
              <a:off x="1935" y="2517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PE1</a:t>
              </a:r>
            </a:p>
          </p:txBody>
        </p:sp>
        <p:sp>
          <p:nvSpPr>
            <p:cNvPr id="125" name="Text Box 280"/>
            <p:cNvSpPr txBox="1">
              <a:spLocks noChangeArrowheads="1"/>
            </p:cNvSpPr>
            <p:nvPr/>
          </p:nvSpPr>
          <p:spPr bwMode="gray">
            <a:xfrm>
              <a:off x="1935" y="2645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T2</a:t>
              </a:r>
            </a:p>
          </p:txBody>
        </p:sp>
      </p:grpSp>
      <p:sp>
        <p:nvSpPr>
          <p:cNvPr id="126" name="Line 281"/>
          <p:cNvSpPr>
            <a:spLocks noChangeShapeType="1"/>
          </p:cNvSpPr>
          <p:nvPr/>
        </p:nvSpPr>
        <p:spPr bwMode="gray">
          <a:xfrm>
            <a:off x="2190041" y="4382314"/>
            <a:ext cx="1666875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Line 282"/>
          <p:cNvSpPr>
            <a:spLocks noChangeShapeType="1"/>
          </p:cNvSpPr>
          <p:nvPr/>
        </p:nvSpPr>
        <p:spPr bwMode="gray">
          <a:xfrm>
            <a:off x="1301041" y="4383902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28" name="Group 283"/>
          <p:cNvGrpSpPr>
            <a:grpSpLocks/>
          </p:cNvGrpSpPr>
          <p:nvPr/>
        </p:nvGrpSpPr>
        <p:grpSpPr bwMode="gray">
          <a:xfrm>
            <a:off x="2214233" y="4623618"/>
            <a:ext cx="1551732" cy="784226"/>
            <a:chOff x="1428" y="3266"/>
            <a:chExt cx="1021" cy="494"/>
          </a:xfrm>
        </p:grpSpPr>
        <p:sp>
          <p:nvSpPr>
            <p:cNvPr id="129" name="AutoShape 284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0" name="Text Box 285"/>
            <p:cNvSpPr txBox="1">
              <a:spLocks noChangeArrowheads="1"/>
            </p:cNvSpPr>
            <p:nvPr/>
          </p:nvSpPr>
          <p:spPr bwMode="gray">
            <a:xfrm>
              <a:off x="1428" y="3293"/>
              <a:ext cx="977" cy="13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31" name="Rectangle 286"/>
            <p:cNvSpPr>
              <a:spLocks noChangeArrowheads="1"/>
            </p:cNvSpPr>
            <p:nvPr/>
          </p:nvSpPr>
          <p:spPr bwMode="gray">
            <a:xfrm>
              <a:off x="1551" y="3451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PE1</a:t>
              </a:r>
            </a:p>
          </p:txBody>
        </p:sp>
        <p:sp>
          <p:nvSpPr>
            <p:cNvPr id="132" name="Rectangle 287"/>
            <p:cNvSpPr>
              <a:spLocks noChangeArrowheads="1"/>
            </p:cNvSpPr>
            <p:nvPr/>
          </p:nvSpPr>
          <p:spPr bwMode="gray">
            <a:xfrm>
              <a:off x="1542" y="3587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V1</a:t>
              </a:r>
            </a:p>
          </p:txBody>
        </p:sp>
      </p:grpSp>
      <p:grpSp>
        <p:nvGrpSpPr>
          <p:cNvPr id="133" name="Group 288"/>
          <p:cNvGrpSpPr>
            <a:grpSpLocks/>
          </p:cNvGrpSpPr>
          <p:nvPr/>
        </p:nvGrpSpPr>
        <p:grpSpPr bwMode="gray">
          <a:xfrm>
            <a:off x="1193463" y="4507727"/>
            <a:ext cx="1106079" cy="528637"/>
            <a:chOff x="855" y="3163"/>
            <a:chExt cx="607" cy="333"/>
          </a:xfrm>
        </p:grpSpPr>
        <p:sp>
          <p:nvSpPr>
            <p:cNvPr id="134" name="AutoShape 289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5" name="Text Box 290"/>
            <p:cNvSpPr txBox="1">
              <a:spLocks noChangeArrowheads="1"/>
            </p:cNvSpPr>
            <p:nvPr/>
          </p:nvSpPr>
          <p:spPr bwMode="gray">
            <a:xfrm>
              <a:off x="855" y="3174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36" name="Text Box 291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CE1</a:t>
              </a:r>
            </a:p>
          </p:txBody>
        </p:sp>
      </p:grpSp>
      <p:sp>
        <p:nvSpPr>
          <p:cNvPr id="137" name="Line 292"/>
          <p:cNvSpPr>
            <a:spLocks noChangeShapeType="1"/>
          </p:cNvSpPr>
          <p:nvPr/>
        </p:nvSpPr>
        <p:spPr bwMode="gray">
          <a:xfrm>
            <a:off x="3869616" y="4383902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Line 293"/>
          <p:cNvSpPr>
            <a:spLocks noChangeShapeType="1"/>
          </p:cNvSpPr>
          <p:nvPr/>
        </p:nvSpPr>
        <p:spPr bwMode="gray">
          <a:xfrm>
            <a:off x="5096754" y="3310752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Line 294"/>
          <p:cNvSpPr>
            <a:spLocks noChangeShapeType="1"/>
          </p:cNvSpPr>
          <p:nvPr/>
        </p:nvSpPr>
        <p:spPr bwMode="gray">
          <a:xfrm>
            <a:off x="6001629" y="3313927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40" name="Group 295"/>
          <p:cNvGrpSpPr>
            <a:grpSpLocks/>
          </p:cNvGrpSpPr>
          <p:nvPr/>
        </p:nvGrpSpPr>
        <p:grpSpPr bwMode="gray">
          <a:xfrm>
            <a:off x="5100266" y="3398071"/>
            <a:ext cx="979487" cy="628651"/>
            <a:chOff x="1430" y="2464"/>
            <a:chExt cx="498" cy="396"/>
          </a:xfrm>
        </p:grpSpPr>
        <p:sp>
          <p:nvSpPr>
            <p:cNvPr id="141" name="AutoShape 296"/>
            <p:cNvSpPr>
              <a:spLocks noChangeArrowheads="1"/>
            </p:cNvSpPr>
            <p:nvPr/>
          </p:nvSpPr>
          <p:spPr bwMode="gray">
            <a:xfrm rot="10800000">
              <a:off x="1435" y="2507"/>
              <a:ext cx="418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2" name="Text Box 297"/>
            <p:cNvSpPr txBox="1">
              <a:spLocks noChangeArrowheads="1"/>
            </p:cNvSpPr>
            <p:nvPr/>
          </p:nvSpPr>
          <p:spPr bwMode="gray">
            <a:xfrm>
              <a:off x="1430" y="2464"/>
              <a:ext cx="498" cy="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ASBR-PE2</a:t>
              </a:r>
            </a:p>
          </p:txBody>
        </p:sp>
        <p:sp>
          <p:nvSpPr>
            <p:cNvPr id="143" name="Text Box 298"/>
            <p:cNvSpPr txBox="1">
              <a:spLocks noChangeArrowheads="1"/>
            </p:cNvSpPr>
            <p:nvPr/>
          </p:nvSpPr>
          <p:spPr bwMode="gray">
            <a:xfrm>
              <a:off x="1430" y="2687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T3</a:t>
              </a:r>
            </a:p>
          </p:txBody>
        </p:sp>
      </p:grpSp>
      <p:grpSp>
        <p:nvGrpSpPr>
          <p:cNvPr id="144" name="Group 299"/>
          <p:cNvGrpSpPr>
            <a:grpSpLocks/>
          </p:cNvGrpSpPr>
          <p:nvPr/>
        </p:nvGrpSpPr>
        <p:grpSpPr bwMode="gray">
          <a:xfrm>
            <a:off x="6012110" y="3434580"/>
            <a:ext cx="974106" cy="592138"/>
            <a:chOff x="1418" y="2487"/>
            <a:chExt cx="498" cy="373"/>
          </a:xfrm>
        </p:grpSpPr>
        <p:sp>
          <p:nvSpPr>
            <p:cNvPr id="145" name="AutoShape 300"/>
            <p:cNvSpPr>
              <a:spLocks noChangeArrowheads="1"/>
            </p:cNvSpPr>
            <p:nvPr/>
          </p:nvSpPr>
          <p:spPr bwMode="gray">
            <a:xfrm rot="10800000">
              <a:off x="1435" y="2507"/>
              <a:ext cx="418" cy="340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6" name="Text Box 301"/>
            <p:cNvSpPr txBox="1">
              <a:spLocks noChangeArrowheads="1"/>
            </p:cNvSpPr>
            <p:nvPr/>
          </p:nvSpPr>
          <p:spPr bwMode="gray">
            <a:xfrm>
              <a:off x="1418" y="2487"/>
              <a:ext cx="498" cy="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FEC: ASBR-PE2</a:t>
              </a:r>
            </a:p>
          </p:txBody>
        </p:sp>
        <p:sp>
          <p:nvSpPr>
            <p:cNvPr id="147" name="Text Box 302"/>
            <p:cNvSpPr txBox="1">
              <a:spLocks noChangeArrowheads="1"/>
            </p:cNvSpPr>
            <p:nvPr/>
          </p:nvSpPr>
          <p:spPr bwMode="gray">
            <a:xfrm>
              <a:off x="1418" y="2687"/>
              <a:ext cx="4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T4</a:t>
              </a:r>
            </a:p>
          </p:txBody>
        </p:sp>
      </p:grpSp>
      <p:sp>
        <p:nvSpPr>
          <p:cNvPr id="148" name="Line 303"/>
          <p:cNvSpPr>
            <a:spLocks noChangeShapeType="1"/>
          </p:cNvSpPr>
          <p:nvPr/>
        </p:nvSpPr>
        <p:spPr bwMode="gray">
          <a:xfrm>
            <a:off x="5071354" y="4383902"/>
            <a:ext cx="18415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Text Box 304"/>
          <p:cNvSpPr txBox="1">
            <a:spLocks noChangeArrowheads="1"/>
          </p:cNvSpPr>
          <p:nvPr/>
        </p:nvSpPr>
        <p:spPr bwMode="gray">
          <a:xfrm>
            <a:off x="5336466" y="4106089"/>
            <a:ext cx="1339034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grpSp>
        <p:nvGrpSpPr>
          <p:cNvPr id="150" name="Group 305"/>
          <p:cNvGrpSpPr>
            <a:grpSpLocks/>
          </p:cNvGrpSpPr>
          <p:nvPr/>
        </p:nvGrpSpPr>
        <p:grpSpPr bwMode="gray">
          <a:xfrm>
            <a:off x="5285665" y="4623614"/>
            <a:ext cx="1690279" cy="776288"/>
            <a:chOff x="1423" y="3266"/>
            <a:chExt cx="977" cy="489"/>
          </a:xfrm>
        </p:grpSpPr>
        <p:sp>
          <p:nvSpPr>
            <p:cNvPr id="151" name="AutoShape 306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2" name="Text Box 307"/>
            <p:cNvSpPr txBox="1">
              <a:spLocks noChangeArrowheads="1"/>
            </p:cNvSpPr>
            <p:nvPr/>
          </p:nvSpPr>
          <p:spPr bwMode="gray">
            <a:xfrm>
              <a:off x="1423" y="3322"/>
              <a:ext cx="977" cy="12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53" name="Rectangle 308"/>
            <p:cNvSpPr>
              <a:spLocks noChangeArrowheads="1"/>
            </p:cNvSpPr>
            <p:nvPr/>
          </p:nvSpPr>
          <p:spPr bwMode="gray">
            <a:xfrm>
              <a:off x="1423" y="3417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ASBR-PE2</a:t>
              </a:r>
            </a:p>
          </p:txBody>
        </p:sp>
        <p:sp>
          <p:nvSpPr>
            <p:cNvPr id="154" name="Rectangle 309"/>
            <p:cNvSpPr>
              <a:spLocks noChangeArrowheads="1"/>
            </p:cNvSpPr>
            <p:nvPr/>
          </p:nvSpPr>
          <p:spPr bwMode="gray">
            <a:xfrm>
              <a:off x="1423" y="3540"/>
              <a:ext cx="898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V3</a:t>
              </a:r>
            </a:p>
          </p:txBody>
        </p:sp>
      </p:grpSp>
      <p:sp>
        <p:nvSpPr>
          <p:cNvPr id="155" name="Line 310"/>
          <p:cNvSpPr>
            <a:spLocks noChangeShapeType="1"/>
          </p:cNvSpPr>
          <p:nvPr/>
        </p:nvSpPr>
        <p:spPr bwMode="gray">
          <a:xfrm>
            <a:off x="6900154" y="438390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56" name="Group 311"/>
          <p:cNvGrpSpPr>
            <a:grpSpLocks/>
          </p:cNvGrpSpPr>
          <p:nvPr/>
        </p:nvGrpSpPr>
        <p:grpSpPr bwMode="gray">
          <a:xfrm>
            <a:off x="6950319" y="4472801"/>
            <a:ext cx="862649" cy="633412"/>
            <a:chOff x="855" y="3123"/>
            <a:chExt cx="607" cy="399"/>
          </a:xfrm>
        </p:grpSpPr>
        <p:sp>
          <p:nvSpPr>
            <p:cNvPr id="157" name="AutoShape 312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8" name="Text Box 313"/>
            <p:cNvSpPr txBox="1">
              <a:spLocks noChangeArrowheads="1"/>
            </p:cNvSpPr>
            <p:nvPr/>
          </p:nvSpPr>
          <p:spPr bwMode="gray">
            <a:xfrm>
              <a:off x="855" y="3123"/>
              <a:ext cx="607" cy="2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59" name="Text Box 314"/>
            <p:cNvSpPr txBox="1">
              <a:spLocks noChangeArrowheads="1"/>
            </p:cNvSpPr>
            <p:nvPr/>
          </p:nvSpPr>
          <p:spPr bwMode="gray">
            <a:xfrm>
              <a:off x="855" y="3349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PE2</a:t>
              </a:r>
            </a:p>
          </p:txBody>
        </p:sp>
      </p:grpSp>
      <p:sp>
        <p:nvSpPr>
          <p:cNvPr id="160" name="Line 315"/>
          <p:cNvSpPr>
            <a:spLocks noChangeShapeType="1"/>
          </p:cNvSpPr>
          <p:nvPr/>
        </p:nvSpPr>
        <p:spPr bwMode="gray">
          <a:xfrm flipH="1">
            <a:off x="762879" y="2980552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Text Box 316"/>
          <p:cNvSpPr txBox="1">
            <a:spLocks noChangeArrowheads="1"/>
          </p:cNvSpPr>
          <p:nvPr/>
        </p:nvSpPr>
        <p:spPr bwMode="gray">
          <a:xfrm>
            <a:off x="356648" y="3123427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63" name="Text Box 318"/>
          <p:cNvSpPr txBox="1">
            <a:spLocks noChangeArrowheads="1"/>
          </p:cNvSpPr>
          <p:nvPr/>
        </p:nvSpPr>
        <p:spPr bwMode="gray">
          <a:xfrm>
            <a:off x="2051929" y="1169214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64" name="Arc 319"/>
          <p:cNvSpPr>
            <a:spLocks/>
          </p:cNvSpPr>
          <p:nvPr/>
        </p:nvSpPr>
        <p:spPr bwMode="gray">
          <a:xfrm rot="-2878628">
            <a:off x="2370223" y="1262083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6" name="Text Box 321"/>
          <p:cNvSpPr txBox="1">
            <a:spLocks noChangeArrowheads="1"/>
          </p:cNvSpPr>
          <p:nvPr/>
        </p:nvSpPr>
        <p:spPr bwMode="gray">
          <a:xfrm>
            <a:off x="5049129" y="1143814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167" name="Arc 322"/>
          <p:cNvSpPr>
            <a:spLocks/>
          </p:cNvSpPr>
          <p:nvPr/>
        </p:nvSpPr>
        <p:spPr bwMode="gray">
          <a:xfrm rot="-2878628">
            <a:off x="5367423" y="1236683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Arc 334"/>
          <p:cNvSpPr>
            <a:spLocks/>
          </p:cNvSpPr>
          <p:nvPr/>
        </p:nvSpPr>
        <p:spPr bwMode="gray">
          <a:xfrm rot="-24490898">
            <a:off x="3899779" y="1531164"/>
            <a:ext cx="1035050" cy="949325"/>
          </a:xfrm>
          <a:custGeom>
            <a:avLst/>
            <a:gdLst>
              <a:gd name="G0" fmla="+- 0 0 0"/>
              <a:gd name="G1" fmla="+- 21252 0 0"/>
              <a:gd name="G2" fmla="+- 21600 0 0"/>
              <a:gd name="T0" fmla="*/ 3863 w 21544"/>
              <a:gd name="T1" fmla="*/ 0 h 21252"/>
              <a:gd name="T2" fmla="*/ 21544 w 21544"/>
              <a:gd name="T3" fmla="*/ 19691 h 21252"/>
              <a:gd name="T4" fmla="*/ 0 w 21544"/>
              <a:gd name="T5" fmla="*/ 21252 h 2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4" h="21252" fill="none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</a:path>
              <a:path w="21544" h="21252" stroke="0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  <a:lnTo>
                  <a:pt x="0" y="21252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Text Box 335"/>
          <p:cNvSpPr txBox="1">
            <a:spLocks noChangeArrowheads="1"/>
          </p:cNvSpPr>
          <p:nvPr/>
        </p:nvSpPr>
        <p:spPr bwMode="gray">
          <a:xfrm>
            <a:off x="3502904" y="1445439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grpSp>
        <p:nvGrpSpPr>
          <p:cNvPr id="181" name="Group 336"/>
          <p:cNvGrpSpPr>
            <a:grpSpLocks/>
          </p:cNvGrpSpPr>
          <p:nvPr/>
        </p:nvGrpSpPr>
        <p:grpSpPr bwMode="gray">
          <a:xfrm>
            <a:off x="3867213" y="4552182"/>
            <a:ext cx="1367483" cy="827089"/>
            <a:chOff x="1423" y="3239"/>
            <a:chExt cx="1063" cy="521"/>
          </a:xfrm>
        </p:grpSpPr>
        <p:sp>
          <p:nvSpPr>
            <p:cNvPr id="182" name="AutoShape 337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3" name="Text Box 338"/>
            <p:cNvSpPr txBox="1">
              <a:spLocks noChangeArrowheads="1"/>
            </p:cNvSpPr>
            <p:nvPr/>
          </p:nvSpPr>
          <p:spPr bwMode="gray">
            <a:xfrm>
              <a:off x="1423" y="3239"/>
              <a:ext cx="977" cy="246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84" name="Rectangle 339"/>
            <p:cNvSpPr>
              <a:spLocks noChangeArrowheads="1"/>
            </p:cNvSpPr>
            <p:nvPr/>
          </p:nvSpPr>
          <p:spPr bwMode="gray">
            <a:xfrm>
              <a:off x="1423" y="3451"/>
              <a:ext cx="1063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ASBR-PE1</a:t>
              </a:r>
            </a:p>
          </p:txBody>
        </p:sp>
        <p:sp>
          <p:nvSpPr>
            <p:cNvPr id="185" name="Rectangle 340"/>
            <p:cNvSpPr>
              <a:spLocks noChangeArrowheads="1"/>
            </p:cNvSpPr>
            <p:nvPr/>
          </p:nvSpPr>
          <p:spPr bwMode="gray">
            <a:xfrm>
              <a:off x="1428" y="3586"/>
              <a:ext cx="1015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V2</a:t>
              </a:r>
            </a:p>
          </p:txBody>
        </p:sp>
      </p:grpSp>
      <p:sp>
        <p:nvSpPr>
          <p:cNvPr id="186" name="Text Box 341"/>
          <p:cNvSpPr txBox="1">
            <a:spLocks noChangeArrowheads="1"/>
          </p:cNvSpPr>
          <p:nvPr/>
        </p:nvSpPr>
        <p:spPr bwMode="gray">
          <a:xfrm>
            <a:off x="2791704" y="1870889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87" name="Text Box 342"/>
          <p:cNvSpPr txBox="1">
            <a:spLocks noChangeArrowheads="1"/>
          </p:cNvSpPr>
          <p:nvPr/>
        </p:nvSpPr>
        <p:spPr bwMode="gray">
          <a:xfrm>
            <a:off x="5793666" y="1874064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88" name="Text Box 36"/>
          <p:cNvSpPr txBox="1">
            <a:spLocks noChangeArrowheads="1"/>
          </p:cNvSpPr>
          <p:nvPr/>
        </p:nvSpPr>
        <p:spPr bwMode="gray">
          <a:xfrm>
            <a:off x="1580863" y="1319927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89" name="Text Box 36"/>
          <p:cNvSpPr txBox="1">
            <a:spLocks noChangeArrowheads="1"/>
          </p:cNvSpPr>
          <p:nvPr/>
        </p:nvSpPr>
        <p:spPr bwMode="gray">
          <a:xfrm>
            <a:off x="6261383" y="1319927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pic>
        <p:nvPicPr>
          <p:cNvPr id="190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85954" y="2703946"/>
            <a:ext cx="436636" cy="395012"/>
          </a:xfrm>
          <a:prstGeom prst="rect">
            <a:avLst/>
          </a:prstGeom>
          <a:noFill/>
        </p:spPr>
      </p:pic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952546" y="1907677"/>
            <a:ext cx="436636" cy="395012"/>
          </a:xfrm>
          <a:prstGeom prst="rect">
            <a:avLst/>
          </a:prstGeom>
          <a:noFill/>
        </p:spPr>
      </p:pic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91357" y="1523080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28628" y="1867058"/>
            <a:ext cx="436636" cy="395012"/>
          </a:xfrm>
          <a:prstGeom prst="rect">
            <a:avLst/>
          </a:prstGeom>
          <a:noFill/>
        </p:spPr>
      </p:pic>
      <p:pic>
        <p:nvPicPr>
          <p:cNvPr id="194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886456" y="1884521"/>
            <a:ext cx="436636" cy="395012"/>
          </a:xfrm>
          <a:prstGeom prst="rect">
            <a:avLst/>
          </a:prstGeom>
          <a:noFill/>
        </p:spPr>
      </p:pic>
      <p:pic>
        <p:nvPicPr>
          <p:cNvPr id="195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16648" y="1532272"/>
            <a:ext cx="436636" cy="395012"/>
          </a:xfrm>
          <a:prstGeom prst="rect">
            <a:avLst/>
          </a:prstGeom>
          <a:noFill/>
        </p:spPr>
      </p:pic>
      <p:pic>
        <p:nvPicPr>
          <p:cNvPr id="196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14523" y="1904364"/>
            <a:ext cx="436636" cy="395012"/>
          </a:xfrm>
          <a:prstGeom prst="rect">
            <a:avLst/>
          </a:prstGeom>
          <a:noFill/>
        </p:spPr>
      </p:pic>
      <p:pic>
        <p:nvPicPr>
          <p:cNvPr id="197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93568" y="2721927"/>
            <a:ext cx="436636" cy="395012"/>
          </a:xfrm>
          <a:prstGeom prst="rect">
            <a:avLst/>
          </a:prstGeom>
          <a:noFill/>
        </p:spPr>
      </p:pic>
      <p:sp>
        <p:nvSpPr>
          <p:cNvPr id="169" name="圆角矩形 168"/>
          <p:cNvSpPr/>
          <p:nvPr/>
        </p:nvSpPr>
        <p:spPr bwMode="gray">
          <a:xfrm>
            <a:off x="475541" y="2622174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圆角矩形 169"/>
          <p:cNvSpPr/>
          <p:nvPr/>
        </p:nvSpPr>
        <p:spPr bwMode="gray">
          <a:xfrm>
            <a:off x="4823358" y="1181014"/>
            <a:ext cx="2380784" cy="134710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圆角矩形 170"/>
          <p:cNvSpPr/>
          <p:nvPr/>
        </p:nvSpPr>
        <p:spPr bwMode="gray">
          <a:xfrm>
            <a:off x="1757518" y="1181014"/>
            <a:ext cx="2380784" cy="134710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圆角矩形 172"/>
          <p:cNvSpPr/>
          <p:nvPr/>
        </p:nvSpPr>
        <p:spPr bwMode="gray">
          <a:xfrm>
            <a:off x="7252535" y="2622174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，分配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ym typeface="Huawei Sans" panose="020C0503030203020204" pitchFamily="34" charset="0"/>
              </a:rPr>
              <a:t>MP-EBGP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路由通告给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，将下一跳改为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，并重新分配一个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路由通过</a:t>
            </a:r>
            <a:r>
              <a:rPr lang="en-US" altLang="zh-CN" sz="1400" dirty="0"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ym typeface="Huawei Sans" panose="020C0503030203020204" pitchFamily="34" charset="0"/>
              </a:rPr>
              <a:t>通告给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，将下一跳指向自己，并重新分配一个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V3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路由转变为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路由，通告给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75" name="椭圆 174"/>
          <p:cNvSpPr/>
          <p:nvPr/>
        </p:nvSpPr>
        <p:spPr bwMode="gray">
          <a:xfrm>
            <a:off x="1344993" y="385387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6" name="椭圆 175"/>
          <p:cNvSpPr/>
          <p:nvPr/>
        </p:nvSpPr>
        <p:spPr bwMode="gray">
          <a:xfrm>
            <a:off x="2322854" y="412118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椭圆 176"/>
          <p:cNvSpPr/>
          <p:nvPr/>
        </p:nvSpPr>
        <p:spPr bwMode="gray">
          <a:xfrm>
            <a:off x="4353393" y="380510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椭圆 177"/>
          <p:cNvSpPr/>
          <p:nvPr/>
        </p:nvSpPr>
        <p:spPr bwMode="gray">
          <a:xfrm>
            <a:off x="5247377" y="4142072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椭圆 197"/>
          <p:cNvSpPr/>
          <p:nvPr/>
        </p:nvSpPr>
        <p:spPr bwMode="gray">
          <a:xfrm>
            <a:off x="7216639" y="385387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9" name="椭圆 198"/>
          <p:cNvSpPr/>
          <p:nvPr/>
        </p:nvSpPr>
        <p:spPr bwMode="gray">
          <a:xfrm>
            <a:off x="2514618" y="272680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0" name="椭圆 199"/>
          <p:cNvSpPr/>
          <p:nvPr/>
        </p:nvSpPr>
        <p:spPr bwMode="gray">
          <a:xfrm>
            <a:off x="3292254" y="273736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1" name="椭圆 200"/>
          <p:cNvSpPr/>
          <p:nvPr/>
        </p:nvSpPr>
        <p:spPr bwMode="gray">
          <a:xfrm>
            <a:off x="5481784" y="274423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2" name="椭圆 201"/>
          <p:cNvSpPr/>
          <p:nvPr/>
        </p:nvSpPr>
        <p:spPr bwMode="gray">
          <a:xfrm>
            <a:off x="6361476" y="27560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71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Line 179"/>
          <p:cNvSpPr>
            <a:spLocks noChangeShapeType="1"/>
          </p:cNvSpPr>
          <p:nvPr/>
        </p:nvSpPr>
        <p:spPr bwMode="gray">
          <a:xfrm>
            <a:off x="7831969" y="2834169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Line 179"/>
          <p:cNvSpPr>
            <a:spLocks noChangeShapeType="1"/>
          </p:cNvSpPr>
          <p:nvPr/>
        </p:nvSpPr>
        <p:spPr bwMode="gray">
          <a:xfrm>
            <a:off x="3649414" y="2834169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控制平面：带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当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实例数量较多时，可以部署专门的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设备。如图，</a:t>
            </a:r>
            <a:r>
              <a:rPr lang="en-US" altLang="zh-CN" sz="1600" dirty="0">
                <a:sym typeface="Huawei Sans" panose="020C0503030203020204" pitchFamily="34" charset="0"/>
              </a:rPr>
              <a:t>AS</a:t>
            </a:r>
            <a:r>
              <a:rPr lang="zh-CN" altLang="en-US" sz="1600" dirty="0">
                <a:sym typeface="Huawei Sans" panose="020C0503030203020204" pitchFamily="34" charset="0"/>
              </a:rPr>
              <a:t>内的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设备只与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设备建立</a:t>
            </a:r>
            <a:r>
              <a:rPr lang="en-US" altLang="zh-CN" sz="1600" dirty="0">
                <a:sym typeface="Huawei Sans" panose="020C0503030203020204" pitchFamily="34" charset="0"/>
              </a:rPr>
              <a:t>MP-BGP</a:t>
            </a:r>
            <a:r>
              <a:rPr lang="zh-CN" altLang="en-US" sz="1600" dirty="0">
                <a:sym typeface="Huawei Sans" panose="020C0503030203020204" pitchFamily="34" charset="0"/>
              </a:rPr>
              <a:t>邻居关系，由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负责路由的反射传递，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之间无需建立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邻居。</a:t>
            </a:r>
          </a:p>
          <a:p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只负责控制平面的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路由传递，数据转发时，流量不经过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6" name="Text Box 171"/>
          <p:cNvSpPr txBox="1">
            <a:spLocks noChangeArrowheads="1"/>
          </p:cNvSpPr>
          <p:nvPr/>
        </p:nvSpPr>
        <p:spPr bwMode="gray">
          <a:xfrm>
            <a:off x="3882278" y="3524290"/>
            <a:ext cx="552813" cy="31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7" name="Text Box 172"/>
          <p:cNvSpPr txBox="1">
            <a:spLocks noChangeArrowheads="1"/>
          </p:cNvSpPr>
          <p:nvPr/>
        </p:nvSpPr>
        <p:spPr bwMode="gray">
          <a:xfrm>
            <a:off x="7775010" y="3524289"/>
            <a:ext cx="5892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8" name="Text Box 173"/>
          <p:cNvSpPr txBox="1">
            <a:spLocks noChangeArrowheads="1"/>
          </p:cNvSpPr>
          <p:nvPr/>
        </p:nvSpPr>
        <p:spPr bwMode="gray">
          <a:xfrm>
            <a:off x="4668308" y="3790506"/>
            <a:ext cx="10963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9" name="Text Box 174"/>
          <p:cNvSpPr txBox="1">
            <a:spLocks noChangeArrowheads="1"/>
          </p:cNvSpPr>
          <p:nvPr/>
        </p:nvSpPr>
        <p:spPr bwMode="gray">
          <a:xfrm>
            <a:off x="6412323" y="3810004"/>
            <a:ext cx="1192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20" name="Text Box 175"/>
          <p:cNvSpPr txBox="1">
            <a:spLocks noChangeArrowheads="1"/>
          </p:cNvSpPr>
          <p:nvPr/>
        </p:nvSpPr>
        <p:spPr bwMode="gray">
          <a:xfrm>
            <a:off x="2365127" y="4827628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21" name="Text Box 176"/>
          <p:cNvSpPr txBox="1">
            <a:spLocks noChangeArrowheads="1"/>
          </p:cNvSpPr>
          <p:nvPr/>
        </p:nvSpPr>
        <p:spPr bwMode="gray">
          <a:xfrm>
            <a:off x="9291389" y="4811753"/>
            <a:ext cx="625929" cy="307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2" name="Text Box 177"/>
          <p:cNvSpPr txBox="1">
            <a:spLocks noChangeArrowheads="1"/>
          </p:cNvSpPr>
          <p:nvPr/>
        </p:nvSpPr>
        <p:spPr bwMode="gray">
          <a:xfrm>
            <a:off x="2033339" y="4391065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23" name="Text Box 178"/>
          <p:cNvSpPr txBox="1">
            <a:spLocks noChangeArrowheads="1"/>
          </p:cNvSpPr>
          <p:nvPr/>
        </p:nvSpPr>
        <p:spPr bwMode="gray">
          <a:xfrm>
            <a:off x="9312027" y="4391065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24" name="Line 179"/>
          <p:cNvSpPr>
            <a:spLocks noChangeShapeType="1"/>
          </p:cNvSpPr>
          <p:nvPr/>
        </p:nvSpPr>
        <p:spPr bwMode="gray">
          <a:xfrm flipV="1">
            <a:off x="3914527" y="2859299"/>
            <a:ext cx="477894" cy="68880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Line 180"/>
          <p:cNvSpPr>
            <a:spLocks noChangeShapeType="1"/>
          </p:cNvSpPr>
          <p:nvPr/>
        </p:nvSpPr>
        <p:spPr bwMode="gray">
          <a:xfrm>
            <a:off x="4817185" y="2859300"/>
            <a:ext cx="446717" cy="7142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Line 181"/>
          <p:cNvSpPr>
            <a:spLocks noChangeShapeType="1"/>
          </p:cNvSpPr>
          <p:nvPr/>
        </p:nvSpPr>
        <p:spPr bwMode="gray">
          <a:xfrm flipV="1">
            <a:off x="6884739" y="2859300"/>
            <a:ext cx="527807" cy="6983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Line 182"/>
          <p:cNvSpPr>
            <a:spLocks noChangeShapeType="1"/>
          </p:cNvSpPr>
          <p:nvPr/>
        </p:nvSpPr>
        <p:spPr bwMode="gray">
          <a:xfrm>
            <a:off x="7849181" y="2859300"/>
            <a:ext cx="445257" cy="6872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Line 183"/>
          <p:cNvSpPr>
            <a:spLocks noChangeShapeType="1"/>
          </p:cNvSpPr>
          <p:nvPr/>
        </p:nvSpPr>
        <p:spPr bwMode="gray">
          <a:xfrm>
            <a:off x="5633789" y="3649703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Line 206"/>
          <p:cNvSpPr>
            <a:spLocks noChangeShapeType="1"/>
          </p:cNvSpPr>
          <p:nvPr/>
        </p:nvSpPr>
        <p:spPr bwMode="gray">
          <a:xfrm flipV="1">
            <a:off x="2876302" y="3773528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Line 207"/>
          <p:cNvSpPr>
            <a:spLocks noChangeShapeType="1"/>
          </p:cNvSpPr>
          <p:nvPr/>
        </p:nvSpPr>
        <p:spPr bwMode="gray">
          <a:xfrm>
            <a:off x="8573839" y="3773528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Line 315"/>
          <p:cNvSpPr>
            <a:spLocks noChangeShapeType="1"/>
          </p:cNvSpPr>
          <p:nvPr/>
        </p:nvSpPr>
        <p:spPr bwMode="gray">
          <a:xfrm flipH="1">
            <a:off x="2358777" y="4764128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1" name="Text Box 316"/>
          <p:cNvSpPr txBox="1">
            <a:spLocks noChangeArrowheads="1"/>
          </p:cNvSpPr>
          <p:nvPr/>
        </p:nvSpPr>
        <p:spPr bwMode="gray">
          <a:xfrm>
            <a:off x="1952546" y="4907003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pic>
        <p:nvPicPr>
          <p:cNvPr id="190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81852" y="4487522"/>
            <a:ext cx="436636" cy="395012"/>
          </a:xfrm>
          <a:prstGeom prst="rect">
            <a:avLst/>
          </a:prstGeom>
          <a:noFill/>
        </p:spPr>
      </p:pic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548444" y="3472178"/>
            <a:ext cx="436636" cy="395012"/>
          </a:xfrm>
          <a:prstGeom prst="rect">
            <a:avLst/>
          </a:prstGeom>
          <a:noFill/>
        </p:spPr>
      </p:pic>
      <p:sp>
        <p:nvSpPr>
          <p:cNvPr id="186" name="Text Box 341"/>
          <p:cNvSpPr txBox="1">
            <a:spLocks noChangeArrowheads="1"/>
          </p:cNvSpPr>
          <p:nvPr/>
        </p:nvSpPr>
        <p:spPr bwMode="gray">
          <a:xfrm>
            <a:off x="4392421" y="299089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387255" y="2639906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224526" y="3431559"/>
            <a:ext cx="436636" cy="395012"/>
          </a:xfrm>
          <a:prstGeom prst="rect">
            <a:avLst/>
          </a:prstGeom>
          <a:noFill/>
        </p:spPr>
      </p:pic>
      <p:pic>
        <p:nvPicPr>
          <p:cNvPr id="194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482354" y="3449022"/>
            <a:ext cx="436636" cy="395012"/>
          </a:xfrm>
          <a:prstGeom prst="rect">
            <a:avLst/>
          </a:prstGeom>
          <a:noFill/>
        </p:spPr>
      </p:pic>
      <p:sp>
        <p:nvSpPr>
          <p:cNvPr id="187" name="Text Box 342"/>
          <p:cNvSpPr txBox="1">
            <a:spLocks noChangeArrowheads="1"/>
          </p:cNvSpPr>
          <p:nvPr/>
        </p:nvSpPr>
        <p:spPr bwMode="gray">
          <a:xfrm>
            <a:off x="7389564" y="299089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pic>
        <p:nvPicPr>
          <p:cNvPr id="195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12546" y="2649098"/>
            <a:ext cx="436636" cy="395012"/>
          </a:xfrm>
          <a:prstGeom prst="rect">
            <a:avLst/>
          </a:prstGeom>
          <a:noFill/>
        </p:spPr>
      </p:pic>
      <p:pic>
        <p:nvPicPr>
          <p:cNvPr id="196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310421" y="3468865"/>
            <a:ext cx="436636" cy="395012"/>
          </a:xfrm>
          <a:prstGeom prst="rect">
            <a:avLst/>
          </a:prstGeom>
          <a:noFill/>
        </p:spPr>
      </p:pic>
      <p:pic>
        <p:nvPicPr>
          <p:cNvPr id="197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89466" y="4505503"/>
            <a:ext cx="436636" cy="395012"/>
          </a:xfrm>
          <a:prstGeom prst="rect">
            <a:avLst/>
          </a:prstGeom>
          <a:noFill/>
        </p:spPr>
      </p:pic>
      <p:sp>
        <p:nvSpPr>
          <p:cNvPr id="169" name="圆角矩形 168"/>
          <p:cNvSpPr/>
          <p:nvPr/>
        </p:nvSpPr>
        <p:spPr bwMode="gray">
          <a:xfrm>
            <a:off x="2071439" y="4405750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圆角矩形 170"/>
          <p:cNvSpPr/>
          <p:nvPr/>
        </p:nvSpPr>
        <p:spPr bwMode="gray">
          <a:xfrm>
            <a:off x="3118488" y="2413000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圆角矩形 172"/>
          <p:cNvSpPr/>
          <p:nvPr/>
        </p:nvSpPr>
        <p:spPr bwMode="gray">
          <a:xfrm>
            <a:off x="8848433" y="4405750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222488" y="2639906"/>
            <a:ext cx="436636" cy="395012"/>
          </a:xfrm>
          <a:prstGeom prst="rect">
            <a:avLst/>
          </a:prstGeom>
          <a:noFill/>
        </p:spPr>
      </p:pic>
      <p:sp>
        <p:nvSpPr>
          <p:cNvPr id="168" name="圆角矩形 167"/>
          <p:cNvSpPr/>
          <p:nvPr/>
        </p:nvSpPr>
        <p:spPr bwMode="gray">
          <a:xfrm>
            <a:off x="6323008" y="2413000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03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579041" y="2639906"/>
            <a:ext cx="436636" cy="395012"/>
          </a:xfrm>
          <a:prstGeom prst="rect">
            <a:avLst/>
          </a:prstGeom>
          <a:noFill/>
        </p:spPr>
      </p:pic>
      <p:sp>
        <p:nvSpPr>
          <p:cNvPr id="205" name="Text Box 341"/>
          <p:cNvSpPr txBox="1">
            <a:spLocks noChangeArrowheads="1"/>
          </p:cNvSpPr>
          <p:nvPr/>
        </p:nvSpPr>
        <p:spPr bwMode="gray">
          <a:xfrm>
            <a:off x="3135387" y="3000774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</p:txBody>
      </p:sp>
      <p:sp>
        <p:nvSpPr>
          <p:cNvPr id="206" name="Text Box 341"/>
          <p:cNvSpPr txBox="1">
            <a:spLocks noChangeArrowheads="1"/>
          </p:cNvSpPr>
          <p:nvPr/>
        </p:nvSpPr>
        <p:spPr bwMode="gray">
          <a:xfrm>
            <a:off x="8485387" y="3000774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" name="直接箭头连接符 14"/>
          <p:cNvCxnSpPr>
            <a:endCxn id="191" idx="0"/>
          </p:cNvCxnSpPr>
          <p:nvPr/>
        </p:nvCxnSpPr>
        <p:spPr bwMode="gray">
          <a:xfrm>
            <a:off x="3619647" y="3051480"/>
            <a:ext cx="147115" cy="42069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 bwMode="gray">
          <a:xfrm>
            <a:off x="3712228" y="2990890"/>
            <a:ext cx="1404979" cy="598032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/>
          <p:cNvCxnSpPr/>
          <p:nvPr/>
        </p:nvCxnSpPr>
        <p:spPr bwMode="gray">
          <a:xfrm flipH="1">
            <a:off x="8424509" y="3019241"/>
            <a:ext cx="154532" cy="42231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>
            <a:stCxn id="194" idx="3"/>
          </p:cNvCxnSpPr>
          <p:nvPr/>
        </p:nvCxnSpPr>
        <p:spPr bwMode="gray">
          <a:xfrm flipV="1">
            <a:off x="6918990" y="2975953"/>
            <a:ext cx="1609749" cy="670575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/>
          <p:nvPr/>
        </p:nvCxnSpPr>
        <p:spPr bwMode="gray">
          <a:xfrm flipV="1">
            <a:off x="5675230" y="3813459"/>
            <a:ext cx="734725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/>
          <p:cNvCxnSpPr/>
          <p:nvPr/>
        </p:nvCxnSpPr>
        <p:spPr bwMode="gray">
          <a:xfrm flipV="1">
            <a:off x="5548210" y="5355608"/>
            <a:ext cx="720000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/>
        </p:nvCxnSpPr>
        <p:spPr bwMode="gray">
          <a:xfrm>
            <a:off x="5548210" y="5577731"/>
            <a:ext cx="720000" cy="0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 Box 176"/>
          <p:cNvSpPr txBox="1">
            <a:spLocks noChangeArrowheads="1"/>
          </p:cNvSpPr>
          <p:nvPr/>
        </p:nvSpPr>
        <p:spPr bwMode="gray">
          <a:xfrm>
            <a:off x="6268210" y="5201870"/>
            <a:ext cx="11227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4" name="Text Box 176"/>
          <p:cNvSpPr txBox="1">
            <a:spLocks noChangeArrowheads="1"/>
          </p:cNvSpPr>
          <p:nvPr/>
        </p:nvSpPr>
        <p:spPr bwMode="gray">
          <a:xfrm>
            <a:off x="6268210" y="5423842"/>
            <a:ext cx="11227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6" name="AutoShape 274"/>
          <p:cNvSpPr>
            <a:spLocks noChangeArrowheads="1"/>
          </p:cNvSpPr>
          <p:nvPr/>
        </p:nvSpPr>
        <p:spPr bwMode="gray">
          <a:xfrm rot="10800000">
            <a:off x="1653845" y="2834169"/>
            <a:ext cx="1076290" cy="681534"/>
          </a:xfrm>
          <a:prstGeom prst="wedgeRoundRectCallout">
            <a:avLst>
              <a:gd name="adj1" fmla="val -91803"/>
              <a:gd name="adj2" fmla="val 47161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rot="10800000"/>
          <a:lstStyle/>
          <a:p>
            <a:pPr algn="ctr"/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8" name="Text Box 276"/>
          <p:cNvSpPr txBox="1">
            <a:spLocks noChangeArrowheads="1"/>
          </p:cNvSpPr>
          <p:nvPr/>
        </p:nvSpPr>
        <p:spPr bwMode="gray">
          <a:xfrm>
            <a:off x="1732972" y="2851770"/>
            <a:ext cx="898143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只反射路由，不转发数据。</a:t>
            </a:r>
            <a:endParaRPr lang="en-US" altLang="zh-CN" sz="12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318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dirty="0">
                <a:sym typeface="Huawei Sans" panose="020C0503030203020204" pitchFamily="34" charset="0"/>
              </a:rPr>
              <a:t>VPN-</a:t>
            </a:r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方式：转发平面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5" name="AutoShape 158"/>
          <p:cNvSpPr>
            <a:spLocks noChangeArrowheads="1"/>
          </p:cNvSpPr>
          <p:nvPr/>
        </p:nvSpPr>
        <p:spPr bwMode="gray">
          <a:xfrm rot="5400000">
            <a:off x="4486215" y="2336316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gray">
          <a:xfrm>
            <a:off x="1454090" y="3714266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gray">
          <a:xfrm>
            <a:off x="2220853" y="371426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gray">
          <a:xfrm>
            <a:off x="3098740" y="371426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gray">
          <a:xfrm>
            <a:off x="5237103" y="371426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gray">
          <a:xfrm>
            <a:off x="6124515" y="371426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gray">
          <a:xfrm>
            <a:off x="2309752" y="2066441"/>
            <a:ext cx="51466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gray">
          <a:xfrm>
            <a:off x="6226414" y="2066441"/>
            <a:ext cx="53945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gray">
          <a:xfrm>
            <a:off x="2898715" y="2315915"/>
            <a:ext cx="10350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</a:p>
        </p:txBody>
      </p:sp>
      <p:sp>
        <p:nvSpPr>
          <p:cNvPr id="18" name="Text Box 15"/>
          <p:cNvSpPr txBox="1">
            <a:spLocks noChangeArrowheads="1"/>
          </p:cNvSpPr>
          <p:nvPr/>
        </p:nvSpPr>
        <p:spPr bwMode="gray">
          <a:xfrm>
            <a:off x="5075178" y="2315915"/>
            <a:ext cx="10525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gray">
          <a:xfrm>
            <a:off x="832108" y="3150704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gray">
          <a:xfrm>
            <a:off x="7487383" y="3147663"/>
            <a:ext cx="52546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1" name="Text Box 18"/>
          <p:cNvSpPr txBox="1">
            <a:spLocks noChangeArrowheads="1"/>
          </p:cNvSpPr>
          <p:nvPr/>
        </p:nvSpPr>
        <p:spPr bwMode="gray">
          <a:xfrm>
            <a:off x="434915" y="2714141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22" name="Text Box 19"/>
          <p:cNvSpPr txBox="1">
            <a:spLocks noChangeArrowheads="1"/>
          </p:cNvSpPr>
          <p:nvPr/>
        </p:nvSpPr>
        <p:spPr bwMode="gray">
          <a:xfrm>
            <a:off x="7704214" y="2714141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gray">
          <a:xfrm flipV="1">
            <a:off x="2316103" y="1883879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gray">
          <a:xfrm>
            <a:off x="3157478" y="1921979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gray">
          <a:xfrm flipV="1">
            <a:off x="5286315" y="1893404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gray">
          <a:xfrm>
            <a:off x="6188015" y="1883879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gray">
          <a:xfrm>
            <a:off x="4035365" y="2191854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Line 47"/>
          <p:cNvSpPr>
            <a:spLocks noChangeShapeType="1"/>
          </p:cNvSpPr>
          <p:nvPr/>
        </p:nvSpPr>
        <p:spPr bwMode="gray">
          <a:xfrm flipV="1">
            <a:off x="1277878" y="2315679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Line 48"/>
          <p:cNvSpPr>
            <a:spLocks noChangeShapeType="1"/>
          </p:cNvSpPr>
          <p:nvPr/>
        </p:nvSpPr>
        <p:spPr bwMode="gray">
          <a:xfrm>
            <a:off x="6975415" y="2315679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Line 104"/>
          <p:cNvSpPr>
            <a:spLocks noChangeShapeType="1"/>
          </p:cNvSpPr>
          <p:nvPr/>
        </p:nvSpPr>
        <p:spPr bwMode="gray">
          <a:xfrm>
            <a:off x="1308040" y="3195154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Line 105"/>
          <p:cNvSpPr>
            <a:spLocks noChangeShapeType="1"/>
          </p:cNvSpPr>
          <p:nvPr/>
        </p:nvSpPr>
        <p:spPr bwMode="gray">
          <a:xfrm>
            <a:off x="2189103" y="2401404"/>
            <a:ext cx="1587" cy="25193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Line 106"/>
          <p:cNvSpPr>
            <a:spLocks noChangeShapeType="1"/>
          </p:cNvSpPr>
          <p:nvPr/>
        </p:nvSpPr>
        <p:spPr bwMode="gray">
          <a:xfrm>
            <a:off x="3857565" y="2398229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Line 107"/>
          <p:cNvSpPr>
            <a:spLocks noChangeShapeType="1"/>
          </p:cNvSpPr>
          <p:nvPr/>
        </p:nvSpPr>
        <p:spPr bwMode="gray">
          <a:xfrm>
            <a:off x="5089465" y="2372829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Line 108"/>
          <p:cNvSpPr>
            <a:spLocks noChangeShapeType="1"/>
          </p:cNvSpPr>
          <p:nvPr/>
        </p:nvSpPr>
        <p:spPr bwMode="gray">
          <a:xfrm>
            <a:off x="6903978" y="2452204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Line 109"/>
          <p:cNvSpPr>
            <a:spLocks noChangeShapeType="1"/>
          </p:cNvSpPr>
          <p:nvPr/>
        </p:nvSpPr>
        <p:spPr bwMode="gray">
          <a:xfrm>
            <a:off x="7750115" y="3247541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Line 110"/>
          <p:cNvSpPr>
            <a:spLocks noChangeShapeType="1"/>
          </p:cNvSpPr>
          <p:nvPr/>
        </p:nvSpPr>
        <p:spPr bwMode="gray">
          <a:xfrm>
            <a:off x="2179578" y="4001604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Line 111"/>
          <p:cNvSpPr>
            <a:spLocks noChangeShapeType="1"/>
          </p:cNvSpPr>
          <p:nvPr/>
        </p:nvSpPr>
        <p:spPr bwMode="gray">
          <a:xfrm>
            <a:off x="2955865" y="4001604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Line 112"/>
          <p:cNvSpPr>
            <a:spLocks noChangeShapeType="1"/>
          </p:cNvSpPr>
          <p:nvPr/>
        </p:nvSpPr>
        <p:spPr bwMode="gray">
          <a:xfrm>
            <a:off x="1298515" y="3995254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Line 113"/>
          <p:cNvSpPr>
            <a:spLocks noChangeShapeType="1"/>
          </p:cNvSpPr>
          <p:nvPr/>
        </p:nvSpPr>
        <p:spPr bwMode="gray">
          <a:xfrm>
            <a:off x="3867090" y="3995254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Line 114"/>
          <p:cNvSpPr>
            <a:spLocks noChangeShapeType="1"/>
          </p:cNvSpPr>
          <p:nvPr/>
        </p:nvSpPr>
        <p:spPr bwMode="gray">
          <a:xfrm>
            <a:off x="5094228" y="4001604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Line 115"/>
          <p:cNvSpPr>
            <a:spLocks noChangeShapeType="1"/>
          </p:cNvSpPr>
          <p:nvPr/>
        </p:nvSpPr>
        <p:spPr bwMode="gray">
          <a:xfrm>
            <a:off x="5999103" y="3992079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Line 116"/>
          <p:cNvSpPr>
            <a:spLocks noChangeShapeType="1"/>
          </p:cNvSpPr>
          <p:nvPr/>
        </p:nvSpPr>
        <p:spPr bwMode="gray">
          <a:xfrm>
            <a:off x="6897628" y="3995254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Line 117"/>
          <p:cNvSpPr>
            <a:spLocks noChangeShapeType="1"/>
          </p:cNvSpPr>
          <p:nvPr/>
        </p:nvSpPr>
        <p:spPr bwMode="gray">
          <a:xfrm>
            <a:off x="2968565" y="2296629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Line 118"/>
          <p:cNvSpPr>
            <a:spLocks noChangeShapeType="1"/>
          </p:cNvSpPr>
          <p:nvPr/>
        </p:nvSpPr>
        <p:spPr bwMode="gray">
          <a:xfrm>
            <a:off x="6003865" y="2263291"/>
            <a:ext cx="0" cy="2693988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Rectangle 119"/>
          <p:cNvSpPr>
            <a:spLocks noChangeArrowheads="1"/>
          </p:cNvSpPr>
          <p:nvPr/>
        </p:nvSpPr>
        <p:spPr bwMode="gray">
          <a:xfrm>
            <a:off x="6972240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53" name="Line 120"/>
          <p:cNvSpPr>
            <a:spLocks noChangeShapeType="1"/>
          </p:cNvSpPr>
          <p:nvPr/>
        </p:nvSpPr>
        <p:spPr bwMode="gray">
          <a:xfrm flipH="1">
            <a:off x="760353" y="3087204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Text Box 121"/>
          <p:cNvSpPr txBox="1">
            <a:spLocks noChangeArrowheads="1"/>
          </p:cNvSpPr>
          <p:nvPr/>
        </p:nvSpPr>
        <p:spPr bwMode="gray">
          <a:xfrm>
            <a:off x="365065" y="3230079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56" name="Text Box 133"/>
          <p:cNvSpPr txBox="1">
            <a:spLocks noChangeArrowheads="1"/>
          </p:cNvSpPr>
          <p:nvPr/>
        </p:nvSpPr>
        <p:spPr bwMode="gray">
          <a:xfrm>
            <a:off x="2058928" y="105996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57" name="Text Box 134"/>
          <p:cNvSpPr txBox="1">
            <a:spLocks noChangeArrowheads="1"/>
          </p:cNvSpPr>
          <p:nvPr/>
        </p:nvSpPr>
        <p:spPr bwMode="gray">
          <a:xfrm>
            <a:off x="2049403" y="127586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58" name="Arc 135"/>
          <p:cNvSpPr>
            <a:spLocks/>
          </p:cNvSpPr>
          <p:nvPr/>
        </p:nvSpPr>
        <p:spPr bwMode="gray">
          <a:xfrm rot="18721372">
            <a:off x="2367697" y="1368735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Text Box 136"/>
          <p:cNvSpPr txBox="1">
            <a:spLocks noChangeArrowheads="1"/>
          </p:cNvSpPr>
          <p:nvPr/>
        </p:nvSpPr>
        <p:spPr bwMode="gray">
          <a:xfrm>
            <a:off x="5056128" y="1034566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60" name="Text Box 137"/>
          <p:cNvSpPr txBox="1">
            <a:spLocks noChangeArrowheads="1"/>
          </p:cNvSpPr>
          <p:nvPr/>
        </p:nvSpPr>
        <p:spPr bwMode="gray">
          <a:xfrm>
            <a:off x="5046603" y="1250466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MP-IBGP</a:t>
            </a:r>
          </a:p>
        </p:txBody>
      </p:sp>
      <p:sp>
        <p:nvSpPr>
          <p:cNvPr id="61" name="Arc 138"/>
          <p:cNvSpPr>
            <a:spLocks/>
          </p:cNvSpPr>
          <p:nvPr/>
        </p:nvSpPr>
        <p:spPr bwMode="gray">
          <a:xfrm rot="18721372">
            <a:off x="5364897" y="1343335"/>
            <a:ext cx="1277937" cy="1311275"/>
          </a:xfrm>
          <a:custGeom>
            <a:avLst/>
            <a:gdLst>
              <a:gd name="G0" fmla="+- 4979 0 0"/>
              <a:gd name="G1" fmla="+- 21600 0 0"/>
              <a:gd name="G2" fmla="+- 21600 0 0"/>
              <a:gd name="T0" fmla="*/ 0 w 26579"/>
              <a:gd name="T1" fmla="*/ 582 h 29359"/>
              <a:gd name="T2" fmla="*/ 25137 w 26579"/>
              <a:gd name="T3" fmla="*/ 29359 h 29359"/>
              <a:gd name="T4" fmla="*/ 4979 w 26579"/>
              <a:gd name="T5" fmla="*/ 21600 h 29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579" h="29359" fill="none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</a:path>
              <a:path w="26579" h="29359" stroke="0" extrusionOk="0">
                <a:moveTo>
                  <a:pt x="-1" y="581"/>
                </a:moveTo>
                <a:cubicBezTo>
                  <a:pt x="1631" y="195"/>
                  <a:pt x="3302" y="-1"/>
                  <a:pt x="4979" y="0"/>
                </a:cubicBezTo>
                <a:cubicBezTo>
                  <a:pt x="16908" y="0"/>
                  <a:pt x="26579" y="9670"/>
                  <a:pt x="26579" y="21600"/>
                </a:cubicBezTo>
                <a:cubicBezTo>
                  <a:pt x="26579" y="24252"/>
                  <a:pt x="26090" y="26883"/>
                  <a:pt x="25137" y="29359"/>
                </a:cubicBezTo>
                <a:lnTo>
                  <a:pt x="4979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" name="Rectangle 139"/>
          <p:cNvSpPr>
            <a:spLocks noChangeArrowheads="1"/>
          </p:cNvSpPr>
          <p:nvPr/>
        </p:nvSpPr>
        <p:spPr bwMode="gray">
          <a:xfrm>
            <a:off x="6086415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3" name="Rectangle 140"/>
          <p:cNvSpPr>
            <a:spLocks noChangeArrowheads="1"/>
          </p:cNvSpPr>
          <p:nvPr/>
        </p:nvSpPr>
        <p:spPr bwMode="gray">
          <a:xfrm>
            <a:off x="6086415" y="4371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V3</a:t>
            </a:r>
          </a:p>
        </p:txBody>
      </p:sp>
      <p:sp>
        <p:nvSpPr>
          <p:cNvPr id="64" name="Rectangle 141"/>
          <p:cNvSpPr>
            <a:spLocks noChangeArrowheads="1"/>
          </p:cNvSpPr>
          <p:nvPr/>
        </p:nvSpPr>
        <p:spPr bwMode="gray">
          <a:xfrm>
            <a:off x="6086415" y="4614967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T4</a:t>
            </a:r>
          </a:p>
        </p:txBody>
      </p:sp>
      <p:sp>
        <p:nvSpPr>
          <p:cNvPr id="65" name="Rectangle 142"/>
          <p:cNvSpPr>
            <a:spLocks noChangeArrowheads="1"/>
          </p:cNvSpPr>
          <p:nvPr/>
        </p:nvSpPr>
        <p:spPr bwMode="gray">
          <a:xfrm>
            <a:off x="5187890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6" name="Rectangle 143"/>
          <p:cNvSpPr>
            <a:spLocks noChangeArrowheads="1"/>
          </p:cNvSpPr>
          <p:nvPr/>
        </p:nvSpPr>
        <p:spPr bwMode="gray">
          <a:xfrm>
            <a:off x="5187890" y="4371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V3</a:t>
            </a:r>
          </a:p>
        </p:txBody>
      </p:sp>
      <p:sp>
        <p:nvSpPr>
          <p:cNvPr id="67" name="Rectangle 144"/>
          <p:cNvSpPr>
            <a:spLocks noChangeArrowheads="1"/>
          </p:cNvSpPr>
          <p:nvPr/>
        </p:nvSpPr>
        <p:spPr bwMode="gray">
          <a:xfrm>
            <a:off x="5187890" y="4614967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T3</a:t>
            </a:r>
          </a:p>
        </p:txBody>
      </p:sp>
      <p:sp>
        <p:nvSpPr>
          <p:cNvPr id="68" name="Text Box 145"/>
          <p:cNvSpPr txBox="1">
            <a:spLocks noChangeArrowheads="1"/>
          </p:cNvSpPr>
          <p:nvPr/>
        </p:nvSpPr>
        <p:spPr bwMode="gray">
          <a:xfrm>
            <a:off x="4143315" y="3714266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69" name="Rectangle 146"/>
          <p:cNvSpPr>
            <a:spLocks noChangeArrowheads="1"/>
          </p:cNvSpPr>
          <p:nvPr/>
        </p:nvSpPr>
        <p:spPr bwMode="gray">
          <a:xfrm>
            <a:off x="4082990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0" name="Rectangle 147"/>
          <p:cNvSpPr>
            <a:spLocks noChangeArrowheads="1"/>
          </p:cNvSpPr>
          <p:nvPr/>
        </p:nvSpPr>
        <p:spPr bwMode="gray">
          <a:xfrm>
            <a:off x="3044765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1" name="Rectangle 148"/>
          <p:cNvSpPr>
            <a:spLocks noChangeArrowheads="1"/>
          </p:cNvSpPr>
          <p:nvPr/>
        </p:nvSpPr>
        <p:spPr bwMode="gray">
          <a:xfrm>
            <a:off x="3044765" y="4371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72" name="Rectangle 149"/>
          <p:cNvSpPr>
            <a:spLocks noChangeArrowheads="1"/>
          </p:cNvSpPr>
          <p:nvPr/>
        </p:nvSpPr>
        <p:spPr bwMode="gray">
          <a:xfrm>
            <a:off x="3044765" y="4614967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73" name="Rectangle 150"/>
          <p:cNvSpPr>
            <a:spLocks noChangeArrowheads="1"/>
          </p:cNvSpPr>
          <p:nvPr/>
        </p:nvSpPr>
        <p:spPr bwMode="gray">
          <a:xfrm>
            <a:off x="2244665" y="4117491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4" name="Rectangle 151"/>
          <p:cNvSpPr>
            <a:spLocks noChangeArrowheads="1"/>
          </p:cNvSpPr>
          <p:nvPr/>
        </p:nvSpPr>
        <p:spPr bwMode="gray">
          <a:xfrm>
            <a:off x="2244665" y="4371491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75" name="Rectangle 152"/>
          <p:cNvSpPr>
            <a:spLocks noChangeArrowheads="1"/>
          </p:cNvSpPr>
          <p:nvPr/>
        </p:nvSpPr>
        <p:spPr bwMode="gray">
          <a:xfrm>
            <a:off x="2244665" y="4614967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76" name="Rectangle 153"/>
          <p:cNvSpPr>
            <a:spLocks noChangeArrowheads="1"/>
          </p:cNvSpPr>
          <p:nvPr/>
        </p:nvSpPr>
        <p:spPr bwMode="gray">
          <a:xfrm>
            <a:off x="1366778" y="4117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7" name="Rectangle 154"/>
          <p:cNvSpPr>
            <a:spLocks noChangeArrowheads="1"/>
          </p:cNvSpPr>
          <p:nvPr/>
        </p:nvSpPr>
        <p:spPr bwMode="gray">
          <a:xfrm>
            <a:off x="4082990" y="4371491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V2</a:t>
            </a:r>
          </a:p>
        </p:txBody>
      </p:sp>
      <p:sp>
        <p:nvSpPr>
          <p:cNvPr id="78" name="Arc 182"/>
          <p:cNvSpPr>
            <a:spLocks/>
          </p:cNvSpPr>
          <p:nvPr/>
        </p:nvSpPr>
        <p:spPr bwMode="gray">
          <a:xfrm rot="18709102">
            <a:off x="3897253" y="1637816"/>
            <a:ext cx="1035050" cy="949325"/>
          </a:xfrm>
          <a:custGeom>
            <a:avLst/>
            <a:gdLst>
              <a:gd name="G0" fmla="+- 0 0 0"/>
              <a:gd name="G1" fmla="+- 21252 0 0"/>
              <a:gd name="G2" fmla="+- 21600 0 0"/>
              <a:gd name="T0" fmla="*/ 3863 w 21544"/>
              <a:gd name="T1" fmla="*/ 0 h 21252"/>
              <a:gd name="T2" fmla="*/ 21544 w 21544"/>
              <a:gd name="T3" fmla="*/ 19691 h 21252"/>
              <a:gd name="T4" fmla="*/ 0 w 21544"/>
              <a:gd name="T5" fmla="*/ 21252 h 21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44" h="21252" fill="none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</a:path>
              <a:path w="21544" h="21252" stroke="0" extrusionOk="0">
                <a:moveTo>
                  <a:pt x="3862" y="0"/>
                </a:moveTo>
                <a:cubicBezTo>
                  <a:pt x="13558" y="1762"/>
                  <a:pt x="20831" y="9862"/>
                  <a:pt x="21543" y="19691"/>
                </a:cubicBezTo>
                <a:lnTo>
                  <a:pt x="0" y="21252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9" name="Text Box 183"/>
          <p:cNvSpPr txBox="1">
            <a:spLocks noChangeArrowheads="1"/>
          </p:cNvSpPr>
          <p:nvPr/>
        </p:nvSpPr>
        <p:spPr bwMode="gray">
          <a:xfrm>
            <a:off x="3462278" y="1552091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80" name="Text Box 184"/>
          <p:cNvSpPr txBox="1">
            <a:spLocks noChangeArrowheads="1"/>
          </p:cNvSpPr>
          <p:nvPr/>
        </p:nvSpPr>
        <p:spPr bwMode="gray">
          <a:xfrm>
            <a:off x="6997640" y="3714266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81" name="Text Box 185"/>
          <p:cNvSpPr txBox="1">
            <a:spLocks noChangeArrowheads="1"/>
          </p:cNvSpPr>
          <p:nvPr/>
        </p:nvSpPr>
        <p:spPr bwMode="gray">
          <a:xfrm>
            <a:off x="2789178" y="1977541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82" name="Text Box 186"/>
          <p:cNvSpPr txBox="1">
            <a:spLocks noChangeArrowheads="1"/>
          </p:cNvSpPr>
          <p:nvPr/>
        </p:nvSpPr>
        <p:spPr bwMode="gray">
          <a:xfrm>
            <a:off x="5791140" y="1980716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83" name="Text Box 36"/>
          <p:cNvSpPr txBox="1">
            <a:spLocks noChangeArrowheads="1"/>
          </p:cNvSpPr>
          <p:nvPr/>
        </p:nvSpPr>
        <p:spPr bwMode="gray">
          <a:xfrm>
            <a:off x="1506329" y="133169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84" name="Text Box 36"/>
          <p:cNvSpPr txBox="1">
            <a:spLocks noChangeArrowheads="1"/>
          </p:cNvSpPr>
          <p:nvPr/>
        </p:nvSpPr>
        <p:spPr bwMode="gray">
          <a:xfrm>
            <a:off x="6186849" y="133169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85" name="AutoShape 155"/>
          <p:cNvSpPr>
            <a:spLocks noChangeArrowheads="1"/>
          </p:cNvSpPr>
          <p:nvPr/>
        </p:nvSpPr>
        <p:spPr bwMode="gray">
          <a:xfrm rot="5400000">
            <a:off x="2793146" y="4396098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AutoShape 156"/>
          <p:cNvSpPr>
            <a:spLocks noChangeArrowheads="1"/>
          </p:cNvSpPr>
          <p:nvPr/>
        </p:nvSpPr>
        <p:spPr bwMode="gray">
          <a:xfrm rot="5400000">
            <a:off x="2535970" y="4586598"/>
            <a:ext cx="809625" cy="1693862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AutoShape 159"/>
          <p:cNvSpPr>
            <a:spLocks noChangeArrowheads="1"/>
          </p:cNvSpPr>
          <p:nvPr/>
        </p:nvSpPr>
        <p:spPr bwMode="gray">
          <a:xfrm rot="5400000">
            <a:off x="5780821" y="4383398"/>
            <a:ext cx="390525" cy="2109788"/>
          </a:xfrm>
          <a:prstGeom prst="can">
            <a:avLst>
              <a:gd name="adj" fmla="val 27212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AutoShape 160"/>
          <p:cNvSpPr>
            <a:spLocks noChangeArrowheads="1"/>
          </p:cNvSpPr>
          <p:nvPr/>
        </p:nvSpPr>
        <p:spPr bwMode="gray">
          <a:xfrm rot="5400000">
            <a:off x="5570477" y="4498491"/>
            <a:ext cx="809625" cy="1844675"/>
          </a:xfrm>
          <a:prstGeom prst="can">
            <a:avLst>
              <a:gd name="adj" fmla="val 27157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AutoShape 181"/>
          <p:cNvSpPr>
            <a:spLocks noChangeArrowheads="1"/>
          </p:cNvSpPr>
          <p:nvPr/>
        </p:nvSpPr>
        <p:spPr bwMode="gray">
          <a:xfrm rot="5400000">
            <a:off x="4264759" y="5045385"/>
            <a:ext cx="390525" cy="788987"/>
          </a:xfrm>
          <a:prstGeom prst="can">
            <a:avLst>
              <a:gd name="adj" fmla="val 28453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96154" y="2821435"/>
            <a:ext cx="436636" cy="395012"/>
          </a:xfrm>
          <a:prstGeom prst="rect">
            <a:avLst/>
          </a:prstGeom>
          <a:noFill/>
        </p:spPr>
      </p:pic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914703" y="2059065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94011" y="1648273"/>
            <a:ext cx="436636" cy="395012"/>
          </a:xfrm>
          <a:prstGeom prst="rect">
            <a:avLst/>
          </a:prstGeom>
          <a:noFill/>
        </p:spPr>
      </p:pic>
      <p:pic>
        <p:nvPicPr>
          <p:cNvPr id="194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48772" y="2001130"/>
            <a:ext cx="436636" cy="395012"/>
          </a:xfrm>
          <a:prstGeom prst="rect">
            <a:avLst/>
          </a:prstGeom>
          <a:noFill/>
        </p:spPr>
      </p:pic>
      <p:pic>
        <p:nvPicPr>
          <p:cNvPr id="195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887022" y="2011271"/>
            <a:ext cx="436636" cy="395012"/>
          </a:xfrm>
          <a:prstGeom prst="rect">
            <a:avLst/>
          </a:prstGeom>
          <a:noFill/>
        </p:spPr>
      </p:pic>
      <p:pic>
        <p:nvPicPr>
          <p:cNvPr id="196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28941" y="1650136"/>
            <a:ext cx="436636" cy="395012"/>
          </a:xfrm>
          <a:prstGeom prst="rect">
            <a:avLst/>
          </a:prstGeom>
          <a:noFill/>
        </p:spPr>
      </p:pic>
      <p:pic>
        <p:nvPicPr>
          <p:cNvPr id="197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688835" y="2000698"/>
            <a:ext cx="436636" cy="395012"/>
          </a:xfrm>
          <a:prstGeom prst="rect">
            <a:avLst/>
          </a:prstGeom>
          <a:noFill/>
        </p:spPr>
      </p:pic>
      <p:pic>
        <p:nvPicPr>
          <p:cNvPr id="198" name="Picture 19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61949" y="2839555"/>
            <a:ext cx="436636" cy="395012"/>
          </a:xfrm>
          <a:prstGeom prst="rect">
            <a:avLst/>
          </a:prstGeom>
          <a:noFill/>
        </p:spPr>
      </p:pic>
      <p:sp>
        <p:nvSpPr>
          <p:cNvPr id="111" name="圆角矩形 110"/>
          <p:cNvSpPr/>
          <p:nvPr/>
        </p:nvSpPr>
        <p:spPr bwMode="gray">
          <a:xfrm>
            <a:off x="471265" y="2730412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圆角矩形 111"/>
          <p:cNvSpPr/>
          <p:nvPr/>
        </p:nvSpPr>
        <p:spPr bwMode="gray">
          <a:xfrm>
            <a:off x="1691385" y="1041640"/>
            <a:ext cx="2434663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圆角矩形 112"/>
          <p:cNvSpPr/>
          <p:nvPr/>
        </p:nvSpPr>
        <p:spPr bwMode="gray">
          <a:xfrm>
            <a:off x="7268576" y="2730412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圆角矩形 113"/>
          <p:cNvSpPr/>
          <p:nvPr/>
        </p:nvSpPr>
        <p:spPr bwMode="gray">
          <a:xfrm>
            <a:off x="4808758" y="1041640"/>
            <a:ext cx="2434663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椭圆 114"/>
          <p:cNvSpPr/>
          <p:nvPr/>
        </p:nvSpPr>
        <p:spPr bwMode="gray">
          <a:xfrm>
            <a:off x="7234725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椭圆 115"/>
          <p:cNvSpPr/>
          <p:nvPr/>
        </p:nvSpPr>
        <p:spPr bwMode="gray">
          <a:xfrm>
            <a:off x="6384598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椭圆 116"/>
          <p:cNvSpPr/>
          <p:nvPr/>
        </p:nvSpPr>
        <p:spPr bwMode="gray">
          <a:xfrm>
            <a:off x="5493949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椭圆 117"/>
          <p:cNvSpPr/>
          <p:nvPr/>
        </p:nvSpPr>
        <p:spPr bwMode="gray">
          <a:xfrm>
            <a:off x="4394271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椭圆 118"/>
          <p:cNvSpPr/>
          <p:nvPr/>
        </p:nvSpPr>
        <p:spPr bwMode="gray">
          <a:xfrm>
            <a:off x="3311063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椭圆 119"/>
          <p:cNvSpPr/>
          <p:nvPr/>
        </p:nvSpPr>
        <p:spPr bwMode="gray">
          <a:xfrm>
            <a:off x="2470844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椭圆 120"/>
          <p:cNvSpPr/>
          <p:nvPr/>
        </p:nvSpPr>
        <p:spPr bwMode="gray">
          <a:xfrm>
            <a:off x="1705463" y="3525126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发送一个目的地为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报文后，先封装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V3</a:t>
            </a:r>
            <a:r>
              <a:rPr lang="zh-CN" altLang="en-US" sz="1400" dirty="0">
                <a:sym typeface="Huawei Sans" panose="020C0503030203020204" pitchFamily="34" charset="0"/>
              </a:rPr>
              <a:t>，再封装外层标签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去掉外层标签，将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V3</a:t>
            </a:r>
            <a:r>
              <a:rPr lang="zh-CN" altLang="en-US" sz="1400" dirty="0">
                <a:sym typeface="Huawei Sans" panose="020C0503030203020204" pitchFamily="34" charset="0"/>
              </a:rPr>
              <a:t>交换为</a:t>
            </a:r>
            <a:r>
              <a:rPr lang="en-US" altLang="zh-CN" sz="1400" dirty="0">
                <a:sym typeface="Huawei Sans" panose="020C0503030203020204" pitchFamily="34" charset="0"/>
              </a:rPr>
              <a:t>V2</a:t>
            </a:r>
            <a:r>
              <a:rPr lang="zh-CN" altLang="en-US" sz="1400" dirty="0">
                <a:sym typeface="Huawei Sans" panose="020C0503030203020204" pitchFamily="34" charset="0"/>
              </a:rPr>
              <a:t>，再将其转发给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（此时报文仅带有一层私网标签）。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交换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V2</a:t>
            </a:r>
            <a:r>
              <a:rPr lang="zh-CN" altLang="en-US" sz="1400" dirty="0">
                <a:sym typeface="Huawei Sans" panose="020C0503030203020204" pitchFamily="34" charset="0"/>
              </a:rPr>
              <a:t>成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，再加一个外层标签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，并将报文转发给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进行标签交换，把外层标签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收到后去掉所有标签，将报文（普通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报文）转发给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7038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ym typeface="Huawei Sans" panose="020C0503030203020204" pitchFamily="34" charset="0"/>
              </a:rPr>
              <a:t>的特点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 err="1">
                <a:sym typeface="Huawei Sans" panose="020C0503030203020204" pitchFamily="34" charset="0"/>
              </a:rPr>
              <a:t>OptionB</a:t>
            </a:r>
            <a:r>
              <a:rPr lang="zh-CN" altLang="en-US" sz="1800" dirty="0">
                <a:sym typeface="Huawei Sans" panose="020C0503030203020204" pitchFamily="34" charset="0"/>
              </a:rPr>
              <a:t>的优点是所有的流量都经过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转发，使流量具有良好的可控性，但由于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需要保存大量</a:t>
            </a:r>
            <a:r>
              <a:rPr lang="en-US" altLang="zh-CN" sz="1800" dirty="0">
                <a:sym typeface="Huawei Sans" panose="020C0503030203020204" pitchFamily="34" charset="0"/>
              </a:rPr>
              <a:t>VPNv4</a:t>
            </a:r>
            <a:r>
              <a:rPr lang="zh-CN" altLang="en-US" sz="1800" dirty="0">
                <a:sym typeface="Huawei Sans" panose="020C0503030203020204" pitchFamily="34" charset="0"/>
              </a:rPr>
              <a:t>路由，因此负担较重。可以同时使用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路由策略（如对</a:t>
            </a:r>
            <a:r>
              <a:rPr lang="en-US" altLang="zh-CN" sz="1800" dirty="0">
                <a:sym typeface="Huawei Sans" panose="020C0503030203020204" pitchFamily="34" charset="0"/>
              </a:rPr>
              <a:t>RT</a:t>
            </a:r>
            <a:r>
              <a:rPr lang="zh-CN" altLang="en-US" sz="1800" dirty="0">
                <a:sym typeface="Huawei Sans" panose="020C0503030203020204" pitchFamily="34" charset="0"/>
              </a:rPr>
              <a:t>的过滤），使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上只保存部分</a:t>
            </a:r>
            <a:r>
              <a:rPr lang="en-US" altLang="zh-CN" sz="1800" dirty="0">
                <a:sym typeface="Huawei Sans" panose="020C0503030203020204" pitchFamily="34" charset="0"/>
              </a:rPr>
              <a:t>VPNv4</a:t>
            </a:r>
            <a:r>
              <a:rPr lang="zh-CN" altLang="en-US" sz="1800" dirty="0">
                <a:sym typeface="Huawei Sans" panose="020C0503030203020204" pitchFamily="34" charset="0"/>
              </a:rPr>
              <a:t>路由。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局限性：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的路由信息是通过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之间的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来保存和扩散的，当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路由较多时，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负担重，容易成为瓶颈点。因此在</a:t>
            </a:r>
            <a:r>
              <a:rPr lang="en-US" altLang="zh-CN" sz="1800" dirty="0">
                <a:sym typeface="Huawei Sans" panose="020C0503030203020204" pitchFamily="34" charset="0"/>
              </a:rPr>
              <a:t>MP-EBGP</a:t>
            </a:r>
            <a:r>
              <a:rPr lang="zh-CN" altLang="en-US" sz="1800" dirty="0">
                <a:sym typeface="Huawei Sans" panose="020C0503030203020204" pitchFamily="34" charset="0"/>
              </a:rPr>
              <a:t>方案中，需要维护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路由信息的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一般不再负责公网</a:t>
            </a:r>
            <a:r>
              <a:rPr lang="en-US" altLang="zh-CN" sz="1800" dirty="0"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sym typeface="Huawei Sans" panose="020C0503030203020204" pitchFamily="34" charset="0"/>
              </a:rPr>
              <a:t>转发。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当需要支持大量</a:t>
            </a:r>
            <a:r>
              <a:rPr lang="en-US" altLang="zh-CN" sz="1800" dirty="0">
                <a:sym typeface="Huawei Sans" panose="020C0503030203020204" pitchFamily="34" charset="0"/>
              </a:rPr>
              <a:t>VRF</a:t>
            </a:r>
            <a:r>
              <a:rPr lang="zh-CN" altLang="en-US" sz="1800" dirty="0">
                <a:sym typeface="Huawei Sans" panose="020C0503030203020204" pitchFamily="34" charset="0"/>
              </a:rPr>
              <a:t>互通的时候，此解决方案优于</a:t>
            </a:r>
            <a:r>
              <a:rPr lang="en-US" altLang="zh-CN" sz="1800" dirty="0" err="1">
                <a:sym typeface="Huawei Sans" panose="020C0503030203020204" pitchFamily="34" charset="0"/>
              </a:rPr>
              <a:t>OptionA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447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OptionB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基本配置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26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65" name="文本占位符 64"/>
          <p:cNvSpPr>
            <a:spLocks noGrp="1"/>
          </p:cNvSpPr>
          <p:nvPr>
            <p:ph type="body" sz="quarter" idx="10"/>
          </p:nvPr>
        </p:nvSpPr>
        <p:spPr bwMode="gray">
          <a:xfrm>
            <a:off x="455613" y="3716338"/>
            <a:ext cx="5644670" cy="2211217"/>
          </a:xfrm>
        </p:spPr>
        <p:txBody>
          <a:bodyPr/>
          <a:lstStyle/>
          <a:p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属于同一个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实例的名字为</a:t>
            </a:r>
            <a:r>
              <a:rPr lang="en-US" altLang="zh-CN" sz="1400" dirty="0" err="1"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sym typeface="Huawei Sans" panose="020C0503030203020204" pitchFamily="34" charset="0"/>
              </a:rPr>
              <a:t>。通过</a:t>
            </a:r>
            <a:r>
              <a:rPr lang="en-US" altLang="zh-CN" sz="1400" dirty="0" err="1">
                <a:sym typeface="Huawei Sans" panose="020C0503030203020204" pitchFamily="34" charset="0"/>
              </a:rPr>
              <a:t>OptionB</a:t>
            </a:r>
            <a:r>
              <a:rPr lang="zh-CN" altLang="en-US" sz="1400" dirty="0">
                <a:sym typeface="Huawei Sans" panose="020C0503030203020204" pitchFamily="34" charset="0"/>
              </a:rPr>
              <a:t>的方式实现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互通。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660408"/>
              </p:ext>
            </p:extLst>
          </p:nvPr>
        </p:nvGraphicFramePr>
        <p:xfrm>
          <a:off x="667872" y="4455356"/>
          <a:ext cx="3424022" cy="1538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4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10.0.3.3/32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10.0.4.4/32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10.0.6.6/32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200:6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" name="文本框 68"/>
          <p:cNvSpPr txBox="1"/>
          <p:nvPr/>
        </p:nvSpPr>
        <p:spPr bwMode="gray">
          <a:xfrm>
            <a:off x="4453046" y="4785324"/>
            <a:ext cx="106587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数据规划</a:t>
            </a:r>
            <a:endParaRPr lang="en-US" altLang="zh-CN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41" name="直接连接符 40"/>
            <p:cNvCxnSpPr>
              <a:stCxn id="11" idx="1"/>
              <a:endCxn id="7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7" idx="1"/>
              <a:endCxn id="8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0"/>
              <a:endCxn id="8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45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5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5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圆角矩形 5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圆角矩形 5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圆角矩形 5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圆角矩形 5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67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70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71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72" name="文本占位符 64"/>
          <p:cNvSpPr txBox="1">
            <a:spLocks/>
          </p:cNvSpPr>
          <p:nvPr/>
        </p:nvSpPr>
        <p:spPr bwMode="gray">
          <a:xfrm>
            <a:off x="6101028" y="1450812"/>
            <a:ext cx="5648059" cy="230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内的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骨干网上分别配置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基本能力和</a:t>
            </a:r>
            <a:r>
              <a:rPr lang="en-US" altLang="zh-CN" sz="1200" dirty="0">
                <a:sym typeface="Huawei Sans" panose="020C0503030203020204" pitchFamily="34" charset="0"/>
              </a:rPr>
              <a:t>MPLS LDP</a:t>
            </a:r>
            <a:r>
              <a:rPr lang="zh-CN" altLang="en-US" sz="1200" dirty="0">
                <a:sym typeface="Huawei Sans" panose="020C0503030203020204" pitchFamily="34" charset="0"/>
              </a:rPr>
              <a:t>，建立</a:t>
            </a:r>
            <a:r>
              <a:rPr lang="en-US" altLang="zh-CN" sz="1200" dirty="0">
                <a:sym typeface="Huawei Sans" panose="020C0503030203020204" pitchFamily="34" charset="0"/>
              </a:rPr>
              <a:t>LDP LSP</a:t>
            </a:r>
            <a:r>
              <a:rPr lang="zh-CN" altLang="en-US" sz="1200" dirty="0">
                <a:sym typeface="Huawei Sans" panose="020C0503030203020204" pitchFamily="34" charset="0"/>
              </a:rPr>
              <a:t>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MP-IBGP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相连的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上需配置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实例，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</a:t>
            </a:r>
            <a:r>
              <a:rPr lang="en-US" altLang="zh-CN" sz="1200" dirty="0"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ym typeface="Huawei Sans" panose="020C0503030203020204" pitchFamily="34" charset="0"/>
              </a:rPr>
              <a:t>上与另一</a:t>
            </a:r>
            <a:r>
              <a:rPr lang="en-US" altLang="zh-CN" sz="1200" dirty="0"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ym typeface="Huawei Sans" panose="020C0503030203020204" pitchFamily="34" charset="0"/>
              </a:rPr>
              <a:t>相连接口上分别使能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，且</a:t>
            </a:r>
            <a:r>
              <a:rPr lang="en-US" altLang="zh-CN" sz="1200" dirty="0"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MP-EBGP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对等体关系，并且不对接收的</a:t>
            </a:r>
            <a:r>
              <a:rPr lang="en-US" altLang="zh-CN" sz="1200" dirty="0">
                <a:sym typeface="Huawei Sans" panose="020C0503030203020204" pitchFamily="34" charset="0"/>
              </a:rPr>
              <a:t>VPNv4</a:t>
            </a:r>
            <a:r>
              <a:rPr lang="zh-CN" altLang="en-US" sz="1200" dirty="0">
                <a:sym typeface="Huawei Sans" panose="020C0503030203020204" pitchFamily="34" charset="0"/>
              </a:rPr>
              <a:t>路由进行</a:t>
            </a:r>
            <a:r>
              <a:rPr lang="en-US" altLang="zh-CN" sz="1200" dirty="0">
                <a:sym typeface="Huawei Sans" panose="020C0503030203020204" pitchFamily="34" charset="0"/>
              </a:rPr>
              <a:t>VPN-target</a:t>
            </a:r>
            <a:r>
              <a:rPr lang="zh-CN" altLang="en-US" sz="1200" dirty="0">
                <a:sym typeface="Huawei Sans" panose="020C0503030203020204" pitchFamily="34" charset="0"/>
              </a:rPr>
              <a:t>过滤。 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4143752" y="5422401"/>
            <a:ext cx="2085232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RT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值要匹配</a:t>
            </a:r>
          </a:p>
        </p:txBody>
      </p:sp>
    </p:spTree>
    <p:extLst>
      <p:ext uri="{BB962C8B-B14F-4D97-AF65-F5344CB8AC3E}">
        <p14:creationId xmlns:p14="http://schemas.microsoft.com/office/powerpoint/2010/main" val="3683174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73" name="组合 72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41" name="直接连接符 40"/>
            <p:cNvCxnSpPr>
              <a:stCxn id="11" idx="1"/>
              <a:endCxn id="7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7" idx="1"/>
              <a:endCxn id="8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6" idx="0"/>
              <a:endCxn id="8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45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5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5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5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6" name="圆角矩形 5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7" name="圆角矩形 5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圆角矩形 5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圆角矩形 5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67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70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71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72" name="文本占位符 64"/>
          <p:cNvSpPr txBox="1">
            <a:spLocks/>
          </p:cNvSpPr>
          <p:nvPr/>
        </p:nvSpPr>
        <p:spPr bwMode="gray">
          <a:xfrm>
            <a:off x="6073270" y="935330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为例，与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MP-EBGP</a:t>
            </a:r>
            <a:r>
              <a:rPr lang="zh-CN" altLang="en-US" sz="1400" dirty="0">
                <a:sym typeface="Huawei Sans" panose="020C0503030203020204" pitchFamily="34" charset="0"/>
              </a:rPr>
              <a:t>对等体关系，并且不对接收的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路由进行</a:t>
            </a:r>
            <a:r>
              <a:rPr lang="en-US" altLang="zh-CN" sz="1400" dirty="0">
                <a:sym typeface="Huawei Sans" panose="020C0503030203020204" pitchFamily="34" charset="0"/>
              </a:rPr>
              <a:t>VPN-target</a:t>
            </a:r>
            <a:r>
              <a:rPr lang="zh-CN" altLang="en-US" sz="1400" dirty="0">
                <a:sym typeface="Huawei Sans" panose="020C0503030203020204" pitchFamily="34" charset="0"/>
              </a:rPr>
              <a:t>过滤，并且使能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按下一跳分标签。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6295385" y="1616173"/>
            <a:ext cx="5367721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peer 10.0.34.4 as-number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ipv4-family vpnv4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peer 10.0.34.4 enable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undo policy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apply-label per-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582402" y="4168566"/>
            <a:ext cx="5367721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peer 10.0.1.1 as-number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peer 10.0.1.1 connect-interface loopback 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ipv4-family vpnv4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peer 10.0.1.1 enable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[ASBR-PE1-bgp-af-vpnv4]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文本占位符 64"/>
          <p:cNvSpPr txBox="1">
            <a:spLocks/>
          </p:cNvSpPr>
          <p:nvPr/>
        </p:nvSpPr>
        <p:spPr bwMode="gray">
          <a:xfrm>
            <a:off x="455613" y="3748048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为例，配置与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ym typeface="Huawei Sans" panose="020C0503030203020204" pitchFamily="34" charset="0"/>
              </a:rPr>
              <a:t>对等体关系。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 bwMode="gray">
          <a:xfrm>
            <a:off x="6317657" y="4430299"/>
            <a:ext cx="53677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interface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gigabitethernet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2/0/0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[ASBR-PE1-GigabitEthernet2/0/0]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[ASBR-PE1-GigabitEthernet2/0/0]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文本占位符 64"/>
          <p:cNvSpPr txBox="1">
            <a:spLocks/>
          </p:cNvSpPr>
          <p:nvPr/>
        </p:nvSpPr>
        <p:spPr bwMode="gray">
          <a:xfrm>
            <a:off x="6101647" y="4009781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之间的接口使能</a:t>
            </a:r>
            <a:r>
              <a:rPr lang="en-US" altLang="zh-CN" sz="1400" dirty="0"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79" name="文本框 78"/>
          <p:cNvSpPr txBox="1"/>
          <p:nvPr/>
        </p:nvSpPr>
        <p:spPr bwMode="gray">
          <a:xfrm>
            <a:off x="6295384" y="3240462"/>
            <a:ext cx="5188055" cy="73866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缺省情况下，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在向其他的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对等体发布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路由时，同时为每一条路由分配一个标签。配置该命令后，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为具有相同路由下一跳和出标签的路由分配一个标签。</a:t>
            </a:r>
          </a:p>
        </p:txBody>
      </p:sp>
      <p:sp>
        <p:nvSpPr>
          <p:cNvPr id="80" name="矩形 79"/>
          <p:cNvSpPr/>
          <p:nvPr/>
        </p:nvSpPr>
        <p:spPr bwMode="gray">
          <a:xfrm>
            <a:off x="8210727" y="2536589"/>
            <a:ext cx="2220686" cy="217715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1" name="肘形连接符 80"/>
          <p:cNvCxnSpPr>
            <a:stCxn id="80" idx="3"/>
            <a:endCxn id="79" idx="3"/>
          </p:cNvCxnSpPr>
          <p:nvPr/>
        </p:nvCxnSpPr>
        <p:spPr bwMode="gray">
          <a:xfrm>
            <a:off x="10431413" y="2645447"/>
            <a:ext cx="1052026" cy="964347"/>
          </a:xfrm>
          <a:prstGeom prst="bentConnector3">
            <a:avLst>
              <a:gd name="adj1" fmla="val 121730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 bwMode="gray">
          <a:xfrm>
            <a:off x="6295384" y="5200981"/>
            <a:ext cx="5188055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为了区分不同的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实例，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之间发布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路由，由于同时携带了标签信息，所以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之间的接口要支持标签转发。</a:t>
            </a:r>
          </a:p>
        </p:txBody>
      </p:sp>
      <p:sp>
        <p:nvSpPr>
          <p:cNvPr id="62" name="矩形 61"/>
          <p:cNvSpPr/>
          <p:nvPr/>
        </p:nvSpPr>
        <p:spPr bwMode="gray">
          <a:xfrm>
            <a:off x="8741664" y="4669384"/>
            <a:ext cx="524255" cy="190411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3" name="肘形连接符 62"/>
          <p:cNvCxnSpPr>
            <a:stCxn id="62" idx="3"/>
            <a:endCxn id="49" idx="3"/>
          </p:cNvCxnSpPr>
          <p:nvPr/>
        </p:nvCxnSpPr>
        <p:spPr bwMode="gray">
          <a:xfrm>
            <a:off x="9265919" y="4764590"/>
            <a:ext cx="2217520" cy="698001"/>
          </a:xfrm>
          <a:prstGeom prst="bentConnector3">
            <a:avLst>
              <a:gd name="adj1" fmla="val 110309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630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配置结果验证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3716338"/>
            <a:ext cx="5644671" cy="2211217"/>
          </a:xfrm>
        </p:spPr>
        <p:txBody>
          <a:bodyPr/>
          <a:lstStyle/>
          <a:p>
            <a:r>
              <a:rPr lang="zh-CN" altLang="en-US" sz="1400" dirty="0">
                <a:sym typeface="Huawei Sans" panose="020C0503030203020204" pitchFamily="34" charset="0"/>
              </a:rPr>
              <a:t>域内路由信息的传递过程不再赘述，本例只观察路由信息传递的关键步骤。</a:t>
            </a:r>
          </a:p>
        </p:txBody>
      </p:sp>
      <p:sp>
        <p:nvSpPr>
          <p:cNvPr id="108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6248789" y="1247601"/>
            <a:ext cx="5367721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&lt;ASBR-PE1&gt;display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10.0.3.3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Distinguisher(100:1):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1026/1026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10.0.1.1 (10.0.1.1)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00h07m32s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10.0.23.2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Out-Interface: GigabitEthernet0/0/0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&lt;1 : 1&gt;     #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出方向的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RT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值要和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入方向的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RT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值匹配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65000,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MED 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localpref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internal, best, select, pre 255, IGP cost 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Advertised to such 1 peers: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10.0.34.4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6248788" y="4907155"/>
            <a:ext cx="5367722" cy="95410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为该路由分配的标签值为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1026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。由于在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之间传递路由时，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将下一跳修改为自己，因此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在发布路由给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时重新分配了标签，值同样为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1026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标签只有本地意义，因此不同设备可分配相同的标签）。</a:t>
            </a:r>
          </a:p>
        </p:txBody>
      </p:sp>
      <p:sp>
        <p:nvSpPr>
          <p:cNvPr id="112" name="矩形 111"/>
          <p:cNvSpPr/>
          <p:nvPr/>
        </p:nvSpPr>
        <p:spPr bwMode="gray">
          <a:xfrm>
            <a:off x="6340757" y="2178383"/>
            <a:ext cx="3724631" cy="23471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3" name="肘形连接符 112"/>
          <p:cNvCxnSpPr>
            <a:stCxn id="112" idx="1"/>
            <a:endCxn id="111" idx="1"/>
          </p:cNvCxnSpPr>
          <p:nvPr/>
        </p:nvCxnSpPr>
        <p:spPr bwMode="gray">
          <a:xfrm rot="10800000" flipV="1">
            <a:off x="6248789" y="2295737"/>
            <a:ext cx="91969" cy="3088471"/>
          </a:xfrm>
          <a:prstGeom prst="bentConnector3">
            <a:avLst>
              <a:gd name="adj1" fmla="val 255766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2" name="组合 131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cxnSp>
          <p:nvCxnSpPr>
            <p:cNvPr id="133" name="直接连接符 132"/>
            <p:cNvCxnSpPr>
              <a:stCxn id="139" idx="1"/>
              <a:endCxn id="136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42" name="直接连接符 141"/>
            <p:cNvCxnSpPr>
              <a:stCxn id="136" idx="1"/>
              <a:endCxn id="135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>
              <a:stCxn id="134" idx="0"/>
              <a:endCxn id="135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>
              <a:stCxn id="141" idx="0"/>
              <a:endCxn id="139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>
              <a:stCxn id="140" idx="0"/>
              <a:endCxn id="141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147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148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149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0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151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152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3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圆角矩形 153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5" name="圆角矩形 154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6" name="圆角矩形 155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7" name="圆角矩形 156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8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9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0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161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162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163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518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配置结果验证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8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6248789" y="1247601"/>
            <a:ext cx="5367721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&lt;ASBR-PE2&gt;display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Distinguisher(100:1):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1026/1032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10.0.34.3 (10.0.3.3)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00h02m18s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10.0.34.3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&lt;1 : 1&gt;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100 65000,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external, best, select, pre 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55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Advertised to such 1 peers: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10.0.6.6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6248788" y="4907155"/>
            <a:ext cx="5367722" cy="738664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为该路由分配的标签值为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1026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。由于在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将路由传递给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时将下一跳修改为自己，因此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在发布路由给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时重新分配了标签，值为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112" name="矩形 111"/>
          <p:cNvSpPr/>
          <p:nvPr/>
        </p:nvSpPr>
        <p:spPr bwMode="gray">
          <a:xfrm>
            <a:off x="6340757" y="2178383"/>
            <a:ext cx="3724631" cy="23471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3" name="肘形连接符 112"/>
          <p:cNvCxnSpPr>
            <a:stCxn id="112" idx="1"/>
            <a:endCxn id="111" idx="1"/>
          </p:cNvCxnSpPr>
          <p:nvPr/>
        </p:nvCxnSpPr>
        <p:spPr bwMode="gray">
          <a:xfrm rot="10800000" flipV="1">
            <a:off x="6248789" y="2295737"/>
            <a:ext cx="91969" cy="2980749"/>
          </a:xfrm>
          <a:prstGeom prst="bentConnector3">
            <a:avLst>
              <a:gd name="adj1" fmla="val 215996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/>
        </p:nvGrpSpPr>
        <p:grpSpPr bwMode="gray">
          <a:xfrm>
            <a:off x="309719" y="2802615"/>
            <a:ext cx="5939070" cy="2218263"/>
            <a:chOff x="309719" y="1339575"/>
            <a:chExt cx="5939070" cy="2218263"/>
          </a:xfrm>
        </p:grpSpPr>
        <p:cxnSp>
          <p:nvCxnSpPr>
            <p:cNvPr id="54" name="直接连接符 53"/>
            <p:cNvCxnSpPr>
              <a:stCxn id="60" idx="1"/>
              <a:endCxn id="57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5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5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5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5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6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6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6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63" name="直接连接符 62"/>
            <p:cNvCxnSpPr>
              <a:stCxn id="57" idx="1"/>
              <a:endCxn id="56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>
              <a:stCxn id="55" idx="0"/>
              <a:endCxn id="56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62" idx="0"/>
              <a:endCxn id="60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>
              <a:stCxn id="61" idx="0"/>
              <a:endCxn id="62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69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7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7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7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7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6" name="圆角矩形 7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7" name="圆角矩形 7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8" name="圆角矩形 7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9" name="圆角矩形 7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2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83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84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85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06361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6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OpitonB</a:t>
            </a:r>
            <a:r>
              <a:rPr lang="zh-CN" altLang="en-US" dirty="0">
                <a:sym typeface="Huawei Sans" panose="020C0503030203020204" pitchFamily="34" charset="0"/>
              </a:rPr>
              <a:t>配置结果验证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108" name="文本占位符 64"/>
          <p:cNvSpPr txBox="1">
            <a:spLocks/>
          </p:cNvSpPr>
          <p:nvPr/>
        </p:nvSpPr>
        <p:spPr bwMode="gray">
          <a:xfrm>
            <a:off x="6073270" y="3107246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上</a:t>
            </a:r>
            <a:r>
              <a:rPr lang="en-US" altLang="zh-CN" sz="1400" dirty="0">
                <a:sym typeface="Huawei Sans" panose="020C0503030203020204" pitchFamily="34" charset="0"/>
              </a:rPr>
              <a:t>Ping 192.168.1.1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6248789" y="3454353"/>
            <a:ext cx="53677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&lt;CE2&gt;ping -a 192.168.2.1 192.168.1.1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192.168.1.1: 56  data bytes, press CTRL_C to break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time=50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2" name="组合 131"/>
          <p:cNvGrpSpPr/>
          <p:nvPr/>
        </p:nvGrpSpPr>
        <p:grpSpPr bwMode="gray">
          <a:xfrm>
            <a:off x="309719" y="2802615"/>
            <a:ext cx="5939070" cy="2218263"/>
            <a:chOff x="309719" y="1339575"/>
            <a:chExt cx="5939070" cy="2218263"/>
          </a:xfrm>
        </p:grpSpPr>
        <p:cxnSp>
          <p:nvCxnSpPr>
            <p:cNvPr id="133" name="直接连接符 132"/>
            <p:cNvCxnSpPr>
              <a:stCxn id="139" idx="1"/>
              <a:endCxn id="136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42" name="直接连接符 141"/>
            <p:cNvCxnSpPr>
              <a:stCxn id="136" idx="1"/>
              <a:endCxn id="135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>
              <a:stCxn id="134" idx="0"/>
              <a:endCxn id="135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>
              <a:stCxn id="141" idx="0"/>
              <a:endCxn id="139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>
              <a:stCxn id="140" idx="0"/>
              <a:endCxn id="141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147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148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149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0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151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152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3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圆角矩形 153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5" name="圆角矩形 154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6" name="圆角矩形 155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7" name="圆角矩形 156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8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9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0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161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162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163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098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OptionC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工作原理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OpitonC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05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/>
          <p:cNvSpPr/>
          <p:nvPr/>
        </p:nvSpPr>
        <p:spPr bwMode="gray">
          <a:xfrm>
            <a:off x="8094829" y="4378037"/>
            <a:ext cx="1970883" cy="4675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概述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400" dirty="0">
                <a:sym typeface="Huawei Sans" panose="020C0503030203020204" pitchFamily="34" charset="0"/>
              </a:rPr>
              <a:t>相比于</a:t>
            </a:r>
            <a:r>
              <a:rPr lang="en-US" altLang="zh-CN" sz="1400" dirty="0" err="1">
                <a:sym typeface="Huawei Sans" panose="020C0503030203020204" pitchFamily="34" charset="0"/>
              </a:rPr>
              <a:t>OptionA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 err="1">
                <a:sym typeface="Huawei Sans" panose="020C0503030203020204" pitchFamily="34" charset="0"/>
              </a:rPr>
              <a:t>OptionB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方案中，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上不保存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路由，相互之间也不通告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方案中不同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之间建立</a:t>
            </a:r>
            <a:r>
              <a:rPr lang="en-US" altLang="zh-CN" sz="1400" dirty="0" err="1">
                <a:sym typeface="Huawei Sans" panose="020C0503030203020204" pitchFamily="34" charset="0"/>
              </a:rPr>
              <a:t>Multihop</a:t>
            </a:r>
            <a:r>
              <a:rPr lang="zh-CN" altLang="en-US" sz="1400" dirty="0">
                <a:sym typeface="Huawei Sans" panose="020C0503030203020204" pitchFamily="34" charset="0"/>
              </a:rPr>
              <a:t>方式的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连接，交换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路由。针对不同方式实现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之间路由互通，</a:t>
            </a:r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又可以分为两种方式：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方式一：由</a:t>
            </a:r>
            <a:r>
              <a:rPr lang="en-US" altLang="zh-CN" sz="1200" dirty="0"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ym typeface="Huawei Sans" panose="020C0503030203020204" pitchFamily="34" charset="0"/>
              </a:rPr>
              <a:t>将去往其它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中的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路由通过</a:t>
            </a:r>
            <a:r>
              <a:rPr lang="en-US" altLang="zh-CN" sz="1200" dirty="0">
                <a:sym typeface="Huawei Sans" panose="020C0503030203020204" pitchFamily="34" charset="0"/>
              </a:rPr>
              <a:t>BGP</a:t>
            </a:r>
            <a:r>
              <a:rPr lang="zh-CN" altLang="en-US" sz="1200" dirty="0">
                <a:sym typeface="Huawei Sans" panose="020C0503030203020204" pitchFamily="34" charset="0"/>
              </a:rPr>
              <a:t>发送给本地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设备。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方式二：由</a:t>
            </a:r>
            <a:r>
              <a:rPr lang="en-US" altLang="zh-CN" sz="1200" dirty="0">
                <a:sym typeface="Huawei Sans" panose="020C0503030203020204" pitchFamily="34" charset="0"/>
              </a:rPr>
              <a:t>ASBR</a:t>
            </a:r>
            <a:r>
              <a:rPr lang="zh-CN" altLang="en-US" sz="1200" dirty="0">
                <a:sym typeface="Huawei Sans" panose="020C0503030203020204" pitchFamily="34" charset="0"/>
              </a:rPr>
              <a:t>将去往其它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中的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路由引入</a:t>
            </a:r>
            <a:r>
              <a:rPr lang="en-US" altLang="zh-CN" sz="1200" dirty="0">
                <a:sym typeface="Huawei Sans" panose="020C0503030203020204" pitchFamily="34" charset="0"/>
              </a:rPr>
              <a:t>IGP</a:t>
            </a:r>
            <a:r>
              <a:rPr lang="zh-CN" altLang="en-US" sz="1200" dirty="0">
                <a:sym typeface="Huawei Sans" panose="020C0503030203020204" pitchFamily="34" charset="0"/>
              </a:rPr>
              <a:t>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由于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无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的路由，因此为了避免转发数据包时出现路由黑洞，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设备必须将数据包引入隧道，使非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设备不感知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的封装信息，因此</a:t>
            </a:r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的两种方式都需要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之间发布带标签的路由，以构建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之间的外层转发隧道。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cxnSp>
        <p:nvCxnSpPr>
          <p:cNvPr id="6" name="直接连接符 5"/>
          <p:cNvCxnSpPr>
            <a:stCxn id="14" idx="3"/>
            <a:endCxn id="16" idx="1"/>
          </p:cNvCxnSpPr>
          <p:nvPr/>
        </p:nvCxnSpPr>
        <p:spPr bwMode="gray">
          <a:xfrm>
            <a:off x="2404049" y="4616645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 bwMode="gray">
          <a:xfrm>
            <a:off x="879829" y="4395736"/>
            <a:ext cx="3571739" cy="1509016"/>
            <a:chOff x="860640" y="1181905"/>
            <a:chExt cx="3571739" cy="1509016"/>
          </a:xfrm>
        </p:grpSpPr>
        <p:grpSp>
          <p:nvGrpSpPr>
            <p:cNvPr id="8" name="组合 7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18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9" name="文本框 18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 bwMode="gray">
            <a:xfrm>
              <a:off x="3691471" y="1181905"/>
              <a:ext cx="740908" cy="723926"/>
              <a:chOff x="7961684" y="4938500"/>
              <a:chExt cx="740908" cy="723926"/>
            </a:xfrm>
          </p:grpSpPr>
          <p:pic>
            <p:nvPicPr>
              <p:cNvPr id="16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7" name="文本框 16"/>
              <p:cNvSpPr txBox="1"/>
              <p:nvPr/>
            </p:nvSpPr>
            <p:spPr bwMode="gray">
              <a:xfrm>
                <a:off x="7961684" y="5354649"/>
                <a:ext cx="740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ASBR1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 bwMode="gray">
            <a:xfrm>
              <a:off x="1844860" y="1181905"/>
              <a:ext cx="540000" cy="723926"/>
              <a:chOff x="4088571" y="4947622"/>
              <a:chExt cx="540000" cy="723926"/>
            </a:xfrm>
          </p:grpSpPr>
          <p:pic>
            <p:nvPicPr>
              <p:cNvPr id="14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5" name="文本框 14"/>
              <p:cNvSpPr txBox="1"/>
              <p:nvPr/>
            </p:nvSpPr>
            <p:spPr bwMode="gray">
              <a:xfrm>
                <a:off x="4109945" y="5363771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 bwMode="gray">
            <a:xfrm>
              <a:off x="860640" y="1978346"/>
              <a:ext cx="550687" cy="712575"/>
              <a:chOff x="4073209" y="4947622"/>
              <a:chExt cx="550687" cy="712575"/>
            </a:xfrm>
          </p:grpSpPr>
          <p:pic>
            <p:nvPicPr>
              <p:cNvPr id="12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13" name="文本框 12"/>
              <p:cNvSpPr txBox="1"/>
              <p:nvPr/>
            </p:nvSpPr>
            <p:spPr bwMode="gray">
              <a:xfrm>
                <a:off x="4121835" y="5352420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20" name="直接连接符 19"/>
          <p:cNvCxnSpPr>
            <a:stCxn id="12" idx="0"/>
            <a:endCxn id="14" idx="1"/>
          </p:cNvCxnSpPr>
          <p:nvPr/>
        </p:nvCxnSpPr>
        <p:spPr bwMode="gray">
          <a:xfrm flipV="1">
            <a:off x="1149829" y="4616645"/>
            <a:ext cx="714220" cy="5755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 bwMode="gray">
          <a:xfrm>
            <a:off x="1758110" y="4292974"/>
            <a:ext cx="3729005" cy="1539100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23" name="直接连接符 22"/>
          <p:cNvCxnSpPr>
            <a:stCxn id="31" idx="3"/>
            <a:endCxn id="33" idx="1"/>
          </p:cNvCxnSpPr>
          <p:nvPr/>
        </p:nvCxnSpPr>
        <p:spPr bwMode="gray">
          <a:xfrm>
            <a:off x="8324558" y="4616645"/>
            <a:ext cx="14070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/>
          <p:cNvGrpSpPr/>
          <p:nvPr/>
        </p:nvGrpSpPr>
        <p:grpSpPr bwMode="gray">
          <a:xfrm>
            <a:off x="7684106" y="4395736"/>
            <a:ext cx="3561049" cy="1509016"/>
            <a:chOff x="1744408" y="1181905"/>
            <a:chExt cx="3561049" cy="1509016"/>
          </a:xfrm>
        </p:grpSpPr>
        <p:grpSp>
          <p:nvGrpSpPr>
            <p:cNvPr id="25" name="组合 24"/>
            <p:cNvGrpSpPr/>
            <p:nvPr/>
          </p:nvGrpSpPr>
          <p:grpSpPr bwMode="gray">
            <a:xfrm>
              <a:off x="2818393" y="1181905"/>
              <a:ext cx="540000" cy="723926"/>
              <a:chOff x="5312873" y="4947622"/>
              <a:chExt cx="540000" cy="723926"/>
            </a:xfrm>
          </p:grpSpPr>
          <p:pic>
            <p:nvPicPr>
              <p:cNvPr id="35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312873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6" name="文本框 35"/>
              <p:cNvSpPr txBox="1"/>
              <p:nvPr/>
            </p:nvSpPr>
            <p:spPr bwMode="gray">
              <a:xfrm>
                <a:off x="5436839" y="5363771"/>
                <a:ext cx="3962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</a:t>
                </a:r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 bwMode="gray">
            <a:xfrm>
              <a:off x="3791925" y="1181905"/>
              <a:ext cx="540000" cy="723926"/>
              <a:chOff x="8062138" y="4938500"/>
              <a:chExt cx="540000" cy="723926"/>
            </a:xfrm>
          </p:grpSpPr>
          <p:pic>
            <p:nvPicPr>
              <p:cNvPr id="33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8062138" y="4938500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4" name="文本框 33"/>
              <p:cNvSpPr txBox="1"/>
              <p:nvPr/>
            </p:nvSpPr>
            <p:spPr bwMode="gray">
              <a:xfrm>
                <a:off x="8084306" y="5354649"/>
                <a:ext cx="4972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 bwMode="gray">
            <a:xfrm>
              <a:off x="1744408" y="1181905"/>
              <a:ext cx="740908" cy="723926"/>
              <a:chOff x="3988119" y="4947622"/>
              <a:chExt cx="740908" cy="723926"/>
            </a:xfrm>
          </p:grpSpPr>
          <p:pic>
            <p:nvPicPr>
              <p:cNvPr id="31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88571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2" name="文本框 31"/>
              <p:cNvSpPr txBox="1"/>
              <p:nvPr/>
            </p:nvSpPr>
            <p:spPr bwMode="gray">
              <a:xfrm>
                <a:off x="3988119" y="5363771"/>
                <a:ext cx="740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rgbClr val="30B5C5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ASBR2</a:t>
                </a:r>
                <a:endParaRPr lang="zh-CN" altLang="en-US" sz="1400" b="1" dirty="0">
                  <a:solidFill>
                    <a:srgbClr val="30B5C5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 bwMode="gray">
            <a:xfrm>
              <a:off x="4765457" y="1966995"/>
              <a:ext cx="540000" cy="723926"/>
              <a:chOff x="4073209" y="4947622"/>
              <a:chExt cx="540000" cy="723926"/>
            </a:xfrm>
          </p:grpSpPr>
          <p:pic>
            <p:nvPicPr>
              <p:cNvPr id="29" name="Picture 12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073209" y="4947622"/>
                <a:ext cx="540000" cy="441818"/>
              </a:xfrm>
              <a:prstGeom prst="rect">
                <a:avLst/>
              </a:prstGeom>
              <a:noFill/>
            </p:spPr>
          </p:pic>
          <p:sp>
            <p:nvSpPr>
              <p:cNvPr id="30" name="文本框 29"/>
              <p:cNvSpPr txBox="1"/>
              <p:nvPr/>
            </p:nvSpPr>
            <p:spPr bwMode="gray">
              <a:xfrm>
                <a:off x="4086262" y="5363771"/>
                <a:ext cx="5020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37" name="直接连接符 36"/>
          <p:cNvCxnSpPr>
            <a:stCxn id="29" idx="0"/>
            <a:endCxn id="33" idx="3"/>
          </p:cNvCxnSpPr>
          <p:nvPr/>
        </p:nvCxnSpPr>
        <p:spPr bwMode="gray">
          <a:xfrm flipH="1" flipV="1">
            <a:off x="10271623" y="4616645"/>
            <a:ext cx="703532" cy="5641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圆角矩形 37"/>
          <p:cNvSpPr/>
          <p:nvPr/>
        </p:nvSpPr>
        <p:spPr bwMode="gray">
          <a:xfrm>
            <a:off x="6586243" y="4361203"/>
            <a:ext cx="3848912" cy="147087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矩形 141"/>
          <p:cNvSpPr/>
          <p:nvPr/>
        </p:nvSpPr>
        <p:spPr bwMode="gray">
          <a:xfrm>
            <a:off x="8324558" y="5553268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44" name="圆角矩形 43"/>
          <p:cNvSpPr/>
          <p:nvPr/>
        </p:nvSpPr>
        <p:spPr bwMode="gray">
          <a:xfrm>
            <a:off x="711226" y="5134890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圆角矩形 44"/>
          <p:cNvSpPr/>
          <p:nvPr/>
        </p:nvSpPr>
        <p:spPr bwMode="gray">
          <a:xfrm>
            <a:off x="10550095" y="5134890"/>
            <a:ext cx="87720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6" name="直接连接符 45"/>
          <p:cNvCxnSpPr>
            <a:stCxn id="16" idx="3"/>
            <a:endCxn id="31" idx="1"/>
          </p:cNvCxnSpPr>
          <p:nvPr/>
        </p:nvCxnSpPr>
        <p:spPr bwMode="gray">
          <a:xfrm>
            <a:off x="4351114" y="4616645"/>
            <a:ext cx="3433444" cy="0"/>
          </a:xfrm>
          <a:prstGeom prst="line">
            <a:avLst/>
          </a:prstGeom>
          <a:ln w="28575">
            <a:solidFill>
              <a:srgbClr val="62B23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 bwMode="gray">
          <a:xfrm>
            <a:off x="5374718" y="4312266"/>
            <a:ext cx="124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矩形 141"/>
          <p:cNvSpPr/>
          <p:nvPr/>
        </p:nvSpPr>
        <p:spPr bwMode="gray">
          <a:xfrm>
            <a:off x="2712951" y="5553268"/>
            <a:ext cx="789259" cy="381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tabLst/>
            </a:pPr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cxnSp>
        <p:nvCxnSpPr>
          <p:cNvPr id="48" name="直接连接符 47"/>
          <p:cNvCxnSpPr/>
          <p:nvPr/>
        </p:nvCxnSpPr>
        <p:spPr bwMode="gray">
          <a:xfrm flipV="1">
            <a:off x="2145932" y="5928662"/>
            <a:ext cx="7806561" cy="0"/>
          </a:xfrm>
          <a:prstGeom prst="line">
            <a:avLst/>
          </a:prstGeom>
          <a:ln w="28575">
            <a:solidFill>
              <a:srgbClr val="62B230"/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 bwMode="gray">
          <a:xfrm>
            <a:off x="5416587" y="5651807"/>
            <a:ext cx="1240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MP-EBGP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Line 258"/>
          <p:cNvSpPr>
            <a:spLocks noChangeShapeType="1"/>
          </p:cNvSpPr>
          <p:nvPr/>
        </p:nvSpPr>
        <p:spPr bwMode="gray">
          <a:xfrm>
            <a:off x="2145932" y="5074783"/>
            <a:ext cx="0" cy="9724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Line 258"/>
          <p:cNvSpPr>
            <a:spLocks noChangeShapeType="1"/>
          </p:cNvSpPr>
          <p:nvPr/>
        </p:nvSpPr>
        <p:spPr bwMode="gray">
          <a:xfrm>
            <a:off x="9977379" y="5074783"/>
            <a:ext cx="0" cy="972450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5392759" y="4651590"/>
            <a:ext cx="1240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发布带标签路由</a:t>
            </a:r>
          </a:p>
        </p:txBody>
      </p:sp>
      <p:sp>
        <p:nvSpPr>
          <p:cNvPr id="40" name="任意多边形 39"/>
          <p:cNvSpPr/>
          <p:nvPr/>
        </p:nvSpPr>
        <p:spPr bwMode="gray">
          <a:xfrm>
            <a:off x="2133600" y="3980790"/>
            <a:ext cx="2383802" cy="414946"/>
          </a:xfrm>
          <a:custGeom>
            <a:avLst/>
            <a:gdLst>
              <a:gd name="connsiteX0" fmla="*/ 0 w 1976582"/>
              <a:gd name="connsiteY0" fmla="*/ 369537 h 397246"/>
              <a:gd name="connsiteX1" fmla="*/ 969818 w 1976582"/>
              <a:gd name="connsiteY1" fmla="*/ 83 h 397246"/>
              <a:gd name="connsiteX2" fmla="*/ 1976582 w 1976582"/>
              <a:gd name="connsiteY2" fmla="*/ 397246 h 397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6582" h="397246">
                <a:moveTo>
                  <a:pt x="0" y="369537"/>
                </a:moveTo>
                <a:cubicBezTo>
                  <a:pt x="320194" y="182501"/>
                  <a:pt x="640388" y="-4535"/>
                  <a:pt x="969818" y="83"/>
                </a:cubicBezTo>
                <a:cubicBezTo>
                  <a:pt x="1299248" y="4701"/>
                  <a:pt x="1637915" y="200973"/>
                  <a:pt x="1976582" y="397246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方式一</a:t>
            </a:r>
          </a:p>
        </p:txBody>
      </p:sp>
      <p:sp>
        <p:nvSpPr>
          <p:cNvPr id="41" name="矩形标注 40"/>
          <p:cNvSpPr/>
          <p:nvPr/>
        </p:nvSpPr>
        <p:spPr bwMode="gray">
          <a:xfrm>
            <a:off x="661514" y="3604811"/>
            <a:ext cx="1472086" cy="653219"/>
          </a:xfrm>
          <a:prstGeom prst="wedgeRectCallout">
            <a:avLst>
              <a:gd name="adj1" fmla="val 70772"/>
              <a:gd name="adj2" fmla="val 31830"/>
            </a:avLst>
          </a:prstGeom>
          <a:noFill/>
          <a:ln w="28575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发布到达远端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路由。</a:t>
            </a: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7601283" y="392624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方式二</a:t>
            </a:r>
          </a:p>
        </p:txBody>
      </p:sp>
      <p:sp>
        <p:nvSpPr>
          <p:cNvPr id="61" name="矩形标注 60"/>
          <p:cNvSpPr/>
          <p:nvPr/>
        </p:nvSpPr>
        <p:spPr bwMode="gray">
          <a:xfrm>
            <a:off x="8505267" y="3604089"/>
            <a:ext cx="1745775" cy="653219"/>
          </a:xfrm>
          <a:prstGeom prst="wedgeRectCallout">
            <a:avLst>
              <a:gd name="adj1" fmla="val -66546"/>
              <a:gd name="adj2" fmla="val 50169"/>
            </a:avLst>
          </a:prstGeom>
          <a:noFill/>
          <a:ln w="28575">
            <a:solidFill>
              <a:schemeClr val="tx1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将到达远端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路由引入</a:t>
            </a:r>
            <a:r>
              <a:rPr lang="en-US" altLang="zh-CN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62" name="任意多边形 61"/>
          <p:cNvSpPr/>
          <p:nvPr/>
        </p:nvSpPr>
        <p:spPr bwMode="gray">
          <a:xfrm>
            <a:off x="7472218" y="4184046"/>
            <a:ext cx="1016000" cy="323299"/>
          </a:xfrm>
          <a:custGeom>
            <a:avLst/>
            <a:gdLst>
              <a:gd name="connsiteX0" fmla="*/ 0 w 1016000"/>
              <a:gd name="connsiteY0" fmla="*/ 323299 h 323299"/>
              <a:gd name="connsiteX1" fmla="*/ 563418 w 1016000"/>
              <a:gd name="connsiteY1" fmla="*/ 27 h 323299"/>
              <a:gd name="connsiteX2" fmla="*/ 1016000 w 1016000"/>
              <a:gd name="connsiteY2" fmla="*/ 304827 h 32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0" h="323299">
                <a:moveTo>
                  <a:pt x="0" y="323299"/>
                </a:moveTo>
                <a:cubicBezTo>
                  <a:pt x="197042" y="163202"/>
                  <a:pt x="394085" y="3106"/>
                  <a:pt x="563418" y="27"/>
                </a:cubicBezTo>
                <a:cubicBezTo>
                  <a:pt x="732751" y="-3052"/>
                  <a:pt x="945188" y="257106"/>
                  <a:pt x="1016000" y="304827"/>
                </a:cubicBezTo>
              </a:path>
            </a:pathLst>
          </a:custGeom>
          <a:noFill/>
          <a:ln w="28575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024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306"/>
          <p:cNvSpPr>
            <a:spLocks noChangeShapeType="1"/>
          </p:cNvSpPr>
          <p:nvPr/>
        </p:nvSpPr>
        <p:spPr bwMode="gray">
          <a:xfrm>
            <a:off x="5564205" y="3964500"/>
            <a:ext cx="0" cy="1404938"/>
          </a:xfrm>
          <a:prstGeom prst="line">
            <a:avLst/>
          </a:prstGeom>
          <a:noFill/>
          <a:ln w="19050" cap="rnd">
            <a:solidFill>
              <a:srgbClr val="CB3778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方式一拓扑说明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不再维护或是通告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路由。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只需要维护所有去往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的带标签路由，并通过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通告给对端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。在</a:t>
            </a:r>
            <a:r>
              <a:rPr lang="en-US" altLang="zh-CN" sz="1400" dirty="0">
                <a:sym typeface="Huawei Sans" panose="020C0503030203020204" pitchFamily="34" charset="0"/>
              </a:rPr>
              <a:t>transit AS</a:t>
            </a:r>
            <a:r>
              <a:rPr lang="zh-CN" altLang="en-US" sz="1400" dirty="0">
                <a:sym typeface="Huawei Sans" panose="020C0503030203020204" pitchFamily="34" charset="0"/>
              </a:rPr>
              <a:t>内的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也同样需要使用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通告这些带标签的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路由。这样在不同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之间给会建立一条</a:t>
            </a:r>
            <a:r>
              <a:rPr lang="en-US" altLang="zh-CN" sz="1400" dirty="0"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ym typeface="Huawei Sans" panose="020C0503030203020204" pitchFamily="34" charset="0"/>
              </a:rPr>
              <a:t>，从而可以建立起入口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和出口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之间的多跳</a:t>
            </a:r>
            <a:r>
              <a:rPr lang="en-US" altLang="zh-CN" sz="1400" dirty="0">
                <a:sym typeface="Huawei Sans" panose="020C0503030203020204" pitchFamily="34" charset="0"/>
              </a:rPr>
              <a:t>MP-EBGP</a:t>
            </a:r>
            <a:r>
              <a:rPr lang="zh-CN" altLang="en-US" sz="1400" dirty="0">
                <a:sym typeface="Huawei Sans" panose="020C0503030203020204" pitchFamily="34" charset="0"/>
              </a:rPr>
              <a:t>连接并进行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路由的通告。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400" dirty="0">
                <a:sym typeface="Huawei Sans" panose="020C0503030203020204" pitchFamily="34" charset="0"/>
              </a:rPr>
              <a:t>为了进一步扩展性能，多跳</a:t>
            </a:r>
            <a:r>
              <a:rPr lang="en-US" altLang="zh-CN" sz="1400" dirty="0">
                <a:sym typeface="Huawei Sans" panose="020C0503030203020204" pitchFamily="34" charset="0"/>
              </a:rPr>
              <a:t>MP-EBGP</a:t>
            </a:r>
            <a:r>
              <a:rPr lang="zh-CN" altLang="en-US" sz="1400" dirty="0">
                <a:sym typeface="Huawei Sans" panose="020C0503030203020204" pitchFamily="34" charset="0"/>
              </a:rPr>
              <a:t>会话可以建立在不同的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VPN RR</a:t>
            </a:r>
            <a:r>
              <a:rPr lang="zh-CN" altLang="en-US" sz="1400" dirty="0">
                <a:sym typeface="Huawei Sans" panose="020C0503030203020204" pitchFamily="34" charset="0"/>
              </a:rPr>
              <a:t>之间。并且当这些</a:t>
            </a:r>
            <a:r>
              <a:rPr lang="en-US" altLang="zh-CN" sz="1400" dirty="0">
                <a:sym typeface="Huawei Sans" panose="020C0503030203020204" pitchFamily="34" charset="0"/>
              </a:rPr>
              <a:t>VPN RR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路由时不改变下一跳信息。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只与</a:t>
            </a:r>
            <a:r>
              <a:rPr lang="en-US" altLang="zh-CN" sz="1400" dirty="0">
                <a:sym typeface="Huawei Sans" panose="020C0503030203020204" pitchFamily="34" charset="0"/>
              </a:rPr>
              <a:t>VPN RR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ym typeface="Huawei Sans" panose="020C0503030203020204" pitchFamily="34" charset="0"/>
              </a:rPr>
              <a:t>会话。</a:t>
            </a:r>
          </a:p>
          <a:p>
            <a:endParaRPr lang="zh-CN" altLang="en-US" sz="1400" dirty="0">
              <a:sym typeface="Huawei Sans" panose="020C0503030203020204" pitchFamily="34" charset="0"/>
            </a:endParaRPr>
          </a:p>
          <a:p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50" name="Arc 270"/>
          <p:cNvSpPr>
            <a:spLocks/>
          </p:cNvSpPr>
          <p:nvPr/>
        </p:nvSpPr>
        <p:spPr bwMode="gray">
          <a:xfrm rot="19742205">
            <a:off x="4358584" y="2247757"/>
            <a:ext cx="4308475" cy="4606925"/>
          </a:xfrm>
          <a:custGeom>
            <a:avLst/>
            <a:gdLst>
              <a:gd name="G0" fmla="+- 3503 0 0"/>
              <a:gd name="G1" fmla="+- 21600 0 0"/>
              <a:gd name="G2" fmla="+- 21600 0 0"/>
              <a:gd name="T0" fmla="*/ 0 w 22513"/>
              <a:gd name="T1" fmla="*/ 286 h 21600"/>
              <a:gd name="T2" fmla="*/ 22513 w 22513"/>
              <a:gd name="T3" fmla="*/ 11344 h 21600"/>
              <a:gd name="T4" fmla="*/ 3503 w 225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13" h="21600" fill="none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</a:path>
              <a:path w="22513" h="21600" stroke="0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  <a:lnTo>
                  <a:pt x="3503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AutoShape 303"/>
          <p:cNvSpPr>
            <a:spLocks noChangeArrowheads="1"/>
          </p:cNvSpPr>
          <p:nvPr/>
        </p:nvSpPr>
        <p:spPr bwMode="gray">
          <a:xfrm rot="5400000">
            <a:off x="6088955" y="2592900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Text Box 163"/>
          <p:cNvSpPr txBox="1">
            <a:spLocks noChangeArrowheads="1"/>
          </p:cNvSpPr>
          <p:nvPr/>
        </p:nvSpPr>
        <p:spPr bwMode="gray">
          <a:xfrm>
            <a:off x="3912492" y="3618424"/>
            <a:ext cx="551769" cy="31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1" name="Text Box 164"/>
          <p:cNvSpPr txBox="1">
            <a:spLocks noChangeArrowheads="1"/>
          </p:cNvSpPr>
          <p:nvPr/>
        </p:nvSpPr>
        <p:spPr bwMode="gray">
          <a:xfrm>
            <a:off x="7747893" y="3618425"/>
            <a:ext cx="6207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2" name="Text Box 165"/>
          <p:cNvSpPr txBox="1">
            <a:spLocks noChangeArrowheads="1"/>
          </p:cNvSpPr>
          <p:nvPr/>
        </p:nvSpPr>
        <p:spPr bwMode="gray">
          <a:xfrm>
            <a:off x="4501455" y="384385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3" name="Text Box 166"/>
          <p:cNvSpPr txBox="1">
            <a:spLocks noChangeArrowheads="1"/>
          </p:cNvSpPr>
          <p:nvPr/>
        </p:nvSpPr>
        <p:spPr bwMode="gray">
          <a:xfrm>
            <a:off x="6649343" y="3843850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4" name="Text Box 167"/>
          <p:cNvSpPr txBox="1">
            <a:spLocks noChangeArrowheads="1"/>
          </p:cNvSpPr>
          <p:nvPr/>
        </p:nvSpPr>
        <p:spPr bwMode="gray">
          <a:xfrm>
            <a:off x="2302768" y="4686813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5" name="Text Box 168"/>
          <p:cNvSpPr txBox="1">
            <a:spLocks noChangeArrowheads="1"/>
          </p:cNvSpPr>
          <p:nvPr/>
        </p:nvSpPr>
        <p:spPr bwMode="gray">
          <a:xfrm>
            <a:off x="9295705" y="4670938"/>
            <a:ext cx="6667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7" name="Text Box 170"/>
          <p:cNvSpPr txBox="1">
            <a:spLocks noChangeArrowheads="1"/>
          </p:cNvSpPr>
          <p:nvPr/>
        </p:nvSpPr>
        <p:spPr bwMode="gray">
          <a:xfrm>
            <a:off x="2037655" y="4266125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8" name="Text Box 171"/>
          <p:cNvSpPr txBox="1">
            <a:spLocks noChangeArrowheads="1"/>
          </p:cNvSpPr>
          <p:nvPr/>
        </p:nvSpPr>
        <p:spPr bwMode="gray">
          <a:xfrm>
            <a:off x="9249389" y="4192388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9" name="Line 172"/>
          <p:cNvSpPr>
            <a:spLocks noChangeShapeType="1"/>
          </p:cNvSpPr>
          <p:nvPr/>
        </p:nvSpPr>
        <p:spPr bwMode="gray">
          <a:xfrm flipV="1">
            <a:off x="3918843" y="343586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Line 173"/>
          <p:cNvSpPr>
            <a:spLocks noChangeShapeType="1"/>
          </p:cNvSpPr>
          <p:nvPr/>
        </p:nvSpPr>
        <p:spPr bwMode="gray">
          <a:xfrm>
            <a:off x="4760218" y="347396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Line 174"/>
          <p:cNvSpPr>
            <a:spLocks noChangeShapeType="1"/>
          </p:cNvSpPr>
          <p:nvPr/>
        </p:nvSpPr>
        <p:spPr bwMode="gray">
          <a:xfrm flipV="1">
            <a:off x="6889055" y="344538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Line 175"/>
          <p:cNvSpPr>
            <a:spLocks noChangeShapeType="1"/>
          </p:cNvSpPr>
          <p:nvPr/>
        </p:nvSpPr>
        <p:spPr bwMode="gray">
          <a:xfrm>
            <a:off x="7790755" y="343586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Line 176"/>
          <p:cNvSpPr>
            <a:spLocks noChangeShapeType="1"/>
          </p:cNvSpPr>
          <p:nvPr/>
        </p:nvSpPr>
        <p:spPr bwMode="gray">
          <a:xfrm>
            <a:off x="5638105" y="374383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Line 199"/>
          <p:cNvSpPr>
            <a:spLocks noChangeShapeType="1"/>
          </p:cNvSpPr>
          <p:nvPr/>
        </p:nvSpPr>
        <p:spPr bwMode="gray">
          <a:xfrm flipV="1">
            <a:off x="2880618" y="386766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Line 200"/>
          <p:cNvSpPr>
            <a:spLocks noChangeShapeType="1"/>
          </p:cNvSpPr>
          <p:nvPr/>
        </p:nvSpPr>
        <p:spPr bwMode="gray">
          <a:xfrm>
            <a:off x="8578155" y="3867663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Line 223"/>
          <p:cNvSpPr>
            <a:spLocks noChangeShapeType="1"/>
          </p:cNvSpPr>
          <p:nvPr/>
        </p:nvSpPr>
        <p:spPr bwMode="gray">
          <a:xfrm>
            <a:off x="3618805" y="3893063"/>
            <a:ext cx="0" cy="1631950"/>
          </a:xfrm>
          <a:prstGeom prst="line">
            <a:avLst/>
          </a:prstGeom>
          <a:noFill/>
          <a:ln w="19050" cap="rnd">
            <a:solidFill>
              <a:srgbClr val="33CCCC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Line 224"/>
          <p:cNvSpPr>
            <a:spLocks noChangeShapeType="1"/>
          </p:cNvSpPr>
          <p:nvPr/>
        </p:nvSpPr>
        <p:spPr bwMode="gray">
          <a:xfrm>
            <a:off x="8598793" y="3885125"/>
            <a:ext cx="0" cy="1631950"/>
          </a:xfrm>
          <a:prstGeom prst="line">
            <a:avLst/>
          </a:prstGeom>
          <a:noFill/>
          <a:ln w="19050" cap="rnd">
            <a:solidFill>
              <a:srgbClr val="33CCCC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Line 247"/>
          <p:cNvSpPr>
            <a:spLocks noChangeShapeType="1"/>
          </p:cNvSpPr>
          <p:nvPr/>
        </p:nvSpPr>
        <p:spPr bwMode="gray">
          <a:xfrm>
            <a:off x="3915668" y="3962913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Line 249"/>
          <p:cNvSpPr>
            <a:spLocks noChangeShapeType="1"/>
          </p:cNvSpPr>
          <p:nvPr/>
        </p:nvSpPr>
        <p:spPr bwMode="gray">
          <a:xfrm>
            <a:off x="5288855" y="3866075"/>
            <a:ext cx="0" cy="1435100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Line 251"/>
          <p:cNvSpPr>
            <a:spLocks noChangeShapeType="1"/>
          </p:cNvSpPr>
          <p:nvPr/>
        </p:nvSpPr>
        <p:spPr bwMode="gray">
          <a:xfrm>
            <a:off x="6874768" y="3981963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Line 252"/>
          <p:cNvSpPr>
            <a:spLocks noChangeShapeType="1"/>
          </p:cNvSpPr>
          <p:nvPr/>
        </p:nvSpPr>
        <p:spPr bwMode="gray">
          <a:xfrm>
            <a:off x="8292405" y="3883538"/>
            <a:ext cx="0" cy="1406525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Line 257"/>
          <p:cNvSpPr>
            <a:spLocks noChangeShapeType="1"/>
          </p:cNvSpPr>
          <p:nvPr/>
        </p:nvSpPr>
        <p:spPr bwMode="gray">
          <a:xfrm>
            <a:off x="3013968" y="4750313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Line 258"/>
          <p:cNvSpPr>
            <a:spLocks noChangeShapeType="1"/>
          </p:cNvSpPr>
          <p:nvPr/>
        </p:nvSpPr>
        <p:spPr bwMode="gray">
          <a:xfrm>
            <a:off x="9249668" y="4740788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Text Box 269"/>
          <p:cNvSpPr txBox="1">
            <a:spLocks noChangeArrowheads="1"/>
          </p:cNvSpPr>
          <p:nvPr/>
        </p:nvSpPr>
        <p:spPr bwMode="gray">
          <a:xfrm>
            <a:off x="5139630" y="2577025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131" name="AutoShape 302"/>
          <p:cNvSpPr>
            <a:spLocks noChangeArrowheads="1"/>
          </p:cNvSpPr>
          <p:nvPr/>
        </p:nvSpPr>
        <p:spPr bwMode="gray">
          <a:xfrm rot="5400000">
            <a:off x="5927823" y="3106457"/>
            <a:ext cx="404813" cy="5187950"/>
          </a:xfrm>
          <a:prstGeom prst="can">
            <a:avLst>
              <a:gd name="adj" fmla="val 29073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AutoShape 301"/>
          <p:cNvSpPr>
            <a:spLocks noChangeArrowheads="1"/>
          </p:cNvSpPr>
          <p:nvPr/>
        </p:nvSpPr>
        <p:spPr bwMode="gray">
          <a:xfrm rot="5400000">
            <a:off x="7253386" y="4720944"/>
            <a:ext cx="611188" cy="1962150"/>
          </a:xfrm>
          <a:prstGeom prst="can">
            <a:avLst>
              <a:gd name="adj" fmla="val 31970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Line 306"/>
          <p:cNvSpPr>
            <a:spLocks noChangeShapeType="1"/>
          </p:cNvSpPr>
          <p:nvPr/>
        </p:nvSpPr>
        <p:spPr bwMode="gray">
          <a:xfrm>
            <a:off x="6609655" y="3964500"/>
            <a:ext cx="0" cy="1404938"/>
          </a:xfrm>
          <a:prstGeom prst="line">
            <a:avLst/>
          </a:prstGeom>
          <a:noFill/>
          <a:ln w="19050" cap="rnd">
            <a:solidFill>
              <a:srgbClr val="CB3778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6" name="Line 307"/>
          <p:cNvSpPr>
            <a:spLocks noChangeShapeType="1"/>
          </p:cNvSpPr>
          <p:nvPr/>
        </p:nvSpPr>
        <p:spPr bwMode="gray">
          <a:xfrm>
            <a:off x="8457505" y="3958150"/>
            <a:ext cx="0" cy="1404938"/>
          </a:xfrm>
          <a:prstGeom prst="line">
            <a:avLst/>
          </a:prstGeom>
          <a:noFill/>
          <a:ln w="19050" cap="rnd">
            <a:solidFill>
              <a:srgbClr val="CB3778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Text Box 315"/>
          <p:cNvSpPr txBox="1">
            <a:spLocks noChangeArrowheads="1"/>
          </p:cNvSpPr>
          <p:nvPr/>
        </p:nvSpPr>
        <p:spPr bwMode="gray">
          <a:xfrm>
            <a:off x="4391918" y="354222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39" name="Text Box 316"/>
          <p:cNvSpPr txBox="1">
            <a:spLocks noChangeArrowheads="1"/>
          </p:cNvSpPr>
          <p:nvPr/>
        </p:nvSpPr>
        <p:spPr bwMode="gray">
          <a:xfrm>
            <a:off x="7393880" y="354540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40" name="Text Box 36"/>
          <p:cNvSpPr txBox="1">
            <a:spLocks noChangeArrowheads="1"/>
          </p:cNvSpPr>
          <p:nvPr/>
        </p:nvSpPr>
        <p:spPr bwMode="gray">
          <a:xfrm>
            <a:off x="3109069" y="2991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41" name="Text Box 36"/>
          <p:cNvSpPr txBox="1">
            <a:spLocks noChangeArrowheads="1"/>
          </p:cNvSpPr>
          <p:nvPr/>
        </p:nvSpPr>
        <p:spPr bwMode="gray">
          <a:xfrm>
            <a:off x="7789589" y="2991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45" name="AutoShape 297"/>
          <p:cNvSpPr>
            <a:spLocks noChangeArrowheads="1"/>
          </p:cNvSpPr>
          <p:nvPr/>
        </p:nvSpPr>
        <p:spPr bwMode="gray">
          <a:xfrm rot="5400000">
            <a:off x="4115691" y="4978913"/>
            <a:ext cx="809625" cy="1536700"/>
          </a:xfrm>
          <a:prstGeom prst="can">
            <a:avLst>
              <a:gd name="adj" fmla="val 25441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AutoShape 298"/>
          <p:cNvSpPr>
            <a:spLocks noChangeArrowheads="1"/>
          </p:cNvSpPr>
          <p:nvPr/>
        </p:nvSpPr>
        <p:spPr bwMode="gray">
          <a:xfrm rot="5400000">
            <a:off x="5726211" y="5206719"/>
            <a:ext cx="611188" cy="990600"/>
          </a:xfrm>
          <a:prstGeom prst="can">
            <a:avLst>
              <a:gd name="adj" fmla="val 26227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AutoShape 299"/>
          <p:cNvSpPr>
            <a:spLocks noChangeArrowheads="1"/>
          </p:cNvSpPr>
          <p:nvPr/>
        </p:nvSpPr>
        <p:spPr bwMode="gray">
          <a:xfrm rot="5400000">
            <a:off x="7142260" y="4982882"/>
            <a:ext cx="809625" cy="1503362"/>
          </a:xfrm>
          <a:prstGeom prst="can">
            <a:avLst>
              <a:gd name="adj" fmla="val 25000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71" name="Picture 17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39331" y="4336263"/>
            <a:ext cx="436636" cy="395012"/>
          </a:xfrm>
          <a:prstGeom prst="rect">
            <a:avLst/>
          </a:prstGeom>
          <a:noFill/>
        </p:spPr>
      </p:pic>
      <p:pic>
        <p:nvPicPr>
          <p:cNvPr id="172" name="Picture 17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473512" y="3621660"/>
            <a:ext cx="436636" cy="395012"/>
          </a:xfrm>
          <a:prstGeom prst="rect">
            <a:avLst/>
          </a:prstGeom>
          <a:noFill/>
        </p:spPr>
      </p:pic>
      <p:pic>
        <p:nvPicPr>
          <p:cNvPr id="173" name="Picture 17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405436" y="3212300"/>
            <a:ext cx="436636" cy="395012"/>
          </a:xfrm>
          <a:prstGeom prst="rect">
            <a:avLst/>
          </a:prstGeom>
          <a:noFill/>
        </p:spPr>
      </p:pic>
      <p:pic>
        <p:nvPicPr>
          <p:cNvPr id="174" name="Picture 17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158681" y="3546134"/>
            <a:ext cx="436636" cy="395012"/>
          </a:xfrm>
          <a:prstGeom prst="rect">
            <a:avLst/>
          </a:prstGeom>
          <a:noFill/>
        </p:spPr>
      </p:pic>
      <p:pic>
        <p:nvPicPr>
          <p:cNvPr id="175" name="Picture 17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513797" y="3574993"/>
            <a:ext cx="436636" cy="395012"/>
          </a:xfrm>
          <a:prstGeom prst="rect">
            <a:avLst/>
          </a:prstGeom>
          <a:noFill/>
        </p:spPr>
      </p:pic>
      <p:pic>
        <p:nvPicPr>
          <p:cNvPr id="176" name="Picture 17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07398" y="3231214"/>
            <a:ext cx="436636" cy="395012"/>
          </a:xfrm>
          <a:prstGeom prst="rect">
            <a:avLst/>
          </a:prstGeom>
          <a:noFill/>
        </p:spPr>
      </p:pic>
      <p:pic>
        <p:nvPicPr>
          <p:cNvPr id="177" name="Picture 17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16638" y="3527296"/>
            <a:ext cx="436636" cy="395012"/>
          </a:xfrm>
          <a:prstGeom prst="rect">
            <a:avLst/>
          </a:prstGeom>
          <a:noFill/>
        </p:spPr>
      </p:pic>
      <p:pic>
        <p:nvPicPr>
          <p:cNvPr id="178" name="Picture 17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08313" y="4382944"/>
            <a:ext cx="436636" cy="395012"/>
          </a:xfrm>
          <a:prstGeom prst="rect">
            <a:avLst/>
          </a:prstGeom>
          <a:noFill/>
        </p:spPr>
      </p:pic>
      <p:sp>
        <p:nvSpPr>
          <p:cNvPr id="83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4" name="五边形 83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85" name="圆角矩形 84"/>
          <p:cNvSpPr/>
          <p:nvPr/>
        </p:nvSpPr>
        <p:spPr bwMode="gray">
          <a:xfrm>
            <a:off x="3291848" y="2753710"/>
            <a:ext cx="2397931" cy="140836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圆角矩形 85"/>
          <p:cNvSpPr/>
          <p:nvPr/>
        </p:nvSpPr>
        <p:spPr bwMode="gray">
          <a:xfrm>
            <a:off x="2213975" y="4235089"/>
            <a:ext cx="995311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圆角矩形 86"/>
          <p:cNvSpPr/>
          <p:nvPr/>
        </p:nvSpPr>
        <p:spPr bwMode="gray">
          <a:xfrm>
            <a:off x="8941717" y="4235089"/>
            <a:ext cx="995311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圆角矩形 87"/>
          <p:cNvSpPr/>
          <p:nvPr/>
        </p:nvSpPr>
        <p:spPr bwMode="gray">
          <a:xfrm>
            <a:off x="6402565" y="2753710"/>
            <a:ext cx="2397931" cy="140836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AutoShape 93"/>
          <p:cNvSpPr>
            <a:spLocks noChangeArrowheads="1"/>
          </p:cNvSpPr>
          <p:nvPr/>
        </p:nvSpPr>
        <p:spPr bwMode="gray">
          <a:xfrm rot="5400000">
            <a:off x="10600551" y="4966141"/>
            <a:ext cx="150924" cy="641816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10996921" y="5114136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AutoShape 93"/>
          <p:cNvSpPr>
            <a:spLocks noChangeArrowheads="1"/>
          </p:cNvSpPr>
          <p:nvPr/>
        </p:nvSpPr>
        <p:spPr bwMode="gray">
          <a:xfrm rot="5400000">
            <a:off x="10600551" y="5214516"/>
            <a:ext cx="150924" cy="641816"/>
          </a:xfrm>
          <a:prstGeom prst="can">
            <a:avLst>
              <a:gd name="adj" fmla="val 77995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10996921" y="5362511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AutoShape 93"/>
          <p:cNvSpPr>
            <a:spLocks noChangeArrowheads="1"/>
          </p:cNvSpPr>
          <p:nvPr/>
        </p:nvSpPr>
        <p:spPr bwMode="gray">
          <a:xfrm rot="5400000">
            <a:off x="10600551" y="5462891"/>
            <a:ext cx="150924" cy="641816"/>
          </a:xfrm>
          <a:prstGeom prst="can">
            <a:avLst>
              <a:gd name="adj" fmla="val 77995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10996921" y="5610886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AutoShape 93"/>
          <p:cNvSpPr>
            <a:spLocks noChangeArrowheads="1"/>
          </p:cNvSpPr>
          <p:nvPr/>
        </p:nvSpPr>
        <p:spPr bwMode="gray">
          <a:xfrm rot="5400000">
            <a:off x="10600551" y="5669873"/>
            <a:ext cx="150924" cy="641816"/>
          </a:xfrm>
          <a:prstGeom prst="can">
            <a:avLst>
              <a:gd name="adj" fmla="val 77995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10996921" y="5817868"/>
            <a:ext cx="771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0420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方式一控制平面：无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6" name="Text Box 342"/>
          <p:cNvSpPr txBox="1">
            <a:spLocks noChangeArrowheads="1"/>
          </p:cNvSpPr>
          <p:nvPr/>
        </p:nvSpPr>
        <p:spPr bwMode="gray">
          <a:xfrm>
            <a:off x="6838132" y="4975225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7" name="Text Box 343"/>
          <p:cNvSpPr txBox="1">
            <a:spLocks noChangeArrowheads="1"/>
          </p:cNvSpPr>
          <p:nvPr/>
        </p:nvSpPr>
        <p:spPr bwMode="gray">
          <a:xfrm>
            <a:off x="60999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8" name="Text Box 344"/>
          <p:cNvSpPr txBox="1">
            <a:spLocks noChangeArrowheads="1"/>
          </p:cNvSpPr>
          <p:nvPr/>
        </p:nvSpPr>
        <p:spPr bwMode="gray">
          <a:xfrm>
            <a:off x="52236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9" name="Text Box 345"/>
          <p:cNvSpPr txBox="1">
            <a:spLocks noChangeArrowheads="1"/>
          </p:cNvSpPr>
          <p:nvPr/>
        </p:nvSpPr>
        <p:spPr bwMode="gray">
          <a:xfrm>
            <a:off x="3775844" y="3992587"/>
            <a:ext cx="1597025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Labeled IPv4</a:t>
            </a:r>
          </a:p>
        </p:txBody>
      </p:sp>
      <p:sp>
        <p:nvSpPr>
          <p:cNvPr id="10" name="Text Box 346"/>
          <p:cNvSpPr txBox="1">
            <a:spLocks noChangeArrowheads="1"/>
          </p:cNvSpPr>
          <p:nvPr/>
        </p:nvSpPr>
        <p:spPr bwMode="gray">
          <a:xfrm>
            <a:off x="1237432" y="4975225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1" name="Text Box 347"/>
          <p:cNvSpPr txBox="1">
            <a:spLocks noChangeArrowheads="1"/>
          </p:cNvSpPr>
          <p:nvPr/>
        </p:nvSpPr>
        <p:spPr bwMode="gray">
          <a:xfrm>
            <a:off x="30519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2" name="Text Box 348"/>
          <p:cNvSpPr txBox="1">
            <a:spLocks noChangeArrowheads="1"/>
          </p:cNvSpPr>
          <p:nvPr/>
        </p:nvSpPr>
        <p:spPr bwMode="gray">
          <a:xfrm>
            <a:off x="22518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5" name="Text Box 351"/>
          <p:cNvSpPr txBox="1">
            <a:spLocks noChangeArrowheads="1"/>
          </p:cNvSpPr>
          <p:nvPr/>
        </p:nvSpPr>
        <p:spPr bwMode="gray">
          <a:xfrm>
            <a:off x="819097" y="3227388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6" name="Text Box 352"/>
          <p:cNvSpPr txBox="1">
            <a:spLocks noChangeArrowheads="1"/>
          </p:cNvSpPr>
          <p:nvPr/>
        </p:nvSpPr>
        <p:spPr bwMode="gray">
          <a:xfrm>
            <a:off x="7659014" y="3221038"/>
            <a:ext cx="6524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7" name="Text Box 353"/>
          <p:cNvSpPr txBox="1">
            <a:spLocks noChangeArrowheads="1"/>
          </p:cNvSpPr>
          <p:nvPr/>
        </p:nvSpPr>
        <p:spPr bwMode="gray">
          <a:xfrm>
            <a:off x="511944" y="2790825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8" name="Text Box 354"/>
          <p:cNvSpPr txBox="1">
            <a:spLocks noChangeArrowheads="1"/>
          </p:cNvSpPr>
          <p:nvPr/>
        </p:nvSpPr>
        <p:spPr bwMode="gray">
          <a:xfrm>
            <a:off x="7757736" y="2790825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9" name="Line 355"/>
          <p:cNvSpPr>
            <a:spLocks noChangeShapeType="1"/>
          </p:cNvSpPr>
          <p:nvPr/>
        </p:nvSpPr>
        <p:spPr bwMode="gray">
          <a:xfrm flipV="1">
            <a:off x="1354907" y="239236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Line 356"/>
          <p:cNvSpPr>
            <a:spLocks noChangeShapeType="1"/>
          </p:cNvSpPr>
          <p:nvPr/>
        </p:nvSpPr>
        <p:spPr bwMode="gray">
          <a:xfrm>
            <a:off x="7052444" y="2392363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Line 368"/>
          <p:cNvSpPr>
            <a:spLocks noChangeShapeType="1"/>
          </p:cNvSpPr>
          <p:nvPr/>
        </p:nvSpPr>
        <p:spPr bwMode="gray">
          <a:xfrm>
            <a:off x="1385069" y="3271838"/>
            <a:ext cx="0" cy="25241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Line 369"/>
          <p:cNvSpPr>
            <a:spLocks noChangeShapeType="1"/>
          </p:cNvSpPr>
          <p:nvPr/>
        </p:nvSpPr>
        <p:spPr bwMode="gray">
          <a:xfrm>
            <a:off x="2266132" y="2478088"/>
            <a:ext cx="1587" cy="34337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Line 370"/>
          <p:cNvSpPr>
            <a:spLocks noChangeShapeType="1"/>
          </p:cNvSpPr>
          <p:nvPr/>
        </p:nvSpPr>
        <p:spPr bwMode="gray">
          <a:xfrm>
            <a:off x="3934594" y="2474913"/>
            <a:ext cx="0" cy="238283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Line 371"/>
          <p:cNvSpPr>
            <a:spLocks noChangeShapeType="1"/>
          </p:cNvSpPr>
          <p:nvPr/>
        </p:nvSpPr>
        <p:spPr bwMode="gray">
          <a:xfrm>
            <a:off x="5166494" y="2449513"/>
            <a:ext cx="0" cy="24733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Line 372"/>
          <p:cNvSpPr>
            <a:spLocks noChangeShapeType="1"/>
          </p:cNvSpPr>
          <p:nvPr/>
        </p:nvSpPr>
        <p:spPr bwMode="gray">
          <a:xfrm>
            <a:off x="6981007" y="2528888"/>
            <a:ext cx="12700" cy="33623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Line 373"/>
          <p:cNvSpPr>
            <a:spLocks noChangeShapeType="1"/>
          </p:cNvSpPr>
          <p:nvPr/>
        </p:nvSpPr>
        <p:spPr bwMode="gray">
          <a:xfrm>
            <a:off x="7827144" y="3324225"/>
            <a:ext cx="14288" cy="2389188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Line 374"/>
          <p:cNvSpPr>
            <a:spLocks noChangeShapeType="1"/>
          </p:cNvSpPr>
          <p:nvPr/>
        </p:nvSpPr>
        <p:spPr bwMode="gray">
          <a:xfrm>
            <a:off x="3055119" y="2360613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Line 375"/>
          <p:cNvSpPr>
            <a:spLocks noChangeShapeType="1"/>
          </p:cNvSpPr>
          <p:nvPr/>
        </p:nvSpPr>
        <p:spPr bwMode="gray">
          <a:xfrm>
            <a:off x="6072957" y="2373313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Line 376"/>
          <p:cNvSpPr>
            <a:spLocks noChangeShapeType="1"/>
          </p:cNvSpPr>
          <p:nvPr/>
        </p:nvSpPr>
        <p:spPr bwMode="gray">
          <a:xfrm>
            <a:off x="2256607" y="3379788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Line 377"/>
          <p:cNvSpPr>
            <a:spLocks noChangeShapeType="1"/>
          </p:cNvSpPr>
          <p:nvPr/>
        </p:nvSpPr>
        <p:spPr bwMode="gray">
          <a:xfrm>
            <a:off x="3032894" y="3379788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2" name="Group 378"/>
          <p:cNvGrpSpPr>
            <a:grpSpLocks/>
          </p:cNvGrpSpPr>
          <p:nvPr/>
        </p:nvGrpSpPr>
        <p:grpSpPr bwMode="gray">
          <a:xfrm>
            <a:off x="2132671" y="3436938"/>
            <a:ext cx="1033462" cy="420687"/>
            <a:chOff x="1404" y="2356"/>
            <a:chExt cx="498" cy="265"/>
          </a:xfrm>
        </p:grpSpPr>
        <p:sp>
          <p:nvSpPr>
            <p:cNvPr id="43" name="AutoShape 379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4" name="Group 380"/>
            <p:cNvGrpSpPr>
              <a:grpSpLocks/>
            </p:cNvGrpSpPr>
            <p:nvPr/>
          </p:nvGrpSpPr>
          <p:grpSpPr bwMode="gray">
            <a:xfrm>
              <a:off x="1404" y="2356"/>
              <a:ext cx="498" cy="265"/>
              <a:chOff x="1404" y="2356"/>
              <a:chExt cx="498" cy="265"/>
            </a:xfrm>
          </p:grpSpPr>
          <p:sp>
            <p:nvSpPr>
              <p:cNvPr id="45" name="Text Box 381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PE1</a:t>
                </a:r>
              </a:p>
            </p:txBody>
          </p:sp>
          <p:sp>
            <p:nvSpPr>
              <p:cNvPr id="46" name="Text Box 382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T1</a:t>
                </a:r>
              </a:p>
            </p:txBody>
          </p:sp>
        </p:grpSp>
      </p:grpSp>
      <p:sp>
        <p:nvSpPr>
          <p:cNvPr id="47" name="Line 383"/>
          <p:cNvSpPr>
            <a:spLocks noChangeShapeType="1"/>
          </p:cNvSpPr>
          <p:nvPr/>
        </p:nvSpPr>
        <p:spPr bwMode="gray">
          <a:xfrm>
            <a:off x="1375544" y="5253038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8" name="Group 384"/>
          <p:cNvGrpSpPr>
            <a:grpSpLocks/>
          </p:cNvGrpSpPr>
          <p:nvPr/>
        </p:nvGrpSpPr>
        <p:grpSpPr bwMode="gray">
          <a:xfrm>
            <a:off x="3593283" y="5435600"/>
            <a:ext cx="1789112" cy="631825"/>
            <a:chOff x="1423" y="3266"/>
            <a:chExt cx="977" cy="489"/>
          </a:xfrm>
        </p:grpSpPr>
        <p:sp>
          <p:nvSpPr>
            <p:cNvPr id="49" name="AutoShape 385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" name="Text Box 386"/>
            <p:cNvSpPr txBox="1">
              <a:spLocks noChangeArrowheads="1"/>
            </p:cNvSpPr>
            <p:nvPr/>
          </p:nvSpPr>
          <p:spPr bwMode="gray">
            <a:xfrm>
              <a:off x="1423" y="3323"/>
              <a:ext cx="977" cy="1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51" name="Rectangle 387"/>
            <p:cNvSpPr>
              <a:spLocks noChangeArrowheads="1"/>
            </p:cNvSpPr>
            <p:nvPr/>
          </p:nvSpPr>
          <p:spPr bwMode="gray">
            <a:xfrm>
              <a:off x="1423" y="3416"/>
              <a:ext cx="898" cy="21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PE1</a:t>
              </a:r>
            </a:p>
          </p:txBody>
        </p:sp>
        <p:sp>
          <p:nvSpPr>
            <p:cNvPr id="52" name="Rectangle 388"/>
            <p:cNvSpPr>
              <a:spLocks noChangeArrowheads="1"/>
            </p:cNvSpPr>
            <p:nvPr/>
          </p:nvSpPr>
          <p:spPr bwMode="gray">
            <a:xfrm>
              <a:off x="1423" y="3539"/>
              <a:ext cx="898" cy="21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V1</a:t>
              </a:r>
            </a:p>
          </p:txBody>
        </p:sp>
      </p:grpSp>
      <p:grpSp>
        <p:nvGrpSpPr>
          <p:cNvPr id="53" name="Group 389"/>
          <p:cNvGrpSpPr>
            <a:grpSpLocks/>
          </p:cNvGrpSpPr>
          <p:nvPr/>
        </p:nvGrpSpPr>
        <p:grpSpPr bwMode="gray">
          <a:xfrm>
            <a:off x="1364431" y="5405438"/>
            <a:ext cx="1028699" cy="528637"/>
            <a:chOff x="855" y="3163"/>
            <a:chExt cx="648" cy="333"/>
          </a:xfrm>
        </p:grpSpPr>
        <p:sp>
          <p:nvSpPr>
            <p:cNvPr id="54" name="AutoShape 390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5" name="Text Box 391"/>
            <p:cNvSpPr txBox="1">
              <a:spLocks noChangeArrowheads="1"/>
            </p:cNvSpPr>
            <p:nvPr/>
          </p:nvSpPr>
          <p:spPr bwMode="gray">
            <a:xfrm>
              <a:off x="855" y="3174"/>
              <a:ext cx="648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56" name="Text Box 392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CE1</a:t>
              </a:r>
            </a:p>
          </p:txBody>
        </p:sp>
      </p:grpSp>
      <p:sp>
        <p:nvSpPr>
          <p:cNvPr id="57" name="Line 393"/>
          <p:cNvSpPr>
            <a:spLocks noChangeShapeType="1"/>
          </p:cNvSpPr>
          <p:nvPr/>
        </p:nvSpPr>
        <p:spPr bwMode="gray">
          <a:xfrm>
            <a:off x="3944119" y="4231221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Line 394"/>
          <p:cNvSpPr>
            <a:spLocks noChangeShapeType="1"/>
          </p:cNvSpPr>
          <p:nvPr/>
        </p:nvSpPr>
        <p:spPr bwMode="gray">
          <a:xfrm>
            <a:off x="5171257" y="3379788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Line 395"/>
          <p:cNvSpPr>
            <a:spLocks noChangeShapeType="1"/>
          </p:cNvSpPr>
          <p:nvPr/>
        </p:nvSpPr>
        <p:spPr bwMode="gray">
          <a:xfrm>
            <a:off x="6076132" y="3379788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Line 396"/>
          <p:cNvSpPr>
            <a:spLocks noChangeShapeType="1"/>
          </p:cNvSpPr>
          <p:nvPr/>
        </p:nvSpPr>
        <p:spPr bwMode="gray">
          <a:xfrm>
            <a:off x="5145857" y="4231221"/>
            <a:ext cx="18415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" name="Text Box 397"/>
          <p:cNvSpPr txBox="1">
            <a:spLocks noChangeArrowheads="1"/>
          </p:cNvSpPr>
          <p:nvPr/>
        </p:nvSpPr>
        <p:spPr bwMode="gray">
          <a:xfrm>
            <a:off x="5410969" y="3985580"/>
            <a:ext cx="1425575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Labeled IPv4</a:t>
            </a:r>
          </a:p>
        </p:txBody>
      </p:sp>
      <p:sp>
        <p:nvSpPr>
          <p:cNvPr id="62" name="Line 398"/>
          <p:cNvSpPr>
            <a:spLocks noChangeShapeType="1"/>
          </p:cNvSpPr>
          <p:nvPr/>
        </p:nvSpPr>
        <p:spPr bwMode="gray">
          <a:xfrm>
            <a:off x="6974657" y="5253038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3" name="Group 399"/>
          <p:cNvGrpSpPr>
            <a:grpSpLocks/>
          </p:cNvGrpSpPr>
          <p:nvPr/>
        </p:nvGrpSpPr>
        <p:grpSpPr bwMode="gray">
          <a:xfrm>
            <a:off x="6947670" y="5405438"/>
            <a:ext cx="1104901" cy="528637"/>
            <a:chOff x="855" y="3163"/>
            <a:chExt cx="696" cy="333"/>
          </a:xfrm>
        </p:grpSpPr>
        <p:sp>
          <p:nvSpPr>
            <p:cNvPr id="64" name="AutoShape 400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Text Box 401"/>
            <p:cNvSpPr txBox="1">
              <a:spLocks noChangeArrowheads="1"/>
            </p:cNvSpPr>
            <p:nvPr/>
          </p:nvSpPr>
          <p:spPr bwMode="gray">
            <a:xfrm>
              <a:off x="855" y="3174"/>
              <a:ext cx="696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66" name="Text Box 402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PE2</a:t>
              </a:r>
            </a:p>
          </p:txBody>
        </p:sp>
      </p:grpSp>
      <p:sp>
        <p:nvSpPr>
          <p:cNvPr id="67" name="Line 403"/>
          <p:cNvSpPr>
            <a:spLocks noChangeShapeType="1"/>
          </p:cNvSpPr>
          <p:nvPr/>
        </p:nvSpPr>
        <p:spPr bwMode="gray">
          <a:xfrm flipH="1">
            <a:off x="787201" y="3163888"/>
            <a:ext cx="413717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8" name="Text Box 404"/>
          <p:cNvSpPr txBox="1">
            <a:spLocks noChangeArrowheads="1"/>
          </p:cNvSpPr>
          <p:nvPr/>
        </p:nvSpPr>
        <p:spPr bwMode="gray">
          <a:xfrm>
            <a:off x="372024" y="3251899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80" name="Text Box 416"/>
          <p:cNvSpPr txBox="1">
            <a:spLocks noChangeArrowheads="1"/>
          </p:cNvSpPr>
          <p:nvPr/>
        </p:nvSpPr>
        <p:spPr bwMode="gray">
          <a:xfrm>
            <a:off x="2372715" y="2228899"/>
            <a:ext cx="5609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81" name="Text Box 417"/>
          <p:cNvSpPr txBox="1">
            <a:spLocks noChangeArrowheads="1"/>
          </p:cNvSpPr>
          <p:nvPr/>
        </p:nvSpPr>
        <p:spPr bwMode="gray">
          <a:xfrm>
            <a:off x="6279333" y="2130425"/>
            <a:ext cx="5635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82" name="Text Box 418"/>
          <p:cNvSpPr txBox="1">
            <a:spLocks noChangeArrowheads="1"/>
          </p:cNvSpPr>
          <p:nvPr/>
        </p:nvSpPr>
        <p:spPr bwMode="gray">
          <a:xfrm>
            <a:off x="2975744" y="235585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83" name="Text Box 419"/>
          <p:cNvSpPr txBox="1">
            <a:spLocks noChangeArrowheads="1"/>
          </p:cNvSpPr>
          <p:nvPr/>
        </p:nvSpPr>
        <p:spPr bwMode="gray">
          <a:xfrm>
            <a:off x="5133319" y="2355850"/>
            <a:ext cx="10525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84" name="Text Box 420"/>
          <p:cNvSpPr txBox="1">
            <a:spLocks noChangeArrowheads="1"/>
          </p:cNvSpPr>
          <p:nvPr/>
        </p:nvSpPr>
        <p:spPr bwMode="gray">
          <a:xfrm>
            <a:off x="2121669" y="117951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85" name="Line 421"/>
          <p:cNvSpPr>
            <a:spLocks noChangeShapeType="1"/>
          </p:cNvSpPr>
          <p:nvPr/>
        </p:nvSpPr>
        <p:spPr bwMode="gray">
          <a:xfrm flipV="1">
            <a:off x="2393132" y="194786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Line 422"/>
          <p:cNvSpPr>
            <a:spLocks noChangeShapeType="1"/>
          </p:cNvSpPr>
          <p:nvPr/>
        </p:nvSpPr>
        <p:spPr bwMode="gray">
          <a:xfrm>
            <a:off x="3234507" y="198596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Line 423"/>
          <p:cNvSpPr>
            <a:spLocks noChangeShapeType="1"/>
          </p:cNvSpPr>
          <p:nvPr/>
        </p:nvSpPr>
        <p:spPr bwMode="gray">
          <a:xfrm flipV="1">
            <a:off x="5363344" y="195738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Line 424"/>
          <p:cNvSpPr>
            <a:spLocks noChangeShapeType="1"/>
          </p:cNvSpPr>
          <p:nvPr/>
        </p:nvSpPr>
        <p:spPr bwMode="gray">
          <a:xfrm>
            <a:off x="6265044" y="194786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Line 425"/>
          <p:cNvSpPr>
            <a:spLocks noChangeShapeType="1"/>
          </p:cNvSpPr>
          <p:nvPr/>
        </p:nvSpPr>
        <p:spPr bwMode="gray">
          <a:xfrm>
            <a:off x="4112394" y="225583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Text Box 470"/>
          <p:cNvSpPr txBox="1">
            <a:spLocks noChangeArrowheads="1"/>
          </p:cNvSpPr>
          <p:nvPr/>
        </p:nvSpPr>
        <p:spPr bwMode="gray">
          <a:xfrm>
            <a:off x="3613919" y="1089025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135" name="Text Box 472"/>
          <p:cNvSpPr txBox="1">
            <a:spLocks noChangeArrowheads="1"/>
          </p:cNvSpPr>
          <p:nvPr/>
        </p:nvSpPr>
        <p:spPr bwMode="gray">
          <a:xfrm>
            <a:off x="5176019" y="117951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grpSp>
        <p:nvGrpSpPr>
          <p:cNvPr id="158" name="Group 495"/>
          <p:cNvGrpSpPr>
            <a:grpSpLocks/>
          </p:cNvGrpSpPr>
          <p:nvPr/>
        </p:nvGrpSpPr>
        <p:grpSpPr bwMode="gray">
          <a:xfrm>
            <a:off x="3024957" y="3436938"/>
            <a:ext cx="996950" cy="420687"/>
            <a:chOff x="1404" y="2356"/>
            <a:chExt cx="498" cy="265"/>
          </a:xfrm>
        </p:grpSpPr>
        <p:sp>
          <p:nvSpPr>
            <p:cNvPr id="159" name="AutoShape 496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60" name="Group 497"/>
            <p:cNvGrpSpPr>
              <a:grpSpLocks/>
            </p:cNvGrpSpPr>
            <p:nvPr/>
          </p:nvGrpSpPr>
          <p:grpSpPr bwMode="gray">
            <a:xfrm>
              <a:off x="1404" y="2356"/>
              <a:ext cx="498" cy="265"/>
              <a:chOff x="1404" y="2356"/>
              <a:chExt cx="498" cy="265"/>
            </a:xfrm>
          </p:grpSpPr>
          <p:sp>
            <p:nvSpPr>
              <p:cNvPr id="161" name="Text Box 498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PE1</a:t>
                </a:r>
              </a:p>
            </p:txBody>
          </p:sp>
          <p:sp>
            <p:nvSpPr>
              <p:cNvPr id="162" name="Text Box 499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T2</a:t>
                </a:r>
              </a:p>
            </p:txBody>
          </p:sp>
        </p:grpSp>
      </p:grpSp>
      <p:grpSp>
        <p:nvGrpSpPr>
          <p:cNvPr id="163" name="Group 500"/>
          <p:cNvGrpSpPr>
            <a:grpSpLocks/>
          </p:cNvGrpSpPr>
          <p:nvPr/>
        </p:nvGrpSpPr>
        <p:grpSpPr bwMode="gray">
          <a:xfrm>
            <a:off x="5107755" y="3436938"/>
            <a:ext cx="1082713" cy="580930"/>
            <a:chOff x="1404" y="2356"/>
            <a:chExt cx="498" cy="247"/>
          </a:xfrm>
        </p:grpSpPr>
        <p:sp>
          <p:nvSpPr>
            <p:cNvPr id="164" name="AutoShape 501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65" name="Group 502"/>
            <p:cNvGrpSpPr>
              <a:grpSpLocks/>
            </p:cNvGrpSpPr>
            <p:nvPr/>
          </p:nvGrpSpPr>
          <p:grpSpPr bwMode="gray">
            <a:xfrm>
              <a:off x="1404" y="2356"/>
              <a:ext cx="498" cy="210"/>
              <a:chOff x="1404" y="2356"/>
              <a:chExt cx="498" cy="210"/>
            </a:xfrm>
          </p:grpSpPr>
          <p:sp>
            <p:nvSpPr>
              <p:cNvPr id="166" name="Text Box 503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1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ASBR2</a:t>
                </a:r>
              </a:p>
            </p:txBody>
          </p:sp>
          <p:sp>
            <p:nvSpPr>
              <p:cNvPr id="167" name="Text Box 504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1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T3</a:t>
                </a:r>
              </a:p>
            </p:txBody>
          </p:sp>
        </p:grpSp>
      </p:grpSp>
      <p:grpSp>
        <p:nvGrpSpPr>
          <p:cNvPr id="168" name="Group 505"/>
          <p:cNvGrpSpPr>
            <a:grpSpLocks/>
          </p:cNvGrpSpPr>
          <p:nvPr/>
        </p:nvGrpSpPr>
        <p:grpSpPr bwMode="gray">
          <a:xfrm>
            <a:off x="6057082" y="3436935"/>
            <a:ext cx="1023936" cy="542462"/>
            <a:chOff x="1404" y="2356"/>
            <a:chExt cx="498" cy="247"/>
          </a:xfrm>
        </p:grpSpPr>
        <p:sp>
          <p:nvSpPr>
            <p:cNvPr id="169" name="AutoShape 506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70" name="Group 507"/>
            <p:cNvGrpSpPr>
              <a:grpSpLocks/>
            </p:cNvGrpSpPr>
            <p:nvPr/>
          </p:nvGrpSpPr>
          <p:grpSpPr bwMode="gray">
            <a:xfrm>
              <a:off x="1404" y="2356"/>
              <a:ext cx="498" cy="218"/>
              <a:chOff x="1404" y="2356"/>
              <a:chExt cx="498" cy="218"/>
            </a:xfrm>
          </p:grpSpPr>
          <p:sp>
            <p:nvSpPr>
              <p:cNvPr id="171" name="Text Box 508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2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ASBR2</a:t>
                </a:r>
              </a:p>
            </p:txBody>
          </p:sp>
          <p:sp>
            <p:nvSpPr>
              <p:cNvPr id="172" name="Text Box 509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2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T4</a:t>
                </a:r>
              </a:p>
            </p:txBody>
          </p:sp>
        </p:grpSp>
      </p:grpSp>
      <p:grpSp>
        <p:nvGrpSpPr>
          <p:cNvPr id="173" name="Group 510"/>
          <p:cNvGrpSpPr>
            <a:grpSpLocks/>
          </p:cNvGrpSpPr>
          <p:nvPr/>
        </p:nvGrpSpPr>
        <p:grpSpPr bwMode="gray">
          <a:xfrm>
            <a:off x="5355407" y="4375237"/>
            <a:ext cx="1260475" cy="630237"/>
            <a:chOff x="3351" y="2808"/>
            <a:chExt cx="794" cy="397"/>
          </a:xfrm>
        </p:grpSpPr>
        <p:sp>
          <p:nvSpPr>
            <p:cNvPr id="174" name="AutoShape 511"/>
            <p:cNvSpPr>
              <a:spLocks noChangeArrowheads="1"/>
            </p:cNvSpPr>
            <p:nvPr/>
          </p:nvSpPr>
          <p:spPr bwMode="gray">
            <a:xfrm rot="10800000">
              <a:off x="3368" y="2819"/>
              <a:ext cx="667" cy="386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5" name="Text Box 512"/>
            <p:cNvSpPr txBox="1">
              <a:spLocks noChangeArrowheads="1"/>
            </p:cNvSpPr>
            <p:nvPr/>
          </p:nvSpPr>
          <p:spPr bwMode="gray">
            <a:xfrm>
              <a:off x="3351" y="2808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NLRI: PE1</a:t>
              </a:r>
            </a:p>
          </p:txBody>
        </p:sp>
        <p:sp>
          <p:nvSpPr>
            <p:cNvPr id="176" name="Text Box 513"/>
            <p:cNvSpPr txBox="1">
              <a:spLocks noChangeArrowheads="1"/>
            </p:cNvSpPr>
            <p:nvPr/>
          </p:nvSpPr>
          <p:spPr bwMode="gray">
            <a:xfrm>
              <a:off x="3351" y="3006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B2</a:t>
              </a:r>
            </a:p>
          </p:txBody>
        </p:sp>
        <p:sp>
          <p:nvSpPr>
            <p:cNvPr id="177" name="Text Box 514"/>
            <p:cNvSpPr txBox="1">
              <a:spLocks noChangeArrowheads="1"/>
            </p:cNvSpPr>
            <p:nvPr/>
          </p:nvSpPr>
          <p:spPr bwMode="gray">
            <a:xfrm>
              <a:off x="3351" y="2909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ASBR2</a:t>
              </a:r>
            </a:p>
          </p:txBody>
        </p:sp>
      </p:grpSp>
      <p:grpSp>
        <p:nvGrpSpPr>
          <p:cNvPr id="178" name="Group 515"/>
          <p:cNvGrpSpPr>
            <a:grpSpLocks/>
          </p:cNvGrpSpPr>
          <p:nvPr/>
        </p:nvGrpSpPr>
        <p:grpSpPr bwMode="gray">
          <a:xfrm>
            <a:off x="3990157" y="4375237"/>
            <a:ext cx="1260475" cy="630237"/>
            <a:chOff x="3351" y="2808"/>
            <a:chExt cx="794" cy="397"/>
          </a:xfrm>
        </p:grpSpPr>
        <p:sp>
          <p:nvSpPr>
            <p:cNvPr id="179" name="AutoShape 516"/>
            <p:cNvSpPr>
              <a:spLocks noChangeArrowheads="1"/>
            </p:cNvSpPr>
            <p:nvPr/>
          </p:nvSpPr>
          <p:spPr bwMode="gray">
            <a:xfrm rot="10800000">
              <a:off x="3368" y="2819"/>
              <a:ext cx="667" cy="386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0" name="Text Box 517"/>
            <p:cNvSpPr txBox="1">
              <a:spLocks noChangeArrowheads="1"/>
            </p:cNvSpPr>
            <p:nvPr/>
          </p:nvSpPr>
          <p:spPr bwMode="gray">
            <a:xfrm>
              <a:off x="3351" y="2808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NLRI: PE1</a:t>
              </a:r>
            </a:p>
          </p:txBody>
        </p:sp>
        <p:sp>
          <p:nvSpPr>
            <p:cNvPr id="181" name="Text Box 518"/>
            <p:cNvSpPr txBox="1">
              <a:spLocks noChangeArrowheads="1"/>
            </p:cNvSpPr>
            <p:nvPr/>
          </p:nvSpPr>
          <p:spPr bwMode="gray">
            <a:xfrm>
              <a:off x="3351" y="3006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B1</a:t>
              </a:r>
            </a:p>
          </p:txBody>
        </p:sp>
        <p:sp>
          <p:nvSpPr>
            <p:cNvPr id="182" name="Text Box 519"/>
            <p:cNvSpPr txBox="1">
              <a:spLocks noChangeArrowheads="1"/>
            </p:cNvSpPr>
            <p:nvPr/>
          </p:nvSpPr>
          <p:spPr bwMode="gray">
            <a:xfrm>
              <a:off x="3351" y="2909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ASBR1</a:t>
              </a:r>
            </a:p>
          </p:txBody>
        </p:sp>
      </p:grpSp>
      <p:sp>
        <p:nvSpPr>
          <p:cNvPr id="183" name="Line 520"/>
          <p:cNvSpPr>
            <a:spLocks noChangeShapeType="1"/>
          </p:cNvSpPr>
          <p:nvPr/>
        </p:nvSpPr>
        <p:spPr bwMode="gray">
          <a:xfrm>
            <a:off x="2248669" y="5264150"/>
            <a:ext cx="4733925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4" name="Text Box 521"/>
          <p:cNvSpPr txBox="1">
            <a:spLocks noChangeArrowheads="1"/>
          </p:cNvSpPr>
          <p:nvPr/>
        </p:nvSpPr>
        <p:spPr bwMode="gray">
          <a:xfrm>
            <a:off x="3731393" y="5005388"/>
            <a:ext cx="1376363" cy="2746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sp>
        <p:nvSpPr>
          <p:cNvPr id="185" name="Text Box 522"/>
          <p:cNvSpPr txBox="1">
            <a:spLocks noChangeArrowheads="1"/>
          </p:cNvSpPr>
          <p:nvPr/>
        </p:nvSpPr>
        <p:spPr bwMode="gray">
          <a:xfrm>
            <a:off x="2866207" y="205422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86" name="Text Box 523"/>
          <p:cNvSpPr txBox="1">
            <a:spLocks noChangeArrowheads="1"/>
          </p:cNvSpPr>
          <p:nvPr/>
        </p:nvSpPr>
        <p:spPr bwMode="gray">
          <a:xfrm>
            <a:off x="5868169" y="205740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87" name="Text Box 36"/>
          <p:cNvSpPr txBox="1">
            <a:spLocks noChangeArrowheads="1"/>
          </p:cNvSpPr>
          <p:nvPr/>
        </p:nvSpPr>
        <p:spPr bwMode="gray">
          <a:xfrm>
            <a:off x="1583358" y="1503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88" name="Text Box 36"/>
          <p:cNvSpPr txBox="1">
            <a:spLocks noChangeArrowheads="1"/>
          </p:cNvSpPr>
          <p:nvPr/>
        </p:nvSpPr>
        <p:spPr bwMode="gray">
          <a:xfrm>
            <a:off x="6263878" y="1503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89" name="Arc 471"/>
          <p:cNvSpPr>
            <a:spLocks/>
          </p:cNvSpPr>
          <p:nvPr/>
        </p:nvSpPr>
        <p:spPr bwMode="gray">
          <a:xfrm rot="-23457795">
            <a:off x="3006139" y="773112"/>
            <a:ext cx="4308475" cy="4606925"/>
          </a:xfrm>
          <a:custGeom>
            <a:avLst/>
            <a:gdLst>
              <a:gd name="G0" fmla="+- 3503 0 0"/>
              <a:gd name="G1" fmla="+- 21600 0 0"/>
              <a:gd name="G2" fmla="+- 21600 0 0"/>
              <a:gd name="T0" fmla="*/ 0 w 22513"/>
              <a:gd name="T1" fmla="*/ 286 h 21600"/>
              <a:gd name="T2" fmla="*/ 22513 w 22513"/>
              <a:gd name="T3" fmla="*/ 11344 h 21600"/>
              <a:gd name="T4" fmla="*/ 3503 w 225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13" h="21600" fill="none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</a:path>
              <a:path w="22513" h="21600" stroke="0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  <a:lnTo>
                  <a:pt x="3503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90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173102" y="2882691"/>
            <a:ext cx="436636" cy="395012"/>
          </a:xfrm>
          <a:prstGeom prst="rect">
            <a:avLst/>
          </a:prstGeom>
          <a:noFill/>
        </p:spPr>
      </p:pic>
      <p:pic>
        <p:nvPicPr>
          <p:cNvPr id="191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01777" y="2112245"/>
            <a:ext cx="436636" cy="395012"/>
          </a:xfrm>
          <a:prstGeom prst="rect">
            <a:avLst/>
          </a:prstGeom>
          <a:noFill/>
        </p:spPr>
      </p:pic>
      <p:pic>
        <p:nvPicPr>
          <p:cNvPr id="192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97126" y="1721783"/>
            <a:ext cx="436636" cy="395012"/>
          </a:xfrm>
          <a:prstGeom prst="rect">
            <a:avLst/>
          </a:prstGeom>
          <a:noFill/>
        </p:spPr>
      </p:pic>
      <p:pic>
        <p:nvPicPr>
          <p:cNvPr id="193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735327" y="2110753"/>
            <a:ext cx="436636" cy="395012"/>
          </a:xfrm>
          <a:prstGeom prst="rect">
            <a:avLst/>
          </a:prstGeom>
          <a:noFill/>
        </p:spPr>
      </p:pic>
      <p:pic>
        <p:nvPicPr>
          <p:cNvPr id="194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64772" y="2110719"/>
            <a:ext cx="436636" cy="395012"/>
          </a:xfrm>
          <a:prstGeom prst="rect">
            <a:avLst/>
          </a:prstGeom>
          <a:noFill/>
        </p:spPr>
      </p:pic>
      <p:pic>
        <p:nvPicPr>
          <p:cNvPr id="195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86389" y="1729658"/>
            <a:ext cx="436636" cy="395012"/>
          </a:xfrm>
          <a:prstGeom prst="rect">
            <a:avLst/>
          </a:prstGeom>
          <a:noFill/>
        </p:spPr>
      </p:pic>
      <p:pic>
        <p:nvPicPr>
          <p:cNvPr id="196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92851" y="2061892"/>
            <a:ext cx="436636" cy="395012"/>
          </a:xfrm>
          <a:prstGeom prst="rect">
            <a:avLst/>
          </a:prstGeom>
          <a:noFill/>
        </p:spPr>
      </p:pic>
      <p:pic>
        <p:nvPicPr>
          <p:cNvPr id="197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541364" y="2911751"/>
            <a:ext cx="436636" cy="395012"/>
          </a:xfrm>
          <a:prstGeom prst="rect">
            <a:avLst/>
          </a:prstGeom>
          <a:noFill/>
        </p:spPr>
      </p:pic>
      <p:sp>
        <p:nvSpPr>
          <p:cNvPr id="110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1" name="五边形 110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13" name="圆角矩形 112"/>
          <p:cNvSpPr/>
          <p:nvPr/>
        </p:nvSpPr>
        <p:spPr bwMode="gray">
          <a:xfrm>
            <a:off x="1834967" y="113154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圆角矩形 113"/>
          <p:cNvSpPr/>
          <p:nvPr/>
        </p:nvSpPr>
        <p:spPr bwMode="gray">
          <a:xfrm>
            <a:off x="464319" y="2828926"/>
            <a:ext cx="1205193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圆角矩形 115"/>
          <p:cNvSpPr/>
          <p:nvPr/>
        </p:nvSpPr>
        <p:spPr bwMode="gray">
          <a:xfrm>
            <a:off x="4892833" y="113154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圆角矩形 116"/>
          <p:cNvSpPr/>
          <p:nvPr/>
        </p:nvSpPr>
        <p:spPr bwMode="gray">
          <a:xfrm>
            <a:off x="7249815" y="2828926"/>
            <a:ext cx="1152824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椭圆 117"/>
          <p:cNvSpPr/>
          <p:nvPr/>
        </p:nvSpPr>
        <p:spPr bwMode="gray">
          <a:xfrm>
            <a:off x="1682552" y="4810211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9" name="椭圆 118"/>
          <p:cNvSpPr/>
          <p:nvPr/>
        </p:nvSpPr>
        <p:spPr bwMode="gray">
          <a:xfrm>
            <a:off x="3616750" y="502156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椭圆 119"/>
          <p:cNvSpPr/>
          <p:nvPr/>
        </p:nvSpPr>
        <p:spPr bwMode="gray">
          <a:xfrm>
            <a:off x="4456324" y="382253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椭圆 120"/>
          <p:cNvSpPr/>
          <p:nvPr/>
        </p:nvSpPr>
        <p:spPr bwMode="gray">
          <a:xfrm>
            <a:off x="5257872" y="4044773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椭圆 121"/>
          <p:cNvSpPr/>
          <p:nvPr/>
        </p:nvSpPr>
        <p:spPr bwMode="gray">
          <a:xfrm>
            <a:off x="2565361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椭圆 122"/>
          <p:cNvSpPr/>
          <p:nvPr/>
        </p:nvSpPr>
        <p:spPr bwMode="gray">
          <a:xfrm>
            <a:off x="3385051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椭圆 123"/>
          <p:cNvSpPr/>
          <p:nvPr/>
        </p:nvSpPr>
        <p:spPr bwMode="gray">
          <a:xfrm>
            <a:off x="5487155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椭圆 124"/>
          <p:cNvSpPr/>
          <p:nvPr/>
        </p:nvSpPr>
        <p:spPr bwMode="gray">
          <a:xfrm>
            <a:off x="6306845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椭圆 125"/>
          <p:cNvSpPr/>
          <p:nvPr/>
        </p:nvSpPr>
        <p:spPr bwMode="gray">
          <a:xfrm>
            <a:off x="7286759" y="483293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，分配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会话通告一条去往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的带标签的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，其中下一跳为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，标签为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标签，值为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会话通告一条去往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的带标签的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，其中下一跳为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，标签为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标签，值为</a:t>
            </a:r>
            <a:r>
              <a:rPr lang="en-US" altLang="zh-CN" sz="1400" dirty="0">
                <a:sym typeface="Huawei Sans" panose="020C0503030203020204" pitchFamily="34" charset="0"/>
              </a:rPr>
              <a:t>B2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路由转变为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路由，通告给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zh-CN" altLang="en-US" sz="14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139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12546" y="3258697"/>
            <a:ext cx="436636" cy="395012"/>
          </a:xfrm>
          <a:prstGeom prst="rect">
            <a:avLst/>
          </a:prstGeom>
          <a:noFill/>
        </p:spPr>
      </p:pic>
      <p:pic>
        <p:nvPicPr>
          <p:cNvPr id="155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387255" y="3249505"/>
            <a:ext cx="436636" cy="395012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方式一控制平面：带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本端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只与本端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邻居，本端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与对端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邻居，实现了跨域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路由的传递。</a:t>
            </a:r>
          </a:p>
          <a:p>
            <a:r>
              <a:rPr lang="en-US" altLang="zh-CN" sz="1600" dirty="0">
                <a:sym typeface="Huawei Sans" panose="020C0503030203020204" pitchFamily="34" charset="0"/>
              </a:rPr>
              <a:t>ASBR</a:t>
            </a:r>
            <a:r>
              <a:rPr lang="zh-CN" altLang="en-US" sz="1600" dirty="0"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同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ym typeface="Huawei Sans" panose="020C0503030203020204" pitchFamily="34" charset="0"/>
              </a:rPr>
              <a:t>BGP</a:t>
            </a:r>
            <a:r>
              <a:rPr lang="zh-CN" altLang="en-US" sz="1600" dirty="0">
                <a:sym typeface="Huawei Sans" panose="020C0503030203020204" pitchFamily="34" charset="0"/>
              </a:rPr>
              <a:t>单播</a:t>
            </a:r>
            <a:r>
              <a:rPr lang="en-US" altLang="zh-CN" sz="1600" dirty="0"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ym typeface="Huawei Sans" panose="020C0503030203020204" pitchFamily="34" charset="0"/>
              </a:rPr>
              <a:t>邻居：</a:t>
            </a: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将从对端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学到的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loopback</a:t>
            </a:r>
            <a:r>
              <a:rPr lang="zh-CN" altLang="en-US" sz="1400" dirty="0">
                <a:sym typeface="Huawei Sans" panose="020C0503030203020204" pitchFamily="34" charset="0"/>
              </a:rPr>
              <a:t>接口的路由，传递给本端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，用于本端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与对端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邻居。</a:t>
            </a:r>
          </a:p>
          <a:p>
            <a:pPr lvl="1"/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将从对端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学到的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loopback</a:t>
            </a:r>
            <a:r>
              <a:rPr lang="zh-CN" altLang="en-US" sz="1400" dirty="0">
                <a:sym typeface="Huawei Sans" panose="020C0503030203020204" pitchFamily="34" charset="0"/>
              </a:rPr>
              <a:t>接口的路由，传递给本端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，本端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再将其反射给本端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，用于跨域之间的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BGP LSP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2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0" name="五边形 129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3" name="Line 179"/>
          <p:cNvSpPr>
            <a:spLocks noChangeShapeType="1"/>
          </p:cNvSpPr>
          <p:nvPr/>
        </p:nvSpPr>
        <p:spPr bwMode="gray">
          <a:xfrm>
            <a:off x="7831969" y="3443768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Line 179"/>
          <p:cNvSpPr>
            <a:spLocks noChangeShapeType="1"/>
          </p:cNvSpPr>
          <p:nvPr/>
        </p:nvSpPr>
        <p:spPr bwMode="gray">
          <a:xfrm>
            <a:off x="3649414" y="3443768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Text Box 171"/>
          <p:cNvSpPr txBox="1">
            <a:spLocks noChangeArrowheads="1"/>
          </p:cNvSpPr>
          <p:nvPr/>
        </p:nvSpPr>
        <p:spPr bwMode="gray">
          <a:xfrm>
            <a:off x="3882278" y="4133889"/>
            <a:ext cx="552813" cy="31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36" name="Text Box 172"/>
          <p:cNvSpPr txBox="1">
            <a:spLocks noChangeArrowheads="1"/>
          </p:cNvSpPr>
          <p:nvPr/>
        </p:nvSpPr>
        <p:spPr bwMode="gray">
          <a:xfrm>
            <a:off x="7775010" y="4133888"/>
            <a:ext cx="5892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37" name="Text Box 173"/>
          <p:cNvSpPr txBox="1">
            <a:spLocks noChangeArrowheads="1"/>
          </p:cNvSpPr>
          <p:nvPr/>
        </p:nvSpPr>
        <p:spPr bwMode="gray">
          <a:xfrm>
            <a:off x="4668308" y="4400105"/>
            <a:ext cx="10963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38" name="Text Box 174"/>
          <p:cNvSpPr txBox="1">
            <a:spLocks noChangeArrowheads="1"/>
          </p:cNvSpPr>
          <p:nvPr/>
        </p:nvSpPr>
        <p:spPr bwMode="gray">
          <a:xfrm>
            <a:off x="6412323" y="4419603"/>
            <a:ext cx="1192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39" name="Text Box 175"/>
          <p:cNvSpPr txBox="1">
            <a:spLocks noChangeArrowheads="1"/>
          </p:cNvSpPr>
          <p:nvPr/>
        </p:nvSpPr>
        <p:spPr bwMode="gray">
          <a:xfrm>
            <a:off x="2365127" y="5437227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40" name="Text Box 176"/>
          <p:cNvSpPr txBox="1">
            <a:spLocks noChangeArrowheads="1"/>
          </p:cNvSpPr>
          <p:nvPr/>
        </p:nvSpPr>
        <p:spPr bwMode="gray">
          <a:xfrm>
            <a:off x="9291389" y="5421352"/>
            <a:ext cx="625929" cy="307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41" name="Text Box 177"/>
          <p:cNvSpPr txBox="1">
            <a:spLocks noChangeArrowheads="1"/>
          </p:cNvSpPr>
          <p:nvPr/>
        </p:nvSpPr>
        <p:spPr bwMode="gray">
          <a:xfrm>
            <a:off x="2033339" y="5000664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42" name="Text Box 178"/>
          <p:cNvSpPr txBox="1">
            <a:spLocks noChangeArrowheads="1"/>
          </p:cNvSpPr>
          <p:nvPr/>
        </p:nvSpPr>
        <p:spPr bwMode="gray">
          <a:xfrm>
            <a:off x="9312027" y="5000664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43" name="Line 179"/>
          <p:cNvSpPr>
            <a:spLocks noChangeShapeType="1"/>
          </p:cNvSpPr>
          <p:nvPr/>
        </p:nvSpPr>
        <p:spPr bwMode="gray">
          <a:xfrm flipV="1">
            <a:off x="3914527" y="3468898"/>
            <a:ext cx="477894" cy="68880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Line 180"/>
          <p:cNvSpPr>
            <a:spLocks noChangeShapeType="1"/>
          </p:cNvSpPr>
          <p:nvPr/>
        </p:nvSpPr>
        <p:spPr bwMode="gray">
          <a:xfrm>
            <a:off x="4817185" y="3468899"/>
            <a:ext cx="446717" cy="7142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Line 181"/>
          <p:cNvSpPr>
            <a:spLocks noChangeShapeType="1"/>
          </p:cNvSpPr>
          <p:nvPr/>
        </p:nvSpPr>
        <p:spPr bwMode="gray">
          <a:xfrm flipV="1">
            <a:off x="6884739" y="3468899"/>
            <a:ext cx="527807" cy="6983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6" name="Line 182"/>
          <p:cNvSpPr>
            <a:spLocks noChangeShapeType="1"/>
          </p:cNvSpPr>
          <p:nvPr/>
        </p:nvSpPr>
        <p:spPr bwMode="gray">
          <a:xfrm>
            <a:off x="7849181" y="3468899"/>
            <a:ext cx="445257" cy="6872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Line 183"/>
          <p:cNvSpPr>
            <a:spLocks noChangeShapeType="1"/>
          </p:cNvSpPr>
          <p:nvPr/>
        </p:nvSpPr>
        <p:spPr bwMode="gray">
          <a:xfrm>
            <a:off x="5633789" y="4259302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Line 206"/>
          <p:cNvSpPr>
            <a:spLocks noChangeShapeType="1"/>
          </p:cNvSpPr>
          <p:nvPr/>
        </p:nvSpPr>
        <p:spPr bwMode="gray">
          <a:xfrm flipV="1">
            <a:off x="2876302" y="4383127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Line 207"/>
          <p:cNvSpPr>
            <a:spLocks noChangeShapeType="1"/>
          </p:cNvSpPr>
          <p:nvPr/>
        </p:nvSpPr>
        <p:spPr bwMode="gray">
          <a:xfrm>
            <a:off x="8573839" y="4383127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Line 315"/>
          <p:cNvSpPr>
            <a:spLocks noChangeShapeType="1"/>
          </p:cNvSpPr>
          <p:nvPr/>
        </p:nvSpPr>
        <p:spPr bwMode="gray">
          <a:xfrm flipH="1">
            <a:off x="2358777" y="5373727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1" name="Text Box 316"/>
          <p:cNvSpPr txBox="1">
            <a:spLocks noChangeArrowheads="1"/>
          </p:cNvSpPr>
          <p:nvPr/>
        </p:nvSpPr>
        <p:spPr bwMode="gray">
          <a:xfrm>
            <a:off x="1952546" y="5516602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pic>
        <p:nvPicPr>
          <p:cNvPr id="152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81852" y="5097121"/>
            <a:ext cx="436636" cy="395012"/>
          </a:xfrm>
          <a:prstGeom prst="rect">
            <a:avLst/>
          </a:prstGeom>
          <a:noFill/>
        </p:spPr>
      </p:pic>
      <p:pic>
        <p:nvPicPr>
          <p:cNvPr id="153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548444" y="4081777"/>
            <a:ext cx="436636" cy="395012"/>
          </a:xfrm>
          <a:prstGeom prst="rect">
            <a:avLst/>
          </a:prstGeom>
          <a:noFill/>
        </p:spPr>
      </p:pic>
      <p:sp>
        <p:nvSpPr>
          <p:cNvPr id="154" name="Text Box 341"/>
          <p:cNvSpPr txBox="1">
            <a:spLocks noChangeArrowheads="1"/>
          </p:cNvSpPr>
          <p:nvPr/>
        </p:nvSpPr>
        <p:spPr bwMode="gray">
          <a:xfrm>
            <a:off x="4392421" y="3600489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pic>
        <p:nvPicPr>
          <p:cNvPr id="156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224526" y="4041158"/>
            <a:ext cx="436636" cy="395012"/>
          </a:xfrm>
          <a:prstGeom prst="rect">
            <a:avLst/>
          </a:prstGeom>
          <a:noFill/>
        </p:spPr>
      </p:pic>
      <p:pic>
        <p:nvPicPr>
          <p:cNvPr id="157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482354" y="4058621"/>
            <a:ext cx="436636" cy="395012"/>
          </a:xfrm>
          <a:prstGeom prst="rect">
            <a:avLst/>
          </a:prstGeom>
          <a:noFill/>
        </p:spPr>
      </p:pic>
      <p:sp>
        <p:nvSpPr>
          <p:cNvPr id="158" name="Text Box 342"/>
          <p:cNvSpPr txBox="1">
            <a:spLocks noChangeArrowheads="1"/>
          </p:cNvSpPr>
          <p:nvPr/>
        </p:nvSpPr>
        <p:spPr bwMode="gray">
          <a:xfrm>
            <a:off x="7389564" y="3600489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pic>
        <p:nvPicPr>
          <p:cNvPr id="160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310421" y="4078464"/>
            <a:ext cx="436636" cy="395012"/>
          </a:xfrm>
          <a:prstGeom prst="rect">
            <a:avLst/>
          </a:prstGeom>
          <a:noFill/>
        </p:spPr>
      </p:pic>
      <p:pic>
        <p:nvPicPr>
          <p:cNvPr id="161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89466" y="5115102"/>
            <a:ext cx="436636" cy="395012"/>
          </a:xfrm>
          <a:prstGeom prst="rect">
            <a:avLst/>
          </a:prstGeom>
          <a:noFill/>
        </p:spPr>
      </p:pic>
      <p:sp>
        <p:nvSpPr>
          <p:cNvPr id="162" name="圆角矩形 161"/>
          <p:cNvSpPr/>
          <p:nvPr/>
        </p:nvSpPr>
        <p:spPr bwMode="gray">
          <a:xfrm>
            <a:off x="2071439" y="5015349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圆角矩形 162"/>
          <p:cNvSpPr/>
          <p:nvPr/>
        </p:nvSpPr>
        <p:spPr bwMode="gray">
          <a:xfrm>
            <a:off x="3118488" y="3022599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圆角矩形 163"/>
          <p:cNvSpPr/>
          <p:nvPr/>
        </p:nvSpPr>
        <p:spPr bwMode="gray">
          <a:xfrm>
            <a:off x="8917013" y="5015349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5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222488" y="3249505"/>
            <a:ext cx="436636" cy="395012"/>
          </a:xfrm>
          <a:prstGeom prst="rect">
            <a:avLst/>
          </a:prstGeom>
          <a:noFill/>
        </p:spPr>
      </p:pic>
      <p:sp>
        <p:nvSpPr>
          <p:cNvPr id="166" name="圆角矩形 165"/>
          <p:cNvSpPr/>
          <p:nvPr/>
        </p:nvSpPr>
        <p:spPr bwMode="gray">
          <a:xfrm>
            <a:off x="6323008" y="3022599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7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579041" y="3249505"/>
            <a:ext cx="436636" cy="395012"/>
          </a:xfrm>
          <a:prstGeom prst="rect">
            <a:avLst/>
          </a:prstGeom>
          <a:noFill/>
        </p:spPr>
      </p:pic>
      <p:sp>
        <p:nvSpPr>
          <p:cNvPr id="168" name="Text Box 341"/>
          <p:cNvSpPr txBox="1">
            <a:spLocks noChangeArrowheads="1"/>
          </p:cNvSpPr>
          <p:nvPr/>
        </p:nvSpPr>
        <p:spPr bwMode="gray">
          <a:xfrm>
            <a:off x="3135387" y="3610373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</p:txBody>
      </p:sp>
      <p:sp>
        <p:nvSpPr>
          <p:cNvPr id="169" name="Text Box 341"/>
          <p:cNvSpPr txBox="1">
            <a:spLocks noChangeArrowheads="1"/>
          </p:cNvSpPr>
          <p:nvPr/>
        </p:nvSpPr>
        <p:spPr bwMode="gray">
          <a:xfrm>
            <a:off x="8485387" y="3610373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0" name="直接箭头连接符 169"/>
          <p:cNvCxnSpPr>
            <a:endCxn id="153" idx="0"/>
          </p:cNvCxnSpPr>
          <p:nvPr/>
        </p:nvCxnSpPr>
        <p:spPr bwMode="gray">
          <a:xfrm>
            <a:off x="3619647" y="3661079"/>
            <a:ext cx="147115" cy="42069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 bwMode="gray">
          <a:xfrm flipH="1">
            <a:off x="8424509" y="3628840"/>
            <a:ext cx="154532" cy="42231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 bwMode="gray">
          <a:xfrm flipV="1">
            <a:off x="5675230" y="4423058"/>
            <a:ext cx="734725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 bwMode="gray">
          <a:xfrm flipV="1">
            <a:off x="5548210" y="5400757"/>
            <a:ext cx="720000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/>
        </p:nvCxnSpPr>
        <p:spPr bwMode="gray">
          <a:xfrm>
            <a:off x="5548210" y="5622880"/>
            <a:ext cx="720000" cy="0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 Box 176"/>
          <p:cNvSpPr txBox="1">
            <a:spLocks noChangeArrowheads="1"/>
          </p:cNvSpPr>
          <p:nvPr/>
        </p:nvSpPr>
        <p:spPr bwMode="gray">
          <a:xfrm>
            <a:off x="6268210" y="5247019"/>
            <a:ext cx="14015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单播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8" name="Text Box 176"/>
          <p:cNvSpPr txBox="1">
            <a:spLocks noChangeArrowheads="1"/>
          </p:cNvSpPr>
          <p:nvPr/>
        </p:nvSpPr>
        <p:spPr bwMode="gray">
          <a:xfrm>
            <a:off x="6268210" y="5468991"/>
            <a:ext cx="11227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AutoShape 274"/>
          <p:cNvSpPr>
            <a:spLocks noChangeArrowheads="1"/>
          </p:cNvSpPr>
          <p:nvPr/>
        </p:nvSpPr>
        <p:spPr bwMode="gray">
          <a:xfrm rot="10800000">
            <a:off x="1653845" y="3443768"/>
            <a:ext cx="1076290" cy="681534"/>
          </a:xfrm>
          <a:prstGeom prst="wedgeRoundRectCallout">
            <a:avLst>
              <a:gd name="adj1" fmla="val -91803"/>
              <a:gd name="adj2" fmla="val 47161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rot="10800000"/>
          <a:lstStyle/>
          <a:p>
            <a:pPr algn="ctr"/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Text Box 276"/>
          <p:cNvSpPr txBox="1">
            <a:spLocks noChangeArrowheads="1"/>
          </p:cNvSpPr>
          <p:nvPr/>
        </p:nvSpPr>
        <p:spPr bwMode="gray">
          <a:xfrm>
            <a:off x="1732972" y="3461369"/>
            <a:ext cx="898143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只反射路由，不转发数据。</a:t>
            </a:r>
            <a:endParaRPr lang="en-US" altLang="zh-CN" sz="12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81" name="直接箭头连接符 180"/>
          <p:cNvCxnSpPr/>
          <p:nvPr/>
        </p:nvCxnSpPr>
        <p:spPr bwMode="gray">
          <a:xfrm>
            <a:off x="3694877" y="3587815"/>
            <a:ext cx="226427" cy="447919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箭头连接符 181"/>
          <p:cNvCxnSpPr/>
          <p:nvPr/>
        </p:nvCxnSpPr>
        <p:spPr bwMode="gray">
          <a:xfrm>
            <a:off x="3791268" y="3594827"/>
            <a:ext cx="1303246" cy="52061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/>
        </p:nvCxnSpPr>
        <p:spPr bwMode="gray">
          <a:xfrm flipV="1">
            <a:off x="7008361" y="3506875"/>
            <a:ext cx="1493414" cy="731789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箭头连接符 183"/>
          <p:cNvCxnSpPr>
            <a:stCxn id="136" idx="0"/>
          </p:cNvCxnSpPr>
          <p:nvPr/>
        </p:nvCxnSpPr>
        <p:spPr bwMode="gray">
          <a:xfrm flipV="1">
            <a:off x="8069650" y="3587815"/>
            <a:ext cx="415737" cy="546073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任意多边形 2"/>
          <p:cNvSpPr/>
          <p:nvPr/>
        </p:nvSpPr>
        <p:spPr>
          <a:xfrm>
            <a:off x="3474720" y="2831667"/>
            <a:ext cx="5444197" cy="361700"/>
          </a:xfrm>
          <a:custGeom>
            <a:avLst/>
            <a:gdLst>
              <a:gd name="connsiteX0" fmla="*/ 0 w 5444197"/>
              <a:gd name="connsiteY0" fmla="*/ 0 h 56271"/>
              <a:gd name="connsiteX1" fmla="*/ 5444197 w 5444197"/>
              <a:gd name="connsiteY1" fmla="*/ 56271 h 56271"/>
              <a:gd name="connsiteX0" fmla="*/ 0 w 5444197"/>
              <a:gd name="connsiteY0" fmla="*/ 200576 h 256847"/>
              <a:gd name="connsiteX1" fmla="*/ 5444197 w 5444197"/>
              <a:gd name="connsiteY1" fmla="*/ 256847 h 256847"/>
              <a:gd name="connsiteX0" fmla="*/ 0 w 5444197"/>
              <a:gd name="connsiteY0" fmla="*/ 305429 h 361700"/>
              <a:gd name="connsiteX1" fmla="*/ 5444197 w 5444197"/>
              <a:gd name="connsiteY1" fmla="*/ 361700 h 36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44197" h="361700">
                <a:moveTo>
                  <a:pt x="0" y="305429"/>
                </a:moveTo>
                <a:cubicBezTo>
                  <a:pt x="1842868" y="-27507"/>
                  <a:pt x="3840481" y="-191629"/>
                  <a:pt x="5444197" y="361700"/>
                </a:cubicBezTo>
              </a:path>
            </a:pathLst>
          </a:cu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82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方式一转发平面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4" name="AutoShape 348"/>
          <p:cNvSpPr>
            <a:spLocks noChangeArrowheads="1"/>
          </p:cNvSpPr>
          <p:nvPr/>
        </p:nvSpPr>
        <p:spPr bwMode="gray">
          <a:xfrm rot="5400000">
            <a:off x="4572621" y="2422770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 Box 190"/>
          <p:cNvSpPr txBox="1">
            <a:spLocks noChangeArrowheads="1"/>
          </p:cNvSpPr>
          <p:nvPr/>
        </p:nvSpPr>
        <p:spPr bwMode="gray">
          <a:xfrm>
            <a:off x="1540496" y="3494333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9" name="Text Box 191"/>
          <p:cNvSpPr txBox="1">
            <a:spLocks noChangeArrowheads="1"/>
          </p:cNvSpPr>
          <p:nvPr/>
        </p:nvSpPr>
        <p:spPr bwMode="gray">
          <a:xfrm>
            <a:off x="2307259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0" name="Text Box 192"/>
          <p:cNvSpPr txBox="1">
            <a:spLocks noChangeArrowheads="1"/>
          </p:cNvSpPr>
          <p:nvPr/>
        </p:nvSpPr>
        <p:spPr bwMode="gray">
          <a:xfrm>
            <a:off x="3185146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1" name="Text Box 193"/>
          <p:cNvSpPr txBox="1">
            <a:spLocks noChangeArrowheads="1"/>
          </p:cNvSpPr>
          <p:nvPr/>
        </p:nvSpPr>
        <p:spPr bwMode="gray">
          <a:xfrm>
            <a:off x="5323509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2" name="Text Box 194"/>
          <p:cNvSpPr txBox="1">
            <a:spLocks noChangeArrowheads="1"/>
          </p:cNvSpPr>
          <p:nvPr/>
        </p:nvSpPr>
        <p:spPr bwMode="gray">
          <a:xfrm>
            <a:off x="6210921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4" name="Text Box 196"/>
          <p:cNvSpPr txBox="1">
            <a:spLocks noChangeArrowheads="1"/>
          </p:cNvSpPr>
          <p:nvPr/>
        </p:nvSpPr>
        <p:spPr bwMode="gray">
          <a:xfrm>
            <a:off x="7084046" y="34973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9" name="Line 201"/>
          <p:cNvSpPr>
            <a:spLocks noChangeShapeType="1"/>
          </p:cNvSpPr>
          <p:nvPr/>
        </p:nvSpPr>
        <p:spPr bwMode="gray">
          <a:xfrm flipV="1">
            <a:off x="1364284" y="245293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Line 202"/>
          <p:cNvSpPr>
            <a:spLocks noChangeShapeType="1"/>
          </p:cNvSpPr>
          <p:nvPr/>
        </p:nvSpPr>
        <p:spPr bwMode="gray">
          <a:xfrm>
            <a:off x="7061821" y="2452933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Line 214"/>
          <p:cNvSpPr>
            <a:spLocks noChangeShapeType="1"/>
          </p:cNvSpPr>
          <p:nvPr/>
        </p:nvSpPr>
        <p:spPr bwMode="gray">
          <a:xfrm>
            <a:off x="1394446" y="3332408"/>
            <a:ext cx="0" cy="104933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Line 215"/>
          <p:cNvSpPr>
            <a:spLocks noChangeShapeType="1"/>
          </p:cNvSpPr>
          <p:nvPr/>
        </p:nvSpPr>
        <p:spPr bwMode="gray">
          <a:xfrm>
            <a:off x="3943971" y="25354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Line 216"/>
          <p:cNvSpPr>
            <a:spLocks noChangeShapeType="1"/>
          </p:cNvSpPr>
          <p:nvPr/>
        </p:nvSpPr>
        <p:spPr bwMode="gray">
          <a:xfrm>
            <a:off x="5175871" y="25100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Line 217"/>
          <p:cNvSpPr>
            <a:spLocks noChangeShapeType="1"/>
          </p:cNvSpPr>
          <p:nvPr/>
        </p:nvSpPr>
        <p:spPr bwMode="gray">
          <a:xfrm>
            <a:off x="6990384" y="2589458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Line 218"/>
          <p:cNvSpPr>
            <a:spLocks noChangeShapeType="1"/>
          </p:cNvSpPr>
          <p:nvPr/>
        </p:nvSpPr>
        <p:spPr bwMode="gray">
          <a:xfrm>
            <a:off x="7836521" y="3384795"/>
            <a:ext cx="0" cy="9747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Line 219"/>
          <p:cNvSpPr>
            <a:spLocks noChangeShapeType="1"/>
          </p:cNvSpPr>
          <p:nvPr/>
        </p:nvSpPr>
        <p:spPr bwMode="gray">
          <a:xfrm>
            <a:off x="2265984" y="3781670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Line 220"/>
          <p:cNvSpPr>
            <a:spLocks noChangeShapeType="1"/>
          </p:cNvSpPr>
          <p:nvPr/>
        </p:nvSpPr>
        <p:spPr bwMode="gray">
          <a:xfrm>
            <a:off x="3042271" y="3781670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Line 221"/>
          <p:cNvSpPr>
            <a:spLocks noChangeShapeType="1"/>
          </p:cNvSpPr>
          <p:nvPr/>
        </p:nvSpPr>
        <p:spPr bwMode="gray">
          <a:xfrm>
            <a:off x="1384921" y="3775320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Line 222"/>
          <p:cNvSpPr>
            <a:spLocks noChangeShapeType="1"/>
          </p:cNvSpPr>
          <p:nvPr/>
        </p:nvSpPr>
        <p:spPr bwMode="gray">
          <a:xfrm>
            <a:off x="3953496" y="3774018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Line 223"/>
          <p:cNvSpPr>
            <a:spLocks noChangeShapeType="1"/>
          </p:cNvSpPr>
          <p:nvPr/>
        </p:nvSpPr>
        <p:spPr bwMode="gray">
          <a:xfrm>
            <a:off x="5180634" y="3781670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Line 224"/>
          <p:cNvSpPr>
            <a:spLocks noChangeShapeType="1"/>
          </p:cNvSpPr>
          <p:nvPr/>
        </p:nvSpPr>
        <p:spPr bwMode="gray">
          <a:xfrm>
            <a:off x="6085509" y="3772145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Line 225"/>
          <p:cNvSpPr>
            <a:spLocks noChangeShapeType="1"/>
          </p:cNvSpPr>
          <p:nvPr/>
        </p:nvSpPr>
        <p:spPr bwMode="gray">
          <a:xfrm>
            <a:off x="6984034" y="3772145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Line 226"/>
          <p:cNvSpPr>
            <a:spLocks noChangeShapeType="1"/>
          </p:cNvSpPr>
          <p:nvPr/>
        </p:nvSpPr>
        <p:spPr bwMode="gray">
          <a:xfrm>
            <a:off x="3054971" y="24338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Line 227"/>
          <p:cNvSpPr>
            <a:spLocks noChangeShapeType="1"/>
          </p:cNvSpPr>
          <p:nvPr/>
        </p:nvSpPr>
        <p:spPr bwMode="gray">
          <a:xfrm>
            <a:off x="6090271" y="2400545"/>
            <a:ext cx="0" cy="2693988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Rectangle 228"/>
          <p:cNvSpPr>
            <a:spLocks noChangeArrowheads="1"/>
          </p:cNvSpPr>
          <p:nvPr/>
        </p:nvSpPr>
        <p:spPr bwMode="gray">
          <a:xfrm>
            <a:off x="705864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0" name="Rectangle 242"/>
          <p:cNvSpPr>
            <a:spLocks noChangeArrowheads="1"/>
          </p:cNvSpPr>
          <p:nvPr/>
        </p:nvSpPr>
        <p:spPr bwMode="gray">
          <a:xfrm>
            <a:off x="6172821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1" name="Rectangle 243"/>
          <p:cNvSpPr>
            <a:spLocks noChangeArrowheads="1"/>
          </p:cNvSpPr>
          <p:nvPr/>
        </p:nvSpPr>
        <p:spPr bwMode="gray">
          <a:xfrm>
            <a:off x="6172821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62" name="Rectangle 244"/>
          <p:cNvSpPr>
            <a:spLocks noChangeArrowheads="1"/>
          </p:cNvSpPr>
          <p:nvPr/>
        </p:nvSpPr>
        <p:spPr bwMode="gray">
          <a:xfrm>
            <a:off x="6172821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B2</a:t>
            </a:r>
          </a:p>
        </p:txBody>
      </p:sp>
      <p:sp>
        <p:nvSpPr>
          <p:cNvPr id="63" name="Rectangle 245"/>
          <p:cNvSpPr>
            <a:spLocks noChangeArrowheads="1"/>
          </p:cNvSpPr>
          <p:nvPr/>
        </p:nvSpPr>
        <p:spPr bwMode="gray">
          <a:xfrm>
            <a:off x="527429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4" name="Rectangle 246"/>
          <p:cNvSpPr>
            <a:spLocks noChangeArrowheads="1"/>
          </p:cNvSpPr>
          <p:nvPr/>
        </p:nvSpPr>
        <p:spPr bwMode="gray">
          <a:xfrm>
            <a:off x="5274296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65" name="Rectangle 247"/>
          <p:cNvSpPr>
            <a:spLocks noChangeArrowheads="1"/>
          </p:cNvSpPr>
          <p:nvPr/>
        </p:nvSpPr>
        <p:spPr bwMode="gray">
          <a:xfrm>
            <a:off x="5274296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B2</a:t>
            </a:r>
          </a:p>
        </p:txBody>
      </p:sp>
      <p:sp>
        <p:nvSpPr>
          <p:cNvPr id="66" name="Text Box 248"/>
          <p:cNvSpPr txBox="1">
            <a:spLocks noChangeArrowheads="1"/>
          </p:cNvSpPr>
          <p:nvPr/>
        </p:nvSpPr>
        <p:spPr bwMode="gray">
          <a:xfrm>
            <a:off x="4229721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67" name="Rectangle 249"/>
          <p:cNvSpPr>
            <a:spLocks noChangeArrowheads="1"/>
          </p:cNvSpPr>
          <p:nvPr/>
        </p:nvSpPr>
        <p:spPr bwMode="gray">
          <a:xfrm>
            <a:off x="416939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8" name="Rectangle 250"/>
          <p:cNvSpPr>
            <a:spLocks noChangeArrowheads="1"/>
          </p:cNvSpPr>
          <p:nvPr/>
        </p:nvSpPr>
        <p:spPr bwMode="gray">
          <a:xfrm>
            <a:off x="3131171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69" name="Rectangle 251"/>
          <p:cNvSpPr>
            <a:spLocks noChangeArrowheads="1"/>
          </p:cNvSpPr>
          <p:nvPr/>
        </p:nvSpPr>
        <p:spPr bwMode="gray">
          <a:xfrm>
            <a:off x="3131171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70" name="Rectangle 252"/>
          <p:cNvSpPr>
            <a:spLocks noChangeArrowheads="1"/>
          </p:cNvSpPr>
          <p:nvPr/>
        </p:nvSpPr>
        <p:spPr bwMode="gray">
          <a:xfrm>
            <a:off x="3131171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71" name="Rectangle 253"/>
          <p:cNvSpPr>
            <a:spLocks noChangeArrowheads="1"/>
          </p:cNvSpPr>
          <p:nvPr/>
        </p:nvSpPr>
        <p:spPr bwMode="gray">
          <a:xfrm>
            <a:off x="2331071" y="3897558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2" name="Rectangle 254"/>
          <p:cNvSpPr>
            <a:spLocks noChangeArrowheads="1"/>
          </p:cNvSpPr>
          <p:nvPr/>
        </p:nvSpPr>
        <p:spPr bwMode="gray">
          <a:xfrm>
            <a:off x="2331071" y="4151558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73" name="Rectangle 255"/>
          <p:cNvSpPr>
            <a:spLocks noChangeArrowheads="1"/>
          </p:cNvSpPr>
          <p:nvPr/>
        </p:nvSpPr>
        <p:spPr bwMode="gray">
          <a:xfrm>
            <a:off x="2331071" y="4410593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74" name="Rectangle 256"/>
          <p:cNvSpPr>
            <a:spLocks noChangeArrowheads="1"/>
          </p:cNvSpPr>
          <p:nvPr/>
        </p:nvSpPr>
        <p:spPr bwMode="gray">
          <a:xfrm>
            <a:off x="1453184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75" name="Rectangle 257"/>
          <p:cNvSpPr>
            <a:spLocks noChangeArrowheads="1"/>
          </p:cNvSpPr>
          <p:nvPr/>
        </p:nvSpPr>
        <p:spPr bwMode="gray">
          <a:xfrm>
            <a:off x="4169396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76" name="Text Box 258"/>
          <p:cNvSpPr txBox="1">
            <a:spLocks noChangeArrowheads="1"/>
          </p:cNvSpPr>
          <p:nvPr/>
        </p:nvSpPr>
        <p:spPr bwMode="gray">
          <a:xfrm>
            <a:off x="2338100" y="2437738"/>
            <a:ext cx="5807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77" name="Text Box 259"/>
          <p:cNvSpPr txBox="1">
            <a:spLocks noChangeArrowheads="1"/>
          </p:cNvSpPr>
          <p:nvPr/>
        </p:nvSpPr>
        <p:spPr bwMode="gray">
          <a:xfrm>
            <a:off x="6335654" y="2408707"/>
            <a:ext cx="6907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78" name="Text Box 260"/>
          <p:cNvSpPr txBox="1">
            <a:spLocks noChangeArrowheads="1"/>
          </p:cNvSpPr>
          <p:nvPr/>
        </p:nvSpPr>
        <p:spPr bwMode="gray">
          <a:xfrm>
            <a:off x="2985121" y="241642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79" name="Text Box 261"/>
          <p:cNvSpPr txBox="1">
            <a:spLocks noChangeArrowheads="1"/>
          </p:cNvSpPr>
          <p:nvPr/>
        </p:nvSpPr>
        <p:spPr bwMode="gray">
          <a:xfrm>
            <a:off x="5104434" y="2416420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80" name="Text Box 262"/>
          <p:cNvSpPr txBox="1">
            <a:spLocks noChangeArrowheads="1"/>
          </p:cNvSpPr>
          <p:nvPr/>
        </p:nvSpPr>
        <p:spPr bwMode="gray">
          <a:xfrm>
            <a:off x="2131046" y="124008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81" name="Line 263"/>
          <p:cNvSpPr>
            <a:spLocks noChangeShapeType="1"/>
          </p:cNvSpPr>
          <p:nvPr/>
        </p:nvSpPr>
        <p:spPr bwMode="gray">
          <a:xfrm flipV="1">
            <a:off x="2402509" y="200843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Line 264"/>
          <p:cNvSpPr>
            <a:spLocks noChangeShapeType="1"/>
          </p:cNvSpPr>
          <p:nvPr/>
        </p:nvSpPr>
        <p:spPr bwMode="gray">
          <a:xfrm>
            <a:off x="3243884" y="204653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Line 265"/>
          <p:cNvSpPr>
            <a:spLocks noChangeShapeType="1"/>
          </p:cNvSpPr>
          <p:nvPr/>
        </p:nvSpPr>
        <p:spPr bwMode="gray">
          <a:xfrm flipV="1">
            <a:off x="5372721" y="201795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Line 266"/>
          <p:cNvSpPr>
            <a:spLocks noChangeShapeType="1"/>
          </p:cNvSpPr>
          <p:nvPr/>
        </p:nvSpPr>
        <p:spPr bwMode="gray">
          <a:xfrm>
            <a:off x="6274421" y="200843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Line 267"/>
          <p:cNvSpPr>
            <a:spLocks noChangeShapeType="1"/>
          </p:cNvSpPr>
          <p:nvPr/>
        </p:nvSpPr>
        <p:spPr bwMode="gray">
          <a:xfrm>
            <a:off x="4121771" y="231640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Text Box 312"/>
          <p:cNvSpPr txBox="1">
            <a:spLocks noChangeArrowheads="1"/>
          </p:cNvSpPr>
          <p:nvPr/>
        </p:nvSpPr>
        <p:spPr bwMode="gray">
          <a:xfrm>
            <a:off x="3611208" y="1055081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MP-EBGP</a:t>
            </a:r>
          </a:p>
        </p:txBody>
      </p:sp>
      <p:sp>
        <p:nvSpPr>
          <p:cNvPr id="131" name="Text Box 314"/>
          <p:cNvSpPr txBox="1">
            <a:spLocks noChangeArrowheads="1"/>
          </p:cNvSpPr>
          <p:nvPr/>
        </p:nvSpPr>
        <p:spPr bwMode="gray">
          <a:xfrm>
            <a:off x="5185396" y="124008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54" name="Rectangle 337"/>
          <p:cNvSpPr>
            <a:spLocks noChangeArrowheads="1"/>
          </p:cNvSpPr>
          <p:nvPr/>
        </p:nvSpPr>
        <p:spPr bwMode="gray">
          <a:xfrm>
            <a:off x="6172821" y="4638114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T4</a:t>
            </a:r>
          </a:p>
        </p:txBody>
      </p:sp>
      <p:sp>
        <p:nvSpPr>
          <p:cNvPr id="155" name="Rectangle 338"/>
          <p:cNvSpPr>
            <a:spLocks noChangeArrowheads="1"/>
          </p:cNvSpPr>
          <p:nvPr/>
        </p:nvSpPr>
        <p:spPr bwMode="gray">
          <a:xfrm>
            <a:off x="5274296" y="4638114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T3</a:t>
            </a:r>
          </a:p>
        </p:txBody>
      </p:sp>
      <p:sp>
        <p:nvSpPr>
          <p:cNvPr id="156" name="Rectangle 339"/>
          <p:cNvSpPr>
            <a:spLocks noChangeArrowheads="1"/>
          </p:cNvSpPr>
          <p:nvPr/>
        </p:nvSpPr>
        <p:spPr bwMode="gray">
          <a:xfrm>
            <a:off x="4169396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B1</a:t>
            </a:r>
          </a:p>
        </p:txBody>
      </p:sp>
      <p:sp>
        <p:nvSpPr>
          <p:cNvPr id="157" name="Line 340"/>
          <p:cNvSpPr>
            <a:spLocks noChangeShapeType="1"/>
          </p:cNvSpPr>
          <p:nvPr/>
        </p:nvSpPr>
        <p:spPr bwMode="gray">
          <a:xfrm>
            <a:off x="2275509" y="2538658"/>
            <a:ext cx="1587" cy="25193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9" name="Text Box 390"/>
          <p:cNvSpPr txBox="1">
            <a:spLocks noChangeArrowheads="1"/>
          </p:cNvSpPr>
          <p:nvPr/>
        </p:nvSpPr>
        <p:spPr bwMode="gray">
          <a:xfrm>
            <a:off x="2875584" y="211479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200" name="Text Box 391"/>
          <p:cNvSpPr txBox="1">
            <a:spLocks noChangeArrowheads="1"/>
          </p:cNvSpPr>
          <p:nvPr/>
        </p:nvSpPr>
        <p:spPr bwMode="gray">
          <a:xfrm>
            <a:off x="5877546" y="211797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201" name="Text Box 36"/>
          <p:cNvSpPr txBox="1">
            <a:spLocks noChangeArrowheads="1"/>
          </p:cNvSpPr>
          <p:nvPr/>
        </p:nvSpPr>
        <p:spPr bwMode="gray">
          <a:xfrm>
            <a:off x="1592735" y="156383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202" name="Text Box 36"/>
          <p:cNvSpPr txBox="1">
            <a:spLocks noChangeArrowheads="1"/>
          </p:cNvSpPr>
          <p:nvPr/>
        </p:nvSpPr>
        <p:spPr bwMode="gray">
          <a:xfrm>
            <a:off x="6273255" y="156383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203" name="AutoShape 347"/>
          <p:cNvSpPr>
            <a:spLocks noChangeArrowheads="1"/>
          </p:cNvSpPr>
          <p:nvPr/>
        </p:nvSpPr>
        <p:spPr bwMode="gray">
          <a:xfrm rot="5400000">
            <a:off x="4411489" y="2936327"/>
            <a:ext cx="404813" cy="5187950"/>
          </a:xfrm>
          <a:prstGeom prst="can">
            <a:avLst>
              <a:gd name="adj" fmla="val 29073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4" name="AutoShape 343"/>
          <p:cNvSpPr>
            <a:spLocks noChangeArrowheads="1"/>
          </p:cNvSpPr>
          <p:nvPr/>
        </p:nvSpPr>
        <p:spPr bwMode="gray">
          <a:xfrm rot="5400000">
            <a:off x="4251152" y="5077864"/>
            <a:ext cx="611188" cy="908050"/>
          </a:xfrm>
          <a:prstGeom prst="can">
            <a:avLst>
              <a:gd name="adj" fmla="val 26227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5" name="AutoShape 346"/>
          <p:cNvSpPr>
            <a:spLocks noChangeArrowheads="1"/>
          </p:cNvSpPr>
          <p:nvPr/>
        </p:nvSpPr>
        <p:spPr bwMode="gray">
          <a:xfrm rot="5400000">
            <a:off x="5737052" y="4550814"/>
            <a:ext cx="611188" cy="1962150"/>
          </a:xfrm>
          <a:prstGeom prst="can">
            <a:avLst>
              <a:gd name="adj" fmla="val 31970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7" name="AutoShape 342"/>
          <p:cNvSpPr>
            <a:spLocks noChangeArrowheads="1"/>
          </p:cNvSpPr>
          <p:nvPr/>
        </p:nvSpPr>
        <p:spPr bwMode="gray">
          <a:xfrm rot="5400000">
            <a:off x="2648570" y="4759570"/>
            <a:ext cx="809625" cy="1635125"/>
          </a:xfrm>
          <a:prstGeom prst="can">
            <a:avLst>
              <a:gd name="adj" fmla="val 25441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8" name="AutoShape 344"/>
          <p:cNvSpPr>
            <a:spLocks noChangeArrowheads="1"/>
          </p:cNvSpPr>
          <p:nvPr/>
        </p:nvSpPr>
        <p:spPr bwMode="gray">
          <a:xfrm rot="5400000">
            <a:off x="5641424" y="4797253"/>
            <a:ext cx="809625" cy="1534359"/>
          </a:xfrm>
          <a:prstGeom prst="can">
            <a:avLst>
              <a:gd name="adj" fmla="val 25000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14" name="Picture 21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725653" y="2148133"/>
            <a:ext cx="436636" cy="395012"/>
          </a:xfrm>
          <a:prstGeom prst="rect">
            <a:avLst/>
          </a:prstGeom>
          <a:noFill/>
        </p:spPr>
      </p:pic>
      <p:pic>
        <p:nvPicPr>
          <p:cNvPr id="215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46834" y="2157535"/>
            <a:ext cx="436636" cy="395012"/>
          </a:xfrm>
          <a:prstGeom prst="rect">
            <a:avLst/>
          </a:prstGeom>
          <a:noFill/>
        </p:spPr>
      </p:pic>
      <p:pic>
        <p:nvPicPr>
          <p:cNvPr id="216" name="Picture 21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99018" y="1775598"/>
            <a:ext cx="436636" cy="395012"/>
          </a:xfrm>
          <a:prstGeom prst="rect">
            <a:avLst/>
          </a:prstGeom>
          <a:noFill/>
        </p:spPr>
      </p:pic>
      <p:pic>
        <p:nvPicPr>
          <p:cNvPr id="217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813417" y="2157535"/>
            <a:ext cx="436636" cy="395012"/>
          </a:xfrm>
          <a:prstGeom prst="rect">
            <a:avLst/>
          </a:prstGeom>
          <a:noFill/>
        </p:spPr>
      </p:pic>
      <p:sp>
        <p:nvSpPr>
          <p:cNvPr id="132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3" name="五边形 132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3" name="圆角矩形 142"/>
          <p:cNvSpPr/>
          <p:nvPr/>
        </p:nvSpPr>
        <p:spPr bwMode="gray">
          <a:xfrm>
            <a:off x="1587973" y="1206722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Text Box 351"/>
          <p:cNvSpPr txBox="1">
            <a:spLocks noChangeArrowheads="1"/>
          </p:cNvSpPr>
          <p:nvPr/>
        </p:nvSpPr>
        <p:spPr bwMode="gray">
          <a:xfrm>
            <a:off x="814705" y="3220449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45" name="Text Box 353"/>
          <p:cNvSpPr txBox="1">
            <a:spLocks noChangeArrowheads="1"/>
          </p:cNvSpPr>
          <p:nvPr/>
        </p:nvSpPr>
        <p:spPr bwMode="gray">
          <a:xfrm>
            <a:off x="507552" y="2783886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46" name="Line 403"/>
          <p:cNvSpPr>
            <a:spLocks noChangeShapeType="1"/>
          </p:cNvSpPr>
          <p:nvPr/>
        </p:nvSpPr>
        <p:spPr bwMode="gray">
          <a:xfrm flipH="1">
            <a:off x="832989" y="3156949"/>
            <a:ext cx="363537" cy="16758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Text Box 404"/>
          <p:cNvSpPr txBox="1">
            <a:spLocks noChangeArrowheads="1"/>
          </p:cNvSpPr>
          <p:nvPr/>
        </p:nvSpPr>
        <p:spPr bwMode="gray">
          <a:xfrm>
            <a:off x="375824" y="3262282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pic>
        <p:nvPicPr>
          <p:cNvPr id="148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168710" y="2875752"/>
            <a:ext cx="436636" cy="395012"/>
          </a:xfrm>
          <a:prstGeom prst="rect">
            <a:avLst/>
          </a:prstGeom>
          <a:noFill/>
        </p:spPr>
      </p:pic>
      <p:sp>
        <p:nvSpPr>
          <p:cNvPr id="149" name="圆角矩形 148"/>
          <p:cNvSpPr/>
          <p:nvPr/>
        </p:nvSpPr>
        <p:spPr bwMode="gray">
          <a:xfrm>
            <a:off x="459927" y="2821987"/>
            <a:ext cx="1205193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0" name="Text Box 352"/>
          <p:cNvSpPr txBox="1">
            <a:spLocks noChangeArrowheads="1"/>
          </p:cNvSpPr>
          <p:nvPr/>
        </p:nvSpPr>
        <p:spPr bwMode="gray">
          <a:xfrm>
            <a:off x="7606806" y="3213863"/>
            <a:ext cx="6524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51" name="Text Box 354"/>
          <p:cNvSpPr txBox="1">
            <a:spLocks noChangeArrowheads="1"/>
          </p:cNvSpPr>
          <p:nvPr/>
        </p:nvSpPr>
        <p:spPr bwMode="gray">
          <a:xfrm>
            <a:off x="7723816" y="2783650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pic>
        <p:nvPicPr>
          <p:cNvPr id="152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89156" y="2904576"/>
            <a:ext cx="436636" cy="395012"/>
          </a:xfrm>
          <a:prstGeom prst="rect">
            <a:avLst/>
          </a:prstGeom>
          <a:noFill/>
        </p:spPr>
      </p:pic>
      <p:sp>
        <p:nvSpPr>
          <p:cNvPr id="219" name="圆角矩形 218"/>
          <p:cNvSpPr/>
          <p:nvPr/>
        </p:nvSpPr>
        <p:spPr bwMode="gray">
          <a:xfrm>
            <a:off x="4839215" y="1206722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1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发送一个目的地为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报文后先封装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，然后添加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分配的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B2</a:t>
            </a:r>
            <a:r>
              <a:rPr lang="zh-CN" altLang="en-US" sz="1400" dirty="0">
                <a:sym typeface="Huawei Sans" panose="020C0503030203020204" pitchFamily="34" charset="0"/>
              </a:rPr>
              <a:t>做为中间标签，最后封装上外层标签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去掉外层标签，将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B2</a:t>
            </a:r>
            <a:r>
              <a:rPr lang="zh-CN" altLang="en-US" sz="1400" dirty="0">
                <a:sym typeface="Huawei Sans" panose="020C0503030203020204" pitchFamily="34" charset="0"/>
              </a:rPr>
              <a:t>交换为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，再将其转发给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当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收到报文后，去掉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进一步查表转发，发现此时去往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的路由有一个关联的标签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，因此，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将其加在栈顶，并转发给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进行标签交换，把外层标签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收到后去掉所有标签，将报文转发给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222" name="椭圆 221"/>
          <p:cNvSpPr/>
          <p:nvPr/>
        </p:nvSpPr>
        <p:spPr bwMode="gray">
          <a:xfrm>
            <a:off x="6470394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3" name="椭圆 222"/>
          <p:cNvSpPr/>
          <p:nvPr/>
        </p:nvSpPr>
        <p:spPr bwMode="gray">
          <a:xfrm>
            <a:off x="7380479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4" name="椭圆 223"/>
          <p:cNvSpPr/>
          <p:nvPr/>
        </p:nvSpPr>
        <p:spPr bwMode="gray">
          <a:xfrm>
            <a:off x="5565966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5" name="椭圆 224"/>
          <p:cNvSpPr/>
          <p:nvPr/>
        </p:nvSpPr>
        <p:spPr bwMode="gray">
          <a:xfrm>
            <a:off x="4470752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6" name="椭圆 225"/>
          <p:cNvSpPr/>
          <p:nvPr/>
        </p:nvSpPr>
        <p:spPr bwMode="gray">
          <a:xfrm>
            <a:off x="3409563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7" name="椭圆 226"/>
          <p:cNvSpPr/>
          <p:nvPr/>
        </p:nvSpPr>
        <p:spPr bwMode="gray">
          <a:xfrm>
            <a:off x="2606099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8" name="椭圆 227"/>
          <p:cNvSpPr/>
          <p:nvPr/>
        </p:nvSpPr>
        <p:spPr bwMode="gray">
          <a:xfrm>
            <a:off x="1717100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7" name="Arc 313"/>
          <p:cNvSpPr>
            <a:spLocks/>
          </p:cNvSpPr>
          <p:nvPr/>
        </p:nvSpPr>
        <p:spPr bwMode="gray">
          <a:xfrm rot="-23457795">
            <a:off x="3035166" y="853487"/>
            <a:ext cx="4308475" cy="4606925"/>
          </a:xfrm>
          <a:custGeom>
            <a:avLst/>
            <a:gdLst>
              <a:gd name="G0" fmla="+- 3503 0 0"/>
              <a:gd name="G1" fmla="+- 21600 0 0"/>
              <a:gd name="G2" fmla="+- 21600 0 0"/>
              <a:gd name="T0" fmla="*/ 0 w 22513"/>
              <a:gd name="T1" fmla="*/ 286 h 21600"/>
              <a:gd name="T2" fmla="*/ 22513 w 22513"/>
              <a:gd name="T3" fmla="*/ 11344 h 21600"/>
              <a:gd name="T4" fmla="*/ 3503 w 225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13" h="21600" fill="none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</a:path>
              <a:path w="22513" h="21600" stroke="0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  <a:lnTo>
                  <a:pt x="3503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圆角矩形 98"/>
          <p:cNvSpPr/>
          <p:nvPr/>
        </p:nvSpPr>
        <p:spPr bwMode="gray">
          <a:xfrm>
            <a:off x="7249815" y="2828926"/>
            <a:ext cx="1152824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12" name="Picture 21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60293" y="2126154"/>
            <a:ext cx="436636" cy="395012"/>
          </a:xfrm>
          <a:prstGeom prst="rect">
            <a:avLst/>
          </a:prstGeom>
          <a:noFill/>
        </p:spPr>
      </p:pic>
      <p:pic>
        <p:nvPicPr>
          <p:cNvPr id="213" name="Picture 2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60193" y="1795749"/>
            <a:ext cx="436636" cy="3950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3674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ine 267"/>
          <p:cNvSpPr>
            <a:spLocks noChangeShapeType="1"/>
          </p:cNvSpPr>
          <p:nvPr/>
        </p:nvSpPr>
        <p:spPr bwMode="gray">
          <a:xfrm>
            <a:off x="1276012" y="1916102"/>
            <a:ext cx="333192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>
                <a:sym typeface="Huawei Sans" panose="020C0503030203020204" pitchFamily="34" charset="0"/>
              </a:rPr>
              <a:t>OptionC</a:t>
            </a:r>
            <a:r>
              <a:rPr lang="zh-CN" altLang="en-US">
                <a:sym typeface="Huawei Sans" panose="020C0503030203020204" pitchFamily="34" charset="0"/>
              </a:rPr>
              <a:t>方式一解惑 </a:t>
            </a:r>
            <a:r>
              <a:rPr lang="en-US" altLang="zh-CN">
                <a:sym typeface="Huawei Sans" panose="020C0503030203020204" pitchFamily="34" charset="0"/>
              </a:rPr>
              <a:t>(1)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/>
          </p:nvPr>
        </p:nvSpPr>
        <p:spPr bwMode="gray">
          <a:xfrm>
            <a:off x="6095999" y="1567038"/>
            <a:ext cx="5653087" cy="1503539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为什么</a:t>
            </a:r>
            <a:r>
              <a:rPr lang="en-US" altLang="zh-CN" sz="1600" dirty="0">
                <a:sym typeface="Huawei Sans" panose="020C0503030203020204" pitchFamily="34" charset="0"/>
              </a:rPr>
              <a:t>ASBR2</a:t>
            </a:r>
            <a:r>
              <a:rPr lang="zh-CN" altLang="en-US" sz="1600" dirty="0">
                <a:sym typeface="Huawei Sans" panose="020C0503030203020204" pitchFamily="34" charset="0"/>
              </a:rPr>
              <a:t>要为去往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的路由分配标签？（先不考虑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）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由于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不感知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路由，因此当只携带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标签（该标签由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分配）的数据包到达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时，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无法识别，则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丢弃数据包。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32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3" name="五边形 132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109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70226" y="1739243"/>
            <a:ext cx="436636" cy="395012"/>
          </a:xfrm>
          <a:prstGeom prst="rect">
            <a:avLst/>
          </a:prstGeom>
          <a:noFill/>
        </p:spPr>
      </p:pic>
      <p:pic>
        <p:nvPicPr>
          <p:cNvPr id="110" name="Picture 21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gray">
          <a:xfrm>
            <a:off x="2712366" y="1739243"/>
            <a:ext cx="436636" cy="395012"/>
          </a:xfrm>
          <a:prstGeom prst="rect">
            <a:avLst/>
          </a:prstGeom>
          <a:noFill/>
        </p:spPr>
      </p:pic>
      <p:pic>
        <p:nvPicPr>
          <p:cNvPr id="111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54506" y="1739243"/>
            <a:ext cx="436636" cy="395012"/>
          </a:xfrm>
          <a:prstGeom prst="rect">
            <a:avLst/>
          </a:prstGeom>
          <a:noFill/>
        </p:spPr>
      </p:pic>
      <p:pic>
        <p:nvPicPr>
          <p:cNvPr id="112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596645" y="1739243"/>
            <a:ext cx="436636" cy="395012"/>
          </a:xfrm>
          <a:prstGeom prst="rect">
            <a:avLst/>
          </a:prstGeom>
          <a:noFill/>
        </p:spPr>
      </p:pic>
      <p:sp>
        <p:nvSpPr>
          <p:cNvPr id="113" name="圆角矩形 112"/>
          <p:cNvSpPr/>
          <p:nvPr/>
        </p:nvSpPr>
        <p:spPr bwMode="gray">
          <a:xfrm>
            <a:off x="470320" y="1654254"/>
            <a:ext cx="1047154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Text Box 261"/>
          <p:cNvSpPr txBox="1">
            <a:spLocks noChangeArrowheads="1"/>
          </p:cNvSpPr>
          <p:nvPr/>
        </p:nvSpPr>
        <p:spPr bwMode="gray">
          <a:xfrm>
            <a:off x="146228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15" name="Text Box 261"/>
          <p:cNvSpPr txBox="1">
            <a:spLocks noChangeArrowheads="1"/>
          </p:cNvSpPr>
          <p:nvPr/>
        </p:nvSpPr>
        <p:spPr bwMode="gray">
          <a:xfrm>
            <a:off x="240442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16" name="Text Box 261"/>
          <p:cNvSpPr txBox="1">
            <a:spLocks noChangeArrowheads="1"/>
          </p:cNvSpPr>
          <p:nvPr/>
        </p:nvSpPr>
        <p:spPr bwMode="gray">
          <a:xfrm>
            <a:off x="334656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Text Box 261"/>
          <p:cNvSpPr txBox="1">
            <a:spLocks noChangeArrowheads="1"/>
          </p:cNvSpPr>
          <p:nvPr/>
        </p:nvSpPr>
        <p:spPr bwMode="gray">
          <a:xfrm>
            <a:off x="428870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Text Box 196"/>
          <p:cNvSpPr txBox="1">
            <a:spLocks noChangeArrowheads="1"/>
          </p:cNvSpPr>
          <p:nvPr/>
        </p:nvSpPr>
        <p:spPr bwMode="gray">
          <a:xfrm>
            <a:off x="4054592" y="24569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19" name="Line 217"/>
          <p:cNvSpPr>
            <a:spLocks noChangeShapeType="1"/>
          </p:cNvSpPr>
          <p:nvPr/>
        </p:nvSpPr>
        <p:spPr bwMode="gray">
          <a:xfrm>
            <a:off x="4865912" y="2414254"/>
            <a:ext cx="0" cy="1260000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Line 225"/>
          <p:cNvSpPr>
            <a:spLocks noChangeShapeType="1"/>
          </p:cNvSpPr>
          <p:nvPr/>
        </p:nvSpPr>
        <p:spPr bwMode="gray">
          <a:xfrm>
            <a:off x="3898135" y="271234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Line 227"/>
          <p:cNvSpPr>
            <a:spLocks noChangeShapeType="1"/>
          </p:cNvSpPr>
          <p:nvPr/>
        </p:nvSpPr>
        <p:spPr bwMode="gray">
          <a:xfrm flipH="1">
            <a:off x="3841940" y="2414255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Rectangle 228"/>
          <p:cNvSpPr>
            <a:spLocks noChangeArrowheads="1"/>
          </p:cNvSpPr>
          <p:nvPr/>
        </p:nvSpPr>
        <p:spPr bwMode="gray">
          <a:xfrm>
            <a:off x="3995325" y="28571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23" name="Line 227"/>
          <p:cNvSpPr>
            <a:spLocks noChangeShapeType="1"/>
          </p:cNvSpPr>
          <p:nvPr/>
        </p:nvSpPr>
        <p:spPr bwMode="gray">
          <a:xfrm flipH="1">
            <a:off x="2938829" y="2455333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Text Box 196"/>
          <p:cNvSpPr txBox="1">
            <a:spLocks noChangeArrowheads="1"/>
          </p:cNvSpPr>
          <p:nvPr/>
        </p:nvSpPr>
        <p:spPr bwMode="gray">
          <a:xfrm>
            <a:off x="2102285" y="24569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25" name="Line 225"/>
          <p:cNvSpPr>
            <a:spLocks noChangeShapeType="1"/>
          </p:cNvSpPr>
          <p:nvPr/>
        </p:nvSpPr>
        <p:spPr bwMode="gray">
          <a:xfrm>
            <a:off x="1945828" y="271234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Line 227"/>
          <p:cNvSpPr>
            <a:spLocks noChangeShapeType="1"/>
          </p:cNvSpPr>
          <p:nvPr/>
        </p:nvSpPr>
        <p:spPr bwMode="gray">
          <a:xfrm flipH="1">
            <a:off x="1945828" y="2455333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2025963" y="2857158"/>
            <a:ext cx="739775" cy="517525"/>
            <a:chOff x="2342478" y="4183663"/>
            <a:chExt cx="739775" cy="517525"/>
          </a:xfrm>
        </p:grpSpPr>
        <p:sp>
          <p:nvSpPr>
            <p:cNvPr id="128" name="Rectangle 242"/>
            <p:cNvSpPr>
              <a:spLocks noChangeArrowheads="1"/>
            </p:cNvSpPr>
            <p:nvPr/>
          </p:nvSpPr>
          <p:spPr bwMode="gray">
            <a:xfrm>
              <a:off x="2342478" y="4183663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129" name="Rectangle 243"/>
            <p:cNvSpPr>
              <a:spLocks noChangeArrowheads="1"/>
            </p:cNvSpPr>
            <p:nvPr/>
          </p:nvSpPr>
          <p:spPr bwMode="gray">
            <a:xfrm>
              <a:off x="2342478" y="4437663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</a:p>
          </p:txBody>
        </p:sp>
      </p:grpSp>
      <p:pic>
        <p:nvPicPr>
          <p:cNvPr id="142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8086" y="1739243"/>
            <a:ext cx="436636" cy="395012"/>
          </a:xfrm>
          <a:prstGeom prst="rect">
            <a:avLst/>
          </a:prstGeom>
          <a:noFill/>
        </p:spPr>
      </p:pic>
      <p:sp>
        <p:nvSpPr>
          <p:cNvPr id="158" name="Text Box 261"/>
          <p:cNvSpPr txBox="1">
            <a:spLocks noChangeArrowheads="1"/>
          </p:cNvSpPr>
          <p:nvPr/>
        </p:nvSpPr>
        <p:spPr bwMode="gray">
          <a:xfrm>
            <a:off x="491675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59" name="圆角矩形 158"/>
          <p:cNvSpPr/>
          <p:nvPr/>
        </p:nvSpPr>
        <p:spPr bwMode="gray">
          <a:xfrm>
            <a:off x="1666531" y="1654254"/>
            <a:ext cx="2499831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圆角矩形 159"/>
          <p:cNvSpPr/>
          <p:nvPr/>
        </p:nvSpPr>
        <p:spPr bwMode="gray">
          <a:xfrm>
            <a:off x="4468505" y="1670397"/>
            <a:ext cx="762343" cy="784935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Line 267"/>
          <p:cNvSpPr>
            <a:spLocks noChangeShapeType="1"/>
          </p:cNvSpPr>
          <p:nvPr/>
        </p:nvSpPr>
        <p:spPr bwMode="gray">
          <a:xfrm>
            <a:off x="575733" y="4108377"/>
            <a:ext cx="403220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8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70226" y="3931518"/>
            <a:ext cx="436636" cy="395012"/>
          </a:xfrm>
          <a:prstGeom prst="rect">
            <a:avLst/>
          </a:prstGeom>
          <a:noFill/>
        </p:spPr>
      </p:pic>
      <p:pic>
        <p:nvPicPr>
          <p:cNvPr id="170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54506" y="3931518"/>
            <a:ext cx="436636" cy="395012"/>
          </a:xfrm>
          <a:prstGeom prst="rect">
            <a:avLst/>
          </a:prstGeom>
          <a:noFill/>
        </p:spPr>
      </p:pic>
      <p:pic>
        <p:nvPicPr>
          <p:cNvPr id="171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596645" y="3931518"/>
            <a:ext cx="436636" cy="395012"/>
          </a:xfrm>
          <a:prstGeom prst="rect">
            <a:avLst/>
          </a:prstGeom>
          <a:noFill/>
        </p:spPr>
      </p:pic>
      <p:sp>
        <p:nvSpPr>
          <p:cNvPr id="172" name="圆角矩形 171"/>
          <p:cNvSpPr/>
          <p:nvPr/>
        </p:nvSpPr>
        <p:spPr bwMode="gray">
          <a:xfrm>
            <a:off x="470320" y="3846529"/>
            <a:ext cx="1047154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Text Box 261"/>
          <p:cNvSpPr txBox="1">
            <a:spLocks noChangeArrowheads="1"/>
          </p:cNvSpPr>
          <p:nvPr/>
        </p:nvSpPr>
        <p:spPr bwMode="gray">
          <a:xfrm>
            <a:off x="1462288" y="4342808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74" name="Text Box 261"/>
          <p:cNvSpPr txBox="1">
            <a:spLocks noChangeArrowheads="1"/>
          </p:cNvSpPr>
          <p:nvPr/>
        </p:nvSpPr>
        <p:spPr bwMode="gray">
          <a:xfrm>
            <a:off x="2404428" y="4342808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75" name="Text Box 261"/>
          <p:cNvSpPr txBox="1">
            <a:spLocks noChangeArrowheads="1"/>
          </p:cNvSpPr>
          <p:nvPr/>
        </p:nvSpPr>
        <p:spPr bwMode="gray">
          <a:xfrm>
            <a:off x="3346568" y="4342808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6" name="Text Box 261"/>
          <p:cNvSpPr txBox="1">
            <a:spLocks noChangeArrowheads="1"/>
          </p:cNvSpPr>
          <p:nvPr/>
        </p:nvSpPr>
        <p:spPr bwMode="gray">
          <a:xfrm>
            <a:off x="4288708" y="4342808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Text Box 196"/>
          <p:cNvSpPr txBox="1">
            <a:spLocks noChangeArrowheads="1"/>
          </p:cNvSpPr>
          <p:nvPr/>
        </p:nvSpPr>
        <p:spPr bwMode="gray">
          <a:xfrm>
            <a:off x="4054592" y="4649185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78" name="Line 217"/>
          <p:cNvSpPr>
            <a:spLocks noChangeShapeType="1"/>
          </p:cNvSpPr>
          <p:nvPr/>
        </p:nvSpPr>
        <p:spPr bwMode="gray">
          <a:xfrm>
            <a:off x="4865912" y="4606529"/>
            <a:ext cx="0" cy="1260000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9" name="Line 225"/>
          <p:cNvSpPr>
            <a:spLocks noChangeShapeType="1"/>
          </p:cNvSpPr>
          <p:nvPr/>
        </p:nvSpPr>
        <p:spPr bwMode="gray">
          <a:xfrm>
            <a:off x="3898135" y="4904617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0" name="Line 227"/>
          <p:cNvSpPr>
            <a:spLocks noChangeShapeType="1"/>
          </p:cNvSpPr>
          <p:nvPr/>
        </p:nvSpPr>
        <p:spPr bwMode="gray">
          <a:xfrm flipH="1">
            <a:off x="3841940" y="4606530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1" name="Rectangle 228"/>
          <p:cNvSpPr>
            <a:spLocks noChangeArrowheads="1"/>
          </p:cNvSpPr>
          <p:nvPr/>
        </p:nvSpPr>
        <p:spPr bwMode="gray">
          <a:xfrm>
            <a:off x="3995325" y="5049433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82" name="Line 227"/>
          <p:cNvSpPr>
            <a:spLocks noChangeShapeType="1"/>
          </p:cNvSpPr>
          <p:nvPr/>
        </p:nvSpPr>
        <p:spPr bwMode="gray">
          <a:xfrm flipH="1">
            <a:off x="2938829" y="4647608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3" name="Text Box 196"/>
          <p:cNvSpPr txBox="1">
            <a:spLocks noChangeArrowheads="1"/>
          </p:cNvSpPr>
          <p:nvPr/>
        </p:nvSpPr>
        <p:spPr bwMode="gray">
          <a:xfrm>
            <a:off x="2102285" y="4649185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84" name="Line 225"/>
          <p:cNvSpPr>
            <a:spLocks noChangeShapeType="1"/>
          </p:cNvSpPr>
          <p:nvPr/>
        </p:nvSpPr>
        <p:spPr bwMode="gray">
          <a:xfrm>
            <a:off x="1945828" y="4904617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5" name="Line 227"/>
          <p:cNvSpPr>
            <a:spLocks noChangeShapeType="1"/>
          </p:cNvSpPr>
          <p:nvPr/>
        </p:nvSpPr>
        <p:spPr bwMode="gray">
          <a:xfrm flipH="1">
            <a:off x="1945828" y="4647608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89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8086" y="3931518"/>
            <a:ext cx="436636" cy="395012"/>
          </a:xfrm>
          <a:prstGeom prst="rect">
            <a:avLst/>
          </a:prstGeom>
          <a:noFill/>
        </p:spPr>
      </p:pic>
      <p:sp>
        <p:nvSpPr>
          <p:cNvPr id="190" name="Text Box 261"/>
          <p:cNvSpPr txBox="1">
            <a:spLocks noChangeArrowheads="1"/>
          </p:cNvSpPr>
          <p:nvPr/>
        </p:nvSpPr>
        <p:spPr bwMode="gray">
          <a:xfrm>
            <a:off x="491675" y="4342808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91" name="圆角矩形 190"/>
          <p:cNvSpPr/>
          <p:nvPr/>
        </p:nvSpPr>
        <p:spPr bwMode="gray">
          <a:xfrm>
            <a:off x="1666531" y="3846529"/>
            <a:ext cx="2499831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2" name="圆角矩形 191"/>
          <p:cNvSpPr/>
          <p:nvPr/>
        </p:nvSpPr>
        <p:spPr bwMode="gray">
          <a:xfrm>
            <a:off x="4468505" y="3862672"/>
            <a:ext cx="762343" cy="784935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3" name="Text Box 196"/>
          <p:cNvSpPr txBox="1">
            <a:spLocks noChangeArrowheads="1"/>
          </p:cNvSpPr>
          <p:nvPr/>
        </p:nvSpPr>
        <p:spPr bwMode="gray">
          <a:xfrm>
            <a:off x="1134507" y="4649185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94" name="Line 217"/>
          <p:cNvSpPr>
            <a:spLocks noChangeShapeType="1"/>
          </p:cNvSpPr>
          <p:nvPr/>
        </p:nvSpPr>
        <p:spPr bwMode="gray">
          <a:xfrm>
            <a:off x="1945827" y="4606529"/>
            <a:ext cx="0" cy="1260000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5" name="Line 225"/>
          <p:cNvSpPr>
            <a:spLocks noChangeShapeType="1"/>
          </p:cNvSpPr>
          <p:nvPr/>
        </p:nvSpPr>
        <p:spPr bwMode="gray">
          <a:xfrm>
            <a:off x="978050" y="4904617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6" name="Line 227"/>
          <p:cNvSpPr>
            <a:spLocks noChangeShapeType="1"/>
          </p:cNvSpPr>
          <p:nvPr/>
        </p:nvSpPr>
        <p:spPr bwMode="gray">
          <a:xfrm flipH="1">
            <a:off x="921855" y="4606530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文本占位符 14"/>
          <p:cNvSpPr txBox="1">
            <a:spLocks/>
          </p:cNvSpPr>
          <p:nvPr/>
        </p:nvSpPr>
        <p:spPr bwMode="gray">
          <a:xfrm>
            <a:off x="6095999" y="3722167"/>
            <a:ext cx="5653087" cy="1503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ym typeface="Huawei Sans" panose="020C0503030203020204" pitchFamily="34" charset="0"/>
              </a:rPr>
              <a:t>为什么</a:t>
            </a:r>
            <a:r>
              <a:rPr lang="en-US" altLang="zh-CN" sz="1600" dirty="0">
                <a:sym typeface="Huawei Sans" panose="020C0503030203020204" pitchFamily="34" charset="0"/>
              </a:rPr>
              <a:t>ASBR1</a:t>
            </a:r>
            <a:r>
              <a:rPr lang="zh-CN" altLang="en-US" sz="1600" dirty="0">
                <a:sym typeface="Huawei Sans" panose="020C0503030203020204" pitchFamily="34" charset="0"/>
              </a:rPr>
              <a:t>要为去往</a:t>
            </a:r>
            <a:r>
              <a:rPr lang="en-US" altLang="zh-CN" sz="1600" dirty="0">
                <a:sym typeface="Huawei Sans" panose="020C0503030203020204" pitchFamily="34" charset="0"/>
              </a:rPr>
              <a:t>PE1</a:t>
            </a:r>
            <a:r>
              <a:rPr lang="zh-CN" altLang="en-US" sz="1600" dirty="0">
                <a:sym typeface="Huawei Sans" panose="020C0503030203020204" pitchFamily="34" charset="0"/>
              </a:rPr>
              <a:t>的路由分配标签？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同理，由于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不知道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路由，因此当只携带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标签（该标签由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分配）的数据包到达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时，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无法识别，则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丢弃数据包。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pic>
        <p:nvPicPr>
          <p:cNvPr id="211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20511" y="3931518"/>
            <a:ext cx="436636" cy="395012"/>
          </a:xfrm>
          <a:prstGeom prst="rect">
            <a:avLst/>
          </a:prstGeom>
          <a:noFill/>
        </p:spPr>
      </p:pic>
      <p:sp>
        <p:nvSpPr>
          <p:cNvPr id="67" name="Line 225"/>
          <p:cNvSpPr>
            <a:spLocks noChangeShapeType="1"/>
          </p:cNvSpPr>
          <p:nvPr/>
        </p:nvSpPr>
        <p:spPr bwMode="gray">
          <a:xfrm>
            <a:off x="1020373" y="271234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Line 225"/>
          <p:cNvSpPr>
            <a:spLocks noChangeShapeType="1"/>
          </p:cNvSpPr>
          <p:nvPr/>
        </p:nvSpPr>
        <p:spPr bwMode="gray">
          <a:xfrm>
            <a:off x="455614" y="4904617"/>
            <a:ext cx="42947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" name="乘号 15"/>
          <p:cNvSpPr/>
          <p:nvPr/>
        </p:nvSpPr>
        <p:spPr bwMode="gray">
          <a:xfrm>
            <a:off x="1403455" y="2469040"/>
            <a:ext cx="279296" cy="517525"/>
          </a:xfrm>
          <a:prstGeom prst="mathMultiply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8" name="乘号 217"/>
          <p:cNvSpPr/>
          <p:nvPr/>
        </p:nvSpPr>
        <p:spPr bwMode="gray">
          <a:xfrm>
            <a:off x="562528" y="4645854"/>
            <a:ext cx="279296" cy="517525"/>
          </a:xfrm>
          <a:prstGeom prst="mathMultiply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2" name="组合 71"/>
          <p:cNvGrpSpPr/>
          <p:nvPr/>
        </p:nvGrpSpPr>
        <p:grpSpPr bwMode="gray">
          <a:xfrm>
            <a:off x="1095049" y="5049433"/>
            <a:ext cx="739775" cy="517525"/>
            <a:chOff x="2342478" y="4183663"/>
            <a:chExt cx="739775" cy="517525"/>
          </a:xfrm>
        </p:grpSpPr>
        <p:sp>
          <p:nvSpPr>
            <p:cNvPr id="73" name="Rectangle 242"/>
            <p:cNvSpPr>
              <a:spLocks noChangeArrowheads="1"/>
            </p:cNvSpPr>
            <p:nvPr/>
          </p:nvSpPr>
          <p:spPr bwMode="gray">
            <a:xfrm>
              <a:off x="2342478" y="4183663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74" name="Rectangle 243"/>
            <p:cNvSpPr>
              <a:spLocks noChangeArrowheads="1"/>
            </p:cNvSpPr>
            <p:nvPr/>
          </p:nvSpPr>
          <p:spPr bwMode="gray">
            <a:xfrm>
              <a:off x="2342478" y="4437663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</a:p>
          </p:txBody>
        </p:sp>
      </p:grpSp>
      <p:grpSp>
        <p:nvGrpSpPr>
          <p:cNvPr id="75" name="组合 74"/>
          <p:cNvGrpSpPr/>
          <p:nvPr/>
        </p:nvGrpSpPr>
        <p:grpSpPr bwMode="gray">
          <a:xfrm>
            <a:off x="2051485" y="5049433"/>
            <a:ext cx="739775" cy="752053"/>
            <a:chOff x="3351367" y="4122561"/>
            <a:chExt cx="739775" cy="752053"/>
          </a:xfrm>
        </p:grpSpPr>
        <p:sp>
          <p:nvSpPr>
            <p:cNvPr id="76" name="Rectangle 242"/>
            <p:cNvSpPr>
              <a:spLocks noChangeArrowheads="1"/>
            </p:cNvSpPr>
            <p:nvPr/>
          </p:nvSpPr>
          <p:spPr bwMode="gray">
            <a:xfrm>
              <a:off x="3351367" y="4122561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77" name="Rectangle 243"/>
            <p:cNvSpPr>
              <a:spLocks noChangeArrowheads="1"/>
            </p:cNvSpPr>
            <p:nvPr/>
          </p:nvSpPr>
          <p:spPr bwMode="gray">
            <a:xfrm>
              <a:off x="3351367" y="4376561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</a:p>
          </p:txBody>
        </p:sp>
        <p:sp>
          <p:nvSpPr>
            <p:cNvPr id="78" name="Rectangle 244"/>
            <p:cNvSpPr>
              <a:spLocks noChangeArrowheads="1"/>
            </p:cNvSpPr>
            <p:nvPr/>
          </p:nvSpPr>
          <p:spPr bwMode="gray">
            <a:xfrm>
              <a:off x="3351367" y="4611089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087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ine 267"/>
          <p:cNvSpPr>
            <a:spLocks noChangeShapeType="1"/>
          </p:cNvSpPr>
          <p:nvPr/>
        </p:nvSpPr>
        <p:spPr bwMode="gray">
          <a:xfrm>
            <a:off x="1276012" y="1916102"/>
            <a:ext cx="333192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方式一解惑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/>
          </p:nvPr>
        </p:nvSpPr>
        <p:spPr bwMode="gray">
          <a:xfrm>
            <a:off x="449263" y="3936138"/>
            <a:ext cx="5653087" cy="1503539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为什么</a:t>
            </a:r>
            <a:r>
              <a:rPr lang="en-US" altLang="zh-CN" sz="1600" dirty="0">
                <a:sym typeface="Huawei Sans" panose="020C0503030203020204" pitchFamily="34" charset="0"/>
              </a:rPr>
              <a:t>P2</a:t>
            </a:r>
            <a:r>
              <a:rPr lang="zh-CN" altLang="en-US" sz="1600" dirty="0">
                <a:sym typeface="Huawei Sans" panose="020C0503030203020204" pitchFamily="34" charset="0"/>
              </a:rPr>
              <a:t>要为</a:t>
            </a:r>
            <a:r>
              <a:rPr lang="en-US" altLang="zh-CN" sz="1600" dirty="0">
                <a:sym typeface="Huawei Sans" panose="020C0503030203020204" pitchFamily="34" charset="0"/>
              </a:rPr>
              <a:t>ASBR2</a:t>
            </a:r>
            <a:r>
              <a:rPr lang="zh-CN" altLang="en-US" sz="1600" dirty="0">
                <a:sym typeface="Huawei Sans" panose="020C0503030203020204" pitchFamily="34" charset="0"/>
              </a:rPr>
              <a:t>分配标签？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由于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不知道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的路由信息，因此当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报文携带的外层标签为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标签（该标签由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分配）时，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无法识别外层标签</a:t>
            </a:r>
            <a:r>
              <a:rPr lang="en-US" altLang="zh-CN" sz="1400" dirty="0">
                <a:sym typeface="Huawei Sans" panose="020C0503030203020204" pitchFamily="34" charset="0"/>
              </a:rPr>
              <a:t>B2</a:t>
            </a:r>
            <a:r>
              <a:rPr lang="zh-CN" altLang="en-US" sz="1400" dirty="0">
                <a:sym typeface="Huawei Sans" panose="020C0503030203020204" pitchFamily="34" charset="0"/>
              </a:rPr>
              <a:t>，则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丢弃该数据包。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32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5888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33" name="五边形 132"/>
          <p:cNvSpPr/>
          <p:nvPr/>
        </p:nvSpPr>
        <p:spPr bwMode="gray">
          <a:xfrm>
            <a:off x="10022136" y="115888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109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770226" y="1739243"/>
            <a:ext cx="436636" cy="395012"/>
          </a:xfrm>
          <a:prstGeom prst="rect">
            <a:avLst/>
          </a:prstGeom>
          <a:noFill/>
        </p:spPr>
      </p:pic>
      <p:pic>
        <p:nvPicPr>
          <p:cNvPr id="111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654506" y="1739243"/>
            <a:ext cx="436636" cy="395012"/>
          </a:xfrm>
          <a:prstGeom prst="rect">
            <a:avLst/>
          </a:prstGeom>
          <a:noFill/>
        </p:spPr>
      </p:pic>
      <p:pic>
        <p:nvPicPr>
          <p:cNvPr id="112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596645" y="1739243"/>
            <a:ext cx="436636" cy="395012"/>
          </a:xfrm>
          <a:prstGeom prst="rect">
            <a:avLst/>
          </a:prstGeom>
          <a:noFill/>
        </p:spPr>
      </p:pic>
      <p:sp>
        <p:nvSpPr>
          <p:cNvPr id="113" name="圆角矩形 112"/>
          <p:cNvSpPr/>
          <p:nvPr/>
        </p:nvSpPr>
        <p:spPr bwMode="gray">
          <a:xfrm>
            <a:off x="470320" y="1654254"/>
            <a:ext cx="1047154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4" name="Text Box 261"/>
          <p:cNvSpPr txBox="1">
            <a:spLocks noChangeArrowheads="1"/>
          </p:cNvSpPr>
          <p:nvPr/>
        </p:nvSpPr>
        <p:spPr bwMode="gray">
          <a:xfrm>
            <a:off x="146228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15" name="Text Box 261"/>
          <p:cNvSpPr txBox="1">
            <a:spLocks noChangeArrowheads="1"/>
          </p:cNvSpPr>
          <p:nvPr/>
        </p:nvSpPr>
        <p:spPr bwMode="gray">
          <a:xfrm>
            <a:off x="240442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16" name="Text Box 261"/>
          <p:cNvSpPr txBox="1">
            <a:spLocks noChangeArrowheads="1"/>
          </p:cNvSpPr>
          <p:nvPr/>
        </p:nvSpPr>
        <p:spPr bwMode="gray">
          <a:xfrm>
            <a:off x="334656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7" name="Text Box 261"/>
          <p:cNvSpPr txBox="1">
            <a:spLocks noChangeArrowheads="1"/>
          </p:cNvSpPr>
          <p:nvPr/>
        </p:nvSpPr>
        <p:spPr bwMode="gray">
          <a:xfrm>
            <a:off x="4288708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8" name="Text Box 196"/>
          <p:cNvSpPr txBox="1">
            <a:spLocks noChangeArrowheads="1"/>
          </p:cNvSpPr>
          <p:nvPr/>
        </p:nvSpPr>
        <p:spPr bwMode="gray">
          <a:xfrm>
            <a:off x="4054592" y="24569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19" name="Line 217"/>
          <p:cNvSpPr>
            <a:spLocks noChangeShapeType="1"/>
          </p:cNvSpPr>
          <p:nvPr/>
        </p:nvSpPr>
        <p:spPr bwMode="gray">
          <a:xfrm>
            <a:off x="4865912" y="2414254"/>
            <a:ext cx="0" cy="1260000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Line 225"/>
          <p:cNvSpPr>
            <a:spLocks noChangeShapeType="1"/>
          </p:cNvSpPr>
          <p:nvPr/>
        </p:nvSpPr>
        <p:spPr bwMode="gray">
          <a:xfrm>
            <a:off x="3898135" y="271234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Line 227"/>
          <p:cNvSpPr>
            <a:spLocks noChangeShapeType="1"/>
          </p:cNvSpPr>
          <p:nvPr/>
        </p:nvSpPr>
        <p:spPr bwMode="gray">
          <a:xfrm flipH="1">
            <a:off x="3841940" y="2414255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Rectangle 228"/>
          <p:cNvSpPr>
            <a:spLocks noChangeArrowheads="1"/>
          </p:cNvSpPr>
          <p:nvPr/>
        </p:nvSpPr>
        <p:spPr bwMode="gray">
          <a:xfrm>
            <a:off x="3995325" y="28571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23" name="Line 227"/>
          <p:cNvSpPr>
            <a:spLocks noChangeShapeType="1"/>
          </p:cNvSpPr>
          <p:nvPr/>
        </p:nvSpPr>
        <p:spPr bwMode="gray">
          <a:xfrm flipH="1">
            <a:off x="2938829" y="2455333"/>
            <a:ext cx="0" cy="1258161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42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8086" y="1739243"/>
            <a:ext cx="436636" cy="395012"/>
          </a:xfrm>
          <a:prstGeom prst="rect">
            <a:avLst/>
          </a:prstGeom>
          <a:noFill/>
        </p:spPr>
      </p:pic>
      <p:sp>
        <p:nvSpPr>
          <p:cNvPr id="158" name="Text Box 261"/>
          <p:cNvSpPr txBox="1">
            <a:spLocks noChangeArrowheads="1"/>
          </p:cNvSpPr>
          <p:nvPr/>
        </p:nvSpPr>
        <p:spPr bwMode="gray">
          <a:xfrm>
            <a:off x="491675" y="2150533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59" name="圆角矩形 158"/>
          <p:cNvSpPr/>
          <p:nvPr/>
        </p:nvSpPr>
        <p:spPr bwMode="gray">
          <a:xfrm>
            <a:off x="1666531" y="1654254"/>
            <a:ext cx="2499831" cy="802656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圆角矩形 159"/>
          <p:cNvSpPr/>
          <p:nvPr/>
        </p:nvSpPr>
        <p:spPr bwMode="gray">
          <a:xfrm>
            <a:off x="4468505" y="1670397"/>
            <a:ext cx="762343" cy="784935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文本占位符 14"/>
          <p:cNvSpPr txBox="1">
            <a:spLocks/>
          </p:cNvSpPr>
          <p:nvPr/>
        </p:nvSpPr>
        <p:spPr bwMode="gray">
          <a:xfrm>
            <a:off x="6095999" y="3722167"/>
            <a:ext cx="5653087" cy="1503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gray">
          <a:xfrm>
            <a:off x="3045971" y="2857158"/>
            <a:ext cx="739775" cy="752053"/>
            <a:chOff x="3351367" y="4122561"/>
            <a:chExt cx="739775" cy="752053"/>
          </a:xfrm>
        </p:grpSpPr>
        <p:sp>
          <p:nvSpPr>
            <p:cNvPr id="74" name="Rectangle 242"/>
            <p:cNvSpPr>
              <a:spLocks noChangeArrowheads="1"/>
            </p:cNvSpPr>
            <p:nvPr/>
          </p:nvSpPr>
          <p:spPr bwMode="gray">
            <a:xfrm>
              <a:off x="3351367" y="4122561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</a:p>
          </p:txBody>
        </p:sp>
        <p:sp>
          <p:nvSpPr>
            <p:cNvPr id="75" name="Rectangle 243"/>
            <p:cNvSpPr>
              <a:spLocks noChangeArrowheads="1"/>
            </p:cNvSpPr>
            <p:nvPr/>
          </p:nvSpPr>
          <p:spPr bwMode="gray">
            <a:xfrm>
              <a:off x="3351367" y="4376561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V1</a:t>
              </a:r>
            </a:p>
          </p:txBody>
        </p:sp>
        <p:sp>
          <p:nvSpPr>
            <p:cNvPr id="76" name="Rectangle 244"/>
            <p:cNvSpPr>
              <a:spLocks noChangeArrowheads="1"/>
            </p:cNvSpPr>
            <p:nvPr/>
          </p:nvSpPr>
          <p:spPr bwMode="gray">
            <a:xfrm>
              <a:off x="3351367" y="4611089"/>
              <a:ext cx="739775" cy="263525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zh-CN" sz="14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B2</a:t>
              </a:r>
            </a:p>
          </p:txBody>
        </p:sp>
      </p:grpSp>
      <p:pic>
        <p:nvPicPr>
          <p:cNvPr id="79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93257" y="1739243"/>
            <a:ext cx="436636" cy="395012"/>
          </a:xfrm>
          <a:prstGeom prst="rect">
            <a:avLst/>
          </a:prstGeom>
          <a:noFill/>
        </p:spPr>
      </p:pic>
      <p:sp>
        <p:nvSpPr>
          <p:cNvPr id="80" name="Text Box 196"/>
          <p:cNvSpPr txBox="1">
            <a:spLocks noChangeArrowheads="1"/>
          </p:cNvSpPr>
          <p:nvPr/>
        </p:nvSpPr>
        <p:spPr bwMode="gray">
          <a:xfrm>
            <a:off x="3095285" y="24569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81" name="Line 225"/>
          <p:cNvSpPr>
            <a:spLocks noChangeShapeType="1"/>
          </p:cNvSpPr>
          <p:nvPr/>
        </p:nvSpPr>
        <p:spPr bwMode="gray">
          <a:xfrm>
            <a:off x="2075856" y="2712342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占位符 14"/>
          <p:cNvSpPr txBox="1">
            <a:spLocks/>
          </p:cNvSpPr>
          <p:nvPr/>
        </p:nvSpPr>
        <p:spPr bwMode="gray">
          <a:xfrm>
            <a:off x="6102350" y="1224747"/>
            <a:ext cx="5653087" cy="1503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ym typeface="Huawei Sans" panose="020C0503030203020204" pitchFamily="34" charset="0"/>
              </a:rPr>
              <a:t>再回顾下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的基本特征：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专用（</a:t>
            </a:r>
            <a:r>
              <a:rPr lang="en-US" altLang="zh-CN" sz="1400" dirty="0">
                <a:sym typeface="Huawei Sans" panose="020C0503030203020204" pitchFamily="34" charset="0"/>
              </a:rPr>
              <a:t>Private</a:t>
            </a:r>
            <a:r>
              <a:rPr lang="zh-CN" altLang="en-US" sz="1400" dirty="0">
                <a:sym typeface="Huawei Sans" panose="020C0503030203020204" pitchFamily="34" charset="0"/>
              </a:rPr>
              <a:t>）：对于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用户，使用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与使用传统专网没有区别。一方面，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与底层承载网络之间保持资源独立，即，一般情况下，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资源不被网络中其它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或非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用户所使用；另一方面，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提供足够的安全保证，确保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内部信息不受外部侵扰。</a:t>
            </a:r>
          </a:p>
          <a:p>
            <a:pPr lvl="1"/>
            <a:r>
              <a:rPr lang="zh-CN" altLang="en-US" sz="1400" dirty="0">
                <a:sym typeface="Huawei Sans" panose="020C0503030203020204" pitchFamily="34" charset="0"/>
              </a:rPr>
              <a:t>虚拟（</a:t>
            </a:r>
            <a:r>
              <a:rPr lang="en-US" altLang="zh-CN" sz="1400" dirty="0">
                <a:sym typeface="Huawei Sans" panose="020C0503030203020204" pitchFamily="34" charset="0"/>
              </a:rPr>
              <a:t>Virtual</a:t>
            </a:r>
            <a:r>
              <a:rPr lang="zh-CN" altLang="en-US" sz="1400" dirty="0">
                <a:sym typeface="Huawei Sans" panose="020C0503030203020204" pitchFamily="34" charset="0"/>
              </a:rPr>
              <a:t>）：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用户内部的通信是通过一个公共网络进行的，而这个公共网络同时也被其他非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用户使用。即，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用户获得的是一个逻辑意义上的专网。这个公共网络称为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骨干网（</a:t>
            </a:r>
            <a:r>
              <a:rPr lang="en-US" altLang="zh-CN" sz="1400" dirty="0">
                <a:sym typeface="Huawei Sans" panose="020C0503030203020204" pitchFamily="34" charset="0"/>
              </a:rPr>
              <a:t>VPN Backbone</a:t>
            </a:r>
            <a:r>
              <a:rPr lang="zh-CN" altLang="en-US" sz="1400" dirty="0">
                <a:sym typeface="Huawei Sans" panose="020C0503030203020204" pitchFamily="34" charset="0"/>
              </a:rPr>
              <a:t>）。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为实现虚拟和专用，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路由信息只有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设备感知，而为了避免数据转发时出现黑洞，导致丢包，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数据在转发时均需要各种形式的隧道承载。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常见的隧道承载技术有：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GRE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SRv6</a:t>
            </a:r>
            <a:r>
              <a:rPr lang="zh-CN" altLang="en-US" sz="1600" dirty="0">
                <a:sym typeface="Huawei Sans" panose="020C0503030203020204" pitchFamily="34" charset="0"/>
              </a:rPr>
              <a:t>等。</a:t>
            </a:r>
          </a:p>
          <a:p>
            <a:pPr lvl="1"/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6" name="乘号 15"/>
          <p:cNvSpPr/>
          <p:nvPr/>
        </p:nvSpPr>
        <p:spPr bwMode="gray">
          <a:xfrm>
            <a:off x="2486787" y="2455333"/>
            <a:ext cx="279296" cy="517525"/>
          </a:xfrm>
          <a:prstGeom prst="mathMultiply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8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跨域</a:t>
            </a:r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 dirty="0">
                <a:sym typeface="Huawei Sans" panose="020C0503030203020204" pitchFamily="34" charset="0"/>
              </a:rPr>
              <a:t>跨域</a:t>
            </a:r>
            <a:r>
              <a:rPr lang="en-US" altLang="zh-CN" sz="1800" dirty="0">
                <a:sym typeface="Huawei Sans" panose="020C0503030203020204" pitchFamily="34" charset="0"/>
              </a:rPr>
              <a:t>VPN-</a:t>
            </a:r>
            <a:r>
              <a:rPr lang="en-US" altLang="zh-CN" sz="1800" dirty="0" err="1">
                <a:sym typeface="Huawei Sans" panose="020C0503030203020204" pitchFamily="34" charset="0"/>
              </a:rPr>
              <a:t>OptionC</a:t>
            </a:r>
            <a:r>
              <a:rPr lang="zh-CN" altLang="en-US" sz="1800" dirty="0">
                <a:sym typeface="Huawei Sans" panose="020C0503030203020204" pitchFamily="34" charset="0"/>
              </a:rPr>
              <a:t>方案二与方案一大体相似。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不同之处在于，方案一中，需要使用三层标签，即</a:t>
            </a:r>
            <a:r>
              <a:rPr lang="en-US" altLang="zh-CN" sz="1800" dirty="0">
                <a:sym typeface="Huawei Sans" panose="020C0503030203020204" pitchFamily="34" charset="0"/>
              </a:rPr>
              <a:t>VPN label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BGP LSP</a:t>
            </a:r>
            <a:r>
              <a:rPr lang="zh-CN" altLang="en-US" sz="1800" dirty="0"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sym typeface="Huawei Sans" panose="020C0503030203020204" pitchFamily="34" charset="0"/>
              </a:rPr>
              <a:t>LDP LSP</a:t>
            </a:r>
            <a:r>
              <a:rPr lang="zh-CN" altLang="en-US" sz="1800" dirty="0">
                <a:sym typeface="Huawei Sans" panose="020C0503030203020204" pitchFamily="34" charset="0"/>
              </a:rPr>
              <a:t>来承载流量，而方案二只需要两层。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方案一，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在收到对端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发来的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标签路由后，需要配置策略产生一个新的标签并发布给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内的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或者</a:t>
            </a:r>
            <a:r>
              <a:rPr lang="en-US" altLang="zh-CN" sz="1800" dirty="0">
                <a:sym typeface="Huawei Sans" panose="020C0503030203020204" pitchFamily="34" charset="0"/>
              </a:rPr>
              <a:t>RR</a:t>
            </a:r>
            <a:r>
              <a:rPr lang="zh-CN" altLang="en-US" sz="1800" dirty="0">
                <a:sym typeface="Huawei Sans" panose="020C0503030203020204" pitchFamily="34" charset="0"/>
              </a:rPr>
              <a:t>设备，以建立一条完整的</a:t>
            </a:r>
            <a:r>
              <a:rPr lang="en-US" altLang="zh-CN" sz="1800" dirty="0">
                <a:sym typeface="Huawei Sans" panose="020C0503030203020204" pitchFamily="34" charset="0"/>
              </a:rPr>
              <a:t>BGP LSP</a:t>
            </a:r>
            <a:r>
              <a:rPr lang="zh-CN" altLang="en-US" sz="1800" dirty="0">
                <a:sym typeface="Huawei Sans" panose="020C0503030203020204" pitchFamily="34" charset="0"/>
              </a:rPr>
              <a:t>。方案二中，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需要配置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触发为</a:t>
            </a:r>
            <a:r>
              <a:rPr lang="en-US" altLang="zh-CN" sz="1800" dirty="0">
                <a:sym typeface="Huawei Sans" panose="020C0503030203020204" pitchFamily="34" charset="0"/>
              </a:rPr>
              <a:t>BGP</a:t>
            </a:r>
            <a:r>
              <a:rPr lang="zh-CN" altLang="en-US" sz="1800" dirty="0">
                <a:sym typeface="Huawei Sans" panose="020C0503030203020204" pitchFamily="34" charset="0"/>
              </a:rPr>
              <a:t>标签路由分发标签，因此在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内的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上可以看到去往对端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的</a:t>
            </a:r>
            <a:r>
              <a:rPr lang="en-US" altLang="zh-CN" sz="1800" dirty="0">
                <a:sym typeface="Huawei Sans" panose="020C0503030203020204" pitchFamily="34" charset="0"/>
              </a:rPr>
              <a:t>LDP LSP</a:t>
            </a:r>
            <a:r>
              <a:rPr lang="zh-CN" altLang="en-US" sz="1800" dirty="0">
                <a:sym typeface="Huawei Sans" panose="020C0503030203020204" pitchFamily="34" charset="0"/>
              </a:rPr>
              <a:t>，而非</a:t>
            </a:r>
            <a:r>
              <a:rPr lang="en-US" altLang="zh-CN" sz="1800" dirty="0">
                <a:sym typeface="Huawei Sans" panose="020C0503030203020204" pitchFamily="34" charset="0"/>
              </a:rPr>
              <a:t>BGP LSP</a:t>
            </a:r>
            <a:r>
              <a:rPr lang="zh-CN" altLang="en-US" sz="1800" dirty="0">
                <a:sym typeface="Huawei Sans" panose="020C0503030203020204" pitchFamily="34" charset="0"/>
              </a:rPr>
              <a:t>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r>
              <a:rPr lang="zh-CN" altLang="en-US" sz="1800" dirty="0">
                <a:sym typeface="Huawei Sans" panose="020C0503030203020204" pitchFamily="34" charset="0"/>
              </a:rPr>
              <a:t>同理，方案二支持</a:t>
            </a:r>
            <a:r>
              <a:rPr lang="en-US" altLang="zh-CN" sz="1800" dirty="0">
                <a:sym typeface="Huawei Sans" panose="020C0503030203020204" pitchFamily="34" charset="0"/>
              </a:rPr>
              <a:t>RR</a:t>
            </a:r>
            <a:r>
              <a:rPr lang="zh-CN" altLang="en-US" sz="1800" dirty="0">
                <a:sym typeface="Huawei Sans" panose="020C0503030203020204" pitchFamily="34" charset="0"/>
              </a:rPr>
              <a:t>设备的部署。</a:t>
            </a:r>
            <a:endParaRPr lang="en-US" sz="1800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5194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方式二拓扑说明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400" dirty="0">
                <a:sym typeface="Huawei Sans" panose="020C0503030203020204" pitchFamily="34" charset="0"/>
              </a:rPr>
              <a:t>方式二：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不再维护或是通告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路由。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只需要维护所有去往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的带标签路由，并通过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通告给对端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。对端</a:t>
            </a:r>
            <a:r>
              <a:rPr lang="en-US" altLang="zh-CN" sz="1400" dirty="0">
                <a:sym typeface="Huawei Sans" panose="020C0503030203020204" pitchFamily="34" charset="0"/>
              </a:rPr>
              <a:t>ASBR</a:t>
            </a:r>
            <a:r>
              <a:rPr lang="zh-CN" altLang="en-US" sz="1400" dirty="0">
                <a:sym typeface="Huawei Sans" panose="020C0503030203020204" pitchFamily="34" charset="0"/>
              </a:rPr>
              <a:t>收到带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标签路由后，</a:t>
            </a:r>
            <a:r>
              <a:rPr lang="en-US" altLang="zh-CN" sz="1400" dirty="0"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ym typeface="Huawei Sans" panose="020C0503030203020204" pitchFamily="34" charset="0"/>
              </a:rPr>
              <a:t>会触发为该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标签路由产生标签，并在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内的</a:t>
            </a:r>
            <a:r>
              <a:rPr lang="en-US" altLang="zh-CN" sz="1400" dirty="0">
                <a:sym typeface="Huawei Sans" panose="020C0503030203020204" pitchFamily="34" charset="0"/>
              </a:rPr>
              <a:t>LDP</a:t>
            </a:r>
            <a:r>
              <a:rPr lang="zh-CN" altLang="en-US" sz="1400" dirty="0">
                <a:sym typeface="Huawei Sans" panose="020C0503030203020204" pitchFamily="34" charset="0"/>
              </a:rPr>
              <a:t>邻居间传递。因此，在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上可以看到去往对端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LDP LSP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r>
              <a:rPr lang="zh-CN" altLang="en-US" sz="1400" dirty="0">
                <a:sym typeface="Huawei Sans" panose="020C0503030203020204" pitchFamily="34" charset="0"/>
              </a:rPr>
              <a:t>为了进一步扩展性能，多跳</a:t>
            </a:r>
            <a:r>
              <a:rPr lang="en-US" altLang="zh-CN" sz="1400" dirty="0">
                <a:sym typeface="Huawei Sans" panose="020C0503030203020204" pitchFamily="34" charset="0"/>
              </a:rPr>
              <a:t>MP-EBGP</a:t>
            </a:r>
            <a:r>
              <a:rPr lang="zh-CN" altLang="en-US" sz="1400" dirty="0">
                <a:sym typeface="Huawei Sans" panose="020C0503030203020204" pitchFamily="34" charset="0"/>
              </a:rPr>
              <a:t>会话可以建立在不同的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VPN RR</a:t>
            </a:r>
            <a:r>
              <a:rPr lang="zh-CN" altLang="en-US" sz="1400" dirty="0">
                <a:sym typeface="Huawei Sans" panose="020C0503030203020204" pitchFamily="34" charset="0"/>
              </a:rPr>
              <a:t>之间，本</a:t>
            </a:r>
            <a:r>
              <a:rPr lang="en-US" altLang="zh-CN" sz="1400" dirty="0">
                <a:sym typeface="Huawei Sans" panose="020C0503030203020204" pitchFamily="34" charset="0"/>
              </a:rPr>
              <a:t>AS</a:t>
            </a:r>
            <a:r>
              <a:rPr lang="zh-CN" altLang="en-US" sz="1400" dirty="0">
                <a:sym typeface="Huawei Sans" panose="020C0503030203020204" pitchFamily="34" charset="0"/>
              </a:rPr>
              <a:t>内的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只需要与</a:t>
            </a:r>
            <a:r>
              <a:rPr lang="en-US" altLang="zh-CN" sz="1400" dirty="0">
                <a:sym typeface="Huawei Sans" panose="020C0503030203020204" pitchFamily="34" charset="0"/>
              </a:rPr>
              <a:t>RR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MP-IBGP</a:t>
            </a:r>
            <a:r>
              <a:rPr lang="zh-CN" altLang="en-US" sz="1400" dirty="0">
                <a:sym typeface="Huawei Sans" panose="020C0503030203020204" pitchFamily="34" charset="0"/>
              </a:rPr>
              <a:t>即可。这些</a:t>
            </a:r>
            <a:r>
              <a:rPr lang="en-US" altLang="zh-CN" sz="1400" dirty="0">
                <a:sym typeface="Huawei Sans" panose="020C0503030203020204" pitchFamily="34" charset="0"/>
              </a:rPr>
              <a:t>VPN RR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路由时不改变下一跳信息，进而当对端</a:t>
            </a:r>
            <a:r>
              <a:rPr lang="en-US" altLang="zh-CN" sz="1400" dirty="0">
                <a:sym typeface="Huawei Sans" panose="020C0503030203020204" pitchFamily="34" charset="0"/>
              </a:rPr>
              <a:t>PE</a:t>
            </a:r>
            <a:r>
              <a:rPr lang="zh-CN" altLang="en-US" sz="1400" dirty="0">
                <a:sym typeface="Huawei Sans" panose="020C0503030203020204" pitchFamily="34" charset="0"/>
              </a:rPr>
              <a:t>转发流量时，可以迭代至正确的隧道。</a:t>
            </a:r>
          </a:p>
          <a:p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150" name="Arc 270"/>
          <p:cNvSpPr>
            <a:spLocks/>
          </p:cNvSpPr>
          <p:nvPr/>
        </p:nvSpPr>
        <p:spPr bwMode="gray">
          <a:xfrm rot="19742205">
            <a:off x="4358584" y="2247757"/>
            <a:ext cx="4308475" cy="4606925"/>
          </a:xfrm>
          <a:custGeom>
            <a:avLst/>
            <a:gdLst>
              <a:gd name="G0" fmla="+- 3503 0 0"/>
              <a:gd name="G1" fmla="+- 21600 0 0"/>
              <a:gd name="G2" fmla="+- 21600 0 0"/>
              <a:gd name="T0" fmla="*/ 0 w 22513"/>
              <a:gd name="T1" fmla="*/ 286 h 21600"/>
              <a:gd name="T2" fmla="*/ 22513 w 22513"/>
              <a:gd name="T3" fmla="*/ 11344 h 21600"/>
              <a:gd name="T4" fmla="*/ 3503 w 225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13" h="21600" fill="none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</a:path>
              <a:path w="22513" h="21600" stroke="0" extrusionOk="0">
                <a:moveTo>
                  <a:pt x="-1" y="285"/>
                </a:moveTo>
                <a:cubicBezTo>
                  <a:pt x="1157" y="95"/>
                  <a:pt x="2329" y="-1"/>
                  <a:pt x="3503" y="0"/>
                </a:cubicBezTo>
                <a:cubicBezTo>
                  <a:pt x="11442" y="0"/>
                  <a:pt x="18742" y="4356"/>
                  <a:pt x="22512" y="11344"/>
                </a:cubicBezTo>
                <a:lnTo>
                  <a:pt x="3503" y="2160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AutoShape 303"/>
          <p:cNvSpPr>
            <a:spLocks noChangeArrowheads="1"/>
          </p:cNvSpPr>
          <p:nvPr/>
        </p:nvSpPr>
        <p:spPr bwMode="gray">
          <a:xfrm rot="5400000">
            <a:off x="6088955" y="2592900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Text Box 163"/>
          <p:cNvSpPr txBox="1">
            <a:spLocks noChangeArrowheads="1"/>
          </p:cNvSpPr>
          <p:nvPr/>
        </p:nvSpPr>
        <p:spPr bwMode="gray">
          <a:xfrm>
            <a:off x="3912492" y="3618424"/>
            <a:ext cx="551769" cy="31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1" name="Text Box 164"/>
          <p:cNvSpPr txBox="1">
            <a:spLocks noChangeArrowheads="1"/>
          </p:cNvSpPr>
          <p:nvPr/>
        </p:nvSpPr>
        <p:spPr bwMode="gray">
          <a:xfrm>
            <a:off x="7747893" y="3618425"/>
            <a:ext cx="6207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2" name="Text Box 165"/>
          <p:cNvSpPr txBox="1">
            <a:spLocks noChangeArrowheads="1"/>
          </p:cNvSpPr>
          <p:nvPr/>
        </p:nvSpPr>
        <p:spPr bwMode="gray">
          <a:xfrm>
            <a:off x="4501455" y="384385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3" name="Text Box 166"/>
          <p:cNvSpPr txBox="1">
            <a:spLocks noChangeArrowheads="1"/>
          </p:cNvSpPr>
          <p:nvPr/>
        </p:nvSpPr>
        <p:spPr bwMode="gray">
          <a:xfrm>
            <a:off x="6649343" y="3843850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4" name="Text Box 167"/>
          <p:cNvSpPr txBox="1">
            <a:spLocks noChangeArrowheads="1"/>
          </p:cNvSpPr>
          <p:nvPr/>
        </p:nvSpPr>
        <p:spPr bwMode="gray">
          <a:xfrm>
            <a:off x="2302768" y="4686813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5" name="Text Box 168"/>
          <p:cNvSpPr txBox="1">
            <a:spLocks noChangeArrowheads="1"/>
          </p:cNvSpPr>
          <p:nvPr/>
        </p:nvSpPr>
        <p:spPr bwMode="gray">
          <a:xfrm>
            <a:off x="9295705" y="4670938"/>
            <a:ext cx="6667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7" name="Text Box 170"/>
          <p:cNvSpPr txBox="1">
            <a:spLocks noChangeArrowheads="1"/>
          </p:cNvSpPr>
          <p:nvPr/>
        </p:nvSpPr>
        <p:spPr bwMode="gray">
          <a:xfrm>
            <a:off x="2037655" y="4266125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8" name="Text Box 171"/>
          <p:cNvSpPr txBox="1">
            <a:spLocks noChangeArrowheads="1"/>
          </p:cNvSpPr>
          <p:nvPr/>
        </p:nvSpPr>
        <p:spPr bwMode="gray">
          <a:xfrm>
            <a:off x="9249389" y="4192388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9" name="Line 172"/>
          <p:cNvSpPr>
            <a:spLocks noChangeShapeType="1"/>
          </p:cNvSpPr>
          <p:nvPr/>
        </p:nvSpPr>
        <p:spPr bwMode="gray">
          <a:xfrm flipV="1">
            <a:off x="3918843" y="343586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Line 173"/>
          <p:cNvSpPr>
            <a:spLocks noChangeShapeType="1"/>
          </p:cNvSpPr>
          <p:nvPr/>
        </p:nvSpPr>
        <p:spPr bwMode="gray">
          <a:xfrm>
            <a:off x="4760218" y="347396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Line 174"/>
          <p:cNvSpPr>
            <a:spLocks noChangeShapeType="1"/>
          </p:cNvSpPr>
          <p:nvPr/>
        </p:nvSpPr>
        <p:spPr bwMode="gray">
          <a:xfrm flipV="1">
            <a:off x="6889055" y="344538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Line 175"/>
          <p:cNvSpPr>
            <a:spLocks noChangeShapeType="1"/>
          </p:cNvSpPr>
          <p:nvPr/>
        </p:nvSpPr>
        <p:spPr bwMode="gray">
          <a:xfrm>
            <a:off x="7790755" y="343586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Line 176"/>
          <p:cNvSpPr>
            <a:spLocks noChangeShapeType="1"/>
          </p:cNvSpPr>
          <p:nvPr/>
        </p:nvSpPr>
        <p:spPr bwMode="gray">
          <a:xfrm>
            <a:off x="5638105" y="374383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Line 199"/>
          <p:cNvSpPr>
            <a:spLocks noChangeShapeType="1"/>
          </p:cNvSpPr>
          <p:nvPr/>
        </p:nvSpPr>
        <p:spPr bwMode="gray">
          <a:xfrm flipV="1">
            <a:off x="2880618" y="386766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Line 200"/>
          <p:cNvSpPr>
            <a:spLocks noChangeShapeType="1"/>
          </p:cNvSpPr>
          <p:nvPr/>
        </p:nvSpPr>
        <p:spPr bwMode="gray">
          <a:xfrm>
            <a:off x="8578155" y="3867663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0" name="Line 223"/>
          <p:cNvSpPr>
            <a:spLocks noChangeShapeType="1"/>
          </p:cNvSpPr>
          <p:nvPr/>
        </p:nvSpPr>
        <p:spPr bwMode="gray">
          <a:xfrm>
            <a:off x="3618805" y="3893063"/>
            <a:ext cx="0" cy="1631950"/>
          </a:xfrm>
          <a:prstGeom prst="line">
            <a:avLst/>
          </a:prstGeom>
          <a:noFill/>
          <a:ln w="19050" cap="rnd">
            <a:solidFill>
              <a:srgbClr val="33CCCC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1" name="Line 224"/>
          <p:cNvSpPr>
            <a:spLocks noChangeShapeType="1"/>
          </p:cNvSpPr>
          <p:nvPr/>
        </p:nvSpPr>
        <p:spPr bwMode="gray">
          <a:xfrm>
            <a:off x="8598793" y="3885125"/>
            <a:ext cx="0" cy="1631950"/>
          </a:xfrm>
          <a:prstGeom prst="line">
            <a:avLst/>
          </a:prstGeom>
          <a:noFill/>
          <a:ln w="19050" cap="rnd">
            <a:solidFill>
              <a:srgbClr val="33CCCC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Line 247"/>
          <p:cNvSpPr>
            <a:spLocks noChangeShapeType="1"/>
          </p:cNvSpPr>
          <p:nvPr/>
        </p:nvSpPr>
        <p:spPr bwMode="gray">
          <a:xfrm>
            <a:off x="3915668" y="3962913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Line 249"/>
          <p:cNvSpPr>
            <a:spLocks noChangeShapeType="1"/>
          </p:cNvSpPr>
          <p:nvPr/>
        </p:nvSpPr>
        <p:spPr bwMode="gray">
          <a:xfrm>
            <a:off x="5288855" y="3866075"/>
            <a:ext cx="0" cy="1435100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Line 251"/>
          <p:cNvSpPr>
            <a:spLocks noChangeShapeType="1"/>
          </p:cNvSpPr>
          <p:nvPr/>
        </p:nvSpPr>
        <p:spPr bwMode="gray">
          <a:xfrm>
            <a:off x="6874768" y="3981963"/>
            <a:ext cx="0" cy="1322387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Line 252"/>
          <p:cNvSpPr>
            <a:spLocks noChangeShapeType="1"/>
          </p:cNvSpPr>
          <p:nvPr/>
        </p:nvSpPr>
        <p:spPr bwMode="gray">
          <a:xfrm>
            <a:off x="8292405" y="3883538"/>
            <a:ext cx="0" cy="1406525"/>
          </a:xfrm>
          <a:prstGeom prst="line">
            <a:avLst/>
          </a:prstGeom>
          <a:noFill/>
          <a:ln w="19050" cap="rnd">
            <a:solidFill>
              <a:srgbClr val="56C4D2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Line 257"/>
          <p:cNvSpPr>
            <a:spLocks noChangeShapeType="1"/>
          </p:cNvSpPr>
          <p:nvPr/>
        </p:nvSpPr>
        <p:spPr bwMode="gray">
          <a:xfrm>
            <a:off x="3013968" y="4750313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Line 258"/>
          <p:cNvSpPr>
            <a:spLocks noChangeShapeType="1"/>
          </p:cNvSpPr>
          <p:nvPr/>
        </p:nvSpPr>
        <p:spPr bwMode="gray">
          <a:xfrm>
            <a:off x="9249668" y="4740788"/>
            <a:ext cx="0" cy="873125"/>
          </a:xfrm>
          <a:prstGeom prst="line">
            <a:avLst/>
          </a:prstGeom>
          <a:noFill/>
          <a:ln w="19050" cap="rnd">
            <a:solidFill>
              <a:srgbClr val="FAD3BB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6" name="Text Box 269"/>
          <p:cNvSpPr txBox="1">
            <a:spLocks noChangeArrowheads="1"/>
          </p:cNvSpPr>
          <p:nvPr/>
        </p:nvSpPr>
        <p:spPr bwMode="gray">
          <a:xfrm>
            <a:off x="5139630" y="2577025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131" name="AutoShape 302"/>
          <p:cNvSpPr>
            <a:spLocks noChangeArrowheads="1"/>
          </p:cNvSpPr>
          <p:nvPr/>
        </p:nvSpPr>
        <p:spPr bwMode="gray">
          <a:xfrm rot="5400000">
            <a:off x="5927823" y="3106457"/>
            <a:ext cx="404813" cy="5187950"/>
          </a:xfrm>
          <a:prstGeom prst="can">
            <a:avLst>
              <a:gd name="adj" fmla="val 29073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4" name="Line 305"/>
          <p:cNvSpPr>
            <a:spLocks noChangeShapeType="1"/>
          </p:cNvSpPr>
          <p:nvPr/>
        </p:nvSpPr>
        <p:spPr bwMode="gray">
          <a:xfrm>
            <a:off x="5542855" y="3964500"/>
            <a:ext cx="0" cy="1404938"/>
          </a:xfrm>
          <a:prstGeom prst="line">
            <a:avLst/>
          </a:prstGeom>
          <a:noFill/>
          <a:ln w="19050" cap="rnd">
            <a:solidFill>
              <a:srgbClr val="CB3778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5" name="Line 306"/>
          <p:cNvSpPr>
            <a:spLocks noChangeShapeType="1"/>
          </p:cNvSpPr>
          <p:nvPr/>
        </p:nvSpPr>
        <p:spPr bwMode="gray">
          <a:xfrm>
            <a:off x="6609655" y="3964500"/>
            <a:ext cx="0" cy="1404938"/>
          </a:xfrm>
          <a:prstGeom prst="line">
            <a:avLst/>
          </a:prstGeom>
          <a:noFill/>
          <a:ln w="19050" cap="rnd">
            <a:solidFill>
              <a:srgbClr val="CB3778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8" name="Text Box 315"/>
          <p:cNvSpPr txBox="1">
            <a:spLocks noChangeArrowheads="1"/>
          </p:cNvSpPr>
          <p:nvPr/>
        </p:nvSpPr>
        <p:spPr bwMode="gray">
          <a:xfrm>
            <a:off x="4391918" y="354222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139" name="Text Box 316"/>
          <p:cNvSpPr txBox="1">
            <a:spLocks noChangeArrowheads="1"/>
          </p:cNvSpPr>
          <p:nvPr/>
        </p:nvSpPr>
        <p:spPr bwMode="gray">
          <a:xfrm>
            <a:off x="7393880" y="354540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140" name="Text Box 36"/>
          <p:cNvSpPr txBox="1">
            <a:spLocks noChangeArrowheads="1"/>
          </p:cNvSpPr>
          <p:nvPr/>
        </p:nvSpPr>
        <p:spPr bwMode="gray">
          <a:xfrm>
            <a:off x="3109069" y="2991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141" name="Text Box 36"/>
          <p:cNvSpPr txBox="1">
            <a:spLocks noChangeArrowheads="1"/>
          </p:cNvSpPr>
          <p:nvPr/>
        </p:nvSpPr>
        <p:spPr bwMode="gray">
          <a:xfrm>
            <a:off x="7789589" y="2991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145" name="AutoShape 297"/>
          <p:cNvSpPr>
            <a:spLocks noChangeArrowheads="1"/>
          </p:cNvSpPr>
          <p:nvPr/>
        </p:nvSpPr>
        <p:spPr bwMode="gray">
          <a:xfrm rot="5400000">
            <a:off x="4115691" y="4978913"/>
            <a:ext cx="809625" cy="1536700"/>
          </a:xfrm>
          <a:prstGeom prst="can">
            <a:avLst>
              <a:gd name="adj" fmla="val 25441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AutoShape 298"/>
          <p:cNvSpPr>
            <a:spLocks noChangeArrowheads="1"/>
          </p:cNvSpPr>
          <p:nvPr/>
        </p:nvSpPr>
        <p:spPr bwMode="gray">
          <a:xfrm rot="5400000">
            <a:off x="5767486" y="5247994"/>
            <a:ext cx="611188" cy="908050"/>
          </a:xfrm>
          <a:prstGeom prst="can">
            <a:avLst>
              <a:gd name="adj" fmla="val 26227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8" name="AutoShape 299"/>
          <p:cNvSpPr>
            <a:spLocks noChangeArrowheads="1"/>
          </p:cNvSpPr>
          <p:nvPr/>
        </p:nvSpPr>
        <p:spPr bwMode="gray">
          <a:xfrm rot="5400000">
            <a:off x="7177186" y="4947956"/>
            <a:ext cx="809625" cy="1573213"/>
          </a:xfrm>
          <a:prstGeom prst="can">
            <a:avLst>
              <a:gd name="adj" fmla="val 25000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71" name="Picture 17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739331" y="4336263"/>
            <a:ext cx="436636" cy="395012"/>
          </a:xfrm>
          <a:prstGeom prst="rect">
            <a:avLst/>
          </a:prstGeom>
          <a:noFill/>
        </p:spPr>
      </p:pic>
      <p:pic>
        <p:nvPicPr>
          <p:cNvPr id="172" name="Picture 17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473512" y="3621660"/>
            <a:ext cx="436636" cy="395012"/>
          </a:xfrm>
          <a:prstGeom prst="rect">
            <a:avLst/>
          </a:prstGeom>
          <a:noFill/>
        </p:spPr>
      </p:pic>
      <p:pic>
        <p:nvPicPr>
          <p:cNvPr id="173" name="Picture 17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405436" y="3212300"/>
            <a:ext cx="436636" cy="395012"/>
          </a:xfrm>
          <a:prstGeom prst="rect">
            <a:avLst/>
          </a:prstGeom>
          <a:noFill/>
        </p:spPr>
      </p:pic>
      <p:pic>
        <p:nvPicPr>
          <p:cNvPr id="174" name="Picture 17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158681" y="3546134"/>
            <a:ext cx="436636" cy="395012"/>
          </a:xfrm>
          <a:prstGeom prst="rect">
            <a:avLst/>
          </a:prstGeom>
          <a:noFill/>
        </p:spPr>
      </p:pic>
      <p:pic>
        <p:nvPicPr>
          <p:cNvPr id="175" name="Picture 17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513797" y="3574993"/>
            <a:ext cx="436636" cy="395012"/>
          </a:xfrm>
          <a:prstGeom prst="rect">
            <a:avLst/>
          </a:prstGeom>
          <a:noFill/>
        </p:spPr>
      </p:pic>
      <p:pic>
        <p:nvPicPr>
          <p:cNvPr id="176" name="Picture 17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07398" y="3231214"/>
            <a:ext cx="436636" cy="395012"/>
          </a:xfrm>
          <a:prstGeom prst="rect">
            <a:avLst/>
          </a:prstGeom>
          <a:noFill/>
        </p:spPr>
      </p:pic>
      <p:pic>
        <p:nvPicPr>
          <p:cNvPr id="177" name="Picture 17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216638" y="3527296"/>
            <a:ext cx="436636" cy="395012"/>
          </a:xfrm>
          <a:prstGeom prst="rect">
            <a:avLst/>
          </a:prstGeom>
          <a:noFill/>
        </p:spPr>
      </p:pic>
      <p:pic>
        <p:nvPicPr>
          <p:cNvPr id="178" name="Picture 177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08313" y="4382944"/>
            <a:ext cx="436636" cy="395012"/>
          </a:xfrm>
          <a:prstGeom prst="rect">
            <a:avLst/>
          </a:prstGeom>
          <a:noFill/>
        </p:spPr>
      </p:pic>
      <p:sp>
        <p:nvSpPr>
          <p:cNvPr id="85" name="圆角矩形 84"/>
          <p:cNvSpPr/>
          <p:nvPr/>
        </p:nvSpPr>
        <p:spPr bwMode="gray">
          <a:xfrm>
            <a:off x="3291848" y="2753710"/>
            <a:ext cx="2397931" cy="140836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圆角矩形 85"/>
          <p:cNvSpPr/>
          <p:nvPr/>
        </p:nvSpPr>
        <p:spPr bwMode="gray">
          <a:xfrm>
            <a:off x="2213975" y="4235089"/>
            <a:ext cx="995311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圆角矩形 86"/>
          <p:cNvSpPr/>
          <p:nvPr/>
        </p:nvSpPr>
        <p:spPr bwMode="gray">
          <a:xfrm>
            <a:off x="8941717" y="4235089"/>
            <a:ext cx="995311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圆角矩形 87"/>
          <p:cNvSpPr/>
          <p:nvPr/>
        </p:nvSpPr>
        <p:spPr bwMode="gray">
          <a:xfrm>
            <a:off x="6402565" y="2753710"/>
            <a:ext cx="2397931" cy="140836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AutoShape 93"/>
          <p:cNvSpPr>
            <a:spLocks noChangeArrowheads="1"/>
          </p:cNvSpPr>
          <p:nvPr/>
        </p:nvSpPr>
        <p:spPr bwMode="gray">
          <a:xfrm rot="5400000">
            <a:off x="10600551" y="4966141"/>
            <a:ext cx="150924" cy="641816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文本框 89"/>
          <p:cNvSpPr txBox="1"/>
          <p:nvPr/>
        </p:nvSpPr>
        <p:spPr bwMode="gray">
          <a:xfrm>
            <a:off x="10996921" y="5114136"/>
            <a:ext cx="4780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AutoShape 93"/>
          <p:cNvSpPr>
            <a:spLocks noChangeArrowheads="1"/>
          </p:cNvSpPr>
          <p:nvPr/>
        </p:nvSpPr>
        <p:spPr bwMode="gray">
          <a:xfrm rot="5400000">
            <a:off x="10600551" y="5214516"/>
            <a:ext cx="150924" cy="641816"/>
          </a:xfrm>
          <a:prstGeom prst="can">
            <a:avLst>
              <a:gd name="adj" fmla="val 77995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gray">
          <a:xfrm>
            <a:off x="10996921" y="5362511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AutoShape 93"/>
          <p:cNvSpPr>
            <a:spLocks noChangeArrowheads="1"/>
          </p:cNvSpPr>
          <p:nvPr/>
        </p:nvSpPr>
        <p:spPr bwMode="gray">
          <a:xfrm rot="5400000">
            <a:off x="10600551" y="5462891"/>
            <a:ext cx="150924" cy="641816"/>
          </a:xfrm>
          <a:prstGeom prst="can">
            <a:avLst>
              <a:gd name="adj" fmla="val 77995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10996921" y="5610886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LDP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AutoShape 93"/>
          <p:cNvSpPr>
            <a:spLocks noChangeArrowheads="1"/>
          </p:cNvSpPr>
          <p:nvPr/>
        </p:nvSpPr>
        <p:spPr bwMode="gray">
          <a:xfrm rot="5400000">
            <a:off x="10600551" y="5669873"/>
            <a:ext cx="150924" cy="641816"/>
          </a:xfrm>
          <a:prstGeom prst="can">
            <a:avLst>
              <a:gd name="adj" fmla="val 77995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1" name="文本框 110"/>
          <p:cNvSpPr txBox="1"/>
          <p:nvPr/>
        </p:nvSpPr>
        <p:spPr bwMode="gray">
          <a:xfrm>
            <a:off x="10996921" y="5817868"/>
            <a:ext cx="771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2" name="五边形 71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130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方式二控制平面：无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01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2" name="五边形 101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3" name="Text Box 342"/>
          <p:cNvSpPr txBox="1">
            <a:spLocks noChangeArrowheads="1"/>
          </p:cNvSpPr>
          <p:nvPr/>
        </p:nvSpPr>
        <p:spPr bwMode="gray">
          <a:xfrm>
            <a:off x="6838132" y="4975225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06" name="Text Box 345"/>
          <p:cNvSpPr txBox="1">
            <a:spLocks noChangeArrowheads="1"/>
          </p:cNvSpPr>
          <p:nvPr/>
        </p:nvSpPr>
        <p:spPr bwMode="gray">
          <a:xfrm>
            <a:off x="3775844" y="3992587"/>
            <a:ext cx="1597025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 Labeled IPv4</a:t>
            </a:r>
          </a:p>
        </p:txBody>
      </p:sp>
      <p:sp>
        <p:nvSpPr>
          <p:cNvPr id="107" name="Text Box 346"/>
          <p:cNvSpPr txBox="1">
            <a:spLocks noChangeArrowheads="1"/>
          </p:cNvSpPr>
          <p:nvPr/>
        </p:nvSpPr>
        <p:spPr bwMode="gray">
          <a:xfrm>
            <a:off x="1237432" y="4975225"/>
            <a:ext cx="1214437" cy="2746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 Routing</a:t>
            </a:r>
          </a:p>
        </p:txBody>
      </p:sp>
      <p:sp>
        <p:nvSpPr>
          <p:cNvPr id="108" name="Text Box 347"/>
          <p:cNvSpPr txBox="1">
            <a:spLocks noChangeArrowheads="1"/>
          </p:cNvSpPr>
          <p:nvPr/>
        </p:nvSpPr>
        <p:spPr bwMode="gray">
          <a:xfrm>
            <a:off x="30519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15" name="Text Box 348"/>
          <p:cNvSpPr txBox="1">
            <a:spLocks noChangeArrowheads="1"/>
          </p:cNvSpPr>
          <p:nvPr/>
        </p:nvSpPr>
        <p:spPr bwMode="gray">
          <a:xfrm>
            <a:off x="2251844" y="2940050"/>
            <a:ext cx="850900" cy="457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116" name="Text Box 351"/>
          <p:cNvSpPr txBox="1">
            <a:spLocks noChangeArrowheads="1"/>
          </p:cNvSpPr>
          <p:nvPr/>
        </p:nvSpPr>
        <p:spPr bwMode="gray">
          <a:xfrm>
            <a:off x="819097" y="3227388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17" name="Text Box 352"/>
          <p:cNvSpPr txBox="1">
            <a:spLocks noChangeArrowheads="1"/>
          </p:cNvSpPr>
          <p:nvPr/>
        </p:nvSpPr>
        <p:spPr bwMode="gray">
          <a:xfrm>
            <a:off x="7659014" y="3221038"/>
            <a:ext cx="6524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18" name="Text Box 353"/>
          <p:cNvSpPr txBox="1">
            <a:spLocks noChangeArrowheads="1"/>
          </p:cNvSpPr>
          <p:nvPr/>
        </p:nvSpPr>
        <p:spPr bwMode="gray">
          <a:xfrm>
            <a:off x="511944" y="2790825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19" name="Text Box 354"/>
          <p:cNvSpPr txBox="1">
            <a:spLocks noChangeArrowheads="1"/>
          </p:cNvSpPr>
          <p:nvPr/>
        </p:nvSpPr>
        <p:spPr bwMode="gray">
          <a:xfrm>
            <a:off x="7711022" y="2766236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20" name="Line 355"/>
          <p:cNvSpPr>
            <a:spLocks noChangeShapeType="1"/>
          </p:cNvSpPr>
          <p:nvPr/>
        </p:nvSpPr>
        <p:spPr bwMode="gray">
          <a:xfrm flipV="1">
            <a:off x="1354907" y="239236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Line 356"/>
          <p:cNvSpPr>
            <a:spLocks noChangeShapeType="1"/>
          </p:cNvSpPr>
          <p:nvPr/>
        </p:nvSpPr>
        <p:spPr bwMode="gray">
          <a:xfrm>
            <a:off x="7052444" y="2392363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Line 368"/>
          <p:cNvSpPr>
            <a:spLocks noChangeShapeType="1"/>
          </p:cNvSpPr>
          <p:nvPr/>
        </p:nvSpPr>
        <p:spPr bwMode="gray">
          <a:xfrm>
            <a:off x="1385069" y="3271838"/>
            <a:ext cx="0" cy="25241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Line 369"/>
          <p:cNvSpPr>
            <a:spLocks noChangeShapeType="1"/>
          </p:cNvSpPr>
          <p:nvPr/>
        </p:nvSpPr>
        <p:spPr bwMode="gray">
          <a:xfrm>
            <a:off x="2266132" y="2478088"/>
            <a:ext cx="1587" cy="34337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4" name="Line 370"/>
          <p:cNvSpPr>
            <a:spLocks noChangeShapeType="1"/>
          </p:cNvSpPr>
          <p:nvPr/>
        </p:nvSpPr>
        <p:spPr bwMode="gray">
          <a:xfrm>
            <a:off x="3934594" y="2474913"/>
            <a:ext cx="0" cy="238283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Line 371"/>
          <p:cNvSpPr>
            <a:spLocks noChangeShapeType="1"/>
          </p:cNvSpPr>
          <p:nvPr/>
        </p:nvSpPr>
        <p:spPr bwMode="gray">
          <a:xfrm>
            <a:off x="5166494" y="2449513"/>
            <a:ext cx="0" cy="24733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Line 372"/>
          <p:cNvSpPr>
            <a:spLocks noChangeShapeType="1"/>
          </p:cNvSpPr>
          <p:nvPr/>
        </p:nvSpPr>
        <p:spPr bwMode="gray">
          <a:xfrm>
            <a:off x="6981007" y="2528888"/>
            <a:ext cx="12700" cy="33623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7" name="Line 373"/>
          <p:cNvSpPr>
            <a:spLocks noChangeShapeType="1"/>
          </p:cNvSpPr>
          <p:nvPr/>
        </p:nvSpPr>
        <p:spPr bwMode="gray">
          <a:xfrm>
            <a:off x="7827144" y="3324225"/>
            <a:ext cx="14288" cy="2389188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Line 374"/>
          <p:cNvSpPr>
            <a:spLocks noChangeShapeType="1"/>
          </p:cNvSpPr>
          <p:nvPr/>
        </p:nvSpPr>
        <p:spPr bwMode="gray">
          <a:xfrm>
            <a:off x="3055119" y="2360613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Line 375"/>
          <p:cNvSpPr>
            <a:spLocks noChangeShapeType="1"/>
          </p:cNvSpPr>
          <p:nvPr/>
        </p:nvSpPr>
        <p:spPr bwMode="gray">
          <a:xfrm>
            <a:off x="6072957" y="2373313"/>
            <a:ext cx="0" cy="14319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0" name="Line 376"/>
          <p:cNvSpPr>
            <a:spLocks noChangeShapeType="1"/>
          </p:cNvSpPr>
          <p:nvPr/>
        </p:nvSpPr>
        <p:spPr bwMode="gray">
          <a:xfrm>
            <a:off x="2256607" y="3379788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Line 377"/>
          <p:cNvSpPr>
            <a:spLocks noChangeShapeType="1"/>
          </p:cNvSpPr>
          <p:nvPr/>
        </p:nvSpPr>
        <p:spPr bwMode="gray">
          <a:xfrm>
            <a:off x="3032894" y="3379788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2" name="Group 378"/>
          <p:cNvGrpSpPr>
            <a:grpSpLocks/>
          </p:cNvGrpSpPr>
          <p:nvPr/>
        </p:nvGrpSpPr>
        <p:grpSpPr bwMode="gray">
          <a:xfrm>
            <a:off x="2132671" y="3436938"/>
            <a:ext cx="1033462" cy="420687"/>
            <a:chOff x="1404" y="2356"/>
            <a:chExt cx="498" cy="265"/>
          </a:xfrm>
        </p:grpSpPr>
        <p:sp>
          <p:nvSpPr>
            <p:cNvPr id="133" name="AutoShape 379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36" name="Group 380"/>
            <p:cNvGrpSpPr>
              <a:grpSpLocks/>
            </p:cNvGrpSpPr>
            <p:nvPr/>
          </p:nvGrpSpPr>
          <p:grpSpPr bwMode="gray">
            <a:xfrm>
              <a:off x="1404" y="2356"/>
              <a:ext cx="498" cy="265"/>
              <a:chOff x="1404" y="2356"/>
              <a:chExt cx="498" cy="265"/>
            </a:xfrm>
          </p:grpSpPr>
          <p:sp>
            <p:nvSpPr>
              <p:cNvPr id="137" name="Text Box 381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PE1</a:t>
                </a:r>
              </a:p>
            </p:txBody>
          </p:sp>
          <p:sp>
            <p:nvSpPr>
              <p:cNvPr id="138" name="Text Box 382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T1</a:t>
                </a:r>
              </a:p>
            </p:txBody>
          </p:sp>
        </p:grpSp>
      </p:grpSp>
      <p:sp>
        <p:nvSpPr>
          <p:cNvPr id="139" name="Line 383"/>
          <p:cNvSpPr>
            <a:spLocks noChangeShapeType="1"/>
          </p:cNvSpPr>
          <p:nvPr/>
        </p:nvSpPr>
        <p:spPr bwMode="gray">
          <a:xfrm>
            <a:off x="1375544" y="5253038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40" name="Group 384"/>
          <p:cNvGrpSpPr>
            <a:grpSpLocks/>
          </p:cNvGrpSpPr>
          <p:nvPr/>
        </p:nvGrpSpPr>
        <p:grpSpPr bwMode="gray">
          <a:xfrm>
            <a:off x="3593283" y="5435600"/>
            <a:ext cx="1789112" cy="631825"/>
            <a:chOff x="1423" y="3266"/>
            <a:chExt cx="977" cy="489"/>
          </a:xfrm>
        </p:grpSpPr>
        <p:sp>
          <p:nvSpPr>
            <p:cNvPr id="141" name="AutoShape 385"/>
            <p:cNvSpPr>
              <a:spLocks noChangeArrowheads="1"/>
            </p:cNvSpPr>
            <p:nvPr/>
          </p:nvSpPr>
          <p:spPr bwMode="gray">
            <a:xfrm rot="10800000">
              <a:off x="1443" y="3266"/>
              <a:ext cx="924" cy="489"/>
            </a:xfrm>
            <a:prstGeom prst="wedgeRoundRectCallout">
              <a:avLst>
                <a:gd name="adj1" fmla="val 10065"/>
                <a:gd name="adj2" fmla="val 79241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2" name="Text Box 386"/>
            <p:cNvSpPr txBox="1">
              <a:spLocks noChangeArrowheads="1"/>
            </p:cNvSpPr>
            <p:nvPr/>
          </p:nvSpPr>
          <p:spPr bwMode="gray">
            <a:xfrm>
              <a:off x="1423" y="3323"/>
              <a:ext cx="977" cy="16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tIns="108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VPNv4: RD1+Net1</a:t>
              </a:r>
            </a:p>
          </p:txBody>
        </p:sp>
        <p:sp>
          <p:nvSpPr>
            <p:cNvPr id="143" name="Rectangle 387"/>
            <p:cNvSpPr>
              <a:spLocks noChangeArrowheads="1"/>
            </p:cNvSpPr>
            <p:nvPr/>
          </p:nvSpPr>
          <p:spPr bwMode="gray">
            <a:xfrm>
              <a:off x="1423" y="3416"/>
              <a:ext cx="898" cy="21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PE1</a:t>
              </a:r>
            </a:p>
          </p:txBody>
        </p:sp>
        <p:sp>
          <p:nvSpPr>
            <p:cNvPr id="144" name="Rectangle 388"/>
            <p:cNvSpPr>
              <a:spLocks noChangeArrowheads="1"/>
            </p:cNvSpPr>
            <p:nvPr/>
          </p:nvSpPr>
          <p:spPr bwMode="gray">
            <a:xfrm>
              <a:off x="1423" y="3539"/>
              <a:ext cx="898" cy="21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VPN Label: V1</a:t>
              </a:r>
            </a:p>
          </p:txBody>
        </p:sp>
      </p:grpSp>
      <p:grpSp>
        <p:nvGrpSpPr>
          <p:cNvPr id="145" name="Group 389"/>
          <p:cNvGrpSpPr>
            <a:grpSpLocks/>
          </p:cNvGrpSpPr>
          <p:nvPr/>
        </p:nvGrpSpPr>
        <p:grpSpPr bwMode="gray">
          <a:xfrm>
            <a:off x="1364431" y="5405438"/>
            <a:ext cx="1028699" cy="528637"/>
            <a:chOff x="855" y="3163"/>
            <a:chExt cx="648" cy="333"/>
          </a:xfrm>
        </p:grpSpPr>
        <p:sp>
          <p:nvSpPr>
            <p:cNvPr id="146" name="AutoShape 390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Text Box 391"/>
            <p:cNvSpPr txBox="1">
              <a:spLocks noChangeArrowheads="1"/>
            </p:cNvSpPr>
            <p:nvPr/>
          </p:nvSpPr>
          <p:spPr bwMode="gray">
            <a:xfrm>
              <a:off x="855" y="3174"/>
              <a:ext cx="648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Net1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8" name="Text Box 392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CE1</a:t>
              </a:r>
            </a:p>
          </p:txBody>
        </p:sp>
      </p:grpSp>
      <p:sp>
        <p:nvSpPr>
          <p:cNvPr id="149" name="Line 393"/>
          <p:cNvSpPr>
            <a:spLocks noChangeShapeType="1"/>
          </p:cNvSpPr>
          <p:nvPr/>
        </p:nvSpPr>
        <p:spPr bwMode="gray">
          <a:xfrm>
            <a:off x="3944119" y="4231221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Line 396"/>
          <p:cNvSpPr>
            <a:spLocks noChangeShapeType="1"/>
          </p:cNvSpPr>
          <p:nvPr/>
        </p:nvSpPr>
        <p:spPr bwMode="gray">
          <a:xfrm>
            <a:off x="5145857" y="4231221"/>
            <a:ext cx="18415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4" name="Line 398"/>
          <p:cNvSpPr>
            <a:spLocks noChangeShapeType="1"/>
          </p:cNvSpPr>
          <p:nvPr/>
        </p:nvSpPr>
        <p:spPr bwMode="gray">
          <a:xfrm>
            <a:off x="6974657" y="5253038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55" name="Group 399"/>
          <p:cNvGrpSpPr>
            <a:grpSpLocks/>
          </p:cNvGrpSpPr>
          <p:nvPr/>
        </p:nvGrpSpPr>
        <p:grpSpPr bwMode="gray">
          <a:xfrm>
            <a:off x="6947670" y="5405438"/>
            <a:ext cx="1104901" cy="528637"/>
            <a:chOff x="855" y="3163"/>
            <a:chExt cx="696" cy="333"/>
          </a:xfrm>
        </p:grpSpPr>
        <p:sp>
          <p:nvSpPr>
            <p:cNvPr id="156" name="AutoShape 400"/>
            <p:cNvSpPr>
              <a:spLocks noChangeArrowheads="1"/>
            </p:cNvSpPr>
            <p:nvPr/>
          </p:nvSpPr>
          <p:spPr bwMode="gray">
            <a:xfrm rot="10800000">
              <a:off x="893" y="3163"/>
              <a:ext cx="509" cy="333"/>
            </a:xfrm>
            <a:prstGeom prst="wedgeRoundRectCallout">
              <a:avLst>
                <a:gd name="adj1" fmla="val 2259"/>
                <a:gd name="adj2" fmla="val 76125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7" name="Text Box 401"/>
            <p:cNvSpPr txBox="1">
              <a:spLocks noChangeArrowheads="1"/>
            </p:cNvSpPr>
            <p:nvPr/>
          </p:nvSpPr>
          <p:spPr bwMode="gray">
            <a:xfrm>
              <a:off x="855" y="3174"/>
              <a:ext cx="696" cy="174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IPv4: Net1</a:t>
              </a:r>
            </a:p>
          </p:txBody>
        </p:sp>
        <p:sp>
          <p:nvSpPr>
            <p:cNvPr id="163" name="Text Box 402"/>
            <p:cNvSpPr txBox="1">
              <a:spLocks noChangeArrowheads="1"/>
            </p:cNvSpPr>
            <p:nvPr/>
          </p:nvSpPr>
          <p:spPr bwMode="gray">
            <a:xfrm>
              <a:off x="855" y="3296"/>
              <a:ext cx="607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PE2</a:t>
              </a:r>
            </a:p>
          </p:txBody>
        </p:sp>
      </p:grpSp>
      <p:sp>
        <p:nvSpPr>
          <p:cNvPr id="164" name="Line 403"/>
          <p:cNvSpPr>
            <a:spLocks noChangeShapeType="1"/>
          </p:cNvSpPr>
          <p:nvPr/>
        </p:nvSpPr>
        <p:spPr bwMode="gray">
          <a:xfrm flipH="1">
            <a:off x="837382" y="3163888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5" name="Text Box 404"/>
          <p:cNvSpPr txBox="1">
            <a:spLocks noChangeArrowheads="1"/>
          </p:cNvSpPr>
          <p:nvPr/>
        </p:nvSpPr>
        <p:spPr bwMode="gray">
          <a:xfrm>
            <a:off x="372024" y="3306763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66" name="Text Box 416"/>
          <p:cNvSpPr txBox="1">
            <a:spLocks noChangeArrowheads="1"/>
          </p:cNvSpPr>
          <p:nvPr/>
        </p:nvSpPr>
        <p:spPr bwMode="gray">
          <a:xfrm>
            <a:off x="2372715" y="2228899"/>
            <a:ext cx="5609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67" name="Text Box 417"/>
          <p:cNvSpPr txBox="1">
            <a:spLocks noChangeArrowheads="1"/>
          </p:cNvSpPr>
          <p:nvPr/>
        </p:nvSpPr>
        <p:spPr bwMode="gray">
          <a:xfrm>
            <a:off x="6279333" y="2130425"/>
            <a:ext cx="5635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68" name="Text Box 418"/>
          <p:cNvSpPr txBox="1">
            <a:spLocks noChangeArrowheads="1"/>
          </p:cNvSpPr>
          <p:nvPr/>
        </p:nvSpPr>
        <p:spPr bwMode="gray">
          <a:xfrm>
            <a:off x="2975744" y="235585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69" name="Text Box 419"/>
          <p:cNvSpPr txBox="1">
            <a:spLocks noChangeArrowheads="1"/>
          </p:cNvSpPr>
          <p:nvPr/>
        </p:nvSpPr>
        <p:spPr bwMode="gray">
          <a:xfrm>
            <a:off x="5133319" y="2355850"/>
            <a:ext cx="10525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70" name="Text Box 420"/>
          <p:cNvSpPr txBox="1">
            <a:spLocks noChangeArrowheads="1"/>
          </p:cNvSpPr>
          <p:nvPr/>
        </p:nvSpPr>
        <p:spPr bwMode="gray">
          <a:xfrm>
            <a:off x="2121669" y="117951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171" name="Line 421"/>
          <p:cNvSpPr>
            <a:spLocks noChangeShapeType="1"/>
          </p:cNvSpPr>
          <p:nvPr/>
        </p:nvSpPr>
        <p:spPr bwMode="gray">
          <a:xfrm flipV="1">
            <a:off x="2393132" y="194786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Line 422"/>
          <p:cNvSpPr>
            <a:spLocks noChangeShapeType="1"/>
          </p:cNvSpPr>
          <p:nvPr/>
        </p:nvSpPr>
        <p:spPr bwMode="gray">
          <a:xfrm>
            <a:off x="3234507" y="198596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Line 423"/>
          <p:cNvSpPr>
            <a:spLocks noChangeShapeType="1"/>
          </p:cNvSpPr>
          <p:nvPr/>
        </p:nvSpPr>
        <p:spPr bwMode="gray">
          <a:xfrm flipV="1">
            <a:off x="5363344" y="195738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Line 424"/>
          <p:cNvSpPr>
            <a:spLocks noChangeShapeType="1"/>
          </p:cNvSpPr>
          <p:nvPr/>
        </p:nvSpPr>
        <p:spPr bwMode="gray">
          <a:xfrm>
            <a:off x="6265044" y="194786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9" name="Line 425"/>
          <p:cNvSpPr>
            <a:spLocks noChangeShapeType="1"/>
          </p:cNvSpPr>
          <p:nvPr/>
        </p:nvSpPr>
        <p:spPr bwMode="gray">
          <a:xfrm>
            <a:off x="4112394" y="225583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0" name="Text Box 470"/>
          <p:cNvSpPr txBox="1">
            <a:spLocks noChangeArrowheads="1"/>
          </p:cNvSpPr>
          <p:nvPr/>
        </p:nvSpPr>
        <p:spPr bwMode="gray">
          <a:xfrm>
            <a:off x="3613919" y="1089025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201" name="Text Box 472"/>
          <p:cNvSpPr txBox="1">
            <a:spLocks noChangeArrowheads="1"/>
          </p:cNvSpPr>
          <p:nvPr/>
        </p:nvSpPr>
        <p:spPr bwMode="gray">
          <a:xfrm>
            <a:off x="5176019" y="117951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grpSp>
        <p:nvGrpSpPr>
          <p:cNvPr id="202" name="Group 495"/>
          <p:cNvGrpSpPr>
            <a:grpSpLocks/>
          </p:cNvGrpSpPr>
          <p:nvPr/>
        </p:nvGrpSpPr>
        <p:grpSpPr bwMode="gray">
          <a:xfrm>
            <a:off x="3024957" y="3436938"/>
            <a:ext cx="996950" cy="420687"/>
            <a:chOff x="1404" y="2356"/>
            <a:chExt cx="498" cy="265"/>
          </a:xfrm>
        </p:grpSpPr>
        <p:sp>
          <p:nvSpPr>
            <p:cNvPr id="203" name="AutoShape 496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04" name="Group 497"/>
            <p:cNvGrpSpPr>
              <a:grpSpLocks/>
            </p:cNvGrpSpPr>
            <p:nvPr/>
          </p:nvGrpSpPr>
          <p:grpSpPr bwMode="gray">
            <a:xfrm>
              <a:off x="1404" y="2356"/>
              <a:ext cx="498" cy="265"/>
              <a:chOff x="1404" y="2356"/>
              <a:chExt cx="498" cy="265"/>
            </a:xfrm>
          </p:grpSpPr>
          <p:sp>
            <p:nvSpPr>
              <p:cNvPr id="205" name="Text Box 498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PE1</a:t>
                </a:r>
              </a:p>
            </p:txBody>
          </p:sp>
          <p:sp>
            <p:nvSpPr>
              <p:cNvPr id="206" name="Text Box 499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73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T2</a:t>
                </a:r>
              </a:p>
            </p:txBody>
          </p:sp>
        </p:grpSp>
      </p:grpSp>
      <p:grpSp>
        <p:nvGrpSpPr>
          <p:cNvPr id="222" name="Group 515"/>
          <p:cNvGrpSpPr>
            <a:grpSpLocks/>
          </p:cNvGrpSpPr>
          <p:nvPr/>
        </p:nvGrpSpPr>
        <p:grpSpPr bwMode="gray">
          <a:xfrm>
            <a:off x="3990157" y="4375237"/>
            <a:ext cx="1260475" cy="630237"/>
            <a:chOff x="3351" y="2808"/>
            <a:chExt cx="794" cy="397"/>
          </a:xfrm>
        </p:grpSpPr>
        <p:sp>
          <p:nvSpPr>
            <p:cNvPr id="223" name="AutoShape 516"/>
            <p:cNvSpPr>
              <a:spLocks noChangeArrowheads="1"/>
            </p:cNvSpPr>
            <p:nvPr/>
          </p:nvSpPr>
          <p:spPr bwMode="gray">
            <a:xfrm rot="10800000">
              <a:off x="3368" y="2819"/>
              <a:ext cx="667" cy="386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4" name="Text Box 517"/>
            <p:cNvSpPr txBox="1">
              <a:spLocks noChangeArrowheads="1"/>
            </p:cNvSpPr>
            <p:nvPr/>
          </p:nvSpPr>
          <p:spPr bwMode="gray">
            <a:xfrm>
              <a:off x="3351" y="2808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NLRI: PE1</a:t>
              </a:r>
            </a:p>
          </p:txBody>
        </p:sp>
        <p:sp>
          <p:nvSpPr>
            <p:cNvPr id="225" name="Text Box 518"/>
            <p:cNvSpPr txBox="1">
              <a:spLocks noChangeArrowheads="1"/>
            </p:cNvSpPr>
            <p:nvPr/>
          </p:nvSpPr>
          <p:spPr bwMode="gray">
            <a:xfrm>
              <a:off x="3351" y="3006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Label: B1</a:t>
              </a:r>
            </a:p>
          </p:txBody>
        </p:sp>
        <p:sp>
          <p:nvSpPr>
            <p:cNvPr id="226" name="Text Box 519"/>
            <p:cNvSpPr txBox="1">
              <a:spLocks noChangeArrowheads="1"/>
            </p:cNvSpPr>
            <p:nvPr/>
          </p:nvSpPr>
          <p:spPr bwMode="gray">
            <a:xfrm>
              <a:off x="3351" y="2909"/>
              <a:ext cx="794" cy="17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200" i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NH: ASBR1</a:t>
              </a:r>
            </a:p>
          </p:txBody>
        </p:sp>
      </p:grpSp>
      <p:sp>
        <p:nvSpPr>
          <p:cNvPr id="227" name="Line 520"/>
          <p:cNvSpPr>
            <a:spLocks noChangeShapeType="1"/>
          </p:cNvSpPr>
          <p:nvPr/>
        </p:nvSpPr>
        <p:spPr bwMode="gray">
          <a:xfrm>
            <a:off x="2248669" y="5264150"/>
            <a:ext cx="4733925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8" name="Text Box 521"/>
          <p:cNvSpPr txBox="1">
            <a:spLocks noChangeArrowheads="1"/>
          </p:cNvSpPr>
          <p:nvPr/>
        </p:nvSpPr>
        <p:spPr bwMode="gray">
          <a:xfrm>
            <a:off x="3731393" y="5005388"/>
            <a:ext cx="1376363" cy="2746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 Routing</a:t>
            </a:r>
          </a:p>
        </p:txBody>
      </p:sp>
      <p:sp>
        <p:nvSpPr>
          <p:cNvPr id="229" name="Text Box 522"/>
          <p:cNvSpPr txBox="1">
            <a:spLocks noChangeArrowheads="1"/>
          </p:cNvSpPr>
          <p:nvPr/>
        </p:nvSpPr>
        <p:spPr bwMode="gray">
          <a:xfrm>
            <a:off x="2866207" y="205422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230" name="Text Box 523"/>
          <p:cNvSpPr txBox="1">
            <a:spLocks noChangeArrowheads="1"/>
          </p:cNvSpPr>
          <p:nvPr/>
        </p:nvSpPr>
        <p:spPr bwMode="gray">
          <a:xfrm>
            <a:off x="5868169" y="205740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231" name="Text Box 36"/>
          <p:cNvSpPr txBox="1">
            <a:spLocks noChangeArrowheads="1"/>
          </p:cNvSpPr>
          <p:nvPr/>
        </p:nvSpPr>
        <p:spPr bwMode="gray">
          <a:xfrm>
            <a:off x="1583358" y="1503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232" name="Text Box 36"/>
          <p:cNvSpPr txBox="1">
            <a:spLocks noChangeArrowheads="1"/>
          </p:cNvSpPr>
          <p:nvPr/>
        </p:nvSpPr>
        <p:spPr bwMode="gray">
          <a:xfrm>
            <a:off x="6263878" y="150326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pic>
        <p:nvPicPr>
          <p:cNvPr id="233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173102" y="2882691"/>
            <a:ext cx="436636" cy="395012"/>
          </a:xfrm>
          <a:prstGeom prst="rect">
            <a:avLst/>
          </a:prstGeom>
          <a:noFill/>
        </p:spPr>
      </p:pic>
      <p:pic>
        <p:nvPicPr>
          <p:cNvPr id="234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01777" y="2112245"/>
            <a:ext cx="436636" cy="395012"/>
          </a:xfrm>
          <a:prstGeom prst="rect">
            <a:avLst/>
          </a:prstGeom>
          <a:noFill/>
        </p:spPr>
      </p:pic>
      <p:pic>
        <p:nvPicPr>
          <p:cNvPr id="235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97126" y="1721783"/>
            <a:ext cx="436636" cy="395012"/>
          </a:xfrm>
          <a:prstGeom prst="rect">
            <a:avLst/>
          </a:prstGeom>
          <a:noFill/>
        </p:spPr>
      </p:pic>
      <p:pic>
        <p:nvPicPr>
          <p:cNvPr id="236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735327" y="2110753"/>
            <a:ext cx="436636" cy="395012"/>
          </a:xfrm>
          <a:prstGeom prst="rect">
            <a:avLst/>
          </a:prstGeom>
          <a:noFill/>
        </p:spPr>
      </p:pic>
      <p:pic>
        <p:nvPicPr>
          <p:cNvPr id="237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64772" y="2110719"/>
            <a:ext cx="436636" cy="395012"/>
          </a:xfrm>
          <a:prstGeom prst="rect">
            <a:avLst/>
          </a:prstGeom>
          <a:noFill/>
        </p:spPr>
      </p:pic>
      <p:pic>
        <p:nvPicPr>
          <p:cNvPr id="238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86389" y="1729658"/>
            <a:ext cx="436636" cy="395012"/>
          </a:xfrm>
          <a:prstGeom prst="rect">
            <a:avLst/>
          </a:prstGeom>
          <a:noFill/>
        </p:spPr>
      </p:pic>
      <p:pic>
        <p:nvPicPr>
          <p:cNvPr id="239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792851" y="2061892"/>
            <a:ext cx="436636" cy="395012"/>
          </a:xfrm>
          <a:prstGeom prst="rect">
            <a:avLst/>
          </a:prstGeom>
          <a:noFill/>
        </p:spPr>
      </p:pic>
      <p:pic>
        <p:nvPicPr>
          <p:cNvPr id="240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69446" y="2911751"/>
            <a:ext cx="436636" cy="395012"/>
          </a:xfrm>
          <a:prstGeom prst="rect">
            <a:avLst/>
          </a:prstGeom>
          <a:noFill/>
        </p:spPr>
      </p:pic>
      <p:sp>
        <p:nvSpPr>
          <p:cNvPr id="241" name="圆角矩形 240"/>
          <p:cNvSpPr/>
          <p:nvPr/>
        </p:nvSpPr>
        <p:spPr bwMode="gray">
          <a:xfrm>
            <a:off x="1834967" y="113154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2" name="圆角矩形 241"/>
          <p:cNvSpPr/>
          <p:nvPr/>
        </p:nvSpPr>
        <p:spPr bwMode="gray">
          <a:xfrm>
            <a:off x="464319" y="2828926"/>
            <a:ext cx="1205193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3" name="圆角矩形 242"/>
          <p:cNvSpPr/>
          <p:nvPr/>
        </p:nvSpPr>
        <p:spPr bwMode="gray">
          <a:xfrm>
            <a:off x="4892833" y="1131545"/>
            <a:ext cx="2397931" cy="1551889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4" name="圆角矩形 243"/>
          <p:cNvSpPr/>
          <p:nvPr/>
        </p:nvSpPr>
        <p:spPr bwMode="gray">
          <a:xfrm>
            <a:off x="7211715" y="2828926"/>
            <a:ext cx="1152824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5" name="椭圆 244"/>
          <p:cNvSpPr/>
          <p:nvPr/>
        </p:nvSpPr>
        <p:spPr bwMode="gray">
          <a:xfrm>
            <a:off x="1682552" y="4810211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6" name="椭圆 245"/>
          <p:cNvSpPr/>
          <p:nvPr/>
        </p:nvSpPr>
        <p:spPr bwMode="gray">
          <a:xfrm>
            <a:off x="3616750" y="502156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7" name="椭圆 246"/>
          <p:cNvSpPr/>
          <p:nvPr/>
        </p:nvSpPr>
        <p:spPr bwMode="gray">
          <a:xfrm>
            <a:off x="4456324" y="382253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8" name="椭圆 247"/>
          <p:cNvSpPr/>
          <p:nvPr/>
        </p:nvSpPr>
        <p:spPr bwMode="gray">
          <a:xfrm>
            <a:off x="5463355" y="3829051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9" name="椭圆 248"/>
          <p:cNvSpPr/>
          <p:nvPr/>
        </p:nvSpPr>
        <p:spPr bwMode="gray">
          <a:xfrm>
            <a:off x="2565361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0" name="椭圆 249"/>
          <p:cNvSpPr/>
          <p:nvPr/>
        </p:nvSpPr>
        <p:spPr bwMode="gray">
          <a:xfrm>
            <a:off x="3385051" y="2771248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3" name="椭圆 252"/>
          <p:cNvSpPr/>
          <p:nvPr/>
        </p:nvSpPr>
        <p:spPr bwMode="gray">
          <a:xfrm>
            <a:off x="7286759" y="4832937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4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通告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路由转化为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路由发送给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，分配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通过</a:t>
            </a:r>
            <a:r>
              <a:rPr lang="en-US" altLang="zh-CN" sz="1400" dirty="0"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ym typeface="Huawei Sans" panose="020C0503030203020204" pitchFamily="34" charset="0"/>
              </a:rPr>
              <a:t>会话通告一条去往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的带标签的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路由给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，其中下一跳为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，标签为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标签，值为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分别为去往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的路由分配隧道标签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路由转变为</a:t>
            </a:r>
            <a:r>
              <a:rPr lang="en-US" altLang="zh-CN" sz="1400" dirty="0"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ym typeface="Huawei Sans" panose="020C0503030203020204" pitchFamily="34" charset="0"/>
              </a:rPr>
              <a:t>路由，通告给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，并且设置下一跳为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en-US" altLang="zh-CN" sz="1400" dirty="0">
              <a:sym typeface="Huawei Sans" panose="020C0503030203020204" pitchFamily="34" charset="0"/>
            </a:endParaRP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255" name="Text Box 343"/>
          <p:cNvSpPr txBox="1">
            <a:spLocks noChangeArrowheads="1"/>
          </p:cNvSpPr>
          <p:nvPr/>
        </p:nvSpPr>
        <p:spPr bwMode="gray">
          <a:xfrm>
            <a:off x="6018017" y="3997527"/>
            <a:ext cx="1129543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sp>
        <p:nvSpPr>
          <p:cNvPr id="256" name="Text Box 344"/>
          <p:cNvSpPr txBox="1">
            <a:spLocks noChangeArrowheads="1"/>
          </p:cNvSpPr>
          <p:nvPr/>
        </p:nvSpPr>
        <p:spPr bwMode="gray">
          <a:xfrm>
            <a:off x="5067736" y="3997527"/>
            <a:ext cx="1174750" cy="27699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Label</a:t>
            </a:r>
          </a:p>
        </p:txBody>
      </p:sp>
      <p:grpSp>
        <p:nvGrpSpPr>
          <p:cNvPr id="257" name="Group 500"/>
          <p:cNvGrpSpPr>
            <a:grpSpLocks/>
          </p:cNvGrpSpPr>
          <p:nvPr/>
        </p:nvGrpSpPr>
        <p:grpSpPr bwMode="gray">
          <a:xfrm>
            <a:off x="5107755" y="4326523"/>
            <a:ext cx="1082713" cy="580930"/>
            <a:chOff x="1404" y="2356"/>
            <a:chExt cx="498" cy="247"/>
          </a:xfrm>
        </p:grpSpPr>
        <p:sp>
          <p:nvSpPr>
            <p:cNvPr id="258" name="AutoShape 501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59" name="Group 502"/>
            <p:cNvGrpSpPr>
              <a:grpSpLocks/>
            </p:cNvGrpSpPr>
            <p:nvPr/>
          </p:nvGrpSpPr>
          <p:grpSpPr bwMode="gray">
            <a:xfrm>
              <a:off x="1404" y="2356"/>
              <a:ext cx="498" cy="210"/>
              <a:chOff x="1404" y="2356"/>
              <a:chExt cx="498" cy="210"/>
            </a:xfrm>
          </p:grpSpPr>
          <p:sp>
            <p:nvSpPr>
              <p:cNvPr id="260" name="Text Box 503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1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</a:t>
                </a:r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61" name="Text Box 504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18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T3</a:t>
                </a:r>
              </a:p>
            </p:txBody>
          </p:sp>
        </p:grpSp>
      </p:grpSp>
      <p:grpSp>
        <p:nvGrpSpPr>
          <p:cNvPr id="262" name="Group 505"/>
          <p:cNvGrpSpPr>
            <a:grpSpLocks/>
          </p:cNvGrpSpPr>
          <p:nvPr/>
        </p:nvGrpSpPr>
        <p:grpSpPr bwMode="gray">
          <a:xfrm>
            <a:off x="6057082" y="4326520"/>
            <a:ext cx="1023936" cy="542462"/>
            <a:chOff x="1404" y="2356"/>
            <a:chExt cx="498" cy="247"/>
          </a:xfrm>
        </p:grpSpPr>
        <p:sp>
          <p:nvSpPr>
            <p:cNvPr id="263" name="AutoShape 506"/>
            <p:cNvSpPr>
              <a:spLocks noChangeArrowheads="1"/>
            </p:cNvSpPr>
            <p:nvPr/>
          </p:nvSpPr>
          <p:spPr bwMode="gray">
            <a:xfrm rot="10800000">
              <a:off x="1435" y="2380"/>
              <a:ext cx="418" cy="223"/>
            </a:xfrm>
            <a:prstGeom prst="wedgeRoundRectCallout">
              <a:avLst>
                <a:gd name="adj1" fmla="val 2389"/>
                <a:gd name="adj2" fmla="val 72352"/>
                <a:gd name="adj3" fmla="val 16667"/>
              </a:avLst>
            </a:prstGeom>
            <a:solidFill>
              <a:srgbClr val="FFFFFF"/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rot="10800000"/>
            <a:lstStyle/>
            <a:p>
              <a:pPr algn="ctr"/>
              <a:endPara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64" name="Group 507"/>
            <p:cNvGrpSpPr>
              <a:grpSpLocks/>
            </p:cNvGrpSpPr>
            <p:nvPr/>
          </p:nvGrpSpPr>
          <p:grpSpPr bwMode="gray">
            <a:xfrm>
              <a:off x="1404" y="2356"/>
              <a:ext cx="498" cy="218"/>
              <a:chOff x="1404" y="2356"/>
              <a:chExt cx="498" cy="218"/>
            </a:xfrm>
          </p:grpSpPr>
          <p:sp>
            <p:nvSpPr>
              <p:cNvPr id="265" name="Text Box 508"/>
              <p:cNvSpPr txBox="1">
                <a:spLocks noChangeArrowheads="1"/>
              </p:cNvSpPr>
              <p:nvPr/>
            </p:nvSpPr>
            <p:spPr bwMode="gray">
              <a:xfrm>
                <a:off x="1404" y="2356"/>
                <a:ext cx="498" cy="12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FEC: PE1</a:t>
                </a:r>
              </a:p>
            </p:txBody>
          </p:sp>
          <p:sp>
            <p:nvSpPr>
              <p:cNvPr id="266" name="Text Box 509"/>
              <p:cNvSpPr txBox="1">
                <a:spLocks noChangeArrowheads="1"/>
              </p:cNvSpPr>
              <p:nvPr/>
            </p:nvSpPr>
            <p:spPr bwMode="gray">
              <a:xfrm>
                <a:off x="1404" y="2448"/>
                <a:ext cx="498" cy="126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Label: T4</a:t>
                </a:r>
              </a:p>
            </p:txBody>
          </p:sp>
        </p:grpSp>
      </p:grpSp>
      <p:sp>
        <p:nvSpPr>
          <p:cNvPr id="267" name="椭圆 266"/>
          <p:cNvSpPr/>
          <p:nvPr/>
        </p:nvSpPr>
        <p:spPr bwMode="gray">
          <a:xfrm>
            <a:off x="6472737" y="3829051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7424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文本占位符 13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4879805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本端</a:t>
            </a:r>
            <a:r>
              <a:rPr lang="en-US" altLang="zh-CN" sz="1600" dirty="0">
                <a:sym typeface="Huawei Sans" panose="020C0503030203020204" pitchFamily="34" charset="0"/>
              </a:rPr>
              <a:t>PE</a:t>
            </a:r>
            <a:r>
              <a:rPr lang="zh-CN" altLang="en-US" sz="1600" dirty="0">
                <a:sym typeface="Huawei Sans" panose="020C0503030203020204" pitchFamily="34" charset="0"/>
              </a:rPr>
              <a:t>只与本端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邻居，本端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与对端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邻居，实现了跨域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路由的传递。</a:t>
            </a:r>
          </a:p>
          <a:p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只负责控制平面</a:t>
            </a:r>
            <a:r>
              <a:rPr lang="en-US" altLang="zh-CN" sz="1600" dirty="0">
                <a:sym typeface="Huawei Sans" panose="020C0503030203020204" pitchFamily="34" charset="0"/>
              </a:rPr>
              <a:t>VPNv4</a:t>
            </a:r>
            <a:r>
              <a:rPr lang="zh-CN" altLang="en-US" sz="1600" dirty="0">
                <a:sym typeface="Huawei Sans" panose="020C0503030203020204" pitchFamily="34" charset="0"/>
              </a:rPr>
              <a:t>路由的传递，转发平面的流量不经过</a:t>
            </a:r>
            <a:r>
              <a:rPr lang="en-US" altLang="zh-CN" sz="1600" dirty="0">
                <a:sym typeface="Huawei Sans" panose="020C0503030203020204" pitchFamily="34" charset="0"/>
              </a:rPr>
              <a:t>RR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方式二控制平面：带</a:t>
            </a:r>
            <a:r>
              <a:rPr lang="en-US" altLang="zh-CN" dirty="0">
                <a:sym typeface="Huawei Sans" panose="020C0503030203020204" pitchFamily="34" charset="0"/>
              </a:rPr>
              <a:t>RR</a:t>
            </a:r>
            <a:r>
              <a:rPr lang="zh-CN" altLang="en-US" dirty="0">
                <a:sym typeface="Huawei Sans" panose="020C0503030203020204" pitchFamily="34" charset="0"/>
              </a:rPr>
              <a:t>场景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2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25" name="五边形 12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26" name="Line 179"/>
          <p:cNvSpPr>
            <a:spLocks noChangeShapeType="1"/>
          </p:cNvSpPr>
          <p:nvPr/>
        </p:nvSpPr>
        <p:spPr bwMode="gray">
          <a:xfrm>
            <a:off x="7831969" y="2806093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Line 179"/>
          <p:cNvSpPr>
            <a:spLocks noChangeShapeType="1"/>
          </p:cNvSpPr>
          <p:nvPr/>
        </p:nvSpPr>
        <p:spPr bwMode="gray">
          <a:xfrm>
            <a:off x="3649414" y="2806093"/>
            <a:ext cx="805307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Text Box 171"/>
          <p:cNvSpPr txBox="1">
            <a:spLocks noChangeArrowheads="1"/>
          </p:cNvSpPr>
          <p:nvPr/>
        </p:nvSpPr>
        <p:spPr bwMode="gray">
          <a:xfrm>
            <a:off x="3882278" y="3496214"/>
            <a:ext cx="552813" cy="31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30" name="Text Box 172"/>
          <p:cNvSpPr txBox="1">
            <a:spLocks noChangeArrowheads="1"/>
          </p:cNvSpPr>
          <p:nvPr/>
        </p:nvSpPr>
        <p:spPr bwMode="gray">
          <a:xfrm>
            <a:off x="7775010" y="3496213"/>
            <a:ext cx="5892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133" name="Text Box 173"/>
          <p:cNvSpPr txBox="1">
            <a:spLocks noChangeArrowheads="1"/>
          </p:cNvSpPr>
          <p:nvPr/>
        </p:nvSpPr>
        <p:spPr bwMode="gray">
          <a:xfrm>
            <a:off x="4668308" y="3762430"/>
            <a:ext cx="109637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134" name="Text Box 174"/>
          <p:cNvSpPr txBox="1">
            <a:spLocks noChangeArrowheads="1"/>
          </p:cNvSpPr>
          <p:nvPr/>
        </p:nvSpPr>
        <p:spPr bwMode="gray">
          <a:xfrm>
            <a:off x="6412323" y="3781928"/>
            <a:ext cx="11920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135" name="Text Box 175"/>
          <p:cNvSpPr txBox="1">
            <a:spLocks noChangeArrowheads="1"/>
          </p:cNvSpPr>
          <p:nvPr/>
        </p:nvSpPr>
        <p:spPr bwMode="gray">
          <a:xfrm>
            <a:off x="2365127" y="4799552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136" name="Text Box 176"/>
          <p:cNvSpPr txBox="1">
            <a:spLocks noChangeArrowheads="1"/>
          </p:cNvSpPr>
          <p:nvPr/>
        </p:nvSpPr>
        <p:spPr bwMode="gray">
          <a:xfrm>
            <a:off x="9291389" y="4783677"/>
            <a:ext cx="625929" cy="307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137" name="Text Box 177"/>
          <p:cNvSpPr txBox="1">
            <a:spLocks noChangeArrowheads="1"/>
          </p:cNvSpPr>
          <p:nvPr/>
        </p:nvSpPr>
        <p:spPr bwMode="gray">
          <a:xfrm>
            <a:off x="2033339" y="4362989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138" name="Text Box 178"/>
          <p:cNvSpPr txBox="1">
            <a:spLocks noChangeArrowheads="1"/>
          </p:cNvSpPr>
          <p:nvPr/>
        </p:nvSpPr>
        <p:spPr bwMode="gray">
          <a:xfrm>
            <a:off x="9312027" y="4362989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sp>
        <p:nvSpPr>
          <p:cNvPr id="140" name="Line 180"/>
          <p:cNvSpPr>
            <a:spLocks noChangeShapeType="1"/>
          </p:cNvSpPr>
          <p:nvPr/>
        </p:nvSpPr>
        <p:spPr bwMode="gray">
          <a:xfrm>
            <a:off x="4817185" y="2831224"/>
            <a:ext cx="446717" cy="71420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1" name="Line 181"/>
          <p:cNvSpPr>
            <a:spLocks noChangeShapeType="1"/>
          </p:cNvSpPr>
          <p:nvPr/>
        </p:nvSpPr>
        <p:spPr bwMode="gray">
          <a:xfrm flipV="1">
            <a:off x="6884739" y="2831224"/>
            <a:ext cx="527807" cy="6983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2" name="Line 182"/>
          <p:cNvSpPr>
            <a:spLocks noChangeShapeType="1"/>
          </p:cNvSpPr>
          <p:nvPr/>
        </p:nvSpPr>
        <p:spPr bwMode="gray">
          <a:xfrm>
            <a:off x="7849181" y="2831224"/>
            <a:ext cx="445257" cy="6872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3" name="Line 183"/>
          <p:cNvSpPr>
            <a:spLocks noChangeShapeType="1"/>
          </p:cNvSpPr>
          <p:nvPr/>
        </p:nvSpPr>
        <p:spPr bwMode="gray">
          <a:xfrm>
            <a:off x="5633789" y="3621627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Line 206"/>
          <p:cNvSpPr>
            <a:spLocks noChangeShapeType="1"/>
          </p:cNvSpPr>
          <p:nvPr/>
        </p:nvSpPr>
        <p:spPr bwMode="gray">
          <a:xfrm flipV="1">
            <a:off x="2876302" y="3745452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5" name="Line 207"/>
          <p:cNvSpPr>
            <a:spLocks noChangeShapeType="1"/>
          </p:cNvSpPr>
          <p:nvPr/>
        </p:nvSpPr>
        <p:spPr bwMode="gray">
          <a:xfrm>
            <a:off x="8573839" y="3745452"/>
            <a:ext cx="860425" cy="7921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6" name="Line 315"/>
          <p:cNvSpPr>
            <a:spLocks noChangeShapeType="1"/>
          </p:cNvSpPr>
          <p:nvPr/>
        </p:nvSpPr>
        <p:spPr bwMode="gray">
          <a:xfrm flipH="1">
            <a:off x="2358777" y="4736052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7" name="Text Box 316"/>
          <p:cNvSpPr txBox="1">
            <a:spLocks noChangeArrowheads="1"/>
          </p:cNvSpPr>
          <p:nvPr/>
        </p:nvSpPr>
        <p:spPr bwMode="gray">
          <a:xfrm>
            <a:off x="1952546" y="4878927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pic>
        <p:nvPicPr>
          <p:cNvPr id="148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681852" y="4459446"/>
            <a:ext cx="436636" cy="395012"/>
          </a:xfrm>
          <a:prstGeom prst="rect">
            <a:avLst/>
          </a:prstGeom>
          <a:noFill/>
        </p:spPr>
      </p:pic>
      <p:pic>
        <p:nvPicPr>
          <p:cNvPr id="149" name="Picture 190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548444" y="3444102"/>
            <a:ext cx="436636" cy="395012"/>
          </a:xfrm>
          <a:prstGeom prst="rect">
            <a:avLst/>
          </a:prstGeom>
          <a:noFill/>
        </p:spPr>
      </p:pic>
      <p:sp>
        <p:nvSpPr>
          <p:cNvPr id="150" name="Text Box 341"/>
          <p:cNvSpPr txBox="1">
            <a:spLocks noChangeArrowheads="1"/>
          </p:cNvSpPr>
          <p:nvPr/>
        </p:nvSpPr>
        <p:spPr bwMode="gray">
          <a:xfrm>
            <a:off x="4392421" y="2962814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pic>
        <p:nvPicPr>
          <p:cNvPr id="152" name="Picture 19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224526" y="3403483"/>
            <a:ext cx="436636" cy="395012"/>
          </a:xfrm>
          <a:prstGeom prst="rect">
            <a:avLst/>
          </a:prstGeom>
          <a:noFill/>
        </p:spPr>
      </p:pic>
      <p:pic>
        <p:nvPicPr>
          <p:cNvPr id="153" name="Picture 19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482354" y="3420946"/>
            <a:ext cx="436636" cy="395012"/>
          </a:xfrm>
          <a:prstGeom prst="rect">
            <a:avLst/>
          </a:prstGeom>
          <a:noFill/>
        </p:spPr>
      </p:pic>
      <p:sp>
        <p:nvSpPr>
          <p:cNvPr id="154" name="Text Box 342"/>
          <p:cNvSpPr txBox="1">
            <a:spLocks noChangeArrowheads="1"/>
          </p:cNvSpPr>
          <p:nvPr/>
        </p:nvSpPr>
        <p:spPr bwMode="gray">
          <a:xfrm>
            <a:off x="7389564" y="2962814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pic>
        <p:nvPicPr>
          <p:cNvPr id="156" name="Picture 19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310421" y="3440789"/>
            <a:ext cx="436636" cy="395012"/>
          </a:xfrm>
          <a:prstGeom prst="rect">
            <a:avLst/>
          </a:prstGeom>
          <a:noFill/>
        </p:spPr>
      </p:pic>
      <p:pic>
        <p:nvPicPr>
          <p:cNvPr id="157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9089466" y="4477427"/>
            <a:ext cx="436636" cy="395012"/>
          </a:xfrm>
          <a:prstGeom prst="rect">
            <a:avLst/>
          </a:prstGeom>
          <a:noFill/>
        </p:spPr>
      </p:pic>
      <p:sp>
        <p:nvSpPr>
          <p:cNvPr id="158" name="圆角矩形 157"/>
          <p:cNvSpPr/>
          <p:nvPr/>
        </p:nvSpPr>
        <p:spPr bwMode="gray">
          <a:xfrm>
            <a:off x="2071439" y="4377674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9" name="圆角矩形 158"/>
          <p:cNvSpPr/>
          <p:nvPr/>
        </p:nvSpPr>
        <p:spPr bwMode="gray">
          <a:xfrm>
            <a:off x="3118488" y="2384924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0" name="圆角矩形 159"/>
          <p:cNvSpPr/>
          <p:nvPr/>
        </p:nvSpPr>
        <p:spPr bwMode="gray">
          <a:xfrm>
            <a:off x="8848433" y="4377674"/>
            <a:ext cx="1090375" cy="754857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1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222488" y="2611830"/>
            <a:ext cx="436636" cy="395012"/>
          </a:xfrm>
          <a:prstGeom prst="rect">
            <a:avLst/>
          </a:prstGeom>
          <a:noFill/>
        </p:spPr>
      </p:pic>
      <p:sp>
        <p:nvSpPr>
          <p:cNvPr id="162" name="圆角矩形 161"/>
          <p:cNvSpPr/>
          <p:nvPr/>
        </p:nvSpPr>
        <p:spPr bwMode="gray">
          <a:xfrm>
            <a:off x="6323008" y="2384924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63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8579041" y="2611830"/>
            <a:ext cx="436636" cy="395012"/>
          </a:xfrm>
          <a:prstGeom prst="rect">
            <a:avLst/>
          </a:prstGeom>
          <a:noFill/>
        </p:spPr>
      </p:pic>
      <p:sp>
        <p:nvSpPr>
          <p:cNvPr id="164" name="Text Box 341"/>
          <p:cNvSpPr txBox="1">
            <a:spLocks noChangeArrowheads="1"/>
          </p:cNvSpPr>
          <p:nvPr/>
        </p:nvSpPr>
        <p:spPr bwMode="gray">
          <a:xfrm>
            <a:off x="3135387" y="2972698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</a:t>
            </a: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</a:p>
        </p:txBody>
      </p:sp>
      <p:sp>
        <p:nvSpPr>
          <p:cNvPr id="165" name="Text Box 341"/>
          <p:cNvSpPr txBox="1">
            <a:spLocks noChangeArrowheads="1"/>
          </p:cNvSpPr>
          <p:nvPr/>
        </p:nvSpPr>
        <p:spPr bwMode="gray">
          <a:xfrm>
            <a:off x="8485387" y="2972698"/>
            <a:ext cx="6239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RR2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66" name="直接箭头连接符 165"/>
          <p:cNvCxnSpPr>
            <a:endCxn id="149" idx="0"/>
          </p:cNvCxnSpPr>
          <p:nvPr/>
        </p:nvCxnSpPr>
        <p:spPr bwMode="gray">
          <a:xfrm>
            <a:off x="3619647" y="3023404"/>
            <a:ext cx="147115" cy="42069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/>
          <p:nvPr/>
        </p:nvCxnSpPr>
        <p:spPr bwMode="gray">
          <a:xfrm flipH="1">
            <a:off x="8424509" y="2991165"/>
            <a:ext cx="154532" cy="422318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 bwMode="gray">
          <a:xfrm flipV="1">
            <a:off x="5675230" y="3785383"/>
            <a:ext cx="734725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 bwMode="gray">
          <a:xfrm flipV="1">
            <a:off x="5548210" y="4763082"/>
            <a:ext cx="720000" cy="0"/>
          </a:xfrm>
          <a:prstGeom prst="straightConnector1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 bwMode="gray">
          <a:xfrm>
            <a:off x="5548210" y="4985205"/>
            <a:ext cx="720000" cy="0"/>
          </a:xfrm>
          <a:prstGeom prst="straightConnector1">
            <a:avLst/>
          </a:pr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 Box 176"/>
          <p:cNvSpPr txBox="1">
            <a:spLocks noChangeArrowheads="1"/>
          </p:cNvSpPr>
          <p:nvPr/>
        </p:nvSpPr>
        <p:spPr bwMode="gray">
          <a:xfrm>
            <a:off x="6268210" y="4609344"/>
            <a:ext cx="140155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单播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Text Box 176"/>
          <p:cNvSpPr txBox="1">
            <a:spLocks noChangeArrowheads="1"/>
          </p:cNvSpPr>
          <p:nvPr/>
        </p:nvSpPr>
        <p:spPr bwMode="gray">
          <a:xfrm>
            <a:off x="6268210" y="4831316"/>
            <a:ext cx="13361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</a:t>
            </a:r>
            <a:endParaRPr lang="en-US" altLang="zh-CN" sz="14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AutoShape 274"/>
          <p:cNvSpPr>
            <a:spLocks noChangeArrowheads="1"/>
          </p:cNvSpPr>
          <p:nvPr/>
        </p:nvSpPr>
        <p:spPr bwMode="gray">
          <a:xfrm rot="10800000">
            <a:off x="1653845" y="2806093"/>
            <a:ext cx="1076290" cy="681534"/>
          </a:xfrm>
          <a:prstGeom prst="wedgeRoundRectCallout">
            <a:avLst>
              <a:gd name="adj1" fmla="val -91803"/>
              <a:gd name="adj2" fmla="val 47161"/>
              <a:gd name="adj3" fmla="val 16667"/>
            </a:avLst>
          </a:prstGeom>
          <a:solidFill>
            <a:srgbClr val="FFFFFF"/>
          </a:solidFill>
          <a:ln w="12700" algn="ctr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rot="10800000"/>
          <a:lstStyle/>
          <a:p>
            <a:pPr algn="ctr"/>
            <a:endParaRPr lang="zh-CN" altLang="zh-CN" b="1">
              <a:effectLst>
                <a:outerShdw blurRad="38100" dist="38100" dir="2700000" algn="tl">
                  <a:srgbClr val="C0C0C0"/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Text Box 276"/>
          <p:cNvSpPr txBox="1">
            <a:spLocks noChangeArrowheads="1"/>
          </p:cNvSpPr>
          <p:nvPr/>
        </p:nvSpPr>
        <p:spPr bwMode="gray">
          <a:xfrm>
            <a:off x="1732972" y="2823694"/>
            <a:ext cx="898143" cy="64633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只反射路由，不转发数据。</a:t>
            </a:r>
            <a:endParaRPr lang="en-US" altLang="zh-CN" sz="1200" i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Line 179"/>
          <p:cNvSpPr>
            <a:spLocks noChangeShapeType="1"/>
          </p:cNvSpPr>
          <p:nvPr/>
        </p:nvSpPr>
        <p:spPr bwMode="gray">
          <a:xfrm flipV="1">
            <a:off x="3914527" y="2831223"/>
            <a:ext cx="477894" cy="68880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5" name="Picture 19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12546" y="2621022"/>
            <a:ext cx="436636" cy="395012"/>
          </a:xfrm>
          <a:prstGeom prst="rect">
            <a:avLst/>
          </a:prstGeom>
          <a:noFill/>
        </p:spPr>
      </p:pic>
      <p:pic>
        <p:nvPicPr>
          <p:cNvPr id="151" name="Picture 19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387255" y="2611830"/>
            <a:ext cx="436636" cy="395012"/>
          </a:xfrm>
          <a:prstGeom prst="rect">
            <a:avLst/>
          </a:prstGeom>
          <a:noFill/>
        </p:spPr>
      </p:pic>
      <p:sp>
        <p:nvSpPr>
          <p:cNvPr id="53" name="任意多边形 52"/>
          <p:cNvSpPr/>
          <p:nvPr/>
        </p:nvSpPr>
        <p:spPr>
          <a:xfrm>
            <a:off x="3474720" y="2201947"/>
            <a:ext cx="5444197" cy="361700"/>
          </a:xfrm>
          <a:custGeom>
            <a:avLst/>
            <a:gdLst>
              <a:gd name="connsiteX0" fmla="*/ 0 w 5444197"/>
              <a:gd name="connsiteY0" fmla="*/ 0 h 56271"/>
              <a:gd name="connsiteX1" fmla="*/ 5444197 w 5444197"/>
              <a:gd name="connsiteY1" fmla="*/ 56271 h 56271"/>
              <a:gd name="connsiteX0" fmla="*/ 0 w 5444197"/>
              <a:gd name="connsiteY0" fmla="*/ 200576 h 256847"/>
              <a:gd name="connsiteX1" fmla="*/ 5444197 w 5444197"/>
              <a:gd name="connsiteY1" fmla="*/ 256847 h 256847"/>
              <a:gd name="connsiteX0" fmla="*/ 0 w 5444197"/>
              <a:gd name="connsiteY0" fmla="*/ 305429 h 361700"/>
              <a:gd name="connsiteX1" fmla="*/ 5444197 w 5444197"/>
              <a:gd name="connsiteY1" fmla="*/ 361700 h 36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44197" h="361700">
                <a:moveTo>
                  <a:pt x="0" y="305429"/>
                </a:moveTo>
                <a:cubicBezTo>
                  <a:pt x="1842868" y="-27507"/>
                  <a:pt x="3840481" y="-191629"/>
                  <a:pt x="5444197" y="361700"/>
                </a:cubicBezTo>
              </a:path>
            </a:pathLst>
          </a:custGeom>
          <a:ln w="28575">
            <a:solidFill>
              <a:srgbClr val="C7000B"/>
            </a:solidFill>
            <a:prstDash val="sys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543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方式二：转发平面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146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7" name="五边形 146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148" name="AutoShape 348"/>
          <p:cNvSpPr>
            <a:spLocks noChangeArrowheads="1"/>
          </p:cNvSpPr>
          <p:nvPr/>
        </p:nvSpPr>
        <p:spPr bwMode="gray">
          <a:xfrm rot="5400000">
            <a:off x="4572621" y="2422770"/>
            <a:ext cx="152400" cy="6216650"/>
          </a:xfrm>
          <a:prstGeom prst="can">
            <a:avLst>
              <a:gd name="adj" fmla="val 77995"/>
            </a:avLst>
          </a:prstGeom>
          <a:solidFill>
            <a:srgbClr val="FAD3BB">
              <a:alpha val="4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9" name="Text Box 190"/>
          <p:cNvSpPr txBox="1">
            <a:spLocks noChangeArrowheads="1"/>
          </p:cNvSpPr>
          <p:nvPr/>
        </p:nvSpPr>
        <p:spPr bwMode="gray">
          <a:xfrm>
            <a:off x="1540496" y="3494333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50" name="Text Box 191"/>
          <p:cNvSpPr txBox="1">
            <a:spLocks noChangeArrowheads="1"/>
          </p:cNvSpPr>
          <p:nvPr/>
        </p:nvSpPr>
        <p:spPr bwMode="gray">
          <a:xfrm>
            <a:off x="2307259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51" name="Text Box 192"/>
          <p:cNvSpPr txBox="1">
            <a:spLocks noChangeArrowheads="1"/>
          </p:cNvSpPr>
          <p:nvPr/>
        </p:nvSpPr>
        <p:spPr bwMode="gray">
          <a:xfrm>
            <a:off x="3185146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58" name="Text Box 193"/>
          <p:cNvSpPr txBox="1">
            <a:spLocks noChangeArrowheads="1"/>
          </p:cNvSpPr>
          <p:nvPr/>
        </p:nvSpPr>
        <p:spPr bwMode="gray">
          <a:xfrm>
            <a:off x="5323509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59" name="Text Box 194"/>
          <p:cNvSpPr txBox="1">
            <a:spLocks noChangeArrowheads="1"/>
          </p:cNvSpPr>
          <p:nvPr/>
        </p:nvSpPr>
        <p:spPr bwMode="gray">
          <a:xfrm>
            <a:off x="6210921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60" name="Text Box 196"/>
          <p:cNvSpPr txBox="1">
            <a:spLocks noChangeArrowheads="1"/>
          </p:cNvSpPr>
          <p:nvPr/>
        </p:nvSpPr>
        <p:spPr bwMode="gray">
          <a:xfrm>
            <a:off x="7084046" y="3497310"/>
            <a:ext cx="688975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</a:p>
        </p:txBody>
      </p:sp>
      <p:sp>
        <p:nvSpPr>
          <p:cNvPr id="161" name="Line 201"/>
          <p:cNvSpPr>
            <a:spLocks noChangeShapeType="1"/>
          </p:cNvSpPr>
          <p:nvPr/>
        </p:nvSpPr>
        <p:spPr bwMode="gray">
          <a:xfrm flipV="1">
            <a:off x="1364284" y="2452933"/>
            <a:ext cx="773112" cy="738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2" name="Line 202"/>
          <p:cNvSpPr>
            <a:spLocks noChangeShapeType="1"/>
          </p:cNvSpPr>
          <p:nvPr/>
        </p:nvSpPr>
        <p:spPr bwMode="gray">
          <a:xfrm>
            <a:off x="7061821" y="2452933"/>
            <a:ext cx="702207" cy="70261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3" name="Line 214"/>
          <p:cNvSpPr>
            <a:spLocks noChangeShapeType="1"/>
          </p:cNvSpPr>
          <p:nvPr/>
        </p:nvSpPr>
        <p:spPr bwMode="gray">
          <a:xfrm>
            <a:off x="1394446" y="3332408"/>
            <a:ext cx="0" cy="104933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4" name="Line 215"/>
          <p:cNvSpPr>
            <a:spLocks noChangeShapeType="1"/>
          </p:cNvSpPr>
          <p:nvPr/>
        </p:nvSpPr>
        <p:spPr bwMode="gray">
          <a:xfrm>
            <a:off x="3943971" y="25354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5" name="Line 216"/>
          <p:cNvSpPr>
            <a:spLocks noChangeShapeType="1"/>
          </p:cNvSpPr>
          <p:nvPr/>
        </p:nvSpPr>
        <p:spPr bwMode="gray">
          <a:xfrm>
            <a:off x="5175871" y="25100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6" name="Line 217"/>
          <p:cNvSpPr>
            <a:spLocks noChangeShapeType="1"/>
          </p:cNvSpPr>
          <p:nvPr/>
        </p:nvSpPr>
        <p:spPr bwMode="gray">
          <a:xfrm>
            <a:off x="6990384" y="2589458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Line 218"/>
          <p:cNvSpPr>
            <a:spLocks noChangeShapeType="1"/>
          </p:cNvSpPr>
          <p:nvPr/>
        </p:nvSpPr>
        <p:spPr bwMode="gray">
          <a:xfrm>
            <a:off x="7836521" y="3384795"/>
            <a:ext cx="0" cy="974725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Line 219"/>
          <p:cNvSpPr>
            <a:spLocks noChangeShapeType="1"/>
          </p:cNvSpPr>
          <p:nvPr/>
        </p:nvSpPr>
        <p:spPr bwMode="gray">
          <a:xfrm>
            <a:off x="2265984" y="3781670"/>
            <a:ext cx="7889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Line 220"/>
          <p:cNvSpPr>
            <a:spLocks noChangeShapeType="1"/>
          </p:cNvSpPr>
          <p:nvPr/>
        </p:nvSpPr>
        <p:spPr bwMode="gray">
          <a:xfrm>
            <a:off x="3042271" y="3781670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0" name="Line 221"/>
          <p:cNvSpPr>
            <a:spLocks noChangeShapeType="1"/>
          </p:cNvSpPr>
          <p:nvPr/>
        </p:nvSpPr>
        <p:spPr bwMode="gray">
          <a:xfrm>
            <a:off x="1384921" y="3775320"/>
            <a:ext cx="8890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1" name="Line 222"/>
          <p:cNvSpPr>
            <a:spLocks noChangeShapeType="1"/>
          </p:cNvSpPr>
          <p:nvPr/>
        </p:nvSpPr>
        <p:spPr bwMode="gray">
          <a:xfrm>
            <a:off x="3953496" y="3774018"/>
            <a:ext cx="1227138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2" name="Line 223"/>
          <p:cNvSpPr>
            <a:spLocks noChangeShapeType="1"/>
          </p:cNvSpPr>
          <p:nvPr/>
        </p:nvSpPr>
        <p:spPr bwMode="gray">
          <a:xfrm>
            <a:off x="5180634" y="3781670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3" name="Line 224"/>
          <p:cNvSpPr>
            <a:spLocks noChangeShapeType="1"/>
          </p:cNvSpPr>
          <p:nvPr/>
        </p:nvSpPr>
        <p:spPr bwMode="gray">
          <a:xfrm>
            <a:off x="6085509" y="3772145"/>
            <a:ext cx="901700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4" name="Line 225"/>
          <p:cNvSpPr>
            <a:spLocks noChangeShapeType="1"/>
          </p:cNvSpPr>
          <p:nvPr/>
        </p:nvSpPr>
        <p:spPr bwMode="gray">
          <a:xfrm>
            <a:off x="6984034" y="3772145"/>
            <a:ext cx="877887" cy="0"/>
          </a:xfrm>
          <a:prstGeom prst="line">
            <a:avLst/>
          </a:prstGeom>
          <a:noFill/>
          <a:ln w="25400" cap="rnd">
            <a:solidFill>
              <a:srgbClr val="99CCFF"/>
            </a:solidFill>
            <a:prstDash val="sysDot"/>
            <a:round/>
            <a:headEnd type="stealth" w="med" len="med"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5" name="Line 226"/>
          <p:cNvSpPr>
            <a:spLocks noChangeShapeType="1"/>
          </p:cNvSpPr>
          <p:nvPr/>
        </p:nvSpPr>
        <p:spPr bwMode="gray">
          <a:xfrm>
            <a:off x="3054971" y="2433883"/>
            <a:ext cx="0" cy="2693987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6" name="Line 227"/>
          <p:cNvSpPr>
            <a:spLocks noChangeShapeType="1"/>
          </p:cNvSpPr>
          <p:nvPr/>
        </p:nvSpPr>
        <p:spPr bwMode="gray">
          <a:xfrm>
            <a:off x="6090271" y="2400545"/>
            <a:ext cx="0" cy="2693988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7" name="Rectangle 228"/>
          <p:cNvSpPr>
            <a:spLocks noChangeArrowheads="1"/>
          </p:cNvSpPr>
          <p:nvPr/>
        </p:nvSpPr>
        <p:spPr bwMode="gray">
          <a:xfrm>
            <a:off x="705864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79" name="Rectangle 242"/>
          <p:cNvSpPr>
            <a:spLocks noChangeArrowheads="1"/>
          </p:cNvSpPr>
          <p:nvPr/>
        </p:nvSpPr>
        <p:spPr bwMode="gray">
          <a:xfrm>
            <a:off x="6172821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80" name="Rectangle 243"/>
          <p:cNvSpPr>
            <a:spLocks noChangeArrowheads="1"/>
          </p:cNvSpPr>
          <p:nvPr/>
        </p:nvSpPr>
        <p:spPr bwMode="gray">
          <a:xfrm>
            <a:off x="6172821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82" name="Rectangle 245"/>
          <p:cNvSpPr>
            <a:spLocks noChangeArrowheads="1"/>
          </p:cNvSpPr>
          <p:nvPr/>
        </p:nvSpPr>
        <p:spPr bwMode="gray">
          <a:xfrm>
            <a:off x="527429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83" name="Rectangle 246"/>
          <p:cNvSpPr>
            <a:spLocks noChangeArrowheads="1"/>
          </p:cNvSpPr>
          <p:nvPr/>
        </p:nvSpPr>
        <p:spPr bwMode="gray">
          <a:xfrm>
            <a:off x="5274296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85" name="Text Box 248"/>
          <p:cNvSpPr txBox="1">
            <a:spLocks noChangeArrowheads="1"/>
          </p:cNvSpPr>
          <p:nvPr/>
        </p:nvSpPr>
        <p:spPr bwMode="gray">
          <a:xfrm>
            <a:off x="4229721" y="3494333"/>
            <a:ext cx="688975" cy="30777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186" name="Rectangle 249"/>
          <p:cNvSpPr>
            <a:spLocks noChangeArrowheads="1"/>
          </p:cNvSpPr>
          <p:nvPr/>
        </p:nvSpPr>
        <p:spPr bwMode="gray">
          <a:xfrm>
            <a:off x="4169396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87" name="Rectangle 250"/>
          <p:cNvSpPr>
            <a:spLocks noChangeArrowheads="1"/>
          </p:cNvSpPr>
          <p:nvPr/>
        </p:nvSpPr>
        <p:spPr bwMode="gray">
          <a:xfrm>
            <a:off x="3131171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88" name="Rectangle 251"/>
          <p:cNvSpPr>
            <a:spLocks noChangeArrowheads="1"/>
          </p:cNvSpPr>
          <p:nvPr/>
        </p:nvSpPr>
        <p:spPr bwMode="gray">
          <a:xfrm>
            <a:off x="3131171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89" name="Rectangle 252"/>
          <p:cNvSpPr>
            <a:spLocks noChangeArrowheads="1"/>
          </p:cNvSpPr>
          <p:nvPr/>
        </p:nvSpPr>
        <p:spPr bwMode="gray">
          <a:xfrm>
            <a:off x="3131171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</a:p>
        </p:txBody>
      </p:sp>
      <p:sp>
        <p:nvSpPr>
          <p:cNvPr id="190" name="Rectangle 253"/>
          <p:cNvSpPr>
            <a:spLocks noChangeArrowheads="1"/>
          </p:cNvSpPr>
          <p:nvPr/>
        </p:nvSpPr>
        <p:spPr bwMode="gray">
          <a:xfrm>
            <a:off x="2331071" y="3897558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91" name="Rectangle 254"/>
          <p:cNvSpPr>
            <a:spLocks noChangeArrowheads="1"/>
          </p:cNvSpPr>
          <p:nvPr/>
        </p:nvSpPr>
        <p:spPr bwMode="gray">
          <a:xfrm>
            <a:off x="2331071" y="4151558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92" name="Rectangle 255"/>
          <p:cNvSpPr>
            <a:spLocks noChangeArrowheads="1"/>
          </p:cNvSpPr>
          <p:nvPr/>
        </p:nvSpPr>
        <p:spPr bwMode="gray">
          <a:xfrm>
            <a:off x="2331071" y="4410593"/>
            <a:ext cx="6762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</a:p>
        </p:txBody>
      </p:sp>
      <p:sp>
        <p:nvSpPr>
          <p:cNvPr id="193" name="Rectangle 256"/>
          <p:cNvSpPr>
            <a:spLocks noChangeArrowheads="1"/>
          </p:cNvSpPr>
          <p:nvPr/>
        </p:nvSpPr>
        <p:spPr bwMode="gray">
          <a:xfrm>
            <a:off x="1453184" y="3897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sp>
        <p:nvSpPr>
          <p:cNvPr id="194" name="Rectangle 257"/>
          <p:cNvSpPr>
            <a:spLocks noChangeArrowheads="1"/>
          </p:cNvSpPr>
          <p:nvPr/>
        </p:nvSpPr>
        <p:spPr bwMode="gray">
          <a:xfrm>
            <a:off x="4169396" y="4151558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V1</a:t>
            </a:r>
          </a:p>
        </p:txBody>
      </p:sp>
      <p:sp>
        <p:nvSpPr>
          <p:cNvPr id="195" name="Text Box 258"/>
          <p:cNvSpPr txBox="1">
            <a:spLocks noChangeArrowheads="1"/>
          </p:cNvSpPr>
          <p:nvPr/>
        </p:nvSpPr>
        <p:spPr bwMode="gray">
          <a:xfrm>
            <a:off x="2338100" y="2437738"/>
            <a:ext cx="5807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</a:p>
        </p:txBody>
      </p:sp>
      <p:sp>
        <p:nvSpPr>
          <p:cNvPr id="196" name="Text Box 259"/>
          <p:cNvSpPr txBox="1">
            <a:spLocks noChangeArrowheads="1"/>
          </p:cNvSpPr>
          <p:nvPr/>
        </p:nvSpPr>
        <p:spPr bwMode="gray">
          <a:xfrm>
            <a:off x="6335654" y="2408707"/>
            <a:ext cx="6907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</a:p>
        </p:txBody>
      </p:sp>
      <p:sp>
        <p:nvSpPr>
          <p:cNvPr id="203" name="Text Box 260"/>
          <p:cNvSpPr txBox="1">
            <a:spLocks noChangeArrowheads="1"/>
          </p:cNvSpPr>
          <p:nvPr/>
        </p:nvSpPr>
        <p:spPr bwMode="gray">
          <a:xfrm>
            <a:off x="2985121" y="2416420"/>
            <a:ext cx="1035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ASBR1</a:t>
            </a:r>
          </a:p>
        </p:txBody>
      </p:sp>
      <p:sp>
        <p:nvSpPr>
          <p:cNvPr id="204" name="Text Box 261"/>
          <p:cNvSpPr txBox="1">
            <a:spLocks noChangeArrowheads="1"/>
          </p:cNvSpPr>
          <p:nvPr/>
        </p:nvSpPr>
        <p:spPr bwMode="gray">
          <a:xfrm>
            <a:off x="5104434" y="2416420"/>
            <a:ext cx="10525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ASBR2</a:t>
            </a:r>
          </a:p>
        </p:txBody>
      </p:sp>
      <p:sp>
        <p:nvSpPr>
          <p:cNvPr id="206" name="Text Box 262"/>
          <p:cNvSpPr txBox="1">
            <a:spLocks noChangeArrowheads="1"/>
          </p:cNvSpPr>
          <p:nvPr/>
        </p:nvSpPr>
        <p:spPr bwMode="gray">
          <a:xfrm>
            <a:off x="2131046" y="124008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207" name="Line 263"/>
          <p:cNvSpPr>
            <a:spLocks noChangeShapeType="1"/>
          </p:cNvSpPr>
          <p:nvPr/>
        </p:nvSpPr>
        <p:spPr bwMode="gray">
          <a:xfrm flipV="1">
            <a:off x="2402509" y="2008433"/>
            <a:ext cx="557212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8" name="Line 264"/>
          <p:cNvSpPr>
            <a:spLocks noChangeShapeType="1"/>
          </p:cNvSpPr>
          <p:nvPr/>
        </p:nvSpPr>
        <p:spPr bwMode="gray">
          <a:xfrm>
            <a:off x="3243884" y="2046533"/>
            <a:ext cx="508000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9" name="Line 265"/>
          <p:cNvSpPr>
            <a:spLocks noChangeShapeType="1"/>
          </p:cNvSpPr>
          <p:nvPr/>
        </p:nvSpPr>
        <p:spPr bwMode="gray">
          <a:xfrm flipV="1">
            <a:off x="5372721" y="2017958"/>
            <a:ext cx="581025" cy="206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5" name="Line 266"/>
          <p:cNvSpPr>
            <a:spLocks noChangeShapeType="1"/>
          </p:cNvSpPr>
          <p:nvPr/>
        </p:nvSpPr>
        <p:spPr bwMode="gray">
          <a:xfrm>
            <a:off x="6274421" y="2008433"/>
            <a:ext cx="508000" cy="2047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6" name="Line 267"/>
          <p:cNvSpPr>
            <a:spLocks noChangeShapeType="1"/>
          </p:cNvSpPr>
          <p:nvPr/>
        </p:nvSpPr>
        <p:spPr bwMode="gray">
          <a:xfrm>
            <a:off x="4121771" y="2316408"/>
            <a:ext cx="9175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7" name="Text Box 312"/>
          <p:cNvSpPr txBox="1">
            <a:spLocks noChangeArrowheads="1"/>
          </p:cNvSpPr>
          <p:nvPr/>
        </p:nvSpPr>
        <p:spPr bwMode="gray">
          <a:xfrm>
            <a:off x="3611208" y="1055081"/>
            <a:ext cx="1987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</a:p>
        </p:txBody>
      </p:sp>
      <p:sp>
        <p:nvSpPr>
          <p:cNvPr id="258" name="Text Box 314"/>
          <p:cNvSpPr txBox="1">
            <a:spLocks noChangeArrowheads="1"/>
          </p:cNvSpPr>
          <p:nvPr/>
        </p:nvSpPr>
        <p:spPr bwMode="gray">
          <a:xfrm>
            <a:off x="5185396" y="1240083"/>
            <a:ext cx="1987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IP/MPLS</a:t>
            </a:r>
          </a:p>
        </p:txBody>
      </p:sp>
      <p:sp>
        <p:nvSpPr>
          <p:cNvPr id="259" name="Rectangle 337"/>
          <p:cNvSpPr>
            <a:spLocks noChangeArrowheads="1"/>
          </p:cNvSpPr>
          <p:nvPr/>
        </p:nvSpPr>
        <p:spPr bwMode="gray">
          <a:xfrm>
            <a:off x="6172821" y="4410097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T4</a:t>
            </a:r>
          </a:p>
        </p:txBody>
      </p:sp>
      <p:sp>
        <p:nvSpPr>
          <p:cNvPr id="260" name="Rectangle 338"/>
          <p:cNvSpPr>
            <a:spLocks noChangeArrowheads="1"/>
          </p:cNvSpPr>
          <p:nvPr/>
        </p:nvSpPr>
        <p:spPr bwMode="gray">
          <a:xfrm>
            <a:off x="5274296" y="4410097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T3</a:t>
            </a:r>
          </a:p>
        </p:txBody>
      </p:sp>
      <p:sp>
        <p:nvSpPr>
          <p:cNvPr id="261" name="Rectangle 339"/>
          <p:cNvSpPr>
            <a:spLocks noChangeArrowheads="1"/>
          </p:cNvSpPr>
          <p:nvPr/>
        </p:nvSpPr>
        <p:spPr bwMode="gray">
          <a:xfrm>
            <a:off x="4169396" y="4386086"/>
            <a:ext cx="739775" cy="26352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B1</a:t>
            </a:r>
          </a:p>
        </p:txBody>
      </p:sp>
      <p:sp>
        <p:nvSpPr>
          <p:cNvPr id="262" name="Line 340"/>
          <p:cNvSpPr>
            <a:spLocks noChangeShapeType="1"/>
          </p:cNvSpPr>
          <p:nvPr/>
        </p:nvSpPr>
        <p:spPr bwMode="gray">
          <a:xfrm>
            <a:off x="2275509" y="2538658"/>
            <a:ext cx="1587" cy="2519362"/>
          </a:xfrm>
          <a:prstGeom prst="line">
            <a:avLst/>
          </a:prstGeom>
          <a:noFill/>
          <a:ln w="19050" cap="rnd">
            <a:solidFill>
              <a:srgbClr val="99CCFF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3" name="Text Box 390"/>
          <p:cNvSpPr txBox="1">
            <a:spLocks noChangeArrowheads="1"/>
          </p:cNvSpPr>
          <p:nvPr/>
        </p:nvSpPr>
        <p:spPr bwMode="gray">
          <a:xfrm>
            <a:off x="2875584" y="2114795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P1</a:t>
            </a:r>
          </a:p>
        </p:txBody>
      </p:sp>
      <p:sp>
        <p:nvSpPr>
          <p:cNvPr id="264" name="Text Box 391"/>
          <p:cNvSpPr txBox="1">
            <a:spLocks noChangeArrowheads="1"/>
          </p:cNvSpPr>
          <p:nvPr/>
        </p:nvSpPr>
        <p:spPr bwMode="gray">
          <a:xfrm>
            <a:off x="5877546" y="2117970"/>
            <a:ext cx="482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P2</a:t>
            </a:r>
          </a:p>
        </p:txBody>
      </p:sp>
      <p:sp>
        <p:nvSpPr>
          <p:cNvPr id="265" name="Text Box 36"/>
          <p:cNvSpPr txBox="1">
            <a:spLocks noChangeArrowheads="1"/>
          </p:cNvSpPr>
          <p:nvPr/>
        </p:nvSpPr>
        <p:spPr bwMode="gray">
          <a:xfrm>
            <a:off x="1592735" y="156383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AS100</a:t>
            </a:r>
          </a:p>
        </p:txBody>
      </p:sp>
      <p:sp>
        <p:nvSpPr>
          <p:cNvPr id="266" name="Text Box 36"/>
          <p:cNvSpPr txBox="1">
            <a:spLocks noChangeArrowheads="1"/>
          </p:cNvSpPr>
          <p:nvPr/>
        </p:nvSpPr>
        <p:spPr bwMode="gray">
          <a:xfrm>
            <a:off x="6273255" y="1563833"/>
            <a:ext cx="115212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AS200</a:t>
            </a:r>
          </a:p>
        </p:txBody>
      </p:sp>
      <p:sp>
        <p:nvSpPr>
          <p:cNvPr id="267" name="AutoShape 347"/>
          <p:cNvSpPr>
            <a:spLocks noChangeArrowheads="1"/>
          </p:cNvSpPr>
          <p:nvPr/>
        </p:nvSpPr>
        <p:spPr bwMode="gray">
          <a:xfrm rot="5400000">
            <a:off x="4411489" y="2936327"/>
            <a:ext cx="404813" cy="5187950"/>
          </a:xfrm>
          <a:prstGeom prst="can">
            <a:avLst>
              <a:gd name="adj" fmla="val 29073"/>
            </a:avLst>
          </a:prstGeom>
          <a:solidFill>
            <a:srgbClr val="62B230">
              <a:alpha val="79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8" name="AutoShape 343"/>
          <p:cNvSpPr>
            <a:spLocks noChangeArrowheads="1"/>
          </p:cNvSpPr>
          <p:nvPr/>
        </p:nvSpPr>
        <p:spPr bwMode="gray">
          <a:xfrm rot="5400000">
            <a:off x="4251152" y="5077864"/>
            <a:ext cx="611188" cy="908050"/>
          </a:xfrm>
          <a:prstGeom prst="can">
            <a:avLst>
              <a:gd name="adj" fmla="val 26227"/>
            </a:avLst>
          </a:prstGeom>
          <a:solidFill>
            <a:srgbClr val="CB3778">
              <a:alpha val="68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1" name="AutoShape 342"/>
          <p:cNvSpPr>
            <a:spLocks noChangeArrowheads="1"/>
          </p:cNvSpPr>
          <p:nvPr/>
        </p:nvSpPr>
        <p:spPr bwMode="gray">
          <a:xfrm rot="5400000">
            <a:off x="2685082" y="4723058"/>
            <a:ext cx="809625" cy="1708150"/>
          </a:xfrm>
          <a:prstGeom prst="can">
            <a:avLst>
              <a:gd name="adj" fmla="val 25441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2" name="AutoShape 344"/>
          <p:cNvSpPr>
            <a:spLocks noChangeArrowheads="1"/>
          </p:cNvSpPr>
          <p:nvPr/>
        </p:nvSpPr>
        <p:spPr bwMode="gray">
          <a:xfrm rot="5400000">
            <a:off x="5726733" y="4711945"/>
            <a:ext cx="809625" cy="1704975"/>
          </a:xfrm>
          <a:prstGeom prst="can">
            <a:avLst>
              <a:gd name="adj" fmla="val 25000"/>
            </a:avLst>
          </a:prstGeom>
          <a:solidFill>
            <a:srgbClr val="56C4D2">
              <a:alpha val="50000"/>
            </a:srgbClr>
          </a:solidFill>
          <a:ln w="12700" cap="rnd">
            <a:noFill/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274" name="Picture 211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060293" y="2126154"/>
            <a:ext cx="436636" cy="395012"/>
          </a:xfrm>
          <a:prstGeom prst="rect">
            <a:avLst/>
          </a:prstGeom>
          <a:noFill/>
        </p:spPr>
      </p:pic>
      <p:pic>
        <p:nvPicPr>
          <p:cNvPr id="275" name="Picture 212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2860193" y="1795749"/>
            <a:ext cx="436636" cy="395012"/>
          </a:xfrm>
          <a:prstGeom prst="rect">
            <a:avLst/>
          </a:prstGeom>
          <a:noFill/>
        </p:spPr>
      </p:pic>
      <p:pic>
        <p:nvPicPr>
          <p:cNvPr id="276" name="Picture 213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3725653" y="2148133"/>
            <a:ext cx="436636" cy="395012"/>
          </a:xfrm>
          <a:prstGeom prst="rect">
            <a:avLst/>
          </a:prstGeom>
          <a:noFill/>
        </p:spPr>
      </p:pic>
      <p:pic>
        <p:nvPicPr>
          <p:cNvPr id="277" name="Picture 214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946834" y="2157535"/>
            <a:ext cx="436636" cy="395012"/>
          </a:xfrm>
          <a:prstGeom prst="rect">
            <a:avLst/>
          </a:prstGeom>
          <a:noFill/>
        </p:spPr>
      </p:pic>
      <p:pic>
        <p:nvPicPr>
          <p:cNvPr id="278" name="Picture 215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5899018" y="1775598"/>
            <a:ext cx="436636" cy="395012"/>
          </a:xfrm>
          <a:prstGeom prst="rect">
            <a:avLst/>
          </a:prstGeom>
          <a:noFill/>
        </p:spPr>
      </p:pic>
      <p:pic>
        <p:nvPicPr>
          <p:cNvPr id="279" name="Picture 21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813417" y="2157535"/>
            <a:ext cx="436636" cy="395012"/>
          </a:xfrm>
          <a:prstGeom prst="rect">
            <a:avLst/>
          </a:prstGeom>
          <a:noFill/>
        </p:spPr>
      </p:pic>
      <p:sp>
        <p:nvSpPr>
          <p:cNvPr id="280" name="圆角矩形 279"/>
          <p:cNvSpPr/>
          <p:nvPr/>
        </p:nvSpPr>
        <p:spPr bwMode="gray">
          <a:xfrm>
            <a:off x="1587973" y="1206722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1" name="Text Box 351"/>
          <p:cNvSpPr txBox="1">
            <a:spLocks noChangeArrowheads="1"/>
          </p:cNvSpPr>
          <p:nvPr/>
        </p:nvSpPr>
        <p:spPr bwMode="gray">
          <a:xfrm>
            <a:off x="814705" y="3220449"/>
            <a:ext cx="825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CE1</a:t>
            </a:r>
          </a:p>
        </p:txBody>
      </p:sp>
      <p:sp>
        <p:nvSpPr>
          <p:cNvPr id="282" name="Text Box 353"/>
          <p:cNvSpPr txBox="1">
            <a:spLocks noChangeArrowheads="1"/>
          </p:cNvSpPr>
          <p:nvPr/>
        </p:nvSpPr>
        <p:spPr bwMode="gray">
          <a:xfrm>
            <a:off x="507552" y="2783886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Site1</a:t>
            </a:r>
          </a:p>
        </p:txBody>
      </p:sp>
      <p:sp>
        <p:nvSpPr>
          <p:cNvPr id="283" name="Line 403"/>
          <p:cNvSpPr>
            <a:spLocks noChangeShapeType="1"/>
          </p:cNvSpPr>
          <p:nvPr/>
        </p:nvSpPr>
        <p:spPr bwMode="gray">
          <a:xfrm flipH="1">
            <a:off x="832990" y="3156949"/>
            <a:ext cx="363537" cy="188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4" name="Text Box 404"/>
          <p:cNvSpPr txBox="1">
            <a:spLocks noChangeArrowheads="1"/>
          </p:cNvSpPr>
          <p:nvPr/>
        </p:nvSpPr>
        <p:spPr bwMode="gray">
          <a:xfrm>
            <a:off x="367632" y="3299824"/>
            <a:ext cx="8413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Net1</a:t>
            </a:r>
          </a:p>
        </p:txBody>
      </p:sp>
      <p:pic>
        <p:nvPicPr>
          <p:cNvPr id="285" name="Picture 189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168710" y="2875752"/>
            <a:ext cx="436636" cy="395012"/>
          </a:xfrm>
          <a:prstGeom prst="rect">
            <a:avLst/>
          </a:prstGeom>
          <a:noFill/>
        </p:spPr>
      </p:pic>
      <p:sp>
        <p:nvSpPr>
          <p:cNvPr id="286" name="圆角矩形 285"/>
          <p:cNvSpPr/>
          <p:nvPr/>
        </p:nvSpPr>
        <p:spPr bwMode="gray">
          <a:xfrm>
            <a:off x="459927" y="2821987"/>
            <a:ext cx="1205193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7" name="Text Box 352"/>
          <p:cNvSpPr txBox="1">
            <a:spLocks noChangeArrowheads="1"/>
          </p:cNvSpPr>
          <p:nvPr/>
        </p:nvSpPr>
        <p:spPr bwMode="gray">
          <a:xfrm>
            <a:off x="7709546" y="3213863"/>
            <a:ext cx="6524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/>
            <a:r>
              <a:rPr lang="en-US" altLang="zh-CN" sz="14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CE2</a:t>
            </a:r>
          </a:p>
        </p:txBody>
      </p:sp>
      <p:sp>
        <p:nvSpPr>
          <p:cNvPr id="288" name="Text Box 354"/>
          <p:cNvSpPr txBox="1">
            <a:spLocks noChangeArrowheads="1"/>
          </p:cNvSpPr>
          <p:nvPr/>
        </p:nvSpPr>
        <p:spPr bwMode="gray">
          <a:xfrm>
            <a:off x="7696384" y="2783650"/>
            <a:ext cx="83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/>
            <a:r>
              <a:rPr lang="en-US" altLang="zh-CN" sz="1400" b="1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Site2</a:t>
            </a:r>
          </a:p>
        </p:txBody>
      </p:sp>
      <p:pic>
        <p:nvPicPr>
          <p:cNvPr id="289" name="Picture 196" descr="E:\2016.01\1.12 扁平化图标\蓝色\AR-蓝色最新-4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7468608" y="2904576"/>
            <a:ext cx="436636" cy="395012"/>
          </a:xfrm>
          <a:prstGeom prst="rect">
            <a:avLst/>
          </a:prstGeom>
          <a:noFill/>
        </p:spPr>
      </p:pic>
      <p:sp>
        <p:nvSpPr>
          <p:cNvPr id="290" name="圆角矩形 289"/>
          <p:cNvSpPr/>
          <p:nvPr/>
        </p:nvSpPr>
        <p:spPr bwMode="gray">
          <a:xfrm>
            <a:off x="7159507" y="2821751"/>
            <a:ext cx="1206916" cy="703262"/>
          </a:xfrm>
          <a:prstGeom prst="roundRect">
            <a:avLst/>
          </a:prstGeom>
          <a:noFill/>
          <a:ln w="25400">
            <a:solidFill>
              <a:srgbClr val="94DA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1" name="圆角矩形 290"/>
          <p:cNvSpPr/>
          <p:nvPr/>
        </p:nvSpPr>
        <p:spPr bwMode="gray">
          <a:xfrm>
            <a:off x="4839215" y="1206722"/>
            <a:ext cx="2615712" cy="1679621"/>
          </a:xfrm>
          <a:prstGeom prst="roundRect">
            <a:avLst/>
          </a:prstGeom>
          <a:noFill/>
          <a:ln w="28575" cap="flat" cmpd="sng" algn="ctr">
            <a:solidFill>
              <a:srgbClr val="BEE9EE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2" name="文本占位符 31"/>
          <p:cNvSpPr>
            <a:spLocks noGrp="1"/>
          </p:cNvSpPr>
          <p:nvPr>
            <p:ph type="body" sz="quarter" idx="10"/>
          </p:nvPr>
        </p:nvSpPr>
        <p:spPr bwMode="gray">
          <a:xfrm>
            <a:off x="8350548" y="1047750"/>
            <a:ext cx="3398539" cy="4879805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发送一个目的地为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收到</a:t>
            </a:r>
            <a:r>
              <a:rPr lang="en-US" altLang="zh-CN" sz="1400" dirty="0"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ym typeface="Huawei Sans" panose="020C0503030203020204" pitchFamily="34" charset="0"/>
              </a:rPr>
              <a:t>报文后先封装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标签</a:t>
            </a:r>
            <a:r>
              <a:rPr lang="en-US" altLang="zh-CN" sz="1400" dirty="0">
                <a:sym typeface="Huawei Sans" panose="020C0503030203020204" pitchFamily="34" charset="0"/>
              </a:rPr>
              <a:t>V1</a:t>
            </a:r>
            <a:r>
              <a:rPr lang="zh-CN" altLang="en-US" sz="1400" dirty="0">
                <a:sym typeface="Huawei Sans" panose="020C0503030203020204" pitchFamily="34" charset="0"/>
              </a:rPr>
              <a:t>，由于去往</a:t>
            </a:r>
            <a:r>
              <a:rPr lang="en-US" altLang="zh-CN" sz="1400" dirty="0">
                <a:sym typeface="Huawei Sans" panose="020C0503030203020204" pitchFamily="34" charset="0"/>
              </a:rPr>
              <a:t>Net1</a:t>
            </a:r>
            <a:r>
              <a:rPr lang="zh-CN" altLang="en-US" sz="1400" dirty="0">
                <a:sym typeface="Huawei Sans" panose="020C0503030203020204" pitchFamily="34" charset="0"/>
              </a:rPr>
              <a:t>的下一跳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不是直连邻居，通过查表发现去往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的标签为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，打上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P2</a:t>
            </a:r>
            <a:r>
              <a:rPr lang="zh-CN" altLang="en-US" sz="1400" dirty="0">
                <a:sym typeface="Huawei Sans" panose="020C0503030203020204" pitchFamily="34" charset="0"/>
              </a:rPr>
              <a:t>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T4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ASBR2</a:t>
            </a:r>
            <a:r>
              <a:rPr lang="zh-CN" altLang="en-US" sz="1400" dirty="0">
                <a:sym typeface="Huawei Sans" panose="020C0503030203020204" pitchFamily="34" charset="0"/>
              </a:rPr>
              <a:t>去掉外层标签，将</a:t>
            </a:r>
            <a:r>
              <a:rPr lang="en-US" altLang="zh-CN" sz="1400" dirty="0">
                <a:sym typeface="Huawei Sans" panose="020C0503030203020204" pitchFamily="34" charset="0"/>
              </a:rPr>
              <a:t>T3</a:t>
            </a:r>
            <a:r>
              <a:rPr lang="zh-CN" altLang="en-US" sz="1400" dirty="0">
                <a:sym typeface="Huawei Sans" panose="020C0503030203020204" pitchFamily="34" charset="0"/>
              </a:rPr>
              <a:t>交换为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，再将其转发给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当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收到报文后，去掉</a:t>
            </a:r>
            <a:r>
              <a:rPr lang="en-US" altLang="zh-CN" sz="1400" dirty="0">
                <a:sym typeface="Huawei Sans" panose="020C0503030203020204" pitchFamily="34" charset="0"/>
              </a:rPr>
              <a:t>B1</a:t>
            </a:r>
            <a:r>
              <a:rPr lang="zh-CN" altLang="en-US" sz="1400" dirty="0">
                <a:sym typeface="Huawei Sans" panose="020C0503030203020204" pitchFamily="34" charset="0"/>
              </a:rPr>
              <a:t>进一步查表转发，发现此时去往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的路由有一个关联的标签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，因此，</a:t>
            </a:r>
            <a:r>
              <a:rPr lang="en-US" altLang="zh-CN" sz="1400" dirty="0">
                <a:sym typeface="Huawei Sans" panose="020C0503030203020204" pitchFamily="34" charset="0"/>
              </a:rPr>
              <a:t>ASBR1</a:t>
            </a:r>
            <a:r>
              <a:rPr lang="zh-CN" altLang="en-US" sz="1400" dirty="0">
                <a:sym typeface="Huawei Sans" panose="020C0503030203020204" pitchFamily="34" charset="0"/>
              </a:rPr>
              <a:t>将其加在栈顶，并转发给</a:t>
            </a: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P1</a:t>
            </a:r>
            <a:r>
              <a:rPr lang="zh-CN" altLang="en-US" sz="1400" dirty="0">
                <a:sym typeface="Huawei Sans" panose="020C0503030203020204" pitchFamily="34" charset="0"/>
              </a:rPr>
              <a:t>进行标签交换，把外层标签</a:t>
            </a:r>
            <a:r>
              <a:rPr lang="en-US" altLang="zh-CN" sz="1400" dirty="0">
                <a:sym typeface="Huawei Sans" panose="020C0503030203020204" pitchFamily="34" charset="0"/>
              </a:rPr>
              <a:t>T2</a:t>
            </a:r>
            <a:r>
              <a:rPr lang="zh-CN" altLang="en-US" sz="1400" dirty="0">
                <a:sym typeface="Huawei Sans" panose="020C0503030203020204" pitchFamily="34" charset="0"/>
              </a:rPr>
              <a:t>换成</a:t>
            </a:r>
            <a:r>
              <a:rPr lang="en-US" altLang="zh-CN" sz="1400" dirty="0">
                <a:sym typeface="Huawei Sans" panose="020C0503030203020204" pitchFamily="34" charset="0"/>
              </a:rPr>
              <a:t>T1</a:t>
            </a:r>
            <a:r>
              <a:rPr lang="zh-CN" altLang="en-US" sz="1400" dirty="0">
                <a:sym typeface="Huawei Sans" panose="020C0503030203020204" pitchFamily="34" charset="0"/>
              </a:rPr>
              <a:t>，然后将此报文发送给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  <a:p>
            <a:pPr marL="457200" indent="-457200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收到后去掉所有标签，将报文转发给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293" name="椭圆 292"/>
          <p:cNvSpPr/>
          <p:nvPr/>
        </p:nvSpPr>
        <p:spPr bwMode="gray">
          <a:xfrm>
            <a:off x="6470394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4" name="椭圆 293"/>
          <p:cNvSpPr/>
          <p:nvPr/>
        </p:nvSpPr>
        <p:spPr bwMode="gray">
          <a:xfrm>
            <a:off x="7380479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5" name="椭圆 294"/>
          <p:cNvSpPr/>
          <p:nvPr/>
        </p:nvSpPr>
        <p:spPr bwMode="gray">
          <a:xfrm>
            <a:off x="5565966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6" name="椭圆 295"/>
          <p:cNvSpPr/>
          <p:nvPr/>
        </p:nvSpPr>
        <p:spPr bwMode="gray">
          <a:xfrm>
            <a:off x="4470752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7" name="椭圆 296"/>
          <p:cNvSpPr/>
          <p:nvPr/>
        </p:nvSpPr>
        <p:spPr bwMode="gray">
          <a:xfrm>
            <a:off x="3409563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8" name="椭圆 297"/>
          <p:cNvSpPr/>
          <p:nvPr/>
        </p:nvSpPr>
        <p:spPr bwMode="gray">
          <a:xfrm>
            <a:off x="2606099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9" name="椭圆 298"/>
          <p:cNvSpPr/>
          <p:nvPr/>
        </p:nvSpPr>
        <p:spPr bwMode="gray">
          <a:xfrm>
            <a:off x="1717100" y="4923595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069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方式的特点</a:t>
            </a:r>
            <a:endParaRPr lang="en-US" dirty="0">
              <a:sym typeface="Huawei Sans" panose="020C05030302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路由在入口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和出口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之间直接交换，不需要中间设备的保存和转发。 </a:t>
            </a:r>
          </a:p>
          <a:p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的路由信息只出现在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设备上，而</a:t>
            </a:r>
            <a:r>
              <a:rPr lang="en-US" altLang="zh-CN" sz="1800" dirty="0">
                <a:sym typeface="Huawei Sans" panose="020C0503030203020204" pitchFamily="34" charset="0"/>
              </a:rPr>
              <a:t>P</a:t>
            </a:r>
            <a:r>
              <a:rPr lang="zh-CN" altLang="en-US" sz="1800" dirty="0"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只负责报文的转发，使得中间域的设备可以不支持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业务，只需支持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转发，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设备不再成为性能瓶颈。因此跨域</a:t>
            </a:r>
            <a:r>
              <a:rPr lang="en-US" altLang="zh-CN" sz="1800" dirty="0">
                <a:sym typeface="Huawei Sans" panose="020C0503030203020204" pitchFamily="34" charset="0"/>
              </a:rPr>
              <a:t>VPN-</a:t>
            </a:r>
            <a:r>
              <a:rPr lang="en-US" altLang="zh-CN" sz="1800" dirty="0" err="1">
                <a:sym typeface="Huawei Sans" panose="020C0503030203020204" pitchFamily="34" charset="0"/>
              </a:rPr>
              <a:t>OptionC</a:t>
            </a:r>
            <a:r>
              <a:rPr lang="zh-CN" altLang="en-US" sz="1800" dirty="0">
                <a:sym typeface="Huawei Sans" panose="020C0503030203020204" pitchFamily="34" charset="0"/>
              </a:rPr>
              <a:t>更适合在跨越多个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时使用。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更适合支持</a:t>
            </a:r>
            <a:r>
              <a:rPr lang="en-US" altLang="zh-CN" sz="1800" dirty="0">
                <a:sym typeface="Huawei Sans" panose="020C0503030203020204" pitchFamily="34" charset="0"/>
              </a:rPr>
              <a:t>MPLS VPN</a:t>
            </a:r>
            <a:r>
              <a:rPr lang="zh-CN" altLang="en-US" sz="1800" dirty="0">
                <a:sym typeface="Huawei Sans" panose="020C0503030203020204" pitchFamily="34" charset="0"/>
              </a:rPr>
              <a:t>的负载分担。</a:t>
            </a:r>
          </a:p>
          <a:p>
            <a:r>
              <a:rPr lang="zh-CN" altLang="en-US" sz="1800" dirty="0">
                <a:sym typeface="Huawei Sans" panose="020C0503030203020204" pitchFamily="34" charset="0"/>
              </a:rPr>
              <a:t>缺点是维护一条端到端的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连接管理代价较大。</a:t>
            </a:r>
            <a:endParaRPr 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09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总结：三种跨域方式的对比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059506"/>
              </p:ext>
            </p:extLst>
          </p:nvPr>
        </p:nvGraphicFramePr>
        <p:xfrm>
          <a:off x="640013" y="1276813"/>
          <a:ext cx="10924674" cy="4276747"/>
        </p:xfrm>
        <a:graphic>
          <a:graphicData uri="http://schemas.openxmlformats.org/drawingml/2006/table">
            <a:tbl>
              <a:tblPr/>
              <a:tblGrid>
                <a:gridCol w="1106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49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跨域方式</a:t>
                      </a:r>
                      <a:endParaRPr lang="en-US" sz="16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特点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OptionA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优点是配置简单：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之间不需要运行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，也不需要为跨域进行特殊配置。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缺点是可扩展性差：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需要管理所有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路由，为每个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创建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实例，这将导致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上的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VPNv4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路由数量过大。并且，由于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间是普通的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转发，要求为每个跨域的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使用不同的接口（可以是子接口、物理接口、捆绑的逻辑接口），从而提高了对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设备的要求。如果跨越多个自治域，中间域必须支持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业务，不仅配置量大，而且对中间域影响大。在需要跨域的</a:t>
                      </a:r>
                      <a:r>
                        <a:rPr lang="en-US" altLang="zh-CN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数量比较少的情况，可以优先考虑使用。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584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OptionB</a:t>
                      </a:r>
                      <a:endParaRPr lang="en-US" sz="14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不同于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OptionA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，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OptionB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方案不受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之间互连链路数目的限制。</a:t>
                      </a:r>
                    </a:p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局限性：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的路由信息是通过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之间的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路由器来保存和扩散的，当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路由较多时，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负担重，容易成为瓶颈点。因此在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MP-EBGP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方案中，需要维护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路由信息的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一般不再负责公网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IP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转发。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811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OptionC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路由在入口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和出口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之间直接交换，不需要中间设备的保存和转发。</a:t>
                      </a:r>
                    </a:p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的路由信息只出现在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设备上，而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P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和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路由器只负责报文的转发，使得中间域的设备可以不支持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 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业务，只需支持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转发，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设备不再成为性能瓶颈。因此跨域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VPN-</a:t>
                      </a:r>
                      <a:r>
                        <a:rPr lang="en-US" altLang="zh-CN" sz="1400" kern="1200" dirty="0" err="1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OptionC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更适合在跨越多个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时使用。</a:t>
                      </a:r>
                    </a:p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更适合支持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MPLS VPN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的负载分担。</a:t>
                      </a:r>
                    </a:p>
                    <a:p>
                      <a:pPr marL="0" algn="l" defTabSz="914034" rtl="0" eaLnBrk="1" latinLnBrk="0" hangingPunct="1">
                        <a:lnSpc>
                          <a:spcPct val="100000"/>
                        </a:lnSpc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缺点是维护一条端到端的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BGP LSP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cs typeface="+mn-cs"/>
                          <a:sym typeface="Huawei Sans" panose="020C0503030203020204" pitchFamily="34" charset="0"/>
                        </a:rPr>
                        <a:t>连接，管理代价较大。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418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跨域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VPN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方案背景 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OptionA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OptionB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OptionC</a:t>
            </a:r>
            <a:r>
              <a:rPr lang="zh-CN" altLang="en-US" b="1" dirty="0">
                <a:sym typeface="Huawei Sans" panose="020C0503030203020204" pitchFamily="34" charset="0"/>
              </a:rPr>
              <a:t>方案原理与配置</a:t>
            </a:r>
            <a:endParaRPr lang="en-US" altLang="zh-CN" b="1" dirty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 err="1">
                <a:sym typeface="Huawei Sans" panose="020C0503030203020204" pitchFamily="34" charset="0"/>
              </a:rPr>
              <a:t>OpitonC</a:t>
            </a:r>
            <a:r>
              <a:rPr lang="zh-CN" altLang="en-US" dirty="0">
                <a:sym typeface="Huawei Sans" panose="020C0503030203020204" pitchFamily="34" charset="0"/>
              </a:rPr>
              <a:t>基本配置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endParaRPr lang="en-US" altLang="zh-CN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3103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方式一配置举例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7" name="文本占位符 64"/>
          <p:cNvSpPr txBox="1">
            <a:spLocks/>
          </p:cNvSpPr>
          <p:nvPr/>
        </p:nvSpPr>
        <p:spPr bwMode="gray">
          <a:xfrm>
            <a:off x="455613" y="3716338"/>
            <a:ext cx="5644670" cy="221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属于同一个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实例的名字为</a:t>
            </a:r>
            <a:r>
              <a:rPr lang="en-US" altLang="zh-CN" sz="1400" dirty="0" err="1"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sym typeface="Huawei Sans" panose="020C0503030203020204" pitchFamily="34" charset="0"/>
              </a:rPr>
              <a:t>。通过</a:t>
            </a:r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方式一实现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互通。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791159"/>
              </p:ext>
            </p:extLst>
          </p:nvPr>
        </p:nvGraphicFramePr>
        <p:xfrm>
          <a:off x="667872" y="4455356"/>
          <a:ext cx="3424022" cy="1538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4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10.0.3.3/32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10.0.4.4/32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10.0.6.6/32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200:6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 bwMode="gray">
          <a:xfrm>
            <a:off x="4453046" y="4785324"/>
            <a:ext cx="106587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数据规划</a:t>
            </a:r>
            <a:endParaRPr lang="en-US" altLang="zh-CN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32" name="圆角矩形 31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33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1" name="直接连接符 10"/>
            <p:cNvCxnSpPr>
              <a:stCxn id="17" idx="1"/>
              <a:endCxn id="14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20" name="直接连接符 19"/>
            <p:cNvCxnSpPr>
              <a:stCxn id="14" idx="1"/>
              <a:endCxn id="13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2" idx="0"/>
              <a:endCxn id="13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9" idx="0"/>
              <a:endCxn id="17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18" idx="0"/>
              <a:endCxn id="19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9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圆角矩形 32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圆角矩形 34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41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42" name="文本占位符 64"/>
          <p:cNvSpPr txBox="1">
            <a:spLocks/>
          </p:cNvSpPr>
          <p:nvPr/>
        </p:nvSpPr>
        <p:spPr bwMode="gray">
          <a:xfrm>
            <a:off x="6101028" y="1450812"/>
            <a:ext cx="5648059" cy="230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内的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骨干网上分别配置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基本能力和</a:t>
            </a:r>
            <a:r>
              <a:rPr lang="en-US" altLang="zh-CN" sz="1200" dirty="0">
                <a:sym typeface="Huawei Sans" panose="020C0503030203020204" pitchFamily="34" charset="0"/>
              </a:rPr>
              <a:t>MPLS LDP</a:t>
            </a:r>
            <a:r>
              <a:rPr lang="zh-CN" altLang="en-US" sz="1200" dirty="0">
                <a:sym typeface="Huawei Sans" panose="020C0503030203020204" pitchFamily="34" charset="0"/>
              </a:rPr>
              <a:t>，建立</a:t>
            </a:r>
            <a:r>
              <a:rPr lang="en-US" altLang="zh-CN" sz="1200" dirty="0">
                <a:sym typeface="Huawei Sans" panose="020C0503030203020204" pitchFamily="34" charset="0"/>
              </a:rPr>
              <a:t>LDP LSP</a:t>
            </a:r>
            <a:r>
              <a:rPr lang="zh-CN" altLang="en-US" sz="1200" dirty="0">
                <a:sym typeface="Huawei Sans" panose="020C0503030203020204" pitchFamily="34" charset="0"/>
              </a:rPr>
              <a:t>。（略）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相连的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上需配置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实例，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MP-IBGP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对等体关系，能够交换带标签的</a:t>
            </a:r>
            <a:r>
              <a:rPr lang="en-US" altLang="zh-CN" sz="1200" dirty="0">
                <a:sym typeface="Huawei Sans" panose="020C0503030203020204" pitchFamily="34" charset="0"/>
              </a:rPr>
              <a:t>IPv4</a:t>
            </a:r>
            <a:r>
              <a:rPr lang="zh-CN" altLang="en-US" sz="1200" dirty="0">
                <a:sym typeface="Huawei Sans" panose="020C0503030203020204" pitchFamily="34" charset="0"/>
              </a:rPr>
              <a:t>路由。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与对端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之间能够交换带标签的</a:t>
            </a:r>
            <a:r>
              <a:rPr lang="en-US" altLang="zh-CN" sz="1200" dirty="0">
                <a:sym typeface="Huawei Sans" panose="020C0503030203020204" pitchFamily="34" charset="0"/>
              </a:rPr>
              <a:t>IPv4</a:t>
            </a:r>
            <a:r>
              <a:rPr lang="zh-CN" altLang="en-US" sz="1200" dirty="0">
                <a:sym typeface="Huawei Sans" panose="020C0503030203020204" pitchFamily="34" charset="0"/>
              </a:rPr>
              <a:t>路由。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上配置路由策略：对于向对端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发布的路由，分配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标签；对于向本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发布的路由，如果是带标签的</a:t>
            </a:r>
            <a:r>
              <a:rPr lang="en-US" altLang="zh-CN" sz="1200" dirty="0">
                <a:sym typeface="Huawei Sans" panose="020C0503030203020204" pitchFamily="34" charset="0"/>
              </a:rPr>
              <a:t>IPv4</a:t>
            </a:r>
            <a:r>
              <a:rPr lang="zh-CN" altLang="en-US" sz="1200" dirty="0">
                <a:sym typeface="Huawei Sans" panose="020C0503030203020204" pitchFamily="34" charset="0"/>
              </a:rPr>
              <a:t>路由，为其分配新的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标签。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在不同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间的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间建立</a:t>
            </a:r>
            <a:r>
              <a:rPr lang="en-US" altLang="zh-CN" sz="1200" dirty="0">
                <a:sym typeface="Huawei Sans" panose="020C0503030203020204" pitchFamily="34" charset="0"/>
              </a:rPr>
              <a:t>MP-EBGP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对等体关系，并配置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之间的最大跳数。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4143752" y="5422401"/>
            <a:ext cx="2085232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RT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值要匹配</a:t>
            </a:r>
          </a:p>
        </p:txBody>
      </p:sp>
    </p:spTree>
    <p:extLst>
      <p:ext uri="{BB962C8B-B14F-4D97-AF65-F5344CB8AC3E}">
        <p14:creationId xmlns:p14="http://schemas.microsoft.com/office/powerpoint/2010/main" val="495741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方式一配置举例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grpSp>
        <p:nvGrpSpPr>
          <p:cNvPr id="76" name="组合 75"/>
          <p:cNvGrpSpPr/>
          <p:nvPr/>
        </p:nvGrpSpPr>
        <p:grpSpPr bwMode="gray">
          <a:xfrm>
            <a:off x="455613" y="3748048"/>
            <a:ext cx="5675818" cy="1473182"/>
            <a:chOff x="455613" y="3748048"/>
            <a:chExt cx="5675818" cy="1473182"/>
          </a:xfrm>
        </p:grpSpPr>
        <p:sp>
          <p:nvSpPr>
            <p:cNvPr id="41" name="文本框 40"/>
            <p:cNvSpPr txBox="1"/>
            <p:nvPr/>
          </p:nvSpPr>
          <p:spPr bwMode="gray">
            <a:xfrm>
              <a:off x="582402" y="4390233"/>
              <a:ext cx="5367721" cy="8309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[ASBR-PE1]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100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10.0.1.1 route-policy policy2 export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10.0.1.1 label-route-capability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quit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文本占位符 64"/>
            <p:cNvSpPr txBox="1">
              <a:spLocks/>
            </p:cNvSpPr>
            <p:nvPr/>
          </p:nvSpPr>
          <p:spPr bwMode="gray">
            <a:xfrm>
              <a:off x="455613" y="3748048"/>
              <a:ext cx="5675818" cy="34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just" defTabSz="914034" rtl="0" eaLnBrk="1" fontAlgn="base" latinLnBrk="0" hangingPunct="1">
                <a:lnSpc>
                  <a:spcPct val="140000"/>
                </a:lnSpc>
                <a:spcBef>
                  <a:spcPts val="792"/>
                </a:spcBef>
                <a:buClrTx/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defRPr>
              </a:lvl1pPr>
              <a:lvl2pPr marL="654938" indent="-251899" algn="l" defTabSz="914034" rtl="0" eaLnBrk="1" fontAlgn="base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base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SzPct val="100000"/>
                <a:buFont typeface="+mj-lt"/>
                <a:buAutoNum type="arabicPeriod" startAt="4"/>
              </a:pPr>
              <a:r>
                <a:rPr lang="zh-CN" altLang="en-US" sz="1400" dirty="0">
                  <a:sym typeface="Huawei Sans" panose="020C0503030203020204" pitchFamily="34" charset="0"/>
                </a:rPr>
                <a:t>以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为例，对向</a:t>
              </a:r>
              <a:r>
                <a:rPr lang="en-US" altLang="zh-CN" sz="1400" dirty="0">
                  <a:sym typeface="Huawei Sans" panose="020C0503030203020204" pitchFamily="34" charset="0"/>
                </a:rPr>
                <a:t>PE1</a:t>
              </a:r>
              <a:r>
                <a:rPr lang="zh-CN" altLang="en-US" sz="1400" dirty="0">
                  <a:sym typeface="Huawei Sans" panose="020C0503030203020204" pitchFamily="34" charset="0"/>
                </a:rPr>
                <a:t>发布的路由应用路由策略，并使能与</a:t>
              </a:r>
              <a:r>
                <a:rPr lang="en-US" altLang="zh-CN" sz="1400" dirty="0">
                  <a:sym typeface="Huawei Sans" panose="020C0503030203020204" pitchFamily="34" charset="0"/>
                </a:rPr>
                <a:t>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交换标签</a:t>
              </a:r>
              <a:r>
                <a:rPr lang="en-US" altLang="zh-CN" sz="1400" dirty="0">
                  <a:sym typeface="Huawei Sans" panose="020C0503030203020204" pitchFamily="34" charset="0"/>
                </a:rPr>
                <a:t>IPv4</a:t>
              </a:r>
              <a:r>
                <a:rPr lang="zh-CN" altLang="en-US" sz="1400" dirty="0">
                  <a:sym typeface="Huawei Sans" panose="020C0503030203020204" pitchFamily="34" charset="0"/>
                </a:rPr>
                <a:t>路由的能力。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>
            <a:off x="6101647" y="3517142"/>
            <a:ext cx="5675818" cy="992959"/>
            <a:chOff x="6101647" y="3474077"/>
            <a:chExt cx="5675818" cy="992959"/>
          </a:xfrm>
        </p:grpSpPr>
        <p:sp>
          <p:nvSpPr>
            <p:cNvPr id="43" name="文本框 42"/>
            <p:cNvSpPr txBox="1"/>
            <p:nvPr/>
          </p:nvSpPr>
          <p:spPr bwMode="gray">
            <a:xfrm>
              <a:off x="6317657" y="3820705"/>
              <a:ext cx="5367721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[ASBR-PE1] interface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gigabitethernet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2/0/0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[ASBR-PE1-GigabitEthernet2/0/0]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 </a:t>
              </a:r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#ASBR</a:t>
              </a:r>
              <a:r>
                <a:rPr lang="zh-CN" altLang="en-US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之间的接口支持</a:t>
              </a:r>
              <a:r>
                <a:rPr lang="en-US" altLang="zh-CN" sz="12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MPLS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[ASBR-PE1-GigabitEthernet2/0/0] quit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文本占位符 64"/>
            <p:cNvSpPr txBox="1">
              <a:spLocks/>
            </p:cNvSpPr>
            <p:nvPr/>
          </p:nvSpPr>
          <p:spPr bwMode="gray">
            <a:xfrm>
              <a:off x="6101647" y="3474077"/>
              <a:ext cx="5675818" cy="34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just" defTabSz="914034" rtl="0" eaLnBrk="1" fontAlgn="base" latinLnBrk="0" hangingPunct="1">
                <a:lnSpc>
                  <a:spcPct val="140000"/>
                </a:lnSpc>
                <a:spcBef>
                  <a:spcPts val="792"/>
                </a:spcBef>
                <a:buClrTx/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defRPr>
              </a:lvl1pPr>
              <a:lvl2pPr marL="654938" indent="-251899" algn="l" defTabSz="914034" rtl="0" eaLnBrk="1" fontAlgn="base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base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SzPct val="100000"/>
                <a:buFont typeface="+mj-lt"/>
                <a:buAutoNum type="arabicPeriod" startAt="2"/>
              </a:pPr>
              <a:r>
                <a:rPr lang="zh-CN" altLang="en-US" sz="1400" dirty="0">
                  <a:sym typeface="Huawei Sans" panose="020C0503030203020204" pitchFamily="34" charset="0"/>
                </a:rPr>
                <a:t>以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为例，在与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ASBR-PE2</a:t>
              </a:r>
              <a:r>
                <a:rPr lang="zh-CN" altLang="en-US" sz="1400" dirty="0">
                  <a:sym typeface="Huawei Sans" panose="020C0503030203020204" pitchFamily="34" charset="0"/>
                </a:rPr>
                <a:t>相连的接口上使能</a:t>
              </a:r>
              <a:r>
                <a:rPr lang="en-US" altLang="zh-CN" sz="1400" dirty="0">
                  <a:sym typeface="Huawei Sans" panose="020C0503030203020204" pitchFamily="34" charset="0"/>
                </a:rPr>
                <a:t>MPLS</a:t>
              </a:r>
              <a:r>
                <a:rPr lang="zh-CN" altLang="en-US" sz="1400" dirty="0">
                  <a:sym typeface="Huawei Sans" panose="020C0503030203020204" pitchFamily="34" charset="0"/>
                </a:rPr>
                <a:t>。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</p:grpSp>
      <p:sp>
        <p:nvSpPr>
          <p:cNvPr id="39" name="文本占位符 64"/>
          <p:cNvSpPr txBox="1">
            <a:spLocks/>
          </p:cNvSpPr>
          <p:nvPr/>
        </p:nvSpPr>
        <p:spPr bwMode="gray">
          <a:xfrm>
            <a:off x="6073270" y="935330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为例，创建路由策略。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95385" y="1311385"/>
            <a:ext cx="5367721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route-policy policy1 permit node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apply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-label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route-policy policy2 permit node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if-match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-label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apply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-label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 bwMode="gray">
          <a:xfrm>
            <a:off x="7410450" y="2740751"/>
            <a:ext cx="4043703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“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policy1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”用于向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发布带标签路由。</a:t>
            </a:r>
          </a:p>
        </p:txBody>
      </p:sp>
      <p:sp>
        <p:nvSpPr>
          <p:cNvPr id="46" name="矩形 45"/>
          <p:cNvSpPr/>
          <p:nvPr/>
        </p:nvSpPr>
        <p:spPr bwMode="gray">
          <a:xfrm>
            <a:off x="6340757" y="1342362"/>
            <a:ext cx="3375898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7" name="肘形连接符 46"/>
          <p:cNvCxnSpPr>
            <a:stCxn id="46" idx="3"/>
            <a:endCxn id="45" idx="3"/>
          </p:cNvCxnSpPr>
          <p:nvPr/>
        </p:nvCxnSpPr>
        <p:spPr bwMode="gray">
          <a:xfrm>
            <a:off x="9716655" y="1450362"/>
            <a:ext cx="1737498" cy="1444278"/>
          </a:xfrm>
          <a:prstGeom prst="bentConnector3">
            <a:avLst>
              <a:gd name="adj1" fmla="val 113157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 bwMode="gray">
          <a:xfrm>
            <a:off x="6379505" y="3093071"/>
            <a:ext cx="5339799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“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policy2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”用于对从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收到的带标签路由，分配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标签。</a:t>
            </a:r>
          </a:p>
        </p:txBody>
      </p:sp>
      <p:sp>
        <p:nvSpPr>
          <p:cNvPr id="60" name="矩形 59"/>
          <p:cNvSpPr/>
          <p:nvPr/>
        </p:nvSpPr>
        <p:spPr bwMode="gray">
          <a:xfrm>
            <a:off x="6340757" y="1868855"/>
            <a:ext cx="3375898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1" name="肘形连接符 60"/>
          <p:cNvCxnSpPr>
            <a:stCxn id="40" idx="1"/>
            <a:endCxn id="58" idx="1"/>
          </p:cNvCxnSpPr>
          <p:nvPr/>
        </p:nvCxnSpPr>
        <p:spPr bwMode="gray">
          <a:xfrm rot="10800000" flipH="1" flipV="1">
            <a:off x="6295385" y="2003882"/>
            <a:ext cx="84120" cy="1243077"/>
          </a:xfrm>
          <a:prstGeom prst="bentConnector3">
            <a:avLst>
              <a:gd name="adj1" fmla="val -198079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组合 74"/>
          <p:cNvGrpSpPr/>
          <p:nvPr/>
        </p:nvGrpSpPr>
        <p:grpSpPr bwMode="gray">
          <a:xfrm>
            <a:off x="6101647" y="4581942"/>
            <a:ext cx="5675818" cy="1491662"/>
            <a:chOff x="6101647" y="4461870"/>
            <a:chExt cx="5675818" cy="1491662"/>
          </a:xfrm>
        </p:grpSpPr>
        <p:sp>
          <p:nvSpPr>
            <p:cNvPr id="71" name="文本框 70"/>
            <p:cNvSpPr txBox="1"/>
            <p:nvPr/>
          </p:nvSpPr>
          <p:spPr bwMode="gray">
            <a:xfrm>
              <a:off x="6317657" y="5122535"/>
              <a:ext cx="5367721" cy="8309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[ASBR-PE1]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100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10.0.34.4 route-policy policy1 export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10.0.34.4 label-route-capability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quit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文本占位符 64"/>
            <p:cNvSpPr txBox="1">
              <a:spLocks/>
            </p:cNvSpPr>
            <p:nvPr/>
          </p:nvSpPr>
          <p:spPr bwMode="gray">
            <a:xfrm>
              <a:off x="6101647" y="4461870"/>
              <a:ext cx="5675818" cy="34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just" defTabSz="914034" rtl="0" eaLnBrk="1" fontAlgn="base" latinLnBrk="0" hangingPunct="1">
                <a:lnSpc>
                  <a:spcPct val="140000"/>
                </a:lnSpc>
                <a:spcBef>
                  <a:spcPts val="792"/>
                </a:spcBef>
                <a:buClrTx/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defRPr>
              </a:lvl1pPr>
              <a:lvl2pPr marL="654938" indent="-251899" algn="l" defTabSz="914034" rtl="0" eaLnBrk="1" fontAlgn="base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base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SzPct val="100000"/>
                <a:buFont typeface="+mj-lt"/>
                <a:buAutoNum type="arabicPeriod" startAt="3"/>
              </a:pPr>
              <a:r>
                <a:rPr lang="zh-CN" altLang="en-US" sz="1400" dirty="0">
                  <a:sym typeface="Huawei Sans" panose="020C0503030203020204" pitchFamily="34" charset="0"/>
                </a:rPr>
                <a:t>以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为例，对向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ASBR-PE2</a:t>
              </a:r>
              <a:r>
                <a:rPr lang="zh-CN" altLang="en-US" sz="1400" dirty="0">
                  <a:sym typeface="Huawei Sans" panose="020C0503030203020204" pitchFamily="34" charset="0"/>
                </a:rPr>
                <a:t>发布的路由应用路由策略，并使能与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ASBR-PE2</a:t>
              </a:r>
              <a:r>
                <a:rPr lang="zh-CN" altLang="en-US" sz="1400" dirty="0">
                  <a:sym typeface="Huawei Sans" panose="020C0503030203020204" pitchFamily="34" charset="0"/>
                </a:rPr>
                <a:t>交换标签</a:t>
              </a:r>
              <a:r>
                <a:rPr lang="en-US" altLang="zh-CN" sz="1400" dirty="0">
                  <a:sym typeface="Huawei Sans" panose="020C0503030203020204" pitchFamily="34" charset="0"/>
                </a:rPr>
                <a:t>IPv4</a:t>
              </a:r>
              <a:r>
                <a:rPr lang="zh-CN" altLang="en-US" sz="1400" dirty="0">
                  <a:sym typeface="Huawei Sans" panose="020C0503030203020204" pitchFamily="34" charset="0"/>
                </a:rPr>
                <a:t>路由的能力。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68547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方式一配置举例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2531064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grpSp>
        <p:nvGrpSpPr>
          <p:cNvPr id="74" name="组合 73"/>
          <p:cNvGrpSpPr/>
          <p:nvPr/>
        </p:nvGrpSpPr>
        <p:grpSpPr bwMode="gray">
          <a:xfrm>
            <a:off x="6101647" y="3147687"/>
            <a:ext cx="5675818" cy="1916288"/>
            <a:chOff x="6101647" y="3474077"/>
            <a:chExt cx="5675818" cy="1916288"/>
          </a:xfrm>
        </p:grpSpPr>
        <p:sp>
          <p:nvSpPr>
            <p:cNvPr id="43" name="文本框 42"/>
            <p:cNvSpPr txBox="1"/>
            <p:nvPr/>
          </p:nvSpPr>
          <p:spPr bwMode="gray">
            <a:xfrm>
              <a:off x="6317657" y="3820705"/>
              <a:ext cx="5367721" cy="15696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[PE1]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100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[PE1-bgp] peer 10.0.6.6 as-number 200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[PE1-bgp] peer 10.0.6.6 connect-interface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LoopBack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[PE1-bgp] peer 10.0.6.6 EBGP-max-hop 10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[PE1-bgp] ipv4-family vpnv4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[PE1-bgp-af-vpnv4] peer 10.0.6.6 enable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[PE1-bgp-af-vpnv4] quit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[PE1-bgp] quit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文本占位符 64"/>
            <p:cNvSpPr txBox="1">
              <a:spLocks/>
            </p:cNvSpPr>
            <p:nvPr/>
          </p:nvSpPr>
          <p:spPr bwMode="gray">
            <a:xfrm>
              <a:off x="6101647" y="3474077"/>
              <a:ext cx="5675818" cy="34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just" defTabSz="914034" rtl="0" eaLnBrk="1" fontAlgn="base" latinLnBrk="0" hangingPunct="1">
                <a:lnSpc>
                  <a:spcPct val="140000"/>
                </a:lnSpc>
                <a:spcBef>
                  <a:spcPts val="792"/>
                </a:spcBef>
                <a:buClrTx/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defRPr>
              </a:lvl1pPr>
              <a:lvl2pPr marL="654938" indent="-251899" algn="l" defTabSz="914034" rtl="0" eaLnBrk="1" fontAlgn="base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base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SzPct val="100000"/>
                <a:buFont typeface="+mj-lt"/>
                <a:buAutoNum type="arabicPeriod" startAt="6"/>
              </a:pPr>
              <a:r>
                <a:rPr lang="zh-CN" altLang="en-US" sz="1400" dirty="0">
                  <a:sym typeface="Huawei Sans" panose="020C0503030203020204" pitchFamily="34" charset="0"/>
                </a:rPr>
                <a:t>以</a:t>
              </a:r>
              <a:r>
                <a:rPr lang="en-US" altLang="zh-CN" sz="1400" dirty="0">
                  <a:sym typeface="Huawei Sans" panose="020C0503030203020204" pitchFamily="34" charset="0"/>
                </a:rPr>
                <a:t>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为例，与</a:t>
              </a:r>
              <a:r>
                <a:rPr lang="en-US" altLang="zh-CN" sz="1400" dirty="0">
                  <a:sym typeface="Huawei Sans" panose="020C0503030203020204" pitchFamily="34" charset="0"/>
                </a:rPr>
                <a:t>PE2</a:t>
              </a:r>
              <a:r>
                <a:rPr lang="zh-CN" altLang="en-US" sz="1400" dirty="0">
                  <a:sym typeface="Huawei Sans" panose="020C0503030203020204" pitchFamily="34" charset="0"/>
                </a:rPr>
                <a:t>建立</a:t>
              </a:r>
              <a:r>
                <a:rPr lang="en-US" altLang="zh-CN" sz="1400" dirty="0">
                  <a:sym typeface="Huawei Sans" panose="020C0503030203020204" pitchFamily="34" charset="0"/>
                </a:rPr>
                <a:t>MP-EBGP</a:t>
              </a:r>
              <a:r>
                <a:rPr lang="zh-CN" altLang="en-US" sz="1400" dirty="0">
                  <a:sym typeface="Huawei Sans" panose="020C0503030203020204" pitchFamily="34" charset="0"/>
                </a:rPr>
                <a:t>对等体关系 。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</p:grpSp>
      <p:sp>
        <p:nvSpPr>
          <p:cNvPr id="39" name="文本占位符 64"/>
          <p:cNvSpPr txBox="1">
            <a:spLocks/>
          </p:cNvSpPr>
          <p:nvPr/>
        </p:nvSpPr>
        <p:spPr bwMode="gray">
          <a:xfrm>
            <a:off x="6073270" y="1834719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为例，将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Loopback</a:t>
            </a:r>
            <a:r>
              <a:rPr lang="zh-CN" altLang="en-US" sz="1400" dirty="0">
                <a:sym typeface="Huawei Sans" panose="020C0503030203020204" pitchFamily="34" charset="0"/>
              </a:rPr>
              <a:t>路由发布给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，进而发布给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95385" y="2502874"/>
            <a:ext cx="53677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network 10.0.1.1 32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文本框 54"/>
          <p:cNvSpPr txBox="1"/>
          <p:nvPr/>
        </p:nvSpPr>
        <p:spPr bwMode="gray">
          <a:xfrm>
            <a:off x="6317657" y="5138473"/>
            <a:ext cx="5089252" cy="523220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EBGP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对等体之间非直连时，则必须使用</a:t>
            </a: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peer EBGP-max-hop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命令允许它们之间经过多跳建立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TCP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连接。</a:t>
            </a:r>
          </a:p>
        </p:txBody>
      </p:sp>
      <p:sp>
        <p:nvSpPr>
          <p:cNvPr id="56" name="矩形 55"/>
          <p:cNvSpPr/>
          <p:nvPr/>
        </p:nvSpPr>
        <p:spPr bwMode="gray">
          <a:xfrm>
            <a:off x="6347228" y="4067936"/>
            <a:ext cx="3375898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7" name="肘形连接符 56"/>
          <p:cNvCxnSpPr>
            <a:stCxn id="56" idx="3"/>
            <a:endCxn id="55" idx="3"/>
          </p:cNvCxnSpPr>
          <p:nvPr/>
        </p:nvCxnSpPr>
        <p:spPr bwMode="gray">
          <a:xfrm>
            <a:off x="9723126" y="4175936"/>
            <a:ext cx="1683783" cy="1224147"/>
          </a:xfrm>
          <a:prstGeom prst="bentConnector3">
            <a:avLst>
              <a:gd name="adj1" fmla="val 113577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12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方式一配置结果验证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39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48789" y="1247601"/>
            <a:ext cx="5367721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vpnv4 all routing-table 192.168.1.0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10.0.6.6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Total routes of Route Distinguisher(100:1):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192.168.1.0/24: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1029/NULL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10.0.1.1 (10.0.1.1)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00h00m14s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10.0.56.5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0x9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Ext-Community:RT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&lt;1 : 1&gt;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100 65000,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external, best, select, pre 255, IGP cost 2</a:t>
            </a: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6416053" y="4561472"/>
            <a:ext cx="3385866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为该路由分配的标签值为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1029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2" name="矩形 41"/>
          <p:cNvSpPr/>
          <p:nvPr/>
        </p:nvSpPr>
        <p:spPr bwMode="gray">
          <a:xfrm>
            <a:off x="6340757" y="2167232"/>
            <a:ext cx="372463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肘形连接符 42"/>
          <p:cNvCxnSpPr>
            <a:stCxn id="42" idx="1"/>
            <a:endCxn id="41" idx="1"/>
          </p:cNvCxnSpPr>
          <p:nvPr/>
        </p:nvCxnSpPr>
        <p:spPr bwMode="gray">
          <a:xfrm rot="10800000" flipH="1" flipV="1">
            <a:off x="6340757" y="2275231"/>
            <a:ext cx="75296" cy="2440129"/>
          </a:xfrm>
          <a:prstGeom prst="bentConnector3">
            <a:avLst>
              <a:gd name="adj1" fmla="val -30360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gray">
          <a:xfrm>
            <a:off x="1715433" y="3005490"/>
            <a:ext cx="3021660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路由直接发送给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1146486" y="2509775"/>
            <a:ext cx="4477109" cy="367722"/>
          </a:xfrm>
          <a:custGeom>
            <a:avLst/>
            <a:gdLst>
              <a:gd name="connsiteX0" fmla="*/ 0 w 4477109"/>
              <a:gd name="connsiteY0" fmla="*/ 0 h 43133"/>
              <a:gd name="connsiteX1" fmla="*/ 4477109 w 4477109"/>
              <a:gd name="connsiteY1" fmla="*/ 43133 h 43133"/>
              <a:gd name="connsiteX0" fmla="*/ 0 w 4477109"/>
              <a:gd name="connsiteY0" fmla="*/ 0 h 224634"/>
              <a:gd name="connsiteX1" fmla="*/ 4477109 w 4477109"/>
              <a:gd name="connsiteY1" fmla="*/ 43133 h 224634"/>
              <a:gd name="connsiteX0" fmla="*/ 0 w 4477109"/>
              <a:gd name="connsiteY0" fmla="*/ 0 h 367722"/>
              <a:gd name="connsiteX1" fmla="*/ 4477109 w 4477109"/>
              <a:gd name="connsiteY1" fmla="*/ 43133 h 36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77109" h="367722">
                <a:moveTo>
                  <a:pt x="0" y="0"/>
                </a:moveTo>
                <a:cubicBezTo>
                  <a:pt x="1276710" y="497457"/>
                  <a:pt x="3088256" y="468702"/>
                  <a:pt x="4477109" y="43133"/>
                </a:cubicBezTo>
              </a:path>
            </a:pathLst>
          </a:cu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 bwMode="gray">
          <a:xfrm>
            <a:off x="3192415" y="2775932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624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方式一配置结果验证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39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10.0.1.1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48789" y="1247601"/>
            <a:ext cx="5367721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10.0.1.1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10.0.6.6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Paths:   1 available, 1 best, 1 select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10.0.1.1/32: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1032/NULL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10.0.4.4 (10.0.4.4)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00h07m52s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10.0.56.5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IP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100,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MED 2,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localpref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internal,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bes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t, select, active, pre 255, IGP cost 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Not advertised to any peer yet</a:t>
            </a:r>
          </a:p>
        </p:txBody>
      </p:sp>
      <p:sp>
        <p:nvSpPr>
          <p:cNvPr id="41" name="文本框 40"/>
          <p:cNvSpPr txBox="1"/>
          <p:nvPr/>
        </p:nvSpPr>
        <p:spPr bwMode="gray">
          <a:xfrm>
            <a:off x="6416052" y="4795645"/>
            <a:ext cx="386537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标签为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1032.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矩形 41"/>
          <p:cNvSpPr/>
          <p:nvPr/>
        </p:nvSpPr>
        <p:spPr bwMode="gray">
          <a:xfrm>
            <a:off x="6340757" y="2167232"/>
            <a:ext cx="372463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3" name="肘形连接符 42"/>
          <p:cNvCxnSpPr>
            <a:stCxn id="42" idx="1"/>
            <a:endCxn id="41" idx="1"/>
          </p:cNvCxnSpPr>
          <p:nvPr/>
        </p:nvCxnSpPr>
        <p:spPr bwMode="gray">
          <a:xfrm rot="10800000" flipH="1" flipV="1">
            <a:off x="6340756" y="2275232"/>
            <a:ext cx="75295" cy="2674302"/>
          </a:xfrm>
          <a:prstGeom prst="bentConnector3">
            <a:avLst>
              <a:gd name="adj1" fmla="val -303606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 bwMode="gray">
          <a:xfrm>
            <a:off x="4405802" y="1869570"/>
            <a:ext cx="907398" cy="648907"/>
          </a:xfrm>
          <a:prstGeom prst="straightConnector1">
            <a:avLst/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 bwMode="gray">
          <a:xfrm>
            <a:off x="6248789" y="5191774"/>
            <a:ext cx="4935884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针对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10.0.4.4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，因此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再次递归查询。</a:t>
            </a:r>
          </a:p>
        </p:txBody>
      </p:sp>
      <p:sp>
        <p:nvSpPr>
          <p:cNvPr id="51" name="矩形 50"/>
          <p:cNvSpPr/>
          <p:nvPr/>
        </p:nvSpPr>
        <p:spPr bwMode="gray">
          <a:xfrm>
            <a:off x="6340291" y="2394382"/>
            <a:ext cx="372463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肘形连接符 51"/>
          <p:cNvCxnSpPr>
            <a:stCxn id="51" idx="3"/>
            <a:endCxn id="50" idx="3"/>
          </p:cNvCxnSpPr>
          <p:nvPr/>
        </p:nvCxnSpPr>
        <p:spPr bwMode="gray">
          <a:xfrm>
            <a:off x="10064922" y="2502382"/>
            <a:ext cx="1119751" cy="2843281"/>
          </a:xfrm>
          <a:prstGeom prst="bentConnector3">
            <a:avLst>
              <a:gd name="adj1" fmla="val 120415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 bwMode="gray">
          <a:xfrm>
            <a:off x="4669460" y="2043909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1146486" y="2509775"/>
            <a:ext cx="4477109" cy="367722"/>
          </a:xfrm>
          <a:custGeom>
            <a:avLst/>
            <a:gdLst>
              <a:gd name="connsiteX0" fmla="*/ 0 w 4477109"/>
              <a:gd name="connsiteY0" fmla="*/ 0 h 43133"/>
              <a:gd name="connsiteX1" fmla="*/ 4477109 w 4477109"/>
              <a:gd name="connsiteY1" fmla="*/ 43133 h 43133"/>
              <a:gd name="connsiteX0" fmla="*/ 0 w 4477109"/>
              <a:gd name="connsiteY0" fmla="*/ 0 h 224634"/>
              <a:gd name="connsiteX1" fmla="*/ 4477109 w 4477109"/>
              <a:gd name="connsiteY1" fmla="*/ 43133 h 224634"/>
              <a:gd name="connsiteX0" fmla="*/ 0 w 4477109"/>
              <a:gd name="connsiteY0" fmla="*/ 0 h 367722"/>
              <a:gd name="connsiteX1" fmla="*/ 4477109 w 4477109"/>
              <a:gd name="connsiteY1" fmla="*/ 43133 h 36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77109" h="367722">
                <a:moveTo>
                  <a:pt x="0" y="0"/>
                </a:moveTo>
                <a:cubicBezTo>
                  <a:pt x="1276710" y="497457"/>
                  <a:pt x="3088256" y="468702"/>
                  <a:pt x="4477109" y="43133"/>
                </a:cubicBezTo>
              </a:path>
            </a:pathLst>
          </a:cu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 bwMode="gray">
          <a:xfrm>
            <a:off x="3192415" y="2775932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5961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方式一配置结果验证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39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10.0.4.4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 bwMode="gray">
          <a:xfrm>
            <a:off x="6248789" y="1247601"/>
            <a:ext cx="5367721" cy="48936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fib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Route Entry Count: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Destination/Mask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Interface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10.0.4.4/32              10.0.56.5           GE0/0/1           0x1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tunnel-info tunnel-id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ID:                   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Token:                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Type:         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                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Interface:               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Label:                    1024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 Hop:                     10.0.56.5</a:t>
            </a:r>
          </a:p>
          <a:p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Index:                    6144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out-label 1024 verbose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No                  : 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:  10.0.4.4/32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:  10.0.56.5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In-Label            :  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           :  1024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In-Interface        :  ----------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Out-Interface       :  GigabitEthernet0/0/1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LspIndex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:  6144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Token               : 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LsrType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:  Ingress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Label Operation     :  PUSH</a:t>
            </a:r>
          </a:p>
        </p:txBody>
      </p:sp>
      <p:cxnSp>
        <p:nvCxnSpPr>
          <p:cNvPr id="44" name="直接箭头连接符 43"/>
          <p:cNvCxnSpPr/>
          <p:nvPr/>
        </p:nvCxnSpPr>
        <p:spPr bwMode="gray">
          <a:xfrm>
            <a:off x="4405802" y="1869570"/>
            <a:ext cx="907398" cy="648907"/>
          </a:xfrm>
          <a:prstGeom prst="straightConnector1">
            <a:avLst/>
          </a:prstGeom>
          <a:ln w="1270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 bwMode="gray">
          <a:xfrm>
            <a:off x="8713177" y="2266548"/>
            <a:ext cx="241574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报文通过隧道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到达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10.0.4.4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51" name="矩形 50"/>
          <p:cNvSpPr/>
          <p:nvPr/>
        </p:nvSpPr>
        <p:spPr bwMode="gray">
          <a:xfrm>
            <a:off x="9601200" y="1819357"/>
            <a:ext cx="1148576" cy="188713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肘形连接符 51"/>
          <p:cNvCxnSpPr>
            <a:stCxn id="51" idx="3"/>
            <a:endCxn id="50" idx="3"/>
          </p:cNvCxnSpPr>
          <p:nvPr/>
        </p:nvCxnSpPr>
        <p:spPr bwMode="gray">
          <a:xfrm>
            <a:off x="10749776" y="1913714"/>
            <a:ext cx="379142" cy="506723"/>
          </a:xfrm>
          <a:prstGeom prst="bentConnector3">
            <a:avLst>
              <a:gd name="adj1" fmla="val 160294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 bwMode="gray">
          <a:xfrm>
            <a:off x="4669460" y="2043909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9" name="直接箭头连接符 48"/>
          <p:cNvCxnSpPr/>
          <p:nvPr/>
        </p:nvCxnSpPr>
        <p:spPr bwMode="gray">
          <a:xfrm>
            <a:off x="5254418" y="1638307"/>
            <a:ext cx="519988" cy="399086"/>
          </a:xfrm>
          <a:prstGeom prst="straightConnector1">
            <a:avLst/>
          </a:prstGeom>
          <a:ln w="1270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 bwMode="gray">
          <a:xfrm>
            <a:off x="5449390" y="1763470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" name="文本框 64"/>
          <p:cNvSpPr txBox="1"/>
          <p:nvPr/>
        </p:nvSpPr>
        <p:spPr bwMode="gray">
          <a:xfrm>
            <a:off x="8282355" y="5311526"/>
            <a:ext cx="3039722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报文到达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10.0.4.4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需要添加标签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1024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66" name="矩形 65"/>
          <p:cNvSpPr/>
          <p:nvPr/>
        </p:nvSpPr>
        <p:spPr bwMode="gray">
          <a:xfrm>
            <a:off x="6275802" y="4571085"/>
            <a:ext cx="3127068" cy="188713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7" name="肘形连接符 66"/>
          <p:cNvCxnSpPr>
            <a:stCxn id="66" idx="3"/>
            <a:endCxn id="65" idx="3"/>
          </p:cNvCxnSpPr>
          <p:nvPr/>
        </p:nvCxnSpPr>
        <p:spPr bwMode="gray">
          <a:xfrm>
            <a:off x="9402870" y="4665442"/>
            <a:ext cx="1919207" cy="799973"/>
          </a:xfrm>
          <a:prstGeom prst="bentConnector3">
            <a:avLst>
              <a:gd name="adj1" fmla="val 111911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占位符 64"/>
          <p:cNvSpPr txBox="1">
            <a:spLocks/>
          </p:cNvSpPr>
          <p:nvPr/>
        </p:nvSpPr>
        <p:spPr bwMode="gray">
          <a:xfrm>
            <a:off x="464784" y="3842447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经过步骤</a:t>
            </a:r>
            <a:r>
              <a:rPr lang="en-US" altLang="zh-CN" sz="1400" dirty="0"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3</a:t>
            </a:r>
            <a:r>
              <a:rPr lang="zh-CN" altLang="en-US" sz="1400" dirty="0">
                <a:sym typeface="Huawei Sans" panose="020C0503030203020204" pitchFamily="34" charset="0"/>
              </a:rPr>
              <a:t>的分析得知，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发送数据时应携带以下标签。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93" name="表格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33500"/>
              </p:ext>
            </p:extLst>
          </p:nvPr>
        </p:nvGraphicFramePr>
        <p:xfrm>
          <a:off x="535624" y="4243748"/>
          <a:ext cx="5348624" cy="139794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3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分配设备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1029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1032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10.0.4.4/32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4" name="文本占位符 64"/>
          <p:cNvSpPr txBox="1">
            <a:spLocks/>
          </p:cNvSpPr>
          <p:nvPr/>
        </p:nvSpPr>
        <p:spPr bwMode="gray">
          <a:xfrm>
            <a:off x="464783" y="5794141"/>
            <a:ext cx="4914253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注：其它设备不再赘述。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1146486" y="2509775"/>
            <a:ext cx="4477109" cy="367722"/>
          </a:xfrm>
          <a:custGeom>
            <a:avLst/>
            <a:gdLst>
              <a:gd name="connsiteX0" fmla="*/ 0 w 4477109"/>
              <a:gd name="connsiteY0" fmla="*/ 0 h 43133"/>
              <a:gd name="connsiteX1" fmla="*/ 4477109 w 4477109"/>
              <a:gd name="connsiteY1" fmla="*/ 43133 h 43133"/>
              <a:gd name="connsiteX0" fmla="*/ 0 w 4477109"/>
              <a:gd name="connsiteY0" fmla="*/ 0 h 224634"/>
              <a:gd name="connsiteX1" fmla="*/ 4477109 w 4477109"/>
              <a:gd name="connsiteY1" fmla="*/ 43133 h 224634"/>
              <a:gd name="connsiteX0" fmla="*/ 0 w 4477109"/>
              <a:gd name="connsiteY0" fmla="*/ 0 h 367722"/>
              <a:gd name="connsiteX1" fmla="*/ 4477109 w 4477109"/>
              <a:gd name="connsiteY1" fmla="*/ 43133 h 36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77109" h="367722">
                <a:moveTo>
                  <a:pt x="0" y="0"/>
                </a:moveTo>
                <a:cubicBezTo>
                  <a:pt x="1276710" y="497457"/>
                  <a:pt x="3088256" y="468702"/>
                  <a:pt x="4477109" y="43133"/>
                </a:cubicBezTo>
              </a:path>
            </a:pathLst>
          </a:custGeom>
          <a:ln w="12700"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椭圆 57"/>
          <p:cNvSpPr/>
          <p:nvPr/>
        </p:nvSpPr>
        <p:spPr bwMode="gray">
          <a:xfrm>
            <a:off x="3192415" y="2775932"/>
            <a:ext cx="192625" cy="192625"/>
          </a:xfrm>
          <a:prstGeom prst="ellipse">
            <a:avLst/>
          </a:prstGeom>
          <a:solidFill>
            <a:srgbClr val="56C4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8935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方式一配置结果验证 </a:t>
            </a:r>
            <a:r>
              <a:rPr lang="en-US" altLang="zh-CN" dirty="0">
                <a:sym typeface="Huawei Sans" panose="020C0503030203020204" pitchFamily="34" charset="0"/>
              </a:rPr>
              <a:t>(4)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5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五边形 5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38173" y="2733477"/>
            <a:ext cx="5939070" cy="2218263"/>
            <a:chOff x="309719" y="1339575"/>
            <a:chExt cx="5939070" cy="2218263"/>
          </a:xfrm>
        </p:grpSpPr>
        <p:sp>
          <p:nvSpPr>
            <p:cNvPr id="29" name="圆角矩形 28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8" name="直接连接符 7"/>
            <p:cNvCxnSpPr>
              <a:stCxn id="14" idx="1"/>
              <a:endCxn id="11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7" name="直接连接符 16"/>
            <p:cNvCxnSpPr>
              <a:stCxn id="11" idx="1"/>
              <a:endCxn id="10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9" idx="0"/>
              <a:endCxn id="10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6" idx="0"/>
              <a:endCxn id="14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0"/>
              <a:endCxn id="16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sp>
        <p:nvSpPr>
          <p:cNvPr id="41" name="文本占位符 64"/>
          <p:cNvSpPr txBox="1">
            <a:spLocks/>
          </p:cNvSpPr>
          <p:nvPr/>
        </p:nvSpPr>
        <p:spPr bwMode="gray">
          <a:xfrm>
            <a:off x="6073270" y="3107246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上</a:t>
            </a:r>
            <a:r>
              <a:rPr lang="en-US" altLang="zh-CN" sz="1400" dirty="0">
                <a:sym typeface="Huawei Sans" panose="020C0503030203020204" pitchFamily="34" charset="0"/>
              </a:rPr>
              <a:t>Ping 192.168.1.1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2" name="文本框 41"/>
          <p:cNvSpPr txBox="1"/>
          <p:nvPr/>
        </p:nvSpPr>
        <p:spPr bwMode="gray">
          <a:xfrm>
            <a:off x="6248789" y="3454353"/>
            <a:ext cx="53677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&lt;CE2&gt;ping -a 192.168.2.1 192.168.1.1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192.168.1.1: 56  data bytes, press CTRL_C to break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time=50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0723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方式一关键配置总结</a:t>
            </a: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335119" y="2444475"/>
            <a:ext cx="5939070" cy="2218263"/>
            <a:chOff x="309719" y="1339575"/>
            <a:chExt cx="5939070" cy="2218263"/>
          </a:xfrm>
        </p:grpSpPr>
        <p:sp>
          <p:nvSpPr>
            <p:cNvPr id="26" name="圆角矩形 25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圆角矩形 27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5" name="直接连接符 4"/>
            <p:cNvCxnSpPr>
              <a:stCxn id="11" idx="1"/>
              <a:endCxn id="8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4" name="直接连接符 13"/>
            <p:cNvCxnSpPr>
              <a:stCxn id="8" idx="1"/>
              <a:endCxn id="7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stCxn id="6" idx="0"/>
              <a:endCxn id="7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3" idx="0"/>
              <a:endCxn id="11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12" idx="0"/>
              <a:endCxn id="13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19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4972698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1452318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2153031" y="1935692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661242" y="1926474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4636413" y="1926474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4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5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</p:grpSp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79066"/>
              </p:ext>
            </p:extLst>
          </p:nvPr>
        </p:nvGraphicFramePr>
        <p:xfrm>
          <a:off x="6172625" y="2555712"/>
          <a:ext cx="5508703" cy="196449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40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关键点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与本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能够交互带标签的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与其它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直接建立多跳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MP-EBGP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邻居关系。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与其它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能够交互带标签的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与本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能够交互带标签的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之间互联的接口需要开启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37" name="五边形 36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759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方式二配置举例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文本占位符 64"/>
          <p:cNvSpPr txBox="1">
            <a:spLocks/>
          </p:cNvSpPr>
          <p:nvPr/>
        </p:nvSpPr>
        <p:spPr bwMode="gray">
          <a:xfrm>
            <a:off x="455613" y="3716338"/>
            <a:ext cx="5644670" cy="221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属于同一个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ym typeface="Huawei Sans" panose="020C0503030203020204" pitchFamily="34" charset="0"/>
              </a:rPr>
              <a:t>VPN</a:t>
            </a:r>
            <a:r>
              <a:rPr lang="zh-CN" altLang="en-US" sz="1400" dirty="0">
                <a:sym typeface="Huawei Sans" panose="020C0503030203020204" pitchFamily="34" charset="0"/>
              </a:rPr>
              <a:t>实例的名字为</a:t>
            </a:r>
            <a:r>
              <a:rPr lang="en-US" altLang="zh-CN" sz="1400" dirty="0" err="1">
                <a:sym typeface="Huawei Sans" panose="020C0503030203020204" pitchFamily="34" charset="0"/>
              </a:rPr>
              <a:t>vpna</a:t>
            </a:r>
            <a:r>
              <a:rPr lang="zh-CN" altLang="en-US" sz="1400" dirty="0">
                <a:sym typeface="Huawei Sans" panose="020C0503030203020204" pitchFamily="34" charset="0"/>
              </a:rPr>
              <a:t>。通过</a:t>
            </a:r>
            <a:r>
              <a:rPr lang="en-US" altLang="zh-CN" sz="1400" dirty="0" err="1">
                <a:sym typeface="Huawei Sans" panose="020C0503030203020204" pitchFamily="34" charset="0"/>
              </a:rPr>
              <a:t>OptionC</a:t>
            </a:r>
            <a:r>
              <a:rPr lang="zh-CN" altLang="en-US" sz="1400" dirty="0">
                <a:sym typeface="Huawei Sans" panose="020C0503030203020204" pitchFamily="34" charset="0"/>
              </a:rPr>
              <a:t>方式二实现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互通。</a:t>
            </a:r>
            <a:r>
              <a:rPr lang="en-US" altLang="zh-CN" sz="1400" dirty="0"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RR2</a:t>
            </a:r>
            <a:r>
              <a:rPr lang="zh-CN" altLang="en-US" sz="1400" dirty="0">
                <a:sym typeface="Huawei Sans" panose="020C0503030203020204" pitchFamily="34" charset="0"/>
              </a:rPr>
              <a:t>仅反射路由，不转发流量。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84362"/>
              </p:ext>
            </p:extLst>
          </p:nvPr>
        </p:nvGraphicFramePr>
        <p:xfrm>
          <a:off x="1782017" y="4525475"/>
          <a:ext cx="3424022" cy="14020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4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9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6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10.0.3.3/32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6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10.0.4.4/32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6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10.0.6.6/32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200:6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1:1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31" name="圆角矩形 30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圆角矩形 32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0" name="直接连接符 9"/>
            <p:cNvCxnSpPr>
              <a:stCxn id="16" idx="1"/>
              <a:endCxn id="13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13" idx="1"/>
              <a:endCxn id="12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0"/>
              <a:endCxn id="12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8" idx="0"/>
              <a:endCxn id="16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7" idx="0"/>
              <a:endCxn id="18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9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33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9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4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4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7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8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9" name="直接连接符 48"/>
            <p:cNvCxnSpPr>
              <a:stCxn id="45" idx="1"/>
              <a:endCxn id="12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18" idx="1"/>
              <a:endCxn id="46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 Box 165"/>
            <p:cNvSpPr txBox="1">
              <a:spLocks noChangeArrowheads="1"/>
            </p:cNvSpPr>
            <p:nvPr/>
          </p:nvSpPr>
          <p:spPr bwMode="gray">
            <a:xfrm>
              <a:off x="2710664" y="23271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MP-EBGP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" name="文本占位符 64"/>
          <p:cNvSpPr txBox="1">
            <a:spLocks/>
          </p:cNvSpPr>
          <p:nvPr/>
        </p:nvSpPr>
        <p:spPr bwMode="gray">
          <a:xfrm>
            <a:off x="6080783" y="1243187"/>
            <a:ext cx="5648059" cy="230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ym typeface="Huawei Sans" panose="020C0503030203020204" pitchFamily="34" charset="0"/>
              </a:rPr>
              <a:t>配置思路：</a:t>
            </a:r>
            <a:endParaRPr lang="en-US" altLang="zh-CN" sz="14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内的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骨干网上分别配置</a:t>
            </a:r>
            <a:r>
              <a:rPr lang="en-US" altLang="zh-CN" sz="1200" dirty="0">
                <a:sym typeface="Huawei Sans" panose="020C0503030203020204" pitchFamily="34" charset="0"/>
              </a:rPr>
              <a:t>MPLS</a:t>
            </a:r>
            <a:r>
              <a:rPr lang="zh-CN" altLang="en-US" sz="1200" dirty="0">
                <a:sym typeface="Huawei Sans" panose="020C0503030203020204" pitchFamily="34" charset="0"/>
              </a:rPr>
              <a:t>基本能力和</a:t>
            </a:r>
            <a:r>
              <a:rPr lang="en-US" altLang="zh-CN" sz="1200" dirty="0">
                <a:sym typeface="Huawei Sans" panose="020C0503030203020204" pitchFamily="34" charset="0"/>
              </a:rPr>
              <a:t>MPLS LDP</a:t>
            </a:r>
            <a:r>
              <a:rPr lang="zh-CN" altLang="en-US" sz="1200" dirty="0">
                <a:sym typeface="Huawei Sans" panose="020C0503030203020204" pitchFamily="34" charset="0"/>
              </a:rPr>
              <a:t>，建立</a:t>
            </a:r>
            <a:r>
              <a:rPr lang="en-US" altLang="zh-CN" sz="1200" dirty="0">
                <a:sym typeface="Huawei Sans" panose="020C0503030203020204" pitchFamily="34" charset="0"/>
              </a:rPr>
              <a:t>LDP LSP</a:t>
            </a:r>
            <a:r>
              <a:rPr lang="zh-CN" altLang="en-US" sz="1200" dirty="0">
                <a:sym typeface="Huawei Sans" panose="020C0503030203020204" pitchFamily="34" charset="0"/>
              </a:rPr>
              <a:t>。（略）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各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内，与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相连的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上需配置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实例，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CE</a:t>
            </a:r>
            <a:r>
              <a:rPr lang="zh-CN" altLang="en-US" sz="1200" dirty="0">
                <a:sym typeface="Huawei Sans" panose="020C0503030203020204" pitchFamily="34" charset="0"/>
              </a:rPr>
              <a:t>之间建立</a:t>
            </a:r>
            <a:r>
              <a:rPr lang="en-US" altLang="zh-CN" sz="1200" dirty="0">
                <a:sym typeface="Huawei Sans" panose="020C0503030203020204" pitchFamily="34" charset="0"/>
              </a:rPr>
              <a:t>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对等体关系，交换</a:t>
            </a:r>
            <a:r>
              <a:rPr lang="en-US" altLang="zh-CN" sz="1200" dirty="0">
                <a:sym typeface="Huawei Sans" panose="020C0503030203020204" pitchFamily="34" charset="0"/>
              </a:rPr>
              <a:t>VPN</a:t>
            </a:r>
            <a:r>
              <a:rPr lang="zh-CN" altLang="en-US" sz="1200" dirty="0">
                <a:sym typeface="Huawei Sans" panose="020C0503030203020204" pitchFamily="34" charset="0"/>
              </a:rPr>
              <a:t>路由信息。（略）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将域内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的路由发布给对端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：先在本端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上通过</a:t>
            </a:r>
            <a:r>
              <a:rPr lang="en-US" altLang="zh-CN" sz="1200" dirty="0">
                <a:sym typeface="Huawei Sans" panose="020C0503030203020204" pitchFamily="34" charset="0"/>
              </a:rPr>
              <a:t>BGP</a:t>
            </a:r>
            <a:r>
              <a:rPr lang="zh-CN" altLang="en-US" sz="1200" dirty="0">
                <a:sym typeface="Huawei Sans" panose="020C0503030203020204" pitchFamily="34" charset="0"/>
              </a:rPr>
              <a:t>将域内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的路由发布给对端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，在远端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上将</a:t>
            </a:r>
            <a:r>
              <a:rPr lang="en-US" altLang="zh-CN" sz="1200" dirty="0">
                <a:sym typeface="Huawei Sans" panose="020C0503030203020204" pitchFamily="34" charset="0"/>
              </a:rPr>
              <a:t>BGP</a:t>
            </a:r>
            <a:r>
              <a:rPr lang="zh-CN" altLang="en-US" sz="1200" dirty="0">
                <a:sym typeface="Huawei Sans" panose="020C0503030203020204" pitchFamily="34" charset="0"/>
              </a:rPr>
              <a:t>路由引入到</a:t>
            </a:r>
            <a:r>
              <a:rPr lang="en-US" altLang="zh-CN" sz="1200" dirty="0">
                <a:sym typeface="Huawei Sans" panose="020C0503030203020204" pitchFamily="34" charset="0"/>
              </a:rPr>
              <a:t>IGP</a:t>
            </a:r>
            <a:r>
              <a:rPr lang="zh-CN" altLang="en-US" sz="1200" dirty="0">
                <a:sym typeface="Huawei Sans" panose="020C0503030203020204" pitchFamily="34" charset="0"/>
              </a:rPr>
              <a:t>，则远端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就依靠</a:t>
            </a:r>
            <a:r>
              <a:rPr lang="en-US" altLang="zh-CN" sz="1200" dirty="0">
                <a:sym typeface="Huawei Sans" panose="020C0503030203020204" pitchFamily="34" charset="0"/>
              </a:rPr>
              <a:t>IGP</a:t>
            </a:r>
            <a:r>
              <a:rPr lang="zh-CN" altLang="en-US" sz="1200" dirty="0">
                <a:sym typeface="Huawei Sans" panose="020C0503030203020204" pitchFamily="34" charset="0"/>
              </a:rPr>
              <a:t>学到了本端域内</a:t>
            </a:r>
            <a:r>
              <a:rPr lang="en-US" altLang="zh-CN" sz="1200" dirty="0">
                <a:sym typeface="Huawei Sans" panose="020C0503030203020204" pitchFamily="34" charset="0"/>
              </a:rPr>
              <a:t>PE</a:t>
            </a:r>
            <a:r>
              <a:rPr lang="zh-CN" altLang="en-US" sz="1200" dirty="0">
                <a:sym typeface="Huawei Sans" panose="020C0503030203020204" pitchFamily="34" charset="0"/>
              </a:rPr>
              <a:t>的路由。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200" dirty="0">
                <a:sym typeface="Huawei Sans" panose="020C0503030203020204" pitchFamily="34" charset="0"/>
              </a:rPr>
              <a:t>ASBR-PE1</a:t>
            </a:r>
            <a:r>
              <a:rPr lang="zh-CN" altLang="en-US" sz="1200" dirty="0">
                <a:sym typeface="Huawei Sans" panose="020C0503030203020204" pitchFamily="34" charset="0"/>
              </a:rPr>
              <a:t>与</a:t>
            </a:r>
            <a:r>
              <a:rPr lang="en-US" altLang="zh-CN" sz="1200" dirty="0">
                <a:sym typeface="Huawei Sans" panose="020C0503030203020204" pitchFamily="34" charset="0"/>
              </a:rPr>
              <a:t>ASBR-PE2</a:t>
            </a:r>
            <a:r>
              <a:rPr lang="zh-CN" altLang="en-US" sz="1200" dirty="0">
                <a:sym typeface="Huawei Sans" panose="020C0503030203020204" pitchFamily="34" charset="0"/>
              </a:rPr>
              <a:t>之间能够交换带标签的</a:t>
            </a:r>
            <a:r>
              <a:rPr lang="en-US" altLang="zh-CN" sz="1200" dirty="0">
                <a:sym typeface="Huawei Sans" panose="020C0503030203020204" pitchFamily="34" charset="0"/>
              </a:rPr>
              <a:t>IPv4</a:t>
            </a:r>
            <a:r>
              <a:rPr lang="zh-CN" altLang="en-US" sz="1200" dirty="0">
                <a:sym typeface="Huawei Sans" panose="020C0503030203020204" pitchFamily="34" charset="0"/>
              </a:rPr>
              <a:t>路由。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</a:t>
            </a:r>
            <a:r>
              <a:rPr lang="en-US" altLang="zh-CN" sz="1200" dirty="0">
                <a:sym typeface="Huawei Sans" panose="020C0503030203020204" pitchFamily="34" charset="0"/>
              </a:rPr>
              <a:t>ASBR-PE</a:t>
            </a:r>
            <a:r>
              <a:rPr lang="zh-CN" altLang="en-US" sz="1200" dirty="0">
                <a:sym typeface="Huawei Sans" panose="020C0503030203020204" pitchFamily="34" charset="0"/>
              </a:rPr>
              <a:t>上配置为带标签的公网</a:t>
            </a:r>
            <a:r>
              <a:rPr lang="en-US" altLang="zh-CN" sz="1200" dirty="0">
                <a:sym typeface="Huawei Sans" panose="020C0503030203020204" pitchFamily="34" charset="0"/>
              </a:rPr>
              <a:t>BGP</a:t>
            </a:r>
            <a:r>
              <a:rPr lang="zh-CN" altLang="en-US" sz="1200" dirty="0">
                <a:sym typeface="Huawei Sans" panose="020C0503030203020204" pitchFamily="34" charset="0"/>
              </a:rPr>
              <a:t>路由建立</a:t>
            </a:r>
            <a:r>
              <a:rPr lang="en-US" altLang="zh-CN" sz="1200" dirty="0">
                <a:sym typeface="Huawei Sans" panose="020C0503030203020204" pitchFamily="34" charset="0"/>
              </a:rPr>
              <a:t>LDP LSP</a:t>
            </a:r>
            <a:r>
              <a:rPr lang="zh-CN" altLang="en-US" sz="1200" dirty="0">
                <a:sym typeface="Huawei Sans" panose="020C0503030203020204" pitchFamily="34" charset="0"/>
              </a:rPr>
              <a:t>。</a:t>
            </a:r>
            <a:endParaRPr lang="en-US" altLang="zh-CN" sz="1200" dirty="0"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sym typeface="Huawei Sans" panose="020C0503030203020204" pitchFamily="34" charset="0"/>
              </a:rPr>
              <a:t>在不同</a:t>
            </a:r>
            <a:r>
              <a:rPr lang="en-US" altLang="zh-CN" sz="1200" dirty="0">
                <a:sym typeface="Huawei Sans" panose="020C0503030203020204" pitchFamily="34" charset="0"/>
              </a:rPr>
              <a:t>AS</a:t>
            </a:r>
            <a:r>
              <a:rPr lang="zh-CN" altLang="en-US" sz="1200" dirty="0">
                <a:sym typeface="Huawei Sans" panose="020C0503030203020204" pitchFamily="34" charset="0"/>
              </a:rPr>
              <a:t>间的</a:t>
            </a:r>
            <a:r>
              <a:rPr lang="en-US" altLang="zh-CN" sz="1200" dirty="0">
                <a:sym typeface="Huawei Sans" panose="020C0503030203020204" pitchFamily="34" charset="0"/>
              </a:rPr>
              <a:t>RR</a:t>
            </a:r>
            <a:r>
              <a:rPr lang="zh-CN" altLang="en-US" sz="1200" dirty="0">
                <a:sym typeface="Huawei Sans" panose="020C0503030203020204" pitchFamily="34" charset="0"/>
              </a:rPr>
              <a:t>间建立</a:t>
            </a:r>
            <a:r>
              <a:rPr lang="en-US" altLang="zh-CN" sz="1200" dirty="0">
                <a:sym typeface="Huawei Sans" panose="020C0503030203020204" pitchFamily="34" charset="0"/>
              </a:rPr>
              <a:t>MP-EBGP</a:t>
            </a:r>
            <a:r>
              <a:rPr lang="zh-CN" altLang="en-US" sz="1200" dirty="0">
                <a:sym typeface="Huawei Sans" panose="020C0503030203020204" pitchFamily="34" charset="0"/>
              </a:rPr>
              <a:t>对等体关系，并配置</a:t>
            </a:r>
            <a:r>
              <a:rPr lang="en-US" altLang="zh-CN" sz="1200" dirty="0">
                <a:sym typeface="Huawei Sans" panose="020C0503030203020204" pitchFamily="34" charset="0"/>
              </a:rPr>
              <a:t>RR</a:t>
            </a:r>
            <a:r>
              <a:rPr lang="zh-CN" altLang="en-US" sz="1200" dirty="0">
                <a:sym typeface="Huawei Sans" panose="020C0503030203020204" pitchFamily="34" charset="0"/>
              </a:rPr>
              <a:t>之间的最大跳数。</a:t>
            </a:r>
            <a:endParaRPr lang="en-US" altLang="zh-CN" sz="1200" dirty="0">
              <a:sym typeface="Huawei Sans" panose="020C0503030203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670826"/>
              </p:ext>
            </p:extLst>
          </p:nvPr>
        </p:nvGraphicFramePr>
        <p:xfrm>
          <a:off x="2183142" y="2658743"/>
          <a:ext cx="2025206" cy="92299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37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RR1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10.0.7.7/32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6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10.0.8.8/32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55" name="直接箭头连接符 54"/>
          <p:cNvCxnSpPr>
            <a:stCxn id="45" idx="3"/>
            <a:endCxn id="46" idx="1"/>
          </p:cNvCxnSpPr>
          <p:nvPr/>
        </p:nvCxnSpPr>
        <p:spPr bwMode="gray">
          <a:xfrm>
            <a:off x="1984889" y="2312269"/>
            <a:ext cx="2512509" cy="0"/>
          </a:xfrm>
          <a:prstGeom prst="straightConnector1">
            <a:avLst/>
          </a:prstGeom>
          <a:ln w="19050">
            <a:solidFill>
              <a:srgbClr val="F28944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8187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方式二配置举例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6" name="文本占位符 64"/>
          <p:cNvSpPr txBox="1">
            <a:spLocks/>
          </p:cNvSpPr>
          <p:nvPr/>
        </p:nvSpPr>
        <p:spPr bwMode="gray">
          <a:xfrm>
            <a:off x="6073270" y="935330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为例，配置与</a:t>
            </a:r>
            <a:r>
              <a:rPr lang="en-US" altLang="zh-CN" sz="1400" dirty="0">
                <a:sym typeface="Huawei Sans" panose="020C0503030203020204" pitchFamily="34" charset="0"/>
              </a:rPr>
              <a:t>RR2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建立</a:t>
            </a:r>
            <a:r>
              <a:rPr lang="en-US" altLang="zh-CN" sz="1400" dirty="0"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ym typeface="Huawei Sans" panose="020C0503030203020204" pitchFamily="34" charset="0"/>
              </a:rPr>
              <a:t>邻居关系，下一跳不变。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7" name="文本框 46"/>
          <p:cNvSpPr txBox="1"/>
          <p:nvPr/>
        </p:nvSpPr>
        <p:spPr bwMode="gray">
          <a:xfrm>
            <a:off x="6295385" y="1311385"/>
            <a:ext cx="5367721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peer 10.0.8.8 as-number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peer 10.0.8.8 connect-interface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peer 10.0.8.8 EBGP-max-hop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peer 10.0.1.1 as-number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peer 10.0.1.1 connect-interface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LoopBack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ipv4-family vpnv4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undo policy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-target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peer 10.0.8.8 enable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peer 10.0.8.8 next-hop-invariable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peer 10.0.1.1 enable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peer 10.0.1.1 next-hop-invariable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[RR1-bgp-af-vpnv4] quit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[RR1-bgp] quit</a:t>
            </a:r>
          </a:p>
        </p:txBody>
      </p:sp>
      <p:sp>
        <p:nvSpPr>
          <p:cNvPr id="48" name="文本框 47"/>
          <p:cNvSpPr txBox="1"/>
          <p:nvPr/>
        </p:nvSpPr>
        <p:spPr bwMode="gray">
          <a:xfrm>
            <a:off x="6100283" y="4118812"/>
            <a:ext cx="5367721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配置下一跳不变，使流量转发时不经过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；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只提供路由反射。</a:t>
            </a:r>
          </a:p>
        </p:txBody>
      </p:sp>
      <p:sp>
        <p:nvSpPr>
          <p:cNvPr id="49" name="矩形 48"/>
          <p:cNvSpPr/>
          <p:nvPr/>
        </p:nvSpPr>
        <p:spPr bwMode="gray">
          <a:xfrm>
            <a:off x="6359626" y="2985305"/>
            <a:ext cx="391165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0" name="肘形连接符 49"/>
          <p:cNvCxnSpPr>
            <a:stCxn id="49" idx="3"/>
            <a:endCxn id="48" idx="3"/>
          </p:cNvCxnSpPr>
          <p:nvPr/>
        </p:nvCxnSpPr>
        <p:spPr bwMode="gray">
          <a:xfrm>
            <a:off x="10271277" y="3093305"/>
            <a:ext cx="1196727" cy="1179396"/>
          </a:xfrm>
          <a:prstGeom prst="bentConnector3">
            <a:avLst>
              <a:gd name="adj1" fmla="val 11910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 bwMode="gray">
          <a:xfrm>
            <a:off x="6359626" y="3371072"/>
            <a:ext cx="391165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8" name="肘形连接符 57"/>
          <p:cNvCxnSpPr>
            <a:stCxn id="57" idx="3"/>
            <a:endCxn id="48" idx="3"/>
          </p:cNvCxnSpPr>
          <p:nvPr/>
        </p:nvCxnSpPr>
        <p:spPr bwMode="gray">
          <a:xfrm>
            <a:off x="10271277" y="3479072"/>
            <a:ext cx="1196727" cy="793629"/>
          </a:xfrm>
          <a:prstGeom prst="bentConnector3">
            <a:avLst>
              <a:gd name="adj1" fmla="val 11910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grpSp>
          <p:nvGrpSpPr>
            <p:cNvPr id="6" name="组合 5"/>
            <p:cNvGrpSpPr/>
            <p:nvPr/>
          </p:nvGrpSpPr>
          <p:grpSpPr bwMode="gray">
            <a:xfrm>
              <a:off x="309719" y="1339575"/>
              <a:ext cx="5939070" cy="2218263"/>
              <a:chOff x="309719" y="1339575"/>
              <a:chExt cx="5939070" cy="2218263"/>
            </a:xfrm>
          </p:grpSpPr>
          <p:sp>
            <p:nvSpPr>
              <p:cNvPr id="28" name="圆角矩形 27"/>
              <p:cNvSpPr/>
              <p:nvPr/>
            </p:nvSpPr>
            <p:spPr bwMode="gray">
              <a:xfrm>
                <a:off x="494375" y="1339575"/>
                <a:ext cx="2491196" cy="1245024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BEE9EE"/>
                </a:solidFill>
                <a:prstDash val="sysDash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" name="圆角矩形 29"/>
              <p:cNvSpPr/>
              <p:nvPr/>
            </p:nvSpPr>
            <p:spPr bwMode="gray">
              <a:xfrm>
                <a:off x="3513276" y="1339575"/>
                <a:ext cx="2491196" cy="1245024"/>
              </a:xfrm>
              <a:prstGeom prst="roundRect">
                <a:avLst/>
              </a:prstGeom>
              <a:noFill/>
              <a:ln w="28575" cap="flat" cmpd="sng" algn="ctr">
                <a:solidFill>
                  <a:srgbClr val="BEE9EE"/>
                </a:solidFill>
                <a:prstDash val="sysDash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altLang="zh-CN" sz="16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7" name="直接连接符 6"/>
              <p:cNvCxnSpPr>
                <a:stCxn id="13" idx="1"/>
                <a:endCxn id="10" idx="3"/>
              </p:cNvCxnSpPr>
              <p:nvPr/>
            </p:nvCxnSpPr>
            <p:spPr bwMode="gray">
              <a:xfrm flipH="1">
                <a:off x="2000335" y="1738186"/>
                <a:ext cx="274939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788558" y="2897369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9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788558" y="2114763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0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1563699" y="1540680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1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2410002" y="1540680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2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3903429" y="1540680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3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749732" y="1540680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4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427740" y="2897369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15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5427740" y="2114763"/>
                <a:ext cx="436636" cy="395012"/>
              </a:xfrm>
              <a:prstGeom prst="rect">
                <a:avLst/>
              </a:prstGeom>
              <a:noFill/>
            </p:spPr>
          </p:pic>
          <p:cxnSp>
            <p:nvCxnSpPr>
              <p:cNvPr id="16" name="直接连接符 15"/>
              <p:cNvCxnSpPr>
                <a:stCxn id="10" idx="1"/>
                <a:endCxn id="9" idx="0"/>
              </p:cNvCxnSpPr>
              <p:nvPr/>
            </p:nvCxnSpPr>
            <p:spPr bwMode="gray">
              <a:xfrm flipH="1">
                <a:off x="1006876" y="1738186"/>
                <a:ext cx="556823" cy="3765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>
                <a:stCxn id="8" idx="0"/>
                <a:endCxn id="9" idx="2"/>
              </p:cNvCxnSpPr>
              <p:nvPr/>
            </p:nvCxnSpPr>
            <p:spPr bwMode="gray">
              <a:xfrm flipV="1">
                <a:off x="1006876" y="2509775"/>
                <a:ext cx="0" cy="3875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>
                <a:stCxn id="15" idx="0"/>
                <a:endCxn id="13" idx="3"/>
              </p:cNvCxnSpPr>
              <p:nvPr/>
            </p:nvCxnSpPr>
            <p:spPr bwMode="gray">
              <a:xfrm flipH="1" flipV="1">
                <a:off x="5186368" y="1738186"/>
                <a:ext cx="459690" cy="3765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stCxn id="14" idx="0"/>
                <a:endCxn id="15" idx="2"/>
              </p:cNvCxnSpPr>
              <p:nvPr/>
            </p:nvCxnSpPr>
            <p:spPr bwMode="gray">
              <a:xfrm flipV="1">
                <a:off x="5646058" y="2509775"/>
                <a:ext cx="0" cy="3875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 Box 165"/>
              <p:cNvSpPr txBox="1">
                <a:spLocks noChangeArrowheads="1"/>
              </p:cNvSpPr>
              <p:nvPr/>
            </p:nvSpPr>
            <p:spPr bwMode="gray">
              <a:xfrm>
                <a:off x="338173" y="2173769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PE1</a:t>
                </a:r>
              </a:p>
            </p:txBody>
          </p:sp>
          <p:sp>
            <p:nvSpPr>
              <p:cNvPr id="21" name="Text Box 165"/>
              <p:cNvSpPr txBox="1">
                <a:spLocks noChangeArrowheads="1"/>
              </p:cNvSpPr>
              <p:nvPr/>
            </p:nvSpPr>
            <p:spPr bwMode="gray">
              <a:xfrm>
                <a:off x="338173" y="2956375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</a:t>
                </a: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</a:p>
            </p:txBody>
          </p:sp>
          <p:sp>
            <p:nvSpPr>
              <p:cNvPr id="22" name="Text Box 165"/>
              <p:cNvSpPr txBox="1">
                <a:spLocks noChangeArrowheads="1"/>
              </p:cNvSpPr>
              <p:nvPr/>
            </p:nvSpPr>
            <p:spPr bwMode="gray">
              <a:xfrm>
                <a:off x="5408402" y="1893243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PE2</a:t>
                </a:r>
              </a:p>
            </p:txBody>
          </p:sp>
          <p:sp>
            <p:nvSpPr>
              <p:cNvPr id="23" name="Text Box 165"/>
              <p:cNvSpPr txBox="1">
                <a:spLocks noChangeArrowheads="1"/>
              </p:cNvSpPr>
              <p:nvPr/>
            </p:nvSpPr>
            <p:spPr bwMode="gray">
              <a:xfrm>
                <a:off x="4972698" y="2956375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CE</a:t>
                </a: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2</a:t>
                </a:r>
              </a:p>
            </p:txBody>
          </p:sp>
          <p:sp>
            <p:nvSpPr>
              <p:cNvPr id="24" name="Text Box 165"/>
              <p:cNvSpPr txBox="1">
                <a:spLocks noChangeArrowheads="1"/>
              </p:cNvSpPr>
              <p:nvPr/>
            </p:nvSpPr>
            <p:spPr bwMode="gray">
              <a:xfrm>
                <a:off x="1452318" y="1881870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P1</a:t>
                </a:r>
              </a:p>
            </p:txBody>
          </p:sp>
          <p:sp>
            <p:nvSpPr>
              <p:cNvPr id="25" name="Text Box 165"/>
              <p:cNvSpPr txBox="1">
                <a:spLocks noChangeArrowheads="1"/>
              </p:cNvSpPr>
              <p:nvPr/>
            </p:nvSpPr>
            <p:spPr bwMode="gray">
              <a:xfrm>
                <a:off x="2153031" y="1881870"/>
                <a:ext cx="95057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</a:t>
                </a: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</a:p>
            </p:txBody>
          </p:sp>
          <p:sp>
            <p:nvSpPr>
              <p:cNvPr id="26" name="Text Box 165"/>
              <p:cNvSpPr txBox="1">
                <a:spLocks noChangeArrowheads="1"/>
              </p:cNvSpPr>
              <p:nvPr/>
            </p:nvSpPr>
            <p:spPr bwMode="gray">
              <a:xfrm>
                <a:off x="3661242" y="1881870"/>
                <a:ext cx="918511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ASBR-PE2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" name="Text Box 165"/>
              <p:cNvSpPr txBox="1">
                <a:spLocks noChangeArrowheads="1"/>
              </p:cNvSpPr>
              <p:nvPr/>
            </p:nvSpPr>
            <p:spPr bwMode="gray">
              <a:xfrm>
                <a:off x="4636413" y="1881870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P2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9" name="圆角矩形 28"/>
              <p:cNvSpPr/>
              <p:nvPr/>
            </p:nvSpPr>
            <p:spPr bwMode="gray">
              <a:xfrm>
                <a:off x="449365" y="2822676"/>
                <a:ext cx="1160659" cy="735162"/>
              </a:xfrm>
              <a:prstGeom prst="roundRect">
                <a:avLst/>
              </a:prstGeom>
              <a:noFill/>
              <a:ln w="25400">
                <a:solidFill>
                  <a:srgbClr val="94DA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" name="圆角矩形 30"/>
              <p:cNvSpPr/>
              <p:nvPr/>
            </p:nvSpPr>
            <p:spPr bwMode="gray">
              <a:xfrm>
                <a:off x="4912611" y="2822676"/>
                <a:ext cx="1160659" cy="735162"/>
              </a:xfrm>
              <a:prstGeom prst="roundRect">
                <a:avLst/>
              </a:prstGeom>
              <a:noFill/>
              <a:ln w="25400">
                <a:solidFill>
                  <a:srgbClr val="94DAE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2" name="Text Box 165"/>
              <p:cNvSpPr txBox="1">
                <a:spLocks noChangeArrowheads="1"/>
              </p:cNvSpPr>
              <p:nvPr/>
            </p:nvSpPr>
            <p:spPr bwMode="gray">
              <a:xfrm>
                <a:off x="422351" y="3280839"/>
                <a:ext cx="1214686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192.168.1.1/24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3" name="Text Box 165"/>
              <p:cNvSpPr txBox="1">
                <a:spLocks noChangeArrowheads="1"/>
              </p:cNvSpPr>
              <p:nvPr/>
            </p:nvSpPr>
            <p:spPr bwMode="gray">
              <a:xfrm>
                <a:off x="4885597" y="3280839"/>
                <a:ext cx="1214686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192.168.2.1/24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4" name="Text Box 36"/>
              <p:cNvSpPr txBox="1">
                <a:spLocks noChangeArrowheads="1"/>
              </p:cNvSpPr>
              <p:nvPr/>
            </p:nvSpPr>
            <p:spPr bwMode="gray">
              <a:xfrm>
                <a:off x="309719" y="1450812"/>
                <a:ext cx="1152128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400" b="1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AS100</a:t>
                </a:r>
              </a:p>
            </p:txBody>
          </p:sp>
          <p:sp>
            <p:nvSpPr>
              <p:cNvPr id="35" name="Text Box 36"/>
              <p:cNvSpPr txBox="1">
                <a:spLocks noChangeArrowheads="1"/>
              </p:cNvSpPr>
              <p:nvPr/>
            </p:nvSpPr>
            <p:spPr bwMode="gray">
              <a:xfrm>
                <a:off x="5096661" y="1450812"/>
                <a:ext cx="1152128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400" b="1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AS200</a:t>
                </a:r>
              </a:p>
            </p:txBody>
          </p:sp>
          <p:sp>
            <p:nvSpPr>
              <p:cNvPr id="36" name="Text Box 165"/>
              <p:cNvSpPr txBox="1">
                <a:spLocks noChangeArrowheads="1"/>
              </p:cNvSpPr>
              <p:nvPr/>
            </p:nvSpPr>
            <p:spPr bwMode="gray">
              <a:xfrm>
                <a:off x="2863824" y="1484413"/>
                <a:ext cx="918511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GE2/0/0</a:t>
                </a:r>
              </a:p>
            </p:txBody>
          </p:sp>
          <p:sp>
            <p:nvSpPr>
              <p:cNvPr id="37" name="Text Box 165"/>
              <p:cNvSpPr txBox="1">
                <a:spLocks noChangeArrowheads="1"/>
              </p:cNvSpPr>
              <p:nvPr/>
            </p:nvSpPr>
            <p:spPr bwMode="gray">
              <a:xfrm>
                <a:off x="2797675" y="1731071"/>
                <a:ext cx="1067804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10.0.34.0/24</a:t>
                </a:r>
              </a:p>
            </p:txBody>
          </p:sp>
          <p:pic>
            <p:nvPicPr>
              <p:cNvPr id="38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1548253" y="2114763"/>
                <a:ext cx="436636" cy="395012"/>
              </a:xfrm>
              <a:prstGeom prst="rect">
                <a:avLst/>
              </a:prstGeom>
              <a:noFill/>
            </p:spPr>
          </p:pic>
          <p:pic>
            <p:nvPicPr>
              <p:cNvPr id="39" name="Picture 185" descr="E:\2016.01\1.12 扁平化图标\蓝色\AR-蓝色最新-40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gray">
              <a:xfrm>
                <a:off x="4497398" y="2114763"/>
                <a:ext cx="436636" cy="395012"/>
              </a:xfrm>
              <a:prstGeom prst="rect">
                <a:avLst/>
              </a:prstGeom>
              <a:noFill/>
            </p:spPr>
          </p:pic>
          <p:sp>
            <p:nvSpPr>
              <p:cNvPr id="40" name="Text Box 165"/>
              <p:cNvSpPr txBox="1">
                <a:spLocks noChangeArrowheads="1"/>
              </p:cNvSpPr>
              <p:nvPr/>
            </p:nvSpPr>
            <p:spPr bwMode="gray">
              <a:xfrm>
                <a:off x="1440618" y="2505106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RR</a:t>
                </a:r>
                <a:r>
                  <a:rPr lang="en-US" altLang="zh-CN" sz="1200" i="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1</a:t>
                </a:r>
              </a:p>
            </p:txBody>
          </p:sp>
          <p:sp>
            <p:nvSpPr>
              <p:cNvPr id="41" name="Text Box 165"/>
              <p:cNvSpPr txBox="1">
                <a:spLocks noChangeArrowheads="1"/>
              </p:cNvSpPr>
              <p:nvPr/>
            </p:nvSpPr>
            <p:spPr bwMode="gray">
              <a:xfrm>
                <a:off x="4390766" y="2505106"/>
                <a:ext cx="65939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RR2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42" name="直接连接符 41"/>
              <p:cNvCxnSpPr>
                <a:stCxn id="38" idx="1"/>
                <a:endCxn id="9" idx="3"/>
              </p:cNvCxnSpPr>
              <p:nvPr/>
            </p:nvCxnSpPr>
            <p:spPr bwMode="gray">
              <a:xfrm flipH="1">
                <a:off x="1225194" y="2312269"/>
                <a:ext cx="3230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>
                <a:stCxn id="15" idx="1"/>
                <a:endCxn id="39" idx="3"/>
              </p:cNvCxnSpPr>
              <p:nvPr/>
            </p:nvCxnSpPr>
            <p:spPr bwMode="gray">
              <a:xfrm flipH="1">
                <a:off x="4934034" y="2312269"/>
                <a:ext cx="49370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 Box 165"/>
              <p:cNvSpPr txBox="1">
                <a:spLocks noChangeArrowheads="1"/>
              </p:cNvSpPr>
              <p:nvPr/>
            </p:nvSpPr>
            <p:spPr bwMode="gray">
              <a:xfrm>
                <a:off x="2710664" y="2327170"/>
                <a:ext cx="950578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 fontAlgn="base"/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MP-EBGP</a:t>
                </a:r>
                <a:endPara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cxnSp>
          <p:nvCxnSpPr>
            <p:cNvPr id="45" name="直接箭头连接符 44"/>
            <p:cNvCxnSpPr>
              <a:stCxn id="38" idx="3"/>
              <a:endCxn id="39" idx="1"/>
            </p:cNvCxnSpPr>
            <p:nvPr/>
          </p:nvCxnSpPr>
          <p:spPr bwMode="gray">
            <a:xfrm>
              <a:off x="1984889" y="2312269"/>
              <a:ext cx="2512509" cy="0"/>
            </a:xfrm>
            <a:prstGeom prst="straightConnector1">
              <a:avLst/>
            </a:prstGeom>
            <a:ln w="19050">
              <a:solidFill>
                <a:srgbClr val="F28944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占位符 64"/>
          <p:cNvSpPr txBox="1">
            <a:spLocks/>
          </p:cNvSpPr>
          <p:nvPr/>
        </p:nvSpPr>
        <p:spPr bwMode="gray">
          <a:xfrm>
            <a:off x="455613" y="3716338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为例，创建路由策略。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 bwMode="gray">
          <a:xfrm>
            <a:off x="677728" y="4092393"/>
            <a:ext cx="53677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route-policy policy1 permit node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apply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-label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[ASBR-PE1-route-policy] quit</a:t>
            </a:r>
          </a:p>
        </p:txBody>
      </p:sp>
      <p:grpSp>
        <p:nvGrpSpPr>
          <p:cNvPr id="81" name="组合 80"/>
          <p:cNvGrpSpPr/>
          <p:nvPr/>
        </p:nvGrpSpPr>
        <p:grpSpPr bwMode="gray">
          <a:xfrm>
            <a:off x="424465" y="4666798"/>
            <a:ext cx="5675818" cy="1491662"/>
            <a:chOff x="6101647" y="4461870"/>
            <a:chExt cx="5675818" cy="1491662"/>
          </a:xfrm>
        </p:grpSpPr>
        <p:sp>
          <p:nvSpPr>
            <p:cNvPr id="82" name="文本框 81"/>
            <p:cNvSpPr txBox="1"/>
            <p:nvPr/>
          </p:nvSpPr>
          <p:spPr bwMode="gray">
            <a:xfrm>
              <a:off x="6317657" y="5122535"/>
              <a:ext cx="5367721" cy="8309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[ASBR-PE1] </a:t>
              </a:r>
              <a:r>
                <a:rPr lang="en-US" altLang="zh-CN" sz="1200" dirty="0" err="1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bgp</a:t>
              </a: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100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10.0.34.4 route-policy policy1 export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peer 10.0.34.4 label-route-capability</a:t>
              </a:r>
            </a:p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[ASBR-PE1-bgp] quit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3" name="文本占位符 64"/>
            <p:cNvSpPr txBox="1">
              <a:spLocks/>
            </p:cNvSpPr>
            <p:nvPr/>
          </p:nvSpPr>
          <p:spPr bwMode="gray">
            <a:xfrm>
              <a:off x="6101647" y="4461870"/>
              <a:ext cx="5675818" cy="347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80141" tIns="40071" rIns="80141" bIns="40071" numCol="1" anchor="t" anchorCtr="0" compatLnSpc="1">
              <a:prstTxWarp prst="textNoShape">
                <a:avLst/>
              </a:prstTxWarp>
            </a:bodyPr>
            <a:lstStyle>
              <a:lvl1pPr marL="302279" indent="-302279" algn="just" defTabSz="914034" rtl="0" eaLnBrk="1" fontAlgn="base" latinLnBrk="0" hangingPunct="1">
                <a:lnSpc>
                  <a:spcPct val="140000"/>
                </a:lnSpc>
                <a:spcBef>
                  <a:spcPts val="792"/>
                </a:spcBef>
                <a:buClrTx/>
                <a:buSzPct val="50000"/>
                <a:buFont typeface="Wingdings" panose="05000000000000000000" pitchFamily="2" charset="2"/>
                <a:buChar char="l"/>
                <a:defRPr sz="21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Huawei Sans" panose="020C0503030203020204" pitchFamily="34" charset="0"/>
                </a:defRPr>
              </a:lvl1pPr>
              <a:lvl2pPr marL="654938" indent="-251899" algn="l" defTabSz="914034" rtl="0" eaLnBrk="1" fontAlgn="base" latinLnBrk="0" hangingPunct="1">
                <a:lnSpc>
                  <a:spcPct val="140000"/>
                </a:lnSpc>
                <a:spcBef>
                  <a:spcPts val="720"/>
                </a:spcBef>
                <a:buClrTx/>
                <a:buSzPct val="50000"/>
                <a:buFont typeface="Wingdings" panose="05000000000000000000" pitchFamily="2" charset="2"/>
                <a:buChar char="p"/>
                <a:defRPr sz="19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2pPr>
              <a:lvl3pPr marL="1003998" indent="-201519" algn="l" defTabSz="914034" rtl="0" eaLnBrk="1" fontAlgn="base" latinLnBrk="0" hangingPunct="1">
                <a:lnSpc>
                  <a:spcPct val="140000"/>
                </a:lnSpc>
                <a:spcBef>
                  <a:spcPts val="648"/>
                </a:spcBef>
                <a:buClrTx/>
                <a:buSzPct val="50000"/>
                <a:buFont typeface="Wingdings" panose="05000000000000000000" pitchFamily="2" charset="2"/>
                <a:buChar char="n"/>
                <a:defRPr sz="17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3pPr>
              <a:lvl4pPr marL="1399840" indent="-197921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−"/>
                <a:defRPr sz="15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4pPr>
              <a:lvl5pPr marL="1802879" indent="-201519" algn="l" defTabSz="914034" rtl="0" eaLnBrk="1" fontAlgn="base" latinLnBrk="0" hangingPunct="1">
                <a:lnSpc>
                  <a:spcPct val="140000"/>
                </a:lnSpc>
                <a:spcBef>
                  <a:spcPts val="576"/>
                </a:spcBef>
                <a:buFont typeface="Huawei Sans" panose="020C0503030203020204" pitchFamily="34" charset="0"/>
                <a:buChar char="~"/>
                <a:defRPr sz="1399" kern="1200" baseline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cs"/>
                </a:defRPr>
              </a:lvl5pPr>
              <a:lvl6pPr marL="2513594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611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628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4646" indent="-228509" algn="l" defTabSz="91403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7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2900" indent="-342900">
                <a:buSzPct val="100000"/>
                <a:buFont typeface="+mj-lt"/>
                <a:buAutoNum type="arabicPeriod" startAt="3"/>
              </a:pPr>
              <a:r>
                <a:rPr lang="zh-CN" altLang="en-US" sz="1400" dirty="0">
                  <a:sym typeface="Huawei Sans" panose="020C0503030203020204" pitchFamily="34" charset="0"/>
                </a:rPr>
                <a:t>以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ASBR-PE1</a:t>
              </a:r>
              <a:r>
                <a:rPr lang="zh-CN" altLang="en-US" sz="1400" dirty="0">
                  <a:sym typeface="Huawei Sans" panose="020C0503030203020204" pitchFamily="34" charset="0"/>
                </a:rPr>
                <a:t>为例，对向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ASBR-PE2</a:t>
              </a:r>
              <a:r>
                <a:rPr lang="zh-CN" altLang="en-US" sz="1400" dirty="0">
                  <a:sym typeface="Huawei Sans" panose="020C0503030203020204" pitchFamily="34" charset="0"/>
                </a:rPr>
                <a:t>发布的路由应用路由策略，并使能与</a:t>
              </a:r>
              <a:r>
                <a:rPr lang="en-US" altLang="zh-CN" sz="1400" dirty="0">
                  <a:sym typeface="Huawei Sans" panose="020C0503030203020204" pitchFamily="34" charset="0"/>
                </a:rPr>
                <a:t>ASBR-PE2</a:t>
              </a:r>
              <a:r>
                <a:rPr lang="zh-CN" altLang="en-US" sz="1400" dirty="0">
                  <a:sym typeface="Huawei Sans" panose="020C0503030203020204" pitchFamily="34" charset="0"/>
                </a:rPr>
                <a:t>交换标签</a:t>
              </a:r>
              <a:r>
                <a:rPr lang="en-US" altLang="zh-CN" sz="1400" dirty="0">
                  <a:sym typeface="Huawei Sans" panose="020C0503030203020204" pitchFamily="34" charset="0"/>
                </a:rPr>
                <a:t>IPv4</a:t>
              </a:r>
              <a:r>
                <a:rPr lang="zh-CN" altLang="en-US" sz="1400" dirty="0">
                  <a:sym typeface="Huawei Sans" panose="020C0503030203020204" pitchFamily="34" charset="0"/>
                </a:rPr>
                <a:t>路由的能力。</a:t>
              </a:r>
              <a:endParaRPr lang="en-US" altLang="zh-CN" sz="1400" dirty="0">
                <a:sym typeface="Huawei Sans" panose="020C0503030203020204" pitchFamily="34" charset="0"/>
              </a:endParaRPr>
            </a:p>
          </p:txBody>
        </p:sp>
      </p:grpSp>
      <p:sp>
        <p:nvSpPr>
          <p:cNvPr id="84" name="文本占位符 64"/>
          <p:cNvSpPr txBox="1">
            <a:spLocks/>
          </p:cNvSpPr>
          <p:nvPr/>
        </p:nvSpPr>
        <p:spPr bwMode="gray">
          <a:xfrm>
            <a:off x="6096000" y="4401339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为例，将</a:t>
            </a:r>
            <a:r>
              <a:rPr lang="en-US" altLang="zh-CN" sz="1400" dirty="0">
                <a:sym typeface="Huawei Sans" panose="020C0503030203020204" pitchFamily="34" charset="0"/>
              </a:rPr>
              <a:t>PE1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ym typeface="Huawei Sans" panose="020C0503030203020204" pitchFamily="34" charset="0"/>
              </a:rPr>
              <a:t>Loopback</a:t>
            </a:r>
            <a:r>
              <a:rPr lang="zh-CN" altLang="en-US" sz="1400" dirty="0">
                <a:sym typeface="Huawei Sans" panose="020C0503030203020204" pitchFamily="34" charset="0"/>
              </a:rPr>
              <a:t>路由发布给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6318115" y="4777394"/>
            <a:ext cx="5367721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network 10.0.1.1 32  #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数据转发需要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network 10.0.7.7 32 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[ASBR-PE1-bgp] quit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8" name="文本框 87"/>
          <p:cNvSpPr txBox="1"/>
          <p:nvPr/>
        </p:nvSpPr>
        <p:spPr bwMode="gray">
          <a:xfrm>
            <a:off x="6908800" y="5770911"/>
            <a:ext cx="4559204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能学习到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的路由，从而建立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VPNv4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邻居关系。</a:t>
            </a:r>
          </a:p>
        </p:txBody>
      </p:sp>
      <p:cxnSp>
        <p:nvCxnSpPr>
          <p:cNvPr id="89" name="肘形连接符 88"/>
          <p:cNvCxnSpPr>
            <a:stCxn id="91" idx="3"/>
            <a:endCxn id="88" idx="3"/>
          </p:cNvCxnSpPr>
          <p:nvPr/>
        </p:nvCxnSpPr>
        <p:spPr bwMode="gray">
          <a:xfrm>
            <a:off x="10271277" y="5283012"/>
            <a:ext cx="1196727" cy="641788"/>
          </a:xfrm>
          <a:prstGeom prst="bentConnector3">
            <a:avLst>
              <a:gd name="adj1" fmla="val 119102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 bwMode="gray">
          <a:xfrm>
            <a:off x="6359626" y="5175012"/>
            <a:ext cx="391165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9358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方式二配置举例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6" name="文本占位符 64"/>
          <p:cNvSpPr txBox="1">
            <a:spLocks/>
          </p:cNvSpPr>
          <p:nvPr/>
        </p:nvSpPr>
        <p:spPr bwMode="gray">
          <a:xfrm>
            <a:off x="6073270" y="2306930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为例，将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路由引入到</a:t>
            </a:r>
            <a:r>
              <a:rPr lang="en-US" altLang="zh-CN" sz="1400" dirty="0">
                <a:sym typeface="Huawei Sans" panose="020C0503030203020204" pitchFamily="34" charset="0"/>
              </a:rPr>
              <a:t>IGP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6295384" y="2682985"/>
            <a:ext cx="53677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[ASBR-PE1-ospf-1] import-route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[ASBR-PE1-ospf-1] quit</a:t>
            </a:r>
          </a:p>
        </p:txBody>
      </p:sp>
      <p:grpSp>
        <p:nvGrpSpPr>
          <p:cNvPr id="11" name="组合 10"/>
          <p:cNvGrpSpPr/>
          <p:nvPr/>
        </p:nvGrpSpPr>
        <p:grpSpPr bwMode="gray">
          <a:xfrm>
            <a:off x="309719" y="2355575"/>
            <a:ext cx="5939070" cy="2218263"/>
            <a:chOff x="309719" y="1339575"/>
            <a:chExt cx="5939070" cy="2218263"/>
          </a:xfrm>
        </p:grpSpPr>
        <p:sp>
          <p:nvSpPr>
            <p:cNvPr id="33" name="圆角矩形 32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圆角矩形 34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2" name="直接连接符 11"/>
            <p:cNvCxnSpPr>
              <a:stCxn id="18" idx="1"/>
              <a:endCxn id="15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2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21" name="直接连接符 20"/>
            <p:cNvCxnSpPr>
              <a:stCxn id="15" idx="1"/>
              <a:endCxn id="14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3" idx="0"/>
              <a:endCxn id="14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20" idx="0"/>
              <a:endCxn id="18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19" idx="0"/>
              <a:endCxn id="20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9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31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33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圆角矩形 35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40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41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42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4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4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5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6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7" name="直接连接符 46"/>
            <p:cNvCxnSpPr>
              <a:stCxn id="43" idx="1"/>
              <a:endCxn id="14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20" idx="1"/>
              <a:endCxn id="44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本占位符 64"/>
          <p:cNvSpPr txBox="1">
            <a:spLocks/>
          </p:cNvSpPr>
          <p:nvPr/>
        </p:nvSpPr>
        <p:spPr bwMode="gray">
          <a:xfrm>
            <a:off x="6073270" y="372965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6"/>
            </a:pPr>
            <a:r>
              <a:rPr lang="zh-CN" altLang="en-US" sz="1400" dirty="0">
                <a:sym typeface="Huawei Sans" panose="020C0503030203020204" pitchFamily="34" charset="0"/>
              </a:rPr>
              <a:t>以</a:t>
            </a:r>
            <a:r>
              <a:rPr lang="en-US" altLang="zh-CN" sz="1400" dirty="0"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ym typeface="Huawei Sans" panose="020C0503030203020204" pitchFamily="34" charset="0"/>
              </a:rPr>
              <a:t>为例，配置为带标签的公网</a:t>
            </a:r>
            <a:r>
              <a:rPr lang="en-US" altLang="zh-CN" sz="1400" dirty="0">
                <a:sym typeface="Huawei Sans" panose="020C0503030203020204" pitchFamily="34" charset="0"/>
              </a:rPr>
              <a:t>BGP</a:t>
            </a:r>
            <a:r>
              <a:rPr lang="zh-CN" altLang="en-US" sz="1400" dirty="0">
                <a:sym typeface="Huawei Sans" panose="020C0503030203020204" pitchFamily="34" charset="0"/>
              </a:rPr>
              <a:t>路由建立</a:t>
            </a:r>
            <a:r>
              <a:rPr lang="en-US" altLang="zh-CN" sz="1400" dirty="0">
                <a:sym typeface="Huawei Sans" panose="020C0503030203020204" pitchFamily="34" charset="0"/>
              </a:rPr>
              <a:t>LDP LSP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r>
              <a:rPr lang="en-US" altLang="zh-CN" sz="1400" dirty="0">
                <a:sym typeface="Huawei Sans" panose="020C0503030203020204" pitchFamily="34" charset="0"/>
              </a:rPr>
              <a:t> </a:t>
            </a:r>
          </a:p>
        </p:txBody>
      </p:sp>
      <p:sp>
        <p:nvSpPr>
          <p:cNvPr id="51" name="文本框 50"/>
          <p:cNvSpPr txBox="1"/>
          <p:nvPr/>
        </p:nvSpPr>
        <p:spPr bwMode="gray">
          <a:xfrm>
            <a:off x="6295385" y="4105709"/>
            <a:ext cx="53677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[ASBR-PE1-mpls]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-trigger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-label-route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[ASBR-PE1-mpls] quit</a:t>
            </a:r>
          </a:p>
        </p:txBody>
      </p:sp>
    </p:spTree>
    <p:extLst>
      <p:ext uri="{BB962C8B-B14F-4D97-AF65-F5344CB8AC3E}">
        <p14:creationId xmlns:p14="http://schemas.microsoft.com/office/powerpoint/2010/main" val="27057309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方式二配置结果验证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gray">
          <a:xfrm>
            <a:off x="309719" y="2339700"/>
            <a:ext cx="5939070" cy="2218263"/>
            <a:chOff x="309719" y="1339575"/>
            <a:chExt cx="5939070" cy="2218263"/>
          </a:xfrm>
        </p:grpSpPr>
        <p:sp>
          <p:nvSpPr>
            <p:cNvPr id="31" name="圆角矩形 30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圆角矩形 32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0" name="直接连接符 9"/>
            <p:cNvCxnSpPr>
              <a:stCxn id="16" idx="1"/>
              <a:endCxn id="13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6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7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9" name="直接连接符 18"/>
            <p:cNvCxnSpPr>
              <a:stCxn id="13" idx="1"/>
              <a:endCxn id="12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1" idx="0"/>
              <a:endCxn id="12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>
              <a:stCxn id="18" idx="0"/>
              <a:endCxn id="16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>
              <a:stCxn id="17" idx="0"/>
              <a:endCxn id="18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8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9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圆角矩形 31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圆角矩形 33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8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9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4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4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3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4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5" name="直接连接符 44"/>
            <p:cNvCxnSpPr>
              <a:stCxn id="41" idx="1"/>
              <a:endCxn id="12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18" idx="1"/>
              <a:endCxn id="42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占位符 64"/>
          <p:cNvSpPr txBox="1">
            <a:spLocks/>
          </p:cNvSpPr>
          <p:nvPr/>
        </p:nvSpPr>
        <p:spPr bwMode="gray">
          <a:xfrm>
            <a:off x="6073270" y="1900619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CE1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 bwMode="gray">
          <a:xfrm>
            <a:off x="6248789" y="2247726"/>
            <a:ext cx="5367721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-instance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192.168.1.0 verbose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Route Flags: R - relay, D - download to fib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------------------------------------------------------------------------------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Routing Table :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vpna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Summary Count 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192.168.1.0/24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Protocol: IBGP             Process ID: 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Preference: 255                    Cost: 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10.0.1.1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Neighbour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10.0.8.8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State: Active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Adv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Relied       Age: 00h00m05s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Tag: 0                  Priority: low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Label: 1028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QoSInfo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IndirectID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0x12           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RelayNextHop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10.0.56.5         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0xe                   Flags: RD</a:t>
            </a:r>
          </a:p>
        </p:txBody>
      </p:sp>
      <p:sp>
        <p:nvSpPr>
          <p:cNvPr id="50" name="文本框 49"/>
          <p:cNvSpPr txBox="1"/>
          <p:nvPr/>
        </p:nvSpPr>
        <p:spPr bwMode="gray">
          <a:xfrm>
            <a:off x="6416053" y="5180597"/>
            <a:ext cx="3385866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该路由从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RR2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学习，下一跳为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</a:p>
        </p:txBody>
      </p:sp>
      <p:sp>
        <p:nvSpPr>
          <p:cNvPr id="51" name="矩形 50"/>
          <p:cNvSpPr/>
          <p:nvPr/>
        </p:nvSpPr>
        <p:spPr bwMode="gray">
          <a:xfrm>
            <a:off x="6451066" y="3736132"/>
            <a:ext cx="372463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2" name="肘形连接符 51"/>
          <p:cNvCxnSpPr>
            <a:stCxn id="51" idx="1"/>
            <a:endCxn id="50" idx="1"/>
          </p:cNvCxnSpPr>
          <p:nvPr/>
        </p:nvCxnSpPr>
        <p:spPr bwMode="gray">
          <a:xfrm rot="10800000" flipV="1">
            <a:off x="6416054" y="3844132"/>
            <a:ext cx="35013" cy="1490354"/>
          </a:xfrm>
          <a:prstGeom prst="bentConnector3">
            <a:avLst>
              <a:gd name="adj1" fmla="val 752900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2689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方式二配置结果验证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8" name="圆角矩形 27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" name="直接连接符 6"/>
            <p:cNvCxnSpPr>
              <a:stCxn id="13" idx="1"/>
              <a:endCxn id="10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6" name="直接连接符 15"/>
            <p:cNvCxnSpPr>
              <a:stCxn id="10" idx="1"/>
              <a:endCxn id="9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0"/>
              <a:endCxn id="9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5" idx="0"/>
              <a:endCxn id="13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4" idx="0"/>
              <a:endCxn id="15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3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3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1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2" name="直接连接符 41"/>
            <p:cNvCxnSpPr>
              <a:stCxn id="38" idx="1"/>
              <a:endCxn id="9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5" idx="1"/>
              <a:endCxn id="39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10.0.1.1(PE1)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6248789" y="1247601"/>
            <a:ext cx="5367721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fib 10.0.1.1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Route Entry Count: 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Destination/Mask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Interface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TunnelID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10.0.1.1/32        10.0.56.5              GE0/0/1       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0xe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tunnel-info tunnel-id e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ID:                    0xe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Tunnel Token:                 14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Type:                       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Destination:                  10.0.1.1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Interface:                GigabitEthernet0/0/1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 Label:                    1028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 Hop:                     10.0.56.5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Index:                   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6151</a:t>
            </a:r>
          </a:p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&lt;PE2&gt;display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out-label 1028 verbose 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No                  :  1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Fec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:  10.0.1.1/32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:  10.0.56.5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In-Label            :  NULL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Out-Label           :  1028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LspIndex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: 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6151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Token               :  0xe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LsrType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:  Ingress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Label Operation     :  PUSH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2" name="文本占位符 64"/>
          <p:cNvSpPr txBox="1">
            <a:spLocks/>
          </p:cNvSpPr>
          <p:nvPr/>
        </p:nvSpPr>
        <p:spPr bwMode="gray">
          <a:xfrm>
            <a:off x="464784" y="3842447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经过步骤</a:t>
            </a:r>
            <a:r>
              <a:rPr lang="en-US" altLang="zh-CN" sz="1400" dirty="0"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sym typeface="Huawei Sans" panose="020C0503030203020204" pitchFamily="34" charset="0"/>
              </a:rPr>
              <a:t>的分析得知，</a:t>
            </a:r>
            <a:r>
              <a:rPr lang="en-US" altLang="zh-CN" sz="1400" dirty="0">
                <a:sym typeface="Huawei Sans" panose="020C0503030203020204" pitchFamily="34" charset="0"/>
              </a:rPr>
              <a:t>PE2</a:t>
            </a:r>
            <a:r>
              <a:rPr lang="zh-CN" altLang="en-US" sz="1400" dirty="0">
                <a:sym typeface="Huawei Sans" panose="020C0503030203020204" pitchFamily="34" charset="0"/>
              </a:rPr>
              <a:t>发送数据时应携带以下标签。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264940"/>
              </p:ext>
            </p:extLst>
          </p:nvPr>
        </p:nvGraphicFramePr>
        <p:xfrm>
          <a:off x="535624" y="4243748"/>
          <a:ext cx="5348624" cy="104846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3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分配设备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1028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774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方式二配置结果验证 </a:t>
            </a:r>
            <a:r>
              <a:rPr lang="en-US" altLang="zh-CN" dirty="0">
                <a:sym typeface="Huawei Sans" panose="020C0503030203020204" pitchFamily="34" charset="0"/>
              </a:rPr>
              <a:t>(3)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>
            <a:off x="309719" y="1339575"/>
            <a:ext cx="5939070" cy="2218263"/>
            <a:chOff x="309719" y="1339575"/>
            <a:chExt cx="5939070" cy="2218263"/>
          </a:xfrm>
        </p:grpSpPr>
        <p:sp>
          <p:nvSpPr>
            <p:cNvPr id="28" name="圆角矩形 27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" name="直接连接符 6"/>
            <p:cNvCxnSpPr>
              <a:stCxn id="13" idx="1"/>
              <a:endCxn id="10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6" name="直接连接符 15"/>
            <p:cNvCxnSpPr>
              <a:stCxn id="10" idx="1"/>
              <a:endCxn id="9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0"/>
              <a:endCxn id="9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5" idx="0"/>
              <a:endCxn id="13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4" idx="0"/>
              <a:endCxn id="15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3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3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1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2" name="直接连接符 41"/>
            <p:cNvCxnSpPr>
              <a:stCxn id="38" idx="1"/>
              <a:endCxn id="9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5" idx="1"/>
              <a:endCxn id="39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占位符 64"/>
          <p:cNvSpPr txBox="1">
            <a:spLocks/>
          </p:cNvSpPr>
          <p:nvPr/>
        </p:nvSpPr>
        <p:spPr bwMode="gray">
          <a:xfrm>
            <a:off x="6073270" y="900494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上查看</a:t>
            </a:r>
            <a:r>
              <a:rPr lang="en-US" altLang="zh-CN" sz="1400" dirty="0">
                <a:sym typeface="Huawei Sans" panose="020C0503030203020204" pitchFamily="34" charset="0"/>
              </a:rPr>
              <a:t>10.0.1.1(PE1)</a:t>
            </a:r>
            <a:r>
              <a:rPr lang="zh-CN" altLang="en-US" sz="1400" dirty="0">
                <a:sym typeface="Huawei Sans" panose="020C0503030203020204" pitchFamily="34" charset="0"/>
              </a:rPr>
              <a:t>的路由信息。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6248789" y="1247601"/>
            <a:ext cx="5367721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&lt;ASBR-PE2&gt;display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routing-table 10.0.1.1 32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local router ID : 10.0.4.4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Local AS number : 200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Paths:   1 available, 1 best, 1 select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BGP routing table entry information of 10.0.1.1/32: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Label information (Received/Applied): 1025/NULL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From: 10.0.34.3 (10.0.3.3)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Route Duration: 01h30m31s  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Direct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Tunnel Out-Interface: GigabitEthernet0/0/1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Relay token: 0x1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Original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nexthop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: 10.0.34.3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Qos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information : 0x0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AS-path 100, origin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, MED 2,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pref-val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0, valid, external, best, select, active, pre 255</a:t>
            </a:r>
          </a:p>
        </p:txBody>
      </p:sp>
      <p:sp>
        <p:nvSpPr>
          <p:cNvPr id="52" name="文本占位符 64"/>
          <p:cNvSpPr txBox="1">
            <a:spLocks/>
          </p:cNvSpPr>
          <p:nvPr/>
        </p:nvSpPr>
        <p:spPr bwMode="gray">
          <a:xfrm>
            <a:off x="464784" y="3842447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SzPct val="100000"/>
              <a:buNone/>
            </a:pPr>
            <a:r>
              <a:rPr lang="zh-CN" altLang="en-US" sz="1400" dirty="0">
                <a:sym typeface="Huawei Sans" panose="020C0503030203020204" pitchFamily="34" charset="0"/>
              </a:rPr>
              <a:t>经过步骤</a:t>
            </a:r>
            <a:r>
              <a:rPr lang="en-US" altLang="zh-CN" sz="1400" dirty="0"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sym typeface="Huawei Sans" panose="020C0503030203020204" pitchFamily="34" charset="0"/>
              </a:rPr>
              <a:t>3</a:t>
            </a:r>
            <a:r>
              <a:rPr lang="zh-CN" altLang="en-US" sz="1400" dirty="0">
                <a:sym typeface="Huawei Sans" panose="020C0503030203020204" pitchFamily="34" charset="0"/>
              </a:rPr>
              <a:t>的分析得知，</a:t>
            </a:r>
            <a:r>
              <a:rPr lang="en-US" altLang="zh-CN" sz="1400" dirty="0">
                <a:sym typeface="Huawei Sans" panose="020C0503030203020204" pitchFamily="34" charset="0"/>
              </a:rPr>
              <a:t>ASBR-PE2</a:t>
            </a:r>
            <a:r>
              <a:rPr lang="zh-CN" altLang="en-US" sz="1400" dirty="0">
                <a:sym typeface="Huawei Sans" panose="020C0503030203020204" pitchFamily="34" charset="0"/>
              </a:rPr>
              <a:t>发送数据时应携带以下标签。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13433"/>
              </p:ext>
            </p:extLst>
          </p:nvPr>
        </p:nvGraphicFramePr>
        <p:xfrm>
          <a:off x="535624" y="4243748"/>
          <a:ext cx="5348624" cy="1048461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37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类型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FEC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分配设备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VPN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192.168.1.0/24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1025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标签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10.0.1.1/32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8" name="文本框 47"/>
          <p:cNvSpPr txBox="1"/>
          <p:nvPr/>
        </p:nvSpPr>
        <p:spPr bwMode="gray">
          <a:xfrm>
            <a:off x="6416053" y="4218572"/>
            <a:ext cx="3385866" cy="307777"/>
          </a:xfrm>
          <a:prstGeom prst="rect">
            <a:avLst/>
          </a:prstGeom>
          <a:solidFill>
            <a:srgbClr val="F28944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ASBR-PE1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en-US" altLang="zh-CN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10.0.1.1</a:t>
            </a:r>
            <a:r>
              <a:rPr lang="zh-CN" altLang="en-US" sz="140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分配的标签</a:t>
            </a:r>
          </a:p>
        </p:txBody>
      </p:sp>
      <p:sp>
        <p:nvSpPr>
          <p:cNvPr id="49" name="矩形 48"/>
          <p:cNvSpPr/>
          <p:nvPr/>
        </p:nvSpPr>
        <p:spPr bwMode="gray">
          <a:xfrm>
            <a:off x="6349466" y="2189907"/>
            <a:ext cx="3724631" cy="216000"/>
          </a:xfrm>
          <a:prstGeom prst="rect">
            <a:avLst/>
          </a:prstGeom>
          <a:noFill/>
          <a:ln>
            <a:solidFill>
              <a:srgbClr val="F28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0" name="肘形连接符 49"/>
          <p:cNvCxnSpPr>
            <a:stCxn id="49" idx="1"/>
            <a:endCxn id="48" idx="1"/>
          </p:cNvCxnSpPr>
          <p:nvPr/>
        </p:nvCxnSpPr>
        <p:spPr bwMode="gray">
          <a:xfrm rot="10800000" flipH="1" flipV="1">
            <a:off x="6349465" y="2297907"/>
            <a:ext cx="66587" cy="2074554"/>
          </a:xfrm>
          <a:prstGeom prst="bentConnector3">
            <a:avLst>
              <a:gd name="adj1" fmla="val -343310"/>
            </a:avLst>
          </a:prstGeom>
          <a:ln>
            <a:solidFill>
              <a:srgbClr val="F289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0244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方式二配置结果验证 </a:t>
            </a:r>
            <a:r>
              <a:rPr lang="en-US" altLang="zh-CN" dirty="0">
                <a:sym typeface="Huawei Sans" panose="020C0503030203020204" pitchFamily="34" charset="0"/>
              </a:rPr>
              <a:t>(4)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4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5" name="五边形 4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gray">
          <a:xfrm>
            <a:off x="309719" y="2640585"/>
            <a:ext cx="5939070" cy="2218263"/>
            <a:chOff x="309719" y="1339575"/>
            <a:chExt cx="5939070" cy="2218263"/>
          </a:xfrm>
        </p:grpSpPr>
        <p:sp>
          <p:nvSpPr>
            <p:cNvPr id="28" name="圆角矩形 27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圆角矩形 29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" name="直接连接符 6"/>
            <p:cNvCxnSpPr>
              <a:stCxn id="13" idx="1"/>
              <a:endCxn id="10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16" name="直接连接符 15"/>
            <p:cNvCxnSpPr>
              <a:stCxn id="10" idx="1"/>
              <a:endCxn id="9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8" idx="0"/>
              <a:endCxn id="9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5" idx="0"/>
              <a:endCxn id="13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4" idx="0"/>
              <a:endCxn id="15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21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2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23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24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25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26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圆角矩形 28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35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36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37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3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3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40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41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42" name="直接连接符 41"/>
            <p:cNvCxnSpPr>
              <a:stCxn id="38" idx="1"/>
              <a:endCxn id="9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5" idx="1"/>
              <a:endCxn id="39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占位符 64"/>
          <p:cNvSpPr txBox="1">
            <a:spLocks/>
          </p:cNvSpPr>
          <p:nvPr/>
        </p:nvSpPr>
        <p:spPr bwMode="gray">
          <a:xfrm>
            <a:off x="6073270" y="2802446"/>
            <a:ext cx="5675818" cy="34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base" latinLnBrk="0" hangingPunct="1">
              <a:lnSpc>
                <a:spcPct val="140000"/>
              </a:lnSpc>
              <a:spcBef>
                <a:spcPts val="792"/>
              </a:spcBef>
              <a:buClrTx/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algn="l" defTabSz="914034" rtl="0" eaLnBrk="1" fontAlgn="base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base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base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zh-CN" altLang="en-US" sz="1400" dirty="0"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ym typeface="Huawei Sans" panose="020C0503030203020204" pitchFamily="34" charset="0"/>
              </a:rPr>
              <a:t>CE2</a:t>
            </a:r>
            <a:r>
              <a:rPr lang="zh-CN" altLang="en-US" sz="1400" dirty="0">
                <a:sym typeface="Huawei Sans" panose="020C0503030203020204" pitchFamily="34" charset="0"/>
              </a:rPr>
              <a:t>上</a:t>
            </a:r>
            <a:r>
              <a:rPr lang="en-US" altLang="zh-CN" sz="1400" dirty="0">
                <a:sym typeface="Huawei Sans" panose="020C0503030203020204" pitchFamily="34" charset="0"/>
              </a:rPr>
              <a:t>Ping 192.168.1.1</a:t>
            </a:r>
            <a:r>
              <a:rPr lang="zh-CN" altLang="en-US" sz="1400" dirty="0">
                <a:sym typeface="Huawei Sans" panose="020C0503030203020204" pitchFamily="34" charset="0"/>
              </a:rPr>
              <a:t>。</a:t>
            </a:r>
            <a:endParaRPr lang="en-US" altLang="zh-CN" sz="1400" dirty="0"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 bwMode="gray">
          <a:xfrm>
            <a:off x="6248789" y="3149553"/>
            <a:ext cx="5367721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&lt;CE2&gt;ping -a 192.168.2.1 192.168.1.1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PING 192.168.1.1: 56  data bytes, press CTRL_C to break</a:t>
            </a: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Sequence=1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Sequence=2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time=50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Sequence=3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Reply from 192.168.1.1: bytes=56 Sequence=4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ttl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=250 time=60 </a:t>
            </a:r>
            <a:r>
              <a:rPr lang="en-US" altLang="zh-CN" sz="12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424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OptionC</a:t>
            </a:r>
            <a:r>
              <a:rPr lang="zh-CN" altLang="en-US" dirty="0">
                <a:sym typeface="Huawei Sans" panose="020C0503030203020204" pitchFamily="34" charset="0"/>
              </a:rPr>
              <a:t>方式二关键配置总结</a:t>
            </a:r>
          </a:p>
        </p:txBody>
      </p:sp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760477"/>
              </p:ext>
            </p:extLst>
          </p:nvPr>
        </p:nvGraphicFramePr>
        <p:xfrm>
          <a:off x="6180324" y="2357943"/>
          <a:ext cx="5508703" cy="246875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9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3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2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设备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关键点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PE1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与本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建立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MP-IBGP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邻居关系。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RR1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与其它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RR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建立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MP-EBGP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邻接关系，并且不修改下一跳。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algn="l"/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与本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建立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MP-IBGP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邻居关系，并且不修改下一跳。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04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ASBR-PE1</a:t>
                      </a:r>
                    </a:p>
                    <a:p>
                      <a:pPr algn="ctr"/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ASBR-PE2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与其它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内的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ASBR-PE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能够交互带标签的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IPv4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配置为带标签的公网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BGP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路由建立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LDP LSP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 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ASBR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之间互联的接口需要开启</a:t>
                      </a:r>
                      <a:r>
                        <a:rPr lang="en-US" altLang="zh-CN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MPLS</a:t>
                      </a:r>
                      <a:r>
                        <a:rPr lang="zh-CN" altLang="en-US" sz="1200" dirty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。</a:t>
                      </a:r>
                      <a:endParaRPr lang="en-US" altLang="zh-CN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6" name="组合 75"/>
          <p:cNvGrpSpPr/>
          <p:nvPr/>
        </p:nvGrpSpPr>
        <p:grpSpPr bwMode="gray">
          <a:xfrm>
            <a:off x="309719" y="2640585"/>
            <a:ext cx="5939070" cy="2218263"/>
            <a:chOff x="309719" y="1339575"/>
            <a:chExt cx="5939070" cy="2218263"/>
          </a:xfrm>
        </p:grpSpPr>
        <p:sp>
          <p:nvSpPr>
            <p:cNvPr id="98" name="圆角矩形 97"/>
            <p:cNvSpPr/>
            <p:nvPr/>
          </p:nvSpPr>
          <p:spPr bwMode="gray">
            <a:xfrm>
              <a:off x="494375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0" name="圆角矩形 99"/>
            <p:cNvSpPr/>
            <p:nvPr/>
          </p:nvSpPr>
          <p:spPr bwMode="gray">
            <a:xfrm>
              <a:off x="3513276" y="1339575"/>
              <a:ext cx="2491196" cy="1245024"/>
            </a:xfrm>
            <a:prstGeom prst="roundRect">
              <a:avLst/>
            </a:prstGeom>
            <a:noFill/>
            <a:ln w="28575" cap="flat" cmpd="sng" algn="ctr">
              <a:solidFill>
                <a:srgbClr val="BEE9EE"/>
              </a:solidFill>
              <a:prstDash val="sysDash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7" name="直接连接符 76"/>
            <p:cNvCxnSpPr>
              <a:stCxn id="83" idx="1"/>
              <a:endCxn id="80" idx="3"/>
            </p:cNvCxnSpPr>
            <p:nvPr/>
          </p:nvCxnSpPr>
          <p:spPr bwMode="gray">
            <a:xfrm flipH="1">
              <a:off x="2000335" y="1738186"/>
              <a:ext cx="274939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7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788558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0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6369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1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241000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2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903429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3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749732" y="1540680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4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897369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85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5427740" y="2114763"/>
              <a:ext cx="436636" cy="395012"/>
            </a:xfrm>
            <a:prstGeom prst="rect">
              <a:avLst/>
            </a:prstGeom>
            <a:noFill/>
          </p:spPr>
        </p:pic>
        <p:cxnSp>
          <p:nvCxnSpPr>
            <p:cNvPr id="86" name="直接连接符 85"/>
            <p:cNvCxnSpPr>
              <a:stCxn id="80" idx="1"/>
              <a:endCxn id="79" idx="0"/>
            </p:cNvCxnSpPr>
            <p:nvPr/>
          </p:nvCxnSpPr>
          <p:spPr bwMode="gray">
            <a:xfrm flipH="1">
              <a:off x="1006876" y="1738186"/>
              <a:ext cx="556823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>
              <a:stCxn id="78" idx="0"/>
              <a:endCxn id="79" idx="2"/>
            </p:cNvCxnSpPr>
            <p:nvPr/>
          </p:nvCxnSpPr>
          <p:spPr bwMode="gray">
            <a:xfrm flipV="1">
              <a:off x="1006876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>
              <a:stCxn id="85" idx="0"/>
              <a:endCxn id="83" idx="3"/>
            </p:cNvCxnSpPr>
            <p:nvPr/>
          </p:nvCxnSpPr>
          <p:spPr bwMode="gray">
            <a:xfrm flipH="1" flipV="1">
              <a:off x="5186368" y="1738186"/>
              <a:ext cx="459690" cy="3765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84" idx="0"/>
              <a:endCxn id="85" idx="2"/>
            </p:cNvCxnSpPr>
            <p:nvPr/>
          </p:nvCxnSpPr>
          <p:spPr bwMode="gray">
            <a:xfrm flipV="1">
              <a:off x="5646058" y="2509775"/>
              <a:ext cx="0" cy="387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 Box 165"/>
            <p:cNvSpPr txBox="1">
              <a:spLocks noChangeArrowheads="1"/>
            </p:cNvSpPr>
            <p:nvPr/>
          </p:nvSpPr>
          <p:spPr bwMode="gray">
            <a:xfrm>
              <a:off x="338173" y="2173769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PE1</a:t>
              </a:r>
            </a:p>
          </p:txBody>
        </p:sp>
        <p:sp>
          <p:nvSpPr>
            <p:cNvPr id="91" name="Text Box 165"/>
            <p:cNvSpPr txBox="1">
              <a:spLocks noChangeArrowheads="1"/>
            </p:cNvSpPr>
            <p:nvPr/>
          </p:nvSpPr>
          <p:spPr bwMode="gray">
            <a:xfrm>
              <a:off x="338173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92" name="Text Box 165"/>
            <p:cNvSpPr txBox="1">
              <a:spLocks noChangeArrowheads="1"/>
            </p:cNvSpPr>
            <p:nvPr/>
          </p:nvSpPr>
          <p:spPr bwMode="gray">
            <a:xfrm>
              <a:off x="5408402" y="1893243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PE2</a:t>
              </a:r>
            </a:p>
          </p:txBody>
        </p:sp>
        <p:sp>
          <p:nvSpPr>
            <p:cNvPr id="93" name="Text Box 165"/>
            <p:cNvSpPr txBox="1">
              <a:spLocks noChangeArrowheads="1"/>
            </p:cNvSpPr>
            <p:nvPr/>
          </p:nvSpPr>
          <p:spPr bwMode="gray">
            <a:xfrm>
              <a:off x="4972698" y="2956375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CE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</a:p>
          </p:txBody>
        </p:sp>
        <p:sp>
          <p:nvSpPr>
            <p:cNvPr id="94" name="Text Box 165"/>
            <p:cNvSpPr txBox="1">
              <a:spLocks noChangeArrowheads="1"/>
            </p:cNvSpPr>
            <p:nvPr/>
          </p:nvSpPr>
          <p:spPr bwMode="gray">
            <a:xfrm>
              <a:off x="1452318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P1</a:t>
              </a:r>
            </a:p>
          </p:txBody>
        </p:sp>
        <p:sp>
          <p:nvSpPr>
            <p:cNvPr id="95" name="Text Box 165"/>
            <p:cNvSpPr txBox="1">
              <a:spLocks noChangeArrowheads="1"/>
            </p:cNvSpPr>
            <p:nvPr/>
          </p:nvSpPr>
          <p:spPr bwMode="gray">
            <a:xfrm>
              <a:off x="2153031" y="1881870"/>
              <a:ext cx="95057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96" name="Text Box 165"/>
            <p:cNvSpPr txBox="1">
              <a:spLocks noChangeArrowheads="1"/>
            </p:cNvSpPr>
            <p:nvPr/>
          </p:nvSpPr>
          <p:spPr bwMode="gray">
            <a:xfrm>
              <a:off x="3661242" y="1881870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ASBR-PE2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7" name="Text Box 165"/>
            <p:cNvSpPr txBox="1">
              <a:spLocks noChangeArrowheads="1"/>
            </p:cNvSpPr>
            <p:nvPr/>
          </p:nvSpPr>
          <p:spPr bwMode="gray">
            <a:xfrm>
              <a:off x="4636413" y="1881870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9" name="圆角矩形 98"/>
            <p:cNvSpPr/>
            <p:nvPr/>
          </p:nvSpPr>
          <p:spPr bwMode="gray">
            <a:xfrm>
              <a:off x="449365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1" name="圆角矩形 100"/>
            <p:cNvSpPr/>
            <p:nvPr/>
          </p:nvSpPr>
          <p:spPr bwMode="gray">
            <a:xfrm>
              <a:off x="4912611" y="2822676"/>
              <a:ext cx="1160659" cy="735162"/>
            </a:xfrm>
            <a:prstGeom prst="roundRect">
              <a:avLst/>
            </a:prstGeom>
            <a:noFill/>
            <a:ln w="25400">
              <a:solidFill>
                <a:srgbClr val="94DA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2" name="Text Box 165"/>
            <p:cNvSpPr txBox="1">
              <a:spLocks noChangeArrowheads="1"/>
            </p:cNvSpPr>
            <p:nvPr/>
          </p:nvSpPr>
          <p:spPr bwMode="gray">
            <a:xfrm>
              <a:off x="422351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3" name="Text Box 165"/>
            <p:cNvSpPr txBox="1">
              <a:spLocks noChangeArrowheads="1"/>
            </p:cNvSpPr>
            <p:nvPr/>
          </p:nvSpPr>
          <p:spPr bwMode="gray">
            <a:xfrm>
              <a:off x="4885597" y="3280839"/>
              <a:ext cx="121468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192.168.2.1/24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4" name="Text Box 36"/>
            <p:cNvSpPr txBox="1">
              <a:spLocks noChangeArrowheads="1"/>
            </p:cNvSpPr>
            <p:nvPr/>
          </p:nvSpPr>
          <p:spPr bwMode="gray">
            <a:xfrm>
              <a:off x="309719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AS100</a:t>
              </a:r>
            </a:p>
          </p:txBody>
        </p:sp>
        <p:sp>
          <p:nvSpPr>
            <p:cNvPr id="105" name="Text Box 36"/>
            <p:cNvSpPr txBox="1">
              <a:spLocks noChangeArrowheads="1"/>
            </p:cNvSpPr>
            <p:nvPr/>
          </p:nvSpPr>
          <p:spPr bwMode="gray">
            <a:xfrm>
              <a:off x="5096661" y="1450812"/>
              <a:ext cx="11521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400" b="1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AS200</a:t>
              </a:r>
            </a:p>
          </p:txBody>
        </p:sp>
        <p:sp>
          <p:nvSpPr>
            <p:cNvPr id="106" name="Text Box 165"/>
            <p:cNvSpPr txBox="1">
              <a:spLocks noChangeArrowheads="1"/>
            </p:cNvSpPr>
            <p:nvPr/>
          </p:nvSpPr>
          <p:spPr bwMode="gray">
            <a:xfrm>
              <a:off x="2863824" y="1484413"/>
              <a:ext cx="91851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GE2/0/0</a:t>
              </a:r>
            </a:p>
          </p:txBody>
        </p:sp>
        <p:sp>
          <p:nvSpPr>
            <p:cNvPr id="107" name="Text Box 165"/>
            <p:cNvSpPr txBox="1">
              <a:spLocks noChangeArrowheads="1"/>
            </p:cNvSpPr>
            <p:nvPr/>
          </p:nvSpPr>
          <p:spPr bwMode="gray">
            <a:xfrm>
              <a:off x="2797675" y="1731071"/>
              <a:ext cx="106780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10.0.34.0/24</a:t>
              </a:r>
            </a:p>
          </p:txBody>
        </p:sp>
        <p:pic>
          <p:nvPicPr>
            <p:cNvPr id="108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1548253" y="2114763"/>
              <a:ext cx="436636" cy="395012"/>
            </a:xfrm>
            <a:prstGeom prst="rect">
              <a:avLst/>
            </a:prstGeom>
            <a:noFill/>
          </p:spPr>
        </p:pic>
        <p:pic>
          <p:nvPicPr>
            <p:cNvPr id="109" name="Picture 185" descr="E:\2016.01\1.12 扁平化图标\蓝色\AR-蓝色最新-40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4497398" y="2114763"/>
              <a:ext cx="436636" cy="395012"/>
            </a:xfrm>
            <a:prstGeom prst="rect">
              <a:avLst/>
            </a:prstGeom>
            <a:noFill/>
          </p:spPr>
        </p:pic>
        <p:sp>
          <p:nvSpPr>
            <p:cNvPr id="110" name="Text Box 165"/>
            <p:cNvSpPr txBox="1">
              <a:spLocks noChangeArrowheads="1"/>
            </p:cNvSpPr>
            <p:nvPr/>
          </p:nvSpPr>
          <p:spPr bwMode="gray">
            <a:xfrm>
              <a:off x="1440618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</a:t>
              </a:r>
              <a:r>
                <a:rPr lang="en-US" altLang="zh-CN" sz="1200" i="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</a:p>
          </p:txBody>
        </p:sp>
        <p:sp>
          <p:nvSpPr>
            <p:cNvPr id="111" name="Text Box 165"/>
            <p:cNvSpPr txBox="1">
              <a:spLocks noChangeArrowheads="1"/>
            </p:cNvSpPr>
            <p:nvPr/>
          </p:nvSpPr>
          <p:spPr bwMode="gray">
            <a:xfrm>
              <a:off x="4390766" y="2505106"/>
              <a:ext cx="65939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RR2</a:t>
              </a:r>
              <a:endParaRPr lang="en-US" altLang="zh-CN" sz="1200" i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12" name="直接连接符 111"/>
            <p:cNvCxnSpPr>
              <a:stCxn id="108" idx="1"/>
              <a:endCxn id="79" idx="3"/>
            </p:cNvCxnSpPr>
            <p:nvPr/>
          </p:nvCxnSpPr>
          <p:spPr bwMode="gray">
            <a:xfrm flipH="1">
              <a:off x="1225194" y="2312269"/>
              <a:ext cx="32305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>
              <a:stCxn id="85" idx="1"/>
              <a:endCxn id="109" idx="3"/>
            </p:cNvCxnSpPr>
            <p:nvPr/>
          </p:nvCxnSpPr>
          <p:spPr bwMode="gray">
            <a:xfrm flipH="1">
              <a:off x="4934034" y="2312269"/>
              <a:ext cx="493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燕尾形 26">
            <a:extLst>
              <a:ext uri="{FF2B5EF4-FFF2-40B4-BE49-F238E27FC236}">
                <a16:creationId xmlns:a16="http://schemas.microsoft.com/office/drawing/2014/main" id="{21056BB4-1035-4B48-93C4-82662DFBD2D4}"/>
              </a:ext>
            </a:extLst>
          </p:cNvPr>
          <p:cNvSpPr/>
          <p:nvPr/>
        </p:nvSpPr>
        <p:spPr bwMode="gray">
          <a:xfrm>
            <a:off x="10847500" y="114300"/>
            <a:ext cx="900000" cy="21240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b="1" kern="0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方式二</a:t>
            </a:r>
            <a:endParaRPr lang="en-US" altLang="zh-CN" sz="1200" b="1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44" name="五边形 43"/>
          <p:cNvSpPr/>
          <p:nvPr/>
        </p:nvSpPr>
        <p:spPr bwMode="gray">
          <a:xfrm>
            <a:off x="10022136" y="114300"/>
            <a:ext cx="900000" cy="21240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b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  <a:sym typeface="Huawei Sans" panose="020C0503030203020204" pitchFamily="34" charset="0"/>
              </a:rPr>
              <a:t>方式一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926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单选题</a:t>
            </a:r>
            <a:r>
              <a:rPr lang="en-US" altLang="zh-CN" sz="1800" dirty="0">
                <a:sym typeface="Huawei Sans" panose="020C0503030203020204" pitchFamily="34" charset="0"/>
              </a:rPr>
              <a:t>)</a:t>
            </a:r>
            <a:r>
              <a:rPr lang="zh-CN" altLang="en-US" sz="1800" dirty="0">
                <a:sym typeface="Huawei Sans" panose="020C0503030203020204" pitchFamily="34" charset="0"/>
              </a:rPr>
              <a:t>以下哪种跨域方案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不用保存用户</a:t>
            </a:r>
            <a:r>
              <a:rPr lang="en-US" altLang="zh-CN" sz="1800" dirty="0">
                <a:sym typeface="Huawei Sans" panose="020C0503030203020204" pitchFamily="34" charset="0"/>
              </a:rPr>
              <a:t>CE</a:t>
            </a:r>
            <a:r>
              <a:rPr lang="zh-CN" altLang="en-US" sz="1800" dirty="0">
                <a:sym typeface="Huawei Sans" panose="020C0503030203020204" pitchFamily="34" charset="0"/>
              </a:rPr>
              <a:t>侧路由信息？</a:t>
            </a:r>
            <a:r>
              <a:rPr lang="en-US" altLang="zh-CN" sz="1800" dirty="0">
                <a:sym typeface="Huawei Sans" panose="020C0503030203020204" pitchFamily="34" charset="0"/>
              </a:rPr>
              <a:t>(     )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OptionB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olidFill>
                  <a:srgbClr val="FF0000"/>
                </a:solidFill>
                <a:sym typeface="Huawei Sans" panose="020C0503030203020204" pitchFamily="34" charset="0"/>
              </a:rPr>
              <a:t>OptionC</a:t>
            </a:r>
            <a:endParaRPr lang="en-US" altLang="zh-CN" sz="1600" dirty="0">
              <a:solidFill>
                <a:srgbClr val="FF0000"/>
              </a:solidFill>
              <a:sym typeface="Huawei Sans" panose="020C0503030203020204" pitchFamily="34" charset="0"/>
            </a:endParaRPr>
          </a:p>
          <a:p>
            <a:r>
              <a:rPr lang="en-US" altLang="zh-CN" sz="1800" dirty="0">
                <a:sym typeface="Huawei Sans" panose="020C0503030203020204" pitchFamily="34" charset="0"/>
              </a:rPr>
              <a:t>(</a:t>
            </a:r>
            <a:r>
              <a:rPr lang="zh-CN" altLang="en-US" sz="1800" dirty="0">
                <a:sym typeface="Huawei Sans" panose="020C0503030203020204" pitchFamily="34" charset="0"/>
              </a:rPr>
              <a:t>单选题</a:t>
            </a:r>
            <a:r>
              <a:rPr lang="en-US" altLang="zh-CN" sz="1800" dirty="0">
                <a:sym typeface="Huawei Sans" panose="020C0503030203020204" pitchFamily="34" charset="0"/>
              </a:rPr>
              <a:t>)</a:t>
            </a:r>
            <a:r>
              <a:rPr lang="zh-CN" altLang="en-US" sz="1800" dirty="0">
                <a:sym typeface="Huawei Sans" panose="020C0503030203020204" pitchFamily="34" charset="0"/>
              </a:rPr>
              <a:t>只通过</a:t>
            </a:r>
            <a:r>
              <a:rPr lang="en-US" altLang="zh-CN" sz="1800" dirty="0">
                <a:sym typeface="Huawei Sans" panose="020C0503030203020204" pitchFamily="34" charset="0"/>
              </a:rPr>
              <a:t>LDP/BGP</a:t>
            </a:r>
            <a:r>
              <a:rPr lang="zh-CN" altLang="en-US" sz="1800" dirty="0">
                <a:sym typeface="Huawei Sans" panose="020C0503030203020204" pitchFamily="34" charset="0"/>
              </a:rPr>
              <a:t>分发标签的情况下，报文转发过程中，可能用到三层标签的是哪一种方式？</a:t>
            </a:r>
            <a:r>
              <a:rPr lang="en-US" altLang="zh-CN" sz="1800" dirty="0">
                <a:sym typeface="Huawei Sans" panose="020C0503030203020204" pitchFamily="34" charset="0"/>
              </a:rPr>
              <a:t>(     )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OptionA</a:t>
            </a:r>
            <a:r>
              <a:rPr lang="en-US" altLang="zh-CN" sz="1600" dirty="0">
                <a:sym typeface="Huawei Sans" panose="020C0503030203020204" pitchFamily="34" charset="0"/>
              </a:rPr>
              <a:t>   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LDP/</a:t>
            </a:r>
            <a:r>
              <a:rPr lang="zh-CN" altLang="en-US" sz="1600" dirty="0">
                <a:sym typeface="Huawei Sans" panose="020C0503030203020204" pitchFamily="34" charset="0"/>
              </a:rPr>
              <a:t>私网标签）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ym typeface="Huawei Sans" panose="020C0503030203020204" pitchFamily="34" charset="0"/>
              </a:rPr>
              <a:t>OptionB</a:t>
            </a:r>
            <a:r>
              <a:rPr lang="en-US" altLang="zh-CN" sz="1600" dirty="0">
                <a:sym typeface="Huawei Sans" panose="020C0503030203020204" pitchFamily="34" charset="0"/>
              </a:rPr>
              <a:t>   </a:t>
            </a:r>
            <a:r>
              <a:rPr lang="zh-CN" altLang="en-US" sz="1600" dirty="0"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sym typeface="Huawei Sans" panose="020C0503030203020204" pitchFamily="34" charset="0"/>
              </a:rPr>
              <a:t>LDP/</a:t>
            </a:r>
            <a:r>
              <a:rPr lang="zh-CN" altLang="en-US" sz="1600" dirty="0">
                <a:sym typeface="Huawei Sans" panose="020C0503030203020204" pitchFamily="34" charset="0"/>
              </a:rPr>
              <a:t>私网标签）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 err="1">
                <a:solidFill>
                  <a:srgbClr val="FF0000"/>
                </a:solidFill>
                <a:sym typeface="Huawei Sans" panose="020C0503030203020204" pitchFamily="34" charset="0"/>
              </a:rPr>
              <a:t>OptionC</a:t>
            </a:r>
            <a:r>
              <a:rPr lang="zh-CN" altLang="en-US" sz="1600" dirty="0">
                <a:solidFill>
                  <a:srgbClr val="FF0000"/>
                </a:solidFill>
                <a:sym typeface="Huawei Sans" panose="020C0503030203020204" pitchFamily="34" charset="0"/>
              </a:rPr>
              <a:t>（方式一）      私网</a:t>
            </a:r>
            <a:r>
              <a:rPr lang="en-US" altLang="zh-CN" sz="1600" dirty="0">
                <a:solidFill>
                  <a:srgbClr val="FF0000"/>
                </a:solidFill>
                <a:sym typeface="Huawei Sans" panose="020C0503030203020204" pitchFamily="34" charset="0"/>
              </a:rPr>
              <a:t>/</a:t>
            </a:r>
            <a:r>
              <a:rPr lang="en-US" altLang="zh-CN" sz="1600">
                <a:solidFill>
                  <a:srgbClr val="FF0000"/>
                </a:solidFill>
                <a:sym typeface="Huawei Sans" panose="020C0503030203020204" pitchFamily="34" charset="0"/>
              </a:rPr>
              <a:t>BGP/LDP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1957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r>
              <a:rPr lang="zh-CN" altLang="en-US" sz="2000" dirty="0">
                <a:sym typeface="Huawei Sans" panose="020C0503030203020204" pitchFamily="34" charset="0"/>
              </a:rPr>
              <a:t>在</a:t>
            </a:r>
            <a:r>
              <a:rPr lang="en-US" altLang="zh-CN" sz="2000" dirty="0">
                <a:sym typeface="Huawei Sans" panose="020C0503030203020204" pitchFamily="34" charset="0"/>
              </a:rPr>
              <a:t>AS</a:t>
            </a:r>
            <a:r>
              <a:rPr lang="zh-CN" altLang="en-US" sz="2000" dirty="0">
                <a:sym typeface="Huawei Sans" panose="020C0503030203020204" pitchFamily="34" charset="0"/>
              </a:rPr>
              <a:t>之间的执行</a:t>
            </a:r>
            <a:r>
              <a:rPr lang="en-US" altLang="zh-CN" sz="2000" dirty="0">
                <a:sym typeface="Huawei Sans" panose="020C0503030203020204" pitchFamily="34" charset="0"/>
              </a:rPr>
              <a:t>VPN</a:t>
            </a:r>
            <a:r>
              <a:rPr lang="zh-CN" altLang="en-US" sz="2000" dirty="0">
                <a:sym typeface="Huawei Sans" panose="020C0503030203020204" pitchFamily="34" charset="0"/>
              </a:rPr>
              <a:t>路由信息交换的场景下，相关标准中提出了三种跨域</a:t>
            </a:r>
            <a:r>
              <a:rPr lang="en-US" altLang="zh-CN" sz="2000" dirty="0">
                <a:sym typeface="Huawei Sans" panose="020C0503030203020204" pitchFamily="34" charset="0"/>
              </a:rPr>
              <a:t>VPN</a:t>
            </a:r>
            <a:r>
              <a:rPr lang="zh-CN" altLang="en-US" sz="2000" dirty="0">
                <a:sym typeface="Huawei Sans" panose="020C0503030203020204" pitchFamily="34" charset="0"/>
              </a:rPr>
              <a:t>解决方案：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 err="1">
                <a:sym typeface="Huawei Sans" panose="020C0503030203020204" pitchFamily="34" charset="0"/>
              </a:rPr>
              <a:t>OptionA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之间不需要运行</a:t>
            </a:r>
            <a:r>
              <a:rPr lang="en-US" altLang="zh-CN" sz="1800" dirty="0">
                <a:sym typeface="Huawei Sans" panose="020C0503030203020204" pitchFamily="34" charset="0"/>
              </a:rPr>
              <a:t>MPLS</a:t>
            </a:r>
            <a:r>
              <a:rPr lang="zh-CN" altLang="en-US" sz="1800" dirty="0">
                <a:sym typeface="Huawei Sans" panose="020C0503030203020204" pitchFamily="34" charset="0"/>
              </a:rPr>
              <a:t>，优点是配置简单，适合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数量比较少的场景。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 err="1">
                <a:sym typeface="Huawei Sans" panose="020C0503030203020204" pitchFamily="34" charset="0"/>
              </a:rPr>
              <a:t>OptionB</a:t>
            </a:r>
            <a:r>
              <a:rPr lang="zh-CN" altLang="en-US" sz="1800" dirty="0">
                <a:sym typeface="Huawei Sans" panose="020C0503030203020204" pitchFamily="34" charset="0"/>
              </a:rPr>
              <a:t>：优点是不需要为每个跨域的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创建接口，所有的流量都经过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转发，流量的可控性较好，但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的负担重。当</a:t>
            </a:r>
            <a:r>
              <a:rPr lang="en-US" altLang="zh-CN" sz="1800" dirty="0">
                <a:sym typeface="Huawei Sans" panose="020C0503030203020204" pitchFamily="34" charset="0"/>
              </a:rPr>
              <a:t>VPN</a:t>
            </a:r>
            <a:r>
              <a:rPr lang="zh-CN" altLang="en-US" sz="1800" dirty="0">
                <a:sym typeface="Huawei Sans" panose="020C0503030203020204" pitchFamily="34" charset="0"/>
              </a:rPr>
              <a:t>路由较多时，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负担重，容易成为瓶颈点。</a:t>
            </a:r>
            <a:endParaRPr lang="en-US" altLang="zh-CN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 err="1">
                <a:sym typeface="Huawei Sans" panose="020C0503030203020204" pitchFamily="34" charset="0"/>
              </a:rPr>
              <a:t>OptionC</a:t>
            </a:r>
            <a:r>
              <a:rPr lang="zh-CN" altLang="en-US" sz="1800" dirty="0">
                <a:sym typeface="Huawei Sans" panose="020C0503030203020204" pitchFamily="34" charset="0"/>
              </a:rPr>
              <a:t>：</a:t>
            </a:r>
            <a:r>
              <a:rPr lang="en-US" altLang="zh-CN" sz="1800" dirty="0">
                <a:sym typeface="Huawei Sans" panose="020C0503030203020204" pitchFamily="34" charset="0"/>
              </a:rPr>
              <a:t>ASBR</a:t>
            </a:r>
            <a:r>
              <a:rPr lang="zh-CN" altLang="en-US" sz="1800" dirty="0">
                <a:sym typeface="Huawei Sans" panose="020C0503030203020204" pitchFamily="34" charset="0"/>
              </a:rPr>
              <a:t>不维护或发布</a:t>
            </a:r>
            <a:r>
              <a:rPr lang="en-US" altLang="zh-CN" sz="1800" dirty="0">
                <a:sym typeface="Huawei Sans" panose="020C0503030203020204" pitchFamily="34" charset="0"/>
              </a:rPr>
              <a:t>VPNv4</a:t>
            </a:r>
            <a:r>
              <a:rPr lang="zh-CN" altLang="en-US" sz="1800" dirty="0">
                <a:sym typeface="Huawei Sans" panose="020C0503030203020204" pitchFamily="34" charset="0"/>
              </a:rPr>
              <a:t>路由，</a:t>
            </a:r>
            <a:r>
              <a:rPr lang="en-US" altLang="zh-CN" sz="1800" dirty="0">
                <a:sym typeface="Huawei Sans" panose="020C0503030203020204" pitchFamily="34" charset="0"/>
              </a:rPr>
              <a:t>PE</a:t>
            </a:r>
            <a:r>
              <a:rPr lang="zh-CN" altLang="en-US" sz="1800" dirty="0">
                <a:sym typeface="Huawei Sans" panose="020C0503030203020204" pitchFamily="34" charset="0"/>
              </a:rPr>
              <a:t>之间直接交换</a:t>
            </a:r>
            <a:r>
              <a:rPr lang="en-US" altLang="zh-CN" sz="1800" dirty="0">
                <a:sym typeface="Huawei Sans" panose="020C0503030203020204" pitchFamily="34" charset="0"/>
              </a:rPr>
              <a:t>VPNv4</a:t>
            </a:r>
            <a:r>
              <a:rPr lang="zh-CN" altLang="en-US" sz="1800" dirty="0">
                <a:sym typeface="Huawei Sans" panose="020C0503030203020204" pitchFamily="34" charset="0"/>
              </a:rPr>
              <a:t>路由。该方式更适合在跨越多个</a:t>
            </a:r>
            <a:r>
              <a:rPr lang="en-US" altLang="zh-CN" sz="1800" dirty="0">
                <a:sym typeface="Huawei Sans" panose="020C0503030203020204" pitchFamily="34" charset="0"/>
              </a:rPr>
              <a:t>AS</a:t>
            </a:r>
            <a:r>
              <a:rPr lang="zh-CN" altLang="en-US" sz="1800" dirty="0">
                <a:sym typeface="Huawei Sans" panose="020C0503030203020204" pitchFamily="34" charset="0"/>
              </a:rPr>
              <a:t>时使用。缺点是维护一条端到端的</a:t>
            </a:r>
            <a:r>
              <a:rPr lang="en-US" altLang="zh-CN" sz="1800" dirty="0">
                <a:sym typeface="Huawei Sans" panose="020C0503030203020204" pitchFamily="34" charset="0"/>
              </a:rPr>
              <a:t>BGP LSP</a:t>
            </a:r>
            <a:r>
              <a:rPr lang="zh-CN" altLang="en-US" sz="1800" dirty="0">
                <a:sym typeface="Huawei Sans" panose="020C0503030203020204" pitchFamily="34" charset="0"/>
              </a:rPr>
              <a:t>连接，管理代价较大。</a:t>
            </a:r>
          </a:p>
          <a:p>
            <a:pPr lvl="1"/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endParaRPr lang="zh-CN" altLang="en-US" sz="18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766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844983"/>
      </p:ext>
    </p:extLst>
  </p:cSld>
  <p:clrMapOvr>
    <a:masterClrMapping/>
  </p:clrMapOvr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5960F2-6186-408B-A0DC-5CA5E58B604F}">
  <ds:schemaRefs>
    <ds:schemaRef ds:uri="http://schemas.microsoft.com/office/infopath/2007/PartnerControls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475f1e55-3009-46d8-9566-5d569a2b3a98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0B3DA0-8CBC-48B6-AAD4-8F006BCB8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f1e55-3009-46d8-9566-5d569a2b3a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13019</TotalTime>
  <Words>11095</Words>
  <Application>Microsoft Office PowerPoint</Application>
  <PresentationFormat>宽屏</PresentationFormat>
  <Paragraphs>2007</Paragraphs>
  <Slides>69</Slides>
  <Notes>69</Notes>
  <HiddenSlides>1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69</vt:i4>
      </vt:variant>
    </vt:vector>
  </HeadingPairs>
  <TitlesOfParts>
    <vt:vector size="79" baseType="lpstr">
      <vt:lpstr>Huawei Sans</vt:lpstr>
      <vt:lpstr>方正兰亭黑简体</vt:lpstr>
      <vt:lpstr>Microsoft YaHei</vt:lpstr>
      <vt:lpstr>Microsoft YaHei</vt:lpstr>
      <vt:lpstr>Arial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MPLS L3VPN跨域</vt:lpstr>
      <vt:lpstr>PowerPoint 演示文稿</vt:lpstr>
      <vt:lpstr>PowerPoint 演示文稿</vt:lpstr>
      <vt:lpstr>PowerPoint 演示文稿</vt:lpstr>
      <vt:lpstr>域内MPLS VPN工作原理回顾：路由传递及标签分配</vt:lpstr>
      <vt:lpstr>域内MPLS VPN工作原理回顾：数据转发</vt:lpstr>
      <vt:lpstr>跨域MPLS VPN方案的背景</vt:lpstr>
      <vt:lpstr>MPLS VPN跨域产生的问题</vt:lpstr>
      <vt:lpstr>MPLS VPN跨域的分类</vt:lpstr>
      <vt:lpstr>PowerPoint 演示文稿</vt:lpstr>
      <vt:lpstr>OptionA概述</vt:lpstr>
      <vt:lpstr>OptionA拓扑说明</vt:lpstr>
      <vt:lpstr>OptionA控制平面</vt:lpstr>
      <vt:lpstr>OptionA转发平面</vt:lpstr>
      <vt:lpstr>OptionA的特点</vt:lpstr>
      <vt:lpstr>PowerPoint 演示文稿</vt:lpstr>
      <vt:lpstr>OpitonA配置举例 (1)</vt:lpstr>
      <vt:lpstr>OpitonA配置举例 (2)</vt:lpstr>
      <vt:lpstr>OpitonA配置结果验证 (1)</vt:lpstr>
      <vt:lpstr>OpitonA配置结果验证 (2)</vt:lpstr>
      <vt:lpstr>PowerPoint 演示文稿</vt:lpstr>
      <vt:lpstr>OptionB概述</vt:lpstr>
      <vt:lpstr>OptionB拓扑说明</vt:lpstr>
      <vt:lpstr>OptionB控制平面：无RR场景</vt:lpstr>
      <vt:lpstr>OptionB控制平面：带RR场景</vt:lpstr>
      <vt:lpstr>跨域VPN-OptionB方式：转发平面</vt:lpstr>
      <vt:lpstr>OptionB的特点</vt:lpstr>
      <vt:lpstr>PowerPoint 演示文稿</vt:lpstr>
      <vt:lpstr>OpitonB配置举例 (1)</vt:lpstr>
      <vt:lpstr>OpitonB配置举例 (2)</vt:lpstr>
      <vt:lpstr>OpitonB配置结果验证 (1)</vt:lpstr>
      <vt:lpstr>OpitonB配置结果验证 (2)</vt:lpstr>
      <vt:lpstr>OpitonB配置结果验证 (3)</vt:lpstr>
      <vt:lpstr>PowerPoint 演示文稿</vt:lpstr>
      <vt:lpstr>OptionC概述</vt:lpstr>
      <vt:lpstr>OptionC方式一拓扑说明</vt:lpstr>
      <vt:lpstr>OptionC方式一控制平面：无RR场景</vt:lpstr>
      <vt:lpstr>OptionC方式一控制平面：带RR场景</vt:lpstr>
      <vt:lpstr>OptionC方式一转发平面</vt:lpstr>
      <vt:lpstr>OptionC方式一解惑 (1)</vt:lpstr>
      <vt:lpstr>OptionC方式一解惑 (2)</vt:lpstr>
      <vt:lpstr>跨域OptionC方式二</vt:lpstr>
      <vt:lpstr>OptionC方式二拓扑说明</vt:lpstr>
      <vt:lpstr>OptionC方式二控制平面：无RR场景</vt:lpstr>
      <vt:lpstr>OptionC方式二控制平面：带RR场景</vt:lpstr>
      <vt:lpstr>OptionC方式二：转发平面</vt:lpstr>
      <vt:lpstr>OptionC方式的特点</vt:lpstr>
      <vt:lpstr>总结：三种跨域方式的对比</vt:lpstr>
      <vt:lpstr>PowerPoint 演示文稿</vt:lpstr>
      <vt:lpstr>OptionC方式一配置举例 (1)</vt:lpstr>
      <vt:lpstr>OptionC方式一配置举例 (2)</vt:lpstr>
      <vt:lpstr>OptionC方式一配置举例 (3)</vt:lpstr>
      <vt:lpstr>OptionC方式一配置结果验证 (1)</vt:lpstr>
      <vt:lpstr>OptionC方式一配置结果验证 (2)</vt:lpstr>
      <vt:lpstr>OptionC方式一配置结果验证 (3)</vt:lpstr>
      <vt:lpstr>OptionC方式一配置结果验证 (4)</vt:lpstr>
      <vt:lpstr>OptionC方式一关键配置总结</vt:lpstr>
      <vt:lpstr>OptionC方式二配置举例 (1)</vt:lpstr>
      <vt:lpstr>OptionC方式二配置举例 (2)</vt:lpstr>
      <vt:lpstr>OptionC方式二配置举例 (3)</vt:lpstr>
      <vt:lpstr>OptionC方式二配置结果验证 (1)</vt:lpstr>
      <vt:lpstr>OptionC方式二配置结果验证 (2)</vt:lpstr>
      <vt:lpstr>OptionC方式二配置结果验证 (3)</vt:lpstr>
      <vt:lpstr>OptionC方式二配置结果验证 (4)</vt:lpstr>
      <vt:lpstr>OptionC方式二关键配置总结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junpeng he</cp:lastModifiedBy>
  <cp:revision>698</cp:revision>
  <cp:lastPrinted>2020-07-31T09:33:18Z</cp:lastPrinted>
  <dcterms:created xsi:type="dcterms:W3CDTF">2018-11-29T10:16:29Z</dcterms:created>
  <dcterms:modified xsi:type="dcterms:W3CDTF">2023-10-15T09:09:14Z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(3)jIbjNzJBgseexIR77dqJs2Wqxh8toP0t1bsaWc6yOe47/GUcUs35yeeJdxd63nLqhv2jh+fy
x5to7eyVWfGU08AtyIuJ9VvLBcnFa5cbOauUiMEdJZGjS3QDN45HjBVkb4EjWXe3HGN8w135
ohehqArvsP5mjYpJ8UPKG9F+fbERx3MYxk2B6dzLEJR/8BOfSCbG1ixA+yQoXw5Av3tg1jPx
gMQiU/CfIRGarsk/zn</vt:lpwstr>
  </property>
  <property fmtid="{D5CDD505-2E9C-101B-9397-08002B2CF9AE}" pid="3" name="_2015_ms_pID_7253431">
    <vt:lpwstr>V39KO68mPcb5pipL9+PF3r5uJk013G7uhB8BkejKPksmK2HwuJj9qP
loOiW4BTyi6ZYKmjWW0KV0UenwT65kObqX9XgXvB0bgKm45Nmku95VskIxYLb+jP8cb6gzF5
4MHsr2Rj0Yot2F1JtVR7bfOZA9OH8dntWeA20gE1E2oaEo0xDwFKv+is8HDrwysEcIapFKub
GXXiYVVs+jkd2/GzEHOXW1i8Pt5nwt8GR5nK</vt:lpwstr>
  </property>
  <property fmtid="{D5CDD505-2E9C-101B-9397-08002B2CF9AE}" pid="4" name="_2015_ms_pID_7253432">
    <vt:lpwstr>XA==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1634777000</vt:lpwstr>
  </property>
</Properties>
</file>